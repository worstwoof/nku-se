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2"/>
  </p:sldMasterIdLst>
  <p:notesMasterIdLst>
    <p:notesMasterId r:id="rId46"/>
  </p:notesMasterIdLst>
  <p:sldIdLst>
    <p:sldId id="342" r:id="rId3"/>
    <p:sldId id="290" r:id="rId4"/>
    <p:sldId id="292" r:id="rId5"/>
    <p:sldId id="293" r:id="rId6"/>
    <p:sldId id="294" r:id="rId7"/>
    <p:sldId id="339" r:id="rId8"/>
    <p:sldId id="340" r:id="rId9"/>
    <p:sldId id="341" r:id="rId10"/>
    <p:sldId id="332" r:id="rId11"/>
    <p:sldId id="333" r:id="rId12"/>
    <p:sldId id="334" r:id="rId13"/>
    <p:sldId id="335" r:id="rId14"/>
    <p:sldId id="352" r:id="rId15"/>
    <p:sldId id="336" r:id="rId16"/>
    <p:sldId id="343" r:id="rId17"/>
    <p:sldId id="344" r:id="rId18"/>
    <p:sldId id="345" r:id="rId19"/>
    <p:sldId id="353" r:id="rId20"/>
    <p:sldId id="349" r:id="rId21"/>
    <p:sldId id="327" r:id="rId22"/>
    <p:sldId id="328" r:id="rId23"/>
    <p:sldId id="329" r:id="rId24"/>
    <p:sldId id="330" r:id="rId25"/>
    <p:sldId id="331" r:id="rId26"/>
    <p:sldId id="350" r:id="rId27"/>
    <p:sldId id="314" r:id="rId28"/>
    <p:sldId id="315" r:id="rId29"/>
    <p:sldId id="316" r:id="rId30"/>
    <p:sldId id="306" r:id="rId31"/>
    <p:sldId id="307" r:id="rId32"/>
    <p:sldId id="308" r:id="rId33"/>
    <p:sldId id="354" r:id="rId34"/>
    <p:sldId id="309" r:id="rId35"/>
    <p:sldId id="355" r:id="rId36"/>
    <p:sldId id="301" r:id="rId37"/>
    <p:sldId id="302" r:id="rId38"/>
    <p:sldId id="356" r:id="rId39"/>
    <p:sldId id="304" r:id="rId40"/>
    <p:sldId id="305" r:id="rId41"/>
    <p:sldId id="296" r:id="rId42"/>
    <p:sldId id="297" r:id="rId43"/>
    <p:sldId id="298" r:id="rId44"/>
    <p:sldId id="347" r:id="rId4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65631" autoAdjust="0"/>
  </p:normalViewPr>
  <p:slideViewPr>
    <p:cSldViewPr showGuides="1">
      <p:cViewPr varScale="1">
        <p:scale>
          <a:sx n="101" d="100"/>
          <a:sy n="101" d="100"/>
        </p:scale>
        <p:origin x="1340" y="1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4.wmf"/><Relationship Id="rId1" Type="http://schemas.openxmlformats.org/officeDocument/2006/relationships/image" Target="../media/image10.w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emf"/><Relationship Id="rId7" Type="http://schemas.openxmlformats.org/officeDocument/2006/relationships/image" Target="../media/image28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10" Type="http://schemas.openxmlformats.org/officeDocument/2006/relationships/image" Target="../media/image31.emf"/><Relationship Id="rId4" Type="http://schemas.openxmlformats.org/officeDocument/2006/relationships/image" Target="../media/image25.emf"/><Relationship Id="rId9" Type="http://schemas.openxmlformats.org/officeDocument/2006/relationships/image" Target="../media/image3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wmf"/><Relationship Id="rId4" Type="http://schemas.openxmlformats.org/officeDocument/2006/relationships/image" Target="../media/image3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64.emf"/><Relationship Id="rId7" Type="http://schemas.openxmlformats.org/officeDocument/2006/relationships/image" Target="../media/image67.emf"/><Relationship Id="rId2" Type="http://schemas.openxmlformats.org/officeDocument/2006/relationships/image" Target="../media/image63.emf"/><Relationship Id="rId1" Type="http://schemas.openxmlformats.org/officeDocument/2006/relationships/image" Target="../media/image62.wmf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10.wmf"/><Relationship Id="rId9" Type="http://schemas.openxmlformats.org/officeDocument/2006/relationships/image" Target="../media/image69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image" Target="../media/image70.emf"/><Relationship Id="rId5" Type="http://schemas.openxmlformats.org/officeDocument/2006/relationships/image" Target="../media/image73.emf"/><Relationship Id="rId4" Type="http://schemas.openxmlformats.org/officeDocument/2006/relationships/image" Target="../media/image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image" Target="../media/image62.wmf"/><Relationship Id="rId5" Type="http://schemas.openxmlformats.org/officeDocument/2006/relationships/image" Target="../media/image77.emf"/><Relationship Id="rId4" Type="http://schemas.openxmlformats.org/officeDocument/2006/relationships/image" Target="../media/image7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10.wmf"/><Relationship Id="rId1" Type="http://schemas.openxmlformats.org/officeDocument/2006/relationships/image" Target="../media/image83.emf"/><Relationship Id="rId4" Type="http://schemas.openxmlformats.org/officeDocument/2006/relationships/image" Target="../media/image85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7" Type="http://schemas.openxmlformats.org/officeDocument/2006/relationships/image" Target="../media/image94.emf"/><Relationship Id="rId2" Type="http://schemas.openxmlformats.org/officeDocument/2006/relationships/image" Target="../media/image89.emf"/><Relationship Id="rId1" Type="http://schemas.openxmlformats.org/officeDocument/2006/relationships/image" Target="../media/image88.emf"/><Relationship Id="rId6" Type="http://schemas.openxmlformats.org/officeDocument/2006/relationships/image" Target="../media/image93.emf"/><Relationship Id="rId5" Type="http://schemas.openxmlformats.org/officeDocument/2006/relationships/image" Target="../media/image92.emf"/><Relationship Id="rId4" Type="http://schemas.openxmlformats.org/officeDocument/2006/relationships/image" Target="../media/image91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3" Type="http://schemas.openxmlformats.org/officeDocument/2006/relationships/image" Target="../media/image97.emf"/><Relationship Id="rId7" Type="http://schemas.openxmlformats.org/officeDocument/2006/relationships/image" Target="../media/image101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4" Type="http://schemas.openxmlformats.org/officeDocument/2006/relationships/image" Target="../media/image9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3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7" Type="http://schemas.openxmlformats.org/officeDocument/2006/relationships/image" Target="../media/image109.emf"/><Relationship Id="rId2" Type="http://schemas.openxmlformats.org/officeDocument/2006/relationships/image" Target="../media/image104.emf"/><Relationship Id="rId1" Type="http://schemas.openxmlformats.org/officeDocument/2006/relationships/image" Target="../media/image103.emf"/><Relationship Id="rId6" Type="http://schemas.openxmlformats.org/officeDocument/2006/relationships/image" Target="../media/image108.emf"/><Relationship Id="rId5" Type="http://schemas.openxmlformats.org/officeDocument/2006/relationships/image" Target="../media/image107.emf"/><Relationship Id="rId4" Type="http://schemas.openxmlformats.org/officeDocument/2006/relationships/image" Target="../media/image106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image" Target="../media/image110.emf"/><Relationship Id="rId6" Type="http://schemas.openxmlformats.org/officeDocument/2006/relationships/image" Target="../media/image115.emf"/><Relationship Id="rId5" Type="http://schemas.openxmlformats.org/officeDocument/2006/relationships/image" Target="../media/image114.emf"/><Relationship Id="rId4" Type="http://schemas.openxmlformats.org/officeDocument/2006/relationships/image" Target="../media/image113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e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image" Target="../media/image123.emf"/><Relationship Id="rId7" Type="http://schemas.openxmlformats.org/officeDocument/2006/relationships/image" Target="../media/image127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11" Type="http://schemas.openxmlformats.org/officeDocument/2006/relationships/image" Target="../media/image130.wmf"/><Relationship Id="rId5" Type="http://schemas.openxmlformats.org/officeDocument/2006/relationships/image" Target="../media/image125.wmf"/><Relationship Id="rId10" Type="http://schemas.openxmlformats.org/officeDocument/2006/relationships/image" Target="../media/image129.wmf"/><Relationship Id="rId4" Type="http://schemas.openxmlformats.org/officeDocument/2006/relationships/image" Target="../media/image124.wmf"/><Relationship Id="rId9" Type="http://schemas.openxmlformats.org/officeDocument/2006/relationships/image" Target="../media/image117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3" Type="http://schemas.openxmlformats.org/officeDocument/2006/relationships/image" Target="../media/image133.emf"/><Relationship Id="rId7" Type="http://schemas.openxmlformats.org/officeDocument/2006/relationships/image" Target="../media/image137.emf"/><Relationship Id="rId2" Type="http://schemas.openxmlformats.org/officeDocument/2006/relationships/image" Target="../media/image132.emf"/><Relationship Id="rId1" Type="http://schemas.openxmlformats.org/officeDocument/2006/relationships/image" Target="../media/image131.emf"/><Relationship Id="rId6" Type="http://schemas.openxmlformats.org/officeDocument/2006/relationships/image" Target="../media/image136.emf"/><Relationship Id="rId5" Type="http://schemas.openxmlformats.org/officeDocument/2006/relationships/image" Target="../media/image135.emf"/><Relationship Id="rId4" Type="http://schemas.openxmlformats.org/officeDocument/2006/relationships/image" Target="../media/image134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4" Type="http://schemas.openxmlformats.org/officeDocument/2006/relationships/image" Target="../media/image143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EABBC8E-8635-4315-A806-FCCC418BD706}" type="datetimeFigureOut">
              <a:rPr lang="en-US" smtClean="0"/>
              <a:pPr/>
              <a:t>11/15/2019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31033B9-9F74-41CA-B6A3-FAFB2BA7F4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3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4763" indent="-309524"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38098" indent="-247620"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33337" indent="-247620"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28576" indent="-247620"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C878480-BDFF-41D1-AA5B-18837E1165B1}" type="slidenum">
              <a:rPr lang="en-US" altLang="zh-CN" sz="1300">
                <a:solidFill>
                  <a:schemeClr val="tx1"/>
                </a:solidFill>
              </a:rPr>
              <a:pPr/>
              <a:t>13</a:t>
            </a:fld>
            <a:endParaRPr lang="en-US" altLang="zh-CN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77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4763" indent="-309524"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38098" indent="-247620"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33337" indent="-247620"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28576" indent="-247620"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35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C878480-BDFF-41D1-AA5B-18837E1165B1}" type="slidenum">
              <a:rPr lang="en-US" altLang="zh-CN" sz="1300">
                <a:solidFill>
                  <a:schemeClr val="tx1"/>
                </a:solidFill>
              </a:rPr>
              <a:pPr/>
              <a:t>17</a:t>
            </a:fld>
            <a:endParaRPr lang="en-US" altLang="zh-CN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01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97345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91485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84950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36323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86311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4880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50389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57918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53454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66081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33170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00"/>
                </a:solidFill>
              </a:defRPr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57035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165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733800" cy="3352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0480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67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solidFill>
                  <a:srgbClr val="FFFF00"/>
                </a:solidFill>
                <a:latin typeface="Times New Roman" panose="02020603050405020304" pitchFamily="18" charset="0"/>
                <a:ea typeface="文鼎粗圆" pitchFamily="49" charset="-122"/>
              </a:defRPr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15404" y="6357958"/>
            <a:ext cx="428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F25D349-C29D-46D2-8A83-8953848272E9}" type="slidenum">
              <a:rPr lang="zh-CN" altLang="en-US" sz="1400" smtClean="0">
                <a:solidFill>
                  <a:srgbClr val="FFFF00"/>
                </a:solidFill>
              </a:rPr>
              <a:t>‹#›</a:t>
            </a:fld>
            <a:endParaRPr lang="zh-CN" altLang="en-US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265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4" r:id="rId13"/>
    <p:sldLayoutId id="2147483875" r:id="rId14"/>
  </p:sldLayoutIdLst>
  <p:transition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jpeg"/><Relationship Id="rId11" Type="http://schemas.openxmlformats.org/officeDocument/2006/relationships/oleObject" Target="../embeddings/oleObject4.bin"/><Relationship Id="rId5" Type="http://schemas.openxmlformats.org/officeDocument/2006/relationships/image" Target="../media/image7.jpe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3.emf"/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2.emf"/><Relationship Id="rId5" Type="http://schemas.openxmlformats.org/officeDocument/2006/relationships/image" Target="../media/image10.wmf"/><Relationship Id="rId15" Type="http://schemas.openxmlformats.org/officeDocument/2006/relationships/image" Target="../media/image14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1.emf"/><Relationship Id="rId1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1.emf"/><Relationship Id="rId3" Type="http://schemas.openxmlformats.org/officeDocument/2006/relationships/image" Target="../media/image2.png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6.emf"/><Relationship Id="rId18" Type="http://schemas.openxmlformats.org/officeDocument/2006/relationships/oleObject" Target="../embeddings/oleObject26.bin"/><Relationship Id="rId3" Type="http://schemas.openxmlformats.org/officeDocument/2006/relationships/image" Target="../media/image2.png"/><Relationship Id="rId21" Type="http://schemas.openxmlformats.org/officeDocument/2006/relationships/image" Target="../media/image30.emf"/><Relationship Id="rId7" Type="http://schemas.openxmlformats.org/officeDocument/2006/relationships/image" Target="../media/image23.e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2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5.emf"/><Relationship Id="rId5" Type="http://schemas.openxmlformats.org/officeDocument/2006/relationships/image" Target="../media/image22.emf"/><Relationship Id="rId15" Type="http://schemas.openxmlformats.org/officeDocument/2006/relationships/image" Target="../media/image27.emf"/><Relationship Id="rId23" Type="http://schemas.openxmlformats.org/officeDocument/2006/relationships/image" Target="../media/image31.e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29.e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4.e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oleObject" Target="../embeddings/oleObject29.bin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5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32.wmf"/><Relationship Id="rId9" Type="http://schemas.openxmlformats.org/officeDocument/2006/relationships/image" Target="../media/image3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1.emf"/><Relationship Id="rId4" Type="http://schemas.openxmlformats.org/officeDocument/2006/relationships/oleObject" Target="../embeddings/oleObject3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image" Target="../media/image2.png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image" Target="../media/image48.wmf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2.bin"/><Relationship Id="rId14" Type="http://schemas.openxmlformats.org/officeDocument/2006/relationships/oleObject" Target="../embeddings/oleObject4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4.emf"/><Relationship Id="rId3" Type="http://schemas.openxmlformats.org/officeDocument/2006/relationships/image" Target="../media/image2.png"/><Relationship Id="rId7" Type="http://schemas.openxmlformats.org/officeDocument/2006/relationships/image" Target="../media/image51.e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5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2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3.emf"/><Relationship Id="rId5" Type="http://schemas.openxmlformats.org/officeDocument/2006/relationships/image" Target="../media/image50.emf"/><Relationship Id="rId15" Type="http://schemas.openxmlformats.org/officeDocument/2006/relationships/image" Target="../media/image55.e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2.emf"/><Relationship Id="rId14" Type="http://schemas.openxmlformats.org/officeDocument/2006/relationships/oleObject" Target="../embeddings/oleObject5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3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2.png"/><Relationship Id="rId7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9.e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61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67.emf"/><Relationship Id="rId3" Type="http://schemas.openxmlformats.org/officeDocument/2006/relationships/oleObject" Target="../embeddings/oleObject56.bin"/><Relationship Id="rId21" Type="http://schemas.openxmlformats.org/officeDocument/2006/relationships/oleObject" Target="../embeddings/oleObject65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10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emf"/><Relationship Id="rId20" Type="http://schemas.openxmlformats.org/officeDocument/2006/relationships/image" Target="../media/image68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.png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64.e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5.emf"/><Relationship Id="rId22" Type="http://schemas.openxmlformats.org/officeDocument/2006/relationships/image" Target="../media/image69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3.emf"/><Relationship Id="rId3" Type="http://schemas.openxmlformats.org/officeDocument/2006/relationships/image" Target="../media/image2.png"/><Relationship Id="rId7" Type="http://schemas.openxmlformats.org/officeDocument/2006/relationships/image" Target="../media/image71.emf"/><Relationship Id="rId12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4.wmf"/><Relationship Id="rId5" Type="http://schemas.openxmlformats.org/officeDocument/2006/relationships/image" Target="../media/image70.e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72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.png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75.e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7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81.e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8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87.png"/><Relationship Id="rId3" Type="http://schemas.openxmlformats.org/officeDocument/2006/relationships/image" Target="../media/image2.png"/><Relationship Id="rId7" Type="http://schemas.openxmlformats.org/officeDocument/2006/relationships/image" Target="../media/image10.wmf"/><Relationship Id="rId12" Type="http://schemas.openxmlformats.org/officeDocument/2006/relationships/image" Target="../media/image8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5.emf"/><Relationship Id="rId5" Type="http://schemas.openxmlformats.org/officeDocument/2006/relationships/image" Target="../media/image83.emf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4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92.emf"/><Relationship Id="rId3" Type="http://schemas.openxmlformats.org/officeDocument/2006/relationships/oleObject" Target="../embeddings/oleObject86.bin"/><Relationship Id="rId7" Type="http://schemas.openxmlformats.org/officeDocument/2006/relationships/image" Target="../media/image89.e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9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2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91.emf"/><Relationship Id="rId5" Type="http://schemas.openxmlformats.org/officeDocument/2006/relationships/image" Target="../media/image2.png"/><Relationship Id="rId15" Type="http://schemas.openxmlformats.org/officeDocument/2006/relationships/image" Target="../media/image93.emf"/><Relationship Id="rId10" Type="http://schemas.openxmlformats.org/officeDocument/2006/relationships/oleObject" Target="../embeddings/oleObject89.bin"/><Relationship Id="rId4" Type="http://schemas.openxmlformats.org/officeDocument/2006/relationships/image" Target="../media/image88.emf"/><Relationship Id="rId9" Type="http://schemas.openxmlformats.org/officeDocument/2006/relationships/image" Target="../media/image90.emf"/><Relationship Id="rId14" Type="http://schemas.openxmlformats.org/officeDocument/2006/relationships/oleObject" Target="../embeddings/oleObject9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99.emf"/><Relationship Id="rId18" Type="http://schemas.openxmlformats.org/officeDocument/2006/relationships/oleObject" Target="../embeddings/oleObject100.bin"/><Relationship Id="rId3" Type="http://schemas.openxmlformats.org/officeDocument/2006/relationships/image" Target="../media/image2.png"/><Relationship Id="rId7" Type="http://schemas.openxmlformats.org/officeDocument/2006/relationships/image" Target="../media/image96.e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10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9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98.emf"/><Relationship Id="rId5" Type="http://schemas.openxmlformats.org/officeDocument/2006/relationships/image" Target="../media/image95.emf"/><Relationship Id="rId15" Type="http://schemas.openxmlformats.org/officeDocument/2006/relationships/image" Target="../media/image100.e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102.e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7.emf"/><Relationship Id="rId14" Type="http://schemas.openxmlformats.org/officeDocument/2006/relationships/oleObject" Target="../embeddings/oleObject9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03.emf"/><Relationship Id="rId4" Type="http://schemas.openxmlformats.org/officeDocument/2006/relationships/oleObject" Target="../embeddings/oleObject10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107.emf"/><Relationship Id="rId3" Type="http://schemas.openxmlformats.org/officeDocument/2006/relationships/image" Target="../media/image2.png"/><Relationship Id="rId7" Type="http://schemas.openxmlformats.org/officeDocument/2006/relationships/image" Target="../media/image104.e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0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8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6.emf"/><Relationship Id="rId5" Type="http://schemas.openxmlformats.org/officeDocument/2006/relationships/image" Target="../media/image103.emf"/><Relationship Id="rId15" Type="http://schemas.openxmlformats.org/officeDocument/2006/relationships/image" Target="../media/image108.emf"/><Relationship Id="rId10" Type="http://schemas.openxmlformats.org/officeDocument/2006/relationships/oleObject" Target="../embeddings/oleObject105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5.emf"/><Relationship Id="rId14" Type="http://schemas.openxmlformats.org/officeDocument/2006/relationships/oleObject" Target="../embeddings/oleObject107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14.emf"/><Relationship Id="rId3" Type="http://schemas.openxmlformats.org/officeDocument/2006/relationships/image" Target="../media/image2.png"/><Relationship Id="rId7" Type="http://schemas.openxmlformats.org/officeDocument/2006/relationships/image" Target="../media/image111.emf"/><Relationship Id="rId12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13.emf"/><Relationship Id="rId5" Type="http://schemas.openxmlformats.org/officeDocument/2006/relationships/image" Target="../media/image110.emf"/><Relationship Id="rId15" Type="http://schemas.openxmlformats.org/officeDocument/2006/relationships/image" Target="../media/image115.emf"/><Relationship Id="rId10" Type="http://schemas.openxmlformats.org/officeDocument/2006/relationships/oleObject" Target="../embeddings/oleObject112.bin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12.emf"/><Relationship Id="rId14" Type="http://schemas.openxmlformats.org/officeDocument/2006/relationships/oleObject" Target="../embeddings/oleObject114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2.png"/><Relationship Id="rId4" Type="http://schemas.openxmlformats.org/officeDocument/2006/relationships/image" Target="../media/image116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120.wmf"/><Relationship Id="rId3" Type="http://schemas.openxmlformats.org/officeDocument/2006/relationships/oleObject" Target="../embeddings/oleObject116.bin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19.w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19.bin"/><Relationship Id="rId4" Type="http://schemas.openxmlformats.org/officeDocument/2006/relationships/image" Target="../media/image116.emf"/><Relationship Id="rId9" Type="http://schemas.openxmlformats.org/officeDocument/2006/relationships/image" Target="../media/image118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28.wmf"/><Relationship Id="rId3" Type="http://schemas.openxmlformats.org/officeDocument/2006/relationships/oleObject" Target="../embeddings/oleObject121.bin"/><Relationship Id="rId21" Type="http://schemas.openxmlformats.org/officeDocument/2006/relationships/image" Target="../media/image117.wmf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28.bin"/><Relationship Id="rId25" Type="http://schemas.openxmlformats.org/officeDocument/2006/relationships/image" Target="../media/image13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7.wmf"/><Relationship Id="rId20" Type="http://schemas.openxmlformats.org/officeDocument/2006/relationships/oleObject" Target="../embeddings/oleObject129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25.bin"/><Relationship Id="rId24" Type="http://schemas.openxmlformats.org/officeDocument/2006/relationships/oleObject" Target="../embeddings/oleObject131.bin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23" Type="http://schemas.openxmlformats.org/officeDocument/2006/relationships/image" Target="../media/image129.wmf"/><Relationship Id="rId10" Type="http://schemas.openxmlformats.org/officeDocument/2006/relationships/image" Target="../media/image124.wmf"/><Relationship Id="rId19" Type="http://schemas.openxmlformats.org/officeDocument/2006/relationships/image" Target="../media/image2.png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26.wmf"/><Relationship Id="rId22" Type="http://schemas.openxmlformats.org/officeDocument/2006/relationships/oleObject" Target="../embeddings/oleObject130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35.emf"/><Relationship Id="rId18" Type="http://schemas.openxmlformats.org/officeDocument/2006/relationships/oleObject" Target="../embeddings/oleObject139.bin"/><Relationship Id="rId3" Type="http://schemas.openxmlformats.org/officeDocument/2006/relationships/image" Target="../media/image2.png"/><Relationship Id="rId7" Type="http://schemas.openxmlformats.org/officeDocument/2006/relationships/image" Target="../media/image132.e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3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8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34.emf"/><Relationship Id="rId5" Type="http://schemas.openxmlformats.org/officeDocument/2006/relationships/image" Target="../media/image131.emf"/><Relationship Id="rId15" Type="http://schemas.openxmlformats.org/officeDocument/2006/relationships/image" Target="../media/image136.emf"/><Relationship Id="rId10" Type="http://schemas.openxmlformats.org/officeDocument/2006/relationships/oleObject" Target="../embeddings/oleObject135.bin"/><Relationship Id="rId19" Type="http://schemas.openxmlformats.org/officeDocument/2006/relationships/image" Target="../media/image138.emf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33.emf"/><Relationship Id="rId14" Type="http://schemas.openxmlformats.org/officeDocument/2006/relationships/oleObject" Target="../embeddings/oleObject137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3" Type="http://schemas.openxmlformats.org/officeDocument/2006/relationships/oleObject" Target="../embeddings/oleObject140.bin"/><Relationship Id="rId7" Type="http://schemas.openxmlformats.org/officeDocument/2006/relationships/image" Target="../media/image1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3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43.bin"/><Relationship Id="rId4" Type="http://schemas.openxmlformats.org/officeDocument/2006/relationships/image" Target="../media/image140.wmf"/><Relationship Id="rId9" Type="http://schemas.openxmlformats.org/officeDocument/2006/relationships/image" Target="../media/image142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3" Type="http://schemas.openxmlformats.org/officeDocument/2006/relationships/oleObject" Target="../embeddings/oleObject144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147.png"/><Relationship Id="rId4" Type="http://schemas.openxmlformats.org/officeDocument/2006/relationships/image" Target="../media/image144.emf"/><Relationship Id="rId9" Type="http://schemas.openxmlformats.org/officeDocument/2006/relationships/image" Target="../media/image14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340768"/>
            <a:ext cx="8439472" cy="1143000"/>
          </a:xfrm>
        </p:spPr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第五章 大数定律与中心极限定理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2195513" y="3357563"/>
            <a:ext cx="48006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第一节：大数定律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第二节：中心极限定理</a:t>
            </a:r>
          </a:p>
        </p:txBody>
      </p:sp>
    </p:spTree>
    <p:extLst>
      <p:ext uri="{BB962C8B-B14F-4D97-AF65-F5344CB8AC3E}">
        <p14:creationId xmlns:p14="http://schemas.microsoft.com/office/powerpoint/2010/main" val="32334919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 </a:t>
            </a:r>
            <a:endParaRPr lang="zh-CN" altLang="en-US" smtClean="0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367644" y="1268760"/>
            <a:ext cx="6408712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大数定律与中心极限定理通称</a:t>
            </a:r>
            <a:r>
              <a:rPr lang="zh-CN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极限理论</a:t>
            </a: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是概率论中比较深刻的理论结果，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同时也是数理统计学的理论基础，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因此在课程体系中起着承上启下的作用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6058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990600" y="1219200"/>
            <a:ext cx="6778625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00"/>
                </a:solidFill>
                <a:ea typeface="黑体" panose="02010609060101010101" pitchFamily="49" charset="-122"/>
              </a:rPr>
              <a:t>第一节        大数定律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432050" y="2516188"/>
            <a:ext cx="5256213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tx2"/>
                </a:solidFill>
              </a:rPr>
              <a:t>大数定律的背景及概念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tx2"/>
                </a:solidFill>
              </a:rPr>
              <a:t>依概率收敛定义及性质</a:t>
            </a:r>
            <a:endParaRPr lang="zh-CN" altLang="en-US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tx2"/>
                </a:solidFill>
              </a:rPr>
              <a:t>三个大数定律</a:t>
            </a:r>
            <a:endParaRPr lang="zh-CN" altLang="en-US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小结</a:t>
            </a:r>
          </a:p>
        </p:txBody>
      </p:sp>
      <p:pic>
        <p:nvPicPr>
          <p:cNvPr id="9220" name="Picture 4" descr="f012">
            <a:hlinkClick r:id="" action="ppaction://noaction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2617788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 descr="f012">
            <a:hlinkClick r:id="" action="ppaction://noaction" highlightClick="1">
              <a:snd r:embed="rId4" name="chimes.wav"/>
            </a:hlinkClick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3338513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 descr="f012">
            <a:hlinkClick r:id="" action="ppaction://noaction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4057650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 descr="f012">
            <a:hlinkClick r:id="" action="ppaction://noaction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800600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8879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95288" y="803251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 </a:t>
            </a:r>
            <a:r>
              <a:rPr lang="zh-CN" altLang="en-US" sz="2800">
                <a:solidFill>
                  <a:schemeClr val="accent2"/>
                </a:solidFill>
              </a:rPr>
              <a:t>大量随机试验中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68313" y="1684025"/>
            <a:ext cx="3048000" cy="3048000"/>
            <a:chOff x="480" y="1440"/>
            <a:chExt cx="1920" cy="1920"/>
          </a:xfrm>
        </p:grpSpPr>
        <p:pic>
          <p:nvPicPr>
            <p:cNvPr id="10257" name="Picture 5" descr="specl04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440"/>
              <a:ext cx="1920" cy="1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8" name="Rectangle 6"/>
            <p:cNvSpPr>
              <a:spLocks noChangeArrowheads="1"/>
            </p:cNvSpPr>
            <p:nvPr/>
          </p:nvSpPr>
          <p:spPr bwMode="auto">
            <a:xfrm>
              <a:off x="599" y="2764"/>
              <a:ext cx="1462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大量抛掷硬币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正面出现频率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857875" y="1684025"/>
            <a:ext cx="2628900" cy="2760663"/>
            <a:chOff x="3744" y="1274"/>
            <a:chExt cx="1656" cy="1933"/>
          </a:xfrm>
        </p:grpSpPr>
        <p:pic>
          <p:nvPicPr>
            <p:cNvPr id="10255" name="Picture 8" descr="字母使用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1274"/>
              <a:ext cx="1656" cy="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6" name="Rectangle 9"/>
            <p:cNvSpPr>
              <a:spLocks noChangeArrowheads="1"/>
            </p:cNvSpPr>
            <p:nvPr/>
          </p:nvSpPr>
          <p:spPr bwMode="auto">
            <a:xfrm>
              <a:off x="3894" y="2880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字母使用频率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633788" y="1684025"/>
            <a:ext cx="2317750" cy="2985137"/>
            <a:chOff x="2331" y="1248"/>
            <a:chExt cx="1460" cy="2343"/>
          </a:xfrm>
        </p:grpSpPr>
        <p:pic>
          <p:nvPicPr>
            <p:cNvPr id="10253" name="Picture 11" descr="DW04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8" y="1248"/>
              <a:ext cx="1239" cy="1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4" name="Rectangle 12"/>
            <p:cNvSpPr>
              <a:spLocks noChangeArrowheads="1"/>
            </p:cNvSpPr>
            <p:nvPr/>
          </p:nvSpPr>
          <p:spPr bwMode="auto">
            <a:xfrm>
              <a:off x="2331" y="2995"/>
              <a:ext cx="146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accent2"/>
                  </a:solidFill>
                </a:rPr>
                <a:t>生产过程中的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accent2"/>
                  </a:solidFill>
                </a:rPr>
                <a:t>废品率</a:t>
              </a:r>
            </a:p>
          </p:txBody>
        </p:sp>
      </p:grp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2798763" y="607853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……</a:t>
            </a:r>
          </a:p>
        </p:txBody>
      </p:sp>
      <p:graphicFrame>
        <p:nvGraphicFramePr>
          <p:cNvPr id="1024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420722"/>
              </p:ext>
            </p:extLst>
          </p:nvPr>
        </p:nvGraphicFramePr>
        <p:xfrm>
          <a:off x="4332288" y="2613001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14" name="公式" r:id="rId7" imgW="190500" imgH="419100" progId="Equation.3">
                  <p:embed/>
                </p:oleObj>
              </mc:Choice>
              <mc:Fallback>
                <p:oleObj name="公式" r:id="rId7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2613001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399028"/>
              </p:ext>
            </p:extLst>
          </p:nvPr>
        </p:nvGraphicFramePr>
        <p:xfrm>
          <a:off x="4332288" y="2613001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15" name="公式" r:id="rId9" imgW="190500" imgH="419100" progId="Equation.3">
                  <p:embed/>
                </p:oleObj>
              </mc:Choice>
              <mc:Fallback>
                <p:oleObj name="公式" r:id="rId9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2613001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052854"/>
              </p:ext>
            </p:extLst>
          </p:nvPr>
        </p:nvGraphicFramePr>
        <p:xfrm>
          <a:off x="4332288" y="2613001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16" name="公式" r:id="rId10" imgW="190500" imgH="419100" progId="Equation.3">
                  <p:embed/>
                </p:oleObj>
              </mc:Choice>
              <mc:Fallback>
                <p:oleObj name="公式" r:id="rId10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2613001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899460"/>
              </p:ext>
            </p:extLst>
          </p:nvPr>
        </p:nvGraphicFramePr>
        <p:xfrm>
          <a:off x="3203575" y="620688"/>
          <a:ext cx="5283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17" name="公式" r:id="rId11" imgW="5219779" imgH="914490" progId="Equation.3">
                  <p:embed/>
                </p:oleObj>
              </mc:Choice>
              <mc:Fallback>
                <p:oleObj name="公式" r:id="rId11" imgW="5219779" imgH="9144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620688"/>
                        <a:ext cx="5283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Rectangle 21"/>
          <p:cNvSpPr>
            <a:spLocks noChangeArrowheads="1"/>
          </p:cNvSpPr>
          <p:nvPr/>
        </p:nvSpPr>
        <p:spPr bwMode="auto">
          <a:xfrm>
            <a:off x="258763" y="34131"/>
            <a:ext cx="5080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rgbClr val="FFFF00"/>
                </a:solidFill>
                <a:ea typeface="黑体" panose="02010609060101010101" pitchFamily="49" charset="-122"/>
              </a:rPr>
              <a:t>一、大数定律的背景和概念</a:t>
            </a:r>
          </a:p>
        </p:txBody>
      </p:sp>
      <p:sp>
        <p:nvSpPr>
          <p:cNvPr id="18" name="Text Box 34"/>
          <p:cNvSpPr txBox="1">
            <a:spLocks noChangeArrowheads="1"/>
          </p:cNvSpPr>
          <p:nvPr/>
        </p:nvSpPr>
        <p:spPr bwMode="auto">
          <a:xfrm>
            <a:off x="508014" y="4939037"/>
            <a:ext cx="7924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chemeClr val="accent2"/>
                </a:solidFill>
              </a:rPr>
              <a:t>例、</a:t>
            </a:r>
            <a:r>
              <a:rPr lang="zh-CN" altLang="en-US" sz="2000" dirty="0">
                <a:solidFill>
                  <a:schemeClr val="accent2"/>
                </a:solidFill>
              </a:rPr>
              <a:t>掷一颗均匀正六面体的骰子，出现</a:t>
            </a:r>
            <a:r>
              <a:rPr lang="en-US" altLang="zh-CN" sz="2000" dirty="0">
                <a:solidFill>
                  <a:schemeClr val="accent2"/>
                </a:solidFill>
              </a:rPr>
              <a:t>1</a:t>
            </a:r>
            <a:r>
              <a:rPr lang="zh-CN" altLang="en-US" sz="2000" dirty="0">
                <a:solidFill>
                  <a:schemeClr val="accent2"/>
                </a:solidFill>
              </a:rPr>
              <a:t>点的概率是</a:t>
            </a:r>
            <a:r>
              <a:rPr lang="en-US" altLang="zh-CN" sz="2000" dirty="0">
                <a:solidFill>
                  <a:schemeClr val="accent2"/>
                </a:solidFill>
              </a:rPr>
              <a:t>1/6</a:t>
            </a:r>
            <a:r>
              <a:rPr lang="zh-CN" altLang="en-US" sz="2000" dirty="0">
                <a:solidFill>
                  <a:schemeClr val="accent2"/>
                </a:solidFill>
              </a:rPr>
              <a:t>。但掷的次数少时，出现</a:t>
            </a:r>
            <a:r>
              <a:rPr lang="en-US" altLang="zh-CN" sz="2000" dirty="0">
                <a:solidFill>
                  <a:schemeClr val="accent2"/>
                </a:solidFill>
              </a:rPr>
              <a:t>1</a:t>
            </a:r>
            <a:r>
              <a:rPr lang="zh-CN" altLang="en-US" sz="2000" dirty="0">
                <a:solidFill>
                  <a:schemeClr val="accent2"/>
                </a:solidFill>
              </a:rPr>
              <a:t>点的频率可能与</a:t>
            </a:r>
            <a:r>
              <a:rPr lang="en-US" altLang="zh-CN" sz="2000" dirty="0">
                <a:solidFill>
                  <a:schemeClr val="accent2"/>
                </a:solidFill>
              </a:rPr>
              <a:t>1/6</a:t>
            </a:r>
            <a:r>
              <a:rPr lang="zh-CN" altLang="en-US" sz="2000" dirty="0">
                <a:solidFill>
                  <a:schemeClr val="accent2"/>
                </a:solidFill>
              </a:rPr>
              <a:t>相差较大，但掷次数很多时，出现</a:t>
            </a:r>
            <a:r>
              <a:rPr lang="en-US" altLang="zh-CN" sz="2000" dirty="0">
                <a:solidFill>
                  <a:schemeClr val="accent2"/>
                </a:solidFill>
              </a:rPr>
              <a:t>1</a:t>
            </a:r>
            <a:r>
              <a:rPr lang="zh-CN" altLang="en-US" sz="2000" dirty="0">
                <a:solidFill>
                  <a:schemeClr val="accent2"/>
                </a:solidFill>
              </a:rPr>
              <a:t>点的频率接近</a:t>
            </a:r>
            <a:r>
              <a:rPr lang="en-US" altLang="zh-CN" sz="2000" dirty="0">
                <a:solidFill>
                  <a:schemeClr val="accent2"/>
                </a:solidFill>
              </a:rPr>
              <a:t>1/6</a:t>
            </a:r>
            <a:r>
              <a:rPr lang="zh-CN" altLang="en-US" sz="2000" dirty="0">
                <a:solidFill>
                  <a:schemeClr val="accent2"/>
                </a:solidFill>
              </a:rPr>
              <a:t>几乎是必然的。</a:t>
            </a:r>
          </a:p>
        </p:txBody>
      </p:sp>
    </p:spTree>
    <p:extLst>
      <p:ext uri="{BB962C8B-B14F-4D97-AF65-F5344CB8AC3E}">
        <p14:creationId xmlns:p14="http://schemas.microsoft.com/office/powerpoint/2010/main" val="5078221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/>
      <p:bldP spid="13325" grpId="0" autoUpdateAnimBg="0"/>
      <p:bldP spid="1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0" name="Text Box 30"/>
          <p:cNvSpPr txBox="1">
            <a:spLocks noChangeArrowheads="1"/>
          </p:cNvSpPr>
          <p:nvPr/>
        </p:nvSpPr>
        <p:spPr bwMode="auto">
          <a:xfrm>
            <a:off x="457200" y="1295400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 </a:t>
            </a:r>
            <a:r>
              <a:rPr lang="zh-CN" altLang="en-US" sz="2800">
                <a:solidFill>
                  <a:schemeClr val="accent2"/>
                </a:solidFill>
              </a:rPr>
              <a:t>大量随机试验中</a:t>
            </a:r>
          </a:p>
        </p:txBody>
      </p:sp>
      <p:graphicFrame>
        <p:nvGraphicFramePr>
          <p:cNvPr id="256032" name="Object 32"/>
          <p:cNvGraphicFramePr>
            <a:graphicFrameLocks noChangeAspect="1"/>
          </p:cNvGraphicFramePr>
          <p:nvPr/>
        </p:nvGraphicFramePr>
        <p:xfrm>
          <a:off x="3276600" y="1143000"/>
          <a:ext cx="46799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3" name="公式" r:id="rId4" imgW="5219779" imgH="914490" progId="Equation.3">
                  <p:embed/>
                </p:oleObj>
              </mc:Choice>
              <mc:Fallback>
                <p:oleObj name="公式" r:id="rId4" imgW="5219779" imgH="9144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43000"/>
                        <a:ext cx="4679950" cy="866775"/>
                      </a:xfrm>
                      <a:prstGeom prst="rect">
                        <a:avLst/>
                      </a:prstGeom>
                      <a:solidFill>
                        <a:srgbClr val="FFFFE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4" name="Text Box 34"/>
          <p:cNvSpPr txBox="1">
            <a:spLocks noChangeArrowheads="1"/>
          </p:cNvSpPr>
          <p:nvPr/>
        </p:nvSpPr>
        <p:spPr bwMode="auto">
          <a:xfrm>
            <a:off x="539552" y="3140968"/>
            <a:ext cx="7924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 smtClean="0">
                <a:solidFill>
                  <a:schemeClr val="accent2"/>
                </a:solidFill>
              </a:rPr>
              <a:t>例、</a:t>
            </a:r>
            <a:r>
              <a:rPr lang="zh-CN" altLang="en-US" sz="2400" dirty="0">
                <a:solidFill>
                  <a:schemeClr val="accent2"/>
                </a:solidFill>
              </a:rPr>
              <a:t>掷一颗均匀正六面体的骰子，出现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点的概率是</a:t>
            </a:r>
            <a:r>
              <a:rPr lang="en-US" altLang="zh-CN" sz="2400" dirty="0">
                <a:solidFill>
                  <a:schemeClr val="accent2"/>
                </a:solidFill>
              </a:rPr>
              <a:t>1/6</a:t>
            </a:r>
            <a:r>
              <a:rPr lang="zh-CN" altLang="en-US" sz="2400" dirty="0">
                <a:solidFill>
                  <a:schemeClr val="accent2"/>
                </a:solidFill>
              </a:rPr>
              <a:t>。但掷的次数少时，出现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点的频率可能与</a:t>
            </a:r>
            <a:r>
              <a:rPr lang="en-US" altLang="zh-CN" sz="2400" dirty="0">
                <a:solidFill>
                  <a:schemeClr val="accent2"/>
                </a:solidFill>
              </a:rPr>
              <a:t>1/6</a:t>
            </a:r>
            <a:r>
              <a:rPr lang="zh-CN" altLang="en-US" sz="2400" dirty="0">
                <a:solidFill>
                  <a:schemeClr val="accent2"/>
                </a:solidFill>
              </a:rPr>
              <a:t>相差较大，但掷次数很多时，出现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点的频率接近</a:t>
            </a:r>
            <a:r>
              <a:rPr lang="en-US" altLang="zh-CN" sz="2400" dirty="0">
                <a:solidFill>
                  <a:schemeClr val="accent2"/>
                </a:solidFill>
              </a:rPr>
              <a:t>1/6</a:t>
            </a:r>
            <a:r>
              <a:rPr lang="zh-CN" altLang="en-US" sz="2400" dirty="0">
                <a:solidFill>
                  <a:schemeClr val="accent2"/>
                </a:solidFill>
              </a:rPr>
              <a:t>几乎是必然的。</a:t>
            </a:r>
          </a:p>
        </p:txBody>
      </p:sp>
    </p:spTree>
    <p:extLst>
      <p:ext uri="{BB962C8B-B14F-4D97-AF65-F5344CB8AC3E}">
        <p14:creationId xmlns:p14="http://schemas.microsoft.com/office/powerpoint/2010/main" val="4090126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5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0" grpId="0" autoUpdateAnimBg="0"/>
      <p:bldP spid="25603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4" name="Text Box 4"/>
          <p:cNvSpPr txBox="1">
            <a:spLocks noChangeArrowheads="1"/>
          </p:cNvSpPr>
          <p:nvPr/>
        </p:nvSpPr>
        <p:spPr bwMode="auto">
          <a:xfrm>
            <a:off x="179512" y="654050"/>
            <a:ext cx="81216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dirty="0"/>
              <a:t>        </a:t>
            </a:r>
            <a:r>
              <a:rPr kumimoji="0" lang="zh-CN" altLang="en-US" sz="2800" b="1" dirty="0"/>
              <a:t>概率论中用来阐明大量随机现象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平均结果的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</a:rPr>
              <a:t>稳定性</a:t>
            </a:r>
            <a:r>
              <a:rPr kumimoji="0" lang="zh-CN" altLang="en-US" sz="2800" b="1" dirty="0"/>
              <a:t>的一系列定理，称为大数定律（</a:t>
            </a:r>
            <a:r>
              <a:rPr kumimoji="0" lang="en-US" altLang="zh-CN" sz="2800" b="1" dirty="0"/>
              <a:t>law of large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dirty="0"/>
              <a:t>number)</a:t>
            </a:r>
          </a:p>
        </p:txBody>
      </p:sp>
      <p:sp>
        <p:nvSpPr>
          <p:cNvPr id="317445" name="Rectangle 5"/>
          <p:cNvSpPr>
            <a:spLocks noChangeArrowheads="1"/>
          </p:cNvSpPr>
          <p:nvPr/>
        </p:nvSpPr>
        <p:spPr bwMode="auto">
          <a:xfrm>
            <a:off x="0" y="74613"/>
            <a:ext cx="4432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</a:rPr>
              <a:t>、大数定律的概念</a:t>
            </a:r>
          </a:p>
        </p:txBody>
      </p:sp>
      <p:sp>
        <p:nvSpPr>
          <p:cNvPr id="317447" name="Rectangle 7"/>
          <p:cNvSpPr>
            <a:spLocks noChangeArrowheads="1"/>
          </p:cNvSpPr>
          <p:nvPr/>
        </p:nvSpPr>
        <p:spPr bwMode="auto">
          <a:xfrm>
            <a:off x="1763688" y="2852936"/>
            <a:ext cx="58674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atinLnBrk="1">
              <a:lnSpc>
                <a:spcPts val="24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本章将介绍三个大数定律：</a:t>
            </a:r>
          </a:p>
          <a:p>
            <a:pPr latinLnBrk="1">
              <a:lnSpc>
                <a:spcPts val="24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 （</a:t>
            </a: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）切比雪夫大数定律、</a:t>
            </a:r>
          </a:p>
          <a:p>
            <a:pPr latinLnBrk="1">
              <a:lnSpc>
                <a:spcPts val="24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 （</a:t>
            </a: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）</a:t>
            </a:r>
            <a:r>
              <a:rPr lang="zh-CN" altLang="en-US" sz="2800" b="1"/>
              <a:t>辛钦大数定律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latinLnBrk="1">
              <a:lnSpc>
                <a:spcPts val="24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800" b="1"/>
              <a:t>      （</a:t>
            </a:r>
            <a:r>
              <a:rPr lang="en-US" altLang="zh-CN" sz="2800" b="1"/>
              <a:t>3</a:t>
            </a:r>
            <a:r>
              <a:rPr lang="zh-CN" altLang="en-US" sz="2800" b="1"/>
              <a:t>）</a:t>
            </a:r>
            <a:r>
              <a:rPr lang="zh-CN" altLang="en-US" sz="2800" b="1">
                <a:latin typeface="宋体" panose="02010600030101010101" pitchFamily="2" charset="-122"/>
              </a:rPr>
              <a:t>伯努利大数定律</a:t>
            </a:r>
            <a:endParaRPr lang="en-US" altLang="zh-CN" sz="2800" b="1">
              <a:latin typeface="宋体" panose="02010600030101010101" pitchFamily="2" charset="-122"/>
            </a:endParaRPr>
          </a:p>
          <a:p>
            <a:pPr latinLnBrk="1">
              <a:lnSpc>
                <a:spcPts val="24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endParaRPr lang="zh-CN" altLang="en-US" sz="2800" b="1"/>
          </a:p>
          <a:p>
            <a:pPr latinLnBrk="1">
              <a:lnSpc>
                <a:spcPts val="24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b="1"/>
              <a:t>它们之间既有区别也有联系。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latinLnBrk="1">
              <a:lnSpc>
                <a:spcPts val="24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	</a:t>
            </a:r>
          </a:p>
        </p:txBody>
      </p:sp>
    </p:spTree>
    <p:extLst>
      <p:ext uri="{BB962C8B-B14F-4D97-AF65-F5344CB8AC3E}">
        <p14:creationId xmlns:p14="http://schemas.microsoft.com/office/powerpoint/2010/main" val="10787800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4" grpId="0" autoUpdateAnimBg="0"/>
      <p:bldP spid="317445" grpId="0" autoUpdateAnimBg="0"/>
      <p:bldP spid="31744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 bwMode="auto">
          <a:xfrm>
            <a:off x="3203848" y="4649414"/>
            <a:ext cx="3456384" cy="579786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3203848" y="3205163"/>
            <a:ext cx="1944216" cy="655885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86" name="Text Box 10"/>
          <p:cNvSpPr txBox="1">
            <a:spLocks noChangeArrowheads="1"/>
          </p:cNvSpPr>
          <p:nvPr/>
        </p:nvSpPr>
        <p:spPr bwMode="auto">
          <a:xfrm>
            <a:off x="273050" y="-6351"/>
            <a:ext cx="5283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00"/>
                </a:solidFill>
                <a:ea typeface="黑体" panose="02010609060101010101" pitchFamily="49" charset="-122"/>
              </a:rPr>
              <a:t>二、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依概率收敛定义及性质 </a:t>
            </a:r>
          </a:p>
        </p:txBody>
      </p:sp>
      <p:sp>
        <p:nvSpPr>
          <p:cNvPr id="326667" name="Text Box 11"/>
          <p:cNvSpPr txBox="1">
            <a:spLocks noChangeArrowheads="1"/>
          </p:cNvSpPr>
          <p:nvPr/>
        </p:nvSpPr>
        <p:spPr bwMode="auto">
          <a:xfrm>
            <a:off x="273050" y="890587"/>
            <a:ext cx="1152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333399"/>
                </a:solidFill>
              </a:rPr>
              <a:t>定义</a:t>
            </a:r>
          </a:p>
        </p:txBody>
      </p:sp>
      <p:graphicFrame>
        <p:nvGraphicFramePr>
          <p:cNvPr id="16388" name="Object 12"/>
          <p:cNvGraphicFramePr>
            <a:graphicFrameLocks noChangeAspect="1"/>
          </p:cNvGraphicFramePr>
          <p:nvPr/>
        </p:nvGraphicFramePr>
        <p:xfrm>
          <a:off x="4037013" y="3205163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0" name="公式" r:id="rId4" imgW="416821" imgH="917005" progId="Equation.3">
                  <p:embed/>
                </p:oleObj>
              </mc:Choice>
              <mc:Fallback>
                <p:oleObj name="公式" r:id="rId4" imgW="416821" imgH="917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013" y="3205163"/>
                        <a:ext cx="914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13"/>
          <p:cNvGraphicFramePr>
            <a:graphicFrameLocks noChangeAspect="1"/>
          </p:cNvGraphicFramePr>
          <p:nvPr/>
        </p:nvGraphicFramePr>
        <p:xfrm>
          <a:off x="4398963" y="3205163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1" name="公式" r:id="rId6" imgW="190500" imgH="419100" progId="Equation.3">
                  <p:embed/>
                </p:oleObj>
              </mc:Choice>
              <mc:Fallback>
                <p:oleObj name="公式" r:id="rId6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3" y="3205163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192471"/>
              </p:ext>
            </p:extLst>
          </p:nvPr>
        </p:nvGraphicFramePr>
        <p:xfrm>
          <a:off x="1156356" y="995363"/>
          <a:ext cx="72644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2" name="公式" r:id="rId8" imgW="7200934" imgH="1981260" progId="Equation.3">
                  <p:embed/>
                </p:oleObj>
              </mc:Choice>
              <mc:Fallback>
                <p:oleObj name="公式" r:id="rId8" imgW="7200934" imgH="19812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356" y="995363"/>
                        <a:ext cx="72644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140184"/>
              </p:ext>
            </p:extLst>
          </p:nvPr>
        </p:nvGraphicFramePr>
        <p:xfrm>
          <a:off x="2528888" y="2041524"/>
          <a:ext cx="36576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3" name="Equation" r:id="rId10" imgW="1276378" imgH="209520" progId="Equation.3">
                  <p:embed/>
                </p:oleObj>
              </mc:Choice>
              <mc:Fallback>
                <p:oleObj name="Equation" r:id="rId10" imgW="1276378" imgH="209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2041524"/>
                        <a:ext cx="36576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277122"/>
              </p:ext>
            </p:extLst>
          </p:nvPr>
        </p:nvGraphicFramePr>
        <p:xfrm>
          <a:off x="1166813" y="2757038"/>
          <a:ext cx="66548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4" name="公式" r:id="rId12" imgW="6591244" imgH="990630" progId="Equation.3">
                  <p:embed/>
                </p:oleObj>
              </mc:Choice>
              <mc:Fallback>
                <p:oleObj name="公式" r:id="rId12" imgW="6591244" imgH="9906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2757038"/>
                        <a:ext cx="66548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73" name="Text Box 17"/>
          <p:cNvSpPr txBox="1">
            <a:spLocks noChangeArrowheads="1"/>
          </p:cNvSpPr>
          <p:nvPr/>
        </p:nvSpPr>
        <p:spPr bwMode="auto">
          <a:xfrm>
            <a:off x="395536" y="3993553"/>
            <a:ext cx="1144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333399"/>
                </a:solidFill>
              </a:rPr>
              <a:t>性质</a:t>
            </a:r>
          </a:p>
        </p:txBody>
      </p:sp>
      <p:graphicFrame>
        <p:nvGraphicFramePr>
          <p:cNvPr id="32667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521805"/>
              </p:ext>
            </p:extLst>
          </p:nvPr>
        </p:nvGraphicFramePr>
        <p:xfrm>
          <a:off x="558007" y="4008389"/>
          <a:ext cx="806291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5" name="Equation" r:id="rId14" imgW="7629635" imgH="1038150" progId="Equation.DSMT4">
                  <p:embed/>
                </p:oleObj>
              </mc:Choice>
              <mc:Fallback>
                <p:oleObj name="Equation" r:id="rId14" imgW="7629635" imgH="103815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7" y="4008389"/>
                        <a:ext cx="806291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16999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7" grpId="0" autoUpdateAnimBg="0"/>
      <p:bldP spid="32667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79512" y="741965"/>
            <a:ext cx="1728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请注意 </a:t>
            </a:r>
            <a:r>
              <a:rPr lang="en-US" altLang="zh-CN" sz="2800" dirty="0">
                <a:solidFill>
                  <a:schemeClr val="accent2"/>
                </a:solidFill>
              </a:rPr>
              <a:t>:</a:t>
            </a:r>
          </a:p>
        </p:txBody>
      </p:sp>
      <p:graphicFrame>
        <p:nvGraphicFramePr>
          <p:cNvPr id="327683" name="Object 3"/>
          <p:cNvGraphicFramePr>
            <a:graphicFrameLocks noChangeAspect="1"/>
          </p:cNvGraphicFramePr>
          <p:nvPr/>
        </p:nvGraphicFramePr>
        <p:xfrm>
          <a:off x="630238" y="1262063"/>
          <a:ext cx="81534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4" name="Equation" r:id="rId4" imgW="3400433" imgH="1142910" progId="Equation.DSMT4">
                  <p:embed/>
                </p:oleObj>
              </mc:Choice>
              <mc:Fallback>
                <p:oleObj name="Equation" r:id="rId4" imgW="3400433" imgH="11429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1262063"/>
                        <a:ext cx="81534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4" name="Object 4"/>
          <p:cNvGraphicFramePr>
            <a:graphicFrameLocks noChangeAspect="1"/>
          </p:cNvGraphicFramePr>
          <p:nvPr/>
        </p:nvGraphicFramePr>
        <p:xfrm>
          <a:off x="608013" y="4005263"/>
          <a:ext cx="82708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5" name="公式" r:id="rId6" imgW="7886801" imgH="885870" progId="Equation.3">
                  <p:embed/>
                </p:oleObj>
              </mc:Choice>
              <mc:Fallback>
                <p:oleObj name="公式" r:id="rId6" imgW="7886801" imgH="8858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4005263"/>
                        <a:ext cx="82708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413" name="直接连接符 2"/>
          <p:cNvCxnSpPr>
            <a:cxnSpLocks noChangeShapeType="1"/>
          </p:cNvCxnSpPr>
          <p:nvPr/>
        </p:nvCxnSpPr>
        <p:spPr bwMode="auto">
          <a:xfrm>
            <a:off x="630238" y="2349500"/>
            <a:ext cx="7974012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4" name="直接连接符 5"/>
          <p:cNvCxnSpPr>
            <a:cxnSpLocks noChangeShapeType="1"/>
          </p:cNvCxnSpPr>
          <p:nvPr/>
        </p:nvCxnSpPr>
        <p:spPr bwMode="auto">
          <a:xfrm>
            <a:off x="755650" y="2924175"/>
            <a:ext cx="4608513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9965740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 bwMode="auto">
          <a:xfrm>
            <a:off x="2987824" y="2132856"/>
            <a:ext cx="1152128" cy="470644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-324544" y="0"/>
            <a:ext cx="3568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b="1" dirty="0">
                <a:solidFill>
                  <a:srgbClr val="FFFF00"/>
                </a:solidFill>
                <a:ea typeface="黑体" panose="02010609060101010101" pitchFamily="49" charset="-122"/>
              </a:rPr>
              <a:t>三、大数定律</a:t>
            </a: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416020" y="684213"/>
            <a:ext cx="64516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1</a:t>
            </a:r>
            <a:r>
              <a:rPr lang="zh-CN" altLang="en-US" sz="2800" b="1" dirty="0" smtClean="0">
                <a:solidFill>
                  <a:srgbClr val="333399"/>
                </a:solidFill>
              </a:rPr>
              <a:t>、定理一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963518" y="4072260"/>
            <a:ext cx="3241675" cy="544513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15000"/>
              </a:lnSpc>
              <a:spcBef>
                <a:spcPct val="50000"/>
              </a:spcBef>
              <a:defRPr/>
            </a:pPr>
            <a:r>
              <a:rPr lang="zh-CN" altLang="en-US" sz="2800" b="1" dirty="0"/>
              <a:t>则对任意的</a:t>
            </a:r>
            <a:r>
              <a:rPr lang="en-US" altLang="zh-CN" sz="2800" b="1" i="1" dirty="0"/>
              <a:t>ε</a:t>
            </a:r>
            <a:r>
              <a:rPr lang="en-US" altLang="zh-CN" sz="2800" b="1" dirty="0"/>
              <a:t>&gt;0</a:t>
            </a:r>
            <a:r>
              <a:rPr lang="zh-CN" altLang="en-US" sz="2800" b="1" dirty="0"/>
              <a:t>，有</a:t>
            </a: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128336"/>
              </p:ext>
            </p:extLst>
          </p:nvPr>
        </p:nvGraphicFramePr>
        <p:xfrm>
          <a:off x="703263" y="1638300"/>
          <a:ext cx="6317009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12" name="公式" r:id="rId4" imgW="5886467" imgH="895320" progId="Equation.3">
                  <p:embed/>
                </p:oleObj>
              </mc:Choice>
              <mc:Fallback>
                <p:oleObj name="公式" r:id="rId4" imgW="5886467" imgH="89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3" y="1638300"/>
                        <a:ext cx="6317009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1176338" y="2747963"/>
          <a:ext cx="5245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13" name="Equation" r:id="rId6" imgW="5181690" imgH="419040" progId="Equation.DSMT4">
                  <p:embed/>
                </p:oleObj>
              </mc:Choice>
              <mc:Fallback>
                <p:oleObj name="Equation" r:id="rId6" imgW="518169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2747963"/>
                        <a:ext cx="5245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498485"/>
              </p:ext>
            </p:extLst>
          </p:nvPr>
        </p:nvGraphicFramePr>
        <p:xfrm>
          <a:off x="1691680" y="5284317"/>
          <a:ext cx="4172545" cy="77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14" name="公式" r:id="rId8" imgW="4086301" imgH="771660" progId="Equation.3">
                  <p:embed/>
                </p:oleObj>
              </mc:Choice>
              <mc:Fallback>
                <p:oleObj name="公式" r:id="rId8" imgW="4086301" imgH="771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284317"/>
                        <a:ext cx="4172545" cy="772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311540"/>
              </p:ext>
            </p:extLst>
          </p:nvPr>
        </p:nvGraphicFramePr>
        <p:xfrm>
          <a:off x="1961802" y="4806871"/>
          <a:ext cx="2912169" cy="477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15" name="Equation" r:id="rId10" imgW="2685932" imgH="495180" progId="Equation.DSMT4">
                  <p:embed/>
                </p:oleObj>
              </mc:Choice>
              <mc:Fallback>
                <p:oleObj name="Equation" r:id="rId10" imgW="2685932" imgH="4951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802" y="4806871"/>
                        <a:ext cx="2912169" cy="477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24968"/>
              </p:ext>
            </p:extLst>
          </p:nvPr>
        </p:nvGraphicFramePr>
        <p:xfrm>
          <a:off x="5953220" y="3255277"/>
          <a:ext cx="1828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16" name="Equation" r:id="rId12" imgW="1762077" imgH="857250" progId="Equation.DSMT4">
                  <p:embed/>
                </p:oleObj>
              </mc:Choice>
              <mc:Fallback>
                <p:oleObj name="Equation" r:id="rId12" imgW="1762077" imgH="85725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220" y="3255277"/>
                        <a:ext cx="1828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988610" y="3334566"/>
            <a:ext cx="4892675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做前 </a:t>
            </a:r>
            <a:r>
              <a:rPr lang="en-US" altLang="zh-CN" sz="2800" b="1" i="1" dirty="0">
                <a:solidFill>
                  <a:schemeClr val="accent2"/>
                </a:solidFill>
              </a:rPr>
              <a:t>n </a:t>
            </a:r>
            <a:r>
              <a:rPr lang="zh-CN" altLang="en-US" sz="2800" b="1" dirty="0">
                <a:solidFill>
                  <a:schemeClr val="accent2"/>
                </a:solidFill>
              </a:rPr>
              <a:t>个随机变量的算术平均</a:t>
            </a:r>
          </a:p>
        </p:txBody>
      </p:sp>
    </p:spTree>
    <p:extLst>
      <p:ext uri="{BB962C8B-B14F-4D97-AF65-F5344CB8AC3E}">
        <p14:creationId xmlns:p14="http://schemas.microsoft.com/office/powerpoint/2010/main" val="6602054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animBg="1" autoUpdateAnimBg="0"/>
      <p:bldP spid="1031" grpId="0" animBg="1" autoUpdateAnimBg="0"/>
      <p:bldP spid="103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 bwMode="auto">
          <a:xfrm>
            <a:off x="1547664" y="3560763"/>
            <a:ext cx="4104456" cy="1136650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95769" y="468313"/>
            <a:ext cx="9032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证：</a:t>
            </a:r>
          </a:p>
        </p:txBody>
      </p:sp>
      <p:graphicFrame>
        <p:nvGraphicFramePr>
          <p:cNvPr id="3512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717715"/>
              </p:ext>
            </p:extLst>
          </p:nvPr>
        </p:nvGraphicFramePr>
        <p:xfrm>
          <a:off x="1317779" y="582612"/>
          <a:ext cx="1609417" cy="1136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66" name="公式" r:id="rId4" imgW="1962246" imgH="1371600" progId="Equation.3">
                  <p:embed/>
                </p:oleObj>
              </mc:Choice>
              <mc:Fallback>
                <p:oleObj name="公式" r:id="rId4" imgW="1962246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779" y="582612"/>
                        <a:ext cx="1609417" cy="11366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593422"/>
              </p:ext>
            </p:extLst>
          </p:nvPr>
        </p:nvGraphicFramePr>
        <p:xfrm>
          <a:off x="4806950" y="913609"/>
          <a:ext cx="180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67" name="公式" r:id="rId6" imgW="1733443" imgH="771660" progId="Equation.3">
                  <p:embed/>
                </p:oleObj>
              </mc:Choice>
              <mc:Fallback>
                <p:oleObj name="公式" r:id="rId6" imgW="1733443" imgH="771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950" y="913609"/>
                        <a:ext cx="1803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7173"/>
              </p:ext>
            </p:extLst>
          </p:nvPr>
        </p:nvGraphicFramePr>
        <p:xfrm>
          <a:off x="3032125" y="924141"/>
          <a:ext cx="1638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68" name="公式" r:id="rId8" imgW="1571633" imgH="771660" progId="Equation.3">
                  <p:embed/>
                </p:oleObj>
              </mc:Choice>
              <mc:Fallback>
                <p:oleObj name="公式" r:id="rId8" imgW="1571633" imgH="771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5" y="924141"/>
                        <a:ext cx="1638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499403"/>
              </p:ext>
            </p:extLst>
          </p:nvPr>
        </p:nvGraphicFramePr>
        <p:xfrm>
          <a:off x="1336675" y="1960563"/>
          <a:ext cx="1507133" cy="781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69" name="公式" r:id="rId10" imgW="1676445" imgH="838080" progId="Equation.3">
                  <p:embed/>
                </p:oleObj>
              </mc:Choice>
              <mc:Fallback>
                <p:oleObj name="公式" r:id="rId10" imgW="1676445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75" y="1960563"/>
                        <a:ext cx="1507133" cy="781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321691"/>
              </p:ext>
            </p:extLst>
          </p:nvPr>
        </p:nvGraphicFramePr>
        <p:xfrm>
          <a:off x="2892158" y="1999600"/>
          <a:ext cx="1692810" cy="681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70" name="公式" r:id="rId12" imgW="2019244" imgH="771660" progId="Equation.3">
                  <p:embed/>
                </p:oleObj>
              </mc:Choice>
              <mc:Fallback>
                <p:oleObj name="公式" r:id="rId12" imgW="2019244" imgH="771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158" y="1999600"/>
                        <a:ext cx="1692810" cy="6812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969123"/>
              </p:ext>
            </p:extLst>
          </p:nvPr>
        </p:nvGraphicFramePr>
        <p:xfrm>
          <a:off x="4670425" y="1909728"/>
          <a:ext cx="2145508" cy="816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71" name="公式" r:id="rId14" imgW="2266956" imgH="819180" progId="Equation.3">
                  <p:embed/>
                </p:oleObj>
              </mc:Choice>
              <mc:Fallback>
                <p:oleObj name="公式" r:id="rId14" imgW="2266956" imgH="8191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425" y="1909728"/>
                        <a:ext cx="2145508" cy="816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1" name="Text Box 9"/>
          <p:cNvSpPr txBox="1">
            <a:spLocks noChangeArrowheads="1"/>
          </p:cNvSpPr>
          <p:nvPr/>
        </p:nvSpPr>
        <p:spPr bwMode="auto">
          <a:xfrm>
            <a:off x="858838" y="3041650"/>
            <a:ext cx="3179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由切比雪夫不等式</a:t>
            </a:r>
          </a:p>
        </p:txBody>
      </p:sp>
      <p:graphicFrame>
        <p:nvGraphicFramePr>
          <p:cNvPr id="3512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022418"/>
              </p:ext>
            </p:extLst>
          </p:nvPr>
        </p:nvGraphicFramePr>
        <p:xfrm>
          <a:off x="1752600" y="3744913"/>
          <a:ext cx="3899520" cy="81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72" name="公式" r:id="rId16" imgW="4505277" imgH="885870" progId="Equation.3">
                  <p:embed/>
                </p:oleObj>
              </mc:Choice>
              <mc:Fallback>
                <p:oleObj name="公式" r:id="rId16" imgW="4505277" imgH="8858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744913"/>
                        <a:ext cx="3899520" cy="81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3" name="Text Box 11"/>
          <p:cNvSpPr txBox="1">
            <a:spLocks noChangeArrowheads="1"/>
          </p:cNvSpPr>
          <p:nvPr/>
        </p:nvSpPr>
        <p:spPr bwMode="auto">
          <a:xfrm>
            <a:off x="904575" y="4697413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上式中令</a:t>
            </a:r>
          </a:p>
        </p:txBody>
      </p:sp>
      <p:graphicFrame>
        <p:nvGraphicFramePr>
          <p:cNvPr id="351244" name="Object 12"/>
          <p:cNvGraphicFramePr>
            <a:graphicFrameLocks noChangeAspect="1"/>
          </p:cNvGraphicFramePr>
          <p:nvPr/>
        </p:nvGraphicFramePr>
        <p:xfrm>
          <a:off x="2659063" y="4841875"/>
          <a:ext cx="1016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73" name="公式" r:id="rId18" imgW="952489" imgH="190620" progId="Equation.3">
                  <p:embed/>
                </p:oleObj>
              </mc:Choice>
              <mc:Fallback>
                <p:oleObj name="公式" r:id="rId18" imgW="952489" imgH="1906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4841875"/>
                        <a:ext cx="10160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5" name="Text Box 13"/>
          <p:cNvSpPr txBox="1">
            <a:spLocks noChangeArrowheads="1"/>
          </p:cNvSpPr>
          <p:nvPr/>
        </p:nvSpPr>
        <p:spPr bwMode="auto">
          <a:xfrm>
            <a:off x="3738563" y="4697413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得</a:t>
            </a:r>
          </a:p>
        </p:txBody>
      </p:sp>
      <p:graphicFrame>
        <p:nvGraphicFramePr>
          <p:cNvPr id="3512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475009"/>
              </p:ext>
            </p:extLst>
          </p:nvPr>
        </p:nvGraphicFramePr>
        <p:xfrm>
          <a:off x="1442996" y="5307407"/>
          <a:ext cx="3633060" cy="701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74" name="公式" r:id="rId20" imgW="3791046" imgH="771660" progId="Equation.3">
                  <p:embed/>
                </p:oleObj>
              </mc:Choice>
              <mc:Fallback>
                <p:oleObj name="公式" r:id="rId20" imgW="3791046" imgH="771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996" y="5307407"/>
                        <a:ext cx="3633060" cy="701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360615"/>
              </p:ext>
            </p:extLst>
          </p:nvPr>
        </p:nvGraphicFramePr>
        <p:xfrm>
          <a:off x="6427374" y="3591320"/>
          <a:ext cx="2689930" cy="556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75" name="Equation" r:id="rId22" imgW="1800166" imgH="295380" progId="Equation.DSMT4">
                  <p:embed/>
                </p:oleObj>
              </mc:Choice>
              <mc:Fallback>
                <p:oleObj name="Equation" r:id="rId22" imgW="1800166" imgH="2953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374" y="3591320"/>
                        <a:ext cx="2689930" cy="556717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475" name="直接箭头连接符 3"/>
          <p:cNvCxnSpPr>
            <a:cxnSpLocks noChangeShapeType="1"/>
          </p:cNvCxnSpPr>
          <p:nvPr/>
        </p:nvCxnSpPr>
        <p:spPr bwMode="auto">
          <a:xfrm flipH="1">
            <a:off x="5762896" y="3062263"/>
            <a:ext cx="1152525" cy="963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695887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41" grpId="0" autoUpdateAnimBg="0"/>
      <p:bldP spid="351243" grpId="0" autoUpdateAnimBg="0"/>
      <p:bldP spid="35124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4413250" y="3825875"/>
          <a:ext cx="419100" cy="6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74" name="公式" r:id="rId3" imgW="418918" imgH="63472" progId="Equation.3">
                  <p:embed/>
                </p:oleObj>
              </mc:Choice>
              <mc:Fallback>
                <p:oleObj name="公式" r:id="rId3" imgW="418918" imgH="634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3825875"/>
                        <a:ext cx="419100" cy="6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-126207" y="542752"/>
            <a:ext cx="1217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333399"/>
                </a:solidFill>
              </a:rPr>
              <a:t>说明</a:t>
            </a:r>
          </a:p>
        </p:txBody>
      </p:sp>
      <p:graphicFrame>
        <p:nvGraphicFramePr>
          <p:cNvPr id="352260" name="Object 4"/>
          <p:cNvGraphicFramePr>
            <a:graphicFrameLocks noChangeAspect="1"/>
          </p:cNvGraphicFramePr>
          <p:nvPr/>
        </p:nvGraphicFramePr>
        <p:xfrm>
          <a:off x="539750" y="2501900"/>
          <a:ext cx="7635875" cy="300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75" name="公式" r:id="rId6" imgW="7362743" imgH="2943270" progId="Equation.3">
                  <p:embed/>
                </p:oleObj>
              </mc:Choice>
              <mc:Fallback>
                <p:oleObj name="公式" r:id="rId6" imgW="7362743" imgH="29432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501900"/>
                        <a:ext cx="7635875" cy="300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1" name="Object 5"/>
          <p:cNvGraphicFramePr>
            <a:graphicFrameLocks noChangeAspect="1"/>
          </p:cNvGraphicFramePr>
          <p:nvPr/>
        </p:nvGraphicFramePr>
        <p:xfrm>
          <a:off x="482600" y="747713"/>
          <a:ext cx="810895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76" name="公式" r:id="rId8" imgW="7657999" imgH="1295460" progId="Equation.3">
                  <p:embed/>
                </p:oleObj>
              </mc:Choice>
              <mc:Fallback>
                <p:oleObj name="公式" r:id="rId8" imgW="7657999" imgH="12954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747713"/>
                        <a:ext cx="810895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2" name="Object 6"/>
          <p:cNvGraphicFramePr>
            <a:graphicFrameLocks noChangeAspect="1"/>
          </p:cNvGraphicFramePr>
          <p:nvPr/>
        </p:nvGraphicFramePr>
        <p:xfrm>
          <a:off x="733425" y="5060950"/>
          <a:ext cx="7607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77" name="公式" r:id="rId10" imgW="7543732" imgH="885870" progId="Equation.3">
                  <p:embed/>
                </p:oleObj>
              </mc:Choice>
              <mc:Fallback>
                <p:oleObj name="公式" r:id="rId10" imgW="7543732" imgH="8858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5060950"/>
                        <a:ext cx="7607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487" name="直接连接符 2"/>
          <p:cNvCxnSpPr>
            <a:cxnSpLocks noChangeShapeType="1"/>
          </p:cNvCxnSpPr>
          <p:nvPr/>
        </p:nvCxnSpPr>
        <p:spPr bwMode="auto">
          <a:xfrm>
            <a:off x="2843213" y="1557338"/>
            <a:ext cx="561657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椭圆 3"/>
          <p:cNvSpPr/>
          <p:nvPr/>
        </p:nvSpPr>
        <p:spPr bwMode="auto">
          <a:xfrm>
            <a:off x="6875463" y="908050"/>
            <a:ext cx="1584325" cy="504825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0489" name="直接连接符 5"/>
          <p:cNvCxnSpPr>
            <a:cxnSpLocks noChangeShapeType="1"/>
          </p:cNvCxnSpPr>
          <p:nvPr/>
        </p:nvCxnSpPr>
        <p:spPr bwMode="auto">
          <a:xfrm>
            <a:off x="5148263" y="5511800"/>
            <a:ext cx="3192462" cy="2540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0" name="直接连接符 7"/>
          <p:cNvCxnSpPr>
            <a:cxnSpLocks noChangeShapeType="1"/>
          </p:cNvCxnSpPr>
          <p:nvPr/>
        </p:nvCxnSpPr>
        <p:spPr bwMode="auto">
          <a:xfrm>
            <a:off x="827088" y="6013450"/>
            <a:ext cx="4249737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7114916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7" name="Object 2"/>
          <p:cNvGraphicFramePr>
            <a:graphicFrameLocks noChangeAspect="1"/>
          </p:cNvGraphicFramePr>
          <p:nvPr/>
        </p:nvGraphicFramePr>
        <p:xfrm>
          <a:off x="2451100" y="11557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6" name="Equation" r:id="rId3" imgW="47543" imgH="152280" progId="Equation.3">
                  <p:embed/>
                </p:oleObj>
              </mc:Choice>
              <mc:Fallback>
                <p:oleObj name="Equation" r:id="rId3" imgW="47543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115570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3" name="Object 3"/>
          <p:cNvGraphicFramePr>
            <a:graphicFrameLocks noChangeAspect="1"/>
          </p:cNvGraphicFramePr>
          <p:nvPr/>
        </p:nvGraphicFramePr>
        <p:xfrm>
          <a:off x="611188" y="2060575"/>
          <a:ext cx="78867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7" name="公式" r:id="rId5" imgW="7820078" imgH="2514510" progId="Equation.3">
                  <p:embed/>
                </p:oleObj>
              </mc:Choice>
              <mc:Fallback>
                <p:oleObj name="公式" r:id="rId5" imgW="7820078" imgH="25145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060575"/>
                        <a:ext cx="78867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11188" y="89535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2</a:t>
            </a:r>
            <a:r>
              <a:rPr lang="zh-CN" altLang="en-US" sz="2800">
                <a:solidFill>
                  <a:schemeClr val="accent2"/>
                </a:solidFill>
              </a:rPr>
              <a:t>、定理的另一种叙述方式：</a:t>
            </a:r>
          </a:p>
        </p:txBody>
      </p:sp>
    </p:spTree>
    <p:extLst>
      <p:ext uri="{BB962C8B-B14F-4D97-AF65-F5344CB8AC3E}">
        <p14:creationId xmlns:p14="http://schemas.microsoft.com/office/powerpoint/2010/main" val="1100143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179512" y="6848"/>
            <a:ext cx="2888932" cy="523220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rgbClr val="FFFF00"/>
                </a:solidFill>
              </a:rPr>
              <a:t>2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、辛钦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大数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定律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2" y="905940"/>
            <a:ext cx="7381875" cy="25336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283968" y="4077072"/>
            <a:ext cx="3672408" cy="95410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独立同分布，且不要求方差存在。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792834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323850" y="908050"/>
            <a:ext cx="136842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/>
              <a:t>问题 </a:t>
            </a:r>
            <a:r>
              <a:rPr lang="en-US" altLang="zh-CN" sz="2800" b="1" dirty="0"/>
              <a:t>: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323850" y="1586706"/>
            <a:ext cx="8502972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        </a:t>
            </a:r>
            <a:r>
              <a:rPr lang="zh-CN" altLang="en-US" sz="2800" b="1" dirty="0">
                <a:solidFill>
                  <a:srgbClr val="FF0000"/>
                </a:solidFill>
              </a:rPr>
              <a:t>设</a:t>
            </a:r>
            <a:r>
              <a:rPr lang="en-US" altLang="zh-CN" sz="2800" b="1" dirty="0" err="1">
                <a:solidFill>
                  <a:srgbClr val="FF0000"/>
                </a:solidFill>
              </a:rPr>
              <a:t>n</a:t>
            </a:r>
            <a:r>
              <a:rPr lang="en-US" altLang="zh-CN" sz="2800" b="1" i="1" baseline="-25000" dirty="0" err="1">
                <a:solidFill>
                  <a:srgbClr val="FF0000"/>
                </a:solidFill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</a:rPr>
              <a:t>是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r>
              <a:rPr lang="zh-CN" altLang="en-US" sz="2800" b="1" dirty="0">
                <a:solidFill>
                  <a:srgbClr val="FF0000"/>
                </a:solidFill>
              </a:rPr>
              <a:t>重贝努里试验中事件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</a:rPr>
              <a:t>发生的次数，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zh-CN" altLang="en-US" sz="2800" b="1" dirty="0">
                <a:solidFill>
                  <a:srgbClr val="FF0000"/>
                </a:solidFill>
              </a:rPr>
              <a:t>是事件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</a:rPr>
              <a:t>发生的概率，</a:t>
            </a: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503043"/>
              </p:ext>
            </p:extLst>
          </p:nvPr>
        </p:nvGraphicFramePr>
        <p:xfrm>
          <a:off x="2411760" y="2997597"/>
          <a:ext cx="7286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50" name="公式" r:id="rId4" imgW="380887" imgH="771660" progId="Equation.3">
                  <p:embed/>
                </p:oleObj>
              </mc:Choice>
              <mc:Fallback>
                <p:oleObj name="公式" r:id="rId4" imgW="380887" imgH="771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997597"/>
                        <a:ext cx="728663" cy="10096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3347864" y="3242865"/>
            <a:ext cx="3367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是事件</a:t>
            </a:r>
            <a:r>
              <a:rPr lang="en-US" altLang="zh-CN" sz="2800" b="1" i="1" dirty="0">
                <a:solidFill>
                  <a:schemeClr val="accent2"/>
                </a:solidFill>
              </a:rPr>
              <a:t>A</a:t>
            </a:r>
            <a:r>
              <a:rPr lang="zh-CN" altLang="en-US" sz="2800" b="1" dirty="0">
                <a:solidFill>
                  <a:schemeClr val="accent2"/>
                </a:solidFill>
              </a:rPr>
              <a:t>发生的频率</a:t>
            </a:r>
            <a:r>
              <a:rPr lang="en-US" altLang="zh-CN" sz="2800" b="1" dirty="0">
                <a:solidFill>
                  <a:schemeClr val="accent2"/>
                </a:solidFill>
              </a:rPr>
              <a:t>.</a:t>
            </a:r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250825" y="4344988"/>
          <a:ext cx="84169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51" name="公式" r:id="rId6" imgW="7543732" imgH="885870" progId="Equation.3">
                  <p:embed/>
                </p:oleObj>
              </mc:Choice>
              <mc:Fallback>
                <p:oleObj name="公式" r:id="rId6" imgW="7543732" imgH="8858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344988"/>
                        <a:ext cx="84169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8053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utoUpdateAnimBg="0"/>
      <p:bldP spid="2048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71" name="Rectangle 19"/>
          <p:cNvSpPr>
            <a:spLocks noChangeArrowheads="1"/>
          </p:cNvSpPr>
          <p:nvPr/>
        </p:nvSpPr>
        <p:spPr bwMode="auto">
          <a:xfrm>
            <a:off x="342106" y="898524"/>
            <a:ext cx="8153400" cy="164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</a:rPr>
              <a:t>设 </a:t>
            </a:r>
            <a:r>
              <a:rPr lang="en-US" altLang="zh-CN" b="1" i="1" dirty="0" err="1">
                <a:solidFill>
                  <a:schemeClr val="accent2"/>
                </a:solidFill>
              </a:rPr>
              <a:t>n</a:t>
            </a:r>
            <a:r>
              <a:rPr lang="en-US" altLang="zh-CN" b="1" i="1" baseline="-25000" dirty="0" err="1">
                <a:solidFill>
                  <a:schemeClr val="accent2"/>
                </a:solidFill>
              </a:rPr>
              <a:t>A</a:t>
            </a:r>
            <a:r>
              <a:rPr lang="en-US" altLang="zh-CN" b="1" i="1" baseline="-25000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</a:rPr>
              <a:t>是</a:t>
            </a:r>
            <a:r>
              <a:rPr lang="en-US" altLang="zh-CN" sz="2800" b="1" i="1" dirty="0">
                <a:solidFill>
                  <a:schemeClr val="accent2"/>
                </a:solidFill>
              </a:rPr>
              <a:t>n</a:t>
            </a:r>
            <a:r>
              <a:rPr lang="zh-CN" altLang="en-US" sz="2800" b="1" dirty="0">
                <a:solidFill>
                  <a:schemeClr val="accent2"/>
                </a:solidFill>
              </a:rPr>
              <a:t>次</a:t>
            </a:r>
            <a:r>
              <a:rPr lang="zh-CN" altLang="en-US" sz="2800" b="1" dirty="0">
                <a:solidFill>
                  <a:srgbClr val="FF0000"/>
                </a:solidFill>
              </a:rPr>
              <a:t>独立重复试验</a:t>
            </a:r>
            <a:r>
              <a:rPr lang="zh-CN" altLang="en-US" sz="2800" b="1" dirty="0">
                <a:solidFill>
                  <a:schemeClr val="accent2"/>
                </a:solidFill>
              </a:rPr>
              <a:t>中事件</a:t>
            </a:r>
            <a:r>
              <a:rPr lang="en-US" altLang="zh-CN" sz="2800" b="1" i="1" dirty="0">
                <a:solidFill>
                  <a:schemeClr val="accent2"/>
                </a:solidFill>
              </a:rPr>
              <a:t>A</a:t>
            </a:r>
            <a:r>
              <a:rPr lang="zh-CN" altLang="en-US" sz="2800" b="1" dirty="0">
                <a:solidFill>
                  <a:schemeClr val="accent2"/>
                </a:solidFill>
              </a:rPr>
              <a:t>发生的次数，</a:t>
            </a:r>
            <a:r>
              <a:rPr lang="en-US" altLang="zh-CN" sz="2800" b="1" i="1" dirty="0">
                <a:solidFill>
                  <a:schemeClr val="accent2"/>
                </a:solidFill>
              </a:rPr>
              <a:t>p</a:t>
            </a:r>
            <a:r>
              <a:rPr lang="zh-CN" altLang="en-US" sz="2800" b="1" dirty="0">
                <a:solidFill>
                  <a:schemeClr val="accent2"/>
                </a:solidFill>
              </a:rPr>
              <a:t>是事件</a:t>
            </a:r>
            <a:r>
              <a:rPr lang="en-US" altLang="zh-CN" sz="2800" b="1" i="1" dirty="0">
                <a:solidFill>
                  <a:schemeClr val="accent2"/>
                </a:solidFill>
              </a:rPr>
              <a:t>A</a:t>
            </a:r>
            <a:r>
              <a:rPr lang="zh-CN" altLang="en-US" sz="2800" b="1" dirty="0">
                <a:solidFill>
                  <a:schemeClr val="accent2"/>
                </a:solidFill>
              </a:rPr>
              <a:t>在每次试验中发生的概率，则对于任意</a:t>
            </a:r>
            <a:r>
              <a:rPr lang="zh-CN" altLang="en-US" sz="2800" b="1" dirty="0">
                <a:solidFill>
                  <a:srgbClr val="FF0000"/>
                </a:solidFill>
              </a:rPr>
              <a:t>正数</a:t>
            </a:r>
            <a:r>
              <a:rPr lang="en-US" altLang="zh-CN" sz="2800" b="1" i="1" dirty="0">
                <a:solidFill>
                  <a:srgbClr val="FF0000"/>
                </a:solidFill>
              </a:rPr>
              <a:t>ε</a:t>
            </a:r>
            <a:r>
              <a:rPr lang="en-US" altLang="zh-CN" sz="2800" b="1" dirty="0">
                <a:solidFill>
                  <a:srgbClr val="FF0000"/>
                </a:solidFill>
              </a:rPr>
              <a:t>&gt; 0</a:t>
            </a: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</a:rPr>
              <a:t>，有 </a:t>
            </a:r>
          </a:p>
        </p:txBody>
      </p:sp>
      <p:sp>
        <p:nvSpPr>
          <p:cNvPr id="330772" name="Rectangle 20"/>
          <p:cNvSpPr>
            <a:spLocks noChangeArrowheads="1"/>
          </p:cNvSpPr>
          <p:nvPr/>
        </p:nvSpPr>
        <p:spPr bwMode="auto">
          <a:xfrm>
            <a:off x="973033" y="327"/>
            <a:ext cx="5405647" cy="523220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rgbClr val="FFFF00"/>
                </a:solidFill>
              </a:rPr>
              <a:t>3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、伯努利</a:t>
            </a:r>
            <a:r>
              <a:rPr lang="zh-CN" altLang="en-US" sz="2800" b="1" dirty="0">
                <a:solidFill>
                  <a:srgbClr val="FFFF00"/>
                </a:solidFill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</a:rPr>
              <a:t>Bernoulli）</a:t>
            </a:r>
            <a:r>
              <a:rPr lang="zh-CN" altLang="en-US" sz="2800" b="1" dirty="0">
                <a:solidFill>
                  <a:srgbClr val="FFFF00"/>
                </a:solidFill>
              </a:rPr>
              <a:t>大数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定律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graphicFrame>
        <p:nvGraphicFramePr>
          <p:cNvPr id="3307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356422"/>
              </p:ext>
            </p:extLst>
          </p:nvPr>
        </p:nvGraphicFramePr>
        <p:xfrm>
          <a:off x="1259632" y="2700338"/>
          <a:ext cx="4176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60" name="公式" r:id="rId4" imgW="3295622" imgH="771660" progId="Equation.3">
                  <p:embed/>
                </p:oleObj>
              </mc:Choice>
              <mc:Fallback>
                <p:oleObj name="公式" r:id="rId4" imgW="3295622" imgH="771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700338"/>
                        <a:ext cx="4176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74" name="Rectangle 22"/>
          <p:cNvSpPr>
            <a:spLocks noChangeArrowheads="1"/>
          </p:cNvSpPr>
          <p:nvPr/>
        </p:nvSpPr>
        <p:spPr bwMode="auto">
          <a:xfrm>
            <a:off x="199174" y="4052886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或</a:t>
            </a:r>
          </a:p>
        </p:txBody>
      </p:sp>
      <p:graphicFrame>
        <p:nvGraphicFramePr>
          <p:cNvPr id="3307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167925"/>
              </p:ext>
            </p:extLst>
          </p:nvPr>
        </p:nvGraphicFramePr>
        <p:xfrm>
          <a:off x="1227882" y="3810000"/>
          <a:ext cx="42084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61" name="公式" r:id="rId6" imgW="3324256" imgH="771660" progId="Equation.3">
                  <p:embed/>
                </p:oleObj>
              </mc:Choice>
              <mc:Fallback>
                <p:oleObj name="公式" r:id="rId6" imgW="3324256" imgH="771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882" y="3810000"/>
                        <a:ext cx="42084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76" name="Text Box 24"/>
          <p:cNvSpPr txBox="1">
            <a:spLocks noChangeArrowheads="1"/>
          </p:cNvSpPr>
          <p:nvPr/>
        </p:nvSpPr>
        <p:spPr bwMode="auto">
          <a:xfrm>
            <a:off x="893713" y="522920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2800" b="1" u="sng" dirty="0">
                <a:solidFill>
                  <a:srgbClr val="FF0066"/>
                </a:solidFill>
              </a:rPr>
              <a:t>此定理说明了频率的稳定性</a:t>
            </a:r>
            <a:r>
              <a:rPr lang="zh-CN" altLang="en-US" sz="2800" b="1" dirty="0">
                <a:solidFill>
                  <a:srgbClr val="FF0066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404240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3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3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0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0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71" grpId="0" autoUpdateAnimBg="0"/>
      <p:bldP spid="330772" grpId="0"/>
      <p:bldP spid="330774" grpId="0" autoUpdateAnimBg="0"/>
      <p:bldP spid="33077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28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899515"/>
              </p:ext>
            </p:extLst>
          </p:nvPr>
        </p:nvGraphicFramePr>
        <p:xfrm>
          <a:off x="270593" y="614313"/>
          <a:ext cx="6324600" cy="84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08" name="文档" r:id="rId3" imgW="3705225" imgH="485775" progId="Word.Document.8">
                  <p:embed/>
                </p:oleObj>
              </mc:Choice>
              <mc:Fallback>
                <p:oleObj name="文档" r:id="rId3" imgW="3705225" imgH="4857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93" y="614313"/>
                        <a:ext cx="6324600" cy="843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8919" y="1361549"/>
            <a:ext cx="6927377" cy="750094"/>
            <a:chOff x="529" y="2595"/>
            <a:chExt cx="5231" cy="545"/>
          </a:xfrm>
        </p:grpSpPr>
        <p:graphicFrame>
          <p:nvGraphicFramePr>
            <p:cNvPr id="24589" name="Object 9"/>
            <p:cNvGraphicFramePr>
              <a:graphicFrameLocks noChangeAspect="1"/>
            </p:cNvGraphicFramePr>
            <p:nvPr/>
          </p:nvGraphicFramePr>
          <p:xfrm>
            <a:off x="529" y="2595"/>
            <a:ext cx="5231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09" name="文档" r:id="rId5" imgW="4120896" imgH="431292" progId="Word.Document.8">
                    <p:embed/>
                  </p:oleObj>
                </mc:Choice>
                <mc:Fallback>
                  <p:oleObj name="文档" r:id="rId5" imgW="4120896" imgH="431292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" y="2595"/>
                          <a:ext cx="5231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0" name="Object 10"/>
            <p:cNvGraphicFramePr>
              <a:graphicFrameLocks noChangeAspect="1"/>
            </p:cNvGraphicFramePr>
            <p:nvPr/>
          </p:nvGraphicFramePr>
          <p:xfrm>
            <a:off x="4696" y="2700"/>
            <a:ext cx="57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10" name="公式" r:id="rId7" imgW="304710" imgH="114210" progId="Equation.3">
                    <p:embed/>
                  </p:oleObj>
                </mc:Choice>
                <mc:Fallback>
                  <p:oleObj name="公式" r:id="rId7" imgW="304710" imgH="11421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6" y="2700"/>
                          <a:ext cx="57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2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961987"/>
              </p:ext>
            </p:extLst>
          </p:nvPr>
        </p:nvGraphicFramePr>
        <p:xfrm>
          <a:off x="325395" y="2217372"/>
          <a:ext cx="8153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1" name="文档" r:id="rId9" imgW="3133725" imgH="257175" progId="Word.Document.8">
                  <p:embed/>
                </p:oleObj>
              </mc:Choice>
              <mc:Fallback>
                <p:oleObj name="文档" r:id="rId9" imgW="3133725" imgH="2571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95" y="2217372"/>
                        <a:ext cx="8153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069306"/>
              </p:ext>
            </p:extLst>
          </p:nvPr>
        </p:nvGraphicFramePr>
        <p:xfrm>
          <a:off x="2135938" y="3248636"/>
          <a:ext cx="45323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2" name="文档" r:id="rId11" imgW="2433828" imgH="548640" progId="Word.Document.8">
                  <p:embed/>
                </p:oleObj>
              </mc:Choice>
              <mc:Fallback>
                <p:oleObj name="文档" r:id="rId11" imgW="2433828" imgH="548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938" y="3248636"/>
                        <a:ext cx="453231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13" name="Text Box 13"/>
          <p:cNvSpPr txBox="1">
            <a:spLocks noChangeArrowheads="1"/>
          </p:cNvSpPr>
          <p:nvPr/>
        </p:nvSpPr>
        <p:spPr bwMode="auto">
          <a:xfrm>
            <a:off x="270128" y="2858879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333399"/>
                </a:solidFill>
              </a:rPr>
              <a:t>由定理一有</a:t>
            </a:r>
          </a:p>
        </p:txBody>
      </p:sp>
      <p:graphicFrame>
        <p:nvGraphicFramePr>
          <p:cNvPr id="3328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588227"/>
              </p:ext>
            </p:extLst>
          </p:nvPr>
        </p:nvGraphicFramePr>
        <p:xfrm>
          <a:off x="1547664" y="4529771"/>
          <a:ext cx="5334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3" name="文档" r:id="rId14" imgW="1961388" imgH="406908" progId="Word.Document.8">
                  <p:embed/>
                </p:oleObj>
              </mc:Choice>
              <mc:Fallback>
                <p:oleObj name="文档" r:id="rId14" imgW="1961388" imgH="4069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529771"/>
                        <a:ext cx="5334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圆角矩形 2"/>
          <p:cNvSpPr/>
          <p:nvPr/>
        </p:nvSpPr>
        <p:spPr bwMode="auto">
          <a:xfrm>
            <a:off x="1043608" y="2217372"/>
            <a:ext cx="4320480" cy="546100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48603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1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0813" y="476672"/>
            <a:ext cx="8229600" cy="295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伯努利大数定律的重要意义</a:t>
            </a:r>
            <a:r>
              <a:rPr lang="zh-CN" altLang="en-US" sz="2800" b="1" dirty="0">
                <a:latin typeface="宋体" panose="02010600030101010101" pitchFamily="2" charset="-122"/>
              </a:rPr>
              <a:t>：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buClr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	    </a:t>
            </a:r>
            <a:r>
              <a:rPr lang="en-US" altLang="zh-CN" sz="2800" b="1" dirty="0">
                <a:latin typeface="宋体" panose="02010600030101010101" pitchFamily="2" charset="-122"/>
              </a:rPr>
              <a:t>(1)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从理论上证明了</a:t>
            </a:r>
            <a:r>
              <a:rPr lang="zh-CN" altLang="en-US" sz="2800" b="1" dirty="0">
                <a:latin typeface="宋体" panose="02010600030101010101" pitchFamily="2" charset="-122"/>
              </a:rPr>
              <a:t>频率具有稳定性。</a:t>
            </a:r>
          </a:p>
          <a:p>
            <a:pPr>
              <a:buClr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  （</a:t>
            </a:r>
            <a:r>
              <a:rPr lang="en-US" altLang="zh-CN" sz="2800" b="1" dirty="0">
                <a:latin typeface="宋体" panose="02010600030101010101" pitchFamily="2" charset="-122"/>
              </a:rPr>
              <a:t>2)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提供了</a:t>
            </a:r>
            <a:r>
              <a:rPr lang="zh-CN" altLang="en-US" sz="2800" b="1" dirty="0">
                <a:latin typeface="宋体" panose="02010600030101010101" pitchFamily="2" charset="-122"/>
              </a:rPr>
              <a:t>通过试验来确定事件概率的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800" b="1" dirty="0">
                <a:latin typeface="宋体" panose="02010600030101010101" pitchFamily="2" charset="-122"/>
              </a:rPr>
              <a:t>:</a:t>
            </a:r>
          </a:p>
          <a:p>
            <a:pPr>
              <a:buClr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          </a:t>
            </a:r>
          </a:p>
          <a:p>
            <a:pPr>
              <a:buClr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 </a:t>
            </a:r>
          </a:p>
          <a:p>
            <a:pPr>
              <a:buClr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这种</a:t>
            </a:r>
            <a:r>
              <a:rPr lang="zh-CN" altLang="en-US" sz="2800" b="1" dirty="0">
                <a:latin typeface="宋体" panose="02010600030101010101" pitchFamily="2" charset="-122"/>
              </a:rPr>
              <a:t>方法是参数估计的重要理论基础。</a:t>
            </a:r>
          </a:p>
          <a:p>
            <a:pPr>
              <a:buClr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   （</a:t>
            </a:r>
            <a:r>
              <a:rPr lang="en-US" altLang="zh-CN" sz="2800" b="1" dirty="0">
                <a:latin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</a:rPr>
              <a:t>）是“小概率原理”的理论基础。</a:t>
            </a:r>
          </a:p>
          <a:p>
            <a:pPr>
              <a:buClr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buClr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小概率原理：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实际中概率很小的随机事件在个别试验中几乎是不可能发生的。</a:t>
            </a:r>
          </a:p>
        </p:txBody>
      </p:sp>
      <p:graphicFrame>
        <p:nvGraphicFramePr>
          <p:cNvPr id="2560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463381"/>
              </p:ext>
            </p:extLst>
          </p:nvPr>
        </p:nvGraphicFramePr>
        <p:xfrm>
          <a:off x="2843808" y="1965516"/>
          <a:ext cx="2209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27" name="Equation" r:id="rId5" imgW="939392" imgH="393529" progId="Equation.3">
                  <p:embed/>
                </p:oleObj>
              </mc:Choice>
              <mc:Fallback>
                <p:oleObj name="Equation" r:id="rId5" imgW="93939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1965516"/>
                        <a:ext cx="2209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14630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3702843" y="3691168"/>
            <a:ext cx="725141" cy="667378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993272" y="2141291"/>
            <a:ext cx="866760" cy="864099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93272" y="752699"/>
            <a:ext cx="362704" cy="820737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2844" y="0"/>
            <a:ext cx="1873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FFFF00"/>
                </a:solidFill>
                <a:ea typeface="黑体" panose="02010609060101010101" pitchFamily="49" charset="-122"/>
              </a:rPr>
              <a:t>小结</a:t>
            </a:r>
            <a:endParaRPr lang="zh-CN" altLang="en-US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355331" name="Rectangle 3"/>
          <p:cNvSpPr>
            <a:spLocks noChangeArrowheads="1"/>
          </p:cNvSpPr>
          <p:nvPr/>
        </p:nvSpPr>
        <p:spPr bwMode="auto">
          <a:xfrm>
            <a:off x="469900" y="1633538"/>
            <a:ext cx="647700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chemeClr val="accent2"/>
                </a:solidFill>
              </a:rPr>
              <a:t>大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chemeClr val="accent2"/>
                </a:solidFill>
              </a:rPr>
              <a:t>数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chemeClr val="accent2"/>
                </a:solidFill>
              </a:rPr>
              <a:t>定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chemeClr val="accent2"/>
                </a:solidFill>
              </a:rPr>
              <a:t>律</a:t>
            </a:r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439952" y="4859337"/>
            <a:ext cx="85756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大数定律以严格的数学形式表达了随机现象最根本的性质之一：</a:t>
            </a:r>
          </a:p>
        </p:txBody>
      </p:sp>
      <p:sp>
        <p:nvSpPr>
          <p:cNvPr id="355333" name="Rectangle 5"/>
          <p:cNvSpPr>
            <a:spLocks noChangeArrowheads="1"/>
          </p:cNvSpPr>
          <p:nvPr/>
        </p:nvSpPr>
        <p:spPr bwMode="auto">
          <a:xfrm>
            <a:off x="2195736" y="5410156"/>
            <a:ext cx="3852863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平均结果的稳定性</a:t>
            </a:r>
          </a:p>
        </p:txBody>
      </p:sp>
      <p:graphicFrame>
        <p:nvGraphicFramePr>
          <p:cNvPr id="355334" name="Object 6"/>
          <p:cNvGraphicFramePr>
            <a:graphicFrameLocks noChangeAspect="1"/>
          </p:cNvGraphicFramePr>
          <p:nvPr/>
        </p:nvGraphicFramePr>
        <p:xfrm>
          <a:off x="6900863" y="2281238"/>
          <a:ext cx="19939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15" name="公式" r:id="rId4" imgW="1924157" imgH="923940" progId="Equation.3">
                  <p:embed/>
                </p:oleObj>
              </mc:Choice>
              <mc:Fallback>
                <p:oleObj name="公式" r:id="rId4" imgW="1924157" imgH="9239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863" y="2281238"/>
                        <a:ext cx="19939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277515"/>
              </p:ext>
            </p:extLst>
          </p:nvPr>
        </p:nvGraphicFramePr>
        <p:xfrm>
          <a:off x="6988862" y="3926746"/>
          <a:ext cx="163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16" name="公式" r:id="rId6" imgW="1571633" imgH="362070" progId="Equation.3">
                  <p:embed/>
                </p:oleObj>
              </mc:Choice>
              <mc:Fallback>
                <p:oleObj name="公式" r:id="rId6" imgW="1571633" imgH="3620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862" y="3926746"/>
                        <a:ext cx="1638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99439"/>
              </p:ext>
            </p:extLst>
          </p:nvPr>
        </p:nvGraphicFramePr>
        <p:xfrm>
          <a:off x="6849162" y="889966"/>
          <a:ext cx="1778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17" name="公式" r:id="rId8" imgW="1714534" imgH="352350" progId="Equation.3">
                  <p:embed/>
                </p:oleObj>
              </mc:Choice>
              <mc:Fallback>
                <p:oleObj name="公式" r:id="rId8" imgW="1714534" imgH="352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9162" y="889966"/>
                        <a:ext cx="1778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347095"/>
              </p:ext>
            </p:extLst>
          </p:nvPr>
        </p:nvGraphicFramePr>
        <p:xfrm>
          <a:off x="1400175" y="752699"/>
          <a:ext cx="4605337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18" name="公式" r:id="rId10" imgW="5181690" imgH="1838430" progId="Equation.3">
                  <p:embed/>
                </p:oleObj>
              </mc:Choice>
              <mc:Fallback>
                <p:oleObj name="公式" r:id="rId10" imgW="5181690" imgH="18384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752699"/>
                        <a:ext cx="4605337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33522"/>
              </p:ext>
            </p:extLst>
          </p:nvPr>
        </p:nvGraphicFramePr>
        <p:xfrm>
          <a:off x="1569954" y="2175142"/>
          <a:ext cx="484663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19" name="Equation" r:id="rId12" imgW="5572032" imgH="1304910" progId="Equation.DSMT4">
                  <p:embed/>
                </p:oleObj>
              </mc:Choice>
              <mc:Fallback>
                <p:oleObj name="Equation" r:id="rId12" imgW="5572032" imgH="13049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954" y="2175142"/>
                        <a:ext cx="4846637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151413"/>
              </p:ext>
            </p:extLst>
          </p:nvPr>
        </p:nvGraphicFramePr>
        <p:xfrm>
          <a:off x="1465272" y="3691168"/>
          <a:ext cx="430371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20" name="公式" r:id="rId14" imgW="5657934" imgH="1304910" progId="Equation.3">
                  <p:embed/>
                </p:oleObj>
              </mc:Choice>
              <mc:Fallback>
                <p:oleObj name="公式" r:id="rId14" imgW="5657934" imgH="13049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72" y="3691168"/>
                        <a:ext cx="430371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40" name="Object 12"/>
          <p:cNvGraphicFramePr>
            <a:graphicFrameLocks noChangeAspect="1"/>
          </p:cNvGraphicFramePr>
          <p:nvPr/>
        </p:nvGraphicFramePr>
        <p:xfrm>
          <a:off x="1262063" y="1203325"/>
          <a:ext cx="381000" cy="332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21" name="公式" r:id="rId16" imgW="314435" imgH="3048030" progId="Equation.3">
                  <p:embed/>
                </p:oleObj>
              </mc:Choice>
              <mc:Fallback>
                <p:oleObj name="公式" r:id="rId16" imgW="314435" imgH="30480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1203325"/>
                        <a:ext cx="381000" cy="332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1452563" y="3594597"/>
            <a:ext cx="7491115" cy="43291"/>
          </a:xfrm>
          <a:prstGeom prst="lin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/>
        </p:spPr>
      </p:cxnSp>
      <p:cxnSp>
        <p:nvCxnSpPr>
          <p:cNvPr id="17" name="直接连接符 16"/>
          <p:cNvCxnSpPr/>
          <p:nvPr/>
        </p:nvCxnSpPr>
        <p:spPr bwMode="auto">
          <a:xfrm>
            <a:off x="1400175" y="2034731"/>
            <a:ext cx="7491115" cy="43291"/>
          </a:xfrm>
          <a:prstGeom prst="lin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/>
        </p:spPr>
      </p:cxnSp>
    </p:spTree>
    <p:extLst>
      <p:ext uri="{BB962C8B-B14F-4D97-AF65-F5344CB8AC3E}">
        <p14:creationId xmlns:p14="http://schemas.microsoft.com/office/powerpoint/2010/main" val="40314493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5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1" grpId="0" autoUpdateAnimBg="0"/>
      <p:bldP spid="355332" grpId="0" autoUpdateAnimBg="0"/>
      <p:bldP spid="355333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990600" y="1143000"/>
            <a:ext cx="6778625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40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第二节   中心极限定理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2667000" y="2514600"/>
            <a:ext cx="5256213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中心极限定理的背景</a:t>
            </a:r>
            <a:endParaRPr lang="zh-CN" altLang="en-US" b="1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中心极限定理的定义</a:t>
            </a:r>
            <a:endParaRPr lang="zh-CN" altLang="en-US" b="1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</a:rPr>
              <a:t>中心极限定理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</a:rPr>
              <a:t>小结</a:t>
            </a:r>
          </a:p>
        </p:txBody>
      </p:sp>
      <p:pic>
        <p:nvPicPr>
          <p:cNvPr id="33796" name="Picture 4" descr="f012">
            <a:hlinkClick r:id="rId3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2624138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5" descr="f012">
            <a:hlinkClick r:id="" action="ppaction://noaction" highlightClick="1">
              <a:snd r:embed="rId5" name="chimes.wav"/>
            </a:hlinkClick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13" y="3344863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6" descr="f012">
            <a:hlinkClick r:id="" action="ppaction://noaction" highlightClick="1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13" y="4064000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Picture 7" descr="f012">
            <a:hlinkClick r:id="" action="ppaction://noaction" highlightClick="1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13" y="4784725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1596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900113" y="1855788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>
                <a:solidFill>
                  <a:schemeClr val="accent2"/>
                </a:solidFill>
              </a:rPr>
              <a:t> 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-852488" y="712788"/>
            <a:ext cx="807720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>
                <a:solidFill>
                  <a:schemeClr val="accent2"/>
                </a:solidFill>
              </a:rPr>
              <a:t>    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2123728" y="18256"/>
            <a:ext cx="4964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FFFF00"/>
                </a:solidFill>
              </a:rPr>
              <a:t>中心极限定理的客观背景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81000" y="764125"/>
            <a:ext cx="8077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   </a:t>
            </a:r>
            <a:r>
              <a:rPr lang="zh-CN" altLang="en-US" sz="2800" b="1" dirty="0">
                <a:solidFill>
                  <a:schemeClr val="accent2"/>
                </a:solidFill>
              </a:rPr>
              <a:t>在实际问题中许多随机变量是由</a:t>
            </a:r>
            <a:r>
              <a:rPr lang="zh-CN" altLang="en-US" sz="2800" b="1" dirty="0">
                <a:solidFill>
                  <a:srgbClr val="FF0000"/>
                </a:solidFill>
              </a:rPr>
              <a:t>相互独立随机因素的综合（或和）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</a:rPr>
              <a:t>影响所形成的</a:t>
            </a:r>
            <a:r>
              <a:rPr lang="en-US" altLang="zh-CN" sz="2800" b="1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28679" name="Picture 7" descr="射击误差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377" y="2276872"/>
            <a:ext cx="2568575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337343" y="2276872"/>
            <a:ext cx="8164513" cy="368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例如：炮弹射击的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落点与目标的偏差，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就受着许多随机因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素（如瞄准，空气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阻力，炮弹或炮身结构等）综合影响的</a:t>
            </a:r>
            <a:r>
              <a:rPr lang="en-US" altLang="zh-CN" sz="2800" b="1" dirty="0">
                <a:solidFill>
                  <a:schemeClr val="accent2"/>
                </a:solidFill>
              </a:rPr>
              <a:t>.</a:t>
            </a:r>
            <a:r>
              <a:rPr lang="zh-CN" altLang="en-US" sz="2800" b="1" dirty="0">
                <a:solidFill>
                  <a:schemeClr val="accent2"/>
                </a:solidFill>
              </a:rPr>
              <a:t>每个</a:t>
            </a:r>
            <a:r>
              <a:rPr lang="zh-CN" altLang="en-US" sz="2800" b="1" dirty="0">
                <a:solidFill>
                  <a:schemeClr val="tx2"/>
                </a:solidFill>
              </a:rPr>
              <a:t>随机因素对</a:t>
            </a:r>
            <a:r>
              <a:rPr lang="zh-CN" altLang="en-US" sz="2800" b="1" dirty="0">
                <a:solidFill>
                  <a:schemeClr val="accent2"/>
                </a:solidFill>
              </a:rPr>
              <a:t>弹着点（随机变量和）</a:t>
            </a:r>
            <a:r>
              <a:rPr lang="zh-CN" altLang="en-US" sz="2800" b="1" dirty="0">
                <a:solidFill>
                  <a:schemeClr val="tx2"/>
                </a:solidFill>
              </a:rPr>
              <a:t>所起的作用都是很小的</a:t>
            </a:r>
            <a:r>
              <a:rPr lang="en-US" altLang="zh-CN" sz="2800" b="1" dirty="0">
                <a:solidFill>
                  <a:schemeClr val="tx2"/>
                </a:solidFill>
              </a:rPr>
              <a:t>.</a:t>
            </a:r>
            <a:r>
              <a:rPr lang="zh-CN" altLang="en-US" sz="2800" b="1" dirty="0">
                <a:solidFill>
                  <a:schemeClr val="tx2"/>
                </a:solidFill>
              </a:rPr>
              <a:t>那么</a:t>
            </a:r>
            <a:r>
              <a:rPr lang="zh-CN" altLang="en-US" sz="2800" b="1" dirty="0">
                <a:solidFill>
                  <a:schemeClr val="accent2"/>
                </a:solidFill>
              </a:rPr>
              <a:t>弹着点服从怎样分布 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952" y="2276872"/>
            <a:ext cx="2314575" cy="200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672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炮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autoUpdateAnimBg="0"/>
      <p:bldP spid="2868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557213" y="1916832"/>
            <a:ext cx="8153400" cy="214312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chemeClr val="accent2"/>
                </a:solidFill>
              </a:rPr>
              <a:t>       </a:t>
            </a:r>
            <a:r>
              <a:rPr lang="zh-CN" altLang="en-US" sz="2800" b="1">
                <a:solidFill>
                  <a:schemeClr val="accent2"/>
                </a:solidFill>
              </a:rPr>
              <a:t>如果一个随机变量是由</a:t>
            </a:r>
            <a:r>
              <a:rPr lang="zh-CN" altLang="en-US" sz="2800" b="1">
                <a:solidFill>
                  <a:srgbClr val="FF0000"/>
                </a:solidFill>
              </a:rPr>
              <a:t>大量相互独立</a:t>
            </a:r>
            <a:r>
              <a:rPr lang="zh-CN" altLang="en-US" sz="2800" b="1">
                <a:solidFill>
                  <a:schemeClr val="accent2"/>
                </a:solidFill>
              </a:rPr>
              <a:t>的随机因素的综合影响所造成，而每一个别因素对这种综合影响中所起的作用不大</a:t>
            </a:r>
            <a:r>
              <a:rPr lang="en-US" altLang="zh-CN" sz="2800" b="1">
                <a:solidFill>
                  <a:schemeClr val="accent2"/>
                </a:solidFill>
              </a:rPr>
              <a:t>.   </a:t>
            </a:r>
            <a:r>
              <a:rPr lang="zh-CN" altLang="en-US" sz="2800" b="1">
                <a:solidFill>
                  <a:schemeClr val="accent2"/>
                </a:solidFill>
              </a:rPr>
              <a:t>则这种随机变量一般都服从或近似服从正态分布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143669" y="638033"/>
            <a:ext cx="8820150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  </a:t>
            </a:r>
            <a:r>
              <a:rPr lang="zh-CN" altLang="en-US" sz="2800" b="1" dirty="0">
                <a:solidFill>
                  <a:schemeClr val="accent2"/>
                </a:solidFill>
              </a:rPr>
              <a:t>自从高斯指出测量误差服从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正态分布</a:t>
            </a:r>
            <a:r>
              <a:rPr lang="zh-CN" altLang="en-US" sz="2800" b="1" dirty="0">
                <a:solidFill>
                  <a:schemeClr val="accent2"/>
                </a:solidFill>
              </a:rPr>
              <a:t>之后，人们发现，正态分布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在自然界</a:t>
            </a:r>
            <a:r>
              <a:rPr lang="zh-CN" altLang="en-US" sz="2800" b="1" dirty="0">
                <a:solidFill>
                  <a:schemeClr val="accent2"/>
                </a:solidFill>
              </a:rPr>
              <a:t>中极为常见</a:t>
            </a:r>
            <a:r>
              <a:rPr lang="en-US" altLang="zh-CN" sz="28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477044" y="4261795"/>
            <a:ext cx="83137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现在我们就来研究</a:t>
            </a:r>
            <a:r>
              <a:rPr lang="zh-CN" altLang="en-US" sz="2800" b="1" dirty="0">
                <a:solidFill>
                  <a:srgbClr val="FF0000"/>
                </a:solidFill>
              </a:rPr>
              <a:t>独立随机变量之和</a:t>
            </a:r>
            <a:r>
              <a:rPr lang="zh-CN" altLang="en-US" sz="2800" b="1" dirty="0">
                <a:solidFill>
                  <a:schemeClr val="accent2"/>
                </a:solidFill>
              </a:rPr>
              <a:t>所特有的规律性问题</a:t>
            </a:r>
            <a:r>
              <a:rPr lang="en-US" altLang="zh-CN" sz="28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251520" y="5551929"/>
            <a:ext cx="8353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  </a:t>
            </a:r>
            <a:r>
              <a:rPr lang="zh-CN" altLang="en-US" sz="2800" b="1" dirty="0">
                <a:solidFill>
                  <a:schemeClr val="accent2"/>
                </a:solidFill>
              </a:rPr>
              <a:t>当</a:t>
            </a:r>
            <a:r>
              <a:rPr lang="en-US" altLang="zh-CN" sz="2800" b="1" i="1" dirty="0">
                <a:solidFill>
                  <a:schemeClr val="accent2"/>
                </a:solidFill>
              </a:rPr>
              <a:t>n</a:t>
            </a:r>
            <a:r>
              <a:rPr lang="zh-CN" altLang="en-US" sz="2800" b="1" dirty="0">
                <a:solidFill>
                  <a:schemeClr val="accent2"/>
                </a:solidFill>
              </a:rPr>
              <a:t>无限增大时，这个</a:t>
            </a:r>
            <a:r>
              <a:rPr lang="zh-CN" altLang="en-US" sz="2800" b="1" dirty="0">
                <a:solidFill>
                  <a:srgbClr val="FF0000"/>
                </a:solidFill>
              </a:rPr>
              <a:t>和的极限分布</a:t>
            </a:r>
            <a:r>
              <a:rPr lang="zh-CN" altLang="en-US" sz="2800" b="1" dirty="0">
                <a:solidFill>
                  <a:schemeClr val="accent2"/>
                </a:solidFill>
              </a:rPr>
              <a:t>是什么呢？</a:t>
            </a:r>
          </a:p>
        </p:txBody>
      </p:sp>
    </p:spTree>
    <p:extLst>
      <p:ext uri="{BB962C8B-B14F-4D97-AF65-F5344CB8AC3E}">
        <p14:creationId xmlns:p14="http://schemas.microsoft.com/office/powerpoint/2010/main" val="2984005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nimBg="1" autoUpdateAnimBg="0"/>
      <p:bldP spid="29699" grpId="0" autoUpdateAnimBg="0"/>
      <p:bldP spid="29701" grpId="0" autoUpdateAnimBg="0"/>
      <p:bldP spid="2970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5076056" y="4365104"/>
            <a:ext cx="2204715" cy="591071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6732240" y="1231702"/>
            <a:ext cx="1079848" cy="397098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444208" y="620713"/>
            <a:ext cx="360040" cy="576039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323850" y="620713"/>
            <a:ext cx="82804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   </a:t>
            </a:r>
            <a:r>
              <a:rPr lang="zh-CN" altLang="en-US" sz="2800" b="1" dirty="0">
                <a:solidFill>
                  <a:schemeClr val="accent2"/>
                </a:solidFill>
              </a:rPr>
              <a:t>由于无穷个随机变量之和可能趋于</a:t>
            </a:r>
            <a:r>
              <a:rPr lang="zh-CN" altLang="en-US" sz="2800" b="1" dirty="0"/>
              <a:t>∞</a:t>
            </a:r>
            <a:r>
              <a:rPr lang="zh-CN" altLang="en-US" sz="2800" b="1" dirty="0">
                <a:solidFill>
                  <a:schemeClr val="accent2"/>
                </a:solidFill>
              </a:rPr>
              <a:t>，故我们不研究</a:t>
            </a:r>
            <a:r>
              <a:rPr lang="en-US" altLang="zh-CN" sz="2800" b="1" i="1" dirty="0">
                <a:solidFill>
                  <a:schemeClr val="accent2"/>
                </a:solidFill>
              </a:rPr>
              <a:t>n</a:t>
            </a:r>
            <a:r>
              <a:rPr lang="zh-CN" altLang="en-US" sz="2800" b="1" dirty="0">
                <a:solidFill>
                  <a:schemeClr val="accent2"/>
                </a:solidFill>
              </a:rPr>
              <a:t>个随机变量之和本身而考虑它的标准化的随机变量</a:t>
            </a:r>
            <a:r>
              <a:rPr lang="en-US" altLang="zh-CN" sz="2800" b="1" dirty="0">
                <a:solidFill>
                  <a:schemeClr val="accent2"/>
                </a:solidFill>
              </a:rPr>
              <a:t>.</a:t>
            </a:r>
          </a:p>
        </p:txBody>
      </p:sp>
      <p:graphicFrame>
        <p:nvGraphicFramePr>
          <p:cNvPr id="30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31332"/>
              </p:ext>
            </p:extLst>
          </p:nvPr>
        </p:nvGraphicFramePr>
        <p:xfrm>
          <a:off x="1979712" y="2420431"/>
          <a:ext cx="3744913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5" name="公式" r:id="rId4" imgW="3200535" imgH="1600290" progId="Equation.3">
                  <p:embed/>
                </p:oleObj>
              </mc:Choice>
              <mc:Fallback>
                <p:oleObj name="公式" r:id="rId4" imgW="3200535" imgH="16002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420431"/>
                        <a:ext cx="3744913" cy="17145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50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589864"/>
              </p:ext>
            </p:extLst>
          </p:nvPr>
        </p:nvGraphicFramePr>
        <p:xfrm>
          <a:off x="827584" y="4511675"/>
          <a:ext cx="64531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6" name="公式" r:id="rId6" imgW="6058001" imgH="380970" progId="Equation.3">
                  <p:embed/>
                </p:oleObj>
              </mc:Choice>
              <mc:Fallback>
                <p:oleObj name="公式" r:id="rId6" imgW="6058001" imgH="3809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511675"/>
                        <a:ext cx="645318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1619250" y="1593850"/>
          <a:ext cx="61928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7" name="公式" r:id="rId8" imgW="6058001" imgH="733320" progId="Equation.3">
                  <p:embed/>
                </p:oleObj>
              </mc:Choice>
              <mc:Fallback>
                <p:oleObj name="公式" r:id="rId8" imgW="6058001" imgH="733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593850"/>
                        <a:ext cx="61928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96521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3347864" y="1432493"/>
            <a:ext cx="5181600" cy="563562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39552" y="1432493"/>
            <a:ext cx="8135937" cy="319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        </a:t>
            </a:r>
            <a:r>
              <a:rPr lang="zh-CN" altLang="en-US" sz="2800" b="1" dirty="0"/>
              <a:t>在概率论中，</a:t>
            </a:r>
            <a:r>
              <a:rPr lang="zh-CN" altLang="en-US" sz="2800" b="1" dirty="0">
                <a:solidFill>
                  <a:srgbClr val="FF0000"/>
                </a:solidFill>
              </a:rPr>
              <a:t>独立</a:t>
            </a:r>
            <a:r>
              <a:rPr lang="zh-CN" altLang="en-US" sz="2800" b="1" dirty="0"/>
              <a:t>随机变量序列</a:t>
            </a:r>
            <a:r>
              <a:rPr lang="zh-CN" altLang="en-US" sz="2800" b="1" dirty="0">
                <a:solidFill>
                  <a:srgbClr val="FF0000"/>
                </a:solidFill>
              </a:rPr>
              <a:t>和的极限分布</a:t>
            </a:r>
            <a:r>
              <a:rPr lang="zh-CN" altLang="en-US" sz="2800" b="1" dirty="0"/>
              <a:t>为正态分布的一系列定理的总称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800" b="1" dirty="0"/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800" b="1" dirty="0"/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/>
              <a:t>         </a:t>
            </a:r>
            <a:r>
              <a:rPr lang="zh-CN" altLang="en-US" sz="2800" b="1" dirty="0"/>
              <a:t>它是近两个世纪概率论研究的中心问题，因此这些定理称为</a:t>
            </a:r>
            <a:r>
              <a:rPr lang="zh-CN" altLang="en-US" sz="2800" b="1" dirty="0">
                <a:solidFill>
                  <a:srgbClr val="FF0000"/>
                </a:solidFill>
              </a:rPr>
              <a:t>中心极限定理</a:t>
            </a:r>
            <a:r>
              <a:rPr lang="zh-CN" altLang="en-US" sz="2800" b="1" dirty="0"/>
              <a:t>。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2638413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7956376" y="4941168"/>
            <a:ext cx="864096" cy="979951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611560" y="3213100"/>
            <a:ext cx="2088232" cy="1728068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076825" y="1772816"/>
            <a:ext cx="3743647" cy="72008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8915" name="Object 2"/>
          <p:cNvGraphicFramePr>
            <a:graphicFrameLocks noChangeAspect="1"/>
          </p:cNvGraphicFramePr>
          <p:nvPr/>
        </p:nvGraphicFramePr>
        <p:xfrm>
          <a:off x="4757738" y="3360738"/>
          <a:ext cx="112712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28" name="公式" r:id="rId3" imgW="114151" imgH="215619" progId="Equation.3">
                  <p:embed/>
                </p:oleObj>
              </mc:Choice>
              <mc:Fallback>
                <p:oleObj name="公式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3360738"/>
                        <a:ext cx="112712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3"/>
          <p:cNvGraphicFramePr>
            <a:graphicFrameLocks noChangeAspect="1"/>
          </p:cNvGraphicFramePr>
          <p:nvPr/>
        </p:nvGraphicFramePr>
        <p:xfrm>
          <a:off x="4757738" y="3360738"/>
          <a:ext cx="112712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29" name="公式" r:id="rId5" imgW="114151" imgH="215619" progId="Equation.3">
                  <p:embed/>
                </p:oleObj>
              </mc:Choice>
              <mc:Fallback>
                <p:oleObj name="公式" r:id="rId5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3360738"/>
                        <a:ext cx="112712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2881313" y="17463"/>
            <a:ext cx="2770187" cy="579437"/>
          </a:xfrm>
          <a:prstGeom prst="rect">
            <a:avLst/>
          </a:prstGeom>
          <a:noFill/>
          <a:ln>
            <a:noFill/>
          </a:ln>
          <a:extLst/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00"/>
                </a:solidFill>
                <a:ea typeface="黑体" panose="02010609060101010101" pitchFamily="49" charset="-122"/>
              </a:rPr>
              <a:t>中心极限定理</a:t>
            </a:r>
          </a:p>
        </p:txBody>
      </p:sp>
      <p:graphicFrame>
        <p:nvGraphicFramePr>
          <p:cNvPr id="357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498389"/>
              </p:ext>
            </p:extLst>
          </p:nvPr>
        </p:nvGraphicFramePr>
        <p:xfrm>
          <a:off x="328457" y="4790320"/>
          <a:ext cx="4320158" cy="1327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0" name="公式" r:id="rId7" imgW="5067424" imgH="1571670" progId="Equation.3">
                  <p:embed/>
                </p:oleObj>
              </mc:Choice>
              <mc:Fallback>
                <p:oleObj name="公式" r:id="rId7" imgW="5067424" imgH="15716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7" y="4790320"/>
                        <a:ext cx="4320158" cy="1327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382" name="Rectangle 6"/>
          <p:cNvSpPr>
            <a:spLocks noChangeArrowheads="1"/>
          </p:cNvSpPr>
          <p:nvPr/>
        </p:nvSpPr>
        <p:spPr bwMode="auto">
          <a:xfrm>
            <a:off x="539750" y="620713"/>
            <a:ext cx="7494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zh-CN" altLang="en-US" sz="2800" b="1">
                <a:solidFill>
                  <a:schemeClr val="accent2"/>
                </a:solidFill>
              </a:rPr>
              <a:t>、定理一（独立同分布下的中心极限定理）</a:t>
            </a:r>
          </a:p>
        </p:txBody>
      </p:sp>
      <p:graphicFrame>
        <p:nvGraphicFramePr>
          <p:cNvPr id="3573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4388"/>
              </p:ext>
            </p:extLst>
          </p:nvPr>
        </p:nvGraphicFramePr>
        <p:xfrm>
          <a:off x="292068" y="1385330"/>
          <a:ext cx="8650288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1" name="Equation" r:id="rId9" imgW="8239055" imgH="1504980" progId="Equation.DSMT4">
                  <p:embed/>
                </p:oleObj>
              </mc:Choice>
              <mc:Fallback>
                <p:oleObj name="Equation" r:id="rId9" imgW="8239055" imgH="15049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68" y="1385330"/>
                        <a:ext cx="8650288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8"/>
          <p:cNvGraphicFramePr>
            <a:graphicFrameLocks noChangeAspect="1"/>
          </p:cNvGraphicFramePr>
          <p:nvPr/>
        </p:nvGraphicFramePr>
        <p:xfrm>
          <a:off x="4357688" y="3259138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2" name="公式" r:id="rId11" imgW="416821" imgH="917005" progId="Equation.3">
                  <p:embed/>
                </p:oleObj>
              </mc:Choice>
              <mc:Fallback>
                <p:oleObj name="公式" r:id="rId11" imgW="416821" imgH="917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3259138"/>
                        <a:ext cx="914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550782"/>
              </p:ext>
            </p:extLst>
          </p:nvPr>
        </p:nvGraphicFramePr>
        <p:xfrm>
          <a:off x="-792633" y="3289043"/>
          <a:ext cx="4896792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3" name="公式" r:id="rId13" imgW="2752655" imgH="819180" progId="Equation.3">
                  <p:embed/>
                </p:oleObj>
              </mc:Choice>
              <mc:Fallback>
                <p:oleObj name="公式" r:id="rId13" imgW="2752655" imgH="8191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92633" y="3289043"/>
                        <a:ext cx="4896792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056580"/>
              </p:ext>
            </p:extLst>
          </p:nvPr>
        </p:nvGraphicFramePr>
        <p:xfrm>
          <a:off x="4104159" y="3898772"/>
          <a:ext cx="5029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4" name="公式" r:id="rId15" imgW="4962612" imgH="380970" progId="Equation.3">
                  <p:embed/>
                </p:oleObj>
              </mc:Choice>
              <mc:Fallback>
                <p:oleObj name="公式" r:id="rId15" imgW="4962612" imgH="3809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159" y="3898772"/>
                        <a:ext cx="5029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167252"/>
              </p:ext>
            </p:extLst>
          </p:nvPr>
        </p:nvGraphicFramePr>
        <p:xfrm>
          <a:off x="5076825" y="2413000"/>
          <a:ext cx="2971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5" name="公式" r:id="rId17" imgW="2905010" imgH="733320" progId="Equation.3">
                  <p:embed/>
                </p:oleObj>
              </mc:Choice>
              <mc:Fallback>
                <p:oleObj name="公式" r:id="rId17" imgW="2905010" imgH="733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413000"/>
                        <a:ext cx="2971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379941"/>
              </p:ext>
            </p:extLst>
          </p:nvPr>
        </p:nvGraphicFramePr>
        <p:xfrm>
          <a:off x="4777017" y="5028944"/>
          <a:ext cx="273526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6" name="公式" r:id="rId19" imgW="2286135" imgH="781110" progId="Equation.3">
                  <p:embed/>
                </p:oleObj>
              </mc:Choice>
              <mc:Fallback>
                <p:oleObj name="公式" r:id="rId19" imgW="2286135" imgH="7811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7017" y="5028944"/>
                        <a:ext cx="273526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932657"/>
              </p:ext>
            </p:extLst>
          </p:nvPr>
        </p:nvGraphicFramePr>
        <p:xfrm>
          <a:off x="7640681" y="5281914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7" name="公式" r:id="rId21" imgW="1009757" imgH="323730" progId="Equation.3">
                  <p:embed/>
                </p:oleObj>
              </mc:Choice>
              <mc:Fallback>
                <p:oleObj name="公式" r:id="rId21" imgW="1009757" imgH="323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0681" y="5281914"/>
                        <a:ext cx="107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467544" y="3213100"/>
            <a:ext cx="792088" cy="9079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05703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7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7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3588819" y="3518182"/>
            <a:ext cx="833956" cy="800235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246063" y="3638550"/>
            <a:ext cx="365497" cy="510530"/>
          </a:xfrm>
          <a:prstGeom prst="round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4376195" y="3599032"/>
            <a:ext cx="648072" cy="262016"/>
          </a:xfrm>
          <a:prstGeom prst="ellipse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611560" y="3599032"/>
            <a:ext cx="648072" cy="262016"/>
          </a:xfrm>
          <a:prstGeom prst="ellipse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19197" y="1124744"/>
            <a:ext cx="1188507" cy="576064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211960" y="1700808"/>
            <a:ext cx="2952328" cy="1152128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39552" y="1916832"/>
            <a:ext cx="2880320" cy="829383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204971" y="563978"/>
            <a:ext cx="5142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333399"/>
                </a:solidFill>
              </a:rPr>
              <a:t>注</a:t>
            </a:r>
          </a:p>
        </p:txBody>
      </p:sp>
      <p:graphicFrame>
        <p:nvGraphicFramePr>
          <p:cNvPr id="3584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32614"/>
              </p:ext>
            </p:extLst>
          </p:nvPr>
        </p:nvGraphicFramePr>
        <p:xfrm>
          <a:off x="539552" y="525005"/>
          <a:ext cx="7065565" cy="222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7" name="Equation" r:id="rId4" imgW="8077245" imgH="2600370" progId="Equation.3">
                  <p:embed/>
                </p:oleObj>
              </mc:Choice>
              <mc:Fallback>
                <p:oleObj name="Equation" r:id="rId4" imgW="8077245" imgH="26003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525005"/>
                        <a:ext cx="7065565" cy="2221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150083"/>
              </p:ext>
            </p:extLst>
          </p:nvPr>
        </p:nvGraphicFramePr>
        <p:xfrm>
          <a:off x="246063" y="3141663"/>
          <a:ext cx="7062241" cy="1213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8" name="公式" r:id="rId6" imgW="8267689" imgH="1381050" progId="Equation.3">
                  <p:embed/>
                </p:oleObj>
              </mc:Choice>
              <mc:Fallback>
                <p:oleObj name="公式" r:id="rId6" imgW="8267689" imgH="13810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3" y="3141663"/>
                        <a:ext cx="7062241" cy="12136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919056"/>
              </p:ext>
            </p:extLst>
          </p:nvPr>
        </p:nvGraphicFramePr>
        <p:xfrm>
          <a:off x="6136183" y="3599032"/>
          <a:ext cx="2021483" cy="684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9" name="公式" r:id="rId8" imgW="2409856" imgH="771660" progId="Equation.3">
                  <p:embed/>
                </p:oleObj>
              </mc:Choice>
              <mc:Fallback>
                <p:oleObj name="公式" r:id="rId8" imgW="2409856" imgH="771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6183" y="3599032"/>
                        <a:ext cx="2021483" cy="684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4327525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0" name="公式" r:id="rId10" imgW="190500" imgH="419100" progId="Equation.3">
                  <p:embed/>
                </p:oleObj>
              </mc:Choice>
              <mc:Fallback>
                <p:oleObj name="公式" r:id="rId10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525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07" name="Rectangle 7"/>
          <p:cNvSpPr>
            <a:spLocks noChangeArrowheads="1"/>
          </p:cNvSpPr>
          <p:nvPr/>
        </p:nvSpPr>
        <p:spPr bwMode="auto">
          <a:xfrm>
            <a:off x="280184" y="4698642"/>
            <a:ext cx="8213725" cy="119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、虽然在一般情况下，我们很难求出</a:t>
            </a:r>
            <a:r>
              <a:rPr lang="zh-CN" altLang="en-US" sz="2800" b="1" i="1" dirty="0"/>
              <a:t>           </a:t>
            </a:r>
            <a:r>
              <a:rPr lang="zh-CN" altLang="en-US" sz="2800" b="1" dirty="0"/>
              <a:t>的分布的确切形式，但当</a:t>
            </a:r>
            <a:r>
              <a:rPr lang="en-US" altLang="zh-CN" sz="2800" b="1" i="1" dirty="0"/>
              <a:t>n</a:t>
            </a:r>
            <a:r>
              <a:rPr lang="zh-CN" altLang="en-US" sz="2800" b="1" dirty="0"/>
              <a:t>很大时，可以求出近似分布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3584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210428"/>
              </p:ext>
            </p:extLst>
          </p:nvPr>
        </p:nvGraphicFramePr>
        <p:xfrm>
          <a:off x="6727824" y="4642637"/>
          <a:ext cx="83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1" name="公式" r:id="rId12" imgW="771500" imgH="733320" progId="Equation.3">
                  <p:embed/>
                </p:oleObj>
              </mc:Choice>
              <mc:Fallback>
                <p:oleObj name="公式" r:id="rId12" imgW="771500" imgH="733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7824" y="4642637"/>
                        <a:ext cx="838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63340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5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8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8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1"/>
          <p:cNvSpPr>
            <a:spLocks noChangeArrowheads="1"/>
          </p:cNvSpPr>
          <p:nvPr/>
        </p:nvSpPr>
        <p:spPr bwMode="auto">
          <a:xfrm>
            <a:off x="491983" y="764704"/>
            <a:ext cx="7993063" cy="4081117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独立同分布的中心极限定理</a:t>
            </a:r>
            <a:r>
              <a:rPr lang="zh-CN" altLang="en-US" b="1" dirty="0">
                <a:solidFill>
                  <a:schemeClr val="accent2"/>
                </a:solidFill>
              </a:rPr>
              <a:t>说明</a:t>
            </a:r>
            <a:r>
              <a:rPr lang="zh-CN" altLang="en-US" b="1" dirty="0" smtClean="0">
                <a:solidFill>
                  <a:schemeClr val="accent2"/>
                </a:solidFill>
              </a:rPr>
              <a:t>：</a:t>
            </a:r>
            <a:endParaRPr lang="en-US" altLang="zh-CN" b="1" dirty="0" smtClean="0">
              <a:solidFill>
                <a:schemeClr val="accent2"/>
              </a:solidFill>
            </a:endParaRP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endParaRPr lang="en-US" altLang="zh-CN" b="1" dirty="0">
              <a:solidFill>
                <a:schemeClr val="accent2"/>
              </a:solidFill>
            </a:endParaRP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</a:rPr>
              <a:t>不论随机变量序列服从何种分布</a:t>
            </a:r>
            <a:r>
              <a:rPr lang="zh-CN" altLang="en-US" b="1" dirty="0" smtClean="0">
                <a:solidFill>
                  <a:schemeClr val="accent2"/>
                </a:solidFill>
              </a:rPr>
              <a:t>，</a:t>
            </a:r>
            <a:endParaRPr lang="en-US" altLang="zh-CN" b="1" dirty="0" smtClean="0">
              <a:solidFill>
                <a:schemeClr val="accent2"/>
              </a:solidFill>
            </a:endParaRP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chemeClr val="accent2"/>
                </a:solidFill>
              </a:rPr>
              <a:t>只要</a:t>
            </a:r>
            <a:r>
              <a:rPr lang="zh-CN" altLang="en-US" b="1" dirty="0">
                <a:solidFill>
                  <a:srgbClr val="FF0000"/>
                </a:solidFill>
              </a:rPr>
              <a:t>期望和方差有限</a:t>
            </a:r>
            <a:r>
              <a:rPr lang="zh-CN" altLang="en-US" b="1" dirty="0" smtClean="0">
                <a:solidFill>
                  <a:schemeClr val="accent2"/>
                </a:solidFill>
              </a:rPr>
              <a:t>，</a:t>
            </a:r>
            <a:endParaRPr lang="en-US" altLang="zh-CN" b="1" dirty="0" smtClean="0">
              <a:solidFill>
                <a:schemeClr val="accent2"/>
              </a:solidFill>
            </a:endParaRP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u="sng" dirty="0" smtClean="0">
                <a:solidFill>
                  <a:srgbClr val="FF0000"/>
                </a:solidFill>
              </a:rPr>
              <a:t>总和</a:t>
            </a:r>
            <a:r>
              <a:rPr lang="zh-CN" altLang="en-US" b="1" dirty="0">
                <a:solidFill>
                  <a:srgbClr val="FF0000"/>
                </a:solidFill>
              </a:rPr>
              <a:t>标准化</a:t>
            </a:r>
            <a:r>
              <a:rPr lang="zh-CN" altLang="en-US" b="1" dirty="0">
                <a:solidFill>
                  <a:schemeClr val="accent2"/>
                </a:solidFill>
              </a:rPr>
              <a:t>后</a:t>
            </a:r>
            <a:r>
              <a:rPr lang="zh-CN" altLang="en-US" b="1" dirty="0" smtClean="0">
                <a:solidFill>
                  <a:schemeClr val="accent2"/>
                </a:solidFill>
              </a:rPr>
              <a:t>，</a:t>
            </a:r>
            <a:endParaRPr lang="en-US" altLang="zh-CN" b="1" dirty="0" smtClean="0">
              <a:solidFill>
                <a:schemeClr val="accent2"/>
              </a:solidFill>
            </a:endParaRP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chemeClr val="accent2"/>
                </a:solidFill>
              </a:rPr>
              <a:t>以</a:t>
            </a:r>
            <a:r>
              <a:rPr lang="zh-CN" altLang="en-US" b="1" dirty="0">
                <a:solidFill>
                  <a:schemeClr val="accent2"/>
                </a:solidFill>
              </a:rPr>
              <a:t>标准正态分布为极限。</a:t>
            </a:r>
            <a:endParaRPr lang="en-US" altLang="zh-CN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466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1979712" y="2144242"/>
            <a:ext cx="4320480" cy="57594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4654550" y="3178175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0" name="公式" r:id="rId3" imgW="114151" imgH="215619" progId="Equation.3">
                  <p:embed/>
                </p:oleObj>
              </mc:Choice>
              <mc:Fallback>
                <p:oleObj name="公式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0" y="3178175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4654550" y="3178175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1" name="公式" r:id="rId5" imgW="114151" imgH="215619" progId="Equation.3">
                  <p:embed/>
                </p:oleObj>
              </mc:Choice>
              <mc:Fallback>
                <p:oleObj name="公式" r:id="rId5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0" y="3178175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323528" y="52000"/>
            <a:ext cx="6710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</a:rPr>
              <a:t>、定理二（李雅普诺夫</a:t>
            </a:r>
            <a:r>
              <a:rPr lang="en-US" altLang="zh-CN" sz="2800" b="1" dirty="0">
                <a:solidFill>
                  <a:srgbClr val="FFFF00"/>
                </a:solidFill>
              </a:rPr>
              <a:t>(</a:t>
            </a:r>
            <a:r>
              <a:rPr lang="en-US" altLang="zh-CN" sz="2800" b="1" dirty="0" err="1">
                <a:solidFill>
                  <a:srgbClr val="FFFF00"/>
                </a:solidFill>
              </a:rPr>
              <a:t>Lyapunov</a:t>
            </a:r>
            <a:r>
              <a:rPr lang="en-US" altLang="zh-CN" sz="2800" b="1" dirty="0">
                <a:solidFill>
                  <a:srgbClr val="FFFF00"/>
                </a:solidFill>
              </a:rPr>
              <a:t>)</a:t>
            </a:r>
            <a:r>
              <a:rPr lang="zh-CN" altLang="en-US" sz="2800" b="1" dirty="0">
                <a:solidFill>
                  <a:srgbClr val="FFFF00"/>
                </a:solidFill>
              </a:rPr>
              <a:t>定理</a:t>
            </a:r>
            <a:r>
              <a:rPr lang="en-US" altLang="zh-CN" sz="2800" b="1" dirty="0">
                <a:solidFill>
                  <a:srgbClr val="FFFF00"/>
                </a:solidFill>
              </a:rPr>
              <a:t>)</a:t>
            </a:r>
          </a:p>
        </p:txBody>
      </p:sp>
      <p:graphicFrame>
        <p:nvGraphicFramePr>
          <p:cNvPr id="359429" name="Object 5"/>
          <p:cNvGraphicFramePr>
            <a:graphicFrameLocks noChangeAspect="1"/>
          </p:cNvGraphicFramePr>
          <p:nvPr/>
        </p:nvGraphicFramePr>
        <p:xfrm>
          <a:off x="688975" y="1033463"/>
          <a:ext cx="812641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2" name="公式" r:id="rId7" imgW="7848713" imgH="1533600" progId="Equation.3">
                  <p:embed/>
                </p:oleObj>
              </mc:Choice>
              <mc:Fallback>
                <p:oleObj name="公式" r:id="rId7" imgW="7848713" imgH="153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1033463"/>
                        <a:ext cx="812641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0" name="Object 6"/>
          <p:cNvGraphicFramePr>
            <a:graphicFrameLocks noChangeAspect="1"/>
          </p:cNvGraphicFramePr>
          <p:nvPr/>
        </p:nvGraphicFramePr>
        <p:xfrm>
          <a:off x="1116013" y="2625725"/>
          <a:ext cx="337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3" name="公式" r:id="rId9" imgW="3314801" imgH="733320" progId="Equation.3">
                  <p:embed/>
                </p:oleObj>
              </mc:Choice>
              <mc:Fallback>
                <p:oleObj name="公式" r:id="rId9" imgW="3314801" imgH="733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625725"/>
                        <a:ext cx="3378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506229"/>
              </p:ext>
            </p:extLst>
          </p:nvPr>
        </p:nvGraphicFramePr>
        <p:xfrm>
          <a:off x="804863" y="3598863"/>
          <a:ext cx="71628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4" name="公式" r:id="rId11" imgW="6410255" imgH="1419120" progId="Equation.3">
                  <p:embed/>
                </p:oleObj>
              </mc:Choice>
              <mc:Fallback>
                <p:oleObj name="公式" r:id="rId11" imgW="6410255" imgH="1419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3598863"/>
                        <a:ext cx="71628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2" name="Object 8"/>
          <p:cNvGraphicFramePr>
            <a:graphicFrameLocks noChangeAspect="1"/>
          </p:cNvGraphicFramePr>
          <p:nvPr/>
        </p:nvGraphicFramePr>
        <p:xfrm>
          <a:off x="833438" y="5289550"/>
          <a:ext cx="5626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5" name="公式" r:id="rId13" imgW="5562577" imgH="733320" progId="Equation.3">
                  <p:embed/>
                </p:oleObj>
              </mc:Choice>
              <mc:Fallback>
                <p:oleObj name="公式" r:id="rId13" imgW="5562577" imgH="733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5289550"/>
                        <a:ext cx="56261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433" name="AutoShape 9"/>
          <p:cNvSpPr>
            <a:spLocks noChangeArrowheads="1"/>
          </p:cNvSpPr>
          <p:nvPr/>
        </p:nvSpPr>
        <p:spPr bwMode="auto">
          <a:xfrm>
            <a:off x="6705600" y="2895600"/>
            <a:ext cx="1676400" cy="1008063"/>
          </a:xfrm>
          <a:prstGeom prst="wedgeRoundRectCallout">
            <a:avLst>
              <a:gd name="adj1" fmla="val -61366"/>
              <a:gd name="adj2" fmla="val 89213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</a:rPr>
              <a:t>李雅普诺夫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</a:rPr>
              <a:t>条件</a:t>
            </a:r>
          </a:p>
        </p:txBody>
      </p:sp>
    </p:spTree>
    <p:extLst>
      <p:ext uri="{BB962C8B-B14F-4D97-AF65-F5344CB8AC3E}">
        <p14:creationId xmlns:p14="http://schemas.microsoft.com/office/powerpoint/2010/main" val="4107739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9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9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33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3768275" y="5075238"/>
            <a:ext cx="756084" cy="725922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1371600" y="609600"/>
          <a:ext cx="56007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4" name="公式" r:id="rId3" imgW="5533943" imgH="1600290" progId="Equation.3">
                  <p:embed/>
                </p:oleObj>
              </mc:Choice>
              <mc:Fallback>
                <p:oleObj name="公式" r:id="rId3" imgW="5533943" imgH="16002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609600"/>
                        <a:ext cx="56007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51" name="Object 3"/>
          <p:cNvGraphicFramePr>
            <a:graphicFrameLocks noChangeAspect="1"/>
          </p:cNvGraphicFramePr>
          <p:nvPr/>
        </p:nvGraphicFramePr>
        <p:xfrm>
          <a:off x="1011238" y="2697163"/>
          <a:ext cx="56943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5" name="公式" r:id="rId5" imgW="5314866" imgH="380970" progId="Equation.3">
                  <p:embed/>
                </p:oleObj>
              </mc:Choice>
              <mc:Fallback>
                <p:oleObj name="公式" r:id="rId5" imgW="5314866" imgH="3809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2697163"/>
                        <a:ext cx="56943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52" name="Object 4"/>
          <p:cNvGraphicFramePr>
            <a:graphicFrameLocks noChangeAspect="1"/>
          </p:cNvGraphicFramePr>
          <p:nvPr/>
        </p:nvGraphicFramePr>
        <p:xfrm>
          <a:off x="1417638" y="3363913"/>
          <a:ext cx="54991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6" name="公式" r:id="rId7" imgW="5429132" imgH="1571670" progId="Equation.3">
                  <p:embed/>
                </p:oleObj>
              </mc:Choice>
              <mc:Fallback>
                <p:oleObj name="公式" r:id="rId7" imgW="5429132" imgH="15716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3363913"/>
                        <a:ext cx="5499100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53" name="Object 5"/>
          <p:cNvGraphicFramePr>
            <a:graphicFrameLocks noChangeAspect="1"/>
          </p:cNvGraphicFramePr>
          <p:nvPr/>
        </p:nvGraphicFramePr>
        <p:xfrm>
          <a:off x="939800" y="5075238"/>
          <a:ext cx="2349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7" name="公式" r:id="rId9" imgW="2286135" imgH="781110" progId="Equation.3">
                  <p:embed/>
                </p:oleObj>
              </mc:Choice>
              <mc:Fallback>
                <p:oleObj name="公式" r:id="rId9" imgW="2286135" imgH="7811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5075238"/>
                        <a:ext cx="2349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54" name="Object 6"/>
          <p:cNvGraphicFramePr>
            <a:graphicFrameLocks noChangeAspect="1"/>
          </p:cNvGraphicFramePr>
          <p:nvPr/>
        </p:nvGraphicFramePr>
        <p:xfrm>
          <a:off x="3460750" y="5243513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8" name="公式" r:id="rId11" imgW="1009757" imgH="323730" progId="Equation.3">
                  <p:embed/>
                </p:oleObj>
              </mc:Choice>
              <mc:Fallback>
                <p:oleObj name="公式" r:id="rId11" imgW="1009757" imgH="323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5243513"/>
                        <a:ext cx="107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3234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6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 bwMode="auto">
          <a:xfrm>
            <a:off x="5425487" y="4181859"/>
            <a:ext cx="1810809" cy="627881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3131840" y="3502794"/>
            <a:ext cx="3528392" cy="594466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378874" y="2153048"/>
            <a:ext cx="2433486" cy="771896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55576" y="2150935"/>
            <a:ext cx="4248472" cy="867209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39687" y="620688"/>
            <a:ext cx="1116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333399"/>
                </a:solidFill>
              </a:rPr>
              <a:t>注意 </a:t>
            </a:r>
            <a:r>
              <a:rPr lang="en-US" altLang="zh-CN" sz="2800" b="1" dirty="0">
                <a:solidFill>
                  <a:srgbClr val="333399"/>
                </a:solidFill>
              </a:rPr>
              <a:t>:</a:t>
            </a:r>
          </a:p>
        </p:txBody>
      </p:sp>
      <p:graphicFrame>
        <p:nvGraphicFramePr>
          <p:cNvPr id="361475" name="Object 3"/>
          <p:cNvGraphicFramePr>
            <a:graphicFrameLocks noChangeAspect="1"/>
          </p:cNvGraphicFramePr>
          <p:nvPr/>
        </p:nvGraphicFramePr>
        <p:xfrm>
          <a:off x="457200" y="762000"/>
          <a:ext cx="8232775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62" name="公式" r:id="rId4" imgW="7753356" imgH="1295460" progId="Equation.3">
                  <p:embed/>
                </p:oleObj>
              </mc:Choice>
              <mc:Fallback>
                <p:oleObj name="公式" r:id="rId4" imgW="7753356" imgH="12954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62000"/>
                        <a:ext cx="8232775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4129088" y="3432175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63" name="公式" r:id="rId6" imgW="416821" imgH="917005" progId="Equation.3">
                  <p:embed/>
                </p:oleObj>
              </mc:Choice>
              <mc:Fallback>
                <p:oleObj name="公式" r:id="rId6" imgW="416821" imgH="917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088" y="3432175"/>
                        <a:ext cx="914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77" name="Object 5"/>
          <p:cNvGraphicFramePr>
            <a:graphicFrameLocks noChangeAspect="1"/>
          </p:cNvGraphicFramePr>
          <p:nvPr/>
        </p:nvGraphicFramePr>
        <p:xfrm>
          <a:off x="1155700" y="2195513"/>
          <a:ext cx="6426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64" name="公式" r:id="rId8" imgW="6362711" imgH="733320" progId="Equation.3">
                  <p:embed/>
                </p:oleObj>
              </mc:Choice>
              <mc:Fallback>
                <p:oleObj name="公式" r:id="rId8" imgW="6362711" imgH="733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2195513"/>
                        <a:ext cx="6426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78" name="Object 6"/>
          <p:cNvGraphicFramePr>
            <a:graphicFrameLocks noChangeAspect="1"/>
          </p:cNvGraphicFramePr>
          <p:nvPr/>
        </p:nvGraphicFramePr>
        <p:xfrm>
          <a:off x="323850" y="3573463"/>
          <a:ext cx="8207375" cy="242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65" name="Equation" r:id="rId10" imgW="7905711" imgH="2362230" progId="Equation.DSMT4">
                  <p:embed/>
                </p:oleObj>
              </mc:Choice>
              <mc:Fallback>
                <p:oleObj name="Equation" r:id="rId10" imgW="7905711" imgH="23622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573463"/>
                        <a:ext cx="8207375" cy="242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087" name="图片 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4237038"/>
            <a:ext cx="35718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8" name="图片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271963"/>
            <a:ext cx="1439862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287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 bwMode="auto">
          <a:xfrm>
            <a:off x="4499992" y="2905506"/>
            <a:ext cx="3888432" cy="451486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45070" y="3372694"/>
            <a:ext cx="7771346" cy="624253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2498" name="Text Box 2"/>
          <p:cNvSpPr txBox="1">
            <a:spLocks noChangeArrowheads="1"/>
          </p:cNvSpPr>
          <p:nvPr/>
        </p:nvSpPr>
        <p:spPr bwMode="auto">
          <a:xfrm>
            <a:off x="387350" y="56357"/>
            <a:ext cx="8229600" cy="523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FFFF00"/>
                </a:solidFill>
              </a:rPr>
              <a:t>3</a:t>
            </a:r>
            <a:r>
              <a:rPr lang="zh-CN" altLang="en-US" sz="2800" b="1" dirty="0">
                <a:solidFill>
                  <a:srgbClr val="FFFF00"/>
                </a:solidFill>
              </a:rPr>
              <a:t>、定理三</a:t>
            </a:r>
            <a:r>
              <a:rPr lang="en-US" altLang="zh-CN" sz="2800" b="1" dirty="0">
                <a:solidFill>
                  <a:srgbClr val="FFFF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FFFF00"/>
                </a:solidFill>
                <a:latin typeface="宋体" panose="02010600030101010101" pitchFamily="2" charset="-122"/>
              </a:rPr>
              <a:t>棣莫佛－拉普拉斯（</a:t>
            </a:r>
            <a:r>
              <a:rPr lang="en-US" altLang="zh-CN" sz="2000" b="1" dirty="0">
                <a:solidFill>
                  <a:srgbClr val="FFFF00"/>
                </a:solidFill>
                <a:latin typeface="+mn-lt"/>
              </a:rPr>
              <a:t>De </a:t>
            </a:r>
            <a:r>
              <a:rPr lang="en-US" altLang="zh-CN" sz="2000" b="1" dirty="0" err="1">
                <a:solidFill>
                  <a:srgbClr val="FFFF00"/>
                </a:solidFill>
                <a:latin typeface="+mn-lt"/>
              </a:rPr>
              <a:t>Moivre</a:t>
            </a:r>
            <a:r>
              <a:rPr lang="en-US" altLang="zh-CN" sz="2000" b="1" dirty="0">
                <a:solidFill>
                  <a:srgbClr val="FFFF00"/>
                </a:solidFill>
                <a:latin typeface="+mn-lt"/>
              </a:rPr>
              <a:t>-Laplace</a:t>
            </a:r>
            <a:r>
              <a:rPr lang="zh-CN" altLang="en-US" sz="2000" b="1" dirty="0">
                <a:solidFill>
                  <a:srgbClr val="FFFF00"/>
                </a:solidFill>
                <a:latin typeface="宋体" panose="02010600030101010101" pitchFamily="2" charset="-122"/>
              </a:rPr>
              <a:t>定理</a:t>
            </a:r>
            <a:r>
              <a:rPr lang="zh-CN" altLang="en-US" sz="2800" b="1" dirty="0">
                <a:solidFill>
                  <a:srgbClr val="FFFF00"/>
                </a:solidFill>
                <a:latin typeface="宋体" panose="02010600030101010101" pitchFamily="2" charset="-122"/>
              </a:rPr>
              <a:t>）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graphicFrame>
        <p:nvGraphicFramePr>
          <p:cNvPr id="3624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193546"/>
              </p:ext>
            </p:extLst>
          </p:nvPr>
        </p:nvGraphicFramePr>
        <p:xfrm>
          <a:off x="1262063" y="1847850"/>
          <a:ext cx="2589857" cy="90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9" name="公式" r:id="rId3" imgW="3257533" imgH="857250" progId="Equation.3">
                  <p:embed/>
                </p:oleObj>
              </mc:Choice>
              <mc:Fallback>
                <p:oleObj name="公式" r:id="rId3" imgW="3257533" imgH="8572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1847850"/>
                        <a:ext cx="2589857" cy="90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5800" y="655638"/>
            <a:ext cx="8566150" cy="1189037"/>
            <a:chOff x="340" y="527"/>
            <a:chExt cx="5396" cy="749"/>
          </a:xfrm>
        </p:grpSpPr>
        <p:sp>
          <p:nvSpPr>
            <p:cNvPr id="48140" name="Text Box 5"/>
            <p:cNvSpPr txBox="1">
              <a:spLocks noChangeArrowheads="1"/>
            </p:cNvSpPr>
            <p:nvPr/>
          </p:nvSpPr>
          <p:spPr bwMode="auto">
            <a:xfrm>
              <a:off x="340" y="527"/>
              <a:ext cx="5396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zh-CN" altLang="en-US" sz="2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设随机变量  </a:t>
              </a:r>
              <a:r>
                <a:rPr lang="en-US" altLang="zh-CN" sz="2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800" b="1" dirty="0" smtClean="0">
                  <a:solidFill>
                    <a:schemeClr val="accent2"/>
                  </a:solidFill>
                  <a:latin typeface="+mj-lt"/>
                </a:rPr>
                <a:t>n=1,2,‥‥)</a:t>
              </a:r>
              <a:r>
                <a:rPr lang="zh-CN" altLang="en-US" sz="2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服从参数 </a:t>
              </a:r>
              <a:r>
                <a:rPr lang="en-US" altLang="zh-CN" b="1" i="1" dirty="0" err="1" smtClean="0">
                  <a:solidFill>
                    <a:schemeClr val="accent2"/>
                  </a:solidFill>
                </a:rPr>
                <a:t>n,p</a:t>
              </a:r>
              <a:r>
                <a:rPr lang="en-US" altLang="zh-CN" b="1" i="1" dirty="0" smtClean="0">
                  <a:solidFill>
                    <a:schemeClr val="accent2"/>
                  </a:solidFill>
                </a:rPr>
                <a:t>  </a:t>
              </a:r>
              <a:r>
                <a:rPr lang="en-US" altLang="zh-CN" b="1" dirty="0" smtClean="0">
                  <a:solidFill>
                    <a:schemeClr val="accent2"/>
                  </a:solidFill>
                </a:rPr>
                <a:t>(0&lt;</a:t>
              </a:r>
              <a:r>
                <a:rPr lang="en-US" altLang="zh-CN" b="1" i="1" dirty="0" smtClean="0">
                  <a:solidFill>
                    <a:schemeClr val="accent2"/>
                  </a:solidFill>
                </a:rPr>
                <a:t>p</a:t>
              </a:r>
              <a:r>
                <a:rPr lang="en-US" altLang="zh-CN" b="1" dirty="0" smtClean="0">
                  <a:solidFill>
                    <a:schemeClr val="accent2"/>
                  </a:solidFill>
                </a:rPr>
                <a:t>&lt;1)</a:t>
              </a:r>
              <a:endParaRPr lang="en-US" altLang="zh-CN" sz="28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zh-CN" altLang="en-US" sz="2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的二项分布，则对任意</a:t>
              </a:r>
              <a:r>
                <a:rPr lang="en-US" altLang="zh-CN" sz="2800" b="1" i="1" dirty="0" smtClean="0">
                  <a:solidFill>
                    <a:schemeClr val="accent2"/>
                  </a:solidFill>
                </a:rPr>
                <a:t>x</a:t>
              </a:r>
              <a:r>
                <a:rPr lang="zh-CN" altLang="en-US" sz="2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，有</a:t>
              </a:r>
            </a:p>
          </p:txBody>
        </p:sp>
        <p:graphicFrame>
          <p:nvGraphicFramePr>
            <p:cNvPr id="47117" name="Object 6"/>
            <p:cNvGraphicFramePr>
              <a:graphicFrameLocks noChangeAspect="1"/>
            </p:cNvGraphicFramePr>
            <p:nvPr/>
          </p:nvGraphicFramePr>
          <p:xfrm>
            <a:off x="1528" y="583"/>
            <a:ext cx="26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60" name="公式" r:id="rId6" imgW="276346" imgH="362070" progId="Equation.3">
                    <p:embed/>
                  </p:oleObj>
                </mc:Choice>
                <mc:Fallback>
                  <p:oleObj name="公式" r:id="rId6" imgW="276346" imgH="3620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" y="583"/>
                          <a:ext cx="26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25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873319"/>
              </p:ext>
            </p:extLst>
          </p:nvPr>
        </p:nvGraphicFramePr>
        <p:xfrm>
          <a:off x="3858165" y="1707357"/>
          <a:ext cx="2500819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1" name="公式" r:id="rId8" imgW="971668" imgH="400140" progId="Equation.3">
                  <p:embed/>
                </p:oleObj>
              </mc:Choice>
              <mc:Fallback>
                <p:oleObj name="公式" r:id="rId8" imgW="971668" imgH="400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8165" y="1707357"/>
                        <a:ext cx="2500819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685253"/>
              </p:ext>
            </p:extLst>
          </p:nvPr>
        </p:nvGraphicFramePr>
        <p:xfrm>
          <a:off x="6426200" y="2090876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2" name="公式" r:id="rId10" imgW="1009757" imgH="323730" progId="Equation.3">
                  <p:embed/>
                </p:oleObj>
              </mc:Choice>
              <mc:Fallback>
                <p:oleObj name="公式" r:id="rId10" imgW="1009757" imgH="323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200" y="2090876"/>
                        <a:ext cx="107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05" name="Text Box 9"/>
          <p:cNvSpPr txBox="1">
            <a:spLocks noChangeArrowheads="1"/>
          </p:cNvSpPr>
          <p:nvPr/>
        </p:nvSpPr>
        <p:spPr bwMode="auto">
          <a:xfrm>
            <a:off x="612775" y="2776607"/>
            <a:ext cx="593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accent2"/>
                </a:solidFill>
              </a:rPr>
              <a:t>证</a:t>
            </a:r>
          </a:p>
        </p:txBody>
      </p:sp>
      <p:graphicFrame>
        <p:nvGraphicFramePr>
          <p:cNvPr id="3625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635567"/>
              </p:ext>
            </p:extLst>
          </p:nvPr>
        </p:nvGraphicFramePr>
        <p:xfrm>
          <a:off x="508000" y="2921208"/>
          <a:ext cx="7988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3" name="公式" r:id="rId12" imgW="7924890" imgH="923940" progId="Equation.3">
                  <p:embed/>
                </p:oleObj>
              </mc:Choice>
              <mc:Fallback>
                <p:oleObj name="公式" r:id="rId12" imgW="7924890" imgH="9239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2921208"/>
                        <a:ext cx="79883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887690"/>
              </p:ext>
            </p:extLst>
          </p:nvPr>
        </p:nvGraphicFramePr>
        <p:xfrm>
          <a:off x="508000" y="3948390"/>
          <a:ext cx="4495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4" name="公式" r:id="rId14" imgW="4429100" imgH="733320" progId="Equation.3">
                  <p:embed/>
                </p:oleObj>
              </mc:Choice>
              <mc:Fallback>
                <p:oleObj name="公式" r:id="rId14" imgW="4429100" imgH="733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3948390"/>
                        <a:ext cx="4495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955314"/>
              </p:ext>
            </p:extLst>
          </p:nvPr>
        </p:nvGraphicFramePr>
        <p:xfrm>
          <a:off x="508000" y="5019173"/>
          <a:ext cx="60452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5" name="公式" r:id="rId16" imgW="5981824" imgH="962010" progId="Equation.3">
                  <p:embed/>
                </p:oleObj>
              </mc:Choice>
              <mc:Fallback>
                <p:oleObj name="公式" r:id="rId16" imgW="5981824" imgH="9620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5019173"/>
                        <a:ext cx="60452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8940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2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2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2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2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2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2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0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 bwMode="auto">
          <a:xfrm>
            <a:off x="1764686" y="5301207"/>
            <a:ext cx="3789977" cy="797365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1407994" y="542767"/>
            <a:ext cx="6476373" cy="526223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69925" y="3840163"/>
            <a:ext cx="8001000" cy="1127125"/>
            <a:chOff x="476" y="2341"/>
            <a:chExt cx="5040" cy="710"/>
          </a:xfrm>
        </p:grpSpPr>
        <p:sp>
          <p:nvSpPr>
            <p:cNvPr id="48140" name="Rectangle 3"/>
            <p:cNvSpPr>
              <a:spLocks noChangeArrowheads="1"/>
            </p:cNvSpPr>
            <p:nvPr/>
          </p:nvSpPr>
          <p:spPr bwMode="auto">
            <a:xfrm>
              <a:off x="476" y="2341"/>
              <a:ext cx="5040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solidFill>
                    <a:schemeClr val="hlink"/>
                  </a:solidFill>
                </a:rPr>
                <a:t>     </a:t>
              </a:r>
              <a:r>
                <a:rPr lang="zh-CN" altLang="en-US" sz="2800" b="1">
                  <a:solidFill>
                    <a:srgbClr val="333399"/>
                  </a:solidFill>
                </a:rPr>
                <a:t>定理表明</a:t>
              </a:r>
              <a:r>
                <a:rPr lang="zh-CN" altLang="en-US" sz="2800" b="1">
                  <a:solidFill>
                    <a:schemeClr val="accent2"/>
                  </a:solidFill>
                </a:rPr>
                <a:t>，当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n</a:t>
              </a:r>
              <a:r>
                <a:rPr lang="zh-CN" altLang="en-US" sz="2800" b="1">
                  <a:solidFill>
                    <a:schemeClr val="accent2"/>
                  </a:solidFill>
                </a:rPr>
                <a:t>很大</a:t>
              </a:r>
              <a:r>
                <a:rPr lang="zh-CN" altLang="zh-CN" sz="2800" b="1">
                  <a:solidFill>
                    <a:schemeClr val="accent2"/>
                  </a:solidFill>
                </a:rPr>
                <a:t>时</a:t>
              </a:r>
              <a:r>
                <a:rPr lang="zh-CN" altLang="en-US" sz="2800" b="1">
                  <a:solidFill>
                    <a:schemeClr val="tx2"/>
                  </a:solidFill>
                </a:rPr>
                <a:t>，</a:t>
              </a:r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变量   的</a:t>
              </a:r>
              <a:r>
                <a:rPr lang="zh-CN" altLang="en-US" sz="2800" b="1">
                  <a:solidFill>
                    <a:schemeClr val="tx2"/>
                  </a:solidFill>
                </a:rPr>
                <a:t>分布，近似正态分布 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800" b="1">
                  <a:solidFill>
                    <a:schemeClr val="accent2"/>
                  </a:solidFill>
                </a:rPr>
                <a:t>(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np</a:t>
              </a:r>
              <a:r>
                <a:rPr lang="en-US" altLang="zh-CN" sz="2800" b="1">
                  <a:solidFill>
                    <a:schemeClr val="accent2"/>
                  </a:solidFill>
                </a:rPr>
                <a:t>,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np</a:t>
              </a:r>
              <a:r>
                <a:rPr lang="en-US" altLang="zh-CN" sz="2800" b="1">
                  <a:solidFill>
                    <a:schemeClr val="accent2"/>
                  </a:solidFill>
                </a:rPr>
                <a:t>(1-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p</a:t>
              </a:r>
              <a:r>
                <a:rPr lang="en-US" altLang="zh-CN" sz="2800" b="1">
                  <a:solidFill>
                    <a:schemeClr val="accent2"/>
                  </a:solidFill>
                </a:rPr>
                <a:t>))</a:t>
              </a:r>
              <a:r>
                <a:rPr lang="en-US" altLang="zh-CN" sz="2800" b="1">
                  <a:solidFill>
                    <a:schemeClr val="tx2"/>
                  </a:solidFill>
                </a:rPr>
                <a:t>.</a:t>
              </a:r>
              <a:endParaRPr lang="en-US" altLang="zh-CN" sz="28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8141" name="Object 4"/>
            <p:cNvGraphicFramePr>
              <a:graphicFrameLocks noChangeAspect="1"/>
            </p:cNvGraphicFramePr>
            <p:nvPr/>
          </p:nvGraphicFramePr>
          <p:xfrm>
            <a:off x="3705" y="2344"/>
            <a:ext cx="26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674" name="公式" r:id="rId4" imgW="276346" imgH="362070" progId="Equation.3">
                    <p:embed/>
                  </p:oleObj>
                </mc:Choice>
                <mc:Fallback>
                  <p:oleObj name="公式" r:id="rId4" imgW="276346" imgH="3620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5" y="2344"/>
                          <a:ext cx="26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721262"/>
              </p:ext>
            </p:extLst>
          </p:nvPr>
        </p:nvGraphicFramePr>
        <p:xfrm>
          <a:off x="728774" y="637190"/>
          <a:ext cx="720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" name="公式" r:id="rId6" imgW="7134211" imgH="362070" progId="Equation.3">
                  <p:embed/>
                </p:oleObj>
              </mc:Choice>
              <mc:Fallback>
                <p:oleObj name="公式" r:id="rId6" imgW="7134211" imgH="3620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774" y="637190"/>
                        <a:ext cx="720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160986"/>
              </p:ext>
            </p:extLst>
          </p:nvPr>
        </p:nvGraphicFramePr>
        <p:xfrm>
          <a:off x="741363" y="1195990"/>
          <a:ext cx="163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" name="公式" r:id="rId8" imgW="1571633" imgH="323730" progId="Equation.3">
                  <p:embed/>
                </p:oleObj>
              </mc:Choice>
              <mc:Fallback>
                <p:oleObj name="公式" r:id="rId8" imgW="1571633" imgH="323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1195990"/>
                        <a:ext cx="1638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7" name="Object 7"/>
          <p:cNvGraphicFramePr>
            <a:graphicFrameLocks noChangeAspect="1"/>
          </p:cNvGraphicFramePr>
          <p:nvPr/>
        </p:nvGraphicFramePr>
        <p:xfrm>
          <a:off x="741363" y="1654175"/>
          <a:ext cx="3240087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7" name="公式" r:id="rId10" imgW="3257533" imgH="857250" progId="Equation.3">
                  <p:embed/>
                </p:oleObj>
              </mc:Choice>
              <mc:Fallback>
                <p:oleObj name="公式" r:id="rId10" imgW="3257533" imgH="8572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1654175"/>
                        <a:ext cx="3240087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8" name="Object 8"/>
          <p:cNvGraphicFramePr>
            <a:graphicFrameLocks noChangeAspect="1"/>
          </p:cNvGraphicFramePr>
          <p:nvPr/>
        </p:nvGraphicFramePr>
        <p:xfrm>
          <a:off x="814388" y="2662238"/>
          <a:ext cx="29686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8" name="公式" r:id="rId12" imgW="971668" imgH="400140" progId="Equation.3">
                  <p:embed/>
                </p:oleObj>
              </mc:Choice>
              <mc:Fallback>
                <p:oleObj name="公式" r:id="rId12" imgW="971668" imgH="400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2662238"/>
                        <a:ext cx="2968625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9" name="Object 9"/>
          <p:cNvGraphicFramePr>
            <a:graphicFrameLocks noChangeAspect="1"/>
          </p:cNvGraphicFramePr>
          <p:nvPr/>
        </p:nvGraphicFramePr>
        <p:xfrm>
          <a:off x="3838575" y="3165475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9" name="公式" r:id="rId14" imgW="1009757" imgH="323730" progId="Equation.3">
                  <p:embed/>
                </p:oleObj>
              </mc:Choice>
              <mc:Fallback>
                <p:oleObj name="公式" r:id="rId14" imgW="1009757" imgH="323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5" y="3165475"/>
                        <a:ext cx="107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0" name="Object 10"/>
          <p:cNvGraphicFramePr>
            <a:graphicFrameLocks noChangeAspect="1"/>
          </p:cNvGraphicFramePr>
          <p:nvPr/>
        </p:nvGraphicFramePr>
        <p:xfrm>
          <a:off x="4035425" y="1438275"/>
          <a:ext cx="36195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0" name="公式" r:id="rId16" imgW="3552788" imgH="1228770" progId="Equation.3">
                  <p:embed/>
                </p:oleObj>
              </mc:Choice>
              <mc:Fallback>
                <p:oleObj name="公式" r:id="rId16" imgW="3552788" imgH="12287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5" y="1438275"/>
                        <a:ext cx="36195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989547"/>
              </p:ext>
            </p:extLst>
          </p:nvPr>
        </p:nvGraphicFramePr>
        <p:xfrm>
          <a:off x="2011363" y="5394325"/>
          <a:ext cx="3543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81" name="公式" r:id="rId18" imgW="3476611" imgH="552420" progId="Equation.3">
                  <p:embed/>
                </p:oleObj>
              </mc:Choice>
              <mc:Fallback>
                <p:oleObj name="公式" r:id="rId18" imgW="3476611" imgH="5524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5394325"/>
                        <a:ext cx="35433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32" name="Text Box 12"/>
          <p:cNvSpPr txBox="1">
            <a:spLocks noChangeArrowheads="1"/>
          </p:cNvSpPr>
          <p:nvPr/>
        </p:nvSpPr>
        <p:spPr bwMode="auto">
          <a:xfrm>
            <a:off x="814388" y="5557236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33152480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6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6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3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3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7" name="Text Box 3"/>
          <p:cNvSpPr txBox="1">
            <a:spLocks noChangeArrowheads="1"/>
          </p:cNvSpPr>
          <p:nvPr/>
        </p:nvSpPr>
        <p:spPr bwMode="auto">
          <a:xfrm>
            <a:off x="0" y="1681077"/>
            <a:ext cx="1008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333399"/>
                </a:solidFill>
              </a:rPr>
              <a:t>例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  <p:graphicFrame>
        <p:nvGraphicFramePr>
          <p:cNvPr id="3645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034146"/>
              </p:ext>
            </p:extLst>
          </p:nvPr>
        </p:nvGraphicFramePr>
        <p:xfrm>
          <a:off x="1008063" y="1700808"/>
          <a:ext cx="7488832" cy="1735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5" name="公式" r:id="rId4" imgW="8096154" imgH="1828710" progId="Equation.3">
                  <p:embed/>
                </p:oleObj>
              </mc:Choice>
              <mc:Fallback>
                <p:oleObj name="公式" r:id="rId4" imgW="8096154" imgH="18287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1700808"/>
                        <a:ext cx="7488832" cy="1735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2411760" y="2564904"/>
            <a:ext cx="2808312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接连接符 5"/>
          <p:cNvCxnSpPr/>
          <p:nvPr/>
        </p:nvCxnSpPr>
        <p:spPr bwMode="auto">
          <a:xfrm>
            <a:off x="1403648" y="3284984"/>
            <a:ext cx="1944216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4211960" y="2060848"/>
            <a:ext cx="2016224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5892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7" name="Text Box 3"/>
          <p:cNvSpPr txBox="1">
            <a:spLocks noChangeArrowheads="1"/>
          </p:cNvSpPr>
          <p:nvPr/>
        </p:nvSpPr>
        <p:spPr bwMode="auto">
          <a:xfrm>
            <a:off x="0" y="563487"/>
            <a:ext cx="1008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333399"/>
                </a:solidFill>
              </a:rPr>
              <a:t>例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  <p:graphicFrame>
        <p:nvGraphicFramePr>
          <p:cNvPr id="3645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448433"/>
              </p:ext>
            </p:extLst>
          </p:nvPr>
        </p:nvGraphicFramePr>
        <p:xfrm>
          <a:off x="755576" y="563487"/>
          <a:ext cx="7488832" cy="1735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21" name="公式" r:id="rId4" imgW="8096154" imgH="1828710" progId="Equation.3">
                  <p:embed/>
                </p:oleObj>
              </mc:Choice>
              <mc:Fallback>
                <p:oleObj name="公式" r:id="rId4" imgW="8096154" imgH="18287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563487"/>
                        <a:ext cx="7488832" cy="1735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85851"/>
              </p:ext>
            </p:extLst>
          </p:nvPr>
        </p:nvGraphicFramePr>
        <p:xfrm>
          <a:off x="341535" y="2270919"/>
          <a:ext cx="831691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22" name="公式" r:id="rId6" imgW="3638421" imgH="590490" progId="Equation.3">
                  <p:embed/>
                </p:oleObj>
              </mc:Choice>
              <mc:Fallback>
                <p:oleObj name="公式" r:id="rId6" imgW="3638421" imgH="5904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535" y="2270919"/>
                        <a:ext cx="8316913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50" name="Text Box 6"/>
          <p:cNvSpPr txBox="1">
            <a:spLocks noChangeArrowheads="1"/>
          </p:cNvSpPr>
          <p:nvPr/>
        </p:nvSpPr>
        <p:spPr bwMode="auto">
          <a:xfrm>
            <a:off x="374314" y="4147427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于是</a:t>
            </a:r>
          </a:p>
        </p:txBody>
      </p:sp>
      <p:graphicFrame>
        <p:nvGraphicFramePr>
          <p:cNvPr id="3645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4047"/>
              </p:ext>
            </p:extLst>
          </p:nvPr>
        </p:nvGraphicFramePr>
        <p:xfrm>
          <a:off x="1278732" y="4119705"/>
          <a:ext cx="4949452" cy="680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23" name="公式" r:id="rId8" imgW="7134211" imgH="923940" progId="Equation.3">
                  <p:embed/>
                </p:oleObj>
              </mc:Choice>
              <mc:Fallback>
                <p:oleObj name="公式" r:id="rId8" imgW="7134211" imgH="9239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732" y="4119705"/>
                        <a:ext cx="4949452" cy="680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814069"/>
              </p:ext>
            </p:extLst>
          </p:nvPr>
        </p:nvGraphicFramePr>
        <p:xfrm>
          <a:off x="6335688" y="4099444"/>
          <a:ext cx="2808312" cy="663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24" name="公式" r:id="rId10" imgW="4124390" imgH="923940" progId="Equation.3">
                  <p:embed/>
                </p:oleObj>
              </mc:Choice>
              <mc:Fallback>
                <p:oleObj name="公式" r:id="rId10" imgW="4124390" imgH="9239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688" y="4099444"/>
                        <a:ext cx="2808312" cy="663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53" name="Text Box 9"/>
          <p:cNvSpPr txBox="1">
            <a:spLocks noChangeArrowheads="1"/>
          </p:cNvSpPr>
          <p:nvPr/>
        </p:nvSpPr>
        <p:spPr bwMode="auto">
          <a:xfrm>
            <a:off x="737394" y="2159543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333399"/>
                </a:solidFill>
              </a:rPr>
              <a:t>解</a:t>
            </a: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195736" y="1412776"/>
            <a:ext cx="2808312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/>
          <p:cNvCxnSpPr/>
          <p:nvPr/>
        </p:nvCxnSpPr>
        <p:spPr bwMode="auto">
          <a:xfrm>
            <a:off x="1187624" y="2132856"/>
            <a:ext cx="1944216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>
            <a:off x="3995936" y="908720"/>
            <a:ext cx="2016224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矩形 1"/>
          <p:cNvSpPr/>
          <p:nvPr/>
        </p:nvSpPr>
        <p:spPr bwMode="auto">
          <a:xfrm>
            <a:off x="341535" y="2717226"/>
            <a:ext cx="6606729" cy="107181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444139"/>
              </p:ext>
            </p:extLst>
          </p:nvPr>
        </p:nvGraphicFramePr>
        <p:xfrm>
          <a:off x="853432" y="4919827"/>
          <a:ext cx="3336792" cy="707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25" name="公式" r:id="rId12" imgW="4610089" imgH="923940" progId="Equation.3">
                  <p:embed/>
                </p:oleObj>
              </mc:Choice>
              <mc:Fallback>
                <p:oleObj name="公式" r:id="rId12" imgW="4610089" imgH="9239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32" y="4919827"/>
                        <a:ext cx="3336792" cy="707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762122"/>
              </p:ext>
            </p:extLst>
          </p:nvPr>
        </p:nvGraphicFramePr>
        <p:xfrm>
          <a:off x="4355976" y="5112202"/>
          <a:ext cx="2736130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26" name="公式" r:id="rId14" imgW="3238624" imgH="323730" progId="Equation.3">
                  <p:embed/>
                </p:oleObj>
              </mc:Choice>
              <mc:Fallback>
                <p:oleObj name="公式" r:id="rId14" imgW="3238624" imgH="323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5112202"/>
                        <a:ext cx="2736130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171263"/>
              </p:ext>
            </p:extLst>
          </p:nvPr>
        </p:nvGraphicFramePr>
        <p:xfrm>
          <a:off x="538865" y="5797326"/>
          <a:ext cx="3652236" cy="351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27" name="公式" r:id="rId16" imgW="4419645" imgH="362070" progId="Equation.3">
                  <p:embed/>
                </p:oleObj>
              </mc:Choice>
              <mc:Fallback>
                <p:oleObj name="公式" r:id="rId16" imgW="4419645" imgH="3620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865" y="5797326"/>
                        <a:ext cx="3652236" cy="3517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87772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7" grpId="0" autoUpdateAnimBg="0"/>
      <p:bldP spid="364550" grpId="0" autoUpdateAnimBg="0"/>
      <p:bldP spid="36455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3" name="Rectangle 5"/>
          <p:cNvSpPr>
            <a:spLocks noChangeArrowheads="1"/>
          </p:cNvSpPr>
          <p:nvPr/>
        </p:nvSpPr>
        <p:spPr bwMode="auto">
          <a:xfrm>
            <a:off x="489543" y="1268760"/>
            <a:ext cx="8153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/>
              <a:t>例</a:t>
            </a:r>
            <a:r>
              <a:rPr lang="en-US" altLang="zh-CN" sz="2800" b="1" dirty="0"/>
              <a:t>2. (</a:t>
            </a:r>
            <a:r>
              <a:rPr lang="zh-CN" altLang="en-US" sz="2800" b="1" dirty="0"/>
              <a:t>供电问题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某车间</a:t>
            </a:r>
            <a:r>
              <a:rPr lang="zh-CN" altLang="en-US" sz="2800" b="1" dirty="0">
                <a:solidFill>
                  <a:srgbClr val="FF0000"/>
                </a:solidFill>
              </a:rPr>
              <a:t>有</a:t>
            </a:r>
            <a:r>
              <a:rPr lang="en-US" altLang="zh-CN" sz="2800" b="1" dirty="0">
                <a:solidFill>
                  <a:srgbClr val="FF0000"/>
                </a:solidFill>
              </a:rPr>
              <a:t>200</a:t>
            </a:r>
            <a:r>
              <a:rPr lang="zh-CN" altLang="en-US" sz="2800" b="1" dirty="0">
                <a:solidFill>
                  <a:srgbClr val="FF0000"/>
                </a:solidFill>
              </a:rPr>
              <a:t>台车床</a:t>
            </a:r>
            <a:r>
              <a:rPr lang="en-US" altLang="zh-CN" sz="2800" b="1" dirty="0">
                <a:solidFill>
                  <a:srgbClr val="FF0000"/>
                </a:solidFill>
              </a:rPr>
              <a:t>,</a:t>
            </a:r>
            <a:r>
              <a:rPr lang="zh-CN" altLang="en-US" sz="2800" b="1" dirty="0"/>
              <a:t>在生产期间由于需要检修、调换刀具、变换位置及调换工件等常需停车</a:t>
            </a:r>
            <a:r>
              <a:rPr lang="en-US" altLang="zh-CN" sz="2800" b="1" dirty="0"/>
              <a:t>.   </a:t>
            </a:r>
            <a:r>
              <a:rPr lang="zh-CN" altLang="en-US" sz="2800" b="1" dirty="0"/>
              <a:t>设</a:t>
            </a:r>
            <a:r>
              <a:rPr lang="zh-CN" altLang="en-US" sz="2800" b="1" dirty="0">
                <a:solidFill>
                  <a:srgbClr val="FF0000"/>
                </a:solidFill>
              </a:rPr>
              <a:t>开工率为</a:t>
            </a:r>
            <a:r>
              <a:rPr lang="en-US" altLang="zh-CN" sz="2800" b="1" dirty="0">
                <a:solidFill>
                  <a:srgbClr val="FF0000"/>
                </a:solidFill>
              </a:rPr>
              <a:t>0.6</a:t>
            </a:r>
            <a:r>
              <a:rPr lang="en-US" altLang="zh-CN" sz="2800" b="1" dirty="0"/>
              <a:t>,  </a:t>
            </a:r>
            <a:r>
              <a:rPr lang="zh-CN" altLang="en-US" sz="2800" b="1" dirty="0"/>
              <a:t>并设每台车床的工作是</a:t>
            </a:r>
            <a:r>
              <a:rPr lang="zh-CN" altLang="en-US" sz="2800" b="1" dirty="0">
                <a:solidFill>
                  <a:srgbClr val="FF0000"/>
                </a:solidFill>
              </a:rPr>
              <a:t>独立</a:t>
            </a:r>
            <a:r>
              <a:rPr lang="zh-CN" altLang="en-US" sz="2800" b="1" dirty="0"/>
              <a:t>的，且在开工时需</a:t>
            </a:r>
            <a:r>
              <a:rPr lang="zh-CN" altLang="en-US" sz="2800" b="1" dirty="0">
                <a:solidFill>
                  <a:srgbClr val="FF0000"/>
                </a:solidFill>
              </a:rPr>
              <a:t>电力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千瓦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65574" name="Rectangle 6"/>
          <p:cNvSpPr>
            <a:spLocks noChangeArrowheads="1"/>
          </p:cNvSpPr>
          <p:nvPr/>
        </p:nvSpPr>
        <p:spPr bwMode="auto">
          <a:xfrm>
            <a:off x="527643" y="3356992"/>
            <a:ext cx="8077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/>
              <a:t>问应供应</a:t>
            </a:r>
            <a:r>
              <a:rPr lang="zh-CN" altLang="en-US" sz="2800" b="1" dirty="0">
                <a:solidFill>
                  <a:srgbClr val="FF0000"/>
                </a:solidFill>
              </a:rPr>
              <a:t>多少瓦电力</a:t>
            </a:r>
            <a:r>
              <a:rPr lang="zh-CN" altLang="en-US" sz="2800" b="1" dirty="0"/>
              <a:t>就能</a:t>
            </a:r>
            <a:r>
              <a:rPr lang="zh-CN" altLang="en-US" sz="2800" b="1" dirty="0">
                <a:solidFill>
                  <a:srgbClr val="FF0000"/>
                </a:solidFill>
              </a:rPr>
              <a:t>以</a:t>
            </a:r>
            <a:r>
              <a:rPr lang="en-US" altLang="zh-CN" sz="2800" b="1" dirty="0">
                <a:solidFill>
                  <a:srgbClr val="FF0000"/>
                </a:solidFill>
              </a:rPr>
              <a:t>99.9%</a:t>
            </a:r>
            <a:r>
              <a:rPr lang="zh-CN" altLang="en-US" sz="2800" b="1" dirty="0">
                <a:solidFill>
                  <a:srgbClr val="FF0000"/>
                </a:solidFill>
              </a:rPr>
              <a:t>的概率</a:t>
            </a:r>
            <a:r>
              <a:rPr lang="zh-CN" altLang="en-US" sz="2800" b="1" dirty="0"/>
              <a:t>保证该车间不会因供电不足而影响生产</a:t>
            </a:r>
            <a:r>
              <a:rPr lang="en-US" altLang="zh-CN" sz="28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186694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3" grpId="0" autoUpdateAnimBg="0"/>
      <p:bldP spid="365574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ChangeArrowheads="1"/>
          </p:cNvSpPr>
          <p:nvPr/>
        </p:nvSpPr>
        <p:spPr bwMode="auto">
          <a:xfrm>
            <a:off x="571500" y="2428875"/>
            <a:ext cx="5857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用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表示在某时刻工作着的车床数，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-29357" y="571158"/>
            <a:ext cx="828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</a:t>
            </a:r>
            <a:r>
              <a:rPr lang="zh-CN" altLang="en-US" sz="2800" b="1" dirty="0">
                <a:solidFill>
                  <a:schemeClr val="accent2"/>
                </a:solidFill>
              </a:rPr>
              <a:t>解：对每台车床的观察作为一次试验，每次试验 </a:t>
            </a:r>
          </a:p>
        </p:txBody>
      </p:sp>
      <p:sp>
        <p:nvSpPr>
          <p:cNvPr id="366596" name="Rectangle 4"/>
          <p:cNvSpPr>
            <a:spLocks noChangeArrowheads="1"/>
          </p:cNvSpPr>
          <p:nvPr/>
        </p:nvSpPr>
        <p:spPr bwMode="auto">
          <a:xfrm>
            <a:off x="332582" y="1025977"/>
            <a:ext cx="835183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是观察该台车床在某时刻是否工作</a:t>
            </a:r>
            <a:r>
              <a:rPr lang="en-US" altLang="zh-CN" sz="2800" b="1" dirty="0">
                <a:solidFill>
                  <a:schemeClr val="accent2"/>
                </a:solidFill>
              </a:rPr>
              <a:t>,  </a:t>
            </a:r>
            <a:r>
              <a:rPr lang="zh-CN" altLang="en-US" sz="2800" b="1" dirty="0">
                <a:solidFill>
                  <a:srgbClr val="FF0000"/>
                </a:solidFill>
              </a:rPr>
              <a:t>工作的概率</a:t>
            </a:r>
            <a:r>
              <a:rPr lang="en-US" altLang="zh-CN" sz="2800" b="1" dirty="0">
                <a:solidFill>
                  <a:srgbClr val="FF0000"/>
                </a:solidFill>
              </a:rPr>
              <a:t>0.6  </a:t>
            </a:r>
            <a:r>
              <a:rPr lang="en-US" altLang="zh-CN" sz="2800" b="1" dirty="0">
                <a:solidFill>
                  <a:schemeClr val="accent2"/>
                </a:solidFill>
              </a:rPr>
              <a:t>,</a:t>
            </a:r>
            <a:r>
              <a:rPr lang="zh-CN" altLang="en-US" sz="2800" b="1" dirty="0">
                <a:solidFill>
                  <a:schemeClr val="accent2"/>
                </a:solidFill>
              </a:rPr>
              <a:t>共进行</a:t>
            </a:r>
            <a:r>
              <a:rPr lang="en-US" altLang="zh-CN" sz="2800" b="1" dirty="0">
                <a:solidFill>
                  <a:srgbClr val="FF0000"/>
                </a:solidFill>
              </a:rPr>
              <a:t>200</a:t>
            </a:r>
            <a:r>
              <a:rPr lang="zh-CN" altLang="en-US" sz="2800" b="1" dirty="0">
                <a:solidFill>
                  <a:srgbClr val="FF0000"/>
                </a:solidFill>
              </a:rPr>
              <a:t>次独立重复试验</a:t>
            </a:r>
            <a:r>
              <a:rPr lang="en-US" altLang="zh-CN" sz="28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366597" name="Rectangle 5"/>
          <p:cNvSpPr>
            <a:spLocks noChangeArrowheads="1"/>
          </p:cNvSpPr>
          <p:nvPr/>
        </p:nvSpPr>
        <p:spPr bwMode="auto">
          <a:xfrm>
            <a:off x="546100" y="3148013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依题意，</a:t>
            </a:r>
          </a:p>
        </p:txBody>
      </p:sp>
      <p:sp>
        <p:nvSpPr>
          <p:cNvPr id="366598" name="Rectangle 6"/>
          <p:cNvSpPr>
            <a:spLocks noChangeArrowheads="1"/>
          </p:cNvSpPr>
          <p:nvPr/>
        </p:nvSpPr>
        <p:spPr bwMode="auto">
          <a:xfrm>
            <a:off x="2665413" y="3143250"/>
            <a:ext cx="2176462" cy="519113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i="1">
                <a:solidFill>
                  <a:srgbClr val="333399"/>
                </a:solidFill>
              </a:rPr>
              <a:t>X</a:t>
            </a:r>
            <a:r>
              <a:rPr lang="en-US" altLang="zh-CN" sz="2800" b="1">
                <a:solidFill>
                  <a:srgbClr val="333399"/>
                </a:solidFill>
              </a:rPr>
              <a:t>~</a:t>
            </a:r>
            <a:r>
              <a:rPr lang="en-US" altLang="zh-CN" sz="2800" b="1" i="1">
                <a:solidFill>
                  <a:srgbClr val="333399"/>
                </a:solidFill>
              </a:rPr>
              <a:t>b</a:t>
            </a:r>
            <a:r>
              <a:rPr lang="en-US" altLang="zh-CN" sz="2800" b="1">
                <a:solidFill>
                  <a:srgbClr val="333399"/>
                </a:solidFill>
              </a:rPr>
              <a:t>(200,0.6),</a:t>
            </a:r>
          </a:p>
        </p:txBody>
      </p:sp>
      <p:sp>
        <p:nvSpPr>
          <p:cNvPr id="366599" name="Rectangle 7"/>
          <p:cNvSpPr>
            <a:spLocks noChangeArrowheads="1"/>
          </p:cNvSpPr>
          <p:nvPr/>
        </p:nvSpPr>
        <p:spPr bwMode="auto">
          <a:xfrm>
            <a:off x="3571875" y="3857625"/>
            <a:ext cx="2684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现在的问题是：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857375" y="4643438"/>
            <a:ext cx="4557713" cy="525462"/>
            <a:chOff x="672" y="1311"/>
            <a:chExt cx="2871" cy="331"/>
          </a:xfrm>
        </p:grpSpPr>
        <p:sp>
          <p:nvSpPr>
            <p:cNvPr id="51214" name="Text Box 9"/>
            <p:cNvSpPr txBox="1">
              <a:spLocks noChangeArrowheads="1"/>
            </p:cNvSpPr>
            <p:nvPr/>
          </p:nvSpPr>
          <p:spPr bwMode="auto">
            <a:xfrm>
              <a:off x="672" y="1315"/>
              <a:ext cx="19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i="1">
                  <a:solidFill>
                    <a:srgbClr val="333399"/>
                  </a:solidFill>
                </a:rPr>
                <a:t>P</a:t>
              </a:r>
              <a:r>
                <a:rPr lang="en-US" altLang="zh-CN" sz="2800" b="1">
                  <a:solidFill>
                    <a:srgbClr val="333399"/>
                  </a:solidFill>
                </a:rPr>
                <a:t>(</a:t>
              </a:r>
              <a:r>
                <a:rPr lang="en-US" altLang="zh-CN" sz="2800" b="1" i="1">
                  <a:solidFill>
                    <a:srgbClr val="333399"/>
                  </a:solidFill>
                </a:rPr>
                <a:t>X</a:t>
              </a:r>
              <a:r>
                <a:rPr lang="en-US" altLang="zh-CN" sz="2800" b="1">
                  <a:solidFill>
                    <a:srgbClr val="333399"/>
                  </a:solidFill>
                </a:rPr>
                <a:t>≤</a:t>
              </a:r>
              <a:r>
                <a:rPr lang="en-US" altLang="zh-CN" sz="2800" b="1" i="1">
                  <a:solidFill>
                    <a:srgbClr val="333399"/>
                  </a:solidFill>
                </a:rPr>
                <a:t>N</a:t>
              </a:r>
              <a:r>
                <a:rPr lang="en-US" altLang="zh-CN" sz="2800" b="1">
                  <a:solidFill>
                    <a:srgbClr val="333399"/>
                  </a:solidFill>
                </a:rPr>
                <a:t>)≥0.999</a:t>
              </a:r>
              <a:endParaRPr lang="en-US" altLang="zh-CN" sz="2800" b="1" baseline="30000">
                <a:solidFill>
                  <a:srgbClr val="333399"/>
                </a:solidFill>
              </a:endParaRPr>
            </a:p>
          </p:txBody>
        </p:sp>
        <p:sp>
          <p:nvSpPr>
            <p:cNvPr id="51215" name="Rectangle 10"/>
            <p:cNvSpPr>
              <a:spLocks noChangeArrowheads="1"/>
            </p:cNvSpPr>
            <p:nvPr/>
          </p:nvSpPr>
          <p:spPr bwMode="auto">
            <a:xfrm>
              <a:off x="2309" y="1311"/>
              <a:ext cx="12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</a:rPr>
                <a:t>的最小的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800" b="1">
                  <a:solidFill>
                    <a:schemeClr val="accent2"/>
                  </a:solidFill>
                </a:rPr>
                <a:t>.</a:t>
              </a:r>
            </a:p>
          </p:txBody>
        </p:sp>
      </p:grpSp>
      <p:sp>
        <p:nvSpPr>
          <p:cNvPr id="366603" name="Rectangle 11"/>
          <p:cNvSpPr>
            <a:spLocks noChangeArrowheads="1"/>
          </p:cNvSpPr>
          <p:nvPr/>
        </p:nvSpPr>
        <p:spPr bwMode="auto">
          <a:xfrm>
            <a:off x="542925" y="4649788"/>
            <a:ext cx="1255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求满足</a:t>
            </a:r>
          </a:p>
        </p:txBody>
      </p:sp>
      <p:sp>
        <p:nvSpPr>
          <p:cNvPr id="366604" name="Rectangle 12"/>
          <p:cNvSpPr>
            <a:spLocks noChangeArrowheads="1"/>
          </p:cNvSpPr>
          <p:nvPr/>
        </p:nvSpPr>
        <p:spPr bwMode="auto">
          <a:xfrm>
            <a:off x="664933" y="3855572"/>
            <a:ext cx="29690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333399"/>
                </a:solidFill>
              </a:rPr>
              <a:t>设</a:t>
            </a:r>
            <a:r>
              <a:rPr lang="zh-CN" altLang="en-US" sz="2800" b="1" dirty="0" smtClean="0">
                <a:solidFill>
                  <a:srgbClr val="333399"/>
                </a:solidFill>
              </a:rPr>
              <a:t>需供应</a:t>
            </a:r>
            <a:r>
              <a:rPr lang="en-US" altLang="zh-CN" sz="2800" b="1" i="1" dirty="0" smtClean="0">
                <a:solidFill>
                  <a:srgbClr val="333399"/>
                </a:solidFill>
              </a:rPr>
              <a:t>N</a:t>
            </a:r>
            <a:r>
              <a:rPr lang="zh-CN" altLang="en-US" sz="2800" b="1" dirty="0" smtClean="0">
                <a:solidFill>
                  <a:srgbClr val="333399"/>
                </a:solidFill>
              </a:rPr>
              <a:t>瓦力，</a:t>
            </a:r>
            <a:endParaRPr lang="zh-CN" altLang="en-US" sz="2800" b="1" dirty="0">
              <a:solidFill>
                <a:srgbClr val="33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540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6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4" grpId="0" autoUpdateAnimBg="0"/>
      <p:bldP spid="366596" grpId="0" autoUpdateAnimBg="0"/>
      <p:bldP spid="366597" grpId="0" autoUpdateAnimBg="0"/>
      <p:bldP spid="366598" grpId="0" animBg="1" autoUpdateAnimBg="0"/>
      <p:bldP spid="366599" grpId="0" autoUpdateAnimBg="0"/>
      <p:bldP spid="366603" grpId="0" autoUpdateAnimBg="0"/>
      <p:bldP spid="36660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ChangeArrowheads="1"/>
          </p:cNvSpPr>
          <p:nvPr/>
        </p:nvSpPr>
        <p:spPr bwMode="auto">
          <a:xfrm>
            <a:off x="632640" y="569879"/>
            <a:ext cx="5551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由棣莫佛</a:t>
            </a: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zh-CN" altLang="en-US" sz="2800" b="1" dirty="0">
                <a:solidFill>
                  <a:schemeClr val="accent2"/>
                </a:solidFill>
              </a:rPr>
              <a:t>拉普拉斯极限定理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143000" y="1143000"/>
            <a:ext cx="3603625" cy="1028700"/>
            <a:chOff x="576" y="720"/>
            <a:chExt cx="2270" cy="648"/>
          </a:xfrm>
        </p:grpSpPr>
        <p:graphicFrame>
          <p:nvGraphicFramePr>
            <p:cNvPr id="52237" name="Object 4"/>
            <p:cNvGraphicFramePr>
              <a:graphicFrameLocks noChangeAspect="1"/>
            </p:cNvGraphicFramePr>
            <p:nvPr/>
          </p:nvGraphicFramePr>
          <p:xfrm>
            <a:off x="576" y="720"/>
            <a:ext cx="1096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87" name="公式" r:id="rId4" imgW="685868" imgH="380970" progId="Equation.3">
                    <p:embed/>
                  </p:oleObj>
                </mc:Choice>
                <mc:Fallback>
                  <p:oleObj name="公式" r:id="rId4" imgW="685868" imgH="3809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720"/>
                          <a:ext cx="1096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8" name="Rectangle 5"/>
            <p:cNvSpPr>
              <a:spLocks noChangeArrowheads="1"/>
            </p:cNvSpPr>
            <p:nvPr/>
          </p:nvSpPr>
          <p:spPr bwMode="auto">
            <a:xfrm>
              <a:off x="1632" y="894"/>
              <a:ext cx="1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</a:rPr>
                <a:t>近似</a:t>
              </a:r>
              <a:r>
                <a:rPr lang="en-US" altLang="zh-CN" sz="2800" b="1" i="1">
                  <a:solidFill>
                    <a:srgbClr val="333399"/>
                  </a:solidFill>
                </a:rPr>
                <a:t>N</a:t>
              </a:r>
              <a:r>
                <a:rPr lang="en-US" altLang="zh-CN" sz="2800" b="1">
                  <a:solidFill>
                    <a:srgbClr val="333399"/>
                  </a:solidFill>
                </a:rPr>
                <a:t>(0,1)</a:t>
              </a:r>
              <a:r>
                <a:rPr lang="en-US" altLang="zh-CN" sz="2800" b="1">
                  <a:solidFill>
                    <a:srgbClr val="99FF66"/>
                  </a:solidFill>
                </a:rPr>
                <a:t>,</a:t>
              </a:r>
            </a:p>
          </p:txBody>
        </p:sp>
      </p:grpSp>
      <p:sp>
        <p:nvSpPr>
          <p:cNvPr id="367622" name="Text Box 6"/>
          <p:cNvSpPr txBox="1">
            <a:spLocks noChangeArrowheads="1"/>
          </p:cNvSpPr>
          <p:nvPr/>
        </p:nvSpPr>
        <p:spPr bwMode="auto">
          <a:xfrm>
            <a:off x="190500" y="2229203"/>
            <a:ext cx="525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于是 </a:t>
            </a:r>
            <a:r>
              <a:rPr lang="en-US" altLang="zh-CN" sz="2400" b="1" i="1" dirty="0">
                <a:solidFill>
                  <a:schemeClr val="accent2"/>
                </a:solidFill>
              </a:rPr>
              <a:t>P</a:t>
            </a:r>
            <a:r>
              <a:rPr lang="en-US" altLang="zh-CN" sz="2400" b="1" dirty="0">
                <a:solidFill>
                  <a:schemeClr val="accent2"/>
                </a:solidFill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</a:rPr>
              <a:t>X</a:t>
            </a:r>
            <a:r>
              <a:rPr lang="en-US" altLang="zh-CN" sz="2400" b="1" dirty="0">
                <a:solidFill>
                  <a:schemeClr val="accent2"/>
                </a:solidFill>
              </a:rPr>
              <a:t>≤</a:t>
            </a:r>
            <a:r>
              <a:rPr lang="en-US" altLang="zh-CN" sz="2400" b="1" i="1" dirty="0">
                <a:solidFill>
                  <a:schemeClr val="accent2"/>
                </a:solidFill>
              </a:rPr>
              <a:t>N</a:t>
            </a:r>
            <a:r>
              <a:rPr lang="en-US" altLang="zh-CN" sz="2400" b="1" dirty="0">
                <a:solidFill>
                  <a:schemeClr val="accent2"/>
                </a:solidFill>
              </a:rPr>
              <a:t>)= </a:t>
            </a:r>
            <a:r>
              <a:rPr lang="en-US" altLang="zh-CN" sz="2400" b="1" i="1" dirty="0">
                <a:solidFill>
                  <a:schemeClr val="accent2"/>
                </a:solidFill>
              </a:rPr>
              <a:t>P</a:t>
            </a:r>
            <a:r>
              <a:rPr lang="en-US" altLang="zh-CN" sz="2400" b="1" dirty="0">
                <a:solidFill>
                  <a:schemeClr val="accent2"/>
                </a:solidFill>
              </a:rPr>
              <a:t>(0≤</a:t>
            </a:r>
            <a:r>
              <a:rPr lang="en-US" altLang="zh-CN" sz="2400" b="1" i="1" dirty="0">
                <a:solidFill>
                  <a:schemeClr val="accent2"/>
                </a:solidFill>
              </a:rPr>
              <a:t>X</a:t>
            </a:r>
            <a:r>
              <a:rPr lang="en-US" altLang="zh-CN" sz="2400" b="1" dirty="0">
                <a:solidFill>
                  <a:schemeClr val="accent2"/>
                </a:solidFill>
              </a:rPr>
              <a:t>≤</a:t>
            </a:r>
            <a:r>
              <a:rPr lang="en-US" altLang="zh-CN" sz="2400" b="1" i="1" dirty="0">
                <a:solidFill>
                  <a:schemeClr val="accent2"/>
                </a:solidFill>
              </a:rPr>
              <a:t>N</a:t>
            </a:r>
            <a:r>
              <a:rPr lang="en-US" altLang="zh-CN" sz="2400" b="1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367623" name="AutoShape 7"/>
          <p:cNvSpPr>
            <a:spLocks noChangeArrowheads="1"/>
          </p:cNvSpPr>
          <p:nvPr/>
        </p:nvSpPr>
        <p:spPr bwMode="auto">
          <a:xfrm>
            <a:off x="6553200" y="685800"/>
            <a:ext cx="2336800" cy="1225550"/>
          </a:xfrm>
          <a:prstGeom prst="wedgeRoundRectCallout">
            <a:avLst>
              <a:gd name="adj1" fmla="val -131250"/>
              <a:gd name="adj2" fmla="val 37824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这里</a:t>
            </a:r>
            <a:r>
              <a:rPr lang="zh-CN" altLang="en-US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i="1" dirty="0">
                <a:solidFill>
                  <a:schemeClr val="accent2"/>
                </a:solidFill>
              </a:rPr>
              <a:t>np</a:t>
            </a:r>
            <a:r>
              <a:rPr lang="en-US" altLang="zh-CN" sz="2800" b="1" dirty="0">
                <a:solidFill>
                  <a:schemeClr val="accent2"/>
                </a:solidFill>
              </a:rPr>
              <a:t>=120,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800" b="1" i="1" dirty="0">
                <a:solidFill>
                  <a:schemeClr val="accent2"/>
                </a:solidFill>
              </a:rPr>
              <a:t>np</a:t>
            </a:r>
            <a:r>
              <a:rPr lang="en-US" altLang="zh-CN" sz="2800" b="1" dirty="0">
                <a:solidFill>
                  <a:schemeClr val="accent2"/>
                </a:solidFill>
              </a:rPr>
              <a:t>(1-</a:t>
            </a:r>
            <a:r>
              <a:rPr lang="en-US" altLang="zh-CN" sz="2800" b="1" i="1" dirty="0">
                <a:solidFill>
                  <a:schemeClr val="accent2"/>
                </a:solidFill>
              </a:rPr>
              <a:t>p</a:t>
            </a:r>
            <a:r>
              <a:rPr lang="en-US" altLang="zh-CN" sz="2800" b="1" dirty="0">
                <a:solidFill>
                  <a:schemeClr val="accent2"/>
                </a:solidFill>
              </a:rPr>
              <a:t>)=48</a:t>
            </a:r>
          </a:p>
        </p:txBody>
      </p:sp>
      <p:graphicFrame>
        <p:nvGraphicFramePr>
          <p:cNvPr id="3676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223066"/>
              </p:ext>
            </p:extLst>
          </p:nvPr>
        </p:nvGraphicFramePr>
        <p:xfrm>
          <a:off x="3563888" y="2100881"/>
          <a:ext cx="3243064" cy="82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88" name="公式" r:id="rId6" imgW="1571633" imgH="352350" progId="Equation.3">
                  <p:embed/>
                </p:oleObj>
              </mc:Choice>
              <mc:Fallback>
                <p:oleObj name="公式" r:id="rId6" imgW="1571633" imgH="352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2100881"/>
                        <a:ext cx="3243064" cy="82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335877"/>
              </p:ext>
            </p:extLst>
          </p:nvPr>
        </p:nvGraphicFramePr>
        <p:xfrm>
          <a:off x="6806952" y="2147369"/>
          <a:ext cx="1582459" cy="756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89" name="公式" r:id="rId8" imgW="809588" imgH="352350" progId="Equation.3">
                  <p:embed/>
                </p:oleObj>
              </mc:Choice>
              <mc:Fallback>
                <p:oleObj name="公式" r:id="rId8" imgW="809588" imgH="352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6952" y="2147369"/>
                        <a:ext cx="1582459" cy="756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647442"/>
              </p:ext>
            </p:extLst>
          </p:nvPr>
        </p:nvGraphicFramePr>
        <p:xfrm>
          <a:off x="377811" y="2852936"/>
          <a:ext cx="2612457" cy="714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90" name="公式" r:id="rId10" imgW="3200535" imgH="781110" progId="Equation.3">
                  <p:embed/>
                </p:oleObj>
              </mc:Choice>
              <mc:Fallback>
                <p:oleObj name="公式" r:id="rId10" imgW="3200535" imgH="7811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11" y="2852936"/>
                        <a:ext cx="2612457" cy="714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28" name="Rectangle 12"/>
          <p:cNvSpPr>
            <a:spLocks noChangeArrowheads="1"/>
          </p:cNvSpPr>
          <p:nvPr/>
        </p:nvSpPr>
        <p:spPr bwMode="auto">
          <a:xfrm>
            <a:off x="3106458" y="3036361"/>
            <a:ext cx="22765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solidFill>
                  <a:schemeClr val="accent2"/>
                </a:solidFill>
              </a:rPr>
              <a:t>查正态分布函数表得</a:t>
            </a:r>
          </a:p>
        </p:txBody>
      </p:sp>
      <p:graphicFrame>
        <p:nvGraphicFramePr>
          <p:cNvPr id="3676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275854"/>
              </p:ext>
            </p:extLst>
          </p:nvPr>
        </p:nvGraphicFramePr>
        <p:xfrm>
          <a:off x="5391865" y="3016977"/>
          <a:ext cx="1929320" cy="408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91" name="公式" r:id="rId12" imgW="885766" imgH="133380" progId="Equation.3">
                  <p:embed/>
                </p:oleObj>
              </mc:Choice>
              <mc:Fallback>
                <p:oleObj name="公式" r:id="rId12" imgW="885766" imgH="1333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865" y="3016977"/>
                        <a:ext cx="1929320" cy="408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916363" y="3762970"/>
            <a:ext cx="21852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chemeClr val="accent2"/>
                </a:solidFill>
              </a:rPr>
              <a:t>从中解得</a:t>
            </a:r>
            <a:r>
              <a:rPr lang="en-US" altLang="zh-CN" sz="2000" b="1" i="1">
                <a:solidFill>
                  <a:schemeClr val="accent2"/>
                </a:solidFill>
              </a:rPr>
              <a:t>N</a:t>
            </a:r>
            <a:r>
              <a:rPr lang="en-US" altLang="zh-CN" sz="2000" b="1">
                <a:solidFill>
                  <a:schemeClr val="accent2"/>
                </a:solidFill>
              </a:rPr>
              <a:t>≥141.5,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853507" y="4331205"/>
            <a:ext cx="2663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</a:rPr>
              <a:t>即所求</a:t>
            </a:r>
            <a:r>
              <a:rPr lang="en-US" altLang="zh-CN" sz="2000" b="1" i="1" dirty="0">
                <a:solidFill>
                  <a:srgbClr val="333399"/>
                </a:solidFill>
              </a:rPr>
              <a:t>N</a:t>
            </a:r>
            <a:r>
              <a:rPr lang="en-US" altLang="zh-CN" sz="2000" b="1" dirty="0">
                <a:solidFill>
                  <a:srgbClr val="333399"/>
                </a:solidFill>
              </a:rPr>
              <a:t>=142</a:t>
            </a:r>
            <a:r>
              <a:rPr lang="en-US" altLang="zh-CN" sz="20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23528" y="5036595"/>
            <a:ext cx="81375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chemeClr val="accent2"/>
                </a:solidFill>
              </a:rPr>
              <a:t>        </a:t>
            </a:r>
            <a:r>
              <a:rPr lang="zh-CN" altLang="en-US" sz="2000" b="1" dirty="0">
                <a:solidFill>
                  <a:schemeClr val="accent2"/>
                </a:solidFill>
              </a:rPr>
              <a:t>也就是说</a:t>
            </a:r>
            <a:r>
              <a:rPr lang="en-US" altLang="zh-CN" sz="2000" b="1" dirty="0">
                <a:solidFill>
                  <a:schemeClr val="accent2"/>
                </a:solidFill>
              </a:rPr>
              <a:t>, </a:t>
            </a:r>
            <a:r>
              <a:rPr lang="zh-CN" altLang="en-US" sz="2000" b="1" dirty="0">
                <a:solidFill>
                  <a:schemeClr val="accent2"/>
                </a:solidFill>
              </a:rPr>
              <a:t>应供应</a:t>
            </a:r>
            <a:r>
              <a:rPr lang="en-US" altLang="zh-CN" sz="2000" b="1" dirty="0">
                <a:solidFill>
                  <a:schemeClr val="accent2"/>
                </a:solidFill>
              </a:rPr>
              <a:t>142 </a:t>
            </a:r>
            <a:r>
              <a:rPr lang="zh-CN" altLang="en-US" sz="2000" b="1" dirty="0">
                <a:solidFill>
                  <a:schemeClr val="accent2"/>
                </a:solidFill>
              </a:rPr>
              <a:t>千瓦电力就能以</a:t>
            </a:r>
            <a:r>
              <a:rPr lang="en-US" altLang="zh-CN" sz="2000" b="1" dirty="0">
                <a:solidFill>
                  <a:schemeClr val="accent2"/>
                </a:solidFill>
              </a:rPr>
              <a:t>99.9%</a:t>
            </a:r>
            <a:r>
              <a:rPr lang="zh-CN" altLang="en-US" sz="2000" b="1" dirty="0">
                <a:solidFill>
                  <a:schemeClr val="accent2"/>
                </a:solidFill>
              </a:rPr>
              <a:t>的概率保证该车间不会因供电不足而影响生产</a:t>
            </a:r>
            <a:r>
              <a:rPr lang="en-US" altLang="zh-CN" sz="2000" b="1" dirty="0">
                <a:solidFill>
                  <a:schemeClr val="accent2"/>
                </a:solidFill>
              </a:rPr>
              <a:t>.</a:t>
            </a:r>
            <a:endParaRPr lang="en-US" altLang="zh-CN" sz="2000" b="1" baseline="30000" dirty="0">
              <a:solidFill>
                <a:schemeClr val="accent2"/>
              </a:solidFill>
            </a:endParaRPr>
          </a:p>
        </p:txBody>
      </p:sp>
      <p:grpSp>
        <p:nvGrpSpPr>
          <p:cNvPr id="16" name="Group 5"/>
          <p:cNvGrpSpPr>
            <a:grpSpLocks/>
          </p:cNvGrpSpPr>
          <p:nvPr/>
        </p:nvGrpSpPr>
        <p:grpSpPr bwMode="auto">
          <a:xfrm>
            <a:off x="676276" y="3612158"/>
            <a:ext cx="2490788" cy="825500"/>
            <a:chOff x="719" y="943"/>
            <a:chExt cx="1569" cy="520"/>
          </a:xfrm>
        </p:grpSpPr>
        <p:graphicFrame>
          <p:nvGraphicFramePr>
            <p:cNvPr id="1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7262606"/>
                </p:ext>
              </p:extLst>
            </p:nvPr>
          </p:nvGraphicFramePr>
          <p:xfrm>
            <a:off x="1084" y="943"/>
            <a:ext cx="69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92" name="公式" r:id="rId14" imgW="495424" imgH="352350" progId="Equation.3">
                    <p:embed/>
                  </p:oleObj>
                </mc:Choice>
                <mc:Fallback>
                  <p:oleObj name="公式" r:id="rId14" imgW="495424" imgH="3523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4" y="943"/>
                          <a:ext cx="692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1800" y="1057"/>
              <a:ext cx="4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>
                  <a:solidFill>
                    <a:schemeClr val="accent2"/>
                  </a:solidFill>
                </a:rPr>
                <a:t>≥ 3.1,</a:t>
              </a: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719" y="1064"/>
              <a:ext cx="27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>
                  <a:solidFill>
                    <a:schemeClr val="accent2"/>
                  </a:solidFill>
                </a:rPr>
                <a:t>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38031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7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7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7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7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8" grpId="0" autoUpdateAnimBg="0"/>
      <p:bldP spid="367622" grpId="0" autoUpdateAnimBg="0"/>
      <p:bldP spid="367623" grpId="0" animBg="1" autoUpdateAnimBg="0"/>
      <p:bldP spid="367628" grpId="0" autoUpdateAnimBg="0"/>
      <p:bldP spid="13" grpId="0" autoUpdateAnimBg="0"/>
      <p:bldP spid="14" grpId="0" autoUpdateAnimBg="0"/>
      <p:bldP spid="15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978785"/>
              </p:ext>
            </p:extLst>
          </p:nvPr>
        </p:nvGraphicFramePr>
        <p:xfrm>
          <a:off x="971600" y="1628800"/>
          <a:ext cx="6985272" cy="108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09" name="文档" r:id="rId3" imgW="7778301" imgH="1207123" progId="Word.Document.8">
                  <p:embed/>
                </p:oleObj>
              </mc:Choice>
              <mc:Fallback>
                <p:oleObj name="文档" r:id="rId3" imgW="7778301" imgH="12071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628800"/>
                        <a:ext cx="6985272" cy="1083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Rectangle 8"/>
          <p:cNvSpPr>
            <a:spLocks noChangeArrowheads="1"/>
          </p:cNvSpPr>
          <p:nvPr/>
        </p:nvSpPr>
        <p:spPr bwMode="auto">
          <a:xfrm>
            <a:off x="0" y="3186113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78" name="Rectangle 10"/>
          <p:cNvSpPr>
            <a:spLocks noChangeArrowheads="1"/>
          </p:cNvSpPr>
          <p:nvPr/>
        </p:nvSpPr>
        <p:spPr bwMode="auto">
          <a:xfrm>
            <a:off x="0" y="3338513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79" name="Rectangle 13"/>
          <p:cNvSpPr>
            <a:spLocks noChangeArrowheads="1"/>
          </p:cNvSpPr>
          <p:nvPr/>
        </p:nvSpPr>
        <p:spPr bwMode="auto">
          <a:xfrm>
            <a:off x="0" y="331470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0" name="Rectangle 15"/>
          <p:cNvSpPr>
            <a:spLocks noChangeArrowheads="1"/>
          </p:cNvSpPr>
          <p:nvPr/>
        </p:nvSpPr>
        <p:spPr bwMode="auto">
          <a:xfrm>
            <a:off x="0" y="3328988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1" name="Rectangle 17"/>
          <p:cNvSpPr>
            <a:spLocks noChangeArrowheads="1"/>
          </p:cNvSpPr>
          <p:nvPr/>
        </p:nvSpPr>
        <p:spPr bwMode="auto">
          <a:xfrm>
            <a:off x="0" y="3300413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2" name="Rectangle 19"/>
          <p:cNvSpPr>
            <a:spLocks noChangeArrowheads="1"/>
          </p:cNvSpPr>
          <p:nvPr/>
        </p:nvSpPr>
        <p:spPr bwMode="auto">
          <a:xfrm>
            <a:off x="0" y="3328988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3" name="Rectangle 21"/>
          <p:cNvSpPr>
            <a:spLocks noChangeArrowheads="1"/>
          </p:cNvSpPr>
          <p:nvPr/>
        </p:nvSpPr>
        <p:spPr bwMode="auto">
          <a:xfrm>
            <a:off x="0" y="3338513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7" name="Rectangle 29"/>
          <p:cNvSpPr>
            <a:spLocks noChangeArrowheads="1"/>
          </p:cNvSpPr>
          <p:nvPr/>
        </p:nvSpPr>
        <p:spPr bwMode="auto">
          <a:xfrm>
            <a:off x="0" y="316230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9" name="Rectangle 31"/>
          <p:cNvSpPr>
            <a:spLocks noChangeArrowheads="1"/>
          </p:cNvSpPr>
          <p:nvPr/>
        </p:nvSpPr>
        <p:spPr bwMode="auto">
          <a:xfrm>
            <a:off x="0" y="316230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91" name="Rectangle 33"/>
          <p:cNvSpPr>
            <a:spLocks noChangeArrowheads="1"/>
          </p:cNvSpPr>
          <p:nvPr/>
        </p:nvSpPr>
        <p:spPr bwMode="auto">
          <a:xfrm>
            <a:off x="0" y="316230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89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983275"/>
              </p:ext>
            </p:extLst>
          </p:nvPr>
        </p:nvGraphicFramePr>
        <p:xfrm>
          <a:off x="827088" y="527883"/>
          <a:ext cx="6985272" cy="108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10" name="文档" r:id="rId3" imgW="7778301" imgH="1207123" progId="Word.Document.8">
                  <p:embed/>
                </p:oleObj>
              </mc:Choice>
              <mc:Fallback>
                <p:oleObj name="文档" r:id="rId3" imgW="7778301" imgH="12071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27883"/>
                        <a:ext cx="6985272" cy="1083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25" name="Rectangle 5"/>
          <p:cNvSpPr>
            <a:spLocks noChangeArrowheads="1"/>
          </p:cNvSpPr>
          <p:nvPr/>
        </p:nvSpPr>
        <p:spPr bwMode="auto">
          <a:xfrm>
            <a:off x="827088" y="1743075"/>
            <a:ext cx="1165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解法</a:t>
            </a:r>
            <a:r>
              <a:rPr lang="en-US" altLang="zh-CN" sz="2800" b="1">
                <a:solidFill>
                  <a:schemeClr val="accent2"/>
                </a:solidFill>
              </a:rPr>
              <a:t>1 </a:t>
            </a:r>
          </a:p>
        </p:txBody>
      </p:sp>
      <p:sp>
        <p:nvSpPr>
          <p:cNvPr id="696326" name="Rectangle 6"/>
          <p:cNvSpPr>
            <a:spLocks noChangeArrowheads="1"/>
          </p:cNvSpPr>
          <p:nvPr/>
        </p:nvSpPr>
        <p:spPr bwMode="auto">
          <a:xfrm>
            <a:off x="2051050" y="1743075"/>
            <a:ext cx="5399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设</a:t>
            </a:r>
            <a:r>
              <a:rPr lang="en-US" altLang="zh-CN" sz="2800" b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为</a:t>
            </a:r>
            <a:r>
              <a:rPr lang="en-US" altLang="zh-CN" sz="2800" b="1">
                <a:solidFill>
                  <a:schemeClr val="accent2"/>
                </a:solidFill>
              </a:rPr>
              <a:t>10000</a:t>
            </a:r>
            <a:r>
              <a:rPr lang="zh-CN" altLang="en-US" sz="2800" b="1">
                <a:solidFill>
                  <a:schemeClr val="accent2"/>
                </a:solidFill>
              </a:rPr>
              <a:t>个新生儿中男孩个数 </a:t>
            </a:r>
          </a:p>
        </p:txBody>
      </p:sp>
      <p:sp>
        <p:nvSpPr>
          <p:cNvPr id="54277" name="Rectangle 8"/>
          <p:cNvSpPr>
            <a:spLocks noChangeArrowheads="1"/>
          </p:cNvSpPr>
          <p:nvPr/>
        </p:nvSpPr>
        <p:spPr bwMode="auto">
          <a:xfrm>
            <a:off x="0" y="3186113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78" name="Rectangle 10"/>
          <p:cNvSpPr>
            <a:spLocks noChangeArrowheads="1"/>
          </p:cNvSpPr>
          <p:nvPr/>
        </p:nvSpPr>
        <p:spPr bwMode="auto">
          <a:xfrm>
            <a:off x="0" y="3338513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79" name="Rectangle 13"/>
          <p:cNvSpPr>
            <a:spLocks noChangeArrowheads="1"/>
          </p:cNvSpPr>
          <p:nvPr/>
        </p:nvSpPr>
        <p:spPr bwMode="auto">
          <a:xfrm>
            <a:off x="0" y="331470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0" name="Rectangle 15"/>
          <p:cNvSpPr>
            <a:spLocks noChangeArrowheads="1"/>
          </p:cNvSpPr>
          <p:nvPr/>
        </p:nvSpPr>
        <p:spPr bwMode="auto">
          <a:xfrm>
            <a:off x="0" y="3328988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1" name="Rectangle 17"/>
          <p:cNvSpPr>
            <a:spLocks noChangeArrowheads="1"/>
          </p:cNvSpPr>
          <p:nvPr/>
        </p:nvSpPr>
        <p:spPr bwMode="auto">
          <a:xfrm>
            <a:off x="0" y="3300413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2" name="Rectangle 19"/>
          <p:cNvSpPr>
            <a:spLocks noChangeArrowheads="1"/>
          </p:cNvSpPr>
          <p:nvPr/>
        </p:nvSpPr>
        <p:spPr bwMode="auto">
          <a:xfrm>
            <a:off x="0" y="3328988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54283" name="Rectangle 21"/>
          <p:cNvSpPr>
            <a:spLocks noChangeArrowheads="1"/>
          </p:cNvSpPr>
          <p:nvPr/>
        </p:nvSpPr>
        <p:spPr bwMode="auto">
          <a:xfrm>
            <a:off x="0" y="3338513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696344" name="Rectangle 24"/>
          <p:cNvSpPr>
            <a:spLocks noChangeArrowheads="1"/>
          </p:cNvSpPr>
          <p:nvPr/>
        </p:nvSpPr>
        <p:spPr bwMode="auto">
          <a:xfrm>
            <a:off x="827088" y="2349500"/>
            <a:ext cx="6545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则</a:t>
            </a:r>
            <a:r>
              <a:rPr lang="en-US" altLang="zh-CN" sz="2800" b="1">
                <a:solidFill>
                  <a:srgbClr val="FF000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服从</a:t>
            </a:r>
            <a:r>
              <a:rPr lang="en-US" altLang="zh-CN" sz="2800" b="1">
                <a:solidFill>
                  <a:srgbClr val="FF0000"/>
                </a:solidFill>
              </a:rPr>
              <a:t>B(n,p)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，其中</a:t>
            </a:r>
            <a:r>
              <a:rPr lang="en-US" altLang="zh-CN" sz="2800" b="1">
                <a:solidFill>
                  <a:srgbClr val="FF0000"/>
                </a:solidFill>
              </a:rPr>
              <a:t>n=10000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p=0.515 </a:t>
            </a:r>
          </a:p>
        </p:txBody>
      </p:sp>
      <p:sp>
        <p:nvSpPr>
          <p:cNvPr id="696345" name="Rectangle 25"/>
          <p:cNvSpPr>
            <a:spLocks noChangeArrowheads="1"/>
          </p:cNvSpPr>
          <p:nvPr/>
        </p:nvSpPr>
        <p:spPr bwMode="auto">
          <a:xfrm>
            <a:off x="755650" y="3068638"/>
            <a:ext cx="7608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由德莫弗</a:t>
            </a:r>
            <a:r>
              <a:rPr lang="en-US" altLang="zh-CN" sz="2800" b="1">
                <a:solidFill>
                  <a:schemeClr val="accent2"/>
                </a:solidFill>
              </a:rPr>
              <a:t>-</a:t>
            </a:r>
            <a:r>
              <a:rPr lang="zh-CN" altLang="en-US" sz="2800" b="1">
                <a:solidFill>
                  <a:schemeClr val="accent2"/>
                </a:solidFill>
              </a:rPr>
              <a:t>拉普拉斯中心极限定理，所求概率为 </a:t>
            </a:r>
          </a:p>
        </p:txBody>
      </p:sp>
      <p:graphicFrame>
        <p:nvGraphicFramePr>
          <p:cNvPr id="696346" name="Object 3"/>
          <p:cNvGraphicFramePr>
            <a:graphicFrameLocks noChangeAspect="1"/>
          </p:cNvGraphicFramePr>
          <p:nvPr/>
        </p:nvGraphicFramePr>
        <p:xfrm>
          <a:off x="827088" y="3933825"/>
          <a:ext cx="16573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11" name="公式" r:id="rId6" imgW="825142" imgH="215806" progId="Equation.3">
                  <p:embed/>
                </p:oleObj>
              </mc:Choice>
              <mc:Fallback>
                <p:oleObj name="公式" r:id="rId6" imgW="825142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933825"/>
                        <a:ext cx="16573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7" name="Rectangle 29"/>
          <p:cNvSpPr>
            <a:spLocks noChangeArrowheads="1"/>
          </p:cNvSpPr>
          <p:nvPr/>
        </p:nvSpPr>
        <p:spPr bwMode="auto">
          <a:xfrm>
            <a:off x="0" y="316230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graphicFrame>
        <p:nvGraphicFramePr>
          <p:cNvPr id="696348" name="Object 4"/>
          <p:cNvGraphicFramePr>
            <a:graphicFrameLocks noChangeAspect="1"/>
          </p:cNvGraphicFramePr>
          <p:nvPr/>
        </p:nvGraphicFramePr>
        <p:xfrm>
          <a:off x="2555875" y="3644900"/>
          <a:ext cx="403225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12" name="公式" r:id="rId8" imgW="1943100" imgH="533400" progId="Equation.3">
                  <p:embed/>
                </p:oleObj>
              </mc:Choice>
              <mc:Fallback>
                <p:oleObj name="公式" r:id="rId8" imgW="19431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644900"/>
                        <a:ext cx="4032250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9" name="Rectangle 31"/>
          <p:cNvSpPr>
            <a:spLocks noChangeArrowheads="1"/>
          </p:cNvSpPr>
          <p:nvPr/>
        </p:nvSpPr>
        <p:spPr bwMode="auto">
          <a:xfrm>
            <a:off x="0" y="316230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graphicFrame>
        <p:nvGraphicFramePr>
          <p:cNvPr id="696350" name="Object 5"/>
          <p:cNvGraphicFramePr>
            <a:graphicFrameLocks noChangeAspect="1"/>
          </p:cNvGraphicFramePr>
          <p:nvPr/>
        </p:nvGraphicFramePr>
        <p:xfrm>
          <a:off x="611188" y="4941888"/>
          <a:ext cx="223202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13" name="公式" r:id="rId10" imgW="1117115" imgH="533169" progId="Equation.3">
                  <p:embed/>
                </p:oleObj>
              </mc:Choice>
              <mc:Fallback>
                <p:oleObj name="公式" r:id="rId10" imgW="1117115" imgH="5331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941888"/>
                        <a:ext cx="2232025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1" name="Rectangle 33"/>
          <p:cNvSpPr>
            <a:spLocks noChangeArrowheads="1"/>
          </p:cNvSpPr>
          <p:nvPr/>
        </p:nvSpPr>
        <p:spPr bwMode="auto">
          <a:xfrm>
            <a:off x="0" y="316230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graphicFrame>
        <p:nvGraphicFramePr>
          <p:cNvPr id="696352" name="Object 6"/>
          <p:cNvGraphicFramePr>
            <a:graphicFrameLocks noChangeAspect="1"/>
          </p:cNvGraphicFramePr>
          <p:nvPr/>
        </p:nvGraphicFramePr>
        <p:xfrm>
          <a:off x="2843213" y="5013325"/>
          <a:ext cx="5761037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14" name="公式" r:id="rId12" imgW="3327400" imgH="533400" progId="Equation.3">
                  <p:embed/>
                </p:oleObj>
              </mc:Choice>
              <mc:Fallback>
                <p:oleObj name="公式" r:id="rId12" imgW="33274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013325"/>
                        <a:ext cx="5761037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687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6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6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6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6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6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6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6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6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96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96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5" grpId="0"/>
      <p:bldP spid="696326" grpId="0"/>
      <p:bldP spid="696344" grpId="0"/>
      <p:bldP spid="69634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8372" name="Object 2"/>
          <p:cNvGraphicFramePr>
            <a:graphicFrameLocks noChangeAspect="1"/>
          </p:cNvGraphicFramePr>
          <p:nvPr/>
        </p:nvGraphicFramePr>
        <p:xfrm>
          <a:off x="1258888" y="1052513"/>
          <a:ext cx="287972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86" name="公式" r:id="rId3" imgW="1473200" imgH="482600" progId="Equation.3">
                  <p:embed/>
                </p:oleObj>
              </mc:Choice>
              <mc:Fallback>
                <p:oleObj name="公式" r:id="rId3" imgW="1473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052513"/>
                        <a:ext cx="2879725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3" name="Object 3"/>
          <p:cNvGraphicFramePr>
            <a:graphicFrameLocks noChangeAspect="1"/>
          </p:cNvGraphicFramePr>
          <p:nvPr/>
        </p:nvGraphicFramePr>
        <p:xfrm>
          <a:off x="4427538" y="1196975"/>
          <a:ext cx="259238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87" name="公式" r:id="rId5" imgW="1142504" imgH="177723" progId="Equation.3">
                  <p:embed/>
                </p:oleObj>
              </mc:Choice>
              <mc:Fallback>
                <p:oleObj name="公式" r:id="rId5" imgW="1142504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196975"/>
                        <a:ext cx="2592387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4" name="Object 4"/>
          <p:cNvGraphicFramePr>
            <a:graphicFrameLocks noChangeAspect="1"/>
          </p:cNvGraphicFramePr>
          <p:nvPr/>
        </p:nvGraphicFramePr>
        <p:xfrm>
          <a:off x="755650" y="1989138"/>
          <a:ext cx="60706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88" name="文档" r:id="rId7" imgW="6070746" imgH="792028" progId="Word.Document.8">
                  <p:embed/>
                </p:oleObj>
              </mc:Choice>
              <mc:Fallback>
                <p:oleObj name="文档" r:id="rId7" imgW="6070746" imgH="7920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989138"/>
                        <a:ext cx="60706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5" name="Object 5"/>
          <p:cNvGraphicFramePr>
            <a:graphicFrameLocks noChangeAspect="1"/>
          </p:cNvGraphicFramePr>
          <p:nvPr/>
        </p:nvGraphicFramePr>
        <p:xfrm>
          <a:off x="827088" y="2852738"/>
          <a:ext cx="151288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89" name="公式" r:id="rId9" imgW="698500" imgH="228600" progId="Equation.3">
                  <p:embed/>
                </p:oleObj>
              </mc:Choice>
              <mc:Fallback>
                <p:oleObj name="公式" r:id="rId9" imgW="698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852738"/>
                        <a:ext cx="1512887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6" name="Object 6"/>
          <p:cNvGraphicFramePr>
            <a:graphicFrameLocks noChangeAspect="1"/>
          </p:cNvGraphicFramePr>
          <p:nvPr/>
        </p:nvGraphicFramePr>
        <p:xfrm>
          <a:off x="2339975" y="2924175"/>
          <a:ext cx="48958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0" name="公式" r:id="rId11" imgW="2120900" imgH="203200" progId="Equation.3">
                  <p:embed/>
                </p:oleObj>
              </mc:Choice>
              <mc:Fallback>
                <p:oleObj name="公式" r:id="rId11" imgW="21209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924175"/>
                        <a:ext cx="48958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7" name="Object 7"/>
          <p:cNvGraphicFramePr>
            <a:graphicFrameLocks noChangeAspect="1"/>
          </p:cNvGraphicFramePr>
          <p:nvPr/>
        </p:nvGraphicFramePr>
        <p:xfrm>
          <a:off x="827088" y="3500438"/>
          <a:ext cx="38893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1" name="公式" r:id="rId13" imgW="2057400" imgH="254000" progId="Equation.3">
                  <p:embed/>
                </p:oleObj>
              </mc:Choice>
              <mc:Fallback>
                <p:oleObj name="公式" r:id="rId13" imgW="20574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00438"/>
                        <a:ext cx="38893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8" name="Object 8"/>
          <p:cNvGraphicFramePr>
            <a:graphicFrameLocks noChangeAspect="1"/>
          </p:cNvGraphicFramePr>
          <p:nvPr/>
        </p:nvGraphicFramePr>
        <p:xfrm>
          <a:off x="4716463" y="3573463"/>
          <a:ext cx="251936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2" name="公式" r:id="rId15" imgW="1282700" imgH="203200" progId="Equation.3">
                  <p:embed/>
                </p:oleObj>
              </mc:Choice>
              <mc:Fallback>
                <p:oleObj name="公式" r:id="rId15" imgW="12827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573463"/>
                        <a:ext cx="2519362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9" name="Object 9"/>
          <p:cNvGraphicFramePr>
            <a:graphicFrameLocks noChangeAspect="1"/>
          </p:cNvGraphicFramePr>
          <p:nvPr/>
        </p:nvGraphicFramePr>
        <p:xfrm>
          <a:off x="7308850" y="3573463"/>
          <a:ext cx="1479550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3" name="公式" r:id="rId17" imgW="736280" imgH="177723" progId="Equation.3">
                  <p:embed/>
                </p:oleObj>
              </mc:Choice>
              <mc:Fallback>
                <p:oleObj name="公式" r:id="rId17" imgW="736280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3573463"/>
                        <a:ext cx="1479550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8380" name="Rectangle 12"/>
          <p:cNvSpPr>
            <a:spLocks noChangeArrowheads="1"/>
          </p:cNvSpPr>
          <p:nvPr/>
        </p:nvSpPr>
        <p:spPr bwMode="auto">
          <a:xfrm>
            <a:off x="1633538" y="563090"/>
            <a:ext cx="4657044" cy="461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/>
              <a:t>设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为</a:t>
            </a:r>
            <a:r>
              <a:rPr lang="en-US" altLang="zh-CN" sz="2400" b="1" dirty="0"/>
              <a:t>10000</a:t>
            </a:r>
            <a:r>
              <a:rPr lang="zh-CN" altLang="en-US" sz="2400" b="1" dirty="0"/>
              <a:t>个新生儿中男孩个数 </a:t>
            </a:r>
          </a:p>
        </p:txBody>
      </p:sp>
      <p:sp>
        <p:nvSpPr>
          <p:cNvPr id="698381" name="Rectangle 13"/>
          <p:cNvSpPr>
            <a:spLocks noChangeArrowheads="1"/>
          </p:cNvSpPr>
          <p:nvPr/>
        </p:nvSpPr>
        <p:spPr bwMode="auto">
          <a:xfrm>
            <a:off x="611188" y="4076700"/>
            <a:ext cx="4602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</a:rPr>
              <a:t>则女孩不少于男孩的概率为 </a:t>
            </a:r>
          </a:p>
        </p:txBody>
      </p:sp>
      <p:sp>
        <p:nvSpPr>
          <p:cNvPr id="55308" name="Rectangle 15"/>
          <p:cNvSpPr>
            <a:spLocks noChangeArrowheads="1"/>
          </p:cNvSpPr>
          <p:nvPr/>
        </p:nvSpPr>
        <p:spPr bwMode="auto">
          <a:xfrm>
            <a:off x="0" y="3319463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accent2"/>
              </a:solidFill>
            </a:endParaRPr>
          </a:p>
        </p:txBody>
      </p:sp>
      <p:graphicFrame>
        <p:nvGraphicFramePr>
          <p:cNvPr id="6983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592608"/>
              </p:ext>
            </p:extLst>
          </p:nvPr>
        </p:nvGraphicFramePr>
        <p:xfrm>
          <a:off x="900113" y="4797425"/>
          <a:ext cx="1655663" cy="43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4" name="公式" r:id="rId20" imgW="825142" imgH="215806" progId="Equation.3">
                  <p:embed/>
                </p:oleObj>
              </mc:Choice>
              <mc:Fallback>
                <p:oleObj name="公式" r:id="rId20" imgW="825142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797425"/>
                        <a:ext cx="1655663" cy="438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8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349980"/>
              </p:ext>
            </p:extLst>
          </p:nvPr>
        </p:nvGraphicFramePr>
        <p:xfrm>
          <a:off x="2555776" y="4640014"/>
          <a:ext cx="4609107" cy="73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5" name="公式" r:id="rId22" imgW="3035300" imgH="482600" progId="Equation.3">
                  <p:embed/>
                </p:oleObj>
              </mc:Choice>
              <mc:Fallback>
                <p:oleObj name="公式" r:id="rId22" imgW="3035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640014"/>
                        <a:ext cx="4609107" cy="73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8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449552"/>
              </p:ext>
            </p:extLst>
          </p:nvPr>
        </p:nvGraphicFramePr>
        <p:xfrm>
          <a:off x="977622" y="5415503"/>
          <a:ext cx="4607991" cy="773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0" name="公式" r:id="rId24" imgW="2895600" imgH="482600" progId="Equation.3">
                  <p:embed/>
                </p:oleObj>
              </mc:Choice>
              <mc:Fallback>
                <p:oleObj name="公式" r:id="rId24" imgW="28956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622" y="5415503"/>
                        <a:ext cx="4607991" cy="773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2" name="Rectangle 20"/>
          <p:cNvSpPr>
            <a:spLocks noChangeArrowheads="1"/>
          </p:cNvSpPr>
          <p:nvPr/>
        </p:nvSpPr>
        <p:spPr bwMode="auto">
          <a:xfrm>
            <a:off x="395010" y="569119"/>
            <a:ext cx="1165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1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解法</a:t>
            </a:r>
            <a:r>
              <a:rPr lang="en-US" altLang="zh-CN" sz="2800" b="1" dirty="0">
                <a:solidFill>
                  <a:schemeClr val="accent2"/>
                </a:solidFill>
              </a:rPr>
              <a:t>2 </a:t>
            </a:r>
          </a:p>
        </p:txBody>
      </p:sp>
    </p:spTree>
    <p:extLst>
      <p:ext uri="{BB962C8B-B14F-4D97-AF65-F5344CB8AC3E}">
        <p14:creationId xmlns:p14="http://schemas.microsoft.com/office/powerpoint/2010/main" val="347828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8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8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8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8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8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8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98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98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98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98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98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98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98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98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98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98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80" grpId="0"/>
      <p:bldP spid="69838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508000" y="-9826"/>
            <a:ext cx="18732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00"/>
                </a:solidFill>
                <a:ea typeface="黑体" panose="02010609060101010101" pitchFamily="49" charset="-122"/>
              </a:rPr>
              <a:t>四、小结</a:t>
            </a:r>
          </a:p>
        </p:txBody>
      </p:sp>
      <p:sp>
        <p:nvSpPr>
          <p:cNvPr id="372739" name="Text Box 3"/>
          <p:cNvSpPr txBox="1">
            <a:spLocks noChangeArrowheads="1"/>
          </p:cNvSpPr>
          <p:nvPr/>
        </p:nvSpPr>
        <p:spPr bwMode="auto">
          <a:xfrm>
            <a:off x="681038" y="1577975"/>
            <a:ext cx="593725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中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心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极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限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定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理</a:t>
            </a:r>
          </a:p>
        </p:txBody>
      </p:sp>
      <p:graphicFrame>
        <p:nvGraphicFramePr>
          <p:cNvPr id="372740" name="Object 4"/>
          <p:cNvGraphicFramePr>
            <a:graphicFrameLocks noChangeAspect="1"/>
          </p:cNvGraphicFramePr>
          <p:nvPr/>
        </p:nvGraphicFramePr>
        <p:xfrm>
          <a:off x="1905000" y="1143000"/>
          <a:ext cx="2184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50" name="公式" r:id="rId4" imgW="2114601" imgH="876420" progId="Equation.3">
                  <p:embed/>
                </p:oleObj>
              </mc:Choice>
              <mc:Fallback>
                <p:oleObj name="公式" r:id="rId4" imgW="2114601" imgH="8764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143000"/>
                        <a:ext cx="2184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2741" name="Object 5"/>
          <p:cNvGraphicFramePr>
            <a:graphicFrameLocks noChangeAspect="1"/>
          </p:cNvGraphicFramePr>
          <p:nvPr/>
        </p:nvGraphicFramePr>
        <p:xfrm>
          <a:off x="1760538" y="2786063"/>
          <a:ext cx="3149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51" name="公式" r:id="rId6" imgW="3085999" imgH="885870" progId="Equation.3">
                  <p:embed/>
                </p:oleObj>
              </mc:Choice>
              <mc:Fallback>
                <p:oleObj name="公式" r:id="rId6" imgW="3085999" imgH="8858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2786063"/>
                        <a:ext cx="31496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2742" name="Object 6"/>
          <p:cNvGraphicFramePr>
            <a:graphicFrameLocks noChangeAspect="1"/>
          </p:cNvGraphicFramePr>
          <p:nvPr/>
        </p:nvGraphicFramePr>
        <p:xfrm>
          <a:off x="4279900" y="1003300"/>
          <a:ext cx="39116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52" name="公式" r:id="rId8" imgW="3848044" imgH="1238220" progId="Equation.3">
                  <p:embed/>
                </p:oleObj>
              </mc:Choice>
              <mc:Fallback>
                <p:oleObj name="公式" r:id="rId8" imgW="3848044" imgH="12382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1003300"/>
                        <a:ext cx="39116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27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772715"/>
              </p:ext>
            </p:extLst>
          </p:nvPr>
        </p:nvGraphicFramePr>
        <p:xfrm>
          <a:off x="4713288" y="2659063"/>
          <a:ext cx="41783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53" name="Equation" r:id="rId10" imgW="4114935" imgH="990630" progId="Equation.DSMT4">
                  <p:embed/>
                </p:oleObj>
              </mc:Choice>
              <mc:Fallback>
                <p:oleObj name="Equation" r:id="rId10" imgW="4114935" imgH="9906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288" y="2659063"/>
                        <a:ext cx="41783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2744" name="Object 8"/>
          <p:cNvGraphicFramePr>
            <a:graphicFrameLocks noChangeAspect="1"/>
          </p:cNvGraphicFramePr>
          <p:nvPr/>
        </p:nvGraphicFramePr>
        <p:xfrm>
          <a:off x="1879600" y="4243388"/>
          <a:ext cx="2184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54" name="公式" r:id="rId12" imgW="2114601" imgH="857250" progId="Equation.3">
                  <p:embed/>
                </p:oleObj>
              </mc:Choice>
              <mc:Fallback>
                <p:oleObj name="公式" r:id="rId12" imgW="2114601" imgH="8572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4243388"/>
                        <a:ext cx="2184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2745" name="Object 9"/>
          <p:cNvGraphicFramePr>
            <a:graphicFrameLocks noChangeAspect="1"/>
          </p:cNvGraphicFramePr>
          <p:nvPr/>
        </p:nvGraphicFramePr>
        <p:xfrm>
          <a:off x="4352925" y="4060825"/>
          <a:ext cx="41656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55" name="公式" r:id="rId14" imgW="4095756" imgH="1266840" progId="Equation.3">
                  <p:embed/>
                </p:oleObj>
              </mc:Choice>
              <mc:Fallback>
                <p:oleObj name="公式" r:id="rId14" imgW="4095756" imgH="1266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5" y="4060825"/>
                        <a:ext cx="41656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2746" name="Object 10"/>
          <p:cNvGraphicFramePr>
            <a:graphicFrameLocks noChangeAspect="1"/>
          </p:cNvGraphicFramePr>
          <p:nvPr/>
        </p:nvGraphicFramePr>
        <p:xfrm>
          <a:off x="1544638" y="1362075"/>
          <a:ext cx="381000" cy="364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56" name="公式" r:id="rId16" imgW="314435" imgH="3581280" progId="Equation.3">
                  <p:embed/>
                </p:oleObj>
              </mc:Choice>
              <mc:Fallback>
                <p:oleObj name="公式" r:id="rId16" imgW="314435" imgH="3581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638" y="1362075"/>
                        <a:ext cx="381000" cy="364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2747" name="Text Box 11"/>
          <p:cNvSpPr txBox="1">
            <a:spLocks noChangeArrowheads="1"/>
          </p:cNvSpPr>
          <p:nvPr/>
        </p:nvSpPr>
        <p:spPr bwMode="auto">
          <a:xfrm>
            <a:off x="752475" y="5538788"/>
            <a:ext cx="593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333399"/>
                </a:solidFill>
              </a:rPr>
              <a:t>注</a:t>
            </a:r>
          </a:p>
        </p:txBody>
      </p:sp>
      <p:graphicFrame>
        <p:nvGraphicFramePr>
          <p:cNvPr id="372748" name="Object 12"/>
          <p:cNvGraphicFramePr>
            <a:graphicFrameLocks noChangeAspect="1"/>
          </p:cNvGraphicFramePr>
          <p:nvPr/>
        </p:nvGraphicFramePr>
        <p:xfrm>
          <a:off x="1444625" y="5686425"/>
          <a:ext cx="502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57" name="公式" r:id="rId18" imgW="4962612" imgH="362070" progId="Equation.3">
                  <p:embed/>
                </p:oleObj>
              </mc:Choice>
              <mc:Fallback>
                <p:oleObj name="公式" r:id="rId18" imgW="4962612" imgH="3620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5686425"/>
                        <a:ext cx="5029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/>
          <p:cNvCxnSpPr/>
          <p:nvPr/>
        </p:nvCxnSpPr>
        <p:spPr bwMode="auto">
          <a:xfrm>
            <a:off x="1619672" y="2383408"/>
            <a:ext cx="7524328" cy="37480"/>
          </a:xfrm>
          <a:prstGeom prst="lin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/>
        </p:spPr>
      </p:cxnSp>
      <p:cxnSp>
        <p:nvCxnSpPr>
          <p:cNvPr id="17" name="直接连接符 16"/>
          <p:cNvCxnSpPr/>
          <p:nvPr/>
        </p:nvCxnSpPr>
        <p:spPr bwMode="auto">
          <a:xfrm>
            <a:off x="1619672" y="3823568"/>
            <a:ext cx="7488832" cy="37480"/>
          </a:xfrm>
          <a:prstGeom prst="lin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/>
        </p:spPr>
      </p:cxnSp>
      <p:sp>
        <p:nvSpPr>
          <p:cNvPr id="2" name="圆角矩形 1"/>
          <p:cNvSpPr/>
          <p:nvPr/>
        </p:nvSpPr>
        <p:spPr bwMode="auto">
          <a:xfrm>
            <a:off x="4910138" y="1484784"/>
            <a:ext cx="813990" cy="8266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5313573" y="3332733"/>
            <a:ext cx="482563" cy="3528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圆角矩形 17"/>
          <p:cNvSpPr/>
          <p:nvPr/>
        </p:nvSpPr>
        <p:spPr bwMode="auto">
          <a:xfrm>
            <a:off x="4947094" y="4601841"/>
            <a:ext cx="813990" cy="8266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0586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2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2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7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7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7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autoUpdateAnimBg="0"/>
      <p:bldP spid="372747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3" name="Rectangle 3"/>
          <p:cNvSpPr>
            <a:spLocks noChangeArrowheads="1"/>
          </p:cNvSpPr>
          <p:nvPr/>
        </p:nvSpPr>
        <p:spPr bwMode="auto">
          <a:xfrm>
            <a:off x="312738" y="3044825"/>
            <a:ext cx="8077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     </a:t>
            </a:r>
            <a:r>
              <a:rPr lang="zh-CN" altLang="en-US" sz="2800">
                <a:solidFill>
                  <a:schemeClr val="accent2"/>
                </a:solidFill>
              </a:rPr>
              <a:t>在后面的课程中，我们还将经常用到中心极限定理</a:t>
            </a:r>
            <a:r>
              <a:rPr lang="en-US" altLang="zh-CN" sz="280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373764" name="Rectangle 4"/>
          <p:cNvSpPr>
            <a:spLocks noChangeArrowheads="1"/>
          </p:cNvSpPr>
          <p:nvPr/>
        </p:nvSpPr>
        <p:spPr bwMode="auto">
          <a:xfrm>
            <a:off x="428625" y="785813"/>
            <a:ext cx="8229600" cy="214312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        </a:t>
            </a:r>
            <a:r>
              <a:rPr lang="zh-CN" altLang="en-US" sz="2800" b="1">
                <a:solidFill>
                  <a:srgbClr val="FF0000"/>
                </a:solidFill>
              </a:rPr>
              <a:t>中心极限定理是概率论中最著名的结果之一</a:t>
            </a:r>
            <a:r>
              <a:rPr lang="zh-CN" altLang="en-US" sz="2800">
                <a:solidFill>
                  <a:schemeClr val="accent2"/>
                </a:solidFill>
              </a:rPr>
              <a:t>，它不仅提供了计算独立随机变量之和的近似概率的简单方法，而且有助于解释</a:t>
            </a:r>
            <a:r>
              <a:rPr lang="zh-CN" altLang="en-US" sz="2800">
                <a:solidFill>
                  <a:schemeClr val="tx2"/>
                </a:solidFill>
              </a:rPr>
              <a:t>为什么很多自然群体的经验频率呈现出钟形曲线</a:t>
            </a:r>
            <a:r>
              <a:rPr lang="zh-CN" altLang="en-US" sz="2800">
                <a:solidFill>
                  <a:schemeClr val="accent2"/>
                </a:solidFill>
              </a:rPr>
              <a:t>这一值得注意的事实</a:t>
            </a:r>
            <a:r>
              <a:rPr lang="en-US" altLang="zh-CN" sz="280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373765" name="Picture 5" descr="直方图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2024A"/>
              </a:clrFrom>
              <a:clrTo>
                <a:srgbClr val="02024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88" y="3725863"/>
            <a:ext cx="3016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94492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7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3" grpId="0" autoUpdateAnimBg="0"/>
      <p:bldP spid="373764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869983"/>
              </p:ext>
            </p:extLst>
          </p:nvPr>
        </p:nvGraphicFramePr>
        <p:xfrm>
          <a:off x="28394" y="741293"/>
          <a:ext cx="5586016" cy="16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86" name="公式" r:id="rId3" imgW="8039100" imgH="2362200" progId="Equation.3">
                  <p:embed/>
                </p:oleObj>
              </mc:Choice>
              <mc:Fallback>
                <p:oleObj name="公式" r:id="rId3" imgW="8039100" imgH="236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94" y="741293"/>
                        <a:ext cx="5586016" cy="16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1" name="Text Box 2"/>
          <p:cNvSpPr txBox="1">
            <a:spLocks noChangeArrowheads="1"/>
          </p:cNvSpPr>
          <p:nvPr/>
        </p:nvSpPr>
        <p:spPr bwMode="auto">
          <a:xfrm>
            <a:off x="179512" y="77081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endParaRPr lang="zh-CN" altLang="en-US" sz="28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58372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258175" y="6143625"/>
            <a:ext cx="457200" cy="4572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58375" name="矩形 1"/>
          <p:cNvSpPr>
            <a:spLocks noChangeArrowheads="1"/>
          </p:cNvSpPr>
          <p:nvPr/>
        </p:nvSpPr>
        <p:spPr bwMode="auto">
          <a:xfrm>
            <a:off x="3441242" y="23591"/>
            <a:ext cx="1009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FFFF00"/>
                </a:solidFill>
                <a:ea typeface="楷体_GB2312" pitchFamily="49" charset="-122"/>
              </a:rPr>
              <a:t>作业</a:t>
            </a:r>
            <a:endParaRPr lang="zh-CN" altLang="en-US" dirty="0">
              <a:solidFill>
                <a:srgbClr val="FFFF00"/>
              </a:solidFill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030053"/>
              </p:ext>
            </p:extLst>
          </p:nvPr>
        </p:nvGraphicFramePr>
        <p:xfrm>
          <a:off x="3232328" y="2345343"/>
          <a:ext cx="5054327" cy="1731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87" name="公式" r:id="rId6" imgW="7747000" imgH="2654300" progId="Equation.3">
                  <p:embed/>
                </p:oleObj>
              </mc:Choice>
              <mc:Fallback>
                <p:oleObj name="公式" r:id="rId6" imgW="7747000" imgH="265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328" y="2345343"/>
                        <a:ext cx="5054327" cy="1731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422152" y="2228677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ea typeface="黑体" panose="02010609060101010101" pitchFamily="49" charset="-122"/>
              </a:rPr>
              <a:t>2.</a:t>
            </a:r>
            <a:endParaRPr lang="zh-CN" altLang="en-US" sz="28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338604"/>
              </p:ext>
            </p:extLst>
          </p:nvPr>
        </p:nvGraphicFramePr>
        <p:xfrm>
          <a:off x="323528" y="4263123"/>
          <a:ext cx="4549513" cy="1480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88" name="公式" r:id="rId8" imgW="7905711" imgH="2514510" progId="Equation.3">
                  <p:embed/>
                </p:oleObj>
              </mc:Choice>
              <mc:Fallback>
                <p:oleObj name="公式" r:id="rId8" imgW="7905711" imgH="25145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4263123"/>
                        <a:ext cx="4549513" cy="1480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342608"/>
              </p:ext>
            </p:extLst>
          </p:nvPr>
        </p:nvGraphicFramePr>
        <p:xfrm>
          <a:off x="2603014" y="5518538"/>
          <a:ext cx="5431134" cy="6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89" name="公式" r:id="rId10" imgW="8162877" imgH="885870" progId="Equation.3">
                  <p:embed/>
                </p:oleObj>
              </mc:Choice>
              <mc:Fallback>
                <p:oleObj name="公式" r:id="rId10" imgW="8162877" imgH="8858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014" y="5518538"/>
                        <a:ext cx="5431134" cy="6286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323528" y="4077072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chemeClr val="accent2"/>
                </a:solidFill>
                <a:ea typeface="黑体" panose="02010609060101010101" pitchFamily="49" charset="-122"/>
              </a:rPr>
              <a:t>3.</a:t>
            </a:r>
            <a:endParaRPr lang="zh-CN" altLang="en-US" sz="28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92220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664956"/>
              </p:ext>
            </p:extLst>
          </p:nvPr>
        </p:nvGraphicFramePr>
        <p:xfrm>
          <a:off x="971600" y="836712"/>
          <a:ext cx="6875463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62" name="Document" r:id="rId3" imgW="7852928" imgH="2374060" progId="Word.Document.8">
                  <p:embed/>
                </p:oleObj>
              </mc:Choice>
              <mc:Fallback>
                <p:oleObj name="Document" r:id="rId3" imgW="7852928" imgH="23740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836712"/>
                        <a:ext cx="6875463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4"/>
          <p:cNvGraphicFramePr>
            <a:graphicFrameLocks noChangeAspect="1"/>
          </p:cNvGraphicFramePr>
          <p:nvPr/>
        </p:nvGraphicFramePr>
        <p:xfrm>
          <a:off x="4324350" y="2192338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63" name="公式" r:id="rId5" imgW="190500" imgH="419100" progId="Equation.3">
                  <p:embed/>
                </p:oleObj>
              </mc:Choice>
              <mc:Fallback>
                <p:oleObj name="公式" r:id="rId5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2192338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AutoShape 15" descr="http://img5.imgtn.bdimg.com/it/u=939957172,79984999&amp;fm=21&amp;gp=0.jpg"/>
          <p:cNvSpPr>
            <a:spLocks noChangeAspect="1" noChangeArrowheads="1"/>
          </p:cNvSpPr>
          <p:nvPr/>
        </p:nvSpPr>
        <p:spPr bwMode="auto">
          <a:xfrm>
            <a:off x="193675" y="-242888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30725" name="AutoShape 17" descr="http://img5.imgtn.bdimg.com/it/u=939957172,79984999&amp;fm=21&amp;gp=0.jpg"/>
          <p:cNvSpPr>
            <a:spLocks noChangeAspect="1" noChangeArrowheads="1"/>
          </p:cNvSpPr>
          <p:nvPr/>
        </p:nvSpPr>
        <p:spPr bwMode="auto">
          <a:xfrm>
            <a:off x="193675" y="-242888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519722"/>
              </p:ext>
            </p:extLst>
          </p:nvPr>
        </p:nvGraphicFramePr>
        <p:xfrm>
          <a:off x="868436" y="3154920"/>
          <a:ext cx="7345362" cy="296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64" name="公式" r:id="rId8" imgW="2908300" imgH="1181100" progId="Equation.3">
                  <p:embed/>
                </p:oleObj>
              </mc:Choice>
              <mc:Fallback>
                <p:oleObj name="公式" r:id="rId8" imgW="2908300" imgH="1181100" progId="Equation.3">
                  <p:embed/>
                  <p:pic>
                    <p:nvPicPr>
                      <p:cNvPr id="409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436" y="3154920"/>
                        <a:ext cx="7345362" cy="296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48" y="3235883"/>
            <a:ext cx="40005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8" descr="http://img2.imgtn.bdimg.com/it/u=2311269206,2362436908&amp;fm=21&amp;gp=0.jpg"/>
          <p:cNvSpPr>
            <a:spLocks noChangeAspect="1" noChangeArrowheads="1"/>
          </p:cNvSpPr>
          <p:nvPr/>
        </p:nvSpPr>
        <p:spPr bwMode="auto">
          <a:xfrm>
            <a:off x="161998" y="2197657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9" name="AutoShape 10" descr="http://img2.imgtn.bdimg.com/it/u=2311269206,2362436908&amp;fm=21&amp;gp=0.jpg"/>
          <p:cNvSpPr>
            <a:spLocks noChangeAspect="1" noChangeArrowheads="1"/>
          </p:cNvSpPr>
          <p:nvPr/>
        </p:nvSpPr>
        <p:spPr bwMode="auto">
          <a:xfrm>
            <a:off x="161998" y="2197657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2596107" y="4285369"/>
            <a:ext cx="3456384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>
            <a:off x="7204619" y="4285369"/>
            <a:ext cx="936104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/>
          <p:cNvCxnSpPr/>
          <p:nvPr/>
        </p:nvCxnSpPr>
        <p:spPr bwMode="auto">
          <a:xfrm>
            <a:off x="939923" y="5221473"/>
            <a:ext cx="648072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79512" y="77081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endParaRPr lang="zh-CN" altLang="en-US" sz="28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77691" y="3149240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endParaRPr lang="zh-CN" altLang="en-US" sz="28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308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带编号主题">
  <a:themeElements>
    <a:clrScheme name="gjjy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jjy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gjjy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jjy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带编号主题" id="{E74A4B7F-94FD-43CE-8263-42BB3C351B48}" vid="{D543DBDC-2D13-448F-86E4-9000DF09A7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8AFF8C9-F2E9-452E-8BBE-418245EB66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带编号主题</Template>
  <TotalTime>1061</TotalTime>
  <Words>1246</Words>
  <Application>Microsoft Office PowerPoint</Application>
  <PresentationFormat>全屏显示(4:3)</PresentationFormat>
  <Paragraphs>173</Paragraphs>
  <Slides>43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43</vt:i4>
      </vt:variant>
    </vt:vector>
  </HeadingPairs>
  <TitlesOfParts>
    <vt:vector size="56" baseType="lpstr">
      <vt:lpstr>黑体</vt:lpstr>
      <vt:lpstr>楷体_GB2312</vt:lpstr>
      <vt:lpstr>宋体</vt:lpstr>
      <vt:lpstr>文鼎粗圆</vt:lpstr>
      <vt:lpstr>Calibri</vt:lpstr>
      <vt:lpstr>Times New Roman</vt:lpstr>
      <vt:lpstr>Wingdings</vt:lpstr>
      <vt:lpstr>带编号主题</vt:lpstr>
      <vt:lpstr>公式</vt:lpstr>
      <vt:lpstr>Equation</vt:lpstr>
      <vt:lpstr>文档</vt:lpstr>
      <vt:lpstr>Document</vt:lpstr>
      <vt:lpstr>MathType 6.0 Equation</vt:lpstr>
      <vt:lpstr>第五章 大数定律与中心极限定理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zhcy</dc:creator>
  <cp:keywords/>
  <cp:lastModifiedBy>Windows 用户</cp:lastModifiedBy>
  <cp:revision>264</cp:revision>
  <cp:lastPrinted>2017-11-15T23:11:42Z</cp:lastPrinted>
  <dcterms:created xsi:type="dcterms:W3CDTF">2016-11-16T00:27:54Z</dcterms:created>
  <dcterms:modified xsi:type="dcterms:W3CDTF">2019-11-15T01:07:59Z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TC018814369991</vt:lpwstr>
  </property>
</Properties>
</file>