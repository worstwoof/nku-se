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2"/>
  </p:notesMasterIdLst>
  <p:handoutMasterIdLst>
    <p:handoutMasterId r:id="rId13"/>
  </p:handoutMasterIdLst>
  <p:sldIdLst>
    <p:sldId id="488" r:id="rId2"/>
    <p:sldId id="490" r:id="rId3"/>
    <p:sldId id="528" r:id="rId4"/>
    <p:sldId id="523" r:id="rId5"/>
    <p:sldId id="469" r:id="rId6"/>
    <p:sldId id="525" r:id="rId7"/>
    <p:sldId id="526" r:id="rId8"/>
    <p:sldId id="527" r:id="rId9"/>
    <p:sldId id="494" r:id="rId10"/>
    <p:sldId id="529" r:id="rId11"/>
  </p:sldIdLst>
  <p:sldSz cx="9144000" cy="6858000" type="screen4x3"/>
  <p:notesSz cx="9947275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0000FF"/>
    <a:srgbClr val="99CCFF"/>
    <a:srgbClr val="3399FF"/>
    <a:srgbClr val="FFFFEF"/>
    <a:srgbClr val="00FFFF"/>
    <a:srgbClr val="7A66A4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500" y="56"/>
      </p:cViewPr>
      <p:guideLst>
        <p:guide orient="horz" pos="482"/>
        <p:guide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12" Type="http://schemas.openxmlformats.org/officeDocument/2006/relationships/image" Target="../media/image27.wmf"/><Relationship Id="rId17" Type="http://schemas.openxmlformats.org/officeDocument/2006/relationships/image" Target="../media/image32.wmf"/><Relationship Id="rId2" Type="http://schemas.openxmlformats.org/officeDocument/2006/relationships/image" Target="../media/image17.wmf"/><Relationship Id="rId16" Type="http://schemas.openxmlformats.org/officeDocument/2006/relationships/image" Target="../media/image31.wmf"/><Relationship Id="rId1" Type="http://schemas.openxmlformats.org/officeDocument/2006/relationships/image" Target="../media/image2.wmf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5" Type="http://schemas.openxmlformats.org/officeDocument/2006/relationships/image" Target="../media/image3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Relationship Id="rId14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F2485-2C05-41DD-9092-72B3F6683937}" type="datetimeFigureOut">
              <a:rPr lang="zh-CN" altLang="en-US" smtClean="0"/>
              <a:t>2019/12/12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4712C-C5AF-44D0-A6BB-1CEE790E5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95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6789" y="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zh-CN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259138" y="514350"/>
            <a:ext cx="3429000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6304" y="3257550"/>
            <a:ext cx="7294668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6789" y="6515100"/>
            <a:ext cx="4310486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577F1615-C704-47C3-AFCE-1BCF220A4FA6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234197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06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65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79504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6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68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8532440" y="630932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1AC47A1-DE7C-4A0B-A2C7-7FAC537272B1}" type="slidenum">
              <a:rPr lang="zh-CN" altLang="en-US" sz="2000" b="0" smtClean="0">
                <a:solidFill>
                  <a:srgbClr val="FFFF00"/>
                </a:solidFill>
              </a:rPr>
              <a:t>‹#›</a:t>
            </a:fld>
            <a:endParaRPr lang="zh-CN" altLang="en-US" sz="2000" b="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44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340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986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719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86538" y="495300"/>
            <a:ext cx="1985962" cy="56816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495300"/>
            <a:ext cx="5805488" cy="5681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21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630189-35C8-4194-9AFD-4042D70DA2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5093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00100" y="4953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8532440" y="630932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1AC47A1-DE7C-4A0B-A2C7-7FAC537272B1}" type="slidenum">
              <a:rPr lang="zh-CN" altLang="en-US" sz="2000" b="0" smtClean="0">
                <a:solidFill>
                  <a:srgbClr val="FFFF00"/>
                </a:solidFill>
              </a:rPr>
              <a:t>‹#›</a:t>
            </a:fld>
            <a:endParaRPr lang="zh-CN" altLang="en-US" sz="2000" b="0" dirty="0">
              <a:solidFill>
                <a:srgbClr val="FFFF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3.wmf"/><Relationship Id="rId26" Type="http://schemas.openxmlformats.org/officeDocument/2006/relationships/image" Target="../media/image27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20.bin"/><Relationship Id="rId34" Type="http://schemas.openxmlformats.org/officeDocument/2006/relationships/image" Target="../media/image31.wmf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18.bin"/><Relationship Id="rId25" Type="http://schemas.openxmlformats.org/officeDocument/2006/relationships/oleObject" Target="../embeddings/oleObject22.bin"/><Relationship Id="rId33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29" Type="http://schemas.openxmlformats.org/officeDocument/2006/relationships/oleObject" Target="../embeddings/oleObject24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6.wmf"/><Relationship Id="rId32" Type="http://schemas.openxmlformats.org/officeDocument/2006/relationships/image" Target="../media/image30.wmf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1.bin"/><Relationship Id="rId28" Type="http://schemas.openxmlformats.org/officeDocument/2006/relationships/image" Target="../media/image28.wmf"/><Relationship Id="rId36" Type="http://schemas.openxmlformats.org/officeDocument/2006/relationships/image" Target="../media/image32.wmf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19.bin"/><Relationship Id="rId31" Type="http://schemas.openxmlformats.org/officeDocument/2006/relationships/oleObject" Target="../embeddings/oleObject25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1.wmf"/><Relationship Id="rId22" Type="http://schemas.openxmlformats.org/officeDocument/2006/relationships/image" Target="../media/image25.wmf"/><Relationship Id="rId27" Type="http://schemas.openxmlformats.org/officeDocument/2006/relationships/oleObject" Target="../embeddings/oleObject23.bin"/><Relationship Id="rId30" Type="http://schemas.openxmlformats.org/officeDocument/2006/relationships/image" Target="../media/image29.wmf"/><Relationship Id="rId35" Type="http://schemas.openxmlformats.org/officeDocument/2006/relationships/oleObject" Target="../embeddings/oleObject27.bin"/><Relationship Id="rId8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2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75856" y="-26657"/>
            <a:ext cx="1080616" cy="584775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dirty="0" smtClean="0">
                <a:solidFill>
                  <a:srgbClr val="FFFF00"/>
                </a:solidFill>
              </a:rPr>
              <a:t>作业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85" y="734588"/>
            <a:ext cx="5215612" cy="3270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640272"/>
              </p:ext>
            </p:extLst>
          </p:nvPr>
        </p:nvGraphicFramePr>
        <p:xfrm>
          <a:off x="4139952" y="980728"/>
          <a:ext cx="5456552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77" r:id="rId4" imgW="7874317" imgH="1524317" progId="Equation.3">
                  <p:embed/>
                </p:oleObj>
              </mc:Choice>
              <mc:Fallback>
                <p:oleObj r:id="rId4" imgW="7874317" imgH="1524317" progId="Equation.3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980728"/>
                        <a:ext cx="5456552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427984" y="836712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5997" y="645024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32" y="4114936"/>
            <a:ext cx="9083668" cy="2520280"/>
          </a:xfrm>
          <a:prstGeom prst="rect">
            <a:avLst/>
          </a:prstGeom>
        </p:spPr>
      </p:pic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07504" y="4204793"/>
            <a:ext cx="12558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8534105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492918"/>
            <a:ext cx="8642350" cy="1081088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 smtClean="0">
                <a:effectLst/>
              </a:rPr>
              <a:t>：设</a:t>
            </a:r>
            <a:r>
              <a:rPr lang="en-US" altLang="zh-CN" sz="2400" i="1" dirty="0" smtClean="0">
                <a:effectLst/>
              </a:rPr>
              <a:t>X</a:t>
            </a:r>
            <a:r>
              <a:rPr lang="en-US" altLang="zh-CN" sz="2400" baseline="-25000" dirty="0" smtClean="0">
                <a:effectLst/>
              </a:rPr>
              <a:t>1</a:t>
            </a:r>
            <a:r>
              <a:rPr lang="en-US" altLang="zh-CN" sz="2400" dirty="0" smtClean="0">
                <a:effectLst/>
              </a:rPr>
              <a:t>, </a:t>
            </a:r>
            <a:r>
              <a:rPr lang="en-US" altLang="zh-CN" sz="2400" i="1" dirty="0" smtClean="0">
                <a:effectLst/>
              </a:rPr>
              <a:t>X</a:t>
            </a:r>
            <a:r>
              <a:rPr lang="en-US" altLang="zh-CN" sz="2400" baseline="-25000" dirty="0" smtClean="0">
                <a:effectLst/>
              </a:rPr>
              <a:t>2</a:t>
            </a:r>
            <a:r>
              <a:rPr lang="en-US" altLang="zh-CN" sz="2400" dirty="0" smtClean="0">
                <a:effectLst/>
              </a:rPr>
              <a:t>, …, </a:t>
            </a:r>
            <a:r>
              <a:rPr lang="en-US" altLang="zh-CN" sz="2400" i="1" dirty="0" err="1" smtClean="0">
                <a:effectLst/>
              </a:rPr>
              <a:t>X</a:t>
            </a:r>
            <a:r>
              <a:rPr lang="en-US" altLang="zh-CN" sz="2400" i="1" baseline="-25000" dirty="0" err="1" smtClean="0">
                <a:effectLst/>
              </a:rPr>
              <a:t>n</a:t>
            </a:r>
            <a:r>
              <a:rPr lang="zh-CN" altLang="en-US" sz="2400" dirty="0" smtClean="0">
                <a:effectLst/>
              </a:rPr>
              <a:t>是来自参数为</a:t>
            </a:r>
            <a:r>
              <a:rPr lang="en-US" altLang="zh-CN" sz="2400" i="1" dirty="0" smtClean="0">
                <a:effectLst/>
                <a:latin typeface="Symbol" panose="05050102010706020507" pitchFamily="18" charset="2"/>
              </a:rPr>
              <a:t>l</a:t>
            </a:r>
            <a:r>
              <a:rPr lang="zh-CN" altLang="en-US" sz="2400" dirty="0" smtClean="0">
                <a:effectLst/>
              </a:rPr>
              <a:t>的泊松分布总体的一个样本</a:t>
            </a:r>
            <a:r>
              <a:rPr lang="en-US" altLang="zh-CN" sz="2400" dirty="0" smtClean="0">
                <a:effectLst/>
              </a:rPr>
              <a:t>,</a:t>
            </a:r>
            <a:r>
              <a:rPr lang="zh-CN" altLang="en-US" sz="2400" dirty="0" smtClean="0">
                <a:effectLst/>
              </a:rPr>
              <a:t>试求</a:t>
            </a:r>
            <a:r>
              <a:rPr lang="en-US" altLang="zh-CN" sz="2400" i="1" dirty="0" smtClean="0">
                <a:effectLst/>
                <a:latin typeface="Symbol" panose="05050102010706020507" pitchFamily="18" charset="2"/>
              </a:rPr>
              <a:t>l</a:t>
            </a:r>
            <a:r>
              <a:rPr lang="zh-CN" altLang="en-US" sz="2400" dirty="0" smtClean="0">
                <a:effectLst/>
              </a:rPr>
              <a:t>的最大似然估计量和矩估计量</a:t>
            </a:r>
            <a:r>
              <a:rPr lang="en-US" altLang="zh-CN" sz="2400" dirty="0" smtClean="0">
                <a:effectLst/>
              </a:rPr>
              <a:t>.</a:t>
            </a: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167071" y="1772816"/>
            <a:ext cx="8496300" cy="17272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2400" b="0" dirty="0" smtClean="0"/>
              <a:t>. </a:t>
            </a:r>
            <a:r>
              <a:rPr lang="zh-CN" altLang="en-US" sz="2400" b="0" dirty="0" smtClean="0"/>
              <a:t>随机地取</a:t>
            </a:r>
            <a:r>
              <a:rPr lang="en-US" altLang="zh-CN" sz="2400" b="0" dirty="0" smtClean="0"/>
              <a:t>8</a:t>
            </a:r>
            <a:r>
              <a:rPr lang="zh-CN" altLang="en-US" sz="2400" b="0" dirty="0" smtClean="0"/>
              <a:t>只活塞</a:t>
            </a:r>
            <a:r>
              <a:rPr lang="en-US" altLang="zh-CN" sz="2400" b="0" dirty="0" smtClean="0"/>
              <a:t>,</a:t>
            </a:r>
            <a:r>
              <a:rPr lang="zh-CN" altLang="en-US" sz="2400" b="0" dirty="0" smtClean="0"/>
              <a:t>测得它们的直径为</a:t>
            </a:r>
            <a:r>
              <a:rPr lang="en-US" altLang="zh-CN" sz="2400" b="0" dirty="0" smtClean="0"/>
              <a:t>(</a:t>
            </a:r>
            <a:r>
              <a:rPr lang="zh-CN" altLang="en-US" sz="2400" b="0" dirty="0" smtClean="0"/>
              <a:t>以</a:t>
            </a:r>
            <a:r>
              <a:rPr lang="en-US" altLang="zh-CN" sz="2400" b="0" dirty="0" smtClean="0"/>
              <a:t>mm</a:t>
            </a:r>
            <a:r>
              <a:rPr lang="zh-CN" altLang="en-US" sz="2400" b="0" dirty="0" smtClean="0"/>
              <a:t>计</a:t>
            </a:r>
            <a:r>
              <a:rPr lang="en-US" altLang="zh-CN" sz="2400" b="0" dirty="0" smtClean="0"/>
              <a:t>)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0" dirty="0" smtClean="0"/>
              <a:t>74.001   74.005   74.003   74.001   74.000   73.998  74.006   74.002</a:t>
            </a: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 smtClean="0"/>
              <a:t>试求总体均值</a:t>
            </a:r>
            <a:r>
              <a:rPr lang="en-US" altLang="zh-CN" sz="2400" b="0" i="1" dirty="0" smtClean="0">
                <a:latin typeface="Symbol" panose="05050102010706020507" pitchFamily="18" charset="2"/>
              </a:rPr>
              <a:t>m</a:t>
            </a:r>
            <a:r>
              <a:rPr lang="zh-CN" altLang="en-US" sz="2400" b="0" dirty="0" smtClean="0"/>
              <a:t>及方差</a:t>
            </a:r>
            <a:r>
              <a:rPr lang="en-US" altLang="zh-CN" sz="2400" b="0" i="1" dirty="0" smtClean="0">
                <a:latin typeface="Symbol" panose="05050102010706020507" pitchFamily="18" charset="2"/>
              </a:rPr>
              <a:t>s</a:t>
            </a:r>
            <a:r>
              <a:rPr lang="en-US" altLang="zh-CN" sz="2400" b="0" baseline="30000" dirty="0" smtClean="0"/>
              <a:t>2</a:t>
            </a:r>
            <a:r>
              <a:rPr lang="zh-CN" altLang="en-US" sz="2400" b="0" dirty="0" smtClean="0"/>
              <a:t>的矩估计值</a:t>
            </a:r>
            <a:r>
              <a:rPr lang="en-US" altLang="zh-CN" sz="2400" b="0" dirty="0" smtClean="0"/>
              <a:t>,</a:t>
            </a:r>
            <a:r>
              <a:rPr lang="zh-CN" altLang="en-US" sz="2400" b="0" dirty="0" smtClean="0"/>
              <a:t>并求样本方差</a:t>
            </a:r>
            <a:r>
              <a:rPr lang="en-US" altLang="zh-CN" sz="2400" b="0" i="1" dirty="0" smtClean="0"/>
              <a:t>s</a:t>
            </a:r>
            <a:r>
              <a:rPr lang="en-US" altLang="zh-CN" sz="2400" b="0" baseline="30000" dirty="0" smtClean="0"/>
              <a:t>2</a:t>
            </a:r>
            <a:r>
              <a:rPr lang="en-US" altLang="zh-CN" sz="2400" b="0" dirty="0" smtClean="0"/>
              <a:t>.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95758" y="3939680"/>
            <a:ext cx="8496300" cy="576262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0" dirty="0" smtClean="0"/>
              <a:t>：设总体</a:t>
            </a:r>
            <a:r>
              <a:rPr lang="en-US" altLang="zh-CN" sz="2400" b="0" i="1" dirty="0" smtClean="0"/>
              <a:t>X</a:t>
            </a:r>
            <a:r>
              <a:rPr lang="zh-CN" altLang="en-US" sz="2400" b="0" dirty="0" smtClean="0"/>
              <a:t>具有分布律</a:t>
            </a:r>
          </a:p>
        </p:txBody>
      </p:sp>
      <p:graphicFrame>
        <p:nvGraphicFramePr>
          <p:cNvPr id="32" name="Group 6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609209"/>
              </p:ext>
            </p:extLst>
          </p:nvPr>
        </p:nvGraphicFramePr>
        <p:xfrm>
          <a:off x="3923520" y="3800773"/>
          <a:ext cx="4298102" cy="914400"/>
        </p:xfrm>
        <a:graphic>
          <a:graphicData uri="http://schemas.openxmlformats.org/drawingml/2006/table">
            <a:tbl>
              <a:tblPr/>
              <a:tblGrid>
                <a:gridCol w="96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63"/>
          <p:cNvSpPr>
            <a:spLocks noChangeArrowheads="1"/>
          </p:cNvSpPr>
          <p:nvPr/>
        </p:nvSpPr>
        <p:spPr bwMode="auto">
          <a:xfrm>
            <a:off x="167071" y="4869160"/>
            <a:ext cx="856932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其中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en-US" altLang="zh-CN" sz="2400" b="0" dirty="0"/>
              <a:t>(0&lt;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en-US" altLang="zh-CN" sz="2400" b="0" dirty="0"/>
              <a:t>&lt;1)</a:t>
            </a:r>
            <a:r>
              <a:rPr lang="zh-CN" altLang="en-US" sz="2400" b="0" dirty="0"/>
              <a:t>为未知参数</a:t>
            </a:r>
            <a:r>
              <a:rPr lang="en-US" altLang="zh-CN" sz="2400" b="0" dirty="0"/>
              <a:t>.</a:t>
            </a:r>
            <a:r>
              <a:rPr lang="zh-CN" altLang="en-US" sz="2400" b="0" dirty="0"/>
              <a:t>已知取得了样本值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=1, 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=2, 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3</a:t>
            </a:r>
            <a:r>
              <a:rPr lang="en-US" altLang="zh-CN" sz="2400" b="0" dirty="0"/>
              <a:t>=1.</a:t>
            </a:r>
            <a:r>
              <a:rPr lang="zh-CN" altLang="en-US" sz="2400" b="0" dirty="0"/>
              <a:t>试求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zh-CN" altLang="en-US" sz="2400" b="0" dirty="0"/>
              <a:t>的矩估计值和最大似然估计量</a:t>
            </a:r>
            <a:r>
              <a:rPr lang="en-US" altLang="zh-CN" sz="2400" b="0" dirty="0"/>
              <a:t>.</a:t>
            </a:r>
          </a:p>
        </p:txBody>
      </p:sp>
      <p:sp>
        <p:nvSpPr>
          <p:cNvPr id="35" name="Line 73"/>
          <p:cNvSpPr>
            <a:spLocks noChangeShapeType="1"/>
          </p:cNvSpPr>
          <p:nvPr/>
        </p:nvSpPr>
        <p:spPr bwMode="auto">
          <a:xfrm>
            <a:off x="0" y="3494202"/>
            <a:ext cx="90360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73"/>
          <p:cNvSpPr>
            <a:spLocks noChangeShapeType="1"/>
          </p:cNvSpPr>
          <p:nvPr/>
        </p:nvSpPr>
        <p:spPr bwMode="auto">
          <a:xfrm>
            <a:off x="0" y="1740497"/>
            <a:ext cx="90360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25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615579"/>
            <a:ext cx="8496300" cy="57626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ffectLst/>
              </a:rPr>
              <a:t>6</a:t>
            </a:r>
            <a:r>
              <a:rPr lang="zh-CN" altLang="en-US" sz="2400" dirty="0" smtClean="0">
                <a:effectLst/>
              </a:rPr>
              <a:t>：设总体</a:t>
            </a:r>
            <a:r>
              <a:rPr lang="en-US" altLang="zh-CN" sz="2400" i="1" dirty="0" smtClean="0">
                <a:effectLst/>
              </a:rPr>
              <a:t>X</a:t>
            </a:r>
            <a:r>
              <a:rPr lang="zh-CN" altLang="en-US" sz="2400" dirty="0" smtClean="0">
                <a:effectLst/>
              </a:rPr>
              <a:t>具有分布律</a:t>
            </a:r>
          </a:p>
        </p:txBody>
      </p:sp>
      <p:graphicFrame>
        <p:nvGraphicFramePr>
          <p:cNvPr id="478270" name="Group 6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9462711"/>
              </p:ext>
            </p:extLst>
          </p:nvPr>
        </p:nvGraphicFramePr>
        <p:xfrm>
          <a:off x="4007274" y="476672"/>
          <a:ext cx="4298102" cy="914400"/>
        </p:xfrm>
        <a:graphic>
          <a:graphicData uri="http://schemas.openxmlformats.org/drawingml/2006/table">
            <a:tbl>
              <a:tblPr/>
              <a:tblGrid>
                <a:gridCol w="96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583" name="Rectangle 63"/>
          <p:cNvSpPr>
            <a:spLocks noChangeArrowheads="1"/>
          </p:cNvSpPr>
          <p:nvPr/>
        </p:nvSpPr>
        <p:spPr bwMode="auto">
          <a:xfrm>
            <a:off x="250825" y="1545059"/>
            <a:ext cx="856932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其中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en-US" altLang="zh-CN" sz="2400" b="0" dirty="0"/>
              <a:t>(0&lt;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en-US" altLang="zh-CN" sz="2400" b="0" dirty="0"/>
              <a:t>&lt;1)</a:t>
            </a:r>
            <a:r>
              <a:rPr lang="zh-CN" altLang="en-US" sz="2400" b="0" dirty="0"/>
              <a:t>为未知参数</a:t>
            </a:r>
            <a:r>
              <a:rPr lang="en-US" altLang="zh-CN" sz="2400" b="0" dirty="0"/>
              <a:t>.</a:t>
            </a:r>
            <a:r>
              <a:rPr lang="zh-CN" altLang="en-US" sz="2400" b="0" dirty="0"/>
              <a:t>已知取得了样本值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=1, 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=2, 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3</a:t>
            </a:r>
            <a:r>
              <a:rPr lang="en-US" altLang="zh-CN" sz="2400" b="0" dirty="0"/>
              <a:t>=1.</a:t>
            </a:r>
            <a:r>
              <a:rPr lang="zh-CN" altLang="en-US" sz="2400" b="0" dirty="0"/>
              <a:t>试求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zh-CN" altLang="en-US" sz="2400" b="0" dirty="0"/>
              <a:t>的矩估计值和最大似然估计量</a:t>
            </a:r>
            <a:r>
              <a:rPr lang="en-US" altLang="zh-CN" sz="2400" b="0" dirty="0"/>
              <a:t>.</a:t>
            </a:r>
          </a:p>
        </p:txBody>
      </p:sp>
      <p:sp>
        <p:nvSpPr>
          <p:cNvPr id="478273" name="Rectangle 65"/>
          <p:cNvSpPr>
            <a:spLocks noChangeArrowheads="1"/>
          </p:cNvSpPr>
          <p:nvPr/>
        </p:nvSpPr>
        <p:spPr bwMode="auto">
          <a:xfrm>
            <a:off x="-36513" y="2492002"/>
            <a:ext cx="47529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b="0" dirty="0"/>
              <a:t>解</a:t>
            </a:r>
            <a:r>
              <a:rPr lang="en-US" altLang="zh-CN" sz="2400" b="0" dirty="0"/>
              <a:t>: </a:t>
            </a:r>
            <a:r>
              <a:rPr lang="zh-CN" altLang="en-US" sz="2400" b="0" dirty="0"/>
              <a:t>依题意总体</a:t>
            </a:r>
            <a:r>
              <a:rPr lang="en-US" altLang="zh-CN" sz="2400" b="0" i="1" dirty="0"/>
              <a:t>X</a:t>
            </a:r>
            <a:r>
              <a:rPr lang="zh-CN" altLang="en-US" sz="2400" b="0" dirty="0"/>
              <a:t>的均值为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478274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837359"/>
              </p:ext>
            </p:extLst>
          </p:nvPr>
        </p:nvGraphicFramePr>
        <p:xfrm>
          <a:off x="3525839" y="2499171"/>
          <a:ext cx="5510212" cy="419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4" name="Equation" r:id="rId3" imgW="3009900" imgH="228600" progId="Equation.DSMT4">
                  <p:embed/>
                </p:oleObj>
              </mc:Choice>
              <mc:Fallback>
                <p:oleObj name="Equation" r:id="rId3" imgW="3009900" imgH="228600" progId="Equation.DSMT4">
                  <p:embed/>
                  <p:pic>
                    <p:nvPicPr>
                      <p:cNvPr id="47827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9" y="2499171"/>
                        <a:ext cx="5510212" cy="419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75" name="Rectangle 67"/>
          <p:cNvSpPr>
            <a:spLocks noChangeArrowheads="1"/>
          </p:cNvSpPr>
          <p:nvPr/>
        </p:nvSpPr>
        <p:spPr bwMode="auto">
          <a:xfrm>
            <a:off x="144462" y="3074803"/>
            <a:ext cx="216058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由矩估计法知</a:t>
            </a:r>
            <a:r>
              <a:rPr lang="en-US" altLang="zh-CN" sz="2400" b="0" dirty="0"/>
              <a:t>, </a:t>
            </a:r>
          </a:p>
        </p:txBody>
      </p:sp>
      <p:graphicFrame>
        <p:nvGraphicFramePr>
          <p:cNvPr id="478276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056666"/>
              </p:ext>
            </p:extLst>
          </p:nvPr>
        </p:nvGraphicFramePr>
        <p:xfrm>
          <a:off x="2160587" y="3074803"/>
          <a:ext cx="13366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5" name="Equation" r:id="rId5" imgW="698197" imgH="215806" progId="Equation.DSMT4">
                  <p:embed/>
                </p:oleObj>
              </mc:Choice>
              <mc:Fallback>
                <p:oleObj name="Equation" r:id="rId5" imgW="698197" imgH="215806" progId="Equation.DSMT4">
                  <p:embed/>
                  <p:pic>
                    <p:nvPicPr>
                      <p:cNvPr id="47827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7" y="3074803"/>
                        <a:ext cx="13366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77" name="Rectangle 69"/>
          <p:cNvSpPr>
            <a:spLocks noChangeArrowheads="1"/>
          </p:cNvSpPr>
          <p:nvPr/>
        </p:nvSpPr>
        <p:spPr bwMode="auto">
          <a:xfrm>
            <a:off x="3384550" y="3074803"/>
            <a:ext cx="26638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/>
              <a:t>,</a:t>
            </a:r>
            <a:r>
              <a:rPr lang="zh-CN" altLang="en-US" sz="2400" b="0"/>
              <a:t>得</a:t>
            </a:r>
            <a:r>
              <a:rPr lang="en-US" altLang="zh-CN" sz="2400" b="0" i="1">
                <a:latin typeface="Symbol" panose="05050102010706020507" pitchFamily="18" charset="2"/>
              </a:rPr>
              <a:t>q</a:t>
            </a:r>
            <a:r>
              <a:rPr lang="zh-CN" altLang="en-US" sz="2400" b="0"/>
              <a:t>的矩估计量为</a:t>
            </a:r>
            <a:r>
              <a:rPr lang="en-US" altLang="zh-CN" sz="2400" b="0"/>
              <a:t>: </a:t>
            </a:r>
          </a:p>
        </p:txBody>
      </p:sp>
      <p:graphicFrame>
        <p:nvGraphicFramePr>
          <p:cNvPr id="478278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69502"/>
              </p:ext>
            </p:extLst>
          </p:nvPr>
        </p:nvGraphicFramePr>
        <p:xfrm>
          <a:off x="5976938" y="2944628"/>
          <a:ext cx="1150938" cy="737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6" name="Equation" r:id="rId7" imgW="634725" imgH="406224" progId="Equation.DSMT4">
                  <p:embed/>
                </p:oleObj>
              </mc:Choice>
              <mc:Fallback>
                <p:oleObj name="Equation" r:id="rId7" imgW="634725" imgH="406224" progId="Equation.DSMT4">
                  <p:embed/>
                  <p:pic>
                    <p:nvPicPr>
                      <p:cNvPr id="47827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2944628"/>
                        <a:ext cx="1150938" cy="737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79" name="Rectangle 71"/>
          <p:cNvSpPr>
            <a:spLocks noChangeArrowheads="1"/>
          </p:cNvSpPr>
          <p:nvPr/>
        </p:nvSpPr>
        <p:spPr bwMode="auto">
          <a:xfrm>
            <a:off x="-12713" y="3691845"/>
            <a:ext cx="611981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代入样本均值的观测值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得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zh-CN" altLang="en-US" sz="2400" b="0" dirty="0"/>
              <a:t>的矩估计值为</a:t>
            </a:r>
            <a:r>
              <a:rPr lang="en-US" altLang="zh-CN" sz="2400" b="0" dirty="0"/>
              <a:t>: </a:t>
            </a:r>
          </a:p>
        </p:txBody>
      </p:sp>
      <p:graphicFrame>
        <p:nvGraphicFramePr>
          <p:cNvPr id="478280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758251"/>
              </p:ext>
            </p:extLst>
          </p:nvPr>
        </p:nvGraphicFramePr>
        <p:xfrm>
          <a:off x="5751499" y="3561183"/>
          <a:ext cx="28702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7" name="Equation" r:id="rId9" imgW="1497950" imgH="406224" progId="Equation.DSMT4">
                  <p:embed/>
                </p:oleObj>
              </mc:Choice>
              <mc:Fallback>
                <p:oleObj name="Equation" r:id="rId9" imgW="1497950" imgH="406224" progId="Equation.DSMT4">
                  <p:embed/>
                  <p:pic>
                    <p:nvPicPr>
                      <p:cNvPr id="47828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499" y="3561183"/>
                        <a:ext cx="28702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2" name="Line 73"/>
          <p:cNvSpPr>
            <a:spLocks noChangeShapeType="1"/>
          </p:cNvSpPr>
          <p:nvPr/>
        </p:nvSpPr>
        <p:spPr bwMode="auto">
          <a:xfrm>
            <a:off x="0" y="2480096"/>
            <a:ext cx="90360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9"/>
          <p:cNvSpPr>
            <a:spLocks noChangeArrowheads="1"/>
          </p:cNvSpPr>
          <p:nvPr/>
        </p:nvSpPr>
        <p:spPr bwMode="auto">
          <a:xfrm>
            <a:off x="-108520" y="4197382"/>
            <a:ext cx="86407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dirty="0"/>
              <a:t>(2)</a:t>
            </a:r>
            <a:r>
              <a:rPr lang="zh-CN" altLang="en-US" sz="2400" b="0" dirty="0"/>
              <a:t>因为样本值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取得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次</a:t>
            </a:r>
            <a:r>
              <a:rPr lang="en-US" altLang="zh-CN" sz="2400" b="0" dirty="0"/>
              <a:t>,2</a:t>
            </a:r>
            <a:r>
              <a:rPr lang="zh-CN" altLang="en-US" sz="2400" b="0" dirty="0"/>
              <a:t>取得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次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故似然函数为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957986"/>
              </p:ext>
            </p:extLst>
          </p:nvPr>
        </p:nvGraphicFramePr>
        <p:xfrm>
          <a:off x="683418" y="4508832"/>
          <a:ext cx="2089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8" name="Equation" r:id="rId11" imgW="1155700" imgH="431800" progId="Equation.DSMT4">
                  <p:embed/>
                </p:oleObj>
              </mc:Choice>
              <mc:Fallback>
                <p:oleObj name="Equation" r:id="rId11" imgW="1155700" imgH="431800" progId="Equation.DSMT4">
                  <p:embed/>
                  <p:pic>
                    <p:nvPicPr>
                      <p:cNvPr id="2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" y="4508832"/>
                        <a:ext cx="2089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18951"/>
              </p:ext>
            </p:extLst>
          </p:nvPr>
        </p:nvGraphicFramePr>
        <p:xfrm>
          <a:off x="2772568" y="4607257"/>
          <a:ext cx="18002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89" name="Equation" r:id="rId13" imgW="863225" imgH="228501" progId="Equation.DSMT4">
                  <p:embed/>
                </p:oleObj>
              </mc:Choice>
              <mc:Fallback>
                <p:oleObj name="Equation" r:id="rId13" imgW="863225" imgH="228501" progId="Equation.DSMT4">
                  <p:embed/>
                  <p:pic>
                    <p:nvPicPr>
                      <p:cNvPr id="2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568" y="4607257"/>
                        <a:ext cx="18002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455299"/>
              </p:ext>
            </p:extLst>
          </p:nvPr>
        </p:nvGraphicFramePr>
        <p:xfrm>
          <a:off x="4535487" y="4560126"/>
          <a:ext cx="171608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0" name="Equation" r:id="rId15" imgW="761669" imgH="228501" progId="Equation.DSMT4">
                  <p:embed/>
                </p:oleObj>
              </mc:Choice>
              <mc:Fallback>
                <p:oleObj name="Equation" r:id="rId15" imgW="761669" imgH="228501" progId="Equation.DSMT4">
                  <p:embed/>
                  <p:pic>
                    <p:nvPicPr>
                      <p:cNvPr id="2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7" y="4560126"/>
                        <a:ext cx="171608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33"/>
          <p:cNvSpPr>
            <a:spLocks noChangeArrowheads="1"/>
          </p:cNvSpPr>
          <p:nvPr/>
        </p:nvSpPr>
        <p:spPr bwMode="auto">
          <a:xfrm>
            <a:off x="35496" y="5145316"/>
            <a:ext cx="35290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对数似然函数为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232482"/>
              </p:ext>
            </p:extLst>
          </p:nvPr>
        </p:nvGraphicFramePr>
        <p:xfrm>
          <a:off x="2353815" y="5116541"/>
          <a:ext cx="40052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1" name="Equation" r:id="rId17" imgW="1777229" imgH="203112" progId="Equation.DSMT4">
                  <p:embed/>
                </p:oleObj>
              </mc:Choice>
              <mc:Fallback>
                <p:oleObj name="Equation" r:id="rId17" imgW="1777229" imgH="203112" progId="Equation.DSMT4">
                  <p:embed/>
                  <p:pic>
                    <p:nvPicPr>
                      <p:cNvPr id="2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815" y="5116541"/>
                        <a:ext cx="40052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-17947" y="5727236"/>
            <a:ext cx="35290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对数似然方程为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9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284690"/>
              </p:ext>
            </p:extLst>
          </p:nvPr>
        </p:nvGraphicFramePr>
        <p:xfrm>
          <a:off x="2267744" y="5445224"/>
          <a:ext cx="25209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2" name="Equation" r:id="rId19" imgW="1345616" imgH="393529" progId="Equation.DSMT4">
                  <p:embed/>
                </p:oleObj>
              </mc:Choice>
              <mc:Fallback>
                <p:oleObj name="Equation" r:id="rId19" imgW="1345616" imgH="393529" progId="Equation.DSMT4">
                  <p:embed/>
                  <p:pic>
                    <p:nvPicPr>
                      <p:cNvPr id="29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445224"/>
                        <a:ext cx="25209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4705720" y="5689161"/>
            <a:ext cx="9350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/>
              <a:t>解得</a:t>
            </a:r>
            <a:r>
              <a:rPr lang="en-US" altLang="zh-CN" sz="2400" b="0"/>
              <a:t>:</a:t>
            </a:r>
          </a:p>
        </p:txBody>
      </p:sp>
      <p:graphicFrame>
        <p:nvGraphicFramePr>
          <p:cNvPr id="31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501465"/>
              </p:ext>
            </p:extLst>
          </p:nvPr>
        </p:nvGraphicFramePr>
        <p:xfrm>
          <a:off x="5483595" y="5695511"/>
          <a:ext cx="10223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3" name="Equation" r:id="rId21" imgW="520474" imgH="215806" progId="Equation.DSMT4">
                  <p:embed/>
                </p:oleObj>
              </mc:Choice>
              <mc:Fallback>
                <p:oleObj name="Equation" r:id="rId21" imgW="520474" imgH="215806" progId="Equation.DSMT4">
                  <p:embed/>
                  <p:pic>
                    <p:nvPicPr>
                      <p:cNvPr id="31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595" y="5695511"/>
                        <a:ext cx="10223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9"/>
          <p:cNvSpPr>
            <a:spLocks noChangeArrowheads="1"/>
          </p:cNvSpPr>
          <p:nvPr/>
        </p:nvSpPr>
        <p:spPr bwMode="auto">
          <a:xfrm>
            <a:off x="6371181" y="5727235"/>
            <a:ext cx="374491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0" dirty="0"/>
              <a:t>为</a:t>
            </a:r>
            <a:r>
              <a:rPr lang="en-US" altLang="zh-CN" sz="2000" b="0" i="1" dirty="0">
                <a:latin typeface="Symbol" panose="05050102010706020507" pitchFamily="18" charset="2"/>
              </a:rPr>
              <a:t>q</a:t>
            </a:r>
            <a:r>
              <a:rPr lang="zh-CN" altLang="en-US" sz="2000" b="0" dirty="0"/>
              <a:t>的最大似然估计值</a:t>
            </a:r>
            <a:r>
              <a:rPr lang="en-US" altLang="zh-CN" sz="20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03610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7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73" grpId="0"/>
      <p:bldP spid="478275" grpId="0"/>
      <p:bldP spid="478277" grpId="0"/>
      <p:bldP spid="478279" grpId="0"/>
      <p:bldP spid="22" grpId="0"/>
      <p:bldP spid="26" grpId="0"/>
      <p:bldP spid="28" grpId="0"/>
      <p:bldP spid="30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620688"/>
            <a:ext cx="6192688" cy="1944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780928"/>
            <a:ext cx="5754893" cy="316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544" y="1844824"/>
            <a:ext cx="3528392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7469" y="764704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803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 bwMode="auto">
          <a:xfrm>
            <a:off x="5868144" y="2637865"/>
            <a:ext cx="3104598" cy="575111"/>
          </a:xfrm>
          <a:prstGeom prst="roundRect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464192"/>
              </p:ext>
            </p:extLst>
          </p:nvPr>
        </p:nvGraphicFramePr>
        <p:xfrm>
          <a:off x="251520" y="750888"/>
          <a:ext cx="5456552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57" r:id="rId3" imgW="7874317" imgH="1524317" progId="Equation.3">
                  <p:embed/>
                </p:oleObj>
              </mc:Choice>
              <mc:Fallback>
                <p:oleObj r:id="rId3" imgW="7874317" imgH="1524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750888"/>
                        <a:ext cx="5456552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11967" y="192300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451830"/>
              </p:ext>
            </p:extLst>
          </p:nvPr>
        </p:nvGraphicFramePr>
        <p:xfrm>
          <a:off x="539552" y="2022524"/>
          <a:ext cx="3290581" cy="419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58" r:id="rId5" imgW="1891796" imgH="241512" progId="Equation.3">
                  <p:embed/>
                </p:oleObj>
              </mc:Choice>
              <mc:Fallback>
                <p:oleObj r:id="rId5" imgW="1891796" imgH="2415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022524"/>
                        <a:ext cx="3290581" cy="419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608106"/>
              </p:ext>
            </p:extLst>
          </p:nvPr>
        </p:nvGraphicFramePr>
        <p:xfrm>
          <a:off x="4067944" y="1995500"/>
          <a:ext cx="2642881" cy="388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59" r:id="rId7" imgW="1637906" imgH="241512" progId="Equation.3">
                  <p:embed/>
                </p:oleObj>
              </mc:Choice>
              <mc:Fallback>
                <p:oleObj r:id="rId7" imgW="1637906" imgH="2415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1995500"/>
                        <a:ext cx="2642881" cy="388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430715"/>
              </p:ext>
            </p:extLst>
          </p:nvPr>
        </p:nvGraphicFramePr>
        <p:xfrm>
          <a:off x="395536" y="2637865"/>
          <a:ext cx="2088232" cy="330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0" r:id="rId9" imgW="2805799" imgH="444624" progId="Equation.3">
                  <p:embed/>
                </p:oleObj>
              </mc:Choice>
              <mc:Fallback>
                <p:oleObj r:id="rId9" imgW="2805799" imgH="444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637865"/>
                        <a:ext cx="2088232" cy="330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992500"/>
              </p:ext>
            </p:extLst>
          </p:nvPr>
        </p:nvGraphicFramePr>
        <p:xfrm>
          <a:off x="2393342" y="2384126"/>
          <a:ext cx="2860656" cy="959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1" r:id="rId11" imgW="1967963" imgH="660430" progId="Equation.3">
                  <p:embed/>
                </p:oleObj>
              </mc:Choice>
              <mc:Fallback>
                <p:oleObj r:id="rId11" imgW="1967963" imgH="6604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342" y="2384126"/>
                        <a:ext cx="2860656" cy="959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2"/>
          <p:cNvSpPr txBox="1">
            <a:spLocks noChangeArrowheads="1"/>
          </p:cNvSpPr>
          <p:nvPr/>
        </p:nvSpPr>
        <p:spPr bwMode="auto">
          <a:xfrm>
            <a:off x="15997" y="645024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427046"/>
              </p:ext>
            </p:extLst>
          </p:nvPr>
        </p:nvGraphicFramePr>
        <p:xfrm>
          <a:off x="251520" y="3402138"/>
          <a:ext cx="5176372" cy="409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2" r:id="rId13" imgW="3046995" imgH="241512" progId="Equation.3">
                  <p:embed/>
                </p:oleObj>
              </mc:Choice>
              <mc:Fallback>
                <p:oleObj r:id="rId13" imgW="3046995" imgH="2415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402138"/>
                        <a:ext cx="5176372" cy="409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069766"/>
              </p:ext>
            </p:extLst>
          </p:nvPr>
        </p:nvGraphicFramePr>
        <p:xfrm>
          <a:off x="190417" y="3951392"/>
          <a:ext cx="3646909" cy="333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3" r:id="rId15" imgW="4862307" imgH="444624" progId="Equation.3">
                  <p:embed/>
                </p:oleObj>
              </mc:Choice>
              <mc:Fallback>
                <p:oleObj r:id="rId15" imgW="4862307" imgH="444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17" y="3951392"/>
                        <a:ext cx="3646909" cy="333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515739"/>
              </p:ext>
            </p:extLst>
          </p:nvPr>
        </p:nvGraphicFramePr>
        <p:xfrm>
          <a:off x="4499992" y="3438593"/>
          <a:ext cx="4263455" cy="119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4" r:id="rId17" imgW="2451417" imgH="686117" progId="Equation.3">
                  <p:embed/>
                </p:oleObj>
              </mc:Choice>
              <mc:Fallback>
                <p:oleObj r:id="rId17" imgW="2451417" imgH="6861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438593"/>
                        <a:ext cx="4263455" cy="119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248232"/>
              </p:ext>
            </p:extLst>
          </p:nvPr>
        </p:nvGraphicFramePr>
        <p:xfrm>
          <a:off x="161303" y="4411155"/>
          <a:ext cx="4921039" cy="359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5" r:id="rId19" imgW="3300884" imgH="241512" progId="Equation.3">
                  <p:embed/>
                </p:oleObj>
              </mc:Choice>
              <mc:Fallback>
                <p:oleObj r:id="rId19" imgW="3300884" imgH="2415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03" y="4411155"/>
                        <a:ext cx="4921039" cy="359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071236"/>
              </p:ext>
            </p:extLst>
          </p:nvPr>
        </p:nvGraphicFramePr>
        <p:xfrm>
          <a:off x="444195" y="4861251"/>
          <a:ext cx="3481294" cy="728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6" r:id="rId21" imgW="2184717" imgH="457517" progId="Equation.3">
                  <p:embed/>
                </p:oleObj>
              </mc:Choice>
              <mc:Fallback>
                <p:oleObj r:id="rId21" imgW="2184717" imgH="4575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95" y="4861251"/>
                        <a:ext cx="3481294" cy="728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51842"/>
              </p:ext>
            </p:extLst>
          </p:nvPr>
        </p:nvGraphicFramePr>
        <p:xfrm>
          <a:off x="3928218" y="5013176"/>
          <a:ext cx="4316190" cy="785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7" r:id="rId23" imgW="2794317" imgH="508317" progId="Equation.3">
                  <p:embed/>
                </p:oleObj>
              </mc:Choice>
              <mc:Fallback>
                <p:oleObj r:id="rId23" imgW="2794317" imgH="508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8218" y="5013176"/>
                        <a:ext cx="4316190" cy="7853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04211"/>
              </p:ext>
            </p:extLst>
          </p:nvPr>
        </p:nvGraphicFramePr>
        <p:xfrm>
          <a:off x="228720" y="5763484"/>
          <a:ext cx="2421863" cy="279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68" r:id="rId25" imgW="3846748" imgH="444624" progId="Equation.3">
                  <p:embed/>
                </p:oleObj>
              </mc:Choice>
              <mc:Fallback>
                <p:oleObj r:id="rId25" imgW="3846748" imgH="444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20" y="5763484"/>
                        <a:ext cx="2421863" cy="279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4"/>
          <p:cNvGrpSpPr>
            <a:grpSpLocks noChangeAspect="1"/>
          </p:cNvGrpSpPr>
          <p:nvPr/>
        </p:nvGrpSpPr>
        <p:grpSpPr bwMode="auto">
          <a:xfrm>
            <a:off x="2634423" y="5741919"/>
            <a:ext cx="4076402" cy="483573"/>
            <a:chOff x="0" y="0"/>
            <a:chExt cx="4080" cy="484"/>
          </a:xfrm>
        </p:grpSpPr>
        <p:graphicFrame>
          <p:nvGraphicFramePr>
            <p:cNvPr id="17" name="Object 5"/>
            <p:cNvGraphicFramePr>
              <a:graphicFrameLocks noChangeAspect="1"/>
            </p:cNvGraphicFramePr>
            <p:nvPr/>
          </p:nvGraphicFramePr>
          <p:xfrm>
            <a:off x="0" y="18"/>
            <a:ext cx="2016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769" r:id="rId27" imgW="1220046" imgH="279838" progId="Equation.3">
                    <p:embed/>
                  </p:oleObj>
                </mc:Choice>
                <mc:Fallback>
                  <p:oleObj r:id="rId27" imgW="1220046" imgH="27983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8"/>
                          <a:ext cx="2016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6"/>
            <p:cNvGraphicFramePr>
              <a:graphicFrameLocks noChangeAspect="1"/>
            </p:cNvGraphicFramePr>
            <p:nvPr/>
          </p:nvGraphicFramePr>
          <p:xfrm>
            <a:off x="2064" y="0"/>
            <a:ext cx="2016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770" r:id="rId29" imgW="1269766" imgH="304985" progId="Equation.3">
                    <p:embed/>
                  </p:oleObj>
                </mc:Choice>
                <mc:Fallback>
                  <p:oleObj r:id="rId29" imgW="1269766" imgH="3049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0"/>
                          <a:ext cx="2016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510228"/>
              </p:ext>
            </p:extLst>
          </p:nvPr>
        </p:nvGraphicFramePr>
        <p:xfrm>
          <a:off x="6882377" y="2209317"/>
          <a:ext cx="2519821" cy="291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71" r:id="rId31" imgW="3846748" imgH="444624" progId="Equation.3">
                  <p:embed/>
                </p:oleObj>
              </mc:Choice>
              <mc:Fallback>
                <p:oleObj r:id="rId31" imgW="3846748" imgH="444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2377" y="2209317"/>
                        <a:ext cx="2519821" cy="29106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8"/>
          <p:cNvGrpSpPr>
            <a:grpSpLocks noChangeAspect="1"/>
          </p:cNvGrpSpPr>
          <p:nvPr/>
        </p:nvGrpSpPr>
        <p:grpSpPr bwMode="auto">
          <a:xfrm>
            <a:off x="6012160" y="2724922"/>
            <a:ext cx="2960582" cy="399180"/>
            <a:chOff x="0" y="0"/>
            <a:chExt cx="2848" cy="384"/>
          </a:xfrm>
          <a:solidFill>
            <a:srgbClr val="92D050"/>
          </a:solidFill>
        </p:grpSpPr>
        <p:graphicFrame>
          <p:nvGraphicFramePr>
            <p:cNvPr id="21" name="Object 9"/>
            <p:cNvGraphicFramePr>
              <a:graphicFrameLocks noChangeAspect="1"/>
            </p:cNvGraphicFramePr>
            <p:nvPr/>
          </p:nvGraphicFramePr>
          <p:xfrm>
            <a:off x="0" y="26"/>
            <a:ext cx="124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772" r:id="rId33" imgW="1968817" imgH="559117" progId="Equation.3">
                    <p:embed/>
                  </p:oleObj>
                </mc:Choice>
                <mc:Fallback>
                  <p:oleObj r:id="rId33" imgW="1968817" imgH="5591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6"/>
                          <a:ext cx="124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0"/>
            <p:cNvGraphicFramePr>
              <a:graphicFrameLocks noChangeAspect="1"/>
            </p:cNvGraphicFramePr>
            <p:nvPr/>
          </p:nvGraphicFramePr>
          <p:xfrm>
            <a:off x="1536" y="0"/>
            <a:ext cx="131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1773" r:id="rId35" imgW="2083117" imgH="609917" progId="Equation.3">
                    <p:embed/>
                  </p:oleObj>
                </mc:Choice>
                <mc:Fallback>
                  <p:oleObj r:id="rId35" imgW="2083117" imgH="6099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0"/>
                          <a:ext cx="131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5947024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28600"/>
            <a:ext cx="8841913" cy="31713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278685"/>
            <a:ext cx="4032448" cy="9463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5229200"/>
            <a:ext cx="7848872" cy="736373"/>
          </a:xfrm>
          <a:prstGeom prst="rect">
            <a:avLst/>
          </a:prstGeom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79512" y="692696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7237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492918"/>
            <a:ext cx="8642350" cy="1081088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400" dirty="0" smtClean="0">
                <a:effectLst/>
              </a:rPr>
              <a:t>4</a:t>
            </a:r>
            <a:r>
              <a:rPr lang="zh-CN" altLang="en-US" sz="2400" dirty="0" smtClean="0">
                <a:effectLst/>
              </a:rPr>
              <a:t>：设</a:t>
            </a:r>
            <a:r>
              <a:rPr lang="en-US" altLang="zh-CN" sz="2400" i="1" dirty="0" smtClean="0">
                <a:effectLst/>
              </a:rPr>
              <a:t>X</a:t>
            </a:r>
            <a:r>
              <a:rPr lang="en-US" altLang="zh-CN" sz="2400" baseline="-25000" dirty="0" smtClean="0">
                <a:effectLst/>
              </a:rPr>
              <a:t>1</a:t>
            </a:r>
            <a:r>
              <a:rPr lang="en-US" altLang="zh-CN" sz="2400" dirty="0" smtClean="0">
                <a:effectLst/>
              </a:rPr>
              <a:t>, </a:t>
            </a:r>
            <a:r>
              <a:rPr lang="en-US" altLang="zh-CN" sz="2400" i="1" dirty="0" smtClean="0">
                <a:effectLst/>
              </a:rPr>
              <a:t>X</a:t>
            </a:r>
            <a:r>
              <a:rPr lang="en-US" altLang="zh-CN" sz="2400" baseline="-25000" dirty="0" smtClean="0">
                <a:effectLst/>
              </a:rPr>
              <a:t>2</a:t>
            </a:r>
            <a:r>
              <a:rPr lang="en-US" altLang="zh-CN" sz="2400" dirty="0" smtClean="0">
                <a:effectLst/>
              </a:rPr>
              <a:t>, …, </a:t>
            </a:r>
            <a:r>
              <a:rPr lang="en-US" altLang="zh-CN" sz="2400" i="1" dirty="0" err="1" smtClean="0">
                <a:effectLst/>
              </a:rPr>
              <a:t>X</a:t>
            </a:r>
            <a:r>
              <a:rPr lang="en-US" altLang="zh-CN" sz="2400" i="1" baseline="-25000" dirty="0" err="1" smtClean="0">
                <a:effectLst/>
              </a:rPr>
              <a:t>n</a:t>
            </a:r>
            <a:r>
              <a:rPr lang="zh-CN" altLang="en-US" sz="2400" dirty="0" smtClean="0">
                <a:effectLst/>
              </a:rPr>
              <a:t>是来自参数为</a:t>
            </a:r>
            <a:r>
              <a:rPr lang="en-US" altLang="zh-CN" sz="2400" i="1" dirty="0" smtClean="0">
                <a:effectLst/>
                <a:latin typeface="Symbol" panose="05050102010706020507" pitchFamily="18" charset="2"/>
              </a:rPr>
              <a:t>l</a:t>
            </a:r>
            <a:r>
              <a:rPr lang="zh-CN" altLang="en-US" sz="2400" dirty="0" smtClean="0">
                <a:effectLst/>
              </a:rPr>
              <a:t>的泊松分布总体的一个样本</a:t>
            </a:r>
            <a:r>
              <a:rPr lang="en-US" altLang="zh-CN" sz="2400" dirty="0" smtClean="0">
                <a:effectLst/>
              </a:rPr>
              <a:t>,</a:t>
            </a:r>
            <a:r>
              <a:rPr lang="zh-CN" altLang="en-US" sz="2400" dirty="0" smtClean="0">
                <a:effectLst/>
              </a:rPr>
              <a:t>试求</a:t>
            </a:r>
            <a:r>
              <a:rPr lang="en-US" altLang="zh-CN" sz="2400" i="1" dirty="0" smtClean="0">
                <a:effectLst/>
                <a:latin typeface="Symbol" panose="05050102010706020507" pitchFamily="18" charset="2"/>
              </a:rPr>
              <a:t>l</a:t>
            </a:r>
            <a:r>
              <a:rPr lang="zh-CN" altLang="en-US" sz="2400" dirty="0" smtClean="0">
                <a:effectLst/>
              </a:rPr>
              <a:t>的最大似然估计量和矩估计量</a:t>
            </a:r>
            <a:r>
              <a:rPr lang="en-US" altLang="zh-CN" sz="2400" dirty="0" smtClean="0">
                <a:effectLst/>
              </a:rPr>
              <a:t>.</a:t>
            </a:r>
          </a:p>
        </p:txBody>
      </p:sp>
      <p:sp>
        <p:nvSpPr>
          <p:cNvPr id="481284" name="Rectangle 4"/>
          <p:cNvSpPr>
            <a:spLocks noChangeArrowheads="1"/>
          </p:cNvSpPr>
          <p:nvPr/>
        </p:nvSpPr>
        <p:spPr bwMode="auto">
          <a:xfrm>
            <a:off x="576262" y="1466371"/>
            <a:ext cx="45354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0" dirty="0"/>
              <a:t>解</a:t>
            </a:r>
            <a:r>
              <a:rPr lang="en-US" altLang="zh-CN" sz="2400" b="0" dirty="0"/>
              <a:t>:</a:t>
            </a:r>
            <a:r>
              <a:rPr lang="zh-CN" altLang="en-US" sz="2400" b="0" dirty="0"/>
              <a:t>由于</a:t>
            </a:r>
            <a:r>
              <a:rPr lang="en-US" altLang="zh-CN" sz="2400" b="0" i="1" dirty="0" err="1"/>
              <a:t>X</a:t>
            </a:r>
            <a:r>
              <a:rPr lang="en-US" altLang="zh-CN" sz="2400" b="0" dirty="0" err="1"/>
              <a:t>~</a:t>
            </a:r>
            <a:r>
              <a:rPr lang="en-US" altLang="zh-CN" sz="2400" b="0" i="1" dirty="0" err="1">
                <a:latin typeface="Symbol" panose="05050102010706020507" pitchFamily="18" charset="2"/>
              </a:rPr>
              <a:t>p</a:t>
            </a:r>
            <a:r>
              <a:rPr lang="en-US" altLang="zh-CN" sz="2400" b="0" dirty="0"/>
              <a:t>(</a:t>
            </a:r>
            <a:r>
              <a:rPr lang="en-US" altLang="zh-CN" sz="2400" b="0" i="1" dirty="0">
                <a:latin typeface="Symbol" panose="05050102010706020507" pitchFamily="18" charset="2"/>
              </a:rPr>
              <a:t>l</a:t>
            </a:r>
            <a:r>
              <a:rPr lang="en-US" altLang="zh-CN" sz="2400" b="0" dirty="0"/>
              <a:t>), </a:t>
            </a:r>
            <a:r>
              <a:rPr lang="zh-CN" altLang="en-US" sz="2400" b="0" dirty="0"/>
              <a:t>其分布律为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481285" name="Object 5"/>
          <p:cNvGraphicFramePr>
            <a:graphicFrameLocks noChangeAspect="1"/>
          </p:cNvGraphicFramePr>
          <p:nvPr/>
        </p:nvGraphicFramePr>
        <p:xfrm>
          <a:off x="4365625" y="1377950"/>
          <a:ext cx="36623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3" name="Equation" r:id="rId3" imgW="2032000" imgH="419100" progId="Equation.DSMT4">
                  <p:embed/>
                </p:oleObj>
              </mc:Choice>
              <mc:Fallback>
                <p:oleObj name="Equation" r:id="rId3" imgW="2032000" imgH="419100" progId="Equation.DSMT4">
                  <p:embed/>
                  <p:pic>
                    <p:nvPicPr>
                      <p:cNvPr id="4812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1377950"/>
                        <a:ext cx="366236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86" name="Rectangle 6"/>
          <p:cNvSpPr>
            <a:spLocks noChangeArrowheads="1"/>
          </p:cNvSpPr>
          <p:nvPr/>
        </p:nvSpPr>
        <p:spPr bwMode="auto">
          <a:xfrm>
            <a:off x="-22651" y="2172249"/>
            <a:ext cx="45354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则似然函数为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4812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736683"/>
              </p:ext>
            </p:extLst>
          </p:nvPr>
        </p:nvGraphicFramePr>
        <p:xfrm>
          <a:off x="2095376" y="1934800"/>
          <a:ext cx="2735758" cy="1168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4" name="Equation" r:id="rId5" imgW="1905000" imgH="812800" progId="Equation.DSMT4">
                  <p:embed/>
                </p:oleObj>
              </mc:Choice>
              <mc:Fallback>
                <p:oleObj name="Equation" r:id="rId5" imgW="1905000" imgH="812800" progId="Equation.DSMT4">
                  <p:embed/>
                  <p:pic>
                    <p:nvPicPr>
                      <p:cNvPr id="4812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376" y="1934800"/>
                        <a:ext cx="2735758" cy="1168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88" name="Rectangle 8"/>
          <p:cNvSpPr>
            <a:spLocks noChangeArrowheads="1"/>
          </p:cNvSpPr>
          <p:nvPr/>
        </p:nvSpPr>
        <p:spPr bwMode="auto">
          <a:xfrm>
            <a:off x="4910570" y="2195273"/>
            <a:ext cx="45354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对数似然函数为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4812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504769"/>
              </p:ext>
            </p:extLst>
          </p:nvPr>
        </p:nvGraphicFramePr>
        <p:xfrm>
          <a:off x="5220072" y="2648478"/>
          <a:ext cx="3961761" cy="833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5" name="Equation" r:id="rId7" imgW="2057400" imgH="431800" progId="Equation.DSMT4">
                  <p:embed/>
                </p:oleObj>
              </mc:Choice>
              <mc:Fallback>
                <p:oleObj name="Equation" r:id="rId7" imgW="2057400" imgH="431800" progId="Equation.DSMT4">
                  <p:embed/>
                  <p:pic>
                    <p:nvPicPr>
                      <p:cNvPr id="4812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2648478"/>
                        <a:ext cx="3961761" cy="833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90" name="Rectangle 10"/>
          <p:cNvSpPr>
            <a:spLocks noChangeArrowheads="1"/>
          </p:cNvSpPr>
          <p:nvPr/>
        </p:nvSpPr>
        <p:spPr bwMode="auto">
          <a:xfrm>
            <a:off x="0" y="2921345"/>
            <a:ext cx="45354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似然方程为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4812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199072"/>
              </p:ext>
            </p:extLst>
          </p:nvPr>
        </p:nvGraphicFramePr>
        <p:xfrm>
          <a:off x="1907704" y="2954914"/>
          <a:ext cx="2178233" cy="936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6" name="Equation" r:id="rId9" imgW="1422400" imgH="609600" progId="Equation.DSMT4">
                  <p:embed/>
                </p:oleObj>
              </mc:Choice>
              <mc:Fallback>
                <p:oleObj name="Equation" r:id="rId9" imgW="1422400" imgH="609600" progId="Equation.DSMT4">
                  <p:embed/>
                  <p:pic>
                    <p:nvPicPr>
                      <p:cNvPr id="4812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954914"/>
                        <a:ext cx="2178233" cy="936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474669" y="3843044"/>
            <a:ext cx="9350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解得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1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38061"/>
              </p:ext>
            </p:extLst>
          </p:nvPr>
        </p:nvGraphicFramePr>
        <p:xfrm>
          <a:off x="1338269" y="3700169"/>
          <a:ext cx="216693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7" name="Equation" r:id="rId11" imgW="952087" imgH="431613" progId="Equation.DSMT4">
                  <p:embed/>
                </p:oleObj>
              </mc:Choice>
              <mc:Fallback>
                <p:oleObj name="Equation" r:id="rId11" imgW="952087" imgH="431613" progId="Equation.DSMT4">
                  <p:embed/>
                  <p:pic>
                    <p:nvPicPr>
                      <p:cNvPr id="1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9" y="3700169"/>
                        <a:ext cx="216693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3498856" y="3843044"/>
            <a:ext cx="48958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/>
              <a:t>为</a:t>
            </a:r>
            <a:r>
              <a:rPr lang="en-US" altLang="zh-CN" sz="2400" b="0" i="1">
                <a:latin typeface="Symbol" panose="05050102010706020507" pitchFamily="18" charset="2"/>
              </a:rPr>
              <a:t>l</a:t>
            </a:r>
            <a:r>
              <a:rPr lang="zh-CN" altLang="en-US" sz="2400" b="0"/>
              <a:t>的最大似然估计值</a:t>
            </a:r>
            <a:r>
              <a:rPr lang="en-US" altLang="zh-CN" sz="2400" b="0"/>
              <a:t>.</a:t>
            </a:r>
            <a:r>
              <a:rPr lang="zh-CN" altLang="en-US" sz="2400" b="0"/>
              <a:t>从而</a:t>
            </a:r>
            <a:r>
              <a:rPr lang="en-US" altLang="zh-CN" sz="2400" b="0" i="1">
                <a:latin typeface="Symbol" panose="05050102010706020507" pitchFamily="18" charset="2"/>
              </a:rPr>
              <a:t>l</a:t>
            </a:r>
            <a:r>
              <a:rPr lang="zh-CN" altLang="en-US" sz="2400" b="0"/>
              <a:t>的最大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-30156" y="4708232"/>
            <a:ext cx="47513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/>
              <a:t>似然估计量为</a:t>
            </a:r>
          </a:p>
        </p:txBody>
      </p:sp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013430"/>
              </p:ext>
            </p:extLst>
          </p:nvPr>
        </p:nvGraphicFramePr>
        <p:xfrm>
          <a:off x="1979360" y="4566614"/>
          <a:ext cx="23685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8" name="Equation" r:id="rId13" imgW="1040948" imgH="431613" progId="Equation.DSMT4">
                  <p:embed/>
                </p:oleObj>
              </mc:Choice>
              <mc:Fallback>
                <p:oleObj name="Equation" r:id="rId13" imgW="1040948" imgH="431613" progId="Equation.DSMT4">
                  <p:embed/>
                  <p:pic>
                    <p:nvPicPr>
                      <p:cNvPr id="2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360" y="4566614"/>
                        <a:ext cx="23685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287337" y="5537525"/>
            <a:ext cx="4248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因为总体</a:t>
            </a:r>
            <a:r>
              <a:rPr lang="en-US" altLang="zh-CN" sz="2400" b="0" i="1" dirty="0" err="1"/>
              <a:t>X</a:t>
            </a:r>
            <a:r>
              <a:rPr lang="en-US" altLang="zh-CN" sz="2400" b="0" dirty="0" err="1"/>
              <a:t>~</a:t>
            </a:r>
            <a:r>
              <a:rPr lang="en-US" altLang="zh-CN" sz="2400" b="0" i="1" dirty="0" err="1">
                <a:latin typeface="Symbol" panose="05050102010706020507" pitchFamily="18" charset="2"/>
              </a:rPr>
              <a:t>p</a:t>
            </a:r>
            <a:r>
              <a:rPr lang="en-US" altLang="zh-CN" sz="2400" b="0" dirty="0"/>
              <a:t>(</a:t>
            </a:r>
            <a:r>
              <a:rPr lang="en-US" altLang="zh-CN" sz="2400" b="0" i="1" dirty="0">
                <a:latin typeface="Symbol" panose="05050102010706020507" pitchFamily="18" charset="2"/>
              </a:rPr>
              <a:t>l</a:t>
            </a:r>
            <a:r>
              <a:rPr lang="en-US" altLang="zh-CN" sz="2400" b="0" dirty="0"/>
              <a:t>), </a:t>
            </a:r>
            <a:r>
              <a:rPr lang="zh-CN" altLang="en-US" sz="2400" b="0" dirty="0"/>
              <a:t>则</a:t>
            </a:r>
            <a:r>
              <a:rPr lang="en-US" altLang="zh-CN" sz="2400" b="0" i="1" dirty="0"/>
              <a:t>E</a:t>
            </a:r>
            <a:r>
              <a:rPr lang="en-US" altLang="zh-CN" sz="2400" b="0" dirty="0"/>
              <a:t>(</a:t>
            </a:r>
            <a:r>
              <a:rPr lang="en-US" altLang="zh-CN" sz="2400" b="0" i="1" dirty="0"/>
              <a:t>X</a:t>
            </a:r>
            <a:r>
              <a:rPr lang="en-US" altLang="zh-CN" sz="2400" b="0" dirty="0"/>
              <a:t>)=</a:t>
            </a:r>
            <a:r>
              <a:rPr lang="en-US" altLang="zh-CN" sz="2400" b="0" i="1" dirty="0">
                <a:latin typeface="Symbol" panose="05050102010706020507" pitchFamily="18" charset="2"/>
              </a:rPr>
              <a:t>l</a:t>
            </a:r>
            <a:r>
              <a:rPr lang="en-US" altLang="zh-CN" sz="2400" b="0" dirty="0"/>
              <a:t>, </a:t>
            </a:r>
            <a:r>
              <a:rPr lang="zh-CN" altLang="en-US" sz="2400" b="0" dirty="0"/>
              <a:t>故</a:t>
            </a:r>
          </a:p>
        </p:txBody>
      </p:sp>
      <p:graphicFrame>
        <p:nvGraphicFramePr>
          <p:cNvPr id="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975754"/>
              </p:ext>
            </p:extLst>
          </p:nvPr>
        </p:nvGraphicFramePr>
        <p:xfrm>
          <a:off x="4319587" y="5610550"/>
          <a:ext cx="9540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9" name="Equation" r:id="rId15" imgW="418918" imgH="215806" progId="Equation.DSMT4">
                  <p:embed/>
                </p:oleObj>
              </mc:Choice>
              <mc:Fallback>
                <p:oleObj name="Equation" r:id="rId15" imgW="418918" imgH="215806" progId="Equation.DSMT4">
                  <p:embed/>
                  <p:pic>
                    <p:nvPicPr>
                      <p:cNvPr id="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7" y="5610550"/>
                        <a:ext cx="95408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5327649" y="5537525"/>
            <a:ext cx="25923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/>
              <a:t>即为</a:t>
            </a:r>
            <a:r>
              <a:rPr lang="en-US" altLang="zh-CN" sz="2400" b="0" i="1">
                <a:latin typeface="Symbol" panose="05050102010706020507" pitchFamily="18" charset="2"/>
              </a:rPr>
              <a:t>l</a:t>
            </a:r>
            <a:r>
              <a:rPr lang="zh-CN" altLang="en-US" sz="2400" b="0"/>
              <a:t>的矩估计量</a:t>
            </a:r>
            <a:r>
              <a:rPr lang="en-US" altLang="zh-CN" sz="2400" b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288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8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4" grpId="0"/>
      <p:bldP spid="481286" grpId="0"/>
      <p:bldP spid="481288" grpId="0"/>
      <p:bldP spid="481290" grpId="0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492125"/>
            <a:ext cx="8496300" cy="1727200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dirty="0" smtClean="0">
                <a:effectLst/>
              </a:rPr>
              <a:t>5. </a:t>
            </a:r>
            <a:r>
              <a:rPr lang="zh-CN" altLang="en-US" sz="2400" dirty="0" smtClean="0">
                <a:effectLst/>
              </a:rPr>
              <a:t>随机地取</a:t>
            </a:r>
            <a:r>
              <a:rPr lang="en-US" altLang="zh-CN" sz="2400" dirty="0" smtClean="0">
                <a:effectLst/>
              </a:rPr>
              <a:t>8</a:t>
            </a:r>
            <a:r>
              <a:rPr lang="zh-CN" altLang="en-US" sz="2400" dirty="0" smtClean="0">
                <a:effectLst/>
              </a:rPr>
              <a:t>只活塞</a:t>
            </a:r>
            <a:r>
              <a:rPr lang="en-US" altLang="zh-CN" sz="2400" dirty="0" smtClean="0">
                <a:effectLst/>
              </a:rPr>
              <a:t>,</a:t>
            </a:r>
            <a:r>
              <a:rPr lang="zh-CN" altLang="en-US" sz="2400" dirty="0" smtClean="0">
                <a:effectLst/>
              </a:rPr>
              <a:t>测得它们的直径为</a:t>
            </a:r>
            <a:r>
              <a:rPr lang="en-US" altLang="zh-CN" sz="2400" dirty="0" smtClean="0">
                <a:effectLst/>
              </a:rPr>
              <a:t>(</a:t>
            </a:r>
            <a:r>
              <a:rPr lang="zh-CN" altLang="en-US" sz="2400" dirty="0" smtClean="0">
                <a:effectLst/>
              </a:rPr>
              <a:t>以</a:t>
            </a:r>
            <a:r>
              <a:rPr lang="en-US" altLang="zh-CN" sz="2400" dirty="0" smtClean="0">
                <a:effectLst/>
              </a:rPr>
              <a:t>mm</a:t>
            </a:r>
            <a:r>
              <a:rPr lang="zh-CN" altLang="en-US" sz="2400" dirty="0" smtClean="0">
                <a:effectLst/>
              </a:rPr>
              <a:t>计</a:t>
            </a:r>
            <a:r>
              <a:rPr lang="en-US" altLang="zh-CN" sz="2400" dirty="0" smtClean="0">
                <a:effectLst/>
              </a:rPr>
              <a:t>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 smtClean="0">
                <a:effectLst/>
              </a:rPr>
              <a:t>74.001   74.005   74.003   74.001   74.000   73.998  74.006   74.002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 smtClean="0">
                <a:effectLst/>
              </a:rPr>
              <a:t>试求总体均值</a:t>
            </a:r>
            <a:r>
              <a:rPr lang="en-US" altLang="zh-CN" sz="2400" i="1" dirty="0" smtClean="0">
                <a:effectLst/>
                <a:latin typeface="Symbol" panose="05050102010706020507" pitchFamily="18" charset="2"/>
              </a:rPr>
              <a:t>m</a:t>
            </a:r>
            <a:r>
              <a:rPr lang="zh-CN" altLang="en-US" sz="2400" dirty="0" smtClean="0">
                <a:effectLst/>
              </a:rPr>
              <a:t>及方差</a:t>
            </a:r>
            <a:r>
              <a:rPr lang="en-US" altLang="zh-CN" sz="2400" i="1" dirty="0" smtClean="0">
                <a:effectLst/>
                <a:latin typeface="Symbol" panose="05050102010706020507" pitchFamily="18" charset="2"/>
              </a:rPr>
              <a:t>s</a:t>
            </a:r>
            <a:r>
              <a:rPr lang="en-US" altLang="zh-CN" sz="2400" baseline="30000" dirty="0" smtClean="0">
                <a:effectLst/>
              </a:rPr>
              <a:t>2</a:t>
            </a:r>
            <a:r>
              <a:rPr lang="zh-CN" altLang="en-US" sz="2400" dirty="0" smtClean="0">
                <a:effectLst/>
              </a:rPr>
              <a:t>的矩估计值</a:t>
            </a:r>
            <a:r>
              <a:rPr lang="en-US" altLang="zh-CN" sz="2400" dirty="0" smtClean="0">
                <a:effectLst/>
              </a:rPr>
              <a:t>,</a:t>
            </a:r>
            <a:r>
              <a:rPr lang="zh-CN" altLang="en-US" sz="2400" dirty="0" smtClean="0">
                <a:effectLst/>
              </a:rPr>
              <a:t>并求样本方差</a:t>
            </a:r>
            <a:r>
              <a:rPr lang="en-US" altLang="zh-CN" sz="2400" i="1" dirty="0" smtClean="0">
                <a:effectLst/>
              </a:rPr>
              <a:t>s</a:t>
            </a:r>
            <a:r>
              <a:rPr lang="en-US" altLang="zh-CN" sz="2400" baseline="30000" dirty="0" smtClean="0">
                <a:effectLst/>
              </a:rPr>
              <a:t>2</a:t>
            </a:r>
            <a:r>
              <a:rPr lang="en-US" altLang="zh-CN" sz="2400" dirty="0" smtClean="0">
                <a:effectLst/>
              </a:rPr>
              <a:t>.</a:t>
            </a:r>
          </a:p>
        </p:txBody>
      </p:sp>
      <p:sp>
        <p:nvSpPr>
          <p:cNvPr id="107523" name="Rectangle 4"/>
          <p:cNvSpPr>
            <a:spLocks noChangeArrowheads="1"/>
          </p:cNvSpPr>
          <p:nvPr/>
        </p:nvSpPr>
        <p:spPr bwMode="auto">
          <a:xfrm>
            <a:off x="250825" y="1952626"/>
            <a:ext cx="84963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解</a:t>
            </a:r>
            <a:r>
              <a:rPr lang="en-US" altLang="zh-CN" sz="2400" b="0" dirty="0"/>
              <a:t>: </a:t>
            </a:r>
            <a:r>
              <a:rPr lang="zh-CN" altLang="en-US" sz="2400" b="0" dirty="0"/>
              <a:t>设活塞环的直径为</a:t>
            </a:r>
            <a:r>
              <a:rPr lang="en-US" altLang="zh-CN" sz="2400" b="0" i="1" dirty="0"/>
              <a:t>X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由矩估计法知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1075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147515"/>
              </p:ext>
            </p:extLst>
          </p:nvPr>
        </p:nvGraphicFramePr>
        <p:xfrm>
          <a:off x="1979613" y="2420938"/>
          <a:ext cx="4392587" cy="853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42" name="Equation" r:id="rId3" imgW="2616200" imgH="508000" progId="Equation.DSMT4">
                  <p:embed/>
                </p:oleObj>
              </mc:Choice>
              <mc:Fallback>
                <p:oleObj name="Equation" r:id="rId3" imgW="2616200" imgH="508000" progId="Equation.DSMT4">
                  <p:embed/>
                  <p:pic>
                    <p:nvPicPr>
                      <p:cNvPr id="1075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420938"/>
                        <a:ext cx="4392587" cy="853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5" name="Rectangle 6"/>
          <p:cNvSpPr>
            <a:spLocks noChangeArrowheads="1"/>
          </p:cNvSpPr>
          <p:nvPr/>
        </p:nvSpPr>
        <p:spPr bwMode="auto">
          <a:xfrm>
            <a:off x="-72244" y="3358717"/>
            <a:ext cx="84963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以</a:t>
            </a:r>
            <a:r>
              <a:rPr lang="en-US" altLang="zh-CN" sz="2400" b="0" i="1" dirty="0"/>
              <a:t>A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, </a:t>
            </a:r>
            <a:r>
              <a:rPr lang="en-US" altLang="zh-CN" sz="2400" b="0" i="1" dirty="0"/>
              <a:t>A</a:t>
            </a:r>
            <a:r>
              <a:rPr lang="en-US" altLang="zh-CN" sz="2400" b="0" baseline="-25000" dirty="0"/>
              <a:t>2</a:t>
            </a:r>
            <a:r>
              <a:rPr lang="zh-CN" altLang="en-US" sz="2400" b="0" dirty="0"/>
              <a:t>代替</a:t>
            </a:r>
            <a:r>
              <a:rPr lang="en-US" altLang="zh-CN" sz="2400" b="0" i="1" dirty="0">
                <a:latin typeface="Symbol" panose="05050102010706020507" pitchFamily="18" charset="2"/>
              </a:rPr>
              <a:t>m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, </a:t>
            </a:r>
            <a:r>
              <a:rPr lang="en-US" altLang="zh-CN" sz="2400" b="0" i="1" dirty="0">
                <a:latin typeface="Symbol" panose="05050102010706020507" pitchFamily="18" charset="2"/>
              </a:rPr>
              <a:t>m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得</a:t>
            </a:r>
            <a:r>
              <a:rPr lang="en-US" altLang="zh-CN" sz="2400" b="0" i="1" dirty="0">
                <a:latin typeface="Symbol" panose="05050102010706020507" pitchFamily="18" charset="2"/>
              </a:rPr>
              <a:t>m</a:t>
            </a:r>
            <a:r>
              <a:rPr lang="zh-CN" altLang="en-US" sz="2400" b="0" dirty="0"/>
              <a:t>和</a:t>
            </a:r>
            <a:r>
              <a:rPr lang="en-US" altLang="zh-CN" sz="2400" b="0" i="1" dirty="0">
                <a:latin typeface="Symbol" panose="05050102010706020507" pitchFamily="18" charset="2"/>
              </a:rPr>
              <a:t>s</a:t>
            </a:r>
            <a:r>
              <a:rPr lang="en-US" altLang="zh-CN" sz="2400" b="0" baseline="30000" dirty="0"/>
              <a:t>2</a:t>
            </a:r>
            <a:r>
              <a:rPr lang="zh-CN" altLang="en-US" sz="2400" b="0" dirty="0"/>
              <a:t>的估计量分别为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1075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623442"/>
              </p:ext>
            </p:extLst>
          </p:nvPr>
        </p:nvGraphicFramePr>
        <p:xfrm>
          <a:off x="4572000" y="3653316"/>
          <a:ext cx="4464496" cy="672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43" name="Equation" r:id="rId5" imgW="2870200" imgH="431800" progId="Equation.DSMT4">
                  <p:embed/>
                </p:oleObj>
              </mc:Choice>
              <mc:Fallback>
                <p:oleObj name="Equation" r:id="rId5" imgW="2870200" imgH="431800" progId="Equation.DSMT4">
                  <p:embed/>
                  <p:pic>
                    <p:nvPicPr>
                      <p:cNvPr id="1075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53316"/>
                        <a:ext cx="4464496" cy="672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7" name="Rectangle 8"/>
          <p:cNvSpPr>
            <a:spLocks noChangeArrowheads="1"/>
          </p:cNvSpPr>
          <p:nvPr/>
        </p:nvSpPr>
        <p:spPr bwMode="auto">
          <a:xfrm>
            <a:off x="-75963" y="3958239"/>
            <a:ext cx="32416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代入数据计算得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10752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643612"/>
              </p:ext>
            </p:extLst>
          </p:nvPr>
        </p:nvGraphicFramePr>
        <p:xfrm>
          <a:off x="2341915" y="4037487"/>
          <a:ext cx="4032448" cy="1459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44" name="Equation" r:id="rId7" imgW="2387600" imgH="863600" progId="Equation.DSMT4">
                  <p:embed/>
                </p:oleObj>
              </mc:Choice>
              <mc:Fallback>
                <p:oleObj name="Equation" r:id="rId7" imgW="2387600" imgH="863600" progId="Equation.DSMT4">
                  <p:embed/>
                  <p:pic>
                    <p:nvPicPr>
                      <p:cNvPr id="10752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915" y="4037487"/>
                        <a:ext cx="4032448" cy="1459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4529" y="5157117"/>
            <a:ext cx="3241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样本方差为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597864"/>
              </p:ext>
            </p:extLst>
          </p:nvPr>
        </p:nvGraphicFramePr>
        <p:xfrm>
          <a:off x="1655366" y="5334077"/>
          <a:ext cx="581342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45" name="Equation" r:id="rId9" imgW="3060700" imgH="431800" progId="Equation.DSMT4">
                  <p:embed/>
                </p:oleObj>
              </mc:Choice>
              <mc:Fallback>
                <p:oleObj name="Equation" r:id="rId9" imgW="3060700" imgH="431800" progId="Equation.DSMT4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366" y="5334077"/>
                        <a:ext cx="581342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741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615579"/>
            <a:ext cx="8496300" cy="57626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ffectLst/>
              </a:rPr>
              <a:t>6</a:t>
            </a:r>
            <a:r>
              <a:rPr lang="zh-CN" altLang="en-US" sz="2400" dirty="0" smtClean="0">
                <a:effectLst/>
              </a:rPr>
              <a:t>：设总体</a:t>
            </a:r>
            <a:r>
              <a:rPr lang="en-US" altLang="zh-CN" sz="2400" i="1" dirty="0" smtClean="0">
                <a:effectLst/>
              </a:rPr>
              <a:t>X</a:t>
            </a:r>
            <a:r>
              <a:rPr lang="zh-CN" altLang="en-US" sz="2400" dirty="0" smtClean="0">
                <a:effectLst/>
              </a:rPr>
              <a:t>具有分布律</a:t>
            </a:r>
          </a:p>
        </p:txBody>
      </p:sp>
      <p:graphicFrame>
        <p:nvGraphicFramePr>
          <p:cNvPr id="478270" name="Group 6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9462711"/>
              </p:ext>
            </p:extLst>
          </p:nvPr>
        </p:nvGraphicFramePr>
        <p:xfrm>
          <a:off x="4007274" y="476672"/>
          <a:ext cx="4298102" cy="914400"/>
        </p:xfrm>
        <a:graphic>
          <a:graphicData uri="http://schemas.openxmlformats.org/drawingml/2006/table">
            <a:tbl>
              <a:tblPr/>
              <a:tblGrid>
                <a:gridCol w="96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583" name="Rectangle 63"/>
          <p:cNvSpPr>
            <a:spLocks noChangeArrowheads="1"/>
          </p:cNvSpPr>
          <p:nvPr/>
        </p:nvSpPr>
        <p:spPr bwMode="auto">
          <a:xfrm>
            <a:off x="250825" y="1545059"/>
            <a:ext cx="856932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/>
              <a:t>其中</a:t>
            </a:r>
            <a:r>
              <a:rPr lang="en-US" altLang="zh-CN" sz="2400" b="0" i="1">
                <a:latin typeface="Symbol" panose="05050102010706020507" pitchFamily="18" charset="2"/>
              </a:rPr>
              <a:t>q</a:t>
            </a:r>
            <a:r>
              <a:rPr lang="en-US" altLang="zh-CN" sz="2400" b="0"/>
              <a:t>(0&lt;</a:t>
            </a:r>
            <a:r>
              <a:rPr lang="en-US" altLang="zh-CN" sz="2400" b="0" i="1">
                <a:latin typeface="Symbol" panose="05050102010706020507" pitchFamily="18" charset="2"/>
              </a:rPr>
              <a:t>q</a:t>
            </a:r>
            <a:r>
              <a:rPr lang="en-US" altLang="zh-CN" sz="2400" b="0"/>
              <a:t>&lt;1)</a:t>
            </a:r>
            <a:r>
              <a:rPr lang="zh-CN" altLang="en-US" sz="2400" b="0"/>
              <a:t>为未知参数</a:t>
            </a:r>
            <a:r>
              <a:rPr lang="en-US" altLang="zh-CN" sz="2400" b="0"/>
              <a:t>.</a:t>
            </a:r>
            <a:r>
              <a:rPr lang="zh-CN" altLang="en-US" sz="2400" b="0"/>
              <a:t>已知取得了样本值</a:t>
            </a:r>
            <a:r>
              <a:rPr lang="en-US" altLang="zh-CN" sz="2400" b="0" i="1"/>
              <a:t>x</a:t>
            </a:r>
            <a:r>
              <a:rPr lang="en-US" altLang="zh-CN" sz="2400" b="0" baseline="-25000"/>
              <a:t>1</a:t>
            </a:r>
            <a:r>
              <a:rPr lang="en-US" altLang="zh-CN" sz="2400" b="0"/>
              <a:t>=1, </a:t>
            </a:r>
            <a:r>
              <a:rPr lang="en-US" altLang="zh-CN" sz="2400" b="0" i="1"/>
              <a:t>x</a:t>
            </a:r>
            <a:r>
              <a:rPr lang="en-US" altLang="zh-CN" sz="2400" b="0" baseline="-25000"/>
              <a:t>2</a:t>
            </a:r>
            <a:r>
              <a:rPr lang="en-US" altLang="zh-CN" sz="2400" b="0"/>
              <a:t>=2, </a:t>
            </a:r>
            <a:r>
              <a:rPr lang="en-US" altLang="zh-CN" sz="2400" b="0" i="1"/>
              <a:t>x</a:t>
            </a:r>
            <a:r>
              <a:rPr lang="en-US" altLang="zh-CN" sz="2400" b="0" baseline="-25000"/>
              <a:t>3</a:t>
            </a:r>
            <a:r>
              <a:rPr lang="en-US" altLang="zh-CN" sz="2400" b="0"/>
              <a:t>=1.</a:t>
            </a:r>
            <a:r>
              <a:rPr lang="zh-CN" altLang="en-US" sz="2400" b="0"/>
              <a:t>试求</a:t>
            </a:r>
            <a:r>
              <a:rPr lang="en-US" altLang="zh-CN" sz="2400" b="0" i="1">
                <a:latin typeface="Symbol" panose="05050102010706020507" pitchFamily="18" charset="2"/>
              </a:rPr>
              <a:t>q</a:t>
            </a:r>
            <a:r>
              <a:rPr lang="zh-CN" altLang="en-US" sz="2400" b="0"/>
              <a:t>的矩估计值和最大似然估计量</a:t>
            </a:r>
            <a:r>
              <a:rPr lang="en-US" altLang="zh-CN" sz="2400" b="0"/>
              <a:t>.</a:t>
            </a:r>
          </a:p>
        </p:txBody>
      </p:sp>
      <p:sp>
        <p:nvSpPr>
          <p:cNvPr id="478273" name="Rectangle 65"/>
          <p:cNvSpPr>
            <a:spLocks noChangeArrowheads="1"/>
          </p:cNvSpPr>
          <p:nvPr/>
        </p:nvSpPr>
        <p:spPr bwMode="auto">
          <a:xfrm>
            <a:off x="-36513" y="2492002"/>
            <a:ext cx="47529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b="0" dirty="0"/>
              <a:t>解</a:t>
            </a:r>
            <a:r>
              <a:rPr lang="en-US" altLang="zh-CN" sz="2400" b="0" dirty="0"/>
              <a:t>: </a:t>
            </a:r>
            <a:r>
              <a:rPr lang="zh-CN" altLang="en-US" sz="2400" b="0" dirty="0"/>
              <a:t>依题意总体</a:t>
            </a:r>
            <a:r>
              <a:rPr lang="en-US" altLang="zh-CN" sz="2400" b="0" i="1" dirty="0"/>
              <a:t>X</a:t>
            </a:r>
            <a:r>
              <a:rPr lang="zh-CN" altLang="en-US" sz="2400" b="0" dirty="0"/>
              <a:t>的均值为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478274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837359"/>
              </p:ext>
            </p:extLst>
          </p:nvPr>
        </p:nvGraphicFramePr>
        <p:xfrm>
          <a:off x="3525839" y="2499171"/>
          <a:ext cx="5510212" cy="419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66" name="Equation" r:id="rId3" imgW="3009900" imgH="228600" progId="Equation.DSMT4">
                  <p:embed/>
                </p:oleObj>
              </mc:Choice>
              <mc:Fallback>
                <p:oleObj name="Equation" r:id="rId3" imgW="3009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9" y="2499171"/>
                        <a:ext cx="5510212" cy="419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75" name="Rectangle 67"/>
          <p:cNvSpPr>
            <a:spLocks noChangeArrowheads="1"/>
          </p:cNvSpPr>
          <p:nvPr/>
        </p:nvSpPr>
        <p:spPr bwMode="auto">
          <a:xfrm>
            <a:off x="144462" y="3074803"/>
            <a:ext cx="216058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由矩估计法知</a:t>
            </a:r>
            <a:r>
              <a:rPr lang="en-US" altLang="zh-CN" sz="2400" b="0" dirty="0"/>
              <a:t>, </a:t>
            </a:r>
          </a:p>
        </p:txBody>
      </p:sp>
      <p:graphicFrame>
        <p:nvGraphicFramePr>
          <p:cNvPr id="478276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056666"/>
              </p:ext>
            </p:extLst>
          </p:nvPr>
        </p:nvGraphicFramePr>
        <p:xfrm>
          <a:off x="2160587" y="3074803"/>
          <a:ext cx="13366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67" name="Equation" r:id="rId5" imgW="698197" imgH="215806" progId="Equation.DSMT4">
                  <p:embed/>
                </p:oleObj>
              </mc:Choice>
              <mc:Fallback>
                <p:oleObj name="Equation" r:id="rId5" imgW="69819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7" y="3074803"/>
                        <a:ext cx="13366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77" name="Rectangle 69"/>
          <p:cNvSpPr>
            <a:spLocks noChangeArrowheads="1"/>
          </p:cNvSpPr>
          <p:nvPr/>
        </p:nvSpPr>
        <p:spPr bwMode="auto">
          <a:xfrm>
            <a:off x="3384550" y="3074803"/>
            <a:ext cx="26638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/>
              <a:t>,</a:t>
            </a:r>
            <a:r>
              <a:rPr lang="zh-CN" altLang="en-US" sz="2400" b="0"/>
              <a:t>得</a:t>
            </a:r>
            <a:r>
              <a:rPr lang="en-US" altLang="zh-CN" sz="2400" b="0" i="1">
                <a:latin typeface="Symbol" panose="05050102010706020507" pitchFamily="18" charset="2"/>
              </a:rPr>
              <a:t>q</a:t>
            </a:r>
            <a:r>
              <a:rPr lang="zh-CN" altLang="en-US" sz="2400" b="0"/>
              <a:t>的矩估计量为</a:t>
            </a:r>
            <a:r>
              <a:rPr lang="en-US" altLang="zh-CN" sz="2400" b="0"/>
              <a:t>: </a:t>
            </a:r>
          </a:p>
        </p:txBody>
      </p:sp>
      <p:graphicFrame>
        <p:nvGraphicFramePr>
          <p:cNvPr id="478278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69502"/>
              </p:ext>
            </p:extLst>
          </p:nvPr>
        </p:nvGraphicFramePr>
        <p:xfrm>
          <a:off x="5976938" y="2944628"/>
          <a:ext cx="1150938" cy="737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68" name="Equation" r:id="rId7" imgW="634725" imgH="406224" progId="Equation.DSMT4">
                  <p:embed/>
                </p:oleObj>
              </mc:Choice>
              <mc:Fallback>
                <p:oleObj name="Equation" r:id="rId7" imgW="63472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2944628"/>
                        <a:ext cx="1150938" cy="737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79" name="Rectangle 71"/>
          <p:cNvSpPr>
            <a:spLocks noChangeArrowheads="1"/>
          </p:cNvSpPr>
          <p:nvPr/>
        </p:nvSpPr>
        <p:spPr bwMode="auto">
          <a:xfrm>
            <a:off x="-12713" y="3691845"/>
            <a:ext cx="611981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代入样本均值的观测值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得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zh-CN" altLang="en-US" sz="2400" b="0" dirty="0"/>
              <a:t>的矩估计值为</a:t>
            </a:r>
            <a:r>
              <a:rPr lang="en-US" altLang="zh-CN" sz="2400" b="0" dirty="0"/>
              <a:t>: </a:t>
            </a:r>
          </a:p>
        </p:txBody>
      </p:sp>
      <p:graphicFrame>
        <p:nvGraphicFramePr>
          <p:cNvPr id="478280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758251"/>
              </p:ext>
            </p:extLst>
          </p:nvPr>
        </p:nvGraphicFramePr>
        <p:xfrm>
          <a:off x="5751499" y="3561183"/>
          <a:ext cx="28702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69" name="Equation" r:id="rId9" imgW="1497950" imgH="406224" progId="Equation.DSMT4">
                  <p:embed/>
                </p:oleObj>
              </mc:Choice>
              <mc:Fallback>
                <p:oleObj name="Equation" r:id="rId9" imgW="149795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499" y="3561183"/>
                        <a:ext cx="28702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2" name="Line 73"/>
          <p:cNvSpPr>
            <a:spLocks noChangeShapeType="1"/>
          </p:cNvSpPr>
          <p:nvPr/>
        </p:nvSpPr>
        <p:spPr bwMode="auto">
          <a:xfrm>
            <a:off x="0" y="2480096"/>
            <a:ext cx="90360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9"/>
          <p:cNvSpPr>
            <a:spLocks noChangeArrowheads="1"/>
          </p:cNvSpPr>
          <p:nvPr/>
        </p:nvSpPr>
        <p:spPr bwMode="auto">
          <a:xfrm>
            <a:off x="-108520" y="4197382"/>
            <a:ext cx="86407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 dirty="0"/>
              <a:t>(2)</a:t>
            </a:r>
            <a:r>
              <a:rPr lang="zh-CN" altLang="en-US" sz="2400" b="0" dirty="0"/>
              <a:t>因为样本值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取得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次</a:t>
            </a:r>
            <a:r>
              <a:rPr lang="en-US" altLang="zh-CN" sz="2400" b="0" dirty="0"/>
              <a:t>,2</a:t>
            </a:r>
            <a:r>
              <a:rPr lang="zh-CN" altLang="en-US" sz="2400" b="0" dirty="0"/>
              <a:t>取得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次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故似然函数为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957986"/>
              </p:ext>
            </p:extLst>
          </p:nvPr>
        </p:nvGraphicFramePr>
        <p:xfrm>
          <a:off x="683418" y="4508832"/>
          <a:ext cx="2089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70" name="Equation" r:id="rId11" imgW="1155700" imgH="431800" progId="Equation.DSMT4">
                  <p:embed/>
                </p:oleObj>
              </mc:Choice>
              <mc:Fallback>
                <p:oleObj name="Equation" r:id="rId11" imgW="1155700" imgH="431800" progId="Equation.DSMT4">
                  <p:embed/>
                  <p:pic>
                    <p:nvPicPr>
                      <p:cNvPr id="48950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" y="4508832"/>
                        <a:ext cx="2089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18951"/>
              </p:ext>
            </p:extLst>
          </p:nvPr>
        </p:nvGraphicFramePr>
        <p:xfrm>
          <a:off x="2772568" y="4607257"/>
          <a:ext cx="18002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71" name="Equation" r:id="rId13" imgW="863225" imgH="228501" progId="Equation.DSMT4">
                  <p:embed/>
                </p:oleObj>
              </mc:Choice>
              <mc:Fallback>
                <p:oleObj name="Equation" r:id="rId13" imgW="863225" imgH="228501" progId="Equation.DSMT4">
                  <p:embed/>
                  <p:pic>
                    <p:nvPicPr>
                      <p:cNvPr id="48950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568" y="4607257"/>
                        <a:ext cx="18002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455299"/>
              </p:ext>
            </p:extLst>
          </p:nvPr>
        </p:nvGraphicFramePr>
        <p:xfrm>
          <a:off x="4535487" y="4560126"/>
          <a:ext cx="171608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72" name="Equation" r:id="rId15" imgW="761669" imgH="228501" progId="Equation.DSMT4">
                  <p:embed/>
                </p:oleObj>
              </mc:Choice>
              <mc:Fallback>
                <p:oleObj name="Equation" r:id="rId15" imgW="761669" imgH="228501" progId="Equation.DSMT4">
                  <p:embed/>
                  <p:pic>
                    <p:nvPicPr>
                      <p:cNvPr id="48950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7" y="4560126"/>
                        <a:ext cx="171608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33"/>
          <p:cNvSpPr>
            <a:spLocks noChangeArrowheads="1"/>
          </p:cNvSpPr>
          <p:nvPr/>
        </p:nvSpPr>
        <p:spPr bwMode="auto">
          <a:xfrm>
            <a:off x="35496" y="5145316"/>
            <a:ext cx="35290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对数似然函数为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232482"/>
              </p:ext>
            </p:extLst>
          </p:nvPr>
        </p:nvGraphicFramePr>
        <p:xfrm>
          <a:off x="2353815" y="5116541"/>
          <a:ext cx="40052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73" name="Equation" r:id="rId17" imgW="1777229" imgH="203112" progId="Equation.DSMT4">
                  <p:embed/>
                </p:oleObj>
              </mc:Choice>
              <mc:Fallback>
                <p:oleObj name="Equation" r:id="rId17" imgW="1777229" imgH="203112" progId="Equation.DSMT4">
                  <p:embed/>
                  <p:pic>
                    <p:nvPicPr>
                      <p:cNvPr id="48950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815" y="5116541"/>
                        <a:ext cx="40052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-17947" y="5727236"/>
            <a:ext cx="35290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对数似然方程为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9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284690"/>
              </p:ext>
            </p:extLst>
          </p:nvPr>
        </p:nvGraphicFramePr>
        <p:xfrm>
          <a:off x="2267744" y="5445224"/>
          <a:ext cx="25209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74" name="Equation" r:id="rId19" imgW="1345616" imgH="393529" progId="Equation.DSMT4">
                  <p:embed/>
                </p:oleObj>
              </mc:Choice>
              <mc:Fallback>
                <p:oleObj name="Equation" r:id="rId19" imgW="1345616" imgH="393529" progId="Equation.DSMT4">
                  <p:embed/>
                  <p:pic>
                    <p:nvPicPr>
                      <p:cNvPr id="48950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445224"/>
                        <a:ext cx="25209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4705720" y="5689161"/>
            <a:ext cx="9350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/>
              <a:t>解得</a:t>
            </a:r>
            <a:r>
              <a:rPr lang="en-US" altLang="zh-CN" sz="2400" b="0"/>
              <a:t>:</a:t>
            </a:r>
          </a:p>
        </p:txBody>
      </p:sp>
      <p:graphicFrame>
        <p:nvGraphicFramePr>
          <p:cNvPr id="31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501465"/>
              </p:ext>
            </p:extLst>
          </p:nvPr>
        </p:nvGraphicFramePr>
        <p:xfrm>
          <a:off x="5483595" y="5695511"/>
          <a:ext cx="10223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75" name="Equation" r:id="rId21" imgW="520474" imgH="215806" progId="Equation.DSMT4">
                  <p:embed/>
                </p:oleObj>
              </mc:Choice>
              <mc:Fallback>
                <p:oleObj name="Equation" r:id="rId21" imgW="520474" imgH="215806" progId="Equation.DSMT4">
                  <p:embed/>
                  <p:pic>
                    <p:nvPicPr>
                      <p:cNvPr id="48951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595" y="5695511"/>
                        <a:ext cx="10223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9"/>
          <p:cNvSpPr>
            <a:spLocks noChangeArrowheads="1"/>
          </p:cNvSpPr>
          <p:nvPr/>
        </p:nvSpPr>
        <p:spPr bwMode="auto">
          <a:xfrm>
            <a:off x="6371181" y="5727235"/>
            <a:ext cx="374491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0" dirty="0"/>
              <a:t>为</a:t>
            </a:r>
            <a:r>
              <a:rPr lang="en-US" altLang="zh-CN" sz="2000" b="0" i="1" dirty="0">
                <a:latin typeface="Symbol" panose="05050102010706020507" pitchFamily="18" charset="2"/>
              </a:rPr>
              <a:t>q</a:t>
            </a:r>
            <a:r>
              <a:rPr lang="zh-CN" altLang="en-US" sz="2000" b="0" dirty="0"/>
              <a:t>的最大似然估计值</a:t>
            </a:r>
            <a:r>
              <a:rPr lang="en-US" altLang="zh-CN" sz="20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53536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7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73" grpId="0"/>
      <p:bldP spid="478275" grpId="0"/>
      <p:bldP spid="478277" grpId="0"/>
      <p:bldP spid="478279" grpId="0"/>
      <p:bldP spid="22" grpId="0"/>
      <p:bldP spid="26" grpId="0"/>
      <p:bldP spid="28" grpId="0"/>
      <p:bldP spid="30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615579"/>
            <a:ext cx="8496300" cy="57626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400" dirty="0" smtClean="0">
                <a:effectLst/>
              </a:rPr>
              <a:t>6</a:t>
            </a:r>
            <a:r>
              <a:rPr lang="zh-CN" altLang="en-US" sz="2400" dirty="0" smtClean="0">
                <a:effectLst/>
              </a:rPr>
              <a:t>：设总体</a:t>
            </a:r>
            <a:r>
              <a:rPr lang="en-US" altLang="zh-CN" sz="2400" i="1" dirty="0" smtClean="0">
                <a:effectLst/>
              </a:rPr>
              <a:t>X</a:t>
            </a:r>
            <a:r>
              <a:rPr lang="zh-CN" altLang="en-US" sz="2400" dirty="0" smtClean="0">
                <a:effectLst/>
              </a:rPr>
              <a:t>具有分布律</a:t>
            </a:r>
          </a:p>
        </p:txBody>
      </p:sp>
      <p:graphicFrame>
        <p:nvGraphicFramePr>
          <p:cNvPr id="478270" name="Group 6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9462711"/>
              </p:ext>
            </p:extLst>
          </p:nvPr>
        </p:nvGraphicFramePr>
        <p:xfrm>
          <a:off x="4007274" y="476672"/>
          <a:ext cx="4298102" cy="914400"/>
        </p:xfrm>
        <a:graphic>
          <a:graphicData uri="http://schemas.openxmlformats.org/drawingml/2006/table">
            <a:tbl>
              <a:tblPr/>
              <a:tblGrid>
                <a:gridCol w="96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70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SzPct val="7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663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(1-</a:t>
                      </a:r>
                      <a:r>
                        <a:rPr kumimoji="1" lang="en-US" altLang="zh-CN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en-US" altLang="zh-CN" sz="2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583" name="Rectangle 63"/>
          <p:cNvSpPr>
            <a:spLocks noChangeArrowheads="1"/>
          </p:cNvSpPr>
          <p:nvPr/>
        </p:nvSpPr>
        <p:spPr bwMode="auto">
          <a:xfrm>
            <a:off x="250825" y="1545059"/>
            <a:ext cx="856932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/>
              <a:t>其中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en-US" altLang="zh-CN" sz="2400" b="0" dirty="0"/>
              <a:t>(0&lt;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en-US" altLang="zh-CN" sz="2400" b="0" dirty="0"/>
              <a:t>&lt;1)</a:t>
            </a:r>
            <a:r>
              <a:rPr lang="zh-CN" altLang="en-US" sz="2400" b="0" dirty="0"/>
              <a:t>为未知参数</a:t>
            </a:r>
            <a:r>
              <a:rPr lang="en-US" altLang="zh-CN" sz="2400" b="0" dirty="0"/>
              <a:t>.</a:t>
            </a:r>
            <a:r>
              <a:rPr lang="zh-CN" altLang="en-US" sz="2400" b="0" dirty="0"/>
              <a:t>已知取得了样本值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=1, 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=2, </a:t>
            </a:r>
            <a:r>
              <a:rPr lang="en-US" altLang="zh-CN" sz="2400" b="0" i="1" dirty="0"/>
              <a:t>x</a:t>
            </a:r>
            <a:r>
              <a:rPr lang="en-US" altLang="zh-CN" sz="2400" b="0" baseline="-25000" dirty="0"/>
              <a:t>3</a:t>
            </a:r>
            <a:r>
              <a:rPr lang="en-US" altLang="zh-CN" sz="2400" b="0" dirty="0"/>
              <a:t>=1.</a:t>
            </a:r>
            <a:r>
              <a:rPr lang="zh-CN" altLang="en-US" sz="2400" b="0" dirty="0"/>
              <a:t>试求</a:t>
            </a:r>
            <a:r>
              <a:rPr lang="en-US" altLang="zh-CN" sz="2400" b="0" i="1" dirty="0">
                <a:latin typeface="Symbol" panose="05050102010706020507" pitchFamily="18" charset="2"/>
              </a:rPr>
              <a:t>q</a:t>
            </a:r>
            <a:r>
              <a:rPr lang="zh-CN" altLang="en-US" sz="2400" b="0" dirty="0" smtClean="0"/>
              <a:t>的最大似然估计</a:t>
            </a:r>
            <a:r>
              <a:rPr lang="zh-CN" altLang="en-US" sz="2400" b="0" dirty="0"/>
              <a:t>量</a:t>
            </a:r>
            <a:r>
              <a:rPr lang="en-US" altLang="zh-CN" sz="2400" b="0" dirty="0"/>
              <a:t>.</a:t>
            </a:r>
          </a:p>
        </p:txBody>
      </p:sp>
      <p:sp>
        <p:nvSpPr>
          <p:cNvPr id="109592" name="Line 73"/>
          <p:cNvSpPr>
            <a:spLocks noChangeShapeType="1"/>
          </p:cNvSpPr>
          <p:nvPr/>
        </p:nvSpPr>
        <p:spPr bwMode="auto">
          <a:xfrm>
            <a:off x="0" y="2480096"/>
            <a:ext cx="90360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9"/>
          <p:cNvSpPr>
            <a:spLocks noChangeArrowheads="1"/>
          </p:cNvSpPr>
          <p:nvPr/>
        </p:nvSpPr>
        <p:spPr bwMode="auto">
          <a:xfrm>
            <a:off x="503101" y="2730896"/>
            <a:ext cx="86407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 smtClean="0"/>
              <a:t>因为</a:t>
            </a:r>
            <a:r>
              <a:rPr lang="zh-CN" altLang="en-US" sz="2400" b="0" dirty="0"/>
              <a:t>样本值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取得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次</a:t>
            </a:r>
            <a:r>
              <a:rPr lang="en-US" altLang="zh-CN" sz="2400" b="0" dirty="0"/>
              <a:t>,2</a:t>
            </a:r>
            <a:r>
              <a:rPr lang="zh-CN" altLang="en-US" sz="2400" b="0" dirty="0"/>
              <a:t>取得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次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故似然函数为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740704"/>
              </p:ext>
            </p:extLst>
          </p:nvPr>
        </p:nvGraphicFramePr>
        <p:xfrm>
          <a:off x="683418" y="3212976"/>
          <a:ext cx="2089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2" name="Equation" r:id="rId3" imgW="1155700" imgH="431800" progId="Equation.DSMT4">
                  <p:embed/>
                </p:oleObj>
              </mc:Choice>
              <mc:Fallback>
                <p:oleObj name="Equation" r:id="rId3" imgW="1155700" imgH="431800" progId="Equation.DSMT4">
                  <p:embed/>
                  <p:pic>
                    <p:nvPicPr>
                      <p:cNvPr id="2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" y="3212976"/>
                        <a:ext cx="2089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406281"/>
              </p:ext>
            </p:extLst>
          </p:nvPr>
        </p:nvGraphicFramePr>
        <p:xfrm>
          <a:off x="2772568" y="3311401"/>
          <a:ext cx="18002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3" name="Equation" r:id="rId5" imgW="863225" imgH="228501" progId="Equation.DSMT4">
                  <p:embed/>
                </p:oleObj>
              </mc:Choice>
              <mc:Fallback>
                <p:oleObj name="Equation" r:id="rId5" imgW="863225" imgH="228501" progId="Equation.DSMT4">
                  <p:embed/>
                  <p:pic>
                    <p:nvPicPr>
                      <p:cNvPr id="2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568" y="3311401"/>
                        <a:ext cx="18002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798185"/>
              </p:ext>
            </p:extLst>
          </p:nvPr>
        </p:nvGraphicFramePr>
        <p:xfrm>
          <a:off x="4535487" y="3264270"/>
          <a:ext cx="171608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4" name="Equation" r:id="rId7" imgW="761669" imgH="228501" progId="Equation.DSMT4">
                  <p:embed/>
                </p:oleObj>
              </mc:Choice>
              <mc:Fallback>
                <p:oleObj name="Equation" r:id="rId7" imgW="761669" imgH="228501" progId="Equation.DSMT4">
                  <p:embed/>
                  <p:pic>
                    <p:nvPicPr>
                      <p:cNvPr id="2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7" y="3264270"/>
                        <a:ext cx="171608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33"/>
          <p:cNvSpPr>
            <a:spLocks noChangeArrowheads="1"/>
          </p:cNvSpPr>
          <p:nvPr/>
        </p:nvSpPr>
        <p:spPr bwMode="auto">
          <a:xfrm>
            <a:off x="35496" y="3849460"/>
            <a:ext cx="35290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对数似然函数为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191415"/>
              </p:ext>
            </p:extLst>
          </p:nvPr>
        </p:nvGraphicFramePr>
        <p:xfrm>
          <a:off x="2353815" y="3820685"/>
          <a:ext cx="40052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5" name="Equation" r:id="rId9" imgW="1777229" imgH="203112" progId="Equation.DSMT4">
                  <p:embed/>
                </p:oleObj>
              </mc:Choice>
              <mc:Fallback>
                <p:oleObj name="Equation" r:id="rId9" imgW="1777229" imgH="203112" progId="Equation.DSMT4">
                  <p:embed/>
                  <p:pic>
                    <p:nvPicPr>
                      <p:cNvPr id="2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815" y="3820685"/>
                        <a:ext cx="40052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-17947" y="4431380"/>
            <a:ext cx="35290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对数似然方程为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29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775087"/>
              </p:ext>
            </p:extLst>
          </p:nvPr>
        </p:nvGraphicFramePr>
        <p:xfrm>
          <a:off x="2291926" y="4295381"/>
          <a:ext cx="25209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6" name="Equation" r:id="rId11" imgW="1345616" imgH="393529" progId="Equation.DSMT4">
                  <p:embed/>
                </p:oleObj>
              </mc:Choice>
              <mc:Fallback>
                <p:oleObj name="Equation" r:id="rId11" imgW="1345616" imgH="393529" progId="Equation.DSMT4">
                  <p:embed/>
                  <p:pic>
                    <p:nvPicPr>
                      <p:cNvPr id="29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926" y="4295381"/>
                        <a:ext cx="25209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1418778" y="5286887"/>
            <a:ext cx="9350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/>
              <a:t>解得</a:t>
            </a:r>
            <a:r>
              <a:rPr lang="en-US" altLang="zh-CN" sz="2400" b="0" dirty="0"/>
              <a:t>:</a:t>
            </a:r>
          </a:p>
        </p:txBody>
      </p:sp>
      <p:graphicFrame>
        <p:nvGraphicFramePr>
          <p:cNvPr id="31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159498"/>
              </p:ext>
            </p:extLst>
          </p:nvPr>
        </p:nvGraphicFramePr>
        <p:xfrm>
          <a:off x="2353815" y="5258442"/>
          <a:ext cx="10223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7" name="Equation" r:id="rId13" imgW="520474" imgH="215806" progId="Equation.DSMT4">
                  <p:embed/>
                </p:oleObj>
              </mc:Choice>
              <mc:Fallback>
                <p:oleObj name="Equation" r:id="rId13" imgW="520474" imgH="215806" progId="Equation.DSMT4">
                  <p:embed/>
                  <p:pic>
                    <p:nvPicPr>
                      <p:cNvPr id="31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815" y="5258442"/>
                        <a:ext cx="10223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9"/>
          <p:cNvSpPr>
            <a:spLocks noChangeArrowheads="1"/>
          </p:cNvSpPr>
          <p:nvPr/>
        </p:nvSpPr>
        <p:spPr bwMode="auto">
          <a:xfrm>
            <a:off x="3511066" y="5299636"/>
            <a:ext cx="374491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0000"/>
              <a:buFont typeface="Wingdings" panose="05000000000000000000" pitchFamily="2" charset="2"/>
              <a:buChar char="z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0" dirty="0"/>
              <a:t>为</a:t>
            </a:r>
            <a:r>
              <a:rPr lang="en-US" altLang="zh-CN" sz="2000" b="0" i="1" dirty="0">
                <a:latin typeface="Symbol" panose="05050102010706020507" pitchFamily="18" charset="2"/>
              </a:rPr>
              <a:t>q</a:t>
            </a:r>
            <a:r>
              <a:rPr lang="zh-CN" altLang="en-US" sz="2000" b="0" dirty="0"/>
              <a:t>的最大似然估计值</a:t>
            </a:r>
            <a:r>
              <a:rPr lang="en-US" altLang="zh-CN" sz="20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87693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28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jy3">
  <a:themeElements>
    <a:clrScheme name="jy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y3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jy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y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1682</TotalTime>
  <Pages>0</Pages>
  <Words>607</Words>
  <Characters>0</Characters>
  <Application>Microsoft Office PowerPoint</Application>
  <DocSecurity>0</DocSecurity>
  <PresentationFormat>全屏显示(4:3)</PresentationFormat>
  <Lines>0</Lines>
  <Paragraphs>92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黑体</vt:lpstr>
      <vt:lpstr>宋体</vt:lpstr>
      <vt:lpstr>Arial</vt:lpstr>
      <vt:lpstr>Symbol</vt:lpstr>
      <vt:lpstr>Times New Roman</vt:lpstr>
      <vt:lpstr>Wingdings</vt:lpstr>
      <vt:lpstr>jy3</vt:lpstr>
      <vt:lpstr>Microsoft 公式 3.0</vt:lpstr>
      <vt:lpstr>Equation</vt:lpstr>
      <vt:lpstr>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txxy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gyf</dc:creator>
  <cp:keywords/>
  <dc:description/>
  <cp:lastModifiedBy>Windows 用户</cp:lastModifiedBy>
  <cp:revision>599</cp:revision>
  <cp:lastPrinted>2019-12-12T02:57:14Z</cp:lastPrinted>
  <dcterms:created xsi:type="dcterms:W3CDTF">2000-02-11T01:32:08Z</dcterms:created>
  <dcterms:modified xsi:type="dcterms:W3CDTF">2019-12-12T02:58:55Z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2052-8.1.0.3166</vt:lpwstr>
  </property>
</Properties>
</file>