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61" r:id="rId2"/>
    <p:sldId id="270" r:id="rId3"/>
    <p:sldId id="258" r:id="rId4"/>
    <p:sldId id="269" r:id="rId5"/>
    <p:sldId id="268" r:id="rId6"/>
    <p:sldId id="267" r:id="rId7"/>
  </p:sldIdLst>
  <p:sldSz cx="12192000" cy="6858000"/>
  <p:notesSz cx="9947275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1.wmf"/><Relationship Id="rId6" Type="http://schemas.openxmlformats.org/officeDocument/2006/relationships/image" Target="../media/image11.wmf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21.emf"/><Relationship Id="rId2" Type="http://schemas.openxmlformats.org/officeDocument/2006/relationships/image" Target="../media/image2.wmf"/><Relationship Id="rId1" Type="http://schemas.openxmlformats.org/officeDocument/2006/relationships/image" Target="../media/image17.png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wmf"/><Relationship Id="rId1" Type="http://schemas.openxmlformats.org/officeDocument/2006/relationships/image" Target="../media/image22.emf"/><Relationship Id="rId5" Type="http://schemas.openxmlformats.org/officeDocument/2006/relationships/image" Target="../media/image4.wmf"/><Relationship Id="rId4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12" Type="http://schemas.openxmlformats.org/officeDocument/2006/relationships/image" Target="../media/image36.wmf"/><Relationship Id="rId2" Type="http://schemas.openxmlformats.org/officeDocument/2006/relationships/image" Target="../media/image26.wmf"/><Relationship Id="rId1" Type="http://schemas.openxmlformats.org/officeDocument/2006/relationships/image" Target="../media/image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5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52.wmf"/><Relationship Id="rId2" Type="http://schemas.openxmlformats.org/officeDocument/2006/relationships/image" Target="../media/image37.wmf"/><Relationship Id="rId16" Type="http://schemas.openxmlformats.org/officeDocument/2006/relationships/image" Target="../media/image51.wmf"/><Relationship Id="rId1" Type="http://schemas.openxmlformats.org/officeDocument/2006/relationships/image" Target="../media/image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50.wmf"/><Relationship Id="rId10" Type="http://schemas.openxmlformats.org/officeDocument/2006/relationships/image" Target="../media/image45.wmf"/><Relationship Id="rId19" Type="http://schemas.openxmlformats.org/officeDocument/2006/relationships/image" Target="../media/image54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3C52-01D5-4C4D-9938-A30031269B5E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2291F-95FD-4022-A983-4121F32E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87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11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74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5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25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01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50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37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78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2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3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CD558-8E6F-46C8-8ED6-B7D0F872A47C}" type="datetimeFigureOut">
              <a:rPr lang="zh-CN" altLang="en-US" smtClean="0"/>
              <a:t>2019/11/21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120E3-7207-4EEF-B24E-8A103907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1.wmf"/><Relationship Id="rId22" Type="http://schemas.openxmlformats.org/officeDocument/2006/relationships/image" Target="../media/image1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18.wmf"/><Relationship Id="rId4" Type="http://schemas.openxmlformats.org/officeDocument/2006/relationships/image" Target="../media/image17.png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2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2.wmf"/><Relationship Id="rId26" Type="http://schemas.openxmlformats.org/officeDocument/2006/relationships/image" Target="../media/image36.w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3.wmf"/><Relationship Id="rId26" Type="http://schemas.openxmlformats.org/officeDocument/2006/relationships/image" Target="../media/image47.wmf"/><Relationship Id="rId39" Type="http://schemas.openxmlformats.org/officeDocument/2006/relationships/oleObject" Target="../embeddings/oleObject60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51.wmf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38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55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46.wmf"/><Relationship Id="rId32" Type="http://schemas.openxmlformats.org/officeDocument/2006/relationships/image" Target="../media/image50.wmf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54.w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48.wmf"/><Relationship Id="rId36" Type="http://schemas.openxmlformats.org/officeDocument/2006/relationships/image" Target="../media/image52.w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49.wmf"/><Relationship Id="rId35" Type="http://schemas.openxmlformats.org/officeDocument/2006/relationships/oleObject" Target="../embeddings/oleObject58.bin"/><Relationship Id="rId8" Type="http://schemas.openxmlformats.org/officeDocument/2006/relationships/image" Target="../media/image38.wmf"/><Relationship Id="rId3" Type="http://schemas.openxmlformats.org/officeDocument/2006/relationships/oleObject" Target="../embeddings/oleObject4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069761"/>
              </p:ext>
            </p:extLst>
          </p:nvPr>
        </p:nvGraphicFramePr>
        <p:xfrm>
          <a:off x="405586" y="795158"/>
          <a:ext cx="6263534" cy="17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4" name="Equation" r:id="rId3" imgW="7988300" imgH="2184400" progId="Equation.3">
                  <p:embed/>
                </p:oleObj>
              </mc:Choice>
              <mc:Fallback>
                <p:oleObj name="Equation" r:id="rId3" imgW="7988300" imgH="218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586" y="795158"/>
                        <a:ext cx="6263534" cy="17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498261" y="535602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5065" name="AutoShape 1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9796463" y="6124575"/>
            <a:ext cx="457200" cy="4572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000306"/>
              </p:ext>
            </p:extLst>
          </p:nvPr>
        </p:nvGraphicFramePr>
        <p:xfrm>
          <a:off x="437337" y="2833528"/>
          <a:ext cx="5768588" cy="42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5" imgW="3225800" imgH="241300" progId="Equation.3">
                  <p:embed/>
                </p:oleObj>
              </mc:Choice>
              <mc:Fallback>
                <p:oleObj name="Equation" r:id="rId5" imgW="3225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37" y="2833528"/>
                        <a:ext cx="5768588" cy="426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83500" y="2705620"/>
            <a:ext cx="7076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 smtClean="0"/>
              <a:t>2.</a:t>
            </a:r>
            <a:endParaRPr lang="en-US" altLang="zh-CN" sz="2800" dirty="0"/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599048"/>
              </p:ext>
            </p:extLst>
          </p:nvPr>
        </p:nvGraphicFramePr>
        <p:xfrm>
          <a:off x="437336" y="3259648"/>
          <a:ext cx="3526077" cy="753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7" imgW="2082800" imgH="444500" progId="Equation.3">
                  <p:embed/>
                </p:oleObj>
              </mc:Choice>
              <mc:Fallback>
                <p:oleObj name="Equation" r:id="rId7" imgW="2082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36" y="3259648"/>
                        <a:ext cx="3526077" cy="753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43704"/>
              </p:ext>
            </p:extLst>
          </p:nvPr>
        </p:nvGraphicFramePr>
        <p:xfrm>
          <a:off x="135000" y="4573959"/>
          <a:ext cx="6070924" cy="123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公式" r:id="rId9" imgW="3504960" imgH="698400" progId="Equation.3">
                  <p:embed/>
                </p:oleObj>
              </mc:Choice>
              <mc:Fallback>
                <p:oleObj name="公式" r:id="rId9" imgW="35049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00" y="4573959"/>
                        <a:ext cx="6070924" cy="123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33973" y="4519489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 smtClean="0"/>
              <a:t>3.</a:t>
            </a:r>
            <a:endParaRPr lang="en-US" altLang="zh-CN" sz="2800" dirty="0"/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6463326" y="795158"/>
            <a:ext cx="5876880" cy="72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1800" b="1" dirty="0" smtClean="0"/>
              <a:t>4. </a:t>
            </a:r>
            <a:r>
              <a:rPr lang="zh-CN" altLang="en-US" sz="1800" b="1" dirty="0" smtClean="0"/>
              <a:t>随机变量</a:t>
            </a:r>
            <a:r>
              <a:rPr lang="en-US" altLang="zh-CN" sz="1800" b="1" i="1" dirty="0"/>
              <a:t>X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，</a:t>
            </a:r>
            <a:r>
              <a:rPr lang="en-US" altLang="zh-CN" sz="1800" b="1" i="1" dirty="0"/>
              <a:t>X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，</a:t>
            </a:r>
            <a:r>
              <a:rPr lang="en-US" altLang="zh-CN" sz="1800" b="1" i="1" dirty="0"/>
              <a:t>X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，</a:t>
            </a:r>
            <a:r>
              <a:rPr lang="en-US" altLang="zh-CN" sz="1800" b="1" i="1" dirty="0"/>
              <a:t>X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是正态总体</a:t>
            </a:r>
            <a:r>
              <a:rPr lang="en-US" altLang="zh-CN" sz="1800" b="1" dirty="0"/>
              <a:t>N(0,4)</a:t>
            </a:r>
            <a:r>
              <a:rPr lang="zh-CN" altLang="en-US" sz="1800" b="1" dirty="0"/>
              <a:t>的一</a:t>
            </a:r>
            <a:r>
              <a:rPr lang="zh-CN" altLang="en-US" sz="1800" b="1" dirty="0" smtClean="0"/>
              <a:t>个</a:t>
            </a:r>
            <a:endParaRPr lang="en-US" altLang="zh-CN" sz="1800" b="1" dirty="0" smtClean="0"/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zh-CN" altLang="en-US" sz="1800" b="1" dirty="0" smtClean="0"/>
              <a:t>简单随机样本</a:t>
            </a:r>
            <a:r>
              <a:rPr lang="zh-CN" altLang="en-US" sz="1800" b="1" dirty="0"/>
              <a:t>，</a:t>
            </a:r>
          </a:p>
        </p:txBody>
      </p:sp>
      <p:graphicFrame>
        <p:nvGraphicFramePr>
          <p:cNvPr id="16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228318"/>
              </p:ext>
            </p:extLst>
          </p:nvPr>
        </p:nvGraphicFramePr>
        <p:xfrm>
          <a:off x="7314478" y="1654943"/>
          <a:ext cx="4435336" cy="631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8" name="Equation" r:id="rId11" imgW="2209680" imgH="279360" progId="Equation.DSMT4">
                  <p:embed/>
                </p:oleObj>
              </mc:Choice>
              <mc:Fallback>
                <p:oleObj name="Equation" r:id="rId11" imgW="2209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478" y="1654943"/>
                        <a:ext cx="4435336" cy="631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6326659" y="2252828"/>
            <a:ext cx="5644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Times New Roman" panose="02020603050405020304" pitchFamily="18" charset="0"/>
              </a:rPr>
              <a:t>当</a:t>
            </a:r>
            <a:r>
              <a:rPr lang="en-US" altLang="zh-CN" sz="2000" b="1" dirty="0">
                <a:latin typeface="Times New Roman" panose="02020603050405020304" pitchFamily="18" charset="0"/>
              </a:rPr>
              <a:t>a=</a:t>
            </a:r>
            <a:r>
              <a:rPr lang="zh-CN" altLang="en-US" sz="2000" b="1" dirty="0">
                <a:latin typeface="Times New Roman" panose="02020603050405020304" pitchFamily="18" charset="0"/>
              </a:rPr>
              <a:t>？，</a:t>
            </a:r>
            <a:r>
              <a:rPr lang="en-US" altLang="zh-CN" sz="2000" b="1" dirty="0">
                <a:latin typeface="Times New Roman" panose="02020603050405020304" pitchFamily="18" charset="0"/>
              </a:rPr>
              <a:t>b=</a:t>
            </a:r>
            <a:r>
              <a:rPr lang="zh-CN" altLang="en-US" sz="2000" b="1" dirty="0">
                <a:latin typeface="Times New Roman" panose="02020603050405020304" pitchFamily="18" charset="0"/>
              </a:rPr>
              <a:t>？统计量</a:t>
            </a:r>
            <a:r>
              <a:rPr lang="en-US" altLang="zh-CN" sz="2000" b="1" dirty="0">
                <a:latin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</a:rPr>
              <a:t>服从</a:t>
            </a:r>
            <a:r>
              <a:rPr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18" charset="2"/>
              </a:rPr>
              <a:t></a:t>
            </a:r>
            <a:r>
              <a:rPr lang="en-US" altLang="zh-CN" sz="2000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分布，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自由度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是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？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772355"/>
              </p:ext>
            </p:extLst>
          </p:nvPr>
        </p:nvGraphicFramePr>
        <p:xfrm>
          <a:off x="6942754" y="3313945"/>
          <a:ext cx="4918023" cy="205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9" name="Equation" r:id="rId13" imgW="7848600" imgH="3276600" progId="Equation.3">
                  <p:embed/>
                </p:oleObj>
              </mc:Choice>
              <mc:Fallback>
                <p:oleObj name="Equation" r:id="rId13" imgW="7848600" imgH="327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2754" y="3313945"/>
                        <a:ext cx="4918023" cy="2053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559762" y="3196512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5.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0" y="2652938"/>
            <a:ext cx="6326659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132" y="4340523"/>
            <a:ext cx="6326659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362658" y="795158"/>
            <a:ext cx="0" cy="519458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362658" y="3098953"/>
            <a:ext cx="5717489" cy="1336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93906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82011" y="100807"/>
            <a:ext cx="1435701" cy="371513"/>
          </a:xfr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eaLnBrk="1" hangingPunct="1"/>
            <a:r>
              <a:rPr lang="zh-CN" altLang="en-US" sz="2000" dirty="0" smtClean="0"/>
              <a:t>答案</a:t>
            </a:r>
          </a:p>
        </p:txBody>
      </p:sp>
      <p:graphicFrame>
        <p:nvGraphicFramePr>
          <p:cNvPr id="82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971914"/>
              </p:ext>
            </p:extLst>
          </p:nvPr>
        </p:nvGraphicFramePr>
        <p:xfrm>
          <a:off x="420928" y="700920"/>
          <a:ext cx="5384319" cy="1472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" name="Equation" r:id="rId3" imgW="7988300" imgH="2184400" progId="Equation.3">
                  <p:embed/>
                </p:oleObj>
              </mc:Choice>
              <mc:Fallback>
                <p:oleObj name="Equation" r:id="rId3" imgW="7988300" imgH="218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928" y="700920"/>
                        <a:ext cx="5384319" cy="1472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19320" y="47232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119320" y="233758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979488" y="2487361"/>
            <a:ext cx="4038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根据正态分布的性质,</a:t>
            </a:r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443584"/>
              </p:ext>
            </p:extLst>
          </p:nvPr>
        </p:nvGraphicFramePr>
        <p:xfrm>
          <a:off x="801001" y="2989317"/>
          <a:ext cx="2914264" cy="362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" name="Equation" r:id="rId5" imgW="3467100" imgH="431800" progId="Equation.3">
                  <p:embed/>
                </p:oleObj>
              </mc:Choice>
              <mc:Fallback>
                <p:oleObj name="Equation" r:id="rId5" imgW="346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01" y="2989317"/>
                        <a:ext cx="2914264" cy="362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426525"/>
              </p:ext>
            </p:extLst>
          </p:nvPr>
        </p:nvGraphicFramePr>
        <p:xfrm>
          <a:off x="801001" y="3519409"/>
          <a:ext cx="2826951" cy="35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Equation" r:id="rId7" imgW="3479800" imgH="431800" progId="Equation.3">
                  <p:embed/>
                </p:oleObj>
              </mc:Choice>
              <mc:Fallback>
                <p:oleObj name="Equation" r:id="rId7" imgW="3479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01" y="3519409"/>
                        <a:ext cx="2826951" cy="350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AutoShape 1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9796463" y="6124575"/>
            <a:ext cx="457200" cy="4572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783910"/>
              </p:ext>
            </p:extLst>
          </p:nvPr>
        </p:nvGraphicFramePr>
        <p:xfrm>
          <a:off x="541637" y="4113822"/>
          <a:ext cx="2769973" cy="61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9" imgW="3860800" imgH="850900" progId="Equation.3">
                  <p:embed/>
                </p:oleObj>
              </mc:Choice>
              <mc:Fallback>
                <p:oleObj name="Equation" r:id="rId9" imgW="38608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37" y="4113822"/>
                        <a:ext cx="2769973" cy="61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052734"/>
              </p:ext>
            </p:extLst>
          </p:nvPr>
        </p:nvGraphicFramePr>
        <p:xfrm>
          <a:off x="3769778" y="4141676"/>
          <a:ext cx="2496620" cy="61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11" imgW="3479800" imgH="850900" progId="Equation.3">
                  <p:embed/>
                </p:oleObj>
              </mc:Choice>
              <mc:Fallback>
                <p:oleObj name="Equation" r:id="rId11" imgW="34798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9778" y="4141676"/>
                        <a:ext cx="2496620" cy="61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371659"/>
              </p:ext>
            </p:extLst>
          </p:nvPr>
        </p:nvGraphicFramePr>
        <p:xfrm>
          <a:off x="427739" y="4967932"/>
          <a:ext cx="2997767" cy="71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13" imgW="4178300" imgH="990600" progId="Equation.3">
                  <p:embed/>
                </p:oleObj>
              </mc:Choice>
              <mc:Fallback>
                <p:oleObj name="Equation" r:id="rId13" imgW="41783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39" y="4967932"/>
                        <a:ext cx="2997767" cy="710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913539"/>
              </p:ext>
            </p:extLst>
          </p:nvPr>
        </p:nvGraphicFramePr>
        <p:xfrm>
          <a:off x="652720" y="5922272"/>
          <a:ext cx="2769973" cy="71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15" imgW="3860800" imgH="990600" progId="Equation.3">
                  <p:embed/>
                </p:oleObj>
              </mc:Choice>
              <mc:Fallback>
                <p:oleObj name="Equation" r:id="rId15" imgW="38608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20" y="5922272"/>
                        <a:ext cx="2769973" cy="710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459957"/>
              </p:ext>
            </p:extLst>
          </p:nvPr>
        </p:nvGraphicFramePr>
        <p:xfrm>
          <a:off x="6736853" y="1427777"/>
          <a:ext cx="5631205" cy="35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17" imgW="7581900" imgH="482600" progId="Equation.3">
                  <p:embed/>
                </p:oleObj>
              </mc:Choice>
              <mc:Fallback>
                <p:oleObj name="Equation" r:id="rId17" imgW="7581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6853" y="1427777"/>
                        <a:ext cx="5631205" cy="358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487293"/>
              </p:ext>
            </p:extLst>
          </p:nvPr>
        </p:nvGraphicFramePr>
        <p:xfrm>
          <a:off x="6665415" y="2396677"/>
          <a:ext cx="3999381" cy="735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Equation" r:id="rId19" imgW="5384800" imgH="990600" progId="Equation.3">
                  <p:embed/>
                </p:oleObj>
              </mc:Choice>
              <mc:Fallback>
                <p:oleObj name="Equation" r:id="rId19" imgW="53848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5415" y="2396677"/>
                        <a:ext cx="3999381" cy="735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222595"/>
              </p:ext>
            </p:extLst>
          </p:nvPr>
        </p:nvGraphicFramePr>
        <p:xfrm>
          <a:off x="6741615" y="3576666"/>
          <a:ext cx="4310655" cy="622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" name="Equation" r:id="rId21" imgW="5803900" imgH="838200" progId="Equation.3">
                  <p:embed/>
                </p:oleObj>
              </mc:Choice>
              <mc:Fallback>
                <p:oleObj name="Equation" r:id="rId21" imgW="5803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1615" y="3576666"/>
                        <a:ext cx="4310655" cy="622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383697"/>
              </p:ext>
            </p:extLst>
          </p:nvPr>
        </p:nvGraphicFramePr>
        <p:xfrm>
          <a:off x="6786066" y="4795866"/>
          <a:ext cx="3320242" cy="622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8" name="Equation" r:id="rId23" imgW="4470400" imgH="838200" progId="Equation.3">
                  <p:embed/>
                </p:oleObj>
              </mc:Choice>
              <mc:Fallback>
                <p:oleObj name="Equation" r:id="rId23" imgW="4470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066" y="4795866"/>
                        <a:ext cx="3320242" cy="622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77631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 autoUpdateAnimBg="0"/>
      <p:bldP spid="8204" grpId="0" autoUpdateAnimBg="0"/>
      <p:bldP spid="82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2209800" y="228600"/>
            <a:ext cx="7772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第六章 样本及抽样分布</a:t>
            </a:r>
            <a:endParaRPr lang="zh-CN" altLang="en-US" sz="3600"/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2309814" y="590550"/>
          <a:ext cx="7572375" cy="1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" name="Image" r:id="rId3" imgW="10102365" imgH="25201" progId="Photoshop.Image.5">
                  <p:embed/>
                </p:oleObj>
              </mc:Choice>
              <mc:Fallback>
                <p:oleObj name="Image" r:id="rId3" imgW="10102365" imgH="25201" progId="Photoshop.Image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4" y="590550"/>
                        <a:ext cx="7572375" cy="1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2122488" y="1382713"/>
          <a:ext cx="831691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Equation" r:id="rId5" imgW="3225800" imgH="241300" progId="Equation.3">
                  <p:embed/>
                </p:oleObj>
              </mc:Choice>
              <mc:Fallback>
                <p:oleObj name="Equation" r:id="rId5" imgW="3225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1382713"/>
                        <a:ext cx="8316912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Text Box 6"/>
          <p:cNvSpPr txBox="1">
            <a:spLocks noChangeArrowheads="1"/>
          </p:cNvSpPr>
          <p:nvPr/>
        </p:nvSpPr>
        <p:spPr bwMode="auto">
          <a:xfrm>
            <a:off x="2057400" y="7000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 smtClean="0">
                <a:solidFill>
                  <a:schemeClr val="accent2"/>
                </a:solidFill>
              </a:rPr>
              <a:t>2.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2154239" y="1981200"/>
          <a:ext cx="45561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" name="Equation" r:id="rId7" imgW="2082800" imgH="444500" progId="Equation.3">
                  <p:embed/>
                </p:oleObj>
              </mc:Choice>
              <mc:Fallback>
                <p:oleObj name="Equation" r:id="rId7" imgW="2082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9" y="1981200"/>
                        <a:ext cx="45561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2133600" y="321786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解：</a:t>
            </a:r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2925764" y="3048000"/>
          <a:ext cx="4084637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" name="Equation" r:id="rId9" imgW="1866090" imgH="406224" progId="Equation.3">
                  <p:embed/>
                </p:oleObj>
              </mc:Choice>
              <mc:Fallback>
                <p:oleObj name="Equation" r:id="rId9" imgW="186609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4" y="3048000"/>
                        <a:ext cx="4084637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7042150" y="3294064"/>
          <a:ext cx="19494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" name="Equation" r:id="rId11" imgW="850531" imgH="203112" progId="Equation.3">
                  <p:embed/>
                </p:oleObj>
              </mc:Choice>
              <mc:Fallback>
                <p:oleObj name="Equation" r:id="rId11" imgW="85053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3294064"/>
                        <a:ext cx="19494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2971801" y="3962400"/>
          <a:ext cx="36671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" name="Equation" r:id="rId13" imgW="1675673" imgH="444307" progId="Equation.3">
                  <p:embed/>
                </p:oleObj>
              </mc:Choice>
              <mc:Fallback>
                <p:oleObj name="Equation" r:id="rId13" imgW="167567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962400"/>
                        <a:ext cx="36671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5410200" y="1990726"/>
          <a:ext cx="99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" name="Equation" r:id="rId15" imgW="400067" imgH="200070" progId="Equation.3">
                  <p:embed/>
                </p:oleObj>
              </mc:Choice>
              <mc:Fallback>
                <p:oleObj name="Equation" r:id="rId15" imgW="400067" imgH="2000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990726"/>
                        <a:ext cx="990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752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1820305" y="2162714"/>
            <a:ext cx="593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/>
              <a:t>解</a:t>
            </a:r>
          </a:p>
        </p:txBody>
      </p:sp>
      <p:graphicFrame>
        <p:nvGraphicFramePr>
          <p:cNvPr id="428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880193"/>
              </p:ext>
            </p:extLst>
          </p:nvPr>
        </p:nvGraphicFramePr>
        <p:xfrm>
          <a:off x="2627314" y="2128217"/>
          <a:ext cx="5678144" cy="90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0" name="公式" r:id="rId3" imgW="3038455" imgH="495180" progId="Equation.3">
                  <p:embed/>
                </p:oleObj>
              </mc:Choice>
              <mc:Fallback>
                <p:oleObj name="公式" r:id="rId3" imgW="3038455" imgH="4951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4" y="2128217"/>
                        <a:ext cx="5678144" cy="901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26806"/>
              </p:ext>
            </p:extLst>
          </p:nvPr>
        </p:nvGraphicFramePr>
        <p:xfrm>
          <a:off x="2819529" y="3087330"/>
          <a:ext cx="5008810" cy="78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" name="公式" r:id="rId5" imgW="3162240" imgH="482400" progId="Equation.3">
                  <p:embed/>
                </p:oleObj>
              </mc:Choice>
              <mc:Fallback>
                <p:oleObj name="公式" r:id="rId5" imgW="31622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529" y="3087330"/>
                        <a:ext cx="5008810" cy="788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636091"/>
              </p:ext>
            </p:extLst>
          </p:nvPr>
        </p:nvGraphicFramePr>
        <p:xfrm>
          <a:off x="2117168" y="4179119"/>
          <a:ext cx="7247280" cy="857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2" name="公式" r:id="rId7" imgW="8115334" imgH="923940" progId="Equation.3">
                  <p:embed/>
                </p:oleObj>
              </mc:Choice>
              <mc:Fallback>
                <p:oleObj name="公式" r:id="rId7" imgW="8115334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168" y="4179119"/>
                        <a:ext cx="7247280" cy="857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1" name="Object 9"/>
          <p:cNvGraphicFramePr>
            <a:graphicFrameLocks noChangeAspect="1"/>
          </p:cNvGraphicFramePr>
          <p:nvPr/>
        </p:nvGraphicFramePr>
        <p:xfrm>
          <a:off x="1989139" y="5216525"/>
          <a:ext cx="71215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3" name="公式" r:id="rId9" imgW="6791412" imgH="943110" progId="Equation.3">
                  <p:embed/>
                </p:oleObj>
              </mc:Choice>
              <mc:Fallback>
                <p:oleObj name="公式" r:id="rId9" imgW="6791412" imgH="9431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9" y="5216525"/>
                        <a:ext cx="71215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02768" y="206635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 smtClean="0"/>
              <a:t>3.</a:t>
            </a:r>
            <a:endParaRPr lang="en-US" altLang="zh-CN" sz="2800" dirty="0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977556"/>
              </p:ext>
            </p:extLst>
          </p:nvPr>
        </p:nvGraphicFramePr>
        <p:xfrm>
          <a:off x="2277228" y="349916"/>
          <a:ext cx="7409697" cy="1508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4" name="公式" r:id="rId11" imgW="3504960" imgH="698400" progId="Equation.3">
                  <p:embed/>
                </p:oleObj>
              </mc:Choice>
              <mc:Fallback>
                <p:oleObj name="公式" r:id="rId11" imgW="35049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7228" y="349916"/>
                        <a:ext cx="7409697" cy="1508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718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29700" name="矩形 4"/>
          <p:cNvSpPr>
            <a:spLocks noChangeArrowheads="1"/>
          </p:cNvSpPr>
          <p:nvPr/>
        </p:nvSpPr>
        <p:spPr bwMode="auto">
          <a:xfrm>
            <a:off x="838200" y="344021"/>
            <a:ext cx="923667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2400" dirty="0" smtClean="0"/>
              <a:t>4. </a:t>
            </a:r>
            <a:r>
              <a:rPr lang="zh-CN" altLang="en-US" sz="2400" dirty="0" smtClean="0"/>
              <a:t>随机变量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，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4</a:t>
            </a:r>
            <a:r>
              <a:rPr lang="zh-CN" altLang="en-US" sz="2400" dirty="0"/>
              <a:t>是正态总体</a:t>
            </a:r>
            <a:r>
              <a:rPr lang="en-US" altLang="zh-CN" sz="2400" dirty="0"/>
              <a:t>N(0,4)</a:t>
            </a:r>
            <a:r>
              <a:rPr lang="zh-CN" altLang="en-US" sz="2400" dirty="0"/>
              <a:t>的一个简单随机样本，</a:t>
            </a:r>
          </a:p>
        </p:txBody>
      </p:sp>
      <p:graphicFrame>
        <p:nvGraphicFramePr>
          <p:cNvPr id="29701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910294"/>
              </p:ext>
            </p:extLst>
          </p:nvPr>
        </p:nvGraphicFramePr>
        <p:xfrm>
          <a:off x="2804171" y="966909"/>
          <a:ext cx="4436889" cy="56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4" name="Equation" r:id="rId3" imgW="2209680" imgH="279360" progId="Equation.DSMT4">
                  <p:embed/>
                </p:oleObj>
              </mc:Choice>
              <mc:Fallback>
                <p:oleObj name="Equation" r:id="rId3" imgW="2209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171" y="966909"/>
                        <a:ext cx="4436889" cy="560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110693" y="1656978"/>
            <a:ext cx="716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/>
              <a:t>当</a:t>
            </a:r>
            <a:r>
              <a:rPr lang="en-US" altLang="zh-CN" sz="2800" dirty="0"/>
              <a:t>a=</a:t>
            </a:r>
            <a:r>
              <a:rPr lang="zh-CN" altLang="en-US" sz="2800" dirty="0"/>
              <a:t>？，</a:t>
            </a:r>
            <a:r>
              <a:rPr lang="en-US" altLang="zh-CN" sz="2800" dirty="0"/>
              <a:t>b=</a:t>
            </a:r>
            <a:r>
              <a:rPr lang="zh-CN" altLang="en-US" sz="2800" dirty="0"/>
              <a:t>？统计量</a:t>
            </a:r>
            <a:r>
              <a:rPr lang="en-US" altLang="zh-CN" sz="2800" dirty="0"/>
              <a:t>X</a:t>
            </a:r>
            <a:r>
              <a:rPr lang="zh-CN" altLang="en-US" sz="2800" dirty="0"/>
              <a:t>服从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sym typeface="Symbol" pitchFamily="18" charset="2"/>
              </a:rPr>
              <a:t></a:t>
            </a:r>
            <a:r>
              <a:rPr lang="en-US" altLang="zh-CN" sz="2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分布，自由度？</a:t>
            </a:r>
            <a:endParaRPr lang="zh-CN" altLang="en-US" sz="2800" dirty="0"/>
          </a:p>
        </p:txBody>
      </p:sp>
      <p:graphicFrame>
        <p:nvGraphicFramePr>
          <p:cNvPr id="29703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650956"/>
              </p:ext>
            </p:extLst>
          </p:nvPr>
        </p:nvGraphicFramePr>
        <p:xfrm>
          <a:off x="1836954" y="2578913"/>
          <a:ext cx="2692546" cy="59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5" name="Equation" r:id="rId5" imgW="1206360" imgH="266400" progId="Equation.DSMT4">
                  <p:embed/>
                </p:oleObj>
              </mc:Choice>
              <mc:Fallback>
                <p:oleObj name="Equation" r:id="rId5" imgW="12063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954" y="2578913"/>
                        <a:ext cx="2692546" cy="59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964911"/>
              </p:ext>
            </p:extLst>
          </p:nvPr>
        </p:nvGraphicFramePr>
        <p:xfrm>
          <a:off x="5213179" y="2538978"/>
          <a:ext cx="2736334" cy="563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6" name="Equation" r:id="rId7" imgW="1295280" imgH="266400" progId="Equation.DSMT4">
                  <p:embed/>
                </p:oleObj>
              </mc:Choice>
              <mc:Fallback>
                <p:oleObj name="Equation" r:id="rId7" imgW="12952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179" y="2538978"/>
                        <a:ext cx="2736334" cy="563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395191"/>
              </p:ext>
            </p:extLst>
          </p:nvPr>
        </p:nvGraphicFramePr>
        <p:xfrm>
          <a:off x="1572012" y="3408336"/>
          <a:ext cx="3641167" cy="56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7" name="Equation" r:id="rId9" imgW="1714320" imgH="266400" progId="Equation.DSMT4">
                  <p:embed/>
                </p:oleObj>
              </mc:Choice>
              <mc:Fallback>
                <p:oleObj name="Equation" r:id="rId9" imgW="17143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012" y="3408336"/>
                        <a:ext cx="3641167" cy="567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639359"/>
              </p:ext>
            </p:extLst>
          </p:nvPr>
        </p:nvGraphicFramePr>
        <p:xfrm>
          <a:off x="5977352" y="3408336"/>
          <a:ext cx="3654511" cy="541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8" name="Equation" r:id="rId11" imgW="1803240" imgH="266400" progId="Equation.DSMT4">
                  <p:embed/>
                </p:oleObj>
              </mc:Choice>
              <mc:Fallback>
                <p:oleObj name="Equation" r:id="rId11" imgW="18032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7352" y="3408336"/>
                        <a:ext cx="3654511" cy="541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110693" y="257891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解：</a:t>
            </a:r>
            <a:endParaRPr lang="zh-CN" altLang="en-US" dirty="0"/>
          </a:p>
        </p:txBody>
      </p:sp>
      <p:graphicFrame>
        <p:nvGraphicFramePr>
          <p:cNvPr id="1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842769"/>
              </p:ext>
            </p:extLst>
          </p:nvPr>
        </p:nvGraphicFramePr>
        <p:xfrm>
          <a:off x="1597486" y="4176383"/>
          <a:ext cx="3171482" cy="44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9" name="Equation" r:id="rId13" imgW="1803240" imgH="253800" progId="Equation.DSMT4">
                  <p:embed/>
                </p:oleObj>
              </mc:Choice>
              <mc:Fallback>
                <p:oleObj name="Equation" r:id="rId13" imgW="18032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486" y="4176383"/>
                        <a:ext cx="3171482" cy="447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175279"/>
              </p:ext>
            </p:extLst>
          </p:nvPr>
        </p:nvGraphicFramePr>
        <p:xfrm>
          <a:off x="5848950" y="4106523"/>
          <a:ext cx="3566899" cy="449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0" name="Equation" r:id="rId15" imgW="2019240" imgH="253800" progId="Equation.DSMT4">
                  <p:embed/>
                </p:oleObj>
              </mc:Choice>
              <mc:Fallback>
                <p:oleObj name="Equation" r:id="rId15" imgW="20192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950" y="4106523"/>
                        <a:ext cx="3566899" cy="449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497107"/>
              </p:ext>
            </p:extLst>
          </p:nvPr>
        </p:nvGraphicFramePr>
        <p:xfrm>
          <a:off x="1431884" y="4814641"/>
          <a:ext cx="2047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1" name="Equation" r:id="rId17" imgW="749160" imgH="253800" progId="Equation.DSMT4">
                  <p:embed/>
                </p:oleObj>
              </mc:Choice>
              <mc:Fallback>
                <p:oleObj name="Equation" r:id="rId17" imgW="749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884" y="4814641"/>
                        <a:ext cx="20478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688104"/>
              </p:ext>
            </p:extLst>
          </p:nvPr>
        </p:nvGraphicFramePr>
        <p:xfrm>
          <a:off x="3980164" y="4787202"/>
          <a:ext cx="2082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2" name="Equation" r:id="rId19" imgW="761760" imgH="253800" progId="Equation.DSMT4">
                  <p:embed/>
                </p:oleObj>
              </mc:Choice>
              <mc:Fallback>
                <p:oleObj name="Equation" r:id="rId19" imgW="761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0164" y="4787202"/>
                        <a:ext cx="20828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537727"/>
              </p:ext>
            </p:extLst>
          </p:nvPr>
        </p:nvGraphicFramePr>
        <p:xfrm>
          <a:off x="6624808" y="4814641"/>
          <a:ext cx="36782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3" name="Equation" r:id="rId21" imgW="1346040" imgH="253800" progId="Equation.DSMT4">
                  <p:embed/>
                </p:oleObj>
              </mc:Choice>
              <mc:Fallback>
                <p:oleObj name="Equation" r:id="rId21" imgW="13460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808" y="4814641"/>
                        <a:ext cx="36782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459641"/>
              </p:ext>
            </p:extLst>
          </p:nvPr>
        </p:nvGraphicFramePr>
        <p:xfrm>
          <a:off x="1874037" y="5531948"/>
          <a:ext cx="1598612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4" name="Equation" r:id="rId23" imgW="583920" imgH="393480" progId="Equation.DSMT4">
                  <p:embed/>
                </p:oleObj>
              </mc:Choice>
              <mc:Fallback>
                <p:oleObj name="Equation" r:id="rId23" imgW="583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037" y="5531948"/>
                        <a:ext cx="1598612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244116"/>
              </p:ext>
            </p:extLst>
          </p:nvPr>
        </p:nvGraphicFramePr>
        <p:xfrm>
          <a:off x="4206611" y="5579447"/>
          <a:ext cx="139065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5" name="Equation" r:id="rId25" imgW="507960" imgH="393480" progId="Equation.DSMT4">
                  <p:embed/>
                </p:oleObj>
              </mc:Choice>
              <mc:Fallback>
                <p:oleObj name="Equation" r:id="rId25" imgW="507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611" y="5579447"/>
                        <a:ext cx="139065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6579458" y="5799334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自由度是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793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399272"/>
              </p:ext>
            </p:extLst>
          </p:nvPr>
        </p:nvGraphicFramePr>
        <p:xfrm>
          <a:off x="1355296" y="249821"/>
          <a:ext cx="5329485" cy="222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" name="Equation" r:id="rId3" imgW="7848600" imgH="3276600" progId="Equation.3">
                  <p:embed/>
                </p:oleObj>
              </mc:Choice>
              <mc:Fallback>
                <p:oleObj name="Equation" r:id="rId3" imgW="7848600" imgH="327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296" y="249821"/>
                        <a:ext cx="5329485" cy="2224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583009" y="15033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199582"/>
              </p:ext>
            </p:extLst>
          </p:nvPr>
        </p:nvGraphicFramePr>
        <p:xfrm>
          <a:off x="7156633" y="263332"/>
          <a:ext cx="4899442" cy="293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1" name="Equation" r:id="rId5" imgW="7429500" imgH="444500" progId="Equation.3">
                  <p:embed/>
                </p:oleObj>
              </mc:Choice>
              <mc:Fallback>
                <p:oleObj name="Equation" r:id="rId5" imgW="7429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633" y="263332"/>
                        <a:ext cx="4899442" cy="293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713709"/>
              </p:ext>
            </p:extLst>
          </p:nvPr>
        </p:nvGraphicFramePr>
        <p:xfrm>
          <a:off x="7492569" y="630647"/>
          <a:ext cx="3480230" cy="731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2" name="Equation" r:id="rId7" imgW="4470400" imgH="939800" progId="Equation.3">
                  <p:embed/>
                </p:oleObj>
              </mc:Choice>
              <mc:Fallback>
                <p:oleObj name="Equation" r:id="rId7" imgW="4470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2569" y="630647"/>
                        <a:ext cx="3480230" cy="731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Text Box 2"/>
          <p:cNvSpPr txBox="1">
            <a:spLocks noChangeArrowheads="1"/>
          </p:cNvSpPr>
          <p:nvPr/>
        </p:nvSpPr>
        <p:spPr bwMode="auto">
          <a:xfrm>
            <a:off x="961768" y="150341"/>
            <a:ext cx="39352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0183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9796463" y="6124575"/>
            <a:ext cx="457200" cy="4572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544191"/>
              </p:ext>
            </p:extLst>
          </p:nvPr>
        </p:nvGraphicFramePr>
        <p:xfrm>
          <a:off x="7198797" y="1472134"/>
          <a:ext cx="3959984" cy="756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" name="Equation" r:id="rId9" imgW="5321300" imgH="1016000" progId="Equation.3">
                  <p:embed/>
                </p:oleObj>
              </mc:Choice>
              <mc:Fallback>
                <p:oleObj name="Equation" r:id="rId9" imgW="53213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8797" y="1472134"/>
                        <a:ext cx="3959984" cy="756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563735"/>
              </p:ext>
            </p:extLst>
          </p:nvPr>
        </p:nvGraphicFramePr>
        <p:xfrm>
          <a:off x="7492569" y="2436861"/>
          <a:ext cx="2983173" cy="64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4" name="Equation" r:id="rId11" imgW="4457700" imgH="965200" progId="Equation.3">
                  <p:embed/>
                </p:oleObj>
              </mc:Choice>
              <mc:Fallback>
                <p:oleObj name="Equation" r:id="rId11" imgW="4457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2569" y="2436861"/>
                        <a:ext cx="2983173" cy="6459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775293"/>
              </p:ext>
            </p:extLst>
          </p:nvPr>
        </p:nvGraphicFramePr>
        <p:xfrm>
          <a:off x="7547443" y="3287068"/>
          <a:ext cx="2249020" cy="343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5" name="Equation" r:id="rId13" imgW="3073400" imgH="469900" progId="Equation.3">
                  <p:embed/>
                </p:oleObj>
              </mc:Choice>
              <mc:Fallback>
                <p:oleObj name="Equation" r:id="rId13" imgW="3073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7443" y="3287068"/>
                        <a:ext cx="2249020" cy="3438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246190"/>
              </p:ext>
            </p:extLst>
          </p:nvPr>
        </p:nvGraphicFramePr>
        <p:xfrm>
          <a:off x="7573609" y="3883446"/>
          <a:ext cx="3378184" cy="322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6" name="Equation" r:id="rId15" imgW="4914900" imgH="469900" progId="Equation.3">
                  <p:embed/>
                </p:oleObj>
              </mc:Choice>
              <mc:Fallback>
                <p:oleObj name="Equation" r:id="rId15" imgW="4914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609" y="3883446"/>
                        <a:ext cx="3378184" cy="322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952373"/>
              </p:ext>
            </p:extLst>
          </p:nvPr>
        </p:nvGraphicFramePr>
        <p:xfrm>
          <a:off x="7547443" y="4431582"/>
          <a:ext cx="4481795" cy="335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7" name="Equation" r:id="rId17" imgW="6273800" imgH="469900" progId="Equation.3">
                  <p:embed/>
                </p:oleObj>
              </mc:Choice>
              <mc:Fallback>
                <p:oleObj name="Equation" r:id="rId17" imgW="6273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7443" y="4431582"/>
                        <a:ext cx="4481795" cy="335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535667"/>
              </p:ext>
            </p:extLst>
          </p:nvPr>
        </p:nvGraphicFramePr>
        <p:xfrm>
          <a:off x="7573609" y="5504420"/>
          <a:ext cx="1028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8" name="Equation" r:id="rId19" imgW="1028700" imgH="368300" progId="Equation.3">
                  <p:embed/>
                </p:oleObj>
              </mc:Choice>
              <mc:Fallback>
                <p:oleObj name="Equation" r:id="rId19" imgW="10287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609" y="5504420"/>
                        <a:ext cx="1028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8246378" y="4832059"/>
            <a:ext cx="1550085" cy="83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05990" y="4787077"/>
            <a:ext cx="1550085" cy="83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608884"/>
              </p:ext>
            </p:extLst>
          </p:nvPr>
        </p:nvGraphicFramePr>
        <p:xfrm>
          <a:off x="8602309" y="4892902"/>
          <a:ext cx="838593" cy="279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9" name="公式" r:id="rId21" imgW="495000" imgH="164880" progId="Equation.3">
                  <p:embed/>
                </p:oleObj>
              </mc:Choice>
              <mc:Fallback>
                <p:oleObj name="公式" r:id="rId21" imgW="4950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2309" y="4892902"/>
                        <a:ext cx="838593" cy="279531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580139"/>
              </p:ext>
            </p:extLst>
          </p:nvPr>
        </p:nvGraphicFramePr>
        <p:xfrm>
          <a:off x="10850563" y="4840288"/>
          <a:ext cx="8604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0" name="公式" r:id="rId23" imgW="507960" imgH="164880" progId="Equation.3">
                  <p:embed/>
                </p:oleObj>
              </mc:Choice>
              <mc:Fallback>
                <p:oleObj name="公式" r:id="rId23" imgW="5079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0563" y="4840288"/>
                        <a:ext cx="860425" cy="279400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387928"/>
              </p:ext>
            </p:extLst>
          </p:nvPr>
        </p:nvGraphicFramePr>
        <p:xfrm>
          <a:off x="1242626" y="2736333"/>
          <a:ext cx="3881309" cy="671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1" name="Equation" r:id="rId25" imgW="5435600" imgH="939800" progId="Equation.3">
                  <p:embed/>
                </p:oleObj>
              </mc:Choice>
              <mc:Fallback>
                <p:oleObj name="Equation" r:id="rId25" imgW="54356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626" y="2736333"/>
                        <a:ext cx="3881309" cy="671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737051"/>
              </p:ext>
            </p:extLst>
          </p:nvPr>
        </p:nvGraphicFramePr>
        <p:xfrm>
          <a:off x="1242626" y="3585309"/>
          <a:ext cx="3899500" cy="734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2" name="Equation" r:id="rId27" imgW="5397500" imgH="1016000" progId="Equation.3">
                  <p:embed/>
                </p:oleObj>
              </mc:Choice>
              <mc:Fallback>
                <p:oleObj name="Equation" r:id="rId27" imgW="53975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626" y="3585309"/>
                        <a:ext cx="3899500" cy="734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339456"/>
              </p:ext>
            </p:extLst>
          </p:nvPr>
        </p:nvGraphicFramePr>
        <p:xfrm>
          <a:off x="1598329" y="4453189"/>
          <a:ext cx="3369087" cy="719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3" name="Equation" r:id="rId29" imgW="4521200" imgH="965200" progId="Equation.3">
                  <p:embed/>
                </p:oleObj>
              </mc:Choice>
              <mc:Fallback>
                <p:oleObj name="Equation" r:id="rId29" imgW="45212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329" y="4453189"/>
                        <a:ext cx="3369087" cy="719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117061"/>
              </p:ext>
            </p:extLst>
          </p:nvPr>
        </p:nvGraphicFramePr>
        <p:xfrm>
          <a:off x="1598329" y="5339439"/>
          <a:ext cx="2158125" cy="32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4" name="Equation" r:id="rId31" imgW="3073400" imgH="469900" progId="Equation.3">
                  <p:embed/>
                </p:oleObj>
              </mc:Choice>
              <mc:Fallback>
                <p:oleObj name="Equation" r:id="rId31" imgW="3073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329" y="5339439"/>
                        <a:ext cx="2158125" cy="32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211203"/>
              </p:ext>
            </p:extLst>
          </p:nvPr>
        </p:nvGraphicFramePr>
        <p:xfrm>
          <a:off x="1598329" y="5872720"/>
          <a:ext cx="4001115" cy="38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5" name="Equation" r:id="rId33" imgW="4914900" imgH="469900" progId="Equation.3">
                  <p:embed/>
                </p:oleObj>
              </mc:Choice>
              <mc:Fallback>
                <p:oleObj name="Equation" r:id="rId33" imgW="4914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329" y="5872720"/>
                        <a:ext cx="4001115" cy="382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525457"/>
              </p:ext>
            </p:extLst>
          </p:nvPr>
        </p:nvGraphicFramePr>
        <p:xfrm>
          <a:off x="1598329" y="6452190"/>
          <a:ext cx="844834" cy="274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6" name="公式" r:id="rId35" imgW="507960" imgH="164880" progId="Equation.3">
                  <p:embed/>
                </p:oleObj>
              </mc:Choice>
              <mc:Fallback>
                <p:oleObj name="公式" r:id="rId35" imgW="5079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329" y="6452190"/>
                        <a:ext cx="844834" cy="274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/>
          <p:cNvCxnSpPr/>
          <p:nvPr/>
        </p:nvCxnSpPr>
        <p:spPr>
          <a:xfrm>
            <a:off x="1902348" y="6246867"/>
            <a:ext cx="1550085" cy="83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186786"/>
              </p:ext>
            </p:extLst>
          </p:nvPr>
        </p:nvGraphicFramePr>
        <p:xfrm>
          <a:off x="2536825" y="6299200"/>
          <a:ext cx="990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7" name="公式" r:id="rId37" imgW="583920" imgH="164880" progId="Equation.3">
                  <p:embed/>
                </p:oleObj>
              </mc:Choice>
              <mc:Fallback>
                <p:oleObj name="公式" r:id="rId37" imgW="58392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6299200"/>
                        <a:ext cx="990600" cy="279400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487682"/>
              </p:ext>
            </p:extLst>
          </p:nvPr>
        </p:nvGraphicFramePr>
        <p:xfrm>
          <a:off x="4414838" y="6254750"/>
          <a:ext cx="98901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8" name="公式" r:id="rId39" imgW="583920" imgH="164880" progId="Equation.3">
                  <p:embed/>
                </p:oleObj>
              </mc:Choice>
              <mc:Fallback>
                <p:oleObj name="公式" r:id="rId39" imgW="58392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838" y="6254750"/>
                        <a:ext cx="989012" cy="279400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37342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114</Words>
  <Application>Microsoft Office PowerPoint</Application>
  <PresentationFormat>宽屏</PresentationFormat>
  <Paragraphs>25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等线</vt:lpstr>
      <vt:lpstr>黑体</vt:lpstr>
      <vt:lpstr>隶书</vt:lpstr>
      <vt:lpstr>宋体</vt:lpstr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主题</vt:lpstr>
      <vt:lpstr>Equation</vt:lpstr>
      <vt:lpstr>公式</vt:lpstr>
      <vt:lpstr>Image</vt:lpstr>
      <vt:lpstr> </vt:lpstr>
      <vt:lpstr>答案</vt:lpstr>
      <vt:lpstr>PowerPoint 演示文稿</vt:lpstr>
      <vt:lpstr>PowerPoint 演示文稿</vt:lpstr>
      <vt:lpstr>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lastModifiedBy>Windows 用户</cp:lastModifiedBy>
  <cp:revision>34</cp:revision>
  <cp:lastPrinted>2019-11-21T02:49:53Z</cp:lastPrinted>
  <dcterms:created xsi:type="dcterms:W3CDTF">2016-11-28T03:08:01Z</dcterms:created>
  <dcterms:modified xsi:type="dcterms:W3CDTF">2019-11-21T02:59:42Z</dcterms:modified>
</cp:coreProperties>
</file>