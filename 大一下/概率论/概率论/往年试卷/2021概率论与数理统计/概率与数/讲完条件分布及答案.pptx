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56" r:id="rId2"/>
    <p:sldId id="266" r:id="rId3"/>
    <p:sldId id="273" r:id="rId4"/>
    <p:sldId id="258" r:id="rId5"/>
    <p:sldId id="259" r:id="rId6"/>
    <p:sldId id="260" r:id="rId7"/>
    <p:sldId id="268" r:id="rId8"/>
    <p:sldId id="269" r:id="rId9"/>
    <p:sldId id="270" r:id="rId10"/>
    <p:sldId id="277" r:id="rId11"/>
    <p:sldId id="278" r:id="rId12"/>
    <p:sldId id="274" r:id="rId13"/>
    <p:sldId id="267" r:id="rId14"/>
    <p:sldId id="262" r:id="rId15"/>
    <p:sldId id="263" r:id="rId16"/>
    <p:sldId id="264" r:id="rId17"/>
    <p:sldId id="265" r:id="rId18"/>
  </p:sldIdLst>
  <p:sldSz cx="12192000" cy="6858000"/>
  <p:notesSz cx="9947275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1.emf"/><Relationship Id="rId7" Type="http://schemas.openxmlformats.org/officeDocument/2006/relationships/image" Target="../media/image13.e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10" Type="http://schemas.openxmlformats.org/officeDocument/2006/relationships/image" Target="../media/image16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4" Type="http://schemas.openxmlformats.org/officeDocument/2006/relationships/image" Target="../media/image50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4" Type="http://schemas.openxmlformats.org/officeDocument/2006/relationships/image" Target="../media/image54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7.emf"/><Relationship Id="rId3" Type="http://schemas.openxmlformats.org/officeDocument/2006/relationships/image" Target="../media/image57.emf"/><Relationship Id="rId7" Type="http://schemas.openxmlformats.org/officeDocument/2006/relationships/image" Target="../media/image61.emf"/><Relationship Id="rId12" Type="http://schemas.openxmlformats.org/officeDocument/2006/relationships/image" Target="../media/image66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Relationship Id="rId6" Type="http://schemas.openxmlformats.org/officeDocument/2006/relationships/image" Target="../media/image60.emf"/><Relationship Id="rId11" Type="http://schemas.openxmlformats.org/officeDocument/2006/relationships/image" Target="../media/image65.emf"/><Relationship Id="rId5" Type="http://schemas.openxmlformats.org/officeDocument/2006/relationships/image" Target="../media/image59.emf"/><Relationship Id="rId10" Type="http://schemas.openxmlformats.org/officeDocument/2006/relationships/image" Target="../media/image64.emf"/><Relationship Id="rId4" Type="http://schemas.openxmlformats.org/officeDocument/2006/relationships/image" Target="../media/image58.emf"/><Relationship Id="rId9" Type="http://schemas.openxmlformats.org/officeDocument/2006/relationships/image" Target="../media/image63.emf"/><Relationship Id="rId14" Type="http://schemas.openxmlformats.org/officeDocument/2006/relationships/image" Target="../media/image68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72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image" Target="../media/image74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4" Type="http://schemas.openxmlformats.org/officeDocument/2006/relationships/image" Target="../media/image8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C5A3-F614-44C9-A8BD-48D416FFE19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F8EA6-F364-4D9A-BB5B-CACD8AA05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507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56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25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36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49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0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51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7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46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36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94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214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1C644-050C-4BB3-ACCF-0989245C85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39600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FA854-F58E-4D3A-BCB5-D1E3FEA5960F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74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e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1.bin"/><Relationship Id="rId12" Type="http://schemas.openxmlformats.org/officeDocument/2006/relationships/image" Target="../media/image11.e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emf"/><Relationship Id="rId20" Type="http://schemas.openxmlformats.org/officeDocument/2006/relationships/image" Target="../media/image15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e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emf"/><Relationship Id="rId22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4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0.emf"/><Relationship Id="rId4" Type="http://schemas.openxmlformats.org/officeDocument/2006/relationships/image" Target="../media/image27.e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34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4.e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1.e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40.e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0.e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5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4.emf"/><Relationship Id="rId4" Type="http://schemas.openxmlformats.org/officeDocument/2006/relationships/image" Target="../media/image51.emf"/><Relationship Id="rId9" Type="http://schemas.openxmlformats.org/officeDocument/2006/relationships/oleObject" Target="../embeddings/oleObject5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2.emf"/><Relationship Id="rId26" Type="http://schemas.openxmlformats.org/officeDocument/2006/relationships/image" Target="../media/image66.e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59.e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emf"/><Relationship Id="rId20" Type="http://schemas.openxmlformats.org/officeDocument/2006/relationships/image" Target="../media/image63.emf"/><Relationship Id="rId29" Type="http://schemas.openxmlformats.org/officeDocument/2006/relationships/oleObject" Target="../embeddings/oleObject70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6.e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65.emf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67.emf"/><Relationship Id="rId10" Type="http://schemas.openxmlformats.org/officeDocument/2006/relationships/image" Target="../media/image58.e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5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0.emf"/><Relationship Id="rId22" Type="http://schemas.openxmlformats.org/officeDocument/2006/relationships/image" Target="../media/image64.emf"/><Relationship Id="rId27" Type="http://schemas.openxmlformats.org/officeDocument/2006/relationships/oleObject" Target="../embeddings/oleObject69.bin"/><Relationship Id="rId30" Type="http://schemas.openxmlformats.org/officeDocument/2006/relationships/image" Target="../media/image6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image" Target="../media/image15.e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oleObject" Target="../embeddings/oleObject7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0.emf"/><Relationship Id="rId11" Type="http://schemas.openxmlformats.org/officeDocument/2006/relationships/image" Target="../media/image73.png"/><Relationship Id="rId5" Type="http://schemas.openxmlformats.org/officeDocument/2006/relationships/oleObject" Target="../embeddings/oleObject72.bin"/><Relationship Id="rId15" Type="http://schemas.openxmlformats.org/officeDocument/2006/relationships/image" Target="../media/image16.emf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74.bin"/><Relationship Id="rId14" Type="http://schemas.openxmlformats.org/officeDocument/2006/relationships/oleObject" Target="../embeddings/oleObject7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image" Target="../media/image16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5.emf"/><Relationship Id="rId11" Type="http://schemas.openxmlformats.org/officeDocument/2006/relationships/image" Target="../media/image15.emf"/><Relationship Id="rId5" Type="http://schemas.openxmlformats.org/officeDocument/2006/relationships/oleObject" Target="../embeddings/oleObject78.bin"/><Relationship Id="rId10" Type="http://schemas.openxmlformats.org/officeDocument/2006/relationships/oleObject" Target="../embeddings/oleObject80.bin"/><Relationship Id="rId4" Type="http://schemas.openxmlformats.org/officeDocument/2006/relationships/image" Target="../media/image74.emf"/><Relationship Id="rId9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73.png"/><Relationship Id="rId4" Type="http://schemas.openxmlformats.org/officeDocument/2006/relationships/image" Target="../media/image77.emf"/><Relationship Id="rId9" Type="http://schemas.openxmlformats.org/officeDocument/2006/relationships/image" Target="../media/image80.png"/><Relationship Id="rId1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84.emf"/><Relationship Id="rId4" Type="http://schemas.openxmlformats.org/officeDocument/2006/relationships/image" Target="../media/image81.emf"/><Relationship Id="rId9" Type="http://schemas.openxmlformats.org/officeDocument/2006/relationships/oleObject" Target="../embeddings/oleObject9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第五次作业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575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099652"/>
              </p:ext>
            </p:extLst>
          </p:nvPr>
        </p:nvGraphicFramePr>
        <p:xfrm>
          <a:off x="1066838" y="301765"/>
          <a:ext cx="7434262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2" name="公式" r:id="rId3" imgW="3381254" imgH="514350" progId="Equation.3">
                  <p:embed/>
                </p:oleObj>
              </mc:Choice>
              <mc:Fallback>
                <p:oleObj name="公式" r:id="rId3" imgW="338125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38" y="301765"/>
                        <a:ext cx="7434262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81900" y="354014"/>
            <a:ext cx="5469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endParaRPr lang="en-US" altLang="zh-CN" sz="2800" b="1" dirty="0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481900" y="1606507"/>
            <a:ext cx="82073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服从单位圆上的均匀分布，概率密度为</a:t>
            </a:r>
          </a:p>
        </p:txBody>
      </p:sp>
      <p:graphicFrame>
        <p:nvGraphicFramePr>
          <p:cNvPr id="3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573015"/>
              </p:ext>
            </p:extLst>
          </p:nvPr>
        </p:nvGraphicFramePr>
        <p:xfrm>
          <a:off x="8316739" y="1225506"/>
          <a:ext cx="36163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3" name="公式" r:id="rId5" imgW="1638356" imgH="533520" progId="Equation.3">
                  <p:embed/>
                </p:oleObj>
              </mc:Choice>
              <mc:Fallback>
                <p:oleObj name="公式" r:id="rId5" imgW="1638356" imgH="533520" progId="Equation.3">
                  <p:embed/>
                  <p:pic>
                    <p:nvPicPr>
                      <p:cNvPr id="3409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739" y="1225506"/>
                        <a:ext cx="36163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4"/>
          <p:cNvGrpSpPr>
            <a:grpSpLocks/>
          </p:cNvGrpSpPr>
          <p:nvPr/>
        </p:nvGrpSpPr>
        <p:grpSpPr bwMode="auto">
          <a:xfrm>
            <a:off x="1110982" y="2182768"/>
            <a:ext cx="2293937" cy="657225"/>
            <a:chOff x="3744" y="690"/>
            <a:chExt cx="1445" cy="414"/>
          </a:xfrm>
        </p:grpSpPr>
        <p:graphicFrame>
          <p:nvGraphicFramePr>
            <p:cNvPr id="35" name="Object 5"/>
            <p:cNvGraphicFramePr>
              <a:graphicFrameLocks noChangeAspect="1"/>
            </p:cNvGraphicFramePr>
            <p:nvPr/>
          </p:nvGraphicFramePr>
          <p:xfrm>
            <a:off x="4033" y="691"/>
            <a:ext cx="1156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04" name="公式" r:id="rId7" imgW="599965" imgH="162000" progId="Equation.3">
                    <p:embed/>
                  </p:oleObj>
                </mc:Choice>
                <mc:Fallback>
                  <p:oleObj name="公式" r:id="rId7" imgW="599965" imgH="162000" progId="Equation.3">
                    <p:embed/>
                    <p:pic>
                      <p:nvPicPr>
                        <p:cNvPr id="6964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691"/>
                          <a:ext cx="1156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Rectangle 6"/>
            <p:cNvSpPr>
              <a:spLocks noChangeArrowheads="1"/>
            </p:cNvSpPr>
            <p:nvPr/>
          </p:nvSpPr>
          <p:spPr bwMode="auto">
            <a:xfrm>
              <a:off x="3744" y="690"/>
              <a:ext cx="2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求</a:t>
              </a:r>
            </a:p>
          </p:txBody>
        </p:sp>
      </p:grp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481900" y="3574104"/>
            <a:ext cx="113674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设数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在区间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(0,1)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均匀分布，当观察到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X=x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(0&lt;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&lt;1)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时，数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在区间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,1)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上随机地取值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的概率密度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531168" y="4377166"/>
            <a:ext cx="65443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 smtClean="0">
                <a:solidFill>
                  <a:srgbClr val="990000"/>
                </a:solidFill>
                <a:ea typeface="楷体_GB2312" charset="-122"/>
              </a:rPr>
              <a:t>5</a:t>
            </a:r>
            <a:r>
              <a:rPr lang="en-US" altLang="zh-CN" sz="2800" dirty="0" smtClean="0">
                <a:solidFill>
                  <a:srgbClr val="000066"/>
                </a:solidFill>
                <a:ea typeface="楷体_GB2312" charset="-122"/>
              </a:rPr>
              <a:t>  </a:t>
            </a:r>
            <a:r>
              <a:rPr lang="zh-CN" altLang="en-US" sz="2800" dirty="0">
                <a:solidFill>
                  <a:srgbClr val="000066"/>
                </a:solidFill>
                <a:ea typeface="楷体_GB2312" charset="-122"/>
              </a:rPr>
              <a:t>设（</a:t>
            </a:r>
            <a:r>
              <a:rPr lang="en-US" altLang="zh-CN" sz="2800" i="1" dirty="0">
                <a:solidFill>
                  <a:srgbClr val="000066"/>
                </a:solidFill>
                <a:ea typeface="楷体_GB2312" charset="-122"/>
              </a:rPr>
              <a:t>X</a:t>
            </a:r>
            <a:r>
              <a:rPr lang="en-US" altLang="zh-CN" sz="2800" dirty="0">
                <a:solidFill>
                  <a:srgbClr val="000066"/>
                </a:solidFill>
                <a:ea typeface="楷体_GB2312" charset="-122"/>
              </a:rPr>
              <a:t>, </a:t>
            </a:r>
            <a:r>
              <a:rPr lang="en-US" altLang="zh-CN" sz="2800" i="1" dirty="0">
                <a:solidFill>
                  <a:srgbClr val="000066"/>
                </a:solidFill>
                <a:ea typeface="楷体_GB2312" charset="-122"/>
              </a:rPr>
              <a:t>Y</a:t>
            </a:r>
            <a:r>
              <a:rPr lang="zh-CN" altLang="en-US" sz="2800" dirty="0">
                <a:solidFill>
                  <a:srgbClr val="000066"/>
                </a:solidFill>
                <a:ea typeface="楷体_GB2312" charset="-122"/>
              </a:rPr>
              <a:t>）的联合概率密度为</a:t>
            </a:r>
          </a:p>
        </p:txBody>
      </p:sp>
      <p:graphicFrame>
        <p:nvGraphicFramePr>
          <p:cNvPr id="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965701"/>
              </p:ext>
            </p:extLst>
          </p:nvPr>
        </p:nvGraphicFramePr>
        <p:xfrm>
          <a:off x="1525625" y="4900386"/>
          <a:ext cx="7244211" cy="104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5" name="Equation" r:id="rId9" imgW="4057667" imgH="533520" progId="Equation.3">
                  <p:embed/>
                </p:oleObj>
              </mc:Choice>
              <mc:Fallback>
                <p:oleObj name="Equation" r:id="rId9" imgW="4057667" imgH="533520" progId="Equation.3">
                  <p:embed/>
                  <p:pic>
                    <p:nvPicPr>
                      <p:cNvPr id="24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625" y="4900386"/>
                        <a:ext cx="7244211" cy="104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186310"/>
              </p:ext>
            </p:extLst>
          </p:nvPr>
        </p:nvGraphicFramePr>
        <p:xfrm>
          <a:off x="626418" y="6104194"/>
          <a:ext cx="3979117" cy="589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6" name="Equation" r:id="rId11" imgW="2047878" imgH="295380" progId="Equation.3">
                  <p:embed/>
                </p:oleObj>
              </mc:Choice>
              <mc:Fallback>
                <p:oleObj name="Equation" r:id="rId11" imgW="2047878" imgH="29538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18" y="6104194"/>
                        <a:ext cx="3979117" cy="589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019000"/>
              </p:ext>
            </p:extLst>
          </p:nvPr>
        </p:nvGraphicFramePr>
        <p:xfrm>
          <a:off x="4605535" y="6103936"/>
          <a:ext cx="3118130" cy="476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7" name="Equation" r:id="rId13" imgW="1828800" imgH="257310" progId="Equation.3">
                  <p:embed/>
                </p:oleObj>
              </mc:Choice>
              <mc:Fallback>
                <p:oleObj name="Equation" r:id="rId13" imgW="1828800" imgH="257310" progId="Equation.3">
                  <p:embed/>
                  <p:pic>
                    <p:nvPicPr>
                      <p:cNvPr id="245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535" y="6103936"/>
                        <a:ext cx="3118130" cy="476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142530"/>
              </p:ext>
            </p:extLst>
          </p:nvPr>
        </p:nvGraphicFramePr>
        <p:xfrm>
          <a:off x="7703717" y="6103936"/>
          <a:ext cx="3211022" cy="50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8" name="Equation" r:id="rId15" imgW="1695354" imgH="257310" progId="Equation.3">
                  <p:embed/>
                </p:oleObj>
              </mc:Choice>
              <mc:Fallback>
                <p:oleObj name="Equation" r:id="rId15" imgW="1695354" imgH="257310" progId="Equation.3">
                  <p:embed/>
                  <p:pic>
                    <p:nvPicPr>
                      <p:cNvPr id="245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717" y="6103936"/>
                        <a:ext cx="3211022" cy="503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81900" y="2660481"/>
            <a:ext cx="1124764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800000"/>
                </a:solidFill>
                <a:latin typeface="Times New Roman" panose="02020603050405020304" pitchFamily="18" charset="0"/>
                <a:ea typeface="楷体_GB2312" charset="-122"/>
              </a:rPr>
              <a:t>3</a:t>
            </a:r>
            <a:r>
              <a:rPr lang="zh-CN" altLang="en-US" sz="2000" dirty="0" smtClean="0">
                <a:solidFill>
                  <a:srgbClr val="800000"/>
                </a:solidFill>
                <a:latin typeface="Times New Roman" panose="02020603050405020304" pitchFamily="18" charset="0"/>
                <a:ea typeface="楷体_GB2312" charset="-122"/>
              </a:rPr>
              <a:t>：</a:t>
            </a:r>
            <a:r>
              <a:rPr lang="en-US" altLang="zh-CN" sz="20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   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某矿山一年内发生的事故总数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～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P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(λ)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，一个事故是致命的概率为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p 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(0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＜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p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＜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1)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，设一年内发生致命事故的次数为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试写出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的分布律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79355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  <p:bldP spid="37" grpId="0" autoUpdateAnimBg="0"/>
      <p:bldP spid="38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251950" y="890114"/>
            <a:ext cx="2869455" cy="1123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133601" y="175260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2747963" y="1811338"/>
          <a:ext cx="64325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0" name="Equation" r:id="rId3" imgW="6070600" imgH="444500" progId="Equation.3">
                  <p:embed/>
                </p:oleObj>
              </mc:Choice>
              <mc:Fallback>
                <p:oleObj name="Equation" r:id="rId3" imgW="6070600" imgH="444500" progId="Equation.3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1811338"/>
                        <a:ext cx="64325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3617914" y="2451101"/>
          <a:ext cx="42703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1" name="公式" r:id="rId5" imgW="2095500" imgH="482600" progId="Equation.3">
                  <p:embed/>
                </p:oleObj>
              </mc:Choice>
              <mc:Fallback>
                <p:oleObj name="公式" r:id="rId5" imgW="2095500" imgH="482600" progId="Equation.3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4" y="2451101"/>
                        <a:ext cx="42703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2"/>
          <p:cNvGraphicFramePr>
            <a:graphicFrameLocks noChangeAspect="1"/>
          </p:cNvGraphicFramePr>
          <p:nvPr>
            <p:extLst/>
          </p:nvPr>
        </p:nvGraphicFramePr>
        <p:xfrm>
          <a:off x="1747044" y="354014"/>
          <a:ext cx="7434262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公式" r:id="rId7" imgW="3381254" imgH="514350" progId="Equation.3">
                  <p:embed/>
                </p:oleObj>
              </mc:Choice>
              <mc:Fallback>
                <p:oleObj name="公式" r:id="rId7" imgW="3381254" imgH="514350" progId="Equation.3">
                  <p:embed/>
                  <p:pic>
                    <p:nvPicPr>
                      <p:cNvPr id="460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044" y="354014"/>
                        <a:ext cx="7434262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Oval 10" descr="宽上对角线"/>
          <p:cNvSpPr>
            <a:spLocks noChangeArrowheads="1"/>
          </p:cNvSpPr>
          <p:nvPr/>
        </p:nvSpPr>
        <p:spPr bwMode="auto">
          <a:xfrm>
            <a:off x="7716838" y="3876675"/>
            <a:ext cx="1752600" cy="1828800"/>
          </a:xfrm>
          <a:prstGeom prst="ellipse">
            <a:avLst/>
          </a:prstGeom>
          <a:pattFill prst="wdUpDiag">
            <a:fgClr>
              <a:srgbClr val="FFFF00"/>
            </a:fgClr>
            <a:bgClr>
              <a:srgbClr val="FF99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9432925" y="4727575"/>
            <a:ext cx="342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ea typeface="楷体_GB2312" charset="-122"/>
              </a:rPr>
              <a:t>r</a:t>
            </a:r>
          </a:p>
        </p:txBody>
      </p:sp>
      <p:grpSp>
        <p:nvGrpSpPr>
          <p:cNvPr id="22540" name="Group 12"/>
          <p:cNvGrpSpPr>
            <a:grpSpLocks/>
          </p:cNvGrpSpPr>
          <p:nvPr/>
        </p:nvGrpSpPr>
        <p:grpSpPr bwMode="auto">
          <a:xfrm>
            <a:off x="7391400" y="3343275"/>
            <a:ext cx="2590800" cy="2590800"/>
            <a:chOff x="3744" y="816"/>
            <a:chExt cx="1632" cy="1632"/>
          </a:xfrm>
        </p:grpSpPr>
        <p:sp>
          <p:nvSpPr>
            <p:cNvPr id="46105" name="Line 13"/>
            <p:cNvSpPr>
              <a:spLocks noChangeShapeType="1"/>
            </p:cNvSpPr>
            <p:nvPr/>
          </p:nvSpPr>
          <p:spPr bwMode="auto">
            <a:xfrm>
              <a:off x="3744" y="1728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106" name="Line 14"/>
            <p:cNvSpPr>
              <a:spLocks noChangeShapeType="1"/>
            </p:cNvSpPr>
            <p:nvPr/>
          </p:nvSpPr>
          <p:spPr bwMode="auto">
            <a:xfrm flipV="1">
              <a:off x="4512" y="816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545" name="Line 17"/>
          <p:cNvSpPr>
            <a:spLocks noChangeShapeType="1"/>
          </p:cNvSpPr>
          <p:nvPr/>
        </p:nvSpPr>
        <p:spPr bwMode="auto">
          <a:xfrm flipV="1">
            <a:off x="8915400" y="3343275"/>
            <a:ext cx="0" cy="2743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2546" name="Group 18"/>
          <p:cNvGrpSpPr>
            <a:grpSpLocks/>
          </p:cNvGrpSpPr>
          <p:nvPr/>
        </p:nvGrpSpPr>
        <p:grpSpPr bwMode="auto">
          <a:xfrm>
            <a:off x="7783514" y="3486151"/>
            <a:ext cx="1335087" cy="695325"/>
            <a:chOff x="3991" y="893"/>
            <a:chExt cx="841" cy="438"/>
          </a:xfrm>
        </p:grpSpPr>
        <p:graphicFrame>
          <p:nvGraphicFramePr>
            <p:cNvPr id="46103" name="Object 19"/>
            <p:cNvGraphicFramePr>
              <a:graphicFrameLocks noChangeAspect="1"/>
            </p:cNvGraphicFramePr>
            <p:nvPr/>
          </p:nvGraphicFramePr>
          <p:xfrm>
            <a:off x="3991" y="893"/>
            <a:ext cx="71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3" name="Equation" r:id="rId9" imgW="1428733" imgH="457110" progId="Equation.3">
                    <p:embed/>
                  </p:oleObj>
                </mc:Choice>
                <mc:Fallback>
                  <p:oleObj name="Equation" r:id="rId9" imgW="1428733" imgH="457110" progId="Equation.3">
                    <p:embed/>
                    <p:pic>
                      <p:nvPicPr>
                        <p:cNvPr id="4610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1" y="893"/>
                          <a:ext cx="71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4" name="Text Box 20"/>
            <p:cNvSpPr txBox="1">
              <a:spLocks noChangeArrowheads="1"/>
            </p:cNvSpPr>
            <p:nvPr/>
          </p:nvSpPr>
          <p:spPr bwMode="auto">
            <a:xfrm>
              <a:off x="4598" y="966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</p:grpSp>
      <p:grpSp>
        <p:nvGrpSpPr>
          <p:cNvPr id="22549" name="Group 21"/>
          <p:cNvGrpSpPr>
            <a:grpSpLocks/>
          </p:cNvGrpSpPr>
          <p:nvPr/>
        </p:nvGrpSpPr>
        <p:grpSpPr bwMode="auto">
          <a:xfrm>
            <a:off x="7564438" y="5334000"/>
            <a:ext cx="1535112" cy="762000"/>
            <a:chOff x="3853" y="2057"/>
            <a:chExt cx="967" cy="480"/>
          </a:xfrm>
        </p:grpSpPr>
        <p:graphicFrame>
          <p:nvGraphicFramePr>
            <p:cNvPr id="46101" name="Object 22"/>
            <p:cNvGraphicFramePr>
              <a:graphicFrameLocks noChangeAspect="1"/>
            </p:cNvGraphicFramePr>
            <p:nvPr/>
          </p:nvGraphicFramePr>
          <p:xfrm>
            <a:off x="3853" y="2303"/>
            <a:ext cx="86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4" name="Equation" r:id="rId11" imgW="1714534" imgH="457110" progId="Equation.3">
                    <p:embed/>
                  </p:oleObj>
                </mc:Choice>
                <mc:Fallback>
                  <p:oleObj name="Equation" r:id="rId11" imgW="1714534" imgH="457110" progId="Equation.3">
                    <p:embed/>
                    <p:pic>
                      <p:nvPicPr>
                        <p:cNvPr id="46101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3" y="2303"/>
                          <a:ext cx="861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2" name="Text Box 23"/>
            <p:cNvSpPr txBox="1">
              <a:spLocks noChangeArrowheads="1"/>
            </p:cNvSpPr>
            <p:nvPr/>
          </p:nvSpPr>
          <p:spPr bwMode="auto">
            <a:xfrm>
              <a:off x="4586" y="2057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</p:grp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8982076" y="4183064"/>
            <a:ext cx="314325" cy="579437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rgbClr val="FF33CC"/>
                </a:solidFill>
                <a:ea typeface="楷体_GB2312" charset="-122"/>
              </a:rPr>
              <a:t>x</a:t>
            </a: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7302500" y="4659314"/>
            <a:ext cx="477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ea typeface="楷体_GB2312" charset="-122"/>
              </a:rPr>
              <a:t>-r</a:t>
            </a:r>
          </a:p>
        </p:txBody>
      </p:sp>
      <p:graphicFrame>
        <p:nvGraphicFramePr>
          <p:cNvPr id="22554" name="Object 26"/>
          <p:cNvGraphicFramePr>
            <a:graphicFrameLocks noChangeAspect="1"/>
          </p:cNvGraphicFramePr>
          <p:nvPr/>
        </p:nvGraphicFramePr>
        <p:xfrm>
          <a:off x="2133600" y="3670301"/>
          <a:ext cx="34290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公式" r:id="rId13" imgW="1400099" imgH="323730" progId="Equation.3">
                  <p:embed/>
                </p:oleObj>
              </mc:Choice>
              <mc:Fallback>
                <p:oleObj name="公式" r:id="rId13" imgW="1400099" imgH="323730" progId="Equation.3">
                  <p:embed/>
                  <p:pic>
                    <p:nvPicPr>
                      <p:cNvPr id="2255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670301"/>
                        <a:ext cx="342900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5" name="Object 27"/>
          <p:cNvGraphicFramePr>
            <a:graphicFrameLocks noChangeAspect="1"/>
          </p:cNvGraphicFramePr>
          <p:nvPr/>
        </p:nvGraphicFramePr>
        <p:xfrm>
          <a:off x="3048000" y="4813300"/>
          <a:ext cx="38100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name="公式" r:id="rId15" imgW="1809621" imgH="400140" progId="Equation.3">
                  <p:embed/>
                </p:oleObj>
              </mc:Choice>
              <mc:Fallback>
                <p:oleObj name="公式" r:id="rId15" imgW="1809621" imgH="400140" progId="Equation.3">
                  <p:embed/>
                  <p:pic>
                    <p:nvPicPr>
                      <p:cNvPr id="2255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13300"/>
                        <a:ext cx="38100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6" name="Object 28"/>
          <p:cNvGraphicFramePr>
            <a:graphicFrameLocks noChangeAspect="1"/>
          </p:cNvGraphicFramePr>
          <p:nvPr/>
        </p:nvGraphicFramePr>
        <p:xfrm>
          <a:off x="3997325" y="5765800"/>
          <a:ext cx="293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公式" r:id="rId17" imgW="2924189" imgH="476280" progId="Equation.3">
                  <p:embed/>
                </p:oleObj>
              </mc:Choice>
              <mc:Fallback>
                <p:oleObj name="公式" r:id="rId17" imgW="2924189" imgH="476280" progId="Equation.3">
                  <p:embed/>
                  <p:pic>
                    <p:nvPicPr>
                      <p:cNvPr id="2255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5765800"/>
                        <a:ext cx="2933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57" name="Group 29"/>
          <p:cNvGrpSpPr>
            <a:grpSpLocks/>
          </p:cNvGrpSpPr>
          <p:nvPr/>
        </p:nvGrpSpPr>
        <p:grpSpPr bwMode="auto">
          <a:xfrm>
            <a:off x="2286001" y="4889500"/>
            <a:ext cx="549275" cy="1220788"/>
            <a:chOff x="950" y="2688"/>
            <a:chExt cx="346" cy="624"/>
          </a:xfrm>
        </p:grpSpPr>
        <p:sp>
          <p:nvSpPr>
            <p:cNvPr id="46099" name="Text Box 30"/>
            <p:cNvSpPr txBox="1">
              <a:spLocks noChangeArrowheads="1"/>
            </p:cNvSpPr>
            <p:nvPr/>
          </p:nvSpPr>
          <p:spPr bwMode="auto">
            <a:xfrm>
              <a:off x="950" y="2844"/>
              <a:ext cx="26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ea typeface="楷体_GB2312" charset="-122"/>
                </a:rPr>
                <a:t>=</a:t>
              </a:r>
            </a:p>
          </p:txBody>
        </p:sp>
        <p:sp>
          <p:nvSpPr>
            <p:cNvPr id="46100" name="AutoShape 31"/>
            <p:cNvSpPr>
              <a:spLocks/>
            </p:cNvSpPr>
            <p:nvPr/>
          </p:nvSpPr>
          <p:spPr bwMode="auto">
            <a:xfrm>
              <a:off x="1200" y="2688"/>
              <a:ext cx="96" cy="624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aphicFrame>
        <p:nvGraphicFramePr>
          <p:cNvPr id="26" name="Object 2"/>
          <p:cNvGraphicFramePr>
            <a:graphicFrameLocks noChangeAspect="1"/>
          </p:cNvGraphicFramePr>
          <p:nvPr>
            <p:extLst/>
          </p:nvPr>
        </p:nvGraphicFramePr>
        <p:xfrm>
          <a:off x="10637092" y="890114"/>
          <a:ext cx="14843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公式" r:id="rId19" imgW="647779" imgH="438210" progId="Equation.3">
                  <p:embed/>
                </p:oleObj>
              </mc:Choice>
              <mc:Fallback>
                <p:oleObj name="公式" r:id="rId19" imgW="647779" imgH="438210" progId="Equation.3">
                  <p:embed/>
                  <p:pic>
                    <p:nvPicPr>
                      <p:cNvPr id="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7092" y="890114"/>
                        <a:ext cx="1484313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/>
          </p:nvPr>
        </p:nvGraphicFramePr>
        <p:xfrm>
          <a:off x="9265491" y="1175865"/>
          <a:ext cx="1371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公式" r:id="rId21" imgW="628599" imgH="257310" progId="Equation.3">
                  <p:embed/>
                </p:oleObj>
              </mc:Choice>
              <mc:Fallback>
                <p:oleObj name="公式" r:id="rId21" imgW="628599" imgH="257310" progId="Equation.3">
                  <p:embed/>
                  <p:pic>
                    <p:nvPicPr>
                      <p:cNvPr id="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5491" y="1175865"/>
                        <a:ext cx="1371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395784" y="4992130"/>
            <a:ext cx="1535241" cy="46955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964238" y="457279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6838" y="459945"/>
            <a:ext cx="5469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endParaRPr lang="en-US" altLang="zh-CN" sz="2800" b="1" dirty="0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6060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  <p:bldP spid="22538" grpId="0" animBg="1"/>
      <p:bldP spid="22539" grpId="0" autoUpdateAnimBg="0"/>
      <p:bldP spid="22545" grpId="0" animBg="1"/>
      <p:bldP spid="22552" grpId="0" animBg="1" autoUpdateAnimBg="0"/>
      <p:bldP spid="2255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2209800" y="1066801"/>
          <a:ext cx="34290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" name="公式" r:id="rId3" imgW="1400099" imgH="323730" progId="Equation.3">
                  <p:embed/>
                </p:oleObj>
              </mc:Choice>
              <mc:Fallback>
                <p:oleObj name="公式" r:id="rId3" imgW="1400099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066801"/>
                        <a:ext cx="342900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1" name="Object 19"/>
          <p:cNvGraphicFramePr>
            <a:graphicFrameLocks noChangeAspect="1"/>
          </p:cNvGraphicFramePr>
          <p:nvPr/>
        </p:nvGraphicFramePr>
        <p:xfrm>
          <a:off x="5638800" y="781050"/>
          <a:ext cx="38862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" name="公式" r:id="rId5" imgW="1752623" imgH="638280" progId="Equation.3">
                  <p:embed/>
                </p:oleObj>
              </mc:Choice>
              <mc:Fallback>
                <p:oleObj name="公式" r:id="rId5" imgW="1752623" imgH="63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781050"/>
                        <a:ext cx="38862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25"/>
          <p:cNvGraphicFramePr>
            <a:graphicFrameLocks noChangeAspect="1"/>
          </p:cNvGraphicFramePr>
          <p:nvPr/>
        </p:nvGraphicFramePr>
        <p:xfrm>
          <a:off x="2286000" y="2155825"/>
          <a:ext cx="42672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" name="公式" r:id="rId7" imgW="1390644" imgH="323730" progId="Equation.3">
                  <p:embed/>
                </p:oleObj>
              </mc:Choice>
              <mc:Fallback>
                <p:oleObj name="公式" r:id="rId7" imgW="1390644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155825"/>
                        <a:ext cx="42672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26"/>
          <p:cNvGraphicFramePr>
            <a:graphicFrameLocks noChangeAspect="1"/>
          </p:cNvGraphicFramePr>
          <p:nvPr/>
        </p:nvGraphicFramePr>
        <p:xfrm>
          <a:off x="2286000" y="3451226"/>
          <a:ext cx="464820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" name="公式" r:id="rId9" imgW="1752623" imgH="647730" progId="Equation.3">
                  <p:embed/>
                </p:oleObj>
              </mc:Choice>
              <mc:Fallback>
                <p:oleObj name="公式" r:id="rId9" imgW="1752623" imgH="647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51226"/>
                        <a:ext cx="4648200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1936751" y="5410200"/>
            <a:ext cx="57896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0000FF"/>
                </a:solidFill>
                <a:ea typeface="楷体_GB2312" charset="-122"/>
              </a:rPr>
              <a:t>边缘分布不是均匀分布！</a:t>
            </a:r>
          </a:p>
        </p:txBody>
      </p:sp>
      <p:grpSp>
        <p:nvGrpSpPr>
          <p:cNvPr id="23580" name="Group 28"/>
          <p:cNvGrpSpPr>
            <a:grpSpLocks/>
          </p:cNvGrpSpPr>
          <p:nvPr/>
        </p:nvGrpSpPr>
        <p:grpSpPr bwMode="auto">
          <a:xfrm>
            <a:off x="7446963" y="3048000"/>
            <a:ext cx="2590800" cy="2590800"/>
            <a:chOff x="3635" y="480"/>
            <a:chExt cx="1632" cy="1632"/>
          </a:xfrm>
        </p:grpSpPr>
        <p:sp>
          <p:nvSpPr>
            <p:cNvPr id="47122" name="Oval 29" descr="宽上对角线"/>
            <p:cNvSpPr>
              <a:spLocks noChangeArrowheads="1"/>
            </p:cNvSpPr>
            <p:nvPr/>
          </p:nvSpPr>
          <p:spPr bwMode="auto">
            <a:xfrm>
              <a:off x="3840" y="816"/>
              <a:ext cx="1104" cy="1152"/>
            </a:xfrm>
            <a:prstGeom prst="ellipse">
              <a:avLst/>
            </a:prstGeom>
            <a:pattFill prst="wdUpDiag">
              <a:fgClr>
                <a:srgbClr val="FFFF00"/>
              </a:fgClr>
              <a:bgClr>
                <a:srgbClr val="FF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ea typeface="楷体_GB2312" charset="-122"/>
              </a:endParaRPr>
            </a:p>
          </p:txBody>
        </p:sp>
        <p:grpSp>
          <p:nvGrpSpPr>
            <p:cNvPr id="47123" name="Group 30"/>
            <p:cNvGrpSpPr>
              <a:grpSpLocks/>
            </p:cNvGrpSpPr>
            <p:nvPr/>
          </p:nvGrpSpPr>
          <p:grpSpPr bwMode="auto">
            <a:xfrm>
              <a:off x="3635" y="480"/>
              <a:ext cx="1632" cy="1632"/>
              <a:chOff x="3744" y="816"/>
              <a:chExt cx="1632" cy="1632"/>
            </a:xfrm>
          </p:grpSpPr>
          <p:sp>
            <p:nvSpPr>
              <p:cNvPr id="47124" name="Line 31"/>
              <p:cNvSpPr>
                <a:spLocks noChangeShapeType="1"/>
              </p:cNvSpPr>
              <p:nvPr/>
            </p:nvSpPr>
            <p:spPr bwMode="auto">
              <a:xfrm>
                <a:off x="3744" y="1728"/>
                <a:ext cx="16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7125" name="Line 32"/>
              <p:cNvSpPr>
                <a:spLocks noChangeShapeType="1"/>
              </p:cNvSpPr>
              <p:nvPr/>
            </p:nvSpPr>
            <p:spPr bwMode="auto">
              <a:xfrm flipV="1">
                <a:off x="4512" y="816"/>
                <a:ext cx="0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23585" name="Line 33"/>
          <p:cNvSpPr>
            <a:spLocks noChangeShapeType="1"/>
          </p:cNvSpPr>
          <p:nvPr/>
        </p:nvSpPr>
        <p:spPr bwMode="auto">
          <a:xfrm>
            <a:off x="7446963" y="3962400"/>
            <a:ext cx="2667000" cy="0"/>
          </a:xfrm>
          <a:prstGeom prst="line">
            <a:avLst/>
          </a:prstGeom>
          <a:noFill/>
          <a:ln w="31750">
            <a:solidFill>
              <a:srgbClr val="FF33CC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3586" name="Group 34"/>
          <p:cNvGrpSpPr>
            <a:grpSpLocks/>
          </p:cNvGrpSpPr>
          <p:nvPr/>
        </p:nvGrpSpPr>
        <p:grpSpPr bwMode="auto">
          <a:xfrm>
            <a:off x="6781801" y="3429001"/>
            <a:ext cx="1400175" cy="747713"/>
            <a:chOff x="3166" y="762"/>
            <a:chExt cx="882" cy="471"/>
          </a:xfrm>
        </p:grpSpPr>
        <p:graphicFrame>
          <p:nvGraphicFramePr>
            <p:cNvPr id="47120" name="Object 35"/>
            <p:cNvGraphicFramePr>
              <a:graphicFrameLocks noChangeAspect="1"/>
            </p:cNvGraphicFramePr>
            <p:nvPr/>
          </p:nvGraphicFramePr>
          <p:xfrm>
            <a:off x="3166" y="762"/>
            <a:ext cx="87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8" name="Equation" r:id="rId11" imgW="1743168" imgH="533520" progId="Equation.3">
                    <p:embed/>
                  </p:oleObj>
                </mc:Choice>
                <mc:Fallback>
                  <p:oleObj name="Equation" r:id="rId11" imgW="1743168" imgH="533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6" y="762"/>
                          <a:ext cx="87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1" name="Text Box 36"/>
            <p:cNvSpPr txBox="1">
              <a:spLocks noChangeArrowheads="1"/>
            </p:cNvSpPr>
            <p:nvPr/>
          </p:nvSpPr>
          <p:spPr bwMode="auto">
            <a:xfrm>
              <a:off x="3814" y="868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</p:grpSp>
      <p:grpSp>
        <p:nvGrpSpPr>
          <p:cNvPr id="23589" name="Group 37"/>
          <p:cNvGrpSpPr>
            <a:grpSpLocks/>
          </p:cNvGrpSpPr>
          <p:nvPr/>
        </p:nvGrpSpPr>
        <p:grpSpPr bwMode="auto">
          <a:xfrm>
            <a:off x="9144000" y="3429001"/>
            <a:ext cx="1335088" cy="760413"/>
            <a:chOff x="4752" y="746"/>
            <a:chExt cx="841" cy="479"/>
          </a:xfrm>
        </p:grpSpPr>
        <p:sp>
          <p:nvSpPr>
            <p:cNvPr id="47118" name="Text Box 38"/>
            <p:cNvSpPr txBox="1">
              <a:spLocks noChangeArrowheads="1"/>
            </p:cNvSpPr>
            <p:nvPr/>
          </p:nvSpPr>
          <p:spPr bwMode="auto">
            <a:xfrm>
              <a:off x="4752" y="860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  <p:graphicFrame>
          <p:nvGraphicFramePr>
            <p:cNvPr id="47119" name="Object 39"/>
            <p:cNvGraphicFramePr>
              <a:graphicFrameLocks noChangeAspect="1"/>
            </p:cNvGraphicFramePr>
            <p:nvPr/>
          </p:nvGraphicFramePr>
          <p:xfrm>
            <a:off x="4865" y="746"/>
            <a:ext cx="7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9" name="Equation" r:id="rId13" imgW="1447913" imgH="533520" progId="Equation.3">
                    <p:embed/>
                  </p:oleObj>
                </mc:Choice>
                <mc:Fallback>
                  <p:oleObj name="Equation" r:id="rId13" imgW="1447913" imgH="533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" y="746"/>
                          <a:ext cx="7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92" name="Text Box 40"/>
          <p:cNvSpPr txBox="1">
            <a:spLocks noChangeArrowheads="1"/>
          </p:cNvSpPr>
          <p:nvPr/>
        </p:nvSpPr>
        <p:spPr bwMode="auto">
          <a:xfrm>
            <a:off x="8712201" y="3833814"/>
            <a:ext cx="320675" cy="579437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rgbClr val="FF33CC"/>
                </a:solidFill>
                <a:ea typeface="楷体_GB2312" charset="-122"/>
              </a:rPr>
              <a:t>y</a:t>
            </a:r>
          </a:p>
        </p:txBody>
      </p:sp>
      <p:sp>
        <p:nvSpPr>
          <p:cNvPr id="23595" name="Text Box 43"/>
          <p:cNvSpPr txBox="1">
            <a:spLocks noChangeArrowheads="1"/>
          </p:cNvSpPr>
          <p:nvPr/>
        </p:nvSpPr>
        <p:spPr bwMode="auto">
          <a:xfrm>
            <a:off x="8666164" y="5211764"/>
            <a:ext cx="477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ea typeface="楷体_GB2312" charset="-122"/>
              </a:rPr>
              <a:t>-r</a:t>
            </a:r>
          </a:p>
        </p:txBody>
      </p:sp>
      <p:sp>
        <p:nvSpPr>
          <p:cNvPr id="23596" name="Text Box 44"/>
          <p:cNvSpPr txBox="1">
            <a:spLocks noChangeArrowheads="1"/>
          </p:cNvSpPr>
          <p:nvPr/>
        </p:nvSpPr>
        <p:spPr bwMode="auto">
          <a:xfrm>
            <a:off x="8610600" y="3078164"/>
            <a:ext cx="342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ea typeface="楷体_GB2312" charset="-122"/>
              </a:rPr>
              <a:t>r</a:t>
            </a:r>
          </a:p>
        </p:txBody>
      </p:sp>
      <p:sp>
        <p:nvSpPr>
          <p:cNvPr id="22" name="矩形 21"/>
          <p:cNvSpPr/>
          <p:nvPr/>
        </p:nvSpPr>
        <p:spPr>
          <a:xfrm>
            <a:off x="5125052" y="3888754"/>
            <a:ext cx="1826612" cy="46955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989759" y="1153298"/>
            <a:ext cx="1535241" cy="46955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581916" y="76888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848134" y="353036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57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9" grpId="0" autoUpdateAnimBg="0"/>
      <p:bldP spid="23585" grpId="0" animBg="1"/>
      <p:bldP spid="23592" grpId="0" animBg="1" autoUpdateAnimBg="0"/>
      <p:bldP spid="23595" grpId="0" autoUpdateAnimBg="0"/>
      <p:bldP spid="2359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椭圆 24"/>
          <p:cNvSpPr/>
          <p:nvPr/>
        </p:nvSpPr>
        <p:spPr>
          <a:xfrm>
            <a:off x="5435063" y="2966609"/>
            <a:ext cx="159951" cy="30480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925669" y="2927005"/>
            <a:ext cx="159951" cy="30480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019800" y="2913062"/>
            <a:ext cx="159951" cy="30480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616200" y="1981200"/>
            <a:ext cx="159951" cy="30480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3733801" y="1425575"/>
          <a:ext cx="14843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" name="公式" r:id="rId3" imgW="647779" imgH="438210" progId="Equation.3">
                  <p:embed/>
                </p:oleObj>
              </mc:Choice>
              <mc:Fallback>
                <p:oleObj name="公式" r:id="rId3" imgW="647779" imgH="438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1425575"/>
                        <a:ext cx="1484313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2362200" y="1711326"/>
          <a:ext cx="1371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9" name="公式" r:id="rId5" imgW="628599" imgH="257310" progId="Equation.3">
                  <p:embed/>
                </p:oleObj>
              </mc:Choice>
              <mc:Fallback>
                <p:oleObj name="公式" r:id="rId5" imgW="628599" imgH="257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11326"/>
                        <a:ext cx="1371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133600" y="533400"/>
            <a:ext cx="388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charset="-122"/>
              </a:rPr>
              <a:t>当</a:t>
            </a:r>
            <a:r>
              <a:rPr lang="zh-CN" altLang="en-US" b="1" i="1">
                <a:ea typeface="楷体_GB2312" charset="-122"/>
              </a:rPr>
              <a:t> </a:t>
            </a:r>
            <a:r>
              <a:rPr lang="en-US" altLang="zh-CN" b="1" i="1">
                <a:ea typeface="楷体_GB2312" charset="-122"/>
              </a:rPr>
              <a:t>– r &lt; y &lt; r </a:t>
            </a:r>
            <a:r>
              <a:rPr lang="en-US" altLang="zh-CN" b="1">
                <a:ea typeface="楷体_GB2312" charset="-122"/>
              </a:rPr>
              <a:t> </a:t>
            </a:r>
            <a:r>
              <a:rPr lang="zh-CN" altLang="en-US" b="1">
                <a:ea typeface="楷体_GB2312" charset="-122"/>
              </a:rPr>
              <a:t>时，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15987"/>
              </p:ext>
            </p:extLst>
          </p:nvPr>
        </p:nvGraphicFramePr>
        <p:xfrm>
          <a:off x="2616200" y="2585245"/>
          <a:ext cx="4851400" cy="153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" name="公式" r:id="rId7" imgW="2724021" imgH="676350" progId="Equation.3">
                  <p:embed/>
                </p:oleObj>
              </mc:Choice>
              <mc:Fallback>
                <p:oleObj name="公式" r:id="rId7" imgW="2724021" imgH="676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585245"/>
                        <a:ext cx="4851400" cy="153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6" name="Group 6"/>
          <p:cNvGrpSpPr>
            <a:grpSpLocks/>
          </p:cNvGrpSpPr>
          <p:nvPr/>
        </p:nvGrpSpPr>
        <p:grpSpPr bwMode="auto">
          <a:xfrm>
            <a:off x="7294563" y="533400"/>
            <a:ext cx="2590800" cy="2590800"/>
            <a:chOff x="3635" y="480"/>
            <a:chExt cx="1632" cy="1632"/>
          </a:xfrm>
        </p:grpSpPr>
        <p:sp>
          <p:nvSpPr>
            <p:cNvPr id="48145" name="Oval 7" descr="宽上对角线"/>
            <p:cNvSpPr>
              <a:spLocks noChangeArrowheads="1"/>
            </p:cNvSpPr>
            <p:nvPr/>
          </p:nvSpPr>
          <p:spPr bwMode="auto">
            <a:xfrm>
              <a:off x="3840" y="816"/>
              <a:ext cx="1104" cy="1152"/>
            </a:xfrm>
            <a:prstGeom prst="ellipse">
              <a:avLst/>
            </a:prstGeom>
            <a:pattFill prst="wdUpDiag">
              <a:fgClr>
                <a:srgbClr val="FFFF00"/>
              </a:fgClr>
              <a:bgClr>
                <a:srgbClr val="FF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ea typeface="楷体_GB2312" charset="-122"/>
              </a:endParaRPr>
            </a:p>
          </p:txBody>
        </p:sp>
        <p:grpSp>
          <p:nvGrpSpPr>
            <p:cNvPr id="48146" name="Group 8"/>
            <p:cNvGrpSpPr>
              <a:grpSpLocks/>
            </p:cNvGrpSpPr>
            <p:nvPr/>
          </p:nvGrpSpPr>
          <p:grpSpPr bwMode="auto">
            <a:xfrm>
              <a:off x="3635" y="480"/>
              <a:ext cx="1632" cy="1632"/>
              <a:chOff x="3744" y="816"/>
              <a:chExt cx="1632" cy="1632"/>
            </a:xfrm>
          </p:grpSpPr>
          <p:sp>
            <p:nvSpPr>
              <p:cNvPr id="48147" name="Line 9"/>
              <p:cNvSpPr>
                <a:spLocks noChangeShapeType="1"/>
              </p:cNvSpPr>
              <p:nvPr/>
            </p:nvSpPr>
            <p:spPr bwMode="auto">
              <a:xfrm>
                <a:off x="3744" y="1728"/>
                <a:ext cx="16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48" name="Line 10"/>
              <p:cNvSpPr>
                <a:spLocks noChangeShapeType="1"/>
              </p:cNvSpPr>
              <p:nvPr/>
            </p:nvSpPr>
            <p:spPr bwMode="auto">
              <a:xfrm flipV="1">
                <a:off x="4512" y="816"/>
                <a:ext cx="0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7294563" y="1447800"/>
            <a:ext cx="2667000" cy="0"/>
          </a:xfrm>
          <a:prstGeom prst="line">
            <a:avLst/>
          </a:prstGeom>
          <a:noFill/>
          <a:ln w="31750">
            <a:solidFill>
              <a:srgbClr val="FF33CC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5612" name="Group 12"/>
          <p:cNvGrpSpPr>
            <a:grpSpLocks/>
          </p:cNvGrpSpPr>
          <p:nvPr/>
        </p:nvGrpSpPr>
        <p:grpSpPr bwMode="auto">
          <a:xfrm>
            <a:off x="6629401" y="914401"/>
            <a:ext cx="1400175" cy="747713"/>
            <a:chOff x="3166" y="762"/>
            <a:chExt cx="882" cy="471"/>
          </a:xfrm>
        </p:grpSpPr>
        <p:graphicFrame>
          <p:nvGraphicFramePr>
            <p:cNvPr id="48143" name="Object 13"/>
            <p:cNvGraphicFramePr>
              <a:graphicFrameLocks noChangeAspect="1"/>
            </p:cNvGraphicFramePr>
            <p:nvPr/>
          </p:nvGraphicFramePr>
          <p:xfrm>
            <a:off x="3166" y="762"/>
            <a:ext cx="87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" name="Equation" r:id="rId9" imgW="1743168" imgH="533520" progId="Equation.3">
                    <p:embed/>
                  </p:oleObj>
                </mc:Choice>
                <mc:Fallback>
                  <p:oleObj name="Equation" r:id="rId9" imgW="1743168" imgH="533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6" y="762"/>
                          <a:ext cx="87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4" name="Text Box 14"/>
            <p:cNvSpPr txBox="1">
              <a:spLocks noChangeArrowheads="1"/>
            </p:cNvSpPr>
            <p:nvPr/>
          </p:nvSpPr>
          <p:spPr bwMode="auto">
            <a:xfrm>
              <a:off x="3814" y="868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</p:grpSp>
      <p:grpSp>
        <p:nvGrpSpPr>
          <p:cNvPr id="25615" name="Group 15"/>
          <p:cNvGrpSpPr>
            <a:grpSpLocks/>
          </p:cNvGrpSpPr>
          <p:nvPr/>
        </p:nvGrpSpPr>
        <p:grpSpPr bwMode="auto">
          <a:xfrm>
            <a:off x="8991600" y="914401"/>
            <a:ext cx="1335088" cy="760413"/>
            <a:chOff x="4752" y="746"/>
            <a:chExt cx="841" cy="479"/>
          </a:xfrm>
        </p:grpSpPr>
        <p:sp>
          <p:nvSpPr>
            <p:cNvPr id="48141" name="Text Box 16"/>
            <p:cNvSpPr txBox="1">
              <a:spLocks noChangeArrowheads="1"/>
            </p:cNvSpPr>
            <p:nvPr/>
          </p:nvSpPr>
          <p:spPr bwMode="auto">
            <a:xfrm>
              <a:off x="4752" y="860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  <p:graphicFrame>
          <p:nvGraphicFramePr>
            <p:cNvPr id="48142" name="Object 17"/>
            <p:cNvGraphicFramePr>
              <a:graphicFrameLocks noChangeAspect="1"/>
            </p:cNvGraphicFramePr>
            <p:nvPr/>
          </p:nvGraphicFramePr>
          <p:xfrm>
            <a:off x="4865" y="746"/>
            <a:ext cx="7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" name="Equation" r:id="rId11" imgW="1447913" imgH="533520" progId="Equation.3">
                    <p:embed/>
                  </p:oleObj>
                </mc:Choice>
                <mc:Fallback>
                  <p:oleObj name="Equation" r:id="rId11" imgW="1447913" imgH="533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" y="746"/>
                          <a:ext cx="7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8559801" y="1319214"/>
            <a:ext cx="320675" cy="579437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rgbClr val="FF33CC"/>
                </a:solidFill>
                <a:ea typeface="楷体_GB2312" charset="-122"/>
              </a:rPr>
              <a:t>y</a:t>
            </a:r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2133600" y="4454525"/>
            <a:ext cx="7380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ea typeface="楷体_GB2312" charset="-122"/>
              </a:rPr>
              <a:t>— </a:t>
            </a:r>
            <a:r>
              <a:rPr lang="zh-CN" altLang="en-US" b="1">
                <a:ea typeface="楷体_GB2312" charset="-122"/>
              </a:rPr>
              <a:t>这里 </a:t>
            </a:r>
            <a:r>
              <a:rPr lang="en-US" altLang="zh-CN" b="1" i="1">
                <a:ea typeface="楷体_GB2312" charset="-122"/>
              </a:rPr>
              <a:t>y</a:t>
            </a:r>
            <a:r>
              <a:rPr lang="en-US" altLang="zh-CN" b="1">
                <a:ea typeface="楷体_GB2312" charset="-122"/>
              </a:rPr>
              <a:t> </a:t>
            </a:r>
            <a:r>
              <a:rPr lang="zh-CN" altLang="en-US" b="1">
                <a:ea typeface="楷体_GB2312" charset="-122"/>
              </a:rPr>
              <a:t>是常数，当</a:t>
            </a:r>
            <a:r>
              <a:rPr lang="en-US" altLang="zh-CN" b="1" i="1">
                <a:ea typeface="楷体_GB2312" charset="-122"/>
              </a:rPr>
              <a:t>Y = y </a:t>
            </a:r>
            <a:r>
              <a:rPr lang="zh-CN" altLang="en-US" b="1">
                <a:ea typeface="楷体_GB2312" charset="-122"/>
              </a:rPr>
              <a:t>时，</a:t>
            </a:r>
          </a:p>
        </p:txBody>
      </p:sp>
      <p:graphicFrame>
        <p:nvGraphicFramePr>
          <p:cNvPr id="25620" name="Object 20"/>
          <p:cNvGraphicFramePr>
            <a:graphicFrameLocks noChangeAspect="1"/>
          </p:cNvGraphicFramePr>
          <p:nvPr/>
        </p:nvGraphicFramePr>
        <p:xfrm>
          <a:off x="3581401" y="5292726"/>
          <a:ext cx="56816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" name="公式" r:id="rId13" imgW="2171599" imgH="266760" progId="Equation.3">
                  <p:embed/>
                </p:oleObj>
              </mc:Choice>
              <mc:Fallback>
                <p:oleObj name="公式" r:id="rId13" imgW="2171599" imgH="266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5292726"/>
                        <a:ext cx="56816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4484559" y="2659362"/>
            <a:ext cx="3135442" cy="660401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927191" y="333314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856585" y="258653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52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utoUpdateAnimBg="0"/>
      <p:bldP spid="25611" grpId="0" animBg="1"/>
      <p:bldP spid="25618" grpId="0" animBg="1" autoUpdateAnimBg="0"/>
      <p:bldP spid="2561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6100593" y="3284535"/>
            <a:ext cx="159951" cy="30480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478849" y="3297237"/>
            <a:ext cx="159951" cy="30480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759832" y="3284536"/>
            <a:ext cx="159951" cy="30480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733463" y="2088355"/>
            <a:ext cx="159951" cy="30480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4098926" y="1552576"/>
          <a:ext cx="17684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" name="公式" r:id="rId3" imgW="647779" imgH="438210" progId="Equation.3">
                  <p:embed/>
                </p:oleObj>
              </mc:Choice>
              <mc:Fallback>
                <p:oleObj name="公式" r:id="rId3" imgW="647779" imgH="438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926" y="1552576"/>
                        <a:ext cx="176847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2438400" y="1781175"/>
          <a:ext cx="1600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" name="公式" r:id="rId5" imgW="628599" imgH="257310" progId="Equation.3">
                  <p:embed/>
                </p:oleObj>
              </mc:Choice>
              <mc:Fallback>
                <p:oleObj name="公式" r:id="rId5" imgW="628599" imgH="257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81175"/>
                        <a:ext cx="1600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590801" y="685800"/>
            <a:ext cx="34083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charset="-122"/>
              </a:rPr>
              <a:t>当</a:t>
            </a:r>
            <a:r>
              <a:rPr lang="zh-CN" altLang="en-US" b="1" i="1">
                <a:ea typeface="楷体_GB2312" charset="-122"/>
              </a:rPr>
              <a:t> </a:t>
            </a:r>
            <a:r>
              <a:rPr lang="en-US" altLang="zh-CN" b="1" i="1">
                <a:ea typeface="楷体_GB2312" charset="-122"/>
              </a:rPr>
              <a:t>– r &lt; x &lt; r </a:t>
            </a:r>
            <a:r>
              <a:rPr lang="en-US" altLang="zh-CN" b="1">
                <a:ea typeface="楷体_GB2312" charset="-122"/>
              </a:rPr>
              <a:t> </a:t>
            </a:r>
            <a:r>
              <a:rPr lang="zh-CN" altLang="en-US" b="1">
                <a:ea typeface="楷体_GB2312" charset="-122"/>
              </a:rPr>
              <a:t>时，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771521"/>
              </p:ext>
            </p:extLst>
          </p:nvPr>
        </p:nvGraphicFramePr>
        <p:xfrm>
          <a:off x="2819400" y="2951161"/>
          <a:ext cx="56388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" name="公式" r:id="rId7" imgW="2733745" imgH="638280" progId="Equation.3">
                  <p:embed/>
                </p:oleObj>
              </mc:Choice>
              <mc:Fallback>
                <p:oleObj name="公式" r:id="rId7" imgW="2733745" imgH="63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951161"/>
                        <a:ext cx="563880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2438400" y="4724400"/>
            <a:ext cx="6999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ea typeface="楷体_GB2312" charset="-122"/>
              </a:rPr>
              <a:t>— </a:t>
            </a:r>
            <a:r>
              <a:rPr lang="zh-CN" altLang="en-US" b="1" dirty="0">
                <a:ea typeface="楷体_GB2312" charset="-122"/>
              </a:rPr>
              <a:t>这里 </a:t>
            </a:r>
            <a:r>
              <a:rPr lang="en-US" altLang="zh-CN" b="1" i="1" dirty="0">
                <a:ea typeface="楷体_GB2312" charset="-122"/>
              </a:rPr>
              <a:t>x</a:t>
            </a:r>
            <a:r>
              <a:rPr lang="en-US" altLang="zh-CN" b="1" dirty="0">
                <a:ea typeface="楷体_GB2312" charset="-122"/>
              </a:rPr>
              <a:t> </a:t>
            </a:r>
            <a:r>
              <a:rPr lang="zh-CN" altLang="en-US" b="1" dirty="0">
                <a:ea typeface="楷体_GB2312" charset="-122"/>
              </a:rPr>
              <a:t>是常数，当</a:t>
            </a:r>
            <a:r>
              <a:rPr lang="en-US" altLang="zh-CN" b="1" i="1" dirty="0">
                <a:ea typeface="楷体_GB2312" charset="-122"/>
              </a:rPr>
              <a:t>X = x </a:t>
            </a:r>
            <a:r>
              <a:rPr lang="zh-CN" altLang="en-US" b="1" dirty="0">
                <a:ea typeface="楷体_GB2312" charset="-122"/>
              </a:rPr>
              <a:t>时，</a:t>
            </a:r>
          </a:p>
        </p:txBody>
      </p:sp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3810000" y="5486401"/>
          <a:ext cx="54864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" name="公式" r:id="rId9" imgW="2190778" imgH="266760" progId="Equation.3">
                  <p:embed/>
                </p:oleObj>
              </mc:Choice>
              <mc:Fallback>
                <p:oleObj name="公式" r:id="rId9" imgW="2190778" imgH="266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486401"/>
                        <a:ext cx="54864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Oval 8" descr="宽上对角线"/>
          <p:cNvSpPr>
            <a:spLocks noChangeArrowheads="1"/>
          </p:cNvSpPr>
          <p:nvPr/>
        </p:nvSpPr>
        <p:spPr bwMode="auto">
          <a:xfrm>
            <a:off x="8250238" y="847725"/>
            <a:ext cx="1752600" cy="1828800"/>
          </a:xfrm>
          <a:prstGeom prst="ellipse">
            <a:avLst/>
          </a:prstGeom>
          <a:pattFill prst="wdUpDiag">
            <a:fgClr>
              <a:srgbClr val="FFFF00"/>
            </a:fgClr>
            <a:bgClr>
              <a:srgbClr val="FF99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26633" name="Group 9"/>
          <p:cNvGrpSpPr>
            <a:grpSpLocks/>
          </p:cNvGrpSpPr>
          <p:nvPr/>
        </p:nvGrpSpPr>
        <p:grpSpPr bwMode="auto">
          <a:xfrm>
            <a:off x="7924800" y="304800"/>
            <a:ext cx="2590800" cy="2590800"/>
            <a:chOff x="3744" y="816"/>
            <a:chExt cx="1632" cy="1632"/>
          </a:xfrm>
        </p:grpSpPr>
        <p:sp>
          <p:nvSpPr>
            <p:cNvPr id="49170" name="Line 10"/>
            <p:cNvSpPr>
              <a:spLocks noChangeShapeType="1"/>
            </p:cNvSpPr>
            <p:nvPr/>
          </p:nvSpPr>
          <p:spPr bwMode="auto">
            <a:xfrm>
              <a:off x="3744" y="1728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71" name="Line 11"/>
            <p:cNvSpPr>
              <a:spLocks noChangeShapeType="1"/>
            </p:cNvSpPr>
            <p:nvPr/>
          </p:nvSpPr>
          <p:spPr bwMode="auto">
            <a:xfrm flipV="1">
              <a:off x="4512" y="816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636" name="Group 12"/>
          <p:cNvGrpSpPr>
            <a:grpSpLocks/>
          </p:cNvGrpSpPr>
          <p:nvPr/>
        </p:nvGrpSpPr>
        <p:grpSpPr bwMode="auto">
          <a:xfrm>
            <a:off x="8316914" y="457201"/>
            <a:ext cx="1335087" cy="695325"/>
            <a:chOff x="3991" y="893"/>
            <a:chExt cx="841" cy="438"/>
          </a:xfrm>
        </p:grpSpPr>
        <p:graphicFrame>
          <p:nvGraphicFramePr>
            <p:cNvPr id="49168" name="Object 13"/>
            <p:cNvGraphicFramePr>
              <a:graphicFrameLocks noChangeAspect="1"/>
            </p:cNvGraphicFramePr>
            <p:nvPr/>
          </p:nvGraphicFramePr>
          <p:xfrm>
            <a:off x="3991" y="893"/>
            <a:ext cx="71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6" name="Equation" r:id="rId11" imgW="1428733" imgH="457110" progId="Equation.3">
                    <p:embed/>
                  </p:oleObj>
                </mc:Choice>
                <mc:Fallback>
                  <p:oleObj name="Equation" r:id="rId11" imgW="1428733" imgH="4571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1" y="893"/>
                          <a:ext cx="71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9" name="Text Box 14"/>
            <p:cNvSpPr txBox="1">
              <a:spLocks noChangeArrowheads="1"/>
            </p:cNvSpPr>
            <p:nvPr/>
          </p:nvSpPr>
          <p:spPr bwMode="auto">
            <a:xfrm>
              <a:off x="4598" y="966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</p:grpSp>
      <p:grpSp>
        <p:nvGrpSpPr>
          <p:cNvPr id="26639" name="Group 15"/>
          <p:cNvGrpSpPr>
            <a:grpSpLocks/>
          </p:cNvGrpSpPr>
          <p:nvPr/>
        </p:nvGrpSpPr>
        <p:grpSpPr bwMode="auto">
          <a:xfrm>
            <a:off x="8097838" y="2305050"/>
            <a:ext cx="1535112" cy="762000"/>
            <a:chOff x="3853" y="2057"/>
            <a:chExt cx="967" cy="480"/>
          </a:xfrm>
        </p:grpSpPr>
        <p:graphicFrame>
          <p:nvGraphicFramePr>
            <p:cNvPr id="49166" name="Object 16"/>
            <p:cNvGraphicFramePr>
              <a:graphicFrameLocks noChangeAspect="1"/>
            </p:cNvGraphicFramePr>
            <p:nvPr/>
          </p:nvGraphicFramePr>
          <p:xfrm>
            <a:off x="3853" y="2303"/>
            <a:ext cx="86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7" name="Equation" r:id="rId13" imgW="1714534" imgH="457110" progId="Equation.3">
                    <p:embed/>
                  </p:oleObj>
                </mc:Choice>
                <mc:Fallback>
                  <p:oleObj name="Equation" r:id="rId13" imgW="1714534" imgH="4571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3" y="2303"/>
                          <a:ext cx="861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7" name="Text Box 17"/>
            <p:cNvSpPr txBox="1">
              <a:spLocks noChangeArrowheads="1"/>
            </p:cNvSpPr>
            <p:nvPr/>
          </p:nvSpPr>
          <p:spPr bwMode="auto">
            <a:xfrm>
              <a:off x="4586" y="2057"/>
              <a:ext cx="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FF33CC"/>
                  </a:solidFill>
                  <a:ea typeface="楷体_GB2312" charset="-122"/>
                  <a:sym typeface="Symbol" panose="05050102010706020507" pitchFamily="18" charset="2"/>
                </a:rPr>
                <a:t></a:t>
              </a:r>
              <a:endParaRPr lang="en-US" altLang="zh-CN">
                <a:solidFill>
                  <a:srgbClr val="FF33CC"/>
                </a:solidFill>
                <a:ea typeface="楷体_GB2312" charset="-122"/>
              </a:endParaRPr>
            </a:p>
          </p:txBody>
        </p:sp>
      </p:grp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9515476" y="1598614"/>
            <a:ext cx="314325" cy="579437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rgbClr val="FF33CC"/>
                </a:solidFill>
                <a:ea typeface="楷体_GB2312" charset="-122"/>
              </a:rPr>
              <a:t>x</a:t>
            </a:r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 flipV="1">
            <a:off x="9448800" y="304800"/>
            <a:ext cx="0" cy="2743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454262" y="360203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65511" y="278741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74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  <p:bldP spid="26630" grpId="0" autoUpdateAnimBg="0"/>
      <p:bldP spid="26632" grpId="0" animBg="1"/>
      <p:bldP spid="26642" grpId="0" animBg="1" autoUpdateAnimBg="0"/>
      <p:bldP spid="266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ChangeArrowheads="1"/>
          </p:cNvSpPr>
          <p:nvPr/>
        </p:nvSpPr>
        <p:spPr bwMode="auto">
          <a:xfrm>
            <a:off x="2209801" y="685801"/>
            <a:ext cx="82073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服从单位圆上的均匀分布，概率密度为</a:t>
            </a:r>
          </a:p>
        </p:txBody>
      </p:sp>
      <p:graphicFrame>
        <p:nvGraphicFramePr>
          <p:cNvPr id="340995" name="Object 3"/>
          <p:cNvGraphicFramePr>
            <a:graphicFrameLocks noChangeAspect="1"/>
          </p:cNvGraphicFramePr>
          <p:nvPr/>
        </p:nvGraphicFramePr>
        <p:xfrm>
          <a:off x="3719514" y="1601789"/>
          <a:ext cx="36163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公式" r:id="rId3" imgW="1638356" imgH="533520" progId="Equation.3">
                  <p:embed/>
                </p:oleObj>
              </mc:Choice>
              <mc:Fallback>
                <p:oleObj name="公式" r:id="rId3" imgW="1638356" imgH="533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1601789"/>
                        <a:ext cx="36163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0996" name="Group 4"/>
          <p:cNvGrpSpPr>
            <a:grpSpLocks/>
          </p:cNvGrpSpPr>
          <p:nvPr/>
        </p:nvGrpSpPr>
        <p:grpSpPr bwMode="auto">
          <a:xfrm>
            <a:off x="2135189" y="2889251"/>
            <a:ext cx="2293937" cy="657225"/>
            <a:chOff x="3744" y="690"/>
            <a:chExt cx="1445" cy="414"/>
          </a:xfrm>
        </p:grpSpPr>
        <p:graphicFrame>
          <p:nvGraphicFramePr>
            <p:cNvPr id="69648" name="Object 5"/>
            <p:cNvGraphicFramePr>
              <a:graphicFrameLocks noChangeAspect="1"/>
            </p:cNvGraphicFramePr>
            <p:nvPr/>
          </p:nvGraphicFramePr>
          <p:xfrm>
            <a:off x="4033" y="691"/>
            <a:ext cx="1156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3" name="公式" r:id="rId5" imgW="599965" imgH="162000" progId="Equation.3">
                    <p:embed/>
                  </p:oleObj>
                </mc:Choice>
                <mc:Fallback>
                  <p:oleObj name="公式" r:id="rId5" imgW="599965" imgH="1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691"/>
                          <a:ext cx="1156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9" name="Rectangle 6"/>
            <p:cNvSpPr>
              <a:spLocks noChangeArrowheads="1"/>
            </p:cNvSpPr>
            <p:nvPr/>
          </p:nvSpPr>
          <p:spPr bwMode="auto">
            <a:xfrm>
              <a:off x="3744" y="690"/>
              <a:ext cx="2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rgbClr val="404040"/>
                  </a:solidFill>
                  <a:latin typeface="Century Gothic" panose="020B0502020202020204" pitchFamily="34" charset="0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求</a:t>
              </a:r>
            </a:p>
          </p:txBody>
        </p:sp>
      </p:grpSp>
      <p:graphicFrame>
        <p:nvGraphicFramePr>
          <p:cNvPr id="340999" name="Object 7"/>
          <p:cNvGraphicFramePr>
            <a:graphicFrameLocks noChangeAspect="1"/>
          </p:cNvGraphicFramePr>
          <p:nvPr/>
        </p:nvGraphicFramePr>
        <p:xfrm>
          <a:off x="2284414" y="4797425"/>
          <a:ext cx="618807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4" name="公式" r:id="rId7" imgW="2695657" imgH="533520" progId="Equation.3">
                  <p:embed/>
                </p:oleObj>
              </mc:Choice>
              <mc:Fallback>
                <p:oleObj name="公式" r:id="rId7" imgW="2695657" imgH="533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4" y="4797425"/>
                        <a:ext cx="618807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00" name="Rectangle 8"/>
          <p:cNvSpPr>
            <a:spLocks noChangeArrowheads="1"/>
          </p:cNvSpPr>
          <p:nvPr/>
        </p:nvSpPr>
        <p:spPr bwMode="auto">
          <a:xfrm>
            <a:off x="2925763" y="3983038"/>
            <a:ext cx="309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 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的边缘密度为</a:t>
            </a:r>
          </a:p>
        </p:txBody>
      </p:sp>
      <p:sp>
        <p:nvSpPr>
          <p:cNvPr id="69639" name="Oval 9"/>
          <p:cNvSpPr>
            <a:spLocks noChangeArrowheads="1"/>
          </p:cNvSpPr>
          <p:nvPr/>
        </p:nvSpPr>
        <p:spPr bwMode="auto">
          <a:xfrm>
            <a:off x="8382000" y="3735388"/>
            <a:ext cx="914400" cy="914400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9640" name="Group 10"/>
          <p:cNvGrpSpPr>
            <a:grpSpLocks/>
          </p:cNvGrpSpPr>
          <p:nvPr/>
        </p:nvGrpSpPr>
        <p:grpSpPr bwMode="auto">
          <a:xfrm>
            <a:off x="7893051" y="3065463"/>
            <a:ext cx="2270125" cy="1871662"/>
            <a:chOff x="4105" y="2296"/>
            <a:chExt cx="1430" cy="1179"/>
          </a:xfrm>
        </p:grpSpPr>
        <p:sp>
          <p:nvSpPr>
            <p:cNvPr id="69643" name="Line 11"/>
            <p:cNvSpPr>
              <a:spLocks noChangeShapeType="1"/>
            </p:cNvSpPr>
            <p:nvPr/>
          </p:nvSpPr>
          <p:spPr bwMode="auto">
            <a:xfrm flipV="1">
              <a:off x="4105" y="3022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Line 12"/>
            <p:cNvSpPr>
              <a:spLocks noChangeShapeType="1"/>
            </p:cNvSpPr>
            <p:nvPr/>
          </p:nvSpPr>
          <p:spPr bwMode="auto">
            <a:xfrm flipV="1">
              <a:off x="4694" y="2477"/>
              <a:ext cx="1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9645" name="Object 13"/>
            <p:cNvGraphicFramePr>
              <a:graphicFrameLocks noChangeAspect="1"/>
            </p:cNvGraphicFramePr>
            <p:nvPr/>
          </p:nvGraphicFramePr>
          <p:xfrm>
            <a:off x="5375" y="306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5" name="公式" r:id="rId9" imgW="180989" imgH="162000" progId="Equation.3">
                    <p:embed/>
                  </p:oleObj>
                </mc:Choice>
                <mc:Fallback>
                  <p:oleObj name="公式" r:id="rId9" imgW="180989" imgH="1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306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6" name="Object 14"/>
            <p:cNvGraphicFramePr>
              <a:graphicFrameLocks noChangeAspect="1"/>
            </p:cNvGraphicFramePr>
            <p:nvPr/>
          </p:nvGraphicFramePr>
          <p:xfrm>
            <a:off x="4513" y="287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6" name="公式" r:id="rId11" imgW="142900" imgH="162000" progId="Equation.3">
                    <p:embed/>
                  </p:oleObj>
                </mc:Choice>
                <mc:Fallback>
                  <p:oleObj name="公式" r:id="rId11" imgW="142900" imgH="1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87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7" name="Object 15"/>
            <p:cNvGraphicFramePr>
              <a:graphicFrameLocks noChangeAspect="1"/>
            </p:cNvGraphicFramePr>
            <p:nvPr/>
          </p:nvGraphicFramePr>
          <p:xfrm>
            <a:off x="4740" y="22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7" name="公式" r:id="rId13" imgW="180989" imgH="238140" progId="Equation.3">
                    <p:embed/>
                  </p:oleObj>
                </mc:Choice>
                <mc:Fallback>
                  <p:oleObj name="公式" r:id="rId13" imgW="180989" imgH="2381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2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1008" name="Line 16"/>
          <p:cNvSpPr>
            <a:spLocks noChangeShapeType="1"/>
          </p:cNvSpPr>
          <p:nvPr/>
        </p:nvSpPr>
        <p:spPr bwMode="auto">
          <a:xfrm flipV="1">
            <a:off x="9186863" y="3281364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1631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4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1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4" grpId="0" autoUpdateAnimBg="0"/>
      <p:bldP spid="341000" grpId="0" autoUpdateAnimBg="0"/>
      <p:bldP spid="34100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Text Box 2"/>
          <p:cNvSpPr txBox="1">
            <a:spLocks noChangeArrowheads="1"/>
          </p:cNvSpPr>
          <p:nvPr/>
        </p:nvSpPr>
        <p:spPr bwMode="auto">
          <a:xfrm>
            <a:off x="1716089" y="2098676"/>
            <a:ext cx="2466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|&lt;1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</p:txBody>
      </p:sp>
      <p:graphicFrame>
        <p:nvGraphicFramePr>
          <p:cNvPr id="342019" name="Object 3"/>
          <p:cNvGraphicFramePr>
            <a:graphicFrameLocks noChangeAspect="1"/>
          </p:cNvGraphicFramePr>
          <p:nvPr/>
        </p:nvGraphicFramePr>
        <p:xfrm>
          <a:off x="2236788" y="2717801"/>
          <a:ext cx="300196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公式" r:id="rId3" imgW="1228835" imgH="352350" progId="Equation.3">
                  <p:embed/>
                </p:oleObj>
              </mc:Choice>
              <mc:Fallback>
                <p:oleObj name="公式" r:id="rId3" imgW="1228835" imgH="352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8" y="2717801"/>
                        <a:ext cx="3001962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0" name="Object 4"/>
          <p:cNvGraphicFramePr>
            <a:graphicFrameLocks noChangeAspect="1"/>
          </p:cNvGraphicFramePr>
          <p:nvPr/>
        </p:nvGraphicFramePr>
        <p:xfrm>
          <a:off x="1951038" y="3781425"/>
          <a:ext cx="2438400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公式" r:id="rId5" imgW="914400" imgH="380970" progId="Equation.3">
                  <p:embed/>
                </p:oleObj>
              </mc:Choice>
              <mc:Fallback>
                <p:oleObj name="公式" r:id="rId5" imgW="914400" imgH="3809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038" y="3781425"/>
                        <a:ext cx="2438400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1" name="Object 5"/>
          <p:cNvGraphicFramePr>
            <a:graphicFrameLocks noChangeAspect="1"/>
          </p:cNvGraphicFramePr>
          <p:nvPr/>
        </p:nvGraphicFramePr>
        <p:xfrm>
          <a:off x="4343400" y="3854451"/>
          <a:ext cx="178435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公式" r:id="rId7" imgW="714502" imgH="352350" progId="Equation.3">
                  <p:embed/>
                </p:oleObj>
              </mc:Choice>
              <mc:Fallback>
                <p:oleObj name="公式" r:id="rId7" imgW="714502" imgH="352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854451"/>
                        <a:ext cx="178435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2" name="Object 6"/>
          <p:cNvGraphicFramePr>
            <a:graphicFrameLocks noChangeAspect="1"/>
          </p:cNvGraphicFramePr>
          <p:nvPr/>
        </p:nvGraphicFramePr>
        <p:xfrm>
          <a:off x="3462339" y="5267326"/>
          <a:ext cx="324008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公式" r:id="rId9" imgW="1400099" imgH="190620" progId="Equation.3">
                  <p:embed/>
                </p:oleObj>
              </mc:Choice>
              <mc:Fallback>
                <p:oleObj name="公式" r:id="rId9" imgW="1400099" imgH="1906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339" y="5267326"/>
                        <a:ext cx="324008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Oval 7"/>
          <p:cNvSpPr>
            <a:spLocks noChangeArrowheads="1"/>
          </p:cNvSpPr>
          <p:nvPr/>
        </p:nvSpPr>
        <p:spPr bwMode="auto">
          <a:xfrm>
            <a:off x="7696200" y="3278188"/>
            <a:ext cx="914400" cy="914400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0664" name="Group 8"/>
          <p:cNvGrpSpPr>
            <a:grpSpLocks/>
          </p:cNvGrpSpPr>
          <p:nvPr/>
        </p:nvGrpSpPr>
        <p:grpSpPr bwMode="auto">
          <a:xfrm>
            <a:off x="7207251" y="2608263"/>
            <a:ext cx="2270125" cy="1871662"/>
            <a:chOff x="4105" y="2296"/>
            <a:chExt cx="1430" cy="1179"/>
          </a:xfrm>
        </p:grpSpPr>
        <p:sp>
          <p:nvSpPr>
            <p:cNvPr id="70668" name="Line 9"/>
            <p:cNvSpPr>
              <a:spLocks noChangeShapeType="1"/>
            </p:cNvSpPr>
            <p:nvPr/>
          </p:nvSpPr>
          <p:spPr bwMode="auto">
            <a:xfrm flipV="1">
              <a:off x="4105" y="3022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Line 10"/>
            <p:cNvSpPr>
              <a:spLocks noChangeShapeType="1"/>
            </p:cNvSpPr>
            <p:nvPr/>
          </p:nvSpPr>
          <p:spPr bwMode="auto">
            <a:xfrm flipV="1">
              <a:off x="4694" y="2477"/>
              <a:ext cx="1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0670" name="Object 11"/>
            <p:cNvGraphicFramePr>
              <a:graphicFrameLocks noChangeAspect="1"/>
            </p:cNvGraphicFramePr>
            <p:nvPr/>
          </p:nvGraphicFramePr>
          <p:xfrm>
            <a:off x="5375" y="306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74" name="公式" r:id="rId11" imgW="180989" imgH="162000" progId="Equation.3">
                    <p:embed/>
                  </p:oleObj>
                </mc:Choice>
                <mc:Fallback>
                  <p:oleObj name="公式" r:id="rId11" imgW="180989" imgH="1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306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1" name="Object 12"/>
            <p:cNvGraphicFramePr>
              <a:graphicFrameLocks noChangeAspect="1"/>
            </p:cNvGraphicFramePr>
            <p:nvPr/>
          </p:nvGraphicFramePr>
          <p:xfrm>
            <a:off x="4513" y="287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75" name="公式" r:id="rId13" imgW="142900" imgH="162000" progId="Equation.3">
                    <p:embed/>
                  </p:oleObj>
                </mc:Choice>
                <mc:Fallback>
                  <p:oleObj name="公式" r:id="rId13" imgW="142900" imgH="1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87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2" name="Object 13"/>
            <p:cNvGraphicFramePr>
              <a:graphicFrameLocks noChangeAspect="1"/>
            </p:cNvGraphicFramePr>
            <p:nvPr/>
          </p:nvGraphicFramePr>
          <p:xfrm>
            <a:off x="4740" y="22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76" name="公式" r:id="rId15" imgW="180989" imgH="238140" progId="Equation.3">
                    <p:embed/>
                  </p:oleObj>
                </mc:Choice>
                <mc:Fallback>
                  <p:oleObj name="公式" r:id="rId15" imgW="180989" imgH="2381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2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2030" name="Line 14"/>
          <p:cNvSpPr>
            <a:spLocks noChangeShapeType="1"/>
          </p:cNvSpPr>
          <p:nvPr/>
        </p:nvSpPr>
        <p:spPr bwMode="auto">
          <a:xfrm flipV="1">
            <a:off x="8501063" y="2824164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0666" name="Object 15"/>
          <p:cNvGraphicFramePr>
            <a:graphicFrameLocks noChangeAspect="1"/>
          </p:cNvGraphicFramePr>
          <p:nvPr>
            <p:extLst/>
          </p:nvPr>
        </p:nvGraphicFramePr>
        <p:xfrm>
          <a:off x="2711625" y="511175"/>
          <a:ext cx="618807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公式" r:id="rId17" imgW="2695657" imgH="533520" progId="Equation.3">
                  <p:embed/>
                </p:oleObj>
              </mc:Choice>
              <mc:Fallback>
                <p:oleObj name="公式" r:id="rId17" imgW="2695657" imgH="533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5" y="511175"/>
                        <a:ext cx="618807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3985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8" grpId="0" autoUpdateAnimBg="0"/>
      <p:bldP spid="3420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063750" y="2770188"/>
          <a:ext cx="19748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公式" r:id="rId3" imgW="599965" imgH="162000" progId="Equation.3">
                  <p:embed/>
                </p:oleObj>
              </mc:Choice>
              <mc:Fallback>
                <p:oleObj name="公式" r:id="rId3" imgW="599965" imgH="1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770188"/>
                        <a:ext cx="197485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3944938" y="2300289"/>
          <a:ext cx="5808662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公式" r:id="rId5" imgW="2352588" imgH="581040" progId="Equation.3">
                  <p:embed/>
                </p:oleObj>
              </mc:Choice>
              <mc:Fallback>
                <p:oleObj name="公式" r:id="rId5" imgW="2352588" imgH="581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938" y="2300289"/>
                        <a:ext cx="5808662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2135189" y="1693863"/>
            <a:ext cx="2682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即 当 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|&lt;1 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</p:txBody>
      </p:sp>
      <p:sp>
        <p:nvSpPr>
          <p:cNvPr id="343045" name="AutoShape 5"/>
          <p:cNvSpPr>
            <a:spLocks noChangeArrowheads="1"/>
          </p:cNvSpPr>
          <p:nvPr/>
        </p:nvSpPr>
        <p:spPr bwMode="auto">
          <a:xfrm>
            <a:off x="6096000" y="1095376"/>
            <a:ext cx="2743200" cy="676275"/>
          </a:xfrm>
          <a:prstGeom prst="wedgeRoundRectCallout">
            <a:avLst>
              <a:gd name="adj1" fmla="val -98671"/>
              <a:gd name="adj2" fmla="val 5680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作为已知变量</a:t>
            </a:r>
            <a:endParaRPr lang="zh-CN" altLang="en-US" sz="2400" b="1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3046" name="AutoShape 6"/>
          <p:cNvSpPr>
            <a:spLocks noChangeArrowheads="1"/>
          </p:cNvSpPr>
          <p:nvPr/>
        </p:nvSpPr>
        <p:spPr bwMode="auto">
          <a:xfrm>
            <a:off x="6527800" y="4868863"/>
            <a:ext cx="2808288" cy="576262"/>
          </a:xfrm>
          <a:prstGeom prst="wedgeRoundRectCallout">
            <a:avLst>
              <a:gd name="adj1" fmla="val 17343"/>
              <a:gd name="adj2" fmla="val -21869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这里是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的取值范围</a:t>
            </a:r>
          </a:p>
        </p:txBody>
      </p:sp>
      <p:sp>
        <p:nvSpPr>
          <p:cNvPr id="343047" name="AutoShape 7"/>
          <p:cNvSpPr>
            <a:spLocks noChangeArrowheads="1"/>
          </p:cNvSpPr>
          <p:nvPr/>
        </p:nvSpPr>
        <p:spPr bwMode="auto">
          <a:xfrm>
            <a:off x="3144838" y="4364038"/>
            <a:ext cx="2303462" cy="990600"/>
          </a:xfrm>
          <a:prstGeom prst="wedgeRoundRectCallout">
            <a:avLst>
              <a:gd name="adj1" fmla="val -76602"/>
              <a:gd name="adj2" fmla="val -139421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已知的条件下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的条件密度</a:t>
            </a:r>
          </a:p>
        </p:txBody>
      </p:sp>
    </p:spTree>
    <p:extLst>
      <p:ext uri="{BB962C8B-B14F-4D97-AF65-F5344CB8AC3E}">
        <p14:creationId xmlns:p14="http://schemas.microsoft.com/office/powerpoint/2010/main" val="6944803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5" grpId="0" animBg="1" autoUpdateAnimBg="0"/>
      <p:bldP spid="343046" grpId="0" animBg="1" autoUpdateAnimBg="0"/>
      <p:bldP spid="34304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1588715" y="899516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66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zh-CN" altLang="en-US" dirty="0">
                <a:solidFill>
                  <a:srgbClr val="800000"/>
                </a:solidFill>
                <a:latin typeface="楷体_GB2312" charset="-122"/>
                <a:ea typeface="楷体_GB2312" charset="-122"/>
              </a:rPr>
              <a:t>解</a:t>
            </a:r>
            <a:r>
              <a:rPr lang="zh-CN" altLang="en-US" dirty="0">
                <a:solidFill>
                  <a:srgbClr val="000066"/>
                </a:solidFill>
                <a:latin typeface="楷体_GB2312" charset="-122"/>
                <a:ea typeface="楷体_GB2312" charset="-122"/>
              </a:rPr>
              <a:t> 已知</a:t>
            </a: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1905000" y="1310556"/>
            <a:ext cx="8763000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      在发生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k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次事故的条件下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即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{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X=k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}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已发生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)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，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Y 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的条件分布律为</a:t>
            </a:r>
          </a:p>
        </p:txBody>
      </p:sp>
      <p:graphicFrame>
        <p:nvGraphicFramePr>
          <p:cNvPr id="1064" name="Object 40"/>
          <p:cNvGraphicFramePr>
            <a:graphicFrameLocks noChangeAspect="1"/>
          </p:cNvGraphicFramePr>
          <p:nvPr>
            <p:extLst/>
          </p:nvPr>
        </p:nvGraphicFramePr>
        <p:xfrm>
          <a:off x="3935414" y="483427"/>
          <a:ext cx="5256931" cy="944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Equation" r:id="rId3" imgW="2714566" imgH="457110" progId="Equation.3">
                  <p:embed/>
                </p:oleObj>
              </mc:Choice>
              <mc:Fallback>
                <p:oleObj name="Equation" r:id="rId3" imgW="2714566" imgH="457110" progId="Equation.3">
                  <p:embed/>
                  <p:pic>
                    <p:nvPicPr>
                      <p:cNvPr id="1064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483427"/>
                        <a:ext cx="5256931" cy="944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" name="Object 41"/>
          <p:cNvGraphicFramePr>
            <a:graphicFrameLocks noChangeAspect="1"/>
          </p:cNvGraphicFramePr>
          <p:nvPr>
            <p:extLst/>
          </p:nvPr>
        </p:nvGraphicFramePr>
        <p:xfrm>
          <a:off x="2057400" y="2564904"/>
          <a:ext cx="85344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Equation" r:id="rId5" imgW="4010123" imgH="266760" progId="Equation.3">
                  <p:embed/>
                </p:oleObj>
              </mc:Choice>
              <mc:Fallback>
                <p:oleObj name="Equation" r:id="rId5" imgW="4010123" imgH="266760" progId="Equation.3">
                  <p:embed/>
                  <p:pic>
                    <p:nvPicPr>
                      <p:cNvPr id="1065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64904"/>
                        <a:ext cx="85344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193132" y="3697535"/>
            <a:ext cx="2743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 故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)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的联合分布律为 </a:t>
            </a:r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>
            <p:extLst/>
          </p:nvPr>
        </p:nvGraphicFramePr>
        <p:xfrm>
          <a:off x="2063750" y="4565105"/>
          <a:ext cx="79248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Equation" r:id="rId7" imgW="3276713" imgH="228690" progId="Equation.3">
                  <p:embed/>
                </p:oleObj>
              </mc:Choice>
              <mc:Fallback>
                <p:oleObj name="Equation" r:id="rId7" imgW="3276713" imgH="228690" progId="Equation.3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565105"/>
                        <a:ext cx="79248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/>
          <p:cNvGraphicFramePr>
            <a:graphicFrameLocks noChangeAspect="1"/>
          </p:cNvGraphicFramePr>
          <p:nvPr>
            <p:extLst/>
          </p:nvPr>
        </p:nvGraphicFramePr>
        <p:xfrm>
          <a:off x="2495550" y="5069930"/>
          <a:ext cx="78486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Equation" r:id="rId9" imgW="3686234" imgH="457110" progId="Equation.3">
                  <p:embed/>
                </p:oleObj>
              </mc:Choice>
              <mc:Fallback>
                <p:oleObj name="Equation" r:id="rId9" imgW="3686234" imgH="457110" progId="Equation.3">
                  <p:embed/>
                  <p:pic>
                    <p:nvPicPr>
                      <p:cNvPr id="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5069930"/>
                        <a:ext cx="78486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51"/>
          <p:cNvSpPr>
            <a:spLocks noChangeArrowheads="1"/>
          </p:cNvSpPr>
          <p:nvPr/>
        </p:nvSpPr>
        <p:spPr bwMode="auto">
          <a:xfrm>
            <a:off x="7175500" y="3414166"/>
            <a:ext cx="2971800" cy="914400"/>
          </a:xfrm>
          <a:prstGeom prst="cloudCallout">
            <a:avLst>
              <a:gd name="adj1" fmla="val -58495"/>
              <a:gd name="adj2" fmla="val 66843"/>
            </a:avLst>
          </a:prstGeom>
          <a:gradFill rotWithShape="0">
            <a:gsLst>
              <a:gs pos="0">
                <a:srgbClr val="FFFFFF"/>
              </a:gs>
              <a:gs pos="100000">
                <a:srgbClr val="33CC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乘法公式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73617" y="17258"/>
            <a:ext cx="10768551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3 </a:t>
            </a:r>
            <a:r>
              <a:rPr lang="zh-CN" altLang="en-US" dirty="0" smtClean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某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矿山一年内发生的事故总数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～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P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(λ)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，一个事故是致命的概率为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p 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(0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＜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p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＜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1)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，设一年内发生致命事故的次数为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试写出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的分布律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9270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/>
      <p:bldP spid="1037" grpId="0"/>
      <p:bldP spid="7" grpId="0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1919536" y="596949"/>
            <a:ext cx="15247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的分布律为</a:t>
            </a:r>
          </a:p>
        </p:txBody>
      </p:sp>
      <p:graphicFrame>
        <p:nvGraphicFramePr>
          <p:cNvPr id="27687" name="Object 39"/>
          <p:cNvGraphicFramePr>
            <a:graphicFrameLocks noChangeAspect="1"/>
          </p:cNvGraphicFramePr>
          <p:nvPr>
            <p:extLst/>
          </p:nvPr>
        </p:nvGraphicFramePr>
        <p:xfrm>
          <a:off x="2063553" y="1176388"/>
          <a:ext cx="6977063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3" imgW="2905010" imgH="485730" progId="Equation.3">
                  <p:embed/>
                </p:oleObj>
              </mc:Choice>
              <mc:Fallback>
                <p:oleObj name="Equation" r:id="rId3" imgW="2905010" imgH="485730" progId="Equation.3">
                  <p:embed/>
                  <p:pic>
                    <p:nvPicPr>
                      <p:cNvPr id="2768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1176388"/>
                        <a:ext cx="6977063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02" name="Object 54"/>
          <p:cNvGraphicFramePr>
            <a:graphicFrameLocks noChangeAspect="1"/>
          </p:cNvGraphicFramePr>
          <p:nvPr>
            <p:extLst/>
          </p:nvPr>
        </p:nvGraphicFramePr>
        <p:xfrm>
          <a:off x="3791744" y="2564904"/>
          <a:ext cx="5068888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Equation" r:id="rId5" imgW="2181323" imgH="495180" progId="Equation.3">
                  <p:embed/>
                </p:oleObj>
              </mc:Choice>
              <mc:Fallback>
                <p:oleObj name="Equation" r:id="rId5" imgW="2181323" imgH="495180" progId="Equation.3">
                  <p:embed/>
                  <p:pic>
                    <p:nvPicPr>
                      <p:cNvPr id="2770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2564904"/>
                        <a:ext cx="5068888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2"/>
          <p:cNvGraphicFramePr>
            <a:graphicFrameLocks noChangeAspect="1"/>
          </p:cNvGraphicFramePr>
          <p:nvPr>
            <p:extLst/>
          </p:nvPr>
        </p:nvGraphicFramePr>
        <p:xfrm>
          <a:off x="3719737" y="3725602"/>
          <a:ext cx="3529013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7" imgW="1371735" imgH="457110" progId="Equation.3">
                  <p:embed/>
                </p:oleObj>
              </mc:Choice>
              <mc:Fallback>
                <p:oleObj name="Equation" r:id="rId7" imgW="1371735" imgH="457110" progId="Equation.3">
                  <p:embed/>
                  <p:pic>
                    <p:nvPicPr>
                      <p:cNvPr id="9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7" y="3725602"/>
                        <a:ext cx="3529013" cy="118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3"/>
          <p:cNvGraphicFramePr>
            <a:graphicFrameLocks noChangeAspect="1"/>
          </p:cNvGraphicFramePr>
          <p:nvPr>
            <p:extLst/>
          </p:nvPr>
        </p:nvGraphicFramePr>
        <p:xfrm>
          <a:off x="3719736" y="4908289"/>
          <a:ext cx="577215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9" imgW="2352588" imgH="457110" progId="Equation.3">
                  <p:embed/>
                </p:oleObj>
              </mc:Choice>
              <mc:Fallback>
                <p:oleObj name="Equation" r:id="rId9" imgW="2352588" imgH="457110" progId="Equation.3">
                  <p:embed/>
                  <p:pic>
                    <p:nvPicPr>
                      <p:cNvPr id="1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4908289"/>
                        <a:ext cx="577215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5593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2"/>
          <p:cNvSpPr txBox="1">
            <a:spLocks noChangeArrowheads="1"/>
          </p:cNvSpPr>
          <p:nvPr/>
        </p:nvSpPr>
        <p:spPr bwMode="auto">
          <a:xfrm>
            <a:off x="1524000" y="476672"/>
            <a:ext cx="677236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设数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在区间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(0,1)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均匀分布，当观察到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X=x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(0&lt;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&lt;1)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时，数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在区间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,1)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上随机地取值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的概率密度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1631951" y="1287214"/>
            <a:ext cx="30107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 依题意，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具有概率密度</a:t>
            </a:r>
          </a:p>
        </p:txBody>
      </p:sp>
      <p:graphicFrame>
        <p:nvGraphicFramePr>
          <p:cNvPr id="344068" name="Object 4"/>
          <p:cNvGraphicFramePr>
            <a:graphicFrameLocks noChangeAspect="1"/>
          </p:cNvGraphicFramePr>
          <p:nvPr/>
        </p:nvGraphicFramePr>
        <p:xfrm>
          <a:off x="1919536" y="1672165"/>
          <a:ext cx="2807460" cy="910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4" name="公式" r:id="rId3" imgW="1333376" imgH="380970" progId="Equation.3">
                  <p:embed/>
                </p:oleObj>
              </mc:Choice>
              <mc:Fallback>
                <p:oleObj name="公式" r:id="rId3" imgW="1333376" imgH="380970" progId="Equation.3">
                  <p:embed/>
                  <p:pic>
                    <p:nvPicPr>
                      <p:cNvPr id="344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1672165"/>
                        <a:ext cx="2807460" cy="91078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69" name="Text Box 5"/>
          <p:cNvSpPr txBox="1">
            <a:spLocks noChangeArrowheads="1"/>
          </p:cNvSpPr>
          <p:nvPr/>
        </p:nvSpPr>
        <p:spPr bwMode="auto">
          <a:xfrm>
            <a:off x="1631951" y="2757946"/>
            <a:ext cx="345593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对于任意给定的值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(0&lt;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&lt;1)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，在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X=x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的条件下，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的条件概率密度为</a:t>
            </a:r>
          </a:p>
        </p:txBody>
      </p:sp>
      <p:graphicFrame>
        <p:nvGraphicFramePr>
          <p:cNvPr id="344070" name="Object 6"/>
          <p:cNvGraphicFramePr>
            <a:graphicFrameLocks noChangeAspect="1"/>
          </p:cNvGraphicFramePr>
          <p:nvPr>
            <p:extLst/>
          </p:nvPr>
        </p:nvGraphicFramePr>
        <p:xfrm>
          <a:off x="1631951" y="4040935"/>
          <a:ext cx="3124603" cy="903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5" name="公式" r:id="rId5" imgW="2028698" imgH="533520" progId="Equation.3">
                  <p:embed/>
                </p:oleObj>
              </mc:Choice>
              <mc:Fallback>
                <p:oleObj name="公式" r:id="rId5" imgW="2028698" imgH="533520" progId="Equation.3">
                  <p:embed/>
                  <p:pic>
                    <p:nvPicPr>
                      <p:cNvPr id="3440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1" y="4040935"/>
                        <a:ext cx="3124603" cy="90312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372189" y="1087159"/>
            <a:ext cx="3886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的联合密度为       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237614" y="1471881"/>
          <a:ext cx="3166700" cy="455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公式" r:id="rId7" imgW="1590543" imgH="162000" progId="Equation.3">
                  <p:embed/>
                </p:oleObj>
              </mc:Choice>
              <mc:Fallback>
                <p:oleObj name="公式" r:id="rId7" imgW="1590543" imgH="1620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7614" y="1471881"/>
                        <a:ext cx="3166700" cy="45588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5159896" y="1958440"/>
          <a:ext cx="2592288" cy="1055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公式" r:id="rId9" imgW="1419278" imgH="533520" progId="Equation.3">
                  <p:embed/>
                </p:oleObj>
              </mc:Choice>
              <mc:Fallback>
                <p:oleObj name="公式" r:id="rId9" imgW="1419278" imgH="533520" progId="Equation.3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1958440"/>
                        <a:ext cx="2592288" cy="1055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943873" y="3171274"/>
            <a:ext cx="42592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于是得</a:t>
            </a:r>
            <a:r>
              <a:rPr lang="en-US" altLang="zh-CN" sz="20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的概率密度为</a:t>
            </a: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5231904" y="3578281"/>
          <a:ext cx="2448272" cy="583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8" name="公式" r:id="rId11" imgW="1305012" imgH="257310" progId="Equation.3">
                  <p:embed/>
                </p:oleObj>
              </mc:Choice>
              <mc:Fallback>
                <p:oleObj name="公式" r:id="rId11" imgW="1305012" imgH="257310" progId="Equation.3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3578281"/>
                        <a:ext cx="2448272" cy="58395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5087145" y="4273892"/>
          <a:ext cx="5312752" cy="131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9" name="公式" r:id="rId13" imgW="2390677" imgH="533520" progId="Equation.3">
                  <p:embed/>
                </p:oleObj>
              </mc:Choice>
              <mc:Fallback>
                <p:oleObj name="公式" r:id="rId13" imgW="2390677" imgH="533520" progId="Equation.3">
                  <p:embed/>
                  <p:pic>
                    <p:nvPicPr>
                      <p:cNvPr id="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145" y="4273892"/>
                        <a:ext cx="5312752" cy="1315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5015881" y="1287214"/>
            <a:ext cx="1" cy="487809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8468564" y="3340970"/>
            <a:ext cx="17287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 flipV="1">
            <a:off x="8828925" y="1683620"/>
            <a:ext cx="0" cy="2520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" name="Object 11"/>
          <p:cNvGraphicFramePr>
            <a:graphicFrameLocks noChangeAspect="1"/>
          </p:cNvGraphicFramePr>
          <p:nvPr/>
        </p:nvGraphicFramePr>
        <p:xfrm>
          <a:off x="10160838" y="3412407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0" name="公式" r:id="rId15" imgW="180989" imgH="162000" progId="Equation.3">
                  <p:embed/>
                </p:oleObj>
              </mc:Choice>
              <mc:Fallback>
                <p:oleObj name="公式" r:id="rId15" imgW="180989" imgH="162000" progId="Equation.3">
                  <p:embed/>
                  <p:pic>
                    <p:nvPicPr>
                      <p:cNvPr id="1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838" y="3412407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8828925" y="3339382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1" name="公式" r:id="rId17" imgW="142900" imgH="162000" progId="Equation.3">
                  <p:embed/>
                </p:oleObj>
              </mc:Choice>
              <mc:Fallback>
                <p:oleObj name="公式" r:id="rId17" imgW="142900" imgH="162000" progId="Equation.3">
                  <p:embed/>
                  <p:pic>
                    <p:nvPicPr>
                      <p:cNvPr id="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8925" y="3339382"/>
                        <a:ext cx="215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8901950" y="1467720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2" name="公式" r:id="rId19" imgW="180989" imgH="238140" progId="Equation.3">
                  <p:embed/>
                </p:oleObj>
              </mc:Choice>
              <mc:Fallback>
                <p:oleObj name="公式" r:id="rId19" imgW="180989" imgH="238140" progId="Equation.3">
                  <p:embed/>
                  <p:pic>
                    <p:nvPicPr>
                      <p:cNvPr id="2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1950" y="1467720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Oval 14"/>
          <p:cNvSpPr>
            <a:spLocks noChangeArrowheads="1"/>
          </p:cNvSpPr>
          <p:nvPr/>
        </p:nvSpPr>
        <p:spPr bwMode="auto">
          <a:xfrm>
            <a:off x="8757489" y="2979021"/>
            <a:ext cx="85725" cy="8572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Oval 15"/>
          <p:cNvSpPr>
            <a:spLocks noChangeArrowheads="1"/>
          </p:cNvSpPr>
          <p:nvPr/>
        </p:nvSpPr>
        <p:spPr bwMode="auto">
          <a:xfrm>
            <a:off x="8757489" y="3829921"/>
            <a:ext cx="85725" cy="8572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 flipH="1">
            <a:off x="8109788" y="3052045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" name="Object 17"/>
          <p:cNvGraphicFramePr>
            <a:graphicFrameLocks noChangeAspect="1"/>
          </p:cNvGraphicFramePr>
          <p:nvPr/>
        </p:nvGraphicFramePr>
        <p:xfrm>
          <a:off x="8541588" y="2763120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3" name="公式" r:id="rId21" imgW="180989" imgH="238140" progId="Equation.3">
                  <p:embed/>
                </p:oleObj>
              </mc:Choice>
              <mc:Fallback>
                <p:oleObj name="公式" r:id="rId21" imgW="180989" imgH="238140" progId="Equation.3">
                  <p:embed/>
                  <p:pic>
                    <p:nvPicPr>
                      <p:cNvPr id="2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1588" y="2763120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/>
        </p:nvGraphicFramePr>
        <p:xfrm>
          <a:off x="8900363" y="3699745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" name="公式" r:id="rId23" imgW="180989" imgH="238140" progId="Equation.3">
                  <p:embed/>
                </p:oleObj>
              </mc:Choice>
              <mc:Fallback>
                <p:oleObj name="公式" r:id="rId23" imgW="180989" imgH="238140" progId="Equation.3">
                  <p:embed/>
                  <p:pic>
                    <p:nvPicPr>
                      <p:cNvPr id="2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0363" y="3699745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8757489" y="3267946"/>
            <a:ext cx="85725" cy="85725"/>
          </a:xfrm>
          <a:prstGeom prst="ellipse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 flipV="1">
            <a:off x="8468563" y="2188445"/>
            <a:ext cx="144145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Object 21"/>
          <p:cNvGraphicFramePr>
            <a:graphicFrameLocks noChangeAspect="1"/>
          </p:cNvGraphicFramePr>
          <p:nvPr/>
        </p:nvGraphicFramePr>
        <p:xfrm>
          <a:off x="9790950" y="1972545"/>
          <a:ext cx="838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name="公式" r:id="rId25" imgW="762045" imgH="238140" progId="Equation.3">
                  <p:embed/>
                </p:oleObj>
              </mc:Choice>
              <mc:Fallback>
                <p:oleObj name="公式" r:id="rId25" imgW="762045" imgH="238140" progId="Equation.3">
                  <p:embed/>
                  <p:pic>
                    <p:nvPicPr>
                      <p:cNvPr id="2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0950" y="1972545"/>
                        <a:ext cx="838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22"/>
          <p:cNvSpPr>
            <a:spLocks noChangeArrowheads="1"/>
          </p:cNvSpPr>
          <p:nvPr/>
        </p:nvSpPr>
        <p:spPr bwMode="auto">
          <a:xfrm rot="5400000">
            <a:off x="8793207" y="2582939"/>
            <a:ext cx="792162" cy="720725"/>
          </a:xfrm>
          <a:prstGeom prst="rtTriangle">
            <a:avLst/>
          </a:prstGeom>
          <a:solidFill>
            <a:schemeClr val="accent1">
              <a:alpha val="6509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Oval 23"/>
          <p:cNvSpPr>
            <a:spLocks noChangeArrowheads="1"/>
          </p:cNvSpPr>
          <p:nvPr/>
        </p:nvSpPr>
        <p:spPr bwMode="auto">
          <a:xfrm>
            <a:off x="8757489" y="2475783"/>
            <a:ext cx="85725" cy="8572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" name="Object 24"/>
          <p:cNvGraphicFramePr>
            <a:graphicFrameLocks noChangeAspect="1"/>
          </p:cNvGraphicFramePr>
          <p:nvPr/>
        </p:nvGraphicFramePr>
        <p:xfrm>
          <a:off x="8541588" y="2259882"/>
          <a:ext cx="177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公式" r:id="rId27" imgW="104812" imgH="228690" progId="Equation.3">
                  <p:embed/>
                </p:oleObj>
              </mc:Choice>
              <mc:Fallback>
                <p:oleObj name="公式" r:id="rId27" imgW="104812" imgH="228690" progId="Equation.3">
                  <p:embed/>
                  <p:pic>
                    <p:nvPicPr>
                      <p:cNvPr id="3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1588" y="2259882"/>
                        <a:ext cx="177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Oval 25"/>
          <p:cNvSpPr>
            <a:spLocks noChangeArrowheads="1"/>
          </p:cNvSpPr>
          <p:nvPr/>
        </p:nvSpPr>
        <p:spPr bwMode="auto">
          <a:xfrm>
            <a:off x="8757489" y="2115421"/>
            <a:ext cx="85725" cy="8572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" name="Object 26"/>
          <p:cNvGraphicFramePr>
            <a:graphicFrameLocks noChangeAspect="1"/>
          </p:cNvGraphicFramePr>
          <p:nvPr/>
        </p:nvGraphicFramePr>
        <p:xfrm>
          <a:off x="8828925" y="2043982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公式" r:id="rId29" imgW="180989" imgH="238140" progId="Equation.3">
                  <p:embed/>
                </p:oleObj>
              </mc:Choice>
              <mc:Fallback>
                <p:oleObj name="公式" r:id="rId29" imgW="180989" imgH="238140" progId="Equation.3">
                  <p:embed/>
                  <p:pic>
                    <p:nvPicPr>
                      <p:cNvPr id="3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8925" y="2043982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Line 27"/>
          <p:cNvSpPr>
            <a:spLocks noChangeShapeType="1"/>
          </p:cNvSpPr>
          <p:nvPr/>
        </p:nvSpPr>
        <p:spPr bwMode="auto">
          <a:xfrm>
            <a:off x="9117850" y="3052046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Oval 28"/>
          <p:cNvSpPr>
            <a:spLocks noChangeArrowheads="1"/>
          </p:cNvSpPr>
          <p:nvPr/>
        </p:nvSpPr>
        <p:spPr bwMode="auto">
          <a:xfrm>
            <a:off x="9103564" y="3253658"/>
            <a:ext cx="85725" cy="85725"/>
          </a:xfrm>
          <a:prstGeom prst="ellipse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AutoShape 8"/>
          <p:cNvSpPr>
            <a:spLocks noChangeArrowheads="1"/>
          </p:cNvSpPr>
          <p:nvPr/>
        </p:nvSpPr>
        <p:spPr bwMode="auto">
          <a:xfrm>
            <a:off x="8828925" y="419262"/>
            <a:ext cx="1692900" cy="1007267"/>
          </a:xfrm>
          <a:prstGeom prst="wedgeRoundRectCallout">
            <a:avLst>
              <a:gd name="adj1" fmla="val -83056"/>
              <a:gd name="adj2" fmla="val 44190"/>
              <a:gd name="adj3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zh-CN" sz="16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已知边缘密度、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zh-CN" sz="16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条件密度，求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联合密度</a:t>
            </a:r>
            <a:endParaRPr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00134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autoUpdateAnimBg="0"/>
      <p:bldP spid="344067" grpId="0" autoUpdateAnimBg="0"/>
      <p:bldP spid="344069" grpId="0" autoUpdateAnimBg="0"/>
      <p:bldP spid="7" grpId="0" autoUpdateAnimBg="0"/>
      <p:bldP spid="10" grpId="0" autoUpdateAnimBg="0"/>
      <p:bldP spid="3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038351" y="500064"/>
            <a:ext cx="59971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solidFill>
                  <a:srgbClr val="990000"/>
                </a:solidFill>
                <a:ea typeface="楷体_GB2312" charset="-122"/>
              </a:rPr>
              <a:t>5</a:t>
            </a:r>
            <a:r>
              <a:rPr lang="en-US" altLang="zh-CN" dirty="0" smtClean="0">
                <a:solidFill>
                  <a:srgbClr val="000066"/>
                </a:solidFill>
                <a:ea typeface="楷体_GB2312" charset="-122"/>
              </a:rPr>
              <a:t>  </a:t>
            </a:r>
            <a:r>
              <a:rPr lang="zh-CN" altLang="en-US" dirty="0">
                <a:solidFill>
                  <a:srgbClr val="000066"/>
                </a:solidFill>
                <a:ea typeface="楷体_GB2312" charset="-122"/>
              </a:rPr>
              <a:t>设（</a:t>
            </a:r>
            <a:r>
              <a:rPr lang="en-US" altLang="zh-CN" i="1" dirty="0">
                <a:solidFill>
                  <a:srgbClr val="000066"/>
                </a:solidFill>
                <a:ea typeface="楷体_GB2312" charset="-122"/>
              </a:rPr>
              <a:t>X</a:t>
            </a:r>
            <a:r>
              <a:rPr lang="en-US" altLang="zh-CN" dirty="0">
                <a:solidFill>
                  <a:srgbClr val="000066"/>
                </a:solidFill>
                <a:ea typeface="楷体_GB231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ea typeface="楷体_GB2312" charset="-122"/>
              </a:rPr>
              <a:t>Y</a:t>
            </a:r>
            <a:r>
              <a:rPr lang="zh-CN" altLang="en-US" dirty="0">
                <a:solidFill>
                  <a:srgbClr val="000066"/>
                </a:solidFill>
                <a:ea typeface="楷体_GB2312" charset="-122"/>
              </a:rPr>
              <a:t>）的联合概率密度为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2063750" y="1125538"/>
          <a:ext cx="8294688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" name="Equation" r:id="rId3" imgW="4057667" imgH="533520" progId="Equation.3">
                  <p:embed/>
                </p:oleObj>
              </mc:Choice>
              <mc:Fallback>
                <p:oleObj name="Equation" r:id="rId3" imgW="4057667" imgH="533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125538"/>
                        <a:ext cx="8294688" cy="119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2133601" y="2449514"/>
          <a:ext cx="4556125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9" name="Equation" r:id="rId5" imgW="2047878" imgH="295380" progId="Equation.3">
                  <p:embed/>
                </p:oleObj>
              </mc:Choice>
              <mc:Fallback>
                <p:oleObj name="Equation" r:id="rId5" imgW="2047878" imgH="2953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2449514"/>
                        <a:ext cx="4556125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6781800" y="2438400"/>
          <a:ext cx="35702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0" name="Equation" r:id="rId7" imgW="1828800" imgH="257310" progId="Equation.3">
                  <p:embed/>
                </p:oleObj>
              </mc:Choice>
              <mc:Fallback>
                <p:oleObj name="Equation" r:id="rId7" imgW="1828800" imgH="257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438400"/>
                        <a:ext cx="357028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2286000" y="3157538"/>
          <a:ext cx="36766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1" name="Equation" r:id="rId9" imgW="1695354" imgH="257310" progId="Equation.3">
                  <p:embed/>
                </p:oleObj>
              </mc:Choice>
              <mc:Fallback>
                <p:oleObj name="Equation" r:id="rId9" imgW="1695354" imgH="257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57538"/>
                        <a:ext cx="36766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1905001" y="3867150"/>
            <a:ext cx="2835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800000"/>
                </a:solidFill>
                <a:ea typeface="楷体_GB2312" charset="-122"/>
              </a:rPr>
              <a:t>分析  </a:t>
            </a:r>
            <a:r>
              <a:rPr lang="zh-CN" altLang="en-US">
                <a:solidFill>
                  <a:srgbClr val="000066"/>
                </a:solidFill>
                <a:ea typeface="楷体_GB2312" charset="-122"/>
              </a:rPr>
              <a:t>解题困难</a:t>
            </a:r>
          </a:p>
        </p:txBody>
      </p:sp>
      <p:sp>
        <p:nvSpPr>
          <p:cNvPr id="24615" name="Text Box 39"/>
          <p:cNvSpPr txBox="1">
            <a:spLocks noChangeArrowheads="1"/>
          </p:cNvSpPr>
          <p:nvPr/>
        </p:nvSpPr>
        <p:spPr bwMode="auto">
          <a:xfrm>
            <a:off x="1524001" y="5715000"/>
            <a:ext cx="3343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ea typeface="楷体_GB2312" charset="-122"/>
              </a:rPr>
              <a:t>    </a:t>
            </a:r>
            <a:r>
              <a:rPr lang="en-US" altLang="zh-CN">
                <a:solidFill>
                  <a:srgbClr val="000066"/>
                </a:solidFill>
                <a:ea typeface="楷体_GB2312" charset="-122"/>
              </a:rPr>
              <a:t>2</a:t>
            </a:r>
            <a:r>
              <a:rPr lang="zh-CN" altLang="en-US">
                <a:solidFill>
                  <a:srgbClr val="000066"/>
                </a:solidFill>
                <a:ea typeface="楷体_GB2312" charset="-122"/>
              </a:rPr>
              <a:t>）求条件概率</a:t>
            </a:r>
            <a:r>
              <a:rPr lang="en-US" altLang="zh-CN">
                <a:solidFill>
                  <a:srgbClr val="000066"/>
                </a:solidFill>
                <a:ea typeface="楷体_GB2312" charset="-122"/>
              </a:rPr>
              <a:t>.</a:t>
            </a:r>
          </a:p>
        </p:txBody>
      </p:sp>
      <p:sp>
        <p:nvSpPr>
          <p:cNvPr id="24619" name="Text Box 43"/>
          <p:cNvSpPr txBox="1">
            <a:spLocks noChangeArrowheads="1"/>
          </p:cNvSpPr>
          <p:nvPr/>
        </p:nvSpPr>
        <p:spPr bwMode="auto">
          <a:xfrm>
            <a:off x="1981200" y="4572000"/>
            <a:ext cx="3429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66"/>
                </a:solidFill>
                <a:ea typeface="楷体_GB2312" charset="-122"/>
              </a:rPr>
              <a:t>1</a:t>
            </a:r>
            <a:r>
              <a:rPr lang="zh-CN" altLang="en-US">
                <a:solidFill>
                  <a:srgbClr val="000066"/>
                </a:solidFill>
                <a:ea typeface="楷体_GB2312" charset="-122"/>
              </a:rPr>
              <a:t>）</a:t>
            </a:r>
            <a:r>
              <a:rPr lang="zh-CN" altLang="en-US">
                <a:solidFill>
                  <a:srgbClr val="000066"/>
                </a:solidFill>
                <a:latin typeface="楷体_GB2312" charset="-122"/>
                <a:ea typeface="楷体_GB2312" charset="-122"/>
              </a:rPr>
              <a:t>确定条件概率</a:t>
            </a:r>
          </a:p>
          <a:p>
            <a:r>
              <a:rPr lang="zh-CN" altLang="en-US">
                <a:solidFill>
                  <a:srgbClr val="000066"/>
                </a:solidFill>
                <a:latin typeface="楷体_GB2312" charset="-122"/>
                <a:ea typeface="楷体_GB2312" charset="-122"/>
              </a:rPr>
              <a:t>密度的存在区间</a:t>
            </a:r>
            <a:r>
              <a:rPr lang="en-US" altLang="zh-CN">
                <a:solidFill>
                  <a:srgbClr val="000066"/>
                </a:solidFill>
                <a:latin typeface="楷体_GB2312" charset="-122"/>
                <a:ea typeface="楷体_GB2312" charset="-122"/>
              </a:rPr>
              <a:t>.</a:t>
            </a:r>
          </a:p>
        </p:txBody>
      </p:sp>
      <p:grpSp>
        <p:nvGrpSpPr>
          <p:cNvPr id="24647" name="Group 71"/>
          <p:cNvGrpSpPr>
            <a:grpSpLocks/>
          </p:cNvGrpSpPr>
          <p:nvPr/>
        </p:nvGrpSpPr>
        <p:grpSpPr bwMode="auto">
          <a:xfrm>
            <a:off x="5972176" y="3489326"/>
            <a:ext cx="4397375" cy="2809875"/>
            <a:chOff x="2802" y="2198"/>
            <a:chExt cx="2770" cy="1770"/>
          </a:xfrm>
        </p:grpSpPr>
        <p:sp>
          <p:nvSpPr>
            <p:cNvPr id="73742" name="Line 45"/>
            <p:cNvSpPr>
              <a:spLocks noChangeShapeType="1"/>
            </p:cNvSpPr>
            <p:nvPr/>
          </p:nvSpPr>
          <p:spPr bwMode="auto">
            <a:xfrm>
              <a:off x="2812" y="3574"/>
              <a:ext cx="2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43" name="Line 46"/>
            <p:cNvSpPr>
              <a:spLocks noChangeShapeType="1"/>
            </p:cNvSpPr>
            <p:nvPr/>
          </p:nvSpPr>
          <p:spPr bwMode="auto">
            <a:xfrm flipV="1">
              <a:off x="3052" y="2326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44" name="Text Box 47"/>
            <p:cNvSpPr txBox="1">
              <a:spLocks noChangeArrowheads="1"/>
            </p:cNvSpPr>
            <p:nvPr/>
          </p:nvSpPr>
          <p:spPr bwMode="auto">
            <a:xfrm>
              <a:off x="2802" y="3600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0</a:t>
              </a:r>
            </a:p>
          </p:txBody>
        </p:sp>
        <p:sp>
          <p:nvSpPr>
            <p:cNvPr id="73745" name="Text Box 48"/>
            <p:cNvSpPr txBox="1">
              <a:spLocks noChangeArrowheads="1"/>
            </p:cNvSpPr>
            <p:nvPr/>
          </p:nvSpPr>
          <p:spPr bwMode="auto">
            <a:xfrm>
              <a:off x="5356" y="3494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x</a:t>
              </a:r>
            </a:p>
          </p:txBody>
        </p:sp>
        <p:sp>
          <p:nvSpPr>
            <p:cNvPr id="73746" name="Text Box 49"/>
            <p:cNvSpPr txBox="1">
              <a:spLocks noChangeArrowheads="1"/>
            </p:cNvSpPr>
            <p:nvPr/>
          </p:nvSpPr>
          <p:spPr bwMode="auto">
            <a:xfrm>
              <a:off x="3148" y="219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</a:t>
              </a:r>
            </a:p>
          </p:txBody>
        </p:sp>
        <p:sp>
          <p:nvSpPr>
            <p:cNvPr id="73747" name="Text Box 50"/>
            <p:cNvSpPr txBox="1">
              <a:spLocks noChangeArrowheads="1"/>
            </p:cNvSpPr>
            <p:nvPr/>
          </p:nvSpPr>
          <p:spPr bwMode="auto">
            <a:xfrm>
              <a:off x="3820" y="3574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3748" name="Text Box 51"/>
            <p:cNvSpPr txBox="1">
              <a:spLocks noChangeArrowheads="1"/>
            </p:cNvSpPr>
            <p:nvPr/>
          </p:nvSpPr>
          <p:spPr bwMode="auto">
            <a:xfrm>
              <a:off x="4732" y="3574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2</a:t>
              </a:r>
            </a:p>
          </p:txBody>
        </p:sp>
        <p:sp>
          <p:nvSpPr>
            <p:cNvPr id="73749" name="Text Box 52"/>
            <p:cNvSpPr txBox="1">
              <a:spLocks noChangeArrowheads="1"/>
            </p:cNvSpPr>
            <p:nvPr/>
          </p:nvSpPr>
          <p:spPr bwMode="auto">
            <a:xfrm>
              <a:off x="2888" y="2566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3750" name="Line 53"/>
            <p:cNvSpPr>
              <a:spLocks noChangeShapeType="1"/>
            </p:cNvSpPr>
            <p:nvPr/>
          </p:nvSpPr>
          <p:spPr bwMode="auto">
            <a:xfrm flipV="1">
              <a:off x="3052" y="2758"/>
              <a:ext cx="816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51" name="Line 54"/>
            <p:cNvSpPr>
              <a:spLocks noChangeShapeType="1"/>
            </p:cNvSpPr>
            <p:nvPr/>
          </p:nvSpPr>
          <p:spPr bwMode="auto">
            <a:xfrm flipV="1">
              <a:off x="4108" y="2758"/>
              <a:ext cx="768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52" name="Line 55"/>
            <p:cNvSpPr>
              <a:spLocks noChangeShapeType="1"/>
            </p:cNvSpPr>
            <p:nvPr/>
          </p:nvSpPr>
          <p:spPr bwMode="auto">
            <a:xfrm>
              <a:off x="3868" y="2758"/>
              <a:ext cx="100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53" name="AutoShape 56"/>
            <p:cNvSpPr>
              <a:spLocks noChangeArrowheads="1"/>
            </p:cNvSpPr>
            <p:nvPr/>
          </p:nvSpPr>
          <p:spPr bwMode="auto">
            <a:xfrm>
              <a:off x="3051" y="2750"/>
              <a:ext cx="1860" cy="816"/>
            </a:xfrm>
            <a:prstGeom prst="parallelogram">
              <a:avLst>
                <a:gd name="adj" fmla="val 100474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CC9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754" name="Text Box 57"/>
            <p:cNvSpPr txBox="1">
              <a:spLocks noChangeArrowheads="1"/>
            </p:cNvSpPr>
            <p:nvPr/>
          </p:nvSpPr>
          <p:spPr bwMode="auto">
            <a:xfrm>
              <a:off x="4540" y="2950"/>
              <a:ext cx="8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  <a:r>
                <a:rPr lang="zh-CN" altLang="en-US" sz="2800" i="1">
                  <a:solidFill>
                    <a:srgbClr val="000066"/>
                  </a:solidFill>
                </a:rPr>
                <a:t>－</a:t>
              </a:r>
              <a:r>
                <a:rPr lang="en-US" altLang="zh-CN" sz="2800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3755" name="Text Box 58"/>
            <p:cNvSpPr txBox="1">
              <a:spLocks noChangeArrowheads="1"/>
            </p:cNvSpPr>
            <p:nvPr/>
          </p:nvSpPr>
          <p:spPr bwMode="auto">
            <a:xfrm>
              <a:off x="3196" y="2614"/>
              <a:ext cx="4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45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8" grpId="0"/>
      <p:bldP spid="24615" grpId="0"/>
      <p:bldP spid="246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椭圆 28"/>
          <p:cNvSpPr/>
          <p:nvPr/>
        </p:nvSpPr>
        <p:spPr>
          <a:xfrm>
            <a:off x="555026" y="3401219"/>
            <a:ext cx="290380" cy="642552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854148" y="4945448"/>
            <a:ext cx="290380" cy="642552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4742891" y="4008825"/>
            <a:ext cx="290380" cy="642552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aphicFrame>
        <p:nvGraphicFramePr>
          <p:cNvPr id="297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882842"/>
              </p:ext>
            </p:extLst>
          </p:nvPr>
        </p:nvGraphicFramePr>
        <p:xfrm>
          <a:off x="343928" y="2971800"/>
          <a:ext cx="3462338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" name="Equation" r:id="rId3" imgW="1400099" imgH="323730" progId="Equation.3">
                  <p:embed/>
                </p:oleObj>
              </mc:Choice>
              <mc:Fallback>
                <p:oleObj name="Equation" r:id="rId3" imgW="1400099" imgH="323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28" y="2971800"/>
                        <a:ext cx="3462338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472190"/>
              </p:ext>
            </p:extLst>
          </p:nvPr>
        </p:nvGraphicFramePr>
        <p:xfrm>
          <a:off x="1286904" y="3860800"/>
          <a:ext cx="4391025" cy="235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5" name="公式" r:id="rId5" imgW="2171599" imgH="1219320" progId="Equation.3">
                  <p:embed/>
                </p:oleObj>
              </mc:Choice>
              <mc:Fallback>
                <p:oleObj name="公式" r:id="rId5" imgW="2171599" imgH="1219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904" y="3860800"/>
                        <a:ext cx="4391025" cy="235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70" name="Group 74"/>
          <p:cNvGrpSpPr>
            <a:grpSpLocks/>
          </p:cNvGrpSpPr>
          <p:nvPr/>
        </p:nvGrpSpPr>
        <p:grpSpPr bwMode="auto">
          <a:xfrm>
            <a:off x="1639328" y="457201"/>
            <a:ext cx="4991100" cy="2606675"/>
            <a:chOff x="1152" y="288"/>
            <a:chExt cx="3144" cy="1642"/>
          </a:xfrm>
        </p:grpSpPr>
        <p:sp>
          <p:nvSpPr>
            <p:cNvPr id="74767" name="Line 25"/>
            <p:cNvSpPr>
              <a:spLocks noChangeShapeType="1"/>
            </p:cNvSpPr>
            <p:nvPr/>
          </p:nvSpPr>
          <p:spPr bwMode="auto">
            <a:xfrm>
              <a:off x="1152" y="1536"/>
              <a:ext cx="30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68" name="Line 26"/>
            <p:cNvSpPr>
              <a:spLocks noChangeShapeType="1"/>
            </p:cNvSpPr>
            <p:nvPr/>
          </p:nvSpPr>
          <p:spPr bwMode="auto">
            <a:xfrm flipV="1">
              <a:off x="1584" y="288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69" name="Text Box 27"/>
            <p:cNvSpPr txBox="1">
              <a:spLocks noChangeArrowheads="1"/>
            </p:cNvSpPr>
            <p:nvPr/>
          </p:nvSpPr>
          <p:spPr bwMode="auto">
            <a:xfrm>
              <a:off x="1334" y="1562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0</a:t>
              </a:r>
            </a:p>
          </p:txBody>
        </p:sp>
        <p:sp>
          <p:nvSpPr>
            <p:cNvPr id="74770" name="Text Box 28"/>
            <p:cNvSpPr txBox="1">
              <a:spLocks noChangeArrowheads="1"/>
            </p:cNvSpPr>
            <p:nvPr/>
          </p:nvSpPr>
          <p:spPr bwMode="auto">
            <a:xfrm>
              <a:off x="4080" y="1504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x</a:t>
              </a:r>
            </a:p>
          </p:txBody>
        </p:sp>
        <p:sp>
          <p:nvSpPr>
            <p:cNvPr id="74771" name="Text Box 29"/>
            <p:cNvSpPr txBox="1">
              <a:spLocks noChangeArrowheads="1"/>
            </p:cNvSpPr>
            <p:nvPr/>
          </p:nvSpPr>
          <p:spPr bwMode="auto">
            <a:xfrm>
              <a:off x="1680" y="304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</a:t>
              </a:r>
            </a:p>
          </p:txBody>
        </p:sp>
        <p:sp>
          <p:nvSpPr>
            <p:cNvPr id="74772" name="Text Box 30"/>
            <p:cNvSpPr txBox="1">
              <a:spLocks noChangeArrowheads="1"/>
            </p:cNvSpPr>
            <p:nvPr/>
          </p:nvSpPr>
          <p:spPr bwMode="auto">
            <a:xfrm>
              <a:off x="2544" y="1536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4773" name="Text Box 31"/>
            <p:cNvSpPr txBox="1">
              <a:spLocks noChangeArrowheads="1"/>
            </p:cNvSpPr>
            <p:nvPr/>
          </p:nvSpPr>
          <p:spPr bwMode="auto">
            <a:xfrm>
              <a:off x="3360" y="1536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2</a:t>
              </a:r>
            </a:p>
          </p:txBody>
        </p:sp>
        <p:sp>
          <p:nvSpPr>
            <p:cNvPr id="74774" name="Text Box 32"/>
            <p:cNvSpPr txBox="1">
              <a:spLocks noChangeArrowheads="1"/>
            </p:cNvSpPr>
            <p:nvPr/>
          </p:nvSpPr>
          <p:spPr bwMode="auto">
            <a:xfrm>
              <a:off x="1420" y="528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4775" name="Line 33"/>
            <p:cNvSpPr>
              <a:spLocks noChangeShapeType="1"/>
            </p:cNvSpPr>
            <p:nvPr/>
          </p:nvSpPr>
          <p:spPr bwMode="auto">
            <a:xfrm flipV="1">
              <a:off x="1584" y="720"/>
              <a:ext cx="816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76" name="Line 34"/>
            <p:cNvSpPr>
              <a:spLocks noChangeShapeType="1"/>
            </p:cNvSpPr>
            <p:nvPr/>
          </p:nvSpPr>
          <p:spPr bwMode="auto">
            <a:xfrm flipV="1">
              <a:off x="2640" y="720"/>
              <a:ext cx="768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77" name="Line 35"/>
            <p:cNvSpPr>
              <a:spLocks noChangeShapeType="1"/>
            </p:cNvSpPr>
            <p:nvPr/>
          </p:nvSpPr>
          <p:spPr bwMode="auto">
            <a:xfrm>
              <a:off x="2400" y="720"/>
              <a:ext cx="100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78" name="AutoShape 36"/>
            <p:cNvSpPr>
              <a:spLocks noChangeArrowheads="1"/>
            </p:cNvSpPr>
            <p:nvPr/>
          </p:nvSpPr>
          <p:spPr bwMode="auto">
            <a:xfrm>
              <a:off x="1600" y="709"/>
              <a:ext cx="1814" cy="815"/>
            </a:xfrm>
            <a:prstGeom prst="parallelogram">
              <a:avLst>
                <a:gd name="adj" fmla="val 98109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CC9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779" name="Text Box 37"/>
            <p:cNvSpPr txBox="1">
              <a:spLocks noChangeArrowheads="1"/>
            </p:cNvSpPr>
            <p:nvPr/>
          </p:nvSpPr>
          <p:spPr bwMode="auto">
            <a:xfrm>
              <a:off x="3107" y="912"/>
              <a:ext cx="8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  <a:r>
                <a:rPr lang="zh-CN" altLang="en-US" sz="2800" i="1">
                  <a:solidFill>
                    <a:srgbClr val="000066"/>
                  </a:solidFill>
                </a:rPr>
                <a:t>－</a:t>
              </a:r>
              <a:r>
                <a:rPr lang="en-US" altLang="zh-CN" sz="2800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4780" name="Text Box 38"/>
            <p:cNvSpPr txBox="1">
              <a:spLocks noChangeArrowheads="1"/>
            </p:cNvSpPr>
            <p:nvPr/>
          </p:nvSpPr>
          <p:spPr bwMode="auto">
            <a:xfrm>
              <a:off x="1881" y="608"/>
              <a:ext cx="4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</a:p>
          </p:txBody>
        </p:sp>
      </p:grpSp>
      <p:grpSp>
        <p:nvGrpSpPr>
          <p:cNvPr id="29769" name="Group 73"/>
          <p:cNvGrpSpPr>
            <a:grpSpLocks/>
          </p:cNvGrpSpPr>
          <p:nvPr/>
        </p:nvGrpSpPr>
        <p:grpSpPr bwMode="auto">
          <a:xfrm>
            <a:off x="1934604" y="620713"/>
            <a:ext cx="3648075" cy="2286000"/>
            <a:chOff x="1262" y="391"/>
            <a:chExt cx="2298" cy="1440"/>
          </a:xfrm>
        </p:grpSpPr>
        <p:sp>
          <p:nvSpPr>
            <p:cNvPr id="74763" name="Line 39"/>
            <p:cNvSpPr>
              <a:spLocks noChangeShapeType="1"/>
            </p:cNvSpPr>
            <p:nvPr/>
          </p:nvSpPr>
          <p:spPr bwMode="auto">
            <a:xfrm flipV="1">
              <a:off x="1262" y="391"/>
              <a:ext cx="0" cy="14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64" name="Line 40"/>
            <p:cNvSpPr>
              <a:spLocks noChangeShapeType="1"/>
            </p:cNvSpPr>
            <p:nvPr/>
          </p:nvSpPr>
          <p:spPr bwMode="auto">
            <a:xfrm flipV="1">
              <a:off x="1935" y="391"/>
              <a:ext cx="0" cy="1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65" name="Line 41"/>
            <p:cNvSpPr>
              <a:spLocks noChangeShapeType="1"/>
            </p:cNvSpPr>
            <p:nvPr/>
          </p:nvSpPr>
          <p:spPr bwMode="auto">
            <a:xfrm flipV="1">
              <a:off x="2933" y="391"/>
              <a:ext cx="0" cy="1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766" name="Line 42"/>
            <p:cNvSpPr>
              <a:spLocks noChangeShapeType="1"/>
            </p:cNvSpPr>
            <p:nvPr/>
          </p:nvSpPr>
          <p:spPr bwMode="auto">
            <a:xfrm flipV="1">
              <a:off x="3560" y="391"/>
              <a:ext cx="0" cy="1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9754" name="Object 5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93652261"/>
              </p:ext>
            </p:extLst>
          </p:nvPr>
        </p:nvGraphicFramePr>
        <p:xfrm>
          <a:off x="1790142" y="4724401"/>
          <a:ext cx="3887787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6" name="公式" r:id="rId7" imgW="2305044" imgH="409590" progId="Equation.3">
                  <p:embed/>
                </p:oleObj>
              </mc:Choice>
              <mc:Fallback>
                <p:oleObj name="公式" r:id="rId7" imgW="2305044" imgH="40959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142" y="4724401"/>
                        <a:ext cx="3887787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57" name="Object 6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37031339"/>
              </p:ext>
            </p:extLst>
          </p:nvPr>
        </p:nvGraphicFramePr>
        <p:xfrm>
          <a:off x="1861579" y="5661025"/>
          <a:ext cx="36734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7" name="公式" r:id="rId9" imgW="2076512" imgH="257310" progId="Equation.3">
                  <p:embed/>
                </p:oleObj>
              </mc:Choice>
              <mc:Fallback>
                <p:oleObj name="公式" r:id="rId9" imgW="2076512" imgH="25731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579" y="5661025"/>
                        <a:ext cx="36734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5776" y="829663"/>
            <a:ext cx="4933950" cy="561975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0" name="矩形 29"/>
          <p:cNvSpPr/>
          <p:nvPr/>
        </p:nvSpPr>
        <p:spPr>
          <a:xfrm>
            <a:off x="9013053" y="1782763"/>
            <a:ext cx="2869455" cy="1123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474344"/>
              </p:ext>
            </p:extLst>
          </p:nvPr>
        </p:nvGraphicFramePr>
        <p:xfrm>
          <a:off x="10398195" y="1782763"/>
          <a:ext cx="14843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8" name="公式" r:id="rId12" imgW="647779" imgH="438210" progId="Equation.3">
                  <p:embed/>
                </p:oleObj>
              </mc:Choice>
              <mc:Fallback>
                <p:oleObj name="公式" r:id="rId12" imgW="647779" imgH="438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95" y="1782763"/>
                        <a:ext cx="1484313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724307"/>
              </p:ext>
            </p:extLst>
          </p:nvPr>
        </p:nvGraphicFramePr>
        <p:xfrm>
          <a:off x="9026594" y="2068514"/>
          <a:ext cx="1371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9" name="公式" r:id="rId14" imgW="628599" imgH="257310" progId="Equation.3">
                  <p:embed/>
                </p:oleObj>
              </mc:Choice>
              <mc:Fallback>
                <p:oleObj name="公式" r:id="rId14" imgW="628599" imgH="257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6594" y="2068514"/>
                        <a:ext cx="1371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4574397" y="379382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676172" y="468153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7772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562485" y="5233087"/>
            <a:ext cx="220111" cy="562233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1271714" y="5103340"/>
            <a:ext cx="290380" cy="642552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5774724" y="4703805"/>
            <a:ext cx="290380" cy="642552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6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372345"/>
              </p:ext>
            </p:extLst>
          </p:nvPr>
        </p:nvGraphicFramePr>
        <p:xfrm>
          <a:off x="397729" y="3733801"/>
          <a:ext cx="42672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9" name="Equation" r:id="rId3" imgW="1866889" imgH="247590" progId="Equation.3">
                  <p:embed/>
                </p:oleObj>
              </mc:Choice>
              <mc:Fallback>
                <p:oleObj name="Equation" r:id="rId3" imgW="1866889" imgH="2475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729" y="3733801"/>
                        <a:ext cx="42672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348931"/>
              </p:ext>
            </p:extLst>
          </p:nvPr>
        </p:nvGraphicFramePr>
        <p:xfrm>
          <a:off x="318355" y="4797426"/>
          <a:ext cx="3732213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0" name="Equation" r:id="rId5" imgW="3467156" imgH="971460" progId="Equation.3">
                  <p:embed/>
                </p:oleObj>
              </mc:Choice>
              <mc:Fallback>
                <p:oleObj name="Equation" r:id="rId5" imgW="3467156" imgH="9714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55" y="4797426"/>
                        <a:ext cx="3732213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59" name="Group 59"/>
          <p:cNvGrpSpPr>
            <a:grpSpLocks/>
          </p:cNvGrpSpPr>
          <p:nvPr/>
        </p:nvGrpSpPr>
        <p:grpSpPr bwMode="auto">
          <a:xfrm>
            <a:off x="1416904" y="796926"/>
            <a:ext cx="4991100" cy="2606675"/>
            <a:chOff x="1152" y="288"/>
            <a:chExt cx="3144" cy="1642"/>
          </a:xfrm>
        </p:grpSpPr>
        <p:sp>
          <p:nvSpPr>
            <p:cNvPr id="75786" name="Line 41"/>
            <p:cNvSpPr>
              <a:spLocks noChangeShapeType="1"/>
            </p:cNvSpPr>
            <p:nvPr/>
          </p:nvSpPr>
          <p:spPr bwMode="auto">
            <a:xfrm>
              <a:off x="1152" y="1536"/>
              <a:ext cx="30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87" name="Line 42"/>
            <p:cNvSpPr>
              <a:spLocks noChangeShapeType="1"/>
            </p:cNvSpPr>
            <p:nvPr/>
          </p:nvSpPr>
          <p:spPr bwMode="auto">
            <a:xfrm flipV="1">
              <a:off x="1584" y="288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88" name="Text Box 43"/>
            <p:cNvSpPr txBox="1">
              <a:spLocks noChangeArrowheads="1"/>
            </p:cNvSpPr>
            <p:nvPr/>
          </p:nvSpPr>
          <p:spPr bwMode="auto">
            <a:xfrm>
              <a:off x="1334" y="1562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0</a:t>
              </a:r>
            </a:p>
          </p:txBody>
        </p:sp>
        <p:sp>
          <p:nvSpPr>
            <p:cNvPr id="75789" name="Text Box 44"/>
            <p:cNvSpPr txBox="1">
              <a:spLocks noChangeArrowheads="1"/>
            </p:cNvSpPr>
            <p:nvPr/>
          </p:nvSpPr>
          <p:spPr bwMode="auto">
            <a:xfrm>
              <a:off x="4080" y="1504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x</a:t>
              </a:r>
            </a:p>
          </p:txBody>
        </p:sp>
        <p:sp>
          <p:nvSpPr>
            <p:cNvPr id="75790" name="Text Box 45"/>
            <p:cNvSpPr txBox="1">
              <a:spLocks noChangeArrowheads="1"/>
            </p:cNvSpPr>
            <p:nvPr/>
          </p:nvSpPr>
          <p:spPr bwMode="auto">
            <a:xfrm>
              <a:off x="1680" y="304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</a:t>
              </a:r>
            </a:p>
          </p:txBody>
        </p:sp>
        <p:sp>
          <p:nvSpPr>
            <p:cNvPr id="75791" name="Text Box 46"/>
            <p:cNvSpPr txBox="1">
              <a:spLocks noChangeArrowheads="1"/>
            </p:cNvSpPr>
            <p:nvPr/>
          </p:nvSpPr>
          <p:spPr bwMode="auto">
            <a:xfrm>
              <a:off x="2544" y="1536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5792" name="Text Box 47"/>
            <p:cNvSpPr txBox="1">
              <a:spLocks noChangeArrowheads="1"/>
            </p:cNvSpPr>
            <p:nvPr/>
          </p:nvSpPr>
          <p:spPr bwMode="auto">
            <a:xfrm>
              <a:off x="3360" y="1536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2</a:t>
              </a:r>
            </a:p>
          </p:txBody>
        </p:sp>
        <p:sp>
          <p:nvSpPr>
            <p:cNvPr id="75793" name="Text Box 48"/>
            <p:cNvSpPr txBox="1">
              <a:spLocks noChangeArrowheads="1"/>
            </p:cNvSpPr>
            <p:nvPr/>
          </p:nvSpPr>
          <p:spPr bwMode="auto">
            <a:xfrm>
              <a:off x="1420" y="528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5794" name="Line 49"/>
            <p:cNvSpPr>
              <a:spLocks noChangeShapeType="1"/>
            </p:cNvSpPr>
            <p:nvPr/>
          </p:nvSpPr>
          <p:spPr bwMode="auto">
            <a:xfrm flipV="1">
              <a:off x="1584" y="720"/>
              <a:ext cx="816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95" name="Line 50"/>
            <p:cNvSpPr>
              <a:spLocks noChangeShapeType="1"/>
            </p:cNvSpPr>
            <p:nvPr/>
          </p:nvSpPr>
          <p:spPr bwMode="auto">
            <a:xfrm flipV="1">
              <a:off x="2640" y="720"/>
              <a:ext cx="768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96" name="Line 51"/>
            <p:cNvSpPr>
              <a:spLocks noChangeShapeType="1"/>
            </p:cNvSpPr>
            <p:nvPr/>
          </p:nvSpPr>
          <p:spPr bwMode="auto">
            <a:xfrm>
              <a:off x="2400" y="720"/>
              <a:ext cx="100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797" name="AutoShape 52"/>
            <p:cNvSpPr>
              <a:spLocks noChangeArrowheads="1"/>
            </p:cNvSpPr>
            <p:nvPr/>
          </p:nvSpPr>
          <p:spPr bwMode="auto">
            <a:xfrm>
              <a:off x="1584" y="720"/>
              <a:ext cx="1824" cy="816"/>
            </a:xfrm>
            <a:prstGeom prst="parallelogram">
              <a:avLst>
                <a:gd name="adj" fmla="val 98529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CC9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798" name="Text Box 53"/>
            <p:cNvSpPr txBox="1">
              <a:spLocks noChangeArrowheads="1"/>
            </p:cNvSpPr>
            <p:nvPr/>
          </p:nvSpPr>
          <p:spPr bwMode="auto">
            <a:xfrm>
              <a:off x="3360" y="912"/>
              <a:ext cx="8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  <a:r>
                <a:rPr lang="zh-CN" altLang="en-US" sz="2800" i="1">
                  <a:solidFill>
                    <a:srgbClr val="000066"/>
                  </a:solidFill>
                </a:rPr>
                <a:t>－</a:t>
              </a:r>
              <a:r>
                <a:rPr lang="en-US" altLang="zh-CN" sz="2800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5799" name="Text Box 54"/>
            <p:cNvSpPr txBox="1">
              <a:spLocks noChangeArrowheads="1"/>
            </p:cNvSpPr>
            <p:nvPr/>
          </p:nvSpPr>
          <p:spPr bwMode="auto">
            <a:xfrm>
              <a:off x="1728" y="576"/>
              <a:ext cx="4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</a:p>
          </p:txBody>
        </p:sp>
      </p:grpSp>
      <p:sp>
        <p:nvSpPr>
          <p:cNvPr id="25656" name="Line 56"/>
          <p:cNvSpPr>
            <a:spLocks noChangeShapeType="1"/>
          </p:cNvSpPr>
          <p:nvPr/>
        </p:nvSpPr>
        <p:spPr bwMode="auto">
          <a:xfrm flipV="1">
            <a:off x="3093304" y="1066800"/>
            <a:ext cx="0" cy="22098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25660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978305"/>
              </p:ext>
            </p:extLst>
          </p:nvPr>
        </p:nvGraphicFramePr>
        <p:xfrm>
          <a:off x="4080729" y="4413250"/>
          <a:ext cx="2736850" cy="184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1" name="Equation" r:id="rId7" imgW="1028666" imgH="647730" progId="Equation.DSMT4">
                  <p:embed/>
                </p:oleObj>
              </mc:Choice>
              <mc:Fallback>
                <p:oleObj name="Equation" r:id="rId7" imgW="1028666" imgH="6477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729" y="4413250"/>
                        <a:ext cx="2736850" cy="184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7579" y="376582"/>
            <a:ext cx="4933950" cy="561975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25" name="矩形 24"/>
          <p:cNvSpPr/>
          <p:nvPr/>
        </p:nvSpPr>
        <p:spPr>
          <a:xfrm>
            <a:off x="9013053" y="1782763"/>
            <a:ext cx="2869455" cy="1123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085042"/>
              </p:ext>
            </p:extLst>
          </p:nvPr>
        </p:nvGraphicFramePr>
        <p:xfrm>
          <a:off x="10398195" y="1782763"/>
          <a:ext cx="14843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2" name="公式" r:id="rId10" imgW="647779" imgH="438210" progId="Equation.3">
                  <p:embed/>
                </p:oleObj>
              </mc:Choice>
              <mc:Fallback>
                <p:oleObj name="公式" r:id="rId10" imgW="647779" imgH="438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95" y="1782763"/>
                        <a:ext cx="1484313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424320"/>
              </p:ext>
            </p:extLst>
          </p:nvPr>
        </p:nvGraphicFramePr>
        <p:xfrm>
          <a:off x="9026594" y="2068514"/>
          <a:ext cx="1371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公式" r:id="rId12" imgW="628599" imgH="257310" progId="Equation.3">
                  <p:embed/>
                </p:oleObj>
              </mc:Choice>
              <mc:Fallback>
                <p:oleObj name="公式" r:id="rId12" imgW="628599" imgH="257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6594" y="2068514"/>
                        <a:ext cx="1371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3551873" y="35491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72554" y="454660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6065104" y="1066800"/>
            <a:ext cx="3144800" cy="334645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416904" y="4193059"/>
            <a:ext cx="4357820" cy="353541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99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5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椭圆 24"/>
          <p:cNvSpPr/>
          <p:nvPr/>
        </p:nvSpPr>
        <p:spPr>
          <a:xfrm>
            <a:off x="1623452" y="4473404"/>
            <a:ext cx="236963" cy="28798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881449" y="4617395"/>
            <a:ext cx="236963" cy="28798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7117492" y="3912973"/>
            <a:ext cx="362465" cy="807308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30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250407"/>
              </p:ext>
            </p:extLst>
          </p:nvPr>
        </p:nvGraphicFramePr>
        <p:xfrm>
          <a:off x="579950" y="3213100"/>
          <a:ext cx="547211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3" name="公式" r:id="rId3" imgW="2590845" imgH="247590" progId="Equation.3">
                  <p:embed/>
                </p:oleObj>
              </mc:Choice>
              <mc:Fallback>
                <p:oleObj name="公式" r:id="rId3" imgW="2590845" imgH="2475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50" y="3213100"/>
                        <a:ext cx="547211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67433"/>
              </p:ext>
            </p:extLst>
          </p:nvPr>
        </p:nvGraphicFramePr>
        <p:xfrm>
          <a:off x="629162" y="3797683"/>
          <a:ext cx="7467600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4" name="Equation" r:id="rId5" imgW="3419343" imgH="743040" progId="Equation.3">
                  <p:embed/>
                </p:oleObj>
              </mc:Choice>
              <mc:Fallback>
                <p:oleObj name="Equation" r:id="rId5" imgW="3419343" imgH="74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62" y="3797683"/>
                        <a:ext cx="7467600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979968"/>
              </p:ext>
            </p:extLst>
          </p:nvPr>
        </p:nvGraphicFramePr>
        <p:xfrm>
          <a:off x="437075" y="5589588"/>
          <a:ext cx="72072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5" name="Equation" r:id="rId7" imgW="7153390" imgH="552420" progId="Equation.3">
                  <p:embed/>
                </p:oleObj>
              </mc:Choice>
              <mc:Fallback>
                <p:oleObj name="Equation" r:id="rId7" imgW="7153390" imgH="5524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75" y="5589588"/>
                        <a:ext cx="72072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38" name="Group 30"/>
          <p:cNvGrpSpPr>
            <a:grpSpLocks/>
          </p:cNvGrpSpPr>
          <p:nvPr/>
        </p:nvGrpSpPr>
        <p:grpSpPr bwMode="auto">
          <a:xfrm>
            <a:off x="1581662" y="457201"/>
            <a:ext cx="4991100" cy="2606675"/>
            <a:chOff x="1152" y="288"/>
            <a:chExt cx="3144" cy="1642"/>
          </a:xfrm>
        </p:grpSpPr>
        <p:sp>
          <p:nvSpPr>
            <p:cNvPr id="76810" name="Line 12"/>
            <p:cNvSpPr>
              <a:spLocks noChangeShapeType="1"/>
            </p:cNvSpPr>
            <p:nvPr/>
          </p:nvSpPr>
          <p:spPr bwMode="auto">
            <a:xfrm>
              <a:off x="1152" y="1536"/>
              <a:ext cx="30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1" name="Line 13"/>
            <p:cNvSpPr>
              <a:spLocks noChangeShapeType="1"/>
            </p:cNvSpPr>
            <p:nvPr/>
          </p:nvSpPr>
          <p:spPr bwMode="auto">
            <a:xfrm flipV="1">
              <a:off x="1584" y="288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2" name="Text Box 14"/>
            <p:cNvSpPr txBox="1">
              <a:spLocks noChangeArrowheads="1"/>
            </p:cNvSpPr>
            <p:nvPr/>
          </p:nvSpPr>
          <p:spPr bwMode="auto">
            <a:xfrm>
              <a:off x="1334" y="1562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0</a:t>
              </a:r>
            </a:p>
          </p:txBody>
        </p:sp>
        <p:sp>
          <p:nvSpPr>
            <p:cNvPr id="76813" name="Text Box 15"/>
            <p:cNvSpPr txBox="1">
              <a:spLocks noChangeArrowheads="1"/>
            </p:cNvSpPr>
            <p:nvPr/>
          </p:nvSpPr>
          <p:spPr bwMode="auto">
            <a:xfrm>
              <a:off x="4080" y="1504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x</a:t>
              </a:r>
            </a:p>
          </p:txBody>
        </p:sp>
        <p:sp>
          <p:nvSpPr>
            <p:cNvPr id="76814" name="Text Box 16"/>
            <p:cNvSpPr txBox="1">
              <a:spLocks noChangeArrowheads="1"/>
            </p:cNvSpPr>
            <p:nvPr/>
          </p:nvSpPr>
          <p:spPr bwMode="auto">
            <a:xfrm>
              <a:off x="1680" y="304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</a:t>
              </a:r>
            </a:p>
          </p:txBody>
        </p:sp>
        <p:sp>
          <p:nvSpPr>
            <p:cNvPr id="76815" name="Text Box 17"/>
            <p:cNvSpPr txBox="1">
              <a:spLocks noChangeArrowheads="1"/>
            </p:cNvSpPr>
            <p:nvPr/>
          </p:nvSpPr>
          <p:spPr bwMode="auto">
            <a:xfrm>
              <a:off x="2544" y="1536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6816" name="Text Box 18"/>
            <p:cNvSpPr txBox="1">
              <a:spLocks noChangeArrowheads="1"/>
            </p:cNvSpPr>
            <p:nvPr/>
          </p:nvSpPr>
          <p:spPr bwMode="auto">
            <a:xfrm>
              <a:off x="3360" y="1536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2</a:t>
              </a:r>
            </a:p>
          </p:txBody>
        </p:sp>
        <p:sp>
          <p:nvSpPr>
            <p:cNvPr id="76817" name="Text Box 19"/>
            <p:cNvSpPr txBox="1">
              <a:spLocks noChangeArrowheads="1"/>
            </p:cNvSpPr>
            <p:nvPr/>
          </p:nvSpPr>
          <p:spPr bwMode="auto">
            <a:xfrm>
              <a:off x="1420" y="528"/>
              <a:ext cx="24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6818" name="Line 20"/>
            <p:cNvSpPr>
              <a:spLocks noChangeShapeType="1"/>
            </p:cNvSpPr>
            <p:nvPr/>
          </p:nvSpPr>
          <p:spPr bwMode="auto">
            <a:xfrm flipV="1">
              <a:off x="1584" y="720"/>
              <a:ext cx="816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9" name="Line 21"/>
            <p:cNvSpPr>
              <a:spLocks noChangeShapeType="1"/>
            </p:cNvSpPr>
            <p:nvPr/>
          </p:nvSpPr>
          <p:spPr bwMode="auto">
            <a:xfrm flipV="1">
              <a:off x="2640" y="720"/>
              <a:ext cx="768" cy="8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0" name="Line 22"/>
            <p:cNvSpPr>
              <a:spLocks noChangeShapeType="1"/>
            </p:cNvSpPr>
            <p:nvPr/>
          </p:nvSpPr>
          <p:spPr bwMode="auto">
            <a:xfrm>
              <a:off x="2400" y="720"/>
              <a:ext cx="100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1" name="AutoShape 23"/>
            <p:cNvSpPr>
              <a:spLocks noChangeArrowheads="1"/>
            </p:cNvSpPr>
            <p:nvPr/>
          </p:nvSpPr>
          <p:spPr bwMode="auto">
            <a:xfrm>
              <a:off x="1584" y="720"/>
              <a:ext cx="1824" cy="816"/>
            </a:xfrm>
            <a:prstGeom prst="parallelogram">
              <a:avLst>
                <a:gd name="adj" fmla="val 98529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CC9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822" name="Text Box 24"/>
            <p:cNvSpPr txBox="1">
              <a:spLocks noChangeArrowheads="1"/>
            </p:cNvSpPr>
            <p:nvPr/>
          </p:nvSpPr>
          <p:spPr bwMode="auto">
            <a:xfrm>
              <a:off x="3360" y="912"/>
              <a:ext cx="8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  <a:r>
                <a:rPr lang="zh-CN" altLang="en-US" sz="2800" i="1">
                  <a:solidFill>
                    <a:srgbClr val="000066"/>
                  </a:solidFill>
                </a:rPr>
                <a:t>－</a:t>
              </a:r>
              <a:r>
                <a:rPr lang="en-US" altLang="zh-CN" sz="2800">
                  <a:solidFill>
                    <a:srgbClr val="000066"/>
                  </a:solidFill>
                </a:rPr>
                <a:t>1</a:t>
              </a:r>
            </a:p>
          </p:txBody>
        </p:sp>
        <p:sp>
          <p:nvSpPr>
            <p:cNvPr id="76823" name="Text Box 25"/>
            <p:cNvSpPr txBox="1">
              <a:spLocks noChangeArrowheads="1"/>
            </p:cNvSpPr>
            <p:nvPr/>
          </p:nvSpPr>
          <p:spPr bwMode="auto">
            <a:xfrm>
              <a:off x="1728" y="576"/>
              <a:ext cx="4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66"/>
                  </a:solidFill>
                </a:rPr>
                <a:t>y=x</a:t>
              </a:r>
            </a:p>
          </p:txBody>
        </p:sp>
      </p:grpSp>
      <p:sp>
        <p:nvSpPr>
          <p:cNvPr id="43036" name="Line 28"/>
          <p:cNvSpPr>
            <a:spLocks noChangeShapeType="1"/>
          </p:cNvSpPr>
          <p:nvPr/>
        </p:nvSpPr>
        <p:spPr bwMode="auto">
          <a:xfrm flipV="1">
            <a:off x="4324862" y="762000"/>
            <a:ext cx="0" cy="22098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412" y="3137694"/>
            <a:ext cx="333375" cy="6858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9977" y="201613"/>
            <a:ext cx="4933950" cy="561975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26" name="矩形 25"/>
          <p:cNvSpPr/>
          <p:nvPr/>
        </p:nvSpPr>
        <p:spPr>
          <a:xfrm>
            <a:off x="9013053" y="1782763"/>
            <a:ext cx="2869455" cy="1123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085042"/>
              </p:ext>
            </p:extLst>
          </p:nvPr>
        </p:nvGraphicFramePr>
        <p:xfrm>
          <a:off x="10398195" y="1782763"/>
          <a:ext cx="14843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6" name="公式" r:id="rId11" imgW="647779" imgH="438210" progId="Equation.3">
                  <p:embed/>
                </p:oleObj>
              </mc:Choice>
              <mc:Fallback>
                <p:oleObj name="公式" r:id="rId11" imgW="647779" imgH="438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95" y="1782763"/>
                        <a:ext cx="1484313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424320"/>
              </p:ext>
            </p:extLst>
          </p:nvPr>
        </p:nvGraphicFramePr>
        <p:xfrm>
          <a:off x="9026594" y="2068514"/>
          <a:ext cx="1371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" name="公式" r:id="rId13" imgW="628599" imgH="257310" progId="Equation.3">
                  <p:embed/>
                </p:oleObj>
              </mc:Choice>
              <mc:Fallback>
                <p:oleObj name="公式" r:id="rId13" imgW="628599" imgH="257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6594" y="2068514"/>
                        <a:ext cx="1371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箭头连接符 28"/>
          <p:cNvCxnSpPr/>
          <p:nvPr/>
        </p:nvCxnSpPr>
        <p:spPr>
          <a:xfrm flipH="1">
            <a:off x="7412853" y="806451"/>
            <a:ext cx="2106271" cy="300354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791939" y="3720541"/>
            <a:ext cx="5061746" cy="327585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6997994" y="383050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88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6535696" y="4065975"/>
            <a:ext cx="290380" cy="642552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2279650" y="765176"/>
          <a:ext cx="73152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" name="Equation" r:id="rId3" imgW="3419343" imgH="333450" progId="Equation.3">
                  <p:embed/>
                </p:oleObj>
              </mc:Choice>
              <mc:Fallback>
                <p:oleObj name="Equation" r:id="rId3" imgW="3419343" imgH="3334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765176"/>
                        <a:ext cx="731520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/>
        </p:nvGraphicFramePr>
        <p:xfrm>
          <a:off x="5867400" y="1600201"/>
          <a:ext cx="25908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1" name="Equation" r:id="rId5" imgW="1162112" imgH="438210" progId="Equation.3">
                  <p:embed/>
                </p:oleObj>
              </mc:Choice>
              <mc:Fallback>
                <p:oleObj name="Equation" r:id="rId5" imgW="1162112" imgH="438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600201"/>
                        <a:ext cx="25908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/>
          <p:cNvGraphicFramePr>
            <a:graphicFrameLocks noChangeAspect="1"/>
          </p:cNvGraphicFramePr>
          <p:nvPr/>
        </p:nvGraphicFramePr>
        <p:xfrm>
          <a:off x="2286000" y="2806700"/>
          <a:ext cx="7620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2" name="Equation" r:id="rId7" imgW="3409888" imgH="333450" progId="Equation.3">
                  <p:embed/>
                </p:oleObj>
              </mc:Choice>
              <mc:Fallback>
                <p:oleObj name="Equation" r:id="rId7" imgW="3409888" imgH="3334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06700"/>
                        <a:ext cx="76200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/>
          <p:cNvGraphicFramePr>
            <a:graphicFrameLocks noChangeAspect="1"/>
          </p:cNvGraphicFramePr>
          <p:nvPr/>
        </p:nvGraphicFramePr>
        <p:xfrm>
          <a:off x="6103938" y="3689351"/>
          <a:ext cx="294481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3" name="公式" r:id="rId9" imgW="1257199" imgH="400140" progId="Equation.3">
                  <p:embed/>
                </p:oleObj>
              </mc:Choice>
              <mc:Fallback>
                <p:oleObj name="公式" r:id="rId9" imgW="1257199" imgH="400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938" y="3689351"/>
                        <a:ext cx="2944812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AutoShape 13"/>
          <p:cNvSpPr>
            <a:spLocks noChangeArrowheads="1"/>
          </p:cNvSpPr>
          <p:nvPr/>
        </p:nvSpPr>
        <p:spPr bwMode="auto">
          <a:xfrm>
            <a:off x="2057400" y="4724400"/>
            <a:ext cx="2590800" cy="1295400"/>
          </a:xfrm>
          <a:prstGeom prst="cloudCallout">
            <a:avLst>
              <a:gd name="adj1" fmla="val 116727"/>
              <a:gd name="adj2" fmla="val -99634"/>
            </a:avLst>
          </a:prstGeom>
          <a:gradFill rotWithShape="0">
            <a:gsLst>
              <a:gs pos="0">
                <a:srgbClr val="FFFFFF"/>
              </a:gs>
              <a:gs pos="100000">
                <a:srgbClr val="33CCFF"/>
              </a:gs>
            </a:gsLst>
            <a:lin ang="5400000" scaled="1"/>
          </a:gradFill>
          <a:ln w="28575">
            <a:solidFill>
              <a:srgbClr val="FF7C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>
                <a:solidFill>
                  <a:srgbClr val="000066"/>
                </a:solidFill>
              </a:rPr>
              <a:t> </a:t>
            </a:r>
            <a:r>
              <a:rPr lang="zh-CN" altLang="en-US" sz="2800">
                <a:solidFill>
                  <a:srgbClr val="000066"/>
                </a:solidFill>
                <a:ea typeface="楷体_GB2312" charset="-122"/>
              </a:rPr>
              <a:t>注意下限的确定</a:t>
            </a:r>
          </a:p>
        </p:txBody>
      </p:sp>
      <p:sp>
        <p:nvSpPr>
          <p:cNvPr id="8" name="矩形 7"/>
          <p:cNvSpPr/>
          <p:nvPr/>
        </p:nvSpPr>
        <p:spPr>
          <a:xfrm>
            <a:off x="6357720" y="451222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87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504</Words>
  <Application>Microsoft Office PowerPoint</Application>
  <PresentationFormat>宽屏</PresentationFormat>
  <Paragraphs>106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等线</vt:lpstr>
      <vt:lpstr>黑体</vt:lpstr>
      <vt:lpstr>楷体_GB2312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公式</vt:lpstr>
      <vt:lpstr>Equation</vt:lpstr>
      <vt:lpstr>第五次作业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zhcy</dc:creator>
  <cp:lastModifiedBy>Windows 用户</cp:lastModifiedBy>
  <cp:revision>50</cp:revision>
  <cp:lastPrinted>2019-10-21T04:35:32Z</cp:lastPrinted>
  <dcterms:created xsi:type="dcterms:W3CDTF">2016-10-31T02:20:06Z</dcterms:created>
  <dcterms:modified xsi:type="dcterms:W3CDTF">2019-10-21T04:36:34Z</dcterms:modified>
</cp:coreProperties>
</file>