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4"/>
  </p:notesMasterIdLst>
  <p:handoutMasterIdLst>
    <p:handoutMasterId r:id="rId5"/>
  </p:handoutMasterIdLst>
  <p:sldIdLst>
    <p:sldId id="633" r:id="rId2"/>
    <p:sldId id="614" r:id="rId3"/>
  </p:sldIdLst>
  <p:sldSz cx="9144000" cy="6858000" type="screen4x3"/>
  <p:notesSz cx="9947275" cy="6858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>
          <p15:clr>
            <a:srgbClr val="A4A3A4"/>
          </p15:clr>
        </p15:guide>
        <p15:guide id="2" pos="1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99"/>
    <a:srgbClr val="802B00"/>
    <a:srgbClr val="FFCC00"/>
    <a:srgbClr val="CCCC00"/>
    <a:srgbClr val="CC6600"/>
    <a:srgbClr val="FFFFCC"/>
    <a:srgbClr val="3399FF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4690" autoAdjust="0"/>
  </p:normalViewPr>
  <p:slideViewPr>
    <p:cSldViewPr>
      <p:cViewPr varScale="1">
        <p:scale>
          <a:sx n="96" d="100"/>
          <a:sy n="96" d="100"/>
        </p:scale>
        <p:origin x="1156" y="56"/>
      </p:cViewPr>
      <p:guideLst>
        <p:guide orient="horz" pos="144"/>
        <p:guide pos="1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CB433-0540-4DBC-BBAD-F43A7EA613C8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A1118-DEA8-48E0-84C3-312C2CA0B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770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10486" cy="3429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6789" y="0"/>
            <a:ext cx="4310486" cy="3429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59138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6304" y="3257550"/>
            <a:ext cx="7294668" cy="30861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4310486" cy="3429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6789" y="6515100"/>
            <a:ext cx="4310486" cy="3429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321A43B-1D64-4601-A194-B5F515E30D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7526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9A00028-15A6-4742-8830-042BA458776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117664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3C7625C-FA11-4CC0-AB5F-5B623F03473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080250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3FC25A3-42D6-43CE-A712-49854E4D985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169465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A7E55F2-E482-4921-8531-03D56B406FA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044594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A0E7D19-BBD2-4446-AEAC-7D27F423A2D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364475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36A31D5-A0CB-4CE1-9B97-7819CFE515D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740142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C5D40DF-451C-4A02-8FD0-877F1B73F7E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222593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CF1D115-8FBE-45EB-BF87-38AA2277A19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674718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66359EF-C8CF-4139-B9D8-074A7FF9326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422977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50C853B-A1CE-4F9C-BA95-AEAF8C8E5E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324068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181640A-376F-4428-B697-8A2D3FF0831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906294"/>
      </p:ext>
    </p:extLst>
  </p:cSld>
  <p:clrMapOvr>
    <a:masterClrMapping/>
  </p:clrMapOvr>
  <p:transition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00"/>
                </a:solidFill>
              </a:defRPr>
            </a:lvl1pPr>
          </a:lstStyle>
          <a:p>
            <a:pPr>
              <a:defRPr/>
            </a:pPr>
            <a:fld id="{5181640A-376F-4428-B697-8A2D3FF0831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100123"/>
      </p:ext>
    </p:extLst>
  </p:cSld>
  <p:clrMapOvr>
    <a:masterClrMapping/>
  </p:clrMapOvr>
  <p:transition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0" y="4953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41905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3733800" cy="3352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3733800" cy="1600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048000"/>
            <a:ext cx="3733800" cy="1600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99567-89B7-4667-BAA3-7A5F9F45F65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900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tx1"/>
                </a:solidFill>
                <a:latin typeface="+mn-lt"/>
                <a:ea typeface="文鼎粗圆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tx1"/>
                </a:solidFill>
                <a:latin typeface="+mn-lt"/>
                <a:ea typeface="文鼎粗圆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solidFill>
                  <a:srgbClr val="FFFF00"/>
                </a:solidFill>
                <a:latin typeface="Times New Roman" panose="02020603050405020304" pitchFamily="18" charset="0"/>
                <a:ea typeface="文鼎粗圆" pitchFamily="49" charset="-122"/>
              </a:defRPr>
            </a:lvl1pPr>
          </a:lstStyle>
          <a:p>
            <a:pPr>
              <a:defRPr/>
            </a:pPr>
            <a:fld id="{5181640A-376F-4428-B697-8A2D3FF0831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Box 6"/>
          <p:cNvSpPr txBox="1"/>
          <p:nvPr/>
        </p:nvSpPr>
        <p:spPr>
          <a:xfrm>
            <a:off x="8715404" y="6357958"/>
            <a:ext cx="428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F25D349-C29D-46D2-8A83-8953848272E9}" type="slidenum">
              <a:rPr lang="zh-CN" altLang="en-US" sz="1400" smtClean="0">
                <a:solidFill>
                  <a:srgbClr val="FFFF00"/>
                </a:solidFill>
              </a:rPr>
              <a:t>‹#›</a:t>
            </a:fld>
            <a:endParaRPr lang="zh-CN" altLang="en-US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522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80" r:id="rId13"/>
    <p:sldLayoutId id="2147483681" r:id="rId14"/>
  </p:sldLayoutIdLst>
  <p:transition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22776" y="595713"/>
            <a:ext cx="8317094" cy="1719285"/>
            <a:chOff x="214" y="318"/>
            <a:chExt cx="5019" cy="1011"/>
          </a:xfrm>
        </p:grpSpPr>
        <p:sp>
          <p:nvSpPr>
            <p:cNvPr id="36873" name="Rectangle 10"/>
            <p:cNvSpPr>
              <a:spLocks noChangeArrowheads="1"/>
            </p:cNvSpPr>
            <p:nvPr/>
          </p:nvSpPr>
          <p:spPr bwMode="auto">
            <a:xfrm>
              <a:off x="699" y="318"/>
              <a:ext cx="314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accent2"/>
                  </a:solidFill>
                </a:rPr>
                <a:t>设随机变量</a:t>
              </a:r>
              <a:r>
                <a:rPr lang="en-US" altLang="zh-CN" sz="2400" i="1" dirty="0">
                  <a:solidFill>
                    <a:schemeClr val="accent2"/>
                  </a:solidFill>
                </a:rPr>
                <a:t>X </a:t>
              </a:r>
              <a:r>
                <a:rPr lang="zh-CN" altLang="en-US" sz="2400" dirty="0">
                  <a:solidFill>
                    <a:schemeClr val="accent2"/>
                  </a:solidFill>
                </a:rPr>
                <a:t>的概率密度为</a:t>
              </a:r>
            </a:p>
          </p:txBody>
        </p:sp>
        <p:sp>
          <p:nvSpPr>
            <p:cNvPr id="36874" name="Rectangle 11"/>
            <p:cNvSpPr>
              <a:spLocks noChangeArrowheads="1"/>
            </p:cNvSpPr>
            <p:nvPr/>
          </p:nvSpPr>
          <p:spPr bwMode="auto">
            <a:xfrm>
              <a:off x="214" y="361"/>
              <a:ext cx="528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 smtClean="0">
                  <a:solidFill>
                    <a:srgbClr val="0000FF"/>
                  </a:solidFill>
                  <a:latin typeface="楷体_GB2312" pitchFamily="49" charset="-122"/>
                </a:rPr>
                <a:t>1</a:t>
              </a:r>
              <a:endParaRPr lang="en-US" altLang="zh-CN" sz="3600" b="1" dirty="0">
                <a:solidFill>
                  <a:srgbClr val="0000FF"/>
                </a:solidFill>
              </a:endParaRPr>
            </a:p>
          </p:txBody>
        </p:sp>
        <p:sp>
          <p:nvSpPr>
            <p:cNvPr id="36875" name="Text Box 12"/>
            <p:cNvSpPr txBox="1">
              <a:spLocks noChangeArrowheads="1"/>
            </p:cNvSpPr>
            <p:nvPr/>
          </p:nvSpPr>
          <p:spPr bwMode="auto">
            <a:xfrm>
              <a:off x="3596" y="686"/>
              <a:ext cx="1637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求 </a:t>
              </a:r>
              <a:r>
                <a:rPr lang="en-US" altLang="zh-CN" sz="2400" i="1">
                  <a:solidFill>
                    <a:schemeClr val="accent2"/>
                  </a:solidFill>
                </a:rPr>
                <a:t>E </a:t>
              </a:r>
              <a:r>
                <a:rPr lang="en-US" altLang="zh-CN" sz="2400">
                  <a:solidFill>
                    <a:schemeClr val="accent2"/>
                  </a:solidFill>
                </a:rPr>
                <a:t>( 1 / </a:t>
              </a:r>
              <a:r>
                <a:rPr lang="en-US" altLang="zh-CN" sz="2400" i="1">
                  <a:solidFill>
                    <a:schemeClr val="accent2"/>
                  </a:solidFill>
                </a:rPr>
                <a:t>X </a:t>
              </a:r>
              <a:r>
                <a:rPr lang="en-US" altLang="zh-CN" sz="2400">
                  <a:solidFill>
                    <a:schemeClr val="accent2"/>
                  </a:solidFill>
                </a:rPr>
                <a:t>)</a:t>
              </a:r>
              <a:r>
                <a:rPr lang="zh-CN" altLang="en-US" sz="2400">
                  <a:solidFill>
                    <a:schemeClr val="accent2"/>
                  </a:solidFill>
                </a:rPr>
                <a:t>。</a:t>
              </a:r>
            </a:p>
          </p:txBody>
        </p:sp>
        <p:graphicFrame>
          <p:nvGraphicFramePr>
            <p:cNvPr id="36876" name="Object 13"/>
            <p:cNvGraphicFramePr>
              <a:graphicFrameLocks noChangeAspect="1"/>
            </p:cNvGraphicFramePr>
            <p:nvPr/>
          </p:nvGraphicFramePr>
          <p:xfrm>
            <a:off x="1251" y="641"/>
            <a:ext cx="2226" cy="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15" name="Equation" r:id="rId4" imgW="76495165" imgH="26203230" progId="Equation.DSMT4">
                    <p:embed/>
                  </p:oleObj>
                </mc:Choice>
                <mc:Fallback>
                  <p:oleObj name="Equation" r:id="rId4" imgW="76495165" imgH="2620323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1" y="641"/>
                          <a:ext cx="2226" cy="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550514"/>
              </p:ext>
            </p:extLst>
          </p:nvPr>
        </p:nvGraphicFramePr>
        <p:xfrm>
          <a:off x="107504" y="2349448"/>
          <a:ext cx="6505095" cy="2155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16" name="Document" r:id="rId6" imgW="3344712" imgH="1096957" progId="Word.Document.8">
                  <p:embed/>
                </p:oleObj>
              </mc:Choice>
              <mc:Fallback>
                <p:oleObj name="Document" r:id="rId6" imgW="3344712" imgH="1096957" progId="Word.Document.8">
                  <p:embed/>
                  <p:pic>
                    <p:nvPicPr>
                      <p:cNvPr id="378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2349448"/>
                        <a:ext cx="6505095" cy="215537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79512" y="4581128"/>
            <a:ext cx="8784976" cy="147662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 smtClean="0"/>
              <a:t>3. </a:t>
            </a:r>
            <a:r>
              <a:rPr lang="zh-CN" altLang="en-GB" sz="2000" dirty="0" smtClean="0"/>
              <a:t>一</a:t>
            </a:r>
            <a:r>
              <a:rPr lang="zh-CN" altLang="en-GB" sz="2000" dirty="0"/>
              <a:t>商店经销某种商品</a:t>
            </a:r>
            <a:r>
              <a:rPr lang="en-GB" altLang="zh-CN" sz="2000" dirty="0"/>
              <a:t>,</a:t>
            </a:r>
            <a:r>
              <a:rPr lang="zh-CN" altLang="en-GB" sz="2000" dirty="0"/>
              <a:t>每周进货的数量</a:t>
            </a:r>
            <a:r>
              <a:rPr lang="en-GB" altLang="zh-CN" sz="2000" i="1" dirty="0"/>
              <a:t>X</a:t>
            </a:r>
            <a:r>
              <a:rPr lang="zh-CN" altLang="en-GB" sz="2000" dirty="0"/>
              <a:t>与顾客对该种商品的需求量</a:t>
            </a:r>
            <a:r>
              <a:rPr lang="en-GB" altLang="zh-CN" sz="2000" i="1" dirty="0"/>
              <a:t>Y</a:t>
            </a:r>
            <a:r>
              <a:rPr lang="zh-CN" altLang="en-GB" sz="2000" dirty="0"/>
              <a:t>是相互独立的随机变量</a:t>
            </a:r>
            <a:r>
              <a:rPr lang="en-GB" altLang="zh-CN" sz="2000" dirty="0"/>
              <a:t>,</a:t>
            </a:r>
            <a:r>
              <a:rPr lang="zh-CN" altLang="en-GB" sz="2000" dirty="0"/>
              <a:t>且都服从区间</a:t>
            </a:r>
            <a:r>
              <a:rPr lang="en-GB" altLang="zh-CN" sz="2000" dirty="0"/>
              <a:t>[10,20]</a:t>
            </a:r>
            <a:r>
              <a:rPr lang="zh-CN" altLang="en-GB" sz="2000" dirty="0"/>
              <a:t>上的均匀分布</a:t>
            </a:r>
            <a:r>
              <a:rPr lang="en-GB" altLang="zh-CN" sz="2000" dirty="0"/>
              <a:t>.</a:t>
            </a:r>
            <a:r>
              <a:rPr lang="zh-CN" altLang="en-GB" sz="2000" dirty="0"/>
              <a:t>商</a:t>
            </a:r>
            <a:r>
              <a:rPr lang="zh-CN" altLang="en-US" sz="2000" dirty="0"/>
              <a:t>店</a:t>
            </a:r>
            <a:r>
              <a:rPr lang="zh-CN" altLang="en-GB" sz="2000" dirty="0"/>
              <a:t>每</a:t>
            </a:r>
            <a:r>
              <a:rPr lang="zh-CN" altLang="en-GB" sz="2000" dirty="0">
                <a:solidFill>
                  <a:srgbClr val="FF0000"/>
                </a:solidFill>
              </a:rPr>
              <a:t>售出一单位商品</a:t>
            </a:r>
            <a:r>
              <a:rPr lang="zh-CN" altLang="en-GB" sz="2000" dirty="0"/>
              <a:t>可得利润</a:t>
            </a:r>
            <a:r>
              <a:rPr lang="en-GB" altLang="zh-CN" sz="2000" dirty="0"/>
              <a:t>1000</a:t>
            </a:r>
            <a:r>
              <a:rPr lang="zh-CN" altLang="en-GB" sz="2000" dirty="0"/>
              <a:t>元</a:t>
            </a:r>
            <a:r>
              <a:rPr lang="en-GB" altLang="zh-CN" sz="2000" dirty="0"/>
              <a:t>;</a:t>
            </a:r>
            <a:r>
              <a:rPr lang="zh-CN" altLang="en-GB" sz="2000" dirty="0"/>
              <a:t>若需求量</a:t>
            </a:r>
            <a:r>
              <a:rPr lang="zh-CN" altLang="en-GB" sz="2000" dirty="0">
                <a:solidFill>
                  <a:srgbClr val="FF0000"/>
                </a:solidFill>
              </a:rPr>
              <a:t>超过了进货</a:t>
            </a:r>
            <a:r>
              <a:rPr lang="zh-CN" altLang="en-GB" sz="2000" dirty="0"/>
              <a:t>量</a:t>
            </a:r>
            <a:r>
              <a:rPr lang="en-GB" altLang="zh-CN" sz="2000" dirty="0"/>
              <a:t>,</a:t>
            </a:r>
            <a:r>
              <a:rPr lang="zh-CN" altLang="en-GB" sz="2000" dirty="0"/>
              <a:t>商店可从其它商店调剂供应</a:t>
            </a:r>
            <a:r>
              <a:rPr lang="en-GB" altLang="zh-CN" sz="2000" dirty="0"/>
              <a:t>,</a:t>
            </a:r>
            <a:r>
              <a:rPr lang="zh-CN" altLang="en-GB" sz="2000" dirty="0"/>
              <a:t>这时每单位商品获利润为</a:t>
            </a:r>
            <a:r>
              <a:rPr lang="en-GB" altLang="zh-CN" sz="2000" dirty="0"/>
              <a:t>200</a:t>
            </a:r>
            <a:r>
              <a:rPr lang="zh-CN" altLang="en-GB" sz="2000" dirty="0"/>
              <a:t>元</a:t>
            </a:r>
            <a:r>
              <a:rPr lang="en-GB" altLang="zh-CN" sz="2000" dirty="0"/>
              <a:t>,</a:t>
            </a:r>
            <a:r>
              <a:rPr lang="zh-CN" altLang="en-GB" sz="2000" dirty="0"/>
              <a:t>试计算此商店经销该种商品每周所得利润的期望值</a:t>
            </a:r>
            <a:r>
              <a:rPr lang="en-GB" altLang="zh-CN" sz="2000" dirty="0"/>
              <a:t>. </a:t>
            </a:r>
            <a:endParaRPr lang="en-US" altLang="zh-CN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899592" y="586518"/>
            <a:ext cx="505779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000" dirty="0">
                <a:ea typeface="楷体_GB2312" pitchFamily="49" charset="-122"/>
              </a:rPr>
              <a:t>据统计65岁的人在</a:t>
            </a:r>
            <a:r>
              <a:rPr lang="zh-CN" altLang="en-US" sz="2000" dirty="0" smtClean="0">
                <a:ea typeface="楷体_GB2312" pitchFamily="49" charset="-122"/>
              </a:rPr>
              <a:t>10年内活着活着正常死亡</a:t>
            </a:r>
            <a:endParaRPr lang="en-US" altLang="zh-CN" sz="2000" dirty="0" smtClean="0"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000" dirty="0" smtClean="0">
                <a:ea typeface="楷体_GB2312" pitchFamily="49" charset="-122"/>
              </a:rPr>
              <a:t>的</a:t>
            </a:r>
            <a:r>
              <a:rPr lang="zh-CN" altLang="en-US" sz="2000" dirty="0">
                <a:ea typeface="楷体_GB2312" pitchFamily="49" charset="-122"/>
              </a:rPr>
              <a:t>概率为0. 98, 因事故死亡概率为0.02</a:t>
            </a:r>
            <a:r>
              <a:rPr lang="zh-CN" altLang="en-US" sz="2000" dirty="0" smtClean="0">
                <a:ea typeface="楷体_GB2312" pitchFamily="49" charset="-122"/>
              </a:rPr>
              <a:t>.</a:t>
            </a:r>
            <a:endParaRPr lang="zh-CN" altLang="en-US" sz="2000" dirty="0">
              <a:ea typeface="楷体_GB2312" pitchFamily="49" charset="-122"/>
            </a:endParaRPr>
          </a:p>
        </p:txBody>
      </p:sp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273790" y="483200"/>
            <a:ext cx="3658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8246" name="Text Box 6"/>
          <p:cNvSpPr txBox="1">
            <a:spLocks noChangeArrowheads="1"/>
          </p:cNvSpPr>
          <p:nvPr/>
        </p:nvSpPr>
        <p:spPr bwMode="auto">
          <a:xfrm>
            <a:off x="142953" y="1656822"/>
            <a:ext cx="82638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ea typeface="楷体_GB2312" pitchFamily="49" charset="-122"/>
              </a:rPr>
              <a:t>保险公司</a:t>
            </a:r>
            <a:r>
              <a:rPr lang="zh-CN" altLang="en-US" sz="2400" dirty="0">
                <a:ea typeface="楷体_GB2312" pitchFamily="49" charset="-122"/>
              </a:rPr>
              <a:t>开办老人事故死亡保险, 参加者需交纳保险费100元</a:t>
            </a:r>
            <a:r>
              <a:rPr lang="zh-CN" altLang="en-US" sz="2400" dirty="0" smtClean="0">
                <a:ea typeface="楷体_GB2312" pitchFamily="49" charset="-122"/>
              </a:rPr>
              <a:t>.</a:t>
            </a:r>
            <a:endParaRPr lang="zh-CN" altLang="en-US" sz="2400" dirty="0">
              <a:ea typeface="楷体_GB2312" pitchFamily="49" charset="-122"/>
            </a:endParaRPr>
          </a:p>
        </p:txBody>
      </p:sp>
      <p:sp>
        <p:nvSpPr>
          <p:cNvPr id="138248" name="Text Box 8"/>
          <p:cNvSpPr txBox="1">
            <a:spLocks noChangeArrowheads="1"/>
          </p:cNvSpPr>
          <p:nvPr/>
        </p:nvSpPr>
        <p:spPr bwMode="auto">
          <a:xfrm>
            <a:off x="140654" y="2088970"/>
            <a:ext cx="88114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若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10 年内因事故死亡</a:t>
            </a:r>
            <a:r>
              <a:rPr lang="zh-CN" altLang="en-US" sz="2400" dirty="0">
                <a:ea typeface="楷体_GB2312" pitchFamily="49" charset="-122"/>
              </a:rPr>
              <a:t>公司赔偿</a:t>
            </a:r>
            <a:r>
              <a:rPr lang="en-US" altLang="zh-CN" sz="2400" i="1" dirty="0" smtClean="0">
                <a:ea typeface="楷体_GB2312" pitchFamily="49" charset="-122"/>
              </a:rPr>
              <a:t>a </a:t>
            </a:r>
            <a:r>
              <a:rPr lang="zh-CN" altLang="en-US" sz="2400" dirty="0">
                <a:ea typeface="楷体_GB2312" pitchFamily="49" charset="-122"/>
              </a:rPr>
              <a:t>元, 应如何定 </a:t>
            </a:r>
            <a:r>
              <a:rPr lang="en-US" altLang="zh-CN" sz="2400" i="1" dirty="0">
                <a:ea typeface="楷体_GB2312" pitchFamily="49" charset="-122"/>
              </a:rPr>
              <a:t>a , </a:t>
            </a:r>
            <a:r>
              <a:rPr lang="zh-CN" altLang="en-US" sz="2400" dirty="0">
                <a:ea typeface="楷体_GB2312" pitchFamily="49" charset="-122"/>
              </a:rPr>
              <a:t>才能使公司可期望获益;</a:t>
            </a:r>
          </a:p>
        </p:txBody>
      </p:sp>
      <p:sp>
        <p:nvSpPr>
          <p:cNvPr id="138249" name="Text Box 9"/>
          <p:cNvSpPr txBox="1">
            <a:spLocks noChangeArrowheads="1"/>
          </p:cNvSpPr>
          <p:nvPr/>
        </p:nvSpPr>
        <p:spPr bwMode="auto">
          <a:xfrm>
            <a:off x="1259632" y="2454857"/>
            <a:ext cx="53992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若有1000人投保, 公司期望总获益多少?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57175" y="3355292"/>
            <a:ext cx="88868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ea typeface="楷体_GB2312" pitchFamily="49" charset="-122"/>
              </a:rPr>
              <a:t>            设由自动线加工的某种零件的内径</a:t>
            </a:r>
            <a:r>
              <a:rPr lang="zh-CN" altLang="en-US" sz="2000" i="1" dirty="0">
                <a:ea typeface="楷体_GB2312" pitchFamily="49" charset="-122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</a:rPr>
              <a:t>X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(mm)~ 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</a:rPr>
              <a:t>N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,1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).</a:t>
            </a:r>
            <a:r>
              <a:rPr lang="zh-CN" altLang="en-US" sz="2000" dirty="0">
                <a:ea typeface="楷体_GB2312" pitchFamily="49" charset="-122"/>
              </a:rPr>
              <a:t>已知销售每个零件的利润</a:t>
            </a:r>
            <a:r>
              <a:rPr lang="en-US" altLang="zh-CN" sz="2000" i="1" dirty="0">
                <a:ea typeface="楷体_GB2312" pitchFamily="49" charset="-122"/>
              </a:rPr>
              <a:t>T </a:t>
            </a:r>
            <a:r>
              <a:rPr lang="en-US" altLang="zh-CN" sz="2000" dirty="0">
                <a:ea typeface="楷体_GB2312" pitchFamily="49" charset="-122"/>
              </a:rPr>
              <a:t>(</a:t>
            </a:r>
            <a:r>
              <a:rPr lang="zh-CN" altLang="en-US" sz="2000" dirty="0">
                <a:ea typeface="楷体_GB2312" pitchFamily="49" charset="-122"/>
              </a:rPr>
              <a:t>元)与销售零件的内径 </a:t>
            </a:r>
            <a:r>
              <a:rPr lang="en-US" altLang="zh-CN" sz="2000" i="1" dirty="0">
                <a:ea typeface="楷体_GB2312" pitchFamily="49" charset="-122"/>
              </a:rPr>
              <a:t>X </a:t>
            </a:r>
            <a:r>
              <a:rPr lang="zh-CN" altLang="en-US" sz="2000" dirty="0">
                <a:ea typeface="楷体_GB2312" pitchFamily="49" charset="-122"/>
              </a:rPr>
              <a:t>有如下的关系：</a:t>
            </a: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491507"/>
              </p:ext>
            </p:extLst>
          </p:nvPr>
        </p:nvGraphicFramePr>
        <p:xfrm>
          <a:off x="1846528" y="4097268"/>
          <a:ext cx="2328920" cy="1130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3" name="Equation" r:id="rId4" imgW="1371735" imgH="609660" progId="Equation.DSMT4">
                  <p:embed/>
                </p:oleObj>
              </mc:Choice>
              <mc:Fallback>
                <p:oleObj name="Equation" r:id="rId4" imgW="1371735" imgH="609660" progId="Equation.DSMT4">
                  <p:embed/>
                  <p:pic>
                    <p:nvPicPr>
                      <p:cNvPr id="1433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528" y="4097268"/>
                        <a:ext cx="2328920" cy="11305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59024" y="5227851"/>
            <a:ext cx="85788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ea typeface="楷体_GB2312" pitchFamily="49" charset="-122"/>
              </a:rPr>
              <a:t>问平均直径</a:t>
            </a:r>
            <a:r>
              <a:rPr lang="zh-CN" altLang="en-US" sz="2000" i="1" dirty="0">
                <a:ea typeface="楷体_GB2312" pitchFamily="49" charset="-122"/>
              </a:rPr>
              <a:t> </a:t>
            </a:r>
            <a:r>
              <a:rPr lang="zh-CN" altLang="en-US" sz="2000" i="1" dirty="0"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zh-CN" altLang="en-US" sz="2000" dirty="0">
                <a:ea typeface="楷体_GB2312" pitchFamily="49" charset="-122"/>
                <a:sym typeface="Symbol" panose="05050102010706020507" pitchFamily="18" charset="2"/>
              </a:rPr>
              <a:t>为何值时, 销售一个零件的平均利润最大？</a:t>
            </a:r>
            <a:endParaRPr lang="zh-CN" altLang="en-US" sz="2000" dirty="0">
              <a:ea typeface="楷体_GB2312" pitchFamily="49" charset="-122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215008" y="3360834"/>
            <a:ext cx="13319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autoUpdateAnimBg="0"/>
      <p:bldP spid="138244" grpId="0" autoUpdateAnimBg="0"/>
      <p:bldP spid="138246" grpId="0" autoUpdateAnimBg="0"/>
      <p:bldP spid="138248" grpId="0" autoUpdateAnimBg="0"/>
      <p:bldP spid="138249" grpId="0" autoUpdateAnimBg="0"/>
      <p:bldP spid="8" grpId="0" build="p" autoUpdateAnimBg="0"/>
      <p:bldP spid="10" grpId="0" autoUpdateAnimBg="0"/>
      <p:bldP spid="11" grpId="0" autoUpdateAnimBg="0"/>
    </p:bldLst>
  </p:timing>
</p:sld>
</file>

<file path=ppt/theme/theme1.xml><?xml version="1.0" encoding="utf-8"?>
<a:theme xmlns:a="http://schemas.openxmlformats.org/drawingml/2006/main" name="带编号主题">
  <a:themeElements>
    <a:clrScheme name="gjjy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jjy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gjjy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jjy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带编号主题" id="{E74A4B7F-94FD-43CE-8263-42BB3C351B48}" vid="{D543DBDC-2D13-448F-86E4-9000DF09A7C5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带编号主题</Template>
  <TotalTime>11910</TotalTime>
  <Words>243</Words>
  <Application>Microsoft Office PowerPoint</Application>
  <PresentationFormat>全屏显示(4:3)</PresentationFormat>
  <Paragraphs>14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黑体</vt:lpstr>
      <vt:lpstr>楷体_GB2312</vt:lpstr>
      <vt:lpstr>宋体</vt:lpstr>
      <vt:lpstr>文鼎粗圆</vt:lpstr>
      <vt:lpstr>Symbol</vt:lpstr>
      <vt:lpstr>Times New Roman</vt:lpstr>
      <vt:lpstr>Wingdings</vt:lpstr>
      <vt:lpstr>带编号主题</vt:lpstr>
      <vt:lpstr>Equation</vt:lpstr>
      <vt:lpstr>Document</vt:lpstr>
      <vt:lpstr>PowerPoint 演示文稿</vt:lpstr>
      <vt:lpstr> </vt:lpstr>
    </vt:vector>
  </TitlesOfParts>
  <Company>华中科技大学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概率论</dc:title>
  <dc:creator>梁敏</dc:creator>
  <cp:lastModifiedBy>Windows 用户</cp:lastModifiedBy>
  <cp:revision>580</cp:revision>
  <cp:lastPrinted>2019-10-28T07:05:04Z</cp:lastPrinted>
  <dcterms:created xsi:type="dcterms:W3CDTF">2002-08-23T01:14:32Z</dcterms:created>
  <dcterms:modified xsi:type="dcterms:W3CDTF">2021-11-05T04:16:41Z</dcterms:modified>
</cp:coreProperties>
</file>