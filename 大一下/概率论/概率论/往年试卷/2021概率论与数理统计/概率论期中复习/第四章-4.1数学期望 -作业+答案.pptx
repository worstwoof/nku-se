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6" r:id="rId1"/>
  </p:sldMasterIdLst>
  <p:notesMasterIdLst>
    <p:notesMasterId r:id="rId10"/>
  </p:notesMasterIdLst>
  <p:handoutMasterIdLst>
    <p:handoutMasterId r:id="rId11"/>
  </p:handoutMasterIdLst>
  <p:sldIdLst>
    <p:sldId id="633" r:id="rId2"/>
    <p:sldId id="614" r:id="rId3"/>
    <p:sldId id="641" r:id="rId4"/>
    <p:sldId id="642" r:id="rId5"/>
    <p:sldId id="644" r:id="rId6"/>
    <p:sldId id="646" r:id="rId7"/>
    <p:sldId id="632" r:id="rId8"/>
    <p:sldId id="622" r:id="rId9"/>
  </p:sldIdLst>
  <p:sldSz cx="9144000" cy="6858000" type="screen4x3"/>
  <p:notesSz cx="9947275" cy="6858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umimoji="1" sz="3200" kern="1200">
        <a:solidFill>
          <a:schemeClr val="accent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3200" kern="1200">
        <a:solidFill>
          <a:schemeClr val="accent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3200" kern="1200">
        <a:solidFill>
          <a:schemeClr val="accent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3200" kern="1200">
        <a:solidFill>
          <a:schemeClr val="accent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3200" kern="1200">
        <a:solidFill>
          <a:schemeClr val="accent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3200" kern="1200">
        <a:solidFill>
          <a:schemeClr val="accent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3200" kern="1200">
        <a:solidFill>
          <a:schemeClr val="accent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3200" kern="1200">
        <a:solidFill>
          <a:schemeClr val="accent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3200" kern="1200">
        <a:solidFill>
          <a:schemeClr val="accent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44">
          <p15:clr>
            <a:srgbClr val="A4A3A4"/>
          </p15:clr>
        </p15:guide>
        <p15:guide id="2" pos="14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showAnimation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333399"/>
    <a:srgbClr val="802B00"/>
    <a:srgbClr val="FFCC00"/>
    <a:srgbClr val="CCCC00"/>
    <a:srgbClr val="CC6600"/>
    <a:srgbClr val="FFFFCC"/>
    <a:srgbClr val="3399FF"/>
    <a:srgbClr val="9966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309" autoAdjust="0"/>
    <p:restoredTop sz="94690" autoAdjust="0"/>
  </p:normalViewPr>
  <p:slideViewPr>
    <p:cSldViewPr>
      <p:cViewPr varScale="1">
        <p:scale>
          <a:sx n="96" d="100"/>
          <a:sy n="96" d="100"/>
        </p:scale>
        <p:origin x="1156" y="56"/>
      </p:cViewPr>
      <p:guideLst>
        <p:guide orient="horz" pos="144"/>
        <p:guide pos="14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image" Target="../media/image2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emf"/><Relationship Id="rId1" Type="http://schemas.openxmlformats.org/officeDocument/2006/relationships/image" Target="../media/image2.emf"/><Relationship Id="rId6" Type="http://schemas.openxmlformats.org/officeDocument/2006/relationships/image" Target="../media/image10.emf"/><Relationship Id="rId5" Type="http://schemas.openxmlformats.org/officeDocument/2006/relationships/image" Target="../media/image9.wmf"/><Relationship Id="rId4" Type="http://schemas.openxmlformats.org/officeDocument/2006/relationships/image" Target="../media/image8.e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2" Type="http://schemas.openxmlformats.org/officeDocument/2006/relationships/image" Target="../media/image12.wmf"/><Relationship Id="rId1" Type="http://schemas.openxmlformats.org/officeDocument/2006/relationships/image" Target="../media/image11.wmf"/><Relationship Id="rId4" Type="http://schemas.openxmlformats.org/officeDocument/2006/relationships/image" Target="../media/image3.e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2" Type="http://schemas.openxmlformats.org/officeDocument/2006/relationships/image" Target="../media/image15.emf"/><Relationship Id="rId1" Type="http://schemas.openxmlformats.org/officeDocument/2006/relationships/image" Target="../media/image14.wmf"/><Relationship Id="rId5" Type="http://schemas.openxmlformats.org/officeDocument/2006/relationships/image" Target="../media/image18.wmf"/><Relationship Id="rId4" Type="http://schemas.openxmlformats.org/officeDocument/2006/relationships/image" Target="../media/image17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image" Target="../media/image20.emf"/><Relationship Id="rId1" Type="http://schemas.openxmlformats.org/officeDocument/2006/relationships/image" Target="../media/image19.emf"/><Relationship Id="rId5" Type="http://schemas.openxmlformats.org/officeDocument/2006/relationships/image" Target="../media/image23.wmf"/><Relationship Id="rId4" Type="http://schemas.openxmlformats.org/officeDocument/2006/relationships/image" Target="../media/image22.emf"/></Relationships>
</file>

<file path=ppt/drawings/_rels/vmlDrawing7.vml.rels><?xml version="1.0" encoding="UTF-8" standalone="yes"?>
<Relationships xmlns="http://schemas.openxmlformats.org/package/2006/relationships"><Relationship Id="rId8" Type="http://schemas.openxmlformats.org/officeDocument/2006/relationships/image" Target="../media/image31.emf"/><Relationship Id="rId3" Type="http://schemas.openxmlformats.org/officeDocument/2006/relationships/image" Target="../media/image26.emf"/><Relationship Id="rId7" Type="http://schemas.openxmlformats.org/officeDocument/2006/relationships/image" Target="../media/image30.emf"/><Relationship Id="rId2" Type="http://schemas.openxmlformats.org/officeDocument/2006/relationships/image" Target="../media/image25.emf"/><Relationship Id="rId1" Type="http://schemas.openxmlformats.org/officeDocument/2006/relationships/image" Target="../media/image5.emf"/><Relationship Id="rId6" Type="http://schemas.openxmlformats.org/officeDocument/2006/relationships/image" Target="../media/image29.emf"/><Relationship Id="rId11" Type="http://schemas.openxmlformats.org/officeDocument/2006/relationships/image" Target="../media/image34.emf"/><Relationship Id="rId5" Type="http://schemas.openxmlformats.org/officeDocument/2006/relationships/image" Target="../media/image28.wmf"/><Relationship Id="rId10" Type="http://schemas.openxmlformats.org/officeDocument/2006/relationships/image" Target="../media/image33.emf"/><Relationship Id="rId4" Type="http://schemas.openxmlformats.org/officeDocument/2006/relationships/image" Target="../media/image27.emf"/><Relationship Id="rId9" Type="http://schemas.openxmlformats.org/officeDocument/2006/relationships/image" Target="../media/image32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310486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5634487" y="1"/>
            <a:ext cx="4310486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ACB433-0540-4DBC-BBAD-F43A7EA613C8}" type="datetimeFigureOut">
              <a:rPr lang="zh-CN" altLang="en-US" smtClean="0"/>
              <a:t>2019/10/28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6513910"/>
            <a:ext cx="4310486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5634487" y="6513910"/>
            <a:ext cx="4310486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7A1118-DEA8-48E0-84C3-312C2CA0B9F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477018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310486" cy="3429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 sz="1200">
                <a:solidFill>
                  <a:schemeClr val="tx1"/>
                </a:solidFill>
                <a:effectLst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68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636789" y="0"/>
            <a:ext cx="4310486" cy="3429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 sz="1200">
                <a:solidFill>
                  <a:schemeClr val="tx1"/>
                </a:solidFill>
                <a:effectLst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259138" y="514350"/>
            <a:ext cx="3429000" cy="25717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68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326304" y="3257550"/>
            <a:ext cx="7294668" cy="30861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 smtClean="0"/>
              <a:t>单击此处编辑母版文本样式</a:t>
            </a:r>
          </a:p>
          <a:p>
            <a:pPr lvl="1"/>
            <a:r>
              <a:rPr lang="zh-CN" altLang="en-US" noProof="0" smtClean="0"/>
              <a:t>第二级</a:t>
            </a:r>
          </a:p>
          <a:p>
            <a:pPr lvl="2"/>
            <a:r>
              <a:rPr lang="zh-CN" altLang="en-US" noProof="0" smtClean="0"/>
              <a:t>第三级</a:t>
            </a:r>
          </a:p>
          <a:p>
            <a:pPr lvl="3"/>
            <a:r>
              <a:rPr lang="zh-CN" altLang="en-US" noProof="0" smtClean="0"/>
              <a:t>第四级</a:t>
            </a:r>
          </a:p>
          <a:p>
            <a:pPr lvl="4"/>
            <a:r>
              <a:rPr lang="zh-CN" altLang="en-US" noProof="0" smtClean="0"/>
              <a:t>第五级</a:t>
            </a:r>
          </a:p>
        </p:txBody>
      </p:sp>
      <p:sp>
        <p:nvSpPr>
          <p:cNvPr id="768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515100"/>
            <a:ext cx="4310486" cy="3429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 sz="1200">
                <a:solidFill>
                  <a:schemeClr val="tx1"/>
                </a:solidFill>
                <a:effectLst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68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36789" y="6515100"/>
            <a:ext cx="4310486" cy="3429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9321A43B-1D64-4601-A194-B5F515E30D1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575265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79A00028-15A6-4742-8830-042BA4587762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21176644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83C7625C-FA11-4CC0-AB5F-5B623F03473B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80802507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F3FC25A3-42D6-43CE-A712-49854E4D9858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31694657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9A7E55F2-E482-4921-8531-03D56B406FAE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40445948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9A0E7D19-BBD2-4446-AEAC-7D27F423A2D4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53644754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636A31D5-A0CB-4CE1-9B97-7819CFE515D7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27401425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9C5D40DF-451C-4A02-8FD0-877F1B73F7EA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52225932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3CF1D115-8FBE-45EB-BF87-38AA2277A19D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36747189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 smtClean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D66359EF-C8CF-4139-B9D8-074A7FF9326E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84229779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750C853B-A1CE-4F9C-BA95-AEAF8C8E5E53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83240682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5181640A-376F-4428-B697-8A2D3FF08319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98906294"/>
      </p:ext>
    </p:extLst>
  </p:cSld>
  <p:clrMapOvr>
    <a:masterClrMapping/>
  </p:clrMapOvr>
  <p:transition/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981200"/>
            <a:ext cx="3810000" cy="1981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8200" y="4114800"/>
            <a:ext cx="3810000" cy="1981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>
                <a:solidFill>
                  <a:srgbClr val="FFFF00"/>
                </a:solidFill>
              </a:defRPr>
            </a:lvl1pPr>
          </a:lstStyle>
          <a:p>
            <a:pPr>
              <a:defRPr/>
            </a:pPr>
            <a:fld id="{5181640A-376F-4428-B697-8A2D3FF08319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59100123"/>
      </p:ext>
    </p:extLst>
  </p:cSld>
  <p:clrMapOvr>
    <a:masterClrMapping/>
  </p:clrMapOvr>
  <p:transition/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>
  <p:cSld name="标题和文本在内容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00100" y="495300"/>
            <a:ext cx="7772400" cy="1143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8229600" cy="21859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3938588"/>
            <a:ext cx="8229600" cy="21875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7419053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152400"/>
            <a:ext cx="7620000" cy="8382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85800" y="1295400"/>
            <a:ext cx="3733800" cy="33528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572000" y="1295400"/>
            <a:ext cx="3733800" cy="1600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572000" y="3048000"/>
            <a:ext cx="3733800" cy="1600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>
          <a:xfrm>
            <a:off x="685800" y="63246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>
          <a:xfrm>
            <a:off x="3124200" y="63246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>
          <a:xfrm>
            <a:off x="6553200" y="63246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9899567-89B7-4667-BAA3-7A5F9F45F65C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290065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0">
          <a:blip r:embed="rId16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solidFill>
                  <a:schemeClr val="tx1"/>
                </a:solidFill>
                <a:latin typeface="+mn-lt"/>
                <a:ea typeface="文鼎粗圆" pitchFamily="49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solidFill>
                  <a:schemeClr val="tx1"/>
                </a:solidFill>
                <a:latin typeface="+mn-lt"/>
                <a:ea typeface="文鼎粗圆" pitchFamily="49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 smtClean="0">
                <a:solidFill>
                  <a:srgbClr val="FFFF00"/>
                </a:solidFill>
                <a:latin typeface="Times New Roman" panose="02020603050405020304" pitchFamily="18" charset="0"/>
                <a:ea typeface="文鼎粗圆" pitchFamily="49" charset="-122"/>
              </a:defRPr>
            </a:lvl1pPr>
          </a:lstStyle>
          <a:p>
            <a:pPr>
              <a:defRPr/>
            </a:pPr>
            <a:fld id="{5181640A-376F-4428-B697-8A2D3FF08319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TextBox 6"/>
          <p:cNvSpPr txBox="1"/>
          <p:nvPr/>
        </p:nvSpPr>
        <p:spPr>
          <a:xfrm>
            <a:off x="8715404" y="6357958"/>
            <a:ext cx="4285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4F25D349-C29D-46D2-8A83-8953848272E9}" type="slidenum">
              <a:rPr lang="zh-CN" altLang="en-US" sz="1400" smtClean="0">
                <a:solidFill>
                  <a:srgbClr val="FFFF00"/>
                </a:solidFill>
              </a:rPr>
              <a:t>‹#›</a:t>
            </a:fld>
            <a:endParaRPr lang="zh-CN" altLang="en-US" sz="14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45220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  <p:sldLayoutId id="2147483680" r:id="rId13"/>
    <p:sldLayoutId id="2147483681" r:id="rId14"/>
  </p:sldLayoutIdLst>
  <p:transition/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宋体" pitchFamily="2" charset="-122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宋体" pitchFamily="2" charset="-122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宋体" pitchFamily="2" charset="-122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宋体" pitchFamily="2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宋体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宋体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宋体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宋体" pitchFamily="2" charset="-122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3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2.emf"/><Relationship Id="rId4" Type="http://schemas.openxmlformats.org/officeDocument/2006/relationships/oleObject" Target="../embeddings/oleObject1.bin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5.emf"/><Relationship Id="rId4" Type="http://schemas.openxmlformats.org/officeDocument/2006/relationships/oleObject" Target="../embeddings/oleObject3.bin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.bin"/><Relationship Id="rId13" Type="http://schemas.openxmlformats.org/officeDocument/2006/relationships/image" Target="../media/image9.wmf"/><Relationship Id="rId3" Type="http://schemas.openxmlformats.org/officeDocument/2006/relationships/image" Target="../media/image4.png"/><Relationship Id="rId7" Type="http://schemas.openxmlformats.org/officeDocument/2006/relationships/image" Target="../media/image6.emf"/><Relationship Id="rId12" Type="http://schemas.openxmlformats.org/officeDocument/2006/relationships/oleObject" Target="../embeddings/oleObject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5.bin"/><Relationship Id="rId11" Type="http://schemas.openxmlformats.org/officeDocument/2006/relationships/image" Target="../media/image8.emf"/><Relationship Id="rId5" Type="http://schemas.openxmlformats.org/officeDocument/2006/relationships/image" Target="../media/image2.emf"/><Relationship Id="rId15" Type="http://schemas.openxmlformats.org/officeDocument/2006/relationships/image" Target="../media/image10.emf"/><Relationship Id="rId10" Type="http://schemas.openxmlformats.org/officeDocument/2006/relationships/oleObject" Target="../embeddings/oleObject7.bin"/><Relationship Id="rId4" Type="http://schemas.openxmlformats.org/officeDocument/2006/relationships/oleObject" Target="../embeddings/oleObject4.bin"/><Relationship Id="rId9" Type="http://schemas.openxmlformats.org/officeDocument/2006/relationships/image" Target="../media/image7.emf"/><Relationship Id="rId14" Type="http://schemas.openxmlformats.org/officeDocument/2006/relationships/oleObject" Target="../embeddings/oleObject9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.bin"/><Relationship Id="rId3" Type="http://schemas.openxmlformats.org/officeDocument/2006/relationships/image" Target="../media/image4.png"/><Relationship Id="rId7" Type="http://schemas.openxmlformats.org/officeDocument/2006/relationships/image" Target="../media/image12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11.bin"/><Relationship Id="rId11" Type="http://schemas.openxmlformats.org/officeDocument/2006/relationships/image" Target="../media/image3.emf"/><Relationship Id="rId5" Type="http://schemas.openxmlformats.org/officeDocument/2006/relationships/image" Target="../media/image11.wmf"/><Relationship Id="rId10" Type="http://schemas.openxmlformats.org/officeDocument/2006/relationships/oleObject" Target="../embeddings/oleObject13.bin"/><Relationship Id="rId4" Type="http://schemas.openxmlformats.org/officeDocument/2006/relationships/oleObject" Target="../embeddings/oleObject10.bin"/><Relationship Id="rId9" Type="http://schemas.openxmlformats.org/officeDocument/2006/relationships/image" Target="../media/image13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.bin"/><Relationship Id="rId13" Type="http://schemas.openxmlformats.org/officeDocument/2006/relationships/image" Target="../media/image18.wmf"/><Relationship Id="rId3" Type="http://schemas.openxmlformats.org/officeDocument/2006/relationships/image" Target="../media/image4.png"/><Relationship Id="rId7" Type="http://schemas.openxmlformats.org/officeDocument/2006/relationships/image" Target="../media/image15.emf"/><Relationship Id="rId12" Type="http://schemas.openxmlformats.org/officeDocument/2006/relationships/oleObject" Target="../embeddings/oleObject1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15.bin"/><Relationship Id="rId11" Type="http://schemas.openxmlformats.org/officeDocument/2006/relationships/image" Target="../media/image17.wmf"/><Relationship Id="rId5" Type="http://schemas.openxmlformats.org/officeDocument/2006/relationships/image" Target="../media/image14.wmf"/><Relationship Id="rId10" Type="http://schemas.openxmlformats.org/officeDocument/2006/relationships/oleObject" Target="../embeddings/oleObject17.bin"/><Relationship Id="rId4" Type="http://schemas.openxmlformats.org/officeDocument/2006/relationships/oleObject" Target="../embeddings/oleObject14.bin"/><Relationship Id="rId9" Type="http://schemas.openxmlformats.org/officeDocument/2006/relationships/image" Target="../media/image16.wmf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1.bin"/><Relationship Id="rId13" Type="http://schemas.openxmlformats.org/officeDocument/2006/relationships/image" Target="../media/image23.wmf"/><Relationship Id="rId3" Type="http://schemas.openxmlformats.org/officeDocument/2006/relationships/image" Target="../media/image4.png"/><Relationship Id="rId7" Type="http://schemas.openxmlformats.org/officeDocument/2006/relationships/image" Target="../media/image20.emf"/><Relationship Id="rId12" Type="http://schemas.openxmlformats.org/officeDocument/2006/relationships/oleObject" Target="../embeddings/oleObject2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20.bin"/><Relationship Id="rId11" Type="http://schemas.openxmlformats.org/officeDocument/2006/relationships/image" Target="../media/image22.emf"/><Relationship Id="rId5" Type="http://schemas.openxmlformats.org/officeDocument/2006/relationships/image" Target="../media/image19.emf"/><Relationship Id="rId10" Type="http://schemas.openxmlformats.org/officeDocument/2006/relationships/oleObject" Target="../embeddings/oleObject22.bin"/><Relationship Id="rId4" Type="http://schemas.openxmlformats.org/officeDocument/2006/relationships/oleObject" Target="../embeddings/oleObject19.bin"/><Relationship Id="rId9" Type="http://schemas.openxmlformats.org/officeDocument/2006/relationships/image" Target="../media/image21.emf"/><Relationship Id="rId14" Type="http://schemas.openxmlformats.org/officeDocument/2006/relationships/image" Target="../media/image24.jpe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emf"/><Relationship Id="rId13" Type="http://schemas.openxmlformats.org/officeDocument/2006/relationships/oleObject" Target="../embeddings/oleObject27.bin"/><Relationship Id="rId18" Type="http://schemas.openxmlformats.org/officeDocument/2006/relationships/oleObject" Target="../embeddings/oleObject29.bin"/><Relationship Id="rId26" Type="http://schemas.openxmlformats.org/officeDocument/2006/relationships/oleObject" Target="../embeddings/oleObject33.bin"/><Relationship Id="rId3" Type="http://schemas.openxmlformats.org/officeDocument/2006/relationships/image" Target="../media/image4.png"/><Relationship Id="rId21" Type="http://schemas.openxmlformats.org/officeDocument/2006/relationships/image" Target="../media/image31.emf"/><Relationship Id="rId7" Type="http://schemas.openxmlformats.org/officeDocument/2006/relationships/oleObject" Target="../embeddings/oleObject24.bin"/><Relationship Id="rId12" Type="http://schemas.openxmlformats.org/officeDocument/2006/relationships/image" Target="../media/image27.emf"/><Relationship Id="rId17" Type="http://schemas.openxmlformats.org/officeDocument/2006/relationships/image" Target="../media/image29.emf"/><Relationship Id="rId25" Type="http://schemas.openxmlformats.org/officeDocument/2006/relationships/image" Target="../media/image33.e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28.bin"/><Relationship Id="rId20" Type="http://schemas.openxmlformats.org/officeDocument/2006/relationships/oleObject" Target="../embeddings/oleObject30.bin"/><Relationship Id="rId1" Type="http://schemas.openxmlformats.org/officeDocument/2006/relationships/vmlDrawing" Target="../drawings/vmlDrawing7.vml"/><Relationship Id="rId6" Type="http://schemas.openxmlformats.org/officeDocument/2006/relationships/image" Target="../media/image35.jpeg"/><Relationship Id="rId11" Type="http://schemas.openxmlformats.org/officeDocument/2006/relationships/oleObject" Target="../embeddings/oleObject26.bin"/><Relationship Id="rId24" Type="http://schemas.openxmlformats.org/officeDocument/2006/relationships/oleObject" Target="../embeddings/oleObject32.bin"/><Relationship Id="rId5" Type="http://schemas.openxmlformats.org/officeDocument/2006/relationships/image" Target="../media/image5.emf"/><Relationship Id="rId15" Type="http://schemas.openxmlformats.org/officeDocument/2006/relationships/image" Target="../media/image36.png"/><Relationship Id="rId23" Type="http://schemas.openxmlformats.org/officeDocument/2006/relationships/image" Target="../media/image32.emf"/><Relationship Id="rId10" Type="http://schemas.openxmlformats.org/officeDocument/2006/relationships/image" Target="../media/image26.emf"/><Relationship Id="rId19" Type="http://schemas.openxmlformats.org/officeDocument/2006/relationships/image" Target="../media/image30.emf"/><Relationship Id="rId4" Type="http://schemas.openxmlformats.org/officeDocument/2006/relationships/oleObject" Target="../embeddings/oleObject3.bin"/><Relationship Id="rId9" Type="http://schemas.openxmlformats.org/officeDocument/2006/relationships/oleObject" Target="../embeddings/oleObject25.bin"/><Relationship Id="rId14" Type="http://schemas.openxmlformats.org/officeDocument/2006/relationships/image" Target="../media/image28.wmf"/><Relationship Id="rId22" Type="http://schemas.openxmlformats.org/officeDocument/2006/relationships/oleObject" Target="../embeddings/oleObject31.bin"/><Relationship Id="rId27" Type="http://schemas.openxmlformats.org/officeDocument/2006/relationships/image" Target="../media/image34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9"/>
          <p:cNvGrpSpPr>
            <a:grpSpLocks/>
          </p:cNvGrpSpPr>
          <p:nvPr/>
        </p:nvGrpSpPr>
        <p:grpSpPr bwMode="auto">
          <a:xfrm>
            <a:off x="322776" y="595713"/>
            <a:ext cx="8317094" cy="1719285"/>
            <a:chOff x="214" y="318"/>
            <a:chExt cx="5019" cy="1011"/>
          </a:xfrm>
        </p:grpSpPr>
        <p:sp>
          <p:nvSpPr>
            <p:cNvPr id="36873" name="Rectangle 10"/>
            <p:cNvSpPr>
              <a:spLocks noChangeArrowheads="1"/>
            </p:cNvSpPr>
            <p:nvPr/>
          </p:nvSpPr>
          <p:spPr bwMode="auto">
            <a:xfrm>
              <a:off x="699" y="318"/>
              <a:ext cx="3143" cy="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25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400" dirty="0">
                  <a:solidFill>
                    <a:schemeClr val="accent2"/>
                  </a:solidFill>
                </a:rPr>
                <a:t>设随机变量</a:t>
              </a:r>
              <a:r>
                <a:rPr lang="en-US" altLang="zh-CN" sz="2400" i="1" dirty="0">
                  <a:solidFill>
                    <a:schemeClr val="accent2"/>
                  </a:solidFill>
                </a:rPr>
                <a:t>X </a:t>
              </a:r>
              <a:r>
                <a:rPr lang="zh-CN" altLang="en-US" sz="2400" dirty="0">
                  <a:solidFill>
                    <a:schemeClr val="accent2"/>
                  </a:solidFill>
                </a:rPr>
                <a:t>的概率密度为</a:t>
              </a:r>
            </a:p>
          </p:txBody>
        </p:sp>
        <p:sp>
          <p:nvSpPr>
            <p:cNvPr id="36874" name="Rectangle 11"/>
            <p:cNvSpPr>
              <a:spLocks noChangeArrowheads="1"/>
            </p:cNvSpPr>
            <p:nvPr/>
          </p:nvSpPr>
          <p:spPr bwMode="auto">
            <a:xfrm>
              <a:off x="214" y="361"/>
              <a:ext cx="528" cy="3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1" dirty="0" smtClean="0">
                  <a:solidFill>
                    <a:srgbClr val="0000FF"/>
                  </a:solidFill>
                  <a:latin typeface="楷体_GB2312" pitchFamily="49" charset="-122"/>
                </a:rPr>
                <a:t>1</a:t>
              </a:r>
              <a:endParaRPr lang="en-US" altLang="zh-CN" sz="3600" b="1" dirty="0">
                <a:solidFill>
                  <a:srgbClr val="0000FF"/>
                </a:solidFill>
              </a:endParaRPr>
            </a:p>
          </p:txBody>
        </p:sp>
        <p:sp>
          <p:nvSpPr>
            <p:cNvPr id="36875" name="Text Box 12"/>
            <p:cNvSpPr txBox="1">
              <a:spLocks noChangeArrowheads="1"/>
            </p:cNvSpPr>
            <p:nvPr/>
          </p:nvSpPr>
          <p:spPr bwMode="auto">
            <a:xfrm>
              <a:off x="3596" y="686"/>
              <a:ext cx="1637" cy="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25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400">
                  <a:solidFill>
                    <a:schemeClr val="accent2"/>
                  </a:solidFill>
                </a:rPr>
                <a:t>求 </a:t>
              </a:r>
              <a:r>
                <a:rPr lang="en-US" altLang="zh-CN" sz="2400" i="1">
                  <a:solidFill>
                    <a:schemeClr val="accent2"/>
                  </a:solidFill>
                </a:rPr>
                <a:t>E </a:t>
              </a:r>
              <a:r>
                <a:rPr lang="en-US" altLang="zh-CN" sz="2400">
                  <a:solidFill>
                    <a:schemeClr val="accent2"/>
                  </a:solidFill>
                </a:rPr>
                <a:t>( 1 / </a:t>
              </a:r>
              <a:r>
                <a:rPr lang="en-US" altLang="zh-CN" sz="2400" i="1">
                  <a:solidFill>
                    <a:schemeClr val="accent2"/>
                  </a:solidFill>
                </a:rPr>
                <a:t>X </a:t>
              </a:r>
              <a:r>
                <a:rPr lang="en-US" altLang="zh-CN" sz="2400">
                  <a:solidFill>
                    <a:schemeClr val="accent2"/>
                  </a:solidFill>
                </a:rPr>
                <a:t>)</a:t>
              </a:r>
              <a:r>
                <a:rPr lang="zh-CN" altLang="en-US" sz="2400">
                  <a:solidFill>
                    <a:schemeClr val="accent2"/>
                  </a:solidFill>
                </a:rPr>
                <a:t>。</a:t>
              </a:r>
            </a:p>
          </p:txBody>
        </p:sp>
        <p:graphicFrame>
          <p:nvGraphicFramePr>
            <p:cNvPr id="36876" name="Object 13"/>
            <p:cNvGraphicFramePr>
              <a:graphicFrameLocks noChangeAspect="1"/>
            </p:cNvGraphicFramePr>
            <p:nvPr/>
          </p:nvGraphicFramePr>
          <p:xfrm>
            <a:off x="1251" y="641"/>
            <a:ext cx="2226" cy="6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113" name="Equation" r:id="rId4" imgW="76495165" imgH="26203230" progId="Equation.DSMT4">
                    <p:embed/>
                  </p:oleObj>
                </mc:Choice>
                <mc:Fallback>
                  <p:oleObj name="Equation" r:id="rId4" imgW="76495165" imgH="26203230" progId="Equation.DSMT4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51" y="641"/>
                          <a:ext cx="2226" cy="6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7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27550514"/>
              </p:ext>
            </p:extLst>
          </p:nvPr>
        </p:nvGraphicFramePr>
        <p:xfrm>
          <a:off x="107504" y="2349448"/>
          <a:ext cx="6505095" cy="21553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114" name="Document" r:id="rId6" imgW="3344712" imgH="1096957" progId="Word.Document.8">
                  <p:embed/>
                </p:oleObj>
              </mc:Choice>
              <mc:Fallback>
                <p:oleObj name="Document" r:id="rId6" imgW="3344712" imgH="1096957" progId="Word.Document.8">
                  <p:embed/>
                  <p:pic>
                    <p:nvPicPr>
                      <p:cNvPr id="3789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504" y="2349448"/>
                        <a:ext cx="6505095" cy="215537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2"/>
          <p:cNvSpPr txBox="1">
            <a:spLocks noChangeArrowheads="1"/>
          </p:cNvSpPr>
          <p:nvPr/>
        </p:nvSpPr>
        <p:spPr bwMode="auto">
          <a:xfrm>
            <a:off x="179512" y="4581128"/>
            <a:ext cx="8784976" cy="147662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50000"/>
              </a:spcBef>
              <a:buClrTx/>
              <a:buFontTx/>
              <a:buNone/>
            </a:pPr>
            <a:r>
              <a:rPr lang="en-US" altLang="zh-CN" sz="2000" dirty="0" smtClean="0"/>
              <a:t>3. </a:t>
            </a:r>
            <a:r>
              <a:rPr lang="zh-CN" altLang="en-GB" sz="2000" dirty="0" smtClean="0"/>
              <a:t>一</a:t>
            </a:r>
            <a:r>
              <a:rPr lang="zh-CN" altLang="en-GB" sz="2000" dirty="0"/>
              <a:t>商店经销某种商品</a:t>
            </a:r>
            <a:r>
              <a:rPr lang="en-GB" altLang="zh-CN" sz="2000" dirty="0"/>
              <a:t>,</a:t>
            </a:r>
            <a:r>
              <a:rPr lang="zh-CN" altLang="en-GB" sz="2000" dirty="0"/>
              <a:t>每周进货的数量</a:t>
            </a:r>
            <a:r>
              <a:rPr lang="en-GB" altLang="zh-CN" sz="2000" i="1" dirty="0"/>
              <a:t>X</a:t>
            </a:r>
            <a:r>
              <a:rPr lang="zh-CN" altLang="en-GB" sz="2000" dirty="0"/>
              <a:t>与顾客对该种商品的需求量</a:t>
            </a:r>
            <a:r>
              <a:rPr lang="en-GB" altLang="zh-CN" sz="2000" i="1" dirty="0"/>
              <a:t>Y</a:t>
            </a:r>
            <a:r>
              <a:rPr lang="zh-CN" altLang="en-GB" sz="2000" dirty="0"/>
              <a:t>是相互独立的随机变量</a:t>
            </a:r>
            <a:r>
              <a:rPr lang="en-GB" altLang="zh-CN" sz="2000" dirty="0"/>
              <a:t>,</a:t>
            </a:r>
            <a:r>
              <a:rPr lang="zh-CN" altLang="en-GB" sz="2000" dirty="0"/>
              <a:t>且都服从区间</a:t>
            </a:r>
            <a:r>
              <a:rPr lang="en-GB" altLang="zh-CN" sz="2000" dirty="0"/>
              <a:t>[10,20]</a:t>
            </a:r>
            <a:r>
              <a:rPr lang="zh-CN" altLang="en-GB" sz="2000" dirty="0"/>
              <a:t>上的均匀分布</a:t>
            </a:r>
            <a:r>
              <a:rPr lang="en-GB" altLang="zh-CN" sz="2000" dirty="0"/>
              <a:t>.</a:t>
            </a:r>
            <a:r>
              <a:rPr lang="zh-CN" altLang="en-GB" sz="2000" dirty="0"/>
              <a:t>商</a:t>
            </a:r>
            <a:r>
              <a:rPr lang="zh-CN" altLang="en-US" sz="2000" dirty="0"/>
              <a:t>店</a:t>
            </a:r>
            <a:r>
              <a:rPr lang="zh-CN" altLang="en-GB" sz="2000" dirty="0"/>
              <a:t>每</a:t>
            </a:r>
            <a:r>
              <a:rPr lang="zh-CN" altLang="en-GB" sz="2000" dirty="0">
                <a:solidFill>
                  <a:srgbClr val="FF0000"/>
                </a:solidFill>
              </a:rPr>
              <a:t>售出一单位商品</a:t>
            </a:r>
            <a:r>
              <a:rPr lang="zh-CN" altLang="en-GB" sz="2000" dirty="0"/>
              <a:t>可得利润</a:t>
            </a:r>
            <a:r>
              <a:rPr lang="en-GB" altLang="zh-CN" sz="2000" dirty="0"/>
              <a:t>1000</a:t>
            </a:r>
            <a:r>
              <a:rPr lang="zh-CN" altLang="en-GB" sz="2000" dirty="0"/>
              <a:t>元</a:t>
            </a:r>
            <a:r>
              <a:rPr lang="en-GB" altLang="zh-CN" sz="2000" dirty="0"/>
              <a:t>;</a:t>
            </a:r>
            <a:r>
              <a:rPr lang="zh-CN" altLang="en-GB" sz="2000" dirty="0"/>
              <a:t>若需求量</a:t>
            </a:r>
            <a:r>
              <a:rPr lang="zh-CN" altLang="en-GB" sz="2000" dirty="0">
                <a:solidFill>
                  <a:srgbClr val="FF0000"/>
                </a:solidFill>
              </a:rPr>
              <a:t>超过了进货</a:t>
            </a:r>
            <a:r>
              <a:rPr lang="zh-CN" altLang="en-GB" sz="2000" dirty="0"/>
              <a:t>量</a:t>
            </a:r>
            <a:r>
              <a:rPr lang="en-GB" altLang="zh-CN" sz="2000" dirty="0"/>
              <a:t>,</a:t>
            </a:r>
            <a:r>
              <a:rPr lang="zh-CN" altLang="en-GB" sz="2000" dirty="0"/>
              <a:t>商店可从其它商店调剂供应</a:t>
            </a:r>
            <a:r>
              <a:rPr lang="en-GB" altLang="zh-CN" sz="2000" dirty="0"/>
              <a:t>,</a:t>
            </a:r>
            <a:r>
              <a:rPr lang="zh-CN" altLang="en-GB" sz="2000" dirty="0"/>
              <a:t>这时每单位商品获利润为</a:t>
            </a:r>
            <a:r>
              <a:rPr lang="en-GB" altLang="zh-CN" sz="2000" dirty="0"/>
              <a:t>200</a:t>
            </a:r>
            <a:r>
              <a:rPr lang="zh-CN" altLang="en-GB" sz="2000" dirty="0"/>
              <a:t>元</a:t>
            </a:r>
            <a:r>
              <a:rPr lang="en-GB" altLang="zh-CN" sz="2000" dirty="0"/>
              <a:t>,</a:t>
            </a:r>
            <a:r>
              <a:rPr lang="zh-CN" altLang="en-GB" sz="2000" dirty="0"/>
              <a:t>试计算此商店经销该种商品每周所得利润的期望值</a:t>
            </a:r>
            <a:r>
              <a:rPr lang="en-GB" altLang="zh-CN" sz="2000" dirty="0"/>
              <a:t>. </a:t>
            </a:r>
            <a:endParaRPr lang="en-US" altLang="zh-CN" sz="20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2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Text Box 2"/>
          <p:cNvSpPr txBox="1">
            <a:spLocks noChangeArrowheads="1"/>
          </p:cNvSpPr>
          <p:nvPr/>
        </p:nvSpPr>
        <p:spPr bwMode="auto">
          <a:xfrm>
            <a:off x="899592" y="586518"/>
            <a:ext cx="5057795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None/>
            </a:pPr>
            <a:r>
              <a:rPr lang="zh-CN" altLang="en-US" sz="2000" dirty="0">
                <a:ea typeface="楷体_GB2312" pitchFamily="49" charset="-122"/>
              </a:rPr>
              <a:t>据统计65岁的人在</a:t>
            </a:r>
            <a:r>
              <a:rPr lang="zh-CN" altLang="en-US" sz="2000" dirty="0" smtClean="0">
                <a:ea typeface="楷体_GB2312" pitchFamily="49" charset="-122"/>
              </a:rPr>
              <a:t>10年内活着活着正常死亡</a:t>
            </a:r>
            <a:endParaRPr lang="en-US" altLang="zh-CN" sz="2000" dirty="0" smtClean="0">
              <a:ea typeface="楷体_GB2312" pitchFamily="49" charset="-122"/>
            </a:endParaRPr>
          </a:p>
          <a:p>
            <a:pPr eaLnBrk="1" hangingPunct="1">
              <a:spcBef>
                <a:spcPct val="0"/>
              </a:spcBef>
              <a:buClrTx/>
              <a:buNone/>
            </a:pPr>
            <a:r>
              <a:rPr lang="zh-CN" altLang="en-US" sz="2000" dirty="0" smtClean="0">
                <a:ea typeface="楷体_GB2312" pitchFamily="49" charset="-122"/>
              </a:rPr>
              <a:t>的</a:t>
            </a:r>
            <a:r>
              <a:rPr lang="zh-CN" altLang="en-US" sz="2000" dirty="0">
                <a:ea typeface="楷体_GB2312" pitchFamily="49" charset="-122"/>
              </a:rPr>
              <a:t>概率为0. 98, 因事故死亡概率为0.02</a:t>
            </a:r>
            <a:r>
              <a:rPr lang="zh-CN" altLang="en-US" sz="2000" dirty="0" smtClean="0">
                <a:ea typeface="楷体_GB2312" pitchFamily="49" charset="-122"/>
              </a:rPr>
              <a:t>.</a:t>
            </a:r>
            <a:endParaRPr lang="zh-CN" altLang="en-US" sz="2000" dirty="0">
              <a:ea typeface="楷体_GB2312" pitchFamily="49" charset="-122"/>
            </a:endParaRPr>
          </a:p>
        </p:txBody>
      </p:sp>
      <p:sp>
        <p:nvSpPr>
          <p:cNvPr id="138244" name="Text Box 4"/>
          <p:cNvSpPr txBox="1">
            <a:spLocks noChangeArrowheads="1"/>
          </p:cNvSpPr>
          <p:nvPr/>
        </p:nvSpPr>
        <p:spPr bwMode="auto">
          <a:xfrm>
            <a:off x="273790" y="483200"/>
            <a:ext cx="36580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8246" name="Text Box 6"/>
          <p:cNvSpPr txBox="1">
            <a:spLocks noChangeArrowheads="1"/>
          </p:cNvSpPr>
          <p:nvPr/>
        </p:nvSpPr>
        <p:spPr bwMode="auto">
          <a:xfrm>
            <a:off x="142953" y="1656822"/>
            <a:ext cx="826380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None/>
            </a:pPr>
            <a:r>
              <a:rPr lang="zh-CN" altLang="en-US" sz="2400" dirty="0" smtClean="0">
                <a:ea typeface="楷体_GB2312" pitchFamily="49" charset="-122"/>
              </a:rPr>
              <a:t>保险公司</a:t>
            </a:r>
            <a:r>
              <a:rPr lang="zh-CN" altLang="en-US" sz="2400" dirty="0">
                <a:ea typeface="楷体_GB2312" pitchFamily="49" charset="-122"/>
              </a:rPr>
              <a:t>开办老人事故死亡保险, 参加者需交纳保险费100元</a:t>
            </a:r>
            <a:r>
              <a:rPr lang="zh-CN" altLang="en-US" sz="2400" dirty="0" smtClean="0">
                <a:ea typeface="楷体_GB2312" pitchFamily="49" charset="-122"/>
              </a:rPr>
              <a:t>.</a:t>
            </a:r>
            <a:endParaRPr lang="zh-CN" altLang="en-US" sz="2400" dirty="0">
              <a:ea typeface="楷体_GB2312" pitchFamily="49" charset="-122"/>
            </a:endParaRPr>
          </a:p>
        </p:txBody>
      </p:sp>
      <p:sp>
        <p:nvSpPr>
          <p:cNvPr id="138248" name="Text Box 8"/>
          <p:cNvSpPr txBox="1">
            <a:spLocks noChangeArrowheads="1"/>
          </p:cNvSpPr>
          <p:nvPr/>
        </p:nvSpPr>
        <p:spPr bwMode="auto">
          <a:xfrm>
            <a:off x="140654" y="2088970"/>
            <a:ext cx="8811433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ea typeface="楷体_GB2312" pitchFamily="49" charset="-122"/>
              </a:rPr>
              <a:t>若</a:t>
            </a:r>
            <a:r>
              <a:rPr lang="zh-CN" altLang="en-US" sz="2400" dirty="0">
                <a:solidFill>
                  <a:srgbClr val="FF0000"/>
                </a:solidFill>
                <a:ea typeface="楷体_GB2312" pitchFamily="49" charset="-122"/>
              </a:rPr>
              <a:t>10 年内因事故死亡</a:t>
            </a:r>
            <a:r>
              <a:rPr lang="zh-CN" altLang="en-US" sz="2400" dirty="0">
                <a:ea typeface="楷体_GB2312" pitchFamily="49" charset="-122"/>
              </a:rPr>
              <a:t>公司赔偿</a:t>
            </a:r>
            <a:r>
              <a:rPr lang="en-US" altLang="zh-CN" sz="2400" i="1" dirty="0" smtClean="0">
                <a:ea typeface="楷体_GB2312" pitchFamily="49" charset="-122"/>
              </a:rPr>
              <a:t>a </a:t>
            </a:r>
            <a:r>
              <a:rPr lang="zh-CN" altLang="en-US" sz="2400" dirty="0">
                <a:ea typeface="楷体_GB2312" pitchFamily="49" charset="-122"/>
              </a:rPr>
              <a:t>元, 应如何定 </a:t>
            </a:r>
            <a:r>
              <a:rPr lang="en-US" altLang="zh-CN" sz="2400" i="1" dirty="0">
                <a:ea typeface="楷体_GB2312" pitchFamily="49" charset="-122"/>
              </a:rPr>
              <a:t>a , </a:t>
            </a:r>
            <a:r>
              <a:rPr lang="zh-CN" altLang="en-US" sz="2400" dirty="0">
                <a:ea typeface="楷体_GB2312" pitchFamily="49" charset="-122"/>
              </a:rPr>
              <a:t>才能使公司可期望获益;</a:t>
            </a:r>
          </a:p>
        </p:txBody>
      </p:sp>
      <p:sp>
        <p:nvSpPr>
          <p:cNvPr id="138249" name="Text Box 9"/>
          <p:cNvSpPr txBox="1">
            <a:spLocks noChangeArrowheads="1"/>
          </p:cNvSpPr>
          <p:nvPr/>
        </p:nvSpPr>
        <p:spPr bwMode="auto">
          <a:xfrm>
            <a:off x="1259632" y="2454857"/>
            <a:ext cx="539923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ea typeface="楷体_GB2312" pitchFamily="49" charset="-122"/>
              </a:rPr>
              <a:t>若有1000人投保, 公司期望总获益多少?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 </a:t>
            </a:r>
            <a:endParaRPr lang="zh-CN" altLang="en-US" dirty="0"/>
          </a:p>
        </p:txBody>
      </p:sp>
      <p:sp>
        <p:nvSpPr>
          <p:cNvPr id="8" name="Text Box 2"/>
          <p:cNvSpPr txBox="1">
            <a:spLocks noChangeArrowheads="1"/>
          </p:cNvSpPr>
          <p:nvPr/>
        </p:nvSpPr>
        <p:spPr bwMode="auto">
          <a:xfrm>
            <a:off x="257175" y="3355292"/>
            <a:ext cx="8886825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000" dirty="0">
                <a:ea typeface="楷体_GB2312" pitchFamily="49" charset="-122"/>
              </a:rPr>
              <a:t>            设由自动线加工的某种零件的内径</a:t>
            </a:r>
            <a:r>
              <a:rPr lang="zh-CN" altLang="en-US" sz="2000" i="1" dirty="0">
                <a:ea typeface="楷体_GB2312" pitchFamily="49" charset="-122"/>
              </a:rPr>
              <a:t> </a:t>
            </a:r>
            <a:r>
              <a:rPr lang="en-US" altLang="zh-CN" sz="2000" i="1" dirty="0">
                <a:solidFill>
                  <a:srgbClr val="FF0000"/>
                </a:solidFill>
                <a:ea typeface="楷体_GB2312" pitchFamily="49" charset="-122"/>
              </a:rPr>
              <a:t>X </a:t>
            </a:r>
            <a:r>
              <a:rPr lang="en-US" altLang="zh-CN" sz="2000" dirty="0">
                <a:solidFill>
                  <a:srgbClr val="FF0000"/>
                </a:solidFill>
                <a:ea typeface="楷体_GB2312" pitchFamily="49" charset="-122"/>
              </a:rPr>
              <a:t>(mm)~ </a:t>
            </a:r>
            <a:r>
              <a:rPr lang="en-US" altLang="zh-CN" sz="2000" i="1" dirty="0">
                <a:solidFill>
                  <a:srgbClr val="FF0000"/>
                </a:solidFill>
                <a:ea typeface="楷体_GB2312" pitchFamily="49" charset="-122"/>
              </a:rPr>
              <a:t>N </a:t>
            </a:r>
            <a:r>
              <a:rPr lang="en-US" altLang="zh-CN" sz="2000" dirty="0">
                <a:solidFill>
                  <a:srgbClr val="FF0000"/>
                </a:solidFill>
                <a:ea typeface="楷体_GB2312" pitchFamily="49" charset="-122"/>
              </a:rPr>
              <a:t>(</a:t>
            </a:r>
            <a:r>
              <a:rPr lang="en-US" altLang="zh-CN" sz="2000" i="1" dirty="0">
                <a:solidFill>
                  <a:srgbClr val="FF0000"/>
                </a:solidFill>
                <a:ea typeface="楷体_GB2312" pitchFamily="49" charset="-122"/>
                <a:sym typeface="Symbol" panose="05050102010706020507" pitchFamily="18" charset="2"/>
              </a:rPr>
              <a:t> </a:t>
            </a:r>
            <a:r>
              <a:rPr lang="en-US" altLang="zh-CN" sz="2000" dirty="0">
                <a:solidFill>
                  <a:srgbClr val="FF0000"/>
                </a:solidFill>
                <a:ea typeface="楷体_GB2312" pitchFamily="49" charset="-122"/>
                <a:sym typeface="Symbol" panose="05050102010706020507" pitchFamily="18" charset="2"/>
              </a:rPr>
              <a:t>,1</a:t>
            </a:r>
            <a:r>
              <a:rPr lang="en-US" altLang="zh-CN" sz="2000" dirty="0">
                <a:solidFill>
                  <a:srgbClr val="FF0000"/>
                </a:solidFill>
                <a:ea typeface="楷体_GB2312" pitchFamily="49" charset="-122"/>
              </a:rPr>
              <a:t>).</a:t>
            </a:r>
            <a:r>
              <a:rPr lang="zh-CN" altLang="en-US" sz="2000" dirty="0">
                <a:ea typeface="楷体_GB2312" pitchFamily="49" charset="-122"/>
              </a:rPr>
              <a:t>已知销售每个零件的利润</a:t>
            </a:r>
            <a:r>
              <a:rPr lang="en-US" altLang="zh-CN" sz="2000" i="1" dirty="0">
                <a:ea typeface="楷体_GB2312" pitchFamily="49" charset="-122"/>
              </a:rPr>
              <a:t>T </a:t>
            </a:r>
            <a:r>
              <a:rPr lang="en-US" altLang="zh-CN" sz="2000" dirty="0">
                <a:ea typeface="楷体_GB2312" pitchFamily="49" charset="-122"/>
              </a:rPr>
              <a:t>(</a:t>
            </a:r>
            <a:r>
              <a:rPr lang="zh-CN" altLang="en-US" sz="2000" dirty="0">
                <a:ea typeface="楷体_GB2312" pitchFamily="49" charset="-122"/>
              </a:rPr>
              <a:t>元)与销售零件的内径 </a:t>
            </a:r>
            <a:r>
              <a:rPr lang="en-US" altLang="zh-CN" sz="2000" i="1" dirty="0">
                <a:ea typeface="楷体_GB2312" pitchFamily="49" charset="-122"/>
              </a:rPr>
              <a:t>X </a:t>
            </a:r>
            <a:r>
              <a:rPr lang="zh-CN" altLang="en-US" sz="2000" dirty="0">
                <a:ea typeface="楷体_GB2312" pitchFamily="49" charset="-122"/>
              </a:rPr>
              <a:t>有如下的关系：</a:t>
            </a:r>
          </a:p>
        </p:txBody>
      </p:sp>
      <p:graphicFrame>
        <p:nvGraphicFramePr>
          <p:cNvPr id="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99491507"/>
              </p:ext>
            </p:extLst>
          </p:nvPr>
        </p:nvGraphicFramePr>
        <p:xfrm>
          <a:off x="1846528" y="4097268"/>
          <a:ext cx="2328920" cy="11305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732" name="Equation" r:id="rId4" imgW="1371735" imgH="609660" progId="Equation.DSMT4">
                  <p:embed/>
                </p:oleObj>
              </mc:Choice>
              <mc:Fallback>
                <p:oleObj name="Equation" r:id="rId4" imgW="1371735" imgH="609660" progId="Equation.DSMT4">
                  <p:embed/>
                  <p:pic>
                    <p:nvPicPr>
                      <p:cNvPr id="143363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6528" y="4097268"/>
                        <a:ext cx="2328920" cy="113058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Box 4"/>
          <p:cNvSpPr txBox="1">
            <a:spLocks noChangeArrowheads="1"/>
          </p:cNvSpPr>
          <p:nvPr/>
        </p:nvSpPr>
        <p:spPr bwMode="auto">
          <a:xfrm>
            <a:off x="359024" y="5227851"/>
            <a:ext cx="857885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000" dirty="0">
                <a:ea typeface="楷体_GB2312" pitchFamily="49" charset="-122"/>
              </a:rPr>
              <a:t>问平均直径</a:t>
            </a:r>
            <a:r>
              <a:rPr lang="zh-CN" altLang="en-US" sz="2000" i="1" dirty="0">
                <a:ea typeface="楷体_GB2312" pitchFamily="49" charset="-122"/>
              </a:rPr>
              <a:t> </a:t>
            </a:r>
            <a:r>
              <a:rPr lang="zh-CN" altLang="en-US" sz="2000" i="1" dirty="0">
                <a:ea typeface="楷体_GB2312" pitchFamily="49" charset="-122"/>
                <a:sym typeface="Symbol" panose="05050102010706020507" pitchFamily="18" charset="2"/>
              </a:rPr>
              <a:t> </a:t>
            </a:r>
            <a:r>
              <a:rPr lang="zh-CN" altLang="en-US" sz="2000" dirty="0">
                <a:ea typeface="楷体_GB2312" pitchFamily="49" charset="-122"/>
                <a:sym typeface="Symbol" panose="05050102010706020507" pitchFamily="18" charset="2"/>
              </a:rPr>
              <a:t>为何值时, 销售一个零件的平均利润最大？</a:t>
            </a:r>
            <a:endParaRPr lang="zh-CN" altLang="en-US" sz="2000" dirty="0">
              <a:ea typeface="楷体_GB2312" pitchFamily="49" charset="-122"/>
            </a:endParaRPr>
          </a:p>
        </p:txBody>
      </p:sp>
      <p:sp>
        <p:nvSpPr>
          <p:cNvPr id="11" name="Text Box 5"/>
          <p:cNvSpPr txBox="1">
            <a:spLocks noChangeArrowheads="1"/>
          </p:cNvSpPr>
          <p:nvPr/>
        </p:nvSpPr>
        <p:spPr bwMode="auto">
          <a:xfrm>
            <a:off x="215008" y="3360834"/>
            <a:ext cx="133191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b="1" dirty="0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</a:t>
            </a:r>
            <a:endParaRPr lang="zh-CN" altLang="en-US" sz="24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8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38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38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38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38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8242" grpId="0" autoUpdateAnimBg="0"/>
      <p:bldP spid="138244" grpId="0" autoUpdateAnimBg="0"/>
      <p:bldP spid="138246" grpId="0" autoUpdateAnimBg="0"/>
      <p:bldP spid="138248" grpId="0" autoUpdateAnimBg="0"/>
      <p:bldP spid="138249" grpId="0" autoUpdateAnimBg="0"/>
      <p:bldP spid="8" grpId="0" build="p" autoUpdateAnimBg="0"/>
      <p:bldP spid="10" grpId="0" autoUpdateAnimBg="0"/>
      <p:bldP spid="11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9"/>
          <p:cNvGrpSpPr>
            <a:grpSpLocks/>
          </p:cNvGrpSpPr>
          <p:nvPr/>
        </p:nvGrpSpPr>
        <p:grpSpPr bwMode="auto">
          <a:xfrm>
            <a:off x="629403" y="423519"/>
            <a:ext cx="8406578" cy="1615550"/>
            <a:chOff x="159" y="259"/>
            <a:chExt cx="5073" cy="950"/>
          </a:xfrm>
        </p:grpSpPr>
        <p:sp>
          <p:nvSpPr>
            <p:cNvPr id="36873" name="Rectangle 10"/>
            <p:cNvSpPr>
              <a:spLocks noChangeArrowheads="1"/>
            </p:cNvSpPr>
            <p:nvPr/>
          </p:nvSpPr>
          <p:spPr bwMode="auto">
            <a:xfrm>
              <a:off x="699" y="259"/>
              <a:ext cx="3143" cy="4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25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zh-CN" altLang="en-US">
                  <a:solidFill>
                    <a:schemeClr val="accent2"/>
                  </a:solidFill>
                </a:rPr>
                <a:t>设随机变量</a:t>
              </a:r>
              <a:r>
                <a:rPr lang="en-US" altLang="zh-CN" i="1">
                  <a:solidFill>
                    <a:schemeClr val="accent2"/>
                  </a:solidFill>
                </a:rPr>
                <a:t>X </a:t>
              </a:r>
              <a:r>
                <a:rPr lang="zh-CN" altLang="en-US">
                  <a:solidFill>
                    <a:schemeClr val="accent2"/>
                  </a:solidFill>
                </a:rPr>
                <a:t>的概率密度为</a:t>
              </a:r>
            </a:p>
          </p:txBody>
        </p:sp>
        <p:sp>
          <p:nvSpPr>
            <p:cNvPr id="36874" name="Rectangle 11"/>
            <p:cNvSpPr>
              <a:spLocks noChangeArrowheads="1"/>
            </p:cNvSpPr>
            <p:nvPr/>
          </p:nvSpPr>
          <p:spPr bwMode="auto">
            <a:xfrm>
              <a:off x="159" y="305"/>
              <a:ext cx="528" cy="3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4400" b="1" dirty="0" smtClean="0">
                  <a:solidFill>
                    <a:srgbClr val="0000FF"/>
                  </a:solidFill>
                </a:rPr>
                <a:t>1</a:t>
              </a:r>
              <a:endParaRPr lang="en-US" altLang="zh-CN" sz="4400" b="1" dirty="0">
                <a:solidFill>
                  <a:srgbClr val="0000FF"/>
                </a:solidFill>
              </a:endParaRPr>
            </a:p>
          </p:txBody>
        </p:sp>
        <p:sp>
          <p:nvSpPr>
            <p:cNvPr id="36875" name="Text Box 12"/>
            <p:cNvSpPr txBox="1">
              <a:spLocks noChangeArrowheads="1"/>
            </p:cNvSpPr>
            <p:nvPr/>
          </p:nvSpPr>
          <p:spPr bwMode="auto">
            <a:xfrm>
              <a:off x="3596" y="686"/>
              <a:ext cx="1636" cy="4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25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zh-CN" altLang="en-US" dirty="0">
                  <a:solidFill>
                    <a:schemeClr val="accent2"/>
                  </a:solidFill>
                </a:rPr>
                <a:t>求 </a:t>
              </a:r>
              <a:r>
                <a:rPr lang="en-US" altLang="zh-CN" i="1" dirty="0">
                  <a:solidFill>
                    <a:schemeClr val="accent2"/>
                  </a:solidFill>
                </a:rPr>
                <a:t>E </a:t>
              </a:r>
              <a:r>
                <a:rPr lang="en-US" altLang="zh-CN" dirty="0">
                  <a:solidFill>
                    <a:schemeClr val="accent2"/>
                  </a:solidFill>
                </a:rPr>
                <a:t>( 1 / </a:t>
              </a:r>
              <a:r>
                <a:rPr lang="en-US" altLang="zh-CN" i="1" dirty="0">
                  <a:solidFill>
                    <a:schemeClr val="accent2"/>
                  </a:solidFill>
                </a:rPr>
                <a:t>X </a:t>
              </a:r>
              <a:r>
                <a:rPr lang="en-US" altLang="zh-CN" dirty="0">
                  <a:solidFill>
                    <a:schemeClr val="accent2"/>
                  </a:solidFill>
                </a:rPr>
                <a:t>)</a:t>
              </a:r>
              <a:r>
                <a:rPr lang="zh-CN" altLang="en-US" dirty="0">
                  <a:solidFill>
                    <a:schemeClr val="accent2"/>
                  </a:solidFill>
                </a:rPr>
                <a:t>。</a:t>
              </a:r>
            </a:p>
          </p:txBody>
        </p:sp>
        <p:graphicFrame>
          <p:nvGraphicFramePr>
            <p:cNvPr id="36876" name="Object 1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10908156"/>
                </p:ext>
              </p:extLst>
            </p:nvPr>
          </p:nvGraphicFramePr>
          <p:xfrm>
            <a:off x="1251" y="641"/>
            <a:ext cx="1839" cy="5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9114" name="Equation" r:id="rId4" imgW="76495165" imgH="26203230" progId="Equation.DSMT4">
                    <p:embed/>
                  </p:oleObj>
                </mc:Choice>
                <mc:Fallback>
                  <p:oleObj name="Equation" r:id="rId4" imgW="76495165" imgH="2620323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51" y="641"/>
                          <a:ext cx="1839" cy="56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9710" name="Rectangle 14"/>
          <p:cNvSpPr>
            <a:spLocks noChangeArrowheads="1"/>
          </p:cNvSpPr>
          <p:nvPr/>
        </p:nvSpPr>
        <p:spPr bwMode="auto">
          <a:xfrm>
            <a:off x="690563" y="2692921"/>
            <a:ext cx="8985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zh-CN" altLang="en-US" b="1">
                <a:solidFill>
                  <a:srgbClr val="0000FF"/>
                </a:solidFill>
              </a:rPr>
              <a:t>解：</a:t>
            </a:r>
          </a:p>
        </p:txBody>
      </p:sp>
      <p:graphicFrame>
        <p:nvGraphicFramePr>
          <p:cNvPr id="29711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9275859"/>
              </p:ext>
            </p:extLst>
          </p:nvPr>
        </p:nvGraphicFramePr>
        <p:xfrm>
          <a:off x="2581275" y="3572396"/>
          <a:ext cx="2752725" cy="920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115" name="Equation" r:id="rId6" imgW="54244855" imgH="20107170" progId="Equation.DSMT4">
                  <p:embed/>
                </p:oleObj>
              </mc:Choice>
              <mc:Fallback>
                <p:oleObj name="Equation" r:id="rId6" imgW="54244855" imgH="2010717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81275" y="3572396"/>
                        <a:ext cx="2752725" cy="920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12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33999615"/>
              </p:ext>
            </p:extLst>
          </p:nvPr>
        </p:nvGraphicFramePr>
        <p:xfrm>
          <a:off x="4537075" y="4509021"/>
          <a:ext cx="949325" cy="1004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116" name="Equation" r:id="rId8" imgW="20716765" imgH="21936150" progId="Equation.DSMT4">
                  <p:embed/>
                </p:oleObj>
              </mc:Choice>
              <mc:Fallback>
                <p:oleObj name="Equation" r:id="rId8" imgW="20716765" imgH="2193615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37075" y="4509021"/>
                        <a:ext cx="949325" cy="1004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13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41776012"/>
              </p:ext>
            </p:extLst>
          </p:nvPr>
        </p:nvGraphicFramePr>
        <p:xfrm>
          <a:off x="2598738" y="4724921"/>
          <a:ext cx="1828800" cy="754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117" name="Equation" r:id="rId10" imgW="39919165" imgH="16449750" progId="Equation.DSMT4">
                  <p:embed/>
                </p:oleObj>
              </mc:Choice>
              <mc:Fallback>
                <p:oleObj name="Equation" r:id="rId10" imgW="39919165" imgH="1644975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8738" y="4724921"/>
                        <a:ext cx="1828800" cy="754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14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47078670"/>
              </p:ext>
            </p:extLst>
          </p:nvPr>
        </p:nvGraphicFramePr>
        <p:xfrm>
          <a:off x="1562100" y="2492896"/>
          <a:ext cx="3340100" cy="985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118" name="公式" r:id="rId12" imgW="1333500" imgH="393700" progId="Equation.3">
                  <p:embed/>
                </p:oleObj>
              </mc:Choice>
              <mc:Fallback>
                <p:oleObj name="公式" r:id="rId12" imgW="1333500" imgH="393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lum bright="-14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62100" y="2492896"/>
                        <a:ext cx="3340100" cy="985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15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94248592"/>
              </p:ext>
            </p:extLst>
          </p:nvPr>
        </p:nvGraphicFramePr>
        <p:xfrm>
          <a:off x="6192838" y="3377133"/>
          <a:ext cx="2355850" cy="1049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119" name="Equation" r:id="rId14" imgW="22545565" imgH="10048860" progId="Equation.DSMT4">
                  <p:embed/>
                </p:oleObj>
              </mc:Choice>
              <mc:Fallback>
                <p:oleObj name="Equation" r:id="rId14" imgW="22545565" imgH="100488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lum bright="-2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92838" y="3377133"/>
                        <a:ext cx="2355850" cy="1049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0735507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97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9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9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9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9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9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10" grpId="0" build="p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971" name="Rectangle 3"/>
          <p:cNvSpPr>
            <a:spLocks noChangeArrowheads="1"/>
          </p:cNvSpPr>
          <p:nvPr/>
        </p:nvSpPr>
        <p:spPr bwMode="auto">
          <a:xfrm>
            <a:off x="684213" y="3068638"/>
            <a:ext cx="6397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 b="1">
                <a:solidFill>
                  <a:schemeClr val="accent2"/>
                </a:solidFill>
                <a:latin typeface="Arial" panose="020B0604020202020204" pitchFamily="34" charset="0"/>
                <a:ea typeface="楷体_GB2312" pitchFamily="49" charset="-122"/>
              </a:rPr>
              <a:t>解</a:t>
            </a:r>
            <a:r>
              <a:rPr lang="zh-CN" altLang="en-US" sz="2800"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37892" name="Rectangle 4"/>
          <p:cNvSpPr>
            <a:spLocks noChangeArrowheads="1"/>
          </p:cNvSpPr>
          <p:nvPr/>
        </p:nvSpPr>
        <p:spPr bwMode="auto">
          <a:xfrm>
            <a:off x="0" y="32527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zh-CN" altLang="en-US" sz="2800">
              <a:latin typeface="Arial" panose="020B0604020202020204" pitchFamily="34" charset="0"/>
              <a:ea typeface="MS Gothic" panose="020B0609070205080204" pitchFamily="49" charset="-128"/>
            </a:endParaRPr>
          </a:p>
        </p:txBody>
      </p:sp>
      <p:graphicFrame>
        <p:nvGraphicFramePr>
          <p:cNvPr id="467973" name="Object 5"/>
          <p:cNvGraphicFramePr>
            <a:graphicFrameLocks noChangeAspect="1"/>
          </p:cNvGraphicFramePr>
          <p:nvPr/>
        </p:nvGraphicFramePr>
        <p:xfrm>
          <a:off x="1978025" y="2997200"/>
          <a:ext cx="4611688" cy="808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966" name="Equation" r:id="rId4" imgW="2005729" imgH="355446" progId="Equation.DSMT4">
                  <p:embed/>
                </p:oleObj>
              </mc:Choice>
              <mc:Fallback>
                <p:oleObj name="Equation" r:id="rId4" imgW="2005729" imgH="355446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8025" y="2997200"/>
                        <a:ext cx="4611688" cy="808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894" name="Rectangle 6"/>
          <p:cNvSpPr>
            <a:spLocks noChangeArrowheads="1"/>
          </p:cNvSpPr>
          <p:nvPr/>
        </p:nvSpPr>
        <p:spPr bwMode="auto">
          <a:xfrm>
            <a:off x="0" y="32527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zh-CN" altLang="en-US" sz="2800">
              <a:latin typeface="Arial" panose="020B0604020202020204" pitchFamily="34" charset="0"/>
              <a:ea typeface="MS Gothic" panose="020B0609070205080204" pitchFamily="49" charset="-128"/>
            </a:endParaRPr>
          </a:p>
        </p:txBody>
      </p:sp>
      <p:graphicFrame>
        <p:nvGraphicFramePr>
          <p:cNvPr id="467975" name="Object 7"/>
          <p:cNvGraphicFramePr>
            <a:graphicFrameLocks noChangeAspect="1"/>
          </p:cNvGraphicFramePr>
          <p:nvPr/>
        </p:nvGraphicFramePr>
        <p:xfrm>
          <a:off x="3132138" y="4005263"/>
          <a:ext cx="2952750" cy="822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967" name="Equation" r:id="rId6" imgW="1269449" imgH="355446" progId="Equation.DSMT4">
                  <p:embed/>
                </p:oleObj>
              </mc:Choice>
              <mc:Fallback>
                <p:oleObj name="Equation" r:id="rId6" imgW="1269449" imgH="355446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2138" y="4005263"/>
                        <a:ext cx="2952750" cy="822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896" name="Rectangle 8"/>
          <p:cNvSpPr>
            <a:spLocks noChangeArrowheads="1"/>
          </p:cNvSpPr>
          <p:nvPr/>
        </p:nvSpPr>
        <p:spPr bwMode="auto">
          <a:xfrm>
            <a:off x="0" y="32337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zh-CN" altLang="en-US" sz="2800">
              <a:latin typeface="Arial" panose="020B0604020202020204" pitchFamily="34" charset="0"/>
              <a:ea typeface="MS Gothic" panose="020B0609070205080204" pitchFamily="49" charset="-128"/>
            </a:endParaRPr>
          </a:p>
        </p:txBody>
      </p:sp>
      <p:graphicFrame>
        <p:nvGraphicFramePr>
          <p:cNvPr id="467977" name="Object 9"/>
          <p:cNvGraphicFramePr>
            <a:graphicFrameLocks noChangeAspect="1"/>
          </p:cNvGraphicFramePr>
          <p:nvPr/>
        </p:nvGraphicFramePr>
        <p:xfrm>
          <a:off x="3203575" y="4941888"/>
          <a:ext cx="208915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968" name="Equation" r:id="rId8" imgW="901309" imgH="393529" progId="Equation.DSMT4">
                  <p:embed/>
                </p:oleObj>
              </mc:Choice>
              <mc:Fallback>
                <p:oleObj name="Equation" r:id="rId8" imgW="901309" imgH="393529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3575" y="4941888"/>
                        <a:ext cx="2089150" cy="90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椭圆 10"/>
          <p:cNvSpPr/>
          <p:nvPr/>
        </p:nvSpPr>
        <p:spPr bwMode="auto">
          <a:xfrm>
            <a:off x="4510088" y="3060700"/>
            <a:ext cx="360362" cy="793750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ysDot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" name="椭圆 11"/>
          <p:cNvSpPr/>
          <p:nvPr/>
        </p:nvSpPr>
        <p:spPr bwMode="auto">
          <a:xfrm>
            <a:off x="4484688" y="4044950"/>
            <a:ext cx="385762" cy="792163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ysDot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1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12138462"/>
              </p:ext>
            </p:extLst>
          </p:nvPr>
        </p:nvGraphicFramePr>
        <p:xfrm>
          <a:off x="1461071" y="664082"/>
          <a:ext cx="6047234" cy="20036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969" name="Document" r:id="rId10" imgW="3344712" imgH="1096957" progId="Word.Document.8">
                  <p:embed/>
                </p:oleObj>
              </mc:Choice>
              <mc:Fallback>
                <p:oleObj name="Document" r:id="rId10" imgW="3344712" imgH="1096957" progId="Word.Document.8">
                  <p:embed/>
                  <p:pic>
                    <p:nvPicPr>
                      <p:cNvPr id="3789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61071" y="664082"/>
                        <a:ext cx="6047234" cy="2003667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4458214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679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679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679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797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42" name="Text Box 2"/>
          <p:cNvSpPr txBox="1">
            <a:spLocks noChangeArrowheads="1"/>
          </p:cNvSpPr>
          <p:nvPr/>
        </p:nvSpPr>
        <p:spPr bwMode="auto">
          <a:xfrm>
            <a:off x="251520" y="548680"/>
            <a:ext cx="8784976" cy="13381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50000"/>
              </a:spcBef>
              <a:buClrTx/>
              <a:buFontTx/>
              <a:buNone/>
            </a:pPr>
            <a:r>
              <a:rPr lang="en-US" altLang="zh-CN" sz="1800" dirty="0" smtClean="0"/>
              <a:t>3. </a:t>
            </a:r>
            <a:r>
              <a:rPr lang="zh-CN" altLang="en-GB" sz="1800" dirty="0" smtClean="0"/>
              <a:t>一</a:t>
            </a:r>
            <a:r>
              <a:rPr lang="zh-CN" altLang="en-GB" sz="1800" dirty="0"/>
              <a:t>商店经销某种商品</a:t>
            </a:r>
            <a:r>
              <a:rPr lang="en-GB" altLang="zh-CN" sz="1800" dirty="0"/>
              <a:t>,</a:t>
            </a:r>
            <a:r>
              <a:rPr lang="zh-CN" altLang="en-GB" sz="1800" dirty="0"/>
              <a:t>每周进货的数量</a:t>
            </a:r>
            <a:r>
              <a:rPr lang="en-GB" altLang="zh-CN" sz="1800" i="1" dirty="0"/>
              <a:t>X</a:t>
            </a:r>
            <a:r>
              <a:rPr lang="zh-CN" altLang="en-GB" sz="1800" dirty="0"/>
              <a:t>与顾客对该种商品的需求量</a:t>
            </a:r>
            <a:r>
              <a:rPr lang="en-GB" altLang="zh-CN" sz="1800" i="1" dirty="0"/>
              <a:t>Y</a:t>
            </a:r>
            <a:r>
              <a:rPr lang="zh-CN" altLang="en-GB" sz="1800" dirty="0"/>
              <a:t>是相互独立的随机变量</a:t>
            </a:r>
            <a:r>
              <a:rPr lang="en-GB" altLang="zh-CN" sz="1800" dirty="0"/>
              <a:t>,</a:t>
            </a:r>
            <a:r>
              <a:rPr lang="zh-CN" altLang="en-GB" sz="1800" dirty="0"/>
              <a:t>且都服从区间</a:t>
            </a:r>
            <a:r>
              <a:rPr lang="en-GB" altLang="zh-CN" sz="1800" dirty="0"/>
              <a:t>[10,20]</a:t>
            </a:r>
            <a:r>
              <a:rPr lang="zh-CN" altLang="en-GB" sz="1800" dirty="0"/>
              <a:t>上的均匀分布</a:t>
            </a:r>
            <a:r>
              <a:rPr lang="en-GB" altLang="zh-CN" sz="1800" dirty="0"/>
              <a:t>.</a:t>
            </a:r>
            <a:r>
              <a:rPr lang="zh-CN" altLang="en-GB" sz="1800" dirty="0"/>
              <a:t>商</a:t>
            </a:r>
            <a:r>
              <a:rPr lang="zh-CN" altLang="en-US" sz="1800" dirty="0"/>
              <a:t>店</a:t>
            </a:r>
            <a:r>
              <a:rPr lang="zh-CN" altLang="en-GB" sz="1800" dirty="0"/>
              <a:t>每</a:t>
            </a:r>
            <a:r>
              <a:rPr lang="zh-CN" altLang="en-GB" sz="1800" dirty="0">
                <a:solidFill>
                  <a:srgbClr val="FF0000"/>
                </a:solidFill>
              </a:rPr>
              <a:t>售出一单位商品</a:t>
            </a:r>
            <a:r>
              <a:rPr lang="zh-CN" altLang="en-GB" sz="1800" dirty="0"/>
              <a:t>可得利润</a:t>
            </a:r>
            <a:r>
              <a:rPr lang="en-GB" altLang="zh-CN" sz="1800" dirty="0"/>
              <a:t>1000</a:t>
            </a:r>
            <a:r>
              <a:rPr lang="zh-CN" altLang="en-GB" sz="1800" dirty="0"/>
              <a:t>元</a:t>
            </a:r>
            <a:r>
              <a:rPr lang="en-GB" altLang="zh-CN" sz="1800" dirty="0"/>
              <a:t>;</a:t>
            </a:r>
            <a:r>
              <a:rPr lang="zh-CN" altLang="en-GB" sz="1800" dirty="0"/>
              <a:t>若需求量</a:t>
            </a:r>
            <a:r>
              <a:rPr lang="zh-CN" altLang="en-GB" sz="1800" dirty="0">
                <a:solidFill>
                  <a:srgbClr val="FF0000"/>
                </a:solidFill>
              </a:rPr>
              <a:t>超过了进货</a:t>
            </a:r>
            <a:r>
              <a:rPr lang="zh-CN" altLang="en-GB" sz="1800" dirty="0"/>
              <a:t>量</a:t>
            </a:r>
            <a:r>
              <a:rPr lang="en-GB" altLang="zh-CN" sz="1800" dirty="0"/>
              <a:t>,</a:t>
            </a:r>
            <a:r>
              <a:rPr lang="zh-CN" altLang="en-GB" sz="1800" dirty="0"/>
              <a:t>商店可从其它商店调剂供应</a:t>
            </a:r>
            <a:r>
              <a:rPr lang="en-GB" altLang="zh-CN" sz="1800" dirty="0"/>
              <a:t>,</a:t>
            </a:r>
            <a:r>
              <a:rPr lang="zh-CN" altLang="en-GB" sz="1800" dirty="0"/>
              <a:t>这时每单位商品获利润为</a:t>
            </a:r>
            <a:r>
              <a:rPr lang="en-GB" altLang="zh-CN" sz="1800" dirty="0"/>
              <a:t>200</a:t>
            </a:r>
            <a:r>
              <a:rPr lang="zh-CN" altLang="en-GB" sz="1800" dirty="0"/>
              <a:t>元</a:t>
            </a:r>
            <a:r>
              <a:rPr lang="en-GB" altLang="zh-CN" sz="1800" dirty="0"/>
              <a:t>,</a:t>
            </a:r>
            <a:r>
              <a:rPr lang="zh-CN" altLang="en-GB" sz="1800" dirty="0"/>
              <a:t>试计算此商店经销该种商品每周所得利润的期望值</a:t>
            </a:r>
            <a:r>
              <a:rPr lang="en-GB" altLang="zh-CN" sz="1800" dirty="0"/>
              <a:t>. </a:t>
            </a:r>
            <a:endParaRPr lang="en-US" altLang="zh-CN" sz="1800" dirty="0"/>
          </a:p>
        </p:txBody>
      </p:sp>
      <p:sp>
        <p:nvSpPr>
          <p:cNvPr id="471043" name="Text Box 3"/>
          <p:cNvSpPr txBox="1">
            <a:spLocks noChangeArrowheads="1"/>
          </p:cNvSpPr>
          <p:nvPr/>
        </p:nvSpPr>
        <p:spPr bwMode="auto">
          <a:xfrm>
            <a:off x="251520" y="2020058"/>
            <a:ext cx="673258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GB" sz="2000" b="1" dirty="0">
                <a:solidFill>
                  <a:schemeClr val="accent2"/>
                </a:solidFill>
                <a:ea typeface="楷体_GB2312" pitchFamily="49" charset="-122"/>
              </a:rPr>
              <a:t>解</a:t>
            </a:r>
            <a:r>
              <a:rPr lang="zh-CN" altLang="en-GB" sz="2000" b="1" dirty="0">
                <a:solidFill>
                  <a:schemeClr val="accent2"/>
                </a:solidFill>
              </a:rPr>
              <a:t>  </a:t>
            </a:r>
            <a:r>
              <a:rPr lang="zh-CN" altLang="en-GB" sz="2000" dirty="0"/>
              <a:t>设</a:t>
            </a:r>
            <a:r>
              <a:rPr lang="en-GB" altLang="zh-CN" sz="2000" i="1" dirty="0"/>
              <a:t>Z</a:t>
            </a:r>
            <a:r>
              <a:rPr lang="zh-CN" altLang="en-GB" sz="2000" dirty="0"/>
              <a:t>表示每周的利润，则</a:t>
            </a:r>
            <a:endParaRPr lang="zh-CN" altLang="en-US" sz="2000" dirty="0"/>
          </a:p>
        </p:txBody>
      </p:sp>
      <p:sp>
        <p:nvSpPr>
          <p:cNvPr id="40964" name="Rectangle 4"/>
          <p:cNvSpPr>
            <a:spLocks noChangeArrowheads="1"/>
          </p:cNvSpPr>
          <p:nvPr/>
        </p:nvSpPr>
        <p:spPr bwMode="auto">
          <a:xfrm>
            <a:off x="0" y="2813074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zh-CN" altLang="en-US" sz="2800">
              <a:latin typeface="Arial" panose="020B0604020202020204" pitchFamily="34" charset="0"/>
              <a:ea typeface="MS Gothic" panose="020B0609070205080204" pitchFamily="49" charset="-128"/>
            </a:endParaRPr>
          </a:p>
        </p:txBody>
      </p:sp>
      <p:graphicFrame>
        <p:nvGraphicFramePr>
          <p:cNvPr id="47104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2819383"/>
              </p:ext>
            </p:extLst>
          </p:nvPr>
        </p:nvGraphicFramePr>
        <p:xfrm>
          <a:off x="3582858" y="1781199"/>
          <a:ext cx="5400675" cy="1031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51" name="公式" r:id="rId4" imgW="2387600" imgH="457200" progId="Equation.3">
                  <p:embed/>
                </p:oleObj>
              </mc:Choice>
              <mc:Fallback>
                <p:oleObj name="公式" r:id="rId4" imgW="238760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2858" y="1781199"/>
                        <a:ext cx="5400675" cy="1031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04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5630095"/>
              </p:ext>
            </p:extLst>
          </p:nvPr>
        </p:nvGraphicFramePr>
        <p:xfrm>
          <a:off x="685628" y="2636912"/>
          <a:ext cx="5473526" cy="12739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52" name="文档" r:id="rId6" imgW="2655938" imgH="615622" progId="Word.Document.8">
                  <p:embed/>
                </p:oleObj>
              </mc:Choice>
              <mc:Fallback>
                <p:oleObj name="文档" r:id="rId6" imgW="2655938" imgH="615622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628" y="2636912"/>
                        <a:ext cx="5473526" cy="127399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182390" y="3425646"/>
            <a:ext cx="873835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GB" sz="2800" dirty="0"/>
              <a:t>因此</a:t>
            </a:r>
          </a:p>
        </p:txBody>
      </p:sp>
      <p:graphicFrame>
        <p:nvGraphicFramePr>
          <p:cNvPr id="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36432538"/>
              </p:ext>
            </p:extLst>
          </p:nvPr>
        </p:nvGraphicFramePr>
        <p:xfrm>
          <a:off x="1056225" y="3844188"/>
          <a:ext cx="3940859" cy="7460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53" name="Equation" r:id="rId8" imgW="1816100" imgH="381000" progId="Equation.DSMT4">
                  <p:embed/>
                </p:oleObj>
              </mc:Choice>
              <mc:Fallback>
                <p:oleObj name="Equation" r:id="rId8" imgW="1816100" imgH="381000" progId="Equation.DSMT4">
                  <p:embed/>
                  <p:pic>
                    <p:nvPicPr>
                      <p:cNvPr id="47206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6225" y="3844188"/>
                        <a:ext cx="3940859" cy="74601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" name="Group 5"/>
          <p:cNvGrpSpPr>
            <a:grpSpLocks/>
          </p:cNvGrpSpPr>
          <p:nvPr/>
        </p:nvGrpSpPr>
        <p:grpSpPr bwMode="auto">
          <a:xfrm>
            <a:off x="668417" y="5235922"/>
            <a:ext cx="2887993" cy="575295"/>
            <a:chOff x="965" y="2112"/>
            <a:chExt cx="1864" cy="365"/>
          </a:xfrm>
        </p:grpSpPr>
        <p:graphicFrame>
          <p:nvGraphicFramePr>
            <p:cNvPr id="10" name="Object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25853084"/>
                </p:ext>
              </p:extLst>
            </p:nvPr>
          </p:nvGraphicFramePr>
          <p:xfrm>
            <a:off x="965" y="2198"/>
            <a:ext cx="1134" cy="2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1854" name="公式" r:id="rId10" imgW="723272" imgH="177646" progId="Equation.3">
                    <p:embed/>
                  </p:oleObj>
                </mc:Choice>
                <mc:Fallback>
                  <p:oleObj name="公式" r:id="rId10" imgW="723272" imgH="177646" progId="Equation.3">
                    <p:embed/>
                    <p:pic>
                      <p:nvPicPr>
                        <p:cNvPr id="41992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65" y="2198"/>
                          <a:ext cx="1134" cy="2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" name="Text Box 7"/>
            <p:cNvSpPr txBox="1">
              <a:spLocks noChangeArrowheads="1"/>
            </p:cNvSpPr>
            <p:nvPr/>
          </p:nvSpPr>
          <p:spPr bwMode="auto">
            <a:xfrm>
              <a:off x="2058" y="2112"/>
              <a:ext cx="771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dirty="0"/>
                <a:t>(</a:t>
              </a:r>
              <a:r>
                <a:rPr lang="zh-CN" altLang="en-US" dirty="0"/>
                <a:t>元</a:t>
              </a:r>
              <a:r>
                <a:rPr lang="en-US" altLang="zh-CN" dirty="0"/>
                <a:t>)</a:t>
              </a:r>
            </a:p>
          </p:txBody>
        </p:sp>
      </p:grpSp>
      <p:graphicFrame>
        <p:nvGraphicFramePr>
          <p:cNvPr id="12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25440469"/>
              </p:ext>
            </p:extLst>
          </p:nvPr>
        </p:nvGraphicFramePr>
        <p:xfrm>
          <a:off x="685628" y="4391690"/>
          <a:ext cx="7292843" cy="8857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55" name="公式" r:id="rId12" imgW="3429000" imgH="393700" progId="Equation.3">
                  <p:embed/>
                </p:oleObj>
              </mc:Choice>
              <mc:Fallback>
                <p:oleObj name="公式" r:id="rId12" imgW="3429000" imgH="393700" progId="Equation.3">
                  <p:embed/>
                  <p:pic>
                    <p:nvPicPr>
                      <p:cNvPr id="472072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628" y="4391690"/>
                        <a:ext cx="7292843" cy="88579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0939987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500"/>
                                        <p:tgtEl>
                                          <p:spTgt spid="47104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500"/>
                                        <p:tgtEl>
                                          <p:spTgt spid="47104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500"/>
                                        <p:tgtEl>
                                          <p:spTgt spid="47104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4" dur="500"/>
                                        <p:tgtEl>
                                          <p:spTgt spid="47104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5" dur="500"/>
                                        <p:tgtEl>
                                          <p:spTgt spid="47104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500"/>
                                        <p:tgtEl>
                                          <p:spTgt spid="47104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1" dur="2000"/>
                                        <p:tgtEl>
                                          <p:spTgt spid="471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000"/>
                                        <p:tgtEl>
                                          <p:spTgt spid="471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1042" grpId="0" animBg="1"/>
      <p:bldP spid="471043" grpId="0"/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Text Box 2"/>
          <p:cNvSpPr txBox="1">
            <a:spLocks noChangeArrowheads="1"/>
          </p:cNvSpPr>
          <p:nvPr/>
        </p:nvSpPr>
        <p:spPr bwMode="auto">
          <a:xfrm>
            <a:off x="1406191" y="530021"/>
            <a:ext cx="7007046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None/>
            </a:pPr>
            <a:r>
              <a:rPr lang="zh-CN" altLang="en-US" sz="2800" dirty="0">
                <a:ea typeface="楷体_GB2312" pitchFamily="49" charset="-122"/>
              </a:rPr>
              <a:t>据统计65岁的人在</a:t>
            </a:r>
            <a:r>
              <a:rPr lang="zh-CN" altLang="en-US" sz="2800" dirty="0" smtClean="0">
                <a:ea typeface="楷体_GB2312" pitchFamily="49" charset="-122"/>
              </a:rPr>
              <a:t>10年内活着活着正常死亡</a:t>
            </a:r>
            <a:endParaRPr lang="en-US" altLang="zh-CN" sz="2800" dirty="0" smtClean="0">
              <a:ea typeface="楷体_GB2312" pitchFamily="49" charset="-122"/>
            </a:endParaRPr>
          </a:p>
          <a:p>
            <a:pPr eaLnBrk="1" hangingPunct="1">
              <a:spcBef>
                <a:spcPct val="0"/>
              </a:spcBef>
              <a:buClrTx/>
              <a:buNone/>
            </a:pPr>
            <a:r>
              <a:rPr lang="zh-CN" altLang="en-US" sz="2800" dirty="0" smtClean="0">
                <a:ea typeface="楷体_GB2312" pitchFamily="49" charset="-122"/>
              </a:rPr>
              <a:t>的</a:t>
            </a:r>
            <a:r>
              <a:rPr lang="zh-CN" altLang="en-US" sz="2800" dirty="0">
                <a:ea typeface="楷体_GB2312" pitchFamily="49" charset="-122"/>
              </a:rPr>
              <a:t>概率为0. 98, 因事故死亡概率为0.02</a:t>
            </a:r>
            <a:r>
              <a:rPr lang="zh-CN" altLang="en-US" sz="2800" dirty="0" smtClean="0">
                <a:ea typeface="楷体_GB2312" pitchFamily="49" charset="-122"/>
              </a:rPr>
              <a:t>.</a:t>
            </a:r>
            <a:endParaRPr lang="zh-CN" altLang="en-US" sz="2800" dirty="0">
              <a:ea typeface="楷体_GB2312" pitchFamily="49" charset="-122"/>
            </a:endParaRPr>
          </a:p>
        </p:txBody>
      </p:sp>
      <p:sp>
        <p:nvSpPr>
          <p:cNvPr id="138244" name="Text Box 4"/>
          <p:cNvSpPr txBox="1">
            <a:spLocks noChangeArrowheads="1"/>
          </p:cNvSpPr>
          <p:nvPr/>
        </p:nvSpPr>
        <p:spPr bwMode="auto">
          <a:xfrm>
            <a:off x="273790" y="483200"/>
            <a:ext cx="36580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8246" name="Text Box 6"/>
          <p:cNvSpPr txBox="1">
            <a:spLocks noChangeArrowheads="1"/>
          </p:cNvSpPr>
          <p:nvPr/>
        </p:nvSpPr>
        <p:spPr bwMode="auto">
          <a:xfrm>
            <a:off x="142953" y="1656822"/>
            <a:ext cx="826380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None/>
            </a:pPr>
            <a:r>
              <a:rPr lang="zh-CN" altLang="en-US" sz="2400" dirty="0" smtClean="0">
                <a:ea typeface="楷体_GB2312" pitchFamily="49" charset="-122"/>
              </a:rPr>
              <a:t>保险公司</a:t>
            </a:r>
            <a:r>
              <a:rPr lang="zh-CN" altLang="en-US" sz="2400" dirty="0">
                <a:ea typeface="楷体_GB2312" pitchFamily="49" charset="-122"/>
              </a:rPr>
              <a:t>开办老人事故死亡保险, 参加者需交纳保险费100元</a:t>
            </a:r>
            <a:r>
              <a:rPr lang="zh-CN" altLang="en-US" sz="2400" dirty="0" smtClean="0">
                <a:ea typeface="楷体_GB2312" pitchFamily="49" charset="-122"/>
              </a:rPr>
              <a:t>.</a:t>
            </a:r>
            <a:endParaRPr lang="zh-CN" altLang="en-US" sz="2400" dirty="0">
              <a:ea typeface="楷体_GB2312" pitchFamily="49" charset="-122"/>
            </a:endParaRPr>
          </a:p>
        </p:txBody>
      </p:sp>
      <p:sp>
        <p:nvSpPr>
          <p:cNvPr id="138248" name="Text Box 8"/>
          <p:cNvSpPr txBox="1">
            <a:spLocks noChangeArrowheads="1"/>
          </p:cNvSpPr>
          <p:nvPr/>
        </p:nvSpPr>
        <p:spPr bwMode="auto">
          <a:xfrm>
            <a:off x="140654" y="2088970"/>
            <a:ext cx="8811433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ea typeface="楷体_GB2312" pitchFamily="49" charset="-122"/>
              </a:rPr>
              <a:t>若</a:t>
            </a:r>
            <a:r>
              <a:rPr lang="zh-CN" altLang="en-US" sz="2400" dirty="0">
                <a:solidFill>
                  <a:srgbClr val="FF0000"/>
                </a:solidFill>
                <a:ea typeface="楷体_GB2312" pitchFamily="49" charset="-122"/>
              </a:rPr>
              <a:t>10 年内因事故死亡</a:t>
            </a:r>
            <a:r>
              <a:rPr lang="zh-CN" altLang="en-US" sz="2400" dirty="0">
                <a:ea typeface="楷体_GB2312" pitchFamily="49" charset="-122"/>
              </a:rPr>
              <a:t>公司赔偿</a:t>
            </a:r>
            <a:r>
              <a:rPr lang="en-US" altLang="zh-CN" sz="2400" i="1" dirty="0" smtClean="0">
                <a:ea typeface="楷体_GB2312" pitchFamily="49" charset="-122"/>
              </a:rPr>
              <a:t>a </a:t>
            </a:r>
            <a:r>
              <a:rPr lang="zh-CN" altLang="en-US" sz="2400" dirty="0">
                <a:ea typeface="楷体_GB2312" pitchFamily="49" charset="-122"/>
              </a:rPr>
              <a:t>元, 应如何定 </a:t>
            </a:r>
            <a:r>
              <a:rPr lang="en-US" altLang="zh-CN" sz="2400" i="1" dirty="0">
                <a:ea typeface="楷体_GB2312" pitchFamily="49" charset="-122"/>
              </a:rPr>
              <a:t>a , </a:t>
            </a:r>
            <a:r>
              <a:rPr lang="zh-CN" altLang="en-US" sz="2400" dirty="0">
                <a:ea typeface="楷体_GB2312" pitchFamily="49" charset="-122"/>
              </a:rPr>
              <a:t>才能使公司可期望获益;</a:t>
            </a:r>
          </a:p>
        </p:txBody>
      </p:sp>
      <p:sp>
        <p:nvSpPr>
          <p:cNvPr id="138249" name="Text Box 9"/>
          <p:cNvSpPr txBox="1">
            <a:spLocks noChangeArrowheads="1"/>
          </p:cNvSpPr>
          <p:nvPr/>
        </p:nvSpPr>
        <p:spPr bwMode="auto">
          <a:xfrm>
            <a:off x="1259632" y="2454857"/>
            <a:ext cx="539923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ea typeface="楷体_GB2312" pitchFamily="49" charset="-122"/>
              </a:rPr>
              <a:t>若有1000人投保, 公司期望总获益多少?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6245290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8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38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38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38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38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8242" grpId="0" autoUpdateAnimBg="0"/>
      <p:bldP spid="138244" grpId="0" autoUpdateAnimBg="0"/>
      <p:bldP spid="138246" grpId="0" autoUpdateAnimBg="0"/>
      <p:bldP spid="138248" grpId="0" autoUpdateAnimBg="0"/>
      <p:bldP spid="138249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3" name="Text Box 3"/>
          <p:cNvSpPr txBox="1">
            <a:spLocks noChangeArrowheads="1"/>
          </p:cNvSpPr>
          <p:nvPr/>
        </p:nvSpPr>
        <p:spPr bwMode="auto">
          <a:xfrm>
            <a:off x="304800" y="548680"/>
            <a:ext cx="5461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 b="1">
                <a:ea typeface="黑体" panose="02010609060101010101" pitchFamily="49" charset="-122"/>
              </a:rPr>
              <a:t>解</a:t>
            </a:r>
          </a:p>
        </p:txBody>
      </p:sp>
      <p:sp>
        <p:nvSpPr>
          <p:cNvPr id="138250" name="Text Box 10"/>
          <p:cNvSpPr txBox="1">
            <a:spLocks noChangeArrowheads="1"/>
          </p:cNvSpPr>
          <p:nvPr/>
        </p:nvSpPr>
        <p:spPr bwMode="auto">
          <a:xfrm>
            <a:off x="990600" y="580430"/>
            <a:ext cx="61531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Wingdings" panose="05000000000000000000" pitchFamily="2" charset="2"/>
              <a:buNone/>
            </a:pPr>
            <a:r>
              <a:rPr lang="zh-CN" altLang="en-US" sz="2400" dirty="0">
                <a:ea typeface="楷体_GB2312" pitchFamily="49" charset="-122"/>
              </a:rPr>
              <a:t>设</a:t>
            </a:r>
            <a:r>
              <a:rPr lang="en-US" altLang="zh-CN" sz="2400" i="1" dirty="0">
                <a:ea typeface="楷体_GB2312" pitchFamily="49" charset="-122"/>
              </a:rPr>
              <a:t>X</a:t>
            </a:r>
            <a:r>
              <a:rPr lang="en-US" altLang="zh-CN" sz="2400" i="1" baseline="-25000" dirty="0">
                <a:ea typeface="楷体_GB2312" pitchFamily="49" charset="-122"/>
              </a:rPr>
              <a:t>i</a:t>
            </a:r>
            <a:r>
              <a:rPr lang="en-US" altLang="zh-CN" sz="2400" baseline="-25000" dirty="0">
                <a:ea typeface="楷体_GB2312" pitchFamily="49" charset="-122"/>
              </a:rPr>
              <a:t> </a:t>
            </a:r>
            <a:r>
              <a:rPr lang="zh-CN" altLang="en-US" sz="2400" dirty="0">
                <a:ea typeface="楷体_GB2312" pitchFamily="49" charset="-122"/>
              </a:rPr>
              <a:t>表示公司从第 </a:t>
            </a:r>
            <a:r>
              <a:rPr lang="en-US" altLang="zh-CN" sz="2400" i="1" dirty="0" err="1">
                <a:ea typeface="楷体_GB2312" pitchFamily="49" charset="-122"/>
              </a:rPr>
              <a:t>i</a:t>
            </a:r>
            <a:r>
              <a:rPr lang="en-US" altLang="zh-CN" sz="2400" dirty="0">
                <a:ea typeface="楷体_GB2312" pitchFamily="49" charset="-122"/>
              </a:rPr>
              <a:t> </a:t>
            </a:r>
            <a:r>
              <a:rPr lang="zh-CN" altLang="en-US" sz="2400" dirty="0">
                <a:ea typeface="楷体_GB2312" pitchFamily="49" charset="-122"/>
              </a:rPr>
              <a:t>个投保者身上所得</a:t>
            </a:r>
          </a:p>
        </p:txBody>
      </p:sp>
      <p:sp>
        <p:nvSpPr>
          <p:cNvPr id="138251" name="Text Box 11"/>
          <p:cNvSpPr txBox="1">
            <a:spLocks noChangeArrowheads="1"/>
          </p:cNvSpPr>
          <p:nvPr/>
        </p:nvSpPr>
        <p:spPr bwMode="auto">
          <a:xfrm>
            <a:off x="6084168" y="591071"/>
            <a:ext cx="307167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Wingdings" panose="05000000000000000000" pitchFamily="2" charset="2"/>
              <a:buNone/>
            </a:pPr>
            <a:r>
              <a:rPr lang="zh-CN" altLang="en-US" sz="2400" dirty="0">
                <a:ea typeface="楷体_GB2312" pitchFamily="49" charset="-122"/>
              </a:rPr>
              <a:t>的收益, </a:t>
            </a:r>
            <a:r>
              <a:rPr lang="en-US" altLang="zh-CN" sz="2400" i="1" dirty="0" err="1">
                <a:ea typeface="楷体_GB2312" pitchFamily="49" charset="-122"/>
              </a:rPr>
              <a:t>i</a:t>
            </a:r>
            <a:r>
              <a:rPr lang="zh-CN" altLang="en-US" sz="2400" dirty="0">
                <a:ea typeface="楷体_GB2312" pitchFamily="49" charset="-122"/>
              </a:rPr>
              <a:t> </a:t>
            </a:r>
            <a:r>
              <a:rPr lang="en-US" altLang="zh-CN" sz="2400" dirty="0">
                <a:ea typeface="楷体_GB2312" pitchFamily="49" charset="-122"/>
              </a:rPr>
              <a:t>=1~1000 . </a:t>
            </a:r>
            <a:r>
              <a:rPr lang="zh-CN" altLang="en-US" sz="2400" dirty="0">
                <a:ea typeface="楷体_GB2312" pitchFamily="49" charset="-122"/>
              </a:rPr>
              <a:t>则</a:t>
            </a:r>
          </a:p>
        </p:txBody>
      </p:sp>
      <p:sp>
        <p:nvSpPr>
          <p:cNvPr id="138252" name="Text Box 12"/>
          <p:cNvSpPr txBox="1">
            <a:spLocks noChangeArrowheads="1"/>
          </p:cNvSpPr>
          <p:nvPr/>
        </p:nvSpPr>
        <p:spPr bwMode="auto">
          <a:xfrm>
            <a:off x="2695972" y="1277141"/>
            <a:ext cx="7239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i="1" dirty="0">
                <a:ea typeface="楷体_GB2312" pitchFamily="49" charset="-122"/>
              </a:rPr>
              <a:t>X</a:t>
            </a:r>
            <a:r>
              <a:rPr lang="en-US" altLang="zh-CN" sz="2800" i="1" baseline="-25000" dirty="0">
                <a:ea typeface="楷体_GB2312" pitchFamily="49" charset="-122"/>
              </a:rPr>
              <a:t>i </a:t>
            </a:r>
            <a:r>
              <a:rPr lang="zh-CN" altLang="en-US" sz="2800" dirty="0">
                <a:ea typeface="楷体_GB2312" pitchFamily="49" charset="-122"/>
              </a:rPr>
              <a:t>~</a:t>
            </a:r>
          </a:p>
        </p:txBody>
      </p:sp>
      <p:grpSp>
        <p:nvGrpSpPr>
          <p:cNvPr id="2" name="Group 13"/>
          <p:cNvGrpSpPr>
            <a:grpSpLocks/>
          </p:cNvGrpSpPr>
          <p:nvPr/>
        </p:nvGrpSpPr>
        <p:grpSpPr bwMode="auto">
          <a:xfrm>
            <a:off x="3509845" y="1124744"/>
            <a:ext cx="2826834" cy="1057275"/>
            <a:chOff x="2448" y="3580"/>
            <a:chExt cx="1728" cy="666"/>
          </a:xfrm>
        </p:grpSpPr>
        <p:sp>
          <p:nvSpPr>
            <p:cNvPr id="51217" name="AutoShape 14"/>
            <p:cNvSpPr>
              <a:spLocks/>
            </p:cNvSpPr>
            <p:nvPr/>
          </p:nvSpPr>
          <p:spPr bwMode="auto">
            <a:xfrm>
              <a:off x="2521" y="3656"/>
              <a:ext cx="48" cy="576"/>
            </a:xfrm>
            <a:prstGeom prst="leftBracket">
              <a:avLst>
                <a:gd name="adj" fmla="val 100000"/>
              </a:avLst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800">
                <a:ea typeface="楷体_GB2312" pitchFamily="49" charset="-122"/>
              </a:endParaRPr>
            </a:p>
          </p:txBody>
        </p:sp>
        <p:sp>
          <p:nvSpPr>
            <p:cNvPr id="51218" name="AutoShape 15"/>
            <p:cNvSpPr>
              <a:spLocks/>
            </p:cNvSpPr>
            <p:nvPr/>
          </p:nvSpPr>
          <p:spPr bwMode="auto">
            <a:xfrm>
              <a:off x="3670" y="3670"/>
              <a:ext cx="48" cy="576"/>
            </a:xfrm>
            <a:prstGeom prst="rightBracket">
              <a:avLst>
                <a:gd name="adj" fmla="val 100000"/>
              </a:avLst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800">
                <a:ea typeface="楷体_GB2312" pitchFamily="49" charset="-122"/>
              </a:endParaRPr>
            </a:p>
          </p:txBody>
        </p:sp>
        <p:sp>
          <p:nvSpPr>
            <p:cNvPr id="51219" name="Text Box 16"/>
            <p:cNvSpPr txBox="1">
              <a:spLocks noChangeArrowheads="1"/>
            </p:cNvSpPr>
            <p:nvPr/>
          </p:nvSpPr>
          <p:spPr bwMode="auto">
            <a:xfrm>
              <a:off x="2448" y="3916"/>
              <a:ext cx="1304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800">
                  <a:ea typeface="楷体_GB2312" pitchFamily="49" charset="-122"/>
                </a:rPr>
                <a:t>  0.98     0.02</a:t>
              </a:r>
            </a:p>
          </p:txBody>
        </p:sp>
        <p:grpSp>
          <p:nvGrpSpPr>
            <p:cNvPr id="51220" name="Group 17"/>
            <p:cNvGrpSpPr>
              <a:grpSpLocks/>
            </p:cNvGrpSpPr>
            <p:nvPr/>
          </p:nvGrpSpPr>
          <p:grpSpPr bwMode="auto">
            <a:xfrm>
              <a:off x="2544" y="3580"/>
              <a:ext cx="1632" cy="356"/>
              <a:chOff x="2544" y="3580"/>
              <a:chExt cx="1632" cy="356"/>
            </a:xfrm>
          </p:grpSpPr>
          <p:sp>
            <p:nvSpPr>
              <p:cNvPr id="51221" name="Text Box 18"/>
              <p:cNvSpPr txBox="1">
                <a:spLocks noChangeArrowheads="1"/>
              </p:cNvSpPr>
              <p:nvPr/>
            </p:nvSpPr>
            <p:spPr bwMode="auto">
              <a:xfrm>
                <a:off x="2544" y="3580"/>
                <a:ext cx="1161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996633"/>
                  </a:buClr>
                  <a:buFont typeface="Wingdings" panose="05000000000000000000" pitchFamily="2" charset="2"/>
                  <a:buBlip>
                    <a:blip r:embed="rId3"/>
                  </a:buBlip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996633"/>
                  </a:buClr>
                  <a:buFont typeface="Wingdings" panose="05000000000000000000" pitchFamily="2" charset="2"/>
                  <a:buBlip>
                    <a:blip r:embed="rId3"/>
                  </a:buBlip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996633"/>
                  </a:buClr>
                  <a:buFont typeface="Wingdings" panose="05000000000000000000" pitchFamily="2" charset="2"/>
                  <a:buBlip>
                    <a:blip r:embed="rId3"/>
                  </a:buBlip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996633"/>
                  </a:buClr>
                  <a:buFont typeface="Wingdings" panose="05000000000000000000" pitchFamily="2" charset="2"/>
                  <a:buBlip>
                    <a:blip r:embed="rId3"/>
                  </a:buBlip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996633"/>
                  </a:buClr>
                  <a:buFont typeface="Wingdings" panose="05000000000000000000" pitchFamily="2" charset="2"/>
                  <a:buBlip>
                    <a:blip r:embed="rId3"/>
                  </a:buBlip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6633"/>
                  </a:buClr>
                  <a:buFont typeface="Wingdings" panose="05000000000000000000" pitchFamily="2" charset="2"/>
                  <a:buBlip>
                    <a:blip r:embed="rId3"/>
                  </a:buBlip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6633"/>
                  </a:buClr>
                  <a:buFont typeface="Wingdings" panose="05000000000000000000" pitchFamily="2" charset="2"/>
                  <a:buBlip>
                    <a:blip r:embed="rId3"/>
                  </a:buBlip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6633"/>
                  </a:buClr>
                  <a:buFont typeface="Wingdings" panose="05000000000000000000" pitchFamily="2" charset="2"/>
                  <a:buBlip>
                    <a:blip r:embed="rId3"/>
                  </a:buBlip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6633"/>
                  </a:buClr>
                  <a:buFont typeface="Wingdings" panose="05000000000000000000" pitchFamily="2" charset="2"/>
                  <a:buBlip>
                    <a:blip r:embed="rId3"/>
                  </a:buBlip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zh-CN" altLang="en-US" sz="2800" dirty="0">
                    <a:ea typeface="楷体_GB2312" pitchFamily="49" charset="-122"/>
                  </a:rPr>
                  <a:t>100    100</a:t>
                </a:r>
                <a:r>
                  <a:rPr lang="en-US" altLang="zh-CN" sz="2800" dirty="0">
                    <a:ea typeface="楷体_GB2312" pitchFamily="49" charset="-122"/>
                  </a:rPr>
                  <a:t>-a</a:t>
                </a:r>
                <a:endParaRPr lang="zh-CN" altLang="en-US" sz="2800" dirty="0">
                  <a:ea typeface="楷体_GB2312" pitchFamily="49" charset="-122"/>
                </a:endParaRPr>
              </a:p>
            </p:txBody>
          </p:sp>
          <p:graphicFrame>
            <p:nvGraphicFramePr>
              <p:cNvPr id="51222" name="Object 19"/>
              <p:cNvGraphicFramePr>
                <a:graphicFrameLocks noChangeAspect="1"/>
              </p:cNvGraphicFramePr>
              <p:nvPr/>
            </p:nvGraphicFramePr>
            <p:xfrm>
              <a:off x="3782" y="3672"/>
              <a:ext cx="394" cy="26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1597" name="Equation" r:id="rId4" imgW="114266" imgH="19170" progId="Equation.3">
                      <p:embed/>
                    </p:oleObj>
                  </mc:Choice>
                  <mc:Fallback>
                    <p:oleObj name="Equation" r:id="rId4" imgW="114266" imgH="19170" progId="Equation.3">
                      <p:embed/>
                      <p:pic>
                        <p:nvPicPr>
                          <p:cNvPr id="0" name="Object 1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782" y="3672"/>
                            <a:ext cx="394" cy="26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24" name="Text Box 2"/>
          <p:cNvSpPr txBox="1">
            <a:spLocks noChangeArrowheads="1"/>
          </p:cNvSpPr>
          <p:nvPr/>
        </p:nvSpPr>
        <p:spPr bwMode="auto">
          <a:xfrm>
            <a:off x="441795" y="2185045"/>
            <a:ext cx="12669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800" dirty="0">
                <a:ea typeface="楷体_GB2312" pitchFamily="49" charset="-122"/>
              </a:rPr>
              <a:t>由题设 </a:t>
            </a:r>
          </a:p>
        </p:txBody>
      </p:sp>
      <p:graphicFrame>
        <p:nvGraphicFramePr>
          <p:cNvPr id="2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17743430"/>
              </p:ext>
            </p:extLst>
          </p:nvPr>
        </p:nvGraphicFramePr>
        <p:xfrm>
          <a:off x="1683543" y="2238003"/>
          <a:ext cx="4767263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598" name="Equation" r:id="rId6" imgW="2105146" imgH="114210" progId="Equation.DSMT4">
                  <p:embed/>
                </p:oleObj>
              </mc:Choice>
              <mc:Fallback>
                <p:oleObj name="Equation" r:id="rId6" imgW="2105146" imgH="11421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83543" y="2238003"/>
                        <a:ext cx="4767263" cy="542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23258408"/>
              </p:ext>
            </p:extLst>
          </p:nvPr>
        </p:nvGraphicFramePr>
        <p:xfrm>
          <a:off x="6353824" y="2294582"/>
          <a:ext cx="2790825" cy="414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599" name="Equation" r:id="rId8" imgW="961943" imgH="66690" progId="Equation.DSMT4">
                  <p:embed/>
                </p:oleObj>
              </mc:Choice>
              <mc:Fallback>
                <p:oleObj name="Equation" r:id="rId8" imgW="961943" imgH="6669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53824" y="2294582"/>
                        <a:ext cx="2790825" cy="414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65926042"/>
              </p:ext>
            </p:extLst>
          </p:nvPr>
        </p:nvGraphicFramePr>
        <p:xfrm>
          <a:off x="2771800" y="2909201"/>
          <a:ext cx="2314575" cy="395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600" name="Equation" r:id="rId10" imgW="828768" imgH="66690" progId="Equation.DSMT4">
                  <p:embed/>
                </p:oleObj>
              </mc:Choice>
              <mc:Fallback>
                <p:oleObj name="Equation" r:id="rId10" imgW="828768" imgH="6669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1800" y="2909201"/>
                        <a:ext cx="2314575" cy="395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Text Box 6"/>
          <p:cNvSpPr txBox="1">
            <a:spLocks noChangeArrowheads="1"/>
          </p:cNvSpPr>
          <p:nvPr/>
        </p:nvSpPr>
        <p:spPr bwMode="auto">
          <a:xfrm>
            <a:off x="230863" y="3423865"/>
            <a:ext cx="56477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ea typeface="楷体_GB2312" pitchFamily="49" charset="-122"/>
              </a:rPr>
              <a:t>公司每笔赔偿小于5000元, 能使公司获益.</a:t>
            </a:r>
          </a:p>
        </p:txBody>
      </p:sp>
      <p:graphicFrame>
        <p:nvGraphicFramePr>
          <p:cNvPr id="18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68906256"/>
              </p:ext>
            </p:extLst>
          </p:nvPr>
        </p:nvGraphicFramePr>
        <p:xfrm>
          <a:off x="323032" y="4119538"/>
          <a:ext cx="6003925" cy="1109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601" name="Equation" r:id="rId12" imgW="2336800" imgH="431800" progId="Equation.DSMT4">
                  <p:embed/>
                </p:oleObj>
              </mc:Choice>
              <mc:Fallback>
                <p:oleObj name="Equation" r:id="rId12" imgW="2336800" imgH="431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032" y="4119538"/>
                        <a:ext cx="6003925" cy="1109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 Box 9"/>
          <p:cNvSpPr txBox="1">
            <a:spLocks noChangeArrowheads="1"/>
          </p:cNvSpPr>
          <p:nvPr/>
        </p:nvSpPr>
        <p:spPr bwMode="auto">
          <a:xfrm>
            <a:off x="323032" y="5301208"/>
            <a:ext cx="819943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ea typeface="楷体_GB2312" pitchFamily="49" charset="-122"/>
              </a:rPr>
              <a:t>若公司每笔赔偿3000元, 能使公司</a:t>
            </a:r>
            <a:r>
              <a:rPr lang="zh-CN" altLang="en-US" sz="2400" dirty="0" smtClean="0">
                <a:ea typeface="楷体_GB2312" pitchFamily="49" charset="-122"/>
              </a:rPr>
              <a:t>期望总</a:t>
            </a:r>
            <a:r>
              <a:rPr lang="zh-CN" altLang="en-US" sz="2400" dirty="0">
                <a:ea typeface="楷体_GB2312" pitchFamily="49" charset="-122"/>
              </a:rPr>
              <a:t>获益40000元.</a:t>
            </a:r>
          </a:p>
        </p:txBody>
      </p:sp>
      <p:pic>
        <p:nvPicPr>
          <p:cNvPr id="20" name="图片 1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5342" y="2843510"/>
            <a:ext cx="2627312" cy="2025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8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38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38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1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38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5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0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5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80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1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8243" grpId="0" autoUpdateAnimBg="0"/>
      <p:bldP spid="138250" grpId="0" autoUpdateAnimBg="0"/>
      <p:bldP spid="138251" grpId="0" autoUpdateAnimBg="0"/>
      <p:bldP spid="138252" grpId="0" autoUpdateAnimBg="0"/>
      <p:bldP spid="24" grpId="0" autoUpdateAnimBg="0"/>
      <p:bldP spid="17" grpId="0" autoUpdateAnimBg="0"/>
      <p:bldP spid="19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Text Box 2"/>
          <p:cNvSpPr txBox="1">
            <a:spLocks noChangeArrowheads="1"/>
          </p:cNvSpPr>
          <p:nvPr/>
        </p:nvSpPr>
        <p:spPr bwMode="auto">
          <a:xfrm>
            <a:off x="221679" y="560874"/>
            <a:ext cx="8886825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000" dirty="0">
                <a:ea typeface="楷体_GB2312" pitchFamily="49" charset="-122"/>
              </a:rPr>
              <a:t>            设由自动线加工的某种零件的内径</a:t>
            </a:r>
            <a:r>
              <a:rPr lang="zh-CN" altLang="en-US" sz="2000" i="1" dirty="0">
                <a:ea typeface="楷体_GB2312" pitchFamily="49" charset="-122"/>
              </a:rPr>
              <a:t> </a:t>
            </a:r>
            <a:r>
              <a:rPr lang="en-US" altLang="zh-CN" sz="2000" i="1" dirty="0">
                <a:solidFill>
                  <a:srgbClr val="FF0000"/>
                </a:solidFill>
                <a:ea typeface="楷体_GB2312" pitchFamily="49" charset="-122"/>
              </a:rPr>
              <a:t>X </a:t>
            </a:r>
            <a:r>
              <a:rPr lang="en-US" altLang="zh-CN" sz="2000" dirty="0">
                <a:solidFill>
                  <a:srgbClr val="FF0000"/>
                </a:solidFill>
                <a:ea typeface="楷体_GB2312" pitchFamily="49" charset="-122"/>
              </a:rPr>
              <a:t>(mm)~ </a:t>
            </a:r>
            <a:r>
              <a:rPr lang="en-US" altLang="zh-CN" sz="2000" i="1" dirty="0">
                <a:solidFill>
                  <a:srgbClr val="FF0000"/>
                </a:solidFill>
                <a:ea typeface="楷体_GB2312" pitchFamily="49" charset="-122"/>
              </a:rPr>
              <a:t>N </a:t>
            </a:r>
            <a:r>
              <a:rPr lang="en-US" altLang="zh-CN" sz="2000" dirty="0">
                <a:solidFill>
                  <a:srgbClr val="FF0000"/>
                </a:solidFill>
                <a:ea typeface="楷体_GB2312" pitchFamily="49" charset="-122"/>
              </a:rPr>
              <a:t>(</a:t>
            </a:r>
            <a:r>
              <a:rPr lang="en-US" altLang="zh-CN" sz="2000" i="1" dirty="0">
                <a:solidFill>
                  <a:srgbClr val="FF0000"/>
                </a:solidFill>
                <a:ea typeface="楷体_GB2312" pitchFamily="49" charset="-122"/>
                <a:sym typeface="Symbol" panose="05050102010706020507" pitchFamily="18" charset="2"/>
              </a:rPr>
              <a:t> </a:t>
            </a:r>
            <a:r>
              <a:rPr lang="en-US" altLang="zh-CN" sz="2000" dirty="0">
                <a:solidFill>
                  <a:srgbClr val="FF0000"/>
                </a:solidFill>
                <a:ea typeface="楷体_GB2312" pitchFamily="49" charset="-122"/>
                <a:sym typeface="Symbol" panose="05050102010706020507" pitchFamily="18" charset="2"/>
              </a:rPr>
              <a:t>,1</a:t>
            </a:r>
            <a:r>
              <a:rPr lang="en-US" altLang="zh-CN" sz="2000" dirty="0">
                <a:solidFill>
                  <a:srgbClr val="FF0000"/>
                </a:solidFill>
                <a:ea typeface="楷体_GB2312" pitchFamily="49" charset="-122"/>
              </a:rPr>
              <a:t>).</a:t>
            </a:r>
            <a:r>
              <a:rPr lang="zh-CN" altLang="en-US" sz="2000" dirty="0">
                <a:ea typeface="楷体_GB2312" pitchFamily="49" charset="-122"/>
              </a:rPr>
              <a:t>已知销售每个零件的利润</a:t>
            </a:r>
            <a:r>
              <a:rPr lang="en-US" altLang="zh-CN" sz="2000" i="1" dirty="0">
                <a:ea typeface="楷体_GB2312" pitchFamily="49" charset="-122"/>
              </a:rPr>
              <a:t>T </a:t>
            </a:r>
            <a:r>
              <a:rPr lang="en-US" altLang="zh-CN" sz="2000" dirty="0">
                <a:ea typeface="楷体_GB2312" pitchFamily="49" charset="-122"/>
              </a:rPr>
              <a:t>(</a:t>
            </a:r>
            <a:r>
              <a:rPr lang="zh-CN" altLang="en-US" sz="2000" dirty="0">
                <a:ea typeface="楷体_GB2312" pitchFamily="49" charset="-122"/>
              </a:rPr>
              <a:t>元)与销售零件的内径 </a:t>
            </a:r>
            <a:r>
              <a:rPr lang="en-US" altLang="zh-CN" sz="2000" i="1" dirty="0">
                <a:ea typeface="楷体_GB2312" pitchFamily="49" charset="-122"/>
              </a:rPr>
              <a:t>X </a:t>
            </a:r>
            <a:r>
              <a:rPr lang="zh-CN" altLang="en-US" sz="2000" dirty="0">
                <a:ea typeface="楷体_GB2312" pitchFamily="49" charset="-122"/>
              </a:rPr>
              <a:t>有如下的关系：</a:t>
            </a:r>
          </a:p>
        </p:txBody>
      </p:sp>
      <p:graphicFrame>
        <p:nvGraphicFramePr>
          <p:cNvPr id="14336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2530752"/>
              </p:ext>
            </p:extLst>
          </p:nvPr>
        </p:nvGraphicFramePr>
        <p:xfrm>
          <a:off x="1811032" y="1302850"/>
          <a:ext cx="2328920" cy="11305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572" name="Equation" r:id="rId4" imgW="1371735" imgH="609660" progId="Equation.DSMT4">
                  <p:embed/>
                </p:oleObj>
              </mc:Choice>
              <mc:Fallback>
                <p:oleObj name="Equation" r:id="rId4" imgW="1371735" imgH="60966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11032" y="1302850"/>
                        <a:ext cx="2328920" cy="113058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364" name="Text Box 4"/>
          <p:cNvSpPr txBox="1">
            <a:spLocks noChangeArrowheads="1"/>
          </p:cNvSpPr>
          <p:nvPr/>
        </p:nvSpPr>
        <p:spPr bwMode="auto">
          <a:xfrm>
            <a:off x="323528" y="2433433"/>
            <a:ext cx="857885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000" dirty="0">
                <a:ea typeface="楷体_GB2312" pitchFamily="49" charset="-122"/>
              </a:rPr>
              <a:t>问平均直径</a:t>
            </a:r>
            <a:r>
              <a:rPr lang="zh-CN" altLang="en-US" sz="2000" i="1" dirty="0">
                <a:ea typeface="楷体_GB2312" pitchFamily="49" charset="-122"/>
              </a:rPr>
              <a:t> </a:t>
            </a:r>
            <a:r>
              <a:rPr lang="zh-CN" altLang="en-US" sz="2000" i="1" dirty="0">
                <a:ea typeface="楷体_GB2312" pitchFamily="49" charset="-122"/>
                <a:sym typeface="Symbol" panose="05050102010706020507" pitchFamily="18" charset="2"/>
              </a:rPr>
              <a:t> </a:t>
            </a:r>
            <a:r>
              <a:rPr lang="zh-CN" altLang="en-US" sz="2000" dirty="0">
                <a:ea typeface="楷体_GB2312" pitchFamily="49" charset="-122"/>
                <a:sym typeface="Symbol" panose="05050102010706020507" pitchFamily="18" charset="2"/>
              </a:rPr>
              <a:t>为何值时, 销售一个零件的平均利润最大？</a:t>
            </a:r>
            <a:endParaRPr lang="zh-CN" altLang="en-US" sz="2000" dirty="0">
              <a:ea typeface="楷体_GB2312" pitchFamily="49" charset="-122"/>
            </a:endParaRPr>
          </a:p>
        </p:txBody>
      </p:sp>
      <p:sp>
        <p:nvSpPr>
          <p:cNvPr id="143365" name="Text Box 5"/>
          <p:cNvSpPr txBox="1">
            <a:spLocks noChangeArrowheads="1"/>
          </p:cNvSpPr>
          <p:nvPr/>
        </p:nvSpPr>
        <p:spPr bwMode="auto">
          <a:xfrm>
            <a:off x="179512" y="566416"/>
            <a:ext cx="133191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b="1" dirty="0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</a:t>
            </a:r>
            <a:endParaRPr lang="zh-CN" altLang="en-US" sz="24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57351" name="图片 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6256" y="1028081"/>
            <a:ext cx="1477091" cy="12355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2"/>
          <p:cNvSpPr txBox="1">
            <a:spLocks noChangeArrowheads="1"/>
          </p:cNvSpPr>
          <p:nvPr/>
        </p:nvSpPr>
        <p:spPr bwMode="auto">
          <a:xfrm>
            <a:off x="153731" y="2856375"/>
            <a:ext cx="48361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b="1" dirty="0">
                <a:ea typeface="黑体" panose="02010609060101010101" pitchFamily="49" charset="-122"/>
              </a:rPr>
              <a:t>解</a:t>
            </a:r>
          </a:p>
        </p:txBody>
      </p:sp>
      <p:graphicFrame>
        <p:nvGraphicFramePr>
          <p:cNvPr id="8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15461308"/>
              </p:ext>
            </p:extLst>
          </p:nvPr>
        </p:nvGraphicFramePr>
        <p:xfrm>
          <a:off x="898947" y="2886171"/>
          <a:ext cx="4251265" cy="4020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573" name="Equation" r:id="rId7" imgW="2076512" imgH="95310" progId="Equation.DSMT4">
                  <p:embed/>
                </p:oleObj>
              </mc:Choice>
              <mc:Fallback>
                <p:oleObj name="Equation" r:id="rId7" imgW="2076512" imgH="9531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8947" y="2886171"/>
                        <a:ext cx="4251265" cy="402071"/>
                      </a:xfrm>
                      <a:prstGeom prst="rect">
                        <a:avLst/>
                      </a:prstGeom>
                      <a:solidFill>
                        <a:srgbClr val="92D050"/>
                      </a:solidFill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77015246"/>
              </p:ext>
            </p:extLst>
          </p:nvPr>
        </p:nvGraphicFramePr>
        <p:xfrm>
          <a:off x="5768576" y="2964818"/>
          <a:ext cx="3133275" cy="7622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574" name="Equation" r:id="rId9" imgW="1752623" imgH="323730" progId="Equation.DSMT4">
                  <p:embed/>
                </p:oleObj>
              </mc:Choice>
              <mc:Fallback>
                <p:oleObj name="Equation" r:id="rId9" imgW="1752623" imgH="32373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68576" y="2964818"/>
                        <a:ext cx="3133275" cy="762206"/>
                      </a:xfrm>
                      <a:prstGeom prst="rect">
                        <a:avLst/>
                      </a:prstGeom>
                      <a:solidFill>
                        <a:srgbClr val="92D050"/>
                      </a:solidFill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53864046"/>
              </p:ext>
            </p:extLst>
          </p:nvPr>
        </p:nvGraphicFramePr>
        <p:xfrm>
          <a:off x="898947" y="3387230"/>
          <a:ext cx="4353892" cy="4217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575" name="Equation" r:id="rId11" imgW="2266956" imgH="95310" progId="Equation.DSMT4">
                  <p:embed/>
                </p:oleObj>
              </mc:Choice>
              <mc:Fallback>
                <p:oleObj name="Equation" r:id="rId11" imgW="2266956" imgH="9531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8947" y="3387230"/>
                        <a:ext cx="4353892" cy="421752"/>
                      </a:xfrm>
                      <a:prstGeom prst="rect">
                        <a:avLst/>
                      </a:prstGeom>
                      <a:solidFill>
                        <a:srgbClr val="92D050"/>
                      </a:solidFill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88594381"/>
              </p:ext>
            </p:extLst>
          </p:nvPr>
        </p:nvGraphicFramePr>
        <p:xfrm>
          <a:off x="346818" y="3867907"/>
          <a:ext cx="8135938" cy="433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576" name="Equation" r:id="rId13" imgW="4356000" imgH="203040" progId="Equation.DSMT4">
                  <p:embed/>
                </p:oleObj>
              </mc:Choice>
              <mc:Fallback>
                <p:oleObj name="Equation" r:id="rId13" imgW="43560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6818" y="3867907"/>
                        <a:ext cx="8135938" cy="433388"/>
                      </a:xfrm>
                      <a:prstGeom prst="rect">
                        <a:avLst/>
                      </a:prstGeom>
                      <a:solidFill>
                        <a:srgbClr val="92D050"/>
                      </a:solidFill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" name="图片 11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71600" y="4349001"/>
            <a:ext cx="4695825" cy="438150"/>
          </a:xfrm>
          <a:prstGeom prst="rect">
            <a:avLst/>
          </a:prstGeom>
        </p:spPr>
      </p:pic>
      <p:graphicFrame>
        <p:nvGraphicFramePr>
          <p:cNvPr id="1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10122448"/>
              </p:ext>
            </p:extLst>
          </p:nvPr>
        </p:nvGraphicFramePr>
        <p:xfrm>
          <a:off x="588686" y="4843346"/>
          <a:ext cx="3887863" cy="7031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577" name="Equation" r:id="rId16" imgW="2419311" imgH="314280" progId="Equation.DSMT4">
                  <p:embed/>
                </p:oleObj>
              </mc:Choice>
              <mc:Fallback>
                <p:oleObj name="Equation" r:id="rId16" imgW="2419311" imgH="3142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8686" y="4843346"/>
                        <a:ext cx="3887863" cy="70314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89634172"/>
              </p:ext>
            </p:extLst>
          </p:nvPr>
        </p:nvGraphicFramePr>
        <p:xfrm>
          <a:off x="4913291" y="4680220"/>
          <a:ext cx="3988560" cy="8521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578" name="Equation" r:id="rId18" imgW="2257501" imgH="362070" progId="Equation.DSMT4">
                  <p:embed/>
                </p:oleObj>
              </mc:Choice>
              <mc:Fallback>
                <p:oleObj name="Equation" r:id="rId18" imgW="2257501" imgH="36207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13291" y="4680220"/>
                        <a:ext cx="3988560" cy="85219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 Box 5"/>
          <p:cNvSpPr txBox="1">
            <a:spLocks noChangeArrowheads="1"/>
          </p:cNvSpPr>
          <p:nvPr/>
        </p:nvSpPr>
        <p:spPr bwMode="auto">
          <a:xfrm>
            <a:off x="4503463" y="4919886"/>
            <a:ext cx="49244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ea typeface="楷体_GB2312" pitchFamily="49" charset="-122"/>
              </a:rPr>
              <a:t>即</a:t>
            </a:r>
          </a:p>
        </p:txBody>
      </p:sp>
      <p:grpSp>
        <p:nvGrpSpPr>
          <p:cNvPr id="16" name="Group 6"/>
          <p:cNvGrpSpPr>
            <a:grpSpLocks/>
          </p:cNvGrpSpPr>
          <p:nvPr/>
        </p:nvGrpSpPr>
        <p:grpSpPr bwMode="auto">
          <a:xfrm>
            <a:off x="327416" y="5509135"/>
            <a:ext cx="2125663" cy="738187"/>
            <a:chOff x="480" y="1760"/>
            <a:chExt cx="1339" cy="436"/>
          </a:xfrm>
        </p:grpSpPr>
        <p:graphicFrame>
          <p:nvGraphicFramePr>
            <p:cNvPr id="17" name="Object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61254657"/>
                </p:ext>
              </p:extLst>
            </p:nvPr>
          </p:nvGraphicFramePr>
          <p:xfrm>
            <a:off x="1035" y="1760"/>
            <a:ext cx="784" cy="4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7579" name="Equation" r:id="rId20" imgW="609690" imgH="285660" progId="Equation.DSMT4">
                    <p:embed/>
                  </p:oleObj>
                </mc:Choice>
                <mc:Fallback>
                  <p:oleObj name="Equation" r:id="rId20" imgW="609690" imgH="28566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35" y="1760"/>
                          <a:ext cx="784" cy="4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" name="AutoShape 8"/>
            <p:cNvSpPr>
              <a:spLocks noChangeArrowheads="1"/>
            </p:cNvSpPr>
            <p:nvPr/>
          </p:nvSpPr>
          <p:spPr bwMode="auto">
            <a:xfrm>
              <a:off x="480" y="1930"/>
              <a:ext cx="480" cy="96"/>
            </a:xfrm>
            <a:prstGeom prst="rightArrow">
              <a:avLst>
                <a:gd name="adj1" fmla="val 50000"/>
                <a:gd name="adj2" fmla="val 125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>
                <a:ea typeface="楷体_GB2312" pitchFamily="49" charset="-122"/>
              </a:endParaRPr>
            </a:p>
          </p:txBody>
        </p:sp>
      </p:grpSp>
      <p:grpSp>
        <p:nvGrpSpPr>
          <p:cNvPr id="19" name="Group 9"/>
          <p:cNvGrpSpPr>
            <a:grpSpLocks/>
          </p:cNvGrpSpPr>
          <p:nvPr/>
        </p:nvGrpSpPr>
        <p:grpSpPr bwMode="auto">
          <a:xfrm>
            <a:off x="2572142" y="5425485"/>
            <a:ext cx="2795588" cy="742950"/>
            <a:chOff x="2736" y="1794"/>
            <a:chExt cx="1761" cy="433"/>
          </a:xfrm>
        </p:grpSpPr>
        <p:graphicFrame>
          <p:nvGraphicFramePr>
            <p:cNvPr id="20" name="Object 10"/>
            <p:cNvGraphicFramePr>
              <a:graphicFrameLocks noChangeAspect="1"/>
            </p:cNvGraphicFramePr>
            <p:nvPr/>
          </p:nvGraphicFramePr>
          <p:xfrm>
            <a:off x="3420" y="1794"/>
            <a:ext cx="1077" cy="4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7580" name="Equation" r:id="rId22" imgW="885766" imgH="285660" progId="Equation.DSMT4">
                    <p:embed/>
                  </p:oleObj>
                </mc:Choice>
                <mc:Fallback>
                  <p:oleObj name="Equation" r:id="rId22" imgW="885766" imgH="28566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20" y="1794"/>
                          <a:ext cx="1077" cy="43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" name="AutoShape 11"/>
            <p:cNvSpPr>
              <a:spLocks noChangeArrowheads="1"/>
            </p:cNvSpPr>
            <p:nvPr/>
          </p:nvSpPr>
          <p:spPr bwMode="auto">
            <a:xfrm>
              <a:off x="2736" y="1968"/>
              <a:ext cx="480" cy="96"/>
            </a:xfrm>
            <a:prstGeom prst="rightArrow">
              <a:avLst>
                <a:gd name="adj1" fmla="val 50000"/>
                <a:gd name="adj2" fmla="val 125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>
                <a:ea typeface="楷体_GB2312" pitchFamily="49" charset="-122"/>
              </a:endParaRPr>
            </a:p>
          </p:txBody>
        </p:sp>
      </p:grpSp>
      <p:sp>
        <p:nvSpPr>
          <p:cNvPr id="24" name="矩形 20"/>
          <p:cNvSpPr>
            <a:spLocks noChangeArrowheads="1"/>
          </p:cNvSpPr>
          <p:nvPr/>
        </p:nvSpPr>
        <p:spPr bwMode="auto">
          <a:xfrm>
            <a:off x="137551" y="4933603"/>
            <a:ext cx="49244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400" dirty="0"/>
              <a:t>令</a:t>
            </a:r>
          </a:p>
        </p:txBody>
      </p:sp>
      <p:sp>
        <p:nvSpPr>
          <p:cNvPr id="23" name="Text Box 12"/>
          <p:cNvSpPr txBox="1">
            <a:spLocks noChangeArrowheads="1"/>
          </p:cNvSpPr>
          <p:nvPr/>
        </p:nvSpPr>
        <p:spPr bwMode="auto">
          <a:xfrm>
            <a:off x="5806845" y="5639713"/>
            <a:ext cx="133882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1800" dirty="0">
                <a:ea typeface="楷体_GB2312" pitchFamily="49" charset="-122"/>
              </a:rPr>
              <a:t>可以验证，</a:t>
            </a:r>
          </a:p>
        </p:txBody>
      </p:sp>
      <p:graphicFrame>
        <p:nvGraphicFramePr>
          <p:cNvPr id="25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13566154"/>
              </p:ext>
            </p:extLst>
          </p:nvPr>
        </p:nvGraphicFramePr>
        <p:xfrm>
          <a:off x="7123147" y="5509135"/>
          <a:ext cx="1293335" cy="5769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581" name="Equation" r:id="rId24" imgW="685868" imgH="342900" progId="Equation.DSMT4">
                  <p:embed/>
                </p:oleObj>
              </mc:Choice>
              <mc:Fallback>
                <p:oleObj name="Equation" r:id="rId24" imgW="685868" imgH="342900" progId="Equation.DSMT4">
                  <p:embed/>
                  <p:pic>
                    <p:nvPicPr>
                      <p:cNvPr id="145421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23147" y="5509135"/>
                        <a:ext cx="1293335" cy="57690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6" name="Group 15"/>
          <p:cNvGrpSpPr>
            <a:grpSpLocks/>
          </p:cNvGrpSpPr>
          <p:nvPr/>
        </p:nvGrpSpPr>
        <p:grpSpPr bwMode="auto">
          <a:xfrm>
            <a:off x="284212" y="6167758"/>
            <a:ext cx="7858125" cy="596900"/>
            <a:chOff x="863" y="3062"/>
            <a:chExt cx="4950" cy="376"/>
          </a:xfrm>
        </p:grpSpPr>
        <p:sp>
          <p:nvSpPr>
            <p:cNvPr id="27" name="Text Box 16"/>
            <p:cNvSpPr txBox="1">
              <a:spLocks noChangeArrowheads="1"/>
            </p:cNvSpPr>
            <p:nvPr/>
          </p:nvSpPr>
          <p:spPr bwMode="auto">
            <a:xfrm>
              <a:off x="863" y="3079"/>
              <a:ext cx="310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400">
                  <a:solidFill>
                    <a:srgbClr val="FFFF00"/>
                  </a:solidFill>
                  <a:ea typeface="楷体_GB2312" pitchFamily="49" charset="-122"/>
                </a:rPr>
                <a:t>故</a:t>
              </a:r>
            </a:p>
          </p:txBody>
        </p:sp>
        <p:graphicFrame>
          <p:nvGraphicFramePr>
            <p:cNvPr id="28" name="Object 17"/>
            <p:cNvGraphicFramePr>
              <a:graphicFrameLocks noChangeAspect="1"/>
            </p:cNvGraphicFramePr>
            <p:nvPr/>
          </p:nvGraphicFramePr>
          <p:xfrm>
            <a:off x="1115" y="3062"/>
            <a:ext cx="1755" cy="3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7582" name="Equation" r:id="rId26" imgW="1752623" imgH="285660" progId="Equation.DSMT4">
                    <p:embed/>
                  </p:oleObj>
                </mc:Choice>
                <mc:Fallback>
                  <p:oleObj name="Equation" r:id="rId26" imgW="1752623" imgH="285660" progId="Equation.DSMT4">
                    <p:embed/>
                    <p:pic>
                      <p:nvPicPr>
                        <p:cNvPr id="59405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15" y="3062"/>
                          <a:ext cx="1755" cy="3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" name="Text Box 18"/>
            <p:cNvSpPr txBox="1">
              <a:spLocks noChangeArrowheads="1"/>
            </p:cNvSpPr>
            <p:nvPr/>
          </p:nvSpPr>
          <p:spPr bwMode="auto">
            <a:xfrm>
              <a:off x="2837" y="3092"/>
              <a:ext cx="2976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400">
                  <a:solidFill>
                    <a:srgbClr val="FFFF00"/>
                  </a:solidFill>
                  <a:ea typeface="楷体_GB2312" pitchFamily="49" charset="-122"/>
                </a:rPr>
                <a:t>时,  销售一个零件的平均利润最大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3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433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43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43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62" grpId="0" build="p" autoUpdateAnimBg="0"/>
      <p:bldP spid="143364" grpId="0" autoUpdateAnimBg="0"/>
      <p:bldP spid="143365" grpId="0" autoUpdateAnimBg="0"/>
      <p:bldP spid="7" grpId="0" autoUpdateAnimBg="0"/>
      <p:bldP spid="15" grpId="0" autoUpdateAnimBg="0"/>
      <p:bldP spid="23" grpId="0" autoUpdateAnimBg="0"/>
    </p:bldLst>
  </p:timing>
</p:sld>
</file>

<file path=ppt/theme/theme1.xml><?xml version="1.0" encoding="utf-8"?>
<a:theme xmlns:a="http://schemas.openxmlformats.org/drawingml/2006/main" name="带编号主题">
  <a:themeElements>
    <a:clrScheme name="gjjy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gjjy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sz="2400" b="1" i="0" u="none" strike="noStrike" cap="none" normalizeH="0" baseline="0" smtClean="0">
            <a:ln>
              <a:noFill/>
            </a:ln>
            <a:solidFill>
              <a:schemeClr val="hlink"/>
            </a:solidFill>
            <a:effectLst/>
            <a:latin typeface="楷体_GB2312" pitchFamily="49" charset="-122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sz="2400" b="1" i="0" u="none" strike="noStrike" cap="none" normalizeH="0" baseline="0" smtClean="0">
            <a:ln>
              <a:noFill/>
            </a:ln>
            <a:solidFill>
              <a:schemeClr val="hlink"/>
            </a:solidFill>
            <a:effectLst/>
            <a:latin typeface="楷体_GB2312" pitchFamily="49" charset="-122"/>
            <a:ea typeface="楷体_GB2312" pitchFamily="49" charset="-122"/>
          </a:defRPr>
        </a:defPPr>
      </a:lstStyle>
    </a:lnDef>
  </a:objectDefaults>
  <a:extraClrSchemeLst>
    <a:extraClrScheme>
      <a:clrScheme name="gjjy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jjy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jjy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jjy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jjy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jjy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jjy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带编号主题" id="{E74A4B7F-94FD-43CE-8263-42BB3C351B48}" vid="{D543DBDC-2D13-448F-86E4-9000DF09A7C5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带编号主题</Template>
  <TotalTime>11910</TotalTime>
  <Words>584</Words>
  <Application>Microsoft Office PowerPoint</Application>
  <PresentationFormat>全屏显示(4:3)</PresentationFormat>
  <Paragraphs>48</Paragraphs>
  <Slides>8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8</vt:i4>
      </vt:variant>
    </vt:vector>
  </HeadingPairs>
  <TitlesOfParts>
    <vt:vector size="22" baseType="lpstr">
      <vt:lpstr>MS Gothic</vt:lpstr>
      <vt:lpstr>黑体</vt:lpstr>
      <vt:lpstr>楷体_GB2312</vt:lpstr>
      <vt:lpstr>宋体</vt:lpstr>
      <vt:lpstr>文鼎粗圆</vt:lpstr>
      <vt:lpstr>Arial</vt:lpstr>
      <vt:lpstr>Symbol</vt:lpstr>
      <vt:lpstr>Times New Roman</vt:lpstr>
      <vt:lpstr>Wingdings</vt:lpstr>
      <vt:lpstr>带编号主题</vt:lpstr>
      <vt:lpstr>Equation</vt:lpstr>
      <vt:lpstr>Document</vt:lpstr>
      <vt:lpstr>公式</vt:lpstr>
      <vt:lpstr>文档</vt:lpstr>
      <vt:lpstr>PowerPoint 演示文稿</vt:lpstr>
      <vt:lpstr> </vt:lpstr>
      <vt:lpstr>PowerPoint 演示文稿</vt:lpstr>
      <vt:lpstr>PowerPoint 演示文稿</vt:lpstr>
      <vt:lpstr>PowerPoint 演示文稿</vt:lpstr>
      <vt:lpstr> </vt:lpstr>
      <vt:lpstr>PowerPoint 演示文稿</vt:lpstr>
      <vt:lpstr>PowerPoint 演示文稿</vt:lpstr>
    </vt:vector>
  </TitlesOfParts>
  <Company>华中科技大学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概率论</dc:title>
  <dc:creator>梁敏</dc:creator>
  <cp:lastModifiedBy>Windows 用户</cp:lastModifiedBy>
  <cp:revision>579</cp:revision>
  <cp:lastPrinted>2019-10-28T07:05:04Z</cp:lastPrinted>
  <dcterms:created xsi:type="dcterms:W3CDTF">2002-08-23T01:14:32Z</dcterms:created>
  <dcterms:modified xsi:type="dcterms:W3CDTF">2019-10-28T07:06:26Z</dcterms:modified>
</cp:coreProperties>
</file>