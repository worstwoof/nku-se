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12" r:id="rId3"/>
  </p:sldIdLst>
  <p:sldSz cx="9144000" cy="6858000" type="screen4x3"/>
  <p:notesSz cx="9947275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65631" autoAdjust="0"/>
  </p:normalViewPr>
  <p:slideViewPr>
    <p:cSldViewPr showGuides="1">
      <p:cViewPr varScale="1">
        <p:scale>
          <a:sx n="101" d="100"/>
          <a:sy n="101" d="100"/>
        </p:scale>
        <p:origin x="1340" y="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7" Type="http://schemas.openxmlformats.org/officeDocument/2006/relationships/image" Target="../media/image9.wmf"/><Relationship Id="rId6" Type="http://schemas.openxmlformats.org/officeDocument/2006/relationships/image" Target="../media/image8.wmf"/><Relationship Id="rId5" Type="http://schemas.openxmlformats.org/officeDocument/2006/relationships/image" Target="../media/image7.emf"/><Relationship Id="rId4" Type="http://schemas.openxmlformats.org/officeDocument/2006/relationships/image" Target="../media/image6.emf"/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4487" y="1"/>
            <a:ext cx="4310486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0BEC2-81C8-4D39-8039-B2975B2A750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4487" y="6513910"/>
            <a:ext cx="4310486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388EC3-8E76-4E07-BFC9-7DC77AF77EB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10486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34487" y="0"/>
            <a:ext cx="4310486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ABBC8E-8635-4315-A806-FCCC418BD70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59138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4728" y="3257550"/>
            <a:ext cx="795782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310486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34487" y="6513910"/>
            <a:ext cx="4310486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1033B9-9F74-41CA-B6A3-FAFB2BA7F42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00"/>
                </a:solidFill>
              </a:defRPr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DEEEA2-2B4D-469D-A601-86A84474220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0" y="4953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620000" cy="8382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295400"/>
            <a:ext cx="3733800" cy="3352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3733800" cy="1600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0" y="3048000"/>
            <a:ext cx="3733800" cy="1600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85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5532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jpe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solidFill>
                  <a:schemeClr val="tx1"/>
                </a:solidFill>
                <a:latin typeface="+mn-lt"/>
                <a:ea typeface="文鼎粗圆" pitchFamily="49" charset="-122"/>
              </a:defRPr>
            </a:lvl1pPr>
          </a:lstStyle>
          <a:p>
            <a:fld id="{B2F6C2EC-1339-42FD-804E-CD6CEF6CB37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solidFill>
                  <a:schemeClr val="tx1"/>
                </a:solidFill>
                <a:latin typeface="+mn-lt"/>
                <a:ea typeface="文鼎粗圆" pitchFamily="49" charset="-122"/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="0" smtClean="0">
                <a:solidFill>
                  <a:srgbClr val="FFFF00"/>
                </a:solidFill>
                <a:latin typeface="Times New Roman" panose="02020603050405020304" pitchFamily="18" charset="0"/>
                <a:ea typeface="文鼎粗圆" pitchFamily="49" charset="-122"/>
              </a:defRPr>
            </a:lvl1pPr>
          </a:lstStyle>
          <a:p>
            <a:fld id="{B35288ED-011F-4ED1-84A1-D8EC3CF79C6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15404" y="6357958"/>
            <a:ext cx="428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4F25D349-C29D-46D2-8A83-8953848272E9}" type="slidenum">
              <a:rPr lang="zh-CN" altLang="en-US" sz="1400" smtClean="0">
                <a:solidFill>
                  <a:srgbClr val="FFFF00"/>
                </a:solidFill>
              </a:rPr>
            </a:fld>
            <a:endParaRPr lang="zh-CN" altLang="en-US" sz="1400" dirty="0">
              <a:solidFill>
                <a:srgbClr val="FFFF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e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5.e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9" Type="http://schemas.openxmlformats.org/officeDocument/2006/relationships/vmlDrawing" Target="../drawings/vmlDrawing1.vml"/><Relationship Id="rId18" Type="http://schemas.openxmlformats.org/officeDocument/2006/relationships/slideLayout" Target="../slideLayouts/slideLayout6.xml"/><Relationship Id="rId17" Type="http://schemas.openxmlformats.org/officeDocument/2006/relationships/image" Target="../media/image10.wmf"/><Relationship Id="rId16" Type="http://schemas.openxmlformats.org/officeDocument/2006/relationships/oleObject" Target="../embeddings/oleObject8.bin"/><Relationship Id="rId15" Type="http://schemas.openxmlformats.org/officeDocument/2006/relationships/image" Target="../media/image9.wmf"/><Relationship Id="rId14" Type="http://schemas.openxmlformats.org/officeDocument/2006/relationships/oleObject" Target="../embeddings/oleObject7.bin"/><Relationship Id="rId13" Type="http://schemas.openxmlformats.org/officeDocument/2006/relationships/image" Target="../media/image8.wmf"/><Relationship Id="rId12" Type="http://schemas.openxmlformats.org/officeDocument/2006/relationships/oleObject" Target="../embeddings/oleObject6.bin"/><Relationship Id="rId11" Type="http://schemas.openxmlformats.org/officeDocument/2006/relationships/image" Target="../media/image7.emf"/><Relationship Id="rId10" Type="http://schemas.openxmlformats.org/officeDocument/2006/relationships/oleObject" Target="../embeddings/oleObject5.bin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Line 9"/>
          <p:cNvSpPr>
            <a:spLocks noChangeShapeType="1"/>
          </p:cNvSpPr>
          <p:nvPr/>
        </p:nvSpPr>
        <p:spPr bwMode="auto">
          <a:xfrm>
            <a:off x="2634109" y="1556792"/>
            <a:ext cx="0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7" name="Line 10"/>
          <p:cNvSpPr>
            <a:spLocks noChangeShapeType="1"/>
          </p:cNvSpPr>
          <p:nvPr/>
        </p:nvSpPr>
        <p:spPr bwMode="auto">
          <a:xfrm>
            <a:off x="2634109" y="1556792"/>
            <a:ext cx="6096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8" name="Line 11"/>
          <p:cNvSpPr>
            <a:spLocks noChangeShapeType="1"/>
          </p:cNvSpPr>
          <p:nvPr/>
        </p:nvSpPr>
        <p:spPr bwMode="auto">
          <a:xfrm>
            <a:off x="3243709" y="1556792"/>
            <a:ext cx="29718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29" name="Line 12"/>
          <p:cNvSpPr>
            <a:spLocks noChangeShapeType="1"/>
          </p:cNvSpPr>
          <p:nvPr/>
        </p:nvSpPr>
        <p:spPr bwMode="auto">
          <a:xfrm>
            <a:off x="2778125" y="2940050"/>
            <a:ext cx="0" cy="15748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3"/>
          <p:cNvGrpSpPr/>
          <p:nvPr/>
        </p:nvGrpSpPr>
        <p:grpSpPr bwMode="auto">
          <a:xfrm>
            <a:off x="35496" y="555030"/>
            <a:ext cx="8440738" cy="1463676"/>
            <a:chOff x="18" y="229"/>
            <a:chExt cx="5317" cy="922"/>
          </a:xfrm>
        </p:grpSpPr>
        <p:sp>
          <p:nvSpPr>
            <p:cNvPr id="52233" name="Rectangle 14"/>
            <p:cNvSpPr>
              <a:spLocks noChangeArrowheads="1"/>
            </p:cNvSpPr>
            <p:nvPr/>
          </p:nvSpPr>
          <p:spPr bwMode="auto">
            <a:xfrm>
              <a:off x="18" y="252"/>
              <a:ext cx="89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 dirty="0" smtClean="0">
                  <a:solidFill>
                    <a:srgbClr val="0000FF"/>
                  </a:solidFill>
                  <a:latin typeface="楷体_GB2312" pitchFamily="49" charset="-122"/>
                </a:rPr>
                <a:t>作业</a:t>
              </a:r>
              <a:r>
                <a:rPr lang="en-US" altLang="zh-CN" sz="2000" b="1" dirty="0" smtClean="0">
                  <a:solidFill>
                    <a:srgbClr val="0000FF"/>
                  </a:solidFill>
                  <a:latin typeface="楷体_GB2312" pitchFamily="49" charset="-122"/>
                </a:rPr>
                <a:t>1.</a:t>
              </a:r>
              <a:endParaRPr lang="en-US" altLang="zh-CN" sz="2000" b="1" dirty="0">
                <a:solidFill>
                  <a:srgbClr val="0000FF"/>
                </a:solidFill>
              </a:endParaRPr>
            </a:p>
          </p:txBody>
        </p:sp>
        <p:sp>
          <p:nvSpPr>
            <p:cNvPr id="52234" name="Text Box 15"/>
            <p:cNvSpPr txBox="1">
              <a:spLocks noChangeArrowheads="1"/>
            </p:cNvSpPr>
            <p:nvPr/>
          </p:nvSpPr>
          <p:spPr bwMode="auto">
            <a:xfrm>
              <a:off x="857" y="247"/>
              <a:ext cx="108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accent2"/>
                  </a:solidFill>
                </a:rPr>
                <a:t>设随机变量</a:t>
              </a:r>
              <a:endParaRPr lang="zh-CN" altLang="en-US" sz="2400" dirty="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52235" name="Object 16"/>
            <p:cNvGraphicFramePr>
              <a:graphicFrameLocks noChangeAspect="1"/>
            </p:cNvGraphicFramePr>
            <p:nvPr/>
          </p:nvGraphicFramePr>
          <p:xfrm>
            <a:off x="1879" y="278"/>
            <a:ext cx="671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39" name="Equation" r:id="rId2" imgW="29667200" imgH="12598400" progId="Equation.DSMT4">
                    <p:embed/>
                  </p:oleObj>
                </mc:Choice>
                <mc:Fallback>
                  <p:oleObj name="Equation" r:id="rId2" imgW="29667200" imgH="12598400" progId="Equation.DSMT4">
                    <p:embed/>
                    <p:pic>
                      <p:nvPicPr>
                        <p:cNvPr id="0" name="图片 636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9" y="278"/>
                          <a:ext cx="671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36" name="Text Box 17"/>
            <p:cNvSpPr txBox="1">
              <a:spLocks noChangeArrowheads="1"/>
            </p:cNvSpPr>
            <p:nvPr/>
          </p:nvSpPr>
          <p:spPr bwMode="auto">
            <a:xfrm>
              <a:off x="2522" y="229"/>
              <a:ext cx="128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accent2"/>
                  </a:solidFill>
                </a:rPr>
                <a:t>的概率密度为</a:t>
              </a:r>
              <a:endParaRPr lang="zh-CN" altLang="en-US" sz="2400" dirty="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52237" name="Object 18"/>
            <p:cNvGraphicFramePr>
              <a:graphicFrameLocks noChangeAspect="1"/>
            </p:cNvGraphicFramePr>
            <p:nvPr/>
          </p:nvGraphicFramePr>
          <p:xfrm>
            <a:off x="148" y="619"/>
            <a:ext cx="2097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40" name="Equation" r:id="rId4" imgW="130860800" imgH="33324800" progId="Equation.DSMT4">
                    <p:embed/>
                  </p:oleObj>
                </mc:Choice>
                <mc:Fallback>
                  <p:oleObj name="Equation" r:id="rId4" imgW="130860800" imgH="33324800" progId="Equation.DSMT4">
                    <p:embed/>
                    <p:pic>
                      <p:nvPicPr>
                        <p:cNvPr id="0" name="图片 636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" y="619"/>
                          <a:ext cx="2097" cy="5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38" name="Text Box 19"/>
            <p:cNvSpPr txBox="1">
              <a:spLocks noChangeArrowheads="1"/>
            </p:cNvSpPr>
            <p:nvPr/>
          </p:nvSpPr>
          <p:spPr bwMode="auto">
            <a:xfrm>
              <a:off x="2438" y="724"/>
              <a:ext cx="289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solidFill>
                    <a:schemeClr val="accent2"/>
                  </a:solidFill>
                </a:rPr>
                <a:t>问 </a:t>
              </a:r>
              <a:r>
                <a:rPr lang="en-US" altLang="zh-CN" sz="2000" i="1" dirty="0">
                  <a:solidFill>
                    <a:schemeClr val="accent2"/>
                  </a:solidFill>
                </a:rPr>
                <a:t>X </a:t>
              </a:r>
              <a:r>
                <a:rPr lang="zh-CN" altLang="en-US" sz="2000" dirty="0">
                  <a:solidFill>
                    <a:schemeClr val="accent2"/>
                  </a:solidFill>
                </a:rPr>
                <a:t>和</a:t>
              </a:r>
              <a:r>
                <a:rPr lang="zh-CN" altLang="en-US" sz="2000" i="1" dirty="0">
                  <a:solidFill>
                    <a:schemeClr val="accent2"/>
                  </a:solidFill>
                </a:rPr>
                <a:t> </a:t>
              </a:r>
              <a:r>
                <a:rPr lang="en-US" altLang="zh-CN" sz="2000" i="1" dirty="0">
                  <a:solidFill>
                    <a:schemeClr val="accent2"/>
                  </a:solidFill>
                </a:rPr>
                <a:t>Y </a:t>
              </a:r>
              <a:r>
                <a:rPr lang="zh-CN" altLang="en-US" sz="2000" dirty="0">
                  <a:solidFill>
                    <a:schemeClr val="accent2"/>
                  </a:solidFill>
                </a:rPr>
                <a:t>是否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相互独立</a:t>
              </a:r>
              <a:r>
                <a:rPr lang="zh-CN" altLang="en-US" sz="2000" dirty="0">
                  <a:solidFill>
                    <a:schemeClr val="accent2"/>
                  </a:solidFill>
                </a:rPr>
                <a:t>，是否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不相关</a:t>
              </a:r>
              <a:r>
                <a:rPr lang="zh-CN" altLang="en-US" sz="2000" dirty="0">
                  <a:solidFill>
                    <a:schemeClr val="accent2"/>
                  </a:solidFill>
                </a:rPr>
                <a:t>？</a:t>
              </a:r>
              <a:endParaRPr lang="zh-CN" altLang="en-US" sz="20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3" name="Line 2"/>
          <p:cNvSpPr>
            <a:spLocks noChangeShapeType="1"/>
          </p:cNvSpPr>
          <p:nvPr/>
        </p:nvSpPr>
        <p:spPr bwMode="auto">
          <a:xfrm>
            <a:off x="2594992" y="4396917"/>
            <a:ext cx="0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3"/>
          <p:cNvSpPr>
            <a:spLocks noChangeShapeType="1"/>
          </p:cNvSpPr>
          <p:nvPr/>
        </p:nvSpPr>
        <p:spPr bwMode="auto">
          <a:xfrm>
            <a:off x="2450976" y="3547059"/>
            <a:ext cx="6096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4"/>
          <p:cNvSpPr>
            <a:spLocks noChangeShapeType="1"/>
          </p:cNvSpPr>
          <p:nvPr/>
        </p:nvSpPr>
        <p:spPr bwMode="auto">
          <a:xfrm>
            <a:off x="3060576" y="3547059"/>
            <a:ext cx="29718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" name="Group 6"/>
          <p:cNvGrpSpPr/>
          <p:nvPr/>
        </p:nvGrpSpPr>
        <p:grpSpPr bwMode="auto">
          <a:xfrm>
            <a:off x="251520" y="2165399"/>
            <a:ext cx="6558880" cy="1221323"/>
            <a:chOff x="336" y="156"/>
            <a:chExt cx="4944" cy="1035"/>
          </a:xfrm>
        </p:grpSpPr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336" y="161"/>
              <a:ext cx="576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 dirty="0" smtClean="0">
                  <a:solidFill>
                    <a:srgbClr val="0000FF"/>
                  </a:solidFill>
                  <a:latin typeface="楷体_GB2312" pitchFamily="49" charset="-122"/>
                </a:rPr>
                <a:t>2</a:t>
              </a:r>
              <a:r>
                <a:rPr lang="en-US" altLang="zh-CN" sz="2800" b="1" dirty="0">
                  <a:solidFill>
                    <a:srgbClr val="0000FF"/>
                  </a:solidFill>
                  <a:latin typeface="楷体_GB2312" pitchFamily="49" charset="-122"/>
                </a:rPr>
                <a:t>.</a:t>
              </a:r>
              <a:endParaRPr lang="en-US" altLang="zh-CN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18" name="Text Box 8"/>
            <p:cNvSpPr txBox="1">
              <a:spLocks noChangeArrowheads="1"/>
            </p:cNvSpPr>
            <p:nvPr/>
          </p:nvSpPr>
          <p:spPr bwMode="auto">
            <a:xfrm>
              <a:off x="857" y="156"/>
              <a:ext cx="12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solidFill>
                    <a:schemeClr val="accent2"/>
                  </a:solidFill>
                </a:rPr>
                <a:t>设随机变量</a:t>
              </a:r>
              <a:endParaRPr lang="zh-CN" altLang="en-US" sz="2800" dirty="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19" name="Object 9"/>
            <p:cNvGraphicFramePr>
              <a:graphicFrameLocks noChangeAspect="1"/>
            </p:cNvGraphicFramePr>
            <p:nvPr/>
          </p:nvGraphicFramePr>
          <p:xfrm>
            <a:off x="2247" y="230"/>
            <a:ext cx="662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41" name="Equation" r:id="rId6" imgW="29260800" imgH="11785600" progId="Equation.DSMT4">
                    <p:embed/>
                  </p:oleObj>
                </mc:Choice>
                <mc:Fallback>
                  <p:oleObj name="Equation" r:id="rId6" imgW="29260800" imgH="117856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7" y="230"/>
                          <a:ext cx="662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Text Box 10"/>
            <p:cNvSpPr txBox="1">
              <a:spLocks noChangeArrowheads="1"/>
            </p:cNvSpPr>
            <p:nvPr/>
          </p:nvSpPr>
          <p:spPr bwMode="auto">
            <a:xfrm>
              <a:off x="2775" y="156"/>
              <a:ext cx="14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dirty="0">
                  <a:solidFill>
                    <a:schemeClr val="accent2"/>
                  </a:solidFill>
                </a:rPr>
                <a:t>相互独立，且</a:t>
              </a:r>
              <a:endParaRPr lang="zh-CN" altLang="en-US" sz="2800" dirty="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1" name="Object 11"/>
            <p:cNvGraphicFramePr>
              <a:graphicFrameLocks noChangeAspect="1"/>
            </p:cNvGraphicFramePr>
            <p:nvPr/>
          </p:nvGraphicFramePr>
          <p:xfrm>
            <a:off x="384" y="720"/>
            <a:ext cx="2692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42" name="Equation" r:id="rId8" imgW="120294400" imgH="14630400" progId="Equation.DSMT4">
                    <p:embed/>
                  </p:oleObj>
                </mc:Choice>
                <mc:Fallback>
                  <p:oleObj name="Equation" r:id="rId8" imgW="120294400" imgH="146304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720"/>
                          <a:ext cx="2692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12"/>
            <p:cNvGraphicFramePr>
              <a:graphicFrameLocks noChangeAspect="1"/>
            </p:cNvGraphicFramePr>
            <p:nvPr/>
          </p:nvGraphicFramePr>
          <p:xfrm>
            <a:off x="3152" y="593"/>
            <a:ext cx="2128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43" name="Equation" r:id="rId10" imgW="95097600" imgH="26822400" progId="Equation.DSMT4">
                    <p:embed/>
                  </p:oleObj>
                </mc:Choice>
                <mc:Fallback>
                  <p:oleObj name="Equation" r:id="rId10" imgW="95097600" imgH="268224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593"/>
                          <a:ext cx="2128" cy="5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Line 2"/>
          <p:cNvSpPr>
            <a:spLocks noChangeShapeType="1"/>
          </p:cNvSpPr>
          <p:nvPr/>
        </p:nvSpPr>
        <p:spPr bwMode="auto">
          <a:xfrm>
            <a:off x="2152720" y="4181869"/>
            <a:ext cx="0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3"/>
          <p:cNvSpPr>
            <a:spLocks noChangeShapeType="1"/>
          </p:cNvSpPr>
          <p:nvPr/>
        </p:nvSpPr>
        <p:spPr bwMode="auto">
          <a:xfrm>
            <a:off x="2152720" y="4181869"/>
            <a:ext cx="6096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4"/>
          <p:cNvSpPr>
            <a:spLocks noChangeShapeType="1"/>
          </p:cNvSpPr>
          <p:nvPr/>
        </p:nvSpPr>
        <p:spPr bwMode="auto">
          <a:xfrm>
            <a:off x="2762320" y="4181869"/>
            <a:ext cx="29718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5"/>
          <p:cNvSpPr>
            <a:spLocks noChangeShapeType="1"/>
          </p:cNvSpPr>
          <p:nvPr/>
        </p:nvSpPr>
        <p:spPr bwMode="auto">
          <a:xfrm>
            <a:off x="2152720" y="4715269"/>
            <a:ext cx="0" cy="15748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2"/>
          <p:cNvSpPr>
            <a:spLocks noChangeShapeType="1"/>
          </p:cNvSpPr>
          <p:nvPr/>
        </p:nvSpPr>
        <p:spPr bwMode="auto">
          <a:xfrm>
            <a:off x="2868880" y="5431330"/>
            <a:ext cx="0" cy="533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Line 3"/>
          <p:cNvSpPr>
            <a:spLocks noChangeShapeType="1"/>
          </p:cNvSpPr>
          <p:nvPr/>
        </p:nvSpPr>
        <p:spPr bwMode="auto">
          <a:xfrm>
            <a:off x="2868880" y="5431330"/>
            <a:ext cx="6096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4"/>
          <p:cNvSpPr>
            <a:spLocks noChangeShapeType="1"/>
          </p:cNvSpPr>
          <p:nvPr/>
        </p:nvSpPr>
        <p:spPr bwMode="auto">
          <a:xfrm>
            <a:off x="3478480" y="5431330"/>
            <a:ext cx="29718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5"/>
          <p:cNvSpPr>
            <a:spLocks noChangeShapeType="1"/>
          </p:cNvSpPr>
          <p:nvPr/>
        </p:nvSpPr>
        <p:spPr bwMode="auto">
          <a:xfrm>
            <a:off x="2868880" y="5964730"/>
            <a:ext cx="0" cy="15748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1" name="Group 6"/>
          <p:cNvGrpSpPr/>
          <p:nvPr/>
        </p:nvGrpSpPr>
        <p:grpSpPr bwMode="auto">
          <a:xfrm>
            <a:off x="220608" y="3582879"/>
            <a:ext cx="8229600" cy="2336800"/>
            <a:chOff x="192" y="332"/>
            <a:chExt cx="5184" cy="1472"/>
          </a:xfrm>
        </p:grpSpPr>
        <p:sp>
          <p:nvSpPr>
            <p:cNvPr id="32" name="Rectangle 7"/>
            <p:cNvSpPr>
              <a:spLocks noChangeArrowheads="1"/>
            </p:cNvSpPr>
            <p:nvPr/>
          </p:nvSpPr>
          <p:spPr bwMode="auto">
            <a:xfrm>
              <a:off x="192" y="332"/>
              <a:ext cx="518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1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dirty="0" smtClean="0">
                  <a:solidFill>
                    <a:srgbClr val="0000FF"/>
                  </a:solidFill>
                  <a:latin typeface="楷体_GB2312" pitchFamily="49" charset="-122"/>
                </a:rPr>
                <a:t>3.</a:t>
              </a:r>
              <a:r>
                <a:rPr lang="en-US" altLang="zh-CN" sz="24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2400" b="1" dirty="0">
                  <a:solidFill>
                    <a:schemeClr val="accent2"/>
                  </a:solidFill>
                  <a:latin typeface="楷体_GB2312" pitchFamily="49" charset="-122"/>
                </a:rPr>
                <a:t>已知二维随机变量      的联合分布律为</a:t>
              </a:r>
              <a:endParaRPr lang="zh-CN" altLang="en-US" sz="24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33" name="Object 8"/>
            <p:cNvGraphicFramePr>
              <a:graphicFrameLocks noChangeAspect="1"/>
            </p:cNvGraphicFramePr>
            <p:nvPr/>
          </p:nvGraphicFramePr>
          <p:xfrm>
            <a:off x="1935" y="362"/>
            <a:ext cx="573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44" name="Equation" r:id="rId12" imgW="431800" imgH="203200" progId="Equation.DSMT4">
                    <p:embed/>
                  </p:oleObj>
                </mc:Choice>
                <mc:Fallback>
                  <p:oleObj name="Equation" r:id="rId12" imgW="431800" imgH="2032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5" y="362"/>
                          <a:ext cx="573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4" name="Group 9"/>
            <p:cNvGrpSpPr/>
            <p:nvPr/>
          </p:nvGrpSpPr>
          <p:grpSpPr bwMode="auto">
            <a:xfrm>
              <a:off x="3360" y="1008"/>
              <a:ext cx="1403" cy="740"/>
              <a:chOff x="3360" y="1008"/>
              <a:chExt cx="1403" cy="740"/>
            </a:xfrm>
          </p:grpSpPr>
          <p:graphicFrame>
            <p:nvGraphicFramePr>
              <p:cNvPr id="51" name="Object 10"/>
              <p:cNvGraphicFramePr>
                <a:graphicFrameLocks noChangeAspect="1"/>
              </p:cNvGraphicFramePr>
              <p:nvPr/>
            </p:nvGraphicFramePr>
            <p:xfrm>
              <a:off x="3734" y="1041"/>
              <a:ext cx="1029" cy="2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645" name="Equation" r:id="rId14" imgW="685800" imgH="203200" progId="Equation.DSMT4">
                      <p:embed/>
                    </p:oleObj>
                  </mc:Choice>
                  <mc:Fallback>
                    <p:oleObj name="Equation" r:id="rId14" imgW="685800" imgH="203200" progId="Equation.DSMT4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34" y="1041"/>
                            <a:ext cx="1029" cy="297"/>
                          </a:xfrm>
                          <a:prstGeom prst="rect">
                            <a:avLst/>
                          </a:prstGeom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" name="Object 11"/>
              <p:cNvGraphicFramePr>
                <a:graphicFrameLocks noChangeAspect="1"/>
              </p:cNvGraphicFramePr>
              <p:nvPr/>
            </p:nvGraphicFramePr>
            <p:xfrm>
              <a:off x="3758" y="1449"/>
              <a:ext cx="339" cy="2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646" name="Equation" r:id="rId16" imgW="266700" imgH="228600" progId="Equation.DSMT4">
                      <p:embed/>
                    </p:oleObj>
                  </mc:Choice>
                  <mc:Fallback>
                    <p:oleObj name="Equation" r:id="rId16" imgW="266700" imgH="228600" progId="Equation.DSMT4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58" y="1449"/>
                            <a:ext cx="339" cy="299"/>
                          </a:xfrm>
                          <a:prstGeom prst="rect">
                            <a:avLst/>
                          </a:prstGeom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3" name="Rectangle 12"/>
              <p:cNvSpPr>
                <a:spLocks noChangeArrowheads="1"/>
              </p:cNvSpPr>
              <p:nvPr/>
            </p:nvSpPr>
            <p:spPr bwMode="auto">
              <a:xfrm>
                <a:off x="3360" y="1008"/>
                <a:ext cx="52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400" b="1">
                    <a:solidFill>
                      <a:schemeClr val="accent2"/>
                    </a:solidFill>
                    <a:latin typeface="楷体_GB2312" pitchFamily="49" charset="-122"/>
                  </a:rPr>
                  <a:t>求</a:t>
                </a:r>
                <a:endParaRPr lang="zh-CN" altLang="en-US" sz="2400" b="1">
                  <a:solidFill>
                    <a:schemeClr val="accent2"/>
                  </a:solidFill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5" name="Group 13"/>
            <p:cNvGrpSpPr/>
            <p:nvPr/>
          </p:nvGrpSpPr>
          <p:grpSpPr bwMode="auto">
            <a:xfrm>
              <a:off x="432" y="468"/>
              <a:ext cx="3696" cy="1336"/>
              <a:chOff x="144" y="612"/>
              <a:chExt cx="3696" cy="1336"/>
            </a:xfrm>
          </p:grpSpPr>
          <p:sp>
            <p:nvSpPr>
              <p:cNvPr id="36" name="Rectangle 14"/>
              <p:cNvSpPr>
                <a:spLocks noChangeArrowheads="1"/>
              </p:cNvSpPr>
              <p:nvPr/>
            </p:nvSpPr>
            <p:spPr bwMode="auto">
              <a:xfrm>
                <a:off x="864" y="1276"/>
                <a:ext cx="2160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fontAlgn="ctr">
                  <a:buClrTx/>
                  <a:buFontTx/>
                  <a:buNone/>
                </a:pPr>
                <a:r>
                  <a:rPr lang="en-US" altLang="zh-CN" sz="2400" b="1">
                    <a:solidFill>
                      <a:schemeClr val="accent2"/>
                    </a:solidFill>
                  </a:rPr>
                  <a:t>   0.30    0.12    0.18   </a:t>
                </a:r>
                <a:endParaRPr lang="en-US" altLang="zh-CN" sz="2400" b="1">
                  <a:solidFill>
                    <a:schemeClr val="accent2"/>
                  </a:solidFill>
                </a:endParaRPr>
              </a:p>
              <a:p>
                <a:pPr algn="just" fontAlgn="ctr">
                  <a:buClrTx/>
                  <a:buFontTx/>
                  <a:buNone/>
                </a:pPr>
                <a:r>
                  <a:rPr lang="en-US" altLang="zh-CN" sz="2400" b="1">
                    <a:solidFill>
                      <a:schemeClr val="accent2"/>
                    </a:solidFill>
                  </a:rPr>
                  <a:t>   0.10    0.18    0.12 </a:t>
                </a:r>
                <a:endParaRPr lang="en-US" altLang="zh-CN" sz="2400" b="1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7" name="Rectangle 15"/>
              <p:cNvSpPr>
                <a:spLocks noChangeArrowheads="1"/>
              </p:cNvSpPr>
              <p:nvPr/>
            </p:nvSpPr>
            <p:spPr bwMode="auto">
              <a:xfrm>
                <a:off x="192" y="1276"/>
                <a:ext cx="672" cy="6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fontAlgn="ctr">
                  <a:buClrTx/>
                  <a:buFontTx/>
                  <a:buNone/>
                </a:pPr>
                <a:r>
                  <a:rPr lang="zh-CN" altLang="en-US" sz="2400" b="1">
                    <a:solidFill>
                      <a:schemeClr val="accent2"/>
                    </a:solidFill>
                  </a:rPr>
                  <a:t>－</a:t>
                </a:r>
                <a:r>
                  <a:rPr lang="en-US" altLang="zh-CN" sz="2400" b="1">
                    <a:solidFill>
                      <a:schemeClr val="accent2"/>
                    </a:solidFill>
                  </a:rPr>
                  <a:t>1</a:t>
                </a:r>
                <a:endParaRPr lang="en-US" altLang="zh-CN" sz="2400" b="1">
                  <a:solidFill>
                    <a:schemeClr val="accent2"/>
                  </a:solidFill>
                </a:endParaRPr>
              </a:p>
              <a:p>
                <a:pPr algn="ctr" fontAlgn="ctr">
                  <a:buClrTx/>
                  <a:buFontTx/>
                  <a:buNone/>
                </a:pPr>
                <a:r>
                  <a:rPr lang="en-US" altLang="zh-CN" sz="2400" b="1">
                    <a:solidFill>
                      <a:schemeClr val="accent2"/>
                    </a:solidFill>
                  </a:rPr>
                  <a:t>1</a:t>
                </a:r>
                <a:endParaRPr lang="en-US" altLang="zh-CN" sz="2400" b="1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8" name="Rectangle 16"/>
              <p:cNvSpPr>
                <a:spLocks noChangeArrowheads="1"/>
              </p:cNvSpPr>
              <p:nvPr/>
            </p:nvSpPr>
            <p:spPr bwMode="auto">
              <a:xfrm>
                <a:off x="974" y="849"/>
                <a:ext cx="2160" cy="5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fontAlgn="ctr">
                  <a:buClrTx/>
                  <a:buFontTx/>
                  <a:buNone/>
                </a:pPr>
                <a:r>
                  <a:rPr lang="en-US" altLang="zh-CN" sz="2400" b="1" dirty="0" smtClean="0">
                    <a:solidFill>
                      <a:schemeClr val="accent2"/>
                    </a:solidFill>
                  </a:rPr>
                  <a:t>  -</a:t>
                </a:r>
                <a:r>
                  <a:rPr lang="en-US" altLang="zh-CN" sz="2400" b="1" dirty="0">
                    <a:solidFill>
                      <a:schemeClr val="accent2"/>
                    </a:solidFill>
                  </a:rPr>
                  <a:t>2 </a:t>
                </a:r>
                <a:r>
                  <a:rPr lang="en-US" altLang="zh-CN" sz="2400" b="1" dirty="0" smtClean="0">
                    <a:solidFill>
                      <a:schemeClr val="accent2"/>
                    </a:solidFill>
                  </a:rPr>
                  <a:t>        </a:t>
                </a:r>
                <a:r>
                  <a:rPr lang="en-US" altLang="zh-CN" sz="2400" b="1" dirty="0">
                    <a:solidFill>
                      <a:schemeClr val="accent2"/>
                    </a:solidFill>
                  </a:rPr>
                  <a:t>0   </a:t>
                </a:r>
                <a:r>
                  <a:rPr lang="en-US" altLang="zh-CN" sz="2400" b="1" dirty="0" smtClean="0">
                    <a:solidFill>
                      <a:schemeClr val="accent2"/>
                    </a:solidFill>
                  </a:rPr>
                  <a:t>       1</a:t>
                </a:r>
                <a:endParaRPr lang="en-US" altLang="zh-CN" sz="24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9" name="Rectangle 17"/>
              <p:cNvSpPr>
                <a:spLocks noChangeArrowheads="1"/>
              </p:cNvSpPr>
              <p:nvPr/>
            </p:nvSpPr>
            <p:spPr bwMode="auto">
              <a:xfrm>
                <a:off x="192" y="720"/>
                <a:ext cx="672" cy="5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996633"/>
                  </a:buClr>
                  <a:buFont typeface="Wingdings" panose="05000000000000000000" pitchFamily="2" charset="2"/>
                  <a:buBlip>
                    <a:blip r:embed="rId1"/>
                  </a:buBlip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fontAlgn="ctr">
                  <a:buClrTx/>
                  <a:buFontTx/>
                  <a:buNone/>
                </a:pPr>
                <a:r>
                  <a:rPr lang="en-US" altLang="zh-CN" sz="2400" b="1" i="1">
                    <a:solidFill>
                      <a:schemeClr val="accent2"/>
                    </a:solidFill>
                  </a:rPr>
                  <a:t>        Y</a:t>
                </a:r>
                <a:endParaRPr lang="en-US" altLang="zh-CN" sz="2400" b="1" i="1">
                  <a:solidFill>
                    <a:schemeClr val="accent2"/>
                  </a:solidFill>
                </a:endParaRPr>
              </a:p>
              <a:p>
                <a:pPr fontAlgn="ctr">
                  <a:buClrTx/>
                  <a:buFontTx/>
                  <a:buNone/>
                </a:pPr>
                <a:r>
                  <a:rPr lang="en-US" altLang="zh-CN" sz="2400" b="1" i="1">
                    <a:solidFill>
                      <a:schemeClr val="accent2"/>
                    </a:solidFill>
                  </a:rPr>
                  <a:t>  X</a:t>
                </a:r>
                <a:endParaRPr lang="en-US" altLang="zh-CN" sz="2400" b="1" i="1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0" name="Line 18"/>
              <p:cNvSpPr>
                <a:spLocks noChangeShapeType="1"/>
              </p:cNvSpPr>
              <p:nvPr/>
            </p:nvSpPr>
            <p:spPr bwMode="auto">
              <a:xfrm>
                <a:off x="1008" y="861"/>
                <a:ext cx="67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Line 19"/>
              <p:cNvSpPr>
                <a:spLocks noChangeShapeType="1"/>
              </p:cNvSpPr>
              <p:nvPr/>
            </p:nvSpPr>
            <p:spPr bwMode="auto">
              <a:xfrm>
                <a:off x="144" y="1248"/>
                <a:ext cx="28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" name="Line 20"/>
              <p:cNvSpPr>
                <a:spLocks noChangeShapeType="1"/>
              </p:cNvSpPr>
              <p:nvPr/>
            </p:nvSpPr>
            <p:spPr bwMode="auto">
              <a:xfrm>
                <a:off x="1008" y="1948"/>
                <a:ext cx="67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Line 21"/>
              <p:cNvSpPr>
                <a:spLocks noChangeShapeType="1"/>
              </p:cNvSpPr>
              <p:nvPr/>
            </p:nvSpPr>
            <p:spPr bwMode="auto">
              <a:xfrm>
                <a:off x="1008" y="720"/>
                <a:ext cx="0" cy="556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" name="Line 22"/>
              <p:cNvSpPr>
                <a:spLocks noChangeShapeType="1"/>
              </p:cNvSpPr>
              <p:nvPr/>
            </p:nvSpPr>
            <p:spPr bwMode="auto">
              <a:xfrm>
                <a:off x="858" y="720"/>
                <a:ext cx="0" cy="12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Line 23"/>
              <p:cNvSpPr>
                <a:spLocks noChangeShapeType="1"/>
              </p:cNvSpPr>
              <p:nvPr/>
            </p:nvSpPr>
            <p:spPr bwMode="auto">
              <a:xfrm>
                <a:off x="3840" y="720"/>
                <a:ext cx="0" cy="556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" name="Line 24"/>
              <p:cNvSpPr>
                <a:spLocks noChangeShapeType="1"/>
              </p:cNvSpPr>
              <p:nvPr/>
            </p:nvSpPr>
            <p:spPr bwMode="auto">
              <a:xfrm>
                <a:off x="1325" y="612"/>
                <a:ext cx="216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" name="Line 25"/>
              <p:cNvSpPr>
                <a:spLocks noChangeShapeType="1"/>
              </p:cNvSpPr>
              <p:nvPr/>
            </p:nvSpPr>
            <p:spPr bwMode="auto">
              <a:xfrm>
                <a:off x="1008" y="1276"/>
                <a:ext cx="0" cy="672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Line 26"/>
              <p:cNvSpPr>
                <a:spLocks noChangeShapeType="1"/>
              </p:cNvSpPr>
              <p:nvPr/>
            </p:nvSpPr>
            <p:spPr bwMode="auto">
              <a:xfrm>
                <a:off x="3840" y="1276"/>
                <a:ext cx="0" cy="672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Line 27"/>
              <p:cNvSpPr>
                <a:spLocks noChangeShapeType="1"/>
              </p:cNvSpPr>
              <p:nvPr/>
            </p:nvSpPr>
            <p:spPr bwMode="auto">
              <a:xfrm>
                <a:off x="1680" y="1948"/>
                <a:ext cx="2160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" name="Line 28"/>
              <p:cNvSpPr>
                <a:spLocks noChangeShapeType="1"/>
              </p:cNvSpPr>
              <p:nvPr/>
            </p:nvSpPr>
            <p:spPr bwMode="auto">
              <a:xfrm flipH="1" flipV="1">
                <a:off x="240" y="800"/>
                <a:ext cx="624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带编号主题">
  <a:themeElements>
    <a:clrScheme name="gjjy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gjjy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2400" b="1" i="0" u="none" strike="noStrike" cap="none" normalizeH="0" baseline="0" smtClean="0">
            <a:ln>
              <a:noFill/>
            </a:ln>
            <a:solidFill>
              <a:schemeClr val="hlink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gjjy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jjy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jjy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带编号主题</Template>
  <TotalTime>0</TotalTime>
  <Words>164</Words>
  <Application>WPS 演示</Application>
  <PresentationFormat>全屏显示(4:3)</PresentationFormat>
  <Paragraphs>29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1</vt:i4>
      </vt:variant>
    </vt:vector>
  </HeadingPairs>
  <TitlesOfParts>
    <vt:vector size="20" baseType="lpstr">
      <vt:lpstr>Arial</vt:lpstr>
      <vt:lpstr>宋体</vt:lpstr>
      <vt:lpstr>Wingdings</vt:lpstr>
      <vt:lpstr>楷体_GB2312</vt:lpstr>
      <vt:lpstr>新宋体</vt:lpstr>
      <vt:lpstr>文鼎粗圆</vt:lpstr>
      <vt:lpstr>Times New Roman</vt:lpstr>
      <vt:lpstr>微软雅黑</vt:lpstr>
      <vt:lpstr>Arial Unicode MS</vt:lpstr>
      <vt:lpstr>Calibri</vt:lpstr>
      <vt:lpstr>带编号主题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zhcy</dc:creator>
  <cp:lastModifiedBy>zhangcy</cp:lastModifiedBy>
  <cp:revision>198</cp:revision>
  <cp:lastPrinted>2019-11-12T04:37:00Z</cp:lastPrinted>
  <dcterms:created xsi:type="dcterms:W3CDTF">2016-11-16T00:27:00Z</dcterms:created>
  <dcterms:modified xsi:type="dcterms:W3CDTF">2021-11-09T00:12:30Z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TC018814369991</vt:lpwstr>
  </property>
  <property fmtid="{D5CDD505-2E9C-101B-9397-08002B2CF9AE}" pid="3" name="ICV">
    <vt:lpwstr>6B1B445C1AA24FE48F9006D82DB540BC</vt:lpwstr>
  </property>
  <property fmtid="{D5CDD505-2E9C-101B-9397-08002B2CF9AE}" pid="4" name="KSOProductBuildVer">
    <vt:lpwstr>2052-11.1.0.11045</vt:lpwstr>
  </property>
</Properties>
</file>