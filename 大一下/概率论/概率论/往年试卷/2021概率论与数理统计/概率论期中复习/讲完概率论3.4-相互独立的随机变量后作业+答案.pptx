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7"/>
  </p:notesMasterIdLst>
  <p:handoutMasterIdLst>
    <p:handoutMasterId r:id="rId8"/>
  </p:handoutMasterIdLst>
  <p:sldIdLst>
    <p:sldId id="476" r:id="rId2"/>
    <p:sldId id="559" r:id="rId3"/>
    <p:sldId id="475" r:id="rId4"/>
    <p:sldId id="563" r:id="rId5"/>
    <p:sldId id="531" r:id="rId6"/>
  </p:sldIdLst>
  <p:sldSz cx="9144000" cy="6858000" type="screen4x3"/>
  <p:notesSz cx="9947275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A4A3A4"/>
          </p15:clr>
        </p15:guide>
        <p15:guide id="2" pos="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99FF"/>
    <a:srgbClr val="CC6600"/>
    <a:srgbClr val="FFFFCC"/>
    <a:srgbClr val="333399"/>
    <a:srgbClr val="996633"/>
    <a:srgbClr val="CCCC00"/>
    <a:srgbClr val="FFCC00"/>
    <a:srgbClr val="802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90" autoAdjust="0"/>
  </p:normalViewPr>
  <p:slideViewPr>
    <p:cSldViewPr>
      <p:cViewPr varScale="1">
        <p:scale>
          <a:sx n="96" d="100"/>
          <a:sy n="96" d="100"/>
        </p:scale>
        <p:origin x="1500" y="56"/>
      </p:cViewPr>
      <p:guideLst>
        <p:guide orient="horz" pos="144"/>
        <p:guide pos="1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6.wmf"/><Relationship Id="rId1" Type="http://schemas.openxmlformats.org/officeDocument/2006/relationships/image" Target="../media/image3.wmf"/><Relationship Id="rId4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9EEA7-C1D0-4885-A658-53ED43D9A167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63266-7083-41BA-8093-476932E05D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261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6789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59138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6304" y="3257550"/>
            <a:ext cx="7294668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6789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AF1693B3-3FEE-40F3-9AB2-07FEE62D10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43267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FF0602E-E6B1-415F-AB0D-D49CE5F433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630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43C0203-428A-4BB0-BE74-BFD6F99FE14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3322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25459BD-03B3-4B49-B8CA-18EA323D999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9748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A4736B-1549-4568-884C-8342578042A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52232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FA0814E-2281-4880-AF05-BC9883CBD63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911467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FE56B7-9500-4F8B-A4C3-E6208F9931B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798823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DD33F4-AA6A-409B-89B9-6EA6646B825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499829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0CA083-C753-4EBA-8A59-6F18E45FE77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80322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64FB34-28CA-489B-9032-CF6D76DE28A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323183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BF534C9-F07D-43D5-9B75-8D2A84FB6DE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540948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AC665D-3BA9-43C6-BE70-3B03B67151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33488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B5AC665D-3BA9-43C6-BE70-3B03B67151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56674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D95DA3-83F3-4962-A4A0-4997245A0C0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403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108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733800" cy="3352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0480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09194-DD15-4286-8BD5-B0CB953A282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069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solidFill>
                  <a:srgbClr val="FFFF00"/>
                </a:solidFill>
                <a:latin typeface="Times New Roman" panose="02020603050405020304" pitchFamily="18" charset="0"/>
                <a:ea typeface="文鼎粗圆" pitchFamily="49" charset="-122"/>
              </a:defRPr>
            </a:lvl1pPr>
          </a:lstStyle>
          <a:p>
            <a:pPr>
              <a:defRPr/>
            </a:pPr>
            <a:fld id="{B5AC665D-3BA9-43C6-BE70-3B03B67151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8715404" y="6357958"/>
            <a:ext cx="4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F25D349-C29D-46D2-8A83-8953848272E9}" type="slidenum">
              <a:rPr lang="zh-CN" altLang="en-US" sz="1400" smtClean="0">
                <a:solidFill>
                  <a:srgbClr val="FFFF00"/>
                </a:solidFill>
              </a:rPr>
              <a:t>‹#›</a:t>
            </a:fld>
            <a:endParaRPr lang="zh-CN" altLang="en-US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84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</p:sldLayoutIdLst>
  <p:transition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3" Type="http://schemas.openxmlformats.org/officeDocument/2006/relationships/image" Target="../media/image7.png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7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image" Target="../media/image5.wmf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3.wmf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5.wmf"/><Relationship Id="rId5" Type="http://schemas.openxmlformats.org/officeDocument/2006/relationships/image" Target="../media/image7.png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12.wmf"/><Relationship Id="rId9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3" name="Text Box 3"/>
          <p:cNvSpPr txBox="1">
            <a:spLocks noChangeArrowheads="1"/>
          </p:cNvSpPr>
          <p:nvPr/>
        </p:nvSpPr>
        <p:spPr bwMode="auto">
          <a:xfrm>
            <a:off x="0" y="620688"/>
            <a:ext cx="8763000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r>
              <a:rPr lang="zh-CN" altLang="en-US" sz="2400" b="1" dirty="0" smtClean="0">
                <a:solidFill>
                  <a:schemeClr val="tx2"/>
                </a:solidFill>
              </a:rPr>
              <a:t>作业</a:t>
            </a:r>
            <a:r>
              <a:rPr lang="en-US" altLang="zh-CN" sz="2400" b="1" dirty="0" smtClean="0">
                <a:solidFill>
                  <a:schemeClr val="tx2"/>
                </a:solidFill>
              </a:rPr>
              <a:t>1</a:t>
            </a:r>
            <a:r>
              <a:rPr lang="zh-CN" altLang="en-US" sz="2400" dirty="0" smtClean="0">
                <a:solidFill>
                  <a:schemeClr val="tx2"/>
                </a:solidFill>
              </a:rPr>
              <a:t>：设</a:t>
            </a:r>
            <a:r>
              <a:rPr lang="zh-CN" altLang="en-US" sz="2400" dirty="0">
                <a:solidFill>
                  <a:schemeClr val="tx2"/>
                </a:solidFill>
              </a:rPr>
              <a:t>随机变量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,</a:t>
            </a:r>
            <a:r>
              <a:rPr lang="en-US" altLang="zh-CN" sz="2400" i="1" dirty="0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>
                <a:solidFill>
                  <a:schemeClr val="tx2"/>
                </a:solidFill>
              </a:rPr>
              <a:t>的概率密度为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r>
              <a:rPr lang="zh-CN" altLang="en-US" sz="2400" dirty="0" smtClean="0">
                <a:solidFill>
                  <a:schemeClr val="tx2"/>
                </a:solidFill>
              </a:rPr>
              <a:t>其中</a:t>
            </a:r>
            <a:r>
              <a:rPr lang="en-US" altLang="zh-CN" sz="2400" i="1" dirty="0">
                <a:solidFill>
                  <a:schemeClr val="tx2"/>
                </a:solidFill>
              </a:rPr>
              <a:t>G</a:t>
            </a:r>
            <a:r>
              <a:rPr lang="zh-CN" altLang="en-US" sz="2400" dirty="0">
                <a:solidFill>
                  <a:schemeClr val="tx2"/>
                </a:solidFill>
              </a:rPr>
              <a:t>是由</a:t>
            </a:r>
            <a:r>
              <a:rPr lang="en-US" altLang="zh-CN" sz="2400" dirty="0">
                <a:solidFill>
                  <a:schemeClr val="tx2"/>
                </a:solidFill>
              </a:rPr>
              <a:t>0≤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≤2,0≤</a:t>
            </a:r>
            <a:r>
              <a:rPr lang="en-US" altLang="zh-CN" sz="2400" i="1" dirty="0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≤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baseline="30000" dirty="0">
                <a:solidFill>
                  <a:schemeClr val="tx2"/>
                </a:solidFill>
              </a:rPr>
              <a:t>2</a:t>
            </a:r>
            <a:r>
              <a:rPr lang="zh-CN" altLang="en-US" sz="2400" dirty="0">
                <a:solidFill>
                  <a:schemeClr val="tx2"/>
                </a:solidFill>
              </a:rPr>
              <a:t>围成的区域。求：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r>
              <a:rPr lang="zh-CN" altLang="en-US" sz="2400" dirty="0" smtClean="0">
                <a:solidFill>
                  <a:schemeClr val="tx2"/>
                </a:solidFill>
              </a:rPr>
              <a:t>⑴</a:t>
            </a:r>
            <a:r>
              <a:rPr lang="zh-CN" altLang="en-US" sz="2400" dirty="0">
                <a:solidFill>
                  <a:schemeClr val="tx2"/>
                </a:solidFill>
              </a:rPr>
              <a:t>系数</a:t>
            </a:r>
            <a:r>
              <a:rPr lang="en-US" altLang="zh-CN" sz="2400" i="1" dirty="0">
                <a:solidFill>
                  <a:schemeClr val="tx2"/>
                </a:solidFill>
              </a:rPr>
              <a:t>A</a:t>
            </a:r>
            <a:r>
              <a:rPr lang="zh-CN" altLang="en-US" sz="2400" dirty="0">
                <a:solidFill>
                  <a:schemeClr val="tx2"/>
                </a:solidFill>
              </a:rPr>
              <a:t>；⑵ 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), 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>
                <a:solidFill>
                  <a:schemeClr val="tx2"/>
                </a:solidFill>
              </a:rPr>
              <a:t>；⑶ 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X</a:t>
            </a:r>
            <a:r>
              <a:rPr lang="en-US" altLang="zh-CN" sz="2400" i="1" dirty="0" err="1">
                <a:solidFill>
                  <a:schemeClr val="tx2"/>
                </a:solidFill>
              </a:rPr>
              <a:t>|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Y</a:t>
            </a:r>
            <a:r>
              <a:rPr lang="en-US" altLang="zh-CN" sz="2400" i="1" dirty="0">
                <a:solidFill>
                  <a:schemeClr val="tx2"/>
                </a:solidFill>
              </a:rPr>
              <a:t>(</a:t>
            </a:r>
            <a:r>
              <a:rPr lang="en-US" altLang="zh-CN" sz="2400" i="1" dirty="0" err="1">
                <a:solidFill>
                  <a:schemeClr val="tx2"/>
                </a:solidFill>
              </a:rPr>
              <a:t>x|y</a:t>
            </a:r>
            <a:r>
              <a:rPr lang="en-US" altLang="zh-CN" sz="2400" dirty="0">
                <a:solidFill>
                  <a:schemeClr val="tx2"/>
                </a:solidFill>
              </a:rPr>
              <a:t>),   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Y</a:t>
            </a:r>
            <a:r>
              <a:rPr lang="en-US" altLang="zh-CN" sz="2400" baseline="-25000" dirty="0" err="1">
                <a:solidFill>
                  <a:schemeClr val="tx2"/>
                </a:solidFill>
              </a:rPr>
              <a:t>|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 err="1">
                <a:solidFill>
                  <a:schemeClr val="tx2"/>
                </a:solidFill>
              </a:rPr>
              <a:t>y</a:t>
            </a:r>
            <a:r>
              <a:rPr lang="en-US" altLang="zh-CN" sz="2400" dirty="0" err="1">
                <a:solidFill>
                  <a:schemeClr val="tx2"/>
                </a:solidFill>
              </a:rPr>
              <a:t>|</a:t>
            </a:r>
            <a:r>
              <a:rPr lang="en-US" altLang="zh-CN" sz="2400" i="1" dirty="0" err="1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>
                <a:solidFill>
                  <a:schemeClr val="tx2"/>
                </a:solidFill>
              </a:rPr>
              <a:t>。</a:t>
            </a:r>
          </a:p>
        </p:txBody>
      </p:sp>
      <p:graphicFrame>
        <p:nvGraphicFramePr>
          <p:cNvPr id="286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740427"/>
              </p:ext>
            </p:extLst>
          </p:nvPr>
        </p:nvGraphicFramePr>
        <p:xfrm>
          <a:off x="5006975" y="476672"/>
          <a:ext cx="41370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Equation" r:id="rId4" imgW="1816100" imgH="469900" progId="Equation.3">
                  <p:embed/>
                </p:oleObj>
              </mc:Choice>
              <mc:Fallback>
                <p:oleObj name="Equation" r:id="rId4" imgW="18161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975" y="476672"/>
                        <a:ext cx="41370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7280" y="2112968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kumimoji="0" lang="en-US" altLang="zh-CN" sz="2000" b="1" kern="0" dirty="0" smtClean="0"/>
              <a:t>2</a:t>
            </a:r>
            <a:r>
              <a:rPr kumimoji="0" lang="zh-CN" altLang="en-US" sz="2000" kern="0" dirty="0" smtClean="0"/>
              <a:t>：设</a:t>
            </a:r>
            <a:r>
              <a:rPr kumimoji="0" lang="en-US" altLang="zh-CN" sz="2000" kern="0" dirty="0" smtClean="0"/>
              <a:t>X</a:t>
            </a:r>
            <a:r>
              <a:rPr kumimoji="0" lang="zh-CN" altLang="en-US" sz="2000" kern="0" dirty="0" smtClean="0"/>
              <a:t>和</a:t>
            </a:r>
            <a:r>
              <a:rPr kumimoji="0" lang="en-US" altLang="zh-CN" sz="2000" kern="0" dirty="0" smtClean="0"/>
              <a:t>Y</a:t>
            </a:r>
            <a:r>
              <a:rPr kumimoji="0" lang="zh-CN" altLang="en-US" sz="2000" kern="0" dirty="0" smtClean="0"/>
              <a:t>是两个互相独立的随机变量</a:t>
            </a:r>
            <a:r>
              <a:rPr kumimoji="0" lang="en-US" altLang="zh-CN" sz="2000" kern="0" dirty="0" smtClean="0"/>
              <a:t>,</a:t>
            </a:r>
            <a:r>
              <a:rPr kumimoji="0" lang="zh-CN" altLang="en-US" sz="2000" kern="0" dirty="0" smtClean="0"/>
              <a:t>其概率密度分别为</a:t>
            </a:r>
          </a:p>
        </p:txBody>
      </p:sp>
      <p:graphicFrame>
        <p:nvGraphicFramePr>
          <p:cNvPr id="5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758122109"/>
              </p:ext>
            </p:extLst>
          </p:nvPr>
        </p:nvGraphicFramePr>
        <p:xfrm>
          <a:off x="1043112" y="2652718"/>
          <a:ext cx="30226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name="公式" r:id="rId6" imgW="1536700" imgH="482600" progId="Equation.3">
                  <p:embed/>
                </p:oleObj>
              </mc:Choice>
              <mc:Fallback>
                <p:oleObj name="公式" r:id="rId6" imgW="1536700" imgH="482600" progId="Equation.3">
                  <p:embed/>
                  <p:pic>
                    <p:nvPicPr>
                      <p:cNvPr id="2048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112" y="2652718"/>
                        <a:ext cx="30226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582563"/>
              </p:ext>
            </p:extLst>
          </p:nvPr>
        </p:nvGraphicFramePr>
        <p:xfrm>
          <a:off x="4427662" y="2581280"/>
          <a:ext cx="34813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Equation" r:id="rId8" imgW="1562040" imgH="482400" progId="Equation.DSMT4">
                  <p:embed/>
                </p:oleObj>
              </mc:Choice>
              <mc:Fallback>
                <p:oleObj name="Equation" r:id="rId8" imgW="1562040" imgH="482400" progId="Equation.DSMT4">
                  <p:embed/>
                  <p:pic>
                    <p:nvPicPr>
                      <p:cNvPr id="2048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662" y="2581280"/>
                        <a:ext cx="348138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15279" y="3611567"/>
            <a:ext cx="88201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其中</a:t>
            </a:r>
            <a:r>
              <a:rPr lang="en-US" altLang="zh-CN" sz="2000" i="1" dirty="0">
                <a:latin typeface="Symbol" panose="05050102010706020507" pitchFamily="18" charset="2"/>
              </a:rPr>
              <a:t>l</a:t>
            </a:r>
            <a:r>
              <a:rPr lang="en-US" altLang="zh-CN" sz="2000" dirty="0"/>
              <a:t>&gt;0, </a:t>
            </a:r>
            <a:r>
              <a:rPr lang="en-US" altLang="zh-CN" sz="2000" i="1" dirty="0">
                <a:latin typeface="Symbol" panose="05050102010706020507" pitchFamily="18" charset="2"/>
              </a:rPr>
              <a:t>m</a:t>
            </a:r>
            <a:r>
              <a:rPr lang="en-US" altLang="zh-CN" sz="2000" dirty="0"/>
              <a:t>&gt;0</a:t>
            </a:r>
            <a:r>
              <a:rPr lang="zh-CN" altLang="en-US" sz="2000" dirty="0"/>
              <a:t>是常数</a:t>
            </a:r>
            <a:r>
              <a:rPr lang="en-US" altLang="zh-CN" sz="2000" dirty="0"/>
              <a:t>. </a:t>
            </a:r>
            <a:r>
              <a:rPr lang="zh-CN" altLang="en-US" sz="2000" dirty="0"/>
              <a:t>引入随机变量</a:t>
            </a: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958958"/>
              </p:ext>
            </p:extLst>
          </p:nvPr>
        </p:nvGraphicFramePr>
        <p:xfrm>
          <a:off x="4211960" y="3725867"/>
          <a:ext cx="20875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name="Equation" r:id="rId10" imgW="1117600" imgH="457200" progId="Equation.DSMT4">
                  <p:embed/>
                </p:oleObj>
              </mc:Choice>
              <mc:Fallback>
                <p:oleObj name="Equation" r:id="rId10" imgW="1117600" imgH="457200" progId="Equation.DSMT4">
                  <p:embed/>
                  <p:pic>
                    <p:nvPicPr>
                      <p:cNvPr id="2048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3725867"/>
                        <a:ext cx="208756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92155" y="4685093"/>
            <a:ext cx="88201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(1)</a:t>
            </a:r>
            <a:r>
              <a:rPr lang="zh-CN" altLang="en-US" sz="1800" dirty="0"/>
              <a:t>求条件概率密度</a:t>
            </a: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169019" y="5209246"/>
            <a:ext cx="88201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(2)</a:t>
            </a:r>
            <a:r>
              <a:rPr lang="zh-CN" altLang="en-US" sz="1800" dirty="0"/>
              <a:t>求</a:t>
            </a:r>
            <a:r>
              <a:rPr lang="en-US" altLang="zh-CN" sz="1800" i="1" dirty="0"/>
              <a:t>Z</a:t>
            </a:r>
            <a:r>
              <a:rPr lang="zh-CN" altLang="en-US" sz="1800" dirty="0"/>
              <a:t>的分布律和分布函数</a:t>
            </a:r>
            <a:r>
              <a:rPr lang="en-US" altLang="zh-CN" sz="1800" dirty="0"/>
              <a:t>.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 flipV="1">
            <a:off x="0" y="1968749"/>
            <a:ext cx="9144000" cy="92099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3" name="Object 11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08626400"/>
              </p:ext>
            </p:extLst>
          </p:nvPr>
        </p:nvGraphicFramePr>
        <p:xfrm>
          <a:off x="2195736" y="4583323"/>
          <a:ext cx="15113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公式" r:id="rId12" imgW="660113" imgH="241195" progId="Equation.3">
                  <p:embed/>
                </p:oleObj>
              </mc:Choice>
              <mc:Fallback>
                <p:oleObj name="公式" r:id="rId12" imgW="660113" imgH="241195" progId="Equation.3">
                  <p:embed/>
                  <p:pic>
                    <p:nvPicPr>
                      <p:cNvPr id="2048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583323"/>
                        <a:ext cx="15113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3" name="Text Box 3"/>
          <p:cNvSpPr txBox="1">
            <a:spLocks noChangeArrowheads="1"/>
          </p:cNvSpPr>
          <p:nvPr/>
        </p:nvSpPr>
        <p:spPr bwMode="auto">
          <a:xfrm>
            <a:off x="228600" y="476672"/>
            <a:ext cx="8447856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r>
              <a:rPr lang="zh-CN" altLang="en-US" sz="2400" dirty="0" smtClean="0">
                <a:solidFill>
                  <a:schemeClr val="tx2"/>
                </a:solidFill>
              </a:rPr>
              <a:t>作业</a:t>
            </a:r>
            <a:r>
              <a:rPr lang="en-US" altLang="zh-CN" sz="2400" dirty="0" smtClean="0">
                <a:solidFill>
                  <a:schemeClr val="tx2"/>
                </a:solidFill>
              </a:rPr>
              <a:t>1 </a:t>
            </a:r>
            <a:r>
              <a:rPr lang="zh-CN" altLang="en-US" sz="2400" dirty="0" smtClean="0">
                <a:solidFill>
                  <a:schemeClr val="tx2"/>
                </a:solidFill>
              </a:rPr>
              <a:t>设</a:t>
            </a:r>
            <a:r>
              <a:rPr lang="zh-CN" altLang="en-US" sz="2400" dirty="0">
                <a:solidFill>
                  <a:schemeClr val="tx2"/>
                </a:solidFill>
              </a:rPr>
              <a:t>随机变量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,</a:t>
            </a:r>
            <a:r>
              <a:rPr lang="en-US" altLang="zh-CN" sz="2400" i="1" dirty="0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>
                <a:solidFill>
                  <a:schemeClr val="tx2"/>
                </a:solidFill>
              </a:rPr>
              <a:t>的概率密度为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endParaRPr lang="zh-CN" altLang="en-US" sz="2400" dirty="0">
              <a:solidFill>
                <a:schemeClr val="tx2"/>
              </a:solidFill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endParaRPr lang="zh-CN" altLang="en-US" sz="2400" dirty="0">
              <a:solidFill>
                <a:schemeClr val="tx2"/>
              </a:solidFill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其中</a:t>
            </a:r>
            <a:r>
              <a:rPr lang="en-US" altLang="zh-CN" sz="2400" i="1" dirty="0">
                <a:solidFill>
                  <a:schemeClr val="tx2"/>
                </a:solidFill>
              </a:rPr>
              <a:t>G</a:t>
            </a:r>
            <a:r>
              <a:rPr lang="zh-CN" altLang="en-US" sz="2400" dirty="0">
                <a:solidFill>
                  <a:schemeClr val="tx2"/>
                </a:solidFill>
              </a:rPr>
              <a:t>是由</a:t>
            </a:r>
            <a:r>
              <a:rPr lang="en-US" altLang="zh-CN" sz="2400" dirty="0">
                <a:solidFill>
                  <a:schemeClr val="tx2"/>
                </a:solidFill>
              </a:rPr>
              <a:t>0≤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≤2,0≤</a:t>
            </a:r>
            <a:r>
              <a:rPr lang="en-US" altLang="zh-CN" sz="2400" i="1" dirty="0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≤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baseline="30000" dirty="0">
                <a:solidFill>
                  <a:schemeClr val="tx2"/>
                </a:solidFill>
              </a:rPr>
              <a:t>2</a:t>
            </a:r>
            <a:r>
              <a:rPr lang="zh-CN" altLang="en-US" sz="2400" dirty="0">
                <a:solidFill>
                  <a:schemeClr val="tx2"/>
                </a:solidFill>
              </a:rPr>
              <a:t>围成的区域。求：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⑴系数</a:t>
            </a:r>
            <a:r>
              <a:rPr lang="en-US" altLang="zh-CN" sz="2400" i="1" dirty="0">
                <a:solidFill>
                  <a:schemeClr val="tx2"/>
                </a:solidFill>
              </a:rPr>
              <a:t>A</a:t>
            </a:r>
            <a:r>
              <a:rPr lang="zh-CN" altLang="en-US" sz="2400" dirty="0">
                <a:solidFill>
                  <a:schemeClr val="tx2"/>
                </a:solidFill>
              </a:rPr>
              <a:t>；⑵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),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>
                <a:solidFill>
                  <a:schemeClr val="tx2"/>
                </a:solidFill>
              </a:rPr>
              <a:t>y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>
                <a:solidFill>
                  <a:schemeClr val="tx2"/>
                </a:solidFill>
              </a:rPr>
              <a:t>；⑶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X</a:t>
            </a:r>
            <a:r>
              <a:rPr lang="en-US" altLang="zh-CN" sz="2400" i="1" dirty="0" err="1">
                <a:solidFill>
                  <a:schemeClr val="tx2"/>
                </a:solidFill>
              </a:rPr>
              <a:t>|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Y</a:t>
            </a:r>
            <a:r>
              <a:rPr lang="en-US" altLang="zh-CN" sz="2400" i="1" dirty="0">
                <a:solidFill>
                  <a:schemeClr val="tx2"/>
                </a:solidFill>
              </a:rPr>
              <a:t>(</a:t>
            </a:r>
            <a:r>
              <a:rPr lang="en-US" altLang="zh-CN" sz="2400" i="1" dirty="0" err="1">
                <a:solidFill>
                  <a:schemeClr val="tx2"/>
                </a:solidFill>
              </a:rPr>
              <a:t>x|y</a:t>
            </a:r>
            <a:r>
              <a:rPr lang="en-US" altLang="zh-CN" sz="2400" dirty="0">
                <a:solidFill>
                  <a:schemeClr val="tx2"/>
                </a:solidFill>
              </a:rPr>
              <a:t>),  </a:t>
            </a:r>
            <a:r>
              <a:rPr lang="en-US" altLang="zh-CN" sz="2400" i="1" dirty="0" err="1">
                <a:solidFill>
                  <a:schemeClr val="tx2"/>
                </a:solidFill>
              </a:rPr>
              <a:t>f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Y</a:t>
            </a:r>
            <a:r>
              <a:rPr lang="en-US" altLang="zh-CN" sz="2400" baseline="-25000" dirty="0" err="1">
                <a:solidFill>
                  <a:schemeClr val="tx2"/>
                </a:solidFill>
              </a:rPr>
              <a:t>|</a:t>
            </a:r>
            <a:r>
              <a:rPr lang="en-US" altLang="zh-CN" sz="2400" i="1" baseline="-25000" dirty="0" err="1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 err="1">
                <a:solidFill>
                  <a:schemeClr val="tx2"/>
                </a:solidFill>
              </a:rPr>
              <a:t>y</a:t>
            </a:r>
            <a:r>
              <a:rPr lang="en-US" altLang="zh-CN" sz="2400" dirty="0" err="1">
                <a:solidFill>
                  <a:schemeClr val="tx2"/>
                </a:solidFill>
              </a:rPr>
              <a:t>|</a:t>
            </a:r>
            <a:r>
              <a:rPr lang="en-US" altLang="zh-CN" sz="2400" i="1" dirty="0" err="1">
                <a:solidFill>
                  <a:schemeClr val="tx2"/>
                </a:solidFill>
              </a:rPr>
              <a:t>x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zh-CN" altLang="en-US" sz="2400" dirty="0">
                <a:solidFill>
                  <a:schemeClr val="tx2"/>
                </a:solidFill>
              </a:rPr>
              <a:t>。</a:t>
            </a:r>
          </a:p>
        </p:txBody>
      </p:sp>
      <p:graphicFrame>
        <p:nvGraphicFramePr>
          <p:cNvPr id="286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471510"/>
              </p:ext>
            </p:extLst>
          </p:nvPr>
        </p:nvGraphicFramePr>
        <p:xfrm>
          <a:off x="1187624" y="908720"/>
          <a:ext cx="3785592" cy="812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2" name="Equation" r:id="rId4" imgW="1816100" imgH="469900" progId="Equation.3">
                  <p:embed/>
                </p:oleObj>
              </mc:Choice>
              <mc:Fallback>
                <p:oleObj name="Equation" r:id="rId4" imgW="18161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908720"/>
                        <a:ext cx="3785592" cy="812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150441"/>
              </p:ext>
            </p:extLst>
          </p:nvPr>
        </p:nvGraphicFramePr>
        <p:xfrm>
          <a:off x="261925" y="2952751"/>
          <a:ext cx="7406419" cy="306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3" name="Equation" r:id="rId6" imgW="3466800" imgH="1904760" progId="Equation.DSMT4">
                  <p:embed/>
                </p:oleObj>
              </mc:Choice>
              <mc:Fallback>
                <p:oleObj name="Equation" r:id="rId6" imgW="3466800" imgH="19047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25" y="2952751"/>
                        <a:ext cx="7406419" cy="306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8" name="图片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13" y="0"/>
            <a:ext cx="208597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39" name="直接连接符 4"/>
          <p:cNvCxnSpPr>
            <a:cxnSpLocks noChangeShapeType="1"/>
          </p:cNvCxnSpPr>
          <p:nvPr/>
        </p:nvCxnSpPr>
        <p:spPr bwMode="auto">
          <a:xfrm>
            <a:off x="8101013" y="2095500"/>
            <a:ext cx="0" cy="682625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0" name="直接连接符 7"/>
          <p:cNvCxnSpPr>
            <a:cxnSpLocks noChangeShapeType="1"/>
          </p:cNvCxnSpPr>
          <p:nvPr/>
        </p:nvCxnSpPr>
        <p:spPr bwMode="auto">
          <a:xfrm>
            <a:off x="8018463" y="2436813"/>
            <a:ext cx="82550" cy="103187"/>
          </a:xfrm>
          <a:prstGeom prst="line">
            <a:avLst/>
          </a:prstGeom>
          <a:noFill/>
          <a:ln w="28575" algn="ctr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1" name="直接连接符 11"/>
          <p:cNvCxnSpPr>
            <a:cxnSpLocks noChangeShapeType="1"/>
          </p:cNvCxnSpPr>
          <p:nvPr/>
        </p:nvCxnSpPr>
        <p:spPr bwMode="auto">
          <a:xfrm>
            <a:off x="7956550" y="2492375"/>
            <a:ext cx="80963" cy="103188"/>
          </a:xfrm>
          <a:prstGeom prst="line">
            <a:avLst/>
          </a:prstGeom>
          <a:noFill/>
          <a:ln w="28575" algn="ctr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2" name="直接连接符 12"/>
          <p:cNvCxnSpPr>
            <a:cxnSpLocks noChangeShapeType="1"/>
          </p:cNvCxnSpPr>
          <p:nvPr/>
        </p:nvCxnSpPr>
        <p:spPr bwMode="auto">
          <a:xfrm>
            <a:off x="7956550" y="2589213"/>
            <a:ext cx="80963" cy="103187"/>
          </a:xfrm>
          <a:prstGeom prst="line">
            <a:avLst/>
          </a:prstGeom>
          <a:noFill/>
          <a:ln w="28575" algn="ctr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3" name="直接连接符 13"/>
          <p:cNvCxnSpPr>
            <a:cxnSpLocks noChangeShapeType="1"/>
          </p:cNvCxnSpPr>
          <p:nvPr/>
        </p:nvCxnSpPr>
        <p:spPr bwMode="auto">
          <a:xfrm>
            <a:off x="7947025" y="2636838"/>
            <a:ext cx="80963" cy="103187"/>
          </a:xfrm>
          <a:prstGeom prst="line">
            <a:avLst/>
          </a:prstGeom>
          <a:noFill/>
          <a:ln w="28575" algn="ctr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4" name="直接连接符 14"/>
          <p:cNvCxnSpPr>
            <a:cxnSpLocks noChangeShapeType="1"/>
          </p:cNvCxnSpPr>
          <p:nvPr/>
        </p:nvCxnSpPr>
        <p:spPr bwMode="auto">
          <a:xfrm>
            <a:off x="8027988" y="2349500"/>
            <a:ext cx="82550" cy="103188"/>
          </a:xfrm>
          <a:prstGeom prst="line">
            <a:avLst/>
          </a:prstGeom>
          <a:noFill/>
          <a:ln w="28575" algn="ctr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5" name="直接连接符 15"/>
          <p:cNvCxnSpPr>
            <a:cxnSpLocks noChangeShapeType="1"/>
          </p:cNvCxnSpPr>
          <p:nvPr/>
        </p:nvCxnSpPr>
        <p:spPr bwMode="auto">
          <a:xfrm>
            <a:off x="7885113" y="2678113"/>
            <a:ext cx="80962" cy="103187"/>
          </a:xfrm>
          <a:prstGeom prst="line">
            <a:avLst/>
          </a:prstGeom>
          <a:noFill/>
          <a:ln w="28575" algn="ctr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562332"/>
              </p:ext>
            </p:extLst>
          </p:nvPr>
        </p:nvGraphicFramePr>
        <p:xfrm>
          <a:off x="467544" y="620688"/>
          <a:ext cx="7619306" cy="5510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0" name="Equation" r:id="rId3" imgW="3340100" imgH="3251200" progId="Equation.DSMT4">
                  <p:embed/>
                </p:oleObj>
              </mc:Choice>
              <mc:Fallback>
                <p:oleObj name="Equation" r:id="rId3" imgW="3340100" imgH="325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620688"/>
                        <a:ext cx="7619306" cy="5510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0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4365625"/>
            <a:ext cx="2381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156" y="512763"/>
            <a:ext cx="8640763" cy="5762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effectLst/>
              </a:rPr>
              <a:t>作业</a:t>
            </a:r>
            <a:r>
              <a:rPr lang="en-US" altLang="zh-CN" sz="2400" dirty="0" smtClean="0">
                <a:effectLst/>
              </a:rPr>
              <a:t>2</a:t>
            </a:r>
            <a:r>
              <a:rPr lang="zh-CN" altLang="en-US" sz="2400" dirty="0" smtClean="0">
                <a:effectLst/>
              </a:rPr>
              <a:t>：设</a:t>
            </a:r>
            <a:r>
              <a:rPr lang="en-US" altLang="zh-CN" sz="2400" dirty="0" smtClean="0">
                <a:effectLst/>
              </a:rPr>
              <a:t>X</a:t>
            </a:r>
            <a:r>
              <a:rPr lang="zh-CN" altLang="en-US" sz="2400" dirty="0" smtClean="0">
                <a:effectLst/>
              </a:rPr>
              <a:t>和</a:t>
            </a:r>
            <a:r>
              <a:rPr lang="en-US" altLang="zh-CN" sz="2400" dirty="0" smtClean="0">
                <a:effectLst/>
              </a:rPr>
              <a:t>Y</a:t>
            </a:r>
            <a:r>
              <a:rPr lang="zh-CN" altLang="en-US" sz="2400" dirty="0" smtClean="0">
                <a:effectLst/>
              </a:rPr>
              <a:t>是两个互相独立的随机变量</a:t>
            </a:r>
            <a:r>
              <a:rPr lang="en-US" altLang="zh-CN" sz="2400" dirty="0" smtClean="0">
                <a:effectLst/>
              </a:rPr>
              <a:t>,</a:t>
            </a:r>
            <a:r>
              <a:rPr lang="zh-CN" altLang="en-US" sz="2400" dirty="0" smtClean="0">
                <a:effectLst/>
              </a:rPr>
              <a:t>其概率密度分别为</a:t>
            </a:r>
          </a:p>
        </p:txBody>
      </p:sp>
      <p:graphicFrame>
        <p:nvGraphicFramePr>
          <p:cNvPr id="2048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42988" y="1052513"/>
          <a:ext cx="30226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0" name="公式" r:id="rId3" imgW="1536700" imgH="482600" progId="Equation.3">
                  <p:embed/>
                </p:oleObj>
              </mc:Choice>
              <mc:Fallback>
                <p:oleObj name="公式" r:id="rId3" imgW="15367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052513"/>
                        <a:ext cx="30226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03575" y="3956050"/>
          <a:ext cx="15113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1" name="公式" r:id="rId5" imgW="660113" imgH="241195" progId="Equation.3">
                  <p:embed/>
                </p:oleObj>
              </mc:Choice>
              <mc:Fallback>
                <p:oleObj name="公式" r:id="rId5" imgW="66011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956050"/>
                        <a:ext cx="15113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7"/>
          <p:cNvGraphicFramePr>
            <a:graphicFrameLocks noChangeAspect="1"/>
          </p:cNvGraphicFramePr>
          <p:nvPr/>
        </p:nvGraphicFramePr>
        <p:xfrm>
          <a:off x="4427538" y="981075"/>
          <a:ext cx="34813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2" name="Equation" r:id="rId7" imgW="1562040" imgH="482400" progId="Equation.DSMT4">
                  <p:embed/>
                </p:oleObj>
              </mc:Choice>
              <mc:Fallback>
                <p:oleObj name="Equation" r:id="rId7" imgW="1562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981075"/>
                        <a:ext cx="348138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8"/>
          <p:cNvSpPr>
            <a:spLocks noChangeArrowheads="1"/>
          </p:cNvSpPr>
          <p:nvPr/>
        </p:nvSpPr>
        <p:spPr bwMode="auto">
          <a:xfrm>
            <a:off x="179388" y="2276475"/>
            <a:ext cx="88201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其中</a:t>
            </a:r>
            <a:r>
              <a:rPr lang="en-US" altLang="zh-CN" sz="2800" i="1">
                <a:latin typeface="Symbol" panose="05050102010706020507" pitchFamily="18" charset="2"/>
              </a:rPr>
              <a:t>l</a:t>
            </a:r>
            <a:r>
              <a:rPr lang="en-US" altLang="zh-CN" sz="2800"/>
              <a:t>&gt;0, </a:t>
            </a:r>
            <a:r>
              <a:rPr lang="en-US" altLang="zh-CN" sz="2800" i="1">
                <a:latin typeface="Symbol" panose="05050102010706020507" pitchFamily="18" charset="2"/>
              </a:rPr>
              <a:t>m</a:t>
            </a:r>
            <a:r>
              <a:rPr lang="en-US" altLang="zh-CN" sz="2800"/>
              <a:t>&gt;0</a:t>
            </a:r>
            <a:r>
              <a:rPr lang="zh-CN" altLang="en-US" sz="2800"/>
              <a:t>是常数</a:t>
            </a:r>
            <a:r>
              <a:rPr lang="en-US" altLang="zh-CN" sz="2800"/>
              <a:t>. </a:t>
            </a:r>
            <a:r>
              <a:rPr lang="zh-CN" altLang="en-US" sz="2800"/>
              <a:t>引入随机变量</a:t>
            </a:r>
          </a:p>
        </p:txBody>
      </p:sp>
      <p:graphicFrame>
        <p:nvGraphicFramePr>
          <p:cNvPr id="20486" name="Object 9"/>
          <p:cNvGraphicFramePr>
            <a:graphicFrameLocks noChangeAspect="1"/>
          </p:cNvGraphicFramePr>
          <p:nvPr/>
        </p:nvGraphicFramePr>
        <p:xfrm>
          <a:off x="2987675" y="2924175"/>
          <a:ext cx="20875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3" name="Equation" r:id="rId10" imgW="1117600" imgH="457200" progId="Equation.DSMT4">
                  <p:embed/>
                </p:oleObj>
              </mc:Choice>
              <mc:Fallback>
                <p:oleObj name="Equation" r:id="rId10" imgW="1117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924175"/>
                        <a:ext cx="208756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0"/>
          <p:cNvSpPr>
            <a:spLocks noChangeArrowheads="1"/>
          </p:cNvSpPr>
          <p:nvPr/>
        </p:nvSpPr>
        <p:spPr bwMode="auto">
          <a:xfrm>
            <a:off x="179388" y="4005263"/>
            <a:ext cx="88201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(1)</a:t>
            </a:r>
            <a:r>
              <a:rPr lang="zh-CN" altLang="en-US" sz="2800"/>
              <a:t>求条件概率密度</a:t>
            </a:r>
          </a:p>
        </p:txBody>
      </p:sp>
      <p:sp>
        <p:nvSpPr>
          <p:cNvPr id="20489" name="Rectangle 14"/>
          <p:cNvSpPr>
            <a:spLocks noChangeArrowheads="1"/>
          </p:cNvSpPr>
          <p:nvPr/>
        </p:nvSpPr>
        <p:spPr bwMode="auto">
          <a:xfrm>
            <a:off x="179388" y="4797425"/>
            <a:ext cx="88201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(2)</a:t>
            </a:r>
            <a:r>
              <a:rPr lang="zh-CN" altLang="en-US" sz="2800"/>
              <a:t>求</a:t>
            </a:r>
            <a:r>
              <a:rPr lang="en-US" altLang="zh-CN" sz="2800" i="1"/>
              <a:t>Z</a:t>
            </a:r>
            <a:r>
              <a:rPr lang="zh-CN" altLang="en-US" sz="2800"/>
              <a:t>的分布律和分布函数</a:t>
            </a:r>
            <a:r>
              <a:rPr lang="en-US" altLang="zh-CN" sz="2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8343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515939"/>
            <a:ext cx="8640763" cy="5762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effectLst/>
              </a:rPr>
              <a:t>解</a:t>
            </a:r>
            <a:r>
              <a:rPr lang="en-US" altLang="zh-CN" sz="2800" dirty="0" smtClean="0">
                <a:effectLst/>
              </a:rPr>
              <a:t>: (1)</a:t>
            </a:r>
            <a:r>
              <a:rPr lang="zh-CN" altLang="en-US" sz="2800" dirty="0" smtClean="0">
                <a:effectLst/>
              </a:rPr>
              <a:t>由独立性知</a:t>
            </a:r>
          </a:p>
        </p:txBody>
      </p:sp>
      <p:graphicFrame>
        <p:nvGraphicFramePr>
          <p:cNvPr id="392200" name="Object 8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96745425"/>
              </p:ext>
            </p:extLst>
          </p:nvPr>
        </p:nvGraphicFramePr>
        <p:xfrm>
          <a:off x="2971006" y="507868"/>
          <a:ext cx="27368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9" name="Equation" r:id="rId3" imgW="1168400" imgH="241300" progId="Equation.DSMT4">
                  <p:embed/>
                </p:oleObj>
              </mc:Choice>
              <mc:Fallback>
                <p:oleObj name="Equation" r:id="rId3" imgW="11684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006" y="507868"/>
                        <a:ext cx="27368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201" name="Rectangle 9"/>
          <p:cNvSpPr>
            <a:spLocks noChangeArrowheads="1"/>
          </p:cNvSpPr>
          <p:nvPr/>
        </p:nvSpPr>
        <p:spPr bwMode="auto">
          <a:xfrm>
            <a:off x="107950" y="1341438"/>
            <a:ext cx="6264275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(2)</a:t>
            </a:r>
          </a:p>
        </p:txBody>
      </p:sp>
      <p:graphicFrame>
        <p:nvGraphicFramePr>
          <p:cNvPr id="392203" name="Object 11"/>
          <p:cNvGraphicFramePr>
            <a:graphicFrameLocks noChangeAspect="1"/>
          </p:cNvGraphicFramePr>
          <p:nvPr/>
        </p:nvGraphicFramePr>
        <p:xfrm>
          <a:off x="650875" y="1125538"/>
          <a:ext cx="737711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0" name="Equation" r:id="rId6" imgW="3149600" imgH="457200" progId="Equation.DSMT4">
                  <p:embed/>
                </p:oleObj>
              </mc:Choice>
              <mc:Fallback>
                <p:oleObj name="Equation" r:id="rId6" imgW="3149600" imgH="457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1125538"/>
                        <a:ext cx="7377113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204" name="Object 12"/>
          <p:cNvGraphicFramePr>
            <a:graphicFrameLocks noChangeAspect="1"/>
          </p:cNvGraphicFramePr>
          <p:nvPr/>
        </p:nvGraphicFramePr>
        <p:xfrm>
          <a:off x="611188" y="2665413"/>
          <a:ext cx="1695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1" name="Equation" r:id="rId8" imgW="723586" imgH="203112" progId="Equation.DSMT4">
                  <p:embed/>
                </p:oleObj>
              </mc:Choice>
              <mc:Fallback>
                <p:oleObj name="Equation" r:id="rId8" imgW="723586" imgH="20311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665413"/>
                        <a:ext cx="16954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205" name="Object 13"/>
          <p:cNvGraphicFramePr>
            <a:graphicFrameLocks noChangeAspect="1"/>
          </p:cNvGraphicFramePr>
          <p:nvPr/>
        </p:nvGraphicFramePr>
        <p:xfrm>
          <a:off x="2349500" y="2420938"/>
          <a:ext cx="46704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2" name="Equation" r:id="rId10" imgW="1993900" imgH="419100" progId="Equation.DSMT4">
                  <p:embed/>
                </p:oleObj>
              </mc:Choice>
              <mc:Fallback>
                <p:oleObj name="Equation" r:id="rId10" imgW="19939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2420938"/>
                        <a:ext cx="467042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206" name="Rectangle 14"/>
          <p:cNvSpPr>
            <a:spLocks noChangeArrowheads="1"/>
          </p:cNvSpPr>
          <p:nvPr/>
        </p:nvSpPr>
        <p:spPr bwMode="auto">
          <a:xfrm>
            <a:off x="395288" y="3860800"/>
            <a:ext cx="626427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i="1"/>
              <a:t>Z</a:t>
            </a:r>
            <a:r>
              <a:rPr lang="zh-CN" altLang="en-US" sz="2800"/>
              <a:t>是离散型随机变量</a:t>
            </a:r>
            <a:r>
              <a:rPr lang="en-US" altLang="zh-CN" sz="2800"/>
              <a:t>,</a:t>
            </a:r>
            <a:r>
              <a:rPr lang="zh-CN" altLang="en-US" sz="2800"/>
              <a:t>其分布函数为</a:t>
            </a:r>
            <a:r>
              <a:rPr lang="en-US" altLang="zh-CN" sz="2800"/>
              <a:t>:</a:t>
            </a:r>
          </a:p>
        </p:txBody>
      </p:sp>
      <p:graphicFrame>
        <p:nvGraphicFramePr>
          <p:cNvPr id="3922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271073"/>
              </p:ext>
            </p:extLst>
          </p:nvPr>
        </p:nvGraphicFramePr>
        <p:xfrm>
          <a:off x="1641475" y="4437112"/>
          <a:ext cx="4586709" cy="1613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3" name="Equation" r:id="rId12" imgW="2019300" imgH="711200" progId="Equation.DSMT4">
                  <p:embed/>
                </p:oleObj>
              </mc:Choice>
              <mc:Fallback>
                <p:oleObj name="Equation" r:id="rId12" imgW="20193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4437112"/>
                        <a:ext cx="4586709" cy="1613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9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9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92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build="p"/>
      <p:bldP spid="392201" grpId="0"/>
      <p:bldP spid="392206" grpId="0"/>
    </p:bldLst>
  </p:timing>
</p:sld>
</file>

<file path=ppt/theme/theme1.xml><?xml version="1.0" encoding="utf-8"?>
<a:theme xmlns:a="http://schemas.openxmlformats.org/drawingml/2006/main" name="带编号主题">
  <a:themeElements>
    <a:clrScheme name="gjjy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jjy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gjjy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jjy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带编号主题" id="{E74A4B7F-94FD-43CE-8263-42BB3C351B48}" vid="{D543DBDC-2D13-448F-86E4-9000DF09A7C5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带编号主题</Template>
  <TotalTime>11417</TotalTime>
  <Words>201</Words>
  <Application>Microsoft Office PowerPoint</Application>
  <PresentationFormat>全屏显示(4:3)</PresentationFormat>
  <Paragraphs>19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宋体</vt:lpstr>
      <vt:lpstr>文鼎粗圆</vt:lpstr>
      <vt:lpstr>Symbol</vt:lpstr>
      <vt:lpstr>Times New Roman</vt:lpstr>
      <vt:lpstr>Wingdings</vt:lpstr>
      <vt:lpstr>带编号主题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华中科技大学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概率论</dc:title>
  <dc:creator>梁敏</dc:creator>
  <cp:lastModifiedBy>Windows 用户</cp:lastModifiedBy>
  <cp:revision>402</cp:revision>
  <cp:lastPrinted>2019-10-21T04:49:43Z</cp:lastPrinted>
  <dcterms:created xsi:type="dcterms:W3CDTF">2002-08-23T01:14:32Z</dcterms:created>
  <dcterms:modified xsi:type="dcterms:W3CDTF">2019-10-21T04:49:47Z</dcterms:modified>
</cp:coreProperties>
</file>