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0"/>
  </p:notesMasterIdLst>
  <p:handoutMasterIdLst>
    <p:handoutMasterId r:id="rId11"/>
  </p:handoutMasterIdLst>
  <p:sldIdLst>
    <p:sldId id="437" r:id="rId2"/>
    <p:sldId id="453" r:id="rId3"/>
    <p:sldId id="438" r:id="rId4"/>
    <p:sldId id="454" r:id="rId5"/>
    <p:sldId id="440" r:id="rId6"/>
    <p:sldId id="455" r:id="rId7"/>
    <p:sldId id="429" r:id="rId8"/>
    <p:sldId id="430" r:id="rId9"/>
  </p:sldIdLst>
  <p:sldSz cx="9144000" cy="6858000" type="screen4x3"/>
  <p:notesSz cx="9947275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66"/>
    <a:srgbClr val="CC9900"/>
    <a:srgbClr val="FF9933"/>
    <a:srgbClr val="333333"/>
    <a:srgbClr val="0000FF"/>
    <a:srgbClr val="0066FF"/>
    <a:srgbClr val="CC0066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92" d="100"/>
          <a:sy n="92" d="100"/>
        </p:scale>
        <p:origin x="113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e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4.wmf"/><Relationship Id="rId7" Type="http://schemas.openxmlformats.org/officeDocument/2006/relationships/image" Target="../media/image10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emf"/><Relationship Id="rId2" Type="http://schemas.openxmlformats.org/officeDocument/2006/relationships/image" Target="../media/image17.wmf"/><Relationship Id="rId1" Type="http://schemas.openxmlformats.org/officeDocument/2006/relationships/image" Target="../media/image6.emf"/><Relationship Id="rId6" Type="http://schemas.openxmlformats.org/officeDocument/2006/relationships/image" Target="../media/image21.e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5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12" Type="http://schemas.openxmlformats.org/officeDocument/2006/relationships/image" Target="../media/image34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11" Type="http://schemas.openxmlformats.org/officeDocument/2006/relationships/image" Target="../media/image33.wmf"/><Relationship Id="rId5" Type="http://schemas.openxmlformats.org/officeDocument/2006/relationships/image" Target="../media/image27.emf"/><Relationship Id="rId15" Type="http://schemas.openxmlformats.org/officeDocument/2006/relationships/image" Target="../media/image37.w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Relationship Id="rId1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50.wmf"/><Relationship Id="rId5" Type="http://schemas.openxmlformats.org/officeDocument/2006/relationships/image" Target="../media/image44.wmf"/><Relationship Id="rId10" Type="http://schemas.openxmlformats.org/officeDocument/2006/relationships/image" Target="../media/image49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3.wmf"/><Relationship Id="rId7" Type="http://schemas.openxmlformats.org/officeDocument/2006/relationships/image" Target="../media/image48.wmf"/><Relationship Id="rId2" Type="http://schemas.openxmlformats.org/officeDocument/2006/relationships/image" Target="../media/image42.wmf"/><Relationship Id="rId1" Type="http://schemas.openxmlformats.org/officeDocument/2006/relationships/image" Target="../media/image51.wmf"/><Relationship Id="rId6" Type="http://schemas.openxmlformats.org/officeDocument/2006/relationships/image" Target="../media/image54.wmf"/><Relationship Id="rId11" Type="http://schemas.openxmlformats.org/officeDocument/2006/relationships/image" Target="../media/image41.wmf"/><Relationship Id="rId5" Type="http://schemas.openxmlformats.org/officeDocument/2006/relationships/image" Target="../media/image53.wmf"/><Relationship Id="rId10" Type="http://schemas.openxmlformats.org/officeDocument/2006/relationships/image" Target="../media/image40.wmf"/><Relationship Id="rId4" Type="http://schemas.openxmlformats.org/officeDocument/2006/relationships/image" Target="../media/image52.wmf"/><Relationship Id="rId9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EE7AD-7535-461B-A176-3C844279A461}" type="datetimeFigureOut">
              <a:rPr lang="zh-CN" altLang="en-US" smtClean="0"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F6F3D-BA34-4350-A52F-C614A03B4E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210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5DF37E6-F0FB-4863-B99E-DD64433CC34A}" type="datetimeFigureOut">
              <a:rPr lang="zh-CN" altLang="en-US"/>
              <a:pPr>
                <a:defRPr/>
              </a:pPr>
              <a:t>2019/10/21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0588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117C006-95B0-4241-8EA2-FC26D30F0A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453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6CAA9-31B1-46EB-8B45-51DEC4DF4FA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66650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0F1EB8-DF3A-4B59-A628-65F7B4D547D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7646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39EF69D-2E6C-49BD-91E1-512EB5DFD84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46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245A60-539E-42F2-AC11-6178A3B831B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82731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5D4F97-77B9-47C0-B058-A7BEC250E2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0168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611BB15-55E5-49E0-AE5E-08476D03A2A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1964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FD7567B-3BAC-42BA-B8EB-18E7EA07ACC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12592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A1B0C8-60F7-4024-89FC-22A46432998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02151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418C5FE-5A7A-406C-96C7-703B1EE225B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74042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F8B2E1-DD94-4856-BA7D-85F738B4C4F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3881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6299F1-219A-4FC4-BFB6-37A6A206796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963369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pPr>
              <a:defRPr/>
            </a:pPr>
            <a:fld id="{DD6299F1-219A-4FC4-BFB6-37A6A206796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416138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53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pPr>
              <a:defRPr/>
            </a:pPr>
            <a:fld id="{DD6299F1-219A-4FC4-BFB6-37A6A206796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  <a:t>‹#›</a:t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07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4" r:id="rId13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0.wmf"/><Relationship Id="rId26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e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1.emf"/><Relationship Id="rId29" Type="http://schemas.openxmlformats.org/officeDocument/2006/relationships/oleObject" Target="../embeddings/oleObject36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3.wmf"/><Relationship Id="rId32" Type="http://schemas.openxmlformats.org/officeDocument/2006/relationships/image" Target="../media/image37.wmf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image" Target="../media/image35.wmf"/><Relationship Id="rId10" Type="http://schemas.openxmlformats.org/officeDocument/2006/relationships/image" Target="../media/image26.emf"/><Relationship Id="rId19" Type="http://schemas.openxmlformats.org/officeDocument/2006/relationships/oleObject" Target="../embeddings/oleObject31.bin"/><Relationship Id="rId31" Type="http://schemas.openxmlformats.org/officeDocument/2006/relationships/oleObject" Target="../embeddings/oleObject37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8.wmf"/><Relationship Id="rId22" Type="http://schemas.openxmlformats.org/officeDocument/2006/relationships/image" Target="../media/image32.emf"/><Relationship Id="rId27" Type="http://schemas.openxmlformats.org/officeDocument/2006/relationships/oleObject" Target="../embeddings/oleObject35.bin"/><Relationship Id="rId30" Type="http://schemas.openxmlformats.org/officeDocument/2006/relationships/image" Target="../media/image3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3.bin"/><Relationship Id="rId3" Type="http://schemas.openxmlformats.org/officeDocument/2006/relationships/oleObject" Target="../embeddings/oleObject40.bin"/><Relationship Id="rId21" Type="http://schemas.openxmlformats.org/officeDocument/2006/relationships/image" Target="../media/image48.wmf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20" Type="http://schemas.openxmlformats.org/officeDocument/2006/relationships/oleObject" Target="../embeddings/oleObject49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24" Type="http://schemas.openxmlformats.org/officeDocument/2006/relationships/oleObject" Target="../embeddings/oleObject51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image" Target="../media/image49.wmf"/><Relationship Id="rId10" Type="http://schemas.openxmlformats.org/officeDocument/2006/relationships/image" Target="../media/image43.wmf"/><Relationship Id="rId19" Type="http://schemas.openxmlformats.org/officeDocument/2006/relationships/image" Target="../media/image47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48.wmf"/><Relationship Id="rId26" Type="http://schemas.openxmlformats.org/officeDocument/2006/relationships/image" Target="../media/image40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62.bin"/><Relationship Id="rId25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wmf"/><Relationship Id="rId20" Type="http://schemas.openxmlformats.org/officeDocument/2006/relationships/image" Target="../media/image4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1.bin"/><Relationship Id="rId23" Type="http://schemas.openxmlformats.org/officeDocument/2006/relationships/oleObject" Target="../embeddings/oleObject66.bin"/><Relationship Id="rId28" Type="http://schemas.openxmlformats.org/officeDocument/2006/relationships/image" Target="../media/image41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7.bin"/><Relationship Id="rId14" Type="http://schemas.openxmlformats.org/officeDocument/2006/relationships/oleObject" Target="../embeddings/oleObject60.bin"/><Relationship Id="rId22" Type="http://schemas.openxmlformats.org/officeDocument/2006/relationships/oleObject" Target="../embeddings/oleObject65.bin"/><Relationship Id="rId27" Type="http://schemas.openxmlformats.org/officeDocument/2006/relationships/oleObject" Target="../embeddings/oleObject6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-36512" y="120228"/>
            <a:ext cx="65035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 smtClean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作业</a:t>
            </a:r>
            <a:r>
              <a:rPr lang="en-US" altLang="zh-CN" sz="2400" b="1" dirty="0" smtClean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1 </a:t>
            </a:r>
            <a:r>
              <a:rPr lang="en-US" altLang="zh-CN" sz="2400" b="1" dirty="0" smtClean="0">
                <a:solidFill>
                  <a:srgbClr val="FFFF00"/>
                </a:solidFill>
              </a:rPr>
              <a:t> </a:t>
            </a:r>
            <a:r>
              <a:rPr lang="zh-CN" altLang="en-US" sz="2400" b="1" dirty="0">
                <a:solidFill>
                  <a:srgbClr val="FFFF00"/>
                </a:solidFill>
              </a:rPr>
              <a:t>设随机变量</a:t>
            </a:r>
            <a:r>
              <a:rPr lang="en-US" altLang="zh-CN" sz="2400" b="1" dirty="0">
                <a:solidFill>
                  <a:srgbClr val="FFFF00"/>
                </a:solidFill>
              </a:rPr>
              <a:t>(</a:t>
            </a:r>
            <a:r>
              <a:rPr lang="en-US" altLang="zh-CN" sz="2400" b="1" i="1" dirty="0">
                <a:solidFill>
                  <a:srgbClr val="FFFF00"/>
                </a:solidFill>
              </a:rPr>
              <a:t>X</a:t>
            </a:r>
            <a:r>
              <a:rPr lang="en-US" altLang="zh-CN" sz="2400" b="1" dirty="0">
                <a:solidFill>
                  <a:srgbClr val="FFFF00"/>
                </a:solidFill>
              </a:rPr>
              <a:t>,</a:t>
            </a:r>
            <a:r>
              <a:rPr lang="en-US" altLang="zh-CN" sz="2400" b="1" i="1" dirty="0">
                <a:solidFill>
                  <a:srgbClr val="FFFF00"/>
                </a:solidFill>
              </a:rPr>
              <a:t>Y</a:t>
            </a:r>
            <a:r>
              <a:rPr lang="en-US" altLang="zh-CN" sz="2400" b="1" dirty="0">
                <a:solidFill>
                  <a:srgbClr val="FFFF00"/>
                </a:solidFill>
              </a:rPr>
              <a:t>)</a:t>
            </a:r>
            <a:r>
              <a:rPr lang="zh-CN" altLang="en-US" sz="2400" b="1" dirty="0">
                <a:solidFill>
                  <a:srgbClr val="FFFF00"/>
                </a:solidFill>
              </a:rPr>
              <a:t>的分布函数为</a:t>
            </a: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269683"/>
              </p:ext>
            </p:extLst>
          </p:nvPr>
        </p:nvGraphicFramePr>
        <p:xfrm>
          <a:off x="81265" y="626106"/>
          <a:ext cx="479364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" name="Equation" r:id="rId3" imgW="2514600" imgH="431800" progId="Equation.3">
                  <p:embed/>
                </p:oleObj>
              </mc:Choice>
              <mc:Fallback>
                <p:oleObj name="Equation" r:id="rId3" imgW="25146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65" y="626106"/>
                        <a:ext cx="4793645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4930626" y="811555"/>
            <a:ext cx="4038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1) </a:t>
            </a:r>
            <a:r>
              <a:rPr lang="zh-CN" altLang="en-US" sz="2400" dirty="0"/>
              <a:t>求常数</a:t>
            </a:r>
            <a:r>
              <a:rPr lang="en-US" altLang="zh-CN" sz="2400" i="1" dirty="0"/>
              <a:t>A</a:t>
            </a:r>
            <a:r>
              <a:rPr lang="en-US" altLang="zh-CN" sz="2400" dirty="0"/>
              <a:t>,</a:t>
            </a:r>
            <a:r>
              <a:rPr lang="en-US" altLang="zh-CN" sz="2400" i="1" dirty="0"/>
              <a:t>B,C</a:t>
            </a:r>
            <a:r>
              <a:rPr lang="zh-CN" altLang="en-US" sz="2400" dirty="0"/>
              <a:t>的值</a:t>
            </a:r>
            <a:r>
              <a:rPr lang="en-US" altLang="zh-CN" sz="2400" dirty="0"/>
              <a:t>;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9879" y="1461212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2)</a:t>
            </a:r>
            <a:r>
              <a:rPr lang="zh-CN" altLang="en-US" sz="2400" dirty="0"/>
              <a:t>求         </a:t>
            </a:r>
            <a:r>
              <a:rPr lang="zh-CN" altLang="en-US" sz="2400" dirty="0" smtClean="0"/>
              <a:t>       的</a:t>
            </a:r>
            <a:r>
              <a:rPr lang="zh-CN" altLang="en-US" sz="2400" dirty="0"/>
              <a:t>概率密度            </a:t>
            </a:r>
            <a:r>
              <a:rPr lang="en-US" altLang="zh-CN" sz="2400" dirty="0"/>
              <a:t>;</a:t>
            </a:r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757176"/>
              </p:ext>
            </p:extLst>
          </p:nvPr>
        </p:nvGraphicFramePr>
        <p:xfrm>
          <a:off x="755576" y="1461212"/>
          <a:ext cx="10715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" name="公式" r:id="rId5" imgW="431613" imgH="203112" progId="Equation.3">
                  <p:embed/>
                </p:oleObj>
              </mc:Choice>
              <mc:Fallback>
                <p:oleObj name="公式" r:id="rId5" imgW="431613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461212"/>
                        <a:ext cx="10715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815811"/>
              </p:ext>
            </p:extLst>
          </p:nvPr>
        </p:nvGraphicFramePr>
        <p:xfrm>
          <a:off x="3334655" y="1444543"/>
          <a:ext cx="10144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" name="Equation" r:id="rId7" imgW="482391" imgH="203112" progId="Equation.3">
                  <p:embed/>
                </p:oleObj>
              </mc:Choice>
              <mc:Fallback>
                <p:oleObj name="Equation" r:id="rId7" imgW="482391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655" y="1444543"/>
                        <a:ext cx="10144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4788024" y="1451743"/>
            <a:ext cx="373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/>
              <a:t>3)</a:t>
            </a:r>
            <a:r>
              <a:rPr lang="zh-CN" altLang="en-US" sz="2400" dirty="0"/>
              <a:t>求边缘概率密度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501621"/>
              </p:ext>
            </p:extLst>
          </p:nvPr>
        </p:nvGraphicFramePr>
        <p:xfrm>
          <a:off x="7233211" y="1389645"/>
          <a:ext cx="12303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公式" r:id="rId9" imgW="431613" imgH="215806" progId="Equation.3">
                  <p:embed/>
                </p:oleObj>
              </mc:Choice>
              <mc:Fallback>
                <p:oleObj name="公式" r:id="rId9" imgW="431613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211" y="1389645"/>
                        <a:ext cx="12303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562779"/>
              </p:ext>
            </p:extLst>
          </p:nvPr>
        </p:nvGraphicFramePr>
        <p:xfrm>
          <a:off x="29879" y="2126567"/>
          <a:ext cx="7024488" cy="2259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Document" r:id="rId11" imgW="3726768" imgH="1219361" progId="Word.Document.8">
                  <p:embed/>
                </p:oleObj>
              </mc:Choice>
              <mc:Fallback>
                <p:oleObj name="Document" r:id="rId11" imgW="3726768" imgH="1219361" progId="Word.Document.8">
                  <p:embed/>
                  <p:pic>
                    <p:nvPicPr>
                      <p:cNvPr id="17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9" y="2126567"/>
                        <a:ext cx="7024488" cy="22595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3737" y="4409814"/>
            <a:ext cx="9140263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作业</a:t>
            </a:r>
            <a:r>
              <a:rPr lang="en-US" altLang="zh-CN" sz="2400" b="1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3</a:t>
            </a:r>
            <a:r>
              <a:rPr lang="en-US" altLang="zh-CN" sz="2400" b="1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假设</a:t>
            </a:r>
            <a:r>
              <a:rPr lang="en-US" altLang="zh-CN" sz="2400" dirty="0"/>
              <a:t>5</a:t>
            </a:r>
            <a:r>
              <a:rPr lang="zh-CN" altLang="en-US" sz="2400" dirty="0"/>
              <a:t>件产品中有</a:t>
            </a:r>
            <a:r>
              <a:rPr lang="en-US" altLang="zh-CN" sz="2400" dirty="0"/>
              <a:t>3</a:t>
            </a:r>
            <a:r>
              <a:rPr lang="zh-CN" altLang="en-US" sz="2400" dirty="0"/>
              <a:t>件正品</a:t>
            </a:r>
            <a:r>
              <a:rPr lang="en-US" altLang="zh-CN" sz="2400" dirty="0"/>
              <a:t>,2</a:t>
            </a:r>
            <a:r>
              <a:rPr lang="zh-CN" altLang="en-US" sz="2400" dirty="0"/>
              <a:t>件次品</a:t>
            </a:r>
            <a:r>
              <a:rPr lang="en-US" altLang="zh-CN" sz="2400" dirty="0"/>
              <a:t>,</a:t>
            </a:r>
            <a:r>
              <a:rPr lang="zh-CN" altLang="en-US" sz="2400" dirty="0"/>
              <a:t>从中取两次</a:t>
            </a:r>
            <a:r>
              <a:rPr lang="en-US" altLang="zh-CN" sz="2400" dirty="0"/>
              <a:t>,</a:t>
            </a:r>
            <a:r>
              <a:rPr lang="zh-CN" altLang="en-US" sz="2400" dirty="0"/>
              <a:t>每次取一件</a:t>
            </a:r>
            <a:r>
              <a:rPr lang="en-US" altLang="zh-CN" sz="2400" dirty="0"/>
              <a:t>,</a:t>
            </a:r>
            <a:r>
              <a:rPr lang="zh-CN" altLang="en-US" sz="2400" dirty="0"/>
              <a:t>记</a:t>
            </a: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742361"/>
              </p:ext>
            </p:extLst>
          </p:nvPr>
        </p:nvGraphicFramePr>
        <p:xfrm>
          <a:off x="611560" y="4907284"/>
          <a:ext cx="3737507" cy="883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公式" r:id="rId13" imgW="2171700" imgH="482600" progId="Equation.3">
                  <p:embed/>
                </p:oleObj>
              </mc:Choice>
              <mc:Fallback>
                <p:oleObj name="公式" r:id="rId13" imgW="2171700" imgH="4826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907284"/>
                        <a:ext cx="3737507" cy="883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5047" y="5717563"/>
            <a:ext cx="915339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000" dirty="0"/>
              <a:t>分别对</a:t>
            </a:r>
            <a:r>
              <a:rPr lang="zh-CN" altLang="en-US" sz="2000" b="1" dirty="0">
                <a:solidFill>
                  <a:srgbClr val="FF0000"/>
                </a:solidFill>
              </a:rPr>
              <a:t>有放回抽样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无放回抽样</a:t>
            </a:r>
            <a:r>
              <a:rPr lang="zh-CN" altLang="en-US" sz="2000" dirty="0"/>
              <a:t>两种情况</a:t>
            </a:r>
            <a:r>
              <a:rPr lang="en-US" altLang="zh-CN" sz="2000" dirty="0"/>
              <a:t>,</a:t>
            </a:r>
            <a:r>
              <a:rPr lang="zh-CN" altLang="en-US" sz="2000" dirty="0"/>
              <a:t>求</a:t>
            </a:r>
            <a:r>
              <a:rPr lang="en-US" altLang="zh-CN" sz="2000" dirty="0"/>
              <a:t>(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</a:t>
            </a:r>
            <a:r>
              <a:rPr lang="en-US" altLang="zh-CN" sz="2000" i="1" dirty="0"/>
              <a:t>X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</a:t>
            </a:r>
            <a:r>
              <a:rPr lang="zh-CN" altLang="en-US" sz="2000" dirty="0"/>
              <a:t>的联合分布律和边缘分布律</a:t>
            </a:r>
            <a:r>
              <a:rPr lang="en-US" altLang="zh-CN" sz="2000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8"/>
          <p:cNvSpPr>
            <a:spLocks noChangeArrowheads="1"/>
          </p:cNvSpPr>
          <p:nvPr/>
        </p:nvSpPr>
        <p:spPr bwMode="auto">
          <a:xfrm>
            <a:off x="6716900" y="4110980"/>
            <a:ext cx="2071688" cy="178593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5363" name="Rectangle 20"/>
          <p:cNvSpPr>
            <a:spLocks noChangeArrowheads="1"/>
          </p:cNvSpPr>
          <p:nvPr/>
        </p:nvSpPr>
        <p:spPr bwMode="auto">
          <a:xfrm>
            <a:off x="250825" y="620688"/>
            <a:ext cx="7057479" cy="344247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329617" y="18559"/>
            <a:ext cx="65035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作业</a:t>
            </a:r>
            <a:r>
              <a:rPr lang="en-US" altLang="zh-CN" sz="2800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1</a:t>
            </a:r>
            <a:r>
              <a:rPr lang="en-US" altLang="zh-CN" sz="2800" dirty="0" smtClean="0">
                <a:solidFill>
                  <a:srgbClr val="FFFF00"/>
                </a:solidFill>
              </a:rPr>
              <a:t>  </a:t>
            </a:r>
            <a:r>
              <a:rPr lang="zh-CN" altLang="en-US" sz="2800" dirty="0">
                <a:solidFill>
                  <a:srgbClr val="FFFF00"/>
                </a:solidFill>
              </a:rPr>
              <a:t>设随机变量</a:t>
            </a:r>
            <a:r>
              <a:rPr lang="en-US" altLang="zh-CN" sz="2800" dirty="0">
                <a:solidFill>
                  <a:srgbClr val="FFFF00"/>
                </a:solidFill>
              </a:rPr>
              <a:t>(</a:t>
            </a:r>
            <a:r>
              <a:rPr lang="en-US" altLang="zh-CN" sz="2800" i="1" dirty="0">
                <a:solidFill>
                  <a:srgbClr val="FFFF00"/>
                </a:solidFill>
              </a:rPr>
              <a:t>X</a:t>
            </a:r>
            <a:r>
              <a:rPr lang="en-US" altLang="zh-CN" sz="2800" dirty="0">
                <a:solidFill>
                  <a:srgbClr val="FFFF00"/>
                </a:solidFill>
              </a:rPr>
              <a:t>,</a:t>
            </a:r>
            <a:r>
              <a:rPr lang="en-US" altLang="zh-CN" sz="2800" i="1" dirty="0">
                <a:solidFill>
                  <a:srgbClr val="FFFF00"/>
                </a:solidFill>
              </a:rPr>
              <a:t>Y</a:t>
            </a:r>
            <a:r>
              <a:rPr lang="en-US" altLang="zh-CN" sz="2800" dirty="0">
                <a:solidFill>
                  <a:srgbClr val="FFFF00"/>
                </a:solidFill>
              </a:rPr>
              <a:t>)</a:t>
            </a:r>
            <a:r>
              <a:rPr lang="zh-CN" altLang="en-US" sz="2800" dirty="0">
                <a:solidFill>
                  <a:srgbClr val="FFFF00"/>
                </a:solidFill>
              </a:rPr>
              <a:t>的分布函数为</a:t>
            </a:r>
          </a:p>
        </p:txBody>
      </p:sp>
      <p:graphicFrame>
        <p:nvGraphicFramePr>
          <p:cNvPr id="153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208727"/>
              </p:ext>
            </p:extLst>
          </p:nvPr>
        </p:nvGraphicFramePr>
        <p:xfrm>
          <a:off x="786418" y="604683"/>
          <a:ext cx="479364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3" name="Equation" r:id="rId3" imgW="2514600" imgH="431800" progId="Equation.3">
                  <p:embed/>
                </p:oleObj>
              </mc:Choice>
              <mc:Fallback>
                <p:oleObj name="Equation" r:id="rId3" imgW="2514600" imgH="431800" progId="Equation.3">
                  <p:embed/>
                  <p:pic>
                    <p:nvPicPr>
                      <p:cNvPr id="153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418" y="604683"/>
                        <a:ext cx="4793645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81644" y="1340768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/>
              <a:t>1) </a:t>
            </a:r>
            <a:r>
              <a:rPr lang="zh-CN" altLang="en-US" dirty="0"/>
              <a:t>求常数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B,C</a:t>
            </a:r>
            <a:r>
              <a:rPr lang="zh-CN" altLang="en-US" dirty="0"/>
              <a:t>的值</a:t>
            </a:r>
            <a:r>
              <a:rPr lang="en-US" altLang="zh-CN" dirty="0"/>
              <a:t>;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11188" y="1879163"/>
            <a:ext cx="541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/>
              <a:t>2)</a:t>
            </a:r>
            <a:r>
              <a:rPr lang="zh-CN" altLang="en-US" dirty="0"/>
              <a:t>求         的概率密度            </a:t>
            </a:r>
            <a:r>
              <a:rPr lang="en-US" altLang="zh-CN" dirty="0"/>
              <a:t>;</a:t>
            </a:r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927501"/>
              </p:ext>
            </p:extLst>
          </p:nvPr>
        </p:nvGraphicFramePr>
        <p:xfrm>
          <a:off x="1378510" y="1955131"/>
          <a:ext cx="10715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4" name="公式" r:id="rId5" imgW="431613" imgH="203112" progId="Equation.3">
                  <p:embed/>
                </p:oleObj>
              </mc:Choice>
              <mc:Fallback>
                <p:oleObj name="公式" r:id="rId5" imgW="431613" imgH="203112" progId="Equation.3">
                  <p:embed/>
                  <p:pic>
                    <p:nvPicPr>
                      <p:cNvPr id="15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8510" y="1955131"/>
                        <a:ext cx="10715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124794"/>
              </p:ext>
            </p:extLst>
          </p:nvPr>
        </p:nvGraphicFramePr>
        <p:xfrm>
          <a:off x="4363863" y="1893779"/>
          <a:ext cx="101441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" name="Equation" r:id="rId7" imgW="482391" imgH="203112" progId="Equation.3">
                  <p:embed/>
                </p:oleObj>
              </mc:Choice>
              <mc:Fallback>
                <p:oleObj name="Equation" r:id="rId7" imgW="482391" imgH="203112" progId="Equation.3">
                  <p:embed/>
                  <p:pic>
                    <p:nvPicPr>
                      <p:cNvPr id="153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3863" y="1893779"/>
                        <a:ext cx="1014412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11188" y="2408969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/>
              <a:t>3)</a:t>
            </a:r>
            <a:r>
              <a:rPr lang="zh-CN" altLang="en-US" dirty="0"/>
              <a:t>求边缘概率密度</a:t>
            </a: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219756"/>
              </p:ext>
            </p:extLst>
          </p:nvPr>
        </p:nvGraphicFramePr>
        <p:xfrm>
          <a:off x="3881997" y="2418118"/>
          <a:ext cx="12303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" name="公式" r:id="rId9" imgW="431613" imgH="215806" progId="Equation.3">
                  <p:embed/>
                </p:oleObj>
              </mc:Choice>
              <mc:Fallback>
                <p:oleObj name="公式" r:id="rId9" imgW="431613" imgH="215806" progId="Equation.3">
                  <p:embed/>
                  <p:pic>
                    <p:nvPicPr>
                      <p:cNvPr id="15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997" y="2418118"/>
                        <a:ext cx="12303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156" name="Text Box 12"/>
          <p:cNvSpPr txBox="1">
            <a:spLocks noChangeArrowheads="1"/>
          </p:cNvSpPr>
          <p:nvPr/>
        </p:nvSpPr>
        <p:spPr bwMode="auto">
          <a:xfrm>
            <a:off x="-108520" y="3241647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/>
              <a:t>  </a:t>
            </a:r>
            <a:r>
              <a:rPr lang="zh-CN" altLang="en-US" b="1" dirty="0">
                <a:solidFill>
                  <a:schemeClr val="accent2"/>
                </a:solidFill>
                <a:ea typeface="楷体_GB2312" charset="-122"/>
              </a:rPr>
              <a:t>解</a:t>
            </a:r>
            <a:r>
              <a:rPr lang="zh-CN" altLang="en-US" dirty="0"/>
              <a:t>  </a:t>
            </a:r>
            <a:r>
              <a:rPr lang="en-US" altLang="zh-CN" dirty="0"/>
              <a:t>1) </a:t>
            </a:r>
            <a:r>
              <a:rPr lang="zh-CN" altLang="en-US" dirty="0"/>
              <a:t>由于</a:t>
            </a:r>
          </a:p>
        </p:txBody>
      </p:sp>
      <p:graphicFrame>
        <p:nvGraphicFramePr>
          <p:cNvPr id="390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202484"/>
              </p:ext>
            </p:extLst>
          </p:nvPr>
        </p:nvGraphicFramePr>
        <p:xfrm>
          <a:off x="2135531" y="3106113"/>
          <a:ext cx="4312147" cy="924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7" name="Equation" r:id="rId11" imgW="2006600" imgH="431800" progId="Equation.3">
                  <p:embed/>
                </p:oleObj>
              </mc:Choice>
              <mc:Fallback>
                <p:oleObj name="Equation" r:id="rId11" imgW="2006600" imgH="431800" progId="Equation.3">
                  <p:embed/>
                  <p:pic>
                    <p:nvPicPr>
                      <p:cNvPr id="3901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31" y="3106113"/>
                        <a:ext cx="4312147" cy="924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266095"/>
              </p:ext>
            </p:extLst>
          </p:nvPr>
        </p:nvGraphicFramePr>
        <p:xfrm>
          <a:off x="232605" y="3956618"/>
          <a:ext cx="4685977" cy="914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8" name="Equation" r:id="rId13" imgW="2120900" imgH="431800" progId="Equation.3">
                  <p:embed/>
                </p:oleObj>
              </mc:Choice>
              <mc:Fallback>
                <p:oleObj name="Equation" r:id="rId13" imgW="2120900" imgH="431800" progId="Equation.3">
                  <p:embed/>
                  <p:pic>
                    <p:nvPicPr>
                      <p:cNvPr id="39015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605" y="3956618"/>
                        <a:ext cx="4685977" cy="914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540791"/>
              </p:ext>
            </p:extLst>
          </p:nvPr>
        </p:nvGraphicFramePr>
        <p:xfrm>
          <a:off x="88146" y="4962139"/>
          <a:ext cx="5024164" cy="907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9" name="Equation" r:id="rId15" imgW="2108200" imgH="431800" progId="Equation.3">
                  <p:embed/>
                </p:oleObj>
              </mc:Choice>
              <mc:Fallback>
                <p:oleObj name="Equation" r:id="rId15" imgW="2108200" imgH="431800" progId="Equation.3">
                  <p:embed/>
                  <p:pic>
                    <p:nvPicPr>
                      <p:cNvPr id="3901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46" y="4962139"/>
                        <a:ext cx="5024164" cy="907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629463" y="4093321"/>
            <a:ext cx="3159125" cy="1755775"/>
            <a:chOff x="3456" y="2767"/>
            <a:chExt cx="1990" cy="1106"/>
          </a:xfrm>
        </p:grpSpPr>
        <p:sp>
          <p:nvSpPr>
            <p:cNvPr id="15377" name="Text Box 17"/>
            <p:cNvSpPr txBox="1">
              <a:spLocks noChangeArrowheads="1"/>
            </p:cNvSpPr>
            <p:nvPr/>
          </p:nvSpPr>
          <p:spPr bwMode="auto">
            <a:xfrm>
              <a:off x="3456" y="3312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解得</a:t>
              </a:r>
              <a:r>
                <a:rPr lang="en-US" altLang="zh-CN" sz="2800"/>
                <a:t>:</a:t>
              </a:r>
            </a:p>
          </p:txBody>
        </p:sp>
        <p:graphicFrame>
          <p:nvGraphicFramePr>
            <p:cNvPr id="1537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9637142"/>
                </p:ext>
              </p:extLst>
            </p:nvPr>
          </p:nvGraphicFramePr>
          <p:xfrm>
            <a:off x="4207" y="2767"/>
            <a:ext cx="960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0" name="Equation" r:id="rId17" imgW="495085" imgH="393529" progId="Equation.3">
                    <p:embed/>
                  </p:oleObj>
                </mc:Choice>
                <mc:Fallback>
                  <p:oleObj name="Equation" r:id="rId17" imgW="495085" imgH="393529" progId="Equation.3">
                    <p:embed/>
                    <p:pic>
                      <p:nvPicPr>
                        <p:cNvPr id="1537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7" y="2767"/>
                          <a:ext cx="960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8966621"/>
                </p:ext>
              </p:extLst>
            </p:nvPr>
          </p:nvGraphicFramePr>
          <p:xfrm>
            <a:off x="4198" y="3297"/>
            <a:ext cx="124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81" name="Equation" r:id="rId19" imgW="685800" imgH="393700" progId="Equation.3">
                    <p:embed/>
                  </p:oleObj>
                </mc:Choice>
                <mc:Fallback>
                  <p:oleObj name="Equation" r:id="rId19" imgW="685800" imgH="393700" progId="Equation.3">
                    <p:embed/>
                    <p:pic>
                      <p:nvPicPr>
                        <p:cNvPr id="1537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3297"/>
                          <a:ext cx="124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86435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0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5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Text Box 2"/>
          <p:cNvSpPr txBox="1">
            <a:spLocks noChangeArrowheads="1"/>
          </p:cNvSpPr>
          <p:nvPr/>
        </p:nvSpPr>
        <p:spPr bwMode="auto">
          <a:xfrm>
            <a:off x="357981" y="31750"/>
            <a:ext cx="403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solidFill>
                  <a:srgbClr val="FFFF00"/>
                </a:solidFill>
              </a:rPr>
              <a:t>2)   </a:t>
            </a:r>
            <a:r>
              <a:rPr lang="zh-CN" altLang="en-US" dirty="0">
                <a:solidFill>
                  <a:srgbClr val="FFFF00"/>
                </a:solidFill>
              </a:rPr>
              <a:t>由性质</a:t>
            </a:r>
            <a:r>
              <a:rPr lang="en-US" altLang="zh-CN" dirty="0">
                <a:solidFill>
                  <a:srgbClr val="FFFF00"/>
                </a:solidFill>
              </a:rPr>
              <a:t>,</a:t>
            </a:r>
            <a:r>
              <a:rPr lang="zh-CN" altLang="en-US" dirty="0">
                <a:solidFill>
                  <a:srgbClr val="FFFF00"/>
                </a:solidFill>
              </a:rPr>
              <a:t>得</a:t>
            </a:r>
          </a:p>
        </p:txBody>
      </p:sp>
      <p:graphicFrame>
        <p:nvGraphicFramePr>
          <p:cNvPr id="391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071589"/>
              </p:ext>
            </p:extLst>
          </p:nvPr>
        </p:nvGraphicFramePr>
        <p:xfrm>
          <a:off x="1758951" y="1717764"/>
          <a:ext cx="2957066" cy="88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Equation" r:id="rId3" imgW="1282700" imgH="419100" progId="Equation.3">
                  <p:embed/>
                </p:oleObj>
              </mc:Choice>
              <mc:Fallback>
                <p:oleObj name="Equation" r:id="rId3" imgW="12827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1" y="1717764"/>
                        <a:ext cx="2957066" cy="887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2" name="Text Box 4"/>
          <p:cNvSpPr txBox="1">
            <a:spLocks noChangeArrowheads="1"/>
          </p:cNvSpPr>
          <p:nvPr/>
        </p:nvSpPr>
        <p:spPr bwMode="auto">
          <a:xfrm>
            <a:off x="107504" y="306896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dirty="0"/>
              <a:t>3)</a:t>
            </a:r>
          </a:p>
        </p:txBody>
      </p:sp>
      <p:graphicFrame>
        <p:nvGraphicFramePr>
          <p:cNvPr id="391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459141"/>
              </p:ext>
            </p:extLst>
          </p:nvPr>
        </p:nvGraphicFramePr>
        <p:xfrm>
          <a:off x="563562" y="2781159"/>
          <a:ext cx="6888758" cy="113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7" name="Equation" r:id="rId5" imgW="2882900" imgH="457200" progId="Equation.DSMT4">
                  <p:embed/>
                </p:oleObj>
              </mc:Choice>
              <mc:Fallback>
                <p:oleObj name="Equation" r:id="rId5" imgW="28829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" y="2781159"/>
                        <a:ext cx="6888758" cy="1138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82805"/>
              </p:ext>
            </p:extLst>
          </p:nvPr>
        </p:nvGraphicFramePr>
        <p:xfrm>
          <a:off x="1547664" y="3887280"/>
          <a:ext cx="5719783" cy="2134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公式" r:id="rId7" imgW="2501900" imgH="914400" progId="Equation.3">
                  <p:embed/>
                </p:oleObj>
              </mc:Choice>
              <mc:Fallback>
                <p:oleObj name="公式" r:id="rId7" imgW="2501900" imgH="914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887280"/>
                        <a:ext cx="5719783" cy="2134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00604"/>
              </p:ext>
            </p:extLst>
          </p:nvPr>
        </p:nvGraphicFramePr>
        <p:xfrm>
          <a:off x="720725" y="857251"/>
          <a:ext cx="6299547" cy="1036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9" imgW="3009900" imgH="495300" progId="Equation.DSMT4">
                  <p:embed/>
                </p:oleObj>
              </mc:Choice>
              <mc:Fallback>
                <p:oleObj name="Equation" r:id="rId9" imgW="3009900" imgH="495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857251"/>
                        <a:ext cx="6299547" cy="1036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/>
      <p:bldP spid="39117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951341"/>
              </p:ext>
            </p:extLst>
          </p:nvPr>
        </p:nvGraphicFramePr>
        <p:xfrm>
          <a:off x="468314" y="603526"/>
          <a:ext cx="7024488" cy="2259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1" name="Document" r:id="rId3" imgW="3726768" imgH="1219361" progId="Word.Document.8">
                  <p:embed/>
                </p:oleObj>
              </mc:Choice>
              <mc:Fallback>
                <p:oleObj name="Document" r:id="rId3" imgW="3726768" imgH="1219361" progId="Word.Document.8">
                  <p:embed/>
                  <p:pic>
                    <p:nvPicPr>
                      <p:cNvPr id="17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4" y="603526"/>
                        <a:ext cx="7024488" cy="22595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07" name="Rectangle 3"/>
          <p:cNvSpPr>
            <a:spLocks noChangeArrowheads="1"/>
          </p:cNvSpPr>
          <p:nvPr/>
        </p:nvSpPr>
        <p:spPr bwMode="auto">
          <a:xfrm>
            <a:off x="395288" y="3141663"/>
            <a:ext cx="221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楷体_GB2312" charset="-122"/>
              </a:rPr>
              <a:t>解 </a:t>
            </a:r>
            <a:r>
              <a:rPr lang="zh-CN" altLang="en-US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(1) </a:t>
            </a:r>
            <a:r>
              <a:rPr lang="zh-CN" altLang="en-US" sz="2800" dirty="0">
                <a:latin typeface="Arial" panose="020B0604020202020204" pitchFamily="34" charset="0"/>
              </a:rPr>
              <a:t>因为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6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662241"/>
              </p:ext>
            </p:extLst>
          </p:nvPr>
        </p:nvGraphicFramePr>
        <p:xfrm>
          <a:off x="2483768" y="3060130"/>
          <a:ext cx="3095600" cy="720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2" name="Equation" r:id="rId5" imgW="1511300" imgH="355600" progId="Equation.DSMT4">
                  <p:embed/>
                </p:oleObj>
              </mc:Choice>
              <mc:Fallback>
                <p:oleObj name="Equation" r:id="rId5" imgW="1511300" imgH="355600" progId="Equation.DSMT4">
                  <p:embed/>
                  <p:pic>
                    <p:nvPicPr>
                      <p:cNvPr id="456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060130"/>
                        <a:ext cx="3095600" cy="720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6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953435"/>
              </p:ext>
            </p:extLst>
          </p:nvPr>
        </p:nvGraphicFramePr>
        <p:xfrm>
          <a:off x="1211476" y="3852145"/>
          <a:ext cx="2928476" cy="701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3" name="Equation" r:id="rId7" imgW="1473200" imgH="355600" progId="Equation.DSMT4">
                  <p:embed/>
                </p:oleObj>
              </mc:Choice>
              <mc:Fallback>
                <p:oleObj name="Equation" r:id="rId7" imgW="1473200" imgH="355600" progId="Equation.DSMT4">
                  <p:embed/>
                  <p:pic>
                    <p:nvPicPr>
                      <p:cNvPr id="4567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476" y="3852145"/>
                        <a:ext cx="2928476" cy="701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2" name="Rectangle 8"/>
          <p:cNvSpPr>
            <a:spLocks noChangeArrowheads="1"/>
          </p:cNvSpPr>
          <p:nvPr/>
        </p:nvSpPr>
        <p:spPr bwMode="auto">
          <a:xfrm>
            <a:off x="601504" y="3951299"/>
            <a:ext cx="768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即</a:t>
            </a:r>
          </a:p>
        </p:txBody>
      </p:sp>
      <p:graphicFrame>
        <p:nvGraphicFramePr>
          <p:cNvPr id="456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372250"/>
              </p:ext>
            </p:extLst>
          </p:nvPr>
        </p:nvGraphicFramePr>
        <p:xfrm>
          <a:off x="1404030" y="4625182"/>
          <a:ext cx="2880634" cy="727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Equation" r:id="rId9" imgW="1396394" imgH="355446" progId="Equation.DSMT4">
                  <p:embed/>
                </p:oleObj>
              </mc:Choice>
              <mc:Fallback>
                <p:oleObj name="Equation" r:id="rId9" imgW="1396394" imgH="355446" progId="Equation.DSMT4">
                  <p:embed/>
                  <p:pic>
                    <p:nvPicPr>
                      <p:cNvPr id="456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030" y="4625182"/>
                        <a:ext cx="2880634" cy="727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59992"/>
              </p:ext>
            </p:extLst>
          </p:nvPr>
        </p:nvGraphicFramePr>
        <p:xfrm>
          <a:off x="1399675" y="5394062"/>
          <a:ext cx="2375883" cy="68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name="Equation" r:id="rId11" imgW="1143000" imgH="330200" progId="Equation.DSMT4">
                  <p:embed/>
                </p:oleObj>
              </mc:Choice>
              <mc:Fallback>
                <p:oleObj name="Equation" r:id="rId11" imgW="1143000" imgH="330200" progId="Equation.DSMT4">
                  <p:embed/>
                  <p:pic>
                    <p:nvPicPr>
                      <p:cNvPr id="4567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9675" y="5394062"/>
                        <a:ext cx="2375883" cy="687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6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621724"/>
              </p:ext>
            </p:extLst>
          </p:nvPr>
        </p:nvGraphicFramePr>
        <p:xfrm>
          <a:off x="4552656" y="5661247"/>
          <a:ext cx="1642188" cy="39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文档" r:id="rId13" imgW="811816" imgH="197508" progId="Word.Document.8">
                  <p:embed/>
                </p:oleObj>
              </mc:Choice>
              <mc:Fallback>
                <p:oleObj name="文档" r:id="rId13" imgW="811816" imgH="197508" progId="Word.Document.8">
                  <p:embed/>
                  <p:pic>
                    <p:nvPicPr>
                      <p:cNvPr id="4567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656" y="5661247"/>
                        <a:ext cx="1642188" cy="39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0" name="Group 12"/>
          <p:cNvGrpSpPr>
            <a:grpSpLocks/>
          </p:cNvGrpSpPr>
          <p:nvPr/>
        </p:nvGrpSpPr>
        <p:grpSpPr bwMode="auto">
          <a:xfrm>
            <a:off x="6263481" y="3282168"/>
            <a:ext cx="2376487" cy="2016125"/>
            <a:chOff x="4105" y="2160"/>
            <a:chExt cx="1497" cy="1270"/>
          </a:xfrm>
        </p:grpSpPr>
        <p:sp>
          <p:nvSpPr>
            <p:cNvPr id="17421" name="AutoShape 13"/>
            <p:cNvSpPr>
              <a:spLocks noChangeArrowheads="1"/>
            </p:cNvSpPr>
            <p:nvPr/>
          </p:nvSpPr>
          <p:spPr bwMode="auto">
            <a:xfrm rot="10800000" flipH="1">
              <a:off x="4105" y="2387"/>
              <a:ext cx="1134" cy="1043"/>
            </a:xfrm>
            <a:prstGeom prst="rtTriangl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4105" y="3430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 flipV="1">
              <a:off x="4105" y="2387"/>
              <a:ext cx="1134" cy="104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24" name="Object 16"/>
            <p:cNvGraphicFramePr>
              <a:graphicFrameLocks noChangeAspect="1"/>
            </p:cNvGraphicFramePr>
            <p:nvPr/>
          </p:nvGraphicFramePr>
          <p:xfrm>
            <a:off x="5103" y="2160"/>
            <a:ext cx="49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7" name="Equation" r:id="rId15" imgW="314435" imgH="104760" progId="Equation.DSMT4">
                    <p:embed/>
                  </p:oleObj>
                </mc:Choice>
                <mc:Fallback>
                  <p:oleObj name="Equation" r:id="rId15" imgW="314435" imgH="104760" progId="Equation.DSMT4">
                    <p:embed/>
                    <p:pic>
                      <p:nvPicPr>
                        <p:cNvPr id="1742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2160"/>
                          <a:ext cx="49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 flipV="1">
              <a:off x="4105" y="2341"/>
              <a:ext cx="0" cy="10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97532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5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456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7" grpId="0"/>
      <p:bldP spid="4567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755650" y="549275"/>
            <a:ext cx="1173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 </a:t>
            </a:r>
            <a:r>
              <a:rPr lang="en-US" altLang="zh-CN" sz="2800">
                <a:latin typeface="Arial" panose="020B0604020202020204" pitchFamily="34" charset="0"/>
              </a:rPr>
              <a:t>(2)</a:t>
            </a:r>
            <a:r>
              <a:rPr lang="zh-CN" altLang="en-US" sz="2800">
                <a:latin typeface="Arial" panose="020B0604020202020204" pitchFamily="34" charset="0"/>
              </a:rPr>
              <a:t>　 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1677988" y="549275"/>
          <a:ext cx="46418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8" name="Equation" r:id="rId3" imgW="2032000" imgH="393700" progId="Equation.DSMT4">
                  <p:embed/>
                </p:oleObj>
              </mc:Choice>
              <mc:Fallback>
                <p:oleObj name="Equation" r:id="rId3" imgW="2032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549275"/>
                        <a:ext cx="46418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080111"/>
              </p:ext>
            </p:extLst>
          </p:nvPr>
        </p:nvGraphicFramePr>
        <p:xfrm>
          <a:off x="4040562" y="1436318"/>
          <a:ext cx="294083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9" name="Equation" r:id="rId5" imgW="1371600" imgH="355600" progId="Equation.DSMT4">
                  <p:embed/>
                </p:oleObj>
              </mc:Choice>
              <mc:Fallback>
                <p:oleObj name="Equation" r:id="rId5" imgW="1371600" imgH="355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562" y="1436318"/>
                        <a:ext cx="294083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38" name="Object 10"/>
          <p:cNvGraphicFramePr>
            <a:graphicFrameLocks noChangeAspect="1"/>
          </p:cNvGraphicFramePr>
          <p:nvPr/>
        </p:nvGraphicFramePr>
        <p:xfrm>
          <a:off x="827088" y="2349500"/>
          <a:ext cx="22320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" name="Equation" r:id="rId7" imgW="901309" imgH="203112" progId="Equation.DSMT4">
                  <p:embed/>
                </p:oleObj>
              </mc:Choice>
              <mc:Fallback>
                <p:oleObj name="Equation" r:id="rId7" imgW="901309" imgH="20311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349500"/>
                        <a:ext cx="22320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227763" y="2420938"/>
            <a:ext cx="2520950" cy="2320925"/>
            <a:chOff x="3923" y="1842"/>
            <a:chExt cx="1588" cy="1462"/>
          </a:xfrm>
        </p:grpSpPr>
        <p:sp>
          <p:nvSpPr>
            <p:cNvPr id="18458" name="Line 12"/>
            <p:cNvSpPr>
              <a:spLocks noChangeShapeType="1"/>
            </p:cNvSpPr>
            <p:nvPr/>
          </p:nvSpPr>
          <p:spPr bwMode="auto">
            <a:xfrm flipV="1">
              <a:off x="4105" y="1842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AutoShape 13"/>
            <p:cNvSpPr>
              <a:spLocks noChangeArrowheads="1"/>
            </p:cNvSpPr>
            <p:nvPr/>
          </p:nvSpPr>
          <p:spPr bwMode="auto">
            <a:xfrm rot="10800000" flipH="1">
              <a:off x="4105" y="2024"/>
              <a:ext cx="998" cy="907"/>
            </a:xfrm>
            <a:prstGeom prst="rtTriangl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Arial" panose="020B0604020202020204" pitchFamily="34" charset="0"/>
                <a:ea typeface="MS Gothic" panose="020B0609070205080204" pitchFamily="49" charset="-128"/>
              </a:endParaRPr>
            </a:p>
          </p:txBody>
        </p:sp>
        <p:sp>
          <p:nvSpPr>
            <p:cNvPr id="18460" name="Line 14"/>
            <p:cNvSpPr>
              <a:spLocks noChangeShapeType="1"/>
            </p:cNvSpPr>
            <p:nvPr/>
          </p:nvSpPr>
          <p:spPr bwMode="auto">
            <a:xfrm>
              <a:off x="4105" y="2931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Line 15"/>
            <p:cNvSpPr>
              <a:spLocks noChangeShapeType="1"/>
            </p:cNvSpPr>
            <p:nvPr/>
          </p:nvSpPr>
          <p:spPr bwMode="auto">
            <a:xfrm flipV="1">
              <a:off x="4105" y="2024"/>
              <a:ext cx="998" cy="90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2" name="Object 16"/>
            <p:cNvGraphicFramePr>
              <a:graphicFrameLocks noChangeAspect="1"/>
            </p:cNvGraphicFramePr>
            <p:nvPr/>
          </p:nvGraphicFramePr>
          <p:xfrm>
            <a:off x="4876" y="1842"/>
            <a:ext cx="49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1" name="Equation" r:id="rId9" imgW="314435" imgH="104760" progId="Equation.DSMT4">
                    <p:embed/>
                  </p:oleObj>
                </mc:Choice>
                <mc:Fallback>
                  <p:oleObj name="Equation" r:id="rId9" imgW="314435" imgH="10476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842"/>
                          <a:ext cx="49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3" name="Line 17"/>
            <p:cNvSpPr>
              <a:spLocks noChangeShapeType="1"/>
            </p:cNvSpPr>
            <p:nvPr/>
          </p:nvSpPr>
          <p:spPr bwMode="auto">
            <a:xfrm>
              <a:off x="4014" y="2069"/>
              <a:ext cx="1134" cy="95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4" name="Object 18"/>
            <p:cNvGraphicFramePr>
              <a:graphicFrameLocks noChangeAspect="1"/>
            </p:cNvGraphicFramePr>
            <p:nvPr/>
          </p:nvGraphicFramePr>
          <p:xfrm>
            <a:off x="4830" y="3067"/>
            <a:ext cx="681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2" name="Equation" r:id="rId11" imgW="523788" imgH="142830" progId="Equation.DSMT4">
                    <p:embed/>
                  </p:oleObj>
                </mc:Choice>
                <mc:Fallback>
                  <p:oleObj name="Equation" r:id="rId11" imgW="523788" imgH="14283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3067"/>
                          <a:ext cx="681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5" name="Object 19"/>
            <p:cNvGraphicFramePr>
              <a:graphicFrameLocks noChangeAspect="1"/>
            </p:cNvGraphicFramePr>
            <p:nvPr/>
          </p:nvGraphicFramePr>
          <p:xfrm>
            <a:off x="3923" y="2069"/>
            <a:ext cx="145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3" name="Equation" r:id="rId13" imgW="126780" imgH="164814" progId="Equation.DSMT4">
                    <p:embed/>
                  </p:oleObj>
                </mc:Choice>
                <mc:Fallback>
                  <p:oleObj name="Equation" r:id="rId13" imgW="126780" imgH="164814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069"/>
                          <a:ext cx="145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6" name="Line 20"/>
            <p:cNvSpPr>
              <a:spLocks noChangeShapeType="1"/>
            </p:cNvSpPr>
            <p:nvPr/>
          </p:nvSpPr>
          <p:spPr bwMode="auto">
            <a:xfrm>
              <a:off x="4558" y="2523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7" name="Object 21"/>
            <p:cNvGraphicFramePr>
              <a:graphicFrameLocks noChangeAspect="1"/>
            </p:cNvGraphicFramePr>
            <p:nvPr/>
          </p:nvGraphicFramePr>
          <p:xfrm>
            <a:off x="4513" y="2976"/>
            <a:ext cx="102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14" name="Equation" r:id="rId15" imgW="88707" imgH="164742" progId="Equation.DSMT4">
                    <p:embed/>
                  </p:oleObj>
                </mc:Choice>
                <mc:Fallback>
                  <p:oleObj name="Equation" r:id="rId15" imgW="88707" imgH="164742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976"/>
                          <a:ext cx="102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77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658454"/>
              </p:ext>
            </p:extLst>
          </p:nvPr>
        </p:nvGraphicFramePr>
        <p:xfrm>
          <a:off x="827088" y="1412876"/>
          <a:ext cx="3123651" cy="809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5" name="Equation" r:id="rId17" imgW="1358310" imgH="355446" progId="Equation.DSMT4">
                  <p:embed/>
                </p:oleObj>
              </mc:Choice>
              <mc:Fallback>
                <p:oleObj name="Equation" r:id="rId17" imgW="1358310" imgH="3554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12876"/>
                        <a:ext cx="3123651" cy="809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639312"/>
              </p:ext>
            </p:extLst>
          </p:nvPr>
        </p:nvGraphicFramePr>
        <p:xfrm>
          <a:off x="755651" y="2852738"/>
          <a:ext cx="4500564" cy="779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6" name="文档" r:id="rId19" imgW="2275762" imgH="396014" progId="Word.Document.8">
                  <p:embed/>
                </p:oleObj>
              </mc:Choice>
              <mc:Fallback>
                <p:oleObj name="文档" r:id="rId19" imgW="2275762" imgH="396014" progId="Word.Documen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1" y="2852738"/>
                        <a:ext cx="4500564" cy="779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302823"/>
              </p:ext>
            </p:extLst>
          </p:nvPr>
        </p:nvGraphicFramePr>
        <p:xfrm>
          <a:off x="468312" y="3735389"/>
          <a:ext cx="17287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7" name="文档" r:id="rId21" imgW="742180" imgH="197508" progId="Word.Document.8">
                  <p:embed/>
                </p:oleObj>
              </mc:Choice>
              <mc:Fallback>
                <p:oleObj name="文档" r:id="rId21" imgW="742180" imgH="197508" progId="Word.Documen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" y="3735389"/>
                        <a:ext cx="17287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Rectangle 2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5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281781"/>
              </p:ext>
            </p:extLst>
          </p:nvPr>
        </p:nvGraphicFramePr>
        <p:xfrm>
          <a:off x="2138363" y="3644900"/>
          <a:ext cx="3009901" cy="73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8" name="Equation" r:id="rId23" imgW="1447172" imgH="355446" progId="Equation.DSMT4">
                  <p:embed/>
                </p:oleObj>
              </mc:Choice>
              <mc:Fallback>
                <p:oleObj name="Equation" r:id="rId23" imgW="1447172" imgH="35544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3644900"/>
                        <a:ext cx="3009901" cy="733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Rectangle 2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5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177729"/>
              </p:ext>
            </p:extLst>
          </p:nvPr>
        </p:nvGraphicFramePr>
        <p:xfrm>
          <a:off x="945063" y="4397375"/>
          <a:ext cx="1871662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9" name="Equation" r:id="rId25" imgW="863225" imgH="355446" progId="Equation.DSMT4">
                  <p:embed/>
                </p:oleObj>
              </mc:Choice>
              <mc:Fallback>
                <p:oleObj name="Equation" r:id="rId25" imgW="863225" imgH="355446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063" y="4397375"/>
                        <a:ext cx="1871662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Rectangle 29"/>
          <p:cNvSpPr>
            <a:spLocks noChangeArrowheads="1"/>
          </p:cNvSpPr>
          <p:nvPr/>
        </p:nvSpPr>
        <p:spPr bwMode="auto">
          <a:xfrm>
            <a:off x="0" y="3068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881983"/>
              </p:ext>
            </p:extLst>
          </p:nvPr>
        </p:nvGraphicFramePr>
        <p:xfrm>
          <a:off x="2796397" y="4508499"/>
          <a:ext cx="10080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0" name="Equation" r:id="rId27" imgW="431613" imgH="228501" progId="Equation.DSMT4">
                  <p:embed/>
                </p:oleObj>
              </mc:Choice>
              <mc:Fallback>
                <p:oleObj name="Equation" r:id="rId27" imgW="431613" imgH="228501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397" y="4508499"/>
                        <a:ext cx="100806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59" name="Rectangle 31"/>
          <p:cNvSpPr>
            <a:spLocks noChangeArrowheads="1"/>
          </p:cNvSpPr>
          <p:nvPr/>
        </p:nvSpPr>
        <p:spPr bwMode="auto">
          <a:xfrm>
            <a:off x="250825" y="5157788"/>
            <a:ext cx="638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即 </a:t>
            </a:r>
          </a:p>
        </p:txBody>
      </p:sp>
      <p:sp>
        <p:nvSpPr>
          <p:cNvPr id="18453" name="Rectangle 32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6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444759"/>
              </p:ext>
            </p:extLst>
          </p:nvPr>
        </p:nvGraphicFramePr>
        <p:xfrm>
          <a:off x="957052" y="5157786"/>
          <a:ext cx="2855913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1" name="Equation" r:id="rId29" imgW="1371600" imgH="482600" progId="Equation.DSMT4">
                  <p:embed/>
                </p:oleObj>
              </mc:Choice>
              <mc:Fallback>
                <p:oleObj name="Equation" r:id="rId29" imgW="1371600" imgH="482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052" y="5157786"/>
                        <a:ext cx="2855913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34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Arial" panose="020B0604020202020204" pitchFamily="34" charset="0"/>
              <a:ea typeface="MS Gothic" panose="020B0609070205080204" pitchFamily="49" charset="-128"/>
            </a:endParaRPr>
          </a:p>
        </p:txBody>
      </p:sp>
      <p:graphicFrame>
        <p:nvGraphicFramePr>
          <p:cNvPr id="45776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636709"/>
              </p:ext>
            </p:extLst>
          </p:nvPr>
        </p:nvGraphicFramePr>
        <p:xfrm>
          <a:off x="5440645" y="5095876"/>
          <a:ext cx="328453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22" name="Equation" r:id="rId31" imgW="1511300" imgH="482600" progId="Equation.DSMT4">
                  <p:embed/>
                </p:oleObj>
              </mc:Choice>
              <mc:Fallback>
                <p:oleObj name="Equation" r:id="rId31" imgW="1511300" imgH="482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645" y="5095876"/>
                        <a:ext cx="3284538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64" name="Text Box 36"/>
          <p:cNvSpPr txBox="1">
            <a:spLocks noChangeArrowheads="1"/>
          </p:cNvSpPr>
          <p:nvPr/>
        </p:nvSpPr>
        <p:spPr bwMode="auto">
          <a:xfrm>
            <a:off x="4427984" y="5362575"/>
            <a:ext cx="1223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同理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57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45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5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59" grpId="0"/>
      <p:bldP spid="4577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4213" y="476672"/>
            <a:ext cx="7488187" cy="121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作业</a:t>
            </a:r>
            <a:r>
              <a:rPr lang="en-US" altLang="zh-CN" sz="2800" b="1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3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en-US" altLang="zh-CN" sz="2800" dirty="0" smtClean="0"/>
              <a:t> </a:t>
            </a:r>
            <a:r>
              <a:rPr lang="zh-CN" altLang="en-US" sz="2800" dirty="0"/>
              <a:t>假设</a:t>
            </a:r>
            <a:r>
              <a:rPr lang="en-US" altLang="zh-CN" sz="2800" dirty="0"/>
              <a:t>5</a:t>
            </a:r>
            <a:r>
              <a:rPr lang="zh-CN" altLang="en-US" sz="2800" dirty="0"/>
              <a:t>件产品中有</a:t>
            </a:r>
            <a:r>
              <a:rPr lang="en-US" altLang="zh-CN" sz="2800" dirty="0"/>
              <a:t>3</a:t>
            </a:r>
            <a:r>
              <a:rPr lang="zh-CN" altLang="en-US" sz="2800" dirty="0"/>
              <a:t>件正品</a:t>
            </a:r>
            <a:r>
              <a:rPr lang="en-US" altLang="zh-CN" sz="2800" dirty="0"/>
              <a:t>,2</a:t>
            </a:r>
            <a:r>
              <a:rPr lang="zh-CN" altLang="en-US" sz="2800" dirty="0"/>
              <a:t>件次品</a:t>
            </a:r>
            <a:r>
              <a:rPr lang="en-US" altLang="zh-CN" sz="2800" dirty="0"/>
              <a:t>,</a:t>
            </a:r>
            <a:r>
              <a:rPr lang="zh-CN" altLang="en-US" sz="2800" dirty="0"/>
              <a:t>从中取两次</a:t>
            </a:r>
            <a:r>
              <a:rPr lang="en-US" altLang="zh-CN" sz="2800" dirty="0"/>
              <a:t>,</a:t>
            </a:r>
            <a:r>
              <a:rPr lang="zh-CN" altLang="en-US" sz="2800" dirty="0"/>
              <a:t>每次取一件</a:t>
            </a:r>
            <a:r>
              <a:rPr lang="en-US" altLang="zh-CN" sz="2800" dirty="0"/>
              <a:t>,</a:t>
            </a:r>
            <a:r>
              <a:rPr lang="zh-CN" altLang="en-US" sz="2800" dirty="0"/>
              <a:t>记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1979613" y="1412875"/>
          <a:ext cx="475297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公式" r:id="rId3" imgW="2171700" imgH="482600" progId="Equation.3">
                  <p:embed/>
                </p:oleObj>
              </mc:Choice>
              <mc:Fallback>
                <p:oleObj name="公式" r:id="rId3" imgW="2171700" imgH="4826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12875"/>
                        <a:ext cx="4752975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90538" y="2492375"/>
            <a:ext cx="865346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/>
              <a:t>分别对</a:t>
            </a:r>
            <a:r>
              <a:rPr lang="zh-CN" altLang="en-US" sz="2800" b="1" dirty="0">
                <a:solidFill>
                  <a:srgbClr val="FF0000"/>
                </a:solidFill>
              </a:rPr>
              <a:t>有放回抽样</a:t>
            </a:r>
            <a:r>
              <a:rPr lang="zh-CN" altLang="en-US" sz="2800" dirty="0"/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无放回抽样</a:t>
            </a:r>
            <a:r>
              <a:rPr lang="zh-CN" altLang="en-US" sz="2800" dirty="0"/>
              <a:t>两种情况</a:t>
            </a:r>
            <a:r>
              <a:rPr lang="en-US" altLang="zh-CN" sz="2800" dirty="0"/>
              <a:t>,</a:t>
            </a:r>
            <a:r>
              <a:rPr lang="zh-CN" altLang="en-US" sz="2800" dirty="0"/>
              <a:t>求</a:t>
            </a:r>
            <a:r>
              <a:rPr lang="en-US" altLang="zh-CN" sz="2800" dirty="0"/>
              <a:t>(</a:t>
            </a:r>
            <a:r>
              <a:rPr lang="en-US" altLang="zh-CN" sz="2800" i="1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i="1" dirty="0"/>
              <a:t>X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</a:t>
            </a:r>
            <a:r>
              <a:rPr lang="zh-CN" altLang="en-US" sz="2800" dirty="0"/>
              <a:t>的联合分布律和边缘分布律</a:t>
            </a:r>
            <a:r>
              <a:rPr lang="en-US" altLang="zh-CN" sz="2800" dirty="0"/>
              <a:t>.</a:t>
            </a:r>
          </a:p>
        </p:txBody>
      </p:sp>
      <p:sp>
        <p:nvSpPr>
          <p:cNvPr id="376838" name="Text Box 6"/>
          <p:cNvSpPr txBox="1">
            <a:spLocks noChangeArrowheads="1"/>
          </p:cNvSpPr>
          <p:nvPr/>
        </p:nvSpPr>
        <p:spPr bwMode="auto">
          <a:xfrm>
            <a:off x="395288" y="386080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ea typeface="楷体_GB2312" charset="-122"/>
              </a:rPr>
              <a:t>解</a:t>
            </a:r>
            <a:r>
              <a:rPr lang="zh-CN" altLang="en-US" sz="2800"/>
              <a:t>  </a:t>
            </a:r>
            <a:r>
              <a:rPr lang="en-US" altLang="zh-CN" sz="2800"/>
              <a:t>(1)</a:t>
            </a:r>
            <a:r>
              <a:rPr lang="zh-CN" altLang="en-US" sz="2800"/>
              <a:t>有放回的情形</a:t>
            </a:r>
            <a:r>
              <a:rPr lang="en-US" altLang="zh-CN" sz="2800"/>
              <a:t>.</a:t>
            </a:r>
            <a:r>
              <a:rPr lang="zh-CN" altLang="en-US" sz="2800"/>
              <a:t>此时</a:t>
            </a:r>
          </a:p>
        </p:txBody>
      </p:sp>
      <p:graphicFrame>
        <p:nvGraphicFramePr>
          <p:cNvPr id="376839" name="Object 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86819889"/>
              </p:ext>
            </p:extLst>
          </p:nvPr>
        </p:nvGraphicFramePr>
        <p:xfrm>
          <a:off x="2133620" y="4662815"/>
          <a:ext cx="3043589" cy="472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5" imgW="1473200" imgH="228600" progId="Equation.DSMT4">
                  <p:embed/>
                </p:oleObj>
              </mc:Choice>
              <mc:Fallback>
                <p:oleObj name="Equation" r:id="rId5" imgW="1473200" imgH="228600" progId="Equation.DSMT4">
                  <p:embed/>
                  <p:pic>
                    <p:nvPicPr>
                      <p:cNvPr id="3768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20" y="4662815"/>
                        <a:ext cx="3043589" cy="472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6840" name="Object 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6721918"/>
              </p:ext>
            </p:extLst>
          </p:nvPr>
        </p:nvGraphicFramePr>
        <p:xfrm>
          <a:off x="2759653" y="5143501"/>
          <a:ext cx="15843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公式" r:id="rId7" imgW="774364" imgH="393529" progId="Equation.3">
                  <p:embed/>
                </p:oleObj>
              </mc:Choice>
              <mc:Fallback>
                <p:oleObj name="公式" r:id="rId7" imgW="774364" imgH="393529" progId="Equation.3">
                  <p:embed/>
                  <p:pic>
                    <p:nvPicPr>
                      <p:cNvPr id="3768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653" y="5143501"/>
                        <a:ext cx="158432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7448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8"/>
          <p:cNvGrpSpPr>
            <a:grpSpLocks/>
          </p:cNvGrpSpPr>
          <p:nvPr/>
        </p:nvGrpSpPr>
        <p:grpSpPr bwMode="auto">
          <a:xfrm>
            <a:off x="539750" y="620713"/>
            <a:ext cx="7993063" cy="950912"/>
            <a:chOff x="340" y="391"/>
            <a:chExt cx="5035" cy="599"/>
          </a:xfrm>
        </p:grpSpPr>
        <p:sp>
          <p:nvSpPr>
            <p:cNvPr id="13337" name="Text Box 3"/>
            <p:cNvSpPr txBox="1">
              <a:spLocks noChangeArrowheads="1"/>
            </p:cNvSpPr>
            <p:nvPr/>
          </p:nvSpPr>
          <p:spPr bwMode="auto">
            <a:xfrm>
              <a:off x="340" y="394"/>
              <a:ext cx="5035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类似的</a:t>
              </a:r>
              <a:r>
                <a:rPr lang="en-US" altLang="zh-CN" sz="2800"/>
                <a:t>,</a:t>
              </a:r>
              <a:r>
                <a:rPr lang="zh-CN" altLang="en-US" sz="2800"/>
                <a:t>可求得其它的    </a:t>
              </a:r>
              <a:r>
                <a:rPr lang="en-US" altLang="zh-CN" sz="2800"/>
                <a:t>,</a:t>
              </a:r>
              <a:r>
                <a:rPr lang="zh-CN" altLang="en-US" sz="2800"/>
                <a:t>最后可得            的联合分布律与边缘分布律如下表</a:t>
              </a:r>
              <a:r>
                <a:rPr lang="en-US" altLang="zh-CN" sz="2800"/>
                <a:t>:</a:t>
              </a:r>
            </a:p>
          </p:txBody>
        </p:sp>
        <p:graphicFrame>
          <p:nvGraphicFramePr>
            <p:cNvPr id="13338" name="Object 4"/>
            <p:cNvGraphicFramePr>
              <a:graphicFrameLocks noChangeAspect="1"/>
            </p:cNvGraphicFramePr>
            <p:nvPr/>
          </p:nvGraphicFramePr>
          <p:xfrm>
            <a:off x="2426" y="391"/>
            <a:ext cx="311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4" name="Equation" r:id="rId3" imgW="203112" imgH="241195" progId="Equation.3">
                    <p:embed/>
                  </p:oleObj>
                </mc:Choice>
                <mc:Fallback>
                  <p:oleObj name="Equation" r:id="rId3" imgW="203112" imgH="24119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1"/>
                          <a:ext cx="311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5"/>
            <p:cNvGraphicFramePr>
              <a:graphicFrameLocks noChangeAspect="1"/>
            </p:cNvGraphicFramePr>
            <p:nvPr/>
          </p:nvGraphicFramePr>
          <p:xfrm>
            <a:off x="3651" y="436"/>
            <a:ext cx="68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5" name="Equation" r:id="rId5" imgW="558558" imgH="215806" progId="Equation.3">
                    <p:embed/>
                  </p:oleObj>
                </mc:Choice>
                <mc:Fallback>
                  <p:oleObj name="Equation" r:id="rId5" imgW="558558" imgH="215806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436"/>
                          <a:ext cx="680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03350" y="2276475"/>
            <a:ext cx="5976938" cy="3240088"/>
            <a:chOff x="480" y="2016"/>
            <a:chExt cx="4080" cy="2304"/>
          </a:xfrm>
        </p:grpSpPr>
        <p:sp>
          <p:nvSpPr>
            <p:cNvPr id="13316" name="Line 7"/>
            <p:cNvSpPr>
              <a:spLocks noChangeShapeType="1"/>
            </p:cNvSpPr>
            <p:nvPr/>
          </p:nvSpPr>
          <p:spPr bwMode="auto">
            <a:xfrm>
              <a:off x="576" y="2592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" name="Line 8"/>
            <p:cNvSpPr>
              <a:spLocks noChangeShapeType="1"/>
            </p:cNvSpPr>
            <p:nvPr/>
          </p:nvSpPr>
          <p:spPr bwMode="auto">
            <a:xfrm flipH="1">
              <a:off x="1248" y="2016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Line 9"/>
            <p:cNvSpPr>
              <a:spLocks noChangeShapeType="1"/>
            </p:cNvSpPr>
            <p:nvPr/>
          </p:nvSpPr>
          <p:spPr bwMode="auto">
            <a:xfrm>
              <a:off x="576" y="2016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19" name="Object 10"/>
            <p:cNvGraphicFramePr>
              <a:graphicFrameLocks noChangeAspect="1"/>
            </p:cNvGraphicFramePr>
            <p:nvPr/>
          </p:nvGraphicFramePr>
          <p:xfrm>
            <a:off x="528" y="2256"/>
            <a:ext cx="27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6" name="Equation" r:id="rId7" imgW="203024" imgH="215713" progId="Equation.3">
                    <p:embed/>
                  </p:oleObj>
                </mc:Choice>
                <mc:Fallback>
                  <p:oleObj name="Equation" r:id="rId7" imgW="203024" imgH="215713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256"/>
                          <a:ext cx="27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0" name="Object 11"/>
            <p:cNvGraphicFramePr>
              <a:graphicFrameLocks noChangeAspect="1"/>
            </p:cNvGraphicFramePr>
            <p:nvPr/>
          </p:nvGraphicFramePr>
          <p:xfrm>
            <a:off x="904" y="206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7" name="Equation" r:id="rId9" imgW="215619" imgH="215619" progId="Equation.3">
                    <p:embed/>
                  </p:oleObj>
                </mc:Choice>
                <mc:Fallback>
                  <p:oleObj name="Equation" r:id="rId9" imgW="215619" imgH="21561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4" y="206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1" name="Text Box 12"/>
            <p:cNvSpPr txBox="1">
              <a:spLocks noChangeArrowheads="1"/>
            </p:cNvSpPr>
            <p:nvPr/>
          </p:nvSpPr>
          <p:spPr bwMode="auto">
            <a:xfrm>
              <a:off x="1680" y="2160"/>
              <a:ext cx="720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0</a:t>
              </a:r>
            </a:p>
          </p:txBody>
        </p:sp>
        <p:sp>
          <p:nvSpPr>
            <p:cNvPr id="13322" name="Text Box 13"/>
            <p:cNvSpPr txBox="1">
              <a:spLocks noChangeArrowheads="1"/>
            </p:cNvSpPr>
            <p:nvPr/>
          </p:nvSpPr>
          <p:spPr bwMode="auto">
            <a:xfrm>
              <a:off x="2784" y="2160"/>
              <a:ext cx="240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1</a:t>
              </a:r>
            </a:p>
          </p:txBody>
        </p:sp>
        <p:sp>
          <p:nvSpPr>
            <p:cNvPr id="13323" name="Text Box 14"/>
            <p:cNvSpPr txBox="1">
              <a:spLocks noChangeArrowheads="1"/>
            </p:cNvSpPr>
            <p:nvPr/>
          </p:nvSpPr>
          <p:spPr bwMode="auto">
            <a:xfrm>
              <a:off x="719" y="2640"/>
              <a:ext cx="385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0</a:t>
              </a:r>
            </a:p>
          </p:txBody>
        </p:sp>
        <p:sp>
          <p:nvSpPr>
            <p:cNvPr id="13324" name="Text Box 15"/>
            <p:cNvSpPr txBox="1">
              <a:spLocks noChangeArrowheads="1"/>
            </p:cNvSpPr>
            <p:nvPr/>
          </p:nvSpPr>
          <p:spPr bwMode="auto">
            <a:xfrm>
              <a:off x="719" y="3169"/>
              <a:ext cx="385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1</a:t>
              </a:r>
            </a:p>
          </p:txBody>
        </p:sp>
        <p:graphicFrame>
          <p:nvGraphicFramePr>
            <p:cNvPr id="13325" name="Object 16"/>
            <p:cNvGraphicFramePr>
              <a:graphicFrameLocks noChangeAspect="1"/>
            </p:cNvGraphicFramePr>
            <p:nvPr/>
          </p:nvGraphicFramePr>
          <p:xfrm>
            <a:off x="1488" y="2592"/>
            <a:ext cx="48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8" name="Equation" r:id="rId11" imgW="304536" imgH="304536" progId="Equation.3">
                    <p:embed/>
                  </p:oleObj>
                </mc:Choice>
                <mc:Fallback>
                  <p:oleObj name="Equation" r:id="rId11" imgW="304536" imgH="30453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592"/>
                          <a:ext cx="48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6" name="Object 17"/>
            <p:cNvGraphicFramePr>
              <a:graphicFrameLocks noChangeAspect="1"/>
            </p:cNvGraphicFramePr>
            <p:nvPr/>
          </p:nvGraphicFramePr>
          <p:xfrm>
            <a:off x="1488" y="3120"/>
            <a:ext cx="48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69" name="Equation" r:id="rId13" imgW="304536" imgH="304536" progId="Equation.3">
                    <p:embed/>
                  </p:oleObj>
                </mc:Choice>
                <mc:Fallback>
                  <p:oleObj name="Equation" r:id="rId13" imgW="304536" imgH="304536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120"/>
                          <a:ext cx="48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18"/>
            <p:cNvGraphicFramePr>
              <a:graphicFrameLocks noChangeAspect="1"/>
            </p:cNvGraphicFramePr>
            <p:nvPr/>
          </p:nvGraphicFramePr>
          <p:xfrm>
            <a:off x="2640" y="3120"/>
            <a:ext cx="48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0" name="Equation" r:id="rId15" imgW="304536" imgH="304536" progId="Equation.3">
                    <p:embed/>
                  </p:oleObj>
                </mc:Choice>
                <mc:Fallback>
                  <p:oleObj name="Equation" r:id="rId15" imgW="304536" imgH="304536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120"/>
                          <a:ext cx="48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Object 19"/>
            <p:cNvGraphicFramePr>
              <a:graphicFrameLocks noChangeAspect="1"/>
            </p:cNvGraphicFramePr>
            <p:nvPr/>
          </p:nvGraphicFramePr>
          <p:xfrm>
            <a:off x="2640" y="2592"/>
            <a:ext cx="48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1" name="Equation" r:id="rId17" imgW="304536" imgH="304536" progId="Equation.3">
                    <p:embed/>
                  </p:oleObj>
                </mc:Choice>
                <mc:Fallback>
                  <p:oleObj name="Equation" r:id="rId17" imgW="304536" imgH="304536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592"/>
                          <a:ext cx="48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Line 20"/>
            <p:cNvSpPr>
              <a:spLocks noChangeShapeType="1"/>
            </p:cNvSpPr>
            <p:nvPr/>
          </p:nvSpPr>
          <p:spPr bwMode="auto">
            <a:xfrm>
              <a:off x="480" y="3696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Line 21"/>
            <p:cNvSpPr>
              <a:spLocks noChangeShapeType="1"/>
            </p:cNvSpPr>
            <p:nvPr/>
          </p:nvSpPr>
          <p:spPr bwMode="auto">
            <a:xfrm>
              <a:off x="3552" y="2064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31" name="Object 22"/>
            <p:cNvGraphicFramePr>
              <a:graphicFrameLocks noChangeAspect="1"/>
            </p:cNvGraphicFramePr>
            <p:nvPr/>
          </p:nvGraphicFramePr>
          <p:xfrm>
            <a:off x="3744" y="2160"/>
            <a:ext cx="33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2" name="Equation" r:id="rId18" imgW="190500" imgH="228600" progId="Equation.DSMT4">
                    <p:embed/>
                  </p:oleObj>
                </mc:Choice>
                <mc:Fallback>
                  <p:oleObj name="Equation" r:id="rId18" imgW="190500" imgH="228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60"/>
                          <a:ext cx="336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23"/>
            <p:cNvGraphicFramePr>
              <a:graphicFrameLocks noChangeAspect="1"/>
            </p:cNvGraphicFramePr>
            <p:nvPr/>
          </p:nvGraphicFramePr>
          <p:xfrm>
            <a:off x="2640" y="3696"/>
            <a:ext cx="36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3" name="Equation" r:id="rId20" imgW="228501" imgH="304668" progId="Equation.3">
                    <p:embed/>
                  </p:oleObj>
                </mc:Choice>
                <mc:Fallback>
                  <p:oleObj name="Equation" r:id="rId20" imgW="228501" imgH="304668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696"/>
                          <a:ext cx="362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Object 24"/>
            <p:cNvGraphicFramePr>
              <a:graphicFrameLocks noChangeAspect="1"/>
            </p:cNvGraphicFramePr>
            <p:nvPr/>
          </p:nvGraphicFramePr>
          <p:xfrm>
            <a:off x="1488" y="3696"/>
            <a:ext cx="36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4" name="Equation" r:id="rId22" imgW="228501" imgH="304668" progId="Equation.3">
                    <p:embed/>
                  </p:oleObj>
                </mc:Choice>
                <mc:Fallback>
                  <p:oleObj name="Equation" r:id="rId22" imgW="228501" imgH="304668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696"/>
                          <a:ext cx="362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25"/>
            <p:cNvGraphicFramePr>
              <a:graphicFrameLocks noChangeAspect="1"/>
            </p:cNvGraphicFramePr>
            <p:nvPr/>
          </p:nvGraphicFramePr>
          <p:xfrm>
            <a:off x="3696" y="3168"/>
            <a:ext cx="361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5" name="Equation" r:id="rId24" imgW="228501" imgH="304668" progId="Equation.3">
                    <p:embed/>
                  </p:oleObj>
                </mc:Choice>
                <mc:Fallback>
                  <p:oleObj name="Equation" r:id="rId24" imgW="228501" imgH="304668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168"/>
                          <a:ext cx="361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26"/>
            <p:cNvGraphicFramePr>
              <a:graphicFrameLocks noChangeAspect="1"/>
            </p:cNvGraphicFramePr>
            <p:nvPr/>
          </p:nvGraphicFramePr>
          <p:xfrm>
            <a:off x="3696" y="2640"/>
            <a:ext cx="362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6" name="Equation" r:id="rId25" imgW="228501" imgH="304668" progId="Equation.3">
                    <p:embed/>
                  </p:oleObj>
                </mc:Choice>
                <mc:Fallback>
                  <p:oleObj name="Equation" r:id="rId25" imgW="228501" imgH="30466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640"/>
                          <a:ext cx="362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27"/>
            <p:cNvGraphicFramePr>
              <a:graphicFrameLocks noChangeAspect="1"/>
            </p:cNvGraphicFramePr>
            <p:nvPr/>
          </p:nvGraphicFramePr>
          <p:xfrm>
            <a:off x="672" y="3696"/>
            <a:ext cx="34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77" name="Equation" r:id="rId26" imgW="215713" imgH="241091" progId="Equation.DSMT4">
                    <p:embed/>
                  </p:oleObj>
                </mc:Choice>
                <mc:Fallback>
                  <p:oleObj name="Equation" r:id="rId26" imgW="215713" imgH="241091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696"/>
                          <a:ext cx="34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601471" y="550002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/>
              <a:t>(2)</a:t>
            </a:r>
            <a:r>
              <a:rPr lang="zh-CN" altLang="en-US" sz="2800" b="1" dirty="0">
                <a:solidFill>
                  <a:srgbClr val="FF0000"/>
                </a:solidFill>
              </a:rPr>
              <a:t>无放回</a:t>
            </a:r>
            <a:r>
              <a:rPr lang="zh-CN" altLang="en-US" sz="2800" dirty="0"/>
              <a:t>的情形</a:t>
            </a:r>
            <a:r>
              <a:rPr lang="en-US" altLang="zh-CN" sz="2800" dirty="0"/>
              <a:t>.</a:t>
            </a:r>
            <a:r>
              <a:rPr lang="zh-CN" altLang="en-US" sz="2800" dirty="0"/>
              <a:t>此时</a:t>
            </a:r>
          </a:p>
        </p:txBody>
      </p:sp>
      <p:graphicFrame>
        <p:nvGraphicFramePr>
          <p:cNvPr id="378883" name="Object 3"/>
          <p:cNvGraphicFramePr>
            <a:graphicFrameLocks noChangeAspect="1"/>
          </p:cNvGraphicFramePr>
          <p:nvPr/>
        </p:nvGraphicFramePr>
        <p:xfrm>
          <a:off x="684213" y="908050"/>
          <a:ext cx="77993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7" name="Equation" r:id="rId3" imgW="4089400" imgH="393700" progId="Equation.3">
                  <p:embed/>
                </p:oleObj>
              </mc:Choice>
              <mc:Fallback>
                <p:oleObj name="Equation" r:id="rId3" imgW="40894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908050"/>
                        <a:ext cx="77993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692275" y="2852738"/>
            <a:ext cx="5972175" cy="3298825"/>
            <a:chOff x="768" y="1584"/>
            <a:chExt cx="4080" cy="2304"/>
          </a:xfrm>
        </p:grpSpPr>
        <p:sp>
          <p:nvSpPr>
            <p:cNvPr id="14346" name="Line 9"/>
            <p:cNvSpPr>
              <a:spLocks noChangeShapeType="1"/>
            </p:cNvSpPr>
            <p:nvPr/>
          </p:nvSpPr>
          <p:spPr bwMode="auto">
            <a:xfrm>
              <a:off x="864" y="2160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7" name="Line 10"/>
            <p:cNvSpPr>
              <a:spLocks noChangeShapeType="1"/>
            </p:cNvSpPr>
            <p:nvPr/>
          </p:nvSpPr>
          <p:spPr bwMode="auto">
            <a:xfrm flipH="1">
              <a:off x="1536" y="1584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48" name="Line 11"/>
            <p:cNvSpPr>
              <a:spLocks noChangeShapeType="1"/>
            </p:cNvSpPr>
            <p:nvPr/>
          </p:nvSpPr>
          <p:spPr bwMode="auto">
            <a:xfrm>
              <a:off x="864" y="1584"/>
              <a:ext cx="6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49" name="Object 12"/>
            <p:cNvGraphicFramePr>
              <a:graphicFrameLocks noChangeAspect="1"/>
            </p:cNvGraphicFramePr>
            <p:nvPr/>
          </p:nvGraphicFramePr>
          <p:xfrm>
            <a:off x="816" y="1824"/>
            <a:ext cx="27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08" name="Equation" r:id="rId5" imgW="203024" imgH="215713" progId="Equation.3">
                    <p:embed/>
                  </p:oleObj>
                </mc:Choice>
                <mc:Fallback>
                  <p:oleObj name="Equation" r:id="rId5" imgW="203024" imgH="215713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824"/>
                          <a:ext cx="27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0" name="Object 13"/>
            <p:cNvGraphicFramePr>
              <a:graphicFrameLocks noChangeAspect="1"/>
            </p:cNvGraphicFramePr>
            <p:nvPr/>
          </p:nvGraphicFramePr>
          <p:xfrm>
            <a:off x="1192" y="1632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09" name="Equation" r:id="rId7" imgW="215619" imgH="215619" progId="Equation.3">
                    <p:embed/>
                  </p:oleObj>
                </mc:Choice>
                <mc:Fallback>
                  <p:oleObj name="Equation" r:id="rId7" imgW="215619" imgH="21561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1632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Text Box 14"/>
            <p:cNvSpPr txBox="1">
              <a:spLocks noChangeArrowheads="1"/>
            </p:cNvSpPr>
            <p:nvPr/>
          </p:nvSpPr>
          <p:spPr bwMode="auto">
            <a:xfrm>
              <a:off x="1967" y="1728"/>
              <a:ext cx="72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0</a:t>
              </a:r>
            </a:p>
          </p:txBody>
        </p:sp>
        <p:sp>
          <p:nvSpPr>
            <p:cNvPr id="14352" name="Text Box 15"/>
            <p:cNvSpPr txBox="1">
              <a:spLocks noChangeArrowheads="1"/>
            </p:cNvSpPr>
            <p:nvPr/>
          </p:nvSpPr>
          <p:spPr bwMode="auto">
            <a:xfrm>
              <a:off x="3072" y="1728"/>
              <a:ext cx="240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1</a:t>
              </a:r>
            </a:p>
          </p:txBody>
        </p:sp>
        <p:sp>
          <p:nvSpPr>
            <p:cNvPr id="14353" name="Text Box 16"/>
            <p:cNvSpPr txBox="1">
              <a:spLocks noChangeArrowheads="1"/>
            </p:cNvSpPr>
            <p:nvPr/>
          </p:nvSpPr>
          <p:spPr bwMode="auto">
            <a:xfrm>
              <a:off x="1008" y="2208"/>
              <a:ext cx="384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0</a:t>
              </a:r>
            </a:p>
          </p:txBody>
        </p:sp>
        <p:sp>
          <p:nvSpPr>
            <p:cNvPr id="14354" name="Text Box 17"/>
            <p:cNvSpPr txBox="1">
              <a:spLocks noChangeArrowheads="1"/>
            </p:cNvSpPr>
            <p:nvPr/>
          </p:nvSpPr>
          <p:spPr bwMode="auto">
            <a:xfrm>
              <a:off x="1008" y="2736"/>
              <a:ext cx="384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/>
                <a:t>1</a:t>
              </a:r>
            </a:p>
          </p:txBody>
        </p:sp>
        <p:graphicFrame>
          <p:nvGraphicFramePr>
            <p:cNvPr id="14355" name="Object 18"/>
            <p:cNvGraphicFramePr>
              <a:graphicFrameLocks noChangeAspect="1"/>
            </p:cNvGraphicFramePr>
            <p:nvPr/>
          </p:nvGraphicFramePr>
          <p:xfrm>
            <a:off x="1786" y="2160"/>
            <a:ext cx="46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0" name="Equation" r:id="rId9" imgW="291973" imgH="304668" progId="Equation.3">
                    <p:embed/>
                  </p:oleObj>
                </mc:Choice>
                <mc:Fallback>
                  <p:oleObj name="Equation" r:id="rId9" imgW="291973" imgH="304668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6" y="2160"/>
                          <a:ext cx="46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19"/>
            <p:cNvGraphicFramePr>
              <a:graphicFrameLocks noChangeAspect="1"/>
            </p:cNvGraphicFramePr>
            <p:nvPr/>
          </p:nvGraphicFramePr>
          <p:xfrm>
            <a:off x="1786" y="2688"/>
            <a:ext cx="46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1" name="Equation" r:id="rId11" imgW="291973" imgH="304668" progId="Equation.3">
                    <p:embed/>
                  </p:oleObj>
                </mc:Choice>
                <mc:Fallback>
                  <p:oleObj name="Equation" r:id="rId11" imgW="291973" imgH="30466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6" y="2688"/>
                          <a:ext cx="46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Object 20"/>
            <p:cNvGraphicFramePr>
              <a:graphicFrameLocks noChangeAspect="1"/>
            </p:cNvGraphicFramePr>
            <p:nvPr/>
          </p:nvGraphicFramePr>
          <p:xfrm>
            <a:off x="2938" y="2688"/>
            <a:ext cx="46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2" name="Equation" r:id="rId13" imgW="291973" imgH="304668" progId="Equation.3">
                    <p:embed/>
                  </p:oleObj>
                </mc:Choice>
                <mc:Fallback>
                  <p:oleObj name="Equation" r:id="rId13" imgW="291973" imgH="30466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" y="2688"/>
                          <a:ext cx="46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8" name="Object 21"/>
            <p:cNvGraphicFramePr>
              <a:graphicFrameLocks noChangeAspect="1"/>
            </p:cNvGraphicFramePr>
            <p:nvPr/>
          </p:nvGraphicFramePr>
          <p:xfrm>
            <a:off x="2938" y="2160"/>
            <a:ext cx="463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3" name="Equation" r:id="rId14" imgW="291973" imgH="304668" progId="Equation.3">
                    <p:embed/>
                  </p:oleObj>
                </mc:Choice>
                <mc:Fallback>
                  <p:oleObj name="Equation" r:id="rId14" imgW="291973" imgH="304668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" y="2160"/>
                          <a:ext cx="463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9" name="Line 22"/>
            <p:cNvSpPr>
              <a:spLocks noChangeShapeType="1"/>
            </p:cNvSpPr>
            <p:nvPr/>
          </p:nvSpPr>
          <p:spPr bwMode="auto">
            <a:xfrm>
              <a:off x="768" y="3264"/>
              <a:ext cx="4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Line 23"/>
            <p:cNvSpPr>
              <a:spLocks noChangeShapeType="1"/>
            </p:cNvSpPr>
            <p:nvPr/>
          </p:nvSpPr>
          <p:spPr bwMode="auto">
            <a:xfrm>
              <a:off x="3840" y="1632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61" name="Object 24"/>
            <p:cNvGraphicFramePr>
              <a:graphicFrameLocks noChangeAspect="1"/>
            </p:cNvGraphicFramePr>
            <p:nvPr/>
          </p:nvGraphicFramePr>
          <p:xfrm>
            <a:off x="4032" y="1728"/>
            <a:ext cx="33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4" name="Equation" r:id="rId15" imgW="190500" imgH="228600" progId="Equation.DSMT4">
                    <p:embed/>
                  </p:oleObj>
                </mc:Choice>
                <mc:Fallback>
                  <p:oleObj name="Equation" r:id="rId15" imgW="190500" imgH="2286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728"/>
                          <a:ext cx="33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25"/>
            <p:cNvGraphicFramePr>
              <a:graphicFrameLocks noChangeAspect="1"/>
            </p:cNvGraphicFramePr>
            <p:nvPr/>
          </p:nvGraphicFramePr>
          <p:xfrm>
            <a:off x="2928" y="3264"/>
            <a:ext cx="36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5" name="Equation" r:id="rId17" imgW="228501" imgH="304668" progId="Equation.3">
                    <p:embed/>
                  </p:oleObj>
                </mc:Choice>
                <mc:Fallback>
                  <p:oleObj name="Equation" r:id="rId17" imgW="228501" imgH="304668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3264"/>
                          <a:ext cx="362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3" name="Object 26"/>
            <p:cNvGraphicFramePr>
              <a:graphicFrameLocks noChangeAspect="1"/>
            </p:cNvGraphicFramePr>
            <p:nvPr/>
          </p:nvGraphicFramePr>
          <p:xfrm>
            <a:off x="1776" y="3264"/>
            <a:ext cx="362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6" name="Equation" r:id="rId19" imgW="228501" imgH="304668" progId="Equation.3">
                    <p:embed/>
                  </p:oleObj>
                </mc:Choice>
                <mc:Fallback>
                  <p:oleObj name="Equation" r:id="rId19" imgW="228501" imgH="30466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3264"/>
                          <a:ext cx="362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4" name="Object 27"/>
            <p:cNvGraphicFramePr>
              <a:graphicFrameLocks noChangeAspect="1"/>
            </p:cNvGraphicFramePr>
            <p:nvPr/>
          </p:nvGraphicFramePr>
          <p:xfrm>
            <a:off x="3984" y="2736"/>
            <a:ext cx="361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7" name="Equation" r:id="rId21" imgW="228501" imgH="304668" progId="Equation.3">
                    <p:embed/>
                  </p:oleObj>
                </mc:Choice>
                <mc:Fallback>
                  <p:oleObj name="Equation" r:id="rId21" imgW="228501" imgH="304668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736"/>
                          <a:ext cx="361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5" name="Object 28"/>
            <p:cNvGraphicFramePr>
              <a:graphicFrameLocks noChangeAspect="1"/>
            </p:cNvGraphicFramePr>
            <p:nvPr/>
          </p:nvGraphicFramePr>
          <p:xfrm>
            <a:off x="3984" y="2208"/>
            <a:ext cx="362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8" name="Equation" r:id="rId22" imgW="228501" imgH="304668" progId="Equation.3">
                    <p:embed/>
                  </p:oleObj>
                </mc:Choice>
                <mc:Fallback>
                  <p:oleObj name="Equation" r:id="rId22" imgW="228501" imgH="304668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208"/>
                          <a:ext cx="362" cy="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6" name="Object 29"/>
            <p:cNvGraphicFramePr>
              <a:graphicFrameLocks noChangeAspect="1"/>
            </p:cNvGraphicFramePr>
            <p:nvPr/>
          </p:nvGraphicFramePr>
          <p:xfrm>
            <a:off x="960" y="3264"/>
            <a:ext cx="34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9" name="Equation" r:id="rId23" imgW="215713" imgH="241091" progId="Equation.DSMT4">
                    <p:embed/>
                  </p:oleObj>
                </mc:Choice>
                <mc:Fallback>
                  <p:oleObj name="Equation" r:id="rId23" imgW="215713" imgH="241091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264"/>
                          <a:ext cx="34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10" name="Text Box 30"/>
          <p:cNvSpPr txBox="1">
            <a:spLocks noChangeArrowheads="1"/>
          </p:cNvSpPr>
          <p:nvPr/>
        </p:nvSpPr>
        <p:spPr bwMode="auto">
          <a:xfrm>
            <a:off x="395288" y="6092825"/>
            <a:ext cx="7740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rgbClr val="FFFF00"/>
                </a:solidFill>
              </a:rPr>
              <a:t>  </a:t>
            </a:r>
            <a:r>
              <a:rPr lang="zh-CN" altLang="en-US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注</a:t>
            </a:r>
            <a:r>
              <a:rPr lang="en-US" altLang="zh-CN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:</a:t>
            </a:r>
            <a:r>
              <a:rPr lang="zh-CN" altLang="en-US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两种情形的边缘分布律是相同的</a:t>
            </a:r>
            <a:r>
              <a:rPr lang="en-US" altLang="zh-CN" b="1" dirty="0">
                <a:solidFill>
                  <a:srgbClr val="FFFF00"/>
                </a:solidFill>
                <a:latin typeface="楷体_GB2312" charset="-122"/>
                <a:ea typeface="楷体_GB2312" charset="-122"/>
              </a:rPr>
              <a:t>!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395288" y="1773238"/>
            <a:ext cx="7993062" cy="950912"/>
            <a:chOff x="340" y="391"/>
            <a:chExt cx="5035" cy="599"/>
          </a:xfrm>
        </p:grpSpPr>
        <p:sp>
          <p:nvSpPr>
            <p:cNvPr id="14343" name="Text Box 32"/>
            <p:cNvSpPr txBox="1">
              <a:spLocks noChangeArrowheads="1"/>
            </p:cNvSpPr>
            <p:nvPr/>
          </p:nvSpPr>
          <p:spPr bwMode="auto">
            <a:xfrm>
              <a:off x="340" y="394"/>
              <a:ext cx="5035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/>
                <a:t>类似的</a:t>
              </a:r>
              <a:r>
                <a:rPr lang="en-US" altLang="zh-CN" sz="2800"/>
                <a:t>,</a:t>
              </a:r>
              <a:r>
                <a:rPr lang="zh-CN" altLang="en-US" sz="2800"/>
                <a:t>可求得其它的    </a:t>
              </a:r>
              <a:r>
                <a:rPr lang="en-US" altLang="zh-CN" sz="2800"/>
                <a:t>,</a:t>
              </a:r>
              <a:r>
                <a:rPr lang="zh-CN" altLang="en-US" sz="2800"/>
                <a:t>最后可得            的联合分布律与边缘分布律如下表</a:t>
              </a:r>
              <a:r>
                <a:rPr lang="en-US" altLang="zh-CN" sz="2800"/>
                <a:t>:</a:t>
              </a:r>
            </a:p>
          </p:txBody>
        </p:sp>
        <p:graphicFrame>
          <p:nvGraphicFramePr>
            <p:cNvPr id="14344" name="Object 33"/>
            <p:cNvGraphicFramePr>
              <a:graphicFrameLocks noChangeAspect="1"/>
            </p:cNvGraphicFramePr>
            <p:nvPr/>
          </p:nvGraphicFramePr>
          <p:xfrm>
            <a:off x="2426" y="391"/>
            <a:ext cx="311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20" name="Equation" r:id="rId25" imgW="203112" imgH="241195" progId="Equation.3">
                    <p:embed/>
                  </p:oleObj>
                </mc:Choice>
                <mc:Fallback>
                  <p:oleObj name="Equation" r:id="rId25" imgW="203112" imgH="24119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1"/>
                          <a:ext cx="311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34"/>
            <p:cNvGraphicFramePr>
              <a:graphicFrameLocks noChangeAspect="1"/>
            </p:cNvGraphicFramePr>
            <p:nvPr/>
          </p:nvGraphicFramePr>
          <p:xfrm>
            <a:off x="3651" y="436"/>
            <a:ext cx="68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21" name="Equation" r:id="rId27" imgW="558558" imgH="215806" progId="Equation.3">
                    <p:embed/>
                  </p:oleObj>
                </mc:Choice>
                <mc:Fallback>
                  <p:oleObj name="Equation" r:id="rId27" imgW="558558" imgH="215806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436"/>
                          <a:ext cx="680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0" grpId="0" autoUpdateAnimBg="0"/>
    </p:bld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带编号主题" id="{E74A4B7F-94FD-43CE-8263-42BB3C351B48}" vid="{D543DBDC-2D13-448F-86E4-9000DF09A7C5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2396</TotalTime>
  <Words>257</Words>
  <Application>Microsoft Office PowerPoint</Application>
  <PresentationFormat>全屏显示(4:3)</PresentationFormat>
  <Paragraphs>34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MS Gothic</vt:lpstr>
      <vt:lpstr>楷体_GB2312</vt:lpstr>
      <vt:lpstr>宋体</vt:lpstr>
      <vt:lpstr>文鼎粗圆</vt:lpstr>
      <vt:lpstr>Arial</vt:lpstr>
      <vt:lpstr>Calibri</vt:lpstr>
      <vt:lpstr>Times New Roman</vt:lpstr>
      <vt:lpstr>带编号主题</vt:lpstr>
      <vt:lpstr>Equation</vt:lpstr>
      <vt:lpstr>公式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zhcy</dc:creator>
  <cp:lastModifiedBy>Windows 用户</cp:lastModifiedBy>
  <cp:revision>495</cp:revision>
  <cp:lastPrinted>2019-10-21T03:22:00Z</cp:lastPrinted>
  <dcterms:created xsi:type="dcterms:W3CDTF">1999-08-14T06:56:33Z</dcterms:created>
  <dcterms:modified xsi:type="dcterms:W3CDTF">2019-10-21T03:23:52Z</dcterms:modified>
</cp:coreProperties>
</file>