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0" r:id="rId4"/>
    <p:sldId id="259" r:id="rId5"/>
    <p:sldId id="257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68506-A123-494F-92CC-75F3F22761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28928-B3FB-4E4B-B439-1869E08B11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.wmf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9.emf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17.e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2286000" y="698500"/>
            <a:ext cx="7162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次独立重复射击命中目标的次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每次射中目标的概率为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0.4,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则   的数学期望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9203" name="Object 3"/>
          <p:cNvGraphicFramePr>
            <a:graphicFrameLocks noChangeAspect="1"/>
          </p:cNvGraphicFramePr>
          <p:nvPr/>
        </p:nvGraphicFramePr>
        <p:xfrm>
          <a:off x="7543801" y="1116014"/>
          <a:ext cx="5937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1" imgW="228600" imgH="190500" progId="Equation.DSMT4">
                  <p:embed/>
                </p:oleObj>
              </mc:Choice>
              <mc:Fallback>
                <p:oleObj name="Equation" r:id="rId1" imgW="228600" imgH="190500" progId="Equation.DSMT4">
                  <p:embed/>
                  <p:pic>
                    <p:nvPicPr>
                      <p:cNvPr id="0" name="图片 6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1116014"/>
                        <a:ext cx="5937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4" name="Object 4"/>
          <p:cNvGraphicFramePr>
            <a:graphicFrameLocks noChangeAspect="1"/>
          </p:cNvGraphicFramePr>
          <p:nvPr/>
        </p:nvGraphicFramePr>
        <p:xfrm>
          <a:off x="3124200" y="1576388"/>
          <a:ext cx="27432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3" imgW="1104900" imgH="228600" progId="Equation.DSMT4">
                  <p:embed/>
                </p:oleObj>
              </mc:Choice>
              <mc:Fallback>
                <p:oleObj name="Equation" r:id="rId3" imgW="1104900" imgH="228600" progId="Equation.DSMT4">
                  <p:embed/>
                  <p:pic>
                    <p:nvPicPr>
                      <p:cNvPr id="0" name="图片 6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576388"/>
                        <a:ext cx="27432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2362200" y="2527300"/>
            <a:ext cx="21990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写过程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954" name="矩形 1"/>
          <p:cNvSpPr>
            <a:spLocks noChangeArrowheads="1"/>
          </p:cNvSpPr>
          <p:nvPr/>
        </p:nvSpPr>
        <p:spPr bwMode="auto">
          <a:xfrm>
            <a:off x="1504950" y="32861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/>
      <p:bldP spid="17920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2057400" y="914401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设随机变量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的分布函数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0339" name="Text Box 3"/>
          <p:cNvSpPr txBox="1">
            <a:spLocks noChangeArrowheads="1"/>
          </p:cNvSpPr>
          <p:nvPr/>
        </p:nvSpPr>
        <p:spPr bwMode="auto">
          <a:xfrm>
            <a:off x="8229600" y="24384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EX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DX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.            </a:t>
            </a:r>
            <a:endParaRPr kumimoji="1"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2270125" y="1550988"/>
          <a:ext cx="1771650" cy="241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1" imgW="685800" imgH="927100" progId="Equation.DSMT4">
                  <p:embed/>
                </p:oleObj>
              </mc:Choice>
              <mc:Fallback>
                <p:oleObj name="Equation" r:id="rId1" imgW="685800" imgH="927100" progId="Equation.DSMT4">
                  <p:embed/>
                  <p:pic>
                    <p:nvPicPr>
                      <p:cNvPr id="0" name="图片 4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550988"/>
                        <a:ext cx="1771650" cy="241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4386264" y="1524000"/>
          <a:ext cx="33099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3" imgW="1282065" imgH="177800" progId="Equation.DSMT4">
                  <p:embed/>
                </p:oleObj>
              </mc:Choice>
              <mc:Fallback>
                <p:oleObj name="Equation" r:id="rId3" imgW="1282065" imgH="177800" progId="Equation.DSMT4">
                  <p:embed/>
                  <p:pic>
                    <p:nvPicPr>
                      <p:cNvPr id="0" name="图片 4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264" y="1524000"/>
                        <a:ext cx="33099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6" name="Object 10"/>
          <p:cNvGraphicFramePr>
            <a:graphicFrameLocks noChangeAspect="1"/>
          </p:cNvGraphicFramePr>
          <p:nvPr/>
        </p:nvGraphicFramePr>
        <p:xfrm>
          <a:off x="6342064" y="2825750"/>
          <a:ext cx="15065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5" imgW="583565" imgH="177800" progId="Equation.DSMT4">
                  <p:embed/>
                </p:oleObj>
              </mc:Choice>
              <mc:Fallback>
                <p:oleObj name="Equation" r:id="rId5" imgW="583565" imgH="177800" progId="Equation.DSMT4">
                  <p:embed/>
                  <p:pic>
                    <p:nvPicPr>
                      <p:cNvPr id="0" name="图片 4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064" y="2825750"/>
                        <a:ext cx="15065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4343400" y="3435350"/>
          <a:ext cx="3276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Equation" r:id="rId7" imgW="1269365" imgH="177800" progId="Equation.DSMT4">
                  <p:embed/>
                </p:oleObj>
              </mc:Choice>
              <mc:Fallback>
                <p:oleObj name="Equation" r:id="rId7" imgW="1269365" imgH="177800" progId="Equation.DSMT4">
                  <p:embed/>
                  <p:pic>
                    <p:nvPicPr>
                      <p:cNvPr id="0" name="图片 4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435350"/>
                        <a:ext cx="3276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8" name="Object 12"/>
          <p:cNvGraphicFramePr>
            <a:graphicFrameLocks noChangeAspect="1"/>
          </p:cNvGraphicFramePr>
          <p:nvPr/>
        </p:nvGraphicFramePr>
        <p:xfrm>
          <a:off x="6154738" y="1997075"/>
          <a:ext cx="17700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9" imgW="685800" imgH="177800" progId="Equation.DSMT4">
                  <p:embed/>
                </p:oleObj>
              </mc:Choice>
              <mc:Fallback>
                <p:oleObj name="Equation" r:id="rId9" imgW="685800" imgH="177800" progId="Equation.DSMT4">
                  <p:embed/>
                  <p:pic>
                    <p:nvPicPr>
                      <p:cNvPr id="0" name="图片 4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1997075"/>
                        <a:ext cx="177006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9" name="Object 13"/>
          <p:cNvGraphicFramePr>
            <a:graphicFrameLocks noChangeAspect="1"/>
          </p:cNvGraphicFramePr>
          <p:nvPr/>
        </p:nvGraphicFramePr>
        <p:xfrm>
          <a:off x="3810000" y="2597150"/>
          <a:ext cx="1676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11" imgW="711200" imgH="419100" progId="Equation.DSMT4">
                  <p:embed/>
                </p:oleObj>
              </mc:Choice>
              <mc:Fallback>
                <p:oleObj name="Equation" r:id="rId11" imgW="711200" imgH="419100" progId="Equation.DSMT4">
                  <p:embed/>
                  <p:pic>
                    <p:nvPicPr>
                      <p:cNvPr id="0" name="图片 4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97150"/>
                        <a:ext cx="16764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0" name="Object 14"/>
          <p:cNvGraphicFramePr>
            <a:graphicFrameLocks noChangeAspect="1"/>
          </p:cNvGraphicFramePr>
          <p:nvPr/>
        </p:nvGraphicFramePr>
        <p:xfrm>
          <a:off x="3810000" y="1758950"/>
          <a:ext cx="1676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13" imgW="711200" imgH="419100" progId="Equation.DSMT4">
                  <p:embed/>
                </p:oleObj>
              </mc:Choice>
              <mc:Fallback>
                <p:oleObj name="Equation" r:id="rId13" imgW="711200" imgH="419100" progId="Equation.DSMT4">
                  <p:embed/>
                  <p:pic>
                    <p:nvPicPr>
                      <p:cNvPr id="0" name="图片 4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758950"/>
                        <a:ext cx="16764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1" name="Text Box 15"/>
          <p:cNvSpPr txBox="1">
            <a:spLocks noChangeArrowheads="1"/>
          </p:cNvSpPr>
          <p:nvPr/>
        </p:nvSpPr>
        <p:spPr bwMode="auto">
          <a:xfrm>
            <a:off x="2286000" y="4038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解           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865" name="矩形 18"/>
          <p:cNvSpPr>
            <a:spLocks noChangeArrowheads="1"/>
          </p:cNvSpPr>
          <p:nvPr/>
        </p:nvSpPr>
        <p:spPr bwMode="auto">
          <a:xfrm>
            <a:off x="1684339" y="15716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/>
      <p:bldP spid="270339" grpId="0"/>
      <p:bldP spid="2703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953000" y="762000"/>
            <a:ext cx="1443038" cy="533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1981200" y="784226"/>
            <a:ext cx="876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服从参数为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的指数分布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kumimoji="1"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7496176" y="762001"/>
          <a:ext cx="2943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Equation" r:id="rId1" imgW="1206500" imgH="228600" progId="Equation.DSMT4">
                  <p:embed/>
                </p:oleObj>
              </mc:Choice>
              <mc:Fallback>
                <p:oleObj name="Equation" r:id="rId1" imgW="1206500" imgH="228600" progId="Equation.DSMT4">
                  <p:embed/>
                  <p:pic>
                    <p:nvPicPr>
                      <p:cNvPr id="0" name="图片 1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176" y="762001"/>
                        <a:ext cx="2943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2667001" y="1219201"/>
          <a:ext cx="24622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Equation" r:id="rId3" imgW="1028700" imgH="228600" progId="Equation.DSMT4">
                  <p:embed/>
                </p:oleObj>
              </mc:Choice>
              <mc:Fallback>
                <p:oleObj name="Equation" r:id="rId3" imgW="1028700" imgH="228600" progId="Equation.DSMT4">
                  <p:embed/>
                  <p:pic>
                    <p:nvPicPr>
                      <p:cNvPr id="0" name="图片 1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1219201"/>
                        <a:ext cx="246221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8" name="Object 20"/>
          <p:cNvGraphicFramePr>
            <a:graphicFrameLocks noChangeAspect="1"/>
          </p:cNvGraphicFramePr>
          <p:nvPr/>
        </p:nvGraphicFramePr>
        <p:xfrm>
          <a:off x="6943726" y="457200"/>
          <a:ext cx="33432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Equation" r:id="rId5" imgW="1358265" imgH="482600" progId="Equation.DSMT4">
                  <p:embed/>
                </p:oleObj>
              </mc:Choice>
              <mc:Fallback>
                <p:oleObj name="Equation" r:id="rId5" imgW="1358265" imgH="482600" progId="Equation.DSMT4">
                  <p:embed/>
                  <p:pic>
                    <p:nvPicPr>
                      <p:cNvPr id="0" name="图片 1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6" y="457200"/>
                        <a:ext cx="3343275" cy="1193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92" name="矩形 23"/>
          <p:cNvSpPr>
            <a:spLocks noChangeArrowheads="1"/>
          </p:cNvSpPr>
          <p:nvPr/>
        </p:nvSpPr>
        <p:spPr bwMode="auto">
          <a:xfrm>
            <a:off x="1592263" y="215901"/>
            <a:ext cx="111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1660" y="3244850"/>
            <a:ext cx="868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写过程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1828800" y="1447801"/>
            <a:ext cx="8763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设随机变量             且</a:t>
            </a:r>
            <a:endParaRPr kumimoji="1" lang="zh-CN" altLang="en-US" sz="280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  则</a:t>
            </a:r>
            <a:endParaRPr kumimoji="1" lang="zh-CN" altLang="en-US" sz="2800">
              <a:latin typeface="宋体" panose="02010600030101010101" pitchFamily="2" charset="-122"/>
            </a:endParaRPr>
          </a:p>
        </p:txBody>
      </p:sp>
      <p:graphicFrame>
        <p:nvGraphicFramePr>
          <p:cNvPr id="285701" name="Object 5"/>
          <p:cNvGraphicFramePr>
            <a:graphicFrameLocks noChangeAspect="1"/>
          </p:cNvGraphicFramePr>
          <p:nvPr/>
        </p:nvGraphicFramePr>
        <p:xfrm>
          <a:off x="3657601" y="1487488"/>
          <a:ext cx="22510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1" imgW="927100" imgH="228600" progId="Equation.DSMT4">
                  <p:embed/>
                </p:oleObj>
              </mc:Choice>
              <mc:Fallback>
                <p:oleObj name="Equation" r:id="rId1" imgW="927100" imgH="228600" progId="Equation.DSMT4">
                  <p:embed/>
                  <p:pic>
                    <p:nvPicPr>
                      <p:cNvPr id="0" name="图片 2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487488"/>
                        <a:ext cx="22510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2" name="Object 6"/>
          <p:cNvGraphicFramePr>
            <a:graphicFrameLocks noChangeAspect="1"/>
          </p:cNvGraphicFramePr>
          <p:nvPr/>
        </p:nvGraphicFramePr>
        <p:xfrm>
          <a:off x="6400801" y="1519239"/>
          <a:ext cx="303371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3" imgW="1244600" imgH="203200" progId="Equation.DSMT4">
                  <p:embed/>
                </p:oleObj>
              </mc:Choice>
              <mc:Fallback>
                <p:oleObj name="Equation" r:id="rId3" imgW="1244600" imgH="203200" progId="Equation.DSMT4">
                  <p:embed/>
                  <p:pic>
                    <p:nvPicPr>
                      <p:cNvPr id="0" name="图片 2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1519239"/>
                        <a:ext cx="3033713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/>
        </p:nvGraphicFramePr>
        <p:xfrm>
          <a:off x="2649538" y="2133601"/>
          <a:ext cx="3289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5" imgW="1384300" imgH="203200" progId="Equation.DSMT4">
                  <p:embed/>
                </p:oleObj>
              </mc:Choice>
              <mc:Fallback>
                <p:oleObj name="Equation" r:id="rId5" imgW="1384300" imgH="203200" progId="Equation.DSMT4">
                  <p:embed/>
                  <p:pic>
                    <p:nvPicPr>
                      <p:cNvPr id="0" name="图片 2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2133601"/>
                        <a:ext cx="3289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0" name="矩形 17"/>
          <p:cNvSpPr>
            <a:spLocks noChangeArrowheads="1"/>
          </p:cNvSpPr>
          <p:nvPr/>
        </p:nvSpPr>
        <p:spPr bwMode="auto">
          <a:xfrm>
            <a:off x="1782764" y="300038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1660" y="3244850"/>
            <a:ext cx="868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写过程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/>
          <p:nvPr/>
        </p:nvGrpSpPr>
        <p:grpSpPr bwMode="auto">
          <a:xfrm>
            <a:off x="1666875" y="285751"/>
            <a:ext cx="9056688" cy="2936875"/>
            <a:chOff x="-61" y="118"/>
            <a:chExt cx="5853" cy="1850"/>
          </a:xfrm>
        </p:grpSpPr>
        <p:sp>
          <p:nvSpPr>
            <p:cNvPr id="51208" name="Rectangle 10"/>
            <p:cNvSpPr>
              <a:spLocks noChangeArrowheads="1"/>
            </p:cNvSpPr>
            <p:nvPr/>
          </p:nvSpPr>
          <p:spPr bwMode="auto">
            <a:xfrm>
              <a:off x="552" y="417"/>
              <a:ext cx="96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楷体_GB2312" pitchFamily="49" charset="-122"/>
                </a:rPr>
                <a:t>已知</a:t>
              </a:r>
              <a:endParaRPr lang="zh-CN" altLang="en-US" sz="2800">
                <a:solidFill>
                  <a:schemeClr val="accent2"/>
                </a:solidFill>
                <a:latin typeface="楷体_GB2312" pitchFamily="49" charset="-122"/>
              </a:endParaRPr>
            </a:p>
          </p:txBody>
        </p:sp>
        <p:graphicFrame>
          <p:nvGraphicFramePr>
            <p:cNvPr id="51209" name="Object 11"/>
            <p:cNvGraphicFramePr>
              <a:graphicFrameLocks noChangeAspect="1"/>
            </p:cNvGraphicFramePr>
            <p:nvPr/>
          </p:nvGraphicFramePr>
          <p:xfrm>
            <a:off x="1128" y="118"/>
            <a:ext cx="3296" cy="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2" imgW="152400000" imgH="45516800" progId="Equation.DSMT4">
                    <p:embed/>
                  </p:oleObj>
                </mc:Choice>
                <mc:Fallback>
                  <p:oleObj name="Equation" r:id="rId2" imgW="152400000" imgH="45516800" progId="Equation.DSMT4">
                    <p:embed/>
                    <p:pic>
                      <p:nvPicPr>
                        <p:cNvPr id="0" name="图片 7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18"/>
                          <a:ext cx="3296" cy="9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1" name="Text Box 13"/>
            <p:cNvSpPr txBox="1">
              <a:spLocks noChangeArrowheads="1"/>
            </p:cNvSpPr>
            <p:nvPr/>
          </p:nvSpPr>
          <p:spPr bwMode="auto">
            <a:xfrm>
              <a:off x="72" y="1608"/>
              <a:ext cx="35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  <a:latin typeface="楷体_GB2312" pitchFamily="49" charset="-122"/>
                </a:rPr>
                <a:t>求</a:t>
              </a:r>
              <a:endParaRPr lang="zh-CN" altLang="en-US" sz="2800" b="1">
                <a:solidFill>
                  <a:schemeClr val="accent2"/>
                </a:solidFill>
                <a:latin typeface="楷体_GB2312" pitchFamily="49" charset="-122"/>
              </a:endParaRPr>
            </a:p>
          </p:txBody>
        </p:sp>
        <p:sp>
          <p:nvSpPr>
            <p:cNvPr id="51212" name="Text Box 14"/>
            <p:cNvSpPr txBox="1">
              <a:spLocks noChangeArrowheads="1"/>
            </p:cNvSpPr>
            <p:nvPr/>
          </p:nvSpPr>
          <p:spPr bwMode="auto">
            <a:xfrm>
              <a:off x="4744" y="1176"/>
              <a:ext cx="104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的次数，</a:t>
              </a:r>
              <a:endParaRPr lang="zh-CN" altLang="en-US" sz="2800" b="1">
                <a:solidFill>
                  <a:schemeClr val="accent2"/>
                </a:solidFill>
              </a:endParaRPr>
            </a:p>
          </p:txBody>
        </p:sp>
        <p:sp>
          <p:nvSpPr>
            <p:cNvPr id="51213" name="Text Box 15"/>
            <p:cNvSpPr txBox="1">
              <a:spLocks noChangeArrowheads="1"/>
            </p:cNvSpPr>
            <p:nvPr/>
          </p:nvSpPr>
          <p:spPr bwMode="auto">
            <a:xfrm>
              <a:off x="-61" y="1185"/>
              <a:ext cx="44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对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 </a:t>
              </a:r>
              <a:r>
                <a:rPr lang="zh-CN" altLang="en-US" sz="2800" b="1">
                  <a:solidFill>
                    <a:schemeClr val="accent2"/>
                  </a:solidFill>
                </a:rPr>
                <a:t>独立观察 </a:t>
              </a:r>
              <a:r>
                <a:rPr lang="en-US" altLang="zh-CN" sz="2800" b="1">
                  <a:solidFill>
                    <a:schemeClr val="accent2"/>
                  </a:solidFill>
                </a:rPr>
                <a:t>4 </a:t>
              </a:r>
              <a:r>
                <a:rPr lang="zh-CN" altLang="en-US" sz="2800" b="1">
                  <a:solidFill>
                    <a:schemeClr val="accent2"/>
                  </a:solidFill>
                </a:rPr>
                <a:t>次，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Y </a:t>
              </a:r>
              <a:r>
                <a:rPr lang="zh-CN" altLang="en-US" sz="2800" b="1">
                  <a:solidFill>
                    <a:schemeClr val="accent2"/>
                  </a:solidFill>
                </a:rPr>
                <a:t>表示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800" b="1">
                  <a:solidFill>
                    <a:schemeClr val="accent2"/>
                  </a:solidFill>
                </a:rPr>
                <a:t> </a:t>
              </a:r>
              <a:r>
                <a:rPr lang="zh-CN" altLang="en-US" sz="2800" b="1">
                  <a:solidFill>
                    <a:schemeClr val="accent2"/>
                  </a:solidFill>
                </a:rPr>
                <a:t>的观察值大于</a:t>
              </a:r>
              <a:endParaRPr lang="zh-CN" altLang="en-US" sz="28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51214" name="Object 16"/>
            <p:cNvGraphicFramePr>
              <a:graphicFrameLocks noChangeAspect="1"/>
            </p:cNvGraphicFramePr>
            <p:nvPr/>
          </p:nvGraphicFramePr>
          <p:xfrm>
            <a:off x="408" y="1638"/>
            <a:ext cx="74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Equation" r:id="rId4" imgW="32918400" imgH="14630400" progId="Equation.DSMT4">
                    <p:embed/>
                  </p:oleObj>
                </mc:Choice>
                <mc:Fallback>
                  <p:oleObj name="Equation" r:id="rId4" imgW="32918400" imgH="14630400" progId="Equation.DSMT4">
                    <p:embed/>
                    <p:pic>
                      <p:nvPicPr>
                        <p:cNvPr id="0" name="图片 7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1638"/>
                          <a:ext cx="744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5" name="Object 17"/>
            <p:cNvGraphicFramePr>
              <a:graphicFrameLocks noChangeAspect="1"/>
            </p:cNvGraphicFramePr>
            <p:nvPr/>
          </p:nvGraphicFramePr>
          <p:xfrm>
            <a:off x="4344" y="1236"/>
            <a:ext cx="44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Equation" r:id="rId6" imgW="20320000" imgH="10160000" progId="Equation.DSMT4">
                    <p:embed/>
                  </p:oleObj>
                </mc:Choice>
                <mc:Fallback>
                  <p:oleObj name="Equation" r:id="rId6" imgW="20320000" imgH="10160000" progId="Equation.DSMT4">
                    <p:embed/>
                    <p:pic>
                      <p:nvPicPr>
                        <p:cNvPr id="0" name="图片 7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1236"/>
                          <a:ext cx="44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699791" y="455613"/>
            <a:ext cx="1268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61660" y="3244850"/>
            <a:ext cx="8686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写过程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演示</Application>
  <PresentationFormat>宽屏</PresentationFormat>
  <Paragraphs>40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5</vt:i4>
      </vt:variant>
    </vt:vector>
  </HeadingPairs>
  <TitlesOfParts>
    <vt:vector size="34" baseType="lpstr">
      <vt:lpstr>Arial</vt:lpstr>
      <vt:lpstr>宋体</vt:lpstr>
      <vt:lpstr>Wingdings</vt:lpstr>
      <vt:lpstr>楷体_GB2312</vt:lpstr>
      <vt:lpstr>新宋体</vt:lpstr>
      <vt:lpstr>Times New Roman</vt:lpstr>
      <vt:lpstr>微软雅黑</vt:lpstr>
      <vt:lpstr>Arial Unicode MS</vt:lpstr>
      <vt:lpstr>Calibri Light</vt:lpstr>
      <vt:lpstr>Calibri</vt:lpstr>
      <vt:lpstr>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zhangcy</cp:lastModifiedBy>
  <cp:revision>10</cp:revision>
  <dcterms:created xsi:type="dcterms:W3CDTF">2016-11-10T02:38:00Z</dcterms:created>
  <dcterms:modified xsi:type="dcterms:W3CDTF">2021-11-09T00:11:12Z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F5C81C20350644589F725479B6873D0D</vt:lpwstr>
  </property>
  <property fmtid="{D5CDD505-2E9C-101B-9397-08002B2CF9AE}" pid="3" name="KSOProductBuildVer">
    <vt:lpwstr>2052-11.1.0.11045</vt:lpwstr>
  </property>
</Properties>
</file>