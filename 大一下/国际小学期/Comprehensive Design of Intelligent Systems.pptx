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1" r:id="rId3"/>
  </p:sldMasterIdLst>
  <p:notesMasterIdLst>
    <p:notesMasterId r:id="rId5"/>
  </p:notesMasterIdLst>
  <p:sldIdLst>
    <p:sldId id="256" r:id="rId4"/>
    <p:sldId id="257" r:id="rId6"/>
    <p:sldId id="258" r:id="rId7"/>
    <p:sldId id="259" r:id="rId8"/>
    <p:sldId id="282" r:id="rId9"/>
    <p:sldId id="260" r:id="rId10"/>
    <p:sldId id="261" r:id="rId11"/>
    <p:sldId id="262" r:id="rId12"/>
    <p:sldId id="263" r:id="rId13"/>
    <p:sldId id="283" r:id="rId14"/>
    <p:sldId id="284" r:id="rId15"/>
    <p:sldId id="285" r:id="rId16"/>
    <p:sldId id="286" r:id="rId17"/>
    <p:sldId id="287" r:id="rId18"/>
    <p:sldId id="288" r:id="rId19"/>
    <p:sldId id="289" r:id="rId20"/>
    <p:sldId id="293" r:id="rId21"/>
    <p:sldId id="290" r:id="rId22"/>
    <p:sldId id="291" r:id="rId23"/>
    <p:sldId id="292" r:id="rId24"/>
    <p:sldId id="294" r:id="rId25"/>
    <p:sldId id="295" r:id="rId26"/>
    <p:sldId id="264" r:id="rId27"/>
    <p:sldId id="265" r:id="rId28"/>
    <p:sldId id="266" r:id="rId29"/>
    <p:sldId id="267" r:id="rId30"/>
    <p:sldId id="268" r:id="rId31"/>
    <p:sldId id="296" r:id="rId32"/>
    <p:sldId id="297" r:id="rId33"/>
    <p:sldId id="298" r:id="rId34"/>
    <p:sldId id="300" r:id="rId35"/>
    <p:sldId id="301" r:id="rId36"/>
    <p:sldId id="302" r:id="rId37"/>
    <p:sldId id="303" r:id="rId38"/>
    <p:sldId id="304" r:id="rId39"/>
    <p:sldId id="273" r:id="rId40"/>
    <p:sldId id="274" r:id="rId41"/>
    <p:sldId id="275" r:id="rId42"/>
    <p:sldId id="276" r:id="rId43"/>
    <p:sldId id="277" r:id="rId44"/>
    <p:sldId id="278" r:id="rId45"/>
    <p:sldId id="279" r:id="rId46"/>
    <p:sldId id="280" r:id="rId47"/>
    <p:sldId id="281" r:id="rId48"/>
  </p:sldIdLst>
  <p:sldSz cx="12192000" cy="6858000"/>
  <p:notesSz cx="6858000" cy="12192000"/>
  <p:embeddedFontLst>
    <p:embeddedFont>
      <p:font typeface="MiSans" pitchFamily="34" charset="-122"/>
      <p:regular r:id="rId52"/>
    </p:embeddedFont>
    <p:embeddedFont>
      <p:font typeface="MiSans" pitchFamily="34" charset="-120"/>
      <p:regular r:id="rId53"/>
    </p:embeddedFont>
    <p:embeddedFont>
      <p:font typeface="Calibri" panose="020F0502020204030204" charset="0"/>
      <p:regular r:id="rId54"/>
      <p:bold r:id="rId55"/>
      <p:italic r:id="rId56"/>
      <p:boldItalic r:id="rId57"/>
    </p:embeddedFont>
    <p:embeddedFont>
      <p:font typeface="等线" panose="02010600030101010101" charset="-122"/>
      <p:regular r:id="rId5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8" Type="http://schemas.openxmlformats.org/officeDocument/2006/relationships/font" Target="fonts/font7.fntdata"/><Relationship Id="rId57" Type="http://schemas.openxmlformats.org/officeDocument/2006/relationships/font" Target="fonts/font6.fntdata"/><Relationship Id="rId56" Type="http://schemas.openxmlformats.org/officeDocument/2006/relationships/font" Target="fonts/font5.fntdata"/><Relationship Id="rId55" Type="http://schemas.openxmlformats.org/officeDocument/2006/relationships/font" Target="fonts/font4.fntdata"/><Relationship Id="rId54" Type="http://schemas.openxmlformats.org/officeDocument/2006/relationships/font" Target="fonts/font3.fntdata"/><Relationship Id="rId53" Type="http://schemas.openxmlformats.org/officeDocument/2006/relationships/font" Target="fonts/font2.fntdata"/><Relationship Id="rId52" Type="http://schemas.openxmlformats.org/officeDocument/2006/relationships/font" Target="fonts/font1.fntdata"/><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notesMaster" Target="notesMasters/notesMaster1.xml"/><Relationship Id="rId49" Type="http://schemas.openxmlformats.org/officeDocument/2006/relationships/presProps" Target="presProps.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 id="2147483653"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notesSlide" Target="../notesSlides/notesSlide2.xml"/><Relationship Id="rId14" Type="http://schemas.openxmlformats.org/officeDocument/2006/relationships/slideLayout" Target="../slideLayouts/slideLayout1.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5" Type="http://schemas.openxmlformats.org/officeDocument/2006/relationships/notesSlide" Target="../notesSlides/notesSlide8.xml"/><Relationship Id="rId14" Type="http://schemas.openxmlformats.org/officeDocument/2006/relationships/slideLayout" Target="../slideLayouts/slideLayout1.xml"/><Relationship Id="rId13" Type="http://schemas.openxmlformats.org/officeDocument/2006/relationships/tags" Target="../tags/tag24.xml"/><Relationship Id="rId12" Type="http://schemas.openxmlformats.org/officeDocument/2006/relationships/tags" Target="../tags/tag23.xml"/><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2" Type="http://schemas.openxmlformats.org/officeDocument/2006/relationships/notesSlide" Target="../notesSlides/notesSlide24.xml"/><Relationship Id="rId11" Type="http://schemas.openxmlformats.org/officeDocument/2006/relationships/slideLayout" Target="../slideLayouts/slideLayout1.xml"/><Relationship Id="rId10" Type="http://schemas.openxmlformats.org/officeDocument/2006/relationships/tags" Target="../tags/tag33.xml"/><Relationship Id="rId1"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image" Target="../media/image16.jpe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3.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31.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3" Type="http://schemas.openxmlformats.org/officeDocument/2006/relationships/notesSlide" Target="../notesSlides/notesSlide31.xml"/><Relationship Id="rId12" Type="http://schemas.openxmlformats.org/officeDocument/2006/relationships/slideLayout" Target="../slideLayouts/slideLayout3.xml"/><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tags" Target="../tags/tag34.xml"/></Relationships>
</file>

<file path=ppt/slides/_rels/slide32.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5" Type="http://schemas.openxmlformats.org/officeDocument/2006/relationships/notesSlide" Target="../notesSlides/notesSlide32.xml"/><Relationship Id="rId14" Type="http://schemas.openxmlformats.org/officeDocument/2006/relationships/slideLayout" Target="../slideLayouts/slideLayout3.xml"/><Relationship Id="rId13" Type="http://schemas.openxmlformats.org/officeDocument/2006/relationships/tags" Target="../tags/tag56.xml"/><Relationship Id="rId12" Type="http://schemas.openxmlformats.org/officeDocument/2006/relationships/tags" Target="../tags/tag55.xml"/><Relationship Id="rId11" Type="http://schemas.openxmlformats.org/officeDocument/2006/relationships/tags" Target="../tags/tag54.xml"/><Relationship Id="rId10" Type="http://schemas.openxmlformats.org/officeDocument/2006/relationships/tags" Target="../tags/tag53.xml"/><Relationship Id="rId1" Type="http://schemas.openxmlformats.org/officeDocument/2006/relationships/image" Target="../media/image9.png"/></Relationships>
</file>

<file path=ppt/slides/_rels/slide33.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2" Type="http://schemas.openxmlformats.org/officeDocument/2006/relationships/notesSlide" Target="../notesSlides/notesSlide33.xml"/><Relationship Id="rId11" Type="http://schemas.openxmlformats.org/officeDocument/2006/relationships/slideLayout" Target="../slideLayouts/slideLayout3.xml"/><Relationship Id="rId10" Type="http://schemas.openxmlformats.org/officeDocument/2006/relationships/tags" Target="../tags/tag65.xml"/><Relationship Id="rId1" Type="http://schemas.openxmlformats.org/officeDocument/2006/relationships/image" Target="../media/image14.png"/></Relationships>
</file>

<file path=ppt/slides/_rels/slide34.xml.rels><?xml version="1.0" encoding="UTF-8" standalone="yes"?>
<Relationships xmlns="http://schemas.openxmlformats.org/package/2006/relationships"><Relationship Id="rId9" Type="http://schemas.openxmlformats.org/officeDocument/2006/relationships/tags" Target="../tags/tag74.xml"/><Relationship Id="rId8" Type="http://schemas.openxmlformats.org/officeDocument/2006/relationships/tags" Target="../tags/tag73.xml"/><Relationship Id="rId7" Type="http://schemas.openxmlformats.org/officeDocument/2006/relationships/tags" Target="../tags/tag72.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3" Type="http://schemas.openxmlformats.org/officeDocument/2006/relationships/notesSlide" Target="../notesSlides/notesSlide34.xml"/><Relationship Id="rId12" Type="http://schemas.openxmlformats.org/officeDocument/2006/relationships/slideLayout" Target="../slideLayouts/slideLayout3.xml"/><Relationship Id="rId11" Type="http://schemas.openxmlformats.org/officeDocument/2006/relationships/tags" Target="../tags/tag76.xml"/><Relationship Id="rId10" Type="http://schemas.openxmlformats.org/officeDocument/2006/relationships/tags" Target="../tags/tag75.xml"/><Relationship Id="rId1" Type="http://schemas.openxmlformats.org/officeDocument/2006/relationships/tags" Target="../tags/tag66.xml"/></Relationships>
</file>

<file path=ppt/slides/_rels/slide35.xml.rels><?xml version="1.0" encoding="UTF-8" standalone="yes"?>
<Relationships xmlns="http://schemas.openxmlformats.org/package/2006/relationships"><Relationship Id="rId9" Type="http://schemas.openxmlformats.org/officeDocument/2006/relationships/notesSlide" Target="../notesSlides/notesSlide35.xml"/><Relationship Id="rId8" Type="http://schemas.openxmlformats.org/officeDocument/2006/relationships/slideLayout" Target="../slideLayouts/slideLayout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image" Target="../media/image14.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14-d0shppk75iks832je4vg.png"/>
          <p:cNvPicPr>
            <a:picLocks noChangeAspect="1"/>
          </p:cNvPicPr>
          <p:nvPr/>
        </p:nvPicPr>
        <p:blipFill>
          <a:blip r:embed="rId1"/>
          <a:srcRect l="13" r="13"/>
          <a:stretch>
            <a:fillRect/>
          </a:stretch>
        </p:blipFill>
        <p:spPr>
          <a:xfrm>
            <a:off x="0" y="0"/>
            <a:ext cx="12188825" cy="6857365"/>
          </a:xfrm>
          <a:prstGeom prst="rect">
            <a:avLst/>
          </a:prstGeom>
        </p:spPr>
      </p:pic>
      <p:sp>
        <p:nvSpPr>
          <p:cNvPr id="5" name="Text 2"/>
          <p:cNvSpPr/>
          <p:nvPr/>
        </p:nvSpPr>
        <p:spPr>
          <a:xfrm>
            <a:off x="1930400" y="2019935"/>
            <a:ext cx="8327390" cy="1936750"/>
          </a:xfrm>
          <a:prstGeom prst="rect">
            <a:avLst/>
          </a:prstGeom>
          <a:noFill/>
        </p:spPr>
        <p:txBody>
          <a:bodyPr wrap="square" lIns="91440" tIns="45720" rIns="91440" bIns="45720" rtlCol="0" anchor="t">
            <a:spAutoFit/>
          </a:bodyPr>
          <a:lstStyle/>
          <a:p>
            <a:pPr marL="0" indent="0" algn="ctr">
              <a:lnSpc>
                <a:spcPct val="100000"/>
              </a:lnSpc>
              <a:buNone/>
            </a:pPr>
            <a:r>
              <a:rPr lang="en-US" sz="6000" b="1" dirty="0">
                <a:solidFill>
                  <a:srgbClr val="000000"/>
                </a:solidFill>
                <a:latin typeface="MiSans" pitchFamily="34" charset="-122"/>
                <a:ea typeface="MiSans" pitchFamily="34" charset="-122"/>
                <a:cs typeface="MiSans" pitchFamily="34" charset="-120"/>
              </a:rPr>
              <a:t>Comprehensive Design of Intelligent Systems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03-d0shpms75iks832je4v0.png"/>
          <p:cNvPicPr>
            <a:picLocks noChangeAspect="1"/>
          </p:cNvPicPr>
          <p:nvPr/>
        </p:nvPicPr>
        <p:blipFill>
          <a:blip r:embed="rId1"/>
          <a:srcRect t="3326" b="11223"/>
          <a:stretch>
            <a:fillRect/>
          </a:stretch>
        </p:blipFill>
        <p:spPr>
          <a:xfrm>
            <a:off x="0" y="0"/>
            <a:ext cx="4874260" cy="6851015"/>
          </a:xfrm>
          <a:prstGeom prst="rect">
            <a:avLst/>
          </a:prstGeom>
        </p:spPr>
      </p:pic>
      <p:sp>
        <p:nvSpPr>
          <p:cNvPr id="3" name="Shape 0"/>
          <p:cNvSpPr/>
          <p:nvPr/>
        </p:nvSpPr>
        <p:spPr>
          <a:xfrm rot="5400000">
            <a:off x="5532120" y="2053189"/>
            <a:ext cx="293611" cy="293736"/>
          </a:xfrm>
          <a:prstGeom prst="triangle">
            <a:avLst/>
          </a:prstGeom>
          <a:solidFill>
            <a:srgbClr val="E0E9C9"/>
          </a:solidFill>
        </p:spPr>
      </p:sp>
      <p:sp>
        <p:nvSpPr>
          <p:cNvPr id="4" name="Text 1"/>
          <p:cNvSpPr/>
          <p:nvPr/>
        </p:nvSpPr>
        <p:spPr>
          <a:xfrm rot="5400000">
            <a:off x="5532120" y="2053189"/>
            <a:ext cx="293611" cy="29373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rot="5400000">
            <a:off x="5645047" y="2166164"/>
            <a:ext cx="293611" cy="293736"/>
          </a:xfrm>
          <a:prstGeom prst="triangle">
            <a:avLst/>
          </a:prstGeom>
          <a:solidFill>
            <a:srgbClr val="5E927D"/>
          </a:solidFill>
        </p:spPr>
      </p:sp>
      <p:sp>
        <p:nvSpPr>
          <p:cNvPr id="6" name="Text 3"/>
          <p:cNvSpPr/>
          <p:nvPr/>
        </p:nvSpPr>
        <p:spPr>
          <a:xfrm rot="5400000">
            <a:off x="5645047" y="2166164"/>
            <a:ext cx="293611" cy="29373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Text 4"/>
          <p:cNvSpPr/>
          <p:nvPr>
            <p:custDataLst>
              <p:tags r:id="rId2"/>
            </p:custDataLst>
          </p:nvPr>
        </p:nvSpPr>
        <p:spPr>
          <a:xfrm>
            <a:off x="6018837" y="202438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01</a:t>
            </a:r>
            <a:endParaRPr lang="en-US" sz="1600" dirty="0"/>
          </a:p>
        </p:txBody>
      </p:sp>
      <p:sp>
        <p:nvSpPr>
          <p:cNvPr id="8" name="Text 5"/>
          <p:cNvSpPr/>
          <p:nvPr>
            <p:custDataLst>
              <p:tags r:id="rId3"/>
            </p:custDataLst>
          </p:nvPr>
        </p:nvSpPr>
        <p:spPr>
          <a:xfrm>
            <a:off x="6662522" y="2052059"/>
            <a:ext cx="4469663" cy="306784"/>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Introduction to Intelligent Systems</a:t>
            </a:r>
            <a:endParaRPr lang="en-US" sz="1600" dirty="0"/>
          </a:p>
        </p:txBody>
      </p:sp>
      <p:sp>
        <p:nvSpPr>
          <p:cNvPr id="9" name="Shape 6"/>
          <p:cNvSpPr/>
          <p:nvPr/>
        </p:nvSpPr>
        <p:spPr>
          <a:xfrm rot="5400000">
            <a:off x="5532120" y="2749109"/>
            <a:ext cx="293611" cy="293331"/>
          </a:xfrm>
          <a:prstGeom prst="triangle">
            <a:avLst/>
          </a:prstGeom>
          <a:solidFill>
            <a:srgbClr val="E0E9C9"/>
          </a:solidFill>
        </p:spPr>
      </p:sp>
      <p:sp>
        <p:nvSpPr>
          <p:cNvPr id="10" name="Text 7"/>
          <p:cNvSpPr/>
          <p:nvPr/>
        </p:nvSpPr>
        <p:spPr>
          <a:xfrm rot="5400000">
            <a:off x="5532120" y="274910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8"/>
          <p:cNvSpPr/>
          <p:nvPr/>
        </p:nvSpPr>
        <p:spPr>
          <a:xfrm rot="5400000">
            <a:off x="5645047" y="2861929"/>
            <a:ext cx="293611" cy="293331"/>
          </a:xfrm>
          <a:prstGeom prst="triangle">
            <a:avLst/>
          </a:prstGeom>
          <a:solidFill>
            <a:srgbClr val="5E927D"/>
          </a:solidFill>
        </p:spPr>
      </p:sp>
      <p:sp>
        <p:nvSpPr>
          <p:cNvPr id="12" name="Text 9"/>
          <p:cNvSpPr/>
          <p:nvPr/>
        </p:nvSpPr>
        <p:spPr>
          <a:xfrm rot="5400000">
            <a:off x="5645047" y="286192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Text 10"/>
          <p:cNvSpPr/>
          <p:nvPr>
            <p:custDataLst>
              <p:tags r:id="rId4"/>
            </p:custDataLst>
          </p:nvPr>
        </p:nvSpPr>
        <p:spPr>
          <a:xfrm>
            <a:off x="6018837" y="272034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02</a:t>
            </a:r>
            <a:endParaRPr lang="en-US" sz="1600" dirty="0"/>
          </a:p>
        </p:txBody>
      </p:sp>
      <p:sp>
        <p:nvSpPr>
          <p:cNvPr id="14" name="Text 11"/>
          <p:cNvSpPr/>
          <p:nvPr>
            <p:custDataLst>
              <p:tags r:id="rId5"/>
            </p:custDataLst>
          </p:nvPr>
        </p:nvSpPr>
        <p:spPr>
          <a:xfrm>
            <a:off x="6662522" y="2747981"/>
            <a:ext cx="4469663" cy="645517"/>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Key. Components of Intelligent Systems</a:t>
            </a:r>
            <a:endParaRPr lang="en-US" sz="1600" dirty="0"/>
          </a:p>
        </p:txBody>
      </p:sp>
      <p:sp>
        <p:nvSpPr>
          <p:cNvPr id="15" name="Shape 12"/>
          <p:cNvSpPr/>
          <p:nvPr/>
        </p:nvSpPr>
        <p:spPr>
          <a:xfrm rot="5400000">
            <a:off x="5532120" y="3444434"/>
            <a:ext cx="293611" cy="293331"/>
          </a:xfrm>
          <a:prstGeom prst="triangle">
            <a:avLst/>
          </a:prstGeom>
          <a:solidFill>
            <a:srgbClr val="E0E9C9"/>
          </a:solidFill>
        </p:spPr>
      </p:sp>
      <p:sp>
        <p:nvSpPr>
          <p:cNvPr id="16" name="Text 13"/>
          <p:cNvSpPr/>
          <p:nvPr/>
        </p:nvSpPr>
        <p:spPr>
          <a:xfrm rot="5400000">
            <a:off x="5532120" y="344443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4"/>
          <p:cNvSpPr/>
          <p:nvPr/>
        </p:nvSpPr>
        <p:spPr>
          <a:xfrm rot="5400000">
            <a:off x="5645047" y="3557254"/>
            <a:ext cx="293611" cy="293331"/>
          </a:xfrm>
          <a:prstGeom prst="triangle">
            <a:avLst/>
          </a:prstGeom>
          <a:solidFill>
            <a:srgbClr val="5E927D"/>
          </a:solidFill>
        </p:spPr>
      </p:sp>
      <p:sp>
        <p:nvSpPr>
          <p:cNvPr id="18" name="Text 15"/>
          <p:cNvSpPr/>
          <p:nvPr/>
        </p:nvSpPr>
        <p:spPr>
          <a:xfrm rot="5400000">
            <a:off x="5645047" y="355725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custDataLst>
              <p:tags r:id="rId6"/>
            </p:custDataLst>
          </p:nvPr>
        </p:nvSpPr>
        <p:spPr>
          <a:xfrm>
            <a:off x="6018837" y="3415665"/>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03</a:t>
            </a:r>
            <a:endParaRPr lang="en-US" sz="1600" dirty="0"/>
          </a:p>
        </p:txBody>
      </p:sp>
      <p:sp>
        <p:nvSpPr>
          <p:cNvPr id="20" name="Text 17"/>
          <p:cNvSpPr/>
          <p:nvPr>
            <p:custDataLst>
              <p:tags r:id="rId7"/>
            </p:custDataLst>
          </p:nvPr>
        </p:nvSpPr>
        <p:spPr>
          <a:xfrm>
            <a:off x="6662522" y="3443306"/>
            <a:ext cx="4469663" cy="645517"/>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Design Principles for Intelligent Systems</a:t>
            </a:r>
            <a:endParaRPr lang="en-US" sz="1600" dirty="0"/>
          </a:p>
        </p:txBody>
      </p:sp>
      <p:sp>
        <p:nvSpPr>
          <p:cNvPr id="21" name="Shape 18"/>
          <p:cNvSpPr/>
          <p:nvPr/>
        </p:nvSpPr>
        <p:spPr>
          <a:xfrm rot="5400000">
            <a:off x="5532120" y="4139759"/>
            <a:ext cx="293611" cy="293331"/>
          </a:xfrm>
          <a:prstGeom prst="triangle">
            <a:avLst/>
          </a:prstGeom>
          <a:solidFill>
            <a:srgbClr val="E0E9C9"/>
          </a:solidFill>
        </p:spPr>
      </p:sp>
      <p:sp>
        <p:nvSpPr>
          <p:cNvPr id="22" name="Text 19"/>
          <p:cNvSpPr/>
          <p:nvPr/>
        </p:nvSpPr>
        <p:spPr>
          <a:xfrm rot="5400000">
            <a:off x="5532120" y="413975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0"/>
          <p:cNvSpPr/>
          <p:nvPr/>
        </p:nvSpPr>
        <p:spPr>
          <a:xfrm rot="5400000">
            <a:off x="5645047" y="4252579"/>
            <a:ext cx="293611" cy="293331"/>
          </a:xfrm>
          <a:prstGeom prst="triangle">
            <a:avLst/>
          </a:prstGeom>
          <a:solidFill>
            <a:srgbClr val="5E927D"/>
          </a:solidFill>
        </p:spPr>
      </p:sp>
      <p:sp>
        <p:nvSpPr>
          <p:cNvPr id="24" name="Text 21"/>
          <p:cNvSpPr/>
          <p:nvPr/>
        </p:nvSpPr>
        <p:spPr>
          <a:xfrm rot="5400000">
            <a:off x="5645047" y="425257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Text 22"/>
          <p:cNvSpPr/>
          <p:nvPr>
            <p:custDataLst>
              <p:tags r:id="rId8"/>
            </p:custDataLst>
          </p:nvPr>
        </p:nvSpPr>
        <p:spPr>
          <a:xfrm>
            <a:off x="6018837" y="411099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04</a:t>
            </a:r>
            <a:endParaRPr lang="en-US" sz="1600" dirty="0"/>
          </a:p>
        </p:txBody>
      </p:sp>
      <p:sp>
        <p:nvSpPr>
          <p:cNvPr id="26" name="Text 23"/>
          <p:cNvSpPr/>
          <p:nvPr>
            <p:custDataLst>
              <p:tags r:id="rId9"/>
            </p:custDataLst>
          </p:nvPr>
        </p:nvSpPr>
        <p:spPr>
          <a:xfrm>
            <a:off x="6662522" y="4138631"/>
            <a:ext cx="4469663" cy="706755"/>
          </a:xfrm>
          <a:prstGeom prst="rect">
            <a:avLst/>
          </a:prstGeom>
          <a:noFill/>
        </p:spPr>
        <p:txBody>
          <a:bodyPr wrap="square" lIns="91440" tIns="45720" rIns="91440" bIns="45720" rtlCol="0" anchor="t">
            <a:spAutoFit/>
          </a:bodyPr>
          <a:lstStyle/>
          <a:p>
            <a:pPr marL="0" algn="just">
              <a:lnSpc>
                <a:spcPct val="100000"/>
              </a:lnSpc>
              <a:buClrTx/>
              <a:buSzTx/>
              <a:buFontTx/>
              <a:buNone/>
            </a:pPr>
            <a:r>
              <a:rPr lang="en-US" sz="2000" dirty="0">
                <a:solidFill>
                  <a:srgbClr val="000000"/>
                </a:solidFill>
                <a:latin typeface="MiSans" pitchFamily="34" charset="-122"/>
                <a:ea typeface="MiSans" pitchFamily="34" charset="-122"/>
                <a:cs typeface="MiSans" pitchFamily="34" charset="-120"/>
                <a:sym typeface="+mn-ea"/>
              </a:rPr>
              <a:t>Smart Warehouse - Introduction to JD.com Asia No.1 Warehouse</a:t>
            </a:r>
            <a:endParaRPr lang="en-US" sz="2000" dirty="0">
              <a:solidFill>
                <a:srgbClr val="000000"/>
              </a:solidFill>
              <a:latin typeface="MiSans" pitchFamily="34" charset="-122"/>
              <a:ea typeface="MiSans" pitchFamily="34" charset="-122"/>
              <a:cs typeface="MiSans" pitchFamily="34" charset="-120"/>
            </a:endParaRPr>
          </a:p>
        </p:txBody>
      </p:sp>
      <p:sp>
        <p:nvSpPr>
          <p:cNvPr id="27" name="Shape 24"/>
          <p:cNvSpPr/>
          <p:nvPr/>
        </p:nvSpPr>
        <p:spPr>
          <a:xfrm rot="5400000">
            <a:off x="5532120" y="4835084"/>
            <a:ext cx="293611" cy="293331"/>
          </a:xfrm>
          <a:prstGeom prst="triangle">
            <a:avLst/>
          </a:prstGeom>
          <a:solidFill>
            <a:srgbClr val="E0E9C9"/>
          </a:solidFill>
        </p:spPr>
      </p:sp>
      <p:sp>
        <p:nvSpPr>
          <p:cNvPr id="28" name="Text 25"/>
          <p:cNvSpPr/>
          <p:nvPr/>
        </p:nvSpPr>
        <p:spPr>
          <a:xfrm rot="5400000">
            <a:off x="5532120" y="483508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6"/>
          <p:cNvSpPr/>
          <p:nvPr/>
        </p:nvSpPr>
        <p:spPr>
          <a:xfrm rot="5400000">
            <a:off x="5645047" y="4947904"/>
            <a:ext cx="293611" cy="293331"/>
          </a:xfrm>
          <a:prstGeom prst="triangle">
            <a:avLst/>
          </a:prstGeom>
          <a:solidFill>
            <a:srgbClr val="5E927D"/>
          </a:solidFill>
        </p:spPr>
      </p:sp>
      <p:sp>
        <p:nvSpPr>
          <p:cNvPr id="30" name="Text 27"/>
          <p:cNvSpPr/>
          <p:nvPr/>
        </p:nvSpPr>
        <p:spPr>
          <a:xfrm rot="5400000">
            <a:off x="5645047" y="494790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Text 28"/>
          <p:cNvSpPr/>
          <p:nvPr>
            <p:custDataLst>
              <p:tags r:id="rId10"/>
            </p:custDataLst>
          </p:nvPr>
        </p:nvSpPr>
        <p:spPr>
          <a:xfrm>
            <a:off x="6018837" y="4806315"/>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05</a:t>
            </a:r>
            <a:endParaRPr lang="en-US" sz="1600" dirty="0"/>
          </a:p>
        </p:txBody>
      </p:sp>
      <p:sp>
        <p:nvSpPr>
          <p:cNvPr id="32" name="Text 29"/>
          <p:cNvSpPr/>
          <p:nvPr>
            <p:custDataLst>
              <p:tags r:id="rId11"/>
            </p:custDataLst>
          </p:nvPr>
        </p:nvSpPr>
        <p:spPr>
          <a:xfrm>
            <a:off x="6662522" y="4833956"/>
            <a:ext cx="4469663" cy="306784"/>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Future Trends in Intelligent Systems</a:t>
            </a:r>
            <a:endParaRPr lang="en-US" sz="1600" dirty="0"/>
          </a:p>
        </p:txBody>
      </p:sp>
      <p:sp>
        <p:nvSpPr>
          <p:cNvPr id="33" name="Shape 30"/>
          <p:cNvSpPr/>
          <p:nvPr/>
        </p:nvSpPr>
        <p:spPr>
          <a:xfrm rot="5400000">
            <a:off x="5532120" y="5530409"/>
            <a:ext cx="293611" cy="293331"/>
          </a:xfrm>
          <a:prstGeom prst="triangle">
            <a:avLst/>
          </a:prstGeom>
          <a:solidFill>
            <a:srgbClr val="E0E9C9"/>
          </a:solidFill>
        </p:spPr>
      </p:sp>
      <p:sp>
        <p:nvSpPr>
          <p:cNvPr id="34" name="Text 31"/>
          <p:cNvSpPr/>
          <p:nvPr/>
        </p:nvSpPr>
        <p:spPr>
          <a:xfrm rot="5400000">
            <a:off x="5532120" y="553040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5" name="Shape 32"/>
          <p:cNvSpPr/>
          <p:nvPr/>
        </p:nvSpPr>
        <p:spPr>
          <a:xfrm rot="5400000">
            <a:off x="5645047" y="5643229"/>
            <a:ext cx="293611" cy="293331"/>
          </a:xfrm>
          <a:prstGeom prst="triangle">
            <a:avLst/>
          </a:prstGeom>
          <a:solidFill>
            <a:srgbClr val="5E927D"/>
          </a:solidFill>
        </p:spPr>
      </p:sp>
      <p:sp>
        <p:nvSpPr>
          <p:cNvPr id="36" name="Text 33"/>
          <p:cNvSpPr/>
          <p:nvPr/>
        </p:nvSpPr>
        <p:spPr>
          <a:xfrm rot="5400000">
            <a:off x="5645047" y="564322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Text 34"/>
          <p:cNvSpPr/>
          <p:nvPr>
            <p:custDataLst>
              <p:tags r:id="rId12"/>
            </p:custDataLst>
          </p:nvPr>
        </p:nvSpPr>
        <p:spPr>
          <a:xfrm>
            <a:off x="6018837" y="550164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06</a:t>
            </a:r>
            <a:endParaRPr lang="en-US" sz="1600" dirty="0"/>
          </a:p>
        </p:txBody>
      </p:sp>
      <p:sp>
        <p:nvSpPr>
          <p:cNvPr id="38" name="Text 35"/>
          <p:cNvSpPr/>
          <p:nvPr>
            <p:custDataLst>
              <p:tags r:id="rId13"/>
            </p:custDataLst>
          </p:nvPr>
        </p:nvSpPr>
        <p:spPr>
          <a:xfrm>
            <a:off x="6662522" y="5529281"/>
            <a:ext cx="4469663" cy="306784"/>
          </a:xfrm>
          <a:prstGeom prst="rect">
            <a:avLst/>
          </a:prstGeom>
          <a:noFill/>
        </p:spPr>
        <p:txBody>
          <a:bodyPr wrap="square" lIns="91440" tIns="45720" rIns="91440" bIns="45720" rtlCol="0" anchor="t">
            <a:spAutoFit/>
          </a:bodyPr>
          <a:lstStyle/>
          <a:p>
            <a:pPr marL="0" indent="0" algn="just">
              <a:lnSpc>
                <a:spcPct val="100000"/>
              </a:lnSpc>
              <a:buNone/>
            </a:pPr>
            <a:r>
              <a:rPr lang="en-US" sz="2000" dirty="0">
                <a:solidFill>
                  <a:srgbClr val="000000"/>
                </a:solidFill>
                <a:latin typeface="MiSans" pitchFamily="34" charset="-122"/>
                <a:ea typeface="MiSans" pitchFamily="34" charset="-122"/>
                <a:cs typeface="MiSans" pitchFamily="34" charset="-120"/>
              </a:rPr>
              <a:t>Conclusion and Recommendations</a:t>
            </a:r>
            <a:endParaRPr lang="en-US" sz="1600" dirty="0"/>
          </a:p>
        </p:txBody>
      </p:sp>
      <p:sp>
        <p:nvSpPr>
          <p:cNvPr id="39" name="Text 36"/>
          <p:cNvSpPr/>
          <p:nvPr/>
        </p:nvSpPr>
        <p:spPr>
          <a:xfrm>
            <a:off x="5407025" y="458470"/>
            <a:ext cx="3513455" cy="1289050"/>
          </a:xfrm>
          <a:prstGeom prst="rect">
            <a:avLst/>
          </a:prstGeom>
          <a:noFill/>
        </p:spPr>
        <p:txBody>
          <a:bodyPr wrap="square" lIns="91440" tIns="45720" rIns="91440" bIns="45720" rtlCol="0" anchor="t">
            <a:spAutoFit/>
          </a:bodyPr>
          <a:lstStyle/>
          <a:p>
            <a:pPr marL="0" indent="0" algn="l">
              <a:lnSpc>
                <a:spcPct val="100000"/>
              </a:lnSpc>
              <a:buNone/>
            </a:pPr>
            <a:r>
              <a:rPr lang="en-US" sz="4800" b="1" dirty="0">
                <a:solidFill>
                  <a:srgbClr val="000000"/>
                </a:solidFill>
                <a:latin typeface="MiSans" pitchFamily="34" charset="-122"/>
                <a:ea typeface="MiSans" pitchFamily="34" charset="-122"/>
                <a:cs typeface="MiSans" pitchFamily="34" charset="-120"/>
              </a:rPr>
              <a:t>目录</a:t>
            </a:r>
            <a:r>
              <a:rPr lang="en-US" sz="4800" b="1" dirty="0">
                <a:solidFill>
                  <a:srgbClr val="000000"/>
                </a:solidFill>
                <a:latin typeface="MiSans" pitchFamily="34" charset="-122"/>
                <a:ea typeface="MiSans" pitchFamily="34" charset="-122"/>
                <a:cs typeface="MiSans" pitchFamily="34" charset="-120"/>
              </a:rPr>
              <a:t> </a:t>
            </a:r>
            <a:endParaRPr lang="en-US" sz="1600" dirty="0"/>
          </a:p>
          <a:p>
            <a:pPr marL="0" indent="0" algn="l">
              <a:lnSpc>
                <a:spcPct val="100000"/>
              </a:lnSpc>
              <a:buNone/>
            </a:pPr>
            <a:r>
              <a:rPr lang="en-US" sz="3600" b="1" dirty="0">
                <a:solidFill>
                  <a:srgbClr val="000000">
                    <a:alpha val="27843"/>
                  </a:srgbClr>
                </a:solidFill>
                <a:latin typeface="MiSans" pitchFamily="34" charset="-122"/>
                <a:ea typeface="MiSans" pitchFamily="34" charset="-122"/>
                <a:cs typeface="MiSans" pitchFamily="34" charset="-120"/>
              </a:rPr>
              <a:t>CONTENTS</a:t>
            </a:r>
            <a:r>
              <a:rPr lang="en-US" sz="3600" b="1" dirty="0">
                <a:solidFill>
                  <a:srgbClr val="000000"/>
                </a:solidFill>
                <a:latin typeface="MiSans" pitchFamily="34" charset="-122"/>
                <a:ea typeface="MiSans" pitchFamily="34" charset="-122"/>
                <a:cs typeface="MiSans" pitchFamily="34" charset="-120"/>
              </a:rPr>
              <a:t>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236067"/>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01</a:t>
            </a:r>
            <a:endParaRPr lang="en-US" sz="1600" dirty="0"/>
          </a:p>
        </p:txBody>
      </p:sp>
      <p:sp>
        <p:nvSpPr>
          <p:cNvPr id="7" name="Text 3"/>
          <p:cNvSpPr/>
          <p:nvPr/>
        </p:nvSpPr>
        <p:spPr>
          <a:xfrm>
            <a:off x="5979795" y="3223895"/>
            <a:ext cx="4779645" cy="2190750"/>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Introduction to Intelligent Systems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Definition and Scope</a:t>
            </a:r>
            <a:endParaRPr lang="en-US" sz="1600" dirty="0"/>
          </a:p>
        </p:txBody>
      </p:sp>
      <p:sp>
        <p:nvSpPr>
          <p:cNvPr id="9" name="Shape 7"/>
          <p:cNvSpPr/>
          <p:nvPr/>
        </p:nvSpPr>
        <p:spPr>
          <a:xfrm>
            <a:off x="895350" y="1499855"/>
            <a:ext cx="3131820" cy="4437826"/>
          </a:xfrm>
          <a:prstGeom prst="roundRect">
            <a:avLst>
              <a:gd name="adj" fmla="val 5833"/>
            </a:avLst>
          </a:prstGeom>
          <a:solidFill>
            <a:srgbClr val="FFFFFF"/>
          </a:solidFill>
          <a:ln w="19050">
            <a:solidFill>
              <a:srgbClr val="739071"/>
            </a:solidFill>
            <a:prstDash val="solid"/>
          </a:ln>
        </p:spPr>
      </p:sp>
      <p:sp>
        <p:nvSpPr>
          <p:cNvPr id="10" name="Text 8"/>
          <p:cNvSpPr/>
          <p:nvPr/>
        </p:nvSpPr>
        <p:spPr>
          <a:xfrm>
            <a:off x="89535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1" name="Image 0" descr="https://test-kimi-img.moonshot.cn/pub/slides/slides_tmpl/image/25-05-30-10:51:00-d0shq5475iks832je5a0.png"/>
          <p:cNvPicPr>
            <a:picLocks noChangeAspect="1"/>
          </p:cNvPicPr>
          <p:nvPr/>
        </p:nvPicPr>
        <p:blipFill>
          <a:blip r:embed="rId1"/>
          <a:srcRect t="155" b="194"/>
          <a:stretch>
            <a:fillRect/>
          </a:stretch>
        </p:blipFill>
        <p:spPr>
          <a:xfrm>
            <a:off x="1069975" y="1678282"/>
            <a:ext cx="2783205" cy="1633785"/>
          </a:xfrm>
          <a:prstGeom prst="rect">
            <a:avLst/>
          </a:prstGeom>
        </p:spPr>
      </p:pic>
      <p:sp>
        <p:nvSpPr>
          <p:cNvPr id="12" name="Text 9"/>
          <p:cNvSpPr/>
          <p:nvPr/>
        </p:nvSpPr>
        <p:spPr>
          <a:xfrm>
            <a:off x="1026160" y="4026412"/>
            <a:ext cx="2827020" cy="1910358"/>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Intelligent systems are advanced technologies that mimic human intelligence to perform tasks. They integrate machine learning, natural language processing, and computer vision to solve complex problems efficiently.</a:t>
            </a:r>
            <a:endParaRPr lang="en-US" sz="1600" dirty="0"/>
          </a:p>
        </p:txBody>
      </p:sp>
      <p:sp>
        <p:nvSpPr>
          <p:cNvPr id="13" name="Text 10"/>
          <p:cNvSpPr/>
          <p:nvPr/>
        </p:nvSpPr>
        <p:spPr>
          <a:xfrm>
            <a:off x="104775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Definition Core</a:t>
            </a:r>
            <a:endParaRPr lang="en-US" sz="1600" dirty="0"/>
          </a:p>
        </p:txBody>
      </p:sp>
      <p:sp>
        <p:nvSpPr>
          <p:cNvPr id="14" name="Shape 11"/>
          <p:cNvSpPr/>
          <p:nvPr/>
        </p:nvSpPr>
        <p:spPr>
          <a:xfrm>
            <a:off x="4349115" y="1149350"/>
            <a:ext cx="3605530" cy="5138201"/>
          </a:xfrm>
          <a:prstGeom prst="roundRect">
            <a:avLst>
              <a:gd name="adj" fmla="val 5833"/>
            </a:avLst>
          </a:prstGeom>
          <a:solidFill>
            <a:srgbClr val="FFFFFF"/>
          </a:solidFill>
          <a:ln w="19050">
            <a:solidFill>
              <a:srgbClr val="739071"/>
            </a:solidFill>
            <a:prstDash val="solid"/>
          </a:ln>
        </p:spPr>
      </p:sp>
      <p:sp>
        <p:nvSpPr>
          <p:cNvPr id="15" name="Text 12"/>
          <p:cNvSpPr/>
          <p:nvPr/>
        </p:nvSpPr>
        <p:spPr>
          <a:xfrm>
            <a:off x="4349115" y="1149350"/>
            <a:ext cx="3605530" cy="5138201"/>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Image 1" descr="https://test-kimi-img.moonshot.cn/pub/slides/slides_tmpl/image/25-05-30-10:51:01-d0shq5c75iks832je5ag.png"/>
          <p:cNvPicPr>
            <a:picLocks noChangeAspect="1"/>
          </p:cNvPicPr>
          <p:nvPr/>
        </p:nvPicPr>
        <p:blipFill>
          <a:blip r:embed="rId2"/>
          <a:srcRect l="54" r="54"/>
          <a:stretch>
            <a:fillRect/>
          </a:stretch>
        </p:blipFill>
        <p:spPr>
          <a:xfrm>
            <a:off x="4471192" y="1366087"/>
            <a:ext cx="3361377" cy="2163100"/>
          </a:xfrm>
          <a:prstGeom prst="rect">
            <a:avLst/>
          </a:prstGeom>
        </p:spPr>
      </p:pic>
      <p:sp>
        <p:nvSpPr>
          <p:cNvPr id="17" name="Text 13"/>
          <p:cNvSpPr/>
          <p:nvPr/>
        </p:nvSpPr>
        <p:spPr>
          <a:xfrm>
            <a:off x="4490724" y="4117736"/>
            <a:ext cx="3322312" cy="2048272"/>
          </a:xfrm>
          <a:prstGeom prst="rect">
            <a:avLst/>
          </a:prstGeom>
          <a:noFill/>
        </p:spPr>
        <p:txBody>
          <a:bodyPr wrap="square" lIns="0" tIns="0" rIns="0" bIns="0" rtlCol="0" anchor="t">
            <a:spAutoFit/>
          </a:bodyPr>
          <a:lstStyle/>
          <a:p>
            <a:pPr marL="0" indent="0" algn="just">
              <a:lnSpc>
                <a:spcPct val="120000"/>
              </a:lnSpc>
              <a:buNone/>
            </a:pPr>
            <a:r>
              <a:rPr lang="en-US" sz="1600" dirty="0">
                <a:solidFill>
                  <a:srgbClr val="2B2F36"/>
                </a:solidFill>
                <a:latin typeface="MiSans" pitchFamily="34" charset="-122"/>
                <a:ea typeface="MiSans" pitchFamily="34" charset="-122"/>
                <a:cs typeface="MiSans" pitchFamily="34" charset="-120"/>
              </a:rPr>
              <a:t>These systems are widely used in healthcare, finance, transportation, and manufacturing. They enhance decision-making, automate processes, and improve user experiences through personalized interactions.</a:t>
            </a:r>
            <a:endParaRPr lang="en-US" sz="1600" dirty="0"/>
          </a:p>
        </p:txBody>
      </p:sp>
      <p:sp>
        <p:nvSpPr>
          <p:cNvPr id="18" name="Text 14"/>
          <p:cNvSpPr/>
          <p:nvPr/>
        </p:nvSpPr>
        <p:spPr>
          <a:xfrm>
            <a:off x="4490724" y="3529187"/>
            <a:ext cx="3322312" cy="523833"/>
          </a:xfrm>
          <a:prstGeom prst="rect">
            <a:avLst/>
          </a:prstGeom>
          <a:noFill/>
        </p:spPr>
        <p:txBody>
          <a:bodyPr wrap="square" lIns="0" tIns="0" rIns="0" bIns="35941" rtlCol="0" anchor="ctr"/>
          <a:lstStyle/>
          <a:p>
            <a:pPr marL="0" indent="0" algn="ctr">
              <a:lnSpc>
                <a:spcPct val="100000"/>
              </a:lnSpc>
              <a:buNone/>
            </a:pPr>
            <a:r>
              <a:rPr lang="en-US" sz="1800" b="1" dirty="0">
                <a:solidFill>
                  <a:srgbClr val="5E927D"/>
                </a:solidFill>
                <a:latin typeface="MiSans" pitchFamily="34" charset="-122"/>
                <a:ea typeface="MiSans" pitchFamily="34" charset="-122"/>
                <a:cs typeface="MiSans" pitchFamily="34" charset="-120"/>
              </a:rPr>
              <a:t>Application Areas</a:t>
            </a:r>
            <a:endParaRPr lang="en-US" sz="1600" dirty="0"/>
          </a:p>
        </p:txBody>
      </p:sp>
      <p:sp>
        <p:nvSpPr>
          <p:cNvPr id="19" name="Shape 15"/>
          <p:cNvSpPr/>
          <p:nvPr/>
        </p:nvSpPr>
        <p:spPr>
          <a:xfrm>
            <a:off x="8232140" y="1499870"/>
            <a:ext cx="3176270" cy="4787900"/>
          </a:xfrm>
          <a:prstGeom prst="roundRect">
            <a:avLst>
              <a:gd name="adj" fmla="val 5833"/>
            </a:avLst>
          </a:prstGeom>
          <a:solidFill>
            <a:srgbClr val="FFFFFF"/>
          </a:solidFill>
          <a:ln w="19050">
            <a:solidFill>
              <a:srgbClr val="739071"/>
            </a:solidFill>
            <a:prstDash val="solid"/>
          </a:ln>
        </p:spPr>
      </p:sp>
      <p:sp>
        <p:nvSpPr>
          <p:cNvPr id="20" name="Text 16"/>
          <p:cNvSpPr/>
          <p:nvPr/>
        </p:nvSpPr>
        <p:spPr>
          <a:xfrm>
            <a:off x="827659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1" name="Image 2" descr="https://test-kimi-img.moonshot.cn/pub/slides/slides_tmpl/image/25-05-30-10:51:01-d0shq5c75iks832je5b0.png"/>
          <p:cNvPicPr>
            <a:picLocks noChangeAspect="1"/>
          </p:cNvPicPr>
          <p:nvPr/>
        </p:nvPicPr>
        <p:blipFill>
          <a:blip r:embed="rId3"/>
          <a:srcRect t="155" b="194"/>
          <a:stretch>
            <a:fillRect/>
          </a:stretch>
        </p:blipFill>
        <p:spPr>
          <a:xfrm>
            <a:off x="8451215" y="1678282"/>
            <a:ext cx="2783205" cy="1633785"/>
          </a:xfrm>
          <a:prstGeom prst="rect">
            <a:avLst/>
          </a:prstGeom>
        </p:spPr>
      </p:pic>
      <p:sp>
        <p:nvSpPr>
          <p:cNvPr id="22" name="Text 17"/>
          <p:cNvSpPr/>
          <p:nvPr/>
        </p:nvSpPr>
        <p:spPr>
          <a:xfrm>
            <a:off x="8407400" y="4026412"/>
            <a:ext cx="2827020" cy="2183209"/>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The evolution of intelligent systems has progressed from rule-based systems to machine learning models and now to deep learning architectures. This progression has significantly increased their capabilities and adaptability.</a:t>
            </a:r>
            <a:endParaRPr lang="en-US" sz="1600" dirty="0"/>
          </a:p>
        </p:txBody>
      </p:sp>
      <p:sp>
        <p:nvSpPr>
          <p:cNvPr id="23" name="Text 18"/>
          <p:cNvSpPr/>
          <p:nvPr/>
        </p:nvSpPr>
        <p:spPr>
          <a:xfrm>
            <a:off x="842899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Evolutionary Path</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Definition and Scope</a:t>
            </a:r>
            <a:endParaRPr lang="en-US" sz="1600" dirty="0"/>
          </a:p>
        </p:txBody>
      </p:sp>
      <p:pic>
        <p:nvPicPr>
          <p:cNvPr id="24" name="图片 23" descr="wIp6WIR2CbqgwVk"/>
          <p:cNvPicPr>
            <a:picLocks noChangeAspect="1"/>
          </p:cNvPicPr>
          <p:nvPr/>
        </p:nvPicPr>
        <p:blipFill>
          <a:blip r:embed="rId1"/>
          <a:stretch>
            <a:fillRect/>
          </a:stretch>
        </p:blipFill>
        <p:spPr>
          <a:xfrm>
            <a:off x="797560" y="1329690"/>
            <a:ext cx="11179175" cy="45637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236067"/>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02</a:t>
            </a:r>
            <a:endParaRPr lang="en-US" sz="1600" dirty="0"/>
          </a:p>
        </p:txBody>
      </p:sp>
      <p:sp>
        <p:nvSpPr>
          <p:cNvPr id="7" name="Text 3"/>
          <p:cNvSpPr/>
          <p:nvPr/>
        </p:nvSpPr>
        <p:spPr>
          <a:xfrm>
            <a:off x="5979795" y="3223895"/>
            <a:ext cx="4779645" cy="2190750"/>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Key. Components of Intelligent Systems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Hardware Infrastructure</a:t>
            </a:r>
            <a:endParaRPr lang="en-US" sz="1600" dirty="0"/>
          </a:p>
        </p:txBody>
      </p:sp>
      <p:sp>
        <p:nvSpPr>
          <p:cNvPr id="9" name="Shape 7"/>
          <p:cNvSpPr/>
          <p:nvPr/>
        </p:nvSpPr>
        <p:spPr>
          <a:xfrm>
            <a:off x="4956175" y="2925445"/>
            <a:ext cx="6500495" cy="1539875"/>
          </a:xfrm>
          <a:prstGeom prst="roundRect">
            <a:avLst>
              <a:gd name="adj" fmla="val 11000"/>
            </a:avLst>
          </a:prstGeom>
          <a:solidFill>
            <a:srgbClr val="079F92"/>
          </a:solidFill>
          <a:ln w="19050">
            <a:solidFill>
              <a:srgbClr val="A0D1FA">
                <a:alpha val="43137"/>
              </a:srgbClr>
            </a:solidFill>
            <a:prstDash val="solid"/>
          </a:ln>
          <a:effectLst>
            <a:outerShdw blurRad="254000" dist="134704" dir="2700000" algn="bl" rotWithShape="0">
              <a:srgbClr val="1E69D5">
                <a:alpha val="10196"/>
              </a:srgbClr>
            </a:outerShdw>
          </a:effectLst>
        </p:spPr>
      </p:sp>
      <p:sp>
        <p:nvSpPr>
          <p:cNvPr id="10" name="Text 8"/>
          <p:cNvSpPr/>
          <p:nvPr/>
        </p:nvSpPr>
        <p:spPr>
          <a:xfrm>
            <a:off x="4956175" y="2925445"/>
            <a:ext cx="6500495" cy="15398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9"/>
          <p:cNvSpPr/>
          <p:nvPr/>
        </p:nvSpPr>
        <p:spPr>
          <a:xfrm>
            <a:off x="4956175" y="1461770"/>
            <a:ext cx="6500495" cy="1339215"/>
          </a:xfrm>
          <a:prstGeom prst="roundRect">
            <a:avLst>
              <a:gd name="adj" fmla="val 8155"/>
            </a:avLst>
          </a:prstGeom>
          <a:solidFill>
            <a:srgbClr val="FFFFFF"/>
          </a:solidFill>
          <a:ln w="19050">
            <a:solidFill>
              <a:srgbClr val="A0D1FA">
                <a:alpha val="43137"/>
              </a:srgbClr>
            </a:solidFill>
            <a:prstDash val="solid"/>
          </a:ln>
          <a:effectLst>
            <a:outerShdw blurRad="254000" dist="134704" dir="2700000" algn="bl" rotWithShape="0">
              <a:srgbClr val="1E69D5">
                <a:alpha val="10196"/>
              </a:srgbClr>
            </a:outerShdw>
          </a:effectLst>
        </p:spPr>
      </p:sp>
      <p:sp>
        <p:nvSpPr>
          <p:cNvPr id="12" name="Text 10"/>
          <p:cNvSpPr/>
          <p:nvPr/>
        </p:nvSpPr>
        <p:spPr>
          <a:xfrm>
            <a:off x="4956175" y="1461770"/>
            <a:ext cx="6500495" cy="1339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Shape 11"/>
          <p:cNvSpPr/>
          <p:nvPr/>
        </p:nvSpPr>
        <p:spPr>
          <a:xfrm>
            <a:off x="735965" y="1255395"/>
            <a:ext cx="10720070" cy="1545590"/>
          </a:xfrm>
          <a:prstGeom prst="roundRect">
            <a:avLst>
              <a:gd name="adj" fmla="val 8155"/>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sp>
      <p:sp>
        <p:nvSpPr>
          <p:cNvPr id="14" name="Text 12"/>
          <p:cNvSpPr/>
          <p:nvPr/>
        </p:nvSpPr>
        <p:spPr>
          <a:xfrm>
            <a:off x="735965" y="1255395"/>
            <a:ext cx="10720070"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Shape 13"/>
          <p:cNvSpPr/>
          <p:nvPr/>
        </p:nvSpPr>
        <p:spPr>
          <a:xfrm>
            <a:off x="735965" y="2931160"/>
            <a:ext cx="10720705" cy="1545590"/>
          </a:xfrm>
          <a:prstGeom prst="roundRect">
            <a:avLst>
              <a:gd name="adj" fmla="val 11000"/>
            </a:avLst>
          </a:prstGeom>
          <a:solidFill>
            <a:srgbClr val="B4CA7C"/>
          </a:solidFill>
          <a:ln w="19050">
            <a:solidFill>
              <a:srgbClr val="DEEAE5">
                <a:alpha val="43137"/>
              </a:srgbClr>
            </a:solidFill>
            <a:prstDash val="solid"/>
          </a:ln>
          <a:effectLst>
            <a:outerShdw blurRad="254000" dist="134704" dir="2700000" algn="bl" rotWithShape="0">
              <a:srgbClr val="E0E9C9">
                <a:alpha val="10196"/>
              </a:srgbClr>
            </a:outerShdw>
          </a:effectLst>
        </p:spPr>
      </p:sp>
      <p:sp>
        <p:nvSpPr>
          <p:cNvPr id="16" name="Text 14"/>
          <p:cNvSpPr/>
          <p:nvPr/>
        </p:nvSpPr>
        <p:spPr>
          <a:xfrm>
            <a:off x="735965" y="2931160"/>
            <a:ext cx="10720705"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a:off x="736600" y="4594860"/>
            <a:ext cx="10720070" cy="1590675"/>
          </a:xfrm>
          <a:prstGeom prst="roundRect">
            <a:avLst>
              <a:gd name="adj" fmla="val 10289"/>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sp>
      <p:sp>
        <p:nvSpPr>
          <p:cNvPr id="18" name="Text 16"/>
          <p:cNvSpPr/>
          <p:nvPr/>
        </p:nvSpPr>
        <p:spPr>
          <a:xfrm>
            <a:off x="736600" y="4594860"/>
            <a:ext cx="10720070" cy="15906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7"/>
          <p:cNvSpPr/>
          <p:nvPr/>
        </p:nvSpPr>
        <p:spPr>
          <a:xfrm>
            <a:off x="929005" y="3617595"/>
            <a:ext cx="1024920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Sufficient memory and storage are crucial for storing data and models. SSDs and cloud storage solutions provide fast access and scalability to meet the demands of intelligent systems.</a:t>
            </a:r>
            <a:endParaRPr lang="en-US" sz="1600" dirty="0"/>
          </a:p>
        </p:txBody>
      </p:sp>
      <p:sp>
        <p:nvSpPr>
          <p:cNvPr id="20" name="Text 18"/>
          <p:cNvSpPr/>
          <p:nvPr/>
        </p:nvSpPr>
        <p:spPr>
          <a:xfrm>
            <a:off x="929005" y="149669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Processing Units</a:t>
            </a:r>
            <a:endParaRPr lang="en-US" sz="1600" dirty="0"/>
          </a:p>
        </p:txBody>
      </p:sp>
      <p:sp>
        <p:nvSpPr>
          <p:cNvPr id="21" name="Text 19"/>
          <p:cNvSpPr/>
          <p:nvPr/>
        </p:nvSpPr>
        <p:spPr>
          <a:xfrm>
            <a:off x="929005" y="1983740"/>
            <a:ext cx="1024920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High-performance CPUs and GPUs are essential for processing large datasets and running complex algorithms. They ensure the system can handle intensive computational tasks efficiently.</a:t>
            </a:r>
            <a:endParaRPr lang="en-US" sz="1600" dirty="0"/>
          </a:p>
        </p:txBody>
      </p:sp>
      <p:sp>
        <p:nvSpPr>
          <p:cNvPr id="22" name="Text 20"/>
          <p:cNvSpPr/>
          <p:nvPr/>
        </p:nvSpPr>
        <p:spPr>
          <a:xfrm>
            <a:off x="929005" y="311848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FFFFFF"/>
                </a:solidFill>
                <a:latin typeface="MiSans" pitchFamily="34" charset="-122"/>
                <a:ea typeface="MiSans" pitchFamily="34" charset="-122"/>
                <a:cs typeface="MiSans" pitchFamily="34" charset="-120"/>
              </a:rPr>
              <a:t>Memory and Storage</a:t>
            </a:r>
            <a:endParaRPr lang="en-US" sz="1600" dirty="0"/>
          </a:p>
        </p:txBody>
      </p:sp>
      <p:sp>
        <p:nvSpPr>
          <p:cNvPr id="23" name="Text 21"/>
          <p:cNvSpPr/>
          <p:nvPr/>
        </p:nvSpPr>
        <p:spPr>
          <a:xfrm>
            <a:off x="929005" y="4831080"/>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Connectivity Options</a:t>
            </a:r>
            <a:endParaRPr lang="en-US" sz="1600" dirty="0"/>
          </a:p>
        </p:txBody>
      </p:sp>
      <p:sp>
        <p:nvSpPr>
          <p:cNvPr id="24" name="Text 22"/>
          <p:cNvSpPr/>
          <p:nvPr/>
        </p:nvSpPr>
        <p:spPr>
          <a:xfrm>
            <a:off x="929005" y="5386705"/>
            <a:ext cx="1024920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Robust connectivity options like Wi-Fi, Ethernet, and 5G are necessary for seamless data transfer and real-time communication between system components.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773170" y="1443355"/>
            <a:ext cx="8102600" cy="4499610"/>
          </a:xfrm>
          <a:prstGeom prst="roundRect">
            <a:avLst>
              <a:gd name="adj" fmla="val 50000"/>
            </a:avLst>
          </a:prstGeom>
          <a:solidFill>
            <a:srgbClr val="000000">
              <a:alpha val="0"/>
            </a:srgbClr>
          </a:solidFill>
          <a:ln w="19050">
            <a:gradFill flip="none" rotWithShape="1">
              <a:gsLst>
                <a:gs pos="0">
                  <a:srgbClr val="E0E9C9"/>
                </a:gs>
                <a:gs pos="50000">
                  <a:srgbClr val="FFFFFF">
                    <a:alpha val="0"/>
                  </a:srgbClr>
                </a:gs>
              </a:gsLst>
              <a:lin ang="10800000" scaled="1"/>
            </a:gradFill>
            <a:prstDash val="solid"/>
          </a:ln>
        </p:spPr>
      </p:sp>
      <p:sp>
        <p:nvSpPr>
          <p:cNvPr id="3" name="Text 1"/>
          <p:cNvSpPr/>
          <p:nvPr/>
        </p:nvSpPr>
        <p:spPr>
          <a:xfrm>
            <a:off x="-3773170" y="1443355"/>
            <a:ext cx="8102600" cy="449961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3471545" y="1610995"/>
            <a:ext cx="7499350" cy="4164330"/>
          </a:xfrm>
          <a:prstGeom prst="roundRect">
            <a:avLst>
              <a:gd name="adj" fmla="val 50000"/>
            </a:avLst>
          </a:prstGeom>
          <a:solidFill>
            <a:srgbClr val="2F493E">
              <a:alpha val="23137"/>
            </a:srgbClr>
          </a:solidFill>
        </p:spPr>
      </p:sp>
      <p:sp>
        <p:nvSpPr>
          <p:cNvPr id="5" name="Text 3"/>
          <p:cNvSpPr/>
          <p:nvPr/>
        </p:nvSpPr>
        <p:spPr>
          <a:xfrm>
            <a:off x="-3471545" y="1610995"/>
            <a:ext cx="7499350" cy="416433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6" name="Image 0" descr="https://test-kimi-img.moonshot.cn/pub/slides/slides_tmpl/image/25-05-30-10:51:05-d0shq6c75iks832je5cg.png"/>
          <p:cNvPicPr>
            <a:picLocks noChangeAspect="1"/>
          </p:cNvPicPr>
          <p:nvPr/>
        </p:nvPicPr>
        <p:blipFill>
          <a:blip r:embed="rId1"/>
          <a:srcRect r="9"/>
          <a:stretch>
            <a:fillRect/>
          </a:stretch>
        </p:blipFill>
        <p:spPr>
          <a:xfrm>
            <a:off x="-3074035" y="1831975"/>
            <a:ext cx="6704965" cy="3723005"/>
          </a:xfrm>
          <a:prstGeom prst="rect">
            <a:avLst/>
          </a:prstGeom>
        </p:spPr>
      </p:pic>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Software Frameworks</a:t>
            </a:r>
            <a:endParaRPr lang="en-US" sz="1600" dirty="0"/>
          </a:p>
        </p:txBody>
      </p:sp>
      <p:sp>
        <p:nvSpPr>
          <p:cNvPr id="12" name="Shape 9"/>
          <p:cNvSpPr/>
          <p:nvPr>
            <p:custDataLst>
              <p:tags r:id="rId2"/>
            </p:custDataLst>
          </p:nvPr>
        </p:nvSpPr>
        <p:spPr>
          <a:xfrm>
            <a:off x="2808605" y="1239520"/>
            <a:ext cx="652145" cy="663575"/>
          </a:xfrm>
          <a:prstGeom prst="ellipse">
            <a:avLst/>
          </a:prstGeom>
          <a:solidFill>
            <a:srgbClr val="B4CA7C"/>
          </a:solidFill>
        </p:spPr>
      </p:sp>
      <p:sp>
        <p:nvSpPr>
          <p:cNvPr id="13" name="Text 10"/>
          <p:cNvSpPr/>
          <p:nvPr/>
        </p:nvSpPr>
        <p:spPr>
          <a:xfrm>
            <a:off x="2808605" y="12395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custDataLst>
              <p:tags r:id="rId3"/>
            </p:custDataLst>
          </p:nvPr>
        </p:nvSpPr>
        <p:spPr>
          <a:xfrm>
            <a:off x="4010025" y="3220720"/>
            <a:ext cx="652145" cy="663575"/>
          </a:xfrm>
          <a:prstGeom prst="ellipse">
            <a:avLst/>
          </a:prstGeom>
          <a:solidFill>
            <a:srgbClr val="B4CA7C"/>
          </a:solidFill>
        </p:spPr>
      </p:sp>
      <p:sp>
        <p:nvSpPr>
          <p:cNvPr id="15" name="Text 12"/>
          <p:cNvSpPr/>
          <p:nvPr/>
        </p:nvSpPr>
        <p:spPr>
          <a:xfrm>
            <a:off x="4010025" y="32207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custDataLst>
              <p:tags r:id="rId4"/>
            </p:custDataLst>
          </p:nvPr>
        </p:nvSpPr>
        <p:spPr>
          <a:xfrm>
            <a:off x="3161030" y="5215890"/>
            <a:ext cx="652145" cy="663575"/>
          </a:xfrm>
          <a:prstGeom prst="ellipse">
            <a:avLst/>
          </a:prstGeom>
          <a:solidFill>
            <a:srgbClr val="B4CA7C"/>
          </a:solidFill>
        </p:spPr>
      </p:sp>
      <p:sp>
        <p:nvSpPr>
          <p:cNvPr id="17" name="Text 14"/>
          <p:cNvSpPr/>
          <p:nvPr/>
        </p:nvSpPr>
        <p:spPr>
          <a:xfrm>
            <a:off x="3161030" y="521589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Text 15"/>
          <p:cNvSpPr/>
          <p:nvPr>
            <p:custDataLst>
              <p:tags r:id="rId5"/>
            </p:custDataLst>
          </p:nvPr>
        </p:nvSpPr>
        <p:spPr>
          <a:xfrm>
            <a:off x="2846705" y="1313815"/>
            <a:ext cx="591820" cy="521970"/>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01</a:t>
            </a:r>
            <a:endParaRPr lang="en-US" sz="1600" dirty="0"/>
          </a:p>
        </p:txBody>
      </p:sp>
      <p:sp>
        <p:nvSpPr>
          <p:cNvPr id="19" name="Text 16"/>
          <p:cNvSpPr/>
          <p:nvPr>
            <p:custDataLst>
              <p:tags r:id="rId6"/>
            </p:custDataLst>
          </p:nvPr>
        </p:nvSpPr>
        <p:spPr>
          <a:xfrm>
            <a:off x="4027170" y="3285490"/>
            <a:ext cx="642620" cy="521970"/>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02</a:t>
            </a:r>
            <a:endParaRPr lang="en-US" sz="1600" dirty="0"/>
          </a:p>
        </p:txBody>
      </p:sp>
      <p:sp>
        <p:nvSpPr>
          <p:cNvPr id="20" name="Text 17"/>
          <p:cNvSpPr/>
          <p:nvPr>
            <p:custDataLst>
              <p:tags r:id="rId7"/>
            </p:custDataLst>
          </p:nvPr>
        </p:nvSpPr>
        <p:spPr>
          <a:xfrm>
            <a:off x="3167380" y="5291455"/>
            <a:ext cx="667385" cy="521970"/>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03</a:t>
            </a:r>
            <a:endParaRPr lang="en-US" sz="1600" dirty="0"/>
          </a:p>
        </p:txBody>
      </p:sp>
      <p:sp>
        <p:nvSpPr>
          <p:cNvPr id="21" name="Text 18"/>
          <p:cNvSpPr/>
          <p:nvPr>
            <p:custDataLst>
              <p:tags r:id="rId8"/>
            </p:custDataLst>
          </p:nvPr>
        </p:nvSpPr>
        <p:spPr>
          <a:xfrm>
            <a:off x="4210685" y="1246505"/>
            <a:ext cx="6838950" cy="398780"/>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Machine Learning Libraries</a:t>
            </a:r>
            <a:endParaRPr lang="en-US" sz="1600" dirty="0"/>
          </a:p>
        </p:txBody>
      </p:sp>
      <p:sp>
        <p:nvSpPr>
          <p:cNvPr id="22" name="Text 19"/>
          <p:cNvSpPr/>
          <p:nvPr>
            <p:custDataLst>
              <p:tags r:id="rId9"/>
            </p:custDataLst>
          </p:nvPr>
        </p:nvSpPr>
        <p:spPr>
          <a:xfrm>
            <a:off x="4210685" y="1703070"/>
            <a:ext cx="6838950" cy="929640"/>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Libraries such as TensorFlow and PyTorch provide a wide range of tools and functions for building and training machine learning models. They simplify the development process and improve model performance.</a:t>
            </a:r>
            <a:endParaRPr lang="en-US" sz="1600" dirty="0"/>
          </a:p>
        </p:txBody>
      </p:sp>
      <p:sp>
        <p:nvSpPr>
          <p:cNvPr id="23" name="Text 20"/>
          <p:cNvSpPr/>
          <p:nvPr>
            <p:custDataLst>
              <p:tags r:id="rId10"/>
            </p:custDataLst>
          </p:nvPr>
        </p:nvSpPr>
        <p:spPr>
          <a:xfrm>
            <a:off x="4027170" y="5546725"/>
            <a:ext cx="6839585" cy="929640"/>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Computer vision modules like OpenCV allow the system to interpret and analyze visual information. They are used in applications such as object detection, facial recognition, and image classification.</a:t>
            </a:r>
            <a:endParaRPr lang="en-US" sz="1600" dirty="0"/>
          </a:p>
        </p:txBody>
      </p:sp>
      <p:sp>
        <p:nvSpPr>
          <p:cNvPr id="24" name="Text 21"/>
          <p:cNvSpPr/>
          <p:nvPr>
            <p:custDataLst>
              <p:tags r:id="rId11"/>
            </p:custDataLst>
          </p:nvPr>
        </p:nvSpPr>
        <p:spPr>
          <a:xfrm>
            <a:off x="4027170" y="5089525"/>
            <a:ext cx="6838950" cy="398780"/>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Computer Vision Modules</a:t>
            </a:r>
            <a:endParaRPr lang="en-US" sz="1600" dirty="0"/>
          </a:p>
        </p:txBody>
      </p:sp>
      <p:sp>
        <p:nvSpPr>
          <p:cNvPr id="25" name="Text 22"/>
          <p:cNvSpPr/>
          <p:nvPr>
            <p:custDataLst>
              <p:tags r:id="rId12"/>
            </p:custDataLst>
          </p:nvPr>
        </p:nvSpPr>
        <p:spPr>
          <a:xfrm>
            <a:off x="4859020" y="3302000"/>
            <a:ext cx="6838950" cy="398780"/>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Natural Language Processing Tools</a:t>
            </a:r>
            <a:endParaRPr lang="en-US" sz="1600" dirty="0"/>
          </a:p>
        </p:txBody>
      </p:sp>
      <p:sp>
        <p:nvSpPr>
          <p:cNvPr id="26" name="Text 23"/>
          <p:cNvSpPr/>
          <p:nvPr>
            <p:custDataLst>
              <p:tags r:id="rId13"/>
            </p:custDataLst>
          </p:nvPr>
        </p:nvSpPr>
        <p:spPr>
          <a:xfrm>
            <a:off x="4859020" y="3758565"/>
            <a:ext cx="6838950" cy="929640"/>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NLP tools like spaCy and NLTK enable the system to understand and process human language. They are used for tasks such as text analysis, sentiment analysis, and language translation.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Data Management</a:t>
            </a:r>
            <a:endParaRPr lang="en-US" sz="1600" dirty="0"/>
          </a:p>
        </p:txBody>
      </p:sp>
      <p:sp>
        <p:nvSpPr>
          <p:cNvPr id="9" name="Shape 7"/>
          <p:cNvSpPr/>
          <p:nvPr/>
        </p:nvSpPr>
        <p:spPr>
          <a:xfrm>
            <a:off x="895350" y="1499855"/>
            <a:ext cx="3131820" cy="4437826"/>
          </a:xfrm>
          <a:prstGeom prst="roundRect">
            <a:avLst>
              <a:gd name="adj" fmla="val 5833"/>
            </a:avLst>
          </a:prstGeom>
          <a:solidFill>
            <a:srgbClr val="FFFFFF"/>
          </a:solidFill>
          <a:ln w="19050">
            <a:solidFill>
              <a:srgbClr val="739071"/>
            </a:solidFill>
            <a:prstDash val="solid"/>
          </a:ln>
        </p:spPr>
      </p:sp>
      <p:sp>
        <p:nvSpPr>
          <p:cNvPr id="10" name="Text 8"/>
          <p:cNvSpPr/>
          <p:nvPr/>
        </p:nvSpPr>
        <p:spPr>
          <a:xfrm>
            <a:off x="89535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1" name="Image 0" descr="https://test-kimi-img.moonshot.cn/pub/slides/slides_tmpl/image/25-05-30-10:51:00-d0shq5475iks832je5a0.png"/>
          <p:cNvPicPr>
            <a:picLocks noChangeAspect="1"/>
          </p:cNvPicPr>
          <p:nvPr/>
        </p:nvPicPr>
        <p:blipFill>
          <a:blip r:embed="rId1"/>
          <a:srcRect t="155" b="194"/>
          <a:stretch>
            <a:fillRect/>
          </a:stretch>
        </p:blipFill>
        <p:spPr>
          <a:xfrm>
            <a:off x="1069975" y="1678282"/>
            <a:ext cx="2783205" cy="1633785"/>
          </a:xfrm>
          <a:prstGeom prst="rect">
            <a:avLst/>
          </a:prstGeom>
        </p:spPr>
      </p:pic>
      <p:sp>
        <p:nvSpPr>
          <p:cNvPr id="12" name="Text 9"/>
          <p:cNvSpPr/>
          <p:nvPr/>
        </p:nvSpPr>
        <p:spPr>
          <a:xfrm>
            <a:off x="1026160" y="4026412"/>
            <a:ext cx="2827020" cy="1789989"/>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Data is collected from various sources such as sensors, databases, and user interactions. It is essential to ensure data quality and relevance for effective system performance.</a:t>
            </a:r>
            <a:endParaRPr lang="en-US" sz="1600" dirty="0"/>
          </a:p>
        </p:txBody>
      </p:sp>
      <p:sp>
        <p:nvSpPr>
          <p:cNvPr id="13" name="Text 10"/>
          <p:cNvSpPr/>
          <p:nvPr/>
        </p:nvSpPr>
        <p:spPr>
          <a:xfrm>
            <a:off x="104775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Data Collection</a:t>
            </a:r>
            <a:endParaRPr lang="en-US" sz="1600" dirty="0"/>
          </a:p>
        </p:txBody>
      </p:sp>
      <p:sp>
        <p:nvSpPr>
          <p:cNvPr id="14" name="Shape 11"/>
          <p:cNvSpPr/>
          <p:nvPr/>
        </p:nvSpPr>
        <p:spPr>
          <a:xfrm>
            <a:off x="4349115" y="1149350"/>
            <a:ext cx="3605530" cy="5138201"/>
          </a:xfrm>
          <a:prstGeom prst="roundRect">
            <a:avLst>
              <a:gd name="adj" fmla="val 5833"/>
            </a:avLst>
          </a:prstGeom>
          <a:solidFill>
            <a:srgbClr val="FFFFFF"/>
          </a:solidFill>
          <a:ln w="19050">
            <a:solidFill>
              <a:srgbClr val="739071"/>
            </a:solidFill>
            <a:prstDash val="solid"/>
          </a:ln>
        </p:spPr>
      </p:sp>
      <p:sp>
        <p:nvSpPr>
          <p:cNvPr id="15" name="Text 12"/>
          <p:cNvSpPr/>
          <p:nvPr/>
        </p:nvSpPr>
        <p:spPr>
          <a:xfrm>
            <a:off x="4349115" y="1149350"/>
            <a:ext cx="3605530" cy="5138201"/>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Image 1" descr="https://test-kimi-img.moonshot.cn/pub/slides/slides_tmpl/image/25-05-30-10:51:01-d0shq5c75iks832je5ag.png"/>
          <p:cNvPicPr>
            <a:picLocks noChangeAspect="1"/>
          </p:cNvPicPr>
          <p:nvPr/>
        </p:nvPicPr>
        <p:blipFill>
          <a:blip r:embed="rId2"/>
          <a:srcRect l="54" r="54"/>
          <a:stretch>
            <a:fillRect/>
          </a:stretch>
        </p:blipFill>
        <p:spPr>
          <a:xfrm>
            <a:off x="4471192" y="1366087"/>
            <a:ext cx="3361377" cy="2163100"/>
          </a:xfrm>
          <a:prstGeom prst="rect">
            <a:avLst/>
          </a:prstGeom>
        </p:spPr>
      </p:pic>
      <p:sp>
        <p:nvSpPr>
          <p:cNvPr id="17" name="Text 13"/>
          <p:cNvSpPr/>
          <p:nvPr/>
        </p:nvSpPr>
        <p:spPr>
          <a:xfrm>
            <a:off x="4490724" y="4117736"/>
            <a:ext cx="3322312" cy="2045878"/>
          </a:xfrm>
          <a:prstGeom prst="rect">
            <a:avLst/>
          </a:prstGeom>
          <a:noFill/>
        </p:spPr>
        <p:txBody>
          <a:bodyPr wrap="square" lIns="0" tIns="0" rIns="0" bIns="0" rtlCol="0" anchor="t">
            <a:spAutoFit/>
          </a:bodyPr>
          <a:lstStyle/>
          <a:p>
            <a:pPr marL="0" indent="0" algn="just">
              <a:lnSpc>
                <a:spcPct val="120000"/>
              </a:lnSpc>
              <a:buNone/>
            </a:pPr>
            <a:r>
              <a:rPr lang="en-US" sz="1600" dirty="0">
                <a:solidFill>
                  <a:srgbClr val="2B2F36"/>
                </a:solidFill>
                <a:latin typeface="MiSans" pitchFamily="34" charset="-122"/>
                <a:ea typeface="MiSans" pitchFamily="34" charset="-122"/>
                <a:cs typeface="MiSans" pitchFamily="34" charset="-120"/>
              </a:rPr>
              <a:t>Data preprocessing involves cleaning, normalization, and transformation. This step is critical for preparing data to be used in training models and improving accuracy.</a:t>
            </a:r>
            <a:endParaRPr lang="en-US" sz="1600" dirty="0"/>
          </a:p>
        </p:txBody>
      </p:sp>
      <p:sp>
        <p:nvSpPr>
          <p:cNvPr id="18" name="Text 14"/>
          <p:cNvSpPr/>
          <p:nvPr/>
        </p:nvSpPr>
        <p:spPr>
          <a:xfrm>
            <a:off x="4490724" y="3529187"/>
            <a:ext cx="3322312" cy="523833"/>
          </a:xfrm>
          <a:prstGeom prst="rect">
            <a:avLst/>
          </a:prstGeom>
          <a:noFill/>
        </p:spPr>
        <p:txBody>
          <a:bodyPr wrap="square" lIns="0" tIns="0" rIns="0" bIns="35941" rtlCol="0" anchor="ctr"/>
          <a:lstStyle/>
          <a:p>
            <a:pPr marL="0" indent="0" algn="ctr">
              <a:lnSpc>
                <a:spcPct val="100000"/>
              </a:lnSpc>
              <a:buNone/>
            </a:pPr>
            <a:r>
              <a:rPr lang="en-US" sz="1800" b="1" dirty="0">
                <a:solidFill>
                  <a:srgbClr val="5E927D"/>
                </a:solidFill>
                <a:latin typeface="MiSans" pitchFamily="34" charset="-122"/>
                <a:ea typeface="MiSans" pitchFamily="34" charset="-122"/>
                <a:cs typeface="MiSans" pitchFamily="34" charset="-120"/>
              </a:rPr>
              <a:t>Data Preprocessing</a:t>
            </a:r>
            <a:endParaRPr lang="en-US" sz="1600" dirty="0"/>
          </a:p>
        </p:txBody>
      </p:sp>
      <p:sp>
        <p:nvSpPr>
          <p:cNvPr id="19" name="Shape 15"/>
          <p:cNvSpPr/>
          <p:nvPr/>
        </p:nvSpPr>
        <p:spPr>
          <a:xfrm>
            <a:off x="8276590" y="1499855"/>
            <a:ext cx="3131820" cy="4437826"/>
          </a:xfrm>
          <a:prstGeom prst="roundRect">
            <a:avLst>
              <a:gd name="adj" fmla="val 5833"/>
            </a:avLst>
          </a:prstGeom>
          <a:solidFill>
            <a:srgbClr val="FFFFFF"/>
          </a:solidFill>
          <a:ln w="19050">
            <a:solidFill>
              <a:srgbClr val="739071"/>
            </a:solidFill>
            <a:prstDash val="solid"/>
          </a:ln>
        </p:spPr>
      </p:sp>
      <p:sp>
        <p:nvSpPr>
          <p:cNvPr id="20" name="Text 16"/>
          <p:cNvSpPr/>
          <p:nvPr/>
        </p:nvSpPr>
        <p:spPr>
          <a:xfrm>
            <a:off x="827659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1" name="Image 2" descr="https://test-kimi-img.moonshot.cn/pub/slides/slides_tmpl/image/25-05-30-10:51:01-d0shq5c75iks832je5b0.png"/>
          <p:cNvPicPr>
            <a:picLocks noChangeAspect="1"/>
          </p:cNvPicPr>
          <p:nvPr/>
        </p:nvPicPr>
        <p:blipFill>
          <a:blip r:embed="rId3"/>
          <a:srcRect t="155" b="194"/>
          <a:stretch>
            <a:fillRect/>
          </a:stretch>
        </p:blipFill>
        <p:spPr>
          <a:xfrm>
            <a:off x="8451215" y="1678282"/>
            <a:ext cx="2783205" cy="1633785"/>
          </a:xfrm>
          <a:prstGeom prst="rect">
            <a:avLst/>
          </a:prstGeom>
        </p:spPr>
      </p:pic>
      <p:sp>
        <p:nvSpPr>
          <p:cNvPr id="22" name="Text 17"/>
          <p:cNvSpPr/>
          <p:nvPr/>
        </p:nvSpPr>
        <p:spPr>
          <a:xfrm>
            <a:off x="8407400" y="4026412"/>
            <a:ext cx="2827020" cy="1789989"/>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Efficient data storage and retrieval mechanisms are necessary for quick access to data. Techniques such as indexing and caching are used to optimize performance.</a:t>
            </a:r>
            <a:endParaRPr lang="en-US" sz="1600" dirty="0"/>
          </a:p>
        </p:txBody>
      </p:sp>
      <p:sp>
        <p:nvSpPr>
          <p:cNvPr id="23" name="Text 18"/>
          <p:cNvSpPr/>
          <p:nvPr/>
        </p:nvSpPr>
        <p:spPr>
          <a:xfrm>
            <a:off x="842899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Data Storage and Retrieval</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Smart Manufacturing Based on Industrial Internet</a:t>
            </a:r>
            <a:endParaRPr lang="en-US" sz="2800" b="1" dirty="0">
              <a:solidFill>
                <a:srgbClr val="2F493E"/>
              </a:solidFill>
              <a:latin typeface="MiSans" pitchFamily="34" charset="-122"/>
              <a:ea typeface="MiSans" pitchFamily="34" charset="-122"/>
              <a:cs typeface="MiSans" pitchFamily="34" charset="-120"/>
            </a:endParaRPr>
          </a:p>
        </p:txBody>
      </p:sp>
      <p:sp>
        <p:nvSpPr>
          <p:cNvPr id="25" name="文本框 24"/>
          <p:cNvSpPr txBox="1"/>
          <p:nvPr/>
        </p:nvSpPr>
        <p:spPr>
          <a:xfrm>
            <a:off x="1146810" y="1165860"/>
            <a:ext cx="8434705" cy="1168400"/>
          </a:xfrm>
          <a:prstGeom prst="rect">
            <a:avLst/>
          </a:prstGeom>
          <a:noFill/>
        </p:spPr>
        <p:txBody>
          <a:bodyPr wrap="square" rtlCol="0">
            <a:spAutoFit/>
          </a:bodyPr>
          <a:p>
            <a:r>
              <a:rPr lang="en-US" sz="1400" dirty="0">
                <a:solidFill>
                  <a:srgbClr val="2B2F36"/>
                </a:solidFill>
                <a:latin typeface="MiSans" pitchFamily="34" charset="-122"/>
                <a:ea typeface="MiSans" pitchFamily="34" charset="-122"/>
                <a:cs typeface="MiSans" pitchFamily="34" charset="-120"/>
              </a:rPr>
              <a:t>Smart manufacturing based on the Industrial Internet is an innovative manufacturing model. It deeply integrates traditional manufacturing with modern information technology by using cloud computing, the Internet of Things, big data analysis, artificial intelligence, and other technologies to realize the intelligence, automation, and networking of the manufacturing process. The following are some key features of smart manufacturing:</a:t>
            </a:r>
            <a:endParaRPr lang="en-US" sz="1400" dirty="0">
              <a:solidFill>
                <a:srgbClr val="2B2F36"/>
              </a:solidFill>
              <a:latin typeface="MiSans" pitchFamily="34" charset="-122"/>
              <a:ea typeface="MiSans" pitchFamily="34" charset="-122"/>
              <a:cs typeface="MiSans" pitchFamily="34" charset="-120"/>
            </a:endParaRPr>
          </a:p>
        </p:txBody>
      </p:sp>
      <p:sp>
        <p:nvSpPr>
          <p:cNvPr id="26" name="文本框 25"/>
          <p:cNvSpPr txBox="1"/>
          <p:nvPr/>
        </p:nvSpPr>
        <p:spPr>
          <a:xfrm>
            <a:off x="1090930" y="2569210"/>
            <a:ext cx="8758555" cy="3308985"/>
          </a:xfrm>
          <a:prstGeom prst="rect">
            <a:avLst/>
          </a:prstGeom>
        </p:spPr>
        <p:txBody>
          <a:bodyPr>
            <a:noAutofit/>
          </a:bodyPr>
          <a:p>
            <a:pPr marL="342900" indent="-342900" algn="l">
              <a:lnSpc>
                <a:spcPct val="100000"/>
              </a:lnSpc>
              <a:spcBef>
                <a:spcPts val="400"/>
              </a:spcBef>
              <a:buClrTx/>
              <a:buSzTx/>
              <a:buFontTx/>
              <a:buAutoNum type="arabicPeriod"/>
            </a:pPr>
            <a:r>
              <a:rPr lang="en-US" sz="1400" b="0" i="0" dirty="0">
                <a:solidFill>
                  <a:srgbClr val="2B2F36"/>
                </a:solidFill>
                <a:latin typeface="MiSans" pitchFamily="34" charset="-122"/>
                <a:ea typeface="MiSans" pitchFamily="34" charset="-122"/>
                <a:cs typeface="MiSans" pitchFamily="34" charset="-120"/>
              </a:rPr>
              <a:t>Digitalization: Through digital technology, various data in the manufacturing process are converted into digital information, facilitating collection, storage, and analysis.</a:t>
            </a:r>
            <a:endParaRPr lang="en-US" sz="1400" b="0" i="0" dirty="0">
              <a:solidFill>
                <a:srgbClr val="2B2F36"/>
              </a:solidFill>
              <a:latin typeface="MiSans" pitchFamily="34" charset="-122"/>
              <a:ea typeface="MiSans" pitchFamily="34" charset="-122"/>
              <a:cs typeface="MiSans" pitchFamily="34" charset="-120"/>
            </a:endParaRPr>
          </a:p>
          <a:p>
            <a:pPr marL="342900" indent="-342900" algn="l">
              <a:lnSpc>
                <a:spcPct val="100000"/>
              </a:lnSpc>
              <a:spcBef>
                <a:spcPts val="400"/>
              </a:spcBef>
              <a:buClrTx/>
              <a:buSzTx/>
              <a:buFontTx/>
              <a:buAutoNum type="arabicPeriod"/>
            </a:pPr>
            <a:endParaRPr lang="en-US" sz="1400" b="0" i="0" dirty="0">
              <a:solidFill>
                <a:srgbClr val="2B2F36"/>
              </a:solidFill>
              <a:latin typeface="MiSans" pitchFamily="34" charset="-122"/>
              <a:ea typeface="MiSans" pitchFamily="34" charset="-122"/>
              <a:cs typeface="MiSans" pitchFamily="34" charset="-120"/>
            </a:endParaRPr>
          </a:p>
          <a:p>
            <a:pPr marL="342900" indent="-342900" algn="l">
              <a:lnSpc>
                <a:spcPct val="100000"/>
              </a:lnSpc>
              <a:spcBef>
                <a:spcPts val="400"/>
              </a:spcBef>
              <a:buClrTx/>
              <a:buSzTx/>
              <a:buFontTx/>
              <a:buAutoNum type="arabicPeriod"/>
            </a:pPr>
            <a:r>
              <a:rPr lang="en-US" sz="1400" b="0" i="0" dirty="0">
                <a:solidFill>
                  <a:srgbClr val="2B2F36"/>
                </a:solidFill>
                <a:latin typeface="MiSans" pitchFamily="34" charset="-122"/>
                <a:ea typeface="MiSans" pitchFamily="34" charset="-122"/>
                <a:cs typeface="MiSans" pitchFamily="34" charset="-120"/>
              </a:rPr>
              <a:t>Networking: Using IoT technology to achieve interconnection between equipment, machines, and systems, enabling production equipment to collaborate with each other and share information.</a:t>
            </a:r>
            <a:endParaRPr lang="en-US" sz="1400" b="0" i="0" dirty="0">
              <a:solidFill>
                <a:srgbClr val="2B2F36"/>
              </a:solidFill>
              <a:latin typeface="MiSans" pitchFamily="34" charset="-122"/>
              <a:ea typeface="MiSans" pitchFamily="34" charset="-122"/>
              <a:cs typeface="MiSans" pitchFamily="34" charset="-120"/>
            </a:endParaRPr>
          </a:p>
          <a:p>
            <a:pPr marL="342900" indent="-342900" algn="l">
              <a:lnSpc>
                <a:spcPct val="100000"/>
              </a:lnSpc>
              <a:spcBef>
                <a:spcPts val="400"/>
              </a:spcBef>
              <a:buClrTx/>
              <a:buSzTx/>
              <a:buFontTx/>
              <a:buAutoNum type="arabicPeriod"/>
            </a:pPr>
            <a:endParaRPr lang="en-US" sz="1400" b="0" i="0" dirty="0">
              <a:solidFill>
                <a:srgbClr val="2B2F36"/>
              </a:solidFill>
              <a:latin typeface="MiSans" pitchFamily="34" charset="-122"/>
              <a:ea typeface="MiSans" pitchFamily="34" charset="-122"/>
              <a:cs typeface="MiSans" pitchFamily="34" charset="-120"/>
            </a:endParaRPr>
          </a:p>
          <a:p>
            <a:pPr marL="342900" indent="-342900" algn="l">
              <a:lnSpc>
                <a:spcPct val="100000"/>
              </a:lnSpc>
              <a:spcBef>
                <a:spcPts val="400"/>
              </a:spcBef>
              <a:buClrTx/>
              <a:buSzTx/>
              <a:buFontTx/>
              <a:buAutoNum type="arabicPeriod"/>
            </a:pPr>
            <a:r>
              <a:rPr lang="en-US" sz="1400" b="0" i="0" dirty="0">
                <a:solidFill>
                  <a:srgbClr val="2B2F36"/>
                </a:solidFill>
                <a:latin typeface="MiSans" pitchFamily="34" charset="-122"/>
                <a:ea typeface="MiSans" pitchFamily="34" charset="-122"/>
                <a:cs typeface="MiSans" pitchFamily="34" charset="-120"/>
              </a:rPr>
              <a:t>Intelligence: Applying artificial intelligence and machine learning algorithms to enable manufacturing systems to independently optimize production processes, predict and respond to problems in production.</a:t>
            </a:r>
            <a:endParaRPr lang="en-US" sz="1400" b="0" i="0" dirty="0">
              <a:solidFill>
                <a:srgbClr val="2B2F36"/>
              </a:solidFill>
              <a:latin typeface="MiSans" pitchFamily="34" charset="-122"/>
              <a:ea typeface="MiSans" pitchFamily="34" charset="-122"/>
              <a:cs typeface="MiSans" pitchFamily="34" charset="-120"/>
            </a:endParaRPr>
          </a:p>
          <a:p>
            <a:pPr marL="342900" indent="-342900" algn="l">
              <a:lnSpc>
                <a:spcPct val="100000"/>
              </a:lnSpc>
              <a:spcBef>
                <a:spcPts val="400"/>
              </a:spcBef>
              <a:buClrTx/>
              <a:buSzTx/>
              <a:buFontTx/>
              <a:buAutoNum type="arabicPeriod"/>
            </a:pPr>
            <a:endParaRPr lang="en-US" sz="1400" b="0" i="0" dirty="0">
              <a:solidFill>
                <a:srgbClr val="2B2F36"/>
              </a:solidFill>
              <a:latin typeface="MiSans" pitchFamily="34" charset="-122"/>
              <a:ea typeface="MiSans" pitchFamily="34" charset="-122"/>
              <a:cs typeface="MiSans" pitchFamily="34" charset="-120"/>
            </a:endParaRPr>
          </a:p>
          <a:p>
            <a:pPr marL="342900" indent="-342900" algn="l">
              <a:lnSpc>
                <a:spcPct val="100000"/>
              </a:lnSpc>
              <a:spcBef>
                <a:spcPts val="400"/>
              </a:spcBef>
              <a:buClrTx/>
              <a:buSzTx/>
              <a:buFontTx/>
              <a:buAutoNum type="arabicPeriod"/>
            </a:pPr>
            <a:r>
              <a:rPr lang="en-US" sz="1400" b="0" i="0" dirty="0">
                <a:solidFill>
                  <a:srgbClr val="2B2F36"/>
                </a:solidFill>
                <a:latin typeface="MiSans" pitchFamily="34" charset="-122"/>
                <a:ea typeface="MiSans" pitchFamily="34" charset="-122"/>
                <a:cs typeface="MiSans" pitchFamily="34" charset="-120"/>
              </a:rPr>
              <a:t>Customization: Realizing personalized customization and small-batch production through flexible production lines and intelligent systems to meet customers' diverse needs.</a:t>
            </a:r>
            <a:endParaRPr lang="en-US" sz="1400" b="0" i="0" dirty="0">
              <a:solidFill>
                <a:srgbClr val="2B2F36"/>
              </a:solidFill>
              <a:latin typeface="MiSans" pitchFamily="34" charset="-122"/>
              <a:ea typeface="MiSans" pitchFamily="34" charset="-122"/>
              <a:cs typeface="MiSans" pitchFamily="34" charset="-120"/>
            </a:endParaRPr>
          </a:p>
          <a:p>
            <a:pPr indent="0" algn="l">
              <a:lnSpc>
                <a:spcPct val="100000"/>
              </a:lnSpc>
              <a:spcBef>
                <a:spcPts val="400"/>
              </a:spcBef>
              <a:buClrTx/>
              <a:buSzTx/>
              <a:buFontTx/>
              <a:buNone/>
            </a:pPr>
            <a:endParaRPr lang="en-US" sz="1400" b="0" i="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Smart Manufacturing Based on Industrial Internet</a:t>
            </a:r>
            <a:endParaRPr lang="en-US" sz="2800" b="1" dirty="0">
              <a:solidFill>
                <a:srgbClr val="2F493E"/>
              </a:solidFill>
              <a:latin typeface="MiSans" pitchFamily="34" charset="-122"/>
              <a:ea typeface="MiSans" pitchFamily="34" charset="-122"/>
              <a:cs typeface="MiSans" pitchFamily="34" charset="-120"/>
            </a:endParaRPr>
          </a:p>
        </p:txBody>
      </p:sp>
      <p:sp>
        <p:nvSpPr>
          <p:cNvPr id="26" name="文本框 25"/>
          <p:cNvSpPr txBox="1"/>
          <p:nvPr/>
        </p:nvSpPr>
        <p:spPr>
          <a:xfrm>
            <a:off x="1090930" y="867410"/>
            <a:ext cx="8759190" cy="3858895"/>
          </a:xfrm>
          <a:prstGeom prst="rect">
            <a:avLst/>
          </a:prstGeom>
        </p:spPr>
        <p:txBody>
          <a:bodyPr>
            <a:noAutofit/>
          </a:bodyPr>
          <a:p>
            <a:pPr indent="0" algn="l">
              <a:lnSpc>
                <a:spcPct val="100000"/>
              </a:lnSpc>
              <a:spcBef>
                <a:spcPts val="400"/>
              </a:spcBef>
              <a:buClrTx/>
              <a:buSzTx/>
              <a:buFontTx/>
              <a:buNone/>
            </a:pPr>
            <a:r>
              <a:rPr lang="en-US" altLang="zh-CN" sz="1400" b="0" i="0" dirty="0">
                <a:solidFill>
                  <a:srgbClr val="2B2F36"/>
                </a:solidFill>
                <a:latin typeface="MiSans" pitchFamily="34" charset="-122"/>
                <a:ea typeface="MiSans" pitchFamily="34" charset="-122"/>
                <a:cs typeface="MiSans" pitchFamily="34" charset="-120"/>
              </a:rPr>
              <a:t>5.    Supply Chain Collaboration: Achieving information sharing and business collaboration among upstream and downstream of the supply chain through the industrial Internet platform to improve the response speed and efficiency of the supply chain.</a:t>
            </a:r>
            <a:endParaRPr lang="en-US" altLang="zh-CN" sz="1400" b="0" i="0" dirty="0">
              <a:solidFill>
                <a:srgbClr val="2B2F36"/>
              </a:solidFill>
              <a:latin typeface="MiSans" pitchFamily="34" charset="-122"/>
              <a:ea typeface="MiSans" pitchFamily="34" charset="-122"/>
              <a:cs typeface="MiSans" pitchFamily="34" charset="-120"/>
            </a:endParaRPr>
          </a:p>
          <a:p>
            <a:pPr indent="0" algn="l">
              <a:lnSpc>
                <a:spcPct val="100000"/>
              </a:lnSpc>
              <a:spcBef>
                <a:spcPts val="400"/>
              </a:spcBef>
              <a:buClrTx/>
              <a:buSzTx/>
              <a:buFontTx/>
              <a:buNone/>
            </a:pPr>
            <a:endParaRPr lang="en-US" altLang="zh-CN" sz="1400" b="0" i="0" dirty="0">
              <a:solidFill>
                <a:srgbClr val="2B2F36"/>
              </a:solidFill>
              <a:latin typeface="MiSans" pitchFamily="34" charset="-122"/>
              <a:ea typeface="MiSans" pitchFamily="34" charset="-122"/>
              <a:cs typeface="MiSans" pitchFamily="34" charset="-120"/>
            </a:endParaRPr>
          </a:p>
          <a:p>
            <a:pPr indent="0" algn="l">
              <a:lnSpc>
                <a:spcPct val="100000"/>
              </a:lnSpc>
              <a:spcBef>
                <a:spcPts val="400"/>
              </a:spcBef>
              <a:buClrTx/>
              <a:buSzTx/>
              <a:buFontTx/>
              <a:buNone/>
            </a:pPr>
            <a:r>
              <a:rPr lang="en-US" altLang="zh-CN" sz="1400" b="0" i="0" dirty="0">
                <a:solidFill>
                  <a:srgbClr val="2B2F36"/>
                </a:solidFill>
                <a:latin typeface="MiSans" pitchFamily="34" charset="-122"/>
                <a:ea typeface="MiSans" pitchFamily="34" charset="-122"/>
                <a:cs typeface="MiSans" pitchFamily="34" charset="-120"/>
              </a:rPr>
              <a:t>6.Intelligent Analysis: Using big data analysis technology to conduct in-depth analysis of production data and provide a scientific basis for decision-making.</a:t>
            </a:r>
            <a:endParaRPr lang="en-US" altLang="zh-CN" sz="1400" b="0" i="0" dirty="0">
              <a:solidFill>
                <a:srgbClr val="2B2F36"/>
              </a:solidFill>
              <a:latin typeface="MiSans" pitchFamily="34" charset="-122"/>
              <a:ea typeface="MiSans" pitchFamily="34" charset="-122"/>
              <a:cs typeface="MiSans" pitchFamily="34" charset="-120"/>
            </a:endParaRPr>
          </a:p>
          <a:p>
            <a:pPr indent="0" algn="l">
              <a:lnSpc>
                <a:spcPct val="100000"/>
              </a:lnSpc>
              <a:spcBef>
                <a:spcPts val="400"/>
              </a:spcBef>
              <a:buClrTx/>
              <a:buSzTx/>
              <a:buFontTx/>
              <a:buNone/>
            </a:pPr>
            <a:endParaRPr lang="en-US" altLang="zh-CN" sz="1400" b="0" i="0" dirty="0">
              <a:solidFill>
                <a:srgbClr val="2B2F36"/>
              </a:solidFill>
              <a:latin typeface="MiSans" pitchFamily="34" charset="-122"/>
              <a:ea typeface="MiSans" pitchFamily="34" charset="-122"/>
              <a:cs typeface="MiSans" pitchFamily="34" charset="-120"/>
            </a:endParaRPr>
          </a:p>
          <a:p>
            <a:pPr indent="0" algn="l">
              <a:lnSpc>
                <a:spcPct val="100000"/>
              </a:lnSpc>
              <a:spcBef>
                <a:spcPts val="400"/>
              </a:spcBef>
              <a:buClrTx/>
              <a:buSzTx/>
              <a:buFontTx/>
              <a:buNone/>
            </a:pPr>
            <a:r>
              <a:rPr lang="en-US" altLang="zh-CN" sz="1400" b="0" i="0" dirty="0">
                <a:solidFill>
                  <a:srgbClr val="2B2F36"/>
                </a:solidFill>
                <a:latin typeface="MiSans" pitchFamily="34" charset="-122"/>
                <a:ea typeface="MiSans" pitchFamily="34" charset="-122"/>
                <a:cs typeface="MiSans" pitchFamily="34" charset="-120"/>
              </a:rPr>
              <a:t>7.    Cloud Services: Providing various services through cloud platforms, such as cloud design, cloud manufacturing, cloud services, etc., to reduce enterprise operating costs and improve resource utilization.</a:t>
            </a:r>
            <a:endParaRPr lang="en-US" altLang="zh-CN" sz="1400" b="0" i="0" dirty="0">
              <a:solidFill>
                <a:srgbClr val="2B2F36"/>
              </a:solidFill>
              <a:latin typeface="MiSans" pitchFamily="34" charset="-122"/>
              <a:ea typeface="MiSans" pitchFamily="34" charset="-122"/>
              <a:cs typeface="MiSans" pitchFamily="34" charset="-120"/>
            </a:endParaRPr>
          </a:p>
          <a:p>
            <a:pPr indent="0" algn="l">
              <a:lnSpc>
                <a:spcPct val="100000"/>
              </a:lnSpc>
              <a:spcBef>
                <a:spcPts val="400"/>
              </a:spcBef>
              <a:buClrTx/>
              <a:buSzTx/>
              <a:buFontTx/>
              <a:buNone/>
            </a:pPr>
            <a:endParaRPr lang="en-US" altLang="zh-CN" sz="1400" b="0" i="0" dirty="0">
              <a:solidFill>
                <a:srgbClr val="2B2F36"/>
              </a:solidFill>
              <a:latin typeface="MiSans" pitchFamily="34" charset="-122"/>
              <a:ea typeface="MiSans" pitchFamily="34" charset="-122"/>
              <a:cs typeface="MiSans" pitchFamily="34" charset="-120"/>
            </a:endParaRPr>
          </a:p>
          <a:p>
            <a:pPr indent="0" algn="l">
              <a:lnSpc>
                <a:spcPct val="100000"/>
              </a:lnSpc>
              <a:spcBef>
                <a:spcPts val="400"/>
              </a:spcBef>
              <a:buClrTx/>
              <a:buSzTx/>
              <a:buFontTx/>
              <a:buNone/>
            </a:pPr>
            <a:r>
              <a:rPr lang="en-US" altLang="zh-CN" sz="1400" b="0" i="0" dirty="0">
                <a:solidFill>
                  <a:srgbClr val="2B2F36"/>
                </a:solidFill>
                <a:latin typeface="MiSans" pitchFamily="34" charset="-122"/>
                <a:ea typeface="MiSans" pitchFamily="34" charset="-122"/>
                <a:cs typeface="MiSans" pitchFamily="34" charset="-120"/>
              </a:rPr>
              <a:t>8.    Security and Maintenance: Combining advanced security technologies and predictive maintenance to ensure the stable operation of production systems and data security.</a:t>
            </a:r>
            <a:endParaRPr lang="en-US" altLang="zh-CN" sz="1400" b="0" i="0" dirty="0">
              <a:solidFill>
                <a:srgbClr val="2B2F36"/>
              </a:solidFill>
              <a:latin typeface="MiSans" pitchFamily="34" charset="-122"/>
              <a:ea typeface="MiSans" pitchFamily="34" charset="-122"/>
              <a:cs typeface="MiSans" pitchFamily="34" charset="-120"/>
            </a:endParaRPr>
          </a:p>
          <a:p>
            <a:pPr indent="0" algn="l">
              <a:lnSpc>
                <a:spcPct val="100000"/>
              </a:lnSpc>
              <a:spcBef>
                <a:spcPts val="400"/>
              </a:spcBef>
              <a:buClrTx/>
              <a:buSzTx/>
              <a:buFontTx/>
              <a:buNone/>
            </a:pPr>
            <a:endParaRPr lang="en-US" altLang="zh-CN" sz="1400" b="0" i="0" dirty="0">
              <a:solidFill>
                <a:srgbClr val="2B2F36"/>
              </a:solidFill>
              <a:latin typeface="MiSans" pitchFamily="34" charset="-122"/>
              <a:ea typeface="MiSans" pitchFamily="34" charset="-122"/>
              <a:cs typeface="MiSans" pitchFamily="34" charset="-120"/>
            </a:endParaRPr>
          </a:p>
          <a:p>
            <a:pPr indent="0" algn="l">
              <a:lnSpc>
                <a:spcPct val="100000"/>
              </a:lnSpc>
              <a:spcBef>
                <a:spcPts val="400"/>
              </a:spcBef>
              <a:buClrTx/>
              <a:buSzTx/>
              <a:buFontTx/>
              <a:buNone/>
            </a:pPr>
            <a:r>
              <a:rPr lang="en-US" altLang="zh-CN" sz="1400" b="0" i="0" dirty="0">
                <a:solidFill>
                  <a:srgbClr val="2B2F36"/>
                </a:solidFill>
                <a:latin typeface="MiSans" pitchFamily="34" charset="-122"/>
                <a:ea typeface="MiSans" pitchFamily="34" charset="-122"/>
                <a:cs typeface="MiSans" pitchFamily="34" charset="-120"/>
              </a:rPr>
              <a:t>9.    Environmental Friendliness: Smart manufacturing focuses on energy management and environmental protection in the production process, and is committed to achieving green manufacturing and sustainable development.</a:t>
            </a:r>
            <a:endParaRPr lang="en-US" altLang="zh-CN" sz="1400" b="0" i="0" dirty="0">
              <a:solidFill>
                <a:srgbClr val="2B2F36"/>
              </a:solidFill>
              <a:latin typeface="MiSans" pitchFamily="34" charset="-122"/>
              <a:ea typeface="MiSans" pitchFamily="34" charset="-122"/>
              <a:cs typeface="MiSans" pitchFamily="34" charset="-120"/>
            </a:endParaRPr>
          </a:p>
          <a:p>
            <a:pPr indent="0" algn="l">
              <a:lnSpc>
                <a:spcPct val="100000"/>
              </a:lnSpc>
              <a:spcBef>
                <a:spcPts val="400"/>
              </a:spcBef>
              <a:buClrTx/>
              <a:buSzTx/>
              <a:buFontTx/>
              <a:buNone/>
            </a:pPr>
            <a:endParaRPr lang="en-US" altLang="zh-CN" sz="1400" b="0" i="0" dirty="0">
              <a:solidFill>
                <a:srgbClr val="2B2F36"/>
              </a:solidFill>
              <a:latin typeface="MiSans" pitchFamily="34" charset="-122"/>
              <a:ea typeface="MiSans" pitchFamily="34" charset="-122"/>
              <a:cs typeface="MiSans" pitchFamily="34" charset="-120"/>
            </a:endParaRPr>
          </a:p>
          <a:p>
            <a:pPr indent="0" algn="l">
              <a:lnSpc>
                <a:spcPct val="100000"/>
              </a:lnSpc>
              <a:spcBef>
                <a:spcPts val="400"/>
              </a:spcBef>
              <a:buClrTx/>
              <a:buSzTx/>
              <a:buFontTx/>
              <a:buNone/>
            </a:pPr>
            <a:r>
              <a:rPr lang="en-US" altLang="zh-CN" sz="1400" b="0" i="0" dirty="0">
                <a:solidFill>
                  <a:srgbClr val="2B2F36"/>
                </a:solidFill>
                <a:latin typeface="MiSans" pitchFamily="34" charset="-122"/>
                <a:ea typeface="MiSans" pitchFamily="34" charset="-122"/>
                <a:cs typeface="MiSans" pitchFamily="34" charset="-120"/>
              </a:rPr>
              <a:t>10.   Human-Machine Collaboration: In a smart manufacturing environment, humans and machines work together. Machines undertake repetitive and high-intensity work, while humans are responsible for creative and decision-making tasks.</a:t>
            </a:r>
            <a:endParaRPr lang="en-US" altLang="zh-CN" sz="1400" b="0" i="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Industrial Internet Plus Intelligent Manufacturing Solutions</a:t>
            </a:r>
            <a:endParaRPr lang="en-US" altLang="zh-CN" sz="2800" b="1" dirty="0">
              <a:solidFill>
                <a:srgbClr val="2F493E"/>
              </a:solidFill>
              <a:latin typeface="MiSans" pitchFamily="34" charset="-122"/>
              <a:ea typeface="MiSans" pitchFamily="34" charset="-122"/>
              <a:cs typeface="MiSans" pitchFamily="34" charset="-120"/>
            </a:endParaRPr>
          </a:p>
        </p:txBody>
      </p:sp>
      <p:pic>
        <p:nvPicPr>
          <p:cNvPr id="9" name="图片 8"/>
          <p:cNvPicPr>
            <a:picLocks noChangeAspect="1"/>
          </p:cNvPicPr>
          <p:nvPr/>
        </p:nvPicPr>
        <p:blipFill>
          <a:blip r:embed="rId1"/>
          <a:stretch>
            <a:fillRect/>
          </a:stretch>
        </p:blipFill>
        <p:spPr>
          <a:xfrm>
            <a:off x="2451100" y="1009015"/>
            <a:ext cx="6410960" cy="48907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953135"/>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Applications of Smart Manufacturing in R&amp;D, Planning, Production, and Quality</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文本框 10"/>
          <p:cNvSpPr txBox="1"/>
          <p:nvPr/>
        </p:nvSpPr>
        <p:spPr>
          <a:xfrm>
            <a:off x="1823085" y="1431290"/>
            <a:ext cx="7576185" cy="1168400"/>
          </a:xfrm>
          <a:prstGeom prst="rect">
            <a:avLst/>
          </a:prstGeom>
          <a:noFill/>
        </p:spPr>
        <p:txBody>
          <a:bodyPr wrap="square" rtlCol="0">
            <a:spAutoFit/>
          </a:bodyPr>
          <a:p>
            <a:r>
              <a:rPr lang="en-US" sz="1400" dirty="0">
                <a:solidFill>
                  <a:srgbClr val="2B2F36"/>
                </a:solidFill>
                <a:latin typeface="MiSans" pitchFamily="34" charset="-122"/>
                <a:ea typeface="MiSans" pitchFamily="34" charset="-122"/>
                <a:cs typeface="MiSans" pitchFamily="34" charset="-120"/>
              </a:rPr>
              <a:t>Intelligent design, intelligent planning, intelligent supply, intelligent production, intelligent quality, and intelligent cost management systems are key components of smart manufacturing. They together form a highly integrated solution to improve the efficiency, flexibility, and responsiveness of the manufacturing process. The following is a detailed introduction to these systems:</a:t>
            </a:r>
            <a:endParaRPr lang="en-US" sz="1400" dirty="0">
              <a:solidFill>
                <a:srgbClr val="2B2F36"/>
              </a:solidFill>
              <a:latin typeface="MiSans" pitchFamily="34" charset="-122"/>
              <a:ea typeface="MiSans" pitchFamily="34" charset="-122"/>
              <a:cs typeface="MiSans" pitchFamily="34" charset="-120"/>
            </a:endParaRPr>
          </a:p>
        </p:txBody>
      </p:sp>
      <p:sp>
        <p:nvSpPr>
          <p:cNvPr id="12" name="文本框 11"/>
          <p:cNvSpPr txBox="1"/>
          <p:nvPr/>
        </p:nvSpPr>
        <p:spPr>
          <a:xfrm>
            <a:off x="1823085" y="2785745"/>
            <a:ext cx="7723505" cy="2676525"/>
          </a:xfrm>
          <a:prstGeom prst="rect">
            <a:avLst/>
          </a:prstGeom>
          <a:noFill/>
        </p:spPr>
        <p:txBody>
          <a:bodyPr wrap="square" rtlCol="0">
            <a:spAutoFit/>
          </a:bodyPr>
          <a:p>
            <a:pPr algn="l">
              <a:buClrTx/>
              <a:buSzTx/>
              <a:buFontTx/>
            </a:pPr>
            <a:r>
              <a:rPr lang="en-US" sz="1400" dirty="0">
                <a:solidFill>
                  <a:srgbClr val="2B2F36"/>
                </a:solidFill>
                <a:latin typeface="MiSans" pitchFamily="34" charset="-122"/>
                <a:ea typeface="MiSans" pitchFamily="34" charset="-122"/>
                <a:cs typeface="MiSans" pitchFamily="34" charset="-120"/>
              </a:rPr>
              <a:t>Intelligent Design Management</a:t>
            </a:r>
            <a:endParaRPr lang="en-US" sz="1400" dirty="0">
              <a:solidFill>
                <a:srgbClr val="2B2F36"/>
              </a:solidFill>
              <a:latin typeface="MiSans" pitchFamily="34" charset="-122"/>
              <a:ea typeface="MiSans" pitchFamily="34" charset="-122"/>
              <a:cs typeface="MiSans" pitchFamily="34" charset="-120"/>
            </a:endParaRPr>
          </a:p>
          <a:p>
            <a:pPr algn="l">
              <a:buClrTx/>
              <a:buSzTx/>
              <a:buFontTx/>
            </a:pPr>
            <a:r>
              <a:rPr lang="en-US" sz="1400" dirty="0">
                <a:solidFill>
                  <a:srgbClr val="2B2F36"/>
                </a:solidFill>
                <a:latin typeface="MiSans" pitchFamily="34" charset="-122"/>
                <a:ea typeface="MiSans" pitchFamily="34" charset="-122"/>
                <a:cs typeface="MiSans" pitchFamily="34" charset="-120"/>
              </a:rPr>
              <a:t>Intelligent design management systems (such as PLM, Product Lifecycle Management) use digital tools to support the entire process of products from concept to market. It includes:</a:t>
            </a:r>
            <a:endParaRPr lang="en-US" sz="1400" dirty="0">
              <a:solidFill>
                <a:srgbClr val="2B2F36"/>
              </a:solidFill>
              <a:latin typeface="MiSans" pitchFamily="34" charset="-122"/>
              <a:ea typeface="MiSans" pitchFamily="34" charset="-122"/>
              <a:cs typeface="MiSans" pitchFamily="34" charset="-120"/>
            </a:endParaRPr>
          </a:p>
          <a:p>
            <a:pPr algn="l">
              <a:buClrTx/>
              <a:buSzTx/>
              <a:buFontTx/>
            </a:pPr>
            <a:endParaRPr lang="en-US" sz="1400" dirty="0">
              <a:solidFill>
                <a:srgbClr val="2B2F36"/>
              </a:solidFill>
              <a:latin typeface="MiSans" pitchFamily="34" charset="-122"/>
              <a:ea typeface="MiSans" pitchFamily="34" charset="-122"/>
              <a:cs typeface="MiSans" pitchFamily="34" charset="-120"/>
            </a:endParaRPr>
          </a:p>
          <a:p>
            <a:pPr marL="285750" indent="-285750" algn="l">
              <a:buClrTx/>
              <a:buSzTx/>
              <a:buFont typeface="Arial" panose="020B0604020202020204" pitchFamily="34" charset="0"/>
              <a:buChar char="•"/>
            </a:pPr>
            <a:r>
              <a:rPr lang="en-US" sz="1400" dirty="0">
                <a:solidFill>
                  <a:srgbClr val="2B2F36"/>
                </a:solidFill>
                <a:latin typeface="MiSans" pitchFamily="34" charset="-122"/>
                <a:ea typeface="MiSans" pitchFamily="34" charset="-122"/>
                <a:cs typeface="MiSans" pitchFamily="34" charset="-120"/>
              </a:rPr>
              <a:t>Standardization work: Ensuring the consistency and reusability of standard parts, raw materials, etc. used in the design process.</a:t>
            </a:r>
            <a:endParaRPr lang="en-US" sz="1400" dirty="0">
              <a:solidFill>
                <a:srgbClr val="2B2F36"/>
              </a:solidFill>
              <a:latin typeface="MiSans" pitchFamily="34" charset="-122"/>
              <a:ea typeface="MiSans" pitchFamily="34" charset="-122"/>
              <a:cs typeface="MiSans" pitchFamily="34" charset="-120"/>
            </a:endParaRPr>
          </a:p>
          <a:p>
            <a:pPr marL="285750" indent="-285750" algn="l">
              <a:buClrTx/>
              <a:buSzTx/>
              <a:buFont typeface="Arial" panose="020B0604020202020204" pitchFamily="34" charset="0"/>
              <a:buChar char="•"/>
            </a:pPr>
            <a:endParaRPr lang="en-US" sz="1400" dirty="0">
              <a:solidFill>
                <a:srgbClr val="2B2F36"/>
              </a:solidFill>
              <a:latin typeface="MiSans" pitchFamily="34" charset="-122"/>
              <a:ea typeface="MiSans" pitchFamily="34" charset="-122"/>
              <a:cs typeface="MiSans" pitchFamily="34" charset="-120"/>
            </a:endParaRPr>
          </a:p>
          <a:p>
            <a:pPr marL="285750" indent="-285750" algn="l">
              <a:buClrTx/>
              <a:buSzTx/>
              <a:buFont typeface="Arial" panose="020B0604020202020204" pitchFamily="34" charset="0"/>
              <a:buChar char="•"/>
            </a:pPr>
            <a:r>
              <a:rPr lang="en-US" sz="1400" dirty="0">
                <a:solidFill>
                  <a:srgbClr val="2B2F36"/>
                </a:solidFill>
                <a:latin typeface="MiSans" pitchFamily="34" charset="-122"/>
                <a:ea typeface="MiSans" pitchFamily="34" charset="-122"/>
                <a:cs typeface="MiSans" pitchFamily="34" charset="-120"/>
              </a:rPr>
              <a:t>Project management: Realizing the standardization of the R&amp;D process through methods such as WBS (Work Breakdown Structure).</a:t>
            </a:r>
            <a:endParaRPr lang="en-US" sz="1400" dirty="0">
              <a:solidFill>
                <a:srgbClr val="2B2F36"/>
              </a:solidFill>
              <a:latin typeface="MiSans" pitchFamily="34" charset="-122"/>
              <a:ea typeface="MiSans" pitchFamily="34" charset="-122"/>
              <a:cs typeface="MiSans" pitchFamily="34" charset="-120"/>
            </a:endParaRPr>
          </a:p>
          <a:p>
            <a:pPr marL="285750" indent="-285750" algn="l">
              <a:buClrTx/>
              <a:buSzTx/>
              <a:buFont typeface="Arial" panose="020B0604020202020204" pitchFamily="34" charset="0"/>
              <a:buChar char="•"/>
            </a:pPr>
            <a:endParaRPr lang="en-US" sz="1400" dirty="0">
              <a:solidFill>
                <a:srgbClr val="2B2F36"/>
              </a:solidFill>
              <a:latin typeface="MiSans" pitchFamily="34" charset="-122"/>
              <a:ea typeface="MiSans" pitchFamily="34" charset="-122"/>
              <a:cs typeface="MiSans" pitchFamily="34" charset="-120"/>
            </a:endParaRPr>
          </a:p>
          <a:p>
            <a:pPr marL="285750" indent="-285750" algn="l">
              <a:buClrTx/>
              <a:buSzTx/>
              <a:buFont typeface="Arial" panose="020B0604020202020204" pitchFamily="34" charset="0"/>
              <a:buChar char="•"/>
            </a:pPr>
            <a:r>
              <a:rPr lang="en-US" sz="1400" dirty="0">
                <a:solidFill>
                  <a:srgbClr val="2B2F36"/>
                </a:solidFill>
                <a:latin typeface="MiSans" pitchFamily="34" charset="-122"/>
                <a:ea typeface="MiSans" pitchFamily="34" charset="-122"/>
                <a:cs typeface="MiSans" pitchFamily="34" charset="-120"/>
              </a:rPr>
              <a:t>Data-driven design: Using data analysis to optimize design, reduce iterations, and accelerate product launch time.</a:t>
            </a:r>
            <a:endParaRPr lang="en-US" sz="140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953135"/>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Applications of Smart Manufacturing in R&amp;D, Planning, Production, and Quality</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9" name="文本框 8"/>
          <p:cNvSpPr txBox="1"/>
          <p:nvPr/>
        </p:nvSpPr>
        <p:spPr>
          <a:xfrm>
            <a:off x="1090930" y="1448435"/>
            <a:ext cx="8317230" cy="2183765"/>
          </a:xfrm>
          <a:prstGeom prst="rect">
            <a:avLst/>
          </a:prstGeom>
        </p:spPr>
        <p:txBody>
          <a:bodyPr wrap="square">
            <a:spAutoFit/>
          </a:bodyPr>
          <a:p>
            <a:pPr marL="0" algn="l">
              <a:lnSpc>
                <a:spcPct val="100000"/>
              </a:lnSpc>
              <a:buClrTx/>
              <a:buSzTx/>
              <a:buNone/>
            </a:pPr>
            <a:r>
              <a:rPr lang="en-US" sz="1400" b="0" i="0" dirty="0">
                <a:solidFill>
                  <a:srgbClr val="2B2F36"/>
                </a:solidFill>
                <a:latin typeface="MiSans" pitchFamily="34" charset="-122"/>
                <a:ea typeface="MiSans" pitchFamily="34" charset="-122"/>
                <a:cs typeface="MiSans" pitchFamily="34" charset="-120"/>
              </a:rPr>
              <a:t>Intelligent Planning Management</a:t>
            </a:r>
            <a:endParaRPr lang="en-US" sz="1400" b="0" i="0" dirty="0">
              <a:solidFill>
                <a:srgbClr val="2B2F36"/>
              </a:solidFill>
              <a:latin typeface="MiSans" pitchFamily="34" charset="-122"/>
              <a:ea typeface="MiSans" pitchFamily="34" charset="-122"/>
              <a:cs typeface="MiSans" pitchFamily="34" charset="-120"/>
            </a:endParaRPr>
          </a:p>
          <a:p>
            <a:pPr marL="0" algn="l">
              <a:lnSpc>
                <a:spcPct val="100000"/>
              </a:lnSpc>
              <a:buClrTx/>
              <a:buSzTx/>
              <a:buNone/>
            </a:pPr>
            <a:r>
              <a:rPr lang="en-US" sz="1400" b="0" i="0" dirty="0">
                <a:solidFill>
                  <a:srgbClr val="2B2F36"/>
                </a:solidFill>
                <a:latin typeface="MiSans" pitchFamily="34" charset="-122"/>
                <a:ea typeface="MiSans" pitchFamily="34" charset="-122"/>
                <a:cs typeface="MiSans" pitchFamily="34" charset="-120"/>
              </a:rPr>
              <a:t>Intelligent planning systems (such as APS, Advanced Planning and Scheduling) optimize production planning and scheduling through advanced algorithms:</a:t>
            </a:r>
            <a:endParaRPr lang="en-US" sz="1400" b="0" i="0" dirty="0">
              <a:solidFill>
                <a:srgbClr val="2B2F36"/>
              </a:solidFill>
              <a:latin typeface="MiSans" pitchFamily="34" charset="-122"/>
              <a:ea typeface="MiSans" pitchFamily="34" charset="-122"/>
              <a:cs typeface="MiSans" pitchFamily="34" charset="-120"/>
            </a:endParaRPr>
          </a:p>
          <a:p>
            <a:pPr marL="0" algn="l">
              <a:lnSpc>
                <a:spcPct val="100000"/>
              </a:lnSpc>
              <a:spcBef>
                <a:spcPts val="400"/>
              </a:spcBef>
              <a:buClrTx/>
              <a:buSzTx/>
              <a:buFont typeface="Arial" panose="020B0604020202020204"/>
              <a:buChar char="•"/>
            </a:pPr>
            <a:r>
              <a:rPr lang="en-US" sz="1400" b="0" i="0" dirty="0">
                <a:solidFill>
                  <a:srgbClr val="2B2F36"/>
                </a:solidFill>
                <a:latin typeface="MiSans" pitchFamily="34" charset="-122"/>
                <a:ea typeface="MiSans" pitchFamily="34" charset="-122"/>
                <a:cs typeface="MiSans" pitchFamily="34" charset="-120"/>
              </a:rPr>
              <a:t>Multi-level application: From simple batch planning to complex Material Requirements Planning (MRP) and finite capacity scheduling.</a:t>
            </a:r>
            <a:endParaRPr lang="en-US" sz="1400" b="0" i="0" dirty="0">
              <a:solidFill>
                <a:srgbClr val="2B2F36"/>
              </a:solidFill>
              <a:latin typeface="MiSans" pitchFamily="34" charset="-122"/>
              <a:ea typeface="MiSans" pitchFamily="34" charset="-122"/>
              <a:cs typeface="MiSans" pitchFamily="34" charset="-120"/>
            </a:endParaRPr>
          </a:p>
          <a:p>
            <a:pPr marL="0" algn="l">
              <a:lnSpc>
                <a:spcPct val="100000"/>
              </a:lnSpc>
              <a:spcBef>
                <a:spcPts val="400"/>
              </a:spcBef>
              <a:buClrTx/>
              <a:buSzTx/>
              <a:buFont typeface="Arial" panose="020B0604020202020204"/>
              <a:buChar char="•"/>
            </a:pPr>
            <a:r>
              <a:rPr lang="en-US" sz="1400" b="0" i="0" dirty="0">
                <a:solidFill>
                  <a:srgbClr val="2B2F36"/>
                </a:solidFill>
                <a:latin typeface="MiSans" pitchFamily="34" charset="-122"/>
                <a:ea typeface="MiSans" pitchFamily="34" charset="-122"/>
                <a:cs typeface="MiSans" pitchFamily="34" charset="-120"/>
              </a:rPr>
              <a:t>Improving plan executability: Establishing scientific and reasonable plans by comprehensively considering various production factors through the system.</a:t>
            </a:r>
            <a:endParaRPr lang="en-US" sz="1400" b="0" i="0" dirty="0">
              <a:solidFill>
                <a:srgbClr val="2B2F36"/>
              </a:solidFill>
              <a:latin typeface="MiSans" pitchFamily="34" charset="-122"/>
              <a:ea typeface="MiSans" pitchFamily="34" charset="-122"/>
              <a:cs typeface="MiSans" pitchFamily="34" charset="-120"/>
            </a:endParaRPr>
          </a:p>
          <a:p>
            <a:pPr marL="0" algn="l">
              <a:lnSpc>
                <a:spcPct val="100000"/>
              </a:lnSpc>
              <a:spcBef>
                <a:spcPts val="400"/>
              </a:spcBef>
              <a:buClrTx/>
              <a:buSzTx/>
              <a:buFont typeface="Arial" panose="020B0604020202020204"/>
              <a:buChar char="•"/>
            </a:pPr>
            <a:r>
              <a:rPr lang="en-US" sz="1400" b="0" i="0" dirty="0">
                <a:solidFill>
                  <a:srgbClr val="2B2F36"/>
                </a:solidFill>
                <a:latin typeface="MiSans" pitchFamily="34" charset="-122"/>
                <a:ea typeface="MiSans" pitchFamily="34" charset="-122"/>
                <a:cs typeface="MiSans" pitchFamily="34" charset="-120"/>
              </a:rPr>
              <a:t>Dual-mode scheduling: Combining different scheduling algorithms, such as the earliest start algorithm , to adapt to different production needs.</a:t>
            </a:r>
            <a:endParaRPr lang="en-US" sz="1400" b="0" i="0" dirty="0">
              <a:solidFill>
                <a:srgbClr val="2B2F36"/>
              </a:solidFill>
              <a:latin typeface="MiSans" pitchFamily="34" charset="-122"/>
              <a:ea typeface="MiSans" pitchFamily="34" charset="-122"/>
              <a:cs typeface="MiSans" pitchFamily="34" charset="-120"/>
            </a:endParaRPr>
          </a:p>
        </p:txBody>
      </p:sp>
      <p:sp>
        <p:nvSpPr>
          <p:cNvPr id="10" name="文本框 9"/>
          <p:cNvSpPr txBox="1"/>
          <p:nvPr/>
        </p:nvSpPr>
        <p:spPr>
          <a:xfrm>
            <a:off x="1090930" y="3792855"/>
            <a:ext cx="9058910" cy="2286635"/>
          </a:xfrm>
          <a:prstGeom prst="rect">
            <a:avLst/>
          </a:prstGeom>
          <a:noFill/>
        </p:spPr>
        <p:txBody>
          <a:bodyPr wrap="square" rtlCol="0">
            <a:spAutoFit/>
          </a:bodyPr>
          <a:p>
            <a:pPr indent="0" algn="l">
              <a:spcBef>
                <a:spcPts val="400"/>
              </a:spcBef>
              <a:buClrTx/>
              <a:buSzTx/>
              <a:buFont typeface="Arial" panose="020B0604020202020204"/>
              <a:buNone/>
            </a:pPr>
            <a:r>
              <a:rPr lang="en-US" sz="1400" dirty="0">
                <a:solidFill>
                  <a:srgbClr val="2B2F36"/>
                </a:solidFill>
                <a:latin typeface="MiSans" pitchFamily="34" charset="-122"/>
                <a:ea typeface="MiSans" pitchFamily="34" charset="-122"/>
                <a:cs typeface="MiSans" pitchFamily="34" charset="-120"/>
              </a:rPr>
              <a:t> Intelligent Supply Management</a:t>
            </a:r>
            <a:endParaRPr lang="en-US" sz="1400" dirty="0">
              <a:solidFill>
                <a:srgbClr val="2B2F36"/>
              </a:solidFill>
              <a:latin typeface="MiSans" pitchFamily="34" charset="-122"/>
              <a:ea typeface="MiSans" pitchFamily="34" charset="-122"/>
              <a:cs typeface="MiSans" pitchFamily="34" charset="-120"/>
            </a:endParaRPr>
          </a:p>
          <a:p>
            <a:pPr algn="l">
              <a:spcBef>
                <a:spcPts val="400"/>
              </a:spcBef>
              <a:buClrTx/>
              <a:buSzTx/>
              <a:buFont typeface="Arial" panose="020B0604020202020204"/>
              <a:buChar char="•"/>
            </a:pPr>
            <a:r>
              <a:rPr lang="en-US" sz="1400" dirty="0">
                <a:solidFill>
                  <a:srgbClr val="2B2F36"/>
                </a:solidFill>
                <a:latin typeface="MiSans" pitchFamily="34" charset="-122"/>
                <a:ea typeface="MiSans" pitchFamily="34" charset="-122"/>
                <a:cs typeface="MiSans" pitchFamily="34" charset="-120"/>
              </a:rPr>
              <a:t>Intelligent supply management systems (such as WMS, Warehouse Management System) optimize inventory and logistics in the following ways:</a:t>
            </a:r>
            <a:endParaRPr lang="en-US" sz="1400" dirty="0">
              <a:solidFill>
                <a:srgbClr val="2B2F36"/>
              </a:solidFill>
              <a:latin typeface="MiSans" pitchFamily="34" charset="-122"/>
              <a:ea typeface="MiSans" pitchFamily="34" charset="-122"/>
              <a:cs typeface="MiSans" pitchFamily="34" charset="-120"/>
            </a:endParaRPr>
          </a:p>
          <a:p>
            <a:pPr algn="l">
              <a:spcBef>
                <a:spcPts val="400"/>
              </a:spcBef>
              <a:buClrTx/>
              <a:buSzTx/>
              <a:buFont typeface="Arial" panose="020B0604020202020204"/>
              <a:buChar char="•"/>
            </a:pPr>
            <a:endParaRPr lang="en-US" sz="1400" dirty="0">
              <a:solidFill>
                <a:srgbClr val="2B2F36"/>
              </a:solidFill>
              <a:latin typeface="MiSans" pitchFamily="34" charset="-122"/>
              <a:ea typeface="MiSans" pitchFamily="34" charset="-122"/>
              <a:cs typeface="MiSans" pitchFamily="34" charset="-120"/>
            </a:endParaRPr>
          </a:p>
          <a:p>
            <a:pPr algn="l">
              <a:spcBef>
                <a:spcPts val="400"/>
              </a:spcBef>
              <a:buClrTx/>
              <a:buSzTx/>
              <a:buFont typeface="Arial" panose="020B0604020202020204"/>
              <a:buChar char="•"/>
            </a:pPr>
            <a:r>
              <a:rPr lang="en-US" sz="1400" dirty="0">
                <a:solidFill>
                  <a:srgbClr val="2B2F36"/>
                </a:solidFill>
                <a:latin typeface="MiSans" pitchFamily="34" charset="-122"/>
                <a:ea typeface="MiSans" pitchFamily="34" charset="-122"/>
                <a:cs typeface="MiSans" pitchFamily="34" charset="-120"/>
              </a:rPr>
              <a:t>Warehouse management: Refining to the level of storage locations and operations to improve warehouse operation efficiency.</a:t>
            </a:r>
            <a:endParaRPr lang="en-US" sz="1400" dirty="0">
              <a:solidFill>
                <a:srgbClr val="2B2F36"/>
              </a:solidFill>
              <a:latin typeface="MiSans" pitchFamily="34" charset="-122"/>
              <a:ea typeface="MiSans" pitchFamily="34" charset="-122"/>
              <a:cs typeface="MiSans" pitchFamily="34" charset="-120"/>
            </a:endParaRPr>
          </a:p>
          <a:p>
            <a:pPr algn="l">
              <a:spcBef>
                <a:spcPts val="400"/>
              </a:spcBef>
              <a:buClrTx/>
              <a:buSzTx/>
              <a:buFont typeface="Arial" panose="020B0604020202020204"/>
              <a:buChar char="•"/>
            </a:pPr>
            <a:r>
              <a:rPr lang="en-US" sz="1400" dirty="0">
                <a:solidFill>
                  <a:srgbClr val="2B2F36"/>
                </a:solidFill>
                <a:latin typeface="MiSans" pitchFamily="34" charset="-122"/>
                <a:ea typeface="MiSans" pitchFamily="34" charset="-122"/>
                <a:cs typeface="MiSans" pitchFamily="34" charset="-120"/>
              </a:rPr>
              <a:t>Barcode and RFID technology: Enabling accurate tracking and management of goods.</a:t>
            </a:r>
            <a:endParaRPr lang="en-US" sz="1400" dirty="0">
              <a:solidFill>
                <a:srgbClr val="2B2F36"/>
              </a:solidFill>
              <a:latin typeface="MiSans" pitchFamily="34" charset="-122"/>
              <a:ea typeface="MiSans" pitchFamily="34" charset="-122"/>
              <a:cs typeface="MiSans" pitchFamily="34" charset="-120"/>
            </a:endParaRPr>
          </a:p>
          <a:p>
            <a:pPr algn="l">
              <a:spcBef>
                <a:spcPts val="400"/>
              </a:spcBef>
              <a:buClrTx/>
              <a:buSzTx/>
              <a:buFont typeface="Arial" panose="020B0604020202020204"/>
              <a:buChar char="•"/>
            </a:pPr>
            <a:r>
              <a:rPr lang="en-US" sz="1400" dirty="0">
                <a:solidFill>
                  <a:srgbClr val="2B2F36"/>
                </a:solidFill>
                <a:latin typeface="MiSans" pitchFamily="34" charset="-122"/>
                <a:ea typeface="MiSans" pitchFamily="34" charset="-122"/>
                <a:cs typeface="MiSans" pitchFamily="34" charset="-120"/>
              </a:rPr>
              <a:t>Multi-level functional architecture: Realizing complex warehousing strategies and process automation based on an independent data platform.</a:t>
            </a:r>
            <a:endParaRPr lang="en-US" sz="140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953135"/>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Applications of Smart Manufacturing in R&amp;D, Planning, Production, and Quality</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9" name="文本框 8"/>
          <p:cNvSpPr txBox="1"/>
          <p:nvPr/>
        </p:nvSpPr>
        <p:spPr>
          <a:xfrm>
            <a:off x="1090930" y="1362075"/>
            <a:ext cx="8317230" cy="2461260"/>
          </a:xfrm>
          <a:prstGeom prst="rect">
            <a:avLst/>
          </a:prstGeom>
        </p:spPr>
        <p:txBody>
          <a:bodyPr wrap="square">
            <a:spAutoFit/>
          </a:bodyPr>
          <a:p>
            <a:pPr marL="0" algn="l">
              <a:lnSpc>
                <a:spcPct val="100000"/>
              </a:lnSpc>
              <a:buClrTx/>
              <a:buSzTx/>
              <a:buNone/>
            </a:pPr>
            <a:r>
              <a:rPr lang="en-US" altLang="zh-CN" sz="1400" b="0" i="0" dirty="0">
                <a:solidFill>
                  <a:srgbClr val="2B2F36"/>
                </a:solidFill>
                <a:latin typeface="MiSans" pitchFamily="34" charset="-122"/>
                <a:ea typeface="MiSans" pitchFamily="34" charset="-122"/>
                <a:cs typeface="MiSans" pitchFamily="34" charset="-120"/>
              </a:rPr>
              <a:t>Intelligent Production Management</a:t>
            </a:r>
            <a:endParaRPr lang="en-US" altLang="zh-CN" sz="1400" b="0" i="0" dirty="0">
              <a:solidFill>
                <a:srgbClr val="2B2F36"/>
              </a:solidFill>
              <a:latin typeface="MiSans" pitchFamily="34" charset="-122"/>
              <a:ea typeface="MiSans" pitchFamily="34" charset="-122"/>
              <a:cs typeface="MiSans" pitchFamily="34" charset="-120"/>
            </a:endParaRPr>
          </a:p>
          <a:p>
            <a:pPr marL="0" algn="l">
              <a:lnSpc>
                <a:spcPct val="100000"/>
              </a:lnSpc>
              <a:buClrTx/>
              <a:buSzTx/>
              <a:buNone/>
            </a:pPr>
            <a:r>
              <a:rPr lang="en-US" altLang="zh-CN" sz="1400" b="0" i="0" dirty="0">
                <a:solidFill>
                  <a:srgbClr val="2B2F36"/>
                </a:solidFill>
                <a:latin typeface="MiSans" pitchFamily="34" charset="-122"/>
                <a:ea typeface="MiSans" pitchFamily="34" charset="-122"/>
                <a:cs typeface="MiSans" pitchFamily="34" charset="-120"/>
              </a:rPr>
              <a:t>The Manufacturing Execution System (MES) is the core of intelligent production management, which includes:</a:t>
            </a:r>
            <a:endParaRPr lang="en-US" altLang="zh-CN" sz="1400" b="0" i="0" dirty="0">
              <a:solidFill>
                <a:srgbClr val="2B2F36"/>
              </a:solidFill>
              <a:latin typeface="MiSans" pitchFamily="34" charset="-122"/>
              <a:ea typeface="MiSans" pitchFamily="34" charset="-122"/>
              <a:cs typeface="MiSans" pitchFamily="34" charset="-120"/>
            </a:endParaRPr>
          </a:p>
          <a:p>
            <a:pPr marL="0" algn="l">
              <a:lnSpc>
                <a:spcPct val="100000"/>
              </a:lnSpc>
              <a:buClrTx/>
              <a:buSzTx/>
              <a:buNone/>
            </a:pPr>
            <a:endParaRPr lang="en-US" altLang="zh-CN" sz="1400" b="0" i="0" dirty="0">
              <a:solidFill>
                <a:srgbClr val="2B2F36"/>
              </a:solidFill>
              <a:latin typeface="MiSans" pitchFamily="34" charset="-122"/>
              <a:ea typeface="MiSans" pitchFamily="34" charset="-122"/>
              <a:cs typeface="MiSans" pitchFamily="34" charset="-120"/>
            </a:endParaRPr>
          </a:p>
          <a:p>
            <a:pPr marL="285750" indent="-285750" algn="l">
              <a:lnSpc>
                <a:spcPct val="100000"/>
              </a:lnSpc>
              <a:buClrTx/>
              <a:buSzTx/>
              <a:buFont typeface="Arial" panose="020B0604020202020204" pitchFamily="34" charset="0"/>
              <a:buChar char="•"/>
            </a:pPr>
            <a:r>
              <a:rPr lang="en-US" altLang="zh-CN" sz="1400" b="0" i="0" dirty="0">
                <a:solidFill>
                  <a:srgbClr val="2B2F36"/>
                </a:solidFill>
                <a:latin typeface="MiSans" pitchFamily="34" charset="-122"/>
                <a:ea typeface="MiSans" pitchFamily="34" charset="-122"/>
                <a:cs typeface="MiSans" pitchFamily="34" charset="-120"/>
              </a:rPr>
              <a:t>Production process management: Real-time monitoring of production progress to ensure the execution of production plans.</a:t>
            </a:r>
            <a:endParaRPr lang="en-US" altLang="zh-CN" sz="1400" b="0" i="0" dirty="0">
              <a:solidFill>
                <a:srgbClr val="2B2F36"/>
              </a:solidFill>
              <a:latin typeface="MiSans" pitchFamily="34" charset="-122"/>
              <a:ea typeface="MiSans" pitchFamily="34" charset="-122"/>
              <a:cs typeface="MiSans" pitchFamily="34" charset="-120"/>
            </a:endParaRPr>
          </a:p>
          <a:p>
            <a:pPr marL="285750" indent="-285750" algn="l">
              <a:lnSpc>
                <a:spcPct val="100000"/>
              </a:lnSpc>
              <a:buClrTx/>
              <a:buSzTx/>
              <a:buFont typeface="Arial" panose="020B0604020202020204" pitchFamily="34" charset="0"/>
              <a:buChar char="•"/>
            </a:pPr>
            <a:r>
              <a:rPr lang="en-US" altLang="zh-CN" sz="1400" b="0" i="0" dirty="0">
                <a:solidFill>
                  <a:srgbClr val="2B2F36"/>
                </a:solidFill>
                <a:latin typeface="MiSans" pitchFamily="34" charset="-122"/>
                <a:ea typeface="MiSans" pitchFamily="34" charset="-122"/>
                <a:cs typeface="MiSans" pitchFamily="34" charset="-120"/>
              </a:rPr>
              <a:t>Process management: Optimizing production processes to improve production efficiency and product quality.</a:t>
            </a:r>
            <a:endParaRPr lang="en-US" altLang="zh-CN" sz="1400" b="0" i="0" dirty="0">
              <a:solidFill>
                <a:srgbClr val="2B2F36"/>
              </a:solidFill>
              <a:latin typeface="MiSans" pitchFamily="34" charset="-122"/>
              <a:ea typeface="MiSans" pitchFamily="34" charset="-122"/>
              <a:cs typeface="MiSans" pitchFamily="34" charset="-120"/>
            </a:endParaRPr>
          </a:p>
          <a:p>
            <a:pPr marL="285750" indent="-285750" algn="l">
              <a:lnSpc>
                <a:spcPct val="100000"/>
              </a:lnSpc>
              <a:buClrTx/>
              <a:buSzTx/>
              <a:buFont typeface="Arial" panose="020B0604020202020204" pitchFamily="34" charset="0"/>
              <a:buChar char="•"/>
            </a:pPr>
            <a:r>
              <a:rPr lang="en-US" altLang="zh-CN" sz="1400" b="0" i="0" dirty="0">
                <a:solidFill>
                  <a:srgbClr val="2B2F36"/>
                </a:solidFill>
                <a:latin typeface="MiSans" pitchFamily="34" charset="-122"/>
                <a:ea typeface="MiSans" pitchFamily="34" charset="-122"/>
                <a:cs typeface="MiSans" pitchFamily="34" charset="-120"/>
              </a:rPr>
              <a:t>Material management: Precisely controlling the use and flow of materials to reduce waste.</a:t>
            </a:r>
            <a:endParaRPr lang="en-US" altLang="zh-CN" sz="1400" b="0" i="0" dirty="0">
              <a:solidFill>
                <a:srgbClr val="2B2F36"/>
              </a:solidFill>
              <a:latin typeface="MiSans" pitchFamily="34" charset="-122"/>
              <a:ea typeface="MiSans" pitchFamily="34" charset="-122"/>
              <a:cs typeface="MiSans" pitchFamily="34" charset="-120"/>
            </a:endParaRPr>
          </a:p>
          <a:p>
            <a:pPr marL="285750" indent="-285750" algn="l">
              <a:lnSpc>
                <a:spcPct val="100000"/>
              </a:lnSpc>
              <a:buClrTx/>
              <a:buSzTx/>
              <a:buFont typeface="Arial" panose="020B0604020202020204" pitchFamily="34" charset="0"/>
              <a:buChar char="•"/>
            </a:pPr>
            <a:r>
              <a:rPr lang="en-US" altLang="zh-CN" sz="1400" b="0" i="0" dirty="0">
                <a:solidFill>
                  <a:srgbClr val="2B2F36"/>
                </a:solidFill>
                <a:latin typeface="MiSans" pitchFamily="34" charset="-122"/>
                <a:ea typeface="MiSans" pitchFamily="34" charset="-122"/>
                <a:cs typeface="MiSans" pitchFamily="34" charset="-120"/>
              </a:rPr>
              <a:t>Quality traceability: Recording production data to realize the whole-process traceability of product quality.</a:t>
            </a:r>
            <a:endParaRPr lang="en-US" altLang="zh-CN" sz="1400" b="0" i="0" dirty="0">
              <a:solidFill>
                <a:srgbClr val="2B2F36"/>
              </a:solidFill>
              <a:latin typeface="MiSans" pitchFamily="34" charset="-122"/>
              <a:ea typeface="MiSans" pitchFamily="34" charset="-122"/>
              <a:cs typeface="MiSans" pitchFamily="34" charset="-120"/>
            </a:endParaRPr>
          </a:p>
        </p:txBody>
      </p:sp>
      <p:sp>
        <p:nvSpPr>
          <p:cNvPr id="10" name="文本框 9"/>
          <p:cNvSpPr txBox="1"/>
          <p:nvPr/>
        </p:nvSpPr>
        <p:spPr>
          <a:xfrm>
            <a:off x="1153160" y="3916680"/>
            <a:ext cx="9058910" cy="2071370"/>
          </a:xfrm>
          <a:prstGeom prst="rect">
            <a:avLst/>
          </a:prstGeom>
          <a:noFill/>
        </p:spPr>
        <p:txBody>
          <a:bodyPr wrap="square" rtlCol="0">
            <a:spAutoFit/>
          </a:bodyPr>
          <a:p>
            <a:pPr indent="0" algn="l">
              <a:spcBef>
                <a:spcPts val="400"/>
              </a:spcBef>
              <a:buClrTx/>
              <a:buSzTx/>
              <a:buFont typeface="Arial" panose="020B0604020202020204"/>
              <a:buNone/>
            </a:pPr>
            <a:r>
              <a:rPr lang="en-US" altLang="zh-CN" sz="1400" dirty="0">
                <a:solidFill>
                  <a:srgbClr val="2B2F36"/>
                </a:solidFill>
                <a:latin typeface="MiSans" pitchFamily="34" charset="-122"/>
                <a:ea typeface="MiSans" pitchFamily="34" charset="-122"/>
                <a:cs typeface="MiSans" pitchFamily="34" charset="-120"/>
              </a:rPr>
              <a:t>Intelligent Quality Management</a:t>
            </a:r>
            <a:endParaRPr lang="en-US" altLang="zh-CN" sz="1400" dirty="0">
              <a:solidFill>
                <a:srgbClr val="2B2F36"/>
              </a:solidFill>
              <a:latin typeface="MiSans" pitchFamily="34" charset="-122"/>
              <a:ea typeface="MiSans" pitchFamily="34" charset="-122"/>
              <a:cs typeface="MiSans" pitchFamily="34" charset="-120"/>
            </a:endParaRPr>
          </a:p>
          <a:p>
            <a:pPr indent="0" algn="l">
              <a:spcBef>
                <a:spcPts val="400"/>
              </a:spcBef>
              <a:buClrTx/>
              <a:buSzTx/>
              <a:buFont typeface="Arial" panose="020B0604020202020204"/>
              <a:buNone/>
            </a:pPr>
            <a:r>
              <a:rPr lang="en-US" altLang="zh-CN" sz="1400" dirty="0">
                <a:solidFill>
                  <a:srgbClr val="2B2F36"/>
                </a:solidFill>
                <a:latin typeface="MiSans" pitchFamily="34" charset="-122"/>
                <a:ea typeface="MiSans" pitchFamily="34" charset="-122"/>
                <a:cs typeface="MiSans" pitchFamily="34" charset="-120"/>
              </a:rPr>
              <a:t>Intelligent quality management systems ensure product quality in the following ways:</a:t>
            </a:r>
            <a:endParaRPr lang="en-US" altLang="zh-CN" sz="1400" dirty="0">
              <a:solidFill>
                <a:srgbClr val="2B2F36"/>
              </a:solidFill>
              <a:latin typeface="MiSans" pitchFamily="34" charset="-122"/>
              <a:ea typeface="MiSans" pitchFamily="34" charset="-122"/>
              <a:cs typeface="MiSans" pitchFamily="34" charset="-120"/>
            </a:endParaRPr>
          </a:p>
          <a:p>
            <a:pPr indent="0" algn="l">
              <a:spcBef>
                <a:spcPts val="400"/>
              </a:spcBef>
              <a:buClrTx/>
              <a:buSzTx/>
              <a:buFont typeface="Arial" panose="020B0604020202020204"/>
              <a:buNone/>
            </a:pPr>
            <a:endParaRPr lang="en-US" altLang="zh-CN" sz="1400" dirty="0">
              <a:solidFill>
                <a:srgbClr val="2B2F36"/>
              </a:solidFill>
              <a:latin typeface="MiSans" pitchFamily="34" charset="-122"/>
              <a:ea typeface="MiSans" pitchFamily="34" charset="-122"/>
              <a:cs typeface="MiSans" pitchFamily="34" charset="-120"/>
            </a:endParaRPr>
          </a:p>
          <a:p>
            <a:pPr marL="285750" indent="-285750" algn="l">
              <a:spcBef>
                <a:spcPts val="400"/>
              </a:spcBef>
              <a:buClrTx/>
              <a:buSzTx/>
              <a:buFont typeface="Arial" panose="020B0604020202020204" pitchFamily="34" charset="0"/>
              <a:buChar char="•"/>
            </a:pPr>
            <a:r>
              <a:rPr lang="en-US" altLang="zh-CN" sz="1400" dirty="0">
                <a:solidFill>
                  <a:srgbClr val="2B2F36"/>
                </a:solidFill>
                <a:latin typeface="MiSans" pitchFamily="34" charset="-122"/>
                <a:ea typeface="MiSans" pitchFamily="34" charset="-122"/>
                <a:cs typeface="MiSans" pitchFamily="34" charset="-120"/>
              </a:rPr>
              <a:t>Quality inspection: Automated quality inspection processes to timely detect and solve quality problems.</a:t>
            </a:r>
            <a:endParaRPr lang="en-US" altLang="zh-CN" sz="1400" dirty="0">
              <a:solidFill>
                <a:srgbClr val="2B2F36"/>
              </a:solidFill>
              <a:latin typeface="MiSans" pitchFamily="34" charset="-122"/>
              <a:ea typeface="MiSans" pitchFamily="34" charset="-122"/>
              <a:cs typeface="MiSans" pitchFamily="34" charset="-120"/>
            </a:endParaRPr>
          </a:p>
          <a:p>
            <a:pPr marL="285750" indent="-285750" algn="l">
              <a:spcBef>
                <a:spcPts val="400"/>
              </a:spcBef>
              <a:buClrTx/>
              <a:buSzTx/>
              <a:buFont typeface="Arial" panose="020B0604020202020204" pitchFamily="34" charset="0"/>
              <a:buChar char="•"/>
            </a:pPr>
            <a:r>
              <a:rPr lang="en-US" altLang="zh-CN" sz="1400" dirty="0">
                <a:solidFill>
                  <a:srgbClr val="2B2F36"/>
                </a:solidFill>
                <a:latin typeface="MiSans" pitchFamily="34" charset="-122"/>
                <a:ea typeface="MiSans" pitchFamily="34" charset="-122"/>
                <a:cs typeface="MiSans" pitchFamily="34" charset="-120"/>
              </a:rPr>
              <a:t>Quality traceability: Recording detailed production data to facilitate the tracking and analysis of quality problems.</a:t>
            </a:r>
            <a:endParaRPr lang="en-US" altLang="zh-CN" sz="1400" dirty="0">
              <a:solidFill>
                <a:srgbClr val="2B2F36"/>
              </a:solidFill>
              <a:latin typeface="MiSans" pitchFamily="34" charset="-122"/>
              <a:ea typeface="MiSans" pitchFamily="34" charset="-122"/>
              <a:cs typeface="MiSans" pitchFamily="34" charset="-120"/>
            </a:endParaRPr>
          </a:p>
          <a:p>
            <a:pPr marL="285750" indent="-285750" algn="l">
              <a:spcBef>
                <a:spcPts val="400"/>
              </a:spcBef>
              <a:buClrTx/>
              <a:buSzTx/>
              <a:buFont typeface="Arial" panose="020B0604020202020204" pitchFamily="34" charset="0"/>
              <a:buChar char="•"/>
            </a:pPr>
            <a:r>
              <a:rPr lang="en-US" altLang="zh-CN" sz="1400" dirty="0">
                <a:solidFill>
                  <a:srgbClr val="2B2F36"/>
                </a:solidFill>
                <a:latin typeface="MiSans" pitchFamily="34" charset="-122"/>
                <a:ea typeface="MiSans" pitchFamily="34" charset="-122"/>
                <a:cs typeface="MiSans" pitchFamily="34" charset="-120"/>
              </a:rPr>
              <a:t>Quality assurance: Establishing and maintaining a quality management system to continuously improve product quality.</a:t>
            </a:r>
            <a:endParaRPr lang="en-US" altLang="zh-CN" sz="140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953135"/>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Applications of Smart Manufacturing in R&amp;D, Planning, Production, and Quality</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9" name="文本框 8"/>
          <p:cNvSpPr txBox="1"/>
          <p:nvPr/>
        </p:nvSpPr>
        <p:spPr>
          <a:xfrm>
            <a:off x="1140460" y="2165350"/>
            <a:ext cx="8317230" cy="1814830"/>
          </a:xfrm>
          <a:prstGeom prst="rect">
            <a:avLst/>
          </a:prstGeom>
        </p:spPr>
        <p:txBody>
          <a:bodyPr wrap="square">
            <a:spAutoFit/>
          </a:bodyPr>
          <a:p>
            <a:pPr marL="0" algn="l">
              <a:lnSpc>
                <a:spcPct val="100000"/>
              </a:lnSpc>
              <a:buClrTx/>
              <a:buSzTx/>
              <a:buNone/>
            </a:pPr>
            <a:r>
              <a:rPr lang="en-US" altLang="zh-CN" sz="1400" b="0" i="0" dirty="0">
                <a:solidFill>
                  <a:srgbClr val="2B2F36"/>
                </a:solidFill>
                <a:latin typeface="MiSans" pitchFamily="34" charset="-122"/>
                <a:ea typeface="MiSans" pitchFamily="34" charset="-122"/>
                <a:cs typeface="MiSans" pitchFamily="34" charset="-120"/>
              </a:rPr>
              <a:t>Intelligent Cost Management</a:t>
            </a:r>
            <a:endParaRPr lang="en-US" altLang="zh-CN" sz="1400" b="0" i="0" dirty="0">
              <a:solidFill>
                <a:srgbClr val="2B2F36"/>
              </a:solidFill>
              <a:latin typeface="MiSans" pitchFamily="34" charset="-122"/>
              <a:ea typeface="MiSans" pitchFamily="34" charset="-122"/>
              <a:cs typeface="MiSans" pitchFamily="34" charset="-120"/>
            </a:endParaRPr>
          </a:p>
          <a:p>
            <a:pPr marL="0" algn="l">
              <a:lnSpc>
                <a:spcPct val="100000"/>
              </a:lnSpc>
              <a:buClrTx/>
              <a:buSzTx/>
              <a:buNone/>
            </a:pPr>
            <a:r>
              <a:rPr lang="en-US" altLang="zh-CN" sz="1400" b="0" i="0" dirty="0">
                <a:solidFill>
                  <a:srgbClr val="2B2F36"/>
                </a:solidFill>
                <a:latin typeface="MiSans" pitchFamily="34" charset="-122"/>
                <a:ea typeface="MiSans" pitchFamily="34" charset="-122"/>
                <a:cs typeface="MiSans" pitchFamily="34" charset="-120"/>
              </a:rPr>
              <a:t>Intelligent cost management systems achieve precise cost control by integrating systems such as MES, WMS, and ERP:</a:t>
            </a:r>
            <a:endParaRPr lang="en-US" altLang="zh-CN" sz="1400" b="0" i="0" dirty="0">
              <a:solidFill>
                <a:srgbClr val="2B2F36"/>
              </a:solidFill>
              <a:latin typeface="MiSans" pitchFamily="34" charset="-122"/>
              <a:ea typeface="MiSans" pitchFamily="34" charset="-122"/>
              <a:cs typeface="MiSans" pitchFamily="34" charset="-120"/>
            </a:endParaRPr>
          </a:p>
          <a:p>
            <a:pPr marL="0" algn="l">
              <a:lnSpc>
                <a:spcPct val="100000"/>
              </a:lnSpc>
              <a:buClrTx/>
              <a:buSzTx/>
              <a:buNone/>
            </a:pPr>
            <a:endParaRPr lang="en-US" altLang="zh-CN" sz="1400" b="0" i="0" dirty="0">
              <a:solidFill>
                <a:srgbClr val="2B2F36"/>
              </a:solidFill>
              <a:latin typeface="MiSans" pitchFamily="34" charset="-122"/>
              <a:ea typeface="MiSans" pitchFamily="34" charset="-122"/>
              <a:cs typeface="MiSans" pitchFamily="34" charset="-120"/>
            </a:endParaRPr>
          </a:p>
          <a:p>
            <a:pPr marL="285750" indent="-285750" algn="l">
              <a:lnSpc>
                <a:spcPct val="100000"/>
              </a:lnSpc>
              <a:buClrTx/>
              <a:buSzTx/>
              <a:buFont typeface="Arial" panose="020B0604020202020204" pitchFamily="34" charset="0"/>
              <a:buChar char="•"/>
            </a:pPr>
            <a:r>
              <a:rPr lang="en-US" altLang="zh-CN" sz="1400" b="0" i="0" dirty="0">
                <a:solidFill>
                  <a:srgbClr val="2B2F36"/>
                </a:solidFill>
                <a:latin typeface="MiSans" pitchFamily="34" charset="-122"/>
                <a:ea typeface="MiSans" pitchFamily="34" charset="-122"/>
                <a:cs typeface="MiSans" pitchFamily="34" charset="-120"/>
              </a:rPr>
              <a:t>Cost accounting: Real-time tracking of production costs to optimize the cost structure.</a:t>
            </a:r>
            <a:endParaRPr lang="en-US" altLang="zh-CN" sz="1400" b="0" i="0" dirty="0">
              <a:solidFill>
                <a:srgbClr val="2B2F36"/>
              </a:solidFill>
              <a:latin typeface="MiSans" pitchFamily="34" charset="-122"/>
              <a:ea typeface="MiSans" pitchFamily="34" charset="-122"/>
              <a:cs typeface="MiSans" pitchFamily="34" charset="-120"/>
            </a:endParaRPr>
          </a:p>
          <a:p>
            <a:pPr marL="285750" indent="-285750" algn="l">
              <a:lnSpc>
                <a:spcPct val="100000"/>
              </a:lnSpc>
              <a:buClrTx/>
              <a:buSzTx/>
              <a:buFont typeface="Arial" panose="020B0604020202020204" pitchFamily="34" charset="0"/>
              <a:buChar char="•"/>
            </a:pPr>
            <a:r>
              <a:rPr lang="en-US" altLang="zh-CN" sz="1400" b="0" i="0" dirty="0">
                <a:solidFill>
                  <a:srgbClr val="2B2F36"/>
                </a:solidFill>
                <a:latin typeface="MiSans" pitchFamily="34" charset="-122"/>
                <a:ea typeface="MiSans" pitchFamily="34" charset="-122"/>
                <a:cs typeface="MiSans" pitchFamily="34" charset="-120"/>
              </a:rPr>
              <a:t>Budget management: Integrating with financial systems to realize real-time monitoring and control of budgets.</a:t>
            </a:r>
            <a:endParaRPr lang="en-US" altLang="zh-CN" sz="1400" b="0" i="0" dirty="0">
              <a:solidFill>
                <a:srgbClr val="2B2F36"/>
              </a:solidFill>
              <a:latin typeface="MiSans" pitchFamily="34" charset="-122"/>
              <a:ea typeface="MiSans" pitchFamily="34" charset="-122"/>
              <a:cs typeface="MiSans" pitchFamily="34" charset="-120"/>
            </a:endParaRPr>
          </a:p>
          <a:p>
            <a:pPr marL="285750" indent="-285750" algn="l">
              <a:lnSpc>
                <a:spcPct val="100000"/>
              </a:lnSpc>
              <a:buClrTx/>
              <a:buSzTx/>
              <a:buFont typeface="Arial" panose="020B0604020202020204" pitchFamily="34" charset="0"/>
              <a:buChar char="•"/>
            </a:pPr>
            <a:r>
              <a:rPr lang="en-US" altLang="zh-CN" sz="1400" b="0" i="0" dirty="0">
                <a:solidFill>
                  <a:srgbClr val="2B2F36"/>
                </a:solidFill>
                <a:latin typeface="MiSans" pitchFamily="34" charset="-122"/>
                <a:ea typeface="MiSans" pitchFamily="34" charset="-122"/>
                <a:cs typeface="MiSans" pitchFamily="34" charset="-120"/>
              </a:rPr>
              <a:t>Business intelligence: Using data analysis to provide decision support for cost optimization.</a:t>
            </a:r>
            <a:endParaRPr lang="en-US" altLang="zh-CN" sz="1400" b="0" i="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Industrial Internet Platform Architecture</a:t>
            </a:r>
            <a:endParaRPr lang="en-US" altLang="zh-CN" sz="2800" b="1" dirty="0">
              <a:solidFill>
                <a:srgbClr val="2F493E"/>
              </a:solidFill>
              <a:latin typeface="MiSans" pitchFamily="34" charset="-122"/>
              <a:ea typeface="MiSans" pitchFamily="34" charset="-122"/>
              <a:cs typeface="MiSans" pitchFamily="34" charset="-120"/>
            </a:endParaRPr>
          </a:p>
        </p:txBody>
      </p:sp>
      <p:pic>
        <p:nvPicPr>
          <p:cNvPr id="10" name="图片 9"/>
          <p:cNvPicPr>
            <a:picLocks noChangeAspect="1"/>
          </p:cNvPicPr>
          <p:nvPr/>
        </p:nvPicPr>
        <p:blipFill>
          <a:blip r:embed="rId1"/>
          <a:stretch>
            <a:fillRect/>
          </a:stretch>
        </p:blipFill>
        <p:spPr>
          <a:xfrm>
            <a:off x="1604645" y="1179195"/>
            <a:ext cx="8982075" cy="4191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953135"/>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Integration Relationship between Intelligent Production, Intelligent Supply Chain, and ERP</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9" name="文本框 8"/>
          <p:cNvSpPr txBox="1"/>
          <p:nvPr/>
        </p:nvSpPr>
        <p:spPr>
          <a:xfrm>
            <a:off x="1375410" y="1417320"/>
            <a:ext cx="8317230" cy="953135"/>
          </a:xfrm>
          <a:prstGeom prst="rect">
            <a:avLst/>
          </a:prstGeom>
        </p:spPr>
        <p:txBody>
          <a:bodyPr wrap="square">
            <a:spAutoFit/>
          </a:bodyPr>
          <a:p>
            <a:pPr marL="0" algn="l">
              <a:lnSpc>
                <a:spcPct val="100000"/>
              </a:lnSpc>
              <a:buClrTx/>
              <a:buSzTx/>
              <a:buNone/>
            </a:pPr>
            <a:r>
              <a:rPr lang="en-US" altLang="zh-CN" sz="1400" b="0" i="0" dirty="0">
                <a:solidFill>
                  <a:srgbClr val="2B2F36"/>
                </a:solidFill>
                <a:latin typeface="MiSans" pitchFamily="34" charset="-122"/>
                <a:ea typeface="MiSans" pitchFamily="34" charset="-122"/>
                <a:cs typeface="MiSans" pitchFamily="34" charset="-120"/>
              </a:rPr>
              <a:t>ERP (Enterprise Resource Planning), WMS (Warehouse Management System), and MES (Manufacturing Execution System) are three key information systems in modern manufacturing. Their integration is crucial for realizing smart manufacturing. The following is an introduction to the business, data, and application integration between them:</a:t>
            </a:r>
            <a:endParaRPr lang="en-US" altLang="zh-CN" sz="1400" b="0" i="0" dirty="0">
              <a:solidFill>
                <a:srgbClr val="2B2F36"/>
              </a:solidFill>
              <a:latin typeface="MiSans" pitchFamily="34" charset="-122"/>
              <a:ea typeface="MiSans" pitchFamily="34" charset="-122"/>
              <a:cs typeface="MiSans" pitchFamily="34" charset="-120"/>
            </a:endParaRPr>
          </a:p>
        </p:txBody>
      </p:sp>
      <p:sp>
        <p:nvSpPr>
          <p:cNvPr id="10" name="文本框 9"/>
          <p:cNvSpPr txBox="1"/>
          <p:nvPr/>
        </p:nvSpPr>
        <p:spPr>
          <a:xfrm>
            <a:off x="1316355" y="2494915"/>
            <a:ext cx="7343140" cy="3457575"/>
          </a:xfrm>
          <a:prstGeom prst="rect">
            <a:avLst/>
          </a:prstGeom>
          <a:noFill/>
        </p:spPr>
        <p:txBody>
          <a:bodyPr wrap="square" rtlCol="0">
            <a:noAutofit/>
          </a:bodyPr>
          <a:p>
            <a:r>
              <a:rPr lang="en-US" altLang="zh-CN" sz="1400" dirty="0">
                <a:solidFill>
                  <a:srgbClr val="2B2F36"/>
                </a:solidFill>
                <a:latin typeface="MiSans" pitchFamily="34" charset="-122"/>
                <a:ea typeface="MiSans" pitchFamily="34" charset="-122"/>
                <a:cs typeface="MiSans" pitchFamily="34" charset="-120"/>
              </a:rPr>
              <a:t>Business Integration</a:t>
            </a:r>
            <a:endParaRPr lang="en-US" altLang="zh-CN" sz="1400" dirty="0">
              <a:solidFill>
                <a:srgbClr val="2B2F36"/>
              </a:solidFill>
              <a:latin typeface="MiSans" pitchFamily="34" charset="-122"/>
              <a:ea typeface="MiSans" pitchFamily="34" charset="-122"/>
              <a:cs typeface="MiSans" pitchFamily="34" charset="-120"/>
            </a:endParaRPr>
          </a:p>
          <a:p>
            <a:endParaRPr lang="en-US" altLang="zh-CN" sz="1400" dirty="0">
              <a:solidFill>
                <a:srgbClr val="2B2F36"/>
              </a:solidFill>
              <a:latin typeface="MiSans" pitchFamily="34" charset="-122"/>
              <a:ea typeface="MiSans" pitchFamily="34" charset="-122"/>
              <a:cs typeface="MiSans" pitchFamily="34" charset="-120"/>
            </a:endParaRPr>
          </a:p>
          <a:p>
            <a:pPr marL="285750" indent="-285750">
              <a:buFont typeface="Arial" panose="020B0604020202020204" pitchFamily="34" charset="0"/>
              <a:buChar char="•"/>
            </a:pPr>
            <a:r>
              <a:rPr lang="en-US" altLang="zh-CN" sz="1400" dirty="0">
                <a:solidFill>
                  <a:srgbClr val="2B2F36"/>
                </a:solidFill>
                <a:latin typeface="MiSans" pitchFamily="34" charset="-122"/>
                <a:ea typeface="MiSans" pitchFamily="34" charset="-122"/>
                <a:cs typeface="MiSans" pitchFamily="34" charset="-120"/>
              </a:rPr>
              <a:t>Sales and order management: Sales orders in the ERP system are directly transmitted to MES and WMS to start production and logistics activities.</a:t>
            </a:r>
            <a:endParaRPr lang="en-US" altLang="zh-CN" sz="1400" dirty="0">
              <a:solidFill>
                <a:srgbClr val="2B2F36"/>
              </a:solidFill>
              <a:latin typeface="MiSans" pitchFamily="34" charset="-122"/>
              <a:ea typeface="MiSans" pitchFamily="34" charset="-122"/>
              <a:cs typeface="MiSans" pitchFamily="34" charset="-120"/>
            </a:endParaRPr>
          </a:p>
          <a:p>
            <a:pPr marL="285750" indent="-285750">
              <a:buFont typeface="Arial" panose="020B0604020202020204" pitchFamily="34" charset="0"/>
              <a:buChar char="•"/>
            </a:pPr>
            <a:r>
              <a:rPr lang="en-US" altLang="zh-CN" sz="1400" dirty="0">
                <a:solidFill>
                  <a:srgbClr val="2B2F36"/>
                </a:solidFill>
                <a:latin typeface="MiSans" pitchFamily="34" charset="-122"/>
                <a:ea typeface="MiSans" pitchFamily="34" charset="-122"/>
                <a:cs typeface="MiSans" pitchFamily="34" charset="-120"/>
              </a:rPr>
              <a:t>Material requirements planning: The MRP (Material Requirements Planning) module in ERP generates material requirements, and this information is transmitted to MES for production planning and WMS for inventory management.</a:t>
            </a:r>
            <a:endParaRPr lang="en-US" altLang="zh-CN" sz="1400" dirty="0">
              <a:solidFill>
                <a:srgbClr val="2B2F36"/>
              </a:solidFill>
              <a:latin typeface="MiSans" pitchFamily="34" charset="-122"/>
              <a:ea typeface="MiSans" pitchFamily="34" charset="-122"/>
              <a:cs typeface="MiSans" pitchFamily="34" charset="-120"/>
            </a:endParaRPr>
          </a:p>
          <a:p>
            <a:pPr marL="285750" indent="-285750">
              <a:buFont typeface="Arial" panose="020B0604020202020204" pitchFamily="34" charset="0"/>
              <a:buChar char="•"/>
            </a:pPr>
            <a:r>
              <a:rPr lang="en-US" altLang="zh-CN" sz="1400" dirty="0">
                <a:solidFill>
                  <a:srgbClr val="2B2F36"/>
                </a:solidFill>
                <a:latin typeface="MiSans" pitchFamily="34" charset="-122"/>
                <a:ea typeface="MiSans" pitchFamily="34" charset="-122"/>
                <a:cs typeface="MiSans" pitchFamily="34" charset="-120"/>
              </a:rPr>
              <a:t>Inventory management: The actual inventory in WMS is fed back to the ERP system to ensure the accuracy and timely update of inventory data.</a:t>
            </a:r>
            <a:endParaRPr lang="en-US" altLang="zh-CN" sz="1400" dirty="0">
              <a:solidFill>
                <a:srgbClr val="2B2F36"/>
              </a:solidFill>
              <a:latin typeface="MiSans" pitchFamily="34" charset="-122"/>
              <a:ea typeface="MiSans" pitchFamily="34" charset="-122"/>
              <a:cs typeface="MiSans" pitchFamily="34" charset="-120"/>
            </a:endParaRPr>
          </a:p>
          <a:p>
            <a:pPr marL="285750" indent="-285750">
              <a:buFont typeface="Arial" panose="020B0604020202020204" pitchFamily="34" charset="0"/>
              <a:buChar char="•"/>
            </a:pPr>
            <a:r>
              <a:rPr lang="en-US" altLang="zh-CN" sz="1400" dirty="0">
                <a:solidFill>
                  <a:srgbClr val="2B2F36"/>
                </a:solidFill>
                <a:latin typeface="MiSans" pitchFamily="34" charset="-122"/>
                <a:ea typeface="MiSans" pitchFamily="34" charset="-122"/>
                <a:cs typeface="MiSans" pitchFamily="34" charset="-120"/>
              </a:rPr>
              <a:t>Production scheduling: MES formulates detailed production scheduling and operation instructions based on the production plans and material information in ERP.</a:t>
            </a:r>
            <a:endParaRPr lang="en-US" altLang="zh-CN" sz="1400" dirty="0">
              <a:solidFill>
                <a:srgbClr val="2B2F36"/>
              </a:solidFill>
              <a:latin typeface="MiSans" pitchFamily="34" charset="-122"/>
              <a:ea typeface="MiSans" pitchFamily="34" charset="-122"/>
              <a:cs typeface="MiSans" pitchFamily="34" charset="-120"/>
            </a:endParaRPr>
          </a:p>
          <a:p>
            <a:pPr marL="285750" indent="-285750">
              <a:buFont typeface="Arial" panose="020B0604020202020204" pitchFamily="34" charset="0"/>
              <a:buChar char="•"/>
            </a:pPr>
            <a:r>
              <a:rPr lang="en-US" altLang="zh-CN" sz="1400" dirty="0">
                <a:solidFill>
                  <a:srgbClr val="2B2F36"/>
                </a:solidFill>
                <a:latin typeface="MiSans" pitchFamily="34" charset="-122"/>
                <a:ea typeface="MiSans" pitchFamily="34" charset="-122"/>
                <a:cs typeface="MiSans" pitchFamily="34" charset="-120"/>
              </a:rPr>
              <a:t>Quality control: The quality management function in MES is integrated with ERP to ensure the consistency and traceability of quality data.</a:t>
            </a:r>
            <a:endParaRPr lang="en-US" altLang="zh-CN" sz="140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953135"/>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Integration Relationship between Intelligent Production, Intelligent Supply Chain, and ERP</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文本框 10"/>
          <p:cNvSpPr txBox="1"/>
          <p:nvPr/>
        </p:nvSpPr>
        <p:spPr>
          <a:xfrm>
            <a:off x="1310005" y="2030730"/>
            <a:ext cx="9695815" cy="2676525"/>
          </a:xfrm>
          <a:prstGeom prst="rect">
            <a:avLst/>
          </a:prstGeom>
          <a:noFill/>
        </p:spPr>
        <p:txBody>
          <a:bodyPr wrap="square" rtlCol="0">
            <a:spAutoFit/>
          </a:bodyPr>
          <a:p>
            <a:pPr indent="0" algn="l">
              <a:buClrTx/>
              <a:buSzTx/>
              <a:buFont typeface="Arial" panose="020B0604020202020204" pitchFamily="34" charset="0"/>
              <a:buNone/>
            </a:pPr>
            <a:r>
              <a:rPr lang="en-US" altLang="zh-CN" sz="1400" dirty="0">
                <a:solidFill>
                  <a:srgbClr val="2B2F36"/>
                </a:solidFill>
                <a:latin typeface="MiSans" pitchFamily="34" charset="-122"/>
                <a:ea typeface="MiSans" pitchFamily="34" charset="-122"/>
                <a:cs typeface="MiSans" pitchFamily="34" charset="-120"/>
              </a:rPr>
              <a:t> Data Integration</a:t>
            </a:r>
            <a:endParaRPr lang="en-US" altLang="zh-CN" sz="1400" dirty="0">
              <a:solidFill>
                <a:srgbClr val="2B2F36"/>
              </a:solidFill>
              <a:latin typeface="MiSans" pitchFamily="34" charset="-122"/>
              <a:ea typeface="MiSans" pitchFamily="34" charset="-122"/>
              <a:cs typeface="MiSans" pitchFamily="34" charset="-120"/>
            </a:endParaRPr>
          </a:p>
          <a:p>
            <a:pPr marL="285750" indent="-285750" algn="l">
              <a:buClrTx/>
              <a:buSzTx/>
              <a:buFont typeface="Arial" panose="020B0604020202020204" pitchFamily="34" charset="0"/>
              <a:buChar char="•"/>
            </a:pPr>
            <a:endParaRPr lang="en-US" altLang="zh-CN" sz="1400" dirty="0">
              <a:solidFill>
                <a:srgbClr val="2B2F36"/>
              </a:solidFill>
              <a:latin typeface="MiSans" pitchFamily="34" charset="-122"/>
              <a:ea typeface="MiSans" pitchFamily="34" charset="-122"/>
              <a:cs typeface="MiSans" pitchFamily="34" charset="-120"/>
            </a:endParaRPr>
          </a:p>
          <a:p>
            <a:pPr marL="285750" indent="-285750" algn="l">
              <a:buClrTx/>
              <a:buSzTx/>
              <a:buFont typeface="Arial" panose="020B0604020202020204" pitchFamily="34" charset="0"/>
              <a:buChar char="•"/>
            </a:pPr>
            <a:r>
              <a:rPr lang="en-US" altLang="zh-CN" sz="1400" dirty="0">
                <a:solidFill>
                  <a:srgbClr val="2B2F36"/>
                </a:solidFill>
                <a:latin typeface="MiSans" pitchFamily="34" charset="-122"/>
                <a:ea typeface="MiSans" pitchFamily="34" charset="-122"/>
                <a:cs typeface="MiSans" pitchFamily="34" charset="-120"/>
              </a:rPr>
              <a:t>Material master data: Material information in the ERP system (such as material number, description, BOM, etc.) is synchronized to MES and WMS.</a:t>
            </a:r>
            <a:endParaRPr lang="en-US" altLang="zh-CN" sz="1400" dirty="0">
              <a:solidFill>
                <a:srgbClr val="2B2F36"/>
              </a:solidFill>
              <a:latin typeface="MiSans" pitchFamily="34" charset="-122"/>
              <a:ea typeface="MiSans" pitchFamily="34" charset="-122"/>
              <a:cs typeface="MiSans" pitchFamily="34" charset="-120"/>
            </a:endParaRPr>
          </a:p>
          <a:p>
            <a:pPr marL="285750" indent="-285750" algn="l">
              <a:buClrTx/>
              <a:buSzTx/>
              <a:buFont typeface="Arial" panose="020B0604020202020204" pitchFamily="34" charset="0"/>
              <a:buChar char="•"/>
            </a:pPr>
            <a:r>
              <a:rPr lang="en-US" altLang="zh-CN" sz="1400" dirty="0">
                <a:solidFill>
                  <a:srgbClr val="2B2F36"/>
                </a:solidFill>
                <a:latin typeface="MiSans" pitchFamily="34" charset="-122"/>
                <a:ea typeface="MiSans" pitchFamily="34" charset="-122"/>
                <a:cs typeface="MiSans" pitchFamily="34" charset="-120"/>
              </a:rPr>
              <a:t>Order data: Order information in the ERP system (such as customer orders, delivery dates, etc.) is synchronized to MES and WMS to guide production and delivery.</a:t>
            </a:r>
            <a:endParaRPr lang="en-US" altLang="zh-CN" sz="1400" dirty="0">
              <a:solidFill>
                <a:srgbClr val="2B2F36"/>
              </a:solidFill>
              <a:latin typeface="MiSans" pitchFamily="34" charset="-122"/>
              <a:ea typeface="MiSans" pitchFamily="34" charset="-122"/>
              <a:cs typeface="MiSans" pitchFamily="34" charset="-120"/>
            </a:endParaRPr>
          </a:p>
          <a:p>
            <a:pPr marL="285750" indent="-285750" algn="l">
              <a:buClrTx/>
              <a:buSzTx/>
              <a:buFont typeface="Arial" panose="020B0604020202020204" pitchFamily="34" charset="0"/>
              <a:buChar char="•"/>
            </a:pPr>
            <a:r>
              <a:rPr lang="en-US" altLang="zh-CN" sz="1400" dirty="0">
                <a:solidFill>
                  <a:srgbClr val="2B2F36"/>
                </a:solidFill>
                <a:latin typeface="MiSans" pitchFamily="34" charset="-122"/>
                <a:ea typeface="MiSans" pitchFamily="34" charset="-122"/>
                <a:cs typeface="MiSans" pitchFamily="34" charset="-120"/>
              </a:rPr>
              <a:t>Inventory data: Inventory levels and inventory movement information in WMS are synchronized back to the ERP system to support inventory evaluation and financial reporting.</a:t>
            </a:r>
            <a:endParaRPr lang="en-US" altLang="zh-CN" sz="1400" dirty="0">
              <a:solidFill>
                <a:srgbClr val="2B2F36"/>
              </a:solidFill>
              <a:latin typeface="MiSans" pitchFamily="34" charset="-122"/>
              <a:ea typeface="MiSans" pitchFamily="34" charset="-122"/>
              <a:cs typeface="MiSans" pitchFamily="34" charset="-120"/>
            </a:endParaRPr>
          </a:p>
          <a:p>
            <a:pPr marL="285750" indent="-285750" algn="l">
              <a:buClrTx/>
              <a:buSzTx/>
              <a:buFont typeface="Arial" panose="020B0604020202020204" pitchFamily="34" charset="0"/>
              <a:buChar char="•"/>
            </a:pPr>
            <a:r>
              <a:rPr lang="en-US" altLang="zh-CN" sz="1400" dirty="0">
                <a:solidFill>
                  <a:srgbClr val="2B2F36"/>
                </a:solidFill>
                <a:latin typeface="MiSans" pitchFamily="34" charset="-122"/>
                <a:ea typeface="MiSans" pitchFamily="34" charset="-122"/>
                <a:cs typeface="MiSans" pitchFamily="34" charset="-120"/>
              </a:rPr>
              <a:t>Production data: Data such as production progress, output, and downtime in MES are fed back to the ERP system for production analysis and cost calculation.</a:t>
            </a:r>
            <a:endParaRPr lang="en-US" altLang="zh-CN" sz="1400" dirty="0">
              <a:solidFill>
                <a:srgbClr val="2B2F36"/>
              </a:solidFill>
              <a:latin typeface="MiSans" pitchFamily="34" charset="-122"/>
              <a:ea typeface="MiSans" pitchFamily="34" charset="-122"/>
              <a:cs typeface="MiSans" pitchFamily="34" charset="-120"/>
            </a:endParaRPr>
          </a:p>
          <a:p>
            <a:pPr marL="285750" indent="-285750" algn="l">
              <a:buClrTx/>
              <a:buSzTx/>
              <a:buFont typeface="Arial" panose="020B0604020202020204" pitchFamily="34" charset="0"/>
              <a:buChar char="•"/>
            </a:pPr>
            <a:r>
              <a:rPr lang="en-US" altLang="zh-CN" sz="1400" dirty="0">
                <a:solidFill>
                  <a:srgbClr val="2B2F36"/>
                </a:solidFill>
                <a:latin typeface="MiSans" pitchFamily="34" charset="-122"/>
                <a:ea typeface="MiSans" pitchFamily="34" charset="-122"/>
                <a:cs typeface="MiSans" pitchFamily="34" charset="-120"/>
              </a:rPr>
              <a:t>Quality data: Quality inspection data collected by MES is synchronized to the ERP system for quality reporting and improvement.</a:t>
            </a:r>
            <a:endParaRPr lang="en-US" altLang="zh-CN" sz="140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953135"/>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Integration Relationship between Intelligent Production, Intelligent Supply Chain, and ERP</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2" name="文本框 11"/>
          <p:cNvSpPr txBox="1"/>
          <p:nvPr/>
        </p:nvSpPr>
        <p:spPr>
          <a:xfrm>
            <a:off x="1505585" y="1907540"/>
            <a:ext cx="9178290" cy="2990850"/>
          </a:xfrm>
          <a:prstGeom prst="rect">
            <a:avLst/>
          </a:prstGeom>
          <a:noFill/>
        </p:spPr>
        <p:txBody>
          <a:bodyPr wrap="square" rtlCol="0">
            <a:noAutofit/>
          </a:bodyPr>
          <a:p>
            <a:r>
              <a:rPr lang="en-US" altLang="zh-CN" sz="1400" dirty="0">
                <a:solidFill>
                  <a:srgbClr val="2B2F36"/>
                </a:solidFill>
                <a:latin typeface="MiSans" pitchFamily="34" charset="-122"/>
                <a:ea typeface="MiSans" pitchFamily="34" charset="-122"/>
                <a:cs typeface="MiSans" pitchFamily="34" charset="-120"/>
              </a:rPr>
              <a:t>Application Integration</a:t>
            </a:r>
            <a:endParaRPr lang="en-US" altLang="zh-CN" sz="1400" dirty="0">
              <a:solidFill>
                <a:srgbClr val="2B2F36"/>
              </a:solidFill>
              <a:latin typeface="MiSans" pitchFamily="34" charset="-122"/>
              <a:ea typeface="MiSans" pitchFamily="34" charset="-122"/>
              <a:cs typeface="MiSans" pitchFamily="34" charset="-120"/>
            </a:endParaRPr>
          </a:p>
          <a:p>
            <a:endParaRPr lang="en-US" altLang="zh-CN" sz="1400" dirty="0">
              <a:solidFill>
                <a:srgbClr val="2B2F36"/>
              </a:solidFill>
              <a:latin typeface="MiSans" pitchFamily="34" charset="-122"/>
              <a:ea typeface="MiSans" pitchFamily="34" charset="-122"/>
              <a:cs typeface="MiSans" pitchFamily="34" charset="-120"/>
            </a:endParaRPr>
          </a:p>
          <a:p>
            <a:pPr marL="285750" indent="-285750">
              <a:buFont typeface="Arial" panose="020B0604020202020204" pitchFamily="34" charset="0"/>
              <a:buChar char="•"/>
            </a:pPr>
            <a:r>
              <a:rPr lang="en-US" altLang="zh-CN" sz="1400" dirty="0">
                <a:solidFill>
                  <a:srgbClr val="2B2F36"/>
                </a:solidFill>
                <a:latin typeface="MiSans" pitchFamily="34" charset="-122"/>
                <a:ea typeface="MiSans" pitchFamily="34" charset="-122"/>
                <a:cs typeface="MiSans" pitchFamily="34" charset="-120"/>
              </a:rPr>
              <a:t>User interface integration: Providing a unified user interface that allows users to switch seamlessly between ERP, WMS, and MES.</a:t>
            </a:r>
            <a:endParaRPr lang="en-US" altLang="zh-CN" sz="1400" dirty="0">
              <a:solidFill>
                <a:srgbClr val="2B2F36"/>
              </a:solidFill>
              <a:latin typeface="MiSans" pitchFamily="34" charset="-122"/>
              <a:ea typeface="MiSans" pitchFamily="34" charset="-122"/>
              <a:cs typeface="MiSans" pitchFamily="34" charset="-120"/>
            </a:endParaRPr>
          </a:p>
          <a:p>
            <a:pPr marL="285750" indent="-285750">
              <a:buFont typeface="Arial" panose="020B0604020202020204" pitchFamily="34" charset="0"/>
              <a:buChar char="•"/>
            </a:pPr>
            <a:r>
              <a:rPr lang="en-US" altLang="zh-CN" sz="1400" dirty="0">
                <a:solidFill>
                  <a:srgbClr val="2B2F36"/>
                </a:solidFill>
                <a:latin typeface="MiSans" pitchFamily="34" charset="-122"/>
                <a:ea typeface="MiSans" pitchFamily="34" charset="-122"/>
                <a:cs typeface="MiSans" pitchFamily="34" charset="-120"/>
              </a:rPr>
              <a:t>Workflow integration: Ensuring that the workflows between ERP, WMS, and MES are coordinated, such as order processing, material procurement, and production scheduling.</a:t>
            </a:r>
            <a:endParaRPr lang="en-US" altLang="zh-CN" sz="1400" dirty="0">
              <a:solidFill>
                <a:srgbClr val="2B2F36"/>
              </a:solidFill>
              <a:latin typeface="MiSans" pitchFamily="34" charset="-122"/>
              <a:ea typeface="MiSans" pitchFamily="34" charset="-122"/>
              <a:cs typeface="MiSans" pitchFamily="34" charset="-120"/>
            </a:endParaRPr>
          </a:p>
          <a:p>
            <a:pPr marL="285750" indent="-285750">
              <a:buFont typeface="Arial" panose="020B0604020202020204" pitchFamily="34" charset="0"/>
              <a:buChar char="•"/>
            </a:pPr>
            <a:r>
              <a:rPr lang="en-US" altLang="zh-CN" sz="1400" dirty="0">
                <a:solidFill>
                  <a:srgbClr val="2B2F36"/>
                </a:solidFill>
                <a:latin typeface="MiSans" pitchFamily="34" charset="-122"/>
                <a:ea typeface="MiSans" pitchFamily="34" charset="-122"/>
                <a:cs typeface="MiSans" pitchFamily="34" charset="-120"/>
              </a:rPr>
              <a:t>Report and analysis integration: Integrating data from the three systems to provide comprehensive business reports and analyses to support decision-making.</a:t>
            </a:r>
            <a:endParaRPr lang="en-US" altLang="zh-CN" sz="1400" dirty="0">
              <a:solidFill>
                <a:srgbClr val="2B2F36"/>
              </a:solidFill>
              <a:latin typeface="MiSans" pitchFamily="34" charset="-122"/>
              <a:ea typeface="MiSans" pitchFamily="34" charset="-122"/>
              <a:cs typeface="MiSans" pitchFamily="34" charset="-120"/>
            </a:endParaRPr>
          </a:p>
          <a:p>
            <a:pPr marL="285750" indent="-285750">
              <a:buFont typeface="Arial" panose="020B0604020202020204" pitchFamily="34" charset="0"/>
              <a:buChar char="•"/>
            </a:pPr>
            <a:r>
              <a:rPr lang="en-US" altLang="zh-CN" sz="1400" dirty="0">
                <a:solidFill>
                  <a:srgbClr val="2B2F36"/>
                </a:solidFill>
                <a:latin typeface="MiSans" pitchFamily="34" charset="-122"/>
                <a:ea typeface="MiSans" pitchFamily="34" charset="-122"/>
                <a:cs typeface="MiSans" pitchFamily="34" charset="-120"/>
              </a:rPr>
              <a:t>Exception management: Production exceptions and quality problems in MES can be timely fed back to the ERP system to trigger corresponding business processes.</a:t>
            </a:r>
            <a:endParaRPr lang="en-US" altLang="zh-CN" sz="1400" dirty="0">
              <a:solidFill>
                <a:srgbClr val="2B2F36"/>
              </a:solidFill>
              <a:latin typeface="MiSans" pitchFamily="34" charset="-122"/>
              <a:ea typeface="MiSans" pitchFamily="34" charset="-122"/>
              <a:cs typeface="MiSans" pitchFamily="34" charset="-120"/>
            </a:endParaRPr>
          </a:p>
          <a:p>
            <a:pPr marL="285750" indent="-285750">
              <a:buFont typeface="Arial" panose="020B0604020202020204" pitchFamily="34" charset="0"/>
              <a:buChar char="•"/>
            </a:pPr>
            <a:r>
              <a:rPr lang="en-US" altLang="zh-CN" sz="1400" dirty="0">
                <a:solidFill>
                  <a:srgbClr val="2B2F36"/>
                </a:solidFill>
                <a:latin typeface="MiSans" pitchFamily="34" charset="-122"/>
                <a:ea typeface="MiSans" pitchFamily="34" charset="-122"/>
                <a:cs typeface="MiSans" pitchFamily="34" charset="-120"/>
              </a:rPr>
              <a:t>System integration platform: Using middleware or integration platforms, such as OPEN API, Web services, etc., to realize data exchange and application integration between ERP, WMS, and MES.</a:t>
            </a:r>
            <a:endParaRPr lang="en-US" altLang="zh-CN" sz="140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953135"/>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WMS Multi-level Functional Architecture Based on Independent Data Platform</a:t>
            </a:r>
            <a:endParaRPr lang="en-US" altLang="zh-CN" sz="2800" b="1" dirty="0">
              <a:solidFill>
                <a:srgbClr val="2F493E"/>
              </a:solidFill>
              <a:latin typeface="MiSans" pitchFamily="34" charset="-122"/>
              <a:ea typeface="MiSans" pitchFamily="34" charset="-122"/>
              <a:cs typeface="MiSans" pitchFamily="34" charset="-120"/>
            </a:endParaRPr>
          </a:p>
        </p:txBody>
      </p:sp>
      <p:pic>
        <p:nvPicPr>
          <p:cNvPr id="9" name="图片 8"/>
          <p:cNvPicPr>
            <a:picLocks noChangeAspect="1"/>
          </p:cNvPicPr>
          <p:nvPr/>
        </p:nvPicPr>
        <p:blipFill>
          <a:blip r:embed="rId1"/>
          <a:stretch>
            <a:fillRect/>
          </a:stretch>
        </p:blipFill>
        <p:spPr>
          <a:xfrm>
            <a:off x="2081530" y="1362075"/>
            <a:ext cx="7696200" cy="44291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ERP and MES Integrated Control Process</a:t>
            </a:r>
            <a:endParaRPr lang="en-US" altLang="zh-CN" sz="2800" b="1" dirty="0">
              <a:solidFill>
                <a:srgbClr val="2F493E"/>
              </a:solidFill>
              <a:latin typeface="MiSans" pitchFamily="34" charset="-122"/>
              <a:ea typeface="MiSans" pitchFamily="34" charset="-122"/>
              <a:cs typeface="MiSans" pitchFamily="34" charset="-120"/>
            </a:endParaRPr>
          </a:p>
        </p:txBody>
      </p:sp>
      <p:pic>
        <p:nvPicPr>
          <p:cNvPr id="10" name="图片 9"/>
          <p:cNvPicPr>
            <a:picLocks noChangeAspect="1"/>
          </p:cNvPicPr>
          <p:nvPr/>
        </p:nvPicPr>
        <p:blipFill>
          <a:blip r:embed="rId1"/>
          <a:stretch>
            <a:fillRect/>
          </a:stretch>
        </p:blipFill>
        <p:spPr>
          <a:xfrm>
            <a:off x="2014220" y="1318895"/>
            <a:ext cx="8162925" cy="421957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03</a:t>
            </a:r>
            <a:endParaRPr lang="en-US" sz="1600" dirty="0"/>
          </a:p>
        </p:txBody>
      </p:sp>
      <p:sp>
        <p:nvSpPr>
          <p:cNvPr id="7" name="Text 3"/>
          <p:cNvSpPr/>
          <p:nvPr/>
        </p:nvSpPr>
        <p:spPr>
          <a:xfrm>
            <a:off x="5979795" y="3223895"/>
            <a:ext cx="4779645" cy="1445260"/>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Design Principles for Intelligent Systems</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Scalability</a:t>
            </a:r>
            <a:endParaRPr lang="en-US" sz="1600" dirty="0"/>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03-d0shq5s75iks832je5bg.png"/>
          <p:cNvPicPr>
            <a:picLocks noChangeAspect="1"/>
          </p:cNvPicPr>
          <p:nvPr/>
        </p:nvPicPr>
        <p:blipFill>
          <a:blip r:embed="rId1"/>
          <a:srcRect l="31" r="31"/>
          <a:stretch>
            <a:fillRect/>
          </a:stretch>
        </p:blipFill>
        <p:spPr>
          <a:xfrm>
            <a:off x="594360" y="1397000"/>
            <a:ext cx="3088640" cy="4606290"/>
          </a:xfrm>
          <a:prstGeom prst="rect">
            <a:avLst/>
          </a:prstGeom>
        </p:spPr>
      </p:pic>
      <p:sp>
        <p:nvSpPr>
          <p:cNvPr id="14" name="Shape 11"/>
          <p:cNvSpPr/>
          <p:nvPr>
            <p:custDataLst>
              <p:tags r:id="rId2"/>
            </p:custDataLst>
          </p:nvPr>
        </p:nvSpPr>
        <p:spPr>
          <a:xfrm>
            <a:off x="3796030" y="1413510"/>
            <a:ext cx="8031480" cy="4602480"/>
          </a:xfrm>
          <a:prstGeom prst="rect">
            <a:avLst/>
          </a:prstGeom>
          <a:solidFill>
            <a:srgbClr val="000000">
              <a:alpha val="0"/>
            </a:srgbClr>
          </a:solidFill>
          <a:ln w="19050">
            <a:solidFill>
              <a:srgbClr val="9FB26A"/>
            </a:solidFill>
            <a:prstDash val="solid"/>
          </a:ln>
        </p:spPr>
      </p:sp>
      <p:sp>
        <p:nvSpPr>
          <p:cNvPr id="15" name="Text 12"/>
          <p:cNvSpPr/>
          <p:nvPr/>
        </p:nvSpPr>
        <p:spPr>
          <a:xfrm>
            <a:off x="3796030" y="1413510"/>
            <a:ext cx="8031480" cy="46024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custDataLst>
              <p:tags r:id="rId3"/>
            </p:custDataLst>
          </p:nvPr>
        </p:nvSpPr>
        <p:spPr>
          <a:xfrm>
            <a:off x="4067175" y="2952115"/>
            <a:ext cx="7560310" cy="0"/>
          </a:xfrm>
          <a:prstGeom prst="line">
            <a:avLst/>
          </a:prstGeom>
          <a:noFill/>
          <a:ln w="12700">
            <a:solidFill>
              <a:srgbClr val="9FB26A"/>
            </a:solidFill>
            <a:prstDash val="dash"/>
            <a:headEnd type="none"/>
            <a:tailEnd type="none"/>
          </a:ln>
        </p:spPr>
      </p:sp>
      <p:sp>
        <p:nvSpPr>
          <p:cNvPr id="17" name="Shape 14"/>
          <p:cNvSpPr/>
          <p:nvPr>
            <p:custDataLst>
              <p:tags r:id="rId4"/>
            </p:custDataLst>
          </p:nvPr>
        </p:nvSpPr>
        <p:spPr>
          <a:xfrm>
            <a:off x="4067175" y="4481830"/>
            <a:ext cx="7560310" cy="0"/>
          </a:xfrm>
          <a:prstGeom prst="line">
            <a:avLst/>
          </a:prstGeom>
          <a:noFill/>
          <a:ln w="12700">
            <a:solidFill>
              <a:srgbClr val="9FB26A"/>
            </a:solidFill>
            <a:prstDash val="dash"/>
            <a:headEnd type="none"/>
            <a:tailEnd type="none"/>
          </a:ln>
        </p:spPr>
      </p:sp>
      <p:sp>
        <p:nvSpPr>
          <p:cNvPr id="18" name="Text 15"/>
          <p:cNvSpPr/>
          <p:nvPr>
            <p:custDataLst>
              <p:tags r:id="rId5"/>
            </p:custDataLst>
          </p:nvPr>
        </p:nvSpPr>
        <p:spPr>
          <a:xfrm>
            <a:off x="4038600" y="1572895"/>
            <a:ext cx="7617460" cy="398780"/>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Horizontal Scaling</a:t>
            </a:r>
            <a:endParaRPr lang="en-US" sz="1600" dirty="0"/>
          </a:p>
        </p:txBody>
      </p:sp>
      <p:sp>
        <p:nvSpPr>
          <p:cNvPr id="19" name="Text 16"/>
          <p:cNvSpPr/>
          <p:nvPr>
            <p:custDataLst>
              <p:tags r:id="rId6"/>
            </p:custDataLst>
          </p:nvPr>
        </p:nvSpPr>
        <p:spPr>
          <a:xfrm>
            <a:off x="4038600" y="1941830"/>
            <a:ext cx="7616190" cy="1296670"/>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Horizontal scaling involves adding more nodes to the system to handle increased load. This approach ensures the system can grow and adapt to changing demands.</a:t>
            </a:r>
            <a:endParaRPr lang="en-US" sz="1600" dirty="0"/>
          </a:p>
        </p:txBody>
      </p:sp>
      <p:sp>
        <p:nvSpPr>
          <p:cNvPr id="20" name="Text 17"/>
          <p:cNvSpPr/>
          <p:nvPr>
            <p:custDataLst>
              <p:tags r:id="rId7"/>
            </p:custDataLst>
          </p:nvPr>
        </p:nvSpPr>
        <p:spPr>
          <a:xfrm>
            <a:off x="4038600" y="3102610"/>
            <a:ext cx="7617460" cy="398780"/>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Vertical Scaling</a:t>
            </a:r>
            <a:endParaRPr lang="en-US" sz="1600" dirty="0"/>
          </a:p>
        </p:txBody>
      </p:sp>
      <p:sp>
        <p:nvSpPr>
          <p:cNvPr id="21" name="Text 18"/>
          <p:cNvSpPr/>
          <p:nvPr>
            <p:custDataLst>
              <p:tags r:id="rId8"/>
            </p:custDataLst>
          </p:nvPr>
        </p:nvSpPr>
        <p:spPr>
          <a:xfrm>
            <a:off x="4038600" y="3471545"/>
            <a:ext cx="7616190" cy="938530"/>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Vertical scaling involves upgrading existing hardware components. It is useful for improving performance but has limitations based on hardware capacity.</a:t>
            </a:r>
            <a:endParaRPr lang="en-US" sz="1600" dirty="0"/>
          </a:p>
        </p:txBody>
      </p:sp>
      <p:sp>
        <p:nvSpPr>
          <p:cNvPr id="22" name="Text 19"/>
          <p:cNvSpPr/>
          <p:nvPr>
            <p:custDataLst>
              <p:tags r:id="rId9"/>
            </p:custDataLst>
          </p:nvPr>
        </p:nvSpPr>
        <p:spPr>
          <a:xfrm>
            <a:off x="4038600" y="4632325"/>
            <a:ext cx="7617460" cy="398780"/>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Load Balancing</a:t>
            </a:r>
            <a:endParaRPr lang="en-US" sz="1600" dirty="0"/>
          </a:p>
        </p:txBody>
      </p:sp>
      <p:sp>
        <p:nvSpPr>
          <p:cNvPr id="23" name="Text 20"/>
          <p:cNvSpPr/>
          <p:nvPr>
            <p:custDataLst>
              <p:tags r:id="rId10"/>
            </p:custDataLst>
          </p:nvPr>
        </p:nvSpPr>
        <p:spPr>
          <a:xfrm>
            <a:off x="4038600" y="5001260"/>
            <a:ext cx="7616190" cy="929640"/>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Load balancing distributes incoming traffic across multiple servers to ensure optimal resource utilization and prevent system overload.</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Reliability</a:t>
            </a:r>
            <a:endParaRPr lang="en-US" sz="1600" dirty="0"/>
          </a:p>
        </p:txBody>
      </p:sp>
      <p:pic>
        <p:nvPicPr>
          <p:cNvPr id="11" name="Image 0" descr="https://test-kimi-img.moonshot.cn/pub/slides/slides_tmpl/image/25-05-30-10:51:06-d0shq6k75iks832je5d0.png"/>
          <p:cNvPicPr>
            <a:picLocks noChangeAspect="1"/>
          </p:cNvPicPr>
          <p:nvPr/>
        </p:nvPicPr>
        <p:blipFill>
          <a:blip r:embed="rId1"/>
          <a:srcRect t="122" b="122"/>
          <a:stretch>
            <a:fillRect/>
          </a:stretch>
        </p:blipFill>
        <p:spPr>
          <a:xfrm>
            <a:off x="-32702" y="1633220"/>
            <a:ext cx="12257405" cy="1812290"/>
          </a:xfrm>
          <a:prstGeom prst="rect">
            <a:avLst/>
          </a:prstGeom>
        </p:spPr>
      </p:pic>
      <p:sp>
        <p:nvSpPr>
          <p:cNvPr id="12" name="Shape 9"/>
          <p:cNvSpPr/>
          <p:nvPr/>
        </p:nvSpPr>
        <p:spPr>
          <a:xfrm>
            <a:off x="2196561" y="2473621"/>
            <a:ext cx="1459038" cy="1459038"/>
          </a:xfrm>
          <a:prstGeom prst="ellipse">
            <a:avLst/>
          </a:prstGeom>
          <a:solidFill>
            <a:srgbClr val="FFFFFF"/>
          </a:solidFill>
          <a:ln w="19050">
            <a:solidFill>
              <a:srgbClr val="2E536D"/>
            </a:solidFill>
            <a:prstDash val="solid"/>
          </a:ln>
        </p:spPr>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2388111" y="2665171"/>
            <a:ext cx="1075939" cy="1075939"/>
          </a:xfrm>
          <a:prstGeom prst="ellipse">
            <a:avLst/>
          </a:prstGeom>
          <a:solidFill>
            <a:srgbClr val="B4CA7C"/>
          </a:solidFill>
        </p:spPr>
      </p:sp>
      <p:sp>
        <p:nvSpPr>
          <p:cNvPr id="15" name="Text 12"/>
          <p:cNvSpPr/>
          <p:nvPr/>
        </p:nvSpPr>
        <p:spPr>
          <a:xfrm>
            <a:off x="238811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5366481" y="2473621"/>
            <a:ext cx="1459038" cy="1459038"/>
          </a:xfrm>
          <a:prstGeom prst="ellipse">
            <a:avLst/>
          </a:prstGeom>
          <a:solidFill>
            <a:srgbClr val="FFFFFF"/>
          </a:solidFill>
          <a:ln w="19050">
            <a:solidFill>
              <a:srgbClr val="BFBFBF"/>
            </a:solidFill>
            <a:prstDash val="solid"/>
          </a:ln>
        </p:spPr>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a:off x="5558031" y="2665171"/>
            <a:ext cx="1075939" cy="1075939"/>
          </a:xfrm>
          <a:prstGeom prst="ellipse">
            <a:avLst/>
          </a:prstGeom>
          <a:solidFill>
            <a:srgbClr val="525E30"/>
          </a:solidFill>
        </p:spPr>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Shape 17"/>
          <p:cNvSpPr/>
          <p:nvPr/>
        </p:nvSpPr>
        <p:spPr>
          <a:xfrm>
            <a:off x="8536401" y="2473621"/>
            <a:ext cx="1459038" cy="1459038"/>
          </a:xfrm>
          <a:prstGeom prst="ellipse">
            <a:avLst/>
          </a:prstGeom>
          <a:solidFill>
            <a:srgbClr val="FFFFFF"/>
          </a:solidFill>
          <a:ln w="19050">
            <a:solidFill>
              <a:srgbClr val="2E536D"/>
            </a:solidFill>
            <a:prstDash val="solid"/>
          </a:ln>
        </p:spPr>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Shape 19"/>
          <p:cNvSpPr/>
          <p:nvPr/>
        </p:nvSpPr>
        <p:spPr>
          <a:xfrm>
            <a:off x="8727951" y="2665171"/>
            <a:ext cx="1075939" cy="1075939"/>
          </a:xfrm>
          <a:prstGeom prst="ellipse">
            <a:avLst/>
          </a:prstGeom>
          <a:solidFill>
            <a:srgbClr val="B4CA7C"/>
          </a:solidFill>
        </p:spPr>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Shape 21"/>
          <p:cNvSpPr/>
          <p:nvPr/>
        </p:nvSpPr>
        <p:spPr>
          <a:xfrm>
            <a:off x="2552868" y="2907327"/>
            <a:ext cx="726482" cy="584775"/>
          </a:xfrm>
          <a:prstGeom prst="rect">
            <a:avLst/>
          </a:prstGeom>
          <a:solidFill>
            <a:srgbClr val="000000">
              <a:alpha val="0"/>
            </a:srgbClr>
          </a:solidFill>
        </p:spPr>
      </p:sp>
      <p:sp>
        <p:nvSpPr>
          <p:cNvPr id="25" name="Text 22"/>
          <p:cNvSpPr/>
          <p:nvPr/>
        </p:nvSpPr>
        <p:spPr>
          <a:xfrm>
            <a:off x="255286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01</a:t>
            </a: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sp>
      <p:sp>
        <p:nvSpPr>
          <p:cNvPr id="27" name="Text 24"/>
          <p:cNvSpPr/>
          <p:nvPr/>
        </p:nvSpPr>
        <p:spPr>
          <a:xfrm>
            <a:off x="572278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02</a:t>
            </a:r>
            <a:endParaRPr lang="en-US" sz="1600" dirty="0"/>
          </a:p>
        </p:txBody>
      </p:sp>
      <p:sp>
        <p:nvSpPr>
          <p:cNvPr id="28" name="Shape 25"/>
          <p:cNvSpPr/>
          <p:nvPr/>
        </p:nvSpPr>
        <p:spPr>
          <a:xfrm>
            <a:off x="8912650" y="2907327"/>
            <a:ext cx="726482" cy="584775"/>
          </a:xfrm>
          <a:prstGeom prst="rect">
            <a:avLst/>
          </a:prstGeom>
          <a:solidFill>
            <a:srgbClr val="000000">
              <a:alpha val="0"/>
            </a:srgbClr>
          </a:solidFill>
        </p:spPr>
      </p:sp>
      <p:sp>
        <p:nvSpPr>
          <p:cNvPr id="29" name="Text 26"/>
          <p:cNvSpPr/>
          <p:nvPr/>
        </p:nvSpPr>
        <p:spPr>
          <a:xfrm>
            <a:off x="8912650"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03</a:t>
            </a:r>
            <a:endParaRPr lang="en-US" sz="1600" dirty="0"/>
          </a:p>
        </p:txBody>
      </p:sp>
      <p:sp>
        <p:nvSpPr>
          <p:cNvPr id="30" name="Text 27"/>
          <p:cNvSpPr/>
          <p:nvPr/>
        </p:nvSpPr>
        <p:spPr>
          <a:xfrm>
            <a:off x="1376045" y="4036695"/>
            <a:ext cx="3100705" cy="281305"/>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Redundancy</a:t>
            </a:r>
            <a:endParaRPr lang="en-US" sz="1600" dirty="0"/>
          </a:p>
        </p:txBody>
      </p:sp>
      <p:sp>
        <p:nvSpPr>
          <p:cNvPr id="31" name="Text 28"/>
          <p:cNvSpPr/>
          <p:nvPr/>
        </p:nvSpPr>
        <p:spPr>
          <a:xfrm>
            <a:off x="1376045" y="4379595"/>
            <a:ext cx="2872740" cy="2236470"/>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Redundancy involves having backup components to ensure system availability in case of failures. This includes redundant hardware and data replication.</a:t>
            </a:r>
            <a:endParaRPr lang="en-US" sz="1600" dirty="0"/>
          </a:p>
        </p:txBody>
      </p:sp>
      <p:sp>
        <p:nvSpPr>
          <p:cNvPr id="32" name="Text 29"/>
          <p:cNvSpPr/>
          <p:nvPr/>
        </p:nvSpPr>
        <p:spPr>
          <a:xfrm>
            <a:off x="4708525" y="4036695"/>
            <a:ext cx="3100705" cy="281305"/>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Fault Tolerance</a:t>
            </a:r>
            <a:endParaRPr lang="en-US" sz="1600" dirty="0"/>
          </a:p>
        </p:txBody>
      </p:sp>
      <p:sp>
        <p:nvSpPr>
          <p:cNvPr id="33" name="Text 30"/>
          <p:cNvSpPr/>
          <p:nvPr/>
        </p:nvSpPr>
        <p:spPr>
          <a:xfrm>
            <a:off x="4708525" y="4379595"/>
            <a:ext cx="2872740" cy="2236470"/>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Fault tolerance mechanisms such as error detection and correction ensure the system continues to operate even if some components fail.</a:t>
            </a:r>
            <a:endParaRPr lang="en-US" sz="1600" dirty="0"/>
          </a:p>
        </p:txBody>
      </p:sp>
      <p:sp>
        <p:nvSpPr>
          <p:cNvPr id="34" name="Text 31"/>
          <p:cNvSpPr/>
          <p:nvPr/>
        </p:nvSpPr>
        <p:spPr>
          <a:xfrm>
            <a:off x="8229600" y="4036695"/>
            <a:ext cx="3100705" cy="281305"/>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Regular Maintenance</a:t>
            </a:r>
            <a:endParaRPr lang="en-US" sz="1600" dirty="0"/>
          </a:p>
        </p:txBody>
      </p:sp>
      <p:sp>
        <p:nvSpPr>
          <p:cNvPr id="35" name="Text 32"/>
          <p:cNvSpPr/>
          <p:nvPr/>
        </p:nvSpPr>
        <p:spPr>
          <a:xfrm>
            <a:off x="8229600" y="4379595"/>
            <a:ext cx="2872740" cy="2236470"/>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Regular maintenance and updates are essential to keep the system running smoothly. This includes software updates, hardware checks, and performance tuning.</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Security</a:t>
            </a:r>
            <a:endParaRPr lang="en-US" sz="1600" dirty="0"/>
          </a:p>
        </p:txBody>
      </p:sp>
      <p:sp>
        <p:nvSpPr>
          <p:cNvPr id="9" name="Shape 7"/>
          <p:cNvSpPr/>
          <p:nvPr/>
        </p:nvSpPr>
        <p:spPr>
          <a:xfrm>
            <a:off x="895350" y="1499855"/>
            <a:ext cx="3131820" cy="4437826"/>
          </a:xfrm>
          <a:prstGeom prst="roundRect">
            <a:avLst>
              <a:gd name="adj" fmla="val 5833"/>
            </a:avLst>
          </a:prstGeom>
          <a:solidFill>
            <a:srgbClr val="FFFFFF"/>
          </a:solidFill>
          <a:ln w="19050">
            <a:solidFill>
              <a:srgbClr val="739071"/>
            </a:solidFill>
            <a:prstDash val="solid"/>
          </a:ln>
        </p:spPr>
      </p:sp>
      <p:sp>
        <p:nvSpPr>
          <p:cNvPr id="10" name="Text 8"/>
          <p:cNvSpPr/>
          <p:nvPr/>
        </p:nvSpPr>
        <p:spPr>
          <a:xfrm>
            <a:off x="89535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1" name="Image 0" descr="https://test-kimi-img.moonshot.cn/pub/slides/slides_tmpl/image/25-05-30-10:51:00-d0shq5475iks832je5a0.png"/>
          <p:cNvPicPr>
            <a:picLocks noChangeAspect="1"/>
          </p:cNvPicPr>
          <p:nvPr/>
        </p:nvPicPr>
        <p:blipFill>
          <a:blip r:embed="rId1"/>
          <a:srcRect t="155" b="194"/>
          <a:stretch>
            <a:fillRect/>
          </a:stretch>
        </p:blipFill>
        <p:spPr>
          <a:xfrm>
            <a:off x="1069975" y="1678282"/>
            <a:ext cx="2783205" cy="1633785"/>
          </a:xfrm>
          <a:prstGeom prst="rect">
            <a:avLst/>
          </a:prstGeom>
        </p:spPr>
      </p:pic>
      <p:sp>
        <p:nvSpPr>
          <p:cNvPr id="12" name="Text 9"/>
          <p:cNvSpPr/>
          <p:nvPr/>
        </p:nvSpPr>
        <p:spPr>
          <a:xfrm>
            <a:off x="1026160" y="4026412"/>
            <a:ext cx="2827020" cy="1789989"/>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Data encryption ensures data confidentiality and integrity. It protects sensitive information from unauthorized access during storage and transmission.</a:t>
            </a:r>
            <a:endParaRPr lang="en-US" sz="1600" dirty="0"/>
          </a:p>
        </p:txBody>
      </p:sp>
      <p:sp>
        <p:nvSpPr>
          <p:cNvPr id="13" name="Text 10"/>
          <p:cNvSpPr/>
          <p:nvPr/>
        </p:nvSpPr>
        <p:spPr>
          <a:xfrm>
            <a:off x="104775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Data Encryption</a:t>
            </a:r>
            <a:endParaRPr lang="en-US" sz="1600" dirty="0"/>
          </a:p>
        </p:txBody>
      </p:sp>
      <p:sp>
        <p:nvSpPr>
          <p:cNvPr id="14" name="Shape 11"/>
          <p:cNvSpPr/>
          <p:nvPr/>
        </p:nvSpPr>
        <p:spPr>
          <a:xfrm>
            <a:off x="4349115" y="1149350"/>
            <a:ext cx="3605530" cy="5138201"/>
          </a:xfrm>
          <a:prstGeom prst="roundRect">
            <a:avLst>
              <a:gd name="adj" fmla="val 5833"/>
            </a:avLst>
          </a:prstGeom>
          <a:solidFill>
            <a:srgbClr val="FFFFFF"/>
          </a:solidFill>
          <a:ln w="19050">
            <a:solidFill>
              <a:srgbClr val="739071"/>
            </a:solidFill>
            <a:prstDash val="solid"/>
          </a:ln>
        </p:spPr>
      </p:sp>
      <p:sp>
        <p:nvSpPr>
          <p:cNvPr id="15" name="Text 12"/>
          <p:cNvSpPr/>
          <p:nvPr/>
        </p:nvSpPr>
        <p:spPr>
          <a:xfrm>
            <a:off x="4349115" y="1149350"/>
            <a:ext cx="3605530" cy="5138201"/>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Image 1" descr="https://test-kimi-img.moonshot.cn/pub/slides/slides_tmpl/image/25-05-30-10:51:01-d0shq5c75iks832je5ag.png"/>
          <p:cNvPicPr>
            <a:picLocks noChangeAspect="1"/>
          </p:cNvPicPr>
          <p:nvPr/>
        </p:nvPicPr>
        <p:blipFill>
          <a:blip r:embed="rId2"/>
          <a:srcRect l="54" r="54"/>
          <a:stretch>
            <a:fillRect/>
          </a:stretch>
        </p:blipFill>
        <p:spPr>
          <a:xfrm>
            <a:off x="4471192" y="1366087"/>
            <a:ext cx="3361377" cy="2163100"/>
          </a:xfrm>
          <a:prstGeom prst="rect">
            <a:avLst/>
          </a:prstGeom>
        </p:spPr>
      </p:pic>
      <p:sp>
        <p:nvSpPr>
          <p:cNvPr id="17" name="Text 13"/>
          <p:cNvSpPr/>
          <p:nvPr/>
        </p:nvSpPr>
        <p:spPr>
          <a:xfrm>
            <a:off x="4490724" y="4117736"/>
            <a:ext cx="3322312" cy="2045878"/>
          </a:xfrm>
          <a:prstGeom prst="rect">
            <a:avLst/>
          </a:prstGeom>
          <a:noFill/>
        </p:spPr>
        <p:txBody>
          <a:bodyPr wrap="square" lIns="0" tIns="0" rIns="0" bIns="0" rtlCol="0" anchor="t">
            <a:spAutoFit/>
          </a:bodyPr>
          <a:lstStyle/>
          <a:p>
            <a:pPr marL="0" indent="0" algn="just">
              <a:lnSpc>
                <a:spcPct val="120000"/>
              </a:lnSpc>
              <a:buNone/>
            </a:pPr>
            <a:r>
              <a:rPr lang="en-US" sz="1600" dirty="0">
                <a:solidFill>
                  <a:srgbClr val="2B2F36"/>
                </a:solidFill>
                <a:latin typeface="MiSans" pitchFamily="34" charset="-122"/>
                <a:ea typeface="MiSans" pitchFamily="34" charset="-122"/>
                <a:cs typeface="MiSans" pitchFamily="34" charset="-120"/>
              </a:rPr>
              <a:t>Access control mechanisms such as authentication and authorization ensure only authorized users can access the system. This includes user roles and permissions.</a:t>
            </a:r>
            <a:endParaRPr lang="en-US" sz="1600" dirty="0"/>
          </a:p>
        </p:txBody>
      </p:sp>
      <p:sp>
        <p:nvSpPr>
          <p:cNvPr id="18" name="Text 14"/>
          <p:cNvSpPr/>
          <p:nvPr/>
        </p:nvSpPr>
        <p:spPr>
          <a:xfrm>
            <a:off x="4490724" y="3529187"/>
            <a:ext cx="3322312" cy="523833"/>
          </a:xfrm>
          <a:prstGeom prst="rect">
            <a:avLst/>
          </a:prstGeom>
          <a:noFill/>
        </p:spPr>
        <p:txBody>
          <a:bodyPr wrap="square" lIns="0" tIns="0" rIns="0" bIns="35941" rtlCol="0" anchor="ctr"/>
          <a:lstStyle/>
          <a:p>
            <a:pPr marL="0" indent="0" algn="ctr">
              <a:lnSpc>
                <a:spcPct val="100000"/>
              </a:lnSpc>
              <a:buNone/>
            </a:pPr>
            <a:r>
              <a:rPr lang="en-US" sz="1800" b="1" dirty="0">
                <a:solidFill>
                  <a:srgbClr val="5E927D"/>
                </a:solidFill>
                <a:latin typeface="MiSans" pitchFamily="34" charset="-122"/>
                <a:ea typeface="MiSans" pitchFamily="34" charset="-122"/>
                <a:cs typeface="MiSans" pitchFamily="34" charset="-120"/>
              </a:rPr>
              <a:t>Access Control</a:t>
            </a:r>
            <a:endParaRPr lang="en-US" sz="1600" dirty="0"/>
          </a:p>
        </p:txBody>
      </p:sp>
      <p:sp>
        <p:nvSpPr>
          <p:cNvPr id="19" name="Shape 15"/>
          <p:cNvSpPr/>
          <p:nvPr/>
        </p:nvSpPr>
        <p:spPr>
          <a:xfrm>
            <a:off x="8276590" y="1499855"/>
            <a:ext cx="3131820" cy="4437826"/>
          </a:xfrm>
          <a:prstGeom prst="roundRect">
            <a:avLst>
              <a:gd name="adj" fmla="val 5833"/>
            </a:avLst>
          </a:prstGeom>
          <a:solidFill>
            <a:srgbClr val="FFFFFF"/>
          </a:solidFill>
          <a:ln w="19050">
            <a:solidFill>
              <a:srgbClr val="739071"/>
            </a:solidFill>
            <a:prstDash val="solid"/>
          </a:ln>
        </p:spPr>
      </p:sp>
      <p:sp>
        <p:nvSpPr>
          <p:cNvPr id="20" name="Text 16"/>
          <p:cNvSpPr/>
          <p:nvPr/>
        </p:nvSpPr>
        <p:spPr>
          <a:xfrm>
            <a:off x="827659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1" name="Image 2" descr="https://test-kimi-img.moonshot.cn/pub/slides/slides_tmpl/image/25-05-30-10:51:01-d0shq5c75iks832je5b0.png"/>
          <p:cNvPicPr>
            <a:picLocks noChangeAspect="1"/>
          </p:cNvPicPr>
          <p:nvPr/>
        </p:nvPicPr>
        <p:blipFill>
          <a:blip r:embed="rId3"/>
          <a:srcRect t="155" b="194"/>
          <a:stretch>
            <a:fillRect/>
          </a:stretch>
        </p:blipFill>
        <p:spPr>
          <a:xfrm>
            <a:off x="8451215" y="1678282"/>
            <a:ext cx="2783205" cy="1633785"/>
          </a:xfrm>
          <a:prstGeom prst="rect">
            <a:avLst/>
          </a:prstGeom>
        </p:spPr>
      </p:pic>
      <p:sp>
        <p:nvSpPr>
          <p:cNvPr id="22" name="Text 17"/>
          <p:cNvSpPr/>
          <p:nvPr/>
        </p:nvSpPr>
        <p:spPr>
          <a:xfrm>
            <a:off x="8407400" y="4026412"/>
            <a:ext cx="2827020" cy="1789989"/>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Regular security audits and vulnerability assessments help identify and mitigate potential security risks. They ensure the system complies with security standards.</a:t>
            </a:r>
            <a:endParaRPr lang="en-US" sz="1600" dirty="0"/>
          </a:p>
        </p:txBody>
      </p:sp>
      <p:sp>
        <p:nvSpPr>
          <p:cNvPr id="23" name="Text 18"/>
          <p:cNvSpPr/>
          <p:nvPr/>
        </p:nvSpPr>
        <p:spPr>
          <a:xfrm>
            <a:off x="842899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Security Audits-</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343025"/>
            <a:ext cx="4088765" cy="1236067"/>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04</a:t>
            </a:r>
            <a:endParaRPr lang="en-US" sz="1600" dirty="0"/>
          </a:p>
        </p:txBody>
      </p:sp>
      <p:sp>
        <p:nvSpPr>
          <p:cNvPr id="7" name="Text 3"/>
          <p:cNvSpPr/>
          <p:nvPr/>
        </p:nvSpPr>
        <p:spPr>
          <a:xfrm>
            <a:off x="5979795" y="2519045"/>
            <a:ext cx="4779645" cy="3476625"/>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Smart Warehouse - Introduction to JD.com Asia No.1 Warehouse</a:t>
            </a:r>
            <a:endParaRPr lang="en-US" sz="4400" b="1" dirty="0">
              <a:solidFill>
                <a:srgbClr val="000000"/>
              </a:solidFill>
              <a:latin typeface="MiSans" pitchFamily="34" charset="-122"/>
              <a:ea typeface="MiSans" pitchFamily="34" charset="-122"/>
              <a:cs typeface="MiSans" pitchFamily="34" charset="-12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Overview of the Warehouse</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2" name="文本框 11"/>
          <p:cNvSpPr txBox="1"/>
          <p:nvPr/>
        </p:nvSpPr>
        <p:spPr>
          <a:xfrm>
            <a:off x="1424940" y="1444625"/>
            <a:ext cx="9178290" cy="2990850"/>
          </a:xfrm>
          <a:prstGeom prst="rect">
            <a:avLst/>
          </a:prstGeom>
          <a:noFill/>
        </p:spPr>
        <p:txBody>
          <a:bodyPr wrap="square" rtlCol="0">
            <a:noAutofit/>
          </a:bodyPr>
          <a:p>
            <a:r>
              <a:rPr lang="en-US" altLang="zh-CN" sz="1400" dirty="0">
                <a:solidFill>
                  <a:srgbClr val="2B2F36"/>
                </a:solidFill>
                <a:latin typeface="MiSans" pitchFamily="34" charset="-122"/>
                <a:ea typeface="MiSans" pitchFamily="34" charset="-122"/>
                <a:cs typeface="MiSans" pitchFamily="34" charset="-120"/>
              </a:rPr>
              <a:t>JD.com Asia No.1 Warehouse is an intelligent warehousing center under JD.com Group, representing JD.com's innovation and technological strength in the logistics field.</a:t>
            </a:r>
            <a:endParaRPr lang="en-US" altLang="zh-CN" sz="1400" dirty="0">
              <a:solidFill>
                <a:srgbClr val="2B2F36"/>
              </a:solidFill>
              <a:latin typeface="MiSans" pitchFamily="34" charset="-122"/>
              <a:ea typeface="MiSans" pitchFamily="34" charset="-122"/>
              <a:cs typeface="MiSans" pitchFamily="34" charset="-120"/>
            </a:endParaRPr>
          </a:p>
          <a:p>
            <a:endParaRPr lang="en-US" altLang="zh-CN" sz="1400" dirty="0">
              <a:solidFill>
                <a:srgbClr val="2B2F36"/>
              </a:solidFill>
              <a:latin typeface="MiSans" pitchFamily="34" charset="-122"/>
              <a:ea typeface="MiSans" pitchFamily="34" charset="-122"/>
              <a:cs typeface="MiSans" pitchFamily="34" charset="-120"/>
            </a:endParaRPr>
          </a:p>
          <a:p>
            <a:r>
              <a:rPr lang="en-US" altLang="zh-CN" sz="1400" dirty="0">
                <a:solidFill>
                  <a:srgbClr val="2B2F36"/>
                </a:solidFill>
                <a:latin typeface="MiSans" pitchFamily="34" charset="-122"/>
                <a:ea typeface="MiSans" pitchFamily="34" charset="-122"/>
                <a:cs typeface="MiSans" pitchFamily="34" charset="-120"/>
              </a:rPr>
              <a:t>As an important part of JD.com's logistics system, Asia No.1 Warehouse has improved warehousing efficiency and reduced operating costs by introducing advanced automated technologies and intelligent management systems, providing strong support for JD.com's rapid development.</a:t>
            </a:r>
            <a:endParaRPr lang="en-US" altLang="zh-CN" sz="1400" dirty="0">
              <a:solidFill>
                <a:srgbClr val="2B2F36"/>
              </a:solidFill>
              <a:latin typeface="MiSans" pitchFamily="34" charset="-122"/>
              <a:ea typeface="MiSans" pitchFamily="34" charset="-122"/>
              <a:cs typeface="MiSans" pitchFamily="34" charset="-120"/>
            </a:endParaRPr>
          </a:p>
          <a:p>
            <a:endParaRPr lang="en-US" altLang="zh-CN" sz="1400" dirty="0">
              <a:solidFill>
                <a:srgbClr val="2B2F36"/>
              </a:solidFill>
              <a:latin typeface="MiSans" pitchFamily="34" charset="-122"/>
              <a:ea typeface="MiSans" pitchFamily="34" charset="-122"/>
              <a:cs typeface="MiSans" pitchFamily="34" charset="-120"/>
            </a:endParaRPr>
          </a:p>
          <a:p>
            <a:r>
              <a:rPr lang="en-US" altLang="zh-CN" sz="1400" dirty="0">
                <a:solidFill>
                  <a:srgbClr val="2B2F36"/>
                </a:solidFill>
                <a:latin typeface="MiSans" pitchFamily="34" charset="-122"/>
                <a:ea typeface="MiSans" pitchFamily="34" charset="-122"/>
                <a:cs typeface="MiSans" pitchFamily="34" charset="-120"/>
              </a:rPr>
              <a:t>The warehouse covers a vast area, with hundreds of thousands of square meters of modern warehousing space, equipped with advanced shelf systems, conveying systems and sorting systems.</a:t>
            </a:r>
            <a:endParaRPr lang="en-US" altLang="zh-CN" sz="1400" dirty="0">
              <a:solidFill>
                <a:srgbClr val="2B2F36"/>
              </a:solidFill>
              <a:latin typeface="MiSans" pitchFamily="34" charset="-122"/>
              <a:ea typeface="MiSans" pitchFamily="34" charset="-122"/>
              <a:cs typeface="MiSans" pitchFamily="34" charset="-120"/>
            </a:endParaRPr>
          </a:p>
          <a:p>
            <a:endParaRPr lang="en-US" altLang="zh-CN" sz="1400" dirty="0">
              <a:solidFill>
                <a:srgbClr val="2B2F36"/>
              </a:solidFill>
              <a:latin typeface="MiSans" pitchFamily="34" charset="-122"/>
              <a:ea typeface="MiSans" pitchFamily="34" charset="-122"/>
              <a:cs typeface="MiSans" pitchFamily="34" charset="-120"/>
            </a:endParaRPr>
          </a:p>
          <a:p>
            <a:r>
              <a:rPr lang="en-US" altLang="zh-CN" sz="1400" dirty="0">
                <a:solidFill>
                  <a:srgbClr val="2B2F36"/>
                </a:solidFill>
                <a:latin typeface="MiSans" pitchFamily="34" charset="-122"/>
                <a:ea typeface="MiSans" pitchFamily="34" charset="-122"/>
                <a:cs typeface="MiSans" pitchFamily="34" charset="-120"/>
              </a:rPr>
              <a:t>JD.com Asia No.1 Warehouse is located in an important logistics hub city in China, with superior geographical location and convenient transportation.</a:t>
            </a:r>
            <a:endParaRPr lang="en-US" altLang="zh-CN" sz="140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Main Business and Functional Positioning</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2" name="文本框 11"/>
          <p:cNvSpPr txBox="1"/>
          <p:nvPr/>
        </p:nvSpPr>
        <p:spPr>
          <a:xfrm>
            <a:off x="1010285" y="1271905"/>
            <a:ext cx="4486275" cy="3887470"/>
          </a:xfrm>
          <a:prstGeom prst="rect">
            <a:avLst/>
          </a:prstGeom>
          <a:noFill/>
        </p:spPr>
        <p:txBody>
          <a:bodyPr wrap="square" rtlCol="0">
            <a:noAutofit/>
          </a:bodyPr>
          <a:p>
            <a:r>
              <a:rPr lang="en-US" altLang="zh-CN" sz="1400" dirty="0">
                <a:solidFill>
                  <a:srgbClr val="2B2F36"/>
                </a:solidFill>
                <a:latin typeface="MiSans" pitchFamily="34" charset="-122"/>
                <a:ea typeface="MiSans" pitchFamily="34" charset="-122"/>
                <a:cs typeface="MiSans" pitchFamily="34" charset="-120"/>
              </a:rPr>
              <a:t>JD.com Asia No.1 Warehouse is mainly responsible for the storage, management and distribution of JD.com's self-operated commodities, covering various types of goods such as home appliances, digital products, household items and daily necessities.</a:t>
            </a:r>
            <a:endParaRPr lang="en-US" altLang="zh-CN" sz="1400" dirty="0">
              <a:solidFill>
                <a:srgbClr val="2B2F36"/>
              </a:solidFill>
              <a:latin typeface="MiSans" pitchFamily="34" charset="-122"/>
              <a:ea typeface="MiSans" pitchFamily="34" charset="-122"/>
              <a:cs typeface="MiSans" pitchFamily="34" charset="-120"/>
            </a:endParaRPr>
          </a:p>
          <a:p>
            <a:endParaRPr lang="en-US" altLang="zh-CN" sz="1400" dirty="0">
              <a:solidFill>
                <a:srgbClr val="2B2F36"/>
              </a:solidFill>
              <a:latin typeface="MiSans" pitchFamily="34" charset="-122"/>
              <a:ea typeface="MiSans" pitchFamily="34" charset="-122"/>
              <a:cs typeface="MiSans" pitchFamily="34" charset="-120"/>
            </a:endParaRPr>
          </a:p>
          <a:p>
            <a:endParaRPr lang="en-US" altLang="zh-CN" sz="1400" dirty="0">
              <a:solidFill>
                <a:srgbClr val="2B2F36"/>
              </a:solidFill>
              <a:latin typeface="MiSans" pitchFamily="34" charset="-122"/>
              <a:ea typeface="MiSans" pitchFamily="34" charset="-122"/>
              <a:cs typeface="MiSans" pitchFamily="34" charset="-120"/>
            </a:endParaRPr>
          </a:p>
          <a:p>
            <a:endParaRPr lang="en-US" altLang="zh-CN" sz="1400" dirty="0">
              <a:solidFill>
                <a:srgbClr val="2B2F36"/>
              </a:solidFill>
              <a:latin typeface="MiSans" pitchFamily="34" charset="-122"/>
              <a:ea typeface="MiSans" pitchFamily="34" charset="-122"/>
              <a:cs typeface="MiSans" pitchFamily="34" charset="-120"/>
            </a:endParaRPr>
          </a:p>
          <a:p>
            <a:r>
              <a:rPr lang="en-US" altLang="zh-CN" sz="1400" dirty="0">
                <a:solidFill>
                  <a:srgbClr val="2B2F36"/>
                </a:solidFill>
                <a:latin typeface="MiSans" pitchFamily="34" charset="-122"/>
                <a:ea typeface="MiSans" pitchFamily="34" charset="-122"/>
                <a:cs typeface="MiSans" pitchFamily="34" charset="-120"/>
              </a:rPr>
              <a:t>As a core link in JD.com's logistics system, Asia No.1 Warehouse realizes the rapid warehousing, storage, sorting and delivery of goods through highly automated warehousing equipment and intelligent management systems, ensuring the timely delivery of JD.com's orders and customers' satisfactory experience.</a:t>
            </a:r>
            <a:endParaRPr lang="en-US" altLang="zh-CN" sz="1400" dirty="0">
              <a:solidFill>
                <a:srgbClr val="2B2F36"/>
              </a:solidFill>
              <a:latin typeface="MiSans" pitchFamily="34" charset="-122"/>
              <a:ea typeface="MiSans" pitchFamily="34" charset="-122"/>
              <a:cs typeface="MiSans" pitchFamily="34" charset="-120"/>
            </a:endParaRPr>
          </a:p>
        </p:txBody>
      </p:sp>
      <p:pic>
        <p:nvPicPr>
          <p:cNvPr id="9" name="Picture 2"/>
          <p:cNvPicPr>
            <a:picLocks noChangeAspect="1"/>
          </p:cNvPicPr>
          <p:nvPr/>
        </p:nvPicPr>
        <p:blipFill>
          <a:blip r:embed="rId1">
            <a:alphaModFix amt="70000"/>
          </a:blip>
          <a:srcRect l="16675" r="16675"/>
          <a:stretch>
            <a:fillRect/>
          </a:stretch>
        </p:blipFill>
        <p:spPr>
          <a:xfrm>
            <a:off x="6361747" y="1056552"/>
            <a:ext cx="4843295" cy="4843295"/>
          </a:xfrm>
          <a:prstGeom prst="round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Automated Storage and Retrieval System</a:t>
            </a:r>
            <a:endParaRPr lang="en-US" sz="2800" b="1" dirty="0">
              <a:solidFill>
                <a:srgbClr val="2F493E"/>
              </a:solidFill>
              <a:latin typeface="MiSans" pitchFamily="34" charset="-122"/>
              <a:ea typeface="MiSans" pitchFamily="34" charset="-122"/>
              <a:cs typeface="MiSans" pitchFamily="34" charset="-120"/>
            </a:endParaRPr>
          </a:p>
        </p:txBody>
      </p:sp>
      <p:sp>
        <p:nvSpPr>
          <p:cNvPr id="9" name="Shape 7"/>
          <p:cNvSpPr/>
          <p:nvPr/>
        </p:nvSpPr>
        <p:spPr>
          <a:xfrm>
            <a:off x="895350" y="1499855"/>
            <a:ext cx="3131820" cy="4437826"/>
          </a:xfrm>
          <a:prstGeom prst="roundRect">
            <a:avLst>
              <a:gd name="adj" fmla="val 5833"/>
            </a:avLst>
          </a:prstGeom>
          <a:solidFill>
            <a:srgbClr val="FFFFFF"/>
          </a:solidFill>
          <a:ln w="19050">
            <a:solidFill>
              <a:srgbClr val="739071"/>
            </a:solidFill>
            <a:prstDash val="solid"/>
          </a:ln>
        </p:spPr>
      </p:sp>
      <p:sp>
        <p:nvSpPr>
          <p:cNvPr id="10" name="Text 8"/>
          <p:cNvSpPr/>
          <p:nvPr/>
        </p:nvSpPr>
        <p:spPr>
          <a:xfrm>
            <a:off x="89535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1" name="Image 0" descr="https://test-kimi-img.moonshot.cn/pub/slides/slides_tmpl/image/25-05-30-10:51:00-d0shq5475iks832je5a0.png"/>
          <p:cNvPicPr>
            <a:picLocks noChangeAspect="1"/>
          </p:cNvPicPr>
          <p:nvPr/>
        </p:nvPicPr>
        <p:blipFill>
          <a:blip r:embed="rId1"/>
          <a:srcRect t="155" b="194"/>
          <a:stretch>
            <a:fillRect/>
          </a:stretch>
        </p:blipFill>
        <p:spPr>
          <a:xfrm>
            <a:off x="1069975" y="1678282"/>
            <a:ext cx="2783205" cy="1633785"/>
          </a:xfrm>
          <a:prstGeom prst="rect">
            <a:avLst/>
          </a:prstGeom>
        </p:spPr>
      </p:pic>
      <p:sp>
        <p:nvSpPr>
          <p:cNvPr id="12" name="Text 9"/>
          <p:cNvSpPr/>
          <p:nvPr/>
        </p:nvSpPr>
        <p:spPr>
          <a:xfrm>
            <a:off x="1026160" y="4026412"/>
            <a:ext cx="2827020" cy="1769745"/>
          </a:xfrm>
          <a:prstGeom prst="rect">
            <a:avLst/>
          </a:prstGeom>
          <a:noFill/>
        </p:spPr>
        <p:txBody>
          <a:bodyPr wrap="square" lIns="0" tIns="0" rIns="0" bIns="0" rtlCol="0" anchor="t">
            <a:spAutoFit/>
          </a:bodyPr>
          <a:lstStyle/>
          <a:p>
            <a:pPr marL="0" indent="0" algn="just">
              <a:lnSpc>
                <a:spcPct val="120000"/>
              </a:lnSpc>
              <a:buNone/>
            </a:pPr>
            <a:r>
              <a:rPr lang="en-US" sz="1600" dirty="0">
                <a:solidFill>
                  <a:srgbClr val="2B2F36"/>
                </a:solidFill>
                <a:latin typeface="MiSans" pitchFamily="34" charset="-122"/>
                <a:ea typeface="MiSans" pitchFamily="34" charset="-122"/>
                <a:cs typeface="MiSans" pitchFamily="34" charset="-120"/>
              </a:rPr>
              <a:t>The use of three-dimensional shelves and automated stackers enables high-density storage of goods, improving the utilization rate of warehouse space.</a:t>
            </a:r>
            <a:endParaRPr lang="en-US" sz="1600" dirty="0">
              <a:solidFill>
                <a:srgbClr val="2B2F36"/>
              </a:solidFill>
              <a:latin typeface="MiSans" pitchFamily="34" charset="-122"/>
              <a:ea typeface="MiSans" pitchFamily="34" charset="-122"/>
              <a:cs typeface="MiSans" pitchFamily="34" charset="-120"/>
            </a:endParaRPr>
          </a:p>
        </p:txBody>
      </p:sp>
      <p:sp>
        <p:nvSpPr>
          <p:cNvPr id="13" name="Text 10"/>
          <p:cNvSpPr/>
          <p:nvPr/>
        </p:nvSpPr>
        <p:spPr>
          <a:xfrm>
            <a:off x="1047750" y="3312068"/>
            <a:ext cx="2827655" cy="593065"/>
          </a:xfrm>
          <a:prstGeom prst="rect">
            <a:avLst/>
          </a:prstGeom>
          <a:noFill/>
        </p:spPr>
        <p:txBody>
          <a:bodyPr wrap="square" lIns="0" tIns="0" rIns="0" bIns="35941" rtlCol="0" anchor="ctr"/>
          <a:lstStyle/>
          <a:p>
            <a:pPr marL="0" indent="0" algn="just">
              <a:lnSpc>
                <a:spcPct val="100000"/>
              </a:lnSpc>
              <a:buNone/>
            </a:pPr>
            <a:r>
              <a:rPr lang="en-US" sz="1800" b="1" dirty="0">
                <a:solidFill>
                  <a:srgbClr val="5E927D"/>
                </a:solidFill>
                <a:latin typeface="MiSans" pitchFamily="34" charset="-122"/>
                <a:ea typeface="MiSans" pitchFamily="34" charset="-122"/>
                <a:cs typeface="MiSans" pitchFamily="34" charset="-120"/>
              </a:rPr>
              <a:t>High-Density Storage</a:t>
            </a:r>
            <a:endParaRPr lang="en-US" sz="1800" b="1" dirty="0">
              <a:solidFill>
                <a:srgbClr val="5E927D"/>
              </a:solidFill>
              <a:latin typeface="MiSans" pitchFamily="34" charset="-122"/>
              <a:ea typeface="MiSans" pitchFamily="34" charset="-122"/>
              <a:cs typeface="MiSans" pitchFamily="34" charset="-120"/>
            </a:endParaRPr>
          </a:p>
        </p:txBody>
      </p:sp>
      <p:sp>
        <p:nvSpPr>
          <p:cNvPr id="14" name="Shape 11"/>
          <p:cNvSpPr/>
          <p:nvPr/>
        </p:nvSpPr>
        <p:spPr>
          <a:xfrm>
            <a:off x="4349115" y="1149350"/>
            <a:ext cx="3605530" cy="5138201"/>
          </a:xfrm>
          <a:prstGeom prst="roundRect">
            <a:avLst>
              <a:gd name="adj" fmla="val 5833"/>
            </a:avLst>
          </a:prstGeom>
          <a:solidFill>
            <a:srgbClr val="FFFFFF"/>
          </a:solidFill>
          <a:ln w="19050">
            <a:solidFill>
              <a:srgbClr val="739071"/>
            </a:solidFill>
            <a:prstDash val="solid"/>
          </a:ln>
        </p:spPr>
      </p:sp>
      <p:sp>
        <p:nvSpPr>
          <p:cNvPr id="15" name="Text 12"/>
          <p:cNvSpPr/>
          <p:nvPr/>
        </p:nvSpPr>
        <p:spPr>
          <a:xfrm>
            <a:off x="4349115" y="1149350"/>
            <a:ext cx="3605530" cy="5138201"/>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Image 1" descr="https://test-kimi-img.moonshot.cn/pub/slides/slides_tmpl/image/25-05-30-10:51:01-d0shq5c75iks832je5ag.png"/>
          <p:cNvPicPr>
            <a:picLocks noChangeAspect="1"/>
          </p:cNvPicPr>
          <p:nvPr/>
        </p:nvPicPr>
        <p:blipFill>
          <a:blip r:embed="rId2"/>
          <a:srcRect l="54" r="54"/>
          <a:stretch>
            <a:fillRect/>
          </a:stretch>
        </p:blipFill>
        <p:spPr>
          <a:xfrm>
            <a:off x="4471192" y="1366087"/>
            <a:ext cx="3361377" cy="2163100"/>
          </a:xfrm>
          <a:prstGeom prst="rect">
            <a:avLst/>
          </a:prstGeom>
        </p:spPr>
      </p:pic>
      <p:sp>
        <p:nvSpPr>
          <p:cNvPr id="17" name="Text 13"/>
          <p:cNvSpPr/>
          <p:nvPr/>
        </p:nvSpPr>
        <p:spPr>
          <a:xfrm>
            <a:off x="4490724" y="4117736"/>
            <a:ext cx="3322312" cy="1474470"/>
          </a:xfrm>
          <a:prstGeom prst="rect">
            <a:avLst/>
          </a:prstGeom>
          <a:noFill/>
        </p:spPr>
        <p:txBody>
          <a:bodyPr wrap="square" lIns="0" tIns="0" rIns="0" bIns="0" rtlCol="0" anchor="t">
            <a:spAutoFit/>
          </a:bodyPr>
          <a:lstStyle/>
          <a:p>
            <a:pPr marL="0" indent="0" algn="just">
              <a:lnSpc>
                <a:spcPct val="120000"/>
              </a:lnSpc>
              <a:buNone/>
            </a:pPr>
            <a:r>
              <a:rPr lang="en-US" sz="1600" dirty="0">
                <a:solidFill>
                  <a:srgbClr val="2B2F36"/>
                </a:solidFill>
                <a:latin typeface="MiSans" pitchFamily="34" charset="-122"/>
                <a:ea typeface="MiSans" pitchFamily="34" charset="-122"/>
                <a:cs typeface="MiSans" pitchFamily="34" charset="-120"/>
              </a:rPr>
              <a:t>Through an advanced warehouse management system, the rapid retrieval and positioning of goods are realized, improving picking efficiency.</a:t>
            </a:r>
            <a:endParaRPr lang="en-US" sz="1600" dirty="0">
              <a:solidFill>
                <a:srgbClr val="2B2F36"/>
              </a:solidFill>
              <a:latin typeface="MiSans" pitchFamily="34" charset="-122"/>
              <a:ea typeface="MiSans" pitchFamily="34" charset="-122"/>
              <a:cs typeface="MiSans" pitchFamily="34" charset="-120"/>
            </a:endParaRPr>
          </a:p>
        </p:txBody>
      </p:sp>
      <p:sp>
        <p:nvSpPr>
          <p:cNvPr id="18" name="Text 14"/>
          <p:cNvSpPr/>
          <p:nvPr/>
        </p:nvSpPr>
        <p:spPr>
          <a:xfrm>
            <a:off x="4490724" y="3529187"/>
            <a:ext cx="3322312" cy="523833"/>
          </a:xfrm>
          <a:prstGeom prst="rect">
            <a:avLst/>
          </a:prstGeom>
          <a:noFill/>
        </p:spPr>
        <p:txBody>
          <a:bodyPr wrap="square" lIns="0" tIns="0" rIns="0" bIns="35941" rtlCol="0" anchor="ctr"/>
          <a:lstStyle/>
          <a:p>
            <a:pPr marL="0" indent="0" algn="ctr">
              <a:lnSpc>
                <a:spcPct val="100000"/>
              </a:lnSpc>
              <a:buNone/>
            </a:pPr>
            <a:r>
              <a:rPr lang="en-US" sz="1800" b="1" dirty="0">
                <a:solidFill>
                  <a:srgbClr val="5E927D"/>
                </a:solidFill>
                <a:latin typeface="MiSans" pitchFamily="34" charset="-122"/>
                <a:ea typeface="MiSans" pitchFamily="34" charset="-122"/>
                <a:cs typeface="MiSans" pitchFamily="34" charset="-120"/>
              </a:rPr>
              <a:t>Rapid Retrieval</a:t>
            </a:r>
            <a:endParaRPr lang="en-US" altLang="zh-CN" sz="1600" dirty="0"/>
          </a:p>
        </p:txBody>
      </p:sp>
      <p:sp>
        <p:nvSpPr>
          <p:cNvPr id="19" name="Shape 15"/>
          <p:cNvSpPr/>
          <p:nvPr/>
        </p:nvSpPr>
        <p:spPr>
          <a:xfrm>
            <a:off x="8276590" y="1499855"/>
            <a:ext cx="3131820" cy="4437826"/>
          </a:xfrm>
          <a:prstGeom prst="roundRect">
            <a:avLst>
              <a:gd name="adj" fmla="val 5833"/>
            </a:avLst>
          </a:prstGeom>
          <a:solidFill>
            <a:srgbClr val="FFFFFF"/>
          </a:solidFill>
          <a:ln w="19050">
            <a:solidFill>
              <a:srgbClr val="739071"/>
            </a:solidFill>
            <a:prstDash val="solid"/>
          </a:ln>
        </p:spPr>
      </p:sp>
      <p:sp>
        <p:nvSpPr>
          <p:cNvPr id="20" name="Text 16"/>
          <p:cNvSpPr/>
          <p:nvPr/>
        </p:nvSpPr>
        <p:spPr>
          <a:xfrm>
            <a:off x="827659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1" name="Image 2" descr="https://test-kimi-img.moonshot.cn/pub/slides/slides_tmpl/image/25-05-30-10:51:01-d0shq5c75iks832je5b0.png"/>
          <p:cNvPicPr>
            <a:picLocks noChangeAspect="1"/>
          </p:cNvPicPr>
          <p:nvPr/>
        </p:nvPicPr>
        <p:blipFill>
          <a:blip r:embed="rId3"/>
          <a:srcRect t="155" b="194"/>
          <a:stretch>
            <a:fillRect/>
          </a:stretch>
        </p:blipFill>
        <p:spPr>
          <a:xfrm>
            <a:off x="8451215" y="1678282"/>
            <a:ext cx="2783205" cy="1633785"/>
          </a:xfrm>
          <a:prstGeom prst="rect">
            <a:avLst/>
          </a:prstGeom>
        </p:spPr>
      </p:pic>
      <p:sp>
        <p:nvSpPr>
          <p:cNvPr id="22" name="Text 17"/>
          <p:cNvSpPr/>
          <p:nvPr/>
        </p:nvSpPr>
        <p:spPr>
          <a:xfrm>
            <a:off x="8407400" y="4026412"/>
            <a:ext cx="2827020" cy="1179830"/>
          </a:xfrm>
          <a:prstGeom prst="rect">
            <a:avLst/>
          </a:prstGeom>
          <a:noFill/>
        </p:spPr>
        <p:txBody>
          <a:bodyPr wrap="square" lIns="0" tIns="0" rIns="0" bIns="0" rtlCol="0" anchor="t">
            <a:spAutoFit/>
          </a:bodyPr>
          <a:lstStyle/>
          <a:p>
            <a:pPr marL="0" indent="0" algn="just">
              <a:lnSpc>
                <a:spcPct val="120000"/>
              </a:lnSpc>
              <a:buNone/>
            </a:pPr>
            <a:r>
              <a:rPr lang="en-US" sz="1600" dirty="0">
                <a:solidFill>
                  <a:srgbClr val="2B2F36"/>
                </a:solidFill>
                <a:latin typeface="MiSans" pitchFamily="34" charset="-122"/>
                <a:ea typeface="MiSans" pitchFamily="34" charset="-122"/>
                <a:cs typeface="MiSans" pitchFamily="34" charset="-120"/>
              </a:rPr>
              <a:t>Real-time monitoring of the storage status of goods ensures the safety and accurate delivery of goods.</a:t>
            </a:r>
            <a:endParaRPr lang="en-US" sz="1600" dirty="0">
              <a:solidFill>
                <a:srgbClr val="2B2F36"/>
              </a:solidFill>
              <a:latin typeface="MiSans" pitchFamily="34" charset="-122"/>
              <a:ea typeface="MiSans" pitchFamily="34" charset="-122"/>
              <a:cs typeface="MiSans" pitchFamily="34" charset="-120"/>
            </a:endParaRPr>
          </a:p>
        </p:txBody>
      </p:sp>
      <p:sp>
        <p:nvSpPr>
          <p:cNvPr id="23" name="Text 18"/>
          <p:cNvSpPr/>
          <p:nvPr/>
        </p:nvSpPr>
        <p:spPr>
          <a:xfrm>
            <a:off x="8428990" y="3312068"/>
            <a:ext cx="2827655" cy="593065"/>
          </a:xfrm>
          <a:prstGeom prst="rect">
            <a:avLst/>
          </a:prstGeom>
          <a:noFill/>
        </p:spPr>
        <p:txBody>
          <a:bodyPr wrap="square" lIns="0" tIns="0" rIns="0" bIns="35941" rtlCol="0" anchor="ctr"/>
          <a:lstStyle/>
          <a:p>
            <a:pPr marL="0" algn="ctr">
              <a:lnSpc>
                <a:spcPct val="100000"/>
              </a:lnSpc>
              <a:buClrTx/>
              <a:buSzTx/>
              <a:buFontTx/>
              <a:buNone/>
            </a:pPr>
            <a:r>
              <a:rPr lang="en-US" sz="1800" b="1" dirty="0">
                <a:solidFill>
                  <a:srgbClr val="5E927D"/>
                </a:solidFill>
                <a:latin typeface="MiSans" pitchFamily="34" charset="-122"/>
                <a:ea typeface="MiSans" pitchFamily="34" charset="-122"/>
                <a:cs typeface="MiSans" pitchFamily="34" charset="-120"/>
              </a:rPr>
              <a:t>Real-Time Monitoring</a:t>
            </a:r>
            <a:endParaRPr lang="en-US" sz="1800" b="1" dirty="0">
              <a:solidFill>
                <a:srgbClr val="5E927D"/>
              </a:solidFill>
              <a:latin typeface="MiSans" pitchFamily="34" charset="-122"/>
              <a:ea typeface="MiSans" pitchFamily="34" charset="-122"/>
              <a:cs typeface="MiSans" pitchFamily="34" charset="-12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Robot Handling and Sorting Technology</a:t>
            </a:r>
            <a:endParaRPr lang="en-US" sz="2800" b="1" dirty="0">
              <a:solidFill>
                <a:srgbClr val="2F493E"/>
              </a:solidFill>
              <a:latin typeface="MiSans" pitchFamily="34" charset="-122"/>
              <a:ea typeface="MiSans" pitchFamily="34" charset="-122"/>
              <a:cs typeface="MiSans" pitchFamily="34" charset="-120"/>
            </a:endParaRPr>
          </a:p>
        </p:txBody>
      </p:sp>
      <p:sp>
        <p:nvSpPr>
          <p:cNvPr id="9" name="Shape 7"/>
          <p:cNvSpPr/>
          <p:nvPr>
            <p:custDataLst>
              <p:tags r:id="rId1"/>
            </p:custDataLst>
          </p:nvPr>
        </p:nvSpPr>
        <p:spPr>
          <a:xfrm>
            <a:off x="4956175" y="2925445"/>
            <a:ext cx="6500495" cy="1539875"/>
          </a:xfrm>
          <a:prstGeom prst="roundRect">
            <a:avLst>
              <a:gd name="adj" fmla="val 11000"/>
            </a:avLst>
          </a:prstGeom>
          <a:solidFill>
            <a:srgbClr val="079F92"/>
          </a:solidFill>
          <a:ln w="19050">
            <a:solidFill>
              <a:srgbClr val="A0D1FA">
                <a:alpha val="43137"/>
              </a:srgbClr>
            </a:solidFill>
            <a:prstDash val="solid"/>
          </a:ln>
          <a:effectLst>
            <a:outerShdw blurRad="254000" dist="134704" dir="2700000" algn="bl" rotWithShape="0">
              <a:srgbClr val="1E69D5">
                <a:alpha val="10196"/>
              </a:srgbClr>
            </a:outerShdw>
          </a:effectLst>
        </p:spPr>
      </p:sp>
      <p:sp>
        <p:nvSpPr>
          <p:cNvPr id="10" name="Text 8"/>
          <p:cNvSpPr/>
          <p:nvPr/>
        </p:nvSpPr>
        <p:spPr>
          <a:xfrm>
            <a:off x="4956175" y="2925445"/>
            <a:ext cx="6500495" cy="15398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9"/>
          <p:cNvSpPr/>
          <p:nvPr>
            <p:custDataLst>
              <p:tags r:id="rId2"/>
            </p:custDataLst>
          </p:nvPr>
        </p:nvSpPr>
        <p:spPr>
          <a:xfrm>
            <a:off x="4956175" y="1461770"/>
            <a:ext cx="6500495" cy="1339215"/>
          </a:xfrm>
          <a:prstGeom prst="roundRect">
            <a:avLst>
              <a:gd name="adj" fmla="val 8155"/>
            </a:avLst>
          </a:prstGeom>
          <a:solidFill>
            <a:srgbClr val="FFFFFF"/>
          </a:solidFill>
          <a:ln w="19050">
            <a:solidFill>
              <a:srgbClr val="A0D1FA">
                <a:alpha val="43137"/>
              </a:srgbClr>
            </a:solidFill>
            <a:prstDash val="solid"/>
          </a:ln>
          <a:effectLst>
            <a:outerShdw blurRad="254000" dist="134704" dir="2700000" algn="bl" rotWithShape="0">
              <a:srgbClr val="1E69D5">
                <a:alpha val="10196"/>
              </a:srgbClr>
            </a:outerShdw>
          </a:effectLst>
        </p:spPr>
      </p:sp>
      <p:sp>
        <p:nvSpPr>
          <p:cNvPr id="12" name="Text 10"/>
          <p:cNvSpPr/>
          <p:nvPr/>
        </p:nvSpPr>
        <p:spPr>
          <a:xfrm>
            <a:off x="4956175" y="1461770"/>
            <a:ext cx="6500495" cy="1339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Shape 11"/>
          <p:cNvSpPr/>
          <p:nvPr>
            <p:custDataLst>
              <p:tags r:id="rId3"/>
            </p:custDataLst>
          </p:nvPr>
        </p:nvSpPr>
        <p:spPr>
          <a:xfrm>
            <a:off x="735965" y="1255395"/>
            <a:ext cx="10720070" cy="1545590"/>
          </a:xfrm>
          <a:prstGeom prst="roundRect">
            <a:avLst>
              <a:gd name="adj" fmla="val 8155"/>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sp>
      <p:sp>
        <p:nvSpPr>
          <p:cNvPr id="14" name="Text 12"/>
          <p:cNvSpPr/>
          <p:nvPr/>
        </p:nvSpPr>
        <p:spPr>
          <a:xfrm>
            <a:off x="735965" y="1255395"/>
            <a:ext cx="10720070"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Shape 13"/>
          <p:cNvSpPr/>
          <p:nvPr>
            <p:custDataLst>
              <p:tags r:id="rId4"/>
            </p:custDataLst>
          </p:nvPr>
        </p:nvSpPr>
        <p:spPr>
          <a:xfrm>
            <a:off x="735965" y="2931160"/>
            <a:ext cx="10720705" cy="1545590"/>
          </a:xfrm>
          <a:prstGeom prst="roundRect">
            <a:avLst>
              <a:gd name="adj" fmla="val 11000"/>
            </a:avLst>
          </a:prstGeom>
          <a:solidFill>
            <a:srgbClr val="B4CA7C"/>
          </a:solidFill>
          <a:ln w="19050">
            <a:solidFill>
              <a:srgbClr val="DEEAE5">
                <a:alpha val="43137"/>
              </a:srgbClr>
            </a:solidFill>
            <a:prstDash val="solid"/>
          </a:ln>
          <a:effectLst>
            <a:outerShdw blurRad="254000" dist="134704" dir="2700000" algn="bl" rotWithShape="0">
              <a:srgbClr val="E0E9C9">
                <a:alpha val="10196"/>
              </a:srgbClr>
            </a:outerShdw>
          </a:effectLst>
        </p:spPr>
      </p:sp>
      <p:sp>
        <p:nvSpPr>
          <p:cNvPr id="16" name="Text 14"/>
          <p:cNvSpPr/>
          <p:nvPr/>
        </p:nvSpPr>
        <p:spPr>
          <a:xfrm>
            <a:off x="735965" y="2931160"/>
            <a:ext cx="10720705"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custDataLst>
              <p:tags r:id="rId5"/>
            </p:custDataLst>
          </p:nvPr>
        </p:nvSpPr>
        <p:spPr>
          <a:xfrm>
            <a:off x="736600" y="4594860"/>
            <a:ext cx="10720070" cy="1590675"/>
          </a:xfrm>
          <a:prstGeom prst="roundRect">
            <a:avLst>
              <a:gd name="adj" fmla="val 10289"/>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sp>
      <p:sp>
        <p:nvSpPr>
          <p:cNvPr id="18" name="Text 16"/>
          <p:cNvSpPr/>
          <p:nvPr/>
        </p:nvSpPr>
        <p:spPr>
          <a:xfrm>
            <a:off x="736600" y="4594860"/>
            <a:ext cx="10720070" cy="15906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7"/>
          <p:cNvSpPr/>
          <p:nvPr>
            <p:custDataLst>
              <p:tags r:id="rId6"/>
            </p:custDataLst>
          </p:nvPr>
        </p:nvSpPr>
        <p:spPr>
          <a:xfrm>
            <a:off x="929005" y="3617595"/>
            <a:ext cx="10249200" cy="650240"/>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Through image recognition and artificial intelligence technology, goods are automatically identified and classified, improving sorting speed and accuracy.</a:t>
            </a:r>
            <a:endParaRPr lang="en-US" sz="1400" dirty="0">
              <a:solidFill>
                <a:srgbClr val="FFFFFF"/>
              </a:solidFill>
              <a:latin typeface="MiSans" pitchFamily="34" charset="-122"/>
              <a:ea typeface="MiSans" pitchFamily="34" charset="-122"/>
              <a:cs typeface="MiSans" pitchFamily="34" charset="-120"/>
            </a:endParaRPr>
          </a:p>
        </p:txBody>
      </p:sp>
      <p:sp>
        <p:nvSpPr>
          <p:cNvPr id="20" name="Text 18"/>
          <p:cNvSpPr/>
          <p:nvPr>
            <p:custDataLst>
              <p:tags r:id="rId7"/>
            </p:custDataLst>
          </p:nvPr>
        </p:nvSpPr>
        <p:spPr>
          <a:xfrm>
            <a:off x="929005" y="1496695"/>
            <a:ext cx="10249200" cy="398780"/>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Robot Handling</a:t>
            </a:r>
            <a:endParaRPr lang="en-US" sz="2000" b="1" dirty="0">
              <a:solidFill>
                <a:srgbClr val="000000"/>
              </a:solidFill>
              <a:latin typeface="MiSans" pitchFamily="34" charset="-122"/>
              <a:ea typeface="MiSans" pitchFamily="34" charset="-122"/>
              <a:cs typeface="MiSans" pitchFamily="34" charset="-120"/>
            </a:endParaRPr>
          </a:p>
        </p:txBody>
      </p:sp>
      <p:sp>
        <p:nvSpPr>
          <p:cNvPr id="21" name="Text 19"/>
          <p:cNvSpPr/>
          <p:nvPr>
            <p:custDataLst>
              <p:tags r:id="rId8"/>
            </p:custDataLst>
          </p:nvPr>
        </p:nvSpPr>
        <p:spPr>
          <a:xfrm>
            <a:off x="929005" y="1983740"/>
            <a:ext cx="10249200" cy="650240"/>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Advanced robot technology is adopted to realize automatic handling and transfer of goods, reducing manual labor intensity.</a:t>
            </a:r>
            <a:endParaRPr lang="en-US" sz="1400" dirty="0">
              <a:solidFill>
                <a:srgbClr val="2B2F36"/>
              </a:solidFill>
              <a:latin typeface="MiSans" pitchFamily="34" charset="-122"/>
              <a:ea typeface="MiSans" pitchFamily="34" charset="-122"/>
              <a:cs typeface="MiSans" pitchFamily="34" charset="-120"/>
            </a:endParaRPr>
          </a:p>
        </p:txBody>
      </p:sp>
      <p:sp>
        <p:nvSpPr>
          <p:cNvPr id="22" name="Text 20"/>
          <p:cNvSpPr/>
          <p:nvPr>
            <p:custDataLst>
              <p:tags r:id="rId9"/>
            </p:custDataLst>
          </p:nvPr>
        </p:nvSpPr>
        <p:spPr>
          <a:xfrm>
            <a:off x="929005" y="3118485"/>
            <a:ext cx="10249200" cy="398780"/>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FFFFFF"/>
                </a:solidFill>
                <a:latin typeface="MiSans" pitchFamily="34" charset="-122"/>
                <a:ea typeface="MiSans" pitchFamily="34" charset="-122"/>
                <a:cs typeface="MiSans" pitchFamily="34" charset="-120"/>
              </a:rPr>
              <a:t>Intelligent Sorting</a:t>
            </a:r>
            <a:endParaRPr lang="en-US" sz="2000" b="1" dirty="0">
              <a:solidFill>
                <a:srgbClr val="FFFFFF"/>
              </a:solidFill>
              <a:latin typeface="MiSans" pitchFamily="34" charset="-122"/>
              <a:ea typeface="MiSans" pitchFamily="34" charset="-122"/>
              <a:cs typeface="MiSans" pitchFamily="34" charset="-120"/>
            </a:endParaRPr>
          </a:p>
        </p:txBody>
      </p:sp>
      <p:sp>
        <p:nvSpPr>
          <p:cNvPr id="23" name="Text 21"/>
          <p:cNvSpPr/>
          <p:nvPr>
            <p:custDataLst>
              <p:tags r:id="rId10"/>
            </p:custDataLst>
          </p:nvPr>
        </p:nvSpPr>
        <p:spPr>
          <a:xfrm>
            <a:off x="929005" y="4831080"/>
            <a:ext cx="10249200" cy="398780"/>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Flexible Production</a:t>
            </a:r>
            <a:endParaRPr lang="en-US" sz="2000" b="1" dirty="0">
              <a:solidFill>
                <a:srgbClr val="000000"/>
              </a:solidFill>
              <a:latin typeface="MiSans" pitchFamily="34" charset="-122"/>
              <a:ea typeface="MiSans" pitchFamily="34" charset="-122"/>
              <a:cs typeface="MiSans" pitchFamily="34" charset="-120"/>
            </a:endParaRPr>
          </a:p>
        </p:txBody>
      </p:sp>
      <p:sp>
        <p:nvSpPr>
          <p:cNvPr id="24" name="Text 22"/>
          <p:cNvSpPr/>
          <p:nvPr>
            <p:custDataLst>
              <p:tags r:id="rId11"/>
            </p:custDataLst>
          </p:nvPr>
        </p:nvSpPr>
        <p:spPr>
          <a:xfrm>
            <a:off x="929005" y="5386705"/>
            <a:ext cx="10249200" cy="650240"/>
          </a:xfrm>
          <a:prstGeom prst="rect">
            <a:avLst/>
          </a:prstGeom>
          <a:noFill/>
        </p:spPr>
        <p:txBody>
          <a:bodyPr wrap="square" lIns="91440" tIns="45720" rIns="91440" bIns="45720" rtlCol="0" anchor="t">
            <a:spAutoFit/>
          </a:bodyPr>
          <a:lstStyle/>
          <a:p>
            <a:pPr marL="0" algn="just">
              <a:lnSpc>
                <a:spcPct val="130000"/>
              </a:lnSpc>
              <a:buClrTx/>
              <a:buSzTx/>
              <a:buFontTx/>
              <a:buNone/>
            </a:pPr>
            <a:r>
              <a:rPr lang="en-US" sz="1400" dirty="0">
                <a:solidFill>
                  <a:srgbClr val="2B2F36"/>
                </a:solidFill>
                <a:latin typeface="MiSans" pitchFamily="34" charset="-122"/>
                <a:ea typeface="MiSans" pitchFamily="34" charset="-122"/>
                <a:cs typeface="MiSans" pitchFamily="34" charset="-120"/>
              </a:rPr>
              <a:t>Robot handling and sorting technology can flexibly handle goods of different specifications and shapes, realizing flexible production.</a:t>
            </a:r>
            <a:endParaRPr lang="en-US" sz="140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773170" y="1443355"/>
            <a:ext cx="8102600" cy="4499610"/>
          </a:xfrm>
          <a:prstGeom prst="roundRect">
            <a:avLst>
              <a:gd name="adj" fmla="val 50000"/>
            </a:avLst>
          </a:prstGeom>
          <a:solidFill>
            <a:srgbClr val="000000">
              <a:alpha val="0"/>
            </a:srgbClr>
          </a:solidFill>
          <a:ln w="19050">
            <a:gradFill flip="none" rotWithShape="1">
              <a:gsLst>
                <a:gs pos="0">
                  <a:srgbClr val="E0E9C9"/>
                </a:gs>
                <a:gs pos="50000">
                  <a:srgbClr val="FFFFFF">
                    <a:alpha val="0"/>
                  </a:srgbClr>
                </a:gs>
              </a:gsLst>
              <a:lin ang="10800000" scaled="1"/>
            </a:gradFill>
            <a:prstDash val="solid"/>
          </a:ln>
        </p:spPr>
      </p:sp>
      <p:sp>
        <p:nvSpPr>
          <p:cNvPr id="3" name="Text 1"/>
          <p:cNvSpPr/>
          <p:nvPr/>
        </p:nvSpPr>
        <p:spPr>
          <a:xfrm>
            <a:off x="-3773170" y="1443355"/>
            <a:ext cx="8102600" cy="449961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3471545" y="1610995"/>
            <a:ext cx="7499350" cy="4164330"/>
          </a:xfrm>
          <a:prstGeom prst="roundRect">
            <a:avLst>
              <a:gd name="adj" fmla="val 50000"/>
            </a:avLst>
          </a:prstGeom>
          <a:solidFill>
            <a:srgbClr val="2F493E">
              <a:alpha val="23137"/>
            </a:srgbClr>
          </a:solidFill>
        </p:spPr>
      </p:sp>
      <p:sp>
        <p:nvSpPr>
          <p:cNvPr id="5" name="Text 3"/>
          <p:cNvSpPr/>
          <p:nvPr/>
        </p:nvSpPr>
        <p:spPr>
          <a:xfrm>
            <a:off x="-3471545" y="1610995"/>
            <a:ext cx="7499350" cy="416433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6" name="Image 0" descr="https://test-kimi-img.moonshot.cn/pub/slides/slides_tmpl/image/25-05-30-10:51:05-d0shq6c75iks832je5cg.png"/>
          <p:cNvPicPr>
            <a:picLocks noChangeAspect="1"/>
          </p:cNvPicPr>
          <p:nvPr/>
        </p:nvPicPr>
        <p:blipFill>
          <a:blip r:embed="rId1"/>
          <a:srcRect r="9"/>
          <a:stretch>
            <a:fillRect/>
          </a:stretch>
        </p:blipFill>
        <p:spPr>
          <a:xfrm>
            <a:off x="-3074035" y="1831975"/>
            <a:ext cx="6704965" cy="3723005"/>
          </a:xfrm>
          <a:prstGeom prst="rect">
            <a:avLst/>
          </a:prstGeom>
        </p:spPr>
      </p:pic>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Unmanned Vehicle Delivery</a:t>
            </a:r>
            <a:endParaRPr lang="en-US" sz="2800" b="1" dirty="0">
              <a:solidFill>
                <a:srgbClr val="2F493E"/>
              </a:solidFill>
              <a:latin typeface="MiSans" pitchFamily="34" charset="-122"/>
              <a:ea typeface="MiSans" pitchFamily="34" charset="-122"/>
              <a:cs typeface="MiSans" pitchFamily="34" charset="-120"/>
            </a:endParaRPr>
          </a:p>
        </p:txBody>
      </p:sp>
      <p:sp>
        <p:nvSpPr>
          <p:cNvPr id="12" name="Shape 9"/>
          <p:cNvSpPr/>
          <p:nvPr>
            <p:custDataLst>
              <p:tags r:id="rId2"/>
            </p:custDataLst>
          </p:nvPr>
        </p:nvSpPr>
        <p:spPr>
          <a:xfrm>
            <a:off x="2808605" y="1239520"/>
            <a:ext cx="652145" cy="663575"/>
          </a:xfrm>
          <a:prstGeom prst="ellipse">
            <a:avLst/>
          </a:prstGeom>
          <a:solidFill>
            <a:srgbClr val="B4CA7C"/>
          </a:solidFill>
        </p:spPr>
      </p:sp>
      <p:sp>
        <p:nvSpPr>
          <p:cNvPr id="13" name="Text 10"/>
          <p:cNvSpPr/>
          <p:nvPr/>
        </p:nvSpPr>
        <p:spPr>
          <a:xfrm>
            <a:off x="2808605" y="12395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custDataLst>
              <p:tags r:id="rId3"/>
            </p:custDataLst>
          </p:nvPr>
        </p:nvSpPr>
        <p:spPr>
          <a:xfrm>
            <a:off x="4010025" y="3220720"/>
            <a:ext cx="652145" cy="663575"/>
          </a:xfrm>
          <a:prstGeom prst="ellipse">
            <a:avLst/>
          </a:prstGeom>
          <a:solidFill>
            <a:srgbClr val="B4CA7C"/>
          </a:solidFill>
        </p:spPr>
      </p:sp>
      <p:sp>
        <p:nvSpPr>
          <p:cNvPr id="15" name="Text 12"/>
          <p:cNvSpPr/>
          <p:nvPr/>
        </p:nvSpPr>
        <p:spPr>
          <a:xfrm>
            <a:off x="4010025" y="32207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custDataLst>
              <p:tags r:id="rId4"/>
            </p:custDataLst>
          </p:nvPr>
        </p:nvSpPr>
        <p:spPr>
          <a:xfrm>
            <a:off x="3161030" y="5215890"/>
            <a:ext cx="652145" cy="663575"/>
          </a:xfrm>
          <a:prstGeom prst="ellipse">
            <a:avLst/>
          </a:prstGeom>
          <a:solidFill>
            <a:srgbClr val="B4CA7C"/>
          </a:solidFill>
        </p:spPr>
      </p:sp>
      <p:sp>
        <p:nvSpPr>
          <p:cNvPr id="17" name="Text 14"/>
          <p:cNvSpPr/>
          <p:nvPr/>
        </p:nvSpPr>
        <p:spPr>
          <a:xfrm>
            <a:off x="3161030" y="521589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Text 15"/>
          <p:cNvSpPr/>
          <p:nvPr>
            <p:custDataLst>
              <p:tags r:id="rId5"/>
            </p:custDataLst>
          </p:nvPr>
        </p:nvSpPr>
        <p:spPr>
          <a:xfrm>
            <a:off x="2846705" y="1313815"/>
            <a:ext cx="5918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01</a:t>
            </a:r>
            <a:endParaRPr lang="en-US" sz="1600" dirty="0"/>
          </a:p>
        </p:txBody>
      </p:sp>
      <p:sp>
        <p:nvSpPr>
          <p:cNvPr id="19" name="Text 16"/>
          <p:cNvSpPr/>
          <p:nvPr>
            <p:custDataLst>
              <p:tags r:id="rId6"/>
            </p:custDataLst>
          </p:nvPr>
        </p:nvSpPr>
        <p:spPr>
          <a:xfrm>
            <a:off x="4027170" y="3285490"/>
            <a:ext cx="6426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02</a:t>
            </a:r>
            <a:endParaRPr lang="en-US" sz="1600" dirty="0"/>
          </a:p>
        </p:txBody>
      </p:sp>
      <p:sp>
        <p:nvSpPr>
          <p:cNvPr id="20" name="Text 17"/>
          <p:cNvSpPr/>
          <p:nvPr>
            <p:custDataLst>
              <p:tags r:id="rId7"/>
            </p:custDataLst>
          </p:nvPr>
        </p:nvSpPr>
        <p:spPr>
          <a:xfrm>
            <a:off x="3167380" y="5291455"/>
            <a:ext cx="667385"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03</a:t>
            </a:r>
            <a:endParaRPr lang="en-US" sz="1600" dirty="0"/>
          </a:p>
        </p:txBody>
      </p:sp>
      <p:sp>
        <p:nvSpPr>
          <p:cNvPr id="21" name="Text 18"/>
          <p:cNvSpPr/>
          <p:nvPr>
            <p:custDataLst>
              <p:tags r:id="rId8"/>
            </p:custDataLst>
          </p:nvPr>
        </p:nvSpPr>
        <p:spPr>
          <a:xfrm>
            <a:off x="4210685" y="1246505"/>
            <a:ext cx="6838950" cy="398780"/>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Unmanned Vehicles</a:t>
            </a:r>
            <a:endParaRPr lang="en-US" altLang="zh-CN" sz="1600" dirty="0"/>
          </a:p>
        </p:txBody>
      </p:sp>
      <p:sp>
        <p:nvSpPr>
          <p:cNvPr id="22" name="Text 19"/>
          <p:cNvSpPr/>
          <p:nvPr>
            <p:custDataLst>
              <p:tags r:id="rId9"/>
            </p:custDataLst>
          </p:nvPr>
        </p:nvSpPr>
        <p:spPr>
          <a:xfrm>
            <a:off x="4210685" y="1703070"/>
            <a:ext cx="6838950" cy="650240"/>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Advanced automatic driving technology is adopted to realize automatic navigation and delivery of unmanned vehicles.</a:t>
            </a:r>
            <a:endParaRPr lang="en-US" sz="1400" dirty="0">
              <a:solidFill>
                <a:srgbClr val="2B2F36"/>
              </a:solidFill>
              <a:latin typeface="MiSans" pitchFamily="34" charset="-122"/>
              <a:ea typeface="MiSans" pitchFamily="34" charset="-122"/>
              <a:cs typeface="MiSans" pitchFamily="34" charset="-120"/>
            </a:endParaRPr>
          </a:p>
        </p:txBody>
      </p:sp>
      <p:sp>
        <p:nvSpPr>
          <p:cNvPr id="23" name="Text 20"/>
          <p:cNvSpPr/>
          <p:nvPr>
            <p:custDataLst>
              <p:tags r:id="rId10"/>
            </p:custDataLst>
          </p:nvPr>
        </p:nvSpPr>
        <p:spPr>
          <a:xfrm>
            <a:off x="4027170" y="5546725"/>
            <a:ext cx="6839585" cy="650240"/>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Unmanned vehicles are equipped with a variety of sensors and safety measures to ensure safety and reliability during delivery.</a:t>
            </a:r>
            <a:endParaRPr lang="en-US" sz="1400" dirty="0">
              <a:solidFill>
                <a:srgbClr val="2B2F36"/>
              </a:solidFill>
              <a:latin typeface="MiSans" pitchFamily="34" charset="-122"/>
              <a:ea typeface="MiSans" pitchFamily="34" charset="-122"/>
              <a:cs typeface="MiSans" pitchFamily="34" charset="-120"/>
            </a:endParaRPr>
          </a:p>
        </p:txBody>
      </p:sp>
      <p:sp>
        <p:nvSpPr>
          <p:cNvPr id="24" name="Text 21"/>
          <p:cNvSpPr/>
          <p:nvPr>
            <p:custDataLst>
              <p:tags r:id="rId11"/>
            </p:custDataLst>
          </p:nvPr>
        </p:nvSpPr>
        <p:spPr>
          <a:xfrm>
            <a:off x="4027170" y="5089525"/>
            <a:ext cx="6838950" cy="398780"/>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Safety and Reliability</a:t>
            </a:r>
            <a:endParaRPr lang="en-US" sz="2000" b="1" dirty="0">
              <a:solidFill>
                <a:srgbClr val="5E927D"/>
              </a:solidFill>
              <a:latin typeface="MiSans" pitchFamily="34" charset="-122"/>
              <a:ea typeface="MiSans" pitchFamily="34" charset="-122"/>
              <a:cs typeface="MiSans" pitchFamily="34" charset="-120"/>
            </a:endParaRPr>
          </a:p>
        </p:txBody>
      </p:sp>
      <p:sp>
        <p:nvSpPr>
          <p:cNvPr id="25" name="Text 22"/>
          <p:cNvSpPr/>
          <p:nvPr>
            <p:custDataLst>
              <p:tags r:id="rId12"/>
            </p:custDataLst>
          </p:nvPr>
        </p:nvSpPr>
        <p:spPr>
          <a:xfrm>
            <a:off x="4859020" y="3302000"/>
            <a:ext cx="6838950" cy="398780"/>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Efficient Delivery</a:t>
            </a:r>
            <a:endParaRPr lang="en-US" sz="2000" b="1" dirty="0">
              <a:solidFill>
                <a:srgbClr val="5E927D"/>
              </a:solidFill>
              <a:latin typeface="MiSans" pitchFamily="34" charset="-122"/>
              <a:ea typeface="MiSans" pitchFamily="34" charset="-122"/>
              <a:cs typeface="MiSans" pitchFamily="34" charset="-120"/>
            </a:endParaRPr>
          </a:p>
        </p:txBody>
      </p:sp>
      <p:sp>
        <p:nvSpPr>
          <p:cNvPr id="26" name="Text 23"/>
          <p:cNvSpPr/>
          <p:nvPr>
            <p:custDataLst>
              <p:tags r:id="rId13"/>
            </p:custDataLst>
          </p:nvPr>
        </p:nvSpPr>
        <p:spPr>
          <a:xfrm>
            <a:off x="4859020" y="3758565"/>
            <a:ext cx="6838950" cy="650240"/>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The delivery efficiency and accuracy of unmanned vehicles are improved by optimizing delivery routes and algorithms.</a:t>
            </a:r>
            <a:endParaRPr lang="en-US" sz="140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Introduction to Systems such as WMS/TMS/OMS</a:t>
            </a:r>
            <a:endParaRPr lang="en-US"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03-d0shq5s75iks832je5bg.png"/>
          <p:cNvPicPr>
            <a:picLocks noChangeAspect="1"/>
          </p:cNvPicPr>
          <p:nvPr/>
        </p:nvPicPr>
        <p:blipFill>
          <a:blip r:embed="rId1"/>
          <a:srcRect l="31" r="31"/>
          <a:stretch>
            <a:fillRect/>
          </a:stretch>
        </p:blipFill>
        <p:spPr>
          <a:xfrm>
            <a:off x="594360" y="1397000"/>
            <a:ext cx="3088640" cy="4606290"/>
          </a:xfrm>
          <a:prstGeom prst="rect">
            <a:avLst/>
          </a:prstGeom>
        </p:spPr>
      </p:pic>
      <p:sp>
        <p:nvSpPr>
          <p:cNvPr id="14" name="Shape 11"/>
          <p:cNvSpPr/>
          <p:nvPr>
            <p:custDataLst>
              <p:tags r:id="rId2"/>
            </p:custDataLst>
          </p:nvPr>
        </p:nvSpPr>
        <p:spPr>
          <a:xfrm>
            <a:off x="3796030" y="1413510"/>
            <a:ext cx="8031480" cy="4602480"/>
          </a:xfrm>
          <a:prstGeom prst="rect">
            <a:avLst/>
          </a:prstGeom>
          <a:solidFill>
            <a:srgbClr val="000000">
              <a:alpha val="0"/>
            </a:srgbClr>
          </a:solidFill>
          <a:ln w="19050">
            <a:solidFill>
              <a:srgbClr val="9FB26A"/>
            </a:solidFill>
            <a:prstDash val="solid"/>
          </a:ln>
        </p:spPr>
      </p:sp>
      <p:sp>
        <p:nvSpPr>
          <p:cNvPr id="15" name="Text 12"/>
          <p:cNvSpPr/>
          <p:nvPr/>
        </p:nvSpPr>
        <p:spPr>
          <a:xfrm>
            <a:off x="3796030" y="1413510"/>
            <a:ext cx="8031480" cy="46024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custDataLst>
              <p:tags r:id="rId3"/>
            </p:custDataLst>
          </p:nvPr>
        </p:nvSpPr>
        <p:spPr>
          <a:xfrm>
            <a:off x="4067175" y="2952115"/>
            <a:ext cx="7560310" cy="0"/>
          </a:xfrm>
          <a:prstGeom prst="line">
            <a:avLst/>
          </a:prstGeom>
          <a:noFill/>
          <a:ln w="12700">
            <a:solidFill>
              <a:srgbClr val="9FB26A"/>
            </a:solidFill>
            <a:prstDash val="dash"/>
            <a:headEnd type="none"/>
            <a:tailEnd type="none"/>
          </a:ln>
        </p:spPr>
      </p:sp>
      <p:sp>
        <p:nvSpPr>
          <p:cNvPr id="17" name="Shape 14"/>
          <p:cNvSpPr/>
          <p:nvPr>
            <p:custDataLst>
              <p:tags r:id="rId4"/>
            </p:custDataLst>
          </p:nvPr>
        </p:nvSpPr>
        <p:spPr>
          <a:xfrm>
            <a:off x="4067175" y="4481830"/>
            <a:ext cx="7560310" cy="0"/>
          </a:xfrm>
          <a:prstGeom prst="line">
            <a:avLst/>
          </a:prstGeom>
          <a:noFill/>
          <a:ln w="12700">
            <a:solidFill>
              <a:srgbClr val="9FB26A"/>
            </a:solidFill>
            <a:prstDash val="dash"/>
            <a:headEnd type="none"/>
            <a:tailEnd type="none"/>
          </a:ln>
        </p:spPr>
      </p:sp>
      <p:sp>
        <p:nvSpPr>
          <p:cNvPr id="18" name="Text 15"/>
          <p:cNvSpPr/>
          <p:nvPr>
            <p:custDataLst>
              <p:tags r:id="rId5"/>
            </p:custDataLst>
          </p:nvPr>
        </p:nvSpPr>
        <p:spPr>
          <a:xfrm>
            <a:off x="4038600" y="1572895"/>
            <a:ext cx="7617460" cy="398780"/>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WMS (Warehouse Management System)</a:t>
            </a:r>
            <a:endParaRPr lang="en-US" sz="2000" b="1" dirty="0">
              <a:solidFill>
                <a:srgbClr val="5E927D"/>
              </a:solidFill>
              <a:latin typeface="MiSans" pitchFamily="34" charset="-122"/>
              <a:ea typeface="MiSans" pitchFamily="34" charset="-122"/>
              <a:cs typeface="MiSans" pitchFamily="34" charset="-120"/>
            </a:endParaRPr>
          </a:p>
        </p:txBody>
      </p:sp>
      <p:sp>
        <p:nvSpPr>
          <p:cNvPr id="19" name="Text 16"/>
          <p:cNvSpPr/>
          <p:nvPr>
            <p:custDataLst>
              <p:tags r:id="rId6"/>
            </p:custDataLst>
          </p:nvPr>
        </p:nvSpPr>
        <p:spPr>
          <a:xfrm>
            <a:off x="4038600" y="1941830"/>
            <a:ext cx="7616190" cy="929640"/>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Responsible for functions such as inventory management, location management and operation management in the warehouse, realizing the automation and intelligence of warehouse operations</a:t>
            </a:r>
            <a:endParaRPr lang="en-US" sz="1400" dirty="0">
              <a:solidFill>
                <a:srgbClr val="2B2F36"/>
              </a:solidFill>
              <a:latin typeface="MiSans" pitchFamily="34" charset="-122"/>
              <a:ea typeface="MiSans" pitchFamily="34" charset="-122"/>
              <a:cs typeface="MiSans" pitchFamily="34" charset="-120"/>
            </a:endParaRPr>
          </a:p>
        </p:txBody>
      </p:sp>
      <p:sp>
        <p:nvSpPr>
          <p:cNvPr id="20" name="Text 17"/>
          <p:cNvSpPr/>
          <p:nvPr>
            <p:custDataLst>
              <p:tags r:id="rId7"/>
            </p:custDataLst>
          </p:nvPr>
        </p:nvSpPr>
        <p:spPr>
          <a:xfrm>
            <a:off x="4038600" y="3102610"/>
            <a:ext cx="7617460" cy="398780"/>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TMS (Transportation Management System)</a:t>
            </a:r>
            <a:endParaRPr lang="en-US" sz="2000" b="1" dirty="0">
              <a:solidFill>
                <a:srgbClr val="5E927D"/>
              </a:solidFill>
              <a:latin typeface="MiSans" pitchFamily="34" charset="-122"/>
              <a:ea typeface="MiSans" pitchFamily="34" charset="-122"/>
              <a:cs typeface="MiSans" pitchFamily="34" charset="-120"/>
            </a:endParaRPr>
          </a:p>
        </p:txBody>
      </p:sp>
      <p:sp>
        <p:nvSpPr>
          <p:cNvPr id="21" name="Text 18"/>
          <p:cNvSpPr/>
          <p:nvPr>
            <p:custDataLst>
              <p:tags r:id="rId8"/>
            </p:custDataLst>
          </p:nvPr>
        </p:nvSpPr>
        <p:spPr>
          <a:xfrm>
            <a:off x="4038600" y="3471545"/>
            <a:ext cx="7616190" cy="650240"/>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Comprehensively manages orders, vehicles, routes, etc. in the transportation process, optimizes transportation plans and improves transportation efficiency</a:t>
            </a:r>
            <a:endParaRPr lang="en-US" sz="1400" dirty="0">
              <a:solidFill>
                <a:srgbClr val="2B2F36"/>
              </a:solidFill>
              <a:latin typeface="MiSans" pitchFamily="34" charset="-122"/>
              <a:ea typeface="MiSans" pitchFamily="34" charset="-122"/>
              <a:cs typeface="MiSans" pitchFamily="34" charset="-120"/>
            </a:endParaRPr>
          </a:p>
        </p:txBody>
      </p:sp>
      <p:sp>
        <p:nvSpPr>
          <p:cNvPr id="22" name="Text 19"/>
          <p:cNvSpPr/>
          <p:nvPr>
            <p:custDataLst>
              <p:tags r:id="rId9"/>
            </p:custDataLst>
          </p:nvPr>
        </p:nvSpPr>
        <p:spPr>
          <a:xfrm>
            <a:off x="4038600" y="4632325"/>
            <a:ext cx="7617460" cy="398780"/>
          </a:xfrm>
          <a:prstGeom prst="rect">
            <a:avLst/>
          </a:prstGeom>
          <a:noFill/>
        </p:spPr>
        <p:txBody>
          <a:bodyPr wrap="square" lIns="91440" tIns="45720" rIns="91440" bIns="45720" rtlCol="0" anchor="t">
            <a:spAutoFit/>
          </a:bodyPr>
          <a:lstStyle/>
          <a:p>
            <a:pPr marL="0" algn="just">
              <a:lnSpc>
                <a:spcPct val="100000"/>
              </a:lnSpc>
              <a:buClrTx/>
              <a:buSzTx/>
              <a:buFontTx/>
              <a:buNone/>
            </a:pPr>
            <a:r>
              <a:rPr lang="en-US" sz="2000" b="1" dirty="0">
                <a:solidFill>
                  <a:srgbClr val="5E927D"/>
                </a:solidFill>
                <a:latin typeface="MiSans" pitchFamily="34" charset="-122"/>
                <a:ea typeface="MiSans" pitchFamily="34" charset="-122"/>
                <a:cs typeface="MiSans" pitchFamily="34" charset="-120"/>
              </a:rPr>
              <a:t>OMS (Order Management System)</a:t>
            </a:r>
            <a:endParaRPr lang="en-US" sz="2000" b="1" dirty="0">
              <a:solidFill>
                <a:srgbClr val="5E927D"/>
              </a:solidFill>
              <a:latin typeface="MiSans" pitchFamily="34" charset="-122"/>
              <a:ea typeface="MiSans" pitchFamily="34" charset="-122"/>
              <a:cs typeface="MiSans" pitchFamily="34" charset="-120"/>
            </a:endParaRPr>
          </a:p>
        </p:txBody>
      </p:sp>
      <p:sp>
        <p:nvSpPr>
          <p:cNvPr id="23" name="Text 20"/>
          <p:cNvSpPr/>
          <p:nvPr>
            <p:custDataLst>
              <p:tags r:id="rId10"/>
            </p:custDataLst>
          </p:nvPr>
        </p:nvSpPr>
        <p:spPr>
          <a:xfrm>
            <a:off x="4038600" y="5001260"/>
            <a:ext cx="7616190" cy="690880"/>
          </a:xfrm>
          <a:prstGeom prst="rect">
            <a:avLst/>
          </a:prstGeom>
          <a:noFill/>
        </p:spPr>
        <p:txBody>
          <a:bodyPr wrap="square" lIns="91440" tIns="45720" rIns="91440" bIns="45720" rtlCol="0" anchor="t">
            <a:spAutoFit/>
          </a:bodyPr>
          <a:lstStyle/>
          <a:p>
            <a:pPr marL="0" algn="just">
              <a:lnSpc>
                <a:spcPct val="130000"/>
              </a:lnSpc>
              <a:buClrTx/>
              <a:buSzTx/>
              <a:buFontTx/>
              <a:buNone/>
            </a:pPr>
            <a:r>
              <a:rPr lang="en-US" altLang="zh-CN" sz="1600" dirty="0"/>
              <a:t> </a:t>
            </a:r>
            <a:r>
              <a:rPr lang="en-US" sz="1400" dirty="0">
                <a:solidFill>
                  <a:srgbClr val="2B2F36"/>
                </a:solidFill>
                <a:latin typeface="MiSans" pitchFamily="34" charset="-122"/>
                <a:ea typeface="MiSans" pitchFamily="34" charset="-122"/>
                <a:cs typeface="MiSans" pitchFamily="34" charset="-120"/>
              </a:rPr>
              <a:t>Connects with customer orders, performs order processing, tracking, settlement and other operations, ensuring the accuracy and timeliness of order information.</a:t>
            </a:r>
            <a:endParaRPr lang="en-US" sz="140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Data Collection, Transmission and Processing Process</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9" name="Shape 7"/>
          <p:cNvSpPr/>
          <p:nvPr>
            <p:custDataLst>
              <p:tags r:id="rId1"/>
            </p:custDataLst>
          </p:nvPr>
        </p:nvSpPr>
        <p:spPr>
          <a:xfrm>
            <a:off x="4956175" y="2925445"/>
            <a:ext cx="6500495" cy="1539875"/>
          </a:xfrm>
          <a:prstGeom prst="roundRect">
            <a:avLst>
              <a:gd name="adj" fmla="val 11000"/>
            </a:avLst>
          </a:prstGeom>
          <a:solidFill>
            <a:srgbClr val="079F92"/>
          </a:solidFill>
          <a:ln w="19050">
            <a:solidFill>
              <a:srgbClr val="A0D1FA">
                <a:alpha val="43137"/>
              </a:srgbClr>
            </a:solidFill>
            <a:prstDash val="solid"/>
          </a:ln>
          <a:effectLst>
            <a:outerShdw blurRad="254000" dist="134704" dir="2700000" algn="bl" rotWithShape="0">
              <a:srgbClr val="1E69D5">
                <a:alpha val="10196"/>
              </a:srgbClr>
            </a:outerShdw>
          </a:effectLst>
        </p:spPr>
      </p:sp>
      <p:sp>
        <p:nvSpPr>
          <p:cNvPr id="10" name="Text 8"/>
          <p:cNvSpPr/>
          <p:nvPr/>
        </p:nvSpPr>
        <p:spPr>
          <a:xfrm>
            <a:off x="4956175" y="2925445"/>
            <a:ext cx="6500495" cy="15398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9"/>
          <p:cNvSpPr/>
          <p:nvPr>
            <p:custDataLst>
              <p:tags r:id="rId2"/>
            </p:custDataLst>
          </p:nvPr>
        </p:nvSpPr>
        <p:spPr>
          <a:xfrm>
            <a:off x="4956175" y="1461770"/>
            <a:ext cx="6500495" cy="1339215"/>
          </a:xfrm>
          <a:prstGeom prst="roundRect">
            <a:avLst>
              <a:gd name="adj" fmla="val 8155"/>
            </a:avLst>
          </a:prstGeom>
          <a:solidFill>
            <a:srgbClr val="FFFFFF"/>
          </a:solidFill>
          <a:ln w="19050">
            <a:solidFill>
              <a:srgbClr val="A0D1FA">
                <a:alpha val="43137"/>
              </a:srgbClr>
            </a:solidFill>
            <a:prstDash val="solid"/>
          </a:ln>
          <a:effectLst>
            <a:outerShdw blurRad="254000" dist="134704" dir="2700000" algn="bl" rotWithShape="0">
              <a:srgbClr val="1E69D5">
                <a:alpha val="10196"/>
              </a:srgbClr>
            </a:outerShdw>
          </a:effectLst>
        </p:spPr>
      </p:sp>
      <p:sp>
        <p:nvSpPr>
          <p:cNvPr id="12" name="Text 10"/>
          <p:cNvSpPr/>
          <p:nvPr/>
        </p:nvSpPr>
        <p:spPr>
          <a:xfrm>
            <a:off x="4956175" y="1461770"/>
            <a:ext cx="6500495" cy="1339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Shape 11"/>
          <p:cNvSpPr/>
          <p:nvPr>
            <p:custDataLst>
              <p:tags r:id="rId3"/>
            </p:custDataLst>
          </p:nvPr>
        </p:nvSpPr>
        <p:spPr>
          <a:xfrm>
            <a:off x="735965" y="1255395"/>
            <a:ext cx="10720070" cy="1545590"/>
          </a:xfrm>
          <a:prstGeom prst="roundRect">
            <a:avLst>
              <a:gd name="adj" fmla="val 8155"/>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sp>
      <p:sp>
        <p:nvSpPr>
          <p:cNvPr id="14" name="Text 12"/>
          <p:cNvSpPr/>
          <p:nvPr/>
        </p:nvSpPr>
        <p:spPr>
          <a:xfrm>
            <a:off x="735965" y="1255395"/>
            <a:ext cx="10720070"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Shape 13"/>
          <p:cNvSpPr/>
          <p:nvPr>
            <p:custDataLst>
              <p:tags r:id="rId4"/>
            </p:custDataLst>
          </p:nvPr>
        </p:nvSpPr>
        <p:spPr>
          <a:xfrm>
            <a:off x="735965" y="2931160"/>
            <a:ext cx="10720705" cy="1545590"/>
          </a:xfrm>
          <a:prstGeom prst="roundRect">
            <a:avLst>
              <a:gd name="adj" fmla="val 11000"/>
            </a:avLst>
          </a:prstGeom>
          <a:solidFill>
            <a:srgbClr val="B4CA7C"/>
          </a:solidFill>
          <a:ln w="19050">
            <a:solidFill>
              <a:srgbClr val="DEEAE5">
                <a:alpha val="43137"/>
              </a:srgbClr>
            </a:solidFill>
            <a:prstDash val="solid"/>
          </a:ln>
          <a:effectLst>
            <a:outerShdw blurRad="254000" dist="134704" dir="2700000" algn="bl" rotWithShape="0">
              <a:srgbClr val="E0E9C9">
                <a:alpha val="10196"/>
              </a:srgbClr>
            </a:outerShdw>
          </a:effectLst>
        </p:spPr>
      </p:sp>
      <p:sp>
        <p:nvSpPr>
          <p:cNvPr id="16" name="Text 14"/>
          <p:cNvSpPr/>
          <p:nvPr/>
        </p:nvSpPr>
        <p:spPr>
          <a:xfrm>
            <a:off x="735965" y="2931160"/>
            <a:ext cx="10720705"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custDataLst>
              <p:tags r:id="rId5"/>
            </p:custDataLst>
          </p:nvPr>
        </p:nvSpPr>
        <p:spPr>
          <a:xfrm>
            <a:off x="736600" y="4594860"/>
            <a:ext cx="10720070" cy="1590675"/>
          </a:xfrm>
          <a:prstGeom prst="roundRect">
            <a:avLst>
              <a:gd name="adj" fmla="val 10289"/>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sp>
      <p:sp>
        <p:nvSpPr>
          <p:cNvPr id="18" name="Text 16"/>
          <p:cNvSpPr/>
          <p:nvPr/>
        </p:nvSpPr>
        <p:spPr>
          <a:xfrm>
            <a:off x="736600" y="4594860"/>
            <a:ext cx="10720070" cy="15906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7"/>
          <p:cNvSpPr/>
          <p:nvPr>
            <p:custDataLst>
              <p:tags r:id="rId6"/>
            </p:custDataLst>
          </p:nvPr>
        </p:nvSpPr>
        <p:spPr>
          <a:xfrm>
            <a:off x="929005" y="3617595"/>
            <a:ext cx="10249200" cy="650240"/>
          </a:xfrm>
          <a:prstGeom prst="rect">
            <a:avLst/>
          </a:prstGeom>
          <a:noFill/>
        </p:spPr>
        <p:txBody>
          <a:bodyPr wrap="square" lIns="91440" tIns="45720" rIns="91440" bIns="45720" rtlCol="0" anchor="t">
            <a:spAutoFit/>
          </a:bodyPr>
          <a:lstStyle/>
          <a:p>
            <a:pPr marL="0" indent="0" algn="just">
              <a:lnSpc>
                <a:spcPct val="130000"/>
              </a:lnSpc>
              <a:buNone/>
            </a:pPr>
            <a:r>
              <a:rPr lang="en-US" altLang="zh-CN" sz="1400" dirty="0">
                <a:solidFill>
                  <a:srgbClr val="FFFFFF"/>
                </a:solidFill>
                <a:latin typeface="MiSans" pitchFamily="34" charset="-122"/>
                <a:ea typeface="MiSans" pitchFamily="34" charset="-122"/>
                <a:cs typeface="MiSans" pitchFamily="34" charset="-120"/>
              </a:rPr>
              <a:t>Using wireless network, Internet of Things and other technologies, the collected data is transmitted to the information management system in real time.</a:t>
            </a:r>
            <a:endParaRPr lang="en-US" altLang="zh-CN" sz="1400" dirty="0">
              <a:solidFill>
                <a:srgbClr val="FFFFFF"/>
              </a:solidFill>
              <a:latin typeface="MiSans" pitchFamily="34" charset="-122"/>
              <a:ea typeface="MiSans" pitchFamily="34" charset="-122"/>
              <a:cs typeface="MiSans" pitchFamily="34" charset="-120"/>
            </a:endParaRPr>
          </a:p>
        </p:txBody>
      </p:sp>
      <p:sp>
        <p:nvSpPr>
          <p:cNvPr id="20" name="Text 18"/>
          <p:cNvSpPr/>
          <p:nvPr>
            <p:custDataLst>
              <p:tags r:id="rId7"/>
            </p:custDataLst>
          </p:nvPr>
        </p:nvSpPr>
        <p:spPr>
          <a:xfrm>
            <a:off x="929005" y="1496695"/>
            <a:ext cx="10249200" cy="398780"/>
          </a:xfrm>
          <a:prstGeom prst="rect">
            <a:avLst/>
          </a:prstGeom>
          <a:noFill/>
        </p:spPr>
        <p:txBody>
          <a:bodyPr wrap="square" lIns="91440" tIns="45720" rIns="91440" bIns="45720" rtlCol="0" anchor="t">
            <a:spAutoFit/>
          </a:bodyPr>
          <a:lstStyle/>
          <a:p>
            <a:pPr marL="0" indent="0" algn="l">
              <a:lnSpc>
                <a:spcPct val="100000"/>
              </a:lnSpc>
              <a:buNone/>
            </a:pPr>
            <a:r>
              <a:rPr lang="en-US" altLang="zh-CN" sz="2000" b="1" dirty="0">
                <a:solidFill>
                  <a:srgbClr val="000000"/>
                </a:solidFill>
                <a:latin typeface="MiSans" pitchFamily="34" charset="-122"/>
                <a:ea typeface="MiSans" pitchFamily="34" charset="-122"/>
                <a:cs typeface="MiSans" pitchFamily="34" charset="-120"/>
              </a:rPr>
              <a:t>Data Collection</a:t>
            </a:r>
            <a:endParaRPr lang="en-US" altLang="zh-CN" sz="2000" b="1" dirty="0">
              <a:solidFill>
                <a:srgbClr val="000000"/>
              </a:solidFill>
              <a:latin typeface="MiSans" pitchFamily="34" charset="-122"/>
              <a:ea typeface="MiSans" pitchFamily="34" charset="-122"/>
              <a:cs typeface="MiSans" pitchFamily="34" charset="-120"/>
            </a:endParaRPr>
          </a:p>
        </p:txBody>
      </p:sp>
      <p:sp>
        <p:nvSpPr>
          <p:cNvPr id="21" name="Text 19"/>
          <p:cNvSpPr/>
          <p:nvPr>
            <p:custDataLst>
              <p:tags r:id="rId8"/>
            </p:custDataLst>
          </p:nvPr>
        </p:nvSpPr>
        <p:spPr>
          <a:xfrm>
            <a:off x="929005" y="1983740"/>
            <a:ext cx="10249200" cy="370840"/>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Through RFID, bar code and other identification technologies, goods are quickly and accurately identified and positioned.</a:t>
            </a:r>
            <a:endParaRPr lang="en-US" altLang="zh-CN" sz="1400" dirty="0">
              <a:solidFill>
                <a:srgbClr val="2B2F36"/>
              </a:solidFill>
              <a:latin typeface="MiSans" pitchFamily="34" charset="-122"/>
              <a:ea typeface="MiSans" pitchFamily="34" charset="-122"/>
              <a:cs typeface="MiSans" pitchFamily="34" charset="-120"/>
            </a:endParaRPr>
          </a:p>
        </p:txBody>
      </p:sp>
      <p:sp>
        <p:nvSpPr>
          <p:cNvPr id="22" name="Text 20"/>
          <p:cNvSpPr/>
          <p:nvPr>
            <p:custDataLst>
              <p:tags r:id="rId9"/>
            </p:custDataLst>
          </p:nvPr>
        </p:nvSpPr>
        <p:spPr>
          <a:xfrm>
            <a:off x="929005" y="3118485"/>
            <a:ext cx="10249200" cy="398780"/>
          </a:xfrm>
          <a:prstGeom prst="rect">
            <a:avLst/>
          </a:prstGeom>
          <a:noFill/>
        </p:spPr>
        <p:txBody>
          <a:bodyPr wrap="square" lIns="91440" tIns="45720" rIns="91440" bIns="45720" rtlCol="0" anchor="t">
            <a:spAutoFit/>
          </a:bodyPr>
          <a:lstStyle/>
          <a:p>
            <a:pPr marL="0" indent="0" algn="l">
              <a:lnSpc>
                <a:spcPct val="100000"/>
              </a:lnSpc>
              <a:buNone/>
            </a:pPr>
            <a:r>
              <a:rPr lang="en-US" altLang="zh-CN" sz="2000" b="1" dirty="0">
                <a:solidFill>
                  <a:srgbClr val="FFFFFF"/>
                </a:solidFill>
                <a:latin typeface="MiSans" pitchFamily="34" charset="-122"/>
                <a:ea typeface="MiSans" pitchFamily="34" charset="-122"/>
                <a:cs typeface="MiSans" pitchFamily="34" charset="-120"/>
              </a:rPr>
              <a:t>Data Transmission</a:t>
            </a:r>
            <a:endParaRPr lang="en-US" altLang="zh-CN" sz="2000" b="1" dirty="0">
              <a:solidFill>
                <a:srgbClr val="FFFFFF"/>
              </a:solidFill>
              <a:latin typeface="MiSans" pitchFamily="34" charset="-122"/>
              <a:ea typeface="MiSans" pitchFamily="34" charset="-122"/>
              <a:cs typeface="MiSans" pitchFamily="34" charset="-120"/>
            </a:endParaRPr>
          </a:p>
        </p:txBody>
      </p:sp>
      <p:sp>
        <p:nvSpPr>
          <p:cNvPr id="23" name="Text 21"/>
          <p:cNvSpPr/>
          <p:nvPr>
            <p:custDataLst>
              <p:tags r:id="rId10"/>
            </p:custDataLst>
          </p:nvPr>
        </p:nvSpPr>
        <p:spPr>
          <a:xfrm>
            <a:off x="929005" y="4831080"/>
            <a:ext cx="10249200" cy="398780"/>
          </a:xfrm>
          <a:prstGeom prst="rect">
            <a:avLst/>
          </a:prstGeom>
          <a:noFill/>
        </p:spPr>
        <p:txBody>
          <a:bodyPr wrap="square" lIns="91440" tIns="45720" rIns="91440" bIns="45720" rtlCol="0" anchor="t">
            <a:spAutoFit/>
          </a:bodyPr>
          <a:lstStyle/>
          <a:p>
            <a:pPr marL="0" indent="0" algn="l">
              <a:lnSpc>
                <a:spcPct val="100000"/>
              </a:lnSpc>
              <a:buNone/>
            </a:pPr>
            <a:r>
              <a:rPr lang="en-US" altLang="zh-CN" sz="2000" b="1" dirty="0">
                <a:solidFill>
                  <a:srgbClr val="000000"/>
                </a:solidFill>
                <a:latin typeface="MiSans" pitchFamily="34" charset="-122"/>
                <a:ea typeface="MiSans" pitchFamily="34" charset="-122"/>
                <a:cs typeface="MiSans" pitchFamily="34" charset="-120"/>
              </a:rPr>
              <a:t>Data Processing</a:t>
            </a:r>
            <a:endParaRPr lang="en-US" altLang="zh-CN" sz="2000" b="1" dirty="0">
              <a:solidFill>
                <a:srgbClr val="000000"/>
              </a:solidFill>
              <a:latin typeface="MiSans" pitchFamily="34" charset="-122"/>
              <a:ea typeface="MiSans" pitchFamily="34" charset="-122"/>
              <a:cs typeface="MiSans" pitchFamily="34" charset="-120"/>
            </a:endParaRPr>
          </a:p>
        </p:txBody>
      </p:sp>
      <p:sp>
        <p:nvSpPr>
          <p:cNvPr id="24" name="Text 22"/>
          <p:cNvSpPr/>
          <p:nvPr>
            <p:custDataLst>
              <p:tags r:id="rId11"/>
            </p:custDataLst>
          </p:nvPr>
        </p:nvSpPr>
        <p:spPr>
          <a:xfrm>
            <a:off x="929005" y="5386705"/>
            <a:ext cx="10249200" cy="650240"/>
          </a:xfrm>
          <a:prstGeom prst="rect">
            <a:avLst/>
          </a:prstGeom>
          <a:noFill/>
        </p:spPr>
        <p:txBody>
          <a:bodyPr wrap="square" lIns="91440" tIns="45720" rIns="91440" bIns="45720" rtlCol="0" anchor="t">
            <a:spAutoFit/>
          </a:bodyPr>
          <a:lstStyle/>
          <a:p>
            <a:pPr marL="0" algn="just">
              <a:lnSpc>
                <a:spcPct val="130000"/>
              </a:lnSpc>
              <a:buClrTx/>
              <a:buSzTx/>
              <a:buFontTx/>
              <a:buNone/>
            </a:pPr>
            <a:r>
              <a:rPr lang="en-US" altLang="zh-CN" sz="1400" dirty="0">
                <a:solidFill>
                  <a:srgbClr val="2B2F36"/>
                </a:solidFill>
                <a:latin typeface="MiSans" pitchFamily="34" charset="-122"/>
                <a:ea typeface="MiSans" pitchFamily="34" charset="-122"/>
                <a:cs typeface="MiSans" pitchFamily="34" charset="-120"/>
              </a:rPr>
              <a:t>The system processes and analyzes the received data, generates various reports and statistical data, and provides support for decision-making.</a:t>
            </a:r>
            <a:endParaRPr lang="en-US" altLang="zh-CN" sz="140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Real-Time Monitoring and Scheduling Optimization</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03-d0shq5s75iks832je5bg.png"/>
          <p:cNvPicPr>
            <a:picLocks noChangeAspect="1"/>
          </p:cNvPicPr>
          <p:nvPr/>
        </p:nvPicPr>
        <p:blipFill>
          <a:blip r:embed="rId1"/>
          <a:srcRect l="31" r="31"/>
          <a:stretch>
            <a:fillRect/>
          </a:stretch>
        </p:blipFill>
        <p:spPr>
          <a:xfrm>
            <a:off x="594360" y="1397000"/>
            <a:ext cx="3088640" cy="4606290"/>
          </a:xfrm>
          <a:prstGeom prst="rect">
            <a:avLst/>
          </a:prstGeom>
        </p:spPr>
      </p:pic>
      <p:sp>
        <p:nvSpPr>
          <p:cNvPr id="14" name="Shape 11"/>
          <p:cNvSpPr/>
          <p:nvPr>
            <p:custDataLst>
              <p:tags r:id="rId2"/>
            </p:custDataLst>
          </p:nvPr>
        </p:nvSpPr>
        <p:spPr>
          <a:xfrm>
            <a:off x="3796030" y="1397000"/>
            <a:ext cx="8031480" cy="4602480"/>
          </a:xfrm>
          <a:prstGeom prst="rect">
            <a:avLst/>
          </a:prstGeom>
          <a:solidFill>
            <a:srgbClr val="000000">
              <a:alpha val="0"/>
            </a:srgbClr>
          </a:solidFill>
          <a:ln w="19050">
            <a:solidFill>
              <a:srgbClr val="9FB26A"/>
            </a:solidFill>
            <a:prstDash val="solid"/>
          </a:ln>
        </p:spPr>
      </p:sp>
      <p:sp>
        <p:nvSpPr>
          <p:cNvPr id="15" name="Text 12"/>
          <p:cNvSpPr/>
          <p:nvPr/>
        </p:nvSpPr>
        <p:spPr>
          <a:xfrm>
            <a:off x="3796030" y="1413510"/>
            <a:ext cx="8031480" cy="46024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4"/>
          <p:cNvSpPr/>
          <p:nvPr>
            <p:custDataLst>
              <p:tags r:id="rId3"/>
            </p:custDataLst>
          </p:nvPr>
        </p:nvSpPr>
        <p:spPr>
          <a:xfrm>
            <a:off x="4038600" y="3714750"/>
            <a:ext cx="7560310" cy="0"/>
          </a:xfrm>
          <a:prstGeom prst="line">
            <a:avLst/>
          </a:prstGeom>
          <a:noFill/>
          <a:ln w="12700">
            <a:solidFill>
              <a:srgbClr val="9FB26A"/>
            </a:solidFill>
            <a:prstDash val="dash"/>
            <a:headEnd type="none"/>
            <a:tailEnd type="none"/>
          </a:ln>
        </p:spPr>
      </p:sp>
      <p:sp>
        <p:nvSpPr>
          <p:cNvPr id="18" name="Text 15"/>
          <p:cNvSpPr/>
          <p:nvPr>
            <p:custDataLst>
              <p:tags r:id="rId4"/>
            </p:custDataLst>
          </p:nvPr>
        </p:nvSpPr>
        <p:spPr>
          <a:xfrm>
            <a:off x="4038600" y="1572895"/>
            <a:ext cx="7617460" cy="398780"/>
          </a:xfrm>
          <a:prstGeom prst="rect">
            <a:avLst/>
          </a:prstGeom>
          <a:noFill/>
        </p:spPr>
        <p:txBody>
          <a:bodyPr wrap="square" lIns="91440" tIns="45720" rIns="91440" bIns="45720" rtlCol="0" anchor="t">
            <a:spAutoFit/>
          </a:bodyPr>
          <a:lstStyle/>
          <a:p>
            <a:pPr marL="0" indent="0" algn="just">
              <a:lnSpc>
                <a:spcPct val="100000"/>
              </a:lnSpc>
              <a:buNone/>
            </a:pPr>
            <a:r>
              <a:rPr lang="en-US" altLang="zh-CN" sz="2000" b="1" dirty="0">
                <a:solidFill>
                  <a:srgbClr val="5E927D"/>
                </a:solidFill>
                <a:latin typeface="MiSans" pitchFamily="34" charset="-122"/>
                <a:ea typeface="MiSans" pitchFamily="34" charset="-122"/>
                <a:cs typeface="MiSans" pitchFamily="34" charset="-120"/>
              </a:rPr>
              <a:t>Real-Time Monitoring</a:t>
            </a:r>
            <a:endParaRPr lang="en-US" altLang="zh-CN" sz="2000" b="1" dirty="0">
              <a:solidFill>
                <a:srgbClr val="5E927D"/>
              </a:solidFill>
              <a:latin typeface="MiSans" pitchFamily="34" charset="-122"/>
              <a:ea typeface="MiSans" pitchFamily="34" charset="-122"/>
              <a:cs typeface="MiSans" pitchFamily="34" charset="-120"/>
            </a:endParaRPr>
          </a:p>
        </p:txBody>
      </p:sp>
      <p:sp>
        <p:nvSpPr>
          <p:cNvPr id="19" name="Text 16"/>
          <p:cNvSpPr/>
          <p:nvPr>
            <p:custDataLst>
              <p:tags r:id="rId5"/>
            </p:custDataLst>
          </p:nvPr>
        </p:nvSpPr>
        <p:spPr>
          <a:xfrm>
            <a:off x="4038600" y="1941830"/>
            <a:ext cx="7616190" cy="929640"/>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Through the information management system, real-time monitoring of the status of goods in the warehouse, the operation status of equipment and the work of personnel is carried out.</a:t>
            </a:r>
            <a:endParaRPr lang="en-US" sz="1400" dirty="0">
              <a:solidFill>
                <a:srgbClr val="2B2F36"/>
              </a:solidFill>
              <a:latin typeface="MiSans" pitchFamily="34" charset="-122"/>
              <a:ea typeface="MiSans" pitchFamily="34" charset="-122"/>
              <a:cs typeface="MiSans" pitchFamily="34" charset="-120"/>
            </a:endParaRPr>
          </a:p>
        </p:txBody>
      </p:sp>
      <p:sp>
        <p:nvSpPr>
          <p:cNvPr id="22" name="Text 19"/>
          <p:cNvSpPr/>
          <p:nvPr>
            <p:custDataLst>
              <p:tags r:id="rId6"/>
            </p:custDataLst>
          </p:nvPr>
        </p:nvSpPr>
        <p:spPr>
          <a:xfrm>
            <a:off x="4037330" y="3803650"/>
            <a:ext cx="7617460" cy="398780"/>
          </a:xfrm>
          <a:prstGeom prst="rect">
            <a:avLst/>
          </a:prstGeom>
          <a:noFill/>
        </p:spPr>
        <p:txBody>
          <a:bodyPr wrap="square" lIns="91440" tIns="45720" rIns="91440" bIns="45720" rtlCol="0" anchor="t">
            <a:spAutoFit/>
          </a:bodyPr>
          <a:lstStyle/>
          <a:p>
            <a:pPr marL="0" algn="just">
              <a:lnSpc>
                <a:spcPct val="100000"/>
              </a:lnSpc>
              <a:buClrTx/>
              <a:buSzTx/>
              <a:buFontTx/>
              <a:buNone/>
            </a:pPr>
            <a:r>
              <a:rPr lang="en-US" altLang="zh-CN" sz="2000" b="1" dirty="0">
                <a:solidFill>
                  <a:srgbClr val="5E927D"/>
                </a:solidFill>
                <a:latin typeface="MiSans" pitchFamily="34" charset="-122"/>
                <a:ea typeface="MiSans" pitchFamily="34" charset="-122"/>
                <a:cs typeface="MiSans" pitchFamily="34" charset="-120"/>
              </a:rPr>
              <a:t>Scheduling Optimization</a:t>
            </a:r>
            <a:endParaRPr lang="en-US" altLang="zh-CN" sz="2000" b="1" dirty="0">
              <a:solidFill>
                <a:srgbClr val="5E927D"/>
              </a:solidFill>
              <a:latin typeface="MiSans" pitchFamily="34" charset="-122"/>
              <a:ea typeface="MiSans" pitchFamily="34" charset="-122"/>
              <a:cs typeface="MiSans" pitchFamily="34" charset="-120"/>
            </a:endParaRPr>
          </a:p>
        </p:txBody>
      </p:sp>
      <p:sp>
        <p:nvSpPr>
          <p:cNvPr id="23" name="Text 20"/>
          <p:cNvSpPr/>
          <p:nvPr>
            <p:custDataLst>
              <p:tags r:id="rId7"/>
            </p:custDataLst>
          </p:nvPr>
        </p:nvSpPr>
        <p:spPr>
          <a:xfrm>
            <a:off x="4039870" y="4291330"/>
            <a:ext cx="7616190" cy="1249680"/>
          </a:xfrm>
          <a:prstGeom prst="rect">
            <a:avLst/>
          </a:prstGeom>
          <a:noFill/>
        </p:spPr>
        <p:txBody>
          <a:bodyPr wrap="square" lIns="91440" tIns="45720" rIns="91440" bIns="45720" rtlCol="0" anchor="t">
            <a:spAutoFit/>
          </a:bodyPr>
          <a:lstStyle/>
          <a:p>
            <a:pPr marL="0" algn="just">
              <a:lnSpc>
                <a:spcPct val="130000"/>
              </a:lnSpc>
              <a:buClrTx/>
              <a:buSzTx/>
              <a:buFontTx/>
              <a:buNone/>
            </a:pPr>
            <a:r>
              <a:rPr lang="en-US" altLang="zh-CN" sz="1600" dirty="0"/>
              <a:t> </a:t>
            </a:r>
            <a:r>
              <a:rPr lang="en-US" altLang="zh-CN" sz="1400" dirty="0">
                <a:solidFill>
                  <a:srgbClr val="2B2F36"/>
                </a:solidFill>
                <a:latin typeface="MiSans" pitchFamily="34" charset="-122"/>
                <a:ea typeface="MiSans" pitchFamily="34" charset="-122"/>
                <a:cs typeface="MiSans" pitchFamily="34" charset="-120"/>
              </a:rPr>
              <a:t>According to real-time monitoring data, dynamic scheduling and optimization of warehouse operations are carried out to improve the efficiency and accuracy of warehouse operations. For example, according to the storage status of goods and the outbound plan, the optimal picking path and loading plan are automatically generated.</a:t>
            </a:r>
            <a:endParaRPr lang="en-US" altLang="zh-CN" sz="140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236067"/>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05</a:t>
            </a:r>
            <a:endParaRPr lang="en-US" sz="1600" dirty="0"/>
          </a:p>
        </p:txBody>
      </p:sp>
      <p:sp>
        <p:nvSpPr>
          <p:cNvPr id="7" name="Text 3"/>
          <p:cNvSpPr/>
          <p:nvPr/>
        </p:nvSpPr>
        <p:spPr>
          <a:xfrm>
            <a:off x="5979795" y="3223895"/>
            <a:ext cx="4779645" cy="2190750"/>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Future Trends in Intelligent Systems</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Advancements in AI and Machine Learning</a:t>
            </a:r>
            <a:endParaRPr lang="en-US" sz="1600" dirty="0"/>
          </a:p>
        </p:txBody>
      </p:sp>
      <p:sp>
        <p:nvSpPr>
          <p:cNvPr id="9" name="Shape 7"/>
          <p:cNvSpPr/>
          <p:nvPr/>
        </p:nvSpPr>
        <p:spPr>
          <a:xfrm>
            <a:off x="895350" y="1499855"/>
            <a:ext cx="3131820" cy="4437826"/>
          </a:xfrm>
          <a:prstGeom prst="roundRect">
            <a:avLst>
              <a:gd name="adj" fmla="val 5833"/>
            </a:avLst>
          </a:prstGeom>
          <a:solidFill>
            <a:srgbClr val="FFFFFF"/>
          </a:solidFill>
          <a:ln w="19050">
            <a:solidFill>
              <a:srgbClr val="739071"/>
            </a:solidFill>
            <a:prstDash val="solid"/>
          </a:ln>
        </p:spPr>
      </p:sp>
      <p:sp>
        <p:nvSpPr>
          <p:cNvPr id="10" name="Text 8"/>
          <p:cNvSpPr/>
          <p:nvPr/>
        </p:nvSpPr>
        <p:spPr>
          <a:xfrm>
            <a:off x="89535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1" name="Image 0" descr="https://test-kimi-img.moonshot.cn/pub/slides/slides_tmpl/image/25-05-30-10:51:00-d0shq5475iks832je5a0.png"/>
          <p:cNvPicPr>
            <a:picLocks noChangeAspect="1"/>
          </p:cNvPicPr>
          <p:nvPr/>
        </p:nvPicPr>
        <p:blipFill>
          <a:blip r:embed="rId1"/>
          <a:srcRect t="155" b="194"/>
          <a:stretch>
            <a:fillRect/>
          </a:stretch>
        </p:blipFill>
        <p:spPr>
          <a:xfrm>
            <a:off x="1069975" y="1678282"/>
            <a:ext cx="2783205" cy="1633785"/>
          </a:xfrm>
          <a:prstGeom prst="rect">
            <a:avLst/>
          </a:prstGeom>
        </p:spPr>
      </p:pic>
      <p:sp>
        <p:nvSpPr>
          <p:cNvPr id="12" name="Text 9"/>
          <p:cNvSpPr/>
          <p:nvPr/>
        </p:nvSpPr>
        <p:spPr>
          <a:xfrm>
            <a:off x="1026160" y="4026412"/>
            <a:ext cx="2827020" cy="1364456"/>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Deep learning continues to advance with new architectures and algorithms. This will enable more accurate and efficient models for various applications.</a:t>
            </a:r>
            <a:endParaRPr lang="en-US" sz="1600" dirty="0"/>
          </a:p>
        </p:txBody>
      </p:sp>
      <p:sp>
        <p:nvSpPr>
          <p:cNvPr id="13" name="Text 10"/>
          <p:cNvSpPr/>
          <p:nvPr/>
        </p:nvSpPr>
        <p:spPr>
          <a:xfrm>
            <a:off x="104775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Deep Learning Innovations</a:t>
            </a:r>
            <a:endParaRPr lang="en-US" sz="1600" dirty="0"/>
          </a:p>
        </p:txBody>
      </p:sp>
      <p:sp>
        <p:nvSpPr>
          <p:cNvPr id="14" name="Shape 11"/>
          <p:cNvSpPr/>
          <p:nvPr/>
        </p:nvSpPr>
        <p:spPr>
          <a:xfrm>
            <a:off x="4349115" y="1149350"/>
            <a:ext cx="3605530" cy="5138201"/>
          </a:xfrm>
          <a:prstGeom prst="roundRect">
            <a:avLst>
              <a:gd name="adj" fmla="val 5833"/>
            </a:avLst>
          </a:prstGeom>
          <a:solidFill>
            <a:srgbClr val="FFFFFF"/>
          </a:solidFill>
          <a:ln w="19050">
            <a:solidFill>
              <a:srgbClr val="739071"/>
            </a:solidFill>
            <a:prstDash val="solid"/>
          </a:ln>
        </p:spPr>
      </p:sp>
      <p:sp>
        <p:nvSpPr>
          <p:cNvPr id="15" name="Text 12"/>
          <p:cNvSpPr/>
          <p:nvPr/>
        </p:nvSpPr>
        <p:spPr>
          <a:xfrm>
            <a:off x="4349115" y="1149350"/>
            <a:ext cx="3605530" cy="5138201"/>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Image 1" descr="https://test-kimi-img.moonshot.cn/pub/slides/slides_tmpl/image/25-05-30-10:51:01-d0shq5c75iks832je5ag.png"/>
          <p:cNvPicPr>
            <a:picLocks noChangeAspect="1"/>
          </p:cNvPicPr>
          <p:nvPr/>
        </p:nvPicPr>
        <p:blipFill>
          <a:blip r:embed="rId2"/>
          <a:srcRect l="54" r="54"/>
          <a:stretch>
            <a:fillRect/>
          </a:stretch>
        </p:blipFill>
        <p:spPr>
          <a:xfrm>
            <a:off x="4471192" y="1366087"/>
            <a:ext cx="3361377" cy="2163100"/>
          </a:xfrm>
          <a:prstGeom prst="rect">
            <a:avLst/>
          </a:prstGeom>
        </p:spPr>
      </p:pic>
      <p:sp>
        <p:nvSpPr>
          <p:cNvPr id="17" name="Text 13"/>
          <p:cNvSpPr/>
          <p:nvPr/>
        </p:nvSpPr>
        <p:spPr>
          <a:xfrm>
            <a:off x="4490724" y="4117736"/>
            <a:ext cx="3322312" cy="1463080"/>
          </a:xfrm>
          <a:prstGeom prst="rect">
            <a:avLst/>
          </a:prstGeom>
          <a:noFill/>
        </p:spPr>
        <p:txBody>
          <a:bodyPr wrap="square" lIns="0" tIns="0" rIns="0" bIns="0" rtlCol="0" anchor="t">
            <a:spAutoFit/>
          </a:bodyPr>
          <a:lstStyle/>
          <a:p>
            <a:pPr marL="0" indent="0" algn="just">
              <a:lnSpc>
                <a:spcPct val="120000"/>
              </a:lnSpc>
              <a:buNone/>
            </a:pPr>
            <a:r>
              <a:rPr lang="en-US" sz="1600" dirty="0">
                <a:solidFill>
                  <a:srgbClr val="2B2F36"/>
                </a:solidFill>
                <a:latin typeface="MiSans" pitchFamily="34" charset="-122"/>
                <a:ea typeface="MiSans" pitchFamily="34" charset="-122"/>
                <a:cs typeface="MiSans" pitchFamily="34" charset="-120"/>
              </a:rPr>
              <a:t>Transfer learning allows models trained on one task to be adapted to another. This will reduce training time and improve model performance in new domains.</a:t>
            </a:r>
            <a:endParaRPr lang="en-US" sz="1600" dirty="0"/>
          </a:p>
        </p:txBody>
      </p:sp>
      <p:sp>
        <p:nvSpPr>
          <p:cNvPr id="18" name="Text 14"/>
          <p:cNvSpPr/>
          <p:nvPr/>
        </p:nvSpPr>
        <p:spPr>
          <a:xfrm>
            <a:off x="4490724" y="3529187"/>
            <a:ext cx="3322312" cy="523833"/>
          </a:xfrm>
          <a:prstGeom prst="rect">
            <a:avLst/>
          </a:prstGeom>
          <a:noFill/>
        </p:spPr>
        <p:txBody>
          <a:bodyPr wrap="square" lIns="0" tIns="0" rIns="0" bIns="35941" rtlCol="0" anchor="ctr"/>
          <a:lstStyle/>
          <a:p>
            <a:pPr marL="0" indent="0" algn="ctr">
              <a:lnSpc>
                <a:spcPct val="100000"/>
              </a:lnSpc>
              <a:buNone/>
            </a:pPr>
            <a:r>
              <a:rPr lang="en-US" sz="1800" b="1" dirty="0">
                <a:solidFill>
                  <a:srgbClr val="5E927D"/>
                </a:solidFill>
                <a:latin typeface="MiSans" pitchFamily="34" charset="-122"/>
                <a:ea typeface="MiSans" pitchFamily="34" charset="-122"/>
                <a:cs typeface="MiSans" pitchFamily="34" charset="-120"/>
              </a:rPr>
              <a:t>Transfer Learning</a:t>
            </a:r>
            <a:endParaRPr lang="en-US" sz="1600" dirty="0"/>
          </a:p>
        </p:txBody>
      </p:sp>
      <p:sp>
        <p:nvSpPr>
          <p:cNvPr id="19" name="Shape 15"/>
          <p:cNvSpPr/>
          <p:nvPr/>
        </p:nvSpPr>
        <p:spPr>
          <a:xfrm>
            <a:off x="8276590" y="1499855"/>
            <a:ext cx="3131820" cy="4437826"/>
          </a:xfrm>
          <a:prstGeom prst="roundRect">
            <a:avLst>
              <a:gd name="adj" fmla="val 5833"/>
            </a:avLst>
          </a:prstGeom>
          <a:solidFill>
            <a:srgbClr val="FFFFFF"/>
          </a:solidFill>
          <a:ln w="19050">
            <a:solidFill>
              <a:srgbClr val="739071"/>
            </a:solidFill>
            <a:prstDash val="solid"/>
          </a:ln>
        </p:spPr>
      </p:sp>
      <p:sp>
        <p:nvSpPr>
          <p:cNvPr id="20" name="Text 16"/>
          <p:cNvSpPr/>
          <p:nvPr/>
        </p:nvSpPr>
        <p:spPr>
          <a:xfrm>
            <a:off x="827659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1" name="Image 2" descr="https://test-kimi-img.moonshot.cn/pub/slides/slides_tmpl/image/25-05-30-10:51:01-d0shq5c75iks832je5b0.png"/>
          <p:cNvPicPr>
            <a:picLocks noChangeAspect="1"/>
          </p:cNvPicPr>
          <p:nvPr/>
        </p:nvPicPr>
        <p:blipFill>
          <a:blip r:embed="rId3"/>
          <a:srcRect t="155" b="194"/>
          <a:stretch>
            <a:fillRect/>
          </a:stretch>
        </p:blipFill>
        <p:spPr>
          <a:xfrm>
            <a:off x="8451215" y="1678282"/>
            <a:ext cx="2783205" cy="1633785"/>
          </a:xfrm>
          <a:prstGeom prst="rect">
            <a:avLst/>
          </a:prstGeom>
        </p:spPr>
      </p:pic>
      <p:sp>
        <p:nvSpPr>
          <p:cNvPr id="22" name="Text 17"/>
          <p:cNvSpPr/>
          <p:nvPr/>
        </p:nvSpPr>
        <p:spPr>
          <a:xfrm>
            <a:off x="8407400" y="4026412"/>
            <a:ext cx="2827020" cy="1637506"/>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Reinforcement learning will play a significant role in developing autonomous systems. It enables systems to learn from their environment and make optimal decisions.</a:t>
            </a:r>
            <a:endParaRPr lang="en-US" sz="1600" dirty="0"/>
          </a:p>
        </p:txBody>
      </p:sp>
      <p:sp>
        <p:nvSpPr>
          <p:cNvPr id="23" name="Text 18"/>
          <p:cNvSpPr/>
          <p:nvPr/>
        </p:nvSpPr>
        <p:spPr>
          <a:xfrm>
            <a:off x="842899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Reinforcement Learning</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Integration with IoT</a:t>
            </a:r>
            <a:endParaRPr lang="en-US" sz="1600" dirty="0"/>
          </a:p>
        </p:txBody>
      </p:sp>
      <p:sp>
        <p:nvSpPr>
          <p:cNvPr id="9" name="Shape 7"/>
          <p:cNvSpPr/>
          <p:nvPr/>
        </p:nvSpPr>
        <p:spPr>
          <a:xfrm>
            <a:off x="4956175" y="2925445"/>
            <a:ext cx="6500495" cy="1539875"/>
          </a:xfrm>
          <a:prstGeom prst="roundRect">
            <a:avLst>
              <a:gd name="adj" fmla="val 11000"/>
            </a:avLst>
          </a:prstGeom>
          <a:solidFill>
            <a:srgbClr val="079F92"/>
          </a:solidFill>
          <a:ln w="19050">
            <a:solidFill>
              <a:srgbClr val="A0D1FA">
                <a:alpha val="43137"/>
              </a:srgbClr>
            </a:solidFill>
            <a:prstDash val="solid"/>
          </a:ln>
          <a:effectLst>
            <a:outerShdw blurRad="254000" dist="134704" dir="2700000" algn="bl" rotWithShape="0">
              <a:srgbClr val="1E69D5">
                <a:alpha val="10196"/>
              </a:srgbClr>
            </a:outerShdw>
          </a:effectLst>
        </p:spPr>
      </p:sp>
      <p:sp>
        <p:nvSpPr>
          <p:cNvPr id="10" name="Text 8"/>
          <p:cNvSpPr/>
          <p:nvPr/>
        </p:nvSpPr>
        <p:spPr>
          <a:xfrm>
            <a:off x="4956175" y="2925445"/>
            <a:ext cx="6500495" cy="15398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9"/>
          <p:cNvSpPr/>
          <p:nvPr/>
        </p:nvSpPr>
        <p:spPr>
          <a:xfrm>
            <a:off x="4956175" y="1461770"/>
            <a:ext cx="6500495" cy="1339215"/>
          </a:xfrm>
          <a:prstGeom prst="roundRect">
            <a:avLst>
              <a:gd name="adj" fmla="val 8155"/>
            </a:avLst>
          </a:prstGeom>
          <a:solidFill>
            <a:srgbClr val="FFFFFF"/>
          </a:solidFill>
          <a:ln w="19050">
            <a:solidFill>
              <a:srgbClr val="A0D1FA">
                <a:alpha val="43137"/>
              </a:srgbClr>
            </a:solidFill>
            <a:prstDash val="solid"/>
          </a:ln>
          <a:effectLst>
            <a:outerShdw blurRad="254000" dist="134704" dir="2700000" algn="bl" rotWithShape="0">
              <a:srgbClr val="1E69D5">
                <a:alpha val="10196"/>
              </a:srgbClr>
            </a:outerShdw>
          </a:effectLst>
        </p:spPr>
      </p:sp>
      <p:sp>
        <p:nvSpPr>
          <p:cNvPr id="12" name="Text 10"/>
          <p:cNvSpPr/>
          <p:nvPr/>
        </p:nvSpPr>
        <p:spPr>
          <a:xfrm>
            <a:off x="4956175" y="1461770"/>
            <a:ext cx="6500495" cy="1339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Shape 11"/>
          <p:cNvSpPr/>
          <p:nvPr/>
        </p:nvSpPr>
        <p:spPr>
          <a:xfrm>
            <a:off x="735965" y="1255395"/>
            <a:ext cx="10720070" cy="1545590"/>
          </a:xfrm>
          <a:prstGeom prst="roundRect">
            <a:avLst>
              <a:gd name="adj" fmla="val 8155"/>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sp>
      <p:sp>
        <p:nvSpPr>
          <p:cNvPr id="14" name="Text 12"/>
          <p:cNvSpPr/>
          <p:nvPr/>
        </p:nvSpPr>
        <p:spPr>
          <a:xfrm>
            <a:off x="735965" y="1255395"/>
            <a:ext cx="10720070"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Shape 13"/>
          <p:cNvSpPr/>
          <p:nvPr/>
        </p:nvSpPr>
        <p:spPr>
          <a:xfrm>
            <a:off x="735965" y="2931160"/>
            <a:ext cx="10720705" cy="1545590"/>
          </a:xfrm>
          <a:prstGeom prst="roundRect">
            <a:avLst>
              <a:gd name="adj" fmla="val 11000"/>
            </a:avLst>
          </a:prstGeom>
          <a:solidFill>
            <a:srgbClr val="B4CA7C"/>
          </a:solidFill>
          <a:ln w="19050">
            <a:solidFill>
              <a:srgbClr val="DEEAE5">
                <a:alpha val="43137"/>
              </a:srgbClr>
            </a:solidFill>
            <a:prstDash val="solid"/>
          </a:ln>
          <a:effectLst>
            <a:outerShdw blurRad="254000" dist="134704" dir="2700000" algn="bl" rotWithShape="0">
              <a:srgbClr val="E0E9C9">
                <a:alpha val="10196"/>
              </a:srgbClr>
            </a:outerShdw>
          </a:effectLst>
        </p:spPr>
      </p:sp>
      <p:sp>
        <p:nvSpPr>
          <p:cNvPr id="16" name="Text 14"/>
          <p:cNvSpPr/>
          <p:nvPr/>
        </p:nvSpPr>
        <p:spPr>
          <a:xfrm>
            <a:off x="735965" y="2931160"/>
            <a:ext cx="10720705" cy="154559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a:off x="736600" y="4594860"/>
            <a:ext cx="10720070" cy="1590675"/>
          </a:xfrm>
          <a:prstGeom prst="roundRect">
            <a:avLst>
              <a:gd name="adj" fmla="val 10289"/>
            </a:avLst>
          </a:prstGeom>
          <a:solidFill>
            <a:srgbClr val="FFFFFF"/>
          </a:solidFill>
          <a:ln w="19050">
            <a:solidFill>
              <a:srgbClr val="DEEAE5">
                <a:alpha val="67059"/>
              </a:srgbClr>
            </a:solidFill>
            <a:prstDash val="solid"/>
          </a:ln>
          <a:effectLst>
            <a:outerShdw blurRad="254000" dist="134704" dir="2700000" algn="bl" rotWithShape="0">
              <a:srgbClr val="E0E9C9">
                <a:alpha val="10196"/>
              </a:srgbClr>
            </a:outerShdw>
          </a:effectLst>
        </p:spPr>
      </p:sp>
      <p:sp>
        <p:nvSpPr>
          <p:cNvPr id="18" name="Text 16"/>
          <p:cNvSpPr/>
          <p:nvPr/>
        </p:nvSpPr>
        <p:spPr>
          <a:xfrm>
            <a:off x="736600" y="4594860"/>
            <a:ext cx="10720070" cy="15906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7"/>
          <p:cNvSpPr/>
          <p:nvPr/>
        </p:nvSpPr>
        <p:spPr>
          <a:xfrm>
            <a:off x="929005" y="3617595"/>
            <a:ext cx="1024920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FFFFFF"/>
                </a:solidFill>
                <a:latin typeface="MiSans" pitchFamily="34" charset="-122"/>
                <a:ea typeface="MiSans" pitchFamily="34" charset="-122"/>
                <a:cs typeface="MiSans" pitchFamily="34" charset="-120"/>
              </a:rPr>
              <a:t>In the industrial sector, IoT-enabled intelligent systems will enhance automation, predictive maintenance, and supply chain management. This will increase productivity and reduce costs.</a:t>
            </a:r>
            <a:endParaRPr lang="en-US" sz="1600" dirty="0"/>
          </a:p>
        </p:txBody>
      </p:sp>
      <p:sp>
        <p:nvSpPr>
          <p:cNvPr id="20" name="Text 18"/>
          <p:cNvSpPr/>
          <p:nvPr/>
        </p:nvSpPr>
        <p:spPr>
          <a:xfrm>
            <a:off x="929005" y="149669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Smart Cities</a:t>
            </a:r>
            <a:endParaRPr lang="en-US" sz="1600" dirty="0"/>
          </a:p>
        </p:txBody>
      </p:sp>
      <p:sp>
        <p:nvSpPr>
          <p:cNvPr id="21" name="Text 19"/>
          <p:cNvSpPr/>
          <p:nvPr/>
        </p:nvSpPr>
        <p:spPr>
          <a:xfrm>
            <a:off x="929005" y="1983740"/>
            <a:ext cx="1024920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The integration of intelligent systems with IoT will lead to the development of smart cities. These cities will have optimized infrastructure, efficient resource management, and improved quality of life.</a:t>
            </a:r>
            <a:endParaRPr lang="en-US" sz="1600" dirty="0"/>
          </a:p>
        </p:txBody>
      </p:sp>
      <p:sp>
        <p:nvSpPr>
          <p:cNvPr id="22" name="Text 20"/>
          <p:cNvSpPr/>
          <p:nvPr/>
        </p:nvSpPr>
        <p:spPr>
          <a:xfrm>
            <a:off x="929005" y="3118485"/>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FFFFFF"/>
                </a:solidFill>
                <a:latin typeface="MiSans" pitchFamily="34" charset="-122"/>
                <a:ea typeface="MiSans" pitchFamily="34" charset="-122"/>
                <a:cs typeface="MiSans" pitchFamily="34" charset="-120"/>
              </a:rPr>
              <a:t>Industrial IoT</a:t>
            </a:r>
            <a:endParaRPr lang="en-US" sz="1600" dirty="0"/>
          </a:p>
        </p:txBody>
      </p:sp>
      <p:sp>
        <p:nvSpPr>
          <p:cNvPr id="23" name="Text 21"/>
          <p:cNvSpPr/>
          <p:nvPr/>
        </p:nvSpPr>
        <p:spPr>
          <a:xfrm>
            <a:off x="929005" y="4831080"/>
            <a:ext cx="1024920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000000"/>
                </a:solidFill>
                <a:latin typeface="MiSans" pitchFamily="34" charset="-122"/>
                <a:ea typeface="MiSans" pitchFamily="34" charset="-122"/>
                <a:cs typeface="MiSans" pitchFamily="34" charset="-120"/>
              </a:rPr>
              <a:t>Connected Devices</a:t>
            </a:r>
            <a:endParaRPr lang="en-US" sz="1600" dirty="0"/>
          </a:p>
        </p:txBody>
      </p:sp>
      <p:sp>
        <p:nvSpPr>
          <p:cNvPr id="24" name="Text 22"/>
          <p:cNvSpPr/>
          <p:nvPr/>
        </p:nvSpPr>
        <p:spPr>
          <a:xfrm>
            <a:off x="929005" y="5386705"/>
            <a:ext cx="1024920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The proliferation of connected devices will provide more data for intelligent systems. This will enable more personalized and context-aware applications.</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773170" y="1443355"/>
            <a:ext cx="8102600" cy="4499610"/>
          </a:xfrm>
          <a:prstGeom prst="roundRect">
            <a:avLst>
              <a:gd name="adj" fmla="val 50000"/>
            </a:avLst>
          </a:prstGeom>
          <a:solidFill>
            <a:srgbClr val="000000">
              <a:alpha val="0"/>
            </a:srgbClr>
          </a:solidFill>
          <a:ln w="19050">
            <a:gradFill flip="none" rotWithShape="1">
              <a:gsLst>
                <a:gs pos="0">
                  <a:srgbClr val="E0E9C9"/>
                </a:gs>
                <a:gs pos="50000">
                  <a:srgbClr val="FFFFFF">
                    <a:alpha val="0"/>
                  </a:srgbClr>
                </a:gs>
              </a:gsLst>
              <a:lin ang="10800000" scaled="1"/>
            </a:gradFill>
            <a:prstDash val="solid"/>
          </a:ln>
        </p:spPr>
      </p:sp>
      <p:sp>
        <p:nvSpPr>
          <p:cNvPr id="3" name="Text 1"/>
          <p:cNvSpPr/>
          <p:nvPr/>
        </p:nvSpPr>
        <p:spPr>
          <a:xfrm>
            <a:off x="-3773170" y="1443355"/>
            <a:ext cx="8102600" cy="449961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3471545" y="1610995"/>
            <a:ext cx="7499350" cy="4164330"/>
          </a:xfrm>
          <a:prstGeom prst="roundRect">
            <a:avLst>
              <a:gd name="adj" fmla="val 50000"/>
            </a:avLst>
          </a:prstGeom>
          <a:solidFill>
            <a:srgbClr val="2F493E">
              <a:alpha val="23137"/>
            </a:srgbClr>
          </a:solidFill>
        </p:spPr>
      </p:sp>
      <p:sp>
        <p:nvSpPr>
          <p:cNvPr id="5" name="Text 3"/>
          <p:cNvSpPr/>
          <p:nvPr/>
        </p:nvSpPr>
        <p:spPr>
          <a:xfrm>
            <a:off x="-3471545" y="1610995"/>
            <a:ext cx="7499350" cy="416433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6" name="Image 0" descr="https://test-kimi-img.moonshot.cn/pub/slides/slides_tmpl/image/25-05-30-10:51:05-d0shq6c75iks832je5cg.png"/>
          <p:cNvPicPr>
            <a:picLocks noChangeAspect="1"/>
          </p:cNvPicPr>
          <p:nvPr/>
        </p:nvPicPr>
        <p:blipFill>
          <a:blip r:embed="rId1"/>
          <a:srcRect r="9"/>
          <a:stretch>
            <a:fillRect/>
          </a:stretch>
        </p:blipFill>
        <p:spPr>
          <a:xfrm>
            <a:off x="-3074035" y="1831975"/>
            <a:ext cx="6704965" cy="3723005"/>
          </a:xfrm>
          <a:prstGeom prst="rect">
            <a:avLst/>
          </a:prstGeom>
        </p:spPr>
      </p:pic>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Ethical and Social Considerations</a:t>
            </a:r>
            <a:endParaRPr lang="en-US" sz="1600" dirty="0"/>
          </a:p>
        </p:txBody>
      </p:sp>
      <p:sp>
        <p:nvSpPr>
          <p:cNvPr id="12" name="Shape 9"/>
          <p:cNvSpPr/>
          <p:nvPr/>
        </p:nvSpPr>
        <p:spPr>
          <a:xfrm>
            <a:off x="2808605" y="1239520"/>
            <a:ext cx="652145" cy="663575"/>
          </a:xfrm>
          <a:prstGeom prst="ellipse">
            <a:avLst/>
          </a:prstGeom>
          <a:solidFill>
            <a:srgbClr val="B4CA7C"/>
          </a:solidFill>
        </p:spPr>
      </p:sp>
      <p:sp>
        <p:nvSpPr>
          <p:cNvPr id="13" name="Text 10"/>
          <p:cNvSpPr/>
          <p:nvPr/>
        </p:nvSpPr>
        <p:spPr>
          <a:xfrm>
            <a:off x="2808605" y="12395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010025" y="3220720"/>
            <a:ext cx="652145" cy="663575"/>
          </a:xfrm>
          <a:prstGeom prst="ellipse">
            <a:avLst/>
          </a:prstGeom>
          <a:solidFill>
            <a:srgbClr val="B4CA7C"/>
          </a:solidFill>
        </p:spPr>
      </p:sp>
      <p:sp>
        <p:nvSpPr>
          <p:cNvPr id="15" name="Text 12"/>
          <p:cNvSpPr/>
          <p:nvPr/>
        </p:nvSpPr>
        <p:spPr>
          <a:xfrm>
            <a:off x="4010025" y="32207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3161030" y="5215890"/>
            <a:ext cx="652145" cy="663575"/>
          </a:xfrm>
          <a:prstGeom prst="ellipse">
            <a:avLst/>
          </a:prstGeom>
          <a:solidFill>
            <a:srgbClr val="B4CA7C"/>
          </a:solidFill>
        </p:spPr>
      </p:sp>
      <p:sp>
        <p:nvSpPr>
          <p:cNvPr id="17" name="Text 14"/>
          <p:cNvSpPr/>
          <p:nvPr/>
        </p:nvSpPr>
        <p:spPr>
          <a:xfrm>
            <a:off x="3161030" y="521589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Text 15"/>
          <p:cNvSpPr/>
          <p:nvPr/>
        </p:nvSpPr>
        <p:spPr>
          <a:xfrm>
            <a:off x="2846705" y="1313815"/>
            <a:ext cx="5918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01</a:t>
            </a:r>
            <a:endParaRPr lang="en-US" sz="1600" dirty="0"/>
          </a:p>
        </p:txBody>
      </p:sp>
      <p:sp>
        <p:nvSpPr>
          <p:cNvPr id="19" name="Text 16"/>
          <p:cNvSpPr/>
          <p:nvPr/>
        </p:nvSpPr>
        <p:spPr>
          <a:xfrm>
            <a:off x="4027170" y="3285490"/>
            <a:ext cx="6426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02</a:t>
            </a:r>
            <a:endParaRPr lang="en-US" sz="1600" dirty="0"/>
          </a:p>
        </p:txBody>
      </p:sp>
      <p:sp>
        <p:nvSpPr>
          <p:cNvPr id="20" name="Text 17"/>
          <p:cNvSpPr/>
          <p:nvPr/>
        </p:nvSpPr>
        <p:spPr>
          <a:xfrm>
            <a:off x="3167380" y="5291455"/>
            <a:ext cx="667385"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03</a:t>
            </a:r>
            <a:endParaRPr lang="en-US" sz="1600" dirty="0"/>
          </a:p>
        </p:txBody>
      </p:sp>
      <p:sp>
        <p:nvSpPr>
          <p:cNvPr id="21" name="Text 18"/>
          <p:cNvSpPr/>
          <p:nvPr/>
        </p:nvSpPr>
        <p:spPr>
          <a:xfrm>
            <a:off x="4210685" y="124650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Bias and Fairness</a:t>
            </a:r>
            <a:endParaRPr lang="en-US" sz="1600" dirty="0"/>
          </a:p>
        </p:txBody>
      </p:sp>
      <p:sp>
        <p:nvSpPr>
          <p:cNvPr id="22" name="Text 19"/>
          <p:cNvSpPr/>
          <p:nvPr/>
        </p:nvSpPr>
        <p:spPr>
          <a:xfrm>
            <a:off x="4210685" y="1703070"/>
            <a:ext cx="683895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Addressing bias in intelligent systems is crucial to ensure fairness and avoid discrimination. Techniques such as data debiasing and model fairness evaluation will become more important.</a:t>
            </a:r>
            <a:endParaRPr lang="en-US" sz="1600" dirty="0"/>
          </a:p>
        </p:txBody>
      </p:sp>
      <p:sp>
        <p:nvSpPr>
          <p:cNvPr id="23" name="Text 20"/>
          <p:cNvSpPr/>
          <p:nvPr/>
        </p:nvSpPr>
        <p:spPr>
          <a:xfrm>
            <a:off x="4027170" y="5546725"/>
            <a:ext cx="6839585"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The future will focus on seamless human-AI collaboration. This will involve designing systems that augment human capabilities and ensure user trust.</a:t>
            </a:r>
            <a:endParaRPr lang="en-US" sz="1600" dirty="0"/>
          </a:p>
        </p:txBody>
      </p:sp>
      <p:sp>
        <p:nvSpPr>
          <p:cNvPr id="24" name="Text 21"/>
          <p:cNvSpPr/>
          <p:nvPr/>
        </p:nvSpPr>
        <p:spPr>
          <a:xfrm>
            <a:off x="4027170" y="508952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Human-AI Collaboration</a:t>
            </a:r>
            <a:endParaRPr lang="en-US" sz="1600" dirty="0"/>
          </a:p>
        </p:txBody>
      </p:sp>
      <p:sp>
        <p:nvSpPr>
          <p:cNvPr id="25" name="Text 22"/>
          <p:cNvSpPr/>
          <p:nvPr/>
        </p:nvSpPr>
        <p:spPr>
          <a:xfrm>
            <a:off x="4859020" y="3302000"/>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Privacy Concerns</a:t>
            </a:r>
            <a:endParaRPr lang="en-US" sz="1600" dirty="0"/>
          </a:p>
        </p:txBody>
      </p:sp>
      <p:sp>
        <p:nvSpPr>
          <p:cNvPr id="26" name="Text 23"/>
          <p:cNvSpPr/>
          <p:nvPr/>
        </p:nvSpPr>
        <p:spPr>
          <a:xfrm>
            <a:off x="4859020" y="3758565"/>
            <a:ext cx="683895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As intelligent systems collect and process more data, privacy concerns will increase. Strong privacy regulations and data protection measures will be necessary.</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5979795" y="1837690"/>
            <a:ext cx="4088765" cy="1236067"/>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06</a:t>
            </a:r>
            <a:endParaRPr lang="en-US" sz="1600" dirty="0"/>
          </a:p>
        </p:txBody>
      </p:sp>
      <p:sp>
        <p:nvSpPr>
          <p:cNvPr id="7" name="Text 3"/>
          <p:cNvSpPr/>
          <p:nvPr/>
        </p:nvSpPr>
        <p:spPr>
          <a:xfrm>
            <a:off x="5979795" y="3223895"/>
            <a:ext cx="4779645" cy="2190750"/>
          </a:xfrm>
          <a:prstGeom prst="rect">
            <a:avLst/>
          </a:prstGeom>
          <a:noFill/>
        </p:spPr>
        <p:txBody>
          <a:bodyPr wrap="square" lIns="91440" tIns="45720" rIns="91440" bIns="45720" rtlCol="0" anchor="t">
            <a:spAutoFit/>
          </a:bodyPr>
          <a:lstStyle/>
          <a:p>
            <a:pPr marL="0" indent="0" algn="just">
              <a:lnSpc>
                <a:spcPct val="100000"/>
              </a:lnSpc>
              <a:buNone/>
            </a:pPr>
            <a:r>
              <a:rPr lang="en-US" sz="4400" b="1" dirty="0">
                <a:solidFill>
                  <a:srgbClr val="000000"/>
                </a:solidFill>
                <a:latin typeface="MiSans" pitchFamily="34" charset="-122"/>
                <a:ea typeface="MiSans" pitchFamily="34" charset="-122"/>
                <a:cs typeface="MiSans" pitchFamily="34" charset="-120"/>
              </a:rPr>
              <a:t>Conclusion and Recommendations</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Summary of Key Points</a:t>
            </a:r>
            <a:endParaRPr lang="en-US" sz="1600" dirty="0"/>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03-d0shq5s75iks832je5bg.png"/>
          <p:cNvPicPr>
            <a:picLocks noChangeAspect="1"/>
          </p:cNvPicPr>
          <p:nvPr/>
        </p:nvPicPr>
        <p:blipFill>
          <a:blip r:embed="rId1"/>
          <a:srcRect l="31" r="31"/>
          <a:stretch>
            <a:fillRect/>
          </a:stretch>
        </p:blipFill>
        <p:spPr>
          <a:xfrm>
            <a:off x="594360" y="1397000"/>
            <a:ext cx="3088640" cy="4606290"/>
          </a:xfrm>
          <a:prstGeom prst="rect">
            <a:avLst/>
          </a:prstGeom>
        </p:spPr>
      </p:pic>
      <p:sp>
        <p:nvSpPr>
          <p:cNvPr id="14" name="Shape 11"/>
          <p:cNvSpPr/>
          <p:nvPr/>
        </p:nvSpPr>
        <p:spPr>
          <a:xfrm>
            <a:off x="3796030" y="1413510"/>
            <a:ext cx="8031480" cy="4602480"/>
          </a:xfrm>
          <a:prstGeom prst="rect">
            <a:avLst/>
          </a:prstGeom>
          <a:solidFill>
            <a:srgbClr val="000000">
              <a:alpha val="0"/>
            </a:srgbClr>
          </a:solidFill>
          <a:ln w="19050">
            <a:solidFill>
              <a:srgbClr val="9FB26A"/>
            </a:solidFill>
            <a:prstDash val="solid"/>
          </a:ln>
        </p:spPr>
      </p:sp>
      <p:sp>
        <p:nvSpPr>
          <p:cNvPr id="15" name="Text 12"/>
          <p:cNvSpPr/>
          <p:nvPr/>
        </p:nvSpPr>
        <p:spPr>
          <a:xfrm>
            <a:off x="3796030" y="1413510"/>
            <a:ext cx="8031480" cy="46024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4067175" y="2952115"/>
            <a:ext cx="7560310" cy="0"/>
          </a:xfrm>
          <a:prstGeom prst="line">
            <a:avLst/>
          </a:prstGeom>
          <a:noFill/>
          <a:ln w="12700">
            <a:solidFill>
              <a:srgbClr val="9FB26A"/>
            </a:solidFill>
            <a:prstDash val="dash"/>
            <a:headEnd type="none"/>
            <a:tailEnd type="none"/>
          </a:ln>
        </p:spPr>
      </p:sp>
      <p:sp>
        <p:nvSpPr>
          <p:cNvPr id="17" name="Shape 14"/>
          <p:cNvSpPr/>
          <p:nvPr/>
        </p:nvSpPr>
        <p:spPr>
          <a:xfrm>
            <a:off x="4067175" y="4481830"/>
            <a:ext cx="7560310" cy="0"/>
          </a:xfrm>
          <a:prstGeom prst="line">
            <a:avLst/>
          </a:prstGeom>
          <a:noFill/>
          <a:ln w="12700">
            <a:solidFill>
              <a:srgbClr val="9FB26A"/>
            </a:solidFill>
            <a:prstDash val="dash"/>
            <a:headEnd type="none"/>
            <a:tailEnd type="none"/>
          </a:ln>
        </p:spPr>
      </p:sp>
      <p:sp>
        <p:nvSpPr>
          <p:cNvPr id="18" name="Text 15"/>
          <p:cNvSpPr/>
          <p:nvPr/>
        </p:nvSpPr>
        <p:spPr>
          <a:xfrm>
            <a:off x="4038600" y="157289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Comprehensive Overview</a:t>
            </a:r>
            <a:endParaRPr lang="en-US" sz="1600" dirty="0"/>
          </a:p>
        </p:txBody>
      </p:sp>
      <p:sp>
        <p:nvSpPr>
          <p:cNvPr id="19" name="Text 16"/>
          <p:cNvSpPr/>
          <p:nvPr/>
        </p:nvSpPr>
        <p:spPr>
          <a:xfrm>
            <a:off x="4038600" y="1941830"/>
            <a:ext cx="761619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This presentation has provided a comprehensive overview of intelligent systems, including their components, design principles, and a case study. It has highlighted the importance of these systems in various applications.</a:t>
            </a:r>
            <a:endParaRPr lang="en-US" sz="1600" dirty="0"/>
          </a:p>
        </p:txBody>
      </p:sp>
      <p:sp>
        <p:nvSpPr>
          <p:cNvPr id="20" name="Text 17"/>
          <p:cNvSpPr/>
          <p:nvPr/>
        </p:nvSpPr>
        <p:spPr>
          <a:xfrm>
            <a:off x="4038600" y="3102610"/>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Future Outlook</a:t>
            </a:r>
            <a:endParaRPr lang="en-US" sz="1600" dirty="0"/>
          </a:p>
        </p:txBody>
      </p:sp>
      <p:sp>
        <p:nvSpPr>
          <p:cNvPr id="21" name="Text 18"/>
          <p:cNvSpPr/>
          <p:nvPr/>
        </p:nvSpPr>
        <p:spPr>
          <a:xfrm>
            <a:off x="4038600" y="3471545"/>
            <a:ext cx="761619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The future of intelligent systems looks promising with advancements in AI, integration with IoT, and ethical considerations. These systems will continue to transform industries and improve our lives.</a:t>
            </a:r>
            <a:endParaRPr lang="en-US" sz="1600" dirty="0"/>
          </a:p>
        </p:txBody>
      </p:sp>
      <p:sp>
        <p:nvSpPr>
          <p:cNvPr id="22" name="Text 19"/>
          <p:cNvSpPr/>
          <p:nvPr/>
        </p:nvSpPr>
        <p:spPr>
          <a:xfrm>
            <a:off x="4038600" y="463232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Continuous Improvement</a:t>
            </a:r>
            <a:endParaRPr lang="en-US" sz="1600" dirty="0"/>
          </a:p>
        </p:txBody>
      </p:sp>
      <p:sp>
        <p:nvSpPr>
          <p:cNvPr id="23" name="Text 20"/>
          <p:cNvSpPr/>
          <p:nvPr/>
        </p:nvSpPr>
        <p:spPr>
          <a:xfrm>
            <a:off x="4038600" y="5001260"/>
            <a:ext cx="761619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Continuous improvement and adaptation are essential for intelligent systems. This involves staying updated with technological advancements and addressing emerging challenges.</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1:08-d0shq7475iks832je5dg.png"/>
          <p:cNvPicPr>
            <a:picLocks noChangeAspect="1"/>
          </p:cNvPicPr>
          <p:nvPr/>
        </p:nvPicPr>
        <p:blipFill>
          <a:blip r:embed="rId1"/>
          <a:srcRect l="50" r="50"/>
          <a:stretch>
            <a:fillRect/>
          </a:stretch>
        </p:blipFill>
        <p:spPr>
          <a:xfrm>
            <a:off x="630555" y="1304290"/>
            <a:ext cx="3843020" cy="4770120"/>
          </a:xfrm>
          <a:prstGeom prst="rect">
            <a:avLst/>
          </a:prstGeom>
        </p:spPr>
      </p:pic>
      <p:sp>
        <p:nvSpPr>
          <p:cNvPr id="3" name="Shape 0"/>
          <p:cNvSpPr/>
          <p:nvPr/>
        </p:nvSpPr>
        <p:spPr>
          <a:xfrm>
            <a:off x="638810" y="6362065"/>
            <a:ext cx="215900" cy="215900"/>
          </a:xfrm>
          <a:prstGeom prst="roundRect">
            <a:avLst>
              <a:gd name="adj" fmla="val 50000"/>
            </a:avLst>
          </a:prstGeom>
          <a:solidFill>
            <a:srgbClr val="5E927D"/>
          </a:solidFill>
        </p:spPr>
      </p:sp>
      <p:sp>
        <p:nvSpPr>
          <p:cNvPr id="4"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6"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Recommendations for Implementation</a:t>
            </a:r>
            <a:endParaRPr lang="en-US" sz="1600" dirty="0"/>
          </a:p>
        </p:txBody>
      </p:sp>
      <p:sp>
        <p:nvSpPr>
          <p:cNvPr id="12" name="Shape 9"/>
          <p:cNvSpPr/>
          <p:nvPr/>
        </p:nvSpPr>
        <p:spPr>
          <a:xfrm>
            <a:off x="3981450" y="5556885"/>
            <a:ext cx="668020" cy="727075"/>
          </a:xfrm>
          <a:prstGeom prst="roundRect">
            <a:avLst>
              <a:gd name="adj" fmla="val 10513"/>
            </a:avLst>
          </a:prstGeom>
          <a:solidFill>
            <a:srgbClr val="2F493E"/>
          </a:solidFill>
        </p:spPr>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871720" y="3249295"/>
            <a:ext cx="3194685" cy="2768600"/>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15" name="Text 12"/>
          <p:cNvSpPr/>
          <p:nvPr/>
        </p:nvSpPr>
        <p:spPr>
          <a:xfrm>
            <a:off x="4871720" y="3249295"/>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8293100" y="3274695"/>
            <a:ext cx="3157220" cy="2757805"/>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17" name="Text 14"/>
          <p:cNvSpPr/>
          <p:nvPr/>
        </p:nvSpPr>
        <p:spPr>
          <a:xfrm>
            <a:off x="8293100" y="3274695"/>
            <a:ext cx="3157220" cy="275780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7"/>
          <p:cNvSpPr/>
          <p:nvPr/>
        </p:nvSpPr>
        <p:spPr>
          <a:xfrm>
            <a:off x="4938395" y="1171575"/>
            <a:ext cx="4551045" cy="774700"/>
          </a:xfrm>
          <a:prstGeom prst="rect">
            <a:avLst/>
          </a:prstGeom>
          <a:noFill/>
        </p:spPr>
        <p:txBody>
          <a:bodyPr wrap="square" lIns="91440" tIns="45720" rIns="91440" bIns="45720" rtlCol="0" anchor="t">
            <a:spAutoFit/>
          </a:bodyPr>
          <a:lstStyle/>
          <a:p>
            <a:pPr marL="0" indent="0" algn="just">
              <a:lnSpc>
                <a:spcPct val="100000"/>
              </a:lnSpc>
              <a:buNone/>
            </a:pPr>
            <a:r>
              <a:rPr lang="en-US" sz="2400" b="1" dirty="0">
                <a:solidFill>
                  <a:srgbClr val="525E30"/>
                </a:solidFill>
                <a:latin typeface="MiSans" pitchFamily="34" charset="-122"/>
                <a:ea typeface="MiSans" pitchFamily="34" charset="-122"/>
                <a:cs typeface="MiSans" pitchFamily="34" charset="-120"/>
              </a:rPr>
              <a:t>Focus on Scalability and Reliability</a:t>
            </a:r>
            <a:endParaRPr lang="en-US" sz="1600" dirty="0"/>
          </a:p>
        </p:txBody>
      </p:sp>
      <p:sp>
        <p:nvSpPr>
          <p:cNvPr id="21" name="Text 18"/>
          <p:cNvSpPr/>
          <p:nvPr/>
        </p:nvSpPr>
        <p:spPr>
          <a:xfrm>
            <a:off x="4802505" y="1946275"/>
            <a:ext cx="6647815"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When implementing intelligent systems, focus on scalability and reliability to ensure they can handle growing demands and operate efficiently.</a:t>
            </a:r>
            <a:endParaRPr lang="en-US" sz="1600" dirty="0"/>
          </a:p>
        </p:txBody>
      </p:sp>
      <p:sp>
        <p:nvSpPr>
          <p:cNvPr id="23" name="Text 20"/>
          <p:cNvSpPr/>
          <p:nvPr/>
        </p:nvSpPr>
        <p:spPr>
          <a:xfrm>
            <a:off x="5048250" y="341947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Emphasize Data Quality</a:t>
            </a:r>
            <a:endParaRPr lang="en-US" sz="1600" dirty="0"/>
          </a:p>
        </p:txBody>
      </p:sp>
      <p:sp>
        <p:nvSpPr>
          <p:cNvPr id="24" name="Text 21"/>
          <p:cNvSpPr/>
          <p:nvPr/>
        </p:nvSpPr>
        <p:spPr>
          <a:xfrm>
            <a:off x="8337550" y="341947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Prioritize Security</a:t>
            </a:r>
            <a:endParaRPr lang="en-US" sz="1600" dirty="0"/>
          </a:p>
        </p:txBody>
      </p:sp>
      <p:sp>
        <p:nvSpPr>
          <p:cNvPr id="25" name="Text 22"/>
          <p:cNvSpPr/>
          <p:nvPr/>
        </p:nvSpPr>
        <p:spPr>
          <a:xfrm>
            <a:off x="5048250" y="3828415"/>
            <a:ext cx="2872740" cy="1429345"/>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Emphasize data quality and preprocessing to improve model accuracy and performance. This will lead to more effective and reliable systems.</a:t>
            </a:r>
            <a:endParaRPr lang="en-US" sz="1600" dirty="0"/>
          </a:p>
        </p:txBody>
      </p:sp>
      <p:sp>
        <p:nvSpPr>
          <p:cNvPr id="26" name="Text 23"/>
          <p:cNvSpPr/>
          <p:nvPr/>
        </p:nvSpPr>
        <p:spPr>
          <a:xfrm>
            <a:off x="8418195" y="3954780"/>
            <a:ext cx="2872740" cy="1143397"/>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Prioritize security to protect data and ensure user trust. Implement robust encryption, access control, and regular security audits.</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Future Research Directions</a:t>
            </a:r>
            <a:endParaRPr lang="en-US" sz="1600" dirty="0"/>
          </a:p>
        </p:txBody>
      </p:sp>
      <p:pic>
        <p:nvPicPr>
          <p:cNvPr id="11" name="Image 0" descr="https://test-kimi-img.moonshot.cn/pub/slides/slides_tmpl/image/25-05-30-10:51:06-d0shq6k75iks832je5d0.png"/>
          <p:cNvPicPr>
            <a:picLocks noChangeAspect="1"/>
          </p:cNvPicPr>
          <p:nvPr/>
        </p:nvPicPr>
        <p:blipFill>
          <a:blip r:embed="rId1"/>
          <a:srcRect t="122" b="122"/>
          <a:stretch>
            <a:fillRect/>
          </a:stretch>
        </p:blipFill>
        <p:spPr>
          <a:xfrm>
            <a:off x="-32702" y="1633220"/>
            <a:ext cx="12257405" cy="1812290"/>
          </a:xfrm>
          <a:prstGeom prst="rect">
            <a:avLst/>
          </a:prstGeom>
        </p:spPr>
      </p:pic>
      <p:sp>
        <p:nvSpPr>
          <p:cNvPr id="12" name="Shape 9"/>
          <p:cNvSpPr/>
          <p:nvPr/>
        </p:nvSpPr>
        <p:spPr>
          <a:xfrm>
            <a:off x="2196561" y="2473621"/>
            <a:ext cx="1459038" cy="1459038"/>
          </a:xfrm>
          <a:prstGeom prst="ellipse">
            <a:avLst/>
          </a:prstGeom>
          <a:solidFill>
            <a:srgbClr val="FFFFFF"/>
          </a:solidFill>
          <a:ln w="19050">
            <a:solidFill>
              <a:srgbClr val="2E536D"/>
            </a:solidFill>
            <a:prstDash val="solid"/>
          </a:ln>
        </p:spPr>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2388111" y="2665171"/>
            <a:ext cx="1075939" cy="1075939"/>
          </a:xfrm>
          <a:prstGeom prst="ellipse">
            <a:avLst/>
          </a:prstGeom>
          <a:solidFill>
            <a:srgbClr val="B4CA7C"/>
          </a:solidFill>
        </p:spPr>
      </p:sp>
      <p:sp>
        <p:nvSpPr>
          <p:cNvPr id="15" name="Text 12"/>
          <p:cNvSpPr/>
          <p:nvPr/>
        </p:nvSpPr>
        <p:spPr>
          <a:xfrm>
            <a:off x="238811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5366481" y="2473621"/>
            <a:ext cx="1459038" cy="1459038"/>
          </a:xfrm>
          <a:prstGeom prst="ellipse">
            <a:avLst/>
          </a:prstGeom>
          <a:solidFill>
            <a:srgbClr val="FFFFFF"/>
          </a:solidFill>
          <a:ln w="19050">
            <a:solidFill>
              <a:srgbClr val="BFBFBF"/>
            </a:solidFill>
            <a:prstDash val="solid"/>
          </a:ln>
        </p:spPr>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Shape 15"/>
          <p:cNvSpPr/>
          <p:nvPr/>
        </p:nvSpPr>
        <p:spPr>
          <a:xfrm>
            <a:off x="5558031" y="2665171"/>
            <a:ext cx="1075939" cy="1075939"/>
          </a:xfrm>
          <a:prstGeom prst="ellipse">
            <a:avLst/>
          </a:prstGeom>
          <a:solidFill>
            <a:srgbClr val="525E30"/>
          </a:solidFill>
        </p:spPr>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Shape 17"/>
          <p:cNvSpPr/>
          <p:nvPr/>
        </p:nvSpPr>
        <p:spPr>
          <a:xfrm>
            <a:off x="8536401" y="2473621"/>
            <a:ext cx="1459038" cy="1459038"/>
          </a:xfrm>
          <a:prstGeom prst="ellipse">
            <a:avLst/>
          </a:prstGeom>
          <a:solidFill>
            <a:srgbClr val="FFFFFF"/>
          </a:solidFill>
          <a:ln w="19050">
            <a:solidFill>
              <a:srgbClr val="2E536D"/>
            </a:solidFill>
            <a:prstDash val="solid"/>
          </a:ln>
        </p:spPr>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Shape 19"/>
          <p:cNvSpPr/>
          <p:nvPr/>
        </p:nvSpPr>
        <p:spPr>
          <a:xfrm>
            <a:off x="8727951" y="2665171"/>
            <a:ext cx="1075939" cy="1075939"/>
          </a:xfrm>
          <a:prstGeom prst="ellipse">
            <a:avLst/>
          </a:prstGeom>
          <a:solidFill>
            <a:srgbClr val="B4CA7C"/>
          </a:solidFill>
        </p:spPr>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Shape 21"/>
          <p:cNvSpPr/>
          <p:nvPr/>
        </p:nvSpPr>
        <p:spPr>
          <a:xfrm>
            <a:off x="2552868" y="2907327"/>
            <a:ext cx="726482" cy="584775"/>
          </a:xfrm>
          <a:prstGeom prst="rect">
            <a:avLst/>
          </a:prstGeom>
          <a:solidFill>
            <a:srgbClr val="000000">
              <a:alpha val="0"/>
            </a:srgbClr>
          </a:solidFill>
        </p:spPr>
      </p:sp>
      <p:sp>
        <p:nvSpPr>
          <p:cNvPr id="25" name="Text 22"/>
          <p:cNvSpPr/>
          <p:nvPr/>
        </p:nvSpPr>
        <p:spPr>
          <a:xfrm>
            <a:off x="255286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01</a:t>
            </a: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sp>
      <p:sp>
        <p:nvSpPr>
          <p:cNvPr id="27" name="Text 24"/>
          <p:cNvSpPr/>
          <p:nvPr/>
        </p:nvSpPr>
        <p:spPr>
          <a:xfrm>
            <a:off x="5722788"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02</a:t>
            </a:r>
            <a:endParaRPr lang="en-US" sz="1600" dirty="0"/>
          </a:p>
        </p:txBody>
      </p:sp>
      <p:sp>
        <p:nvSpPr>
          <p:cNvPr id="28" name="Shape 25"/>
          <p:cNvSpPr/>
          <p:nvPr/>
        </p:nvSpPr>
        <p:spPr>
          <a:xfrm>
            <a:off x="8912650" y="2907327"/>
            <a:ext cx="726482" cy="584775"/>
          </a:xfrm>
          <a:prstGeom prst="rect">
            <a:avLst/>
          </a:prstGeom>
          <a:solidFill>
            <a:srgbClr val="000000">
              <a:alpha val="0"/>
            </a:srgbClr>
          </a:solidFill>
        </p:spPr>
      </p:sp>
      <p:sp>
        <p:nvSpPr>
          <p:cNvPr id="29" name="Text 26"/>
          <p:cNvSpPr/>
          <p:nvPr/>
        </p:nvSpPr>
        <p:spPr>
          <a:xfrm>
            <a:off x="8912650" y="2907327"/>
            <a:ext cx="726482" cy="584775"/>
          </a:xfrm>
          <a:prstGeom prst="rect">
            <a:avLst/>
          </a:prstGeom>
          <a:noFill/>
        </p:spPr>
        <p:txBody>
          <a:bodyPr wrap="square" lIns="45720" tIns="91440" rIns="91440" bIns="45720" rtlCol="0" anchor="t"/>
          <a:lstStyle/>
          <a:p>
            <a:pPr marL="0" indent="0" algn="ctr">
              <a:lnSpc>
                <a:spcPct val="100000"/>
              </a:lnSpc>
              <a:buNone/>
            </a:pPr>
            <a:r>
              <a:rPr lang="en-US" sz="3200" b="1" dirty="0">
                <a:solidFill>
                  <a:srgbClr val="FFFFFF"/>
                </a:solidFill>
                <a:latin typeface="MiSans" pitchFamily="34" charset="-122"/>
                <a:ea typeface="MiSans" pitchFamily="34" charset="-122"/>
                <a:cs typeface="MiSans" pitchFamily="34" charset="-120"/>
              </a:rPr>
              <a:t>03</a:t>
            </a:r>
            <a:endParaRPr lang="en-US" sz="1600" dirty="0"/>
          </a:p>
        </p:txBody>
      </p:sp>
      <p:sp>
        <p:nvSpPr>
          <p:cNvPr id="30" name="Text 27"/>
          <p:cNvSpPr/>
          <p:nvPr/>
        </p:nvSpPr>
        <p:spPr>
          <a:xfrm>
            <a:off x="1376045"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Interdisciplinary Research</a:t>
            </a:r>
            <a:endParaRPr lang="en-US" sz="1600" dirty="0"/>
          </a:p>
        </p:txBody>
      </p:sp>
      <p:sp>
        <p:nvSpPr>
          <p:cNvPr id="31" name="Text 28"/>
          <p:cNvSpPr/>
          <p:nvPr/>
        </p:nvSpPr>
        <p:spPr>
          <a:xfrm>
            <a:off x="1376045" y="4379595"/>
            <a:ext cx="2872740" cy="1429345"/>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Encourage interdisciplinary research to combine insights from different fields. This will lead to more innovative and comprehensive solutions.</a:t>
            </a:r>
            <a:endParaRPr lang="en-US" sz="1600" dirty="0"/>
          </a:p>
        </p:txBody>
      </p:sp>
      <p:sp>
        <p:nvSpPr>
          <p:cNvPr id="32" name="Text 29"/>
          <p:cNvSpPr/>
          <p:nvPr/>
        </p:nvSpPr>
        <p:spPr>
          <a:xfrm>
            <a:off x="4708525"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User-Centered Design</a:t>
            </a:r>
            <a:endParaRPr lang="en-US" sz="1600" dirty="0"/>
          </a:p>
        </p:txBody>
      </p:sp>
      <p:sp>
        <p:nvSpPr>
          <p:cNvPr id="33" name="Text 30"/>
          <p:cNvSpPr/>
          <p:nvPr/>
        </p:nvSpPr>
        <p:spPr>
          <a:xfrm>
            <a:off x="4708525" y="4379595"/>
            <a:ext cx="2872740" cy="1429345"/>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Adopt a user-centered design approach to ensure systems meet user needs and are easy to use. This will improve user satisfaction and adoption.</a:t>
            </a:r>
            <a:endParaRPr lang="en-US" sz="1600" dirty="0"/>
          </a:p>
        </p:txBody>
      </p:sp>
      <p:sp>
        <p:nvSpPr>
          <p:cNvPr id="34" name="Text 31"/>
          <p:cNvSpPr/>
          <p:nvPr/>
        </p:nvSpPr>
        <p:spPr>
          <a:xfrm>
            <a:off x="8229600" y="4036695"/>
            <a:ext cx="3100705"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Long-Term Impact Studies</a:t>
            </a:r>
            <a:endParaRPr lang="en-US" sz="1600" dirty="0"/>
          </a:p>
        </p:txBody>
      </p:sp>
      <p:sp>
        <p:nvSpPr>
          <p:cNvPr id="35" name="Text 32"/>
          <p:cNvSpPr/>
          <p:nvPr/>
        </p:nvSpPr>
        <p:spPr>
          <a:xfrm>
            <a:off x="8229600" y="4379595"/>
            <a:ext cx="2872740" cy="1715294"/>
          </a:xfrm>
          <a:prstGeom prst="rect">
            <a:avLst/>
          </a:prstGeom>
          <a:noFill/>
        </p:spPr>
        <p:txBody>
          <a:bodyPr wrap="square" lIns="0" tIns="0" rIns="0" bIns="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Conduct long-term impact studies to understand the effects of intelligent systems on society. This will help in making informed decisions and addressing potential challenges.</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14-d0shppk75iks832je4vg.png"/>
          <p:cNvPicPr>
            <a:picLocks noChangeAspect="1"/>
          </p:cNvPicPr>
          <p:nvPr/>
        </p:nvPicPr>
        <p:blipFill>
          <a:blip r:embed="rId1"/>
          <a:srcRect l="13" r="13"/>
          <a:stretch>
            <a:fillRect/>
          </a:stretch>
        </p:blipFill>
        <p:spPr>
          <a:xfrm>
            <a:off x="0" y="0"/>
            <a:ext cx="12188825" cy="6857365"/>
          </a:xfrm>
          <a:prstGeom prst="rect">
            <a:avLst/>
          </a:prstGeom>
        </p:spPr>
      </p:pic>
      <p:sp>
        <p:nvSpPr>
          <p:cNvPr id="6" name="Text 3"/>
          <p:cNvSpPr/>
          <p:nvPr/>
        </p:nvSpPr>
        <p:spPr>
          <a:xfrm>
            <a:off x="2715260" y="3318510"/>
            <a:ext cx="6761480" cy="1414780"/>
          </a:xfrm>
          <a:prstGeom prst="rect">
            <a:avLst/>
          </a:prstGeom>
          <a:noFill/>
        </p:spPr>
        <p:txBody>
          <a:bodyPr wrap="square" lIns="91440" tIns="45720" rIns="91440" bIns="45720" rtlCol="0" anchor="t"/>
          <a:lstStyle/>
          <a:p>
            <a:pPr marL="0" indent="0" algn="ctr">
              <a:lnSpc>
                <a:spcPct val="100000"/>
              </a:lnSpc>
              <a:buNone/>
            </a:pPr>
            <a:r>
              <a:rPr lang="en-US" sz="6000" b="1" dirty="0">
                <a:solidFill>
                  <a:srgbClr val="000000"/>
                </a:solidFill>
                <a:latin typeface="MiSans" pitchFamily="34" charset="-122"/>
                <a:ea typeface="MiSans" pitchFamily="34" charset="-122"/>
                <a:cs typeface="MiSans" pitchFamily="34" charset="-120"/>
              </a:rPr>
              <a:t>THANK YOU</a:t>
            </a:r>
            <a:endParaRPr lang="en-US" sz="1600" dirty="0"/>
          </a:p>
        </p:txBody>
      </p:sp>
    </p:spTree>
  </p:cSld>
  <p:clrMapOvr>
    <a:masterClrMapping/>
  </p:clrMapOvr>
</p:sld>
</file>

<file path=ppt/tags/tag1.xml><?xml version="1.0" encoding="utf-8"?>
<p:tagLst xmlns:p="http://schemas.openxmlformats.org/presentationml/2006/main">
  <p:tag name="KSO_WM_DIAGRAM_VIRTUALLY_FRAME" val="{&quot;height&quot;:440.2264566929134,&quot;left&quot;:473.92417322834643,&quot;top&quot;:159.4,&quot;width&quot;:402.6258267716536}"/>
</p:tagLst>
</file>

<file path=ppt/tags/tag2.xml><?xml version="1.0" encoding="utf-8"?>
<p:tagLst xmlns:p="http://schemas.openxmlformats.org/presentationml/2006/main">
  <p:tag name="KSO_WM_DIAGRAM_VIRTUALLY_FRAME" val="{&quot;height&quot;:440.2264566929134,&quot;left&quot;:473.92417322834643,&quot;top&quot;:159.4,&quot;width&quot;:402.6258267716536}"/>
</p:tagLst>
</file>

<file path=ppt/tags/tag3.xml><?xml version="1.0" encoding="utf-8"?>
<p:tagLst xmlns:p="http://schemas.openxmlformats.org/presentationml/2006/main">
  <p:tag name="KSO_WM_DIAGRAM_VIRTUALLY_FRAME" val="{&quot;height&quot;:440.2264566929134,&quot;left&quot;:473.92417322834643,&quot;top&quot;:159.4,&quot;width&quot;:402.6258267716536}"/>
</p:tagLst>
</file>

<file path=ppt/tags/tag4.xml><?xml version="1.0" encoding="utf-8"?>
<p:tagLst xmlns:p="http://schemas.openxmlformats.org/presentationml/2006/main">
  <p:tag name="KSO_WM_DIAGRAM_VIRTUALLY_FRAME" val="{&quot;height&quot;:440.2264566929134,&quot;left&quot;:473.92417322834643,&quot;top&quot;:159.4,&quot;width&quot;:402.6258267716536}"/>
</p:tagLst>
</file>

<file path=ppt/tags/tag5.xml><?xml version="1.0" encoding="utf-8"?>
<p:tagLst xmlns:p="http://schemas.openxmlformats.org/presentationml/2006/main">
  <p:tag name="KSO_WM_DIAGRAM_VIRTUALLY_FRAME" val="{&quot;height&quot;:440.2264566929134,&quot;left&quot;:473.92417322834643,&quot;top&quot;:159.4,&quot;width&quot;:402.6258267716536}"/>
</p:tagLst>
</file>

<file path=ppt/tags/tag6.xml><?xml version="1.0" encoding="utf-8"?>
<p:tagLst xmlns:p="http://schemas.openxmlformats.org/presentationml/2006/main">
  <p:tag name="KSO_WM_DIAGRAM_VIRTUALLY_FRAME" val="{&quot;height&quot;:440.2264566929134,&quot;left&quot;:473.92417322834643,&quot;top&quot;:159.4,&quot;width&quot;:402.6258267716536}"/>
</p:tagLst>
</file>

<file path=ppt/tags/tag7.xml><?xml version="1.0" encoding="utf-8"?>
<p:tagLst xmlns:p="http://schemas.openxmlformats.org/presentationml/2006/main">
  <p:tag name="KSO_WM_DIAGRAM_VIRTUALLY_FRAME" val="{&quot;height&quot;:440.2264566929134,&quot;left&quot;:473.92417322834643,&quot;top&quot;:159.4,&quot;width&quot;:402.6258267716536}"/>
</p:tagLst>
</file>

<file path=ppt/tags/tag8.xml><?xml version="1.0" encoding="utf-8"?>
<p:tagLst xmlns:p="http://schemas.openxmlformats.org/presentationml/2006/main">
  <p:tag name="KSO_WM_DIAGRAM_VIRTUALLY_FRAME" val="{&quot;height&quot;:440.2264566929134,&quot;left&quot;:473.92417322834643,&quot;top&quot;:159.4,&quot;width&quot;:402.6258267716536}"/>
</p:tagLst>
</file>

<file path=ppt/tags/tag9.xml><?xml version="1.0" encoding="utf-8"?>
<p:tagLst xmlns:p="http://schemas.openxmlformats.org/presentationml/2006/main">
  <p:tag name="KSO_WM_DIAGRAM_VIRTUALLY_FRAME" val="{&quot;height&quot;:440.2264566929134,&quot;left&quot;:473.92417322834643,&quot;top&quot;:159.4,&quot;width&quot;:402.6258267716536}"/>
</p:tagLst>
</file>

<file path=ppt/tags/tag10.xml><?xml version="1.0" encoding="utf-8"?>
<p:tagLst xmlns:p="http://schemas.openxmlformats.org/presentationml/2006/main">
  <p:tag name="KSO_WM_DIAGRAM_VIRTUALLY_FRAME" val="{&quot;height&quot;:440.2264566929134,&quot;left&quot;:473.92417322834643,&quot;top&quot;:159.4,&quot;width&quot;:402.6258267716536}"/>
</p:tagLst>
</file>

<file path=ppt/tags/tag11.xml><?xml version="1.0" encoding="utf-8"?>
<p:tagLst xmlns:p="http://schemas.openxmlformats.org/presentationml/2006/main">
  <p:tag name="KSO_WM_DIAGRAM_VIRTUALLY_FRAME" val="{&quot;height&quot;:440.2264566929134,&quot;left&quot;:473.92417322834643,&quot;top&quot;:159.4,&quot;width&quot;:402.6258267716536}"/>
</p:tagLst>
</file>

<file path=ppt/tags/tag12.xml><?xml version="1.0" encoding="utf-8"?>
<p:tagLst xmlns:p="http://schemas.openxmlformats.org/presentationml/2006/main">
  <p:tag name="KSO_WM_DIAGRAM_VIRTUALLY_FRAME" val="{&quot;height&quot;:440.2264566929134,&quot;left&quot;:473.92417322834643,&quot;top&quot;:159.4,&quot;width&quot;:402.6258267716536}"/>
</p:tagLst>
</file>

<file path=ppt/tags/tag13.xml><?xml version="1.0" encoding="utf-8"?>
<p:tagLst xmlns:p="http://schemas.openxmlformats.org/presentationml/2006/main">
  <p:tag name="KSO_WM_DIAGRAM_VIRTUALLY_FRAME" val="{&quot;height&quot;:412.35,&quot;left&quot;:221.15,&quot;top&quot;:97.6,&quot;width&quot;:699.95}"/>
</p:tagLst>
</file>

<file path=ppt/tags/tag14.xml><?xml version="1.0" encoding="utf-8"?>
<p:tagLst xmlns:p="http://schemas.openxmlformats.org/presentationml/2006/main">
  <p:tag name="KSO_WM_DIAGRAM_VIRTUALLY_FRAME" val="{&quot;height&quot;:412.35,&quot;left&quot;:221.15,&quot;top&quot;:97.6,&quot;width&quot;:699.95}"/>
</p:tagLst>
</file>

<file path=ppt/tags/tag15.xml><?xml version="1.0" encoding="utf-8"?>
<p:tagLst xmlns:p="http://schemas.openxmlformats.org/presentationml/2006/main">
  <p:tag name="KSO_WM_DIAGRAM_VIRTUALLY_FRAME" val="{&quot;height&quot;:412.35,&quot;left&quot;:221.15,&quot;top&quot;:97.6,&quot;width&quot;:699.95}"/>
</p:tagLst>
</file>

<file path=ppt/tags/tag16.xml><?xml version="1.0" encoding="utf-8"?>
<p:tagLst xmlns:p="http://schemas.openxmlformats.org/presentationml/2006/main">
  <p:tag name="KSO_WM_DIAGRAM_VIRTUALLY_FRAME" val="{&quot;height&quot;:412.35,&quot;left&quot;:221.15,&quot;top&quot;:97.6,&quot;width&quot;:699.95}"/>
</p:tagLst>
</file>

<file path=ppt/tags/tag17.xml><?xml version="1.0" encoding="utf-8"?>
<p:tagLst xmlns:p="http://schemas.openxmlformats.org/presentationml/2006/main">
  <p:tag name="KSO_WM_DIAGRAM_VIRTUALLY_FRAME" val="{&quot;height&quot;:412.35,&quot;left&quot;:221.15,&quot;top&quot;:97.6,&quot;width&quot;:699.95}"/>
</p:tagLst>
</file>

<file path=ppt/tags/tag18.xml><?xml version="1.0" encoding="utf-8"?>
<p:tagLst xmlns:p="http://schemas.openxmlformats.org/presentationml/2006/main">
  <p:tag name="KSO_WM_DIAGRAM_VIRTUALLY_FRAME" val="{&quot;height&quot;:412.35,&quot;left&quot;:221.15,&quot;top&quot;:97.6,&quot;width&quot;:699.95}"/>
</p:tagLst>
</file>

<file path=ppt/tags/tag19.xml><?xml version="1.0" encoding="utf-8"?>
<p:tagLst xmlns:p="http://schemas.openxmlformats.org/presentationml/2006/main">
  <p:tag name="KSO_WM_DIAGRAM_VIRTUALLY_FRAME" val="{&quot;height&quot;:412.35,&quot;left&quot;:221.15,&quot;top&quot;:97.6,&quot;width&quot;:699.95}"/>
</p:tagLst>
</file>

<file path=ppt/tags/tag20.xml><?xml version="1.0" encoding="utf-8"?>
<p:tagLst xmlns:p="http://schemas.openxmlformats.org/presentationml/2006/main">
  <p:tag name="KSO_WM_DIAGRAM_VIRTUALLY_FRAME" val="{&quot;height&quot;:412.35,&quot;left&quot;:221.15,&quot;top&quot;:97.6,&quot;width&quot;:699.95}"/>
</p:tagLst>
</file>

<file path=ppt/tags/tag21.xml><?xml version="1.0" encoding="utf-8"?>
<p:tagLst xmlns:p="http://schemas.openxmlformats.org/presentationml/2006/main">
  <p:tag name="KSO_WM_DIAGRAM_VIRTUALLY_FRAME" val="{&quot;height&quot;:412.35,&quot;left&quot;:221.15,&quot;top&quot;:97.6,&quot;width&quot;:699.95}"/>
</p:tagLst>
</file>

<file path=ppt/tags/tag22.xml><?xml version="1.0" encoding="utf-8"?>
<p:tagLst xmlns:p="http://schemas.openxmlformats.org/presentationml/2006/main">
  <p:tag name="KSO_WM_DIAGRAM_VIRTUALLY_FRAME" val="{&quot;height&quot;:412.35,&quot;left&quot;:221.15,&quot;top&quot;:97.6,&quot;width&quot;:699.95}"/>
</p:tagLst>
</file>

<file path=ppt/tags/tag23.xml><?xml version="1.0" encoding="utf-8"?>
<p:tagLst xmlns:p="http://schemas.openxmlformats.org/presentationml/2006/main">
  <p:tag name="KSO_WM_DIAGRAM_VIRTUALLY_FRAME" val="{&quot;height&quot;:412.35,&quot;left&quot;:221.15,&quot;top&quot;:97.6,&quot;width&quot;:699.95}"/>
</p:tagLst>
</file>

<file path=ppt/tags/tag24.xml><?xml version="1.0" encoding="utf-8"?>
<p:tagLst xmlns:p="http://schemas.openxmlformats.org/presentationml/2006/main">
  <p:tag name="KSO_WM_DIAGRAM_VIRTUALLY_FRAME" val="{&quot;height&quot;:412.35,&quot;left&quot;:221.15,&quot;top&quot;:97.6,&quot;width&quot;:699.95}"/>
</p:tagLst>
</file>

<file path=ppt/tags/tag25.xml><?xml version="1.0" encoding="utf-8"?>
<p:tagLst xmlns:p="http://schemas.openxmlformats.org/presentationml/2006/main">
  <p:tag name="KSO_WM_DIAGRAM_VIRTUALLY_FRAME" val="{&quot;height&quot;:362.4,&quot;left&quot;:298.9,&quot;top&quot;:111.3,&quot;width&quot;:632.4}"/>
</p:tagLst>
</file>

<file path=ppt/tags/tag26.xml><?xml version="1.0" encoding="utf-8"?>
<p:tagLst xmlns:p="http://schemas.openxmlformats.org/presentationml/2006/main">
  <p:tag name="KSO_WM_DIAGRAM_VIRTUALLY_FRAME" val="{&quot;height&quot;:362.4,&quot;left&quot;:298.9,&quot;top&quot;:111.3,&quot;width&quot;:632.4}"/>
</p:tagLst>
</file>

<file path=ppt/tags/tag27.xml><?xml version="1.0" encoding="utf-8"?>
<p:tagLst xmlns:p="http://schemas.openxmlformats.org/presentationml/2006/main">
  <p:tag name="KSO_WM_DIAGRAM_VIRTUALLY_FRAME" val="{&quot;height&quot;:362.4,&quot;left&quot;:298.9,&quot;top&quot;:111.3,&quot;width&quot;:632.4}"/>
</p:tagLst>
</file>

<file path=ppt/tags/tag28.xml><?xml version="1.0" encoding="utf-8"?>
<p:tagLst xmlns:p="http://schemas.openxmlformats.org/presentationml/2006/main">
  <p:tag name="KSO_WM_DIAGRAM_VIRTUALLY_FRAME" val="{&quot;height&quot;:362.4,&quot;left&quot;:298.9,&quot;top&quot;:111.3,&quot;width&quot;:632.4}"/>
</p:tagLst>
</file>

<file path=ppt/tags/tag29.xml><?xml version="1.0" encoding="utf-8"?>
<p:tagLst xmlns:p="http://schemas.openxmlformats.org/presentationml/2006/main">
  <p:tag name="KSO_WM_DIAGRAM_VIRTUALLY_FRAME" val="{&quot;height&quot;:362.4,&quot;left&quot;:298.9,&quot;top&quot;:111.3,&quot;width&quot;:632.4}"/>
</p:tagLst>
</file>

<file path=ppt/tags/tag30.xml><?xml version="1.0" encoding="utf-8"?>
<p:tagLst xmlns:p="http://schemas.openxmlformats.org/presentationml/2006/main">
  <p:tag name="KSO_WM_DIAGRAM_VIRTUALLY_FRAME" val="{&quot;height&quot;:362.4,&quot;left&quot;:298.9,&quot;top&quot;:111.3,&quot;width&quot;:632.4}"/>
</p:tagLst>
</file>

<file path=ppt/tags/tag31.xml><?xml version="1.0" encoding="utf-8"?>
<p:tagLst xmlns:p="http://schemas.openxmlformats.org/presentationml/2006/main">
  <p:tag name="KSO_WM_DIAGRAM_VIRTUALLY_FRAME" val="{&quot;height&quot;:362.4,&quot;left&quot;:298.9,&quot;top&quot;:111.3,&quot;width&quot;:632.4}"/>
</p:tagLst>
</file>

<file path=ppt/tags/tag32.xml><?xml version="1.0" encoding="utf-8"?>
<p:tagLst xmlns:p="http://schemas.openxmlformats.org/presentationml/2006/main">
  <p:tag name="KSO_WM_DIAGRAM_VIRTUALLY_FRAME" val="{&quot;height&quot;:362.4,&quot;left&quot;:298.9,&quot;top&quot;:111.3,&quot;width&quot;:632.4}"/>
</p:tagLst>
</file>

<file path=ppt/tags/tag33.xml><?xml version="1.0" encoding="utf-8"?>
<p:tagLst xmlns:p="http://schemas.openxmlformats.org/presentationml/2006/main">
  <p:tag name="KSO_WM_DIAGRAM_VIRTUALLY_FRAME" val="{&quot;height&quot;:362.4,&quot;left&quot;:298.9,&quot;top&quot;:111.3,&quot;width&quot;:632.4}"/>
</p:tagLst>
</file>

<file path=ppt/tags/tag34.xml><?xml version="1.0" encoding="utf-8"?>
<p:tagLst xmlns:p="http://schemas.openxmlformats.org/presentationml/2006/main">
  <p:tag name="KSO_WM_DIAGRAM_VIRTUALLY_FRAME" val="{&quot;height&quot;:388.2,&quot;left&quot;:57.95,&quot;top&quot;:98.85,&quot;width&quot;:844.15}"/>
</p:tagLst>
</file>

<file path=ppt/tags/tag35.xml><?xml version="1.0" encoding="utf-8"?>
<p:tagLst xmlns:p="http://schemas.openxmlformats.org/presentationml/2006/main">
  <p:tag name="KSO_WM_DIAGRAM_VIRTUALLY_FRAME" val="{&quot;height&quot;:388.2,&quot;left&quot;:57.95,&quot;top&quot;:98.85,&quot;width&quot;:844.15}"/>
</p:tagLst>
</file>

<file path=ppt/tags/tag36.xml><?xml version="1.0" encoding="utf-8"?>
<p:tagLst xmlns:p="http://schemas.openxmlformats.org/presentationml/2006/main">
  <p:tag name="KSO_WM_DIAGRAM_VIRTUALLY_FRAME" val="{&quot;height&quot;:388.2,&quot;left&quot;:57.95,&quot;top&quot;:98.85,&quot;width&quot;:844.15}"/>
</p:tagLst>
</file>

<file path=ppt/tags/tag37.xml><?xml version="1.0" encoding="utf-8"?>
<p:tagLst xmlns:p="http://schemas.openxmlformats.org/presentationml/2006/main">
  <p:tag name="KSO_WM_DIAGRAM_VIRTUALLY_FRAME" val="{&quot;height&quot;:388.2,&quot;left&quot;:57.95,&quot;top&quot;:98.85,&quot;width&quot;:844.15}"/>
</p:tagLst>
</file>

<file path=ppt/tags/tag38.xml><?xml version="1.0" encoding="utf-8"?>
<p:tagLst xmlns:p="http://schemas.openxmlformats.org/presentationml/2006/main">
  <p:tag name="KSO_WM_DIAGRAM_VIRTUALLY_FRAME" val="{&quot;height&quot;:388.2,&quot;left&quot;:57.95,&quot;top&quot;:98.85,&quot;width&quot;:844.15}"/>
</p:tagLst>
</file>

<file path=ppt/tags/tag39.xml><?xml version="1.0" encoding="utf-8"?>
<p:tagLst xmlns:p="http://schemas.openxmlformats.org/presentationml/2006/main">
  <p:tag name="KSO_WM_DIAGRAM_VIRTUALLY_FRAME" val="{&quot;height&quot;:388.2,&quot;left&quot;:57.95,&quot;top&quot;:98.85,&quot;width&quot;:844.15}"/>
</p:tagLst>
</file>

<file path=ppt/tags/tag40.xml><?xml version="1.0" encoding="utf-8"?>
<p:tagLst xmlns:p="http://schemas.openxmlformats.org/presentationml/2006/main">
  <p:tag name="KSO_WM_DIAGRAM_VIRTUALLY_FRAME" val="{&quot;height&quot;:388.2,&quot;left&quot;:57.95,&quot;top&quot;:98.85,&quot;width&quot;:844.15}"/>
</p:tagLst>
</file>

<file path=ppt/tags/tag41.xml><?xml version="1.0" encoding="utf-8"?>
<p:tagLst xmlns:p="http://schemas.openxmlformats.org/presentationml/2006/main">
  <p:tag name="KSO_WM_DIAGRAM_VIRTUALLY_FRAME" val="{&quot;height&quot;:388.2,&quot;left&quot;:57.95,&quot;top&quot;:98.85,&quot;width&quot;:844.15}"/>
</p:tagLst>
</file>

<file path=ppt/tags/tag42.xml><?xml version="1.0" encoding="utf-8"?>
<p:tagLst xmlns:p="http://schemas.openxmlformats.org/presentationml/2006/main">
  <p:tag name="KSO_WM_DIAGRAM_VIRTUALLY_FRAME" val="{&quot;height&quot;:388.2,&quot;left&quot;:57.95,&quot;top&quot;:98.85,&quot;width&quot;:844.15}"/>
</p:tagLst>
</file>

<file path=ppt/tags/tag43.xml><?xml version="1.0" encoding="utf-8"?>
<p:tagLst xmlns:p="http://schemas.openxmlformats.org/presentationml/2006/main">
  <p:tag name="KSO_WM_DIAGRAM_VIRTUALLY_FRAME" val="{&quot;height&quot;:388.2,&quot;left&quot;:57.95,&quot;top&quot;:98.85,&quot;width&quot;:844.15}"/>
</p:tagLst>
</file>

<file path=ppt/tags/tag44.xml><?xml version="1.0" encoding="utf-8"?>
<p:tagLst xmlns:p="http://schemas.openxmlformats.org/presentationml/2006/main">
  <p:tag name="KSO_WM_DIAGRAM_VIRTUALLY_FRAME" val="{&quot;height&quot;:388.2,&quot;left&quot;:57.95,&quot;top&quot;:98.85,&quot;width&quot;:844.15}"/>
</p:tagLst>
</file>

<file path=ppt/tags/tag45.xml><?xml version="1.0" encoding="utf-8"?>
<p:tagLst xmlns:p="http://schemas.openxmlformats.org/presentationml/2006/main">
  <p:tag name="KSO_WM_DIAGRAM_VIRTUALLY_FRAME" val="{&quot;height&quot;:396.7,&quot;left&quot;:221.15,&quot;top&quot;:97.6,&quot;width&quot;:699.95}"/>
</p:tagLst>
</file>

<file path=ppt/tags/tag46.xml><?xml version="1.0" encoding="utf-8"?>
<p:tagLst xmlns:p="http://schemas.openxmlformats.org/presentationml/2006/main">
  <p:tag name="KSO_WM_DIAGRAM_VIRTUALLY_FRAME" val="{&quot;height&quot;:396.7,&quot;left&quot;:221.15,&quot;top&quot;:97.6,&quot;width&quot;:699.95}"/>
</p:tagLst>
</file>

<file path=ppt/tags/tag47.xml><?xml version="1.0" encoding="utf-8"?>
<p:tagLst xmlns:p="http://schemas.openxmlformats.org/presentationml/2006/main">
  <p:tag name="KSO_WM_DIAGRAM_VIRTUALLY_FRAME" val="{&quot;height&quot;:396.7,&quot;left&quot;:221.15,&quot;top&quot;:97.6,&quot;width&quot;:699.95}"/>
</p:tagLst>
</file>

<file path=ppt/tags/tag48.xml><?xml version="1.0" encoding="utf-8"?>
<p:tagLst xmlns:p="http://schemas.openxmlformats.org/presentationml/2006/main">
  <p:tag name="KSO_WM_DIAGRAM_VIRTUALLY_FRAME" val="{&quot;height&quot;:396.7,&quot;left&quot;:221.15,&quot;top&quot;:97.6,&quot;width&quot;:699.95}"/>
</p:tagLst>
</file>

<file path=ppt/tags/tag49.xml><?xml version="1.0" encoding="utf-8"?>
<p:tagLst xmlns:p="http://schemas.openxmlformats.org/presentationml/2006/main">
  <p:tag name="KSO_WM_DIAGRAM_VIRTUALLY_FRAME" val="{&quot;height&quot;:396.7,&quot;left&quot;:221.15,&quot;top&quot;:97.6,&quot;width&quot;:699.95}"/>
</p:tagLst>
</file>

<file path=ppt/tags/tag50.xml><?xml version="1.0" encoding="utf-8"?>
<p:tagLst xmlns:p="http://schemas.openxmlformats.org/presentationml/2006/main">
  <p:tag name="KSO_WM_DIAGRAM_VIRTUALLY_FRAME" val="{&quot;height&quot;:396.7,&quot;left&quot;:221.15,&quot;top&quot;:97.6,&quot;width&quot;:699.95}"/>
</p:tagLst>
</file>

<file path=ppt/tags/tag51.xml><?xml version="1.0" encoding="utf-8"?>
<p:tagLst xmlns:p="http://schemas.openxmlformats.org/presentationml/2006/main">
  <p:tag name="KSO_WM_DIAGRAM_VIRTUALLY_FRAME" val="{&quot;height&quot;:396.7,&quot;left&quot;:221.15,&quot;top&quot;:97.6,&quot;width&quot;:699.95}"/>
</p:tagLst>
</file>

<file path=ppt/tags/tag52.xml><?xml version="1.0" encoding="utf-8"?>
<p:tagLst xmlns:p="http://schemas.openxmlformats.org/presentationml/2006/main">
  <p:tag name="KSO_WM_DIAGRAM_VIRTUALLY_FRAME" val="{&quot;height&quot;:396.7,&quot;left&quot;:221.15,&quot;top&quot;:97.6,&quot;width&quot;:699.95}"/>
</p:tagLst>
</file>

<file path=ppt/tags/tag53.xml><?xml version="1.0" encoding="utf-8"?>
<p:tagLst xmlns:p="http://schemas.openxmlformats.org/presentationml/2006/main">
  <p:tag name="KSO_WM_DIAGRAM_VIRTUALLY_FRAME" val="{&quot;height&quot;:396.7,&quot;left&quot;:221.15,&quot;top&quot;:97.6,&quot;width&quot;:699.95}"/>
</p:tagLst>
</file>

<file path=ppt/tags/tag54.xml><?xml version="1.0" encoding="utf-8"?>
<p:tagLst xmlns:p="http://schemas.openxmlformats.org/presentationml/2006/main">
  <p:tag name="KSO_WM_DIAGRAM_VIRTUALLY_FRAME" val="{&quot;height&quot;:396.7,&quot;left&quot;:221.15,&quot;top&quot;:97.6,&quot;width&quot;:699.95}"/>
</p:tagLst>
</file>

<file path=ppt/tags/tag55.xml><?xml version="1.0" encoding="utf-8"?>
<p:tagLst xmlns:p="http://schemas.openxmlformats.org/presentationml/2006/main">
  <p:tag name="KSO_WM_DIAGRAM_VIRTUALLY_FRAME" val="{&quot;height&quot;:396.7,&quot;left&quot;:221.15,&quot;top&quot;:97.6,&quot;width&quot;:699.95}"/>
</p:tagLst>
</file>

<file path=ppt/tags/tag56.xml><?xml version="1.0" encoding="utf-8"?>
<p:tagLst xmlns:p="http://schemas.openxmlformats.org/presentationml/2006/main">
  <p:tag name="KSO_WM_DIAGRAM_VIRTUALLY_FRAME" val="{&quot;height&quot;:396.7,&quot;left&quot;:221.15,&quot;top&quot;:97.6,&quot;width&quot;:699.95}"/>
</p:tagLst>
</file>

<file path=ppt/tags/tag57.xml><?xml version="1.0" encoding="utf-8"?>
<p:tagLst xmlns:p="http://schemas.openxmlformats.org/presentationml/2006/main">
  <p:tag name="KSO_WM_DIAGRAM_VIRTUALLY_FRAME" val="{&quot;height&quot;:362.4,&quot;left&quot;:298.9,&quot;top&quot;:111.3,&quot;width&quot;:632.4}"/>
</p:tagLst>
</file>

<file path=ppt/tags/tag58.xml><?xml version="1.0" encoding="utf-8"?>
<p:tagLst xmlns:p="http://schemas.openxmlformats.org/presentationml/2006/main">
  <p:tag name="KSO_WM_DIAGRAM_VIRTUALLY_FRAME" val="{&quot;height&quot;:362.4,&quot;left&quot;:298.9,&quot;top&quot;:111.3,&quot;width&quot;:632.4}"/>
</p:tagLst>
</file>

<file path=ppt/tags/tag59.xml><?xml version="1.0" encoding="utf-8"?>
<p:tagLst xmlns:p="http://schemas.openxmlformats.org/presentationml/2006/main">
  <p:tag name="KSO_WM_DIAGRAM_VIRTUALLY_FRAME" val="{&quot;height&quot;:362.4,&quot;left&quot;:298.9,&quot;top&quot;:111.3,&quot;width&quot;:632.4}"/>
</p:tagLst>
</file>

<file path=ppt/tags/tag60.xml><?xml version="1.0" encoding="utf-8"?>
<p:tagLst xmlns:p="http://schemas.openxmlformats.org/presentationml/2006/main">
  <p:tag name="KSO_WM_DIAGRAM_VIRTUALLY_FRAME" val="{&quot;height&quot;:362.4,&quot;left&quot;:298.9,&quot;top&quot;:111.3,&quot;width&quot;:632.4}"/>
</p:tagLst>
</file>

<file path=ppt/tags/tag61.xml><?xml version="1.0" encoding="utf-8"?>
<p:tagLst xmlns:p="http://schemas.openxmlformats.org/presentationml/2006/main">
  <p:tag name="KSO_WM_DIAGRAM_VIRTUALLY_FRAME" val="{&quot;height&quot;:362.4,&quot;left&quot;:298.9,&quot;top&quot;:111.3,&quot;width&quot;:632.4}"/>
</p:tagLst>
</file>

<file path=ppt/tags/tag62.xml><?xml version="1.0" encoding="utf-8"?>
<p:tagLst xmlns:p="http://schemas.openxmlformats.org/presentationml/2006/main">
  <p:tag name="KSO_WM_DIAGRAM_VIRTUALLY_FRAME" val="{&quot;height&quot;:362.4,&quot;left&quot;:298.9,&quot;top&quot;:111.3,&quot;width&quot;:632.4}"/>
</p:tagLst>
</file>

<file path=ppt/tags/tag63.xml><?xml version="1.0" encoding="utf-8"?>
<p:tagLst xmlns:p="http://schemas.openxmlformats.org/presentationml/2006/main">
  <p:tag name="KSO_WM_DIAGRAM_VIRTUALLY_FRAME" val="{&quot;height&quot;:362.4,&quot;left&quot;:298.9,&quot;top&quot;:111.3,&quot;width&quot;:632.4}"/>
</p:tagLst>
</file>

<file path=ppt/tags/tag64.xml><?xml version="1.0" encoding="utf-8"?>
<p:tagLst xmlns:p="http://schemas.openxmlformats.org/presentationml/2006/main">
  <p:tag name="KSO_WM_DIAGRAM_VIRTUALLY_FRAME" val="{&quot;height&quot;:362.4,&quot;left&quot;:298.9,&quot;top&quot;:111.3,&quot;width&quot;:632.4}"/>
</p:tagLst>
</file>

<file path=ppt/tags/tag65.xml><?xml version="1.0" encoding="utf-8"?>
<p:tagLst xmlns:p="http://schemas.openxmlformats.org/presentationml/2006/main">
  <p:tag name="KSO_WM_DIAGRAM_VIRTUALLY_FRAME" val="{&quot;height&quot;:362.4,&quot;left&quot;:298.9,&quot;top&quot;:111.3,&quot;width&quot;:632.4}"/>
</p:tagLst>
</file>

<file path=ppt/tags/tag66.xml><?xml version="1.0" encoding="utf-8"?>
<p:tagLst xmlns:p="http://schemas.openxmlformats.org/presentationml/2006/main">
  <p:tag name="KSO_WM_DIAGRAM_VIRTUALLY_FRAME" val="{&quot;height&quot;:388.2,&quot;left&quot;:57.95,&quot;top&quot;:98.85,&quot;width&quot;:844.15}"/>
</p:tagLst>
</file>

<file path=ppt/tags/tag67.xml><?xml version="1.0" encoding="utf-8"?>
<p:tagLst xmlns:p="http://schemas.openxmlformats.org/presentationml/2006/main">
  <p:tag name="KSO_WM_DIAGRAM_VIRTUALLY_FRAME" val="{&quot;height&quot;:388.2,&quot;left&quot;:57.95,&quot;top&quot;:98.85,&quot;width&quot;:844.15}"/>
</p:tagLst>
</file>

<file path=ppt/tags/tag68.xml><?xml version="1.0" encoding="utf-8"?>
<p:tagLst xmlns:p="http://schemas.openxmlformats.org/presentationml/2006/main">
  <p:tag name="KSO_WM_DIAGRAM_VIRTUALLY_FRAME" val="{&quot;height&quot;:388.2,&quot;left&quot;:57.95,&quot;top&quot;:98.85,&quot;width&quot;:844.15}"/>
</p:tagLst>
</file>

<file path=ppt/tags/tag69.xml><?xml version="1.0" encoding="utf-8"?>
<p:tagLst xmlns:p="http://schemas.openxmlformats.org/presentationml/2006/main">
  <p:tag name="KSO_WM_DIAGRAM_VIRTUALLY_FRAME" val="{&quot;height&quot;:388.2,&quot;left&quot;:57.95,&quot;top&quot;:98.85,&quot;width&quot;:844.15}"/>
</p:tagLst>
</file>

<file path=ppt/tags/tag70.xml><?xml version="1.0" encoding="utf-8"?>
<p:tagLst xmlns:p="http://schemas.openxmlformats.org/presentationml/2006/main">
  <p:tag name="KSO_WM_DIAGRAM_VIRTUALLY_FRAME" val="{&quot;height&quot;:388.2,&quot;left&quot;:57.95,&quot;top&quot;:98.85,&quot;width&quot;:844.15}"/>
</p:tagLst>
</file>

<file path=ppt/tags/tag71.xml><?xml version="1.0" encoding="utf-8"?>
<p:tagLst xmlns:p="http://schemas.openxmlformats.org/presentationml/2006/main">
  <p:tag name="KSO_WM_DIAGRAM_VIRTUALLY_FRAME" val="{&quot;height&quot;:388.2,&quot;left&quot;:57.95,&quot;top&quot;:98.85,&quot;width&quot;:844.15}"/>
</p:tagLst>
</file>

<file path=ppt/tags/tag72.xml><?xml version="1.0" encoding="utf-8"?>
<p:tagLst xmlns:p="http://schemas.openxmlformats.org/presentationml/2006/main">
  <p:tag name="KSO_WM_DIAGRAM_VIRTUALLY_FRAME" val="{&quot;height&quot;:388.2,&quot;left&quot;:57.95,&quot;top&quot;:98.85,&quot;width&quot;:844.15}"/>
</p:tagLst>
</file>

<file path=ppt/tags/tag73.xml><?xml version="1.0" encoding="utf-8"?>
<p:tagLst xmlns:p="http://schemas.openxmlformats.org/presentationml/2006/main">
  <p:tag name="KSO_WM_DIAGRAM_VIRTUALLY_FRAME" val="{&quot;height&quot;:388.2,&quot;left&quot;:57.95,&quot;top&quot;:98.85,&quot;width&quot;:844.15}"/>
</p:tagLst>
</file>

<file path=ppt/tags/tag74.xml><?xml version="1.0" encoding="utf-8"?>
<p:tagLst xmlns:p="http://schemas.openxmlformats.org/presentationml/2006/main">
  <p:tag name="KSO_WM_DIAGRAM_VIRTUALLY_FRAME" val="{&quot;height&quot;:388.2,&quot;left&quot;:57.95,&quot;top&quot;:98.85,&quot;width&quot;:844.15}"/>
</p:tagLst>
</file>

<file path=ppt/tags/tag75.xml><?xml version="1.0" encoding="utf-8"?>
<p:tagLst xmlns:p="http://schemas.openxmlformats.org/presentationml/2006/main">
  <p:tag name="KSO_WM_DIAGRAM_VIRTUALLY_FRAME" val="{&quot;height&quot;:388.2,&quot;left&quot;:57.95,&quot;top&quot;:98.85,&quot;width&quot;:844.15}"/>
</p:tagLst>
</file>

<file path=ppt/tags/tag76.xml><?xml version="1.0" encoding="utf-8"?>
<p:tagLst xmlns:p="http://schemas.openxmlformats.org/presentationml/2006/main">
  <p:tag name="KSO_WM_DIAGRAM_VIRTUALLY_FRAME" val="{&quot;height&quot;:388.2,&quot;left&quot;:57.95,&quot;top&quot;:98.85,&quot;width&quot;:844.15}"/>
</p:tagLst>
</file>

<file path=ppt/tags/tag77.xml><?xml version="1.0" encoding="utf-8"?>
<p:tagLst xmlns:p="http://schemas.openxmlformats.org/presentationml/2006/main">
  <p:tag name="KSO_WM_DIAGRAM_VIRTUALLY_FRAME" val="{&quot;height&quot;:362.4,&quot;left&quot;:298.9,&quot;top&quot;:111.3,&quot;width&quot;:632.4}"/>
</p:tagLst>
</file>

<file path=ppt/tags/tag78.xml><?xml version="1.0" encoding="utf-8"?>
<p:tagLst xmlns:p="http://schemas.openxmlformats.org/presentationml/2006/main">
  <p:tag name="KSO_WM_DIAGRAM_VIRTUALLY_FRAME" val="{&quot;height&quot;:362.4,&quot;left&quot;:298.9,&quot;top&quot;:111.3,&quot;width&quot;:632.4}"/>
</p:tagLst>
</file>

<file path=ppt/tags/tag79.xml><?xml version="1.0" encoding="utf-8"?>
<p:tagLst xmlns:p="http://schemas.openxmlformats.org/presentationml/2006/main">
  <p:tag name="KSO_WM_DIAGRAM_VIRTUALLY_FRAME" val="{&quot;height&quot;:362.4,&quot;left&quot;:298.9,&quot;top&quot;:111.3,&quot;width&quot;:632.4}"/>
</p:tagLst>
</file>

<file path=ppt/tags/tag80.xml><?xml version="1.0" encoding="utf-8"?>
<p:tagLst xmlns:p="http://schemas.openxmlformats.org/presentationml/2006/main">
  <p:tag name="KSO_WM_DIAGRAM_VIRTUALLY_FRAME" val="{&quot;height&quot;:362.4,&quot;left&quot;:298.9,&quot;top&quot;:111.3,&quot;width&quot;:632.4}"/>
</p:tagLst>
</file>

<file path=ppt/tags/tag81.xml><?xml version="1.0" encoding="utf-8"?>
<p:tagLst xmlns:p="http://schemas.openxmlformats.org/presentationml/2006/main">
  <p:tag name="KSO_WM_DIAGRAM_VIRTUALLY_FRAME" val="{&quot;height&quot;:362.4,&quot;left&quot;:298.9,&quot;top&quot;:111.3,&quot;width&quot;:632.4}"/>
</p:tagLst>
</file>

<file path=ppt/tags/tag82.xml><?xml version="1.0" encoding="utf-8"?>
<p:tagLst xmlns:p="http://schemas.openxmlformats.org/presentationml/2006/main">
  <p:tag name="KSO_WM_DIAGRAM_VIRTUALLY_FRAME" val="{&quot;height&quot;:362.4,&quot;left&quot;:298.9,&quot;top&quot;:111.3,&quot;width&quot;:632.4}"/>
</p:tagLst>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22324</Words>
  <Application>WPS 演示</Application>
  <PresentationFormat>On-screen Show (16:9)</PresentationFormat>
  <Paragraphs>488</Paragraphs>
  <Slides>44</Slides>
  <Notes>26</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44</vt:i4>
      </vt:variant>
    </vt:vector>
  </HeadingPairs>
  <TitlesOfParts>
    <vt:vector size="59" baseType="lpstr">
      <vt:lpstr>Arial</vt:lpstr>
      <vt:lpstr>宋体</vt:lpstr>
      <vt:lpstr>Wingdings</vt:lpstr>
      <vt:lpstr>MiSans</vt:lpstr>
      <vt:lpstr>MiSans</vt:lpstr>
      <vt:lpstr>Calibri</vt:lpstr>
      <vt:lpstr>微软雅黑</vt:lpstr>
      <vt:lpstr>Arial Unicode MS</vt:lpstr>
      <vt:lpstr>等线</vt:lpstr>
      <vt:lpstr>Inter</vt:lpstr>
      <vt:lpstr>Arial</vt:lpstr>
      <vt:lpstr>Segoe Print</vt:lpstr>
      <vt:lpstr>Wingdings</vt:lpstr>
      <vt:lpstr>Custom Theme</vt:lpstr>
      <vt:lpstr>1_Custom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walnut</cp:lastModifiedBy>
  <cp:revision>2</cp:revision>
  <dcterms:created xsi:type="dcterms:W3CDTF">2025-07-08T07:22:00Z</dcterms:created>
  <dcterms:modified xsi:type="dcterms:W3CDTF">2025-07-09T12:23:23Z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949C20E8D1A54E1CA08CCDC441181D15_12</vt:lpwstr>
  </property>
  <property fmtid="{D5CDD505-2E9C-101B-9397-08002B2CF9AE}" pid="3" name="KSOProductBuildVer">
    <vt:lpwstr>2052-12.1.0.21915</vt:lpwstr>
  </property>
</Properties>
</file>