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81" r:id="rId8"/>
    <p:sldId id="260" r:id="rId9"/>
    <p:sldId id="261" r:id="rId10"/>
    <p:sldId id="262" r:id="rId11"/>
    <p:sldId id="263" r:id="rId12"/>
    <p:sldId id="264" r:id="rId13"/>
    <p:sldId id="265" r:id="rId14"/>
    <p:sldId id="266" r:id="rId15"/>
    <p:sldId id="267" r:id="rId16"/>
    <p:sldId id="268" r:id="rId17"/>
    <p:sldId id="269" r:id="rId18"/>
    <p:sldId id="301" r:id="rId19"/>
    <p:sldId id="270" r:id="rId20"/>
    <p:sldId id="271"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2" r:id="rId39"/>
    <p:sldId id="303" r:id="rId40"/>
    <p:sldId id="272" r:id="rId41"/>
    <p:sldId id="273" r:id="rId42"/>
    <p:sldId id="274" r:id="rId43"/>
    <p:sldId id="275" r:id="rId44"/>
    <p:sldId id="276" r:id="rId45"/>
    <p:sldId id="277" r:id="rId46"/>
    <p:sldId id="278" r:id="rId47"/>
    <p:sldId id="279" r:id="rId48"/>
    <p:sldId id="280" r:id="rId49"/>
  </p:sldIdLst>
  <p:sldSz cx="12192000" cy="6858000"/>
  <p:notesSz cx="6858000" cy="12192000"/>
  <p:embeddedFontLst>
    <p:embeddedFont>
      <p:font typeface="MiSans" pitchFamily="34" charset="-122"/>
      <p:regular r:id="rId53"/>
    </p:embeddedFont>
    <p:embeddedFont>
      <p:font typeface="MiSans" pitchFamily="34" charset="-120"/>
      <p:regular r:id="rId54"/>
    </p:embeddedFont>
    <p:embeddedFont>
      <p:font typeface="Calibri" panose="020F0502020204030204" charset="0"/>
      <p:regular r:id="rId55"/>
      <p:bold r:id="rId56"/>
      <p:italic r:id="rId57"/>
      <p:boldItalic r:id="rId58"/>
    </p:embeddedFont>
    <p:embeddedFont>
      <p:font typeface="等线" panose="02010600030101010101" charset="-122"/>
      <p:regular r:id="rId59"/>
    </p:embeddedFont>
    <p:embeddedFont>
      <p:font typeface="Cambria Math" panose="02040503050406030204" pitchFamily="18" charset="0"/>
      <p:regular r:id="rId6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font" Target="fonts/font8.fntdata"/><Relationship Id="rId6" Type="http://schemas.openxmlformats.org/officeDocument/2006/relationships/slide" Target="slides/slide3.xml"/><Relationship Id="rId59" Type="http://schemas.openxmlformats.org/officeDocument/2006/relationships/font" Target="fonts/font7.fntdata"/><Relationship Id="rId58" Type="http://schemas.openxmlformats.org/officeDocument/2006/relationships/font" Target="fonts/font6.fntdata"/><Relationship Id="rId57" Type="http://schemas.openxmlformats.org/officeDocument/2006/relationships/font" Target="fonts/font5.fntdata"/><Relationship Id="rId56" Type="http://schemas.openxmlformats.org/officeDocument/2006/relationships/font" Target="fonts/font4.fntdata"/><Relationship Id="rId55" Type="http://schemas.openxmlformats.org/officeDocument/2006/relationships/font" Target="fonts/font3.fntdata"/><Relationship Id="rId54" Type="http://schemas.openxmlformats.org/officeDocument/2006/relationships/font" Target="fonts/font2.fntdata"/><Relationship Id="rId53" Type="http://schemas.openxmlformats.org/officeDocument/2006/relationships/font" Target="fonts/font1.fntdata"/><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图中最左边为一游戏画面，下放为我方可操作对象，有</a:t>
            </a:r>
            <a:r>
              <a:rPr lang="en-US" altLang="zh-CN" dirty="0"/>
              <a:t>left</a:t>
            </a:r>
            <a:r>
              <a:rPr lang="zh-CN" altLang="en-US" dirty="0"/>
              <a:t>，</a:t>
            </a:r>
            <a:r>
              <a:rPr lang="en-US" altLang="zh-CN" dirty="0"/>
              <a:t>right</a:t>
            </a:r>
            <a:r>
              <a:rPr lang="zh-CN" altLang="en-US" dirty="0"/>
              <a:t>和</a:t>
            </a:r>
            <a:r>
              <a:rPr lang="en-US" altLang="zh-CN" dirty="0"/>
              <a:t>fire</a:t>
            </a:r>
            <a:r>
              <a:rPr lang="zh-CN" altLang="en-US" dirty="0"/>
              <a:t>三种</a:t>
            </a:r>
            <a:r>
              <a:rPr lang="en-US" altLang="zh-CN" dirty="0"/>
              <a:t>act</a:t>
            </a:r>
            <a:r>
              <a:rPr lang="zh-CN" altLang="en-US" dirty="0"/>
              <a:t>，其中击中上方的敌人可获得分数可以看作每次</a:t>
            </a:r>
            <a:r>
              <a:rPr lang="en-US" altLang="zh-CN" dirty="0"/>
              <a:t>act</a:t>
            </a:r>
            <a:r>
              <a:rPr lang="zh-CN" altLang="en-US" dirty="0"/>
              <a:t>后获得的</a:t>
            </a:r>
            <a:r>
              <a:rPr lang="en-US" altLang="zh-CN" dirty="0"/>
              <a:t>reward</a:t>
            </a:r>
            <a:r>
              <a:rPr lang="zh-CN" altLang="en-US" dirty="0"/>
              <a:t>为正数</a:t>
            </a:r>
            <a:r>
              <a:rPr lang="en-US" altLang="zh-CN" dirty="0"/>
              <a:t>.</a:t>
            </a:r>
            <a:r>
              <a:rPr lang="zh-CN" altLang="en-US" dirty="0"/>
              <a:t>由于使用的是</a:t>
            </a:r>
            <a:r>
              <a:rPr lang="en-US" altLang="zh-CN" dirty="0"/>
              <a:t>sample,</a:t>
            </a:r>
            <a:r>
              <a:rPr lang="zh-CN" altLang="en-US" dirty="0"/>
              <a:t>所以每次可能使用的行动是三种皆有可能。因为在实际情况中可能出现当前非最优选择但是在整体结果中</a:t>
            </a:r>
            <a:r>
              <a:rPr lang="zh-CN" altLang="en-US" dirty="0"/>
              <a:t>最优。</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图中最左边为一游戏画面，下放为我方可操作对象，有</a:t>
            </a:r>
            <a:r>
              <a:rPr lang="en-US" altLang="zh-CN" dirty="0"/>
              <a:t>left</a:t>
            </a:r>
            <a:r>
              <a:rPr lang="zh-CN" altLang="en-US" dirty="0"/>
              <a:t>，</a:t>
            </a:r>
            <a:r>
              <a:rPr lang="en-US" altLang="zh-CN" dirty="0"/>
              <a:t>right</a:t>
            </a:r>
            <a:r>
              <a:rPr lang="zh-CN" altLang="en-US" dirty="0"/>
              <a:t>和</a:t>
            </a:r>
            <a:r>
              <a:rPr lang="en-US" altLang="zh-CN" dirty="0"/>
              <a:t>fire</a:t>
            </a:r>
            <a:r>
              <a:rPr lang="zh-CN" altLang="en-US" dirty="0"/>
              <a:t>三种</a:t>
            </a:r>
            <a:r>
              <a:rPr lang="en-US" altLang="zh-CN" dirty="0"/>
              <a:t>act</a:t>
            </a:r>
            <a:r>
              <a:rPr lang="zh-CN" altLang="en-US" dirty="0"/>
              <a:t>，其中击中上方的敌人可获得分数可以看作每次</a:t>
            </a:r>
            <a:r>
              <a:rPr lang="en-US" altLang="zh-CN" dirty="0"/>
              <a:t>act</a:t>
            </a:r>
            <a:r>
              <a:rPr lang="zh-CN" altLang="en-US" dirty="0"/>
              <a:t>后获得的</a:t>
            </a:r>
            <a:r>
              <a:rPr lang="en-US" altLang="zh-CN" dirty="0"/>
              <a:t>reward</a:t>
            </a:r>
            <a:r>
              <a:rPr lang="zh-CN" altLang="en-US" dirty="0"/>
              <a:t>为正</a:t>
            </a:r>
            <a:r>
              <a:rPr lang="zh-CN" altLang="en-US" dirty="0"/>
              <a:t>数</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zh-CN" altLang="en-US" dirty="0"/>
                  <a:t>普通</a:t>
                </a:r>
                <a:r>
                  <a:rPr lang="en-US" altLang="zh-CN" dirty="0"/>
                  <a:t>Gt</a:t>
                </a:r>
                <a:r>
                  <a:rPr lang="zh-CN" altLang="en-US" dirty="0"/>
                  <a:t>就是不加参数</a:t>
                </a:r>
                <a14:m>
                  <m:oMath xmlns:m="http://schemas.openxmlformats.org/officeDocument/2006/math">
                    <m:r>
                      <a:rPr lang="zh-TW" altLang="en-US" i="1">
                        <a:latin typeface="Cambria Math" panose="02040503050406030204" pitchFamily="18" charset="0"/>
                      </a:rPr>
                      <m:t>𝛾</m:t>
                    </m:r>
                  </m:oMath>
                </a14:m>
                <a:r>
                  <a:rPr lang="zh-CN" altLang="zh-TW">
                    <a:latin typeface="Cambria Math" panose="02040503050406030204" pitchFamily="18" charset="0"/>
                  </a:rPr>
                  <a:t>的样子，这里要减去</a:t>
                </a:r>
                <a:r>
                  <a:rPr lang="en-US" altLang="zh-CN">
                    <a:latin typeface="Cambria Math" panose="02040503050406030204" pitchFamily="18" charset="0"/>
                  </a:rPr>
                  <a:t>basline</a:t>
                </a:r>
                <a:r>
                  <a:rPr lang="zh-CN" altLang="en-US">
                    <a:latin typeface="Cambria Math" panose="02040503050406030204" pitchFamily="18" charset="0"/>
                  </a:rPr>
                  <a:t>是因为在有的环境中每次</a:t>
                </a:r>
                <a:r>
                  <a:rPr lang="en-US" altLang="zh-CN">
                    <a:latin typeface="Cambria Math" panose="02040503050406030204" pitchFamily="18" charset="0"/>
                  </a:rPr>
                  <a:t>act</a:t>
                </a:r>
                <a:r>
                  <a:rPr lang="zh-CN" altLang="en-US">
                    <a:latin typeface="Cambria Math" panose="02040503050406030204" pitchFamily="18" charset="0"/>
                  </a:rPr>
                  <a:t>的反馈都是正数，模型会一直优化，减去</a:t>
                </a:r>
                <a:r>
                  <a:rPr lang="en-US" altLang="zh-CN">
                    <a:latin typeface="Cambria Math" panose="02040503050406030204" pitchFamily="18" charset="0"/>
                  </a:rPr>
                  <a:t>baseline</a:t>
                </a:r>
                <a:r>
                  <a:rPr lang="zh-CN" altLang="en-US">
                    <a:latin typeface="Cambria Math" panose="02040503050406030204" pitchFamily="18" charset="0"/>
                  </a:rPr>
                  <a:t>可以把一些行动没那么优势的步骤变成负数给</a:t>
                </a:r>
                <a:r>
                  <a:rPr lang="en-US" altLang="zh-CN">
                    <a:latin typeface="Cambria Math" panose="02040503050406030204" pitchFamily="18" charset="0"/>
                  </a:rPr>
                  <a:t>agent</a:t>
                </a:r>
                <a:r>
                  <a:rPr lang="zh-CN" altLang="en-US">
                    <a:latin typeface="Cambria Math" panose="02040503050406030204" pitchFamily="18" charset="0"/>
                  </a:rPr>
                  <a:t>的</a:t>
                </a:r>
                <a:r>
                  <a:rPr lang="en-US" altLang="zh-CN">
                    <a:latin typeface="Cambria Math" panose="02040503050406030204" pitchFamily="18" charset="0"/>
                  </a:rPr>
                  <a:t>reward</a:t>
                </a:r>
                <a:r>
                  <a:rPr lang="zh-CN" altLang="en-US">
                    <a:latin typeface="Cambria Math" panose="02040503050406030204" pitchFamily="18" charset="0"/>
                  </a:rPr>
                  <a:t>为负数，方便模型训练。更优化的方法在后面</a:t>
                </a:r>
                <a:r>
                  <a:rPr lang="en-US" altLang="zh-CN">
                    <a:latin typeface="Cambria Math" panose="02040503050406030204" pitchFamily="18" charset="0"/>
                  </a:rPr>
                  <a:t>actor-critic</a:t>
                </a:r>
                <a:r>
                  <a:rPr lang="zh-CN" altLang="en-US">
                    <a:latin typeface="Cambria Math" panose="02040503050406030204" pitchFamily="18" charset="0"/>
                  </a:rPr>
                  <a:t>中</a:t>
                </a:r>
                <a:endParaRPr lang="zh-CN" altLang="en-US">
                  <a:latin typeface="Cambria Math" panose="02040503050406030204" pitchFamily="18" charset="0"/>
                </a:endParaRPr>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zh-CN" altLang="en-US">
                    <a:latin typeface="Cambria Math" panose="02040503050406030204" pitchFamily="18" charset="0"/>
                  </a:rPr>
                  <a:t>同一个</a:t>
                </a:r>
                <a:r>
                  <a:rPr lang="en-US" altLang="zh-CN">
                    <a:latin typeface="Cambria Math" panose="02040503050406030204" pitchFamily="18" charset="0"/>
                  </a:rPr>
                  <a:t>action</a:t>
                </a:r>
                <a:r>
                  <a:rPr lang="zh-CN" altLang="en-US">
                    <a:latin typeface="Cambria Math" panose="02040503050406030204" pitchFamily="18" charset="0"/>
                  </a:rPr>
                  <a:t>由不同的</a:t>
                </a:r>
                <a:r>
                  <a:rPr lang="en-US" altLang="zh-CN">
                    <a:latin typeface="Cambria Math" panose="02040503050406030204" pitchFamily="18" charset="0"/>
                  </a:rPr>
                  <a:t>actor</a:t>
                </a:r>
                <a:r>
                  <a:rPr lang="zh-CN" altLang="en-US">
                    <a:latin typeface="Cambria Math" panose="02040503050406030204" pitchFamily="18" charset="0"/>
                  </a:rPr>
                  <a:t>做出得到的效果是不同的，所以不能用</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1</m:t>
                        </m:r>
                      </m:sup>
                    </m:sSup>
                    <m:r>
                      <a:rPr lang="zh-CN" altLang="en-US" b="0" i="1" smtClean="0">
                        <a:latin typeface="Cambria Math" panose="02040503050406030204" pitchFamily="18" charset="0"/>
                        <a:cs typeface="Cambria Math" panose="02040503050406030204" pitchFamily="18" charset="0"/>
                      </a:rPr>
                      <m:t>得到的</m:t>
                    </m:r>
                  </m:oMath>
                </a14:m>
                <a:r>
                  <a:rPr lang="zh-CN" altLang="en-US" smtClean="0">
                    <a:latin typeface="Cambria Math" panose="02040503050406030204" pitchFamily="18" charset="0"/>
                    <a:cs typeface="Cambria Math" panose="02040503050406030204" pitchFamily="18" charset="0"/>
                  </a:rPr>
                  <a:t>结果来评价</a:t>
                </a:r>
                <a14:m>
                  <m:oMath xmlns:m="http://schemas.openxmlformats.org/officeDocument/2006/math">
                    <m:sSup>
                      <m:sSupPr>
                        <m:ctrlPr>
                          <a:rPr lang="en-US" altLang="zh-TW" i="1" smtClean="0">
                            <a:latin typeface="Cambria Math" panose="02040503050406030204" pitchFamily="18" charset="0"/>
                          </a:rPr>
                        </m:ctrlPr>
                      </m:sSupPr>
                      <m:e>
                        <m:r>
                          <a:rPr lang="zh-TW" altLang="en-US" i="1" smtClean="0">
                            <a:latin typeface="Cambria Math" panose="02040503050406030204" pitchFamily="18" charset="0"/>
                          </a:rPr>
                          <m:t>𝜃</m:t>
                        </m:r>
                      </m:e>
                      <m:sup>
                        <m:r>
                          <a:rPr lang="en-US" altLang="zh-TW" b="0" i="1" smtClean="0">
                            <a:latin typeface="Cambria Math" panose="02040503050406030204" pitchFamily="18" charset="0"/>
                          </a:rPr>
                          <m:t>𝑖</m:t>
                        </m:r>
                      </m:sup>
                    </m:sSup>
                  </m:oMath>
                </a14:m>
                <a:r>
                  <a:rPr lang="zh-CN" altLang="en-US" smtClean="0">
                    <a:latin typeface="Cambria Math" panose="02040503050406030204" pitchFamily="18" charset="0"/>
                  </a:rPr>
                  <a:t>。所以收集数据的</a:t>
                </a:r>
                <a:r>
                  <a:rPr lang="en-US" altLang="zh-CN" smtClean="0">
                    <a:latin typeface="Cambria Math" panose="02040503050406030204" pitchFamily="18" charset="0"/>
                  </a:rPr>
                  <a:t>actor</a:t>
                </a:r>
                <a:r>
                  <a:rPr lang="zh-CN" altLang="en-US" smtClean="0">
                    <a:latin typeface="Cambria Math" panose="02040503050406030204" pitchFamily="18" charset="0"/>
                  </a:rPr>
                  <a:t>与被评价的</a:t>
                </a:r>
                <a:r>
                  <a:rPr lang="en-US" altLang="zh-CN" smtClean="0">
                    <a:latin typeface="Cambria Math" panose="02040503050406030204" pitchFamily="18" charset="0"/>
                  </a:rPr>
                  <a:t>actor</a:t>
                </a:r>
                <a:r>
                  <a:rPr lang="zh-CN" altLang="en-US" smtClean="0">
                    <a:latin typeface="Cambria Math" panose="02040503050406030204" pitchFamily="18" charset="0"/>
                  </a:rPr>
                  <a:t>最好是同一个。由于每次行动结束都要重新收集数据，下一页给的是</a:t>
                </a:r>
                <a:r>
                  <a:rPr lang="en-US" altLang="zh-CN" smtClean="0">
                    <a:latin typeface="Cambria Math" panose="02040503050406030204" pitchFamily="18" charset="0"/>
                  </a:rPr>
                  <a:t>on-policy</a:t>
                </a:r>
                <a:r>
                  <a:rPr lang="zh-CN" altLang="en-US" smtClean="0">
                    <a:latin typeface="Cambria Math" panose="02040503050406030204" pitchFamily="18" charset="0"/>
                  </a:rPr>
                  <a:t>与</a:t>
                </a:r>
                <a:r>
                  <a:rPr lang="en-US" altLang="zh-CN" smtClean="0">
                    <a:latin typeface="Cambria Math" panose="02040503050406030204" pitchFamily="18" charset="0"/>
                  </a:rPr>
                  <a:t>off-</a:t>
                </a:r>
                <a:r>
                  <a:rPr lang="en-US" altLang="zh-CN" smtClean="0">
                    <a:latin typeface="Cambria Math" panose="02040503050406030204" pitchFamily="18" charset="0"/>
                  </a:rPr>
                  <a:t>policy</a:t>
                </a:r>
                <a:endParaRPr lang="en-US" altLang="zh-CN" smtClean="0">
                  <a:latin typeface="Cambria Math" panose="02040503050406030204" pitchFamily="18" charset="0"/>
                </a:endParaRPr>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lgn="l"/>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A</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&gt;</m:t>
                      </m:r>
                      <m:r>
                        <a:rPr lang="en-US" altLang="zh-TW" b="0" i="1" smtClean="0">
                          <a:latin typeface="Cambria Math" panose="02040503050406030204" pitchFamily="18" charset="0"/>
                        </a:rPr>
                        <m:t>0</m:t>
                      </m:r>
                    </m:oMath>
                  </m:oMathPara>
                </a14:m>
                <a:endParaRPr lang="zh-TW" altLang="en-US" dirty="0"/>
              </a:p>
              <a:p>
                <a:pPr algn="l"/>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𝑡</m:t>
                        </m:r>
                      </m:sub>
                    </m:sSub>
                  </m:oMath>
                </a14:m>
                <a:r>
                  <a:rPr lang="zh-TW" altLang="en-US" dirty="0">
                    <a:sym typeface="+mn-ea"/>
                  </a:rPr>
                  <a:t> </a:t>
                </a:r>
                <a:r>
                  <a:rPr lang="en-US" altLang="zh-TW" dirty="0">
                    <a:sym typeface="+mn-ea"/>
                  </a:rPr>
                  <a:t>is better than average.</a:t>
                </a:r>
                <a:endParaRPr lang="en-US" altLang="zh-CN" smtClean="0">
                  <a:latin typeface="Cambria Math" panose="02040503050406030204" pitchFamily="18" charset="0"/>
                </a:endParaRPr>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mtClean="0">
                <a:latin typeface="Cambria Math" panose="02040503050406030204" pitchFamily="18" charset="0"/>
              </a:rPr>
              <a:t>一个简单例子，飞机正常着陆时</a:t>
            </a:r>
            <a:r>
              <a:rPr lang="en-US" altLang="zh-CN" smtClean="0">
                <a:latin typeface="Cambria Math" panose="02040503050406030204" pitchFamily="18" charset="0"/>
              </a:rPr>
              <a:t>reward</a:t>
            </a:r>
            <a:r>
              <a:rPr lang="zh-CN" altLang="en-US" smtClean="0">
                <a:latin typeface="Cambria Math" panose="02040503050406030204" pitchFamily="18" charset="0"/>
              </a:rPr>
              <a:t>为正，此视频为训练过程，下一页为训练</a:t>
            </a:r>
            <a:r>
              <a:rPr lang="zh-CN" altLang="en-US" smtClean="0">
                <a:latin typeface="Cambria Math" panose="02040503050406030204" pitchFamily="18" charset="0"/>
              </a:rPr>
              <a:t>结果</a:t>
            </a:r>
            <a:endParaRPr lang="zh-CN" altLang="en-US"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mtClean="0">
                <a:latin typeface="Cambria Math" panose="02040503050406030204" pitchFamily="18" charset="0"/>
              </a:rPr>
              <a:t>这个为训练结束时的</a:t>
            </a:r>
            <a:r>
              <a:rPr lang="zh-CN" altLang="en-US" smtClean="0">
                <a:latin typeface="Cambria Math" panose="02040503050406030204" pitchFamily="18" charset="0"/>
              </a:rPr>
              <a:t>样子</a:t>
            </a:r>
            <a:endParaRPr lang="zh-CN" altLang="en-US" smtClean="0">
              <a:latin typeface="Cambria Math" panose="020405030504060302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0" Type="http://schemas.openxmlformats.org/officeDocument/2006/relationships/notesSlide" Target="../notesSlides/notesSlide2.xml"/><Relationship Id="rId3" Type="http://schemas.openxmlformats.org/officeDocument/2006/relationships/tags" Target="../tags/tag2.xml"/><Relationship Id="rId29" Type="http://schemas.openxmlformats.org/officeDocument/2006/relationships/slideLayout" Target="../slideLayouts/slideLayout1.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5" Type="http://schemas.openxmlformats.org/officeDocument/2006/relationships/notesSlide" Target="../notesSlides/notesSlide6.xml"/><Relationship Id="rId14" Type="http://schemas.openxmlformats.org/officeDocument/2006/relationships/slideLayout" Target="../slideLayouts/slideLayout1.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5" Type="http://schemas.openxmlformats.org/officeDocument/2006/relationships/notesSlide" Target="../notesSlides/notesSlide17.xml"/><Relationship Id="rId14" Type="http://schemas.openxmlformats.org/officeDocument/2006/relationships/slideLayout" Target="../slideLayouts/slideLayout1.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35.png"/><Relationship Id="rId2" Type="http://schemas.microsoft.com/office/2007/relationships/media" Target="../media/media1.mp4"/><Relationship Id="rId1" Type="http://schemas.openxmlformats.org/officeDocument/2006/relationships/video" Target="../media/media1.mp4"/></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image" Target="../media/image36.png"/><Relationship Id="rId2" Type="http://schemas.microsoft.com/office/2007/relationships/media" Target="../media/media2.mp4"/><Relationship Id="rId1" Type="http://schemas.openxmlformats.org/officeDocument/2006/relationships/video" Target="../media/media2.mp4"/></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image" Target="../media/image38.png"/><Relationship Id="rId10" Type="http://schemas.openxmlformats.org/officeDocument/2006/relationships/notesSlide" Target="../notesSlides/notesSlide45.xml"/><Relationship Id="rId1"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5" name="Text 2"/>
          <p:cNvSpPr/>
          <p:nvPr/>
        </p:nvSpPr>
        <p:spPr>
          <a:xfrm>
            <a:off x="2080260" y="1444625"/>
            <a:ext cx="8327390" cy="378460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Reinforcement Learning: Fundamentals and Practices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
          <a:srcRect t="3326" b="11223"/>
          <a:stretch>
            <a:fillRect/>
          </a:stretch>
        </p:blipFill>
        <p:spPr>
          <a:xfrm>
            <a:off x="0" y="0"/>
            <a:ext cx="4874260" cy="6851015"/>
          </a:xfrm>
          <a:prstGeom prst="rect">
            <a:avLst/>
          </a:prstGeom>
        </p:spPr>
      </p:pic>
      <p:sp>
        <p:nvSpPr>
          <p:cNvPr id="3" name="Shape 0"/>
          <p:cNvSpPr/>
          <p:nvPr>
            <p:custDataLst>
              <p:tags r:id="rId2"/>
            </p:custDataLst>
          </p:nvPr>
        </p:nvSpPr>
        <p:spPr>
          <a:xfrm rot="5400000">
            <a:off x="5532120" y="2053189"/>
            <a:ext cx="293611" cy="293736"/>
          </a:xfrm>
          <a:prstGeom prst="triangle">
            <a:avLst/>
          </a:prstGeom>
          <a:solidFill>
            <a:srgbClr val="E0E9C9"/>
          </a:solidFill>
        </p:spPr>
      </p:sp>
      <p:sp>
        <p:nvSpPr>
          <p:cNvPr id="4" name="Text 1"/>
          <p:cNvSpPr/>
          <p:nvPr/>
        </p:nvSpPr>
        <p:spPr>
          <a:xfrm rot="5400000">
            <a:off x="5532120" y="205318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custDataLst>
              <p:tags r:id="rId3"/>
            </p:custDataLst>
          </p:nvPr>
        </p:nvSpPr>
        <p:spPr>
          <a:xfrm rot="5400000">
            <a:off x="5645047" y="2166164"/>
            <a:ext cx="293611" cy="293736"/>
          </a:xfrm>
          <a:prstGeom prst="triangle">
            <a:avLst/>
          </a:prstGeom>
          <a:solidFill>
            <a:srgbClr val="5E927D"/>
          </a:solidFill>
        </p:spPr>
      </p:sp>
      <p:sp>
        <p:nvSpPr>
          <p:cNvPr id="6" name="Text 3"/>
          <p:cNvSpPr/>
          <p:nvPr/>
        </p:nvSpPr>
        <p:spPr>
          <a:xfrm rot="5400000">
            <a:off x="5645047" y="216616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4"/>
            </p:custDataLst>
          </p:nvPr>
        </p:nvSpPr>
        <p:spPr>
          <a:xfrm>
            <a:off x="6018837" y="202438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5"/>
            </p:custDataLst>
          </p:nvPr>
        </p:nvSpPr>
        <p:spPr>
          <a:xfrm>
            <a:off x="6662522" y="2052059"/>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Introduction to Reinforcement Learning</a:t>
            </a:r>
            <a:endParaRPr lang="en-US" sz="1600" dirty="0"/>
          </a:p>
        </p:txBody>
      </p:sp>
      <p:sp>
        <p:nvSpPr>
          <p:cNvPr id="9" name="Shape 6"/>
          <p:cNvSpPr/>
          <p:nvPr>
            <p:custDataLst>
              <p:tags r:id="rId6"/>
            </p:custDataLst>
          </p:nvPr>
        </p:nvSpPr>
        <p:spPr>
          <a:xfrm rot="5400000">
            <a:off x="5532120" y="2749109"/>
            <a:ext cx="293611" cy="293331"/>
          </a:xfrm>
          <a:prstGeom prst="triangle">
            <a:avLst/>
          </a:prstGeom>
          <a:solidFill>
            <a:srgbClr val="E0E9C9"/>
          </a:solidFill>
        </p:spPr>
      </p:sp>
      <p:sp>
        <p:nvSpPr>
          <p:cNvPr id="10" name="Text 7"/>
          <p:cNvSpPr/>
          <p:nvPr/>
        </p:nvSpPr>
        <p:spPr>
          <a:xfrm rot="5400000">
            <a:off x="5532120" y="27491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custDataLst>
              <p:tags r:id="rId7"/>
            </p:custDataLst>
          </p:nvPr>
        </p:nvSpPr>
        <p:spPr>
          <a:xfrm rot="5400000">
            <a:off x="5645047" y="2861929"/>
            <a:ext cx="293611" cy="293331"/>
          </a:xfrm>
          <a:prstGeom prst="triangle">
            <a:avLst/>
          </a:prstGeom>
          <a:solidFill>
            <a:srgbClr val="5E927D"/>
          </a:solidFill>
        </p:spPr>
      </p:sp>
      <p:sp>
        <p:nvSpPr>
          <p:cNvPr id="12" name="Text 9"/>
          <p:cNvSpPr/>
          <p:nvPr/>
        </p:nvSpPr>
        <p:spPr>
          <a:xfrm rot="5400000">
            <a:off x="5645047" y="28619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8"/>
            </p:custDataLst>
          </p:nvPr>
        </p:nvSpPr>
        <p:spPr>
          <a:xfrm>
            <a:off x="6018837" y="27203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9"/>
            </p:custDataLst>
          </p:nvPr>
        </p:nvSpPr>
        <p:spPr>
          <a:xfrm>
            <a:off x="6662522" y="2747981"/>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Mathematical Foundations</a:t>
            </a:r>
            <a:endParaRPr lang="en-US" sz="1600" dirty="0"/>
          </a:p>
        </p:txBody>
      </p:sp>
      <p:sp>
        <p:nvSpPr>
          <p:cNvPr id="15" name="Shape 12"/>
          <p:cNvSpPr/>
          <p:nvPr>
            <p:custDataLst>
              <p:tags r:id="rId10"/>
            </p:custDataLst>
          </p:nvPr>
        </p:nvSpPr>
        <p:spPr>
          <a:xfrm rot="5400000">
            <a:off x="5532120" y="3444434"/>
            <a:ext cx="293611" cy="293331"/>
          </a:xfrm>
          <a:prstGeom prst="triangle">
            <a:avLst/>
          </a:prstGeom>
          <a:solidFill>
            <a:srgbClr val="E0E9C9"/>
          </a:solidFill>
        </p:spPr>
      </p:sp>
      <p:sp>
        <p:nvSpPr>
          <p:cNvPr id="16" name="Text 13"/>
          <p:cNvSpPr/>
          <p:nvPr/>
        </p:nvSpPr>
        <p:spPr>
          <a:xfrm rot="5400000">
            <a:off x="5532120" y="344443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custDataLst>
              <p:tags r:id="rId11"/>
            </p:custDataLst>
          </p:nvPr>
        </p:nvSpPr>
        <p:spPr>
          <a:xfrm rot="5400000">
            <a:off x="5645047" y="3557254"/>
            <a:ext cx="293611" cy="293331"/>
          </a:xfrm>
          <a:prstGeom prst="triangle">
            <a:avLst/>
          </a:prstGeom>
          <a:solidFill>
            <a:srgbClr val="5E927D"/>
          </a:solidFill>
        </p:spPr>
      </p:sp>
      <p:sp>
        <p:nvSpPr>
          <p:cNvPr id="18" name="Text 15"/>
          <p:cNvSpPr/>
          <p:nvPr/>
        </p:nvSpPr>
        <p:spPr>
          <a:xfrm rot="5400000">
            <a:off x="5645047" y="355725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custDataLst>
              <p:tags r:id="rId12"/>
            </p:custDataLst>
          </p:nvPr>
        </p:nvSpPr>
        <p:spPr>
          <a:xfrm>
            <a:off x="6018837" y="341566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0" name="Text 17"/>
          <p:cNvSpPr/>
          <p:nvPr>
            <p:custDataLst>
              <p:tags r:id="rId13"/>
            </p:custDataLst>
          </p:nvPr>
        </p:nvSpPr>
        <p:spPr>
          <a:xfrm>
            <a:off x="6662522" y="3443306"/>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Model-Free Reinforcement Learning</a:t>
            </a:r>
            <a:endParaRPr lang="en-US" sz="1600" dirty="0"/>
          </a:p>
        </p:txBody>
      </p:sp>
      <p:sp>
        <p:nvSpPr>
          <p:cNvPr id="21" name="Shape 18"/>
          <p:cNvSpPr/>
          <p:nvPr>
            <p:custDataLst>
              <p:tags r:id="rId14"/>
            </p:custDataLst>
          </p:nvPr>
        </p:nvSpPr>
        <p:spPr>
          <a:xfrm rot="5400000">
            <a:off x="5532120" y="4139759"/>
            <a:ext cx="293611" cy="293331"/>
          </a:xfrm>
          <a:prstGeom prst="triangle">
            <a:avLst/>
          </a:prstGeom>
          <a:solidFill>
            <a:srgbClr val="E0E9C9"/>
          </a:solidFill>
        </p:spPr>
      </p:sp>
      <p:sp>
        <p:nvSpPr>
          <p:cNvPr id="22" name="Text 19"/>
          <p:cNvSpPr/>
          <p:nvPr/>
        </p:nvSpPr>
        <p:spPr>
          <a:xfrm rot="5400000">
            <a:off x="5532120" y="413975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0"/>
          <p:cNvSpPr/>
          <p:nvPr>
            <p:custDataLst>
              <p:tags r:id="rId15"/>
            </p:custDataLst>
          </p:nvPr>
        </p:nvSpPr>
        <p:spPr>
          <a:xfrm rot="5400000">
            <a:off x="5645047" y="4252579"/>
            <a:ext cx="293611" cy="293331"/>
          </a:xfrm>
          <a:prstGeom prst="triangle">
            <a:avLst/>
          </a:prstGeom>
          <a:solidFill>
            <a:srgbClr val="5E927D"/>
          </a:solidFill>
        </p:spPr>
      </p:sp>
      <p:sp>
        <p:nvSpPr>
          <p:cNvPr id="24" name="Text 21"/>
          <p:cNvSpPr/>
          <p:nvPr/>
        </p:nvSpPr>
        <p:spPr>
          <a:xfrm rot="5400000">
            <a:off x="5645047" y="425257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Text 22"/>
          <p:cNvSpPr/>
          <p:nvPr>
            <p:custDataLst>
              <p:tags r:id="rId16"/>
            </p:custDataLst>
          </p:nvPr>
        </p:nvSpPr>
        <p:spPr>
          <a:xfrm>
            <a:off x="6018837" y="411099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04</a:t>
            </a:r>
            <a:endParaRPr lang="en-US" sz="1600" dirty="0"/>
          </a:p>
        </p:txBody>
      </p:sp>
      <p:sp>
        <p:nvSpPr>
          <p:cNvPr id="26" name="Text 23"/>
          <p:cNvSpPr/>
          <p:nvPr>
            <p:custDataLst>
              <p:tags r:id="rId17"/>
            </p:custDataLst>
          </p:nvPr>
        </p:nvSpPr>
        <p:spPr>
          <a:xfrm>
            <a:off x="6662522" y="4138631"/>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Deep Reinforcement Learning</a:t>
            </a:r>
            <a:endParaRPr lang="en-US" sz="1600" dirty="0"/>
          </a:p>
        </p:txBody>
      </p:sp>
      <p:sp>
        <p:nvSpPr>
          <p:cNvPr id="27" name="Shape 24"/>
          <p:cNvSpPr/>
          <p:nvPr>
            <p:custDataLst>
              <p:tags r:id="rId18"/>
            </p:custDataLst>
          </p:nvPr>
        </p:nvSpPr>
        <p:spPr>
          <a:xfrm rot="5400000">
            <a:off x="5532120" y="4835084"/>
            <a:ext cx="293611" cy="293331"/>
          </a:xfrm>
          <a:prstGeom prst="triangle">
            <a:avLst/>
          </a:prstGeom>
          <a:solidFill>
            <a:srgbClr val="E0E9C9"/>
          </a:solidFill>
        </p:spPr>
      </p:sp>
      <p:sp>
        <p:nvSpPr>
          <p:cNvPr id="28" name="Text 25"/>
          <p:cNvSpPr/>
          <p:nvPr/>
        </p:nvSpPr>
        <p:spPr>
          <a:xfrm rot="5400000">
            <a:off x="5532120" y="483508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6"/>
          <p:cNvSpPr/>
          <p:nvPr>
            <p:custDataLst>
              <p:tags r:id="rId19"/>
            </p:custDataLst>
          </p:nvPr>
        </p:nvSpPr>
        <p:spPr>
          <a:xfrm rot="5400000">
            <a:off x="5645047" y="4947904"/>
            <a:ext cx="293611" cy="293331"/>
          </a:xfrm>
          <a:prstGeom prst="triangle">
            <a:avLst/>
          </a:prstGeom>
          <a:solidFill>
            <a:srgbClr val="5E927D"/>
          </a:solidFill>
        </p:spPr>
      </p:sp>
      <p:sp>
        <p:nvSpPr>
          <p:cNvPr id="30" name="Text 27"/>
          <p:cNvSpPr/>
          <p:nvPr/>
        </p:nvSpPr>
        <p:spPr>
          <a:xfrm rot="5400000">
            <a:off x="5645047" y="494790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8"/>
          <p:cNvSpPr/>
          <p:nvPr>
            <p:custDataLst>
              <p:tags r:id="rId20"/>
            </p:custDataLst>
          </p:nvPr>
        </p:nvSpPr>
        <p:spPr>
          <a:xfrm>
            <a:off x="6018837" y="480631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05</a:t>
            </a:r>
            <a:endParaRPr lang="en-US" sz="1600" dirty="0"/>
          </a:p>
        </p:txBody>
      </p:sp>
      <p:sp>
        <p:nvSpPr>
          <p:cNvPr id="32" name="Text 29"/>
          <p:cNvSpPr/>
          <p:nvPr>
            <p:custDataLst>
              <p:tags r:id="rId21"/>
            </p:custDataLst>
          </p:nvPr>
        </p:nvSpPr>
        <p:spPr>
          <a:xfrm>
            <a:off x="6662522" y="5536901"/>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Practical Implementation and Case Studies</a:t>
            </a:r>
            <a:endParaRPr lang="en-US" sz="1600" dirty="0"/>
          </a:p>
        </p:txBody>
      </p:sp>
      <p:sp>
        <p:nvSpPr>
          <p:cNvPr id="33" name="Shape 30"/>
          <p:cNvSpPr/>
          <p:nvPr>
            <p:custDataLst>
              <p:tags r:id="rId22"/>
            </p:custDataLst>
          </p:nvPr>
        </p:nvSpPr>
        <p:spPr>
          <a:xfrm rot="5400000">
            <a:off x="5532120" y="5530409"/>
            <a:ext cx="293611" cy="293331"/>
          </a:xfrm>
          <a:prstGeom prst="triangle">
            <a:avLst/>
          </a:prstGeom>
          <a:solidFill>
            <a:srgbClr val="E0E9C9"/>
          </a:solidFill>
        </p:spPr>
      </p:sp>
      <p:sp>
        <p:nvSpPr>
          <p:cNvPr id="34" name="Text 31"/>
          <p:cNvSpPr/>
          <p:nvPr/>
        </p:nvSpPr>
        <p:spPr>
          <a:xfrm rot="5400000">
            <a:off x="5532120" y="55304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3"/>
          <p:cNvSpPr/>
          <p:nvPr/>
        </p:nvSpPr>
        <p:spPr>
          <a:xfrm rot="5400000">
            <a:off x="5532017" y="641729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Text 34"/>
          <p:cNvSpPr/>
          <p:nvPr>
            <p:custDataLst>
              <p:tags r:id="rId23"/>
            </p:custDataLst>
          </p:nvPr>
        </p:nvSpPr>
        <p:spPr>
          <a:xfrm>
            <a:off x="6018837" y="55016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06</a:t>
            </a:r>
            <a:endParaRPr lang="en-US" sz="1600" dirty="0"/>
          </a:p>
        </p:txBody>
      </p:sp>
      <p:sp>
        <p:nvSpPr>
          <p:cNvPr id="39" name="Text 36"/>
          <p:cNvSpPr/>
          <p:nvPr/>
        </p:nvSpPr>
        <p:spPr>
          <a:xfrm>
            <a:off x="5407025" y="458470"/>
            <a:ext cx="3513455" cy="1383665"/>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
        <p:nvSpPr>
          <p:cNvPr id="40" name="Text 33"/>
          <p:cNvSpPr/>
          <p:nvPr/>
        </p:nvSpPr>
        <p:spPr>
          <a:xfrm rot="5400000">
            <a:off x="5772047" y="5770229"/>
            <a:ext cx="293611" cy="293331"/>
          </a:xfrm>
          <a:prstGeom prst="rect">
            <a:avLst/>
          </a:prstGeom>
          <a:noFill/>
        </p:spPr>
        <p:txBody>
          <a:bodyPr wrap="square" lIns="45720" tIns="91440" rIns="91440" bIns="45720" rtlCol="0" anchor="ctr"/>
          <a:p>
            <a:pPr marL="0" indent="0">
              <a:lnSpc>
                <a:spcPct val="100000"/>
              </a:lnSpc>
              <a:buNone/>
            </a:pPr>
            <a:endParaRPr lang="en-US" sz="1600" dirty="0"/>
          </a:p>
        </p:txBody>
      </p:sp>
      <p:sp>
        <p:nvSpPr>
          <p:cNvPr id="41" name="Shape 32"/>
          <p:cNvSpPr/>
          <p:nvPr>
            <p:custDataLst>
              <p:tags r:id="rId24"/>
            </p:custDataLst>
          </p:nvPr>
        </p:nvSpPr>
        <p:spPr>
          <a:xfrm rot="5400000">
            <a:off x="5645047" y="5642594"/>
            <a:ext cx="293611" cy="293331"/>
          </a:xfrm>
          <a:prstGeom prst="triangle">
            <a:avLst/>
          </a:prstGeom>
          <a:solidFill>
            <a:srgbClr val="5E927D"/>
          </a:solidFill>
        </p:spPr>
      </p:sp>
      <p:sp>
        <p:nvSpPr>
          <p:cNvPr id="43" name="Shape 30"/>
          <p:cNvSpPr/>
          <p:nvPr>
            <p:custDataLst>
              <p:tags r:id="rId25"/>
            </p:custDataLst>
          </p:nvPr>
        </p:nvSpPr>
        <p:spPr>
          <a:xfrm rot="5400000">
            <a:off x="5532120" y="6183189"/>
            <a:ext cx="293611" cy="293331"/>
          </a:xfrm>
          <a:prstGeom prst="triangle">
            <a:avLst/>
          </a:prstGeom>
          <a:solidFill>
            <a:srgbClr val="E0E9C9"/>
          </a:solidFill>
        </p:spPr>
      </p:sp>
      <p:sp>
        <p:nvSpPr>
          <p:cNvPr id="44" name="Text 31"/>
          <p:cNvSpPr/>
          <p:nvPr/>
        </p:nvSpPr>
        <p:spPr>
          <a:xfrm rot="5400000">
            <a:off x="5532120" y="6183189"/>
            <a:ext cx="293611" cy="293331"/>
          </a:xfrm>
          <a:prstGeom prst="rect">
            <a:avLst/>
          </a:prstGeom>
          <a:noFill/>
        </p:spPr>
        <p:txBody>
          <a:bodyPr wrap="square" lIns="45720" tIns="91440" rIns="91440" bIns="45720" rtlCol="0" anchor="ctr"/>
          <a:p>
            <a:pPr marL="0" indent="0">
              <a:lnSpc>
                <a:spcPct val="100000"/>
              </a:lnSpc>
              <a:buNone/>
            </a:pPr>
            <a:endParaRPr lang="en-US" sz="1600" dirty="0"/>
          </a:p>
        </p:txBody>
      </p:sp>
      <p:sp>
        <p:nvSpPr>
          <p:cNvPr id="45" name="Shape 32"/>
          <p:cNvSpPr/>
          <p:nvPr>
            <p:custDataLst>
              <p:tags r:id="rId26"/>
            </p:custDataLst>
          </p:nvPr>
        </p:nvSpPr>
        <p:spPr>
          <a:xfrm rot="5400000">
            <a:off x="5645047" y="6295374"/>
            <a:ext cx="293611" cy="293331"/>
          </a:xfrm>
          <a:prstGeom prst="triangle">
            <a:avLst/>
          </a:prstGeom>
          <a:solidFill>
            <a:srgbClr val="5E927D"/>
          </a:solidFill>
        </p:spPr>
      </p:sp>
      <p:sp>
        <p:nvSpPr>
          <p:cNvPr id="46" name="Text 34"/>
          <p:cNvSpPr/>
          <p:nvPr>
            <p:custDataLst>
              <p:tags r:id="rId27"/>
            </p:custDataLst>
          </p:nvPr>
        </p:nvSpPr>
        <p:spPr>
          <a:xfrm>
            <a:off x="6019472" y="6182995"/>
            <a:ext cx="686598" cy="460375"/>
          </a:xfrm>
          <a:prstGeom prst="rect">
            <a:avLst/>
          </a:prstGeom>
          <a:noFill/>
        </p:spPr>
        <p:txBody>
          <a:bodyPr wrap="square" lIns="91440" tIns="45720" rIns="91440" bIns="45720" rtlCol="0" anchor="t">
            <a:spAutoFit/>
          </a:bodyPr>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07</a:t>
            </a:r>
            <a:endParaRPr lang="en-US" sz="1600" dirty="0"/>
          </a:p>
        </p:txBody>
      </p:sp>
      <p:sp>
        <p:nvSpPr>
          <p:cNvPr id="47" name="Text 35"/>
          <p:cNvSpPr/>
          <p:nvPr>
            <p:custDataLst>
              <p:tags r:id="rId28"/>
            </p:custDataLst>
          </p:nvPr>
        </p:nvSpPr>
        <p:spPr>
          <a:xfrm>
            <a:off x="6706337" y="6259531"/>
            <a:ext cx="4469663" cy="306784"/>
          </a:xfrm>
          <a:prstGeom prst="rect">
            <a:avLst/>
          </a:prstGeom>
          <a:noFill/>
        </p:spPr>
        <p:txBody>
          <a:bodyPr wrap="square" lIns="91440" tIns="45720" rIns="91440" bIns="45720" rtlCol="0" anchor="t">
            <a:spAutoFit/>
          </a:bodyPr>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Conclusion and Future Work</a:t>
            </a:r>
            <a:endParaRPr lang="en-US" sz="1600" dirty="0"/>
          </a:p>
        </p:txBody>
      </p:sp>
      <p:sp>
        <p:nvSpPr>
          <p:cNvPr id="48" name="文本框 47"/>
          <p:cNvSpPr txBox="1"/>
          <p:nvPr/>
        </p:nvSpPr>
        <p:spPr>
          <a:xfrm>
            <a:off x="6706235" y="4806315"/>
            <a:ext cx="4406900" cy="417830"/>
          </a:xfrm>
          <a:prstGeom prst="rect">
            <a:avLst/>
          </a:prstGeom>
          <a:noFill/>
        </p:spPr>
        <p:txBody>
          <a:bodyPr wrap="square" rtlCol="0" anchor="t">
            <a:noAutofit/>
          </a:bodyPr>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sym typeface="+mn-ea"/>
              </a:rPr>
              <a:t>How to train your reinforcement learning model</a:t>
            </a:r>
            <a:endParaRPr lang="en-US" sz="2000" dirty="0">
              <a:solidFill>
                <a:srgbClr val="000000"/>
              </a:solidFill>
              <a:latin typeface="MiSans" pitchFamily="34" charset="-122"/>
              <a:ea typeface="MiSans" pitchFamily="34" charset="-122"/>
              <a:cs typeface="MiSans" pitchFamily="34" charset="-12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Introduction to Reinforcement Learning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Basic Concepts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949825" y="3375660"/>
            <a:ext cx="3296920" cy="286956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88655" y="3249295"/>
            <a:ext cx="3497580" cy="334391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5262880" y="117157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Definition of Reinforcement Learning</a:t>
            </a:r>
            <a:endParaRPr lang="en-US" sz="1600" dirty="0"/>
          </a:p>
        </p:txBody>
      </p:sp>
      <p:sp>
        <p:nvSpPr>
          <p:cNvPr id="21" name="Text 18"/>
          <p:cNvSpPr/>
          <p:nvPr/>
        </p:nvSpPr>
        <p:spPr>
          <a:xfrm>
            <a:off x="4802505" y="1946275"/>
            <a:ext cx="664781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is a type of machine learning where an agent learns to make decisions by taking actions in an environment to maximize some notion of cumulative reward. It differs from supervised learning as it does not require labeled data and from unsupervised learning as it has clear goals and feedback mechanisms.</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Key Elements: Agent, Environment, and Reward</a:t>
            </a:r>
            <a:endParaRPr lang="en-US" sz="1600" dirty="0"/>
          </a:p>
        </p:txBody>
      </p:sp>
      <p:sp>
        <p:nvSpPr>
          <p:cNvPr id="24" name="Text 21"/>
          <p:cNvSpPr/>
          <p:nvPr/>
        </p:nvSpPr>
        <p:spPr>
          <a:xfrm>
            <a:off x="8337550" y="341947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Applications of Reinforcement Learning</a:t>
            </a:r>
            <a:endParaRPr lang="en-US" sz="1600" dirty="0"/>
          </a:p>
        </p:txBody>
      </p:sp>
      <p:sp>
        <p:nvSpPr>
          <p:cNvPr id="25" name="Text 22"/>
          <p:cNvSpPr/>
          <p:nvPr/>
        </p:nvSpPr>
        <p:spPr>
          <a:xfrm>
            <a:off x="5097145" y="3874135"/>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In reinforcement learning, the agent is the decision-maker or learner. The environment is everything that the agent interacts with. The reward signal is the feedback from the environment that guides the agent's actions. The agent's goal is to maximize the cumulative reward over time.</a:t>
            </a:r>
            <a:endParaRPr lang="en-US" sz="1600" dirty="0"/>
          </a:p>
        </p:txBody>
      </p:sp>
      <p:sp>
        <p:nvSpPr>
          <p:cNvPr id="26" name="Text 23"/>
          <p:cNvSpPr/>
          <p:nvPr/>
        </p:nvSpPr>
        <p:spPr>
          <a:xfrm>
            <a:off x="8580755" y="3874135"/>
            <a:ext cx="2872740" cy="2829719"/>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Reinforcement learning has a wide range of applications, including robotics for tasks like navigation and manipulation, gaming to develop intelligent game-playing agents, and recommendation systems to personalize content for users. It is also used in finance for portfolio management and in healthcare for treatment planning.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Example</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8" name="图片 97"/>
          <p:cNvPicPr>
            <a:picLocks noChangeAspect="1"/>
          </p:cNvPicPr>
          <p:nvPr/>
        </p:nvPicPr>
        <p:blipFill>
          <a:blip r:embed="rId1"/>
          <a:stretch>
            <a:fillRect/>
          </a:stretch>
        </p:blipFill>
        <p:spPr>
          <a:xfrm>
            <a:off x="1704975" y="1080135"/>
            <a:ext cx="9380855" cy="5337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Historical Development</a:t>
            </a:r>
            <a:endParaRPr lang="en-US" sz="1600" dirty="0"/>
          </a:p>
        </p:txBody>
      </p:sp>
      <p:sp>
        <p:nvSpPr>
          <p:cNvPr id="12" name="Shape 9"/>
          <p:cNvSpPr/>
          <p:nvPr>
            <p:custDataLst>
              <p:tags r:id="rId2"/>
            </p:custDataLst>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custDataLst>
              <p:tags r:id="rId5"/>
            </p:custDataLst>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custDataLst>
              <p:tags r:id="rId6"/>
            </p:custDataLst>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custDataLst>
              <p:tags r:id="rId7"/>
            </p:custDataLst>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custDataLst>
              <p:tags r:id="rId8"/>
            </p:custDataLst>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Early Beginnings and Theoretical Foundations</a:t>
            </a:r>
            <a:endParaRPr lang="en-US" sz="1600" dirty="0"/>
          </a:p>
        </p:txBody>
      </p:sp>
      <p:sp>
        <p:nvSpPr>
          <p:cNvPr id="22" name="Text 19"/>
          <p:cNvSpPr/>
          <p:nvPr>
            <p:custDataLst>
              <p:tags r:id="rId9"/>
            </p:custDataLst>
          </p:nvPr>
        </p:nvSpPr>
        <p:spPr>
          <a:xfrm>
            <a:off x="4210685" y="1703070"/>
            <a:ext cx="68389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concept of reinforcement learning has its roots in psychology and early work on learning automata. The theoretical foundations were laid with the development of Markov decision processes and dynamic programming techniques, which provided a mathematical framework for sequential decision-making under uncertainty.</a:t>
            </a:r>
            <a:endParaRPr lang="en-US" sz="1600" dirty="0"/>
          </a:p>
        </p:txBody>
      </p:sp>
      <p:sp>
        <p:nvSpPr>
          <p:cNvPr id="23" name="Text 20"/>
          <p:cNvSpPr/>
          <p:nvPr>
            <p:custDataLst>
              <p:tags r:id="rId10"/>
            </p:custDataLst>
          </p:nvPr>
        </p:nvSpPr>
        <p:spPr>
          <a:xfrm>
            <a:off x="4027805" y="5383530"/>
            <a:ext cx="683958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Current trends in reinforcement learning include the integration with other AI techniques like transfer learning and multi-agent systems. There is also a focus on improving the sample efficiency of reinforcement learning algorithms. Future directions may involve more complex environments, real-time decision-making, and ethical considerations in the deployment of reinforcement learning systems.</a:t>
            </a:r>
            <a:endParaRPr lang="en-US" sz="1600" dirty="0"/>
          </a:p>
        </p:txBody>
      </p:sp>
      <p:sp>
        <p:nvSpPr>
          <p:cNvPr id="24" name="Text 21"/>
          <p:cNvSpPr/>
          <p:nvPr>
            <p:custDataLst>
              <p:tags r:id="rId11"/>
            </p:custDataLst>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Current Trends and Future Directions</a:t>
            </a:r>
            <a:endParaRPr lang="en-US" sz="1600" dirty="0"/>
          </a:p>
        </p:txBody>
      </p:sp>
      <p:sp>
        <p:nvSpPr>
          <p:cNvPr id="25" name="Text 22"/>
          <p:cNvSpPr/>
          <p:nvPr>
            <p:custDataLst>
              <p:tags r:id="rId12"/>
            </p:custDataLst>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Key Milestones and Breakthroughs</a:t>
            </a:r>
            <a:endParaRPr lang="en-US" sz="1600" dirty="0"/>
          </a:p>
        </p:txBody>
      </p:sp>
      <p:sp>
        <p:nvSpPr>
          <p:cNvPr id="26" name="Text 23"/>
          <p:cNvSpPr/>
          <p:nvPr>
            <p:custDataLst>
              <p:tags r:id="rId13"/>
            </p:custDataLst>
          </p:nvPr>
        </p:nvSpPr>
        <p:spPr>
          <a:xfrm>
            <a:off x="4806950" y="3660140"/>
            <a:ext cx="68389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Key milestones include the development of the Q-learning algorithm, which is a model-free reinforcement learning method that can learn optimal policies without a model of the environment. Another breakthrough was the use of deep learning techniques in reinforcement learning, leading to the development of deep Q-networks and significant advancements in the field.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02</a:t>
            </a:r>
            <a:endParaRPr lang="en-US" sz="1600" dirty="0"/>
          </a:p>
        </p:txBody>
      </p:sp>
      <p:sp>
        <p:nvSpPr>
          <p:cNvPr id="7" name="Text 3"/>
          <p:cNvSpPr/>
          <p:nvPr/>
        </p:nvSpPr>
        <p:spPr>
          <a:xfrm>
            <a:off x="5979795" y="3223895"/>
            <a:ext cx="4779645" cy="14370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Mathematical Foundations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Markov Decision Processes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Components of MDP</a:t>
            </a:r>
            <a:endParaRPr lang="en-US" sz="1600" dirty="0"/>
          </a:p>
        </p:txBody>
      </p:sp>
      <p:sp>
        <p:nvSpPr>
          <p:cNvPr id="34" name="Text 32"/>
          <p:cNvSpPr/>
          <p:nvPr/>
        </p:nvSpPr>
        <p:spPr>
          <a:xfrm>
            <a:off x="1515110" y="239966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 Markov decision process consists of states, actions, transition probabilities, and rewards. States represent the current situation of the agent, actions are the possible decisions the agent can make, transition probabilities describe the likelihood of moving from one state to another given an action, and rewards provide feedback on the quality of the action.</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Bellman Equations</a:t>
            </a:r>
            <a:endParaRPr lang="en-US" sz="1600" dirty="0"/>
          </a:p>
        </p:txBody>
      </p:sp>
      <p:sp>
        <p:nvSpPr>
          <p:cNvPr id="52" name="Text 50"/>
          <p:cNvSpPr/>
          <p:nvPr/>
        </p:nvSpPr>
        <p:spPr>
          <a:xfrm>
            <a:off x="4747260" y="2372995"/>
            <a:ext cx="2301875" cy="279527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Bellman equations are fundamental to reinforcement learning. They provide a recursive relationship between the value of a state and the values of subsequent states. The Bellman expectation equation expresses the value of a state in terms of the expected values of the next state and reward, while the Bellman optimality equation expresses the optimal value function in terms of the maximum expected value of the next state and reward.</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Value Functions and Policies</a:t>
            </a:r>
            <a:endParaRPr lang="en-US" sz="1600" dirty="0"/>
          </a:p>
        </p:txBody>
      </p:sp>
      <p:sp>
        <p:nvSpPr>
          <p:cNvPr id="70" name="Text 68"/>
          <p:cNvSpPr/>
          <p:nvPr/>
        </p:nvSpPr>
        <p:spPr>
          <a:xfrm>
            <a:off x="8064500" y="2333625"/>
            <a:ext cx="2301875" cy="279527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Value functions estimate the long-term reward that can be expected for each state or state-action pair. Policies define the mapping from states to actions and determine the agent's behavior. The goal of reinforcement learning is to find the optimal policy that maximizes the expected cumulative reward.</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Dynamic Programming</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Policy Iteration</a:t>
            </a:r>
            <a:endParaRPr lang="en-US" sz="1600" dirty="0"/>
          </a:p>
        </p:txBody>
      </p:sp>
      <p:sp>
        <p:nvSpPr>
          <p:cNvPr id="31" name="Text 28"/>
          <p:cNvSpPr/>
          <p:nvPr/>
        </p:nvSpPr>
        <p:spPr>
          <a:xfrm>
            <a:off x="1376045" y="4379595"/>
            <a:ext cx="2872740" cy="223647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Policy iteration is a dynamic programming algorithm that alternates between policy evaluation and policy improvement. Policy evaluation computes the value function for a given policy, while policy improvement updates the policy based on the value function. This process continues until the policy converges to the optimal policy.</a:t>
            </a:r>
            <a:endParaRPr lang="en-US" sz="1600" dirty="0"/>
          </a:p>
        </p:txBody>
      </p:sp>
      <p:sp>
        <p:nvSpPr>
          <p:cNvPr id="32" name="Text 29"/>
          <p:cNvSpPr/>
          <p:nvPr/>
        </p:nvSpPr>
        <p:spPr>
          <a:xfrm>
            <a:off x="4708525" y="4036695"/>
            <a:ext cx="3100705"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Value Iteration</a:t>
            </a:r>
            <a:endParaRPr lang="en-US" sz="1600" dirty="0"/>
          </a:p>
        </p:txBody>
      </p:sp>
      <p:sp>
        <p:nvSpPr>
          <p:cNvPr id="33" name="Text 30"/>
          <p:cNvSpPr/>
          <p:nvPr/>
        </p:nvSpPr>
        <p:spPr>
          <a:xfrm>
            <a:off x="4708525" y="4379595"/>
            <a:ext cx="2872740" cy="223647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Value iteration is another dynamic programming algorithm that iteratively updates the value function until it converges to the optimal value function. Once the optimal value function is obtained, the optimal policy can be derived by selecting the action that maximizes the expected value for each state. Value iteration is more efficient than policy iteration in some cases.</a:t>
            </a:r>
            <a:endParaRPr lang="en-US" sz="1600" dirty="0"/>
          </a:p>
        </p:txBody>
      </p:sp>
      <p:sp>
        <p:nvSpPr>
          <p:cNvPr id="34" name="Text 31"/>
          <p:cNvSpPr/>
          <p:nvPr/>
        </p:nvSpPr>
        <p:spPr>
          <a:xfrm>
            <a:off x="8229600" y="4147820"/>
            <a:ext cx="3100705"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Limitations of Dynamic Programming</a:t>
            </a:r>
            <a:endParaRPr lang="en-US" sz="1600" dirty="0"/>
          </a:p>
        </p:txBody>
      </p:sp>
      <p:sp>
        <p:nvSpPr>
          <p:cNvPr id="35" name="Text 32"/>
          <p:cNvSpPr/>
          <p:nvPr/>
        </p:nvSpPr>
        <p:spPr>
          <a:xfrm>
            <a:off x="8229600" y="4379595"/>
            <a:ext cx="2872740" cy="223647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Dynamic programming methods have limitations, such as the curse of dimensionality, which makes them impractical for large state spaces. They also require a complete model of the environment, which may not always be available. These limitations have led to the development of model-free reinforcement learning methods.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7" name="Text 3"/>
          <p:cNvSpPr/>
          <p:nvPr/>
        </p:nvSpPr>
        <p:spPr>
          <a:xfrm>
            <a:off x="5979795" y="3223895"/>
            <a:ext cx="4779645" cy="144526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Model-Free Reinforcement Learning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Monte Carlo Methods</a:t>
            </a:r>
            <a:endParaRPr lang="en-US" sz="1600" dirty="0"/>
          </a:p>
        </p:txBody>
      </p:sp>
      <p:sp>
        <p:nvSpPr>
          <p:cNvPr id="9" name="Shape 7"/>
          <p:cNvSpPr/>
          <p:nvPr/>
        </p:nvSpPr>
        <p:spPr>
          <a:xfrm>
            <a:off x="895350" y="1499870"/>
            <a:ext cx="3107690" cy="5089525"/>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78998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Monte Carlo methods estimate the value function by averaging the returns obtained from complete episodes. They are model-free and can handle large state spaces, but they require complete episodes to update the value function, which can be inefficient in some cases.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Basic Principles</a:t>
            </a:r>
            <a:endParaRPr lang="en-US" sz="1600" dirty="0"/>
          </a:p>
        </p:txBody>
      </p:sp>
      <p:sp>
        <p:nvSpPr>
          <p:cNvPr id="14" name="Shape 11"/>
          <p:cNvSpPr/>
          <p:nvPr/>
        </p:nvSpPr>
        <p:spPr>
          <a:xfrm>
            <a:off x="4328795" y="1149350"/>
            <a:ext cx="3625850" cy="5597525"/>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5878"/>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On-policy Monte Carlo methods learn the value function for the current policy, while off-policy methods learn the value function for a different target policy. Off-policy learning allows the agent to learn from data generated by a different behavior policy, which can be more efficient and flexible.</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On-Policy vs. Off-Policy Learning</a:t>
            </a:r>
            <a:endParaRPr lang="en-US" sz="1600" dirty="0"/>
          </a:p>
        </p:txBody>
      </p:sp>
      <p:sp>
        <p:nvSpPr>
          <p:cNvPr id="19" name="Shape 15"/>
          <p:cNvSpPr/>
          <p:nvPr/>
        </p:nvSpPr>
        <p:spPr>
          <a:xfrm>
            <a:off x="8276590" y="1499870"/>
            <a:ext cx="3109595" cy="5064760"/>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300720" y="1499870"/>
            <a:ext cx="3107690" cy="509460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78998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The advantages of Monte Carlo methods include their simplicity and the ability to handle large state spaces. However, they have some disadvantages, such as high variance in the estimates and the need for complete episodes, which can make them slow to converge.</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Advantages and Disadvantages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Temporal-Difference Learning</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477260"/>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TD(λ) is an extension of temporal-difference learning that uses eligibility traces to combine the benefits of one-step and multi-step updates. Eligibility traces keep track of the states and actions that are eligible for updates based on their recency and importance, allowing the agent to learn more efficiently and effectively.</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TD Learning Basics</a:t>
            </a:r>
            <a:endParaRPr lang="en-US" sz="1600" dirty="0"/>
          </a:p>
        </p:txBody>
      </p:sp>
      <p:sp>
        <p:nvSpPr>
          <p:cNvPr id="21" name="Text 19"/>
          <p:cNvSpPr/>
          <p:nvPr/>
        </p:nvSpPr>
        <p:spPr>
          <a:xfrm>
            <a:off x="929005" y="184848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Temporal-difference learning is a model-free reinforcement learning method that updates the value function based on the difference between estimated and actual values. It combines ideas from Monte Carlo methods and dynamic programming, allowing the agent to learn from incomplete episodes and update the value function incrementally.</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TD(λ) and Eligibility Traces</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Comparison with Monte Carlo Methods</a:t>
            </a:r>
            <a:endParaRPr lang="en-US" sz="1600" dirty="0"/>
          </a:p>
        </p:txBody>
      </p:sp>
      <p:sp>
        <p:nvSpPr>
          <p:cNvPr id="24" name="Text 22"/>
          <p:cNvSpPr/>
          <p:nvPr/>
        </p:nvSpPr>
        <p:spPr>
          <a:xfrm>
            <a:off x="929005" y="5275580"/>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Compared to Monte Carlo methods, temporal-difference learning has the advantage of being able to learn from incomplete episodes, which makes it more efficient in many cases. However, it may have higher bias in the estimates, especially for small values of the learning rate.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Q-Learning and SARSA</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85870" y="1413510"/>
            <a:ext cx="8041640" cy="487172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8717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933825" y="3180715"/>
            <a:ext cx="7560310" cy="0"/>
          </a:xfrm>
          <a:prstGeom prst="line">
            <a:avLst/>
          </a:prstGeom>
          <a:noFill/>
          <a:ln w="12700">
            <a:solidFill>
              <a:srgbClr val="9FB26A"/>
            </a:solidFill>
            <a:prstDash val="dash"/>
            <a:headEnd type="none"/>
            <a:tailEnd type="none"/>
          </a:ln>
        </p:spPr>
      </p:sp>
      <p:sp>
        <p:nvSpPr>
          <p:cNvPr id="17" name="Shape 14"/>
          <p:cNvSpPr/>
          <p:nvPr/>
        </p:nvSpPr>
        <p:spPr>
          <a:xfrm>
            <a:off x="4038600" y="4664075"/>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Q-Learning Algorithm</a:t>
            </a:r>
            <a:endParaRPr lang="en-US" sz="1600" dirty="0"/>
          </a:p>
        </p:txBody>
      </p:sp>
      <p:sp>
        <p:nvSpPr>
          <p:cNvPr id="19" name="Text 16"/>
          <p:cNvSpPr/>
          <p:nvPr/>
        </p:nvSpPr>
        <p:spPr>
          <a:xfrm>
            <a:off x="4039870" y="195834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Q-learning is a model-free, off-policy reinforcement learning algorithm that learns the optimal action-value function. It updates the Q-values based on the maximum Q-value of the next state, allowing the agent to learn the optimal policy without following it. Q-learning is widely used due to its simplicity and effectiveness.</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SARSA Algorithm</a:t>
            </a:r>
            <a:endParaRPr lang="en-US" sz="1600" dirty="0"/>
          </a:p>
        </p:txBody>
      </p:sp>
      <p:sp>
        <p:nvSpPr>
          <p:cNvPr id="21" name="Text 18"/>
          <p:cNvSpPr/>
          <p:nvPr/>
        </p:nvSpPr>
        <p:spPr>
          <a:xfrm>
            <a:off x="3982720" y="3448685"/>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SARSA is an on-policy reinforcement learning algorithm that learns the action-value function for the current policy. It updates the Q-values based on the actual action taken in the next state, which makes it more conservative than Q-learning. SARSA is useful for learning policies that are more robust to exploration.</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Differences and Use Cases</a:t>
            </a:r>
            <a:endParaRPr lang="en-US" sz="1600" dirty="0"/>
          </a:p>
        </p:txBody>
      </p:sp>
      <p:sp>
        <p:nvSpPr>
          <p:cNvPr id="23" name="Text 20"/>
          <p:cNvSpPr/>
          <p:nvPr/>
        </p:nvSpPr>
        <p:spPr>
          <a:xfrm>
            <a:off x="4067175" y="4846320"/>
            <a:ext cx="761619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main difference between Q-learning and SARSA is their exploration strategies. Q-learning is more exploratory and can find the optimal policy more quickly, while SARSA is more conservative and can handle noisy environments better. The choice between them depends on the specific problem and the desired trade-off between exploration and exploitation.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04</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Deep Reinforcement Learning</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 Q-Networks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27270" y="359346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5048250" y="380936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593465"/>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Architecture and Training</a:t>
            </a:r>
            <a:endParaRPr lang="en-US" sz="1600" dirty="0"/>
          </a:p>
        </p:txBody>
      </p:sp>
      <p:sp>
        <p:nvSpPr>
          <p:cNvPr id="21" name="Text 18"/>
          <p:cNvSpPr/>
          <p:nvPr/>
        </p:nvSpPr>
        <p:spPr>
          <a:xfrm>
            <a:off x="4802505" y="1946275"/>
            <a:ext cx="6647815" cy="1715294"/>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Deep Q-networks (DQN) combine deep neural networks with Q-learning to handle high-dimensional state spaces. The architecture typically consists of convolutional layers for image inputs and fully connected layers for processing the features. Training involves using experience replay to break the correlation between consecutive samples and a target network to stabilize the training process.</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661410"/>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Improvements and Variants</a:t>
            </a:r>
            <a:endParaRPr lang="en-US" sz="1600" dirty="0"/>
          </a:p>
        </p:txBody>
      </p:sp>
      <p:sp>
        <p:nvSpPr>
          <p:cNvPr id="24" name="Text 21"/>
          <p:cNvSpPr/>
          <p:nvPr/>
        </p:nvSpPr>
        <p:spPr>
          <a:xfrm>
            <a:off x="8416290" y="366458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Applications and Limitations</a:t>
            </a:r>
            <a:endParaRPr lang="en-US" sz="1600" dirty="0"/>
          </a:p>
        </p:txBody>
      </p:sp>
      <p:sp>
        <p:nvSpPr>
          <p:cNvPr id="25" name="Text 22"/>
          <p:cNvSpPr/>
          <p:nvPr/>
        </p:nvSpPr>
        <p:spPr>
          <a:xfrm>
            <a:off x="5048250" y="3828415"/>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Several improvements and variants of DQN have been proposed to address its limitations. These include double DQN, which reduces overestimation of Q-values, and dueling DQN, which separates the estimation of state value and advantage function. These improvements have led to better performance and stability in various tasks.</a:t>
            </a:r>
            <a:endParaRPr lang="en-US" sz="1600" dirty="0"/>
          </a:p>
        </p:txBody>
      </p:sp>
      <p:sp>
        <p:nvSpPr>
          <p:cNvPr id="26" name="Text 23"/>
          <p:cNvSpPr/>
          <p:nvPr/>
        </p:nvSpPr>
        <p:spPr>
          <a:xfrm>
            <a:off x="8418195" y="3954780"/>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DQN has been successfully applied to a wide range of tasks, such as playing Atari games and robotic control. However, it has some limitations, such as high sample complexity and difficulty in handling continuous action spaces. These limitations have motivated the development of other deep reinforcement learning methods.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 Q-Networks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5048250" y="380936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pic>
        <p:nvPicPr>
          <p:cNvPr id="27" name="图片 26"/>
          <p:cNvPicPr>
            <a:picLocks noChangeAspect="1"/>
          </p:cNvPicPr>
          <p:nvPr/>
        </p:nvPicPr>
        <p:blipFill>
          <a:blip r:embed="rId2"/>
          <a:stretch>
            <a:fillRect/>
          </a:stretch>
        </p:blipFill>
        <p:spPr>
          <a:xfrm>
            <a:off x="5253990" y="913765"/>
            <a:ext cx="5857240" cy="57016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Policy Gradient Methods</a:t>
            </a:r>
            <a:endParaRPr lang="en-US" sz="1600" dirty="0"/>
          </a:p>
        </p:txBody>
      </p:sp>
      <p:sp>
        <p:nvSpPr>
          <p:cNvPr id="12" name="Shape 9"/>
          <p:cNvSpPr/>
          <p:nvPr>
            <p:custDataLst>
              <p:tags r:id="rId2"/>
            </p:custDataLst>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custDataLst>
              <p:tags r:id="rId5"/>
            </p:custDataLst>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custDataLst>
              <p:tags r:id="rId6"/>
            </p:custDataLst>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custDataLst>
              <p:tags r:id="rId7"/>
            </p:custDataLst>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custDataLst>
              <p:tags r:id="rId8"/>
            </p:custDataLst>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Basic Policy Gradient</a:t>
            </a:r>
            <a:endParaRPr lang="en-US" sz="1600" dirty="0"/>
          </a:p>
        </p:txBody>
      </p:sp>
      <p:sp>
        <p:nvSpPr>
          <p:cNvPr id="22" name="Text 19"/>
          <p:cNvSpPr/>
          <p:nvPr>
            <p:custDataLst>
              <p:tags r:id="rId9"/>
            </p:custDataLst>
          </p:nvPr>
        </p:nvSpPr>
        <p:spPr>
          <a:xfrm>
            <a:off x="4210685" y="1703070"/>
            <a:ext cx="68389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Policy gradient methods directly optimize the policy by updating the parameters in the direction of the gradient of the expected cumulative reward. The basic policy gradient algorithm uses the likelihood ratio method to estimate the gradient, allowing the agent to learn the optimal policy without estimating the value function.</a:t>
            </a:r>
            <a:endParaRPr lang="en-US" sz="1600" dirty="0"/>
          </a:p>
        </p:txBody>
      </p:sp>
      <p:sp>
        <p:nvSpPr>
          <p:cNvPr id="23" name="Text 20"/>
          <p:cNvSpPr/>
          <p:nvPr>
            <p:custDataLst>
              <p:tags r:id="rId10"/>
            </p:custDataLst>
          </p:nvPr>
        </p:nvSpPr>
        <p:spPr>
          <a:xfrm>
            <a:off x="4071620" y="5427980"/>
            <a:ext cx="683958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Proximal policy optimization (PPO) is a popular policy gradient method that addresses the issue of large policy updates leading to instability. It uses a trust region optimization technique to ensure that the new policy is close to the old policy, allowing for more stable and efficient training. PPO has been widely used in various reinforcement learning tasks.</a:t>
            </a:r>
            <a:endParaRPr lang="en-US" sz="1600" dirty="0"/>
          </a:p>
        </p:txBody>
      </p:sp>
      <p:sp>
        <p:nvSpPr>
          <p:cNvPr id="24" name="Text 21"/>
          <p:cNvSpPr/>
          <p:nvPr>
            <p:custDataLst>
              <p:tags r:id="rId11"/>
            </p:custDataLst>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Proximal Policy Optimization</a:t>
            </a:r>
            <a:endParaRPr lang="en-US" sz="1600" dirty="0"/>
          </a:p>
        </p:txBody>
      </p:sp>
      <p:sp>
        <p:nvSpPr>
          <p:cNvPr id="25" name="Text 22"/>
          <p:cNvSpPr/>
          <p:nvPr>
            <p:custDataLst>
              <p:tags r:id="rId12"/>
            </p:custDataLst>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Actor-Critic Methods</a:t>
            </a:r>
            <a:endParaRPr lang="en-US" sz="1600" dirty="0"/>
          </a:p>
        </p:txBody>
      </p:sp>
      <p:sp>
        <p:nvSpPr>
          <p:cNvPr id="26" name="Text 23"/>
          <p:cNvSpPr/>
          <p:nvPr>
            <p:custDataLst>
              <p:tags r:id="rId13"/>
            </p:custDataLst>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Actor-critic methods combine the benefits of policy gradient methods and value function estimation. The actor learns the policy, while the critic estimates the value function to provide a more accurate gradient estimate. This combination improves the stability and efficiency of policy gradient methods.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Advanced Topics in Deep RL</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Exploration Strategies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Exploration is a crucial aspect of reinforcement learning. Advanced exploration strategies include epsilon-greedy, Boltzmann exploration, and intrinsic motivation. These methods balance the trade-off between exploration and exploitation, allowing the agent to discover new states and actions while still exploiting known information.</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Transfer Learning and Multi-Agent RL</a:t>
            </a:r>
            <a:endParaRPr lang="en-US" sz="1600" dirty="0"/>
          </a:p>
        </p:txBody>
      </p:sp>
      <p:sp>
        <p:nvSpPr>
          <p:cNvPr id="52" name="Text 50"/>
          <p:cNvSpPr/>
          <p:nvPr/>
        </p:nvSpPr>
        <p:spPr>
          <a:xfrm>
            <a:off x="4747260" y="237299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Transfer learning in reinforcement learning involves transferring knowledge from one task to another to improve learning efficiency. Multi-agent reinforcement learning deals with scenarios where multiple agents interact with each other and the environment. These advanced topics are important for developing more intelligent and adaptive reinforcement learning systems.</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Safety and Ethics in RL</a:t>
            </a:r>
            <a:endParaRPr lang="en-US" sz="1600" dirty="0"/>
          </a:p>
        </p:txBody>
      </p:sp>
      <p:sp>
        <p:nvSpPr>
          <p:cNvPr id="70" name="Text 68"/>
          <p:cNvSpPr/>
          <p:nvPr/>
        </p:nvSpPr>
        <p:spPr>
          <a:xfrm>
            <a:off x="8064500" y="233362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Safety and ethics are critical considerations in the deployment of reinforcement learning systems. Safety involves ensuring that the agent's actions do not cause harm or unintended consequences. Ethics includes issues such as fairness, transparency, and accountability. Researchers are actively working on developing methods to address these challenges.</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05</a:t>
            </a:r>
            <a:endParaRPr lang="en-US" sz="1600" dirty="0"/>
          </a:p>
        </p:txBody>
      </p:sp>
      <p:sp>
        <p:nvSpPr>
          <p:cNvPr id="7" name="Text 3"/>
          <p:cNvSpPr/>
          <p:nvPr/>
        </p:nvSpPr>
        <p:spPr>
          <a:xfrm>
            <a:off x="5979795" y="3223895"/>
            <a:ext cx="4779645" cy="2122805"/>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How to train your reinforcement learning model</a:t>
            </a:r>
            <a:endParaRPr lang="en-US" sz="4400" b="1" dirty="0">
              <a:solidFill>
                <a:srgbClr val="000000"/>
              </a:solidFill>
              <a:latin typeface="MiSans" pitchFamily="34" charset="-122"/>
              <a:ea typeface="MiSans" pitchFamily="34" charset="-122"/>
              <a:cs typeface="MiSans"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Step 1: Function with Unknown</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pic>
        <p:nvPicPr>
          <p:cNvPr id="15" name="图片 14"/>
          <p:cNvPicPr>
            <a:picLocks noChangeAspect="1"/>
          </p:cNvPicPr>
          <p:nvPr/>
        </p:nvPicPr>
        <p:blipFill>
          <a:blip r:embed="rId2"/>
          <a:stretch>
            <a:fillRect/>
          </a:stretch>
        </p:blipFill>
        <p:spPr>
          <a:xfrm>
            <a:off x="594360" y="1064260"/>
            <a:ext cx="8860155" cy="51650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Step 2: </a:t>
            </a:r>
            <a:r>
              <a:rPr lang="en-US" sz="2800" b="1" dirty="0">
                <a:solidFill>
                  <a:srgbClr val="2F493E"/>
                </a:solidFill>
                <a:latin typeface="MiSans" pitchFamily="34" charset="-122"/>
                <a:ea typeface="MiSans" pitchFamily="34" charset="-122"/>
                <a:cs typeface="MiSans" pitchFamily="34" charset="-120"/>
                <a:sym typeface="+mn-ea"/>
              </a:rPr>
              <a:t>Define “Loss”</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917065" y="867410"/>
            <a:ext cx="9130030" cy="52819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Step 2: </a:t>
            </a:r>
            <a:r>
              <a:rPr lang="en-US" sz="2800" b="1" dirty="0">
                <a:solidFill>
                  <a:srgbClr val="2F493E"/>
                </a:solidFill>
                <a:latin typeface="MiSans" pitchFamily="34" charset="-122"/>
                <a:ea typeface="MiSans" pitchFamily="34" charset="-122"/>
                <a:cs typeface="MiSans" pitchFamily="34" charset="-120"/>
                <a:sym typeface="+mn-ea"/>
              </a:rPr>
              <a:t>Define “Loss”</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2171065" y="901700"/>
            <a:ext cx="7855585" cy="50685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Step 3: </a:t>
            </a:r>
            <a:r>
              <a:rPr lang="en-US" sz="2800" b="1" dirty="0">
                <a:solidFill>
                  <a:srgbClr val="2F493E"/>
                </a:solidFill>
                <a:latin typeface="MiSans" pitchFamily="34" charset="-122"/>
                <a:ea typeface="MiSans" pitchFamily="34" charset="-122"/>
                <a:cs typeface="MiSans" pitchFamily="34" charset="-120"/>
                <a:sym typeface="+mn-ea"/>
              </a:rPr>
              <a:t>Optimization </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559560" y="945515"/>
            <a:ext cx="8627745" cy="5365115"/>
          </a:xfrm>
          <a:prstGeom prst="rect">
            <a:avLst/>
          </a:prstGeom>
        </p:spPr>
      </p:pic>
      <p:pic>
        <p:nvPicPr>
          <p:cNvPr id="15" name="图片 14"/>
          <p:cNvPicPr>
            <a:picLocks noChangeAspect="1"/>
          </p:cNvPicPr>
          <p:nvPr/>
        </p:nvPicPr>
        <p:blipFill>
          <a:blip r:embed="rId2"/>
          <a:stretch>
            <a:fillRect/>
          </a:stretch>
        </p:blipFill>
        <p:spPr>
          <a:xfrm>
            <a:off x="7141845" y="141605"/>
            <a:ext cx="2781935" cy="8680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How to control your actor</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2188210" y="1170940"/>
            <a:ext cx="8374380" cy="50634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How to control your actor</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663065" y="1052830"/>
            <a:ext cx="8990330" cy="50203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H</a:t>
            </a:r>
            <a:r>
              <a:rPr lang="en-US" sz="2800" b="1" dirty="0">
                <a:solidFill>
                  <a:srgbClr val="2F493E"/>
                </a:solidFill>
                <a:latin typeface="MiSans" pitchFamily="34" charset="-122"/>
                <a:ea typeface="MiSans" pitchFamily="34" charset="-122"/>
                <a:cs typeface="MiSans" pitchFamily="34" charset="-120"/>
                <a:sym typeface="+mn-ea"/>
              </a:rPr>
              <a:t>olicy Gradient</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文本框 12"/>
          <p:cNvSpPr txBox="1"/>
          <p:nvPr/>
        </p:nvSpPr>
        <p:spPr>
          <a:xfrm>
            <a:off x="1144905" y="3193415"/>
            <a:ext cx="9347835" cy="3522980"/>
          </a:xfrm>
          <a:prstGeom prst="rect">
            <a:avLst/>
          </a:prstGeom>
          <a:noFill/>
        </p:spPr>
        <p:txBody>
          <a:bodyPr wrap="square" rtlCol="0" anchor="t">
            <a:noAutofit/>
          </a:bodyPr>
          <a:p>
            <a:r>
              <a:rPr lang="en-US" altLang="zh-TW" sz="2400" dirty="0">
                <a:sym typeface="+mn-ea"/>
              </a:rPr>
              <a:t>An action affects the subsequent observations and thus subsequent rewards.</a:t>
            </a:r>
            <a:endParaRPr lang="en-US" altLang="zh-TW" sz="2400" dirty="0"/>
          </a:p>
          <a:p>
            <a:r>
              <a:rPr lang="en-US" altLang="zh-TW" sz="2400" i="1" dirty="0">
                <a:sym typeface="+mn-ea"/>
              </a:rPr>
              <a:t>Reward delay</a:t>
            </a:r>
            <a:r>
              <a:rPr lang="en-US" altLang="zh-TW" sz="2400" dirty="0">
                <a:sym typeface="+mn-ea"/>
              </a:rPr>
              <a:t>: Actor has to sacrifice immediate reward to gain more long-term reward.</a:t>
            </a:r>
            <a:endParaRPr lang="en-US" altLang="zh-TW" sz="2400" dirty="0">
              <a:sym typeface="+mn-ea"/>
            </a:endParaRPr>
          </a:p>
        </p:txBody>
      </p:sp>
      <p:pic>
        <p:nvPicPr>
          <p:cNvPr id="15" name="图片 14"/>
          <p:cNvPicPr>
            <a:picLocks noChangeAspect="1"/>
          </p:cNvPicPr>
          <p:nvPr/>
        </p:nvPicPr>
        <p:blipFill>
          <a:blip r:embed="rId1"/>
          <a:stretch>
            <a:fillRect/>
          </a:stretch>
        </p:blipFill>
        <p:spPr>
          <a:xfrm>
            <a:off x="4833620" y="621030"/>
            <a:ext cx="4286250" cy="25723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H</a:t>
            </a:r>
            <a:r>
              <a:rPr lang="en-US" sz="2800" b="1" dirty="0">
                <a:solidFill>
                  <a:srgbClr val="2F493E"/>
                </a:solidFill>
                <a:latin typeface="MiSans" pitchFamily="34" charset="-122"/>
                <a:ea typeface="MiSans" pitchFamily="34" charset="-122"/>
                <a:cs typeface="MiSans" pitchFamily="34" charset="-120"/>
                <a:sym typeface="+mn-ea"/>
              </a:rPr>
              <a:t>olicy Gradient</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270000" y="930910"/>
            <a:ext cx="8573770" cy="52914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H</a:t>
            </a:r>
            <a:r>
              <a:rPr lang="en-US" sz="2800" b="1" dirty="0">
                <a:solidFill>
                  <a:srgbClr val="2F493E"/>
                </a:solidFill>
                <a:latin typeface="MiSans" pitchFamily="34" charset="-122"/>
                <a:ea typeface="MiSans" pitchFamily="34" charset="-122"/>
                <a:cs typeface="MiSans" pitchFamily="34" charset="-120"/>
                <a:sym typeface="+mn-ea"/>
              </a:rPr>
              <a:t>olicy Gradient</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5" name="图片 14"/>
          <p:cNvPicPr>
            <a:picLocks noChangeAspect="1"/>
          </p:cNvPicPr>
          <p:nvPr/>
        </p:nvPicPr>
        <p:blipFill>
          <a:blip r:embed="rId1"/>
          <a:stretch>
            <a:fillRect/>
          </a:stretch>
        </p:blipFill>
        <p:spPr>
          <a:xfrm>
            <a:off x="2236470" y="930910"/>
            <a:ext cx="7719060" cy="49987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H</a:t>
            </a:r>
            <a:r>
              <a:rPr lang="en-US" sz="2800" b="1" dirty="0">
                <a:solidFill>
                  <a:srgbClr val="2F493E"/>
                </a:solidFill>
                <a:latin typeface="MiSans" pitchFamily="34" charset="-122"/>
                <a:ea typeface="MiSans" pitchFamily="34" charset="-122"/>
                <a:cs typeface="MiSans" pitchFamily="34" charset="-120"/>
                <a:sym typeface="+mn-ea"/>
              </a:rPr>
              <a:t>olicy Gradient</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1807845" y="867410"/>
            <a:ext cx="8576945" cy="54387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On-policy v.s. Off-policy</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792605" y="923925"/>
            <a:ext cx="8988425" cy="52749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Actor-Critic</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1623695" y="1037590"/>
            <a:ext cx="8945245" cy="50831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Actor-Critic</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729105" y="1105535"/>
            <a:ext cx="9507220" cy="51415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Actor-Critic</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1804035" y="930910"/>
            <a:ext cx="8273415" cy="52546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Actor-Critic</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828165" y="930910"/>
            <a:ext cx="9171305" cy="528764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Actor-Critic</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1593215" y="1062355"/>
            <a:ext cx="9416415" cy="52628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Example</a:t>
            </a:r>
            <a:endParaRPr lang="en-US" sz="2800" b="1" dirty="0">
              <a:solidFill>
                <a:srgbClr val="2F493E"/>
              </a:solidFill>
              <a:latin typeface="MiSans" pitchFamily="34" charset="-122"/>
              <a:ea typeface="MiSans" pitchFamily="34" charset="-122"/>
              <a:cs typeface="MiSans" pitchFamily="34" charset="-120"/>
              <a:sym typeface="+mn-ea"/>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QQ202571-19137">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1933575" y="1563370"/>
            <a:ext cx="7301230" cy="413385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14"/>
                </p:tgtEl>
              </p:cMediaNode>
            </p:video>
            <p:seq concurrent="1" nextAc="seek">
              <p:cTn id="3" restart="whenNotActive" fill="hold" evtFilter="cancelBubble" nodeType="interactiveSeq">
                <p:stCondLst>
                  <p:cond evt="onClick" delay="0">
                    <p:tgtEl>
                      <p:spTgt spid="1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Example</a:t>
            </a:r>
            <a:endParaRPr lang="en-US" sz="2800" b="1" dirty="0">
              <a:solidFill>
                <a:srgbClr val="2F493E"/>
              </a:solidFill>
              <a:latin typeface="MiSans" pitchFamily="34" charset="-122"/>
              <a:ea typeface="MiSans" pitchFamily="34" charset="-122"/>
              <a:cs typeface="MiSans" pitchFamily="34" charset="-120"/>
              <a:sym typeface="+mn-ea"/>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QQ202571-191620-HD">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1911350" y="1009650"/>
            <a:ext cx="7850505" cy="518350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13"/>
                </p:tgtEl>
              </p:cMediaNode>
            </p:video>
            <p:seq concurrent="1" nextAc="seek">
              <p:cTn id="3" restart="whenNotActive" fill="hold" evtFilter="cancelBubble" nodeType="interactiveSeq">
                <p:stCondLst>
                  <p:cond evt="onClick" delay="0">
                    <p:tgtEl>
                      <p:spTgt spid="1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06</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Practical Implementation and Case Studies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Setting Up a Reinforcement Learning Environment</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Environment Design</a:t>
            </a:r>
            <a:endParaRPr lang="en-US" sz="1600" dirty="0"/>
          </a:p>
        </p:txBody>
      </p:sp>
      <p:sp>
        <p:nvSpPr>
          <p:cNvPr id="31" name="Text 28"/>
          <p:cNvSpPr/>
          <p:nvPr/>
        </p:nvSpPr>
        <p:spPr>
          <a:xfrm>
            <a:off x="1376045" y="4379595"/>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Designing a reinforcement learning environment involves defining the states, actions, rewards, and transition dynamics. The environment should be designed to reflect the real-world problem and provide meaningful feedback to the agent. It is important to consider the complexity and scalability of the environment.</a:t>
            </a:r>
            <a:endParaRPr lang="en-US" sz="1600" dirty="0"/>
          </a:p>
        </p:txBody>
      </p:sp>
      <p:sp>
        <p:nvSpPr>
          <p:cNvPr id="32" name="Text 29"/>
          <p:cNvSpPr/>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Simulation vs. Real-World Environments</a:t>
            </a:r>
            <a:endParaRPr lang="en-US" sz="1600" dirty="0"/>
          </a:p>
        </p:txBody>
      </p:sp>
      <p:sp>
        <p:nvSpPr>
          <p:cNvPr id="33" name="Text 30"/>
          <p:cNvSpPr/>
          <p:nvPr/>
        </p:nvSpPr>
        <p:spPr>
          <a:xfrm>
            <a:off x="4708525" y="4379595"/>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Reinforcement learning can be implemented in both simulation and real-world environments. Simulation environments allow for faster and safer training, but they may not capture all the complexities of the real world. Real-world environments provide more realistic data but can be more challenging and time-consuming to work with.</a:t>
            </a:r>
            <a:endParaRPr lang="en-US" sz="1600" dirty="0"/>
          </a:p>
        </p:txBody>
      </p:sp>
      <p:sp>
        <p:nvSpPr>
          <p:cNvPr id="34" name="Text 31"/>
          <p:cNvSpPr/>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Tools and Frameworks</a:t>
            </a:r>
            <a:endParaRPr lang="en-US" sz="1600" dirty="0"/>
          </a:p>
        </p:txBody>
      </p:sp>
      <p:sp>
        <p:nvSpPr>
          <p:cNvPr id="35" name="Text 32"/>
          <p:cNvSpPr/>
          <p:nvPr/>
        </p:nvSpPr>
        <p:spPr>
          <a:xfrm>
            <a:off x="8229600" y="4379595"/>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There are several tools and frameworks available for implementing reinforcement learning, such as OpenAI Gym, which provides a wide range of environments and interfaces for developing and testing reinforcement learning algorithms. Other tools include TensorFlow and PyTorch, which offer powerful libraries for building and training neural networks.</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Implementing Reinforcement Learning Algorithms</a:t>
            </a:r>
            <a:endParaRPr lang="en-US" sz="1600" dirty="0"/>
          </a:p>
        </p:txBody>
      </p:sp>
      <p:sp>
        <p:nvSpPr>
          <p:cNvPr id="9" name="Shape 7"/>
          <p:cNvSpPr/>
          <p:nvPr/>
        </p:nvSpPr>
        <p:spPr>
          <a:xfrm>
            <a:off x="902335" y="1499870"/>
            <a:ext cx="3124835" cy="5061585"/>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901700" y="1499870"/>
            <a:ext cx="3125470" cy="482219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92200" y="3858772"/>
            <a:ext cx="2827020" cy="2702719"/>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Implementing a basic reinforcement learning algorithm involves writing code to define the agent's policy, value function, and update rules. This can be done using programming languages like Python and libraries such as NumPy and TensorFlow. The implementation should include functions for selecting actions, updating the value function, and evaluating the agent's performance.</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Coding a Basic RL Algorithm</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444353"/>
          </a:xfrm>
          <a:prstGeom prst="rect">
            <a:avLst/>
          </a:prstGeom>
          <a:noFill/>
        </p:spPr>
        <p:txBody>
          <a:bodyPr wrap="square" lIns="0" tIns="0" rIns="0" bIns="0" rtlCol="0" anchor="t">
            <a:spAutoFit/>
          </a:bodyPr>
          <a:lstStyle/>
          <a:p>
            <a:pPr marL="0" indent="0" algn="just">
              <a:lnSpc>
                <a:spcPct val="120000"/>
              </a:lnSpc>
              <a:buNone/>
            </a:pPr>
            <a:r>
              <a:rPr lang="en-US" sz="1300" dirty="0">
                <a:solidFill>
                  <a:srgbClr val="2B2F36"/>
                </a:solidFill>
                <a:latin typeface="MiSans" pitchFamily="34" charset="-122"/>
                <a:ea typeface="MiSans" pitchFamily="34" charset="-122"/>
                <a:cs typeface="MiSans" pitchFamily="34" charset="-120"/>
              </a:rPr>
              <a:t>Debugging and tuning are important steps in implementing reinforcement learning algorithms. Common issues include convergence problems, poor exploration, and incorrect reward functions. Tuning involves adjusting hyperparameters such as the learning rate, discount factor, and exploration rate to improve the agent's performance.</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Debugging and Tuning</a:t>
            </a:r>
            <a:endParaRPr lang="en-US" sz="1600" dirty="0"/>
          </a:p>
        </p:txBody>
      </p:sp>
      <p:sp>
        <p:nvSpPr>
          <p:cNvPr id="19" name="Shape 15"/>
          <p:cNvSpPr/>
          <p:nvPr/>
        </p:nvSpPr>
        <p:spPr>
          <a:xfrm>
            <a:off x="8276590" y="1499870"/>
            <a:ext cx="3058795" cy="4820285"/>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702719"/>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Some best practices for implementing reinforcement learning algorithms include using experience replay to break the correlation between samples, normalizing the input data to improve training stability, and visualizing the agent's performance to identify issues. It is also important to thoroughly test the algorithm in different scenarios to ensure robustness.</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Best Practices and Tips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Case Studies and Real-World Applications</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Robotics and manipulation tasks involve teaching robots to perform complex actions such as grasping objects, assembling parts, and navigating through cluttered environments. Reinforcement learning is used to develop policies that enable robots to learn from trial and error and adapt to different situations. This has led to advancements in robotic control and automation.</a:t>
            </a:r>
            <a:endParaRPr lang="en-US" sz="1600" dirty="0"/>
          </a:p>
        </p:txBody>
      </p:sp>
      <p:sp>
        <p:nvSpPr>
          <p:cNvPr id="20" name="Text 18"/>
          <p:cNvSpPr/>
          <p:nvPr/>
        </p:nvSpPr>
        <p:spPr>
          <a:xfrm>
            <a:off x="972185" y="132651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Autonomous Driving</a:t>
            </a:r>
            <a:endParaRPr lang="en-US" sz="1600" dirty="0"/>
          </a:p>
        </p:txBody>
      </p:sp>
      <p:sp>
        <p:nvSpPr>
          <p:cNvPr id="21" name="Text 19"/>
          <p:cNvSpPr/>
          <p:nvPr/>
        </p:nvSpPr>
        <p:spPr>
          <a:xfrm>
            <a:off x="972185" y="1652270"/>
            <a:ext cx="1024920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Autonomous driving is a significant application of reinforcement learning. The agent learns to control the vehicle's movements based on sensor inputs and environmental conditions. Reinforcement learning algorithms are used to develop policies for tasks such as lane keeping, obstacle avoidance, and route planning. The goal is to achieve safe and efficient autonomous driving.</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Robotics and Manipulation</a:t>
            </a:r>
            <a:endParaRPr lang="en-US" sz="1600" dirty="0"/>
          </a:p>
        </p:txBody>
      </p:sp>
      <p:sp>
        <p:nvSpPr>
          <p:cNvPr id="23" name="Text 21"/>
          <p:cNvSpPr/>
          <p:nvPr/>
        </p:nvSpPr>
        <p:spPr>
          <a:xfrm>
            <a:off x="929005" y="469773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Game Playing and Entertainment</a:t>
            </a:r>
            <a:endParaRPr lang="en-US" sz="1600" dirty="0"/>
          </a:p>
        </p:txBody>
      </p:sp>
      <p:sp>
        <p:nvSpPr>
          <p:cNvPr id="24" name="Text 22"/>
          <p:cNvSpPr/>
          <p:nvPr/>
        </p:nvSpPr>
        <p:spPr>
          <a:xfrm>
            <a:off x="924560" y="5041900"/>
            <a:ext cx="1024920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has been successfully applied to game playing, where agents learn to play games such as chess, Go, and video games at a high level. This has led to the development of intelligent game-playing agents that can compete with and even surpass human players. Reinforcement learning is also used in the entertainment industry to create more engaging and interactive experiences.</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07</a:t>
            </a:r>
            <a:endParaRPr lang="en-US" sz="1600" dirty="0"/>
          </a:p>
        </p:txBody>
      </p:sp>
      <p:sp>
        <p:nvSpPr>
          <p:cNvPr id="7" name="Text 3"/>
          <p:cNvSpPr/>
          <p:nvPr/>
        </p:nvSpPr>
        <p:spPr>
          <a:xfrm>
            <a:off x="5979795" y="3223895"/>
            <a:ext cx="4779645" cy="14370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Conclusion and Future Work</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Reinforcement Learning</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38600" y="4102735"/>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Key Concepts and Methods</a:t>
            </a:r>
            <a:endParaRPr lang="en-US" sz="1600" dirty="0"/>
          </a:p>
        </p:txBody>
      </p:sp>
      <p:sp>
        <p:nvSpPr>
          <p:cNvPr id="19" name="Text 16"/>
          <p:cNvSpPr/>
          <p:nvPr/>
        </p:nvSpPr>
        <p:spPr>
          <a:xfrm>
            <a:off x="4039870" y="2035175"/>
            <a:ext cx="7616190" cy="1715294"/>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is a powerful approach to machine learning that involves an agent learning to make decisions in an environment to maximize cumulative reward. Key concepts include the agent, environment, reward, value functions, and policies. Methods such as dynamic programming, Monte Carlo methods, temporal-difference learning, and deep reinforcement learning have been developed to solve reinforcement learning problems.</a:t>
            </a:r>
            <a:endParaRPr lang="en-US" sz="1600" dirty="0"/>
          </a:p>
        </p:txBody>
      </p:sp>
      <p:sp>
        <p:nvSpPr>
          <p:cNvPr id="20" name="Text 17"/>
          <p:cNvSpPr/>
          <p:nvPr/>
        </p:nvSpPr>
        <p:spPr>
          <a:xfrm>
            <a:off x="3956050" y="406336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Applications and Impact</a:t>
            </a:r>
            <a:endParaRPr lang="en-US" sz="1600" dirty="0"/>
          </a:p>
        </p:txBody>
      </p:sp>
      <p:sp>
        <p:nvSpPr>
          <p:cNvPr id="21" name="Text 18"/>
          <p:cNvSpPr/>
          <p:nvPr/>
        </p:nvSpPr>
        <p:spPr>
          <a:xfrm>
            <a:off x="3957320" y="4347845"/>
            <a:ext cx="761619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has a wide range of applications in various fields, including robotics, gaming, finance, healthcare, and entertainment. It has led to significant advancements in these areas and has the potential to transform many industries. The impact of reinforcement learning is expected to grow as the technology continues to develop and mature.</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Directions and Research Opportunities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08220" y="3665220"/>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27270" y="3661410"/>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78495" y="3380105"/>
            <a:ext cx="3200400" cy="342392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Advancing Algorithms and Techniques</a:t>
            </a:r>
            <a:endParaRPr lang="en-US" sz="1600" dirty="0"/>
          </a:p>
        </p:txBody>
      </p:sp>
      <p:sp>
        <p:nvSpPr>
          <p:cNvPr id="21" name="Text 18"/>
          <p:cNvSpPr/>
          <p:nvPr/>
        </p:nvSpPr>
        <p:spPr>
          <a:xfrm>
            <a:off x="4802505" y="1946275"/>
            <a:ext cx="6647815" cy="1715294"/>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Future research in reinforcement learning will focus on advancing algorithms and techniques to improve the efficiency, scalability, and robustness of reinforcement learning systems. This includes developing more efficient exploration strategies, improving sample complexity, and combining reinforcement learning with other AI techniques such as transfer learning and multi-agent systems.</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4921250" y="3708400"/>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Addressing Safety and Ethics</a:t>
            </a:r>
            <a:endParaRPr lang="en-US" sz="1600" dirty="0"/>
          </a:p>
        </p:txBody>
      </p:sp>
      <p:sp>
        <p:nvSpPr>
          <p:cNvPr id="24" name="Text 21"/>
          <p:cNvSpPr/>
          <p:nvPr/>
        </p:nvSpPr>
        <p:spPr>
          <a:xfrm>
            <a:off x="8337550" y="3437890"/>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Interdisciplinary Research and Collaboration</a:t>
            </a:r>
            <a:endParaRPr lang="en-US" sz="1600" dirty="0"/>
          </a:p>
        </p:txBody>
      </p:sp>
      <p:sp>
        <p:nvSpPr>
          <p:cNvPr id="25" name="Text 22"/>
          <p:cNvSpPr/>
          <p:nvPr/>
        </p:nvSpPr>
        <p:spPr>
          <a:xfrm>
            <a:off x="4921250" y="3935730"/>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Addressing safety and ethics is a critical area of future research in reinforcement learning. This involves developing methods to ensure that reinforcement learning systems are safe, reliable, and ethical in their deployment. It also includes studying the impact of reinforcement learning on society and developing guidelines and regulations to govern its use.</a:t>
            </a:r>
            <a:endParaRPr lang="en-US" sz="1600" dirty="0"/>
          </a:p>
        </p:txBody>
      </p:sp>
      <p:sp>
        <p:nvSpPr>
          <p:cNvPr id="26" name="Text 23"/>
          <p:cNvSpPr/>
          <p:nvPr/>
        </p:nvSpPr>
        <p:spPr>
          <a:xfrm>
            <a:off x="8337550" y="3853815"/>
            <a:ext cx="2872740"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Reinforcement learning is an interdisciplinary field that intersects with various domains such as psychology, neuroscience, control theory, and computer science. Future research will involve more interdisciplinary collaboration to leverage insights from different fields and develop more comprehensive and effective reinforcement learning systems. This will lead to new applications and advancements in the field.</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59-d0shq4s75iks832je590.png"/>
          <p:cNvPicPr>
            <a:picLocks noChangeAspect="1"/>
          </p:cNvPicPr>
          <p:nvPr/>
        </p:nvPicPr>
        <p:blipFill>
          <a:blip r:embed="rId1"/>
          <a:srcRect l="63" r="63"/>
          <a:stretch>
            <a:fillRect/>
          </a:stretch>
        </p:blipFill>
        <p:spPr>
          <a:xfrm>
            <a:off x="1096010" y="3710940"/>
            <a:ext cx="2664000" cy="2131200"/>
          </a:xfrm>
          <a:prstGeom prst="rect">
            <a:avLst/>
          </a:prstGeom>
        </p:spPr>
      </p:pic>
      <p:pic>
        <p:nvPicPr>
          <p:cNvPr id="3" name="Image 1" descr="https://test-kimi-img.moonshot.cn/pub/slides/slides_tmpl/image/25-05-30-10:51:00-d0shq5475iks832je59g.png"/>
          <p:cNvPicPr>
            <a:picLocks noChangeAspect="1"/>
          </p:cNvPicPr>
          <p:nvPr/>
        </p:nvPicPr>
        <p:blipFill>
          <a:blip r:embed="rId2"/>
          <a:srcRect l="63" r="63"/>
          <a:stretch>
            <a:fillRect/>
          </a:stretch>
        </p:blipFill>
        <p:spPr>
          <a:xfrm>
            <a:off x="1107440" y="1370965"/>
            <a:ext cx="2664000" cy="2131200"/>
          </a:xfrm>
          <a:prstGeom prst="rect">
            <a:avLst/>
          </a:prstGeom>
        </p:spPr>
      </p:pic>
      <p:sp>
        <p:nvSpPr>
          <p:cNvPr id="4" name="Shape 0"/>
          <p:cNvSpPr/>
          <p:nvPr/>
        </p:nvSpPr>
        <p:spPr>
          <a:xfrm>
            <a:off x="638810" y="6362065"/>
            <a:ext cx="215900" cy="215900"/>
          </a:xfrm>
          <a:prstGeom prst="roundRect">
            <a:avLst>
              <a:gd name="adj" fmla="val 50000"/>
            </a:avLst>
          </a:prstGeom>
          <a:solidFill>
            <a:srgbClr val="5E927D"/>
          </a:solidFill>
        </p:spPr>
      </p:sp>
      <p:sp>
        <p:nvSpPr>
          <p:cNvPr id="5"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4"/>
          <p:cNvSpPr/>
          <p:nvPr/>
        </p:nvSpPr>
        <p:spPr>
          <a:xfrm rot="5400000">
            <a:off x="467360" y="410210"/>
            <a:ext cx="330200" cy="330200"/>
          </a:xfrm>
          <a:prstGeom prst="triangle">
            <a:avLst/>
          </a:prstGeom>
          <a:solidFill>
            <a:srgbClr val="E0E9C9"/>
          </a:solidFill>
        </p:spPr>
      </p:sp>
      <p:sp>
        <p:nvSpPr>
          <p:cNvPr id="9"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6"/>
          <p:cNvSpPr/>
          <p:nvPr/>
        </p:nvSpPr>
        <p:spPr>
          <a:xfrm rot="5400000">
            <a:off x="594360" y="537210"/>
            <a:ext cx="330200" cy="330200"/>
          </a:xfrm>
          <a:prstGeom prst="triangle">
            <a:avLst/>
          </a:prstGeom>
          <a:solidFill>
            <a:srgbClr val="5E927D"/>
          </a:solidFill>
        </p:spPr>
      </p:sp>
      <p:sp>
        <p:nvSpPr>
          <p:cNvPr id="11"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Final Thoughts</a:t>
            </a:r>
            <a:endParaRPr lang="en-US" sz="1600" dirty="0"/>
          </a:p>
        </p:txBody>
      </p:sp>
      <p:sp>
        <p:nvSpPr>
          <p:cNvPr id="13" name="Shape 9"/>
          <p:cNvSpPr/>
          <p:nvPr>
            <p:custDataLst>
              <p:tags r:id="rId3"/>
            </p:custDataLst>
          </p:nvPr>
        </p:nvSpPr>
        <p:spPr>
          <a:xfrm>
            <a:off x="3865880" y="1370965"/>
            <a:ext cx="7620000" cy="2306955"/>
          </a:xfrm>
          <a:prstGeom prst="roundRect">
            <a:avLst>
              <a:gd name="adj" fmla="val 3784"/>
            </a:avLst>
          </a:prstGeom>
          <a:solidFill>
            <a:srgbClr val="E0E9C9"/>
          </a:solidFill>
        </p:spPr>
      </p:sp>
      <p:sp>
        <p:nvSpPr>
          <p:cNvPr id="14" name="Text 10"/>
          <p:cNvSpPr/>
          <p:nvPr/>
        </p:nvSpPr>
        <p:spPr>
          <a:xfrm>
            <a:off x="3865880" y="1370965"/>
            <a:ext cx="7620000" cy="21310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3"/>
          <p:cNvSpPr/>
          <p:nvPr>
            <p:custDataLst>
              <p:tags r:id="rId4"/>
            </p:custDataLst>
          </p:nvPr>
        </p:nvSpPr>
        <p:spPr>
          <a:xfrm>
            <a:off x="4126230" y="2004695"/>
            <a:ext cx="6976110" cy="1901825"/>
          </a:xfrm>
          <a:prstGeom prst="rect">
            <a:avLst/>
          </a:prstGeom>
          <a:noFill/>
        </p:spPr>
        <p:txBody>
          <a:bodyPr wrap="square" lIns="91440" tIns="45720" rIns="91440" bIns="45720" rtlCol="0" anchor="t">
            <a:spAutoFit/>
          </a:bodyPr>
          <a:lstStyle/>
          <a:p>
            <a:pPr marL="0" indent="0" algn="just">
              <a:lnSpc>
                <a:spcPct val="130000"/>
              </a:lnSpc>
              <a:buNone/>
            </a:pPr>
            <a:r>
              <a:rPr lang="en-US" sz="1600" dirty="0">
                <a:solidFill>
                  <a:srgbClr val="000000"/>
                </a:solidFill>
                <a:latin typeface="MiSans" pitchFamily="34" charset="-122"/>
                <a:ea typeface="MiSans" pitchFamily="34" charset="-122"/>
                <a:cs typeface="MiSans" pitchFamily="34" charset="-120"/>
              </a:rPr>
              <a:t>Reinforcement learning is an important area of research and development in artificial intelligence. It has the potential to revolutionize many industries and solve complex problems that require adaptive and intelligent decision-making. Understanding the principles and methods of reinforcement learning is essential for researchers, practitioners, and students in the field of AI.</a:t>
            </a:r>
            <a:endParaRPr lang="en-US" sz="1600" dirty="0"/>
          </a:p>
        </p:txBody>
      </p:sp>
      <p:sp>
        <p:nvSpPr>
          <p:cNvPr id="18" name="Text 14"/>
          <p:cNvSpPr/>
          <p:nvPr>
            <p:custDataLst>
              <p:tags r:id="rId5"/>
            </p:custDataLst>
          </p:nvPr>
        </p:nvSpPr>
        <p:spPr>
          <a:xfrm>
            <a:off x="4200525" y="1472565"/>
            <a:ext cx="3932555" cy="645517"/>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Importance of Reinforcement Learning</a:t>
            </a:r>
            <a:endParaRPr lang="en-US" sz="1600" dirty="0"/>
          </a:p>
        </p:txBody>
      </p:sp>
      <p:sp>
        <p:nvSpPr>
          <p:cNvPr id="19" name="Shape 15"/>
          <p:cNvSpPr/>
          <p:nvPr>
            <p:custDataLst>
              <p:tags r:id="rId6"/>
            </p:custDataLst>
          </p:nvPr>
        </p:nvSpPr>
        <p:spPr>
          <a:xfrm>
            <a:off x="3771900" y="3707765"/>
            <a:ext cx="7713980" cy="2656840"/>
          </a:xfrm>
          <a:prstGeom prst="roundRect">
            <a:avLst>
              <a:gd name="adj" fmla="val 3784"/>
            </a:avLst>
          </a:prstGeom>
          <a:solidFill>
            <a:srgbClr val="E0E9C9"/>
          </a:solidFill>
        </p:spPr>
      </p:sp>
      <p:sp>
        <p:nvSpPr>
          <p:cNvPr id="20" name="Text 16"/>
          <p:cNvSpPr/>
          <p:nvPr/>
        </p:nvSpPr>
        <p:spPr>
          <a:xfrm>
            <a:off x="3865880" y="3707765"/>
            <a:ext cx="7620000" cy="21310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18"/>
          <p:cNvSpPr/>
          <p:nvPr/>
        </p:nvSpPr>
        <p:spPr>
          <a:xfrm>
            <a:off x="4064000" y="3917315"/>
            <a:ext cx="4069080" cy="381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19"/>
          <p:cNvSpPr/>
          <p:nvPr>
            <p:custDataLst>
              <p:tags r:id="rId7"/>
            </p:custDataLst>
          </p:nvPr>
        </p:nvSpPr>
        <p:spPr>
          <a:xfrm>
            <a:off x="4126230" y="4341495"/>
            <a:ext cx="6976110" cy="1901825"/>
          </a:xfrm>
          <a:prstGeom prst="rect">
            <a:avLst/>
          </a:prstGeom>
          <a:noFill/>
        </p:spPr>
        <p:txBody>
          <a:bodyPr wrap="square" lIns="91440" tIns="45720" rIns="91440" bIns="45720" rtlCol="0" anchor="t">
            <a:spAutoFit/>
          </a:bodyPr>
          <a:lstStyle/>
          <a:p>
            <a:pPr marL="0" indent="0" algn="just">
              <a:lnSpc>
                <a:spcPct val="130000"/>
              </a:lnSpc>
              <a:buNone/>
            </a:pPr>
            <a:r>
              <a:rPr lang="en-US" sz="1600" dirty="0">
                <a:solidFill>
                  <a:srgbClr val="000000"/>
                </a:solidFill>
                <a:latin typeface="MiSans" pitchFamily="34" charset="-122"/>
                <a:ea typeface="MiSans" pitchFamily="34" charset="-122"/>
                <a:cs typeface="MiSans" pitchFamily="34" charset="-120"/>
              </a:rPr>
              <a:t>The field of reinforcement learning is constantly evolving, and there are many opportunities for further exploration and innovation. Researchers and practitioners are encouraged to delve deeper into the various methods and applications of reinforcement learning, experiment with different algorithms and techniques, and contribute to the advancement of this exciting field.</a:t>
            </a:r>
            <a:endParaRPr lang="en-US" sz="1600" dirty="0"/>
          </a:p>
        </p:txBody>
      </p:sp>
      <p:sp>
        <p:nvSpPr>
          <p:cNvPr id="24" name="Text 20"/>
          <p:cNvSpPr/>
          <p:nvPr>
            <p:custDataLst>
              <p:tags r:id="rId8"/>
            </p:custDataLst>
          </p:nvPr>
        </p:nvSpPr>
        <p:spPr>
          <a:xfrm>
            <a:off x="4302125" y="3785235"/>
            <a:ext cx="3932555" cy="645517"/>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Encouragement for Further Exploration</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6" name="Text 3"/>
          <p:cNvSpPr/>
          <p:nvPr/>
        </p:nvSpPr>
        <p:spPr>
          <a:xfrm>
            <a:off x="2715260" y="331851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
        <p:nvSpPr>
          <p:cNvPr id="7" name="Text 4"/>
          <p:cNvSpPr/>
          <p:nvPr/>
        </p:nvSpPr>
        <p:spPr>
          <a:xfrm>
            <a:off x="2227898" y="1987550"/>
            <a:ext cx="7736205" cy="1414780"/>
          </a:xfrm>
          <a:prstGeom prst="rect">
            <a:avLst/>
          </a:prstGeom>
          <a:noFill/>
        </p:spPr>
        <p:txBody>
          <a:bodyPr wrap="square" lIns="91440" tIns="45720" rIns="91440" bIns="45720" rtlCol="0" anchor="t"/>
          <a:lstStyle/>
          <a:p>
            <a:pPr marL="0" indent="0" algn="ctr">
              <a:lnSpc>
                <a:spcPct val="100000"/>
              </a:lnSpc>
              <a:buNone/>
            </a:pP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372.50669291338573,&quot;left&quot;:435.59507874015753,&quot;top&quot;:159.4,&quot;width&quot;:444.40492125984247}"/>
</p:tagLst>
</file>

<file path=ppt/tags/tag2.xml><?xml version="1.0" encoding="utf-8"?>
<p:tagLst xmlns:p="http://schemas.openxmlformats.org/presentationml/2006/main">
  <p:tag name="KSO_WM_DIAGRAM_VIRTUALLY_FRAME" val="{&quot;height&quot;:372.50669291338573,&quot;left&quot;:435.59507874015753,&quot;top&quot;:159.4,&quot;width&quot;:444.40492125984247}"/>
</p:tagLst>
</file>

<file path=ppt/tags/tag3.xml><?xml version="1.0" encoding="utf-8"?>
<p:tagLst xmlns:p="http://schemas.openxmlformats.org/presentationml/2006/main">
  <p:tag name="KSO_WM_DIAGRAM_VIRTUALLY_FRAME" val="{&quot;height&quot;:372.50669291338573,&quot;left&quot;:435.59507874015753,&quot;top&quot;:159.4,&quot;width&quot;:444.40492125984247}"/>
</p:tagLst>
</file>

<file path=ppt/tags/tag4.xml><?xml version="1.0" encoding="utf-8"?>
<p:tagLst xmlns:p="http://schemas.openxmlformats.org/presentationml/2006/main">
  <p:tag name="KSO_WM_DIAGRAM_VIRTUALLY_FRAME" val="{&quot;height&quot;:372.50669291338573,&quot;left&quot;:435.59507874015753,&quot;top&quot;:159.4,&quot;width&quot;:444.40492125984247}"/>
</p:tagLst>
</file>

<file path=ppt/tags/tag5.xml><?xml version="1.0" encoding="utf-8"?>
<p:tagLst xmlns:p="http://schemas.openxmlformats.org/presentationml/2006/main">
  <p:tag name="KSO_WM_DIAGRAM_VIRTUALLY_FRAME" val="{&quot;height&quot;:372.50669291338573,&quot;left&quot;:435.59507874015753,&quot;top&quot;:159.4,&quot;width&quot;:444.40492125984247}"/>
</p:tagLst>
</file>

<file path=ppt/tags/tag6.xml><?xml version="1.0" encoding="utf-8"?>
<p:tagLst xmlns:p="http://schemas.openxmlformats.org/presentationml/2006/main">
  <p:tag name="KSO_WM_DIAGRAM_VIRTUALLY_FRAME" val="{&quot;height&quot;:372.50669291338573,&quot;left&quot;:435.59507874015753,&quot;top&quot;:159.4,&quot;width&quot;:444.40492125984247}"/>
</p:tagLst>
</file>

<file path=ppt/tags/tag7.xml><?xml version="1.0" encoding="utf-8"?>
<p:tagLst xmlns:p="http://schemas.openxmlformats.org/presentationml/2006/main">
  <p:tag name="KSO_WM_DIAGRAM_VIRTUALLY_FRAME" val="{&quot;height&quot;:372.50669291338573,&quot;left&quot;:435.59507874015753,&quot;top&quot;:159.4,&quot;width&quot;:444.40492125984247}"/>
</p:tagLst>
</file>

<file path=ppt/tags/tag8.xml><?xml version="1.0" encoding="utf-8"?>
<p:tagLst xmlns:p="http://schemas.openxmlformats.org/presentationml/2006/main">
  <p:tag name="KSO_WM_DIAGRAM_VIRTUALLY_FRAME" val="{&quot;height&quot;:372.50669291338573,&quot;left&quot;:435.59507874015753,&quot;top&quot;:159.4,&quot;width&quot;:444.40492125984247}"/>
</p:tagLst>
</file>

<file path=ppt/tags/tag9.xml><?xml version="1.0" encoding="utf-8"?>
<p:tagLst xmlns:p="http://schemas.openxmlformats.org/presentationml/2006/main">
  <p:tag name="KSO_WM_DIAGRAM_VIRTUALLY_FRAME" val="{&quot;height&quot;:372.50669291338573,&quot;left&quot;:435.59507874015753,&quot;top&quot;:159.4,&quot;width&quot;:444.40492125984247}"/>
</p:tagLst>
</file>

<file path=ppt/tags/tag10.xml><?xml version="1.0" encoding="utf-8"?>
<p:tagLst xmlns:p="http://schemas.openxmlformats.org/presentationml/2006/main">
  <p:tag name="KSO_WM_DIAGRAM_VIRTUALLY_FRAME" val="{&quot;height&quot;:372.50669291338573,&quot;left&quot;:435.59507874015753,&quot;top&quot;:159.4,&quot;width&quot;:444.40492125984247}"/>
</p:tagLst>
</file>

<file path=ppt/tags/tag11.xml><?xml version="1.0" encoding="utf-8"?>
<p:tagLst xmlns:p="http://schemas.openxmlformats.org/presentationml/2006/main">
  <p:tag name="KSO_WM_DIAGRAM_VIRTUALLY_FRAME" val="{&quot;height&quot;:372.50669291338573,&quot;left&quot;:435.59507874015753,&quot;top&quot;:159.4,&quot;width&quot;:444.40492125984247}"/>
</p:tagLst>
</file>

<file path=ppt/tags/tag12.xml><?xml version="1.0" encoding="utf-8"?>
<p:tagLst xmlns:p="http://schemas.openxmlformats.org/presentationml/2006/main">
  <p:tag name="KSO_WM_DIAGRAM_VIRTUALLY_FRAME" val="{&quot;height&quot;:372.50669291338573,&quot;left&quot;:435.59507874015753,&quot;top&quot;:159.4,&quot;width&quot;:444.40492125984247}"/>
</p:tagLst>
</file>

<file path=ppt/tags/tag13.xml><?xml version="1.0" encoding="utf-8"?>
<p:tagLst xmlns:p="http://schemas.openxmlformats.org/presentationml/2006/main">
  <p:tag name="KSO_WM_DIAGRAM_VIRTUALLY_FRAME" val="{&quot;height&quot;:372.50669291338573,&quot;left&quot;:435.59507874015753,&quot;top&quot;:159.4,&quot;width&quot;:444.40492125984247}"/>
</p:tagLst>
</file>

<file path=ppt/tags/tag14.xml><?xml version="1.0" encoding="utf-8"?>
<p:tagLst xmlns:p="http://schemas.openxmlformats.org/presentationml/2006/main">
  <p:tag name="KSO_WM_DIAGRAM_VIRTUALLY_FRAME" val="{&quot;height&quot;:372.50669291338573,&quot;left&quot;:435.59507874015753,&quot;top&quot;:159.4,&quot;width&quot;:444.40492125984247}"/>
</p:tagLst>
</file>

<file path=ppt/tags/tag15.xml><?xml version="1.0" encoding="utf-8"?>
<p:tagLst xmlns:p="http://schemas.openxmlformats.org/presentationml/2006/main">
  <p:tag name="KSO_WM_DIAGRAM_VIRTUALLY_FRAME" val="{&quot;height&quot;:372.50669291338573,&quot;left&quot;:435.59507874015753,&quot;top&quot;:159.4,&quot;width&quot;:444.40492125984247}"/>
</p:tagLst>
</file>

<file path=ppt/tags/tag16.xml><?xml version="1.0" encoding="utf-8"?>
<p:tagLst xmlns:p="http://schemas.openxmlformats.org/presentationml/2006/main">
  <p:tag name="KSO_WM_DIAGRAM_VIRTUALLY_FRAME" val="{&quot;height&quot;:372.50669291338573,&quot;left&quot;:435.59507874015753,&quot;top&quot;:159.4,&quot;width&quot;:444.40492125984247}"/>
</p:tagLst>
</file>

<file path=ppt/tags/tag17.xml><?xml version="1.0" encoding="utf-8"?>
<p:tagLst xmlns:p="http://schemas.openxmlformats.org/presentationml/2006/main">
  <p:tag name="KSO_WM_DIAGRAM_VIRTUALLY_FRAME" val="{&quot;height&quot;:372.50669291338573,&quot;left&quot;:435.59507874015753,&quot;top&quot;:159.4,&quot;width&quot;:444.40492125984247}"/>
</p:tagLst>
</file>

<file path=ppt/tags/tag18.xml><?xml version="1.0" encoding="utf-8"?>
<p:tagLst xmlns:p="http://schemas.openxmlformats.org/presentationml/2006/main">
  <p:tag name="KSO_WM_DIAGRAM_VIRTUALLY_FRAME" val="{&quot;height&quot;:372.50669291338573,&quot;left&quot;:435.59507874015753,&quot;top&quot;:159.4,&quot;width&quot;:444.40492125984247}"/>
</p:tagLst>
</file>

<file path=ppt/tags/tag19.xml><?xml version="1.0" encoding="utf-8"?>
<p:tagLst xmlns:p="http://schemas.openxmlformats.org/presentationml/2006/main">
  <p:tag name="KSO_WM_DIAGRAM_VIRTUALLY_FRAME" val="{&quot;height&quot;:372.50669291338573,&quot;left&quot;:435.59507874015753,&quot;top&quot;:159.4,&quot;width&quot;:444.40492125984247}"/>
</p:tagLst>
</file>

<file path=ppt/tags/tag20.xml><?xml version="1.0" encoding="utf-8"?>
<p:tagLst xmlns:p="http://schemas.openxmlformats.org/presentationml/2006/main">
  <p:tag name="KSO_WM_DIAGRAM_VIRTUALLY_FRAME" val="{&quot;height&quot;:372.50669291338573,&quot;left&quot;:435.59507874015753,&quot;top&quot;:159.4,&quot;width&quot;:444.40492125984247}"/>
</p:tagLst>
</file>

<file path=ppt/tags/tag21.xml><?xml version="1.0" encoding="utf-8"?>
<p:tagLst xmlns:p="http://schemas.openxmlformats.org/presentationml/2006/main">
  <p:tag name="KSO_WM_DIAGRAM_VIRTUALLY_FRAME" val="{&quot;height&quot;:372.50669291338573,&quot;left&quot;:435.59507874015753,&quot;top&quot;:159.4,&quot;width&quot;:444.40492125984247}"/>
</p:tagLst>
</file>

<file path=ppt/tags/tag22.xml><?xml version="1.0" encoding="utf-8"?>
<p:tagLst xmlns:p="http://schemas.openxmlformats.org/presentationml/2006/main">
  <p:tag name="KSO_WM_DIAGRAM_VIRTUALLY_FRAME" val="{&quot;height&quot;:372.50669291338573,&quot;left&quot;:435.59507874015753,&quot;top&quot;:159.4,&quot;width&quot;:444.40492125984247}"/>
</p:tagLst>
</file>

<file path=ppt/tags/tag23.xml><?xml version="1.0" encoding="utf-8"?>
<p:tagLst xmlns:p="http://schemas.openxmlformats.org/presentationml/2006/main">
  <p:tag name="KSO_WM_DIAGRAM_VIRTUALLY_FRAME" val="{&quot;height&quot;:341.1566929133857,&quot;left&quot;:435.59507874015753,&quot;top&quot;:159.4,&quot;width&quot;:440.9549212598425}"/>
</p:tagLst>
</file>

<file path=ppt/tags/tag24.xml><?xml version="1.0" encoding="utf-8"?>
<p:tagLst xmlns:p="http://schemas.openxmlformats.org/presentationml/2006/main">
  <p:tag name="KSO_WM_DIAGRAM_VIRTUALLY_FRAME" val="{&quot;height&quot;:372.50669291338573,&quot;left&quot;:435.59507874015753,&quot;top&quot;:159.4,&quot;width&quot;:440.9549212598425}"/>
</p:tagLst>
</file>

<file path=ppt/tags/tag25.xml><?xml version="1.0" encoding="utf-8"?>
<p:tagLst xmlns:p="http://schemas.openxmlformats.org/presentationml/2006/main">
  <p:tag name="KSO_WM_DIAGRAM_VIRTUALLY_FRAME" val="{&quot;height&quot;:341.1566929133857,&quot;left&quot;:435.59507874015753,&quot;top&quot;:159.4,&quot;width&quot;:440.9549212598425}"/>
</p:tagLst>
</file>

<file path=ppt/tags/tag26.xml><?xml version="1.0" encoding="utf-8"?>
<p:tagLst xmlns:p="http://schemas.openxmlformats.org/presentationml/2006/main">
  <p:tag name="KSO_WM_DIAGRAM_VIRTUALLY_FRAME" val="{&quot;height&quot;:372.50669291338573,&quot;left&quot;:435.59507874015753,&quot;top&quot;:159.4,&quot;width&quot;:440.9549212598425}"/>
</p:tagLst>
</file>

<file path=ppt/tags/tag27.xml><?xml version="1.0" encoding="utf-8"?>
<p:tagLst xmlns:p="http://schemas.openxmlformats.org/presentationml/2006/main">
  <p:tag name="KSO_WM_DIAGRAM_VIRTUALLY_FRAME" val="{&quot;height&quot;:372.50669291338573,&quot;left&quot;:435.59507874015753,&quot;top&quot;:159.4,&quot;width&quot;:440.9549212598425}"/>
</p:tagLst>
</file>

<file path=ppt/tags/tag28.xml><?xml version="1.0" encoding="utf-8"?>
<p:tagLst xmlns:p="http://schemas.openxmlformats.org/presentationml/2006/main">
  <p:tag name="KSO_WM_DIAGRAM_VIRTUALLY_FRAME" val="{&quot;height&quot;:451.6968503937008,&quot;left&quot;:221.15,&quot;top&quot;:97.6,&quot;width&quot;:699.95}"/>
</p:tagLst>
</file>

<file path=ppt/tags/tag29.xml><?xml version="1.0" encoding="utf-8"?>
<p:tagLst xmlns:p="http://schemas.openxmlformats.org/presentationml/2006/main">
  <p:tag name="KSO_WM_DIAGRAM_VIRTUALLY_FRAME" val="{&quot;height&quot;:451.6968503937008,&quot;left&quot;:221.15,&quot;top&quot;:97.6,&quot;width&quot;:699.95}"/>
</p:tagLst>
</file>

<file path=ppt/tags/tag30.xml><?xml version="1.0" encoding="utf-8"?>
<p:tagLst xmlns:p="http://schemas.openxmlformats.org/presentationml/2006/main">
  <p:tag name="KSO_WM_DIAGRAM_VIRTUALLY_FRAME" val="{&quot;height&quot;:451.6968503937008,&quot;left&quot;:221.15,&quot;top&quot;:97.6,&quot;width&quot;:699.95}"/>
</p:tagLst>
</file>

<file path=ppt/tags/tag31.xml><?xml version="1.0" encoding="utf-8"?>
<p:tagLst xmlns:p="http://schemas.openxmlformats.org/presentationml/2006/main">
  <p:tag name="KSO_WM_DIAGRAM_VIRTUALLY_FRAME" val="{&quot;height&quot;:451.6968503937008,&quot;left&quot;:221.15,&quot;top&quot;:97.6,&quot;width&quot;:699.95}"/>
</p:tagLst>
</file>

<file path=ppt/tags/tag32.xml><?xml version="1.0" encoding="utf-8"?>
<p:tagLst xmlns:p="http://schemas.openxmlformats.org/presentationml/2006/main">
  <p:tag name="KSO_WM_DIAGRAM_VIRTUALLY_FRAME" val="{&quot;height&quot;:451.6968503937008,&quot;left&quot;:221.15,&quot;top&quot;:97.6,&quot;width&quot;:699.95}"/>
</p:tagLst>
</file>

<file path=ppt/tags/tag33.xml><?xml version="1.0" encoding="utf-8"?>
<p:tagLst xmlns:p="http://schemas.openxmlformats.org/presentationml/2006/main">
  <p:tag name="KSO_WM_DIAGRAM_VIRTUALLY_FRAME" val="{&quot;height&quot;:451.6968503937008,&quot;left&quot;:221.15,&quot;top&quot;:97.6,&quot;width&quot;:699.95}"/>
</p:tagLst>
</file>

<file path=ppt/tags/tag34.xml><?xml version="1.0" encoding="utf-8"?>
<p:tagLst xmlns:p="http://schemas.openxmlformats.org/presentationml/2006/main">
  <p:tag name="KSO_WM_DIAGRAM_VIRTUALLY_FRAME" val="{&quot;height&quot;:451.6968503937008,&quot;left&quot;:221.15,&quot;top&quot;:97.6,&quot;width&quot;:699.95}"/>
</p:tagLst>
</file>

<file path=ppt/tags/tag35.xml><?xml version="1.0" encoding="utf-8"?>
<p:tagLst xmlns:p="http://schemas.openxmlformats.org/presentationml/2006/main">
  <p:tag name="KSO_WM_DIAGRAM_VIRTUALLY_FRAME" val="{&quot;height&quot;:451.6968503937008,&quot;left&quot;:221.15,&quot;top&quot;:97.6,&quot;width&quot;:699.95}"/>
</p:tagLst>
</file>

<file path=ppt/tags/tag36.xml><?xml version="1.0" encoding="utf-8"?>
<p:tagLst xmlns:p="http://schemas.openxmlformats.org/presentationml/2006/main">
  <p:tag name="KSO_WM_DIAGRAM_VIRTUALLY_FRAME" val="{&quot;height&quot;:451.6968503937008,&quot;left&quot;:221.15,&quot;top&quot;:97.6,&quot;width&quot;:699.95}"/>
</p:tagLst>
</file>

<file path=ppt/tags/tag37.xml><?xml version="1.0" encoding="utf-8"?>
<p:tagLst xmlns:p="http://schemas.openxmlformats.org/presentationml/2006/main">
  <p:tag name="KSO_WM_DIAGRAM_VIRTUALLY_FRAME" val="{&quot;height&quot;:451.6968503937008,&quot;left&quot;:221.15,&quot;top&quot;:97.6,&quot;width&quot;:699.95}"/>
</p:tagLst>
</file>

<file path=ppt/tags/tag38.xml><?xml version="1.0" encoding="utf-8"?>
<p:tagLst xmlns:p="http://schemas.openxmlformats.org/presentationml/2006/main">
  <p:tag name="KSO_WM_DIAGRAM_VIRTUALLY_FRAME" val="{&quot;height&quot;:451.6968503937008,&quot;left&quot;:221.15,&quot;top&quot;:97.6,&quot;width&quot;:699.95}"/>
</p:tagLst>
</file>

<file path=ppt/tags/tag39.xml><?xml version="1.0" encoding="utf-8"?>
<p:tagLst xmlns:p="http://schemas.openxmlformats.org/presentationml/2006/main">
  <p:tag name="KSO_WM_DIAGRAM_VIRTUALLY_FRAME" val="{&quot;height&quot;:451.6968503937008,&quot;left&quot;:221.15,&quot;top&quot;:97.6,&quot;width&quot;:699.95}"/>
</p:tagLst>
</file>

<file path=ppt/tags/tag40.xml><?xml version="1.0" encoding="utf-8"?>
<p:tagLst xmlns:p="http://schemas.openxmlformats.org/presentationml/2006/main">
  <p:tag name="KSO_WM_DIAGRAM_VIRTUALLY_FRAME" val="{&quot;height&quot;:451.6968503937008,&quot;left&quot;:221.15,&quot;top&quot;:97.6,&quot;width&quot;:699.95}"/>
</p:tagLst>
</file>

<file path=ppt/tags/tag41.xml><?xml version="1.0" encoding="utf-8"?>
<p:tagLst xmlns:p="http://schemas.openxmlformats.org/presentationml/2006/main">
  <p:tag name="KSO_WM_DIAGRAM_VIRTUALLY_FRAME" val="{&quot;height&quot;:451.6968503937008,&quot;left&quot;:221.15,&quot;top&quot;:97.6,&quot;width&quot;:699.95}"/>
</p:tagLst>
</file>

<file path=ppt/tags/tag42.xml><?xml version="1.0" encoding="utf-8"?>
<p:tagLst xmlns:p="http://schemas.openxmlformats.org/presentationml/2006/main">
  <p:tag name="KSO_WM_DIAGRAM_VIRTUALLY_FRAME" val="{&quot;height&quot;:451.6968503937008,&quot;left&quot;:221.15,&quot;top&quot;:97.6,&quot;width&quot;:699.95}"/>
</p:tagLst>
</file>

<file path=ppt/tags/tag43.xml><?xml version="1.0" encoding="utf-8"?>
<p:tagLst xmlns:p="http://schemas.openxmlformats.org/presentationml/2006/main">
  <p:tag name="KSO_WM_DIAGRAM_VIRTUALLY_FRAME" val="{&quot;height&quot;:451.6968503937008,&quot;left&quot;:221.15,&quot;top&quot;:97.6,&quot;width&quot;:699.95}"/>
</p:tagLst>
</file>

<file path=ppt/tags/tag44.xml><?xml version="1.0" encoding="utf-8"?>
<p:tagLst xmlns:p="http://schemas.openxmlformats.org/presentationml/2006/main">
  <p:tag name="KSO_WM_DIAGRAM_VIRTUALLY_FRAME" val="{&quot;height&quot;:451.6968503937008,&quot;left&quot;:221.15,&quot;top&quot;:97.6,&quot;width&quot;:699.95}"/>
</p:tagLst>
</file>

<file path=ppt/tags/tag45.xml><?xml version="1.0" encoding="utf-8"?>
<p:tagLst xmlns:p="http://schemas.openxmlformats.org/presentationml/2006/main">
  <p:tag name="KSO_WM_DIAGRAM_VIRTUALLY_FRAME" val="{&quot;height&quot;:451.6968503937008,&quot;left&quot;:221.15,&quot;top&quot;:97.6,&quot;width&quot;:699.95}"/>
</p:tagLst>
</file>

<file path=ppt/tags/tag46.xml><?xml version="1.0" encoding="utf-8"?>
<p:tagLst xmlns:p="http://schemas.openxmlformats.org/presentationml/2006/main">
  <p:tag name="KSO_WM_DIAGRAM_VIRTUALLY_FRAME" val="{&quot;height&quot;:451.6968503937008,&quot;left&quot;:221.15,&quot;top&quot;:97.6,&quot;width&quot;:699.95}"/>
</p:tagLst>
</file>

<file path=ppt/tags/tag47.xml><?xml version="1.0" encoding="utf-8"?>
<p:tagLst xmlns:p="http://schemas.openxmlformats.org/presentationml/2006/main">
  <p:tag name="KSO_WM_DIAGRAM_VIRTUALLY_FRAME" val="{&quot;height&quot;:451.6968503937008,&quot;left&quot;:221.15,&quot;top&quot;:97.6,&quot;width&quot;:699.95}"/>
</p:tagLst>
</file>

<file path=ppt/tags/tag48.xml><?xml version="1.0" encoding="utf-8"?>
<p:tagLst xmlns:p="http://schemas.openxmlformats.org/presentationml/2006/main">
  <p:tag name="KSO_WM_DIAGRAM_VIRTUALLY_FRAME" val="{&quot;height&quot;:451.6968503937008,&quot;left&quot;:221.15,&quot;top&quot;:97.6,&quot;width&quot;:699.95}"/>
</p:tagLst>
</file>

<file path=ppt/tags/tag49.xml><?xml version="1.0" encoding="utf-8"?>
<p:tagLst xmlns:p="http://schemas.openxmlformats.org/presentationml/2006/main">
  <p:tag name="KSO_WM_DIAGRAM_VIRTUALLY_FRAME" val="{&quot;height&quot;:451.6968503937008,&quot;left&quot;:221.15,&quot;top&quot;:97.6,&quot;width&quot;:699.95}"/>
</p:tagLst>
</file>

<file path=ppt/tags/tag50.xml><?xml version="1.0" encoding="utf-8"?>
<p:tagLst xmlns:p="http://schemas.openxmlformats.org/presentationml/2006/main">
  <p:tag name="KSO_WM_DIAGRAM_VIRTUALLY_FRAME" val="{&quot;height&quot;:451.6968503937008,&quot;left&quot;:221.15,&quot;top&quot;:97.6,&quot;width&quot;:699.95}"/>
</p:tagLst>
</file>

<file path=ppt/tags/tag51.xml><?xml version="1.0" encoding="utf-8"?>
<p:tagLst xmlns:p="http://schemas.openxmlformats.org/presentationml/2006/main">
  <p:tag name="KSO_WM_DIAGRAM_VIRTUALLY_FRAME" val="{&quot;height&quot;:451.6968503937008,&quot;left&quot;:221.15,&quot;top&quot;:97.6,&quot;width&quot;:699.95}"/>
</p:tagLst>
</file>

<file path=ppt/tags/tag52.xml><?xml version="1.0" encoding="utf-8"?>
<p:tagLst xmlns:p="http://schemas.openxmlformats.org/presentationml/2006/main">
  <p:tag name="KSO_WM_DIAGRAM_VIRTUALLY_FRAME" val="{&quot;height&quot;:393.2,&quot;left&quot;:297,&quot;top&quot;:107.95,&quot;width&quot;:607.4}"/>
</p:tagLst>
</file>

<file path=ppt/tags/tag53.xml><?xml version="1.0" encoding="utf-8"?>
<p:tagLst xmlns:p="http://schemas.openxmlformats.org/presentationml/2006/main">
  <p:tag name="KSO_WM_DIAGRAM_VIRTUALLY_FRAME" val="{&quot;height&quot;:393.2,&quot;left&quot;:297,&quot;top&quot;:107.95,&quot;width&quot;:607.4}"/>
</p:tagLst>
</file>

<file path=ppt/tags/tag54.xml><?xml version="1.0" encoding="utf-8"?>
<p:tagLst xmlns:p="http://schemas.openxmlformats.org/presentationml/2006/main">
  <p:tag name="KSO_WM_DIAGRAM_VIRTUALLY_FRAME" val="{&quot;height&quot;:393.2,&quot;left&quot;:297,&quot;top&quot;:107.95,&quot;width&quot;:607.4}"/>
</p:tagLst>
</file>

<file path=ppt/tags/tag55.xml><?xml version="1.0" encoding="utf-8"?>
<p:tagLst xmlns:p="http://schemas.openxmlformats.org/presentationml/2006/main">
  <p:tag name="KSO_WM_DIAGRAM_VIRTUALLY_FRAME" val="{&quot;height&quot;:393.2,&quot;left&quot;:297,&quot;top&quot;:107.95,&quot;width&quot;:607.4}"/>
</p:tagLst>
</file>

<file path=ppt/tags/tag56.xml><?xml version="1.0" encoding="utf-8"?>
<p:tagLst xmlns:p="http://schemas.openxmlformats.org/presentationml/2006/main">
  <p:tag name="KSO_WM_DIAGRAM_VIRTUALLY_FRAME" val="{&quot;height&quot;:393.2,&quot;left&quot;:297,&quot;top&quot;:107.95,&quot;width&quot;:607.4}"/>
</p:tagLst>
</file>

<file path=ppt/tags/tag57.xml><?xml version="1.0" encoding="utf-8"?>
<p:tagLst xmlns:p="http://schemas.openxmlformats.org/presentationml/2006/main">
  <p:tag name="KSO_WM_DIAGRAM_VIRTUALLY_FRAME" val="{&quot;height&quot;:393.2,&quot;left&quot;:297,&quot;top&quot;:107.95,&quot;width&quot;:607.4}"/>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18641</Words>
  <Application>WPS 演示</Application>
  <PresentationFormat>On-screen Show (16:9)</PresentationFormat>
  <Paragraphs>354</Paragraphs>
  <Slides>46</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46</vt:i4>
      </vt:variant>
    </vt:vector>
  </HeadingPairs>
  <TitlesOfParts>
    <vt:vector size="59" baseType="lpstr">
      <vt:lpstr>Arial</vt:lpstr>
      <vt:lpstr>宋体</vt:lpstr>
      <vt:lpstr>Wingdings</vt:lpstr>
      <vt:lpstr>MiSans</vt:lpstr>
      <vt:lpstr>MiSans</vt:lpstr>
      <vt:lpstr>Calibri</vt:lpstr>
      <vt:lpstr>微软雅黑</vt:lpstr>
      <vt:lpstr>Arial Unicode MS</vt:lpstr>
      <vt:lpstr>等线</vt:lpstr>
      <vt:lpstr>Cambria Math</vt:lpstr>
      <vt:lpstr>PMingLiU</vt:lpstr>
      <vt:lpstr>Segoe Print</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WPS_1539603759</cp:lastModifiedBy>
  <cp:revision>6</cp:revision>
  <dcterms:created xsi:type="dcterms:W3CDTF">2025-06-30T16:24:00Z</dcterms:created>
  <dcterms:modified xsi:type="dcterms:W3CDTF">2025-07-02T06:48:23Z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07FC291D9CD44B59BF558DB0782B0811_12</vt:lpwstr>
  </property>
  <property fmtid="{D5CDD505-2E9C-101B-9397-08002B2CF9AE}" pid="3" name="KSOProductBuildVer">
    <vt:lpwstr>2052-12.1.0.21541</vt:lpwstr>
  </property>
</Properties>
</file>