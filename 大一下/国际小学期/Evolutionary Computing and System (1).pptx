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303" r:id="rId9"/>
    <p:sldId id="307" r:id="rId10"/>
    <p:sldId id="308" r:id="rId11"/>
    <p:sldId id="261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32" r:id="rId26"/>
    <p:sldId id="322" r:id="rId27"/>
    <p:sldId id="327" r:id="rId28"/>
    <p:sldId id="328" r:id="rId29"/>
    <p:sldId id="329" r:id="rId30"/>
    <p:sldId id="330" r:id="rId31"/>
    <p:sldId id="331" r:id="rId32"/>
    <p:sldId id="333" r:id="rId33"/>
    <p:sldId id="334" r:id="rId34"/>
    <p:sldId id="335" r:id="rId35"/>
    <p:sldId id="336" r:id="rId36"/>
    <p:sldId id="337" r:id="rId37"/>
    <p:sldId id="338" r:id="rId38"/>
    <p:sldId id="339" r:id="rId39"/>
    <p:sldId id="340" r:id="rId40"/>
    <p:sldId id="342" r:id="rId41"/>
    <p:sldId id="343" r:id="rId42"/>
    <p:sldId id="344" r:id="rId43"/>
    <p:sldId id="264" r:id="rId44"/>
    <p:sldId id="345" r:id="rId45"/>
    <p:sldId id="346" r:id="rId46"/>
    <p:sldId id="347" r:id="rId47"/>
    <p:sldId id="348" r:id="rId48"/>
    <p:sldId id="349" r:id="rId49"/>
    <p:sldId id="350" r:id="rId50"/>
    <p:sldId id="280" r:id="rId51"/>
  </p:sldIdLst>
  <p:sldSz cx="12192000" cy="6858000"/>
  <p:notesSz cx="6858000" cy="12192000"/>
  <p:embeddedFontLst>
    <p:embeddedFont>
      <p:font typeface="MiSans" pitchFamily="34" charset="-122"/>
      <p:regular r:id="rId55"/>
    </p:embeddedFont>
    <p:embeddedFont>
      <p:font typeface="MiSans" pitchFamily="34" charset="-120"/>
      <p:regular r:id="rId56"/>
    </p:embeddedFont>
    <p:embeddedFont>
      <p:font typeface="Calibri" panose="020F0502020204030204" charset="0"/>
      <p:regular r:id="rId57"/>
      <p:bold r:id="rId58"/>
      <p:italic r:id="rId59"/>
      <p:boldItalic r:id="rId60"/>
    </p:embeddedFont>
    <p:embeddedFont>
      <p:font typeface="等线" panose="02010600030101010101" charset="-122"/>
      <p:regular r:id="rId6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1" Type="http://schemas.openxmlformats.org/officeDocument/2006/relationships/font" Target="fonts/font7.fntdata"/><Relationship Id="rId60" Type="http://schemas.openxmlformats.org/officeDocument/2006/relationships/font" Target="fonts/font6.fntdata"/><Relationship Id="rId6" Type="http://schemas.openxmlformats.org/officeDocument/2006/relationships/slide" Target="slides/slide3.xml"/><Relationship Id="rId59" Type="http://schemas.openxmlformats.org/officeDocument/2006/relationships/font" Target="fonts/font5.fntdata"/><Relationship Id="rId58" Type="http://schemas.openxmlformats.org/officeDocument/2006/relationships/font" Target="fonts/font4.fntdata"/><Relationship Id="rId57" Type="http://schemas.openxmlformats.org/officeDocument/2006/relationships/font" Target="fonts/font3.fntdata"/><Relationship Id="rId56" Type="http://schemas.openxmlformats.org/officeDocument/2006/relationships/font" Target="fonts/font2.fntdata"/><Relationship Id="rId55" Type="http://schemas.openxmlformats.org/officeDocument/2006/relationships/font" Target="fonts/font1.fntdata"/><Relationship Id="rId54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14-d0shppk75iks832je4vg.png"/>
          <p:cNvPicPr>
            <a:picLocks noChangeAspect="1"/>
          </p:cNvPicPr>
          <p:nvPr/>
        </p:nvPicPr>
        <p:blipFill>
          <a:blip r:embed="rId1"/>
          <a:srcRect l="13" r="13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80260" y="1444625"/>
            <a:ext cx="8327390" cy="28613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Evolutionary Computing and Systems</a:t>
            </a:r>
            <a:endParaRPr lang="en-US" sz="6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03-d0shpms75iks832je4v0.png"/>
          <p:cNvPicPr>
            <a:picLocks noChangeAspect="1"/>
          </p:cNvPicPr>
          <p:nvPr/>
        </p:nvPicPr>
        <p:blipFill>
          <a:blip r:embed="rId1"/>
          <a:srcRect t="3326" b="11223"/>
          <a:stretch>
            <a:fillRect/>
          </a:stretch>
        </p:blipFill>
        <p:spPr>
          <a:xfrm>
            <a:off x="0" y="0"/>
            <a:ext cx="4874260" cy="6851015"/>
          </a:xfrm>
          <a:prstGeom prst="rect">
            <a:avLst/>
          </a:prstGeom>
        </p:spPr>
      </p:pic>
      <p:sp>
        <p:nvSpPr>
          <p:cNvPr id="3" name="Shape 0"/>
          <p:cNvSpPr/>
          <p:nvPr>
            <p:custDataLst>
              <p:tags r:id="rId2"/>
            </p:custDataLst>
          </p:nvPr>
        </p:nvSpPr>
        <p:spPr>
          <a:xfrm rot="5400000">
            <a:off x="5469255" y="2166219"/>
            <a:ext cx="293611" cy="293736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4" name="Text 1"/>
          <p:cNvSpPr/>
          <p:nvPr/>
        </p:nvSpPr>
        <p:spPr>
          <a:xfrm rot="5400000">
            <a:off x="5469890" y="2291949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>
            <p:custDataLst>
              <p:tags r:id="rId3"/>
            </p:custDataLst>
          </p:nvPr>
        </p:nvSpPr>
        <p:spPr>
          <a:xfrm rot="5400000">
            <a:off x="5645047" y="2336344"/>
            <a:ext cx="293611" cy="293736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6" name="Text 3"/>
          <p:cNvSpPr/>
          <p:nvPr/>
        </p:nvSpPr>
        <p:spPr>
          <a:xfrm rot="5400000">
            <a:off x="5470422" y="2392859"/>
            <a:ext cx="293611" cy="2937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>
            <p:custDataLst>
              <p:tags r:id="rId4"/>
            </p:custDataLst>
          </p:nvPr>
        </p:nvSpPr>
        <p:spPr>
          <a:xfrm>
            <a:off x="6099482" y="2312035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>
            <p:custDataLst>
              <p:tags r:id="rId5"/>
            </p:custDataLst>
          </p:nvPr>
        </p:nvSpPr>
        <p:spPr>
          <a:xfrm>
            <a:off x="6786347" y="2165724"/>
            <a:ext cx="4469663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Introduction and Basic Principles of Evolutionary Computation</a:t>
            </a:r>
            <a:endParaRPr 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6"/>
          <p:cNvSpPr/>
          <p:nvPr>
            <p:custDataLst>
              <p:tags r:id="rId6"/>
            </p:custDataLst>
          </p:nvPr>
        </p:nvSpPr>
        <p:spPr>
          <a:xfrm rot="5400000">
            <a:off x="5470525" y="3218374"/>
            <a:ext cx="293611" cy="293331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10" name="Text 7"/>
          <p:cNvSpPr/>
          <p:nvPr/>
        </p:nvSpPr>
        <p:spPr>
          <a:xfrm rot="5400000">
            <a:off x="5519420" y="3108325"/>
            <a:ext cx="293370" cy="2686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 rot="5400000">
            <a:off x="5645047" y="3218164"/>
            <a:ext cx="293611" cy="293331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2" name="Text 9"/>
          <p:cNvSpPr/>
          <p:nvPr/>
        </p:nvSpPr>
        <p:spPr>
          <a:xfrm rot="5400000">
            <a:off x="5470422" y="312926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>
            <p:custDataLst>
              <p:tags r:id="rId8"/>
            </p:custDataLst>
          </p:nvPr>
        </p:nvSpPr>
        <p:spPr>
          <a:xfrm>
            <a:off x="6018837" y="324485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1"/>
          <p:cNvSpPr/>
          <p:nvPr>
            <p:custDataLst>
              <p:tags r:id="rId9"/>
            </p:custDataLst>
          </p:nvPr>
        </p:nvSpPr>
        <p:spPr>
          <a:xfrm>
            <a:off x="6785712" y="3173431"/>
            <a:ext cx="4469663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Genetic Algorithm (GA) and Key Techniques</a:t>
            </a:r>
            <a:endParaRPr lang="en-US" sz="20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Shape 12"/>
          <p:cNvSpPr/>
          <p:nvPr>
            <p:custDataLst>
              <p:tags r:id="rId10"/>
            </p:custDataLst>
          </p:nvPr>
        </p:nvSpPr>
        <p:spPr>
          <a:xfrm rot="5400000">
            <a:off x="5470525" y="4026729"/>
            <a:ext cx="293611" cy="293331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16" name="Text 13"/>
          <p:cNvSpPr/>
          <p:nvPr/>
        </p:nvSpPr>
        <p:spPr>
          <a:xfrm rot="5400000">
            <a:off x="5532120" y="4026729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>
            <p:custDataLst>
              <p:tags r:id="rId11"/>
            </p:custDataLst>
          </p:nvPr>
        </p:nvSpPr>
        <p:spPr>
          <a:xfrm rot="5400000">
            <a:off x="5645047" y="4092559"/>
            <a:ext cx="293611" cy="293331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8" name="Text 15"/>
          <p:cNvSpPr/>
          <p:nvPr/>
        </p:nvSpPr>
        <p:spPr>
          <a:xfrm rot="5400000">
            <a:off x="5532017" y="404366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6090592" y="4019550"/>
            <a:ext cx="686598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6786245" y="4043680"/>
            <a:ext cx="4921885" cy="8299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ym typeface="+mn-ea"/>
              </a:rPr>
              <a:t>Typical Applications of Evolutionary Computation</a:t>
            </a:r>
            <a:endParaRPr lang="en-US" sz="24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8" name="Text 25"/>
          <p:cNvSpPr/>
          <p:nvPr/>
        </p:nvSpPr>
        <p:spPr>
          <a:xfrm rot="5400000">
            <a:off x="5532120" y="4835084"/>
            <a:ext cx="293611" cy="293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407025" y="458470"/>
            <a:ext cx="3513455" cy="1289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r>
              <a:rPr lang="en-US" sz="4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0000">
                    <a:alpha val="27843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r>
              <a:rPr lang="en-US" sz="3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1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2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568515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Introduction and Basic Principles of Evolutionary Computation</a:t>
            </a:r>
            <a:endParaRPr lang="en-US" sz="32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​​Introduction to Evolutionary Computation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8857615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85528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Definition: A stochastic search and optimization method based on natural  selection and genetic mechanisms.</a:t>
            </a:r>
            <a:endParaRPr lang="en-US" altLang="zh-CN" sz="2000"/>
          </a:p>
        </p:txBody>
      </p:sp>
      <p:sp>
        <p:nvSpPr>
          <p:cNvPr id="19" name="Shape 13"/>
          <p:cNvSpPr/>
          <p:nvPr/>
        </p:nvSpPr>
        <p:spPr>
          <a:xfrm>
            <a:off x="800100" y="2684145"/>
            <a:ext cx="2839085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文本框 26"/>
          <p:cNvSpPr txBox="1"/>
          <p:nvPr/>
        </p:nvSpPr>
        <p:spPr>
          <a:xfrm>
            <a:off x="924560" y="2850515"/>
            <a:ext cx="25996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Historical Development:</a:t>
            </a:r>
            <a:endParaRPr lang="en-US" altLang="zh-CN" sz="2000"/>
          </a:p>
        </p:txBody>
      </p:sp>
      <p:sp>
        <p:nvSpPr>
          <p:cNvPr id="28" name="文本框 27"/>
          <p:cNvSpPr txBox="1"/>
          <p:nvPr/>
        </p:nvSpPr>
        <p:spPr>
          <a:xfrm>
            <a:off x="1717675" y="3657600"/>
            <a:ext cx="740219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1950s: Emergence of genetic algorithm concepts (Holland)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1970s–1990s: Development of evolution strategies (Rechenberg), genetic programming, and other evolutionary algorithms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2000s–Present: Multi-objective optimization, hybrid intelligence, integration with deep learning</a:t>
            </a:r>
            <a:endParaRPr lang="en-US" altLang="zh-CN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773170" y="1443355"/>
            <a:ext cx="8102600" cy="449961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gradFill flip="none" rotWithShape="1">
              <a:gsLst>
                <a:gs pos="0">
                  <a:srgbClr val="E0E9C9"/>
                </a:gs>
                <a:gs pos="50000">
                  <a:srgbClr val="FFFFFF">
                    <a:alpha val="0"/>
                  </a:srgbClr>
                </a:gs>
              </a:gsLst>
              <a:lin ang="10800000" scaled="1"/>
            </a:gra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3773170" y="1443355"/>
            <a:ext cx="8102600" cy="44996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-3471545" y="1610995"/>
            <a:ext cx="7499350" cy="4164330"/>
          </a:xfrm>
          <a:prstGeom prst="roundRect">
            <a:avLst>
              <a:gd name="adj" fmla="val 50000"/>
            </a:avLst>
          </a:prstGeom>
          <a:solidFill>
            <a:srgbClr val="2F493E">
              <a:alpha val="23137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-3471545" y="1610995"/>
            <a:ext cx="7499350" cy="41643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6" name="Image 0" descr="https://test-kimi-img.moonshot.cn/pub/slides/slides_tmpl/image/25-05-30-10:51:05-d0shq6c75iks832je5cg.png"/>
          <p:cNvPicPr>
            <a:picLocks noChangeAspect="1"/>
          </p:cNvPicPr>
          <p:nvPr/>
        </p:nvPicPr>
        <p:blipFill>
          <a:blip r:embed="rId1"/>
          <a:srcRect r="9"/>
          <a:stretch>
            <a:fillRect/>
          </a:stretch>
        </p:blipFill>
        <p:spPr>
          <a:xfrm>
            <a:off x="-3074035" y="1831975"/>
            <a:ext cx="6704965" cy="37230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F49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​​Core Concept: Survival of the Fittest</a:t>
            </a:r>
            <a:endParaRPr lang="en-US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2" name="Shape 9"/>
          <p:cNvSpPr/>
          <p:nvPr>
            <p:custDataLst>
              <p:tags r:id="rId2"/>
            </p:custDataLst>
          </p:nvPr>
        </p:nvSpPr>
        <p:spPr>
          <a:xfrm>
            <a:off x="2808605" y="1239520"/>
            <a:ext cx="652145" cy="663575"/>
          </a:xfrm>
          <a:prstGeom prst="ellipse">
            <a:avLst/>
          </a:prstGeom>
          <a:solidFill>
            <a:srgbClr val="B4CA7C"/>
          </a:solidFill>
        </p:spPr>
      </p:sp>
      <p:sp>
        <p:nvSpPr>
          <p:cNvPr id="13" name="Text 10"/>
          <p:cNvSpPr/>
          <p:nvPr/>
        </p:nvSpPr>
        <p:spPr>
          <a:xfrm>
            <a:off x="2808605" y="1239520"/>
            <a:ext cx="652145" cy="663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>
            <p:custDataLst>
              <p:tags r:id="rId3"/>
            </p:custDataLst>
          </p:nvPr>
        </p:nvSpPr>
        <p:spPr>
          <a:xfrm>
            <a:off x="4010025" y="3220720"/>
            <a:ext cx="652145" cy="663575"/>
          </a:xfrm>
          <a:prstGeom prst="ellipse">
            <a:avLst/>
          </a:prstGeom>
          <a:solidFill>
            <a:srgbClr val="B4CA7C"/>
          </a:solidFill>
        </p:spPr>
      </p:sp>
      <p:sp>
        <p:nvSpPr>
          <p:cNvPr id="15" name="Text 12"/>
          <p:cNvSpPr/>
          <p:nvPr/>
        </p:nvSpPr>
        <p:spPr>
          <a:xfrm>
            <a:off x="4010025" y="3220720"/>
            <a:ext cx="652145" cy="663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>
            <p:custDataLst>
              <p:tags r:id="rId4"/>
            </p:custDataLst>
          </p:nvPr>
        </p:nvSpPr>
        <p:spPr>
          <a:xfrm>
            <a:off x="3161030" y="5215890"/>
            <a:ext cx="652145" cy="663575"/>
          </a:xfrm>
          <a:prstGeom prst="ellipse">
            <a:avLst/>
          </a:prstGeom>
          <a:solidFill>
            <a:srgbClr val="B4CA7C"/>
          </a:solidFill>
        </p:spPr>
      </p:sp>
      <p:sp>
        <p:nvSpPr>
          <p:cNvPr id="17" name="Text 14"/>
          <p:cNvSpPr/>
          <p:nvPr/>
        </p:nvSpPr>
        <p:spPr>
          <a:xfrm>
            <a:off x="3161030" y="5215890"/>
            <a:ext cx="652145" cy="6635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Text 15"/>
          <p:cNvSpPr/>
          <p:nvPr>
            <p:custDataLst>
              <p:tags r:id="rId5"/>
            </p:custDataLst>
          </p:nvPr>
        </p:nvSpPr>
        <p:spPr>
          <a:xfrm>
            <a:off x="2846705" y="1313815"/>
            <a:ext cx="591820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9" name="Text 16"/>
          <p:cNvSpPr/>
          <p:nvPr>
            <p:custDataLst>
              <p:tags r:id="rId6"/>
            </p:custDataLst>
          </p:nvPr>
        </p:nvSpPr>
        <p:spPr>
          <a:xfrm>
            <a:off x="4027170" y="3285490"/>
            <a:ext cx="642620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7"/>
          <p:cNvSpPr/>
          <p:nvPr>
            <p:custDataLst>
              <p:tags r:id="rId7"/>
            </p:custDataLst>
          </p:nvPr>
        </p:nvSpPr>
        <p:spPr>
          <a:xfrm>
            <a:off x="3167380" y="5291455"/>
            <a:ext cx="667385" cy="4296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8"/>
          <p:cNvSpPr/>
          <p:nvPr>
            <p:custDataLst>
              <p:tags r:id="rId8"/>
            </p:custDataLst>
          </p:nvPr>
        </p:nvSpPr>
        <p:spPr>
          <a:xfrm>
            <a:off x="4210685" y="1246505"/>
            <a:ext cx="683895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Population-based searc</a:t>
            </a: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h</a:t>
            </a:r>
            <a:endParaRPr lang="en-US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Text 19"/>
          <p:cNvSpPr/>
          <p:nvPr>
            <p:custDataLst>
              <p:tags r:id="rId9"/>
            </p:custDataLst>
          </p:nvPr>
        </p:nvSpPr>
        <p:spPr>
          <a:xfrm>
            <a:off x="4210685" y="1703070"/>
            <a:ext cx="6838950" cy="13709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1600" dirty="0"/>
              <a:t>Evolutionary algorithms operate on a group of candidate solutions (population) instead of a single one.</a:t>
            </a:r>
            <a:endParaRPr lang="en-US" altLang="zh-CN" sz="16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1600" dirty="0"/>
              <a:t>This allows the algorithm to explore multiple regions of the search space simultaneously, increasing the chance of finding a global optimum.</a:t>
            </a:r>
            <a:endParaRPr lang="en-US" altLang="zh-CN" sz="1600" dirty="0"/>
          </a:p>
        </p:txBody>
      </p:sp>
      <p:sp>
        <p:nvSpPr>
          <p:cNvPr id="23" name="Text 20"/>
          <p:cNvSpPr/>
          <p:nvPr>
            <p:custDataLst>
              <p:tags r:id="rId10"/>
            </p:custDataLst>
          </p:nvPr>
        </p:nvSpPr>
        <p:spPr>
          <a:xfrm>
            <a:off x="4027805" y="5383530"/>
            <a:ext cx="6839585" cy="13709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1600" dirty="0"/>
              <a:t>Evolutionary algorithms use random variation (like crossover and mutation) to explore the search space.</a:t>
            </a:r>
            <a:endParaRPr lang="en-US" altLang="zh-CN" sz="16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1600" dirty="0"/>
              <a:t>However, they also select better individuals, guiding the search in a promising direction over generations.</a:t>
            </a:r>
            <a:endParaRPr lang="en-US" altLang="zh-CN" sz="1600" dirty="0"/>
          </a:p>
        </p:txBody>
      </p:sp>
      <p:sp>
        <p:nvSpPr>
          <p:cNvPr id="24" name="Text 21"/>
          <p:cNvSpPr/>
          <p:nvPr>
            <p:custDataLst>
              <p:tags r:id="rId11"/>
            </p:custDataLst>
          </p:nvPr>
        </p:nvSpPr>
        <p:spPr>
          <a:xfrm>
            <a:off x="4027170" y="5089525"/>
            <a:ext cx="763587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Utilizes randomness for exploration with directional guidance</a:t>
            </a:r>
            <a:endParaRPr lang="en-US" altLang="zh-CN" sz="1600" dirty="0"/>
          </a:p>
        </p:txBody>
      </p:sp>
      <p:sp>
        <p:nvSpPr>
          <p:cNvPr id="25" name="Text 22"/>
          <p:cNvSpPr/>
          <p:nvPr>
            <p:custDataLst>
              <p:tags r:id="rId12"/>
            </p:custDataLst>
          </p:nvPr>
        </p:nvSpPr>
        <p:spPr>
          <a:xfrm>
            <a:off x="4859020" y="3302000"/>
            <a:ext cx="683895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Fitness evaluation determines "quality"</a:t>
            </a:r>
            <a:endParaRPr lang="en-US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6" name="Text 23"/>
          <p:cNvSpPr/>
          <p:nvPr>
            <p:custDataLst>
              <p:tags r:id="rId13"/>
            </p:custDataLst>
          </p:nvPr>
        </p:nvSpPr>
        <p:spPr>
          <a:xfrm>
            <a:off x="4806950" y="3660140"/>
            <a:ext cx="6838950" cy="13709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1600" dirty="0"/>
              <a:t>Each individual (solution) is evaluated by a fitness function, which measures how good the solution is.</a:t>
            </a:r>
            <a:endParaRPr lang="en-US" altLang="zh-CN" sz="1600" dirty="0"/>
          </a:p>
          <a:p>
            <a:pPr marL="0" indent="0" algn="just">
              <a:lnSpc>
                <a:spcPct val="130000"/>
              </a:lnSpc>
              <a:buNone/>
            </a:pPr>
            <a:r>
              <a:rPr lang="en-US" altLang="zh-CN" sz="1600" dirty="0"/>
              <a:t>Higher fitness means a better solution, and these individuals are more likely to be selected for reproduction.</a:t>
            </a:r>
            <a:endParaRPr lang="en-US" altLang="zh-CN" sz="1600" dirty="0"/>
          </a:p>
        </p:txBody>
      </p:sp>
      <p:sp>
        <p:nvSpPr>
          <p:cNvPr id="27" name="文本框 26"/>
          <p:cNvSpPr txBox="1"/>
          <p:nvPr/>
        </p:nvSpPr>
        <p:spPr>
          <a:xfrm>
            <a:off x="11290935" y="52908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​​General Workflow Framework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932420" y="1708150"/>
            <a:ext cx="2103755" cy="492125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" name="Shape 13"/>
          <p:cNvSpPr/>
          <p:nvPr/>
        </p:nvSpPr>
        <p:spPr>
          <a:xfrm>
            <a:off x="7929245" y="2594610"/>
            <a:ext cx="2106930" cy="509905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2" name="Shape 13"/>
          <p:cNvSpPr/>
          <p:nvPr/>
        </p:nvSpPr>
        <p:spPr>
          <a:xfrm>
            <a:off x="7936865" y="676910"/>
            <a:ext cx="2103755" cy="492125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13"/>
          <p:cNvSpPr/>
          <p:nvPr/>
        </p:nvSpPr>
        <p:spPr>
          <a:xfrm>
            <a:off x="7936865" y="5297170"/>
            <a:ext cx="2103755" cy="492125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36865" y="4458335"/>
            <a:ext cx="2103755" cy="492125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7929245" y="3502660"/>
            <a:ext cx="2103755" cy="492125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文本框 20"/>
          <p:cNvSpPr txBox="1"/>
          <p:nvPr/>
        </p:nvSpPr>
        <p:spPr>
          <a:xfrm>
            <a:off x="8004810" y="740410"/>
            <a:ext cx="210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Initialize Population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8288655" y="4518660"/>
            <a:ext cx="1181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Mutation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8333105" y="3574415"/>
            <a:ext cx="1208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Crossover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8333105" y="2629535"/>
            <a:ext cx="1243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Selection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8066405" y="1756410"/>
            <a:ext cx="1695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Evaluate Fitness</a:t>
            </a:r>
            <a:endParaRPr lang="en-US" altLang="zh-CN"/>
          </a:p>
        </p:txBody>
      </p:sp>
      <p:sp>
        <p:nvSpPr>
          <p:cNvPr id="29" name="Shape 13"/>
          <p:cNvSpPr/>
          <p:nvPr/>
        </p:nvSpPr>
        <p:spPr>
          <a:xfrm>
            <a:off x="7929245" y="6199505"/>
            <a:ext cx="2103755" cy="492125"/>
          </a:xfrm>
          <a:prstGeom prst="roundRect">
            <a:avLst>
              <a:gd name="adj" fmla="val 10513"/>
            </a:avLst>
          </a:prstGeom>
          <a:solidFill>
            <a:schemeClr val="accent3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0" name="文本框 29"/>
          <p:cNvSpPr txBox="1"/>
          <p:nvPr/>
        </p:nvSpPr>
        <p:spPr>
          <a:xfrm>
            <a:off x="8190230" y="5359400"/>
            <a:ext cx="1736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New Population</a:t>
            </a:r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809865" y="6216650"/>
            <a:ext cx="2358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Termination Condition </a:t>
            </a:r>
            <a:endParaRPr lang="en-US" altLang="zh-CN"/>
          </a:p>
        </p:txBody>
      </p:sp>
      <p:cxnSp>
        <p:nvCxnSpPr>
          <p:cNvPr id="32" name="直接箭头连接符 31"/>
          <p:cNvCxnSpPr>
            <a:endCxn id="26" idx="0"/>
          </p:cNvCxnSpPr>
          <p:nvPr/>
        </p:nvCxnSpPr>
        <p:spPr>
          <a:xfrm>
            <a:off x="8914130" y="1169035"/>
            <a:ext cx="0" cy="5873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8914130" y="2124710"/>
            <a:ext cx="0" cy="5873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8914130" y="3104515"/>
            <a:ext cx="0" cy="4597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8914130" y="3938270"/>
            <a:ext cx="0" cy="5873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8914130" y="4950460"/>
            <a:ext cx="0" cy="46672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8914130" y="5789295"/>
            <a:ext cx="0" cy="48069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827405" y="1524635"/>
            <a:ext cx="6461125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The basic steps of an evolutionary algorithm are:</a:t>
            </a:r>
            <a:endParaRPr lang="en-US" altLang="zh-CN" sz="2000"/>
          </a:p>
          <a:p>
            <a:pPr marL="342900" indent="-342900">
              <a:buAutoNum type="arabicPeriod"/>
            </a:pPr>
            <a:r>
              <a:rPr lang="en-US" altLang="zh-CN" sz="2000"/>
              <a:t>Initialize Population: Randomly create a set of candidate solutions.</a:t>
            </a:r>
            <a:endParaRPr lang="en-US" altLang="zh-CN" sz="2000"/>
          </a:p>
          <a:p>
            <a:pPr marL="342900" indent="-342900">
              <a:buAutoNum type="arabicPeriod"/>
            </a:pPr>
            <a:r>
              <a:rPr lang="en-US" altLang="zh-CN" sz="2000"/>
              <a:t>Evaluate Fitness: Measure how good each individual is.</a:t>
            </a:r>
            <a:endParaRPr lang="en-US" altLang="zh-CN" sz="2000"/>
          </a:p>
          <a:p>
            <a:pPr marL="342900" indent="-342900">
              <a:buAutoNum type="arabicPeriod"/>
            </a:pPr>
            <a:r>
              <a:rPr lang="en-US" altLang="zh-CN" sz="2000"/>
              <a:t>Selection: Choose the better individuals for reproduction.</a:t>
            </a:r>
            <a:endParaRPr lang="en-US" altLang="zh-CN" sz="2000"/>
          </a:p>
          <a:p>
            <a:pPr marL="342900" indent="-342900">
              <a:buAutoNum type="arabicPeriod"/>
            </a:pPr>
            <a:r>
              <a:rPr lang="en-US" altLang="zh-CN" sz="2000"/>
              <a:t>Crossover: Combine parents to generate offspring.</a:t>
            </a:r>
            <a:endParaRPr lang="en-US" altLang="zh-CN" sz="2000"/>
          </a:p>
          <a:p>
            <a:pPr marL="342900" indent="-342900">
              <a:buAutoNum type="arabicPeriod"/>
            </a:pPr>
            <a:r>
              <a:rPr lang="en-US" altLang="zh-CN" sz="2000"/>
              <a:t>Mutation: Introduce small random changes to maintain diversity.</a:t>
            </a:r>
            <a:endParaRPr lang="en-US" altLang="zh-CN" sz="2000"/>
          </a:p>
          <a:p>
            <a:pPr marL="342900" indent="-342900">
              <a:buAutoNum type="arabicPeriod"/>
            </a:pPr>
            <a:r>
              <a:rPr lang="en-US" altLang="zh-CN" sz="2000"/>
              <a:t>Update Population: Form a new generation of individuals.</a:t>
            </a:r>
            <a:endParaRPr lang="en-US" altLang="zh-CN" sz="2000"/>
          </a:p>
          <a:p>
            <a:pPr marL="342900" indent="-342900">
              <a:buAutoNum type="arabicPeriod"/>
            </a:pPr>
            <a:r>
              <a:rPr lang="en-US" altLang="zh-CN" sz="2000"/>
              <a:t>Termination Check: Stop when a condition is met (e.g., max generations or satisfactory solution).</a:t>
            </a:r>
            <a:endParaRPr lang="en-US" altLang="zh-CN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683831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​​Brief Overview of Common Evolutionary Algorithm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8" name="文本框 37"/>
          <p:cNvSpPr txBox="1"/>
          <p:nvPr/>
        </p:nvSpPr>
        <p:spPr>
          <a:xfrm>
            <a:off x="1090930" y="1174115"/>
            <a:ext cx="10164445" cy="5101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Genetic Algorithm (GA)</a:t>
            </a:r>
            <a:endParaRPr lang="en-US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r>
              <a:rPr lang="en-US" altLang="zh-CN" sz="2000"/>
              <a:t>Inspired by biological evolution; uses crossover and mutation to evolve solutions.</a:t>
            </a:r>
            <a:endParaRPr lang="en-US" altLang="zh-CN" sz="2000"/>
          </a:p>
          <a:p>
            <a:endParaRPr lang="en-US" altLang="zh-CN" sz="2000"/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Evolution Strategy (ES)</a:t>
            </a:r>
            <a:endParaRPr lang="en-US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r>
              <a:rPr lang="en-US" altLang="zh-CN" sz="2000"/>
              <a:t>Focuses on mutation-based optimization for continuous problems; good for engineering design</a:t>
            </a:r>
            <a:endParaRPr lang="en-US" altLang="zh-CN" sz="2000"/>
          </a:p>
          <a:p>
            <a:endParaRPr lang="en-US" altLang="zh-CN" sz="2000"/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Genetic Programming (GP)</a:t>
            </a:r>
            <a:endParaRPr lang="en-US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r>
              <a:rPr lang="en-US" altLang="zh-CN" sz="2000"/>
              <a:t>Each individual is a computer program (e.g., expression tree); evolves programs automatically.</a:t>
            </a:r>
            <a:endParaRPr lang="en-US" altLang="zh-CN" sz="2000"/>
          </a:p>
          <a:p>
            <a:endParaRPr lang="en-US" altLang="zh-CN" sz="2000"/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Differential Evolution (DE)</a:t>
            </a:r>
            <a:endParaRPr lang="en-US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r>
              <a:rPr lang="en-US" altLang="zh-CN" sz="2000"/>
              <a:t>Uses vector differences between individuals to guide mutation; effective for numerical optimization.</a:t>
            </a:r>
            <a:endParaRPr lang="en-US" altLang="zh-CN" sz="2000"/>
          </a:p>
          <a:p>
            <a:endParaRPr lang="en-US" altLang="zh-CN" sz="2000"/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5E927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Particle Swarm Optimization (PSO)</a:t>
            </a:r>
            <a:endParaRPr lang="en-US" sz="2000" b="1" dirty="0">
              <a:solidFill>
                <a:srgbClr val="5E927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r>
              <a:rPr lang="en-US" altLang="zh-CN" sz="2000"/>
              <a:t>Mimics the behavior of swarms (birds, fish); particles move based on personal and group experience.</a:t>
            </a:r>
            <a:endParaRPr lang="en-US" altLang="zh-CN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1:08-d0shq7475iks832je5dg.png"/>
          <p:cNvPicPr>
            <a:picLocks noChangeAspect="1"/>
          </p:cNvPicPr>
          <p:nvPr/>
        </p:nvPicPr>
        <p:blipFill>
          <a:blip r:embed="rId1"/>
          <a:srcRect l="50" r="50"/>
          <a:stretch>
            <a:fillRect/>
          </a:stretch>
        </p:blipFill>
        <p:spPr>
          <a:xfrm>
            <a:off x="630555" y="1304290"/>
            <a:ext cx="3843020" cy="477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5E927D"/>
          </a:solidFill>
        </p:spPr>
      </p:sp>
      <p:sp>
        <p:nvSpPr>
          <p:cNvPr id="4" name="Text 1"/>
          <p:cNvSpPr/>
          <p:nvPr/>
        </p:nvSpPr>
        <p:spPr>
          <a:xfrm>
            <a:off x="638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65810" y="6362065"/>
            <a:ext cx="215900" cy="2159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5E927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5810" y="6362065"/>
            <a:ext cx="215900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5219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F49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Advantages and Limitations of Evolutionary Computation</a:t>
            </a:r>
            <a:endParaRPr lang="en-US" sz="2800" b="1" dirty="0">
              <a:solidFill>
                <a:srgbClr val="2F493E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981450" y="5556885"/>
            <a:ext cx="668020" cy="727075"/>
          </a:xfrm>
          <a:prstGeom prst="roundRect">
            <a:avLst>
              <a:gd name="adj" fmla="val 10513"/>
            </a:avLst>
          </a:prstGeom>
          <a:solidFill>
            <a:srgbClr val="2F493E"/>
          </a:solidFill>
        </p:spPr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64075" y="2196465"/>
            <a:ext cx="3519805" cy="276860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19770" y="2196465"/>
            <a:ext cx="3157220" cy="27578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8293100" y="3274695"/>
            <a:ext cx="3157220" cy="27578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 rot="16200000">
            <a:off x="7375085" y="-742755"/>
            <a:ext cx="72000" cy="5166995"/>
          </a:xfrm>
          <a:prstGeom prst="parallelogram">
            <a:avLst/>
          </a:prstGeom>
          <a:gradFill flip="none" rotWithShape="1">
            <a:gsLst>
              <a:gs pos="28000">
                <a:srgbClr val="9CC0B1">
                  <a:alpha val="0"/>
                </a:srgbClr>
              </a:gs>
              <a:gs pos="100000">
                <a:srgbClr val="525E30"/>
              </a:gs>
            </a:gsLst>
            <a:lin ang="16200000" scaled="1"/>
          </a:gradFill>
        </p:spPr>
      </p:sp>
      <p:sp>
        <p:nvSpPr>
          <p:cNvPr id="23" name="Text 20"/>
          <p:cNvSpPr/>
          <p:nvPr/>
        </p:nvSpPr>
        <p:spPr>
          <a:xfrm>
            <a:off x="5048250" y="2267585"/>
            <a:ext cx="1804670" cy="404495"/>
          </a:xfrm>
          <a:prstGeom prst="rect">
            <a:avLst/>
          </a:prstGeom>
          <a:noFill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Advantages</a:t>
            </a:r>
            <a:r>
              <a:rPr lang="en-US" altLang="zh-CN" sz="1600" dirty="0"/>
              <a:t>:</a:t>
            </a:r>
            <a:endParaRPr lang="en-US" altLang="zh-CN" sz="1600" dirty="0"/>
          </a:p>
        </p:txBody>
      </p:sp>
      <p:sp>
        <p:nvSpPr>
          <p:cNvPr id="24" name="Text 21"/>
          <p:cNvSpPr/>
          <p:nvPr/>
        </p:nvSpPr>
        <p:spPr>
          <a:xfrm>
            <a:off x="8349615" y="2267307"/>
            <a:ext cx="3100705" cy="404495"/>
          </a:xfrm>
          <a:prstGeom prst="rect">
            <a:avLst/>
          </a:prstGeom>
          <a:noFill/>
        </p:spPr>
        <p:txBody>
          <a:bodyPr wrap="square" lIns="0" tIns="0" rIns="0" bIns="35941" rtlCol="0" anchor="b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Limitations:</a:t>
            </a:r>
            <a:endParaRPr lang="en-US" altLang="zh-CN" sz="2400" dirty="0"/>
          </a:p>
        </p:txBody>
      </p:sp>
      <p:sp>
        <p:nvSpPr>
          <p:cNvPr id="25" name="Text 22"/>
          <p:cNvSpPr/>
          <p:nvPr/>
        </p:nvSpPr>
        <p:spPr>
          <a:xfrm>
            <a:off x="4735195" y="2778760"/>
            <a:ext cx="3422015" cy="1710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altLang="zh-CN" sz="2000" dirty="0"/>
              <a:t>Strong global search capability, no need for gradient information, suitable for discrete/continuous problems</a:t>
            </a:r>
            <a:endParaRPr lang="en-US" altLang="zh-CN" sz="2000" dirty="0"/>
          </a:p>
        </p:txBody>
      </p:sp>
      <p:sp>
        <p:nvSpPr>
          <p:cNvPr id="26" name="Text 23"/>
          <p:cNvSpPr/>
          <p:nvPr/>
        </p:nvSpPr>
        <p:spPr>
          <a:xfrm>
            <a:off x="8418830" y="2840990"/>
            <a:ext cx="2872740" cy="1600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altLang="zh-CN" sz="2000" dirty="0"/>
              <a:t>High computational cost, parameter sensitivity, slower convergence than gradient-based methods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1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2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4088765" cy="12360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4779645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Genetic Algorithm (GA) and Key Techniques</a:t>
            </a:r>
            <a:endParaRPr lang="en-US" sz="32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​​Chromosome Encoding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169920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3058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Why do you need coding?</a:t>
            </a:r>
            <a:endParaRPr lang="en-US" altLang="zh-CN" sz="2000"/>
          </a:p>
        </p:txBody>
      </p:sp>
      <p:sp>
        <p:nvSpPr>
          <p:cNvPr id="19" name="Shape 13"/>
          <p:cNvSpPr/>
          <p:nvPr/>
        </p:nvSpPr>
        <p:spPr>
          <a:xfrm>
            <a:off x="797560" y="4418965"/>
            <a:ext cx="3173730" cy="70421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文本框 26"/>
          <p:cNvSpPr txBox="1"/>
          <p:nvPr/>
        </p:nvSpPr>
        <p:spPr>
          <a:xfrm>
            <a:off x="1090930" y="2094865"/>
            <a:ext cx="81248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In evolutionary algorithms, each candidate solution needs to be "encoded" as a chromosome, so that the algorithm can perform operations such as crossover and mutation.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A chromosome is an abstract representation, essentially a data structure (such as a list, string, tree, etc.) that is used to express a solution to a problem.</a:t>
            </a:r>
            <a:endParaRPr lang="en-US" altLang="zh-CN" sz="2000"/>
          </a:p>
        </p:txBody>
      </p:sp>
      <p:sp>
        <p:nvSpPr>
          <p:cNvPr id="28" name="文本框 27"/>
          <p:cNvSpPr txBox="1"/>
          <p:nvPr/>
        </p:nvSpPr>
        <p:spPr>
          <a:xfrm>
            <a:off x="4299585" y="4292600"/>
            <a:ext cx="740219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The problem of finding the minimum value of a function </a:t>
            </a:r>
            <a:r>
              <a:rPr lang="en-US" altLang="en-US" sz="2000"/>
              <a:t>→</a:t>
            </a:r>
            <a:r>
              <a:rPr lang="en-US" altLang="zh-CN" sz="2000"/>
              <a:t> Encoding a variable with a list of real numbers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Find the Traveling Salesman Route</a:t>
            </a:r>
            <a:r>
              <a:rPr lang="en-US" altLang="en-US" sz="2000"/>
              <a:t>→</a:t>
            </a:r>
            <a:r>
              <a:rPr lang="en-US" altLang="zh-CN" sz="2000"/>
              <a:t> Use the permutation to encode the route order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797560" y="4564380"/>
            <a:ext cx="32810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Here are two examples:</a:t>
            </a:r>
            <a:endParaRPr lang="en-US" altLang="zh-CN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​​Chromosome Encoding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46950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8241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Example 1: Function Minimum Problem </a:t>
            </a:r>
            <a:r>
              <a:rPr lang="en-US" altLang="en-US" sz="2000"/>
              <a:t>→</a:t>
            </a:r>
            <a:r>
              <a:rPr lang="en-US" altLang="zh-CN" sz="2000"/>
              <a:t> Encoded in real numbers</a:t>
            </a:r>
            <a:endParaRPr lang="en-US" altLang="zh-CN" sz="2000"/>
          </a:p>
        </p:txBody>
      </p:sp>
      <p:sp>
        <p:nvSpPr>
          <p:cNvPr id="27" name="文本框 26"/>
          <p:cNvSpPr txBox="1"/>
          <p:nvPr/>
        </p:nvSpPr>
        <p:spPr>
          <a:xfrm>
            <a:off x="1090930" y="2094865"/>
            <a:ext cx="2847340" cy="391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000"/>
              <a:t>🎯</a:t>
            </a:r>
            <a:r>
              <a:rPr lang="en-US" altLang="zh-CN" sz="2000"/>
              <a:t> Problem Description: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endParaRPr lang="en-US" altLang="zh-CN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9200" y="2194560"/>
            <a:ext cx="7277100" cy="24415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5440" y="4636135"/>
            <a:ext cx="575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Chromosome Representation (Real-Value Encoding):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596265" y="5144135"/>
            <a:ext cx="7110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Each individual (solution) is represented by a real-valued vector [x,y]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" y="5720080"/>
            <a:ext cx="5759450" cy="942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​​Chromosome Encoding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46950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8241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Example 1: Function Minimum Problem </a:t>
            </a:r>
            <a:r>
              <a:rPr lang="en-US" altLang="en-US" sz="2000"/>
              <a:t>→</a:t>
            </a:r>
            <a:r>
              <a:rPr lang="en-US" altLang="zh-CN" sz="2000"/>
              <a:t> Encoded in real numbers</a:t>
            </a:r>
            <a:endParaRPr lang="en-US" altLang="zh-CN" sz="2000"/>
          </a:p>
        </p:txBody>
      </p:sp>
      <p:sp>
        <p:nvSpPr>
          <p:cNvPr id="27" name="文本框 26"/>
          <p:cNvSpPr txBox="1"/>
          <p:nvPr/>
        </p:nvSpPr>
        <p:spPr>
          <a:xfrm>
            <a:off x="1090930" y="2094865"/>
            <a:ext cx="2847340" cy="391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000"/>
              <a:t>🎯</a:t>
            </a:r>
            <a:r>
              <a:rPr lang="en-US" altLang="zh-CN" sz="2000"/>
              <a:t> Problem Description: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endParaRPr lang="en-US" altLang="zh-CN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490" y="2596515"/>
            <a:ext cx="6280150" cy="24415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10" y="5556885"/>
            <a:ext cx="7315200" cy="12630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43280" y="5125720"/>
            <a:ext cx="1687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✅</a:t>
            </a:r>
            <a:r>
              <a:rPr lang="en-US" altLang="zh-CN"/>
              <a:t> Explanation:</a:t>
            </a:r>
            <a:endParaRPr lang="en-US" altLang="zh-CN"/>
          </a:p>
        </p:txBody>
      </p:sp>
      <p:pic>
        <p:nvPicPr>
          <p:cNvPr id="14" name="图片 13" descr="function_minimization_surf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110" y="1993265"/>
            <a:ext cx="4572635" cy="38106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​​Chromosome Encoding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96353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7564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Example 2: Traveling Salesman Problem (TSP) </a:t>
            </a:r>
            <a:r>
              <a:rPr lang="en-US" altLang="en-US" sz="2000"/>
              <a:t>→</a:t>
            </a:r>
            <a:r>
              <a:rPr lang="en-US" altLang="zh-CN" sz="2000"/>
              <a:t> Permutation Encoding</a:t>
            </a:r>
            <a:endParaRPr lang="en-US" altLang="zh-CN" sz="2000"/>
          </a:p>
        </p:txBody>
      </p:sp>
      <p:sp>
        <p:nvSpPr>
          <p:cNvPr id="27" name="文本框 26"/>
          <p:cNvSpPr txBox="1"/>
          <p:nvPr/>
        </p:nvSpPr>
        <p:spPr>
          <a:xfrm>
            <a:off x="1090930" y="2094865"/>
            <a:ext cx="8457565" cy="1113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000"/>
              <a:t>🎯</a:t>
            </a:r>
            <a:r>
              <a:rPr lang="en-US" altLang="zh-CN" sz="2000"/>
              <a:t> Problem Description: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    Given 5 cities labeled A, B, C, D, E, find the shortest route that visits all  cities exactly once and returns to the starting point.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386715" y="3443605"/>
            <a:ext cx="575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Chromosome Representation (Permutation Encoding):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797560" y="4047490"/>
            <a:ext cx="5490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Each chromosome is a unique permutation of city labels: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6340" y="4543425"/>
            <a:ext cx="6133465" cy="1236980"/>
          </a:xfrm>
          <a:prstGeom prst="rect">
            <a:avLst/>
          </a:prstGeom>
        </p:spPr>
      </p:pic>
      <p:pic>
        <p:nvPicPr>
          <p:cNvPr id="6" name="图片 5" descr="tsp_permutation_encod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490" y="2814320"/>
            <a:ext cx="3639185" cy="36391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​​Chromosome Encoding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96353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75641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Example 2: Traveling Salesman Problem (TSP) </a:t>
            </a:r>
            <a:r>
              <a:rPr lang="en-US" altLang="en-US" sz="2000"/>
              <a:t>→</a:t>
            </a:r>
            <a:r>
              <a:rPr lang="en-US" altLang="zh-CN" sz="2000"/>
              <a:t> Permutation Encoding</a:t>
            </a:r>
            <a:endParaRPr lang="en-US" altLang="zh-CN" sz="2000"/>
          </a:p>
        </p:txBody>
      </p:sp>
      <p:sp>
        <p:nvSpPr>
          <p:cNvPr id="27" name="文本框 26"/>
          <p:cNvSpPr txBox="1"/>
          <p:nvPr/>
        </p:nvSpPr>
        <p:spPr>
          <a:xfrm>
            <a:off x="1090930" y="2094865"/>
            <a:ext cx="6555105" cy="1113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zh-CN" altLang="en-US" sz="2000"/>
              <a:t>🎯</a:t>
            </a:r>
            <a:r>
              <a:rPr lang="en-US" altLang="zh-CN" sz="2000"/>
              <a:t> Problem Description: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    Given 5 cities labeled A, B, C, D, E, find the shortest route that visits all  cities exactly once and returns to the starting point.</a:t>
            </a:r>
            <a:endParaRPr lang="en-US" altLang="zh-CN" sz="2000"/>
          </a:p>
          <a:p>
            <a:pPr indent="0">
              <a:buFont typeface="Arial" panose="020B0604020202020204" pitchFamily="34" charset="0"/>
              <a:buNone/>
            </a:pP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594360" y="3679190"/>
            <a:ext cx="575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✅</a:t>
            </a:r>
            <a:r>
              <a:rPr lang="en-US" altLang="zh-CN"/>
              <a:t> Explanation: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924560" y="4264025"/>
            <a:ext cx="58807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The route must include each city exactly once </a:t>
            </a:r>
            <a:r>
              <a:rPr lang="en-US" altLang="en-US"/>
              <a:t>→</a:t>
            </a:r>
            <a:r>
              <a:rPr lang="en-US" altLang="zh-CN"/>
              <a:t> valid permutations only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Total distance is calculated based on city-to-city distances, used as the fitness function (shorter is better).</a:t>
            </a:r>
            <a:endParaRPr lang="en-US" altLang="zh-CN"/>
          </a:p>
        </p:txBody>
      </p:sp>
      <p:pic>
        <p:nvPicPr>
          <p:cNvPr id="3" name="图片 2" descr="tsp_permutation_encod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0490" y="2284095"/>
            <a:ext cx="3639185" cy="36391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​​Chromosome Encoding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96353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47447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Comparison of different encoding methods</a:t>
            </a:r>
            <a:endParaRPr lang="en-US" altLang="zh-CN" sz="2000"/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2190750"/>
            <a:ext cx="11130280" cy="4099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​​Fitness Function Design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05802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65144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The fitness function is the core of the evolutionary algorithm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924560" y="2228215"/>
            <a:ext cx="838517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In evolutionary algorithms, the algorithm doesn't know which solution is "good" unless we evaluate it.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The fitness function assigns a score to each individual (solution) to represent how well it performs in the given problem.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594360" y="4002405"/>
            <a:ext cx="87153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📌</a:t>
            </a:r>
            <a:r>
              <a:rPr lang="en-US" altLang="zh-CN" sz="2000"/>
              <a:t> In short: Fitness function = performance measure</a:t>
            </a:r>
            <a:endParaRPr lang="en-US" altLang="zh-CN" sz="2000"/>
          </a:p>
          <a:p>
            <a:r>
              <a:rPr lang="en-US" altLang="zh-CN" sz="2000"/>
              <a:t>Example: For a minimization problem, a smaller function value = better solution.</a:t>
            </a:r>
            <a:endParaRPr lang="en-US" altLang="zh-CN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​​Fitness Function Design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05802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5182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Principles of Designing a Good Fitness Function</a:t>
            </a: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560" y="2188210"/>
            <a:ext cx="1084707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​​Fitness Function Design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05802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51828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Principles of Designing a Good Fitness Function</a:t>
            </a: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560" y="2188210"/>
            <a:ext cx="1084707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​​Fitness Function Design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05802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6704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How to Design Fitness Functions for Different Problem Types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822960" y="2077720"/>
            <a:ext cx="3446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✅</a:t>
            </a:r>
            <a:r>
              <a:rPr lang="en-US" altLang="zh-CN"/>
              <a:t> a) Minimization Problems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725" y="2587625"/>
            <a:ext cx="5662930" cy="11480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42415" y="3983990"/>
            <a:ext cx="4533265" cy="448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⚠</a:t>
            </a:r>
            <a:r>
              <a:rPr lang="" altLang="en-US"/>
              <a:t>️</a:t>
            </a:r>
            <a:r>
              <a:rPr lang="en-US" altLang="zh-CN"/>
              <a:t> Avoid divide-by-zero or negative fitness.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822960" y="4681220"/>
            <a:ext cx="3446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✅</a:t>
            </a:r>
            <a:r>
              <a:rPr lang="en-US" altLang="zh-CN"/>
              <a:t> b) Maximization Problems</a:t>
            </a:r>
            <a:endParaRPr lang="en-US" altLang="zh-CN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5454015"/>
            <a:ext cx="5791835" cy="86423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​​Fitness Function Design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05802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67049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How to Design Fitness Functions for Different Problem Types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822960" y="2077720"/>
            <a:ext cx="3446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✅</a:t>
            </a:r>
            <a:r>
              <a:rPr lang="en-US" altLang="zh-CN"/>
              <a:t> c) Constrained Optimization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870" y="2747645"/>
            <a:ext cx="5748655" cy="3158490"/>
          </a:xfrm>
          <a:prstGeom prst="rect">
            <a:avLst/>
          </a:prstGeom>
        </p:spPr>
      </p:pic>
      <p:pic>
        <p:nvPicPr>
          <p:cNvPr id="14" name="图片 13" descr="penalty_fitness_examp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940" y="2780030"/>
            <a:ext cx="5180330" cy="32378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​​Selection Operators​​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8750935" cy="97726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85979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In genetic algorithms, how do high-quality individuals pass their genes to the next generation? How do we prevent the loss of superior genes due to random selection?”</a:t>
            </a:r>
            <a:endParaRPr lang="en-US" altLang="zh-CN" sz="2000"/>
          </a:p>
        </p:txBody>
      </p:sp>
      <p:sp>
        <p:nvSpPr>
          <p:cNvPr id="12" name="文本框 11"/>
          <p:cNvSpPr txBox="1"/>
          <p:nvPr/>
        </p:nvSpPr>
        <p:spPr>
          <a:xfrm>
            <a:off x="1090930" y="2738755"/>
            <a:ext cx="5706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Core </a:t>
            </a:r>
            <a:r>
              <a:rPr lang="en-US" altLang="zh-CN" sz="2000"/>
              <a:t>Principle: Probabilistic Selection​</a:t>
            </a:r>
            <a:endParaRPr lang="en-US" altLang="zh-CN" sz="2000"/>
          </a:p>
        </p:txBody>
      </p:sp>
      <p:sp>
        <p:nvSpPr>
          <p:cNvPr id="17" name="文本框 16"/>
          <p:cNvSpPr txBox="1"/>
          <p:nvPr/>
        </p:nvSpPr>
        <p:spPr>
          <a:xfrm>
            <a:off x="1604645" y="3551555"/>
            <a:ext cx="88995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​​Higher fitness </a:t>
            </a:r>
            <a:r>
              <a:rPr lang="en-US" altLang="en-US" sz="2000"/>
              <a:t>→</a:t>
            </a:r>
            <a:r>
              <a:rPr lang="en-US" altLang="zh-CN" sz="2000"/>
              <a:t> Higher probability of selection​​ (not absolute).</a:t>
            </a:r>
            <a:endParaRPr lang="en-US" altLang="zh-CN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/>
              <a:t>​​Avoid the “elitism trap”​​: Selecting only the best individuals reduces population diversity (balance ​​exploration vs. exploitation​​).</a:t>
            </a:r>
            <a:endParaRPr lang="en-US" altLang="zh-CN"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</a:t>
            </a:r>
            <a:r>
              <a:rPr lang="en-US" altLang="zh-CN" sz="2400" dirty="0">
                <a:sym typeface="+mn-ea"/>
              </a:rPr>
              <a:t>Selection Operators​​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7058025" cy="45783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77315"/>
            <a:ext cx="5522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Common Selection Methods and Their Principles</a:t>
            </a:r>
            <a:endParaRPr lang="en-US" altLang="zh-CN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560" y="2343150"/>
            <a:ext cx="10584815" cy="351409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</a:t>
            </a:r>
            <a:r>
              <a:rPr lang="en-US" altLang="zh-CN" sz="2400" dirty="0">
                <a:sym typeface="+mn-ea"/>
              </a:rPr>
              <a:t>Crossover</a:t>
            </a:r>
            <a:r>
              <a:rPr lang="en-US" altLang="zh-CN" sz="2400" dirty="0">
                <a:sym typeface="+mn-ea"/>
              </a:rPr>
              <a:t> Operators​​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9464675" cy="162941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530985"/>
            <a:ext cx="89992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ym typeface="+mn-ea"/>
              </a:rPr>
              <a:t>Biological Analogy:</a:t>
            </a:r>
            <a:endParaRPr lang="en-US" altLang="zh-CN" sz="2000"/>
          </a:p>
          <a:p>
            <a:r>
              <a:rPr lang="en-US" altLang="zh-CN" sz="2000"/>
              <a:t>Use the analogy of "genetic recombination". Just as the genomes of two parents synthesize a new child, the crossover operation is to combine the two "parent solutions" to generate a new "child solution".</a:t>
            </a:r>
            <a:endParaRPr lang="en-US" altLang="zh-CN" sz="2000"/>
          </a:p>
        </p:txBody>
      </p:sp>
      <p:sp>
        <p:nvSpPr>
          <p:cNvPr id="3" name="Shape 13"/>
          <p:cNvSpPr/>
          <p:nvPr/>
        </p:nvSpPr>
        <p:spPr>
          <a:xfrm>
            <a:off x="765810" y="4209415"/>
            <a:ext cx="9484360" cy="13481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文本框 3"/>
          <p:cNvSpPr txBox="1"/>
          <p:nvPr/>
        </p:nvSpPr>
        <p:spPr>
          <a:xfrm>
            <a:off x="924560" y="4209415"/>
            <a:ext cx="899922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Definitions explained:</a:t>
            </a:r>
            <a:endParaRPr lang="en-US" altLang="zh-CN" sz="2000"/>
          </a:p>
          <a:p>
            <a:r>
              <a:rPr lang="en-US" altLang="zh-CN" sz="2000"/>
              <a:t>In genetic algorithms, crossover operators are used to exchange or recombine the encoded information of two individuals to explore new solution spatial regions and increase population diversity.</a:t>
            </a:r>
            <a:endParaRPr lang="en-US" altLang="zh-CN"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​​explanation of ​​crossover operators in genetic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163570" cy="41592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24560" y="3012440"/>
            <a:ext cx="9457690" cy="1697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Process​​: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Randomly select one cut point k (where 1 ≤ k ≤ chromosome_length - 1).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Swap segments after k between two parents: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Parent A: [A</a:t>
            </a:r>
            <a:r>
              <a:rPr lang="en-US" altLang="en-US" sz="2000"/>
              <a:t>₁→</a:t>
            </a:r>
            <a:r>
              <a:rPr lang="en-US" altLang="zh-CN" sz="2000"/>
              <a:t>A</a:t>
            </a:r>
            <a:r>
              <a:rPr lang="en-US" altLang="en-US" sz="2000"/>
              <a:t>ₖ</a:t>
            </a:r>
            <a:r>
              <a:rPr lang="en-US" altLang="zh-CN" sz="2000"/>
              <a:t> | A</a:t>
            </a:r>
            <a:r>
              <a:rPr lang="en-US" altLang="en-US" sz="2000"/>
              <a:t>ₖ₊₁→</a:t>
            </a:r>
            <a:r>
              <a:rPr lang="en-US" altLang="zh-CN" sz="2000"/>
              <a:t>A</a:t>
            </a:r>
            <a:r>
              <a:rPr lang="en-US" altLang="en-US" sz="2000"/>
              <a:t>ₙ</a:t>
            </a:r>
            <a:r>
              <a:rPr lang="en-US" altLang="zh-CN" sz="2000"/>
              <a:t>] </a:t>
            </a:r>
            <a:r>
              <a:rPr lang="en-US" altLang="en-US" sz="2000"/>
              <a:t>→</a:t>
            </a:r>
            <a:r>
              <a:rPr lang="en-US" altLang="zh-CN" sz="2000"/>
              <a:t> Child C1: [A</a:t>
            </a:r>
            <a:r>
              <a:rPr lang="en-US" altLang="en-US" sz="2000"/>
              <a:t>₁→</a:t>
            </a:r>
            <a:r>
              <a:rPr lang="en-US" altLang="zh-CN" sz="2000"/>
              <a:t>A</a:t>
            </a:r>
            <a:r>
              <a:rPr lang="en-US" altLang="en-US" sz="2000"/>
              <a:t>ₖ</a:t>
            </a:r>
            <a:r>
              <a:rPr lang="en-US" altLang="zh-CN" sz="2000"/>
              <a:t> | B</a:t>
            </a:r>
            <a:r>
              <a:rPr lang="en-US" altLang="en-US" sz="2000"/>
              <a:t>ₖ₊₁→</a:t>
            </a:r>
            <a:r>
              <a:rPr lang="en-US" altLang="zh-CN" sz="2000"/>
              <a:t>B</a:t>
            </a:r>
            <a:r>
              <a:rPr lang="en-US" altLang="en-US" sz="2000"/>
              <a:t>ₙ</a:t>
            </a:r>
            <a:r>
              <a:rPr lang="en-US" altLang="zh-CN" sz="2000"/>
              <a:t>]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Parent B: [B</a:t>
            </a:r>
            <a:r>
              <a:rPr lang="en-US" altLang="en-US" sz="2000"/>
              <a:t>₁→</a:t>
            </a:r>
            <a:r>
              <a:rPr lang="en-US" altLang="zh-CN" sz="2000"/>
              <a:t>B</a:t>
            </a:r>
            <a:r>
              <a:rPr lang="en-US" altLang="en-US" sz="2000"/>
              <a:t>ₖ</a:t>
            </a:r>
            <a:r>
              <a:rPr lang="en-US" altLang="zh-CN" sz="2000"/>
              <a:t> | B</a:t>
            </a:r>
            <a:r>
              <a:rPr lang="en-US" altLang="en-US" sz="2000"/>
              <a:t>ₖ₊₁→</a:t>
            </a:r>
            <a:r>
              <a:rPr lang="en-US" altLang="zh-CN" sz="2000"/>
              <a:t>B</a:t>
            </a:r>
            <a:r>
              <a:rPr lang="en-US" altLang="en-US" sz="2000"/>
              <a:t>ₙ</a:t>
            </a:r>
            <a:r>
              <a:rPr lang="en-US" altLang="zh-CN" sz="2000"/>
              <a:t>] </a:t>
            </a:r>
            <a:r>
              <a:rPr lang="en-US" altLang="en-US" sz="2000"/>
              <a:t>→</a:t>
            </a:r>
            <a:r>
              <a:rPr lang="en-US" altLang="zh-CN" sz="2000"/>
              <a:t> Child C2: [B</a:t>
            </a:r>
            <a:r>
              <a:rPr lang="en-US" altLang="en-US" sz="2000"/>
              <a:t>₁→</a:t>
            </a:r>
            <a:r>
              <a:rPr lang="en-US" altLang="zh-CN" sz="2000"/>
              <a:t>B</a:t>
            </a:r>
            <a:r>
              <a:rPr lang="en-US" altLang="en-US" sz="2000"/>
              <a:t>ₖ</a:t>
            </a:r>
            <a:r>
              <a:rPr lang="en-US" altLang="zh-CN" sz="2000"/>
              <a:t> | A</a:t>
            </a:r>
            <a:r>
              <a:rPr lang="en-US" altLang="en-US" sz="2000"/>
              <a:t>ₖ₊₁→</a:t>
            </a:r>
            <a:r>
              <a:rPr lang="en-US" altLang="zh-CN" sz="2000"/>
              <a:t>A</a:t>
            </a:r>
            <a:r>
              <a:rPr lang="en-US" altLang="en-US" sz="2000"/>
              <a:t>ₙ</a:t>
            </a:r>
            <a:r>
              <a:rPr lang="en-US" altLang="zh-CN" sz="2000"/>
              <a:t>]</a:t>
            </a:r>
            <a:endParaRPr lang="en-US" altLang="zh-CN" sz="2000"/>
          </a:p>
        </p:txBody>
      </p:sp>
      <p:sp>
        <p:nvSpPr>
          <p:cNvPr id="19" name="文本框 18"/>
          <p:cNvSpPr txBox="1"/>
          <p:nvPr/>
        </p:nvSpPr>
        <p:spPr>
          <a:xfrm>
            <a:off x="756920" y="1424940"/>
            <a:ext cx="2849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🔀</a:t>
            </a:r>
            <a:r>
              <a:rPr lang="en-US" altLang="zh-CN"/>
              <a:t> ​​1. Single-Point Crossover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24560" y="1895475"/>
            <a:ext cx="81591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ClrTx/>
              <a:buSzTx/>
              <a:buFontTx/>
              <a:buNone/>
            </a:pPr>
            <a:r>
              <a:rPr lang="en-US" altLang="zh-CN" sz="2000"/>
              <a:t>Principle: A random cut point is selected on the chromosome and the gene fragment after the two parents of the gene fragment after the point is exchanged.</a:t>
            </a:r>
            <a:endParaRPr lang="en-US" altLang="zh-CN" sz="2000"/>
          </a:p>
        </p:txBody>
      </p:sp>
      <p:sp>
        <p:nvSpPr>
          <p:cNvPr id="21" name="文本框 20"/>
          <p:cNvSpPr txBox="1"/>
          <p:nvPr/>
        </p:nvSpPr>
        <p:spPr>
          <a:xfrm>
            <a:off x="924560" y="5003165"/>
            <a:ext cx="89617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Example​​:</a:t>
            </a:r>
            <a:endParaRPr lang="en-US" altLang="zh-CN" sz="2000"/>
          </a:p>
          <a:p>
            <a:r>
              <a:rPr lang="en-US" altLang="zh-CN" sz="2000"/>
              <a:t>Parent A: [1 0 0 | 1 1 1],  Parent B: [0 0 1 | 1 0 0]</a:t>
            </a:r>
            <a:endParaRPr lang="en-US" altLang="zh-CN" sz="2000"/>
          </a:p>
          <a:p>
            <a:r>
              <a:rPr lang="en-US" altLang="zh-CN" sz="2000"/>
              <a:t>Child C1: [1 0 0 1 0 0],  Child C2: [0 0 1 1 1 1]</a:t>
            </a:r>
            <a:endParaRPr lang="en-US" altLang="zh-CN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​​explanation of ​​crossover operators in genetic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163570" cy="41592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24560" y="3012440"/>
            <a:ext cx="9457690" cy="1439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Process​​: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Randomly select m cut points (e.g., two points k1, k2).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Alternately swap segments between parents: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Child C1 inherits Parent A’s odd segments and Parent B’s even segments.</a:t>
            </a:r>
            <a:endParaRPr lang="en-US" altLang="zh-CN" sz="2000"/>
          </a:p>
          <a:p>
            <a:endParaRPr lang="en-US" altLang="zh-CN" sz="2000"/>
          </a:p>
        </p:txBody>
      </p:sp>
      <p:sp>
        <p:nvSpPr>
          <p:cNvPr id="19" name="文本框 18"/>
          <p:cNvSpPr txBox="1"/>
          <p:nvPr/>
        </p:nvSpPr>
        <p:spPr>
          <a:xfrm>
            <a:off x="756920" y="1424940"/>
            <a:ext cx="2849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🔀</a:t>
            </a:r>
            <a:r>
              <a:rPr lang="en-US" altLang="zh-CN"/>
              <a:t> ​​2. Multi-Point Crossover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924560" y="1895475"/>
            <a:ext cx="81591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ClrTx/>
              <a:buSzTx/>
              <a:buFontTx/>
              <a:buNone/>
            </a:pPr>
            <a:r>
              <a:rPr lang="en-US" altLang="zh-CN" sz="2000"/>
              <a:t>Principle: Multiple intersections are selected to alternately exchange gene fragments.</a:t>
            </a:r>
            <a:endParaRPr lang="en-US" altLang="zh-CN" sz="2000"/>
          </a:p>
        </p:txBody>
      </p:sp>
      <p:sp>
        <p:nvSpPr>
          <p:cNvPr id="21" name="文本框 20"/>
          <p:cNvSpPr txBox="1"/>
          <p:nvPr/>
        </p:nvSpPr>
        <p:spPr>
          <a:xfrm>
            <a:off x="924560" y="5003165"/>
            <a:ext cx="89617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Example​​:</a:t>
            </a:r>
            <a:endParaRPr lang="en-US" altLang="zh-CN" sz="2000"/>
          </a:p>
          <a:p>
            <a:r>
              <a:rPr lang="en-US" altLang="zh-CN" sz="2000"/>
              <a:t>Parent A: [1 | 0 0 | 1 1 1], Parent B: [0 | 0 1 | 1 0 0]</a:t>
            </a:r>
            <a:endParaRPr lang="en-US" altLang="zh-CN" sz="2000"/>
          </a:p>
          <a:p>
            <a:r>
              <a:rPr lang="en-US" altLang="zh-CN" sz="2000"/>
              <a:t>Child C1: [1 | 0 1 | 1 0 0].</a:t>
            </a:r>
            <a:endParaRPr lang="en-US" altLang="zh-CN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​​explanation of ​​crossover operators in genetic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163570" cy="41592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24560" y="3012440"/>
            <a:ext cx="9457690" cy="1439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Process​​: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For each gene position i, generate a random number r ∈ [0, 1].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If r ≤ p (typically p=0.5), Child C1 inherits Parent B’s gene; otherwise, Parent A’s.</a:t>
            </a:r>
            <a:endParaRPr lang="en-US" altLang="zh-CN" sz="2000"/>
          </a:p>
        </p:txBody>
      </p:sp>
      <p:sp>
        <p:nvSpPr>
          <p:cNvPr id="19" name="文本框 18"/>
          <p:cNvSpPr txBox="1"/>
          <p:nvPr/>
        </p:nvSpPr>
        <p:spPr>
          <a:xfrm>
            <a:off x="756920" y="1424940"/>
            <a:ext cx="2849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🔀</a:t>
            </a:r>
            <a:r>
              <a:rPr lang="en-US" altLang="zh-CN"/>
              <a:t> ​​3. Uniform Crossover​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924560" y="1895475"/>
            <a:ext cx="81591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ClrTx/>
              <a:buSzTx/>
              <a:buFontTx/>
              <a:buNone/>
            </a:pPr>
            <a:r>
              <a:rPr lang="en-US" altLang="zh-CN" sz="2000"/>
              <a:t>Principle: Each locus independently selects the parent source with probability p.</a:t>
            </a:r>
            <a:endParaRPr lang="en-US" altLang="zh-CN" sz="2000"/>
          </a:p>
        </p:txBody>
      </p:sp>
      <p:sp>
        <p:nvSpPr>
          <p:cNvPr id="21" name="文本框 20"/>
          <p:cNvSpPr txBox="1"/>
          <p:nvPr/>
        </p:nvSpPr>
        <p:spPr>
          <a:xfrm>
            <a:off x="924560" y="5003165"/>
            <a:ext cx="89617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Example​​:</a:t>
            </a:r>
            <a:endParaRPr lang="en-US" altLang="zh-CN" sz="2000"/>
          </a:p>
          <a:p>
            <a:r>
              <a:rPr lang="en-US" altLang="zh-CN" sz="2000"/>
              <a:t>Parent A: [1 0 0 1], Parent B: [0 1 1 0] </a:t>
            </a:r>
            <a:r>
              <a:rPr lang="en-US" altLang="en-US" sz="2000"/>
              <a:t>→</a:t>
            </a:r>
            <a:r>
              <a:rPr lang="en-US" altLang="zh-CN" sz="2000"/>
              <a:t> Child C1: [0 0 1 1] (random outcome).</a:t>
            </a:r>
            <a:endParaRPr lang="en-US" altLang="zh-CN" sz="2000"/>
          </a:p>
          <a:p>
            <a:r>
              <a:rPr lang="en-US" altLang="zh-CN" sz="2000"/>
              <a:t>​​Use Case​​: High-diversity needs (e.g., neural network weight optimization)</a:t>
            </a:r>
            <a:endParaRPr lang="en-US" altLang="zh-CN"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​​explanation of ​​crossover operators in genetic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884295" cy="41592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113915" y="179832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24560" y="3012440"/>
            <a:ext cx="9457690" cy="1439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Process​​: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Select a contiguous gene segment (e.g., [C, D, E]) and swap between parents.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Map conflicting genes (e.g., C</a:t>
            </a:r>
            <a:r>
              <a:rPr lang="en-US" altLang="en-US" sz="2000"/>
              <a:t>↔</a:t>
            </a:r>
            <a:r>
              <a:rPr lang="en-US" altLang="zh-CN" sz="2000"/>
              <a:t>D, D</a:t>
            </a:r>
            <a:r>
              <a:rPr lang="en-US" altLang="en-US" sz="2000"/>
              <a:t>↔</a:t>
            </a:r>
            <a:r>
              <a:rPr lang="en-US" altLang="zh-CN" sz="2000"/>
              <a:t>C).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Resolve duplicates using mapping rules.</a:t>
            </a:r>
            <a:endParaRPr lang="en-US" altLang="zh-CN" sz="2000"/>
          </a:p>
        </p:txBody>
      </p:sp>
      <p:sp>
        <p:nvSpPr>
          <p:cNvPr id="19" name="文本框 18"/>
          <p:cNvSpPr txBox="1"/>
          <p:nvPr/>
        </p:nvSpPr>
        <p:spPr>
          <a:xfrm>
            <a:off x="756920" y="1424940"/>
            <a:ext cx="410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🔀</a:t>
            </a:r>
            <a:r>
              <a:rPr lang="en-US" altLang="zh-CN"/>
              <a:t> ​​4. Partially Matched Crossover (PMX)​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924560" y="1895475"/>
            <a:ext cx="81591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ClrTx/>
              <a:buSzTx/>
              <a:buFontTx/>
              <a:buNone/>
            </a:pPr>
            <a:r>
              <a:rPr lang="en-US" altLang="zh-CN" sz="2000"/>
              <a:t>Principle: Resolve arrangement conflicts through mapping relationships, which is dedicated to TSP problems..</a:t>
            </a:r>
            <a:endParaRPr lang="en-US" altLang="zh-CN" sz="2000"/>
          </a:p>
        </p:txBody>
      </p:sp>
      <p:sp>
        <p:nvSpPr>
          <p:cNvPr id="21" name="文本框 20"/>
          <p:cNvSpPr txBox="1"/>
          <p:nvPr/>
        </p:nvSpPr>
        <p:spPr>
          <a:xfrm>
            <a:off x="924560" y="5003165"/>
            <a:ext cx="89617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Example​​:</a:t>
            </a:r>
            <a:endParaRPr lang="en-US" altLang="zh-CN" sz="2000"/>
          </a:p>
          <a:p>
            <a:r>
              <a:rPr lang="en-US" altLang="zh-CN" sz="2000"/>
              <a:t>Parent A: A-B-[C-D-E]-F </a:t>
            </a:r>
            <a:r>
              <a:rPr lang="en-US" altLang="en-US" sz="2000"/>
              <a:t>→</a:t>
            </a:r>
            <a:r>
              <a:rPr lang="en-US" altLang="zh-CN" sz="2000"/>
              <a:t> Temp Child: A-B-[D-C-B]-F </a:t>
            </a:r>
            <a:r>
              <a:rPr lang="en-US" altLang="en-US" sz="2000"/>
              <a:t>→</a:t>
            </a:r>
            <a:r>
              <a:rPr lang="en-US" altLang="zh-CN" sz="2000"/>
              <a:t> Resolved: A-B-D-C-F.</a:t>
            </a:r>
            <a:endParaRPr lang="en-US" altLang="zh-CN" sz="2000"/>
          </a:p>
          <a:p>
            <a:r>
              <a:rPr lang="en-US" altLang="zh-CN" sz="2000"/>
              <a:t>​​Use Case​​: Permutation-based problems (e.g., TSP, job scheduling)</a:t>
            </a:r>
            <a:endParaRPr lang="en-US" altLang="zh-CN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​​explanation of ​​crossover operators in genetic algorithms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3884295" cy="41592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113915" y="179832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24560" y="3012440"/>
            <a:ext cx="9457690" cy="1439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Process​​: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Copy a segment from Parent A (e.g., [C, D, E]) to Child C1.</a:t>
            </a:r>
            <a:endParaRPr lang="en-US" altLang="zh-CN" sz="2000"/>
          </a:p>
          <a:p>
            <a:pPr marL="457200" indent="-457200">
              <a:buAutoNum type="arabicPeriod"/>
            </a:pPr>
            <a:r>
              <a:rPr lang="en-US" altLang="zh-CN" sz="2000"/>
              <a:t>Fill remaining positions using Parent B’s gene order (skipping duplicates).</a:t>
            </a:r>
            <a:endParaRPr lang="en-US" altLang="zh-CN" sz="2000"/>
          </a:p>
        </p:txBody>
      </p:sp>
      <p:sp>
        <p:nvSpPr>
          <p:cNvPr id="19" name="文本框 18"/>
          <p:cNvSpPr txBox="1"/>
          <p:nvPr/>
        </p:nvSpPr>
        <p:spPr>
          <a:xfrm>
            <a:off x="756920" y="1424940"/>
            <a:ext cx="410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🔀</a:t>
            </a:r>
            <a:r>
              <a:rPr lang="en-US" altLang="zh-CN"/>
              <a:t> ​​5. Order Crossover (OX)​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924560" y="1895475"/>
            <a:ext cx="81591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buClrTx/>
              <a:buSzTx/>
              <a:buFontTx/>
              <a:buNone/>
            </a:pPr>
            <a:r>
              <a:rPr lang="en-US" altLang="zh-CN" sz="2000">
                <a:sym typeface="+mn-ea"/>
              </a:rPr>
              <a:t>Principle</a:t>
            </a:r>
            <a:r>
              <a:rPr lang="en-US" altLang="zh-CN" sz="2000"/>
              <a:t>: Preserve the order of the parent fragments and fill the remaining bits in the order of the other parent.</a:t>
            </a:r>
            <a:endParaRPr lang="en-US" altLang="zh-CN" sz="2000"/>
          </a:p>
        </p:txBody>
      </p:sp>
      <p:sp>
        <p:nvSpPr>
          <p:cNvPr id="21" name="文本框 20"/>
          <p:cNvSpPr txBox="1"/>
          <p:nvPr/>
        </p:nvSpPr>
        <p:spPr>
          <a:xfrm>
            <a:off x="924560" y="5003165"/>
            <a:ext cx="89617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Example​​:</a:t>
            </a:r>
            <a:endParaRPr lang="en-US" altLang="zh-CN" sz="2000"/>
          </a:p>
          <a:p>
            <a:r>
              <a:rPr lang="en-US" altLang="zh-CN" sz="2000"/>
              <a:t>Parent A: A-B-[C-D-E]-F, Parent B: D-C-B-A-F-E </a:t>
            </a:r>
            <a:r>
              <a:rPr lang="en-US" altLang="en-US" sz="2000"/>
              <a:t>→</a:t>
            </a:r>
            <a:r>
              <a:rPr lang="en-US" altLang="zh-CN" sz="2000"/>
              <a:t> Child C1: B-A-C-D-E-F.</a:t>
            </a:r>
            <a:endParaRPr lang="en-US" altLang="zh-CN" sz="2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​​Comparative Analysis​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113915" y="179832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" y="1650365"/>
            <a:ext cx="11172825" cy="38442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</a:t>
            </a:r>
            <a:r>
              <a:rPr lang="en-US" altLang="zh-CN" sz="2400">
                <a:sym typeface="+mn-ea"/>
              </a:rPr>
              <a:t>mutation </a:t>
            </a:r>
            <a:r>
              <a:rPr lang="en-US" altLang="zh-CN" sz="2400" dirty="0">
                <a:sym typeface="+mn-ea"/>
              </a:rPr>
              <a:t> Operators​​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9464675" cy="162941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530985"/>
            <a:ext cx="89992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Biological Analogy:</a:t>
            </a:r>
            <a:endParaRPr lang="en-US" altLang="zh-CN" sz="2000"/>
          </a:p>
          <a:p>
            <a:r>
              <a:rPr lang="en-US" altLang="zh-CN" sz="2000"/>
              <a:t>Just like genetic mutation in nature, which randomly alters genes and sometimes leads to evolutionary breakthroughs, mutation in algorithms introduces random changes to individuals.</a:t>
            </a:r>
            <a:endParaRPr lang="en-US" altLang="zh-CN" sz="2000"/>
          </a:p>
        </p:txBody>
      </p:sp>
      <p:sp>
        <p:nvSpPr>
          <p:cNvPr id="3" name="Shape 13"/>
          <p:cNvSpPr/>
          <p:nvPr/>
        </p:nvSpPr>
        <p:spPr>
          <a:xfrm>
            <a:off x="765810" y="4209415"/>
            <a:ext cx="9484360" cy="13481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文本框 3"/>
          <p:cNvSpPr txBox="1"/>
          <p:nvPr/>
        </p:nvSpPr>
        <p:spPr>
          <a:xfrm>
            <a:off x="924560" y="4209415"/>
            <a:ext cx="9271000" cy="1352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Definition:</a:t>
            </a:r>
            <a:endParaRPr lang="en-US" altLang="zh-CN" sz="2000"/>
          </a:p>
          <a:p>
            <a:r>
              <a:rPr lang="en-US" altLang="zh-CN" sz="2000"/>
              <a:t>A mutation operator applies small random changes to an individual's encoding, introducing new genetic material into the population and preventing premature convergence.</a:t>
            </a:r>
            <a:endParaRPr lang="en-US" altLang="zh-CN"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</a:t>
            </a:r>
            <a:r>
              <a:rPr lang="en-US" altLang="zh-CN" sz="2400">
                <a:sym typeface="+mn-ea"/>
              </a:rPr>
              <a:t>mutation </a:t>
            </a:r>
            <a:r>
              <a:rPr lang="en-US" altLang="zh-CN" sz="2400" dirty="0">
                <a:sym typeface="+mn-ea"/>
              </a:rPr>
              <a:t> Operators​​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97560" y="1218565"/>
            <a:ext cx="3343275" cy="71120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94460"/>
            <a:ext cx="3192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Why Is Mutation Necessary?</a:t>
            </a:r>
            <a:endParaRPr lang="en-US" altLang="zh-CN" sz="2000"/>
          </a:p>
        </p:txBody>
      </p:sp>
      <p:sp>
        <p:nvSpPr>
          <p:cNvPr id="3" name="Shape 13"/>
          <p:cNvSpPr/>
          <p:nvPr/>
        </p:nvSpPr>
        <p:spPr>
          <a:xfrm>
            <a:off x="797560" y="5488940"/>
            <a:ext cx="706628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  <p:txBody>
          <a:bodyPr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565" y="2442210"/>
            <a:ext cx="10071100" cy="26822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24560" y="5650230"/>
            <a:ext cx="684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Key quote:Crossover recombines the past, mutation explores the future.</a:t>
            </a:r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​​Types of Mutation Operators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67360" y="1418590"/>
            <a:ext cx="3884295" cy="41592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113915" y="179832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9" name="文本框 18"/>
          <p:cNvSpPr txBox="1"/>
          <p:nvPr/>
        </p:nvSpPr>
        <p:spPr>
          <a:xfrm>
            <a:off x="467360" y="1465580"/>
            <a:ext cx="410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🔀</a:t>
            </a:r>
            <a:r>
              <a:rPr lang="en-US" altLang="zh-CN"/>
              <a:t> 1. ​​Bit Flip Mutation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677545" y="1932940"/>
            <a:ext cx="4959350" cy="811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ClrTx/>
              <a:buSzTx/>
              <a:buFontTx/>
              <a:buNone/>
            </a:pPr>
            <a:r>
              <a:rPr lang="en-US" altLang="zh-CN" sz="2000">
                <a:sym typeface="+mn-ea"/>
              </a:rPr>
              <a:t>Principle</a:t>
            </a:r>
            <a:r>
              <a:rPr lang="en-US" altLang="zh-CN" sz="2000"/>
              <a:t>: Flip a bit from 0 </a:t>
            </a:r>
            <a:r>
              <a:rPr lang="en-US" altLang="en-US" sz="2000"/>
              <a:t>→</a:t>
            </a:r>
            <a:r>
              <a:rPr lang="en-US" altLang="zh-CN" sz="2000"/>
              <a:t> 1 or 1 </a:t>
            </a:r>
            <a:r>
              <a:rPr lang="en-US" altLang="en-US" sz="2000"/>
              <a:t>→</a:t>
            </a:r>
            <a:r>
              <a:rPr lang="en-US" altLang="zh-CN" sz="2000"/>
              <a:t> 0 with a small probability (e.g., 0.01).</a:t>
            </a:r>
            <a:endParaRPr lang="en-US" altLang="zh-CN" sz="2000"/>
          </a:p>
        </p:txBody>
      </p:sp>
      <p:sp>
        <p:nvSpPr>
          <p:cNvPr id="21" name="文本框 20"/>
          <p:cNvSpPr txBox="1"/>
          <p:nvPr/>
        </p:nvSpPr>
        <p:spPr>
          <a:xfrm>
            <a:off x="594360" y="2744470"/>
            <a:ext cx="1157605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Example​​:</a:t>
            </a:r>
            <a:endParaRPr lang="en-US" altLang="zh-CN" sz="2000"/>
          </a:p>
          <a:p>
            <a:endParaRPr lang="en-US" altLang="zh-CN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3269615"/>
            <a:ext cx="5891530" cy="846455"/>
          </a:xfrm>
          <a:prstGeom prst="rect">
            <a:avLst/>
          </a:prstGeom>
        </p:spPr>
      </p:pic>
      <p:sp>
        <p:nvSpPr>
          <p:cNvPr id="5" name="Shape 13"/>
          <p:cNvSpPr/>
          <p:nvPr/>
        </p:nvSpPr>
        <p:spPr>
          <a:xfrm>
            <a:off x="293370" y="4232910"/>
            <a:ext cx="3884295" cy="41592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文本框 5"/>
          <p:cNvSpPr txBox="1"/>
          <p:nvPr/>
        </p:nvSpPr>
        <p:spPr>
          <a:xfrm>
            <a:off x="380365" y="4292600"/>
            <a:ext cx="3538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🔀</a:t>
            </a:r>
            <a:r>
              <a:rPr lang="en-US" altLang="zh-CN">
                <a:sym typeface="+mn-ea"/>
              </a:rPr>
              <a:t> 2.</a:t>
            </a:r>
            <a:r>
              <a:rPr lang="en-US" altLang="zh-CN"/>
              <a:t>Gaussian Mutation</a:t>
            </a:r>
            <a:endParaRPr lang="en-US" altLang="zh-CN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" y="4837430"/>
            <a:ext cx="6737350" cy="1734185"/>
          </a:xfrm>
          <a:prstGeom prst="rect">
            <a:avLst/>
          </a:prstGeom>
        </p:spPr>
      </p:pic>
      <p:pic>
        <p:nvPicPr>
          <p:cNvPr id="18" name="图片 17" descr="ChatGPT Image 2025年7月2日 18_33_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890" y="1022985"/>
            <a:ext cx="5393055" cy="41992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​​Types of Mutation Operators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94360" y="1970405"/>
            <a:ext cx="3884295" cy="41592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113915" y="179832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9" name="文本框 18"/>
          <p:cNvSpPr txBox="1"/>
          <p:nvPr/>
        </p:nvSpPr>
        <p:spPr>
          <a:xfrm>
            <a:off x="594360" y="1994535"/>
            <a:ext cx="410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🔀</a:t>
            </a:r>
            <a:r>
              <a:rPr lang="en-US" altLang="zh-CN"/>
              <a:t>  3.Inversion Mutation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797560" y="2676525"/>
            <a:ext cx="4959350" cy="811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ClrTx/>
              <a:buSzTx/>
              <a:buFontTx/>
              <a:buNone/>
            </a:pPr>
            <a:r>
              <a:rPr lang="en-US" altLang="zh-CN" sz="2000">
                <a:sym typeface="+mn-ea"/>
              </a:rPr>
              <a:t>Principle</a:t>
            </a:r>
            <a:r>
              <a:rPr lang="en-US" altLang="zh-CN" sz="2000"/>
              <a:t>: Select a segment of the chromosome and reverse its order.</a:t>
            </a:r>
            <a:endParaRPr lang="en-US" altLang="zh-CN" sz="2000"/>
          </a:p>
        </p:txBody>
      </p:sp>
      <p:sp>
        <p:nvSpPr>
          <p:cNvPr id="21" name="文本框 20"/>
          <p:cNvSpPr txBox="1"/>
          <p:nvPr/>
        </p:nvSpPr>
        <p:spPr>
          <a:xfrm>
            <a:off x="765175" y="3488055"/>
            <a:ext cx="1157605" cy="4083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Example​​:</a:t>
            </a:r>
            <a:endParaRPr lang="en-US" altLang="zh-CN" sz="2000"/>
          </a:p>
          <a:p>
            <a:endParaRPr lang="en-US" altLang="zh-CN" sz="2000"/>
          </a:p>
        </p:txBody>
      </p:sp>
      <p:pic>
        <p:nvPicPr>
          <p:cNvPr id="18" name="图片 17" descr="ChatGPT Image 2025年7月2日 18_33_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8890" y="1592580"/>
            <a:ext cx="5393055" cy="41992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60" y="3981450"/>
            <a:ext cx="4130675" cy="6159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2710" y="4852670"/>
            <a:ext cx="6965950" cy="1641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Summary Quote:</a:t>
            </a:r>
            <a:endParaRPr lang="en-US" altLang="zh-CN" sz="2000"/>
          </a:p>
          <a:p>
            <a:r>
              <a:rPr lang="en-US" altLang="zh-CN" sz="2000"/>
              <a:t>Mutation is the exploratory force in evolutionary computation. Though rare, it can trigger critical breakthroughs. A well-designed mutation strategy is the key to escaping comfort zones and reaching optimal solutions.</a:t>
            </a:r>
            <a:endParaRPr lang="en-US" altLang="zh-CN" sz="2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​​Parameter Setting and Tuning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35405" y="1183640"/>
            <a:ext cx="9070340" cy="94869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文本框 19"/>
          <p:cNvSpPr txBox="1"/>
          <p:nvPr/>
        </p:nvSpPr>
        <p:spPr>
          <a:xfrm>
            <a:off x="1579245" y="1282700"/>
            <a:ext cx="8312785" cy="751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l">
              <a:buClrTx/>
              <a:buSzTx/>
              <a:buFontTx/>
              <a:buNone/>
            </a:pPr>
            <a:r>
              <a:rPr lang="en-US" altLang="zh-CN" sz="2000"/>
              <a:t>Parameters are not arbitrary, they directly affect the convergence speed of the algorithm, the quality of the solution, and even whether the search fails.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668655" y="2635885"/>
            <a:ext cx="3261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Key Parameters and Their Roles: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405" y="3249295"/>
            <a:ext cx="10304780" cy="328739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​​Parameter Setting and Tuning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" name="文本框 1"/>
          <p:cNvSpPr txBox="1"/>
          <p:nvPr/>
        </p:nvSpPr>
        <p:spPr>
          <a:xfrm>
            <a:off x="720090" y="1257300"/>
            <a:ext cx="609790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Parameter Adjustment Strategies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Static Setting</a:t>
            </a:r>
            <a:endParaRPr lang="en-US" altLang="zh-CN"/>
          </a:p>
          <a:p>
            <a:r>
              <a:rPr lang="en-US" altLang="zh-CN"/>
              <a:t>Parameters remain fixed during evolution</a:t>
            </a:r>
            <a:endParaRPr lang="en-US" altLang="zh-CN"/>
          </a:p>
          <a:p>
            <a:r>
              <a:rPr lang="en-US" altLang="zh-CN"/>
              <a:t>Easy to implement, but lacks flexibility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Dynamic Adjustment</a:t>
            </a:r>
            <a:endParaRPr lang="en-US" altLang="zh-CN"/>
          </a:p>
          <a:p>
            <a:r>
              <a:rPr lang="en-US" altLang="zh-CN"/>
              <a:t>Parameters change over time (e.g., decrease mutation rate)</a:t>
            </a:r>
            <a:endParaRPr lang="en-US" altLang="zh-CN"/>
          </a:p>
          <a:p>
            <a:r>
              <a:rPr lang="en-US" altLang="zh-CN"/>
              <a:t>Examples:</a:t>
            </a:r>
            <a:endParaRPr lang="en-US" altLang="zh-CN"/>
          </a:p>
          <a:p>
            <a:r>
              <a:rPr lang="en-US" altLang="zh-CN"/>
              <a:t> - Mutation rate drops from 0.05 </a:t>
            </a:r>
            <a:r>
              <a:rPr lang="en-US" altLang="en-US"/>
              <a:t>→</a:t>
            </a:r>
            <a:r>
              <a:rPr lang="en-US" altLang="zh-CN"/>
              <a:t> 0.005 as individuals converge</a:t>
            </a:r>
            <a:endParaRPr lang="en-US" altLang="zh-CN"/>
          </a:p>
          <a:p>
            <a:r>
              <a:rPr lang="en-US" altLang="zh-CN"/>
              <a:t> - Crossover rate increases from 0.6 </a:t>
            </a:r>
            <a:r>
              <a:rPr lang="en-US" altLang="en-US"/>
              <a:t>→</a:t>
            </a:r>
            <a:r>
              <a:rPr lang="en-US" altLang="zh-CN"/>
              <a:t> 0.95 to promote early exploration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Adaptive Tuning (Feedback-based)</a:t>
            </a:r>
            <a:endParaRPr lang="en-US" altLang="zh-CN"/>
          </a:p>
          <a:p>
            <a:r>
              <a:rPr lang="en-US" altLang="zh-CN"/>
              <a:t>Parameters respond to population state automatically</a:t>
            </a:r>
            <a:endParaRPr lang="en-US" altLang="zh-CN"/>
          </a:p>
          <a:p>
            <a:r>
              <a:rPr lang="en-US" altLang="zh-CN"/>
              <a:t>  -If diversity is low </a:t>
            </a:r>
            <a:r>
              <a:rPr lang="en-US" altLang="en-US"/>
              <a:t>→</a:t>
            </a:r>
            <a:r>
              <a:rPr lang="en-US" altLang="zh-CN"/>
              <a:t> increase mutation rate</a:t>
            </a:r>
            <a:endParaRPr lang="en-US" altLang="zh-CN"/>
          </a:p>
          <a:p>
            <a:r>
              <a:rPr lang="en-US" altLang="zh-CN"/>
              <a:t>  - If fitness stagnates </a:t>
            </a:r>
            <a:r>
              <a:rPr lang="en-US" altLang="en-US"/>
              <a:t>→</a:t>
            </a:r>
            <a:r>
              <a:rPr lang="en-US" altLang="zh-CN"/>
              <a:t> increase crossover activity</a:t>
            </a:r>
            <a:endParaRPr lang="en-US" altLang="zh-CN"/>
          </a:p>
          <a:p>
            <a:r>
              <a:rPr lang="en-US" altLang="zh-CN"/>
              <a:t>Often uses feedback loops or hybrid local search mechanisms</a:t>
            </a:r>
            <a:endParaRPr lang="en-US" altLang="zh-CN"/>
          </a:p>
        </p:txBody>
      </p:sp>
      <p:pic>
        <p:nvPicPr>
          <p:cNvPr id="3" name="图片 2" descr="ChatGPT Image 2025年7月2日 18_55_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0715" y="869315"/>
            <a:ext cx="5139690" cy="553910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​​Parameter Setting and Tuning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3" name="图片 2" descr="ChatGPT Image 2025年7月2日 18_55_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930" y="1120140"/>
            <a:ext cx="9378950" cy="41922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38860" y="5661025"/>
            <a:ext cx="94310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Summary Quote:</a:t>
            </a:r>
            <a:endParaRPr lang="en-US" altLang="zh-CN" sz="2000"/>
          </a:p>
          <a:p>
            <a:r>
              <a:rPr lang="en-US" altLang="zh-CN" sz="2000"/>
              <a:t>"Parameters are the steering wheel of evolutionary algorithms. Tune them right, and the algorithm flies; tune them wrong, and it crashes."</a:t>
            </a:r>
            <a:endParaRPr lang="en-US" altLang="zh-CN"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Elitism Important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377315"/>
            <a:ext cx="9464675" cy="1629410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530985"/>
            <a:ext cx="899922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Analogy:</a:t>
            </a:r>
            <a:endParaRPr lang="en-US" altLang="zh-CN" sz="2000"/>
          </a:p>
          <a:p>
            <a:r>
              <a:rPr lang="en-US" altLang="zh-CN" sz="2000"/>
              <a:t>Imagine a "survival competition" where the top performers are guaranteed to pass into the next generation, even without reproducing, to ensure the best traits aren’t accidentally lost.</a:t>
            </a:r>
            <a:endParaRPr lang="en-US" altLang="zh-CN" sz="2000"/>
          </a:p>
        </p:txBody>
      </p:sp>
      <p:sp>
        <p:nvSpPr>
          <p:cNvPr id="3" name="Shape 13"/>
          <p:cNvSpPr/>
          <p:nvPr/>
        </p:nvSpPr>
        <p:spPr>
          <a:xfrm>
            <a:off x="765810" y="4209415"/>
            <a:ext cx="9484360" cy="13481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" name="文本框 3"/>
          <p:cNvSpPr txBox="1"/>
          <p:nvPr/>
        </p:nvSpPr>
        <p:spPr>
          <a:xfrm>
            <a:off x="924560" y="4209415"/>
            <a:ext cx="9271000" cy="1352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Definition:</a:t>
            </a:r>
            <a:endParaRPr lang="en-US" altLang="zh-CN" sz="2000"/>
          </a:p>
          <a:p>
            <a:r>
              <a:rPr lang="en-US" altLang="zh-CN" sz="2000"/>
              <a:t>Elitism is a strategy in evolutionary algorithms where the top-performing individuals from the current generation are directly preserved in the next generation without undergoing selection, crossover, or mutation.</a:t>
            </a:r>
            <a:endParaRPr lang="en-US" altLang="zh-CN" sz="2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Elitism Important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229360"/>
            <a:ext cx="318897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94460"/>
            <a:ext cx="2774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Why Is Elitism Important?</a:t>
            </a:r>
            <a:endParaRPr lang="en-US" altLang="zh-CN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630" y="2250440"/>
            <a:ext cx="8879840" cy="33064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41730" y="5876925"/>
            <a:ext cx="7335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Goal of Elitism:</a:t>
            </a:r>
            <a:endParaRPr lang="en-US" altLang="zh-CN"/>
          </a:p>
          <a:p>
            <a:r>
              <a:rPr lang="en-US" altLang="zh-CN"/>
              <a:t>Stabilize performance, preserve global optima, and accelerate convergence.</a:t>
            </a:r>
            <a:endParaRPr lang="en-US" altLang="zh-C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Elitism Important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229360"/>
            <a:ext cx="318897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94460"/>
            <a:ext cx="2774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Why Is Elitism Important?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1090930" y="5856605"/>
            <a:ext cx="95992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The above diagram shows the comparison of the convergence process between the elite strategy (blue line) and the non-elite strategy (red line):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645" y="2038350"/>
            <a:ext cx="6184265" cy="37096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898765" y="2600960"/>
            <a:ext cx="394970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With Elitism: The convergence speed is faster, and the optimal solution is continuously retained and gradually improved</a:t>
            </a:r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Without Elitism: Convergence is slow and stagnant after a certain algebra, and it may fall into a local optimal or lose a good solution</a:t>
            </a:r>
            <a:endParaRPr lang="en-US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dirty="0"/>
              <a:t>Elitism Important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229360"/>
            <a:ext cx="318897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94460"/>
            <a:ext cx="27743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Why Is Elitism Important?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594360" y="2933700"/>
            <a:ext cx="4764405" cy="1781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Summary Quote</a:t>
            </a:r>
            <a:endParaRPr lang="en-US" altLang="zh-CN" sz="2400"/>
          </a:p>
          <a:p>
            <a:r>
              <a:rPr lang="en-US" altLang="zh-CN" sz="2400"/>
              <a:t>Elitism is like an insurance policy for evolution—ensuring the best aren’t eliminated by chance. But if there are too many elites, innovation dies.</a:t>
            </a:r>
            <a:endParaRPr lang="en-US" altLang="zh-CN" sz="2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5095" y="1793240"/>
            <a:ext cx="6184265" cy="370967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26-d0shpsk75iks832je50g.png"/>
          <p:cNvPicPr>
            <a:picLocks noChangeAspect="1"/>
          </p:cNvPicPr>
          <p:nvPr/>
        </p:nvPicPr>
        <p:blipFill>
          <a:blip r:embed="rId1">
            <a:alphaModFix amt="12000"/>
          </a:blip>
          <a:srcRect r="25396" b="24777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solidFill>
            <a:srgbClr val="E0E9C9"/>
          </a:solidFill>
        </p:spPr>
      </p:sp>
      <p:sp>
        <p:nvSpPr>
          <p:cNvPr id="4" name="Text 1"/>
          <p:cNvSpPr/>
          <p:nvPr/>
        </p:nvSpPr>
        <p:spPr>
          <a:xfrm>
            <a:off x="4493260" y="4312920"/>
            <a:ext cx="960120" cy="9601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5" name="Image 1" descr="https://test-kimi-img.moonshot.cn/pub/slides/slides_tmpl/image/25-05-30-10:50:00-d0shpm475iks832je4ug.png"/>
          <p:cNvPicPr>
            <a:picLocks noChangeAspect="1"/>
          </p:cNvPicPr>
          <p:nvPr/>
        </p:nvPicPr>
        <p:blipFill>
          <a:blip r:embed="rId2"/>
          <a:srcRect t="51" b="51"/>
          <a:stretch>
            <a:fillRect/>
          </a:stretch>
        </p:blipFill>
        <p:spPr>
          <a:xfrm>
            <a:off x="1096010" y="1706880"/>
            <a:ext cx="3843020" cy="3093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79795" y="1837690"/>
            <a:ext cx="166116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79795" y="3223895"/>
            <a:ext cx="574548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4000" dirty="0"/>
              <a:t>Typical Applications of Evolutionary Computation</a:t>
            </a:r>
            <a:endParaRPr lang="en-US" altLang="zh-CN" sz="4000" dirty="0"/>
          </a:p>
        </p:txBody>
      </p:sp>
      <p:sp>
        <p:nvSpPr>
          <p:cNvPr id="8" name="Text 4"/>
          <p:cNvSpPr/>
          <p:nvPr/>
        </p:nvSpPr>
        <p:spPr>
          <a:xfrm>
            <a:off x="649605" y="269240"/>
            <a:ext cx="4064000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YOUR LOGO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ym typeface="+mn-ea"/>
              </a:rPr>
              <a:t>Typical Applications of Evolutionary Computation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229360"/>
            <a:ext cx="626745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65250"/>
            <a:ext cx="6612255" cy="564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Why Evolutionary Algorithms for Real-World Problems?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1517650" y="3001645"/>
            <a:ext cx="8148320" cy="13595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Gradient-based methods fail on non-differentiable, discontinuous problems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Exhaustive search is computationally prohibitive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Dynamic, noisy, multi-objective problems are hard to model explicitly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833120" y="2419985"/>
            <a:ext cx="69957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 the limitations of traditional optimization methods:</a:t>
            </a:r>
            <a:endParaRPr lang="en-US" altLang="zh-CN" sz="2000"/>
          </a:p>
        </p:txBody>
      </p:sp>
      <p:sp>
        <p:nvSpPr>
          <p:cNvPr id="5" name="文本框 4"/>
          <p:cNvSpPr txBox="1"/>
          <p:nvPr/>
        </p:nvSpPr>
        <p:spPr>
          <a:xfrm>
            <a:off x="956310" y="5629910"/>
            <a:ext cx="8282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Evolutionary algorithms are general-purpose black-box optimizers. If you can evaluate performance, you can optimize — no gradients, no assumptions.</a:t>
            </a:r>
            <a:endParaRPr lang="zh-CN" altLang="en-US"/>
          </a:p>
        </p:txBody>
      </p:sp>
      <p:sp>
        <p:nvSpPr>
          <p:cNvPr id="6" name="六角星 5"/>
          <p:cNvSpPr/>
          <p:nvPr/>
        </p:nvSpPr>
        <p:spPr>
          <a:xfrm>
            <a:off x="467360" y="5629910"/>
            <a:ext cx="457200" cy="662940"/>
          </a:xfrm>
          <a:prstGeom prst="star6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ym typeface="+mn-ea"/>
              </a:rPr>
              <a:t>Typical Applications of Evolutionary Computation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229360"/>
            <a:ext cx="389001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65250"/>
            <a:ext cx="396430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Four Major Application Domains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1203325" y="3849370"/>
            <a:ext cx="6029960" cy="2007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Examples: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Structural optimization (e.g., truss design, material layout)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Circuit layout, antenna design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Path planning: robot navigation, drone routing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833120" y="2282190"/>
            <a:ext cx="3662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/>
              <a:t>✅</a:t>
            </a:r>
            <a:r>
              <a:rPr lang="en-US" altLang="zh-CN" sz="2000"/>
              <a:t> 1) Engineering Optimization</a:t>
            </a: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1203325" y="2885440"/>
            <a:ext cx="5132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EAs are powerful for design optimization and resource scheduling.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7499985" y="5361940"/>
            <a:ext cx="42595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(Multi objective optimization of vertical axis wind turbine blade structure based on genetic algorithm)</a:t>
            </a:r>
            <a:endParaRPr lang="en-US" altLang="zh-CN"/>
          </a:p>
        </p:txBody>
      </p:sp>
      <p:pic>
        <p:nvPicPr>
          <p:cNvPr id="19" name="图片 18" descr="ChatGPT Image 2025年7月2日 20_38_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5005" y="1120140"/>
            <a:ext cx="4848860" cy="399923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ym typeface="+mn-ea"/>
              </a:rPr>
              <a:t>Typical Applications of Evolutionary Computation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229360"/>
            <a:ext cx="389001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65250"/>
            <a:ext cx="396430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Four Major Application Domains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1203325" y="3849370"/>
            <a:ext cx="5801360" cy="1706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Examples: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GA for tuning PID controller parameters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GP (Genetic Programming) for evolving control strategies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Evolutionary robotics &amp; game strategy evolution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833120" y="2282190"/>
            <a:ext cx="45167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/>
              <a:t>✅</a:t>
            </a:r>
            <a:r>
              <a:rPr lang="en-US" altLang="zh-CN" sz="2000"/>
              <a:t> 2) Intelligent Systems and Control</a:t>
            </a: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1203325" y="2885440"/>
            <a:ext cx="5132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Used for parameter tuning, control logic design, and reinforcement learning.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685" y="1639570"/>
            <a:ext cx="4869180" cy="32289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00455" y="5938520"/>
            <a:ext cx="9277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EAs are model-free and handle nonlinear, noisy systems robustly — ideal for complex control tasks.</a:t>
            </a:r>
            <a:endParaRPr lang="en-US" altLang="zh-CN"/>
          </a:p>
        </p:txBody>
      </p:sp>
      <p:sp>
        <p:nvSpPr>
          <p:cNvPr id="12" name="五角星 11"/>
          <p:cNvSpPr/>
          <p:nvPr/>
        </p:nvSpPr>
        <p:spPr>
          <a:xfrm>
            <a:off x="467360" y="6017895"/>
            <a:ext cx="457200" cy="266065"/>
          </a:xfrm>
          <a:prstGeom prst="star5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ym typeface="+mn-ea"/>
              </a:rPr>
              <a:t>Typical Applications of Evolutionary Computation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229360"/>
            <a:ext cx="389001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65250"/>
            <a:ext cx="396430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Four Major Application Domains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1203325" y="3849370"/>
            <a:ext cx="5132705" cy="2135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Examples: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Feature selection: use GA to pick optimal feature subsets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Hyperparameter tuning: evolve learning rates, layer sizes, kernel types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Neuroevolution: evolve neural network architectures and weights (e.g., NEAT)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833120" y="2282190"/>
            <a:ext cx="45167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/>
              <a:t>✅</a:t>
            </a:r>
            <a:r>
              <a:rPr lang="en-US" altLang="zh-CN" sz="2000"/>
              <a:t> 3) Data Science &amp; Machine Learning</a:t>
            </a: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1203325" y="2885440"/>
            <a:ext cx="5132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EAs can be hybridized with AI, deep learning, and AutoML.</a:t>
            </a:r>
            <a:endParaRPr lang="en-US" altLang="zh-CN"/>
          </a:p>
        </p:txBody>
      </p:sp>
      <p:pic>
        <p:nvPicPr>
          <p:cNvPr id="12" name="图片 11" descr="ChatGPT Image 2025年7月2日 20_47_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6965" y="1786255"/>
            <a:ext cx="5422900" cy="376809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694170" y="564800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GA optimizing SVM parameters and NN architecture</a:t>
            </a:r>
            <a:endParaRPr lang="en-US" altLang="zh-CN" sz="1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ym typeface="+mn-ea"/>
              </a:rPr>
              <a:t>Typical Applications of Evolutionary Computation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229360"/>
            <a:ext cx="389001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65250"/>
            <a:ext cx="3964305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Four Major Application Domains</a:t>
            </a: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1419860" y="4126865"/>
            <a:ext cx="4675505" cy="1412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zh-CN" sz="2000"/>
              <a:t>Examples: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Protein structure prediction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Gene expression analysis &amp; biomarker selection</a:t>
            </a:r>
            <a:endParaRPr lang="en-US" altLang="zh-CN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/>
              <a:t>Co-evolution models in ecological simulations</a:t>
            </a:r>
            <a:endParaRPr lang="en-US" altLang="zh-CN" sz="2000"/>
          </a:p>
        </p:txBody>
      </p:sp>
      <p:sp>
        <p:nvSpPr>
          <p:cNvPr id="2" name="文本框 1"/>
          <p:cNvSpPr txBox="1"/>
          <p:nvPr/>
        </p:nvSpPr>
        <p:spPr>
          <a:xfrm>
            <a:off x="924560" y="2318385"/>
            <a:ext cx="52527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/>
              <a:t>✅</a:t>
            </a:r>
            <a:r>
              <a:rPr lang="en-US" altLang="zh-CN" sz="2000"/>
              <a:t> 4) Computational Biology &amp; Life Sciences</a:t>
            </a:r>
            <a:endParaRPr lang="en-US" altLang="zh-CN" sz="2000"/>
          </a:p>
        </p:txBody>
      </p:sp>
      <p:sp>
        <p:nvSpPr>
          <p:cNvPr id="4" name="文本框 3"/>
          <p:cNvSpPr txBox="1"/>
          <p:nvPr/>
        </p:nvSpPr>
        <p:spPr>
          <a:xfrm>
            <a:off x="1419860" y="2961005"/>
            <a:ext cx="5132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From nature to nature — EAs solve complex biological problems.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6920" y="1517650"/>
            <a:ext cx="6036945" cy="4343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891145" y="6103620"/>
            <a:ext cx="3129280" cy="449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(Protein structure prediction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/>
          <p:cNvSpPr/>
          <p:nvPr/>
        </p:nvSpPr>
        <p:spPr>
          <a:xfrm rot="5400000">
            <a:off x="467360" y="410210"/>
            <a:ext cx="330200" cy="330200"/>
          </a:xfrm>
          <a:prstGeom prst="triangle">
            <a:avLst/>
          </a:prstGeom>
          <a:solidFill>
            <a:srgbClr val="E0E9C9"/>
          </a:solidFill>
        </p:spPr>
      </p:sp>
      <p:sp>
        <p:nvSpPr>
          <p:cNvPr id="8" name="Text 5"/>
          <p:cNvSpPr/>
          <p:nvPr/>
        </p:nvSpPr>
        <p:spPr>
          <a:xfrm rot="5400000">
            <a:off x="467360" y="410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594360" y="537210"/>
            <a:ext cx="330200" cy="330200"/>
          </a:xfrm>
          <a:prstGeom prst="triangle">
            <a:avLst/>
          </a:prstGeom>
          <a:solidFill>
            <a:srgbClr val="5E927D"/>
          </a:solidFill>
        </p:spPr>
      </p:sp>
      <p:sp>
        <p:nvSpPr>
          <p:cNvPr id="10" name="Text 7"/>
          <p:cNvSpPr/>
          <p:nvPr/>
        </p:nvSpPr>
        <p:spPr>
          <a:xfrm rot="5400000">
            <a:off x="594360" y="537210"/>
            <a:ext cx="330200" cy="330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0930" y="408940"/>
            <a:ext cx="10782935" cy="4603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altLang="zh-CN" sz="2400" dirty="0">
                <a:sym typeface="+mn-ea"/>
              </a:rPr>
              <a:t>Typical Applications of Evolutionary Computation</a:t>
            </a:r>
            <a:endParaRPr lang="en-US" altLang="zh-CN" sz="2400" dirty="0"/>
          </a:p>
        </p:txBody>
      </p:sp>
      <p:sp>
        <p:nvSpPr>
          <p:cNvPr id="13" name="Text 10"/>
          <p:cNvSpPr/>
          <p:nvPr/>
        </p:nvSpPr>
        <p:spPr>
          <a:xfrm>
            <a:off x="3981450" y="5556885"/>
            <a:ext cx="668020" cy="7270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71720" y="3249295"/>
            <a:ext cx="3194685" cy="2768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5810" y="1229360"/>
            <a:ext cx="6267450" cy="700405"/>
          </a:xfrm>
          <a:prstGeom prst="roundRect">
            <a:avLst>
              <a:gd name="adj" fmla="val 10513"/>
            </a:avLst>
          </a:prstGeom>
          <a:solidFill>
            <a:srgbClr val="FFFFFF"/>
          </a:solidFill>
          <a:ln w="12700">
            <a:solidFill>
              <a:srgbClr val="2F493E"/>
            </a:solidFill>
            <a:prstDash val="solid"/>
          </a:ln>
          <a:effectLst>
            <a:outerShdw blurRad="50800" dist="38100" dir="27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032000" y="1793240"/>
            <a:ext cx="4064000" cy="2845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924560" y="1365250"/>
            <a:ext cx="5157470" cy="440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 Summary Table of Application Domains</a:t>
            </a:r>
            <a:endParaRPr lang="en-US" altLang="zh-CN" sz="2000"/>
          </a:p>
        </p:txBody>
      </p:sp>
      <p:sp>
        <p:nvSpPr>
          <p:cNvPr id="5" name="文本框 4"/>
          <p:cNvSpPr txBox="1"/>
          <p:nvPr/>
        </p:nvSpPr>
        <p:spPr>
          <a:xfrm>
            <a:off x="1028065" y="5679440"/>
            <a:ext cx="8858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"Where rules are unknown and objectives compete, evolution finds a way."</a:t>
            </a:r>
            <a:endParaRPr lang="en-US" altLang="zh-CN"/>
          </a:p>
          <a:p>
            <a:r>
              <a:rPr lang="en-US" altLang="zh-CN"/>
              <a:t>— Evolutionary computation thrives in unstructured, noisy, and complex worlds.</a:t>
            </a:r>
            <a:endParaRPr lang="en-US" altLang="zh-CN"/>
          </a:p>
        </p:txBody>
      </p:sp>
      <p:sp>
        <p:nvSpPr>
          <p:cNvPr id="6" name="六角星 5"/>
          <p:cNvSpPr/>
          <p:nvPr/>
        </p:nvSpPr>
        <p:spPr>
          <a:xfrm>
            <a:off x="467360" y="5629910"/>
            <a:ext cx="457200" cy="662940"/>
          </a:xfrm>
          <a:prstGeom prst="star6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675" y="2418715"/>
            <a:ext cx="9589770" cy="291973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est-kimi-img.moonshot.cn/pub/slides/slides_tmpl/image/25-05-30-10:50:14-d0shppk75iks832je4vg.png"/>
          <p:cNvPicPr>
            <a:picLocks noChangeAspect="1"/>
          </p:cNvPicPr>
          <p:nvPr/>
        </p:nvPicPr>
        <p:blipFill>
          <a:blip r:embed="rId1"/>
          <a:srcRect l="13" r="13"/>
          <a:stretch>
            <a:fillRect/>
          </a:stretch>
        </p:blipFill>
        <p:spPr>
          <a:xfrm>
            <a:off x="0" y="0"/>
            <a:ext cx="12188825" cy="68573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15260" y="3318510"/>
            <a:ext cx="6761480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27898" y="1987550"/>
            <a:ext cx="7736205" cy="14147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2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3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4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5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6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7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8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9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0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1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2.xml><?xml version="1.0" encoding="utf-8"?>
<p:tagLst xmlns:p="http://schemas.openxmlformats.org/presentationml/2006/main">
  <p:tag name="KSO_WM_DIAGRAM_VIRTUALLY_FRAME" val="{&quot;height&quot;:308.05669291338575,&quot;left&quot;:435.59507874015753,&quot;top&quot;:159.4,&quot;width&quot;:440.9549212598425}"/>
</p:tagLst>
</file>

<file path=ppt/tags/tag13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14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15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16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17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18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19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20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21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22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23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ags/tag24.xml><?xml version="1.0" encoding="utf-8"?>
<p:tagLst xmlns:p="http://schemas.openxmlformats.org/presentationml/2006/main">
  <p:tag name="KSO_WM_DIAGRAM_VIRTUALLY_FRAME" val="{&quot;height&quot;:451.6968503937008,&quot;left&quot;:221.15,&quot;top&quot;:97.6,&quot;width&quot;:699.9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E927D"/>
      </a:accent1>
      <a:accent2>
        <a:srgbClr val="9FB26A"/>
      </a:accent2>
      <a:accent3>
        <a:srgbClr val="E0E9C9"/>
      </a:accent3>
      <a:accent4>
        <a:srgbClr val="1D4621"/>
      </a:accent4>
      <a:accent5>
        <a:srgbClr val="E0F0E7"/>
      </a:accent5>
      <a:accent6>
        <a:srgbClr val="58585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E927D"/>
      </a:accent1>
      <a:accent2>
        <a:srgbClr val="9FB26A"/>
      </a:accent2>
      <a:accent3>
        <a:srgbClr val="E0E9C9"/>
      </a:accent3>
      <a:accent4>
        <a:srgbClr val="1D4621"/>
      </a:accent4>
      <a:accent5>
        <a:srgbClr val="E0F0E7"/>
      </a:accent5>
      <a:accent6>
        <a:srgbClr val="58585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15008</Words>
  <Application>WPS 演示</Application>
  <PresentationFormat>On-screen Show (16:9)</PresentationFormat>
  <Paragraphs>566</Paragraphs>
  <Slides>48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3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Cambria Math</vt:lpstr>
      <vt:lpstr>PMingLiU</vt:lpstr>
      <vt:lpstr>Segoe Print</vt:lpstr>
      <vt:lpstr>华文中宋</vt:lpstr>
      <vt:lpstr>BatangChe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良心</cp:lastModifiedBy>
  <cp:revision>7</cp:revision>
  <dcterms:created xsi:type="dcterms:W3CDTF">2025-06-30T16:24:00Z</dcterms:created>
  <dcterms:modified xsi:type="dcterms:W3CDTF">2025-07-02T13:05:17Z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6FBF7493AF5542E2B343AEDD0391A631_12</vt:lpwstr>
  </property>
  <property fmtid="{D5CDD505-2E9C-101B-9397-08002B2CF9AE}" pid="3" name="KSOProductBuildVer">
    <vt:lpwstr>2052-12.1.0.21915</vt:lpwstr>
  </property>
</Properties>
</file>