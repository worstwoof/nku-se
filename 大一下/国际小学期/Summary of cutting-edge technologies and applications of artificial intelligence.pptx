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12.fntdata" ContentType="application/x-fontdata"/>
  <Override PartName="/ppt/fonts/font13.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2" r:id="rId3"/>
  </p:sldMasterIdLst>
  <p:notesMasterIdLst>
    <p:notesMasterId r:id="rId5"/>
  </p:notesMasterIdLst>
  <p:sldIdLst>
    <p:sldId id="256" r:id="rId4"/>
    <p:sldId id="257" r:id="rId6"/>
    <p:sldId id="258" r:id="rId7"/>
    <p:sldId id="259" r:id="rId8"/>
    <p:sldId id="287" r:id="rId9"/>
    <p:sldId id="288" r:id="rId10"/>
    <p:sldId id="261" r:id="rId11"/>
    <p:sldId id="330" r:id="rId12"/>
    <p:sldId id="304" r:id="rId13"/>
    <p:sldId id="305" r:id="rId14"/>
    <p:sldId id="306" r:id="rId15"/>
    <p:sldId id="264" r:id="rId16"/>
    <p:sldId id="331" r:id="rId17"/>
    <p:sldId id="307" r:id="rId18"/>
    <p:sldId id="308" r:id="rId19"/>
    <p:sldId id="309" r:id="rId20"/>
    <p:sldId id="267" r:id="rId21"/>
    <p:sldId id="333" r:id="rId22"/>
    <p:sldId id="310" r:id="rId23"/>
    <p:sldId id="311" r:id="rId24"/>
    <p:sldId id="312" r:id="rId25"/>
    <p:sldId id="270" r:id="rId26"/>
    <p:sldId id="332" r:id="rId27"/>
    <p:sldId id="313" r:id="rId28"/>
    <p:sldId id="314" r:id="rId29"/>
    <p:sldId id="315" r:id="rId30"/>
    <p:sldId id="273" r:id="rId31"/>
    <p:sldId id="316" r:id="rId32"/>
    <p:sldId id="317" r:id="rId33"/>
    <p:sldId id="334" r:id="rId34"/>
    <p:sldId id="318" r:id="rId35"/>
    <p:sldId id="276" r:id="rId36"/>
    <p:sldId id="335" r:id="rId37"/>
    <p:sldId id="319" r:id="rId38"/>
    <p:sldId id="320" r:id="rId39"/>
    <p:sldId id="321" r:id="rId40"/>
    <p:sldId id="279" r:id="rId41"/>
    <p:sldId id="336" r:id="rId42"/>
    <p:sldId id="337" r:id="rId43"/>
    <p:sldId id="323" r:id="rId44"/>
    <p:sldId id="283" r:id="rId45"/>
    <p:sldId id="325" r:id="rId46"/>
    <p:sldId id="326" r:id="rId47"/>
    <p:sldId id="327" r:id="rId48"/>
    <p:sldId id="328" r:id="rId49"/>
    <p:sldId id="286" r:id="rId50"/>
  </p:sldIdLst>
  <p:sldSz cx="12192000" cy="6858000"/>
  <p:notesSz cx="6858000" cy="12192000"/>
  <p:embeddedFontLst>
    <p:embeddedFont>
      <p:font typeface="MiSans" pitchFamily="34" charset="-122"/>
      <p:regular r:id="rId54"/>
    </p:embeddedFont>
    <p:embeddedFont>
      <p:font typeface="MiSans" pitchFamily="34" charset="-120"/>
      <p:regular r:id="rId55"/>
    </p:embeddedFont>
    <p:embeddedFont>
      <p:font typeface="Calibri" panose="020F0502020204030204" charset="0"/>
      <p:regular r:id="rId56"/>
      <p:bold r:id="rId57"/>
      <p:italic r:id="rId58"/>
      <p:boldItalic r:id="rId59"/>
    </p:embeddedFont>
    <p:embeddedFont>
      <p:font typeface="微软雅黑" panose="020B0503020204020204" charset="-122"/>
      <p:regular r:id="rId60"/>
    </p:embeddedFont>
    <p:embeddedFont>
      <p:font typeface="等线" panose="02010600030101010101" charset="-122"/>
      <p:regular r:id="rId61"/>
    </p:embeddedFont>
    <p:embeddedFont>
      <p:font typeface="等线 Light" panose="02010600030101010101" charset="-122"/>
      <p:regular r:id="rId62"/>
    </p:embeddedFont>
    <p:embeddedFont>
      <p:font typeface="Calibri" panose="020F0502020204030204"/>
      <p:regular r:id="rId63"/>
      <p:bold r:id="rId64"/>
      <p:italic r:id="rId65"/>
      <p:boldItalic r:id="rId6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6" Type="http://schemas.openxmlformats.org/officeDocument/2006/relationships/font" Target="fonts/font13.fntdata"/><Relationship Id="rId65" Type="http://schemas.openxmlformats.org/officeDocument/2006/relationships/font" Target="fonts/font12.fntdata"/><Relationship Id="rId64" Type="http://schemas.openxmlformats.org/officeDocument/2006/relationships/font" Target="fonts/font11.fntdata"/><Relationship Id="rId63" Type="http://schemas.openxmlformats.org/officeDocument/2006/relationships/font" Target="fonts/font10.fntdata"/><Relationship Id="rId62" Type="http://schemas.openxmlformats.org/officeDocument/2006/relationships/font" Target="fonts/font9.fntdata"/><Relationship Id="rId61" Type="http://schemas.openxmlformats.org/officeDocument/2006/relationships/font" Target="fonts/font8.fntdata"/><Relationship Id="rId60" Type="http://schemas.openxmlformats.org/officeDocument/2006/relationships/font" Target="fonts/font7.fntdata"/><Relationship Id="rId6" Type="http://schemas.openxmlformats.org/officeDocument/2006/relationships/slide" Target="slides/slide2.xml"/><Relationship Id="rId59" Type="http://schemas.openxmlformats.org/officeDocument/2006/relationships/font" Target="fonts/font6.fntdata"/><Relationship Id="rId58" Type="http://schemas.openxmlformats.org/officeDocument/2006/relationships/font" Target="fonts/font5.fntdata"/><Relationship Id="rId57" Type="http://schemas.openxmlformats.org/officeDocument/2006/relationships/font" Target="fonts/font4.fntdata"/><Relationship Id="rId56" Type="http://schemas.openxmlformats.org/officeDocument/2006/relationships/font" Target="fonts/font3.fntdata"/><Relationship Id="rId55" Type="http://schemas.openxmlformats.org/officeDocument/2006/relationships/font" Target="fonts/font2.fntdata"/><Relationship Id="rId54" Type="http://schemas.openxmlformats.org/officeDocument/2006/relationships/font" Target="fonts/font1.fntdata"/><Relationship Id="rId53" Type="http://schemas.openxmlformats.org/officeDocument/2006/relationships/tableStyles" Target="tableStyles.xml"/><Relationship Id="rId52" Type="http://schemas.openxmlformats.org/officeDocument/2006/relationships/viewProps" Target="viewProps.xml"/><Relationship Id="rId51" Type="http://schemas.openxmlformats.org/officeDocument/2006/relationships/presProps" Target="presProps.xml"/><Relationship Id="rId50" Type="http://schemas.openxmlformats.org/officeDocument/2006/relationships/slide" Target="slides/slide46.xml"/><Relationship Id="rId5" Type="http://schemas.openxmlformats.org/officeDocument/2006/relationships/notesMaster" Target="notesMasters/notesMaster1.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125715" y="1426388"/>
            <a:ext cx="5933440" cy="391160"/>
          </a:xfrm>
        </p:spPr>
        <p:txBody>
          <a:bodyPr lIns="0" tIns="0" rIns="0" bIns="0"/>
          <a:lstStyle>
            <a:lvl1pPr>
              <a:defRPr sz="2400" b="0"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1411744" y="2225065"/>
            <a:ext cx="10584509" cy="2533015"/>
          </a:xfrm>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a:xfrm>
            <a:off x="4145280" y="6377940"/>
            <a:ext cx="3901440" cy="342900"/>
          </a:xfrm>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a:xfrm>
            <a:off x="1125715" y="1426388"/>
            <a:ext cx="5933440" cy="391160"/>
          </a:xfrm>
        </p:spPr>
        <p:txBody>
          <a:bodyPr lIns="0" tIns="0" rIns="0" bIns="0"/>
          <a:lstStyle>
            <a:lvl1pPr>
              <a:defRPr sz="2400" b="0" i="0">
                <a:solidFill>
                  <a:schemeClr val="tx1"/>
                </a:solidFill>
                <a:latin typeface="微软雅黑" panose="020B0503020204020204" charset="-122"/>
                <a:cs typeface="微软雅黑" panose="020B0503020204020204" charset="-122"/>
              </a:defRPr>
            </a:lvl1pPr>
          </a:lstStyle>
          <a:p/>
        </p:txBody>
      </p:sp>
      <p:sp>
        <p:nvSpPr>
          <p:cNvPr id="3" name="Holder 3"/>
          <p:cNvSpPr>
            <a:spLocks noGrp="1"/>
          </p:cNvSpPr>
          <p:nvPr>
            <p:ph type="body" idx="1"/>
          </p:nvPr>
        </p:nvSpPr>
        <p:spPr>
          <a:xfrm>
            <a:off x="1411744" y="2225065"/>
            <a:ext cx="10584509" cy="2533015"/>
          </a:xfrm>
        </p:spPr>
        <p:txBody>
          <a:bodyPr lIns="0" tIns="0" rIns="0" bIns="0"/>
          <a:lstStyle>
            <a:lvl1pPr>
              <a:defRPr b="0" i="0">
                <a:solidFill>
                  <a:schemeClr val="tx1"/>
                </a:solidFill>
              </a:defRPr>
            </a:lvl1pPr>
          </a:lstStyle>
          <a:p/>
        </p:txBody>
      </p:sp>
      <p:sp>
        <p:nvSpPr>
          <p:cNvPr id="4" name="Holder 4"/>
          <p:cNvSpPr>
            <a:spLocks noGrp="1"/>
          </p:cNvSpPr>
          <p:nvPr>
            <p:ph type="ftr" sz="quarter" idx="5"/>
          </p:nvPr>
        </p:nvSpPr>
        <p:spPr>
          <a:xfrm>
            <a:off x="4145280" y="6377940"/>
            <a:ext cx="3901440" cy="342900"/>
          </a:xfrm>
        </p:spPr>
        <p:txBody>
          <a:bodyPr lIns="0" tIns="0" rIns="0" bIns="0"/>
          <a:lstStyle>
            <a:lvl1pPr algn="ctr">
              <a:defRPr>
                <a:solidFill>
                  <a:schemeClr val="tx1">
                    <a:tint val="75000"/>
                  </a:schemeClr>
                </a:solidFill>
              </a:defRPr>
            </a:lvl1pPr>
          </a:lstStyle>
          <a:p/>
        </p:txBody>
      </p:sp>
      <p:sp>
        <p:nvSpPr>
          <p:cNvPr id="5" name="Holder 5"/>
          <p:cNvSpPr>
            <a:spLocks noGrp="1"/>
          </p:cNvSpPr>
          <p:nvPr>
            <p:ph type="dt" sz="half" idx="6"/>
          </p:nvPr>
        </p:nvSpPr>
        <p:spPr>
          <a:xfrm>
            <a:off x="609600" y="6377940"/>
            <a:ext cx="2804160" cy="342900"/>
          </a:xfrm>
        </p:spPr>
        <p:txBody>
          <a:bodyPr lIns="0" tIns="0" rIns="0" bIns="0"/>
          <a:lstStyle>
            <a:lvl1pPr algn="l">
              <a:defRPr>
                <a:solidFill>
                  <a:schemeClr val="tx1">
                    <a:tint val="75000"/>
                  </a:schemeClr>
                </a:solidFill>
              </a:defRPr>
            </a:lvl1pPr>
          </a:lstStyle>
          <a:p>
            <a:fld id="{1D8BD707-D9CF-40AE-B4C6-C98DA3205C09}" type="datetimeFigureOut">
              <a:rPr lang="en-US"/>
            </a:fld>
            <a:endParaRPr lang="en-US"/>
          </a:p>
        </p:txBody>
      </p:sp>
      <p:sp>
        <p:nvSpPr>
          <p:cNvPr id="6" name="Holder 6"/>
          <p:cNvSpPr>
            <a:spLocks noGrp="1"/>
          </p:cNvSpPr>
          <p:nvPr>
            <p:ph type="sldNum" sz="quarter" idx="7"/>
          </p:nvPr>
        </p:nvSpPr>
        <p:spPr>
          <a:xfrm>
            <a:off x="8778240" y="6377940"/>
            <a:ext cx="2804160" cy="342900"/>
          </a:xfrm>
        </p:spPr>
        <p:txBody>
          <a:bodyPr lIns="0" tIns="0" rIns="0" bIns="0"/>
          <a:lstStyle>
            <a:lvl1pPr algn="r">
              <a:defRPr>
                <a:solidFill>
                  <a:schemeClr val="tx1">
                    <a:tint val="75000"/>
                  </a:schemeClr>
                </a:solidFill>
              </a:defRPr>
            </a:lvl1pPr>
          </a:lstStyle>
          <a:p>
            <a:fld id="{B6F15528-21DE-4FAA-801E-634DDDAF4B2B}" type="slidenum">
              <a:rPr/>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4" Type="http://schemas.openxmlformats.org/officeDocument/2006/relationships/theme" Target="../theme/theme2.xml"/><Relationship Id="rId3" Type="http://schemas.openxmlformats.org/officeDocument/2006/relationships/slideLayout" Target="../slideLayouts/slideLayout6.xml"/><Relationship Id="rId2" Type="http://schemas.openxmlformats.org/officeDocument/2006/relationships/slideLayout" Target="../slideLayouts/slideLayout5.xml"/><Relationship Id="rId1"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3" Type="http://schemas.openxmlformats.org/officeDocument/2006/relationships/notesSlide" Target="../notesSlides/notesSlide2.xml"/><Relationship Id="rId22" Type="http://schemas.openxmlformats.org/officeDocument/2006/relationships/slideLayout" Target="../slideLayouts/slideLayout1.xml"/><Relationship Id="rId21" Type="http://schemas.openxmlformats.org/officeDocument/2006/relationships/tags" Target="../tags/tag20.xml"/><Relationship Id="rId20" Type="http://schemas.openxmlformats.org/officeDocument/2006/relationships/tags" Target="../tags/tag19.xml"/><Relationship Id="rId2" Type="http://schemas.openxmlformats.org/officeDocument/2006/relationships/tags" Target="../tags/tag1.xml"/><Relationship Id="rId19" Type="http://schemas.openxmlformats.org/officeDocument/2006/relationships/tags" Target="../tags/tag18.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image" Target="../media/image2.png"/><Relationship Id="rId19" Type="http://schemas.openxmlformats.org/officeDocument/2006/relationships/notesSlide" Target="../notesSlides/notesSlide3.xml"/><Relationship Id="rId18" Type="http://schemas.openxmlformats.org/officeDocument/2006/relationships/slideLayout" Target="../slideLayouts/slideLayout1.xml"/><Relationship Id="rId17" Type="http://schemas.openxmlformats.org/officeDocument/2006/relationships/tags" Target="../tags/tag36.xml"/><Relationship Id="rId16" Type="http://schemas.openxmlformats.org/officeDocument/2006/relationships/tags" Target="../tags/tag35.xml"/><Relationship Id="rId15" Type="http://schemas.openxmlformats.org/officeDocument/2006/relationships/tags" Target="../tags/tag34.xml"/><Relationship Id="rId14" Type="http://schemas.openxmlformats.org/officeDocument/2006/relationships/tags" Target="../tags/tag33.xml"/><Relationship Id="rId13" Type="http://schemas.openxmlformats.org/officeDocument/2006/relationships/tags" Target="../tags/tag32.xml"/><Relationship Id="rId12" Type="http://schemas.openxmlformats.org/officeDocument/2006/relationships/tags" Target="../tags/tag31.xml"/><Relationship Id="rId11" Type="http://schemas.openxmlformats.org/officeDocument/2006/relationships/tags" Target="../tags/tag30.xml"/><Relationship Id="rId10" Type="http://schemas.openxmlformats.org/officeDocument/2006/relationships/tags" Target="../tags/tag29.xml"/><Relationship Id="rId1" Type="http://schemas.openxmlformats.org/officeDocument/2006/relationships/tags" Target="../tags/tag21.xml"/></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1.xml"/><Relationship Id="rId2" Type="http://schemas.openxmlformats.org/officeDocument/2006/relationships/image" Target="../media/image6.png"/><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xml"/><Relationship Id="rId2" Type="http://schemas.openxmlformats.org/officeDocument/2006/relationships/image" Target="../media/image7.png"/><Relationship Id="rId1" Type="http://schemas.openxmlformats.org/officeDocument/2006/relationships/tags" Target="../tags/tag37.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4.xml"/><Relationship Id="rId1"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9.png"/></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10.jpeg"/><Relationship Id="rId2" Type="http://schemas.openxmlformats.org/officeDocument/2006/relationships/tags" Target="../tags/tag39.xml"/><Relationship Id="rId1" Type="http://schemas.openxmlformats.org/officeDocument/2006/relationships/tags" Target="../tags/tag38.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image" Target="../media/image11.jpeg"/></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4.xml"/><Relationship Id="rId1"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4.xml"/><Relationship Id="rId1" Type="http://schemas.openxmlformats.org/officeDocument/2006/relationships/image" Target="../media/image16.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17.png"/></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4.xml"/><Relationship Id="rId1"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19.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20.pn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xml"/><Relationship Id="rId1" Type="http://schemas.openxmlformats.org/officeDocument/2006/relationships/image" Target="../media/image21.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4.xml"/><Relationship Id="rId1" Type="http://schemas.openxmlformats.org/officeDocument/2006/relationships/image" Target="../media/image22.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1.xml"/><Relationship Id="rId1" Type="http://schemas.openxmlformats.org/officeDocument/2006/relationships/image" Target="../media/image23.png"/></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34.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4.xml"/><Relationship Id="rId1" Type="http://schemas.openxmlformats.org/officeDocument/2006/relationships/image" Target="../media/image25.png"/></Relationships>
</file>

<file path=ppt/slides/_rels/slide40.xml.rels><?xml version="1.0" encoding="UTF-8" standalone="yes"?>
<Relationships xmlns="http://schemas.openxmlformats.org/package/2006/relationships"><Relationship Id="rId8" Type="http://schemas.openxmlformats.org/officeDocument/2006/relationships/notesSlide" Target="../notesSlides/notesSlide37.xml"/><Relationship Id="rId7" Type="http://schemas.openxmlformats.org/officeDocument/2006/relationships/slideLayout" Target="../slideLayouts/slideLayout1.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image" Target="../media/image27.png"/><Relationship Id="rId1" Type="http://schemas.openxmlformats.org/officeDocument/2006/relationships/image" Target="../media/image26.png"/></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38.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3.pn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39.xml"/><Relationship Id="rId4" Type="http://schemas.openxmlformats.org/officeDocument/2006/relationships/slideLayout" Target="../slideLayouts/slideLayout1.xml"/><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image" Target="../media/image28.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1.xml"/><Relationship Id="rId1" Type="http://schemas.openxmlformats.org/officeDocument/2006/relationships/image" Target="../media/image31.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1.xml"/><Relationship Id="rId1" Type="http://schemas.openxmlformats.org/officeDocument/2006/relationships/image" Target="../media/image32.png"/></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1.xml"/><Relationship Id="rId1" Type="http://schemas.openxmlformats.org/officeDocument/2006/relationships/image" Target="../media/image15.png"/></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14-d0shppk75iks832je4vg.png"/>
          <p:cNvPicPr>
            <a:picLocks noChangeAspect="1"/>
          </p:cNvPicPr>
          <p:nvPr/>
        </p:nvPicPr>
        <p:blipFill>
          <a:blip r:embed="rId1"/>
          <a:srcRect l="13" r="13"/>
          <a:stretch>
            <a:fillRect/>
          </a:stretch>
        </p:blipFill>
        <p:spPr>
          <a:xfrm>
            <a:off x="0" y="0"/>
            <a:ext cx="12188825" cy="6857365"/>
          </a:xfrm>
          <a:prstGeom prst="rect">
            <a:avLst/>
          </a:prstGeom>
        </p:spPr>
      </p:pic>
      <p:sp>
        <p:nvSpPr>
          <p:cNvPr id="5" name="Text 2"/>
          <p:cNvSpPr/>
          <p:nvPr/>
        </p:nvSpPr>
        <p:spPr>
          <a:xfrm>
            <a:off x="1048385" y="1712595"/>
            <a:ext cx="10095865" cy="2853055"/>
          </a:xfrm>
          <a:prstGeom prst="rect">
            <a:avLst/>
          </a:prstGeom>
          <a:noFill/>
        </p:spPr>
        <p:txBody>
          <a:bodyPr wrap="square" lIns="91440" tIns="45720" rIns="91440" bIns="45720" rtlCol="0" anchor="t">
            <a:noAutofit/>
          </a:bodyPr>
          <a:lstStyle/>
          <a:p>
            <a:pPr marL="0" indent="0" algn="ctr">
              <a:lnSpc>
                <a:spcPct val="100000"/>
              </a:lnSpc>
              <a:buNone/>
            </a:pPr>
            <a:r>
              <a:rPr lang="en-US" altLang="zh-CN" sz="5400" dirty="0"/>
              <a:t>Summary of cutting-edge technologies and applications of artificial intelligence</a:t>
            </a:r>
            <a:endParaRPr lang="en-US" altLang="zh-CN" sz="5400" dirty="0"/>
          </a:p>
        </p:txBody>
      </p:sp>
      <p:sp>
        <p:nvSpPr>
          <p:cNvPr id="6" name="Text 3"/>
          <p:cNvSpPr/>
          <p:nvPr/>
        </p:nvSpPr>
        <p:spPr>
          <a:xfrm>
            <a:off x="649605" y="269240"/>
            <a:ext cx="4064000" cy="276225"/>
          </a:xfrm>
          <a:prstGeom prst="rect">
            <a:avLst/>
          </a:prstGeom>
          <a:noFill/>
        </p:spPr>
        <p:txBody>
          <a:bodyPr wrap="square" lIns="91440" tIns="45720" rIns="91440" bIns="45720" rtlCol="0" anchor="t">
            <a:spAutoFit/>
          </a:bodyPr>
          <a:lstStyle/>
          <a:p>
            <a:pPr marL="0" indent="0" algn="l">
              <a:lnSpc>
                <a:spcPct val="100000"/>
              </a:lnSpc>
              <a:buNone/>
            </a:pPr>
            <a:r>
              <a:rPr lang="en-US" sz="1800" b="1" dirty="0">
                <a:solidFill>
                  <a:srgbClr val="000000"/>
                </a:solidFill>
                <a:latin typeface="MiSans" pitchFamily="34" charset="-122"/>
                <a:ea typeface="MiSans" pitchFamily="34" charset="-122"/>
                <a:cs typeface="MiSans" pitchFamily="34" charset="-120"/>
              </a:rPr>
              <a:t>YOUR LOGO</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03-d0shpms75iks832je4v0.png"/>
          <p:cNvPicPr>
            <a:picLocks noChangeAspect="1"/>
          </p:cNvPicPr>
          <p:nvPr/>
        </p:nvPicPr>
        <p:blipFill>
          <a:blip r:embed="rId1"/>
          <a:srcRect t="3326" b="11223"/>
          <a:stretch>
            <a:fillRect/>
          </a:stretch>
        </p:blipFill>
        <p:spPr>
          <a:xfrm>
            <a:off x="0" y="0"/>
            <a:ext cx="4874260" cy="6851015"/>
          </a:xfrm>
          <a:prstGeom prst="rect">
            <a:avLst/>
          </a:prstGeom>
        </p:spPr>
      </p:pic>
      <p:sp>
        <p:nvSpPr>
          <p:cNvPr id="3" name="Shape 0"/>
          <p:cNvSpPr/>
          <p:nvPr>
            <p:custDataLst>
              <p:tags r:id="rId2"/>
            </p:custDataLst>
          </p:nvPr>
        </p:nvSpPr>
        <p:spPr>
          <a:xfrm rot="5400000">
            <a:off x="5531485" y="2271629"/>
            <a:ext cx="293611" cy="293736"/>
          </a:xfrm>
          <a:prstGeom prst="triangle">
            <a:avLst/>
          </a:prstGeom>
          <a:solidFill>
            <a:srgbClr val="E0E9C9"/>
          </a:solidFill>
        </p:spPr>
      </p:sp>
      <p:sp>
        <p:nvSpPr>
          <p:cNvPr id="5" name="Shape 2"/>
          <p:cNvSpPr/>
          <p:nvPr>
            <p:custDataLst>
              <p:tags r:id="rId3"/>
            </p:custDataLst>
          </p:nvPr>
        </p:nvSpPr>
        <p:spPr>
          <a:xfrm rot="5400000">
            <a:off x="5621552" y="2306499"/>
            <a:ext cx="293611" cy="293736"/>
          </a:xfrm>
          <a:prstGeom prst="triangle">
            <a:avLst/>
          </a:prstGeom>
          <a:solidFill>
            <a:srgbClr val="5E927D"/>
          </a:solidFill>
        </p:spPr>
      </p:sp>
      <p:sp>
        <p:nvSpPr>
          <p:cNvPr id="7" name="Text 4"/>
          <p:cNvSpPr/>
          <p:nvPr>
            <p:custDataLst>
              <p:tags r:id="rId4"/>
            </p:custDataLst>
          </p:nvPr>
        </p:nvSpPr>
        <p:spPr>
          <a:xfrm>
            <a:off x="6018837" y="220726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01</a:t>
            </a:r>
            <a:endParaRPr lang="en-US" sz="1600" dirty="0"/>
          </a:p>
        </p:txBody>
      </p:sp>
      <p:sp>
        <p:nvSpPr>
          <p:cNvPr id="8" name="Text 5"/>
          <p:cNvSpPr/>
          <p:nvPr>
            <p:custDataLst>
              <p:tags r:id="rId5"/>
            </p:custDataLst>
          </p:nvPr>
        </p:nvSpPr>
        <p:spPr>
          <a:xfrm>
            <a:off x="6662522" y="2052059"/>
            <a:ext cx="4469663" cy="829945"/>
          </a:xfrm>
          <a:prstGeom prst="rect">
            <a:avLst/>
          </a:prstGeom>
          <a:noFill/>
        </p:spPr>
        <p:txBody>
          <a:bodyPr wrap="square" lIns="91440" tIns="45720" rIns="91440" bIns="45720" rtlCol="0" anchor="t">
            <a:spAutoFit/>
          </a:bodyPr>
          <a:lstStyle/>
          <a:p>
            <a:pPr marL="0" indent="0" algn="just">
              <a:lnSpc>
                <a:spcPct val="100000"/>
              </a:lnSpc>
              <a:buNone/>
            </a:pPr>
            <a:r>
              <a:rPr lang="en-US" altLang="zh-CN" sz="2400" dirty="0"/>
              <a:t>Artificial Intelligence Overview and Development Trends</a:t>
            </a:r>
            <a:endParaRPr lang="en-US" altLang="zh-CN" sz="2400" dirty="0"/>
          </a:p>
        </p:txBody>
      </p:sp>
      <p:sp>
        <p:nvSpPr>
          <p:cNvPr id="9" name="Shape 6"/>
          <p:cNvSpPr/>
          <p:nvPr>
            <p:custDataLst>
              <p:tags r:id="rId6"/>
            </p:custDataLst>
          </p:nvPr>
        </p:nvSpPr>
        <p:spPr>
          <a:xfrm rot="5400000">
            <a:off x="5532120" y="2916114"/>
            <a:ext cx="293611" cy="293331"/>
          </a:xfrm>
          <a:prstGeom prst="triangle">
            <a:avLst/>
          </a:prstGeom>
          <a:solidFill>
            <a:srgbClr val="E0E9C9"/>
          </a:solidFill>
        </p:spPr>
      </p:sp>
      <p:sp>
        <p:nvSpPr>
          <p:cNvPr id="11" name="Shape 8"/>
          <p:cNvSpPr/>
          <p:nvPr>
            <p:custDataLst>
              <p:tags r:id="rId7"/>
            </p:custDataLst>
          </p:nvPr>
        </p:nvSpPr>
        <p:spPr>
          <a:xfrm rot="5400000">
            <a:off x="5663462" y="3078464"/>
            <a:ext cx="293611" cy="293331"/>
          </a:xfrm>
          <a:prstGeom prst="triangle">
            <a:avLst/>
          </a:prstGeom>
          <a:solidFill>
            <a:srgbClr val="5E927D"/>
          </a:solidFill>
        </p:spPr>
      </p:sp>
      <p:sp>
        <p:nvSpPr>
          <p:cNvPr id="13" name="Text 10"/>
          <p:cNvSpPr/>
          <p:nvPr>
            <p:custDataLst>
              <p:tags r:id="rId8"/>
            </p:custDataLst>
          </p:nvPr>
        </p:nvSpPr>
        <p:spPr>
          <a:xfrm>
            <a:off x="5925820" y="2966720"/>
            <a:ext cx="686435" cy="370205"/>
          </a:xfrm>
          <a:prstGeom prst="rect">
            <a:avLst/>
          </a:prstGeom>
          <a:noFill/>
        </p:spPr>
        <p:txBody>
          <a:bodyPr wrap="square" lIns="91440" tIns="45720" rIns="91440" bIns="45720" rtlCol="0" anchor="t">
            <a:no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02</a:t>
            </a:r>
            <a:endParaRPr lang="en-US" sz="1600" dirty="0"/>
          </a:p>
        </p:txBody>
      </p:sp>
      <p:sp>
        <p:nvSpPr>
          <p:cNvPr id="14" name="Text 11"/>
          <p:cNvSpPr/>
          <p:nvPr>
            <p:custDataLst>
              <p:tags r:id="rId9"/>
            </p:custDataLst>
          </p:nvPr>
        </p:nvSpPr>
        <p:spPr>
          <a:xfrm>
            <a:off x="6662522" y="2747981"/>
            <a:ext cx="4469663" cy="829945"/>
          </a:xfrm>
          <a:prstGeom prst="rect">
            <a:avLst/>
          </a:prstGeom>
          <a:noFill/>
        </p:spPr>
        <p:txBody>
          <a:bodyPr wrap="square" lIns="91440" tIns="45720" rIns="91440" bIns="45720" rtlCol="0" anchor="t">
            <a:spAutoFit/>
          </a:bodyPr>
          <a:lstStyle/>
          <a:p>
            <a:pPr marL="0" indent="0" algn="just">
              <a:lnSpc>
                <a:spcPct val="100000"/>
              </a:lnSpc>
              <a:buNone/>
            </a:pPr>
            <a:r>
              <a:rPr lang="en-US" altLang="zh-CN" sz="2400" dirty="0"/>
              <a:t>Deep Learning Fundamentals and Applications</a:t>
            </a:r>
            <a:endParaRPr lang="en-US" altLang="zh-CN" sz="2400" dirty="0"/>
          </a:p>
        </p:txBody>
      </p:sp>
      <p:sp>
        <p:nvSpPr>
          <p:cNvPr id="15" name="Shape 12"/>
          <p:cNvSpPr/>
          <p:nvPr>
            <p:custDataLst>
              <p:tags r:id="rId10"/>
            </p:custDataLst>
          </p:nvPr>
        </p:nvSpPr>
        <p:spPr>
          <a:xfrm rot="5400000">
            <a:off x="5532120" y="3717484"/>
            <a:ext cx="293611" cy="293331"/>
          </a:xfrm>
          <a:prstGeom prst="triangle">
            <a:avLst/>
          </a:prstGeom>
          <a:solidFill>
            <a:srgbClr val="E0E9C9"/>
          </a:solidFill>
        </p:spPr>
      </p:sp>
      <p:sp>
        <p:nvSpPr>
          <p:cNvPr id="16" name="Text 13"/>
          <p:cNvSpPr/>
          <p:nvPr/>
        </p:nvSpPr>
        <p:spPr>
          <a:xfrm rot="5400000">
            <a:off x="5532120" y="377907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4"/>
          <p:cNvSpPr/>
          <p:nvPr>
            <p:custDataLst>
              <p:tags r:id="rId11"/>
            </p:custDataLst>
          </p:nvPr>
        </p:nvSpPr>
        <p:spPr>
          <a:xfrm rot="5400000">
            <a:off x="5621552" y="3850624"/>
            <a:ext cx="293611" cy="293331"/>
          </a:xfrm>
          <a:prstGeom prst="triangle">
            <a:avLst/>
          </a:prstGeom>
          <a:solidFill>
            <a:srgbClr val="5E927D"/>
          </a:solidFill>
        </p:spPr>
      </p:sp>
      <p:sp>
        <p:nvSpPr>
          <p:cNvPr id="19" name="Text 16"/>
          <p:cNvSpPr/>
          <p:nvPr>
            <p:custDataLst>
              <p:tags r:id="rId12"/>
            </p:custDataLst>
          </p:nvPr>
        </p:nvSpPr>
        <p:spPr>
          <a:xfrm>
            <a:off x="5945812" y="3728085"/>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03</a:t>
            </a:r>
            <a:endParaRPr lang="en-US" sz="1600" dirty="0"/>
          </a:p>
        </p:txBody>
      </p:sp>
      <p:sp>
        <p:nvSpPr>
          <p:cNvPr id="20" name="Text 17"/>
          <p:cNvSpPr/>
          <p:nvPr>
            <p:custDataLst>
              <p:tags r:id="rId13"/>
            </p:custDataLst>
          </p:nvPr>
        </p:nvSpPr>
        <p:spPr>
          <a:xfrm>
            <a:off x="6662522" y="3532206"/>
            <a:ext cx="4469663" cy="829945"/>
          </a:xfrm>
          <a:prstGeom prst="rect">
            <a:avLst/>
          </a:prstGeom>
          <a:noFill/>
        </p:spPr>
        <p:txBody>
          <a:bodyPr wrap="square" lIns="91440" tIns="45720" rIns="91440" bIns="45720" rtlCol="0" anchor="t">
            <a:spAutoFit/>
          </a:bodyPr>
          <a:lstStyle/>
          <a:p>
            <a:pPr marL="0" indent="0" algn="just">
              <a:lnSpc>
                <a:spcPct val="100000"/>
              </a:lnSpc>
              <a:buNone/>
            </a:pPr>
            <a:r>
              <a:rPr lang="en-US" altLang="zh-CN" sz="2400" dirty="0"/>
              <a:t>Reinforcement Learning Principles and Practice</a:t>
            </a:r>
            <a:endParaRPr lang="en-US" altLang="zh-CN" sz="2400" dirty="0"/>
          </a:p>
        </p:txBody>
      </p:sp>
      <p:sp>
        <p:nvSpPr>
          <p:cNvPr id="21" name="Shape 18"/>
          <p:cNvSpPr/>
          <p:nvPr>
            <p:custDataLst>
              <p:tags r:id="rId14"/>
            </p:custDataLst>
          </p:nvPr>
        </p:nvSpPr>
        <p:spPr>
          <a:xfrm rot="5400000">
            <a:off x="5532120" y="4479484"/>
            <a:ext cx="293611" cy="293331"/>
          </a:xfrm>
          <a:prstGeom prst="triangle">
            <a:avLst/>
          </a:prstGeom>
          <a:solidFill>
            <a:srgbClr val="E0E9C9"/>
          </a:solidFill>
        </p:spPr>
      </p:sp>
      <p:sp>
        <p:nvSpPr>
          <p:cNvPr id="23" name="Shape 20"/>
          <p:cNvSpPr/>
          <p:nvPr>
            <p:custDataLst>
              <p:tags r:id="rId15"/>
            </p:custDataLst>
          </p:nvPr>
        </p:nvSpPr>
        <p:spPr>
          <a:xfrm rot="5400000">
            <a:off x="5645047" y="4545949"/>
            <a:ext cx="293611" cy="293331"/>
          </a:xfrm>
          <a:prstGeom prst="triangle">
            <a:avLst/>
          </a:prstGeom>
          <a:solidFill>
            <a:srgbClr val="5E927D"/>
          </a:solidFill>
        </p:spPr>
      </p:sp>
      <p:sp>
        <p:nvSpPr>
          <p:cNvPr id="25" name="Text 22"/>
          <p:cNvSpPr/>
          <p:nvPr>
            <p:custDataLst>
              <p:tags r:id="rId16"/>
            </p:custDataLst>
          </p:nvPr>
        </p:nvSpPr>
        <p:spPr>
          <a:xfrm>
            <a:off x="5930572" y="4471035"/>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04</a:t>
            </a:r>
            <a:endParaRPr lang="en-US" sz="1600" dirty="0"/>
          </a:p>
        </p:txBody>
      </p:sp>
      <p:sp>
        <p:nvSpPr>
          <p:cNvPr id="26" name="Text 23"/>
          <p:cNvSpPr/>
          <p:nvPr>
            <p:custDataLst>
              <p:tags r:id="rId17"/>
            </p:custDataLst>
          </p:nvPr>
        </p:nvSpPr>
        <p:spPr>
          <a:xfrm>
            <a:off x="6675857" y="4299286"/>
            <a:ext cx="4469663" cy="829945"/>
          </a:xfrm>
          <a:prstGeom prst="rect">
            <a:avLst/>
          </a:prstGeom>
          <a:noFill/>
        </p:spPr>
        <p:txBody>
          <a:bodyPr wrap="square" lIns="91440" tIns="45720" rIns="91440" bIns="45720" rtlCol="0" anchor="t">
            <a:spAutoFit/>
          </a:bodyPr>
          <a:lstStyle/>
          <a:p>
            <a:pPr marL="0" indent="0" algn="just">
              <a:lnSpc>
                <a:spcPct val="100000"/>
              </a:lnSpc>
              <a:buNone/>
            </a:pPr>
            <a:r>
              <a:rPr lang="en-US" altLang="zh-CN" sz="2400" dirty="0"/>
              <a:t>Evolutionary Computation and Systems</a:t>
            </a:r>
            <a:endParaRPr lang="en-US" altLang="zh-CN" sz="2400" dirty="0"/>
          </a:p>
        </p:txBody>
      </p:sp>
      <p:sp>
        <p:nvSpPr>
          <p:cNvPr id="27" name="Shape 24"/>
          <p:cNvSpPr/>
          <p:nvPr>
            <p:custDataLst>
              <p:tags r:id="rId18"/>
            </p:custDataLst>
          </p:nvPr>
        </p:nvSpPr>
        <p:spPr>
          <a:xfrm rot="5400000">
            <a:off x="5532120" y="5129089"/>
            <a:ext cx="293611" cy="293331"/>
          </a:xfrm>
          <a:prstGeom prst="triangle">
            <a:avLst/>
          </a:prstGeom>
          <a:solidFill>
            <a:srgbClr val="E0E9C9"/>
          </a:solidFill>
        </p:spPr>
      </p:sp>
      <p:sp>
        <p:nvSpPr>
          <p:cNvPr id="29" name="Shape 26"/>
          <p:cNvSpPr/>
          <p:nvPr>
            <p:custDataLst>
              <p:tags r:id="rId19"/>
            </p:custDataLst>
          </p:nvPr>
        </p:nvSpPr>
        <p:spPr>
          <a:xfrm rot="5400000">
            <a:off x="5645047" y="5241274"/>
            <a:ext cx="293611" cy="293331"/>
          </a:xfrm>
          <a:prstGeom prst="triangle">
            <a:avLst/>
          </a:prstGeom>
          <a:solidFill>
            <a:srgbClr val="5E927D"/>
          </a:solidFill>
        </p:spPr>
      </p:sp>
      <p:sp>
        <p:nvSpPr>
          <p:cNvPr id="31" name="Text 28"/>
          <p:cNvSpPr/>
          <p:nvPr>
            <p:custDataLst>
              <p:tags r:id="rId20"/>
            </p:custDataLst>
          </p:nvPr>
        </p:nvSpPr>
        <p:spPr>
          <a:xfrm>
            <a:off x="5957242" y="5166360"/>
            <a:ext cx="686598" cy="368300"/>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05</a:t>
            </a:r>
            <a:endParaRPr lang="en-US" sz="1600" dirty="0"/>
          </a:p>
        </p:txBody>
      </p:sp>
      <p:sp>
        <p:nvSpPr>
          <p:cNvPr id="32" name="Text 29"/>
          <p:cNvSpPr/>
          <p:nvPr>
            <p:custDataLst>
              <p:tags r:id="rId21"/>
            </p:custDataLst>
          </p:nvPr>
        </p:nvSpPr>
        <p:spPr>
          <a:xfrm>
            <a:off x="6662522" y="5011756"/>
            <a:ext cx="4469663" cy="829945"/>
          </a:xfrm>
          <a:prstGeom prst="rect">
            <a:avLst/>
          </a:prstGeom>
          <a:noFill/>
        </p:spPr>
        <p:txBody>
          <a:bodyPr wrap="square" lIns="91440" tIns="45720" rIns="91440" bIns="45720" rtlCol="0" anchor="t">
            <a:spAutoFit/>
          </a:bodyPr>
          <a:lstStyle/>
          <a:p>
            <a:pPr marL="0" indent="0" algn="just">
              <a:lnSpc>
                <a:spcPct val="100000"/>
              </a:lnSpc>
              <a:buNone/>
            </a:pPr>
            <a:r>
              <a:rPr lang="en-US" altLang="zh-CN" sz="2400" dirty="0"/>
              <a:t>Introduction to Graph Neural Networks and Case Studies</a:t>
            </a:r>
            <a:endParaRPr lang="en-US" altLang="zh-CN" sz="2400" dirty="0"/>
          </a:p>
        </p:txBody>
      </p:sp>
      <p:sp>
        <p:nvSpPr>
          <p:cNvPr id="39" name="Text 36"/>
          <p:cNvSpPr/>
          <p:nvPr/>
        </p:nvSpPr>
        <p:spPr>
          <a:xfrm>
            <a:off x="5407025" y="458470"/>
            <a:ext cx="3513455" cy="1076325"/>
          </a:xfrm>
          <a:prstGeom prst="rect">
            <a:avLst/>
          </a:prstGeom>
          <a:noFill/>
        </p:spPr>
        <p:txBody>
          <a:bodyPr wrap="square" lIns="91440" tIns="45720" rIns="91440" bIns="45720" rtlCol="0" anchor="t">
            <a:spAutoFit/>
          </a:bodyPr>
          <a:lstStyle/>
          <a:p>
            <a:pPr marL="0" indent="0" algn="l">
              <a:lnSpc>
                <a:spcPct val="100000"/>
              </a:lnSpc>
              <a:buNone/>
            </a:pPr>
            <a:r>
              <a:rPr lang="en-US" sz="4800" b="1" dirty="0">
                <a:solidFill>
                  <a:srgbClr val="000000"/>
                </a:solidFill>
                <a:latin typeface="MiSans" pitchFamily="34" charset="-122"/>
                <a:ea typeface="MiSans" pitchFamily="34" charset="-122"/>
                <a:cs typeface="MiSans" pitchFamily="34" charset="-120"/>
                <a:sym typeface="+mn-ea"/>
              </a:rPr>
              <a:t>CONTENTS</a:t>
            </a:r>
            <a:r>
              <a:rPr lang="en-US" sz="4800" b="1" dirty="0">
                <a:solidFill>
                  <a:srgbClr val="000000"/>
                </a:solidFill>
                <a:latin typeface="MiSans" pitchFamily="34" charset="-122"/>
                <a:ea typeface="MiSans" pitchFamily="34" charset="-122"/>
                <a:cs typeface="MiSans" pitchFamily="34" charset="-120"/>
              </a:rPr>
              <a:t> </a:t>
            </a:r>
            <a:endParaRPr lang="en-US" sz="1600" dirty="0"/>
          </a:p>
          <a:p>
            <a:pPr marL="0" indent="0" algn="l">
              <a:lnSpc>
                <a:spcPct val="100000"/>
              </a:lnSpc>
              <a:buNone/>
            </a:pP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Shape 12"/>
          <p:cNvSpPr/>
          <p:nvPr>
            <p:custDataLst>
              <p:tags r:id="rId1"/>
            </p:custDataLst>
          </p:nvPr>
        </p:nvSpPr>
        <p:spPr>
          <a:xfrm rot="5400000">
            <a:off x="5532120" y="5703129"/>
            <a:ext cx="293611" cy="293331"/>
          </a:xfrm>
          <a:prstGeom prst="triangle">
            <a:avLst/>
          </a:prstGeom>
          <a:solidFill>
            <a:srgbClr val="E0E9C9"/>
          </a:solidFill>
        </p:spPr>
      </p:sp>
      <p:pic>
        <p:nvPicPr>
          <p:cNvPr id="2" name="Image 0" descr="https://test-kimi-img.moonshot.cn/pub/slides/slides_tmpl/image/25-05-30-10:50:03-d0shpms75iks832je4v0.png"/>
          <p:cNvPicPr>
            <a:picLocks noChangeAspect="1"/>
          </p:cNvPicPr>
          <p:nvPr/>
        </p:nvPicPr>
        <p:blipFill>
          <a:blip r:embed="rId2"/>
          <a:srcRect t="3326" b="11223"/>
          <a:stretch>
            <a:fillRect/>
          </a:stretch>
        </p:blipFill>
        <p:spPr>
          <a:xfrm>
            <a:off x="0" y="0"/>
            <a:ext cx="4874260" cy="6851015"/>
          </a:xfrm>
          <a:prstGeom prst="rect">
            <a:avLst/>
          </a:prstGeom>
        </p:spPr>
      </p:pic>
      <p:sp>
        <p:nvSpPr>
          <p:cNvPr id="3" name="Shape 0"/>
          <p:cNvSpPr/>
          <p:nvPr>
            <p:custDataLst>
              <p:tags r:id="rId3"/>
            </p:custDataLst>
          </p:nvPr>
        </p:nvSpPr>
        <p:spPr>
          <a:xfrm rot="5400000">
            <a:off x="5532120" y="2540869"/>
            <a:ext cx="293611" cy="293736"/>
          </a:xfrm>
          <a:prstGeom prst="triangle">
            <a:avLst/>
          </a:prstGeom>
          <a:solidFill>
            <a:srgbClr val="E0E9C9"/>
          </a:solidFill>
        </p:spPr>
      </p:sp>
      <p:sp>
        <p:nvSpPr>
          <p:cNvPr id="4" name="Text 1"/>
          <p:cNvSpPr/>
          <p:nvPr/>
        </p:nvSpPr>
        <p:spPr>
          <a:xfrm rot="5400000">
            <a:off x="5532120" y="2540869"/>
            <a:ext cx="293611" cy="29373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custDataLst>
              <p:tags r:id="rId4"/>
            </p:custDataLst>
          </p:nvPr>
        </p:nvSpPr>
        <p:spPr>
          <a:xfrm rot="5400000">
            <a:off x="5645047" y="2653844"/>
            <a:ext cx="293611" cy="293736"/>
          </a:xfrm>
          <a:prstGeom prst="triangle">
            <a:avLst/>
          </a:prstGeom>
          <a:solidFill>
            <a:srgbClr val="5E927D"/>
          </a:solidFill>
        </p:spPr>
      </p:sp>
      <p:sp>
        <p:nvSpPr>
          <p:cNvPr id="6" name="Text 3"/>
          <p:cNvSpPr/>
          <p:nvPr/>
        </p:nvSpPr>
        <p:spPr>
          <a:xfrm rot="5400000">
            <a:off x="5645047" y="2653844"/>
            <a:ext cx="293611" cy="29373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Text 4"/>
          <p:cNvSpPr/>
          <p:nvPr>
            <p:custDataLst>
              <p:tags r:id="rId5"/>
            </p:custDataLst>
          </p:nvPr>
        </p:nvSpPr>
        <p:spPr>
          <a:xfrm>
            <a:off x="6018837" y="2512060"/>
            <a:ext cx="686598" cy="460375"/>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06</a:t>
            </a:r>
            <a:endParaRPr lang="en-US" sz="1600" dirty="0"/>
          </a:p>
        </p:txBody>
      </p:sp>
      <p:sp>
        <p:nvSpPr>
          <p:cNvPr id="8" name="Text 5"/>
          <p:cNvSpPr/>
          <p:nvPr>
            <p:custDataLst>
              <p:tags r:id="rId6"/>
            </p:custDataLst>
          </p:nvPr>
        </p:nvSpPr>
        <p:spPr>
          <a:xfrm>
            <a:off x="6662522" y="2539739"/>
            <a:ext cx="4469663" cy="829945"/>
          </a:xfrm>
          <a:prstGeom prst="rect">
            <a:avLst/>
          </a:prstGeom>
          <a:noFill/>
        </p:spPr>
        <p:txBody>
          <a:bodyPr wrap="square" lIns="91440" tIns="45720" rIns="91440" bIns="45720" rtlCol="0" anchor="t">
            <a:spAutoFit/>
          </a:bodyPr>
          <a:lstStyle/>
          <a:p>
            <a:pPr marL="0" indent="0" algn="just">
              <a:lnSpc>
                <a:spcPct val="100000"/>
              </a:lnSpc>
              <a:buNone/>
            </a:pPr>
            <a:r>
              <a:rPr lang="en-US" altLang="zh-CN" sz="2400" dirty="0"/>
              <a:t>Federated Learning and Data Privacy Protection</a:t>
            </a:r>
            <a:endParaRPr lang="en-US" altLang="zh-CN" sz="2400" dirty="0"/>
          </a:p>
        </p:txBody>
      </p:sp>
      <p:sp>
        <p:nvSpPr>
          <p:cNvPr id="9" name="Shape 6"/>
          <p:cNvSpPr/>
          <p:nvPr>
            <p:custDataLst>
              <p:tags r:id="rId7"/>
            </p:custDataLst>
          </p:nvPr>
        </p:nvSpPr>
        <p:spPr>
          <a:xfrm rot="5400000">
            <a:off x="5532120" y="3633029"/>
            <a:ext cx="293611" cy="293331"/>
          </a:xfrm>
          <a:prstGeom prst="triangle">
            <a:avLst/>
          </a:prstGeom>
          <a:solidFill>
            <a:srgbClr val="E0E9C9"/>
          </a:solidFill>
        </p:spPr>
      </p:sp>
      <p:sp>
        <p:nvSpPr>
          <p:cNvPr id="10" name="Text 7"/>
          <p:cNvSpPr/>
          <p:nvPr/>
        </p:nvSpPr>
        <p:spPr>
          <a:xfrm rot="5400000">
            <a:off x="5532120" y="363302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Shape 8"/>
          <p:cNvSpPr/>
          <p:nvPr>
            <p:custDataLst>
              <p:tags r:id="rId8"/>
            </p:custDataLst>
          </p:nvPr>
        </p:nvSpPr>
        <p:spPr>
          <a:xfrm rot="5400000">
            <a:off x="5645047" y="3745849"/>
            <a:ext cx="293611" cy="293331"/>
          </a:xfrm>
          <a:prstGeom prst="triangle">
            <a:avLst/>
          </a:prstGeom>
          <a:solidFill>
            <a:srgbClr val="5E927D"/>
          </a:solidFill>
        </p:spPr>
      </p:sp>
      <p:sp>
        <p:nvSpPr>
          <p:cNvPr id="12" name="Text 9"/>
          <p:cNvSpPr/>
          <p:nvPr/>
        </p:nvSpPr>
        <p:spPr>
          <a:xfrm rot="5400000">
            <a:off x="5645047" y="3745849"/>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3" name="Text 10"/>
          <p:cNvSpPr/>
          <p:nvPr>
            <p:custDataLst>
              <p:tags r:id="rId9"/>
            </p:custDataLst>
          </p:nvPr>
        </p:nvSpPr>
        <p:spPr>
          <a:xfrm>
            <a:off x="6018837" y="3604260"/>
            <a:ext cx="686598" cy="460375"/>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07</a:t>
            </a:r>
            <a:endParaRPr lang="en-US" sz="1600" dirty="0"/>
          </a:p>
        </p:txBody>
      </p:sp>
      <p:sp>
        <p:nvSpPr>
          <p:cNvPr id="14" name="Text 11"/>
          <p:cNvSpPr/>
          <p:nvPr>
            <p:custDataLst>
              <p:tags r:id="rId10"/>
            </p:custDataLst>
          </p:nvPr>
        </p:nvSpPr>
        <p:spPr>
          <a:xfrm>
            <a:off x="6662420" y="3632200"/>
            <a:ext cx="4851400" cy="829945"/>
          </a:xfrm>
          <a:prstGeom prst="rect">
            <a:avLst/>
          </a:prstGeom>
          <a:noFill/>
        </p:spPr>
        <p:txBody>
          <a:bodyPr wrap="square" lIns="91440" tIns="45720" rIns="91440" bIns="45720" rtlCol="0" anchor="t">
            <a:spAutoFit/>
          </a:bodyPr>
          <a:lstStyle/>
          <a:p>
            <a:pPr marL="0" indent="0" algn="l">
              <a:lnSpc>
                <a:spcPct val="100000"/>
              </a:lnSpc>
              <a:buNone/>
            </a:pPr>
            <a:r>
              <a:rPr lang="en-US" altLang="zh-CN" sz="2400" dirty="0"/>
              <a:t>Quantum Computing and Intelligent Computing Convergenc</a:t>
            </a:r>
            <a:endParaRPr lang="en-US" altLang="zh-CN" sz="2400" dirty="0"/>
          </a:p>
        </p:txBody>
      </p:sp>
      <p:sp>
        <p:nvSpPr>
          <p:cNvPr id="15" name="Shape 12"/>
          <p:cNvSpPr/>
          <p:nvPr>
            <p:custDataLst>
              <p:tags r:id="rId11"/>
            </p:custDataLst>
          </p:nvPr>
        </p:nvSpPr>
        <p:spPr>
          <a:xfrm rot="5400000">
            <a:off x="5532120" y="4724594"/>
            <a:ext cx="293611" cy="293331"/>
          </a:xfrm>
          <a:prstGeom prst="triangle">
            <a:avLst/>
          </a:prstGeom>
          <a:solidFill>
            <a:srgbClr val="E0E9C9"/>
          </a:solidFill>
        </p:spPr>
      </p:sp>
      <p:sp>
        <p:nvSpPr>
          <p:cNvPr id="17" name="Shape 14"/>
          <p:cNvSpPr/>
          <p:nvPr>
            <p:custDataLst>
              <p:tags r:id="rId12"/>
            </p:custDataLst>
          </p:nvPr>
        </p:nvSpPr>
        <p:spPr>
          <a:xfrm rot="5400000">
            <a:off x="5645047" y="4837414"/>
            <a:ext cx="293611" cy="293331"/>
          </a:xfrm>
          <a:prstGeom prst="triangle">
            <a:avLst/>
          </a:prstGeom>
          <a:solidFill>
            <a:srgbClr val="5E927D"/>
          </a:solidFill>
        </p:spPr>
      </p:sp>
      <p:sp>
        <p:nvSpPr>
          <p:cNvPr id="18" name="Text 15"/>
          <p:cNvSpPr/>
          <p:nvPr/>
        </p:nvSpPr>
        <p:spPr>
          <a:xfrm rot="5400000">
            <a:off x="5645047" y="4837414"/>
            <a:ext cx="293611" cy="293331"/>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custDataLst>
              <p:tags r:id="rId13"/>
            </p:custDataLst>
          </p:nvPr>
        </p:nvSpPr>
        <p:spPr>
          <a:xfrm>
            <a:off x="6018837" y="4695825"/>
            <a:ext cx="686598" cy="460375"/>
          </a:xfrm>
          <a:prstGeom prst="rect">
            <a:avLst/>
          </a:prstGeom>
          <a:noFill/>
        </p:spPr>
        <p:txBody>
          <a:bodyPr wrap="square" lIns="91440" tIns="45720" rIns="91440" bIns="45720" rtlCol="0" anchor="t">
            <a:spAutoFit/>
          </a:bodyPr>
          <a:lstStyle/>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08</a:t>
            </a:r>
            <a:endParaRPr lang="en-US" sz="1600" dirty="0"/>
          </a:p>
        </p:txBody>
      </p:sp>
      <p:sp>
        <p:nvSpPr>
          <p:cNvPr id="20" name="Text 17"/>
          <p:cNvSpPr/>
          <p:nvPr>
            <p:custDataLst>
              <p:tags r:id="rId14"/>
            </p:custDataLst>
          </p:nvPr>
        </p:nvSpPr>
        <p:spPr>
          <a:xfrm>
            <a:off x="6635852" y="4640281"/>
            <a:ext cx="4469663" cy="829945"/>
          </a:xfrm>
          <a:prstGeom prst="rect">
            <a:avLst/>
          </a:prstGeom>
          <a:noFill/>
        </p:spPr>
        <p:txBody>
          <a:bodyPr wrap="square" lIns="91440" tIns="45720" rIns="91440" bIns="45720" rtlCol="0" anchor="t">
            <a:spAutoFit/>
          </a:bodyPr>
          <a:lstStyle/>
          <a:p>
            <a:pPr marL="0" indent="0" algn="just">
              <a:lnSpc>
                <a:spcPct val="100000"/>
              </a:lnSpc>
              <a:buNone/>
            </a:pPr>
            <a:r>
              <a:rPr lang="en-US" altLang="zh-CN" sz="2400" dirty="0"/>
              <a:t>Big Data Modeling and Analysis Methods</a:t>
            </a:r>
            <a:endParaRPr lang="en-US" altLang="zh-CN" sz="2400" dirty="0"/>
          </a:p>
        </p:txBody>
      </p:sp>
      <p:sp>
        <p:nvSpPr>
          <p:cNvPr id="21" name="Text 18"/>
          <p:cNvSpPr/>
          <p:nvPr/>
        </p:nvSpPr>
        <p:spPr>
          <a:xfrm>
            <a:off x="5407025" y="458470"/>
            <a:ext cx="3513455" cy="1299170"/>
          </a:xfrm>
          <a:prstGeom prst="rect">
            <a:avLst/>
          </a:prstGeom>
          <a:noFill/>
        </p:spPr>
        <p:txBody>
          <a:bodyPr wrap="square" lIns="91440" tIns="45720" rIns="91440" bIns="45720" rtlCol="0" anchor="t">
            <a:spAutoFit/>
          </a:bodyPr>
          <a:lstStyle/>
          <a:p>
            <a:pPr marL="0" indent="0" algn="l">
              <a:lnSpc>
                <a:spcPct val="100000"/>
              </a:lnSpc>
              <a:buNone/>
            </a:pPr>
            <a:r>
              <a:rPr lang="en-US" sz="4800" b="1" dirty="0">
                <a:solidFill>
                  <a:srgbClr val="000000"/>
                </a:solidFill>
                <a:latin typeface="MiSans" pitchFamily="34" charset="-122"/>
                <a:ea typeface="MiSans" pitchFamily="34" charset="-122"/>
                <a:cs typeface="MiSans" pitchFamily="34" charset="-120"/>
              </a:rPr>
              <a:t>目录</a:t>
            </a:r>
            <a:r>
              <a:rPr lang="en-US" sz="4800" b="1" dirty="0">
                <a:solidFill>
                  <a:srgbClr val="000000"/>
                </a:solidFill>
                <a:latin typeface="MiSans" pitchFamily="34" charset="-122"/>
                <a:ea typeface="MiSans" pitchFamily="34" charset="-122"/>
                <a:cs typeface="MiSans" pitchFamily="34" charset="-120"/>
              </a:rPr>
              <a:t> </a:t>
            </a:r>
            <a:endParaRPr lang="en-US" sz="1600" dirty="0"/>
          </a:p>
          <a:p>
            <a:pPr marL="0" indent="0" algn="l">
              <a:lnSpc>
                <a:spcPct val="100000"/>
              </a:lnSpc>
              <a:buNone/>
            </a:pPr>
            <a:r>
              <a:rPr lang="en-US" sz="3600" b="1" dirty="0">
                <a:solidFill>
                  <a:srgbClr val="000000">
                    <a:alpha val="27843"/>
                  </a:srgbClr>
                </a:solidFill>
                <a:latin typeface="MiSans" pitchFamily="34" charset="-122"/>
                <a:ea typeface="MiSans" pitchFamily="34" charset="-122"/>
                <a:cs typeface="MiSans" pitchFamily="34" charset="-120"/>
              </a:rPr>
              <a:t>CONTENTS</a:t>
            </a:r>
            <a:r>
              <a:rPr lang="en-US" sz="3600" b="1" dirty="0">
                <a:solidFill>
                  <a:srgbClr val="000000"/>
                </a:solidFill>
                <a:latin typeface="MiSans" pitchFamily="34" charset="-122"/>
                <a:ea typeface="MiSans" pitchFamily="34" charset="-122"/>
                <a:cs typeface="MiSans" pitchFamily="34" charset="-120"/>
              </a:rPr>
              <a:t> </a:t>
            </a:r>
            <a:endParaRPr lang="en-US" sz="1600" dirty="0"/>
          </a:p>
        </p:txBody>
      </p:sp>
      <p:sp>
        <p:nvSpPr>
          <p:cNvPr id="22" name="Shape 14"/>
          <p:cNvSpPr/>
          <p:nvPr>
            <p:custDataLst>
              <p:tags r:id="rId15"/>
            </p:custDataLst>
          </p:nvPr>
        </p:nvSpPr>
        <p:spPr>
          <a:xfrm rot="5400000">
            <a:off x="5645047" y="5815949"/>
            <a:ext cx="293611" cy="293331"/>
          </a:xfrm>
          <a:prstGeom prst="triangle">
            <a:avLst/>
          </a:prstGeom>
          <a:solidFill>
            <a:srgbClr val="5E927D"/>
          </a:solidFill>
        </p:spPr>
      </p:sp>
      <p:sp>
        <p:nvSpPr>
          <p:cNvPr id="24" name="Text 16"/>
          <p:cNvSpPr/>
          <p:nvPr>
            <p:custDataLst>
              <p:tags r:id="rId16"/>
            </p:custDataLst>
          </p:nvPr>
        </p:nvSpPr>
        <p:spPr>
          <a:xfrm>
            <a:off x="6020107" y="5715635"/>
            <a:ext cx="686598" cy="460375"/>
          </a:xfrm>
          <a:prstGeom prst="rect">
            <a:avLst/>
          </a:prstGeom>
          <a:noFill/>
        </p:spPr>
        <p:txBody>
          <a:bodyPr wrap="square" lIns="91440" tIns="45720" rIns="91440" bIns="45720" rtlCol="0" anchor="t">
            <a:spAutoFit/>
          </a:bodyPr>
          <a:p>
            <a:pPr marL="0" indent="0" algn="ctr">
              <a:lnSpc>
                <a:spcPct val="100000"/>
              </a:lnSpc>
              <a:buNone/>
            </a:pPr>
            <a:r>
              <a:rPr lang="en-US" sz="2400" dirty="0">
                <a:solidFill>
                  <a:srgbClr val="000000"/>
                </a:solidFill>
                <a:latin typeface="MiSans" pitchFamily="34" charset="-122"/>
                <a:ea typeface="MiSans" pitchFamily="34" charset="-122"/>
                <a:cs typeface="MiSans" pitchFamily="34" charset="-120"/>
              </a:rPr>
              <a:t>09</a:t>
            </a:r>
            <a:endParaRPr lang="en-US" sz="1600" dirty="0"/>
          </a:p>
        </p:txBody>
      </p:sp>
      <p:sp>
        <p:nvSpPr>
          <p:cNvPr id="25" name="Text 17"/>
          <p:cNvSpPr/>
          <p:nvPr>
            <p:custDataLst>
              <p:tags r:id="rId17"/>
            </p:custDataLst>
          </p:nvPr>
        </p:nvSpPr>
        <p:spPr>
          <a:xfrm>
            <a:off x="6709512" y="5689936"/>
            <a:ext cx="4469663" cy="829945"/>
          </a:xfrm>
          <a:prstGeom prst="rect">
            <a:avLst/>
          </a:prstGeom>
          <a:noFill/>
        </p:spPr>
        <p:txBody>
          <a:bodyPr wrap="square" lIns="91440" tIns="45720" rIns="91440" bIns="45720" rtlCol="0" anchor="t">
            <a:spAutoFit/>
          </a:bodyPr>
          <a:p>
            <a:pPr marL="0" indent="0" algn="just">
              <a:lnSpc>
                <a:spcPct val="100000"/>
              </a:lnSpc>
              <a:buNone/>
            </a:pPr>
            <a:r>
              <a:rPr lang="en-US" altLang="zh-CN" sz="2400" dirty="0"/>
              <a:t>Intelligent Systems Integrated Design Case Studies</a:t>
            </a:r>
            <a:endParaRPr lang="en-US" altLang="zh-CN"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7650480" y="1837690"/>
            <a:ext cx="1575435" cy="1322070"/>
          </a:xfrm>
          <a:prstGeom prst="rect">
            <a:avLst/>
          </a:prstGeom>
          <a:noFill/>
        </p:spPr>
        <p:txBody>
          <a:bodyPr wrap="square" lIns="91440" tIns="45720" rIns="91440" bIns="45720" rtlCol="0" anchor="t">
            <a:spAutoFit/>
          </a:bodyPr>
          <a:lstStyle/>
          <a:p>
            <a:pPr marL="0" indent="0" algn="ctr">
              <a:lnSpc>
                <a:spcPct val="100000"/>
              </a:lnSpc>
              <a:buNone/>
            </a:pPr>
            <a:r>
              <a:rPr lang="en-US" sz="8000" b="1" dirty="0">
                <a:solidFill>
                  <a:srgbClr val="000000"/>
                </a:solidFill>
                <a:latin typeface="MiSans" pitchFamily="34" charset="-122"/>
                <a:ea typeface="MiSans" pitchFamily="34" charset="-122"/>
                <a:cs typeface="MiSans" pitchFamily="34" charset="-120"/>
              </a:rPr>
              <a:t>01</a:t>
            </a:r>
            <a:endParaRPr lang="en-US" sz="1600" dirty="0"/>
          </a:p>
        </p:txBody>
      </p:sp>
      <p:sp>
        <p:nvSpPr>
          <p:cNvPr id="7" name="Text 3"/>
          <p:cNvSpPr/>
          <p:nvPr/>
        </p:nvSpPr>
        <p:spPr>
          <a:xfrm>
            <a:off x="5453380" y="3223895"/>
            <a:ext cx="6257925" cy="2122805"/>
          </a:xfrm>
          <a:prstGeom prst="rect">
            <a:avLst/>
          </a:prstGeom>
          <a:noFill/>
        </p:spPr>
        <p:txBody>
          <a:bodyPr wrap="square" lIns="91440" tIns="45720" rIns="91440" bIns="45720" rtlCol="0" anchor="t">
            <a:spAutoFit/>
          </a:bodyPr>
          <a:lstStyle/>
          <a:p>
            <a:pPr marL="0" indent="0" algn="ctr">
              <a:lnSpc>
                <a:spcPct val="100000"/>
              </a:lnSpc>
              <a:buNone/>
            </a:pPr>
            <a:r>
              <a:rPr lang="en-US" altLang="zh-CN" sz="4400" dirty="0"/>
              <a:t>Artificial Intelligence Overview and Development Trends</a:t>
            </a:r>
            <a:endParaRPr lang="en-US" altLang="zh-CN" sz="4400" dirty="0"/>
          </a:p>
        </p:txBody>
      </p:sp>
      <p:sp>
        <p:nvSpPr>
          <p:cNvPr id="8" name="Text 4"/>
          <p:cNvSpPr/>
          <p:nvPr/>
        </p:nvSpPr>
        <p:spPr>
          <a:xfrm>
            <a:off x="649605" y="269240"/>
            <a:ext cx="4064000" cy="276225"/>
          </a:xfrm>
          <a:prstGeom prst="rect">
            <a:avLst/>
          </a:prstGeom>
          <a:noFill/>
        </p:spPr>
        <p:txBody>
          <a:bodyPr wrap="square" lIns="91440" tIns="45720" rIns="91440" bIns="45720" rtlCol="0" anchor="t">
            <a:spAutoFit/>
          </a:bodyPr>
          <a:lstStyle/>
          <a:p>
            <a:pPr marL="0" indent="0" algn="l">
              <a:lnSpc>
                <a:spcPct val="100000"/>
              </a:lnSpc>
              <a:buNone/>
            </a:pPr>
            <a:r>
              <a:rPr lang="en-US" sz="1800" b="1" dirty="0">
                <a:solidFill>
                  <a:srgbClr val="000000"/>
                </a:solidFill>
                <a:latin typeface="MiSans" pitchFamily="34" charset="-122"/>
                <a:ea typeface="MiSans" pitchFamily="34" charset="-122"/>
                <a:cs typeface="MiSans" pitchFamily="34" charset="-120"/>
              </a:rPr>
              <a:t>YOUR LOGO</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txBody>
          <a:bodyPr/>
          <a:lstStyle/>
          <a:p>
            <a:endParaRPr lang="en-AU"/>
          </a:p>
        </p:txBody>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txBody>
          <a:bodyPr/>
          <a:lstStyle/>
          <a:p>
            <a:endParaRPr lang="en-AU"/>
          </a:p>
        </p:txBody>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txBody>
          <a:bodyPr/>
          <a:lstStyle/>
          <a:p>
            <a:endParaRPr lang="en-AU"/>
          </a:p>
        </p:txBody>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History of AI</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txBody>
          <a:bodyPr/>
          <a:lstStyle/>
          <a:p>
            <a:endParaRPr lang="en-AU"/>
          </a:p>
        </p:txBody>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nvSpPr>
        <p:spPr>
          <a:xfrm>
            <a:off x="732155" y="1543050"/>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txBody>
          <a:bodyPr/>
          <a:lstStyle/>
          <a:p>
            <a:endParaRPr lang="en-AU"/>
          </a:p>
        </p:txBody>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nvSpPr>
        <p:spPr>
          <a:xfrm>
            <a:off x="1512570" y="191198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Early Beginnings</a:t>
            </a:r>
            <a:endParaRPr lang="en-US" sz="1600" dirty="0"/>
          </a:p>
        </p:txBody>
      </p:sp>
      <p:sp>
        <p:nvSpPr>
          <p:cNvPr id="34" name="Text 32"/>
          <p:cNvSpPr/>
          <p:nvPr/>
        </p:nvSpPr>
        <p:spPr>
          <a:xfrm>
            <a:off x="1515110" y="2399665"/>
            <a:ext cx="2301875" cy="3259138"/>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The concept of AI dates back to ancient myths and stories of artificial beings endowed with intelligence. However, the field of AI as we know it today began in the 1950s. The Dartmouth Conference in 1956 is often considered the birth of AI, where a group of scientists gathered to discuss the possibility of creating machines that could think like humans.</a:t>
            </a:r>
            <a:endParaRPr lang="en-US" sz="1600" dirty="0"/>
          </a:p>
        </p:txBody>
      </p:sp>
      <p:sp>
        <p:nvSpPr>
          <p:cNvPr id="35" name="Shape 33"/>
          <p:cNvSpPr/>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nvSpPr>
        <p:spPr>
          <a:xfrm>
            <a:off x="4693920" y="188531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Major Milestones</a:t>
            </a:r>
            <a:endParaRPr lang="en-US" sz="1600" dirty="0"/>
          </a:p>
        </p:txBody>
      </p:sp>
      <p:sp>
        <p:nvSpPr>
          <p:cNvPr id="52" name="Text 50"/>
          <p:cNvSpPr/>
          <p:nvPr/>
        </p:nvSpPr>
        <p:spPr>
          <a:xfrm>
            <a:off x="4747260" y="2372995"/>
            <a:ext cx="2301875" cy="3802261"/>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Over the years, there have been several major milestones in AI. In the 1960s, the first AI programs were developed, including the General Problem Solver and the Logic Theorist. In the 1970s, expert systems emerged, which were designed to solve complex problems in specific domains. The 1980s saw the rise of machine learning, with algorithms such as decision trees and neural networks being developed.</a:t>
            </a:r>
            <a:endParaRPr lang="en-US" sz="1600" dirty="0"/>
          </a:p>
        </p:txBody>
      </p:sp>
      <p:sp>
        <p:nvSpPr>
          <p:cNvPr id="53" name="Shape 51"/>
          <p:cNvSpPr/>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txBody>
          <a:bodyPr/>
          <a:lstStyle/>
          <a:p>
            <a:endParaRPr lang="en-AU"/>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nvSpPr>
        <p:spPr>
          <a:xfrm>
            <a:off x="8061960" y="184594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Modern Developments</a:t>
            </a:r>
            <a:endParaRPr lang="en-US" sz="1600" dirty="0"/>
          </a:p>
        </p:txBody>
      </p:sp>
      <p:sp>
        <p:nvSpPr>
          <p:cNvPr id="70" name="Text 68"/>
          <p:cNvSpPr/>
          <p:nvPr/>
        </p:nvSpPr>
        <p:spPr>
          <a:xfrm>
            <a:off x="8064500" y="2333625"/>
            <a:ext cx="2301875" cy="3530600"/>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In recent years, AI has made significant progress, driven by advances in computing power and the availability of large amounts of data. Deep learning, a subfield of machine learning, has achieved remarkable success in areas such as image and speech recognition. AI is now being applied in various fields, including healthcare, finance, transportation, and entertainment.</a:t>
            </a: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txBody>
          <a:bodyPr/>
          <a:lstStyle/>
          <a:p>
            <a:endParaRPr lang="en-AU"/>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txBody>
          <a:bodyPr/>
          <a:lstStyle/>
          <a:p>
            <a:endParaRPr lang="en-AU"/>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nvSpPr>
        <p:spPr>
          <a:xfrm>
            <a:off x="4180840" y="4848225"/>
            <a:ext cx="631190" cy="626745"/>
          </a:xfrm>
          <a:prstGeom prst="ellipse">
            <a:avLst/>
          </a:prstGeom>
          <a:solidFill>
            <a:srgbClr val="017ED5">
              <a:alpha val="5098"/>
            </a:srgbClr>
          </a:solidFill>
        </p:spPr>
        <p:txBody>
          <a:bodyPr/>
          <a:lstStyle/>
          <a:p>
            <a:endParaRPr lang="en-AU"/>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nvSpPr>
        <p:spPr>
          <a:xfrm>
            <a:off x="4261432" y="4928249"/>
            <a:ext cx="470007" cy="466697"/>
          </a:xfrm>
          <a:prstGeom prst="ellipse">
            <a:avLst/>
          </a:prstGeom>
          <a:solidFill>
            <a:srgbClr val="5E927D">
              <a:alpha val="18039"/>
            </a:srgbClr>
          </a:solidFill>
        </p:spPr>
        <p:txBody>
          <a:bodyPr/>
          <a:lstStyle/>
          <a:p>
            <a:endParaRPr lang="en-AU"/>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nvSpPr>
        <p:spPr>
          <a:xfrm>
            <a:off x="7498080" y="4838065"/>
            <a:ext cx="631190" cy="626745"/>
          </a:xfrm>
          <a:prstGeom prst="ellipse">
            <a:avLst/>
          </a:prstGeom>
          <a:solidFill>
            <a:srgbClr val="017ED5">
              <a:alpha val="5098"/>
            </a:srgbClr>
          </a:solidFill>
        </p:spPr>
        <p:txBody>
          <a:bodyPr/>
          <a:lstStyle/>
          <a:p>
            <a:endParaRPr lang="en-AU"/>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nvSpPr>
        <p:spPr>
          <a:xfrm>
            <a:off x="7578672" y="4918089"/>
            <a:ext cx="470007" cy="466697"/>
          </a:xfrm>
          <a:prstGeom prst="ellipse">
            <a:avLst/>
          </a:prstGeom>
          <a:solidFill>
            <a:srgbClr val="5E927D">
              <a:alpha val="18039"/>
            </a:srgbClr>
          </a:solidFill>
        </p:spPr>
        <p:txBody>
          <a:bodyPr/>
          <a:lstStyle/>
          <a:p>
            <a:endParaRPr lang="en-AU"/>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txBody>
          <a:bodyPr/>
          <a:lstStyle/>
          <a:p>
            <a:endParaRPr lang="en-AU"/>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nvPicPr>
        <p:blipFill>
          <a:blip r:embed="rId1"/>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nvPicPr>
        <p:blipFill>
          <a:blip r:embed="rId1"/>
          <a:stretch>
            <a:fillRect/>
          </a:stretch>
        </p:blipFill>
        <p:spPr>
          <a:xfrm>
            <a:off x="4491355" y="2070735"/>
            <a:ext cx="18415" cy="2688590"/>
          </a:xfrm>
          <a:prstGeom prst="rect">
            <a:avLst/>
          </a:prstGeom>
        </p:spPr>
      </p:pic>
      <p:pic>
        <p:nvPicPr>
          <p:cNvPr id="91" name="Image 2" descr="https://test-kimi-img.moonshot.cn/pub/slides/slides_tmpl/image/25-05-30-10:51:03-d0shq5s75iks832je5c0.png"/>
          <p:cNvPicPr>
            <a:picLocks noChangeAspect="1"/>
          </p:cNvPicPr>
          <p:nvPr/>
        </p:nvPicPr>
        <p:blipFill>
          <a:blip r:embed="rId1"/>
          <a:stretch>
            <a:fillRect/>
          </a:stretch>
        </p:blipFill>
        <p:spPr>
          <a:xfrm>
            <a:off x="7863205" y="2070735"/>
            <a:ext cx="18415" cy="2688590"/>
          </a:xfrm>
          <a:prstGeom prst="rect">
            <a:avLst/>
          </a:prstGeom>
        </p:spPr>
      </p:pic>
      <p:sp>
        <p:nvSpPr>
          <p:cNvPr id="92" name="Shape 87"/>
          <p:cNvSpPr/>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4" name="Shape 89"/>
          <p:cNvSpPr/>
          <p:nvPr/>
        </p:nvSpPr>
        <p:spPr>
          <a:xfrm>
            <a:off x="4398645" y="188531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6" name="Shape 91"/>
          <p:cNvSpPr/>
          <p:nvPr/>
        </p:nvSpPr>
        <p:spPr>
          <a:xfrm>
            <a:off x="7746365" y="184594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txBody>
          <a:bodyPr/>
          <a:lstStyle/>
          <a:p>
            <a:endParaRPr lang="en-AU"/>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98" name="图片 97"/>
          <p:cNvPicPr/>
          <p:nvPr/>
        </p:nvPicPr>
        <p:blipFill>
          <a:blip r:embed="rId2"/>
          <a:stretch>
            <a:fillRect/>
          </a:stretch>
        </p:blipFill>
        <p:spPr>
          <a:xfrm>
            <a:off x="330200" y="1423035"/>
            <a:ext cx="11671935" cy="51549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txBody>
          <a:bodyPr/>
          <a:lstStyle/>
          <a:p>
            <a:endParaRPr lang="en-AU"/>
          </a:p>
        </p:txBody>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txBody>
          <a:bodyPr/>
          <a:lstStyle/>
          <a:p>
            <a:endParaRPr lang="en-AU"/>
          </a:p>
        </p:txBody>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txBody>
          <a:bodyPr/>
          <a:lstStyle/>
          <a:p>
            <a:endParaRPr lang="en-AU"/>
          </a:p>
        </p:txBody>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History of AI In China</a:t>
            </a:r>
            <a:endParaRPr lang="en-US"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txBody>
          <a:bodyPr/>
          <a:lstStyle/>
          <a:p>
            <a:endParaRPr lang="en-AU"/>
          </a:p>
        </p:txBody>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5" name="图片 14"/>
          <p:cNvPicPr>
            <a:picLocks noChangeAspect="1"/>
          </p:cNvPicPr>
          <p:nvPr>
            <p:custDataLst>
              <p:tags r:id="rId1"/>
            </p:custDataLst>
          </p:nvPr>
        </p:nvPicPr>
        <p:blipFill>
          <a:blip r:embed="rId2"/>
          <a:stretch>
            <a:fillRect/>
          </a:stretch>
        </p:blipFill>
        <p:spPr>
          <a:xfrm>
            <a:off x="1344930" y="1012825"/>
            <a:ext cx="9216390" cy="517842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7869555" y="1837690"/>
            <a:ext cx="1669415"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02</a:t>
            </a:r>
            <a:endParaRPr lang="en-US" sz="1600" dirty="0"/>
          </a:p>
        </p:txBody>
      </p:sp>
      <p:sp>
        <p:nvSpPr>
          <p:cNvPr id="7" name="Text 3"/>
          <p:cNvSpPr/>
          <p:nvPr/>
        </p:nvSpPr>
        <p:spPr>
          <a:xfrm>
            <a:off x="5189220" y="3223895"/>
            <a:ext cx="7030720" cy="1445260"/>
          </a:xfrm>
          <a:prstGeom prst="rect">
            <a:avLst/>
          </a:prstGeom>
          <a:noFill/>
        </p:spPr>
        <p:txBody>
          <a:bodyPr wrap="square" lIns="91440" tIns="45720" rIns="91440" bIns="45720" rtlCol="0" anchor="t">
            <a:spAutoFit/>
          </a:bodyPr>
          <a:lstStyle/>
          <a:p>
            <a:pPr marL="0" indent="0" algn="ctr">
              <a:lnSpc>
                <a:spcPct val="100000"/>
              </a:lnSpc>
              <a:buNone/>
            </a:pPr>
            <a:r>
              <a:rPr lang="en-US" altLang="zh-CN" sz="4400" dirty="0"/>
              <a:t>Deep Learning Fundamentals and Applications</a:t>
            </a:r>
            <a:endParaRPr lang="en-US" altLang="zh-CN" sz="4400" dirty="0"/>
          </a:p>
        </p:txBody>
      </p:sp>
      <p:sp>
        <p:nvSpPr>
          <p:cNvPr id="8" name="Text 4"/>
          <p:cNvSpPr/>
          <p:nvPr/>
        </p:nvSpPr>
        <p:spPr>
          <a:xfrm>
            <a:off x="649605" y="269240"/>
            <a:ext cx="4064000" cy="276225"/>
          </a:xfrm>
          <a:prstGeom prst="rect">
            <a:avLst/>
          </a:prstGeom>
          <a:noFill/>
        </p:spPr>
        <p:txBody>
          <a:bodyPr wrap="square" lIns="91440" tIns="45720" rIns="91440" bIns="45720" rtlCol="0" anchor="t">
            <a:spAutoFit/>
          </a:bodyPr>
          <a:lstStyle/>
          <a:p>
            <a:pPr marL="0" indent="0" algn="l">
              <a:lnSpc>
                <a:spcPct val="100000"/>
              </a:lnSpc>
              <a:buNone/>
            </a:pPr>
            <a:r>
              <a:rPr lang="en-US" sz="1800" b="1" dirty="0">
                <a:solidFill>
                  <a:srgbClr val="000000"/>
                </a:solidFill>
                <a:latin typeface="MiSans" pitchFamily="34" charset="-122"/>
                <a:ea typeface="MiSans" pitchFamily="34" charset="-122"/>
                <a:cs typeface="MiSans" pitchFamily="34" charset="-120"/>
              </a:rPr>
              <a:t>YOUR LOGO</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Deep Learning</a:t>
            </a:r>
            <a:endParaRPr lang="en-US" sz="1600" dirty="0"/>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pic>
        <p:nvPicPr>
          <p:cNvPr id="36" name="图片 35"/>
          <p:cNvPicPr>
            <a:picLocks noChangeAspect="1"/>
          </p:cNvPicPr>
          <p:nvPr/>
        </p:nvPicPr>
        <p:blipFill>
          <a:blip r:embed="rId1"/>
          <a:stretch>
            <a:fillRect/>
          </a:stretch>
        </p:blipFill>
        <p:spPr>
          <a:xfrm>
            <a:off x="2010410" y="1041400"/>
            <a:ext cx="8529955" cy="513016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491794" y="319683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10" name="文本框 9"/>
          <p:cNvSpPr txBox="1"/>
          <p:nvPr/>
        </p:nvSpPr>
        <p:spPr>
          <a:xfrm>
            <a:off x="544195" y="311150"/>
            <a:ext cx="10124440" cy="449580"/>
          </a:xfrm>
          <a:prstGeom prst="rect">
            <a:avLst/>
          </a:prstGeom>
          <a:noFill/>
        </p:spPr>
        <p:txBody>
          <a:bodyPr wrap="square" rtlCol="0">
            <a:noAutofit/>
          </a:bodyPr>
          <a:p>
            <a:r>
              <a:rPr lang="en-US" altLang="zh-CN" sz="2800">
                <a:sym typeface="+mn-ea"/>
              </a:rPr>
              <a:t>An intuitive understanding of deep learning</a:t>
            </a:r>
            <a:endParaRPr lang="en-US" altLang="zh-CN" sz="2800"/>
          </a:p>
          <a:p>
            <a:endParaRPr lang="zh-CN" altLang="en-US"/>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12" name="文本框 11"/>
          <p:cNvSpPr txBox="1"/>
          <p:nvPr/>
        </p:nvSpPr>
        <p:spPr>
          <a:xfrm>
            <a:off x="1047115" y="2622550"/>
            <a:ext cx="4613910" cy="2137410"/>
          </a:xfrm>
          <a:prstGeom prst="rect">
            <a:avLst/>
          </a:prstGeom>
          <a:noFill/>
        </p:spPr>
        <p:txBody>
          <a:bodyPr wrap="square" rtlCol="0">
            <a:noAutofit/>
          </a:bodyPr>
          <a:p>
            <a:r>
              <a:rPr lang="en-US" altLang="zh-CN" sz="2000"/>
              <a:t>Deep Learning (DL) addresses the fundamental bottleneck of manual feature engineering in traditional Machine Learning (ML) by enabling automatic, hierarchical feature learning directly from raw data.</a:t>
            </a:r>
            <a:endParaRPr lang="en-US" altLang="zh-CN" sz="2000"/>
          </a:p>
        </p:txBody>
      </p:sp>
      <p:pic>
        <p:nvPicPr>
          <p:cNvPr id="3" name="图片 2" descr="20181218130200237"/>
          <p:cNvPicPr>
            <a:picLocks noChangeAspect="1"/>
          </p:cNvPicPr>
          <p:nvPr/>
        </p:nvPicPr>
        <p:blipFill>
          <a:blip r:embed="rId1"/>
          <a:stretch>
            <a:fillRect/>
          </a:stretch>
        </p:blipFill>
        <p:spPr>
          <a:xfrm>
            <a:off x="5601335" y="1266825"/>
            <a:ext cx="6093460" cy="499681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object 4"/>
          <p:cNvSpPr/>
          <p:nvPr/>
        </p:nvSpPr>
        <p:spPr>
          <a:xfrm>
            <a:off x="738809" y="1370571"/>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10" name="文本框 9"/>
          <p:cNvSpPr txBox="1"/>
          <p:nvPr/>
        </p:nvSpPr>
        <p:spPr>
          <a:xfrm>
            <a:off x="482600" y="264795"/>
            <a:ext cx="10124440" cy="449580"/>
          </a:xfrm>
          <a:prstGeom prst="rect">
            <a:avLst/>
          </a:prstGeom>
          <a:noFill/>
        </p:spPr>
        <p:txBody>
          <a:bodyPr wrap="square" rtlCol="0">
            <a:noAutofit/>
          </a:bodyPr>
          <a:p>
            <a:r>
              <a:rPr lang="en-US" altLang="zh-CN" sz="2800"/>
              <a:t> Why do you need deep learning?</a:t>
            </a:r>
            <a:endParaRPr lang="en-US" altLang="zh-CN" sz="2800"/>
          </a:p>
        </p:txBody>
      </p:sp>
      <p:cxnSp>
        <p:nvCxnSpPr>
          <p:cNvPr id="11" name="直接连接符 10"/>
          <p:cNvCxnSpPr/>
          <p:nvPr/>
        </p:nvCxnSpPr>
        <p:spPr>
          <a:xfrm>
            <a:off x="20320" y="989965"/>
            <a:ext cx="12127230" cy="0"/>
          </a:xfrm>
          <a:prstGeom prst="line">
            <a:avLst/>
          </a:prstGeom>
        </p:spPr>
        <p:style>
          <a:lnRef idx="2">
            <a:schemeClr val="accent1"/>
          </a:lnRef>
          <a:fillRef idx="0">
            <a:srgbClr val="FFFFFF"/>
          </a:fillRef>
          <a:effectRef idx="0">
            <a:srgbClr val="FFFFFF"/>
          </a:effectRef>
          <a:fontRef idx="minor">
            <a:schemeClr val="tx1"/>
          </a:fontRef>
        </p:style>
      </p:cxnSp>
      <p:sp>
        <p:nvSpPr>
          <p:cNvPr id="8" name="文本框 7"/>
          <p:cNvSpPr txBox="1"/>
          <p:nvPr/>
        </p:nvSpPr>
        <p:spPr>
          <a:xfrm>
            <a:off x="1156335" y="1247775"/>
            <a:ext cx="6182360" cy="463550"/>
          </a:xfrm>
          <a:prstGeom prst="rect">
            <a:avLst/>
          </a:prstGeom>
          <a:noFill/>
        </p:spPr>
        <p:txBody>
          <a:bodyPr wrap="square" rtlCol="0">
            <a:noAutofit/>
          </a:bodyPr>
          <a:p>
            <a:pPr>
              <a:spcBef>
                <a:spcPts val="100"/>
              </a:spcBef>
            </a:pPr>
            <a:r>
              <a:rPr lang="en-US" altLang="zh-CN" sz="2400"/>
              <a:t>Deep Learning: Feature Extraction Methods:</a:t>
            </a:r>
            <a:endParaRPr lang="en-US" altLang="zh-CN" sz="2400"/>
          </a:p>
        </p:txBody>
      </p:sp>
      <p:sp>
        <p:nvSpPr>
          <p:cNvPr id="6" name="文本框 5"/>
          <p:cNvSpPr txBox="1"/>
          <p:nvPr/>
        </p:nvSpPr>
        <p:spPr>
          <a:xfrm>
            <a:off x="1029970" y="2178050"/>
            <a:ext cx="4402455" cy="2716530"/>
          </a:xfrm>
          <a:prstGeom prst="rect">
            <a:avLst/>
          </a:prstGeom>
          <a:noFill/>
        </p:spPr>
        <p:txBody>
          <a:bodyPr wrap="square" rtlCol="0">
            <a:noAutofit/>
          </a:bodyPr>
          <a:p>
            <a:r>
              <a:rPr lang="en-US" altLang="zh-CN"/>
              <a:t>Neural networks hierarchically learn    features directly from raw data</a:t>
            </a:r>
            <a:endParaRPr lang="en-US" altLang="zh-CN"/>
          </a:p>
          <a:p>
            <a:pPr marL="285750" indent="-285750">
              <a:buFont typeface="Arial" panose="020B0604020202020204" pitchFamily="34" charset="0"/>
              <a:buChar char="•"/>
            </a:pPr>
            <a:r>
              <a:rPr lang="en-US" altLang="zh-CN"/>
              <a:t>Shallow layers: Basic features (e.g., edges, textures)</a:t>
            </a:r>
            <a:endParaRPr lang="en-US" altLang="zh-CN"/>
          </a:p>
          <a:p>
            <a:pPr marL="285750" indent="-285750">
              <a:buFont typeface="Arial" panose="020B0604020202020204" pitchFamily="34" charset="0"/>
              <a:buChar char="•"/>
            </a:pPr>
            <a:r>
              <a:rPr lang="en-US" altLang="zh-CN"/>
              <a:t>Middle layers: Composite features (e.g., object parts)</a:t>
            </a:r>
            <a:endParaRPr lang="en-US" altLang="zh-CN"/>
          </a:p>
          <a:p>
            <a:pPr marL="285750" indent="-285750">
              <a:buFont typeface="Arial" panose="020B0604020202020204" pitchFamily="34" charset="0"/>
              <a:buChar char="•"/>
            </a:pPr>
            <a:r>
              <a:rPr lang="en-US" altLang="zh-CN"/>
              <a:t>Deep layers: Abstract features (e.g., holistic objects, semantics)</a:t>
            </a:r>
            <a:endParaRPr lang="en-US" altLang="zh-CN"/>
          </a:p>
          <a:p>
            <a:r>
              <a:rPr lang="en-US" altLang="zh-CN"/>
              <a:t>Requires no manual intervention; optimized end-to-end.</a:t>
            </a:r>
            <a:endParaRPr lang="en-US" altLang="zh-CN"/>
          </a:p>
        </p:txBody>
      </p:sp>
      <p:sp>
        <p:nvSpPr>
          <p:cNvPr id="9" name="object 5"/>
          <p:cNvSpPr/>
          <p:nvPr>
            <p:custDataLst>
              <p:tags r:id="rId1"/>
            </p:custDataLst>
          </p:nvPr>
        </p:nvSpPr>
        <p:spPr>
          <a:xfrm>
            <a:off x="725030" y="2183747"/>
            <a:ext cx="305084" cy="305084"/>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sp>
        <p:nvSpPr>
          <p:cNvPr id="12" name="文本框 11"/>
          <p:cNvSpPr txBox="1"/>
          <p:nvPr/>
        </p:nvSpPr>
        <p:spPr>
          <a:xfrm>
            <a:off x="482600" y="5547995"/>
            <a:ext cx="4980305" cy="645160"/>
          </a:xfrm>
          <a:prstGeom prst="rect">
            <a:avLst/>
          </a:prstGeom>
          <a:noFill/>
        </p:spPr>
        <p:txBody>
          <a:bodyPr wrap="square" rtlCol="0">
            <a:spAutoFit/>
          </a:bodyPr>
          <a:p>
            <a:r>
              <a:rPr lang="en-US" altLang="zh-CN"/>
              <a:t>Deep learning automatically extracts complex, task-adaptive features through hierarchical abstraction.</a:t>
            </a:r>
            <a:endParaRPr lang="en-US" altLang="zh-CN"/>
          </a:p>
        </p:txBody>
      </p:sp>
      <p:sp>
        <p:nvSpPr>
          <p:cNvPr id="14" name="object 5"/>
          <p:cNvSpPr/>
          <p:nvPr>
            <p:custDataLst>
              <p:tags r:id="rId2"/>
            </p:custDataLst>
          </p:nvPr>
        </p:nvSpPr>
        <p:spPr>
          <a:xfrm>
            <a:off x="94475" y="5718157"/>
            <a:ext cx="305084" cy="305084"/>
          </a:xfrm>
          <a:custGeom>
            <a:avLst/>
            <a:gdLst/>
            <a:ahLst/>
            <a:cxnLst/>
            <a:rect l="l" t="t" r="r" b="b"/>
            <a:pathLst>
              <a:path w="292734" h="292735">
                <a:moveTo>
                  <a:pt x="244195" y="0"/>
                </a:moveTo>
                <a:lnTo>
                  <a:pt x="233286" y="0"/>
                </a:lnTo>
                <a:lnTo>
                  <a:pt x="228104" y="863"/>
                </a:lnTo>
                <a:lnTo>
                  <a:pt x="39357" y="176275"/>
                </a:lnTo>
                <a:lnTo>
                  <a:pt x="584" y="280085"/>
                </a:lnTo>
                <a:lnTo>
                  <a:pt x="0" y="282676"/>
                </a:lnTo>
                <a:lnTo>
                  <a:pt x="292" y="285559"/>
                </a:lnTo>
                <a:lnTo>
                  <a:pt x="7480" y="292455"/>
                </a:lnTo>
                <a:lnTo>
                  <a:pt x="10350" y="292455"/>
                </a:lnTo>
                <a:lnTo>
                  <a:pt x="102857" y="264274"/>
                </a:lnTo>
                <a:lnTo>
                  <a:pt x="58318" y="258813"/>
                </a:lnTo>
                <a:lnTo>
                  <a:pt x="56603" y="254495"/>
                </a:lnTo>
                <a:lnTo>
                  <a:pt x="43103" y="238963"/>
                </a:lnTo>
                <a:lnTo>
                  <a:pt x="39941" y="236664"/>
                </a:lnTo>
                <a:lnTo>
                  <a:pt x="36487" y="234937"/>
                </a:lnTo>
                <a:lnTo>
                  <a:pt x="52006" y="192100"/>
                </a:lnTo>
                <a:lnTo>
                  <a:pt x="91363" y="192100"/>
                </a:lnTo>
                <a:lnTo>
                  <a:pt x="91266" y="182029"/>
                </a:lnTo>
                <a:lnTo>
                  <a:pt x="91169" y="181457"/>
                </a:lnTo>
                <a:lnTo>
                  <a:pt x="91071" y="180886"/>
                </a:lnTo>
                <a:lnTo>
                  <a:pt x="90615" y="179730"/>
                </a:lnTo>
                <a:lnTo>
                  <a:pt x="90500" y="179438"/>
                </a:lnTo>
                <a:lnTo>
                  <a:pt x="89928" y="177723"/>
                </a:lnTo>
                <a:lnTo>
                  <a:pt x="87630" y="175412"/>
                </a:lnTo>
                <a:lnTo>
                  <a:pt x="85902" y="174269"/>
                </a:lnTo>
                <a:lnTo>
                  <a:pt x="84175" y="173697"/>
                </a:lnTo>
                <a:lnTo>
                  <a:pt x="67805" y="173697"/>
                </a:lnTo>
                <a:lnTo>
                  <a:pt x="176682" y="65570"/>
                </a:lnTo>
                <a:lnTo>
                  <a:pt x="176963" y="65570"/>
                </a:lnTo>
                <a:lnTo>
                  <a:pt x="179273" y="63271"/>
                </a:lnTo>
                <a:lnTo>
                  <a:pt x="185013" y="59245"/>
                </a:lnTo>
                <a:lnTo>
                  <a:pt x="191338" y="56934"/>
                </a:lnTo>
                <a:lnTo>
                  <a:pt x="194780" y="55791"/>
                </a:lnTo>
                <a:lnTo>
                  <a:pt x="201968" y="55219"/>
                </a:lnTo>
                <a:lnTo>
                  <a:pt x="242006" y="55219"/>
                </a:lnTo>
                <a:lnTo>
                  <a:pt x="239890" y="52908"/>
                </a:lnTo>
                <a:lnTo>
                  <a:pt x="205130" y="37096"/>
                </a:lnTo>
                <a:lnTo>
                  <a:pt x="213461" y="28752"/>
                </a:lnTo>
                <a:lnTo>
                  <a:pt x="235000" y="18402"/>
                </a:lnTo>
                <a:lnTo>
                  <a:pt x="279045" y="18402"/>
                </a:lnTo>
                <a:lnTo>
                  <a:pt x="276656" y="15811"/>
                </a:lnTo>
                <a:lnTo>
                  <a:pt x="249364" y="863"/>
                </a:lnTo>
                <a:lnTo>
                  <a:pt x="244195" y="0"/>
                </a:lnTo>
                <a:close/>
              </a:path>
              <a:path w="292734" h="292735">
                <a:moveTo>
                  <a:pt x="91363" y="192100"/>
                </a:moveTo>
                <a:lnTo>
                  <a:pt x="72974" y="192100"/>
                </a:lnTo>
                <a:lnTo>
                  <a:pt x="72974" y="210210"/>
                </a:lnTo>
                <a:lnTo>
                  <a:pt x="73266" y="211937"/>
                </a:lnTo>
                <a:lnTo>
                  <a:pt x="73837" y="213956"/>
                </a:lnTo>
                <a:lnTo>
                  <a:pt x="74980" y="215391"/>
                </a:lnTo>
                <a:lnTo>
                  <a:pt x="75844" y="216535"/>
                </a:lnTo>
                <a:lnTo>
                  <a:pt x="77279" y="217982"/>
                </a:lnTo>
                <a:lnTo>
                  <a:pt x="78727" y="218833"/>
                </a:lnTo>
                <a:lnTo>
                  <a:pt x="82169" y="219417"/>
                </a:lnTo>
                <a:lnTo>
                  <a:pt x="98259" y="219417"/>
                </a:lnTo>
                <a:lnTo>
                  <a:pt x="92506" y="248462"/>
                </a:lnTo>
                <a:lnTo>
                  <a:pt x="58318" y="258813"/>
                </a:lnTo>
                <a:lnTo>
                  <a:pt x="109750" y="258813"/>
                </a:lnTo>
                <a:lnTo>
                  <a:pt x="141352" y="227177"/>
                </a:lnTo>
                <a:lnTo>
                  <a:pt x="115493" y="227177"/>
                </a:lnTo>
                <a:lnTo>
                  <a:pt x="118656" y="212229"/>
                </a:lnTo>
                <a:lnTo>
                  <a:pt x="118935" y="210210"/>
                </a:lnTo>
                <a:lnTo>
                  <a:pt x="118656" y="207911"/>
                </a:lnTo>
                <a:lnTo>
                  <a:pt x="118084" y="206184"/>
                </a:lnTo>
                <a:lnTo>
                  <a:pt x="116636" y="204749"/>
                </a:lnTo>
                <a:lnTo>
                  <a:pt x="115201" y="203022"/>
                </a:lnTo>
                <a:lnTo>
                  <a:pt x="113766" y="202158"/>
                </a:lnTo>
                <a:lnTo>
                  <a:pt x="111760" y="201295"/>
                </a:lnTo>
                <a:lnTo>
                  <a:pt x="91363" y="201295"/>
                </a:lnTo>
                <a:lnTo>
                  <a:pt x="91363" y="192100"/>
                </a:lnTo>
                <a:close/>
              </a:path>
              <a:path w="292734" h="292735">
                <a:moveTo>
                  <a:pt x="242006" y="55219"/>
                </a:moveTo>
                <a:lnTo>
                  <a:pt x="201968" y="55219"/>
                </a:lnTo>
                <a:lnTo>
                  <a:pt x="208572" y="55791"/>
                </a:lnTo>
                <a:lnTo>
                  <a:pt x="215468" y="58089"/>
                </a:lnTo>
                <a:lnTo>
                  <a:pt x="218630" y="59245"/>
                </a:lnTo>
                <a:lnTo>
                  <a:pt x="221208" y="61252"/>
                </a:lnTo>
                <a:lnTo>
                  <a:pt x="224091" y="63271"/>
                </a:lnTo>
                <a:lnTo>
                  <a:pt x="226669" y="65849"/>
                </a:lnTo>
                <a:lnTo>
                  <a:pt x="229260" y="68160"/>
                </a:lnTo>
                <a:lnTo>
                  <a:pt x="230987" y="71031"/>
                </a:lnTo>
                <a:lnTo>
                  <a:pt x="232994" y="74193"/>
                </a:lnTo>
                <a:lnTo>
                  <a:pt x="234429" y="77355"/>
                </a:lnTo>
                <a:lnTo>
                  <a:pt x="235864" y="80238"/>
                </a:lnTo>
                <a:lnTo>
                  <a:pt x="236389" y="83400"/>
                </a:lnTo>
                <a:lnTo>
                  <a:pt x="237020" y="87426"/>
                </a:lnTo>
                <a:lnTo>
                  <a:pt x="237299" y="90868"/>
                </a:lnTo>
                <a:lnTo>
                  <a:pt x="237020" y="94322"/>
                </a:lnTo>
                <a:lnTo>
                  <a:pt x="230987" y="110426"/>
                </a:lnTo>
                <a:lnTo>
                  <a:pt x="229260" y="113296"/>
                </a:lnTo>
                <a:lnTo>
                  <a:pt x="115493" y="227177"/>
                </a:lnTo>
                <a:lnTo>
                  <a:pt x="141352" y="227177"/>
                </a:lnTo>
                <a:lnTo>
                  <a:pt x="276656" y="91732"/>
                </a:lnTo>
                <a:lnTo>
                  <a:pt x="280334" y="87426"/>
                </a:lnTo>
                <a:lnTo>
                  <a:pt x="255117" y="87426"/>
                </a:lnTo>
                <a:lnTo>
                  <a:pt x="255031" y="85978"/>
                </a:lnTo>
                <a:lnTo>
                  <a:pt x="254911" y="83972"/>
                </a:lnTo>
                <a:lnTo>
                  <a:pt x="254825" y="82537"/>
                </a:lnTo>
                <a:lnTo>
                  <a:pt x="253961" y="77927"/>
                </a:lnTo>
                <a:lnTo>
                  <a:pt x="252974" y="74764"/>
                </a:lnTo>
                <a:lnTo>
                  <a:pt x="252887" y="74485"/>
                </a:lnTo>
                <a:lnTo>
                  <a:pt x="252796" y="74193"/>
                </a:lnTo>
                <a:lnTo>
                  <a:pt x="252705" y="73901"/>
                </a:lnTo>
                <a:lnTo>
                  <a:pt x="252617" y="73621"/>
                </a:lnTo>
                <a:lnTo>
                  <a:pt x="243052" y="56362"/>
                </a:lnTo>
                <a:lnTo>
                  <a:pt x="242006" y="55219"/>
                </a:lnTo>
                <a:close/>
              </a:path>
              <a:path w="292734" h="292735">
                <a:moveTo>
                  <a:pt x="212026" y="73329"/>
                </a:moveTo>
                <a:lnTo>
                  <a:pt x="208292" y="73329"/>
                </a:lnTo>
                <a:lnTo>
                  <a:pt x="206845" y="73901"/>
                </a:lnTo>
                <a:lnTo>
                  <a:pt x="112331" y="167360"/>
                </a:lnTo>
                <a:lnTo>
                  <a:pt x="109753" y="173697"/>
                </a:lnTo>
                <a:lnTo>
                  <a:pt x="110324" y="177139"/>
                </a:lnTo>
                <a:lnTo>
                  <a:pt x="111188" y="178574"/>
                </a:lnTo>
                <a:lnTo>
                  <a:pt x="112331" y="180301"/>
                </a:lnTo>
                <a:lnTo>
                  <a:pt x="113766" y="181457"/>
                </a:lnTo>
                <a:lnTo>
                  <a:pt x="117221" y="182600"/>
                </a:lnTo>
                <a:lnTo>
                  <a:pt x="120383" y="182600"/>
                </a:lnTo>
                <a:lnTo>
                  <a:pt x="217767" y="87426"/>
                </a:lnTo>
                <a:lnTo>
                  <a:pt x="219202" y="83972"/>
                </a:lnTo>
                <a:lnTo>
                  <a:pt x="219444" y="82537"/>
                </a:lnTo>
                <a:lnTo>
                  <a:pt x="219494" y="82245"/>
                </a:lnTo>
                <a:lnTo>
                  <a:pt x="218959" y="79082"/>
                </a:lnTo>
                <a:lnTo>
                  <a:pt x="218910" y="78790"/>
                </a:lnTo>
                <a:lnTo>
                  <a:pt x="217767" y="77355"/>
                </a:lnTo>
                <a:lnTo>
                  <a:pt x="216624" y="75628"/>
                </a:lnTo>
                <a:lnTo>
                  <a:pt x="215176" y="74764"/>
                </a:lnTo>
                <a:lnTo>
                  <a:pt x="213461" y="73901"/>
                </a:lnTo>
                <a:lnTo>
                  <a:pt x="212026" y="73329"/>
                </a:lnTo>
                <a:close/>
              </a:path>
              <a:path w="292734" h="292735">
                <a:moveTo>
                  <a:pt x="279045" y="18402"/>
                </a:moveTo>
                <a:lnTo>
                  <a:pt x="242189" y="18402"/>
                </a:lnTo>
                <a:lnTo>
                  <a:pt x="245630" y="18986"/>
                </a:lnTo>
                <a:lnTo>
                  <a:pt x="249085" y="19837"/>
                </a:lnTo>
                <a:lnTo>
                  <a:pt x="273168" y="46304"/>
                </a:lnTo>
                <a:lnTo>
                  <a:pt x="273215" y="46583"/>
                </a:lnTo>
                <a:lnTo>
                  <a:pt x="274078" y="50037"/>
                </a:lnTo>
                <a:lnTo>
                  <a:pt x="274078" y="57226"/>
                </a:lnTo>
                <a:lnTo>
                  <a:pt x="273215" y="60680"/>
                </a:lnTo>
                <a:lnTo>
                  <a:pt x="272746" y="63271"/>
                </a:lnTo>
                <a:lnTo>
                  <a:pt x="255117" y="87426"/>
                </a:lnTo>
                <a:lnTo>
                  <a:pt x="280334" y="87426"/>
                </a:lnTo>
                <a:lnTo>
                  <a:pt x="283552" y="83400"/>
                </a:lnTo>
                <a:lnTo>
                  <a:pt x="285851" y="79082"/>
                </a:lnTo>
                <a:lnTo>
                  <a:pt x="288442" y="74485"/>
                </a:lnTo>
                <a:lnTo>
                  <a:pt x="289877" y="69596"/>
                </a:lnTo>
                <a:lnTo>
                  <a:pt x="291604" y="64135"/>
                </a:lnTo>
                <a:lnTo>
                  <a:pt x="291922" y="61252"/>
                </a:lnTo>
                <a:lnTo>
                  <a:pt x="292408" y="52908"/>
                </a:lnTo>
                <a:lnTo>
                  <a:pt x="292253" y="50037"/>
                </a:lnTo>
                <a:lnTo>
                  <a:pt x="292176" y="48602"/>
                </a:lnTo>
                <a:lnTo>
                  <a:pt x="291695" y="44005"/>
                </a:lnTo>
                <a:lnTo>
                  <a:pt x="291604" y="43141"/>
                </a:lnTo>
                <a:lnTo>
                  <a:pt x="289877" y="37960"/>
                </a:lnTo>
                <a:lnTo>
                  <a:pt x="288442" y="33070"/>
                </a:lnTo>
                <a:lnTo>
                  <a:pt x="285851" y="28473"/>
                </a:lnTo>
                <a:lnTo>
                  <a:pt x="283552" y="23863"/>
                </a:lnTo>
                <a:lnTo>
                  <a:pt x="280111" y="19558"/>
                </a:lnTo>
                <a:lnTo>
                  <a:pt x="279045" y="18402"/>
                </a:lnTo>
                <a:close/>
              </a:path>
              <a:path w="292734" h="292735">
                <a:moveTo>
                  <a:pt x="176963" y="65570"/>
                </a:moveTo>
                <a:lnTo>
                  <a:pt x="176682" y="65570"/>
                </a:lnTo>
                <a:lnTo>
                  <a:pt x="176682" y="65849"/>
                </a:lnTo>
                <a:lnTo>
                  <a:pt x="176963" y="65570"/>
                </a:lnTo>
                <a:close/>
              </a:path>
            </a:pathLst>
          </a:custGeom>
          <a:solidFill>
            <a:srgbClr val="C00000"/>
          </a:solidFill>
        </p:spPr>
        <p:txBody>
          <a:bodyPr wrap="square" lIns="0" tIns="0" rIns="0" bIns="0" rtlCol="0"/>
          <a:p/>
        </p:txBody>
      </p:sp>
      <p:pic>
        <p:nvPicPr>
          <p:cNvPr id="5" name="object 5"/>
          <p:cNvPicPr/>
          <p:nvPr/>
        </p:nvPicPr>
        <p:blipFill>
          <a:blip r:embed="rId3" cstate="print"/>
          <a:stretch>
            <a:fillRect/>
          </a:stretch>
        </p:blipFill>
        <p:spPr>
          <a:xfrm>
            <a:off x="5470525" y="2070735"/>
            <a:ext cx="6574155" cy="3952240"/>
          </a:xfrm>
          <a:prstGeom prst="rect">
            <a:avLst/>
          </a:prstGeom>
        </p:spPr>
      </p:pic>
      <p:sp>
        <p:nvSpPr>
          <p:cNvPr id="7" name="文本框 6"/>
          <p:cNvSpPr txBox="1"/>
          <p:nvPr/>
        </p:nvSpPr>
        <p:spPr>
          <a:xfrm>
            <a:off x="1029970" y="1763395"/>
            <a:ext cx="5205730" cy="362585"/>
          </a:xfrm>
          <a:prstGeom prst="rect">
            <a:avLst/>
          </a:prstGeom>
          <a:noFill/>
        </p:spPr>
        <p:txBody>
          <a:bodyPr wrap="square" rtlCol="0">
            <a:noAutofit/>
          </a:bodyPr>
          <a:p>
            <a:r>
              <a:rPr lang="en-US" altLang="zh-CN">
                <a:sym typeface="+mn-ea"/>
              </a:rPr>
              <a:t>Deep Learning: Automatic Feature Learning</a:t>
            </a:r>
            <a:endParaRPr lang="en-US" altLang="zh-CN"/>
          </a:p>
          <a:p>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623874" y="1499476"/>
            <a:ext cx="291465" cy="218440"/>
          </a:xfrm>
          <a:custGeom>
            <a:avLst/>
            <a:gdLst/>
            <a:ahLst/>
            <a:cxnLst/>
            <a:rect l="l" t="t" r="r" b="b"/>
            <a:pathLst>
              <a:path w="291465" h="218439">
                <a:moveTo>
                  <a:pt x="36448" y="73964"/>
                </a:moveTo>
                <a:lnTo>
                  <a:pt x="10909" y="84251"/>
                </a:lnTo>
                <a:lnTo>
                  <a:pt x="8039" y="87096"/>
                </a:lnTo>
                <a:lnTo>
                  <a:pt x="6019" y="89674"/>
                </a:lnTo>
                <a:lnTo>
                  <a:pt x="4013" y="92811"/>
                </a:lnTo>
                <a:lnTo>
                  <a:pt x="1714" y="99669"/>
                </a:lnTo>
                <a:lnTo>
                  <a:pt x="571" y="102806"/>
                </a:lnTo>
                <a:lnTo>
                  <a:pt x="0" y="106235"/>
                </a:lnTo>
                <a:lnTo>
                  <a:pt x="0" y="113372"/>
                </a:lnTo>
                <a:lnTo>
                  <a:pt x="571" y="116801"/>
                </a:lnTo>
                <a:lnTo>
                  <a:pt x="1714" y="120230"/>
                </a:lnTo>
                <a:lnTo>
                  <a:pt x="2870" y="123367"/>
                </a:lnTo>
                <a:lnTo>
                  <a:pt x="4013" y="126796"/>
                </a:lnTo>
                <a:lnTo>
                  <a:pt x="6019" y="129946"/>
                </a:lnTo>
                <a:lnTo>
                  <a:pt x="8039" y="132803"/>
                </a:lnTo>
                <a:lnTo>
                  <a:pt x="10909" y="135369"/>
                </a:lnTo>
                <a:lnTo>
                  <a:pt x="85242" y="209626"/>
                </a:lnTo>
                <a:lnTo>
                  <a:pt x="108483" y="217906"/>
                </a:lnTo>
                <a:lnTo>
                  <a:pt x="112217" y="217614"/>
                </a:lnTo>
                <a:lnTo>
                  <a:pt x="142078" y="199339"/>
                </a:lnTo>
                <a:lnTo>
                  <a:pt x="108483" y="199339"/>
                </a:lnTo>
                <a:lnTo>
                  <a:pt x="105041" y="199059"/>
                </a:lnTo>
                <a:lnTo>
                  <a:pt x="101307" y="198196"/>
                </a:lnTo>
                <a:lnTo>
                  <a:pt x="98158" y="196481"/>
                </a:lnTo>
                <a:lnTo>
                  <a:pt x="96723" y="195338"/>
                </a:lnTo>
                <a:lnTo>
                  <a:pt x="23812" y="122796"/>
                </a:lnTo>
                <a:lnTo>
                  <a:pt x="22097" y="121373"/>
                </a:lnTo>
                <a:lnTo>
                  <a:pt x="19799" y="116801"/>
                </a:lnTo>
                <a:lnTo>
                  <a:pt x="18656" y="113372"/>
                </a:lnTo>
                <a:lnTo>
                  <a:pt x="18084" y="109956"/>
                </a:lnTo>
                <a:lnTo>
                  <a:pt x="18656" y="106235"/>
                </a:lnTo>
                <a:lnTo>
                  <a:pt x="19799" y="102806"/>
                </a:lnTo>
                <a:lnTo>
                  <a:pt x="22097" y="98247"/>
                </a:lnTo>
                <a:lnTo>
                  <a:pt x="23812" y="97104"/>
                </a:lnTo>
                <a:lnTo>
                  <a:pt x="26403" y="94818"/>
                </a:lnTo>
                <a:lnTo>
                  <a:pt x="29552" y="93103"/>
                </a:lnTo>
                <a:lnTo>
                  <a:pt x="33007" y="91960"/>
                </a:lnTo>
                <a:lnTo>
                  <a:pt x="36448" y="91668"/>
                </a:lnTo>
                <a:lnTo>
                  <a:pt x="69792" y="91668"/>
                </a:lnTo>
                <a:lnTo>
                  <a:pt x="59689" y="81673"/>
                </a:lnTo>
                <a:lnTo>
                  <a:pt x="56819" y="79679"/>
                </a:lnTo>
                <a:lnTo>
                  <a:pt x="53670" y="77673"/>
                </a:lnTo>
                <a:lnTo>
                  <a:pt x="50228" y="76530"/>
                </a:lnTo>
                <a:lnTo>
                  <a:pt x="47066" y="75387"/>
                </a:lnTo>
                <a:lnTo>
                  <a:pt x="43332" y="74536"/>
                </a:lnTo>
                <a:lnTo>
                  <a:pt x="40182" y="74256"/>
                </a:lnTo>
                <a:lnTo>
                  <a:pt x="36448" y="73964"/>
                </a:lnTo>
                <a:close/>
              </a:path>
              <a:path w="291465" h="218439">
                <a:moveTo>
                  <a:pt x="286193" y="17983"/>
                </a:moveTo>
                <a:lnTo>
                  <a:pt x="254279" y="17983"/>
                </a:lnTo>
                <a:lnTo>
                  <a:pt x="258013" y="18275"/>
                </a:lnTo>
                <a:lnTo>
                  <a:pt x="261454" y="19418"/>
                </a:lnTo>
                <a:lnTo>
                  <a:pt x="264617" y="21132"/>
                </a:lnTo>
                <a:lnTo>
                  <a:pt x="266052" y="21983"/>
                </a:lnTo>
                <a:lnTo>
                  <a:pt x="267195" y="23418"/>
                </a:lnTo>
                <a:lnTo>
                  <a:pt x="269786" y="25984"/>
                </a:lnTo>
                <a:lnTo>
                  <a:pt x="271221" y="29121"/>
                </a:lnTo>
                <a:lnTo>
                  <a:pt x="272364" y="32550"/>
                </a:lnTo>
                <a:lnTo>
                  <a:pt x="272935" y="36271"/>
                </a:lnTo>
                <a:lnTo>
                  <a:pt x="272364" y="39408"/>
                </a:lnTo>
                <a:lnTo>
                  <a:pt x="120256" y="195338"/>
                </a:lnTo>
                <a:lnTo>
                  <a:pt x="108483" y="199339"/>
                </a:lnTo>
                <a:lnTo>
                  <a:pt x="142078" y="199339"/>
                </a:lnTo>
                <a:lnTo>
                  <a:pt x="280403" y="61975"/>
                </a:lnTo>
                <a:lnTo>
                  <a:pt x="291020" y="36271"/>
                </a:lnTo>
                <a:lnTo>
                  <a:pt x="290448" y="29121"/>
                </a:lnTo>
                <a:lnTo>
                  <a:pt x="289585" y="25412"/>
                </a:lnTo>
                <a:lnTo>
                  <a:pt x="288150" y="21983"/>
                </a:lnTo>
                <a:lnTo>
                  <a:pt x="286715" y="18846"/>
                </a:lnTo>
                <a:lnTo>
                  <a:pt x="286193" y="17983"/>
                </a:lnTo>
                <a:close/>
              </a:path>
              <a:path w="291465" h="218439">
                <a:moveTo>
                  <a:pt x="69792" y="91668"/>
                </a:moveTo>
                <a:lnTo>
                  <a:pt x="36448" y="91668"/>
                </a:lnTo>
                <a:lnTo>
                  <a:pt x="40182" y="91960"/>
                </a:lnTo>
                <a:lnTo>
                  <a:pt x="43332" y="93103"/>
                </a:lnTo>
                <a:lnTo>
                  <a:pt x="46494" y="94818"/>
                </a:lnTo>
                <a:lnTo>
                  <a:pt x="49364" y="97104"/>
                </a:lnTo>
                <a:lnTo>
                  <a:pt x="101879" y="149072"/>
                </a:lnTo>
                <a:lnTo>
                  <a:pt x="103606" y="150507"/>
                </a:lnTo>
                <a:lnTo>
                  <a:pt x="105041" y="151358"/>
                </a:lnTo>
                <a:lnTo>
                  <a:pt x="106476" y="151650"/>
                </a:lnTo>
                <a:lnTo>
                  <a:pt x="108483" y="151930"/>
                </a:lnTo>
                <a:lnTo>
                  <a:pt x="111925" y="151358"/>
                </a:lnTo>
                <a:lnTo>
                  <a:pt x="113360" y="150507"/>
                </a:lnTo>
                <a:lnTo>
                  <a:pt x="134069" y="129946"/>
                </a:lnTo>
                <a:lnTo>
                  <a:pt x="108483" y="129946"/>
                </a:lnTo>
                <a:lnTo>
                  <a:pt x="69792" y="91668"/>
                </a:lnTo>
                <a:close/>
              </a:path>
              <a:path w="291465" h="218439">
                <a:moveTo>
                  <a:pt x="254279" y="0"/>
                </a:moveTo>
                <a:lnTo>
                  <a:pt x="251129" y="279"/>
                </a:lnTo>
                <a:lnTo>
                  <a:pt x="247395" y="571"/>
                </a:lnTo>
                <a:lnTo>
                  <a:pt x="243954" y="1422"/>
                </a:lnTo>
                <a:lnTo>
                  <a:pt x="240512" y="2857"/>
                </a:lnTo>
                <a:lnTo>
                  <a:pt x="237350" y="4000"/>
                </a:lnTo>
                <a:lnTo>
                  <a:pt x="234480" y="5702"/>
                </a:lnTo>
                <a:lnTo>
                  <a:pt x="231317" y="7988"/>
                </a:lnTo>
                <a:lnTo>
                  <a:pt x="228447" y="10274"/>
                </a:lnTo>
                <a:lnTo>
                  <a:pt x="108483" y="129946"/>
                </a:lnTo>
                <a:lnTo>
                  <a:pt x="134069" y="129946"/>
                </a:lnTo>
                <a:lnTo>
                  <a:pt x="241363" y="23418"/>
                </a:lnTo>
                <a:lnTo>
                  <a:pt x="243090" y="21983"/>
                </a:lnTo>
                <a:lnTo>
                  <a:pt x="244233" y="21132"/>
                </a:lnTo>
                <a:lnTo>
                  <a:pt x="247675" y="19418"/>
                </a:lnTo>
                <a:lnTo>
                  <a:pt x="251129" y="18275"/>
                </a:lnTo>
                <a:lnTo>
                  <a:pt x="254279" y="17983"/>
                </a:lnTo>
                <a:lnTo>
                  <a:pt x="286193" y="17983"/>
                </a:lnTo>
                <a:lnTo>
                  <a:pt x="284987" y="15989"/>
                </a:lnTo>
                <a:lnTo>
                  <a:pt x="280403" y="10274"/>
                </a:lnTo>
                <a:lnTo>
                  <a:pt x="274662" y="5702"/>
                </a:lnTo>
                <a:lnTo>
                  <a:pt x="271500" y="4000"/>
                </a:lnTo>
                <a:lnTo>
                  <a:pt x="268351" y="2857"/>
                </a:lnTo>
                <a:lnTo>
                  <a:pt x="264896" y="1422"/>
                </a:lnTo>
                <a:lnTo>
                  <a:pt x="261454" y="571"/>
                </a:lnTo>
                <a:lnTo>
                  <a:pt x="258013" y="279"/>
                </a:lnTo>
                <a:lnTo>
                  <a:pt x="254279" y="0"/>
                </a:lnTo>
                <a:close/>
              </a:path>
            </a:pathLst>
          </a:custGeom>
          <a:solidFill>
            <a:srgbClr val="C00000"/>
          </a:solidFill>
        </p:spPr>
        <p:txBody>
          <a:bodyPr wrap="square" lIns="0" tIns="0" rIns="0" bIns="0" rtlCol="0"/>
          <a:lstStyle/>
          <a:p/>
        </p:txBody>
      </p:sp>
      <p:sp>
        <p:nvSpPr>
          <p:cNvPr id="4" name="object 4"/>
          <p:cNvSpPr txBox="1">
            <a:spLocks noGrp="1"/>
          </p:cNvSpPr>
          <p:nvPr>
            <p:ph type="title"/>
          </p:nvPr>
        </p:nvSpPr>
        <p:spPr>
          <a:xfrm>
            <a:off x="1125855" y="1426210"/>
            <a:ext cx="10017125" cy="843280"/>
          </a:xfrm>
          <a:prstGeom prst="rect">
            <a:avLst/>
          </a:prstGeom>
        </p:spPr>
        <p:txBody>
          <a:bodyPr vert="horz" wrap="square" lIns="0" tIns="12700" rIns="0" bIns="0" rtlCol="0">
            <a:spAutoFit/>
          </a:bodyPr>
          <a:lstStyle/>
          <a:p>
            <a:pPr marL="12700" algn="l">
              <a:lnSpc>
                <a:spcPct val="100000"/>
              </a:lnSpc>
              <a:spcBef>
                <a:spcPts val="100"/>
              </a:spcBef>
            </a:pPr>
            <a:r>
              <a:rPr lang="en-US" altLang="zh-CN" sz="1800" spc="-10" dirty="0"/>
              <a:t>Applications: Self-driving cars recognizing traffic lights and pedestrians;</a:t>
            </a:r>
            <a:br>
              <a:rPr lang="en-US" altLang="zh-CN" sz="1800" spc="-10" dirty="0"/>
            </a:br>
            <a:r>
              <a:rPr lang="en-US" altLang="zh-CN" sz="1800" spc="-10" dirty="0"/>
              <a:t>Technology: CNN (Convolutional Neural Network) identifies edges, shapes, and semantic objects from pixels through multi-layer feature extraction.</a:t>
            </a:r>
            <a:endParaRPr lang="en-US" altLang="zh-CN" sz="1800" spc="-10" dirty="0"/>
          </a:p>
        </p:txBody>
      </p:sp>
      <p:pic>
        <p:nvPicPr>
          <p:cNvPr id="5" name="object 5"/>
          <p:cNvPicPr/>
          <p:nvPr/>
        </p:nvPicPr>
        <p:blipFill>
          <a:blip r:embed="rId1" cstate="print"/>
          <a:stretch>
            <a:fillRect/>
          </a:stretch>
        </p:blipFill>
        <p:spPr>
          <a:xfrm>
            <a:off x="1325880" y="2538984"/>
            <a:ext cx="10000180" cy="3235452"/>
          </a:xfrm>
          <a:prstGeom prst="rect">
            <a:avLst/>
          </a:prstGeom>
        </p:spPr>
      </p:pic>
      <p:cxnSp>
        <p:nvCxnSpPr>
          <p:cNvPr id="6" name="直接连接符 5"/>
          <p:cNvCxnSpPr/>
          <p:nvPr/>
        </p:nvCxnSpPr>
        <p:spPr>
          <a:xfrm>
            <a:off x="20320" y="989965"/>
            <a:ext cx="12140565" cy="0"/>
          </a:xfrm>
          <a:prstGeom prst="line">
            <a:avLst/>
          </a:prstGeom>
        </p:spPr>
        <p:style>
          <a:lnRef idx="2">
            <a:schemeClr val="accent1"/>
          </a:lnRef>
          <a:fillRef idx="0">
            <a:srgbClr val="FFFFFF"/>
          </a:fillRef>
          <a:effectRef idx="0">
            <a:srgbClr val="FFFFFF"/>
          </a:effectRef>
          <a:fontRef idx="minor">
            <a:schemeClr val="tx1"/>
          </a:fontRef>
        </p:style>
      </p:cxnSp>
      <p:sp>
        <p:nvSpPr>
          <p:cNvPr id="7" name="文本框 6"/>
          <p:cNvSpPr txBox="1"/>
          <p:nvPr/>
        </p:nvSpPr>
        <p:spPr>
          <a:xfrm>
            <a:off x="407670" y="197485"/>
            <a:ext cx="5723890" cy="574040"/>
          </a:xfrm>
          <a:prstGeom prst="rect">
            <a:avLst/>
          </a:prstGeom>
          <a:noFill/>
        </p:spPr>
        <p:txBody>
          <a:bodyPr wrap="square" rtlCol="0">
            <a:noAutofit/>
          </a:bodyPr>
          <a:p>
            <a:r>
              <a:rPr lang="en-US" altLang="zh-CN" sz="2800"/>
              <a:t>Applications of Deep Learning</a:t>
            </a:r>
            <a:endParaRPr lang="en-US" altLang="zh-CN" sz="28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7995285" y="1901825"/>
            <a:ext cx="1656715"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03</a:t>
            </a:r>
            <a:endParaRPr lang="en-US" sz="1600" dirty="0"/>
          </a:p>
        </p:txBody>
      </p:sp>
      <p:sp>
        <p:nvSpPr>
          <p:cNvPr id="7" name="Text 3"/>
          <p:cNvSpPr/>
          <p:nvPr/>
        </p:nvSpPr>
        <p:spPr>
          <a:xfrm>
            <a:off x="5979795" y="3223895"/>
            <a:ext cx="5688330" cy="1445260"/>
          </a:xfrm>
          <a:prstGeom prst="rect">
            <a:avLst/>
          </a:prstGeom>
          <a:noFill/>
        </p:spPr>
        <p:txBody>
          <a:bodyPr wrap="square" lIns="91440" tIns="45720" rIns="91440" bIns="45720" rtlCol="0" anchor="t">
            <a:spAutoFit/>
          </a:bodyPr>
          <a:lstStyle/>
          <a:p>
            <a:pPr marL="0" indent="0" algn="ctr">
              <a:lnSpc>
                <a:spcPct val="100000"/>
              </a:lnSpc>
              <a:buNone/>
            </a:pPr>
            <a:r>
              <a:rPr lang="en-US" altLang="zh-CN" sz="4400" dirty="0"/>
              <a:t>Reinforcement Learning Principles and Practice</a:t>
            </a:r>
            <a:endParaRPr lang="en-US" altLang="zh-CN" sz="4400" dirty="0"/>
          </a:p>
        </p:txBody>
      </p:sp>
      <p:sp>
        <p:nvSpPr>
          <p:cNvPr id="8" name="Text 4"/>
          <p:cNvSpPr/>
          <p:nvPr/>
        </p:nvSpPr>
        <p:spPr>
          <a:xfrm>
            <a:off x="649605" y="269240"/>
            <a:ext cx="4064000" cy="276225"/>
          </a:xfrm>
          <a:prstGeom prst="rect">
            <a:avLst/>
          </a:prstGeom>
          <a:noFill/>
        </p:spPr>
        <p:txBody>
          <a:bodyPr wrap="square" lIns="91440" tIns="45720" rIns="91440" bIns="45720" rtlCol="0" anchor="t">
            <a:spAutoFit/>
          </a:bodyPr>
          <a:lstStyle/>
          <a:p>
            <a:pPr marL="0" indent="0" algn="l">
              <a:lnSpc>
                <a:spcPct val="100000"/>
              </a:lnSpc>
              <a:buNone/>
            </a:pPr>
            <a:r>
              <a:rPr lang="en-US" sz="1800" b="1" dirty="0">
                <a:solidFill>
                  <a:srgbClr val="000000"/>
                </a:solidFill>
                <a:latin typeface="MiSans" pitchFamily="34" charset="-122"/>
                <a:ea typeface="MiSans" pitchFamily="34" charset="-122"/>
                <a:cs typeface="MiSans" pitchFamily="34" charset="-120"/>
              </a:rPr>
              <a:t>YOUR LOGO</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Reinforcement learning</a:t>
            </a:r>
            <a:endParaRPr lang="en-US" sz="2800" b="1" dirty="0">
              <a:solidFill>
                <a:srgbClr val="2F493E"/>
              </a:solidFill>
              <a:latin typeface="MiSans" pitchFamily="34" charset="-122"/>
              <a:ea typeface="MiSans" pitchFamily="34" charset="-122"/>
              <a:cs typeface="MiSans" pitchFamily="34" charset="-120"/>
            </a:endParaRP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pic>
        <p:nvPicPr>
          <p:cNvPr id="11" name="图片 10"/>
          <p:cNvPicPr>
            <a:picLocks noChangeAspect="1"/>
          </p:cNvPicPr>
          <p:nvPr/>
        </p:nvPicPr>
        <p:blipFill>
          <a:blip r:embed="rId1"/>
          <a:stretch>
            <a:fillRect/>
          </a:stretch>
        </p:blipFill>
        <p:spPr>
          <a:xfrm>
            <a:off x="1222375" y="867410"/>
            <a:ext cx="9746615" cy="56940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test-kimi-img.moonshot.cn/pub/slides/slides_tmpl/image/25-05-30-10:51:08-d0shq7475iks832je5dg.png"/>
          <p:cNvPicPr>
            <a:picLocks noChangeAspect="1"/>
          </p:cNvPicPr>
          <p:nvPr/>
        </p:nvPicPr>
        <p:blipFill>
          <a:blip r:embed="rId1"/>
          <a:srcRect l="50" r="50"/>
          <a:stretch>
            <a:fillRect/>
          </a:stretch>
        </p:blipFill>
        <p:spPr>
          <a:xfrm>
            <a:off x="630555" y="1304290"/>
            <a:ext cx="3843020" cy="4770120"/>
          </a:xfrm>
          <a:prstGeom prst="rect">
            <a:avLst/>
          </a:prstGeom>
        </p:spPr>
      </p:pic>
      <p:sp>
        <p:nvSpPr>
          <p:cNvPr id="3" name="Shape 0"/>
          <p:cNvSpPr/>
          <p:nvPr/>
        </p:nvSpPr>
        <p:spPr>
          <a:xfrm>
            <a:off x="638810" y="6362065"/>
            <a:ext cx="215900" cy="215900"/>
          </a:xfrm>
          <a:prstGeom prst="roundRect">
            <a:avLst>
              <a:gd name="adj" fmla="val 50000"/>
            </a:avLst>
          </a:prstGeom>
          <a:solidFill>
            <a:srgbClr val="5E927D"/>
          </a:solidFill>
        </p:spPr>
      </p:sp>
      <p:sp>
        <p:nvSpPr>
          <p:cNvPr id="4"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6"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Definition and Basic Concepts</a:t>
            </a:r>
            <a:endParaRPr lang="en-US" sz="1600" dirty="0"/>
          </a:p>
        </p:txBody>
      </p:sp>
      <p:sp>
        <p:nvSpPr>
          <p:cNvPr id="12" name="Shape 9"/>
          <p:cNvSpPr/>
          <p:nvPr/>
        </p:nvSpPr>
        <p:spPr>
          <a:xfrm>
            <a:off x="3981450" y="5556885"/>
            <a:ext cx="668020" cy="727075"/>
          </a:xfrm>
          <a:prstGeom prst="roundRect">
            <a:avLst>
              <a:gd name="adj" fmla="val 10513"/>
            </a:avLst>
          </a:prstGeom>
          <a:solidFill>
            <a:srgbClr val="2F493E"/>
          </a:solidFill>
        </p:spPr>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949825" y="3375660"/>
            <a:ext cx="3296920" cy="286956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5" name="Text 12"/>
          <p:cNvSpPr/>
          <p:nvPr/>
        </p:nvSpPr>
        <p:spPr>
          <a:xfrm>
            <a:off x="4871720" y="324929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8288655" y="3249295"/>
            <a:ext cx="3497580" cy="3343910"/>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17" name="Text 14"/>
          <p:cNvSpPr/>
          <p:nvPr/>
        </p:nvSpPr>
        <p:spPr>
          <a:xfrm>
            <a:off x="8293100" y="3274695"/>
            <a:ext cx="3157220" cy="275780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7"/>
          <p:cNvSpPr/>
          <p:nvPr/>
        </p:nvSpPr>
        <p:spPr>
          <a:xfrm>
            <a:off x="5262880" y="1171575"/>
            <a:ext cx="4551045" cy="774700"/>
          </a:xfrm>
          <a:prstGeom prst="rect">
            <a:avLst/>
          </a:prstGeom>
          <a:noFill/>
        </p:spPr>
        <p:txBody>
          <a:bodyPr wrap="square" lIns="91440" tIns="45720" rIns="91440" bIns="45720" rtlCol="0" anchor="t">
            <a:spAutoFit/>
          </a:bodyPr>
          <a:lstStyle/>
          <a:p>
            <a:pPr marL="0" indent="0" algn="just">
              <a:lnSpc>
                <a:spcPct val="100000"/>
              </a:lnSpc>
              <a:buNone/>
            </a:pPr>
            <a:r>
              <a:rPr lang="en-US" sz="2400" b="1" dirty="0">
                <a:solidFill>
                  <a:srgbClr val="525E30"/>
                </a:solidFill>
                <a:latin typeface="MiSans" pitchFamily="34" charset="-122"/>
                <a:ea typeface="MiSans" pitchFamily="34" charset="-122"/>
                <a:cs typeface="MiSans" pitchFamily="34" charset="-120"/>
              </a:rPr>
              <a:t>Definition of Reinforcement Learning</a:t>
            </a:r>
            <a:endParaRPr lang="en-US" sz="1600" dirty="0"/>
          </a:p>
        </p:txBody>
      </p:sp>
      <p:sp>
        <p:nvSpPr>
          <p:cNvPr id="21" name="Text 18"/>
          <p:cNvSpPr/>
          <p:nvPr/>
        </p:nvSpPr>
        <p:spPr>
          <a:xfrm>
            <a:off x="4802505" y="1946275"/>
            <a:ext cx="6647815"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Reinforcement learning is a type of machine learning where an agent learns to make decisions by taking actions in an environment to maximize some notion of cumulative reward. It differs from supervised learning as it does not require labeled data and from unsupervised learning as it has clear goals and feedback mechanisms.</a:t>
            </a:r>
            <a:endParaRPr lang="en-US" sz="1600" dirty="0"/>
          </a:p>
        </p:txBody>
      </p:sp>
      <p:sp>
        <p:nvSpPr>
          <p:cNvPr id="22" name="Text 19"/>
          <p:cNvSpPr/>
          <p:nvPr/>
        </p:nvSpPr>
        <p:spPr>
          <a:xfrm>
            <a:off x="2032000" y="1793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333333"/>
                </a:solidFill>
                <a:latin typeface="MiSans" pitchFamily="34" charset="-122"/>
                <a:ea typeface="MiSans" pitchFamily="34" charset="-122"/>
                <a:cs typeface="MiSans" pitchFamily="34" charset="-120"/>
              </a:rPr>
              <a:t> </a:t>
            </a:r>
            <a:endParaRPr lang="en-US" sz="1600" dirty="0"/>
          </a:p>
        </p:txBody>
      </p:sp>
      <p:sp>
        <p:nvSpPr>
          <p:cNvPr id="23" name="Text 20"/>
          <p:cNvSpPr/>
          <p:nvPr/>
        </p:nvSpPr>
        <p:spPr>
          <a:xfrm>
            <a:off x="5048250" y="341947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Key Elements: Agent, Environment, and Reward</a:t>
            </a:r>
            <a:endParaRPr lang="en-US" sz="1600" dirty="0"/>
          </a:p>
        </p:txBody>
      </p:sp>
      <p:sp>
        <p:nvSpPr>
          <p:cNvPr id="24" name="Text 21"/>
          <p:cNvSpPr/>
          <p:nvPr/>
        </p:nvSpPr>
        <p:spPr>
          <a:xfrm>
            <a:off x="8337550" y="3419475"/>
            <a:ext cx="3100705"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333333"/>
                </a:solidFill>
                <a:latin typeface="MiSans" pitchFamily="34" charset="-122"/>
                <a:ea typeface="MiSans" pitchFamily="34" charset="-122"/>
                <a:cs typeface="MiSans" pitchFamily="34" charset="-120"/>
              </a:rPr>
              <a:t>Applications of Reinforcement Learning</a:t>
            </a:r>
            <a:endParaRPr lang="en-US" sz="1600" dirty="0"/>
          </a:p>
        </p:txBody>
      </p:sp>
      <p:sp>
        <p:nvSpPr>
          <p:cNvPr id="25" name="Text 22"/>
          <p:cNvSpPr/>
          <p:nvPr/>
        </p:nvSpPr>
        <p:spPr>
          <a:xfrm>
            <a:off x="5097145" y="3874135"/>
            <a:ext cx="2872740" cy="2546747"/>
          </a:xfrm>
          <a:prstGeom prst="rect">
            <a:avLst/>
          </a:prstGeom>
          <a:noFill/>
        </p:spPr>
        <p:txBody>
          <a:bodyPr wrap="square" lIns="0" tIns="0" rIns="0" bIns="0" rtlCol="0" anchor="t">
            <a:spAutoFit/>
          </a:bodyPr>
          <a:lstStyle/>
          <a:p>
            <a:pPr marL="0" indent="0" algn="just">
              <a:lnSpc>
                <a:spcPct val="130000"/>
              </a:lnSpc>
              <a:buNone/>
            </a:pPr>
            <a:r>
              <a:rPr lang="en-US" sz="1300" dirty="0">
                <a:solidFill>
                  <a:srgbClr val="2B2F36"/>
                </a:solidFill>
                <a:latin typeface="MiSans" pitchFamily="34" charset="-122"/>
                <a:ea typeface="MiSans" pitchFamily="34" charset="-122"/>
                <a:cs typeface="MiSans" pitchFamily="34" charset="-120"/>
              </a:rPr>
              <a:t>In reinforcement learning, the agent is the decision-maker or learner. The environment is everything that the agent interacts with. The reward signal is the feedback from the environment that guides the agent's actions. The agent's goal is to maximize the cumulative reward over time.</a:t>
            </a:r>
            <a:endParaRPr lang="en-US" sz="1600" dirty="0"/>
          </a:p>
        </p:txBody>
      </p:sp>
      <p:sp>
        <p:nvSpPr>
          <p:cNvPr id="26" name="Text 23"/>
          <p:cNvSpPr/>
          <p:nvPr/>
        </p:nvSpPr>
        <p:spPr>
          <a:xfrm>
            <a:off x="8580755" y="3874135"/>
            <a:ext cx="2872740" cy="2829719"/>
          </a:xfrm>
          <a:prstGeom prst="rect">
            <a:avLst/>
          </a:prstGeom>
          <a:noFill/>
        </p:spPr>
        <p:txBody>
          <a:bodyPr wrap="square" lIns="0" tIns="0" rIns="0" bIns="0" rtlCol="0" anchor="t">
            <a:spAutoFit/>
          </a:bodyPr>
          <a:lstStyle/>
          <a:p>
            <a:pPr marL="0" indent="0" algn="just">
              <a:lnSpc>
                <a:spcPct val="130000"/>
              </a:lnSpc>
              <a:buNone/>
            </a:pPr>
            <a:r>
              <a:rPr lang="en-US" sz="1300" dirty="0">
                <a:solidFill>
                  <a:srgbClr val="2B2F36"/>
                </a:solidFill>
                <a:latin typeface="MiSans" pitchFamily="34" charset="-122"/>
                <a:ea typeface="MiSans" pitchFamily="34" charset="-122"/>
                <a:cs typeface="MiSans" pitchFamily="34" charset="-120"/>
              </a:rPr>
              <a:t>Reinforcement learning has a wide range of applications, including robotics for tasks like navigation and manipulation, gaming to develop intelligent game-playing agents, and recommendation systems to personalize content for users. It is also used in finance for portfolio management and in healthcare for treatment planning.</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Example</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7" name="Text 92"/>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98" name="图片 97"/>
          <p:cNvPicPr>
            <a:picLocks noChangeAspect="1"/>
          </p:cNvPicPr>
          <p:nvPr/>
        </p:nvPicPr>
        <p:blipFill>
          <a:blip r:embed="rId1"/>
          <a:stretch>
            <a:fillRect/>
          </a:stretch>
        </p:blipFill>
        <p:spPr>
          <a:xfrm>
            <a:off x="1704975" y="1080135"/>
            <a:ext cx="9380855" cy="533717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Summary of Reinforcement Learning</a:t>
            </a:r>
            <a:endParaRPr lang="en-US" sz="1600" dirty="0"/>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sp>
        <p:nvSpPr>
          <p:cNvPr id="14" name="Shape 11"/>
          <p:cNvSpPr/>
          <p:nvPr/>
        </p:nvSpPr>
        <p:spPr>
          <a:xfrm>
            <a:off x="3796030" y="1413510"/>
            <a:ext cx="8031480" cy="4602480"/>
          </a:xfrm>
          <a:prstGeom prst="rect">
            <a:avLst/>
          </a:prstGeom>
          <a:solidFill>
            <a:srgbClr val="000000">
              <a:alpha val="0"/>
            </a:srgbClr>
          </a:solidFill>
          <a:ln w="19050">
            <a:solidFill>
              <a:srgbClr val="9FB26A"/>
            </a:solidFill>
            <a:prstDash val="solid"/>
          </a:ln>
        </p:spPr>
      </p:sp>
      <p:sp>
        <p:nvSpPr>
          <p:cNvPr id="15" name="Text 12"/>
          <p:cNvSpPr/>
          <p:nvPr/>
        </p:nvSpPr>
        <p:spPr>
          <a:xfrm>
            <a:off x="3796030" y="1413510"/>
            <a:ext cx="8031480" cy="46024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4038600" y="4102735"/>
            <a:ext cx="7560310" cy="0"/>
          </a:xfrm>
          <a:prstGeom prst="line">
            <a:avLst/>
          </a:prstGeom>
          <a:noFill/>
          <a:ln w="12700">
            <a:solidFill>
              <a:srgbClr val="9FB26A"/>
            </a:solidFill>
            <a:prstDash val="dash"/>
            <a:headEnd type="none"/>
            <a:tailEnd type="none"/>
          </a:ln>
        </p:spPr>
      </p:sp>
      <p:sp>
        <p:nvSpPr>
          <p:cNvPr id="18" name="Text 15"/>
          <p:cNvSpPr/>
          <p:nvPr/>
        </p:nvSpPr>
        <p:spPr>
          <a:xfrm>
            <a:off x="4038600" y="157289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Key Concepts and Methods</a:t>
            </a:r>
            <a:endParaRPr lang="en-US" sz="1600" dirty="0"/>
          </a:p>
        </p:txBody>
      </p:sp>
      <p:sp>
        <p:nvSpPr>
          <p:cNvPr id="19" name="Text 16"/>
          <p:cNvSpPr/>
          <p:nvPr/>
        </p:nvSpPr>
        <p:spPr>
          <a:xfrm>
            <a:off x="4039870" y="2035175"/>
            <a:ext cx="7616190" cy="1715294"/>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Reinforcement learning is a powerful approach to machine learning that involves an agent learning to make decisions in an environment to maximize cumulative reward. Key concepts include the agent, environment, reward, value functions, and policies. Methods such as dynamic programming, Monte Carlo methods, temporal-difference learning, and deep reinforcement learning have been developed to solve reinforcement learning problems.</a:t>
            </a:r>
            <a:endParaRPr lang="en-US" sz="1600" dirty="0"/>
          </a:p>
        </p:txBody>
      </p:sp>
      <p:sp>
        <p:nvSpPr>
          <p:cNvPr id="20" name="Text 17"/>
          <p:cNvSpPr/>
          <p:nvPr/>
        </p:nvSpPr>
        <p:spPr>
          <a:xfrm>
            <a:off x="3956050" y="406336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Applications and Impact</a:t>
            </a:r>
            <a:endParaRPr lang="en-US" sz="1600" dirty="0"/>
          </a:p>
        </p:txBody>
      </p:sp>
      <p:sp>
        <p:nvSpPr>
          <p:cNvPr id="21" name="Text 18"/>
          <p:cNvSpPr/>
          <p:nvPr/>
        </p:nvSpPr>
        <p:spPr>
          <a:xfrm>
            <a:off x="3957320" y="4347845"/>
            <a:ext cx="7616190" cy="1429345"/>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Reinforcement learning has a wide range of applications in various fields, including robotics, gaming, finance, healthcare, and entertainment. It has led to significant advancements in these areas and has the potential to transform many industries. The impact of reinforcement learning is expected to grow as the technology continues to develop and mature.</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8327390" y="1901825"/>
            <a:ext cx="1482725"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04</a:t>
            </a:r>
            <a:endParaRPr lang="en-US" sz="1600" dirty="0"/>
          </a:p>
        </p:txBody>
      </p:sp>
      <p:sp>
        <p:nvSpPr>
          <p:cNvPr id="7" name="Text 3"/>
          <p:cNvSpPr/>
          <p:nvPr/>
        </p:nvSpPr>
        <p:spPr>
          <a:xfrm>
            <a:off x="5979795" y="3223895"/>
            <a:ext cx="6177915" cy="1445260"/>
          </a:xfrm>
          <a:prstGeom prst="rect">
            <a:avLst/>
          </a:prstGeom>
          <a:noFill/>
        </p:spPr>
        <p:txBody>
          <a:bodyPr wrap="square" lIns="91440" tIns="45720" rIns="91440" bIns="45720" rtlCol="0" anchor="t">
            <a:spAutoFit/>
          </a:bodyPr>
          <a:lstStyle/>
          <a:p>
            <a:pPr marL="0" indent="0" algn="ctr">
              <a:lnSpc>
                <a:spcPct val="100000"/>
              </a:lnSpc>
              <a:buNone/>
            </a:pPr>
            <a:r>
              <a:rPr lang="en-US" altLang="zh-CN" sz="4400" dirty="0"/>
              <a:t>Evolutionary Computation and Systems</a:t>
            </a:r>
            <a:endParaRPr lang="en-US" altLang="zh-CN" sz="4400" dirty="0"/>
          </a:p>
        </p:txBody>
      </p:sp>
      <p:sp>
        <p:nvSpPr>
          <p:cNvPr id="8" name="Text 4"/>
          <p:cNvSpPr/>
          <p:nvPr/>
        </p:nvSpPr>
        <p:spPr>
          <a:xfrm>
            <a:off x="649605" y="269240"/>
            <a:ext cx="4064000" cy="276225"/>
          </a:xfrm>
          <a:prstGeom prst="rect">
            <a:avLst/>
          </a:prstGeom>
          <a:noFill/>
        </p:spPr>
        <p:txBody>
          <a:bodyPr wrap="square" lIns="91440" tIns="45720" rIns="91440" bIns="45720" rtlCol="0" anchor="t">
            <a:spAutoFit/>
          </a:bodyPr>
          <a:lstStyle/>
          <a:p>
            <a:pPr marL="0" indent="0" algn="l">
              <a:lnSpc>
                <a:spcPct val="100000"/>
              </a:lnSpc>
              <a:buNone/>
            </a:pPr>
            <a:r>
              <a:rPr lang="en-US" sz="1800" b="1" dirty="0">
                <a:solidFill>
                  <a:srgbClr val="000000"/>
                </a:solidFill>
                <a:latin typeface="MiSans" pitchFamily="34" charset="-122"/>
                <a:ea typeface="MiSans" pitchFamily="34" charset="-122"/>
                <a:cs typeface="MiSans" pitchFamily="34" charset="-120"/>
              </a:rPr>
              <a:t>YOUR LOGO</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Evolutionary Computation and Systems</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12" name="文本框 11"/>
          <p:cNvSpPr txBox="1"/>
          <p:nvPr/>
        </p:nvSpPr>
        <p:spPr>
          <a:xfrm>
            <a:off x="1302385" y="1071245"/>
            <a:ext cx="10333990" cy="1215390"/>
          </a:xfrm>
          <a:prstGeom prst="rect">
            <a:avLst/>
          </a:prstGeom>
          <a:noFill/>
        </p:spPr>
        <p:txBody>
          <a:bodyPr wrap="square" rtlCol="0">
            <a:noAutofit/>
          </a:bodyPr>
          <a:lstStyle/>
          <a:p>
            <a:r>
              <a:rPr lang="en-US" altLang="zh-CN" sz="2400"/>
              <a:t>Evolutionary Computation (EC) is a family of population-based optimization algorithms inspired by biological evolution, including natural selection, mutation, recombination, and inheritance. </a:t>
            </a:r>
            <a:endParaRPr lang="en-US" altLang="zh-CN" sz="2400"/>
          </a:p>
        </p:txBody>
      </p:sp>
      <p:pic>
        <p:nvPicPr>
          <p:cNvPr id="14" name="图片 13"/>
          <p:cNvPicPr>
            <a:picLocks noChangeAspect="1"/>
          </p:cNvPicPr>
          <p:nvPr/>
        </p:nvPicPr>
        <p:blipFill>
          <a:blip r:embed="rId1"/>
          <a:stretch>
            <a:fillRect/>
          </a:stretch>
        </p:blipFill>
        <p:spPr>
          <a:xfrm>
            <a:off x="2621915" y="2291080"/>
            <a:ext cx="6308090" cy="452247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60375"/>
          </a:xfrm>
          <a:prstGeom prst="rect">
            <a:avLst/>
          </a:prstGeom>
          <a:noFill/>
        </p:spPr>
        <p:txBody>
          <a:bodyPr wrap="square" lIns="91440" tIns="45720" rIns="91440" bIns="45720" rtlCol="0" anchor="t">
            <a:spAutoFit/>
          </a:bodyPr>
          <a:lstStyle/>
          <a:p>
            <a:pPr marL="0" indent="0" algn="just">
              <a:lnSpc>
                <a:spcPct val="100000"/>
              </a:lnSpc>
              <a:buNone/>
            </a:pPr>
            <a:r>
              <a:rPr lang="en-US" altLang="zh-CN" sz="2400" dirty="0"/>
              <a:t>​​Introduction to Evolutionary Computation</a:t>
            </a:r>
            <a:endParaRPr lang="en-US" altLang="zh-CN" sz="2400" dirty="0"/>
          </a:p>
        </p:txBody>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4871720" y="324929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765810" y="1377315"/>
            <a:ext cx="8857615" cy="70421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22" name="Text 19"/>
          <p:cNvSpPr/>
          <p:nvPr/>
        </p:nvSpPr>
        <p:spPr>
          <a:xfrm>
            <a:off x="2032000" y="1793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333333"/>
                </a:solidFill>
                <a:latin typeface="MiSans" pitchFamily="34" charset="-122"/>
                <a:ea typeface="MiSans" pitchFamily="34" charset="-122"/>
                <a:cs typeface="MiSans" pitchFamily="34" charset="-120"/>
              </a:rPr>
              <a:t> </a:t>
            </a:r>
            <a:endParaRPr lang="en-US" sz="1600" dirty="0"/>
          </a:p>
        </p:txBody>
      </p:sp>
      <p:sp>
        <p:nvSpPr>
          <p:cNvPr id="18" name="文本框 17"/>
          <p:cNvSpPr txBox="1"/>
          <p:nvPr/>
        </p:nvSpPr>
        <p:spPr>
          <a:xfrm>
            <a:off x="924560" y="1377315"/>
            <a:ext cx="8552815" cy="706755"/>
          </a:xfrm>
          <a:prstGeom prst="rect">
            <a:avLst/>
          </a:prstGeom>
          <a:noFill/>
        </p:spPr>
        <p:txBody>
          <a:bodyPr wrap="square" rtlCol="0">
            <a:spAutoFit/>
          </a:bodyPr>
          <a:p>
            <a:r>
              <a:rPr lang="en-US" altLang="zh-CN" sz="2000"/>
              <a:t>Definition: A stochastic search and optimization method based on natural  selection and genetic mechanisms.</a:t>
            </a:r>
            <a:endParaRPr lang="en-US" altLang="zh-CN" sz="2000"/>
          </a:p>
        </p:txBody>
      </p:sp>
      <p:sp>
        <p:nvSpPr>
          <p:cNvPr id="19" name="Shape 13"/>
          <p:cNvSpPr/>
          <p:nvPr/>
        </p:nvSpPr>
        <p:spPr>
          <a:xfrm>
            <a:off x="800100" y="2684145"/>
            <a:ext cx="2839085" cy="70421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27" name="文本框 26"/>
          <p:cNvSpPr txBox="1"/>
          <p:nvPr/>
        </p:nvSpPr>
        <p:spPr>
          <a:xfrm>
            <a:off x="924560" y="2850515"/>
            <a:ext cx="2599690" cy="398780"/>
          </a:xfrm>
          <a:prstGeom prst="rect">
            <a:avLst/>
          </a:prstGeom>
          <a:noFill/>
        </p:spPr>
        <p:txBody>
          <a:bodyPr wrap="square" rtlCol="0">
            <a:spAutoFit/>
          </a:bodyPr>
          <a:p>
            <a:r>
              <a:rPr lang="en-US" altLang="zh-CN" sz="2000"/>
              <a:t>Historical Development:</a:t>
            </a:r>
            <a:endParaRPr lang="en-US" altLang="zh-CN" sz="2000"/>
          </a:p>
        </p:txBody>
      </p:sp>
      <p:sp>
        <p:nvSpPr>
          <p:cNvPr id="28" name="文本框 27"/>
          <p:cNvSpPr txBox="1"/>
          <p:nvPr/>
        </p:nvSpPr>
        <p:spPr>
          <a:xfrm>
            <a:off x="1717675" y="3657600"/>
            <a:ext cx="7402195" cy="1630045"/>
          </a:xfrm>
          <a:prstGeom prst="rect">
            <a:avLst/>
          </a:prstGeom>
          <a:noFill/>
        </p:spPr>
        <p:txBody>
          <a:bodyPr wrap="square" rtlCol="0">
            <a:spAutoFit/>
          </a:bodyPr>
          <a:p>
            <a:pPr marL="342900" indent="-342900">
              <a:buFont typeface="Arial" panose="020B0604020202020204" pitchFamily="34" charset="0"/>
              <a:buChar char="•"/>
            </a:pPr>
            <a:r>
              <a:rPr lang="en-US" altLang="zh-CN" sz="2000"/>
              <a:t>1950s: Emergence of genetic algorithm concepts (Holland)</a:t>
            </a:r>
            <a:endParaRPr lang="en-US" altLang="zh-CN" sz="2000"/>
          </a:p>
          <a:p>
            <a:pPr marL="342900" indent="-342900">
              <a:buFont typeface="Arial" panose="020B0604020202020204" pitchFamily="34" charset="0"/>
              <a:buChar char="•"/>
            </a:pPr>
            <a:r>
              <a:rPr lang="en-US" altLang="zh-CN" sz="2000"/>
              <a:t>1970s–1990s: Development of evolution strategies (Rechenberg), genetic programming, and other evolutionary algorithms</a:t>
            </a:r>
            <a:endParaRPr lang="en-US" altLang="zh-CN" sz="2000"/>
          </a:p>
          <a:p>
            <a:pPr marL="342900" indent="-342900">
              <a:buFont typeface="Arial" panose="020B0604020202020204" pitchFamily="34" charset="0"/>
              <a:buChar char="•"/>
            </a:pPr>
            <a:r>
              <a:rPr lang="en-US" altLang="zh-CN" sz="2000"/>
              <a:t>2000s–Present: Multi-objective optimization, hybrid intelligence, integration with deep learning</a:t>
            </a:r>
            <a:endParaRPr lang="en-US" altLang="zh-CN" sz="20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60375"/>
          </a:xfrm>
          <a:prstGeom prst="rect">
            <a:avLst/>
          </a:prstGeom>
          <a:noFill/>
        </p:spPr>
        <p:txBody>
          <a:bodyPr wrap="square" lIns="91440" tIns="45720" rIns="91440" bIns="45720" rtlCol="0" anchor="t">
            <a:spAutoFit/>
          </a:bodyPr>
          <a:lstStyle/>
          <a:p>
            <a:pPr marL="0" indent="0" algn="just">
              <a:lnSpc>
                <a:spcPct val="100000"/>
              </a:lnSpc>
              <a:buNone/>
            </a:pPr>
            <a:r>
              <a:rPr lang="en-US" altLang="zh-CN" sz="2400" dirty="0"/>
              <a:t>​​General Workflow Framework</a:t>
            </a:r>
            <a:endParaRPr lang="en-US" altLang="zh-CN" sz="2400" dirty="0"/>
          </a:p>
        </p:txBody>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4871720" y="324929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3"/>
          <p:cNvSpPr/>
          <p:nvPr/>
        </p:nvSpPr>
        <p:spPr>
          <a:xfrm>
            <a:off x="7932420" y="1708150"/>
            <a:ext cx="2103755" cy="492125"/>
          </a:xfrm>
          <a:prstGeom prst="roundRect">
            <a:avLst>
              <a:gd name="adj" fmla="val 10513"/>
            </a:avLst>
          </a:prstGeom>
          <a:solidFill>
            <a:schemeClr val="accent3"/>
          </a:solidFill>
          <a:ln w="12700">
            <a:solidFill>
              <a:srgbClr val="2F493E"/>
            </a:solidFill>
            <a:prstDash val="solid"/>
          </a:ln>
          <a:effectLst>
            <a:outerShdw blurRad="50800" dist="38100" dir="2700000" algn="bl" rotWithShape="0">
              <a:srgbClr val="000000">
                <a:alpha val="40000"/>
              </a:srgbClr>
            </a:outerShdw>
          </a:effectLst>
        </p:spPr>
      </p:sp>
      <p:sp>
        <p:nvSpPr>
          <p:cNvPr id="3" name="Shape 13"/>
          <p:cNvSpPr/>
          <p:nvPr/>
        </p:nvSpPr>
        <p:spPr>
          <a:xfrm>
            <a:off x="7929245" y="2594610"/>
            <a:ext cx="2106930" cy="509905"/>
          </a:xfrm>
          <a:prstGeom prst="roundRect">
            <a:avLst>
              <a:gd name="adj" fmla="val 10513"/>
            </a:avLst>
          </a:prstGeom>
          <a:solidFill>
            <a:schemeClr val="accent3"/>
          </a:solidFill>
          <a:ln w="12700">
            <a:solidFill>
              <a:srgbClr val="2F493E"/>
            </a:solidFill>
            <a:prstDash val="solid"/>
          </a:ln>
          <a:effectLst>
            <a:outerShdw blurRad="50800" dist="38100" dir="2700000" algn="bl" rotWithShape="0">
              <a:srgbClr val="000000">
                <a:alpha val="40000"/>
              </a:srgbClr>
            </a:outerShdw>
          </a:effectLst>
        </p:spPr>
      </p:sp>
      <p:sp>
        <p:nvSpPr>
          <p:cNvPr id="12" name="Shape 13"/>
          <p:cNvSpPr/>
          <p:nvPr/>
        </p:nvSpPr>
        <p:spPr>
          <a:xfrm>
            <a:off x="7936865" y="676910"/>
            <a:ext cx="2103755" cy="492125"/>
          </a:xfrm>
          <a:prstGeom prst="roundRect">
            <a:avLst>
              <a:gd name="adj" fmla="val 10513"/>
            </a:avLst>
          </a:prstGeom>
          <a:solidFill>
            <a:schemeClr val="accent3"/>
          </a:solidFill>
          <a:ln w="12700">
            <a:solidFill>
              <a:srgbClr val="2F493E"/>
            </a:solidFill>
            <a:prstDash val="solid"/>
          </a:ln>
          <a:effectLst>
            <a:outerShdw blurRad="50800" dist="38100" dir="2700000" algn="bl" rotWithShape="0">
              <a:srgbClr val="000000">
                <a:alpha val="40000"/>
              </a:srgbClr>
            </a:outerShdw>
          </a:effectLst>
        </p:spPr>
      </p:sp>
      <p:sp>
        <p:nvSpPr>
          <p:cNvPr id="14" name="Shape 13"/>
          <p:cNvSpPr/>
          <p:nvPr/>
        </p:nvSpPr>
        <p:spPr>
          <a:xfrm>
            <a:off x="7936865" y="5297170"/>
            <a:ext cx="2103755" cy="492125"/>
          </a:xfrm>
          <a:prstGeom prst="roundRect">
            <a:avLst>
              <a:gd name="adj" fmla="val 10513"/>
            </a:avLst>
          </a:prstGeom>
          <a:solidFill>
            <a:schemeClr val="accent3"/>
          </a:solidFill>
          <a:ln w="12700">
            <a:solidFill>
              <a:srgbClr val="2F493E"/>
            </a:solidFill>
            <a:prstDash val="solid"/>
          </a:ln>
          <a:effectLst>
            <a:outerShdw blurRad="50800" dist="38100" dir="2700000" algn="bl" rotWithShape="0">
              <a:srgbClr val="000000">
                <a:alpha val="40000"/>
              </a:srgbClr>
            </a:outerShdw>
          </a:effectLst>
        </p:spPr>
      </p:sp>
      <p:sp>
        <p:nvSpPr>
          <p:cNvPr id="17" name="Shape 13"/>
          <p:cNvSpPr/>
          <p:nvPr/>
        </p:nvSpPr>
        <p:spPr>
          <a:xfrm>
            <a:off x="7936865" y="4458335"/>
            <a:ext cx="2103755" cy="492125"/>
          </a:xfrm>
          <a:prstGeom prst="roundRect">
            <a:avLst>
              <a:gd name="adj" fmla="val 10513"/>
            </a:avLst>
          </a:prstGeom>
          <a:solidFill>
            <a:schemeClr val="accent3"/>
          </a:solidFill>
          <a:ln w="12700">
            <a:solidFill>
              <a:srgbClr val="2F493E"/>
            </a:solidFill>
            <a:prstDash val="solid"/>
          </a:ln>
          <a:effectLst>
            <a:outerShdw blurRad="50800" dist="38100" dir="2700000" algn="bl" rotWithShape="0">
              <a:srgbClr val="000000">
                <a:alpha val="40000"/>
              </a:srgbClr>
            </a:outerShdw>
          </a:effectLst>
        </p:spPr>
      </p:sp>
      <p:sp>
        <p:nvSpPr>
          <p:cNvPr id="20" name="Shape 13"/>
          <p:cNvSpPr/>
          <p:nvPr/>
        </p:nvSpPr>
        <p:spPr>
          <a:xfrm>
            <a:off x="7929245" y="3502660"/>
            <a:ext cx="2103755" cy="492125"/>
          </a:xfrm>
          <a:prstGeom prst="roundRect">
            <a:avLst>
              <a:gd name="adj" fmla="val 10513"/>
            </a:avLst>
          </a:prstGeom>
          <a:solidFill>
            <a:schemeClr val="accent3"/>
          </a:solidFill>
          <a:ln w="12700">
            <a:solidFill>
              <a:srgbClr val="2F493E"/>
            </a:solidFill>
            <a:prstDash val="solid"/>
          </a:ln>
          <a:effectLst>
            <a:outerShdw blurRad="50800" dist="38100" dir="2700000" algn="bl" rotWithShape="0">
              <a:srgbClr val="000000">
                <a:alpha val="40000"/>
              </a:srgbClr>
            </a:outerShdw>
          </a:effectLst>
        </p:spPr>
      </p:sp>
      <p:sp>
        <p:nvSpPr>
          <p:cNvPr id="21" name="文本框 20"/>
          <p:cNvSpPr txBox="1"/>
          <p:nvPr/>
        </p:nvSpPr>
        <p:spPr>
          <a:xfrm>
            <a:off x="8004810" y="740410"/>
            <a:ext cx="2106930" cy="368300"/>
          </a:xfrm>
          <a:prstGeom prst="rect">
            <a:avLst/>
          </a:prstGeom>
          <a:noFill/>
        </p:spPr>
        <p:txBody>
          <a:bodyPr wrap="square" rtlCol="0">
            <a:spAutoFit/>
          </a:bodyPr>
          <a:p>
            <a:r>
              <a:rPr lang="en-US" altLang="zh-CN"/>
              <a:t>Initialize Population</a:t>
            </a:r>
            <a:endParaRPr lang="en-US" altLang="zh-CN"/>
          </a:p>
        </p:txBody>
      </p:sp>
      <p:sp>
        <p:nvSpPr>
          <p:cNvPr id="23" name="文本框 22"/>
          <p:cNvSpPr txBox="1"/>
          <p:nvPr/>
        </p:nvSpPr>
        <p:spPr>
          <a:xfrm>
            <a:off x="8288655" y="4518660"/>
            <a:ext cx="1181735" cy="368300"/>
          </a:xfrm>
          <a:prstGeom prst="rect">
            <a:avLst/>
          </a:prstGeom>
          <a:noFill/>
        </p:spPr>
        <p:txBody>
          <a:bodyPr wrap="square" rtlCol="0">
            <a:spAutoFit/>
          </a:bodyPr>
          <a:p>
            <a:r>
              <a:rPr lang="en-US" altLang="zh-CN"/>
              <a:t> Mutation</a:t>
            </a:r>
            <a:endParaRPr lang="en-US" altLang="zh-CN"/>
          </a:p>
        </p:txBody>
      </p:sp>
      <p:sp>
        <p:nvSpPr>
          <p:cNvPr id="24" name="文本框 23"/>
          <p:cNvSpPr txBox="1"/>
          <p:nvPr/>
        </p:nvSpPr>
        <p:spPr>
          <a:xfrm>
            <a:off x="8333105" y="3574415"/>
            <a:ext cx="1208405" cy="368300"/>
          </a:xfrm>
          <a:prstGeom prst="rect">
            <a:avLst/>
          </a:prstGeom>
          <a:noFill/>
        </p:spPr>
        <p:txBody>
          <a:bodyPr wrap="square" rtlCol="0">
            <a:spAutoFit/>
          </a:bodyPr>
          <a:p>
            <a:r>
              <a:rPr lang="en-US" altLang="zh-CN"/>
              <a:t>Crossover</a:t>
            </a:r>
            <a:endParaRPr lang="en-US" altLang="zh-CN"/>
          </a:p>
        </p:txBody>
      </p:sp>
      <p:sp>
        <p:nvSpPr>
          <p:cNvPr id="25" name="文本框 24"/>
          <p:cNvSpPr txBox="1"/>
          <p:nvPr/>
        </p:nvSpPr>
        <p:spPr>
          <a:xfrm>
            <a:off x="8333105" y="2629535"/>
            <a:ext cx="1243330" cy="368300"/>
          </a:xfrm>
          <a:prstGeom prst="rect">
            <a:avLst/>
          </a:prstGeom>
          <a:noFill/>
        </p:spPr>
        <p:txBody>
          <a:bodyPr wrap="square" rtlCol="0">
            <a:spAutoFit/>
          </a:bodyPr>
          <a:p>
            <a:r>
              <a:rPr lang="en-US" altLang="zh-CN"/>
              <a:t>Selection</a:t>
            </a:r>
            <a:endParaRPr lang="en-US" altLang="zh-CN"/>
          </a:p>
        </p:txBody>
      </p:sp>
      <p:sp>
        <p:nvSpPr>
          <p:cNvPr id="26" name="文本框 25"/>
          <p:cNvSpPr txBox="1"/>
          <p:nvPr/>
        </p:nvSpPr>
        <p:spPr>
          <a:xfrm>
            <a:off x="8066405" y="1756410"/>
            <a:ext cx="1695450" cy="368300"/>
          </a:xfrm>
          <a:prstGeom prst="rect">
            <a:avLst/>
          </a:prstGeom>
          <a:noFill/>
        </p:spPr>
        <p:txBody>
          <a:bodyPr wrap="square" rtlCol="0">
            <a:spAutoFit/>
          </a:bodyPr>
          <a:p>
            <a:r>
              <a:rPr lang="en-US" altLang="zh-CN"/>
              <a:t>Evaluate Fitness</a:t>
            </a:r>
            <a:endParaRPr lang="en-US" altLang="zh-CN"/>
          </a:p>
        </p:txBody>
      </p:sp>
      <p:sp>
        <p:nvSpPr>
          <p:cNvPr id="29" name="Shape 13"/>
          <p:cNvSpPr/>
          <p:nvPr/>
        </p:nvSpPr>
        <p:spPr>
          <a:xfrm>
            <a:off x="7929245" y="6199505"/>
            <a:ext cx="2103755" cy="492125"/>
          </a:xfrm>
          <a:prstGeom prst="roundRect">
            <a:avLst>
              <a:gd name="adj" fmla="val 10513"/>
            </a:avLst>
          </a:prstGeom>
          <a:solidFill>
            <a:schemeClr val="accent3"/>
          </a:solidFill>
          <a:ln w="12700">
            <a:solidFill>
              <a:srgbClr val="2F493E"/>
            </a:solidFill>
            <a:prstDash val="solid"/>
          </a:ln>
          <a:effectLst>
            <a:outerShdw blurRad="50800" dist="38100" dir="2700000" algn="bl" rotWithShape="0">
              <a:srgbClr val="000000">
                <a:alpha val="40000"/>
              </a:srgbClr>
            </a:outerShdw>
          </a:effectLst>
        </p:spPr>
      </p:sp>
      <p:sp>
        <p:nvSpPr>
          <p:cNvPr id="30" name="文本框 29"/>
          <p:cNvSpPr txBox="1"/>
          <p:nvPr/>
        </p:nvSpPr>
        <p:spPr>
          <a:xfrm>
            <a:off x="8190230" y="5359400"/>
            <a:ext cx="1736090" cy="368300"/>
          </a:xfrm>
          <a:prstGeom prst="rect">
            <a:avLst/>
          </a:prstGeom>
          <a:noFill/>
        </p:spPr>
        <p:txBody>
          <a:bodyPr wrap="square" rtlCol="0">
            <a:spAutoFit/>
          </a:bodyPr>
          <a:p>
            <a:r>
              <a:rPr lang="en-US" altLang="zh-CN"/>
              <a:t>New Population</a:t>
            </a:r>
            <a:endParaRPr lang="zh-CN" altLang="en-US"/>
          </a:p>
        </p:txBody>
      </p:sp>
      <p:sp>
        <p:nvSpPr>
          <p:cNvPr id="31" name="文本框 30"/>
          <p:cNvSpPr txBox="1"/>
          <p:nvPr/>
        </p:nvSpPr>
        <p:spPr>
          <a:xfrm>
            <a:off x="7809865" y="6216650"/>
            <a:ext cx="2358390" cy="368300"/>
          </a:xfrm>
          <a:prstGeom prst="rect">
            <a:avLst/>
          </a:prstGeom>
          <a:noFill/>
        </p:spPr>
        <p:txBody>
          <a:bodyPr wrap="square" rtlCol="0">
            <a:spAutoFit/>
          </a:bodyPr>
          <a:p>
            <a:r>
              <a:rPr lang="en-US" altLang="zh-CN"/>
              <a:t>Termination Condition </a:t>
            </a:r>
            <a:endParaRPr lang="en-US" altLang="zh-CN"/>
          </a:p>
        </p:txBody>
      </p:sp>
      <p:cxnSp>
        <p:nvCxnSpPr>
          <p:cNvPr id="32" name="直接箭头连接符 31"/>
          <p:cNvCxnSpPr>
            <a:endCxn id="26" idx="0"/>
          </p:cNvCxnSpPr>
          <p:nvPr/>
        </p:nvCxnSpPr>
        <p:spPr>
          <a:xfrm>
            <a:off x="8914130" y="1169035"/>
            <a:ext cx="0" cy="587375"/>
          </a:xfrm>
          <a:prstGeom prst="straightConnector1">
            <a:avLst/>
          </a:prstGeom>
          <a:ln w="28575"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33" name="直接箭头连接符 32"/>
          <p:cNvCxnSpPr/>
          <p:nvPr/>
        </p:nvCxnSpPr>
        <p:spPr>
          <a:xfrm>
            <a:off x="8914130" y="2124710"/>
            <a:ext cx="0" cy="587375"/>
          </a:xfrm>
          <a:prstGeom prst="straightConnector1">
            <a:avLst/>
          </a:prstGeom>
          <a:ln w="28575"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34" name="直接箭头连接符 33"/>
          <p:cNvCxnSpPr/>
          <p:nvPr/>
        </p:nvCxnSpPr>
        <p:spPr>
          <a:xfrm>
            <a:off x="8914130" y="3104515"/>
            <a:ext cx="0" cy="459740"/>
          </a:xfrm>
          <a:prstGeom prst="straightConnector1">
            <a:avLst/>
          </a:prstGeom>
          <a:ln w="28575"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35" name="直接箭头连接符 34"/>
          <p:cNvCxnSpPr/>
          <p:nvPr/>
        </p:nvCxnSpPr>
        <p:spPr>
          <a:xfrm>
            <a:off x="8914130" y="3938270"/>
            <a:ext cx="0" cy="587375"/>
          </a:xfrm>
          <a:prstGeom prst="straightConnector1">
            <a:avLst/>
          </a:prstGeom>
          <a:ln w="28575"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36" name="直接箭头连接符 35"/>
          <p:cNvCxnSpPr/>
          <p:nvPr/>
        </p:nvCxnSpPr>
        <p:spPr>
          <a:xfrm>
            <a:off x="8914130" y="4950460"/>
            <a:ext cx="0" cy="466725"/>
          </a:xfrm>
          <a:prstGeom prst="straightConnector1">
            <a:avLst/>
          </a:prstGeom>
          <a:ln w="28575"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37" name="直接箭头连接符 36"/>
          <p:cNvCxnSpPr/>
          <p:nvPr/>
        </p:nvCxnSpPr>
        <p:spPr>
          <a:xfrm>
            <a:off x="8914130" y="5789295"/>
            <a:ext cx="0" cy="480695"/>
          </a:xfrm>
          <a:prstGeom prst="straightConnector1">
            <a:avLst/>
          </a:prstGeom>
          <a:ln w="28575" cmpd="sng">
            <a:solidFill>
              <a:schemeClr val="accent1">
                <a:shade val="50000"/>
              </a:schemeClr>
            </a:solidFill>
            <a:prstDash val="solid"/>
            <a:tailEnd type="arrow"/>
          </a:ln>
        </p:spPr>
        <p:style>
          <a:lnRef idx="2">
            <a:schemeClr val="accent1"/>
          </a:lnRef>
          <a:fillRef idx="0">
            <a:srgbClr val="FFFFFF"/>
          </a:fillRef>
          <a:effectRef idx="0">
            <a:srgbClr val="FFFFFF"/>
          </a:effectRef>
          <a:fontRef idx="minor">
            <a:schemeClr val="tx1"/>
          </a:fontRef>
        </p:style>
      </p:cxnSp>
      <p:sp>
        <p:nvSpPr>
          <p:cNvPr id="38" name="文本框 37"/>
          <p:cNvSpPr txBox="1"/>
          <p:nvPr/>
        </p:nvSpPr>
        <p:spPr>
          <a:xfrm>
            <a:off x="827405" y="1524635"/>
            <a:ext cx="6461125" cy="3476625"/>
          </a:xfrm>
          <a:prstGeom prst="rect">
            <a:avLst/>
          </a:prstGeom>
          <a:noFill/>
        </p:spPr>
        <p:txBody>
          <a:bodyPr wrap="square" rtlCol="0">
            <a:spAutoFit/>
          </a:bodyPr>
          <a:p>
            <a:r>
              <a:rPr lang="en-US" altLang="zh-CN" sz="2000"/>
              <a:t>The basic steps of an evolutionary algorithm are:</a:t>
            </a:r>
            <a:endParaRPr lang="en-US" altLang="zh-CN" sz="2000"/>
          </a:p>
          <a:p>
            <a:pPr marL="342900" indent="-342900">
              <a:buAutoNum type="arabicPeriod"/>
            </a:pPr>
            <a:r>
              <a:rPr lang="en-US" altLang="zh-CN" sz="2000"/>
              <a:t>Initialize Population: Randomly create a set of candidate solutions.</a:t>
            </a:r>
            <a:endParaRPr lang="en-US" altLang="zh-CN" sz="2000"/>
          </a:p>
          <a:p>
            <a:pPr marL="342900" indent="-342900">
              <a:buAutoNum type="arabicPeriod"/>
            </a:pPr>
            <a:r>
              <a:rPr lang="en-US" altLang="zh-CN" sz="2000"/>
              <a:t>Evaluate Fitness: Measure how good each individual is.</a:t>
            </a:r>
            <a:endParaRPr lang="en-US" altLang="zh-CN" sz="2000"/>
          </a:p>
          <a:p>
            <a:pPr marL="342900" indent="-342900">
              <a:buAutoNum type="arabicPeriod"/>
            </a:pPr>
            <a:r>
              <a:rPr lang="en-US" altLang="zh-CN" sz="2000"/>
              <a:t>Selection: Choose the better individuals for reproduction.</a:t>
            </a:r>
            <a:endParaRPr lang="en-US" altLang="zh-CN" sz="2000"/>
          </a:p>
          <a:p>
            <a:pPr marL="342900" indent="-342900">
              <a:buAutoNum type="arabicPeriod"/>
            </a:pPr>
            <a:r>
              <a:rPr lang="en-US" altLang="zh-CN" sz="2000"/>
              <a:t>Crossover: Combine parents to generate offspring.</a:t>
            </a:r>
            <a:endParaRPr lang="en-US" altLang="zh-CN" sz="2000"/>
          </a:p>
          <a:p>
            <a:pPr marL="342900" indent="-342900">
              <a:buAutoNum type="arabicPeriod"/>
            </a:pPr>
            <a:r>
              <a:rPr lang="en-US" altLang="zh-CN" sz="2000"/>
              <a:t>Mutation: Introduce small random changes to maintain diversity.</a:t>
            </a:r>
            <a:endParaRPr lang="en-US" altLang="zh-CN" sz="2000"/>
          </a:p>
          <a:p>
            <a:pPr marL="342900" indent="-342900">
              <a:buAutoNum type="arabicPeriod"/>
            </a:pPr>
            <a:r>
              <a:rPr lang="en-US" altLang="zh-CN" sz="2000"/>
              <a:t>Update Population: Form a new generation of individuals.</a:t>
            </a:r>
            <a:endParaRPr lang="en-US" altLang="zh-CN" sz="2000"/>
          </a:p>
          <a:p>
            <a:pPr marL="342900" indent="-342900">
              <a:buAutoNum type="arabicPeriod"/>
            </a:pPr>
            <a:r>
              <a:rPr lang="en-US" altLang="zh-CN" sz="2000"/>
              <a:t>Termination Check: Stop when a condition is met (e.g., max generations or satisfactory solution).</a:t>
            </a:r>
            <a:endParaRPr lang="en-US" altLang="zh-CN" sz="2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60375"/>
          </a:xfrm>
          <a:prstGeom prst="rect">
            <a:avLst/>
          </a:prstGeom>
          <a:noFill/>
        </p:spPr>
        <p:txBody>
          <a:bodyPr wrap="square" lIns="91440" tIns="45720" rIns="91440" bIns="45720" rtlCol="0" anchor="t">
            <a:spAutoFit/>
          </a:bodyPr>
          <a:lstStyle/>
          <a:p>
            <a:pPr marL="0" indent="0" algn="l">
              <a:lnSpc>
                <a:spcPct val="100000"/>
              </a:lnSpc>
              <a:buNone/>
            </a:pPr>
            <a:r>
              <a:rPr lang="en-US" altLang="zh-CN" sz="2400" dirty="0">
                <a:sym typeface="+mn-ea"/>
              </a:rPr>
              <a:t>Typical Applications of Evolutionary Computation</a:t>
            </a:r>
            <a:endParaRPr lang="en-US" altLang="zh-CN" sz="2400" dirty="0"/>
          </a:p>
        </p:txBody>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4871720" y="324929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765810" y="1229360"/>
            <a:ext cx="6267450" cy="70040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22" name="Text 19"/>
          <p:cNvSpPr/>
          <p:nvPr/>
        </p:nvSpPr>
        <p:spPr>
          <a:xfrm>
            <a:off x="2032000" y="1793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333333"/>
                </a:solidFill>
                <a:latin typeface="MiSans" pitchFamily="34" charset="-122"/>
                <a:ea typeface="MiSans" pitchFamily="34" charset="-122"/>
                <a:cs typeface="MiSans" pitchFamily="34" charset="-120"/>
              </a:rPr>
              <a:t> </a:t>
            </a:r>
            <a:endParaRPr lang="en-US" sz="1600" dirty="0"/>
          </a:p>
        </p:txBody>
      </p:sp>
      <p:sp>
        <p:nvSpPr>
          <p:cNvPr id="18" name="文本框 17"/>
          <p:cNvSpPr txBox="1"/>
          <p:nvPr/>
        </p:nvSpPr>
        <p:spPr>
          <a:xfrm>
            <a:off x="924560" y="1365250"/>
            <a:ext cx="5157470" cy="440690"/>
          </a:xfrm>
          <a:prstGeom prst="rect">
            <a:avLst/>
          </a:prstGeom>
          <a:noFill/>
        </p:spPr>
        <p:txBody>
          <a:bodyPr wrap="square" rtlCol="0">
            <a:noAutofit/>
          </a:bodyPr>
          <a:p>
            <a:r>
              <a:rPr lang="en-US" altLang="zh-CN" sz="2000"/>
              <a:t> Summary Table of Application Domains</a:t>
            </a:r>
            <a:endParaRPr lang="en-US" altLang="zh-CN" sz="2000"/>
          </a:p>
        </p:txBody>
      </p:sp>
      <p:sp>
        <p:nvSpPr>
          <p:cNvPr id="5" name="文本框 4"/>
          <p:cNvSpPr txBox="1"/>
          <p:nvPr/>
        </p:nvSpPr>
        <p:spPr>
          <a:xfrm>
            <a:off x="1028065" y="5679440"/>
            <a:ext cx="8858250" cy="645160"/>
          </a:xfrm>
          <a:prstGeom prst="rect">
            <a:avLst/>
          </a:prstGeom>
          <a:noFill/>
        </p:spPr>
        <p:txBody>
          <a:bodyPr wrap="square" rtlCol="0">
            <a:spAutoFit/>
          </a:bodyPr>
          <a:p>
            <a:r>
              <a:rPr lang="en-US" altLang="zh-CN"/>
              <a:t>"Where rules are unknown and objectives compete, evolution finds a way."</a:t>
            </a:r>
            <a:endParaRPr lang="en-US" altLang="zh-CN"/>
          </a:p>
          <a:p>
            <a:r>
              <a:rPr lang="en-US" altLang="zh-CN"/>
              <a:t>— Evolutionary computation thrives in unstructured, noisy, and complex worlds.</a:t>
            </a:r>
            <a:endParaRPr lang="en-US" altLang="zh-CN"/>
          </a:p>
        </p:txBody>
      </p:sp>
      <p:sp>
        <p:nvSpPr>
          <p:cNvPr id="6" name="六角星 5"/>
          <p:cNvSpPr/>
          <p:nvPr/>
        </p:nvSpPr>
        <p:spPr>
          <a:xfrm>
            <a:off x="467360" y="5629910"/>
            <a:ext cx="457200" cy="662940"/>
          </a:xfrm>
          <a:prstGeom prst="star6">
            <a:avLst/>
          </a:prstGeom>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4" name="图片 3"/>
          <p:cNvPicPr>
            <a:picLocks noChangeAspect="1"/>
          </p:cNvPicPr>
          <p:nvPr/>
        </p:nvPicPr>
        <p:blipFill>
          <a:blip r:embed="rId1"/>
          <a:stretch>
            <a:fillRect/>
          </a:stretch>
        </p:blipFill>
        <p:spPr>
          <a:xfrm>
            <a:off x="955675" y="2418715"/>
            <a:ext cx="9589770" cy="291973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8261350" y="1901825"/>
            <a:ext cx="1588770"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05</a:t>
            </a:r>
            <a:endParaRPr lang="en-US" sz="1600" dirty="0"/>
          </a:p>
        </p:txBody>
      </p:sp>
      <p:sp>
        <p:nvSpPr>
          <p:cNvPr id="7" name="Text 3"/>
          <p:cNvSpPr/>
          <p:nvPr/>
        </p:nvSpPr>
        <p:spPr>
          <a:xfrm>
            <a:off x="5979795" y="3223895"/>
            <a:ext cx="6151880" cy="2122805"/>
          </a:xfrm>
          <a:prstGeom prst="rect">
            <a:avLst/>
          </a:prstGeom>
          <a:noFill/>
        </p:spPr>
        <p:txBody>
          <a:bodyPr wrap="square" lIns="91440" tIns="45720" rIns="91440" bIns="45720" rtlCol="0" anchor="t">
            <a:spAutoFit/>
          </a:bodyPr>
          <a:lstStyle/>
          <a:p>
            <a:pPr marL="0" indent="0" algn="ctr">
              <a:lnSpc>
                <a:spcPct val="100000"/>
              </a:lnSpc>
              <a:buNone/>
            </a:pPr>
            <a:r>
              <a:rPr lang="en-US" altLang="zh-CN" sz="4400" dirty="0"/>
              <a:t>Introduction to Graph Neural Networks and Case Studies</a:t>
            </a:r>
            <a:endParaRPr lang="en-US" altLang="zh-CN" sz="4400" dirty="0"/>
          </a:p>
        </p:txBody>
      </p:sp>
      <p:sp>
        <p:nvSpPr>
          <p:cNvPr id="8" name="Text 4"/>
          <p:cNvSpPr/>
          <p:nvPr/>
        </p:nvSpPr>
        <p:spPr>
          <a:xfrm>
            <a:off x="649605" y="269240"/>
            <a:ext cx="4064000" cy="276225"/>
          </a:xfrm>
          <a:prstGeom prst="rect">
            <a:avLst/>
          </a:prstGeom>
          <a:noFill/>
        </p:spPr>
        <p:txBody>
          <a:bodyPr wrap="square" lIns="91440" tIns="45720" rIns="91440" bIns="45720" rtlCol="0" anchor="t">
            <a:spAutoFit/>
          </a:bodyPr>
          <a:lstStyle/>
          <a:p>
            <a:pPr marL="0" indent="0" algn="l">
              <a:lnSpc>
                <a:spcPct val="100000"/>
              </a:lnSpc>
              <a:buNone/>
            </a:pPr>
            <a:r>
              <a:rPr lang="en-US" sz="1800" b="1" dirty="0">
                <a:solidFill>
                  <a:srgbClr val="000000"/>
                </a:solidFill>
                <a:latin typeface="MiSans" pitchFamily="34" charset="-122"/>
                <a:ea typeface="MiSans" pitchFamily="34" charset="-122"/>
                <a:cs typeface="MiSans" pitchFamily="34" charset="-120"/>
              </a:rPr>
              <a:t>YOUR LOGO</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Graph Neural Networks (GNNs)</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14" name="文本框 13"/>
          <p:cNvSpPr txBox="1"/>
          <p:nvPr/>
        </p:nvSpPr>
        <p:spPr>
          <a:xfrm>
            <a:off x="981710" y="1154430"/>
            <a:ext cx="10196830" cy="1285240"/>
          </a:xfrm>
          <a:prstGeom prst="rect">
            <a:avLst/>
          </a:prstGeom>
          <a:noFill/>
        </p:spPr>
        <p:txBody>
          <a:bodyPr wrap="square" rtlCol="0">
            <a:noAutofit/>
          </a:bodyPr>
          <a:lstStyle/>
          <a:p>
            <a:r>
              <a:rPr lang="en-US" altLang="zh-CN" sz="2000" dirty="0">
                <a:solidFill>
                  <a:srgbClr val="2B2F36"/>
                </a:solidFill>
                <a:latin typeface="MiSans" pitchFamily="34" charset="-122"/>
                <a:ea typeface="MiSans" pitchFamily="34" charset="-122"/>
                <a:cs typeface="MiSans" pitchFamily="34" charset="-120"/>
              </a:rPr>
              <a:t>Graph Neural Networks (GNNs) are a class of deep learning models specifically designed to process and learn from graph-structured data. Unlike traditional neural networks that handle grid-like data (e.g., images) or sequential data (e.g., text), GNNs excel at capturing relationships and dependencies between interconnected entities, making them invaluable for tasks involving non-Euclidean data.</a:t>
            </a:r>
            <a:endParaRPr lang="en-US" altLang="zh-CN" sz="2000" dirty="0">
              <a:solidFill>
                <a:srgbClr val="2B2F36"/>
              </a:solidFill>
              <a:latin typeface="MiSans" pitchFamily="34" charset="-122"/>
              <a:ea typeface="MiSans" pitchFamily="34" charset="-122"/>
              <a:cs typeface="MiSans" pitchFamily="34" charset="-120"/>
            </a:endParaRPr>
          </a:p>
        </p:txBody>
      </p:sp>
      <p:pic>
        <p:nvPicPr>
          <p:cNvPr id="11" name="图片 10"/>
          <p:cNvPicPr>
            <a:picLocks noChangeAspect="1"/>
          </p:cNvPicPr>
          <p:nvPr/>
        </p:nvPicPr>
        <p:blipFill>
          <a:blip r:embed="rId1"/>
          <a:stretch>
            <a:fillRect/>
          </a:stretch>
        </p:blipFill>
        <p:spPr>
          <a:xfrm>
            <a:off x="1744980" y="3070225"/>
            <a:ext cx="8399145" cy="273558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Definition and Basic Concepts</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nvSpPr>
        <p:spPr>
          <a:xfrm>
            <a:off x="746760" y="1524258"/>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sp>
      <p:sp>
        <p:nvSpPr>
          <p:cNvPr id="16" name="Text 14"/>
          <p:cNvSpPr/>
          <p:nvPr/>
        </p:nvSpPr>
        <p:spPr>
          <a:xfrm>
            <a:off x="746760" y="1524258"/>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nvSpPr>
        <p:spPr>
          <a:xfrm>
            <a:off x="1464734" y="1883331"/>
            <a:ext cx="3122930" cy="240109"/>
          </a:xfrm>
          <a:prstGeom prst="rect">
            <a:avLst/>
          </a:prstGeom>
          <a:noFill/>
        </p:spPr>
        <p:txBody>
          <a:bodyPr wrap="square" lIns="0" tIns="0" rIns="0" bIns="35941" rtlCol="0" anchor="b">
            <a:spAutoFit/>
          </a:bodyPr>
          <a:lstStyle/>
          <a:p>
            <a:pPr marL="0" indent="0" algn="just">
              <a:lnSpc>
                <a:spcPct val="100000"/>
              </a:lnSpc>
              <a:buNone/>
            </a:pPr>
            <a:r>
              <a:rPr lang="en-US" sz="1400" b="1" dirty="0">
                <a:solidFill>
                  <a:srgbClr val="5E927D"/>
                </a:solidFill>
                <a:latin typeface="MiSans" pitchFamily="34" charset="-122"/>
                <a:ea typeface="MiSans" pitchFamily="34" charset="-122"/>
                <a:cs typeface="MiSans" pitchFamily="34" charset="-120"/>
              </a:rPr>
              <a:t>Definition of Graph Neural Networks</a:t>
            </a:r>
            <a:endParaRPr lang="en-US" sz="1600" dirty="0"/>
          </a:p>
        </p:txBody>
      </p:sp>
      <p:sp>
        <p:nvSpPr>
          <p:cNvPr id="34" name="Text 32"/>
          <p:cNvSpPr/>
          <p:nvPr/>
        </p:nvSpPr>
        <p:spPr>
          <a:xfrm>
            <a:off x="1515110" y="2399665"/>
            <a:ext cx="2301875" cy="3259138"/>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Graph Neural Networks (GNNs) are neural networks designed to operate on graph-structured data. They generalize traditional neural networks to handle data represented as graphs, where nodes represent entities and edges represent relationships between them. This allows GNNs to capture complex dependencies and interactions in the data.</a:t>
            </a:r>
            <a:endParaRPr lang="en-US" sz="1600" dirty="0"/>
          </a:p>
        </p:txBody>
      </p:sp>
      <p:sp>
        <p:nvSpPr>
          <p:cNvPr id="35" name="Shape 33"/>
          <p:cNvSpPr/>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nvSpPr>
        <p:spPr>
          <a:xfrm>
            <a:off x="4693920" y="188531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Key Components of GNNs</a:t>
            </a:r>
            <a:endParaRPr lang="en-US" sz="1600" dirty="0"/>
          </a:p>
        </p:txBody>
      </p:sp>
      <p:sp>
        <p:nvSpPr>
          <p:cNvPr id="52" name="Text 50"/>
          <p:cNvSpPr/>
          <p:nvPr/>
        </p:nvSpPr>
        <p:spPr>
          <a:xfrm>
            <a:off x="4747260" y="2372995"/>
            <a:ext cx="2301875" cy="3259138"/>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The key components of GNNs include nodes, edges, and the graph structure itself. Nodes can have features, and edges can have weights or types. The graph structure defines how information is propagated between nodes. GNNs use message passing mechanisms to aggregate information from neighboring nodes and update node representations.</a:t>
            </a:r>
            <a:endParaRPr lang="en-US" sz="1600" dirty="0"/>
          </a:p>
        </p:txBody>
      </p:sp>
      <p:sp>
        <p:nvSpPr>
          <p:cNvPr id="53" name="Shape 51"/>
          <p:cNvSpPr/>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nvSpPr>
        <p:spPr>
          <a:xfrm>
            <a:off x="8061960" y="1845945"/>
            <a:ext cx="3122930" cy="245467"/>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Advantages of GNNs</a:t>
            </a:r>
            <a:endParaRPr lang="en-US" sz="1600" dirty="0"/>
          </a:p>
        </p:txBody>
      </p:sp>
      <p:sp>
        <p:nvSpPr>
          <p:cNvPr id="70" name="Text 68"/>
          <p:cNvSpPr/>
          <p:nvPr/>
        </p:nvSpPr>
        <p:spPr>
          <a:xfrm>
            <a:off x="8064500" y="2333625"/>
            <a:ext cx="2301875" cy="2987477"/>
          </a:xfrm>
          <a:prstGeom prst="rect">
            <a:avLst/>
          </a:prstGeom>
          <a:noFill/>
        </p:spPr>
        <p:txBody>
          <a:bodyPr wrap="square" lIns="0" tIns="0" rIns="0" bIns="0" rtlCol="0" anchor="t">
            <a:spAutoFit/>
          </a:bodyPr>
          <a:lstStyle/>
          <a:p>
            <a:pPr marL="0" indent="0" algn="just">
              <a:lnSpc>
                <a:spcPct val="130000"/>
              </a:lnSpc>
              <a:buNone/>
            </a:pPr>
            <a:r>
              <a:rPr lang="en-US" sz="1200" dirty="0">
                <a:solidFill>
                  <a:srgbClr val="2B2F36"/>
                </a:solidFill>
                <a:latin typeface="MiSans" pitchFamily="34" charset="-122"/>
                <a:ea typeface="MiSans" pitchFamily="34" charset="-122"/>
                <a:cs typeface="MiSans" pitchFamily="34" charset="-120"/>
              </a:rPr>
              <a:t>GNNs offer several advantages over traditional neural networks. They can handle irregular data structures, capture long-range dependencies, and are highly expressive. These properties make GNNs suitable for a wide range of applications, including social network analysis, molecular chemistry, and recommendation systems.</a:t>
            </a: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nvSpPr>
        <p:spPr>
          <a:xfrm>
            <a:off x="4180840" y="4848225"/>
            <a:ext cx="631190" cy="626745"/>
          </a:xfrm>
          <a:prstGeom prst="ellipse">
            <a:avLst/>
          </a:prstGeom>
          <a:solidFill>
            <a:srgbClr val="017ED5">
              <a:alpha val="5098"/>
            </a:srgbClr>
          </a:solidFill>
        </p:spPr>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nvSpPr>
        <p:spPr>
          <a:xfrm>
            <a:off x="4261432" y="4928249"/>
            <a:ext cx="470007" cy="466697"/>
          </a:xfrm>
          <a:prstGeom prst="ellipse">
            <a:avLst/>
          </a:prstGeom>
          <a:solidFill>
            <a:srgbClr val="5E927D">
              <a:alpha val="18039"/>
            </a:srgbClr>
          </a:solidFill>
        </p:spPr>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nvSpPr>
        <p:spPr>
          <a:xfrm>
            <a:off x="7498080" y="4838065"/>
            <a:ext cx="631190" cy="626745"/>
          </a:xfrm>
          <a:prstGeom prst="ellipse">
            <a:avLst/>
          </a:prstGeom>
          <a:solidFill>
            <a:srgbClr val="017ED5">
              <a:alpha val="5098"/>
            </a:srgbClr>
          </a:solidFill>
        </p:spPr>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nvSpPr>
        <p:spPr>
          <a:xfrm>
            <a:off x="7578672" y="4918089"/>
            <a:ext cx="470007" cy="466697"/>
          </a:xfrm>
          <a:prstGeom prst="ellipse">
            <a:avLst/>
          </a:prstGeom>
          <a:solidFill>
            <a:srgbClr val="5E927D">
              <a:alpha val="18039"/>
            </a:srgbClr>
          </a:solidFill>
        </p:spPr>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nvPicPr>
        <p:blipFill>
          <a:blip r:embed="rId1"/>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nvPicPr>
        <p:blipFill>
          <a:blip r:embed="rId1"/>
          <a:stretch>
            <a:fillRect/>
          </a:stretch>
        </p:blipFill>
        <p:spPr>
          <a:xfrm>
            <a:off x="4491355" y="2070735"/>
            <a:ext cx="18415" cy="2688590"/>
          </a:xfrm>
          <a:prstGeom prst="rect">
            <a:avLst/>
          </a:prstGeom>
        </p:spPr>
      </p:pic>
      <p:pic>
        <p:nvPicPr>
          <p:cNvPr id="91" name="Image 2" descr="https://test-kimi-img.moonshot.cn/pub/slides/slides_tmpl/image/25-05-30-10:51:03-d0shq5s75iks832je5c0.png"/>
          <p:cNvPicPr>
            <a:picLocks noChangeAspect="1"/>
          </p:cNvPicPr>
          <p:nvPr/>
        </p:nvPicPr>
        <p:blipFill>
          <a:blip r:embed="rId1"/>
          <a:stretch>
            <a:fillRect/>
          </a:stretch>
        </p:blipFill>
        <p:spPr>
          <a:xfrm>
            <a:off x="7863205" y="2070735"/>
            <a:ext cx="18415" cy="2688590"/>
          </a:xfrm>
          <a:prstGeom prst="rect">
            <a:avLst/>
          </a:prstGeom>
        </p:spPr>
      </p:pic>
      <p:sp>
        <p:nvSpPr>
          <p:cNvPr id="92" name="Shape 87"/>
          <p:cNvSpPr/>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4" name="Shape 89"/>
          <p:cNvSpPr/>
          <p:nvPr/>
        </p:nvSpPr>
        <p:spPr>
          <a:xfrm>
            <a:off x="4473999" y="1883331"/>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sp>
      <p:sp>
        <p:nvSpPr>
          <p:cNvPr id="95" name="Shape 90"/>
          <p:cNvSpPr/>
          <p:nvPr/>
        </p:nvSpPr>
        <p:spPr>
          <a:xfrm>
            <a:off x="7746365" y="184594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sp>
      <p:sp>
        <p:nvSpPr>
          <p:cNvPr id="96" name="Text 91"/>
          <p:cNvSpPr/>
          <p:nvPr/>
        </p:nvSpPr>
        <p:spPr>
          <a:xfrm>
            <a:off x="7746365" y="184594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History of Graph Representation Learning</a:t>
            </a:r>
            <a:endParaRPr lang="en-US" sz="2800" b="1" dirty="0">
              <a:solidFill>
                <a:srgbClr val="2F493E"/>
              </a:solidFill>
              <a:latin typeface="MiSans" pitchFamily="34" charset="-122"/>
              <a:ea typeface="MiSans" pitchFamily="34" charset="-122"/>
              <a:cs typeface="MiSans" pitchFamily="34" charset="-120"/>
            </a:endParaRPr>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97" name="Picture 7"/>
          <p:cNvPicPr>
            <a:picLocks noChangeAspect="1"/>
          </p:cNvPicPr>
          <p:nvPr/>
        </p:nvPicPr>
        <p:blipFill>
          <a:blip r:embed="rId1"/>
          <a:stretch>
            <a:fillRect/>
          </a:stretch>
        </p:blipFill>
        <p:spPr>
          <a:xfrm>
            <a:off x="1804035" y="867410"/>
            <a:ext cx="8474710" cy="589915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773170" y="1443355"/>
            <a:ext cx="8102600" cy="4499610"/>
          </a:xfrm>
          <a:prstGeom prst="roundRect">
            <a:avLst>
              <a:gd name="adj" fmla="val 50000"/>
            </a:avLst>
          </a:prstGeom>
          <a:solidFill>
            <a:srgbClr val="000000">
              <a:alpha val="0"/>
            </a:srgbClr>
          </a:solidFill>
          <a:ln w="19050">
            <a:gradFill flip="none" rotWithShape="1">
              <a:gsLst>
                <a:gs pos="0">
                  <a:srgbClr val="E0E9C9"/>
                </a:gs>
                <a:gs pos="50000">
                  <a:srgbClr val="FFFFFF">
                    <a:alpha val="0"/>
                  </a:srgbClr>
                </a:gs>
              </a:gsLst>
              <a:lin ang="10800000" scaled="1"/>
            </a:gradFill>
            <a:prstDash val="solid"/>
          </a:ln>
        </p:spPr>
      </p:sp>
      <p:sp>
        <p:nvSpPr>
          <p:cNvPr id="3" name="Text 1"/>
          <p:cNvSpPr/>
          <p:nvPr/>
        </p:nvSpPr>
        <p:spPr>
          <a:xfrm>
            <a:off x="-3773170" y="1443355"/>
            <a:ext cx="8102600" cy="449961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3471545" y="1610995"/>
            <a:ext cx="7499350" cy="4164330"/>
          </a:xfrm>
          <a:prstGeom prst="roundRect">
            <a:avLst>
              <a:gd name="adj" fmla="val 50000"/>
            </a:avLst>
          </a:prstGeom>
          <a:solidFill>
            <a:srgbClr val="2F493E">
              <a:alpha val="23137"/>
            </a:srgbClr>
          </a:solidFill>
        </p:spPr>
      </p:sp>
      <p:sp>
        <p:nvSpPr>
          <p:cNvPr id="5" name="Text 3"/>
          <p:cNvSpPr/>
          <p:nvPr/>
        </p:nvSpPr>
        <p:spPr>
          <a:xfrm>
            <a:off x="-3471545" y="1610995"/>
            <a:ext cx="7499350" cy="416433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6" name="Image 0" descr="https://test-kimi-img.moonshot.cn/pub/slides/slides_tmpl/image/25-05-30-10:51:05-d0shq6c75iks832je5cg.png"/>
          <p:cNvPicPr>
            <a:picLocks noChangeAspect="1"/>
          </p:cNvPicPr>
          <p:nvPr/>
        </p:nvPicPr>
        <p:blipFill>
          <a:blip r:embed="rId1"/>
          <a:srcRect r="9"/>
          <a:stretch>
            <a:fillRect/>
          </a:stretch>
        </p:blipFill>
        <p:spPr>
          <a:xfrm>
            <a:off x="-3074035" y="1831975"/>
            <a:ext cx="6704965" cy="3723005"/>
          </a:xfrm>
          <a:prstGeom prst="rect">
            <a:avLst/>
          </a:prstGeom>
        </p:spPr>
      </p:pic>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Future Work and Recommendations</a:t>
            </a:r>
            <a:endParaRPr lang="en-US" sz="1600" dirty="0"/>
          </a:p>
        </p:txBody>
      </p:sp>
      <p:sp>
        <p:nvSpPr>
          <p:cNvPr id="12" name="Shape 9"/>
          <p:cNvSpPr/>
          <p:nvPr/>
        </p:nvSpPr>
        <p:spPr>
          <a:xfrm>
            <a:off x="2808605" y="1239520"/>
            <a:ext cx="652145" cy="663575"/>
          </a:xfrm>
          <a:prstGeom prst="ellipse">
            <a:avLst/>
          </a:prstGeom>
          <a:solidFill>
            <a:srgbClr val="B4CA7C"/>
          </a:solidFill>
        </p:spPr>
      </p:sp>
      <p:sp>
        <p:nvSpPr>
          <p:cNvPr id="13" name="Text 10"/>
          <p:cNvSpPr/>
          <p:nvPr/>
        </p:nvSpPr>
        <p:spPr>
          <a:xfrm>
            <a:off x="2808605" y="12395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4" name="Shape 11"/>
          <p:cNvSpPr/>
          <p:nvPr/>
        </p:nvSpPr>
        <p:spPr>
          <a:xfrm>
            <a:off x="4010025" y="3220720"/>
            <a:ext cx="652145" cy="663575"/>
          </a:xfrm>
          <a:prstGeom prst="ellipse">
            <a:avLst/>
          </a:prstGeom>
          <a:solidFill>
            <a:srgbClr val="B4CA7C"/>
          </a:solidFill>
        </p:spPr>
      </p:sp>
      <p:sp>
        <p:nvSpPr>
          <p:cNvPr id="15" name="Text 12"/>
          <p:cNvSpPr/>
          <p:nvPr/>
        </p:nvSpPr>
        <p:spPr>
          <a:xfrm>
            <a:off x="4010025" y="322072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3161030" y="5215890"/>
            <a:ext cx="652145" cy="663575"/>
          </a:xfrm>
          <a:prstGeom prst="ellipse">
            <a:avLst/>
          </a:prstGeom>
          <a:solidFill>
            <a:srgbClr val="B4CA7C"/>
          </a:solidFill>
        </p:spPr>
      </p:sp>
      <p:sp>
        <p:nvSpPr>
          <p:cNvPr id="17" name="Text 14"/>
          <p:cNvSpPr/>
          <p:nvPr/>
        </p:nvSpPr>
        <p:spPr>
          <a:xfrm>
            <a:off x="3161030" y="5215890"/>
            <a:ext cx="652145" cy="6635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8" name="Text 15"/>
          <p:cNvSpPr/>
          <p:nvPr/>
        </p:nvSpPr>
        <p:spPr>
          <a:xfrm>
            <a:off x="2846705" y="1313815"/>
            <a:ext cx="5918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01</a:t>
            </a:r>
            <a:endParaRPr lang="en-US" sz="1600" dirty="0"/>
          </a:p>
        </p:txBody>
      </p:sp>
      <p:sp>
        <p:nvSpPr>
          <p:cNvPr id="19" name="Text 16"/>
          <p:cNvSpPr/>
          <p:nvPr/>
        </p:nvSpPr>
        <p:spPr>
          <a:xfrm>
            <a:off x="4027170" y="3285490"/>
            <a:ext cx="642620"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02</a:t>
            </a:r>
            <a:endParaRPr lang="en-US" sz="1600" dirty="0"/>
          </a:p>
        </p:txBody>
      </p:sp>
      <p:sp>
        <p:nvSpPr>
          <p:cNvPr id="20" name="Text 17"/>
          <p:cNvSpPr/>
          <p:nvPr/>
        </p:nvSpPr>
        <p:spPr>
          <a:xfrm>
            <a:off x="3167380" y="5291455"/>
            <a:ext cx="667385" cy="429617"/>
          </a:xfrm>
          <a:prstGeom prst="rect">
            <a:avLst/>
          </a:prstGeom>
          <a:noFill/>
        </p:spPr>
        <p:txBody>
          <a:bodyPr wrap="square" lIns="91440" tIns="45720" rIns="91440" bIns="45720" rtlCol="0" anchor="t">
            <a:spAutoFit/>
          </a:bodyPr>
          <a:lstStyle/>
          <a:p>
            <a:pPr marL="0" indent="0" algn="l">
              <a:lnSpc>
                <a:spcPct val="100000"/>
              </a:lnSpc>
              <a:buNone/>
            </a:pPr>
            <a:r>
              <a:rPr lang="en-US" sz="2800" dirty="0">
                <a:solidFill>
                  <a:srgbClr val="FFFFFF"/>
                </a:solidFill>
                <a:latin typeface="MiSans" pitchFamily="34" charset="-122"/>
                <a:ea typeface="MiSans" pitchFamily="34" charset="-122"/>
                <a:cs typeface="MiSans" pitchFamily="34" charset="-120"/>
              </a:rPr>
              <a:t>03</a:t>
            </a:r>
            <a:endParaRPr lang="en-US" sz="1600" dirty="0"/>
          </a:p>
        </p:txBody>
      </p:sp>
      <p:sp>
        <p:nvSpPr>
          <p:cNvPr id="21" name="Text 18"/>
          <p:cNvSpPr/>
          <p:nvPr/>
        </p:nvSpPr>
        <p:spPr>
          <a:xfrm>
            <a:off x="4210685" y="124650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Research and Development</a:t>
            </a:r>
            <a:endParaRPr lang="en-US" sz="1600" dirty="0"/>
          </a:p>
        </p:txBody>
      </p:sp>
      <p:sp>
        <p:nvSpPr>
          <p:cNvPr id="22" name="Text 19"/>
          <p:cNvSpPr/>
          <p:nvPr/>
        </p:nvSpPr>
        <p:spPr>
          <a:xfrm>
            <a:off x="4210685" y="1703070"/>
            <a:ext cx="683895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Future work should focus on addressing the challenges of GNNs, such as scalability, overfitting, and interpretability. Developing more efficient algorithms, regularization techniques, and interpretable models will be crucial for the advancement of GNN research.</a:t>
            </a:r>
            <a:endParaRPr lang="en-US" sz="1600" dirty="0"/>
          </a:p>
        </p:txBody>
      </p:sp>
      <p:sp>
        <p:nvSpPr>
          <p:cNvPr id="23" name="Text 20"/>
          <p:cNvSpPr/>
          <p:nvPr/>
        </p:nvSpPr>
        <p:spPr>
          <a:xfrm>
            <a:off x="4027170" y="5546725"/>
            <a:ext cx="6839585"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Building a strong community and fostering collaboration among researchers, developers, and practitioners will be essential for the growth and development of GNNs. Sharing knowledge, resources, and best practices will accelerate the progress and adoption of GNNs in various fields.</a:t>
            </a:r>
            <a:endParaRPr lang="en-US" sz="1600" dirty="0"/>
          </a:p>
        </p:txBody>
      </p:sp>
      <p:sp>
        <p:nvSpPr>
          <p:cNvPr id="24" name="Text 21"/>
          <p:cNvSpPr/>
          <p:nvPr/>
        </p:nvSpPr>
        <p:spPr>
          <a:xfrm>
            <a:off x="4027170" y="5089525"/>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Community and Collaboration</a:t>
            </a:r>
            <a:endParaRPr lang="en-US" sz="1600" dirty="0"/>
          </a:p>
        </p:txBody>
      </p:sp>
      <p:sp>
        <p:nvSpPr>
          <p:cNvPr id="25" name="Text 22"/>
          <p:cNvSpPr/>
          <p:nvPr/>
        </p:nvSpPr>
        <p:spPr>
          <a:xfrm>
            <a:off x="4859020" y="3302000"/>
            <a:ext cx="6838950" cy="306784"/>
          </a:xfrm>
          <a:prstGeom prst="rect">
            <a:avLst/>
          </a:prstGeom>
          <a:noFill/>
        </p:spPr>
        <p:txBody>
          <a:bodyPr wrap="square" lIns="91440" tIns="45720" rIns="91440" bIns="45720" rtlCol="0" anchor="t">
            <a:spAutoFit/>
          </a:bodyPr>
          <a:lstStyle/>
          <a:p>
            <a:pPr marL="0" indent="0" algn="l">
              <a:lnSpc>
                <a:spcPct val="100000"/>
              </a:lnSpc>
              <a:buNone/>
            </a:pPr>
            <a:r>
              <a:rPr lang="en-US" sz="2000" b="1" dirty="0">
                <a:solidFill>
                  <a:srgbClr val="5E927D"/>
                </a:solidFill>
                <a:latin typeface="MiSans" pitchFamily="34" charset="-122"/>
                <a:ea typeface="MiSans" pitchFamily="34" charset="-122"/>
                <a:cs typeface="MiSans" pitchFamily="34" charset="-120"/>
              </a:rPr>
              <a:t>Practical Applications</a:t>
            </a:r>
            <a:endParaRPr lang="en-US" sz="1600" dirty="0"/>
          </a:p>
        </p:txBody>
      </p:sp>
      <p:sp>
        <p:nvSpPr>
          <p:cNvPr id="26" name="Text 23"/>
          <p:cNvSpPr/>
          <p:nvPr/>
        </p:nvSpPr>
        <p:spPr>
          <a:xfrm>
            <a:off x="4859020" y="3758565"/>
            <a:ext cx="683895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In practical applications, it is important to carefully select and preprocess the data, choose appropriate GNN models, and evaluate their performance rigorously. Collaboration between researchers and practitioners will help bridge the gap between theoretical research and real-world applications.</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8075930" y="1837690"/>
            <a:ext cx="1522730"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06</a:t>
            </a:r>
            <a:endParaRPr lang="en-US" sz="1600" dirty="0"/>
          </a:p>
        </p:txBody>
      </p:sp>
      <p:sp>
        <p:nvSpPr>
          <p:cNvPr id="7" name="Text 3"/>
          <p:cNvSpPr/>
          <p:nvPr/>
        </p:nvSpPr>
        <p:spPr>
          <a:xfrm>
            <a:off x="5979795" y="3223895"/>
            <a:ext cx="5714365" cy="1445260"/>
          </a:xfrm>
          <a:prstGeom prst="rect">
            <a:avLst/>
          </a:prstGeom>
          <a:noFill/>
        </p:spPr>
        <p:txBody>
          <a:bodyPr wrap="square" lIns="91440" tIns="45720" rIns="91440" bIns="45720" rtlCol="0" anchor="t">
            <a:spAutoFit/>
          </a:bodyPr>
          <a:lstStyle/>
          <a:p>
            <a:pPr marL="0" indent="0" algn="ctr">
              <a:lnSpc>
                <a:spcPct val="100000"/>
              </a:lnSpc>
              <a:buNone/>
            </a:pPr>
            <a:r>
              <a:rPr lang="en-US" altLang="zh-CN" sz="4400" dirty="0"/>
              <a:t>Federated Learning and Data Privacy Protection</a:t>
            </a:r>
            <a:endParaRPr lang="en-US" altLang="zh-CN" sz="4400" dirty="0"/>
          </a:p>
        </p:txBody>
      </p:sp>
      <p:sp>
        <p:nvSpPr>
          <p:cNvPr id="8" name="Text 4"/>
          <p:cNvSpPr/>
          <p:nvPr/>
        </p:nvSpPr>
        <p:spPr>
          <a:xfrm>
            <a:off x="649605" y="269240"/>
            <a:ext cx="4064000" cy="276225"/>
          </a:xfrm>
          <a:prstGeom prst="rect">
            <a:avLst/>
          </a:prstGeom>
          <a:noFill/>
        </p:spPr>
        <p:txBody>
          <a:bodyPr wrap="square" lIns="91440" tIns="45720" rIns="91440" bIns="45720" rtlCol="0" anchor="t">
            <a:spAutoFit/>
          </a:bodyPr>
          <a:lstStyle/>
          <a:p>
            <a:pPr marL="0" indent="0" algn="l">
              <a:lnSpc>
                <a:spcPct val="100000"/>
              </a:lnSpc>
              <a:buNone/>
            </a:pPr>
            <a:r>
              <a:rPr lang="en-US" sz="1800" b="1" dirty="0">
                <a:solidFill>
                  <a:srgbClr val="000000"/>
                </a:solidFill>
                <a:latin typeface="MiSans" pitchFamily="34" charset="-122"/>
                <a:ea typeface="MiSans" pitchFamily="34" charset="-122"/>
                <a:cs typeface="MiSans" pitchFamily="34" charset="-120"/>
              </a:rPr>
              <a:t>YOUR LOGO</a:t>
            </a: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60375"/>
          </a:xfrm>
          <a:prstGeom prst="rect">
            <a:avLst/>
          </a:prstGeom>
          <a:noFill/>
        </p:spPr>
        <p:txBody>
          <a:bodyPr wrap="square" lIns="91440" tIns="45720" rIns="91440" bIns="45720" rtlCol="0" anchor="t">
            <a:spAutoFit/>
          </a:bodyPr>
          <a:lstStyle/>
          <a:p>
            <a:pPr marL="0" indent="0" algn="l">
              <a:lnSpc>
                <a:spcPct val="100000"/>
              </a:lnSpc>
              <a:buNone/>
            </a:pPr>
            <a:r>
              <a:rPr lang="en-US" altLang="zh-CN" sz="2400" dirty="0">
                <a:solidFill>
                  <a:srgbClr val="000000"/>
                </a:solidFill>
                <a:latin typeface="MiSans" pitchFamily="34" charset="-122"/>
                <a:ea typeface="MiSans" pitchFamily="34" charset="-122"/>
                <a:cs typeface="MiSans" pitchFamily="34" charset="-120"/>
                <a:sym typeface="+mn-ea"/>
              </a:rPr>
              <a:t>Foundations and Motivation of Federated Learning</a:t>
            </a:r>
            <a:endParaRPr lang="en-US" altLang="zh-CN" sz="2400" dirty="0"/>
          </a:p>
        </p:txBody>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4871720" y="324929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765810" y="1377315"/>
            <a:ext cx="9381490" cy="70421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22" name="Text 19"/>
          <p:cNvSpPr/>
          <p:nvPr/>
        </p:nvSpPr>
        <p:spPr>
          <a:xfrm>
            <a:off x="2032000" y="1793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333333"/>
                </a:solidFill>
                <a:latin typeface="MiSans" pitchFamily="34" charset="-122"/>
                <a:ea typeface="MiSans" pitchFamily="34" charset="-122"/>
                <a:cs typeface="MiSans" pitchFamily="34" charset="-120"/>
              </a:rPr>
              <a:t> </a:t>
            </a:r>
            <a:endParaRPr lang="en-US" sz="1600" dirty="0"/>
          </a:p>
        </p:txBody>
      </p:sp>
      <p:sp>
        <p:nvSpPr>
          <p:cNvPr id="18" name="文本框 17"/>
          <p:cNvSpPr txBox="1"/>
          <p:nvPr/>
        </p:nvSpPr>
        <p:spPr>
          <a:xfrm>
            <a:off x="924560" y="1377315"/>
            <a:ext cx="9365615" cy="706755"/>
          </a:xfrm>
          <a:prstGeom prst="rect">
            <a:avLst/>
          </a:prstGeom>
          <a:noFill/>
        </p:spPr>
        <p:txBody>
          <a:bodyPr wrap="square" rtlCol="0">
            <a:spAutoFit/>
          </a:bodyPr>
          <a:p>
            <a:r>
              <a:rPr lang="en-US" altLang="zh-CN" sz="2000"/>
              <a:t>Definition: A distributed machine learning paradigm where data remains local, and only model updates (e.g., gradients or weights) are shared with a central server.</a:t>
            </a:r>
            <a:endParaRPr lang="en-US" altLang="zh-CN" sz="2000"/>
          </a:p>
        </p:txBody>
      </p:sp>
      <p:sp>
        <p:nvSpPr>
          <p:cNvPr id="19" name="Shape 13"/>
          <p:cNvSpPr/>
          <p:nvPr/>
        </p:nvSpPr>
        <p:spPr>
          <a:xfrm>
            <a:off x="800100" y="2684145"/>
            <a:ext cx="2839085" cy="704215"/>
          </a:xfrm>
          <a:prstGeom prst="roundRect">
            <a:avLst>
              <a:gd name="adj" fmla="val 10513"/>
            </a:avLst>
          </a:prstGeom>
          <a:solidFill>
            <a:srgbClr val="FFFFFF"/>
          </a:solidFill>
          <a:ln w="12700">
            <a:solidFill>
              <a:srgbClr val="2F493E"/>
            </a:solidFill>
            <a:prstDash val="solid"/>
          </a:ln>
          <a:effectLst>
            <a:outerShdw blurRad="50800" dist="38100" dir="2700000" algn="bl" rotWithShape="0">
              <a:srgbClr val="000000">
                <a:alpha val="40000"/>
              </a:srgbClr>
            </a:outerShdw>
          </a:effectLst>
        </p:spPr>
      </p:sp>
      <p:sp>
        <p:nvSpPr>
          <p:cNvPr id="27" name="文本框 26"/>
          <p:cNvSpPr txBox="1"/>
          <p:nvPr/>
        </p:nvSpPr>
        <p:spPr>
          <a:xfrm>
            <a:off x="800100" y="2850515"/>
            <a:ext cx="3052445" cy="398780"/>
          </a:xfrm>
          <a:prstGeom prst="rect">
            <a:avLst/>
          </a:prstGeom>
          <a:noFill/>
        </p:spPr>
        <p:txBody>
          <a:bodyPr wrap="square" rtlCol="0">
            <a:spAutoFit/>
          </a:bodyPr>
          <a:p>
            <a:r>
              <a:rPr lang="en-US" altLang="zh-CN" sz="2000"/>
              <a:t>Why Federated Learning?</a:t>
            </a:r>
            <a:endParaRPr lang="en-US" altLang="zh-CN" sz="2000"/>
          </a:p>
        </p:txBody>
      </p:sp>
      <p:sp>
        <p:nvSpPr>
          <p:cNvPr id="28" name="文本框 27"/>
          <p:cNvSpPr txBox="1"/>
          <p:nvPr/>
        </p:nvSpPr>
        <p:spPr>
          <a:xfrm>
            <a:off x="1717675" y="3657600"/>
            <a:ext cx="7402195" cy="1014730"/>
          </a:xfrm>
          <a:prstGeom prst="rect">
            <a:avLst/>
          </a:prstGeom>
          <a:noFill/>
        </p:spPr>
        <p:txBody>
          <a:bodyPr wrap="square" rtlCol="0">
            <a:spAutoFit/>
          </a:bodyPr>
          <a:p>
            <a:pPr marL="342900" indent="-342900">
              <a:buFont typeface="Arial" panose="020B0604020202020204" pitchFamily="34" charset="0"/>
              <a:buChar char="•"/>
            </a:pPr>
            <a:r>
              <a:rPr lang="en-US" altLang="zh-CN" sz="2000"/>
              <a:t>Data privacy regulations (e.g., GDPR, HIPAA)</a:t>
            </a:r>
            <a:endParaRPr lang="en-US" altLang="zh-CN" sz="2000"/>
          </a:p>
          <a:p>
            <a:pPr marL="342900" indent="-342900">
              <a:buFont typeface="Arial" panose="020B0604020202020204" pitchFamily="34" charset="0"/>
              <a:buChar char="•"/>
            </a:pPr>
            <a:r>
              <a:rPr lang="en-US" altLang="zh-CN" sz="2000"/>
              <a:t>Data silos (e.g., hospitals, banks)</a:t>
            </a:r>
            <a:endParaRPr lang="en-US" altLang="zh-CN" sz="2000"/>
          </a:p>
          <a:p>
            <a:pPr marL="342900" indent="-342900">
              <a:buFont typeface="Arial" panose="020B0604020202020204" pitchFamily="34" charset="0"/>
              <a:buChar char="•"/>
            </a:pPr>
            <a:r>
              <a:rPr lang="en-US" altLang="zh-CN" sz="2000"/>
              <a:t>Edge intelligence: computation on mobile/IoT devices</a:t>
            </a:r>
            <a:endParaRPr lang="en-US" altLang="zh-CN" sz="20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60375"/>
          </a:xfrm>
          <a:prstGeom prst="rect">
            <a:avLst/>
          </a:prstGeom>
          <a:noFill/>
        </p:spPr>
        <p:txBody>
          <a:bodyPr wrap="square" lIns="91440" tIns="45720" rIns="91440" bIns="45720" rtlCol="0" anchor="t">
            <a:spAutoFit/>
          </a:bodyPr>
          <a:lstStyle/>
          <a:p>
            <a:pPr marL="0" indent="0" algn="just">
              <a:lnSpc>
                <a:spcPct val="100000"/>
              </a:lnSpc>
              <a:buNone/>
            </a:pPr>
            <a:r>
              <a:rPr lang="en-US" altLang="zh-CN" sz="2400" dirty="0"/>
              <a:t>​​Key Components</a:t>
            </a:r>
            <a:endParaRPr lang="en-US" altLang="zh-CN" sz="2400" dirty="0"/>
          </a:p>
        </p:txBody>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4871720" y="324929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8" name="文本框 37"/>
          <p:cNvSpPr txBox="1"/>
          <p:nvPr/>
        </p:nvSpPr>
        <p:spPr>
          <a:xfrm>
            <a:off x="683260" y="1555750"/>
            <a:ext cx="5474335" cy="1630045"/>
          </a:xfrm>
          <a:prstGeom prst="rect">
            <a:avLst/>
          </a:prstGeom>
          <a:noFill/>
        </p:spPr>
        <p:txBody>
          <a:bodyPr wrap="square" rtlCol="0">
            <a:spAutoFit/>
          </a:bodyPr>
          <a:p>
            <a:pPr marL="342900" indent="-342900">
              <a:buFont typeface="Arial" panose="020B0604020202020204" pitchFamily="34" charset="0"/>
              <a:buChar char="•"/>
            </a:pPr>
            <a:r>
              <a:rPr lang="en-US" altLang="zh-CN" sz="2000"/>
              <a:t>Client: owns local data, trains model locally</a:t>
            </a:r>
            <a:endParaRPr lang="en-US" altLang="zh-CN" sz="2000"/>
          </a:p>
          <a:p>
            <a:pPr marL="342900" indent="-342900">
              <a:buFont typeface="Arial" panose="020B0604020202020204" pitchFamily="34" charset="0"/>
              <a:buChar char="•"/>
            </a:pPr>
            <a:r>
              <a:rPr lang="en-US" altLang="zh-CN" sz="2000"/>
              <a:t>Server: coordinates training, aggregates updates</a:t>
            </a:r>
            <a:endParaRPr lang="en-US" altLang="zh-CN" sz="2000"/>
          </a:p>
          <a:p>
            <a:pPr marL="342900" indent="-342900">
              <a:buFont typeface="Arial" panose="020B0604020202020204" pitchFamily="34" charset="0"/>
              <a:buChar char="•"/>
            </a:pPr>
            <a:r>
              <a:rPr lang="en-US" altLang="zh-CN" sz="2000"/>
              <a:t>Communication rounds: global aggregation cycle</a:t>
            </a:r>
            <a:endParaRPr lang="en-US" altLang="zh-CN" sz="2000"/>
          </a:p>
        </p:txBody>
      </p:sp>
      <p:pic>
        <p:nvPicPr>
          <p:cNvPr id="4" name="图片 3" descr="ChatGPT Image 2025年7月5日 14_30_57"/>
          <p:cNvPicPr>
            <a:picLocks noChangeAspect="1"/>
          </p:cNvPicPr>
          <p:nvPr/>
        </p:nvPicPr>
        <p:blipFill>
          <a:blip r:embed="rId1"/>
          <a:stretch>
            <a:fillRect/>
          </a:stretch>
        </p:blipFill>
        <p:spPr>
          <a:xfrm>
            <a:off x="6539865" y="1224280"/>
            <a:ext cx="5162550" cy="4182745"/>
          </a:xfrm>
          <a:prstGeom prst="rect">
            <a:avLst/>
          </a:prstGeom>
        </p:spPr>
      </p:pic>
      <p:sp>
        <p:nvSpPr>
          <p:cNvPr id="5" name="文本框 4"/>
          <p:cNvSpPr txBox="1"/>
          <p:nvPr/>
        </p:nvSpPr>
        <p:spPr>
          <a:xfrm>
            <a:off x="586105" y="3433445"/>
            <a:ext cx="5953760" cy="2306955"/>
          </a:xfrm>
          <a:prstGeom prst="rect">
            <a:avLst/>
          </a:prstGeom>
          <a:noFill/>
        </p:spPr>
        <p:txBody>
          <a:bodyPr wrap="square" rtlCol="0">
            <a:spAutoFit/>
          </a:bodyPr>
          <a:p>
            <a:r>
              <a:rPr lang="en-US" altLang="zh-CN"/>
              <a:t>This diagram shows the basic workflow of Federated Learning:</a:t>
            </a:r>
            <a:endParaRPr lang="en-US" altLang="zh-CN"/>
          </a:p>
          <a:p>
            <a:pPr marL="285750" indent="-285750">
              <a:buFont typeface="Arial" panose="020B0604020202020204" pitchFamily="34" charset="0"/>
              <a:buChar char="•"/>
            </a:pPr>
            <a:r>
              <a:rPr lang="en-US" altLang="zh-CN"/>
              <a:t>Multiple clients (like smartphones and laptops) train models locally without sharing raw data.</a:t>
            </a:r>
            <a:endParaRPr lang="en-US" altLang="zh-CN"/>
          </a:p>
          <a:p>
            <a:pPr marL="285750" indent="-285750">
              <a:buFont typeface="Arial" panose="020B0604020202020204" pitchFamily="34" charset="0"/>
              <a:buChar char="•"/>
            </a:pPr>
            <a:r>
              <a:rPr lang="en-US" altLang="zh-CN"/>
              <a:t>They send model updates to the central server.</a:t>
            </a:r>
            <a:endParaRPr lang="en-US" altLang="zh-CN"/>
          </a:p>
          <a:p>
            <a:pPr marL="285750" indent="-285750">
              <a:buFont typeface="Arial" panose="020B0604020202020204" pitchFamily="34" charset="0"/>
              <a:buChar char="•"/>
            </a:pPr>
            <a:r>
              <a:rPr lang="en-US" altLang="zh-CN"/>
              <a:t>The server aggregates the updates to create a new global model and distributes it back.</a:t>
            </a:r>
            <a:endParaRPr lang="en-US" altLang="zh-CN"/>
          </a:p>
          <a:p>
            <a:r>
              <a:rPr lang="en-US" altLang="zh-CN"/>
              <a:t>This loop repeats to enable privacy-preserving collaborative learning."</a:t>
            </a:r>
            <a:endParaRPr lang="en-US"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Federated Learning</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14" name="文本框 13"/>
          <p:cNvSpPr txBox="1"/>
          <p:nvPr/>
        </p:nvSpPr>
        <p:spPr>
          <a:xfrm>
            <a:off x="981710" y="1154430"/>
            <a:ext cx="10196830" cy="1285240"/>
          </a:xfrm>
          <a:prstGeom prst="rect">
            <a:avLst/>
          </a:prstGeom>
          <a:noFill/>
        </p:spPr>
        <p:txBody>
          <a:bodyPr wrap="square" rtlCol="0">
            <a:noAutofit/>
          </a:bodyPr>
          <a:lstStyle/>
          <a:p>
            <a:r>
              <a:rPr lang="en-US" altLang="zh-CN" sz="2000" dirty="0">
                <a:solidFill>
                  <a:srgbClr val="2B2F36"/>
                </a:solidFill>
                <a:latin typeface="MiSans" pitchFamily="34" charset="-122"/>
                <a:ea typeface="MiSans" pitchFamily="34" charset="-122"/>
                <a:cs typeface="MiSans" pitchFamily="34" charset="-120"/>
              </a:rPr>
              <a:t>Federated Learning (FL) is a distributed machine learning paradigm designed to train models across multiple decentralized devices or servers while keeping data localized. Unlike traditional centralized approaches—where data is aggregated into a single server—FL enables model training on edge devices (e.g., smartphones, IoT sensors) or local data centers, with only model updates (e.g., gradients, weights) shared between participants. This preserves data privacy, making it ideal for sensitive domains like healthcare, finance, and personal devices.</a:t>
            </a:r>
            <a:endParaRPr lang="en-US" altLang="zh-CN" sz="2000" dirty="0">
              <a:solidFill>
                <a:srgbClr val="2B2F36"/>
              </a:solidFill>
              <a:latin typeface="MiSans" pitchFamily="34" charset="-122"/>
              <a:ea typeface="MiSans" pitchFamily="34" charset="-122"/>
              <a:cs typeface="MiSans" pitchFamily="34" charset="-120"/>
            </a:endParaRPr>
          </a:p>
        </p:txBody>
      </p:sp>
      <p:pic>
        <p:nvPicPr>
          <p:cNvPr id="12" name="图片 11" descr="v2-05d008b0e621fcfd86ee22a7cd7b68fb_r"/>
          <p:cNvPicPr>
            <a:picLocks noChangeAspect="1"/>
          </p:cNvPicPr>
          <p:nvPr/>
        </p:nvPicPr>
        <p:blipFill>
          <a:blip r:embed="rId1"/>
          <a:stretch>
            <a:fillRect/>
          </a:stretch>
        </p:blipFill>
        <p:spPr>
          <a:xfrm>
            <a:off x="924560" y="1015365"/>
            <a:ext cx="10386060" cy="5842635"/>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3261995" cy="460375"/>
          </a:xfrm>
          <a:prstGeom prst="rect">
            <a:avLst/>
          </a:prstGeom>
          <a:noFill/>
        </p:spPr>
        <p:txBody>
          <a:bodyPr wrap="square" lIns="91440" tIns="45720" rIns="91440" bIns="45720" rtlCol="0" anchor="t">
            <a:spAutoFit/>
          </a:bodyPr>
          <a:lstStyle/>
          <a:p>
            <a:pPr marL="0" indent="0" algn="just">
              <a:lnSpc>
                <a:spcPct val="100000"/>
              </a:lnSpc>
              <a:buNone/>
            </a:pPr>
            <a:r>
              <a:rPr lang="en-US" altLang="zh-CN" sz="2400" dirty="0"/>
              <a:t>​​</a:t>
            </a:r>
            <a:r>
              <a:rPr lang="en-US" altLang="zh-CN" sz="2400" dirty="0">
                <a:sym typeface="+mn-ea"/>
              </a:rPr>
              <a:t>Where is FL going next?</a:t>
            </a:r>
            <a:endParaRPr lang="en-US" altLang="zh-CN" sz="2400" dirty="0"/>
          </a:p>
        </p:txBody>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4871720" y="324929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2" name="Text 19"/>
          <p:cNvSpPr/>
          <p:nvPr/>
        </p:nvSpPr>
        <p:spPr>
          <a:xfrm>
            <a:off x="2032000" y="1793240"/>
            <a:ext cx="4064000" cy="284559"/>
          </a:xfrm>
          <a:prstGeom prst="rect">
            <a:avLst/>
          </a:prstGeom>
          <a:noFill/>
        </p:spPr>
        <p:txBody>
          <a:bodyPr wrap="square" lIns="91440" tIns="45720" rIns="91440" bIns="45720" rtlCol="0" anchor="t">
            <a:spAutoFit/>
          </a:bodyPr>
          <a:lstStyle/>
          <a:p>
            <a:pPr marL="0" indent="0" algn="l">
              <a:lnSpc>
                <a:spcPct val="100000"/>
              </a:lnSpc>
              <a:buNone/>
            </a:pPr>
            <a:r>
              <a:rPr lang="en-US" sz="1800" dirty="0">
                <a:solidFill>
                  <a:srgbClr val="333333"/>
                </a:solidFill>
                <a:latin typeface="MiSans" pitchFamily="34" charset="-122"/>
                <a:ea typeface="MiSans" pitchFamily="34" charset="-122"/>
                <a:cs typeface="MiSans" pitchFamily="34" charset="-120"/>
              </a:rPr>
              <a:t> </a:t>
            </a:r>
            <a:endParaRPr lang="en-US" sz="1600" dirty="0"/>
          </a:p>
        </p:txBody>
      </p:sp>
      <p:pic>
        <p:nvPicPr>
          <p:cNvPr id="2" name="图片 1"/>
          <p:cNvPicPr>
            <a:picLocks noChangeAspect="1"/>
          </p:cNvPicPr>
          <p:nvPr/>
        </p:nvPicPr>
        <p:blipFill>
          <a:blip r:embed="rId1"/>
          <a:stretch>
            <a:fillRect/>
          </a:stretch>
        </p:blipFill>
        <p:spPr>
          <a:xfrm>
            <a:off x="1099185" y="1790065"/>
            <a:ext cx="10252075" cy="402018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8195945" y="1837690"/>
            <a:ext cx="1402715"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07</a:t>
            </a:r>
            <a:endParaRPr lang="en-US" sz="1600" dirty="0"/>
          </a:p>
        </p:txBody>
      </p:sp>
      <p:sp>
        <p:nvSpPr>
          <p:cNvPr id="7" name="Text 3"/>
          <p:cNvSpPr/>
          <p:nvPr/>
        </p:nvSpPr>
        <p:spPr>
          <a:xfrm>
            <a:off x="5979795" y="3223895"/>
            <a:ext cx="5835015" cy="2122805"/>
          </a:xfrm>
          <a:prstGeom prst="rect">
            <a:avLst/>
          </a:prstGeom>
          <a:noFill/>
        </p:spPr>
        <p:txBody>
          <a:bodyPr wrap="square" lIns="91440" tIns="45720" rIns="91440" bIns="45720" rtlCol="0" anchor="t">
            <a:spAutoFit/>
          </a:bodyPr>
          <a:lstStyle/>
          <a:p>
            <a:pPr marL="0" indent="0" algn="ctr">
              <a:lnSpc>
                <a:spcPct val="100000"/>
              </a:lnSpc>
              <a:buNone/>
            </a:pPr>
            <a:r>
              <a:rPr lang="en-US" altLang="zh-CN" sz="4400" dirty="0"/>
              <a:t>Quantum Computing and Intelligent Computing Convergence</a:t>
            </a:r>
            <a:endParaRPr lang="en-US" altLang="zh-CN" sz="4400" dirty="0"/>
          </a:p>
        </p:txBody>
      </p:sp>
      <p:sp>
        <p:nvSpPr>
          <p:cNvPr id="8" name="Text 4"/>
          <p:cNvSpPr/>
          <p:nvPr/>
        </p:nvSpPr>
        <p:spPr>
          <a:xfrm>
            <a:off x="649605" y="269240"/>
            <a:ext cx="4064000" cy="276225"/>
          </a:xfrm>
          <a:prstGeom prst="rect">
            <a:avLst/>
          </a:prstGeom>
          <a:noFill/>
        </p:spPr>
        <p:txBody>
          <a:bodyPr wrap="square" lIns="91440" tIns="45720" rIns="91440" bIns="45720" rtlCol="0" anchor="t">
            <a:spAutoFit/>
          </a:bodyPr>
          <a:lstStyle/>
          <a:p>
            <a:pPr marL="0" indent="0" algn="l">
              <a:lnSpc>
                <a:spcPct val="100000"/>
              </a:lnSpc>
              <a:buNone/>
            </a:pPr>
            <a:r>
              <a:rPr lang="en-US" sz="1800" b="1" dirty="0">
                <a:solidFill>
                  <a:srgbClr val="000000"/>
                </a:solidFill>
                <a:latin typeface="MiSans" pitchFamily="34" charset="-122"/>
                <a:ea typeface="MiSans" pitchFamily="34" charset="-122"/>
                <a:cs typeface="MiSans" pitchFamily="34" charset="-120"/>
              </a:rPr>
              <a:t>YOUR LOGO</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953135"/>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The Convergence of Quantum Computing and Artificial Intelligence</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14" name="文本框 13"/>
          <p:cNvSpPr txBox="1"/>
          <p:nvPr/>
        </p:nvSpPr>
        <p:spPr>
          <a:xfrm>
            <a:off x="997585" y="1379855"/>
            <a:ext cx="10610215" cy="5565775"/>
          </a:xfrm>
          <a:prstGeom prst="rect">
            <a:avLst/>
          </a:prstGeom>
          <a:noFill/>
        </p:spPr>
        <p:txBody>
          <a:bodyPr wrap="square" rtlCol="0">
            <a:noAutofit/>
          </a:bodyPr>
          <a:lstStyle/>
          <a:p>
            <a:pPr marL="342900" indent="-342900">
              <a:buFont typeface="Arial" panose="020B0604020202020204" pitchFamily="34" charset="0"/>
              <a:buChar char="•"/>
            </a:pPr>
            <a:r>
              <a:rPr lang="en-US" altLang="zh-CN" sz="2400" dirty="0">
                <a:solidFill>
                  <a:srgbClr val="2B2F36"/>
                </a:solidFill>
                <a:latin typeface="MiSans" pitchFamily="34" charset="-122"/>
                <a:ea typeface="MiSans" pitchFamily="34" charset="-122"/>
                <a:cs typeface="MiSans" pitchFamily="34" charset="-120"/>
              </a:rPr>
              <a:t>Quantum computing, a new computing model based on quantum mechanics, demonstrates enormous potential to outperform classical computers.</a:t>
            </a:r>
            <a:endParaRPr lang="en-US" altLang="zh-CN" sz="2400" dirty="0">
              <a:solidFill>
                <a:srgbClr val="2B2F36"/>
              </a:solidFill>
              <a:latin typeface="MiSans" pitchFamily="34" charset="-122"/>
              <a:ea typeface="MiSans" pitchFamily="34" charset="-122"/>
              <a:cs typeface="MiSans" pitchFamily="34" charset="-120"/>
            </a:endParaRPr>
          </a:p>
          <a:p>
            <a:pPr marL="342900" indent="-342900">
              <a:buFont typeface="Arial" panose="020B0604020202020204" pitchFamily="34" charset="0"/>
              <a:buChar char="•"/>
            </a:pPr>
            <a:endParaRPr lang="en-US" altLang="zh-CN" sz="2400" dirty="0">
              <a:solidFill>
                <a:srgbClr val="2B2F36"/>
              </a:solidFill>
              <a:latin typeface="MiSans" pitchFamily="34" charset="-122"/>
              <a:ea typeface="MiSans" pitchFamily="34" charset="-122"/>
              <a:cs typeface="MiSans" pitchFamily="34" charset="-120"/>
            </a:endParaRPr>
          </a:p>
          <a:p>
            <a:pPr marL="342900" indent="-342900">
              <a:buFont typeface="Arial" panose="020B0604020202020204" pitchFamily="34" charset="0"/>
              <a:buChar char="•"/>
            </a:pPr>
            <a:r>
              <a:rPr lang="en-US" altLang="zh-CN" sz="2400" dirty="0">
                <a:solidFill>
                  <a:srgbClr val="2B2F36"/>
                </a:solidFill>
                <a:latin typeface="MiSans" pitchFamily="34" charset="-122"/>
                <a:ea typeface="MiSans" pitchFamily="34" charset="-122"/>
                <a:cs typeface="MiSans" pitchFamily="34" charset="-120"/>
              </a:rPr>
              <a:t> Leveraging properties like quantum superposition and entanglement, it can achieve exponential speedups in specific problems. </a:t>
            </a:r>
            <a:endParaRPr lang="en-US" altLang="zh-CN" sz="2400" dirty="0">
              <a:solidFill>
                <a:srgbClr val="2B2F36"/>
              </a:solidFill>
              <a:latin typeface="MiSans" pitchFamily="34" charset="-122"/>
              <a:ea typeface="MiSans" pitchFamily="34" charset="-122"/>
              <a:cs typeface="MiSans" pitchFamily="34" charset="-120"/>
            </a:endParaRPr>
          </a:p>
          <a:p>
            <a:pPr marL="342900" indent="-342900">
              <a:buFont typeface="Arial" panose="020B0604020202020204" pitchFamily="34" charset="0"/>
              <a:buChar char="•"/>
            </a:pPr>
            <a:endParaRPr lang="en-US" altLang="zh-CN" sz="2400" dirty="0">
              <a:solidFill>
                <a:srgbClr val="2B2F36"/>
              </a:solidFill>
              <a:latin typeface="MiSans" pitchFamily="34" charset="-122"/>
              <a:ea typeface="MiSans" pitchFamily="34" charset="-122"/>
              <a:cs typeface="MiSans" pitchFamily="34" charset="-120"/>
            </a:endParaRPr>
          </a:p>
          <a:p>
            <a:pPr marL="342900" indent="-342900">
              <a:buFont typeface="Arial" panose="020B0604020202020204" pitchFamily="34" charset="0"/>
              <a:buChar char="•"/>
            </a:pPr>
            <a:r>
              <a:rPr lang="en-US" altLang="zh-CN" sz="2400" dirty="0">
                <a:solidFill>
                  <a:srgbClr val="2B2F36"/>
                </a:solidFill>
                <a:latin typeface="MiSans" pitchFamily="34" charset="-122"/>
                <a:ea typeface="MiSans" pitchFamily="34" charset="-122"/>
                <a:cs typeface="MiSans" pitchFamily="34" charset="-120"/>
              </a:rPr>
              <a:t>This powerful parallel computing capability enables quantum computers to tackle complex issues that classical computers struggle with or cannot solve, injecting new vitality into AI development. </a:t>
            </a:r>
            <a:endParaRPr lang="en-US" altLang="zh-CN" sz="2400" dirty="0">
              <a:solidFill>
                <a:srgbClr val="2B2F36"/>
              </a:solidFill>
              <a:latin typeface="MiSans" pitchFamily="34" charset="-122"/>
              <a:ea typeface="MiSans" pitchFamily="34" charset="-122"/>
              <a:cs typeface="MiSans" pitchFamily="34" charset="-120"/>
            </a:endParaRPr>
          </a:p>
          <a:p>
            <a:pPr marL="342900" indent="-342900">
              <a:buFont typeface="Arial" panose="020B0604020202020204" pitchFamily="34" charset="0"/>
              <a:buChar char="•"/>
            </a:pPr>
            <a:endParaRPr lang="en-US" altLang="zh-CN" sz="2400" dirty="0">
              <a:solidFill>
                <a:srgbClr val="2B2F36"/>
              </a:solidFill>
              <a:latin typeface="MiSans" pitchFamily="34" charset="-122"/>
              <a:ea typeface="MiSans" pitchFamily="34" charset="-122"/>
              <a:cs typeface="MiSans" pitchFamily="34" charset="-120"/>
            </a:endParaRPr>
          </a:p>
          <a:p>
            <a:pPr marL="342900" indent="-342900">
              <a:buFont typeface="Arial" panose="020B0604020202020204" pitchFamily="34" charset="0"/>
              <a:buChar char="•"/>
            </a:pPr>
            <a:r>
              <a:rPr lang="en-US" altLang="zh-CN" sz="2400" dirty="0">
                <a:solidFill>
                  <a:srgbClr val="2B2F36"/>
                </a:solidFill>
                <a:latin typeface="MiSans" pitchFamily="34" charset="-122"/>
                <a:ea typeface="MiSans" pitchFamily="34" charset="-122"/>
                <a:cs typeface="MiSans" pitchFamily="34" charset="-120"/>
              </a:rPr>
              <a:t>The integration of quantum computing and AI is regarded as a key driver of the next-generation computing power revolution, promising disruptive breakthroughs across multiple fields</a:t>
            </a:r>
            <a:endParaRPr lang="en-US" altLang="zh-CN" sz="2400" dirty="0">
              <a:solidFill>
                <a:srgbClr val="2B2F36"/>
              </a:solidFill>
              <a:latin typeface="MiSans" pitchFamily="34" charset="-122"/>
              <a:ea typeface="MiSans" pitchFamily="34" charset="-122"/>
              <a:cs typeface="MiSans" pitchFamily="34" charset="-120"/>
            </a:endParaRPr>
          </a:p>
          <a:p>
            <a:pPr marL="342900" indent="-342900">
              <a:buFont typeface="Arial" panose="020B0604020202020204" pitchFamily="34" charset="0"/>
              <a:buChar char="•"/>
            </a:pPr>
            <a:endParaRPr lang="en-US" altLang="zh-CN" sz="2400" dirty="0">
              <a:solidFill>
                <a:srgbClr val="2B2F36"/>
              </a:solidFill>
              <a:latin typeface="MiSans" pitchFamily="34" charset="-122"/>
              <a:ea typeface="MiSans" pitchFamily="34" charset="-122"/>
              <a:cs typeface="MiSans" pitchFamily="34" charset="-120"/>
            </a:endParaRPr>
          </a:p>
          <a:p>
            <a:endParaRPr lang="en-US" altLang="zh-CN" sz="2400" dirty="0">
              <a:solidFill>
                <a:srgbClr val="2B2F36"/>
              </a:solidFill>
              <a:latin typeface="MiSans" pitchFamily="34" charset="-122"/>
              <a:ea typeface="MiSans" pitchFamily="34" charset="-122"/>
              <a:cs typeface="MiSans" pitchFamily="34" charset="-12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Basic Principles of Quantum Computing</a:t>
            </a:r>
            <a:endParaRPr lang="en-US" sz="1600" dirty="0"/>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sp>
        <p:nvSpPr>
          <p:cNvPr id="14" name="Shape 11"/>
          <p:cNvSpPr/>
          <p:nvPr/>
        </p:nvSpPr>
        <p:spPr>
          <a:xfrm>
            <a:off x="3683635" y="1413510"/>
            <a:ext cx="8143875" cy="4763135"/>
          </a:xfrm>
          <a:prstGeom prst="rect">
            <a:avLst/>
          </a:prstGeom>
          <a:solidFill>
            <a:srgbClr val="000000">
              <a:alpha val="0"/>
            </a:srgbClr>
          </a:solidFill>
          <a:ln w="19050">
            <a:solidFill>
              <a:srgbClr val="9FB26A"/>
            </a:solidFill>
            <a:prstDash val="solid"/>
          </a:ln>
        </p:spPr>
      </p:sp>
      <p:sp>
        <p:nvSpPr>
          <p:cNvPr id="15" name="Text 12"/>
          <p:cNvSpPr/>
          <p:nvPr/>
        </p:nvSpPr>
        <p:spPr>
          <a:xfrm>
            <a:off x="3796030" y="1413510"/>
            <a:ext cx="8031480" cy="478536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4038600" y="3180715"/>
            <a:ext cx="7560310" cy="0"/>
          </a:xfrm>
          <a:prstGeom prst="line">
            <a:avLst/>
          </a:prstGeom>
          <a:noFill/>
          <a:ln w="12700">
            <a:solidFill>
              <a:srgbClr val="9FB26A"/>
            </a:solidFill>
            <a:prstDash val="dash"/>
            <a:headEnd type="none"/>
            <a:tailEnd type="none"/>
          </a:ln>
        </p:spPr>
      </p:sp>
      <p:sp>
        <p:nvSpPr>
          <p:cNvPr id="17" name="Shape 14"/>
          <p:cNvSpPr/>
          <p:nvPr/>
        </p:nvSpPr>
        <p:spPr>
          <a:xfrm>
            <a:off x="4094480" y="4662805"/>
            <a:ext cx="7560310" cy="0"/>
          </a:xfrm>
          <a:prstGeom prst="line">
            <a:avLst/>
          </a:prstGeom>
          <a:noFill/>
          <a:ln w="12700">
            <a:solidFill>
              <a:srgbClr val="9FB26A"/>
            </a:solidFill>
            <a:prstDash val="dash"/>
            <a:headEnd type="none"/>
            <a:tailEnd type="none"/>
          </a:ln>
        </p:spPr>
      </p:sp>
      <p:sp>
        <p:nvSpPr>
          <p:cNvPr id="18" name="Text 15"/>
          <p:cNvSpPr/>
          <p:nvPr/>
        </p:nvSpPr>
        <p:spPr>
          <a:xfrm>
            <a:off x="4038600" y="157289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Quantum Bits and Superposition</a:t>
            </a:r>
            <a:endParaRPr lang="en-US" sz="1600" dirty="0"/>
          </a:p>
        </p:txBody>
      </p:sp>
      <p:sp>
        <p:nvSpPr>
          <p:cNvPr id="19" name="Text 16"/>
          <p:cNvSpPr/>
          <p:nvPr/>
        </p:nvSpPr>
        <p:spPr>
          <a:xfrm>
            <a:off x="4038600" y="1958340"/>
            <a:ext cx="761619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bits, or qubits, can exist in superposition states, allowing quantum computers to process vast amounts of data simultaneously. This enables parallel processing capabilities far beyond classical computers. For example, a system with just 300 qubits can represent more states than there are atoms in the observable universe.</a:t>
            </a:r>
            <a:endParaRPr lang="en-US" sz="1600" dirty="0"/>
          </a:p>
        </p:txBody>
      </p:sp>
      <p:sp>
        <p:nvSpPr>
          <p:cNvPr id="20" name="Text 17"/>
          <p:cNvSpPr/>
          <p:nvPr/>
        </p:nvSpPr>
        <p:spPr>
          <a:xfrm>
            <a:off x="4038600" y="3102610"/>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Quantum Entanglement and Its Applications</a:t>
            </a:r>
            <a:endParaRPr lang="en-US" sz="1600" dirty="0"/>
          </a:p>
        </p:txBody>
      </p:sp>
      <p:sp>
        <p:nvSpPr>
          <p:cNvPr id="21" name="Text 18"/>
          <p:cNvSpPr/>
          <p:nvPr/>
        </p:nvSpPr>
        <p:spPr>
          <a:xfrm>
            <a:off x="4067175" y="3519170"/>
            <a:ext cx="761619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entanglement allows qubits to be interconnected regardless of distance, enabling instantaneous communication and correlation. This property is crucial for quantum computing and is used in applications like quantum cryptography to create secure communication channels.</a:t>
            </a:r>
            <a:endParaRPr lang="en-US" sz="1600" dirty="0"/>
          </a:p>
        </p:txBody>
      </p:sp>
      <p:sp>
        <p:nvSpPr>
          <p:cNvPr id="22" name="Text 19"/>
          <p:cNvSpPr/>
          <p:nvPr/>
        </p:nvSpPr>
        <p:spPr>
          <a:xfrm>
            <a:off x="4038600" y="463232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Quantum Gates and Circuits</a:t>
            </a:r>
            <a:endParaRPr lang="en-US" sz="1600" dirty="0"/>
          </a:p>
        </p:txBody>
      </p:sp>
      <p:sp>
        <p:nvSpPr>
          <p:cNvPr id="23" name="Text 20"/>
          <p:cNvSpPr/>
          <p:nvPr/>
        </p:nvSpPr>
        <p:spPr>
          <a:xfrm>
            <a:off x="4038600" y="5001260"/>
            <a:ext cx="7616190" cy="114339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Quantum gates are the building blocks of quantum circuits, manipulating qubits through specific operations. These gates enable the implementation of complex quantum algorithms, such as the quantum Fourier transform, which achieves exponential speedup over classical algorithms.</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Timeline of Quantum Mechanics Milestones</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文本框 24"/>
          <p:cNvSpPr txBox="1"/>
          <p:nvPr/>
        </p:nvSpPr>
        <p:spPr>
          <a:xfrm>
            <a:off x="853440" y="4632325"/>
            <a:ext cx="5080000" cy="260350"/>
          </a:xfrm>
          <a:prstGeom prst="rect">
            <a:avLst/>
          </a:prstGeom>
        </p:spPr>
        <p:txBody>
          <a:bodyPr>
            <a:spAutoFit/>
          </a:bodyPr>
          <a:p>
            <a:pPr marL="0" indent="0" algn="just" defTabSz="266700">
              <a:spcBef>
                <a:spcPct val="0"/>
              </a:spcBef>
              <a:spcAft>
                <a:spcPct val="0"/>
              </a:spcAft>
            </a:pPr>
            <a:r>
              <a:rPr lang="en-US" altLang="zh-CN" sz="1100">
                <a:latin typeface="Calibri" panose="020F0502020204030204"/>
                <a:ea typeface="宋体" panose="02010600030101010101" pitchFamily="2" charset="-122"/>
              </a:rPr>
              <a:t> </a:t>
            </a:r>
            <a:endParaRPr lang="en-US" altLang="zh-CN"/>
          </a:p>
        </p:txBody>
      </p:sp>
      <p:pic>
        <p:nvPicPr>
          <p:cNvPr id="13" name="图片 12"/>
          <p:cNvPicPr>
            <a:picLocks noChangeAspect="1"/>
          </p:cNvPicPr>
          <p:nvPr/>
        </p:nvPicPr>
        <p:blipFill>
          <a:blip r:embed="rId1"/>
          <a:stretch>
            <a:fillRect/>
          </a:stretch>
        </p:blipFill>
        <p:spPr>
          <a:xfrm>
            <a:off x="2754630" y="930910"/>
            <a:ext cx="7164070" cy="5380355"/>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593715" y="0"/>
            <a:ext cx="6598285" cy="6853555"/>
          </a:xfrm>
          <a:custGeom>
            <a:avLst/>
            <a:gdLst/>
            <a:ahLst/>
            <a:cxnLst/>
            <a:rect l="l" t="t" r="r" b="b"/>
            <a:pathLst>
              <a:path w="6598285" h="6853555">
                <a:moveTo>
                  <a:pt x="1058425" y="0"/>
                </a:moveTo>
                <a:lnTo>
                  <a:pt x="6598285" y="0"/>
                </a:lnTo>
                <a:lnTo>
                  <a:pt x="6598285" y="6853555"/>
                </a:lnTo>
                <a:lnTo>
                  <a:pt x="1136835" y="6853555"/>
                </a:lnTo>
                <a:lnTo>
                  <a:pt x="1008283" y="6678901"/>
                </a:lnTo>
                <a:cubicBezTo>
                  <a:pt x="378388" y="5780658"/>
                  <a:pt x="0" y="4629089"/>
                  <a:pt x="0" y="3373514"/>
                </a:cubicBezTo>
                <a:cubicBezTo>
                  <a:pt x="0" y="2117938"/>
                  <a:pt x="378387" y="966368"/>
                  <a:pt x="1008281" y="68125"/>
                </a:cubicBezTo>
                <a:close/>
              </a:path>
            </a:pathLst>
          </a:custGeom>
          <a:solidFill>
            <a:srgbClr val="B4CA7C"/>
          </a:solidFill>
        </p:spPr>
      </p:sp>
      <p:sp>
        <p:nvSpPr>
          <p:cNvPr id="3" name="Text 1"/>
          <p:cNvSpPr/>
          <p:nvPr/>
        </p:nvSpPr>
        <p:spPr>
          <a:xfrm>
            <a:off x="5593715" y="0"/>
            <a:ext cx="6598285" cy="685355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638810" y="6362065"/>
            <a:ext cx="215900" cy="215900"/>
          </a:xfrm>
          <a:prstGeom prst="roundRect">
            <a:avLst>
              <a:gd name="adj" fmla="val 50000"/>
            </a:avLst>
          </a:prstGeom>
          <a:solidFill>
            <a:srgbClr val="5E927D"/>
          </a:solidFill>
        </p:spPr>
      </p:sp>
      <p:sp>
        <p:nvSpPr>
          <p:cNvPr id="5" name="Text 3"/>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5"/>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467360" y="410210"/>
            <a:ext cx="330200" cy="330200"/>
          </a:xfrm>
          <a:prstGeom prst="triangle">
            <a:avLst/>
          </a:prstGeom>
          <a:solidFill>
            <a:srgbClr val="E0E9C9"/>
          </a:solidFill>
        </p:spPr>
      </p:sp>
      <p:sp>
        <p:nvSpPr>
          <p:cNvPr id="9" name="Text 7"/>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8"/>
          <p:cNvSpPr/>
          <p:nvPr/>
        </p:nvSpPr>
        <p:spPr>
          <a:xfrm rot="5400000">
            <a:off x="594360" y="537210"/>
            <a:ext cx="330200" cy="330200"/>
          </a:xfrm>
          <a:prstGeom prst="triangle">
            <a:avLst/>
          </a:prstGeom>
          <a:solidFill>
            <a:srgbClr val="5E927D"/>
          </a:solidFill>
        </p:spPr>
      </p:sp>
      <p:sp>
        <p:nvSpPr>
          <p:cNvPr id="11" name="Text 9"/>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10"/>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Summary of Key Points</a:t>
            </a:r>
            <a:endParaRPr lang="en-US" sz="1600" dirty="0"/>
          </a:p>
        </p:txBody>
      </p:sp>
      <p:sp>
        <p:nvSpPr>
          <p:cNvPr id="13" name="Shape 11"/>
          <p:cNvSpPr/>
          <p:nvPr/>
        </p:nvSpPr>
        <p:spPr>
          <a:xfrm rot="1800000">
            <a:off x="367916" y="1062304"/>
            <a:ext cx="1357317" cy="1357318"/>
          </a:xfrm>
          <a:custGeom>
            <a:avLst/>
            <a:gdLst/>
            <a:ahLst/>
            <a:cxnLst/>
            <a:rect l="l" t="t" r="r" b="b"/>
            <a:pathLst>
              <a:path w="1357317" h="1357318">
                <a:moveTo>
                  <a:pt x="497288" y="1333638"/>
                </a:moveTo>
                <a:cubicBezTo>
                  <a:pt x="497288" y="1333638"/>
                  <a:pt x="497288" y="1333638"/>
                  <a:pt x="860028" y="1333638"/>
                </a:cubicBezTo>
                <a:cubicBezTo>
                  <a:pt x="802893" y="1349425"/>
                  <a:pt x="741772" y="1357318"/>
                  <a:pt x="677994" y="1357318"/>
                </a:cubicBezTo>
                <a:cubicBezTo>
                  <a:pt x="615544" y="1357318"/>
                  <a:pt x="554422" y="1349425"/>
                  <a:pt x="497288" y="1333638"/>
                </a:cubicBezTo>
                <a:close/>
                <a:moveTo>
                  <a:pt x="337983" y="1265826"/>
                </a:moveTo>
                <a:lnTo>
                  <a:pt x="1018256" y="1265826"/>
                </a:lnTo>
                <a:cubicBezTo>
                  <a:pt x="990409" y="1281569"/>
                  <a:pt x="962561" y="1295998"/>
                  <a:pt x="932062" y="1307805"/>
                </a:cubicBezTo>
                <a:cubicBezTo>
                  <a:pt x="932062" y="1307805"/>
                  <a:pt x="932062" y="1307805"/>
                  <a:pt x="422852" y="1307805"/>
                </a:cubicBezTo>
                <a:cubicBezTo>
                  <a:pt x="393678" y="1295998"/>
                  <a:pt x="364505" y="1281569"/>
                  <a:pt x="337983" y="1265826"/>
                </a:cubicBezTo>
                <a:close/>
                <a:moveTo>
                  <a:pt x="242186" y="1199090"/>
                </a:moveTo>
                <a:lnTo>
                  <a:pt x="1114055" y="1199090"/>
                </a:lnTo>
                <a:cubicBezTo>
                  <a:pt x="1095476" y="1213604"/>
                  <a:pt x="1076898" y="1226799"/>
                  <a:pt x="1058319" y="1239993"/>
                </a:cubicBezTo>
                <a:cubicBezTo>
                  <a:pt x="1058319" y="1239993"/>
                  <a:pt x="1058319" y="1239993"/>
                  <a:pt x="297921" y="1239993"/>
                </a:cubicBezTo>
                <a:cubicBezTo>
                  <a:pt x="278016" y="1226799"/>
                  <a:pt x="259437" y="1213604"/>
                  <a:pt x="242186" y="1199090"/>
                </a:cubicBezTo>
                <a:close/>
                <a:moveTo>
                  <a:pt x="173297" y="1131278"/>
                </a:moveTo>
                <a:lnTo>
                  <a:pt x="1182943" y="1131278"/>
                </a:lnTo>
                <a:cubicBezTo>
                  <a:pt x="1169676" y="1146078"/>
                  <a:pt x="1156408" y="1160878"/>
                  <a:pt x="1141814" y="1174333"/>
                </a:cubicBezTo>
                <a:cubicBezTo>
                  <a:pt x="1141814" y="1174333"/>
                  <a:pt x="1141814" y="1174333"/>
                  <a:pt x="214426" y="1174333"/>
                </a:cubicBezTo>
                <a:cubicBezTo>
                  <a:pt x="199832" y="1160878"/>
                  <a:pt x="185238" y="1146078"/>
                  <a:pt x="173297" y="1131278"/>
                </a:cubicBezTo>
                <a:close/>
                <a:moveTo>
                  <a:pt x="120554" y="1065619"/>
                </a:moveTo>
                <a:lnTo>
                  <a:pt x="1236762" y="1065619"/>
                </a:lnTo>
                <a:cubicBezTo>
                  <a:pt x="1226144" y="1080132"/>
                  <a:pt x="1216853" y="1093327"/>
                  <a:pt x="1204908" y="1106521"/>
                </a:cubicBezTo>
                <a:cubicBezTo>
                  <a:pt x="1204908" y="1106521"/>
                  <a:pt x="1204908" y="1106521"/>
                  <a:pt x="151081" y="1106521"/>
                </a:cubicBezTo>
                <a:cubicBezTo>
                  <a:pt x="140463" y="1093327"/>
                  <a:pt x="129845" y="1080132"/>
                  <a:pt x="120554" y="1065619"/>
                </a:cubicBezTo>
                <a:close/>
                <a:moveTo>
                  <a:pt x="79652" y="997806"/>
                </a:moveTo>
                <a:lnTo>
                  <a:pt x="1277664" y="997806"/>
                </a:lnTo>
                <a:cubicBezTo>
                  <a:pt x="1269704" y="1012236"/>
                  <a:pt x="1261744" y="1026667"/>
                  <a:pt x="1252457" y="1039786"/>
                </a:cubicBezTo>
                <a:cubicBezTo>
                  <a:pt x="1252457" y="1039786"/>
                  <a:pt x="1252457" y="1039786"/>
                  <a:pt x="103532" y="1039786"/>
                </a:cubicBezTo>
                <a:cubicBezTo>
                  <a:pt x="95572" y="1026667"/>
                  <a:pt x="87612" y="1012236"/>
                  <a:pt x="79652" y="997806"/>
                </a:cubicBezTo>
                <a:close/>
                <a:moveTo>
                  <a:pt x="47360" y="931071"/>
                </a:moveTo>
                <a:lnTo>
                  <a:pt x="1307803" y="931071"/>
                </a:lnTo>
                <a:cubicBezTo>
                  <a:pt x="1302496" y="944265"/>
                  <a:pt x="1295862" y="958779"/>
                  <a:pt x="1289228" y="971973"/>
                </a:cubicBezTo>
                <a:cubicBezTo>
                  <a:pt x="1289228" y="971973"/>
                  <a:pt x="1289228" y="971973"/>
                  <a:pt x="65935" y="971973"/>
                </a:cubicBezTo>
                <a:cubicBezTo>
                  <a:pt x="59301" y="958779"/>
                  <a:pt x="53994" y="944265"/>
                  <a:pt x="47360" y="931071"/>
                </a:cubicBezTo>
                <a:close/>
                <a:moveTo>
                  <a:pt x="24756" y="863259"/>
                </a:moveTo>
                <a:lnTo>
                  <a:pt x="1331484" y="863259"/>
                </a:lnTo>
                <a:cubicBezTo>
                  <a:pt x="1327504" y="878059"/>
                  <a:pt x="1322197" y="892859"/>
                  <a:pt x="1316891" y="906314"/>
                </a:cubicBezTo>
                <a:cubicBezTo>
                  <a:pt x="1316891" y="906314"/>
                  <a:pt x="1316891" y="906314"/>
                  <a:pt x="38023" y="906314"/>
                </a:cubicBezTo>
                <a:cubicBezTo>
                  <a:pt x="32716" y="892859"/>
                  <a:pt x="28737" y="878059"/>
                  <a:pt x="24756" y="863259"/>
                </a:cubicBezTo>
                <a:close/>
                <a:moveTo>
                  <a:pt x="8610" y="797599"/>
                </a:moveTo>
                <a:lnTo>
                  <a:pt x="1346553" y="797599"/>
                </a:lnTo>
                <a:cubicBezTo>
                  <a:pt x="1343898" y="810793"/>
                  <a:pt x="1341243" y="825307"/>
                  <a:pt x="1338588" y="838502"/>
                </a:cubicBezTo>
                <a:cubicBezTo>
                  <a:pt x="1338588" y="838502"/>
                  <a:pt x="1338588" y="838502"/>
                  <a:pt x="17901" y="838502"/>
                </a:cubicBezTo>
                <a:cubicBezTo>
                  <a:pt x="15247" y="825307"/>
                  <a:pt x="11265" y="810793"/>
                  <a:pt x="8610" y="797599"/>
                </a:cubicBezTo>
                <a:close/>
                <a:moveTo>
                  <a:pt x="1076" y="729788"/>
                </a:moveTo>
                <a:lnTo>
                  <a:pt x="1356240" y="729788"/>
                </a:lnTo>
                <a:cubicBezTo>
                  <a:pt x="1354913" y="744218"/>
                  <a:pt x="1353586" y="758648"/>
                  <a:pt x="1350931" y="771767"/>
                </a:cubicBezTo>
                <a:cubicBezTo>
                  <a:pt x="1350931" y="771767"/>
                  <a:pt x="1350931" y="771767"/>
                  <a:pt x="6385" y="771767"/>
                </a:cubicBezTo>
                <a:cubicBezTo>
                  <a:pt x="3731" y="758648"/>
                  <a:pt x="2404" y="744218"/>
                  <a:pt x="1076" y="729788"/>
                </a:cubicBezTo>
                <a:close/>
                <a:moveTo>
                  <a:pt x="0" y="663052"/>
                </a:moveTo>
                <a:cubicBezTo>
                  <a:pt x="0" y="663052"/>
                  <a:pt x="0" y="663052"/>
                  <a:pt x="1357317" y="663052"/>
                </a:cubicBezTo>
                <a:cubicBezTo>
                  <a:pt x="1357317" y="668434"/>
                  <a:pt x="1357317" y="672470"/>
                  <a:pt x="1357317" y="677852"/>
                </a:cubicBezTo>
                <a:cubicBezTo>
                  <a:pt x="1357317" y="687271"/>
                  <a:pt x="1357317" y="696689"/>
                  <a:pt x="1357317" y="706107"/>
                </a:cubicBezTo>
                <a:cubicBezTo>
                  <a:pt x="1357317" y="706107"/>
                  <a:pt x="1357317" y="706107"/>
                  <a:pt x="0" y="706107"/>
                </a:cubicBezTo>
                <a:cubicBezTo>
                  <a:pt x="0" y="696689"/>
                  <a:pt x="0" y="687271"/>
                  <a:pt x="0" y="677852"/>
                </a:cubicBezTo>
                <a:cubicBezTo>
                  <a:pt x="0" y="672470"/>
                  <a:pt x="0" y="668434"/>
                  <a:pt x="0" y="663052"/>
                </a:cubicBezTo>
                <a:close/>
                <a:moveTo>
                  <a:pt x="3731" y="595240"/>
                </a:moveTo>
                <a:lnTo>
                  <a:pt x="1352258" y="595240"/>
                </a:lnTo>
                <a:cubicBezTo>
                  <a:pt x="1354913" y="610040"/>
                  <a:pt x="1354913" y="623495"/>
                  <a:pt x="1356240" y="638295"/>
                </a:cubicBezTo>
                <a:cubicBezTo>
                  <a:pt x="1356240" y="638295"/>
                  <a:pt x="1356240" y="638295"/>
                  <a:pt x="1076" y="638295"/>
                </a:cubicBezTo>
                <a:cubicBezTo>
                  <a:pt x="1076" y="623495"/>
                  <a:pt x="2404" y="610040"/>
                  <a:pt x="3731" y="595240"/>
                </a:cubicBezTo>
                <a:close/>
                <a:moveTo>
                  <a:pt x="15494" y="529581"/>
                </a:moveTo>
                <a:lnTo>
                  <a:pt x="1340746" y="529581"/>
                </a:lnTo>
                <a:cubicBezTo>
                  <a:pt x="1343400" y="542699"/>
                  <a:pt x="1346053" y="557129"/>
                  <a:pt x="1348706" y="571560"/>
                </a:cubicBezTo>
                <a:cubicBezTo>
                  <a:pt x="1348706" y="571560"/>
                  <a:pt x="1348706" y="571560"/>
                  <a:pt x="7534" y="571560"/>
                </a:cubicBezTo>
                <a:cubicBezTo>
                  <a:pt x="10187" y="557129"/>
                  <a:pt x="12841" y="542699"/>
                  <a:pt x="15494" y="529581"/>
                </a:cubicBezTo>
                <a:close/>
                <a:moveTo>
                  <a:pt x="34544" y="461768"/>
                </a:moveTo>
                <a:lnTo>
                  <a:pt x="1322772" y="461768"/>
                </a:lnTo>
                <a:cubicBezTo>
                  <a:pt x="1326753" y="476198"/>
                  <a:pt x="1330733" y="489317"/>
                  <a:pt x="1334713" y="503747"/>
                </a:cubicBezTo>
                <a:cubicBezTo>
                  <a:pt x="1334713" y="503747"/>
                  <a:pt x="1334713" y="503747"/>
                  <a:pt x="22604" y="503747"/>
                </a:cubicBezTo>
                <a:cubicBezTo>
                  <a:pt x="25257" y="489317"/>
                  <a:pt x="30564" y="476198"/>
                  <a:pt x="34544" y="461768"/>
                </a:cubicBezTo>
                <a:close/>
                <a:moveTo>
                  <a:pt x="60308" y="395033"/>
                </a:moveTo>
                <a:lnTo>
                  <a:pt x="1294604" y="395033"/>
                </a:lnTo>
                <a:cubicBezTo>
                  <a:pt x="1301240" y="408487"/>
                  <a:pt x="1307876" y="423288"/>
                  <a:pt x="1313185" y="438088"/>
                </a:cubicBezTo>
                <a:cubicBezTo>
                  <a:pt x="1313185" y="438088"/>
                  <a:pt x="1313185" y="438088"/>
                  <a:pt x="43055" y="438088"/>
                </a:cubicBezTo>
                <a:cubicBezTo>
                  <a:pt x="48364" y="423288"/>
                  <a:pt x="53672" y="408487"/>
                  <a:pt x="60308" y="395033"/>
                </a:cubicBezTo>
                <a:close/>
                <a:moveTo>
                  <a:pt x="97072" y="327221"/>
                </a:moveTo>
                <a:lnTo>
                  <a:pt x="1260494" y="327221"/>
                </a:lnTo>
                <a:cubicBezTo>
                  <a:pt x="1268454" y="342021"/>
                  <a:pt x="1276413" y="355476"/>
                  <a:pt x="1283046" y="370276"/>
                </a:cubicBezTo>
                <a:cubicBezTo>
                  <a:pt x="1283046" y="370276"/>
                  <a:pt x="1283046" y="370276"/>
                  <a:pt x="73193" y="370276"/>
                </a:cubicBezTo>
                <a:cubicBezTo>
                  <a:pt x="81153" y="355476"/>
                  <a:pt x="89112" y="342021"/>
                  <a:pt x="97072" y="327221"/>
                </a:cubicBezTo>
                <a:close/>
                <a:moveTo>
                  <a:pt x="143523" y="261561"/>
                </a:moveTo>
                <a:lnTo>
                  <a:pt x="1213793" y="261561"/>
                </a:lnTo>
                <a:cubicBezTo>
                  <a:pt x="1224403" y="274680"/>
                  <a:pt x="1235013" y="289110"/>
                  <a:pt x="1244297" y="303540"/>
                </a:cubicBezTo>
                <a:cubicBezTo>
                  <a:pt x="1244297" y="303540"/>
                  <a:pt x="1244297" y="303540"/>
                  <a:pt x="113020" y="303540"/>
                </a:cubicBezTo>
                <a:cubicBezTo>
                  <a:pt x="122303" y="289110"/>
                  <a:pt x="132913" y="274680"/>
                  <a:pt x="143523" y="261561"/>
                </a:cubicBezTo>
                <a:close/>
                <a:moveTo>
                  <a:pt x="202347" y="194825"/>
                </a:moveTo>
                <a:cubicBezTo>
                  <a:pt x="202347" y="194825"/>
                  <a:pt x="202347" y="194825"/>
                  <a:pt x="1153893" y="194825"/>
                </a:cubicBezTo>
                <a:cubicBezTo>
                  <a:pt x="1167165" y="208019"/>
                  <a:pt x="1180436" y="221214"/>
                  <a:pt x="1193707" y="235728"/>
                </a:cubicBezTo>
                <a:cubicBezTo>
                  <a:pt x="1193707" y="235728"/>
                  <a:pt x="1193707" y="235728"/>
                  <a:pt x="162533" y="235728"/>
                </a:cubicBezTo>
                <a:cubicBezTo>
                  <a:pt x="174478" y="221214"/>
                  <a:pt x="187749" y="208019"/>
                  <a:pt x="202347" y="194825"/>
                </a:cubicBezTo>
                <a:close/>
                <a:moveTo>
                  <a:pt x="281045" y="127014"/>
                </a:moveTo>
                <a:lnTo>
                  <a:pt x="1074944" y="127014"/>
                </a:lnTo>
                <a:cubicBezTo>
                  <a:pt x="1093530" y="140469"/>
                  <a:pt x="1110789" y="155269"/>
                  <a:pt x="1128047" y="170069"/>
                </a:cubicBezTo>
                <a:cubicBezTo>
                  <a:pt x="1128047" y="170069"/>
                  <a:pt x="1128047" y="170069"/>
                  <a:pt x="229269" y="170069"/>
                </a:cubicBezTo>
                <a:cubicBezTo>
                  <a:pt x="245200" y="155269"/>
                  <a:pt x="263786" y="140469"/>
                  <a:pt x="281045" y="127014"/>
                </a:cubicBezTo>
                <a:close/>
                <a:moveTo>
                  <a:pt x="396878" y="61354"/>
                </a:moveTo>
                <a:lnTo>
                  <a:pt x="959362" y="61354"/>
                </a:lnTo>
                <a:cubicBezTo>
                  <a:pt x="987220" y="73229"/>
                  <a:pt x="1012426" y="86423"/>
                  <a:pt x="1037631" y="102257"/>
                </a:cubicBezTo>
                <a:cubicBezTo>
                  <a:pt x="1037631" y="102257"/>
                  <a:pt x="1037631" y="102257"/>
                  <a:pt x="318608" y="102257"/>
                </a:cubicBezTo>
                <a:cubicBezTo>
                  <a:pt x="343814" y="86423"/>
                  <a:pt x="370346" y="73229"/>
                  <a:pt x="396878" y="61354"/>
                </a:cubicBezTo>
                <a:close/>
                <a:moveTo>
                  <a:pt x="677581" y="0"/>
                </a:moveTo>
                <a:cubicBezTo>
                  <a:pt x="754578" y="0"/>
                  <a:pt x="827593" y="11841"/>
                  <a:pt x="896625" y="35521"/>
                </a:cubicBezTo>
                <a:cubicBezTo>
                  <a:pt x="896625" y="35521"/>
                  <a:pt x="896625" y="35521"/>
                  <a:pt x="458538" y="35521"/>
                </a:cubicBezTo>
                <a:cubicBezTo>
                  <a:pt x="527570" y="11841"/>
                  <a:pt x="601912" y="0"/>
                  <a:pt x="677581" y="0"/>
                </a:cubicBezTo>
                <a:close/>
              </a:path>
            </a:pathLst>
          </a:custGeom>
          <a:gradFill flip="none" rotWithShape="1">
            <a:gsLst>
              <a:gs pos="0">
                <a:srgbClr val="5E927D">
                  <a:alpha val="34000"/>
                </a:srgbClr>
              </a:gs>
              <a:gs pos="76000">
                <a:srgbClr val="5E927D">
                  <a:alpha val="3000"/>
                </a:srgbClr>
              </a:gs>
            </a:gsLst>
            <a:lin ang="0" scaled="1"/>
          </a:gradFill>
        </p:spPr>
      </p:sp>
      <p:sp>
        <p:nvSpPr>
          <p:cNvPr id="14" name="Text 12"/>
          <p:cNvSpPr/>
          <p:nvPr/>
        </p:nvSpPr>
        <p:spPr>
          <a:xfrm rot="1800000">
            <a:off x="367916" y="1062304"/>
            <a:ext cx="1357317" cy="1357318"/>
          </a:xfrm>
          <a:prstGeom prst="rect">
            <a:avLst/>
          </a:prstGeom>
          <a:noFill/>
        </p:spPr>
        <p:txBody>
          <a:bodyPr wrap="square" lIns="45720" tIns="91440" rIns="91440" bIns="45720" rtlCol="0" anchor="t"/>
          <a:lstStyle/>
          <a:p>
            <a:pPr marL="0" indent="0">
              <a:lnSpc>
                <a:spcPct val="100000"/>
              </a:lnSpc>
              <a:buNone/>
            </a:pPr>
            <a:endParaRPr lang="en-US" sz="1600" dirty="0"/>
          </a:p>
        </p:txBody>
      </p:sp>
      <p:sp>
        <p:nvSpPr>
          <p:cNvPr id="15" name="Shape 13"/>
          <p:cNvSpPr/>
          <p:nvPr/>
        </p:nvSpPr>
        <p:spPr>
          <a:xfrm>
            <a:off x="732155" y="1543050"/>
            <a:ext cx="10728325" cy="4410075"/>
          </a:xfrm>
          <a:prstGeom prst="roundRect">
            <a:avLst>
              <a:gd name="adj" fmla="val 0"/>
            </a:avLst>
          </a:prstGeom>
          <a:solidFill>
            <a:srgbClr val="FFFFFF"/>
          </a:solidFill>
          <a:ln w="19050">
            <a:solidFill>
              <a:srgbClr val="D9D9D9"/>
            </a:solidFill>
            <a:prstDash val="solid"/>
          </a:ln>
          <a:effectLst>
            <a:outerShdw blurRad="266700" dist="76200" dir="2700000" algn="bl" rotWithShape="0">
              <a:srgbClr val="9FB26A">
                <a:alpha val="40000"/>
              </a:srgbClr>
            </a:outerShdw>
          </a:effectLst>
        </p:spPr>
      </p:sp>
      <p:sp>
        <p:nvSpPr>
          <p:cNvPr id="16" name="Text 14"/>
          <p:cNvSpPr/>
          <p:nvPr/>
        </p:nvSpPr>
        <p:spPr>
          <a:xfrm>
            <a:off x="732155" y="1543050"/>
            <a:ext cx="10728325" cy="4410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Shape 15"/>
          <p:cNvSpPr/>
          <p:nvPr/>
        </p:nvSpPr>
        <p:spPr>
          <a:xfrm flipH="1">
            <a:off x="185293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18" name="Text 16"/>
          <p:cNvSpPr/>
          <p:nvPr/>
        </p:nvSpPr>
        <p:spPr>
          <a:xfrm>
            <a:off x="185293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Shape 17"/>
          <p:cNvSpPr/>
          <p:nvPr/>
        </p:nvSpPr>
        <p:spPr>
          <a:xfrm flipH="1">
            <a:off x="205052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0" name="Text 18"/>
          <p:cNvSpPr/>
          <p:nvPr/>
        </p:nvSpPr>
        <p:spPr>
          <a:xfrm>
            <a:off x="205052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Shape 19"/>
          <p:cNvSpPr/>
          <p:nvPr/>
        </p:nvSpPr>
        <p:spPr>
          <a:xfrm flipH="1">
            <a:off x="2248114"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2" name="Text 20"/>
          <p:cNvSpPr/>
          <p:nvPr/>
        </p:nvSpPr>
        <p:spPr>
          <a:xfrm>
            <a:off x="2248114"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Shape 21"/>
          <p:cNvSpPr/>
          <p:nvPr/>
        </p:nvSpPr>
        <p:spPr>
          <a:xfrm flipH="1">
            <a:off x="2445706"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4" name="Text 22"/>
          <p:cNvSpPr/>
          <p:nvPr/>
        </p:nvSpPr>
        <p:spPr>
          <a:xfrm>
            <a:off x="2445706"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5" name="Shape 23"/>
          <p:cNvSpPr/>
          <p:nvPr/>
        </p:nvSpPr>
        <p:spPr>
          <a:xfrm flipH="1">
            <a:off x="2643298"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6" name="Text 24"/>
          <p:cNvSpPr/>
          <p:nvPr/>
        </p:nvSpPr>
        <p:spPr>
          <a:xfrm>
            <a:off x="2643298"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7" name="Shape 25"/>
          <p:cNvSpPr/>
          <p:nvPr/>
        </p:nvSpPr>
        <p:spPr>
          <a:xfrm flipH="1">
            <a:off x="2840890"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28" name="Text 26"/>
          <p:cNvSpPr/>
          <p:nvPr/>
        </p:nvSpPr>
        <p:spPr>
          <a:xfrm>
            <a:off x="2840890"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9" name="Shape 27"/>
          <p:cNvSpPr/>
          <p:nvPr/>
        </p:nvSpPr>
        <p:spPr>
          <a:xfrm flipH="1">
            <a:off x="3038482"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0" name="Text 28"/>
          <p:cNvSpPr/>
          <p:nvPr/>
        </p:nvSpPr>
        <p:spPr>
          <a:xfrm>
            <a:off x="3038482"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1" name="Shape 29"/>
          <p:cNvSpPr/>
          <p:nvPr/>
        </p:nvSpPr>
        <p:spPr>
          <a:xfrm flipH="1">
            <a:off x="3236071" y="502920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2" name="Text 30"/>
          <p:cNvSpPr/>
          <p:nvPr/>
        </p:nvSpPr>
        <p:spPr>
          <a:xfrm>
            <a:off x="3236071" y="502920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3" name="Text 31"/>
          <p:cNvSpPr/>
          <p:nvPr/>
        </p:nvSpPr>
        <p:spPr>
          <a:xfrm>
            <a:off x="1512570" y="1962229"/>
            <a:ext cx="3122930" cy="466090"/>
          </a:xfrm>
          <a:prstGeom prst="rect">
            <a:avLst/>
          </a:prstGeom>
          <a:noFill/>
        </p:spPr>
        <p:txBody>
          <a:bodyPr wrap="square" lIns="0" tIns="0" rIns="0" bIns="35941" rtlCol="0" anchor="b">
            <a:spAutoFit/>
          </a:bodyPr>
          <a:lstStyle/>
          <a:p>
            <a:pPr marL="0" indent="0" algn="just">
              <a:lnSpc>
                <a:spcPct val="100000"/>
              </a:lnSpc>
              <a:buNone/>
            </a:pPr>
            <a:r>
              <a:rPr lang="en-US" sz="1400" b="1" dirty="0">
                <a:solidFill>
                  <a:srgbClr val="5E927D"/>
                </a:solidFill>
                <a:latin typeface="MiSans" pitchFamily="34" charset="-122"/>
                <a:ea typeface="MiSans" pitchFamily="34" charset="-122"/>
                <a:cs typeface="MiSans" pitchFamily="34" charset="-120"/>
              </a:rPr>
              <a:t>Recap of Quantum and Intelligent Computing Integration</a:t>
            </a:r>
            <a:endParaRPr lang="en-US" sz="1400" dirty="0"/>
          </a:p>
        </p:txBody>
      </p:sp>
      <p:sp>
        <p:nvSpPr>
          <p:cNvPr id="34" name="Text 32"/>
          <p:cNvSpPr/>
          <p:nvPr/>
        </p:nvSpPr>
        <p:spPr>
          <a:xfrm>
            <a:off x="1515110" y="2399665"/>
            <a:ext cx="2745740" cy="2559685"/>
          </a:xfrm>
          <a:prstGeom prst="rect">
            <a:avLst/>
          </a:prstGeom>
          <a:noFill/>
        </p:spPr>
        <p:txBody>
          <a:bodyPr wrap="square" lIns="0" tIns="0" rIns="0" bIns="0" rtlCol="0" anchor="t">
            <a:spAutoFit/>
          </a:bodyPr>
          <a:lstStyle/>
          <a:p>
            <a:pPr marL="0" indent="0" algn="l">
              <a:lnSpc>
                <a:spcPct val="130000"/>
              </a:lnSpc>
              <a:buNone/>
            </a:pPr>
            <a:r>
              <a:rPr lang="en-US" sz="1600" dirty="0">
                <a:solidFill>
                  <a:srgbClr val="2B2F36"/>
                </a:solidFill>
                <a:latin typeface="MiSans" pitchFamily="34" charset="-122"/>
                <a:ea typeface="MiSans" pitchFamily="34" charset="-122"/>
                <a:cs typeface="MiSans" pitchFamily="34" charset="-120"/>
              </a:rPr>
              <a:t>The integration of quantum computing and intelligent computing offers significant benefits, including exponential speedup and advanced algorithms. This has the potential to revolutionize various fields</a:t>
            </a:r>
            <a:r>
              <a:rPr lang="en-US" sz="1400" dirty="0">
                <a:solidFill>
                  <a:srgbClr val="2B2F36"/>
                </a:solidFill>
                <a:latin typeface="MiSans" pitchFamily="34" charset="-122"/>
                <a:ea typeface="MiSans" pitchFamily="34" charset="-122"/>
                <a:cs typeface="MiSans" pitchFamily="34" charset="-120"/>
              </a:rPr>
              <a:t>.</a:t>
            </a:r>
            <a:endParaRPr lang="en-US" sz="1600" dirty="0"/>
          </a:p>
        </p:txBody>
      </p:sp>
      <p:sp>
        <p:nvSpPr>
          <p:cNvPr id="35" name="Shape 33"/>
          <p:cNvSpPr/>
          <p:nvPr/>
        </p:nvSpPr>
        <p:spPr>
          <a:xfrm flipH="1">
            <a:off x="508508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6" name="Text 34"/>
          <p:cNvSpPr/>
          <p:nvPr/>
        </p:nvSpPr>
        <p:spPr>
          <a:xfrm>
            <a:off x="508508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7" name="Shape 35"/>
          <p:cNvSpPr/>
          <p:nvPr/>
        </p:nvSpPr>
        <p:spPr>
          <a:xfrm flipH="1">
            <a:off x="528267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38" name="Text 36"/>
          <p:cNvSpPr/>
          <p:nvPr/>
        </p:nvSpPr>
        <p:spPr>
          <a:xfrm>
            <a:off x="528267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9" name="Shape 37"/>
          <p:cNvSpPr/>
          <p:nvPr/>
        </p:nvSpPr>
        <p:spPr>
          <a:xfrm flipH="1">
            <a:off x="5480264"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0" name="Text 38"/>
          <p:cNvSpPr/>
          <p:nvPr/>
        </p:nvSpPr>
        <p:spPr>
          <a:xfrm>
            <a:off x="5480264"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1" name="Shape 39"/>
          <p:cNvSpPr/>
          <p:nvPr/>
        </p:nvSpPr>
        <p:spPr>
          <a:xfrm flipH="1">
            <a:off x="5677856"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2" name="Text 40"/>
          <p:cNvSpPr/>
          <p:nvPr/>
        </p:nvSpPr>
        <p:spPr>
          <a:xfrm>
            <a:off x="5677856"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3" name="Shape 41"/>
          <p:cNvSpPr/>
          <p:nvPr/>
        </p:nvSpPr>
        <p:spPr>
          <a:xfrm flipH="1">
            <a:off x="5875448"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4" name="Text 42"/>
          <p:cNvSpPr/>
          <p:nvPr/>
        </p:nvSpPr>
        <p:spPr>
          <a:xfrm>
            <a:off x="5875448"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5" name="Shape 43"/>
          <p:cNvSpPr/>
          <p:nvPr/>
        </p:nvSpPr>
        <p:spPr>
          <a:xfrm flipH="1">
            <a:off x="6073040"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6" name="Text 44"/>
          <p:cNvSpPr/>
          <p:nvPr/>
        </p:nvSpPr>
        <p:spPr>
          <a:xfrm>
            <a:off x="6073040"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7" name="Shape 45"/>
          <p:cNvSpPr/>
          <p:nvPr/>
        </p:nvSpPr>
        <p:spPr>
          <a:xfrm flipH="1">
            <a:off x="6270632"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48" name="Text 46"/>
          <p:cNvSpPr/>
          <p:nvPr/>
        </p:nvSpPr>
        <p:spPr>
          <a:xfrm>
            <a:off x="6270632"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9" name="Shape 47"/>
          <p:cNvSpPr/>
          <p:nvPr/>
        </p:nvSpPr>
        <p:spPr>
          <a:xfrm flipH="1">
            <a:off x="6468221" y="500253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0" name="Text 48"/>
          <p:cNvSpPr/>
          <p:nvPr/>
        </p:nvSpPr>
        <p:spPr>
          <a:xfrm>
            <a:off x="6468221" y="500253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1" name="Text 49"/>
          <p:cNvSpPr/>
          <p:nvPr/>
        </p:nvSpPr>
        <p:spPr>
          <a:xfrm>
            <a:off x="4693920" y="1885315"/>
            <a:ext cx="3122930"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Importance of Addressing Challenges</a:t>
            </a:r>
            <a:endParaRPr lang="en-US" sz="1600" dirty="0"/>
          </a:p>
        </p:txBody>
      </p:sp>
      <p:sp>
        <p:nvSpPr>
          <p:cNvPr id="52" name="Text 50"/>
          <p:cNvSpPr/>
          <p:nvPr/>
        </p:nvSpPr>
        <p:spPr>
          <a:xfrm>
            <a:off x="4747260" y="2372995"/>
            <a:ext cx="3070225" cy="2239645"/>
          </a:xfrm>
          <a:prstGeom prst="rect">
            <a:avLst/>
          </a:prstGeom>
          <a:noFill/>
        </p:spPr>
        <p:txBody>
          <a:bodyPr wrap="square" lIns="0" tIns="0" rIns="0" bIns="0" rtlCol="0" anchor="t">
            <a:spAutoFit/>
          </a:bodyPr>
          <a:lstStyle/>
          <a:p>
            <a:pPr marL="0" algn="l">
              <a:lnSpc>
                <a:spcPct val="130000"/>
              </a:lnSpc>
              <a:buClrTx/>
              <a:buSzTx/>
              <a:buFontTx/>
              <a:buNone/>
            </a:pPr>
            <a:r>
              <a:rPr lang="en-US" sz="1600" dirty="0">
                <a:solidFill>
                  <a:srgbClr val="2B2F36"/>
                </a:solidFill>
                <a:latin typeface="MiSans" pitchFamily="34" charset="-122"/>
                <a:ea typeface="MiSans" pitchFamily="34" charset="-122"/>
                <a:cs typeface="MiSans" pitchFamily="34" charset="-120"/>
              </a:rPr>
              <a:t>Addressing technical challenges like error correction, scalability, and integration is crucial for realizing the full potential of quantum computing. Ethical and societal implications must also be considered.</a:t>
            </a:r>
            <a:endParaRPr lang="en-US" sz="1600" dirty="0">
              <a:solidFill>
                <a:srgbClr val="2B2F36"/>
              </a:solidFill>
              <a:latin typeface="MiSans" pitchFamily="34" charset="-122"/>
              <a:ea typeface="MiSans" pitchFamily="34" charset="-122"/>
              <a:cs typeface="MiSans" pitchFamily="34" charset="-120"/>
            </a:endParaRPr>
          </a:p>
        </p:txBody>
      </p:sp>
      <p:sp>
        <p:nvSpPr>
          <p:cNvPr id="53" name="Shape 51"/>
          <p:cNvSpPr/>
          <p:nvPr/>
        </p:nvSpPr>
        <p:spPr>
          <a:xfrm flipH="1">
            <a:off x="840232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4" name="Text 52"/>
          <p:cNvSpPr/>
          <p:nvPr/>
        </p:nvSpPr>
        <p:spPr>
          <a:xfrm>
            <a:off x="840232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5" name="Shape 53"/>
          <p:cNvSpPr/>
          <p:nvPr/>
        </p:nvSpPr>
        <p:spPr>
          <a:xfrm flipH="1">
            <a:off x="859991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6" name="Text 54"/>
          <p:cNvSpPr/>
          <p:nvPr/>
        </p:nvSpPr>
        <p:spPr>
          <a:xfrm>
            <a:off x="859991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7" name="Shape 55"/>
          <p:cNvSpPr/>
          <p:nvPr/>
        </p:nvSpPr>
        <p:spPr>
          <a:xfrm flipH="1">
            <a:off x="8797504"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58" name="Text 56"/>
          <p:cNvSpPr/>
          <p:nvPr/>
        </p:nvSpPr>
        <p:spPr>
          <a:xfrm>
            <a:off x="8797504"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59" name="Shape 57"/>
          <p:cNvSpPr/>
          <p:nvPr/>
        </p:nvSpPr>
        <p:spPr>
          <a:xfrm flipH="1">
            <a:off x="8995096"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0" name="Text 58"/>
          <p:cNvSpPr/>
          <p:nvPr/>
        </p:nvSpPr>
        <p:spPr>
          <a:xfrm>
            <a:off x="8995096"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1" name="Shape 59"/>
          <p:cNvSpPr/>
          <p:nvPr/>
        </p:nvSpPr>
        <p:spPr>
          <a:xfrm flipH="1">
            <a:off x="9192688"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2" name="Text 60"/>
          <p:cNvSpPr/>
          <p:nvPr/>
        </p:nvSpPr>
        <p:spPr>
          <a:xfrm>
            <a:off x="9192688"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3" name="Shape 61"/>
          <p:cNvSpPr/>
          <p:nvPr/>
        </p:nvSpPr>
        <p:spPr>
          <a:xfrm flipH="1">
            <a:off x="9390280"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4" name="Text 62"/>
          <p:cNvSpPr/>
          <p:nvPr/>
        </p:nvSpPr>
        <p:spPr>
          <a:xfrm>
            <a:off x="9390280"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5" name="Shape 63"/>
          <p:cNvSpPr/>
          <p:nvPr/>
        </p:nvSpPr>
        <p:spPr>
          <a:xfrm flipH="1">
            <a:off x="9587872"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6" name="Text 64"/>
          <p:cNvSpPr/>
          <p:nvPr/>
        </p:nvSpPr>
        <p:spPr>
          <a:xfrm>
            <a:off x="9587872"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7" name="Shape 65"/>
          <p:cNvSpPr/>
          <p:nvPr/>
        </p:nvSpPr>
        <p:spPr>
          <a:xfrm flipH="1">
            <a:off x="9785461" y="4963160"/>
            <a:ext cx="185309" cy="280670"/>
          </a:xfrm>
          <a:custGeom>
            <a:avLst/>
            <a:gdLst/>
            <a:ahLst/>
            <a:cxnLst/>
            <a:rect l="l" t="t" r="r" b="b"/>
            <a:pathLst>
              <a:path w="185309" h="280670">
                <a:moveTo>
                  <a:pt x="151177" y="212934"/>
                </a:moveTo>
                <a:cubicBezTo>
                  <a:pt x="170027" y="212934"/>
                  <a:pt x="185309" y="228097"/>
                  <a:pt x="185309" y="246802"/>
                </a:cubicBezTo>
                <a:cubicBezTo>
                  <a:pt x="185309" y="265507"/>
                  <a:pt x="170027" y="280670"/>
                  <a:pt x="151177" y="280670"/>
                </a:cubicBezTo>
                <a:cubicBezTo>
                  <a:pt x="132327" y="280670"/>
                  <a:pt x="117045" y="265507"/>
                  <a:pt x="117045" y="246802"/>
                </a:cubicBezTo>
                <a:cubicBezTo>
                  <a:pt x="117045" y="228097"/>
                  <a:pt x="132327" y="212934"/>
                  <a:pt x="151177" y="212934"/>
                </a:cubicBezTo>
                <a:close/>
                <a:moveTo>
                  <a:pt x="92621" y="159692"/>
                </a:moveTo>
                <a:cubicBezTo>
                  <a:pt x="111481" y="159692"/>
                  <a:pt x="126769" y="174855"/>
                  <a:pt x="126769" y="193560"/>
                </a:cubicBezTo>
                <a:cubicBezTo>
                  <a:pt x="126769" y="212265"/>
                  <a:pt x="111481" y="227428"/>
                  <a:pt x="92621" y="227428"/>
                </a:cubicBezTo>
                <a:cubicBezTo>
                  <a:pt x="73762" y="227428"/>
                  <a:pt x="58473" y="212265"/>
                  <a:pt x="58473" y="193560"/>
                </a:cubicBezTo>
                <a:cubicBezTo>
                  <a:pt x="58473" y="174855"/>
                  <a:pt x="73762" y="159692"/>
                  <a:pt x="92621" y="159692"/>
                </a:cubicBezTo>
                <a:close/>
                <a:moveTo>
                  <a:pt x="34132" y="106451"/>
                </a:moveTo>
                <a:cubicBezTo>
                  <a:pt x="52982" y="106451"/>
                  <a:pt x="68263" y="121614"/>
                  <a:pt x="68263" y="140319"/>
                </a:cubicBezTo>
                <a:cubicBezTo>
                  <a:pt x="68263" y="159023"/>
                  <a:pt x="52982" y="174186"/>
                  <a:pt x="34132" y="174186"/>
                </a:cubicBezTo>
                <a:cubicBezTo>
                  <a:pt x="15281" y="174186"/>
                  <a:pt x="0" y="159023"/>
                  <a:pt x="0" y="140319"/>
                </a:cubicBezTo>
                <a:cubicBezTo>
                  <a:pt x="0" y="121614"/>
                  <a:pt x="15281" y="106451"/>
                  <a:pt x="34132" y="106451"/>
                </a:cubicBezTo>
                <a:close/>
                <a:moveTo>
                  <a:pt x="92621" y="53242"/>
                </a:moveTo>
                <a:cubicBezTo>
                  <a:pt x="111481" y="53242"/>
                  <a:pt x="126769" y="68412"/>
                  <a:pt x="126769" y="87126"/>
                </a:cubicBezTo>
                <a:cubicBezTo>
                  <a:pt x="126769" y="105839"/>
                  <a:pt x="111481" y="121010"/>
                  <a:pt x="92621" y="121010"/>
                </a:cubicBezTo>
                <a:cubicBezTo>
                  <a:pt x="73762" y="121010"/>
                  <a:pt x="58473" y="105839"/>
                  <a:pt x="58473" y="87126"/>
                </a:cubicBezTo>
                <a:cubicBezTo>
                  <a:pt x="58473" y="68412"/>
                  <a:pt x="73762" y="53242"/>
                  <a:pt x="92621" y="53242"/>
                </a:cubicBezTo>
                <a:close/>
                <a:moveTo>
                  <a:pt x="151177" y="0"/>
                </a:moveTo>
                <a:cubicBezTo>
                  <a:pt x="170027" y="0"/>
                  <a:pt x="185309" y="15171"/>
                  <a:pt x="185309" y="33884"/>
                </a:cubicBezTo>
                <a:cubicBezTo>
                  <a:pt x="185309" y="52598"/>
                  <a:pt x="170027" y="67768"/>
                  <a:pt x="151177" y="67768"/>
                </a:cubicBezTo>
                <a:cubicBezTo>
                  <a:pt x="132327" y="67768"/>
                  <a:pt x="117045" y="52598"/>
                  <a:pt x="117045" y="33884"/>
                </a:cubicBezTo>
                <a:cubicBezTo>
                  <a:pt x="117045" y="15171"/>
                  <a:pt x="132327" y="0"/>
                  <a:pt x="151177" y="0"/>
                </a:cubicBezTo>
                <a:close/>
              </a:path>
            </a:pathLst>
          </a:custGeom>
          <a:gradFill flip="none" rotWithShape="1">
            <a:gsLst>
              <a:gs pos="0">
                <a:srgbClr val="466D5E"/>
              </a:gs>
              <a:gs pos="100000">
                <a:srgbClr val="B4CA7C"/>
              </a:gs>
            </a:gsLst>
            <a:lin ang="0" scaled="1"/>
          </a:gradFill>
        </p:spPr>
      </p:sp>
      <p:sp>
        <p:nvSpPr>
          <p:cNvPr id="68" name="Text 66"/>
          <p:cNvSpPr/>
          <p:nvPr/>
        </p:nvSpPr>
        <p:spPr>
          <a:xfrm>
            <a:off x="9785461" y="4963160"/>
            <a:ext cx="185309" cy="28067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9" name="Text 67"/>
          <p:cNvSpPr/>
          <p:nvPr/>
        </p:nvSpPr>
        <p:spPr>
          <a:xfrm>
            <a:off x="8061960" y="1845945"/>
            <a:ext cx="3122930" cy="516334"/>
          </a:xfrm>
          <a:prstGeom prst="rect">
            <a:avLst/>
          </a:prstGeom>
          <a:noFill/>
        </p:spPr>
        <p:txBody>
          <a:bodyPr wrap="square" lIns="0" tIns="0" rIns="0" bIns="35941" rtlCol="0" anchor="b">
            <a:spAutoFit/>
          </a:bodyP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Future Opportunities and Collaborations</a:t>
            </a:r>
            <a:endParaRPr lang="en-US" sz="1600" dirty="0"/>
          </a:p>
        </p:txBody>
      </p:sp>
      <p:sp>
        <p:nvSpPr>
          <p:cNvPr id="70" name="Text 68"/>
          <p:cNvSpPr/>
          <p:nvPr/>
        </p:nvSpPr>
        <p:spPr>
          <a:xfrm>
            <a:off x="8048625" y="2533015"/>
            <a:ext cx="3193415" cy="1919605"/>
          </a:xfrm>
          <a:prstGeom prst="rect">
            <a:avLst/>
          </a:prstGeom>
          <a:noFill/>
        </p:spPr>
        <p:txBody>
          <a:bodyPr wrap="square" lIns="0" tIns="0" rIns="0" bIns="0" rtlCol="0" anchor="t">
            <a:spAutoFit/>
          </a:bodyPr>
          <a:lstStyle/>
          <a:p>
            <a:pPr marL="0" indent="0" algn="just">
              <a:lnSpc>
                <a:spcPct val="130000"/>
              </a:lnSpc>
              <a:buNone/>
            </a:pPr>
            <a:r>
              <a:rPr lang="en-US" sz="1600" dirty="0">
                <a:solidFill>
                  <a:srgbClr val="2B2F36"/>
                </a:solidFill>
                <a:latin typeface="MiSans" pitchFamily="34" charset="-122"/>
                <a:ea typeface="MiSans" pitchFamily="34" charset="-122"/>
                <a:cs typeface="MiSans" pitchFamily="34" charset="-120"/>
              </a:rPr>
              <a:t>Advancements in quantum hardware, the development of hybrid systems, and global collaboration efforts will drive innovation and adoption of these technologies</a:t>
            </a:r>
            <a:r>
              <a:rPr lang="en-US" sz="1400" dirty="0">
                <a:solidFill>
                  <a:srgbClr val="2B2F36"/>
                </a:solidFill>
                <a:latin typeface="MiSans" pitchFamily="34" charset="-122"/>
                <a:ea typeface="MiSans" pitchFamily="34" charset="-122"/>
                <a:cs typeface="MiSans" pitchFamily="34" charset="-120"/>
              </a:rPr>
              <a:t>.</a:t>
            </a:r>
            <a:endParaRPr lang="en-US" sz="1600" dirty="0"/>
          </a:p>
        </p:txBody>
      </p:sp>
      <p:sp>
        <p:nvSpPr>
          <p:cNvPr id="71" name="Shape 69"/>
          <p:cNvSpPr/>
          <p:nvPr/>
        </p:nvSpPr>
        <p:spPr>
          <a:xfrm>
            <a:off x="1043305" y="4949190"/>
            <a:ext cx="631190" cy="626745"/>
          </a:xfrm>
          <a:prstGeom prst="ellipse">
            <a:avLst/>
          </a:prstGeom>
          <a:solidFill>
            <a:srgbClr val="017ED5">
              <a:alpha val="5098"/>
            </a:srgbClr>
          </a:solidFill>
        </p:spPr>
      </p:sp>
      <p:sp>
        <p:nvSpPr>
          <p:cNvPr id="72" name="Text 70"/>
          <p:cNvSpPr/>
          <p:nvPr/>
        </p:nvSpPr>
        <p:spPr>
          <a:xfrm>
            <a:off x="1043305" y="4949190"/>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3" name="Shape 71"/>
          <p:cNvSpPr/>
          <p:nvPr/>
        </p:nvSpPr>
        <p:spPr>
          <a:xfrm>
            <a:off x="1123897" y="5029214"/>
            <a:ext cx="470007" cy="466697"/>
          </a:xfrm>
          <a:prstGeom prst="ellipse">
            <a:avLst/>
          </a:prstGeom>
          <a:solidFill>
            <a:srgbClr val="5E927D">
              <a:alpha val="18039"/>
            </a:srgbClr>
          </a:solidFill>
        </p:spPr>
      </p:sp>
      <p:sp>
        <p:nvSpPr>
          <p:cNvPr id="74" name="Text 72"/>
          <p:cNvSpPr/>
          <p:nvPr/>
        </p:nvSpPr>
        <p:spPr>
          <a:xfrm>
            <a:off x="1123897" y="5029214"/>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5" name="Shape 73"/>
          <p:cNvSpPr/>
          <p:nvPr/>
        </p:nvSpPr>
        <p:spPr>
          <a:xfrm>
            <a:off x="1198996" y="5103784"/>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76" name="Text 74"/>
          <p:cNvSpPr/>
          <p:nvPr/>
        </p:nvSpPr>
        <p:spPr>
          <a:xfrm>
            <a:off x="1198996" y="5103784"/>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7" name="Shape 75"/>
          <p:cNvSpPr/>
          <p:nvPr/>
        </p:nvSpPr>
        <p:spPr>
          <a:xfrm>
            <a:off x="4180840" y="4848225"/>
            <a:ext cx="631190" cy="626745"/>
          </a:xfrm>
          <a:prstGeom prst="ellipse">
            <a:avLst/>
          </a:prstGeom>
          <a:solidFill>
            <a:srgbClr val="017ED5">
              <a:alpha val="5098"/>
            </a:srgbClr>
          </a:solidFill>
        </p:spPr>
      </p:sp>
      <p:sp>
        <p:nvSpPr>
          <p:cNvPr id="78" name="Text 76"/>
          <p:cNvSpPr/>
          <p:nvPr/>
        </p:nvSpPr>
        <p:spPr>
          <a:xfrm>
            <a:off x="4180840" y="484822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79" name="Shape 77"/>
          <p:cNvSpPr/>
          <p:nvPr/>
        </p:nvSpPr>
        <p:spPr>
          <a:xfrm>
            <a:off x="4261432" y="4928249"/>
            <a:ext cx="470007" cy="466697"/>
          </a:xfrm>
          <a:prstGeom prst="ellipse">
            <a:avLst/>
          </a:prstGeom>
          <a:solidFill>
            <a:srgbClr val="5E927D">
              <a:alpha val="18039"/>
            </a:srgbClr>
          </a:solidFill>
        </p:spPr>
      </p:sp>
      <p:sp>
        <p:nvSpPr>
          <p:cNvPr id="80" name="Text 78"/>
          <p:cNvSpPr/>
          <p:nvPr/>
        </p:nvSpPr>
        <p:spPr>
          <a:xfrm>
            <a:off x="4261432" y="492824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1" name="Shape 79"/>
          <p:cNvSpPr/>
          <p:nvPr/>
        </p:nvSpPr>
        <p:spPr>
          <a:xfrm>
            <a:off x="4336531" y="5002819"/>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82" name="Text 80"/>
          <p:cNvSpPr/>
          <p:nvPr/>
        </p:nvSpPr>
        <p:spPr>
          <a:xfrm>
            <a:off x="4336531" y="500281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3" name="Shape 81"/>
          <p:cNvSpPr/>
          <p:nvPr/>
        </p:nvSpPr>
        <p:spPr>
          <a:xfrm>
            <a:off x="7498080" y="4838065"/>
            <a:ext cx="631190" cy="626745"/>
          </a:xfrm>
          <a:prstGeom prst="ellipse">
            <a:avLst/>
          </a:prstGeom>
          <a:solidFill>
            <a:srgbClr val="017ED5">
              <a:alpha val="5098"/>
            </a:srgbClr>
          </a:solidFill>
        </p:spPr>
      </p:sp>
      <p:sp>
        <p:nvSpPr>
          <p:cNvPr id="84" name="Text 82"/>
          <p:cNvSpPr/>
          <p:nvPr/>
        </p:nvSpPr>
        <p:spPr>
          <a:xfrm>
            <a:off x="7498080" y="4838065"/>
            <a:ext cx="631190" cy="62674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5" name="Shape 83"/>
          <p:cNvSpPr/>
          <p:nvPr/>
        </p:nvSpPr>
        <p:spPr>
          <a:xfrm>
            <a:off x="7578672" y="4918089"/>
            <a:ext cx="470007" cy="466697"/>
          </a:xfrm>
          <a:prstGeom prst="ellipse">
            <a:avLst/>
          </a:prstGeom>
          <a:solidFill>
            <a:srgbClr val="5E927D">
              <a:alpha val="18039"/>
            </a:srgbClr>
          </a:solidFill>
        </p:spPr>
      </p:sp>
      <p:sp>
        <p:nvSpPr>
          <p:cNvPr id="86" name="Text 84"/>
          <p:cNvSpPr/>
          <p:nvPr/>
        </p:nvSpPr>
        <p:spPr>
          <a:xfrm>
            <a:off x="7578672" y="4918089"/>
            <a:ext cx="470007" cy="466697"/>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7" name="Shape 85"/>
          <p:cNvSpPr/>
          <p:nvPr/>
        </p:nvSpPr>
        <p:spPr>
          <a:xfrm>
            <a:off x="7653771" y="4992659"/>
            <a:ext cx="319808" cy="317556"/>
          </a:xfrm>
          <a:prstGeom prst="ellipse">
            <a:avLst/>
          </a:prstGeom>
          <a:solidFill>
            <a:srgbClr val="FFFFFF"/>
          </a:solidFill>
          <a:effectLst>
            <a:outerShdw blurRad="63500" dist="63500" dir="2700000" algn="bl" rotWithShape="0">
              <a:srgbClr val="9FB26A">
                <a:alpha val="40000"/>
              </a:srgbClr>
            </a:outerShdw>
          </a:effectLst>
        </p:spPr>
      </p:sp>
      <p:sp>
        <p:nvSpPr>
          <p:cNvPr id="88" name="Text 86"/>
          <p:cNvSpPr/>
          <p:nvPr/>
        </p:nvSpPr>
        <p:spPr>
          <a:xfrm>
            <a:off x="7653771" y="4992659"/>
            <a:ext cx="319808" cy="31755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89" name="Image 0" descr="https://test-kimi-img.moonshot.cn/pub/slides/slides_tmpl/image/25-05-30-10:51:03-d0shq5s75iks832je5c0.png"/>
          <p:cNvPicPr>
            <a:picLocks noChangeAspect="1"/>
          </p:cNvPicPr>
          <p:nvPr/>
        </p:nvPicPr>
        <p:blipFill>
          <a:blip r:embed="rId1"/>
          <a:stretch>
            <a:fillRect/>
          </a:stretch>
        </p:blipFill>
        <p:spPr>
          <a:xfrm>
            <a:off x="1302385" y="2070735"/>
            <a:ext cx="18415" cy="2688590"/>
          </a:xfrm>
          <a:prstGeom prst="rect">
            <a:avLst/>
          </a:prstGeom>
        </p:spPr>
      </p:pic>
      <p:pic>
        <p:nvPicPr>
          <p:cNvPr id="90" name="Image 1" descr="https://test-kimi-img.moonshot.cn/pub/slides/slides_tmpl/image/25-05-30-10:51:03-d0shq5s75iks832je5c0.png"/>
          <p:cNvPicPr>
            <a:picLocks noChangeAspect="1"/>
          </p:cNvPicPr>
          <p:nvPr/>
        </p:nvPicPr>
        <p:blipFill>
          <a:blip r:embed="rId1"/>
          <a:stretch>
            <a:fillRect/>
          </a:stretch>
        </p:blipFill>
        <p:spPr>
          <a:xfrm>
            <a:off x="4509770" y="2229485"/>
            <a:ext cx="18415" cy="2688590"/>
          </a:xfrm>
          <a:prstGeom prst="rect">
            <a:avLst/>
          </a:prstGeom>
        </p:spPr>
      </p:pic>
      <p:pic>
        <p:nvPicPr>
          <p:cNvPr id="91" name="Image 2" descr="https://test-kimi-img.moonshot.cn/pub/slides/slides_tmpl/image/25-05-30-10:51:03-d0shq5s75iks832je5c0.png"/>
          <p:cNvPicPr>
            <a:picLocks noChangeAspect="1"/>
          </p:cNvPicPr>
          <p:nvPr/>
        </p:nvPicPr>
        <p:blipFill>
          <a:blip r:embed="rId1"/>
          <a:stretch>
            <a:fillRect/>
          </a:stretch>
        </p:blipFill>
        <p:spPr>
          <a:xfrm>
            <a:off x="7863205" y="2070735"/>
            <a:ext cx="18415" cy="2688590"/>
          </a:xfrm>
          <a:prstGeom prst="rect">
            <a:avLst/>
          </a:prstGeom>
        </p:spPr>
      </p:pic>
      <p:sp>
        <p:nvSpPr>
          <p:cNvPr id="92" name="Shape 87"/>
          <p:cNvSpPr/>
          <p:nvPr/>
        </p:nvSpPr>
        <p:spPr>
          <a:xfrm>
            <a:off x="1196975" y="1911985"/>
            <a:ext cx="227330" cy="215265"/>
          </a:xfrm>
          <a:prstGeom prst="ellipse">
            <a:avLst/>
          </a:prstGeom>
          <a:solidFill>
            <a:srgbClr val="B4CA7C"/>
          </a:solidFill>
          <a:ln w="19050">
            <a:gradFill flip="none" rotWithShape="1">
              <a:gsLst>
                <a:gs pos="15000">
                  <a:srgbClr val="5E927D">
                    <a:alpha val="0"/>
                  </a:srgbClr>
                </a:gs>
                <a:gs pos="100000">
                  <a:srgbClr val="2F493E"/>
                </a:gs>
              </a:gsLst>
              <a:lin ang="10740000" scaled="1"/>
            </a:gradFill>
            <a:prstDash val="solid"/>
          </a:ln>
        </p:spPr>
      </p:sp>
      <p:sp>
        <p:nvSpPr>
          <p:cNvPr id="93" name="Text 88"/>
          <p:cNvSpPr/>
          <p:nvPr/>
        </p:nvSpPr>
        <p:spPr>
          <a:xfrm>
            <a:off x="1196975" y="191198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5" name="Text 90"/>
          <p:cNvSpPr/>
          <p:nvPr/>
        </p:nvSpPr>
        <p:spPr>
          <a:xfrm>
            <a:off x="4398645" y="1885315"/>
            <a:ext cx="227330" cy="215265"/>
          </a:xfrm>
          <a:prstGeom prst="rect">
            <a:avLst/>
          </a:prstGeom>
          <a:noFill/>
        </p:spPr>
        <p:txBody>
          <a:bodyPr wrap="square" lIns="45720" tIns="91440" rIns="91440" bIns="45720" rtlCol="0" anchor="ctr"/>
          <a:lstStyle/>
          <a:p>
            <a:pPr marL="0" indent="0">
              <a:lnSpc>
                <a:spcPct val="100000"/>
              </a:lnSpc>
              <a:buNone/>
            </a:pP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8122920" y="1901825"/>
            <a:ext cx="1588770"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08</a:t>
            </a:r>
            <a:endParaRPr lang="en-US" sz="1600" dirty="0"/>
          </a:p>
        </p:txBody>
      </p:sp>
      <p:sp>
        <p:nvSpPr>
          <p:cNvPr id="7" name="Text 3"/>
          <p:cNvSpPr/>
          <p:nvPr/>
        </p:nvSpPr>
        <p:spPr>
          <a:xfrm>
            <a:off x="5979795" y="3223895"/>
            <a:ext cx="5875655" cy="1445260"/>
          </a:xfrm>
          <a:prstGeom prst="rect">
            <a:avLst/>
          </a:prstGeom>
          <a:noFill/>
        </p:spPr>
        <p:txBody>
          <a:bodyPr wrap="square" lIns="91440" tIns="45720" rIns="91440" bIns="45720" rtlCol="0" anchor="t">
            <a:spAutoFit/>
          </a:bodyPr>
          <a:lstStyle/>
          <a:p>
            <a:pPr marL="0" indent="0" algn="ctr">
              <a:lnSpc>
                <a:spcPct val="100000"/>
              </a:lnSpc>
              <a:buNone/>
            </a:pPr>
            <a:r>
              <a:rPr lang="en-US" altLang="zh-CN" sz="4400" dirty="0"/>
              <a:t>Big Data Modeling and Analysis Methods</a:t>
            </a:r>
            <a:endParaRPr lang="en-US" altLang="zh-CN" sz="4400" dirty="0"/>
          </a:p>
        </p:txBody>
      </p:sp>
      <p:sp>
        <p:nvSpPr>
          <p:cNvPr id="8" name="Text 4"/>
          <p:cNvSpPr/>
          <p:nvPr/>
        </p:nvSpPr>
        <p:spPr>
          <a:xfrm>
            <a:off x="649605" y="269240"/>
            <a:ext cx="4064000" cy="276225"/>
          </a:xfrm>
          <a:prstGeom prst="rect">
            <a:avLst/>
          </a:prstGeom>
          <a:noFill/>
        </p:spPr>
        <p:txBody>
          <a:bodyPr wrap="square" lIns="91440" tIns="45720" rIns="91440" bIns="45720" rtlCol="0" anchor="t">
            <a:spAutoFit/>
          </a:bodyPr>
          <a:lstStyle/>
          <a:p>
            <a:pPr marL="0" indent="0" algn="l">
              <a:lnSpc>
                <a:spcPct val="100000"/>
              </a:lnSpc>
              <a:buNone/>
            </a:pPr>
            <a:r>
              <a:rPr lang="en-US" sz="1800" b="1" dirty="0">
                <a:solidFill>
                  <a:srgbClr val="000000"/>
                </a:solidFill>
                <a:latin typeface="MiSans" pitchFamily="34" charset="-122"/>
                <a:ea typeface="MiSans" pitchFamily="34" charset="-122"/>
                <a:cs typeface="MiSans" pitchFamily="34" charset="-120"/>
              </a:rPr>
              <a:t>YOUR LOGO</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txBody>
          <a:bodyPr/>
          <a:lstStyle/>
          <a:p>
            <a:endParaRPr lang="en-AU"/>
          </a:p>
        </p:txBody>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txBody>
          <a:bodyPr/>
          <a:lstStyle/>
          <a:p>
            <a:endParaRPr lang="en-AU"/>
          </a:p>
        </p:txBody>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txBody>
          <a:bodyPr/>
          <a:lstStyle/>
          <a:p>
            <a:endParaRPr lang="en-AU"/>
          </a:p>
        </p:txBody>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txBody>
          <a:bodyPr/>
          <a:lstStyle/>
          <a:p>
            <a:endParaRPr lang="en-AU"/>
          </a:p>
        </p:txBody>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Big Data Modeling and Analytical Methods</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Text 10"/>
          <p:cNvSpPr/>
          <p:nvPr/>
        </p:nvSpPr>
        <p:spPr>
          <a:xfrm>
            <a:off x="219656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4"/>
          <p:cNvSpPr/>
          <p:nvPr/>
        </p:nvSpPr>
        <p:spPr>
          <a:xfrm>
            <a:off x="536648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9" name="Text 16"/>
          <p:cNvSpPr/>
          <p:nvPr/>
        </p:nvSpPr>
        <p:spPr>
          <a:xfrm>
            <a:off x="555803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1" name="Text 18"/>
          <p:cNvSpPr/>
          <p:nvPr/>
        </p:nvSpPr>
        <p:spPr>
          <a:xfrm>
            <a:off x="8536401" y="2473621"/>
            <a:ext cx="1459038" cy="1459038"/>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3" name="Text 20"/>
          <p:cNvSpPr/>
          <p:nvPr/>
        </p:nvSpPr>
        <p:spPr>
          <a:xfrm>
            <a:off x="8727951" y="2665171"/>
            <a:ext cx="1075939" cy="1075939"/>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26" name="Shape 23"/>
          <p:cNvSpPr/>
          <p:nvPr/>
        </p:nvSpPr>
        <p:spPr>
          <a:xfrm>
            <a:off x="5722788" y="2907327"/>
            <a:ext cx="726482" cy="584775"/>
          </a:xfrm>
          <a:prstGeom prst="rect">
            <a:avLst/>
          </a:prstGeom>
          <a:solidFill>
            <a:srgbClr val="000000">
              <a:alpha val="0"/>
            </a:srgbClr>
          </a:solidFill>
        </p:spPr>
        <p:txBody>
          <a:bodyPr/>
          <a:lstStyle/>
          <a:p>
            <a:endParaRPr lang="en-AU"/>
          </a:p>
        </p:txBody>
      </p:sp>
      <p:sp>
        <p:nvSpPr>
          <p:cNvPr id="14" name="文本框 13"/>
          <p:cNvSpPr txBox="1"/>
          <p:nvPr/>
        </p:nvSpPr>
        <p:spPr>
          <a:xfrm>
            <a:off x="1316990" y="1419860"/>
            <a:ext cx="9720580" cy="1487170"/>
          </a:xfrm>
          <a:prstGeom prst="rect">
            <a:avLst/>
          </a:prstGeom>
          <a:noFill/>
        </p:spPr>
        <p:txBody>
          <a:bodyPr wrap="square" rtlCol="0">
            <a:noAutofit/>
          </a:bodyPr>
          <a:lstStyle/>
          <a:p>
            <a:pPr marL="342900" indent="-342900" algn="l">
              <a:buFont typeface="Arial" panose="020B0604020202020204" pitchFamily="34" charset="0"/>
              <a:buChar char="•"/>
            </a:pPr>
            <a:r>
              <a:rPr lang="en-US" altLang="zh-CN" sz="2000" dirty="0">
                <a:solidFill>
                  <a:srgbClr val="2B2F36"/>
                </a:solidFill>
                <a:latin typeface="MiSans" pitchFamily="34" charset="-122"/>
                <a:ea typeface="MiSans" pitchFamily="34" charset="-122"/>
                <a:cs typeface="MiSans" pitchFamily="34" charset="-120"/>
              </a:rPr>
              <a:t>Big data modeling and analysis refer to the processes of structuring large, complex datasets (characterized by volume, velocity, variety, veracity, and value) and extracting actionable insights using statistical, computational, and machine learning techniques.</a:t>
            </a:r>
            <a:r>
              <a:rPr lang="en-US" altLang="zh-CN" sz="2800" dirty="0">
                <a:solidFill>
                  <a:srgbClr val="2B2F36"/>
                </a:solidFill>
                <a:latin typeface="MiSans" pitchFamily="34" charset="-122"/>
                <a:ea typeface="MiSans" pitchFamily="34" charset="-122"/>
                <a:cs typeface="MiSans" pitchFamily="34" charset="-120"/>
              </a:rPr>
              <a:t> </a:t>
            </a:r>
            <a:endParaRPr lang="en-US" altLang="zh-CN" sz="2800" dirty="0">
              <a:solidFill>
                <a:srgbClr val="2B2F36"/>
              </a:solidFill>
              <a:latin typeface="MiSans" pitchFamily="34" charset="-122"/>
              <a:ea typeface="MiSans" pitchFamily="34" charset="-122"/>
              <a:cs typeface="MiSans" pitchFamily="34" charset="-120"/>
            </a:endParaRPr>
          </a:p>
          <a:p>
            <a:pPr algn="l"/>
            <a:endParaRPr lang="en-US" altLang="zh-CN" sz="2000" dirty="0">
              <a:solidFill>
                <a:srgbClr val="2B2F36"/>
              </a:solidFill>
              <a:latin typeface="MiSans" pitchFamily="34" charset="-122"/>
              <a:ea typeface="MiSans" pitchFamily="34" charset="-122"/>
              <a:cs typeface="MiSans" pitchFamily="34" charset="-120"/>
            </a:endParaRPr>
          </a:p>
          <a:p>
            <a:pPr algn="l"/>
            <a:endParaRPr lang="en-US" altLang="zh-CN" sz="2000" dirty="0">
              <a:solidFill>
                <a:srgbClr val="2B2F36"/>
              </a:solidFill>
              <a:latin typeface="MiSans" pitchFamily="34" charset="-122"/>
              <a:ea typeface="MiSans" pitchFamily="34" charset="-122"/>
              <a:cs typeface="MiSans" pitchFamily="34" charset="-120"/>
            </a:endParaRPr>
          </a:p>
        </p:txBody>
      </p:sp>
      <p:sp>
        <p:nvSpPr>
          <p:cNvPr id="11" name="文本框 10"/>
          <p:cNvSpPr txBox="1"/>
          <p:nvPr/>
        </p:nvSpPr>
        <p:spPr>
          <a:xfrm>
            <a:off x="2456180" y="3835400"/>
            <a:ext cx="7811770" cy="2526665"/>
          </a:xfrm>
          <a:prstGeom prst="rect">
            <a:avLst/>
          </a:prstGeom>
          <a:noFill/>
        </p:spPr>
        <p:txBody>
          <a:bodyPr wrap="square" rtlCol="0">
            <a:spAutoFit/>
          </a:bodyPr>
          <a:p>
            <a:pPr marL="342900" indent="-342900" algn="just">
              <a:lnSpc>
                <a:spcPct val="130000"/>
              </a:lnSpc>
              <a:buFont typeface="Arial" panose="020B0604020202020204" pitchFamily="34" charset="0"/>
              <a:buChar char="•"/>
            </a:pPr>
            <a:r>
              <a:rPr lang="en-US" altLang="zh-CN" b="1" dirty="0">
                <a:solidFill>
                  <a:srgbClr val="000000"/>
                </a:solidFill>
                <a:ea typeface="MiSans" pitchFamily="34" charset="-122"/>
                <a:cs typeface="+mn-lt"/>
                <a:sym typeface="+mn-ea"/>
              </a:rPr>
              <a:t>Volume:</a:t>
            </a:r>
            <a:r>
              <a:rPr lang="en-US" altLang="zh-CN" dirty="0">
                <a:solidFill>
                  <a:srgbClr val="000000"/>
                </a:solidFill>
                <a:ea typeface="MiSans" pitchFamily="34" charset="-122"/>
                <a:cs typeface="+mn-lt"/>
                <a:sym typeface="+mn-ea"/>
              </a:rPr>
              <a:t> Huge size — terabytes, petabytes, or more.</a:t>
            </a:r>
            <a:endParaRPr lang="en-US" altLang="zh-CN" dirty="0">
              <a:solidFill>
                <a:srgbClr val="000000"/>
              </a:solidFill>
              <a:ea typeface="MiSans" pitchFamily="34" charset="-122"/>
              <a:cs typeface="+mn-lt"/>
            </a:endParaRPr>
          </a:p>
          <a:p>
            <a:pPr marL="342900" indent="-342900" algn="just">
              <a:lnSpc>
                <a:spcPct val="130000"/>
              </a:lnSpc>
              <a:buFont typeface="Arial" panose="020B0604020202020204" pitchFamily="34" charset="0"/>
              <a:buChar char="•"/>
            </a:pPr>
            <a:r>
              <a:rPr lang="en-US" altLang="zh-CN" b="1" dirty="0">
                <a:solidFill>
                  <a:srgbClr val="000000"/>
                </a:solidFill>
                <a:ea typeface="MiSans" pitchFamily="34" charset="-122"/>
                <a:cs typeface="+mn-lt"/>
                <a:sym typeface="+mn-ea"/>
              </a:rPr>
              <a:t>Velocity: </a:t>
            </a:r>
            <a:r>
              <a:rPr lang="en-US" altLang="zh-CN" dirty="0">
                <a:solidFill>
                  <a:srgbClr val="000000"/>
                </a:solidFill>
                <a:ea typeface="MiSans" pitchFamily="34" charset="-122"/>
                <a:cs typeface="+mn-lt"/>
                <a:sym typeface="+mn-ea"/>
              </a:rPr>
              <a:t>Speed at which data is generated (e.g., real-time trading).</a:t>
            </a:r>
            <a:endParaRPr lang="en-US" altLang="zh-CN" dirty="0">
              <a:solidFill>
                <a:srgbClr val="000000"/>
              </a:solidFill>
              <a:ea typeface="MiSans" pitchFamily="34" charset="-122"/>
              <a:cs typeface="+mn-lt"/>
            </a:endParaRPr>
          </a:p>
          <a:p>
            <a:pPr marL="342900" indent="-342900" algn="just">
              <a:lnSpc>
                <a:spcPct val="130000"/>
              </a:lnSpc>
              <a:buFont typeface="Arial" panose="020B0604020202020204" pitchFamily="34" charset="0"/>
              <a:buChar char="•"/>
            </a:pPr>
            <a:r>
              <a:rPr lang="en-US" altLang="zh-CN" b="1" dirty="0">
                <a:solidFill>
                  <a:srgbClr val="000000"/>
                </a:solidFill>
                <a:ea typeface="MiSans" pitchFamily="34" charset="-122"/>
                <a:cs typeface="+mn-lt"/>
                <a:sym typeface="+mn-ea"/>
              </a:rPr>
              <a:t>Variety:</a:t>
            </a:r>
            <a:r>
              <a:rPr lang="en-US" altLang="zh-CN" dirty="0">
                <a:solidFill>
                  <a:srgbClr val="000000"/>
                </a:solidFill>
                <a:ea typeface="MiSans" pitchFamily="34" charset="-122"/>
                <a:cs typeface="+mn-lt"/>
                <a:sym typeface="+mn-ea"/>
              </a:rPr>
              <a:t> Structured, semi-structured (JSON), and unstructured (images, video, text).</a:t>
            </a:r>
            <a:endParaRPr lang="en-US" altLang="zh-CN" dirty="0">
              <a:solidFill>
                <a:srgbClr val="000000"/>
              </a:solidFill>
              <a:ea typeface="MiSans" pitchFamily="34" charset="-122"/>
              <a:cs typeface="+mn-lt"/>
            </a:endParaRPr>
          </a:p>
          <a:p>
            <a:pPr marL="342900" indent="-342900" algn="just">
              <a:lnSpc>
                <a:spcPct val="130000"/>
              </a:lnSpc>
              <a:buFont typeface="Arial" panose="020B0604020202020204" pitchFamily="34" charset="0"/>
              <a:buChar char="•"/>
            </a:pPr>
            <a:r>
              <a:rPr lang="en-US" altLang="zh-CN" b="1" dirty="0">
                <a:solidFill>
                  <a:srgbClr val="000000"/>
                </a:solidFill>
                <a:ea typeface="MiSans" pitchFamily="34" charset="-122"/>
                <a:cs typeface="+mn-lt"/>
                <a:sym typeface="+mn-ea"/>
              </a:rPr>
              <a:t>Veracity:</a:t>
            </a:r>
            <a:r>
              <a:rPr lang="en-US" altLang="zh-CN" dirty="0">
                <a:solidFill>
                  <a:srgbClr val="000000"/>
                </a:solidFill>
                <a:ea typeface="MiSans" pitchFamily="34" charset="-122"/>
                <a:cs typeface="+mn-lt"/>
                <a:sym typeface="+mn-ea"/>
              </a:rPr>
              <a:t> Data uncertainty and quality issues.</a:t>
            </a:r>
            <a:endParaRPr lang="en-US" altLang="zh-CN" dirty="0">
              <a:solidFill>
                <a:srgbClr val="000000"/>
              </a:solidFill>
              <a:ea typeface="MiSans" pitchFamily="34" charset="-122"/>
              <a:cs typeface="+mn-lt"/>
            </a:endParaRPr>
          </a:p>
          <a:p>
            <a:pPr marL="342900" indent="-342900" algn="just">
              <a:lnSpc>
                <a:spcPct val="130000"/>
              </a:lnSpc>
              <a:buFont typeface="Arial" panose="020B0604020202020204" pitchFamily="34" charset="0"/>
              <a:buChar char="•"/>
            </a:pPr>
            <a:r>
              <a:rPr lang="en-US" altLang="zh-CN" b="1" dirty="0">
                <a:solidFill>
                  <a:srgbClr val="000000"/>
                </a:solidFill>
                <a:ea typeface="MiSans" pitchFamily="34" charset="-122"/>
                <a:cs typeface="+mn-lt"/>
                <a:sym typeface="+mn-ea"/>
              </a:rPr>
              <a:t>Value:</a:t>
            </a:r>
            <a:r>
              <a:rPr lang="en-US" altLang="zh-CN" dirty="0">
                <a:solidFill>
                  <a:srgbClr val="000000"/>
                </a:solidFill>
                <a:ea typeface="MiSans" pitchFamily="34" charset="-122"/>
                <a:cs typeface="+mn-lt"/>
                <a:sym typeface="+mn-ea"/>
              </a:rPr>
              <a:t> Low-value density — useful insight is often buried under noise.ty</a:t>
            </a:r>
            <a:endParaRPr lang="en-US" altLang="zh-CN" dirty="0">
              <a:solidFill>
                <a:srgbClr val="000000"/>
              </a:solidFill>
              <a:ea typeface="MiSans" pitchFamily="34" charset="-122"/>
              <a:cs typeface="+mn-lt"/>
            </a:endParaRPr>
          </a:p>
          <a:p>
            <a:endParaRPr lang="zh-CN" altLang="en-US"/>
          </a:p>
        </p:txBody>
      </p:sp>
      <p:sp>
        <p:nvSpPr>
          <p:cNvPr id="12" name="文本框 11"/>
          <p:cNvSpPr txBox="1"/>
          <p:nvPr/>
        </p:nvSpPr>
        <p:spPr>
          <a:xfrm>
            <a:off x="1316990" y="3244850"/>
            <a:ext cx="5756910" cy="398780"/>
          </a:xfrm>
          <a:prstGeom prst="rect">
            <a:avLst/>
          </a:prstGeom>
          <a:noFill/>
        </p:spPr>
        <p:txBody>
          <a:bodyPr wrap="square" rtlCol="0">
            <a:spAutoFit/>
          </a:bodyPr>
          <a:p>
            <a:pPr marL="285750" indent="-285750" algn="just">
              <a:lnSpc>
                <a:spcPct val="100000"/>
              </a:lnSpc>
              <a:buFont typeface="Arial" panose="020B0604020202020204" pitchFamily="34" charset="0"/>
              <a:buChar char="•"/>
            </a:pPr>
            <a:r>
              <a:rPr lang="en-US" altLang="zh-CN" sz="2000" dirty="0">
                <a:solidFill>
                  <a:srgbClr val="2B2F36"/>
                </a:solidFill>
                <a:latin typeface="MiSans" pitchFamily="34" charset="-122"/>
                <a:ea typeface="MiSans" pitchFamily="34" charset="-122"/>
                <a:cs typeface="MiSans" pitchFamily="34" charset="-120"/>
                <a:sym typeface="+mn-ea"/>
              </a:rPr>
              <a:t>Characteristics of Big Data — The 5Vs</a:t>
            </a:r>
            <a:r>
              <a:rPr lang="en-US" altLang="zh-CN" b="1" dirty="0">
                <a:solidFill>
                  <a:srgbClr val="5E927D"/>
                </a:solidFill>
                <a:latin typeface="MiSans" pitchFamily="34" charset="-122"/>
                <a:ea typeface="MiSans" pitchFamily="34" charset="-122"/>
                <a:cs typeface="MiSans" pitchFamily="34" charset="-120"/>
                <a:sym typeface="+mn-ea"/>
              </a:rPr>
              <a:t> </a:t>
            </a:r>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4"/>
          <p:cNvSpPr/>
          <p:nvPr/>
        </p:nvSpPr>
        <p:spPr>
          <a:xfrm rot="5400000">
            <a:off x="467360" y="410210"/>
            <a:ext cx="330200" cy="330200"/>
          </a:xfrm>
          <a:prstGeom prst="triangle">
            <a:avLst/>
          </a:prstGeom>
          <a:solidFill>
            <a:srgbClr val="E0E9C9"/>
          </a:solidFill>
        </p:spPr>
      </p:sp>
      <p:sp>
        <p:nvSpPr>
          <p:cNvPr id="8"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9" name="Shape 6"/>
          <p:cNvSpPr/>
          <p:nvPr/>
        </p:nvSpPr>
        <p:spPr>
          <a:xfrm rot="5400000">
            <a:off x="594360" y="537210"/>
            <a:ext cx="330200" cy="330200"/>
          </a:xfrm>
          <a:prstGeom prst="triangle">
            <a:avLst/>
          </a:prstGeom>
          <a:solidFill>
            <a:srgbClr val="5E927D"/>
          </a:solidFill>
        </p:spPr>
      </p:sp>
      <p:sp>
        <p:nvSpPr>
          <p:cNvPr id="10"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1" name="Text 8"/>
          <p:cNvSpPr/>
          <p:nvPr/>
        </p:nvSpPr>
        <p:spPr>
          <a:xfrm>
            <a:off x="1090930" y="408940"/>
            <a:ext cx="10782935" cy="460375"/>
          </a:xfrm>
          <a:prstGeom prst="rect">
            <a:avLst/>
          </a:prstGeom>
          <a:noFill/>
        </p:spPr>
        <p:txBody>
          <a:bodyPr wrap="square" lIns="91440" tIns="45720" rIns="91440" bIns="45720" rtlCol="0" anchor="t">
            <a:spAutoFit/>
          </a:bodyPr>
          <a:lstStyle/>
          <a:p>
            <a:pPr marL="0" indent="0" algn="just">
              <a:lnSpc>
                <a:spcPct val="100000"/>
              </a:lnSpc>
              <a:buNone/>
            </a:pPr>
            <a:r>
              <a:rPr lang="en-US" altLang="zh-CN" sz="2400" dirty="0"/>
              <a:t>​​Big Data Analysis Workflow</a:t>
            </a:r>
            <a:endParaRPr lang="en-US" altLang="zh-CN" sz="2400" dirty="0"/>
          </a:p>
        </p:txBody>
      </p:sp>
      <p:sp>
        <p:nvSpPr>
          <p:cNvPr id="13" name="Text 10"/>
          <p:cNvSpPr/>
          <p:nvPr/>
        </p:nvSpPr>
        <p:spPr>
          <a:xfrm>
            <a:off x="3981450" y="5556885"/>
            <a:ext cx="668020" cy="72707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2"/>
          <p:cNvSpPr/>
          <p:nvPr/>
        </p:nvSpPr>
        <p:spPr>
          <a:xfrm>
            <a:off x="4871720" y="3249295"/>
            <a:ext cx="3194685" cy="27686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38" name="文本框 37"/>
          <p:cNvSpPr txBox="1"/>
          <p:nvPr/>
        </p:nvSpPr>
        <p:spPr>
          <a:xfrm>
            <a:off x="594360" y="1224280"/>
            <a:ext cx="5245735" cy="706755"/>
          </a:xfrm>
          <a:prstGeom prst="rect">
            <a:avLst/>
          </a:prstGeom>
          <a:noFill/>
        </p:spPr>
        <p:txBody>
          <a:bodyPr wrap="square" rtlCol="0">
            <a:spAutoFit/>
          </a:bodyPr>
          <a:p>
            <a:pPr indent="0">
              <a:buFont typeface="Arial" panose="020B0604020202020204" pitchFamily="34" charset="0"/>
              <a:buNone/>
            </a:pPr>
            <a:r>
              <a:rPr lang="en-US" altLang="zh-CN" sz="2000"/>
              <a:t>Explain the six key stages in a typical big data analysis pipeline:</a:t>
            </a:r>
            <a:endParaRPr lang="en-US" altLang="zh-CN" sz="2000"/>
          </a:p>
        </p:txBody>
      </p:sp>
      <p:sp>
        <p:nvSpPr>
          <p:cNvPr id="5" name="文本框 4"/>
          <p:cNvSpPr txBox="1"/>
          <p:nvPr/>
        </p:nvSpPr>
        <p:spPr>
          <a:xfrm>
            <a:off x="594360" y="2414905"/>
            <a:ext cx="5989320" cy="3476625"/>
          </a:xfrm>
          <a:prstGeom prst="rect">
            <a:avLst/>
          </a:prstGeom>
          <a:noFill/>
        </p:spPr>
        <p:txBody>
          <a:bodyPr wrap="square" rtlCol="0">
            <a:spAutoFit/>
          </a:bodyPr>
          <a:p>
            <a:pPr marL="342900" indent="-342900">
              <a:buAutoNum type="arabicPeriod"/>
            </a:pPr>
            <a:r>
              <a:rPr lang="en-US" altLang="zh-CN" sz="2000" b="1"/>
              <a:t>Data Acquisition:</a:t>
            </a:r>
            <a:r>
              <a:rPr lang="en-US" altLang="zh-CN" sz="2000"/>
              <a:t> APIs, log files, sensors, crawlers.</a:t>
            </a:r>
            <a:endParaRPr lang="en-US" altLang="zh-CN" sz="2000"/>
          </a:p>
          <a:p>
            <a:pPr marL="342900" indent="-342900">
              <a:buAutoNum type="arabicPeriod"/>
            </a:pPr>
            <a:r>
              <a:rPr lang="en-US" altLang="zh-CN" sz="2000" b="1"/>
              <a:t>Data Preprocessing</a:t>
            </a:r>
            <a:r>
              <a:rPr lang="en-US" altLang="zh-CN" sz="2000"/>
              <a:t>: Cleaning, deduplication, missing value handling, feature extraction.</a:t>
            </a:r>
            <a:endParaRPr lang="en-US" altLang="zh-CN" sz="2000"/>
          </a:p>
          <a:p>
            <a:pPr marL="342900" indent="-342900">
              <a:buAutoNum type="arabicPeriod"/>
            </a:pPr>
            <a:r>
              <a:rPr lang="en-US" altLang="zh-CN" sz="2000" b="1"/>
              <a:t>Storage and Management:</a:t>
            </a:r>
            <a:r>
              <a:rPr lang="en-US" altLang="zh-CN" sz="2000"/>
              <a:t> Distributed storage systems (HDFS), NoSQL databases.</a:t>
            </a:r>
            <a:endParaRPr lang="en-US" altLang="zh-CN" sz="2000"/>
          </a:p>
          <a:p>
            <a:pPr marL="342900" indent="-342900">
              <a:buAutoNum type="arabicPeriod"/>
            </a:pPr>
            <a:r>
              <a:rPr lang="en-US" altLang="zh-CN" sz="2000" b="1"/>
              <a:t>Modeling:</a:t>
            </a:r>
            <a:r>
              <a:rPr lang="en-US" altLang="zh-CN" sz="2000"/>
              <a:t> Applying appropriate machine learning/statistical models.</a:t>
            </a:r>
            <a:endParaRPr lang="en-US" altLang="zh-CN" sz="2000"/>
          </a:p>
          <a:p>
            <a:pPr marL="342900" indent="-342900">
              <a:buAutoNum type="arabicPeriod"/>
            </a:pPr>
            <a:r>
              <a:rPr lang="en-US" altLang="zh-CN" sz="2000" b="1"/>
              <a:t>Evaluation:</a:t>
            </a:r>
            <a:r>
              <a:rPr lang="en-US" altLang="zh-CN" sz="2000"/>
              <a:t> Using metrics like accuracy, AUC, F1-score, cross-validation.</a:t>
            </a:r>
            <a:endParaRPr lang="en-US" altLang="zh-CN" sz="2000"/>
          </a:p>
          <a:p>
            <a:pPr marL="342900" indent="-342900">
              <a:buAutoNum type="arabicPeriod"/>
            </a:pPr>
            <a:r>
              <a:rPr lang="en-US" altLang="zh-CN" sz="2000" b="1"/>
              <a:t>Deployment: </a:t>
            </a:r>
            <a:r>
              <a:rPr lang="en-US" altLang="zh-CN" sz="2000"/>
              <a:t>Model integration into production (e.g., via APIs or dashboards).</a:t>
            </a:r>
            <a:endParaRPr lang="en-US" altLang="zh-CN" sz="2000"/>
          </a:p>
        </p:txBody>
      </p:sp>
      <p:pic>
        <p:nvPicPr>
          <p:cNvPr id="2" name="图片 1" descr="ChatGPT Image 2025年7月6日 16_03_19"/>
          <p:cNvPicPr>
            <a:picLocks noChangeAspect="1"/>
          </p:cNvPicPr>
          <p:nvPr/>
        </p:nvPicPr>
        <p:blipFill>
          <a:blip r:embed="rId1"/>
          <a:stretch>
            <a:fillRect/>
          </a:stretch>
        </p:blipFill>
        <p:spPr>
          <a:xfrm>
            <a:off x="6527800" y="1190625"/>
            <a:ext cx="5448300" cy="5093335"/>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https://test-kimi-img.moonshot.cn/pub/slides/slides_tmpl/image/25-05-30-10:50:59-d0shq4s75iks832je590.png"/>
          <p:cNvPicPr>
            <a:picLocks noChangeAspect="1"/>
          </p:cNvPicPr>
          <p:nvPr/>
        </p:nvPicPr>
        <p:blipFill>
          <a:blip r:embed="rId1"/>
          <a:srcRect l="63" r="63"/>
          <a:stretch>
            <a:fillRect/>
          </a:stretch>
        </p:blipFill>
        <p:spPr>
          <a:xfrm>
            <a:off x="1096010" y="3710940"/>
            <a:ext cx="2664000" cy="2131200"/>
          </a:xfrm>
          <a:prstGeom prst="rect">
            <a:avLst/>
          </a:prstGeom>
        </p:spPr>
      </p:pic>
      <p:pic>
        <p:nvPicPr>
          <p:cNvPr id="3" name="Image 1" descr="https://test-kimi-img.moonshot.cn/pub/slides/slides_tmpl/image/25-05-30-10:51:00-d0shq5475iks832je59g.png"/>
          <p:cNvPicPr>
            <a:picLocks noChangeAspect="1"/>
          </p:cNvPicPr>
          <p:nvPr/>
        </p:nvPicPr>
        <p:blipFill>
          <a:blip r:embed="rId2"/>
          <a:srcRect l="63" r="63"/>
          <a:stretch>
            <a:fillRect/>
          </a:stretch>
        </p:blipFill>
        <p:spPr>
          <a:xfrm>
            <a:off x="1107440" y="1370965"/>
            <a:ext cx="2664000" cy="2131200"/>
          </a:xfrm>
          <a:prstGeom prst="rect">
            <a:avLst/>
          </a:prstGeom>
        </p:spPr>
      </p:pic>
      <p:sp>
        <p:nvSpPr>
          <p:cNvPr id="4" name="Shape 0"/>
          <p:cNvSpPr/>
          <p:nvPr/>
        </p:nvSpPr>
        <p:spPr>
          <a:xfrm>
            <a:off x="638810" y="6362065"/>
            <a:ext cx="215900" cy="215900"/>
          </a:xfrm>
          <a:prstGeom prst="roundRect">
            <a:avLst>
              <a:gd name="adj" fmla="val 50000"/>
            </a:avLst>
          </a:prstGeom>
          <a:solidFill>
            <a:srgbClr val="5E927D"/>
          </a:solidFill>
        </p:spPr>
      </p:sp>
      <p:sp>
        <p:nvSpPr>
          <p:cNvPr id="5"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7"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4"/>
          <p:cNvSpPr/>
          <p:nvPr/>
        </p:nvSpPr>
        <p:spPr>
          <a:xfrm rot="5400000">
            <a:off x="467360" y="410210"/>
            <a:ext cx="330200" cy="330200"/>
          </a:xfrm>
          <a:prstGeom prst="triangle">
            <a:avLst/>
          </a:prstGeom>
          <a:solidFill>
            <a:srgbClr val="E0E9C9"/>
          </a:solidFill>
        </p:spPr>
      </p:sp>
      <p:sp>
        <p:nvSpPr>
          <p:cNvPr id="9"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Shape 6"/>
          <p:cNvSpPr/>
          <p:nvPr/>
        </p:nvSpPr>
        <p:spPr>
          <a:xfrm rot="5400000">
            <a:off x="594360" y="537210"/>
            <a:ext cx="330200" cy="330200"/>
          </a:xfrm>
          <a:prstGeom prst="triangle">
            <a:avLst/>
          </a:prstGeom>
          <a:solidFill>
            <a:srgbClr val="5E927D"/>
          </a:solidFill>
        </p:spPr>
      </p:sp>
      <p:sp>
        <p:nvSpPr>
          <p:cNvPr id="11"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2" name="Text 8"/>
          <p:cNvSpPr/>
          <p:nvPr/>
        </p:nvSpPr>
        <p:spPr>
          <a:xfrm>
            <a:off x="1090930" y="408940"/>
            <a:ext cx="561784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dirty="0">
                <a:sym typeface="+mn-ea"/>
              </a:rPr>
              <a:t>​​Supervised Learning: Basic Concept</a:t>
            </a:r>
            <a:endParaRPr lang="en-US" altLang="zh-CN" sz="2800" b="1" dirty="0">
              <a:solidFill>
                <a:srgbClr val="2F493E"/>
              </a:solidFill>
              <a:latin typeface="MiSans" pitchFamily="34" charset="-122"/>
              <a:ea typeface="MiSans" pitchFamily="34" charset="-122"/>
              <a:cs typeface="MiSans" pitchFamily="34" charset="-120"/>
            </a:endParaRPr>
          </a:p>
        </p:txBody>
      </p:sp>
      <p:sp>
        <p:nvSpPr>
          <p:cNvPr id="13" name="Shape 9"/>
          <p:cNvSpPr/>
          <p:nvPr>
            <p:custDataLst>
              <p:tags r:id="rId3"/>
            </p:custDataLst>
          </p:nvPr>
        </p:nvSpPr>
        <p:spPr>
          <a:xfrm>
            <a:off x="3977640" y="1337310"/>
            <a:ext cx="7620000" cy="4501515"/>
          </a:xfrm>
          <a:prstGeom prst="roundRect">
            <a:avLst>
              <a:gd name="adj" fmla="val 3784"/>
            </a:avLst>
          </a:prstGeom>
          <a:solidFill>
            <a:srgbClr val="E0E9C9"/>
          </a:solidFill>
        </p:spPr>
      </p:sp>
      <p:sp>
        <p:nvSpPr>
          <p:cNvPr id="14" name="Text 10"/>
          <p:cNvSpPr/>
          <p:nvPr/>
        </p:nvSpPr>
        <p:spPr>
          <a:xfrm>
            <a:off x="3865880" y="1370965"/>
            <a:ext cx="7620000" cy="213106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7" name="Text 13"/>
          <p:cNvSpPr/>
          <p:nvPr>
            <p:custDataLst>
              <p:tags r:id="rId4"/>
            </p:custDataLst>
          </p:nvPr>
        </p:nvSpPr>
        <p:spPr>
          <a:xfrm>
            <a:off x="4124960" y="1932940"/>
            <a:ext cx="7360920" cy="1777365"/>
          </a:xfrm>
          <a:prstGeom prst="rect">
            <a:avLst/>
          </a:prstGeom>
          <a:noFill/>
        </p:spPr>
        <p:txBody>
          <a:bodyPr wrap="square" lIns="91440" tIns="45720" rIns="91440" bIns="45720" rtlCol="0" anchor="t">
            <a:noAutofit/>
          </a:bodyPr>
          <a:lstStyle/>
          <a:p>
            <a:pPr marL="342900" indent="-342900" algn="just">
              <a:lnSpc>
                <a:spcPct val="130000"/>
              </a:lnSpc>
              <a:buFont typeface="Arial" panose="020B0604020202020204" pitchFamily="34" charset="0"/>
              <a:buChar char="•"/>
            </a:pPr>
            <a:r>
              <a:rPr lang="en-US" altLang="zh-CN" sz="2000" dirty="0">
                <a:solidFill>
                  <a:srgbClr val="000000"/>
                </a:solidFill>
                <a:ea typeface="MiSans" pitchFamily="34" charset="-122"/>
                <a:cs typeface="+mn-lt"/>
              </a:rPr>
              <a:t>Supervised learning is a type of machine learning where the model is trained using labeled data — that is, each input is paired with a known output. </a:t>
            </a:r>
            <a:endParaRPr lang="en-US" altLang="zh-CN" sz="2000" dirty="0">
              <a:solidFill>
                <a:srgbClr val="000000"/>
              </a:solidFill>
              <a:ea typeface="MiSans" pitchFamily="34" charset="-122"/>
              <a:cs typeface="+mn-lt"/>
            </a:endParaRPr>
          </a:p>
          <a:p>
            <a:pPr marL="342900" indent="-342900" algn="just">
              <a:lnSpc>
                <a:spcPct val="130000"/>
              </a:lnSpc>
              <a:buFont typeface="Arial" panose="020B0604020202020204" pitchFamily="34" charset="0"/>
              <a:buChar char="•"/>
            </a:pPr>
            <a:r>
              <a:rPr lang="en-US" altLang="zh-CN" sz="2000" dirty="0">
                <a:solidFill>
                  <a:srgbClr val="000000"/>
                </a:solidFill>
                <a:ea typeface="MiSans" pitchFamily="34" charset="-122"/>
                <a:cs typeface="+mn-lt"/>
              </a:rPr>
              <a:t>The goal is for the model to learn a mapping from inputs to outputs so it can predict outcomes for new, unseen data.</a:t>
            </a:r>
            <a:endParaRPr lang="en-US" altLang="zh-CN" sz="2000" dirty="0">
              <a:solidFill>
                <a:srgbClr val="000000"/>
              </a:solidFill>
              <a:ea typeface="MiSans" pitchFamily="34" charset="-122"/>
              <a:cs typeface="+mn-lt"/>
            </a:endParaRPr>
          </a:p>
        </p:txBody>
      </p:sp>
      <p:sp>
        <p:nvSpPr>
          <p:cNvPr id="18" name="Text 14"/>
          <p:cNvSpPr/>
          <p:nvPr>
            <p:custDataLst>
              <p:tags r:id="rId5"/>
            </p:custDataLst>
          </p:nvPr>
        </p:nvSpPr>
        <p:spPr>
          <a:xfrm>
            <a:off x="4253230" y="4157980"/>
            <a:ext cx="1616710" cy="398780"/>
          </a:xfrm>
          <a:prstGeom prst="rect">
            <a:avLst/>
          </a:prstGeom>
          <a:noFill/>
        </p:spPr>
        <p:txBody>
          <a:bodyPr wrap="square" lIns="91440" tIns="45720" rIns="91440" bIns="45720" rtlCol="0" anchor="t">
            <a:spAutoFit/>
          </a:bodyPr>
          <a:lstStyle/>
          <a:p>
            <a:pPr marL="0" indent="0" algn="just">
              <a:lnSpc>
                <a:spcPct val="100000"/>
              </a:lnSpc>
              <a:buNone/>
            </a:pPr>
            <a:r>
              <a:rPr lang="zh-CN" altLang="en-US" sz="2000" b="1" dirty="0">
                <a:solidFill>
                  <a:srgbClr val="5E927D"/>
                </a:solidFill>
                <a:latin typeface="MiSans" pitchFamily="34" charset="-122"/>
                <a:ea typeface="MiSans" pitchFamily="34" charset="-122"/>
                <a:cs typeface="MiSans" pitchFamily="34" charset="-120"/>
              </a:rPr>
              <a:t>📱</a:t>
            </a:r>
            <a:r>
              <a:rPr lang="en-US" altLang="zh-CN" sz="2000" b="1" dirty="0">
                <a:solidFill>
                  <a:srgbClr val="5E927D"/>
                </a:solidFill>
                <a:latin typeface="MiSans" pitchFamily="34" charset="-122"/>
                <a:ea typeface="MiSans" pitchFamily="34" charset="-122"/>
                <a:cs typeface="MiSans" pitchFamily="34" charset="-120"/>
              </a:rPr>
              <a:t>  </a:t>
            </a:r>
            <a:r>
              <a:rPr lang="en-US" altLang="zh-CN" sz="2000" b="1" dirty="0">
                <a:solidFill>
                  <a:schemeClr val="accent1"/>
                </a:solidFill>
                <a:effectLst>
                  <a:outerShdw blurRad="38100" dist="25400" dir="5400000" algn="ctr" rotWithShape="0">
                    <a:srgbClr val="6E747A">
                      <a:alpha val="43000"/>
                    </a:srgbClr>
                  </a:outerShdw>
                </a:effectLst>
                <a:latin typeface="MiSans" pitchFamily="34" charset="-122"/>
                <a:ea typeface="MiSans" pitchFamily="34" charset="-122"/>
                <a:cs typeface="MiSans" pitchFamily="34" charset="-120"/>
                <a:sym typeface="+mn-ea"/>
              </a:rPr>
              <a:t>Example:</a:t>
            </a:r>
            <a:endParaRPr lang="en-US" altLang="zh-CN" sz="2000" b="1" dirty="0">
              <a:solidFill>
                <a:schemeClr val="accent1"/>
              </a:solidFill>
              <a:effectLst>
                <a:outerShdw blurRad="38100" dist="25400" dir="5400000" algn="ctr" rotWithShape="0">
                  <a:srgbClr val="6E747A">
                    <a:alpha val="43000"/>
                  </a:srgbClr>
                </a:outerShdw>
              </a:effectLst>
              <a:latin typeface="MiSans" pitchFamily="34" charset="-122"/>
              <a:ea typeface="MiSans" pitchFamily="34" charset="-122"/>
              <a:cs typeface="MiSans" pitchFamily="34" charset="-120"/>
              <a:sym typeface="+mn-ea"/>
            </a:endParaRPr>
          </a:p>
        </p:txBody>
      </p:sp>
      <p:sp>
        <p:nvSpPr>
          <p:cNvPr id="20" name="Text 16"/>
          <p:cNvSpPr/>
          <p:nvPr/>
        </p:nvSpPr>
        <p:spPr>
          <a:xfrm>
            <a:off x="3865880" y="3707765"/>
            <a:ext cx="7620000" cy="213106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5" name="Text 14"/>
          <p:cNvSpPr/>
          <p:nvPr>
            <p:custDataLst>
              <p:tags r:id="rId6"/>
            </p:custDataLst>
          </p:nvPr>
        </p:nvSpPr>
        <p:spPr>
          <a:xfrm>
            <a:off x="4253230" y="1599565"/>
            <a:ext cx="7069455" cy="398780"/>
          </a:xfrm>
          <a:prstGeom prst="rect">
            <a:avLst/>
          </a:prstGeom>
          <a:noFill/>
        </p:spPr>
        <p:txBody>
          <a:bodyPr wrap="square" lIns="91440" tIns="45720" rIns="91440" bIns="45720" rtlCol="0" anchor="t">
            <a:spAutoFit/>
          </a:bodyPr>
          <a:p>
            <a:pPr marL="0" indent="0" algn="just">
              <a:lnSpc>
                <a:spcPct val="100000"/>
              </a:lnSpc>
              <a:buNone/>
            </a:pPr>
            <a:r>
              <a:rPr lang="zh-CN" altLang="en-US" sz="2000" b="1" dirty="0">
                <a:solidFill>
                  <a:srgbClr val="5E927D"/>
                </a:solidFill>
                <a:latin typeface="MiSans" pitchFamily="34" charset="-122"/>
                <a:ea typeface="MiSans" pitchFamily="34" charset="-122"/>
                <a:cs typeface="MiSans" pitchFamily="34" charset="-120"/>
              </a:rPr>
              <a:t>📱</a:t>
            </a:r>
            <a:r>
              <a:rPr lang="en-US" altLang="zh-CN" sz="2000" b="1" dirty="0">
                <a:solidFill>
                  <a:srgbClr val="5E927D"/>
                </a:solidFill>
                <a:latin typeface="MiSans" pitchFamily="34" charset="-122"/>
                <a:ea typeface="MiSans" pitchFamily="34" charset="-122"/>
                <a:cs typeface="MiSans" pitchFamily="34" charset="-120"/>
              </a:rPr>
              <a:t>  </a:t>
            </a:r>
            <a:r>
              <a:rPr lang="en-US" altLang="zh-CN" sz="2000" dirty="0">
                <a:solidFill>
                  <a:schemeClr val="accent1"/>
                </a:solidFill>
                <a:effectLst>
                  <a:outerShdw blurRad="38100" dist="25400" dir="5400000" algn="ctr" rotWithShape="0">
                    <a:srgbClr val="6E747A">
                      <a:alpha val="43000"/>
                    </a:srgbClr>
                  </a:outerShdw>
                </a:effectLst>
                <a:sym typeface="+mn-ea"/>
              </a:rPr>
              <a:t>Basic Concept</a:t>
            </a:r>
            <a:endParaRPr lang="en-US" altLang="zh-CN" sz="2000" b="1" dirty="0">
              <a:solidFill>
                <a:schemeClr val="accent1"/>
              </a:solidFill>
              <a:effectLst>
                <a:outerShdw blurRad="38100" dist="25400" dir="5400000" algn="ctr" rotWithShape="0">
                  <a:srgbClr val="6E747A">
                    <a:alpha val="43000"/>
                  </a:srgbClr>
                </a:outerShdw>
              </a:effectLst>
              <a:latin typeface="MiSans" pitchFamily="34" charset="-122"/>
              <a:ea typeface="MiSans" pitchFamily="34" charset="-122"/>
              <a:cs typeface="MiSans" pitchFamily="34" charset="-120"/>
              <a:sym typeface="+mn-ea"/>
            </a:endParaRPr>
          </a:p>
        </p:txBody>
      </p:sp>
      <p:sp>
        <p:nvSpPr>
          <p:cNvPr id="16" name="文本框 15"/>
          <p:cNvSpPr txBox="1"/>
          <p:nvPr/>
        </p:nvSpPr>
        <p:spPr>
          <a:xfrm>
            <a:off x="4253230" y="4763770"/>
            <a:ext cx="7291705" cy="1044575"/>
          </a:xfrm>
          <a:prstGeom prst="rect">
            <a:avLst/>
          </a:prstGeom>
          <a:noFill/>
        </p:spPr>
        <p:txBody>
          <a:bodyPr wrap="square" rtlCol="0">
            <a:noAutofit/>
          </a:bodyPr>
          <a:p>
            <a:pPr marL="285750" indent="-285750">
              <a:buFont typeface="Arial" panose="020B0604020202020204" pitchFamily="34" charset="0"/>
              <a:buChar char="•"/>
            </a:pPr>
            <a:r>
              <a:rPr lang="en-US" altLang="zh-CN" sz="2000" dirty="0">
                <a:solidFill>
                  <a:srgbClr val="000000"/>
                </a:solidFill>
                <a:ea typeface="MiSans" pitchFamily="34" charset="-122"/>
                <a:cs typeface="+mn-lt"/>
              </a:rPr>
              <a:t>Given historical housing data (with features like area and number of rooms, and known prices), a supervised learning model can learn to predict the price of a new house.</a:t>
            </a:r>
            <a:endParaRPr lang="en-US" altLang="zh-CN" sz="2000" dirty="0">
              <a:solidFill>
                <a:srgbClr val="000000"/>
              </a:solidFill>
              <a:ea typeface="MiSans" pitchFamily="34" charset="-122"/>
              <a:cs typeface="+mn-lt"/>
            </a:endParaRPr>
          </a:p>
          <a:p>
            <a:endParaRPr lang="en-US" altLang="zh-CN" sz="2000" dirty="0">
              <a:solidFill>
                <a:srgbClr val="000000"/>
              </a:solidFill>
              <a:ea typeface="MiSans" pitchFamily="34" charset="-122"/>
              <a:cs typeface="+mn-lt"/>
            </a:endParaRPr>
          </a:p>
          <a:p>
            <a:endParaRPr lang="en-US" altLang="zh-CN" sz="2000" dirty="0">
              <a:solidFill>
                <a:srgbClr val="000000"/>
              </a:solidFill>
              <a:ea typeface="MiSans" pitchFamily="34" charset="-122"/>
              <a:cs typeface="+mn-lt"/>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26-d0shpsk75iks832je50g.png"/>
          <p:cNvPicPr>
            <a:picLocks noChangeAspect="1"/>
          </p:cNvPicPr>
          <p:nvPr/>
        </p:nvPicPr>
        <p:blipFill>
          <a:blip r:embed="rId1">
            <a:alphaModFix amt="12000"/>
          </a:blip>
          <a:srcRect r="25396" b="24777"/>
          <a:stretch>
            <a:fillRect/>
          </a:stretch>
        </p:blipFill>
        <p:spPr>
          <a:xfrm>
            <a:off x="0" y="0"/>
            <a:ext cx="12188825" cy="6857365"/>
          </a:xfrm>
          <a:prstGeom prst="rect">
            <a:avLst/>
          </a:prstGeom>
        </p:spPr>
      </p:pic>
      <p:sp>
        <p:nvSpPr>
          <p:cNvPr id="3" name="Shape 0"/>
          <p:cNvSpPr/>
          <p:nvPr/>
        </p:nvSpPr>
        <p:spPr>
          <a:xfrm>
            <a:off x="4493260" y="4312920"/>
            <a:ext cx="960120" cy="960120"/>
          </a:xfrm>
          <a:prstGeom prst="rect">
            <a:avLst/>
          </a:prstGeom>
          <a:solidFill>
            <a:srgbClr val="E0E9C9"/>
          </a:solidFill>
        </p:spPr>
      </p:sp>
      <p:sp>
        <p:nvSpPr>
          <p:cNvPr id="4" name="Text 1"/>
          <p:cNvSpPr/>
          <p:nvPr/>
        </p:nvSpPr>
        <p:spPr>
          <a:xfrm>
            <a:off x="4493260" y="4312920"/>
            <a:ext cx="960120" cy="960120"/>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5" name="Image 1" descr="https://test-kimi-img.moonshot.cn/pub/slides/slides_tmpl/image/25-05-30-10:50:00-d0shpm475iks832je4ug.png"/>
          <p:cNvPicPr>
            <a:picLocks noChangeAspect="1"/>
          </p:cNvPicPr>
          <p:nvPr/>
        </p:nvPicPr>
        <p:blipFill>
          <a:blip r:embed="rId2"/>
          <a:srcRect t="51" b="51"/>
          <a:stretch>
            <a:fillRect/>
          </a:stretch>
        </p:blipFill>
        <p:spPr>
          <a:xfrm>
            <a:off x="1096010" y="1706880"/>
            <a:ext cx="3843020" cy="3093720"/>
          </a:xfrm>
          <a:prstGeom prst="rect">
            <a:avLst/>
          </a:prstGeom>
        </p:spPr>
      </p:pic>
      <p:sp>
        <p:nvSpPr>
          <p:cNvPr id="6" name="Text 2"/>
          <p:cNvSpPr/>
          <p:nvPr/>
        </p:nvSpPr>
        <p:spPr>
          <a:xfrm>
            <a:off x="8211185" y="1837690"/>
            <a:ext cx="1723390" cy="1322070"/>
          </a:xfrm>
          <a:prstGeom prst="rect">
            <a:avLst/>
          </a:prstGeom>
          <a:noFill/>
        </p:spPr>
        <p:txBody>
          <a:bodyPr wrap="square" lIns="91440" tIns="45720" rIns="91440" bIns="45720" rtlCol="0" anchor="t">
            <a:spAutoFit/>
          </a:bodyPr>
          <a:lstStyle/>
          <a:p>
            <a:pPr marL="0" indent="0" algn="l">
              <a:lnSpc>
                <a:spcPct val="100000"/>
              </a:lnSpc>
              <a:buNone/>
            </a:pPr>
            <a:r>
              <a:rPr lang="en-US" sz="8000" b="1" dirty="0">
                <a:solidFill>
                  <a:srgbClr val="000000"/>
                </a:solidFill>
                <a:latin typeface="MiSans" pitchFamily="34" charset="-122"/>
                <a:ea typeface="MiSans" pitchFamily="34" charset="-122"/>
                <a:cs typeface="MiSans" pitchFamily="34" charset="-120"/>
              </a:rPr>
              <a:t>09</a:t>
            </a:r>
            <a:endParaRPr lang="en-US" sz="1600" dirty="0"/>
          </a:p>
        </p:txBody>
      </p:sp>
      <p:sp>
        <p:nvSpPr>
          <p:cNvPr id="7" name="Text 3"/>
          <p:cNvSpPr/>
          <p:nvPr/>
        </p:nvSpPr>
        <p:spPr>
          <a:xfrm>
            <a:off x="5979795" y="3223895"/>
            <a:ext cx="6186805" cy="2122805"/>
          </a:xfrm>
          <a:prstGeom prst="rect">
            <a:avLst/>
          </a:prstGeom>
          <a:noFill/>
        </p:spPr>
        <p:txBody>
          <a:bodyPr wrap="square" lIns="91440" tIns="45720" rIns="91440" bIns="45720" rtlCol="0" anchor="t">
            <a:spAutoFit/>
          </a:bodyPr>
          <a:lstStyle/>
          <a:p>
            <a:pPr marL="0" indent="0" algn="ctr">
              <a:lnSpc>
                <a:spcPct val="100000"/>
              </a:lnSpc>
              <a:buNone/>
            </a:pPr>
            <a:r>
              <a:rPr lang="en-US" altLang="zh-CN" sz="4400" dirty="0"/>
              <a:t>Intelligent Systems Integrated Design Case Studies</a:t>
            </a:r>
            <a:endParaRPr lang="en-US" altLang="zh-CN" sz="4400" dirty="0"/>
          </a:p>
        </p:txBody>
      </p:sp>
      <p:sp>
        <p:nvSpPr>
          <p:cNvPr id="8" name="Text 4"/>
          <p:cNvSpPr/>
          <p:nvPr/>
        </p:nvSpPr>
        <p:spPr>
          <a:xfrm>
            <a:off x="649605" y="269240"/>
            <a:ext cx="4064000" cy="276225"/>
          </a:xfrm>
          <a:prstGeom prst="rect">
            <a:avLst/>
          </a:prstGeom>
          <a:noFill/>
        </p:spPr>
        <p:txBody>
          <a:bodyPr wrap="square" lIns="91440" tIns="45720" rIns="91440" bIns="45720" rtlCol="0" anchor="t">
            <a:spAutoFit/>
          </a:bodyPr>
          <a:lstStyle/>
          <a:p>
            <a:pPr marL="0" indent="0" algn="l">
              <a:lnSpc>
                <a:spcPct val="100000"/>
              </a:lnSpc>
              <a:buNone/>
            </a:pPr>
            <a:r>
              <a:rPr lang="en-US" sz="1800" b="1" dirty="0">
                <a:solidFill>
                  <a:srgbClr val="000000"/>
                </a:solidFill>
                <a:latin typeface="MiSans" pitchFamily="34" charset="-122"/>
                <a:ea typeface="MiSans" pitchFamily="34" charset="-122"/>
                <a:cs typeface="MiSans" pitchFamily="34" charset="-120"/>
              </a:rPr>
              <a:t>YOUR LOGO</a:t>
            </a:r>
            <a:endParaRPr lang="en-US" sz="16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Definition and Scope</a:t>
            </a:r>
            <a:endParaRPr lang="en-US" sz="1600" dirty="0"/>
          </a:p>
        </p:txBody>
      </p:sp>
      <p:sp>
        <p:nvSpPr>
          <p:cNvPr id="9" name="Shape 7"/>
          <p:cNvSpPr/>
          <p:nvPr/>
        </p:nvSpPr>
        <p:spPr>
          <a:xfrm>
            <a:off x="895350" y="1499855"/>
            <a:ext cx="3131820" cy="4437826"/>
          </a:xfrm>
          <a:prstGeom prst="roundRect">
            <a:avLst>
              <a:gd name="adj" fmla="val 5833"/>
            </a:avLst>
          </a:prstGeom>
          <a:solidFill>
            <a:srgbClr val="FFFFFF"/>
          </a:solidFill>
          <a:ln w="19050">
            <a:solidFill>
              <a:srgbClr val="739071"/>
            </a:solidFill>
            <a:prstDash val="solid"/>
          </a:ln>
        </p:spPr>
      </p:sp>
      <p:sp>
        <p:nvSpPr>
          <p:cNvPr id="10" name="Text 8"/>
          <p:cNvSpPr/>
          <p:nvPr/>
        </p:nvSpPr>
        <p:spPr>
          <a:xfrm>
            <a:off x="89535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1" name="Image 0" descr="https://test-kimi-img.moonshot.cn/pub/slides/slides_tmpl/image/25-05-30-10:51:00-d0shq5475iks832je5a0.png"/>
          <p:cNvPicPr>
            <a:picLocks noChangeAspect="1"/>
          </p:cNvPicPr>
          <p:nvPr/>
        </p:nvPicPr>
        <p:blipFill>
          <a:blip r:embed="rId1"/>
          <a:srcRect t="155" b="194"/>
          <a:stretch>
            <a:fillRect/>
          </a:stretch>
        </p:blipFill>
        <p:spPr>
          <a:xfrm>
            <a:off x="1069975" y="1678282"/>
            <a:ext cx="2783205" cy="1633785"/>
          </a:xfrm>
          <a:prstGeom prst="rect">
            <a:avLst/>
          </a:prstGeom>
        </p:spPr>
      </p:pic>
      <p:sp>
        <p:nvSpPr>
          <p:cNvPr id="12" name="Text 9"/>
          <p:cNvSpPr/>
          <p:nvPr/>
        </p:nvSpPr>
        <p:spPr>
          <a:xfrm>
            <a:off x="1026160" y="4026412"/>
            <a:ext cx="2827020" cy="1910358"/>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Intelligent systems are advanced technologies that mimic human intelligence to perform tasks. They integrate machine learning, natural language processing, and computer vision to solve complex problems efficiently.</a:t>
            </a:r>
            <a:endParaRPr lang="en-US" sz="1600" dirty="0"/>
          </a:p>
        </p:txBody>
      </p:sp>
      <p:sp>
        <p:nvSpPr>
          <p:cNvPr id="13" name="Text 10"/>
          <p:cNvSpPr/>
          <p:nvPr/>
        </p:nvSpPr>
        <p:spPr>
          <a:xfrm>
            <a:off x="104775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Definition Core</a:t>
            </a:r>
            <a:endParaRPr lang="en-US" sz="1600" dirty="0"/>
          </a:p>
        </p:txBody>
      </p:sp>
      <p:sp>
        <p:nvSpPr>
          <p:cNvPr id="14" name="Shape 11"/>
          <p:cNvSpPr/>
          <p:nvPr/>
        </p:nvSpPr>
        <p:spPr>
          <a:xfrm>
            <a:off x="4349115" y="1149350"/>
            <a:ext cx="3605530" cy="5138201"/>
          </a:xfrm>
          <a:prstGeom prst="roundRect">
            <a:avLst>
              <a:gd name="adj" fmla="val 5833"/>
            </a:avLst>
          </a:prstGeom>
          <a:solidFill>
            <a:srgbClr val="FFFFFF"/>
          </a:solidFill>
          <a:ln w="19050">
            <a:solidFill>
              <a:srgbClr val="739071"/>
            </a:solidFill>
            <a:prstDash val="solid"/>
          </a:ln>
        </p:spPr>
      </p:sp>
      <p:sp>
        <p:nvSpPr>
          <p:cNvPr id="15" name="Text 12"/>
          <p:cNvSpPr/>
          <p:nvPr/>
        </p:nvSpPr>
        <p:spPr>
          <a:xfrm>
            <a:off x="4349115" y="1149350"/>
            <a:ext cx="3605530" cy="5138201"/>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6" name="Image 1" descr="https://test-kimi-img.moonshot.cn/pub/slides/slides_tmpl/image/25-05-30-10:51:01-d0shq5c75iks832je5ag.png"/>
          <p:cNvPicPr>
            <a:picLocks noChangeAspect="1"/>
          </p:cNvPicPr>
          <p:nvPr/>
        </p:nvPicPr>
        <p:blipFill>
          <a:blip r:embed="rId2"/>
          <a:srcRect l="54" r="54"/>
          <a:stretch>
            <a:fillRect/>
          </a:stretch>
        </p:blipFill>
        <p:spPr>
          <a:xfrm>
            <a:off x="4471192" y="1366087"/>
            <a:ext cx="3361377" cy="2163100"/>
          </a:xfrm>
          <a:prstGeom prst="rect">
            <a:avLst/>
          </a:prstGeom>
        </p:spPr>
      </p:pic>
      <p:sp>
        <p:nvSpPr>
          <p:cNvPr id="17" name="Text 13"/>
          <p:cNvSpPr/>
          <p:nvPr/>
        </p:nvSpPr>
        <p:spPr>
          <a:xfrm>
            <a:off x="4490724" y="4117736"/>
            <a:ext cx="3322312" cy="2048272"/>
          </a:xfrm>
          <a:prstGeom prst="rect">
            <a:avLst/>
          </a:prstGeom>
          <a:noFill/>
        </p:spPr>
        <p:txBody>
          <a:bodyPr wrap="square" lIns="0" tIns="0" rIns="0" bIns="0" rtlCol="0" anchor="t">
            <a:spAutoFit/>
          </a:bodyPr>
          <a:lstStyle/>
          <a:p>
            <a:pPr marL="0" indent="0" algn="just">
              <a:lnSpc>
                <a:spcPct val="120000"/>
              </a:lnSpc>
              <a:buNone/>
            </a:pPr>
            <a:r>
              <a:rPr lang="en-US" sz="1600" dirty="0">
                <a:solidFill>
                  <a:srgbClr val="2B2F36"/>
                </a:solidFill>
                <a:latin typeface="MiSans" pitchFamily="34" charset="-122"/>
                <a:ea typeface="MiSans" pitchFamily="34" charset="-122"/>
                <a:cs typeface="MiSans" pitchFamily="34" charset="-120"/>
              </a:rPr>
              <a:t>These systems are widely used in healthcare, finance, transportation, and manufacturing. They enhance decision-making, automate processes, and improve user experiences through personalized interactions.</a:t>
            </a:r>
            <a:endParaRPr lang="en-US" sz="1600" dirty="0"/>
          </a:p>
        </p:txBody>
      </p:sp>
      <p:sp>
        <p:nvSpPr>
          <p:cNvPr id="18" name="Text 14"/>
          <p:cNvSpPr/>
          <p:nvPr/>
        </p:nvSpPr>
        <p:spPr>
          <a:xfrm>
            <a:off x="4490724" y="3529187"/>
            <a:ext cx="3322312" cy="523833"/>
          </a:xfrm>
          <a:prstGeom prst="rect">
            <a:avLst/>
          </a:prstGeom>
          <a:noFill/>
        </p:spPr>
        <p:txBody>
          <a:bodyPr wrap="square" lIns="0" tIns="0" rIns="0" bIns="35941" rtlCol="0" anchor="ctr"/>
          <a:lstStyle/>
          <a:p>
            <a:pPr marL="0" indent="0" algn="ctr">
              <a:lnSpc>
                <a:spcPct val="100000"/>
              </a:lnSpc>
              <a:buNone/>
            </a:pPr>
            <a:r>
              <a:rPr lang="en-US" sz="1800" b="1" dirty="0">
                <a:solidFill>
                  <a:srgbClr val="5E927D"/>
                </a:solidFill>
                <a:latin typeface="MiSans" pitchFamily="34" charset="-122"/>
                <a:ea typeface="MiSans" pitchFamily="34" charset="-122"/>
                <a:cs typeface="MiSans" pitchFamily="34" charset="-120"/>
              </a:rPr>
              <a:t>Application Areas</a:t>
            </a:r>
            <a:endParaRPr lang="en-US" sz="1600" dirty="0"/>
          </a:p>
        </p:txBody>
      </p:sp>
      <p:sp>
        <p:nvSpPr>
          <p:cNvPr id="19" name="Shape 15"/>
          <p:cNvSpPr/>
          <p:nvPr/>
        </p:nvSpPr>
        <p:spPr>
          <a:xfrm>
            <a:off x="8232140" y="1499870"/>
            <a:ext cx="3176270" cy="4787900"/>
          </a:xfrm>
          <a:prstGeom prst="roundRect">
            <a:avLst>
              <a:gd name="adj" fmla="val 5833"/>
            </a:avLst>
          </a:prstGeom>
          <a:solidFill>
            <a:srgbClr val="FFFFFF"/>
          </a:solidFill>
          <a:ln w="19050">
            <a:solidFill>
              <a:srgbClr val="739071"/>
            </a:solidFill>
            <a:prstDash val="solid"/>
          </a:ln>
        </p:spPr>
      </p:sp>
      <p:sp>
        <p:nvSpPr>
          <p:cNvPr id="20" name="Text 16"/>
          <p:cNvSpPr/>
          <p:nvPr/>
        </p:nvSpPr>
        <p:spPr>
          <a:xfrm>
            <a:off x="8276590" y="1499855"/>
            <a:ext cx="3131820" cy="4437826"/>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21" name="Image 2" descr="https://test-kimi-img.moonshot.cn/pub/slides/slides_tmpl/image/25-05-30-10:51:01-d0shq5c75iks832je5b0.png"/>
          <p:cNvPicPr>
            <a:picLocks noChangeAspect="1"/>
          </p:cNvPicPr>
          <p:nvPr/>
        </p:nvPicPr>
        <p:blipFill>
          <a:blip r:embed="rId3"/>
          <a:srcRect t="155" b="194"/>
          <a:stretch>
            <a:fillRect/>
          </a:stretch>
        </p:blipFill>
        <p:spPr>
          <a:xfrm>
            <a:off x="8451215" y="1678282"/>
            <a:ext cx="2783205" cy="1633785"/>
          </a:xfrm>
          <a:prstGeom prst="rect">
            <a:avLst/>
          </a:prstGeom>
        </p:spPr>
      </p:pic>
      <p:sp>
        <p:nvSpPr>
          <p:cNvPr id="22" name="Text 17"/>
          <p:cNvSpPr/>
          <p:nvPr/>
        </p:nvSpPr>
        <p:spPr>
          <a:xfrm>
            <a:off x="8407400" y="4026412"/>
            <a:ext cx="2827020" cy="2183209"/>
          </a:xfrm>
          <a:prstGeom prst="rect">
            <a:avLst/>
          </a:prstGeom>
          <a:noFill/>
        </p:spPr>
        <p:txBody>
          <a:bodyPr wrap="square" lIns="0" tIns="0" rIns="0" bIns="0" rtlCol="0" anchor="t">
            <a:spAutoFit/>
          </a:bodyPr>
          <a:lstStyle/>
          <a:p>
            <a:pPr marL="0" indent="0" algn="just">
              <a:lnSpc>
                <a:spcPct val="120000"/>
              </a:lnSpc>
              <a:buNone/>
            </a:pPr>
            <a:r>
              <a:rPr lang="en-US" sz="1400" dirty="0">
                <a:solidFill>
                  <a:srgbClr val="2B2F36"/>
                </a:solidFill>
                <a:latin typeface="MiSans" pitchFamily="34" charset="-122"/>
                <a:ea typeface="MiSans" pitchFamily="34" charset="-122"/>
                <a:cs typeface="MiSans" pitchFamily="34" charset="-120"/>
              </a:rPr>
              <a:t>The evolution of intelligent systems has progressed from rule-based systems to machine learning models and now to deep learning architectures. This progression has significantly increased their capabilities and adaptability.</a:t>
            </a:r>
            <a:endParaRPr lang="en-US" sz="1600" dirty="0"/>
          </a:p>
        </p:txBody>
      </p:sp>
      <p:sp>
        <p:nvSpPr>
          <p:cNvPr id="23" name="Text 18"/>
          <p:cNvSpPr/>
          <p:nvPr/>
        </p:nvSpPr>
        <p:spPr>
          <a:xfrm>
            <a:off x="8428990" y="3312068"/>
            <a:ext cx="2827655" cy="593065"/>
          </a:xfrm>
          <a:prstGeom prst="rect">
            <a:avLst/>
          </a:prstGeom>
          <a:noFill/>
        </p:spPr>
        <p:txBody>
          <a:bodyPr wrap="square" lIns="0" tIns="0" rIns="0" bIns="35941" rtlCol="0" anchor="ctr"/>
          <a:lstStyle/>
          <a:p>
            <a:pPr marL="0" indent="0" algn="just">
              <a:lnSpc>
                <a:spcPct val="100000"/>
              </a:lnSpc>
              <a:buNone/>
            </a:pPr>
            <a:r>
              <a:rPr lang="en-US" sz="1600" b="1" dirty="0">
                <a:solidFill>
                  <a:srgbClr val="5E927D"/>
                </a:solidFill>
                <a:latin typeface="MiSans" pitchFamily="34" charset="-122"/>
                <a:ea typeface="MiSans" pitchFamily="34" charset="-122"/>
                <a:cs typeface="MiSans" pitchFamily="34" charset="-120"/>
              </a:rPr>
              <a:t>Evolutionary Path</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715" y="5120640"/>
            <a:ext cx="12206605" cy="1798320"/>
          </a:xfrm>
          <a:prstGeom prst="roundRect">
            <a:avLst>
              <a:gd name="adj" fmla="val 0"/>
            </a:avLst>
          </a:prstGeom>
          <a:solidFill>
            <a:srgbClr val="9FB26A"/>
          </a:solidFill>
        </p:spPr>
      </p:sp>
      <p:sp>
        <p:nvSpPr>
          <p:cNvPr id="3" name="Text 1"/>
          <p:cNvSpPr/>
          <p:nvPr/>
        </p:nvSpPr>
        <p:spPr>
          <a:xfrm>
            <a:off x="-5715" y="5120640"/>
            <a:ext cx="12206605" cy="179832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Definition and Scope</a:t>
            </a:r>
            <a:endParaRPr lang="en-US" sz="1600" dirty="0"/>
          </a:p>
        </p:txBody>
      </p:sp>
      <p:pic>
        <p:nvPicPr>
          <p:cNvPr id="24" name="图片 23" descr="wIp6WIR2CbqgwVk"/>
          <p:cNvPicPr>
            <a:picLocks noChangeAspect="1"/>
          </p:cNvPicPr>
          <p:nvPr/>
        </p:nvPicPr>
        <p:blipFill>
          <a:blip r:embed="rId1"/>
          <a:stretch>
            <a:fillRect/>
          </a:stretch>
        </p:blipFill>
        <p:spPr>
          <a:xfrm>
            <a:off x="797560" y="1329690"/>
            <a:ext cx="11179175" cy="4563745"/>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5899785"/>
            <a:ext cx="12190095" cy="958215"/>
          </a:xfrm>
          <a:prstGeom prst="rect">
            <a:avLst/>
          </a:prstGeom>
          <a:solidFill>
            <a:srgbClr val="B4CA7C"/>
          </a:solidFill>
        </p:spPr>
      </p:sp>
      <p:sp>
        <p:nvSpPr>
          <p:cNvPr id="3" name="Text 1"/>
          <p:cNvSpPr/>
          <p:nvPr/>
        </p:nvSpPr>
        <p:spPr>
          <a:xfrm>
            <a:off x="0" y="5899785"/>
            <a:ext cx="12190095" cy="958215"/>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rot="5400000">
            <a:off x="467360" y="410210"/>
            <a:ext cx="330200" cy="330200"/>
          </a:xfrm>
          <a:prstGeom prst="triangle">
            <a:avLst/>
          </a:prstGeom>
          <a:solidFill>
            <a:srgbClr val="E0E9C9"/>
          </a:solidFill>
        </p:spPr>
      </p:sp>
      <p:sp>
        <p:nvSpPr>
          <p:cNvPr id="5" name="Text 3"/>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594360" y="537210"/>
            <a:ext cx="330200" cy="330200"/>
          </a:xfrm>
          <a:prstGeom prst="triangle">
            <a:avLst/>
          </a:prstGeom>
          <a:solidFill>
            <a:srgbClr val="5E927D"/>
          </a:solidFill>
        </p:spPr>
      </p:sp>
      <p:sp>
        <p:nvSpPr>
          <p:cNvPr id="7" name="Text 5"/>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Text 6"/>
          <p:cNvSpPr/>
          <p:nvPr/>
        </p:nvSpPr>
        <p:spPr>
          <a:xfrm>
            <a:off x="1090930" y="408940"/>
            <a:ext cx="10782935" cy="521970"/>
          </a:xfrm>
          <a:prstGeom prst="rect">
            <a:avLst/>
          </a:prstGeom>
          <a:noFill/>
        </p:spPr>
        <p:txBody>
          <a:bodyPr wrap="square" lIns="91440" tIns="45720" rIns="91440" bIns="45720" rtlCol="0" anchor="t">
            <a:spAutoFit/>
          </a:bodyPr>
          <a:lstStyle/>
          <a:p>
            <a:pPr marL="0" indent="0" algn="just">
              <a:lnSpc>
                <a:spcPct val="100000"/>
              </a:lnSpc>
              <a:buNone/>
            </a:pPr>
            <a:r>
              <a:rPr lang="en-US" altLang="zh-CN" sz="2800" b="1" dirty="0">
                <a:solidFill>
                  <a:srgbClr val="2F493E"/>
                </a:solidFill>
                <a:latin typeface="MiSans" pitchFamily="34" charset="-122"/>
                <a:ea typeface="MiSans" pitchFamily="34" charset="-122"/>
                <a:cs typeface="MiSans" pitchFamily="34" charset="-120"/>
              </a:rPr>
              <a:t>City Brain: Urban Traffic Governance Solution</a:t>
            </a:r>
            <a:endParaRPr lang="en-US" altLang="zh-CN" sz="2800" b="1" dirty="0">
              <a:solidFill>
                <a:srgbClr val="2F493E"/>
              </a:solidFill>
              <a:latin typeface="MiSans" pitchFamily="34" charset="-122"/>
              <a:ea typeface="MiSans" pitchFamily="34" charset="-122"/>
              <a:cs typeface="MiSans" pitchFamily="34" charset="-120"/>
            </a:endParaRPr>
          </a:p>
        </p:txBody>
      </p:sp>
      <p:pic>
        <p:nvPicPr>
          <p:cNvPr id="9" name="图片 8"/>
          <p:cNvPicPr>
            <a:picLocks noChangeAspect="1"/>
          </p:cNvPicPr>
          <p:nvPr/>
        </p:nvPicPr>
        <p:blipFill>
          <a:blip r:embed="rId1"/>
          <a:stretch>
            <a:fillRect/>
          </a:stretch>
        </p:blipFill>
        <p:spPr>
          <a:xfrm>
            <a:off x="1090930" y="1423670"/>
            <a:ext cx="10017125" cy="313436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638810" y="6362065"/>
            <a:ext cx="215900" cy="215900"/>
          </a:xfrm>
          <a:prstGeom prst="roundRect">
            <a:avLst>
              <a:gd name="adj" fmla="val 50000"/>
            </a:avLst>
          </a:prstGeom>
          <a:solidFill>
            <a:srgbClr val="5E927D"/>
          </a:solidFill>
        </p:spPr>
      </p:sp>
      <p:sp>
        <p:nvSpPr>
          <p:cNvPr id="3" name="Text 1"/>
          <p:cNvSpPr/>
          <p:nvPr/>
        </p:nvSpPr>
        <p:spPr>
          <a:xfrm>
            <a:off x="638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4" name="Shape 2"/>
          <p:cNvSpPr/>
          <p:nvPr/>
        </p:nvSpPr>
        <p:spPr>
          <a:xfrm>
            <a:off x="765810" y="6362065"/>
            <a:ext cx="215900" cy="215900"/>
          </a:xfrm>
          <a:prstGeom prst="roundRect">
            <a:avLst>
              <a:gd name="adj" fmla="val 50000"/>
            </a:avLst>
          </a:prstGeom>
          <a:solidFill>
            <a:srgbClr val="000000">
              <a:alpha val="0"/>
            </a:srgbClr>
          </a:solidFill>
          <a:ln w="19050">
            <a:solidFill>
              <a:srgbClr val="5E927D"/>
            </a:solidFill>
            <a:prstDash val="solid"/>
          </a:ln>
        </p:spPr>
      </p:sp>
      <p:sp>
        <p:nvSpPr>
          <p:cNvPr id="5" name="Text 3"/>
          <p:cNvSpPr/>
          <p:nvPr/>
        </p:nvSpPr>
        <p:spPr>
          <a:xfrm>
            <a:off x="765810" y="6362065"/>
            <a:ext cx="215900" cy="2159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6" name="Shape 4"/>
          <p:cNvSpPr/>
          <p:nvPr/>
        </p:nvSpPr>
        <p:spPr>
          <a:xfrm rot="5400000">
            <a:off x="467360" y="410210"/>
            <a:ext cx="330200" cy="330200"/>
          </a:xfrm>
          <a:prstGeom prst="triangle">
            <a:avLst/>
          </a:prstGeom>
          <a:solidFill>
            <a:srgbClr val="E0E9C9"/>
          </a:solidFill>
        </p:spPr>
      </p:sp>
      <p:sp>
        <p:nvSpPr>
          <p:cNvPr id="7" name="Text 5"/>
          <p:cNvSpPr/>
          <p:nvPr/>
        </p:nvSpPr>
        <p:spPr>
          <a:xfrm rot="5400000">
            <a:off x="467360" y="410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8" name="Shape 6"/>
          <p:cNvSpPr/>
          <p:nvPr/>
        </p:nvSpPr>
        <p:spPr>
          <a:xfrm rot="5400000">
            <a:off x="594360" y="537210"/>
            <a:ext cx="330200" cy="330200"/>
          </a:xfrm>
          <a:prstGeom prst="triangle">
            <a:avLst/>
          </a:prstGeom>
          <a:solidFill>
            <a:srgbClr val="5E927D"/>
          </a:solidFill>
        </p:spPr>
      </p:sp>
      <p:sp>
        <p:nvSpPr>
          <p:cNvPr id="9" name="Text 7"/>
          <p:cNvSpPr/>
          <p:nvPr/>
        </p:nvSpPr>
        <p:spPr>
          <a:xfrm rot="5400000">
            <a:off x="594360" y="537210"/>
            <a:ext cx="330200" cy="33020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0" name="Text 8"/>
          <p:cNvSpPr/>
          <p:nvPr/>
        </p:nvSpPr>
        <p:spPr>
          <a:xfrm>
            <a:off x="1090930" y="408940"/>
            <a:ext cx="10782935" cy="429617"/>
          </a:xfrm>
          <a:prstGeom prst="rect">
            <a:avLst/>
          </a:prstGeom>
          <a:noFill/>
        </p:spPr>
        <p:txBody>
          <a:bodyPr wrap="square" lIns="91440" tIns="45720" rIns="91440" bIns="45720" rtlCol="0" anchor="t">
            <a:spAutoFit/>
          </a:bodyPr>
          <a:lstStyle/>
          <a:p>
            <a:pPr marL="0" indent="0" algn="just">
              <a:lnSpc>
                <a:spcPct val="100000"/>
              </a:lnSpc>
              <a:buNone/>
            </a:pPr>
            <a:r>
              <a:rPr lang="en-US" sz="2800" b="1" dirty="0">
                <a:solidFill>
                  <a:srgbClr val="2F493E"/>
                </a:solidFill>
                <a:latin typeface="MiSans" pitchFamily="34" charset="-122"/>
                <a:ea typeface="MiSans" pitchFamily="34" charset="-122"/>
                <a:cs typeface="MiSans" pitchFamily="34" charset="-120"/>
              </a:rPr>
              <a:t>Summary of Key Points</a:t>
            </a:r>
            <a:endParaRPr lang="en-US" sz="1600" dirty="0"/>
          </a:p>
        </p:txBody>
      </p:sp>
      <p:sp>
        <p:nvSpPr>
          <p:cNvPr id="11" name="Shape 9"/>
          <p:cNvSpPr/>
          <p:nvPr/>
        </p:nvSpPr>
        <p:spPr>
          <a:xfrm>
            <a:off x="0" y="6325235"/>
            <a:ext cx="12190730" cy="534035"/>
          </a:xfrm>
          <a:prstGeom prst="rect">
            <a:avLst/>
          </a:prstGeom>
          <a:solidFill>
            <a:srgbClr val="B4CA7C"/>
          </a:solidFill>
        </p:spPr>
      </p:sp>
      <p:sp>
        <p:nvSpPr>
          <p:cNvPr id="12" name="Text 10"/>
          <p:cNvSpPr/>
          <p:nvPr/>
        </p:nvSpPr>
        <p:spPr>
          <a:xfrm>
            <a:off x="0" y="6325235"/>
            <a:ext cx="12190730" cy="534035"/>
          </a:xfrm>
          <a:prstGeom prst="rect">
            <a:avLst/>
          </a:prstGeom>
          <a:noFill/>
        </p:spPr>
        <p:txBody>
          <a:bodyPr wrap="square" lIns="45720" tIns="91440" rIns="91440" bIns="45720" rtlCol="0" anchor="ctr"/>
          <a:lstStyle/>
          <a:p>
            <a:pPr marL="0" indent="0">
              <a:lnSpc>
                <a:spcPct val="100000"/>
              </a:lnSpc>
              <a:buNone/>
            </a:pPr>
            <a:endParaRPr lang="en-US" sz="1600" dirty="0"/>
          </a:p>
        </p:txBody>
      </p:sp>
      <p:pic>
        <p:nvPicPr>
          <p:cNvPr id="13" name="Image 0" descr="https://test-kimi-img.moonshot.cn/pub/slides/slides_tmpl/image/25-05-30-10:51:03-d0shq5s75iks832je5bg.png"/>
          <p:cNvPicPr>
            <a:picLocks noChangeAspect="1"/>
          </p:cNvPicPr>
          <p:nvPr/>
        </p:nvPicPr>
        <p:blipFill>
          <a:blip r:embed="rId1"/>
          <a:srcRect l="31" r="31"/>
          <a:stretch>
            <a:fillRect/>
          </a:stretch>
        </p:blipFill>
        <p:spPr>
          <a:xfrm>
            <a:off x="594360" y="1397000"/>
            <a:ext cx="3088640" cy="4606290"/>
          </a:xfrm>
          <a:prstGeom prst="rect">
            <a:avLst/>
          </a:prstGeom>
        </p:spPr>
      </p:pic>
      <p:sp>
        <p:nvSpPr>
          <p:cNvPr id="14" name="Shape 11"/>
          <p:cNvSpPr/>
          <p:nvPr/>
        </p:nvSpPr>
        <p:spPr>
          <a:xfrm>
            <a:off x="3796030" y="1413510"/>
            <a:ext cx="8031480" cy="4602480"/>
          </a:xfrm>
          <a:prstGeom prst="rect">
            <a:avLst/>
          </a:prstGeom>
          <a:solidFill>
            <a:srgbClr val="000000">
              <a:alpha val="0"/>
            </a:srgbClr>
          </a:solidFill>
          <a:ln w="19050">
            <a:solidFill>
              <a:srgbClr val="9FB26A"/>
            </a:solidFill>
            <a:prstDash val="solid"/>
          </a:ln>
        </p:spPr>
      </p:sp>
      <p:sp>
        <p:nvSpPr>
          <p:cNvPr id="15" name="Text 12"/>
          <p:cNvSpPr/>
          <p:nvPr/>
        </p:nvSpPr>
        <p:spPr>
          <a:xfrm>
            <a:off x="3796030" y="1413510"/>
            <a:ext cx="8031480" cy="4602480"/>
          </a:xfrm>
          <a:prstGeom prst="rect">
            <a:avLst/>
          </a:prstGeom>
          <a:noFill/>
        </p:spPr>
        <p:txBody>
          <a:bodyPr wrap="square" lIns="45720" tIns="91440" rIns="91440" bIns="45720" rtlCol="0" anchor="ctr"/>
          <a:lstStyle/>
          <a:p>
            <a:pPr marL="0" indent="0">
              <a:lnSpc>
                <a:spcPct val="100000"/>
              </a:lnSpc>
              <a:buNone/>
            </a:pPr>
            <a:endParaRPr lang="en-US" sz="1600" dirty="0"/>
          </a:p>
        </p:txBody>
      </p:sp>
      <p:sp>
        <p:nvSpPr>
          <p:cNvPr id="16" name="Shape 13"/>
          <p:cNvSpPr/>
          <p:nvPr/>
        </p:nvSpPr>
        <p:spPr>
          <a:xfrm>
            <a:off x="4067175" y="2952115"/>
            <a:ext cx="7560310" cy="0"/>
          </a:xfrm>
          <a:prstGeom prst="line">
            <a:avLst/>
          </a:prstGeom>
          <a:noFill/>
          <a:ln w="12700">
            <a:solidFill>
              <a:srgbClr val="9FB26A"/>
            </a:solidFill>
            <a:prstDash val="dash"/>
            <a:headEnd type="none"/>
            <a:tailEnd type="none"/>
          </a:ln>
        </p:spPr>
      </p:sp>
      <p:sp>
        <p:nvSpPr>
          <p:cNvPr id="17" name="Shape 14"/>
          <p:cNvSpPr/>
          <p:nvPr/>
        </p:nvSpPr>
        <p:spPr>
          <a:xfrm>
            <a:off x="4067175" y="4481830"/>
            <a:ext cx="7560310" cy="0"/>
          </a:xfrm>
          <a:prstGeom prst="line">
            <a:avLst/>
          </a:prstGeom>
          <a:noFill/>
          <a:ln w="12700">
            <a:solidFill>
              <a:srgbClr val="9FB26A"/>
            </a:solidFill>
            <a:prstDash val="dash"/>
            <a:headEnd type="none"/>
            <a:tailEnd type="none"/>
          </a:ln>
        </p:spPr>
      </p:sp>
      <p:sp>
        <p:nvSpPr>
          <p:cNvPr id="18" name="Text 15"/>
          <p:cNvSpPr/>
          <p:nvPr/>
        </p:nvSpPr>
        <p:spPr>
          <a:xfrm>
            <a:off x="4038600" y="157289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Comprehensive Overview</a:t>
            </a:r>
            <a:endParaRPr lang="en-US" sz="1600" dirty="0"/>
          </a:p>
        </p:txBody>
      </p:sp>
      <p:sp>
        <p:nvSpPr>
          <p:cNvPr id="19" name="Text 16"/>
          <p:cNvSpPr/>
          <p:nvPr/>
        </p:nvSpPr>
        <p:spPr>
          <a:xfrm>
            <a:off x="4038600" y="1941830"/>
            <a:ext cx="761619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This presentation has provided a comprehensive overview of intelligent systems, including their components, design principles, and a case study. It has highlighted the importance of these systems in various applications.</a:t>
            </a:r>
            <a:endParaRPr lang="en-US" sz="1600" dirty="0"/>
          </a:p>
        </p:txBody>
      </p:sp>
      <p:sp>
        <p:nvSpPr>
          <p:cNvPr id="20" name="Text 17"/>
          <p:cNvSpPr/>
          <p:nvPr/>
        </p:nvSpPr>
        <p:spPr>
          <a:xfrm>
            <a:off x="4038600" y="3102610"/>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Future Outlook</a:t>
            </a:r>
            <a:endParaRPr lang="en-US" sz="1600" dirty="0"/>
          </a:p>
        </p:txBody>
      </p:sp>
      <p:sp>
        <p:nvSpPr>
          <p:cNvPr id="21" name="Text 18"/>
          <p:cNvSpPr/>
          <p:nvPr/>
        </p:nvSpPr>
        <p:spPr>
          <a:xfrm>
            <a:off x="4038600" y="3471545"/>
            <a:ext cx="7616190" cy="857647"/>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The future of intelligent systems looks promising with advancements in AI, integration with IoT, and ethical considerations. These systems will continue to transform industries and improve our lives.</a:t>
            </a:r>
            <a:endParaRPr lang="en-US" sz="1600" dirty="0"/>
          </a:p>
        </p:txBody>
      </p:sp>
      <p:sp>
        <p:nvSpPr>
          <p:cNvPr id="22" name="Text 19"/>
          <p:cNvSpPr/>
          <p:nvPr/>
        </p:nvSpPr>
        <p:spPr>
          <a:xfrm>
            <a:off x="4038600" y="4632325"/>
            <a:ext cx="7617460" cy="306784"/>
          </a:xfrm>
          <a:prstGeom prst="rect">
            <a:avLst/>
          </a:prstGeom>
          <a:noFill/>
        </p:spPr>
        <p:txBody>
          <a:bodyPr wrap="square" lIns="91440" tIns="45720" rIns="91440" bIns="45720" rtlCol="0" anchor="t">
            <a:spAutoFit/>
          </a:bodyPr>
          <a:lstStyle/>
          <a:p>
            <a:pPr marL="0" indent="0" algn="just">
              <a:lnSpc>
                <a:spcPct val="100000"/>
              </a:lnSpc>
              <a:buNone/>
            </a:pPr>
            <a:r>
              <a:rPr lang="en-US" sz="2000" b="1" dirty="0">
                <a:solidFill>
                  <a:srgbClr val="5E927D"/>
                </a:solidFill>
                <a:latin typeface="MiSans" pitchFamily="34" charset="-122"/>
                <a:ea typeface="MiSans" pitchFamily="34" charset="-122"/>
                <a:cs typeface="MiSans" pitchFamily="34" charset="-120"/>
              </a:rPr>
              <a:t>Continuous Improvement</a:t>
            </a:r>
            <a:endParaRPr lang="en-US" sz="1600" dirty="0"/>
          </a:p>
        </p:txBody>
      </p:sp>
      <p:sp>
        <p:nvSpPr>
          <p:cNvPr id="23" name="Text 20"/>
          <p:cNvSpPr/>
          <p:nvPr/>
        </p:nvSpPr>
        <p:spPr>
          <a:xfrm>
            <a:off x="4038600" y="5001260"/>
            <a:ext cx="7616190" cy="571698"/>
          </a:xfrm>
          <a:prstGeom prst="rect">
            <a:avLst/>
          </a:prstGeom>
          <a:noFill/>
        </p:spPr>
        <p:txBody>
          <a:bodyPr wrap="square" lIns="91440" tIns="45720" rIns="91440" bIns="45720" rtlCol="0" anchor="t">
            <a:spAutoFit/>
          </a:bodyPr>
          <a:lstStyle/>
          <a:p>
            <a:pPr marL="0" indent="0" algn="just">
              <a:lnSpc>
                <a:spcPct val="130000"/>
              </a:lnSpc>
              <a:buNone/>
            </a:pPr>
            <a:r>
              <a:rPr lang="en-US" sz="1400" dirty="0">
                <a:solidFill>
                  <a:srgbClr val="2B2F36"/>
                </a:solidFill>
                <a:latin typeface="MiSans" pitchFamily="34" charset="-122"/>
                <a:ea typeface="MiSans" pitchFamily="34" charset="-122"/>
                <a:cs typeface="MiSans" pitchFamily="34" charset="-120"/>
              </a:rPr>
              <a:t>Continuous improvement and adaptation are essential for intelligent systems. This involves staying updated with technological advancements and addressing emerging challenges.</a:t>
            </a:r>
            <a:endParaRPr lang="en-US" sz="16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test-kimi-img.moonshot.cn/pub/slides/slides_tmpl/image/25-05-30-10:50:14-d0shppk75iks832je4vg.png"/>
          <p:cNvPicPr>
            <a:picLocks noChangeAspect="1"/>
          </p:cNvPicPr>
          <p:nvPr/>
        </p:nvPicPr>
        <p:blipFill>
          <a:blip r:embed="rId1"/>
          <a:srcRect l="13" r="13"/>
          <a:stretch>
            <a:fillRect/>
          </a:stretch>
        </p:blipFill>
        <p:spPr>
          <a:xfrm>
            <a:off x="0" y="0"/>
            <a:ext cx="12188825" cy="6857365"/>
          </a:xfrm>
          <a:prstGeom prst="rect">
            <a:avLst/>
          </a:prstGeom>
        </p:spPr>
      </p:pic>
      <p:sp>
        <p:nvSpPr>
          <p:cNvPr id="3" name="Text 0"/>
          <p:cNvSpPr/>
          <p:nvPr/>
        </p:nvSpPr>
        <p:spPr>
          <a:xfrm>
            <a:off x="3777615" y="4553585"/>
            <a:ext cx="1918970" cy="337185"/>
          </a:xfrm>
          <a:prstGeom prst="rect">
            <a:avLst/>
          </a:prstGeom>
          <a:noFill/>
        </p:spPr>
        <p:txBody>
          <a:bodyPr wrap="square" lIns="91440" tIns="45720" rIns="91440" bIns="45720" rtlCol="0" anchor="t">
            <a:spAutoFit/>
          </a:bodyPr>
          <a:lstStyle/>
          <a:p>
            <a:pPr marL="0" indent="0" algn="ctr">
              <a:lnSpc>
                <a:spcPct val="100000"/>
              </a:lnSpc>
              <a:buNone/>
            </a:pPr>
            <a:r>
              <a:rPr lang="en-US" sz="1600" dirty="0">
                <a:solidFill>
                  <a:srgbClr val="000000"/>
                </a:solidFill>
                <a:latin typeface="MiSans" pitchFamily="34" charset="-122"/>
                <a:ea typeface="MiSans" pitchFamily="34" charset="-122"/>
                <a:cs typeface="MiSans" pitchFamily="34" charset="-120"/>
              </a:rPr>
              <a:t>汇报人</a:t>
            </a:r>
            <a:r>
              <a:rPr lang="en-US" sz="1600" dirty="0">
                <a:solidFill>
                  <a:srgbClr val="000000"/>
                </a:solidFill>
                <a:latin typeface="MiSans" pitchFamily="34" charset="-122"/>
                <a:ea typeface="MiSans" pitchFamily="34" charset="-122"/>
                <a:cs typeface="MiSans" pitchFamily="34" charset="-120"/>
              </a:rPr>
              <a:t>:</a:t>
            </a:r>
            <a:endParaRPr lang="en-US" sz="1600" dirty="0"/>
          </a:p>
        </p:txBody>
      </p:sp>
      <p:sp>
        <p:nvSpPr>
          <p:cNvPr id="4" name="Text 1"/>
          <p:cNvSpPr/>
          <p:nvPr/>
        </p:nvSpPr>
        <p:spPr>
          <a:xfrm>
            <a:off x="6495415" y="4553585"/>
            <a:ext cx="1918970" cy="248841"/>
          </a:xfrm>
          <a:prstGeom prst="rect">
            <a:avLst/>
          </a:prstGeom>
          <a:noFill/>
        </p:spPr>
        <p:txBody>
          <a:bodyPr wrap="square" lIns="91440" tIns="45720" rIns="91440" bIns="45720" rtlCol="0" anchor="t">
            <a:spAutoFit/>
          </a:bodyPr>
          <a:lstStyle/>
          <a:p>
            <a:pPr marL="0" indent="0" algn="ctr">
              <a:lnSpc>
                <a:spcPct val="100000"/>
              </a:lnSpc>
              <a:buNone/>
            </a:pPr>
            <a:r>
              <a:rPr lang="en-US" sz="1600" dirty="0">
                <a:solidFill>
                  <a:srgbClr val="000000"/>
                </a:solidFill>
                <a:latin typeface="MiSans" pitchFamily="34" charset="-122"/>
                <a:ea typeface="MiSans" pitchFamily="34" charset="-122"/>
                <a:cs typeface="MiSans" pitchFamily="34" charset="-120"/>
              </a:rPr>
              <a:t>时间</a:t>
            </a:r>
            <a:r>
              <a:rPr lang="en-US" sz="1600" dirty="0">
                <a:solidFill>
                  <a:srgbClr val="000000"/>
                </a:solidFill>
                <a:latin typeface="MiSans" pitchFamily="34" charset="-122"/>
                <a:ea typeface="MiSans" pitchFamily="34" charset="-122"/>
                <a:cs typeface="MiSans" pitchFamily="34" charset="-120"/>
              </a:rPr>
              <a:t>:2025.01.01</a:t>
            </a:r>
            <a:endParaRPr lang="en-US" sz="1600" dirty="0"/>
          </a:p>
        </p:txBody>
      </p:sp>
      <p:sp>
        <p:nvSpPr>
          <p:cNvPr id="5" name="Text 2"/>
          <p:cNvSpPr/>
          <p:nvPr/>
        </p:nvSpPr>
        <p:spPr>
          <a:xfrm>
            <a:off x="649605" y="269240"/>
            <a:ext cx="4064000" cy="276225"/>
          </a:xfrm>
          <a:prstGeom prst="rect">
            <a:avLst/>
          </a:prstGeom>
          <a:noFill/>
        </p:spPr>
        <p:txBody>
          <a:bodyPr wrap="square" lIns="91440" tIns="45720" rIns="91440" bIns="45720" rtlCol="0" anchor="t">
            <a:spAutoFit/>
          </a:bodyPr>
          <a:lstStyle/>
          <a:p>
            <a:pPr marL="0" indent="0" algn="l">
              <a:lnSpc>
                <a:spcPct val="100000"/>
              </a:lnSpc>
              <a:buNone/>
            </a:pPr>
            <a:r>
              <a:rPr lang="en-US" sz="1800" b="1" dirty="0">
                <a:solidFill>
                  <a:srgbClr val="000000"/>
                </a:solidFill>
                <a:latin typeface="MiSans" pitchFamily="34" charset="-122"/>
                <a:ea typeface="MiSans" pitchFamily="34" charset="-122"/>
                <a:cs typeface="MiSans" pitchFamily="34" charset="-120"/>
              </a:rPr>
              <a:t>YOUR LOGO</a:t>
            </a:r>
            <a:endParaRPr lang="en-US" sz="1600" dirty="0"/>
          </a:p>
        </p:txBody>
      </p:sp>
      <p:sp>
        <p:nvSpPr>
          <p:cNvPr id="6" name="Text 3"/>
          <p:cNvSpPr/>
          <p:nvPr/>
        </p:nvSpPr>
        <p:spPr>
          <a:xfrm>
            <a:off x="2715260" y="3318510"/>
            <a:ext cx="6761480" cy="1414780"/>
          </a:xfrm>
          <a:prstGeom prst="rect">
            <a:avLst/>
          </a:prstGeom>
          <a:noFill/>
        </p:spPr>
        <p:txBody>
          <a:bodyPr wrap="square" lIns="91440" tIns="45720" rIns="91440" bIns="45720" rtlCol="0" anchor="t"/>
          <a:lstStyle/>
          <a:p>
            <a:pPr marL="0" indent="0" algn="ctr">
              <a:lnSpc>
                <a:spcPct val="100000"/>
              </a:lnSpc>
              <a:buNone/>
            </a:pPr>
            <a:r>
              <a:rPr lang="en-US" sz="6000" b="1" dirty="0">
                <a:solidFill>
                  <a:srgbClr val="000000"/>
                </a:solidFill>
                <a:latin typeface="MiSans" pitchFamily="34" charset="-122"/>
                <a:ea typeface="MiSans" pitchFamily="34" charset="-122"/>
                <a:cs typeface="MiSans" pitchFamily="34" charset="-120"/>
              </a:rPr>
              <a:t>THANK YOU</a:t>
            </a:r>
            <a:endParaRPr lang="en-US" sz="1600" dirty="0"/>
          </a:p>
        </p:txBody>
      </p:sp>
      <p:sp>
        <p:nvSpPr>
          <p:cNvPr id="7" name="Text 4"/>
          <p:cNvSpPr/>
          <p:nvPr/>
        </p:nvSpPr>
        <p:spPr>
          <a:xfrm>
            <a:off x="2227898" y="1987550"/>
            <a:ext cx="7736205" cy="1414780"/>
          </a:xfrm>
          <a:prstGeom prst="rect">
            <a:avLst/>
          </a:prstGeom>
          <a:noFill/>
        </p:spPr>
        <p:txBody>
          <a:bodyPr wrap="square" lIns="91440" tIns="45720" rIns="91440" bIns="45720" rtlCol="0" anchor="t"/>
          <a:lstStyle/>
          <a:p>
            <a:pPr marL="0" indent="0" algn="ctr">
              <a:lnSpc>
                <a:spcPct val="100000"/>
              </a:lnSpc>
              <a:buNone/>
            </a:pPr>
            <a:endParaRPr lang="en-US" sz="1600" dirty="0"/>
          </a:p>
        </p:txBody>
      </p:sp>
    </p:spTree>
  </p:cSld>
  <p:clrMapOvr>
    <a:masterClrMapping/>
  </p:clrMapOvr>
</p:sld>
</file>

<file path=ppt/tags/tag1.xml><?xml version="1.0" encoding="utf-8"?>
<p:tagLst xmlns:p="http://schemas.openxmlformats.org/presentationml/2006/main">
  <p:tag name="KSO_WM_DIAGRAM_VIRTUALLY_FRAME" val="{&quot;height&quot;:308.05669291338575,&quot;left&quot;:435.5450787401575,&quot;top&quot;:159.4,&quot;width&quot;:442.05492125984244}"/>
</p:tagLst>
</file>

<file path=ppt/tags/tag2.xml><?xml version="1.0" encoding="utf-8"?>
<p:tagLst xmlns:p="http://schemas.openxmlformats.org/presentationml/2006/main">
  <p:tag name="KSO_WM_DIAGRAM_VIRTUALLY_FRAME" val="{&quot;height&quot;:308.05669291338575,&quot;left&quot;:435.5450787401575,&quot;top&quot;:159.4,&quot;width&quot;:442.05492125984244}"/>
</p:tagLst>
</file>

<file path=ppt/tags/tag3.xml><?xml version="1.0" encoding="utf-8"?>
<p:tagLst xmlns:p="http://schemas.openxmlformats.org/presentationml/2006/main">
  <p:tag name="KSO_WM_DIAGRAM_VIRTUALLY_FRAME" val="{&quot;height&quot;:308.05669291338575,&quot;left&quot;:435.5450787401575,&quot;top&quot;:159.4,&quot;width&quot;:442.05492125984244}"/>
</p:tagLst>
</file>

<file path=ppt/tags/tag4.xml><?xml version="1.0" encoding="utf-8"?>
<p:tagLst xmlns:p="http://schemas.openxmlformats.org/presentationml/2006/main">
  <p:tag name="KSO_WM_DIAGRAM_VIRTUALLY_FRAME" val="{&quot;height&quot;:308.05669291338575,&quot;left&quot;:435.5450787401575,&quot;top&quot;:159.4,&quot;width&quot;:442.05492125984244}"/>
</p:tagLst>
</file>

<file path=ppt/tags/tag5.xml><?xml version="1.0" encoding="utf-8"?>
<p:tagLst xmlns:p="http://schemas.openxmlformats.org/presentationml/2006/main">
  <p:tag name="KSO_WM_DIAGRAM_VIRTUALLY_FRAME" val="{&quot;height&quot;:308.05669291338575,&quot;left&quot;:435.5450787401575,&quot;top&quot;:159.4,&quot;width&quot;:442.05492125984244}"/>
</p:tagLst>
</file>

<file path=ppt/tags/tag6.xml><?xml version="1.0" encoding="utf-8"?>
<p:tagLst xmlns:p="http://schemas.openxmlformats.org/presentationml/2006/main">
  <p:tag name="KSO_WM_DIAGRAM_VIRTUALLY_FRAME" val="{&quot;height&quot;:308.05669291338575,&quot;left&quot;:435.5450787401575,&quot;top&quot;:159.4,&quot;width&quot;:442.05492125984244}"/>
</p:tagLst>
</file>

<file path=ppt/tags/tag7.xml><?xml version="1.0" encoding="utf-8"?>
<p:tagLst xmlns:p="http://schemas.openxmlformats.org/presentationml/2006/main">
  <p:tag name="KSO_WM_DIAGRAM_VIRTUALLY_FRAME" val="{&quot;height&quot;:308.05669291338575,&quot;left&quot;:435.5450787401575,&quot;top&quot;:159.4,&quot;width&quot;:442.05492125984244}"/>
</p:tagLst>
</file>

<file path=ppt/tags/tag8.xml><?xml version="1.0" encoding="utf-8"?>
<p:tagLst xmlns:p="http://schemas.openxmlformats.org/presentationml/2006/main">
  <p:tag name="KSO_WM_DIAGRAM_VIRTUALLY_FRAME" val="{&quot;height&quot;:308.05669291338575,&quot;left&quot;:435.5450787401575,&quot;top&quot;:159.4,&quot;width&quot;:442.05492125984244}"/>
</p:tagLst>
</file>

<file path=ppt/tags/tag9.xml><?xml version="1.0" encoding="utf-8"?>
<p:tagLst xmlns:p="http://schemas.openxmlformats.org/presentationml/2006/main">
  <p:tag name="KSO_WM_DIAGRAM_VIRTUALLY_FRAME" val="{&quot;height&quot;:308.05669291338575,&quot;left&quot;:435.5450787401575,&quot;top&quot;:159.4,&quot;width&quot;:442.05492125984244}"/>
</p:tagLst>
</file>

<file path=ppt/tags/tag10.xml><?xml version="1.0" encoding="utf-8"?>
<p:tagLst xmlns:p="http://schemas.openxmlformats.org/presentationml/2006/main">
  <p:tag name="KSO_WM_DIAGRAM_VIRTUALLY_FRAME" val="{&quot;height&quot;:308.05669291338575,&quot;left&quot;:435.5450787401575,&quot;top&quot;:159.4,&quot;width&quot;:442.05492125984244}"/>
</p:tagLst>
</file>

<file path=ppt/tags/tag11.xml><?xml version="1.0" encoding="utf-8"?>
<p:tagLst xmlns:p="http://schemas.openxmlformats.org/presentationml/2006/main">
  <p:tag name="KSO_WM_DIAGRAM_VIRTUALLY_FRAME" val="{&quot;height&quot;:308.05669291338575,&quot;left&quot;:435.5450787401575,&quot;top&quot;:159.4,&quot;width&quot;:442.05492125984244}"/>
</p:tagLst>
</file>

<file path=ppt/tags/tag12.xml><?xml version="1.0" encoding="utf-8"?>
<p:tagLst xmlns:p="http://schemas.openxmlformats.org/presentationml/2006/main">
  <p:tag name="KSO_WM_DIAGRAM_VIRTUALLY_FRAME" val="{&quot;height&quot;:308.05669291338575,&quot;left&quot;:435.5450787401575,&quot;top&quot;:159.4,&quot;width&quot;:442.05492125984244}"/>
</p:tagLst>
</file>

<file path=ppt/tags/tag13.xml><?xml version="1.0" encoding="utf-8"?>
<p:tagLst xmlns:p="http://schemas.openxmlformats.org/presentationml/2006/main">
  <p:tag name="KSO_WM_DIAGRAM_VIRTUALLY_FRAME" val="{&quot;height&quot;:308.05669291338575,&quot;left&quot;:435.5450787401575,&quot;top&quot;:159.4,&quot;width&quot;:442.05492125984244}"/>
</p:tagLst>
</file>

<file path=ppt/tags/tag14.xml><?xml version="1.0" encoding="utf-8"?>
<p:tagLst xmlns:p="http://schemas.openxmlformats.org/presentationml/2006/main">
  <p:tag name="KSO_WM_DIAGRAM_VIRTUALLY_FRAME" val="{&quot;height&quot;:308.05669291338575,&quot;left&quot;:435.5450787401575,&quot;top&quot;:159.4,&quot;width&quot;:442.05492125984244}"/>
</p:tagLst>
</file>

<file path=ppt/tags/tag15.xml><?xml version="1.0" encoding="utf-8"?>
<p:tagLst xmlns:p="http://schemas.openxmlformats.org/presentationml/2006/main">
  <p:tag name="KSO_WM_DIAGRAM_VIRTUALLY_FRAME" val="{&quot;height&quot;:308.05669291338575,&quot;left&quot;:435.5450787401575,&quot;top&quot;:159.4,&quot;width&quot;:442.05492125984244}"/>
</p:tagLst>
</file>

<file path=ppt/tags/tag16.xml><?xml version="1.0" encoding="utf-8"?>
<p:tagLst xmlns:p="http://schemas.openxmlformats.org/presentationml/2006/main">
  <p:tag name="KSO_WM_DIAGRAM_VIRTUALLY_FRAME" val="{&quot;height&quot;:308.05669291338575,&quot;left&quot;:435.5450787401575,&quot;top&quot;:159.4,&quot;width&quot;:442.05492125984244}"/>
</p:tagLst>
</file>

<file path=ppt/tags/tag17.xml><?xml version="1.0" encoding="utf-8"?>
<p:tagLst xmlns:p="http://schemas.openxmlformats.org/presentationml/2006/main">
  <p:tag name="KSO_WM_DIAGRAM_VIRTUALLY_FRAME" val="{&quot;height&quot;:308.05669291338575,&quot;left&quot;:435.5450787401575,&quot;top&quot;:159.4,&quot;width&quot;:442.05492125984244}"/>
</p:tagLst>
</file>

<file path=ppt/tags/tag18.xml><?xml version="1.0" encoding="utf-8"?>
<p:tagLst xmlns:p="http://schemas.openxmlformats.org/presentationml/2006/main">
  <p:tag name="KSO_WM_DIAGRAM_VIRTUALLY_FRAME" val="{&quot;height&quot;:308.05669291338575,&quot;left&quot;:435.5450787401575,&quot;top&quot;:159.4,&quot;width&quot;:442.05492125984244}"/>
</p:tagLst>
</file>

<file path=ppt/tags/tag19.xml><?xml version="1.0" encoding="utf-8"?>
<p:tagLst xmlns:p="http://schemas.openxmlformats.org/presentationml/2006/main">
  <p:tag name="KSO_WM_DIAGRAM_VIRTUALLY_FRAME" val="{&quot;height&quot;:308.05669291338575,&quot;left&quot;:435.5450787401575,&quot;top&quot;:159.4,&quot;width&quot;:442.05492125984244}"/>
</p:tagLst>
</file>

<file path=ppt/tags/tag20.xml><?xml version="1.0" encoding="utf-8"?>
<p:tagLst xmlns:p="http://schemas.openxmlformats.org/presentationml/2006/main">
  <p:tag name="KSO_WM_DIAGRAM_VIRTUALLY_FRAME" val="{&quot;height&quot;:308.05669291338575,&quot;left&quot;:435.5450787401575,&quot;top&quot;:159.4,&quot;width&quot;:442.05492125984244}"/>
</p:tagLst>
</file>

<file path=ppt/tags/tag21.xml><?xml version="1.0" encoding="utf-8"?>
<p:tagLst xmlns:p="http://schemas.openxmlformats.org/presentationml/2006/main">
  <p:tag name="KSO_WM_DIAGRAM_VIRTUALLY_FRAME" val="{&quot;height&quot;:298.8566929133858,&quot;left&quot;:435.59507874015753,&quot;top&quot;:197.8,&quot;width&quot;:440.9549212598425}"/>
</p:tagLst>
</file>

<file path=ppt/tags/tag22.xml><?xml version="1.0" encoding="utf-8"?>
<p:tagLst xmlns:p="http://schemas.openxmlformats.org/presentationml/2006/main">
  <p:tag name="KSO_WM_DIAGRAM_VIRTUALLY_FRAME" val="{&quot;height&quot;:298.8566929133858,&quot;left&quot;:435.59507874015753,&quot;top&quot;:197.8,&quot;width&quot;:471.0049212598425}"/>
</p:tagLst>
</file>

<file path=ppt/tags/tag23.xml><?xml version="1.0" encoding="utf-8"?>
<p:tagLst xmlns:p="http://schemas.openxmlformats.org/presentationml/2006/main">
  <p:tag name="KSO_WM_DIAGRAM_VIRTUALLY_FRAME" val="{&quot;height&quot;:298.8566929133858,&quot;left&quot;:435.59507874015753,&quot;top&quot;:197.8,&quot;width&quot;:471.0049212598425}"/>
</p:tagLst>
</file>

<file path=ppt/tags/tag24.xml><?xml version="1.0" encoding="utf-8"?>
<p:tagLst xmlns:p="http://schemas.openxmlformats.org/presentationml/2006/main">
  <p:tag name="KSO_WM_DIAGRAM_VIRTUALLY_FRAME" val="{&quot;height&quot;:298.8566929133858,&quot;left&quot;:435.59507874015753,&quot;top&quot;:197.8,&quot;width&quot;:471.0049212598425}"/>
</p:tagLst>
</file>

<file path=ppt/tags/tag25.xml><?xml version="1.0" encoding="utf-8"?>
<p:tagLst xmlns:p="http://schemas.openxmlformats.org/presentationml/2006/main">
  <p:tag name="KSO_WM_DIAGRAM_VIRTUALLY_FRAME" val="{&quot;height&quot;:298.8566929133858,&quot;left&quot;:435.59507874015753,&quot;top&quot;:197.8,&quot;width&quot;:471.0049212598425}"/>
</p:tagLst>
</file>

<file path=ppt/tags/tag26.xml><?xml version="1.0" encoding="utf-8"?>
<p:tagLst xmlns:p="http://schemas.openxmlformats.org/presentationml/2006/main">
  <p:tag name="KSO_WM_DIAGRAM_VIRTUALLY_FRAME" val="{&quot;height&quot;:298.8566929133858,&quot;left&quot;:435.59507874015753,&quot;top&quot;:197.8,&quot;width&quot;:471.0049212598425}"/>
</p:tagLst>
</file>

<file path=ppt/tags/tag27.xml><?xml version="1.0" encoding="utf-8"?>
<p:tagLst xmlns:p="http://schemas.openxmlformats.org/presentationml/2006/main">
  <p:tag name="KSO_WM_DIAGRAM_VIRTUALLY_FRAME" val="{&quot;height&quot;:298.8566929133858,&quot;left&quot;:435.59507874015753,&quot;top&quot;:197.8,&quot;width&quot;:471.0049212598425}"/>
</p:tagLst>
</file>

<file path=ppt/tags/tag28.xml><?xml version="1.0" encoding="utf-8"?>
<p:tagLst xmlns:p="http://schemas.openxmlformats.org/presentationml/2006/main">
  <p:tag name="KSO_WM_DIAGRAM_VIRTUALLY_FRAME" val="{&quot;height&quot;:298.8566929133858,&quot;left&quot;:435.59507874015753,&quot;top&quot;:197.8,&quot;width&quot;:471.0049212598425}"/>
</p:tagLst>
</file>

<file path=ppt/tags/tag29.xml><?xml version="1.0" encoding="utf-8"?>
<p:tagLst xmlns:p="http://schemas.openxmlformats.org/presentationml/2006/main">
  <p:tag name="KSO_WM_DIAGRAM_VIRTUALLY_FRAME" val="{&quot;height&quot;:298.8566929133858,&quot;left&quot;:435.59507874015753,&quot;top&quot;:197.8,&quot;width&quot;:471.0049212598425}"/>
</p:tagLst>
</file>

<file path=ppt/tags/tag30.xml><?xml version="1.0" encoding="utf-8"?>
<p:tagLst xmlns:p="http://schemas.openxmlformats.org/presentationml/2006/main">
  <p:tag name="KSO_WM_DIAGRAM_VIRTUALLY_FRAME" val="{&quot;height&quot;:298.8566929133858,&quot;left&quot;:435.59507874015753,&quot;top&quot;:197.8,&quot;width&quot;:471.0049212598425}"/>
</p:tagLst>
</file>

<file path=ppt/tags/tag31.xml><?xml version="1.0" encoding="utf-8"?>
<p:tagLst xmlns:p="http://schemas.openxmlformats.org/presentationml/2006/main">
  <p:tag name="KSO_WM_DIAGRAM_VIRTUALLY_FRAME" val="{&quot;height&quot;:298.8566929133858,&quot;left&quot;:435.59507874015753,&quot;top&quot;:197.8,&quot;width&quot;:471.0049212598425}"/>
</p:tagLst>
</file>

<file path=ppt/tags/tag32.xml><?xml version="1.0" encoding="utf-8"?>
<p:tagLst xmlns:p="http://schemas.openxmlformats.org/presentationml/2006/main">
  <p:tag name="KSO_WM_DIAGRAM_VIRTUALLY_FRAME" val="{&quot;height&quot;:298.8566929133858,&quot;left&quot;:435.59507874015753,&quot;top&quot;:197.8,&quot;width&quot;:471.0049212598425}"/>
</p:tagLst>
</file>

<file path=ppt/tags/tag33.xml><?xml version="1.0" encoding="utf-8"?>
<p:tagLst xmlns:p="http://schemas.openxmlformats.org/presentationml/2006/main">
  <p:tag name="KSO_WM_DIAGRAM_VIRTUALLY_FRAME" val="{&quot;height&quot;:298.8566929133858,&quot;left&quot;:435.59507874015753,&quot;top&quot;:197.8,&quot;width&quot;:471.0049212598425}"/>
</p:tagLst>
</file>

<file path=ppt/tags/tag34.xml><?xml version="1.0" encoding="utf-8"?>
<p:tagLst xmlns:p="http://schemas.openxmlformats.org/presentationml/2006/main">
  <p:tag name="KSO_WM_DIAGRAM_VIRTUALLY_FRAME" val="{&quot;height&quot;:298.8566929133858,&quot;left&quot;:435.59507874015753,&quot;top&quot;:197.8,&quot;width&quot;:440.9549212598425}"/>
</p:tagLst>
</file>

<file path=ppt/tags/tag35.xml><?xml version="1.0" encoding="utf-8"?>
<p:tagLst xmlns:p="http://schemas.openxmlformats.org/presentationml/2006/main">
  <p:tag name="KSO_WM_DIAGRAM_VIRTUALLY_FRAME" val="{&quot;height&quot;:298.8566929133858,&quot;left&quot;:435.59507874015753,&quot;top&quot;:197.8,&quot;width&quot;:440.9549212598425}"/>
</p:tagLst>
</file>

<file path=ppt/tags/tag36.xml><?xml version="1.0" encoding="utf-8"?>
<p:tagLst xmlns:p="http://schemas.openxmlformats.org/presentationml/2006/main">
  <p:tag name="KSO_WM_DIAGRAM_VIRTUALLY_FRAME" val="{&quot;height&quot;:298.8566929133858,&quot;left&quot;:435.59507874015753,&quot;top&quot;:197.8,&quot;width&quot;:471.0049212598425}"/>
</p:tagLst>
</file>

<file path=ppt/tags/tag37.xml><?xml version="1.0" encoding="utf-8"?>
<p:tagLst xmlns:p="http://schemas.openxmlformats.org/presentationml/2006/main">
  <p:tag name="KSO_WM_UNIT_INDEX" val="2"/>
  <p:tag name="KSO_WM_UNIT_TYPE" val="j"/>
  <p:tag name="KSO_WM_BEAUTIFY_FLAG" val="#wm#"/>
</p:tagLst>
</file>

<file path=ppt/tags/tag38.xml><?xml version="1.0" encoding="utf-8"?>
<p:tagLst xmlns:p="http://schemas.openxmlformats.org/presentationml/2006/main">
  <p:tag name="KSO_WM_DIAGRAM_VIRTUALLY_FRAME" val="{&quot;height&quot;:233.9,&quot;left&quot;:52.03897637795276,&quot;top&quot;:236.1,&quot;width&quot;:329.5522906308661}"/>
</p:tagLst>
</file>

<file path=ppt/tags/tag39.xml><?xml version="1.0" encoding="utf-8"?>
<p:tagLst xmlns:p="http://schemas.openxmlformats.org/presentationml/2006/main">
  <p:tag name="KSO_WM_DIAGRAM_VIRTUALLY_FRAME" val="{&quot;height&quot;:233.9,&quot;left&quot;:52.03897637795276,&quot;top&quot;:236.1,&quot;width&quot;:329.5522906308661}"/>
</p:tagLst>
</file>

<file path=ppt/tags/tag40.xml><?xml version="1.0" encoding="utf-8"?>
<p:tagLst xmlns:p="http://schemas.openxmlformats.org/presentationml/2006/main">
  <p:tag name="KSO_WM_DIAGRAM_VIRTUALLY_FRAME" val="{&quot;height&quot;:518.2,&quot;left&quot;:297,&quot;top&quot;:107.95,&quot;width&quot;:614.7}"/>
</p:tagLst>
</file>

<file path=ppt/tags/tag41.xml><?xml version="1.0" encoding="utf-8"?>
<p:tagLst xmlns:p="http://schemas.openxmlformats.org/presentationml/2006/main">
  <p:tag name="KSO_WM_DIAGRAM_VIRTUALLY_FRAME" val="{&quot;height&quot;:518.2,&quot;left&quot;:297,&quot;top&quot;:107.95,&quot;width&quot;:614.7}"/>
</p:tagLst>
</file>

<file path=ppt/tags/tag42.xml><?xml version="1.0" encoding="utf-8"?>
<p:tagLst xmlns:p="http://schemas.openxmlformats.org/presentationml/2006/main">
  <p:tag name="KSO_WM_DIAGRAM_VIRTUALLY_FRAME" val="{&quot;height&quot;:518.2,&quot;left&quot;:297,&quot;top&quot;:107.95,&quot;width&quot;:614.7}"/>
</p:tagLst>
</file>

<file path=ppt/tags/tag43.xml><?xml version="1.0" encoding="utf-8"?>
<p:tagLst xmlns:p="http://schemas.openxmlformats.org/presentationml/2006/main">
  <p:tag name="KSO_WM_DIAGRAM_VIRTUALLY_FRAME" val="{&quot;height&quot;:518.2,&quot;left&quot;:297,&quot;top&quot;:107.95,&quot;width&quot;:614.7}"/>
</p:tagLst>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5E927D"/>
      </a:accent1>
      <a:accent2>
        <a:srgbClr val="9FB26A"/>
      </a:accent2>
      <a:accent3>
        <a:srgbClr val="E0E9C9"/>
      </a:accent3>
      <a:accent4>
        <a:srgbClr val="1D4621"/>
      </a:accent4>
      <a:accent5>
        <a:srgbClr val="E0F0E7"/>
      </a:accent5>
      <a:accent6>
        <a:srgbClr val="58585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16426</Words>
  <Application>WPS 演示</Application>
  <PresentationFormat>On-screen Show (16:9)</PresentationFormat>
  <Paragraphs>417</Paragraphs>
  <Slides>46</Slides>
  <Notes>31</Notes>
  <HiddenSlides>0</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46</vt:i4>
      </vt:variant>
    </vt:vector>
  </HeadingPairs>
  <TitlesOfParts>
    <vt:vector size="60" baseType="lpstr">
      <vt:lpstr>Arial</vt:lpstr>
      <vt:lpstr>宋体</vt:lpstr>
      <vt:lpstr>Wingdings</vt:lpstr>
      <vt:lpstr>MiSans</vt:lpstr>
      <vt:lpstr>MiSans</vt:lpstr>
      <vt:lpstr>Calibri</vt:lpstr>
      <vt:lpstr>微软雅黑</vt:lpstr>
      <vt:lpstr>Arial Unicode MS</vt:lpstr>
      <vt:lpstr>等线</vt:lpstr>
      <vt:lpstr>等线 Light</vt:lpstr>
      <vt:lpstr>Calibri Light</vt:lpstr>
      <vt:lpstr>Calibri</vt:lpstr>
      <vt:lpstr>Custom Theme</vt:lpstr>
      <vt:lpstr>1_Custom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Applications: Self-driving cars recognizing traffic lights and pedestrians; Technology: CNN (Convolutional Neural Network) identifies edges, shapes, and semantic objects from pixels through multi-layer feature extraction.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良心</cp:lastModifiedBy>
  <cp:revision>2</cp:revision>
  <dcterms:created xsi:type="dcterms:W3CDTF">2025-07-10T10:39:00Z</dcterms:created>
  <dcterms:modified xsi:type="dcterms:W3CDTF">2025-07-10T12:26:12Z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C1E803796ED94BCC81A25E05BE9DA757_12</vt:lpwstr>
  </property>
  <property fmtid="{D5CDD505-2E9C-101B-9397-08002B2CF9AE}" pid="3" name="KSOProductBuildVer">
    <vt:lpwstr>2052-12.1.0.21915</vt:lpwstr>
  </property>
</Properties>
</file>