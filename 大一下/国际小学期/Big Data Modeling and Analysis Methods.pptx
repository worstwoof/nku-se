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411" r:id="rId4"/>
    <p:sldId id="258" r:id="rId5"/>
    <p:sldId id="259" r:id="rId6"/>
    <p:sldId id="351" r:id="rId7"/>
    <p:sldId id="356" r:id="rId8"/>
    <p:sldId id="381" r:id="rId9"/>
    <p:sldId id="382" r:id="rId10"/>
    <p:sldId id="383" r:id="rId11"/>
    <p:sldId id="307" r:id="rId12"/>
    <p:sldId id="384" r:id="rId13"/>
    <p:sldId id="261" r:id="rId14"/>
    <p:sldId id="309" r:id="rId15"/>
    <p:sldId id="385" r:id="rId16"/>
    <p:sldId id="357" r:id="rId17"/>
    <p:sldId id="352" r:id="rId18"/>
    <p:sldId id="386" r:id="rId19"/>
    <p:sldId id="353" r:id="rId20"/>
    <p:sldId id="387" r:id="rId21"/>
    <p:sldId id="388" r:id="rId22"/>
    <p:sldId id="389" r:id="rId23"/>
    <p:sldId id="390" r:id="rId24"/>
    <p:sldId id="392" r:id="rId25"/>
    <p:sldId id="354" r:id="rId26"/>
    <p:sldId id="360" r:id="rId27"/>
    <p:sldId id="316" r:id="rId28"/>
    <p:sldId id="394" r:id="rId29"/>
    <p:sldId id="361" r:id="rId30"/>
    <p:sldId id="362" r:id="rId31"/>
    <p:sldId id="395" r:id="rId32"/>
    <p:sldId id="396" r:id="rId33"/>
    <p:sldId id="363" r:id="rId34"/>
    <p:sldId id="368" r:id="rId35"/>
    <p:sldId id="397" r:id="rId36"/>
    <p:sldId id="398" r:id="rId37"/>
    <p:sldId id="399" r:id="rId38"/>
    <p:sldId id="400" r:id="rId39"/>
    <p:sldId id="401" r:id="rId40"/>
    <p:sldId id="402" r:id="rId41"/>
    <p:sldId id="403" r:id="rId42"/>
    <p:sldId id="404" r:id="rId43"/>
    <p:sldId id="405" r:id="rId44"/>
    <p:sldId id="406" r:id="rId45"/>
    <p:sldId id="408" r:id="rId46"/>
    <p:sldId id="409" r:id="rId47"/>
    <p:sldId id="410" r:id="rId48"/>
    <p:sldId id="280" r:id="rId49"/>
  </p:sldIdLst>
  <p:sldSz cx="12192000" cy="6858000"/>
  <p:notesSz cx="6858000" cy="12192000"/>
  <p:embeddedFontLst>
    <p:embeddedFont>
      <p:font typeface="MiSans" panose="02010600030101010101" charset="-122"/>
      <p:regular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82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52318-C23C-C6A3-009B-921819ED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E3855-E50E-B00D-DD05-151FA7A26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9E2E7-93A6-EADA-5629-A6B8BD444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933EB-2F3C-2F97-BBAF-9303E6B50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83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8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2.xml"/><Relationship Id="rId7" Type="http://schemas.openxmlformats.org/officeDocument/2006/relationships/image" Target="../media/image7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14-d0shppk75iks832je4vg.png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80260" y="1444625"/>
            <a:ext cx="8327390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Big Data Modeling and Analysis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03-d0shpms75iks832je4v0.png"/>
          <p:cNvPicPr>
            <a:picLocks noChangeAspect="1"/>
          </p:cNvPicPr>
          <p:nvPr/>
        </p:nvPicPr>
        <p:blipFill>
          <a:blip r:embed="rId19"/>
          <a:srcRect t="3326" b="11223"/>
          <a:stretch>
            <a:fillRect/>
          </a:stretch>
        </p:blipFill>
        <p:spPr>
          <a:xfrm>
            <a:off x="0" y="0"/>
            <a:ext cx="4874260" cy="6851015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1"/>
            </p:custDataLst>
          </p:nvPr>
        </p:nvSpPr>
        <p:spPr>
          <a:xfrm rot="5400000">
            <a:off x="5469255" y="2166219"/>
            <a:ext cx="293611" cy="293736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4" name="Text 1"/>
          <p:cNvSpPr/>
          <p:nvPr/>
        </p:nvSpPr>
        <p:spPr>
          <a:xfrm rot="5400000">
            <a:off x="5469890" y="2291949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 rot="5400000">
            <a:off x="5645047" y="2336344"/>
            <a:ext cx="293611" cy="293736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 rot="5400000">
            <a:off x="5470422" y="2392859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6099482" y="2312035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 rot="5400000">
            <a:off x="5470525" y="3218374"/>
            <a:ext cx="293611" cy="293331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519420" y="3108325"/>
            <a:ext cx="293370" cy="2686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 rot="5400000">
            <a:off x="5645047" y="3218164"/>
            <a:ext cx="293611" cy="293331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 rot="5400000">
            <a:off x="5470422" y="312926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6018837" y="324485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2"/>
          <p:cNvSpPr/>
          <p:nvPr>
            <p:custDataLst>
              <p:tags r:id="rId7"/>
            </p:custDataLst>
          </p:nvPr>
        </p:nvSpPr>
        <p:spPr>
          <a:xfrm rot="5400000">
            <a:off x="5470525" y="4026729"/>
            <a:ext cx="293611" cy="293331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>
            <p:custDataLst>
              <p:tags r:id="rId8"/>
            </p:custDataLst>
          </p:nvPr>
        </p:nvSpPr>
        <p:spPr>
          <a:xfrm rot="5400000">
            <a:off x="5645047" y="4092559"/>
            <a:ext cx="293611" cy="293331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>
            <p:custDataLst>
              <p:tags r:id="rId9"/>
            </p:custDataLst>
          </p:nvPr>
        </p:nvSpPr>
        <p:spPr>
          <a:xfrm>
            <a:off x="6090592" y="401955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 rot="5400000">
            <a:off x="5532120" y="483508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407025" y="458470"/>
            <a:ext cx="3513455" cy="1289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>
                    <a:alpha val="27843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 rot="5400000">
            <a:off x="5659017" y="417066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12"/>
          <p:cNvSpPr/>
          <p:nvPr>
            <p:custDataLst>
              <p:tags r:id="rId10"/>
            </p:custDataLst>
          </p:nvPr>
        </p:nvSpPr>
        <p:spPr>
          <a:xfrm rot="5400000">
            <a:off x="5461000" y="5219700"/>
            <a:ext cx="293370" cy="277495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22" name="Shape 14"/>
          <p:cNvSpPr/>
          <p:nvPr>
            <p:custDataLst>
              <p:tags r:id="rId11"/>
            </p:custDataLst>
          </p:nvPr>
        </p:nvSpPr>
        <p:spPr>
          <a:xfrm rot="5400000">
            <a:off x="5655207" y="5212064"/>
            <a:ext cx="293611" cy="293331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24" name="Text 16"/>
          <p:cNvSpPr/>
          <p:nvPr>
            <p:custDataLst>
              <p:tags r:id="rId12"/>
            </p:custDataLst>
          </p:nvPr>
        </p:nvSpPr>
        <p:spPr>
          <a:xfrm>
            <a:off x="6090592" y="5052695"/>
            <a:ext cx="686598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6917690" y="2275840"/>
            <a:ext cx="51523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Introduction to Big Data and Analysis Workflow</a:t>
            </a: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6960235" y="3133725"/>
            <a:ext cx="518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Big Data Modeling (Part I) — Supervised Learning</a:t>
            </a:r>
          </a:p>
        </p:txBody>
      </p:sp>
      <p:sp>
        <p:nvSpPr>
          <p:cNvPr id="26" name="文本框 25"/>
          <p:cNvSpPr txBox="1"/>
          <p:nvPr>
            <p:custDataLst>
              <p:tags r:id="rId15"/>
            </p:custDataLst>
          </p:nvPr>
        </p:nvSpPr>
        <p:spPr>
          <a:xfrm>
            <a:off x="6915150" y="4109085"/>
            <a:ext cx="52793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Big Data Modeling (Part II) — Unsupervised Learning &amp; Deep Modeling</a:t>
            </a:r>
          </a:p>
        </p:txBody>
      </p:sp>
      <p:sp>
        <p:nvSpPr>
          <p:cNvPr id="27" name="文本框 26"/>
          <p:cNvSpPr txBox="1"/>
          <p:nvPr>
            <p:custDataLst>
              <p:tags r:id="rId16"/>
            </p:custDataLst>
          </p:nvPr>
        </p:nvSpPr>
        <p:spPr>
          <a:xfrm>
            <a:off x="6918960" y="5128260"/>
            <a:ext cx="47224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Integrated Project and Application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A804B-77CD-D152-7CA1-FC41436A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03-d0shpms75iks832je4v0.png">
            <a:extLst>
              <a:ext uri="{FF2B5EF4-FFF2-40B4-BE49-F238E27FC236}">
                <a16:creationId xmlns:a16="http://schemas.microsoft.com/office/drawing/2014/main" id="{383017DC-4A7C-3DF0-70C7-99FD8B0317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26" b="11223"/>
          <a:stretch>
            <a:fillRect/>
          </a:stretch>
        </p:blipFill>
        <p:spPr>
          <a:xfrm>
            <a:off x="0" y="0"/>
            <a:ext cx="4874260" cy="68510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04CD08-AB11-0FED-4131-BDE0D9790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389" y="695431"/>
            <a:ext cx="4701947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4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3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4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5685155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3200">
                <a:sym typeface="+mn-ea"/>
              </a:rPr>
              <a:t>Introduction to Big Data and Analysis Workflow</a:t>
            </a:r>
            <a:endParaRPr lang="en-US" sz="32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83197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/>
              <a:t>Introduction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05765" y="1135380"/>
            <a:ext cx="4182110" cy="26638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文本框 17"/>
          <p:cNvSpPr txBox="1"/>
          <p:nvPr/>
        </p:nvSpPr>
        <p:spPr>
          <a:xfrm>
            <a:off x="572770" y="1522730"/>
            <a:ext cx="3881755" cy="2259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/>
              <a:t>How much data is generated every day? </a:t>
            </a:r>
          </a:p>
          <a:p>
            <a:r>
              <a:rPr lang="en-US" altLang="zh-CN" sz="2000"/>
              <a:t>What happens in a single minute on the internet — tweets sent, purchases made, videos streamed? How is all this data collected, analyzed, and turned into decisions?</a:t>
            </a:r>
          </a:p>
        </p:txBody>
      </p:sp>
      <p:pic>
        <p:nvPicPr>
          <p:cNvPr id="2" name="图片 1"/>
          <p:cNvPicPr/>
          <p:nvPr/>
        </p:nvPicPr>
        <p:blipFill>
          <a:blip r:embed="rId3"/>
          <a:srcRect t="16914" b="23581"/>
          <a:stretch>
            <a:fillRect/>
          </a:stretch>
        </p:blipFill>
        <p:spPr>
          <a:xfrm>
            <a:off x="5097780" y="1135380"/>
            <a:ext cx="6957060" cy="51485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53200" y="687705"/>
            <a:ext cx="4187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Data Generated in One Internet Minute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8175" y="4564380"/>
            <a:ext cx="4233545" cy="1750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/>
              <a:t>Behind every smart recommendation or real-time alert is a massive data pipeline. </a:t>
            </a:r>
          </a:p>
          <a:p>
            <a:r>
              <a:rPr lang="en-US" altLang="zh-CN" sz="2000"/>
              <a:t>Today, we’ll explore how that pipeline works and what big data really means.</a:t>
            </a:r>
          </a:p>
        </p:txBody>
      </p:sp>
      <p:sp>
        <p:nvSpPr>
          <p:cNvPr id="5" name="笑脸 4"/>
          <p:cNvSpPr/>
          <p:nvPr/>
        </p:nvSpPr>
        <p:spPr>
          <a:xfrm>
            <a:off x="360045" y="4564380"/>
            <a:ext cx="234315" cy="448310"/>
          </a:xfrm>
          <a:prstGeom prst="smileyFac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59-d0shq4s75iks832je590.png"/>
          <p:cNvPicPr>
            <a:picLocks noChangeAspect="1"/>
          </p:cNvPicPr>
          <p:nvPr/>
        </p:nvPicPr>
        <p:blipFill>
          <a:blip r:embed="rId6"/>
          <a:srcRect l="63" r="63"/>
          <a:stretch>
            <a:fillRect/>
          </a:stretch>
        </p:blipFill>
        <p:spPr>
          <a:xfrm>
            <a:off x="1096010" y="3710940"/>
            <a:ext cx="2664000" cy="213120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5-30-10:51:00-d0shq5475iks832je59g.png"/>
          <p:cNvPicPr>
            <a:picLocks noChangeAspect="1"/>
          </p:cNvPicPr>
          <p:nvPr/>
        </p:nvPicPr>
        <p:blipFill>
          <a:blip r:embed="rId7"/>
          <a:srcRect l="63" r="63"/>
          <a:stretch>
            <a:fillRect/>
          </a:stretch>
        </p:blipFill>
        <p:spPr>
          <a:xfrm>
            <a:off x="1107440" y="1370965"/>
            <a:ext cx="2664000" cy="2131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0930" y="4089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2F49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Definition and Characteristics of Big Data</a:t>
            </a:r>
          </a:p>
        </p:txBody>
      </p:sp>
      <p:sp>
        <p:nvSpPr>
          <p:cNvPr id="13" name="Shape 9"/>
          <p:cNvSpPr/>
          <p:nvPr>
            <p:custDataLst>
              <p:tags r:id="rId1"/>
            </p:custDataLst>
          </p:nvPr>
        </p:nvSpPr>
        <p:spPr>
          <a:xfrm>
            <a:off x="3865880" y="1370965"/>
            <a:ext cx="7620000" cy="4501515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3865880" y="13709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>
            <p:custDataLst>
              <p:tags r:id="rId2"/>
            </p:custDataLst>
          </p:nvPr>
        </p:nvSpPr>
        <p:spPr>
          <a:xfrm>
            <a:off x="4126230" y="2272665"/>
            <a:ext cx="7360920" cy="3173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MiSans" pitchFamily="34" charset="-122"/>
                <a:cs typeface="+mn-lt"/>
              </a:rPr>
              <a:t>Volume:</a:t>
            </a:r>
            <a:r>
              <a:rPr lang="en-US" altLang="zh-CN" sz="2000" dirty="0">
                <a:solidFill>
                  <a:srgbClr val="000000"/>
                </a:solidFill>
                <a:ea typeface="MiSans" pitchFamily="34" charset="-122"/>
                <a:cs typeface="+mn-lt"/>
              </a:rPr>
              <a:t> Huge size — terabytes, petabytes, or more.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MiSans" pitchFamily="34" charset="-122"/>
                <a:cs typeface="+mn-lt"/>
              </a:rPr>
              <a:t>Velocity: </a:t>
            </a:r>
            <a:r>
              <a:rPr lang="en-US" altLang="zh-CN" sz="2000" dirty="0">
                <a:solidFill>
                  <a:srgbClr val="000000"/>
                </a:solidFill>
                <a:ea typeface="MiSans" pitchFamily="34" charset="-122"/>
                <a:cs typeface="+mn-lt"/>
              </a:rPr>
              <a:t>Speed at which data is generated (e.g., real-time trading).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MiSans" pitchFamily="34" charset="-122"/>
                <a:cs typeface="+mn-lt"/>
              </a:rPr>
              <a:t>Variety:</a:t>
            </a:r>
            <a:r>
              <a:rPr lang="en-US" altLang="zh-CN" sz="2000" dirty="0">
                <a:solidFill>
                  <a:srgbClr val="000000"/>
                </a:solidFill>
                <a:ea typeface="MiSans" pitchFamily="34" charset="-122"/>
                <a:cs typeface="+mn-lt"/>
              </a:rPr>
              <a:t> Structured, semi-structured (JSON), and unstructured (images, video, text).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MiSans" pitchFamily="34" charset="-122"/>
                <a:cs typeface="+mn-lt"/>
              </a:rPr>
              <a:t>Veracity:</a:t>
            </a:r>
            <a:r>
              <a:rPr lang="en-US" altLang="zh-CN" sz="2000" dirty="0">
                <a:solidFill>
                  <a:srgbClr val="000000"/>
                </a:solidFill>
                <a:ea typeface="MiSans" pitchFamily="34" charset="-122"/>
                <a:cs typeface="+mn-lt"/>
              </a:rPr>
              <a:t> Data uncertainty and quality issues.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MiSans" pitchFamily="34" charset="-122"/>
                <a:cs typeface="+mn-lt"/>
              </a:rPr>
              <a:t>Value:</a:t>
            </a:r>
            <a:r>
              <a:rPr lang="en-US" altLang="zh-CN" sz="2000" dirty="0">
                <a:solidFill>
                  <a:srgbClr val="000000"/>
                </a:solidFill>
                <a:ea typeface="MiSans" pitchFamily="34" charset="-122"/>
                <a:cs typeface="+mn-lt"/>
              </a:rPr>
              <a:t> Low-value density — useful insight is often buried under noise.ty)</a:t>
            </a:r>
          </a:p>
        </p:txBody>
      </p:sp>
      <p:sp>
        <p:nvSpPr>
          <p:cNvPr id="18" name="Text 14"/>
          <p:cNvSpPr/>
          <p:nvPr>
            <p:custDataLst>
              <p:tags r:id="rId3"/>
            </p:custDataLst>
          </p:nvPr>
        </p:nvSpPr>
        <p:spPr>
          <a:xfrm>
            <a:off x="4126230" y="1472565"/>
            <a:ext cx="70694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📱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Definition and Characteristics of Big Data — The 5Vs </a:t>
            </a:r>
          </a:p>
        </p:txBody>
      </p:sp>
      <p:sp>
        <p:nvSpPr>
          <p:cNvPr id="20" name="Text 16"/>
          <p:cNvSpPr/>
          <p:nvPr/>
        </p:nvSpPr>
        <p:spPr>
          <a:xfrm>
            <a:off x="3865880" y="37077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064000" y="3917315"/>
            <a:ext cx="4069080" cy="381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​​Big Data Analysis Workflow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94360" y="1224280"/>
            <a:ext cx="52457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Explain the six key stages in a typical big data analysis pipeline: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4360" y="2414905"/>
            <a:ext cx="598932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000" b="1"/>
              <a:t>Data Acquisition:</a:t>
            </a:r>
            <a:r>
              <a:rPr lang="en-US" altLang="zh-CN" sz="2000"/>
              <a:t> APIs, log files, sensors, crawlers.</a:t>
            </a:r>
          </a:p>
          <a:p>
            <a:pPr marL="342900" indent="-342900">
              <a:buAutoNum type="arabicPeriod"/>
            </a:pPr>
            <a:r>
              <a:rPr lang="en-US" altLang="zh-CN" sz="2000" b="1"/>
              <a:t>Data Preprocessing</a:t>
            </a:r>
            <a:r>
              <a:rPr lang="en-US" altLang="zh-CN" sz="2000"/>
              <a:t>: Cleaning, deduplication, missing value handling, feature extraction.</a:t>
            </a:r>
          </a:p>
          <a:p>
            <a:pPr marL="342900" indent="-342900">
              <a:buAutoNum type="arabicPeriod"/>
            </a:pPr>
            <a:r>
              <a:rPr lang="en-US" altLang="zh-CN" sz="2000" b="1"/>
              <a:t>Storage and Management:</a:t>
            </a:r>
            <a:r>
              <a:rPr lang="en-US" altLang="zh-CN" sz="2000"/>
              <a:t> Distributed storage systems (HDFS), NoSQL databases.</a:t>
            </a:r>
          </a:p>
          <a:p>
            <a:pPr marL="342900" indent="-342900">
              <a:buAutoNum type="arabicPeriod"/>
            </a:pPr>
            <a:r>
              <a:rPr lang="en-US" altLang="zh-CN" sz="2000" b="1"/>
              <a:t>Modeling:</a:t>
            </a:r>
            <a:r>
              <a:rPr lang="en-US" altLang="zh-CN" sz="2000"/>
              <a:t> Applying appropriate machine learning/statistical models.</a:t>
            </a:r>
          </a:p>
          <a:p>
            <a:pPr marL="342900" indent="-342900">
              <a:buAutoNum type="arabicPeriod"/>
            </a:pPr>
            <a:r>
              <a:rPr lang="en-US" altLang="zh-CN" sz="2000" b="1"/>
              <a:t>Evaluation:</a:t>
            </a:r>
            <a:r>
              <a:rPr lang="en-US" altLang="zh-CN" sz="2000"/>
              <a:t> Using metrics like accuracy, AUC, F1-score, cross-validation.</a:t>
            </a:r>
          </a:p>
          <a:p>
            <a:pPr marL="342900" indent="-342900">
              <a:buAutoNum type="arabicPeriod"/>
            </a:pPr>
            <a:r>
              <a:rPr lang="en-US" altLang="zh-CN" sz="2000" b="1"/>
              <a:t>Deployment: </a:t>
            </a:r>
            <a:r>
              <a:rPr lang="en-US" altLang="zh-CN" sz="2000"/>
              <a:t>Model integration into production (e.g., via APIs or dashboards).</a:t>
            </a:r>
          </a:p>
        </p:txBody>
      </p:sp>
      <p:pic>
        <p:nvPicPr>
          <p:cNvPr id="2" name="图片 1" descr="ChatGPT Image 2025年7月6日 16_03_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0" y="1190625"/>
            <a:ext cx="5448300" cy="5093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0930" y="4089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2F49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2800" dirty="0">
                <a:sym typeface="+mn-ea"/>
              </a:rPr>
              <a:t>Big Data vs. Traditional Analytics</a:t>
            </a:r>
            <a:endParaRPr lang="en-US" altLang="zh-CN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"/>
            </p:custDataLst>
          </p:nvPr>
        </p:nvSpPr>
        <p:spPr>
          <a:xfrm>
            <a:off x="915670" y="1175385"/>
            <a:ext cx="10243185" cy="209296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3865880" y="13709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2"/>
            </p:custDataLst>
          </p:nvPr>
        </p:nvSpPr>
        <p:spPr>
          <a:xfrm>
            <a:off x="1255395" y="1266825"/>
            <a:ext cx="21621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1. Data Scale </a:t>
            </a:r>
          </a:p>
        </p:txBody>
      </p:sp>
      <p:sp>
        <p:nvSpPr>
          <p:cNvPr id="22" name="Text 18"/>
          <p:cNvSpPr/>
          <p:nvPr/>
        </p:nvSpPr>
        <p:spPr>
          <a:xfrm>
            <a:off x="4064000" y="3917315"/>
            <a:ext cx="4069080" cy="381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378585" y="1792605"/>
            <a:ext cx="93008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Traditional analysis typically handles small to moderate volumes of structured data (e.g., spreadsheets, relational databases in the GB range).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Big data analysis deals with massive datasets (TB, PB, or even EB), often too large to fit on a single machine.</a:t>
            </a:r>
          </a:p>
        </p:txBody>
      </p:sp>
      <p:sp>
        <p:nvSpPr>
          <p:cNvPr id="16" name="Shape 9"/>
          <p:cNvSpPr/>
          <p:nvPr>
            <p:custDataLst>
              <p:tags r:id="rId3"/>
            </p:custDataLst>
          </p:nvPr>
        </p:nvSpPr>
        <p:spPr>
          <a:xfrm>
            <a:off x="915670" y="3885565"/>
            <a:ext cx="10243185" cy="209296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9" name="Text 14"/>
          <p:cNvSpPr/>
          <p:nvPr>
            <p:custDataLst>
              <p:tags r:id="rId4"/>
            </p:custDataLst>
          </p:nvPr>
        </p:nvSpPr>
        <p:spPr>
          <a:xfrm>
            <a:off x="1156335" y="4089400"/>
            <a:ext cx="38182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2. Technology Architecture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505585" y="4488180"/>
            <a:ext cx="93008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Traditional analysis relies on single-machine computation using tools like Excel, SPSS, or MySQL.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Big data analysis uses distributed computing architectures such as Hadoop and Spark, which enable parallel processing across multiple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0930" y="4089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2F49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2800" dirty="0">
                <a:sym typeface="+mn-ea"/>
              </a:rPr>
              <a:t>Big Data vs. Traditional Analytics</a:t>
            </a:r>
            <a:endParaRPr lang="en-US" altLang="zh-CN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"/>
            </p:custDataLst>
          </p:nvPr>
        </p:nvSpPr>
        <p:spPr>
          <a:xfrm>
            <a:off x="915670" y="1175385"/>
            <a:ext cx="10243185" cy="209296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3865880" y="13709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2"/>
            </p:custDataLst>
          </p:nvPr>
        </p:nvSpPr>
        <p:spPr>
          <a:xfrm>
            <a:off x="1255395" y="1266825"/>
            <a:ext cx="265493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3.Data Variety</a:t>
            </a:r>
          </a:p>
        </p:txBody>
      </p:sp>
      <p:sp>
        <p:nvSpPr>
          <p:cNvPr id="22" name="Text 18"/>
          <p:cNvSpPr/>
          <p:nvPr/>
        </p:nvSpPr>
        <p:spPr>
          <a:xfrm>
            <a:off x="4064000" y="3917315"/>
            <a:ext cx="4069080" cy="381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378585" y="1792605"/>
            <a:ext cx="9300845" cy="1280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Traditional analytics mostly involves structured data in tabular 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Big data analytics must handle diverse data types: structured, semi-structured (e.g., JSON, XML), and unstructured (e.g., text, images, videos, logs).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</p:txBody>
      </p:sp>
      <p:sp>
        <p:nvSpPr>
          <p:cNvPr id="16" name="Shape 9"/>
          <p:cNvSpPr/>
          <p:nvPr>
            <p:custDataLst>
              <p:tags r:id="rId3"/>
            </p:custDataLst>
          </p:nvPr>
        </p:nvSpPr>
        <p:spPr>
          <a:xfrm>
            <a:off x="915670" y="3885565"/>
            <a:ext cx="10243185" cy="209296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9" name="Text 14"/>
          <p:cNvSpPr/>
          <p:nvPr>
            <p:custDataLst>
              <p:tags r:id="rId4"/>
            </p:custDataLst>
          </p:nvPr>
        </p:nvSpPr>
        <p:spPr>
          <a:xfrm>
            <a:off x="1156335" y="4089400"/>
            <a:ext cx="5032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4. Analytical Goals and Methods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505585" y="4488180"/>
            <a:ext cx="9300845" cy="1490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Traditional analysis emphasizes accurate modeling, statistical inference, and hypothesis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Big data analysis focuses more on pattern discovery, prediction, and real-time insight, often using machine learning and large-scale automation.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0930" y="408940"/>
            <a:ext cx="10782935" cy="953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2F49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</a:t>
            </a:r>
            <a:r>
              <a:rPr lang="en-US" altLang="zh-CN" sz="2800" dirty="0">
                <a:sym typeface="+mn-ea"/>
              </a:rPr>
              <a:t>Big Data vs. Traditional Analytics</a:t>
            </a:r>
            <a:endParaRPr lang="en-US" altLang="zh-CN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altLang="zh-CN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"/>
            </p:custDataLst>
          </p:nvPr>
        </p:nvSpPr>
        <p:spPr>
          <a:xfrm>
            <a:off x="981710" y="2205355"/>
            <a:ext cx="10243185" cy="209296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3773170" y="247205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2"/>
            </p:custDataLst>
          </p:nvPr>
        </p:nvSpPr>
        <p:spPr>
          <a:xfrm>
            <a:off x="1090930" y="2233295"/>
            <a:ext cx="384746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5. Computing Resources</a:t>
            </a:r>
            <a:endParaRPr lang="en-US" altLang="zh-CN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064000" y="3917315"/>
            <a:ext cx="4069080" cy="381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702435" y="2896870"/>
            <a:ext cx="9300845" cy="1280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Traditional analysis is limited by memory and CPU of a single 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Big data platforms can scale horizontally, adding more servers to increase processing power and storage.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683831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​​Big Data vs. Traditional Analytics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10848340" cy="3086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" name="文本框 1"/>
          <p:cNvSpPr txBox="1"/>
          <p:nvPr/>
        </p:nvSpPr>
        <p:spPr>
          <a:xfrm>
            <a:off x="1388745" y="454660"/>
            <a:ext cx="5953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Overview of Big Data Technology Ecosystem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4560" y="1721485"/>
            <a:ext cx="58445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Hadoop: Legacy platform (MapReduce + HDFS).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Spark: In-memory computation, suited for 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Hive / Presto: SQL-like engines for querying big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Kafka / Flink: Real-time data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MLlib / Mahout: Distributed machine learning libraries.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1056640"/>
            <a:ext cx="4533900" cy="96012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6915150" y="1998345"/>
            <a:ext cx="4533900" cy="38373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3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4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4779645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3200">
                <a:sym typeface="+mn-ea"/>
              </a:rPr>
              <a:t>Big Data Modeling (Part I) — Supervised Learning</a:t>
            </a:r>
            <a:endParaRPr lang="en-US" altLang="zh-CN" sz="32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3"/>
          <p:cNvSpPr/>
          <p:nvPr/>
        </p:nvSpPr>
        <p:spPr>
          <a:xfrm>
            <a:off x="797560" y="2284095"/>
            <a:ext cx="752411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</a:t>
            </a:r>
            <a:r>
              <a:rPr lang="en-US" altLang="zh-CN" sz="2400">
                <a:sym typeface="+mn-ea"/>
              </a:rPr>
              <a:t>Supervised Learning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331710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6955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🧠</a:t>
            </a:r>
            <a:r>
              <a:rPr lang="en-US" altLang="zh-CN" sz="2000"/>
              <a:t> “How does Amazon recommend what you might want to buy?”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4560" y="2343150"/>
            <a:ext cx="7328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2000">
                <a:sym typeface="+mn-ea"/>
              </a:rPr>
              <a:t>🧠</a:t>
            </a:r>
            <a:r>
              <a:rPr lang="en-US" altLang="zh-CN" sz="2000">
                <a:sym typeface="+mn-ea"/>
              </a:rPr>
              <a:t>  </a:t>
            </a:r>
            <a:r>
              <a:rPr lang="en-US" altLang="zh-CN" sz="2000"/>
              <a:t>How do banks detect whether a transaction might be fraudulent?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65810" y="4285615"/>
            <a:ext cx="86309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Behind these intelligent systems is a powerful machine learning technique called supervised learning. Give me labeled data, and I’ll learn to predict the future</a:t>
            </a:r>
          </a:p>
        </p:txBody>
      </p:sp>
      <p:sp>
        <p:nvSpPr>
          <p:cNvPr id="20" name="五角星 19"/>
          <p:cNvSpPr/>
          <p:nvPr/>
        </p:nvSpPr>
        <p:spPr>
          <a:xfrm>
            <a:off x="340360" y="4528185"/>
            <a:ext cx="457200" cy="358140"/>
          </a:xfrm>
          <a:prstGeom prst="star5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59-d0shq4s75iks832je590.png"/>
          <p:cNvPicPr>
            <a:picLocks noChangeAspect="1"/>
          </p:cNvPicPr>
          <p:nvPr/>
        </p:nvPicPr>
        <p:blipFill>
          <a:blip r:embed="rId7"/>
          <a:srcRect l="63" r="63"/>
          <a:stretch>
            <a:fillRect/>
          </a:stretch>
        </p:blipFill>
        <p:spPr>
          <a:xfrm>
            <a:off x="1096010" y="3710940"/>
            <a:ext cx="2664000" cy="213120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5-30-10:51:00-d0shq5475iks832je59g.png"/>
          <p:cNvPicPr>
            <a:picLocks noChangeAspect="1"/>
          </p:cNvPicPr>
          <p:nvPr/>
        </p:nvPicPr>
        <p:blipFill>
          <a:blip r:embed="rId8"/>
          <a:srcRect l="63" r="63"/>
          <a:stretch>
            <a:fillRect/>
          </a:stretch>
        </p:blipFill>
        <p:spPr>
          <a:xfrm>
            <a:off x="1107440" y="1370965"/>
            <a:ext cx="2664000" cy="2131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0930" y="408940"/>
            <a:ext cx="561784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 dirty="0">
                <a:sym typeface="+mn-ea"/>
              </a:rPr>
              <a:t>​​Supervised Learning: Basic Concept</a:t>
            </a:r>
            <a:endParaRPr lang="en-US" altLang="zh-CN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"/>
            </p:custDataLst>
          </p:nvPr>
        </p:nvSpPr>
        <p:spPr>
          <a:xfrm>
            <a:off x="3977640" y="1337310"/>
            <a:ext cx="7620000" cy="4501515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3865880" y="13709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>
            <p:custDataLst>
              <p:tags r:id="rId2"/>
            </p:custDataLst>
          </p:nvPr>
        </p:nvSpPr>
        <p:spPr>
          <a:xfrm>
            <a:off x="4124960" y="1932940"/>
            <a:ext cx="7360920" cy="17773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MiSans" pitchFamily="34" charset="-122"/>
                <a:cs typeface="+mn-lt"/>
              </a:rPr>
              <a:t>Supervised learning is a type of machine learning where the model is trained using labeled data — that is, each input is paired with a known output. 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MiSans" pitchFamily="34" charset="-122"/>
                <a:cs typeface="+mn-lt"/>
              </a:rPr>
              <a:t>The goal is for the model to learn a mapping from inputs to outputs so it can predict outcomes for new, unseen data.</a:t>
            </a:r>
          </a:p>
        </p:txBody>
      </p:sp>
      <p:sp>
        <p:nvSpPr>
          <p:cNvPr id="18" name="Text 14"/>
          <p:cNvSpPr/>
          <p:nvPr>
            <p:custDataLst>
              <p:tags r:id="rId3"/>
            </p:custDataLst>
          </p:nvPr>
        </p:nvSpPr>
        <p:spPr>
          <a:xfrm>
            <a:off x="4253230" y="4157980"/>
            <a:ext cx="161671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📱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Example:</a:t>
            </a:r>
          </a:p>
        </p:txBody>
      </p:sp>
      <p:sp>
        <p:nvSpPr>
          <p:cNvPr id="20" name="Text 16"/>
          <p:cNvSpPr/>
          <p:nvPr/>
        </p:nvSpPr>
        <p:spPr>
          <a:xfrm>
            <a:off x="3865880" y="37077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4"/>
          <p:cNvSpPr/>
          <p:nvPr>
            <p:custDataLst>
              <p:tags r:id="rId4"/>
            </p:custDataLst>
          </p:nvPr>
        </p:nvSpPr>
        <p:spPr>
          <a:xfrm>
            <a:off x="4253230" y="1599565"/>
            <a:ext cx="70694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📱</a:t>
            </a: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</a:t>
            </a:r>
            <a:r>
              <a:rPr lang="en-US" altLang="zh-CN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Basic Concept</a:t>
            </a:r>
            <a:endParaRPr lang="en-US" altLang="zh-CN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53230" y="4763770"/>
            <a:ext cx="7291705" cy="1044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MiSans" pitchFamily="34" charset="-122"/>
                <a:cs typeface="+mn-lt"/>
              </a:rPr>
              <a:t>Given historical housing data (with features like area and number of rooms, and known prices), a supervised learning model can learn to predict the price of a new house.</a:t>
            </a:r>
          </a:p>
          <a:p>
            <a:endParaRPr lang="en-US" altLang="zh-CN" sz="2000" dirty="0">
              <a:solidFill>
                <a:srgbClr val="000000"/>
              </a:solidFill>
              <a:ea typeface="MiSans" pitchFamily="34" charset="-122"/>
              <a:cs typeface="+mn-lt"/>
            </a:endParaRPr>
          </a:p>
          <a:p>
            <a:endParaRPr lang="en-US" altLang="zh-CN" sz="2000" dirty="0">
              <a:solidFill>
                <a:srgbClr val="000000"/>
              </a:solidFill>
              <a:ea typeface="MiSans" pitchFamily="34" charset="-122"/>
              <a:cs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5年7月6日 18_06_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55" y="740410"/>
            <a:ext cx="4979035" cy="33197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540956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​​Typical Workflow of Supervised Learning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文本框 27"/>
          <p:cNvSpPr txBox="1"/>
          <p:nvPr/>
        </p:nvSpPr>
        <p:spPr>
          <a:xfrm>
            <a:off x="924560" y="1229360"/>
            <a:ext cx="1095057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1.Data Preparation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Input data consists of features (X) and labels (Y)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X = [age, gender, purchase history]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Y = [clicked / not clicked]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2.Train/Test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The dataset is divided into a training set (to build the model) and a test set (to evaluate it).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3.Model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The algorithm learns a function that maps inputs (X) to outputs (Y).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4.Prediction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The trained model is used to make predictions on new or unseen data.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5.Evaluation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The model's performance is assessed using metrics such as accuracy, precision, recall, or RMSE, depending on the task type.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Challenges and Strategies in Big Data Modeling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5340" y="2464435"/>
            <a:ext cx="770191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15340" y="2472690"/>
            <a:ext cx="74568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🧠</a:t>
            </a:r>
            <a:r>
              <a:rPr lang="en-US" altLang="zh-CN" sz="2000"/>
              <a:t> Challenge 1: Extremely Large Datasets — Slow and Costly Training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191895" y="1020445"/>
            <a:ext cx="103365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In traditional machine learning, we usually work with manageable datasets. But once we enter the realm of big data, modeling becomes much more complex. Let's look at three key challenges — and how to deal with them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90930" y="3308985"/>
            <a:ext cx="917702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Problem: Training on millions or billions of records is too heavy for a single machine. Memory and time become bottlenecks.</a:t>
            </a:r>
          </a:p>
          <a:p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Strategy: Use distributed computing frameworks (e.g., Spark MLlib, distributed XGBoost) to parallelize the training process across multiple nodes.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0930" y="4089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 dirty="0">
                <a:sym typeface="+mn-ea"/>
              </a:rPr>
              <a:t>Challenges and Strategies in Big Data Modeling</a:t>
            </a:r>
            <a:endParaRPr lang="en-US" altLang="zh-CN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"/>
            </p:custDataLst>
          </p:nvPr>
        </p:nvSpPr>
        <p:spPr>
          <a:xfrm>
            <a:off x="915670" y="1175385"/>
            <a:ext cx="10243185" cy="209296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3865880" y="13709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2"/>
            </p:custDataLst>
          </p:nvPr>
        </p:nvSpPr>
        <p:spPr>
          <a:xfrm>
            <a:off x="1255395" y="1266825"/>
            <a:ext cx="92297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Challenge 2: High-Dimensional Features — Redundancy and Overfitting</a:t>
            </a:r>
          </a:p>
        </p:txBody>
      </p:sp>
      <p:sp>
        <p:nvSpPr>
          <p:cNvPr id="22" name="Text 18"/>
          <p:cNvSpPr/>
          <p:nvPr/>
        </p:nvSpPr>
        <p:spPr>
          <a:xfrm>
            <a:off x="4064000" y="3917315"/>
            <a:ext cx="4069080" cy="381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378585" y="1792605"/>
            <a:ext cx="9300845" cy="1220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Problem: High-dimensional data can slow down learning and lead to overfitting.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Strategy: Apply feature selection and dimensionality reduction, such as PCA, information gain, or L1 regularization, to improve efficiency and generalization.</a:t>
            </a:r>
          </a:p>
        </p:txBody>
      </p:sp>
      <p:sp>
        <p:nvSpPr>
          <p:cNvPr id="16" name="Shape 9"/>
          <p:cNvSpPr/>
          <p:nvPr>
            <p:custDataLst>
              <p:tags r:id="rId3"/>
            </p:custDataLst>
          </p:nvPr>
        </p:nvSpPr>
        <p:spPr>
          <a:xfrm>
            <a:off x="915670" y="3885565"/>
            <a:ext cx="10243185" cy="209296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9" name="Text 14"/>
          <p:cNvSpPr/>
          <p:nvPr>
            <p:custDataLst>
              <p:tags r:id="rId4"/>
            </p:custDataLst>
          </p:nvPr>
        </p:nvSpPr>
        <p:spPr>
          <a:xfrm>
            <a:off x="1156335" y="4089400"/>
            <a:ext cx="965073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Challenge 3: Low-Quality Data — Noise, Missing Values, and Label Errors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505585" y="4550410"/>
            <a:ext cx="9300845" cy="1428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Problem: In real-world data, noise and missing values are common, and label errors can severely degrade model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Strategy: Perform robust data preprocessing, including outlier detection, missing value imputation, and data filtering to improve data quality before modeling.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​​Common Supervised Learning Models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2556510" cy="45783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2437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1.Linear Models</a:t>
            </a:r>
          </a:p>
        </p:txBody>
      </p:sp>
      <p:sp>
        <p:nvSpPr>
          <p:cNvPr id="19" name="Shape 13"/>
          <p:cNvSpPr/>
          <p:nvPr/>
        </p:nvSpPr>
        <p:spPr>
          <a:xfrm>
            <a:off x="765810" y="2788285"/>
            <a:ext cx="2555875" cy="53086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" name="文本框 1"/>
          <p:cNvSpPr txBox="1"/>
          <p:nvPr/>
        </p:nvSpPr>
        <p:spPr>
          <a:xfrm>
            <a:off x="967740" y="2850515"/>
            <a:ext cx="2311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Linear Regression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33855" y="2013585"/>
            <a:ext cx="7480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Linear models include linear regression and logistic regression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60" y="3582670"/>
            <a:ext cx="5672455" cy="277050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270750" y="3234055"/>
            <a:ext cx="2555875" cy="530860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7376160" y="3319145"/>
            <a:ext cx="245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 the Big Data Context: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065010" y="3842385"/>
            <a:ext cx="46297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Works well with high-dimensional, sparse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Fast to train, easy to parallelize (e.g., with Spark MLlib)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High interpretability — each coefficient has a clear meaning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​​Common Supervised Learning Models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2556510" cy="457835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795020" y="1374775"/>
            <a:ext cx="2526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Logistic Regression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44320" y="1995170"/>
            <a:ext cx="1962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When to Use It: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386840" y="4030345"/>
            <a:ext cx="2892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Advantages &amp; Limitations: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435225" y="2553970"/>
            <a:ext cx="7520305" cy="1476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Used for binary classification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Linear regression cannot output probabilities in [0,1], so logistic regression uses the sigmoid function: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605" y="3329305"/>
            <a:ext cx="3177540" cy="7010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54760" y="4749165"/>
            <a:ext cx="31896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Efficient and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Produces probability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Coefficients are interpretable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61355" y="4887595"/>
            <a:ext cx="5174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Only models linear decision boundaries (can’t capture complex patterns)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​​Common Supervised Learning Models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2556510" cy="457835"/>
          </a:xfrm>
          <a:prstGeom prst="roundRect">
            <a:avLst>
              <a:gd name="adj" fmla="val 10513"/>
            </a:avLst>
          </a:prstGeom>
          <a:solidFill>
            <a:schemeClr val="bg1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795020" y="1374775"/>
            <a:ext cx="2526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Logistic Regression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44320" y="1995170"/>
            <a:ext cx="1962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When to Use It: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386840" y="4030345"/>
            <a:ext cx="2892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Advantages &amp; Limitations: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435225" y="2553970"/>
            <a:ext cx="7520305" cy="1476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Used for binary classification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Linear regression cannot output probabilities in [0,1], so logistic regression uses the sigmoid function: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605" y="3329305"/>
            <a:ext cx="3177540" cy="7010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54760" y="4749165"/>
            <a:ext cx="31896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Efficient and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Produces probability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Coefficients are interpretable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61355" y="4887595"/>
            <a:ext cx="5174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Only models linear decision boundaries (can’t capture complex patterns)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924560" y="2553970"/>
            <a:ext cx="3468370" cy="40132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​​Common Supervised Learning Models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090930" y="1370965"/>
            <a:ext cx="9617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The linear model above is only suitable for linear models. What do we do with nonlinear tasks?------Tree Models and Ensemble Learning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90930" y="2553970"/>
            <a:ext cx="3302000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Decision Trees – The Foundation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28700" y="3345815"/>
            <a:ext cx="4197350" cy="1526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Key Concepts: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Recursive, rule-based partitioning of feature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Internal nodes represent feature tests, leaves represent predicted output</a:t>
            </a:r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5826760" y="3596640"/>
            <a:ext cx="4197350" cy="1399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Splitting Criteria: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Classification: Gini Index, Information Gain (Entropy)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Regression: Variance Reduction / MSE</a:t>
            </a:r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096000" y="2553970"/>
            <a:ext cx="4631055" cy="346392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28980" y="2505710"/>
            <a:ext cx="4631055" cy="346392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​​Common Supervised Learning Models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090930" y="1370965"/>
            <a:ext cx="6181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One tree can be unstable and sensitive to data noise.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348105" y="2091055"/>
            <a:ext cx="4011930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Random Forest (Bagging approach)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95415" y="3037840"/>
            <a:ext cx="4197350" cy="1399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Sequentially builds trees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Each new tree corrects the residual errors from the previous trees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Final prediction is a weighted sum of all trees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95415" y="2162810"/>
            <a:ext cx="4231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Gradient Boosting (XGBoost / LightGBM)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4560" y="2914015"/>
            <a:ext cx="43510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Build many decision trees on different bootstrapped datasets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At each split, randomly sample a subset of features (feature bagging)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Final prediction by majority vote (classification) or averaging (regression)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​​Common Supervised Learning Models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090930" y="1144270"/>
            <a:ext cx="9601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This image demonstrates how linear models and tree models (e.g., decision trees or random forests) differ in how they separate classes in a 2D feature space.</a:t>
            </a:r>
          </a:p>
        </p:txBody>
      </p:sp>
      <p:pic>
        <p:nvPicPr>
          <p:cNvPr id="12" name="图片 11" descr="ChatGPT Image 2025年7月7日 16_13_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2125980"/>
            <a:ext cx="5973445" cy="450977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553200" y="3249295"/>
            <a:ext cx="5320665" cy="2005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tree models are better suited for nonlinear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While linear models can only draw a single straight line, tree-based models can learn flexible, multi-region boundaries by combining many simple rules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98602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Common Supervised Learning Models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30" y="1481455"/>
            <a:ext cx="10513695" cy="42849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3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4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166116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6256655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4000">
                <a:sym typeface="+mn-ea"/>
              </a:rPr>
              <a:t>Big Data Modeling (Part II) — Unsupervised Learning </a:t>
            </a:r>
            <a:endParaRPr lang="en-US" altLang="zh-CN" sz="4000" dirty="0"/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936307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Why is it important to study unsupervised learning and deep modeling? 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9104630" cy="69977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8369300" cy="978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/>
              <a:t>The data we process is not always clearly labelled. In many real-world scenarios, the lack of labels is the norm.-----Supervised learning is not applicable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87425" y="2985770"/>
            <a:ext cx="1264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Examples:</a:t>
            </a:r>
          </a:p>
        </p:txBody>
      </p:sp>
      <p:sp>
        <p:nvSpPr>
          <p:cNvPr id="3" name="爆炸形 1 2"/>
          <p:cNvSpPr/>
          <p:nvPr/>
        </p:nvSpPr>
        <p:spPr>
          <a:xfrm>
            <a:off x="594360" y="3049270"/>
            <a:ext cx="330200" cy="263525"/>
          </a:xfrm>
          <a:prstGeom prst="irregularSeal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90625" y="3633470"/>
            <a:ext cx="7616190" cy="1088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Millions of retail transactions per day — but no ‘customer type’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Web traffic logs — no tags indicating abnormal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Medical imaging data — only a fraction are manually annotated by experts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76985" y="5825490"/>
            <a:ext cx="7664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Can a model uncover hidden patterns on its own?-----</a:t>
            </a:r>
            <a:r>
              <a:rPr lang="en-US" altLang="zh-CN" dirty="0">
                <a:sym typeface="+mn-ea"/>
              </a:rPr>
              <a:t>unsupervised learning </a:t>
            </a:r>
            <a:endParaRPr lang="en-US" altLang="zh-CN"/>
          </a:p>
        </p:txBody>
      </p:sp>
      <p:sp>
        <p:nvSpPr>
          <p:cNvPr id="6" name="笑脸 5"/>
          <p:cNvSpPr/>
          <p:nvPr/>
        </p:nvSpPr>
        <p:spPr>
          <a:xfrm>
            <a:off x="710565" y="5824855"/>
            <a:ext cx="380365" cy="368935"/>
          </a:xfrm>
          <a:prstGeom prst="smileyFac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0930" y="4089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 dirty="0">
                <a:sym typeface="+mn-ea"/>
              </a:rPr>
              <a:t>Definition &amp; Characteristics of Unsupervised Learning</a:t>
            </a:r>
            <a:endParaRPr lang="en-US" altLang="zh-CN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"/>
            </p:custDataLst>
          </p:nvPr>
        </p:nvSpPr>
        <p:spPr>
          <a:xfrm>
            <a:off x="915670" y="1175385"/>
            <a:ext cx="10243185" cy="209296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3865880" y="1370965"/>
            <a:ext cx="7620000" cy="21310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2"/>
            </p:custDataLst>
          </p:nvPr>
        </p:nvSpPr>
        <p:spPr>
          <a:xfrm>
            <a:off x="1255395" y="1266825"/>
            <a:ext cx="92297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Definition:</a:t>
            </a:r>
            <a:endParaRPr lang="en-US" altLang="zh-CN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064000" y="3917315"/>
            <a:ext cx="4069080" cy="381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184275" y="1792605"/>
            <a:ext cx="9965055" cy="1220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Unsupervised learning refers to a class of machine learning algorithms that learn patterns and structures from unlabeled data, i.e., data without explicit output labels or targets.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The model tries to find hidden groupings, relationships, or representations purely based on the input features.</a:t>
            </a:r>
          </a:p>
        </p:txBody>
      </p:sp>
      <p:sp>
        <p:nvSpPr>
          <p:cNvPr id="16" name="Shape 9"/>
          <p:cNvSpPr/>
          <p:nvPr>
            <p:custDataLst>
              <p:tags r:id="rId4"/>
            </p:custDataLst>
          </p:nvPr>
        </p:nvSpPr>
        <p:spPr>
          <a:xfrm>
            <a:off x="941705" y="3361055"/>
            <a:ext cx="10156190" cy="2989580"/>
          </a:xfrm>
          <a:prstGeom prst="roundRect">
            <a:avLst>
              <a:gd name="adj" fmla="val 3784"/>
            </a:avLst>
          </a:prstGeom>
          <a:solidFill>
            <a:srgbClr val="E0E9C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>
            <p:custDataLst>
              <p:tags r:id="rId5"/>
            </p:custDataLst>
          </p:nvPr>
        </p:nvSpPr>
        <p:spPr>
          <a:xfrm>
            <a:off x="1090930" y="3484880"/>
            <a:ext cx="272478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Key Characteristics:</a:t>
            </a: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1255395" y="3942080"/>
            <a:ext cx="9901555" cy="2456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/>
              <a:t>No labels required: It works solely on input data without ground truth annotations.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/>
              <a:t>Structure discovery: The goal is to uncover hidden structures like clusters, latent variables, or associations.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/>
              <a:t>Exploratory nature: Often used for data exploration, feature extraction, or preprocessing rather than predictive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/>
              <a:t>Lower interpretability: Results can be harder to validate or explain compared to supervised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/>
              <a:t>Sensitivity to anomalies and novelties: Useful for outlier detection and identifying new, unseen patterns.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35292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Common Clustering Algorithms 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9834880" cy="101473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92856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Clustering is the task of grouping similar data points together without any predefined labels.It’s like how humans naturally group animals into birds, mammals, reptiles — even without explicit instructions.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37945" y="2762885"/>
            <a:ext cx="7654925" cy="2094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/>
              <a:t>Real-world 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Grouping consumers into ‘price-sensitive’, ‘brand-loyal’, and ‘impulsive buyers’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Automatically categorizing news articles by topics (politics, sports, entertainment)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Clustering patient data to discover unknown disease subtypes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181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​​Threat Models 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387090" cy="42354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2807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1.K-Means Clustering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90930" y="2416810"/>
            <a:ext cx="4454525" cy="303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/>
              <a:t>Idea:</a:t>
            </a:r>
            <a:r>
              <a:rPr lang="en-US" altLang="zh-CN" sz="2000"/>
              <a:t> Randomly initialize K centroids </a:t>
            </a:r>
            <a:r>
              <a:rPr lang="en-US" altLang="en-US" sz="2000"/>
              <a:t>→</a:t>
            </a:r>
            <a:r>
              <a:rPr lang="en-US" altLang="zh-CN" sz="2000"/>
              <a:t> assign samples </a:t>
            </a:r>
            <a:r>
              <a:rPr lang="en-US" altLang="en-US" sz="2000"/>
              <a:t>→</a:t>
            </a:r>
            <a:r>
              <a:rPr lang="en-US" altLang="zh-CN" sz="2000"/>
              <a:t> update centroids </a:t>
            </a:r>
            <a:r>
              <a:rPr lang="en-US" altLang="en-US" sz="2000"/>
              <a:t>→</a:t>
            </a:r>
            <a:r>
              <a:rPr lang="en-US" altLang="zh-CN" sz="2000"/>
              <a:t> iterate until convergence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/>
              <a:t>Best for: </a:t>
            </a:r>
            <a:r>
              <a:rPr lang="en-US" altLang="zh-CN" sz="2000"/>
              <a:t>Numerical data with roughly spherical clusters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/>
              <a:t>Pros: </a:t>
            </a:r>
            <a:r>
              <a:rPr lang="en-US" altLang="zh-CN" sz="2000"/>
              <a:t>Fast, scalable, widely used in big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/>
              <a:t>Cons: </a:t>
            </a:r>
            <a:r>
              <a:rPr lang="en-US" altLang="zh-CN" sz="2000"/>
              <a:t>Requires predefined K, sensitive to initial points, affected by outliers</a:t>
            </a: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6330950" y="1175385"/>
            <a:ext cx="5470525" cy="49072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181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​​Threat Models 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8333740" cy="42354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8147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2.DBSCAN (Density-Based Spatial Clustering of Applications with Noise)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90930" y="2416810"/>
            <a:ext cx="9372600" cy="2548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Idea: Dense regions of data form clusters; sparse areas are treated as noise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Best for: Arbitrary-shaped clusters, anomaly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Pros: Doesn’t need K; handles noise/outliers; discovers complex shapes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Cons: Sensitive to parameters (eps, minPts); less effective in high dimensions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60500" y="5304790"/>
            <a:ext cx="5967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📌</a:t>
            </a:r>
            <a:r>
              <a:rPr lang="en-US" altLang="zh-CN"/>
              <a:t> Use Case:</a:t>
            </a:r>
          </a:p>
          <a:p>
            <a:r>
              <a:rPr lang="en-US" altLang="zh-CN"/>
              <a:t>Cyberattack detection, fraud spotting, geospatial clustering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181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​​Threat Models 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190240" cy="42354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2776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2. Hierarchical Clustering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94360" y="2392045"/>
            <a:ext cx="4512945" cy="348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Idea: Build a tree-like structure (dendrogram) by progressively merging or splitting clusters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Pros: No need to specify K; great visualization; reveals hierarchical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Cons: High computational cost for large datasets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230" y="1788160"/>
            <a:ext cx="694309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98602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​​Applications of Clustering in Big Data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635" y="1487805"/>
            <a:ext cx="10500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3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4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166116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574548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4000" dirty="0"/>
              <a:t>Integrated Application and Project Practice</a:t>
            </a:r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98602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​​Big data modeling project in practice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" name="圆角矩形 2"/>
          <p:cNvSpPr/>
          <p:nvPr/>
        </p:nvSpPr>
        <p:spPr>
          <a:xfrm>
            <a:off x="1090930" y="1205865"/>
            <a:ext cx="8044180" cy="37020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90930" y="1207770"/>
            <a:ext cx="8044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Project Title: Supervised Learning-based Fraud Detection of Financial Transactions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8700" y="2091055"/>
            <a:ext cx="8796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Project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Design a machine learning model to identify potential fraud in credit card transactions to help financial institutions reduce losses and improve risk management capabilities.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90930" y="3528060"/>
            <a:ext cx="4528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Dataset Source: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Using the publicly available Kaggle dataset:</a:t>
            </a:r>
          </a:p>
          <a:p>
            <a:r>
              <a:rPr lang="en-US" altLang="zh-CN"/>
              <a:t>https://www.kaggle.com/datasets/mlg-ulb/creditcardfraud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625590" y="4251325"/>
            <a:ext cx="48564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Total sample size: 284,807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Fraudulent transactions: 492 (approx. 0.17%)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Number of features: 30 (most of them have been anonymized, such as V1~V28) + time and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Label Field: Class (0 for normal transactions, 1 for fraud)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553200" y="3726180"/>
            <a:ext cx="2016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Data Description: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31406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​​Project Workflow Steps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5965" y="2761615"/>
            <a:ext cx="2140585" cy="288607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3" name="Shape 13"/>
          <p:cNvSpPr/>
          <p:nvPr/>
        </p:nvSpPr>
        <p:spPr>
          <a:xfrm>
            <a:off x="9030970" y="2714625"/>
            <a:ext cx="2396490" cy="2933700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13"/>
          <p:cNvSpPr/>
          <p:nvPr/>
        </p:nvSpPr>
        <p:spPr>
          <a:xfrm>
            <a:off x="6208395" y="2751455"/>
            <a:ext cx="2140585" cy="2896870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13"/>
          <p:cNvSpPr/>
          <p:nvPr/>
        </p:nvSpPr>
        <p:spPr>
          <a:xfrm>
            <a:off x="3503295" y="2761615"/>
            <a:ext cx="2140585" cy="2886710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文本框 11"/>
          <p:cNvSpPr txBox="1"/>
          <p:nvPr/>
        </p:nvSpPr>
        <p:spPr>
          <a:xfrm>
            <a:off x="924560" y="1793240"/>
            <a:ext cx="1574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Data Exploration &amp; Preprocessing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97560" y="3074670"/>
            <a:ext cx="20789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Examine class imbalance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Visualize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Normalize Amount and Time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706495" y="1953895"/>
            <a:ext cx="1718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Feature Engineering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508375" y="2912110"/>
            <a:ext cx="21145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Extract time-based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Bucketize transaction amounts.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Remove highly correlated or redundant features.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304280" y="1931670"/>
            <a:ext cx="1948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Model Building &amp; Training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198235" y="2972435"/>
            <a:ext cx="26390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Try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Logistic Regression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Random Forest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219825" y="4080510"/>
            <a:ext cx="22542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Techniques: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5-fold cross-validation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Use balanced class weights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300210" y="2092325"/>
            <a:ext cx="1871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Model Evaluation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934450" y="3189605"/>
            <a:ext cx="26263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Use appropriate metrics for imbalanced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Precision, Recall, F1-score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ROC-AUC</a:t>
            </a:r>
          </a:p>
        </p:txBody>
      </p:sp>
      <p:sp>
        <p:nvSpPr>
          <p:cNvPr id="28" name="右箭头 27"/>
          <p:cNvSpPr/>
          <p:nvPr/>
        </p:nvSpPr>
        <p:spPr>
          <a:xfrm>
            <a:off x="2876550" y="4080510"/>
            <a:ext cx="626745" cy="2838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8336915" y="4080510"/>
            <a:ext cx="626745" cy="2838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>
            <a:off x="5592445" y="4080510"/>
            <a:ext cx="626745" cy="2838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697355" y="6103620"/>
            <a:ext cx="3174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 code sample is shown below</a:t>
            </a:r>
          </a:p>
        </p:txBody>
      </p:sp>
      <p:sp>
        <p:nvSpPr>
          <p:cNvPr id="33" name="笑脸 32"/>
          <p:cNvSpPr/>
          <p:nvPr/>
        </p:nvSpPr>
        <p:spPr>
          <a:xfrm>
            <a:off x="1162685" y="6191885"/>
            <a:ext cx="307975" cy="354330"/>
          </a:xfrm>
          <a:prstGeom prst="smileyFac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21830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1: Import Required Libraries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409700"/>
            <a:ext cx="7784465" cy="48742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392795" y="1585595"/>
            <a:ext cx="35528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pandas, numpy: for data handling and computation.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matplotlib, seaborn: for data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sklearn.model_selection: functions for splitting data and cross-validation.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StandardScaler: to normalize feature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Models: logistic regression, random forest, XGBoost.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sklearn.metrics: provides evaluation metrics (F1, AUC,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warnings: suppresses unnecessary output for cleaner logs.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24345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2: Load Dataset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97560" y="3592830"/>
            <a:ext cx="40735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pandas, numpy: for data Reads the dataset into a DataFrame.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df.shape shows the number of rows and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df.head() displays the first 5 rows for preview.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" y="1585595"/>
            <a:ext cx="7256145" cy="14624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94705" y="3397250"/>
            <a:ext cx="1732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Run the results</a:t>
            </a:r>
            <a:r>
              <a:rPr lang="zh-CN" altLang="en-US"/>
              <a:t>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0" y="3764280"/>
            <a:ext cx="6012180" cy="25196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38277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3.Check Class Imbalance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70" y="1230630"/>
            <a:ext cx="8253095" cy="20561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41730" y="4128135"/>
            <a:ext cx="88995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value_counts() shows how many fraud (1) vs. normal (0) transactions.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countplot() visualizes the class imbalance.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Fraud is extremely rare, which presents a major modeling challenge.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38277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3.Check Class Imbalance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1038860" y="1329055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Run the results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15" y="1891030"/>
            <a:ext cx="2151380" cy="822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560" y="1179830"/>
            <a:ext cx="5918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8702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4.Feature Scaling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35" y="1229995"/>
            <a:ext cx="7110095" cy="20072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28470" y="3597910"/>
            <a:ext cx="74174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Scales the Amount feature to standard form (mean=0, std=1).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Scaling helps models like logistic regression perform better.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Removes Time and original Amount fields after transformation.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28702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5: Train/Test Split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1728470" y="3526790"/>
            <a:ext cx="6142355" cy="2194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X: features, y: target label (fraud or not).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Splits data into 80% training, 20% 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stratify=y: ensures both sets preserve fraud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random_state: ensures reproducibility.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30" y="1300480"/>
            <a:ext cx="8581390" cy="19488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430974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6: Train Logistic Regression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1975485" y="4065270"/>
            <a:ext cx="6893560" cy="1861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class_weight='balanced': auto-adjusts for class imbalance.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max_iter=1000: increases iterations to ensure convergence.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Trains the logistic regression model and prints evaluation metrics.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955" y="1011555"/>
            <a:ext cx="8136255" cy="270573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358965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7: Train Random Forest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1584960" y="4219575"/>
            <a:ext cx="7531100" cy="1861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Uses 100 decision trees.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Also uses class weighting to handle imbalance.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Allows comparison with logistic regression performance.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945" y="1037590"/>
            <a:ext cx="8997950" cy="285940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51631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8: Plot ROC Curves and AUC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5869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66825"/>
            <a:ext cx="7374255" cy="5049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59165" y="1967230"/>
            <a:ext cx="287083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Draws ROC curves for each model.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AUC summarizes model ability to distinguish classes.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Ideal AUC is close to 1.0.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Helps compare model quality visually.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51631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8: Plot ROC Curves and AUC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5869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8117840" y="2695575"/>
            <a:ext cx="37084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Both curves hug the top-left corner, which indicates: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High recall (most frauds detected)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Low false positive rate (few normal transactions wrongly flagged)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This means both models are strong classifiers in this imbalanced problem.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65555" y="1095375"/>
            <a:ext cx="2016125" cy="440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ym typeface="+mn-ea"/>
              </a:rPr>
              <a:t>Run the results: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555" y="1546225"/>
            <a:ext cx="6392545" cy="49301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09230" y="2132330"/>
            <a:ext cx="366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1.Both models perform very well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51631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8: Plot ROC Curves and AUC</a:t>
            </a:r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5869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8230870" y="2430780"/>
            <a:ext cx="317817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AUC (Area Under the Curve) measures the overall performance: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Logistic Regression: 0.9714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Random Forest: 0.9580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Closer to 1 means better discriminative 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Logistic Regression slightly outperforms Random Forest on this dataset.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65555" y="1095375"/>
            <a:ext cx="2016125" cy="440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ym typeface="+mn-ea"/>
              </a:rPr>
              <a:t>Run the results: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555" y="1546225"/>
            <a:ext cx="6392545" cy="4930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06410" y="1802765"/>
            <a:ext cx="2284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2. AUC Comparison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14-d0shppk75iks832je4vg.png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15260" y="3318510"/>
            <a:ext cx="6761480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27898" y="1987550"/>
            <a:ext cx="7736205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75,&quot;left&quot;:430.625,&quot;top&quot;:159.4,&quot;width&quot;:529.5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3.6,&quot;left&quot;:72.1,&quot;top&quot;:92.55,&quot;width&quot;:839.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2,&quot;left&quot;:297,&quot;top&quot;:107.95,&quot;width&quot;:614.7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3.6,&quot;left&quot;:72.1,&quot;top&quot;:92.55,&quot;width&quot;:839.6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E927D"/>
      </a:accent1>
      <a:accent2>
        <a:srgbClr val="9FB26A"/>
      </a:accent2>
      <a:accent3>
        <a:srgbClr val="E0E9C9"/>
      </a:accent3>
      <a:accent4>
        <a:srgbClr val="1D4621"/>
      </a:accent4>
      <a:accent5>
        <a:srgbClr val="E0F0E7"/>
      </a:accent5>
      <a:accent6>
        <a:srgbClr val="58585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E927D"/>
      </a:accent1>
      <a:accent2>
        <a:srgbClr val="9FB26A"/>
      </a:accent2>
      <a:accent3>
        <a:srgbClr val="E0E9C9"/>
      </a:accent3>
      <a:accent4>
        <a:srgbClr val="1D4621"/>
      </a:accent4>
      <a:accent5>
        <a:srgbClr val="E0F0E7"/>
      </a:accent5>
      <a:accent6>
        <a:srgbClr val="58585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2807</Words>
  <Application>Microsoft Office PowerPoint</Application>
  <PresentationFormat>Widescreen</PresentationFormat>
  <Paragraphs>385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宋体</vt:lpstr>
      <vt:lpstr>Calibri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Frank Jiang</cp:lastModifiedBy>
  <cp:revision>13</cp:revision>
  <dcterms:created xsi:type="dcterms:W3CDTF">2025-06-30T16:24:00Z</dcterms:created>
  <dcterms:modified xsi:type="dcterms:W3CDTF">2025-07-08T23:18:06Z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6243BDF93D074869A67F47DE7BD7D190_13</vt:lpwstr>
  </property>
  <property fmtid="{D5CDD505-2E9C-101B-9397-08002B2CF9AE}" pid="3" name="KSOProductBuildVer">
    <vt:lpwstr>2052-12.1.0.21915</vt:lpwstr>
  </property>
</Properties>
</file>