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2" r:id="rId3"/>
  </p:sldMasterIdLst>
  <p:notesMasterIdLst>
    <p:notesMasterId r:id="rId5"/>
  </p:notesMasterIdLst>
  <p:sldIdLst>
    <p:sldId id="256" r:id="rId4"/>
    <p:sldId id="257" r:id="rId6"/>
    <p:sldId id="258" r:id="rId7"/>
    <p:sldId id="259" r:id="rId8"/>
    <p:sldId id="272" r:id="rId9"/>
    <p:sldId id="298" r:id="rId10"/>
    <p:sldId id="346" r:id="rId11"/>
    <p:sldId id="347" r:id="rId12"/>
    <p:sldId id="348" r:id="rId13"/>
    <p:sldId id="349" r:id="rId14"/>
    <p:sldId id="350" r:id="rId15"/>
    <p:sldId id="351" r:id="rId16"/>
    <p:sldId id="352" r:id="rId17"/>
    <p:sldId id="274" r:id="rId18"/>
    <p:sldId id="336" r:id="rId19"/>
    <p:sldId id="337" r:id="rId20"/>
    <p:sldId id="338" r:id="rId21"/>
    <p:sldId id="339" r:id="rId22"/>
    <p:sldId id="341" r:id="rId23"/>
    <p:sldId id="342" r:id="rId24"/>
    <p:sldId id="343" r:id="rId25"/>
    <p:sldId id="344" r:id="rId26"/>
    <p:sldId id="275" r:id="rId27"/>
    <p:sldId id="353" r:id="rId28"/>
    <p:sldId id="355" r:id="rId29"/>
    <p:sldId id="356" r:id="rId30"/>
    <p:sldId id="379" r:id="rId31"/>
    <p:sldId id="380" r:id="rId32"/>
    <p:sldId id="381" r:id="rId33"/>
    <p:sldId id="385" r:id="rId34"/>
    <p:sldId id="387" r:id="rId35"/>
    <p:sldId id="382" r:id="rId36"/>
    <p:sldId id="383" r:id="rId37"/>
    <p:sldId id="384" r:id="rId38"/>
    <p:sldId id="390" r:id="rId39"/>
    <p:sldId id="391" r:id="rId40"/>
    <p:sldId id="401" r:id="rId41"/>
    <p:sldId id="402" r:id="rId42"/>
    <p:sldId id="388" r:id="rId43"/>
    <p:sldId id="389" r:id="rId44"/>
    <p:sldId id="378" r:id="rId45"/>
    <p:sldId id="297" r:id="rId46"/>
    <p:sldId id="276" r:id="rId47"/>
    <p:sldId id="280" r:id="rId48"/>
    <p:sldId id="281" r:id="rId49"/>
    <p:sldId id="282" r:id="rId50"/>
    <p:sldId id="271" r:id="rId51"/>
  </p:sldIdLst>
  <p:sldSz cx="12192000" cy="6858000"/>
  <p:notesSz cx="6858000" cy="12192000"/>
  <p:embeddedFontLst>
    <p:embeddedFont>
      <p:font typeface="微软雅黑" panose="020B0503020204020204" charset="-122"/>
      <p:regular r:id="rId55"/>
    </p:embeddedFont>
    <p:embeddedFont>
      <p:font typeface="MiSans" pitchFamily="34" charset="-122"/>
      <p:regular r:id="rId56"/>
    </p:embeddedFont>
    <p:embeddedFont>
      <p:font typeface="MiSans" pitchFamily="34" charset="-120"/>
      <p:regular r:id="rId57"/>
    </p:embeddedFont>
    <p:embeddedFont>
      <p:font typeface="Calibri" panose="020F0502020204030204" charset="0"/>
      <p:regular r:id="rId58"/>
      <p:bold r:id="rId59"/>
      <p:italic r:id="rId60"/>
      <p:boldItalic r:id="rId61"/>
    </p:embeddedFont>
    <p:embeddedFont>
      <p:font typeface="等线" panose="02010600030101010101" charset="-122"/>
      <p:regular r:id="rId62"/>
    </p:embeddedFont>
    <p:embeddedFont>
      <p:font typeface="等线 Light" panose="02010600030101010101" charset="-122"/>
      <p:regular r:id="rId63"/>
    </p:embeddedFont>
    <p:embeddedFont>
      <p:font typeface="Calibri" panose="020F0502020204030204"/>
      <p:regular r:id="rId64"/>
      <p:bold r:id="rId65"/>
      <p:italic r:id="rId66"/>
      <p:boldItalic r:id="rId6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7" Type="http://schemas.openxmlformats.org/officeDocument/2006/relationships/font" Target="fonts/font13.fntdata"/><Relationship Id="rId66" Type="http://schemas.openxmlformats.org/officeDocument/2006/relationships/font" Target="fonts/font12.fntdata"/><Relationship Id="rId65" Type="http://schemas.openxmlformats.org/officeDocument/2006/relationships/font" Target="fonts/font11.fntdata"/><Relationship Id="rId64" Type="http://schemas.openxmlformats.org/officeDocument/2006/relationships/font" Target="fonts/font10.fntdata"/><Relationship Id="rId63" Type="http://schemas.openxmlformats.org/officeDocument/2006/relationships/font" Target="fonts/font9.fntdata"/><Relationship Id="rId62" Type="http://schemas.openxmlformats.org/officeDocument/2006/relationships/font" Target="fonts/font8.fntdata"/><Relationship Id="rId61" Type="http://schemas.openxmlformats.org/officeDocument/2006/relationships/font" Target="fonts/font7.fntdata"/><Relationship Id="rId60" Type="http://schemas.openxmlformats.org/officeDocument/2006/relationships/font" Target="fonts/font6.fntdata"/><Relationship Id="rId6" Type="http://schemas.openxmlformats.org/officeDocument/2006/relationships/slide" Target="slides/slide2.xml"/><Relationship Id="rId59" Type="http://schemas.openxmlformats.org/officeDocument/2006/relationships/font" Target="fonts/font5.fntdata"/><Relationship Id="rId58" Type="http://schemas.openxmlformats.org/officeDocument/2006/relationships/font" Target="fonts/font4.fntdata"/><Relationship Id="rId57" Type="http://schemas.openxmlformats.org/officeDocument/2006/relationships/font" Target="fonts/font3.fntdata"/><Relationship Id="rId56" Type="http://schemas.openxmlformats.org/officeDocument/2006/relationships/font" Target="fonts/font2.fntdata"/><Relationship Id="rId55" Type="http://schemas.openxmlformats.org/officeDocument/2006/relationships/font" Target="fonts/font1.fntdata"/><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125715" y="1426388"/>
            <a:ext cx="5933440" cy="391160"/>
          </a:xfrm>
        </p:spPr>
        <p:txBody>
          <a:bodyPr lIns="0" tIns="0" rIns="0" bIns="0"/>
          <a:lstStyle>
            <a:lvl1pPr>
              <a:defRPr sz="24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1411744" y="2225065"/>
            <a:ext cx="10584509" cy="2533015"/>
          </a:xfrm>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a:xfrm>
            <a:off x="4145280" y="6377940"/>
            <a:ext cx="3901440" cy="342900"/>
          </a:xfrm>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125715" y="1426388"/>
            <a:ext cx="5933440" cy="391160"/>
          </a:xfrm>
        </p:spPr>
        <p:txBody>
          <a:bodyPr lIns="0" tIns="0" rIns="0" bIns="0"/>
          <a:lstStyle>
            <a:lvl1pPr>
              <a:defRPr sz="24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1411744" y="2225065"/>
            <a:ext cx="10584509" cy="2533015"/>
          </a:xfrm>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a:xfrm>
            <a:off x="4145280" y="6377940"/>
            <a:ext cx="3901440" cy="342900"/>
          </a:xfrm>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10.jpeg"/><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1.jpeg"/><Relationship Id="rId2" Type="http://schemas.openxmlformats.org/officeDocument/2006/relationships/tags" Target="../tags/tag1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1.jpeg"/><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jpe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21.jpeg"/><Relationship Id="rId4" Type="http://schemas.openxmlformats.org/officeDocument/2006/relationships/image" Target="../media/image20.jpe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6.jpeg"/><Relationship Id="rId1" Type="http://schemas.openxmlformats.org/officeDocument/2006/relationships/image" Target="../media/image25.jpe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hyperlink" Target="http://cs.stanford.edu/people/karpathy/convnetjs/demo/classify2d.html" TargetMode="External"/><Relationship Id="rId2" Type="http://schemas.openxmlformats.org/officeDocument/2006/relationships/image" Target="../media/image27.jpeg"/><Relationship Id="rId1" Type="http://schemas.openxmlformats.org/officeDocument/2006/relationships/image" Target="../media/image25.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9.jpeg"/><Relationship Id="rId1" Type="http://schemas.openxmlformats.org/officeDocument/2006/relationships/image" Target="../media/image28.jpe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image" Target="../media/image30.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5.jpeg"/><Relationship Id="rId1" Type="http://schemas.openxmlformats.org/officeDocument/2006/relationships/image" Target="../media/image34.jpeg"/></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38.jpeg"/><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image" Target="../media/image34.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jpe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hyperlink" Target="http://cs.stanford.edu/people/karpathy/convnetjs/demo/classify2d.html" TargetMode="External"/><Relationship Id="rId1" Type="http://schemas.openxmlformats.org/officeDocument/2006/relationships/image" Target="../media/image12.jpe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2.jpeg"/><Relationship Id="rId1" Type="http://schemas.openxmlformats.org/officeDocument/2006/relationships/image" Target="../media/image41.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3.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4.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5.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6.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7.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3" name="Text 0"/>
          <p:cNvSpPr/>
          <p:nvPr/>
        </p:nvSpPr>
        <p:spPr>
          <a:xfrm>
            <a:off x="3777615" y="4553585"/>
            <a:ext cx="1918970" cy="337185"/>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000000"/>
                </a:solidFill>
                <a:latin typeface="MiSans" pitchFamily="34" charset="-122"/>
                <a:ea typeface="MiSans" pitchFamily="34" charset="-122"/>
                <a:cs typeface="MiSans" pitchFamily="34" charset="-120"/>
              </a:rPr>
              <a:t>汇报人</a:t>
            </a:r>
            <a:endParaRPr lang="en-US" sz="1600" dirty="0"/>
          </a:p>
        </p:txBody>
      </p:sp>
      <p:sp>
        <p:nvSpPr>
          <p:cNvPr id="4" name="Text 1"/>
          <p:cNvSpPr/>
          <p:nvPr/>
        </p:nvSpPr>
        <p:spPr>
          <a:xfrm>
            <a:off x="6495415" y="4553585"/>
            <a:ext cx="1918970" cy="248841"/>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000000"/>
                </a:solidFill>
                <a:latin typeface="MiSans" pitchFamily="34" charset="-122"/>
                <a:ea typeface="MiSans" pitchFamily="34" charset="-122"/>
                <a:cs typeface="MiSans" pitchFamily="34" charset="-120"/>
              </a:rPr>
              <a:t>时间</a:t>
            </a:r>
            <a:r>
              <a:rPr lang="en-US" sz="1600" dirty="0">
                <a:solidFill>
                  <a:srgbClr val="000000"/>
                </a:solidFill>
                <a:latin typeface="MiSans" pitchFamily="34" charset="-122"/>
                <a:ea typeface="MiSans" pitchFamily="34" charset="-122"/>
                <a:cs typeface="MiSans" pitchFamily="34" charset="-120"/>
              </a:rPr>
              <a:t>:2025.01.01</a:t>
            </a:r>
            <a:endParaRPr lang="en-US" sz="1600" dirty="0"/>
          </a:p>
        </p:txBody>
      </p:sp>
      <p:sp>
        <p:nvSpPr>
          <p:cNvPr id="5" name="Text 2"/>
          <p:cNvSpPr/>
          <p:nvPr/>
        </p:nvSpPr>
        <p:spPr>
          <a:xfrm>
            <a:off x="1932305" y="1469390"/>
            <a:ext cx="8327390" cy="2952750"/>
          </a:xfrm>
          <a:prstGeom prst="rect">
            <a:avLst/>
          </a:prstGeom>
          <a:noFill/>
        </p:spPr>
        <p:txBody>
          <a:bodyPr wrap="square" lIns="91440" tIns="45720" rIns="91440" bIns="45720" rtlCol="0" anchor="t">
            <a:spAutoFit/>
          </a:bodyPr>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Deep Learning Overview &amp; Core Concepts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03-d0shpms75iks832je4v0.png"/>
          <p:cNvPicPr>
            <a:picLocks noChangeAspect="1"/>
          </p:cNvPicPr>
          <p:nvPr/>
        </p:nvPicPr>
        <p:blipFill>
          <a:blip r:embed="rId1"/>
          <a:srcRect t="3326" b="11223"/>
          <a:stretch>
            <a:fillRect/>
          </a:stretch>
        </p:blipFill>
        <p:spPr>
          <a:xfrm>
            <a:off x="0" y="0"/>
            <a:ext cx="4874260" cy="6851015"/>
          </a:xfrm>
          <a:prstGeom prst="rect">
            <a:avLst/>
          </a:prstGeom>
        </p:spPr>
      </p:pic>
      <p:sp>
        <p:nvSpPr>
          <p:cNvPr id="3" name="Shape 0"/>
          <p:cNvSpPr/>
          <p:nvPr/>
        </p:nvSpPr>
        <p:spPr>
          <a:xfrm rot="5400000">
            <a:off x="5532120" y="2449429"/>
            <a:ext cx="293611" cy="293736"/>
          </a:xfrm>
          <a:prstGeom prst="triangle">
            <a:avLst/>
          </a:prstGeom>
          <a:solidFill>
            <a:srgbClr val="E0E9C9"/>
          </a:solidFill>
        </p:spPr>
      </p:sp>
      <p:sp>
        <p:nvSpPr>
          <p:cNvPr id="4" name="Text 1"/>
          <p:cNvSpPr/>
          <p:nvPr/>
        </p:nvSpPr>
        <p:spPr>
          <a:xfrm rot="5400000">
            <a:off x="5532120" y="2449429"/>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rot="5400000">
            <a:off x="5645047" y="2562404"/>
            <a:ext cx="293611" cy="293736"/>
          </a:xfrm>
          <a:prstGeom prst="triangle">
            <a:avLst/>
          </a:prstGeom>
          <a:solidFill>
            <a:srgbClr val="5E927D"/>
          </a:solidFill>
        </p:spPr>
      </p:sp>
      <p:sp>
        <p:nvSpPr>
          <p:cNvPr id="6" name="Text 3"/>
          <p:cNvSpPr/>
          <p:nvPr/>
        </p:nvSpPr>
        <p:spPr>
          <a:xfrm rot="5400000">
            <a:off x="5645047" y="2562404"/>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custDataLst>
              <p:tags r:id="rId2"/>
            </p:custDataLst>
          </p:nvPr>
        </p:nvSpPr>
        <p:spPr>
          <a:xfrm>
            <a:off x="6018837" y="242062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01</a:t>
            </a:r>
            <a:endParaRPr lang="en-US" sz="1600" dirty="0"/>
          </a:p>
        </p:txBody>
      </p:sp>
      <p:sp>
        <p:nvSpPr>
          <p:cNvPr id="8" name="Text 5"/>
          <p:cNvSpPr/>
          <p:nvPr>
            <p:custDataLst>
              <p:tags r:id="rId3"/>
            </p:custDataLst>
          </p:nvPr>
        </p:nvSpPr>
        <p:spPr>
          <a:xfrm>
            <a:off x="6662522" y="2448299"/>
            <a:ext cx="4469663" cy="706755"/>
          </a:xfrm>
          <a:prstGeom prst="rect">
            <a:avLst/>
          </a:prstGeom>
          <a:noFill/>
        </p:spPr>
        <p:txBody>
          <a:bodyPr wrap="square" lIns="91440" tIns="45720" rIns="91440" bIns="45720" rtlCol="0" anchor="t">
            <a:spAutoFit/>
          </a:bodyPr>
          <a:lstStyle/>
          <a:p>
            <a:pPr marL="0" indent="0" algn="l">
              <a:lnSpc>
                <a:spcPct val="100000"/>
              </a:lnSpc>
              <a:buNone/>
            </a:pPr>
            <a:r>
              <a:rPr lang="en-US" sz="2000" dirty="0">
                <a:solidFill>
                  <a:srgbClr val="2F493E"/>
                </a:solidFill>
                <a:latin typeface="宋体" panose="02010600030101010101" pitchFamily="2" charset="-122"/>
                <a:ea typeface="宋体" panose="02010600030101010101" pitchFamily="2" charset="-122"/>
                <a:cs typeface="MiSans" pitchFamily="34" charset="-120"/>
                <a:sym typeface="+mn-ea"/>
              </a:rPr>
              <a:t>Definition and Evolution </a:t>
            </a:r>
            <a:r>
              <a:rPr lang="en-US" sz="2000" dirty="0">
                <a:solidFill>
                  <a:srgbClr val="000000"/>
                </a:solidFill>
                <a:latin typeface="宋体" panose="02010600030101010101" pitchFamily="2" charset="-122"/>
                <a:ea typeface="宋体" panose="02010600030101010101" pitchFamily="2" charset="-122"/>
                <a:cs typeface="MiSans" pitchFamily="34" charset="-120"/>
                <a:sym typeface="+mn-ea"/>
              </a:rPr>
              <a:t>of Deep Learning</a:t>
            </a:r>
            <a:endParaRPr lang="en-US" sz="1600" dirty="0">
              <a:latin typeface="宋体" panose="02010600030101010101" pitchFamily="2" charset="-122"/>
              <a:ea typeface="宋体" panose="02010600030101010101" pitchFamily="2" charset="-122"/>
            </a:endParaRPr>
          </a:p>
        </p:txBody>
      </p:sp>
      <p:sp>
        <p:nvSpPr>
          <p:cNvPr id="9" name="Shape 6"/>
          <p:cNvSpPr/>
          <p:nvPr/>
        </p:nvSpPr>
        <p:spPr>
          <a:xfrm rot="5400000">
            <a:off x="5532120" y="3399349"/>
            <a:ext cx="293611" cy="293331"/>
          </a:xfrm>
          <a:prstGeom prst="triangle">
            <a:avLst/>
          </a:prstGeom>
          <a:solidFill>
            <a:srgbClr val="E0E9C9"/>
          </a:solidFill>
        </p:spPr>
      </p:sp>
      <p:sp>
        <p:nvSpPr>
          <p:cNvPr id="10" name="Text 7"/>
          <p:cNvSpPr/>
          <p:nvPr/>
        </p:nvSpPr>
        <p:spPr>
          <a:xfrm rot="5400000">
            <a:off x="5532120" y="339934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rot="5400000">
            <a:off x="5645047" y="3512169"/>
            <a:ext cx="293611" cy="293331"/>
          </a:xfrm>
          <a:prstGeom prst="triangle">
            <a:avLst/>
          </a:prstGeom>
          <a:solidFill>
            <a:srgbClr val="5E927D"/>
          </a:solidFill>
        </p:spPr>
      </p:sp>
      <p:sp>
        <p:nvSpPr>
          <p:cNvPr id="12" name="Text 9"/>
          <p:cNvSpPr/>
          <p:nvPr/>
        </p:nvSpPr>
        <p:spPr>
          <a:xfrm rot="5400000">
            <a:off x="5645047" y="351216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custDataLst>
              <p:tags r:id="rId4"/>
            </p:custDataLst>
          </p:nvPr>
        </p:nvSpPr>
        <p:spPr>
          <a:xfrm>
            <a:off x="6018837" y="337058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02</a:t>
            </a:r>
            <a:endParaRPr lang="en-US" sz="1600" dirty="0"/>
          </a:p>
        </p:txBody>
      </p:sp>
      <p:sp>
        <p:nvSpPr>
          <p:cNvPr id="14" name="Text 11"/>
          <p:cNvSpPr/>
          <p:nvPr>
            <p:custDataLst>
              <p:tags r:id="rId5"/>
            </p:custDataLst>
          </p:nvPr>
        </p:nvSpPr>
        <p:spPr>
          <a:xfrm>
            <a:off x="6662522" y="3398221"/>
            <a:ext cx="4469663" cy="398780"/>
          </a:xfrm>
          <a:prstGeom prst="rect">
            <a:avLst/>
          </a:prstGeom>
          <a:noFill/>
        </p:spPr>
        <p:txBody>
          <a:bodyPr wrap="square" lIns="91440" tIns="45720" rIns="91440" bIns="45720" rtlCol="0" anchor="t">
            <a:spAutoFit/>
          </a:bodyPr>
          <a:lstStyle/>
          <a:p>
            <a:pPr marL="0" algn="l">
              <a:lnSpc>
                <a:spcPct val="100000"/>
              </a:lnSpc>
              <a:buClrTx/>
              <a:buSzTx/>
              <a:buFontTx/>
              <a:buNone/>
            </a:pPr>
            <a:r>
              <a:rPr lang="en-US" altLang="zh-CN" sz="2000" dirty="0">
                <a:sym typeface="+mn-ea"/>
              </a:rPr>
              <a:t>Core knowledge</a:t>
            </a:r>
            <a:r>
              <a:rPr lang="en-US" altLang="zh-CN" sz="2000">
                <a:sym typeface="+mn-ea"/>
              </a:rPr>
              <a:t> of deep learning</a:t>
            </a:r>
            <a:endParaRPr lang="en-US" sz="2000" b="1" dirty="0">
              <a:solidFill>
                <a:srgbClr val="2F493E"/>
              </a:solidFill>
              <a:latin typeface="宋体" panose="02010600030101010101" pitchFamily="2" charset="-122"/>
              <a:ea typeface="宋体" panose="02010600030101010101" pitchFamily="2" charset="-122"/>
              <a:cs typeface="MiSans" pitchFamily="34" charset="-120"/>
            </a:endParaRPr>
          </a:p>
        </p:txBody>
      </p:sp>
      <p:sp>
        <p:nvSpPr>
          <p:cNvPr id="15" name="Shape 12"/>
          <p:cNvSpPr/>
          <p:nvPr/>
        </p:nvSpPr>
        <p:spPr>
          <a:xfrm rot="5400000">
            <a:off x="5532120" y="4348674"/>
            <a:ext cx="293611" cy="293331"/>
          </a:xfrm>
          <a:prstGeom prst="triangle">
            <a:avLst/>
          </a:prstGeom>
          <a:solidFill>
            <a:srgbClr val="E0E9C9"/>
          </a:solidFill>
        </p:spPr>
      </p:sp>
      <p:sp>
        <p:nvSpPr>
          <p:cNvPr id="16" name="Text 13"/>
          <p:cNvSpPr/>
          <p:nvPr/>
        </p:nvSpPr>
        <p:spPr>
          <a:xfrm rot="5400000">
            <a:off x="5532120" y="434867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rot="5400000">
            <a:off x="5645047" y="4461494"/>
            <a:ext cx="293611" cy="293331"/>
          </a:xfrm>
          <a:prstGeom prst="triangle">
            <a:avLst/>
          </a:prstGeom>
          <a:solidFill>
            <a:srgbClr val="5E927D"/>
          </a:solidFill>
        </p:spPr>
      </p:sp>
      <p:sp>
        <p:nvSpPr>
          <p:cNvPr id="18" name="Text 15"/>
          <p:cNvSpPr/>
          <p:nvPr/>
        </p:nvSpPr>
        <p:spPr>
          <a:xfrm rot="5400000">
            <a:off x="5645047" y="446149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custDataLst>
              <p:tags r:id="rId6"/>
            </p:custDataLst>
          </p:nvPr>
        </p:nvSpPr>
        <p:spPr>
          <a:xfrm>
            <a:off x="6018837" y="431990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03</a:t>
            </a:r>
            <a:endParaRPr lang="en-US" sz="1600" dirty="0"/>
          </a:p>
        </p:txBody>
      </p:sp>
      <p:sp>
        <p:nvSpPr>
          <p:cNvPr id="20" name="Text 17"/>
          <p:cNvSpPr/>
          <p:nvPr>
            <p:custDataLst>
              <p:tags r:id="rId7"/>
            </p:custDataLst>
          </p:nvPr>
        </p:nvSpPr>
        <p:spPr>
          <a:xfrm>
            <a:off x="6662522" y="4347546"/>
            <a:ext cx="4469663" cy="398780"/>
          </a:xfrm>
          <a:prstGeom prst="rect">
            <a:avLst/>
          </a:prstGeom>
          <a:noFill/>
        </p:spPr>
        <p:txBody>
          <a:bodyPr wrap="square" lIns="91440" tIns="45720" rIns="91440" bIns="45720" rtlCol="0" anchor="t">
            <a:spAutoFit/>
          </a:bodyPr>
          <a:lstStyle/>
          <a:p>
            <a:pPr marL="0" indent="0" algn="l">
              <a:lnSpc>
                <a:spcPct val="100000"/>
              </a:lnSpc>
              <a:buNone/>
            </a:pPr>
            <a:r>
              <a:rPr lang="en-US" altLang="zh-CN" sz="2000">
                <a:sym typeface="+mn-ea"/>
              </a:rPr>
              <a:t>Applications of Deep Learning</a:t>
            </a:r>
            <a:endParaRPr lang="en-US" sz="2000" b="1" dirty="0">
              <a:solidFill>
                <a:srgbClr val="2F493E"/>
              </a:solidFill>
              <a:latin typeface="宋体" panose="02010600030101010101" pitchFamily="2" charset="-122"/>
              <a:ea typeface="宋体" panose="02010600030101010101" pitchFamily="2" charset="-122"/>
              <a:cs typeface="MiSans" pitchFamily="34" charset="-120"/>
            </a:endParaRPr>
          </a:p>
        </p:txBody>
      </p:sp>
      <p:sp>
        <p:nvSpPr>
          <p:cNvPr id="22" name="Text 19"/>
          <p:cNvSpPr/>
          <p:nvPr/>
        </p:nvSpPr>
        <p:spPr>
          <a:xfrm rot="5400000">
            <a:off x="5532120" y="529799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Text 24"/>
          <p:cNvSpPr/>
          <p:nvPr/>
        </p:nvSpPr>
        <p:spPr>
          <a:xfrm>
            <a:off x="5407025" y="458470"/>
            <a:ext cx="3513455" cy="1299170"/>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rPr>
              <a:t>目录</a:t>
            </a: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r>
              <a:rPr lang="en-US" sz="3600" b="1" dirty="0">
                <a:solidFill>
                  <a:srgbClr val="000000">
                    <a:alpha val="27843"/>
                  </a:srgbClr>
                </a:solidFill>
                <a:latin typeface="MiSans" pitchFamily="34" charset="-122"/>
                <a:ea typeface="MiSans" pitchFamily="34" charset="-122"/>
                <a:cs typeface="MiSans" pitchFamily="34" charset="-120"/>
              </a:rPr>
              <a:t>CONTENTS</a:t>
            </a:r>
            <a:r>
              <a:rPr lang="en-US" sz="3600" b="1" dirty="0">
                <a:solidFill>
                  <a:srgbClr val="000000"/>
                </a:solidFill>
                <a:latin typeface="MiSans" pitchFamily="34" charset="-122"/>
                <a:ea typeface="MiSans" pitchFamily="34" charset="-122"/>
                <a:cs typeface="MiSans" pitchFamily="34" charset="-120"/>
              </a:rPr>
              <a:t>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191500" y="1837690"/>
            <a:ext cx="137223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01</a:t>
            </a:r>
            <a:endParaRPr lang="en-US" sz="1600" dirty="0"/>
          </a:p>
        </p:txBody>
      </p:sp>
      <p:sp>
        <p:nvSpPr>
          <p:cNvPr id="7" name="Text 3"/>
          <p:cNvSpPr/>
          <p:nvPr/>
        </p:nvSpPr>
        <p:spPr>
          <a:xfrm>
            <a:off x="5979795" y="3223895"/>
            <a:ext cx="5601970" cy="2122805"/>
          </a:xfrm>
          <a:prstGeom prst="rect">
            <a:avLst/>
          </a:prstGeom>
          <a:noFill/>
        </p:spPr>
        <p:txBody>
          <a:bodyPr wrap="square" lIns="91440" tIns="45720" rIns="91440" bIns="45720" rtlCol="0" anchor="t">
            <a:spAutoFit/>
          </a:bodyPr>
          <a:lstStyle/>
          <a:p>
            <a:pPr marL="0" indent="0" algn="ctr">
              <a:lnSpc>
                <a:spcPct val="100000"/>
              </a:lnSpc>
              <a:buNone/>
            </a:pPr>
            <a:r>
              <a:rPr lang="en-US" sz="4400" b="1" dirty="0">
                <a:solidFill>
                  <a:schemeClr val="tx1"/>
                </a:solidFill>
                <a:latin typeface="宋体" panose="02010600030101010101" pitchFamily="2" charset="-122"/>
                <a:ea typeface="宋体" panose="02010600030101010101" pitchFamily="2" charset="-122"/>
                <a:cs typeface="MiSans" pitchFamily="34" charset="-120"/>
                <a:sym typeface="+mn-ea"/>
              </a:rPr>
              <a:t>Definition and Evolution</a:t>
            </a:r>
            <a:endParaRPr lang="en-US" sz="4400" dirty="0">
              <a:solidFill>
                <a:schemeClr val="tx1"/>
              </a:solidFill>
              <a:latin typeface="宋体" panose="02010600030101010101" pitchFamily="2" charset="-122"/>
              <a:ea typeface="宋体" panose="02010600030101010101" pitchFamily="2" charset="-122"/>
            </a:endParaRPr>
          </a:p>
          <a:p>
            <a:pPr marL="0" indent="0" algn="ctr">
              <a:lnSpc>
                <a:spcPct val="100000"/>
              </a:lnSpc>
              <a:buNone/>
            </a:pPr>
            <a:r>
              <a:rPr lang="en-US" sz="4400" b="1" dirty="0">
                <a:solidFill>
                  <a:schemeClr val="tx1"/>
                </a:solidFill>
                <a:latin typeface="宋体" panose="02010600030101010101" pitchFamily="2" charset="-122"/>
                <a:ea typeface="宋体" panose="02010600030101010101" pitchFamily="2" charset="-122"/>
                <a:cs typeface="MiSans" pitchFamily="34" charset="-120"/>
              </a:rPr>
              <a:t> of Deep Learning</a:t>
            </a:r>
            <a:endParaRPr lang="en-US" sz="4400" b="1" dirty="0">
              <a:solidFill>
                <a:schemeClr val="tx1"/>
              </a:solidFill>
              <a:latin typeface="宋体" panose="02010600030101010101" pitchFamily="2" charset="-122"/>
              <a:ea typeface="宋体" panose="02010600030101010101" pitchFamily="2" charset="-122"/>
              <a:cs typeface="MiSans"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53-d0shq3c75iks832je550.png"/>
          <p:cNvPicPr>
            <a:picLocks noChangeAspect="1"/>
          </p:cNvPicPr>
          <p:nvPr/>
        </p:nvPicPr>
        <p:blipFill>
          <a:blip r:embed="rId1"/>
          <a:srcRect t="69" b="69"/>
          <a:stretch>
            <a:fillRect/>
          </a:stretch>
        </p:blipFill>
        <p:spPr>
          <a:xfrm>
            <a:off x="0" y="4575175"/>
            <a:ext cx="12191365" cy="2282825"/>
          </a:xfrm>
          <a:prstGeom prst="rect">
            <a:avLst/>
          </a:prstGeom>
        </p:spPr>
      </p:pic>
      <p:sp>
        <p:nvSpPr>
          <p:cNvPr id="3" name="Shape 0"/>
          <p:cNvSpPr/>
          <p:nvPr/>
        </p:nvSpPr>
        <p:spPr>
          <a:xfrm>
            <a:off x="1128395" y="1508760"/>
            <a:ext cx="9935845" cy="4114800"/>
          </a:xfrm>
          <a:prstGeom prst="roundRect">
            <a:avLst>
              <a:gd name="adj" fmla="val 0"/>
            </a:avLst>
          </a:prstGeom>
          <a:solidFill>
            <a:srgbClr val="FFFFFF"/>
          </a:solidFill>
          <a:ln w="19050">
            <a:solidFill>
              <a:srgbClr val="9FB26A"/>
            </a:solidFill>
            <a:prstDash val="solid"/>
          </a:ln>
        </p:spPr>
      </p:sp>
      <p:sp>
        <p:nvSpPr>
          <p:cNvPr id="4" name="Text 1"/>
          <p:cNvSpPr/>
          <p:nvPr/>
        </p:nvSpPr>
        <p:spPr>
          <a:xfrm>
            <a:off x="1128395" y="1508760"/>
            <a:ext cx="9935845" cy="41148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Text 3"/>
          <p:cNvSpPr/>
          <p:nvPr/>
        </p:nvSpPr>
        <p:spPr>
          <a:xfrm>
            <a:off x="1448435" y="2273300"/>
            <a:ext cx="9295130" cy="2868295"/>
          </a:xfrm>
          <a:prstGeom prst="rect">
            <a:avLst/>
          </a:prstGeom>
          <a:noFill/>
        </p:spPr>
        <p:txBody>
          <a:bodyPr wrap="square" lIns="91440" tIns="45720" rIns="91440" bIns="45720" rtlCol="0" anchor="t">
            <a:noAutofit/>
          </a:bodyPr>
          <a:lstStyle/>
          <a:p>
            <a:pPr marL="0" indent="0" algn="just">
              <a:lnSpc>
                <a:spcPct val="130000"/>
              </a:lnSpc>
              <a:buNone/>
            </a:pPr>
            <a:endParaRPr lang="en-US" sz="1600" dirty="0"/>
          </a:p>
        </p:txBody>
      </p:sp>
      <p:sp>
        <p:nvSpPr>
          <p:cNvPr id="7" name="Text 4"/>
          <p:cNvSpPr/>
          <p:nvPr/>
        </p:nvSpPr>
        <p:spPr>
          <a:xfrm>
            <a:off x="1448435" y="1863725"/>
            <a:ext cx="9272270" cy="303411"/>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Historical Context</a:t>
            </a:r>
            <a:endParaRPr lang="en-US" sz="1600" dirty="0"/>
          </a:p>
        </p:txBody>
      </p:sp>
      <p:sp>
        <p:nvSpPr>
          <p:cNvPr id="10" name="Shape 7"/>
          <p:cNvSpPr/>
          <p:nvPr/>
        </p:nvSpPr>
        <p:spPr>
          <a:xfrm rot="5400000">
            <a:off x="467360" y="410210"/>
            <a:ext cx="330200" cy="330200"/>
          </a:xfrm>
          <a:prstGeom prst="triangle">
            <a:avLst/>
          </a:prstGeom>
          <a:solidFill>
            <a:srgbClr val="E0E9C9"/>
          </a:solidFill>
        </p:spPr>
      </p:sp>
      <p:sp>
        <p:nvSpPr>
          <p:cNvPr id="11" name="Text 8"/>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9"/>
          <p:cNvSpPr/>
          <p:nvPr/>
        </p:nvSpPr>
        <p:spPr>
          <a:xfrm rot="5400000">
            <a:off x="594360" y="537210"/>
            <a:ext cx="330200" cy="330200"/>
          </a:xfrm>
          <a:prstGeom prst="triangle">
            <a:avLst/>
          </a:prstGeom>
          <a:solidFill>
            <a:srgbClr val="5E927D"/>
          </a:solidFill>
        </p:spPr>
      </p:sp>
      <p:sp>
        <p:nvSpPr>
          <p:cNvPr id="13" name="Text 10"/>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Text 11"/>
          <p:cNvSpPr/>
          <p:nvPr/>
        </p:nvSpPr>
        <p:spPr>
          <a:xfrm>
            <a:off x="1090930" y="408940"/>
            <a:ext cx="10782935" cy="432991"/>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Evolution</a:t>
            </a:r>
            <a:endParaRPr lang="en-US" sz="1600" dirty="0"/>
          </a:p>
        </p:txBody>
      </p:sp>
      <p:sp>
        <p:nvSpPr>
          <p:cNvPr id="15" name="Shape 12"/>
          <p:cNvSpPr/>
          <p:nvPr/>
        </p:nvSpPr>
        <p:spPr>
          <a:xfrm>
            <a:off x="638810" y="6362065"/>
            <a:ext cx="215900" cy="215900"/>
          </a:xfrm>
          <a:prstGeom prst="roundRect">
            <a:avLst>
              <a:gd name="adj" fmla="val 50000"/>
            </a:avLst>
          </a:prstGeom>
          <a:solidFill>
            <a:srgbClr val="5E927D"/>
          </a:solidFill>
        </p:spPr>
      </p:sp>
      <p:sp>
        <p:nvSpPr>
          <p:cNvPr id="16" name="Text 1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18" name="Text 1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文本框 18"/>
          <p:cNvSpPr txBox="1"/>
          <p:nvPr/>
        </p:nvSpPr>
        <p:spPr>
          <a:xfrm>
            <a:off x="1589405" y="2360295"/>
            <a:ext cx="9474835" cy="3129280"/>
          </a:xfrm>
          <a:prstGeom prst="rect">
            <a:avLst/>
          </a:prstGeom>
          <a:noFill/>
        </p:spPr>
        <p:txBody>
          <a:bodyPr wrap="square" rtlCol="0">
            <a:noAutofit/>
          </a:bodyPr>
          <a:p>
            <a:pPr marL="285750" indent="-285750">
              <a:buFont typeface="Arial" panose="020B0604020202020204" pitchFamily="34" charset="0"/>
              <a:buChar char="•"/>
            </a:pPr>
            <a:r>
              <a:rPr lang="en-US" altLang="zh-CN"/>
              <a:t>Deep learning originates from the research of artificial neural networks, and its development has experienced multiple ups and downs. </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From the early perceptrons to the modern complex network architectures, every technological breakthrough has laid the foundation for the advancement of artificial intelligence. </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By simulating the working mode of human brain neurons, deep learning can automatically learn complex patterns in data, so as to achieve prediction and classification of unknown data.</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This has enabled it to achieve revolutionary results in fields such as image recognition and natural language processing.</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53-d0shq3c75iks832je550.png"/>
          <p:cNvPicPr>
            <a:picLocks noChangeAspect="1"/>
          </p:cNvPicPr>
          <p:nvPr/>
        </p:nvPicPr>
        <p:blipFill>
          <a:blip r:embed="rId1"/>
          <a:srcRect t="69" b="69"/>
          <a:stretch>
            <a:fillRect/>
          </a:stretch>
        </p:blipFill>
        <p:spPr>
          <a:xfrm>
            <a:off x="0" y="4575175"/>
            <a:ext cx="12191365" cy="2282825"/>
          </a:xfrm>
          <a:prstGeom prst="rect">
            <a:avLst/>
          </a:prstGeom>
        </p:spPr>
      </p:pic>
      <p:sp>
        <p:nvSpPr>
          <p:cNvPr id="3" name="Shape 0"/>
          <p:cNvSpPr/>
          <p:nvPr/>
        </p:nvSpPr>
        <p:spPr>
          <a:xfrm>
            <a:off x="1128395" y="1508760"/>
            <a:ext cx="9935845" cy="4114800"/>
          </a:xfrm>
          <a:prstGeom prst="roundRect">
            <a:avLst>
              <a:gd name="adj" fmla="val 0"/>
            </a:avLst>
          </a:prstGeom>
          <a:solidFill>
            <a:srgbClr val="FFFFFF"/>
          </a:solidFill>
          <a:ln w="19050">
            <a:solidFill>
              <a:srgbClr val="9FB26A"/>
            </a:solidFill>
            <a:prstDash val="solid"/>
          </a:ln>
        </p:spPr>
      </p:sp>
      <p:sp>
        <p:nvSpPr>
          <p:cNvPr id="4" name="Text 1"/>
          <p:cNvSpPr/>
          <p:nvPr/>
        </p:nvSpPr>
        <p:spPr>
          <a:xfrm>
            <a:off x="1128395" y="1508760"/>
            <a:ext cx="9935845" cy="41148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5"/>
          <p:cNvSpPr/>
          <p:nvPr/>
        </p:nvSpPr>
        <p:spPr>
          <a:xfrm>
            <a:off x="1431925" y="2259330"/>
            <a:ext cx="9295130" cy="3171190"/>
          </a:xfrm>
          <a:prstGeom prst="rect">
            <a:avLst/>
          </a:prstGeom>
          <a:noFill/>
        </p:spPr>
        <p:txBody>
          <a:bodyPr wrap="square" lIns="91440" tIns="45720" rIns="91440" bIns="45720" rtlCol="0" anchor="t">
            <a:noAutofit/>
          </a:bodyPr>
          <a:lstStyle/>
          <a:p>
            <a:pPr marL="285750" indent="-285750" algn="just">
              <a:lnSpc>
                <a:spcPct val="130000"/>
              </a:lnSpc>
              <a:buFont typeface="Arial" panose="020B0604020202020204" pitchFamily="34" charset="0"/>
              <a:buChar char="•"/>
            </a:pPr>
            <a:r>
              <a:rPr lang="en-US" altLang="zh-CN" sz="1600" dirty="0"/>
              <a:t>In today's digital era, deep learning is profoundly transforming the way we live and work. </a:t>
            </a:r>
            <a:endParaRPr lang="en-US" altLang="zh-CN" sz="1600" dirty="0"/>
          </a:p>
          <a:p>
            <a:pPr marL="285750" indent="-285750" algn="just">
              <a:lnSpc>
                <a:spcPct val="130000"/>
              </a:lnSpc>
              <a:buFont typeface="Arial" panose="020B0604020202020204" pitchFamily="34" charset="0"/>
              <a:buChar char="•"/>
            </a:pPr>
            <a:endParaRPr lang="en-US" altLang="zh-CN" sz="1600" dirty="0"/>
          </a:p>
          <a:p>
            <a:pPr marL="285750" indent="-285750" algn="just">
              <a:lnSpc>
                <a:spcPct val="130000"/>
              </a:lnSpc>
              <a:buFont typeface="Arial" panose="020B0604020202020204" pitchFamily="34" charset="0"/>
              <a:buChar char="•"/>
            </a:pPr>
            <a:r>
              <a:rPr lang="en-US" altLang="zh-CN" sz="1600" dirty="0"/>
              <a:t> It not only drives the development of cutting-edge technologies such as autonomous driving and intelligent voice assistants, but also plays a crucial role in traditional fields like medical image diagnosis and financial risk prediction. </a:t>
            </a:r>
            <a:endParaRPr lang="en-US" altLang="zh-CN" sz="1600" dirty="0"/>
          </a:p>
          <a:p>
            <a:pPr marL="285750" indent="-285750" algn="just">
              <a:lnSpc>
                <a:spcPct val="130000"/>
              </a:lnSpc>
              <a:buFont typeface="Arial" panose="020B0604020202020204" pitchFamily="34" charset="0"/>
              <a:buChar char="•"/>
            </a:pPr>
            <a:endParaRPr lang="en-US" altLang="zh-CN" sz="1600" dirty="0"/>
          </a:p>
          <a:p>
            <a:pPr marL="285750" indent="-285750" algn="just">
              <a:lnSpc>
                <a:spcPct val="130000"/>
              </a:lnSpc>
              <a:buFont typeface="Arial" panose="020B0604020202020204" pitchFamily="34" charset="0"/>
              <a:buChar char="•"/>
            </a:pPr>
            <a:r>
              <a:rPr lang="en-US" altLang="zh-CN" sz="1600" dirty="0"/>
              <a:t>The efficiency and accuracy of deep learning models have made them a powerful tool for solving complex problems, providing strong momentum for the intelligent transformation of various industries and leading a new wave of artificial intelligence.</a:t>
            </a:r>
            <a:endParaRPr lang="en-US" altLang="zh-CN" sz="1600" dirty="0"/>
          </a:p>
        </p:txBody>
      </p:sp>
      <p:sp>
        <p:nvSpPr>
          <p:cNvPr id="9" name="Text 6"/>
          <p:cNvSpPr/>
          <p:nvPr/>
        </p:nvSpPr>
        <p:spPr>
          <a:xfrm>
            <a:off x="1431925" y="1633855"/>
            <a:ext cx="9272270" cy="303411"/>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Modern Impact</a:t>
            </a:r>
            <a:endParaRPr lang="en-US" sz="1600" dirty="0"/>
          </a:p>
        </p:txBody>
      </p:sp>
      <p:sp>
        <p:nvSpPr>
          <p:cNvPr id="10" name="Shape 7"/>
          <p:cNvSpPr/>
          <p:nvPr/>
        </p:nvSpPr>
        <p:spPr>
          <a:xfrm rot="5400000">
            <a:off x="467360" y="410210"/>
            <a:ext cx="330200" cy="330200"/>
          </a:xfrm>
          <a:prstGeom prst="triangle">
            <a:avLst/>
          </a:prstGeom>
          <a:solidFill>
            <a:srgbClr val="E0E9C9"/>
          </a:solidFill>
        </p:spPr>
      </p:sp>
      <p:sp>
        <p:nvSpPr>
          <p:cNvPr id="11" name="Text 8"/>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Shape 9"/>
          <p:cNvSpPr/>
          <p:nvPr/>
        </p:nvSpPr>
        <p:spPr>
          <a:xfrm rot="5400000">
            <a:off x="594360" y="537210"/>
            <a:ext cx="330200" cy="330200"/>
          </a:xfrm>
          <a:prstGeom prst="triangle">
            <a:avLst/>
          </a:prstGeom>
          <a:solidFill>
            <a:srgbClr val="5E927D"/>
          </a:solidFill>
        </p:spPr>
      </p:sp>
      <p:sp>
        <p:nvSpPr>
          <p:cNvPr id="13" name="Text 10"/>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Text 11"/>
          <p:cNvSpPr/>
          <p:nvPr/>
        </p:nvSpPr>
        <p:spPr>
          <a:xfrm>
            <a:off x="1090930" y="408940"/>
            <a:ext cx="10782935" cy="432991"/>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Evolution</a:t>
            </a:r>
            <a:endParaRPr lang="en-US" sz="1600" dirty="0"/>
          </a:p>
        </p:txBody>
      </p:sp>
      <p:sp>
        <p:nvSpPr>
          <p:cNvPr id="15" name="Shape 12"/>
          <p:cNvSpPr/>
          <p:nvPr/>
        </p:nvSpPr>
        <p:spPr>
          <a:xfrm>
            <a:off x="638810" y="6362065"/>
            <a:ext cx="215900" cy="215900"/>
          </a:xfrm>
          <a:prstGeom prst="roundRect">
            <a:avLst>
              <a:gd name="adj" fmla="val 50000"/>
            </a:avLst>
          </a:prstGeom>
          <a:solidFill>
            <a:srgbClr val="5E927D"/>
          </a:solidFill>
        </p:spPr>
      </p:sp>
      <p:sp>
        <p:nvSpPr>
          <p:cNvPr id="16" name="Text 1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18" name="Text 1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107315"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191500" y="1837690"/>
            <a:ext cx="172148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02</a:t>
            </a:r>
            <a:endParaRPr lang="en-US" sz="1600" dirty="0"/>
          </a:p>
        </p:txBody>
      </p:sp>
      <p:sp>
        <p:nvSpPr>
          <p:cNvPr id="7" name="Text 3"/>
          <p:cNvSpPr/>
          <p:nvPr/>
        </p:nvSpPr>
        <p:spPr>
          <a:xfrm>
            <a:off x="5979795" y="3223895"/>
            <a:ext cx="5601970" cy="2122805"/>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Core knowledge of deep learning</a:t>
            </a:r>
            <a:endParaRPr lang="en-US" altLang="zh-CN" sz="4400" dirty="0"/>
          </a:p>
          <a:p>
            <a:pPr marL="0" indent="0" algn="ctr">
              <a:lnSpc>
                <a:spcPct val="100000"/>
              </a:lnSpc>
              <a:buNone/>
            </a:pPr>
            <a:endParaRPr lang="en-US" altLang="zh-CN"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491794" y="319683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10" name="文本框 9"/>
          <p:cNvSpPr txBox="1"/>
          <p:nvPr/>
        </p:nvSpPr>
        <p:spPr>
          <a:xfrm>
            <a:off x="544195" y="311150"/>
            <a:ext cx="10124440" cy="449580"/>
          </a:xfrm>
          <a:prstGeom prst="rect">
            <a:avLst/>
          </a:prstGeom>
          <a:noFill/>
        </p:spPr>
        <p:txBody>
          <a:bodyPr wrap="square" rtlCol="0">
            <a:noAutofit/>
          </a:bodyPr>
          <a:p>
            <a:r>
              <a:rPr lang="en-US" altLang="zh-CN" sz="2800">
                <a:sym typeface="+mn-ea"/>
              </a:rPr>
              <a:t>An intuitive understanding of deep learning</a:t>
            </a:r>
            <a:endParaRPr lang="en-US" altLang="zh-CN" sz="2800"/>
          </a:p>
          <a:p>
            <a:endParaRPr lang="zh-CN" altLang="en-US"/>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1047115" y="2622550"/>
            <a:ext cx="4613910" cy="2137410"/>
          </a:xfrm>
          <a:prstGeom prst="rect">
            <a:avLst/>
          </a:prstGeom>
          <a:noFill/>
        </p:spPr>
        <p:txBody>
          <a:bodyPr wrap="square" rtlCol="0">
            <a:noAutofit/>
          </a:bodyPr>
          <a:p>
            <a:r>
              <a:rPr lang="en-US" altLang="zh-CN" sz="2000"/>
              <a:t>Deep Learning (DL) addresses the fundamental bottleneck of manual feature engineering in traditional Machine Learning (ML) by enabling automatic, hierarchical feature learning directly from raw data.</a:t>
            </a:r>
            <a:endParaRPr lang="en-US" altLang="zh-CN" sz="2000"/>
          </a:p>
        </p:txBody>
      </p:sp>
      <p:pic>
        <p:nvPicPr>
          <p:cNvPr id="3" name="图片 2" descr="20181218130200237"/>
          <p:cNvPicPr>
            <a:picLocks noChangeAspect="1"/>
          </p:cNvPicPr>
          <p:nvPr/>
        </p:nvPicPr>
        <p:blipFill>
          <a:blip r:embed="rId1"/>
          <a:stretch>
            <a:fillRect/>
          </a:stretch>
        </p:blipFill>
        <p:spPr>
          <a:xfrm>
            <a:off x="5601335" y="1266825"/>
            <a:ext cx="6093460" cy="49968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5" name="object 5"/>
          <p:cNvSpPr/>
          <p:nvPr/>
        </p:nvSpPr>
        <p:spPr>
          <a:xfrm>
            <a:off x="769480" y="2389441"/>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lstStyle/>
          <a:p/>
        </p:txBody>
      </p:sp>
      <p:sp>
        <p:nvSpPr>
          <p:cNvPr id="6" name="object 6"/>
          <p:cNvSpPr/>
          <p:nvPr/>
        </p:nvSpPr>
        <p:spPr>
          <a:xfrm>
            <a:off x="754240" y="3353765"/>
            <a:ext cx="292735" cy="292735"/>
          </a:xfrm>
          <a:custGeom>
            <a:avLst/>
            <a:gdLst/>
            <a:ahLst/>
            <a:cxnLst/>
            <a:rect l="l" t="t" r="r" b="b"/>
            <a:pathLst>
              <a:path w="292734" h="292735">
                <a:moveTo>
                  <a:pt x="244195" y="0"/>
                </a:moveTo>
                <a:lnTo>
                  <a:pt x="233286" y="0"/>
                </a:lnTo>
                <a:lnTo>
                  <a:pt x="228104" y="863"/>
                </a:lnTo>
                <a:lnTo>
                  <a:pt x="39357" y="176275"/>
                </a:lnTo>
                <a:lnTo>
                  <a:pt x="37475" y="179438"/>
                </a:lnTo>
                <a:lnTo>
                  <a:pt x="37350" y="179730"/>
                </a:lnTo>
                <a:lnTo>
                  <a:pt x="584" y="280085"/>
                </a:lnTo>
                <a:lnTo>
                  <a:pt x="0" y="282676"/>
                </a:lnTo>
                <a:lnTo>
                  <a:pt x="292" y="285546"/>
                </a:lnTo>
                <a:lnTo>
                  <a:pt x="7480" y="292455"/>
                </a:lnTo>
                <a:lnTo>
                  <a:pt x="10350" y="292455"/>
                </a:lnTo>
                <a:lnTo>
                  <a:pt x="102857" y="264274"/>
                </a:lnTo>
                <a:lnTo>
                  <a:pt x="109762" y="258800"/>
                </a:lnTo>
                <a:lnTo>
                  <a:pt x="58318" y="258800"/>
                </a:lnTo>
                <a:lnTo>
                  <a:pt x="56603" y="254495"/>
                </a:lnTo>
                <a:lnTo>
                  <a:pt x="43103" y="238963"/>
                </a:lnTo>
                <a:lnTo>
                  <a:pt x="39941" y="236664"/>
                </a:lnTo>
                <a:lnTo>
                  <a:pt x="36487" y="234937"/>
                </a:lnTo>
                <a:lnTo>
                  <a:pt x="52006" y="192087"/>
                </a:lnTo>
                <a:lnTo>
                  <a:pt x="91363" y="192087"/>
                </a:lnTo>
                <a:lnTo>
                  <a:pt x="91267" y="182029"/>
                </a:lnTo>
                <a:lnTo>
                  <a:pt x="91168" y="181444"/>
                </a:lnTo>
                <a:lnTo>
                  <a:pt x="91071" y="180873"/>
                </a:lnTo>
                <a:lnTo>
                  <a:pt x="90616" y="179730"/>
                </a:lnTo>
                <a:lnTo>
                  <a:pt x="90500" y="179438"/>
                </a:lnTo>
                <a:lnTo>
                  <a:pt x="89928" y="177711"/>
                </a:lnTo>
                <a:lnTo>
                  <a:pt x="87630" y="175412"/>
                </a:lnTo>
                <a:lnTo>
                  <a:pt x="85902" y="174256"/>
                </a:lnTo>
                <a:lnTo>
                  <a:pt x="84175" y="173685"/>
                </a:lnTo>
                <a:lnTo>
                  <a:pt x="67805" y="173685"/>
                </a:lnTo>
                <a:lnTo>
                  <a:pt x="176682" y="65557"/>
                </a:lnTo>
                <a:lnTo>
                  <a:pt x="176974" y="65557"/>
                </a:lnTo>
                <a:lnTo>
                  <a:pt x="179273" y="63258"/>
                </a:lnTo>
                <a:lnTo>
                  <a:pt x="185013" y="59232"/>
                </a:lnTo>
                <a:lnTo>
                  <a:pt x="191338" y="56934"/>
                </a:lnTo>
                <a:lnTo>
                  <a:pt x="194780" y="55778"/>
                </a:lnTo>
                <a:lnTo>
                  <a:pt x="201968" y="55206"/>
                </a:lnTo>
                <a:lnTo>
                  <a:pt x="241994" y="55206"/>
                </a:lnTo>
                <a:lnTo>
                  <a:pt x="239890" y="52908"/>
                </a:lnTo>
                <a:lnTo>
                  <a:pt x="205130" y="37096"/>
                </a:lnTo>
                <a:lnTo>
                  <a:pt x="213461" y="28752"/>
                </a:lnTo>
                <a:lnTo>
                  <a:pt x="235000" y="18402"/>
                </a:lnTo>
                <a:lnTo>
                  <a:pt x="279053" y="18402"/>
                </a:lnTo>
                <a:lnTo>
                  <a:pt x="276656" y="15811"/>
                </a:lnTo>
                <a:lnTo>
                  <a:pt x="249364" y="863"/>
                </a:lnTo>
                <a:lnTo>
                  <a:pt x="244195" y="0"/>
                </a:lnTo>
                <a:close/>
              </a:path>
              <a:path w="292734" h="292735">
                <a:moveTo>
                  <a:pt x="91363" y="192087"/>
                </a:moveTo>
                <a:lnTo>
                  <a:pt x="72974" y="192087"/>
                </a:lnTo>
                <a:lnTo>
                  <a:pt x="72974" y="210210"/>
                </a:lnTo>
                <a:lnTo>
                  <a:pt x="73266" y="211937"/>
                </a:lnTo>
                <a:lnTo>
                  <a:pt x="73837" y="213944"/>
                </a:lnTo>
                <a:lnTo>
                  <a:pt x="74980" y="215379"/>
                </a:lnTo>
                <a:lnTo>
                  <a:pt x="75844" y="216534"/>
                </a:lnTo>
                <a:lnTo>
                  <a:pt x="77279" y="217970"/>
                </a:lnTo>
                <a:lnTo>
                  <a:pt x="78727" y="218833"/>
                </a:lnTo>
                <a:lnTo>
                  <a:pt x="82169" y="219405"/>
                </a:lnTo>
                <a:lnTo>
                  <a:pt x="98259" y="219405"/>
                </a:lnTo>
                <a:lnTo>
                  <a:pt x="92506" y="248450"/>
                </a:lnTo>
                <a:lnTo>
                  <a:pt x="58318" y="258800"/>
                </a:lnTo>
                <a:lnTo>
                  <a:pt x="109762" y="258800"/>
                </a:lnTo>
                <a:lnTo>
                  <a:pt x="141352" y="227177"/>
                </a:lnTo>
                <a:lnTo>
                  <a:pt x="115493" y="227177"/>
                </a:lnTo>
                <a:lnTo>
                  <a:pt x="118656" y="212216"/>
                </a:lnTo>
                <a:lnTo>
                  <a:pt x="118935" y="210210"/>
                </a:lnTo>
                <a:lnTo>
                  <a:pt x="118656" y="207911"/>
                </a:lnTo>
                <a:lnTo>
                  <a:pt x="118084" y="206184"/>
                </a:lnTo>
                <a:lnTo>
                  <a:pt x="116636" y="204749"/>
                </a:lnTo>
                <a:lnTo>
                  <a:pt x="115201" y="203022"/>
                </a:lnTo>
                <a:lnTo>
                  <a:pt x="113766" y="202158"/>
                </a:lnTo>
                <a:lnTo>
                  <a:pt x="111760" y="201294"/>
                </a:lnTo>
                <a:lnTo>
                  <a:pt x="91363" y="201294"/>
                </a:lnTo>
                <a:lnTo>
                  <a:pt x="91363" y="192087"/>
                </a:lnTo>
                <a:close/>
              </a:path>
              <a:path w="292734" h="292735">
                <a:moveTo>
                  <a:pt x="241994" y="55206"/>
                </a:moveTo>
                <a:lnTo>
                  <a:pt x="201968" y="55206"/>
                </a:lnTo>
                <a:lnTo>
                  <a:pt x="205130" y="55499"/>
                </a:lnTo>
                <a:lnTo>
                  <a:pt x="208572" y="55778"/>
                </a:lnTo>
                <a:lnTo>
                  <a:pt x="215468" y="58089"/>
                </a:lnTo>
                <a:lnTo>
                  <a:pt x="218630" y="59232"/>
                </a:lnTo>
                <a:lnTo>
                  <a:pt x="221208" y="61252"/>
                </a:lnTo>
                <a:lnTo>
                  <a:pt x="224091" y="63258"/>
                </a:lnTo>
                <a:lnTo>
                  <a:pt x="226669" y="65849"/>
                </a:lnTo>
                <a:lnTo>
                  <a:pt x="229260" y="68148"/>
                </a:lnTo>
                <a:lnTo>
                  <a:pt x="230987" y="71031"/>
                </a:lnTo>
                <a:lnTo>
                  <a:pt x="232994" y="74193"/>
                </a:lnTo>
                <a:lnTo>
                  <a:pt x="234429" y="77355"/>
                </a:lnTo>
                <a:lnTo>
                  <a:pt x="235864" y="80225"/>
                </a:lnTo>
                <a:lnTo>
                  <a:pt x="236387" y="83388"/>
                </a:lnTo>
                <a:lnTo>
                  <a:pt x="237020" y="87414"/>
                </a:lnTo>
                <a:lnTo>
                  <a:pt x="237299" y="90868"/>
                </a:lnTo>
                <a:lnTo>
                  <a:pt x="237020" y="94322"/>
                </a:lnTo>
                <a:lnTo>
                  <a:pt x="230987" y="110426"/>
                </a:lnTo>
                <a:lnTo>
                  <a:pt x="229260" y="113296"/>
                </a:lnTo>
                <a:lnTo>
                  <a:pt x="115493" y="227177"/>
                </a:lnTo>
                <a:lnTo>
                  <a:pt x="141352" y="227177"/>
                </a:lnTo>
                <a:lnTo>
                  <a:pt x="276656" y="91732"/>
                </a:lnTo>
                <a:lnTo>
                  <a:pt x="280344" y="87414"/>
                </a:lnTo>
                <a:lnTo>
                  <a:pt x="255117" y="87414"/>
                </a:lnTo>
                <a:lnTo>
                  <a:pt x="255031" y="85978"/>
                </a:lnTo>
                <a:lnTo>
                  <a:pt x="252883" y="74472"/>
                </a:lnTo>
                <a:lnTo>
                  <a:pt x="252796" y="74193"/>
                </a:lnTo>
                <a:lnTo>
                  <a:pt x="252705" y="73901"/>
                </a:lnTo>
                <a:lnTo>
                  <a:pt x="252614" y="73609"/>
                </a:lnTo>
                <a:lnTo>
                  <a:pt x="252526" y="73329"/>
                </a:lnTo>
                <a:lnTo>
                  <a:pt x="250520" y="68440"/>
                </a:lnTo>
                <a:lnTo>
                  <a:pt x="248500" y="64122"/>
                </a:lnTo>
                <a:lnTo>
                  <a:pt x="245922" y="60096"/>
                </a:lnTo>
                <a:lnTo>
                  <a:pt x="243052" y="56362"/>
                </a:lnTo>
                <a:lnTo>
                  <a:pt x="241994" y="55206"/>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44"/>
                </a:lnTo>
                <a:lnTo>
                  <a:pt x="117221" y="182600"/>
                </a:lnTo>
                <a:lnTo>
                  <a:pt x="120383" y="182600"/>
                </a:lnTo>
                <a:lnTo>
                  <a:pt x="217767" y="87414"/>
                </a:lnTo>
                <a:lnTo>
                  <a:pt x="219202" y="83972"/>
                </a:lnTo>
                <a:lnTo>
                  <a:pt x="219446" y="82524"/>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53" y="18402"/>
                </a:moveTo>
                <a:lnTo>
                  <a:pt x="242189" y="18402"/>
                </a:lnTo>
                <a:lnTo>
                  <a:pt x="245630" y="18973"/>
                </a:lnTo>
                <a:lnTo>
                  <a:pt x="249085" y="19837"/>
                </a:lnTo>
                <a:lnTo>
                  <a:pt x="273166" y="46291"/>
                </a:lnTo>
                <a:lnTo>
                  <a:pt x="273215" y="46583"/>
                </a:lnTo>
                <a:lnTo>
                  <a:pt x="274078" y="50037"/>
                </a:lnTo>
                <a:lnTo>
                  <a:pt x="274078" y="57226"/>
                </a:lnTo>
                <a:lnTo>
                  <a:pt x="273215" y="60667"/>
                </a:lnTo>
                <a:lnTo>
                  <a:pt x="272748" y="63258"/>
                </a:lnTo>
                <a:lnTo>
                  <a:pt x="255117" y="87414"/>
                </a:lnTo>
                <a:lnTo>
                  <a:pt x="280344" y="87414"/>
                </a:lnTo>
                <a:lnTo>
                  <a:pt x="283552" y="83388"/>
                </a:lnTo>
                <a:lnTo>
                  <a:pt x="285851" y="79082"/>
                </a:lnTo>
                <a:lnTo>
                  <a:pt x="288442" y="74472"/>
                </a:lnTo>
                <a:lnTo>
                  <a:pt x="289877" y="69583"/>
                </a:lnTo>
                <a:lnTo>
                  <a:pt x="291604" y="64122"/>
                </a:lnTo>
                <a:lnTo>
                  <a:pt x="291922" y="61252"/>
                </a:lnTo>
                <a:lnTo>
                  <a:pt x="292409" y="52908"/>
                </a:lnTo>
                <a:lnTo>
                  <a:pt x="292254" y="50037"/>
                </a:lnTo>
                <a:lnTo>
                  <a:pt x="292176" y="48590"/>
                </a:lnTo>
                <a:lnTo>
                  <a:pt x="291695" y="43992"/>
                </a:lnTo>
                <a:lnTo>
                  <a:pt x="291604" y="43129"/>
                </a:lnTo>
                <a:lnTo>
                  <a:pt x="289877" y="37960"/>
                </a:lnTo>
                <a:lnTo>
                  <a:pt x="288442" y="33070"/>
                </a:lnTo>
                <a:lnTo>
                  <a:pt x="285851" y="28460"/>
                </a:lnTo>
                <a:lnTo>
                  <a:pt x="283552" y="23863"/>
                </a:lnTo>
                <a:lnTo>
                  <a:pt x="280111" y="19545"/>
                </a:lnTo>
                <a:lnTo>
                  <a:pt x="279053" y="18402"/>
                </a:lnTo>
                <a:close/>
              </a:path>
              <a:path w="292734" h="292735">
                <a:moveTo>
                  <a:pt x="176974" y="65557"/>
                </a:moveTo>
                <a:lnTo>
                  <a:pt x="176682" y="65557"/>
                </a:lnTo>
                <a:lnTo>
                  <a:pt x="176682" y="65849"/>
                </a:lnTo>
                <a:lnTo>
                  <a:pt x="176974" y="65557"/>
                </a:lnTo>
                <a:close/>
              </a:path>
            </a:pathLst>
          </a:custGeom>
          <a:solidFill>
            <a:srgbClr val="C00000"/>
          </a:solidFill>
        </p:spPr>
        <p:txBody>
          <a:bodyPr wrap="square" lIns="0" tIns="0" rIns="0" bIns="0" rtlCol="0"/>
          <a:lstStyle/>
          <a:p/>
        </p:txBody>
      </p:sp>
      <p:sp>
        <p:nvSpPr>
          <p:cNvPr id="7" name="object 7"/>
          <p:cNvSpPr/>
          <p:nvPr/>
        </p:nvSpPr>
        <p:spPr>
          <a:xfrm>
            <a:off x="754240" y="4357204"/>
            <a:ext cx="292735" cy="292735"/>
          </a:xfrm>
          <a:custGeom>
            <a:avLst/>
            <a:gdLst/>
            <a:ahLst/>
            <a:cxnLst/>
            <a:rect l="l" t="t" r="r" b="b"/>
            <a:pathLst>
              <a:path w="292734" h="292735">
                <a:moveTo>
                  <a:pt x="244195" y="0"/>
                </a:moveTo>
                <a:lnTo>
                  <a:pt x="233286" y="0"/>
                </a:lnTo>
                <a:lnTo>
                  <a:pt x="228104" y="863"/>
                </a:lnTo>
                <a:lnTo>
                  <a:pt x="39357" y="176276"/>
                </a:lnTo>
                <a:lnTo>
                  <a:pt x="37475" y="179438"/>
                </a:lnTo>
                <a:lnTo>
                  <a:pt x="37350" y="179730"/>
                </a:lnTo>
                <a:lnTo>
                  <a:pt x="584" y="280085"/>
                </a:lnTo>
                <a:lnTo>
                  <a:pt x="0" y="282676"/>
                </a:lnTo>
                <a:lnTo>
                  <a:pt x="292" y="285559"/>
                </a:lnTo>
                <a:lnTo>
                  <a:pt x="7480" y="292455"/>
                </a:lnTo>
                <a:lnTo>
                  <a:pt x="10350" y="292455"/>
                </a:lnTo>
                <a:lnTo>
                  <a:pt x="102857" y="264274"/>
                </a:lnTo>
                <a:lnTo>
                  <a:pt x="109750" y="258813"/>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11"/>
                </a:lnTo>
                <a:lnTo>
                  <a:pt x="87630" y="175412"/>
                </a:lnTo>
                <a:lnTo>
                  <a:pt x="85902" y="174269"/>
                </a:lnTo>
                <a:lnTo>
                  <a:pt x="84175" y="173685"/>
                </a:lnTo>
                <a:lnTo>
                  <a:pt x="67805" y="173685"/>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2"/>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48"/>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9"/>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1985" y="60680"/>
                </a:lnTo>
                <a:lnTo>
                  <a:pt x="292050" y="60096"/>
                </a:lnTo>
                <a:lnTo>
                  <a:pt x="292176" y="58953"/>
                </a:lnTo>
                <a:lnTo>
                  <a:pt x="292285" y="56934"/>
                </a:lnTo>
                <a:lnTo>
                  <a:pt x="292408" y="52908"/>
                </a:lnTo>
                <a:lnTo>
                  <a:pt x="292253" y="50037"/>
                </a:lnTo>
                <a:lnTo>
                  <a:pt x="292176" y="48602"/>
                </a:lnTo>
                <a:lnTo>
                  <a:pt x="291693" y="43992"/>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lstStyle/>
          <a:p/>
        </p:txBody>
      </p:sp>
      <p:sp>
        <p:nvSpPr>
          <p:cNvPr id="8" name="object 8"/>
          <p:cNvSpPr/>
          <p:nvPr/>
        </p:nvSpPr>
        <p:spPr>
          <a:xfrm>
            <a:off x="769569" y="5360835"/>
            <a:ext cx="292735" cy="292735"/>
          </a:xfrm>
          <a:custGeom>
            <a:avLst/>
            <a:gdLst/>
            <a:ahLst/>
            <a:cxnLst/>
            <a:rect l="l" t="t" r="r" b="b"/>
            <a:pathLst>
              <a:path w="292734" h="292735">
                <a:moveTo>
                  <a:pt x="244182" y="0"/>
                </a:moveTo>
                <a:lnTo>
                  <a:pt x="233273" y="0"/>
                </a:lnTo>
                <a:lnTo>
                  <a:pt x="228104" y="863"/>
                </a:lnTo>
                <a:lnTo>
                  <a:pt x="39357" y="176275"/>
                </a:lnTo>
                <a:lnTo>
                  <a:pt x="571" y="280086"/>
                </a:lnTo>
                <a:lnTo>
                  <a:pt x="0" y="282676"/>
                </a:lnTo>
                <a:lnTo>
                  <a:pt x="279" y="285559"/>
                </a:lnTo>
                <a:lnTo>
                  <a:pt x="7467" y="292455"/>
                </a:lnTo>
                <a:lnTo>
                  <a:pt x="10337" y="292455"/>
                </a:lnTo>
                <a:lnTo>
                  <a:pt x="102844" y="264274"/>
                </a:lnTo>
                <a:lnTo>
                  <a:pt x="58318" y="258813"/>
                </a:lnTo>
                <a:lnTo>
                  <a:pt x="56591" y="254495"/>
                </a:lnTo>
                <a:lnTo>
                  <a:pt x="43091" y="238963"/>
                </a:lnTo>
                <a:lnTo>
                  <a:pt x="39928" y="236664"/>
                </a:lnTo>
                <a:lnTo>
                  <a:pt x="36487" y="234937"/>
                </a:lnTo>
                <a:lnTo>
                  <a:pt x="51993" y="192100"/>
                </a:lnTo>
                <a:lnTo>
                  <a:pt x="91351" y="192100"/>
                </a:lnTo>
                <a:lnTo>
                  <a:pt x="91258" y="182029"/>
                </a:lnTo>
                <a:lnTo>
                  <a:pt x="91166" y="181457"/>
                </a:lnTo>
                <a:lnTo>
                  <a:pt x="91071" y="180873"/>
                </a:lnTo>
                <a:lnTo>
                  <a:pt x="90606" y="179730"/>
                </a:lnTo>
                <a:lnTo>
                  <a:pt x="90487" y="179438"/>
                </a:lnTo>
                <a:lnTo>
                  <a:pt x="89915" y="177711"/>
                </a:lnTo>
                <a:lnTo>
                  <a:pt x="87617" y="175412"/>
                </a:lnTo>
                <a:lnTo>
                  <a:pt x="85890" y="174269"/>
                </a:lnTo>
                <a:lnTo>
                  <a:pt x="84175" y="173685"/>
                </a:lnTo>
                <a:lnTo>
                  <a:pt x="67792" y="173685"/>
                </a:lnTo>
                <a:lnTo>
                  <a:pt x="176682" y="65570"/>
                </a:lnTo>
                <a:lnTo>
                  <a:pt x="176960" y="65570"/>
                </a:lnTo>
                <a:lnTo>
                  <a:pt x="179260" y="63258"/>
                </a:lnTo>
                <a:lnTo>
                  <a:pt x="185013" y="59232"/>
                </a:lnTo>
                <a:lnTo>
                  <a:pt x="191325" y="56934"/>
                </a:lnTo>
                <a:lnTo>
                  <a:pt x="194780" y="55791"/>
                </a:lnTo>
                <a:lnTo>
                  <a:pt x="201955" y="55206"/>
                </a:lnTo>
                <a:lnTo>
                  <a:pt x="241981" y="55206"/>
                </a:lnTo>
                <a:lnTo>
                  <a:pt x="239877" y="52908"/>
                </a:lnTo>
                <a:lnTo>
                  <a:pt x="205117" y="37096"/>
                </a:lnTo>
                <a:lnTo>
                  <a:pt x="213448" y="28752"/>
                </a:lnTo>
                <a:lnTo>
                  <a:pt x="235000" y="18402"/>
                </a:lnTo>
                <a:lnTo>
                  <a:pt x="279036" y="18402"/>
                </a:lnTo>
                <a:lnTo>
                  <a:pt x="276656" y="15811"/>
                </a:lnTo>
                <a:lnTo>
                  <a:pt x="249364" y="863"/>
                </a:lnTo>
                <a:lnTo>
                  <a:pt x="244182" y="0"/>
                </a:lnTo>
                <a:close/>
              </a:path>
              <a:path w="292734" h="292735">
                <a:moveTo>
                  <a:pt x="91351" y="192100"/>
                </a:moveTo>
                <a:lnTo>
                  <a:pt x="72974" y="192100"/>
                </a:lnTo>
                <a:lnTo>
                  <a:pt x="72974" y="210210"/>
                </a:lnTo>
                <a:lnTo>
                  <a:pt x="73253" y="211937"/>
                </a:lnTo>
                <a:lnTo>
                  <a:pt x="73825" y="213944"/>
                </a:lnTo>
                <a:lnTo>
                  <a:pt x="74980" y="215391"/>
                </a:lnTo>
                <a:lnTo>
                  <a:pt x="75844" y="216534"/>
                </a:lnTo>
                <a:lnTo>
                  <a:pt x="77279" y="217970"/>
                </a:lnTo>
                <a:lnTo>
                  <a:pt x="78714" y="218833"/>
                </a:lnTo>
                <a:lnTo>
                  <a:pt x="82156" y="219417"/>
                </a:lnTo>
                <a:lnTo>
                  <a:pt x="98247" y="219417"/>
                </a:lnTo>
                <a:lnTo>
                  <a:pt x="92506" y="248462"/>
                </a:lnTo>
                <a:lnTo>
                  <a:pt x="58318" y="258813"/>
                </a:lnTo>
                <a:lnTo>
                  <a:pt x="109737" y="258813"/>
                </a:lnTo>
                <a:lnTo>
                  <a:pt x="141342" y="227177"/>
                </a:lnTo>
                <a:lnTo>
                  <a:pt x="115481" y="227177"/>
                </a:lnTo>
                <a:lnTo>
                  <a:pt x="118643" y="212229"/>
                </a:lnTo>
                <a:lnTo>
                  <a:pt x="118935" y="210210"/>
                </a:lnTo>
                <a:lnTo>
                  <a:pt x="118643" y="207911"/>
                </a:lnTo>
                <a:lnTo>
                  <a:pt x="118071" y="206184"/>
                </a:lnTo>
                <a:lnTo>
                  <a:pt x="116636" y="204749"/>
                </a:lnTo>
                <a:lnTo>
                  <a:pt x="115201" y="203022"/>
                </a:lnTo>
                <a:lnTo>
                  <a:pt x="113766" y="202158"/>
                </a:lnTo>
                <a:lnTo>
                  <a:pt x="111747" y="201294"/>
                </a:lnTo>
                <a:lnTo>
                  <a:pt x="91351" y="201294"/>
                </a:lnTo>
                <a:lnTo>
                  <a:pt x="91351" y="192100"/>
                </a:lnTo>
                <a:close/>
              </a:path>
              <a:path w="292734" h="292735">
                <a:moveTo>
                  <a:pt x="241981" y="55206"/>
                </a:moveTo>
                <a:lnTo>
                  <a:pt x="201955" y="55206"/>
                </a:lnTo>
                <a:lnTo>
                  <a:pt x="208572" y="55791"/>
                </a:lnTo>
                <a:lnTo>
                  <a:pt x="215455" y="58089"/>
                </a:lnTo>
                <a:lnTo>
                  <a:pt x="218617" y="59232"/>
                </a:lnTo>
                <a:lnTo>
                  <a:pt x="221208" y="61252"/>
                </a:lnTo>
                <a:lnTo>
                  <a:pt x="224078" y="63258"/>
                </a:lnTo>
                <a:lnTo>
                  <a:pt x="226669" y="65849"/>
                </a:lnTo>
                <a:lnTo>
                  <a:pt x="229247" y="68148"/>
                </a:lnTo>
                <a:lnTo>
                  <a:pt x="230974" y="71031"/>
                </a:lnTo>
                <a:lnTo>
                  <a:pt x="232981" y="74193"/>
                </a:lnTo>
                <a:lnTo>
                  <a:pt x="234416" y="77355"/>
                </a:lnTo>
                <a:lnTo>
                  <a:pt x="235851" y="80225"/>
                </a:lnTo>
                <a:lnTo>
                  <a:pt x="236386" y="83388"/>
                </a:lnTo>
                <a:lnTo>
                  <a:pt x="237007" y="87414"/>
                </a:lnTo>
                <a:lnTo>
                  <a:pt x="237299" y="90868"/>
                </a:lnTo>
                <a:lnTo>
                  <a:pt x="237007" y="94322"/>
                </a:lnTo>
                <a:lnTo>
                  <a:pt x="230974" y="110426"/>
                </a:lnTo>
                <a:lnTo>
                  <a:pt x="229247" y="113296"/>
                </a:lnTo>
                <a:lnTo>
                  <a:pt x="115481" y="227177"/>
                </a:lnTo>
                <a:lnTo>
                  <a:pt x="141342" y="227177"/>
                </a:lnTo>
                <a:lnTo>
                  <a:pt x="276656" y="91732"/>
                </a:lnTo>
                <a:lnTo>
                  <a:pt x="280332" y="87414"/>
                </a:lnTo>
                <a:lnTo>
                  <a:pt x="255104" y="87414"/>
                </a:lnTo>
                <a:lnTo>
                  <a:pt x="255018" y="85978"/>
                </a:lnTo>
                <a:lnTo>
                  <a:pt x="254898" y="83972"/>
                </a:lnTo>
                <a:lnTo>
                  <a:pt x="254812" y="82537"/>
                </a:lnTo>
                <a:lnTo>
                  <a:pt x="253961" y="77927"/>
                </a:lnTo>
                <a:lnTo>
                  <a:pt x="252966" y="74764"/>
                </a:lnTo>
                <a:lnTo>
                  <a:pt x="252878" y="74485"/>
                </a:lnTo>
                <a:lnTo>
                  <a:pt x="252786" y="74193"/>
                </a:lnTo>
                <a:lnTo>
                  <a:pt x="252694" y="73901"/>
                </a:lnTo>
                <a:lnTo>
                  <a:pt x="252606" y="73621"/>
                </a:lnTo>
                <a:lnTo>
                  <a:pt x="252514" y="73329"/>
                </a:lnTo>
                <a:lnTo>
                  <a:pt x="250507" y="68440"/>
                </a:lnTo>
                <a:lnTo>
                  <a:pt x="248500" y="64122"/>
                </a:lnTo>
                <a:lnTo>
                  <a:pt x="245910" y="60096"/>
                </a:lnTo>
                <a:lnTo>
                  <a:pt x="243039" y="56362"/>
                </a:lnTo>
                <a:lnTo>
                  <a:pt x="241981" y="55206"/>
                </a:lnTo>
                <a:close/>
              </a:path>
              <a:path w="292734" h="292735">
                <a:moveTo>
                  <a:pt x="212013" y="73329"/>
                </a:moveTo>
                <a:lnTo>
                  <a:pt x="208280" y="73329"/>
                </a:lnTo>
                <a:lnTo>
                  <a:pt x="206845" y="73901"/>
                </a:lnTo>
                <a:lnTo>
                  <a:pt x="112331" y="167360"/>
                </a:lnTo>
                <a:lnTo>
                  <a:pt x="109740" y="173685"/>
                </a:lnTo>
                <a:lnTo>
                  <a:pt x="110312" y="177139"/>
                </a:lnTo>
                <a:lnTo>
                  <a:pt x="111175" y="178574"/>
                </a:lnTo>
                <a:lnTo>
                  <a:pt x="112331" y="180301"/>
                </a:lnTo>
                <a:lnTo>
                  <a:pt x="113766" y="181457"/>
                </a:lnTo>
                <a:lnTo>
                  <a:pt x="117208" y="182600"/>
                </a:lnTo>
                <a:lnTo>
                  <a:pt x="120370" y="182600"/>
                </a:lnTo>
                <a:lnTo>
                  <a:pt x="217754" y="87414"/>
                </a:lnTo>
                <a:lnTo>
                  <a:pt x="219189" y="83972"/>
                </a:lnTo>
                <a:lnTo>
                  <a:pt x="219432" y="82537"/>
                </a:lnTo>
                <a:lnTo>
                  <a:pt x="219481" y="82245"/>
                </a:lnTo>
                <a:lnTo>
                  <a:pt x="218958" y="79082"/>
                </a:lnTo>
                <a:lnTo>
                  <a:pt x="218909" y="78790"/>
                </a:lnTo>
                <a:lnTo>
                  <a:pt x="217754" y="77355"/>
                </a:lnTo>
                <a:lnTo>
                  <a:pt x="216611" y="75628"/>
                </a:lnTo>
                <a:lnTo>
                  <a:pt x="215176" y="74764"/>
                </a:lnTo>
                <a:lnTo>
                  <a:pt x="213448" y="73901"/>
                </a:lnTo>
                <a:lnTo>
                  <a:pt x="212013" y="73329"/>
                </a:lnTo>
                <a:close/>
              </a:path>
              <a:path w="292734" h="292735">
                <a:moveTo>
                  <a:pt x="279036" y="18402"/>
                </a:moveTo>
                <a:lnTo>
                  <a:pt x="242176" y="18402"/>
                </a:lnTo>
                <a:lnTo>
                  <a:pt x="245630" y="18973"/>
                </a:lnTo>
                <a:lnTo>
                  <a:pt x="249072" y="19837"/>
                </a:lnTo>
                <a:lnTo>
                  <a:pt x="273202" y="46583"/>
                </a:lnTo>
                <a:lnTo>
                  <a:pt x="274066" y="50037"/>
                </a:lnTo>
                <a:lnTo>
                  <a:pt x="274066" y="57226"/>
                </a:lnTo>
                <a:lnTo>
                  <a:pt x="273202" y="60680"/>
                </a:lnTo>
                <a:lnTo>
                  <a:pt x="272736" y="63258"/>
                </a:lnTo>
                <a:lnTo>
                  <a:pt x="255104" y="87414"/>
                </a:lnTo>
                <a:lnTo>
                  <a:pt x="280332" y="87414"/>
                </a:lnTo>
                <a:lnTo>
                  <a:pt x="283552" y="83388"/>
                </a:lnTo>
                <a:lnTo>
                  <a:pt x="285851" y="79082"/>
                </a:lnTo>
                <a:lnTo>
                  <a:pt x="288429" y="74485"/>
                </a:lnTo>
                <a:lnTo>
                  <a:pt x="289864" y="69595"/>
                </a:lnTo>
                <a:lnTo>
                  <a:pt x="291591" y="64122"/>
                </a:lnTo>
                <a:lnTo>
                  <a:pt x="291909" y="61252"/>
                </a:lnTo>
                <a:lnTo>
                  <a:pt x="291972" y="60680"/>
                </a:lnTo>
                <a:lnTo>
                  <a:pt x="292037" y="60096"/>
                </a:lnTo>
                <a:lnTo>
                  <a:pt x="292163" y="58953"/>
                </a:lnTo>
                <a:lnTo>
                  <a:pt x="292277" y="56934"/>
                </a:lnTo>
                <a:lnTo>
                  <a:pt x="292374" y="55206"/>
                </a:lnTo>
                <a:lnTo>
                  <a:pt x="292406" y="52908"/>
                </a:lnTo>
                <a:lnTo>
                  <a:pt x="289864" y="37960"/>
                </a:lnTo>
                <a:lnTo>
                  <a:pt x="288429" y="33070"/>
                </a:lnTo>
                <a:lnTo>
                  <a:pt x="285851" y="28473"/>
                </a:lnTo>
                <a:lnTo>
                  <a:pt x="283552" y="23863"/>
                </a:lnTo>
                <a:lnTo>
                  <a:pt x="280098" y="19557"/>
                </a:lnTo>
                <a:lnTo>
                  <a:pt x="279036" y="18402"/>
                </a:lnTo>
                <a:close/>
              </a:path>
              <a:path w="292734" h="292735">
                <a:moveTo>
                  <a:pt x="176960" y="65570"/>
                </a:moveTo>
                <a:lnTo>
                  <a:pt x="176682" y="65570"/>
                </a:lnTo>
                <a:lnTo>
                  <a:pt x="176682" y="65849"/>
                </a:lnTo>
                <a:lnTo>
                  <a:pt x="176960" y="65570"/>
                </a:lnTo>
                <a:close/>
              </a:path>
            </a:pathLst>
          </a:custGeom>
          <a:solidFill>
            <a:srgbClr val="C00000"/>
          </a:solidFill>
        </p:spPr>
        <p:txBody>
          <a:bodyPr wrap="square" lIns="0" tIns="0" rIns="0" bIns="0" rtlCol="0"/>
          <a:lstStyle/>
          <a:p/>
        </p:txBody>
      </p:sp>
      <p:sp>
        <p:nvSpPr>
          <p:cNvPr id="10" name="文本框 9"/>
          <p:cNvSpPr txBox="1"/>
          <p:nvPr/>
        </p:nvSpPr>
        <p:spPr>
          <a:xfrm>
            <a:off x="482600" y="264795"/>
            <a:ext cx="10124440" cy="449580"/>
          </a:xfrm>
          <a:prstGeom prst="rect">
            <a:avLst/>
          </a:prstGeom>
          <a:noFill/>
        </p:spPr>
        <p:txBody>
          <a:bodyPr wrap="square" rtlCol="0">
            <a:noAutofit/>
          </a:bodyPr>
          <a:p>
            <a:r>
              <a:rPr lang="en-US" altLang="zh-CN" sz="2800"/>
              <a:t>Get a quick overview of the machine learning process</a:t>
            </a:r>
            <a:endParaRPr lang="en-US" altLang="zh-CN" sz="28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1047115" y="1377950"/>
            <a:ext cx="2932430" cy="460375"/>
          </a:xfrm>
          <a:prstGeom prst="rect">
            <a:avLst/>
          </a:prstGeom>
          <a:noFill/>
        </p:spPr>
        <p:txBody>
          <a:bodyPr wrap="square" rtlCol="0">
            <a:noAutofit/>
          </a:bodyPr>
          <a:p>
            <a:r>
              <a:rPr lang="en-US" altLang="zh-CN"/>
              <a:t>Machine learning processes</a:t>
            </a:r>
            <a:endParaRPr lang="en-US" altLang="zh-CN"/>
          </a:p>
        </p:txBody>
      </p:sp>
      <p:sp>
        <p:nvSpPr>
          <p:cNvPr id="13" name="文本框 12"/>
          <p:cNvSpPr txBox="1"/>
          <p:nvPr/>
        </p:nvSpPr>
        <p:spPr>
          <a:xfrm>
            <a:off x="1170305" y="2308860"/>
            <a:ext cx="1861820" cy="368300"/>
          </a:xfrm>
          <a:prstGeom prst="rect">
            <a:avLst/>
          </a:prstGeom>
          <a:noFill/>
        </p:spPr>
        <p:txBody>
          <a:bodyPr wrap="square" rtlCol="0">
            <a:spAutoFit/>
          </a:bodyPr>
          <a:p>
            <a:r>
              <a:rPr lang="en-US" altLang="zh-CN"/>
              <a:t>Data acquisition</a:t>
            </a:r>
            <a:endParaRPr lang="en-US" altLang="zh-CN"/>
          </a:p>
        </p:txBody>
      </p:sp>
      <p:sp>
        <p:nvSpPr>
          <p:cNvPr id="14" name="文本框 13"/>
          <p:cNvSpPr txBox="1"/>
          <p:nvPr/>
        </p:nvSpPr>
        <p:spPr>
          <a:xfrm>
            <a:off x="1244600" y="3315335"/>
            <a:ext cx="1386840" cy="645160"/>
          </a:xfrm>
          <a:prstGeom prst="rect">
            <a:avLst/>
          </a:prstGeom>
          <a:noFill/>
        </p:spPr>
        <p:txBody>
          <a:bodyPr wrap="square" rtlCol="0">
            <a:spAutoFit/>
          </a:bodyPr>
          <a:p>
            <a:r>
              <a:rPr lang="en-US" altLang="zh-CN"/>
              <a:t>Feature engineering</a:t>
            </a:r>
            <a:endParaRPr lang="en-US" altLang="zh-CN"/>
          </a:p>
        </p:txBody>
      </p:sp>
      <p:sp>
        <p:nvSpPr>
          <p:cNvPr id="15" name="文本框 14"/>
          <p:cNvSpPr txBox="1"/>
          <p:nvPr/>
        </p:nvSpPr>
        <p:spPr>
          <a:xfrm>
            <a:off x="1215390" y="4357370"/>
            <a:ext cx="1774825" cy="368300"/>
          </a:xfrm>
          <a:prstGeom prst="rect">
            <a:avLst/>
          </a:prstGeom>
          <a:noFill/>
        </p:spPr>
        <p:txBody>
          <a:bodyPr wrap="square" rtlCol="0">
            <a:spAutoFit/>
          </a:bodyPr>
          <a:p>
            <a:r>
              <a:rPr lang="en-US" altLang="zh-CN"/>
              <a:t>Build a model</a:t>
            </a:r>
            <a:endParaRPr lang="en-US" altLang="zh-CN"/>
          </a:p>
        </p:txBody>
      </p:sp>
      <p:sp>
        <p:nvSpPr>
          <p:cNvPr id="16" name="文本框 15"/>
          <p:cNvSpPr txBox="1"/>
          <p:nvPr/>
        </p:nvSpPr>
        <p:spPr>
          <a:xfrm>
            <a:off x="1163320" y="5337175"/>
            <a:ext cx="1475740" cy="645160"/>
          </a:xfrm>
          <a:prstGeom prst="rect">
            <a:avLst/>
          </a:prstGeom>
          <a:noFill/>
        </p:spPr>
        <p:txBody>
          <a:bodyPr wrap="square" rtlCol="0">
            <a:spAutoFit/>
          </a:bodyPr>
          <a:p>
            <a:r>
              <a:rPr lang="en-US" altLang="zh-CN"/>
              <a:t>Evaluation &amp; Application</a:t>
            </a:r>
            <a:endParaRPr lang="en-US" altLang="zh-CN"/>
          </a:p>
        </p:txBody>
      </p:sp>
      <p:pic>
        <p:nvPicPr>
          <p:cNvPr id="3" name="object 4"/>
          <p:cNvPicPr/>
          <p:nvPr/>
        </p:nvPicPr>
        <p:blipFill>
          <a:blip r:embed="rId1" cstate="print"/>
          <a:stretch>
            <a:fillRect/>
          </a:stretch>
        </p:blipFill>
        <p:spPr>
          <a:xfrm>
            <a:off x="4520184" y="1344168"/>
            <a:ext cx="6283452" cy="51037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597720" y="1642872"/>
            <a:ext cx="7419255" cy="4247388"/>
          </a:xfrm>
          <a:prstGeom prst="rect">
            <a:avLst/>
          </a:prstGeom>
        </p:spPr>
      </p:pic>
      <p:sp>
        <p:nvSpPr>
          <p:cNvPr id="4" name="object 4"/>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5" name="object 5"/>
          <p:cNvSpPr/>
          <p:nvPr/>
        </p:nvSpPr>
        <p:spPr>
          <a:xfrm>
            <a:off x="769480" y="2389441"/>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lstStyle/>
          <a:p/>
        </p:txBody>
      </p:sp>
      <p:sp>
        <p:nvSpPr>
          <p:cNvPr id="6" name="object 6"/>
          <p:cNvSpPr/>
          <p:nvPr/>
        </p:nvSpPr>
        <p:spPr>
          <a:xfrm>
            <a:off x="754240" y="3353765"/>
            <a:ext cx="292735" cy="292735"/>
          </a:xfrm>
          <a:custGeom>
            <a:avLst/>
            <a:gdLst/>
            <a:ahLst/>
            <a:cxnLst/>
            <a:rect l="l" t="t" r="r" b="b"/>
            <a:pathLst>
              <a:path w="292734" h="292735">
                <a:moveTo>
                  <a:pt x="244195" y="0"/>
                </a:moveTo>
                <a:lnTo>
                  <a:pt x="233286" y="0"/>
                </a:lnTo>
                <a:lnTo>
                  <a:pt x="228104" y="863"/>
                </a:lnTo>
                <a:lnTo>
                  <a:pt x="39357" y="176275"/>
                </a:lnTo>
                <a:lnTo>
                  <a:pt x="37475" y="179438"/>
                </a:lnTo>
                <a:lnTo>
                  <a:pt x="37350" y="179730"/>
                </a:lnTo>
                <a:lnTo>
                  <a:pt x="584" y="280085"/>
                </a:lnTo>
                <a:lnTo>
                  <a:pt x="0" y="282676"/>
                </a:lnTo>
                <a:lnTo>
                  <a:pt x="292" y="285546"/>
                </a:lnTo>
                <a:lnTo>
                  <a:pt x="7480" y="292455"/>
                </a:lnTo>
                <a:lnTo>
                  <a:pt x="10350" y="292455"/>
                </a:lnTo>
                <a:lnTo>
                  <a:pt x="102857" y="264274"/>
                </a:lnTo>
                <a:lnTo>
                  <a:pt x="109762" y="258800"/>
                </a:lnTo>
                <a:lnTo>
                  <a:pt x="58318" y="258800"/>
                </a:lnTo>
                <a:lnTo>
                  <a:pt x="56603" y="254495"/>
                </a:lnTo>
                <a:lnTo>
                  <a:pt x="43103" y="238963"/>
                </a:lnTo>
                <a:lnTo>
                  <a:pt x="39941" y="236664"/>
                </a:lnTo>
                <a:lnTo>
                  <a:pt x="36487" y="234937"/>
                </a:lnTo>
                <a:lnTo>
                  <a:pt x="52006" y="192087"/>
                </a:lnTo>
                <a:lnTo>
                  <a:pt x="91363" y="192087"/>
                </a:lnTo>
                <a:lnTo>
                  <a:pt x="91267" y="182029"/>
                </a:lnTo>
                <a:lnTo>
                  <a:pt x="91168" y="181444"/>
                </a:lnTo>
                <a:lnTo>
                  <a:pt x="91071" y="180873"/>
                </a:lnTo>
                <a:lnTo>
                  <a:pt x="90616" y="179730"/>
                </a:lnTo>
                <a:lnTo>
                  <a:pt x="90500" y="179438"/>
                </a:lnTo>
                <a:lnTo>
                  <a:pt x="89928" y="177711"/>
                </a:lnTo>
                <a:lnTo>
                  <a:pt x="87630" y="175412"/>
                </a:lnTo>
                <a:lnTo>
                  <a:pt x="85902" y="174256"/>
                </a:lnTo>
                <a:lnTo>
                  <a:pt x="84175" y="173685"/>
                </a:lnTo>
                <a:lnTo>
                  <a:pt x="67805" y="173685"/>
                </a:lnTo>
                <a:lnTo>
                  <a:pt x="176682" y="65557"/>
                </a:lnTo>
                <a:lnTo>
                  <a:pt x="176974" y="65557"/>
                </a:lnTo>
                <a:lnTo>
                  <a:pt x="179273" y="63258"/>
                </a:lnTo>
                <a:lnTo>
                  <a:pt x="185013" y="59232"/>
                </a:lnTo>
                <a:lnTo>
                  <a:pt x="191338" y="56934"/>
                </a:lnTo>
                <a:lnTo>
                  <a:pt x="194780" y="55778"/>
                </a:lnTo>
                <a:lnTo>
                  <a:pt x="201968" y="55206"/>
                </a:lnTo>
                <a:lnTo>
                  <a:pt x="241994" y="55206"/>
                </a:lnTo>
                <a:lnTo>
                  <a:pt x="239890" y="52908"/>
                </a:lnTo>
                <a:lnTo>
                  <a:pt x="205130" y="37096"/>
                </a:lnTo>
                <a:lnTo>
                  <a:pt x="213461" y="28752"/>
                </a:lnTo>
                <a:lnTo>
                  <a:pt x="235000" y="18402"/>
                </a:lnTo>
                <a:lnTo>
                  <a:pt x="279053" y="18402"/>
                </a:lnTo>
                <a:lnTo>
                  <a:pt x="276656" y="15811"/>
                </a:lnTo>
                <a:lnTo>
                  <a:pt x="249364" y="863"/>
                </a:lnTo>
                <a:lnTo>
                  <a:pt x="244195" y="0"/>
                </a:lnTo>
                <a:close/>
              </a:path>
              <a:path w="292734" h="292735">
                <a:moveTo>
                  <a:pt x="91363" y="192087"/>
                </a:moveTo>
                <a:lnTo>
                  <a:pt x="72974" y="192087"/>
                </a:lnTo>
                <a:lnTo>
                  <a:pt x="72974" y="210210"/>
                </a:lnTo>
                <a:lnTo>
                  <a:pt x="73266" y="211937"/>
                </a:lnTo>
                <a:lnTo>
                  <a:pt x="73837" y="213944"/>
                </a:lnTo>
                <a:lnTo>
                  <a:pt x="74980" y="215379"/>
                </a:lnTo>
                <a:lnTo>
                  <a:pt x="75844" y="216534"/>
                </a:lnTo>
                <a:lnTo>
                  <a:pt x="77279" y="217970"/>
                </a:lnTo>
                <a:lnTo>
                  <a:pt x="78727" y="218833"/>
                </a:lnTo>
                <a:lnTo>
                  <a:pt x="82169" y="219405"/>
                </a:lnTo>
                <a:lnTo>
                  <a:pt x="98259" y="219405"/>
                </a:lnTo>
                <a:lnTo>
                  <a:pt x="92506" y="248450"/>
                </a:lnTo>
                <a:lnTo>
                  <a:pt x="58318" y="258800"/>
                </a:lnTo>
                <a:lnTo>
                  <a:pt x="109762" y="258800"/>
                </a:lnTo>
                <a:lnTo>
                  <a:pt x="141352" y="227177"/>
                </a:lnTo>
                <a:lnTo>
                  <a:pt x="115493" y="227177"/>
                </a:lnTo>
                <a:lnTo>
                  <a:pt x="118656" y="212216"/>
                </a:lnTo>
                <a:lnTo>
                  <a:pt x="118935" y="210210"/>
                </a:lnTo>
                <a:lnTo>
                  <a:pt x="118656" y="207911"/>
                </a:lnTo>
                <a:lnTo>
                  <a:pt x="118084" y="206184"/>
                </a:lnTo>
                <a:lnTo>
                  <a:pt x="116636" y="204749"/>
                </a:lnTo>
                <a:lnTo>
                  <a:pt x="115201" y="203022"/>
                </a:lnTo>
                <a:lnTo>
                  <a:pt x="113766" y="202158"/>
                </a:lnTo>
                <a:lnTo>
                  <a:pt x="111760" y="201294"/>
                </a:lnTo>
                <a:lnTo>
                  <a:pt x="91363" y="201294"/>
                </a:lnTo>
                <a:lnTo>
                  <a:pt x="91363" y="192087"/>
                </a:lnTo>
                <a:close/>
              </a:path>
              <a:path w="292734" h="292735">
                <a:moveTo>
                  <a:pt x="241994" y="55206"/>
                </a:moveTo>
                <a:lnTo>
                  <a:pt x="201968" y="55206"/>
                </a:lnTo>
                <a:lnTo>
                  <a:pt x="205130" y="55499"/>
                </a:lnTo>
                <a:lnTo>
                  <a:pt x="208572" y="55778"/>
                </a:lnTo>
                <a:lnTo>
                  <a:pt x="215468" y="58089"/>
                </a:lnTo>
                <a:lnTo>
                  <a:pt x="218630" y="59232"/>
                </a:lnTo>
                <a:lnTo>
                  <a:pt x="221208" y="61252"/>
                </a:lnTo>
                <a:lnTo>
                  <a:pt x="224091" y="63258"/>
                </a:lnTo>
                <a:lnTo>
                  <a:pt x="226669" y="65849"/>
                </a:lnTo>
                <a:lnTo>
                  <a:pt x="229260" y="68148"/>
                </a:lnTo>
                <a:lnTo>
                  <a:pt x="230987" y="71031"/>
                </a:lnTo>
                <a:lnTo>
                  <a:pt x="232994" y="74193"/>
                </a:lnTo>
                <a:lnTo>
                  <a:pt x="234429" y="77355"/>
                </a:lnTo>
                <a:lnTo>
                  <a:pt x="235864" y="80225"/>
                </a:lnTo>
                <a:lnTo>
                  <a:pt x="236387" y="83388"/>
                </a:lnTo>
                <a:lnTo>
                  <a:pt x="237020" y="87414"/>
                </a:lnTo>
                <a:lnTo>
                  <a:pt x="237299" y="90868"/>
                </a:lnTo>
                <a:lnTo>
                  <a:pt x="237020" y="94322"/>
                </a:lnTo>
                <a:lnTo>
                  <a:pt x="230987" y="110426"/>
                </a:lnTo>
                <a:lnTo>
                  <a:pt x="229260" y="113296"/>
                </a:lnTo>
                <a:lnTo>
                  <a:pt x="115493" y="227177"/>
                </a:lnTo>
                <a:lnTo>
                  <a:pt x="141352" y="227177"/>
                </a:lnTo>
                <a:lnTo>
                  <a:pt x="276656" y="91732"/>
                </a:lnTo>
                <a:lnTo>
                  <a:pt x="280344" y="87414"/>
                </a:lnTo>
                <a:lnTo>
                  <a:pt x="255117" y="87414"/>
                </a:lnTo>
                <a:lnTo>
                  <a:pt x="255031" y="85978"/>
                </a:lnTo>
                <a:lnTo>
                  <a:pt x="252883" y="74472"/>
                </a:lnTo>
                <a:lnTo>
                  <a:pt x="252796" y="74193"/>
                </a:lnTo>
                <a:lnTo>
                  <a:pt x="252705" y="73901"/>
                </a:lnTo>
                <a:lnTo>
                  <a:pt x="252614" y="73609"/>
                </a:lnTo>
                <a:lnTo>
                  <a:pt x="252526" y="73329"/>
                </a:lnTo>
                <a:lnTo>
                  <a:pt x="250520" y="68440"/>
                </a:lnTo>
                <a:lnTo>
                  <a:pt x="248500" y="64122"/>
                </a:lnTo>
                <a:lnTo>
                  <a:pt x="245922" y="60096"/>
                </a:lnTo>
                <a:lnTo>
                  <a:pt x="243052" y="56362"/>
                </a:lnTo>
                <a:lnTo>
                  <a:pt x="241994" y="55206"/>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44"/>
                </a:lnTo>
                <a:lnTo>
                  <a:pt x="117221" y="182600"/>
                </a:lnTo>
                <a:lnTo>
                  <a:pt x="120383" y="182600"/>
                </a:lnTo>
                <a:lnTo>
                  <a:pt x="217767" y="87414"/>
                </a:lnTo>
                <a:lnTo>
                  <a:pt x="219202" y="83972"/>
                </a:lnTo>
                <a:lnTo>
                  <a:pt x="219446" y="82524"/>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53" y="18402"/>
                </a:moveTo>
                <a:lnTo>
                  <a:pt x="242189" y="18402"/>
                </a:lnTo>
                <a:lnTo>
                  <a:pt x="245630" y="18973"/>
                </a:lnTo>
                <a:lnTo>
                  <a:pt x="249085" y="19837"/>
                </a:lnTo>
                <a:lnTo>
                  <a:pt x="273166" y="46291"/>
                </a:lnTo>
                <a:lnTo>
                  <a:pt x="273215" y="46583"/>
                </a:lnTo>
                <a:lnTo>
                  <a:pt x="274078" y="50037"/>
                </a:lnTo>
                <a:lnTo>
                  <a:pt x="274078" y="57226"/>
                </a:lnTo>
                <a:lnTo>
                  <a:pt x="273215" y="60667"/>
                </a:lnTo>
                <a:lnTo>
                  <a:pt x="272748" y="63258"/>
                </a:lnTo>
                <a:lnTo>
                  <a:pt x="255117" y="87414"/>
                </a:lnTo>
                <a:lnTo>
                  <a:pt x="280344" y="87414"/>
                </a:lnTo>
                <a:lnTo>
                  <a:pt x="283552" y="83388"/>
                </a:lnTo>
                <a:lnTo>
                  <a:pt x="285851" y="79082"/>
                </a:lnTo>
                <a:lnTo>
                  <a:pt x="288442" y="74472"/>
                </a:lnTo>
                <a:lnTo>
                  <a:pt x="289877" y="69583"/>
                </a:lnTo>
                <a:lnTo>
                  <a:pt x="291604" y="64122"/>
                </a:lnTo>
                <a:lnTo>
                  <a:pt x="291922" y="61252"/>
                </a:lnTo>
                <a:lnTo>
                  <a:pt x="292409" y="52908"/>
                </a:lnTo>
                <a:lnTo>
                  <a:pt x="292254" y="50037"/>
                </a:lnTo>
                <a:lnTo>
                  <a:pt x="292176" y="48590"/>
                </a:lnTo>
                <a:lnTo>
                  <a:pt x="291695" y="43992"/>
                </a:lnTo>
                <a:lnTo>
                  <a:pt x="291604" y="43129"/>
                </a:lnTo>
                <a:lnTo>
                  <a:pt x="289877" y="37960"/>
                </a:lnTo>
                <a:lnTo>
                  <a:pt x="288442" y="33070"/>
                </a:lnTo>
                <a:lnTo>
                  <a:pt x="285851" y="28460"/>
                </a:lnTo>
                <a:lnTo>
                  <a:pt x="283552" y="23863"/>
                </a:lnTo>
                <a:lnTo>
                  <a:pt x="280111" y="19545"/>
                </a:lnTo>
                <a:lnTo>
                  <a:pt x="279053" y="18402"/>
                </a:lnTo>
                <a:close/>
              </a:path>
              <a:path w="292734" h="292735">
                <a:moveTo>
                  <a:pt x="176974" y="65557"/>
                </a:moveTo>
                <a:lnTo>
                  <a:pt x="176682" y="65557"/>
                </a:lnTo>
                <a:lnTo>
                  <a:pt x="176682" y="65849"/>
                </a:lnTo>
                <a:lnTo>
                  <a:pt x="176974" y="65557"/>
                </a:lnTo>
                <a:close/>
              </a:path>
            </a:pathLst>
          </a:custGeom>
          <a:solidFill>
            <a:srgbClr val="C00000"/>
          </a:solidFill>
        </p:spPr>
        <p:txBody>
          <a:bodyPr wrap="square" lIns="0" tIns="0" rIns="0" bIns="0" rtlCol="0"/>
          <a:lstStyle/>
          <a:p/>
        </p:txBody>
      </p:sp>
      <p:sp>
        <p:nvSpPr>
          <p:cNvPr id="7" name="object 7"/>
          <p:cNvSpPr/>
          <p:nvPr/>
        </p:nvSpPr>
        <p:spPr>
          <a:xfrm>
            <a:off x="754240" y="4357204"/>
            <a:ext cx="292735" cy="292735"/>
          </a:xfrm>
          <a:custGeom>
            <a:avLst/>
            <a:gdLst/>
            <a:ahLst/>
            <a:cxnLst/>
            <a:rect l="l" t="t" r="r" b="b"/>
            <a:pathLst>
              <a:path w="292734" h="292735">
                <a:moveTo>
                  <a:pt x="244195" y="0"/>
                </a:moveTo>
                <a:lnTo>
                  <a:pt x="233286" y="0"/>
                </a:lnTo>
                <a:lnTo>
                  <a:pt x="228104" y="863"/>
                </a:lnTo>
                <a:lnTo>
                  <a:pt x="39357" y="176276"/>
                </a:lnTo>
                <a:lnTo>
                  <a:pt x="37475" y="179438"/>
                </a:lnTo>
                <a:lnTo>
                  <a:pt x="37350" y="179730"/>
                </a:lnTo>
                <a:lnTo>
                  <a:pt x="584" y="280085"/>
                </a:lnTo>
                <a:lnTo>
                  <a:pt x="0" y="282676"/>
                </a:lnTo>
                <a:lnTo>
                  <a:pt x="292" y="285559"/>
                </a:lnTo>
                <a:lnTo>
                  <a:pt x="7480" y="292455"/>
                </a:lnTo>
                <a:lnTo>
                  <a:pt x="10350" y="292455"/>
                </a:lnTo>
                <a:lnTo>
                  <a:pt x="102857" y="264274"/>
                </a:lnTo>
                <a:lnTo>
                  <a:pt x="109750" y="258813"/>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11"/>
                </a:lnTo>
                <a:lnTo>
                  <a:pt x="87630" y="175412"/>
                </a:lnTo>
                <a:lnTo>
                  <a:pt x="85902" y="174269"/>
                </a:lnTo>
                <a:lnTo>
                  <a:pt x="84175" y="173685"/>
                </a:lnTo>
                <a:lnTo>
                  <a:pt x="67805" y="173685"/>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2"/>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48"/>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9"/>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1985" y="60680"/>
                </a:lnTo>
                <a:lnTo>
                  <a:pt x="292050" y="60096"/>
                </a:lnTo>
                <a:lnTo>
                  <a:pt x="292176" y="58953"/>
                </a:lnTo>
                <a:lnTo>
                  <a:pt x="292285" y="56934"/>
                </a:lnTo>
                <a:lnTo>
                  <a:pt x="292408" y="52908"/>
                </a:lnTo>
                <a:lnTo>
                  <a:pt x="292253" y="50037"/>
                </a:lnTo>
                <a:lnTo>
                  <a:pt x="292176" y="48602"/>
                </a:lnTo>
                <a:lnTo>
                  <a:pt x="291693" y="43992"/>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lstStyle/>
          <a:p/>
        </p:txBody>
      </p:sp>
      <p:sp>
        <p:nvSpPr>
          <p:cNvPr id="10" name="文本框 9"/>
          <p:cNvSpPr txBox="1"/>
          <p:nvPr/>
        </p:nvSpPr>
        <p:spPr>
          <a:xfrm>
            <a:off x="482600" y="264795"/>
            <a:ext cx="10124440" cy="449580"/>
          </a:xfrm>
          <a:prstGeom prst="rect">
            <a:avLst/>
          </a:prstGeom>
          <a:noFill/>
        </p:spPr>
        <p:txBody>
          <a:bodyPr wrap="square" rtlCol="0">
            <a:noAutofit/>
          </a:bodyPr>
          <a:p>
            <a:r>
              <a:rPr lang="en-US" altLang="zh-CN" sz="2800"/>
              <a:t>Get a quick overview of the machine learning process</a:t>
            </a:r>
            <a:endParaRPr lang="en-US" altLang="zh-CN" sz="28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1047115" y="1377950"/>
            <a:ext cx="4361815" cy="460375"/>
          </a:xfrm>
          <a:prstGeom prst="rect">
            <a:avLst/>
          </a:prstGeom>
          <a:noFill/>
        </p:spPr>
        <p:txBody>
          <a:bodyPr wrap="square" rtlCol="0">
            <a:noAutofit/>
          </a:bodyPr>
          <a:p>
            <a:r>
              <a:rPr lang="en-US" altLang="zh-CN" sz="2000"/>
              <a:t>The role of feature engineering:</a:t>
            </a:r>
            <a:endParaRPr lang="en-US" altLang="zh-CN" sz="2000"/>
          </a:p>
        </p:txBody>
      </p:sp>
      <p:sp>
        <p:nvSpPr>
          <p:cNvPr id="13" name="文本框 12"/>
          <p:cNvSpPr txBox="1"/>
          <p:nvPr/>
        </p:nvSpPr>
        <p:spPr>
          <a:xfrm>
            <a:off x="1170305" y="2308860"/>
            <a:ext cx="4238625" cy="645160"/>
          </a:xfrm>
          <a:prstGeom prst="rect">
            <a:avLst/>
          </a:prstGeom>
          <a:noFill/>
        </p:spPr>
        <p:txBody>
          <a:bodyPr wrap="square" rtlCol="0">
            <a:spAutoFit/>
          </a:bodyPr>
          <a:p>
            <a:r>
              <a:rPr lang="en-US" altLang="zh-CN"/>
              <a:t>The data characteristics determine the upper bound of the model</a:t>
            </a:r>
            <a:endParaRPr lang="en-US" altLang="zh-CN"/>
          </a:p>
        </p:txBody>
      </p:sp>
      <p:sp>
        <p:nvSpPr>
          <p:cNvPr id="14" name="文本框 13"/>
          <p:cNvSpPr txBox="1"/>
          <p:nvPr/>
        </p:nvSpPr>
        <p:spPr>
          <a:xfrm>
            <a:off x="1244600" y="3315335"/>
            <a:ext cx="3161665" cy="645160"/>
          </a:xfrm>
          <a:prstGeom prst="rect">
            <a:avLst/>
          </a:prstGeom>
          <a:noFill/>
        </p:spPr>
        <p:txBody>
          <a:bodyPr wrap="square" rtlCol="0">
            <a:spAutoFit/>
          </a:bodyPr>
          <a:p>
            <a:r>
              <a:rPr lang="en-US" altLang="zh-CN"/>
              <a:t>Preprocessing and feature extraction are the core</a:t>
            </a:r>
            <a:endParaRPr lang="en-US" altLang="zh-CN"/>
          </a:p>
        </p:txBody>
      </p:sp>
      <p:sp>
        <p:nvSpPr>
          <p:cNvPr id="15" name="文本框 14"/>
          <p:cNvSpPr txBox="1"/>
          <p:nvPr/>
        </p:nvSpPr>
        <p:spPr>
          <a:xfrm>
            <a:off x="1215390" y="4357370"/>
            <a:ext cx="3124200" cy="922020"/>
          </a:xfrm>
          <a:prstGeom prst="rect">
            <a:avLst/>
          </a:prstGeom>
          <a:noFill/>
        </p:spPr>
        <p:txBody>
          <a:bodyPr wrap="square" rtlCol="0">
            <a:spAutoFit/>
          </a:bodyPr>
          <a:p>
            <a:r>
              <a:rPr lang="en-US" altLang="zh-CN"/>
              <a:t>The algorithm and parameter selection determine how to approximate this upper limit</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5"/>
          <p:cNvPicPr/>
          <p:nvPr/>
        </p:nvPicPr>
        <p:blipFill>
          <a:blip r:embed="rId1" cstate="print"/>
          <a:stretch>
            <a:fillRect/>
          </a:stretch>
        </p:blipFill>
        <p:spPr>
          <a:xfrm>
            <a:off x="5213985" y="2389505"/>
            <a:ext cx="6840855" cy="4175760"/>
          </a:xfrm>
          <a:prstGeom prst="rect">
            <a:avLst/>
          </a:prstGeom>
        </p:spPr>
      </p:pic>
      <p:sp>
        <p:nvSpPr>
          <p:cNvPr id="4" name="object 4"/>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5" name="object 5"/>
          <p:cNvSpPr/>
          <p:nvPr>
            <p:custDataLst>
              <p:tags r:id="rId2"/>
            </p:custDataLst>
          </p:nvPr>
        </p:nvSpPr>
        <p:spPr>
          <a:xfrm>
            <a:off x="738365" y="2599672"/>
            <a:ext cx="305084" cy="305084"/>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lstStyle/>
          <a:p/>
        </p:txBody>
      </p:sp>
      <p:sp>
        <p:nvSpPr>
          <p:cNvPr id="7" name="object 7"/>
          <p:cNvSpPr/>
          <p:nvPr>
            <p:custDataLst>
              <p:tags r:id="rId3"/>
            </p:custDataLst>
          </p:nvPr>
        </p:nvSpPr>
        <p:spPr>
          <a:xfrm>
            <a:off x="738365" y="4363231"/>
            <a:ext cx="305084" cy="305084"/>
          </a:xfrm>
          <a:custGeom>
            <a:avLst/>
            <a:gdLst/>
            <a:ahLst/>
            <a:cxnLst/>
            <a:rect l="l" t="t" r="r" b="b"/>
            <a:pathLst>
              <a:path w="292734" h="292735">
                <a:moveTo>
                  <a:pt x="244195" y="0"/>
                </a:moveTo>
                <a:lnTo>
                  <a:pt x="233286" y="0"/>
                </a:lnTo>
                <a:lnTo>
                  <a:pt x="228104" y="863"/>
                </a:lnTo>
                <a:lnTo>
                  <a:pt x="39357" y="176276"/>
                </a:lnTo>
                <a:lnTo>
                  <a:pt x="37475" y="179438"/>
                </a:lnTo>
                <a:lnTo>
                  <a:pt x="37350" y="179730"/>
                </a:lnTo>
                <a:lnTo>
                  <a:pt x="584" y="280085"/>
                </a:lnTo>
                <a:lnTo>
                  <a:pt x="0" y="282676"/>
                </a:lnTo>
                <a:lnTo>
                  <a:pt x="292" y="285559"/>
                </a:lnTo>
                <a:lnTo>
                  <a:pt x="7480" y="292455"/>
                </a:lnTo>
                <a:lnTo>
                  <a:pt x="10350" y="292455"/>
                </a:lnTo>
                <a:lnTo>
                  <a:pt x="102857" y="264274"/>
                </a:lnTo>
                <a:lnTo>
                  <a:pt x="109750" y="258813"/>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11"/>
                </a:lnTo>
                <a:lnTo>
                  <a:pt x="87630" y="175412"/>
                </a:lnTo>
                <a:lnTo>
                  <a:pt x="85902" y="174269"/>
                </a:lnTo>
                <a:lnTo>
                  <a:pt x="84175" y="173685"/>
                </a:lnTo>
                <a:lnTo>
                  <a:pt x="67805" y="173685"/>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2"/>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48"/>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9"/>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1985" y="60680"/>
                </a:lnTo>
                <a:lnTo>
                  <a:pt x="292050" y="60096"/>
                </a:lnTo>
                <a:lnTo>
                  <a:pt x="292176" y="58953"/>
                </a:lnTo>
                <a:lnTo>
                  <a:pt x="292285" y="56934"/>
                </a:lnTo>
                <a:lnTo>
                  <a:pt x="292408" y="52908"/>
                </a:lnTo>
                <a:lnTo>
                  <a:pt x="292253" y="50037"/>
                </a:lnTo>
                <a:lnTo>
                  <a:pt x="292176" y="48602"/>
                </a:lnTo>
                <a:lnTo>
                  <a:pt x="291693" y="43992"/>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lstStyle/>
          <a:p/>
        </p:txBody>
      </p:sp>
      <p:sp>
        <p:nvSpPr>
          <p:cNvPr id="10" name="文本框 9"/>
          <p:cNvSpPr txBox="1"/>
          <p:nvPr/>
        </p:nvSpPr>
        <p:spPr>
          <a:xfrm>
            <a:off x="482600" y="264795"/>
            <a:ext cx="10124440" cy="449580"/>
          </a:xfrm>
          <a:prstGeom prst="rect">
            <a:avLst/>
          </a:prstGeom>
          <a:noFill/>
        </p:spPr>
        <p:txBody>
          <a:bodyPr wrap="square" rtlCol="0">
            <a:noAutofit/>
          </a:bodyPr>
          <a:p>
            <a:r>
              <a:rPr lang="en-US" altLang="zh-CN" sz="2800"/>
              <a:t>Get a quick overview of the machine learning process</a:t>
            </a:r>
            <a:endParaRPr lang="en-US" altLang="zh-CN" sz="28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13" name="文本框 12"/>
          <p:cNvSpPr txBox="1"/>
          <p:nvPr>
            <p:custDataLst>
              <p:tags r:id="rId4"/>
            </p:custDataLst>
          </p:nvPr>
        </p:nvSpPr>
        <p:spPr>
          <a:xfrm>
            <a:off x="1156099" y="2515691"/>
            <a:ext cx="3752340" cy="922020"/>
          </a:xfrm>
          <a:prstGeom prst="rect">
            <a:avLst/>
          </a:prstGeom>
          <a:noFill/>
        </p:spPr>
        <p:txBody>
          <a:bodyPr wrap="square" rtlCol="0">
            <a:spAutoFit/>
          </a:bodyPr>
          <a:p>
            <a:pPr>
              <a:lnSpc>
                <a:spcPct val="100000"/>
              </a:lnSpc>
              <a:spcBef>
                <a:spcPts val="100"/>
              </a:spcBef>
            </a:pPr>
            <a:r>
              <a:rPr lang="en-US" altLang="zh-CN"/>
              <a:t>Raw data (pixel) hides patterns; extracted semantic features reveal discriminative structures.</a:t>
            </a:r>
            <a:endParaRPr lang="en-US" altLang="zh-CN"/>
          </a:p>
        </p:txBody>
      </p:sp>
      <p:sp>
        <p:nvSpPr>
          <p:cNvPr id="15" name="文本框 14"/>
          <p:cNvSpPr txBox="1"/>
          <p:nvPr>
            <p:custDataLst>
              <p:tags r:id="rId5"/>
            </p:custDataLst>
          </p:nvPr>
        </p:nvSpPr>
        <p:spPr>
          <a:xfrm>
            <a:off x="1203086" y="4189354"/>
            <a:ext cx="3255999" cy="922020"/>
          </a:xfrm>
          <a:prstGeom prst="rect">
            <a:avLst/>
          </a:prstGeom>
          <a:noFill/>
        </p:spPr>
        <p:txBody>
          <a:bodyPr wrap="square" rtlCol="0">
            <a:spAutoFit/>
          </a:bodyPr>
          <a:p>
            <a:r>
              <a:rPr lang="en-US" altLang="zh-CN"/>
              <a:t>Feature extraction maps chaotic raw data to a structured space where classes become separable.</a:t>
            </a:r>
            <a:endParaRPr lang="en-US" altLang="zh-CN"/>
          </a:p>
        </p:txBody>
      </p:sp>
      <p:sp>
        <p:nvSpPr>
          <p:cNvPr id="8" name="文本框 7"/>
          <p:cNvSpPr txBox="1"/>
          <p:nvPr/>
        </p:nvSpPr>
        <p:spPr>
          <a:xfrm>
            <a:off x="1162050" y="1483995"/>
            <a:ext cx="4660265" cy="463550"/>
          </a:xfrm>
          <a:prstGeom prst="rect">
            <a:avLst/>
          </a:prstGeom>
          <a:noFill/>
        </p:spPr>
        <p:txBody>
          <a:bodyPr wrap="square" rtlCol="0">
            <a:noAutofit/>
          </a:bodyPr>
          <a:p>
            <a:pPr>
              <a:spcBef>
                <a:spcPts val="100"/>
              </a:spcBef>
            </a:pPr>
            <a:r>
              <a:rPr lang="en-US" altLang="zh-CN" sz="2400"/>
              <a:t>Why feature extraction matters:</a:t>
            </a:r>
            <a:endParaRPr lang="en-US" altLang="zh-CN"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5"/>
          <p:cNvPicPr/>
          <p:nvPr/>
        </p:nvPicPr>
        <p:blipFill>
          <a:blip r:embed="rId1" cstate="print"/>
          <a:stretch>
            <a:fillRect/>
          </a:stretch>
        </p:blipFill>
        <p:spPr>
          <a:xfrm>
            <a:off x="5213985" y="2389505"/>
            <a:ext cx="6840855" cy="4175760"/>
          </a:xfrm>
          <a:prstGeom prst="rect">
            <a:avLst/>
          </a:prstGeom>
        </p:spPr>
      </p:pic>
      <p:sp>
        <p:nvSpPr>
          <p:cNvPr id="4" name="object 4"/>
          <p:cNvSpPr/>
          <p:nvPr/>
        </p:nvSpPr>
        <p:spPr>
          <a:xfrm>
            <a:off x="738809" y="137057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10" name="文本框 9"/>
          <p:cNvSpPr txBox="1"/>
          <p:nvPr/>
        </p:nvSpPr>
        <p:spPr>
          <a:xfrm>
            <a:off x="482600" y="264795"/>
            <a:ext cx="10124440" cy="449580"/>
          </a:xfrm>
          <a:prstGeom prst="rect">
            <a:avLst/>
          </a:prstGeom>
          <a:noFill/>
        </p:spPr>
        <p:txBody>
          <a:bodyPr wrap="square" rtlCol="0">
            <a:noAutofit/>
          </a:bodyPr>
          <a:p>
            <a:r>
              <a:rPr lang="en-US" altLang="zh-CN" sz="2800"/>
              <a:t>Get a quick overview of the machine learning process</a:t>
            </a:r>
            <a:endParaRPr lang="en-US" altLang="zh-CN" sz="28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156335" y="1247775"/>
            <a:ext cx="5380355" cy="463550"/>
          </a:xfrm>
          <a:prstGeom prst="rect">
            <a:avLst/>
          </a:prstGeom>
          <a:noFill/>
        </p:spPr>
        <p:txBody>
          <a:bodyPr wrap="square" rtlCol="0">
            <a:noAutofit/>
          </a:bodyPr>
          <a:p>
            <a:pPr>
              <a:spcBef>
                <a:spcPts val="100"/>
              </a:spcBef>
            </a:pPr>
            <a:r>
              <a:rPr lang="en-US" altLang="zh-CN" sz="2400"/>
              <a:t>Traditional Feature Extraction Methods:</a:t>
            </a:r>
            <a:endParaRPr lang="en-US" altLang="zh-CN" sz="2400"/>
          </a:p>
        </p:txBody>
      </p:sp>
      <p:pic>
        <p:nvPicPr>
          <p:cNvPr id="2" name="object 5"/>
          <p:cNvPicPr/>
          <p:nvPr/>
        </p:nvPicPr>
        <p:blipFill>
          <a:blip r:embed="rId2" cstate="print"/>
          <a:stretch>
            <a:fillRect/>
          </a:stretch>
        </p:blipFill>
        <p:spPr>
          <a:xfrm>
            <a:off x="4660839" y="2011426"/>
            <a:ext cx="6962341" cy="4500725"/>
          </a:xfrm>
          <a:prstGeom prst="rect">
            <a:avLst/>
          </a:prstGeom>
        </p:spPr>
      </p:pic>
      <p:sp>
        <p:nvSpPr>
          <p:cNvPr id="6" name="文本框 5"/>
          <p:cNvSpPr txBox="1"/>
          <p:nvPr/>
        </p:nvSpPr>
        <p:spPr>
          <a:xfrm>
            <a:off x="1029970" y="2033270"/>
            <a:ext cx="4055745" cy="2584450"/>
          </a:xfrm>
          <a:prstGeom prst="rect">
            <a:avLst/>
          </a:prstGeom>
          <a:noFill/>
        </p:spPr>
        <p:txBody>
          <a:bodyPr wrap="square" rtlCol="0">
            <a:spAutoFit/>
          </a:bodyPr>
          <a:p>
            <a:r>
              <a:rPr lang="en-US" altLang="zh-CN"/>
              <a:t>Traditional Machine Learning: Manual Feature Design.</a:t>
            </a:r>
            <a:endParaRPr lang="en-US" altLang="zh-CN"/>
          </a:p>
          <a:p>
            <a:pPr marL="285750" indent="-285750">
              <a:buFont typeface="Arial" panose="020B0604020202020204" pitchFamily="34" charset="0"/>
              <a:buChar char="•"/>
            </a:pPr>
            <a:r>
              <a:rPr lang="en-US" altLang="zh-CN"/>
              <a:t>Experts create features based on domain knowledge (e.g., extracting edges/textures in images; calculating word frequency in text).</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Typical methods: SIFT (images), HOG (object detection), TF-IDF (text).</a:t>
            </a:r>
            <a:endParaRPr lang="en-US" altLang="zh-CN"/>
          </a:p>
        </p:txBody>
      </p:sp>
      <p:sp>
        <p:nvSpPr>
          <p:cNvPr id="9" name="object 5"/>
          <p:cNvSpPr/>
          <p:nvPr>
            <p:custDataLst>
              <p:tags r:id="rId3"/>
            </p:custDataLst>
          </p:nvPr>
        </p:nvSpPr>
        <p:spPr>
          <a:xfrm>
            <a:off x="725030" y="2183747"/>
            <a:ext cx="305084" cy="305084"/>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sp>
        <p:nvSpPr>
          <p:cNvPr id="12" name="文本框 11"/>
          <p:cNvSpPr txBox="1"/>
          <p:nvPr/>
        </p:nvSpPr>
        <p:spPr>
          <a:xfrm>
            <a:off x="482600" y="5547995"/>
            <a:ext cx="4095115" cy="645160"/>
          </a:xfrm>
          <a:prstGeom prst="rect">
            <a:avLst/>
          </a:prstGeom>
          <a:noFill/>
        </p:spPr>
        <p:txBody>
          <a:bodyPr wrap="square" rtlCol="0">
            <a:spAutoFit/>
          </a:bodyPr>
          <a:p>
            <a:r>
              <a:rPr lang="en-US" altLang="zh-CN"/>
              <a:t>Traditional methods rely on domain expertise—time-consuming and limited;</a:t>
            </a:r>
            <a:endParaRPr lang="en-US" altLang="zh-CN"/>
          </a:p>
        </p:txBody>
      </p:sp>
      <p:sp>
        <p:nvSpPr>
          <p:cNvPr id="14" name="object 5"/>
          <p:cNvSpPr/>
          <p:nvPr>
            <p:custDataLst>
              <p:tags r:id="rId4"/>
            </p:custDataLst>
          </p:nvPr>
        </p:nvSpPr>
        <p:spPr>
          <a:xfrm>
            <a:off x="94475" y="5718157"/>
            <a:ext cx="305084" cy="305084"/>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738809" y="137057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10" name="文本框 9"/>
          <p:cNvSpPr txBox="1"/>
          <p:nvPr/>
        </p:nvSpPr>
        <p:spPr>
          <a:xfrm>
            <a:off x="482600" y="264795"/>
            <a:ext cx="10124440" cy="449580"/>
          </a:xfrm>
          <a:prstGeom prst="rect">
            <a:avLst/>
          </a:prstGeom>
          <a:noFill/>
        </p:spPr>
        <p:txBody>
          <a:bodyPr wrap="square" rtlCol="0">
            <a:noAutofit/>
          </a:bodyPr>
          <a:p>
            <a:r>
              <a:rPr lang="en-US" altLang="zh-CN" sz="2800"/>
              <a:t> Why do you need deep learning?</a:t>
            </a:r>
            <a:endParaRPr lang="en-US" altLang="zh-CN" sz="28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156335" y="1247775"/>
            <a:ext cx="6182360" cy="463550"/>
          </a:xfrm>
          <a:prstGeom prst="rect">
            <a:avLst/>
          </a:prstGeom>
          <a:noFill/>
        </p:spPr>
        <p:txBody>
          <a:bodyPr wrap="square" rtlCol="0">
            <a:noAutofit/>
          </a:bodyPr>
          <a:p>
            <a:pPr>
              <a:spcBef>
                <a:spcPts val="100"/>
              </a:spcBef>
            </a:pPr>
            <a:r>
              <a:rPr lang="en-US" altLang="zh-CN" sz="2400"/>
              <a:t>Deep Learning: Feature Extraction Methods:</a:t>
            </a:r>
            <a:endParaRPr lang="en-US" altLang="zh-CN" sz="2400"/>
          </a:p>
        </p:txBody>
      </p:sp>
      <p:sp>
        <p:nvSpPr>
          <p:cNvPr id="6" name="文本框 5"/>
          <p:cNvSpPr txBox="1"/>
          <p:nvPr/>
        </p:nvSpPr>
        <p:spPr>
          <a:xfrm>
            <a:off x="1029970" y="2178050"/>
            <a:ext cx="4402455" cy="2716530"/>
          </a:xfrm>
          <a:prstGeom prst="rect">
            <a:avLst/>
          </a:prstGeom>
          <a:noFill/>
        </p:spPr>
        <p:txBody>
          <a:bodyPr wrap="square" rtlCol="0">
            <a:noAutofit/>
          </a:bodyPr>
          <a:p>
            <a:r>
              <a:rPr lang="en-US" altLang="zh-CN"/>
              <a:t>Neural networks hierarchically learn    features directly from raw data</a:t>
            </a:r>
            <a:endParaRPr lang="en-US" altLang="zh-CN"/>
          </a:p>
          <a:p>
            <a:pPr marL="285750" indent="-285750">
              <a:buFont typeface="Arial" panose="020B0604020202020204" pitchFamily="34" charset="0"/>
              <a:buChar char="•"/>
            </a:pPr>
            <a:r>
              <a:rPr lang="en-US" altLang="zh-CN"/>
              <a:t>Shallow layers: Basic features (e.g., edges, textures)</a:t>
            </a:r>
            <a:endParaRPr lang="en-US" altLang="zh-CN"/>
          </a:p>
          <a:p>
            <a:pPr marL="285750" indent="-285750">
              <a:buFont typeface="Arial" panose="020B0604020202020204" pitchFamily="34" charset="0"/>
              <a:buChar char="•"/>
            </a:pPr>
            <a:r>
              <a:rPr lang="en-US" altLang="zh-CN"/>
              <a:t>Middle layers: Composite features (e.g., object parts)</a:t>
            </a:r>
            <a:endParaRPr lang="en-US" altLang="zh-CN"/>
          </a:p>
          <a:p>
            <a:pPr marL="285750" indent="-285750">
              <a:buFont typeface="Arial" panose="020B0604020202020204" pitchFamily="34" charset="0"/>
              <a:buChar char="•"/>
            </a:pPr>
            <a:r>
              <a:rPr lang="en-US" altLang="zh-CN"/>
              <a:t>Deep layers: Abstract features (e.g., holistic objects, semantics)</a:t>
            </a:r>
            <a:endParaRPr lang="en-US" altLang="zh-CN"/>
          </a:p>
          <a:p>
            <a:r>
              <a:rPr lang="en-US" altLang="zh-CN"/>
              <a:t>Requires no manual intervention; optimized end-to-end.</a:t>
            </a:r>
            <a:endParaRPr lang="en-US" altLang="zh-CN"/>
          </a:p>
        </p:txBody>
      </p:sp>
      <p:sp>
        <p:nvSpPr>
          <p:cNvPr id="9" name="object 5"/>
          <p:cNvSpPr/>
          <p:nvPr>
            <p:custDataLst>
              <p:tags r:id="rId1"/>
            </p:custDataLst>
          </p:nvPr>
        </p:nvSpPr>
        <p:spPr>
          <a:xfrm>
            <a:off x="725030" y="2183747"/>
            <a:ext cx="305084" cy="305084"/>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sp>
        <p:nvSpPr>
          <p:cNvPr id="12" name="文本框 11"/>
          <p:cNvSpPr txBox="1"/>
          <p:nvPr/>
        </p:nvSpPr>
        <p:spPr>
          <a:xfrm>
            <a:off x="482600" y="5547995"/>
            <a:ext cx="4980305" cy="645160"/>
          </a:xfrm>
          <a:prstGeom prst="rect">
            <a:avLst/>
          </a:prstGeom>
          <a:noFill/>
        </p:spPr>
        <p:txBody>
          <a:bodyPr wrap="square" rtlCol="0">
            <a:spAutoFit/>
          </a:bodyPr>
          <a:p>
            <a:r>
              <a:rPr lang="en-US" altLang="zh-CN"/>
              <a:t>Deep learning automatically extracts complex, task-adaptive features through hierarchical abstraction.</a:t>
            </a:r>
            <a:endParaRPr lang="en-US" altLang="zh-CN"/>
          </a:p>
        </p:txBody>
      </p:sp>
      <p:sp>
        <p:nvSpPr>
          <p:cNvPr id="14" name="object 5"/>
          <p:cNvSpPr/>
          <p:nvPr>
            <p:custDataLst>
              <p:tags r:id="rId2"/>
            </p:custDataLst>
          </p:nvPr>
        </p:nvSpPr>
        <p:spPr>
          <a:xfrm>
            <a:off x="94475" y="5718157"/>
            <a:ext cx="305084" cy="305084"/>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5" name="object 5"/>
          <p:cNvPicPr/>
          <p:nvPr/>
        </p:nvPicPr>
        <p:blipFill>
          <a:blip r:embed="rId3" cstate="print"/>
          <a:stretch>
            <a:fillRect/>
          </a:stretch>
        </p:blipFill>
        <p:spPr>
          <a:xfrm>
            <a:off x="5470525" y="2070735"/>
            <a:ext cx="6574155" cy="3952240"/>
          </a:xfrm>
          <a:prstGeom prst="rect">
            <a:avLst/>
          </a:prstGeom>
        </p:spPr>
      </p:pic>
      <p:sp>
        <p:nvSpPr>
          <p:cNvPr id="7" name="文本框 6"/>
          <p:cNvSpPr txBox="1"/>
          <p:nvPr/>
        </p:nvSpPr>
        <p:spPr>
          <a:xfrm>
            <a:off x="1029970" y="1763395"/>
            <a:ext cx="5205730" cy="362585"/>
          </a:xfrm>
          <a:prstGeom prst="rect">
            <a:avLst/>
          </a:prstGeom>
          <a:noFill/>
        </p:spPr>
        <p:txBody>
          <a:bodyPr wrap="square" rtlCol="0">
            <a:noAutofit/>
          </a:bodyPr>
          <a:p>
            <a:r>
              <a:rPr lang="en-US" altLang="zh-CN">
                <a:sym typeface="+mn-ea"/>
              </a:rPr>
              <a:t>Deep Learning: Automatic Feature Learning</a:t>
            </a:r>
            <a:endParaRPr lang="en-US" altLang="zh-CN"/>
          </a:p>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482600" y="264795"/>
            <a:ext cx="10124440" cy="449580"/>
          </a:xfrm>
          <a:prstGeom prst="rect">
            <a:avLst/>
          </a:prstGeom>
          <a:noFill/>
        </p:spPr>
        <p:txBody>
          <a:bodyPr wrap="square" rtlCol="0">
            <a:noAutofit/>
          </a:bodyPr>
          <a:p>
            <a:r>
              <a:rPr lang="en-US" altLang="zh-CN" sz="2800"/>
              <a:t> Why do you need deep learning?</a:t>
            </a:r>
            <a:endParaRPr lang="en-US" altLang="zh-CN" sz="28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481965" y="1395730"/>
            <a:ext cx="4923790" cy="4896485"/>
          </a:xfrm>
          <a:prstGeom prst="rect">
            <a:avLst/>
          </a:prstGeom>
          <a:noFill/>
        </p:spPr>
        <p:txBody>
          <a:bodyPr wrap="square" rtlCol="0">
            <a:noAutofit/>
          </a:bodyPr>
          <a:p>
            <a:pPr marL="342900" indent="-342900">
              <a:buFont typeface="Arial" panose="020B0604020202020204" pitchFamily="34" charset="0"/>
              <a:buChar char="•"/>
            </a:pPr>
            <a:r>
              <a:rPr lang="en-US" altLang="zh-CN" sz="2000"/>
              <a:t>The fundamental shift from ML to DL is the automation of feature extraction. Traditional ML hits a wall with complex raw data and tasks due to the limitations of manual feature engineering. </a:t>
            </a:r>
            <a:endParaRPr lang="en-US" altLang="zh-CN" sz="2000"/>
          </a:p>
          <a:p>
            <a:pPr marL="342900" indent="-342900">
              <a:buFont typeface="Arial" panose="020B0604020202020204" pitchFamily="34" charset="0"/>
              <a:buChar char="•"/>
            </a:pPr>
            <a:r>
              <a:rPr lang="en-US" altLang="zh-CN" sz="2000"/>
              <a:t>Deep Learning breaks through this wall by enabling models to learn increasingly complex and abstract features directly from the data itself, in a hierarchical manner. </a:t>
            </a:r>
            <a:endParaRPr lang="en-US" altLang="zh-CN" sz="2000"/>
          </a:p>
          <a:p>
            <a:pPr marL="342900" indent="-342900">
              <a:buFont typeface="Arial" panose="020B0604020202020204" pitchFamily="34" charset="0"/>
              <a:buChar char="•"/>
            </a:pPr>
            <a:r>
              <a:rPr lang="en-US" altLang="zh-CN" sz="2000"/>
              <a:t>This automation and representational power make DL essential for tackling modern AI challenges in vision, speech, language, and beyond, where raw data complexity defies manual feature design.</a:t>
            </a:r>
            <a:endParaRPr lang="en-US" altLang="zh-CN" sz="2000"/>
          </a:p>
        </p:txBody>
      </p:sp>
      <p:sp>
        <p:nvSpPr>
          <p:cNvPr id="9" name="object 5"/>
          <p:cNvSpPr/>
          <p:nvPr>
            <p:custDataLst>
              <p:tags r:id="rId1"/>
            </p:custDataLst>
          </p:nvPr>
        </p:nvSpPr>
        <p:spPr>
          <a:xfrm>
            <a:off x="177660" y="1090912"/>
            <a:ext cx="305084" cy="305084"/>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5" name="object 5"/>
          <p:cNvPicPr/>
          <p:nvPr/>
        </p:nvPicPr>
        <p:blipFill>
          <a:blip r:embed="rId2" cstate="print"/>
          <a:stretch>
            <a:fillRect/>
          </a:stretch>
        </p:blipFill>
        <p:spPr>
          <a:xfrm>
            <a:off x="5470525" y="2070735"/>
            <a:ext cx="6574155" cy="3952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34263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566420"/>
          </a:xfrm>
          <a:prstGeom prst="rect">
            <a:avLst/>
          </a:prstGeom>
        </p:spPr>
        <p:txBody>
          <a:bodyPr vert="horz" wrap="square" lIns="0" tIns="12700" rIns="0" bIns="0" rtlCol="0">
            <a:spAutoFit/>
          </a:bodyPr>
          <a:lstStyle/>
          <a:p>
            <a:pPr marL="12700" algn="l">
              <a:lnSpc>
                <a:spcPct val="100000"/>
              </a:lnSpc>
              <a:spcBef>
                <a:spcPts val="100"/>
              </a:spcBef>
            </a:pPr>
            <a:r>
              <a:rPr lang="en-US" altLang="zh-CN" sz="1800">
                <a:latin typeface="+mn-lt"/>
                <a:ea typeface="+mn-ea"/>
                <a:cs typeface="+mn-cs"/>
              </a:rPr>
              <a:t>By simulating the working mechanism of human brain neurons, deep learning can automatically learn complex patterns from data, thus enabling the prediction and classification of unknown data.</a:t>
            </a:r>
            <a:endParaRPr lang="en-US" altLang="zh-CN" spc="-15" dirty="0">
              <a:latin typeface="宋体" panose="02010600030101010101" pitchFamily="2" charset="-122"/>
              <a:ea typeface="宋体" panose="02010600030101010101" pitchFamily="2" charset="-122"/>
            </a:endParaRPr>
          </a:p>
        </p:txBody>
      </p:sp>
      <p:pic>
        <p:nvPicPr>
          <p:cNvPr id="5" name="object 5"/>
          <p:cNvPicPr/>
          <p:nvPr/>
        </p:nvPicPr>
        <p:blipFill>
          <a:blip r:embed="rId1" cstate="print"/>
          <a:stretch>
            <a:fillRect/>
          </a:stretch>
        </p:blipFill>
        <p:spPr>
          <a:xfrm>
            <a:off x="237003" y="2071116"/>
            <a:ext cx="11847075" cy="4600183"/>
          </a:xfrm>
          <a:prstGeom prst="rect">
            <a:avLst/>
          </a:prstGeom>
        </p:spPr>
      </p:pic>
      <p:sp>
        <p:nvSpPr>
          <p:cNvPr id="7" name="文本框 6"/>
          <p:cNvSpPr txBox="1"/>
          <p:nvPr/>
        </p:nvSpPr>
        <p:spPr>
          <a:xfrm>
            <a:off x="410845" y="229235"/>
            <a:ext cx="9897745" cy="460375"/>
          </a:xfrm>
          <a:prstGeom prst="rect">
            <a:avLst/>
          </a:prstGeom>
          <a:noFill/>
        </p:spPr>
        <p:txBody>
          <a:bodyPr wrap="square" rtlCol="0">
            <a:spAutoFit/>
          </a:bodyPr>
          <a:p>
            <a:r>
              <a:rPr lang="en-US" altLang="zh-CN" sz="2400"/>
              <a:t>An intuitive understanding of deep learning</a:t>
            </a:r>
            <a:endParaRPr lang="zh-CN" altLang="en-US"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26960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381635"/>
          </a:xfrm>
          <a:prstGeom prst="rect">
            <a:avLst/>
          </a:prstGeom>
        </p:spPr>
        <p:txBody>
          <a:bodyPr vert="horz" wrap="square" lIns="0" tIns="12700" rIns="0" bIns="0" rtlCol="0">
            <a:spAutoFit/>
          </a:bodyPr>
          <a:lstStyle/>
          <a:p>
            <a:pPr algn="l">
              <a:lnSpc>
                <a:spcPct val="100000"/>
              </a:lnSpc>
              <a:spcBef>
                <a:spcPts val="100"/>
              </a:spcBef>
              <a:buClrTx/>
              <a:buSzTx/>
              <a:buFontTx/>
            </a:pPr>
            <a:r>
              <a:rPr lang="en-US" altLang="zh-CN">
                <a:latin typeface="+mn-lt"/>
                <a:ea typeface="+mn-ea"/>
                <a:cs typeface="+mn-cs"/>
              </a:rPr>
              <a:t>an artificial neuron (perceptron) in deep learning mimics a biological neuron</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An intuitive understanding of deep learning</a:t>
            </a:r>
            <a:endParaRPr lang="zh-CN" altLang="en-US"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pic>
        <p:nvPicPr>
          <p:cNvPr id="2" name="object 2"/>
          <p:cNvPicPr/>
          <p:nvPr/>
        </p:nvPicPr>
        <p:blipFill>
          <a:blip r:embed="rId1" cstate="print"/>
          <a:stretch>
            <a:fillRect/>
          </a:stretch>
        </p:blipFill>
        <p:spPr>
          <a:xfrm>
            <a:off x="6318250" y="2646680"/>
            <a:ext cx="5333365" cy="3495675"/>
          </a:xfrm>
          <a:prstGeom prst="rect">
            <a:avLst/>
          </a:prstGeom>
        </p:spPr>
      </p:pic>
      <p:sp>
        <p:nvSpPr>
          <p:cNvPr id="9" name="文本框 8"/>
          <p:cNvSpPr txBox="1"/>
          <p:nvPr/>
        </p:nvSpPr>
        <p:spPr>
          <a:xfrm>
            <a:off x="788035" y="1906905"/>
            <a:ext cx="5160010" cy="2079625"/>
          </a:xfrm>
          <a:prstGeom prst="rect">
            <a:avLst/>
          </a:prstGeom>
          <a:noFill/>
        </p:spPr>
        <p:txBody>
          <a:bodyPr wrap="square" rtlCol="0">
            <a:noAutofit/>
          </a:bodyPr>
          <a:p>
            <a:r>
              <a:rPr lang="en-US" altLang="zh-CN" sz="2400"/>
              <a:t>Inputs (x0, x1, x2...):</a:t>
            </a:r>
            <a:endParaRPr lang="en-US" altLang="zh-CN" sz="2400"/>
          </a:p>
          <a:p>
            <a:pPr marL="342900" indent="-342900">
              <a:buFont typeface="Arial" panose="020B0604020202020204" pitchFamily="34" charset="0"/>
              <a:buChar char="•"/>
            </a:pPr>
            <a:r>
              <a:rPr lang="en-US" altLang="zh-CN" sz="2400"/>
              <a:t>Like signals entering a biological neuron's dendrites.</a:t>
            </a:r>
            <a:endParaRPr lang="en-US" altLang="zh-CN" sz="2400"/>
          </a:p>
          <a:p>
            <a:pPr marL="342900" indent="-342900">
              <a:buFont typeface="Arial" panose="020B0604020202020204" pitchFamily="34" charset="0"/>
              <a:buChar char="•"/>
            </a:pPr>
            <a:r>
              <a:rPr lang="en-US" altLang="zh-CN" sz="2400"/>
              <a:t>These are the raw data values fed into the artificial neuron.</a:t>
            </a:r>
            <a:endParaRPr lang="en-US" altLang="zh-CN" sz="2400"/>
          </a:p>
        </p:txBody>
      </p:sp>
      <p:sp>
        <p:nvSpPr>
          <p:cNvPr id="10" name="文本框 9"/>
          <p:cNvSpPr txBox="1"/>
          <p:nvPr/>
        </p:nvSpPr>
        <p:spPr>
          <a:xfrm>
            <a:off x="788035" y="4204335"/>
            <a:ext cx="5583555" cy="1938020"/>
          </a:xfrm>
          <a:prstGeom prst="rect">
            <a:avLst/>
          </a:prstGeom>
          <a:noFill/>
        </p:spPr>
        <p:txBody>
          <a:bodyPr wrap="square" rtlCol="0">
            <a:spAutoFit/>
          </a:bodyPr>
          <a:p>
            <a:pPr algn="l">
              <a:buClrTx/>
              <a:buSzTx/>
              <a:buFontTx/>
            </a:pPr>
            <a:r>
              <a:rPr lang="en-US" altLang="zh-CN" sz="2400"/>
              <a:t>Weights (w0, w1, w2...):</a:t>
            </a:r>
            <a:endParaRPr lang="en-US" altLang="zh-CN" sz="2400"/>
          </a:p>
          <a:p>
            <a:pPr marL="342900" indent="-342900" algn="l">
              <a:buClrTx/>
              <a:buSzTx/>
              <a:buFont typeface="Arial" panose="020B0604020202020204" pitchFamily="34" charset="0"/>
              <a:buChar char="•"/>
            </a:pPr>
            <a:r>
              <a:rPr lang="en-US" altLang="zh-CN" sz="2400"/>
              <a:t>Like the strength of biological synapses.</a:t>
            </a:r>
            <a:endParaRPr lang="en-US" altLang="zh-CN" sz="2400"/>
          </a:p>
          <a:p>
            <a:pPr marL="342900" indent="-342900" algn="l">
              <a:buClrTx/>
              <a:buSzTx/>
              <a:buFont typeface="Arial" panose="020B0604020202020204" pitchFamily="34" charset="0"/>
              <a:buChar char="•"/>
            </a:pPr>
            <a:r>
              <a:rPr lang="en-US" altLang="zh-CN" sz="2400"/>
              <a:t>Each input (x) has a weight (w). Weights determine the importance of each input. They are learned during training.</a:t>
            </a:r>
            <a:endParaRPr lang="en-US" altLang="zh-CN"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26960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381635"/>
          </a:xfrm>
          <a:prstGeom prst="rect">
            <a:avLst/>
          </a:prstGeom>
        </p:spPr>
        <p:txBody>
          <a:bodyPr vert="horz" wrap="square" lIns="0" tIns="12700" rIns="0" bIns="0" rtlCol="0">
            <a:spAutoFit/>
          </a:bodyPr>
          <a:lstStyle/>
          <a:p>
            <a:pPr algn="l">
              <a:lnSpc>
                <a:spcPct val="100000"/>
              </a:lnSpc>
              <a:spcBef>
                <a:spcPts val="100"/>
              </a:spcBef>
              <a:buClrTx/>
              <a:buSzTx/>
              <a:buFontTx/>
            </a:pPr>
            <a:r>
              <a:rPr lang="en-US" altLang="zh-CN">
                <a:latin typeface="+mn-lt"/>
                <a:ea typeface="+mn-ea"/>
                <a:cs typeface="+mn-cs"/>
              </a:rPr>
              <a:t>an artificial neuron (perceptron) in deep learning mimics a biological neuron</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An intuitive understanding of deep learning</a:t>
            </a:r>
            <a:endParaRPr lang="zh-CN" altLang="en-US"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pic>
        <p:nvPicPr>
          <p:cNvPr id="2" name="object 2"/>
          <p:cNvPicPr/>
          <p:nvPr/>
        </p:nvPicPr>
        <p:blipFill>
          <a:blip r:embed="rId1" cstate="print"/>
          <a:stretch>
            <a:fillRect/>
          </a:stretch>
        </p:blipFill>
        <p:spPr>
          <a:xfrm>
            <a:off x="6318250" y="2646680"/>
            <a:ext cx="5333365" cy="3495675"/>
          </a:xfrm>
          <a:prstGeom prst="rect">
            <a:avLst/>
          </a:prstGeom>
        </p:spPr>
      </p:pic>
      <p:sp>
        <p:nvSpPr>
          <p:cNvPr id="9" name="文本框 8"/>
          <p:cNvSpPr txBox="1"/>
          <p:nvPr/>
        </p:nvSpPr>
        <p:spPr>
          <a:xfrm>
            <a:off x="788035" y="1906905"/>
            <a:ext cx="5543550" cy="3522980"/>
          </a:xfrm>
          <a:prstGeom prst="rect">
            <a:avLst/>
          </a:prstGeom>
          <a:noFill/>
        </p:spPr>
        <p:txBody>
          <a:bodyPr wrap="square" rtlCol="0">
            <a:noAutofit/>
          </a:bodyPr>
          <a:p>
            <a:r>
              <a:rPr lang="en-US" altLang="zh-CN" sz="2400"/>
              <a:t>Weighted Sum + Bias (∑i w</a:t>
            </a:r>
            <a:r>
              <a:rPr lang="en-US" altLang="zh-CN" sz="2400" baseline="-25000"/>
              <a:t>i</a:t>
            </a:r>
            <a:r>
              <a:rPr lang="en-US" altLang="zh-CN" sz="2400"/>
              <a:t> x</a:t>
            </a:r>
            <a:r>
              <a:rPr lang="en-US" altLang="zh-CN" sz="2400" baseline="-25000"/>
              <a:t>i</a:t>
            </a:r>
            <a:r>
              <a:rPr lang="en-US" altLang="zh-CN" sz="2400"/>
              <a:t> + b):</a:t>
            </a:r>
            <a:endParaRPr lang="en-US" altLang="zh-CN" sz="2400"/>
          </a:p>
          <a:p>
            <a:pPr marL="342900" indent="-342900">
              <a:buFont typeface="Arial" panose="020B0604020202020204" pitchFamily="34" charset="0"/>
              <a:buChar char="•"/>
            </a:pPr>
            <a:r>
              <a:rPr lang="en-US" altLang="zh-CN" sz="2400"/>
              <a:t>Like signal integration in the biological cell body.</a:t>
            </a:r>
            <a:endParaRPr lang="en-US" altLang="zh-CN" sz="2400"/>
          </a:p>
          <a:p>
            <a:pPr marL="342900" indent="-342900">
              <a:buFont typeface="Arial" panose="020B0604020202020204" pitchFamily="34" charset="0"/>
              <a:buChar char="•"/>
            </a:pPr>
            <a:r>
              <a:rPr lang="en-US" altLang="zh-CN" sz="2400"/>
              <a:t>The neuron calculates: Multiply each input by its weight (w</a:t>
            </a:r>
            <a:r>
              <a:rPr lang="en-US" altLang="zh-CN" sz="2400" baseline="-25000"/>
              <a:t>i</a:t>
            </a:r>
            <a:r>
              <a:rPr lang="en-US" altLang="zh-CN" sz="2400"/>
              <a:t> * x</a:t>
            </a:r>
            <a:r>
              <a:rPr lang="en-US" altLang="zh-CN" sz="2400" baseline="-25000"/>
              <a:t>i</a:t>
            </a:r>
            <a:r>
              <a:rPr lang="en-US" altLang="zh-CN" sz="2400"/>
              <a:t>), sum all these products (∑), then add a bias term (b). Bias adjusts how easily the neuron activates.</a:t>
            </a:r>
            <a:endParaRPr lang="en-US" altLang="zh-CN"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26960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381635"/>
          </a:xfrm>
          <a:prstGeom prst="rect">
            <a:avLst/>
          </a:prstGeom>
        </p:spPr>
        <p:txBody>
          <a:bodyPr vert="horz" wrap="square" lIns="0" tIns="12700" rIns="0" bIns="0" rtlCol="0">
            <a:spAutoFit/>
          </a:bodyPr>
          <a:lstStyle/>
          <a:p>
            <a:pPr algn="l">
              <a:lnSpc>
                <a:spcPct val="100000"/>
              </a:lnSpc>
              <a:spcBef>
                <a:spcPts val="100"/>
              </a:spcBef>
              <a:buClrTx/>
              <a:buSzTx/>
              <a:buFontTx/>
            </a:pPr>
            <a:r>
              <a:rPr lang="en-US" altLang="zh-CN">
                <a:latin typeface="+mn-lt"/>
                <a:ea typeface="+mn-ea"/>
                <a:cs typeface="+mn-cs"/>
              </a:rPr>
              <a:t>an artificial neuron (perceptron) in deep learning mimics a biological neuron</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An intuitive understanding of deep learning</a:t>
            </a:r>
            <a:endParaRPr lang="zh-CN" altLang="en-US"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pic>
        <p:nvPicPr>
          <p:cNvPr id="2" name="object 2"/>
          <p:cNvPicPr/>
          <p:nvPr/>
        </p:nvPicPr>
        <p:blipFill>
          <a:blip r:embed="rId1" cstate="print"/>
          <a:stretch>
            <a:fillRect/>
          </a:stretch>
        </p:blipFill>
        <p:spPr>
          <a:xfrm>
            <a:off x="6318250" y="2646680"/>
            <a:ext cx="5333365" cy="3495675"/>
          </a:xfrm>
          <a:prstGeom prst="rect">
            <a:avLst/>
          </a:prstGeom>
        </p:spPr>
      </p:pic>
      <p:sp>
        <p:nvSpPr>
          <p:cNvPr id="9" name="文本框 8"/>
          <p:cNvSpPr txBox="1"/>
          <p:nvPr/>
        </p:nvSpPr>
        <p:spPr>
          <a:xfrm>
            <a:off x="788035" y="1906905"/>
            <a:ext cx="5543550" cy="3522980"/>
          </a:xfrm>
          <a:prstGeom prst="rect">
            <a:avLst/>
          </a:prstGeom>
          <a:noFill/>
        </p:spPr>
        <p:txBody>
          <a:bodyPr wrap="square" rtlCol="0">
            <a:noAutofit/>
          </a:bodyPr>
          <a:p>
            <a:r>
              <a:rPr lang="en-US" altLang="zh-CN" sz="2400"/>
              <a:t>Activation Function (f):</a:t>
            </a:r>
            <a:endParaRPr lang="en-US" altLang="zh-CN" sz="2400"/>
          </a:p>
          <a:p>
            <a:pPr marL="342900" indent="-342900">
              <a:buFont typeface="Arial" panose="020B0604020202020204" pitchFamily="34" charset="0"/>
              <a:buChar char="•"/>
            </a:pPr>
            <a:r>
              <a:rPr lang="en-US" altLang="zh-CN" sz="2400"/>
              <a:t>Like the biological neuron's decision to "fire" an output signal down its axon.</a:t>
            </a:r>
            <a:endParaRPr lang="en-US" altLang="zh-CN" sz="2400"/>
          </a:p>
          <a:p>
            <a:pPr marL="342900" indent="-342900">
              <a:buFont typeface="Arial" panose="020B0604020202020204" pitchFamily="34" charset="0"/>
              <a:buChar char="•"/>
            </a:pPr>
            <a:r>
              <a:rPr lang="en-US" altLang="zh-CN" sz="2400"/>
              <a:t>This non-linear function (e.g., Sigmoid, ReLU) transforms the weighted sum (∑i w</a:t>
            </a:r>
            <a:r>
              <a:rPr lang="en-US" altLang="zh-CN" sz="2400" baseline="-25000"/>
              <a:t>i</a:t>
            </a:r>
            <a:r>
              <a:rPr lang="en-US" altLang="zh-CN" sz="2400"/>
              <a:t> x</a:t>
            </a:r>
            <a:r>
              <a:rPr lang="en-US" altLang="zh-CN" sz="2400" baseline="-25000"/>
              <a:t>i</a:t>
            </a:r>
            <a:r>
              <a:rPr lang="en-US" altLang="zh-CN" sz="2400"/>
              <a:t> + b). It decides if and how strongly the artificial neuron activates (produces an output).</a:t>
            </a:r>
            <a:endParaRPr lang="en-US" altLang="zh-CN"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26960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381635"/>
          </a:xfrm>
          <a:prstGeom prst="rect">
            <a:avLst/>
          </a:prstGeom>
        </p:spPr>
        <p:txBody>
          <a:bodyPr vert="horz" wrap="square" lIns="0" tIns="12700" rIns="0" bIns="0" rtlCol="0">
            <a:spAutoFit/>
          </a:bodyPr>
          <a:lstStyle/>
          <a:p>
            <a:pPr algn="l">
              <a:lnSpc>
                <a:spcPct val="100000"/>
              </a:lnSpc>
              <a:spcBef>
                <a:spcPts val="100"/>
              </a:spcBef>
              <a:buClrTx/>
              <a:buSzTx/>
              <a:buFontTx/>
            </a:pPr>
            <a:r>
              <a:rPr lang="en-US" altLang="zh-CN">
                <a:latin typeface="+mn-lt"/>
                <a:ea typeface="+mn-ea"/>
                <a:cs typeface="+mn-cs"/>
              </a:rPr>
              <a:t>an artificial neuron (perceptron) in deep learning mimics a biological neuron</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An intuitive understanding of deep learning</a:t>
            </a:r>
            <a:endParaRPr lang="zh-CN" altLang="en-US"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pic>
        <p:nvPicPr>
          <p:cNvPr id="2" name="object 2"/>
          <p:cNvPicPr/>
          <p:nvPr/>
        </p:nvPicPr>
        <p:blipFill>
          <a:blip r:embed="rId1" cstate="print"/>
          <a:stretch>
            <a:fillRect/>
          </a:stretch>
        </p:blipFill>
        <p:spPr>
          <a:xfrm>
            <a:off x="6318250" y="2646680"/>
            <a:ext cx="5333365" cy="3495675"/>
          </a:xfrm>
          <a:prstGeom prst="rect">
            <a:avLst/>
          </a:prstGeom>
        </p:spPr>
      </p:pic>
      <p:sp>
        <p:nvSpPr>
          <p:cNvPr id="9" name="文本框 8"/>
          <p:cNvSpPr txBox="1"/>
          <p:nvPr/>
        </p:nvSpPr>
        <p:spPr>
          <a:xfrm>
            <a:off x="788035" y="1906905"/>
            <a:ext cx="5543550" cy="2854325"/>
          </a:xfrm>
          <a:prstGeom prst="rect">
            <a:avLst/>
          </a:prstGeom>
          <a:noFill/>
        </p:spPr>
        <p:txBody>
          <a:bodyPr wrap="square" rtlCol="0">
            <a:noAutofit/>
          </a:bodyPr>
          <a:p>
            <a:r>
              <a:rPr lang="en-US" altLang="zh-CN" sz="2400"/>
              <a:t>Output (output axon):</a:t>
            </a:r>
            <a:endParaRPr lang="en-US" altLang="zh-CN" sz="2400"/>
          </a:p>
          <a:p>
            <a:pPr marL="342900" indent="-342900">
              <a:buFont typeface="Arial" panose="020B0604020202020204" pitchFamily="34" charset="0"/>
              <a:buChar char="•"/>
            </a:pPr>
            <a:r>
              <a:rPr lang="en-US" altLang="zh-CN" sz="2400"/>
              <a:t>Like the signal sent out via the biological axon.</a:t>
            </a:r>
            <a:endParaRPr lang="en-US" altLang="zh-CN" sz="2400"/>
          </a:p>
          <a:p>
            <a:pPr marL="342900" indent="-342900">
              <a:buFont typeface="Arial" panose="020B0604020202020204" pitchFamily="34" charset="0"/>
              <a:buChar char="•"/>
            </a:pPr>
            <a:r>
              <a:rPr lang="en-US" altLang="zh-CN" sz="2400"/>
              <a:t>The result of the activation function (f(∑</a:t>
            </a:r>
            <a:r>
              <a:rPr lang="en-US" altLang="zh-CN" sz="2400" baseline="-25000"/>
              <a:t>i </a:t>
            </a:r>
            <a:r>
              <a:rPr lang="en-US" altLang="zh-CN" sz="2400"/>
              <a:t>w</a:t>
            </a:r>
            <a:r>
              <a:rPr lang="en-US" altLang="zh-CN" sz="2400" baseline="-25000"/>
              <a:t>i</a:t>
            </a:r>
            <a:r>
              <a:rPr lang="en-US" altLang="zh-CN" sz="2400"/>
              <a:t>x</a:t>
            </a:r>
            <a:r>
              <a:rPr lang="en-US" altLang="zh-CN" sz="2400" baseline="-25000"/>
              <a:t>i</a:t>
            </a:r>
            <a:r>
              <a:rPr lang="en-US" altLang="zh-CN" sz="2400"/>
              <a:t> + b)) becomes this neuron's output. This output can be sent to other neurons in the network.</a:t>
            </a:r>
            <a:endParaRPr lang="en-US" altLang="zh-CN" sz="2400"/>
          </a:p>
        </p:txBody>
      </p:sp>
      <p:sp>
        <p:nvSpPr>
          <p:cNvPr id="6" name="文本框 5"/>
          <p:cNvSpPr txBox="1"/>
          <p:nvPr/>
        </p:nvSpPr>
        <p:spPr>
          <a:xfrm>
            <a:off x="1141095" y="5431155"/>
            <a:ext cx="6096000" cy="460375"/>
          </a:xfrm>
          <a:prstGeom prst="rect">
            <a:avLst/>
          </a:prstGeom>
          <a:noFill/>
        </p:spPr>
        <p:txBody>
          <a:bodyPr wrap="square" rtlCol="0">
            <a:spAutoFit/>
          </a:bodyPr>
          <a:p>
            <a:r>
              <a:rPr lang="en-US" altLang="zh-CN" sz="2400">
                <a:sym typeface="+mn-ea"/>
              </a:rPr>
              <a:t>This is NOT a real biological neuron!</a:t>
            </a:r>
            <a:endParaRPr lang="en-US" altLang="zh-CN"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26960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381635"/>
          </a:xfrm>
          <a:prstGeom prst="rect">
            <a:avLst/>
          </a:prstGeom>
        </p:spPr>
        <p:txBody>
          <a:bodyPr vert="horz" wrap="square" lIns="0" tIns="12700" rIns="0" bIns="0" rtlCol="0">
            <a:spAutoFit/>
          </a:bodyPr>
          <a:lstStyle/>
          <a:p>
            <a:pPr algn="l">
              <a:lnSpc>
                <a:spcPct val="100000"/>
              </a:lnSpc>
              <a:spcBef>
                <a:spcPts val="100"/>
              </a:spcBef>
              <a:buClrTx/>
              <a:buSzTx/>
              <a:buFontTx/>
            </a:pPr>
            <a:r>
              <a:rPr lang="en-US" altLang="zh-CN">
                <a:latin typeface="+mn-lt"/>
                <a:ea typeface="+mn-ea"/>
                <a:cs typeface="+mn-cs"/>
              </a:rPr>
              <a:t>We've learned how neurons are calculated, so let's take a simple example</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A simple example</a:t>
            </a:r>
            <a:endParaRPr lang="en-US" altLang="zh-CN"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pic>
        <p:nvPicPr>
          <p:cNvPr id="5" name="object 7"/>
          <p:cNvPicPr/>
          <p:nvPr/>
        </p:nvPicPr>
        <p:blipFill>
          <a:blip r:embed="rId1" cstate="print"/>
          <a:stretch>
            <a:fillRect/>
          </a:stretch>
        </p:blipFill>
        <p:spPr>
          <a:xfrm>
            <a:off x="2167890" y="3757930"/>
            <a:ext cx="7856855" cy="3037840"/>
          </a:xfrm>
          <a:prstGeom prst="rect">
            <a:avLst/>
          </a:prstGeom>
        </p:spPr>
      </p:pic>
      <p:sp>
        <p:nvSpPr>
          <p:cNvPr id="10" name="文本框 9"/>
          <p:cNvSpPr txBox="1"/>
          <p:nvPr/>
        </p:nvSpPr>
        <p:spPr>
          <a:xfrm>
            <a:off x="721360" y="1944370"/>
            <a:ext cx="10059035" cy="460375"/>
          </a:xfrm>
          <a:prstGeom prst="rect">
            <a:avLst/>
          </a:prstGeom>
          <a:noFill/>
        </p:spPr>
        <p:txBody>
          <a:bodyPr wrap="square" rtlCol="0">
            <a:spAutoFit/>
          </a:bodyPr>
          <a:p>
            <a:pPr marL="457200" indent="-457200">
              <a:buFont typeface="Arial" panose="020B0604020202020204" pitchFamily="34" charset="0"/>
              <a:buAutoNum type="arabicPeriod"/>
            </a:pPr>
            <a:r>
              <a:rPr lang="en-US" altLang="zh-CN" sz="2400"/>
              <a:t>​​Input Image​​:Starting with an input image of a ​​cat​​ (leftmost element).</a:t>
            </a:r>
            <a:endParaRPr lang="en-US" altLang="zh-CN" sz="2400"/>
          </a:p>
        </p:txBody>
      </p:sp>
      <p:sp>
        <p:nvSpPr>
          <p:cNvPr id="11" name="文本框 10"/>
          <p:cNvSpPr txBox="1"/>
          <p:nvPr/>
        </p:nvSpPr>
        <p:spPr>
          <a:xfrm>
            <a:off x="680720" y="2666365"/>
            <a:ext cx="10099675" cy="829945"/>
          </a:xfrm>
          <a:prstGeom prst="rect">
            <a:avLst/>
          </a:prstGeom>
          <a:noFill/>
        </p:spPr>
        <p:txBody>
          <a:bodyPr wrap="square" rtlCol="0">
            <a:spAutoFit/>
          </a:bodyPr>
          <a:p>
            <a:pPr indent="0">
              <a:buFont typeface="Arial" panose="020B0604020202020204" pitchFamily="34" charset="0"/>
              <a:buNone/>
            </a:pPr>
            <a:r>
              <a:rPr lang="en-US" altLang="zh-CN" sz="2400"/>
              <a:t>2.  ​​Image Representation (W)</a:t>
            </a:r>
            <a:r>
              <a:rPr lang="zh-CN" altLang="en-US" sz="2400"/>
              <a:t>：</a:t>
            </a:r>
            <a:r>
              <a:rPr lang="en-US" altLang="zh-CN" sz="2400"/>
              <a:t>The image pixels are flattened into a ​​3</a:t>
            </a:r>
            <a:r>
              <a:rPr lang="en-US" altLang="en-US" sz="2400"/>
              <a:t>×</a:t>
            </a:r>
            <a:r>
              <a:rPr lang="en-US" altLang="zh-CN" sz="2400"/>
              <a:t>4 matrix W​​, converting visual data into numerical values the model can process.</a:t>
            </a:r>
            <a:endParaRPr lang="en-US" altLang="zh-CN"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26960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381635"/>
          </a:xfrm>
          <a:prstGeom prst="rect">
            <a:avLst/>
          </a:prstGeom>
        </p:spPr>
        <p:txBody>
          <a:bodyPr vert="horz" wrap="square" lIns="0" tIns="12700" rIns="0" bIns="0" rtlCol="0">
            <a:spAutoFit/>
          </a:bodyPr>
          <a:lstStyle/>
          <a:p>
            <a:pPr algn="l">
              <a:lnSpc>
                <a:spcPct val="100000"/>
              </a:lnSpc>
              <a:spcBef>
                <a:spcPts val="100"/>
              </a:spcBef>
              <a:buClrTx/>
              <a:buSzTx/>
              <a:buFontTx/>
            </a:pPr>
            <a:r>
              <a:rPr lang="en-US" altLang="zh-CN">
                <a:latin typeface="+mn-lt"/>
                <a:ea typeface="+mn-ea"/>
                <a:cs typeface="+mn-cs"/>
              </a:rPr>
              <a:t>We've learned how neurons are calculated, so let's take a simple example</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A simple example</a:t>
            </a:r>
            <a:endParaRPr lang="en-US" altLang="zh-CN"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pic>
        <p:nvPicPr>
          <p:cNvPr id="5" name="object 7"/>
          <p:cNvPicPr/>
          <p:nvPr/>
        </p:nvPicPr>
        <p:blipFill>
          <a:blip r:embed="rId1" cstate="print"/>
          <a:stretch>
            <a:fillRect/>
          </a:stretch>
        </p:blipFill>
        <p:spPr>
          <a:xfrm>
            <a:off x="4240530" y="3429000"/>
            <a:ext cx="7856855" cy="3037840"/>
          </a:xfrm>
          <a:prstGeom prst="rect">
            <a:avLst/>
          </a:prstGeom>
        </p:spPr>
      </p:pic>
      <p:sp>
        <p:nvSpPr>
          <p:cNvPr id="10" name="文本框 9"/>
          <p:cNvSpPr txBox="1"/>
          <p:nvPr/>
        </p:nvSpPr>
        <p:spPr>
          <a:xfrm>
            <a:off x="721360" y="1767205"/>
            <a:ext cx="10059035" cy="2764790"/>
          </a:xfrm>
          <a:prstGeom prst="rect">
            <a:avLst/>
          </a:prstGeom>
          <a:noFill/>
        </p:spPr>
        <p:txBody>
          <a:bodyPr wrap="square" rtlCol="0">
            <a:noAutofit/>
          </a:bodyPr>
          <a:p>
            <a:pPr indent="0">
              <a:buFont typeface="Arial" panose="020B0604020202020204" pitchFamily="34" charset="0"/>
              <a:buNone/>
            </a:pPr>
            <a:r>
              <a:rPr lang="en-US" altLang="zh-CN" sz="2400"/>
              <a:t>3. ​​W is multiplied by a ​​weight vector x</a:t>
            </a:r>
            <a:r>
              <a:rPr lang="en-US" altLang="zh-CN" sz="2400" baseline="-25000"/>
              <a:t>i​ ​​</a:t>
            </a:r>
            <a:r>
              <a:rPr lang="en-US" altLang="zh-CN" sz="2400"/>
              <a:t> (4</a:t>
            </a:r>
            <a:r>
              <a:rPr lang="en-US" altLang="en-US" sz="2400"/>
              <a:t>×</a:t>
            </a:r>
            <a:r>
              <a:rPr lang="en-US" altLang="zh-CN" sz="2400"/>
              <a:t>1 matrix, e.g., [56,231,24,2] ), followed by adding a ​​bias vector b​​ (e.g., [1.1,3.2,−1.2,0] ).</a:t>
            </a:r>
            <a:endParaRPr lang="en-US" altLang="zh-CN" sz="2400"/>
          </a:p>
          <a:p>
            <a:pPr indent="0">
              <a:buFont typeface="Arial" panose="020B0604020202020204" pitchFamily="34" charset="0"/>
              <a:buNone/>
            </a:pPr>
            <a:r>
              <a:rPr lang="en-US" altLang="zh-CN" sz="2400"/>
              <a:t>  Equation: Output=W*x</a:t>
            </a:r>
            <a:r>
              <a:rPr lang="en-US" altLang="zh-CN" sz="2400" baseline="-25000"/>
              <a:t> i</a:t>
            </a:r>
            <a:r>
              <a:rPr lang="en-US" altLang="zh-CN" sz="2400"/>
              <a:t>+b</a:t>
            </a:r>
            <a:endParaRPr lang="en-US" altLang="zh-CN" sz="2400"/>
          </a:p>
          <a:p>
            <a:pPr indent="0">
              <a:buFont typeface="Arial" panose="020B0604020202020204" pitchFamily="34" charset="0"/>
              <a:buNone/>
            </a:pPr>
            <a:r>
              <a:rPr lang="en-US" altLang="zh-CN" sz="2400"/>
              <a:t> This step extracts meaningful features by emphasizing important patterns (guided by x</a:t>
            </a:r>
            <a:r>
              <a:rPr lang="en-US" altLang="zh-CN" sz="2400" baseline="-25000"/>
              <a:t>i</a:t>
            </a:r>
            <a:r>
              <a:rPr lang="en-US" altLang="zh-CN" sz="2400"/>
              <a:t> ) and adjusting </a:t>
            </a:r>
            <a:endParaRPr lang="en-US" altLang="zh-CN" sz="2400"/>
          </a:p>
          <a:p>
            <a:pPr indent="0">
              <a:buFont typeface="Arial" panose="020B0604020202020204" pitchFamily="34" charset="0"/>
              <a:buNone/>
            </a:pPr>
            <a:r>
              <a:rPr lang="en-US" altLang="zh-CN" sz="2400"/>
              <a:t>baselines (via b).</a:t>
            </a:r>
            <a:endParaRPr lang="en-US" altLang="zh-CN"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26960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381635"/>
          </a:xfrm>
          <a:prstGeom prst="rect">
            <a:avLst/>
          </a:prstGeom>
        </p:spPr>
        <p:txBody>
          <a:bodyPr vert="horz" wrap="square" lIns="0" tIns="12700" rIns="0" bIns="0" rtlCol="0">
            <a:spAutoFit/>
          </a:bodyPr>
          <a:lstStyle/>
          <a:p>
            <a:pPr algn="l">
              <a:lnSpc>
                <a:spcPct val="100000"/>
              </a:lnSpc>
              <a:spcBef>
                <a:spcPts val="100"/>
              </a:spcBef>
              <a:buClrTx/>
              <a:buSzTx/>
              <a:buFontTx/>
            </a:pPr>
            <a:r>
              <a:rPr lang="en-US" altLang="zh-CN">
                <a:latin typeface="+mn-lt"/>
                <a:ea typeface="+mn-ea"/>
                <a:cs typeface="+mn-cs"/>
              </a:rPr>
              <a:t>We've learned how neurons are calculated, so let's take a simple example</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A simple example</a:t>
            </a:r>
            <a:endParaRPr lang="en-US" altLang="zh-CN"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pic>
        <p:nvPicPr>
          <p:cNvPr id="5" name="object 7"/>
          <p:cNvPicPr/>
          <p:nvPr/>
        </p:nvPicPr>
        <p:blipFill>
          <a:blip r:embed="rId1" cstate="print"/>
          <a:stretch>
            <a:fillRect/>
          </a:stretch>
        </p:blipFill>
        <p:spPr>
          <a:xfrm>
            <a:off x="4240530" y="3429000"/>
            <a:ext cx="7856855" cy="3037840"/>
          </a:xfrm>
          <a:prstGeom prst="rect">
            <a:avLst/>
          </a:prstGeom>
        </p:spPr>
      </p:pic>
      <p:sp>
        <p:nvSpPr>
          <p:cNvPr id="10" name="文本框 9"/>
          <p:cNvSpPr txBox="1"/>
          <p:nvPr/>
        </p:nvSpPr>
        <p:spPr>
          <a:xfrm>
            <a:off x="721360" y="1767205"/>
            <a:ext cx="10059035" cy="3766185"/>
          </a:xfrm>
          <a:prstGeom prst="rect">
            <a:avLst/>
          </a:prstGeom>
          <a:noFill/>
        </p:spPr>
        <p:txBody>
          <a:bodyPr wrap="square" rtlCol="0">
            <a:noAutofit/>
          </a:bodyPr>
          <a:p>
            <a:pPr indent="0">
              <a:buFont typeface="Arial" panose="020B0604020202020204" pitchFamily="34" charset="0"/>
              <a:buNone/>
            </a:pPr>
            <a:r>
              <a:rPr lang="en-US" altLang="zh-CN" sz="2400"/>
              <a:t>4. ​​​​Activation &amp; Class Scores​​:The transformed values pass through a function f(x </a:t>
            </a:r>
            <a:endParaRPr lang="en-US" altLang="zh-CN" sz="2400"/>
          </a:p>
          <a:p>
            <a:pPr indent="0">
              <a:buFont typeface="Arial" panose="020B0604020202020204" pitchFamily="34" charset="0"/>
              <a:buNone/>
            </a:pPr>
            <a:r>
              <a:rPr lang="en-US" altLang="zh-CN" sz="2400"/>
              <a:t> ;W,b) (e.g., ReLU or linear activation) to generate ​​class scores​​:</a:t>
            </a:r>
            <a:endParaRPr lang="en-US" altLang="zh-CN" sz="2400"/>
          </a:p>
          <a:p>
            <a:pPr marL="342900" indent="-342900">
              <a:buFont typeface="Arial" panose="020B0604020202020204" pitchFamily="34" charset="0"/>
              <a:buChar char="•"/>
            </a:pPr>
            <a:r>
              <a:rPr lang="en-US" altLang="zh-CN" sz="2400"/>
              <a:t>​​Cat: -96.8​​</a:t>
            </a:r>
            <a:endParaRPr lang="en-US" altLang="zh-CN" sz="2400"/>
          </a:p>
          <a:p>
            <a:pPr marL="342900" indent="-342900">
              <a:buFont typeface="Arial" panose="020B0604020202020204" pitchFamily="34" charset="0"/>
              <a:buChar char="•"/>
            </a:pPr>
            <a:r>
              <a:rPr lang="en-US" altLang="zh-CN" sz="2400"/>
              <a:t>​​Dog: 437.9​​</a:t>
            </a:r>
            <a:endParaRPr lang="en-US" altLang="zh-CN" sz="2400"/>
          </a:p>
          <a:p>
            <a:pPr marL="342900" indent="-342900">
              <a:buFont typeface="Arial" panose="020B0604020202020204" pitchFamily="34" charset="0"/>
              <a:buChar char="•"/>
            </a:pPr>
            <a:r>
              <a:rPr lang="en-US" altLang="zh-CN" sz="2400"/>
              <a:t>​​Ship: 61.95​</a:t>
            </a:r>
            <a:endParaRPr lang="en-US" altLang="zh-CN" sz="2400"/>
          </a:p>
          <a:p>
            <a:pPr indent="0">
              <a:buFont typeface="Arial" panose="020B0604020202020204" pitchFamily="34" charset="0"/>
              <a:buNone/>
            </a:pPr>
            <a:r>
              <a:rPr lang="en-US" altLang="zh-CN" sz="2400"/>
              <a:t>Scores represent the </a:t>
            </a:r>
            <a:endParaRPr lang="en-US" altLang="zh-CN" sz="2400"/>
          </a:p>
          <a:p>
            <a:pPr indent="0">
              <a:buFont typeface="Arial" panose="020B0604020202020204" pitchFamily="34" charset="0"/>
              <a:buNone/>
            </a:pPr>
            <a:r>
              <a:rPr lang="en-US" altLang="zh-CN" sz="2400"/>
              <a:t>model’s confidence for each</a:t>
            </a:r>
            <a:endParaRPr lang="en-US" altLang="zh-CN" sz="2400"/>
          </a:p>
          <a:p>
            <a:pPr indent="0">
              <a:buFont typeface="Arial" panose="020B0604020202020204" pitchFamily="34" charset="0"/>
              <a:buNone/>
            </a:pPr>
            <a:r>
              <a:rPr lang="en-US" altLang="zh-CN" sz="2400"/>
              <a:t> class. Higher values indicate</a:t>
            </a:r>
            <a:endParaRPr lang="en-US" altLang="zh-CN" sz="2400"/>
          </a:p>
          <a:p>
            <a:pPr indent="0">
              <a:buFont typeface="Arial" panose="020B0604020202020204" pitchFamily="34" charset="0"/>
              <a:buNone/>
            </a:pPr>
            <a:r>
              <a:rPr lang="en-US" altLang="zh-CN" sz="2400"/>
              <a:t>stronger predictions.</a:t>
            </a:r>
            <a:endParaRPr lang="en-US" altLang="zh-CN"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26960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151255"/>
            <a:ext cx="9639300" cy="381635"/>
          </a:xfrm>
          <a:prstGeom prst="rect">
            <a:avLst/>
          </a:prstGeom>
        </p:spPr>
        <p:txBody>
          <a:bodyPr vert="horz" wrap="square" lIns="0" tIns="12700" rIns="0" bIns="0" rtlCol="0">
            <a:spAutoFit/>
          </a:bodyPr>
          <a:lstStyle/>
          <a:p>
            <a:pPr algn="l">
              <a:lnSpc>
                <a:spcPct val="100000"/>
              </a:lnSpc>
              <a:spcBef>
                <a:spcPts val="100"/>
              </a:spcBef>
              <a:buClrTx/>
              <a:buSzTx/>
              <a:buFontTx/>
            </a:pPr>
            <a:r>
              <a:rPr lang="en-US" altLang="zh-CN">
                <a:latin typeface="+mn-lt"/>
                <a:ea typeface="+mn-ea"/>
                <a:cs typeface="+mn-cs"/>
              </a:rPr>
              <a:t>Key Insights​​:</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A simple example</a:t>
            </a:r>
            <a:endParaRPr lang="en-US" altLang="zh-CN"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721360" y="1767205"/>
            <a:ext cx="10059035" cy="3766185"/>
          </a:xfrm>
          <a:prstGeom prst="rect">
            <a:avLst/>
          </a:prstGeom>
          <a:noFill/>
        </p:spPr>
        <p:txBody>
          <a:bodyPr wrap="square" rtlCol="0">
            <a:noAutofit/>
          </a:bodyPr>
          <a:p>
            <a:pPr marL="342900" indent="-342900">
              <a:buFont typeface="Arial" panose="020B0604020202020204" pitchFamily="34" charset="0"/>
              <a:buChar char="•"/>
            </a:pPr>
            <a:r>
              <a:rPr lang="en-US" altLang="zh-CN" sz="2400"/>
              <a:t>Why the cat image got a high dog score?​​</a:t>
            </a:r>
            <a:endParaRPr lang="en-US" altLang="zh-CN" sz="2400"/>
          </a:p>
          <a:p>
            <a:pPr indent="0">
              <a:buFont typeface="Arial" panose="020B0604020202020204" pitchFamily="34" charset="0"/>
              <a:buNone/>
            </a:pPr>
            <a:r>
              <a:rPr lang="en-US" altLang="zh-CN" sz="2400"/>
              <a:t>The model’s parameters (x</a:t>
            </a:r>
            <a:r>
              <a:rPr lang="en-US" altLang="zh-CN" sz="2400" baseline="-25000"/>
              <a:t>i</a:t>
            </a:r>
            <a:r>
              <a:rPr lang="en-US" altLang="zh-CN" sz="2400"/>
              <a:t>and b) are not yet optimized. During training, these values adjust to minimize errors (e.g., ensuring cat images yield the highest cat score).</a:t>
            </a:r>
            <a:endParaRPr lang="en-US" altLang="zh-CN" sz="2400"/>
          </a:p>
          <a:p>
            <a:pPr marL="342900" indent="-342900">
              <a:buFont typeface="Arial" panose="020B0604020202020204" pitchFamily="34" charset="0"/>
              <a:buChar char="•"/>
            </a:pPr>
            <a:r>
              <a:rPr lang="en-US" altLang="zh-CN" sz="2400"/>
              <a:t>​​Purpose​​:</a:t>
            </a:r>
            <a:endParaRPr lang="en-US" altLang="zh-CN" sz="2400"/>
          </a:p>
          <a:p>
            <a:pPr indent="0">
              <a:buFont typeface="Arial" panose="020B0604020202020204" pitchFamily="34" charset="0"/>
              <a:buNone/>
            </a:pPr>
            <a:r>
              <a:rPr lang="en-US" altLang="zh-CN" sz="2400"/>
              <a:t>This ​​forward pass​​ demonstrates how raw pixels translate to class predictions. Real-world models stack multiple such layers for complex tasks.</a:t>
            </a:r>
            <a:endParaRPr lang="en-US" altLang="zh-CN"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2927350" y="1290955"/>
            <a:ext cx="9100185" cy="4469130"/>
          </a:xfrm>
          <a:prstGeom prst="rect">
            <a:avLst/>
          </a:prstGeom>
        </p:spPr>
      </p:pic>
      <p:sp>
        <p:nvSpPr>
          <p:cNvPr id="4" name="object 4"/>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5" name="object 5"/>
          <p:cNvSpPr/>
          <p:nvPr/>
        </p:nvSpPr>
        <p:spPr>
          <a:xfrm>
            <a:off x="769480" y="2389441"/>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lstStyle/>
          <a:p/>
        </p:txBody>
      </p:sp>
      <p:sp>
        <p:nvSpPr>
          <p:cNvPr id="6" name="object 6"/>
          <p:cNvSpPr/>
          <p:nvPr/>
        </p:nvSpPr>
        <p:spPr>
          <a:xfrm>
            <a:off x="754240" y="3353765"/>
            <a:ext cx="292735" cy="292735"/>
          </a:xfrm>
          <a:custGeom>
            <a:avLst/>
            <a:gdLst/>
            <a:ahLst/>
            <a:cxnLst/>
            <a:rect l="l" t="t" r="r" b="b"/>
            <a:pathLst>
              <a:path w="292734" h="292735">
                <a:moveTo>
                  <a:pt x="244195" y="0"/>
                </a:moveTo>
                <a:lnTo>
                  <a:pt x="233286" y="0"/>
                </a:lnTo>
                <a:lnTo>
                  <a:pt x="228104" y="863"/>
                </a:lnTo>
                <a:lnTo>
                  <a:pt x="39357" y="176275"/>
                </a:lnTo>
                <a:lnTo>
                  <a:pt x="37475" y="179438"/>
                </a:lnTo>
                <a:lnTo>
                  <a:pt x="37350" y="179730"/>
                </a:lnTo>
                <a:lnTo>
                  <a:pt x="584" y="280085"/>
                </a:lnTo>
                <a:lnTo>
                  <a:pt x="0" y="282676"/>
                </a:lnTo>
                <a:lnTo>
                  <a:pt x="292" y="285546"/>
                </a:lnTo>
                <a:lnTo>
                  <a:pt x="7480" y="292455"/>
                </a:lnTo>
                <a:lnTo>
                  <a:pt x="10350" y="292455"/>
                </a:lnTo>
                <a:lnTo>
                  <a:pt x="102857" y="264274"/>
                </a:lnTo>
                <a:lnTo>
                  <a:pt x="109762" y="258800"/>
                </a:lnTo>
                <a:lnTo>
                  <a:pt x="58318" y="258800"/>
                </a:lnTo>
                <a:lnTo>
                  <a:pt x="56603" y="254495"/>
                </a:lnTo>
                <a:lnTo>
                  <a:pt x="43103" y="238963"/>
                </a:lnTo>
                <a:lnTo>
                  <a:pt x="39941" y="236664"/>
                </a:lnTo>
                <a:lnTo>
                  <a:pt x="36487" y="234937"/>
                </a:lnTo>
                <a:lnTo>
                  <a:pt x="52006" y="192087"/>
                </a:lnTo>
                <a:lnTo>
                  <a:pt x="91363" y="192087"/>
                </a:lnTo>
                <a:lnTo>
                  <a:pt x="91267" y="182029"/>
                </a:lnTo>
                <a:lnTo>
                  <a:pt x="91168" y="181444"/>
                </a:lnTo>
                <a:lnTo>
                  <a:pt x="91071" y="180873"/>
                </a:lnTo>
                <a:lnTo>
                  <a:pt x="90616" y="179730"/>
                </a:lnTo>
                <a:lnTo>
                  <a:pt x="90500" y="179438"/>
                </a:lnTo>
                <a:lnTo>
                  <a:pt x="89928" y="177711"/>
                </a:lnTo>
                <a:lnTo>
                  <a:pt x="87630" y="175412"/>
                </a:lnTo>
                <a:lnTo>
                  <a:pt x="85902" y="174256"/>
                </a:lnTo>
                <a:lnTo>
                  <a:pt x="84175" y="173685"/>
                </a:lnTo>
                <a:lnTo>
                  <a:pt x="67805" y="173685"/>
                </a:lnTo>
                <a:lnTo>
                  <a:pt x="176682" y="65557"/>
                </a:lnTo>
                <a:lnTo>
                  <a:pt x="176974" y="65557"/>
                </a:lnTo>
                <a:lnTo>
                  <a:pt x="179273" y="63258"/>
                </a:lnTo>
                <a:lnTo>
                  <a:pt x="185013" y="59232"/>
                </a:lnTo>
                <a:lnTo>
                  <a:pt x="191338" y="56934"/>
                </a:lnTo>
                <a:lnTo>
                  <a:pt x="194780" y="55778"/>
                </a:lnTo>
                <a:lnTo>
                  <a:pt x="201968" y="55206"/>
                </a:lnTo>
                <a:lnTo>
                  <a:pt x="241994" y="55206"/>
                </a:lnTo>
                <a:lnTo>
                  <a:pt x="239890" y="52908"/>
                </a:lnTo>
                <a:lnTo>
                  <a:pt x="205130" y="37096"/>
                </a:lnTo>
                <a:lnTo>
                  <a:pt x="213461" y="28752"/>
                </a:lnTo>
                <a:lnTo>
                  <a:pt x="235000" y="18402"/>
                </a:lnTo>
                <a:lnTo>
                  <a:pt x="279053" y="18402"/>
                </a:lnTo>
                <a:lnTo>
                  <a:pt x="276656" y="15811"/>
                </a:lnTo>
                <a:lnTo>
                  <a:pt x="249364" y="863"/>
                </a:lnTo>
                <a:lnTo>
                  <a:pt x="244195" y="0"/>
                </a:lnTo>
                <a:close/>
              </a:path>
              <a:path w="292734" h="292735">
                <a:moveTo>
                  <a:pt x="91363" y="192087"/>
                </a:moveTo>
                <a:lnTo>
                  <a:pt x="72974" y="192087"/>
                </a:lnTo>
                <a:lnTo>
                  <a:pt x="72974" y="210210"/>
                </a:lnTo>
                <a:lnTo>
                  <a:pt x="73266" y="211937"/>
                </a:lnTo>
                <a:lnTo>
                  <a:pt x="73837" y="213944"/>
                </a:lnTo>
                <a:lnTo>
                  <a:pt x="74980" y="215379"/>
                </a:lnTo>
                <a:lnTo>
                  <a:pt x="75844" y="216534"/>
                </a:lnTo>
                <a:lnTo>
                  <a:pt x="77279" y="217970"/>
                </a:lnTo>
                <a:lnTo>
                  <a:pt x="78727" y="218833"/>
                </a:lnTo>
                <a:lnTo>
                  <a:pt x="82169" y="219405"/>
                </a:lnTo>
                <a:lnTo>
                  <a:pt x="98259" y="219405"/>
                </a:lnTo>
                <a:lnTo>
                  <a:pt x="92506" y="248450"/>
                </a:lnTo>
                <a:lnTo>
                  <a:pt x="58318" y="258800"/>
                </a:lnTo>
                <a:lnTo>
                  <a:pt x="109762" y="258800"/>
                </a:lnTo>
                <a:lnTo>
                  <a:pt x="141352" y="227177"/>
                </a:lnTo>
                <a:lnTo>
                  <a:pt x="115493" y="227177"/>
                </a:lnTo>
                <a:lnTo>
                  <a:pt x="118656" y="212216"/>
                </a:lnTo>
                <a:lnTo>
                  <a:pt x="118935" y="210210"/>
                </a:lnTo>
                <a:lnTo>
                  <a:pt x="118656" y="207911"/>
                </a:lnTo>
                <a:lnTo>
                  <a:pt x="118084" y="206184"/>
                </a:lnTo>
                <a:lnTo>
                  <a:pt x="116636" y="204749"/>
                </a:lnTo>
                <a:lnTo>
                  <a:pt x="115201" y="203022"/>
                </a:lnTo>
                <a:lnTo>
                  <a:pt x="113766" y="202158"/>
                </a:lnTo>
                <a:lnTo>
                  <a:pt x="111760" y="201294"/>
                </a:lnTo>
                <a:lnTo>
                  <a:pt x="91363" y="201294"/>
                </a:lnTo>
                <a:lnTo>
                  <a:pt x="91363" y="192087"/>
                </a:lnTo>
                <a:close/>
              </a:path>
              <a:path w="292734" h="292735">
                <a:moveTo>
                  <a:pt x="241994" y="55206"/>
                </a:moveTo>
                <a:lnTo>
                  <a:pt x="201968" y="55206"/>
                </a:lnTo>
                <a:lnTo>
                  <a:pt x="205130" y="55499"/>
                </a:lnTo>
                <a:lnTo>
                  <a:pt x="208572" y="55778"/>
                </a:lnTo>
                <a:lnTo>
                  <a:pt x="215468" y="58089"/>
                </a:lnTo>
                <a:lnTo>
                  <a:pt x="218630" y="59232"/>
                </a:lnTo>
                <a:lnTo>
                  <a:pt x="221208" y="61252"/>
                </a:lnTo>
                <a:lnTo>
                  <a:pt x="224091" y="63258"/>
                </a:lnTo>
                <a:lnTo>
                  <a:pt x="226669" y="65849"/>
                </a:lnTo>
                <a:lnTo>
                  <a:pt x="229260" y="68148"/>
                </a:lnTo>
                <a:lnTo>
                  <a:pt x="230987" y="71031"/>
                </a:lnTo>
                <a:lnTo>
                  <a:pt x="232994" y="74193"/>
                </a:lnTo>
                <a:lnTo>
                  <a:pt x="234429" y="77355"/>
                </a:lnTo>
                <a:lnTo>
                  <a:pt x="235864" y="80225"/>
                </a:lnTo>
                <a:lnTo>
                  <a:pt x="236387" y="83388"/>
                </a:lnTo>
                <a:lnTo>
                  <a:pt x="237020" y="87414"/>
                </a:lnTo>
                <a:lnTo>
                  <a:pt x="237299" y="90868"/>
                </a:lnTo>
                <a:lnTo>
                  <a:pt x="237020" y="94322"/>
                </a:lnTo>
                <a:lnTo>
                  <a:pt x="230987" y="110426"/>
                </a:lnTo>
                <a:lnTo>
                  <a:pt x="229260" y="113296"/>
                </a:lnTo>
                <a:lnTo>
                  <a:pt x="115493" y="227177"/>
                </a:lnTo>
                <a:lnTo>
                  <a:pt x="141352" y="227177"/>
                </a:lnTo>
                <a:lnTo>
                  <a:pt x="276656" y="91732"/>
                </a:lnTo>
                <a:lnTo>
                  <a:pt x="280344" y="87414"/>
                </a:lnTo>
                <a:lnTo>
                  <a:pt x="255117" y="87414"/>
                </a:lnTo>
                <a:lnTo>
                  <a:pt x="255031" y="85978"/>
                </a:lnTo>
                <a:lnTo>
                  <a:pt x="252883" y="74472"/>
                </a:lnTo>
                <a:lnTo>
                  <a:pt x="252796" y="74193"/>
                </a:lnTo>
                <a:lnTo>
                  <a:pt x="252705" y="73901"/>
                </a:lnTo>
                <a:lnTo>
                  <a:pt x="252614" y="73609"/>
                </a:lnTo>
                <a:lnTo>
                  <a:pt x="252526" y="73329"/>
                </a:lnTo>
                <a:lnTo>
                  <a:pt x="250520" y="68440"/>
                </a:lnTo>
                <a:lnTo>
                  <a:pt x="248500" y="64122"/>
                </a:lnTo>
                <a:lnTo>
                  <a:pt x="245922" y="60096"/>
                </a:lnTo>
                <a:lnTo>
                  <a:pt x="243052" y="56362"/>
                </a:lnTo>
                <a:lnTo>
                  <a:pt x="241994" y="55206"/>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44"/>
                </a:lnTo>
                <a:lnTo>
                  <a:pt x="117221" y="182600"/>
                </a:lnTo>
                <a:lnTo>
                  <a:pt x="120383" y="182600"/>
                </a:lnTo>
                <a:lnTo>
                  <a:pt x="217767" y="87414"/>
                </a:lnTo>
                <a:lnTo>
                  <a:pt x="219202" y="83972"/>
                </a:lnTo>
                <a:lnTo>
                  <a:pt x="219446" y="82524"/>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53" y="18402"/>
                </a:moveTo>
                <a:lnTo>
                  <a:pt x="242189" y="18402"/>
                </a:lnTo>
                <a:lnTo>
                  <a:pt x="245630" y="18973"/>
                </a:lnTo>
                <a:lnTo>
                  <a:pt x="249085" y="19837"/>
                </a:lnTo>
                <a:lnTo>
                  <a:pt x="273166" y="46291"/>
                </a:lnTo>
                <a:lnTo>
                  <a:pt x="273215" y="46583"/>
                </a:lnTo>
                <a:lnTo>
                  <a:pt x="274078" y="50037"/>
                </a:lnTo>
                <a:lnTo>
                  <a:pt x="274078" y="57226"/>
                </a:lnTo>
                <a:lnTo>
                  <a:pt x="273215" y="60667"/>
                </a:lnTo>
                <a:lnTo>
                  <a:pt x="272748" y="63258"/>
                </a:lnTo>
                <a:lnTo>
                  <a:pt x="255117" y="87414"/>
                </a:lnTo>
                <a:lnTo>
                  <a:pt x="280344" y="87414"/>
                </a:lnTo>
                <a:lnTo>
                  <a:pt x="283552" y="83388"/>
                </a:lnTo>
                <a:lnTo>
                  <a:pt x="285851" y="79082"/>
                </a:lnTo>
                <a:lnTo>
                  <a:pt x="288442" y="74472"/>
                </a:lnTo>
                <a:lnTo>
                  <a:pt x="289877" y="69583"/>
                </a:lnTo>
                <a:lnTo>
                  <a:pt x="291604" y="64122"/>
                </a:lnTo>
                <a:lnTo>
                  <a:pt x="291922" y="61252"/>
                </a:lnTo>
                <a:lnTo>
                  <a:pt x="292409" y="52908"/>
                </a:lnTo>
                <a:lnTo>
                  <a:pt x="292254" y="50037"/>
                </a:lnTo>
                <a:lnTo>
                  <a:pt x="292176" y="48590"/>
                </a:lnTo>
                <a:lnTo>
                  <a:pt x="291695" y="43992"/>
                </a:lnTo>
                <a:lnTo>
                  <a:pt x="291604" y="43129"/>
                </a:lnTo>
                <a:lnTo>
                  <a:pt x="289877" y="37960"/>
                </a:lnTo>
                <a:lnTo>
                  <a:pt x="288442" y="33070"/>
                </a:lnTo>
                <a:lnTo>
                  <a:pt x="285851" y="28460"/>
                </a:lnTo>
                <a:lnTo>
                  <a:pt x="283552" y="23863"/>
                </a:lnTo>
                <a:lnTo>
                  <a:pt x="280111" y="19545"/>
                </a:lnTo>
                <a:lnTo>
                  <a:pt x="279053" y="18402"/>
                </a:lnTo>
                <a:close/>
              </a:path>
              <a:path w="292734" h="292735">
                <a:moveTo>
                  <a:pt x="176974" y="65557"/>
                </a:moveTo>
                <a:lnTo>
                  <a:pt x="176682" y="65557"/>
                </a:lnTo>
                <a:lnTo>
                  <a:pt x="176682" y="65849"/>
                </a:lnTo>
                <a:lnTo>
                  <a:pt x="176974" y="65557"/>
                </a:lnTo>
                <a:close/>
              </a:path>
            </a:pathLst>
          </a:custGeom>
          <a:solidFill>
            <a:srgbClr val="C00000"/>
          </a:solidFill>
        </p:spPr>
        <p:txBody>
          <a:bodyPr wrap="square" lIns="0" tIns="0" rIns="0" bIns="0" rtlCol="0"/>
          <a:lstStyle/>
          <a:p/>
        </p:txBody>
      </p:sp>
      <p:sp>
        <p:nvSpPr>
          <p:cNvPr id="7" name="object 7"/>
          <p:cNvSpPr/>
          <p:nvPr/>
        </p:nvSpPr>
        <p:spPr>
          <a:xfrm>
            <a:off x="754240" y="4357204"/>
            <a:ext cx="292735" cy="292735"/>
          </a:xfrm>
          <a:custGeom>
            <a:avLst/>
            <a:gdLst/>
            <a:ahLst/>
            <a:cxnLst/>
            <a:rect l="l" t="t" r="r" b="b"/>
            <a:pathLst>
              <a:path w="292734" h="292735">
                <a:moveTo>
                  <a:pt x="244195" y="0"/>
                </a:moveTo>
                <a:lnTo>
                  <a:pt x="233286" y="0"/>
                </a:lnTo>
                <a:lnTo>
                  <a:pt x="228104" y="863"/>
                </a:lnTo>
                <a:lnTo>
                  <a:pt x="39357" y="176276"/>
                </a:lnTo>
                <a:lnTo>
                  <a:pt x="37475" y="179438"/>
                </a:lnTo>
                <a:lnTo>
                  <a:pt x="37350" y="179730"/>
                </a:lnTo>
                <a:lnTo>
                  <a:pt x="584" y="280085"/>
                </a:lnTo>
                <a:lnTo>
                  <a:pt x="0" y="282676"/>
                </a:lnTo>
                <a:lnTo>
                  <a:pt x="292" y="285559"/>
                </a:lnTo>
                <a:lnTo>
                  <a:pt x="7480" y="292455"/>
                </a:lnTo>
                <a:lnTo>
                  <a:pt x="10350" y="292455"/>
                </a:lnTo>
                <a:lnTo>
                  <a:pt x="102857" y="264274"/>
                </a:lnTo>
                <a:lnTo>
                  <a:pt x="109750" y="258813"/>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11"/>
                </a:lnTo>
                <a:lnTo>
                  <a:pt x="87630" y="175412"/>
                </a:lnTo>
                <a:lnTo>
                  <a:pt x="85902" y="174269"/>
                </a:lnTo>
                <a:lnTo>
                  <a:pt x="84175" y="173685"/>
                </a:lnTo>
                <a:lnTo>
                  <a:pt x="67805" y="173685"/>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2"/>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48"/>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9"/>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1985" y="60680"/>
                </a:lnTo>
                <a:lnTo>
                  <a:pt x="292050" y="60096"/>
                </a:lnTo>
                <a:lnTo>
                  <a:pt x="292176" y="58953"/>
                </a:lnTo>
                <a:lnTo>
                  <a:pt x="292285" y="56934"/>
                </a:lnTo>
                <a:lnTo>
                  <a:pt x="292408" y="52908"/>
                </a:lnTo>
                <a:lnTo>
                  <a:pt x="292253" y="50037"/>
                </a:lnTo>
                <a:lnTo>
                  <a:pt x="292176" y="48602"/>
                </a:lnTo>
                <a:lnTo>
                  <a:pt x="291693" y="43992"/>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lstStyle/>
          <a:p/>
        </p:txBody>
      </p:sp>
      <p:sp>
        <p:nvSpPr>
          <p:cNvPr id="8" name="object 8"/>
          <p:cNvSpPr/>
          <p:nvPr/>
        </p:nvSpPr>
        <p:spPr>
          <a:xfrm>
            <a:off x="769569" y="5360835"/>
            <a:ext cx="292735" cy="292735"/>
          </a:xfrm>
          <a:custGeom>
            <a:avLst/>
            <a:gdLst/>
            <a:ahLst/>
            <a:cxnLst/>
            <a:rect l="l" t="t" r="r" b="b"/>
            <a:pathLst>
              <a:path w="292734" h="292735">
                <a:moveTo>
                  <a:pt x="244182" y="0"/>
                </a:moveTo>
                <a:lnTo>
                  <a:pt x="233273" y="0"/>
                </a:lnTo>
                <a:lnTo>
                  <a:pt x="228104" y="863"/>
                </a:lnTo>
                <a:lnTo>
                  <a:pt x="39357" y="176275"/>
                </a:lnTo>
                <a:lnTo>
                  <a:pt x="571" y="280086"/>
                </a:lnTo>
                <a:lnTo>
                  <a:pt x="0" y="282676"/>
                </a:lnTo>
                <a:lnTo>
                  <a:pt x="279" y="285559"/>
                </a:lnTo>
                <a:lnTo>
                  <a:pt x="7467" y="292455"/>
                </a:lnTo>
                <a:lnTo>
                  <a:pt x="10337" y="292455"/>
                </a:lnTo>
                <a:lnTo>
                  <a:pt x="102844" y="264274"/>
                </a:lnTo>
                <a:lnTo>
                  <a:pt x="58318" y="258813"/>
                </a:lnTo>
                <a:lnTo>
                  <a:pt x="56591" y="254495"/>
                </a:lnTo>
                <a:lnTo>
                  <a:pt x="43091" y="238963"/>
                </a:lnTo>
                <a:lnTo>
                  <a:pt x="39928" y="236664"/>
                </a:lnTo>
                <a:lnTo>
                  <a:pt x="36487" y="234937"/>
                </a:lnTo>
                <a:lnTo>
                  <a:pt x="51993" y="192100"/>
                </a:lnTo>
                <a:lnTo>
                  <a:pt x="91351" y="192100"/>
                </a:lnTo>
                <a:lnTo>
                  <a:pt x="91258" y="182029"/>
                </a:lnTo>
                <a:lnTo>
                  <a:pt x="91166" y="181457"/>
                </a:lnTo>
                <a:lnTo>
                  <a:pt x="91071" y="180873"/>
                </a:lnTo>
                <a:lnTo>
                  <a:pt x="90606" y="179730"/>
                </a:lnTo>
                <a:lnTo>
                  <a:pt x="90487" y="179438"/>
                </a:lnTo>
                <a:lnTo>
                  <a:pt x="89915" y="177711"/>
                </a:lnTo>
                <a:lnTo>
                  <a:pt x="87617" y="175412"/>
                </a:lnTo>
                <a:lnTo>
                  <a:pt x="85890" y="174269"/>
                </a:lnTo>
                <a:lnTo>
                  <a:pt x="84175" y="173685"/>
                </a:lnTo>
                <a:lnTo>
                  <a:pt x="67792" y="173685"/>
                </a:lnTo>
                <a:lnTo>
                  <a:pt x="176682" y="65570"/>
                </a:lnTo>
                <a:lnTo>
                  <a:pt x="176960" y="65570"/>
                </a:lnTo>
                <a:lnTo>
                  <a:pt x="179260" y="63258"/>
                </a:lnTo>
                <a:lnTo>
                  <a:pt x="185013" y="59232"/>
                </a:lnTo>
                <a:lnTo>
                  <a:pt x="191325" y="56934"/>
                </a:lnTo>
                <a:lnTo>
                  <a:pt x="194780" y="55791"/>
                </a:lnTo>
                <a:lnTo>
                  <a:pt x="201955" y="55206"/>
                </a:lnTo>
                <a:lnTo>
                  <a:pt x="241981" y="55206"/>
                </a:lnTo>
                <a:lnTo>
                  <a:pt x="239877" y="52908"/>
                </a:lnTo>
                <a:lnTo>
                  <a:pt x="205117" y="37096"/>
                </a:lnTo>
                <a:lnTo>
                  <a:pt x="213448" y="28752"/>
                </a:lnTo>
                <a:lnTo>
                  <a:pt x="235000" y="18402"/>
                </a:lnTo>
                <a:lnTo>
                  <a:pt x="279036" y="18402"/>
                </a:lnTo>
                <a:lnTo>
                  <a:pt x="276656" y="15811"/>
                </a:lnTo>
                <a:lnTo>
                  <a:pt x="249364" y="863"/>
                </a:lnTo>
                <a:lnTo>
                  <a:pt x="244182" y="0"/>
                </a:lnTo>
                <a:close/>
              </a:path>
              <a:path w="292734" h="292735">
                <a:moveTo>
                  <a:pt x="91351" y="192100"/>
                </a:moveTo>
                <a:lnTo>
                  <a:pt x="72974" y="192100"/>
                </a:lnTo>
                <a:lnTo>
                  <a:pt x="72974" y="210210"/>
                </a:lnTo>
                <a:lnTo>
                  <a:pt x="73253" y="211937"/>
                </a:lnTo>
                <a:lnTo>
                  <a:pt x="73825" y="213944"/>
                </a:lnTo>
                <a:lnTo>
                  <a:pt x="74980" y="215391"/>
                </a:lnTo>
                <a:lnTo>
                  <a:pt x="75844" y="216534"/>
                </a:lnTo>
                <a:lnTo>
                  <a:pt x="77279" y="217970"/>
                </a:lnTo>
                <a:lnTo>
                  <a:pt x="78714" y="218833"/>
                </a:lnTo>
                <a:lnTo>
                  <a:pt x="82156" y="219417"/>
                </a:lnTo>
                <a:lnTo>
                  <a:pt x="98247" y="219417"/>
                </a:lnTo>
                <a:lnTo>
                  <a:pt x="92506" y="248462"/>
                </a:lnTo>
                <a:lnTo>
                  <a:pt x="58318" y="258813"/>
                </a:lnTo>
                <a:lnTo>
                  <a:pt x="109737" y="258813"/>
                </a:lnTo>
                <a:lnTo>
                  <a:pt x="141342" y="227177"/>
                </a:lnTo>
                <a:lnTo>
                  <a:pt x="115481" y="227177"/>
                </a:lnTo>
                <a:lnTo>
                  <a:pt x="118643" y="212229"/>
                </a:lnTo>
                <a:lnTo>
                  <a:pt x="118935" y="210210"/>
                </a:lnTo>
                <a:lnTo>
                  <a:pt x="118643" y="207911"/>
                </a:lnTo>
                <a:lnTo>
                  <a:pt x="118071" y="206184"/>
                </a:lnTo>
                <a:lnTo>
                  <a:pt x="116636" y="204749"/>
                </a:lnTo>
                <a:lnTo>
                  <a:pt x="115201" y="203022"/>
                </a:lnTo>
                <a:lnTo>
                  <a:pt x="113766" y="202158"/>
                </a:lnTo>
                <a:lnTo>
                  <a:pt x="111747" y="201294"/>
                </a:lnTo>
                <a:lnTo>
                  <a:pt x="91351" y="201294"/>
                </a:lnTo>
                <a:lnTo>
                  <a:pt x="91351" y="192100"/>
                </a:lnTo>
                <a:close/>
              </a:path>
              <a:path w="292734" h="292735">
                <a:moveTo>
                  <a:pt x="241981" y="55206"/>
                </a:moveTo>
                <a:lnTo>
                  <a:pt x="201955" y="55206"/>
                </a:lnTo>
                <a:lnTo>
                  <a:pt x="208572" y="55791"/>
                </a:lnTo>
                <a:lnTo>
                  <a:pt x="215455" y="58089"/>
                </a:lnTo>
                <a:lnTo>
                  <a:pt x="218617" y="59232"/>
                </a:lnTo>
                <a:lnTo>
                  <a:pt x="221208" y="61252"/>
                </a:lnTo>
                <a:lnTo>
                  <a:pt x="224078" y="63258"/>
                </a:lnTo>
                <a:lnTo>
                  <a:pt x="226669" y="65849"/>
                </a:lnTo>
                <a:lnTo>
                  <a:pt x="229247" y="68148"/>
                </a:lnTo>
                <a:lnTo>
                  <a:pt x="230974" y="71031"/>
                </a:lnTo>
                <a:lnTo>
                  <a:pt x="232981" y="74193"/>
                </a:lnTo>
                <a:lnTo>
                  <a:pt x="234416" y="77355"/>
                </a:lnTo>
                <a:lnTo>
                  <a:pt x="235851" y="80225"/>
                </a:lnTo>
                <a:lnTo>
                  <a:pt x="236386" y="83388"/>
                </a:lnTo>
                <a:lnTo>
                  <a:pt x="237007" y="87414"/>
                </a:lnTo>
                <a:lnTo>
                  <a:pt x="237299" y="90868"/>
                </a:lnTo>
                <a:lnTo>
                  <a:pt x="237007" y="94322"/>
                </a:lnTo>
                <a:lnTo>
                  <a:pt x="230974" y="110426"/>
                </a:lnTo>
                <a:lnTo>
                  <a:pt x="229247" y="113296"/>
                </a:lnTo>
                <a:lnTo>
                  <a:pt x="115481" y="227177"/>
                </a:lnTo>
                <a:lnTo>
                  <a:pt x="141342" y="227177"/>
                </a:lnTo>
                <a:lnTo>
                  <a:pt x="276656" y="91732"/>
                </a:lnTo>
                <a:lnTo>
                  <a:pt x="280332" y="87414"/>
                </a:lnTo>
                <a:lnTo>
                  <a:pt x="255104" y="87414"/>
                </a:lnTo>
                <a:lnTo>
                  <a:pt x="255018" y="85978"/>
                </a:lnTo>
                <a:lnTo>
                  <a:pt x="254898" y="83972"/>
                </a:lnTo>
                <a:lnTo>
                  <a:pt x="254812" y="82537"/>
                </a:lnTo>
                <a:lnTo>
                  <a:pt x="253961" y="77927"/>
                </a:lnTo>
                <a:lnTo>
                  <a:pt x="252966" y="74764"/>
                </a:lnTo>
                <a:lnTo>
                  <a:pt x="252878" y="74485"/>
                </a:lnTo>
                <a:lnTo>
                  <a:pt x="252786" y="74193"/>
                </a:lnTo>
                <a:lnTo>
                  <a:pt x="252694" y="73901"/>
                </a:lnTo>
                <a:lnTo>
                  <a:pt x="252606" y="73621"/>
                </a:lnTo>
                <a:lnTo>
                  <a:pt x="252514" y="73329"/>
                </a:lnTo>
                <a:lnTo>
                  <a:pt x="250507" y="68440"/>
                </a:lnTo>
                <a:lnTo>
                  <a:pt x="248500" y="64122"/>
                </a:lnTo>
                <a:lnTo>
                  <a:pt x="245910" y="60096"/>
                </a:lnTo>
                <a:lnTo>
                  <a:pt x="243039" y="56362"/>
                </a:lnTo>
                <a:lnTo>
                  <a:pt x="241981" y="55206"/>
                </a:lnTo>
                <a:close/>
              </a:path>
              <a:path w="292734" h="292735">
                <a:moveTo>
                  <a:pt x="212013" y="73329"/>
                </a:moveTo>
                <a:lnTo>
                  <a:pt x="208280" y="73329"/>
                </a:lnTo>
                <a:lnTo>
                  <a:pt x="206845" y="73901"/>
                </a:lnTo>
                <a:lnTo>
                  <a:pt x="112331" y="167360"/>
                </a:lnTo>
                <a:lnTo>
                  <a:pt x="109740" y="173685"/>
                </a:lnTo>
                <a:lnTo>
                  <a:pt x="110312" y="177139"/>
                </a:lnTo>
                <a:lnTo>
                  <a:pt x="111175" y="178574"/>
                </a:lnTo>
                <a:lnTo>
                  <a:pt x="112331" y="180301"/>
                </a:lnTo>
                <a:lnTo>
                  <a:pt x="113766" y="181457"/>
                </a:lnTo>
                <a:lnTo>
                  <a:pt x="117208" y="182600"/>
                </a:lnTo>
                <a:lnTo>
                  <a:pt x="120370" y="182600"/>
                </a:lnTo>
                <a:lnTo>
                  <a:pt x="217754" y="87414"/>
                </a:lnTo>
                <a:lnTo>
                  <a:pt x="219189" y="83972"/>
                </a:lnTo>
                <a:lnTo>
                  <a:pt x="219432" y="82537"/>
                </a:lnTo>
                <a:lnTo>
                  <a:pt x="219481" y="82245"/>
                </a:lnTo>
                <a:lnTo>
                  <a:pt x="218958" y="79082"/>
                </a:lnTo>
                <a:lnTo>
                  <a:pt x="218909" y="78790"/>
                </a:lnTo>
                <a:lnTo>
                  <a:pt x="217754" y="77355"/>
                </a:lnTo>
                <a:lnTo>
                  <a:pt x="216611" y="75628"/>
                </a:lnTo>
                <a:lnTo>
                  <a:pt x="215176" y="74764"/>
                </a:lnTo>
                <a:lnTo>
                  <a:pt x="213448" y="73901"/>
                </a:lnTo>
                <a:lnTo>
                  <a:pt x="212013" y="73329"/>
                </a:lnTo>
                <a:close/>
              </a:path>
              <a:path w="292734" h="292735">
                <a:moveTo>
                  <a:pt x="279036" y="18402"/>
                </a:moveTo>
                <a:lnTo>
                  <a:pt x="242176" y="18402"/>
                </a:lnTo>
                <a:lnTo>
                  <a:pt x="245630" y="18973"/>
                </a:lnTo>
                <a:lnTo>
                  <a:pt x="249072" y="19837"/>
                </a:lnTo>
                <a:lnTo>
                  <a:pt x="273202" y="46583"/>
                </a:lnTo>
                <a:lnTo>
                  <a:pt x="274066" y="50037"/>
                </a:lnTo>
                <a:lnTo>
                  <a:pt x="274066" y="57226"/>
                </a:lnTo>
                <a:lnTo>
                  <a:pt x="273202" y="60680"/>
                </a:lnTo>
                <a:lnTo>
                  <a:pt x="272736" y="63258"/>
                </a:lnTo>
                <a:lnTo>
                  <a:pt x="255104" y="87414"/>
                </a:lnTo>
                <a:lnTo>
                  <a:pt x="280332" y="87414"/>
                </a:lnTo>
                <a:lnTo>
                  <a:pt x="283552" y="83388"/>
                </a:lnTo>
                <a:lnTo>
                  <a:pt x="285851" y="79082"/>
                </a:lnTo>
                <a:lnTo>
                  <a:pt x="288429" y="74485"/>
                </a:lnTo>
                <a:lnTo>
                  <a:pt x="289864" y="69595"/>
                </a:lnTo>
                <a:lnTo>
                  <a:pt x="291591" y="64122"/>
                </a:lnTo>
                <a:lnTo>
                  <a:pt x="291909" y="61252"/>
                </a:lnTo>
                <a:lnTo>
                  <a:pt x="291972" y="60680"/>
                </a:lnTo>
                <a:lnTo>
                  <a:pt x="292037" y="60096"/>
                </a:lnTo>
                <a:lnTo>
                  <a:pt x="292163" y="58953"/>
                </a:lnTo>
                <a:lnTo>
                  <a:pt x="292277" y="56934"/>
                </a:lnTo>
                <a:lnTo>
                  <a:pt x="292374" y="55206"/>
                </a:lnTo>
                <a:lnTo>
                  <a:pt x="292406" y="52908"/>
                </a:lnTo>
                <a:lnTo>
                  <a:pt x="289864" y="37960"/>
                </a:lnTo>
                <a:lnTo>
                  <a:pt x="288429" y="33070"/>
                </a:lnTo>
                <a:lnTo>
                  <a:pt x="285851" y="28473"/>
                </a:lnTo>
                <a:lnTo>
                  <a:pt x="283552" y="23863"/>
                </a:lnTo>
                <a:lnTo>
                  <a:pt x="280098" y="19557"/>
                </a:lnTo>
                <a:lnTo>
                  <a:pt x="279036" y="18402"/>
                </a:lnTo>
                <a:close/>
              </a:path>
              <a:path w="292734" h="292735">
                <a:moveTo>
                  <a:pt x="176960" y="65570"/>
                </a:moveTo>
                <a:lnTo>
                  <a:pt x="176682" y="65570"/>
                </a:lnTo>
                <a:lnTo>
                  <a:pt x="176682" y="65849"/>
                </a:lnTo>
                <a:lnTo>
                  <a:pt x="176960" y="65570"/>
                </a:lnTo>
                <a:close/>
              </a:path>
            </a:pathLst>
          </a:custGeom>
          <a:solidFill>
            <a:srgbClr val="C00000"/>
          </a:solidFill>
        </p:spPr>
        <p:txBody>
          <a:bodyPr wrap="square" lIns="0" tIns="0" rIns="0" bIns="0" rtlCol="0"/>
          <a:lstStyle/>
          <a:p/>
        </p:txBody>
      </p:sp>
      <p:sp>
        <p:nvSpPr>
          <p:cNvPr id="10" name="文本框 9"/>
          <p:cNvSpPr txBox="1"/>
          <p:nvPr/>
        </p:nvSpPr>
        <p:spPr>
          <a:xfrm>
            <a:off x="544195" y="311150"/>
            <a:ext cx="10124440" cy="449580"/>
          </a:xfrm>
          <a:prstGeom prst="rect">
            <a:avLst/>
          </a:prstGeom>
          <a:noFill/>
        </p:spPr>
        <p:txBody>
          <a:bodyPr wrap="square" rtlCol="0">
            <a:noAutofit/>
          </a:bodyPr>
          <a:p>
            <a:r>
              <a:rPr lang="en-US" altLang="zh-CN" sz="2800">
                <a:sym typeface="+mn-ea"/>
              </a:rPr>
              <a:t>An intuitive understanding of deep learning</a:t>
            </a:r>
            <a:endParaRPr lang="en-US" altLang="zh-CN" sz="2800"/>
          </a:p>
          <a:p>
            <a:endParaRPr lang="zh-CN" altLang="en-US"/>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1047115" y="1377950"/>
            <a:ext cx="2459355" cy="460375"/>
          </a:xfrm>
          <a:prstGeom prst="rect">
            <a:avLst/>
          </a:prstGeom>
          <a:noFill/>
        </p:spPr>
        <p:txBody>
          <a:bodyPr wrap="square" rtlCol="0">
            <a:noAutofit/>
          </a:bodyPr>
          <a:p>
            <a:r>
              <a:rPr lang="en-US" altLang="zh-CN"/>
              <a:t>Overall Architecture</a:t>
            </a:r>
            <a:endParaRPr lang="en-US" altLang="zh-CN"/>
          </a:p>
        </p:txBody>
      </p:sp>
      <p:sp>
        <p:nvSpPr>
          <p:cNvPr id="13" name="文本框 12"/>
          <p:cNvSpPr txBox="1"/>
          <p:nvPr/>
        </p:nvSpPr>
        <p:spPr>
          <a:xfrm>
            <a:off x="1170305" y="2308860"/>
            <a:ext cx="1461135" cy="645160"/>
          </a:xfrm>
          <a:prstGeom prst="rect">
            <a:avLst/>
          </a:prstGeom>
          <a:noFill/>
        </p:spPr>
        <p:txBody>
          <a:bodyPr wrap="square" rtlCol="0">
            <a:spAutoFit/>
          </a:bodyPr>
          <a:p>
            <a:r>
              <a:rPr lang="en-US" altLang="zh-CN"/>
              <a:t>Hierarchical Structure</a:t>
            </a:r>
            <a:endParaRPr lang="en-US" altLang="zh-CN"/>
          </a:p>
        </p:txBody>
      </p:sp>
      <p:sp>
        <p:nvSpPr>
          <p:cNvPr id="14" name="文本框 13"/>
          <p:cNvSpPr txBox="1"/>
          <p:nvPr/>
        </p:nvSpPr>
        <p:spPr>
          <a:xfrm>
            <a:off x="1244600" y="3315335"/>
            <a:ext cx="932180" cy="368300"/>
          </a:xfrm>
          <a:prstGeom prst="rect">
            <a:avLst/>
          </a:prstGeom>
          <a:noFill/>
        </p:spPr>
        <p:txBody>
          <a:bodyPr wrap="square" rtlCol="0">
            <a:spAutoFit/>
          </a:bodyPr>
          <a:p>
            <a:r>
              <a:rPr lang="en-US" altLang="zh-CN"/>
              <a:t>Neuron</a:t>
            </a:r>
            <a:endParaRPr lang="en-US" altLang="zh-CN"/>
          </a:p>
        </p:txBody>
      </p:sp>
      <p:sp>
        <p:nvSpPr>
          <p:cNvPr id="15" name="文本框 14"/>
          <p:cNvSpPr txBox="1"/>
          <p:nvPr/>
        </p:nvSpPr>
        <p:spPr>
          <a:xfrm>
            <a:off x="1215390" y="4187825"/>
            <a:ext cx="1356360" cy="645160"/>
          </a:xfrm>
          <a:prstGeom prst="rect">
            <a:avLst/>
          </a:prstGeom>
          <a:noFill/>
        </p:spPr>
        <p:txBody>
          <a:bodyPr wrap="square" rtlCol="0">
            <a:spAutoFit/>
          </a:bodyPr>
          <a:p>
            <a:r>
              <a:rPr lang="en-US" altLang="zh-CN"/>
              <a:t>Fully Connected</a:t>
            </a:r>
            <a:endParaRPr lang="en-US" altLang="zh-CN"/>
          </a:p>
        </p:txBody>
      </p:sp>
      <p:sp>
        <p:nvSpPr>
          <p:cNvPr id="16" name="文本框 15"/>
          <p:cNvSpPr txBox="1"/>
          <p:nvPr/>
        </p:nvSpPr>
        <p:spPr>
          <a:xfrm>
            <a:off x="1163320" y="5337175"/>
            <a:ext cx="1475740" cy="368300"/>
          </a:xfrm>
          <a:prstGeom prst="rect">
            <a:avLst/>
          </a:prstGeom>
          <a:noFill/>
        </p:spPr>
        <p:txBody>
          <a:bodyPr wrap="square" rtlCol="0">
            <a:spAutoFit/>
          </a:bodyPr>
          <a:p>
            <a:r>
              <a:rPr lang="en-US" altLang="zh-CN"/>
              <a:t>Nonlinearity</a:t>
            </a:r>
            <a:endParaRPr lang="zh-CN" altLang="en-US"/>
          </a:p>
        </p:txBody>
      </p:sp>
      <p:sp>
        <p:nvSpPr>
          <p:cNvPr id="3" name="文本框 2"/>
          <p:cNvSpPr txBox="1"/>
          <p:nvPr/>
        </p:nvSpPr>
        <p:spPr>
          <a:xfrm>
            <a:off x="915035" y="6066790"/>
            <a:ext cx="10160635" cy="398780"/>
          </a:xfrm>
          <a:prstGeom prst="rect">
            <a:avLst/>
          </a:prstGeom>
          <a:noFill/>
        </p:spPr>
        <p:txBody>
          <a:bodyPr wrap="square" rtlCol="0">
            <a:spAutoFit/>
          </a:bodyPr>
          <a:p>
            <a:r>
              <a:rPr lang="en-US" altLang="zh-CN" sz="2000"/>
              <a:t>The neuron structure explained above is the level of deep learning, the most basic operating unit</a:t>
            </a:r>
            <a:endParaRPr lang="en-US" altLang="zh-CN" sz="2000"/>
          </a:p>
        </p:txBody>
      </p:sp>
      <p:cxnSp>
        <p:nvCxnSpPr>
          <p:cNvPr id="9" name="直接箭头连接符 8"/>
          <p:cNvCxnSpPr>
            <a:endCxn id="14" idx="3"/>
          </p:cNvCxnSpPr>
          <p:nvPr/>
        </p:nvCxnSpPr>
        <p:spPr>
          <a:xfrm flipH="1">
            <a:off x="2176780" y="3354070"/>
            <a:ext cx="1329690" cy="145415"/>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3570" y="152400"/>
            <a:ext cx="10532745" cy="449580"/>
          </a:xfrm>
          <a:prstGeom prst="rect">
            <a:avLst/>
          </a:prstGeom>
          <a:noFill/>
        </p:spPr>
        <p:txBody>
          <a:bodyPr wrap="square" rtlCol="0">
            <a:noAutofit/>
          </a:bodyPr>
          <a:p>
            <a:r>
              <a:rPr lang="en-US" altLang="zh-CN" sz="2400"/>
              <a:t>Now let's take convolutional neural networks(ccn) as an example to explain the hierarchy of deep learning</a:t>
            </a:r>
            <a:r>
              <a:rPr lang="en-US" altLang="zh-CN"/>
              <a:t>.</a:t>
            </a:r>
            <a:endParaRPr lang="en-US" altLang="zh-CN"/>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17" name="圆角矩形 16"/>
          <p:cNvSpPr/>
          <p:nvPr/>
        </p:nvSpPr>
        <p:spPr>
          <a:xfrm>
            <a:off x="1470025" y="2653030"/>
            <a:ext cx="708025" cy="2606675"/>
          </a:xfrm>
          <a:prstGeom prst="roundRect">
            <a:avLst/>
          </a:prstGeom>
          <a:solidFill>
            <a:schemeClr val="accent1"/>
          </a:solidFill>
        </p:spPr>
        <p:style>
          <a:lnRef idx="3">
            <a:schemeClr val="accent1"/>
          </a:lnRef>
          <a:fillRef idx="0">
            <a:srgbClr val="FFFFFF"/>
          </a:fillRef>
          <a:effectRef idx="0">
            <a:srgbClr val="FFFFFF"/>
          </a:effectRef>
          <a:fontRef idx="minor">
            <a:schemeClr val="tx1"/>
          </a:fontRef>
        </p:style>
        <p:txBody>
          <a:bodyPr rtlCol="0" anchor="ctr"/>
          <a:p>
            <a:pPr algn="ctr"/>
            <a:endParaRPr lang="en-US" altLang="zh-CN">
              <a:sym typeface="+mn-ea"/>
            </a:endParaRPr>
          </a:p>
        </p:txBody>
      </p:sp>
      <p:sp>
        <p:nvSpPr>
          <p:cNvPr id="18" name="圆角矩形 17"/>
          <p:cNvSpPr/>
          <p:nvPr/>
        </p:nvSpPr>
        <p:spPr>
          <a:xfrm>
            <a:off x="3642360" y="2653030"/>
            <a:ext cx="708025" cy="2606675"/>
          </a:xfrm>
          <a:prstGeom prst="roundRect">
            <a:avLst/>
          </a:prstGeom>
          <a:solidFill>
            <a:schemeClr val="accent1"/>
          </a:solidFill>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圆角矩形 18"/>
          <p:cNvSpPr/>
          <p:nvPr/>
        </p:nvSpPr>
        <p:spPr>
          <a:xfrm>
            <a:off x="5367020" y="2653030"/>
            <a:ext cx="708025" cy="2606675"/>
          </a:xfrm>
          <a:prstGeom prst="roundRect">
            <a:avLst/>
          </a:prstGeom>
          <a:solidFill>
            <a:schemeClr val="accent1"/>
          </a:solidFill>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圆角矩形 19"/>
          <p:cNvSpPr/>
          <p:nvPr/>
        </p:nvSpPr>
        <p:spPr>
          <a:xfrm>
            <a:off x="6954520" y="2653030"/>
            <a:ext cx="708025" cy="2606675"/>
          </a:xfrm>
          <a:prstGeom prst="roundRect">
            <a:avLst/>
          </a:prstGeom>
          <a:solidFill>
            <a:schemeClr val="accent1"/>
          </a:solidFill>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圆角矩形 20"/>
          <p:cNvSpPr/>
          <p:nvPr/>
        </p:nvSpPr>
        <p:spPr>
          <a:xfrm>
            <a:off x="8679180" y="2656205"/>
            <a:ext cx="708025" cy="2606675"/>
          </a:xfrm>
          <a:prstGeom prst="roundRect">
            <a:avLst/>
          </a:prstGeom>
          <a:solidFill>
            <a:schemeClr val="accent1"/>
          </a:solidFill>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圆角矩形 21"/>
          <p:cNvSpPr/>
          <p:nvPr/>
        </p:nvSpPr>
        <p:spPr>
          <a:xfrm>
            <a:off x="10708005" y="2653030"/>
            <a:ext cx="708025" cy="2606675"/>
          </a:xfrm>
          <a:prstGeom prst="roundRect">
            <a:avLst/>
          </a:prstGeom>
          <a:solidFill>
            <a:schemeClr val="accent1"/>
          </a:solidFill>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矩形 22"/>
          <p:cNvSpPr/>
          <p:nvPr/>
        </p:nvSpPr>
        <p:spPr>
          <a:xfrm>
            <a:off x="2900045" y="2274570"/>
            <a:ext cx="5334635" cy="3783330"/>
          </a:xfrm>
          <a:prstGeom prst="rect">
            <a:avLst/>
          </a:prstGeom>
          <a:ln w="28575" cmpd="thickThin">
            <a:solidFill>
              <a:srgbClr val="FFC000"/>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25" name="直接箭头连接符 24"/>
          <p:cNvCxnSpPr>
            <a:stCxn id="17" idx="3"/>
            <a:endCxn id="18" idx="1"/>
          </p:cNvCxnSpPr>
          <p:nvPr/>
        </p:nvCxnSpPr>
        <p:spPr>
          <a:xfrm>
            <a:off x="2178050" y="3956685"/>
            <a:ext cx="1464310" cy="0"/>
          </a:xfrm>
          <a:prstGeom prst="straightConnector1">
            <a:avLst/>
          </a:prstGeom>
          <a:ln w="6350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a:stCxn id="18" idx="3"/>
          </p:cNvCxnSpPr>
          <p:nvPr/>
        </p:nvCxnSpPr>
        <p:spPr>
          <a:xfrm>
            <a:off x="4350385" y="3956685"/>
            <a:ext cx="1016635" cy="0"/>
          </a:xfrm>
          <a:prstGeom prst="straightConnector1">
            <a:avLst/>
          </a:prstGeom>
          <a:ln w="6350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19" idx="3"/>
          </p:cNvCxnSpPr>
          <p:nvPr/>
        </p:nvCxnSpPr>
        <p:spPr>
          <a:xfrm>
            <a:off x="6075045" y="3956685"/>
            <a:ext cx="879475" cy="0"/>
          </a:xfrm>
          <a:prstGeom prst="straightConnector1">
            <a:avLst/>
          </a:prstGeom>
          <a:ln w="6350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endCxn id="21" idx="1"/>
          </p:cNvCxnSpPr>
          <p:nvPr/>
        </p:nvCxnSpPr>
        <p:spPr>
          <a:xfrm>
            <a:off x="7662545" y="3959860"/>
            <a:ext cx="1016635" cy="0"/>
          </a:xfrm>
          <a:prstGeom prst="straightConnector1">
            <a:avLst/>
          </a:prstGeom>
          <a:ln w="6350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21" idx="3"/>
            <a:endCxn id="22" idx="1"/>
          </p:cNvCxnSpPr>
          <p:nvPr/>
        </p:nvCxnSpPr>
        <p:spPr>
          <a:xfrm flipV="1">
            <a:off x="9387205" y="3956685"/>
            <a:ext cx="1320800" cy="3175"/>
          </a:xfrm>
          <a:prstGeom prst="straightConnector1">
            <a:avLst/>
          </a:prstGeom>
          <a:ln w="6350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sp>
        <p:nvSpPr>
          <p:cNvPr id="34" name="文本框 33"/>
          <p:cNvSpPr txBox="1"/>
          <p:nvPr/>
        </p:nvSpPr>
        <p:spPr>
          <a:xfrm>
            <a:off x="4865370" y="1637030"/>
            <a:ext cx="1630680" cy="368300"/>
          </a:xfrm>
          <a:prstGeom prst="rect">
            <a:avLst/>
          </a:prstGeom>
          <a:noFill/>
        </p:spPr>
        <p:txBody>
          <a:bodyPr wrap="square" rtlCol="0">
            <a:spAutoFit/>
          </a:bodyPr>
          <a:p>
            <a:r>
              <a:rPr lang="en-US" altLang="zh-CN" b="1">
                <a:sym typeface="+mn-ea"/>
              </a:rPr>
              <a:t>Hidden layers</a:t>
            </a:r>
            <a:endParaRPr lang="zh-CN" altLang="en-US" b="1"/>
          </a:p>
        </p:txBody>
      </p:sp>
      <p:sp>
        <p:nvSpPr>
          <p:cNvPr id="35" name="文本框 34"/>
          <p:cNvSpPr txBox="1"/>
          <p:nvPr/>
        </p:nvSpPr>
        <p:spPr>
          <a:xfrm>
            <a:off x="1122045" y="5781040"/>
            <a:ext cx="1270000" cy="368300"/>
          </a:xfrm>
          <a:prstGeom prst="rect">
            <a:avLst/>
          </a:prstGeom>
          <a:noFill/>
        </p:spPr>
        <p:txBody>
          <a:bodyPr wrap="square" rtlCol="0">
            <a:spAutoFit/>
          </a:bodyPr>
          <a:p>
            <a:r>
              <a:rPr lang="en-US" altLang="zh-CN">
                <a:sym typeface="+mn-ea"/>
              </a:rPr>
              <a:t>Input layer</a:t>
            </a:r>
            <a:endParaRPr lang="zh-CN" altLang="en-US"/>
          </a:p>
        </p:txBody>
      </p:sp>
      <p:sp>
        <p:nvSpPr>
          <p:cNvPr id="36" name="文本框 35"/>
          <p:cNvSpPr txBox="1"/>
          <p:nvPr/>
        </p:nvSpPr>
        <p:spPr>
          <a:xfrm>
            <a:off x="8515350" y="5262880"/>
            <a:ext cx="1270000" cy="922020"/>
          </a:xfrm>
          <a:prstGeom prst="rect">
            <a:avLst/>
          </a:prstGeom>
          <a:noFill/>
        </p:spPr>
        <p:txBody>
          <a:bodyPr wrap="square" rtlCol="0">
            <a:spAutoFit/>
          </a:bodyPr>
          <a:p>
            <a:r>
              <a:rPr lang="en-US" altLang="zh-CN">
                <a:sym typeface="+mn-ea"/>
              </a:rPr>
              <a:t>Fully connected layer</a:t>
            </a:r>
            <a:endParaRPr lang="zh-CN" altLang="en-US"/>
          </a:p>
        </p:txBody>
      </p:sp>
      <p:sp>
        <p:nvSpPr>
          <p:cNvPr id="37" name="文本框 36"/>
          <p:cNvSpPr txBox="1"/>
          <p:nvPr/>
        </p:nvSpPr>
        <p:spPr>
          <a:xfrm>
            <a:off x="6673215" y="5412740"/>
            <a:ext cx="1544320" cy="368300"/>
          </a:xfrm>
          <a:prstGeom prst="rect">
            <a:avLst/>
          </a:prstGeom>
          <a:noFill/>
        </p:spPr>
        <p:txBody>
          <a:bodyPr wrap="square" rtlCol="0">
            <a:spAutoFit/>
          </a:bodyPr>
          <a:p>
            <a:r>
              <a:rPr lang="en-US" altLang="zh-CN">
                <a:sym typeface="+mn-ea"/>
              </a:rPr>
              <a:t> Pooling layer</a:t>
            </a:r>
            <a:endParaRPr lang="zh-CN" altLang="en-US"/>
          </a:p>
        </p:txBody>
      </p:sp>
      <p:sp>
        <p:nvSpPr>
          <p:cNvPr id="38" name="文本框 37"/>
          <p:cNvSpPr txBox="1"/>
          <p:nvPr/>
        </p:nvSpPr>
        <p:spPr>
          <a:xfrm>
            <a:off x="4909185" y="5262880"/>
            <a:ext cx="1586865" cy="645160"/>
          </a:xfrm>
          <a:prstGeom prst="rect">
            <a:avLst/>
          </a:prstGeom>
          <a:noFill/>
        </p:spPr>
        <p:txBody>
          <a:bodyPr wrap="square" rtlCol="0">
            <a:spAutoFit/>
          </a:bodyPr>
          <a:p>
            <a:pPr algn="ctr"/>
            <a:r>
              <a:rPr lang="en-US" altLang="zh-CN">
                <a:sym typeface="+mn-ea"/>
              </a:rPr>
              <a:t>Activating the Layer</a:t>
            </a:r>
            <a:endParaRPr lang="zh-CN" altLang="en-US"/>
          </a:p>
        </p:txBody>
      </p:sp>
      <p:sp>
        <p:nvSpPr>
          <p:cNvPr id="39" name="文本框 38"/>
          <p:cNvSpPr txBox="1"/>
          <p:nvPr/>
        </p:nvSpPr>
        <p:spPr>
          <a:xfrm>
            <a:off x="3227705" y="5262880"/>
            <a:ext cx="1483995" cy="645160"/>
          </a:xfrm>
          <a:prstGeom prst="rect">
            <a:avLst/>
          </a:prstGeom>
          <a:noFill/>
        </p:spPr>
        <p:txBody>
          <a:bodyPr wrap="square" rtlCol="0">
            <a:spAutoFit/>
          </a:bodyPr>
          <a:p>
            <a:pPr algn="ctr"/>
            <a:r>
              <a:rPr lang="en-US" altLang="zh-CN">
                <a:sym typeface="+mn-ea"/>
              </a:rPr>
              <a:t>Convolutional layers</a:t>
            </a:r>
            <a:endParaRPr lang="zh-CN" altLang="en-US"/>
          </a:p>
        </p:txBody>
      </p:sp>
      <p:sp>
        <p:nvSpPr>
          <p:cNvPr id="40" name="文本框 39"/>
          <p:cNvSpPr txBox="1"/>
          <p:nvPr/>
        </p:nvSpPr>
        <p:spPr>
          <a:xfrm>
            <a:off x="10644505" y="5412740"/>
            <a:ext cx="989330" cy="645160"/>
          </a:xfrm>
          <a:prstGeom prst="rect">
            <a:avLst/>
          </a:prstGeom>
          <a:noFill/>
        </p:spPr>
        <p:txBody>
          <a:bodyPr wrap="square" rtlCol="0">
            <a:spAutoFit/>
          </a:bodyPr>
          <a:p>
            <a:r>
              <a:rPr lang="en-US" altLang="zh-CN">
                <a:sym typeface="+mn-ea"/>
              </a:rPr>
              <a:t>Output layer</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3570" y="152400"/>
            <a:ext cx="10532745" cy="449580"/>
          </a:xfrm>
          <a:prstGeom prst="rect">
            <a:avLst/>
          </a:prstGeom>
          <a:noFill/>
        </p:spPr>
        <p:txBody>
          <a:bodyPr wrap="square" rtlCol="0">
            <a:noAutofit/>
          </a:bodyPr>
          <a:p>
            <a:r>
              <a:rPr lang="en-US" altLang="zh-CN" sz="2400"/>
              <a:t>Now let's take convolutional neural networks(ccn) as an example to explain the hierarchy of deep learning</a:t>
            </a:r>
            <a:r>
              <a:rPr lang="en-US" altLang="zh-CN"/>
              <a:t>.</a:t>
            </a:r>
            <a:endParaRPr lang="en-US" altLang="zh-CN"/>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761365" y="1377950"/>
            <a:ext cx="10654665" cy="5111750"/>
          </a:xfrm>
          <a:prstGeom prst="rect">
            <a:avLst/>
          </a:prstGeom>
          <a:noFill/>
        </p:spPr>
        <p:txBody>
          <a:bodyPr wrap="square" rtlCol="0">
            <a:noAutofit/>
          </a:bodyPr>
          <a:p>
            <a:r>
              <a:rPr lang="en-US" altLang="zh-CN" sz="2400" b="1"/>
              <a:t>Diagram Explanation:</a:t>
            </a:r>
            <a:endParaRPr lang="en-US" altLang="zh-CN" sz="2400" b="1"/>
          </a:p>
          <a:p>
            <a:r>
              <a:rPr lang="en-US" altLang="zh-CN" sz="2400"/>
              <a:t>1. Input Image  </a:t>
            </a:r>
            <a:endParaRPr lang="en-US" altLang="zh-CN" sz="2400"/>
          </a:p>
          <a:p>
            <a:r>
              <a:rPr lang="en-US" altLang="zh-CN" sz="2400"/>
              <a:t>   Raw pixel data enters the network (e.g., 224</a:t>
            </a:r>
            <a:r>
              <a:rPr lang="en-US" altLang="en-US" sz="2400"/>
              <a:t>×</a:t>
            </a:r>
            <a:r>
              <a:rPr lang="en-US" altLang="zh-CN" sz="2400"/>
              <a:t>224 RGB image)</a:t>
            </a:r>
            <a:endParaRPr lang="en-US" altLang="zh-CN" sz="2400"/>
          </a:p>
          <a:p>
            <a:r>
              <a:rPr lang="en-US" altLang="zh-CN" sz="2400"/>
              <a:t>2. </a:t>
            </a:r>
            <a:r>
              <a:rPr lang="en-US" altLang="zh-CN" sz="2400" b="1"/>
              <a:t>Hidden Layers (Core Processing Unit)</a:t>
            </a:r>
            <a:endParaRPr lang="en-US" altLang="zh-CN" sz="2400"/>
          </a:p>
          <a:p>
            <a:r>
              <a:rPr lang="en-US" altLang="zh-CN" sz="2400"/>
              <a:t>      Where feature extraction and transformation occur</a:t>
            </a:r>
            <a:endParaRPr lang="en-US" altLang="zh-CN" sz="2400"/>
          </a:p>
          <a:p>
            <a:r>
              <a:rPr lang="en-US" altLang="zh-CN" sz="2400"/>
              <a:t>      Contains three fundamental operations:</a:t>
            </a:r>
            <a:endParaRPr lang="en-US" altLang="zh-CN" sz="2400"/>
          </a:p>
          <a:p>
            <a:pPr indent="0">
              <a:buFont typeface="Arial" panose="020B0604020202020204" pitchFamily="34" charset="0"/>
              <a:buNone/>
            </a:pPr>
            <a:r>
              <a:rPr lang="en-US" altLang="zh-CN" sz="2400"/>
              <a:t>    </a:t>
            </a:r>
            <a:r>
              <a:rPr lang="en-US" altLang="zh-CN" sz="2400" b="1"/>
              <a:t> Convolution Layer:</a:t>
            </a:r>
            <a:endParaRPr lang="en-US" altLang="zh-CN" sz="2400"/>
          </a:p>
          <a:p>
            <a:r>
              <a:rPr lang="en-US" altLang="zh-CN" sz="2400"/>
              <a:t>      Slides learnable filters across input to detect local patterns (edges, textures)</a:t>
            </a:r>
            <a:endParaRPr lang="en-US" altLang="zh-CN" sz="2400"/>
          </a:p>
          <a:p>
            <a:r>
              <a:rPr lang="en-US" altLang="zh-CN" sz="2400"/>
              <a:t> </a:t>
            </a:r>
            <a:r>
              <a:rPr lang="en-US" altLang="zh-CN" sz="2400" b="1"/>
              <a:t>   Activation Layer (ReLU)</a:t>
            </a:r>
            <a:r>
              <a:rPr lang="en-US" altLang="zh-CN" sz="2400"/>
              <a:t>:  </a:t>
            </a:r>
            <a:endParaRPr lang="en-US" altLang="zh-CN" sz="2400"/>
          </a:p>
          <a:p>
            <a:r>
              <a:rPr lang="en-US" altLang="zh-CN" sz="2400"/>
              <a:t>       Applies non-linear transformation (negative values </a:t>
            </a:r>
            <a:r>
              <a:rPr lang="en-US" altLang="en-US" sz="2400"/>
              <a:t>→</a:t>
            </a:r>
            <a:r>
              <a:rPr lang="en-US" altLang="zh-CN" sz="2400"/>
              <a:t> 0, positives unchanged)</a:t>
            </a:r>
            <a:endParaRPr lang="en-US" altLang="zh-CN" sz="2400"/>
          </a:p>
          <a:p>
            <a:r>
              <a:rPr lang="en-US" altLang="zh-CN" sz="2400"/>
              <a:t>     </a:t>
            </a:r>
            <a:r>
              <a:rPr lang="en-US" altLang="zh-CN" sz="2400" b="1"/>
              <a:t>Pooling Layer:</a:t>
            </a:r>
            <a:endParaRPr lang="en-US" altLang="zh-CN" sz="2400"/>
          </a:p>
          <a:p>
            <a:r>
              <a:rPr lang="en-US" altLang="zh-CN" sz="2400"/>
              <a:t>      Downsamples features (e.g., 2</a:t>
            </a:r>
            <a:r>
              <a:rPr lang="en-US" altLang="en-US" sz="2400"/>
              <a:t>×</a:t>
            </a:r>
            <a:r>
              <a:rPr lang="en-US" altLang="zh-CN" sz="2400"/>
              <a:t>2 max pooling) to reduce dimensionality while            </a:t>
            </a:r>
            <a:endParaRPr lang="en-US" altLang="zh-CN" sz="2400"/>
          </a:p>
          <a:p>
            <a:r>
              <a:rPr lang="en-US" altLang="zh-CN" sz="2400"/>
              <a:t>retaining key information</a:t>
            </a:r>
            <a:endParaRPr lang="en-US" altLang="zh-CN" sz="2400"/>
          </a:p>
          <a:p>
            <a:r>
              <a:rPr lang="en-US" altLang="zh-CN" sz="2400"/>
              <a:t>   </a:t>
            </a:r>
            <a:endParaRPr lang="en-US" altLang="zh-CN" sz="2400"/>
          </a:p>
          <a:p>
            <a:endParaRPr lang="en-US" altLang="zh-CN"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3570" y="152400"/>
            <a:ext cx="10532745" cy="449580"/>
          </a:xfrm>
          <a:prstGeom prst="rect">
            <a:avLst/>
          </a:prstGeom>
          <a:noFill/>
        </p:spPr>
        <p:txBody>
          <a:bodyPr wrap="square" rtlCol="0">
            <a:noAutofit/>
          </a:bodyPr>
          <a:p>
            <a:r>
              <a:rPr lang="en-US" altLang="zh-CN" sz="2400"/>
              <a:t>Now let's take convolutional neural networks(ccn) as an example to explain the hierarchy of deep learning</a:t>
            </a:r>
            <a:r>
              <a:rPr lang="en-US" altLang="zh-CN"/>
              <a:t>.</a:t>
            </a:r>
            <a:endParaRPr lang="en-US" altLang="zh-CN"/>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761365" y="1377950"/>
            <a:ext cx="10654665" cy="4042410"/>
          </a:xfrm>
          <a:prstGeom prst="rect">
            <a:avLst/>
          </a:prstGeom>
          <a:noFill/>
        </p:spPr>
        <p:txBody>
          <a:bodyPr wrap="square" rtlCol="0">
            <a:noAutofit/>
          </a:bodyPr>
          <a:p>
            <a:r>
              <a:rPr lang="en-US" altLang="zh-CN" sz="2400">
                <a:sym typeface="+mn-ea"/>
              </a:rPr>
              <a:t>3. Fully Connected Layer  </a:t>
            </a:r>
            <a:endParaRPr lang="en-US" altLang="zh-CN" sz="2400"/>
          </a:p>
          <a:p>
            <a:r>
              <a:rPr lang="en-US" altLang="zh-CN" sz="2400">
                <a:sym typeface="+mn-ea"/>
              </a:rPr>
              <a:t>   Integrates high-level features from all spatial locations</a:t>
            </a:r>
            <a:endParaRPr lang="en-US" altLang="zh-CN" sz="2400"/>
          </a:p>
          <a:p>
            <a:r>
              <a:rPr lang="en-US" altLang="zh-CN" sz="2400">
                <a:sym typeface="+mn-ea"/>
              </a:rPr>
              <a:t>   Learns global relationships between extracted features</a:t>
            </a:r>
            <a:endParaRPr lang="en-US" altLang="zh-CN" sz="2400">
              <a:sym typeface="+mn-ea"/>
            </a:endParaRPr>
          </a:p>
          <a:p>
            <a:endParaRPr lang="en-US" altLang="zh-CN" sz="2400"/>
          </a:p>
          <a:p>
            <a:r>
              <a:rPr lang="en-US" altLang="zh-CN" sz="2400">
                <a:sym typeface="+mn-ea"/>
              </a:rPr>
              <a:t>4. Output Layer </a:t>
            </a:r>
            <a:endParaRPr lang="en-US" altLang="zh-CN" sz="2400"/>
          </a:p>
          <a:p>
            <a:r>
              <a:rPr lang="en-US" altLang="zh-CN" sz="2400">
                <a:sym typeface="+mn-ea"/>
              </a:rPr>
              <a:t>   Produces final predictions (e.g., Softmax for classification probabilities)</a:t>
            </a:r>
            <a:endParaRPr lang="en-US" altLang="zh-CN" sz="2400"/>
          </a:p>
          <a:p>
            <a:endParaRPr lang="en-US" altLang="zh-CN" sz="2400"/>
          </a:p>
          <a:p>
            <a:endParaRPr lang="en-US" altLang="zh-CN" sz="2400"/>
          </a:p>
          <a:p>
            <a:endParaRPr lang="en-US" altLang="zh-CN"/>
          </a:p>
        </p:txBody>
      </p:sp>
      <p:pic>
        <p:nvPicPr>
          <p:cNvPr id="3" name="图片 2"/>
          <p:cNvPicPr>
            <a:picLocks noChangeAspect="1"/>
          </p:cNvPicPr>
          <p:nvPr/>
        </p:nvPicPr>
        <p:blipFill>
          <a:blip r:embed="rId1"/>
          <a:stretch>
            <a:fillRect/>
          </a:stretch>
        </p:blipFill>
        <p:spPr>
          <a:xfrm>
            <a:off x="1122045" y="3830320"/>
            <a:ext cx="9708515" cy="27813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3570" y="152400"/>
            <a:ext cx="10532745" cy="449580"/>
          </a:xfrm>
          <a:prstGeom prst="rect">
            <a:avLst/>
          </a:prstGeom>
          <a:noFill/>
        </p:spPr>
        <p:txBody>
          <a:bodyPr wrap="square" rtlCol="0">
            <a:noAutofit/>
          </a:bodyPr>
          <a:p>
            <a:r>
              <a:rPr lang="en-US" altLang="zh-CN" sz="3600"/>
              <a:t>loss function</a:t>
            </a:r>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761365" y="1377950"/>
            <a:ext cx="10654665" cy="920750"/>
          </a:xfrm>
          <a:prstGeom prst="rect">
            <a:avLst/>
          </a:prstGeom>
          <a:noFill/>
        </p:spPr>
        <p:txBody>
          <a:bodyPr wrap="square" rtlCol="0">
            <a:noAutofit/>
          </a:bodyPr>
          <a:p>
            <a:r>
              <a:rPr lang="en-US" altLang="zh-CN" sz="2400"/>
              <a:t>In the above learning, we have already understood how deep learning works and how to calculate scores for each category</a:t>
            </a:r>
            <a:endParaRPr lang="en-US" altLang="zh-CN" sz="2400"/>
          </a:p>
          <a:p>
            <a:endParaRPr lang="en-US" altLang="zh-CN" sz="2400"/>
          </a:p>
          <a:p>
            <a:endParaRPr lang="en-US" altLang="zh-CN" sz="2400"/>
          </a:p>
          <a:p>
            <a:endParaRPr lang="en-US" altLang="zh-CN" sz="2400"/>
          </a:p>
        </p:txBody>
      </p:sp>
      <p:sp>
        <p:nvSpPr>
          <p:cNvPr id="4" name="object 4"/>
          <p:cNvSpPr/>
          <p:nvPr/>
        </p:nvSpPr>
        <p:spPr>
          <a:xfrm>
            <a:off x="332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1054100" y="2746375"/>
            <a:ext cx="4117340" cy="897890"/>
          </a:xfrm>
          <a:prstGeom prst="rect">
            <a:avLst/>
          </a:prstGeom>
          <a:noFill/>
        </p:spPr>
        <p:txBody>
          <a:bodyPr wrap="square" rtlCol="0">
            <a:noAutofit/>
          </a:bodyPr>
          <a:p>
            <a:r>
              <a:rPr lang="en-US" altLang="zh-CN" sz="2400"/>
              <a:t>How to measure the results of</a:t>
            </a:r>
            <a:endParaRPr lang="en-US" altLang="zh-CN" sz="2400"/>
          </a:p>
          <a:p>
            <a:r>
              <a:rPr lang="en-US" altLang="zh-CN" sz="2400"/>
              <a:t> classification?-----</a:t>
            </a:r>
            <a:r>
              <a:rPr lang="en-US" altLang="zh-CN" sz="2400">
                <a:sym typeface="+mn-ea"/>
              </a:rPr>
              <a:t>loss function</a:t>
            </a:r>
            <a:endParaRPr lang="en-US" altLang="zh-CN" sz="2400"/>
          </a:p>
          <a:p>
            <a:endParaRPr lang="en-US" altLang="zh-CN" sz="2400"/>
          </a:p>
          <a:p>
            <a:endParaRPr lang="en-US" altLang="zh-CN" sz="2400"/>
          </a:p>
        </p:txBody>
      </p:sp>
      <p:sp>
        <p:nvSpPr>
          <p:cNvPr id="6" name="object 5"/>
          <p:cNvSpPr/>
          <p:nvPr/>
        </p:nvSpPr>
        <p:spPr>
          <a:xfrm>
            <a:off x="761225" y="2863151"/>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7" name="object 2"/>
          <p:cNvPicPr/>
          <p:nvPr/>
        </p:nvPicPr>
        <p:blipFill>
          <a:blip r:embed="rId1" cstate="print"/>
          <a:stretch>
            <a:fillRect/>
          </a:stretch>
        </p:blipFill>
        <p:spPr>
          <a:xfrm>
            <a:off x="6096000" y="2298700"/>
            <a:ext cx="5716905" cy="4131310"/>
          </a:xfrm>
          <a:prstGeom prst="rect">
            <a:avLst/>
          </a:prstGeom>
        </p:spPr>
      </p:pic>
      <p:sp>
        <p:nvSpPr>
          <p:cNvPr id="8" name="文本框 7"/>
          <p:cNvSpPr txBox="1"/>
          <p:nvPr/>
        </p:nvSpPr>
        <p:spPr>
          <a:xfrm>
            <a:off x="1054100" y="4091940"/>
            <a:ext cx="4117340" cy="2235200"/>
          </a:xfrm>
          <a:prstGeom prst="rect">
            <a:avLst/>
          </a:prstGeom>
          <a:noFill/>
        </p:spPr>
        <p:txBody>
          <a:bodyPr wrap="square" rtlCol="0">
            <a:noAutofit/>
          </a:bodyPr>
          <a:p>
            <a:r>
              <a:rPr lang="en-US" altLang="zh-CN" sz="2400"/>
              <a:t>There is a significant difference in the score values of the results, and we need clear guidance on how good or bad the current performance of the model is!</a:t>
            </a:r>
            <a:endParaRPr lang="en-US" altLang="zh-CN" sz="2400"/>
          </a:p>
          <a:p>
            <a:endParaRPr lang="en-US" altLang="zh-CN" sz="2400"/>
          </a:p>
        </p:txBody>
      </p:sp>
      <p:sp>
        <p:nvSpPr>
          <p:cNvPr id="9" name="object 5"/>
          <p:cNvSpPr/>
          <p:nvPr/>
        </p:nvSpPr>
        <p:spPr>
          <a:xfrm>
            <a:off x="761225" y="4792916"/>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3570" y="152400"/>
            <a:ext cx="10532745" cy="449580"/>
          </a:xfrm>
          <a:prstGeom prst="rect">
            <a:avLst/>
          </a:prstGeom>
          <a:noFill/>
        </p:spPr>
        <p:txBody>
          <a:bodyPr wrap="square" rtlCol="0">
            <a:noAutofit/>
          </a:bodyPr>
          <a:p>
            <a:r>
              <a:rPr lang="en-US" altLang="zh-CN" sz="3600"/>
              <a:t>loss function</a:t>
            </a:r>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761365" y="1377950"/>
            <a:ext cx="1797685" cy="553085"/>
          </a:xfrm>
          <a:prstGeom prst="rect">
            <a:avLst/>
          </a:prstGeom>
          <a:noFill/>
        </p:spPr>
        <p:txBody>
          <a:bodyPr wrap="square" rtlCol="0">
            <a:noAutofit/>
          </a:bodyPr>
          <a:p>
            <a:r>
              <a:rPr lang="en-US" altLang="zh-CN" sz="2400">
                <a:sym typeface="+mn-ea"/>
              </a:rPr>
              <a:t>loss function</a:t>
            </a:r>
            <a:endParaRPr lang="en-US" altLang="zh-CN" sz="2400"/>
          </a:p>
          <a:p>
            <a:endParaRPr lang="en-US" altLang="zh-CN" sz="2400"/>
          </a:p>
          <a:p>
            <a:endParaRPr lang="en-US" altLang="zh-CN" sz="2400"/>
          </a:p>
        </p:txBody>
      </p:sp>
      <p:sp>
        <p:nvSpPr>
          <p:cNvPr id="4" name="object 4"/>
          <p:cNvSpPr/>
          <p:nvPr/>
        </p:nvSpPr>
        <p:spPr>
          <a:xfrm>
            <a:off x="332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1054100" y="2265045"/>
            <a:ext cx="5008880" cy="897890"/>
          </a:xfrm>
          <a:prstGeom prst="rect">
            <a:avLst/>
          </a:prstGeom>
          <a:noFill/>
        </p:spPr>
        <p:txBody>
          <a:bodyPr wrap="square" rtlCol="0">
            <a:noAutofit/>
          </a:bodyPr>
          <a:p>
            <a:r>
              <a:rPr lang="en-US" altLang="zh-CN" sz="2400"/>
              <a:t>There are actually many types of loss functions, let's experiment with one</a:t>
            </a:r>
            <a:endParaRPr lang="en-US" altLang="zh-CN" sz="2400"/>
          </a:p>
          <a:p>
            <a:endParaRPr lang="en-US" altLang="zh-CN" sz="2400"/>
          </a:p>
          <a:p>
            <a:endParaRPr lang="en-US" altLang="zh-CN" sz="2400"/>
          </a:p>
        </p:txBody>
      </p:sp>
      <p:sp>
        <p:nvSpPr>
          <p:cNvPr id="6" name="object 5"/>
          <p:cNvSpPr/>
          <p:nvPr/>
        </p:nvSpPr>
        <p:spPr>
          <a:xfrm>
            <a:off x="761225" y="2449131"/>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7" name="object 2"/>
          <p:cNvPicPr/>
          <p:nvPr/>
        </p:nvPicPr>
        <p:blipFill>
          <a:blip r:embed="rId1" cstate="print"/>
          <a:stretch>
            <a:fillRect/>
          </a:stretch>
        </p:blipFill>
        <p:spPr>
          <a:xfrm>
            <a:off x="1320800" y="3340100"/>
            <a:ext cx="4956810" cy="2802255"/>
          </a:xfrm>
          <a:prstGeom prst="rect">
            <a:avLst/>
          </a:prstGeom>
        </p:spPr>
      </p:pic>
      <p:pic>
        <p:nvPicPr>
          <p:cNvPr id="3" name="object 7"/>
          <p:cNvPicPr/>
          <p:nvPr/>
        </p:nvPicPr>
        <p:blipFill>
          <a:blip r:embed="rId2" cstate="print"/>
          <a:stretch>
            <a:fillRect/>
          </a:stretch>
        </p:blipFill>
        <p:spPr>
          <a:xfrm>
            <a:off x="2572511" y="1440180"/>
            <a:ext cx="4693920" cy="428244"/>
          </a:xfrm>
          <a:prstGeom prst="rect">
            <a:avLst/>
          </a:prstGeom>
        </p:spPr>
      </p:pic>
      <p:pic>
        <p:nvPicPr>
          <p:cNvPr id="12" name="object 9"/>
          <p:cNvPicPr/>
          <p:nvPr/>
        </p:nvPicPr>
        <p:blipFill>
          <a:blip r:embed="rId3" cstate="print"/>
          <a:stretch>
            <a:fillRect/>
          </a:stretch>
        </p:blipFill>
        <p:spPr>
          <a:xfrm>
            <a:off x="8888017" y="1606423"/>
            <a:ext cx="2580960" cy="1242512"/>
          </a:xfrm>
          <a:prstGeom prst="rect">
            <a:avLst/>
          </a:prstGeom>
        </p:spPr>
      </p:pic>
      <p:sp>
        <p:nvSpPr>
          <p:cNvPr id="13" name="文本框 12"/>
          <p:cNvSpPr txBox="1"/>
          <p:nvPr/>
        </p:nvSpPr>
        <p:spPr>
          <a:xfrm>
            <a:off x="7432040" y="2051685"/>
            <a:ext cx="1096010" cy="460375"/>
          </a:xfrm>
          <a:prstGeom prst="rect">
            <a:avLst/>
          </a:prstGeom>
          <a:noFill/>
        </p:spPr>
        <p:txBody>
          <a:bodyPr wrap="square" rtlCol="0">
            <a:spAutoFit/>
          </a:bodyPr>
          <a:p>
            <a:r>
              <a:rPr lang="en-US" altLang="zh-CN" sz="2400"/>
              <a:t>cat loss</a:t>
            </a:r>
            <a:endParaRPr lang="en-US" altLang="zh-CN" sz="2400"/>
          </a:p>
        </p:txBody>
      </p:sp>
      <p:sp>
        <p:nvSpPr>
          <p:cNvPr id="14" name="文本框 13"/>
          <p:cNvSpPr txBox="1"/>
          <p:nvPr/>
        </p:nvSpPr>
        <p:spPr>
          <a:xfrm>
            <a:off x="7432040" y="3609975"/>
            <a:ext cx="1456055" cy="460375"/>
          </a:xfrm>
          <a:prstGeom prst="rect">
            <a:avLst/>
          </a:prstGeom>
          <a:noFill/>
        </p:spPr>
        <p:txBody>
          <a:bodyPr wrap="square" rtlCol="0">
            <a:spAutoFit/>
          </a:bodyPr>
          <a:p>
            <a:r>
              <a:rPr lang="en-US" altLang="zh-CN" sz="2400"/>
              <a:t>car loss</a:t>
            </a:r>
            <a:endParaRPr lang="en-US" altLang="zh-CN" sz="2400"/>
          </a:p>
        </p:txBody>
      </p:sp>
      <p:pic>
        <p:nvPicPr>
          <p:cNvPr id="15" name="object 10"/>
          <p:cNvPicPr/>
          <p:nvPr/>
        </p:nvPicPr>
        <p:blipFill>
          <a:blip r:embed="rId4" cstate="print"/>
          <a:stretch>
            <a:fillRect/>
          </a:stretch>
        </p:blipFill>
        <p:spPr>
          <a:xfrm>
            <a:off x="8888349" y="3466084"/>
            <a:ext cx="2877312" cy="1307117"/>
          </a:xfrm>
          <a:prstGeom prst="rect">
            <a:avLst/>
          </a:prstGeom>
        </p:spPr>
      </p:pic>
      <p:pic>
        <p:nvPicPr>
          <p:cNvPr id="16" name="object 11"/>
          <p:cNvPicPr/>
          <p:nvPr/>
        </p:nvPicPr>
        <p:blipFill>
          <a:blip r:embed="rId5" cstate="print"/>
          <a:stretch>
            <a:fillRect/>
          </a:stretch>
        </p:blipFill>
        <p:spPr>
          <a:xfrm>
            <a:off x="8888080" y="5168773"/>
            <a:ext cx="2678655" cy="1281684"/>
          </a:xfrm>
          <a:prstGeom prst="rect">
            <a:avLst/>
          </a:prstGeom>
        </p:spPr>
      </p:pic>
      <p:sp>
        <p:nvSpPr>
          <p:cNvPr id="17" name="文本框 16"/>
          <p:cNvSpPr txBox="1"/>
          <p:nvPr/>
        </p:nvSpPr>
        <p:spPr>
          <a:xfrm>
            <a:off x="7432040" y="5394325"/>
            <a:ext cx="1456055" cy="460375"/>
          </a:xfrm>
          <a:prstGeom prst="rect">
            <a:avLst/>
          </a:prstGeom>
          <a:noFill/>
        </p:spPr>
        <p:txBody>
          <a:bodyPr wrap="square" rtlCol="0">
            <a:spAutoFit/>
          </a:bodyPr>
          <a:p>
            <a:r>
              <a:rPr lang="en-US" altLang="zh-CN" sz="2400"/>
              <a:t>frog loss</a:t>
            </a:r>
            <a:endParaRPr lang="en-US" altLang="zh-CN" sz="2400"/>
          </a:p>
        </p:txBody>
      </p:sp>
      <p:sp>
        <p:nvSpPr>
          <p:cNvPr id="18" name="文本框 17"/>
          <p:cNvSpPr txBox="1"/>
          <p:nvPr/>
        </p:nvSpPr>
        <p:spPr>
          <a:xfrm>
            <a:off x="961390" y="6319520"/>
            <a:ext cx="6692265" cy="398780"/>
          </a:xfrm>
          <a:prstGeom prst="rect">
            <a:avLst/>
          </a:prstGeom>
          <a:noFill/>
        </p:spPr>
        <p:txBody>
          <a:bodyPr wrap="square" rtlCol="0">
            <a:spAutoFit/>
          </a:bodyPr>
          <a:p>
            <a:r>
              <a:rPr lang="en-US" altLang="zh-CN" sz="2000"/>
              <a:t>The higher the loss, the less accurate the classification</a:t>
            </a:r>
            <a:endParaRPr lang="zh-CN" altLang="en-US" sz="2000"/>
          </a:p>
        </p:txBody>
      </p:sp>
      <p:sp>
        <p:nvSpPr>
          <p:cNvPr id="19" name="object 5"/>
          <p:cNvSpPr/>
          <p:nvPr/>
        </p:nvSpPr>
        <p:spPr>
          <a:xfrm>
            <a:off x="668515" y="6319456"/>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3570" y="152400"/>
            <a:ext cx="10532745" cy="449580"/>
          </a:xfrm>
          <a:prstGeom prst="rect">
            <a:avLst/>
          </a:prstGeom>
          <a:noFill/>
        </p:spPr>
        <p:txBody>
          <a:bodyPr wrap="square" rtlCol="0">
            <a:noAutofit/>
          </a:bodyPr>
          <a:p>
            <a:r>
              <a:rPr lang="en-US" altLang="zh-CN" sz="3600"/>
              <a:t>loss function</a:t>
            </a:r>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332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8510905" cy="897890"/>
          </a:xfrm>
          <a:prstGeom prst="rect">
            <a:avLst/>
          </a:prstGeom>
          <a:noFill/>
        </p:spPr>
        <p:txBody>
          <a:bodyPr wrap="square" rtlCol="0">
            <a:noAutofit/>
          </a:bodyPr>
          <a:p>
            <a:r>
              <a:rPr lang="en-US" altLang="zh-CN" sz="2400"/>
              <a:t>To prevent overfitting of the model, we can add a regularization penalty term to the loss function</a:t>
            </a:r>
            <a:endParaRPr lang="en-US" altLang="zh-CN" sz="2400"/>
          </a:p>
          <a:p>
            <a:endParaRPr lang="en-US" altLang="zh-CN" sz="2400"/>
          </a:p>
        </p:txBody>
      </p:sp>
      <p:sp>
        <p:nvSpPr>
          <p:cNvPr id="18" name="文本框 17"/>
          <p:cNvSpPr txBox="1"/>
          <p:nvPr/>
        </p:nvSpPr>
        <p:spPr>
          <a:xfrm>
            <a:off x="961390" y="6319520"/>
            <a:ext cx="11140440" cy="386080"/>
          </a:xfrm>
          <a:prstGeom prst="rect">
            <a:avLst/>
          </a:prstGeom>
          <a:noFill/>
        </p:spPr>
        <p:txBody>
          <a:bodyPr wrap="square" rtlCol="0">
            <a:noAutofit/>
          </a:bodyPr>
          <a:p>
            <a:r>
              <a:rPr lang="en-US" altLang="zh-CN" sz="2400"/>
              <a:t>The values of these two loss functions are the same, but the two models are different</a:t>
            </a:r>
            <a:endParaRPr lang="en-US" altLang="zh-CN" sz="2400"/>
          </a:p>
          <a:p>
            <a:endParaRPr lang="en-US" altLang="zh-CN" sz="2400"/>
          </a:p>
        </p:txBody>
      </p:sp>
      <p:sp>
        <p:nvSpPr>
          <p:cNvPr id="19" name="object 5"/>
          <p:cNvSpPr/>
          <p:nvPr/>
        </p:nvSpPr>
        <p:spPr>
          <a:xfrm>
            <a:off x="668515" y="6319456"/>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8" name="object 2"/>
          <p:cNvPicPr/>
          <p:nvPr/>
        </p:nvPicPr>
        <p:blipFill>
          <a:blip r:embed="rId1" cstate="print"/>
          <a:stretch>
            <a:fillRect/>
          </a:stretch>
        </p:blipFill>
        <p:spPr>
          <a:xfrm>
            <a:off x="1054100" y="2305378"/>
            <a:ext cx="8663524" cy="1274034"/>
          </a:xfrm>
          <a:prstGeom prst="rect">
            <a:avLst/>
          </a:prstGeom>
        </p:spPr>
      </p:pic>
      <p:sp>
        <p:nvSpPr>
          <p:cNvPr id="9" name="object 9"/>
          <p:cNvSpPr txBox="1"/>
          <p:nvPr/>
        </p:nvSpPr>
        <p:spPr>
          <a:xfrm>
            <a:off x="961428" y="4070058"/>
            <a:ext cx="1549400" cy="1854200"/>
          </a:xfrm>
          <a:prstGeom prst="rect">
            <a:avLst/>
          </a:prstGeom>
        </p:spPr>
        <p:txBody>
          <a:bodyPr vert="horz" wrap="square" lIns="0" tIns="12700" rIns="0" bIns="0" rtlCol="0">
            <a:spAutoFit/>
          </a:bodyPr>
          <a:p>
            <a:pPr marL="12700">
              <a:lnSpc>
                <a:spcPct val="100000"/>
              </a:lnSpc>
              <a:spcBef>
                <a:spcPts val="100"/>
              </a:spcBef>
            </a:pPr>
            <a:r>
              <a:rPr sz="2400" spc="-10" dirty="0">
                <a:latin typeface="微软雅黑" panose="020B0503020204020204" charset="-122"/>
                <a:cs typeface="微软雅黑" panose="020B0503020204020204" charset="-122"/>
              </a:rPr>
              <a:t>输入数据：</a:t>
            </a:r>
            <a:endParaRPr sz="2400">
              <a:latin typeface="微软雅黑" panose="020B0503020204020204" charset="-122"/>
              <a:cs typeface="微软雅黑" panose="020B0503020204020204" charset="-122"/>
            </a:endParaRPr>
          </a:p>
          <a:p>
            <a:pPr marL="12700" marR="400685">
              <a:lnSpc>
                <a:spcPct val="200000"/>
              </a:lnSpc>
            </a:pPr>
            <a:r>
              <a:rPr sz="2400" dirty="0">
                <a:latin typeface="微软雅黑" panose="020B0503020204020204" charset="-122"/>
                <a:cs typeface="微软雅黑" panose="020B0503020204020204" charset="-122"/>
              </a:rPr>
              <a:t>模型</a:t>
            </a:r>
            <a:r>
              <a:rPr sz="2400" spc="-25" dirty="0">
                <a:latin typeface="微软雅黑" panose="020B0503020204020204" charset="-122"/>
                <a:cs typeface="微软雅黑" panose="020B0503020204020204" charset="-122"/>
              </a:rPr>
              <a:t>A：</a:t>
            </a:r>
            <a:r>
              <a:rPr sz="2400" dirty="0">
                <a:latin typeface="微软雅黑" panose="020B0503020204020204" charset="-122"/>
                <a:cs typeface="微软雅黑" panose="020B0503020204020204" charset="-122"/>
              </a:rPr>
              <a:t>模型</a:t>
            </a:r>
            <a:r>
              <a:rPr sz="2400" spc="-25" dirty="0">
                <a:latin typeface="微软雅黑" panose="020B0503020204020204" charset="-122"/>
                <a:cs typeface="微软雅黑" panose="020B0503020204020204" charset="-122"/>
              </a:rPr>
              <a:t>B：</a:t>
            </a:r>
            <a:endParaRPr sz="2400">
              <a:latin typeface="微软雅黑" panose="020B0503020204020204" charset="-122"/>
              <a:cs typeface="微软雅黑" panose="020B0503020204020204" charset="-122"/>
            </a:endParaRPr>
          </a:p>
        </p:txBody>
      </p:sp>
      <p:pic>
        <p:nvPicPr>
          <p:cNvPr id="20" name="object 7"/>
          <p:cNvPicPr/>
          <p:nvPr/>
        </p:nvPicPr>
        <p:blipFill>
          <a:blip r:embed="rId2" cstate="print"/>
          <a:stretch>
            <a:fillRect/>
          </a:stretch>
        </p:blipFill>
        <p:spPr>
          <a:xfrm>
            <a:off x="2462783" y="3956685"/>
            <a:ext cx="4969669" cy="1985772"/>
          </a:xfrm>
          <a:prstGeom prst="rect">
            <a:avLst/>
          </a:prstGeom>
        </p:spPr>
      </p:pic>
      <p:pic>
        <p:nvPicPr>
          <p:cNvPr id="21" name="object 10"/>
          <p:cNvPicPr/>
          <p:nvPr/>
        </p:nvPicPr>
        <p:blipFill>
          <a:blip r:embed="rId3" cstate="print"/>
          <a:stretch>
            <a:fillRect/>
          </a:stretch>
        </p:blipFill>
        <p:spPr>
          <a:xfrm>
            <a:off x="8172593" y="4070134"/>
            <a:ext cx="2696318" cy="67661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3570" y="152400"/>
            <a:ext cx="10532745" cy="449580"/>
          </a:xfrm>
          <a:prstGeom prst="rect">
            <a:avLst/>
          </a:prstGeom>
          <a:noFill/>
        </p:spPr>
        <p:txBody>
          <a:bodyPr wrap="square" rtlCol="0">
            <a:noAutofit/>
          </a:bodyPr>
          <a:p>
            <a:r>
              <a:rPr lang="en-US" altLang="zh-CN" sz="3600"/>
              <a:t>loss function</a:t>
            </a:r>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332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8510905" cy="897890"/>
          </a:xfrm>
          <a:prstGeom prst="rect">
            <a:avLst/>
          </a:prstGeom>
          <a:noFill/>
        </p:spPr>
        <p:txBody>
          <a:bodyPr wrap="square" rtlCol="0">
            <a:noAutofit/>
          </a:bodyPr>
          <a:p>
            <a:r>
              <a:rPr lang="en-US" altLang="zh-CN" sz="2400"/>
              <a:t>How does it mean that two models are the same when the value of the loss function is the same?</a:t>
            </a:r>
            <a:endParaRPr lang="en-US" altLang="zh-CN" sz="2400"/>
          </a:p>
          <a:p>
            <a:endParaRPr lang="en-US" altLang="zh-CN" sz="2400"/>
          </a:p>
          <a:p>
            <a:endParaRPr lang="en-US" altLang="zh-CN" sz="2400"/>
          </a:p>
        </p:txBody>
      </p:sp>
      <p:sp>
        <p:nvSpPr>
          <p:cNvPr id="18" name="文本框 17"/>
          <p:cNvSpPr txBox="1"/>
          <p:nvPr/>
        </p:nvSpPr>
        <p:spPr>
          <a:xfrm>
            <a:off x="961390" y="5838190"/>
            <a:ext cx="11140440" cy="386080"/>
          </a:xfrm>
          <a:prstGeom prst="rect">
            <a:avLst/>
          </a:prstGeom>
          <a:noFill/>
        </p:spPr>
        <p:txBody>
          <a:bodyPr wrap="square" rtlCol="0">
            <a:noAutofit/>
          </a:bodyPr>
          <a:p>
            <a:r>
              <a:rPr lang="en-US" altLang="zh-CN" sz="2400"/>
              <a:t>We always hope that the model is not too complex, overfitting models are useless</a:t>
            </a:r>
            <a:endParaRPr lang="en-US" altLang="zh-CN" sz="2400"/>
          </a:p>
        </p:txBody>
      </p:sp>
      <p:sp>
        <p:nvSpPr>
          <p:cNvPr id="19" name="object 5"/>
          <p:cNvSpPr/>
          <p:nvPr/>
        </p:nvSpPr>
        <p:spPr>
          <a:xfrm>
            <a:off x="802500" y="2605976"/>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sp>
        <p:nvSpPr>
          <p:cNvPr id="2" name="文本框 1"/>
          <p:cNvSpPr txBox="1"/>
          <p:nvPr/>
        </p:nvSpPr>
        <p:spPr>
          <a:xfrm>
            <a:off x="1095375" y="2438400"/>
            <a:ext cx="8376920" cy="460375"/>
          </a:xfrm>
          <a:prstGeom prst="rect">
            <a:avLst/>
          </a:prstGeom>
          <a:noFill/>
        </p:spPr>
        <p:txBody>
          <a:bodyPr wrap="square" rtlCol="0">
            <a:spAutoFit/>
          </a:bodyPr>
          <a:p>
            <a:r>
              <a:rPr lang="en-US" altLang="zh-CN" sz="2400"/>
              <a:t>Loss function=data loss+regularization penalty term</a:t>
            </a:r>
            <a:endParaRPr lang="en-US" altLang="zh-CN" sz="2400"/>
          </a:p>
        </p:txBody>
      </p:sp>
      <p:pic>
        <p:nvPicPr>
          <p:cNvPr id="7" name="object 7"/>
          <p:cNvPicPr/>
          <p:nvPr/>
        </p:nvPicPr>
        <p:blipFill>
          <a:blip r:embed="rId1" cstate="print"/>
          <a:stretch>
            <a:fillRect/>
          </a:stretch>
        </p:blipFill>
        <p:spPr>
          <a:xfrm>
            <a:off x="1046988" y="2923032"/>
            <a:ext cx="11145011" cy="982297"/>
          </a:xfrm>
          <a:prstGeom prst="rect">
            <a:avLst/>
          </a:prstGeom>
        </p:spPr>
      </p:pic>
      <p:sp>
        <p:nvSpPr>
          <p:cNvPr id="6" name="文本框 5"/>
          <p:cNvSpPr txBox="1"/>
          <p:nvPr/>
        </p:nvSpPr>
        <p:spPr>
          <a:xfrm>
            <a:off x="9107170" y="2068830"/>
            <a:ext cx="1934210" cy="829945"/>
          </a:xfrm>
          <a:prstGeom prst="rect">
            <a:avLst/>
          </a:prstGeom>
          <a:noFill/>
        </p:spPr>
        <p:txBody>
          <a:bodyPr wrap="square" rtlCol="0" anchor="t">
            <a:spAutoFit/>
          </a:bodyPr>
          <a:p>
            <a:r>
              <a:rPr lang="en-US" altLang="zh-CN" sz="2400">
                <a:sym typeface="+mn-ea"/>
              </a:rPr>
              <a:t>regularization penalty term</a:t>
            </a:r>
            <a:endParaRPr lang="en-US" altLang="zh-CN" sz="2400">
              <a:sym typeface="+mn-ea"/>
            </a:endParaRPr>
          </a:p>
        </p:txBody>
      </p:sp>
      <p:sp>
        <p:nvSpPr>
          <p:cNvPr id="12" name="文本框 11"/>
          <p:cNvSpPr txBox="1"/>
          <p:nvPr/>
        </p:nvSpPr>
        <p:spPr>
          <a:xfrm>
            <a:off x="1240155" y="4735195"/>
            <a:ext cx="3712845" cy="460375"/>
          </a:xfrm>
          <a:prstGeom prst="rect">
            <a:avLst/>
          </a:prstGeom>
          <a:noFill/>
        </p:spPr>
        <p:txBody>
          <a:bodyPr wrap="square" rtlCol="0" anchor="t">
            <a:spAutoFit/>
          </a:bodyPr>
          <a:p>
            <a:r>
              <a:rPr lang="en-US" altLang="zh-CN" sz="2400">
                <a:sym typeface="+mn-ea"/>
              </a:rPr>
              <a:t>regularization penalty term:</a:t>
            </a:r>
            <a:endParaRPr lang="en-US" altLang="zh-CN" sz="2400">
              <a:sym typeface="+mn-ea"/>
            </a:endParaRPr>
          </a:p>
        </p:txBody>
      </p:sp>
      <p:sp>
        <p:nvSpPr>
          <p:cNvPr id="13" name="object 5"/>
          <p:cNvSpPr/>
          <p:nvPr/>
        </p:nvSpPr>
        <p:spPr>
          <a:xfrm>
            <a:off x="802500" y="4902771"/>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14" name="object 9"/>
          <p:cNvPicPr/>
          <p:nvPr/>
        </p:nvPicPr>
        <p:blipFill>
          <a:blip r:embed="rId2" cstate="print"/>
          <a:stretch>
            <a:fillRect/>
          </a:stretch>
        </p:blipFill>
        <p:spPr>
          <a:xfrm>
            <a:off x="5097906" y="4661789"/>
            <a:ext cx="3200024" cy="533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23570" y="152400"/>
            <a:ext cx="10532745" cy="449580"/>
          </a:xfrm>
          <a:prstGeom prst="rect">
            <a:avLst/>
          </a:prstGeom>
          <a:noFill/>
        </p:spPr>
        <p:txBody>
          <a:bodyPr wrap="square" rtlCol="0">
            <a:noAutofit/>
          </a:bodyPr>
          <a:p>
            <a:r>
              <a:rPr lang="en-US" altLang="zh-CN" sz="3600"/>
              <a:t>The role of regularization</a:t>
            </a:r>
            <a:endParaRPr lang="en-US" altLang="zh-CN" sz="3600"/>
          </a:p>
          <a:p>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1108710" y="1271905"/>
            <a:ext cx="7143750" cy="386080"/>
          </a:xfrm>
          <a:prstGeom prst="rect">
            <a:avLst/>
          </a:prstGeom>
          <a:noFill/>
        </p:spPr>
        <p:txBody>
          <a:bodyPr wrap="square" rtlCol="0">
            <a:noAutofit/>
          </a:bodyPr>
          <a:p>
            <a:r>
              <a:rPr lang="en-US" altLang="zh-CN" sz="2400"/>
              <a:t>The impact of punishment intensity on the outcome:</a:t>
            </a:r>
            <a:endParaRPr lang="en-US" altLang="zh-CN" sz="2400"/>
          </a:p>
        </p:txBody>
      </p:sp>
      <p:sp>
        <p:nvSpPr>
          <p:cNvPr id="13" name="object 5"/>
          <p:cNvSpPr/>
          <p:nvPr/>
        </p:nvSpPr>
        <p:spPr>
          <a:xfrm>
            <a:off x="623430" y="1377886"/>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3" name="object 7"/>
          <p:cNvPicPr/>
          <p:nvPr/>
        </p:nvPicPr>
        <p:blipFill>
          <a:blip r:embed="rId1" cstate="print"/>
          <a:stretch>
            <a:fillRect/>
          </a:stretch>
        </p:blipFill>
        <p:spPr>
          <a:xfrm>
            <a:off x="760730" y="1776095"/>
            <a:ext cx="10918190" cy="902335"/>
          </a:xfrm>
          <a:prstGeom prst="rect">
            <a:avLst/>
          </a:prstGeom>
        </p:spPr>
      </p:pic>
      <p:pic>
        <p:nvPicPr>
          <p:cNvPr id="8" name="object 2"/>
          <p:cNvPicPr/>
          <p:nvPr/>
        </p:nvPicPr>
        <p:blipFill>
          <a:blip r:embed="rId2" cstate="print"/>
          <a:stretch>
            <a:fillRect/>
          </a:stretch>
        </p:blipFill>
        <p:spPr>
          <a:xfrm>
            <a:off x="623570" y="2678430"/>
            <a:ext cx="10172700" cy="3468370"/>
          </a:xfrm>
          <a:prstGeom prst="rect">
            <a:avLst/>
          </a:prstGeom>
        </p:spPr>
      </p:pic>
      <p:sp>
        <p:nvSpPr>
          <p:cNvPr id="15" name="object 6"/>
          <p:cNvSpPr txBox="1"/>
          <p:nvPr/>
        </p:nvSpPr>
        <p:spPr>
          <a:xfrm>
            <a:off x="4028109" y="6349593"/>
            <a:ext cx="6768465" cy="299720"/>
          </a:xfrm>
          <a:prstGeom prst="rect">
            <a:avLst/>
          </a:prstGeom>
        </p:spPr>
        <p:txBody>
          <a:bodyPr vert="horz" wrap="square" lIns="0" tIns="12700" rIns="0" bIns="0" rtlCol="0">
            <a:spAutoFit/>
          </a:bodyPr>
          <a:p>
            <a:pPr marL="12700">
              <a:lnSpc>
                <a:spcPct val="100000"/>
              </a:lnSpc>
              <a:spcBef>
                <a:spcPts val="100"/>
              </a:spcBef>
            </a:pPr>
            <a:r>
              <a:rPr sz="1800" spc="-10" dirty="0">
                <a:latin typeface="Calibri" panose="020F0502020204030204"/>
                <a:cs typeface="Calibri" panose="020F0502020204030204"/>
                <a:hlinkClick r:id="rId3"/>
              </a:rPr>
              <a:t>http://cs.stanford.edu/people/karpathy/convnetjs/demo/classify2d.html</a:t>
            </a:r>
            <a:endParaRPr sz="1800">
              <a:latin typeface="Calibri" panose="020F0502020204030204"/>
              <a:cs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5915" y="152400"/>
            <a:ext cx="10532745" cy="662940"/>
          </a:xfrm>
          <a:prstGeom prst="rect">
            <a:avLst/>
          </a:prstGeom>
          <a:noFill/>
        </p:spPr>
        <p:txBody>
          <a:bodyPr wrap="square" rtlCol="0">
            <a:noAutofit/>
          </a:bodyPr>
          <a:p>
            <a:r>
              <a:rPr sz="3600" spc="-20" dirty="0">
                <a:latin typeface="微软雅黑" panose="020B0503020204020204" charset="-122"/>
                <a:cs typeface="微软雅黑" panose="020B0503020204020204" charset="-122"/>
                <a:sym typeface="+mn-ea"/>
              </a:rPr>
              <a:t>Softmax</a:t>
            </a:r>
            <a:r>
              <a:rPr lang="en-US" sz="3600" spc="-20" dirty="0">
                <a:latin typeface="微软雅黑" panose="020B0503020204020204" charset="-122"/>
                <a:cs typeface="微软雅黑" panose="020B0503020204020204" charset="-122"/>
                <a:sym typeface="+mn-ea"/>
              </a:rPr>
              <a:t> </a:t>
            </a:r>
            <a:r>
              <a:rPr lang="en-US" altLang="zh-CN" sz="3600"/>
              <a:t>classifier</a:t>
            </a:r>
            <a:endParaRPr lang="en-US" altLang="zh-CN" sz="3600"/>
          </a:p>
          <a:p>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332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9086215" cy="897890"/>
          </a:xfrm>
          <a:prstGeom prst="rect">
            <a:avLst/>
          </a:prstGeom>
          <a:noFill/>
        </p:spPr>
        <p:txBody>
          <a:bodyPr wrap="square" rtlCol="0">
            <a:noAutofit/>
          </a:bodyPr>
          <a:p>
            <a:r>
              <a:rPr lang="en-US" altLang="zh-CN" sz="2400"/>
              <a:t>What we have now is an input score value, but wouldn't it be better if you gave me a probability value!</a:t>
            </a:r>
            <a:endParaRPr lang="en-US" altLang="zh-CN" sz="2400"/>
          </a:p>
          <a:p>
            <a:endParaRPr lang="en-US" altLang="zh-CN" sz="2400"/>
          </a:p>
          <a:p>
            <a:endParaRPr lang="en-US" altLang="zh-CN" sz="2400"/>
          </a:p>
        </p:txBody>
      </p:sp>
      <p:sp>
        <p:nvSpPr>
          <p:cNvPr id="2" name="文本框 1"/>
          <p:cNvSpPr txBox="1"/>
          <p:nvPr/>
        </p:nvSpPr>
        <p:spPr>
          <a:xfrm>
            <a:off x="1028700" y="2611755"/>
            <a:ext cx="9875520" cy="478790"/>
          </a:xfrm>
          <a:prstGeom prst="rect">
            <a:avLst/>
          </a:prstGeom>
          <a:noFill/>
        </p:spPr>
        <p:txBody>
          <a:bodyPr wrap="square" rtlCol="0">
            <a:noAutofit/>
          </a:bodyPr>
          <a:p>
            <a:r>
              <a:rPr lang="en-US" altLang="zh-CN" sz="2400"/>
              <a:t>How to convert a score value into a probability value?-----</a:t>
            </a:r>
            <a:r>
              <a:rPr sz="2400" spc="-20" dirty="0">
                <a:latin typeface="微软雅黑" panose="020B0503020204020204" charset="-122"/>
                <a:cs typeface="微软雅黑" panose="020B0503020204020204" charset="-122"/>
                <a:sym typeface="+mn-ea"/>
              </a:rPr>
              <a:t>Softmax</a:t>
            </a:r>
            <a:r>
              <a:rPr lang="en-US" sz="2400" spc="-20" dirty="0">
                <a:latin typeface="微软雅黑" panose="020B0503020204020204" charset="-122"/>
                <a:cs typeface="微软雅黑" panose="020B0503020204020204" charset="-122"/>
                <a:sym typeface="+mn-ea"/>
              </a:rPr>
              <a:t> </a:t>
            </a:r>
            <a:r>
              <a:rPr lang="en-US" altLang="zh-CN" sz="2400">
                <a:sym typeface="+mn-ea"/>
              </a:rPr>
              <a:t>classifier</a:t>
            </a:r>
            <a:endParaRPr lang="en-US" altLang="zh-CN" sz="2400"/>
          </a:p>
          <a:p>
            <a:endParaRPr lang="en-US" altLang="zh-CN" sz="2400"/>
          </a:p>
          <a:p>
            <a:endParaRPr lang="en-US" altLang="zh-CN"/>
          </a:p>
          <a:p>
            <a:endParaRPr lang="en-US" altLang="zh-CN"/>
          </a:p>
        </p:txBody>
      </p:sp>
      <p:sp>
        <p:nvSpPr>
          <p:cNvPr id="3" name="object 5"/>
          <p:cNvSpPr/>
          <p:nvPr/>
        </p:nvSpPr>
        <p:spPr>
          <a:xfrm>
            <a:off x="795515" y="2703131"/>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7" name="object 7"/>
          <p:cNvPicPr/>
          <p:nvPr/>
        </p:nvPicPr>
        <p:blipFill>
          <a:blip r:embed="rId1" cstate="print"/>
          <a:stretch>
            <a:fillRect/>
          </a:stretch>
        </p:blipFill>
        <p:spPr>
          <a:xfrm>
            <a:off x="1088218" y="3170936"/>
            <a:ext cx="4366619" cy="2973166"/>
          </a:xfrm>
          <a:prstGeom prst="rect">
            <a:avLst/>
          </a:prstGeom>
        </p:spPr>
      </p:pic>
      <p:pic>
        <p:nvPicPr>
          <p:cNvPr id="6" name="object 8"/>
          <p:cNvPicPr/>
          <p:nvPr/>
        </p:nvPicPr>
        <p:blipFill>
          <a:blip r:embed="rId2" cstate="print"/>
          <a:stretch>
            <a:fillRect/>
          </a:stretch>
        </p:blipFill>
        <p:spPr>
          <a:xfrm>
            <a:off x="7199326" y="4416117"/>
            <a:ext cx="1685338" cy="76103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5915" y="152400"/>
            <a:ext cx="10532745" cy="662940"/>
          </a:xfrm>
          <a:prstGeom prst="rect">
            <a:avLst/>
          </a:prstGeom>
          <a:noFill/>
        </p:spPr>
        <p:txBody>
          <a:bodyPr wrap="square" rtlCol="0">
            <a:noAutofit/>
          </a:bodyPr>
          <a:p>
            <a:r>
              <a:rPr sz="3600" spc="-20" dirty="0">
                <a:latin typeface="微软雅黑" panose="020B0503020204020204" charset="-122"/>
                <a:cs typeface="微软雅黑" panose="020B0503020204020204" charset="-122"/>
                <a:sym typeface="+mn-ea"/>
              </a:rPr>
              <a:t>Softmax</a:t>
            </a:r>
            <a:r>
              <a:rPr lang="en-US" sz="3600" spc="-20" dirty="0">
                <a:latin typeface="微软雅黑" panose="020B0503020204020204" charset="-122"/>
                <a:cs typeface="微软雅黑" panose="020B0503020204020204" charset="-122"/>
                <a:sym typeface="+mn-ea"/>
              </a:rPr>
              <a:t> </a:t>
            </a:r>
            <a:r>
              <a:rPr lang="en-US" altLang="zh-CN" sz="3600"/>
              <a:t>classifier</a:t>
            </a:r>
            <a:endParaRPr lang="en-US" altLang="zh-CN" sz="3600"/>
          </a:p>
          <a:p>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332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1908175" cy="498475"/>
          </a:xfrm>
          <a:prstGeom prst="rect">
            <a:avLst/>
          </a:prstGeom>
          <a:noFill/>
        </p:spPr>
        <p:txBody>
          <a:bodyPr wrap="square" rtlCol="0">
            <a:noAutofit/>
          </a:bodyPr>
          <a:p>
            <a:r>
              <a:rPr lang="en-US" altLang="zh-CN" sz="2400"/>
              <a:t>normalization:</a:t>
            </a:r>
            <a:endParaRPr lang="en-US" altLang="zh-CN" sz="2400"/>
          </a:p>
          <a:p>
            <a:endParaRPr lang="en-US" altLang="zh-CN" sz="2400"/>
          </a:p>
          <a:p>
            <a:endParaRPr lang="en-US" altLang="zh-CN" sz="2400"/>
          </a:p>
        </p:txBody>
      </p:sp>
      <p:sp>
        <p:nvSpPr>
          <p:cNvPr id="2" name="文本框 1"/>
          <p:cNvSpPr txBox="1"/>
          <p:nvPr/>
        </p:nvSpPr>
        <p:spPr>
          <a:xfrm>
            <a:off x="961390" y="2612390"/>
            <a:ext cx="2750185" cy="478790"/>
          </a:xfrm>
          <a:prstGeom prst="rect">
            <a:avLst/>
          </a:prstGeom>
          <a:noFill/>
        </p:spPr>
        <p:txBody>
          <a:bodyPr wrap="square" rtlCol="0">
            <a:noAutofit/>
          </a:bodyPr>
          <a:p>
            <a:r>
              <a:rPr lang="en-US" altLang="zh-CN" sz="2400"/>
              <a:t>Calculate loss value:</a:t>
            </a:r>
            <a:endParaRPr lang="en-US" altLang="zh-CN" sz="2400"/>
          </a:p>
          <a:p>
            <a:endParaRPr lang="en-US" altLang="zh-CN"/>
          </a:p>
          <a:p>
            <a:endParaRPr lang="en-US" altLang="zh-CN"/>
          </a:p>
          <a:p>
            <a:endParaRPr lang="en-US" altLang="zh-CN"/>
          </a:p>
          <a:p>
            <a:endParaRPr lang="en-US" altLang="zh-CN"/>
          </a:p>
          <a:p>
            <a:endParaRPr lang="en-US" altLang="zh-CN"/>
          </a:p>
        </p:txBody>
      </p:sp>
      <p:pic>
        <p:nvPicPr>
          <p:cNvPr id="8" name="object 8"/>
          <p:cNvPicPr/>
          <p:nvPr/>
        </p:nvPicPr>
        <p:blipFill>
          <a:blip r:embed="rId1" cstate="print"/>
          <a:stretch>
            <a:fillRect/>
          </a:stretch>
        </p:blipFill>
        <p:spPr>
          <a:xfrm>
            <a:off x="3056890" y="1238250"/>
            <a:ext cx="8166100" cy="951230"/>
          </a:xfrm>
          <a:prstGeom prst="rect">
            <a:avLst/>
          </a:prstGeom>
        </p:spPr>
      </p:pic>
      <p:sp>
        <p:nvSpPr>
          <p:cNvPr id="9" name="object 4"/>
          <p:cNvSpPr/>
          <p:nvPr/>
        </p:nvSpPr>
        <p:spPr>
          <a:xfrm>
            <a:off x="459409" y="276312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pic>
        <p:nvPicPr>
          <p:cNvPr id="12" name="object 9"/>
          <p:cNvPicPr/>
          <p:nvPr/>
        </p:nvPicPr>
        <p:blipFill>
          <a:blip r:embed="rId2" cstate="print"/>
          <a:stretch>
            <a:fillRect/>
          </a:stretch>
        </p:blipFill>
        <p:spPr>
          <a:xfrm>
            <a:off x="3711662" y="2612416"/>
            <a:ext cx="5569230" cy="694408"/>
          </a:xfrm>
          <a:prstGeom prst="rect">
            <a:avLst/>
          </a:prstGeom>
        </p:spPr>
      </p:pic>
      <p:pic>
        <p:nvPicPr>
          <p:cNvPr id="13" name="object 7"/>
          <p:cNvPicPr/>
          <p:nvPr/>
        </p:nvPicPr>
        <p:blipFill>
          <a:blip r:embed="rId3" cstate="print"/>
          <a:stretch>
            <a:fillRect/>
          </a:stretch>
        </p:blipFill>
        <p:spPr>
          <a:xfrm>
            <a:off x="2465374" y="3827399"/>
            <a:ext cx="9553549" cy="2329315"/>
          </a:xfrm>
          <a:prstGeom prst="rect">
            <a:avLst/>
          </a:prstGeom>
        </p:spPr>
      </p:pic>
      <p:sp>
        <p:nvSpPr>
          <p:cNvPr id="14" name="文本框 13"/>
          <p:cNvSpPr txBox="1"/>
          <p:nvPr/>
        </p:nvSpPr>
        <p:spPr>
          <a:xfrm>
            <a:off x="459105" y="4888230"/>
            <a:ext cx="1691005" cy="390525"/>
          </a:xfrm>
          <a:prstGeom prst="rect">
            <a:avLst/>
          </a:prstGeom>
          <a:noFill/>
        </p:spPr>
        <p:txBody>
          <a:bodyPr wrap="square" rtlCol="0">
            <a:noAutofit/>
          </a:bodyPr>
          <a:p>
            <a:r>
              <a:rPr lang="en-US" altLang="zh-CN" sz="2400"/>
              <a:t>for example</a:t>
            </a:r>
            <a:endParaRPr lang="en-US" altLang="zh-CN" sz="2400"/>
          </a:p>
          <a:p>
            <a:endParaRPr lang="en-US" altLang="zh-CN"/>
          </a:p>
          <a:p>
            <a:endParaRPr lang="en-US" altLang="zh-CN"/>
          </a:p>
          <a:p>
            <a:endParaRPr lang="en-US" altLang="zh-CN"/>
          </a:p>
          <a:p>
            <a:endParaRPr lang="en-US" altLang="zh-CN"/>
          </a:p>
          <a:p>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35915" y="152400"/>
            <a:ext cx="10532745" cy="662940"/>
          </a:xfrm>
          <a:prstGeom prst="rect">
            <a:avLst/>
          </a:prstGeom>
          <a:noFill/>
        </p:spPr>
        <p:txBody>
          <a:bodyPr wrap="square" rtlCol="0">
            <a:noAutofit/>
          </a:bodyPr>
          <a:p>
            <a:r>
              <a:rPr lang="en-US" altLang="zh-CN" sz="3600"/>
              <a:t>forward propagation</a:t>
            </a:r>
            <a:endParaRPr lang="en-US" altLang="zh-CN" sz="3600"/>
          </a:p>
          <a:p>
            <a:endParaRPr lang="en-US" altLang="zh-CN" sz="3600"/>
          </a:p>
          <a:p>
            <a:endParaRPr lang="en-US" altLang="zh-CN" sz="3600"/>
          </a:p>
          <a:p>
            <a:endParaRPr lang="en-US" altLang="zh-CN" sz="3600"/>
          </a:p>
          <a:p>
            <a:endParaRPr lang="en-US" altLang="zh-CN" sz="3600"/>
          </a:p>
          <a:p>
            <a:endParaRPr lang="en-US" altLang="zh-CN" sz="3600"/>
          </a:p>
          <a:p>
            <a:endParaRPr lang="en-US" altLang="zh-CN" sz="3600"/>
          </a:p>
          <a:p>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332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9862820" cy="498475"/>
          </a:xfrm>
          <a:prstGeom prst="rect">
            <a:avLst/>
          </a:prstGeom>
          <a:noFill/>
        </p:spPr>
        <p:txBody>
          <a:bodyPr wrap="square" rtlCol="0">
            <a:noAutofit/>
          </a:bodyPr>
          <a:p>
            <a:r>
              <a:rPr lang="en-US" altLang="zh-CN" sz="2400"/>
              <a:t>In the above learning, we have already learned how to calculate scores and loss functions. Now, how can we update and optimize our model based on this loss function to better recognize images.</a:t>
            </a:r>
            <a:endParaRPr lang="en-US" altLang="zh-CN" sz="2400"/>
          </a:p>
          <a:p>
            <a:endParaRPr lang="en-US" altLang="zh-CN" sz="2400"/>
          </a:p>
        </p:txBody>
      </p:sp>
      <p:sp>
        <p:nvSpPr>
          <p:cNvPr id="2" name="文本框 1"/>
          <p:cNvSpPr txBox="1"/>
          <p:nvPr/>
        </p:nvSpPr>
        <p:spPr>
          <a:xfrm>
            <a:off x="2004695" y="5537835"/>
            <a:ext cx="6733540" cy="478790"/>
          </a:xfrm>
          <a:prstGeom prst="rect">
            <a:avLst/>
          </a:prstGeom>
          <a:noFill/>
        </p:spPr>
        <p:txBody>
          <a:bodyPr wrap="square" rtlCol="0">
            <a:noAutofit/>
          </a:bodyPr>
          <a:p>
            <a:r>
              <a:rPr lang="en-US" altLang="zh-CN" sz="2400"/>
              <a:t>This is left to backpropagation (gradient descent)</a:t>
            </a:r>
            <a:endParaRPr lang="en-US" altLang="zh-CN" sz="2400"/>
          </a:p>
          <a:p>
            <a:endParaRPr lang="en-US" altLang="zh-CN"/>
          </a:p>
          <a:p>
            <a:endParaRPr lang="en-US" altLang="zh-CN"/>
          </a:p>
          <a:p>
            <a:endParaRPr lang="en-US" altLang="zh-CN"/>
          </a:p>
          <a:p>
            <a:endParaRPr lang="en-US" altLang="zh-CN"/>
          </a:p>
        </p:txBody>
      </p:sp>
      <p:sp>
        <p:nvSpPr>
          <p:cNvPr id="9" name="object 4"/>
          <p:cNvSpPr/>
          <p:nvPr/>
        </p:nvSpPr>
        <p:spPr>
          <a:xfrm>
            <a:off x="1632889" y="566825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pic>
        <p:nvPicPr>
          <p:cNvPr id="3" name="object 2"/>
          <p:cNvPicPr/>
          <p:nvPr/>
        </p:nvPicPr>
        <p:blipFill>
          <a:blip r:embed="rId1" cstate="print"/>
          <a:stretch>
            <a:fillRect/>
          </a:stretch>
        </p:blipFill>
        <p:spPr>
          <a:xfrm>
            <a:off x="1632585" y="2993390"/>
            <a:ext cx="8067040" cy="227584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91465" y="152400"/>
            <a:ext cx="10532745" cy="662940"/>
          </a:xfrm>
          <a:prstGeom prst="rect">
            <a:avLst/>
          </a:prstGeom>
          <a:noFill/>
        </p:spPr>
        <p:txBody>
          <a:bodyPr wrap="square" rtlCol="0">
            <a:noAutofit/>
          </a:bodyPr>
          <a:p>
            <a:r>
              <a:rPr lang="en-US" altLang="zh-CN" sz="3600">
                <a:sym typeface="+mn-ea"/>
              </a:rPr>
              <a:t>gradient descent</a:t>
            </a:r>
            <a:endParaRPr lang="en-US" altLang="zh-CN" sz="3600"/>
          </a:p>
          <a:p>
            <a:endParaRPr lang="en-US" altLang="zh-CN" sz="3600"/>
          </a:p>
          <a:p>
            <a:endParaRPr lang="en-US" altLang="zh-CN" sz="3600"/>
          </a:p>
          <a:p>
            <a:endParaRPr lang="en-US" altLang="zh-CN" sz="3600"/>
          </a:p>
          <a:p>
            <a:endParaRPr lang="en-US" altLang="zh-CN" sz="3600"/>
          </a:p>
          <a:p>
            <a:endParaRPr lang="en-US" altLang="zh-CN" sz="3600"/>
          </a:p>
          <a:p>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459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10277475" cy="1216025"/>
          </a:xfrm>
          <a:prstGeom prst="rect">
            <a:avLst/>
          </a:prstGeom>
          <a:noFill/>
        </p:spPr>
        <p:txBody>
          <a:bodyPr wrap="square" rtlCol="0">
            <a:noAutofit/>
          </a:bodyPr>
          <a:p>
            <a:r>
              <a:rPr lang="en-US" altLang="zh-CN" sz="2400"/>
              <a:t>Introduction: After obtaining an objective function, how do we solve it?</a:t>
            </a:r>
            <a:endParaRPr lang="en-US" altLang="zh-CN" sz="2400"/>
          </a:p>
          <a:p>
            <a:r>
              <a:rPr lang="en-US" altLang="zh-CN" sz="2400"/>
              <a:t>Directly solving? (Not necessarily solvable, linear regression can be considered as a special case)</a:t>
            </a:r>
            <a:endParaRPr lang="en-US" altLang="zh-CN" sz="2400"/>
          </a:p>
        </p:txBody>
      </p:sp>
      <p:sp>
        <p:nvSpPr>
          <p:cNvPr id="2" name="文本框 1"/>
          <p:cNvSpPr txBox="1"/>
          <p:nvPr/>
        </p:nvSpPr>
        <p:spPr>
          <a:xfrm>
            <a:off x="1350010" y="5217160"/>
            <a:ext cx="10436225" cy="1120140"/>
          </a:xfrm>
          <a:prstGeom prst="rect">
            <a:avLst/>
          </a:prstGeom>
          <a:noFill/>
        </p:spPr>
        <p:txBody>
          <a:bodyPr wrap="square" rtlCol="0">
            <a:noAutofit/>
          </a:bodyPr>
          <a:p>
            <a:r>
              <a:rPr lang="en-US" altLang="zh-CN" sz="2400"/>
              <a:t>How to optimize: Don't become fat in one bite, we need to complete iterations step by step.(Every time you optimize a little bit, it accumulates to be a big achievement)</a:t>
            </a:r>
            <a:endParaRPr lang="en-US" altLang="zh-CN" sz="2400"/>
          </a:p>
          <a:p>
            <a:endParaRPr lang="en-US" altLang="zh-CN"/>
          </a:p>
          <a:p>
            <a:endParaRPr lang="en-US" altLang="zh-CN"/>
          </a:p>
          <a:p>
            <a:endParaRPr lang="en-US" altLang="zh-CN"/>
          </a:p>
          <a:p>
            <a:endParaRPr lang="en-US" altLang="zh-CN"/>
          </a:p>
        </p:txBody>
      </p:sp>
      <p:sp>
        <p:nvSpPr>
          <p:cNvPr id="9" name="object 4"/>
          <p:cNvSpPr/>
          <p:nvPr/>
        </p:nvSpPr>
        <p:spPr>
          <a:xfrm>
            <a:off x="670229" y="566825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6" name="文本框 5"/>
          <p:cNvSpPr txBox="1"/>
          <p:nvPr/>
        </p:nvSpPr>
        <p:spPr>
          <a:xfrm>
            <a:off x="1088390" y="3156585"/>
            <a:ext cx="10277475" cy="1216025"/>
          </a:xfrm>
          <a:prstGeom prst="rect">
            <a:avLst/>
          </a:prstGeom>
          <a:noFill/>
        </p:spPr>
        <p:txBody>
          <a:bodyPr wrap="square" rtlCol="0">
            <a:noAutofit/>
          </a:bodyPr>
          <a:p>
            <a:r>
              <a:rPr lang="en-US" altLang="zh-CN" sz="2400"/>
              <a:t>Conventional routine: The routine of machine learning is that I give the machine a bunch of data, and then tell it what learning method is right (objective function), and then let it do it in this direction</a:t>
            </a:r>
            <a:endParaRPr lang="en-US" altLang="zh-CN" sz="2400"/>
          </a:p>
          <a:p>
            <a:endParaRPr lang="en-US" altLang="zh-CN" sz="2400"/>
          </a:p>
        </p:txBody>
      </p:sp>
      <p:sp>
        <p:nvSpPr>
          <p:cNvPr id="7" name="object 4"/>
          <p:cNvSpPr/>
          <p:nvPr/>
        </p:nvSpPr>
        <p:spPr>
          <a:xfrm>
            <a:off x="459409" y="379246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91465" y="152400"/>
            <a:ext cx="10532745" cy="662940"/>
          </a:xfrm>
          <a:prstGeom prst="rect">
            <a:avLst/>
          </a:prstGeom>
          <a:noFill/>
        </p:spPr>
        <p:txBody>
          <a:bodyPr wrap="square" rtlCol="0">
            <a:noAutofit/>
          </a:bodyPr>
          <a:p>
            <a:r>
              <a:rPr lang="en-US" altLang="zh-CN" sz="3600">
                <a:sym typeface="+mn-ea"/>
              </a:rPr>
              <a:t>gradient descent</a:t>
            </a:r>
            <a:endParaRPr lang="en-US" altLang="zh-CN" sz="3600"/>
          </a:p>
          <a:p>
            <a:endParaRPr lang="en-US" altLang="zh-CN" sz="3600"/>
          </a:p>
          <a:p>
            <a:endParaRPr lang="en-US" altLang="zh-CN" sz="3600"/>
          </a:p>
          <a:p>
            <a:endParaRPr lang="en-US" altLang="zh-CN" sz="3600"/>
          </a:p>
          <a:p>
            <a:endParaRPr lang="en-US" altLang="zh-CN" sz="3600"/>
          </a:p>
          <a:p>
            <a:endParaRPr lang="en-US" altLang="zh-CN" sz="3600"/>
          </a:p>
          <a:p>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459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2564130" cy="502920"/>
          </a:xfrm>
          <a:prstGeom prst="rect">
            <a:avLst/>
          </a:prstGeom>
          <a:noFill/>
        </p:spPr>
        <p:txBody>
          <a:bodyPr wrap="square" rtlCol="0">
            <a:noAutofit/>
          </a:bodyPr>
          <a:p>
            <a:r>
              <a:rPr lang="en-US" altLang="zh-CN" sz="2400"/>
              <a:t>Objective function:</a:t>
            </a:r>
            <a:endParaRPr lang="en-US" altLang="zh-CN" sz="2400"/>
          </a:p>
        </p:txBody>
      </p:sp>
      <p:sp>
        <p:nvSpPr>
          <p:cNvPr id="2" name="文本框 1"/>
          <p:cNvSpPr txBox="1"/>
          <p:nvPr/>
        </p:nvSpPr>
        <p:spPr>
          <a:xfrm>
            <a:off x="1203325" y="4221480"/>
            <a:ext cx="6733540" cy="2215515"/>
          </a:xfrm>
          <a:prstGeom prst="rect">
            <a:avLst/>
          </a:prstGeom>
          <a:noFill/>
        </p:spPr>
        <p:txBody>
          <a:bodyPr wrap="square" rtlCol="0">
            <a:noAutofit/>
          </a:bodyPr>
          <a:p>
            <a:r>
              <a:rPr lang="en-US" altLang="zh-CN" sz="2400"/>
              <a:t>How many steps do you take down the mountain? (Update parameters)</a:t>
            </a:r>
            <a:endParaRPr lang="en-US" altLang="zh-CN" sz="2400"/>
          </a:p>
          <a:p>
            <a:r>
              <a:rPr lang="en-US" altLang="zh-CN" sz="2400"/>
              <a:t>1.Find the most suitable direction at present</a:t>
            </a:r>
            <a:endParaRPr lang="en-US" altLang="zh-CN" sz="2400"/>
          </a:p>
          <a:p>
            <a:r>
              <a:rPr lang="en-US" altLang="zh-CN" sz="2400"/>
              <a:t>2.Take such a small step</a:t>
            </a:r>
            <a:endParaRPr lang="en-US" altLang="zh-CN" sz="2400"/>
          </a:p>
          <a:p>
            <a:r>
              <a:rPr lang="en-US" altLang="zh-CN" sz="2400"/>
              <a:t>3.Update our parameters according to direction and pace</a:t>
            </a:r>
            <a:endParaRPr lang="en-US" altLang="zh-CN" sz="2400"/>
          </a:p>
          <a:p>
            <a:endParaRPr lang="en-US" altLang="zh-CN" sz="2400"/>
          </a:p>
          <a:p>
            <a:endParaRPr lang="en-US" altLang="zh-CN" sz="2400"/>
          </a:p>
          <a:p>
            <a:endParaRPr lang="en-US" altLang="zh-CN" sz="2400"/>
          </a:p>
          <a:p>
            <a:endParaRPr lang="en-US" altLang="zh-CN"/>
          </a:p>
          <a:p>
            <a:endParaRPr lang="en-US" altLang="zh-CN"/>
          </a:p>
          <a:p>
            <a:endParaRPr lang="en-US" altLang="zh-CN"/>
          </a:p>
        </p:txBody>
      </p:sp>
      <p:sp>
        <p:nvSpPr>
          <p:cNvPr id="9" name="object 4"/>
          <p:cNvSpPr/>
          <p:nvPr/>
        </p:nvSpPr>
        <p:spPr>
          <a:xfrm>
            <a:off x="670229" y="43442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6" name="文本框 5"/>
          <p:cNvSpPr txBox="1"/>
          <p:nvPr/>
        </p:nvSpPr>
        <p:spPr>
          <a:xfrm>
            <a:off x="1088390" y="2282825"/>
            <a:ext cx="6508750" cy="1536700"/>
          </a:xfrm>
          <a:prstGeom prst="rect">
            <a:avLst/>
          </a:prstGeom>
          <a:noFill/>
        </p:spPr>
        <p:txBody>
          <a:bodyPr wrap="square" rtlCol="0">
            <a:noAutofit/>
          </a:bodyPr>
          <a:p>
            <a:r>
              <a:rPr lang="en-US" altLang="zh-CN" sz="2400"/>
              <a:t>Find the lowest point of the valley, which is the endpoint of our objective function.</a:t>
            </a:r>
            <a:endParaRPr lang="en-US" altLang="zh-CN" sz="2400"/>
          </a:p>
          <a:p>
            <a:r>
              <a:rPr lang="en-US" altLang="zh-CN" sz="2400"/>
              <a:t>What parameters can make the objective function reach the extremum point</a:t>
            </a:r>
            <a:endParaRPr lang="en-US" altLang="zh-CN" sz="2400"/>
          </a:p>
        </p:txBody>
      </p:sp>
      <p:sp>
        <p:nvSpPr>
          <p:cNvPr id="7" name="object 4"/>
          <p:cNvSpPr/>
          <p:nvPr/>
        </p:nvSpPr>
        <p:spPr>
          <a:xfrm>
            <a:off x="552754" y="261644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pic>
        <p:nvPicPr>
          <p:cNvPr id="3" name="object 9"/>
          <p:cNvPicPr/>
          <p:nvPr/>
        </p:nvPicPr>
        <p:blipFill>
          <a:blip r:embed="rId1" cstate="print"/>
          <a:stretch>
            <a:fillRect/>
          </a:stretch>
        </p:blipFill>
        <p:spPr>
          <a:xfrm>
            <a:off x="3525520" y="1297940"/>
            <a:ext cx="5105400" cy="676910"/>
          </a:xfrm>
          <a:prstGeom prst="rect">
            <a:avLst/>
          </a:prstGeom>
        </p:spPr>
      </p:pic>
      <p:pic>
        <p:nvPicPr>
          <p:cNvPr id="15" name="object 10"/>
          <p:cNvPicPr/>
          <p:nvPr/>
        </p:nvPicPr>
        <p:blipFill>
          <a:blip r:embed="rId2" cstate="print"/>
          <a:stretch>
            <a:fillRect/>
          </a:stretch>
        </p:blipFill>
        <p:spPr>
          <a:xfrm>
            <a:off x="7776657" y="1974850"/>
            <a:ext cx="3982553" cy="293751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91465" y="152400"/>
            <a:ext cx="10532745" cy="662940"/>
          </a:xfrm>
          <a:prstGeom prst="rect">
            <a:avLst/>
          </a:prstGeom>
          <a:noFill/>
        </p:spPr>
        <p:txBody>
          <a:bodyPr wrap="square" rtlCol="0">
            <a:noAutofit/>
          </a:bodyPr>
          <a:p>
            <a:r>
              <a:rPr lang="en-US" altLang="zh-CN" sz="3600">
                <a:sym typeface="+mn-ea"/>
              </a:rPr>
              <a:t>gradient descent</a:t>
            </a:r>
            <a:endParaRPr lang="en-US" altLang="zh-CN" sz="3600"/>
          </a:p>
          <a:p>
            <a:endParaRPr lang="en-US" altLang="zh-CN" sz="3600"/>
          </a:p>
          <a:p>
            <a:endParaRPr lang="en-US" altLang="zh-CN" sz="3600"/>
          </a:p>
          <a:p>
            <a:endParaRPr lang="en-US" altLang="zh-CN" sz="3600"/>
          </a:p>
          <a:p>
            <a:endParaRPr lang="en-US" altLang="zh-CN" sz="3600"/>
          </a:p>
          <a:p>
            <a:endParaRPr lang="en-US" altLang="zh-CN" sz="3600"/>
          </a:p>
          <a:p>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459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2564130" cy="502920"/>
          </a:xfrm>
          <a:prstGeom prst="rect">
            <a:avLst/>
          </a:prstGeom>
          <a:noFill/>
        </p:spPr>
        <p:txBody>
          <a:bodyPr wrap="square" rtlCol="0">
            <a:noAutofit/>
          </a:bodyPr>
          <a:p>
            <a:r>
              <a:rPr lang="en-US" altLang="zh-CN" sz="2400"/>
              <a:t>Objective function:</a:t>
            </a:r>
            <a:endParaRPr lang="en-US" altLang="zh-CN" sz="2400"/>
          </a:p>
        </p:txBody>
      </p:sp>
      <p:sp>
        <p:nvSpPr>
          <p:cNvPr id="2" name="文本框 1"/>
          <p:cNvSpPr txBox="1"/>
          <p:nvPr/>
        </p:nvSpPr>
        <p:spPr>
          <a:xfrm>
            <a:off x="961390" y="3957955"/>
            <a:ext cx="3539490" cy="450850"/>
          </a:xfrm>
          <a:prstGeom prst="rect">
            <a:avLst/>
          </a:prstGeom>
          <a:noFill/>
        </p:spPr>
        <p:txBody>
          <a:bodyPr wrap="square" rtlCol="0">
            <a:noAutofit/>
          </a:bodyPr>
          <a:p>
            <a:r>
              <a:rPr lang="en-US" altLang="zh-CN" sz="2400"/>
              <a:t>Random gradient descent:</a:t>
            </a:r>
            <a:endParaRPr lang="en-US" altLang="zh-CN" sz="2400"/>
          </a:p>
          <a:p>
            <a:endParaRPr lang="en-US" altLang="zh-CN" sz="2400"/>
          </a:p>
          <a:p>
            <a:endParaRPr lang="en-US" altLang="zh-CN"/>
          </a:p>
        </p:txBody>
      </p:sp>
      <p:sp>
        <p:nvSpPr>
          <p:cNvPr id="9" name="object 4"/>
          <p:cNvSpPr/>
          <p:nvPr/>
        </p:nvSpPr>
        <p:spPr>
          <a:xfrm>
            <a:off x="670229" y="407440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6" name="文本框 5"/>
          <p:cNvSpPr txBox="1"/>
          <p:nvPr/>
        </p:nvSpPr>
        <p:spPr>
          <a:xfrm>
            <a:off x="961390" y="2413635"/>
            <a:ext cx="3140710" cy="623570"/>
          </a:xfrm>
          <a:prstGeom prst="rect">
            <a:avLst/>
          </a:prstGeom>
          <a:noFill/>
        </p:spPr>
        <p:txBody>
          <a:bodyPr wrap="square" rtlCol="0">
            <a:noAutofit/>
          </a:bodyPr>
          <a:p>
            <a:r>
              <a:rPr lang="en-US" altLang="zh-CN" sz="2400"/>
              <a:t>Batch gradient descent:</a:t>
            </a:r>
            <a:endParaRPr lang="en-US" altLang="zh-CN" sz="2400"/>
          </a:p>
        </p:txBody>
      </p:sp>
      <p:sp>
        <p:nvSpPr>
          <p:cNvPr id="7" name="object 4"/>
          <p:cNvSpPr/>
          <p:nvPr/>
        </p:nvSpPr>
        <p:spPr>
          <a:xfrm>
            <a:off x="552754" y="261644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pic>
        <p:nvPicPr>
          <p:cNvPr id="3" name="object 9"/>
          <p:cNvPicPr/>
          <p:nvPr/>
        </p:nvPicPr>
        <p:blipFill>
          <a:blip r:embed="rId1" cstate="print"/>
          <a:stretch>
            <a:fillRect/>
          </a:stretch>
        </p:blipFill>
        <p:spPr>
          <a:xfrm>
            <a:off x="3525520" y="1297940"/>
            <a:ext cx="5105400" cy="676910"/>
          </a:xfrm>
          <a:prstGeom prst="rect">
            <a:avLst/>
          </a:prstGeom>
        </p:spPr>
      </p:pic>
      <p:pic>
        <p:nvPicPr>
          <p:cNvPr id="8" name="object 9"/>
          <p:cNvPicPr/>
          <p:nvPr/>
        </p:nvPicPr>
        <p:blipFill>
          <a:blip r:embed="rId2" cstate="print"/>
          <a:stretch>
            <a:fillRect/>
          </a:stretch>
        </p:blipFill>
        <p:spPr>
          <a:xfrm>
            <a:off x="4101973" y="2396870"/>
            <a:ext cx="3141510" cy="714756"/>
          </a:xfrm>
          <a:prstGeom prst="rect">
            <a:avLst/>
          </a:prstGeom>
        </p:spPr>
      </p:pic>
      <p:pic>
        <p:nvPicPr>
          <p:cNvPr id="12" name="object 10"/>
          <p:cNvPicPr/>
          <p:nvPr/>
        </p:nvPicPr>
        <p:blipFill>
          <a:blip r:embed="rId3" cstate="print"/>
          <a:stretch>
            <a:fillRect/>
          </a:stretch>
        </p:blipFill>
        <p:spPr>
          <a:xfrm>
            <a:off x="7146670" y="2457176"/>
            <a:ext cx="3222863" cy="643987"/>
          </a:xfrm>
          <a:prstGeom prst="rect">
            <a:avLst/>
          </a:prstGeom>
        </p:spPr>
      </p:pic>
      <p:sp>
        <p:nvSpPr>
          <p:cNvPr id="13" name="文本框 12"/>
          <p:cNvSpPr txBox="1"/>
          <p:nvPr/>
        </p:nvSpPr>
        <p:spPr>
          <a:xfrm>
            <a:off x="1108710" y="3298190"/>
            <a:ext cx="9716135" cy="398780"/>
          </a:xfrm>
          <a:prstGeom prst="rect">
            <a:avLst/>
          </a:prstGeom>
          <a:noFill/>
        </p:spPr>
        <p:txBody>
          <a:bodyPr wrap="square" rtlCol="0">
            <a:spAutoFit/>
          </a:bodyPr>
          <a:p>
            <a:r>
              <a:rPr lang="en-US" altLang="zh-CN" sz="2000">
                <a:solidFill>
                  <a:schemeClr val="tx1"/>
                </a:solidFill>
                <a:uFillTx/>
              </a:rPr>
              <a:t>(Easy to obtain the optimal solution, but slow due to considering all samples each time)</a:t>
            </a:r>
            <a:endParaRPr lang="en-US" altLang="zh-CN" sz="2000">
              <a:solidFill>
                <a:schemeClr val="tx1"/>
              </a:solidFill>
              <a:uFillTx/>
            </a:endParaRPr>
          </a:p>
        </p:txBody>
      </p:sp>
      <p:pic>
        <p:nvPicPr>
          <p:cNvPr id="14" name="object 11"/>
          <p:cNvPicPr/>
          <p:nvPr/>
        </p:nvPicPr>
        <p:blipFill>
          <a:blip r:embed="rId4" cstate="print"/>
          <a:stretch>
            <a:fillRect/>
          </a:stretch>
        </p:blipFill>
        <p:spPr>
          <a:xfrm>
            <a:off x="4648200" y="3848862"/>
            <a:ext cx="2884932" cy="637032"/>
          </a:xfrm>
          <a:prstGeom prst="rect">
            <a:avLst/>
          </a:prstGeom>
        </p:spPr>
      </p:pic>
      <p:sp>
        <p:nvSpPr>
          <p:cNvPr id="16" name="文本框 15"/>
          <p:cNvSpPr txBox="1"/>
          <p:nvPr/>
        </p:nvSpPr>
        <p:spPr>
          <a:xfrm>
            <a:off x="1273175" y="4568825"/>
            <a:ext cx="8569325" cy="645160"/>
          </a:xfrm>
          <a:prstGeom prst="rect">
            <a:avLst/>
          </a:prstGeom>
          <a:noFill/>
        </p:spPr>
        <p:txBody>
          <a:bodyPr wrap="square" rtlCol="0">
            <a:spAutoFit/>
          </a:bodyPr>
          <a:p>
            <a:r>
              <a:rPr lang="en-US" altLang="zh-CN"/>
              <a:t>(Find a sample every time, the iteration speed is fast, but not necessarily in the direction of convergence every time)</a:t>
            </a:r>
            <a:endParaRPr lang="en-US" altLang="zh-CN"/>
          </a:p>
        </p:txBody>
      </p:sp>
      <p:sp>
        <p:nvSpPr>
          <p:cNvPr id="17" name="文本框 16"/>
          <p:cNvSpPr txBox="1"/>
          <p:nvPr/>
        </p:nvSpPr>
        <p:spPr>
          <a:xfrm>
            <a:off x="1108710" y="5487035"/>
            <a:ext cx="4987925" cy="460375"/>
          </a:xfrm>
          <a:prstGeom prst="rect">
            <a:avLst/>
          </a:prstGeom>
          <a:noFill/>
        </p:spPr>
        <p:txBody>
          <a:bodyPr wrap="square" rtlCol="0">
            <a:spAutoFit/>
          </a:bodyPr>
          <a:p>
            <a:r>
              <a:rPr lang="en-US" altLang="zh-CN" sz="2400"/>
              <a:t>Small batch gradient descent method:</a:t>
            </a:r>
            <a:endParaRPr lang="en-US" altLang="zh-CN" sz="2400"/>
          </a:p>
        </p:txBody>
      </p:sp>
      <p:pic>
        <p:nvPicPr>
          <p:cNvPr id="18" name="object 12"/>
          <p:cNvPicPr/>
          <p:nvPr/>
        </p:nvPicPr>
        <p:blipFill>
          <a:blip r:embed="rId5" cstate="print"/>
          <a:stretch>
            <a:fillRect/>
          </a:stretch>
        </p:blipFill>
        <p:spPr>
          <a:xfrm>
            <a:off x="6096634" y="5233035"/>
            <a:ext cx="4190254" cy="837854"/>
          </a:xfrm>
          <a:prstGeom prst="rect">
            <a:avLst/>
          </a:prstGeom>
        </p:spPr>
      </p:pic>
      <p:sp>
        <p:nvSpPr>
          <p:cNvPr id="19" name="object 4"/>
          <p:cNvSpPr/>
          <p:nvPr/>
        </p:nvSpPr>
        <p:spPr>
          <a:xfrm>
            <a:off x="750874" y="558379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20" name="文本框 19"/>
          <p:cNvSpPr txBox="1"/>
          <p:nvPr/>
        </p:nvSpPr>
        <p:spPr>
          <a:xfrm>
            <a:off x="1108710" y="6179820"/>
            <a:ext cx="8639810" cy="480060"/>
          </a:xfrm>
          <a:prstGeom prst="rect">
            <a:avLst/>
          </a:prstGeom>
          <a:noFill/>
        </p:spPr>
        <p:txBody>
          <a:bodyPr wrap="square" rtlCol="0">
            <a:noAutofit/>
          </a:bodyPr>
          <a:p>
            <a:r>
              <a:rPr lang="en-US" altLang="zh-CN" sz="2000"/>
              <a:t>(Choose a small portion of data to calculate each update, practical!)</a:t>
            </a:r>
            <a:endParaRPr lang="en-US" altLang="zh-CN" sz="2000"/>
          </a:p>
          <a:p>
            <a:endParaRPr lang="en-US" altLang="zh-CN" sz="2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91465" y="152400"/>
            <a:ext cx="10532745" cy="662940"/>
          </a:xfrm>
          <a:prstGeom prst="rect">
            <a:avLst/>
          </a:prstGeom>
          <a:noFill/>
        </p:spPr>
        <p:txBody>
          <a:bodyPr wrap="square" rtlCol="0">
            <a:noAutofit/>
          </a:bodyPr>
          <a:p>
            <a:r>
              <a:rPr lang="en-US" altLang="zh-CN" sz="3600">
                <a:sym typeface="+mn-ea"/>
              </a:rPr>
              <a:t>gradient descent</a:t>
            </a:r>
            <a:endParaRPr lang="en-US" altLang="zh-CN" sz="3600"/>
          </a:p>
          <a:p>
            <a:endParaRPr lang="en-US" altLang="zh-CN" sz="3600"/>
          </a:p>
          <a:p>
            <a:endParaRPr lang="en-US" altLang="zh-CN" sz="3600"/>
          </a:p>
          <a:p>
            <a:endParaRPr lang="en-US" altLang="zh-CN" sz="3600"/>
          </a:p>
          <a:p>
            <a:endParaRPr lang="en-US" altLang="zh-CN" sz="3600"/>
          </a:p>
          <a:p>
            <a:endParaRPr lang="en-US" altLang="zh-CN" sz="3600"/>
          </a:p>
          <a:p>
            <a:endParaRPr lang="en-US" altLang="zh-CN" sz="36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4" name="object 4"/>
          <p:cNvSpPr/>
          <p:nvPr/>
        </p:nvSpPr>
        <p:spPr>
          <a:xfrm>
            <a:off x="459409" y="160679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
        <p:nvSpPr>
          <p:cNvPr id="5" name="文本框 4"/>
          <p:cNvSpPr txBox="1"/>
          <p:nvPr/>
        </p:nvSpPr>
        <p:spPr>
          <a:xfrm>
            <a:off x="961390" y="1377950"/>
            <a:ext cx="1574800" cy="502920"/>
          </a:xfrm>
          <a:prstGeom prst="rect">
            <a:avLst/>
          </a:prstGeom>
          <a:noFill/>
        </p:spPr>
        <p:txBody>
          <a:bodyPr wrap="square" rtlCol="0">
            <a:noAutofit/>
          </a:bodyPr>
          <a:p>
            <a:r>
              <a:rPr lang="en-US" altLang="zh-CN" sz="2400" spc="-15" dirty="0">
                <a:sym typeface="+mn-ea"/>
              </a:rPr>
              <a:t>Chain rule:</a:t>
            </a:r>
            <a:br>
              <a:rPr lang="en-US" altLang="zh-CN" sz="2400" spc="-15" dirty="0">
                <a:sym typeface="+mn-ea"/>
              </a:rPr>
            </a:br>
            <a:endParaRPr lang="en-US" altLang="zh-CN" sz="2400"/>
          </a:p>
        </p:txBody>
      </p:sp>
      <p:sp>
        <p:nvSpPr>
          <p:cNvPr id="6" name="文本框 5"/>
          <p:cNvSpPr txBox="1"/>
          <p:nvPr/>
        </p:nvSpPr>
        <p:spPr>
          <a:xfrm>
            <a:off x="1339850" y="2413635"/>
            <a:ext cx="2115820" cy="1374775"/>
          </a:xfrm>
          <a:prstGeom prst="rect">
            <a:avLst/>
          </a:prstGeom>
          <a:noFill/>
        </p:spPr>
        <p:txBody>
          <a:bodyPr wrap="square" rtlCol="0">
            <a:noAutofit/>
          </a:bodyPr>
          <a:p>
            <a:r>
              <a:rPr lang="en-US" altLang="zh-CN" sz="2400"/>
              <a:t>The gradient</a:t>
            </a:r>
            <a:endParaRPr lang="en-US" altLang="zh-CN" sz="2400"/>
          </a:p>
          <a:p>
            <a:r>
              <a:rPr lang="en-US" altLang="zh-CN" sz="2400"/>
              <a:t> is transmitted</a:t>
            </a:r>
            <a:endParaRPr lang="en-US" altLang="zh-CN" sz="2400"/>
          </a:p>
          <a:p>
            <a:r>
              <a:rPr lang="en-US" altLang="zh-CN" sz="2400"/>
              <a:t> step by step</a:t>
            </a:r>
            <a:endParaRPr lang="en-US" altLang="zh-CN" sz="2400"/>
          </a:p>
          <a:p>
            <a:endParaRPr lang="en-US" altLang="zh-CN" sz="2400"/>
          </a:p>
          <a:p>
            <a:endParaRPr lang="en-US" altLang="zh-CN" sz="2400"/>
          </a:p>
        </p:txBody>
      </p:sp>
      <p:sp>
        <p:nvSpPr>
          <p:cNvPr id="15" name="object 6"/>
          <p:cNvSpPr/>
          <p:nvPr/>
        </p:nvSpPr>
        <p:spPr>
          <a:xfrm>
            <a:off x="966330" y="2586926"/>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21" name="object 2"/>
          <p:cNvPicPr/>
          <p:nvPr/>
        </p:nvPicPr>
        <p:blipFill>
          <a:blip r:embed="rId1" cstate="print"/>
          <a:stretch>
            <a:fillRect/>
          </a:stretch>
        </p:blipFill>
        <p:spPr>
          <a:xfrm>
            <a:off x="3515360" y="1824990"/>
            <a:ext cx="8356600" cy="454025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34263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269365"/>
            <a:ext cx="2889250" cy="381635"/>
          </a:xfrm>
          <a:prstGeom prst="rect">
            <a:avLst/>
          </a:prstGeom>
        </p:spPr>
        <p:txBody>
          <a:bodyPr vert="horz" wrap="square" lIns="0" tIns="12700" rIns="0" bIns="0" rtlCol="0">
            <a:spAutoFit/>
          </a:bodyPr>
          <a:lstStyle/>
          <a:p>
            <a:pPr marL="12700" algn="l">
              <a:lnSpc>
                <a:spcPct val="100000"/>
              </a:lnSpc>
              <a:spcBef>
                <a:spcPts val="100"/>
              </a:spcBef>
            </a:pPr>
            <a:r>
              <a:rPr lang="en-US" altLang="zh-CN">
                <a:latin typeface="+mn-lt"/>
                <a:ea typeface="+mn-ea"/>
                <a:cs typeface="+mn-cs"/>
              </a:rPr>
              <a:t>Overall architecture</a:t>
            </a:r>
            <a:endParaRPr lang="en-US" altLang="zh-CN">
              <a:latin typeface="+mn-lt"/>
              <a:ea typeface="+mn-ea"/>
              <a:cs typeface="+mn-cs"/>
            </a:endParaRPr>
          </a:p>
        </p:txBody>
      </p:sp>
      <p:pic>
        <p:nvPicPr>
          <p:cNvPr id="5" name="object 5"/>
          <p:cNvPicPr/>
          <p:nvPr/>
        </p:nvPicPr>
        <p:blipFill>
          <a:blip r:embed="rId1" cstate="print"/>
          <a:stretch>
            <a:fillRect/>
          </a:stretch>
        </p:blipFill>
        <p:spPr>
          <a:xfrm>
            <a:off x="237003" y="2071116"/>
            <a:ext cx="11847075" cy="4600183"/>
          </a:xfrm>
          <a:prstGeom prst="rect">
            <a:avLst/>
          </a:prstGeom>
        </p:spPr>
      </p:pic>
      <p:sp>
        <p:nvSpPr>
          <p:cNvPr id="7" name="文本框 6"/>
          <p:cNvSpPr txBox="1"/>
          <p:nvPr/>
        </p:nvSpPr>
        <p:spPr>
          <a:xfrm>
            <a:off x="410845" y="229235"/>
            <a:ext cx="9897745" cy="460375"/>
          </a:xfrm>
          <a:prstGeom prst="rect">
            <a:avLst/>
          </a:prstGeom>
          <a:noFill/>
        </p:spPr>
        <p:txBody>
          <a:bodyPr wrap="square" rtlCol="0">
            <a:spAutoFit/>
          </a:bodyPr>
          <a:p>
            <a:r>
              <a:rPr lang="en-US" altLang="zh-CN" sz="2400"/>
              <a:t>brief summary</a:t>
            </a:r>
            <a:endParaRPr lang="en-US" altLang="zh-CN"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sp>
        <p:nvSpPr>
          <p:cNvPr id="6" name="object 6"/>
          <p:cNvSpPr txBox="1"/>
          <p:nvPr/>
        </p:nvSpPr>
        <p:spPr>
          <a:xfrm>
            <a:off x="702614" y="6114643"/>
            <a:ext cx="6768465" cy="299720"/>
          </a:xfrm>
          <a:prstGeom prst="rect">
            <a:avLst/>
          </a:prstGeom>
        </p:spPr>
        <p:txBody>
          <a:bodyPr vert="horz" wrap="square" lIns="0" tIns="12700" rIns="0" bIns="0" rtlCol="0">
            <a:spAutoFit/>
          </a:bodyPr>
          <a:p>
            <a:pPr marL="12700">
              <a:lnSpc>
                <a:spcPct val="100000"/>
              </a:lnSpc>
              <a:spcBef>
                <a:spcPts val="100"/>
              </a:spcBef>
            </a:pPr>
            <a:r>
              <a:rPr sz="1800" spc="-10" dirty="0">
                <a:latin typeface="Calibri" panose="020F0502020204030204"/>
                <a:cs typeface="Calibri" panose="020F0502020204030204"/>
                <a:hlinkClick r:id="rId2"/>
              </a:rPr>
              <a:t>http://cs.stanford.edu/people/karpathy/convnetjs/demo/classify2d.html</a:t>
            </a:r>
            <a:endParaRPr sz="1800">
              <a:latin typeface="Calibri" panose="020F0502020204030204"/>
              <a:cs typeface="Calibri" panose="020F0502020204030204"/>
            </a:endParaRPr>
          </a:p>
        </p:txBody>
      </p:sp>
      <p:sp>
        <p:nvSpPr>
          <p:cNvPr id="9" name="文本框 8"/>
          <p:cNvSpPr txBox="1"/>
          <p:nvPr/>
        </p:nvSpPr>
        <p:spPr>
          <a:xfrm>
            <a:off x="702310" y="5607685"/>
            <a:ext cx="6496685" cy="368300"/>
          </a:xfrm>
          <a:prstGeom prst="rect">
            <a:avLst/>
          </a:prstGeom>
          <a:noFill/>
        </p:spPr>
        <p:txBody>
          <a:bodyPr wrap="square" rtlCol="0">
            <a:spAutoFit/>
          </a:bodyPr>
          <a:p>
            <a:r>
              <a:rPr lang="en-US" altLang="zh-CN"/>
              <a:t>ConvnetJS demo: toy 2d classification with 2-layer neural network:</a:t>
            </a:r>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02614" y="134263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41095" y="1269365"/>
            <a:ext cx="2889250" cy="381635"/>
          </a:xfrm>
          <a:prstGeom prst="rect">
            <a:avLst/>
          </a:prstGeom>
        </p:spPr>
        <p:txBody>
          <a:bodyPr vert="horz" wrap="square" lIns="0" tIns="12700" rIns="0" bIns="0" rtlCol="0">
            <a:spAutoFit/>
          </a:bodyPr>
          <a:lstStyle/>
          <a:p>
            <a:pPr marL="12700" algn="l">
              <a:lnSpc>
                <a:spcPct val="100000"/>
              </a:lnSpc>
              <a:spcBef>
                <a:spcPts val="100"/>
              </a:spcBef>
            </a:pPr>
            <a:r>
              <a:rPr lang="en-US" altLang="zh-CN">
                <a:latin typeface="+mn-lt"/>
                <a:ea typeface="+mn-ea"/>
                <a:cs typeface="+mn-cs"/>
              </a:rPr>
              <a:t>Overall architecture</a:t>
            </a:r>
            <a:endParaRPr lang="en-US" altLang="zh-CN">
              <a:latin typeface="+mn-lt"/>
              <a:ea typeface="+mn-ea"/>
              <a:cs typeface="+mn-cs"/>
            </a:endParaRPr>
          </a:p>
        </p:txBody>
      </p:sp>
      <p:sp>
        <p:nvSpPr>
          <p:cNvPr id="7" name="文本框 6"/>
          <p:cNvSpPr txBox="1"/>
          <p:nvPr/>
        </p:nvSpPr>
        <p:spPr>
          <a:xfrm>
            <a:off x="410845" y="229235"/>
            <a:ext cx="9897745" cy="460375"/>
          </a:xfrm>
          <a:prstGeom prst="rect">
            <a:avLst/>
          </a:prstGeom>
          <a:noFill/>
        </p:spPr>
        <p:txBody>
          <a:bodyPr wrap="square" rtlCol="0">
            <a:spAutoFit/>
          </a:bodyPr>
          <a:p>
            <a:r>
              <a:rPr lang="en-US" altLang="zh-CN" sz="2400"/>
              <a:t>brief summary</a:t>
            </a:r>
            <a:endParaRPr lang="en-US" altLang="zh-CN" sz="2400"/>
          </a:p>
        </p:txBody>
      </p:sp>
      <p:cxnSp>
        <p:nvCxnSpPr>
          <p:cNvPr id="8" name="直接连接符 7"/>
          <p:cNvCxnSpPr/>
          <p:nvPr/>
        </p:nvCxnSpPr>
        <p:spPr>
          <a:xfrm>
            <a:off x="40640" y="969010"/>
            <a:ext cx="12043410" cy="20955"/>
          </a:xfrm>
          <a:prstGeom prst="line">
            <a:avLst/>
          </a:prstGeom>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141095" y="2025015"/>
            <a:ext cx="2889250" cy="460375"/>
          </a:xfrm>
          <a:prstGeom prst="rect">
            <a:avLst/>
          </a:prstGeom>
          <a:noFill/>
        </p:spPr>
        <p:txBody>
          <a:bodyPr wrap="square" rtlCol="0">
            <a:spAutoFit/>
          </a:bodyPr>
          <a:p>
            <a:r>
              <a:rPr lang="en-US" altLang="zh-CN" sz="2400"/>
              <a:t>the basic mechanism:</a:t>
            </a:r>
            <a:endParaRPr lang="en-US" altLang="zh-CN" sz="2400"/>
          </a:p>
        </p:txBody>
      </p:sp>
      <p:pic>
        <p:nvPicPr>
          <p:cNvPr id="10" name="object 6"/>
          <p:cNvPicPr/>
          <p:nvPr/>
        </p:nvPicPr>
        <p:blipFill>
          <a:blip r:embed="rId1" cstate="print"/>
          <a:stretch>
            <a:fillRect/>
          </a:stretch>
        </p:blipFill>
        <p:spPr>
          <a:xfrm>
            <a:off x="4010660" y="2025015"/>
            <a:ext cx="4813300" cy="497840"/>
          </a:xfrm>
          <a:prstGeom prst="rect">
            <a:avLst/>
          </a:prstGeom>
        </p:spPr>
      </p:pic>
      <p:sp>
        <p:nvSpPr>
          <p:cNvPr id="12" name="文本框 11"/>
          <p:cNvSpPr txBox="1"/>
          <p:nvPr/>
        </p:nvSpPr>
        <p:spPr>
          <a:xfrm>
            <a:off x="1141095" y="2733675"/>
            <a:ext cx="3931285" cy="429260"/>
          </a:xfrm>
          <a:prstGeom prst="rect">
            <a:avLst/>
          </a:prstGeom>
          <a:noFill/>
        </p:spPr>
        <p:txBody>
          <a:bodyPr wrap="square" rtlCol="0">
            <a:noAutofit/>
          </a:bodyPr>
          <a:p>
            <a:r>
              <a:rPr lang="en-US" altLang="zh-CN" sz="2400"/>
              <a:t>Continue stacking one layer:</a:t>
            </a:r>
            <a:endParaRPr lang="en-US" altLang="zh-CN" sz="2400"/>
          </a:p>
          <a:p>
            <a:endParaRPr lang="en-US" altLang="zh-CN" sz="2400"/>
          </a:p>
        </p:txBody>
      </p:sp>
      <p:pic>
        <p:nvPicPr>
          <p:cNvPr id="13" name="object 7"/>
          <p:cNvPicPr/>
          <p:nvPr/>
        </p:nvPicPr>
        <p:blipFill>
          <a:blip r:embed="rId2" cstate="print"/>
          <a:stretch>
            <a:fillRect/>
          </a:stretch>
        </p:blipFill>
        <p:spPr>
          <a:xfrm>
            <a:off x="1141349" y="3253612"/>
            <a:ext cx="7653527" cy="751331"/>
          </a:xfrm>
          <a:prstGeom prst="rect">
            <a:avLst/>
          </a:prstGeom>
        </p:spPr>
      </p:pic>
      <p:sp>
        <p:nvSpPr>
          <p:cNvPr id="14" name="文本框 13"/>
          <p:cNvSpPr txBox="1"/>
          <p:nvPr/>
        </p:nvSpPr>
        <p:spPr>
          <a:xfrm>
            <a:off x="934720" y="4444365"/>
            <a:ext cx="10146665" cy="1198880"/>
          </a:xfrm>
          <a:prstGeom prst="rect">
            <a:avLst/>
          </a:prstGeom>
          <a:noFill/>
        </p:spPr>
        <p:txBody>
          <a:bodyPr wrap="square" rtlCol="0">
            <a:spAutoFit/>
          </a:bodyPr>
          <a:p>
            <a:r>
              <a:rPr lang="en-US" altLang="zh-CN" sz="2400"/>
              <a:t>The power of neural networks lies in fitting complex data with more parameters</a:t>
            </a:r>
            <a:endParaRPr lang="en-US" altLang="zh-CN" sz="2400"/>
          </a:p>
          <a:p>
            <a:r>
              <a:rPr lang="en-US" altLang="zh-CN" sz="2400"/>
              <a:t>(How many parameters are there? Even a million level is considered pediatric, but is more parameters better?)</a:t>
            </a:r>
            <a:endParaRPr lang="en-US" altLang="zh-CN" sz="2400"/>
          </a:p>
        </p:txBody>
      </p:sp>
      <p:sp>
        <p:nvSpPr>
          <p:cNvPr id="15" name="object 3"/>
          <p:cNvSpPr/>
          <p:nvPr/>
        </p:nvSpPr>
        <p:spPr>
          <a:xfrm>
            <a:off x="934580" y="2135035"/>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46"/>
                </a:lnTo>
                <a:lnTo>
                  <a:pt x="7480" y="292455"/>
                </a:lnTo>
                <a:lnTo>
                  <a:pt x="10350" y="292455"/>
                </a:lnTo>
                <a:lnTo>
                  <a:pt x="102857" y="264274"/>
                </a:lnTo>
                <a:lnTo>
                  <a:pt x="58318" y="258813"/>
                </a:lnTo>
                <a:lnTo>
                  <a:pt x="56603" y="254495"/>
                </a:lnTo>
                <a:lnTo>
                  <a:pt x="43103" y="238963"/>
                </a:lnTo>
                <a:lnTo>
                  <a:pt x="39941" y="236664"/>
                </a:lnTo>
                <a:lnTo>
                  <a:pt x="36487" y="234937"/>
                </a:lnTo>
                <a:lnTo>
                  <a:pt x="52006" y="192087"/>
                </a:lnTo>
                <a:lnTo>
                  <a:pt x="91363" y="192087"/>
                </a:lnTo>
                <a:lnTo>
                  <a:pt x="91267" y="182029"/>
                </a:lnTo>
                <a:lnTo>
                  <a:pt x="91170" y="181457"/>
                </a:lnTo>
                <a:lnTo>
                  <a:pt x="91071" y="180873"/>
                </a:lnTo>
                <a:lnTo>
                  <a:pt x="90616" y="179730"/>
                </a:lnTo>
                <a:lnTo>
                  <a:pt x="90500" y="179438"/>
                </a:lnTo>
                <a:lnTo>
                  <a:pt x="89928" y="177711"/>
                </a:lnTo>
                <a:lnTo>
                  <a:pt x="87630" y="175412"/>
                </a:lnTo>
                <a:lnTo>
                  <a:pt x="85902" y="174269"/>
                </a:lnTo>
                <a:lnTo>
                  <a:pt x="84175" y="173685"/>
                </a:lnTo>
                <a:lnTo>
                  <a:pt x="67805" y="173685"/>
                </a:lnTo>
                <a:lnTo>
                  <a:pt x="176682" y="65570"/>
                </a:lnTo>
                <a:lnTo>
                  <a:pt x="176961" y="65570"/>
                </a:lnTo>
                <a:lnTo>
                  <a:pt x="179273" y="63258"/>
                </a:lnTo>
                <a:lnTo>
                  <a:pt x="185013" y="59232"/>
                </a:lnTo>
                <a:lnTo>
                  <a:pt x="191338" y="56934"/>
                </a:lnTo>
                <a:lnTo>
                  <a:pt x="194780" y="55791"/>
                </a:lnTo>
                <a:lnTo>
                  <a:pt x="201968" y="55206"/>
                </a:lnTo>
                <a:lnTo>
                  <a:pt x="241994" y="55206"/>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087"/>
                </a:moveTo>
                <a:lnTo>
                  <a:pt x="72974" y="192087"/>
                </a:lnTo>
                <a:lnTo>
                  <a:pt x="72974" y="210210"/>
                </a:lnTo>
                <a:lnTo>
                  <a:pt x="73266" y="211937"/>
                </a:lnTo>
                <a:lnTo>
                  <a:pt x="73837" y="213944"/>
                </a:lnTo>
                <a:lnTo>
                  <a:pt x="74980" y="215391"/>
                </a:lnTo>
                <a:lnTo>
                  <a:pt x="75844" y="216535"/>
                </a:lnTo>
                <a:lnTo>
                  <a:pt x="77279" y="217970"/>
                </a:lnTo>
                <a:lnTo>
                  <a:pt x="78727" y="218833"/>
                </a:lnTo>
                <a:lnTo>
                  <a:pt x="82169" y="219417"/>
                </a:lnTo>
                <a:lnTo>
                  <a:pt x="98259" y="219417"/>
                </a:lnTo>
                <a:lnTo>
                  <a:pt x="92506" y="248450"/>
                </a:lnTo>
                <a:lnTo>
                  <a:pt x="58318" y="258813"/>
                </a:lnTo>
                <a:lnTo>
                  <a:pt x="109750" y="258813"/>
                </a:lnTo>
                <a:lnTo>
                  <a:pt x="141352" y="227177"/>
                </a:lnTo>
                <a:lnTo>
                  <a:pt x="115493" y="227177"/>
                </a:lnTo>
                <a:lnTo>
                  <a:pt x="118656" y="212216"/>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087"/>
                </a:lnTo>
                <a:close/>
              </a:path>
              <a:path w="292734" h="292735">
                <a:moveTo>
                  <a:pt x="241994" y="55206"/>
                </a:moveTo>
                <a:lnTo>
                  <a:pt x="201968" y="55206"/>
                </a:lnTo>
                <a:lnTo>
                  <a:pt x="208572" y="55791"/>
                </a:lnTo>
                <a:lnTo>
                  <a:pt x="215468" y="58089"/>
                </a:lnTo>
                <a:lnTo>
                  <a:pt x="218630" y="59232"/>
                </a:lnTo>
                <a:lnTo>
                  <a:pt x="221208" y="61252"/>
                </a:lnTo>
                <a:lnTo>
                  <a:pt x="224091" y="63258"/>
                </a:lnTo>
                <a:lnTo>
                  <a:pt x="226669" y="65849"/>
                </a:lnTo>
                <a:lnTo>
                  <a:pt x="229260" y="68148"/>
                </a:lnTo>
                <a:lnTo>
                  <a:pt x="230987" y="71031"/>
                </a:lnTo>
                <a:lnTo>
                  <a:pt x="232994" y="74193"/>
                </a:lnTo>
                <a:lnTo>
                  <a:pt x="234429" y="77355"/>
                </a:lnTo>
                <a:lnTo>
                  <a:pt x="235864" y="80225"/>
                </a:lnTo>
                <a:lnTo>
                  <a:pt x="236387" y="83388"/>
                </a:lnTo>
                <a:lnTo>
                  <a:pt x="237020" y="87414"/>
                </a:lnTo>
                <a:lnTo>
                  <a:pt x="237299" y="90868"/>
                </a:lnTo>
                <a:lnTo>
                  <a:pt x="237020" y="94322"/>
                </a:lnTo>
                <a:lnTo>
                  <a:pt x="230987" y="110426"/>
                </a:lnTo>
                <a:lnTo>
                  <a:pt x="229260" y="113296"/>
                </a:lnTo>
                <a:lnTo>
                  <a:pt x="115493" y="227177"/>
                </a:lnTo>
                <a:lnTo>
                  <a:pt x="141352" y="227177"/>
                </a:lnTo>
                <a:lnTo>
                  <a:pt x="276656" y="91732"/>
                </a:lnTo>
                <a:lnTo>
                  <a:pt x="280344" y="87414"/>
                </a:lnTo>
                <a:lnTo>
                  <a:pt x="255117" y="87414"/>
                </a:lnTo>
                <a:lnTo>
                  <a:pt x="255031" y="85978"/>
                </a:lnTo>
                <a:lnTo>
                  <a:pt x="254911" y="83972"/>
                </a:lnTo>
                <a:lnTo>
                  <a:pt x="254825" y="82524"/>
                </a:lnTo>
                <a:lnTo>
                  <a:pt x="253961" y="77927"/>
                </a:lnTo>
                <a:lnTo>
                  <a:pt x="252974" y="74764"/>
                </a:lnTo>
                <a:lnTo>
                  <a:pt x="252883" y="74472"/>
                </a:lnTo>
                <a:lnTo>
                  <a:pt x="252796" y="74193"/>
                </a:lnTo>
                <a:lnTo>
                  <a:pt x="252705" y="73901"/>
                </a:lnTo>
                <a:lnTo>
                  <a:pt x="252617" y="73621"/>
                </a:lnTo>
                <a:lnTo>
                  <a:pt x="243052" y="56362"/>
                </a:lnTo>
                <a:lnTo>
                  <a:pt x="241994" y="55206"/>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57"/>
                </a:lnTo>
                <a:lnTo>
                  <a:pt x="117221" y="182600"/>
                </a:lnTo>
                <a:lnTo>
                  <a:pt x="120383" y="182600"/>
                </a:lnTo>
                <a:lnTo>
                  <a:pt x="217767" y="87414"/>
                </a:lnTo>
                <a:lnTo>
                  <a:pt x="219202" y="83972"/>
                </a:lnTo>
                <a:lnTo>
                  <a:pt x="219446" y="82524"/>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73"/>
                </a:lnTo>
                <a:lnTo>
                  <a:pt x="249085" y="19837"/>
                </a:lnTo>
                <a:lnTo>
                  <a:pt x="273215" y="46583"/>
                </a:lnTo>
                <a:lnTo>
                  <a:pt x="274078" y="50037"/>
                </a:lnTo>
                <a:lnTo>
                  <a:pt x="274078" y="57226"/>
                </a:lnTo>
                <a:lnTo>
                  <a:pt x="273215" y="60680"/>
                </a:lnTo>
                <a:lnTo>
                  <a:pt x="272749" y="63258"/>
                </a:lnTo>
                <a:lnTo>
                  <a:pt x="255117" y="87414"/>
                </a:lnTo>
                <a:lnTo>
                  <a:pt x="280344" y="87414"/>
                </a:lnTo>
                <a:lnTo>
                  <a:pt x="283552" y="83388"/>
                </a:lnTo>
                <a:lnTo>
                  <a:pt x="285851" y="79082"/>
                </a:lnTo>
                <a:lnTo>
                  <a:pt x="288442" y="74472"/>
                </a:lnTo>
                <a:lnTo>
                  <a:pt x="289877" y="69596"/>
                </a:lnTo>
                <a:lnTo>
                  <a:pt x="291604" y="64122"/>
                </a:lnTo>
                <a:lnTo>
                  <a:pt x="291922" y="61252"/>
                </a:lnTo>
                <a:lnTo>
                  <a:pt x="291985" y="60680"/>
                </a:lnTo>
                <a:lnTo>
                  <a:pt x="292049" y="60096"/>
                </a:lnTo>
                <a:lnTo>
                  <a:pt x="292176" y="58953"/>
                </a:lnTo>
                <a:lnTo>
                  <a:pt x="292285" y="56934"/>
                </a:lnTo>
                <a:lnTo>
                  <a:pt x="292408" y="52908"/>
                </a:lnTo>
                <a:lnTo>
                  <a:pt x="292253" y="50037"/>
                </a:lnTo>
                <a:lnTo>
                  <a:pt x="292176" y="48602"/>
                </a:lnTo>
                <a:lnTo>
                  <a:pt x="291694" y="43992"/>
                </a:lnTo>
                <a:lnTo>
                  <a:pt x="291604" y="43129"/>
                </a:lnTo>
                <a:lnTo>
                  <a:pt x="289877" y="37960"/>
                </a:lnTo>
                <a:lnTo>
                  <a:pt x="288442" y="33070"/>
                </a:lnTo>
                <a:lnTo>
                  <a:pt x="285851" y="28473"/>
                </a:lnTo>
                <a:lnTo>
                  <a:pt x="283552" y="23863"/>
                </a:lnTo>
                <a:lnTo>
                  <a:pt x="280111" y="19558"/>
                </a:lnTo>
                <a:lnTo>
                  <a:pt x="279045" y="18402"/>
                </a:lnTo>
                <a:close/>
              </a:path>
              <a:path w="292734" h="292735">
                <a:moveTo>
                  <a:pt x="176961" y="65570"/>
                </a:moveTo>
                <a:lnTo>
                  <a:pt x="176682" y="65570"/>
                </a:lnTo>
                <a:lnTo>
                  <a:pt x="176682" y="65849"/>
                </a:lnTo>
                <a:lnTo>
                  <a:pt x="176961" y="65570"/>
                </a:lnTo>
                <a:close/>
              </a:path>
            </a:pathLst>
          </a:custGeom>
          <a:solidFill>
            <a:srgbClr val="C00000"/>
          </a:solidFill>
        </p:spPr>
        <p:txBody>
          <a:bodyPr wrap="square" lIns="0" tIns="0" rIns="0" bIns="0" rtlCol="0"/>
          <a:p/>
        </p:txBody>
      </p:sp>
      <p:sp>
        <p:nvSpPr>
          <p:cNvPr id="16" name="object 3"/>
          <p:cNvSpPr/>
          <p:nvPr/>
        </p:nvSpPr>
        <p:spPr>
          <a:xfrm>
            <a:off x="934580" y="2796705"/>
            <a:ext cx="292735" cy="292735"/>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46"/>
                </a:lnTo>
                <a:lnTo>
                  <a:pt x="7480" y="292455"/>
                </a:lnTo>
                <a:lnTo>
                  <a:pt x="10350" y="292455"/>
                </a:lnTo>
                <a:lnTo>
                  <a:pt x="102857" y="264274"/>
                </a:lnTo>
                <a:lnTo>
                  <a:pt x="58318" y="258813"/>
                </a:lnTo>
                <a:lnTo>
                  <a:pt x="56603" y="254495"/>
                </a:lnTo>
                <a:lnTo>
                  <a:pt x="43103" y="238963"/>
                </a:lnTo>
                <a:lnTo>
                  <a:pt x="39941" y="236664"/>
                </a:lnTo>
                <a:lnTo>
                  <a:pt x="36487" y="234937"/>
                </a:lnTo>
                <a:lnTo>
                  <a:pt x="52006" y="192087"/>
                </a:lnTo>
                <a:lnTo>
                  <a:pt x="91363" y="192087"/>
                </a:lnTo>
                <a:lnTo>
                  <a:pt x="91267" y="182029"/>
                </a:lnTo>
                <a:lnTo>
                  <a:pt x="91170" y="181457"/>
                </a:lnTo>
                <a:lnTo>
                  <a:pt x="91071" y="180873"/>
                </a:lnTo>
                <a:lnTo>
                  <a:pt x="90616" y="179730"/>
                </a:lnTo>
                <a:lnTo>
                  <a:pt x="90500" y="179438"/>
                </a:lnTo>
                <a:lnTo>
                  <a:pt x="89928" y="177711"/>
                </a:lnTo>
                <a:lnTo>
                  <a:pt x="87630" y="175412"/>
                </a:lnTo>
                <a:lnTo>
                  <a:pt x="85902" y="174269"/>
                </a:lnTo>
                <a:lnTo>
                  <a:pt x="84175" y="173685"/>
                </a:lnTo>
                <a:lnTo>
                  <a:pt x="67805" y="173685"/>
                </a:lnTo>
                <a:lnTo>
                  <a:pt x="176682" y="65570"/>
                </a:lnTo>
                <a:lnTo>
                  <a:pt x="176961" y="65570"/>
                </a:lnTo>
                <a:lnTo>
                  <a:pt x="179273" y="63258"/>
                </a:lnTo>
                <a:lnTo>
                  <a:pt x="185013" y="59232"/>
                </a:lnTo>
                <a:lnTo>
                  <a:pt x="191338" y="56934"/>
                </a:lnTo>
                <a:lnTo>
                  <a:pt x="194780" y="55791"/>
                </a:lnTo>
                <a:lnTo>
                  <a:pt x="201968" y="55206"/>
                </a:lnTo>
                <a:lnTo>
                  <a:pt x="241994" y="55206"/>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087"/>
                </a:moveTo>
                <a:lnTo>
                  <a:pt x="72974" y="192087"/>
                </a:lnTo>
                <a:lnTo>
                  <a:pt x="72974" y="210210"/>
                </a:lnTo>
                <a:lnTo>
                  <a:pt x="73266" y="211937"/>
                </a:lnTo>
                <a:lnTo>
                  <a:pt x="73837" y="213944"/>
                </a:lnTo>
                <a:lnTo>
                  <a:pt x="74980" y="215391"/>
                </a:lnTo>
                <a:lnTo>
                  <a:pt x="75844" y="216535"/>
                </a:lnTo>
                <a:lnTo>
                  <a:pt x="77279" y="217970"/>
                </a:lnTo>
                <a:lnTo>
                  <a:pt x="78727" y="218833"/>
                </a:lnTo>
                <a:lnTo>
                  <a:pt x="82169" y="219417"/>
                </a:lnTo>
                <a:lnTo>
                  <a:pt x="98259" y="219417"/>
                </a:lnTo>
                <a:lnTo>
                  <a:pt x="92506" y="248450"/>
                </a:lnTo>
                <a:lnTo>
                  <a:pt x="58318" y="258813"/>
                </a:lnTo>
                <a:lnTo>
                  <a:pt x="109750" y="258813"/>
                </a:lnTo>
                <a:lnTo>
                  <a:pt x="141352" y="227177"/>
                </a:lnTo>
                <a:lnTo>
                  <a:pt x="115493" y="227177"/>
                </a:lnTo>
                <a:lnTo>
                  <a:pt x="118656" y="212216"/>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087"/>
                </a:lnTo>
                <a:close/>
              </a:path>
              <a:path w="292734" h="292735">
                <a:moveTo>
                  <a:pt x="241994" y="55206"/>
                </a:moveTo>
                <a:lnTo>
                  <a:pt x="201968" y="55206"/>
                </a:lnTo>
                <a:lnTo>
                  <a:pt x="208572" y="55791"/>
                </a:lnTo>
                <a:lnTo>
                  <a:pt x="215468" y="58089"/>
                </a:lnTo>
                <a:lnTo>
                  <a:pt x="218630" y="59232"/>
                </a:lnTo>
                <a:lnTo>
                  <a:pt x="221208" y="61252"/>
                </a:lnTo>
                <a:lnTo>
                  <a:pt x="224091" y="63258"/>
                </a:lnTo>
                <a:lnTo>
                  <a:pt x="226669" y="65849"/>
                </a:lnTo>
                <a:lnTo>
                  <a:pt x="229260" y="68148"/>
                </a:lnTo>
                <a:lnTo>
                  <a:pt x="230987" y="71031"/>
                </a:lnTo>
                <a:lnTo>
                  <a:pt x="232994" y="74193"/>
                </a:lnTo>
                <a:lnTo>
                  <a:pt x="234429" y="77355"/>
                </a:lnTo>
                <a:lnTo>
                  <a:pt x="235864" y="80225"/>
                </a:lnTo>
                <a:lnTo>
                  <a:pt x="236387" y="83388"/>
                </a:lnTo>
                <a:lnTo>
                  <a:pt x="237020" y="87414"/>
                </a:lnTo>
                <a:lnTo>
                  <a:pt x="237299" y="90868"/>
                </a:lnTo>
                <a:lnTo>
                  <a:pt x="237020" y="94322"/>
                </a:lnTo>
                <a:lnTo>
                  <a:pt x="230987" y="110426"/>
                </a:lnTo>
                <a:lnTo>
                  <a:pt x="229260" y="113296"/>
                </a:lnTo>
                <a:lnTo>
                  <a:pt x="115493" y="227177"/>
                </a:lnTo>
                <a:lnTo>
                  <a:pt x="141352" y="227177"/>
                </a:lnTo>
                <a:lnTo>
                  <a:pt x="276656" y="91732"/>
                </a:lnTo>
                <a:lnTo>
                  <a:pt x="280344" y="87414"/>
                </a:lnTo>
                <a:lnTo>
                  <a:pt x="255117" y="87414"/>
                </a:lnTo>
                <a:lnTo>
                  <a:pt x="255031" y="85978"/>
                </a:lnTo>
                <a:lnTo>
                  <a:pt x="254911" y="83972"/>
                </a:lnTo>
                <a:lnTo>
                  <a:pt x="254825" y="82524"/>
                </a:lnTo>
                <a:lnTo>
                  <a:pt x="253961" y="77927"/>
                </a:lnTo>
                <a:lnTo>
                  <a:pt x="252974" y="74764"/>
                </a:lnTo>
                <a:lnTo>
                  <a:pt x="252883" y="74472"/>
                </a:lnTo>
                <a:lnTo>
                  <a:pt x="252796" y="74193"/>
                </a:lnTo>
                <a:lnTo>
                  <a:pt x="252705" y="73901"/>
                </a:lnTo>
                <a:lnTo>
                  <a:pt x="252617" y="73621"/>
                </a:lnTo>
                <a:lnTo>
                  <a:pt x="243052" y="56362"/>
                </a:lnTo>
                <a:lnTo>
                  <a:pt x="241994" y="55206"/>
                </a:lnTo>
                <a:close/>
              </a:path>
              <a:path w="292734" h="292735">
                <a:moveTo>
                  <a:pt x="212026" y="73329"/>
                </a:moveTo>
                <a:lnTo>
                  <a:pt x="208292" y="73329"/>
                </a:lnTo>
                <a:lnTo>
                  <a:pt x="206845" y="73901"/>
                </a:lnTo>
                <a:lnTo>
                  <a:pt x="112331" y="167360"/>
                </a:lnTo>
                <a:lnTo>
                  <a:pt x="109753" y="173685"/>
                </a:lnTo>
                <a:lnTo>
                  <a:pt x="110324" y="177139"/>
                </a:lnTo>
                <a:lnTo>
                  <a:pt x="111188" y="178574"/>
                </a:lnTo>
                <a:lnTo>
                  <a:pt x="112331" y="180301"/>
                </a:lnTo>
                <a:lnTo>
                  <a:pt x="113766" y="181457"/>
                </a:lnTo>
                <a:lnTo>
                  <a:pt x="117221" y="182600"/>
                </a:lnTo>
                <a:lnTo>
                  <a:pt x="120383" y="182600"/>
                </a:lnTo>
                <a:lnTo>
                  <a:pt x="217767" y="87414"/>
                </a:lnTo>
                <a:lnTo>
                  <a:pt x="219202" y="83972"/>
                </a:lnTo>
                <a:lnTo>
                  <a:pt x="219446" y="82524"/>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73"/>
                </a:lnTo>
                <a:lnTo>
                  <a:pt x="249085" y="19837"/>
                </a:lnTo>
                <a:lnTo>
                  <a:pt x="273215" y="46583"/>
                </a:lnTo>
                <a:lnTo>
                  <a:pt x="274078" y="50037"/>
                </a:lnTo>
                <a:lnTo>
                  <a:pt x="274078" y="57226"/>
                </a:lnTo>
                <a:lnTo>
                  <a:pt x="273215" y="60680"/>
                </a:lnTo>
                <a:lnTo>
                  <a:pt x="272749" y="63258"/>
                </a:lnTo>
                <a:lnTo>
                  <a:pt x="255117" y="87414"/>
                </a:lnTo>
                <a:lnTo>
                  <a:pt x="280344" y="87414"/>
                </a:lnTo>
                <a:lnTo>
                  <a:pt x="283552" y="83388"/>
                </a:lnTo>
                <a:lnTo>
                  <a:pt x="285851" y="79082"/>
                </a:lnTo>
                <a:lnTo>
                  <a:pt x="288442" y="74472"/>
                </a:lnTo>
                <a:lnTo>
                  <a:pt x="289877" y="69596"/>
                </a:lnTo>
                <a:lnTo>
                  <a:pt x="291604" y="64122"/>
                </a:lnTo>
                <a:lnTo>
                  <a:pt x="291922" y="61252"/>
                </a:lnTo>
                <a:lnTo>
                  <a:pt x="291985" y="60680"/>
                </a:lnTo>
                <a:lnTo>
                  <a:pt x="292049" y="60096"/>
                </a:lnTo>
                <a:lnTo>
                  <a:pt x="292176" y="58953"/>
                </a:lnTo>
                <a:lnTo>
                  <a:pt x="292285" y="56934"/>
                </a:lnTo>
                <a:lnTo>
                  <a:pt x="292408" y="52908"/>
                </a:lnTo>
                <a:lnTo>
                  <a:pt x="292253" y="50037"/>
                </a:lnTo>
                <a:lnTo>
                  <a:pt x="292176" y="48602"/>
                </a:lnTo>
                <a:lnTo>
                  <a:pt x="291694" y="43992"/>
                </a:lnTo>
                <a:lnTo>
                  <a:pt x="291604" y="43129"/>
                </a:lnTo>
                <a:lnTo>
                  <a:pt x="289877" y="37960"/>
                </a:lnTo>
                <a:lnTo>
                  <a:pt x="288442" y="33070"/>
                </a:lnTo>
                <a:lnTo>
                  <a:pt x="285851" y="28473"/>
                </a:lnTo>
                <a:lnTo>
                  <a:pt x="283552" y="23863"/>
                </a:lnTo>
                <a:lnTo>
                  <a:pt x="280111" y="19558"/>
                </a:lnTo>
                <a:lnTo>
                  <a:pt x="279045" y="18402"/>
                </a:lnTo>
                <a:close/>
              </a:path>
              <a:path w="292734" h="292735">
                <a:moveTo>
                  <a:pt x="176961" y="65570"/>
                </a:moveTo>
                <a:lnTo>
                  <a:pt x="176682" y="65570"/>
                </a:lnTo>
                <a:lnTo>
                  <a:pt x="176682" y="65849"/>
                </a:lnTo>
                <a:lnTo>
                  <a:pt x="176961" y="65570"/>
                </a:lnTo>
                <a:close/>
              </a:path>
            </a:pathLst>
          </a:custGeom>
          <a:solidFill>
            <a:srgbClr val="C00000"/>
          </a:solidFill>
        </p:spPr>
        <p:txBody>
          <a:bodyPr wrap="square" lIns="0" tIns="0" rIns="0" bIns="0" rtlCol="0"/>
          <a:lstStyl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60604"/>
            <a:ext cx="1271270" cy="431800"/>
          </a:xfrm>
          <a:custGeom>
            <a:avLst/>
            <a:gdLst/>
            <a:ahLst/>
            <a:cxnLst/>
            <a:rect l="l" t="t" r="r" b="b"/>
            <a:pathLst>
              <a:path w="1271270" h="431800">
                <a:moveTo>
                  <a:pt x="1271016" y="0"/>
                </a:moveTo>
                <a:lnTo>
                  <a:pt x="0" y="0"/>
                </a:lnTo>
                <a:lnTo>
                  <a:pt x="0" y="431292"/>
                </a:lnTo>
                <a:lnTo>
                  <a:pt x="1271016" y="431292"/>
                </a:lnTo>
                <a:lnTo>
                  <a:pt x="1271016" y="0"/>
                </a:lnTo>
                <a:close/>
              </a:path>
            </a:pathLst>
          </a:custGeom>
          <a:solidFill>
            <a:srgbClr val="C00000"/>
          </a:solidFill>
        </p:spPr>
        <p:txBody>
          <a:bodyPr wrap="square" lIns="0" tIns="0" rIns="0" bIns="0" rtlCol="0"/>
          <a:lstStyle/>
          <a:p/>
        </p:txBody>
      </p:sp>
      <p:sp>
        <p:nvSpPr>
          <p:cNvPr id="3" name="object 3"/>
          <p:cNvSpPr/>
          <p:nvPr/>
        </p:nvSpPr>
        <p:spPr>
          <a:xfrm>
            <a:off x="1342644" y="260604"/>
            <a:ext cx="73660" cy="431800"/>
          </a:xfrm>
          <a:custGeom>
            <a:avLst/>
            <a:gdLst/>
            <a:ahLst/>
            <a:cxnLst/>
            <a:rect l="l" t="t" r="r" b="b"/>
            <a:pathLst>
              <a:path w="73659" h="431800">
                <a:moveTo>
                  <a:pt x="73152" y="0"/>
                </a:moveTo>
                <a:lnTo>
                  <a:pt x="0" y="0"/>
                </a:lnTo>
                <a:lnTo>
                  <a:pt x="0" y="431292"/>
                </a:lnTo>
                <a:lnTo>
                  <a:pt x="73152" y="431292"/>
                </a:lnTo>
                <a:lnTo>
                  <a:pt x="73152" y="0"/>
                </a:lnTo>
                <a:close/>
              </a:path>
            </a:pathLst>
          </a:custGeom>
          <a:solidFill>
            <a:srgbClr val="C00000"/>
          </a:solidFill>
        </p:spPr>
        <p:txBody>
          <a:bodyPr wrap="square" lIns="0" tIns="0" rIns="0" bIns="0" rtlCol="0"/>
          <a:lstStyle/>
          <a:p/>
        </p:txBody>
      </p:sp>
      <p:sp>
        <p:nvSpPr>
          <p:cNvPr id="4" name="object 4"/>
          <p:cNvSpPr/>
          <p:nvPr/>
        </p:nvSpPr>
        <p:spPr>
          <a:xfrm>
            <a:off x="1481327" y="463295"/>
            <a:ext cx="64135" cy="226060"/>
          </a:xfrm>
          <a:custGeom>
            <a:avLst/>
            <a:gdLst/>
            <a:ahLst/>
            <a:cxnLst/>
            <a:rect l="l" t="t" r="r" b="b"/>
            <a:pathLst>
              <a:path w="64134" h="226059">
                <a:moveTo>
                  <a:pt x="64008" y="0"/>
                </a:moveTo>
                <a:lnTo>
                  <a:pt x="0" y="0"/>
                </a:lnTo>
                <a:lnTo>
                  <a:pt x="0" y="225551"/>
                </a:lnTo>
                <a:lnTo>
                  <a:pt x="64008" y="225551"/>
                </a:lnTo>
                <a:lnTo>
                  <a:pt x="64008" y="0"/>
                </a:lnTo>
                <a:close/>
              </a:path>
            </a:pathLst>
          </a:custGeom>
          <a:solidFill>
            <a:srgbClr val="C00000"/>
          </a:solidFill>
        </p:spPr>
        <p:txBody>
          <a:bodyPr wrap="square" lIns="0" tIns="0" rIns="0" bIns="0" rtlCol="0"/>
          <a:lstStyle/>
          <a:p/>
        </p:txBody>
      </p:sp>
      <p:sp>
        <p:nvSpPr>
          <p:cNvPr id="5" name="object 5"/>
          <p:cNvSpPr txBox="1"/>
          <p:nvPr/>
        </p:nvSpPr>
        <p:spPr>
          <a:xfrm>
            <a:off x="1615439" y="376853"/>
            <a:ext cx="3322320" cy="340995"/>
          </a:xfrm>
          <a:prstGeom prst="rect">
            <a:avLst/>
          </a:prstGeom>
        </p:spPr>
        <p:txBody>
          <a:bodyPr vert="horz" wrap="square" lIns="0" tIns="0" rIns="0" bIns="0" rtlCol="0">
            <a:spAutoFit/>
          </a:bodyPr>
          <a:lstStyle/>
          <a:p>
            <a:pPr>
              <a:lnSpc>
                <a:spcPts val="2655"/>
              </a:lnSpc>
            </a:pPr>
            <a:r>
              <a:rPr sz="2400" b="1" spc="-50" dirty="0">
                <a:latin typeface="微软雅黑" panose="020B0503020204020204" charset="-122"/>
                <a:cs typeface="微软雅黑" panose="020B0503020204020204" charset="-122"/>
              </a:rPr>
              <a:t>CDA</a:t>
            </a:r>
            <a:r>
              <a:rPr sz="2400" b="1" spc="-110" dirty="0">
                <a:latin typeface="微软雅黑" panose="020B0503020204020204" charset="-122"/>
                <a:cs typeface="微软雅黑" panose="020B0503020204020204" charset="-122"/>
              </a:rPr>
              <a:t> </a:t>
            </a:r>
            <a:r>
              <a:rPr sz="2400" b="1" spc="114" dirty="0">
                <a:latin typeface="微软雅黑" panose="020B0503020204020204" charset="-122"/>
                <a:cs typeface="微软雅黑" panose="020B0503020204020204" charset="-122"/>
              </a:rPr>
              <a:t>LEVEL</a:t>
            </a:r>
            <a:r>
              <a:rPr sz="2400" b="1" spc="-25" dirty="0">
                <a:latin typeface="微软雅黑" panose="020B0503020204020204" charset="-122"/>
                <a:cs typeface="微软雅黑" panose="020B0503020204020204" charset="-122"/>
              </a:rPr>
              <a:t> Ⅰ案例试听</a:t>
            </a:r>
            <a:endParaRPr sz="2400">
              <a:latin typeface="微软雅黑" panose="020B0503020204020204" charset="-122"/>
              <a:cs typeface="微软雅黑" panose="020B0503020204020204" charset="-122"/>
            </a:endParaRPr>
          </a:p>
        </p:txBody>
      </p:sp>
      <p:pic>
        <p:nvPicPr>
          <p:cNvPr id="6" name="object 6"/>
          <p:cNvPicPr/>
          <p:nvPr/>
        </p:nvPicPr>
        <p:blipFill>
          <a:blip r:embed="rId1" cstate="print"/>
          <a:stretch>
            <a:fillRect/>
          </a:stretch>
        </p:blipFill>
        <p:spPr>
          <a:xfrm>
            <a:off x="0" y="0"/>
            <a:ext cx="12192000" cy="685799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191500" y="1837690"/>
            <a:ext cx="181356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03</a:t>
            </a:r>
            <a:endParaRPr lang="en-US" sz="1600" dirty="0"/>
          </a:p>
        </p:txBody>
      </p:sp>
      <p:sp>
        <p:nvSpPr>
          <p:cNvPr id="7" name="Text 3"/>
          <p:cNvSpPr/>
          <p:nvPr/>
        </p:nvSpPr>
        <p:spPr>
          <a:xfrm>
            <a:off x="5979795" y="3223895"/>
            <a:ext cx="5601970" cy="1445260"/>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a:sym typeface="+mn-ea"/>
              </a:rPr>
              <a:t>Applications of Deep Learning</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25855" y="1426210"/>
            <a:ext cx="10017125" cy="843280"/>
          </a:xfrm>
          <a:prstGeom prst="rect">
            <a:avLst/>
          </a:prstGeom>
        </p:spPr>
        <p:txBody>
          <a:bodyPr vert="horz" wrap="square" lIns="0" tIns="12700" rIns="0" bIns="0" rtlCol="0">
            <a:spAutoFit/>
          </a:bodyPr>
          <a:lstStyle/>
          <a:p>
            <a:pPr marL="12700" algn="l">
              <a:lnSpc>
                <a:spcPct val="100000"/>
              </a:lnSpc>
              <a:spcBef>
                <a:spcPts val="100"/>
              </a:spcBef>
            </a:pPr>
            <a:r>
              <a:rPr lang="en-US" altLang="zh-CN" sz="1800" spc="-10" dirty="0"/>
              <a:t>Applications: Self-driving cars recognizing traffic lights and pedestrians;</a:t>
            </a:r>
            <a:br>
              <a:rPr lang="en-US" altLang="zh-CN" sz="1800" spc="-10" dirty="0"/>
            </a:br>
            <a:r>
              <a:rPr lang="en-US" altLang="zh-CN" sz="1800" spc="-10" dirty="0"/>
              <a:t>Technology: CNN (Convolutional Neural Network) identifies edges, shapes, and semantic objects from pixels through multi-layer feature extraction.</a:t>
            </a:r>
            <a:endParaRPr lang="en-US" altLang="zh-CN" sz="1800" spc="-10" dirty="0"/>
          </a:p>
        </p:txBody>
      </p:sp>
      <p:pic>
        <p:nvPicPr>
          <p:cNvPr id="5" name="object 5"/>
          <p:cNvPicPr/>
          <p:nvPr/>
        </p:nvPicPr>
        <p:blipFill>
          <a:blip r:embed="rId1" cstate="print"/>
          <a:stretch>
            <a:fillRect/>
          </a:stretch>
        </p:blipFill>
        <p:spPr>
          <a:xfrm>
            <a:off x="1325880" y="2538984"/>
            <a:ext cx="10000180" cy="3235452"/>
          </a:xfrm>
          <a:prstGeom prst="rect">
            <a:avLst/>
          </a:prstGeom>
        </p:spPr>
      </p:pic>
      <p:cxnSp>
        <p:nvCxnSpPr>
          <p:cNvPr id="6" name="直接连接符 5"/>
          <p:cNvCxnSpPr/>
          <p:nvPr/>
        </p:nvCxnSpPr>
        <p:spPr>
          <a:xfrm>
            <a:off x="20320" y="989965"/>
            <a:ext cx="12140565" cy="0"/>
          </a:xfrm>
          <a:prstGeom prst="line">
            <a:avLst/>
          </a:prstGeom>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407670" y="197485"/>
            <a:ext cx="5723890" cy="574040"/>
          </a:xfrm>
          <a:prstGeom prst="rect">
            <a:avLst/>
          </a:prstGeom>
          <a:noFill/>
        </p:spPr>
        <p:txBody>
          <a:bodyPr wrap="square" rtlCol="0">
            <a:noAutofit/>
          </a:bodyPr>
          <a:p>
            <a:r>
              <a:rPr lang="en-US" altLang="zh-CN" sz="2800"/>
              <a:t>Applications of Deep Learning</a:t>
            </a:r>
            <a:endParaRPr lang="en-US" altLang="zh-CN"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25855" y="1371600"/>
            <a:ext cx="10017125" cy="566420"/>
          </a:xfrm>
          <a:prstGeom prst="rect">
            <a:avLst/>
          </a:prstGeom>
        </p:spPr>
        <p:txBody>
          <a:bodyPr vert="horz" wrap="square" lIns="0" tIns="12700" rIns="0" bIns="0" rtlCol="0">
            <a:spAutoFit/>
          </a:bodyPr>
          <a:lstStyle/>
          <a:p>
            <a:pPr marL="12700" algn="l">
              <a:lnSpc>
                <a:spcPct val="100000"/>
              </a:lnSpc>
              <a:spcBef>
                <a:spcPts val="100"/>
              </a:spcBef>
            </a:pPr>
            <a:r>
              <a:rPr lang="en-US" altLang="zh-CN" sz="1800" spc="-10" dirty="0">
                <a:sym typeface="+mn-ea"/>
              </a:rPr>
              <a:t>For example, a face recognition system extracts facial features through deep learning, is trained on these features, and ultimately enables the identification of human faces.</a:t>
            </a:r>
            <a:endParaRPr lang="en-US" altLang="zh-CN" sz="1800" spc="-10" dirty="0"/>
          </a:p>
        </p:txBody>
      </p:sp>
      <p:cxnSp>
        <p:nvCxnSpPr>
          <p:cNvPr id="6" name="直接连接符 5"/>
          <p:cNvCxnSpPr/>
          <p:nvPr/>
        </p:nvCxnSpPr>
        <p:spPr>
          <a:xfrm>
            <a:off x="20320" y="989965"/>
            <a:ext cx="12140565" cy="0"/>
          </a:xfrm>
          <a:prstGeom prst="line">
            <a:avLst/>
          </a:prstGeom>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407670" y="197485"/>
            <a:ext cx="5723890" cy="574040"/>
          </a:xfrm>
          <a:prstGeom prst="rect">
            <a:avLst/>
          </a:prstGeom>
          <a:noFill/>
        </p:spPr>
        <p:txBody>
          <a:bodyPr wrap="square" rtlCol="0">
            <a:noAutofit/>
          </a:bodyPr>
          <a:p>
            <a:r>
              <a:rPr lang="en-US" altLang="zh-CN" sz="2800"/>
              <a:t>Applications of Deep Learning</a:t>
            </a:r>
            <a:endParaRPr lang="en-US" altLang="zh-CN" sz="2800"/>
          </a:p>
        </p:txBody>
      </p:sp>
      <p:pic>
        <p:nvPicPr>
          <p:cNvPr id="8" name="object 5"/>
          <p:cNvPicPr/>
          <p:nvPr/>
        </p:nvPicPr>
        <p:blipFill>
          <a:blip r:embed="rId1" cstate="print"/>
          <a:stretch>
            <a:fillRect/>
          </a:stretch>
        </p:blipFill>
        <p:spPr>
          <a:xfrm>
            <a:off x="2165688" y="2319502"/>
            <a:ext cx="7694761" cy="394226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25855" y="1426210"/>
            <a:ext cx="10017125" cy="843280"/>
          </a:xfrm>
          <a:prstGeom prst="rect">
            <a:avLst/>
          </a:prstGeom>
        </p:spPr>
        <p:txBody>
          <a:bodyPr vert="horz" wrap="square" lIns="0" tIns="12700" rIns="0" bIns="0" rtlCol="0">
            <a:spAutoFit/>
          </a:bodyPr>
          <a:lstStyle/>
          <a:p>
            <a:pPr marL="12700" algn="l">
              <a:lnSpc>
                <a:spcPct val="100000"/>
              </a:lnSpc>
              <a:spcBef>
                <a:spcPts val="100"/>
              </a:spcBef>
            </a:pPr>
            <a:r>
              <a:rPr lang="en-US" altLang="zh-CN" sz="1800" spc="-10" dirty="0"/>
              <a:t>Applications: Detecting pneumonia and lung cancer in chest CT scans; predicting patient deterioration risk based on electronic health records (EHR).distinguishing benign/malignant tumors in medical imaging.</a:t>
            </a:r>
            <a:endParaRPr lang="en-US" altLang="zh-CN" sz="1800" spc="-10" dirty="0"/>
          </a:p>
        </p:txBody>
      </p:sp>
      <p:cxnSp>
        <p:nvCxnSpPr>
          <p:cNvPr id="6" name="直接连接符 5"/>
          <p:cNvCxnSpPr/>
          <p:nvPr/>
        </p:nvCxnSpPr>
        <p:spPr>
          <a:xfrm>
            <a:off x="20320" y="989965"/>
            <a:ext cx="12140565" cy="0"/>
          </a:xfrm>
          <a:prstGeom prst="line">
            <a:avLst/>
          </a:prstGeom>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407670" y="197485"/>
            <a:ext cx="5723890" cy="574040"/>
          </a:xfrm>
          <a:prstGeom prst="rect">
            <a:avLst/>
          </a:prstGeom>
          <a:noFill/>
        </p:spPr>
        <p:txBody>
          <a:bodyPr wrap="square" rtlCol="0">
            <a:noAutofit/>
          </a:bodyPr>
          <a:p>
            <a:r>
              <a:rPr lang="en-US" altLang="zh-CN" sz="2800"/>
              <a:t>Applications of Deep Learning</a:t>
            </a:r>
            <a:endParaRPr lang="en-US" altLang="zh-CN" sz="2800"/>
          </a:p>
        </p:txBody>
      </p:sp>
      <p:pic>
        <p:nvPicPr>
          <p:cNvPr id="8" name="object 5"/>
          <p:cNvPicPr/>
          <p:nvPr/>
        </p:nvPicPr>
        <p:blipFill>
          <a:blip r:embed="rId1" cstate="print"/>
          <a:stretch>
            <a:fillRect/>
          </a:stretch>
        </p:blipFill>
        <p:spPr>
          <a:xfrm>
            <a:off x="5214620" y="2264410"/>
            <a:ext cx="6473190" cy="4277995"/>
          </a:xfrm>
          <a:prstGeom prst="rect">
            <a:avLst/>
          </a:prstGeom>
        </p:spPr>
      </p:pic>
      <p:sp>
        <p:nvSpPr>
          <p:cNvPr id="9" name="文本框 8"/>
          <p:cNvSpPr txBox="1"/>
          <p:nvPr/>
        </p:nvSpPr>
        <p:spPr>
          <a:xfrm>
            <a:off x="760730" y="2914015"/>
            <a:ext cx="4208145" cy="1950720"/>
          </a:xfrm>
          <a:prstGeom prst="rect">
            <a:avLst/>
          </a:prstGeom>
          <a:noFill/>
        </p:spPr>
        <p:txBody>
          <a:bodyPr wrap="square" rtlCol="0">
            <a:noAutofit/>
          </a:bodyPr>
          <a:p>
            <a:r>
              <a:rPr lang="en-US" altLang="zh-CN"/>
              <a:t>T</a:t>
            </a:r>
            <a:r>
              <a:rPr lang="en-US" altLang="zh-CN" spc="-10" dirty="0">
                <a:latin typeface="微软雅黑" panose="020B0503020204020204" charset="-122"/>
                <a:ea typeface="+mj-ea"/>
                <a:cs typeface="微软雅黑" panose="020B0503020204020204" charset="-122"/>
              </a:rPr>
              <a:t>echnology:</a:t>
            </a:r>
            <a:endParaRPr lang="en-US" altLang="zh-CN" spc="-10" dirty="0">
              <a:latin typeface="微软雅黑" panose="020B0503020204020204" charset="-122"/>
              <a:ea typeface="+mj-ea"/>
              <a:cs typeface="微软雅黑" panose="020B0503020204020204" charset="-122"/>
            </a:endParaRPr>
          </a:p>
          <a:p>
            <a:pPr marL="285750" indent="-285750">
              <a:buFont typeface="Arial" panose="020B0604020202020204" pitchFamily="34" charset="0"/>
              <a:buChar char="•"/>
            </a:pPr>
            <a:r>
              <a:rPr lang="en-US" altLang="zh-CN" spc="-10" dirty="0">
                <a:latin typeface="微软雅黑" panose="020B0503020204020204" charset="-122"/>
                <a:ea typeface="+mj-ea"/>
                <a:cs typeface="微软雅黑" panose="020B0503020204020204" charset="-122"/>
              </a:rPr>
              <a:t> CNNs analyze medical images;</a:t>
            </a:r>
            <a:endParaRPr lang="en-US" altLang="zh-CN" spc="-10" dirty="0">
              <a:latin typeface="微软雅黑" panose="020B0503020204020204" charset="-122"/>
              <a:ea typeface="+mj-ea"/>
              <a:cs typeface="微软雅黑" panose="020B0503020204020204" charset="-122"/>
            </a:endParaRPr>
          </a:p>
          <a:p>
            <a:pPr marL="285750" indent="-285750">
              <a:buFont typeface="Arial" panose="020B0604020202020204" pitchFamily="34" charset="0"/>
              <a:buChar char="•"/>
            </a:pPr>
            <a:r>
              <a:rPr lang="en-US" altLang="zh-CN" spc="-10" dirty="0">
                <a:latin typeface="微软雅黑" panose="020B0503020204020204" charset="-122"/>
                <a:ea typeface="+mj-ea"/>
                <a:cs typeface="微软雅黑" panose="020B0503020204020204" charset="-122"/>
              </a:rPr>
              <a:t> LSTMs process time-series patient record data.</a:t>
            </a:r>
            <a:endParaRPr lang="en-US" altLang="zh-CN" spc="-10" dirty="0">
              <a:latin typeface="微软雅黑" panose="020B0503020204020204" charset="-122"/>
              <a:ea typeface="+mj-ea"/>
              <a:cs typeface="微软雅黑" panose="020B0503020204020204" charset="-122"/>
            </a:endParaRPr>
          </a:p>
        </p:txBody>
      </p:sp>
      <p:sp>
        <p:nvSpPr>
          <p:cNvPr id="10" name="object 3"/>
          <p:cNvSpPr/>
          <p:nvPr/>
        </p:nvSpPr>
        <p:spPr>
          <a:xfrm>
            <a:off x="332409" y="310856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25855" y="1371600"/>
            <a:ext cx="10017125" cy="566420"/>
          </a:xfrm>
          <a:prstGeom prst="rect">
            <a:avLst/>
          </a:prstGeom>
        </p:spPr>
        <p:txBody>
          <a:bodyPr vert="horz" wrap="square" lIns="0" tIns="12700" rIns="0" bIns="0" rtlCol="0">
            <a:spAutoFit/>
          </a:bodyPr>
          <a:lstStyle/>
          <a:p>
            <a:pPr marL="12700" algn="l">
              <a:lnSpc>
                <a:spcPct val="100000"/>
              </a:lnSpc>
              <a:spcBef>
                <a:spcPts val="100"/>
              </a:spcBef>
            </a:pPr>
            <a:r>
              <a:rPr lang="en-US" altLang="zh-CN" sz="1800" spc="-10" dirty="0"/>
              <a:t>Applications: AI painting (e.g., Stable Diffusion), old photo restoration, super-resolution reconstruction.</a:t>
            </a:r>
            <a:endParaRPr lang="en-US" altLang="zh-CN" sz="1800" spc="-10" dirty="0"/>
          </a:p>
        </p:txBody>
      </p:sp>
      <p:cxnSp>
        <p:nvCxnSpPr>
          <p:cNvPr id="6" name="直接连接符 5"/>
          <p:cNvCxnSpPr/>
          <p:nvPr/>
        </p:nvCxnSpPr>
        <p:spPr>
          <a:xfrm>
            <a:off x="20320" y="989965"/>
            <a:ext cx="12140565" cy="0"/>
          </a:xfrm>
          <a:prstGeom prst="line">
            <a:avLst/>
          </a:prstGeom>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407670" y="197485"/>
            <a:ext cx="5723890" cy="574040"/>
          </a:xfrm>
          <a:prstGeom prst="rect">
            <a:avLst/>
          </a:prstGeom>
          <a:noFill/>
        </p:spPr>
        <p:txBody>
          <a:bodyPr wrap="square" rtlCol="0">
            <a:noAutofit/>
          </a:bodyPr>
          <a:p>
            <a:r>
              <a:rPr lang="en-US" altLang="zh-CN" sz="2800"/>
              <a:t>Applications of Deep Learning</a:t>
            </a:r>
            <a:endParaRPr lang="en-US" altLang="zh-CN" sz="2800"/>
          </a:p>
        </p:txBody>
      </p:sp>
      <p:pic>
        <p:nvPicPr>
          <p:cNvPr id="5" name="object 5"/>
          <p:cNvPicPr/>
          <p:nvPr/>
        </p:nvPicPr>
        <p:blipFill>
          <a:blip r:embed="rId1" cstate="print"/>
          <a:stretch>
            <a:fillRect/>
          </a:stretch>
        </p:blipFill>
        <p:spPr>
          <a:xfrm>
            <a:off x="5428615" y="2319655"/>
            <a:ext cx="5714365" cy="4208145"/>
          </a:xfrm>
          <a:prstGeom prst="rect">
            <a:avLst/>
          </a:prstGeom>
        </p:spPr>
      </p:pic>
      <p:sp>
        <p:nvSpPr>
          <p:cNvPr id="9" name="文本框 8"/>
          <p:cNvSpPr txBox="1"/>
          <p:nvPr/>
        </p:nvSpPr>
        <p:spPr>
          <a:xfrm>
            <a:off x="637540" y="2903855"/>
            <a:ext cx="4770120" cy="1198880"/>
          </a:xfrm>
          <a:prstGeom prst="rect">
            <a:avLst/>
          </a:prstGeom>
          <a:noFill/>
        </p:spPr>
        <p:txBody>
          <a:bodyPr wrap="square" rtlCol="0">
            <a:spAutoFit/>
          </a:bodyPr>
          <a:p>
            <a:pPr marL="12700" algn="l">
              <a:spcBef>
                <a:spcPts val="100"/>
              </a:spcBef>
              <a:buClrTx/>
              <a:buSzTx/>
              <a:buFontTx/>
            </a:pPr>
            <a:r>
              <a:rPr lang="en-US" altLang="zh-CN" spc="-10" dirty="0">
                <a:latin typeface="微软雅黑" panose="020B0503020204020204" charset="-122"/>
                <a:ea typeface="+mj-ea"/>
                <a:cs typeface="微软雅黑" panose="020B0503020204020204" charset="-122"/>
              </a:rPr>
              <a:t>Technology: GANs (Generative Adversarial Networks) generate realistic images through competition between a generator and a discriminator.</a:t>
            </a:r>
            <a:endParaRPr lang="en-US" altLang="zh-CN" spc="-10" dirty="0">
              <a:latin typeface="微软雅黑" panose="020B0503020204020204" charset="-122"/>
              <a:ea typeface="+mj-ea"/>
              <a:cs typeface="微软雅黑" panose="020B0503020204020204" charset="-122"/>
            </a:endParaRPr>
          </a:p>
        </p:txBody>
      </p:sp>
      <p:sp>
        <p:nvSpPr>
          <p:cNvPr id="10" name="object 3"/>
          <p:cNvSpPr/>
          <p:nvPr/>
        </p:nvSpPr>
        <p:spPr>
          <a:xfrm>
            <a:off x="332409" y="301522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3" name="Text 0"/>
          <p:cNvSpPr/>
          <p:nvPr/>
        </p:nvSpPr>
        <p:spPr>
          <a:xfrm>
            <a:off x="3777615" y="4553585"/>
            <a:ext cx="1918970" cy="337185"/>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000000"/>
                </a:solidFill>
                <a:latin typeface="MiSans" pitchFamily="34" charset="-122"/>
                <a:ea typeface="MiSans" pitchFamily="34" charset="-122"/>
                <a:cs typeface="MiSans" pitchFamily="34" charset="-120"/>
              </a:rPr>
              <a:t>汇报人</a:t>
            </a:r>
            <a:r>
              <a:rPr lang="en-US" sz="1600" dirty="0">
                <a:solidFill>
                  <a:srgbClr val="000000"/>
                </a:solidFill>
                <a:latin typeface="MiSans" pitchFamily="34" charset="-122"/>
                <a:ea typeface="MiSans" pitchFamily="34" charset="-122"/>
                <a:cs typeface="MiSans" pitchFamily="34" charset="-120"/>
              </a:rPr>
              <a:t>:</a:t>
            </a:r>
            <a:endParaRPr lang="en-US" sz="1600" dirty="0"/>
          </a:p>
        </p:txBody>
      </p:sp>
      <p:sp>
        <p:nvSpPr>
          <p:cNvPr id="4" name="Text 1"/>
          <p:cNvSpPr/>
          <p:nvPr/>
        </p:nvSpPr>
        <p:spPr>
          <a:xfrm>
            <a:off x="6495415" y="4553585"/>
            <a:ext cx="1918970" cy="248841"/>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000000"/>
                </a:solidFill>
                <a:latin typeface="MiSans" pitchFamily="34" charset="-122"/>
                <a:ea typeface="MiSans" pitchFamily="34" charset="-122"/>
                <a:cs typeface="MiSans" pitchFamily="34" charset="-120"/>
              </a:rPr>
              <a:t>时间</a:t>
            </a:r>
            <a:r>
              <a:rPr lang="en-US" sz="1600" dirty="0">
                <a:solidFill>
                  <a:srgbClr val="000000"/>
                </a:solidFill>
                <a:latin typeface="MiSans" pitchFamily="34" charset="-122"/>
                <a:ea typeface="MiSans" pitchFamily="34" charset="-122"/>
                <a:cs typeface="MiSans" pitchFamily="34" charset="-120"/>
              </a:rPr>
              <a:t>:2025.01.01</a:t>
            </a:r>
            <a:endParaRPr lang="en-US" sz="1600" dirty="0"/>
          </a:p>
        </p:txBody>
      </p:sp>
      <p:sp>
        <p:nvSpPr>
          <p:cNvPr id="6" name="Text 3"/>
          <p:cNvSpPr/>
          <p:nvPr/>
        </p:nvSpPr>
        <p:spPr>
          <a:xfrm>
            <a:off x="2715260" y="3040380"/>
            <a:ext cx="6761480" cy="1414780"/>
          </a:xfrm>
          <a:prstGeom prst="rect">
            <a:avLst/>
          </a:prstGeom>
          <a:noFill/>
        </p:spPr>
        <p:txBody>
          <a:bodyPr wrap="square" lIns="91440" tIns="45720" rIns="91440" bIns="45720" rtlCol="0" anchor="t"/>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THANK YOU</a:t>
            </a:r>
            <a:endParaRPr lang="en-US" sz="1600" dirty="0"/>
          </a:p>
        </p:txBody>
      </p:sp>
      <p:sp>
        <p:nvSpPr>
          <p:cNvPr id="7" name="Text 4"/>
          <p:cNvSpPr/>
          <p:nvPr/>
        </p:nvSpPr>
        <p:spPr>
          <a:xfrm>
            <a:off x="2227898" y="1987550"/>
            <a:ext cx="7736205" cy="1414780"/>
          </a:xfrm>
          <a:prstGeom prst="rect">
            <a:avLst/>
          </a:prstGeom>
          <a:noFill/>
        </p:spPr>
        <p:txBody>
          <a:bodyPr wrap="square" lIns="91440" tIns="45720" rIns="91440" bIns="45720" rtlCol="0" anchor="t"/>
          <a:lstStyle/>
          <a:p>
            <a:pPr marL="0" indent="0" algn="ctr">
              <a:lnSpc>
                <a:spcPct val="100000"/>
              </a:lnSpc>
              <a:buNone/>
            </a:pP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282.1264566929134,&quot;left&quot;:473.92417322834643,&quot;top&quot;:190.6,&quot;width&quot;:402.6258267716536}"/>
</p:tagLst>
</file>

<file path=ppt/tags/tag2.xml><?xml version="1.0" encoding="utf-8"?>
<p:tagLst xmlns:p="http://schemas.openxmlformats.org/presentationml/2006/main">
  <p:tag name="KSO_WM_DIAGRAM_VIRTUALLY_FRAME" val="{&quot;height&quot;:282.1264566929134,&quot;left&quot;:473.92417322834643,&quot;top&quot;:190.6,&quot;width&quot;:402.6258267716536}"/>
</p:tagLst>
</file>

<file path=ppt/tags/tag3.xml><?xml version="1.0" encoding="utf-8"?>
<p:tagLst xmlns:p="http://schemas.openxmlformats.org/presentationml/2006/main">
  <p:tag name="KSO_WM_DIAGRAM_VIRTUALLY_FRAME" val="{&quot;height&quot;:282.1264566929134,&quot;left&quot;:473.92417322834643,&quot;top&quot;:190.6,&quot;width&quot;:402.6258267716536}"/>
</p:tagLst>
</file>

<file path=ppt/tags/tag4.xml><?xml version="1.0" encoding="utf-8"?>
<p:tagLst xmlns:p="http://schemas.openxmlformats.org/presentationml/2006/main">
  <p:tag name="KSO_WM_DIAGRAM_VIRTUALLY_FRAME" val="{&quot;height&quot;:282.1264566929134,&quot;left&quot;:473.92417322834643,&quot;top&quot;:190.6,&quot;width&quot;:402.6258267716536}"/>
</p:tagLst>
</file>

<file path=ppt/tags/tag5.xml><?xml version="1.0" encoding="utf-8"?>
<p:tagLst xmlns:p="http://schemas.openxmlformats.org/presentationml/2006/main">
  <p:tag name="KSO_WM_DIAGRAM_VIRTUALLY_FRAME" val="{&quot;height&quot;:282.1264566929134,&quot;left&quot;:473.92417322834643,&quot;top&quot;:190.6,&quot;width&quot;:402.6258267716536}"/>
</p:tagLst>
</file>

<file path=ppt/tags/tag6.xml><?xml version="1.0" encoding="utf-8"?>
<p:tagLst xmlns:p="http://schemas.openxmlformats.org/presentationml/2006/main">
  <p:tag name="KSO_WM_DIAGRAM_VIRTUALLY_FRAME" val="{&quot;height&quot;:282.1264566929134,&quot;left&quot;:473.92417322834643,&quot;top&quot;:190.6,&quot;width&quot;:402.6258267716536}"/>
</p:tagLst>
</file>

<file path=ppt/tags/tag7.xml><?xml version="1.0" encoding="utf-8"?>
<p:tagLst xmlns:p="http://schemas.openxmlformats.org/presentationml/2006/main">
  <p:tag name="KSO_WM_DIAGRAM_VIRTUALLY_FRAME" val="{&quot;height&quot;:233.9,&quot;left&quot;:56.938976377952756,&quot;top&quot;:198,&quot;width&quot;:329.5522906308661}"/>
</p:tagLst>
</file>

<file path=ppt/tags/tag8.xml><?xml version="1.0" encoding="utf-8"?>
<p:tagLst xmlns:p="http://schemas.openxmlformats.org/presentationml/2006/main">
  <p:tag name="KSO_WM_DIAGRAM_VIRTUALLY_FRAME" val="{&quot;height&quot;:233.9,&quot;left&quot;:56.938976377952756,&quot;top&quot;:198,&quot;width&quot;:329.5522906308661}"/>
</p:tagLst>
</file>

<file path=ppt/tags/tag9.xml><?xml version="1.0" encoding="utf-8"?>
<p:tagLst xmlns:p="http://schemas.openxmlformats.org/presentationml/2006/main">
  <p:tag name="KSO_WM_DIAGRAM_VIRTUALLY_FRAME" val="{&quot;height&quot;:233.9,&quot;left&quot;:56.938976377952756,&quot;top&quot;:198,&quot;width&quot;:329.5522906308661}"/>
</p:tagLst>
</file>

<file path=ppt/tags/tag10.xml><?xml version="1.0" encoding="utf-8"?>
<p:tagLst xmlns:p="http://schemas.openxmlformats.org/presentationml/2006/main">
  <p:tag name="KSO_WM_DIAGRAM_VIRTUALLY_FRAME" val="{&quot;height&quot;:233.9,&quot;left&quot;:56.938976377952756,&quot;top&quot;:198,&quot;width&quot;:329.5522906308661}"/>
</p:tagLst>
</file>

<file path=ppt/tags/tag11.xml><?xml version="1.0" encoding="utf-8"?>
<p:tagLst xmlns:p="http://schemas.openxmlformats.org/presentationml/2006/main">
  <p:tag name="KSO_WM_DIAGRAM_VIRTUALLY_FRAME" val="{&quot;height&quot;:233.9,&quot;left&quot;:52.03897637795276,&quot;top&quot;:236.1,&quot;width&quot;:329.5522906308661}"/>
</p:tagLst>
</file>

<file path=ppt/tags/tag12.xml><?xml version="1.0" encoding="utf-8"?>
<p:tagLst xmlns:p="http://schemas.openxmlformats.org/presentationml/2006/main">
  <p:tag name="KSO_WM_DIAGRAM_VIRTUALLY_FRAME" val="{&quot;height&quot;:233.9,&quot;left&quot;:52.03897637795276,&quot;top&quot;:236.1,&quot;width&quot;:329.5522906308661}"/>
</p:tagLst>
</file>

<file path=ppt/tags/tag13.xml><?xml version="1.0" encoding="utf-8"?>
<p:tagLst xmlns:p="http://schemas.openxmlformats.org/presentationml/2006/main">
  <p:tag name="KSO_WM_DIAGRAM_VIRTUALLY_FRAME" val="{&quot;height&quot;:233.9,&quot;left&quot;:52.03897637795276,&quot;top&quot;:236.1,&quot;width&quot;:329.5522906308661}"/>
</p:tagLst>
</file>

<file path=ppt/tags/tag14.xml><?xml version="1.0" encoding="utf-8"?>
<p:tagLst xmlns:p="http://schemas.openxmlformats.org/presentationml/2006/main">
  <p:tag name="KSO_WM_DIAGRAM_VIRTUALLY_FRAME" val="{&quot;height&quot;:233.9,&quot;left&quot;:52.03897637795276,&quot;top&quot;:236.1,&quot;width&quot;:329.5522906308661}"/>
</p:tagLst>
</file>

<file path=ppt/tags/tag15.xml><?xml version="1.0" encoding="utf-8"?>
<p:tagLst xmlns:p="http://schemas.openxmlformats.org/presentationml/2006/main">
  <p:tag name="KSO_WM_DIAGRAM_VIRTUALLY_FRAME" val="{&quot;height&quot;:233.9,&quot;left&quot;:52.03897637795276,&quot;top&quot;:236.1,&quot;width&quot;:329.5522906308661}"/>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13408</Words>
  <Application>WPS 演示</Application>
  <PresentationFormat>On-screen Show (16:9)</PresentationFormat>
  <Paragraphs>518</Paragraphs>
  <Slides>47</Slides>
  <Notes>16</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47</vt:i4>
      </vt:variant>
    </vt:vector>
  </HeadingPairs>
  <TitlesOfParts>
    <vt:vector size="62" baseType="lpstr">
      <vt:lpstr>Arial</vt:lpstr>
      <vt:lpstr>宋体</vt:lpstr>
      <vt:lpstr>Wingdings</vt:lpstr>
      <vt:lpstr>微软雅黑</vt:lpstr>
      <vt:lpstr>MiSans</vt:lpstr>
      <vt:lpstr>MiSans</vt:lpstr>
      <vt:lpstr>Calibri</vt:lpstr>
      <vt:lpstr>Arial Unicode MS</vt:lpstr>
      <vt:lpstr>等线</vt:lpstr>
      <vt:lpstr>等线 Light</vt:lpstr>
      <vt:lpstr>Calibri Light</vt:lpstr>
      <vt:lpstr>Calibri</vt:lpstr>
      <vt:lpstr>Arial</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By simulating the working mechanism of human brain neurons, deep learning can automatically learn complex patterns from data, thus enabling the prediction and classification of unknown data.</vt:lpstr>
      <vt:lpstr>an artificial neuron (perceptron) in deep learning mimics a biological neuron</vt:lpstr>
      <vt:lpstr>an artificial neuron (perceptron) in deep learning mimics a biological neuron</vt:lpstr>
      <vt:lpstr>an artificial neuron (perceptron) in deep learning mimics a biological neuron</vt:lpstr>
      <vt:lpstr>an artificial neuron (perceptron) in deep learning mimics a biological neuron</vt:lpstr>
      <vt:lpstr>We've learned how neurons are calculated, so let's take a simple example</vt:lpstr>
      <vt:lpstr>We've learned how neurons are calculated, so let's take a simple example</vt:lpstr>
      <vt:lpstr>We've learned how neurons are calculated, so let's take a simple example</vt:lpstr>
      <vt:lpstr>Key Insights​​: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By simulating the working mechanism of human brain neurons, deep learning can automatically learn complex patterns from data, thus enabling the prediction and classification of unknown data.</vt:lpstr>
      <vt:lpstr>Overall architecture</vt:lpstr>
      <vt:lpstr>PowerPoint 演示文稿</vt:lpstr>
      <vt:lpstr>PowerPoint 演示文稿</vt:lpstr>
      <vt:lpstr>Applications: Self-driving cars recognizing traffic lights and pedestrians; Technology: CNN (Convolutional Neural Network) identifies edges, shapes, and semantic objects from pixels through multi-layer feature extraction.</vt:lpstr>
      <vt:lpstr>For example, a face recognition system extracts facial features through deep learning, is trained on these features, and ultimately enables the identification of human faces.</vt:lpstr>
      <vt:lpstr>Applications: Detecting pneumonia and lung cancer in chest CT scans; predicting patient deterioration risk based on electronic health records (EHR).distinguishing benign/malignant tumors in medical imaging.</vt:lpstr>
      <vt:lpstr>Applications: AI painting (e.g., Stable Diffusion), old photo restoration, super-resolution reconstruction.</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良心</cp:lastModifiedBy>
  <cp:revision>12</cp:revision>
  <dcterms:created xsi:type="dcterms:W3CDTF">2025-06-27T15:42:00Z</dcterms:created>
  <dcterms:modified xsi:type="dcterms:W3CDTF">2025-06-30T13:40:00Z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49430538112B469BB9AB413B469D4992_12</vt:lpwstr>
  </property>
  <property fmtid="{D5CDD505-2E9C-101B-9397-08002B2CF9AE}" pid="3" name="KSOProductBuildVer">
    <vt:lpwstr>2052-12.1.0.21541</vt:lpwstr>
  </property>
</Properties>
</file>