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77" r:id="rId9"/>
    <p:sldId id="260" r:id="rId10"/>
    <p:sldId id="261" r:id="rId11"/>
    <p:sldId id="278" r:id="rId12"/>
    <p:sldId id="280" r:id="rId13"/>
    <p:sldId id="281" r:id="rId14"/>
    <p:sldId id="283" r:id="rId15"/>
    <p:sldId id="288" r:id="rId16"/>
    <p:sldId id="284" r:id="rId17"/>
    <p:sldId id="285" r:id="rId18"/>
    <p:sldId id="286" r:id="rId19"/>
    <p:sldId id="289" r:id="rId20"/>
    <p:sldId id="290" r:id="rId21"/>
    <p:sldId id="291" r:id="rId22"/>
    <p:sldId id="292" r:id="rId23"/>
    <p:sldId id="293" r:id="rId24"/>
    <p:sldId id="294" r:id="rId25"/>
    <p:sldId id="295" r:id="rId26"/>
    <p:sldId id="296" r:id="rId27"/>
    <p:sldId id="297" r:id="rId28"/>
    <p:sldId id="262" r:id="rId29"/>
    <p:sldId id="263" r:id="rId30"/>
    <p:sldId id="264" r:id="rId31"/>
    <p:sldId id="265" r:id="rId32"/>
    <p:sldId id="266" r:id="rId33"/>
    <p:sldId id="267" r:id="rId34"/>
    <p:sldId id="298" r:id="rId35"/>
    <p:sldId id="268" r:id="rId36"/>
    <p:sldId id="269" r:id="rId37"/>
    <p:sldId id="299" r:id="rId38"/>
    <p:sldId id="300" r:id="rId39"/>
    <p:sldId id="301" r:id="rId40"/>
    <p:sldId id="270" r:id="rId41"/>
    <p:sldId id="271" r:id="rId42"/>
    <p:sldId id="272" r:id="rId43"/>
    <p:sldId id="273" r:id="rId44"/>
    <p:sldId id="274" r:id="rId45"/>
    <p:sldId id="275" r:id="rId46"/>
    <p:sldId id="276" r:id="rId47"/>
  </p:sldIdLst>
  <p:sldSz cx="12192000" cy="6858000"/>
  <p:notesSz cx="6858000" cy="12192000"/>
  <p:embeddedFontLst>
    <p:embeddedFont>
      <p:font typeface="MiSans" pitchFamily="34" charset="-122"/>
      <p:regular r:id="rId51"/>
    </p:embeddedFont>
    <p:embeddedFont>
      <p:font typeface="MiSans" pitchFamily="34" charset="-120"/>
      <p:regular r:id="rId52"/>
    </p:embeddedFont>
    <p:embeddedFont>
      <p:font typeface="Calibri" panose="020F0502020204030204" charset="0"/>
      <p:regular r:id="rId53"/>
      <p:bold r:id="rId54"/>
      <p:italic r:id="rId55"/>
      <p:boldItalic r:id="rId56"/>
    </p:embeddedFont>
    <p:embeddedFont>
      <p:font typeface="微软雅黑" panose="020B0503020204020204" charset="-122"/>
      <p:regular r:id="rId57"/>
    </p:embeddedFont>
    <p:embeddedFont>
      <p:font typeface="等线" panose="02010600030101010101" charset="-122"/>
      <p:regular r:id="rId58"/>
    </p:embeddedFont>
    <p:embeddedFont>
      <p:font typeface="Cambria Math" panose="02040503050406030204" pitchFamily="18" charset="0"/>
      <p:regular r:id="rId59"/>
    </p:embeddedFont>
    <p:embeddedFont>
      <p:font typeface="黑体" panose="02010609060101010101" charset="-122"/>
      <p:regular r:id="rId6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0" Type="http://schemas.openxmlformats.org/officeDocument/2006/relationships/font" Target="fonts/font10.fntdata"/><Relationship Id="rId6" Type="http://schemas.openxmlformats.org/officeDocument/2006/relationships/slide" Target="slides/slide2.xml"/><Relationship Id="rId59" Type="http://schemas.openxmlformats.org/officeDocument/2006/relationships/font" Target="fonts/font9.fntdata"/><Relationship Id="rId58" Type="http://schemas.openxmlformats.org/officeDocument/2006/relationships/font" Target="fonts/font8.fntdata"/><Relationship Id="rId57" Type="http://schemas.openxmlformats.org/officeDocument/2006/relationships/font" Target="fonts/font7.fntdata"/><Relationship Id="rId56" Type="http://schemas.openxmlformats.org/officeDocument/2006/relationships/font" Target="fonts/font6.fntdata"/><Relationship Id="rId55" Type="http://schemas.openxmlformats.org/officeDocument/2006/relationships/font" Target="fonts/font5.fntdata"/><Relationship Id="rId54" Type="http://schemas.openxmlformats.org/officeDocument/2006/relationships/font" Target="fonts/font4.fntdata"/><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目标节点：</a:t>
            </a:r>
            <a:r>
              <a:rPr lang="en-US" altLang="zh-CN" dirty="0"/>
              <a:t>v </a:t>
            </a:r>
            <a:r>
              <a:rPr lang="zh-CN" altLang="en-US" dirty="0"/>
              <a:t>表示目标节点。</a:t>
            </a:r>
            <a:endParaRPr lang="zh-CN" altLang="en-US" dirty="0"/>
          </a:p>
          <a:p>
            <a:r>
              <a:rPr lang="zh-CN" altLang="en-US" dirty="0"/>
              <a:t>激活函数：</a:t>
            </a:r>
            <a:r>
              <a:rPr lang="en-US" altLang="zh-CN" dirty="0"/>
              <a:t>σ </a:t>
            </a:r>
            <a:r>
              <a:rPr lang="zh-CN" altLang="en-US" dirty="0"/>
              <a:t>是激活函数（如</a:t>
            </a:r>
            <a:r>
              <a:rPr lang="en-US" altLang="zh-CN" dirty="0"/>
              <a:t> ReLU</a:t>
            </a:r>
            <a:r>
              <a:rPr lang="zh-CN" altLang="en-US" dirty="0"/>
              <a:t>），为模型引入非线性。</a:t>
            </a:r>
            <a:endParaRPr lang="zh-CN" altLang="en-US" dirty="0"/>
          </a:p>
          <a:p>
            <a:r>
              <a:rPr lang="zh-CN" altLang="en-US" dirty="0"/>
              <a:t>权重矩阵：</a:t>
            </a:r>
            <a:r>
              <a:rPr lang="en-US" altLang="zh-CN" dirty="0"/>
              <a:t>W k</a:t>
            </a:r>
            <a:r>
              <a:rPr lang="zh-CN" altLang="en-US" dirty="0"/>
              <a:t>是可训练的权重矩阵，用于线性变换。</a:t>
            </a:r>
            <a:endParaRPr lang="zh-CN" altLang="en-US" dirty="0"/>
          </a:p>
          <a:p>
            <a:r>
              <a:rPr lang="zh-CN" altLang="en-US" dirty="0"/>
              <a:t>邻居节点：</a:t>
            </a:r>
            <a:r>
              <a:rPr lang="en-US" altLang="zh-CN" dirty="0"/>
              <a:t>N(v) </a:t>
            </a:r>
            <a:r>
              <a:rPr lang="zh-CN" altLang="en-US" dirty="0"/>
              <a:t>表示节点</a:t>
            </a:r>
            <a:r>
              <a:rPr lang="en-US" altLang="zh-CN" dirty="0"/>
              <a:t> v </a:t>
            </a:r>
            <a:r>
              <a:rPr lang="zh-CN" altLang="en-US" dirty="0"/>
              <a:t>的邻居节点集合。</a:t>
            </a:r>
            <a:endParaRPr lang="zh-CN" altLang="en-US" dirty="0"/>
          </a:p>
          <a:p>
            <a:r>
              <a:rPr lang="zh-CN" altLang="en-US" dirty="0"/>
              <a:t>其中</a:t>
            </a:r>
            <a:r>
              <a:rPr lang="en-US" altLang="zh-CN" dirty="0"/>
              <a:t> ∣N(u)∣ </a:t>
            </a:r>
            <a:r>
              <a:rPr lang="zh-CN" altLang="en-US" dirty="0"/>
              <a:t>和</a:t>
            </a:r>
            <a:r>
              <a:rPr lang="en-US" altLang="zh-CN" dirty="0"/>
              <a:t> ∣N(v)∣ </a:t>
            </a:r>
            <a:r>
              <a:rPr lang="zh-CN" altLang="en-US" dirty="0"/>
              <a:t>分别是节点</a:t>
            </a:r>
            <a:r>
              <a:rPr lang="en-US" altLang="zh-CN" dirty="0"/>
              <a:t> u </a:t>
            </a:r>
            <a:r>
              <a:rPr lang="zh-CN" altLang="en-US" dirty="0"/>
              <a:t>和</a:t>
            </a:r>
            <a:r>
              <a:rPr lang="en-US" altLang="zh-CN" dirty="0"/>
              <a:t> v </a:t>
            </a:r>
            <a:r>
              <a:rPr lang="zh-CN" altLang="en-US" dirty="0"/>
              <a:t>的邻居节点数量，用于调整不同节点的邻居数量差异带来的影响。</a:t>
            </a:r>
            <a:endParaRPr lang="zh-CN" altLang="en-US" dirty="0"/>
          </a:p>
          <a:p>
            <a:r>
              <a:rPr lang="zh-CN" altLang="en-US" dirty="0"/>
              <a:t>聚合操作：</a:t>
            </a:r>
            <a:r>
              <a:rPr lang="en-US" altLang="zh-CN" dirty="0"/>
              <a:t>∑ u∈N(v)  </a:t>
            </a:r>
            <a:r>
              <a:rPr lang="zh-CN" altLang="en-US" dirty="0"/>
              <a:t>表示对节点</a:t>
            </a:r>
            <a:r>
              <a:rPr lang="en-US" altLang="zh-CN" dirty="0"/>
              <a:t> v </a:t>
            </a:r>
            <a:r>
              <a:rPr lang="zh-CN" altLang="en-US" dirty="0"/>
              <a:t>的所有邻居节点</a:t>
            </a:r>
            <a:r>
              <a:rPr lang="en-US" altLang="zh-CN" dirty="0"/>
              <a:t> u </a:t>
            </a:r>
            <a:r>
              <a:rPr lang="zh-CN" altLang="en-US" dirty="0"/>
              <a:t>进行求和，实现信息聚合</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均值聚合器：对于节点</a:t>
            </a:r>
            <a:r>
              <a:rPr lang="en-US" altLang="zh-CN" dirty="0"/>
              <a:t> v</a:t>
            </a:r>
            <a:r>
              <a:rPr lang="zh-CN" altLang="en-US" dirty="0"/>
              <a:t>，它取其自身的前一层嵌入</a:t>
            </a:r>
            <a:r>
              <a:rPr lang="en-US" altLang="zh-CN" dirty="0"/>
              <a:t> h</a:t>
            </a:r>
            <a:r>
              <a:rPr lang="en-US" altLang="zh-CN" baseline="-25000" dirty="0"/>
              <a:t>v</a:t>
            </a:r>
            <a:r>
              <a:rPr lang="en-US" altLang="zh-CN" baseline="30000" dirty="0"/>
              <a:t>k−1</a:t>
            </a:r>
            <a:r>
              <a:rPr lang="zh-CN" altLang="en-US" dirty="0"/>
              <a:t>和所有邻居节点</a:t>
            </a:r>
            <a:r>
              <a:rPr lang="en-US" altLang="zh-CN" dirty="0"/>
              <a:t> {h</a:t>
            </a:r>
            <a:r>
              <a:rPr lang="en-US" altLang="zh-CN" baseline="-25000" dirty="0"/>
              <a:t>u</a:t>
            </a:r>
            <a:r>
              <a:rPr lang="en-US" altLang="zh-CN" baseline="30000" dirty="0"/>
              <a:t>k−1</a:t>
            </a:r>
            <a:endParaRPr lang="en-US" altLang="zh-CN" baseline="30000" dirty="0"/>
          </a:p>
          <a:p>
            <a:r>
              <a:rPr lang="en-US" altLang="zh-CN" dirty="0"/>
              <a:t>​ ,∀u∈N(v)} </a:t>
            </a:r>
            <a:r>
              <a:rPr lang="zh-CN" altLang="en-US" dirty="0"/>
              <a:t>的前一层嵌入的均值。然后，这个均值与权重矩阵</a:t>
            </a:r>
            <a:r>
              <a:rPr lang="en-US" altLang="zh-CN" dirty="0"/>
              <a:t> W </a:t>
            </a:r>
            <a:r>
              <a:rPr lang="zh-CN" altLang="en-US" dirty="0"/>
              <a:t>相乘，并通过激活函数</a:t>
            </a:r>
            <a:r>
              <a:rPr lang="en-US" altLang="zh-CN" dirty="0"/>
              <a:t> σ </a:t>
            </a:r>
            <a:r>
              <a:rPr lang="zh-CN" altLang="en-US" dirty="0"/>
              <a:t>得到新的嵌入</a:t>
            </a:r>
            <a:r>
              <a:rPr lang="en-US" altLang="zh-CN" dirty="0"/>
              <a:t> h</a:t>
            </a:r>
            <a:r>
              <a:rPr lang="en-US" altLang="zh-CN" baseline="-25000" dirty="0"/>
              <a:t>v</a:t>
            </a:r>
            <a:r>
              <a:rPr lang="en-US" altLang="zh-CN" baseline="30000" dirty="0"/>
              <a:t>k</a:t>
            </a:r>
            <a:r>
              <a:rPr lang="en-US" altLang="zh-CN" dirty="0"/>
              <a:t> </a:t>
            </a:r>
            <a:r>
              <a:rPr lang="zh-CN" altLang="en-US" dirty="0"/>
              <a:t>。</a:t>
            </a:r>
            <a:endParaRPr lang="zh-CN" altLang="en-US" dirty="0"/>
          </a:p>
          <a:p>
            <a:r>
              <a:rPr lang="zh-CN" altLang="en-US" dirty="0"/>
              <a:t>池化聚合器：它对邻居节点的嵌入进行池化操作。对于节点</a:t>
            </a:r>
            <a:r>
              <a:rPr lang="en-US" altLang="zh-CN" dirty="0"/>
              <a:t> v </a:t>
            </a:r>
            <a:r>
              <a:rPr lang="zh-CN" altLang="en-US" dirty="0"/>
              <a:t>的每个邻居</a:t>
            </a:r>
            <a:r>
              <a:rPr lang="en-US" altLang="zh-CN" dirty="0"/>
              <a:t> u </a:t>
            </a:r>
            <a:r>
              <a:rPr lang="en-US" altLang="zh-CN" baseline="-25000" dirty="0"/>
              <a:t>i</a:t>
            </a:r>
            <a:endParaRPr lang="en-US" altLang="zh-CN" baseline="-25000" dirty="0"/>
          </a:p>
          <a:p>
            <a:r>
              <a:rPr lang="en-US" altLang="zh-CN" dirty="0"/>
              <a:t>​</a:t>
            </a:r>
            <a:r>
              <a:rPr lang="zh-CN" altLang="en-US" dirty="0"/>
              <a:t>，首先使用权重矩阵</a:t>
            </a:r>
            <a:r>
              <a:rPr lang="en-US" altLang="zh-CN" dirty="0"/>
              <a:t> W pool</a:t>
            </a:r>
            <a:r>
              <a:rPr lang="zh-CN" altLang="en-US" dirty="0"/>
              <a:t>和偏置向量</a:t>
            </a:r>
            <a:r>
              <a:rPr lang="en-US" altLang="zh-CN" dirty="0"/>
              <a:t> b </a:t>
            </a:r>
            <a:r>
              <a:rPr lang="zh-CN" altLang="en-US" dirty="0"/>
              <a:t>对邻居的嵌入</a:t>
            </a:r>
            <a:r>
              <a:rPr lang="en-US" altLang="zh-CN" dirty="0"/>
              <a:t> h</a:t>
            </a:r>
            <a:r>
              <a:rPr lang="en-US" altLang="zh-CN" baseline="-25000" dirty="0"/>
              <a:t> u i</a:t>
            </a:r>
            <a:r>
              <a:rPr lang="en-US" altLang="zh-CN" baseline="30000" dirty="0"/>
              <a:t>k−1</a:t>
            </a:r>
            <a:r>
              <a:rPr lang="zh-CN" altLang="en-US" dirty="0"/>
              <a:t>进行变换，然后应用激活函数</a:t>
            </a:r>
            <a:r>
              <a:rPr lang="en-US" altLang="zh-CN" dirty="0"/>
              <a:t> σ</a:t>
            </a:r>
            <a:r>
              <a:rPr lang="zh-CN" altLang="en-US" dirty="0"/>
              <a:t>。最后，对所有变换后的邻居嵌入取最大值，得到聚合后的值</a:t>
            </a:r>
            <a:r>
              <a:rPr lang="en-US" altLang="zh-CN" dirty="0"/>
              <a:t> AGGREGATE  </a:t>
            </a:r>
            <a:r>
              <a:rPr lang="zh-CN" altLang="en-US" dirty="0"/>
              <a:t>。</a:t>
            </a:r>
            <a:endParaRPr lang="zh-CN" altLang="en-US" dirty="0"/>
          </a:p>
          <a:p>
            <a:r>
              <a:rPr lang="en-US" altLang="zh-CN" dirty="0"/>
              <a:t>LSTM </a:t>
            </a:r>
            <a:r>
              <a:rPr lang="zh-CN" altLang="en-US" dirty="0"/>
              <a:t>聚合器：它利用</a:t>
            </a:r>
            <a:r>
              <a:rPr lang="en-US" altLang="zh-CN" dirty="0"/>
              <a:t> LSTM </a:t>
            </a:r>
            <a:r>
              <a:rPr lang="zh-CN" altLang="en-US" dirty="0"/>
              <a:t>来聚合信息。以随机顺序将邻居节点的嵌入输入</a:t>
            </a:r>
            <a:r>
              <a:rPr lang="en-US" altLang="zh-CN" dirty="0"/>
              <a:t> LSTM</a:t>
            </a:r>
            <a:r>
              <a:rPr lang="zh-CN" altLang="en-US" dirty="0"/>
              <a:t>，从而捕获序列信息，这有助于从邻居中学习复杂的模式</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notesSlide" Target="../notesSlides/notesSlide2.xml"/><Relationship Id="rId15" Type="http://schemas.openxmlformats.org/officeDocument/2006/relationships/slideLayout" Target="../slideLayouts/slideLayout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11.emf"/></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3.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3.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3.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xml"/><Relationship Id="rId2" Type="http://schemas.openxmlformats.org/officeDocument/2006/relationships/image" Target="../media/image31.png"/><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28.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1" Type="http://schemas.openxmlformats.org/officeDocument/2006/relationships/notesSlide" Target="../notesSlides/notesSlide28.xml"/><Relationship Id="rId20" Type="http://schemas.openxmlformats.org/officeDocument/2006/relationships/slideLayout" Target="../slideLayouts/slideLayout1.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3.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5" Type="http://schemas.openxmlformats.org/officeDocument/2006/relationships/notesSlide" Target="../notesSlides/notesSlide38.xml"/><Relationship Id="rId14" Type="http://schemas.openxmlformats.org/officeDocument/2006/relationships/slideLayout" Target="../slideLayouts/slideLayout1.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3" name="Text 0"/>
          <p:cNvSpPr/>
          <p:nvPr/>
        </p:nvSpPr>
        <p:spPr>
          <a:xfrm>
            <a:off x="1930718" y="1853114"/>
            <a:ext cx="8327390" cy="2952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Introduction to Graph Neural Networks and Case Analysis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nvSpPr>
        <p:spPr>
          <a:xfrm rot="5400000">
            <a:off x="5473065" y="1411839"/>
            <a:ext cx="293611" cy="293736"/>
          </a:xfrm>
          <a:prstGeom prst="triangle">
            <a:avLst/>
          </a:prstGeom>
          <a:solidFill>
            <a:srgbClr val="E0E9C9"/>
          </a:solidFill>
        </p:spPr>
      </p:sp>
      <p:sp>
        <p:nvSpPr>
          <p:cNvPr id="4" name="Text 1"/>
          <p:cNvSpPr/>
          <p:nvPr/>
        </p:nvSpPr>
        <p:spPr>
          <a:xfrm rot="5400000">
            <a:off x="5473065" y="141183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585992" y="1524814"/>
            <a:ext cx="293611" cy="293736"/>
          </a:xfrm>
          <a:prstGeom prst="triangle">
            <a:avLst/>
          </a:prstGeom>
          <a:solidFill>
            <a:srgbClr val="5E927D"/>
          </a:solidFill>
        </p:spPr>
      </p:sp>
      <p:sp>
        <p:nvSpPr>
          <p:cNvPr id="6" name="Text 3"/>
          <p:cNvSpPr/>
          <p:nvPr/>
        </p:nvSpPr>
        <p:spPr>
          <a:xfrm rot="5400000">
            <a:off x="5585992" y="152481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2"/>
            </p:custDataLst>
          </p:nvPr>
        </p:nvSpPr>
        <p:spPr>
          <a:xfrm>
            <a:off x="5959782" y="138303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3"/>
            </p:custDataLst>
          </p:nvPr>
        </p:nvSpPr>
        <p:spPr>
          <a:xfrm>
            <a:off x="6603467" y="1410709"/>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Graph Neural Networks</a:t>
            </a:r>
            <a:endParaRPr lang="en-US" sz="1600" dirty="0"/>
          </a:p>
        </p:txBody>
      </p:sp>
      <p:sp>
        <p:nvSpPr>
          <p:cNvPr id="9" name="Shape 6"/>
          <p:cNvSpPr/>
          <p:nvPr/>
        </p:nvSpPr>
        <p:spPr>
          <a:xfrm rot="5400000">
            <a:off x="5473065" y="2260159"/>
            <a:ext cx="293611" cy="293331"/>
          </a:xfrm>
          <a:prstGeom prst="triangle">
            <a:avLst/>
          </a:prstGeom>
          <a:solidFill>
            <a:srgbClr val="E0E9C9"/>
          </a:solidFill>
        </p:spPr>
      </p:sp>
      <p:sp>
        <p:nvSpPr>
          <p:cNvPr id="10" name="Text 7"/>
          <p:cNvSpPr/>
          <p:nvPr/>
        </p:nvSpPr>
        <p:spPr>
          <a:xfrm rot="5400000">
            <a:off x="5473065" y="226015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585992" y="2372979"/>
            <a:ext cx="293611" cy="293331"/>
          </a:xfrm>
          <a:prstGeom prst="triangle">
            <a:avLst/>
          </a:prstGeom>
          <a:solidFill>
            <a:srgbClr val="5E927D"/>
          </a:solidFill>
        </p:spPr>
      </p:sp>
      <p:sp>
        <p:nvSpPr>
          <p:cNvPr id="12" name="Text 9"/>
          <p:cNvSpPr/>
          <p:nvPr/>
        </p:nvSpPr>
        <p:spPr>
          <a:xfrm rot="5400000">
            <a:off x="5585992" y="237297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4"/>
            </p:custDataLst>
          </p:nvPr>
        </p:nvSpPr>
        <p:spPr>
          <a:xfrm>
            <a:off x="5959782" y="223139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5"/>
            </p:custDataLst>
          </p:nvPr>
        </p:nvSpPr>
        <p:spPr>
          <a:xfrm>
            <a:off x="6650457" y="3107391"/>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Case Studies of Graph Neural Networks</a:t>
            </a:r>
            <a:endParaRPr lang="en-US" sz="1600" dirty="0"/>
          </a:p>
        </p:txBody>
      </p:sp>
      <p:sp>
        <p:nvSpPr>
          <p:cNvPr id="15" name="Shape 12"/>
          <p:cNvSpPr/>
          <p:nvPr/>
        </p:nvSpPr>
        <p:spPr>
          <a:xfrm rot="5400000">
            <a:off x="5473065" y="3107884"/>
            <a:ext cx="293611" cy="293331"/>
          </a:xfrm>
          <a:prstGeom prst="triangle">
            <a:avLst/>
          </a:prstGeom>
          <a:solidFill>
            <a:srgbClr val="E0E9C9"/>
          </a:solidFill>
        </p:spPr>
      </p:sp>
      <p:sp>
        <p:nvSpPr>
          <p:cNvPr id="16" name="Text 13"/>
          <p:cNvSpPr/>
          <p:nvPr/>
        </p:nvSpPr>
        <p:spPr>
          <a:xfrm rot="5400000">
            <a:off x="5473065" y="31078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5400000">
            <a:off x="5585992" y="3220704"/>
            <a:ext cx="293611" cy="293331"/>
          </a:xfrm>
          <a:prstGeom prst="triangle">
            <a:avLst/>
          </a:prstGeom>
          <a:solidFill>
            <a:srgbClr val="5E927D"/>
          </a:solidFill>
        </p:spPr>
      </p:sp>
      <p:sp>
        <p:nvSpPr>
          <p:cNvPr id="18" name="Text 15"/>
          <p:cNvSpPr/>
          <p:nvPr/>
        </p:nvSpPr>
        <p:spPr>
          <a:xfrm rot="5400000">
            <a:off x="5585992" y="32207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6"/>
            </p:custDataLst>
          </p:nvPr>
        </p:nvSpPr>
        <p:spPr>
          <a:xfrm>
            <a:off x="5959782" y="307911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7"/>
            </p:custDataLst>
          </p:nvPr>
        </p:nvSpPr>
        <p:spPr>
          <a:xfrm>
            <a:off x="6603467" y="4069416"/>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Analysis and Evaluation of Graph Neural Networks</a:t>
            </a:r>
            <a:endParaRPr lang="en-US" sz="1600" dirty="0"/>
          </a:p>
        </p:txBody>
      </p:sp>
      <p:sp>
        <p:nvSpPr>
          <p:cNvPr id="21" name="Shape 18"/>
          <p:cNvSpPr/>
          <p:nvPr/>
        </p:nvSpPr>
        <p:spPr>
          <a:xfrm rot="5400000">
            <a:off x="5473065" y="3955609"/>
            <a:ext cx="293611" cy="293331"/>
          </a:xfrm>
          <a:prstGeom prst="triangle">
            <a:avLst/>
          </a:prstGeom>
          <a:solidFill>
            <a:srgbClr val="E0E9C9"/>
          </a:solidFill>
        </p:spPr>
      </p:sp>
      <p:sp>
        <p:nvSpPr>
          <p:cNvPr id="22" name="Text 19"/>
          <p:cNvSpPr/>
          <p:nvPr/>
        </p:nvSpPr>
        <p:spPr>
          <a:xfrm rot="5400000">
            <a:off x="5473065" y="39556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rot="5400000">
            <a:off x="5585992" y="4068429"/>
            <a:ext cx="293611" cy="293331"/>
          </a:xfrm>
          <a:prstGeom prst="triangle">
            <a:avLst/>
          </a:prstGeom>
          <a:solidFill>
            <a:srgbClr val="5E927D"/>
          </a:solidFill>
        </p:spPr>
      </p:sp>
      <p:sp>
        <p:nvSpPr>
          <p:cNvPr id="24" name="Text 21"/>
          <p:cNvSpPr/>
          <p:nvPr/>
        </p:nvSpPr>
        <p:spPr>
          <a:xfrm rot="5400000">
            <a:off x="5585992" y="40684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custDataLst>
              <p:tags r:id="rId8"/>
            </p:custDataLst>
          </p:nvPr>
        </p:nvSpPr>
        <p:spPr>
          <a:xfrm>
            <a:off x="5959782" y="39268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26" name="Text 23"/>
          <p:cNvSpPr/>
          <p:nvPr>
            <p:custDataLst>
              <p:tags r:id="rId9"/>
            </p:custDataLst>
          </p:nvPr>
        </p:nvSpPr>
        <p:spPr>
          <a:xfrm>
            <a:off x="6603467" y="553753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Future Trends and Developments</a:t>
            </a:r>
            <a:endParaRPr lang="en-US" sz="1600" dirty="0"/>
          </a:p>
        </p:txBody>
      </p:sp>
      <p:sp>
        <p:nvSpPr>
          <p:cNvPr id="27" name="Shape 24"/>
          <p:cNvSpPr/>
          <p:nvPr/>
        </p:nvSpPr>
        <p:spPr>
          <a:xfrm rot="5400000">
            <a:off x="5473065" y="4803334"/>
            <a:ext cx="293611" cy="293331"/>
          </a:xfrm>
          <a:prstGeom prst="triangle">
            <a:avLst/>
          </a:prstGeom>
          <a:solidFill>
            <a:srgbClr val="E0E9C9"/>
          </a:solidFill>
        </p:spPr>
      </p:sp>
      <p:sp>
        <p:nvSpPr>
          <p:cNvPr id="28" name="Text 25"/>
          <p:cNvSpPr/>
          <p:nvPr/>
        </p:nvSpPr>
        <p:spPr>
          <a:xfrm rot="5400000">
            <a:off x="5473065" y="480333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rot="5400000">
            <a:off x="5585992" y="4916154"/>
            <a:ext cx="293611" cy="293331"/>
          </a:xfrm>
          <a:prstGeom prst="triangle">
            <a:avLst/>
          </a:prstGeom>
          <a:solidFill>
            <a:srgbClr val="5E927D"/>
          </a:solidFill>
        </p:spPr>
      </p:sp>
      <p:sp>
        <p:nvSpPr>
          <p:cNvPr id="30" name="Text 27"/>
          <p:cNvSpPr/>
          <p:nvPr/>
        </p:nvSpPr>
        <p:spPr>
          <a:xfrm rot="5400000">
            <a:off x="5585992" y="491615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custDataLst>
              <p:tags r:id="rId10"/>
            </p:custDataLst>
          </p:nvPr>
        </p:nvSpPr>
        <p:spPr>
          <a:xfrm>
            <a:off x="5959782" y="477456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2" name="Text 29"/>
          <p:cNvSpPr/>
          <p:nvPr>
            <p:custDataLst>
              <p:tags r:id="rId11"/>
            </p:custDataLst>
          </p:nvPr>
        </p:nvSpPr>
        <p:spPr>
          <a:xfrm>
            <a:off x="6603467" y="612554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Conclusion</a:t>
            </a:r>
            <a:endParaRPr lang="en-US" sz="1600" dirty="0"/>
          </a:p>
        </p:txBody>
      </p:sp>
      <p:sp>
        <p:nvSpPr>
          <p:cNvPr id="33" name="Text 30"/>
          <p:cNvSpPr/>
          <p:nvPr/>
        </p:nvSpPr>
        <p:spPr>
          <a:xfrm>
            <a:off x="5333365" y="0"/>
            <a:ext cx="3535045" cy="1043305"/>
          </a:xfrm>
          <a:prstGeom prst="rect">
            <a:avLst/>
          </a:prstGeom>
          <a:noFill/>
        </p:spPr>
        <p:txBody>
          <a:bodyPr wrap="square" lIns="91440" tIns="45720" rIns="91440" bIns="45720" rtlCol="0" anchor="t">
            <a:no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
        <p:nvSpPr>
          <p:cNvPr id="39" name="Shape 24"/>
          <p:cNvSpPr/>
          <p:nvPr/>
        </p:nvSpPr>
        <p:spPr>
          <a:xfrm rot="5400000">
            <a:off x="5473065" y="5424999"/>
            <a:ext cx="293611" cy="293331"/>
          </a:xfrm>
          <a:prstGeom prst="triangle">
            <a:avLst/>
          </a:prstGeom>
          <a:solidFill>
            <a:srgbClr val="E0E9C9"/>
          </a:solidFill>
        </p:spPr>
      </p:sp>
      <p:sp>
        <p:nvSpPr>
          <p:cNvPr id="40" name="Text 25"/>
          <p:cNvSpPr/>
          <p:nvPr/>
        </p:nvSpPr>
        <p:spPr>
          <a:xfrm rot="5400000">
            <a:off x="5473065" y="5424999"/>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41" name="Shape 26"/>
          <p:cNvSpPr/>
          <p:nvPr/>
        </p:nvSpPr>
        <p:spPr>
          <a:xfrm rot="5400000">
            <a:off x="5585992" y="5537819"/>
            <a:ext cx="293611" cy="293331"/>
          </a:xfrm>
          <a:prstGeom prst="triangle">
            <a:avLst/>
          </a:prstGeom>
          <a:solidFill>
            <a:srgbClr val="5E927D"/>
          </a:solidFill>
        </p:spPr>
      </p:sp>
      <p:sp>
        <p:nvSpPr>
          <p:cNvPr id="42" name="Text 27"/>
          <p:cNvSpPr/>
          <p:nvPr/>
        </p:nvSpPr>
        <p:spPr>
          <a:xfrm rot="5400000">
            <a:off x="5585992" y="5537819"/>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43" name="Text 28"/>
          <p:cNvSpPr/>
          <p:nvPr>
            <p:custDataLst>
              <p:tags r:id="rId12"/>
            </p:custDataLst>
          </p:nvPr>
        </p:nvSpPr>
        <p:spPr>
          <a:xfrm>
            <a:off x="5960417" y="5432425"/>
            <a:ext cx="686598" cy="460375"/>
          </a:xfrm>
          <a:prstGeom prst="rect">
            <a:avLst/>
          </a:prstGeom>
          <a:noFill/>
        </p:spPr>
        <p:txBody>
          <a:bodyPr wrap="square" lIns="91440" tIns="45720" rIns="91440" bIns="45720" rtlCol="0" anchor="t">
            <a:spAutoFit/>
          </a:bodyPr>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06</a:t>
            </a:r>
            <a:endParaRPr lang="en-US" sz="1600" dirty="0"/>
          </a:p>
        </p:txBody>
      </p:sp>
      <p:sp>
        <p:nvSpPr>
          <p:cNvPr id="44" name="Text 11"/>
          <p:cNvSpPr/>
          <p:nvPr>
            <p:custDataLst>
              <p:tags r:id="rId13"/>
            </p:custDataLst>
          </p:nvPr>
        </p:nvSpPr>
        <p:spPr>
          <a:xfrm>
            <a:off x="6650457" y="2231091"/>
            <a:ext cx="4469663" cy="398780"/>
          </a:xfrm>
          <a:prstGeom prst="rect">
            <a:avLst/>
          </a:prstGeom>
          <a:noFill/>
        </p:spPr>
        <p:txBody>
          <a:bodyPr wrap="square" lIns="91440" tIns="45720" rIns="91440" bIns="45720" rtlCol="0" anchor="t">
            <a:spAutoFit/>
          </a:bodyPr>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sym typeface="+mn-ea"/>
              </a:rPr>
              <a:t>How to train a GNN model</a:t>
            </a:r>
            <a:endParaRPr lang="en-US" sz="2000" dirty="0">
              <a:solidFill>
                <a:srgbClr val="000000"/>
              </a:solidFill>
              <a:latin typeface="MiSans" pitchFamily="34" charset="-122"/>
              <a:ea typeface="MiSans" pitchFamily="34" charset="-122"/>
              <a:cs typeface="MiSans" pitchFamily="34" charset="-120"/>
            </a:endParaRPr>
          </a:p>
        </p:txBody>
      </p:sp>
      <p:sp>
        <p:nvSpPr>
          <p:cNvPr id="50" name="Shape 24"/>
          <p:cNvSpPr/>
          <p:nvPr/>
        </p:nvSpPr>
        <p:spPr>
          <a:xfrm rot="5400000">
            <a:off x="5487035" y="6026344"/>
            <a:ext cx="293611" cy="293331"/>
          </a:xfrm>
          <a:prstGeom prst="triangle">
            <a:avLst/>
          </a:prstGeom>
          <a:solidFill>
            <a:srgbClr val="E0E9C9"/>
          </a:solidFill>
        </p:spPr>
      </p:sp>
      <p:sp>
        <p:nvSpPr>
          <p:cNvPr id="51" name="Text 25"/>
          <p:cNvSpPr/>
          <p:nvPr/>
        </p:nvSpPr>
        <p:spPr>
          <a:xfrm rot="5400000">
            <a:off x="5487035" y="6026344"/>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52" name="Shape 26"/>
          <p:cNvSpPr/>
          <p:nvPr/>
        </p:nvSpPr>
        <p:spPr>
          <a:xfrm rot="5400000">
            <a:off x="5599962" y="6139164"/>
            <a:ext cx="293611" cy="293331"/>
          </a:xfrm>
          <a:prstGeom prst="triangle">
            <a:avLst/>
          </a:prstGeom>
          <a:solidFill>
            <a:srgbClr val="5E927D"/>
          </a:solidFill>
        </p:spPr>
      </p:sp>
      <p:sp>
        <p:nvSpPr>
          <p:cNvPr id="53" name="Text 27"/>
          <p:cNvSpPr/>
          <p:nvPr/>
        </p:nvSpPr>
        <p:spPr>
          <a:xfrm rot="5400000">
            <a:off x="5599962" y="6139164"/>
            <a:ext cx="293611" cy="293331"/>
          </a:xfrm>
          <a:prstGeom prst="rect">
            <a:avLst/>
          </a:prstGeom>
          <a:noFill/>
        </p:spPr>
        <p:txBody>
          <a:bodyPr wrap="square" lIns="45720" tIns="91440" rIns="91440" bIns="45720" rtlCol="0" anchor="ctr"/>
          <a:p>
            <a:pPr marL="0" indent="0">
              <a:lnSpc>
                <a:spcPct val="100000"/>
              </a:lnSpc>
              <a:buNone/>
            </a:pPr>
            <a:endParaRPr lang="en-US" sz="1600" dirty="0"/>
          </a:p>
        </p:txBody>
      </p:sp>
      <p:sp>
        <p:nvSpPr>
          <p:cNvPr id="54" name="Text 28"/>
          <p:cNvSpPr/>
          <p:nvPr>
            <p:custDataLst>
              <p:tags r:id="rId14"/>
            </p:custDataLst>
          </p:nvPr>
        </p:nvSpPr>
        <p:spPr>
          <a:xfrm>
            <a:off x="5964227" y="6064250"/>
            <a:ext cx="686598" cy="460375"/>
          </a:xfrm>
          <a:prstGeom prst="rect">
            <a:avLst/>
          </a:prstGeom>
          <a:noFill/>
        </p:spPr>
        <p:txBody>
          <a:bodyPr wrap="square" lIns="91440" tIns="45720" rIns="91440" bIns="45720" rtlCol="0" anchor="t">
            <a:spAutoFit/>
          </a:bodyPr>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07</a:t>
            </a:r>
            <a:endParaRPr lang="en-US" sz="1600" dirty="0"/>
          </a:p>
        </p:txBody>
      </p:sp>
      <p:sp>
        <p:nvSpPr>
          <p:cNvPr id="55" name="文本框 54"/>
          <p:cNvSpPr txBox="1"/>
          <p:nvPr/>
        </p:nvSpPr>
        <p:spPr>
          <a:xfrm>
            <a:off x="6603365" y="4862195"/>
            <a:ext cx="4064000" cy="675640"/>
          </a:xfrm>
          <a:prstGeom prst="rect">
            <a:avLst/>
          </a:prstGeom>
          <a:noFill/>
        </p:spPr>
        <p:txBody>
          <a:bodyPr wrap="square" rtlCol="0">
            <a:spAutoFit/>
          </a:bodyPr>
          <a:p>
            <a:r>
              <a:rPr lang="en-US" sz="2000" dirty="0">
                <a:solidFill>
                  <a:srgbClr val="000000"/>
                </a:solidFill>
                <a:latin typeface="MiSans" pitchFamily="34" charset="-122"/>
                <a:ea typeface="MiSans" pitchFamily="34" charset="-122"/>
                <a:cs typeface="MiSans" pitchFamily="34" charset="-120"/>
                <a:sym typeface="+mn-ea"/>
              </a:rPr>
              <a:t>GNN for NLP</a:t>
            </a:r>
            <a:endParaRPr lang="en-US" sz="2000" dirty="0">
              <a:solidFill>
                <a:srgbClr val="000000"/>
              </a:solidFill>
              <a:latin typeface="MiSans" pitchFamily="34" charset="-122"/>
              <a:ea typeface="MiSans" pitchFamily="34" charset="-122"/>
              <a:cs typeface="MiSans" pitchFamily="34" charset="-120"/>
            </a:endParaRPr>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Introduction to Graph Neural Networks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Basic Concepts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46760" y="1524258"/>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46760" y="1524258"/>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464734" y="1883331"/>
            <a:ext cx="3122930" cy="240109"/>
          </a:xfrm>
          <a:prstGeom prst="rect">
            <a:avLst/>
          </a:prstGeom>
          <a:noFill/>
        </p:spPr>
        <p:txBody>
          <a:bodyPr wrap="square" lIns="0" tIns="0" rIns="0" bIns="35941" rtlCol="0" anchor="b">
            <a:spAutoFit/>
          </a:bodyPr>
          <a:lstStyle/>
          <a:p>
            <a:pPr marL="0" indent="0" algn="just">
              <a:lnSpc>
                <a:spcPct val="100000"/>
              </a:lnSpc>
              <a:buNone/>
            </a:pPr>
            <a:r>
              <a:rPr lang="en-US" sz="1400" b="1" dirty="0">
                <a:solidFill>
                  <a:srgbClr val="5E927D"/>
                </a:solidFill>
                <a:latin typeface="MiSans" pitchFamily="34" charset="-122"/>
                <a:ea typeface="MiSans" pitchFamily="34" charset="-122"/>
                <a:cs typeface="MiSans" pitchFamily="34" charset="-120"/>
              </a:rPr>
              <a:t>Definition of Graph Neural Networks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Graph Neural Networks (GNNs) are neural networks designed to operate on graph-structured data. They generalize traditional neural networks to handle data represented as graphs, where nodes represent entities and edges represent relationships between them. This allows GNNs to capture complex dependencies and interactions in the data.</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Key Components of GNNs</a:t>
            </a:r>
            <a:endParaRPr lang="en-US" sz="1600" dirty="0"/>
          </a:p>
        </p:txBody>
      </p:sp>
      <p:sp>
        <p:nvSpPr>
          <p:cNvPr id="52" name="Text 50"/>
          <p:cNvSpPr/>
          <p:nvPr/>
        </p:nvSpPr>
        <p:spPr>
          <a:xfrm>
            <a:off x="4747260" y="237299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key components of GNNs include nodes, edges, and the graph structure itself. Nodes can have features, and edges can have weights or types. The graph structure defines how information is propagated between nodes. GNNs use message passing mechanisms to aggregate information from neighboring nodes and update node representations.</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Advantages of GNNs</a:t>
            </a:r>
            <a:endParaRPr lang="en-US" sz="1600" dirty="0"/>
          </a:p>
        </p:txBody>
      </p:sp>
      <p:sp>
        <p:nvSpPr>
          <p:cNvPr id="70" name="Text 68"/>
          <p:cNvSpPr/>
          <p:nvPr/>
        </p:nvSpPr>
        <p:spPr>
          <a:xfrm>
            <a:off x="8064500" y="2333625"/>
            <a:ext cx="2301875"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GNNs offer several advantages over traditional neural networks. They can handle irregular data structures, capture long-range dependencies, and are highly expressive. These properties make GNNs suitable for a wide range of applications, including social network analysis, molecular chemistry, and recommendation systems.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473999" y="1883331"/>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5" name="Shape 90"/>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6" name="Text 91"/>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Graph Representation Learning</a:t>
            </a:r>
            <a:endParaRPr lang="en-US"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7" name="Picture 7"/>
          <p:cNvPicPr>
            <a:picLocks noChangeAspect="1"/>
          </p:cNvPicPr>
          <p:nvPr/>
        </p:nvPicPr>
        <p:blipFill>
          <a:blip r:embed="rId1"/>
          <a:stretch>
            <a:fillRect/>
          </a:stretch>
        </p:blipFill>
        <p:spPr>
          <a:xfrm>
            <a:off x="1804035" y="867410"/>
            <a:ext cx="8474710" cy="5899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Types of Graph Neural Networks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10565" y="4594860"/>
            <a:ext cx="10746105" cy="187642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10565" y="4594860"/>
            <a:ext cx="10746105" cy="1743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4560" y="354393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Graph Attention Networks (GATs) introduce attention mechanisms to GNNs. They allow each node to assign different importance weights to its neighbors, enabling more flexible and adaptive information aggregation. GATs are particularly useful in scenarios where the importance of different neighbors varies significantly.</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Graph Convolutional Networks (GCNs)</a:t>
            </a:r>
            <a:endParaRPr lang="en-US" sz="1600" dirty="0"/>
          </a:p>
        </p:txBody>
      </p:sp>
      <p:sp>
        <p:nvSpPr>
          <p:cNvPr id="21" name="Text 19"/>
          <p:cNvSpPr/>
          <p:nvPr/>
        </p:nvSpPr>
        <p:spPr>
          <a:xfrm>
            <a:off x="929005" y="198374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Graph Convolutional Networks (GCNs) are a popular type of GNN. They perform convolution operations on graph data by aggregating features from neighboring nodes. GCNs use spectral graph theory and can be applied to tasks such as node classification and graph classification. They are effective in capturing local neighborhood information.</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Graph Attention Networks (GATs)</a:t>
            </a:r>
            <a:endParaRPr lang="en-US" sz="1600" dirty="0"/>
          </a:p>
        </p:txBody>
      </p:sp>
      <p:sp>
        <p:nvSpPr>
          <p:cNvPr id="23" name="Text 21"/>
          <p:cNvSpPr/>
          <p:nvPr/>
        </p:nvSpPr>
        <p:spPr>
          <a:xfrm>
            <a:off x="929005" y="4831080"/>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GraphSAGE</a:t>
            </a:r>
            <a:endParaRPr lang="en-US" sz="2000" b="1" dirty="0">
              <a:solidFill>
                <a:srgbClr val="000000"/>
              </a:solidFill>
              <a:latin typeface="MiSans" pitchFamily="34" charset="-122"/>
              <a:ea typeface="MiSans" pitchFamily="34" charset="-122"/>
              <a:cs typeface="MiSans" pitchFamily="34" charset="-120"/>
            </a:endParaRPr>
          </a:p>
        </p:txBody>
      </p:sp>
      <p:sp>
        <p:nvSpPr>
          <p:cNvPr id="24" name="Text 22"/>
          <p:cNvSpPr/>
          <p:nvPr/>
        </p:nvSpPr>
        <p:spPr>
          <a:xfrm>
            <a:off x="929005" y="5386705"/>
            <a:ext cx="10249200" cy="1050925"/>
          </a:xfrm>
          <a:prstGeom prst="rect">
            <a:avLst/>
          </a:prstGeom>
          <a:noFill/>
        </p:spPr>
        <p:txBody>
          <a:bodyPr wrap="square" lIns="91440" tIns="45720" rIns="91440" bIns="45720" rtlCol="0" anchor="t">
            <a:spAutoFit/>
          </a:bodyPr>
          <a:lstStyle/>
          <a:p>
            <a:pPr marL="0" indent="0" algn="just">
              <a:lnSpc>
                <a:spcPct val="130000"/>
              </a:lnSpc>
              <a:buNone/>
            </a:pPr>
            <a:r>
              <a:rPr lang="en-US" altLang="zh-CN" sz="1600" dirty="0"/>
              <a:t>GraphSAGE is a framework for inductive representation learning on graphs. It aims to generate node embeddings for previously unseen nodes or graphs, which is crucial for real-world applications where the graph structure can change over time or new nodes are added.</a:t>
            </a:r>
            <a:endParaRPr lang="en-US" altLang="zh-C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Applications of Graph Neural Networks</a:t>
            </a:r>
            <a:endParaRPr lang="en-US" sz="1600" dirty="0"/>
          </a:p>
        </p:txBody>
      </p:sp>
      <p:sp>
        <p:nvSpPr>
          <p:cNvPr id="9" name="Shape 7"/>
          <p:cNvSpPr/>
          <p:nvPr/>
        </p:nvSpPr>
        <p:spPr>
          <a:xfrm>
            <a:off x="888365" y="1499870"/>
            <a:ext cx="3138805" cy="4792980"/>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In social network analysis, GNNs can be used for tasks such as community detection, link prediction, and influence maximization. They can model the complex relationships between users and identify patterns and structures within social networks. For example, GNNs can predict potential friendships or detect communities with similar interests.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Social Network Analysis</a:t>
            </a:r>
            <a:endParaRPr lang="en-US" sz="1600" dirty="0"/>
          </a:p>
        </p:txBody>
      </p:sp>
      <p:sp>
        <p:nvSpPr>
          <p:cNvPr id="14" name="Shape 11"/>
          <p:cNvSpPr/>
          <p:nvPr/>
        </p:nvSpPr>
        <p:spPr>
          <a:xfrm>
            <a:off x="4371975" y="1149350"/>
            <a:ext cx="3582670" cy="5681980"/>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729111"/>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In molecular chemistry, GNNs are applied to predict molecular properties, drug discovery, and protein structure prediction. They can represent molecules as graphs, with atoms as nodes and chemical bonds as edges. GNNs can learn the relationships between atoms and predict properties such as molecular stability and drug efficacy.</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Molecular Chemistry</a:t>
            </a:r>
            <a:endParaRPr lang="en-US" sz="1600" dirty="0"/>
          </a:p>
        </p:txBody>
      </p:sp>
      <p:sp>
        <p:nvSpPr>
          <p:cNvPr id="19" name="Shape 15"/>
          <p:cNvSpPr/>
          <p:nvPr/>
        </p:nvSpPr>
        <p:spPr>
          <a:xfrm>
            <a:off x="8187690" y="1499870"/>
            <a:ext cx="3220720" cy="4783455"/>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98815" y="1499870"/>
            <a:ext cx="3109595" cy="499364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GNNs can enhance recommendation systems by modeling user-item interactions as a graph. They can capture the complex relationships between users and items, as well as the interactions between different users and items. This allows for more accurate and personalized recommendations, improving user experience and system performance.</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Recommendation Systems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7" name="Text 3"/>
          <p:cNvSpPr/>
          <p:nvPr/>
        </p:nvSpPr>
        <p:spPr>
          <a:xfrm>
            <a:off x="5979795" y="3223895"/>
            <a:ext cx="4779645" cy="144526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How to train a GNN model</a:t>
            </a:r>
            <a:endParaRPr lang="en-US" sz="4400" b="1" dirty="0">
              <a:solidFill>
                <a:srgbClr val="000000"/>
              </a:solidFill>
              <a:latin typeface="MiSans" pitchFamily="34" charset="-122"/>
              <a:ea typeface="MiSans" pitchFamily="34" charset="-122"/>
              <a:cs typeface="MiSans"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mathematical concept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mc:AlternateContent xmlns:mc="http://schemas.openxmlformats.org/markup-compatibility/2006">
        <mc:Choice xmlns:a14="http://schemas.microsoft.com/office/drawing/2010/main" Requires="a14">
          <p:sp>
            <p:nvSpPr>
              <p:cNvPr id="15" name="文本框 14"/>
              <p:cNvSpPr txBox="1"/>
              <p:nvPr/>
            </p:nvSpPr>
            <p:spPr>
              <a:xfrm>
                <a:off x="1416050" y="1647190"/>
                <a:ext cx="8731250" cy="4645025"/>
              </a:xfrm>
              <a:prstGeom prst="rect">
                <a:avLst/>
              </a:prstGeom>
              <a:noFill/>
              <a:ln>
                <a:noFill/>
              </a:ln>
            </p:spPr>
            <p:txBody>
              <a:bodyPr vert="horz" wrap="square" lIns="61529" tIns="0" rIns="0" bIns="0" numCol="1" anchor="t" anchorCtr="0" compatLnSpc="1">
                <a:noAutofit/>
              </a:bodyPr>
              <a:p>
                <a:r>
                  <a:rPr lang="en-US" sz="1800" dirty="0">
                    <a:latin typeface="Microsoft YaHei Regular" panose="020B0503020204020204" charset="-122"/>
                    <a:ea typeface="Microsoft YaHei Regular" panose="020B0503020204020204" charset="-122"/>
                    <a:cs typeface="Microsoft YaHei Regular" panose="020B0503020204020204" charset="-122"/>
                    <a:sym typeface="+mn-ea"/>
                  </a:rPr>
                  <a:t>Given a</a:t>
                </a:r>
                <a:r>
                  <a:rPr lang="en-US" altLang="zh-CN" sz="1800" dirty="0">
                    <a:latin typeface="Microsoft YaHei Regular" panose="020B0503020204020204" charset="-122"/>
                    <a:ea typeface="Microsoft YaHei Regular" panose="020B0503020204020204" charset="-122"/>
                    <a:cs typeface="Microsoft YaHei Regular" panose="020B0503020204020204" charset="-122"/>
                    <a:sym typeface="+mn-ea"/>
                  </a:rPr>
                  <a:t> </a:t>
                </a:r>
                <a:r>
                  <a:rPr lang="en-US" sz="1800" dirty="0">
                    <a:latin typeface="Microsoft YaHei Regular" panose="020B0503020204020204" charset="-122"/>
                    <a:ea typeface="Microsoft YaHei Regular" panose="020B0503020204020204" charset="-122"/>
                    <a:cs typeface="Microsoft YaHei Regular" panose="020B0503020204020204" charset="-122"/>
                    <a:sym typeface="+mn-ea"/>
                  </a:rPr>
                  <a:t>G: </a:t>
                </a:r>
                <a:endParaRPr lang="en-US" sz="1800" dirty="0">
                  <a:latin typeface="Microsoft YaHei Regular" panose="020B0503020204020204" charset="-122"/>
                  <a:ea typeface="Microsoft YaHei Regular" panose="020B0503020204020204" charset="-122"/>
                  <a:cs typeface="Microsoft YaHei Regular" panose="020B0503020204020204" charset="-122"/>
                  <a:sym typeface="+mn-ea"/>
                </a:endParaRPr>
              </a:p>
              <a:p>
                <a:endParaRPr lang="en-US" sz="1800" dirty="0">
                  <a:latin typeface="Microsoft YaHei Regular" panose="020B0503020204020204" charset="-122"/>
                  <a:ea typeface="Microsoft YaHei Regular" panose="020B0503020204020204" charset="-122"/>
                  <a:cs typeface="Microsoft YaHei Regular" panose="020B0503020204020204" charset="-122"/>
                </a:endParaRPr>
              </a:p>
              <a:p>
                <a:pPr marL="179705" lvl="1" indent="-285750" fontAlgn="auto">
                  <a:buFont typeface="Wingdings" panose="05000000000000000000" charset="0"/>
                  <a:buChar char=""/>
                </a:pPr>
                <a:r>
                  <a:rPr lang="en-US" sz="1800" dirty="0">
                    <a:latin typeface="Microsoft YaHei Regular" panose="020B0503020204020204" charset="-122"/>
                    <a:ea typeface="Microsoft YaHei Regular" panose="020B0503020204020204" charset="-122"/>
                    <a:cs typeface="Microsoft YaHei Regular" panose="020B0503020204020204" charset="-122"/>
                    <a:sym typeface="+mn-ea"/>
                  </a:rPr>
                  <a:t>V </a:t>
                </a:r>
                <a:r>
                  <a:rPr lang="en-US" altLang="zh-CN" sz="1800" dirty="0">
                    <a:latin typeface="Microsoft YaHei Regular" panose="020B0503020204020204" charset="-122"/>
                    <a:ea typeface="Microsoft YaHei Regular" panose="020B0503020204020204" charset="-122"/>
                    <a:cs typeface="Microsoft YaHei Regular" panose="020B0503020204020204" charset="-122"/>
                    <a:sym typeface="+mn-ea"/>
                  </a:rPr>
                  <a:t>is the set of all nodes</a:t>
                </a:r>
                <a:r>
                  <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rPr>
                  <a:t>；</a:t>
                </a:r>
                <a:endPar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endParaRPr>
              </a:p>
              <a:p>
                <a:pPr marL="179705" lvl="1" indent="-285750" fontAlgn="auto">
                  <a:buFont typeface="Wingdings" panose="05000000000000000000" charset="0"/>
                  <a:buChar char=""/>
                </a:pPr>
                <a:endParaRPr lang="en-US" sz="1800" dirty="0">
                  <a:latin typeface="Microsoft YaHei Regular" panose="020B0503020204020204" charset="-122"/>
                  <a:ea typeface="Microsoft YaHei Regular" panose="020B0503020204020204" charset="-122"/>
                  <a:cs typeface="Microsoft YaHei Regular" panose="020B0503020204020204" charset="-122"/>
                </a:endParaRPr>
              </a:p>
              <a:p>
                <a:pPr marL="179705" lvl="1" indent="-285750" fontAlgn="auto">
                  <a:buFont typeface="Wingdings" panose="05000000000000000000" charset="0"/>
                  <a:buChar char=""/>
                </a:pPr>
                <a:r>
                  <a:rPr lang="en-US" sz="1800" dirty="0">
                    <a:latin typeface="Microsoft YaHei Regular" panose="020B0503020204020204" charset="-122"/>
                    <a:ea typeface="Microsoft YaHei Regular" panose="020B0503020204020204" charset="-122"/>
                    <a:cs typeface="Microsoft YaHei Regular" panose="020B0503020204020204" charset="-122"/>
                    <a:sym typeface="+mn-ea"/>
                  </a:rPr>
                  <a:t>A </a:t>
                </a:r>
                <a:r>
                  <a:rPr lang="en-US" altLang="zh-CN" sz="1800" dirty="0">
                    <a:latin typeface="Microsoft YaHei Regular" panose="020B0503020204020204" charset="-122"/>
                    <a:ea typeface="Microsoft YaHei Regular" panose="020B0503020204020204" charset="-122"/>
                    <a:cs typeface="Microsoft YaHei Regular" panose="020B0503020204020204" charset="-122"/>
                    <a:sym typeface="+mn-ea"/>
                  </a:rPr>
                  <a:t>is the adjacency matrix corresponding to G (a 0</a:t>
                </a:r>
                <a:r>
                  <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rPr>
                  <a:t>，</a:t>
                </a:r>
                <a:r>
                  <a:rPr lang="en-US" altLang="zh-CN" sz="1800" dirty="0">
                    <a:latin typeface="Microsoft YaHei Regular" panose="020B0503020204020204" charset="-122"/>
                    <a:ea typeface="Microsoft YaHei Regular" panose="020B0503020204020204" charset="-122"/>
                    <a:cs typeface="Microsoft YaHei Regular" panose="020B0503020204020204" charset="-122"/>
                    <a:sym typeface="+mn-ea"/>
                  </a:rPr>
                  <a:t>1 matrix)</a:t>
                </a:r>
                <a:r>
                  <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rPr>
                  <a:t>；</a:t>
                </a:r>
                <a:endPar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endParaRPr>
              </a:p>
              <a:p>
                <a:pPr marL="179705" lvl="1" indent="-285750" fontAlgn="auto">
                  <a:buFont typeface="Wingdings" panose="05000000000000000000" charset="0"/>
                  <a:buChar char=""/>
                </a:pPr>
                <a:endParaRPr lang="zh-CN" altLang="en-US" sz="1800" dirty="0">
                  <a:latin typeface="Microsoft YaHei Regular" panose="020B0503020204020204" charset="-122"/>
                  <a:ea typeface="Microsoft YaHei Regular" panose="020B0503020204020204" charset="-122"/>
                  <a:cs typeface="Microsoft YaHei Regular" panose="020B0503020204020204" charset="-122"/>
                  <a:sym typeface="+mn-ea"/>
                </a:endParaRPr>
              </a:p>
              <a:p>
                <a:pPr marL="179705" lvl="1" indent="-285750" fontAlgn="auto">
                  <a:buFont typeface="Wingdings" panose="05000000000000000000" charset="0"/>
                  <a:buChar char=""/>
                </a:pPr>
                <a14:m>
                  <m:oMath xmlns:m="http://schemas.openxmlformats.org/officeDocument/2006/math">
                    <m:r>
                      <m:rPr>
                        <m:sty m:val="p"/>
                      </m:rP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m:t>X</m:t>
                    </m:r>
                    <m:r>
                      <a:rPr lang="en-US" altLang="zh-CN" sz="1800" dirty="0">
                        <a:solidFill>
                          <a:schemeClr val="accent2"/>
                        </a:solidFill>
                        <a:latin typeface="Cambria Math" panose="02040503050406030204" pitchFamily="18" charset="0"/>
                        <a:ea typeface="宋体" panose="02010600030101010101" pitchFamily="2" charset="-122"/>
                        <a:cs typeface="Cambria Math" panose="02040503050406030204" pitchFamily="18" charset="0"/>
                        <a:sym typeface="+mn-ea"/>
                      </a:rPr>
                      <m:t>∈</m:t>
                    </m:r>
                    <m:sSup>
                      <m:sSupPr>
                        <m:ctrlP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m:ctrlPr>
                      </m:sSupPr>
                      <m:e>
                        <m:r>
                          <m:rPr>
                            <m:sty m:val="p"/>
                          </m:rP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m:t>R</m:t>
                        </m:r>
                      </m:e>
                      <m:sup>
                        <m:r>
                          <m:rPr>
                            <m:sty m:val="p"/>
                          </m:rP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m:t>mx</m:t>
                        </m:r>
                        <m:r>
                          <a:rPr lang="en-US" altLang="zh-CN" sz="1800" dirty="0">
                            <a:solidFill>
                              <a:schemeClr val="accent2"/>
                            </a:solidFill>
                            <a:latin typeface="Cambria Math" panose="02040503050406030204" pitchFamily="18" charset="0"/>
                            <a:ea typeface="宋体" panose="02010600030101010101" pitchFamily="2" charset="-122"/>
                            <a:cs typeface="Cambria Math" panose="02040503050406030204" pitchFamily="18" charset="0"/>
                            <a:sym typeface="+mn-ea"/>
                          </a:rPr>
                          <m:t>|</m:t>
                        </m:r>
                        <m:r>
                          <m:rPr>
                            <m:sty m:val="p"/>
                          </m:rP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m:t>V</m:t>
                        </m:r>
                        <m:r>
                          <a:rPr lang="en-US" altLang="zh-CN" sz="1800" dirty="0">
                            <a:solidFill>
                              <a:schemeClr val="accent2"/>
                            </a:solidFill>
                            <a:latin typeface="Cambria Math" panose="02040503050406030204" pitchFamily="18" charset="0"/>
                            <a:ea typeface="宋体" panose="02010600030101010101" pitchFamily="2" charset="-122"/>
                            <a:cs typeface="Cambria Math" panose="02040503050406030204" pitchFamily="18" charset="0"/>
                            <a:sym typeface="+mn-ea"/>
                          </a:rPr>
                          <m:t>|</m:t>
                        </m:r>
                      </m:sup>
                    </m:sSup>
                  </m:oMath>
                </a14:m>
                <a:r>
                  <a:rPr lang="zh-CN" altLang="en-US"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a:t> </a:t>
                </a:r>
                <a:r>
                  <a:rPr lang="en-US" altLang="zh-CN"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a:t>represents the features of the nodes [each node is represented by an m-dimensional feature vector]</a:t>
                </a:r>
                <a:r>
                  <a:rPr lang="zh-CN" altLang="en-US"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rPr>
                  <a:t>；</a:t>
                </a:r>
                <a:endParaRPr lang="zh-CN" altLang="en-US"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179705" lvl="1" indent="-285750" fontAlgn="auto">
                  <a:buFont typeface="Wingdings" panose="05000000000000000000" charset="0"/>
                  <a:buChar char=""/>
                </a:pPr>
                <a:endParaRPr lang="zh-CN" altLang="en-US" sz="1800" dirty="0">
                  <a:solidFill>
                    <a:schemeClr val="accent2"/>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r>
                  <a:rPr lang="en-US" altLang="zh-CN"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Features can be intrinsic attributes of the nodes, such as gender and age in a social network</a:t>
                </a:r>
                <a:r>
                  <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a:t>
                </a:r>
                <a:endPar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endPar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r>
                  <a:rPr lang="en-US" altLang="zh-CN"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Features can be a one-hot vector to indicate a particular node among the V nodes</a:t>
                </a:r>
                <a:r>
                  <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a:t>
                </a:r>
                <a:endPar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endPar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r>
                  <a:rPr lang="en-US" altLang="zh-CN"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Features can be structural features of the nodes, such as degree and cluster categories</a:t>
                </a:r>
                <a:r>
                  <a:rPr lang="zh-CN" altLang="en-US" sz="1800" dirty="0">
                    <a:solidFill>
                      <a:srgbClr val="00B050"/>
                    </a:solidFill>
                    <a:latin typeface="Cambria Math" panose="02040503050406030204" pitchFamily="18" charset="0"/>
                    <a:ea typeface="Microsoft YaHei Regular" panose="020B0503020204020204" charset="-122"/>
                    <a:cs typeface="Cambria Math" panose="02040503050406030204" pitchFamily="18" charset="0"/>
                    <a:sym typeface="+mn-ea"/>
                  </a:rPr>
                  <a:t>；</a:t>
                </a:r>
                <a:endParaRPr lang="zh-CN" altLang="en-US" sz="1800" dirty="0">
                  <a:latin typeface="Cambria Math" panose="02040503050406030204" pitchFamily="18" charset="0"/>
                  <a:ea typeface="Microsoft YaHei Regular" panose="020B0503020204020204" charset="-122"/>
                  <a:cs typeface="Cambria Math" panose="02040503050406030204" pitchFamily="18" charset="0"/>
                  <a:sym typeface="+mn-ea"/>
                </a:endParaRPr>
              </a:p>
              <a:p>
                <a:pPr marL="720090" lvl="1" indent="-285750" fontAlgn="auto">
                  <a:buFont typeface="Wingdings" panose="05000000000000000000" charset="0"/>
                  <a:buChar char=""/>
                </a:pPr>
                <a:endParaRPr lang="zh-CN" altLang="en-US" sz="1800" dirty="0" smtClean="0">
                  <a:solidFill>
                    <a:schemeClr val="accent2"/>
                  </a:solidFill>
                  <a:latin typeface="Microsoft YaHei Regular" panose="020B0503020204020204" charset="-122"/>
                  <a:ea typeface="Microsoft YaHei Regular" panose="020B0503020204020204" charset="-122"/>
                  <a:cs typeface="Microsoft YaHei Regular" panose="020B0503020204020204" charset="-122"/>
                  <a:sym typeface="+mn-ea"/>
                </a:endParaRPr>
              </a:p>
              <a:p>
                <a:pPr marL="0" lvl="1" indent="0" fontAlgn="auto">
                  <a:buFont typeface="Wingdings" panose="05000000000000000000" charset="0"/>
                  <a:buNone/>
                </a:pPr>
                <a:endParaRPr lang="zh-CN" altLang="en-US" sz="1800" dirty="0" smtClean="0">
                  <a:solidFill>
                    <a:schemeClr val="accent2"/>
                  </a:solidFill>
                  <a:latin typeface="Microsoft YaHei Regular" panose="020B0503020204020204" charset="-122"/>
                  <a:ea typeface="Microsoft YaHei Regular" panose="020B0503020204020204" charset="-122"/>
                  <a:cs typeface="Microsoft YaHei Regular" panose="020B0503020204020204" charset="-122"/>
                  <a:sym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1416050" y="1647190"/>
                <a:ext cx="8731250" cy="4645025"/>
              </a:xfrm>
              <a:prstGeom prst="rect">
                <a:avLst/>
              </a:prstGeom>
              <a:blipFill rotWithShape="1">
                <a:blip r:embed="rId1"/>
                <a:stretch>
                  <a:fillRect r="-1571" b="-6398"/>
                </a:stretch>
              </a:blipFill>
              <a:ln>
                <a:noFill/>
              </a:ln>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core idea</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123950" y="1094740"/>
            <a:ext cx="8843010" cy="1029970"/>
          </a:xfrm>
          <a:prstGeom prst="rect">
            <a:avLst/>
          </a:prstGeom>
          <a:noFill/>
          <a:ln>
            <a:noFill/>
          </a:ln>
        </p:spPr>
        <p:txBody>
          <a:bodyPr vert="horz" wrap="square" lIns="61529" tIns="0" rIns="0" bIns="0" numCol="1" anchor="t" anchorCtr="0" compatLnSpc="1">
            <a:noAutofit/>
          </a:bodyPr>
          <a:p>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core idea of GNN is to aggregate the neighborhood features of a target node to obtain a new expression for it</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pic>
        <p:nvPicPr>
          <p:cNvPr id="16"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5580" y="1976120"/>
            <a:ext cx="9657715" cy="38474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core idea</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123950" y="1094740"/>
            <a:ext cx="8843010" cy="1029970"/>
          </a:xfrm>
          <a:prstGeom prst="rect">
            <a:avLst/>
          </a:prstGeom>
          <a:noFill/>
          <a:ln>
            <a:noFill/>
          </a:ln>
        </p:spPr>
        <p:txBody>
          <a:bodyPr vert="horz" wrap="square" lIns="61529" tIns="0" rIns="0" bIns="0" numCol="1" anchor="t" anchorCtr="0" compatLnSpc="1">
            <a:noAutofit/>
          </a:bodyPr>
          <a:p>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core idea of GNN is to aggregate the neighborhood features of a target node to obtain a new expression for it</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grpSp>
        <p:nvGrpSpPr>
          <p:cNvPr id="15" name="组合 14"/>
          <p:cNvGrpSpPr/>
          <p:nvPr/>
        </p:nvGrpSpPr>
        <p:grpSpPr>
          <a:xfrm>
            <a:off x="1725930" y="1925955"/>
            <a:ext cx="7974965" cy="3598545"/>
            <a:chOff x="1951" y="3291"/>
            <a:chExt cx="10527" cy="4634"/>
          </a:xfrm>
        </p:grpSpPr>
        <p:pic>
          <p:nvPicPr>
            <p:cNvPr id="1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51" y="4000"/>
              <a:ext cx="9678" cy="3855"/>
            </a:xfrm>
            <a:prstGeom prst="rect">
              <a:avLst/>
            </a:prstGeom>
          </p:spPr>
        </p:pic>
        <p:pic>
          <p:nvPicPr>
            <p:cNvPr id="18" name="Picture 5"/>
            <p:cNvPicPr>
              <a:picLocks noChangeAspect="1"/>
            </p:cNvPicPr>
            <p:nvPr/>
          </p:nvPicPr>
          <p:blipFill>
            <a:blip r:embed="rId2"/>
            <a:stretch>
              <a:fillRect/>
            </a:stretch>
          </p:blipFill>
          <p:spPr>
            <a:xfrm>
              <a:off x="11541" y="3926"/>
              <a:ext cx="547" cy="346"/>
            </a:xfrm>
            <a:prstGeom prst="rect">
              <a:avLst/>
            </a:prstGeom>
          </p:spPr>
        </p:pic>
        <p:pic>
          <p:nvPicPr>
            <p:cNvPr id="19" name="Picture 8"/>
            <p:cNvPicPr>
              <a:picLocks noChangeAspect="1"/>
            </p:cNvPicPr>
            <p:nvPr/>
          </p:nvPicPr>
          <p:blipFill>
            <a:blip r:embed="rId3"/>
            <a:stretch>
              <a:fillRect/>
            </a:stretch>
          </p:blipFill>
          <p:spPr>
            <a:xfrm>
              <a:off x="11501" y="5754"/>
              <a:ext cx="560" cy="346"/>
            </a:xfrm>
            <a:prstGeom prst="rect">
              <a:avLst/>
            </a:prstGeom>
          </p:spPr>
        </p:pic>
        <p:pic>
          <p:nvPicPr>
            <p:cNvPr id="20" name="Picture 9"/>
            <p:cNvPicPr>
              <a:picLocks noChangeAspect="1"/>
            </p:cNvPicPr>
            <p:nvPr/>
          </p:nvPicPr>
          <p:blipFill>
            <a:blip r:embed="rId4"/>
            <a:stretch>
              <a:fillRect/>
            </a:stretch>
          </p:blipFill>
          <p:spPr>
            <a:xfrm>
              <a:off x="11629" y="4639"/>
              <a:ext cx="560" cy="346"/>
            </a:xfrm>
            <a:prstGeom prst="rect">
              <a:avLst/>
            </a:prstGeom>
          </p:spPr>
        </p:pic>
        <p:pic>
          <p:nvPicPr>
            <p:cNvPr id="21" name="Picture 10"/>
            <p:cNvPicPr>
              <a:picLocks noChangeAspect="1"/>
            </p:cNvPicPr>
            <p:nvPr/>
          </p:nvPicPr>
          <p:blipFill>
            <a:blip r:embed="rId5"/>
            <a:stretch>
              <a:fillRect/>
            </a:stretch>
          </p:blipFill>
          <p:spPr>
            <a:xfrm>
              <a:off x="11472" y="6215"/>
              <a:ext cx="560" cy="346"/>
            </a:xfrm>
            <a:prstGeom prst="rect">
              <a:avLst/>
            </a:prstGeom>
          </p:spPr>
        </p:pic>
        <p:pic>
          <p:nvPicPr>
            <p:cNvPr id="22" name="Picture 11"/>
            <p:cNvPicPr>
              <a:picLocks noChangeAspect="1"/>
            </p:cNvPicPr>
            <p:nvPr/>
          </p:nvPicPr>
          <p:blipFill>
            <a:blip r:embed="rId6"/>
            <a:stretch>
              <a:fillRect/>
            </a:stretch>
          </p:blipFill>
          <p:spPr>
            <a:xfrm>
              <a:off x="11425" y="6679"/>
              <a:ext cx="560" cy="346"/>
            </a:xfrm>
            <a:prstGeom prst="rect">
              <a:avLst/>
            </a:prstGeom>
          </p:spPr>
        </p:pic>
        <p:pic>
          <p:nvPicPr>
            <p:cNvPr id="23" name="Picture 13"/>
            <p:cNvPicPr>
              <a:picLocks noChangeAspect="1"/>
            </p:cNvPicPr>
            <p:nvPr/>
          </p:nvPicPr>
          <p:blipFill>
            <a:blip r:embed="rId2"/>
            <a:stretch>
              <a:fillRect/>
            </a:stretch>
          </p:blipFill>
          <p:spPr>
            <a:xfrm>
              <a:off x="11421" y="5246"/>
              <a:ext cx="547" cy="346"/>
            </a:xfrm>
            <a:prstGeom prst="rect">
              <a:avLst/>
            </a:prstGeom>
          </p:spPr>
        </p:pic>
        <p:pic>
          <p:nvPicPr>
            <p:cNvPr id="24" name="Picture 14"/>
            <p:cNvPicPr>
              <a:picLocks noChangeAspect="1"/>
            </p:cNvPicPr>
            <p:nvPr/>
          </p:nvPicPr>
          <p:blipFill>
            <a:blip r:embed="rId2"/>
            <a:stretch>
              <a:fillRect/>
            </a:stretch>
          </p:blipFill>
          <p:spPr>
            <a:xfrm>
              <a:off x="11436" y="7579"/>
              <a:ext cx="547" cy="346"/>
            </a:xfrm>
            <a:prstGeom prst="rect">
              <a:avLst/>
            </a:prstGeom>
          </p:spPr>
        </p:pic>
        <p:sp>
          <p:nvSpPr>
            <p:cNvPr id="25" name="TextBox 15"/>
            <p:cNvSpPr txBox="1"/>
            <p:nvPr/>
          </p:nvSpPr>
          <p:spPr>
            <a:xfrm>
              <a:off x="5834" y="5246"/>
              <a:ext cx="1440" cy="496"/>
            </a:xfrm>
            <a:prstGeom prst="rect">
              <a:avLst/>
            </a:prstGeom>
            <a:noFill/>
            <a:ln>
              <a:noFill/>
            </a:ln>
          </p:spPr>
          <p:txBody>
            <a:bodyPr wrap="square" lIns="68569" tIns="68569" rIns="68569" bIns="68569" rtlCol="0" anchor="t" anchorCtr="0">
              <a:noAutofit/>
            </a:bodyPr>
            <a:p>
              <a:r>
                <a:rPr lang="en-US" b="1" dirty="0" smtClean="0">
                  <a:latin typeface="Helvetica Neue Light" panose="02000503000000020004" charset="0"/>
                  <a:ea typeface="Helvetica Neue Light" panose="02000503000000020004" charset="0"/>
                  <a:cs typeface="Helvetica Neue Light" panose="02000503000000020004" charset="0"/>
                  <a:sym typeface="Open Sans"/>
                </a:rPr>
                <a:t>Layer-2</a:t>
              </a:r>
              <a:endParaRPr lang="en-US" b="1" dirty="0">
                <a:latin typeface="Helvetica Neue Light" panose="02000503000000020004" charset="0"/>
                <a:ea typeface="Helvetica Neue Light" panose="02000503000000020004" charset="0"/>
                <a:cs typeface="Helvetica Neue Light" panose="02000503000000020004" charset="0"/>
                <a:sym typeface="Open Sans"/>
              </a:endParaRPr>
            </a:p>
          </p:txBody>
        </p:sp>
        <p:sp>
          <p:nvSpPr>
            <p:cNvPr id="26" name="TextBox 16"/>
            <p:cNvSpPr txBox="1"/>
            <p:nvPr/>
          </p:nvSpPr>
          <p:spPr>
            <a:xfrm>
              <a:off x="8638" y="4000"/>
              <a:ext cx="1369" cy="496"/>
            </a:xfrm>
            <a:prstGeom prst="rect">
              <a:avLst/>
            </a:prstGeom>
            <a:noFill/>
            <a:ln>
              <a:noFill/>
            </a:ln>
          </p:spPr>
          <p:txBody>
            <a:bodyPr wrap="square" lIns="68569" tIns="68569" rIns="68569" bIns="68569" rtlCol="0" anchor="t" anchorCtr="0">
              <a:noAutofit/>
            </a:bodyPr>
            <a:p>
              <a:r>
                <a:rPr lang="en-US" b="1" dirty="0" smtClean="0">
                  <a:latin typeface="Helvetica Neue Light" panose="02000503000000020004" charset="0"/>
                  <a:ea typeface="Helvetica Neue Light" panose="02000503000000020004" charset="0"/>
                  <a:cs typeface="Helvetica Neue Light" panose="02000503000000020004" charset="0"/>
                  <a:sym typeface="Open Sans"/>
                </a:rPr>
                <a:t>Layer-1</a:t>
              </a:r>
              <a:endParaRPr lang="en-US" b="1" dirty="0">
                <a:latin typeface="Helvetica Neue Light" panose="02000503000000020004" charset="0"/>
                <a:ea typeface="Helvetica Neue Light" panose="02000503000000020004" charset="0"/>
                <a:cs typeface="Helvetica Neue Light" panose="02000503000000020004" charset="0"/>
                <a:sym typeface="Open Sans"/>
              </a:endParaRPr>
            </a:p>
          </p:txBody>
        </p:sp>
        <p:sp>
          <p:nvSpPr>
            <p:cNvPr id="27" name="TextBox 17"/>
            <p:cNvSpPr txBox="1"/>
            <p:nvPr/>
          </p:nvSpPr>
          <p:spPr>
            <a:xfrm>
              <a:off x="10910" y="3291"/>
              <a:ext cx="1568" cy="496"/>
            </a:xfrm>
            <a:prstGeom prst="rect">
              <a:avLst/>
            </a:prstGeom>
            <a:noFill/>
            <a:ln>
              <a:noFill/>
            </a:ln>
          </p:spPr>
          <p:txBody>
            <a:bodyPr wrap="square" lIns="68569" tIns="68569" rIns="68569" bIns="68569" rtlCol="0" anchor="t" anchorCtr="0">
              <a:noAutofit/>
            </a:bodyPr>
            <a:p>
              <a:r>
                <a:rPr lang="en-US" b="1" dirty="0" smtClean="0">
                  <a:latin typeface="Helvetica Neue Light" panose="02000503000000020004" charset="0"/>
                  <a:ea typeface="Helvetica Neue Light" panose="02000503000000020004" charset="0"/>
                  <a:cs typeface="Helvetica Neue Light" panose="02000503000000020004" charset="0"/>
                  <a:sym typeface="Open Sans"/>
                </a:rPr>
                <a:t>Layer-0</a:t>
              </a:r>
              <a:endParaRPr lang="en-US" b="1" dirty="0">
                <a:latin typeface="Helvetica Neue Light" panose="02000503000000020004" charset="0"/>
                <a:ea typeface="Helvetica Neue Light" panose="02000503000000020004" charset="0"/>
                <a:cs typeface="Helvetica Neue Light" panose="02000503000000020004" charset="0"/>
                <a:sym typeface="Open Sans"/>
              </a:endParaRPr>
            </a:p>
          </p:txBody>
        </p:sp>
      </p:grpSp>
      <p:sp>
        <p:nvSpPr>
          <p:cNvPr id="28" name="文本框 27"/>
          <p:cNvSpPr txBox="1"/>
          <p:nvPr/>
        </p:nvSpPr>
        <p:spPr>
          <a:xfrm>
            <a:off x="8512810" y="2288540"/>
            <a:ext cx="1117600" cy="3251200"/>
          </a:xfrm>
          <a:prstGeom prst="rect">
            <a:avLst/>
          </a:prstGeom>
          <a:noFill/>
          <a:ln w="25400">
            <a:solidFill>
              <a:schemeClr val="accent1"/>
            </a:solidFill>
          </a:ln>
        </p:spPr>
        <p:txBody>
          <a:bodyPr vert="horz" wrap="none" lIns="61529" tIns="0" rIns="0" bIns="0" numCol="1" anchor="ctr" anchorCtr="0" compatLnSpc="1">
            <a:noAutofit/>
          </a:bodyPr>
          <a:p>
            <a:endParaRPr lang="zh-CN" altLang="en-US" sz="2000" dirty="0" smtClean="0">
              <a:latin typeface="黑体" panose="02010609060101010101" charset="-122"/>
              <a:ea typeface="黑体" panose="02010609060101010101" charset="-122"/>
              <a:cs typeface="黑体" panose="02010609060101010101" charset="-122"/>
            </a:endParaRPr>
          </a:p>
        </p:txBody>
      </p:sp>
      <p:sp>
        <p:nvSpPr>
          <p:cNvPr id="30" name="文本框 29"/>
          <p:cNvSpPr txBox="1"/>
          <p:nvPr/>
        </p:nvSpPr>
        <p:spPr>
          <a:xfrm>
            <a:off x="9700895" y="3370580"/>
            <a:ext cx="2597150" cy="626745"/>
          </a:xfrm>
          <a:prstGeom prst="rect">
            <a:avLst/>
          </a:prstGeom>
        </p:spPr>
        <p:txBody>
          <a:bodyPr>
            <a:noAutofit/>
          </a:bodyPr>
          <a:p>
            <a:pPr marL="0" indent="0"/>
            <a:r>
              <a:rPr lang="zh-CN" altLang="en-US" sz="1400" b="0" i="0" dirty="0" smtClean="0">
                <a:solidFill>
                  <a:srgbClr val="00B050"/>
                </a:solidFill>
                <a:latin typeface="Microsoft YaHei Regular" panose="020B0503020204020204" charset="-122"/>
                <a:ea typeface="Microsoft YaHei Regular" panose="020B0503020204020204" charset="-122"/>
                <a:cs typeface="黑体" panose="02010609060101010101" charset="-122"/>
              </a:rPr>
              <a:t>node initialization features</a:t>
            </a:r>
            <a:endParaRPr lang="en-US" altLang="zh-CN" sz="1600" b="0" i="0">
              <a:latin typeface="-apple-system"/>
              <a:ea typeface="-apple-system"/>
            </a:endParaRPr>
          </a:p>
        </p:txBody>
      </p:sp>
      <p:sp>
        <p:nvSpPr>
          <p:cNvPr id="31" name="文本框 30"/>
          <p:cNvSpPr txBox="1"/>
          <p:nvPr/>
        </p:nvSpPr>
        <p:spPr>
          <a:xfrm>
            <a:off x="2623820" y="5767070"/>
            <a:ext cx="6337300" cy="804545"/>
          </a:xfrm>
          <a:prstGeom prst="rect">
            <a:avLst/>
          </a:prstGeom>
          <a:noFill/>
          <a:ln>
            <a:noFill/>
          </a:ln>
        </p:spPr>
        <p:txBody>
          <a:bodyPr vert="horz" wrap="square" lIns="61529" tIns="0" rIns="0" bIns="0" numCol="1" anchor="t" anchorCtr="0" compatLnSpc="1">
            <a:noAutofit/>
          </a:bodyPr>
          <a:p>
            <a:pPr marL="285750" indent="-285750">
              <a:buFont typeface="Wingdings" panose="05000000000000000000" charset="0"/>
              <a:buChar char=""/>
            </a:pPr>
            <a:r>
              <a:rPr lang="en-US" altLang="zh-CN"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rPr>
              <a:t>The network can be arbitrarily deep</a:t>
            </a:r>
            <a:r>
              <a:rPr lang="zh-CN" altLang="en-US"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rPr>
              <a:t>；</a:t>
            </a:r>
            <a:endParaRPr lang="zh-CN" altLang="en-US"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endParaRPr>
          </a:p>
          <a:p>
            <a:pPr marL="285750" indent="-285750">
              <a:buFont typeface="Wingdings" panose="05000000000000000000" charset="0"/>
              <a:buChar char=""/>
            </a:pPr>
            <a:endParaRPr lang="en-US" altLang="zh-CN"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endParaRPr>
          </a:p>
          <a:p>
            <a:pPr marL="285750" indent="-285750">
              <a:buFont typeface="Wingdings" panose="05000000000000000000" charset="0"/>
              <a:buChar char=""/>
            </a:pPr>
            <a:r>
              <a:rPr lang="en-US" altLang="zh-CN"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rPr>
              <a:t>It is possible to define very complex aggregation functions [such as deep neural networks]</a:t>
            </a:r>
            <a:r>
              <a:rPr lang="zh-CN" altLang="en-US"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rPr>
              <a:t>；</a:t>
            </a:r>
            <a:endParaRPr lang="zh-CN" altLang="en-US" sz="1500" dirty="0" smtClean="0">
              <a:solidFill>
                <a:schemeClr val="accent1"/>
              </a:solidFill>
              <a:latin typeface="微软雅黑" panose="020B0503020204020204" charset="-122"/>
              <a:ea typeface="微软雅黑" panose="020B0503020204020204" charset="-122"/>
              <a:cs typeface="Microsoft YaHei Regular" panose="020B0503020204020204" charset="-122"/>
              <a:sym typeface="+mn-ea"/>
            </a:endParaRPr>
          </a:p>
        </p:txBody>
      </p:sp>
      <p:sp>
        <p:nvSpPr>
          <p:cNvPr id="16" name="文本框 15"/>
          <p:cNvSpPr txBox="1"/>
          <p:nvPr/>
        </p:nvSpPr>
        <p:spPr>
          <a:xfrm>
            <a:off x="6055360" y="1765300"/>
            <a:ext cx="2935605" cy="523240"/>
          </a:xfrm>
          <a:prstGeom prst="rect">
            <a:avLst/>
          </a:prstGeom>
          <a:noFill/>
        </p:spPr>
        <p:txBody>
          <a:bodyPr wrap="square" rtlCol="0">
            <a:noAutofit/>
          </a:bodyPr>
          <a:p>
            <a:r>
              <a:rPr lang="en-US" altLang="zh-CN"/>
              <a:t>An analogy to a two-layer MLP</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The selection of aggregation function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文本框 27"/>
          <p:cNvSpPr txBox="1"/>
          <p:nvPr/>
        </p:nvSpPr>
        <p:spPr>
          <a:xfrm>
            <a:off x="1367790" y="1272540"/>
            <a:ext cx="7355205" cy="522605"/>
          </a:xfrm>
          <a:prstGeom prst="rect">
            <a:avLst/>
          </a:prstGeom>
          <a:noFill/>
          <a:ln>
            <a:noFill/>
          </a:ln>
        </p:spPr>
        <p:txBody>
          <a:bodyPr vert="horz" wrap="square" lIns="61529" tIns="0" rIns="0" bIns="0" numCol="1" anchor="t" anchorCtr="0" compatLnSpc="1">
            <a:spAutoFit/>
          </a:bodyPr>
          <a:p>
            <a:r>
              <a:rPr 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Graph Convlutional Neural</a:t>
            </a:r>
            <a:r>
              <a:rPr lang="zh-CN" alt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a:t>
            </a:r>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combination of avg/sum and neural networks for aggregating neighboring nodes.</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pic>
        <p:nvPicPr>
          <p:cNvPr id="2" name="图片 1"/>
          <p:cNvPicPr>
            <a:picLocks noChangeAspect="1"/>
          </p:cNvPicPr>
          <p:nvPr/>
        </p:nvPicPr>
        <p:blipFill>
          <a:blip r:embed="rId1"/>
          <a:stretch>
            <a:fillRect/>
          </a:stretch>
        </p:blipFill>
        <p:spPr>
          <a:xfrm>
            <a:off x="2052955" y="2068830"/>
            <a:ext cx="8858885" cy="3698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The selection of aggregation function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123950" y="1094740"/>
            <a:ext cx="8843010" cy="1029970"/>
          </a:xfrm>
          <a:prstGeom prst="rect">
            <a:avLst/>
          </a:prstGeom>
          <a:noFill/>
          <a:ln>
            <a:noFill/>
          </a:ln>
        </p:spPr>
        <p:txBody>
          <a:bodyPr vert="horz" wrap="square" lIns="61529" tIns="0" rIns="0" bIns="0" numCol="1" anchor="t" anchorCtr="0" compatLnSpc="1">
            <a:noAutofit/>
          </a:bodyPr>
          <a:p>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core idea of GNN is to aggregate the neighborhood features of a target node to obtain a new expression for it</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pic>
        <p:nvPicPr>
          <p:cNvPr id="29"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83055" y="2124710"/>
            <a:ext cx="9025890" cy="3830320"/>
          </a:xfrm>
          <a:prstGeom prst="rect">
            <a:avLst/>
          </a:prstGeom>
        </p:spPr>
      </p:pic>
      <p:cxnSp>
        <p:nvCxnSpPr>
          <p:cNvPr id="43" name="Straight Arrow Connector 4"/>
          <p:cNvCxnSpPr/>
          <p:nvPr/>
        </p:nvCxnSpPr>
        <p:spPr>
          <a:xfrm flipV="1">
            <a:off x="6722110" y="3263900"/>
            <a:ext cx="0" cy="4959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4"/>
          <p:cNvCxnSpPr/>
          <p:nvPr/>
        </p:nvCxnSpPr>
        <p:spPr>
          <a:xfrm flipH="1">
            <a:off x="6721475" y="4691380"/>
            <a:ext cx="635" cy="3378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5783580" y="2810510"/>
            <a:ext cx="1876425" cy="453390"/>
          </a:xfrm>
          <a:prstGeom prst="rect">
            <a:avLst/>
          </a:prstGeom>
          <a:solidFill>
            <a:srgbClr val="EF9769">
              <a:alpha val="38000"/>
            </a:srgbClr>
          </a:solidFill>
          <a:ln>
            <a:noFill/>
          </a:ln>
        </p:spPr>
        <p:txBody>
          <a:bodyPr vert="horz" wrap="none" lIns="61529" tIns="0" rIns="0" bIns="0" numCol="1" anchor="ctr" anchorCtr="0" compatLnSpc="1">
            <a:noAutofit/>
          </a:bodyPr>
          <a:p>
            <a:r>
              <a:rPr lang="en-US" altLang="zh-CN" sz="1600" dirty="0" smtClean="0">
                <a:latin typeface="Microsoft YaHei Regular" panose="020B0503020204020204" charset="-122"/>
                <a:ea typeface="Microsoft YaHei Regular" panose="020B0503020204020204" charset="-122"/>
                <a:cs typeface="Microsoft YaHei Regular" panose="020B0503020204020204" charset="-122"/>
              </a:rPr>
              <a:t>1</a:t>
            </a:r>
            <a:r>
              <a:rPr lang="zh-CN" altLang="en-US" sz="1600" dirty="0" smtClean="0">
                <a:latin typeface="Microsoft YaHei Regular" panose="020B0503020204020204" charset="-122"/>
                <a:ea typeface="Microsoft YaHei Regular" panose="020B0503020204020204" charset="-122"/>
                <a:cs typeface="Microsoft YaHei Regular" panose="020B0503020204020204" charset="-122"/>
              </a:rPr>
              <a:t>：</a:t>
            </a:r>
            <a:r>
              <a:rPr lang="en-US" altLang="zh-CN" sz="1600" dirty="0" smtClean="0">
                <a:latin typeface="Microsoft YaHei Regular" panose="020B0503020204020204" charset="-122"/>
                <a:ea typeface="Microsoft YaHei Regular" panose="020B0503020204020204" charset="-122"/>
                <a:cs typeface="Microsoft YaHei Regular" panose="020B0503020204020204" charset="-122"/>
              </a:rPr>
              <a:t>sum/avg</a:t>
            </a:r>
            <a:endParaRPr lang="zh-CN" altLang="en-US" sz="1600" dirty="0" smtClean="0">
              <a:latin typeface="Microsoft YaHei Regular" panose="020B0503020204020204" charset="-122"/>
              <a:ea typeface="Microsoft YaHei Regular" panose="020B0503020204020204" charset="-122"/>
              <a:cs typeface="Microsoft YaHei Regular" panose="020B0503020204020204" charset="-122"/>
            </a:endParaRPr>
          </a:p>
        </p:txBody>
      </p:sp>
      <p:sp>
        <p:nvSpPr>
          <p:cNvPr id="34" name="文本框 33"/>
          <p:cNvSpPr txBox="1"/>
          <p:nvPr/>
        </p:nvSpPr>
        <p:spPr>
          <a:xfrm>
            <a:off x="5884545" y="5029200"/>
            <a:ext cx="1809750" cy="461645"/>
          </a:xfrm>
          <a:prstGeom prst="rect">
            <a:avLst/>
          </a:prstGeom>
          <a:solidFill>
            <a:srgbClr val="EF9769">
              <a:alpha val="38000"/>
            </a:srgbClr>
          </a:solidFill>
          <a:ln>
            <a:noFill/>
          </a:ln>
        </p:spPr>
        <p:txBody>
          <a:bodyPr vert="horz" wrap="none" lIns="61529" tIns="0" rIns="0" bIns="0" numCol="1" anchor="ctr" anchorCtr="0" compatLnSpc="1">
            <a:noAutofit/>
          </a:bodyPr>
          <a:p>
            <a:pPr algn="l"/>
            <a:r>
              <a:rPr lang="en-US" altLang="zh-CN" sz="1600" dirty="0" smtClean="0">
                <a:latin typeface="Microsoft YaHei Regular" panose="020B0503020204020204" charset="-122"/>
                <a:ea typeface="Microsoft YaHei Regular" panose="020B0503020204020204" charset="-122"/>
                <a:cs typeface="Microsoft YaHei Regular" panose="020B0503020204020204" charset="-122"/>
              </a:rPr>
              <a:t>2</a:t>
            </a:r>
            <a:r>
              <a:rPr lang="zh-CN" altLang="en-US" sz="1600" dirty="0" smtClean="0">
                <a:latin typeface="Microsoft YaHei Regular" panose="020B0503020204020204" charset="-122"/>
                <a:ea typeface="Microsoft YaHei Regular" panose="020B0503020204020204" charset="-122"/>
                <a:cs typeface="Microsoft YaHei Regular" panose="020B0503020204020204" charset="-122"/>
              </a:rPr>
              <a:t>：</a:t>
            </a:r>
            <a:r>
              <a:rPr lang="en-US" altLang="zh-CN" sz="1600" dirty="0" smtClean="0">
                <a:latin typeface="Microsoft YaHei Regular" panose="020B0503020204020204" charset="-122"/>
                <a:ea typeface="Microsoft YaHei Regular" panose="020B0503020204020204" charset="-122"/>
                <a:cs typeface="Microsoft YaHei Regular" panose="020B0503020204020204" charset="-122"/>
                <a:sym typeface="+mn-ea"/>
              </a:rPr>
              <a:t>Neural Network</a:t>
            </a:r>
            <a:endParaRPr lang="en-US" altLang="zh-CN" sz="1600" dirty="0" smtClean="0">
              <a:latin typeface="Microsoft YaHei Regular" panose="020B0503020204020204" charset="-122"/>
              <a:ea typeface="Microsoft YaHei Regular" panose="020B0503020204020204" charset="-122"/>
              <a:cs typeface="Microsoft YaHei Regular"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The selection of aggregation function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grpSp>
        <p:nvGrpSpPr>
          <p:cNvPr id="59" name="组合 58"/>
          <p:cNvGrpSpPr/>
          <p:nvPr/>
        </p:nvGrpSpPr>
        <p:grpSpPr>
          <a:xfrm>
            <a:off x="1829435" y="2842895"/>
            <a:ext cx="2282825" cy="2030095"/>
            <a:chOff x="2526" y="3730"/>
            <a:chExt cx="3129" cy="2774"/>
          </a:xfrm>
        </p:grpSpPr>
        <p:cxnSp>
          <p:nvCxnSpPr>
            <p:cNvPr id="15" name="Straight Connector 10"/>
            <p:cNvCxnSpPr>
              <a:stCxn id="31" idx="1"/>
              <a:endCxn id="25" idx="5"/>
            </p:cNvCxnSpPr>
            <p:nvPr/>
          </p:nvCxnSpPr>
          <p:spPr>
            <a:xfrm flipH="1" flipV="1">
              <a:off x="2943" y="4308"/>
              <a:ext cx="825" cy="5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1"/>
            <p:cNvCxnSpPr>
              <a:stCxn id="31" idx="3"/>
              <a:endCxn id="26" idx="7"/>
            </p:cNvCxnSpPr>
            <p:nvPr/>
          </p:nvCxnSpPr>
          <p:spPr>
            <a:xfrm flipH="1">
              <a:off x="3046" y="5234"/>
              <a:ext cx="722" cy="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14"/>
            <p:cNvCxnSpPr>
              <a:endCxn id="16" idx="3"/>
            </p:cNvCxnSpPr>
            <p:nvPr/>
          </p:nvCxnSpPr>
          <p:spPr>
            <a:xfrm flipV="1">
              <a:off x="3940" y="4146"/>
              <a:ext cx="789" cy="9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17"/>
            <p:cNvCxnSpPr/>
            <p:nvPr/>
          </p:nvCxnSpPr>
          <p:spPr>
            <a:xfrm flipH="1" flipV="1">
              <a:off x="3919" y="5062"/>
              <a:ext cx="265" cy="1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9"/>
            <p:cNvCxnSpPr/>
            <p:nvPr/>
          </p:nvCxnSpPr>
          <p:spPr>
            <a:xfrm flipH="1" flipV="1">
              <a:off x="3940" y="5062"/>
              <a:ext cx="1471" cy="3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4"/>
            <p:cNvSpPr/>
            <p:nvPr/>
          </p:nvSpPr>
          <p:spPr>
            <a:xfrm>
              <a:off x="2526" y="3892"/>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a</a:t>
              </a:r>
              <a:endParaRPr lang="en-US" dirty="0">
                <a:solidFill>
                  <a:schemeClr val="tx1"/>
                </a:solidFill>
              </a:endParaRPr>
            </a:p>
          </p:txBody>
        </p:sp>
        <p:sp>
          <p:nvSpPr>
            <p:cNvPr id="26" name="Oval 5"/>
            <p:cNvSpPr/>
            <p:nvPr/>
          </p:nvSpPr>
          <p:spPr>
            <a:xfrm>
              <a:off x="2630" y="5773"/>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e</a:t>
              </a:r>
              <a:endParaRPr lang="en-US" dirty="0">
                <a:solidFill>
                  <a:schemeClr val="tx1"/>
                </a:solidFill>
              </a:endParaRPr>
            </a:p>
          </p:txBody>
        </p:sp>
        <p:sp>
          <p:nvSpPr>
            <p:cNvPr id="31" name="Oval 6"/>
            <p:cNvSpPr/>
            <p:nvPr/>
          </p:nvSpPr>
          <p:spPr>
            <a:xfrm>
              <a:off x="3696" y="4818"/>
              <a:ext cx="488" cy="488"/>
            </a:xfrm>
            <a:prstGeom prst="ellipse">
              <a:avLst/>
            </a:prstGeom>
            <a:gradFill flip="none">
              <a:gsLst>
                <a:gs pos="0">
                  <a:srgbClr val="FF0000"/>
                </a:gs>
                <a:gs pos="100000">
                  <a:srgbClr val="B0DAF1"/>
                </a:gs>
              </a:gsLst>
              <a:lin ang="0" scaled="0"/>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v</a:t>
              </a:r>
              <a:endParaRPr lang="en-US" dirty="0">
                <a:solidFill>
                  <a:schemeClr val="tx1"/>
                </a:solidFill>
              </a:endParaRPr>
            </a:p>
          </p:txBody>
        </p:sp>
        <p:sp>
          <p:nvSpPr>
            <p:cNvPr id="16" name="Oval 7"/>
            <p:cNvSpPr/>
            <p:nvPr/>
          </p:nvSpPr>
          <p:spPr>
            <a:xfrm>
              <a:off x="4658" y="3730"/>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b</a:t>
              </a:r>
              <a:endParaRPr lang="en-US" dirty="0">
                <a:solidFill>
                  <a:schemeClr val="tx1"/>
                </a:solidFill>
              </a:endParaRPr>
            </a:p>
          </p:txBody>
        </p:sp>
        <p:sp>
          <p:nvSpPr>
            <p:cNvPr id="39" name="Oval 8"/>
            <p:cNvSpPr/>
            <p:nvPr/>
          </p:nvSpPr>
          <p:spPr>
            <a:xfrm>
              <a:off x="3940" y="6016"/>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d</a:t>
              </a:r>
              <a:endParaRPr lang="en-US" dirty="0">
                <a:solidFill>
                  <a:schemeClr val="tx1"/>
                </a:solidFill>
              </a:endParaRPr>
            </a:p>
          </p:txBody>
        </p:sp>
        <p:sp>
          <p:nvSpPr>
            <p:cNvPr id="46" name="Oval 28"/>
            <p:cNvSpPr/>
            <p:nvPr/>
          </p:nvSpPr>
          <p:spPr>
            <a:xfrm>
              <a:off x="5167" y="5156"/>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c</a:t>
              </a:r>
              <a:endParaRPr lang="en-US" dirty="0">
                <a:solidFill>
                  <a:schemeClr val="tx1"/>
                </a:solidFill>
              </a:endParaRPr>
            </a:p>
          </p:txBody>
        </p:sp>
      </p:grpSp>
      <p:pic>
        <p:nvPicPr>
          <p:cNvPr id="27" name="图片 26"/>
          <p:cNvPicPr>
            <a:picLocks noChangeAspect="1"/>
          </p:cNvPicPr>
          <p:nvPr/>
        </p:nvPicPr>
        <p:blipFill>
          <a:blip r:embed="rId1"/>
          <a:stretch>
            <a:fillRect/>
          </a:stretch>
        </p:blipFill>
        <p:spPr>
          <a:xfrm>
            <a:off x="5173980" y="2432685"/>
            <a:ext cx="5608320" cy="2869565"/>
          </a:xfrm>
          <a:prstGeom prst="rect">
            <a:avLst/>
          </a:prstGeom>
        </p:spPr>
      </p:pic>
      <p:sp>
        <p:nvSpPr>
          <p:cNvPr id="28" name="文本框 27"/>
          <p:cNvSpPr txBox="1"/>
          <p:nvPr/>
        </p:nvSpPr>
        <p:spPr>
          <a:xfrm>
            <a:off x="1367790" y="1272540"/>
            <a:ext cx="7355205" cy="522605"/>
          </a:xfrm>
          <a:prstGeom prst="rect">
            <a:avLst/>
          </a:prstGeom>
          <a:noFill/>
          <a:ln>
            <a:noFill/>
          </a:ln>
        </p:spPr>
        <p:txBody>
          <a:bodyPr vert="horz" wrap="square" lIns="61529" tIns="0" rIns="0" bIns="0" numCol="1" anchor="t" anchorCtr="0" compatLnSpc="1">
            <a:spAutoFit/>
          </a:bodyPr>
          <a:p>
            <a:r>
              <a:rPr 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Graph Convlutional Neural</a:t>
            </a:r>
            <a:r>
              <a:rPr lang="zh-CN" alt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a:t>
            </a:r>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combination of avg/sum and neural networks for aggregating neighboring nodes.</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sp>
        <p:nvSpPr>
          <p:cNvPr id="17" name="文本框 16"/>
          <p:cNvSpPr txBox="1"/>
          <p:nvPr/>
        </p:nvSpPr>
        <p:spPr>
          <a:xfrm>
            <a:off x="7178675" y="2534920"/>
            <a:ext cx="4855210" cy="894080"/>
          </a:xfrm>
          <a:prstGeom prst="rect">
            <a:avLst/>
          </a:prstGeom>
          <a:noFill/>
        </p:spPr>
        <p:txBody>
          <a:bodyPr wrap="square" rtlCol="0">
            <a:noAutofit/>
          </a:bodyPr>
          <a:p>
            <a:r>
              <a:rPr lang="en-US" altLang="zh-CN" sz="2000">
                <a:solidFill>
                  <a:schemeClr val="tx1"/>
                </a:solidFill>
                <a:highlight>
                  <a:srgbClr val="800080"/>
                </a:highlight>
              </a:rPr>
              <a:t>Parameters corresponding to the k</a:t>
            </a:r>
            <a:r>
              <a:rPr lang="en-US" altLang="zh-CN" sz="2000" baseline="30000">
                <a:solidFill>
                  <a:schemeClr val="tx1"/>
                </a:solidFill>
                <a:highlight>
                  <a:srgbClr val="800080"/>
                </a:highlight>
              </a:rPr>
              <a:t>th</a:t>
            </a:r>
            <a:r>
              <a:rPr lang="en-US" altLang="zh-CN" sz="2000">
                <a:solidFill>
                  <a:schemeClr val="tx1"/>
                </a:solidFill>
                <a:highlight>
                  <a:srgbClr val="800080"/>
                </a:highlight>
              </a:rPr>
              <a:t> layer.</a:t>
            </a:r>
            <a:endParaRPr lang="en-US" altLang="zh-CN" sz="2000">
              <a:solidFill>
                <a:schemeClr val="tx1"/>
              </a:solidFill>
              <a:highlight>
                <a:srgbClr val="800080"/>
              </a:highlight>
            </a:endParaRPr>
          </a:p>
        </p:txBody>
      </p:sp>
      <p:sp>
        <p:nvSpPr>
          <p:cNvPr id="18" name="文本框 17"/>
          <p:cNvSpPr txBox="1"/>
          <p:nvPr/>
        </p:nvSpPr>
        <p:spPr>
          <a:xfrm>
            <a:off x="5321935" y="2961640"/>
            <a:ext cx="4213860" cy="480695"/>
          </a:xfrm>
          <a:prstGeom prst="rect">
            <a:avLst/>
          </a:prstGeom>
          <a:noFill/>
        </p:spPr>
        <p:txBody>
          <a:bodyPr wrap="square" rtlCol="0">
            <a:noAutofit/>
          </a:bodyPr>
          <a:p>
            <a:r>
              <a:rPr lang="en-US" altLang="zh-CN">
                <a:highlight>
                  <a:srgbClr val="00FF00"/>
                </a:highlight>
              </a:rPr>
              <a:t>Nonlinear activation function (e.g., ReLU)</a:t>
            </a:r>
            <a:r>
              <a:rPr lang="en-US" altLang="zh-CN"/>
              <a:t>.</a:t>
            </a:r>
            <a:endParaRPr lang="zh-CN" altLang="en-US"/>
          </a:p>
        </p:txBody>
      </p:sp>
      <p:sp>
        <p:nvSpPr>
          <p:cNvPr id="19" name="文本框 18"/>
          <p:cNvSpPr txBox="1"/>
          <p:nvPr/>
        </p:nvSpPr>
        <p:spPr>
          <a:xfrm>
            <a:off x="4526915" y="4389755"/>
            <a:ext cx="5803900" cy="379095"/>
          </a:xfrm>
          <a:prstGeom prst="rect">
            <a:avLst/>
          </a:prstGeom>
          <a:noFill/>
        </p:spPr>
        <p:txBody>
          <a:bodyPr wrap="square" rtlCol="0">
            <a:noAutofit/>
          </a:bodyPr>
          <a:p>
            <a:r>
              <a:rPr lang="en-US" altLang="zh-CN">
                <a:highlight>
                  <a:srgbClr val="FF0000"/>
                </a:highlight>
              </a:rPr>
              <a:t>Embedding corresponding to node v at the k</a:t>
            </a:r>
            <a:r>
              <a:rPr lang="en-US" altLang="zh-CN" baseline="30000">
                <a:highlight>
                  <a:srgbClr val="FF0000"/>
                </a:highlight>
              </a:rPr>
              <a:t>th</a:t>
            </a:r>
            <a:r>
              <a:rPr lang="en-US" altLang="zh-CN">
                <a:highlight>
                  <a:srgbClr val="FF0000"/>
                </a:highlight>
              </a:rPr>
              <a:t> layer</a:t>
            </a:r>
            <a:endParaRPr lang="en-US" altLang="zh-CN">
              <a:highlight>
                <a:srgbClr val="FF0000"/>
              </a:highlight>
            </a:endParaRPr>
          </a:p>
        </p:txBody>
      </p:sp>
      <p:sp>
        <p:nvSpPr>
          <p:cNvPr id="21" name="文本框 20"/>
          <p:cNvSpPr txBox="1"/>
          <p:nvPr/>
        </p:nvSpPr>
        <p:spPr>
          <a:xfrm>
            <a:off x="7297420" y="4820920"/>
            <a:ext cx="4064000" cy="368300"/>
          </a:xfrm>
          <a:prstGeom prst="rect">
            <a:avLst/>
          </a:prstGeom>
          <a:noFill/>
        </p:spPr>
        <p:txBody>
          <a:bodyPr wrap="square" rtlCol="0">
            <a:spAutoFit/>
          </a:bodyPr>
          <a:p>
            <a:r>
              <a:rPr lang="en-US" altLang="zh-CN">
                <a:highlight>
                  <a:srgbClr val="00FFFF"/>
                </a:highlight>
              </a:rPr>
              <a:t>Neighbors of node v</a:t>
            </a:r>
            <a:endParaRPr lang="en-US" altLang="zh-CN">
              <a:highlight>
                <a:srgbClr val="00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The selection of aggregation function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grpSp>
        <p:nvGrpSpPr>
          <p:cNvPr id="59" name="组合 58"/>
          <p:cNvGrpSpPr/>
          <p:nvPr/>
        </p:nvGrpSpPr>
        <p:grpSpPr>
          <a:xfrm>
            <a:off x="1829435" y="2842895"/>
            <a:ext cx="2282825" cy="2030095"/>
            <a:chOff x="2526" y="3730"/>
            <a:chExt cx="3129" cy="2774"/>
          </a:xfrm>
        </p:grpSpPr>
        <p:cxnSp>
          <p:nvCxnSpPr>
            <p:cNvPr id="15" name="Straight Connector 10"/>
            <p:cNvCxnSpPr>
              <a:stCxn id="31" idx="1"/>
              <a:endCxn id="25" idx="5"/>
            </p:cNvCxnSpPr>
            <p:nvPr/>
          </p:nvCxnSpPr>
          <p:spPr>
            <a:xfrm flipH="1" flipV="1">
              <a:off x="2943" y="4308"/>
              <a:ext cx="825" cy="5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1"/>
            <p:cNvCxnSpPr>
              <a:stCxn id="31" idx="3"/>
              <a:endCxn id="26" idx="7"/>
            </p:cNvCxnSpPr>
            <p:nvPr/>
          </p:nvCxnSpPr>
          <p:spPr>
            <a:xfrm flipH="1">
              <a:off x="3046" y="5234"/>
              <a:ext cx="722" cy="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14"/>
            <p:cNvCxnSpPr>
              <a:endCxn id="16" idx="3"/>
            </p:cNvCxnSpPr>
            <p:nvPr/>
          </p:nvCxnSpPr>
          <p:spPr>
            <a:xfrm flipV="1">
              <a:off x="3940" y="4146"/>
              <a:ext cx="789" cy="9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17"/>
            <p:cNvCxnSpPr/>
            <p:nvPr/>
          </p:nvCxnSpPr>
          <p:spPr>
            <a:xfrm flipH="1" flipV="1">
              <a:off x="3919" y="5062"/>
              <a:ext cx="265" cy="1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9"/>
            <p:cNvCxnSpPr/>
            <p:nvPr/>
          </p:nvCxnSpPr>
          <p:spPr>
            <a:xfrm flipH="1" flipV="1">
              <a:off x="3940" y="5062"/>
              <a:ext cx="1471" cy="3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4"/>
            <p:cNvSpPr/>
            <p:nvPr/>
          </p:nvSpPr>
          <p:spPr>
            <a:xfrm>
              <a:off x="2526" y="3892"/>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a</a:t>
              </a:r>
              <a:endParaRPr lang="en-US" dirty="0">
                <a:solidFill>
                  <a:schemeClr val="tx1"/>
                </a:solidFill>
              </a:endParaRPr>
            </a:p>
          </p:txBody>
        </p:sp>
        <p:sp>
          <p:nvSpPr>
            <p:cNvPr id="26" name="Oval 5"/>
            <p:cNvSpPr/>
            <p:nvPr/>
          </p:nvSpPr>
          <p:spPr>
            <a:xfrm>
              <a:off x="2630" y="5773"/>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e</a:t>
              </a:r>
              <a:endParaRPr lang="en-US" dirty="0">
                <a:solidFill>
                  <a:schemeClr val="tx1"/>
                </a:solidFill>
              </a:endParaRPr>
            </a:p>
          </p:txBody>
        </p:sp>
        <p:sp>
          <p:nvSpPr>
            <p:cNvPr id="31" name="Oval 6"/>
            <p:cNvSpPr/>
            <p:nvPr/>
          </p:nvSpPr>
          <p:spPr>
            <a:xfrm>
              <a:off x="3696" y="4818"/>
              <a:ext cx="488" cy="488"/>
            </a:xfrm>
            <a:prstGeom prst="ellipse">
              <a:avLst/>
            </a:prstGeom>
            <a:gradFill flip="none">
              <a:gsLst>
                <a:gs pos="0">
                  <a:srgbClr val="FF0000"/>
                </a:gs>
                <a:gs pos="100000">
                  <a:srgbClr val="B0DAF1"/>
                </a:gs>
              </a:gsLst>
              <a:lin ang="0" scaled="0"/>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v</a:t>
              </a:r>
              <a:endParaRPr lang="en-US" dirty="0">
                <a:solidFill>
                  <a:schemeClr val="tx1"/>
                </a:solidFill>
              </a:endParaRPr>
            </a:p>
          </p:txBody>
        </p:sp>
        <p:sp>
          <p:nvSpPr>
            <p:cNvPr id="16" name="Oval 7"/>
            <p:cNvSpPr/>
            <p:nvPr/>
          </p:nvSpPr>
          <p:spPr>
            <a:xfrm>
              <a:off x="4658" y="3730"/>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b</a:t>
              </a:r>
              <a:endParaRPr lang="en-US" dirty="0">
                <a:solidFill>
                  <a:schemeClr val="tx1"/>
                </a:solidFill>
              </a:endParaRPr>
            </a:p>
          </p:txBody>
        </p:sp>
        <p:sp>
          <p:nvSpPr>
            <p:cNvPr id="39" name="Oval 8"/>
            <p:cNvSpPr/>
            <p:nvPr/>
          </p:nvSpPr>
          <p:spPr>
            <a:xfrm>
              <a:off x="3940" y="6016"/>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d</a:t>
              </a:r>
              <a:endParaRPr lang="en-US" dirty="0">
                <a:solidFill>
                  <a:schemeClr val="tx1"/>
                </a:solidFill>
              </a:endParaRPr>
            </a:p>
          </p:txBody>
        </p:sp>
        <p:sp>
          <p:nvSpPr>
            <p:cNvPr id="46" name="Oval 28"/>
            <p:cNvSpPr/>
            <p:nvPr/>
          </p:nvSpPr>
          <p:spPr>
            <a:xfrm>
              <a:off x="5167" y="5156"/>
              <a:ext cx="488" cy="488"/>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solidFill>
                    <a:schemeClr val="tx1"/>
                  </a:solidFill>
                </a:rPr>
                <a:t>c</a:t>
              </a:r>
              <a:endParaRPr lang="en-US" dirty="0">
                <a:solidFill>
                  <a:schemeClr val="tx1"/>
                </a:solidFill>
              </a:endParaRPr>
            </a:p>
          </p:txBody>
        </p:sp>
      </p:grpSp>
      <p:sp>
        <p:nvSpPr>
          <p:cNvPr id="28" name="文本框 27"/>
          <p:cNvSpPr txBox="1"/>
          <p:nvPr/>
        </p:nvSpPr>
        <p:spPr>
          <a:xfrm>
            <a:off x="1367790" y="1272540"/>
            <a:ext cx="7355205" cy="522605"/>
          </a:xfrm>
          <a:prstGeom prst="rect">
            <a:avLst/>
          </a:prstGeom>
          <a:noFill/>
          <a:ln>
            <a:noFill/>
          </a:ln>
        </p:spPr>
        <p:txBody>
          <a:bodyPr vert="horz" wrap="square" lIns="61529" tIns="0" rIns="0" bIns="0" numCol="1" anchor="t" anchorCtr="0" compatLnSpc="1">
            <a:spAutoFit/>
          </a:bodyPr>
          <a:p>
            <a:r>
              <a:rPr 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Graph Convlutional Neural</a:t>
            </a:r>
            <a:r>
              <a:rPr lang="zh-CN" altLang="en-US" sz="18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a:t>
            </a:r>
            <a:r>
              <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rPr>
              <a:t>The combination of avg/sum and neural networks for aggregating neighboring nodes.</a:t>
            </a:r>
            <a:endParaRPr lang="en-US" altLang="zh-CN" sz="1600" dirty="0" smtClean="0">
              <a:solidFill>
                <a:schemeClr val="tx1"/>
              </a:solidFill>
              <a:latin typeface="微软雅黑" panose="020B0503020204020204" charset="-122"/>
              <a:ea typeface="微软雅黑" panose="020B0503020204020204" charset="-122"/>
              <a:cs typeface="Microsoft YaHei Regular" panose="020B0503020204020204" charset="-122"/>
              <a:sym typeface="+mn-ea"/>
            </a:endParaRPr>
          </a:p>
        </p:txBody>
      </p:sp>
      <p:pic>
        <p:nvPicPr>
          <p:cNvPr id="2" name="图片 1"/>
          <p:cNvPicPr>
            <a:picLocks noChangeAspect="1"/>
          </p:cNvPicPr>
          <p:nvPr/>
        </p:nvPicPr>
        <p:blipFill>
          <a:blip r:embed="rId1"/>
          <a:stretch>
            <a:fillRect/>
          </a:stretch>
        </p:blipFill>
        <p:spPr>
          <a:xfrm>
            <a:off x="5526405" y="2303780"/>
            <a:ext cx="5132705" cy="3178810"/>
          </a:xfrm>
          <a:prstGeom prst="rect">
            <a:avLst/>
          </a:prstGeom>
        </p:spPr>
      </p:pic>
      <p:sp>
        <p:nvSpPr>
          <p:cNvPr id="29" name="文本框 28"/>
          <p:cNvSpPr txBox="1"/>
          <p:nvPr/>
        </p:nvSpPr>
        <p:spPr>
          <a:xfrm>
            <a:off x="5918200" y="2418080"/>
            <a:ext cx="5876925" cy="900430"/>
          </a:xfrm>
          <a:prstGeom prst="rect">
            <a:avLst/>
          </a:prstGeom>
          <a:noFill/>
        </p:spPr>
        <p:txBody>
          <a:bodyPr wrap="square" rtlCol="0">
            <a:noAutofit/>
          </a:bodyPr>
          <a:p>
            <a:r>
              <a:rPr lang="en-US" altLang="zh-CN" sz="2400">
                <a:highlight>
                  <a:srgbClr val="00FFFF"/>
                </a:highlight>
              </a:rPr>
              <a:t>Aggregate the neighbor information of node v</a:t>
            </a:r>
            <a:r>
              <a:rPr lang="en-US" altLang="zh-CN" sz="2400"/>
              <a:t>.</a:t>
            </a:r>
            <a:endParaRPr lang="en-US" altLang="zh-CN" sz="2400"/>
          </a:p>
        </p:txBody>
      </p:sp>
      <p:sp>
        <p:nvSpPr>
          <p:cNvPr id="30" name="文本框 29"/>
          <p:cNvSpPr txBox="1"/>
          <p:nvPr/>
        </p:nvSpPr>
        <p:spPr>
          <a:xfrm>
            <a:off x="5390515" y="4949190"/>
            <a:ext cx="5812155" cy="580390"/>
          </a:xfrm>
          <a:prstGeom prst="rect">
            <a:avLst/>
          </a:prstGeom>
          <a:noFill/>
        </p:spPr>
        <p:txBody>
          <a:bodyPr wrap="square" rtlCol="0">
            <a:noAutofit/>
          </a:bodyPr>
          <a:p>
            <a:r>
              <a:rPr lang="en-US" altLang="zh-CN" sz="2400">
                <a:highlight>
                  <a:srgbClr val="800080"/>
                </a:highlight>
              </a:rPr>
              <a:t>Aggregate the self information of node v</a:t>
            </a:r>
            <a:endParaRPr lang="en-US" altLang="zh-CN" sz="2400">
              <a:highlight>
                <a:srgbClr val="80008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GAT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文本框 16"/>
          <p:cNvSpPr txBox="1"/>
          <p:nvPr/>
        </p:nvSpPr>
        <p:spPr>
          <a:xfrm>
            <a:off x="1180465" y="1179195"/>
            <a:ext cx="5569585" cy="279400"/>
          </a:xfrm>
          <a:prstGeom prst="rect">
            <a:avLst/>
          </a:prstGeom>
          <a:noFill/>
          <a:ln>
            <a:noFill/>
          </a:ln>
        </p:spPr>
        <p:txBody>
          <a:bodyPr vert="horz" wrap="none" lIns="61529" tIns="0" rIns="0" bIns="0" numCol="1" anchor="ctr" anchorCtr="0" compatLnSpc="1">
            <a:noAutofit/>
          </a:bodyPr>
          <a:p>
            <a:pPr algn="l"/>
            <a:r>
              <a:rPr lang="en-US" altLang="zh-CN" sz="1600">
                <a:latin typeface="微软雅黑" panose="020B0503020204020204" charset="-122"/>
                <a:ea typeface="微软雅黑" panose="020B0503020204020204" charset="-122"/>
                <a:sym typeface="+mn-ea"/>
              </a:rPr>
              <a:t>GAT - Graph </a:t>
            </a:r>
            <a:r>
              <a:rPr lang="en-US" altLang="zh-CN" sz="1600">
                <a:solidFill>
                  <a:srgbClr val="FF0000"/>
                </a:solidFill>
                <a:latin typeface="微软雅黑" panose="020B0503020204020204" charset="-122"/>
                <a:ea typeface="微软雅黑" panose="020B0503020204020204" charset="-122"/>
                <a:sym typeface="+mn-ea"/>
              </a:rPr>
              <a:t>Attention</a:t>
            </a:r>
            <a:r>
              <a:rPr lang="en-US" altLang="zh-CN" sz="1600">
                <a:latin typeface="微软雅黑" panose="020B0503020204020204" charset="-122"/>
                <a:ea typeface="微软雅黑" panose="020B0503020204020204" charset="-122"/>
                <a:sym typeface="+mn-ea"/>
              </a:rPr>
              <a:t> Network</a:t>
            </a:r>
            <a:r>
              <a:rPr lang="zh-CN" altLang="en-US" sz="1600">
                <a:latin typeface="微软雅黑" panose="020B0503020204020204" charset="-122"/>
                <a:ea typeface="微软雅黑" panose="020B0503020204020204" charset="-122"/>
                <a:sym typeface="+mn-ea"/>
              </a:rPr>
              <a:t>，</a:t>
            </a:r>
            <a:r>
              <a:rPr lang="en-US" altLang="zh-CN" sz="1600">
                <a:latin typeface="微软雅黑" panose="020B0503020204020204" charset="-122"/>
                <a:ea typeface="微软雅黑" panose="020B0503020204020204" charset="-122"/>
                <a:sym typeface="+mn-ea"/>
              </a:rPr>
              <a:t>Aggregation based on Attention.</a:t>
            </a:r>
            <a:endParaRPr lang="en-US" altLang="zh-CN" sz="1600">
              <a:latin typeface="微软雅黑" panose="020B0503020204020204" charset="-122"/>
              <a:ea typeface="微软雅黑" panose="020B0503020204020204" charset="-122"/>
              <a:sym typeface="+mn-ea"/>
            </a:endParaRPr>
          </a:p>
        </p:txBody>
      </p:sp>
      <p:pic>
        <p:nvPicPr>
          <p:cNvPr id="18" name="图片 17"/>
          <p:cNvPicPr>
            <a:picLocks noChangeAspect="1"/>
          </p:cNvPicPr>
          <p:nvPr/>
        </p:nvPicPr>
        <p:blipFill>
          <a:blip r:embed="rId1"/>
          <a:stretch>
            <a:fillRect/>
          </a:stretch>
        </p:blipFill>
        <p:spPr>
          <a:xfrm>
            <a:off x="5361940" y="1706880"/>
            <a:ext cx="6245860" cy="4241165"/>
          </a:xfrm>
          <a:prstGeom prst="rect">
            <a:avLst/>
          </a:prstGeom>
        </p:spPr>
      </p:pic>
      <p:pic>
        <p:nvPicPr>
          <p:cNvPr id="19" name="图片 18"/>
          <p:cNvPicPr>
            <a:picLocks noChangeAspect="1"/>
          </p:cNvPicPr>
          <p:nvPr/>
        </p:nvPicPr>
        <p:blipFill>
          <a:blip r:embed="rId2"/>
          <a:stretch>
            <a:fillRect/>
          </a:stretch>
        </p:blipFill>
        <p:spPr>
          <a:xfrm>
            <a:off x="1123950" y="1789430"/>
            <a:ext cx="3775710" cy="4076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GAT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文本框 16"/>
          <p:cNvSpPr txBox="1"/>
          <p:nvPr/>
        </p:nvSpPr>
        <p:spPr>
          <a:xfrm>
            <a:off x="1180465" y="1179195"/>
            <a:ext cx="5569585" cy="279400"/>
          </a:xfrm>
          <a:prstGeom prst="rect">
            <a:avLst/>
          </a:prstGeom>
          <a:noFill/>
          <a:ln>
            <a:noFill/>
          </a:ln>
        </p:spPr>
        <p:txBody>
          <a:bodyPr vert="horz" wrap="none" lIns="61529" tIns="0" rIns="0" bIns="0" numCol="1" anchor="ctr" anchorCtr="0" compatLnSpc="1">
            <a:noAutofit/>
          </a:bodyPr>
          <a:p>
            <a:pPr algn="l"/>
            <a:r>
              <a:rPr lang="en-US" altLang="zh-CN" sz="1600">
                <a:latin typeface="微软雅黑" panose="020B0503020204020204" charset="-122"/>
                <a:ea typeface="微软雅黑" panose="020B0503020204020204" charset="-122"/>
                <a:sym typeface="+mn-ea"/>
              </a:rPr>
              <a:t>GAT - Graph </a:t>
            </a:r>
            <a:r>
              <a:rPr lang="en-US" altLang="zh-CN" sz="1600">
                <a:solidFill>
                  <a:srgbClr val="FF0000"/>
                </a:solidFill>
                <a:latin typeface="微软雅黑" panose="020B0503020204020204" charset="-122"/>
                <a:ea typeface="微软雅黑" panose="020B0503020204020204" charset="-122"/>
                <a:sym typeface="+mn-ea"/>
              </a:rPr>
              <a:t>Attention</a:t>
            </a:r>
            <a:r>
              <a:rPr lang="en-US" altLang="zh-CN" sz="1600">
                <a:latin typeface="微软雅黑" panose="020B0503020204020204" charset="-122"/>
                <a:ea typeface="微软雅黑" panose="020B0503020204020204" charset="-122"/>
                <a:sym typeface="+mn-ea"/>
              </a:rPr>
              <a:t> Network</a:t>
            </a:r>
            <a:r>
              <a:rPr lang="zh-CN" altLang="en-US" sz="1600">
                <a:latin typeface="微软雅黑" panose="020B0503020204020204" charset="-122"/>
                <a:ea typeface="微软雅黑" panose="020B0503020204020204" charset="-122"/>
                <a:sym typeface="+mn-ea"/>
              </a:rPr>
              <a:t>，</a:t>
            </a:r>
            <a:r>
              <a:rPr lang="en-US" altLang="zh-CN" sz="1600">
                <a:latin typeface="微软雅黑" panose="020B0503020204020204" charset="-122"/>
                <a:ea typeface="微软雅黑" panose="020B0503020204020204" charset="-122"/>
                <a:sym typeface="+mn-ea"/>
              </a:rPr>
              <a:t>Aggregation based on Attention.</a:t>
            </a:r>
            <a:endParaRPr lang="en-US" altLang="zh-CN" sz="1600">
              <a:latin typeface="微软雅黑" panose="020B0503020204020204" charset="-122"/>
              <a:ea typeface="微软雅黑" panose="020B0503020204020204" charset="-122"/>
              <a:sym typeface="+mn-ea"/>
            </a:endParaRPr>
          </a:p>
        </p:txBody>
      </p:sp>
      <p:pic>
        <p:nvPicPr>
          <p:cNvPr id="18" name="图片 17"/>
          <p:cNvPicPr>
            <a:picLocks noChangeAspect="1"/>
          </p:cNvPicPr>
          <p:nvPr/>
        </p:nvPicPr>
        <p:blipFill>
          <a:blip r:embed="rId1"/>
          <a:stretch>
            <a:fillRect/>
          </a:stretch>
        </p:blipFill>
        <p:spPr>
          <a:xfrm>
            <a:off x="5731510" y="1520825"/>
            <a:ext cx="5765165" cy="3914775"/>
          </a:xfrm>
          <a:prstGeom prst="rect">
            <a:avLst/>
          </a:prstGeom>
        </p:spPr>
      </p:pic>
      <p:pic>
        <p:nvPicPr>
          <p:cNvPr id="19" name="图片 18"/>
          <p:cNvPicPr>
            <a:picLocks noChangeAspect="1"/>
          </p:cNvPicPr>
          <p:nvPr/>
        </p:nvPicPr>
        <p:blipFill>
          <a:blip r:embed="rId2"/>
          <a:stretch>
            <a:fillRect/>
          </a:stretch>
        </p:blipFill>
        <p:spPr>
          <a:xfrm>
            <a:off x="1180465" y="1582420"/>
            <a:ext cx="3775710" cy="4076700"/>
          </a:xfrm>
          <a:prstGeom prst="rect">
            <a:avLst/>
          </a:prstGeom>
        </p:spPr>
      </p:pic>
      <p:pic>
        <p:nvPicPr>
          <p:cNvPr id="15" name="图片 14"/>
          <p:cNvPicPr>
            <a:picLocks noChangeAspect="1"/>
          </p:cNvPicPr>
          <p:nvPr/>
        </p:nvPicPr>
        <p:blipFill>
          <a:blip r:embed="rId3"/>
          <a:stretch>
            <a:fillRect/>
          </a:stretch>
        </p:blipFill>
        <p:spPr>
          <a:xfrm>
            <a:off x="1366520" y="5659120"/>
            <a:ext cx="8398510" cy="10661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GAT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332865" y="1047115"/>
            <a:ext cx="6040755" cy="748030"/>
          </a:xfrm>
          <a:prstGeom prst="rect">
            <a:avLst/>
          </a:prstGeom>
          <a:noFill/>
        </p:spPr>
        <p:txBody>
          <a:bodyPr wrap="square" rtlCol="0">
            <a:noAutofit/>
          </a:bodyPr>
          <a:p>
            <a:r>
              <a:rPr lang="en-US" altLang="zh-CN"/>
              <a:t>The attention coefficients are calculated as follows</a:t>
            </a:r>
            <a:endParaRPr lang="zh-CN" altLang="en-US"/>
          </a:p>
        </p:txBody>
      </p:sp>
      <p:pic>
        <p:nvPicPr>
          <p:cNvPr id="16" name="图片 15"/>
          <p:cNvPicPr>
            <a:picLocks noChangeAspect="1"/>
          </p:cNvPicPr>
          <p:nvPr/>
        </p:nvPicPr>
        <p:blipFill>
          <a:blip r:embed="rId1"/>
          <a:stretch>
            <a:fillRect/>
          </a:stretch>
        </p:blipFill>
        <p:spPr>
          <a:xfrm>
            <a:off x="3897630" y="1383030"/>
            <a:ext cx="2486025" cy="847725"/>
          </a:xfrm>
          <a:prstGeom prst="rect">
            <a:avLst/>
          </a:prstGeom>
        </p:spPr>
      </p:pic>
      <p:sp>
        <p:nvSpPr>
          <p:cNvPr id="20" name="文本框 19"/>
          <p:cNvSpPr txBox="1"/>
          <p:nvPr/>
        </p:nvSpPr>
        <p:spPr>
          <a:xfrm>
            <a:off x="1332865" y="2009775"/>
            <a:ext cx="6115685" cy="833755"/>
          </a:xfrm>
          <a:prstGeom prst="rect">
            <a:avLst/>
          </a:prstGeom>
          <a:noFill/>
        </p:spPr>
        <p:txBody>
          <a:bodyPr wrap="square" rtlCol="0">
            <a:noAutofit/>
          </a:bodyPr>
          <a:p>
            <a:r>
              <a:rPr lang="en-US" altLang="zh-CN"/>
              <a:t>where a denotes the attention mechanism function. Normalizing the above equation yields</a:t>
            </a:r>
            <a:endParaRPr lang="en-US" altLang="zh-CN"/>
          </a:p>
        </p:txBody>
      </p:sp>
      <p:pic>
        <p:nvPicPr>
          <p:cNvPr id="21" name="图片 20"/>
          <p:cNvPicPr>
            <a:picLocks noChangeAspect="1"/>
          </p:cNvPicPr>
          <p:nvPr/>
        </p:nvPicPr>
        <p:blipFill>
          <a:blip r:embed="rId2"/>
          <a:stretch>
            <a:fillRect/>
          </a:stretch>
        </p:blipFill>
        <p:spPr>
          <a:xfrm>
            <a:off x="3325495" y="2642235"/>
            <a:ext cx="4667250" cy="847725"/>
          </a:xfrm>
          <a:prstGeom prst="rect">
            <a:avLst/>
          </a:prstGeom>
        </p:spPr>
      </p:pic>
      <p:sp>
        <p:nvSpPr>
          <p:cNvPr id="22" name="文本框 21"/>
          <p:cNvSpPr txBox="1"/>
          <p:nvPr/>
        </p:nvSpPr>
        <p:spPr>
          <a:xfrm>
            <a:off x="1332865" y="3407410"/>
            <a:ext cx="7137400" cy="1541780"/>
          </a:xfrm>
          <a:prstGeom prst="rect">
            <a:avLst/>
          </a:prstGeom>
          <a:noFill/>
        </p:spPr>
        <p:txBody>
          <a:bodyPr wrap="square" rtlCol="0">
            <a:noAutofit/>
          </a:bodyPr>
          <a:p>
            <a:r>
              <a:rPr lang="en-US" altLang="zh-CN"/>
              <a:t>Here, N</a:t>
            </a:r>
            <a:r>
              <a:rPr lang="en-US" altLang="zh-CN" baseline="-25000"/>
              <a:t>i</a:t>
            </a:r>
            <a:r>
              <a:rPr lang="en-US" altLang="zh-CN"/>
              <a:t> represents the set of neighboring nodes of node i.</a:t>
            </a:r>
            <a:endParaRPr lang="en-US" altLang="zh-CN"/>
          </a:p>
          <a:p>
            <a:r>
              <a:rPr lang="en-US" altLang="zh-CN"/>
              <a:t>The attention mechanism function can be represented by a single-layer neural network, with parameters  a∈R </a:t>
            </a:r>
            <a:r>
              <a:rPr lang="en-US" altLang="zh-CN" baseline="30000"/>
              <a:t>2F ′.</a:t>
            </a:r>
            <a:r>
              <a:rPr lang="en-US" altLang="zh-CN"/>
              <a:t> Then equation (2.31) can be written as:</a:t>
            </a:r>
            <a:endParaRPr lang="en-US" altLang="zh-CN"/>
          </a:p>
        </p:txBody>
      </p:sp>
      <p:pic>
        <p:nvPicPr>
          <p:cNvPr id="23" name="图片 22"/>
          <p:cNvPicPr>
            <a:picLocks noChangeAspect="1"/>
          </p:cNvPicPr>
          <p:nvPr/>
        </p:nvPicPr>
        <p:blipFill>
          <a:blip r:embed="rId3"/>
          <a:stretch>
            <a:fillRect/>
          </a:stretch>
        </p:blipFill>
        <p:spPr>
          <a:xfrm>
            <a:off x="3225800" y="4661535"/>
            <a:ext cx="4333875" cy="914400"/>
          </a:xfrm>
          <a:prstGeom prst="rect">
            <a:avLst/>
          </a:prstGeom>
        </p:spPr>
      </p:pic>
      <p:pic>
        <p:nvPicPr>
          <p:cNvPr id="24" name="图片 23"/>
          <p:cNvPicPr>
            <a:picLocks noChangeAspect="1"/>
          </p:cNvPicPr>
          <p:nvPr/>
        </p:nvPicPr>
        <p:blipFill>
          <a:blip r:embed="rId4"/>
          <a:stretch>
            <a:fillRect/>
          </a:stretch>
        </p:blipFill>
        <p:spPr>
          <a:xfrm>
            <a:off x="4516120" y="4020820"/>
            <a:ext cx="771525" cy="3143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GAT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332865" y="1047115"/>
            <a:ext cx="8322310" cy="718820"/>
          </a:xfrm>
          <a:prstGeom prst="rect">
            <a:avLst/>
          </a:prstGeom>
          <a:noFill/>
        </p:spPr>
        <p:txBody>
          <a:bodyPr wrap="square" rtlCol="0">
            <a:noAutofit/>
          </a:bodyPr>
          <a:p>
            <a:r>
              <a:rPr lang="en-US" altLang="zh-CN"/>
              <a:t>where || denotes the concat operation. Once the attention coefficients are obtained, the output is the linear combination of the transformed features and the attention coefficients:</a:t>
            </a:r>
            <a:endParaRPr lang="en-US" altLang="zh-CN"/>
          </a:p>
        </p:txBody>
      </p:sp>
      <p:pic>
        <p:nvPicPr>
          <p:cNvPr id="15" name="图片 14"/>
          <p:cNvPicPr>
            <a:picLocks noChangeAspect="1"/>
          </p:cNvPicPr>
          <p:nvPr/>
        </p:nvPicPr>
        <p:blipFill>
          <a:blip r:embed="rId1"/>
          <a:stretch>
            <a:fillRect/>
          </a:stretch>
        </p:blipFill>
        <p:spPr>
          <a:xfrm>
            <a:off x="3860800" y="1974215"/>
            <a:ext cx="2781300" cy="790575"/>
          </a:xfrm>
          <a:prstGeom prst="rect">
            <a:avLst/>
          </a:prstGeom>
        </p:spPr>
      </p:pic>
      <p:pic>
        <p:nvPicPr>
          <p:cNvPr id="17" name="图片 16"/>
          <p:cNvPicPr>
            <a:picLocks noChangeAspect="1"/>
          </p:cNvPicPr>
          <p:nvPr/>
        </p:nvPicPr>
        <p:blipFill>
          <a:blip r:embed="rId2"/>
          <a:stretch>
            <a:fillRect/>
          </a:stretch>
        </p:blipFill>
        <p:spPr>
          <a:xfrm>
            <a:off x="2385060" y="2708910"/>
            <a:ext cx="6879590" cy="36531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GAT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图片 15"/>
          <p:cNvPicPr>
            <a:picLocks noChangeAspect="1"/>
          </p:cNvPicPr>
          <p:nvPr/>
        </p:nvPicPr>
        <p:blipFill>
          <a:blip r:embed="rId1"/>
          <a:stretch>
            <a:fillRect/>
          </a:stretch>
        </p:blipFill>
        <p:spPr>
          <a:xfrm>
            <a:off x="594360" y="1508125"/>
            <a:ext cx="11395710" cy="35337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GraphSAGE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674495" y="979805"/>
            <a:ext cx="6901180" cy="594360"/>
          </a:xfrm>
          <a:prstGeom prst="rect">
            <a:avLst/>
          </a:prstGeom>
          <a:noFill/>
        </p:spPr>
        <p:txBody>
          <a:bodyPr wrap="square" rtlCol="0">
            <a:noAutofit/>
          </a:bodyPr>
          <a:p>
            <a:r>
              <a:rPr lang="en-US" altLang="zh-CN"/>
              <a:t>AGGREGATION:mean,</a:t>
            </a:r>
            <a:r>
              <a:rPr lang="en-US" altLang="zh-CN" sz="3200"/>
              <a:t>max</a:t>
            </a:r>
            <a:r>
              <a:rPr lang="en-US" altLang="zh-CN"/>
              <a:t>-pooling,or LSTM</a:t>
            </a:r>
            <a:endParaRPr lang="en-US" altLang="zh-CN"/>
          </a:p>
        </p:txBody>
      </p:sp>
      <p:pic>
        <p:nvPicPr>
          <p:cNvPr id="15" name="图片 14"/>
          <p:cNvPicPr>
            <a:picLocks noChangeAspect="1"/>
          </p:cNvPicPr>
          <p:nvPr/>
        </p:nvPicPr>
        <p:blipFill>
          <a:blip r:embed="rId1"/>
          <a:stretch>
            <a:fillRect/>
          </a:stretch>
        </p:blipFill>
        <p:spPr>
          <a:xfrm>
            <a:off x="1312545" y="1925955"/>
            <a:ext cx="10046335" cy="34855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GraphSAGE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674495" y="979805"/>
            <a:ext cx="6901180" cy="594360"/>
          </a:xfrm>
          <a:prstGeom prst="rect">
            <a:avLst/>
          </a:prstGeom>
          <a:noFill/>
        </p:spPr>
        <p:txBody>
          <a:bodyPr wrap="square" rtlCol="0">
            <a:noAutofit/>
          </a:bodyPr>
          <a:p>
            <a:r>
              <a:rPr lang="en-US" altLang="zh-CN"/>
              <a:t>AGGREGATION:mean,</a:t>
            </a:r>
            <a:r>
              <a:rPr lang="en-US" altLang="zh-CN" sz="3200"/>
              <a:t>max</a:t>
            </a:r>
            <a:r>
              <a:rPr lang="en-US" altLang="zh-CN"/>
              <a:t>-pooling,or LSTM</a:t>
            </a:r>
            <a:endParaRPr lang="en-US" altLang="zh-CN"/>
          </a:p>
        </p:txBody>
      </p:sp>
      <p:pic>
        <p:nvPicPr>
          <p:cNvPr id="15" name="图片 14"/>
          <p:cNvPicPr>
            <a:picLocks noChangeAspect="1"/>
          </p:cNvPicPr>
          <p:nvPr/>
        </p:nvPicPr>
        <p:blipFill>
          <a:blip r:embed="rId1"/>
          <a:stretch>
            <a:fillRect/>
          </a:stretch>
        </p:blipFill>
        <p:spPr>
          <a:xfrm>
            <a:off x="1460500" y="1925955"/>
            <a:ext cx="9898380" cy="3434080"/>
          </a:xfrm>
          <a:prstGeom prst="rect">
            <a:avLst/>
          </a:prstGeom>
        </p:spPr>
      </p:pic>
      <p:sp>
        <p:nvSpPr>
          <p:cNvPr id="16" name="文本框 15"/>
          <p:cNvSpPr txBox="1"/>
          <p:nvPr/>
        </p:nvSpPr>
        <p:spPr>
          <a:xfrm>
            <a:off x="1497330" y="5813425"/>
            <a:ext cx="1370965" cy="290195"/>
          </a:xfrm>
          <a:prstGeom prst="rect">
            <a:avLst/>
          </a:prstGeom>
          <a:noFill/>
          <a:ln>
            <a:noFill/>
          </a:ln>
        </p:spPr>
        <p:txBody>
          <a:bodyPr vert="horz" wrap="none" lIns="61529" tIns="0" rIns="0" bIns="0" numCol="1" anchor="ctr" anchorCtr="0" compatLnSpc="1">
            <a:noAutofit/>
          </a:bodyPr>
          <a:p>
            <a:pPr indent="0">
              <a:buFont typeface="Wingdings" panose="05000000000000000000" charset="0"/>
              <a:buNone/>
            </a:pPr>
            <a:r>
              <a:rPr lang="en-US" altLang="zh-CN" sz="1400" b="1" dirty="0" smtClean="0">
                <a:solidFill>
                  <a:schemeClr val="accent4"/>
                </a:solidFill>
                <a:latin typeface="微软雅黑" panose="020B0503020204020204" charset="-122"/>
                <a:ea typeface="微软雅黑" panose="020B0503020204020204" charset="-122"/>
                <a:cs typeface="微软雅黑" panose="020B0503020204020204" charset="-122"/>
              </a:rPr>
              <a:t>why sample</a:t>
            </a:r>
            <a:r>
              <a:rPr lang="zh-CN" altLang="en-US" sz="1400" b="1" dirty="0" smtClean="0">
                <a:solidFill>
                  <a:schemeClr val="accent4"/>
                </a:solidFill>
                <a:latin typeface="微软雅黑" panose="020B0503020204020204" charset="-122"/>
                <a:ea typeface="微软雅黑" panose="020B0503020204020204" charset="-122"/>
                <a:cs typeface="微软雅黑" panose="020B0503020204020204" charset="-122"/>
              </a:rPr>
              <a:t>？</a:t>
            </a:r>
            <a:endParaRPr lang="zh-CN" altLang="en-US" sz="1400" b="1" dirty="0" smtClean="0">
              <a:solidFill>
                <a:schemeClr val="accent4"/>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2706370" y="5305425"/>
            <a:ext cx="5869305" cy="1485900"/>
          </a:xfrm>
          <a:prstGeom prst="rect">
            <a:avLst/>
          </a:prstGeom>
          <a:noFill/>
          <a:ln>
            <a:noFill/>
          </a:ln>
        </p:spPr>
        <p:txBody>
          <a:bodyPr vert="horz" wrap="none" lIns="61529" tIns="0" rIns="0" bIns="0" numCol="1" anchor="ctr" anchorCtr="0" compatLnSpc="1">
            <a:noAutofit/>
          </a:bodyPr>
          <a:p>
            <a:pPr marL="171450" indent="-171450" algn="l">
              <a:buFont typeface="Wingdings" panose="05000000000000000000" charset="0"/>
              <a:buChar char=""/>
            </a:pPr>
            <a:r>
              <a:rPr lang="en-US" altLang="zh-CN" sz="1400">
                <a:latin typeface="微软雅黑" panose="020B0503020204020204" charset="-122"/>
                <a:ea typeface="微软雅黑" panose="020B0503020204020204" charset="-122"/>
                <a:cs typeface="微软雅黑" panose="020B0503020204020204" charset="-122"/>
                <a:sym typeface="+mn-ea"/>
              </a:rPr>
              <a:t>Sampling can speed up training on large networks (e.g., social networks).</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
            </a:pP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
            </a:pPr>
            <a:r>
              <a:rPr lang="en-US" altLang="zh-CN" sz="1400">
                <a:latin typeface="微软雅黑" panose="020B0503020204020204" charset="-122"/>
                <a:ea typeface="微软雅黑" panose="020B0503020204020204" charset="-122"/>
                <a:cs typeface="微软雅黑" panose="020B0503020204020204" charset="-122"/>
                <a:sym typeface="+mn-ea"/>
              </a:rPr>
              <a:t>Forcing the model to learn combinational patterns of nodes for robustness </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
            </a:pPr>
            <a:r>
              <a:rPr lang="en-US" altLang="zh-CN" sz="1400">
                <a:latin typeface="微软雅黑" panose="020B0503020204020204" charset="-122"/>
                <a:ea typeface="微软雅黑" panose="020B0503020204020204" charset="-122"/>
                <a:cs typeface="微软雅黑" panose="020B0503020204020204" charset="-122"/>
                <a:sym typeface="+mn-ea"/>
              </a:rPr>
              <a:t>Effective use of multi-hop information, </a:t>
            </a:r>
            <a:endParaRPr lang="en-US" altLang="zh-CN" sz="140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r>
              <a:rPr lang="en-US" altLang="zh-CN" sz="1400">
                <a:latin typeface="微软雅黑" panose="020B0503020204020204" charset="-122"/>
                <a:ea typeface="微软雅黑" panose="020B0503020204020204" charset="-122"/>
                <a:cs typeface="微软雅黑" panose="020B0503020204020204" charset="-122"/>
                <a:sym typeface="+mn-ea"/>
              </a:rPr>
              <a:t>with hierarchical aggregation of different types of information.</a:t>
            </a:r>
            <a:endParaRPr lang="en-US" altLang="zh-CN" sz="14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GraphSAGE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 name="文本框 1"/>
          <p:cNvSpPr txBox="1"/>
          <p:nvPr/>
        </p:nvSpPr>
        <p:spPr>
          <a:xfrm>
            <a:off x="1674495" y="979805"/>
            <a:ext cx="6901180" cy="594360"/>
          </a:xfrm>
          <a:prstGeom prst="rect">
            <a:avLst/>
          </a:prstGeom>
          <a:noFill/>
        </p:spPr>
        <p:txBody>
          <a:bodyPr wrap="square" rtlCol="0">
            <a:noAutofit/>
          </a:bodyPr>
          <a:p>
            <a:r>
              <a:rPr lang="en-US" altLang="zh-CN"/>
              <a:t>AGGREGATION:mean,</a:t>
            </a:r>
            <a:r>
              <a:rPr lang="en-US" altLang="zh-CN" sz="3200"/>
              <a:t>max</a:t>
            </a:r>
            <a:r>
              <a:rPr lang="en-US" altLang="zh-CN"/>
              <a:t>-pooling,or LSTM</a:t>
            </a:r>
            <a:endParaRPr lang="en-US" altLang="zh-CN"/>
          </a:p>
        </p:txBody>
      </p:sp>
      <p:pic>
        <p:nvPicPr>
          <p:cNvPr id="15" name="图片 14"/>
          <p:cNvPicPr>
            <a:picLocks noChangeAspect="1"/>
          </p:cNvPicPr>
          <p:nvPr/>
        </p:nvPicPr>
        <p:blipFill>
          <a:blip r:embed="rId1"/>
          <a:stretch>
            <a:fillRect/>
          </a:stretch>
        </p:blipFill>
        <p:spPr>
          <a:xfrm>
            <a:off x="1460500" y="1925955"/>
            <a:ext cx="9898380" cy="3434080"/>
          </a:xfrm>
          <a:prstGeom prst="rect">
            <a:avLst/>
          </a:prstGeom>
        </p:spPr>
      </p:pic>
      <p:pic>
        <p:nvPicPr>
          <p:cNvPr id="18" name="图片 17"/>
          <p:cNvPicPr>
            <a:picLocks noChangeAspect="1"/>
          </p:cNvPicPr>
          <p:nvPr/>
        </p:nvPicPr>
        <p:blipFill>
          <a:blip r:embed="rId2"/>
          <a:stretch>
            <a:fillRect/>
          </a:stretch>
        </p:blipFill>
        <p:spPr>
          <a:xfrm>
            <a:off x="2242820" y="5575935"/>
            <a:ext cx="7327265" cy="1183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Graph Neural Network：</a:t>
            </a:r>
            <a:r>
              <a:rPr lang="en-US" altLang="zh-CN" sz="2800" b="1" dirty="0">
                <a:solidFill>
                  <a:srgbClr val="2F493E"/>
                </a:solidFill>
                <a:latin typeface="MiSans" pitchFamily="34" charset="-122"/>
                <a:ea typeface="MiSans" pitchFamily="34" charset="-122"/>
                <a:cs typeface="MiSans" pitchFamily="34" charset="-120"/>
              </a:rPr>
              <a:t>GraphSAGE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图片 15"/>
          <p:cNvPicPr>
            <a:picLocks noChangeAspect="1"/>
          </p:cNvPicPr>
          <p:nvPr/>
        </p:nvPicPr>
        <p:blipFill>
          <a:blip r:embed="rId1"/>
          <a:stretch>
            <a:fillRect/>
          </a:stretch>
        </p:blipFill>
        <p:spPr>
          <a:xfrm>
            <a:off x="344805" y="1503680"/>
            <a:ext cx="11771630" cy="35255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Case Studies of Graph Neural Networks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Social Network Analysis Case Study</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807460" y="1413510"/>
            <a:ext cx="8020050" cy="4763135"/>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9282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3180715"/>
            <a:ext cx="7560310" cy="0"/>
          </a:xfrm>
          <a:prstGeom prst="line">
            <a:avLst/>
          </a:prstGeom>
          <a:noFill/>
          <a:ln w="12700">
            <a:solidFill>
              <a:srgbClr val="9FB26A"/>
            </a:solidFill>
            <a:prstDash val="dash"/>
            <a:headEnd type="none"/>
            <a:tailEnd type="none"/>
          </a:ln>
        </p:spPr>
      </p:sp>
      <p:sp>
        <p:nvSpPr>
          <p:cNvPr id="17" name="Shape 14"/>
          <p:cNvSpPr/>
          <p:nvPr/>
        </p:nvSpPr>
        <p:spPr>
          <a:xfrm>
            <a:off x="4067175" y="468185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Dataset and Problem Statement</a:t>
            </a:r>
            <a:endParaRPr lang="en-US" sz="1600" dirty="0"/>
          </a:p>
        </p:txBody>
      </p:sp>
      <p:sp>
        <p:nvSpPr>
          <p:cNvPr id="19" name="Text 16"/>
          <p:cNvSpPr/>
          <p:nvPr/>
        </p:nvSpPr>
        <p:spPr>
          <a:xfrm>
            <a:off x="4157345" y="195834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dataset used in this case study is a large-scale social network dataset containing user interactions and social connections. The problem statement is to predict potential friendships between users based on their existing connections and interaction patterns. This can help expand the social network and improve user engagement.</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Model Selection and Training</a:t>
            </a:r>
            <a:endParaRPr lang="en-US" sz="1600" dirty="0"/>
          </a:p>
        </p:txBody>
      </p:sp>
      <p:sp>
        <p:nvSpPr>
          <p:cNvPr id="21" name="Text 18"/>
          <p:cNvSpPr/>
          <p:nvPr/>
        </p:nvSpPr>
        <p:spPr>
          <a:xfrm>
            <a:off x="4038600" y="3295015"/>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We selected a Graph Convolutional Network (GCN) for this task due to its effectiveness in capturing local neighborhood information. The GCN model was trained on the social network dataset using node features such as user profiles and interaction history. The training process involved optimizing the model parameters to minimize the prediction error.</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Results and Analysis</a:t>
            </a:r>
            <a:endParaRPr lang="en-US" sz="1600" dirty="0"/>
          </a:p>
        </p:txBody>
      </p:sp>
      <p:sp>
        <p:nvSpPr>
          <p:cNvPr id="23" name="Text 20"/>
          <p:cNvSpPr/>
          <p:nvPr/>
        </p:nvSpPr>
        <p:spPr>
          <a:xfrm>
            <a:off x="4038600" y="500126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GCN model achieved high accuracy in predicting potential friendships. It was able to identify users with similar interests and interaction patterns, leading to accurate friendship recommendations. The results demonstrate the power of GNNs in social network analysis and their ability to capture complex relationships between users.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Molecular Chemistry Case Study</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4260" y="344487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3625" y="3775710"/>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735" y="3375660"/>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5207000"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Dataset and Problem Statement</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dataset consists of molecular structures and their corresponding properties. The problem statement is to predict the stability of molecules based on their graph representations. This is crucial for drug discovery and material science applications, as stable molecules are more likely to be effective and safe.</a:t>
            </a:r>
            <a:endParaRPr lang="en-US" sz="1600" dirty="0"/>
          </a:p>
        </p:txBody>
      </p:sp>
      <p:sp>
        <p:nvSpPr>
          <p:cNvPr id="23" name="Text 20"/>
          <p:cNvSpPr/>
          <p:nvPr/>
        </p:nvSpPr>
        <p:spPr>
          <a:xfrm>
            <a:off x="4967605" y="3582670"/>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Model Selection and Training</a:t>
            </a:r>
            <a:endParaRPr lang="en-US" sz="1600" dirty="0"/>
          </a:p>
        </p:txBody>
      </p:sp>
      <p:sp>
        <p:nvSpPr>
          <p:cNvPr id="24" name="Text 21"/>
          <p:cNvSpPr/>
          <p:nvPr/>
        </p:nvSpPr>
        <p:spPr>
          <a:xfrm>
            <a:off x="8418195" y="3582670"/>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Results and Analysis</a:t>
            </a:r>
            <a:endParaRPr lang="en-US" sz="1600" dirty="0"/>
          </a:p>
        </p:txBody>
      </p:sp>
      <p:sp>
        <p:nvSpPr>
          <p:cNvPr id="25" name="Text 22"/>
          <p:cNvSpPr/>
          <p:nvPr/>
        </p:nvSpPr>
        <p:spPr>
          <a:xfrm>
            <a:off x="5048250" y="3828415"/>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 Graph Attention Network (GAT) was chosen for this task due to its ability to assign different importance weights to neighboring atoms. The GAT model was trained on the molecular dataset using atom features and bond types. The training process involved learning the relationships between atoms and predicting molecular stability with high accuracy.</a:t>
            </a:r>
            <a:endParaRPr lang="en-US" sz="1600" dirty="0"/>
          </a:p>
        </p:txBody>
      </p:sp>
      <p:sp>
        <p:nvSpPr>
          <p:cNvPr id="26" name="Text 23"/>
          <p:cNvSpPr/>
          <p:nvPr/>
        </p:nvSpPr>
        <p:spPr>
          <a:xfrm>
            <a:off x="8418195" y="3954780"/>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GAT model showed excellent performance in predicting molecular stability. It was able to capture the complex interactions between atoms and identify key structural features that contribute to stability. The results highlight the potential of GNNs in molecular chemistry and their ability to model complex molecular structures.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Recommendation System Case Study</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custDataLst>
              <p:tags r:id="rId2"/>
            </p:custDataLst>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custDataLst>
              <p:tags r:id="rId5"/>
            </p:custDataLst>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custDataLst>
              <p:tags r:id="rId6"/>
            </p:custDataLst>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custDataLst>
              <p:tags r:id="rId7"/>
            </p:custDataLst>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custDataLst>
              <p:tags r:id="rId8"/>
            </p:custDataLst>
          </p:nvPr>
        </p:nvSpPr>
        <p:spPr>
          <a:xfrm>
            <a:off x="2552868" y="2907327"/>
            <a:ext cx="726482" cy="584775"/>
          </a:xfrm>
          <a:prstGeom prst="rect">
            <a:avLst/>
          </a:prstGeom>
          <a:solidFill>
            <a:srgbClr val="000000">
              <a:alpha val="0"/>
            </a:srgbClr>
          </a:solidFill>
        </p:spPr>
      </p:sp>
      <p:sp>
        <p:nvSpPr>
          <p:cNvPr id="25" name="Text 22"/>
          <p:cNvSpPr/>
          <p:nvPr>
            <p:custDataLst>
              <p:tags r:id="rId9"/>
            </p:custDataLst>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custDataLst>
              <p:tags r:id="rId10"/>
            </p:custDataLst>
          </p:nvPr>
        </p:nvSpPr>
        <p:spPr>
          <a:xfrm>
            <a:off x="5722788" y="2907327"/>
            <a:ext cx="726482" cy="584775"/>
          </a:xfrm>
          <a:prstGeom prst="rect">
            <a:avLst/>
          </a:prstGeom>
          <a:solidFill>
            <a:srgbClr val="000000">
              <a:alpha val="0"/>
            </a:srgbClr>
          </a:solidFill>
        </p:spPr>
      </p:sp>
      <p:sp>
        <p:nvSpPr>
          <p:cNvPr id="27" name="Text 24"/>
          <p:cNvSpPr/>
          <p:nvPr>
            <p:custDataLst>
              <p:tags r:id="rId11"/>
            </p:custDataLst>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custDataLst>
              <p:tags r:id="rId12"/>
            </p:custDataLst>
          </p:nvPr>
        </p:nvSpPr>
        <p:spPr>
          <a:xfrm>
            <a:off x="8912650" y="2907327"/>
            <a:ext cx="726482" cy="584775"/>
          </a:xfrm>
          <a:prstGeom prst="rect">
            <a:avLst/>
          </a:prstGeom>
          <a:solidFill>
            <a:srgbClr val="000000">
              <a:alpha val="0"/>
            </a:srgbClr>
          </a:solidFill>
        </p:spPr>
      </p:sp>
      <p:sp>
        <p:nvSpPr>
          <p:cNvPr id="29" name="Text 26"/>
          <p:cNvSpPr/>
          <p:nvPr>
            <p:custDataLst>
              <p:tags r:id="rId13"/>
            </p:custDataLst>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custDataLst>
              <p:tags r:id="rId14"/>
            </p:custDataLst>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Dataset and Problem Statement</a:t>
            </a:r>
            <a:endParaRPr lang="en-US" sz="1600" dirty="0"/>
          </a:p>
        </p:txBody>
      </p:sp>
      <p:sp>
        <p:nvSpPr>
          <p:cNvPr id="31" name="Text 28"/>
          <p:cNvSpPr/>
          <p:nvPr>
            <p:custDataLst>
              <p:tags r:id="rId15"/>
            </p:custDataLst>
          </p:nvPr>
        </p:nvSpPr>
        <p:spPr>
          <a:xfrm>
            <a:off x="1408430" y="4283075"/>
            <a:ext cx="2872740" cy="2172692"/>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dataset is a user-item interaction dataset from an e-commerce platform. The problem statement is to provide personalized product recommendations to users based on their historical interactions and preferences. This can improve user satisfaction and increase sales for the platform.</a:t>
            </a:r>
            <a:endParaRPr lang="en-US" sz="1600" dirty="0"/>
          </a:p>
        </p:txBody>
      </p:sp>
      <p:sp>
        <p:nvSpPr>
          <p:cNvPr id="32" name="Text 29"/>
          <p:cNvSpPr/>
          <p:nvPr>
            <p:custDataLst>
              <p:tags r:id="rId16"/>
            </p:custDataLst>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Model Selection and Training</a:t>
            </a:r>
            <a:endParaRPr lang="en-US" sz="1600" dirty="0"/>
          </a:p>
        </p:txBody>
      </p:sp>
      <p:sp>
        <p:nvSpPr>
          <p:cNvPr id="33" name="Text 30"/>
          <p:cNvSpPr/>
          <p:nvPr>
            <p:custDataLst>
              <p:tags r:id="rId17"/>
            </p:custDataLst>
          </p:nvPr>
        </p:nvSpPr>
        <p:spPr>
          <a:xfrm>
            <a:off x="4708525" y="4157345"/>
            <a:ext cx="2872740"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 Graph Neural Network-based recommendation model was developed. The model represented users and items as nodes in a graph and used user-item interactions as edges. The model was trained using collaborative filtering techniques and node features such as user profiles and item attributes. The training process involved optimizing the model to minimize the recommendation error.</a:t>
            </a:r>
            <a:endParaRPr lang="en-US" sz="1600" dirty="0"/>
          </a:p>
        </p:txBody>
      </p:sp>
      <p:sp>
        <p:nvSpPr>
          <p:cNvPr id="34" name="Text 31"/>
          <p:cNvSpPr/>
          <p:nvPr>
            <p:custDataLst>
              <p:tags r:id="rId18"/>
            </p:custDataLst>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Results and Analysis</a:t>
            </a:r>
            <a:endParaRPr lang="en-US" sz="1600" dirty="0"/>
          </a:p>
        </p:txBody>
      </p:sp>
      <p:sp>
        <p:nvSpPr>
          <p:cNvPr id="35" name="Text 32"/>
          <p:cNvSpPr/>
          <p:nvPr>
            <p:custDataLst>
              <p:tags r:id="rId19"/>
            </p:custDataLst>
          </p:nvPr>
        </p:nvSpPr>
        <p:spPr>
          <a:xfrm>
            <a:off x="8229600" y="4282440"/>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GNN-based recommendation model outperformed traditional recommendation algorithms. It was able to capture the complex relationships between users and items, leading to more accurate and personalized recommendations. The results demonstrate the effectiveness of GNNs in recommendation systems and their ability to model user-item interactions.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7" name="Text 3"/>
          <p:cNvSpPr/>
          <p:nvPr/>
        </p:nvSpPr>
        <p:spPr>
          <a:xfrm>
            <a:off x="5979795" y="3223895"/>
            <a:ext cx="4779645" cy="2944217"/>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Analysis and Evaluation of Graph Neural Networks</a:t>
            </a:r>
            <a:endParaRPr lang="en-US" sz="1600" dirty="0"/>
          </a:p>
        </p:txBody>
      </p:sp>
      <p:sp>
        <p:nvSpPr>
          <p:cNvPr id="8" name="Text 4"/>
          <p:cNvSpPr/>
          <p:nvPr/>
        </p:nvSpPr>
        <p:spPr>
          <a:xfrm>
            <a:off x="649605" y="269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Performance Metrics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763770" y="3375660"/>
            <a:ext cx="3309620" cy="312864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95850" y="359346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457575" cy="322707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Accuracy and Precision</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Accuracy measures the proportion of correctly predicted instances out of all predictions. Precision focuses on the proportion of true positives among all positive predictions. These metrics are commonly used to evaluate the performance of GNNs in classification tasks, such as node classification and graph classification.</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519170"/>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Recall and F1 Score</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Mean Squared Error (MSE)</a:t>
            </a:r>
            <a:endParaRPr lang="en-US" sz="1600" dirty="0"/>
          </a:p>
        </p:txBody>
      </p:sp>
      <p:sp>
        <p:nvSpPr>
          <p:cNvPr id="25" name="Text 22"/>
          <p:cNvSpPr/>
          <p:nvPr/>
        </p:nvSpPr>
        <p:spPr>
          <a:xfrm>
            <a:off x="5048250" y="3828415"/>
            <a:ext cx="2872740" cy="2829719"/>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Recall measures the proportion of true positives among all actual positives. The F1 score is the harmonic mean of precision and recall, providing a balanced measure of model performance. These metrics are important for evaluating the completeness of predictions and are particularly useful in imbalanced datasets.</a:t>
            </a:r>
            <a:endParaRPr lang="en-US" sz="1600" dirty="0"/>
          </a:p>
        </p:txBody>
      </p:sp>
      <p:sp>
        <p:nvSpPr>
          <p:cNvPr id="26" name="Text 23"/>
          <p:cNvSpPr/>
          <p:nvPr/>
        </p:nvSpPr>
        <p:spPr>
          <a:xfrm>
            <a:off x="8418195" y="3954780"/>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Mean Squared Error (MSE) is used to evaluate the performance of GNNs in regression tasks, such as predicting molecular properties or time-series values. It measures the average squared difference between predicted and actual values, providing a quantitative measure of prediction accuracy.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Performance Metrics</a:t>
            </a:r>
            <a:endParaRPr lang="en-US" sz="1600" dirty="0"/>
          </a:p>
        </p:txBody>
      </p:sp>
      <p:pic>
        <p:nvPicPr>
          <p:cNvPr id="27" name="图片 26"/>
          <p:cNvPicPr>
            <a:picLocks noChangeAspect="1"/>
          </p:cNvPicPr>
          <p:nvPr/>
        </p:nvPicPr>
        <p:blipFill>
          <a:blip r:embed="rId1"/>
          <a:stretch>
            <a:fillRect/>
          </a:stretch>
        </p:blipFill>
        <p:spPr>
          <a:xfrm>
            <a:off x="2022475" y="1154430"/>
            <a:ext cx="8028940" cy="51219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Evaluation Methods</a:t>
            </a:r>
            <a:endParaRPr lang="en-US" sz="1600" dirty="0"/>
          </a:p>
        </p:txBody>
      </p:sp>
      <p:sp>
        <p:nvSpPr>
          <p:cNvPr id="12" name="Shape 9"/>
          <p:cNvSpPr/>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Cross-Validation</a:t>
            </a:r>
            <a:endParaRPr lang="en-US" sz="1600" dirty="0"/>
          </a:p>
        </p:txBody>
      </p:sp>
      <p:sp>
        <p:nvSpPr>
          <p:cNvPr id="22" name="Text 19"/>
          <p:cNvSpPr/>
          <p:nvPr/>
        </p:nvSpPr>
        <p:spPr>
          <a:xfrm>
            <a:off x="4210685" y="1703070"/>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Cross-validation is a widely used evaluation method for GNNs. It involves splitting the dataset into multiple folds and training the model on different subsets while validating on the remaining data. This helps assess the model's generalization ability and provides a more reliable performance estimate.</a:t>
            </a:r>
            <a:endParaRPr lang="en-US" sz="1600" dirty="0"/>
          </a:p>
        </p:txBody>
      </p:sp>
      <p:sp>
        <p:nvSpPr>
          <p:cNvPr id="23" name="Text 20"/>
          <p:cNvSpPr/>
          <p:nvPr/>
        </p:nvSpPr>
        <p:spPr>
          <a:xfrm>
            <a:off x="4027170" y="5546725"/>
            <a:ext cx="6839585"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Ablation studies involve removing or modifying certain components of the GNN model to understand their impact on performance. This helps identify the key factors contributing to the model's effectiveness and provides insights into model design and optimization.</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Ablation Studies</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Train-Test Split</a:t>
            </a:r>
            <a:endParaRPr lang="en-US" sz="1600" dirty="0"/>
          </a:p>
        </p:txBody>
      </p:sp>
      <p:sp>
        <p:nvSpPr>
          <p:cNvPr id="26" name="Text 23"/>
          <p:cNvSpPr/>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Train-test split is another common evaluation method. The dataset is divided into training and testing sets, with the model trained on the training set and evaluated on the testing set. This method provides a straightforward way to assess the model's performance on unseen data.</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Challenges and Limitations</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542415"/>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38600" y="3180715"/>
            <a:ext cx="7560310" cy="0"/>
          </a:xfrm>
          <a:prstGeom prst="line">
            <a:avLst/>
          </a:prstGeom>
          <a:noFill/>
          <a:ln w="12700">
            <a:solidFill>
              <a:srgbClr val="9FB26A"/>
            </a:solidFill>
            <a:prstDash val="dash"/>
            <a:headEnd type="none"/>
            <a:tailEnd type="none"/>
          </a:ln>
        </p:spPr>
      </p:sp>
      <p:sp>
        <p:nvSpPr>
          <p:cNvPr id="17" name="Shape 14"/>
          <p:cNvSpPr/>
          <p:nvPr/>
        </p:nvSpPr>
        <p:spPr>
          <a:xfrm>
            <a:off x="4095750" y="4682490"/>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Scalability</a:t>
            </a:r>
            <a:endParaRPr lang="en-US" sz="1600" dirty="0"/>
          </a:p>
        </p:txBody>
      </p:sp>
      <p:sp>
        <p:nvSpPr>
          <p:cNvPr id="19" name="Text 16"/>
          <p:cNvSpPr/>
          <p:nvPr/>
        </p:nvSpPr>
        <p:spPr>
          <a:xfrm>
            <a:off x="4067175" y="195834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One of the main challenges of GNNs is scalability. As the size of the graph increases, the computational complexity and memory requirements of GNNs can become prohibitive. This limits their application to large-scale datasets and requires the development of more efficient algorithms and techniques.</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Overfitting</a:t>
            </a:r>
            <a:endParaRPr lang="en-US" sz="1600" dirty="0"/>
          </a:p>
        </p:txBody>
      </p:sp>
      <p:sp>
        <p:nvSpPr>
          <p:cNvPr id="21" name="Text 18"/>
          <p:cNvSpPr/>
          <p:nvPr/>
        </p:nvSpPr>
        <p:spPr>
          <a:xfrm>
            <a:off x="4067175" y="344932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GNNs are prone to overfitting, especially when the graph structure is complex or the dataset is small. Overfitting occurs when the model learns to fit the training data too closely, resulting in poor generalization to unseen data. Regularization techniques and data augmentation methods are often used to address this issue.</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Interpretability</a:t>
            </a:r>
            <a:endParaRPr lang="en-US" sz="1600" dirty="0"/>
          </a:p>
        </p:txBody>
      </p:sp>
      <p:sp>
        <p:nvSpPr>
          <p:cNvPr id="23" name="Text 20"/>
          <p:cNvSpPr/>
          <p:nvPr/>
        </p:nvSpPr>
        <p:spPr>
          <a:xfrm>
            <a:off x="4038600" y="500126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Another limitation of GNNs is their lack of interpretability. The complex interactions and dependencies captured by GNNs can make it difficult to understand the reasoning behind their predictions. Developing interpretable GNN models is an active area of research, aiming to provide insights into the decision-making process.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7" name="Text 3"/>
          <p:cNvSpPr/>
          <p:nvPr/>
        </p:nvSpPr>
        <p:spPr>
          <a:xfrm>
            <a:off x="5979795" y="3223895"/>
            <a:ext cx="4779645" cy="7683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GNN for NLP</a:t>
            </a:r>
            <a:endParaRPr lang="en-US" sz="4400" b="1" dirty="0">
              <a:solidFill>
                <a:srgbClr val="000000"/>
              </a:solidFill>
              <a:latin typeface="MiSans" pitchFamily="34" charset="-122"/>
              <a:ea typeface="MiSans" pitchFamily="34" charset="-122"/>
              <a:cs typeface="MiSans"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GCN for Semantic Roles Labeling</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图片 15"/>
          <p:cNvPicPr>
            <a:picLocks noChangeAspect="1"/>
          </p:cNvPicPr>
          <p:nvPr/>
        </p:nvPicPr>
        <p:blipFill>
          <a:blip r:embed="rId1"/>
          <a:stretch>
            <a:fillRect/>
          </a:stretch>
        </p:blipFill>
        <p:spPr>
          <a:xfrm>
            <a:off x="431800" y="1180465"/>
            <a:ext cx="11301730" cy="50209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GCN for Semantic Roles Labeling</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 name="图片 1"/>
          <p:cNvPicPr>
            <a:picLocks noChangeAspect="1"/>
          </p:cNvPicPr>
          <p:nvPr/>
        </p:nvPicPr>
        <p:blipFill>
          <a:blip r:embed="rId1"/>
          <a:stretch>
            <a:fillRect/>
          </a:stretch>
        </p:blipFill>
        <p:spPr>
          <a:xfrm>
            <a:off x="1593850" y="1767840"/>
            <a:ext cx="5550535" cy="3939540"/>
          </a:xfrm>
          <a:prstGeom prst="rect">
            <a:avLst/>
          </a:prstGeom>
        </p:spPr>
      </p:pic>
      <p:pic>
        <p:nvPicPr>
          <p:cNvPr id="15" name="图片 14"/>
          <p:cNvPicPr>
            <a:picLocks noChangeAspect="1"/>
          </p:cNvPicPr>
          <p:nvPr/>
        </p:nvPicPr>
        <p:blipFill>
          <a:blip r:embed="rId2"/>
          <a:stretch>
            <a:fillRect/>
          </a:stretch>
        </p:blipFill>
        <p:spPr>
          <a:xfrm>
            <a:off x="7654925" y="479425"/>
            <a:ext cx="3550285" cy="6217285"/>
          </a:xfrm>
          <a:prstGeom prst="rect">
            <a:avLst/>
          </a:prstGeom>
        </p:spPr>
      </p:pic>
      <p:pic>
        <p:nvPicPr>
          <p:cNvPr id="17" name="图片 16"/>
          <p:cNvPicPr>
            <a:picLocks noChangeAspect="1"/>
          </p:cNvPicPr>
          <p:nvPr/>
        </p:nvPicPr>
        <p:blipFill>
          <a:blip r:embed="rId3"/>
          <a:stretch>
            <a:fillRect/>
          </a:stretch>
        </p:blipFill>
        <p:spPr>
          <a:xfrm>
            <a:off x="4215130" y="2712720"/>
            <a:ext cx="509905" cy="584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06</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Future Trends and Developments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Research Directions</a:t>
            </a:r>
            <a:endParaRPr lang="en-US" sz="1600" dirty="0"/>
          </a:p>
        </p:txBody>
      </p:sp>
      <p:sp>
        <p:nvSpPr>
          <p:cNvPr id="12" name="Shape 9"/>
          <p:cNvSpPr/>
          <p:nvPr>
            <p:custDataLst>
              <p:tags r:id="rId2"/>
            </p:custDataLst>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5"/>
            </p:custDataLst>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6"/>
            </p:custDataLst>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7"/>
            </p:custDataLst>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8"/>
            </p:custDataLst>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Graph Neural Network Architectures</a:t>
            </a:r>
            <a:endParaRPr lang="en-US" sz="1600" dirty="0"/>
          </a:p>
        </p:txBody>
      </p:sp>
      <p:sp>
        <p:nvSpPr>
          <p:cNvPr id="22" name="Text 19"/>
          <p:cNvSpPr/>
          <p:nvPr>
            <p:custDataLst>
              <p:tags r:id="rId9"/>
            </p:custDataLst>
          </p:nvPr>
        </p:nvSpPr>
        <p:spPr>
          <a:xfrm>
            <a:off x="4210685" y="1703070"/>
            <a:ext cx="68389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Future research will focus on developing more advanced and efficient GNN architectures. This includes exploring new types of GNNs, such as hierarchical GNNs and multi-scale GNNs, to capture more complex graph structures and relationships. The goal is to improve the performance and scalability of GNNs for various applications.</a:t>
            </a:r>
            <a:endParaRPr lang="en-US" sz="1600" dirty="0"/>
          </a:p>
        </p:txBody>
      </p:sp>
      <p:sp>
        <p:nvSpPr>
          <p:cNvPr id="23" name="Text 20"/>
          <p:cNvSpPr/>
          <p:nvPr>
            <p:custDataLst>
              <p:tags r:id="rId10"/>
            </p:custDataLst>
          </p:nvPr>
        </p:nvSpPr>
        <p:spPr>
          <a:xfrm>
            <a:off x="4027805" y="5357495"/>
            <a:ext cx="683958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GNNs will continue to be applied to new domains and applications. This includes areas such as healthcare, finance, and natural language processing. For example, GNNs can be used for disease prediction, fraud detection, and text classification. The development of domain-specific GNN models and techniques will be a key focus.</a:t>
            </a:r>
            <a:endParaRPr lang="en-US" sz="1600" dirty="0"/>
          </a:p>
        </p:txBody>
      </p:sp>
      <p:sp>
        <p:nvSpPr>
          <p:cNvPr id="24" name="Text 21"/>
          <p:cNvSpPr/>
          <p:nvPr>
            <p:custDataLst>
              <p:tags r:id="rId11"/>
            </p:custDataLst>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Applications and Domains</a:t>
            </a:r>
            <a:endParaRPr lang="en-US" sz="1600" dirty="0"/>
          </a:p>
        </p:txBody>
      </p:sp>
      <p:sp>
        <p:nvSpPr>
          <p:cNvPr id="25" name="Text 22"/>
          <p:cNvSpPr/>
          <p:nvPr>
            <p:custDataLst>
              <p:tags r:id="rId12"/>
            </p:custDataLst>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Graph Representation Learning</a:t>
            </a:r>
            <a:endParaRPr lang="en-US" sz="1600" dirty="0"/>
          </a:p>
        </p:txBody>
      </p:sp>
      <p:sp>
        <p:nvSpPr>
          <p:cNvPr id="26" name="Text 23"/>
          <p:cNvSpPr/>
          <p:nvPr>
            <p:custDataLst>
              <p:tags r:id="rId13"/>
            </p:custDataLst>
          </p:nvPr>
        </p:nvSpPr>
        <p:spPr>
          <a:xfrm>
            <a:off x="4859020" y="3758565"/>
            <a:ext cx="68389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Graph representation learning is an important research direction. It involves learning meaningful and compact representations of graphs that can be used for various downstream tasks. Techniques such as graph embeddings and graph autoencoders will be further developed to improve the quality and interpretability of graph representations.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Practical Considerations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62000" y="4594860"/>
            <a:ext cx="10694670" cy="1788160"/>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Data collection and preprocessing are crucial for the success of GNN applications. High-quality and representative datasets are needed to train effective GNN models. Future work will involve developing better data collection methods and preprocessing techniques to handle the unique challenges of graph data, such as noise and missing values.</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Implementation and Tools</a:t>
            </a:r>
            <a:endParaRPr lang="en-US" sz="1600" dirty="0"/>
          </a:p>
        </p:txBody>
      </p:sp>
      <p:sp>
        <p:nvSpPr>
          <p:cNvPr id="21" name="Text 19"/>
          <p:cNvSpPr/>
          <p:nvPr/>
        </p:nvSpPr>
        <p:spPr>
          <a:xfrm>
            <a:off x="929005" y="198374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Practical implementation of GNNs requires efficient and user-friendly tools and frameworks. Popular deep learning frameworks such as PyTorch and TensorFlow have started to support GNN operations. Future developments will focus on improving the ease of use and performance of these tools, making GNNs more accessible to researchers and practitioners.</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Data Collection and Preprocessing</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Deployment and Integration</a:t>
            </a:r>
            <a:endParaRPr lang="en-US" sz="1600" dirty="0"/>
          </a:p>
        </p:txBody>
      </p:sp>
      <p:sp>
        <p:nvSpPr>
          <p:cNvPr id="24" name="Text 22"/>
          <p:cNvSpPr/>
          <p:nvPr/>
        </p:nvSpPr>
        <p:spPr>
          <a:xfrm>
            <a:off x="929005" y="538670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Deploying GNN models in real-world applications requires seamless integration with existing systems and workflows. This involves addressing issues such as model deployment, inference speed, and compatibility with other technologies. Future developments will focus on making GNNs more deployable and integrable, enabling their widespread adoption.</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07</a:t>
            </a:r>
            <a:endParaRPr lang="en-US" sz="1600" dirty="0"/>
          </a:p>
        </p:txBody>
      </p:sp>
      <p:sp>
        <p:nvSpPr>
          <p:cNvPr id="7" name="Text 3"/>
          <p:cNvSpPr/>
          <p:nvPr/>
        </p:nvSpPr>
        <p:spPr>
          <a:xfrm>
            <a:off x="5979795" y="3223895"/>
            <a:ext cx="4779645" cy="683617"/>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Conclusion</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154035" y="3274695"/>
            <a:ext cx="3296285" cy="33039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71720"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Overview of Graph Neural Networks</a:t>
            </a:r>
            <a:endParaRPr lang="en-US" sz="1600" dirty="0"/>
          </a:p>
        </p:txBody>
      </p:sp>
      <p:sp>
        <p:nvSpPr>
          <p:cNvPr id="21" name="Text 18"/>
          <p:cNvSpPr/>
          <p:nvPr/>
        </p:nvSpPr>
        <p:spPr>
          <a:xfrm>
            <a:off x="4802505" y="1946275"/>
            <a:ext cx="6647815"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Graph Neural Networks (GNNs) are powerful tools for modeling graph-structured data. They can capture complex relationships and dependencies in the data, making them suitable for a wide range of applications.</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Case Studies and Applications</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Analysis and Future Trends</a:t>
            </a:r>
            <a:endParaRPr lang="en-US" sz="1600" dirty="0"/>
          </a:p>
        </p:txBody>
      </p:sp>
      <p:sp>
        <p:nvSpPr>
          <p:cNvPr id="25" name="Text 22"/>
          <p:cNvSpPr/>
          <p:nvPr/>
        </p:nvSpPr>
        <p:spPr>
          <a:xfrm>
            <a:off x="5048250" y="382841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Through case studies in social network analysis, molecular chemistry, and recommendation systems, we demonstrated the effectiveness of GNNs in solving real-world problems. GNNs achieved high performance in tasks such as friendship prediction, molecular stability prediction, and personalized recommendations.</a:t>
            </a:r>
            <a:endParaRPr lang="en-US" sz="1600" dirty="0"/>
          </a:p>
        </p:txBody>
      </p:sp>
      <p:sp>
        <p:nvSpPr>
          <p:cNvPr id="26" name="Text 23"/>
          <p:cNvSpPr/>
          <p:nvPr/>
        </p:nvSpPr>
        <p:spPr>
          <a:xfrm>
            <a:off x="8418195" y="3954780"/>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We analyzed the performance metrics, evaluation methods, and challenges of GNNs. Future trends include the development of advanced GNN architectures, graph representation learning techniques, and applications in new domains. Practical considerations such as implementation tools, data preprocessing, and deployment will also be important.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Work and Recommendations</a:t>
            </a:r>
            <a:endParaRPr lang="en-US" sz="1600" dirty="0"/>
          </a:p>
        </p:txBody>
      </p:sp>
      <p:sp>
        <p:nvSpPr>
          <p:cNvPr id="12" name="Shape 9"/>
          <p:cNvSpPr/>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Research and Development</a:t>
            </a:r>
            <a:endParaRPr lang="en-US" sz="1600" dirty="0"/>
          </a:p>
        </p:txBody>
      </p:sp>
      <p:sp>
        <p:nvSpPr>
          <p:cNvPr id="22" name="Text 19"/>
          <p:cNvSpPr/>
          <p:nvPr/>
        </p:nvSpPr>
        <p:spPr>
          <a:xfrm>
            <a:off x="4210685" y="1703070"/>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Future work should focus on addressing the challenges of GNNs, such as scalability, overfitting, and interpretability. Developing more efficient algorithms, regularization techniques, and interpretable models will be crucial for the advancement of GNN research.</a:t>
            </a:r>
            <a:endParaRPr lang="en-US" sz="1600" dirty="0"/>
          </a:p>
        </p:txBody>
      </p:sp>
      <p:sp>
        <p:nvSpPr>
          <p:cNvPr id="23" name="Text 20"/>
          <p:cNvSpPr/>
          <p:nvPr/>
        </p:nvSpPr>
        <p:spPr>
          <a:xfrm>
            <a:off x="4027170" y="5546725"/>
            <a:ext cx="6839585"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Building a strong community and fostering collaboration among researchers, developers, and practitioners will be essential for the growth and development of GNNs. Sharing knowledge, resources, and best practices will accelerate the progress and adoption of GNNs in various fields.</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Community and Collaboration</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Practical Applications</a:t>
            </a:r>
            <a:endParaRPr lang="en-US" sz="1600" dirty="0"/>
          </a:p>
        </p:txBody>
      </p:sp>
      <p:sp>
        <p:nvSpPr>
          <p:cNvPr id="26" name="Text 23"/>
          <p:cNvSpPr/>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In practical applications, it is important to carefully select and preprocess the data, choose appropriate GNN models, and evaluate their performance rigorously. Collaboration between researchers and practitioners will help bridge the gap between theoretical research and real-world applications.</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3175" y="0"/>
            <a:ext cx="12188825" cy="6857365"/>
          </a:xfrm>
          <a:prstGeom prst="rect">
            <a:avLst/>
          </a:prstGeom>
        </p:spPr>
      </p:pic>
      <p:sp>
        <p:nvSpPr>
          <p:cNvPr id="6" name="Text 3"/>
          <p:cNvSpPr/>
          <p:nvPr/>
        </p:nvSpPr>
        <p:spPr>
          <a:xfrm>
            <a:off x="2715260" y="33185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406.75,&quot;left&quot;:469.27417322834646,&quot;top&quot;:108.9,&quot;width&quot;:410.97582677165354}"/>
</p:tagLst>
</file>

<file path=ppt/tags/tag2.xml><?xml version="1.0" encoding="utf-8"?>
<p:tagLst xmlns:p="http://schemas.openxmlformats.org/presentationml/2006/main">
  <p:tag name="KSO_WM_DIAGRAM_VIRTUALLY_FRAME" val="{&quot;height&quot;:406.75,&quot;left&quot;:469.27417322834646,&quot;top&quot;:108.9,&quot;width&quot;:410.97582677165354}"/>
</p:tagLst>
</file>

<file path=ppt/tags/tag3.xml><?xml version="1.0" encoding="utf-8"?>
<p:tagLst xmlns:p="http://schemas.openxmlformats.org/presentationml/2006/main">
  <p:tag name="KSO_WM_DIAGRAM_VIRTUALLY_FRAME" val="{&quot;height&quot;:406.75,&quot;left&quot;:469.27417322834646,&quot;top&quot;:108.9,&quot;width&quot;:410.97582677165354}"/>
</p:tagLst>
</file>

<file path=ppt/tags/tag4.xml><?xml version="1.0" encoding="utf-8"?>
<p:tagLst xmlns:p="http://schemas.openxmlformats.org/presentationml/2006/main">
  <p:tag name="KSO_WM_DIAGRAM_VIRTUALLY_FRAME" val="{&quot;height&quot;:406.75,&quot;left&quot;:469.27417322834646,&quot;top&quot;:108.9,&quot;width&quot;:410.97582677165354}"/>
</p:tagLst>
</file>

<file path=ppt/tags/tag5.xml><?xml version="1.0" encoding="utf-8"?>
<p:tagLst xmlns:p="http://schemas.openxmlformats.org/presentationml/2006/main">
  <p:tag name="KSO_WM_DIAGRAM_VIRTUALLY_FRAME" val="{&quot;height&quot;:406.75,&quot;left&quot;:469.27417322834646,&quot;top&quot;:108.9,&quot;width&quot;:410.97582677165354}"/>
</p:tagLst>
</file>

<file path=ppt/tags/tag6.xml><?xml version="1.0" encoding="utf-8"?>
<p:tagLst xmlns:p="http://schemas.openxmlformats.org/presentationml/2006/main">
  <p:tag name="KSO_WM_DIAGRAM_VIRTUALLY_FRAME" val="{&quot;height&quot;:406.75,&quot;left&quot;:469.27417322834646,&quot;top&quot;:108.9,&quot;width&quot;:410.97582677165354}"/>
</p:tagLst>
</file>

<file path=ppt/tags/tag7.xml><?xml version="1.0" encoding="utf-8"?>
<p:tagLst xmlns:p="http://schemas.openxmlformats.org/presentationml/2006/main">
  <p:tag name="KSO_WM_DIAGRAM_VIRTUALLY_FRAME" val="{&quot;height&quot;:406.75,&quot;left&quot;:469.27417322834646,&quot;top&quot;:108.9,&quot;width&quot;:410.97582677165354}"/>
</p:tagLst>
</file>

<file path=ppt/tags/tag8.xml><?xml version="1.0" encoding="utf-8"?>
<p:tagLst xmlns:p="http://schemas.openxmlformats.org/presentationml/2006/main">
  <p:tag name="KSO_WM_DIAGRAM_VIRTUALLY_FRAME" val="{&quot;height&quot;:406.75,&quot;left&quot;:469.27417322834646,&quot;top&quot;:108.9,&quot;width&quot;:410.97582677165354}"/>
</p:tagLst>
</file>

<file path=ppt/tags/tag9.xml><?xml version="1.0" encoding="utf-8"?>
<p:tagLst xmlns:p="http://schemas.openxmlformats.org/presentationml/2006/main">
  <p:tag name="KSO_WM_DIAGRAM_VIRTUALLY_FRAME" val="{&quot;height&quot;:406.75,&quot;left&quot;:469.27417322834646,&quot;top&quot;:108.9,&quot;width&quot;:410.97582677165354}"/>
</p:tagLst>
</file>

<file path=ppt/tags/tag10.xml><?xml version="1.0" encoding="utf-8"?>
<p:tagLst xmlns:p="http://schemas.openxmlformats.org/presentationml/2006/main">
  <p:tag name="KSO_WM_DIAGRAM_VIRTUALLY_FRAME" val="{&quot;height&quot;:406.75,&quot;left&quot;:469.27417322834646,&quot;top&quot;:108.9,&quot;width&quot;:410.97582677165354}"/>
</p:tagLst>
</file>

<file path=ppt/tags/tag11.xml><?xml version="1.0" encoding="utf-8"?>
<p:tagLst xmlns:p="http://schemas.openxmlformats.org/presentationml/2006/main">
  <p:tag name="KSO_WM_DIAGRAM_VIRTUALLY_FRAME" val="{&quot;height&quot;:406.75,&quot;left&quot;:469.27417322834646,&quot;top&quot;:108.9,&quot;width&quot;:410.97582677165354}"/>
</p:tagLst>
</file>

<file path=ppt/tags/tag12.xml><?xml version="1.0" encoding="utf-8"?>
<p:tagLst xmlns:p="http://schemas.openxmlformats.org/presentationml/2006/main">
  <p:tag name="KSO_WM_DIAGRAM_VIRTUALLY_FRAME" val="{&quot;height&quot;:406.75,&quot;left&quot;:469.27417322834646,&quot;top&quot;:108.9,&quot;width&quot;:410.97582677165354}"/>
</p:tagLst>
</file>

<file path=ppt/tags/tag13.xml><?xml version="1.0" encoding="utf-8"?>
<p:tagLst xmlns:p="http://schemas.openxmlformats.org/presentationml/2006/main">
  <p:tag name="KSO_WM_DIAGRAM_VIRTUALLY_FRAME" val="{&quot;height&quot;:406.75,&quot;left&quot;:469.27417322834646,&quot;top&quot;:108.9,&quot;width&quot;:410.97582677165354}"/>
</p:tagLst>
</file>

<file path=ppt/tags/tag14.xml><?xml version="1.0" encoding="utf-8"?>
<p:tagLst xmlns:p="http://schemas.openxmlformats.org/presentationml/2006/main">
  <p:tag name="KSO_WM_DIAGRAM_VIRTUALLY_FRAME" val="{&quot;height&quot;:385.31110236220474,&quot;left&quot;:108.35,&quot;top&quot;:194.77330708661418,&quot;width&quot;:783.8}"/>
</p:tagLst>
</file>

<file path=ppt/tags/tag15.xml><?xml version="1.0" encoding="utf-8"?>
<p:tagLst xmlns:p="http://schemas.openxmlformats.org/presentationml/2006/main">
  <p:tag name="KSO_WM_DIAGRAM_VIRTUALLY_FRAME" val="{&quot;height&quot;:385.31110236220474,&quot;left&quot;:108.35,&quot;top&quot;:194.77330708661418,&quot;width&quot;:783.8}"/>
</p:tagLst>
</file>

<file path=ppt/tags/tag16.xml><?xml version="1.0" encoding="utf-8"?>
<p:tagLst xmlns:p="http://schemas.openxmlformats.org/presentationml/2006/main">
  <p:tag name="KSO_WM_DIAGRAM_VIRTUALLY_FRAME" val="{&quot;height&quot;:385.31110236220474,&quot;left&quot;:108.35,&quot;top&quot;:194.77330708661418,&quot;width&quot;:783.8}"/>
</p:tagLst>
</file>

<file path=ppt/tags/tag17.xml><?xml version="1.0" encoding="utf-8"?>
<p:tagLst xmlns:p="http://schemas.openxmlformats.org/presentationml/2006/main">
  <p:tag name="KSO_WM_DIAGRAM_VIRTUALLY_FRAME" val="{&quot;height&quot;:385.31110236220474,&quot;left&quot;:108.35,&quot;top&quot;:194.77330708661418,&quot;width&quot;:783.8}"/>
</p:tagLst>
</file>

<file path=ppt/tags/tag18.xml><?xml version="1.0" encoding="utf-8"?>
<p:tagLst xmlns:p="http://schemas.openxmlformats.org/presentationml/2006/main">
  <p:tag name="KSO_WM_DIAGRAM_VIRTUALLY_FRAME" val="{&quot;height&quot;:385.31110236220474,&quot;left&quot;:108.35,&quot;top&quot;:194.77330708661418,&quot;width&quot;:783.8}"/>
</p:tagLst>
</file>

<file path=ppt/tags/tag19.xml><?xml version="1.0" encoding="utf-8"?>
<p:tagLst xmlns:p="http://schemas.openxmlformats.org/presentationml/2006/main">
  <p:tag name="KSO_WM_DIAGRAM_VIRTUALLY_FRAME" val="{&quot;height&quot;:385.31110236220474,&quot;left&quot;:108.35,&quot;top&quot;:194.77330708661418,&quot;width&quot;:783.8}"/>
</p:tagLst>
</file>

<file path=ppt/tags/tag20.xml><?xml version="1.0" encoding="utf-8"?>
<p:tagLst xmlns:p="http://schemas.openxmlformats.org/presentationml/2006/main">
  <p:tag name="KSO_WM_DIAGRAM_VIRTUALLY_FRAME" val="{&quot;height&quot;:385.31110236220474,&quot;left&quot;:108.35,&quot;top&quot;:194.77330708661418,&quot;width&quot;:783.8}"/>
</p:tagLst>
</file>

<file path=ppt/tags/tag21.xml><?xml version="1.0" encoding="utf-8"?>
<p:tagLst xmlns:p="http://schemas.openxmlformats.org/presentationml/2006/main">
  <p:tag name="KSO_WM_DIAGRAM_VIRTUALLY_FRAME" val="{&quot;height&quot;:385.31110236220474,&quot;left&quot;:108.35,&quot;top&quot;:194.77330708661418,&quot;width&quot;:783.8}"/>
</p:tagLst>
</file>

<file path=ppt/tags/tag22.xml><?xml version="1.0" encoding="utf-8"?>
<p:tagLst xmlns:p="http://schemas.openxmlformats.org/presentationml/2006/main">
  <p:tag name="KSO_WM_DIAGRAM_VIRTUALLY_FRAME" val="{&quot;height&quot;:385.31110236220474,&quot;left&quot;:108.35,&quot;top&quot;:194.77330708661418,&quot;width&quot;:783.8}"/>
</p:tagLst>
</file>

<file path=ppt/tags/tag23.xml><?xml version="1.0" encoding="utf-8"?>
<p:tagLst xmlns:p="http://schemas.openxmlformats.org/presentationml/2006/main">
  <p:tag name="KSO_WM_DIAGRAM_VIRTUALLY_FRAME" val="{&quot;height&quot;:385.31110236220474,&quot;left&quot;:108.35,&quot;top&quot;:194.77330708661418,&quot;width&quot;:783.8}"/>
</p:tagLst>
</file>

<file path=ppt/tags/tag24.xml><?xml version="1.0" encoding="utf-8"?>
<p:tagLst xmlns:p="http://schemas.openxmlformats.org/presentationml/2006/main">
  <p:tag name="KSO_WM_DIAGRAM_VIRTUALLY_FRAME" val="{&quot;height&quot;:385.31110236220474,&quot;left&quot;:108.35,&quot;top&quot;:194.77330708661418,&quot;width&quot;:783.8}"/>
</p:tagLst>
</file>

<file path=ppt/tags/tag25.xml><?xml version="1.0" encoding="utf-8"?>
<p:tagLst xmlns:p="http://schemas.openxmlformats.org/presentationml/2006/main">
  <p:tag name="KSO_WM_DIAGRAM_VIRTUALLY_FRAME" val="{&quot;height&quot;:385.31110236220474,&quot;left&quot;:108.35,&quot;top&quot;:194.77330708661418,&quot;width&quot;:783.8}"/>
</p:tagLst>
</file>

<file path=ppt/tags/tag26.xml><?xml version="1.0" encoding="utf-8"?>
<p:tagLst xmlns:p="http://schemas.openxmlformats.org/presentationml/2006/main">
  <p:tag name="KSO_WM_DIAGRAM_VIRTUALLY_FRAME" val="{&quot;height&quot;:385.31110236220474,&quot;left&quot;:108.35,&quot;top&quot;:194.77330708661418,&quot;width&quot;:783.8}"/>
</p:tagLst>
</file>

<file path=ppt/tags/tag27.xml><?xml version="1.0" encoding="utf-8"?>
<p:tagLst xmlns:p="http://schemas.openxmlformats.org/presentationml/2006/main">
  <p:tag name="KSO_WM_DIAGRAM_VIRTUALLY_FRAME" val="{&quot;height&quot;:385.31110236220474,&quot;left&quot;:108.35,&quot;top&quot;:194.77330708661418,&quot;width&quot;:783.8}"/>
</p:tagLst>
</file>

<file path=ppt/tags/tag28.xml><?xml version="1.0" encoding="utf-8"?>
<p:tagLst xmlns:p="http://schemas.openxmlformats.org/presentationml/2006/main">
  <p:tag name="KSO_WM_DIAGRAM_VIRTUALLY_FRAME" val="{&quot;height&quot;:385.31110236220474,&quot;left&quot;:108.35,&quot;top&quot;:194.77330708661418,&quot;width&quot;:783.8}"/>
</p:tagLst>
</file>

<file path=ppt/tags/tag29.xml><?xml version="1.0" encoding="utf-8"?>
<p:tagLst xmlns:p="http://schemas.openxmlformats.org/presentationml/2006/main">
  <p:tag name="KSO_WM_DIAGRAM_VIRTUALLY_FRAME" val="{&quot;height&quot;:385.31110236220474,&quot;left&quot;:108.35,&quot;top&quot;:194.77330708661418,&quot;width&quot;:783.8}"/>
</p:tagLst>
</file>

<file path=ppt/tags/tag30.xml><?xml version="1.0" encoding="utf-8"?>
<p:tagLst xmlns:p="http://schemas.openxmlformats.org/presentationml/2006/main">
  <p:tag name="KSO_WM_DIAGRAM_VIRTUALLY_FRAME" val="{&quot;height&quot;:385.31110236220474,&quot;left&quot;:108.35,&quot;top&quot;:194.77330708661418,&quot;width&quot;:783.8}"/>
</p:tagLst>
</file>

<file path=ppt/tags/tag31.xml><?xml version="1.0" encoding="utf-8"?>
<p:tagLst xmlns:p="http://schemas.openxmlformats.org/presentationml/2006/main">
  <p:tag name="KSO_WM_DIAGRAM_VIRTUALLY_FRAME" val="{&quot;height&quot;:385.31110236220474,&quot;left&quot;:108.35,&quot;top&quot;:194.77330708661418,&quot;width&quot;:783.8}"/>
</p:tagLst>
</file>

<file path=ppt/tags/tag32.xml><?xml version="1.0" encoding="utf-8"?>
<p:tagLst xmlns:p="http://schemas.openxmlformats.org/presentationml/2006/main">
  <p:tag name="KSO_WM_DIAGRAM_VIRTUALLY_FRAME" val="{&quot;height&quot;:451.6968503937008,&quot;left&quot;:221.15,&quot;top&quot;:97.6,&quot;width&quot;:699.95}"/>
</p:tagLst>
</file>

<file path=ppt/tags/tag33.xml><?xml version="1.0" encoding="utf-8"?>
<p:tagLst xmlns:p="http://schemas.openxmlformats.org/presentationml/2006/main">
  <p:tag name="KSO_WM_DIAGRAM_VIRTUALLY_FRAME" val="{&quot;height&quot;:451.6968503937008,&quot;left&quot;:221.15,&quot;top&quot;:97.6,&quot;width&quot;:699.95}"/>
</p:tagLst>
</file>

<file path=ppt/tags/tag34.xml><?xml version="1.0" encoding="utf-8"?>
<p:tagLst xmlns:p="http://schemas.openxmlformats.org/presentationml/2006/main">
  <p:tag name="KSO_WM_DIAGRAM_VIRTUALLY_FRAME" val="{&quot;height&quot;:451.6968503937008,&quot;left&quot;:221.15,&quot;top&quot;:97.6,&quot;width&quot;:699.95}"/>
</p:tagLst>
</file>

<file path=ppt/tags/tag35.xml><?xml version="1.0" encoding="utf-8"?>
<p:tagLst xmlns:p="http://schemas.openxmlformats.org/presentationml/2006/main">
  <p:tag name="KSO_WM_DIAGRAM_VIRTUALLY_FRAME" val="{&quot;height&quot;:451.6968503937008,&quot;left&quot;:221.15,&quot;top&quot;:97.6,&quot;width&quot;:699.95}"/>
</p:tagLst>
</file>

<file path=ppt/tags/tag36.xml><?xml version="1.0" encoding="utf-8"?>
<p:tagLst xmlns:p="http://schemas.openxmlformats.org/presentationml/2006/main">
  <p:tag name="KSO_WM_DIAGRAM_VIRTUALLY_FRAME" val="{&quot;height&quot;:451.6968503937008,&quot;left&quot;:221.15,&quot;top&quot;:97.6,&quot;width&quot;:699.95}"/>
</p:tagLst>
</file>

<file path=ppt/tags/tag37.xml><?xml version="1.0" encoding="utf-8"?>
<p:tagLst xmlns:p="http://schemas.openxmlformats.org/presentationml/2006/main">
  <p:tag name="KSO_WM_DIAGRAM_VIRTUALLY_FRAME" val="{&quot;height&quot;:451.6968503937008,&quot;left&quot;:221.15,&quot;top&quot;:97.6,&quot;width&quot;:699.95}"/>
</p:tagLst>
</file>

<file path=ppt/tags/tag38.xml><?xml version="1.0" encoding="utf-8"?>
<p:tagLst xmlns:p="http://schemas.openxmlformats.org/presentationml/2006/main">
  <p:tag name="KSO_WM_DIAGRAM_VIRTUALLY_FRAME" val="{&quot;height&quot;:451.6968503937008,&quot;left&quot;:221.15,&quot;top&quot;:97.6,&quot;width&quot;:699.95}"/>
</p:tagLst>
</file>

<file path=ppt/tags/tag39.xml><?xml version="1.0" encoding="utf-8"?>
<p:tagLst xmlns:p="http://schemas.openxmlformats.org/presentationml/2006/main">
  <p:tag name="KSO_WM_DIAGRAM_VIRTUALLY_FRAME" val="{&quot;height&quot;:451.6968503937008,&quot;left&quot;:221.15,&quot;top&quot;:97.6,&quot;width&quot;:699.95}"/>
</p:tagLst>
</file>

<file path=ppt/tags/tag40.xml><?xml version="1.0" encoding="utf-8"?>
<p:tagLst xmlns:p="http://schemas.openxmlformats.org/presentationml/2006/main">
  <p:tag name="KSO_WM_DIAGRAM_VIRTUALLY_FRAME" val="{&quot;height&quot;:451.6968503937008,&quot;left&quot;:221.15,&quot;top&quot;:97.6,&quot;width&quot;:699.95}"/>
</p:tagLst>
</file>

<file path=ppt/tags/tag41.xml><?xml version="1.0" encoding="utf-8"?>
<p:tagLst xmlns:p="http://schemas.openxmlformats.org/presentationml/2006/main">
  <p:tag name="KSO_WM_DIAGRAM_VIRTUALLY_FRAME" val="{&quot;height&quot;:451.6968503937008,&quot;left&quot;:221.15,&quot;top&quot;:97.6,&quot;width&quot;:699.95}"/>
</p:tagLst>
</file>

<file path=ppt/tags/tag42.xml><?xml version="1.0" encoding="utf-8"?>
<p:tagLst xmlns:p="http://schemas.openxmlformats.org/presentationml/2006/main">
  <p:tag name="KSO_WM_DIAGRAM_VIRTUALLY_FRAME" val="{&quot;height&quot;:451.6968503937008,&quot;left&quot;:221.15,&quot;top&quot;:97.6,&quot;width&quot;:699.95}"/>
</p:tagLst>
</file>

<file path=ppt/tags/tag43.xml><?xml version="1.0" encoding="utf-8"?>
<p:tagLst xmlns:p="http://schemas.openxmlformats.org/presentationml/2006/main">
  <p:tag name="KSO_WM_DIAGRAM_VIRTUALLY_FRAME" val="{&quot;height&quot;:451.6968503937008,&quot;left&quot;:221.15,&quot;top&quot;:97.6,&quot;width&quot;:699.95}"/>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17489</Words>
  <Application>WPS 演示</Application>
  <PresentationFormat>On-screen Show (16:9)</PresentationFormat>
  <Paragraphs>423</Paragraphs>
  <Slides>43</Slides>
  <Notes>21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43</vt:i4>
      </vt:variant>
    </vt:vector>
  </HeadingPairs>
  <TitlesOfParts>
    <vt:vector size="62" baseType="lpstr">
      <vt:lpstr>Arial</vt:lpstr>
      <vt:lpstr>宋体</vt:lpstr>
      <vt:lpstr>Wingdings</vt:lpstr>
      <vt:lpstr>MiSans</vt:lpstr>
      <vt:lpstr>MiSans</vt:lpstr>
      <vt:lpstr>Calibri</vt:lpstr>
      <vt:lpstr>微软雅黑</vt:lpstr>
      <vt:lpstr>Arial Unicode MS</vt:lpstr>
      <vt:lpstr>等线</vt:lpstr>
      <vt:lpstr>Microsoft YaHei Regular</vt:lpstr>
      <vt:lpstr>Wingdings</vt:lpstr>
      <vt:lpstr>Cambria Math</vt:lpstr>
      <vt:lpstr>Helvetica Neue Light</vt:lpstr>
      <vt:lpstr>Open Sans</vt:lpstr>
      <vt:lpstr>Segoe Print</vt:lpstr>
      <vt:lpstr>黑体</vt:lpstr>
      <vt:lpstr>-apple-system</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walnut</cp:lastModifiedBy>
  <cp:revision>2</cp:revision>
  <dcterms:created xsi:type="dcterms:W3CDTF">2025-07-03T05:10:00Z</dcterms:created>
  <dcterms:modified xsi:type="dcterms:W3CDTF">2025-07-03T12:21:09Z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FC1FA814BC0044D3A812C8D772C1B95C_12</vt:lpwstr>
  </property>
  <property fmtid="{D5CDD505-2E9C-101B-9397-08002B2CF9AE}" pid="3" name="KSOProductBuildVer">
    <vt:lpwstr>2052-12.1.0.21915</vt:lpwstr>
  </property>
</Properties>
</file>