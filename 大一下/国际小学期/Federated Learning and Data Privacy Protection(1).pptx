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24.webp" ContentType="image/webp"/>
  <Override PartName="/ppt/media/image28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351" r:id="rId8"/>
    <p:sldId id="356" r:id="rId9"/>
    <p:sldId id="307" r:id="rId10"/>
    <p:sldId id="261" r:id="rId11"/>
    <p:sldId id="309" r:id="rId12"/>
    <p:sldId id="357" r:id="rId13"/>
    <p:sldId id="352" r:id="rId14"/>
    <p:sldId id="353" r:id="rId15"/>
    <p:sldId id="354" r:id="rId16"/>
    <p:sldId id="310" r:id="rId17"/>
    <p:sldId id="355" r:id="rId18"/>
    <p:sldId id="358" r:id="rId19"/>
    <p:sldId id="312" r:id="rId20"/>
    <p:sldId id="313" r:id="rId21"/>
    <p:sldId id="359" r:id="rId22"/>
    <p:sldId id="314" r:id="rId23"/>
    <p:sldId id="315" r:id="rId24"/>
    <p:sldId id="360" r:id="rId25"/>
    <p:sldId id="316" r:id="rId26"/>
    <p:sldId id="361" r:id="rId27"/>
    <p:sldId id="362" r:id="rId28"/>
    <p:sldId id="363" r:id="rId29"/>
    <p:sldId id="317" r:id="rId30"/>
    <p:sldId id="318" r:id="rId31"/>
    <p:sldId id="364" r:id="rId32"/>
    <p:sldId id="367" r:id="rId33"/>
    <p:sldId id="365" r:id="rId34"/>
    <p:sldId id="319" r:id="rId35"/>
    <p:sldId id="368" r:id="rId36"/>
    <p:sldId id="320" r:id="rId37"/>
    <p:sldId id="369" r:id="rId38"/>
    <p:sldId id="370" r:id="rId39"/>
    <p:sldId id="371" r:id="rId40"/>
    <p:sldId id="373" r:id="rId41"/>
    <p:sldId id="374" r:id="rId42"/>
    <p:sldId id="375" r:id="rId43"/>
    <p:sldId id="376" r:id="rId44"/>
    <p:sldId id="377" r:id="rId45"/>
    <p:sldId id="378" r:id="rId46"/>
    <p:sldId id="379" r:id="rId47"/>
    <p:sldId id="380" r:id="rId48"/>
    <p:sldId id="327" r:id="rId49"/>
    <p:sldId id="280" r:id="rId50"/>
  </p:sldIdLst>
  <p:sldSz cx="12192000" cy="6858000"/>
  <p:notesSz cx="6858000" cy="12192000"/>
  <p:embeddedFontLst>
    <p:embeddedFont>
      <p:font typeface="MiSans" pitchFamily="34" charset="-122"/>
      <p:regular r:id="rId54"/>
    </p:embeddedFont>
    <p:embeddedFont>
      <p:font typeface="MiSans" pitchFamily="34" charset="-120"/>
      <p:regular r:id="rId55"/>
    </p:embeddedFont>
    <p:embeddedFont>
      <p:font typeface="Calibri" panose="020F0502020204030204" charset="0"/>
      <p:regular r:id="rId56"/>
      <p:bold r:id="rId57"/>
      <p:italic r:id="rId58"/>
      <p:boldItalic r:id="rId59"/>
    </p:embeddedFont>
    <p:embeddedFont>
      <p:font typeface="等线" panose="02010600030101010101" charset="-122"/>
      <p:regular r:id="rId6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font" Target="fonts/font7.fntdata"/><Relationship Id="rId6" Type="http://schemas.openxmlformats.org/officeDocument/2006/relationships/slide" Target="slides/slide3.xml"/><Relationship Id="rId59" Type="http://schemas.openxmlformats.org/officeDocument/2006/relationships/font" Target="fonts/font6.fntdata"/><Relationship Id="rId58" Type="http://schemas.openxmlformats.org/officeDocument/2006/relationships/font" Target="fonts/font5.fntdata"/><Relationship Id="rId57" Type="http://schemas.openxmlformats.org/officeDocument/2006/relationships/font" Target="fonts/font4.fntdata"/><Relationship Id="rId56" Type="http://schemas.openxmlformats.org/officeDocument/2006/relationships/font" Target="fonts/font3.fntdata"/><Relationship Id="rId55" Type="http://schemas.openxmlformats.org/officeDocument/2006/relationships/font" Target="fonts/font2.fntdata"/><Relationship Id="rId54" Type="http://schemas.openxmlformats.org/officeDocument/2006/relationships/font" Target="fonts/font1.fntdata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6" Type="http://schemas.openxmlformats.org/officeDocument/2006/relationships/notesSlide" Target="../notesSlides/notesSlide14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webp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webp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14-d0shppk75iks832je4vg.png"/>
          <p:cNvPicPr>
            <a:picLocks noChangeAspect="1"/>
          </p:cNvPicPr>
          <p:nvPr/>
        </p:nvPicPr>
        <p:blipFill>
          <a:blip r:embed="rId1"/>
          <a:srcRect l="13" r="13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80260" y="1444625"/>
            <a:ext cx="8327390" cy="2861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CN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Federated Learning and Data Privacy Protection</a:t>
            </a:r>
            <a:endParaRPr lang="en-US" altLang="zh-CN" sz="6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03-d0shpms75iks832je4v0.png"/>
          <p:cNvPicPr>
            <a:picLocks noChangeAspect="1"/>
          </p:cNvPicPr>
          <p:nvPr/>
        </p:nvPicPr>
        <p:blipFill>
          <a:blip r:embed="rId1"/>
          <a:srcRect t="3326" b="11223"/>
          <a:stretch>
            <a:fillRect/>
          </a:stretch>
        </p:blipFill>
        <p:spPr>
          <a:xfrm>
            <a:off x="0" y="0"/>
            <a:ext cx="4874260" cy="6851015"/>
          </a:xfrm>
          <a:prstGeom prst="rect">
            <a:avLst/>
          </a:prstGeom>
        </p:spPr>
      </p:pic>
      <p:sp>
        <p:nvSpPr>
          <p:cNvPr id="3" name="Shape 0"/>
          <p:cNvSpPr/>
          <p:nvPr>
            <p:custDataLst>
              <p:tags r:id="rId2"/>
            </p:custDataLst>
          </p:nvPr>
        </p:nvSpPr>
        <p:spPr>
          <a:xfrm rot="5400000">
            <a:off x="5469255" y="2166219"/>
            <a:ext cx="293611" cy="293736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4" name="Text 1"/>
          <p:cNvSpPr/>
          <p:nvPr/>
        </p:nvSpPr>
        <p:spPr>
          <a:xfrm rot="5400000">
            <a:off x="5469890" y="2291949"/>
            <a:ext cx="293611" cy="2937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 rot="5400000">
            <a:off x="5645047" y="2336344"/>
            <a:ext cx="293611" cy="293736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6" name="Text 3"/>
          <p:cNvSpPr/>
          <p:nvPr/>
        </p:nvSpPr>
        <p:spPr>
          <a:xfrm rot="5400000">
            <a:off x="5470422" y="2392859"/>
            <a:ext cx="293611" cy="2937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6099482" y="2312035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6786347" y="2165724"/>
            <a:ext cx="4469663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Foundations and Motivation of Federated Learning</a:t>
            </a:r>
            <a:endParaRPr lang="en-US" altLang="zh-CN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 rot="5400000">
            <a:off x="5470525" y="3218374"/>
            <a:ext cx="293611" cy="293331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10" name="Text 7"/>
          <p:cNvSpPr/>
          <p:nvPr/>
        </p:nvSpPr>
        <p:spPr>
          <a:xfrm rot="5400000">
            <a:off x="5519420" y="3108325"/>
            <a:ext cx="293370" cy="2686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 rot="5400000">
            <a:off x="5645047" y="3218164"/>
            <a:ext cx="293611" cy="293331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2" name="Text 9"/>
          <p:cNvSpPr/>
          <p:nvPr/>
        </p:nvSpPr>
        <p:spPr>
          <a:xfrm rot="5400000">
            <a:off x="5470422" y="3129264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6018837" y="3244850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6785712" y="3173431"/>
            <a:ext cx="4469663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Federated Learning Algorithms and System Design</a:t>
            </a:r>
            <a:endParaRPr 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Shape 12"/>
          <p:cNvSpPr/>
          <p:nvPr>
            <p:custDataLst>
              <p:tags r:id="rId10"/>
            </p:custDataLst>
          </p:nvPr>
        </p:nvSpPr>
        <p:spPr>
          <a:xfrm rot="5400000">
            <a:off x="5470525" y="4026729"/>
            <a:ext cx="293611" cy="293331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17" name="Shape 14"/>
          <p:cNvSpPr/>
          <p:nvPr>
            <p:custDataLst>
              <p:tags r:id="rId11"/>
            </p:custDataLst>
          </p:nvPr>
        </p:nvSpPr>
        <p:spPr>
          <a:xfrm rot="5400000">
            <a:off x="5645047" y="4092559"/>
            <a:ext cx="293611" cy="293331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6090592" y="4019550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>
            <p:custDataLst>
              <p:tags r:id="rId13"/>
            </p:custDataLst>
          </p:nvPr>
        </p:nvSpPr>
        <p:spPr>
          <a:xfrm>
            <a:off x="6786245" y="4043680"/>
            <a:ext cx="492188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400" dirty="0">
                <a:sym typeface="+mn-ea"/>
              </a:rPr>
              <a:t>Privacy Mechanisms and Attack Models in FL</a:t>
            </a:r>
            <a:endParaRPr lang="en-US" sz="2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8" name="Text 25"/>
          <p:cNvSpPr/>
          <p:nvPr/>
        </p:nvSpPr>
        <p:spPr>
          <a:xfrm rot="5400000">
            <a:off x="5532120" y="4835084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407025" y="458470"/>
            <a:ext cx="3513455" cy="1289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r>
              <a:rPr lang="en-US" sz="4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>
                    <a:alpha val="27843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 rot="5400000">
            <a:off x="5659017" y="4170664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12"/>
          <p:cNvSpPr/>
          <p:nvPr>
            <p:custDataLst>
              <p:tags r:id="rId14"/>
            </p:custDataLst>
          </p:nvPr>
        </p:nvSpPr>
        <p:spPr>
          <a:xfrm rot="5400000">
            <a:off x="5461000" y="5219700"/>
            <a:ext cx="293370" cy="277495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22" name="Shape 14"/>
          <p:cNvSpPr/>
          <p:nvPr>
            <p:custDataLst>
              <p:tags r:id="rId15"/>
            </p:custDataLst>
          </p:nvPr>
        </p:nvSpPr>
        <p:spPr>
          <a:xfrm rot="5400000">
            <a:off x="5655207" y="5212064"/>
            <a:ext cx="293611" cy="293331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24" name="Text 16"/>
          <p:cNvSpPr/>
          <p:nvPr>
            <p:custDataLst>
              <p:tags r:id="rId16"/>
            </p:custDataLst>
          </p:nvPr>
        </p:nvSpPr>
        <p:spPr>
          <a:xfrm>
            <a:off x="6090592" y="5052695"/>
            <a:ext cx="686598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文本框 24"/>
          <p:cNvSpPr txBox="1"/>
          <p:nvPr/>
        </p:nvSpPr>
        <p:spPr>
          <a:xfrm>
            <a:off x="6790690" y="5084445"/>
            <a:ext cx="49695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>
                <a:sym typeface="+mn-ea"/>
              </a:rPr>
              <a:t>Applications and Research Frontiers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26-d0shpsk75iks832je50g.png"/>
          <p:cNvPicPr>
            <a:picLocks noChangeAspect="1"/>
          </p:cNvPicPr>
          <p:nvPr/>
        </p:nvPicPr>
        <p:blipFill>
          <a:blip r:embed="rId1">
            <a:alphaModFix amt="12000"/>
          </a:blip>
          <a:srcRect r="25396" b="24777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</p:spPr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50:00-d0shpm475iks832je4ug.png"/>
          <p:cNvPicPr>
            <a:picLocks noChangeAspect="1"/>
          </p:cNvPicPr>
          <p:nvPr/>
        </p:nvPicPr>
        <p:blipFill>
          <a:blip r:embed="rId2"/>
          <a:srcRect t="51" b="51"/>
          <a:stretch>
            <a:fillRect/>
          </a:stretch>
        </p:blipFill>
        <p:spPr>
          <a:xfrm>
            <a:off x="1096010" y="1706880"/>
            <a:ext cx="3843020" cy="3093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79795" y="183769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79795" y="3223895"/>
            <a:ext cx="5685155" cy="1076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Foundations and Motivation of Federated Learning</a:t>
            </a:r>
            <a:endParaRPr lang="en-US" sz="32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9605" y="269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YOUR LOGO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Foundations and Motivation of Federated Learning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9381490" cy="7042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93656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Definition: A distributed machine learning paradigm where data remains local, and only model updates (e.g., gradients or weights) are shared with a central server.</a:t>
            </a:r>
            <a:endParaRPr lang="en-US" altLang="zh-CN" sz="2000"/>
          </a:p>
        </p:txBody>
      </p:sp>
      <p:sp>
        <p:nvSpPr>
          <p:cNvPr id="19" name="Shape 13"/>
          <p:cNvSpPr/>
          <p:nvPr/>
        </p:nvSpPr>
        <p:spPr>
          <a:xfrm>
            <a:off x="800100" y="2684145"/>
            <a:ext cx="2839085" cy="7042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文本框 26"/>
          <p:cNvSpPr txBox="1"/>
          <p:nvPr/>
        </p:nvSpPr>
        <p:spPr>
          <a:xfrm>
            <a:off x="800100" y="2850515"/>
            <a:ext cx="3052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Why Federated Learning?</a:t>
            </a:r>
            <a:endParaRPr lang="en-US" altLang="zh-CN" sz="2000"/>
          </a:p>
        </p:txBody>
      </p:sp>
      <p:sp>
        <p:nvSpPr>
          <p:cNvPr id="28" name="文本框 27"/>
          <p:cNvSpPr txBox="1"/>
          <p:nvPr/>
        </p:nvSpPr>
        <p:spPr>
          <a:xfrm>
            <a:off x="1717675" y="3657600"/>
            <a:ext cx="74021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Data privacy regulations (e.g., GDPR, HIPAA)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Data silos (e.g., hospitals, banks)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Edge intelligence: computation on mobile/IoT devices</a:t>
            </a:r>
            <a:endParaRPr lang="en-US" altLang="zh-CN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59-d0shq4s75iks832je590.png"/>
          <p:cNvPicPr>
            <a:picLocks noChangeAspect="1"/>
          </p:cNvPicPr>
          <p:nvPr/>
        </p:nvPicPr>
        <p:blipFill>
          <a:blip r:embed="rId1"/>
          <a:srcRect l="63" r="63"/>
          <a:stretch>
            <a:fillRect/>
          </a:stretch>
        </p:blipFill>
        <p:spPr>
          <a:xfrm>
            <a:off x="1096010" y="3710940"/>
            <a:ext cx="2664000" cy="213120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5-30-10:51:00-d0shq5475iks832je59g.png"/>
          <p:cNvPicPr>
            <a:picLocks noChangeAspect="1"/>
          </p:cNvPicPr>
          <p:nvPr/>
        </p:nvPicPr>
        <p:blipFill>
          <a:blip r:embed="rId2"/>
          <a:srcRect l="63" r="63"/>
          <a:stretch>
            <a:fillRect/>
          </a:stretch>
        </p:blipFill>
        <p:spPr>
          <a:xfrm>
            <a:off x="1107440" y="1370965"/>
            <a:ext cx="2664000" cy="2131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5E927D"/>
          </a:solidFill>
        </p:spPr>
      </p:sp>
      <p:sp>
        <p:nvSpPr>
          <p:cNvPr id="5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5E927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9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1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0930" y="4089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F493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Federated Learning Types:</a:t>
            </a:r>
            <a:endParaRPr lang="en-US" sz="2800" b="1" dirty="0">
              <a:solidFill>
                <a:srgbClr val="2F493E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Shape 9"/>
          <p:cNvSpPr/>
          <p:nvPr>
            <p:custDataLst>
              <p:tags r:id="rId3"/>
            </p:custDataLst>
          </p:nvPr>
        </p:nvSpPr>
        <p:spPr>
          <a:xfrm>
            <a:off x="3865880" y="1370965"/>
            <a:ext cx="7620000" cy="2306955"/>
          </a:xfrm>
          <a:prstGeom prst="roundRect">
            <a:avLst>
              <a:gd name="adj" fmla="val 3784"/>
            </a:avLst>
          </a:prstGeom>
          <a:solidFill>
            <a:srgbClr val="E0E9C9"/>
          </a:solidFill>
        </p:spPr>
      </p:sp>
      <p:sp>
        <p:nvSpPr>
          <p:cNvPr id="14" name="Text 10"/>
          <p:cNvSpPr/>
          <p:nvPr/>
        </p:nvSpPr>
        <p:spPr>
          <a:xfrm>
            <a:off x="3865880" y="1370965"/>
            <a:ext cx="7620000" cy="21310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3"/>
          <p:cNvSpPr/>
          <p:nvPr>
            <p:custDataLst>
              <p:tags r:id="rId4"/>
            </p:custDataLst>
          </p:nvPr>
        </p:nvSpPr>
        <p:spPr>
          <a:xfrm>
            <a:off x="4126230" y="1871345"/>
            <a:ext cx="7360920" cy="1903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Definition: Involves a massive number of personal edge devices (e.g., smartphones, wearables, sensors) as clients in the federated learning process.</a:t>
            </a:r>
            <a:endParaRPr 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Characteristics:</a:t>
            </a:r>
            <a:endParaRPr lang="en-US" altLang="zh-CN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Very large number of clients; only a small subset participates in each training round</a:t>
            </a:r>
            <a:endParaRPr lang="en-US" altLang="zh-CN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Data is highly non-IID and personalized (heterogeneous)</a:t>
            </a:r>
            <a:endParaRPr lang="en-US" altLang="zh-CN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Devices are resource-constrained (limited compute, memory, unstable connectivity)</a:t>
            </a:r>
            <a:endParaRPr lang="en-US" altLang="zh-CN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8" name="Text 14"/>
          <p:cNvSpPr/>
          <p:nvPr>
            <p:custDataLst>
              <p:tags r:id="rId5"/>
            </p:custDataLst>
          </p:nvPr>
        </p:nvSpPr>
        <p:spPr>
          <a:xfrm>
            <a:off x="4200525" y="1472565"/>
            <a:ext cx="480631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📱</a:t>
            </a: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Cross-Device Federated Learning</a:t>
            </a:r>
            <a:endParaRPr lang="en-US" sz="2000" b="1" dirty="0">
              <a:solidFill>
                <a:srgbClr val="5E927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9" name="Shape 15"/>
          <p:cNvSpPr/>
          <p:nvPr>
            <p:custDataLst>
              <p:tags r:id="rId6"/>
            </p:custDataLst>
          </p:nvPr>
        </p:nvSpPr>
        <p:spPr>
          <a:xfrm>
            <a:off x="3771900" y="3707765"/>
            <a:ext cx="7713980" cy="2656840"/>
          </a:xfrm>
          <a:prstGeom prst="roundRect">
            <a:avLst>
              <a:gd name="adj" fmla="val 3784"/>
            </a:avLst>
          </a:prstGeom>
          <a:solidFill>
            <a:srgbClr val="E0E9C9"/>
          </a:solidFill>
        </p:spPr>
      </p:sp>
      <p:sp>
        <p:nvSpPr>
          <p:cNvPr id="20" name="Text 16"/>
          <p:cNvSpPr/>
          <p:nvPr/>
        </p:nvSpPr>
        <p:spPr>
          <a:xfrm>
            <a:off x="3865880" y="3707765"/>
            <a:ext cx="7620000" cy="21310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064000" y="3917315"/>
            <a:ext cx="4069080" cy="381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Text 19"/>
          <p:cNvSpPr/>
          <p:nvPr>
            <p:custDataLst>
              <p:tags r:id="rId7"/>
            </p:custDataLst>
          </p:nvPr>
        </p:nvSpPr>
        <p:spPr>
          <a:xfrm>
            <a:off x="4064000" y="4117975"/>
            <a:ext cx="7378065" cy="204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Definition: Involves a small number of institutions or organizations (e.g., hospitals, banks, universities), each with centralized, high-quality datasets.</a:t>
            </a:r>
            <a:endParaRPr 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Characteristics:</a:t>
            </a:r>
            <a:endParaRPr 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Small number of reliable clients; each client has stable connectivity and compute power</a:t>
            </a:r>
            <a:endParaRPr 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Data is relatively consistent across silos</a:t>
            </a:r>
            <a:endParaRPr 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Easier to coordinate and schedule training</a:t>
            </a:r>
            <a:endParaRPr 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4" name="Text 20"/>
          <p:cNvSpPr/>
          <p:nvPr>
            <p:custDataLst>
              <p:tags r:id="rId8"/>
            </p:custDataLst>
          </p:nvPr>
        </p:nvSpPr>
        <p:spPr>
          <a:xfrm>
            <a:off x="4302125" y="3785235"/>
            <a:ext cx="495046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🏥</a:t>
            </a: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Cross-Silo Federated Learning</a:t>
            </a:r>
            <a:endParaRPr lang="en-US" sz="2000" b="1" dirty="0">
              <a:solidFill>
                <a:srgbClr val="5E927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​​Key Components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8" name="文本框 37"/>
          <p:cNvSpPr txBox="1"/>
          <p:nvPr/>
        </p:nvSpPr>
        <p:spPr>
          <a:xfrm>
            <a:off x="683260" y="1555750"/>
            <a:ext cx="547433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Client: owns local data, trains model locally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Server: coordinates training, aggregates updates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Communication rounds: global aggregation cycle</a:t>
            </a:r>
            <a:endParaRPr lang="en-US" altLang="zh-CN" sz="2000"/>
          </a:p>
        </p:txBody>
      </p:sp>
      <p:pic>
        <p:nvPicPr>
          <p:cNvPr id="4" name="图片 3" descr="ChatGPT Image 2025年7月5日 14_30_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9865" y="1224280"/>
            <a:ext cx="5162550" cy="41827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6105" y="3433445"/>
            <a:ext cx="59537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This diagram shows the basic workflow of Federated Learning: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Multiple clients (like smartphones and laptops) train models locally without sharing raw data.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They send model updates to the central server.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The server aggregates the updates to create a new global model and distributes it back.</a:t>
            </a:r>
            <a:endParaRPr lang="en-US" altLang="zh-CN"/>
          </a:p>
          <a:p>
            <a:r>
              <a:rPr lang="en-US" altLang="zh-CN"/>
              <a:t>This loop repeats to enable privacy-preserving collaborative learning."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683831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​​Comparison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875" y="1566545"/>
            <a:ext cx="11652250" cy="3165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26-d0shpsk75iks832je50g.png"/>
          <p:cNvPicPr>
            <a:picLocks noChangeAspect="1"/>
          </p:cNvPicPr>
          <p:nvPr/>
        </p:nvPicPr>
        <p:blipFill>
          <a:blip r:embed="rId1">
            <a:alphaModFix amt="12000"/>
          </a:blip>
          <a:srcRect r="25396" b="24777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</p:spPr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50:00-d0shpm475iks832je4ug.png"/>
          <p:cNvPicPr>
            <a:picLocks noChangeAspect="1"/>
          </p:cNvPicPr>
          <p:nvPr/>
        </p:nvPicPr>
        <p:blipFill>
          <a:blip r:embed="rId2"/>
          <a:srcRect t="51" b="51"/>
          <a:stretch>
            <a:fillRect/>
          </a:stretch>
        </p:blipFill>
        <p:spPr>
          <a:xfrm>
            <a:off x="1096010" y="1706880"/>
            <a:ext cx="3843020" cy="3093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79795" y="183769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79795" y="3223895"/>
            <a:ext cx="477964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Federated Learning Algorithms and System Design</a:t>
            </a:r>
            <a:endParaRPr lang="en-US" altLang="zh-CN" sz="32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9605" y="269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YOUR LOGO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​​Core Algorithms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4100830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4445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🧠</a:t>
            </a:r>
            <a:r>
              <a:rPr lang="en-US" altLang="zh-CN" sz="2000"/>
              <a:t> 1. FedAvg (Federated Averaging)</a:t>
            </a:r>
            <a:endParaRPr lang="en-US" altLang="zh-CN" sz="2000"/>
          </a:p>
        </p:txBody>
      </p:sp>
      <p:sp>
        <p:nvSpPr>
          <p:cNvPr id="19" name="Shape 13"/>
          <p:cNvSpPr/>
          <p:nvPr/>
        </p:nvSpPr>
        <p:spPr>
          <a:xfrm>
            <a:off x="993140" y="3382645"/>
            <a:ext cx="1470660" cy="7042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文本框 26"/>
          <p:cNvSpPr txBox="1"/>
          <p:nvPr/>
        </p:nvSpPr>
        <p:spPr>
          <a:xfrm>
            <a:off x="1378585" y="2035175"/>
            <a:ext cx="81248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Question: Can decentralized clients collaboratively train a shared model without sharing data?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Proposed by: McMahan et al., Google, 2017</a:t>
            </a:r>
            <a:endParaRPr lang="en-US" altLang="zh-CN" sz="2000"/>
          </a:p>
        </p:txBody>
      </p:sp>
      <p:sp>
        <p:nvSpPr>
          <p:cNvPr id="28" name="文本框 27"/>
          <p:cNvSpPr txBox="1"/>
          <p:nvPr/>
        </p:nvSpPr>
        <p:spPr>
          <a:xfrm>
            <a:off x="594360" y="4387850"/>
            <a:ext cx="406844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Each client trains locally for a few epochs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Clients send updated model weights to a central server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Server aggregates the weights using a weighted average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1085850" y="3504565"/>
            <a:ext cx="1367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Core Idea</a:t>
            </a:r>
            <a:endParaRPr lang="en-US" altLang="zh-CN" sz="2400"/>
          </a:p>
        </p:txBody>
      </p:sp>
      <p:sp>
        <p:nvSpPr>
          <p:cNvPr id="3" name="Shape 13"/>
          <p:cNvSpPr/>
          <p:nvPr/>
        </p:nvSpPr>
        <p:spPr>
          <a:xfrm>
            <a:off x="5369560" y="3308985"/>
            <a:ext cx="3651250" cy="7042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文本框 3"/>
          <p:cNvSpPr txBox="1"/>
          <p:nvPr/>
        </p:nvSpPr>
        <p:spPr>
          <a:xfrm>
            <a:off x="5514340" y="3382645"/>
            <a:ext cx="364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Mathematical Expression</a:t>
            </a:r>
            <a:endParaRPr lang="en-US" altLang="zh-CN" sz="2400"/>
          </a:p>
        </p:txBody>
      </p:sp>
      <p:sp>
        <p:nvSpPr>
          <p:cNvPr id="6" name="文本框 5"/>
          <p:cNvSpPr txBox="1"/>
          <p:nvPr/>
        </p:nvSpPr>
        <p:spPr>
          <a:xfrm>
            <a:off x="5411470" y="4333875"/>
            <a:ext cx="5329555" cy="767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Let K be the number of clients, n</a:t>
            </a:r>
            <a:r>
              <a:rPr lang="en-US" altLang="zh-CN" baseline="-25000"/>
              <a:t>k </a:t>
            </a:r>
            <a:r>
              <a:rPr lang="en-US" altLang="zh-CN"/>
              <a:t>the number of data points on client k,and                        The update rule is: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7290" y="4582795"/>
            <a:ext cx="1097280" cy="3962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305" y="5081905"/>
            <a:ext cx="3322955" cy="1259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​​Core Algorithms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4100830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4445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🧠</a:t>
            </a:r>
            <a:r>
              <a:rPr lang="en-US" altLang="zh-CN" sz="2000"/>
              <a:t> 1. FedAvg (Federated Averaging)</a:t>
            </a:r>
            <a:endParaRPr lang="en-US" altLang="zh-CN" sz="2000"/>
          </a:p>
        </p:txBody>
      </p:sp>
      <p:sp>
        <p:nvSpPr>
          <p:cNvPr id="28" name="文本框 27"/>
          <p:cNvSpPr txBox="1"/>
          <p:nvPr/>
        </p:nvSpPr>
        <p:spPr>
          <a:xfrm>
            <a:off x="924560" y="2284095"/>
            <a:ext cx="406844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Each client trains locally for a few epochs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Clients send updated model weights to a central server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Server aggregates the weights using a weighted average</a:t>
            </a:r>
            <a:endParaRPr lang="en-US" altLang="zh-CN" sz="2000"/>
          </a:p>
        </p:txBody>
      </p:sp>
      <p:pic>
        <p:nvPicPr>
          <p:cNvPr id="5" name="图片 4" descr="ChatGPT Image 2025年7月5日 14_43_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535" y="537210"/>
            <a:ext cx="4714240" cy="448754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884555" y="5228590"/>
            <a:ext cx="85324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This diagram shows: multiple clients train locally, send only model updates to the server, which aggregates them—typically by averaging—and sends the new global model back. Raw data never leaves the devices.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​​Core Algorithms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4100830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4445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🧠</a:t>
            </a:r>
            <a:r>
              <a:rPr lang="en-US" altLang="zh-CN" sz="2000"/>
              <a:t> 2. FedProx (Federated Proximal)</a:t>
            </a:r>
            <a:endParaRPr lang="en-US" altLang="zh-CN" sz="2000"/>
          </a:p>
        </p:txBody>
      </p:sp>
      <p:sp>
        <p:nvSpPr>
          <p:cNvPr id="19" name="Shape 13"/>
          <p:cNvSpPr/>
          <p:nvPr/>
        </p:nvSpPr>
        <p:spPr>
          <a:xfrm>
            <a:off x="993140" y="3382645"/>
            <a:ext cx="1470660" cy="7042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文本框 26"/>
          <p:cNvSpPr txBox="1"/>
          <p:nvPr/>
        </p:nvSpPr>
        <p:spPr>
          <a:xfrm>
            <a:off x="1378585" y="2035175"/>
            <a:ext cx="81248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FedAvg can diverge when client data is non-IID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Solution: add a regularization term to constrain local updates near the global model</a:t>
            </a:r>
            <a:endParaRPr lang="en-US" altLang="zh-CN" sz="2000"/>
          </a:p>
        </p:txBody>
      </p:sp>
      <p:sp>
        <p:nvSpPr>
          <p:cNvPr id="28" name="文本框 27"/>
          <p:cNvSpPr txBox="1"/>
          <p:nvPr/>
        </p:nvSpPr>
        <p:spPr>
          <a:xfrm>
            <a:off x="594360" y="4387850"/>
            <a:ext cx="40684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Modify local objectives by adding a proximal term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Keeps client updates close to the global model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1085850" y="3504565"/>
            <a:ext cx="1367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Core Idea</a:t>
            </a:r>
            <a:endParaRPr lang="en-US" altLang="zh-CN" sz="2400"/>
          </a:p>
        </p:txBody>
      </p:sp>
      <p:sp>
        <p:nvSpPr>
          <p:cNvPr id="3" name="Shape 13"/>
          <p:cNvSpPr/>
          <p:nvPr/>
        </p:nvSpPr>
        <p:spPr>
          <a:xfrm>
            <a:off x="5369560" y="3308985"/>
            <a:ext cx="3651250" cy="7042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文本框 3"/>
          <p:cNvSpPr txBox="1"/>
          <p:nvPr/>
        </p:nvSpPr>
        <p:spPr>
          <a:xfrm>
            <a:off x="5514340" y="3382645"/>
            <a:ext cx="364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Mathematical Expression</a:t>
            </a:r>
            <a:endParaRPr lang="en-US" altLang="zh-CN" sz="2400"/>
          </a:p>
        </p:txBody>
      </p:sp>
      <p:sp>
        <p:nvSpPr>
          <p:cNvPr id="6" name="文本框 5"/>
          <p:cNvSpPr txBox="1"/>
          <p:nvPr/>
        </p:nvSpPr>
        <p:spPr>
          <a:xfrm>
            <a:off x="5411470" y="4387850"/>
            <a:ext cx="186245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Each client solves: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2375" y="4175760"/>
            <a:ext cx="3071495" cy="83756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105" y="5013960"/>
            <a:ext cx="2973705" cy="16833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​​Core Algorithms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435800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4445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🧠</a:t>
            </a:r>
            <a:r>
              <a:rPr lang="en-US" altLang="zh-CN" sz="2000"/>
              <a:t> 3. FedNova (Normalized Averaging)</a:t>
            </a:r>
            <a:endParaRPr lang="en-US" altLang="zh-CN" sz="2000"/>
          </a:p>
        </p:txBody>
      </p:sp>
      <p:sp>
        <p:nvSpPr>
          <p:cNvPr id="19" name="Shape 13"/>
          <p:cNvSpPr/>
          <p:nvPr/>
        </p:nvSpPr>
        <p:spPr>
          <a:xfrm>
            <a:off x="993140" y="3382645"/>
            <a:ext cx="1470660" cy="7042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文本框 26"/>
          <p:cNvSpPr txBox="1"/>
          <p:nvPr/>
        </p:nvSpPr>
        <p:spPr>
          <a:xfrm>
            <a:off x="1378585" y="2035175"/>
            <a:ext cx="81248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In FedAvg, different local epochs (or steps) introduce aggregation bias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Clients training more will dominate the global update</a:t>
            </a:r>
            <a:endParaRPr lang="en-US" altLang="zh-CN" sz="2000"/>
          </a:p>
        </p:txBody>
      </p:sp>
      <p:sp>
        <p:nvSpPr>
          <p:cNvPr id="28" name="文本框 27"/>
          <p:cNvSpPr txBox="1"/>
          <p:nvPr/>
        </p:nvSpPr>
        <p:spPr>
          <a:xfrm>
            <a:off x="594360" y="4387850"/>
            <a:ext cx="40684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Normalize client updates by their contribution to remove bias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Achieve fairness regardless of local training effort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1085850" y="3504565"/>
            <a:ext cx="1367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Core Idea</a:t>
            </a:r>
            <a:endParaRPr lang="en-US" altLang="zh-CN" sz="2400"/>
          </a:p>
        </p:txBody>
      </p:sp>
      <p:sp>
        <p:nvSpPr>
          <p:cNvPr id="3" name="Shape 13"/>
          <p:cNvSpPr/>
          <p:nvPr/>
        </p:nvSpPr>
        <p:spPr>
          <a:xfrm>
            <a:off x="5369560" y="3308985"/>
            <a:ext cx="3651250" cy="7042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文本框 3"/>
          <p:cNvSpPr txBox="1"/>
          <p:nvPr/>
        </p:nvSpPr>
        <p:spPr>
          <a:xfrm>
            <a:off x="5514340" y="3382645"/>
            <a:ext cx="364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Mathematical Expression</a:t>
            </a:r>
            <a:endParaRPr lang="en-US" altLang="zh-CN" sz="2400"/>
          </a:p>
        </p:txBody>
      </p:sp>
      <p:sp>
        <p:nvSpPr>
          <p:cNvPr id="6" name="文本框 5"/>
          <p:cNvSpPr txBox="1"/>
          <p:nvPr/>
        </p:nvSpPr>
        <p:spPr>
          <a:xfrm>
            <a:off x="5411470" y="4387850"/>
            <a:ext cx="233616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The server update:</a:t>
            </a:r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770" y="4236085"/>
            <a:ext cx="2583180" cy="7315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595" y="5147945"/>
            <a:ext cx="4052570" cy="6724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​​Core Algorithms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260475" y="1377315"/>
            <a:ext cx="1468120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260475" y="1323340"/>
            <a:ext cx="16579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summary</a:t>
            </a:r>
            <a:endParaRPr lang="en-US" altLang="zh-CN" sz="240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850" y="2190750"/>
            <a:ext cx="9552940" cy="37509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​​System Architecture Considerations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48105"/>
            <a:ext cx="9383395" cy="129286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797560" y="1487170"/>
            <a:ext cx="92957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The following will explain the key points of system architecture in federated learning from five aspects: core components</a:t>
            </a:r>
            <a:r>
              <a:rPr lang="en-US" altLang="en-US" sz="2000"/>
              <a:t>→</a:t>
            </a:r>
            <a:r>
              <a:rPr lang="en-US" altLang="zh-CN" sz="2000"/>
              <a:t> architecture patterns</a:t>
            </a:r>
            <a:r>
              <a:rPr lang="en-US" altLang="en-US" sz="2000"/>
              <a:t>→</a:t>
            </a:r>
            <a:r>
              <a:rPr lang="en-US" altLang="zh-CN" sz="2000"/>
              <a:t> communication mechanisms</a:t>
            </a:r>
            <a:r>
              <a:rPr lang="en-US" altLang="en-US" sz="2000"/>
              <a:t>→</a:t>
            </a:r>
            <a:r>
              <a:rPr lang="en-US" altLang="zh-CN" sz="2000"/>
              <a:t> heterogeneity challenges</a:t>
            </a:r>
            <a:r>
              <a:rPr lang="en-US" altLang="en-US" sz="2000"/>
              <a:t>→</a:t>
            </a:r>
            <a:r>
              <a:rPr lang="en-US" altLang="zh-CN" sz="2000"/>
              <a:t> engineering optimization</a:t>
            </a:r>
            <a:endParaRPr lang="en-US" altLang="zh-CN" sz="2000"/>
          </a:p>
        </p:txBody>
      </p:sp>
      <p:sp>
        <p:nvSpPr>
          <p:cNvPr id="2" name="Shape 13"/>
          <p:cNvSpPr/>
          <p:nvPr>
            <p:custDataLst>
              <p:tags r:id="rId1"/>
            </p:custDataLst>
          </p:nvPr>
        </p:nvSpPr>
        <p:spPr>
          <a:xfrm>
            <a:off x="1306830" y="3615690"/>
            <a:ext cx="618490" cy="1115060"/>
          </a:xfrm>
          <a:prstGeom prst="roundRect">
            <a:avLst>
              <a:gd name="adj" fmla="val 10513"/>
            </a:avLst>
          </a:prstGeom>
          <a:solidFill>
            <a:schemeClr val="accent1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13"/>
          <p:cNvSpPr/>
          <p:nvPr>
            <p:custDataLst>
              <p:tags r:id="rId2"/>
            </p:custDataLst>
          </p:nvPr>
        </p:nvSpPr>
        <p:spPr>
          <a:xfrm>
            <a:off x="3274695" y="3634105"/>
            <a:ext cx="618490" cy="1130935"/>
          </a:xfrm>
          <a:prstGeom prst="roundRect">
            <a:avLst>
              <a:gd name="adj" fmla="val 10513"/>
            </a:avLst>
          </a:prstGeom>
          <a:solidFill>
            <a:schemeClr val="accent1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3"/>
          <p:cNvSpPr/>
          <p:nvPr>
            <p:custDataLst>
              <p:tags r:id="rId3"/>
            </p:custDataLst>
          </p:nvPr>
        </p:nvSpPr>
        <p:spPr>
          <a:xfrm>
            <a:off x="5277485" y="3627755"/>
            <a:ext cx="618490" cy="1137285"/>
          </a:xfrm>
          <a:prstGeom prst="roundRect">
            <a:avLst>
              <a:gd name="adj" fmla="val 10513"/>
            </a:avLst>
          </a:prstGeom>
          <a:solidFill>
            <a:schemeClr val="accent1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>
            <p:custDataLst>
              <p:tags r:id="rId4"/>
            </p:custDataLst>
          </p:nvPr>
        </p:nvSpPr>
        <p:spPr>
          <a:xfrm>
            <a:off x="7510780" y="3627755"/>
            <a:ext cx="618490" cy="1137285"/>
          </a:xfrm>
          <a:prstGeom prst="roundRect">
            <a:avLst>
              <a:gd name="adj" fmla="val 10513"/>
            </a:avLst>
          </a:prstGeom>
          <a:solidFill>
            <a:schemeClr val="accent1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3"/>
          <p:cNvSpPr/>
          <p:nvPr>
            <p:custDataLst>
              <p:tags r:id="rId5"/>
            </p:custDataLst>
          </p:nvPr>
        </p:nvSpPr>
        <p:spPr>
          <a:xfrm>
            <a:off x="9474835" y="3615690"/>
            <a:ext cx="618490" cy="1148715"/>
          </a:xfrm>
          <a:prstGeom prst="roundRect">
            <a:avLst>
              <a:gd name="adj" fmla="val 10513"/>
            </a:avLst>
          </a:prstGeom>
          <a:solidFill>
            <a:schemeClr val="accent1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919480" y="4911725"/>
            <a:ext cx="14319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core components</a:t>
            </a:r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2817495" y="4919980"/>
            <a:ext cx="1350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architecture patterns</a:t>
            </a:r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8"/>
            </p:custDataLst>
          </p:nvPr>
        </p:nvSpPr>
        <p:spPr>
          <a:xfrm>
            <a:off x="4720590" y="4967605"/>
            <a:ext cx="1779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communication mechanisms</a:t>
            </a:r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>
            <a:off x="6991350" y="4967605"/>
            <a:ext cx="1779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heterogeneity challenges</a:t>
            </a:r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9151620" y="4967605"/>
            <a:ext cx="15119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engineering optimization</a:t>
            </a:r>
            <a:endParaRPr lang="zh-CN" altLang="en-US"/>
          </a:p>
        </p:txBody>
      </p:sp>
      <p:cxnSp>
        <p:nvCxnSpPr>
          <p:cNvPr id="28" name="直接箭头连接符 27"/>
          <p:cNvCxnSpPr>
            <a:stCxn id="2" idx="3"/>
            <a:endCxn id="6" idx="1"/>
          </p:cNvCxnSpPr>
          <p:nvPr>
            <p:custDataLst>
              <p:tags r:id="rId11"/>
            </p:custDataLst>
          </p:nvPr>
        </p:nvCxnSpPr>
        <p:spPr>
          <a:xfrm>
            <a:off x="1925320" y="4173220"/>
            <a:ext cx="1349375" cy="2667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>
            <p:custDataLst>
              <p:tags r:id="rId12"/>
            </p:custDataLst>
          </p:nvPr>
        </p:nvCxnSpPr>
        <p:spPr>
          <a:xfrm flipV="1">
            <a:off x="8185150" y="4218305"/>
            <a:ext cx="1289685" cy="1841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endCxn id="17" idx="1"/>
          </p:cNvCxnSpPr>
          <p:nvPr>
            <p:custDataLst>
              <p:tags r:id="rId13"/>
            </p:custDataLst>
          </p:nvPr>
        </p:nvCxnSpPr>
        <p:spPr>
          <a:xfrm flipV="1">
            <a:off x="5895975" y="4196715"/>
            <a:ext cx="1614805" cy="2921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endCxn id="14" idx="1"/>
          </p:cNvCxnSpPr>
          <p:nvPr>
            <p:custDataLst>
              <p:tags r:id="rId14"/>
            </p:custDataLst>
          </p:nvPr>
        </p:nvCxnSpPr>
        <p:spPr>
          <a:xfrm>
            <a:off x="3893185" y="4189095"/>
            <a:ext cx="1384300" cy="762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1:08-d0shq7475iks832je5dg.png"/>
          <p:cNvPicPr>
            <a:picLocks noChangeAspect="1"/>
          </p:cNvPicPr>
          <p:nvPr/>
        </p:nvPicPr>
        <p:blipFill>
          <a:blip r:embed="rId1"/>
          <a:srcRect l="50" r="50"/>
          <a:stretch>
            <a:fillRect/>
          </a:stretch>
        </p:blipFill>
        <p:spPr>
          <a:xfrm>
            <a:off x="630555" y="1304290"/>
            <a:ext cx="3843020" cy="4770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5E927D"/>
          </a:solidFill>
        </p:spPr>
      </p:sp>
      <p:sp>
        <p:nvSpPr>
          <p:cNvPr id="4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5E927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338264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800">
                <a:sym typeface="+mn-ea"/>
              </a:rPr>
              <a:t>core components</a:t>
            </a:r>
            <a:endParaRPr lang="en-US" sz="2800" b="1" dirty="0">
              <a:solidFill>
                <a:srgbClr val="2F493E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981450" y="5556885"/>
            <a:ext cx="668020" cy="727075"/>
          </a:xfrm>
          <a:prstGeom prst="roundRect">
            <a:avLst>
              <a:gd name="adj" fmla="val 10513"/>
            </a:avLst>
          </a:prstGeom>
          <a:solidFill>
            <a:srgbClr val="2F493E"/>
          </a:solidFill>
        </p:spPr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64075" y="2196465"/>
            <a:ext cx="3519805" cy="276860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19770" y="2196465"/>
            <a:ext cx="3157220" cy="27578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293100" y="3274695"/>
            <a:ext cx="3157220" cy="27578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 rot="16200000">
            <a:off x="7375085" y="-954210"/>
            <a:ext cx="72000" cy="5166995"/>
          </a:xfrm>
          <a:prstGeom prst="parallelogram">
            <a:avLst/>
          </a:prstGeom>
          <a:gradFill flip="none" rotWithShape="1">
            <a:gsLst>
              <a:gs pos="28000">
                <a:srgbClr val="9CC0B1">
                  <a:alpha val="0"/>
                </a:srgbClr>
              </a:gs>
              <a:gs pos="100000">
                <a:srgbClr val="525E30"/>
              </a:gs>
            </a:gsLst>
            <a:lin ang="16200000" scaled="1"/>
          </a:gradFill>
        </p:spPr>
      </p:sp>
      <p:sp>
        <p:nvSpPr>
          <p:cNvPr id="23" name="Text 20"/>
          <p:cNvSpPr/>
          <p:nvPr/>
        </p:nvSpPr>
        <p:spPr>
          <a:xfrm>
            <a:off x="4718685" y="2298700"/>
            <a:ext cx="3355975" cy="342900"/>
          </a:xfrm>
          <a:prstGeom prst="rect">
            <a:avLst/>
          </a:prstGeom>
          <a:noFill/>
        </p:spPr>
        <p:txBody>
          <a:bodyPr wrap="square" lIns="0" tIns="0" rIns="0" bIns="35941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000" dirty="0"/>
              <a:t>Client (Participant / Edge Device)</a:t>
            </a:r>
            <a:endParaRPr lang="en-US" altLang="zh-CN" sz="2000" dirty="0"/>
          </a:p>
        </p:txBody>
      </p:sp>
      <p:sp>
        <p:nvSpPr>
          <p:cNvPr id="24" name="Text 21"/>
          <p:cNvSpPr/>
          <p:nvPr/>
        </p:nvSpPr>
        <p:spPr>
          <a:xfrm>
            <a:off x="8349615" y="2267307"/>
            <a:ext cx="3100705" cy="404495"/>
          </a:xfrm>
          <a:prstGeom prst="rect">
            <a:avLst/>
          </a:prstGeom>
          <a:noFill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Server (Coordinator):</a:t>
            </a:r>
            <a:endParaRPr lang="en-US" altLang="zh-CN" sz="2400" dirty="0"/>
          </a:p>
        </p:txBody>
      </p:sp>
      <p:sp>
        <p:nvSpPr>
          <p:cNvPr id="25" name="Text 22"/>
          <p:cNvSpPr/>
          <p:nvPr/>
        </p:nvSpPr>
        <p:spPr>
          <a:xfrm>
            <a:off x="4735195" y="2778760"/>
            <a:ext cx="3604260" cy="17106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Stores local data (private)</a:t>
            </a:r>
            <a:endParaRPr lang="en-US" altLang="zh-CN" sz="2000" dirty="0"/>
          </a:p>
          <a:p>
            <a:pPr marL="342900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Performs local training</a:t>
            </a:r>
            <a:endParaRPr lang="en-US" altLang="zh-CN" sz="2000" dirty="0"/>
          </a:p>
          <a:p>
            <a:pPr marL="342900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Examples: smartphone, wearable, hospital server</a:t>
            </a:r>
            <a:endParaRPr lang="en-US" altLang="zh-CN" sz="2000" dirty="0"/>
          </a:p>
        </p:txBody>
      </p:sp>
      <p:sp>
        <p:nvSpPr>
          <p:cNvPr id="26" name="Text 23"/>
          <p:cNvSpPr/>
          <p:nvPr/>
        </p:nvSpPr>
        <p:spPr>
          <a:xfrm>
            <a:off x="8374380" y="2778760"/>
            <a:ext cx="3084830" cy="20002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Orchestrates training</a:t>
            </a:r>
            <a:endParaRPr lang="en-US" altLang="zh-CN" sz="2000" dirty="0"/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Sends global model to clients</a:t>
            </a:r>
            <a:endParaRPr lang="en-US" altLang="zh-CN" sz="2000" dirty="0"/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Aggregates local updates into new global model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338264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800">
                <a:sym typeface="+mn-ea"/>
              </a:rPr>
              <a:t>core components</a:t>
            </a:r>
            <a:endParaRPr lang="en-US" sz="2800" b="1" dirty="0">
              <a:solidFill>
                <a:srgbClr val="2F493E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93100" y="3274695"/>
            <a:ext cx="3157220" cy="27578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9" name="图片 18" descr="ChatGPT Image 2025年7月5日 14_57_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8320" y="867410"/>
            <a:ext cx="4572000" cy="569214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77520" y="2038985"/>
            <a:ext cx="6400800" cy="2647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This diagram shows one round of federated learning:</a:t>
            </a:r>
            <a:endParaRPr lang="en-US" altLang="zh-CN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The server sends the global model </a:t>
            </a:r>
            <a:r>
              <a:rPr lang="en-US" altLang="en-US" sz="2400"/>
              <a:t>→</a:t>
            </a:r>
            <a:r>
              <a:rPr lang="en-US" altLang="zh-CN" sz="2400"/>
              <a:t> each client trains locally </a:t>
            </a:r>
            <a:r>
              <a:rPr lang="en-US" altLang="en-US" sz="2400"/>
              <a:t>→</a:t>
            </a:r>
            <a:r>
              <a:rPr lang="en-US" altLang="zh-CN" sz="2400"/>
              <a:t> uploads updates </a:t>
            </a:r>
            <a:r>
              <a:rPr lang="en-US" altLang="en-US" sz="2400"/>
              <a:t>→</a:t>
            </a:r>
            <a:r>
              <a:rPr lang="en-US" altLang="zh-CN" sz="2400"/>
              <a:t> the server aggregates them </a:t>
            </a:r>
            <a:r>
              <a:rPr lang="en-US" altLang="en-US" sz="2400"/>
              <a:t>→</a:t>
            </a:r>
            <a:r>
              <a:rPr lang="en-US" altLang="zh-CN" sz="2400"/>
              <a:t> and starts the next round.</a:t>
            </a:r>
            <a:endParaRPr lang="en-US" altLang="zh-CN" sz="2400"/>
          </a:p>
          <a:p>
            <a:r>
              <a:rPr lang="en-US" altLang="zh-CN" sz="2400"/>
              <a:t>Raw data stays on the client, ensuring privacy.</a:t>
            </a:r>
            <a:endParaRPr lang="en-US" altLang="zh-CN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​​Architectural Patterns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285" y="1552575"/>
            <a:ext cx="10206355" cy="348551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730240" y="5915660"/>
            <a:ext cx="5948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thinking:Why would a telecom company prefer hierarchical FL?</a:t>
            </a:r>
            <a:endParaRPr lang="en-US" altLang="zh-CN"/>
          </a:p>
        </p:txBody>
      </p:sp>
      <p:sp>
        <p:nvSpPr>
          <p:cNvPr id="19" name="笑脸 18"/>
          <p:cNvSpPr/>
          <p:nvPr/>
        </p:nvSpPr>
        <p:spPr>
          <a:xfrm>
            <a:off x="5504180" y="5915660"/>
            <a:ext cx="226060" cy="266065"/>
          </a:xfrm>
          <a:prstGeom prst="smileyFac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​​Communication Protocols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1503680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797560" y="1377315"/>
            <a:ext cx="13195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Challenges:</a:t>
            </a:r>
            <a:endParaRPr lang="en-US" altLang="zh-CN" sz="2000"/>
          </a:p>
        </p:txBody>
      </p:sp>
      <p:sp>
        <p:nvSpPr>
          <p:cNvPr id="27" name="文本框 26"/>
          <p:cNvSpPr txBox="1"/>
          <p:nvPr/>
        </p:nvSpPr>
        <p:spPr>
          <a:xfrm>
            <a:off x="1090930" y="2094865"/>
            <a:ext cx="6975475" cy="1113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Uplink bandwidth is limited</a:t>
            </a:r>
            <a:endParaRPr lang="en-US" altLang="zh-CN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Devices may be offline or unreliable</a:t>
            </a:r>
            <a:endParaRPr lang="en-US" altLang="zh-CN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Frequent model updates = heavy traffi</a:t>
            </a:r>
            <a:endParaRPr lang="en-US" altLang="zh-CN" sz="2400"/>
          </a:p>
        </p:txBody>
      </p:sp>
      <p:sp>
        <p:nvSpPr>
          <p:cNvPr id="4" name="文本框 3"/>
          <p:cNvSpPr txBox="1"/>
          <p:nvPr/>
        </p:nvSpPr>
        <p:spPr>
          <a:xfrm>
            <a:off x="594360" y="3679190"/>
            <a:ext cx="16751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✅</a:t>
            </a:r>
            <a:r>
              <a:rPr lang="en-US" altLang="zh-CN"/>
              <a:t> </a:t>
            </a:r>
            <a:r>
              <a:rPr lang="en-US" altLang="zh-CN" sz="2400"/>
              <a:t>Solutions:</a:t>
            </a:r>
            <a:endParaRPr lang="en-US" altLang="zh-CN" sz="2400"/>
          </a:p>
        </p:txBody>
      </p:sp>
      <p:sp>
        <p:nvSpPr>
          <p:cNvPr id="5" name="文本框 4"/>
          <p:cNvSpPr txBox="1"/>
          <p:nvPr/>
        </p:nvSpPr>
        <p:spPr>
          <a:xfrm>
            <a:off x="924560" y="4264025"/>
            <a:ext cx="101092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Client sampling: Select a subset of clients per round (e.g., 10%)</a:t>
            </a:r>
            <a:endParaRPr lang="en-US" altLang="zh-CN" sz="24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400"/>
              <a:t>Update compression: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Quantization (e.g., float32 </a:t>
            </a:r>
            <a:r>
              <a:rPr lang="en-US" altLang="en-US" sz="2400"/>
              <a:t>→</a:t>
            </a:r>
            <a:r>
              <a:rPr lang="en-US" altLang="zh-CN" sz="2400"/>
              <a:t> int8)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Sparsification (send top-k gradients)</a:t>
            </a:r>
            <a:endParaRPr lang="en-US" altLang="zh-CN" sz="24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400"/>
              <a:t>Asynchronous updates: Let clients train/upload at different times</a:t>
            </a:r>
            <a:endParaRPr lang="en-US" altLang="zh-CN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​​Communication Protocols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1936750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1782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000">
                <a:sym typeface="+mn-ea"/>
              </a:rPr>
              <a:t>Two timelines:</a:t>
            </a:r>
            <a:endParaRPr lang="en-US" altLang="zh-CN" sz="2000"/>
          </a:p>
        </p:txBody>
      </p:sp>
      <p:sp>
        <p:nvSpPr>
          <p:cNvPr id="27" name="文本框 26"/>
          <p:cNvSpPr txBox="1"/>
          <p:nvPr/>
        </p:nvSpPr>
        <p:spPr>
          <a:xfrm>
            <a:off x="3086735" y="1377315"/>
            <a:ext cx="7766050" cy="735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Synchronous FL: wait for all clients per round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Asynchronous FL: update immediately when any client responds</a:t>
            </a:r>
            <a:endParaRPr lang="en-US" altLang="zh-CN" sz="2000"/>
          </a:p>
        </p:txBody>
      </p:sp>
      <p:pic>
        <p:nvPicPr>
          <p:cNvPr id="2" name="图片 1" descr="ChatGPT Image 2025年7月5日 15_17_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075" y="2471420"/>
            <a:ext cx="9690100" cy="39357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​​System Heterogeneity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319976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2995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What varies among clients?</a:t>
            </a:r>
            <a:endParaRPr lang="en-US" altLang="zh-CN" sz="2000"/>
          </a:p>
        </p:txBody>
      </p:sp>
      <p:sp>
        <p:nvSpPr>
          <p:cNvPr id="3" name="文本框 2"/>
          <p:cNvSpPr txBox="1"/>
          <p:nvPr/>
        </p:nvSpPr>
        <p:spPr>
          <a:xfrm>
            <a:off x="1261110" y="2077720"/>
            <a:ext cx="451421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CPU, GPU, memory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Battery, connectivity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Dataset size and distribution (non-IID)</a:t>
            </a:r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1261110" y="4539615"/>
            <a:ext cx="42614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Stragglers slow down training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Some clients may dominate aggregation (bias)</a:t>
            </a:r>
            <a:endParaRPr lang="en-US" altLang="zh-CN" sz="2000"/>
          </a:p>
        </p:txBody>
      </p:sp>
      <p:sp>
        <p:nvSpPr>
          <p:cNvPr id="5" name="Shape 13"/>
          <p:cNvSpPr/>
          <p:nvPr/>
        </p:nvSpPr>
        <p:spPr>
          <a:xfrm>
            <a:off x="847725" y="3747135"/>
            <a:ext cx="138112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13"/>
          <p:cNvSpPr/>
          <p:nvPr/>
        </p:nvSpPr>
        <p:spPr>
          <a:xfrm>
            <a:off x="6675120" y="1189355"/>
            <a:ext cx="144716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文本框 11"/>
          <p:cNvSpPr txBox="1"/>
          <p:nvPr/>
        </p:nvSpPr>
        <p:spPr>
          <a:xfrm>
            <a:off x="989965" y="3747135"/>
            <a:ext cx="1183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Impacts:</a:t>
            </a:r>
            <a:endParaRPr lang="en-US" altLang="zh-CN" sz="2400"/>
          </a:p>
        </p:txBody>
      </p:sp>
      <p:sp>
        <p:nvSpPr>
          <p:cNvPr id="14" name="文本框 13"/>
          <p:cNvSpPr txBox="1"/>
          <p:nvPr/>
        </p:nvSpPr>
        <p:spPr>
          <a:xfrm>
            <a:off x="6788150" y="1189355"/>
            <a:ext cx="1473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Solutions: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6424295" y="2348230"/>
            <a:ext cx="5415280" cy="2463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Client selection: filter by capacity or bandwidth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Weighted aggregation: based on data volume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Adaptive scheduling: allow more/fewer local epochs depending on client spee</a:t>
            </a:r>
            <a:r>
              <a:rPr lang="en-US" altLang="zh-CN"/>
              <a:t>d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765810" y="5917565"/>
            <a:ext cx="103219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It's like managing a group project where some students have less time or fewer resources — how do you still move forward?</a:t>
            </a:r>
            <a:endParaRPr lang="en-US" altLang="zh-CN"/>
          </a:p>
        </p:txBody>
      </p:sp>
      <p:sp>
        <p:nvSpPr>
          <p:cNvPr id="20" name="五角星 19"/>
          <p:cNvSpPr/>
          <p:nvPr/>
        </p:nvSpPr>
        <p:spPr>
          <a:xfrm>
            <a:off x="220345" y="5917565"/>
            <a:ext cx="457200" cy="544830"/>
          </a:xfrm>
          <a:prstGeom prst="star5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Engineering-Level Optimizations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2" name="文本框 1"/>
          <p:cNvSpPr txBox="1"/>
          <p:nvPr/>
        </p:nvSpPr>
        <p:spPr>
          <a:xfrm>
            <a:off x="2170430" y="2007235"/>
            <a:ext cx="7378065" cy="2411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Secure Aggregation: ensure server cannot see individual updates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Model personalization: local fine-tuning for better user experience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Fault tolerance: support dropout and resume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Device dropout detection: reconnect and reschedule</a:t>
            </a:r>
            <a:endParaRPr lang="en-US" altLang="zh-CN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26-d0shpsk75iks832je50g.png"/>
          <p:cNvPicPr>
            <a:picLocks noChangeAspect="1"/>
          </p:cNvPicPr>
          <p:nvPr/>
        </p:nvPicPr>
        <p:blipFill>
          <a:blip r:embed="rId1">
            <a:alphaModFix amt="12000"/>
          </a:blip>
          <a:srcRect r="25396" b="24777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</p:spPr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50:00-d0shpm475iks832je4ug.png"/>
          <p:cNvPicPr>
            <a:picLocks noChangeAspect="1"/>
          </p:cNvPicPr>
          <p:nvPr/>
        </p:nvPicPr>
        <p:blipFill>
          <a:blip r:embed="rId2"/>
          <a:srcRect t="51" b="51"/>
          <a:stretch>
            <a:fillRect/>
          </a:stretch>
        </p:blipFill>
        <p:spPr>
          <a:xfrm>
            <a:off x="1096010" y="1706880"/>
            <a:ext cx="3843020" cy="3093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79795" y="1837690"/>
            <a:ext cx="166116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79795" y="3223895"/>
            <a:ext cx="574548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4000" dirty="0"/>
              <a:t>Privacy Mechanisms and Attack Models in FL</a:t>
            </a:r>
            <a:endParaRPr lang="en-US" altLang="zh-CN" sz="4000" dirty="0"/>
          </a:p>
        </p:txBody>
      </p:sp>
      <p:sp>
        <p:nvSpPr>
          <p:cNvPr id="8" name="Text 4"/>
          <p:cNvSpPr/>
          <p:nvPr/>
        </p:nvSpPr>
        <p:spPr>
          <a:xfrm>
            <a:off x="649605" y="269240"/>
            <a:ext cx="4064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YOUR LOGO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21818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​​Threat Models 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9104630" cy="9785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93364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In federated learning, although data is not uploaded, model updates may also leak privacy. We need to understand the attack methods in order to provide targeted protection.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987425" y="2985770"/>
            <a:ext cx="34867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Three common threat models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3" name="爆炸形 1 2"/>
          <p:cNvSpPr/>
          <p:nvPr/>
        </p:nvSpPr>
        <p:spPr>
          <a:xfrm>
            <a:off x="594360" y="3049270"/>
            <a:ext cx="330200" cy="263525"/>
          </a:xfrm>
          <a:prstGeom prst="irregularSeal1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90625" y="3633470"/>
            <a:ext cx="8619490" cy="2651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Model Inversion Attack</a:t>
            </a:r>
            <a:r>
              <a:rPr lang="zh-CN" altLang="en-US"/>
              <a:t>：</a:t>
            </a:r>
            <a:r>
              <a:rPr lang="en-US" altLang="zh-CN"/>
              <a:t>The attacker uses the model’s outputs or parameters to reconstruct an approximate version of the original training data.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Membership Inference Attack (MIA)</a:t>
            </a:r>
            <a:r>
              <a:rPr lang="zh-CN" altLang="en-US"/>
              <a:t>：</a:t>
            </a:r>
            <a:r>
              <a:rPr lang="en-US" altLang="zh-CN"/>
              <a:t>The attacker tries to guess whether a specific data sample was used during training, based on how confident the model is.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Gradient Leakage</a:t>
            </a:r>
            <a:r>
              <a:rPr lang="zh-CN" altLang="en-US"/>
              <a:t>：</a:t>
            </a:r>
            <a:r>
              <a:rPr lang="en-US" altLang="zh-CN"/>
              <a:t>The attacker analyzes the gradients sent by a client and directly reconstructs the original input data, especially during early training.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21818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​​Threat Models 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2900680" cy="42354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2741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Model Inversion Attack</a:t>
            </a:r>
            <a:r>
              <a:rPr lang="zh-CN" altLang="en-US" sz="2000">
                <a:sym typeface="+mn-ea"/>
              </a:rPr>
              <a:t>：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1183640" y="2308860"/>
            <a:ext cx="3209290" cy="3323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Example:</a:t>
            </a:r>
            <a:endParaRPr lang="en-US" altLang="zh-CN" sz="2400"/>
          </a:p>
          <a:p>
            <a:r>
              <a:rPr lang="en-US" altLang="zh-CN" sz="2400"/>
              <a:t>If the model is trained on face images, the attacker might recover a blurry face from the shared model updates.</a:t>
            </a:r>
            <a:endParaRPr lang="en-US" altLang="zh-CN" sz="2400"/>
          </a:p>
        </p:txBody>
      </p:sp>
      <p:sp>
        <p:nvSpPr>
          <p:cNvPr id="3" name="爆炸形 1 2"/>
          <p:cNvSpPr/>
          <p:nvPr/>
        </p:nvSpPr>
        <p:spPr>
          <a:xfrm>
            <a:off x="594360" y="1377315"/>
            <a:ext cx="330200" cy="263525"/>
          </a:xfrm>
          <a:prstGeom prst="irregularSeal1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ChatGPT Image 2025年7月5日 15_57_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9470" y="1520825"/>
            <a:ext cx="7144385" cy="47631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21818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​​Threat Models 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3387090" cy="42354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3446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Membership Inference Attack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1090930" y="1974850"/>
            <a:ext cx="1327150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Example:</a:t>
            </a:r>
            <a:endParaRPr lang="en-US" altLang="zh-CN" sz="2400"/>
          </a:p>
          <a:p>
            <a:endParaRPr lang="en-US" altLang="zh-CN" sz="2400"/>
          </a:p>
        </p:txBody>
      </p:sp>
      <p:sp>
        <p:nvSpPr>
          <p:cNvPr id="3" name="爆炸形 1 2"/>
          <p:cNvSpPr/>
          <p:nvPr/>
        </p:nvSpPr>
        <p:spPr>
          <a:xfrm>
            <a:off x="594360" y="1377315"/>
            <a:ext cx="330200" cy="263525"/>
          </a:xfrm>
          <a:prstGeom prst="irregularSeal1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13485" y="2656840"/>
            <a:ext cx="7983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</a:t>
            </a:r>
            <a:r>
              <a:rPr lang="zh-CN" altLang="en-US"/>
              <a:t>📌</a:t>
            </a:r>
            <a:r>
              <a:rPr lang="en-US" altLang="zh-CN"/>
              <a:t> Scenario</a:t>
            </a:r>
            <a:r>
              <a:rPr lang="zh-CN" altLang="en-US"/>
              <a:t>：</a:t>
            </a:r>
            <a:r>
              <a:rPr lang="en-US" altLang="zh-CN"/>
              <a:t>A hospital uses Federated Learning to train a pneumonia detection model on chest X-rays. Patient data stays local; only model updates are shared.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340485" y="3577590"/>
            <a:ext cx="7428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</a:t>
            </a:r>
            <a:r>
              <a:rPr lang="zh-CN" altLang="en-US"/>
              <a:t>🎯</a:t>
            </a:r>
            <a:r>
              <a:rPr lang="en-US" altLang="zh-CN"/>
              <a:t> Attacker's Goal</a:t>
            </a:r>
            <a:r>
              <a:rPr lang="zh-CN" altLang="en-US"/>
              <a:t>：</a:t>
            </a:r>
            <a:r>
              <a:rPr lang="en-US" altLang="zh-CN"/>
              <a:t>Find out if Patient A’s X-ray was used in training.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367790" y="4292600"/>
            <a:ext cx="82308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How It Works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Attacker has Patient A’s image and model access.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Inputs the image and checks the confidence score.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Compares it to outputs for known non-training images.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If the model shows high confidence, Patient A likely contributed to training.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802005" y="6144260"/>
            <a:ext cx="929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⚠</a:t>
            </a:r>
            <a:r>
              <a:rPr lang="en-US" altLang="zh-CN"/>
              <a:t>Risk</a:t>
            </a:r>
            <a:r>
              <a:rPr lang="zh-CN" altLang="en-US"/>
              <a:t>：</a:t>
            </a:r>
            <a:r>
              <a:rPr lang="en-US" altLang="zh-CN"/>
              <a:t>Reveals private facts like diagnosis, test participation, or hospital visits.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21818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​​Threat Models 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2362200" cy="42354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112520" y="1377315"/>
            <a:ext cx="20161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Gradient Leakage</a:t>
            </a:r>
            <a:endParaRPr lang="en-US" altLang="zh-CN" sz="2000"/>
          </a:p>
        </p:txBody>
      </p:sp>
      <p:sp>
        <p:nvSpPr>
          <p:cNvPr id="3" name="爆炸形 1 2"/>
          <p:cNvSpPr/>
          <p:nvPr/>
        </p:nvSpPr>
        <p:spPr>
          <a:xfrm>
            <a:off x="655955" y="1449705"/>
            <a:ext cx="330200" cy="263525"/>
          </a:xfrm>
          <a:prstGeom prst="irregularSeal1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65810" y="2294890"/>
            <a:ext cx="3549015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Plain explanation: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The attacker analyzes the gradients sent by a client and directly reconstructs the original input data, especially during early training.</a:t>
            </a:r>
            <a:endParaRPr lang="en-US" altLang="zh-CN" sz="2000"/>
          </a:p>
          <a:p>
            <a:r>
              <a:rPr lang="en-US" altLang="zh-CN" sz="2000"/>
              <a:t>One-sentence summary: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Gradients, if unprotected, can “translate” directly into raw user data.</a:t>
            </a:r>
            <a:endParaRPr lang="en-US" altLang="zh-CN" sz="200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5283200" y="1906270"/>
            <a:ext cx="6687820" cy="437769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​​Privacy-Preserving Techniques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7058025" cy="67119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66643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We have analyzed the model attacks above, and now we will explain the protection techniques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904875" y="2656840"/>
            <a:ext cx="4090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Four Main Privacy-Preserving Techniques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75080" y="3479800"/>
            <a:ext cx="779399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Differential Privacy (DP) – “Blurring the view”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Secure Aggregation (SA) – “See the sum, not individuals”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Homomorphic Encryption (HE) – “Computing in a locked box”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Secure Multi-Party Computation (SMC) – “Cooperate without revealing”</a:t>
            </a:r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422910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</a:t>
            </a:r>
            <a:r>
              <a:rPr lang="en-US" altLang="zh-CN" sz="2400">
                <a:sym typeface="+mn-ea"/>
              </a:rPr>
              <a:t>Differential Privacy (DP)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pic>
        <p:nvPicPr>
          <p:cNvPr id="14" name="图片 13"/>
          <p:cNvPicPr/>
          <p:nvPr/>
        </p:nvPicPr>
        <p:blipFill>
          <a:blip r:embed="rId1"/>
          <a:stretch>
            <a:fillRect/>
          </a:stretch>
        </p:blipFill>
        <p:spPr>
          <a:xfrm>
            <a:off x="5662930" y="1498283"/>
            <a:ext cx="5505450" cy="343852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93165" y="5083810"/>
            <a:ext cx="3987165" cy="942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Federated learning across user devices for common models (e.g., Gboard word suggestions).</a:t>
            </a:r>
            <a:endParaRPr lang="en-US" altLang="zh-CN"/>
          </a:p>
        </p:txBody>
      </p:sp>
      <p:sp>
        <p:nvSpPr>
          <p:cNvPr id="19" name="圆角矩形 18"/>
          <p:cNvSpPr/>
          <p:nvPr/>
        </p:nvSpPr>
        <p:spPr>
          <a:xfrm>
            <a:off x="924560" y="1071880"/>
            <a:ext cx="1862455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93165" y="1071880"/>
            <a:ext cx="1173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Concept:</a:t>
            </a:r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924560" y="4439285"/>
            <a:ext cx="1411605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924560" y="2776855"/>
            <a:ext cx="1862455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038860" y="2780030"/>
            <a:ext cx="1605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How it works: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38860" y="4430395"/>
            <a:ext cx="129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Use case: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080135" y="1699895"/>
            <a:ext cx="42608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Ensures that the server can only see the aggregated updates from clients, not individual ones.</a:t>
            </a:r>
            <a:endParaRPr lang="en-US" altLang="zh-CN"/>
          </a:p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193165" y="3201670"/>
            <a:ext cx="4681855" cy="1125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Each client encrypts its model updates in such a way that the server can decrypt only the sum of all updates. Individual contributions remain hidden.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422910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​​Secure Aggregation (SA)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7376795" y="3987165"/>
            <a:ext cx="3987165" cy="1179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Only supports additive operations (like FedAvg)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More complex communication protocol</a:t>
            </a:r>
            <a:endParaRPr lang="en-US" altLang="zh-CN"/>
          </a:p>
        </p:txBody>
      </p:sp>
      <p:sp>
        <p:nvSpPr>
          <p:cNvPr id="19" name="圆角矩形 18"/>
          <p:cNvSpPr/>
          <p:nvPr/>
        </p:nvSpPr>
        <p:spPr>
          <a:xfrm>
            <a:off x="924560" y="1071880"/>
            <a:ext cx="1512570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93165" y="1071880"/>
            <a:ext cx="1173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Concept:</a:t>
            </a:r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7015480" y="3397250"/>
            <a:ext cx="702945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924560" y="2126615"/>
            <a:ext cx="1482725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4560" y="2146935"/>
            <a:ext cx="1605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How it works: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015480" y="3432175"/>
            <a:ext cx="680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Cons: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1193165" y="1612900"/>
            <a:ext cx="9681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Ensures that the server can only see the aggregated updates from clients, not individual ones.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1193165" y="2651125"/>
            <a:ext cx="9210675" cy="666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Each client encrypts its model updates in such a way that the server can decrypt only the sum of all updates. Individual contributions remain hidden.</a:t>
            </a:r>
            <a:endParaRPr lang="en-US" altLang="zh-CN"/>
          </a:p>
        </p:txBody>
      </p:sp>
      <p:sp>
        <p:nvSpPr>
          <p:cNvPr id="2" name="圆角矩形 1"/>
          <p:cNvSpPr/>
          <p:nvPr/>
        </p:nvSpPr>
        <p:spPr>
          <a:xfrm>
            <a:off x="866140" y="3427730"/>
            <a:ext cx="822960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24560" y="3417570"/>
            <a:ext cx="75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Pros: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248410" y="3989070"/>
            <a:ext cx="40716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No impact on model accuracy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Efficient for standard federated learning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924560" y="5783580"/>
            <a:ext cx="9437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Federated learning across user devices for common models (e.g., Gboard word suggestions).</a:t>
            </a:r>
            <a:endParaRPr lang="en-US" altLang="zh-CN"/>
          </a:p>
        </p:txBody>
      </p:sp>
      <p:sp>
        <p:nvSpPr>
          <p:cNvPr id="12" name="圆角矩形 11"/>
          <p:cNvSpPr/>
          <p:nvPr/>
        </p:nvSpPr>
        <p:spPr>
          <a:xfrm>
            <a:off x="924560" y="5290185"/>
            <a:ext cx="1512570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90930" y="5262880"/>
            <a:ext cx="1065530" cy="417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Use case: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422910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</a:t>
            </a:r>
            <a:r>
              <a:rPr lang="en-US" altLang="zh-CN" sz="2400" dirty="0">
                <a:sym typeface="+mn-ea"/>
              </a:rPr>
              <a:t>Homomorphic Encryption (HE)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1193165" y="5083810"/>
            <a:ext cx="3987165" cy="942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Sensitive fields like finance or defense where data must never be exposed—even during processing.</a:t>
            </a:r>
            <a:endParaRPr lang="en-US" altLang="zh-CN"/>
          </a:p>
        </p:txBody>
      </p:sp>
      <p:sp>
        <p:nvSpPr>
          <p:cNvPr id="19" name="圆角矩形 18"/>
          <p:cNvSpPr/>
          <p:nvPr/>
        </p:nvSpPr>
        <p:spPr>
          <a:xfrm>
            <a:off x="924560" y="1071880"/>
            <a:ext cx="1862455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93165" y="1071880"/>
            <a:ext cx="1173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Concept:</a:t>
            </a:r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924560" y="4439285"/>
            <a:ext cx="1411605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924560" y="2776855"/>
            <a:ext cx="1862455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038860" y="2780030"/>
            <a:ext cx="1605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How it works: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38860" y="4430395"/>
            <a:ext cx="129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Use case: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080135" y="1699895"/>
            <a:ext cx="42608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Allows computations to be performed directly on encrypted data—no need to decrypt during training.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1193165" y="3201670"/>
            <a:ext cx="4681855" cy="1125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The client encrypts the data/model updates and sends them to the server. The server performs operations on the encrypted values and returns the encrypted result.</a:t>
            </a:r>
            <a:endParaRPr lang="en-US" altLang="zh-CN"/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6551930" y="1194435"/>
            <a:ext cx="4726940" cy="457136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422910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​​Homomorphic Encryption (HE)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7376795" y="3987165"/>
            <a:ext cx="3987165" cy="1179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High communication and computation overhead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Complex to implement at scale</a:t>
            </a:r>
            <a:endParaRPr lang="en-US" altLang="zh-CN"/>
          </a:p>
        </p:txBody>
      </p:sp>
      <p:sp>
        <p:nvSpPr>
          <p:cNvPr id="19" name="圆角矩形 18"/>
          <p:cNvSpPr/>
          <p:nvPr/>
        </p:nvSpPr>
        <p:spPr>
          <a:xfrm>
            <a:off x="924560" y="1071880"/>
            <a:ext cx="1512570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93165" y="1071880"/>
            <a:ext cx="1173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Concept:</a:t>
            </a:r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7015480" y="3397250"/>
            <a:ext cx="702945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924560" y="2126615"/>
            <a:ext cx="1482725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4560" y="2146935"/>
            <a:ext cx="1605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How it works: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015480" y="3432175"/>
            <a:ext cx="680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Cons: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1193165" y="1612900"/>
            <a:ext cx="9681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Multiple participants jointly compute a function without revealing their private inputs to each other.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1193165" y="2651125"/>
            <a:ext cx="9210675" cy="666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Each party splits its input into shares and exchanges them in a way that allows the final result to be computed collaboratively—without anyone learning the others’ data.</a:t>
            </a:r>
            <a:endParaRPr lang="en-US" altLang="zh-CN"/>
          </a:p>
        </p:txBody>
      </p:sp>
      <p:sp>
        <p:nvSpPr>
          <p:cNvPr id="2" name="圆角矩形 1"/>
          <p:cNvSpPr/>
          <p:nvPr/>
        </p:nvSpPr>
        <p:spPr>
          <a:xfrm>
            <a:off x="866140" y="3427730"/>
            <a:ext cx="822960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24560" y="3417570"/>
            <a:ext cx="75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Pros: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248410" y="3989070"/>
            <a:ext cx="40716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Strong privacy guarantees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Suitable for inter-institutional collaboration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924560" y="5783580"/>
            <a:ext cx="6090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Cross-silo federated learning (e.g., between banks or hospitals).</a:t>
            </a:r>
            <a:endParaRPr lang="en-US" altLang="zh-CN"/>
          </a:p>
        </p:txBody>
      </p:sp>
      <p:sp>
        <p:nvSpPr>
          <p:cNvPr id="12" name="圆角矩形 11"/>
          <p:cNvSpPr/>
          <p:nvPr/>
        </p:nvSpPr>
        <p:spPr>
          <a:xfrm>
            <a:off x="924560" y="5290185"/>
            <a:ext cx="1512570" cy="388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90930" y="5262880"/>
            <a:ext cx="1065530" cy="417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Use case: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​​Summary Comparison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0" y="1737995"/>
            <a:ext cx="10781030" cy="35877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26-d0shpsk75iks832je50g.png"/>
          <p:cNvPicPr>
            <a:picLocks noChangeAspect="1"/>
          </p:cNvPicPr>
          <p:nvPr/>
        </p:nvPicPr>
        <p:blipFill>
          <a:blip r:embed="rId1">
            <a:alphaModFix amt="12000"/>
          </a:blip>
          <a:srcRect r="25396" b="24777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</p:spPr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50:00-d0shpm475iks832je4ug.png"/>
          <p:cNvPicPr>
            <a:picLocks noChangeAspect="1"/>
          </p:cNvPicPr>
          <p:nvPr/>
        </p:nvPicPr>
        <p:blipFill>
          <a:blip r:embed="rId2"/>
          <a:srcRect t="51" b="51"/>
          <a:stretch>
            <a:fillRect/>
          </a:stretch>
        </p:blipFill>
        <p:spPr>
          <a:xfrm>
            <a:off x="1096010" y="1706880"/>
            <a:ext cx="3843020" cy="3093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79795" y="1837690"/>
            <a:ext cx="166116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79795" y="3223895"/>
            <a:ext cx="574548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4000" dirty="0"/>
              <a:t>Applications and Research Frontiers</a:t>
            </a:r>
            <a:endParaRPr lang="en-US" altLang="zh-CN" sz="4000" dirty="0"/>
          </a:p>
        </p:txBody>
      </p:sp>
      <p:sp>
        <p:nvSpPr>
          <p:cNvPr id="8" name="Text 4"/>
          <p:cNvSpPr/>
          <p:nvPr/>
        </p:nvSpPr>
        <p:spPr>
          <a:xfrm>
            <a:off x="649605" y="269240"/>
            <a:ext cx="4064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YOUR LOGO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​​Real-World Applications of Federated Learning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1637665" cy="4121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1447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 Healthcare</a:t>
            </a:r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1090930" y="2094865"/>
            <a:ext cx="15392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📌</a:t>
            </a:r>
            <a:r>
              <a:rPr lang="en-US" altLang="zh-CN" sz="2000"/>
              <a:t> Problem:</a:t>
            </a:r>
            <a:endParaRPr lang="en-US" altLang="zh-CN" sz="2000"/>
          </a:p>
        </p:txBody>
      </p:sp>
      <p:sp>
        <p:nvSpPr>
          <p:cNvPr id="17" name="文本框 16"/>
          <p:cNvSpPr txBox="1"/>
          <p:nvPr/>
        </p:nvSpPr>
        <p:spPr>
          <a:xfrm>
            <a:off x="1820545" y="2924175"/>
            <a:ext cx="8899525" cy="1786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Medical data is highly sensitive (e.g., CT scans, health records)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Hospitals can’t easily share data due to privacy laws (e.g., HIPAA, GDPR)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Individual hospitals often have limited data for training robust models</a:t>
            </a:r>
            <a:endParaRPr lang="en-US" altLang="zh-CN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​​Real-World Applications of Federated Learning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1637665" cy="4121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1447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 Healthcare</a:t>
            </a:r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1090930" y="2094865"/>
            <a:ext cx="2146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💡</a:t>
            </a:r>
            <a:r>
              <a:rPr lang="en-US" altLang="zh-CN" sz="2000"/>
              <a:t> How FL Helps:</a:t>
            </a:r>
            <a:endParaRPr lang="en-US" altLang="zh-CN" sz="2000"/>
          </a:p>
        </p:txBody>
      </p:sp>
      <p:sp>
        <p:nvSpPr>
          <p:cNvPr id="17" name="文本框 16"/>
          <p:cNvSpPr txBox="1"/>
          <p:nvPr/>
        </p:nvSpPr>
        <p:spPr>
          <a:xfrm>
            <a:off x="1820545" y="2924175"/>
            <a:ext cx="8899525" cy="2393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Each hospital trains the model locally on its own data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Only model updates (weights/gradients) are sent to a central server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The server aggregates updates and shares the improved model back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No raw patient data ever leaves the hospital</a:t>
            </a:r>
            <a:endParaRPr lang="en-US" altLang="zh-CN"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​​Real-World Applications of Federated Learning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1637665" cy="4121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1447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 Healthcare</a:t>
            </a:r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863600" y="2094865"/>
            <a:ext cx="15398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💡</a:t>
            </a:r>
            <a:r>
              <a:rPr lang="en-US" altLang="zh-CN" sz="2000"/>
              <a:t>Real Case:</a:t>
            </a:r>
            <a:endParaRPr lang="en-US" altLang="zh-CN" sz="2000"/>
          </a:p>
        </p:txBody>
      </p:sp>
      <p:sp>
        <p:nvSpPr>
          <p:cNvPr id="17" name="文本框 16"/>
          <p:cNvSpPr txBox="1"/>
          <p:nvPr/>
        </p:nvSpPr>
        <p:spPr>
          <a:xfrm>
            <a:off x="863600" y="2934970"/>
            <a:ext cx="3508375" cy="308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COVID-19 diagnosis collaboration (2020) across multiple hospitals in the US and UK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Used FedAvg to train a shared model on CT scans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Added Differential Privacy (DP) and Secure Aggregation (SA) to protect patient data</a:t>
            </a:r>
            <a:endParaRPr lang="en-US" altLang="zh-CN" sz="2000"/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4478020" y="1776095"/>
            <a:ext cx="7467600" cy="446468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​​Real-World Applications of Federated Learning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1303655" cy="4121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1134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 Finance</a:t>
            </a:r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1090930" y="2094865"/>
            <a:ext cx="15608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📌</a:t>
            </a:r>
            <a:r>
              <a:rPr lang="en-US" altLang="zh-CN" sz="2000"/>
              <a:t> Problem:</a:t>
            </a:r>
            <a:endParaRPr lang="en-US" altLang="zh-CN" sz="2000"/>
          </a:p>
        </p:txBody>
      </p:sp>
      <p:sp>
        <p:nvSpPr>
          <p:cNvPr id="17" name="文本框 16"/>
          <p:cNvSpPr txBox="1"/>
          <p:nvPr/>
        </p:nvSpPr>
        <p:spPr>
          <a:xfrm>
            <a:off x="1501775" y="2915285"/>
            <a:ext cx="3899535" cy="2219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Fraud detection often requires cross-bank collaboration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Banks cannot share user data due to privacy and competition concerns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6383020" y="2094865"/>
            <a:ext cx="23729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ym typeface="+mn-ea"/>
              </a:rPr>
              <a:t>💡</a:t>
            </a:r>
            <a:r>
              <a:rPr lang="en-US" altLang="zh-CN" sz="2000">
                <a:sym typeface="+mn-ea"/>
              </a:rPr>
              <a:t> How FL Helps:</a:t>
            </a:r>
            <a:endParaRPr lang="en-US" altLang="zh-CN" sz="2000"/>
          </a:p>
        </p:txBody>
      </p:sp>
      <p:sp>
        <p:nvSpPr>
          <p:cNvPr id="3" name="文本框 2"/>
          <p:cNvSpPr txBox="1"/>
          <p:nvPr/>
        </p:nvSpPr>
        <p:spPr>
          <a:xfrm>
            <a:off x="6234430" y="3105150"/>
            <a:ext cx="499999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Each bank trains a model on its own transaction data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Model updates are securely aggregated to build a global fraud detection model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No raw financial data is exchanged</a:t>
            </a:r>
            <a:endParaRPr lang="en-US" altLang="zh-C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​​Real-World Applications of Federated Learning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1637665" cy="4121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1447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 </a:t>
            </a:r>
            <a:r>
              <a:rPr lang="en-US" altLang="zh-CN" sz="2000">
                <a:sym typeface="+mn-ea"/>
              </a:rPr>
              <a:t>Finance</a:t>
            </a:r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863600" y="2094865"/>
            <a:ext cx="15398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💡</a:t>
            </a:r>
            <a:r>
              <a:rPr lang="en-US" altLang="zh-CN" sz="2000"/>
              <a:t>Real Case:</a:t>
            </a:r>
            <a:endParaRPr lang="en-US" altLang="zh-CN" sz="2000"/>
          </a:p>
        </p:txBody>
      </p:sp>
      <p:sp>
        <p:nvSpPr>
          <p:cNvPr id="17" name="文本框 16"/>
          <p:cNvSpPr txBox="1"/>
          <p:nvPr/>
        </p:nvSpPr>
        <p:spPr>
          <a:xfrm>
            <a:off x="863600" y="2934970"/>
            <a:ext cx="3508375" cy="2628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Ant Group (Alibaba): vertical FL used for joint fraud detection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Bank A has transaction logs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Bank B has customer profile data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Used Vertical FL and Secure Multi-Party Computation (SMC)</a:t>
            </a:r>
            <a:endParaRPr lang="en-US" altLang="zh-CN" sz="2000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4977130" y="1459230"/>
            <a:ext cx="6418580" cy="493141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​​Real-World Applications of Federated Learning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1885950" cy="4121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2026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 Smart Devices</a:t>
            </a:r>
            <a:r>
              <a:rPr lang="zh-CN" altLang="en-US" sz="2000"/>
              <a:t>：</a:t>
            </a:r>
            <a:r>
              <a:rPr lang="en-US" altLang="zh-CN" sz="2000"/>
              <a:t> </a:t>
            </a:r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1090930" y="2094865"/>
            <a:ext cx="15608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📌</a:t>
            </a:r>
            <a:r>
              <a:rPr lang="en-US" altLang="zh-CN" sz="2000"/>
              <a:t> Problem:</a:t>
            </a:r>
            <a:endParaRPr lang="en-US" altLang="zh-CN" sz="2000"/>
          </a:p>
        </p:txBody>
      </p:sp>
      <p:sp>
        <p:nvSpPr>
          <p:cNvPr id="17" name="文本框 16"/>
          <p:cNvSpPr txBox="1"/>
          <p:nvPr/>
        </p:nvSpPr>
        <p:spPr>
          <a:xfrm>
            <a:off x="1501775" y="2915285"/>
            <a:ext cx="3899535" cy="2219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Edge devices (phones, smartwatches, cars) generate massive amounts of data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Uploading all data to the cloud is inefficient and raises privacy concerns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6383020" y="2094865"/>
            <a:ext cx="23729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ym typeface="+mn-ea"/>
              </a:rPr>
              <a:t>💡</a:t>
            </a:r>
            <a:r>
              <a:rPr lang="en-US" altLang="zh-CN" sz="2000">
                <a:sym typeface="+mn-ea"/>
              </a:rPr>
              <a:t> How FL Helps:</a:t>
            </a:r>
            <a:endParaRPr lang="en-US" altLang="zh-CN" sz="2000"/>
          </a:p>
        </p:txBody>
      </p:sp>
      <p:sp>
        <p:nvSpPr>
          <p:cNvPr id="3" name="文本框 2"/>
          <p:cNvSpPr txBox="1"/>
          <p:nvPr/>
        </p:nvSpPr>
        <p:spPr>
          <a:xfrm>
            <a:off x="6234430" y="3105150"/>
            <a:ext cx="499999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Devices perform on-device model training (e.g., for speech or activity recognition)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Only model updates are shared with the central server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Devices retain all private user data locally</a:t>
            </a:r>
            <a:endParaRPr lang="en-US" altLang="zh-CN" sz="2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332168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​​Where is FL going next?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9256395" cy="39878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文本框 17"/>
          <p:cNvSpPr txBox="1"/>
          <p:nvPr/>
        </p:nvSpPr>
        <p:spPr>
          <a:xfrm>
            <a:off x="924560" y="1377315"/>
            <a:ext cx="87928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 Classical federated learning, such as FedAvg, does not solve all real-world problems</a:t>
            </a:r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1131570" y="2313305"/>
            <a:ext cx="88906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💡</a:t>
            </a:r>
            <a:r>
              <a:rPr lang="en-US" altLang="zh-CN" sz="2000"/>
              <a:t> The following introduces the current research hotspots and technology trends</a:t>
            </a:r>
            <a:endParaRPr lang="en-US" altLang="zh-CN" sz="2000"/>
          </a:p>
        </p:txBody>
      </p:sp>
      <p:sp>
        <p:nvSpPr>
          <p:cNvPr id="17" name="文本框 16"/>
          <p:cNvSpPr txBox="1"/>
          <p:nvPr/>
        </p:nvSpPr>
        <p:spPr>
          <a:xfrm>
            <a:off x="868680" y="2987040"/>
            <a:ext cx="3569970" cy="432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 typeface="Arial" panose="020B0604020202020204" pitchFamily="34" charset="0"/>
              <a:buNone/>
            </a:pPr>
            <a:r>
              <a:rPr lang="en-US" altLang="en-US" sz="1800"/>
              <a:t>1</a:t>
            </a:r>
            <a:r>
              <a:rPr lang="zh-CN" altLang="en-US" sz="1800"/>
              <a:t>）</a:t>
            </a:r>
            <a:r>
              <a:rPr lang="en-US" altLang="zh-CN" sz="1800"/>
              <a:t>Personalized Federated Learning</a:t>
            </a:r>
            <a:endParaRPr lang="en-US" altLang="zh-CN" sz="1800"/>
          </a:p>
          <a:p>
            <a:pPr indent="0">
              <a:buFont typeface="Arial" panose="020B0604020202020204" pitchFamily="34" charset="0"/>
              <a:buNone/>
            </a:pP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1666240" y="3535045"/>
            <a:ext cx="92786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Problem: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Clients often have non-IID data (data distributions differ significantly), so a single global model may perform poorly on local tasks.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91185" y="1377315"/>
            <a:ext cx="4997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ym typeface="+mn-ea"/>
              </a:rPr>
              <a:t>📌</a:t>
            </a:r>
            <a:endParaRPr lang="zh-CN" altLang="en-US" sz="2000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6240" y="4630420"/>
            <a:ext cx="8623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💡</a:t>
            </a:r>
            <a:r>
              <a:rPr lang="en-US" altLang="zh-CN"/>
              <a:t> Research Direction:</a:t>
            </a:r>
            <a:endParaRPr lang="en-US" altLang="zh-CN"/>
          </a:p>
          <a:p>
            <a:r>
              <a:rPr lang="en-US" altLang="zh-CN"/>
              <a:t>Fine-tune the global model locally for personalization</a:t>
            </a:r>
            <a:endParaRPr lang="en-US" altLang="zh-CN"/>
          </a:p>
          <a:p>
            <a:r>
              <a:rPr lang="en-US" altLang="zh-CN"/>
              <a:t>Or apply meta-learning to build models that quickly adapt to each client</a:t>
            </a:r>
            <a:endParaRPr lang="en-US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332168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​​Where is FL going next?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4106545" cy="39878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文本框 17"/>
          <p:cNvSpPr txBox="1"/>
          <p:nvPr/>
        </p:nvSpPr>
        <p:spPr>
          <a:xfrm>
            <a:off x="913130" y="1377315"/>
            <a:ext cx="4463415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1</a:t>
            </a:r>
            <a:r>
              <a:rPr lang="zh-CN" altLang="en-US" sz="2000"/>
              <a:t>）</a:t>
            </a:r>
            <a:r>
              <a:rPr lang="en-US" altLang="zh-CN" sz="2000">
                <a:sym typeface="+mn-ea"/>
              </a:rPr>
              <a:t> Personalized Federated Learning</a:t>
            </a:r>
            <a:endParaRPr lang="en-US" altLang="zh-CN" sz="2000"/>
          </a:p>
          <a:p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1532255" y="2107565"/>
            <a:ext cx="83769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 Representative Methods: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pFedMe: adds regularization to balance global and personalized objectives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FedPer: shares bottom layers, personalizes top layers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Per-FedAvg / MetaFed: meta-learning based personalization</a:t>
            </a:r>
            <a:endParaRPr lang="en-US" altLang="zh-CN" sz="2000"/>
          </a:p>
        </p:txBody>
      </p:sp>
      <p:sp>
        <p:nvSpPr>
          <p:cNvPr id="14" name="文本框 13"/>
          <p:cNvSpPr txBox="1"/>
          <p:nvPr/>
        </p:nvSpPr>
        <p:spPr>
          <a:xfrm>
            <a:off x="1532255" y="3837940"/>
            <a:ext cx="8623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Applications: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Input method prediction tailored to each user’s typing habits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Personalized health monitoring (e.g., heart rate models)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553210" y="5815330"/>
            <a:ext cx="7129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analogy: “A single prescription doesn’t fit all patients—same with models.”</a:t>
            </a:r>
            <a:endParaRPr lang="en-US" altLang="zh-CN"/>
          </a:p>
        </p:txBody>
      </p:sp>
      <p:sp>
        <p:nvSpPr>
          <p:cNvPr id="4" name="笑脸 3"/>
          <p:cNvSpPr/>
          <p:nvPr/>
        </p:nvSpPr>
        <p:spPr>
          <a:xfrm>
            <a:off x="1090930" y="5815330"/>
            <a:ext cx="441325" cy="368300"/>
          </a:xfrm>
          <a:prstGeom prst="smileyFac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332168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​​Where is FL going next?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4394200" cy="39878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文本框 17"/>
          <p:cNvSpPr txBox="1"/>
          <p:nvPr/>
        </p:nvSpPr>
        <p:spPr>
          <a:xfrm>
            <a:off x="913130" y="1377315"/>
            <a:ext cx="4463415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2</a:t>
            </a:r>
            <a:r>
              <a:rPr lang="zh-CN" altLang="en-US" sz="2000"/>
              <a:t>）</a:t>
            </a:r>
            <a:r>
              <a:rPr lang="en-US" altLang="zh-CN" sz="2000">
                <a:sym typeface="+mn-ea"/>
              </a:rPr>
              <a:t> </a:t>
            </a:r>
            <a:r>
              <a:rPr lang="en-US" altLang="zh-CN" sz="2000"/>
              <a:t>Federated Transfer Learning (FTL)</a:t>
            </a:r>
            <a:endParaRPr lang="en-US" altLang="zh-CN" sz="2000"/>
          </a:p>
          <a:p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1389380" y="2111375"/>
            <a:ext cx="414337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Problem:</a:t>
            </a:r>
            <a:endParaRPr lang="en-US" altLang="zh-CN" sz="2000"/>
          </a:p>
          <a:p>
            <a:r>
              <a:rPr lang="en-US" altLang="zh-CN" sz="2000"/>
              <a:t>    Participants have different feature spaces (e.g., hospital has images, insurance    has tabular data), but want to collaborate.</a:t>
            </a:r>
            <a:endParaRPr lang="en-US" altLang="zh-CN" sz="2000"/>
          </a:p>
        </p:txBody>
      </p:sp>
      <p:sp>
        <p:nvSpPr>
          <p:cNvPr id="14" name="文本框 13"/>
          <p:cNvSpPr txBox="1"/>
          <p:nvPr/>
        </p:nvSpPr>
        <p:spPr>
          <a:xfrm>
            <a:off x="1409065" y="4006215"/>
            <a:ext cx="4123055" cy="1641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</a:t>
            </a:r>
            <a:r>
              <a:rPr lang="en-US" altLang="zh-CN" sz="2000"/>
              <a:t>Research Direction: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Apply transfer learning across organizations with different data formats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Share knowledge via representation alignment or embedding sp</a:t>
            </a:r>
            <a:r>
              <a:rPr lang="en-US" altLang="zh-CN"/>
              <a:t>aces</a:t>
            </a:r>
            <a:endParaRPr lang="en-US" altLang="zh-CN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6172200" y="1779905"/>
            <a:ext cx="5321300" cy="41084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332168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​​Where is FL going next?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4394200" cy="39878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文本框 17"/>
          <p:cNvSpPr txBox="1"/>
          <p:nvPr/>
        </p:nvSpPr>
        <p:spPr>
          <a:xfrm>
            <a:off x="913130" y="1377315"/>
            <a:ext cx="4463415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2</a:t>
            </a:r>
            <a:r>
              <a:rPr lang="zh-CN" altLang="en-US" sz="2000"/>
              <a:t>）</a:t>
            </a:r>
            <a:r>
              <a:rPr lang="en-US" altLang="zh-CN" sz="2000">
                <a:sym typeface="+mn-ea"/>
              </a:rPr>
              <a:t> </a:t>
            </a:r>
            <a:r>
              <a:rPr lang="en-US" altLang="zh-CN" sz="2000"/>
              <a:t>Federated Transfer Learning (FTL)</a:t>
            </a:r>
            <a:endParaRPr lang="en-US" altLang="zh-CN" sz="2000"/>
          </a:p>
          <a:p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1553210" y="2111375"/>
            <a:ext cx="87471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Representative Methods: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Joint embedding techniques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Representation alignment strategies (e.g., FedTransfer)</a:t>
            </a:r>
            <a:endParaRPr lang="en-US" altLang="zh-CN" sz="2000"/>
          </a:p>
        </p:txBody>
      </p:sp>
      <p:sp>
        <p:nvSpPr>
          <p:cNvPr id="14" name="文本框 13"/>
          <p:cNvSpPr txBox="1"/>
          <p:nvPr/>
        </p:nvSpPr>
        <p:spPr>
          <a:xfrm>
            <a:off x="1553210" y="3697605"/>
            <a:ext cx="7625080" cy="1045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Applications: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Medical + insurance companies building joint risk models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Banks + social networks creating cross-domain user credit scores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1049020" y="5649595"/>
            <a:ext cx="7407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analogy: “Speaking different languages? Transfer learning is the translator.”</a:t>
            </a:r>
            <a:endParaRPr lang="en-US" altLang="zh-CN"/>
          </a:p>
        </p:txBody>
      </p:sp>
      <p:sp>
        <p:nvSpPr>
          <p:cNvPr id="3" name="笑脸 2"/>
          <p:cNvSpPr/>
          <p:nvPr/>
        </p:nvSpPr>
        <p:spPr>
          <a:xfrm>
            <a:off x="594360" y="5649595"/>
            <a:ext cx="330200" cy="368300"/>
          </a:xfrm>
          <a:prstGeom prst="smileyFac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5376545" y="1645285"/>
            <a:ext cx="6570345" cy="43726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332168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​​Where is FL going next?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4394200" cy="39878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文本框 17"/>
          <p:cNvSpPr txBox="1"/>
          <p:nvPr/>
        </p:nvSpPr>
        <p:spPr>
          <a:xfrm>
            <a:off x="913130" y="1377315"/>
            <a:ext cx="4463415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3</a:t>
            </a:r>
            <a:r>
              <a:rPr lang="zh-CN" altLang="en-US" sz="2000"/>
              <a:t>）</a:t>
            </a:r>
            <a:r>
              <a:rPr lang="en-US" altLang="zh-CN" sz="2000"/>
              <a:t>Vertical Federated Learning (VFL)</a:t>
            </a:r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1203960" y="2114550"/>
            <a:ext cx="505714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Problem: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Different institutions hold different features of the same users (e.g., Bank A has income; e-commerce has purchase history)</a:t>
            </a:r>
            <a:endParaRPr lang="en-US" altLang="zh-CN" sz="2000"/>
          </a:p>
        </p:txBody>
      </p:sp>
      <p:sp>
        <p:nvSpPr>
          <p:cNvPr id="14" name="文本框 13"/>
          <p:cNvSpPr txBox="1"/>
          <p:nvPr/>
        </p:nvSpPr>
        <p:spPr>
          <a:xfrm>
            <a:off x="1266190" y="3782060"/>
            <a:ext cx="3940175" cy="1641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</a:t>
            </a:r>
            <a:r>
              <a:rPr lang="en-US" altLang="zh-CN" sz="2000"/>
              <a:t>Research Direction: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Apply transfer learning across organizations with different data formats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Share knowledge via representation alignment or embedding sp</a:t>
            </a:r>
            <a:r>
              <a:rPr lang="en-US" altLang="zh-CN"/>
              <a:t>aces</a:t>
            </a:r>
            <a:endParaRPr lang="en-US" altLang="zh-C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332168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​​Where is FL going next?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4394200" cy="39878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文本框 17"/>
          <p:cNvSpPr txBox="1"/>
          <p:nvPr/>
        </p:nvSpPr>
        <p:spPr>
          <a:xfrm>
            <a:off x="913130" y="1377315"/>
            <a:ext cx="4463415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3</a:t>
            </a:r>
            <a:r>
              <a:rPr lang="zh-CN" altLang="en-US" sz="2000"/>
              <a:t>）</a:t>
            </a:r>
            <a:r>
              <a:rPr lang="en-US" altLang="zh-CN" sz="2000">
                <a:sym typeface="+mn-ea"/>
              </a:rPr>
              <a:t> </a:t>
            </a:r>
            <a:r>
              <a:rPr lang="en-US" altLang="zh-CN" sz="2000"/>
              <a:t>Vertical Federated Learning (VFL)</a:t>
            </a:r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1009650" y="2183765"/>
            <a:ext cx="4779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Representative Methods: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FATE (open-source FL framework supporting VFL)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SecureBoost: tree-based VFL model</a:t>
            </a:r>
            <a:endParaRPr lang="en-US" altLang="zh-CN" sz="2000"/>
          </a:p>
        </p:txBody>
      </p:sp>
      <p:sp>
        <p:nvSpPr>
          <p:cNvPr id="14" name="文本框 13"/>
          <p:cNvSpPr txBox="1"/>
          <p:nvPr/>
        </p:nvSpPr>
        <p:spPr>
          <a:xfrm>
            <a:off x="6574155" y="2091055"/>
            <a:ext cx="5109845" cy="163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Applications: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Bank + e-commerce collaboration on credit scoring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Hospital + pharma company for drug personalization</a:t>
            </a:r>
            <a:endParaRPr lang="en-US" altLang="zh-CN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9060" y="3919855"/>
            <a:ext cx="9274175" cy="254698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326199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</a:t>
            </a:r>
            <a:r>
              <a:rPr lang="en-US" altLang="zh-CN" sz="2400" dirty="0">
                <a:sym typeface="+mn-ea"/>
              </a:rPr>
              <a:t>Where is FL going next?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85" y="1790065"/>
            <a:ext cx="10252075" cy="402018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14-d0shppk75iks832je4vg.png"/>
          <p:cNvPicPr>
            <a:picLocks noChangeAspect="1"/>
          </p:cNvPicPr>
          <p:nvPr/>
        </p:nvPicPr>
        <p:blipFill>
          <a:blip r:embed="rId1"/>
          <a:srcRect l="13" r="13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15260" y="3318510"/>
            <a:ext cx="6761480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27898" y="1987550"/>
            <a:ext cx="7736205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2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3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4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5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6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7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8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9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10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11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12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13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14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15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16.xml><?xml version="1.0" encoding="utf-8"?>
<p:tagLst xmlns:p="http://schemas.openxmlformats.org/presentationml/2006/main">
  <p:tag name="KSO_WM_DIAGRAM_VIRTUALLY_FRAME" val="{&quot;height&quot;:518.2,&quot;left&quot;:297,&quot;top&quot;:107.95,&quot;width&quot;:614.7}"/>
</p:tagLst>
</file>

<file path=ppt/tags/tag17.xml><?xml version="1.0" encoding="utf-8"?>
<p:tagLst xmlns:p="http://schemas.openxmlformats.org/presentationml/2006/main">
  <p:tag name="KSO_WM_DIAGRAM_VIRTUALLY_FRAME" val="{&quot;height&quot;:518.2,&quot;left&quot;:297,&quot;top&quot;:107.95,&quot;width&quot;:614.7}"/>
</p:tagLst>
</file>

<file path=ppt/tags/tag18.xml><?xml version="1.0" encoding="utf-8"?>
<p:tagLst xmlns:p="http://schemas.openxmlformats.org/presentationml/2006/main">
  <p:tag name="KSO_WM_DIAGRAM_VIRTUALLY_FRAME" val="{&quot;height&quot;:518.2,&quot;left&quot;:297,&quot;top&quot;:107.95,&quot;width&quot;:614.7}"/>
</p:tagLst>
</file>

<file path=ppt/tags/tag19.xml><?xml version="1.0" encoding="utf-8"?>
<p:tagLst xmlns:p="http://schemas.openxmlformats.org/presentationml/2006/main">
  <p:tag name="KSO_WM_DIAGRAM_VIRTUALLY_FRAME" val="{&quot;height&quot;:518.2,&quot;left&quot;:297,&quot;top&quot;:107.95,&quot;width&quot;:614.7}"/>
</p:tagLst>
</file>

<file path=ppt/tags/tag20.xml><?xml version="1.0" encoding="utf-8"?>
<p:tagLst xmlns:p="http://schemas.openxmlformats.org/presentationml/2006/main">
  <p:tag name="KSO_WM_DIAGRAM_VIRTUALLY_FRAME" val="{&quot;height&quot;:518.2,&quot;left&quot;:297,&quot;top&quot;:107.95,&quot;width&quot;:614.7}"/>
</p:tagLst>
</file>

<file path=ppt/tags/tag21.xml><?xml version="1.0" encoding="utf-8"?>
<p:tagLst xmlns:p="http://schemas.openxmlformats.org/presentationml/2006/main">
  <p:tag name="KSO_WM_DIAGRAM_VIRTUALLY_FRAME" val="{&quot;height&quot;:518.2,&quot;left&quot;:297,&quot;top&quot;:107.95,&quot;width&quot;:614.7}"/>
</p:tagLst>
</file>

<file path=ppt/tags/tag22.xml><?xml version="1.0" encoding="utf-8"?>
<p:tagLst xmlns:p="http://schemas.openxmlformats.org/presentationml/2006/main">
  <p:tag name="KSO_WM_DIAGRAM_VIRTUALLY_FRAME" val="{&quot;height&quot;:157.25,&quot;left&quot;:72.4,&quot;top&quot;:284.7,&quot;width&quot;:767.25}"/>
</p:tagLst>
</file>

<file path=ppt/tags/tag23.xml><?xml version="1.0" encoding="utf-8"?>
<p:tagLst xmlns:p="http://schemas.openxmlformats.org/presentationml/2006/main">
  <p:tag name="KSO_WM_DIAGRAM_VIRTUALLY_FRAME" val="{&quot;height&quot;:157.25,&quot;left&quot;:72.4,&quot;top&quot;:284.7,&quot;width&quot;:767.25}"/>
</p:tagLst>
</file>

<file path=ppt/tags/tag24.xml><?xml version="1.0" encoding="utf-8"?>
<p:tagLst xmlns:p="http://schemas.openxmlformats.org/presentationml/2006/main">
  <p:tag name="KSO_WM_DIAGRAM_VIRTUALLY_FRAME" val="{&quot;height&quot;:157.25,&quot;left&quot;:72.4,&quot;top&quot;:284.7,&quot;width&quot;:767.25}"/>
</p:tagLst>
</file>

<file path=ppt/tags/tag25.xml><?xml version="1.0" encoding="utf-8"?>
<p:tagLst xmlns:p="http://schemas.openxmlformats.org/presentationml/2006/main">
  <p:tag name="KSO_WM_DIAGRAM_VIRTUALLY_FRAME" val="{&quot;height&quot;:157.25,&quot;left&quot;:72.4,&quot;top&quot;:284.7,&quot;width&quot;:767.25}"/>
</p:tagLst>
</file>

<file path=ppt/tags/tag26.xml><?xml version="1.0" encoding="utf-8"?>
<p:tagLst xmlns:p="http://schemas.openxmlformats.org/presentationml/2006/main">
  <p:tag name="KSO_WM_DIAGRAM_VIRTUALLY_FRAME" val="{&quot;height&quot;:157.25,&quot;left&quot;:72.4,&quot;top&quot;:284.7,&quot;width&quot;:767.25}"/>
</p:tagLst>
</file>

<file path=ppt/tags/tag27.xml><?xml version="1.0" encoding="utf-8"?>
<p:tagLst xmlns:p="http://schemas.openxmlformats.org/presentationml/2006/main">
  <p:tag name="KSO_WM_DIAGRAM_VIRTUALLY_FRAME" val="{&quot;height&quot;:157.25,&quot;left&quot;:72.4,&quot;top&quot;:284.7,&quot;width&quot;:767.25}"/>
</p:tagLst>
</file>

<file path=ppt/tags/tag28.xml><?xml version="1.0" encoding="utf-8"?>
<p:tagLst xmlns:p="http://schemas.openxmlformats.org/presentationml/2006/main">
  <p:tag name="KSO_WM_DIAGRAM_VIRTUALLY_FRAME" val="{&quot;height&quot;:157.25,&quot;left&quot;:72.4,&quot;top&quot;:284.7,&quot;width&quot;:767.25}"/>
</p:tagLst>
</file>

<file path=ppt/tags/tag29.xml><?xml version="1.0" encoding="utf-8"?>
<p:tagLst xmlns:p="http://schemas.openxmlformats.org/presentationml/2006/main">
  <p:tag name="KSO_WM_DIAGRAM_VIRTUALLY_FRAME" val="{&quot;height&quot;:157.25,&quot;left&quot;:72.4,&quot;top&quot;:284.7,&quot;width&quot;:767.25}"/>
</p:tagLst>
</file>

<file path=ppt/tags/tag30.xml><?xml version="1.0" encoding="utf-8"?>
<p:tagLst xmlns:p="http://schemas.openxmlformats.org/presentationml/2006/main">
  <p:tag name="KSO_WM_DIAGRAM_VIRTUALLY_FRAME" val="{&quot;height&quot;:157.25,&quot;left&quot;:72.4,&quot;top&quot;:284.7,&quot;width&quot;:767.25}"/>
</p:tagLst>
</file>

<file path=ppt/tags/tag31.xml><?xml version="1.0" encoding="utf-8"?>
<p:tagLst xmlns:p="http://schemas.openxmlformats.org/presentationml/2006/main">
  <p:tag name="KSO_WM_DIAGRAM_VIRTUALLY_FRAME" val="{&quot;height&quot;:157.25,&quot;left&quot;:72.4,&quot;top&quot;:284.7,&quot;width&quot;:767.25}"/>
</p:tagLst>
</file>

<file path=ppt/tags/tag32.xml><?xml version="1.0" encoding="utf-8"?>
<p:tagLst xmlns:p="http://schemas.openxmlformats.org/presentationml/2006/main">
  <p:tag name="KSO_WM_DIAGRAM_VIRTUALLY_FRAME" val="{&quot;height&quot;:157.25,&quot;left&quot;:72.4,&quot;top&quot;:284.7,&quot;width&quot;:767.25}"/>
</p:tagLst>
</file>

<file path=ppt/tags/tag33.xml><?xml version="1.0" encoding="utf-8"?>
<p:tagLst xmlns:p="http://schemas.openxmlformats.org/presentationml/2006/main">
  <p:tag name="KSO_WM_DIAGRAM_VIRTUALLY_FRAME" val="{&quot;height&quot;:157.25,&quot;left&quot;:72.4,&quot;top&quot;:284.7,&quot;width&quot;:767.25}"/>
</p:tagLst>
</file>

<file path=ppt/tags/tag34.xml><?xml version="1.0" encoding="utf-8"?>
<p:tagLst xmlns:p="http://schemas.openxmlformats.org/presentationml/2006/main">
  <p:tag name="KSO_WM_DIAGRAM_VIRTUALLY_FRAME" val="{&quot;height&quot;:157.25,&quot;left&quot;:72.4,&quot;top&quot;:284.7,&quot;width&quot;:767.25}"/>
</p:tagLst>
</file>

<file path=ppt/tags/tag35.xml><?xml version="1.0" encoding="utf-8"?>
<p:tagLst xmlns:p="http://schemas.openxmlformats.org/presentationml/2006/main">
  <p:tag name="KSO_WM_DIAGRAM_VIRTUALLY_FRAME" val="{&quot;height&quot;:157.25,&quot;left&quot;:72.4,&quot;top&quot;:284.7,&quot;width&quot;:767.2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E927D"/>
      </a:accent1>
      <a:accent2>
        <a:srgbClr val="9FB26A"/>
      </a:accent2>
      <a:accent3>
        <a:srgbClr val="E0E9C9"/>
      </a:accent3>
      <a:accent4>
        <a:srgbClr val="1D4621"/>
      </a:accent4>
      <a:accent5>
        <a:srgbClr val="E0F0E7"/>
      </a:accent5>
      <a:accent6>
        <a:srgbClr val="58585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E927D"/>
      </a:accent1>
      <a:accent2>
        <a:srgbClr val="9FB26A"/>
      </a:accent2>
      <a:accent3>
        <a:srgbClr val="E0E9C9"/>
      </a:accent3>
      <a:accent4>
        <a:srgbClr val="1D4621"/>
      </a:accent4>
      <a:accent5>
        <a:srgbClr val="E0F0E7"/>
      </a:accent5>
      <a:accent6>
        <a:srgbClr val="58585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14302</Words>
  <Application>WPS 演示</Application>
  <PresentationFormat>On-screen Show (16:9)</PresentationFormat>
  <Paragraphs>612</Paragraphs>
  <Slides>47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8" baseType="lpstr">
      <vt:lpstr>Arial</vt:lpstr>
      <vt:lpstr>宋体</vt:lpstr>
      <vt:lpstr>Wingdings</vt:lpstr>
      <vt:lpstr>MiSans</vt:lpstr>
      <vt:lpstr>MiSans</vt:lpstr>
      <vt:lpstr>微软雅黑</vt:lpstr>
      <vt:lpstr>Arial Unicode MS</vt:lpstr>
      <vt:lpstr>Calibri</vt:lpstr>
      <vt:lpstr>等线</vt:lpstr>
      <vt:lpstr>Wingdings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良心</cp:lastModifiedBy>
  <cp:revision>9</cp:revision>
  <dcterms:created xsi:type="dcterms:W3CDTF">2025-06-30T16:24:00Z</dcterms:created>
  <dcterms:modified xsi:type="dcterms:W3CDTF">2025-07-05T10:27:11Z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6243BDF93D074869A67F47DE7BD7D190_13</vt:lpwstr>
  </property>
  <property fmtid="{D5CDD505-2E9C-101B-9397-08002B2CF9AE}" pid="3" name="KSOProductBuildVer">
    <vt:lpwstr>2052-12.1.0.21915</vt:lpwstr>
  </property>
</Properties>
</file>