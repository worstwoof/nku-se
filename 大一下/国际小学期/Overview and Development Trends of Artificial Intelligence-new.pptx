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3"/>
  </p:notesMasterIdLst>
  <p:sldIdLst>
    <p:sldId id="256" r:id="rId2"/>
    <p:sldId id="471" r:id="rId3"/>
    <p:sldId id="422" r:id="rId4"/>
    <p:sldId id="423" r:id="rId5"/>
    <p:sldId id="420" r:id="rId6"/>
    <p:sldId id="421" r:id="rId7"/>
    <p:sldId id="419" r:id="rId8"/>
    <p:sldId id="259" r:id="rId9"/>
    <p:sldId id="284" r:id="rId10"/>
    <p:sldId id="286" r:id="rId11"/>
    <p:sldId id="362" r:id="rId12"/>
    <p:sldId id="363" r:id="rId13"/>
    <p:sldId id="260" r:id="rId14"/>
    <p:sldId id="364" r:id="rId15"/>
    <p:sldId id="365" r:id="rId16"/>
    <p:sldId id="366" r:id="rId17"/>
    <p:sldId id="367" r:id="rId18"/>
    <p:sldId id="368" r:id="rId19"/>
    <p:sldId id="369" r:id="rId20"/>
    <p:sldId id="370" r:id="rId21"/>
    <p:sldId id="388" r:id="rId22"/>
    <p:sldId id="390" r:id="rId23"/>
    <p:sldId id="391" r:id="rId24"/>
    <p:sldId id="261" r:id="rId25"/>
    <p:sldId id="262" r:id="rId26"/>
    <p:sldId id="263" r:id="rId27"/>
    <p:sldId id="404" r:id="rId28"/>
    <p:sldId id="405" r:id="rId29"/>
    <p:sldId id="406" r:id="rId30"/>
    <p:sldId id="407" r:id="rId31"/>
    <p:sldId id="409" r:id="rId32"/>
    <p:sldId id="410" r:id="rId33"/>
    <p:sldId id="411" r:id="rId34"/>
    <p:sldId id="412" r:id="rId35"/>
    <p:sldId id="424" r:id="rId36"/>
    <p:sldId id="425" r:id="rId37"/>
    <p:sldId id="413" r:id="rId38"/>
    <p:sldId id="426" r:id="rId39"/>
    <p:sldId id="414" r:id="rId40"/>
    <p:sldId id="264" r:id="rId41"/>
    <p:sldId id="415" r:id="rId42"/>
    <p:sldId id="265" r:id="rId43"/>
    <p:sldId id="294" r:id="rId44"/>
    <p:sldId id="295" r:id="rId45"/>
    <p:sldId id="297" r:id="rId46"/>
    <p:sldId id="298" r:id="rId47"/>
    <p:sldId id="299" r:id="rId48"/>
    <p:sldId id="310" r:id="rId49"/>
    <p:sldId id="314" r:id="rId50"/>
    <p:sldId id="315" r:id="rId51"/>
    <p:sldId id="271" r:id="rId52"/>
    <p:sldId id="332" r:id="rId53"/>
    <p:sldId id="334" r:id="rId54"/>
    <p:sldId id="335" r:id="rId55"/>
    <p:sldId id="336" r:id="rId56"/>
    <p:sldId id="338" r:id="rId57"/>
    <p:sldId id="339" r:id="rId58"/>
    <p:sldId id="340" r:id="rId59"/>
    <p:sldId id="342" r:id="rId60"/>
    <p:sldId id="343" r:id="rId61"/>
    <p:sldId id="344" r:id="rId62"/>
    <p:sldId id="346" r:id="rId63"/>
    <p:sldId id="347" r:id="rId64"/>
    <p:sldId id="276" r:id="rId65"/>
    <p:sldId id="277" r:id="rId66"/>
    <p:sldId id="278" r:id="rId67"/>
    <p:sldId id="279" r:id="rId68"/>
    <p:sldId id="280" r:id="rId69"/>
    <p:sldId id="281" r:id="rId70"/>
    <p:sldId id="282" r:id="rId71"/>
    <p:sldId id="283" r:id="rId72"/>
  </p:sldIdLst>
  <p:sldSz cx="12192000" cy="6858000"/>
  <p:notesSz cx="6858000" cy="12192000"/>
  <p:embeddedFontLst>
    <p:embeddedFont>
      <p:font typeface="MiSans" panose="02010600030101010101" charset="-122"/>
      <p:regular r:id="rId74"/>
    </p:embeddedFont>
    <p:embeddedFont>
      <p:font typeface="微软雅黑" panose="020B0503020204020204" pitchFamily="34" charset="-122"/>
      <p:regular r:id="rId75"/>
      <p:bold r:id="rId76"/>
    </p:embeddedFont>
    <p:embeddedFont>
      <p:font typeface="Aharoni" panose="02010803020104030203" pitchFamily="2" charset="-79"/>
      <p:bold r:id="rId7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864" autoAdjust="0"/>
    <p:restoredTop sz="76128" autoAdjust="0"/>
  </p:normalViewPr>
  <p:slideViewPr>
    <p:cSldViewPr snapToGrid="0" snapToObjects="1">
      <p:cViewPr varScale="1">
        <p:scale>
          <a:sx n="94" d="100"/>
          <a:sy n="94" d="100"/>
        </p:scale>
        <p:origin x="45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这个如何讲解？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16744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9.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5.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tags" Target="../tags/tag24.xml"/><Relationship Id="rId18" Type="http://schemas.openxmlformats.org/officeDocument/2006/relationships/tags" Target="../tags/tag29.xml"/><Relationship Id="rId26" Type="http://schemas.openxmlformats.org/officeDocument/2006/relationships/tags" Target="../tags/tag37.xml"/><Relationship Id="rId39" Type="http://schemas.openxmlformats.org/officeDocument/2006/relationships/tags" Target="../tags/tag50.xml"/><Relationship Id="rId21" Type="http://schemas.openxmlformats.org/officeDocument/2006/relationships/tags" Target="../tags/tag32.xml"/><Relationship Id="rId34" Type="http://schemas.openxmlformats.org/officeDocument/2006/relationships/tags" Target="../tags/tag45.xml"/><Relationship Id="rId42" Type="http://schemas.openxmlformats.org/officeDocument/2006/relationships/tags" Target="../tags/tag53.xml"/><Relationship Id="rId47" Type="http://schemas.openxmlformats.org/officeDocument/2006/relationships/tags" Target="../tags/tag58.xml"/><Relationship Id="rId50" Type="http://schemas.openxmlformats.org/officeDocument/2006/relationships/image" Target="../media/image12.png"/><Relationship Id="rId7" Type="http://schemas.openxmlformats.org/officeDocument/2006/relationships/tags" Target="../tags/tag18.xml"/><Relationship Id="rId2" Type="http://schemas.openxmlformats.org/officeDocument/2006/relationships/tags" Target="../tags/tag13.xml"/><Relationship Id="rId16" Type="http://schemas.openxmlformats.org/officeDocument/2006/relationships/tags" Target="../tags/tag27.xml"/><Relationship Id="rId29" Type="http://schemas.openxmlformats.org/officeDocument/2006/relationships/tags" Target="../tags/tag40.xml"/><Relationship Id="rId11" Type="http://schemas.openxmlformats.org/officeDocument/2006/relationships/tags" Target="../tags/tag22.xml"/><Relationship Id="rId24" Type="http://schemas.openxmlformats.org/officeDocument/2006/relationships/tags" Target="../tags/tag35.xml"/><Relationship Id="rId32" Type="http://schemas.openxmlformats.org/officeDocument/2006/relationships/tags" Target="../tags/tag43.xml"/><Relationship Id="rId37" Type="http://schemas.openxmlformats.org/officeDocument/2006/relationships/tags" Target="../tags/tag48.xml"/><Relationship Id="rId40" Type="http://schemas.openxmlformats.org/officeDocument/2006/relationships/tags" Target="../tags/tag51.xml"/><Relationship Id="rId45" Type="http://schemas.openxmlformats.org/officeDocument/2006/relationships/tags" Target="../tags/tag56.xml"/><Relationship Id="rId5" Type="http://schemas.openxmlformats.org/officeDocument/2006/relationships/tags" Target="../tags/tag16.xml"/><Relationship Id="rId15" Type="http://schemas.openxmlformats.org/officeDocument/2006/relationships/tags" Target="../tags/tag26.xml"/><Relationship Id="rId23" Type="http://schemas.openxmlformats.org/officeDocument/2006/relationships/tags" Target="../tags/tag34.xml"/><Relationship Id="rId28" Type="http://schemas.openxmlformats.org/officeDocument/2006/relationships/tags" Target="../tags/tag39.xml"/><Relationship Id="rId36" Type="http://schemas.openxmlformats.org/officeDocument/2006/relationships/tags" Target="../tags/tag47.xml"/><Relationship Id="rId49" Type="http://schemas.openxmlformats.org/officeDocument/2006/relationships/notesSlide" Target="../notesSlides/notesSlide19.xml"/><Relationship Id="rId10" Type="http://schemas.openxmlformats.org/officeDocument/2006/relationships/tags" Target="../tags/tag21.xml"/><Relationship Id="rId19" Type="http://schemas.openxmlformats.org/officeDocument/2006/relationships/tags" Target="../tags/tag30.xml"/><Relationship Id="rId31" Type="http://schemas.openxmlformats.org/officeDocument/2006/relationships/tags" Target="../tags/tag42.xml"/><Relationship Id="rId44" Type="http://schemas.openxmlformats.org/officeDocument/2006/relationships/tags" Target="../tags/tag55.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tags" Target="../tags/tag33.xml"/><Relationship Id="rId27" Type="http://schemas.openxmlformats.org/officeDocument/2006/relationships/tags" Target="../tags/tag38.xml"/><Relationship Id="rId30" Type="http://schemas.openxmlformats.org/officeDocument/2006/relationships/tags" Target="../tags/tag41.xml"/><Relationship Id="rId35" Type="http://schemas.openxmlformats.org/officeDocument/2006/relationships/tags" Target="../tags/tag46.xml"/><Relationship Id="rId43" Type="http://schemas.openxmlformats.org/officeDocument/2006/relationships/tags" Target="../tags/tag54.xml"/><Relationship Id="rId48" Type="http://schemas.openxmlformats.org/officeDocument/2006/relationships/slideLayout" Target="../slideLayouts/slideLayout1.xml"/><Relationship Id="rId8" Type="http://schemas.openxmlformats.org/officeDocument/2006/relationships/tags" Target="../tags/tag19.xml"/><Relationship Id="rId51" Type="http://schemas.openxmlformats.org/officeDocument/2006/relationships/image" Target="../media/image20.png"/><Relationship Id="rId3" Type="http://schemas.openxmlformats.org/officeDocument/2006/relationships/tags" Target="../tags/tag14.xml"/><Relationship Id="rId12" Type="http://schemas.openxmlformats.org/officeDocument/2006/relationships/tags" Target="../tags/tag23.xml"/><Relationship Id="rId17" Type="http://schemas.openxmlformats.org/officeDocument/2006/relationships/tags" Target="../tags/tag28.xml"/><Relationship Id="rId25" Type="http://schemas.openxmlformats.org/officeDocument/2006/relationships/tags" Target="../tags/tag36.xml"/><Relationship Id="rId33" Type="http://schemas.openxmlformats.org/officeDocument/2006/relationships/tags" Target="../tags/tag44.xml"/><Relationship Id="rId38" Type="http://schemas.openxmlformats.org/officeDocument/2006/relationships/tags" Target="../tags/tag49.xml"/><Relationship Id="rId46" Type="http://schemas.openxmlformats.org/officeDocument/2006/relationships/tags" Target="../tags/tag57.xml"/><Relationship Id="rId20" Type="http://schemas.openxmlformats.org/officeDocument/2006/relationships/tags" Target="../tags/tag31.xml"/><Relationship Id="rId41" Type="http://schemas.openxmlformats.org/officeDocument/2006/relationships/tags" Target="../tags/tag52.xml"/><Relationship Id="rId1" Type="http://schemas.openxmlformats.org/officeDocument/2006/relationships/tags" Target="../tags/tag12.xml"/><Relationship Id="rId6" Type="http://schemas.openxmlformats.org/officeDocument/2006/relationships/tags" Target="../tags/tag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slideLayout" Target="../slideLayouts/slideLayout1.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image" Target="../media/image19.png"/><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2"/>
          <p:cNvSpPr/>
          <p:nvPr/>
        </p:nvSpPr>
        <p:spPr>
          <a:xfrm>
            <a:off x="574765" y="3105153"/>
            <a:ext cx="3290887" cy="349227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600" b="1" dirty="0">
                <a:latin typeface="Aharoni" panose="02010803020104030203" pitchFamily="2" charset="-79"/>
                <a:ea typeface="+mj-ea"/>
                <a:cs typeface="Aharoni" panose="02010803020104030203" pitchFamily="2" charset="-79"/>
                <a:sym typeface="+mn-ea"/>
              </a:rPr>
              <a:t>AI Briefings and Its Development Trends</a:t>
            </a:r>
            <a:endParaRPr lang="en-US" sz="3600" b="1" dirty="0">
              <a:latin typeface="Aharoni" panose="02010803020104030203" pitchFamily="2" charset="-79"/>
              <a:ea typeface="+mj-ea"/>
              <a:cs typeface="Aharoni" panose="02010803020104030203" pitchFamily="2" charset="-79"/>
            </a:endParaRPr>
          </a:p>
        </p:txBody>
      </p:sp>
      <p:pic>
        <p:nvPicPr>
          <p:cNvPr id="2" name="Image 0"/>
          <p:cNvPicPr>
            <a:picLocks noChangeAspect="1"/>
          </p:cNvPicPr>
          <p:nvPr/>
        </p:nvPicPr>
        <p:blipFill>
          <a:blip r:embed="rId3"/>
          <a:srcRect r="9644" b="1"/>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7" name="TextBox 6"/>
          <p:cNvSpPr txBox="1"/>
          <p:nvPr/>
        </p:nvSpPr>
        <p:spPr>
          <a:xfrm>
            <a:off x="2952206" y="3948791"/>
            <a:ext cx="10624457" cy="2452687"/>
          </a:xfrm>
          <a:prstGeom prst="rect">
            <a:avLst/>
          </a:prstGeom>
        </p:spPr>
        <p:txBody>
          <a:bodyPr vert="horz" lIns="91440" tIns="45720" rIns="91440" bIns="45720" rtlCol="0" anchor="ctr">
            <a:noAutofit/>
          </a:bodyPr>
          <a:lstStyle/>
          <a:p>
            <a:pPr>
              <a:lnSpc>
                <a:spcPct val="90000"/>
              </a:lnSpc>
              <a:spcAft>
                <a:spcPts val="600"/>
              </a:spcAft>
            </a:pPr>
            <a:r>
              <a:rPr lang="en-US" sz="2000" dirty="0">
                <a:sym typeface="+mn-ea"/>
              </a:rPr>
              <a:t>            </a:t>
            </a:r>
            <a:r>
              <a:rPr lang="en-US" sz="2000" b="1" dirty="0">
                <a:ln/>
                <a:effectLst>
                  <a:outerShdw blurRad="38100" dist="19050" dir="2700000" algn="tl" rotWithShape="0">
                    <a:schemeClr val="dk1">
                      <a:alpha val="40000"/>
                    </a:schemeClr>
                  </a:outerShdw>
                </a:effectLst>
                <a:sym typeface="+mn-ea"/>
              </a:rPr>
              <a:t>B</a:t>
            </a:r>
            <a:r>
              <a:rPr lang="en-US" sz="2000" dirty="0">
                <a:ln/>
                <a:effectLst>
                  <a:outerShdw blurRad="38100" dist="19050" dir="2700000" algn="tl" rotWithShape="0">
                    <a:schemeClr val="dk1">
                      <a:alpha val="40000"/>
                    </a:schemeClr>
                  </a:outerShdw>
                </a:effectLst>
                <a:sym typeface="+mn-ea"/>
              </a:rPr>
              <a:t>igger Data : </a:t>
            </a:r>
            <a:r>
              <a:rPr lang="en-US" sz="2000" b="1" dirty="0">
                <a:ln/>
                <a:effectLst>
                  <a:outerShdw blurRad="38100" dist="19050" dir="2700000" algn="tl" rotWithShape="0">
                    <a:schemeClr val="dk1">
                      <a:alpha val="40000"/>
                    </a:schemeClr>
                  </a:outerShdw>
                </a:effectLst>
                <a:sym typeface="+mn-ea"/>
              </a:rPr>
              <a:t>A</a:t>
            </a:r>
            <a:r>
              <a:rPr lang="en-US" sz="2000" dirty="0">
                <a:ln/>
                <a:effectLst>
                  <a:outerShdw blurRad="38100" dist="19050" dir="2700000" algn="tl" rotWithShape="0">
                    <a:schemeClr val="dk1">
                      <a:alpha val="40000"/>
                    </a:schemeClr>
                  </a:outerShdw>
                </a:effectLst>
                <a:sym typeface="+mn-ea"/>
              </a:rPr>
              <a:t>dversarial Attacks : </a:t>
            </a:r>
            <a:r>
              <a:rPr lang="en-US" sz="2000" b="1" dirty="0">
                <a:ln/>
                <a:effectLst>
                  <a:outerShdw blurRad="38100" dist="19050" dir="2700000" algn="tl" rotWithShape="0">
                    <a:schemeClr val="dk1">
                      <a:alpha val="40000"/>
                    </a:schemeClr>
                  </a:outerShdw>
                </a:effectLst>
                <a:sym typeface="+mn-ea"/>
              </a:rPr>
              <a:t>S</a:t>
            </a:r>
            <a:r>
              <a:rPr lang="en-US" sz="2000" dirty="0">
                <a:ln/>
                <a:effectLst>
                  <a:outerShdw blurRad="38100" dist="19050" dir="2700000" algn="tl" rotWithShape="0">
                    <a:schemeClr val="dk1">
                      <a:alpha val="40000"/>
                    </a:schemeClr>
                  </a:outerShdw>
                </a:effectLst>
                <a:sym typeface="+mn-ea"/>
              </a:rPr>
              <a:t>marter Decisions : </a:t>
            </a:r>
            <a:r>
              <a:rPr lang="en-US" sz="2000" b="1" dirty="0">
                <a:ln/>
                <a:effectLst>
                  <a:outerShdw blurRad="38100" dist="19050" dir="2700000" algn="tl" rotWithShape="0">
                    <a:schemeClr val="dk1">
                      <a:alpha val="40000"/>
                    </a:schemeClr>
                  </a:outerShdw>
                </a:effectLst>
                <a:sym typeface="+mn-ea"/>
              </a:rPr>
              <a:t>E</a:t>
            </a:r>
            <a:r>
              <a:rPr lang="en-US" sz="2000" dirty="0">
                <a:ln/>
                <a:effectLst>
                  <a:outerShdw blurRad="38100" dist="19050" dir="2700000" algn="tl" rotWithShape="0">
                    <a:schemeClr val="dk1">
                      <a:alpha val="40000"/>
                    </a:schemeClr>
                  </a:outerShdw>
                </a:effectLst>
                <a:sym typeface="+mn-ea"/>
              </a:rPr>
              <a:t>xceptional Future</a:t>
            </a:r>
          </a:p>
          <a:p>
            <a:pPr>
              <a:lnSpc>
                <a:spcPct val="90000"/>
              </a:lnSpc>
              <a:spcAft>
                <a:spcPts val="600"/>
              </a:spcAft>
            </a:pPr>
            <a:r>
              <a:rPr lang="en-US" sz="2000" dirty="0">
                <a:ln/>
                <a:effectLst>
                  <a:outerShdw blurRad="38100" dist="19050" dir="2700000" algn="tl" rotWithShape="0">
                    <a:schemeClr val="dk1">
                      <a:alpha val="40000"/>
                    </a:schemeClr>
                  </a:outerShdw>
                </a:effectLst>
                <a:sym typeface="+mn-ea"/>
              </a:rPr>
              <a:t>                                             </a:t>
            </a:r>
          </a:p>
          <a:p>
            <a:pPr>
              <a:lnSpc>
                <a:spcPct val="90000"/>
              </a:lnSpc>
              <a:spcAft>
                <a:spcPts val="600"/>
              </a:spcAft>
            </a:pPr>
            <a:r>
              <a:rPr lang="en-US" altLang="zh-CN" sz="2000" b="1" dirty="0">
                <a:ln/>
                <a:effectLst>
                  <a:outerShdw blurRad="38100" dist="19050" dir="2700000" algn="tl" rotWithShape="0">
                    <a:schemeClr val="dk1">
                      <a:alpha val="40000"/>
                    </a:schemeClr>
                  </a:outerShdw>
                </a:effectLst>
                <a:sym typeface="+mn-ea"/>
              </a:rPr>
              <a:t>                                            </a:t>
            </a:r>
            <a:r>
              <a:rPr lang="zh-CN" altLang="en-US" sz="2000" b="1" dirty="0">
                <a:ln/>
                <a:effectLst>
                  <a:outerShdw blurRad="38100" dist="19050" dir="2700000" algn="tl" rotWithShape="0">
                    <a:schemeClr val="dk1">
                      <a:alpha val="40000"/>
                    </a:schemeClr>
                  </a:outerShdw>
                </a:effectLst>
                <a:sym typeface="+mn-ea"/>
              </a:rPr>
              <a:t>江明， 博士，</a:t>
            </a:r>
            <a:r>
              <a:rPr lang="en-US" altLang="zh-CN" sz="2000" b="1" dirty="0">
                <a:ln/>
                <a:effectLst>
                  <a:outerShdw blurRad="38100" dist="19050" dir="2700000" algn="tl" rotWithShape="0">
                    <a:schemeClr val="dk1">
                      <a:alpha val="40000"/>
                    </a:schemeClr>
                  </a:outerShdw>
                </a:effectLst>
                <a:sym typeface="+mn-ea"/>
              </a:rPr>
              <a:t> </a:t>
            </a:r>
            <a:r>
              <a:rPr lang="zh-CN" altLang="en-US" sz="2000" b="1" dirty="0">
                <a:ln/>
                <a:effectLst>
                  <a:outerShdw blurRad="38100" dist="19050" dir="2700000" algn="tl" rotWithShape="0">
                    <a:schemeClr val="dk1">
                      <a:alpha val="40000"/>
                    </a:schemeClr>
                  </a:outerShdw>
                </a:effectLst>
                <a:sym typeface="+mn-ea"/>
              </a:rPr>
              <a:t>教授， 博导</a:t>
            </a:r>
            <a:endParaRPr lang="en-US" altLang="zh-CN" sz="2000" b="1" dirty="0">
              <a:ln/>
              <a:effectLst>
                <a:outerShdw blurRad="38100" dist="19050" dir="2700000" algn="tl" rotWithShape="0">
                  <a:schemeClr val="dk1">
                    <a:alpha val="40000"/>
                  </a:schemeClr>
                </a:outerShdw>
              </a:effectLst>
              <a:sym typeface="+mn-ea"/>
            </a:endParaRPr>
          </a:p>
          <a:p>
            <a:pPr indent="-228600">
              <a:lnSpc>
                <a:spcPct val="90000"/>
              </a:lnSpc>
              <a:spcAft>
                <a:spcPts val="600"/>
              </a:spcAft>
              <a:buFont typeface="Arial" panose="020B0604020202020204" pitchFamily="34" charset="0"/>
              <a:buChar char="•"/>
            </a:pPr>
            <a:endParaRPr lang="en-US" sz="2000" b="1" dirty="0">
              <a:ln/>
              <a:effectLst>
                <a:outerShdw blurRad="38100" dist="19050" dir="2700000" algn="tl" rotWithShape="0">
                  <a:schemeClr val="dk1">
                    <a:alpha val="40000"/>
                  </a:schemeClr>
                </a:outerShdw>
              </a:effectLst>
              <a:sym typeface="+mn-ea"/>
            </a:endParaRPr>
          </a:p>
          <a:p>
            <a:pPr>
              <a:lnSpc>
                <a:spcPct val="90000"/>
              </a:lnSpc>
              <a:spcAft>
                <a:spcPts val="600"/>
              </a:spcAft>
            </a:pPr>
            <a:r>
              <a:rPr lang="en-US" altLang="zh-CN" sz="2000" dirty="0">
                <a:ln/>
                <a:effectLst>
                  <a:outerShdw blurRad="38100" dist="19050" dir="2700000" algn="tl" rotWithShape="0">
                    <a:schemeClr val="dk1">
                      <a:alpha val="40000"/>
                    </a:schemeClr>
                  </a:outerShdw>
                </a:effectLst>
              </a:rPr>
              <a:t>               Faculty of Engineering and IT, </a:t>
            </a:r>
            <a:r>
              <a:rPr lang="en-US" altLang="zh-CN" sz="2000" dirty="0" err="1">
                <a:ln/>
                <a:effectLst>
                  <a:outerShdw blurRad="38100" dist="19050" dir="2700000" algn="tl" rotWithShape="0">
                    <a:schemeClr val="dk1">
                      <a:alpha val="40000"/>
                    </a:schemeClr>
                  </a:outerShdw>
                </a:effectLst>
              </a:rPr>
              <a:t>Univeristy</a:t>
            </a:r>
            <a:r>
              <a:rPr lang="en-US" altLang="zh-CN" sz="2000" dirty="0">
                <a:ln/>
                <a:effectLst>
                  <a:outerShdw blurRad="38100" dist="19050" dir="2700000" algn="tl" rotWithShape="0">
                    <a:schemeClr val="dk1">
                      <a:alpha val="40000"/>
                    </a:schemeClr>
                  </a:outerShdw>
                </a:effectLst>
              </a:rPr>
              <a:t> of Technology, Sydney, </a:t>
            </a:r>
          </a:p>
          <a:p>
            <a:pPr>
              <a:lnSpc>
                <a:spcPct val="90000"/>
              </a:lnSpc>
              <a:spcAft>
                <a:spcPts val="600"/>
              </a:spcAft>
            </a:pPr>
            <a:r>
              <a:rPr lang="en-US" altLang="zh-CN" sz="2000" dirty="0">
                <a:ln/>
                <a:effectLst>
                  <a:outerShdw blurRad="38100" dist="19050" dir="2700000" algn="tl" rotWithShape="0">
                    <a:schemeClr val="dk1">
                      <a:alpha val="40000"/>
                    </a:schemeClr>
                  </a:outerShdw>
                </a:effectLst>
              </a:rPr>
              <a:t>       Cyber Security Research Institute, Deakin University, Melbourne, Australia</a:t>
            </a:r>
          </a:p>
          <a:p>
            <a:pPr>
              <a:lnSpc>
                <a:spcPct val="90000"/>
              </a:lnSpc>
              <a:spcAft>
                <a:spcPts val="600"/>
              </a:spcAft>
            </a:pPr>
            <a:r>
              <a:rPr lang="en-US" altLang="zh-CN" sz="2000" dirty="0">
                <a:ln/>
                <a:effectLst>
                  <a:outerShdw blurRad="38100" dist="19050" dir="2700000" algn="tl" rotWithShape="0">
                    <a:schemeClr val="dk1">
                      <a:alpha val="40000"/>
                    </a:schemeClr>
                  </a:outerShdw>
                </a:effectLst>
              </a:rPr>
              <a:t> Former Member of Australian Centre for Cyber Security (ACCS), at UNSW Canberra</a:t>
            </a:r>
          </a:p>
        </p:txBody>
      </p:sp>
      <p:sp>
        <p:nvSpPr>
          <p:cNvPr id="6" name="TextBox 5">
            <a:extLst>
              <a:ext uri="{FF2B5EF4-FFF2-40B4-BE49-F238E27FC236}">
                <a16:creationId xmlns:a16="http://schemas.microsoft.com/office/drawing/2014/main" id="{C50BBF0D-43AE-92E8-A127-45A0BFA047B5}"/>
              </a:ext>
            </a:extLst>
          </p:cNvPr>
          <p:cNvSpPr txBox="1"/>
          <p:nvPr/>
        </p:nvSpPr>
        <p:spPr>
          <a:xfrm>
            <a:off x="498021" y="6531429"/>
            <a:ext cx="8490858" cy="646331"/>
          </a:xfrm>
          <a:prstGeom prst="rect">
            <a:avLst/>
          </a:prstGeom>
          <a:noFill/>
        </p:spPr>
        <p:txBody>
          <a:bodyPr wrap="square" rtlCol="0">
            <a:spAutoFit/>
          </a:bodyPr>
          <a:lstStyle/>
          <a:p>
            <a:r>
              <a:rPr lang="en-AU" b="1" i="1" dirty="0"/>
              <a:t>Teaching Unit: Emerging Frontiers in AI, Computational Intelligence, and Data Analytics </a:t>
            </a:r>
          </a:p>
          <a:p>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4281170" y="21590"/>
            <a:ext cx="3862070" cy="521970"/>
          </a:xfrm>
          <a:prstGeom prst="rect">
            <a:avLst/>
          </a:prstGeom>
          <a:solidFill>
            <a:schemeClr val="bg2"/>
          </a:solidFill>
        </p:spPr>
        <p:txBody>
          <a:bodyPr wrap="square" rtlCol="0">
            <a:spAutoFit/>
          </a:bodyPr>
          <a:lstStyle/>
          <a:p>
            <a:pPr algn="l"/>
            <a:r>
              <a:rPr lang="en-US" altLang="zh-CN" sz="2800" dirty="0">
                <a:solidFill>
                  <a:schemeClr val="bg1"/>
                </a:solidFill>
                <a:sym typeface="+mn-ea"/>
              </a:rPr>
              <a:t> </a:t>
            </a:r>
            <a:r>
              <a:rPr lang="en-US" altLang="zh-CN" sz="2800" dirty="0">
                <a:latin typeface="微软雅黑" panose="020B0503020204020204" pitchFamily="34" charset="-122"/>
                <a:ea typeface="微软雅黑" panose="020B0503020204020204" pitchFamily="34" charset="-122"/>
                <a:sym typeface="+mn-ea"/>
              </a:rPr>
              <a:t>1.Self-Introduction</a:t>
            </a:r>
            <a:endParaRPr lang="zh-CN" altLang="en-US" sz="2800" dirty="0">
              <a:latin typeface="微软雅黑" panose="020B0503020204020204" pitchFamily="34" charset="-122"/>
              <a:ea typeface="微软雅黑" panose="020B0503020204020204" pitchFamily="34" charset="-122"/>
            </a:endParaRPr>
          </a:p>
        </p:txBody>
      </p:sp>
      <p:sp>
        <p:nvSpPr>
          <p:cNvPr id="10" name="Rectangle 9"/>
          <p:cNvSpPr/>
          <p:nvPr/>
        </p:nvSpPr>
        <p:spPr>
          <a:xfrm>
            <a:off x="658495" y="839998"/>
            <a:ext cx="10552429" cy="1077218"/>
          </a:xfrm>
          <a:prstGeom prst="rect">
            <a:avLst/>
          </a:prstGeom>
        </p:spPr>
        <p:txBody>
          <a:bodyPr wrap="square">
            <a:spAutoFit/>
          </a:bodyPr>
          <a:lstStyle/>
          <a:p>
            <a:r>
              <a:rPr lang="en-AU" altLang="zh-CN" sz="1600" b="1" dirty="0">
                <a:latin typeface="微软雅黑" panose="020B0503020204020204" pitchFamily="34" charset="-122"/>
                <a:ea typeface="微软雅黑" panose="020B0503020204020204" pitchFamily="34" charset="-122"/>
              </a:rPr>
              <a:t>Over 15 years academic experiences, 9 years of teaching</a:t>
            </a:r>
          </a:p>
          <a:p>
            <a:r>
              <a:rPr lang="en-AU" altLang="zh-CN" sz="1600" b="1" dirty="0">
                <a:latin typeface="微软雅黑" panose="020B0503020204020204" pitchFamily="34" charset="-122"/>
                <a:ea typeface="微软雅黑" panose="020B0503020204020204" pitchFamily="34" charset="-122"/>
              </a:rPr>
              <a:t>Research areas - Data driven cyber security, Fault analysis/Fraud Detection, Social network spamming detection, Computational Intelligence and applications.</a:t>
            </a:r>
          </a:p>
          <a:p>
            <a:r>
              <a:rPr lang="en-AU" altLang="zh-CN" sz="1600" b="1" dirty="0">
                <a:latin typeface="微软雅黑" panose="020B0503020204020204" pitchFamily="34" charset="-122"/>
                <a:ea typeface="微软雅黑" panose="020B0503020204020204" pitchFamily="34" charset="-122"/>
              </a:rPr>
              <a:t>Mastery of theoretic knowledge on anti-cyber attacks with rich industrial project experiences</a:t>
            </a:r>
          </a:p>
        </p:txBody>
      </p:sp>
      <p:sp>
        <p:nvSpPr>
          <p:cNvPr id="46" name="椭圆 45"/>
          <p:cNvSpPr/>
          <p:nvPr/>
        </p:nvSpPr>
        <p:spPr>
          <a:xfrm>
            <a:off x="75071" y="2142150"/>
            <a:ext cx="541020" cy="487045"/>
          </a:xfrm>
          <a:prstGeom prst="ellipse">
            <a:avLst/>
          </a:prstGeom>
          <a:solidFill>
            <a:srgbClr val="159FDD"/>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1</a:t>
            </a:r>
          </a:p>
        </p:txBody>
      </p:sp>
      <p:sp>
        <p:nvSpPr>
          <p:cNvPr id="21" name="文本框 5"/>
          <p:cNvSpPr txBox="1">
            <a:spLocks noChangeArrowheads="1"/>
          </p:cNvSpPr>
          <p:nvPr/>
        </p:nvSpPr>
        <p:spPr bwMode="auto">
          <a:xfrm>
            <a:off x="666898" y="2036873"/>
            <a:ext cx="680940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en-US" altLang="zh-CN" sz="1600" b="1" dirty="0">
                <a:latin typeface="微软雅黑" panose="020B0503020204020204" pitchFamily="34" charset="-122"/>
                <a:ea typeface="微软雅黑" panose="020B0503020204020204" pitchFamily="34" charset="-122"/>
                <a:sym typeface="+mn-ea"/>
              </a:rPr>
              <a:t>A</a:t>
            </a:r>
            <a:r>
              <a:rPr lang="en-AU" altLang="zh-CN" sz="1600" b="1" dirty="0">
                <a:latin typeface="微软雅黑" panose="020B0503020204020204" pitchFamily="34" charset="-122"/>
                <a:ea typeface="微软雅黑" panose="020B0503020204020204" pitchFamily="34" charset="-122"/>
                <a:sym typeface="+mn-ea"/>
              </a:rPr>
              <a:t>/P in University of Technology, Sydney and Deakin University, Course Director </a:t>
            </a:r>
            <a:r>
              <a:rPr lang="en-US" altLang="zh-CN" sz="1600" b="1" dirty="0">
                <a:latin typeface="微软雅黑" panose="020B0503020204020204" pitchFamily="34" charset="-122"/>
                <a:ea typeface="微软雅黑" panose="020B0503020204020204" pitchFamily="34" charset="-122"/>
                <a:sym typeface="+mn-ea"/>
              </a:rPr>
              <a:t>(Bachelor);</a:t>
            </a:r>
          </a:p>
          <a:p>
            <a:pPr>
              <a:lnSpc>
                <a:spcPct val="100000"/>
              </a:lnSpc>
              <a:spcBef>
                <a:spcPct val="0"/>
              </a:spcBef>
              <a:buNone/>
            </a:pPr>
            <a:endParaRPr lang="en-US" altLang="zh-CN" sz="1600" b="1" dirty="0">
              <a:latin typeface="微软雅黑" panose="020B0503020204020204" pitchFamily="34" charset="-122"/>
              <a:ea typeface="微软雅黑" panose="020B0503020204020204" pitchFamily="34" charset="-122"/>
            </a:endParaRPr>
          </a:p>
          <a:p>
            <a:pPr>
              <a:lnSpc>
                <a:spcPct val="100000"/>
              </a:lnSpc>
              <a:spcBef>
                <a:spcPct val="0"/>
              </a:spcBef>
              <a:buNone/>
            </a:pPr>
            <a:r>
              <a:rPr lang="en-US" altLang="zh-CN" sz="1600" b="1" dirty="0">
                <a:latin typeface="微软雅黑" panose="020B0503020204020204" pitchFamily="34" charset="-122"/>
                <a:ea typeface="微软雅黑" panose="020B0503020204020204" pitchFamily="34" charset="-122"/>
              </a:rPr>
              <a:t>UNSW VC Postdoctoral Fellowship, 2011</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Supervisor</a:t>
            </a:r>
            <a:r>
              <a:rPr lang="zh-CN" altLang="en-US" sz="1600" b="1" dirty="0">
                <a:latin typeface="微软雅黑" panose="020B0503020204020204" pitchFamily="34" charset="-122"/>
                <a:ea typeface="微软雅黑" panose="020B0503020204020204" pitchFamily="34" charset="-122"/>
              </a:rPr>
              <a:t>：Prof. Michael R. Frater</a:t>
            </a:r>
            <a:r>
              <a:rPr lang="en-GB" altLang="zh-CN" sz="1600" b="1" dirty="0">
                <a:latin typeface="微软雅黑" panose="020B0503020204020204" pitchFamily="34" charset="-122"/>
                <a:ea typeface="微软雅黑" panose="020B0503020204020204" pitchFamily="34" charset="-122"/>
              </a:rPr>
              <a:t>, Rector of UNSW@ADFA</a:t>
            </a:r>
            <a:r>
              <a:rPr lang="zh-CN" altLang="en-US" sz="1600" b="1" dirty="0">
                <a:latin typeface="微软雅黑" panose="020B0503020204020204" pitchFamily="34" charset="-122"/>
                <a:ea typeface="微软雅黑" panose="020B0503020204020204" pitchFamily="34" charset="-122"/>
              </a:rPr>
              <a:t>）</a:t>
            </a:r>
            <a:endParaRPr lang="en-AU" altLang="zh-CN" sz="1600" b="1" dirty="0">
              <a:latin typeface="微软雅黑" panose="020B0503020204020204" pitchFamily="34" charset="-122"/>
              <a:ea typeface="微软雅黑" panose="020B0503020204020204" pitchFamily="34" charset="-122"/>
            </a:endParaRPr>
          </a:p>
        </p:txBody>
      </p:sp>
      <p:sp>
        <p:nvSpPr>
          <p:cNvPr id="27" name="文本框 5"/>
          <p:cNvSpPr txBox="1">
            <a:spLocks noChangeArrowheads="1"/>
          </p:cNvSpPr>
          <p:nvPr/>
        </p:nvSpPr>
        <p:spPr bwMode="auto">
          <a:xfrm>
            <a:off x="704103" y="3365076"/>
            <a:ext cx="66891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en-AU" altLang="zh-CN" sz="1600" b="1" dirty="0">
                <a:latin typeface="微软雅黑" panose="020B0503020204020204" pitchFamily="34" charset="-122"/>
                <a:ea typeface="微软雅黑" panose="020B0503020204020204" pitchFamily="34" charset="-122"/>
              </a:rPr>
              <a:t>PhD,</a:t>
            </a:r>
            <a:r>
              <a:rPr lang="zh-CN" altLang="en-US" sz="1600" b="1" dirty="0">
                <a:latin typeface="微软雅黑" panose="020B0503020204020204" pitchFamily="34" charset="-122"/>
                <a:ea typeface="微软雅黑" panose="020B0503020204020204" pitchFamily="34" charset="-122"/>
              </a:rPr>
              <a:t> </a:t>
            </a:r>
            <a:r>
              <a:rPr lang="en-AU" altLang="zh-CN" sz="1600" b="1" dirty="0">
                <a:latin typeface="微软雅黑" panose="020B0503020204020204" pitchFamily="34" charset="-122"/>
                <a:ea typeface="微软雅黑" panose="020B0503020204020204" pitchFamily="34" charset="-122"/>
              </a:rPr>
              <a:t>UTS</a:t>
            </a:r>
            <a:r>
              <a:rPr lang="zh-CN" altLang="en-US" sz="1600" b="1" dirty="0">
                <a:latin typeface="微软雅黑" panose="020B0503020204020204" pitchFamily="34" charset="-122"/>
                <a:ea typeface="微软雅黑" panose="020B0503020204020204" pitchFamily="34" charset="-122"/>
              </a:rPr>
              <a:t>（</a:t>
            </a:r>
            <a:r>
              <a:rPr lang="en-AU" altLang="zh-CN" sz="1600" b="1" dirty="0">
                <a:latin typeface="微软雅黑" panose="020B0503020204020204" pitchFamily="34" charset="-122"/>
                <a:ea typeface="微软雅黑" panose="020B0503020204020204" pitchFamily="34" charset="-122"/>
              </a:rPr>
              <a:t>Supervisor</a:t>
            </a:r>
            <a:r>
              <a:rPr lang="zh-CN" altLang="en-US" sz="1600" b="1" dirty="0">
                <a:latin typeface="微软雅黑" panose="020B0503020204020204" pitchFamily="34" charset="-122"/>
                <a:ea typeface="微软雅黑" panose="020B0503020204020204" pitchFamily="34" charset="-122"/>
              </a:rPr>
              <a:t>：</a:t>
            </a:r>
            <a:r>
              <a:rPr lang="en-AU" altLang="zh-CN" sz="1600" b="1" dirty="0">
                <a:latin typeface="微软雅黑" panose="020B0503020204020204" pitchFamily="34" charset="-122"/>
                <a:ea typeface="微软雅黑" panose="020B0503020204020204" pitchFamily="34" charset="-122"/>
              </a:rPr>
              <a:t>Hung T. Nguyen, Former Dean of FEIT, UTS</a:t>
            </a:r>
            <a:r>
              <a:rPr lang="zh-CN" altLang="en-US" sz="1600" b="1" dirty="0">
                <a:latin typeface="微软雅黑" panose="020B0503020204020204" pitchFamily="34" charset="-122"/>
                <a:ea typeface="微软雅黑" panose="020B0503020204020204" pitchFamily="34" charset="-122"/>
              </a:rPr>
              <a:t>）</a:t>
            </a:r>
          </a:p>
        </p:txBody>
      </p:sp>
      <p:sp>
        <p:nvSpPr>
          <p:cNvPr id="33" name="文本框 5"/>
          <p:cNvSpPr txBox="1">
            <a:spLocks noChangeArrowheads="1"/>
          </p:cNvSpPr>
          <p:nvPr/>
        </p:nvSpPr>
        <p:spPr bwMode="auto">
          <a:xfrm>
            <a:off x="704103" y="4087447"/>
            <a:ext cx="6096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en-AU" altLang="zh-CN" sz="1600" b="1" dirty="0">
                <a:latin typeface="微软雅黑" panose="020B0503020204020204" pitchFamily="34" charset="-122"/>
                <a:ea typeface="微软雅黑" panose="020B0503020204020204" pitchFamily="34" charset="-122"/>
                <a:sym typeface="+mn-ea"/>
              </a:rPr>
              <a:t>Master of Computer Science, UNSW</a:t>
            </a:r>
            <a:r>
              <a:rPr lang="zh-CN" altLang="en-US" sz="1600" b="1" dirty="0">
                <a:latin typeface="微软雅黑" panose="020B0503020204020204" pitchFamily="34" charset="-122"/>
                <a:ea typeface="微软雅黑" panose="020B0503020204020204" pitchFamily="34" charset="-122"/>
                <a:sym typeface="+mn-ea"/>
              </a:rPr>
              <a:t>（</a:t>
            </a:r>
            <a:r>
              <a:rPr lang="en-AU" altLang="zh-CN" sz="1600" b="1" dirty="0">
                <a:latin typeface="微软雅黑" panose="020B0503020204020204" pitchFamily="34" charset="-122"/>
                <a:ea typeface="微软雅黑" panose="020B0503020204020204" pitchFamily="34" charset="-122"/>
                <a:sym typeface="+mn-ea"/>
              </a:rPr>
              <a:t>Supervisor</a:t>
            </a:r>
            <a:r>
              <a:rPr lang="zh-CN" altLang="en-US" sz="1600" b="1" dirty="0">
                <a:latin typeface="微软雅黑" panose="020B0503020204020204" pitchFamily="34" charset="-122"/>
                <a:ea typeface="微软雅黑" panose="020B0503020204020204" pitchFamily="34" charset="-122"/>
                <a:sym typeface="+mn-ea"/>
              </a:rPr>
              <a:t>：Prof. Ian R. Petersen</a:t>
            </a:r>
            <a:r>
              <a:rPr lang="en-GB" altLang="zh-CN" sz="1600" b="1" dirty="0">
                <a:latin typeface="微软雅黑" panose="020B0503020204020204" pitchFamily="34" charset="-122"/>
                <a:ea typeface="微软雅黑" panose="020B0503020204020204" pitchFamily="34" charset="-122"/>
                <a:sym typeface="+mn-ea"/>
              </a:rPr>
              <a:t>, ANU, Former ARC Chair</a:t>
            </a:r>
            <a:r>
              <a:rPr lang="zh-CN" altLang="en-US" sz="1600" b="1" dirty="0">
                <a:latin typeface="微软雅黑" panose="020B0503020204020204" pitchFamily="34" charset="-122"/>
                <a:ea typeface="微软雅黑" panose="020B0503020204020204" pitchFamily="34" charset="-122"/>
                <a:sym typeface="+mn-ea"/>
              </a:rPr>
              <a:t>）</a:t>
            </a:r>
          </a:p>
        </p:txBody>
      </p:sp>
      <p:sp>
        <p:nvSpPr>
          <p:cNvPr id="3" name="椭圆 2"/>
          <p:cNvSpPr/>
          <p:nvPr/>
        </p:nvSpPr>
        <p:spPr>
          <a:xfrm>
            <a:off x="117475" y="3299445"/>
            <a:ext cx="541020" cy="487045"/>
          </a:xfrm>
          <a:prstGeom prst="ellipse">
            <a:avLst/>
          </a:prstGeom>
          <a:solidFill>
            <a:srgbClr val="159FDD"/>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2</a:t>
            </a:r>
          </a:p>
        </p:txBody>
      </p:sp>
      <p:sp>
        <p:nvSpPr>
          <p:cNvPr id="4" name="椭圆 3"/>
          <p:cNvSpPr/>
          <p:nvPr/>
        </p:nvSpPr>
        <p:spPr>
          <a:xfrm>
            <a:off x="117475" y="4864431"/>
            <a:ext cx="541020" cy="487045"/>
          </a:xfrm>
          <a:prstGeom prst="ellipse">
            <a:avLst/>
          </a:prstGeom>
          <a:solidFill>
            <a:srgbClr val="159FDD"/>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4</a:t>
            </a:r>
          </a:p>
        </p:txBody>
      </p:sp>
      <p:sp>
        <p:nvSpPr>
          <p:cNvPr id="5" name="椭圆 4"/>
          <p:cNvSpPr/>
          <p:nvPr/>
        </p:nvSpPr>
        <p:spPr>
          <a:xfrm>
            <a:off x="125878" y="4069737"/>
            <a:ext cx="541020" cy="487045"/>
          </a:xfrm>
          <a:prstGeom prst="ellipse">
            <a:avLst/>
          </a:prstGeom>
          <a:solidFill>
            <a:srgbClr val="159FDD"/>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3</a:t>
            </a:r>
          </a:p>
        </p:txBody>
      </p:sp>
      <p:pic>
        <p:nvPicPr>
          <p:cNvPr id="22" name="Picture 21" descr="petersen-untitled.png"/>
          <p:cNvPicPr>
            <a:picLocks noChangeAspect="1"/>
          </p:cNvPicPr>
          <p:nvPr/>
        </p:nvPicPr>
        <p:blipFill>
          <a:blip r:embed="rId3" cstate="print"/>
          <a:stretch>
            <a:fillRect/>
          </a:stretch>
        </p:blipFill>
        <p:spPr>
          <a:xfrm>
            <a:off x="10501630" y="1954530"/>
            <a:ext cx="1229360" cy="1179830"/>
          </a:xfrm>
          <a:prstGeom prst="rect">
            <a:avLst/>
          </a:prstGeom>
        </p:spPr>
      </p:pic>
      <p:pic>
        <p:nvPicPr>
          <p:cNvPr id="24" name="Picture 23" descr="1306274454_frater_michael.jpg"/>
          <p:cNvPicPr>
            <a:picLocks noChangeAspect="1"/>
          </p:cNvPicPr>
          <p:nvPr/>
        </p:nvPicPr>
        <p:blipFill>
          <a:blip r:embed="rId4" cstate="print"/>
          <a:stretch>
            <a:fillRect/>
          </a:stretch>
        </p:blipFill>
        <p:spPr>
          <a:xfrm>
            <a:off x="7967980" y="1994867"/>
            <a:ext cx="1226820" cy="1179196"/>
          </a:xfrm>
          <a:prstGeom prst="rect">
            <a:avLst/>
          </a:prstGeom>
        </p:spPr>
      </p:pic>
      <p:sp>
        <p:nvSpPr>
          <p:cNvPr id="16" name="Rectangle 15"/>
          <p:cNvSpPr/>
          <p:nvPr/>
        </p:nvSpPr>
        <p:spPr>
          <a:xfrm>
            <a:off x="702441" y="5530543"/>
            <a:ext cx="8702815" cy="1077218"/>
          </a:xfrm>
          <a:prstGeom prst="rect">
            <a:avLst/>
          </a:prstGeom>
        </p:spPr>
        <p:txBody>
          <a:bodyPr wrap="square">
            <a:spAutoFit/>
          </a:bodyPr>
          <a:lstStyle/>
          <a:p>
            <a:pPr>
              <a:buNone/>
            </a:pPr>
            <a:r>
              <a:rPr lang="en-US" altLang="zh-CN" sz="1600" b="1" dirty="0">
                <a:latin typeface="微软雅黑" panose="020B0503020204020204" pitchFamily="34" charset="-122"/>
                <a:ea typeface="微软雅黑" panose="020B0503020204020204" pitchFamily="34" charset="-122"/>
              </a:rPr>
              <a:t>Published over 220 papers in high quality journal and international conferences, 125 journals, recently five years, 28 articles in Top SCI Tier 1 and 2 journal. Published 3 book chapters and one invented Australian patent.  KBS AE, and a number of journal’s reviewers.</a:t>
            </a:r>
            <a:endParaRPr lang="zh-CN" altLang="en-US" sz="1600" b="1" dirty="0">
              <a:latin typeface="微软雅黑" panose="020B0503020204020204" pitchFamily="34" charset="-122"/>
              <a:ea typeface="微软雅黑" panose="020B0503020204020204" pitchFamily="34" charset="-122"/>
            </a:endParaRPr>
          </a:p>
        </p:txBody>
      </p:sp>
      <p:pic>
        <p:nvPicPr>
          <p:cNvPr id="2" name="Picture 1">
            <a:extLst>
              <a:ext uri="{FF2B5EF4-FFF2-40B4-BE49-F238E27FC236}">
                <a16:creationId xmlns:a16="http://schemas.microsoft.com/office/drawing/2014/main" id="{B54ED4C6-8306-4338-91F4-8C0433B356DA}"/>
              </a:ext>
            </a:extLst>
          </p:cNvPr>
          <p:cNvPicPr>
            <a:picLocks noChangeAspect="1"/>
          </p:cNvPicPr>
          <p:nvPr/>
        </p:nvPicPr>
        <p:blipFill>
          <a:blip r:embed="rId5"/>
          <a:stretch>
            <a:fillRect/>
          </a:stretch>
        </p:blipFill>
        <p:spPr>
          <a:xfrm>
            <a:off x="8267925" y="3429000"/>
            <a:ext cx="1229360" cy="1181100"/>
          </a:xfrm>
          <a:prstGeom prst="rect">
            <a:avLst/>
          </a:prstGeom>
        </p:spPr>
      </p:pic>
      <p:sp>
        <p:nvSpPr>
          <p:cNvPr id="6" name="椭圆 3">
            <a:extLst>
              <a:ext uri="{FF2B5EF4-FFF2-40B4-BE49-F238E27FC236}">
                <a16:creationId xmlns:a16="http://schemas.microsoft.com/office/drawing/2014/main" id="{C4148559-EF1A-5DBE-2EED-66B9C7B19733}"/>
              </a:ext>
            </a:extLst>
          </p:cNvPr>
          <p:cNvSpPr/>
          <p:nvPr/>
        </p:nvSpPr>
        <p:spPr>
          <a:xfrm>
            <a:off x="125878" y="5858849"/>
            <a:ext cx="541020" cy="487045"/>
          </a:xfrm>
          <a:prstGeom prst="ellipse">
            <a:avLst/>
          </a:prstGeom>
          <a:solidFill>
            <a:srgbClr val="159FDD"/>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5</a:t>
            </a:r>
          </a:p>
        </p:txBody>
      </p:sp>
      <p:sp>
        <p:nvSpPr>
          <p:cNvPr id="7" name="TextBox 6">
            <a:extLst>
              <a:ext uri="{FF2B5EF4-FFF2-40B4-BE49-F238E27FC236}">
                <a16:creationId xmlns:a16="http://schemas.microsoft.com/office/drawing/2014/main" id="{F822380D-1B6E-E787-CF32-BEC9E3FE669B}"/>
              </a:ext>
            </a:extLst>
          </p:cNvPr>
          <p:cNvSpPr txBox="1"/>
          <p:nvPr/>
        </p:nvSpPr>
        <p:spPr>
          <a:xfrm>
            <a:off x="761370" y="4842135"/>
            <a:ext cx="6919590" cy="584775"/>
          </a:xfrm>
          <a:prstGeom prst="rect">
            <a:avLst/>
          </a:prstGeom>
          <a:noFill/>
        </p:spPr>
        <p:txBody>
          <a:bodyPr wrap="square" rtlCol="0">
            <a:spAutoFit/>
          </a:bodyPr>
          <a:lstStyle/>
          <a:p>
            <a:r>
              <a:rPr lang="en-AU" sz="1600" b="1" dirty="0">
                <a:latin typeface="微软雅黑" panose="020B0503020204020204" pitchFamily="34" charset="-122"/>
                <a:ea typeface="微软雅黑" panose="020B0503020204020204" pitchFamily="34" charset="-122"/>
              </a:rPr>
              <a:t>Research funds up to 17 million RMB with over 16 projects, also include 3 NSFC projects and Industry-funded projects.</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1"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par>
                                <p:cTn id="11" presetID="21" presetClass="entr" presetSubtype="1" fill="hold" grpId="1"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wheel(1)">
                                      <p:cBhvr>
                                        <p:cTn id="13" dur="2000"/>
                                        <p:tgtEl>
                                          <p:spTgt spid="46"/>
                                        </p:tgtEl>
                                      </p:cBhvr>
                                    </p:animEffect>
                                  </p:childTnLst>
                                </p:cTn>
                              </p:par>
                              <p:par>
                                <p:cTn id="14" presetID="21" presetClass="entr" presetSubtype="1" fill="hold" grpId="1"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heel(1)">
                                      <p:cBhvr>
                                        <p:cTn id="16" dur="2000"/>
                                        <p:tgtEl>
                                          <p:spTgt spid="21"/>
                                        </p:tgtEl>
                                      </p:cBhvr>
                                    </p:animEffect>
                                  </p:childTnLst>
                                </p:cTn>
                              </p:par>
                              <p:par>
                                <p:cTn id="17" presetID="21" presetClass="entr" presetSubtype="1" fill="hold" grpId="1"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heel(1)">
                                      <p:cBhvr>
                                        <p:cTn id="19" dur="2000"/>
                                        <p:tgtEl>
                                          <p:spTgt spid="27"/>
                                        </p:tgtEl>
                                      </p:cBhvr>
                                    </p:animEffect>
                                  </p:childTnLst>
                                </p:cTn>
                              </p:par>
                              <p:par>
                                <p:cTn id="20" presetID="21" presetClass="entr" presetSubtype="1" fill="hold" grpId="1"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heel(1)">
                                      <p:cBhvr>
                                        <p:cTn id="22" dur="2000"/>
                                        <p:tgtEl>
                                          <p:spTgt spid="33"/>
                                        </p:tgtEl>
                                      </p:cBhvr>
                                    </p:animEffect>
                                  </p:childTnLst>
                                </p:cTn>
                              </p:par>
                              <p:par>
                                <p:cTn id="23" presetID="21" presetClass="entr" presetSubtype="1" fill="hold" grpId="1"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1)">
                                      <p:cBhvr>
                                        <p:cTn id="25" dur="2000"/>
                                        <p:tgtEl>
                                          <p:spTgt spid="3"/>
                                        </p:tgtEl>
                                      </p:cBhvr>
                                    </p:animEffect>
                                  </p:childTnLst>
                                </p:cTn>
                              </p:par>
                              <p:par>
                                <p:cTn id="26" presetID="21" presetClass="entr" presetSubtype="1" fill="hold" grpId="1"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heel(1)">
                                      <p:cBhvr>
                                        <p:cTn id="28" dur="2000"/>
                                        <p:tgtEl>
                                          <p:spTgt spid="4"/>
                                        </p:tgtEl>
                                      </p:cBhvr>
                                    </p:animEffect>
                                  </p:childTnLst>
                                </p:cTn>
                              </p:par>
                              <p:par>
                                <p:cTn id="29" presetID="21" presetClass="entr" presetSubtype="1" fill="hold" grpId="1"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heel(1)">
                                      <p:cBhvr>
                                        <p:cTn id="31" dur="2000"/>
                                        <p:tgtEl>
                                          <p:spTgt spid="5"/>
                                        </p:tgtEl>
                                      </p:cBhvr>
                                    </p:animEffect>
                                  </p:childTnLst>
                                </p:cTn>
                              </p:par>
                              <p:par>
                                <p:cTn id="32" presetID="21" presetClass="entr" presetSubtype="1"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heel(1)">
                                      <p:cBhvr>
                                        <p:cTn id="34" dur="2000"/>
                                        <p:tgtEl>
                                          <p:spTgt spid="24"/>
                                        </p:tgtEl>
                                      </p:cBhvr>
                                    </p:animEffect>
                                  </p:childTnLst>
                                </p:cTn>
                              </p:par>
                              <p:par>
                                <p:cTn id="35" presetID="21" presetClass="entr" presetSubtype="1"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heel(1)">
                                      <p:cBhvr>
                                        <p:cTn id="37" dur="2000"/>
                                        <p:tgtEl>
                                          <p:spTgt spid="22"/>
                                        </p:tgtEl>
                                      </p:cBhvr>
                                    </p:animEffect>
                                  </p:childTnLst>
                                </p:cTn>
                              </p:par>
                              <p:par>
                                <p:cTn id="38" presetID="21" presetClass="entr" presetSubtype="1" fill="hold" grpId="1"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heel(1)">
                                      <p:cBhvr>
                                        <p:cTn id="40" dur="2000"/>
                                        <p:tgtEl>
                                          <p:spTgt spid="16"/>
                                        </p:tgtEl>
                                      </p:cBhvr>
                                    </p:animEffect>
                                  </p:childTnLst>
                                </p:cTn>
                              </p:par>
                              <p:par>
                                <p:cTn id="41" presetID="21" presetClass="entr" presetSubtype="1" fill="hold" grpId="1"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heel(1)">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bldLvl="0" animBg="1"/>
      <p:bldP spid="10" grpId="0"/>
      <p:bldP spid="46" grpId="0" animBg="1"/>
      <p:bldP spid="46" grpId="1" bldLvl="0" animBg="1"/>
      <p:bldP spid="21" grpId="0"/>
      <p:bldP spid="21" grpId="1"/>
      <p:bldP spid="27" grpId="0"/>
      <p:bldP spid="27" grpId="1"/>
      <p:bldP spid="33" grpId="0"/>
      <p:bldP spid="33" grpId="1"/>
      <p:bldP spid="3" grpId="0" animBg="1"/>
      <p:bldP spid="3" grpId="1" bldLvl="0" animBg="1"/>
      <p:bldP spid="4" grpId="0" animBg="1"/>
      <p:bldP spid="4" grpId="1" bldLvl="0" animBg="1"/>
      <p:bldP spid="5" grpId="0" animBg="1"/>
      <p:bldP spid="5" grpId="1" bldLvl="0" animBg="1"/>
      <p:bldP spid="16" grpId="0"/>
      <p:bldP spid="16" grpId="1"/>
      <p:bldP spid="6" grpId="0" animBg="1"/>
      <p:bldP spid="6"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868670" y="1706880"/>
            <a:ext cx="4779645" cy="2800767"/>
          </a:xfrm>
          <a:prstGeom prst="rect">
            <a:avLst/>
          </a:prstGeom>
          <a:noFill/>
        </p:spPr>
        <p:txBody>
          <a:bodyPr wrap="square" lIns="91440" tIns="45720" rIns="91440" bIns="45720" rtlCol="0" anchor="t">
            <a:spAutoFit/>
          </a:bodyPr>
          <a:lstStyle/>
          <a:p>
            <a:pPr marL="0" indent="0" algn="just">
              <a:lnSpc>
                <a:spcPct val="100000"/>
              </a:lnSpc>
              <a:buNone/>
            </a:pPr>
            <a:r>
              <a:rPr lang="en-US" altLang="zh-CN" sz="4400" b="1" dirty="0">
                <a:solidFill>
                  <a:srgbClr val="000000"/>
                </a:solidFill>
                <a:latin typeface="MiSans" pitchFamily="34" charset="-122"/>
                <a:ea typeface="MiSans" pitchFamily="34" charset="-122"/>
                <a:cs typeface="MiSans" pitchFamily="34" charset="-120"/>
              </a:rPr>
              <a:t>Teaching Syllabus:</a:t>
            </a:r>
          </a:p>
          <a:p>
            <a:pPr marL="0" indent="0" algn="just">
              <a:lnSpc>
                <a:spcPct val="100000"/>
              </a:lnSpc>
              <a:buNone/>
            </a:pPr>
            <a:endParaRPr lang="en-US" altLang="zh-CN" sz="4400" b="1" dirty="0">
              <a:solidFill>
                <a:srgbClr val="000000"/>
              </a:solidFill>
              <a:latin typeface="MiSans" pitchFamily="34" charset="-122"/>
              <a:ea typeface="MiSans" pitchFamily="34" charset="-122"/>
              <a:cs typeface="MiSans" pitchFamily="34" charset="-120"/>
            </a:endParaRPr>
          </a:p>
          <a:p>
            <a:pPr marL="0" indent="0" algn="just">
              <a:lnSpc>
                <a:spcPct val="100000"/>
              </a:lnSpc>
              <a:buNone/>
            </a:pPr>
            <a:endParaRPr lang="en-US" altLang="zh-CN" sz="4400" b="1" dirty="0">
              <a:solidFill>
                <a:srgbClr val="000000"/>
              </a:solidFill>
              <a:latin typeface="MiSans" pitchFamily="34" charset="-122"/>
              <a:ea typeface="MiSans" pitchFamily="34" charset="-122"/>
              <a:cs typeface="MiSans" pitchFamily="34" charset="-120"/>
            </a:endParaRPr>
          </a:p>
        </p:txBody>
      </p:sp>
      <p:sp>
        <p:nvSpPr>
          <p:cNvPr id="6" name="TextBox 5">
            <a:extLst>
              <a:ext uri="{FF2B5EF4-FFF2-40B4-BE49-F238E27FC236}">
                <a16:creationId xmlns:a16="http://schemas.microsoft.com/office/drawing/2014/main" id="{7CBD6FA0-7B9D-7985-3B90-D799197AAA87}"/>
              </a:ext>
            </a:extLst>
          </p:cNvPr>
          <p:cNvSpPr txBox="1"/>
          <p:nvPr/>
        </p:nvSpPr>
        <p:spPr>
          <a:xfrm>
            <a:off x="5869123" y="3428682"/>
            <a:ext cx="5708831" cy="1846659"/>
          </a:xfrm>
          <a:prstGeom prst="rect">
            <a:avLst/>
          </a:prstGeom>
          <a:noFill/>
        </p:spPr>
        <p:txBody>
          <a:bodyPr wrap="square" rtlCol="0">
            <a:spAutoFit/>
          </a:bodyPr>
          <a:lstStyle/>
          <a:p>
            <a:r>
              <a:rPr lang="en-AU" sz="3200" b="1" i="1" dirty="0"/>
              <a:t>Course Name: Emerging Frontiers in AI, Computational Intelligence, and Data Analytics </a:t>
            </a:r>
          </a:p>
          <a:p>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0" y="6325235"/>
            <a:ext cx="12190730" cy="534035"/>
          </a:xfrm>
          <a:prstGeom prst="rect">
            <a:avLst/>
          </a:prstGeom>
          <a:solidFill>
            <a:srgbClr val="B4CA7C"/>
          </a:solidFill>
        </p:spPr>
        <p:txBody>
          <a:bodyPr/>
          <a:lstStyle/>
          <a:p>
            <a:endParaRPr lang="en-AU"/>
          </a:p>
        </p:txBody>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3799205" y="1413510"/>
            <a:ext cx="8073390" cy="49123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0" name="图片 9"/>
          <p:cNvPicPr>
            <a:picLocks noChangeAspect="1"/>
          </p:cNvPicPr>
          <p:nvPr/>
        </p:nvPicPr>
        <p:blipFill>
          <a:blip r:embed="rId3"/>
          <a:stretch>
            <a:fillRect/>
          </a:stretch>
        </p:blipFill>
        <p:spPr>
          <a:xfrm>
            <a:off x="2061845" y="867410"/>
            <a:ext cx="5906135" cy="5257165"/>
          </a:xfrm>
          <a:prstGeom prst="rect">
            <a:avLst/>
          </a:prstGeom>
        </p:spPr>
      </p:pic>
      <p:pic>
        <p:nvPicPr>
          <p:cNvPr id="13" name="图片 12"/>
          <p:cNvPicPr>
            <a:picLocks noChangeAspect="1"/>
          </p:cNvPicPr>
          <p:nvPr/>
        </p:nvPicPr>
        <p:blipFill>
          <a:blip r:embed="rId4"/>
          <a:stretch>
            <a:fillRect/>
          </a:stretch>
        </p:blipFill>
        <p:spPr>
          <a:xfrm>
            <a:off x="7886065" y="814070"/>
            <a:ext cx="1811655" cy="52298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3"/>
          <a:srcRect t="3326" b="11223"/>
          <a:stretch>
            <a:fillRect/>
          </a:stretch>
        </p:blipFill>
        <p:spPr>
          <a:xfrm>
            <a:off x="0" y="0"/>
            <a:ext cx="4874260" cy="6851015"/>
          </a:xfrm>
          <a:prstGeom prst="rect">
            <a:avLst/>
          </a:prstGeom>
        </p:spPr>
      </p:pic>
      <p:sp>
        <p:nvSpPr>
          <p:cNvPr id="3" name="Shape 0"/>
          <p:cNvSpPr/>
          <p:nvPr/>
        </p:nvSpPr>
        <p:spPr>
          <a:xfrm rot="5400000">
            <a:off x="5532120" y="2053189"/>
            <a:ext cx="293611" cy="293736"/>
          </a:xfrm>
          <a:prstGeom prst="triangle">
            <a:avLst/>
          </a:prstGeom>
          <a:solidFill>
            <a:srgbClr val="E0E9C9"/>
          </a:solidFill>
        </p:spPr>
        <p:txBody>
          <a:bodyPr/>
          <a:lstStyle/>
          <a:p>
            <a:endParaRPr lang="en-AU"/>
          </a:p>
        </p:txBody>
      </p:sp>
      <p:sp>
        <p:nvSpPr>
          <p:cNvPr id="4" name="Text 1"/>
          <p:cNvSpPr/>
          <p:nvPr/>
        </p:nvSpPr>
        <p:spPr>
          <a:xfrm rot="5400000">
            <a:off x="5532120" y="205318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645047" y="2166164"/>
            <a:ext cx="293611" cy="293736"/>
          </a:xfrm>
          <a:prstGeom prst="triangle">
            <a:avLst/>
          </a:prstGeom>
          <a:solidFill>
            <a:srgbClr val="5E927D"/>
          </a:solidFill>
        </p:spPr>
        <p:txBody>
          <a:bodyPr/>
          <a:lstStyle/>
          <a:p>
            <a:endParaRPr lang="en-AU"/>
          </a:p>
        </p:txBody>
      </p:sp>
      <p:sp>
        <p:nvSpPr>
          <p:cNvPr id="6" name="Text 3"/>
          <p:cNvSpPr/>
          <p:nvPr/>
        </p:nvSpPr>
        <p:spPr>
          <a:xfrm rot="5400000">
            <a:off x="5645047" y="216616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1"/>
            </p:custDataLst>
          </p:nvPr>
        </p:nvSpPr>
        <p:spPr>
          <a:xfrm>
            <a:off x="6018837" y="202438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2"/>
            </p:custDataLst>
          </p:nvPr>
        </p:nvSpPr>
        <p:spPr>
          <a:xfrm>
            <a:off x="6662522" y="2052059"/>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Artificial Intelligence</a:t>
            </a:r>
            <a:endParaRPr lang="en-US" sz="1600" dirty="0"/>
          </a:p>
        </p:txBody>
      </p:sp>
      <p:sp>
        <p:nvSpPr>
          <p:cNvPr id="9" name="Shape 6"/>
          <p:cNvSpPr/>
          <p:nvPr/>
        </p:nvSpPr>
        <p:spPr>
          <a:xfrm rot="5400000">
            <a:off x="5532120" y="2749109"/>
            <a:ext cx="293611" cy="293331"/>
          </a:xfrm>
          <a:prstGeom prst="triangle">
            <a:avLst/>
          </a:prstGeom>
          <a:solidFill>
            <a:srgbClr val="E0E9C9"/>
          </a:solidFill>
        </p:spPr>
        <p:txBody>
          <a:bodyPr/>
          <a:lstStyle/>
          <a:p>
            <a:endParaRPr lang="en-AU"/>
          </a:p>
        </p:txBody>
      </p:sp>
      <p:sp>
        <p:nvSpPr>
          <p:cNvPr id="10" name="Text 7"/>
          <p:cNvSpPr/>
          <p:nvPr/>
        </p:nvSpPr>
        <p:spPr>
          <a:xfrm rot="5400000">
            <a:off x="5532120" y="27491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645047" y="2861929"/>
            <a:ext cx="293611" cy="293331"/>
          </a:xfrm>
          <a:prstGeom prst="triangle">
            <a:avLst/>
          </a:prstGeom>
          <a:solidFill>
            <a:srgbClr val="5E927D"/>
          </a:solidFill>
        </p:spPr>
        <p:txBody>
          <a:bodyPr/>
          <a:lstStyle/>
          <a:p>
            <a:endParaRPr lang="en-AU"/>
          </a:p>
        </p:txBody>
      </p:sp>
      <p:sp>
        <p:nvSpPr>
          <p:cNvPr id="12" name="Text 9"/>
          <p:cNvSpPr/>
          <p:nvPr/>
        </p:nvSpPr>
        <p:spPr>
          <a:xfrm rot="5400000">
            <a:off x="5645047" y="28619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3"/>
            </p:custDataLst>
          </p:nvPr>
        </p:nvSpPr>
        <p:spPr>
          <a:xfrm>
            <a:off x="6018837" y="27203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4"/>
            </p:custDataLst>
          </p:nvPr>
        </p:nvSpPr>
        <p:spPr>
          <a:xfrm>
            <a:off x="6662522" y="274798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History of AI</a:t>
            </a:r>
            <a:endParaRPr lang="en-US" sz="1600" dirty="0"/>
          </a:p>
        </p:txBody>
      </p:sp>
      <p:sp>
        <p:nvSpPr>
          <p:cNvPr id="15" name="Shape 12"/>
          <p:cNvSpPr/>
          <p:nvPr/>
        </p:nvSpPr>
        <p:spPr>
          <a:xfrm rot="5400000">
            <a:off x="5532120" y="3444434"/>
            <a:ext cx="293611" cy="293331"/>
          </a:xfrm>
          <a:prstGeom prst="triangle">
            <a:avLst/>
          </a:prstGeom>
          <a:solidFill>
            <a:srgbClr val="E0E9C9"/>
          </a:solidFill>
        </p:spPr>
        <p:txBody>
          <a:bodyPr/>
          <a:lstStyle/>
          <a:p>
            <a:endParaRPr lang="en-AU"/>
          </a:p>
        </p:txBody>
      </p:sp>
      <p:sp>
        <p:nvSpPr>
          <p:cNvPr id="16" name="Text 13"/>
          <p:cNvSpPr/>
          <p:nvPr/>
        </p:nvSpPr>
        <p:spPr>
          <a:xfrm rot="5400000">
            <a:off x="5532120" y="344443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5400000">
            <a:off x="5645047" y="3557254"/>
            <a:ext cx="293611" cy="293331"/>
          </a:xfrm>
          <a:prstGeom prst="triangle">
            <a:avLst/>
          </a:prstGeom>
          <a:solidFill>
            <a:srgbClr val="5E927D"/>
          </a:solidFill>
        </p:spPr>
        <p:txBody>
          <a:bodyPr/>
          <a:lstStyle/>
          <a:p>
            <a:endParaRPr lang="en-AU"/>
          </a:p>
        </p:txBody>
      </p:sp>
      <p:sp>
        <p:nvSpPr>
          <p:cNvPr id="18" name="Text 15"/>
          <p:cNvSpPr/>
          <p:nvPr/>
        </p:nvSpPr>
        <p:spPr>
          <a:xfrm rot="5400000">
            <a:off x="5645047" y="355725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5"/>
            </p:custDataLst>
          </p:nvPr>
        </p:nvSpPr>
        <p:spPr>
          <a:xfrm>
            <a:off x="6018837" y="341566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6"/>
            </p:custDataLst>
          </p:nvPr>
        </p:nvSpPr>
        <p:spPr>
          <a:xfrm>
            <a:off x="6662522" y="3443306"/>
            <a:ext cx="4469663" cy="398780"/>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sym typeface="+mn-ea"/>
              </a:rPr>
              <a:t>Development of AI in China</a:t>
            </a:r>
            <a:endParaRPr lang="en-US" sz="1600" dirty="0"/>
          </a:p>
        </p:txBody>
      </p:sp>
      <p:sp>
        <p:nvSpPr>
          <p:cNvPr id="21" name="Shape 18"/>
          <p:cNvSpPr/>
          <p:nvPr/>
        </p:nvSpPr>
        <p:spPr>
          <a:xfrm rot="5400000">
            <a:off x="5532120" y="4139759"/>
            <a:ext cx="293611" cy="293331"/>
          </a:xfrm>
          <a:prstGeom prst="triangle">
            <a:avLst/>
          </a:prstGeom>
          <a:solidFill>
            <a:srgbClr val="E0E9C9"/>
          </a:solidFill>
        </p:spPr>
        <p:txBody>
          <a:bodyPr/>
          <a:lstStyle/>
          <a:p>
            <a:endParaRPr lang="en-AU"/>
          </a:p>
        </p:txBody>
      </p:sp>
      <p:sp>
        <p:nvSpPr>
          <p:cNvPr id="22" name="Text 19"/>
          <p:cNvSpPr/>
          <p:nvPr/>
        </p:nvSpPr>
        <p:spPr>
          <a:xfrm rot="5400000">
            <a:off x="5532120" y="413975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rot="5400000">
            <a:off x="5645047" y="4252579"/>
            <a:ext cx="293611" cy="293331"/>
          </a:xfrm>
          <a:prstGeom prst="triangle">
            <a:avLst/>
          </a:prstGeom>
          <a:solidFill>
            <a:srgbClr val="5E927D"/>
          </a:solidFill>
        </p:spPr>
        <p:txBody>
          <a:bodyPr/>
          <a:lstStyle/>
          <a:p>
            <a:endParaRPr lang="en-AU"/>
          </a:p>
        </p:txBody>
      </p:sp>
      <p:sp>
        <p:nvSpPr>
          <p:cNvPr id="24" name="Text 21"/>
          <p:cNvSpPr/>
          <p:nvPr/>
        </p:nvSpPr>
        <p:spPr>
          <a:xfrm rot="5400000">
            <a:off x="5645047" y="425257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custDataLst>
              <p:tags r:id="rId7"/>
            </p:custDataLst>
          </p:nvPr>
        </p:nvSpPr>
        <p:spPr>
          <a:xfrm>
            <a:off x="6018837" y="411099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27" name="Shape 24"/>
          <p:cNvSpPr/>
          <p:nvPr/>
        </p:nvSpPr>
        <p:spPr>
          <a:xfrm rot="5400000">
            <a:off x="5532120" y="4835084"/>
            <a:ext cx="293611" cy="293331"/>
          </a:xfrm>
          <a:prstGeom prst="triangle">
            <a:avLst/>
          </a:prstGeom>
          <a:solidFill>
            <a:srgbClr val="E0E9C9"/>
          </a:solidFill>
        </p:spPr>
        <p:txBody>
          <a:bodyPr/>
          <a:lstStyle/>
          <a:p>
            <a:endParaRPr lang="en-AU"/>
          </a:p>
        </p:txBody>
      </p:sp>
      <p:sp>
        <p:nvSpPr>
          <p:cNvPr id="28" name="Text 25"/>
          <p:cNvSpPr/>
          <p:nvPr/>
        </p:nvSpPr>
        <p:spPr>
          <a:xfrm rot="5400000">
            <a:off x="5532120" y="48350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rot="5400000">
            <a:off x="5645047" y="4947904"/>
            <a:ext cx="293611" cy="293331"/>
          </a:xfrm>
          <a:prstGeom prst="triangle">
            <a:avLst/>
          </a:prstGeom>
          <a:solidFill>
            <a:srgbClr val="5E927D"/>
          </a:solidFill>
        </p:spPr>
        <p:txBody>
          <a:bodyPr/>
          <a:lstStyle/>
          <a:p>
            <a:endParaRPr lang="en-AU"/>
          </a:p>
        </p:txBody>
      </p:sp>
      <p:sp>
        <p:nvSpPr>
          <p:cNvPr id="30" name="Text 27"/>
          <p:cNvSpPr/>
          <p:nvPr/>
        </p:nvSpPr>
        <p:spPr>
          <a:xfrm rot="5400000">
            <a:off x="5645047" y="49479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custDataLst>
              <p:tags r:id="rId8"/>
            </p:custDataLst>
          </p:nvPr>
        </p:nvSpPr>
        <p:spPr>
          <a:xfrm>
            <a:off x="6018837" y="480631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3" name="Shape 30"/>
          <p:cNvSpPr/>
          <p:nvPr/>
        </p:nvSpPr>
        <p:spPr>
          <a:xfrm rot="5400000">
            <a:off x="5532120" y="5530409"/>
            <a:ext cx="293611" cy="293331"/>
          </a:xfrm>
          <a:prstGeom prst="triangle">
            <a:avLst/>
          </a:prstGeom>
          <a:solidFill>
            <a:srgbClr val="E0E9C9"/>
          </a:solidFill>
        </p:spPr>
        <p:txBody>
          <a:bodyPr/>
          <a:lstStyle/>
          <a:p>
            <a:endParaRPr lang="en-AU"/>
          </a:p>
        </p:txBody>
      </p:sp>
      <p:sp>
        <p:nvSpPr>
          <p:cNvPr id="34" name="Text 31"/>
          <p:cNvSpPr/>
          <p:nvPr/>
        </p:nvSpPr>
        <p:spPr>
          <a:xfrm rot="5400000">
            <a:off x="5532120" y="55304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5" name="Shape 32"/>
          <p:cNvSpPr/>
          <p:nvPr/>
        </p:nvSpPr>
        <p:spPr>
          <a:xfrm rot="5400000">
            <a:off x="5645047" y="5643229"/>
            <a:ext cx="293611" cy="293331"/>
          </a:xfrm>
          <a:prstGeom prst="triangle">
            <a:avLst/>
          </a:prstGeom>
          <a:solidFill>
            <a:srgbClr val="5E927D"/>
          </a:solidFill>
        </p:spPr>
        <p:txBody>
          <a:bodyPr/>
          <a:lstStyle/>
          <a:p>
            <a:endParaRPr lang="en-AU"/>
          </a:p>
        </p:txBody>
      </p:sp>
      <p:sp>
        <p:nvSpPr>
          <p:cNvPr id="36" name="Text 33"/>
          <p:cNvSpPr/>
          <p:nvPr/>
        </p:nvSpPr>
        <p:spPr>
          <a:xfrm rot="5400000">
            <a:off x="5645047" y="56432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Text 34"/>
          <p:cNvSpPr/>
          <p:nvPr>
            <p:custDataLst>
              <p:tags r:id="rId9"/>
            </p:custDataLst>
          </p:nvPr>
        </p:nvSpPr>
        <p:spPr>
          <a:xfrm>
            <a:off x="6018837" y="55016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06</a:t>
            </a:r>
            <a:endParaRPr lang="en-US" sz="1600" dirty="0"/>
          </a:p>
        </p:txBody>
      </p:sp>
      <p:sp>
        <p:nvSpPr>
          <p:cNvPr id="38" name="Text 35"/>
          <p:cNvSpPr/>
          <p:nvPr>
            <p:custDataLst>
              <p:tags r:id="rId10"/>
            </p:custDataLst>
          </p:nvPr>
        </p:nvSpPr>
        <p:spPr>
          <a:xfrm>
            <a:off x="6709512" y="483459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Applications of AI</a:t>
            </a:r>
            <a:endParaRPr lang="en-US" sz="1600" dirty="0"/>
          </a:p>
        </p:txBody>
      </p:sp>
      <p:sp>
        <p:nvSpPr>
          <p:cNvPr id="39" name="Text 36"/>
          <p:cNvSpPr/>
          <p:nvPr/>
        </p:nvSpPr>
        <p:spPr>
          <a:xfrm>
            <a:off x="5407025" y="458470"/>
            <a:ext cx="3513455" cy="1383665"/>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
        <p:nvSpPr>
          <p:cNvPr id="40" name="文本框 39"/>
          <p:cNvSpPr txBox="1"/>
          <p:nvPr/>
        </p:nvSpPr>
        <p:spPr>
          <a:xfrm>
            <a:off x="6662420" y="4161155"/>
            <a:ext cx="6096000" cy="398780"/>
          </a:xfrm>
          <a:prstGeom prst="rect">
            <a:avLst/>
          </a:prstGeom>
          <a:noFill/>
        </p:spPr>
        <p:txBody>
          <a:bodyPr wrap="square"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sym typeface="+mn-ea"/>
              </a:rPr>
              <a:t>Core Technologies of AI</a:t>
            </a:r>
            <a:endParaRPr lang="en-US" altLang="en-US" sz="2000" dirty="0">
              <a:solidFill>
                <a:srgbClr val="000000"/>
              </a:solidFill>
              <a:latin typeface="MiSans" pitchFamily="34" charset="-122"/>
              <a:ea typeface="MiSans" pitchFamily="34" charset="-122"/>
              <a:cs typeface="MiSans" pitchFamily="34" charset="-120"/>
              <a:sym typeface="+mn-ea"/>
            </a:endParaRPr>
          </a:p>
        </p:txBody>
      </p:sp>
      <p:sp>
        <p:nvSpPr>
          <p:cNvPr id="41" name="Text 5"/>
          <p:cNvSpPr/>
          <p:nvPr/>
        </p:nvSpPr>
        <p:spPr>
          <a:xfrm>
            <a:off x="6709512" y="5535034"/>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Ethical and Social Implications of AI</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3"/>
          <a:srcRect t="3326" b="11223"/>
          <a:stretch>
            <a:fillRect/>
          </a:stretch>
        </p:blipFill>
        <p:spPr>
          <a:xfrm>
            <a:off x="240768" y="458470"/>
            <a:ext cx="4874260" cy="6851015"/>
          </a:xfrm>
          <a:prstGeom prst="rect">
            <a:avLst/>
          </a:prstGeom>
        </p:spPr>
      </p:pic>
      <p:sp>
        <p:nvSpPr>
          <p:cNvPr id="3" name="Shape 0"/>
          <p:cNvSpPr/>
          <p:nvPr/>
        </p:nvSpPr>
        <p:spPr>
          <a:xfrm rot="5400000">
            <a:off x="5532120" y="1961205"/>
            <a:ext cx="293611" cy="293736"/>
          </a:xfrm>
          <a:prstGeom prst="triangle">
            <a:avLst/>
          </a:prstGeom>
          <a:solidFill>
            <a:srgbClr val="E0E9C9"/>
          </a:solidFill>
        </p:spPr>
        <p:txBody>
          <a:bodyPr/>
          <a:lstStyle/>
          <a:p>
            <a:endParaRPr lang="en-AU"/>
          </a:p>
        </p:txBody>
      </p:sp>
      <p:sp>
        <p:nvSpPr>
          <p:cNvPr id="4" name="Text 1"/>
          <p:cNvSpPr/>
          <p:nvPr/>
        </p:nvSpPr>
        <p:spPr>
          <a:xfrm rot="5400000">
            <a:off x="5532120" y="1961205"/>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645047" y="2074180"/>
            <a:ext cx="293611" cy="293736"/>
          </a:xfrm>
          <a:prstGeom prst="triangle">
            <a:avLst/>
          </a:prstGeom>
          <a:solidFill>
            <a:srgbClr val="5E927D"/>
          </a:solidFill>
        </p:spPr>
        <p:txBody>
          <a:bodyPr/>
          <a:lstStyle/>
          <a:p>
            <a:endParaRPr lang="en-AU"/>
          </a:p>
        </p:txBody>
      </p:sp>
      <p:sp>
        <p:nvSpPr>
          <p:cNvPr id="6" name="Text 3"/>
          <p:cNvSpPr/>
          <p:nvPr/>
        </p:nvSpPr>
        <p:spPr>
          <a:xfrm rot="5400000">
            <a:off x="5645047" y="2074180"/>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nvSpPr>
        <p:spPr>
          <a:xfrm>
            <a:off x="6018837" y="1932396"/>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07</a:t>
            </a:r>
            <a:endParaRPr lang="en-US" sz="1600" dirty="0"/>
          </a:p>
        </p:txBody>
      </p:sp>
      <p:sp>
        <p:nvSpPr>
          <p:cNvPr id="9" name="Shape 6"/>
          <p:cNvSpPr/>
          <p:nvPr/>
        </p:nvSpPr>
        <p:spPr>
          <a:xfrm rot="5400000">
            <a:off x="5532120" y="3053365"/>
            <a:ext cx="293611" cy="293331"/>
          </a:xfrm>
          <a:prstGeom prst="triangle">
            <a:avLst/>
          </a:prstGeom>
          <a:solidFill>
            <a:srgbClr val="E0E9C9"/>
          </a:solidFill>
        </p:spPr>
        <p:txBody>
          <a:bodyPr/>
          <a:lstStyle/>
          <a:p>
            <a:endParaRPr lang="en-AU"/>
          </a:p>
        </p:txBody>
      </p:sp>
      <p:sp>
        <p:nvSpPr>
          <p:cNvPr id="10" name="Text 7"/>
          <p:cNvSpPr/>
          <p:nvPr/>
        </p:nvSpPr>
        <p:spPr>
          <a:xfrm rot="5400000">
            <a:off x="5532120" y="3053365"/>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645047" y="3166185"/>
            <a:ext cx="293611" cy="293331"/>
          </a:xfrm>
          <a:prstGeom prst="triangle">
            <a:avLst/>
          </a:prstGeom>
          <a:solidFill>
            <a:srgbClr val="5E927D"/>
          </a:solidFill>
        </p:spPr>
        <p:txBody>
          <a:bodyPr/>
          <a:lstStyle/>
          <a:p>
            <a:endParaRPr lang="en-AU"/>
          </a:p>
        </p:txBody>
      </p:sp>
      <p:sp>
        <p:nvSpPr>
          <p:cNvPr id="12" name="Text 9"/>
          <p:cNvSpPr/>
          <p:nvPr/>
        </p:nvSpPr>
        <p:spPr>
          <a:xfrm rot="5400000">
            <a:off x="5645047" y="3166185"/>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nvSpPr>
        <p:spPr>
          <a:xfrm>
            <a:off x="6018837" y="3024596"/>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08</a:t>
            </a:r>
            <a:endParaRPr lang="en-US" sz="1600" dirty="0"/>
          </a:p>
        </p:txBody>
      </p:sp>
      <p:sp>
        <p:nvSpPr>
          <p:cNvPr id="14" name="Text 11"/>
          <p:cNvSpPr/>
          <p:nvPr/>
        </p:nvSpPr>
        <p:spPr>
          <a:xfrm>
            <a:off x="6602832" y="2007662"/>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Future Trends and Challenges</a:t>
            </a:r>
            <a:endParaRPr lang="en-US" sz="1600" dirty="0"/>
          </a:p>
        </p:txBody>
      </p:sp>
      <p:sp>
        <p:nvSpPr>
          <p:cNvPr id="16" name="Text 13"/>
          <p:cNvSpPr/>
          <p:nvPr/>
        </p:nvSpPr>
        <p:spPr>
          <a:xfrm rot="5400000">
            <a:off x="5532120" y="472459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6709512" y="3059857"/>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Conclusion</a:t>
            </a:r>
            <a:endParaRPr lang="en-US" sz="1600" dirty="0"/>
          </a:p>
        </p:txBody>
      </p:sp>
      <p:sp>
        <p:nvSpPr>
          <p:cNvPr id="21" name="Text 18"/>
          <p:cNvSpPr/>
          <p:nvPr/>
        </p:nvSpPr>
        <p:spPr>
          <a:xfrm>
            <a:off x="5407025" y="-251822"/>
            <a:ext cx="3513455" cy="1383665"/>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pic>
        <p:nvPicPr>
          <p:cNvPr id="15" name="Picture 14">
            <a:extLst>
              <a:ext uri="{FF2B5EF4-FFF2-40B4-BE49-F238E27FC236}">
                <a16:creationId xmlns:a16="http://schemas.microsoft.com/office/drawing/2014/main" id="{3B28E92F-9EC7-E65D-E66C-2AD9B403A314}"/>
              </a:ext>
            </a:extLst>
          </p:cNvPr>
          <p:cNvPicPr>
            <a:picLocks noChangeAspect="1"/>
          </p:cNvPicPr>
          <p:nvPr/>
        </p:nvPicPr>
        <p:blipFill>
          <a:blip r:embed="rId4"/>
          <a:stretch>
            <a:fillRect/>
          </a:stretch>
        </p:blipFill>
        <p:spPr>
          <a:xfrm>
            <a:off x="5186629" y="3695973"/>
            <a:ext cx="6547173" cy="3699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979795" y="2483485"/>
            <a:ext cx="6013541" cy="1446550"/>
          </a:xfrm>
          <a:prstGeom prst="rect">
            <a:avLst/>
          </a:prstGeom>
          <a:noFill/>
        </p:spPr>
        <p:txBody>
          <a:bodyPr wrap="square" lIns="91440" tIns="45720" rIns="91440" bIns="45720" rtlCol="0" anchor="t">
            <a:spAutoFit/>
          </a:bodyPr>
          <a:lstStyle/>
          <a:p>
            <a:pPr marL="0" indent="0">
              <a:lnSpc>
                <a:spcPct val="100000"/>
              </a:lnSpc>
              <a:buNone/>
            </a:pPr>
            <a:r>
              <a:rPr lang="en-US" sz="4400" b="1" dirty="0">
                <a:solidFill>
                  <a:srgbClr val="000000"/>
                </a:solidFill>
                <a:latin typeface="MiSans" pitchFamily="34" charset="-122"/>
                <a:ea typeface="MiSans" pitchFamily="34" charset="-122"/>
                <a:cs typeface="MiSans" pitchFamily="34" charset="-120"/>
              </a:rPr>
              <a:t>Introduction of Artificial Intelligence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Origins</a:t>
            </a:r>
            <a:endParaRPr lang="en-US" sz="1600" dirty="0"/>
          </a:p>
        </p:txBody>
      </p:sp>
      <p:sp>
        <p:nvSpPr>
          <p:cNvPr id="11" name="Shape 9"/>
          <p:cNvSpPr/>
          <p:nvPr/>
        </p:nvSpPr>
        <p:spPr>
          <a:xfrm>
            <a:off x="0" y="6325235"/>
            <a:ext cx="12190730" cy="534035"/>
          </a:xfrm>
          <a:prstGeom prst="rect">
            <a:avLst/>
          </a:prstGeom>
          <a:solidFill>
            <a:srgbClr val="B4CA7C"/>
          </a:solidFill>
        </p:spPr>
        <p:txBody>
          <a:bodyPr/>
          <a:lstStyle/>
          <a:p>
            <a:endParaRPr lang="en-AU"/>
          </a:p>
        </p:txBody>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3"/>
          <a:srcRect l="31" r="31"/>
          <a:stretch>
            <a:fillRect/>
          </a:stretch>
        </p:blipFill>
        <p:spPr>
          <a:xfrm>
            <a:off x="594360" y="1397000"/>
            <a:ext cx="3088640" cy="4606290"/>
          </a:xfrm>
          <a:prstGeom prst="rect">
            <a:avLst/>
          </a:prstGeom>
        </p:spPr>
      </p:pic>
      <p:sp>
        <p:nvSpPr>
          <p:cNvPr id="14" name="Shape 11"/>
          <p:cNvSpPr/>
          <p:nvPr/>
        </p:nvSpPr>
        <p:spPr>
          <a:xfrm>
            <a:off x="3797935" y="1413510"/>
            <a:ext cx="8029575" cy="4731385"/>
          </a:xfrm>
          <a:prstGeom prst="rect">
            <a:avLst/>
          </a:prstGeom>
          <a:solidFill>
            <a:srgbClr val="000000">
              <a:alpha val="0"/>
            </a:srgbClr>
          </a:solidFill>
          <a:ln w="19050">
            <a:solidFill>
              <a:srgbClr val="9FB26A"/>
            </a:solidFill>
            <a:prstDash val="solid"/>
          </a:ln>
        </p:spPr>
        <p:txBody>
          <a:bodyPr/>
          <a:lstStyle/>
          <a:p>
            <a:endParaRPr lang="en-AU"/>
          </a:p>
        </p:txBody>
      </p:sp>
      <p:sp>
        <p:nvSpPr>
          <p:cNvPr id="15" name="Text 12"/>
          <p:cNvSpPr/>
          <p:nvPr/>
        </p:nvSpPr>
        <p:spPr>
          <a:xfrm>
            <a:off x="3799205" y="1413510"/>
            <a:ext cx="8073390" cy="49123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txBody>
          <a:bodyPr/>
          <a:lstStyle/>
          <a:p>
            <a:endParaRPr lang="en-AU"/>
          </a:p>
        </p:txBody>
      </p:sp>
      <p:sp>
        <p:nvSpPr>
          <p:cNvPr id="17" name="Shape 14"/>
          <p:cNvSpPr/>
          <p:nvPr/>
        </p:nvSpPr>
        <p:spPr>
          <a:xfrm>
            <a:off x="4038600" y="4570095"/>
            <a:ext cx="7560310" cy="0"/>
          </a:xfrm>
          <a:prstGeom prst="line">
            <a:avLst/>
          </a:prstGeom>
          <a:noFill/>
          <a:ln w="12700">
            <a:solidFill>
              <a:srgbClr val="9FB26A"/>
            </a:solidFill>
            <a:prstDash val="dash"/>
            <a:headEnd type="none"/>
            <a:tailEnd type="none"/>
          </a:ln>
        </p:spPr>
        <p:txBody>
          <a:bodyPr/>
          <a:lstStyle/>
          <a:p>
            <a:endParaRPr lang="en-AU"/>
          </a:p>
        </p:txBody>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Definition of AI</a:t>
            </a:r>
            <a:endParaRPr lang="en-US" sz="1600" dirty="0"/>
          </a:p>
        </p:txBody>
      </p:sp>
      <p:sp>
        <p:nvSpPr>
          <p:cNvPr id="19" name="Text 16"/>
          <p:cNvSpPr/>
          <p:nvPr/>
        </p:nvSpPr>
        <p:spPr>
          <a:xfrm>
            <a:off x="4038600" y="194183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Artificial Intelligence (AI) refers to the simulation of human intelligence in machines that are programmed to think like humans and mimic their actions. It encompasses a range of capabilities from simple automation to complex decision-making.</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Historical Background</a:t>
            </a:r>
            <a:endParaRPr lang="en-US" sz="1600" dirty="0"/>
          </a:p>
        </p:txBody>
      </p:sp>
      <p:sp>
        <p:nvSpPr>
          <p:cNvPr id="21" name="Text 18"/>
          <p:cNvSpPr/>
          <p:nvPr/>
        </p:nvSpPr>
        <p:spPr>
          <a:xfrm>
            <a:off x="4131945" y="340487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concept of AI dates back to ancient myths of artificial beings endowed with intelligence. However, the field of AI as we know it today began in the 1950s with the Dartmouth Conference, which aimed to explore the possibility of creating machines that could simulate human intelligence.</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Key Milestones</a:t>
            </a:r>
            <a:endParaRPr lang="en-US" sz="1600" dirty="0"/>
          </a:p>
        </p:txBody>
      </p:sp>
      <p:sp>
        <p:nvSpPr>
          <p:cNvPr id="23" name="Text 20"/>
          <p:cNvSpPr/>
          <p:nvPr/>
        </p:nvSpPr>
        <p:spPr>
          <a:xfrm>
            <a:off x="4038600" y="500126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Over the decades, AI has seen significant milestones. In the 1960s, the first AI programs were developed. The 1980s saw the rise of expert systems. More recently, breakthroughs in machine learning and deep learning have propelled AI to new heights, with applications in various fields.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Early Beginnings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concept of AI dates back to ancient myths and stories of artificial beings endowed with intelligence. However, the field of AI as we know it today began in the 1950s. The Dartmouth Conference in 1956 is often considered the birth of AI, where a group of scientists gathered to discuss the possibility of creating machines that could think like humans.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Major Milestones</a:t>
            </a:r>
            <a:endParaRPr lang="en-US" sz="1600" dirty="0"/>
          </a:p>
        </p:txBody>
      </p:sp>
      <p:sp>
        <p:nvSpPr>
          <p:cNvPr id="52" name="Text 50"/>
          <p:cNvSpPr/>
          <p:nvPr/>
        </p:nvSpPr>
        <p:spPr>
          <a:xfrm>
            <a:off x="4747260" y="2372995"/>
            <a:ext cx="2301875" cy="3802261"/>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Over the years, there have been several major milestones in AI. In the 1960s, the first AI programs were developed, including the General Problem Solver and the Logic Theorist. In the 1970s, expert systems emerged, which were designed to solve complex problems in specific domains. The 1980s saw the rise of machine learning, with algorithms such as decision trees and neural networks being developed.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Modern Developments</a:t>
            </a:r>
            <a:endParaRPr lang="en-US" sz="1600" dirty="0"/>
          </a:p>
        </p:txBody>
      </p:sp>
      <p:sp>
        <p:nvSpPr>
          <p:cNvPr id="70" name="Text 68"/>
          <p:cNvSpPr/>
          <p:nvPr/>
        </p:nvSpPr>
        <p:spPr>
          <a:xfrm>
            <a:off x="8064500" y="233362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In recent years, AI has made significant progress, driven by advances in computing power and the availability of large amounts of data. Deep learning, a subfield of machine learning, has achieved remarkable success in areas such as image and speech recognition. AI is now being applied in various fields, including healthcare, finance, transportation, and entertainment.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Early Beginnings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concept of AI dates back to ancient myths and stories of artificial beings endowed with intelligence. However, the field of AI as we know it today began in the 1950s. The Dartmouth Conference in 1956 is often considered the birth of AI, where a group of scientists gathered to discuss the possibility of creating machines that could think like humans.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Major Milestones</a:t>
            </a:r>
            <a:endParaRPr lang="en-US" sz="1600" dirty="0"/>
          </a:p>
        </p:txBody>
      </p:sp>
      <p:sp>
        <p:nvSpPr>
          <p:cNvPr id="52" name="Text 50"/>
          <p:cNvSpPr/>
          <p:nvPr/>
        </p:nvSpPr>
        <p:spPr>
          <a:xfrm>
            <a:off x="4747260" y="2372995"/>
            <a:ext cx="2301875" cy="3802261"/>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Over the years, there have been several major milestones in AI. In the 1960s, the first AI programs were developed, including the General Problem Solver and the Logic Theorist. In the 1970s, expert systems emerged, which were designed to solve complex problems in specific domains. The 1980s saw the rise of machine learning, with algorithms such as decision trees and neural networks being developed.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Modern Developments</a:t>
            </a:r>
            <a:endParaRPr lang="en-US" sz="1600" dirty="0"/>
          </a:p>
        </p:txBody>
      </p:sp>
      <p:sp>
        <p:nvSpPr>
          <p:cNvPr id="70" name="Text 68"/>
          <p:cNvSpPr/>
          <p:nvPr/>
        </p:nvSpPr>
        <p:spPr>
          <a:xfrm>
            <a:off x="8064500" y="233362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In recent years, AI has made significant progress, driven by advances in computing power and the availability of large amounts of data. Deep learning, a subfield of machine learning, has achieved remarkable success in areas such as image and speech recognition. AI is now being applied in various fields, including healthcare, finance, transportation, and entertainment.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p:nvPr/>
        </p:nvPicPr>
        <p:blipFill>
          <a:blip r:embed="rId4"/>
          <a:stretch>
            <a:fillRect/>
          </a:stretch>
        </p:blipFill>
        <p:spPr>
          <a:xfrm>
            <a:off x="330200" y="1423035"/>
            <a:ext cx="11671935" cy="51549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Early Beginnings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concept of AI dates back to ancient myths and stories of artificial beings endowed with intelligence. However, the field of AI as we know it today began in the 1950s. The Dartmouth Conference in 1956 is often considered the birth of AI, where a group of scientists gathered to discuss the possibility of creating machines that could think like humans.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Major Milestones</a:t>
            </a:r>
            <a:endParaRPr lang="en-US" sz="1600" dirty="0"/>
          </a:p>
        </p:txBody>
      </p:sp>
      <p:sp>
        <p:nvSpPr>
          <p:cNvPr id="52" name="Text 50"/>
          <p:cNvSpPr/>
          <p:nvPr/>
        </p:nvSpPr>
        <p:spPr>
          <a:xfrm>
            <a:off x="4747260" y="2372995"/>
            <a:ext cx="2301875" cy="3802261"/>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Over the years, there have been several major milestones in AI. In the 1960s, the first AI programs were developed, including the General Problem Solver and the Logic Theorist. In the 1970s, expert systems emerged, which were designed to solve complex problems in specific domains. The 1980s saw the rise of machine learning, with algorithms such as decision trees and neural networks being developed.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Modern Developments</a:t>
            </a:r>
            <a:endParaRPr lang="en-US" sz="1600" dirty="0"/>
          </a:p>
        </p:txBody>
      </p:sp>
      <p:sp>
        <p:nvSpPr>
          <p:cNvPr id="70" name="Text 68"/>
          <p:cNvSpPr/>
          <p:nvPr/>
        </p:nvSpPr>
        <p:spPr>
          <a:xfrm>
            <a:off x="8064500" y="233362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In recent years, AI has made significant progress, driven by advances in computing power and the availability of large amounts of data. Deep learning, a subfield of machine learning, has achieved remarkable success in areas such as image and speech recognition. AI is now being applied in various fields, including healthcare, finance, transportation, and entertainment.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p:nvPr/>
        </p:nvPicPr>
        <p:blipFill>
          <a:blip r:embed="rId4"/>
          <a:stretch>
            <a:fillRect/>
          </a:stretch>
        </p:blipFill>
        <p:spPr>
          <a:xfrm>
            <a:off x="330200" y="1423035"/>
            <a:ext cx="11671935" cy="5154930"/>
          </a:xfrm>
          <a:prstGeom prst="rect">
            <a:avLst/>
          </a:prstGeom>
        </p:spPr>
      </p:pic>
      <p:pic>
        <p:nvPicPr>
          <p:cNvPr id="99" name="图片 98"/>
          <p:cNvPicPr>
            <a:picLocks noChangeAspect="1"/>
          </p:cNvPicPr>
          <p:nvPr/>
        </p:nvPicPr>
        <p:blipFill>
          <a:blip r:embed="rId5"/>
          <a:stretch>
            <a:fillRect/>
          </a:stretch>
        </p:blipFill>
        <p:spPr>
          <a:xfrm>
            <a:off x="467360" y="1290320"/>
            <a:ext cx="11534775" cy="5288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051" name="图片 2"/>
          <p:cNvPicPr>
            <a:picLocks noChangeAspect="1"/>
          </p:cNvPicPr>
          <p:nvPr/>
        </p:nvPicPr>
        <p:blipFill>
          <a:blip r:embed="rId3"/>
          <a:stretch>
            <a:fillRect/>
          </a:stretch>
        </p:blipFill>
        <p:spPr>
          <a:xfrm>
            <a:off x="2119630" y="1147445"/>
            <a:ext cx="7209790" cy="4237355"/>
          </a:xfrm>
          <a:prstGeom prst="rect">
            <a:avLst/>
          </a:prstGeom>
          <a:noFill/>
          <a:ln w="9525">
            <a:noFill/>
          </a:ln>
        </p:spPr>
      </p:pic>
      <p:sp>
        <p:nvSpPr>
          <p:cNvPr id="2052" name="文本框 3"/>
          <p:cNvSpPr txBox="1"/>
          <p:nvPr/>
        </p:nvSpPr>
        <p:spPr>
          <a:xfrm>
            <a:off x="2038351" y="5320665"/>
            <a:ext cx="8852534" cy="1198880"/>
          </a:xfrm>
          <a:prstGeom prst="rect">
            <a:avLst/>
          </a:prstGeom>
          <a:noFill/>
          <a:ln w="9525">
            <a:noFill/>
          </a:ln>
        </p:spPr>
        <p:txBody>
          <a:bodyPr wrap="square" anchor="t" anchorCtr="0">
            <a:spAutoFit/>
          </a:bodyPr>
          <a:lstStyle/>
          <a:p>
            <a:r>
              <a:rPr lang="en-US" altLang="zh-CN" sz="2400">
                <a:latin typeface="Times New Roman" panose="02020603050405020304" charset="0"/>
                <a:ea typeface="宋体" panose="02010600030101010101" pitchFamily="2" charset="-122"/>
              </a:rPr>
              <a:t>Origin: Developed by OpenAI, based on the GPT series</a:t>
            </a:r>
          </a:p>
          <a:p>
            <a:r>
              <a:rPr lang="en-US" altLang="zh-CN" sz="2400">
                <a:latin typeface="Times New Roman" panose="02020603050405020304" charset="0"/>
                <a:ea typeface="宋体" panose="02010600030101010101" pitchFamily="2" charset="-122"/>
              </a:rPr>
              <a:t>Evolution: From GPT-1 (2018) to GPT-4 (2023)</a:t>
            </a:r>
          </a:p>
          <a:p>
            <a:r>
              <a:rPr lang="en-US" altLang="zh-CN" sz="2400">
                <a:latin typeface="Times New Roman" panose="02020603050405020304" charset="0"/>
                <a:ea typeface="宋体" panose="02010600030101010101" pitchFamily="2" charset="-122"/>
              </a:rPr>
              <a:t>Core Features: Text generation · Q&amp;A · Coding · Multilingual support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Types of AI</a:t>
            </a:r>
            <a:endParaRPr lang="en-US" sz="1600" dirty="0"/>
          </a:p>
        </p:txBody>
      </p:sp>
      <p:sp>
        <p:nvSpPr>
          <p:cNvPr id="11" name="Shape 9"/>
          <p:cNvSpPr/>
          <p:nvPr/>
        </p:nvSpPr>
        <p:spPr>
          <a:xfrm>
            <a:off x="6295390" y="5715"/>
            <a:ext cx="5893435" cy="6870065"/>
          </a:xfrm>
          <a:prstGeom prst="rect">
            <a:avLst/>
          </a:prstGeom>
          <a:solidFill>
            <a:srgbClr val="9FB26A"/>
          </a:solidFill>
        </p:spPr>
        <p:txBody>
          <a:bodyPr/>
          <a:lstStyle/>
          <a:p>
            <a:endParaRPr lang="en-AU"/>
          </a:p>
        </p:txBody>
      </p:sp>
      <p:sp>
        <p:nvSpPr>
          <p:cNvPr id="12" name="Text 10"/>
          <p:cNvSpPr/>
          <p:nvPr/>
        </p:nvSpPr>
        <p:spPr>
          <a:xfrm>
            <a:off x="6295390" y="5715"/>
            <a:ext cx="5893435" cy="68700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13-d0shq8c75iks832je5f0.png"/>
          <p:cNvPicPr>
            <a:picLocks noChangeAspect="1"/>
          </p:cNvPicPr>
          <p:nvPr/>
        </p:nvPicPr>
        <p:blipFill>
          <a:blip r:embed="rId3"/>
          <a:srcRect t="79" b="79"/>
          <a:stretch>
            <a:fillRect/>
          </a:stretch>
        </p:blipFill>
        <p:spPr>
          <a:xfrm>
            <a:off x="868680" y="1263015"/>
            <a:ext cx="5092065" cy="2806065"/>
          </a:xfrm>
          <a:prstGeom prst="rect">
            <a:avLst/>
          </a:prstGeom>
        </p:spPr>
      </p:pic>
      <p:sp>
        <p:nvSpPr>
          <p:cNvPr id="14" name="Text 11"/>
          <p:cNvSpPr/>
          <p:nvPr/>
        </p:nvSpPr>
        <p:spPr>
          <a:xfrm>
            <a:off x="868680" y="4203700"/>
            <a:ext cx="4944745" cy="284559"/>
          </a:xfrm>
          <a:prstGeom prst="rect">
            <a:avLst/>
          </a:prstGeom>
          <a:solidFill>
            <a:srgbClr val="FFFFFF">
              <a:alpha val="0"/>
            </a:srgbClr>
          </a:solidFill>
        </p:spPr>
        <p:txBody>
          <a:bodyPr wrap="square" lIns="91440" tIns="45720" rIns="91440" bIns="45720" rtlCol="0" anchor="t">
            <a:spAutoFit/>
          </a:bodyPr>
          <a:lstStyle/>
          <a:p>
            <a:pPr marL="0" indent="0" algn="just">
              <a:lnSpc>
                <a:spcPct val="100000"/>
              </a:lnSpc>
              <a:buNone/>
            </a:pPr>
            <a:r>
              <a:rPr lang="en-US" sz="1800" b="1" dirty="0">
                <a:solidFill>
                  <a:srgbClr val="000000"/>
                </a:solidFill>
                <a:latin typeface="MiSans" pitchFamily="34" charset="-122"/>
                <a:ea typeface="MiSans" pitchFamily="34" charset="-122"/>
                <a:cs typeface="MiSans" pitchFamily="34" charset="-120"/>
              </a:rPr>
              <a:t>Limited Memory</a:t>
            </a:r>
            <a:endParaRPr lang="en-US" sz="1600" dirty="0"/>
          </a:p>
        </p:txBody>
      </p:sp>
      <p:sp>
        <p:nvSpPr>
          <p:cNvPr id="15" name="Text 12"/>
          <p:cNvSpPr/>
          <p:nvPr/>
        </p:nvSpPr>
        <p:spPr>
          <a:xfrm>
            <a:off x="868680" y="4635500"/>
            <a:ext cx="51117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Limited memory AI can use past experiences to inform current decisions. This type of AI includes some advanced machine learning models that can learn from data over time. Autonomous vehicles are a good example, as they use sensors and data to navigate.</a:t>
            </a:r>
            <a:endParaRPr lang="en-US" sz="1600" dirty="0"/>
          </a:p>
        </p:txBody>
      </p:sp>
      <p:sp>
        <p:nvSpPr>
          <p:cNvPr id="16" name="Text 13"/>
          <p:cNvSpPr/>
          <p:nvPr/>
        </p:nvSpPr>
        <p:spPr>
          <a:xfrm>
            <a:off x="6633845" y="972185"/>
            <a:ext cx="5043170" cy="245467"/>
          </a:xfrm>
          <a:prstGeom prst="rect">
            <a:avLst/>
          </a:prstGeom>
          <a:solidFill>
            <a:srgbClr val="FFFFFF">
              <a:alpha val="0"/>
            </a:srgbClr>
          </a:solidFill>
        </p:spPr>
        <p:txBody>
          <a:bodyPr wrap="square" lIns="91440" tIns="45720" rIns="91440" bIns="45720" rtlCol="0" anchor="t">
            <a:spAutoFit/>
          </a:bodyPr>
          <a:lstStyle/>
          <a:p>
            <a:pPr marL="0" indent="0" algn="just">
              <a:lnSpc>
                <a:spcPct val="100000"/>
              </a:lnSpc>
              <a:buNone/>
            </a:pPr>
            <a:r>
              <a:rPr lang="en-US" sz="1600" b="1" dirty="0">
                <a:solidFill>
                  <a:srgbClr val="FFFFFF"/>
                </a:solidFill>
                <a:latin typeface="MiSans" pitchFamily="34" charset="-122"/>
                <a:ea typeface="MiSans" pitchFamily="34" charset="-122"/>
                <a:cs typeface="MiSans" pitchFamily="34" charset="-120"/>
              </a:rPr>
              <a:t>Reactive Machines</a:t>
            </a:r>
            <a:endParaRPr lang="en-US" sz="1600" dirty="0"/>
          </a:p>
        </p:txBody>
      </p:sp>
      <p:sp>
        <p:nvSpPr>
          <p:cNvPr id="17" name="Text 14"/>
          <p:cNvSpPr/>
          <p:nvPr/>
        </p:nvSpPr>
        <p:spPr>
          <a:xfrm>
            <a:off x="6633845" y="1259205"/>
            <a:ext cx="51117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Reactive machines are the simplest form of AI. They perceive the world directly and act on what they see. They don't have memory or the ability to use past experiences to inform future decisions. An example is Deep Blue, the chess-playing computer.</a:t>
            </a:r>
            <a:endParaRPr lang="en-US" sz="1600" dirty="0"/>
          </a:p>
        </p:txBody>
      </p:sp>
      <p:sp>
        <p:nvSpPr>
          <p:cNvPr id="18" name="Text 15"/>
          <p:cNvSpPr/>
          <p:nvPr/>
        </p:nvSpPr>
        <p:spPr>
          <a:xfrm>
            <a:off x="6633845" y="2830195"/>
            <a:ext cx="5161915" cy="245467"/>
          </a:xfrm>
          <a:prstGeom prst="rect">
            <a:avLst/>
          </a:prstGeom>
          <a:solidFill>
            <a:srgbClr val="FFFFFF">
              <a:alpha val="0"/>
            </a:srgbClr>
          </a:solidFill>
        </p:spPr>
        <p:txBody>
          <a:bodyPr wrap="square" lIns="91440" tIns="45720" rIns="91440" bIns="45720" rtlCol="0" anchor="t">
            <a:spAutoFit/>
          </a:bodyPr>
          <a:lstStyle/>
          <a:p>
            <a:pPr marL="0" indent="0" algn="just">
              <a:lnSpc>
                <a:spcPct val="100000"/>
              </a:lnSpc>
              <a:buNone/>
            </a:pPr>
            <a:r>
              <a:rPr lang="en-US" sz="1600" b="1" dirty="0">
                <a:solidFill>
                  <a:srgbClr val="FFFFFF"/>
                </a:solidFill>
                <a:latin typeface="MiSans" pitchFamily="34" charset="-122"/>
                <a:ea typeface="MiSans" pitchFamily="34" charset="-122"/>
                <a:cs typeface="MiSans" pitchFamily="34" charset="-120"/>
              </a:rPr>
              <a:t>Theory of Mind</a:t>
            </a:r>
            <a:endParaRPr lang="en-US" sz="1600" dirty="0"/>
          </a:p>
        </p:txBody>
      </p:sp>
      <p:sp>
        <p:nvSpPr>
          <p:cNvPr id="19" name="Text 16"/>
          <p:cNvSpPr/>
          <p:nvPr/>
        </p:nvSpPr>
        <p:spPr>
          <a:xfrm>
            <a:off x="6633845" y="3141345"/>
            <a:ext cx="51117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Theory of mind AI is a more advanced concept. It involves understanding that other entities have their own beliefs, desires, and intentions that impact their decisions. This type of AI is still in the research phase and aims to create machines that can interact with humans more naturally.</a:t>
            </a:r>
            <a:endParaRPr lang="en-US" sz="1600" dirty="0"/>
          </a:p>
        </p:txBody>
      </p:sp>
      <p:sp>
        <p:nvSpPr>
          <p:cNvPr id="20" name="Text 17"/>
          <p:cNvSpPr/>
          <p:nvPr/>
        </p:nvSpPr>
        <p:spPr>
          <a:xfrm>
            <a:off x="6633845" y="4712335"/>
            <a:ext cx="4817745" cy="245467"/>
          </a:xfrm>
          <a:prstGeom prst="rect">
            <a:avLst/>
          </a:prstGeom>
          <a:solidFill>
            <a:srgbClr val="FFFFFF">
              <a:alpha val="0"/>
            </a:srgbClr>
          </a:solidFill>
        </p:spPr>
        <p:txBody>
          <a:bodyPr wrap="square" lIns="91440" tIns="45720" rIns="91440" bIns="45720" rtlCol="0" anchor="t">
            <a:spAutoFit/>
          </a:bodyPr>
          <a:lstStyle/>
          <a:p>
            <a:pPr marL="0" indent="0" algn="l">
              <a:lnSpc>
                <a:spcPct val="100000"/>
              </a:lnSpc>
              <a:buNone/>
            </a:pPr>
            <a:r>
              <a:rPr lang="en-US" sz="1600" b="1" dirty="0">
                <a:solidFill>
                  <a:srgbClr val="FFFFFF"/>
                </a:solidFill>
                <a:latin typeface="MiSans" pitchFamily="34" charset="-122"/>
                <a:ea typeface="MiSans" pitchFamily="34" charset="-122"/>
                <a:cs typeface="MiSans" pitchFamily="34" charset="-120"/>
              </a:rPr>
              <a:t>Self-Aware</a:t>
            </a:r>
            <a:endParaRPr lang="en-US" sz="1600" dirty="0"/>
          </a:p>
        </p:txBody>
      </p:sp>
      <p:sp>
        <p:nvSpPr>
          <p:cNvPr id="21" name="Text 18"/>
          <p:cNvSpPr/>
          <p:nvPr/>
        </p:nvSpPr>
        <p:spPr>
          <a:xfrm>
            <a:off x="6633845" y="4988560"/>
            <a:ext cx="511175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Self-aware AI is the most advanced and hypothetical form of AI. It would have a sense of self, consciousness, and emotions. This type of AI is still a topic of speculation and ethical debate, as it raises questions about the nature of intelligence and consciousness.</a:t>
            </a:r>
            <a:endParaRPr lang="en-US" sz="1600" dirty="0"/>
          </a:p>
        </p:txBody>
      </p:sp>
      <p:sp>
        <p:nvSpPr>
          <p:cNvPr id="22" name="Shape 19"/>
          <p:cNvSpPr/>
          <p:nvPr/>
        </p:nvSpPr>
        <p:spPr>
          <a:xfrm>
            <a:off x="6600190" y="2705100"/>
            <a:ext cx="5184000" cy="0"/>
          </a:xfrm>
          <a:prstGeom prst="line">
            <a:avLst/>
          </a:prstGeom>
          <a:noFill/>
          <a:ln w="12700">
            <a:solidFill>
              <a:srgbClr val="FFFFFF"/>
            </a:solidFill>
            <a:prstDash val="dash"/>
            <a:headEnd type="none"/>
            <a:tailEnd type="none"/>
          </a:ln>
        </p:spPr>
        <p:txBody>
          <a:bodyPr/>
          <a:lstStyle/>
          <a:p>
            <a:endParaRPr lang="en-AU"/>
          </a:p>
        </p:txBody>
      </p:sp>
      <p:sp>
        <p:nvSpPr>
          <p:cNvPr id="23" name="Shape 20"/>
          <p:cNvSpPr/>
          <p:nvPr/>
        </p:nvSpPr>
        <p:spPr>
          <a:xfrm>
            <a:off x="6600190" y="4570730"/>
            <a:ext cx="5184000" cy="0"/>
          </a:xfrm>
          <a:prstGeom prst="line">
            <a:avLst/>
          </a:prstGeom>
          <a:noFill/>
          <a:ln w="12700">
            <a:solidFill>
              <a:srgbClr val="FFFFFF"/>
            </a:solidFill>
            <a:prstDash val="dash"/>
            <a:headEnd type="none"/>
            <a:tailEnd type="none"/>
          </a:ln>
        </p:spPr>
        <p:txBody>
          <a:bodyPr/>
          <a:lstStyle/>
          <a:p>
            <a:endParaRPr lang="en-A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868670" y="1706880"/>
            <a:ext cx="4779645" cy="3476625"/>
          </a:xfrm>
          <a:prstGeom prst="rect">
            <a:avLst/>
          </a:prstGeom>
          <a:noFill/>
        </p:spPr>
        <p:txBody>
          <a:bodyPr wrap="square" lIns="91440" tIns="45720" rIns="91440" bIns="45720" rtlCol="0" anchor="t">
            <a:spAutoFit/>
          </a:bodyPr>
          <a:lstStyle/>
          <a:p>
            <a:pPr marL="0" indent="0" algn="just">
              <a:lnSpc>
                <a:spcPct val="100000"/>
              </a:lnSpc>
              <a:buNone/>
            </a:pPr>
            <a:r>
              <a:rPr lang="en-US" altLang="zh-CN" sz="4400" b="1" dirty="0">
                <a:solidFill>
                  <a:srgbClr val="000000"/>
                </a:solidFill>
                <a:latin typeface="MiSans" pitchFamily="34" charset="-122"/>
                <a:ea typeface="MiSans" pitchFamily="34" charset="-122"/>
                <a:cs typeface="MiSans" pitchFamily="34" charset="-120"/>
              </a:rPr>
              <a:t>the development history of artificial intelligence in China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 In China</a:t>
            </a: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5" name="图片 14"/>
          <p:cNvPicPr>
            <a:picLocks noChangeAspect="1"/>
          </p:cNvPicPr>
          <p:nvPr>
            <p:custDataLst>
              <p:tags r:id="rId1"/>
            </p:custDataLst>
          </p:nvPr>
        </p:nvPicPr>
        <p:blipFill>
          <a:blip r:embed="rId4"/>
          <a:stretch>
            <a:fillRect/>
          </a:stretch>
        </p:blipFill>
        <p:spPr>
          <a:xfrm>
            <a:off x="1344930" y="1012825"/>
            <a:ext cx="9216390" cy="5178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DeepSeek</a:t>
            </a: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图片 15"/>
          <p:cNvPicPr>
            <a:picLocks noChangeAspect="1"/>
          </p:cNvPicPr>
          <p:nvPr/>
        </p:nvPicPr>
        <p:blipFill>
          <a:blip r:embed="rId3"/>
          <a:stretch>
            <a:fillRect/>
          </a:stretch>
        </p:blipFill>
        <p:spPr>
          <a:xfrm>
            <a:off x="467360" y="1565275"/>
            <a:ext cx="5728970" cy="3820160"/>
          </a:xfrm>
          <a:prstGeom prst="rect">
            <a:avLst/>
          </a:prstGeom>
        </p:spPr>
      </p:pic>
      <p:sp>
        <p:nvSpPr>
          <p:cNvPr id="17" name="文本框 16"/>
          <p:cNvSpPr txBox="1"/>
          <p:nvPr/>
        </p:nvSpPr>
        <p:spPr>
          <a:xfrm>
            <a:off x="6362065" y="930910"/>
            <a:ext cx="5915025" cy="5692775"/>
          </a:xfrm>
          <a:prstGeom prst="rect">
            <a:avLst/>
          </a:prstGeom>
        </p:spPr>
        <p:txBody>
          <a:bodyPr wrap="square">
            <a:spAutoFit/>
          </a:bodyPr>
          <a:lstStyle/>
          <a:p>
            <a:r>
              <a:rPr lang="en-US" altLang="zh-CN" sz="2800"/>
              <a:t>Developed by: DeepSeek (China)</a:t>
            </a:r>
          </a:p>
          <a:p>
            <a:r>
              <a:rPr lang="en-US" altLang="zh-CN" sz="2800"/>
              <a:t>Model Type: Large Language Model (LLM)</a:t>
            </a:r>
          </a:p>
          <a:p>
            <a:r>
              <a:rPr lang="en-US" altLang="zh-CN" sz="2800"/>
              <a:t>Key Features:</a:t>
            </a:r>
          </a:p>
          <a:p>
            <a:endParaRPr lang="en-US" altLang="zh-CN" sz="2800"/>
          </a:p>
          <a:p>
            <a:pPr>
              <a:buFont typeface="Arial" panose="020B0604020202020204"/>
              <a:buChar char="•"/>
            </a:pPr>
            <a:r>
              <a:rPr lang="en-US" altLang="zh-CN" sz="2800"/>
              <a:t>Chinese-English bilingual capabilities</a:t>
            </a:r>
          </a:p>
          <a:p>
            <a:pPr>
              <a:buFont typeface="Arial" panose="020B0604020202020204"/>
              <a:buChar char="•"/>
            </a:pPr>
            <a:endParaRPr lang="en-US" altLang="zh-CN" sz="2800"/>
          </a:p>
          <a:p>
            <a:pPr>
              <a:buFont typeface="Arial" panose="020B0604020202020204"/>
              <a:buChar char="•"/>
            </a:pPr>
            <a:r>
              <a:rPr lang="en-US" altLang="zh-CN" sz="2800"/>
              <a:t>Strong performance in reasoning and math</a:t>
            </a:r>
          </a:p>
          <a:p>
            <a:pPr>
              <a:buFont typeface="Arial" panose="020B0604020202020204"/>
              <a:buChar char="•"/>
            </a:pPr>
            <a:endParaRPr lang="en-US" altLang="zh-CN" sz="2800"/>
          </a:p>
          <a:p>
            <a:pPr>
              <a:buFont typeface="Arial" panose="020B0604020202020204"/>
              <a:buChar char="•"/>
            </a:pPr>
            <a:r>
              <a:rPr lang="en-US" altLang="zh-CN" sz="2800"/>
              <a:t>Open-source and extensible architecture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txBody>
          <a:bodyPr/>
          <a:lstStyle/>
          <a:p>
            <a:endParaRPr lang="en-AU"/>
          </a:p>
        </p:txBody>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txBody>
          <a:bodyPr/>
          <a:lstStyle/>
          <a:p>
            <a:endParaRPr lang="en-AU"/>
          </a:p>
        </p:txBody>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3"/>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Company Overview</a:t>
            </a:r>
            <a:endParaRPr lang="en-US" sz="1600" dirty="0"/>
          </a:p>
        </p:txBody>
      </p:sp>
      <p:sp>
        <p:nvSpPr>
          <p:cNvPr id="12" name="Shape 9"/>
          <p:cNvSpPr/>
          <p:nvPr/>
        </p:nvSpPr>
        <p:spPr>
          <a:xfrm>
            <a:off x="2808605" y="1239520"/>
            <a:ext cx="652145" cy="663575"/>
          </a:xfrm>
          <a:prstGeom prst="ellipse">
            <a:avLst/>
          </a:prstGeom>
          <a:solidFill>
            <a:srgbClr val="B4CA7C"/>
          </a:solidFill>
        </p:spPr>
        <p:txBody>
          <a:bodyPr/>
          <a:lstStyle/>
          <a:p>
            <a:endParaRPr lang="en-AU"/>
          </a:p>
        </p:txBody>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txBody>
          <a:bodyPr/>
          <a:lstStyle/>
          <a:p>
            <a:endParaRPr lang="en-AU"/>
          </a:p>
        </p:txBody>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txBody>
          <a:bodyPr/>
          <a:lstStyle/>
          <a:p>
            <a:endParaRPr lang="en-AU"/>
          </a:p>
        </p:txBody>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Founding and Vision</a:t>
            </a:r>
            <a:endParaRPr lang="en-US" sz="1600" dirty="0"/>
          </a:p>
        </p:txBody>
      </p:sp>
      <p:sp>
        <p:nvSpPr>
          <p:cNvPr id="22" name="Text 19"/>
          <p:cNvSpPr/>
          <p:nvPr/>
        </p:nvSpPr>
        <p:spPr>
          <a:xfrm>
            <a:off x="4210685" y="1703070"/>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DeepSeek was founded with the vision of leveraging cutting-edge AI technologies to drive innovation in multiple domains. It aims to create advanced generative AI models that can solve complex problems and contribute to the progress of various industries.</a:t>
            </a:r>
            <a:endParaRPr lang="en-US" sz="1600" dirty="0"/>
          </a:p>
        </p:txBody>
      </p:sp>
      <p:sp>
        <p:nvSpPr>
          <p:cNvPr id="23" name="Text 20"/>
          <p:cNvSpPr/>
          <p:nvPr/>
        </p:nvSpPr>
        <p:spPr>
          <a:xfrm>
            <a:off x="4027170" y="5546725"/>
            <a:ext cx="6839585"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DeepSeek has secured significant funding from leading investors. This financial support allows it to invest in research and development. It also collaborates with academic institutions and other companies to expand its capabilities and accelerate the application of generative AI.</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Funding and Partnerships</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Core Team and Expertise</a:t>
            </a:r>
            <a:endParaRPr lang="en-US" sz="1600" dirty="0"/>
          </a:p>
        </p:txBody>
      </p:sp>
      <p:sp>
        <p:nvSpPr>
          <p:cNvPr id="26" name="Text 23"/>
          <p:cNvSpPr/>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core team of DeepSeek consists of top experts in AI research and development. They have extensive experience in deep learning, natural language processing, and computer vision. Their expertise enables DeepSeek to stay at the forefront of generative AI advancements.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Technology and Innovation</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Advanced AI Models</a:t>
            </a:r>
            <a:endParaRPr lang="en-US" sz="1600" dirty="0"/>
          </a:p>
        </p:txBody>
      </p:sp>
      <p:sp>
        <p:nvSpPr>
          <p:cNvPr id="34" name="Text 32"/>
          <p:cNvSpPr/>
          <p:nvPr/>
        </p:nvSpPr>
        <p:spPr>
          <a:xfrm>
            <a:off x="1515110" y="2399665"/>
            <a:ext cx="2301875"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DeepSeek has developed advanced generative AI models that outperform many existing solutions. These models are designed to generate high-quality and diverse content. They are optimized for different applications, such as text generation, image synthesis, and more.</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Research Contributions</a:t>
            </a:r>
            <a:endParaRPr lang="en-US" sz="1600" dirty="0"/>
          </a:p>
        </p:txBody>
      </p:sp>
      <p:sp>
        <p:nvSpPr>
          <p:cNvPr id="52" name="Text 50"/>
          <p:cNvSpPr/>
          <p:nvPr/>
        </p:nvSpPr>
        <p:spPr>
          <a:xfrm>
            <a:off x="4747260" y="2372995"/>
            <a:ext cx="2301875"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company actively contributes to the research community. It publishes papers on innovative techniques and shares its findings at conferences. This helps to advance the overall understanding and development of generative AI.</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Innovation in Data Handling</a:t>
            </a:r>
            <a:endParaRPr lang="en-US" sz="1600" dirty="0"/>
          </a:p>
        </p:txBody>
      </p:sp>
      <p:sp>
        <p:nvSpPr>
          <p:cNvPr id="70" name="Text 68"/>
          <p:cNvSpPr/>
          <p:nvPr/>
        </p:nvSpPr>
        <p:spPr>
          <a:xfrm>
            <a:off x="8064500" y="2333625"/>
            <a:ext cx="2301875"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DeepSeek focuses on improving data handling for generative AI. It develops methods to efficiently collect, preprocess, and augment data. This ensures that the models are trained on high-quality and diverse datasets, leading to better performance.</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Technology and Innovation</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custDataLst>
              <p:tags r:id="rId1"/>
            </p:custDataLst>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custDataLst>
              <p:tags r:id="rId2"/>
            </p:custDataLst>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custDataLst>
              <p:tags r:id="rId3"/>
            </p:custDataLst>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custDataLst>
              <p:tags r:id="rId4"/>
            </p:custDataLst>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custDataLst>
              <p:tags r:id="rId5"/>
            </p:custDataLst>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custDataLst>
              <p:tags r:id="rId6"/>
            </p:custDataLst>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custDataLst>
              <p:tags r:id="rId7"/>
            </p:custDataLst>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custDataLst>
              <p:tags r:id="rId8"/>
            </p:custDataLst>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custDataLst>
              <p:tags r:id="rId9"/>
            </p:custDataLst>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custDataLst>
              <p:tags r:id="rId10"/>
            </p:custDataLst>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Advanced AI Models</a:t>
            </a:r>
            <a:endParaRPr lang="en-US" sz="1600" dirty="0"/>
          </a:p>
        </p:txBody>
      </p:sp>
      <p:sp>
        <p:nvSpPr>
          <p:cNvPr id="34" name="Text 32"/>
          <p:cNvSpPr/>
          <p:nvPr>
            <p:custDataLst>
              <p:tags r:id="rId11"/>
            </p:custDataLst>
          </p:nvPr>
        </p:nvSpPr>
        <p:spPr>
          <a:xfrm>
            <a:off x="1515110" y="2399665"/>
            <a:ext cx="2301875"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DeepSeek has developed advanced generative AI models that outperform many existing solutions. These models are designed to generate high-quality and diverse content. They are optimized for different applications, such as text generation, image synthesis, and more.</a:t>
            </a:r>
            <a:endParaRPr lang="en-US" sz="1600" dirty="0"/>
          </a:p>
        </p:txBody>
      </p:sp>
      <p:sp>
        <p:nvSpPr>
          <p:cNvPr id="35" name="Shape 33"/>
          <p:cNvSpPr/>
          <p:nvPr>
            <p:custDataLst>
              <p:tags r:id="rId12"/>
            </p:custDataLst>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custDataLst>
              <p:tags r:id="rId13"/>
            </p:custDataLst>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custDataLst>
              <p:tags r:id="rId14"/>
            </p:custDataLst>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custDataLst>
              <p:tags r:id="rId15"/>
            </p:custDataLst>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custDataLst>
              <p:tags r:id="rId16"/>
            </p:custDataLst>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custDataLst>
              <p:tags r:id="rId17"/>
            </p:custDataLst>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custDataLst>
              <p:tags r:id="rId18"/>
            </p:custDataLst>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custDataLst>
              <p:tags r:id="rId19"/>
            </p:custDataLst>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custDataLst>
              <p:tags r:id="rId20"/>
            </p:custDataLst>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Research Contributions</a:t>
            </a:r>
            <a:endParaRPr lang="en-US" sz="1600" dirty="0"/>
          </a:p>
        </p:txBody>
      </p:sp>
      <p:sp>
        <p:nvSpPr>
          <p:cNvPr id="52" name="Text 50"/>
          <p:cNvSpPr/>
          <p:nvPr>
            <p:custDataLst>
              <p:tags r:id="rId21"/>
            </p:custDataLst>
          </p:nvPr>
        </p:nvSpPr>
        <p:spPr>
          <a:xfrm>
            <a:off x="4747260" y="2372995"/>
            <a:ext cx="2301875"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company actively contributes to the research community. It publishes papers on innovative techniques and shares its findings at conferences. This helps to advance the overall understanding and development of generative AI.</a:t>
            </a:r>
            <a:endParaRPr lang="en-US" sz="1600" dirty="0"/>
          </a:p>
        </p:txBody>
      </p:sp>
      <p:sp>
        <p:nvSpPr>
          <p:cNvPr id="53" name="Shape 51"/>
          <p:cNvSpPr/>
          <p:nvPr>
            <p:custDataLst>
              <p:tags r:id="rId22"/>
            </p:custDataLst>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custDataLst>
              <p:tags r:id="rId23"/>
            </p:custDataLst>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custDataLst>
              <p:tags r:id="rId24"/>
            </p:custDataLst>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custDataLst>
              <p:tags r:id="rId25"/>
            </p:custDataLst>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custDataLst>
              <p:tags r:id="rId26"/>
            </p:custDataLst>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custDataLst>
              <p:tags r:id="rId27"/>
            </p:custDataLst>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custDataLst>
              <p:tags r:id="rId28"/>
            </p:custDataLst>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custDataLst>
              <p:tags r:id="rId29"/>
            </p:custDataLst>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custDataLst>
              <p:tags r:id="rId30"/>
            </p:custDataLst>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Innovation in Data Handling</a:t>
            </a:r>
            <a:endParaRPr lang="en-US" sz="1600" dirty="0"/>
          </a:p>
        </p:txBody>
      </p:sp>
      <p:sp>
        <p:nvSpPr>
          <p:cNvPr id="70" name="Text 68"/>
          <p:cNvSpPr/>
          <p:nvPr>
            <p:custDataLst>
              <p:tags r:id="rId31"/>
            </p:custDataLst>
          </p:nvPr>
        </p:nvSpPr>
        <p:spPr>
          <a:xfrm>
            <a:off x="8064500" y="2333625"/>
            <a:ext cx="2301875"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DeepSeek focuses on improving data handling for generative AI. It develops methods to efficiently collect, preprocess, and augment data. This ensures that the models are trained on high-quality and diverse datasets, leading to better performance.</a:t>
            </a:r>
            <a:endParaRPr lang="en-US" sz="1600" dirty="0"/>
          </a:p>
        </p:txBody>
      </p:sp>
      <p:sp>
        <p:nvSpPr>
          <p:cNvPr id="71" name="Shape 69"/>
          <p:cNvSpPr/>
          <p:nvPr>
            <p:custDataLst>
              <p:tags r:id="rId32"/>
            </p:custDataLst>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custDataLst>
              <p:tags r:id="rId33"/>
            </p:custDataLst>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custDataLst>
              <p:tags r:id="rId34"/>
            </p:custDataLst>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custDataLst>
              <p:tags r:id="rId35"/>
            </p:custDataLst>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custDataLst>
              <p:tags r:id="rId36"/>
            </p:custDataLst>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custDataLst>
              <p:tags r:id="rId37"/>
            </p:custDataLst>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custDataLst>
              <p:tags r:id="rId38"/>
            </p:custDataLst>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custDataLst>
              <p:tags r:id="rId39"/>
            </p:custDataLst>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custDataLst>
              <p:tags r:id="rId40"/>
            </p:custDataLst>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custDataLst>
              <p:tags r:id="rId41"/>
            </p:custDataLst>
          </p:nvPr>
        </p:nvPicPr>
        <p:blipFill>
          <a:blip r:embed="rId50"/>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custDataLst>
              <p:tags r:id="rId42"/>
            </p:custDataLst>
          </p:nvPr>
        </p:nvPicPr>
        <p:blipFill>
          <a:blip r:embed="rId50"/>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custDataLst>
              <p:tags r:id="rId43"/>
            </p:custDataLst>
          </p:nvPr>
        </p:nvPicPr>
        <p:blipFill>
          <a:blip r:embed="rId50"/>
          <a:stretch>
            <a:fillRect/>
          </a:stretch>
        </p:blipFill>
        <p:spPr>
          <a:xfrm>
            <a:off x="7863205" y="2070735"/>
            <a:ext cx="18415" cy="2688590"/>
          </a:xfrm>
          <a:prstGeom prst="rect">
            <a:avLst/>
          </a:prstGeom>
        </p:spPr>
      </p:pic>
      <p:sp>
        <p:nvSpPr>
          <p:cNvPr id="92" name="Shape 87"/>
          <p:cNvSpPr/>
          <p:nvPr>
            <p:custDataLst>
              <p:tags r:id="rId44"/>
            </p:custDataLst>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custDataLst>
              <p:tags r:id="rId45"/>
            </p:custDataLst>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custDataLst>
              <p:tags r:id="rId46"/>
            </p:custDataLst>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a:picLocks noChangeAspect="1"/>
          </p:cNvPicPr>
          <p:nvPr>
            <p:custDataLst>
              <p:tags r:id="rId47"/>
            </p:custDataLst>
          </p:nvPr>
        </p:nvPicPr>
        <p:blipFill>
          <a:blip r:embed="rId51"/>
          <a:stretch>
            <a:fillRect/>
          </a:stretch>
        </p:blipFill>
        <p:spPr>
          <a:xfrm>
            <a:off x="119380" y="1303655"/>
            <a:ext cx="11775440" cy="46494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txBody>
          <a:bodyPr/>
          <a:lstStyle/>
          <a:p>
            <a:endParaRPr lang="en-AU"/>
          </a:p>
        </p:txBody>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Products and Solutions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4" name="Text 12"/>
          <p:cNvSpPr/>
          <p:nvPr/>
        </p:nvSpPr>
        <p:spPr>
          <a:xfrm>
            <a:off x="687705" y="1255395"/>
            <a:ext cx="10768330" cy="15951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46125" y="4594860"/>
            <a:ext cx="10710545" cy="1720850"/>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The company also provides solutions for image and video generation. These tools can create realistic and visually appealing content. They are used in advertising, entertainment, and other industries to enhance visual experiences.</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Text Generation Tools</a:t>
            </a:r>
            <a:endParaRPr lang="en-US" sz="1600" dirty="0"/>
          </a:p>
        </p:txBody>
      </p:sp>
      <p:sp>
        <p:nvSpPr>
          <p:cNvPr id="21" name="Text 19"/>
          <p:cNvSpPr/>
          <p:nvPr/>
        </p:nvSpPr>
        <p:spPr>
          <a:xfrm>
            <a:off x="929005" y="198374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DeepSeek offers powerful text generation tools. These tools can generate coherent and contextually relevant text for various purposes. They are used in content creation, customer service, and other applications where natural language is essential.</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Image and Video Generation</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Customized Solutions</a:t>
            </a:r>
            <a:endParaRPr lang="en-US" sz="1600" dirty="0"/>
          </a:p>
        </p:txBody>
      </p:sp>
      <p:sp>
        <p:nvSpPr>
          <p:cNvPr id="24" name="Text 22"/>
          <p:cNvSpPr/>
          <p:nvPr/>
        </p:nvSpPr>
        <p:spPr>
          <a:xfrm>
            <a:off x="929005" y="538670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DeepSeek works closely with clients to develop customized generative AI solutions. It understands the specific needs of different industries and tailors its models and applications accordingly. This ensures that clients can achieve their goals effectively.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"Foundation-Building Project" for Technological Self-Reliance</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Intelligent Computing</a:t>
            </a:r>
            <a:endParaRPr lang="en-US" sz="1600" dirty="0"/>
          </a:p>
        </p:txBody>
      </p:sp>
      <p:sp>
        <p:nvSpPr>
          <p:cNvPr id="34" name="Text 32"/>
          <p:cNvSpPr/>
          <p:nvPr/>
        </p:nvSpPr>
        <p:spPr>
          <a:xfrm>
            <a:off x="1515110" y="2399665"/>
            <a:ext cx="2301875"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Optimize 100-billion-parameter large model training to achieve 40% reduction in carbon emissions per unit 算力 (Institute of Computing Technology, CAS + enterprises).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Quantum Computing</a:t>
            </a:r>
            <a:endParaRPr lang="en-US" sz="1600" dirty="0"/>
          </a:p>
        </p:txBody>
      </p:sp>
      <p:sp>
        <p:nvSpPr>
          <p:cNvPr id="52" name="Text 50"/>
          <p:cNvSpPr/>
          <p:nvPr/>
        </p:nvSpPr>
        <p:spPr>
          <a:xfrm>
            <a:off x="4747260" y="2372995"/>
            <a:ext cx="2301875"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Build quantum-classical hybrid platform and 3 E-level supercomputing quantum collaboration centers (National Laboratories).</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Privacy Computing</a:t>
            </a:r>
            <a:endParaRPr lang="en-US" sz="1600" dirty="0"/>
          </a:p>
        </p:txBody>
      </p:sp>
      <p:sp>
        <p:nvSpPr>
          <p:cNvPr id="70" name="Text 68"/>
          <p:cNvSpPr/>
          <p:nvPr/>
        </p:nvSpPr>
        <p:spPr>
          <a:xfrm>
            <a:off x="8064500" y="2333625"/>
            <a:ext cx="2301875"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Breakthrough in fully homomorphic encryption performance to reach 100Kops/sec (50x improvement) (Cryptography Administration + enterprises).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"Data Element ×" Scenario Empowerment Plan</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Industrial Data Space Construction: 25% reduction in product defect rate; 18% increase in OEE (20 national-level industrial data spaces).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Manufacturing</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6308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Cultivated Land Data Mapping: Cover 95% of high-standard farmland (30% reduction in agricultural insurance compensation rate).</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Agriculture</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091605"/>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National Health Big Data Center: Connect 80% of tertiary hospitals (50% improvement in rare disease screening efficiency).</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Healthcare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"Great Wall System" for Data Security</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Technical Defense</a:t>
            </a:r>
            <a:endParaRPr lang="en-US" sz="1600" dirty="0"/>
          </a:p>
        </p:txBody>
      </p:sp>
      <p:sp>
        <p:nvSpPr>
          <p:cNvPr id="21" name="Text 18"/>
          <p:cNvSpPr/>
          <p:nvPr/>
        </p:nvSpPr>
        <p:spPr>
          <a:xfrm>
            <a:off x="4802505" y="1946275"/>
            <a:ext cx="6647815"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Develop blockchain audit platform for data circulation (100% coverage of cross-border data flow).</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Institutional Innovation</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Sovereignty Protection</a:t>
            </a:r>
            <a:endParaRPr lang="en-US" sz="1600" dirty="0"/>
          </a:p>
        </p:txBody>
      </p:sp>
      <p:sp>
        <p:nvSpPr>
          <p:cNvPr id="25" name="Text 22"/>
          <p:cNvSpPr/>
          <p:nvPr/>
        </p:nvSpPr>
        <p:spPr>
          <a:xfrm>
            <a:off x="5048250" y="3828415"/>
            <a:ext cx="2872740" cy="114339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Establish data security insurance fund (20 billion yuan funded by Ministry of Finance, covering 100,000 enterprises).</a:t>
            </a:r>
            <a:endParaRPr lang="en-US" sz="1600" dirty="0"/>
          </a:p>
        </p:txBody>
      </p:sp>
      <p:sp>
        <p:nvSpPr>
          <p:cNvPr id="26" name="Text 23"/>
          <p:cNvSpPr/>
          <p:nvPr/>
        </p:nvSpPr>
        <p:spPr>
          <a:xfrm>
            <a:off x="8418195" y="3954780"/>
            <a:ext cx="2872740" cy="85764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Release National Core Data Catalog (prohibiting export of classified/sensitive data).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Core Technologies of AI</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Machine Learning</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32985" y="3249295"/>
            <a:ext cx="3233420" cy="322899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32985" y="3249295"/>
            <a:ext cx="3233420" cy="3228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8180" y="3266420"/>
            <a:ext cx="3112770" cy="320359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298180" y="3266420"/>
            <a:ext cx="3112770" cy="32035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Supervised Learning</a:t>
            </a:r>
            <a:endParaRPr lang="en-US" sz="1600" dirty="0"/>
          </a:p>
        </p:txBody>
      </p:sp>
      <p:sp>
        <p:nvSpPr>
          <p:cNvPr id="21" name="Text 18"/>
          <p:cNvSpPr/>
          <p:nvPr/>
        </p:nvSpPr>
        <p:spPr>
          <a:xfrm>
            <a:off x="4802505" y="1946275"/>
            <a:ext cx="6647815"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Supervised learning involves training a model on labeled data. The model learns to predict outcomes based on input features. It is widely used in applications like image recognition and spam detection, where the model is trained on examples with known outputs.</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Unsupervised Learning</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Reinforcement Learning</a:t>
            </a:r>
            <a:endParaRPr lang="en-US" sz="1600" dirty="0"/>
          </a:p>
        </p:txBody>
      </p:sp>
      <p:sp>
        <p:nvSpPr>
          <p:cNvPr id="25" name="Text 22"/>
          <p:cNvSpPr/>
          <p:nvPr/>
        </p:nvSpPr>
        <p:spPr>
          <a:xfrm>
            <a:off x="5048250" y="3828415"/>
            <a:ext cx="2872740" cy="2572941"/>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Unsupervised learning is used when the data is unlabeled. The model identifies patterns and structures in the data without any prior guidance. It is useful for tasks like clustering and anomaly detection, helping to discover hidden relationships in large datasets.</a:t>
            </a:r>
            <a:endParaRPr lang="en-US" sz="1600" dirty="0"/>
          </a:p>
        </p:txBody>
      </p:sp>
      <p:sp>
        <p:nvSpPr>
          <p:cNvPr id="26" name="Text 23"/>
          <p:cNvSpPr/>
          <p:nvPr/>
        </p:nvSpPr>
        <p:spPr>
          <a:xfrm>
            <a:off x="8418195" y="3954780"/>
            <a:ext cx="2872740"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involves an agent learning to make decisions by taking actions in an environment to maximize some notion of cumulative reward. It is used in robotics and gaming, where the agent learns through trial and error to achieve a goal.</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Learning</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Neural Networks</a:t>
            </a:r>
            <a:endParaRPr lang="en-US" sz="1600" dirty="0"/>
          </a:p>
        </p:txBody>
      </p:sp>
      <p:sp>
        <p:nvSpPr>
          <p:cNvPr id="31" name="Text 28"/>
          <p:cNvSpPr/>
          <p:nvPr/>
        </p:nvSpPr>
        <p:spPr>
          <a:xfrm>
            <a:off x="1376045" y="4282162"/>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Neural networks are the foundation of deep learning. They are inspired by the structure of the human brain and consist of layers of interconnected nodes. They are capable of learning complex patterns in data and are used in a wide range of applications, from speech recognition to natural language processing.</a:t>
            </a:r>
            <a:endParaRPr lang="en-US" sz="1600" dirty="0"/>
          </a:p>
        </p:txBody>
      </p:sp>
      <p:sp>
        <p:nvSpPr>
          <p:cNvPr id="32" name="Text 29"/>
          <p:cNvSpPr/>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Convolutional Neural Networks (CNNs)</a:t>
            </a:r>
            <a:endParaRPr lang="en-US" sz="1600" dirty="0"/>
          </a:p>
        </p:txBody>
      </p:sp>
      <p:sp>
        <p:nvSpPr>
          <p:cNvPr id="33" name="Text 30"/>
          <p:cNvSpPr/>
          <p:nvPr/>
        </p:nvSpPr>
        <p:spPr>
          <a:xfrm>
            <a:off x="4708525" y="4597162"/>
            <a:ext cx="2872740" cy="1980803"/>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CNNs are a type of neural network specialized for processing grid-like data, such as images. They use convolutional layers to extract features from images, making them highly effective for tasks like image classification and object detection.</a:t>
            </a:r>
            <a:endParaRPr lang="en-US" sz="1600" dirty="0"/>
          </a:p>
        </p:txBody>
      </p:sp>
      <p:sp>
        <p:nvSpPr>
          <p:cNvPr id="34" name="Text 31"/>
          <p:cNvSpPr/>
          <p:nvPr/>
        </p:nvSpPr>
        <p:spPr>
          <a:xfrm>
            <a:off x="8229600"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Recurrent Neural Networks (RNNs)</a:t>
            </a:r>
            <a:endParaRPr lang="en-US" sz="1600" dirty="0"/>
          </a:p>
        </p:txBody>
      </p:sp>
      <p:sp>
        <p:nvSpPr>
          <p:cNvPr id="35" name="Text 32"/>
          <p:cNvSpPr/>
          <p:nvPr/>
        </p:nvSpPr>
        <p:spPr>
          <a:xfrm>
            <a:off x="8202762" y="4597162"/>
            <a:ext cx="2872740" cy="1980803"/>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RNNs are designed to handle sequential data, such as time series or text. They maintain a hidden state that captures information about the sequence seen so far, making them useful for tasks like language translation and speech recognition.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Learning</a:t>
            </a:r>
            <a:endParaRPr lang="en-US" sz="1600" dirty="0"/>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36" name="图片 35"/>
          <p:cNvPicPr>
            <a:picLocks noChangeAspect="1"/>
          </p:cNvPicPr>
          <p:nvPr/>
        </p:nvPicPr>
        <p:blipFill>
          <a:blip r:embed="rId3"/>
          <a:stretch>
            <a:fillRect/>
          </a:stretch>
        </p:blipFill>
        <p:spPr>
          <a:xfrm>
            <a:off x="2010410" y="1041400"/>
            <a:ext cx="8529955" cy="51301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Learning</a:t>
            </a:r>
            <a:endParaRPr lang="en-US" sz="1600" dirty="0"/>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11" name="图片 10"/>
          <p:cNvPicPr>
            <a:picLocks noChangeAspect="1"/>
          </p:cNvPicPr>
          <p:nvPr/>
        </p:nvPicPr>
        <p:blipFill>
          <a:blip r:embed="rId3"/>
          <a:stretch>
            <a:fillRect/>
          </a:stretch>
        </p:blipFill>
        <p:spPr>
          <a:xfrm>
            <a:off x="2593975" y="920115"/>
            <a:ext cx="7401560" cy="57569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Reinforcement learning</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sz="2400" dirty="0">
                <a:solidFill>
                  <a:srgbClr val="2B2F36"/>
                </a:solidFill>
                <a:latin typeface="MiSans" pitchFamily="34" charset="-122"/>
                <a:ea typeface="MiSans" pitchFamily="34" charset="-122"/>
                <a:cs typeface="MiSans" pitchFamily="34" charset="-120"/>
              </a:rPr>
              <a:t>Reinforcement learning is learning what to do—how to map situations to actions——so as to maximize a numerical reward signal</a:t>
            </a:r>
          </a:p>
          <a:p>
            <a:r>
              <a:rPr lang="en-US" altLang="zh-CN" sz="2400" dirty="0">
                <a:solidFill>
                  <a:srgbClr val="2B2F36"/>
                </a:solidFill>
                <a:latin typeface="MiSans" pitchFamily="34" charset="-122"/>
                <a:ea typeface="MiSans" pitchFamily="34" charset="-122"/>
                <a:cs typeface="MiSans" pitchFamily="34" charset="-120"/>
              </a:rPr>
              <a:t>Reinforcement learning is primarily composed of the agent, environment, state, action, and reward. When the agent executes an action, the environment transitions to a new state, and the environment provides a reward signal (positive or negative) for this new state. Subsequently, based on the new state and the reward feedback from the environment, the agent performs a new action according to a certain strategy. The above process is how the agent interacts with the environment through states, actions, and rewards.</a:t>
            </a:r>
          </a:p>
          <a:p>
            <a:endParaRPr lang="en-US" altLang="zh-CN" sz="2400" dirty="0">
              <a:solidFill>
                <a:srgbClr val="2B2F36"/>
              </a:solidFill>
              <a:latin typeface="MiSans" pitchFamily="34" charset="-122"/>
              <a:ea typeface="MiSans" pitchFamily="34" charset="-122"/>
              <a:cs typeface="MiSans" pitchFamily="34" charset="-120"/>
            </a:endParaRPr>
          </a:p>
          <a:p>
            <a:r>
              <a:rPr lang="en-US" altLang="zh-CN" sz="2400" dirty="0">
                <a:solidFill>
                  <a:srgbClr val="2B2F36"/>
                </a:solidFill>
                <a:latin typeface="MiSans" pitchFamily="34" charset="-122"/>
                <a:ea typeface="MiSans" pitchFamily="34" charset="-122"/>
                <a:cs typeface="MiSans" pitchFamily="34" charset="-120"/>
              </a:rPr>
              <a:t>Through reinforcement learning, the agent can learn which actions to take in which states to maximize its own rewards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Reinforcement learning</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11" name="图片 10"/>
          <p:cNvPicPr>
            <a:picLocks noChangeAspect="1"/>
          </p:cNvPicPr>
          <p:nvPr/>
        </p:nvPicPr>
        <p:blipFill>
          <a:blip r:embed="rId3"/>
          <a:stretch>
            <a:fillRect/>
          </a:stretch>
        </p:blipFill>
        <p:spPr>
          <a:xfrm>
            <a:off x="1222375" y="867410"/>
            <a:ext cx="9746615" cy="56940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Evolutionary Computation and Systems</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2" name="文本框 11"/>
          <p:cNvSpPr txBox="1"/>
          <p:nvPr/>
        </p:nvSpPr>
        <p:spPr>
          <a:xfrm>
            <a:off x="1302385" y="1071245"/>
            <a:ext cx="9291955" cy="2017395"/>
          </a:xfrm>
          <a:prstGeom prst="rect">
            <a:avLst/>
          </a:prstGeom>
          <a:noFill/>
        </p:spPr>
        <p:txBody>
          <a:bodyPr wrap="square" rtlCol="0">
            <a:noAutofit/>
          </a:bodyPr>
          <a:lstStyle/>
          <a:p>
            <a:r>
              <a:rPr lang="en-US" altLang="zh-CN"/>
              <a:t>Evolutionary Computation (EC) is a family of population-based optimization algorithms inspired by biological evolution, including natural selection, mutation, recombination, and inheritance. These algorithms are designed to solve complex problems by iteratively improving a population of candidate solutions, mimicking the adaptive processes observed in nature.</a:t>
            </a:r>
          </a:p>
        </p:txBody>
      </p:sp>
      <p:pic>
        <p:nvPicPr>
          <p:cNvPr id="14" name="图片 13"/>
          <p:cNvPicPr>
            <a:picLocks noChangeAspect="1"/>
          </p:cNvPicPr>
          <p:nvPr/>
        </p:nvPicPr>
        <p:blipFill>
          <a:blip r:embed="rId3"/>
          <a:stretch>
            <a:fillRect/>
          </a:stretch>
        </p:blipFill>
        <p:spPr>
          <a:xfrm>
            <a:off x="2621915" y="2291080"/>
            <a:ext cx="6308090" cy="45224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Graph Neural Networks (GNNs)</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Graph Neural Networks (GNNs) are a class of deep learning models specifically designed to process and learn from graph-structured data. Unlike traditional neural networks that handle grid-like data (e.g., images) or sequential data (e.g., text), GNNs excel at capturing relationships and dependencies between interconnected entities, making them invaluable for tasks involving non-Euclidean data.</a:t>
            </a:r>
          </a:p>
        </p:txBody>
      </p:sp>
      <p:pic>
        <p:nvPicPr>
          <p:cNvPr id="11" name="图片 10"/>
          <p:cNvPicPr>
            <a:picLocks noChangeAspect="1"/>
          </p:cNvPicPr>
          <p:nvPr/>
        </p:nvPicPr>
        <p:blipFill>
          <a:blip r:embed="rId3"/>
          <a:stretch>
            <a:fillRect/>
          </a:stretch>
        </p:blipFill>
        <p:spPr>
          <a:xfrm>
            <a:off x="1744980" y="3070225"/>
            <a:ext cx="8399145" cy="27355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Federated Learning</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Federated Learning (FL) is a distributed machine learning paradigm designed to train models across multiple decentralized devices or servers while keeping data localized. Unlike traditional centralized approaches—where data is aggregated into a single server—FL enables model training on edge devices (e.g., smartphones, IoT sensors) or local data centers, with only model updates (e.g., gradients, weights) shared between participants. This preserves data privacy, making it ideal for sensitive domains like healthcare, finance, and personal devices.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Federated Learning</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Federated Learning (FL) is a distributed machine learning paradigm designed to train models across multiple decentralized devices or servers while keeping data localized. Unlike traditional centralized approaches—where data is aggregated into a single server—FL enables model training on edge devices (e.g., smartphones, IoT sensors) or local data centers, with only model updates (e.g., gradients, weights) shared between participants. This preserves data privacy, making it ideal for sensitive domains like healthcare, finance, and personal devices.</a:t>
            </a:r>
          </a:p>
        </p:txBody>
      </p:sp>
      <p:pic>
        <p:nvPicPr>
          <p:cNvPr id="12" name="图片 11" descr="v2-05d008b0e621fcfd86ee22a7cd7b68fb_r"/>
          <p:cNvPicPr>
            <a:picLocks noChangeAspect="1"/>
          </p:cNvPicPr>
          <p:nvPr/>
        </p:nvPicPr>
        <p:blipFill>
          <a:blip r:embed="rId3"/>
          <a:stretch>
            <a:fillRect/>
          </a:stretch>
        </p:blipFill>
        <p:spPr>
          <a:xfrm>
            <a:off x="924560" y="1015365"/>
            <a:ext cx="10386060" cy="584263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Convergence of Quantum Computing and Artificial Intelligence</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97585" y="1379855"/>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Quantum computing, a new computing model based on quantum mechanics, demonstrates enormous potential to outperform classical computers. Leveraging properties like quantum superposition and entanglement, it can achieve exponential speedups in specific problems. This powerful parallel computing capability enables quantum computers to tackle complex issues that classical computers struggle with or cannot solve, injecting new vitality into AI development. The integration of quantum computing and AI is regarded as a key driver of the next-generation computing power revolution, promising disruptive breakthroughs across multiple fields</a:t>
            </a:r>
          </a:p>
          <a:p>
            <a:endParaRPr lang="en-US" altLang="zh-CN" sz="2000" dirty="0">
              <a:solidFill>
                <a:srgbClr val="2B2F36"/>
              </a:solidFill>
              <a:latin typeface="MiSans" pitchFamily="34" charset="-122"/>
              <a:ea typeface="MiSans" pitchFamily="34" charset="-122"/>
              <a:cs typeface="MiSans" pitchFamily="34" charset="-120"/>
            </a:endParaRPr>
          </a:p>
          <a:p>
            <a:endParaRPr lang="en-US" altLang="zh-CN" sz="20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Convergence of Quantum Computing and Artificial Intelligence</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97585" y="1379855"/>
            <a:ext cx="10196830" cy="1285240"/>
          </a:xfrm>
          <a:prstGeom prst="rect">
            <a:avLst/>
          </a:prstGeom>
          <a:noFill/>
        </p:spPr>
        <p:txBody>
          <a:bodyPr wrap="square" rtlCol="0">
            <a:noAutofit/>
          </a:bodyPr>
          <a:lstStyle/>
          <a:p>
            <a:endParaRPr lang="en-US" altLang="zh-CN" sz="2000" dirty="0">
              <a:solidFill>
                <a:srgbClr val="2B2F36"/>
              </a:solidFill>
              <a:latin typeface="MiSans" pitchFamily="34" charset="-122"/>
              <a:ea typeface="MiSans" pitchFamily="34" charset="-122"/>
              <a:cs typeface="MiSans" pitchFamily="34" charset="-120"/>
            </a:endParaRPr>
          </a:p>
          <a:p>
            <a:endParaRPr lang="en-US" altLang="zh-CN" sz="2000" dirty="0">
              <a:solidFill>
                <a:srgbClr val="2B2F36"/>
              </a:solidFill>
              <a:latin typeface="MiSans" pitchFamily="34" charset="-122"/>
              <a:ea typeface="MiSans" pitchFamily="34" charset="-122"/>
              <a:cs typeface="MiSans" pitchFamily="34" charset="-120"/>
            </a:endParaRPr>
          </a:p>
        </p:txBody>
      </p:sp>
      <p:pic>
        <p:nvPicPr>
          <p:cNvPr id="11" name="图片 10"/>
          <p:cNvPicPr>
            <a:picLocks noChangeAspect="1"/>
          </p:cNvPicPr>
          <p:nvPr/>
        </p:nvPicPr>
        <p:blipFill>
          <a:blip r:embed="rId3"/>
          <a:stretch>
            <a:fillRect/>
          </a:stretch>
        </p:blipFill>
        <p:spPr>
          <a:xfrm>
            <a:off x="2503805" y="1282065"/>
            <a:ext cx="7185025" cy="52959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Big Data Modeling and Analytical Methods</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Big data modeling and analysis refer to the processes of structuring large, complex datasets (characterized by volume, velocity, variety, veracity, and value) and extracting actionable insights using statistical, computational, and machine learning techniques. </a:t>
            </a:r>
          </a:p>
          <a:p>
            <a:endParaRPr lang="en-US" altLang="zh-CN" sz="2000" dirty="0">
              <a:solidFill>
                <a:srgbClr val="2B2F36"/>
              </a:solidFill>
              <a:latin typeface="MiSans" pitchFamily="34" charset="-122"/>
              <a:ea typeface="MiSans" pitchFamily="34" charset="-122"/>
              <a:cs typeface="MiSans" pitchFamily="34" charset="-120"/>
            </a:endParaRPr>
          </a:p>
          <a:p>
            <a:endParaRPr lang="en-US" altLang="zh-CN" sz="20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Big Data Modeling and Analytical Methods</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11" name="图片 10"/>
          <p:cNvPicPr>
            <a:picLocks noChangeAspect="1"/>
          </p:cNvPicPr>
          <p:nvPr/>
        </p:nvPicPr>
        <p:blipFill>
          <a:blip r:embed="rId3"/>
          <a:stretch>
            <a:fillRect/>
          </a:stretch>
        </p:blipFill>
        <p:spPr>
          <a:xfrm>
            <a:off x="3424555" y="944245"/>
            <a:ext cx="4070350" cy="564959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Integrated Design of Intelligent Systems</a:t>
            </a: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The integrated design of intelligent systems refers to the holistic process of conceptualizing, developing, and optimizing interconnected systems that leverage artificial intelligence (AI), machine learning (ML), sensors, and computational algorithms to perceive, reason, and act autonomously or semi-autonomously. This approach emphasizes synergy between hardware, software, and data components to achieve complex, adaptive functionalities across diverse domains such as robotics, IoT (Internet of Things), healthcare, and smart manufacturing.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Natural Language Processing (NLP)</a:t>
            </a:r>
            <a:endParaRPr lang="en-US" sz="1600" dirty="0"/>
          </a:p>
        </p:txBody>
      </p:sp>
      <p:sp>
        <p:nvSpPr>
          <p:cNvPr id="9" name="Shape 7"/>
          <p:cNvSpPr/>
          <p:nvPr/>
        </p:nvSpPr>
        <p:spPr>
          <a:xfrm>
            <a:off x="895350" y="1499870"/>
            <a:ext cx="3131820" cy="4686300"/>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725280"/>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218320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Text processing involves converting raw text data into a format that can be understood by machines. This includes tasks like tokenization, stemming, and lemmatization. It is a crucial step in preparing text data for NLP applications.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Text Processing</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510409" y="3946286"/>
            <a:ext cx="3322312" cy="2340967"/>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Language understanding involves extracting meaning from text. This includes tasks like named entity recognition, sentiment analysis, and question answering. It enables machines to understand and interpret human language more effectively.</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Language Understanding</a:t>
            </a:r>
            <a:endParaRPr lang="en-US" sz="1600" dirty="0"/>
          </a:p>
        </p:txBody>
      </p:sp>
      <p:sp>
        <p:nvSpPr>
          <p:cNvPr id="19" name="Shape 15"/>
          <p:cNvSpPr/>
          <p:nvPr/>
        </p:nvSpPr>
        <p:spPr>
          <a:xfrm>
            <a:off x="8276590" y="1499870"/>
            <a:ext cx="3177540" cy="4686935"/>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572260"/>
            <a:ext cx="3131820" cy="469582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535"/>
            <a:ext cx="2827020" cy="2160270"/>
          </a:xfrm>
          <a:prstGeom prst="rect">
            <a:avLst/>
          </a:prstGeom>
          <a:noFill/>
        </p:spPr>
        <p:txBody>
          <a:bodyPr wrap="square" lIns="0" tIns="0" rIns="0" bIns="0" rtlCol="0" anchor="t">
            <a:no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Language generation involves creating human-like text. This includes tasks like text summarization, chatbots, and content generation. It uses models like GPT to generate coherent and contextually relevant text.</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Language Generation</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sym typeface="+mn-ea"/>
              </a:rPr>
              <a:t>Generative AI</a:t>
            </a:r>
            <a:endParaRPr lang="en-US" sz="2800" b="1" dirty="0">
              <a:solidFill>
                <a:srgbClr val="2F493E"/>
              </a:solidFill>
              <a:latin typeface="MiSans" pitchFamily="34" charset="-122"/>
              <a:ea typeface="MiSans" pitchFamily="34" charset="-122"/>
              <a:cs typeface="MiSans" pitchFamily="34" charset="-120"/>
            </a:endParaRPr>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2162175"/>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Generative AI refers to a type of artificial intelligence that can generate new content based on patterns it has learned from existing data. It has the ability to create text, images, music, and more, opening up a wide range of possibilities for various industries and applications.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What is Generative AI</a:t>
            </a:r>
            <a:endParaRPr lang="en-US" sz="1600" dirty="0"/>
          </a:p>
        </p:txBody>
      </p:sp>
      <p:sp>
        <p:nvSpPr>
          <p:cNvPr id="14" name="Shape 11"/>
          <p:cNvSpPr/>
          <p:nvPr/>
        </p:nvSpPr>
        <p:spPr>
          <a:xfrm>
            <a:off x="4230370" y="1149350"/>
            <a:ext cx="3724275" cy="5528310"/>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90390" y="1149350"/>
            <a:ext cx="3564255" cy="554990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545556"/>
          </a:xfrm>
          <a:prstGeom prst="rect">
            <a:avLst/>
          </a:prstGeom>
          <a:noFill/>
        </p:spPr>
        <p:txBody>
          <a:bodyPr wrap="square" lIns="0" tIns="0" rIns="0" bIns="0" rtlCol="0" anchor="t">
            <a:spAutoFit/>
          </a:bodyPr>
          <a:lstStyle/>
          <a:p>
            <a:pPr marL="0" indent="0" algn="just">
              <a:lnSpc>
                <a:spcPct val="120000"/>
              </a:lnSpc>
              <a:buNone/>
            </a:pPr>
            <a:r>
              <a:rPr lang="en-US" sz="1500" dirty="0">
                <a:solidFill>
                  <a:srgbClr val="2B2F36"/>
                </a:solidFill>
                <a:latin typeface="MiSans" pitchFamily="34" charset="-122"/>
                <a:ea typeface="MiSans" pitchFamily="34" charset="-122"/>
                <a:cs typeface="MiSans" pitchFamily="34" charset="-120"/>
              </a:rPr>
              <a:t>Deep learning models such as GANs (Generative Adversarial Networks) and transformers are the backbone of generative AI. GANs consist of a generator and a discriminator that compete to improve the quality of generated content. Transformers leverage self-attention mechanisms to capture complex patterns in data.</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Key Technologies</a:t>
            </a:r>
            <a:endParaRPr lang="en-US" sz="1600" dirty="0"/>
          </a:p>
        </p:txBody>
      </p:sp>
      <p:sp>
        <p:nvSpPr>
          <p:cNvPr id="19" name="Shape 15"/>
          <p:cNvSpPr/>
          <p:nvPr/>
        </p:nvSpPr>
        <p:spPr>
          <a:xfrm>
            <a:off x="8276590" y="1499870"/>
            <a:ext cx="3117215" cy="4700905"/>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432447"/>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The field of generative AI has seen rapid development. Early models like PixelRNN and PixelCNN laid the foundation. In recent years, models such as GPT (Generative Pre-trained Transformer) series have achieved remarkable results in natural language processing tasks, significantly advancing the capabilities of generative AI.</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Evolution and Milestones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979795" y="3223895"/>
            <a:ext cx="4779645" cy="683617"/>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Applications of AI</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txBody>
          <a:bodyPr/>
          <a:lstStyle/>
          <a:p>
            <a:endParaRPr lang="en-AU"/>
          </a:p>
        </p:txBody>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txBody>
          <a:bodyPr/>
          <a:lstStyle/>
          <a:p>
            <a:endParaRPr lang="en-AU"/>
          </a:p>
        </p:txBody>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5"/>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Medical Diagnosis</a:t>
            </a:r>
            <a:endParaRPr lang="en-US" sz="1600" dirty="0"/>
          </a:p>
        </p:txBody>
      </p:sp>
      <p:sp>
        <p:nvSpPr>
          <p:cNvPr id="12" name="Shape 9"/>
          <p:cNvSpPr/>
          <p:nvPr>
            <p:custDataLst>
              <p:tags r:id="rId1"/>
            </p:custDataLst>
          </p:nvPr>
        </p:nvSpPr>
        <p:spPr>
          <a:xfrm>
            <a:off x="2808605" y="1239520"/>
            <a:ext cx="652145" cy="663575"/>
          </a:xfrm>
          <a:prstGeom prst="ellipse">
            <a:avLst/>
          </a:prstGeom>
          <a:solidFill>
            <a:srgbClr val="B4CA7C"/>
          </a:solidFill>
        </p:spPr>
        <p:txBody>
          <a:bodyPr/>
          <a:lstStyle/>
          <a:p>
            <a:endParaRPr lang="en-AU"/>
          </a:p>
        </p:txBody>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2"/>
            </p:custDataLst>
          </p:nvPr>
        </p:nvSpPr>
        <p:spPr>
          <a:xfrm>
            <a:off x="4010025" y="3220720"/>
            <a:ext cx="652145" cy="663575"/>
          </a:xfrm>
          <a:prstGeom prst="ellipse">
            <a:avLst/>
          </a:prstGeom>
          <a:solidFill>
            <a:srgbClr val="B4CA7C"/>
          </a:solidFill>
        </p:spPr>
        <p:txBody>
          <a:bodyPr/>
          <a:lstStyle/>
          <a:p>
            <a:endParaRPr lang="en-AU"/>
          </a:p>
        </p:txBody>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3"/>
            </p:custDataLst>
          </p:nvPr>
        </p:nvSpPr>
        <p:spPr>
          <a:xfrm>
            <a:off x="3161030" y="5215890"/>
            <a:ext cx="652145" cy="663575"/>
          </a:xfrm>
          <a:prstGeom prst="ellipse">
            <a:avLst/>
          </a:prstGeom>
          <a:solidFill>
            <a:srgbClr val="B4CA7C"/>
          </a:solidFill>
        </p:spPr>
        <p:txBody>
          <a:bodyPr/>
          <a:lstStyle/>
          <a:p>
            <a:endParaRPr lang="en-AU"/>
          </a:p>
        </p:txBody>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4"/>
            </p:custDataLst>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5"/>
            </p:custDataLst>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6"/>
            </p:custDataLst>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7"/>
            </p:custDataLst>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Image Analysis</a:t>
            </a:r>
            <a:endParaRPr lang="en-US" sz="1600" dirty="0"/>
          </a:p>
        </p:txBody>
      </p:sp>
      <p:sp>
        <p:nvSpPr>
          <p:cNvPr id="22" name="Text 19"/>
          <p:cNvSpPr/>
          <p:nvPr>
            <p:custDataLst>
              <p:tags r:id="rId8"/>
            </p:custDataLst>
          </p:nvPr>
        </p:nvSpPr>
        <p:spPr>
          <a:xfrm>
            <a:off x="4210685" y="1703070"/>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 powered algorithms can analyze medical images such as X - rays, CT scans, and MRIs with high accuracy. They can detect abnormalities like tumors, fractures, and diseases at an early stage, assisting doctors in making more precise diagnoses and improving patient outcomes.</a:t>
            </a:r>
            <a:endParaRPr lang="en-US" sz="1600" dirty="0"/>
          </a:p>
        </p:txBody>
      </p:sp>
      <p:sp>
        <p:nvSpPr>
          <p:cNvPr id="23" name="Text 20"/>
          <p:cNvSpPr/>
          <p:nvPr>
            <p:custDataLst>
              <p:tags r:id="rId9"/>
            </p:custDataLst>
          </p:nvPr>
        </p:nvSpPr>
        <p:spPr>
          <a:xfrm>
            <a:off x="4010025" y="5432425"/>
            <a:ext cx="683958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accelerates the drug discovery process by analyzing large datasets of chemical compounds and biological interactions. It can predict the efficacy and safety of potential drugs, reducing the time and cost of bringing new medications to market. Machine learning models can also identify new drug targets and optimize drug formulations.</a:t>
            </a:r>
            <a:endParaRPr lang="en-US" sz="1600" dirty="0"/>
          </a:p>
        </p:txBody>
      </p:sp>
      <p:sp>
        <p:nvSpPr>
          <p:cNvPr id="24" name="Text 21"/>
          <p:cNvSpPr/>
          <p:nvPr>
            <p:custDataLst>
              <p:tags r:id="rId10"/>
            </p:custDataLst>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Drug Discovery</a:t>
            </a:r>
            <a:endParaRPr lang="en-US" sz="1600" dirty="0"/>
          </a:p>
        </p:txBody>
      </p:sp>
      <p:sp>
        <p:nvSpPr>
          <p:cNvPr id="25" name="Text 22"/>
          <p:cNvSpPr/>
          <p:nvPr>
            <p:custDataLst>
              <p:tags r:id="rId11"/>
            </p:custDataLst>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Symptom Analysis</a:t>
            </a:r>
            <a:endParaRPr lang="en-US" sz="1600" dirty="0"/>
          </a:p>
        </p:txBody>
      </p:sp>
      <p:sp>
        <p:nvSpPr>
          <p:cNvPr id="26" name="Text 23"/>
          <p:cNvSpPr/>
          <p:nvPr>
            <p:custDataLst>
              <p:tags r:id="rId12"/>
            </p:custDataLst>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 based systems can analyze patient symptoms and medical history to suggest possible diagnoses. By considering a wide range of factors and comparing them with vast medical databases, these systems help healthcare professionals narrow down potential causes and recommend appropriate tests or treatments.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Patient Care</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4260" y="3375660"/>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96485" y="3515360"/>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338185" y="3375660"/>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293735" y="3604260"/>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Remote Monitoring</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 enabled devices and sensors allow for remote monitoring of patients' vital signs, such as heart rate, blood pressure, and glucose levels. This enables early detection of health issues and timely interventions, especially for patients with chronic conditions, reducing hospital readmissions and improving overall patient care.</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Personalized Treatment Plans</a:t>
            </a:r>
            <a:endParaRPr lang="en-US" sz="1600" dirty="0"/>
          </a:p>
        </p:txBody>
      </p:sp>
      <p:sp>
        <p:nvSpPr>
          <p:cNvPr id="24" name="Text 21"/>
          <p:cNvSpPr/>
          <p:nvPr/>
        </p:nvSpPr>
        <p:spPr>
          <a:xfrm>
            <a:off x="8578850" y="341312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Virtual Health Assistants</a:t>
            </a:r>
            <a:endParaRPr lang="en-US" sz="1600" dirty="0"/>
          </a:p>
        </p:txBody>
      </p:sp>
      <p:sp>
        <p:nvSpPr>
          <p:cNvPr id="25" name="Text 22"/>
          <p:cNvSpPr/>
          <p:nvPr/>
        </p:nvSpPr>
        <p:spPr>
          <a:xfrm>
            <a:off x="5034915" y="3647440"/>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AI can analyze individual patient data, including genetic information, medical history, and lifestyle factors, to create personalized treatment plans. These plans are tailored to the specific needs of each patient, increasing the effectiveness of treatments and minimizing side effects.</a:t>
            </a:r>
            <a:endParaRPr lang="en-US" sz="1600" dirty="0"/>
          </a:p>
        </p:txBody>
      </p:sp>
      <p:sp>
        <p:nvSpPr>
          <p:cNvPr id="26" name="Text 23"/>
          <p:cNvSpPr/>
          <p:nvPr/>
        </p:nvSpPr>
        <p:spPr>
          <a:xfrm>
            <a:off x="8468995" y="3586480"/>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Virtual health assistants powered by AI can provide patients with instant medical advice, answer health - related questions, and guide them through self - care. They can also remind patients to take medications, schedule appointments, and provide emotional support, enhancing the overall patient experience.</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Customer Service</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Chatbots and Virtual Assistants</a:t>
            </a:r>
            <a:endParaRPr lang="en-US" sz="1600" dirty="0"/>
          </a:p>
        </p:txBody>
      </p:sp>
      <p:sp>
        <p:nvSpPr>
          <p:cNvPr id="31" name="Text 28"/>
          <p:cNvSpPr/>
          <p:nvPr/>
        </p:nvSpPr>
        <p:spPr>
          <a:xfrm>
            <a:off x="1376045" y="4379595"/>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 driven chatbots and virtual assistants can handle customer inquiries 24/7, providing instant responses and resolving issues efficiently. They can understand natural language, engage in meaningful conversations, and escalate complex queries to human agents when necessary. This improves customer satisfaction and reduces the workload on customer service teams.</a:t>
            </a:r>
            <a:endParaRPr lang="en-US" sz="1600" dirty="0"/>
          </a:p>
        </p:txBody>
      </p:sp>
      <p:sp>
        <p:nvSpPr>
          <p:cNvPr id="32" name="Text 29"/>
          <p:cNvSpPr/>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Personalized Recommendations</a:t>
            </a:r>
            <a:endParaRPr lang="en-US" sz="1600" dirty="0"/>
          </a:p>
        </p:txBody>
      </p:sp>
      <p:sp>
        <p:nvSpPr>
          <p:cNvPr id="33" name="Text 30"/>
          <p:cNvSpPr/>
          <p:nvPr/>
        </p:nvSpPr>
        <p:spPr>
          <a:xfrm>
            <a:off x="4708525" y="437959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algorithms analyze customer data to provide personalized product recommendations. By understanding individual preferences, purchase history, and browsing behavior, businesses can offer tailored suggestions that increase customer engagement, drive sales, and enhance the overall shopping experience.</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Sentiment Analysis</a:t>
            </a:r>
            <a:endParaRPr lang="en-US" sz="1600" dirty="0"/>
          </a:p>
        </p:txBody>
      </p:sp>
      <p:sp>
        <p:nvSpPr>
          <p:cNvPr id="35" name="Text 32"/>
          <p:cNvSpPr/>
          <p:nvPr/>
        </p:nvSpPr>
        <p:spPr>
          <a:xfrm>
            <a:off x="8229600" y="4379595"/>
            <a:ext cx="2872740" cy="2172692"/>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 based sentiment analysis tools can analyze customer feedback from various sources, such as social media, reviews, and surveys. They can identify trends, detect issues, and gauge customer satisfaction levels. This helps businesses make data - driven decisions to improve products and services.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Marketing</a:t>
            </a:r>
            <a:endParaRPr lang="en-US" sz="1600" dirty="0"/>
          </a:p>
        </p:txBody>
      </p:sp>
      <p:sp>
        <p:nvSpPr>
          <p:cNvPr id="9" name="Shape 7"/>
          <p:cNvSpPr/>
          <p:nvPr/>
        </p:nvSpPr>
        <p:spPr>
          <a:xfrm>
            <a:off x="914400" y="1499870"/>
            <a:ext cx="3112770" cy="4787900"/>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57250" y="1499870"/>
            <a:ext cx="3169920" cy="505714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AI enables businesses to create highly targeted advertising campaigns by analyzing customer demographics, interests, and online behavior. It can predict which ads are most likely to resonate with specific audiences, resulting in higher click - through rates and conversion rates. This allows for more effective use of marketing budgets.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Targeted Advertising</a:t>
            </a:r>
            <a:endParaRPr lang="en-US" sz="1600" dirty="0"/>
          </a:p>
        </p:txBody>
      </p:sp>
      <p:sp>
        <p:nvSpPr>
          <p:cNvPr id="14" name="Shape 11"/>
          <p:cNvSpPr/>
          <p:nvPr/>
        </p:nvSpPr>
        <p:spPr>
          <a:xfrm>
            <a:off x="4305935" y="1149350"/>
            <a:ext cx="3648710" cy="5408295"/>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33240" y="1149350"/>
            <a:ext cx="3621405" cy="540766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45625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AI can segment customers into distinct groups based on their characteristics and behaviors. This allows businesses to tailor marketing messages and strategies to each segment, improving the relevance and effectiveness of their marketing efforts. It also helps in identifying high - value customer segments for targeted promotions.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Customer Segmentation</a:t>
            </a:r>
            <a:endParaRPr lang="en-US" sz="1600" dirty="0"/>
          </a:p>
        </p:txBody>
      </p:sp>
      <p:sp>
        <p:nvSpPr>
          <p:cNvPr id="19" name="Shape 15"/>
          <p:cNvSpPr/>
          <p:nvPr/>
        </p:nvSpPr>
        <p:spPr>
          <a:xfrm>
            <a:off x="8276590" y="1499870"/>
            <a:ext cx="3131820" cy="4788535"/>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678290"/>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702719"/>
          </a:xfrm>
          <a:prstGeom prst="rect">
            <a:avLst/>
          </a:prstGeom>
          <a:noFill/>
        </p:spPr>
        <p:txBody>
          <a:bodyPr wrap="square" lIns="0" tIns="0" rIns="0" bIns="0" rtlCol="0" anchor="t">
            <a:spAutoFit/>
          </a:bodyPr>
          <a:lstStyle/>
          <a:p>
            <a:pPr marL="0" indent="0" algn="just">
              <a:lnSpc>
                <a:spcPct val="120000"/>
              </a:lnSpc>
              <a:buNone/>
            </a:pPr>
            <a:r>
              <a:rPr lang="en-US" sz="1200" dirty="0">
                <a:solidFill>
                  <a:srgbClr val="2B2F36"/>
                </a:solidFill>
                <a:latin typeface="MiSans" pitchFamily="34" charset="-122"/>
                <a:ea typeface="MiSans" pitchFamily="34" charset="-122"/>
                <a:cs typeface="MiSans" pitchFamily="34" charset="-120"/>
              </a:rPr>
              <a:t>AI - powered predictive analytics models can forecast customer behavior, such as purchase likelihood, churn probability, and lifetime value. This information helps businesses make informed decisions about customer acquisition, retention, and loyalty programs. It also enables proactive marketing strategies to address potential issues before they arise.</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Predictive Analytics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Supply Chain Management</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Demand Forecasting</a:t>
            </a:r>
            <a:endParaRPr lang="en-US" sz="1600" dirty="0"/>
          </a:p>
        </p:txBody>
      </p:sp>
      <p:sp>
        <p:nvSpPr>
          <p:cNvPr id="34" name="Text 32"/>
          <p:cNvSpPr/>
          <p:nvPr/>
        </p:nvSpPr>
        <p:spPr>
          <a:xfrm>
            <a:off x="1515110" y="2399665"/>
            <a:ext cx="2301875"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algorithms can analyze historical sales data, market trends, and external factors to accurately forecast demand. This helps businesses optimize inventory levels, reduce stockouts, and minimize excess inventory. Accurate demand forecasting also enables better production planning and resource allocation.</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Inventory Optimization</a:t>
            </a:r>
            <a:endParaRPr lang="en-US" sz="1600" dirty="0"/>
          </a:p>
        </p:txBody>
      </p:sp>
      <p:sp>
        <p:nvSpPr>
          <p:cNvPr id="52" name="Text 50"/>
          <p:cNvSpPr/>
          <p:nvPr/>
        </p:nvSpPr>
        <p:spPr>
          <a:xfrm>
            <a:off x="4747260" y="2372995"/>
            <a:ext cx="2301875"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can optimize inventory management by analyzing real - time data on stock levels, sales velocity, and lead times. It can automate reorder processes, identify slow - moving items, and suggest optimal stocking levels. This reduces costs associated with inventory holding and improves overall supply chain efficiency.</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Logistics and Routing</a:t>
            </a:r>
            <a:endParaRPr lang="en-US" sz="1600" dirty="0"/>
          </a:p>
        </p:txBody>
      </p:sp>
      <p:sp>
        <p:nvSpPr>
          <p:cNvPr id="70" name="Text 68"/>
          <p:cNvSpPr/>
          <p:nvPr/>
        </p:nvSpPr>
        <p:spPr>
          <a:xfrm>
            <a:off x="8064500" y="2333625"/>
            <a:ext cx="2301875"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 enabled logistics systems can optimize delivery routes, taking into account factors such as traffic conditions, weather, and delivery schedules. This reduces transportation costs, improves delivery times, and enhances customer satisfaction. AI can also optimize warehouse operations, such as storage layout and picking routes.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txBody>
          <a:bodyPr/>
          <a:lstStyle/>
          <a:p>
            <a:endParaRPr lang="en-AU"/>
          </a:p>
        </p:txBody>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Investment Management</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AI - driven algorithmic trading systems can execute trades at high speed and with high precision. They can analyze market data, identify patterns, and make trading decisions based on predefined rules. This allows for more efficient trading and can improve investment performance.</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Portfolio Optimization</a:t>
            </a:r>
            <a:endParaRPr lang="en-US" sz="1600" dirty="0"/>
          </a:p>
        </p:txBody>
      </p:sp>
      <p:sp>
        <p:nvSpPr>
          <p:cNvPr id="21" name="Text 19"/>
          <p:cNvSpPr/>
          <p:nvPr/>
        </p:nvSpPr>
        <p:spPr>
          <a:xfrm>
            <a:off x="929005" y="1983740"/>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algorithms can analyze vast amounts of financial data to optimize investment portfolios. They can consider factors such as risk tolerance, investment goals, and market trends to create personalized portfolios. Machine learning models can continuously monitor and adjust portfolios to maximize returns and minimize risks.</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Algorithmic Trading</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Market Prediction</a:t>
            </a:r>
            <a:endParaRPr lang="en-US" sz="1600" dirty="0"/>
          </a:p>
        </p:txBody>
      </p:sp>
      <p:sp>
        <p:nvSpPr>
          <p:cNvPr id="24" name="Text 22"/>
          <p:cNvSpPr/>
          <p:nvPr/>
        </p:nvSpPr>
        <p:spPr>
          <a:xfrm>
            <a:off x="929005" y="5137785"/>
            <a:ext cx="1024920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 based predictive models can analyze historical market data, news sentiment, and other factors to forecast market trends. While market prediction is inherently uncertain, AI can provide valuable insights to help investors make more informed decisions. It can identify potential opportunities and risks in the market.</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Supply Chain Integration</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66005" y="3375660"/>
            <a:ext cx="3202940" cy="290512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19015" y="3249295"/>
            <a:ext cx="3247390" cy="289433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35315" y="3274695"/>
            <a:ext cx="3215005" cy="304546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300720" y="3274695"/>
            <a:ext cx="3149600" cy="30054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Supplier Collaboration</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can facilitate collaboration between manufacturers and suppliers by analyzing data on supply chain performance. It can identify potential issues, such as delays or quality problems, and enable proactive communication and resolution. AI - enabled platforms can also optimize supplier selection and evaluation.</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Inventory Management</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Logistics Coordination</a:t>
            </a:r>
            <a:endParaRPr lang="en-US" sz="1600" dirty="0"/>
          </a:p>
        </p:txBody>
      </p:sp>
      <p:sp>
        <p:nvSpPr>
          <p:cNvPr id="25" name="Text 22"/>
          <p:cNvSpPr/>
          <p:nvPr/>
        </p:nvSpPr>
        <p:spPr>
          <a:xfrm>
            <a:off x="4969510" y="3647440"/>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AI - driven inventory management systems can optimize stock levels by analyzing demand forecasts, lead times, and production schedules. They can automate reorder processes and ensure that the right amount of inventory is available at the right time. This reduces costs associated with excess inventory and stockouts.</a:t>
            </a:r>
            <a:endParaRPr lang="en-US" sz="1600" dirty="0"/>
          </a:p>
        </p:txBody>
      </p:sp>
      <p:sp>
        <p:nvSpPr>
          <p:cNvPr id="26" name="Text 23"/>
          <p:cNvSpPr/>
          <p:nvPr/>
        </p:nvSpPr>
        <p:spPr>
          <a:xfrm>
            <a:off x="8338185" y="3647440"/>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AI can coordinate logistics operations by optimizing transportation routes, scheduling deliveries, and managing warehouse operations. It can analyze real - time data on traffic conditions, weather, and inventory levels to make informed decisions. This improves efficiency, reduces costs, and ensures timely delivery of products.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Product Design and Development</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Generative Design</a:t>
            </a:r>
            <a:endParaRPr lang="en-US" sz="1600" dirty="0"/>
          </a:p>
        </p:txBody>
      </p:sp>
      <p:sp>
        <p:nvSpPr>
          <p:cNvPr id="31" name="Text 28"/>
          <p:cNvSpPr/>
          <p:nvPr/>
        </p:nvSpPr>
        <p:spPr>
          <a:xfrm>
            <a:off x="1376045" y="4379595"/>
            <a:ext cx="2872740" cy="2715816"/>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 powered generative design tools can create innovative product designs by exploring a vast number of design possibilities. They can consider factors such as performance, cost, and manufacturing constraints to generate optimized designs. This accelerates the product development process and leads to more efficient and sustainable products.</a:t>
            </a:r>
            <a:endParaRPr lang="en-US" sz="1600" dirty="0"/>
          </a:p>
        </p:txBody>
      </p:sp>
      <p:sp>
        <p:nvSpPr>
          <p:cNvPr id="32" name="Text 29"/>
          <p:cNvSpPr/>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Simulation and Testing</a:t>
            </a:r>
            <a:endParaRPr lang="en-US" sz="1600" dirty="0"/>
          </a:p>
        </p:txBody>
      </p:sp>
      <p:sp>
        <p:nvSpPr>
          <p:cNvPr id="33" name="Text 30"/>
          <p:cNvSpPr/>
          <p:nvPr/>
        </p:nvSpPr>
        <p:spPr>
          <a:xfrm>
            <a:off x="4708525" y="437959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can enhance simulation and testing of products by analyzing large amounts of data from virtual and physical tests. It can predict product performance under different conditions and identify potential issues early in the design process. This reduces the need for expensive and time - consuming physical testing.</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Customer - Driven Design</a:t>
            </a:r>
            <a:endParaRPr lang="en-US" sz="1600" dirty="0"/>
          </a:p>
        </p:txBody>
      </p:sp>
      <p:sp>
        <p:nvSpPr>
          <p:cNvPr id="35" name="Text 32"/>
          <p:cNvSpPr/>
          <p:nvPr/>
        </p:nvSpPr>
        <p:spPr>
          <a:xfrm>
            <a:off x="8229600" y="4379595"/>
            <a:ext cx="2872740" cy="2444353"/>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AI can analyze customer feedback and market trends to inform product design and development. It can identify customer needs and preferences, and suggest design improvements that align with market demands. This helps manufacturers create products that better meet customer expectations and drive market success.</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Ethical and Social Implications of AI</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txBody>
          <a:bodyPr/>
          <a:lstStyle/>
          <a:p>
            <a:endParaRPr lang="en-AU"/>
          </a:p>
        </p:txBody>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txBody>
          <a:bodyPr/>
          <a:lstStyle/>
          <a:p>
            <a:endParaRPr lang="en-AU"/>
          </a:p>
        </p:txBody>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3"/>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Scope of AI Ethics</a:t>
            </a:r>
            <a:endParaRPr lang="en-US" sz="1600" dirty="0"/>
          </a:p>
        </p:txBody>
      </p:sp>
      <p:sp>
        <p:nvSpPr>
          <p:cNvPr id="12" name="Shape 9"/>
          <p:cNvSpPr/>
          <p:nvPr/>
        </p:nvSpPr>
        <p:spPr>
          <a:xfrm>
            <a:off x="2808605" y="1239520"/>
            <a:ext cx="652145" cy="663575"/>
          </a:xfrm>
          <a:prstGeom prst="ellipse">
            <a:avLst/>
          </a:prstGeom>
          <a:solidFill>
            <a:srgbClr val="B4CA7C"/>
          </a:solidFill>
        </p:spPr>
        <p:txBody>
          <a:bodyPr/>
          <a:lstStyle/>
          <a:p>
            <a:endParaRPr lang="en-AU"/>
          </a:p>
        </p:txBody>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txBody>
          <a:bodyPr/>
          <a:lstStyle/>
          <a:p>
            <a:endParaRPr lang="en-AU"/>
          </a:p>
        </p:txBody>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txBody>
          <a:bodyPr/>
          <a:lstStyle/>
          <a:p>
            <a:endParaRPr lang="en-AU"/>
          </a:p>
        </p:txBody>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Core Concepts of AI Ethics</a:t>
            </a:r>
            <a:endParaRPr lang="en-US" sz="1600" dirty="0"/>
          </a:p>
        </p:txBody>
      </p:sp>
      <p:sp>
        <p:nvSpPr>
          <p:cNvPr id="22" name="Text 19"/>
          <p:cNvSpPr/>
          <p:nvPr/>
        </p:nvSpPr>
        <p:spPr>
          <a:xfrm>
            <a:off x="4210685" y="1703070"/>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ethics examines the moral principles guiding AI development and use. It ensures AI aligns with human values, promoting fairness, transparency, and accountability in AI systems.</a:t>
            </a:r>
            <a:endParaRPr lang="en-US" sz="1600" dirty="0"/>
          </a:p>
        </p:txBody>
      </p:sp>
      <p:sp>
        <p:nvSpPr>
          <p:cNvPr id="23" name="Text 20"/>
          <p:cNvSpPr/>
          <p:nvPr/>
        </p:nvSpPr>
        <p:spPr>
          <a:xfrm>
            <a:off x="4027170" y="5546725"/>
            <a:ext cx="6839585"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Current debates focus on facial recognition, autonomous weapons, and employment impact. These discussions shape policies and public perception of AI.</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Current Debates in AI Ethics</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Historical Evolution of AI Ethics</a:t>
            </a:r>
            <a:endParaRPr lang="en-US" sz="1600" dirty="0"/>
          </a:p>
        </p:txBody>
      </p:sp>
      <p:sp>
        <p:nvSpPr>
          <p:cNvPr id="26" name="Text 23"/>
          <p:cNvSpPr/>
          <p:nvPr/>
        </p:nvSpPr>
        <p:spPr>
          <a:xfrm>
            <a:off x="4859020" y="3758565"/>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ethics has evolved from early safety concerns to broader issues like bias and privacy. Milestones include the Asilomar AI Principles, which set guidelines for beneficial AI.</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txBody>
          <a:bodyPr/>
          <a:lstStyle/>
          <a:p>
            <a:endParaRPr lang="en-AU"/>
          </a:p>
        </p:txBody>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Fairness and Bias in AI</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Techniques such as data preprocessing, algorithmic adjustments, and fairness metrics help mitigate bias. Fairness is essential for equal opportunities in hiring and lending.</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Identifying Bias in Algorithms</a:t>
            </a:r>
            <a:endParaRPr lang="en-US" sz="1600" dirty="0"/>
          </a:p>
        </p:txBody>
      </p:sp>
      <p:sp>
        <p:nvSpPr>
          <p:cNvPr id="21" name="Text 19"/>
          <p:cNvSpPr/>
          <p:nvPr/>
        </p:nvSpPr>
        <p:spPr>
          <a:xfrm>
            <a:off x="929005" y="1983740"/>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Bias in AI algorithms can arise from skewed training data or flawed design. Identifying these biases is crucial to prevent discrimination in AI systems.</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Strategies for Achieving Fairness</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Case Studies of Bias Mitigation</a:t>
            </a:r>
            <a:endParaRPr lang="en-US" sz="1600" dirty="0"/>
          </a:p>
        </p:txBody>
      </p:sp>
      <p:sp>
        <p:nvSpPr>
          <p:cNvPr id="24" name="Text 22"/>
          <p:cNvSpPr/>
          <p:nvPr/>
        </p:nvSpPr>
        <p:spPr>
          <a:xfrm>
            <a:off x="929005" y="538670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Examples like Google's efforts to reduce gender bias in translation algorithms demonstrate practical approaches to achieving fairness in AI.</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Transparency and Explainability</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Complex AI models, especially deep learning systems, often act as black boxes. Understanding their decision-making processes is a significant challenge.</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Challenges in AI Transparency</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6308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Techniques such as feature importance analysis and model-agnostic methods help explain AI decisions. Transparency is vital for building trust in AI applications.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Methods for Enhancing Explainability</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In healthcare, explainable AI can help doctors understand diagnostic recommendations, improving patient outcomes and trust in AI systems.</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Real-world Applications of Explainable AI</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Privacy and Data Protection</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Data Collection and Privacy Risks</a:t>
            </a:r>
            <a:endParaRPr lang="en-US" sz="1600" dirty="0"/>
          </a:p>
        </p:txBody>
      </p:sp>
      <p:sp>
        <p:nvSpPr>
          <p:cNvPr id="34" name="Text 32"/>
          <p:cNvSpPr/>
          <p:nvPr/>
        </p:nvSpPr>
        <p:spPr>
          <a:xfrm>
            <a:off x="1515110" y="2399665"/>
            <a:ext cx="2301875"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systems require vast amounts of data, raising concerns about privacy breaches and unauthorized data use. Protecting user data is a critical ethical issue.</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Regulatory Frameworks for Data Protection</a:t>
            </a:r>
            <a:endParaRPr lang="en-US" sz="1600" dirty="0"/>
          </a:p>
        </p:txBody>
      </p:sp>
      <p:sp>
        <p:nvSpPr>
          <p:cNvPr id="52" name="Text 50"/>
          <p:cNvSpPr/>
          <p:nvPr/>
        </p:nvSpPr>
        <p:spPr>
          <a:xfrm>
            <a:off x="4747260" y="2372995"/>
            <a:ext cx="2301875"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Laws like GDPR and CCPA set standards for data protection. Compliance ensures that AI systems respect user privacy and handle data responsibly.</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Best Practices for Privacy in AI</a:t>
            </a:r>
            <a:endParaRPr lang="en-US" sz="1600" dirty="0"/>
          </a:p>
        </p:txBody>
      </p:sp>
      <p:sp>
        <p:nvSpPr>
          <p:cNvPr id="70" name="Text 68"/>
          <p:cNvSpPr/>
          <p:nvPr/>
        </p:nvSpPr>
        <p:spPr>
          <a:xfrm>
            <a:off x="8064500" y="2333625"/>
            <a:ext cx="2301875"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Techniques such as data anonymization and federated learning help protect privacy while enabling AI development. Privacy-preserving AI is essential for consumer trust.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Employment and AI</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Job Displacement by AI</a:t>
            </a:r>
            <a:endParaRPr lang="en-US" sz="1600" dirty="0"/>
          </a:p>
        </p:txBody>
      </p:sp>
      <p:sp>
        <p:nvSpPr>
          <p:cNvPr id="31" name="Text 28"/>
          <p:cNvSpPr/>
          <p:nvPr/>
        </p:nvSpPr>
        <p:spPr>
          <a:xfrm>
            <a:off x="1376045" y="437959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and automation can lead to job displacement in sectors like manufacturing and customer service. Understanding the scale and nature of this impact is crucial.</a:t>
            </a:r>
            <a:endParaRPr lang="en-US" sz="1600" dirty="0"/>
          </a:p>
        </p:txBody>
      </p:sp>
      <p:sp>
        <p:nvSpPr>
          <p:cNvPr id="32" name="Text 29"/>
          <p:cNvSpPr/>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Creating New Job Opportunities</a:t>
            </a:r>
            <a:endParaRPr lang="en-US" sz="1600" dirty="0"/>
          </a:p>
        </p:txBody>
      </p:sp>
      <p:sp>
        <p:nvSpPr>
          <p:cNvPr id="33" name="Text 30"/>
          <p:cNvSpPr/>
          <p:nvPr/>
        </p:nvSpPr>
        <p:spPr>
          <a:xfrm>
            <a:off x="4708525" y="437959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also creates new jobs in fields like data science, AI ethics, and AI maintenance. Focusing on reskilling and upskilling can help mitigate job losses.</a:t>
            </a:r>
            <a:endParaRPr lang="en-US" sz="1600" dirty="0"/>
          </a:p>
        </p:txBody>
      </p:sp>
      <p:sp>
        <p:nvSpPr>
          <p:cNvPr id="34" name="Text 31"/>
          <p:cNvSpPr/>
          <p:nvPr/>
        </p:nvSpPr>
        <p:spPr>
          <a:xfrm>
            <a:off x="8229600"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Policy Responses to AI and Employment</a:t>
            </a:r>
            <a:endParaRPr lang="en-US" sz="1600" dirty="0"/>
          </a:p>
        </p:txBody>
      </p:sp>
      <p:sp>
        <p:nvSpPr>
          <p:cNvPr id="35" name="Text 32"/>
          <p:cNvSpPr/>
          <p:nvPr/>
        </p:nvSpPr>
        <p:spPr>
          <a:xfrm>
            <a:off x="8229600" y="437959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Governments and organizations are exploring policies like universal basic income and retraining programs to address the employment challenges posed by AI.</a:t>
            </a:r>
            <a:endParaRPr lang="en-US"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AI and Society</a:t>
            </a:r>
            <a:endParaRPr lang="en-US" sz="1600" dirty="0"/>
          </a:p>
        </p:txBody>
      </p:sp>
      <p:sp>
        <p:nvSpPr>
          <p:cNvPr id="11" name="Shape 9"/>
          <p:cNvSpPr/>
          <p:nvPr/>
        </p:nvSpPr>
        <p:spPr>
          <a:xfrm>
            <a:off x="0" y="6325235"/>
            <a:ext cx="12190730" cy="534035"/>
          </a:xfrm>
          <a:prstGeom prst="rect">
            <a:avLst/>
          </a:prstGeom>
          <a:solidFill>
            <a:srgbClr val="B4CA7C"/>
          </a:solidFill>
        </p:spPr>
        <p:txBody>
          <a:bodyPr/>
          <a:lstStyle/>
          <a:p>
            <a:endParaRPr lang="en-AU"/>
          </a:p>
        </p:txBody>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3"/>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txBody>
          <a:bodyPr/>
          <a:lstStyle/>
          <a:p>
            <a:endParaRPr lang="en-AU"/>
          </a:p>
        </p:txBody>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txBody>
          <a:bodyPr/>
          <a:lstStyle/>
          <a:p>
            <a:endParaRPr lang="en-AU"/>
          </a:p>
        </p:txBody>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txBody>
          <a:bodyPr/>
          <a:lstStyle/>
          <a:p>
            <a:endParaRPr lang="en-AU"/>
          </a:p>
        </p:txBody>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Impact on Social Structures</a:t>
            </a:r>
            <a:endParaRPr lang="en-US" sz="1600" dirty="0"/>
          </a:p>
        </p:txBody>
      </p:sp>
      <p:sp>
        <p:nvSpPr>
          <p:cNvPr id="19" name="Text 16"/>
          <p:cNvSpPr/>
          <p:nvPr/>
        </p:nvSpPr>
        <p:spPr>
          <a:xfrm>
            <a:off x="4038600" y="194183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can influence social dynamics, from social media algorithms affecting public opinion to AI-driven decision-making in governance. Understanding these impacts is essential.</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AI in Education and Healthcare</a:t>
            </a:r>
            <a:endParaRPr lang="en-US" sz="1600" dirty="0"/>
          </a:p>
        </p:txBody>
      </p:sp>
      <p:sp>
        <p:nvSpPr>
          <p:cNvPr id="21" name="Text 18"/>
          <p:cNvSpPr/>
          <p:nvPr/>
        </p:nvSpPr>
        <p:spPr>
          <a:xfrm>
            <a:off x="4038600" y="3471545"/>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has transformative potential in education through personalized learning and in healthcare through improved diagnostics and patient care. These applications can enhance social well-being.</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Addressing Digital Divide</a:t>
            </a:r>
            <a:endParaRPr lang="en-US" sz="1600" dirty="0"/>
          </a:p>
        </p:txBody>
      </p:sp>
      <p:sp>
        <p:nvSpPr>
          <p:cNvPr id="23" name="Text 20"/>
          <p:cNvSpPr/>
          <p:nvPr/>
        </p:nvSpPr>
        <p:spPr>
          <a:xfrm>
            <a:off x="4038600" y="500126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Ensuring equitable access to AI technologies is vital to prevent a digital divide. Initiatives to promote digital literacy and access to technology can bridge this gap.</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AI and Environment</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Energy Consumption of AI</a:t>
            </a:r>
            <a:endParaRPr lang="en-US" sz="1600" dirty="0"/>
          </a:p>
        </p:txBody>
      </p:sp>
      <p:sp>
        <p:nvSpPr>
          <p:cNvPr id="21" name="Text 18"/>
          <p:cNvSpPr/>
          <p:nvPr/>
        </p:nvSpPr>
        <p:spPr>
          <a:xfrm>
            <a:off x="4802505" y="1946275"/>
            <a:ext cx="6647815"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systems, especially large-scale models, consume significant energy. This raises concerns about their environmental impact and sustainability.</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AI for Environmental Solutions</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Sustainable AI Practices</a:t>
            </a:r>
            <a:endParaRPr lang="en-US" sz="1600" dirty="0"/>
          </a:p>
        </p:txBody>
      </p:sp>
      <p:sp>
        <p:nvSpPr>
          <p:cNvPr id="25" name="Text 22"/>
          <p:cNvSpPr/>
          <p:nvPr/>
        </p:nvSpPr>
        <p:spPr>
          <a:xfrm>
            <a:off x="5048250" y="3828415"/>
            <a:ext cx="2872740" cy="114339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can be a tool for environmental protection, from optimizing energy use to monitoring ecosystems. Balancing its impact is crucial.</a:t>
            </a:r>
            <a:endParaRPr lang="en-US" sz="1600" dirty="0"/>
          </a:p>
        </p:txBody>
      </p:sp>
      <p:sp>
        <p:nvSpPr>
          <p:cNvPr id="26" name="Text 23"/>
          <p:cNvSpPr/>
          <p:nvPr/>
        </p:nvSpPr>
        <p:spPr>
          <a:xfrm>
            <a:off x="8418195" y="3954780"/>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Developing energy-efficient AI models and using renewable energy sources can reduce the environmental footprint of AI. Sustainable practices are essential for long-term viability.</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txBody>
          <a:bodyPr/>
          <a:lstStyle/>
          <a:p>
            <a:endParaRPr lang="en-AU"/>
          </a:p>
        </p:txBody>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txBody>
          <a:bodyPr/>
          <a:lstStyle/>
          <a:p>
            <a:endParaRPr lang="en-AU"/>
          </a:p>
        </p:txBody>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3"/>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Global AI Governance</a:t>
            </a:r>
            <a:endParaRPr lang="en-US" sz="1600" dirty="0"/>
          </a:p>
        </p:txBody>
      </p:sp>
      <p:sp>
        <p:nvSpPr>
          <p:cNvPr id="12" name="Shape 9"/>
          <p:cNvSpPr/>
          <p:nvPr/>
        </p:nvSpPr>
        <p:spPr>
          <a:xfrm>
            <a:off x="2808605" y="1239520"/>
            <a:ext cx="652145" cy="663575"/>
          </a:xfrm>
          <a:prstGeom prst="ellipse">
            <a:avLst/>
          </a:prstGeom>
          <a:solidFill>
            <a:srgbClr val="B4CA7C"/>
          </a:solidFill>
        </p:spPr>
        <p:txBody>
          <a:bodyPr/>
          <a:lstStyle/>
          <a:p>
            <a:endParaRPr lang="en-AU"/>
          </a:p>
        </p:txBody>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txBody>
          <a:bodyPr/>
          <a:lstStyle/>
          <a:p>
            <a:endParaRPr lang="en-AU"/>
          </a:p>
        </p:txBody>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txBody>
          <a:bodyPr/>
          <a:lstStyle/>
          <a:p>
            <a:endParaRPr lang="en-AU"/>
          </a:p>
        </p:txBody>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International Collaboration on AI</a:t>
            </a:r>
            <a:endParaRPr lang="en-US" sz="1600" dirty="0"/>
          </a:p>
        </p:txBody>
      </p:sp>
      <p:sp>
        <p:nvSpPr>
          <p:cNvPr id="22" name="Text 19"/>
          <p:cNvSpPr/>
          <p:nvPr/>
        </p:nvSpPr>
        <p:spPr>
          <a:xfrm>
            <a:off x="4210685" y="1703070"/>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Global cooperation is necessary to address the cross-border impacts of AI. Organizations like the OECD and UNESCO are leading efforts to develop international AI guidelines.</a:t>
            </a:r>
            <a:endParaRPr lang="en-US" sz="1600" dirty="0"/>
          </a:p>
        </p:txBody>
      </p:sp>
      <p:sp>
        <p:nvSpPr>
          <p:cNvPr id="23" name="Text 20"/>
          <p:cNvSpPr/>
          <p:nvPr/>
        </p:nvSpPr>
        <p:spPr>
          <a:xfrm>
            <a:off x="4027170" y="5546725"/>
            <a:ext cx="6839585"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Bodies like the United Nations play a crucial role in setting global standards and facilitating dialogue on AI ethics and governance.</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Role of International Organizations</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National AI Strategies</a:t>
            </a:r>
            <a:endParaRPr lang="en-US" sz="1600" dirty="0"/>
          </a:p>
        </p:txBody>
      </p:sp>
      <p:sp>
        <p:nvSpPr>
          <p:cNvPr id="26" name="Text 23"/>
          <p:cNvSpPr/>
          <p:nvPr/>
        </p:nvSpPr>
        <p:spPr>
          <a:xfrm>
            <a:off x="4859020" y="3758565"/>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Countries are developing AI strategies to guide domestic development and ensure ethical use. These strategies often include funding for research and ethical guidelines.</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txBody>
          <a:bodyPr/>
          <a:lstStyle/>
          <a:p>
            <a:endParaRPr lang="en-AU"/>
          </a:p>
        </p:txBody>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Legal and Regulatory Frameworks</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txBody>
          <a:bodyPr/>
          <a:lstStyle/>
          <a:p>
            <a:endParaRPr lang="en-AU"/>
          </a:p>
        </p:txBody>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txBody>
          <a:bodyPr/>
          <a:lstStyle/>
          <a:p>
            <a:endParaRPr lang="en-AU"/>
          </a:p>
        </p:txBody>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New regulations are being developed to ensure AI systems are safe, ethical, and compliant with human rights. These regulations will shape the future of AI.</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Existing Laws and AI</a:t>
            </a:r>
            <a:endParaRPr lang="en-US" sz="1600" dirty="0"/>
          </a:p>
        </p:txBody>
      </p:sp>
      <p:sp>
        <p:nvSpPr>
          <p:cNvPr id="21" name="Text 19"/>
          <p:cNvSpPr/>
          <p:nvPr/>
        </p:nvSpPr>
        <p:spPr>
          <a:xfrm>
            <a:off x="929005" y="1983740"/>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Current laws need to be adapted to address AI-specific issues like liability in autonomous vehicles and intellectual property in AI-generated content.</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Developing AI-Specific Regulations</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Enforcement and Compliance</a:t>
            </a:r>
            <a:endParaRPr lang="en-US" sz="1600" dirty="0"/>
          </a:p>
        </p:txBody>
      </p:sp>
      <p:sp>
        <p:nvSpPr>
          <p:cNvPr id="24" name="Text 22"/>
          <p:cNvSpPr/>
          <p:nvPr/>
        </p:nvSpPr>
        <p:spPr>
          <a:xfrm>
            <a:off x="929005" y="538670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Effective enforcement mechanisms are essential to ensure compliance with AI regulations. This includes audits, penalties, and public accountability.</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Corporate Responsibility in AI</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Companies are developing ethical guidelines to govern their AI development and use. These guidelines help ensure responsible AI practices.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Ethical Guidelines for Companies</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6308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Stakeholders, including customers, employees, and investors, play a crucial role in shaping corporate AI ethics. Engaging them is vital for responsible AI.</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Role of Stakeholders in AI Governance</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Companies like Microsoft and IBM have implemented ethical AI frameworks, demonstrating how businesses can integrate ethics into AI development.</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Case Studies of Ethical AI in Business</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Emerging Issues in AI Ethics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AI and Human Rights</a:t>
            </a:r>
            <a:endParaRPr lang="en-US" sz="1600" dirty="0"/>
          </a:p>
        </p:txBody>
      </p:sp>
      <p:sp>
        <p:nvSpPr>
          <p:cNvPr id="34" name="Text 32"/>
          <p:cNvSpPr/>
          <p:nvPr/>
        </p:nvSpPr>
        <p:spPr>
          <a:xfrm>
            <a:off x="1515110" y="2399665"/>
            <a:ext cx="2301875"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systems can impact human rights, from surveillance to freedom of expression. Ensuring AI respects these rights is a growing concern.</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AI and Cognitive Enhancement</a:t>
            </a:r>
            <a:endParaRPr lang="en-US" sz="1600" dirty="0"/>
          </a:p>
        </p:txBody>
      </p:sp>
      <p:sp>
        <p:nvSpPr>
          <p:cNvPr id="52" name="Text 50"/>
          <p:cNvSpPr/>
          <p:nvPr/>
        </p:nvSpPr>
        <p:spPr>
          <a:xfrm>
            <a:off x="4747260" y="2372995"/>
            <a:ext cx="2301875"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Advances in AI raise questions about cognitive enhancement and the ethical implications of merging human and machine intelligence.</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AI and Social Justice</a:t>
            </a:r>
            <a:endParaRPr lang="en-US" sz="1600" dirty="0"/>
          </a:p>
        </p:txBody>
      </p:sp>
      <p:sp>
        <p:nvSpPr>
          <p:cNvPr id="70" name="Text 68"/>
          <p:cNvSpPr/>
          <p:nvPr/>
        </p:nvSpPr>
        <p:spPr>
          <a:xfrm>
            <a:off x="8064500" y="2333625"/>
            <a:ext cx="2301875"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can be a tool for social justice, but it can also perpetuate inequality. Addressing these issues is crucial for a just society.</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Directions in AI Governance</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Technological Solutions for Ethical AI</a:t>
            </a:r>
            <a:endParaRPr lang="en-US" sz="1600" dirty="0"/>
          </a:p>
        </p:txBody>
      </p:sp>
      <p:sp>
        <p:nvSpPr>
          <p:cNvPr id="31" name="Text 28"/>
          <p:cNvSpPr/>
          <p:nvPr/>
        </p:nvSpPr>
        <p:spPr>
          <a:xfrm>
            <a:off x="1376045" y="4379595"/>
            <a:ext cx="2872740" cy="114339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Developing technologies like ethical AI frameworks and bias detection tools can help ensure AI systems are ethical by design.</a:t>
            </a:r>
            <a:endParaRPr lang="en-US" sz="1600" dirty="0"/>
          </a:p>
        </p:txBody>
      </p:sp>
      <p:sp>
        <p:nvSpPr>
          <p:cNvPr id="32" name="Text 29"/>
          <p:cNvSpPr/>
          <p:nvPr/>
        </p:nvSpPr>
        <p:spPr>
          <a:xfrm>
            <a:off x="4708525" y="403669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Public Engagement and Education</a:t>
            </a:r>
            <a:endParaRPr lang="en-US" sz="1600" dirty="0"/>
          </a:p>
        </p:txBody>
      </p:sp>
      <p:sp>
        <p:nvSpPr>
          <p:cNvPr id="33" name="Text 30"/>
          <p:cNvSpPr/>
          <p:nvPr/>
        </p:nvSpPr>
        <p:spPr>
          <a:xfrm>
            <a:off x="4708525" y="4379595"/>
            <a:ext cx="2872740" cy="114339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Engaging the public and providing education on AI ethics is essential for informed decision-making and public acceptance of AI.</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Long-term Vision for AI Ethics</a:t>
            </a:r>
            <a:endParaRPr lang="en-US" sz="1600" dirty="0"/>
          </a:p>
        </p:txBody>
      </p:sp>
      <p:sp>
        <p:nvSpPr>
          <p:cNvPr id="35" name="Text 32"/>
          <p:cNvSpPr/>
          <p:nvPr/>
        </p:nvSpPr>
        <p:spPr>
          <a:xfrm>
            <a:off x="8229600" y="437959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 long-term vision for AI ethics involves balancing innovation with ethical considerations, ensuring AI benefits humanity while minimizing risks.</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3"/>
          <a:srcRect t="51" b="51"/>
          <a:stretch>
            <a:fillRect/>
          </a:stretch>
        </p:blipFill>
        <p:spPr>
          <a:xfrm>
            <a:off x="1096010" y="1706880"/>
            <a:ext cx="3843020" cy="3093720"/>
          </a:xfrm>
          <a:prstGeom prst="rect">
            <a:avLst/>
          </a:prstGeom>
        </p:spPr>
      </p:pic>
      <p:sp>
        <p:nvSpPr>
          <p:cNvPr id="7" name="Text 3"/>
          <p:cNvSpPr/>
          <p:nvPr/>
        </p:nvSpPr>
        <p:spPr>
          <a:xfrm>
            <a:off x="5979795" y="3223895"/>
            <a:ext cx="4779645" cy="1437084"/>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Future Trends and Challenges</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Emerging Technologies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Quantum Computing</a:t>
            </a:r>
            <a:endParaRPr lang="en-US" sz="1600" dirty="0"/>
          </a:p>
        </p:txBody>
      </p:sp>
      <p:sp>
        <p:nvSpPr>
          <p:cNvPr id="34" name="Text 32"/>
          <p:cNvSpPr/>
          <p:nvPr/>
        </p:nvSpPr>
        <p:spPr>
          <a:xfrm>
            <a:off x="1515110" y="2399665"/>
            <a:ext cx="2301875"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Quantum computing has the potential to revolutionize AI by providing exponential speed-ups in computation. It can enable more complex and efficient machine learning models, opening up new possibilities for AI applications.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Edge Computing</a:t>
            </a:r>
            <a:endParaRPr lang="en-US" sz="1600" dirty="0"/>
          </a:p>
        </p:txBody>
      </p:sp>
      <p:sp>
        <p:nvSpPr>
          <p:cNvPr id="52" name="Text 50"/>
          <p:cNvSpPr/>
          <p:nvPr/>
        </p:nvSpPr>
        <p:spPr>
          <a:xfrm>
            <a:off x="4747260" y="2372995"/>
            <a:ext cx="2301875"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Edge computing involves processing data closer to the source, reducing latency and improving real-time performance. It is particularly useful for applications like autonomous vehicles and IoT devices, where quick decision-making is crucial.</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Explainable AI</a:t>
            </a:r>
            <a:endParaRPr lang="en-US" sz="1600" dirty="0"/>
          </a:p>
        </p:txBody>
      </p:sp>
      <p:sp>
        <p:nvSpPr>
          <p:cNvPr id="70" name="Text 68"/>
          <p:cNvSpPr/>
          <p:nvPr/>
        </p:nvSpPr>
        <p:spPr>
          <a:xfrm>
            <a:off x="8064500" y="2333625"/>
            <a:ext cx="2301875"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Explainable AI aims to make AI models more transparent and interpretable. It is essential for building trust in AI systems, particularly in critical applications like healthcare and finance, where understanding the reasoning behind decisions is crucial.</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3"/>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3"/>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3"/>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Research Directions</a:t>
            </a:r>
            <a:endParaRPr lang="en-US" sz="1600" dirty="0"/>
          </a:p>
        </p:txBody>
      </p:sp>
      <p:sp>
        <p:nvSpPr>
          <p:cNvPr id="11" name="Shape 9"/>
          <p:cNvSpPr/>
          <p:nvPr/>
        </p:nvSpPr>
        <p:spPr>
          <a:xfrm>
            <a:off x="0" y="6325235"/>
            <a:ext cx="12190730" cy="534035"/>
          </a:xfrm>
          <a:prstGeom prst="rect">
            <a:avLst/>
          </a:prstGeom>
          <a:solidFill>
            <a:srgbClr val="B4CA7C"/>
          </a:solidFill>
        </p:spPr>
        <p:txBody>
          <a:bodyPr/>
          <a:lstStyle/>
          <a:p>
            <a:endParaRPr lang="en-AU"/>
          </a:p>
        </p:txBody>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3"/>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txBody>
          <a:bodyPr/>
          <a:lstStyle/>
          <a:p>
            <a:endParaRPr lang="en-AU"/>
          </a:p>
        </p:txBody>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txBody>
          <a:bodyPr/>
          <a:lstStyle/>
          <a:p>
            <a:endParaRPr lang="en-AU"/>
          </a:p>
        </p:txBody>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txBody>
          <a:bodyPr/>
          <a:lstStyle/>
          <a:p>
            <a:endParaRPr lang="en-AU"/>
          </a:p>
        </p:txBody>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General Artificial Intelligence</a:t>
            </a:r>
            <a:endParaRPr lang="en-US" sz="1600" dirty="0"/>
          </a:p>
        </p:txBody>
      </p:sp>
      <p:sp>
        <p:nvSpPr>
          <p:cNvPr id="19" name="Text 16"/>
          <p:cNvSpPr/>
          <p:nvPr/>
        </p:nvSpPr>
        <p:spPr>
          <a:xfrm>
            <a:off x="4038600" y="194183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General Artificial Intelligence (GAI) is the long-term goal of creating machines that can perform any intellectual task that a human can. It involves developing AI systems with a broad range of capabilities and adaptability.</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Human-AI Collaboration</a:t>
            </a:r>
            <a:endParaRPr lang="en-US" sz="1600" dirty="0"/>
          </a:p>
        </p:txBody>
      </p:sp>
      <p:sp>
        <p:nvSpPr>
          <p:cNvPr id="21" name="Text 18"/>
          <p:cNvSpPr/>
          <p:nvPr/>
        </p:nvSpPr>
        <p:spPr>
          <a:xfrm>
            <a:off x="4038600" y="3471545"/>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Human-AI collaboration focuses on developing systems that can work effectively with humans. It involves understanding human behavior and preferences to create AI that complements human skills and enhances productivity.</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AI for Good</a:t>
            </a:r>
            <a:endParaRPr lang="en-US" sz="1600" dirty="0"/>
          </a:p>
        </p:txBody>
      </p:sp>
      <p:sp>
        <p:nvSpPr>
          <p:cNvPr id="23" name="Text 20"/>
          <p:cNvSpPr/>
          <p:nvPr/>
        </p:nvSpPr>
        <p:spPr>
          <a:xfrm>
            <a:off x="4038600" y="500126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for Good initiatives aim to use AI to address global challenges such as climate change, poverty, and healthcare. It involves leveraging AI's capabilities to create positive social impact and improve the quality of life for people around the world.</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3"/>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Challenges and Opportunities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txBody>
          <a:bodyPr/>
          <a:lstStyle/>
          <a:p>
            <a:endParaRPr lang="en-AU"/>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241675" cy="331406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txBody>
          <a:bodyPr/>
          <a:lstStyle/>
          <a:p>
            <a:endParaRPr lang="en-AU"/>
          </a:p>
        </p:txBody>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rot="16200000">
            <a:off x="7375085" y="-742755"/>
            <a:ext cx="72000" cy="5166995"/>
          </a:xfrm>
          <a:prstGeom prst="parallelogram">
            <a:avLst/>
          </a:prstGeom>
          <a:gradFill flip="none" rotWithShape="1">
            <a:gsLst>
              <a:gs pos="28000">
                <a:srgbClr val="9CC0B1">
                  <a:alpha val="0"/>
                </a:srgbClr>
              </a:gs>
              <a:gs pos="100000">
                <a:srgbClr val="525E30"/>
              </a:gs>
            </a:gsLst>
            <a:lin ang="16200000" scaled="1"/>
          </a:gradFill>
        </p:spPr>
        <p:txBody>
          <a:bodyPr/>
          <a:lstStyle/>
          <a:p>
            <a:endParaRPr lang="en-AU"/>
          </a:p>
        </p:txBody>
      </p:sp>
      <p:sp>
        <p:nvSpPr>
          <p:cNvPr id="19" name="Text 16"/>
          <p:cNvSpPr/>
          <p:nvPr/>
        </p:nvSpPr>
        <p:spPr>
          <a:xfrm rot="16200000">
            <a:off x="7375085" y="-742755"/>
            <a:ext cx="72000" cy="516699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832985" y="1306195"/>
            <a:ext cx="4551045" cy="3683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Technical Challenges</a:t>
            </a:r>
            <a:endParaRPr lang="en-US" sz="1600" dirty="0"/>
          </a:p>
        </p:txBody>
      </p:sp>
      <p:sp>
        <p:nvSpPr>
          <p:cNvPr id="21" name="Text 18"/>
          <p:cNvSpPr/>
          <p:nvPr/>
        </p:nvSpPr>
        <p:spPr>
          <a:xfrm>
            <a:off x="4802505" y="1946275"/>
            <a:ext cx="6647815"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faces technical challenges such as improving model accuracy, reducing computational costs, and ensuring robustness. Ongoing research and development are essential to overcome these challenges and advance the field.</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Ethical Challenges</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Opportunities for Growth</a:t>
            </a:r>
            <a:endParaRPr lang="en-US" sz="1600" dirty="0"/>
          </a:p>
        </p:txBody>
      </p:sp>
      <p:sp>
        <p:nvSpPr>
          <p:cNvPr id="25" name="Text 22"/>
          <p:cNvSpPr/>
          <p:nvPr/>
        </p:nvSpPr>
        <p:spPr>
          <a:xfrm>
            <a:off x="5048250" y="3828415"/>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Ethical challenges in AI include bias, fairness, privacy, and security. Addressing these challenges requires a multidisciplinary approach, involving collaboration between technologists, ethicists, and policymakers.</a:t>
            </a:r>
            <a:endParaRPr lang="en-US" sz="1600" dirty="0"/>
          </a:p>
        </p:txBody>
      </p:sp>
      <p:sp>
        <p:nvSpPr>
          <p:cNvPr id="26" name="Text 23"/>
          <p:cNvSpPr/>
          <p:nvPr/>
        </p:nvSpPr>
        <p:spPr>
          <a:xfrm>
            <a:off x="8464550" y="3710940"/>
            <a:ext cx="2872740" cy="2572941"/>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Despite the challenges, AI presents significant opportunities for growth and innovation. It can drive economic development, improve quality of life, and solve complex problems. Embracing these opportunities requires a balanced approach that considers both the benefits and risks of AI.</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3">
            <a:alphaModFix amt="12000"/>
          </a:blip>
          <a:srcRect r="25396" b="24777"/>
          <a:stretch>
            <a:fillRect/>
          </a:stretch>
        </p:blipFill>
        <p:spPr>
          <a:xfrm>
            <a:off x="-103505" y="5207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txBody>
          <a:bodyPr/>
          <a:lstStyle/>
          <a:p>
            <a:endParaRPr lang="en-AU"/>
          </a:p>
        </p:txBody>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4"/>
          <a:srcRect t="51" b="51"/>
          <a:stretch>
            <a:fillRect/>
          </a:stretch>
        </p:blipFill>
        <p:spPr>
          <a:xfrm>
            <a:off x="1096010" y="1706880"/>
            <a:ext cx="3843020" cy="3093720"/>
          </a:xfrm>
          <a:prstGeom prst="rect">
            <a:avLst/>
          </a:prstGeom>
        </p:spPr>
      </p:pic>
      <p:sp>
        <p:nvSpPr>
          <p:cNvPr id="7" name="Text 3"/>
          <p:cNvSpPr/>
          <p:nvPr/>
        </p:nvSpPr>
        <p:spPr>
          <a:xfrm>
            <a:off x="5979795" y="3223895"/>
            <a:ext cx="4779645" cy="683617"/>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Conclusion</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pic>
        <p:nvPicPr>
          <p:cNvPr id="11" name="Image 0" descr="https://test-kimi-img.moonshot.cn/pub/slides/slides_tmpl/image/25-05-30-10:51:06-d0shq6k75iks832je5d0.png"/>
          <p:cNvPicPr>
            <a:picLocks noChangeAspect="1"/>
          </p:cNvPicPr>
          <p:nvPr/>
        </p:nvPicPr>
        <p:blipFill>
          <a:blip r:embed="rId3"/>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txBody>
          <a:bodyPr/>
          <a:lstStyle/>
          <a:p>
            <a:endParaRPr lang="en-AU"/>
          </a:p>
        </p:txBody>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txBody>
          <a:bodyPr/>
          <a:lstStyle/>
          <a:p>
            <a:endParaRPr lang="en-AU"/>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txBody>
          <a:bodyPr/>
          <a:lstStyle/>
          <a:p>
            <a:endParaRPr lang="en-AU"/>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txBody>
          <a:bodyPr/>
          <a:lstStyle/>
          <a:p>
            <a:endParaRPr lang="en-AU"/>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txBody>
          <a:bodyPr/>
          <a:lstStyle/>
          <a:p>
            <a:endParaRPr lang="en-AU"/>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txBody>
          <a:bodyPr/>
          <a:lstStyle/>
          <a:p>
            <a:endParaRPr lang="en-AU"/>
          </a:p>
        </p:txBody>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txBody>
          <a:bodyPr/>
          <a:lstStyle/>
          <a:p>
            <a:endParaRPr lang="en-AU"/>
          </a:p>
        </p:txBody>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Overview of AI</a:t>
            </a:r>
            <a:endParaRPr lang="en-US" sz="1600" dirty="0"/>
          </a:p>
        </p:txBody>
      </p:sp>
      <p:sp>
        <p:nvSpPr>
          <p:cNvPr id="31" name="Text 28"/>
          <p:cNvSpPr/>
          <p:nvPr/>
        </p:nvSpPr>
        <p:spPr>
          <a:xfrm>
            <a:off x="1376045" y="4379595"/>
            <a:ext cx="2872740" cy="200104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AI is a rapidly evolving field with a wide range of applications. It encompasses various technologies like machine learning, deep learning, and NLP, and has the potential to transform numerous industries.</a:t>
            </a:r>
            <a:endParaRPr lang="en-US" sz="1600" dirty="0"/>
          </a:p>
        </p:txBody>
      </p:sp>
      <p:sp>
        <p:nvSpPr>
          <p:cNvPr id="32" name="Text 29"/>
          <p:cNvSpPr/>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Ethical Considerations</a:t>
            </a:r>
            <a:endParaRPr lang="en-US" sz="1600" dirty="0"/>
          </a:p>
        </p:txBody>
      </p:sp>
      <p:sp>
        <p:nvSpPr>
          <p:cNvPr id="33" name="Text 30"/>
          <p:cNvSpPr/>
          <p:nvPr/>
        </p:nvSpPr>
        <p:spPr>
          <a:xfrm>
            <a:off x="4708525" y="437959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development and deployment of AI raise important ethical and social issues. Addressing these issues is crucial to ensure that AI is used responsibly and benefits society as a whole.</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Future Trends</a:t>
            </a:r>
            <a:endParaRPr lang="en-US" sz="1600" dirty="0"/>
          </a:p>
        </p:txBody>
      </p:sp>
      <p:sp>
        <p:nvSpPr>
          <p:cNvPr id="35" name="Text 32"/>
          <p:cNvSpPr/>
          <p:nvPr/>
        </p:nvSpPr>
        <p:spPr>
          <a:xfrm>
            <a:off x="8229600" y="4379595"/>
            <a:ext cx="2872740" cy="2286992"/>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future of AI holds exciting possibilities, including emerging technologies like quantum computing and edge computing. However, it also presents challenges that need to be addressed through ongoing research and collaboration.</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txBody>
          <a:bodyPr/>
          <a:lstStyle/>
          <a:p>
            <a:endParaRPr lang="en-AU"/>
          </a:p>
        </p:txBody>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txBody>
          <a:bodyPr/>
          <a:lstStyle/>
          <a:p>
            <a:endParaRPr lang="en-AU"/>
          </a:p>
        </p:txBody>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txBody>
          <a:bodyPr/>
          <a:lstStyle/>
          <a:p>
            <a:endParaRPr lang="en-AU"/>
          </a:p>
        </p:txBody>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The Way Forward</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3"/>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910358"/>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The responsible development of AI requires a focus on ethics, fairness, and transparency. It involves creating frameworks and guidelines to govern the use of AI and ensuring that it is developed in a way that benefits humanity.</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Responsible Development</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4"/>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8272"/>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Collaboration between academia, industry, and government is essential for the advancement of AI. It fosters innovation and ensures that AI is developed and used in a way that addresses societal needs and challenges.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Collaboration and Innovation</a:t>
            </a:r>
            <a:endParaRPr lang="en-US" sz="1600" dirty="0"/>
          </a:p>
        </p:txBody>
      </p:sp>
      <p:sp>
        <p:nvSpPr>
          <p:cNvPr id="19" name="Shape 15"/>
          <p:cNvSpPr/>
          <p:nvPr/>
        </p:nvSpPr>
        <p:spPr>
          <a:xfrm>
            <a:off x="8276590" y="1499855"/>
            <a:ext cx="3094237" cy="4787696"/>
          </a:xfrm>
          <a:prstGeom prst="roundRect">
            <a:avLst>
              <a:gd name="adj" fmla="val 5833"/>
            </a:avLst>
          </a:prstGeom>
          <a:solidFill>
            <a:srgbClr val="FFFFFF"/>
          </a:solidFill>
          <a:ln w="19050">
            <a:solidFill>
              <a:srgbClr val="739071"/>
            </a:solidFill>
            <a:prstDash val="solid"/>
          </a:ln>
        </p:spPr>
        <p:txBody>
          <a:bodyPr/>
          <a:lstStyle/>
          <a:p>
            <a:endParaRPr lang="en-AU"/>
          </a:p>
        </p:txBody>
      </p:sp>
      <p:sp>
        <p:nvSpPr>
          <p:cNvPr id="20" name="Text 16"/>
          <p:cNvSpPr/>
          <p:nvPr/>
        </p:nvSpPr>
        <p:spPr>
          <a:xfrm>
            <a:off x="8276590" y="1499855"/>
            <a:ext cx="3094237" cy="478769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5"/>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18320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Preparing for the future of AI involves investing in education and training to build a skilled workforce. It also requires ongoing research to address technical and ethical challenges, ensuring that AI continues to drive progress and improve lives.</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Preparing for the Future</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3"/>
          <a:srcRect l="13" r="13"/>
          <a:stretch>
            <a:fillRect/>
          </a:stretch>
        </p:blipFill>
        <p:spPr>
          <a:xfrm>
            <a:off x="3175" y="0"/>
            <a:ext cx="12188825" cy="6857365"/>
          </a:xfrm>
          <a:prstGeom prst="rect">
            <a:avLst/>
          </a:prstGeom>
        </p:spPr>
      </p:pic>
      <p:sp>
        <p:nvSpPr>
          <p:cNvPr id="6" name="Text 3"/>
          <p:cNvSpPr/>
          <p:nvPr/>
        </p:nvSpPr>
        <p:spPr>
          <a:xfrm>
            <a:off x="-97970" y="470173"/>
            <a:ext cx="11625942"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 Please add my </a:t>
            </a:r>
            <a:r>
              <a:rPr lang="en-US" sz="6000" b="1" dirty="0" err="1">
                <a:solidFill>
                  <a:srgbClr val="000000"/>
                </a:solidFill>
                <a:latin typeface="MiSans" pitchFamily="34" charset="-122"/>
                <a:ea typeface="MiSans" pitchFamily="34" charset="-122"/>
                <a:cs typeface="MiSans" pitchFamily="34" charset="-120"/>
              </a:rPr>
              <a:t>Wechat</a:t>
            </a:r>
            <a:r>
              <a:rPr lang="en-US" sz="6000" b="1" dirty="0">
                <a:solidFill>
                  <a:srgbClr val="000000"/>
                </a:solidFill>
                <a:latin typeface="MiSans" pitchFamily="34" charset="-122"/>
                <a:ea typeface="MiSans" pitchFamily="34" charset="-122"/>
                <a:cs typeface="MiSans" pitchFamily="34" charset="-120"/>
              </a:rPr>
              <a:t> for further connections.  </a:t>
            </a:r>
          </a:p>
          <a:p>
            <a:pPr marL="0" indent="0" algn="ctr">
              <a:lnSpc>
                <a:spcPct val="100000"/>
              </a:lnSpc>
              <a:buNone/>
            </a:pPr>
            <a:endParaRPr lang="en-US" sz="6000" b="1" dirty="0">
              <a:solidFill>
                <a:srgbClr val="000000"/>
              </a:solidFill>
              <a:latin typeface="MiSans" pitchFamily="34" charset="-122"/>
              <a:ea typeface="MiSans" pitchFamily="34" charset="-122"/>
              <a:cs typeface="MiSans" pitchFamily="34" charset="-120"/>
            </a:endParaRPr>
          </a:p>
          <a:p>
            <a:pPr marL="0" indent="0" algn="ctr">
              <a:lnSpc>
                <a:spcPct val="100000"/>
              </a:lnSpc>
              <a:buNone/>
            </a:pPr>
            <a:endParaRPr lang="en-US" sz="1600" dirty="0"/>
          </a:p>
        </p:txBody>
      </p:sp>
      <p:pic>
        <p:nvPicPr>
          <p:cNvPr id="4" name="Picture 3">
            <a:extLst>
              <a:ext uri="{FF2B5EF4-FFF2-40B4-BE49-F238E27FC236}">
                <a16:creationId xmlns:a16="http://schemas.microsoft.com/office/drawing/2014/main" id="{E00F0FDE-0139-6EC6-022C-FA957B945965}"/>
              </a:ext>
            </a:extLst>
          </p:cNvPr>
          <p:cNvPicPr>
            <a:picLocks noChangeAspect="1"/>
          </p:cNvPicPr>
          <p:nvPr/>
        </p:nvPicPr>
        <p:blipFill>
          <a:blip r:embed="rId4"/>
          <a:stretch>
            <a:fillRect/>
          </a:stretch>
        </p:blipFill>
        <p:spPr>
          <a:xfrm>
            <a:off x="4017225" y="2518410"/>
            <a:ext cx="3406435" cy="377984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2.8,&quot;left&quot;:473.92417322834643,&quot;top&quot;:159.4,&quot;width&quot;:406.32582677165357}"/>
</p:tagLst>
</file>

<file path=ppt/tags/tag11.xml><?xml version="1.0" encoding="utf-8"?>
<p:tagLst xmlns:a="http://schemas.openxmlformats.org/drawingml/2006/main" xmlns:r="http://schemas.openxmlformats.org/officeDocument/2006/relationships" xmlns:p="http://schemas.openxmlformats.org/presentationml/2006/main">
  <p:tag name="KSO_WM_UNIT_INDEX" val="2"/>
  <p:tag name="KSO_WM_UNIT_TYPE" val="j"/>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93.65,&quot;left&quot;:-1.5,&quot;top&quot;:92.7,&quot;width&quot;:1020.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51.6968503937008,&quot;left&quot;:221.15,&quot;top&quot;:97.6,&quot;width&quot;:699.95}"/>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6620</Words>
  <Application>Microsoft Office PowerPoint</Application>
  <PresentationFormat>Widescreen</PresentationFormat>
  <Paragraphs>490</Paragraphs>
  <Slides>71</Slides>
  <Notes>71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MiSans</vt:lpstr>
      <vt:lpstr>Calibri</vt:lpstr>
      <vt:lpstr>Aharoni</vt:lpstr>
      <vt:lpstr>微软雅黑</vt:lpstr>
      <vt:lpstr>Arial</vt: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Frank Jiang</cp:lastModifiedBy>
  <cp:revision>30</cp:revision>
  <dcterms:created xsi:type="dcterms:W3CDTF">2025-06-28T13:46:00Z</dcterms:created>
  <dcterms:modified xsi:type="dcterms:W3CDTF">2025-06-30T05:51:33Z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F099FB98121E4DBE967A9CF9C8A467FC_12</vt:lpwstr>
  </property>
  <property fmtid="{D5CDD505-2E9C-101B-9397-08002B2CF9AE}" pid="3" name="KSOProductBuildVer">
    <vt:lpwstr>2052-12.1.0.21541</vt:lpwstr>
  </property>
</Properties>
</file>