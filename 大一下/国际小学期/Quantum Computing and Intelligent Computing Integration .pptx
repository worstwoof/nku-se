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3"/>
  </p:sldMasterIdLst>
  <p:notesMasterIdLst>
    <p:notesMasterId r:id="rId5"/>
  </p:notesMasterIdLst>
  <p:sldIdLst>
    <p:sldId id="256" r:id="rId4"/>
    <p:sldId id="257" r:id="rId6"/>
    <p:sldId id="258" r:id="rId7"/>
    <p:sldId id="259" r:id="rId8"/>
    <p:sldId id="281" r:id="rId9"/>
    <p:sldId id="282" r:id="rId10"/>
    <p:sldId id="283" r:id="rId11"/>
    <p:sldId id="284" r:id="rId12"/>
    <p:sldId id="285" r:id="rId13"/>
    <p:sldId id="286" r:id="rId14"/>
    <p:sldId id="280" r:id="rId15"/>
    <p:sldId id="260" r:id="rId16"/>
    <p:sldId id="287" r:id="rId17"/>
    <p:sldId id="288" r:id="rId18"/>
    <p:sldId id="289" r:id="rId19"/>
    <p:sldId id="290" r:id="rId20"/>
    <p:sldId id="291" r:id="rId21"/>
    <p:sldId id="292" r:id="rId22"/>
    <p:sldId id="293" r:id="rId23"/>
    <p:sldId id="264" r:id="rId24"/>
    <p:sldId id="265" r:id="rId25"/>
    <p:sldId id="294" r:id="rId26"/>
    <p:sldId id="266" r:id="rId27"/>
    <p:sldId id="295" r:id="rId28"/>
    <p:sldId id="296" r:id="rId29"/>
    <p:sldId id="267" r:id="rId30"/>
    <p:sldId id="268" r:id="rId31"/>
    <p:sldId id="269" r:id="rId32"/>
    <p:sldId id="270" r:id="rId33"/>
    <p:sldId id="271" r:id="rId34"/>
    <p:sldId id="272" r:id="rId35"/>
    <p:sldId id="273" r:id="rId36"/>
    <p:sldId id="297" r:id="rId37"/>
    <p:sldId id="298" r:id="rId38"/>
    <p:sldId id="299" r:id="rId39"/>
    <p:sldId id="300" r:id="rId40"/>
    <p:sldId id="301" r:id="rId41"/>
    <p:sldId id="274" r:id="rId42"/>
    <p:sldId id="275" r:id="rId43"/>
    <p:sldId id="276" r:id="rId44"/>
    <p:sldId id="277" r:id="rId45"/>
    <p:sldId id="278" r:id="rId46"/>
    <p:sldId id="279" r:id="rId47"/>
  </p:sldIdLst>
  <p:sldSz cx="12192000" cy="6858000"/>
  <p:notesSz cx="6858000" cy="12192000"/>
  <p:embeddedFontLst>
    <p:embeddedFont>
      <p:font typeface="MiSans" pitchFamily="34" charset="-122"/>
      <p:regular r:id="rId51"/>
    </p:embeddedFont>
    <p:embeddedFont>
      <p:font typeface="MiSans" pitchFamily="34" charset="-120"/>
      <p:regular r:id="rId52"/>
    </p:embeddedFont>
    <p:embeddedFont>
      <p:font typeface="Calibri" panose="020F0502020204030204"/>
      <p:regular r:id="rId53"/>
      <p:bold r:id="rId54"/>
      <p:italic r:id="rId55"/>
      <p:boldItalic r:id="rId56"/>
    </p:embeddedFont>
    <p:embeddedFont>
      <p:font typeface="等线" panose="02010600030101010101" charset="-122"/>
      <p:regular r:id="rId57"/>
    </p:embeddedFont>
    <p:embeddedFont>
      <p:font typeface="Segoe UI" panose="020B0502040204020203"/>
      <p:regular r:id="rId58"/>
      <p:bold r:id="rId59"/>
      <p:italic r:id="rId60"/>
      <p:boldItalic r:id="rId6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1" Type="http://schemas.openxmlformats.org/officeDocument/2006/relationships/font" Target="fonts/font11.fntdata"/><Relationship Id="rId60" Type="http://schemas.openxmlformats.org/officeDocument/2006/relationships/font" Target="fonts/font10.fntdata"/><Relationship Id="rId6" Type="http://schemas.openxmlformats.org/officeDocument/2006/relationships/slide" Target="slides/slide2.xml"/><Relationship Id="rId59" Type="http://schemas.openxmlformats.org/officeDocument/2006/relationships/font" Target="fonts/font9.fntdata"/><Relationship Id="rId58" Type="http://schemas.openxmlformats.org/officeDocument/2006/relationships/font" Target="fonts/font8.fntdata"/><Relationship Id="rId57" Type="http://schemas.openxmlformats.org/officeDocument/2006/relationships/font" Target="fonts/font7.fntdata"/><Relationship Id="rId56" Type="http://schemas.openxmlformats.org/officeDocument/2006/relationships/font" Target="fonts/font6.fntdata"/><Relationship Id="rId55" Type="http://schemas.openxmlformats.org/officeDocument/2006/relationships/font" Target="fonts/font5.fntdata"/><Relationship Id="rId54" Type="http://schemas.openxmlformats.org/officeDocument/2006/relationships/font" Target="fonts/font4.fntdata"/><Relationship Id="rId53" Type="http://schemas.openxmlformats.org/officeDocument/2006/relationships/font" Target="fonts/font3.fntdata"/><Relationship Id="rId52" Type="http://schemas.openxmlformats.org/officeDocument/2006/relationships/font" Target="fonts/font2.fntdata"/><Relationship Id="rId51" Type="http://schemas.openxmlformats.org/officeDocument/2006/relationships/font" Target="fonts/font1.fntdata"/><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notesSlide" Target="../notesSlides/notesSlide2.xml"/><Relationship Id="rId12" Type="http://schemas.openxmlformats.org/officeDocument/2006/relationships/slideLayout" Target="../slideLayouts/slideLayout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1" Type="http://schemas.openxmlformats.org/officeDocument/2006/relationships/notesSlide" Target="../notesSlides/notesSlide12.xml"/><Relationship Id="rId20" Type="http://schemas.openxmlformats.org/officeDocument/2006/relationships/slideLayout" Target="../slideLayouts/slideLayout1.xml"/><Relationship Id="rId2" Type="http://schemas.openxmlformats.org/officeDocument/2006/relationships/tags" Target="../tags/tag12.xml"/><Relationship Id="rId19" Type="http://schemas.openxmlformats.org/officeDocument/2006/relationships/tags" Target="../tags/tag29.xml"/><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1" Type="http://schemas.openxmlformats.org/officeDocument/2006/relationships/notesSlide" Target="../notesSlides/notesSlide23.xml"/><Relationship Id="rId20" Type="http://schemas.openxmlformats.org/officeDocument/2006/relationships/slideLayout" Target="../slideLayouts/slideLayout1.xml"/><Relationship Id="rId2" Type="http://schemas.openxmlformats.org/officeDocument/2006/relationships/tags" Target="../tags/tag30.xml"/><Relationship Id="rId19" Type="http://schemas.openxmlformats.org/officeDocument/2006/relationships/tags" Target="../tags/tag47.xml"/><Relationship Id="rId18" Type="http://schemas.openxmlformats.org/officeDocument/2006/relationships/tags" Target="../tags/tag46.xml"/><Relationship Id="rId17" Type="http://schemas.openxmlformats.org/officeDocument/2006/relationships/tags" Target="../tags/tag45.xml"/><Relationship Id="rId16" Type="http://schemas.openxmlformats.org/officeDocument/2006/relationships/tags" Target="../tags/tag44.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1" Type="http://schemas.openxmlformats.org/officeDocument/2006/relationships/notesSlide" Target="../notesSlides/notesSlide28.xml"/><Relationship Id="rId20" Type="http://schemas.openxmlformats.org/officeDocument/2006/relationships/slideLayout" Target="../slideLayouts/slideLayout1.xml"/><Relationship Id="rId2" Type="http://schemas.openxmlformats.org/officeDocument/2006/relationships/tags" Target="../tags/tag48.xml"/><Relationship Id="rId19" Type="http://schemas.openxmlformats.org/officeDocument/2006/relationships/tags" Target="../tags/tag65.xml"/><Relationship Id="rId18" Type="http://schemas.openxmlformats.org/officeDocument/2006/relationships/tags" Target="../tags/tag64.xml"/><Relationship Id="rId17" Type="http://schemas.openxmlformats.org/officeDocument/2006/relationships/tags" Target="../tags/tag63.xml"/><Relationship Id="rId16" Type="http://schemas.openxmlformats.org/officeDocument/2006/relationships/tags" Target="../tags/tag62.xml"/><Relationship Id="rId15" Type="http://schemas.openxmlformats.org/officeDocument/2006/relationships/tags" Target="../tags/tag61.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5" name="Text 2"/>
          <p:cNvSpPr/>
          <p:nvPr/>
        </p:nvSpPr>
        <p:spPr>
          <a:xfrm>
            <a:off x="1835785" y="2231390"/>
            <a:ext cx="8327390" cy="2952750"/>
          </a:xfrm>
          <a:prstGeom prst="rect">
            <a:avLst/>
          </a:prstGeom>
          <a:noFill/>
        </p:spPr>
        <p:txBody>
          <a:bodyPr wrap="square" lIns="91440" tIns="45720" rIns="91440" bIns="45720" rtlCol="0" anchor="t">
            <a:spAutoFit/>
          </a:bodyPr>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Quantum Computing and Intelligent Computing Integration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03-d0shpms75iks832je4v0.png"/>
          <p:cNvPicPr>
            <a:picLocks noChangeAspect="1"/>
          </p:cNvPicPr>
          <p:nvPr/>
        </p:nvPicPr>
        <p:blipFill>
          <a:blip r:embed="rId1"/>
          <a:srcRect t="3326" b="11223"/>
          <a:stretch>
            <a:fillRect/>
          </a:stretch>
        </p:blipFill>
        <p:spPr>
          <a:xfrm>
            <a:off x="0" y="0"/>
            <a:ext cx="4874260" cy="6851015"/>
          </a:xfrm>
          <a:prstGeom prst="rect">
            <a:avLst/>
          </a:prstGeom>
        </p:spPr>
      </p:pic>
      <p:sp>
        <p:nvSpPr>
          <p:cNvPr id="3" name="Shape 0"/>
          <p:cNvSpPr/>
          <p:nvPr/>
        </p:nvSpPr>
        <p:spPr>
          <a:xfrm rot="5400000">
            <a:off x="5532120" y="2053189"/>
            <a:ext cx="293611" cy="293736"/>
          </a:xfrm>
          <a:prstGeom prst="triangle">
            <a:avLst/>
          </a:prstGeom>
          <a:solidFill>
            <a:srgbClr val="E0E9C9"/>
          </a:solidFill>
        </p:spPr>
      </p:sp>
      <p:sp>
        <p:nvSpPr>
          <p:cNvPr id="4" name="Text 1"/>
          <p:cNvSpPr/>
          <p:nvPr/>
        </p:nvSpPr>
        <p:spPr>
          <a:xfrm rot="5400000">
            <a:off x="5532120" y="2053189"/>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rot="5400000">
            <a:off x="5645047" y="2166164"/>
            <a:ext cx="293611" cy="293736"/>
          </a:xfrm>
          <a:prstGeom prst="triangle">
            <a:avLst/>
          </a:prstGeom>
          <a:solidFill>
            <a:srgbClr val="5E927D"/>
          </a:solidFill>
        </p:spPr>
      </p:sp>
      <p:sp>
        <p:nvSpPr>
          <p:cNvPr id="6" name="Text 3"/>
          <p:cNvSpPr/>
          <p:nvPr/>
        </p:nvSpPr>
        <p:spPr>
          <a:xfrm rot="5400000">
            <a:off x="5645047" y="2166164"/>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custDataLst>
              <p:tags r:id="rId2"/>
            </p:custDataLst>
          </p:nvPr>
        </p:nvSpPr>
        <p:spPr>
          <a:xfrm>
            <a:off x="6018837" y="202438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01</a:t>
            </a:r>
            <a:endParaRPr lang="en-US" sz="1600" dirty="0"/>
          </a:p>
        </p:txBody>
      </p:sp>
      <p:sp>
        <p:nvSpPr>
          <p:cNvPr id="8" name="Text 5"/>
          <p:cNvSpPr/>
          <p:nvPr>
            <p:custDataLst>
              <p:tags r:id="rId3"/>
            </p:custDataLst>
          </p:nvPr>
        </p:nvSpPr>
        <p:spPr>
          <a:xfrm>
            <a:off x="6662522" y="2052059"/>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Introduction to Quantum Computing</a:t>
            </a:r>
            <a:endParaRPr lang="en-US" sz="1600" dirty="0"/>
          </a:p>
        </p:txBody>
      </p:sp>
      <p:sp>
        <p:nvSpPr>
          <p:cNvPr id="9" name="Shape 6"/>
          <p:cNvSpPr/>
          <p:nvPr/>
        </p:nvSpPr>
        <p:spPr>
          <a:xfrm rot="5400000">
            <a:off x="5532120" y="2749109"/>
            <a:ext cx="293611" cy="293331"/>
          </a:xfrm>
          <a:prstGeom prst="triangle">
            <a:avLst/>
          </a:prstGeom>
          <a:solidFill>
            <a:srgbClr val="E0E9C9"/>
          </a:solidFill>
        </p:spPr>
      </p:sp>
      <p:sp>
        <p:nvSpPr>
          <p:cNvPr id="10" name="Text 7"/>
          <p:cNvSpPr/>
          <p:nvPr/>
        </p:nvSpPr>
        <p:spPr>
          <a:xfrm rot="5400000">
            <a:off x="5532120" y="274910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rot="5400000">
            <a:off x="5645047" y="2861929"/>
            <a:ext cx="293611" cy="293331"/>
          </a:xfrm>
          <a:prstGeom prst="triangle">
            <a:avLst/>
          </a:prstGeom>
          <a:solidFill>
            <a:srgbClr val="5E927D"/>
          </a:solidFill>
        </p:spPr>
      </p:sp>
      <p:sp>
        <p:nvSpPr>
          <p:cNvPr id="12" name="Text 9"/>
          <p:cNvSpPr/>
          <p:nvPr/>
        </p:nvSpPr>
        <p:spPr>
          <a:xfrm rot="5400000">
            <a:off x="5645047" y="286192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Text 10"/>
          <p:cNvSpPr/>
          <p:nvPr>
            <p:custDataLst>
              <p:tags r:id="rId4"/>
            </p:custDataLst>
          </p:nvPr>
        </p:nvSpPr>
        <p:spPr>
          <a:xfrm>
            <a:off x="6018837" y="272034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02</a:t>
            </a:r>
            <a:endParaRPr lang="en-US" sz="1600" dirty="0"/>
          </a:p>
        </p:txBody>
      </p:sp>
      <p:sp>
        <p:nvSpPr>
          <p:cNvPr id="14" name="Text 11"/>
          <p:cNvSpPr/>
          <p:nvPr>
            <p:custDataLst>
              <p:tags r:id="rId5"/>
            </p:custDataLst>
          </p:nvPr>
        </p:nvSpPr>
        <p:spPr>
          <a:xfrm>
            <a:off x="6662522" y="2747981"/>
            <a:ext cx="4469663" cy="645517"/>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Introduction to Intelligent Computing</a:t>
            </a:r>
            <a:endParaRPr lang="en-US" sz="1600" dirty="0"/>
          </a:p>
        </p:txBody>
      </p:sp>
      <p:sp>
        <p:nvSpPr>
          <p:cNvPr id="21" name="Shape 18"/>
          <p:cNvSpPr/>
          <p:nvPr/>
        </p:nvSpPr>
        <p:spPr>
          <a:xfrm rot="5400000">
            <a:off x="5532120" y="3539684"/>
            <a:ext cx="293611" cy="293331"/>
          </a:xfrm>
          <a:prstGeom prst="triangle">
            <a:avLst/>
          </a:prstGeom>
          <a:solidFill>
            <a:srgbClr val="E0E9C9"/>
          </a:solidFill>
        </p:spPr>
      </p:sp>
      <p:sp>
        <p:nvSpPr>
          <p:cNvPr id="22" name="Text 19"/>
          <p:cNvSpPr/>
          <p:nvPr/>
        </p:nvSpPr>
        <p:spPr>
          <a:xfrm rot="5400000">
            <a:off x="5532120" y="353968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0"/>
          <p:cNvSpPr/>
          <p:nvPr/>
        </p:nvSpPr>
        <p:spPr>
          <a:xfrm rot="5400000">
            <a:off x="5645047" y="3652504"/>
            <a:ext cx="293611" cy="293331"/>
          </a:xfrm>
          <a:prstGeom prst="triangle">
            <a:avLst/>
          </a:prstGeom>
          <a:solidFill>
            <a:srgbClr val="5E927D"/>
          </a:solidFill>
        </p:spPr>
      </p:sp>
      <p:sp>
        <p:nvSpPr>
          <p:cNvPr id="24" name="Text 21"/>
          <p:cNvSpPr/>
          <p:nvPr/>
        </p:nvSpPr>
        <p:spPr>
          <a:xfrm rot="5400000">
            <a:off x="5645047" y="365250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Text 22"/>
          <p:cNvSpPr/>
          <p:nvPr>
            <p:custDataLst>
              <p:tags r:id="rId6"/>
            </p:custDataLst>
          </p:nvPr>
        </p:nvSpPr>
        <p:spPr>
          <a:xfrm>
            <a:off x="6018837" y="3510915"/>
            <a:ext cx="686598" cy="460375"/>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03</a:t>
            </a:r>
            <a:endParaRPr lang="en-US" sz="1600" dirty="0"/>
          </a:p>
        </p:txBody>
      </p:sp>
      <p:sp>
        <p:nvSpPr>
          <p:cNvPr id="26" name="Text 23"/>
          <p:cNvSpPr/>
          <p:nvPr>
            <p:custDataLst>
              <p:tags r:id="rId7"/>
            </p:custDataLst>
          </p:nvPr>
        </p:nvSpPr>
        <p:spPr>
          <a:xfrm>
            <a:off x="6662522" y="3538556"/>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Case Studies and Applications</a:t>
            </a:r>
            <a:endParaRPr lang="en-US" sz="1600" dirty="0"/>
          </a:p>
        </p:txBody>
      </p:sp>
      <p:sp>
        <p:nvSpPr>
          <p:cNvPr id="27" name="Shape 24"/>
          <p:cNvSpPr/>
          <p:nvPr/>
        </p:nvSpPr>
        <p:spPr>
          <a:xfrm rot="5400000">
            <a:off x="5532120" y="4167699"/>
            <a:ext cx="293611" cy="293331"/>
          </a:xfrm>
          <a:prstGeom prst="triangle">
            <a:avLst/>
          </a:prstGeom>
          <a:solidFill>
            <a:srgbClr val="E0E9C9"/>
          </a:solidFill>
        </p:spPr>
      </p:sp>
      <p:sp>
        <p:nvSpPr>
          <p:cNvPr id="28" name="Text 25"/>
          <p:cNvSpPr/>
          <p:nvPr/>
        </p:nvSpPr>
        <p:spPr>
          <a:xfrm rot="5400000">
            <a:off x="5532120" y="416769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6"/>
          <p:cNvSpPr/>
          <p:nvPr/>
        </p:nvSpPr>
        <p:spPr>
          <a:xfrm rot="5400000">
            <a:off x="5645047" y="4280519"/>
            <a:ext cx="293611" cy="293331"/>
          </a:xfrm>
          <a:prstGeom prst="triangle">
            <a:avLst/>
          </a:prstGeom>
          <a:solidFill>
            <a:srgbClr val="5E927D"/>
          </a:solidFill>
        </p:spPr>
      </p:sp>
      <p:sp>
        <p:nvSpPr>
          <p:cNvPr id="30" name="Text 27"/>
          <p:cNvSpPr/>
          <p:nvPr/>
        </p:nvSpPr>
        <p:spPr>
          <a:xfrm rot="5400000">
            <a:off x="5645047" y="428051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Text 28"/>
          <p:cNvSpPr/>
          <p:nvPr>
            <p:custDataLst>
              <p:tags r:id="rId8"/>
            </p:custDataLst>
          </p:nvPr>
        </p:nvSpPr>
        <p:spPr>
          <a:xfrm>
            <a:off x="6018837" y="4138930"/>
            <a:ext cx="686598" cy="460375"/>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04</a:t>
            </a:r>
            <a:endParaRPr lang="en-US" sz="1600" dirty="0"/>
          </a:p>
        </p:txBody>
      </p:sp>
      <p:sp>
        <p:nvSpPr>
          <p:cNvPr id="32" name="Text 29"/>
          <p:cNvSpPr/>
          <p:nvPr>
            <p:custDataLst>
              <p:tags r:id="rId9"/>
            </p:custDataLst>
          </p:nvPr>
        </p:nvSpPr>
        <p:spPr>
          <a:xfrm>
            <a:off x="6662522" y="4166571"/>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Challenges and Future Directions</a:t>
            </a:r>
            <a:endParaRPr lang="en-US" sz="1600" dirty="0"/>
          </a:p>
        </p:txBody>
      </p:sp>
      <p:sp>
        <p:nvSpPr>
          <p:cNvPr id="33" name="Shape 30"/>
          <p:cNvSpPr/>
          <p:nvPr/>
        </p:nvSpPr>
        <p:spPr>
          <a:xfrm rot="5400000">
            <a:off x="5532120" y="4835084"/>
            <a:ext cx="293611" cy="293331"/>
          </a:xfrm>
          <a:prstGeom prst="triangle">
            <a:avLst/>
          </a:prstGeom>
          <a:solidFill>
            <a:srgbClr val="E0E9C9"/>
          </a:solidFill>
        </p:spPr>
      </p:sp>
      <p:sp>
        <p:nvSpPr>
          <p:cNvPr id="34" name="Text 31"/>
          <p:cNvSpPr/>
          <p:nvPr/>
        </p:nvSpPr>
        <p:spPr>
          <a:xfrm rot="5400000">
            <a:off x="5532120" y="483508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5" name="Shape 32"/>
          <p:cNvSpPr/>
          <p:nvPr/>
        </p:nvSpPr>
        <p:spPr>
          <a:xfrm rot="5400000">
            <a:off x="5645047" y="4947904"/>
            <a:ext cx="293611" cy="293331"/>
          </a:xfrm>
          <a:prstGeom prst="triangle">
            <a:avLst/>
          </a:prstGeom>
          <a:solidFill>
            <a:srgbClr val="5E927D"/>
          </a:solidFill>
        </p:spPr>
      </p:sp>
      <p:sp>
        <p:nvSpPr>
          <p:cNvPr id="36" name="Text 33"/>
          <p:cNvSpPr/>
          <p:nvPr/>
        </p:nvSpPr>
        <p:spPr>
          <a:xfrm rot="5400000">
            <a:off x="5645047" y="494790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Text 34"/>
          <p:cNvSpPr/>
          <p:nvPr>
            <p:custDataLst>
              <p:tags r:id="rId10"/>
            </p:custDataLst>
          </p:nvPr>
        </p:nvSpPr>
        <p:spPr>
          <a:xfrm>
            <a:off x="6018837" y="4806315"/>
            <a:ext cx="686598" cy="460375"/>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05</a:t>
            </a:r>
            <a:endParaRPr lang="en-US" sz="1600" dirty="0"/>
          </a:p>
        </p:txBody>
      </p:sp>
      <p:sp>
        <p:nvSpPr>
          <p:cNvPr id="38" name="Text 35"/>
          <p:cNvSpPr/>
          <p:nvPr>
            <p:custDataLst>
              <p:tags r:id="rId11"/>
            </p:custDataLst>
          </p:nvPr>
        </p:nvSpPr>
        <p:spPr>
          <a:xfrm>
            <a:off x="6662522" y="4833956"/>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Conclusion</a:t>
            </a:r>
            <a:endParaRPr lang="en-US" sz="1600" dirty="0"/>
          </a:p>
        </p:txBody>
      </p:sp>
      <p:sp>
        <p:nvSpPr>
          <p:cNvPr id="39" name="Text 36"/>
          <p:cNvSpPr/>
          <p:nvPr/>
        </p:nvSpPr>
        <p:spPr>
          <a:xfrm>
            <a:off x="5407025" y="458470"/>
            <a:ext cx="3513455" cy="1289050"/>
          </a:xfrm>
          <a:prstGeom prst="rect">
            <a:avLst/>
          </a:prstGeom>
          <a:noFill/>
        </p:spPr>
        <p:txBody>
          <a:bodyPr wrap="square" lIns="91440" tIns="45720" rIns="91440" bIns="45720" rtlCol="0" anchor="t">
            <a:spAutoFit/>
          </a:bodyPr>
          <a:lstStyle/>
          <a:p>
            <a:pPr marL="0" indent="0" algn="l">
              <a:lnSpc>
                <a:spcPct val="100000"/>
              </a:lnSpc>
              <a:buNone/>
            </a:pPr>
            <a:r>
              <a:rPr lang="en-US" sz="4800" b="1" dirty="0">
                <a:solidFill>
                  <a:srgbClr val="000000"/>
                </a:solidFill>
                <a:latin typeface="MiSans" pitchFamily="34" charset="-122"/>
                <a:ea typeface="MiSans" pitchFamily="34" charset="-122"/>
                <a:cs typeface="MiSans" pitchFamily="34" charset="-120"/>
              </a:rPr>
              <a:t>目录</a:t>
            </a:r>
            <a:r>
              <a:rPr lang="en-US" sz="4800" b="1" dirty="0">
                <a:solidFill>
                  <a:srgbClr val="000000"/>
                </a:solidFill>
                <a:latin typeface="MiSans" pitchFamily="34" charset="-122"/>
                <a:ea typeface="MiSans" pitchFamily="34" charset="-122"/>
                <a:cs typeface="MiSans" pitchFamily="34" charset="-120"/>
              </a:rPr>
              <a:t> </a:t>
            </a:r>
            <a:endParaRPr lang="en-US" sz="1600" dirty="0"/>
          </a:p>
          <a:p>
            <a:pPr marL="0" indent="0" algn="l">
              <a:lnSpc>
                <a:spcPct val="100000"/>
              </a:lnSpc>
              <a:buNone/>
            </a:pPr>
            <a:r>
              <a:rPr lang="en-US" sz="3600" b="1" dirty="0">
                <a:solidFill>
                  <a:srgbClr val="000000">
                    <a:alpha val="27843"/>
                  </a:srgbClr>
                </a:solidFill>
                <a:latin typeface="MiSans" pitchFamily="34" charset="-122"/>
                <a:ea typeface="MiSans" pitchFamily="34" charset="-122"/>
                <a:cs typeface="MiSans" pitchFamily="34" charset="-120"/>
              </a:rPr>
              <a:t>CONTENTS</a:t>
            </a:r>
            <a:r>
              <a:rPr lang="en-US" sz="3600" b="1" dirty="0">
                <a:solidFill>
                  <a:srgbClr val="000000"/>
                </a:solidFill>
                <a:latin typeface="MiSans" pitchFamily="34" charset="-122"/>
                <a:ea typeface="MiSans" pitchFamily="34" charset="-122"/>
                <a:cs typeface="MiSans" pitchFamily="34" charset="-120"/>
              </a:rPr>
              <a:t>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01</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Introduction to Quantum Computing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Basic Principles of Quantum Computing</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683635" y="1413510"/>
            <a:ext cx="8143875" cy="4763135"/>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38600" y="3180715"/>
            <a:ext cx="7560310" cy="0"/>
          </a:xfrm>
          <a:prstGeom prst="line">
            <a:avLst/>
          </a:prstGeom>
          <a:noFill/>
          <a:ln w="12700">
            <a:solidFill>
              <a:srgbClr val="9FB26A"/>
            </a:solidFill>
            <a:prstDash val="dash"/>
            <a:headEnd type="none"/>
            <a:tailEnd type="none"/>
          </a:ln>
        </p:spPr>
      </p:sp>
      <p:sp>
        <p:nvSpPr>
          <p:cNvPr id="17" name="Shape 14"/>
          <p:cNvSpPr/>
          <p:nvPr/>
        </p:nvSpPr>
        <p:spPr>
          <a:xfrm>
            <a:off x="4094480" y="4662805"/>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Quantum Bits and Superposition</a:t>
            </a:r>
            <a:endParaRPr lang="en-US" sz="1600" dirty="0"/>
          </a:p>
        </p:txBody>
      </p:sp>
      <p:sp>
        <p:nvSpPr>
          <p:cNvPr id="19" name="Text 16"/>
          <p:cNvSpPr/>
          <p:nvPr/>
        </p:nvSpPr>
        <p:spPr>
          <a:xfrm>
            <a:off x="4038600" y="195834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bits, or qubits, can exist in superposition states, allowing quantum computers to process vast amounts of data simultaneously. This enables parallel processing capabilities far beyond classical computers. For example, a system with just 300 qubits can represent more states than there are atoms in the observable universe.</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Quantum Entanglement and Its Applications</a:t>
            </a:r>
            <a:endParaRPr lang="en-US" sz="1600" dirty="0"/>
          </a:p>
        </p:txBody>
      </p:sp>
      <p:sp>
        <p:nvSpPr>
          <p:cNvPr id="21" name="Text 18"/>
          <p:cNvSpPr/>
          <p:nvPr/>
        </p:nvSpPr>
        <p:spPr>
          <a:xfrm>
            <a:off x="4067175" y="351917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entanglement allows qubits to be interconnected regardless of distance, enabling instantaneous communication and correlation. This property is crucial for quantum computing and is used in applications like quantum cryptography to create secure communication channels.</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Quantum Gates and Circuits</a:t>
            </a:r>
            <a:endParaRPr lang="en-US" sz="1600" dirty="0"/>
          </a:p>
        </p:txBody>
      </p:sp>
      <p:sp>
        <p:nvSpPr>
          <p:cNvPr id="23" name="Text 20"/>
          <p:cNvSpPr/>
          <p:nvPr/>
        </p:nvSpPr>
        <p:spPr>
          <a:xfrm>
            <a:off x="4038600" y="500126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gates are the building blocks of quantum circuits, manipulating qubits through specific operations. These gates enable the implementation of complex quantum algorithms, such as the quantum Fourier transform, which achieves exponential speedup over classical algorithms.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Timeline of Quantum Mechanics Milestones</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文本框 24"/>
          <p:cNvSpPr txBox="1"/>
          <p:nvPr/>
        </p:nvSpPr>
        <p:spPr>
          <a:xfrm>
            <a:off x="853440" y="4632325"/>
            <a:ext cx="5080000" cy="260350"/>
          </a:xfrm>
          <a:prstGeom prst="rect">
            <a:avLst/>
          </a:prstGeom>
        </p:spPr>
        <p:txBody>
          <a:bodyPr>
            <a:spAutoFit/>
          </a:bodyPr>
          <a:p>
            <a:pPr marL="0" indent="0" algn="just" defTabSz="266700">
              <a:spcBef>
                <a:spcPct val="0"/>
              </a:spcBef>
              <a:spcAft>
                <a:spcPct val="0"/>
              </a:spcAft>
            </a:pPr>
            <a:r>
              <a:rPr lang="en-US" altLang="zh-CN" sz="1100">
                <a:latin typeface="Calibri" panose="020F0502020204030204"/>
                <a:ea typeface="宋体" panose="02010600030101010101" pitchFamily="2" charset="-122"/>
              </a:rPr>
              <a:t> </a:t>
            </a:r>
            <a:endParaRPr lang="en-US" altLang="zh-CN"/>
          </a:p>
        </p:txBody>
      </p:sp>
      <p:pic>
        <p:nvPicPr>
          <p:cNvPr id="13" name="图片 12"/>
          <p:cNvPicPr>
            <a:picLocks noChangeAspect="1"/>
          </p:cNvPicPr>
          <p:nvPr/>
        </p:nvPicPr>
        <p:blipFill>
          <a:blip r:embed="rId1"/>
          <a:stretch>
            <a:fillRect/>
          </a:stretch>
        </p:blipFill>
        <p:spPr>
          <a:xfrm>
            <a:off x="2754630" y="930910"/>
            <a:ext cx="7164070" cy="53803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Qubit</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文本框 23"/>
          <p:cNvSpPr txBox="1"/>
          <p:nvPr/>
        </p:nvSpPr>
        <p:spPr>
          <a:xfrm>
            <a:off x="1561465" y="1053465"/>
            <a:ext cx="9535795" cy="4485640"/>
          </a:xfrm>
          <a:prstGeom prst="rect">
            <a:avLst/>
          </a:prstGeom>
        </p:spPr>
        <p:txBody>
          <a:bodyPr>
            <a:noAutofit/>
          </a:bodyPr>
          <a:p>
            <a:pPr marL="0" indent="0">
              <a:lnSpc>
                <a:spcPts val="1400"/>
              </a:lnSpc>
              <a:spcBef>
                <a:spcPts val="400"/>
              </a:spcBef>
              <a:spcAft>
                <a:spcPts val="400"/>
              </a:spcAft>
              <a:buAutoNum type="arabicPeriod"/>
            </a:pPr>
            <a:r>
              <a:rPr lang="en-US" sz="1600" b="1" i="0" dirty="0">
                <a:solidFill>
                  <a:srgbClr val="333333"/>
                </a:solidFill>
                <a:latin typeface="MiSans" pitchFamily="34" charset="-122"/>
                <a:ea typeface="MiSans" pitchFamily="34" charset="-122"/>
                <a:cs typeface="MiSans" pitchFamily="34" charset="-120"/>
              </a:rPr>
              <a:t>Superposition</a:t>
            </a:r>
            <a:endParaRPr lang="en-US" sz="1600" b="1" i="0" dirty="0">
              <a:solidFill>
                <a:srgbClr val="333333"/>
              </a:solidFill>
              <a:latin typeface="MiSans" pitchFamily="34" charset="-122"/>
              <a:ea typeface="MiSans" pitchFamily="34" charset="-122"/>
              <a:cs typeface="MiSans" pitchFamily="34" charset="-120"/>
            </a:endParaRPr>
          </a:p>
          <a:p>
            <a:pPr marL="0" indent="0">
              <a:lnSpc>
                <a:spcPts val="1400"/>
              </a:lnSpc>
              <a:spcBef>
                <a:spcPts val="400"/>
              </a:spcBef>
              <a:spcAft>
                <a:spcPts val="400"/>
              </a:spcAft>
            </a:pPr>
            <a:r>
              <a:rPr lang="en-US" sz="1400" b="0" i="0" dirty="0">
                <a:solidFill>
                  <a:srgbClr val="2B2F36"/>
                </a:solidFill>
                <a:latin typeface="MiSans" pitchFamily="34" charset="-122"/>
                <a:ea typeface="MiSans" pitchFamily="34" charset="-122"/>
                <a:cs typeface="MiSans" pitchFamily="34" charset="-120"/>
              </a:rPr>
              <a:t>A qubit is the basic information unit of a quantum computer. Unlike a bit in classical computing, it can simultaneously exist in a superposition state of both 0 and 1.</a:t>
            </a:r>
            <a:endParaRPr lang="en-US" sz="1400" b="0" i="0" dirty="0">
              <a:solidFill>
                <a:srgbClr val="2B2F36"/>
              </a:solidFill>
              <a:latin typeface="MiSans" pitchFamily="34" charset="-122"/>
              <a:ea typeface="MiSans" pitchFamily="34" charset="-122"/>
              <a:cs typeface="MiSans" pitchFamily="34" charset="-120"/>
            </a:endParaRPr>
          </a:p>
          <a:p>
            <a:pPr marL="0" indent="0" algn="l">
              <a:lnSpc>
                <a:spcPts val="1400"/>
              </a:lnSpc>
              <a:spcBef>
                <a:spcPts val="400"/>
              </a:spcBef>
              <a:spcAft>
                <a:spcPts val="400"/>
              </a:spcAft>
              <a:buClrTx/>
              <a:buSzTx/>
              <a:buFontTx/>
              <a:buNone/>
            </a:pPr>
            <a:r>
              <a:rPr lang="en-US" sz="1600" b="1" i="0" dirty="0">
                <a:solidFill>
                  <a:srgbClr val="333333"/>
                </a:solidFill>
                <a:latin typeface="MiSans" pitchFamily="34" charset="-122"/>
                <a:ea typeface="MiSans" pitchFamily="34" charset="-122"/>
                <a:cs typeface="MiSans" pitchFamily="34" charset="-120"/>
              </a:rPr>
              <a:t>2.Wavefunction and Measurement</a:t>
            </a:r>
            <a:endParaRPr lang="en-US" sz="1600" b="1" i="0" dirty="0">
              <a:solidFill>
                <a:srgbClr val="333333"/>
              </a:solidFill>
              <a:latin typeface="MiSans" pitchFamily="34" charset="-122"/>
              <a:ea typeface="MiSans" pitchFamily="34" charset="-122"/>
              <a:cs typeface="MiSans" pitchFamily="34" charset="-120"/>
            </a:endParaRPr>
          </a:p>
          <a:p>
            <a:pPr marL="0" indent="0">
              <a:lnSpc>
                <a:spcPts val="1400"/>
              </a:lnSpc>
              <a:spcBef>
                <a:spcPts val="400"/>
              </a:spcBef>
              <a:spcAft>
                <a:spcPts val="400"/>
              </a:spcAft>
            </a:pPr>
            <a:r>
              <a:rPr lang="en-US" sz="1400" i="0" dirty="0">
                <a:solidFill>
                  <a:srgbClr val="2B2F36"/>
                </a:solidFill>
                <a:latin typeface="MiSans" pitchFamily="34" charset="-122"/>
                <a:ea typeface="MiSans" pitchFamily="34" charset="-122"/>
                <a:cs typeface="MiSans" pitchFamily="34" charset="-120"/>
              </a:rPr>
              <a:t>The state of a qubit is described by a wavefunction. Its specific state can be determined through measurement.</a:t>
            </a:r>
            <a:endParaRPr lang="en-US" sz="1400" b="0" i="0" dirty="0">
              <a:solidFill>
                <a:srgbClr val="2B2F36"/>
              </a:solidFill>
              <a:latin typeface="MiSans" pitchFamily="34" charset="-122"/>
              <a:ea typeface="MiSans" pitchFamily="34" charset="-122"/>
              <a:cs typeface="MiSans" pitchFamily="34" charset="-120"/>
            </a:endParaRPr>
          </a:p>
          <a:p>
            <a:pPr marL="0" indent="0" algn="l">
              <a:lnSpc>
                <a:spcPts val="1400"/>
              </a:lnSpc>
              <a:spcBef>
                <a:spcPts val="400"/>
              </a:spcBef>
              <a:spcAft>
                <a:spcPts val="400"/>
              </a:spcAft>
              <a:buClrTx/>
              <a:buSzTx/>
              <a:buFontTx/>
              <a:buNone/>
            </a:pPr>
            <a:r>
              <a:rPr lang="en-US" sz="1600" b="1" i="0" dirty="0">
                <a:solidFill>
                  <a:srgbClr val="333333"/>
                </a:solidFill>
                <a:latin typeface="MiSans" pitchFamily="34" charset="-122"/>
                <a:ea typeface="MiSans" pitchFamily="34" charset="-122"/>
                <a:cs typeface="MiSans" pitchFamily="34" charset="-120"/>
              </a:rPr>
              <a:t>3.Coherence</a:t>
            </a:r>
            <a:endParaRPr lang="en-US" sz="1600" b="1" i="0" dirty="0">
              <a:solidFill>
                <a:srgbClr val="333333"/>
              </a:solidFill>
              <a:latin typeface="MiSans" pitchFamily="34" charset="-122"/>
              <a:ea typeface="MiSans" pitchFamily="34" charset="-122"/>
              <a:cs typeface="MiSans" pitchFamily="34" charset="-120"/>
            </a:endParaRPr>
          </a:p>
          <a:p>
            <a:pPr marL="0" indent="0">
              <a:lnSpc>
                <a:spcPts val="1400"/>
              </a:lnSpc>
              <a:spcBef>
                <a:spcPts val="400"/>
              </a:spcBef>
              <a:spcAft>
                <a:spcPts val="400"/>
              </a:spcAft>
            </a:pPr>
            <a:r>
              <a:rPr lang="en-US" sz="1400" b="0" i="0" dirty="0">
                <a:solidFill>
                  <a:srgbClr val="2B2F36"/>
                </a:solidFill>
                <a:latin typeface="MiSans" pitchFamily="34" charset="-122"/>
                <a:ea typeface="MiSans" pitchFamily="34" charset="-122"/>
                <a:cs typeface="MiSans" pitchFamily="34" charset="-120"/>
              </a:rPr>
              <a:t>Qubits exhibit coherence—they can maintain their superposition state for a relatively long time and are less prone to external interference.</a:t>
            </a:r>
            <a:endParaRPr lang="en-US" sz="1400" b="0" i="0" dirty="0">
              <a:solidFill>
                <a:srgbClr val="2B2F36"/>
              </a:solidFill>
              <a:latin typeface="MiSans" pitchFamily="34" charset="-122"/>
              <a:ea typeface="MiSans" pitchFamily="34" charset="-122"/>
              <a:cs typeface="MiSans" pitchFamily="34" charset="-120"/>
            </a:endParaRPr>
          </a:p>
          <a:p>
            <a:pPr marL="0" indent="0" algn="l">
              <a:lnSpc>
                <a:spcPts val="1400"/>
              </a:lnSpc>
              <a:spcBef>
                <a:spcPts val="400"/>
              </a:spcBef>
              <a:spcAft>
                <a:spcPts val="400"/>
              </a:spcAft>
              <a:buClrTx/>
              <a:buSzTx/>
              <a:buFontTx/>
              <a:buNone/>
            </a:pPr>
            <a:r>
              <a:rPr lang="en-US" sz="1600" b="1" i="0" dirty="0">
                <a:solidFill>
                  <a:srgbClr val="333333"/>
                </a:solidFill>
                <a:latin typeface="MiSans" pitchFamily="34" charset="-122"/>
                <a:ea typeface="MiSans" pitchFamily="34" charset="-122"/>
                <a:cs typeface="MiSans" pitchFamily="34" charset="-120"/>
              </a:rPr>
              <a:t>4.Entanglement</a:t>
            </a:r>
            <a:endParaRPr lang="en-US" sz="1600" b="1" i="0" dirty="0">
              <a:solidFill>
                <a:srgbClr val="333333"/>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FontTx/>
            </a:pPr>
            <a:r>
              <a:rPr lang="en-US" sz="1400" b="0" i="0" dirty="0">
                <a:solidFill>
                  <a:srgbClr val="2B2F36"/>
                </a:solidFill>
                <a:latin typeface="MiSans" pitchFamily="34" charset="-122"/>
                <a:ea typeface="MiSans" pitchFamily="34" charset="-122"/>
                <a:cs typeface="MiSans" pitchFamily="34" charset="-120"/>
              </a:rPr>
              <a:t>Qubits exhibit entanglement—a special correlation can exist between two or more qubits, making their states mutually dependent.</a:t>
            </a:r>
            <a:endParaRPr lang="en-US" sz="1400" b="0" i="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a:t>
            </a:r>
            <a:r>
              <a:rPr lang="en-US" altLang="zh-CN" sz="2800" b="1" dirty="0">
                <a:solidFill>
                  <a:srgbClr val="2F493E"/>
                </a:solidFill>
                <a:latin typeface="MiSans" pitchFamily="34" charset="-122"/>
                <a:ea typeface="MiSans" pitchFamily="34" charset="-122"/>
                <a:cs typeface="MiSans" pitchFamily="34" charset="-120"/>
              </a:rPr>
              <a:t>uantum Superposition and Quantum Entanglement</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文本框 23"/>
          <p:cNvSpPr txBox="1"/>
          <p:nvPr/>
        </p:nvSpPr>
        <p:spPr>
          <a:xfrm>
            <a:off x="1561465" y="1053465"/>
            <a:ext cx="9535795" cy="4485640"/>
          </a:xfrm>
          <a:prstGeom prst="rect">
            <a:avLst/>
          </a:prstGeom>
        </p:spPr>
        <p:txBody>
          <a:bodyPr>
            <a:noAutofit/>
          </a:bodyPr>
          <a:p>
            <a:pPr marL="0" indent="0">
              <a:lnSpc>
                <a:spcPts val="1400"/>
              </a:lnSpc>
              <a:spcBef>
                <a:spcPts val="400"/>
              </a:spcBef>
              <a:spcAft>
                <a:spcPts val="400"/>
              </a:spcAft>
              <a:buAutoNum type="arabicPeriod"/>
            </a:pPr>
            <a:r>
              <a:rPr lang="en-US" altLang="zh-CN" sz="1600" b="0" i="0" dirty="0">
                <a:solidFill>
                  <a:srgbClr val="2B2F36"/>
                </a:solidFill>
                <a:latin typeface="MiSans" pitchFamily="34" charset="-122"/>
                <a:ea typeface="MiSans" pitchFamily="34" charset="-122"/>
                <a:cs typeface="MiSans" pitchFamily="34" charset="-120"/>
              </a:rPr>
              <a:t>Quantum Superposition</a:t>
            </a:r>
            <a:endParaRPr lang="en-US" altLang="zh-CN" sz="16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400" b="0" i="0" dirty="0">
                <a:solidFill>
                  <a:srgbClr val="2B2F36"/>
                </a:solidFill>
                <a:latin typeface="MiSans" pitchFamily="34" charset="-122"/>
                <a:ea typeface="MiSans" pitchFamily="34" charset="-122"/>
                <a:cs typeface="MiSans" pitchFamily="34" charset="-120"/>
              </a:rPr>
              <a:t>A qubit can simultaneously exist in a superposition state of both 0 and 1. This state is called quantum superposition.</a:t>
            </a: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600" b="0" i="0" dirty="0">
                <a:solidFill>
                  <a:srgbClr val="2B2F36"/>
                </a:solidFill>
                <a:latin typeface="MiSans" pitchFamily="34" charset="-122"/>
                <a:ea typeface="MiSans" pitchFamily="34" charset="-122"/>
                <a:cs typeface="MiSans" pitchFamily="34" charset="-120"/>
              </a:rPr>
              <a:t>2.Quantum Entanglement in Quantum Computing</a:t>
            </a:r>
            <a:endParaRPr lang="en-US" altLang="zh-CN" sz="16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6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400" b="0" i="0" dirty="0">
                <a:solidFill>
                  <a:srgbClr val="2B2F36"/>
                </a:solidFill>
                <a:latin typeface="MiSans" pitchFamily="34" charset="-122"/>
                <a:ea typeface="MiSans" pitchFamily="34" charset="-122"/>
                <a:cs typeface="MiSans" pitchFamily="34" charset="-120"/>
              </a:rPr>
              <a:t>Quantum entanglement is one of the key properties in quantum computing. It enables parallel computation, thereby increasing the computational speed of quantum computers.</a:t>
            </a: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600" b="0" i="0" dirty="0">
                <a:solidFill>
                  <a:srgbClr val="2B2F36"/>
                </a:solidFill>
                <a:latin typeface="MiSans" pitchFamily="34" charset="-122"/>
                <a:ea typeface="MiSans" pitchFamily="34" charset="-122"/>
                <a:cs typeface="MiSans" pitchFamily="34" charset="-120"/>
              </a:rPr>
              <a:t>3.Definition of Quantum Entanglement</a:t>
            </a:r>
            <a:endParaRPr lang="en-US" altLang="zh-CN" sz="16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6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400" b="0" i="0" dirty="0">
                <a:solidFill>
                  <a:srgbClr val="2B2F36"/>
                </a:solidFill>
                <a:latin typeface="MiSans" pitchFamily="34" charset="-122"/>
                <a:ea typeface="MiSans" pitchFamily="34" charset="-122"/>
                <a:cs typeface="MiSans" pitchFamily="34" charset="-120"/>
              </a:rPr>
              <a:t>A special correlation can exist between two or more qubits, making their states mutually dependent. This state is called quantum entanglement.</a:t>
            </a: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600" b="0" i="0" dirty="0">
                <a:solidFill>
                  <a:srgbClr val="2B2F36"/>
                </a:solidFill>
                <a:latin typeface="MiSans" pitchFamily="34" charset="-122"/>
                <a:ea typeface="MiSans" pitchFamily="34" charset="-122"/>
                <a:cs typeface="MiSans" pitchFamily="34" charset="-120"/>
              </a:rPr>
              <a:t>4.Quantum Entanglement in Quantum Communication</a:t>
            </a:r>
            <a:endParaRPr lang="en-US" altLang="zh-CN" sz="16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6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400" b="0" i="0" dirty="0">
                <a:solidFill>
                  <a:srgbClr val="2B2F36"/>
                </a:solidFill>
                <a:latin typeface="MiSans" pitchFamily="34" charset="-122"/>
                <a:ea typeface="MiSans" pitchFamily="34" charset="-122"/>
                <a:cs typeface="MiSans" pitchFamily="34" charset="-120"/>
              </a:rPr>
              <a:t>Quantum entanglement is also a crucial property in quantum communication. It enables the secure transmission of information.</a:t>
            </a:r>
            <a:endParaRPr lang="en-US" altLang="zh-CN" sz="1400" b="0" i="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Quantum Gates and Quantum Algorithms</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683635" y="1413510"/>
            <a:ext cx="8143875" cy="4763135"/>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a:off x="4016375" y="3429000"/>
            <a:ext cx="7560310" cy="0"/>
          </a:xfrm>
          <a:prstGeom prst="line">
            <a:avLst/>
          </a:prstGeom>
          <a:noFill/>
          <a:ln w="12700">
            <a:solidFill>
              <a:srgbClr val="9FB26A"/>
            </a:solidFill>
            <a:prstDash val="dash"/>
            <a:headEnd type="none"/>
            <a:tailEnd type="none"/>
          </a:ln>
        </p:spPr>
      </p:sp>
      <p:sp>
        <p:nvSpPr>
          <p:cNvPr id="20" name="Text 17"/>
          <p:cNvSpPr/>
          <p:nvPr/>
        </p:nvSpPr>
        <p:spPr>
          <a:xfrm>
            <a:off x="3875405" y="1550035"/>
            <a:ext cx="7617460" cy="398780"/>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Quantum Gates</a:t>
            </a:r>
            <a:endParaRPr lang="en-US" sz="2000" b="1" dirty="0">
              <a:solidFill>
                <a:srgbClr val="5E927D"/>
              </a:solidFill>
              <a:latin typeface="MiSans" pitchFamily="34" charset="-122"/>
              <a:ea typeface="MiSans" pitchFamily="34" charset="-122"/>
              <a:cs typeface="MiSans" pitchFamily="34" charset="-120"/>
            </a:endParaRPr>
          </a:p>
        </p:txBody>
      </p:sp>
      <p:sp>
        <p:nvSpPr>
          <p:cNvPr id="21" name="Text 18"/>
          <p:cNvSpPr/>
          <p:nvPr/>
        </p:nvSpPr>
        <p:spPr>
          <a:xfrm>
            <a:off x="3947795" y="2116455"/>
            <a:ext cx="7616190" cy="730885"/>
          </a:xfrm>
          <a:prstGeom prst="rect">
            <a:avLst/>
          </a:prstGeom>
          <a:noFill/>
        </p:spPr>
        <p:txBody>
          <a:bodyPr wrap="square" lIns="91440" tIns="45720" rIns="91440" bIns="45720" rtlCol="0" anchor="t">
            <a:spAutoFit/>
          </a:bodyPr>
          <a:lstStyle/>
          <a:p>
            <a:pPr marL="0" indent="0" algn="just">
              <a:lnSpc>
                <a:spcPct val="130000"/>
              </a:lnSpc>
              <a:buNone/>
            </a:pPr>
            <a:r>
              <a:rPr lang="en-US" altLang="zh-CN" sz="1600" dirty="0"/>
              <a:t>Quantum gates are the basic operations in quantum computing, analogous to logic gates in classical computers. They can act on qubits and alter their states.</a:t>
            </a:r>
            <a:endParaRPr lang="en-US" altLang="zh-CN" sz="1600" dirty="0"/>
          </a:p>
        </p:txBody>
      </p:sp>
      <p:sp>
        <p:nvSpPr>
          <p:cNvPr id="22" name="Text 19"/>
          <p:cNvSpPr/>
          <p:nvPr/>
        </p:nvSpPr>
        <p:spPr>
          <a:xfrm>
            <a:off x="3946525" y="3547110"/>
            <a:ext cx="7617460" cy="398780"/>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Quantum Algorithms</a:t>
            </a:r>
            <a:endParaRPr lang="en-US" sz="2000" b="1" dirty="0">
              <a:solidFill>
                <a:srgbClr val="5E927D"/>
              </a:solidFill>
              <a:latin typeface="MiSans" pitchFamily="34" charset="-122"/>
              <a:ea typeface="MiSans" pitchFamily="34" charset="-122"/>
              <a:cs typeface="MiSans" pitchFamily="34" charset="-120"/>
            </a:endParaRPr>
          </a:p>
        </p:txBody>
      </p:sp>
      <p:sp>
        <p:nvSpPr>
          <p:cNvPr id="23" name="Text 20"/>
          <p:cNvSpPr/>
          <p:nvPr/>
        </p:nvSpPr>
        <p:spPr>
          <a:xfrm>
            <a:off x="4016375" y="4140835"/>
            <a:ext cx="7616190" cy="1691005"/>
          </a:xfrm>
          <a:prstGeom prst="rect">
            <a:avLst/>
          </a:prstGeom>
          <a:noFill/>
        </p:spPr>
        <p:txBody>
          <a:bodyPr wrap="square" lIns="91440" tIns="45720" rIns="91440" bIns="45720" rtlCol="0" anchor="t">
            <a:spAutoFit/>
          </a:bodyPr>
          <a:lstStyle/>
          <a:p>
            <a:pPr marL="0" indent="0" algn="just">
              <a:lnSpc>
                <a:spcPct val="130000"/>
              </a:lnSpc>
              <a:buNone/>
            </a:pPr>
            <a:r>
              <a:rPr lang="en-US" altLang="zh-CN" sz="1600" dirty="0"/>
              <a:t>Quantum algorithms are computational methods leveraging the principles of quantum mechanics. They can solve problems that classical computers struggle to tackle. For example:</a:t>
            </a:r>
            <a:endParaRPr lang="en-US" altLang="zh-CN" sz="1600" dirty="0"/>
          </a:p>
          <a:p>
            <a:pPr marL="0" indent="0" algn="just">
              <a:lnSpc>
                <a:spcPct val="130000"/>
              </a:lnSpc>
              <a:buNone/>
            </a:pPr>
            <a:r>
              <a:rPr lang="en-US" altLang="zh-CN" sz="1600" dirty="0"/>
              <a:t>Shor’s Algorithm: Rapidly factors prime numbers.</a:t>
            </a:r>
            <a:endParaRPr lang="en-US" altLang="zh-CN" sz="1600" dirty="0"/>
          </a:p>
          <a:p>
            <a:pPr marL="0" indent="0" algn="just">
              <a:lnSpc>
                <a:spcPct val="130000"/>
              </a:lnSpc>
              <a:buNone/>
            </a:pPr>
            <a:r>
              <a:rPr lang="en-US" altLang="zh-CN" sz="1600" dirty="0"/>
              <a:t>Grover’s Algorithm: Accelerates searches in unstructured databases</a:t>
            </a:r>
            <a:endParaRPr lang="en-US" altLang="zh-CN"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The Development of Quantum Algorithms</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8" name="图片 17"/>
          <p:cNvPicPr>
            <a:picLocks noChangeAspect="1"/>
          </p:cNvPicPr>
          <p:nvPr/>
        </p:nvPicPr>
        <p:blipFill>
          <a:blip r:embed="rId1"/>
          <a:stretch>
            <a:fillRect/>
          </a:stretch>
        </p:blipFill>
        <p:spPr>
          <a:xfrm>
            <a:off x="1836420" y="1188720"/>
            <a:ext cx="9190355" cy="40525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a:t>
            </a:r>
            <a:r>
              <a:rPr lang="en-US" altLang="zh-CN" sz="2800" b="1" dirty="0">
                <a:solidFill>
                  <a:srgbClr val="2F493E"/>
                </a:solidFill>
                <a:latin typeface="MiSans" pitchFamily="34" charset="-122"/>
                <a:ea typeface="MiSans" pitchFamily="34" charset="-122"/>
                <a:cs typeface="MiSans" pitchFamily="34" charset="-120"/>
              </a:rPr>
              <a:t>uantum Error Correction and Fault Tolerance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683635" y="1413510"/>
            <a:ext cx="8143875" cy="4763135"/>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a:off x="4016375" y="3429000"/>
            <a:ext cx="7560310" cy="0"/>
          </a:xfrm>
          <a:prstGeom prst="line">
            <a:avLst/>
          </a:prstGeom>
          <a:noFill/>
          <a:ln w="12700">
            <a:solidFill>
              <a:srgbClr val="9FB26A"/>
            </a:solidFill>
            <a:prstDash val="dash"/>
            <a:headEnd type="none"/>
            <a:tailEnd type="none"/>
          </a:ln>
        </p:spPr>
      </p:sp>
      <p:sp>
        <p:nvSpPr>
          <p:cNvPr id="20" name="Text 17"/>
          <p:cNvSpPr/>
          <p:nvPr/>
        </p:nvSpPr>
        <p:spPr>
          <a:xfrm>
            <a:off x="3875405" y="1550035"/>
            <a:ext cx="7617460" cy="398780"/>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a:t>
            </a:r>
            <a:r>
              <a:rPr lang="en-US" altLang="zh-CN" sz="2000" b="1" dirty="0">
                <a:solidFill>
                  <a:srgbClr val="5E927D"/>
                </a:solidFill>
                <a:latin typeface="MiSans" pitchFamily="34" charset="-122"/>
                <a:ea typeface="MiSans" pitchFamily="34" charset="-122"/>
                <a:cs typeface="MiSans" pitchFamily="34" charset="-120"/>
              </a:rPr>
              <a:t>uantum Error Correction</a:t>
            </a:r>
            <a:endParaRPr lang="en-US" altLang="zh-CN" sz="2000" b="1" dirty="0">
              <a:solidFill>
                <a:srgbClr val="5E927D"/>
              </a:solidFill>
              <a:latin typeface="MiSans" pitchFamily="34" charset="-122"/>
              <a:ea typeface="MiSans" pitchFamily="34" charset="-122"/>
              <a:cs typeface="MiSans" pitchFamily="34" charset="-120"/>
            </a:endParaRPr>
          </a:p>
        </p:txBody>
      </p:sp>
      <p:sp>
        <p:nvSpPr>
          <p:cNvPr id="21" name="Text 18"/>
          <p:cNvSpPr/>
          <p:nvPr/>
        </p:nvSpPr>
        <p:spPr>
          <a:xfrm>
            <a:off x="3947795" y="2116455"/>
            <a:ext cx="7616190" cy="1370965"/>
          </a:xfrm>
          <a:prstGeom prst="rect">
            <a:avLst/>
          </a:prstGeom>
          <a:noFill/>
        </p:spPr>
        <p:txBody>
          <a:bodyPr wrap="square" lIns="91440" tIns="45720" rIns="91440" bIns="45720" rtlCol="0" anchor="t">
            <a:spAutoFit/>
          </a:bodyPr>
          <a:lstStyle/>
          <a:p>
            <a:pPr marL="0" indent="0" algn="just">
              <a:lnSpc>
                <a:spcPct val="130000"/>
              </a:lnSpc>
              <a:buNone/>
            </a:pPr>
            <a:r>
              <a:rPr lang="en-US" altLang="zh-CN" sz="1600" dirty="0"/>
              <a:t>Since qubits are susceptible to external interference and thus lose coherence, quantum error correction is needed to ensure the correctness of computations. Quantum error - correcting codes can combine multiple physical qubits to form a logical qubit, thereby extending its coherence time.</a:t>
            </a:r>
            <a:endParaRPr lang="en-US" altLang="zh-CN" sz="1600" dirty="0"/>
          </a:p>
        </p:txBody>
      </p:sp>
      <p:sp>
        <p:nvSpPr>
          <p:cNvPr id="22" name="Text 19"/>
          <p:cNvSpPr/>
          <p:nvPr/>
        </p:nvSpPr>
        <p:spPr>
          <a:xfrm>
            <a:off x="3946525" y="3547110"/>
            <a:ext cx="7617460" cy="398780"/>
          </a:xfrm>
          <a:prstGeom prst="rect">
            <a:avLst/>
          </a:prstGeom>
          <a:noFill/>
        </p:spPr>
        <p:txBody>
          <a:bodyPr wrap="square" lIns="91440" tIns="45720" rIns="91440" bIns="45720" rtlCol="0" anchor="t">
            <a:spAutoFit/>
          </a:bodyPr>
          <a:lstStyle/>
          <a:p>
            <a:pPr marL="0" indent="0" algn="just">
              <a:lnSpc>
                <a:spcPct val="100000"/>
              </a:lnSpc>
              <a:buNone/>
            </a:pPr>
            <a:r>
              <a:rPr lang="en-US" altLang="zh-CN" sz="2000" b="1" dirty="0">
                <a:solidFill>
                  <a:srgbClr val="5E927D"/>
                </a:solidFill>
                <a:latin typeface="MiSans" pitchFamily="34" charset="-122"/>
                <a:ea typeface="MiSans" pitchFamily="34" charset="-122"/>
                <a:cs typeface="MiSans" pitchFamily="34" charset="-120"/>
              </a:rPr>
              <a:t>Quantum Fault Tolerance</a:t>
            </a:r>
            <a:endParaRPr lang="en-US" altLang="zh-CN" sz="2000" b="1" dirty="0">
              <a:solidFill>
                <a:srgbClr val="5E927D"/>
              </a:solidFill>
              <a:latin typeface="MiSans" pitchFamily="34" charset="-122"/>
              <a:ea typeface="MiSans" pitchFamily="34" charset="-122"/>
              <a:cs typeface="MiSans" pitchFamily="34" charset="-120"/>
            </a:endParaRPr>
          </a:p>
        </p:txBody>
      </p:sp>
      <p:sp>
        <p:nvSpPr>
          <p:cNvPr id="23" name="Text 20"/>
          <p:cNvSpPr/>
          <p:nvPr/>
        </p:nvSpPr>
        <p:spPr>
          <a:xfrm>
            <a:off x="4016375" y="4140835"/>
            <a:ext cx="7616190" cy="1370965"/>
          </a:xfrm>
          <a:prstGeom prst="rect">
            <a:avLst/>
          </a:prstGeom>
          <a:noFill/>
        </p:spPr>
        <p:txBody>
          <a:bodyPr wrap="square" lIns="91440" tIns="45720" rIns="91440" bIns="45720" rtlCol="0" anchor="t">
            <a:spAutoFit/>
          </a:bodyPr>
          <a:lstStyle/>
          <a:p>
            <a:pPr marL="0" indent="0" algn="just">
              <a:lnSpc>
                <a:spcPct val="130000"/>
              </a:lnSpc>
              <a:buNone/>
            </a:pPr>
            <a:r>
              <a:rPr lang="en-US" altLang="zh-CN" sz="1600" dirty="0"/>
              <a:t>The introduction of quantum error - correcting codes increases computational complexity. Therefore, quantum fault tolerance is required to reduce this complexity. Quantum fault tolerance employs specialized quantum algorithms and quantum gates to enable fault - tolerant computing, thus lowering the hardware requirements.</a:t>
            </a:r>
            <a:endParaRPr lang="en-US" altLang="zh-CN"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Bomparison Between Classical Computing and Quantum Computing</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graphicFrame>
        <p:nvGraphicFramePr>
          <p:cNvPr id="24" name="表格 23"/>
          <p:cNvGraphicFramePr/>
          <p:nvPr>
            <p:custDataLst>
              <p:tags r:id="rId1"/>
            </p:custDataLst>
          </p:nvPr>
        </p:nvGraphicFramePr>
        <p:xfrm>
          <a:off x="1621790" y="1445260"/>
          <a:ext cx="9328785" cy="4797425"/>
        </p:xfrm>
        <a:graphic>
          <a:graphicData uri="http://schemas.openxmlformats.org/drawingml/2006/table">
            <a:tbl>
              <a:tblPr/>
              <a:tblGrid>
                <a:gridCol w="3109595"/>
                <a:gridCol w="3109595"/>
                <a:gridCol w="3109595"/>
              </a:tblGrid>
              <a:tr h="558165">
                <a:tc>
                  <a:txBody>
                    <a:bodyPr/>
                    <a:p>
                      <a:pPr marL="0" indent="0" algn="ctr">
                        <a:lnSpc>
                          <a:spcPts val="1400"/>
                        </a:lnSpc>
                        <a:spcBef>
                          <a:spcPct val="0"/>
                        </a:spcBef>
                        <a:spcAft>
                          <a:spcPct val="0"/>
                        </a:spcAft>
                      </a:pPr>
                      <a:r>
                        <a:rPr lang="en-US" altLang="zh-CN" sz="800" b="1" i="0">
                          <a:solidFill>
                            <a:srgbClr val="000000"/>
                          </a:solidFill>
                          <a:latin typeface="Segoe UI" panose="020B0502040204020203"/>
                          <a:ea typeface="Segoe UI" panose="020B0502040204020203"/>
                        </a:rPr>
                        <a:t>Characteristics</a:t>
                      </a:r>
                      <a:endParaRPr lang="en-US" altLang="zh-CN" sz="800" b="1"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2F2F2"/>
                    </a:solidFill>
                  </a:tcPr>
                </a:tc>
                <a:tc>
                  <a:txBody>
                    <a:bodyPr/>
                    <a:p>
                      <a:pPr marL="0" indent="0" algn="ctr">
                        <a:lnSpc>
                          <a:spcPts val="1400"/>
                        </a:lnSpc>
                        <a:spcBef>
                          <a:spcPct val="0"/>
                        </a:spcBef>
                        <a:spcAft>
                          <a:spcPct val="0"/>
                        </a:spcAft>
                      </a:pPr>
                      <a:r>
                        <a:rPr lang="en-US" altLang="zh-CN" sz="800" b="1" i="0">
                          <a:solidFill>
                            <a:srgbClr val="000000"/>
                          </a:solidFill>
                          <a:latin typeface="Segoe UI" panose="020B0502040204020203"/>
                          <a:ea typeface="Segoe UI" panose="020B0502040204020203"/>
                        </a:rPr>
                        <a:t>Classical Computing</a:t>
                      </a:r>
                      <a:endParaRPr lang="en-US" altLang="zh-CN" sz="800" b="1"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2F2F2"/>
                    </a:solidFill>
                  </a:tcPr>
                </a:tc>
                <a:tc>
                  <a:txBody>
                    <a:bodyPr/>
                    <a:p>
                      <a:pPr marL="0" indent="0" algn="ctr">
                        <a:lnSpc>
                          <a:spcPts val="1400"/>
                        </a:lnSpc>
                        <a:spcBef>
                          <a:spcPct val="0"/>
                        </a:spcBef>
                        <a:spcAft>
                          <a:spcPct val="0"/>
                        </a:spcAft>
                      </a:pPr>
                      <a:r>
                        <a:rPr lang="en-US" altLang="zh-CN" sz="800" b="1" i="0">
                          <a:solidFill>
                            <a:srgbClr val="000000"/>
                          </a:solidFill>
                          <a:latin typeface="Segoe UI" panose="020B0502040204020203"/>
                          <a:ea typeface="Segoe UI" panose="020B0502040204020203"/>
                        </a:rPr>
                        <a:t>Quantum Computing</a:t>
                      </a:r>
                      <a:endParaRPr lang="en-US" altLang="zh-CN" sz="800" b="1"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2F2F2"/>
                    </a:solidFill>
                  </a:tcPr>
                </a:tc>
              </a:tr>
              <a:tr h="858520">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Basic Unit</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Bit: 0 or 1</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Qubit (Quantum Bit): Can be in a superposition state of 0 and 1 simultaneously</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r>
              <a:tr h="558165">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Information Representation Capability</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n bits can represent 1 out of 2^n states</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n qubits can represent all 2^n states simultaneously</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r>
              <a:tr h="859155">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Parallel Processing</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Limited, requiring multiple operations</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Naturally parallel, capable of processing multiple states in a single operation</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r>
              <a:tr h="702310">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Computational Complexity</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Certain problems require exponential time</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Can achieve exponential acceleration on certain specific problems</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r>
              <a:tr h="702945">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Stability</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Highly stable</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Easily affected by the environment, with significant decoherence issues</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r>
              <a:tr h="558165">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Technology Maturity</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Very mature</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c>
                  <a:txBody>
                    <a:bodyPr/>
                    <a:p>
                      <a:pPr marL="0" indent="0" algn="l">
                        <a:lnSpc>
                          <a:spcPts val="1400"/>
                        </a:lnSpc>
                        <a:spcBef>
                          <a:spcPct val="0"/>
                        </a:spcBef>
                        <a:spcAft>
                          <a:spcPct val="0"/>
                        </a:spcAft>
                      </a:pPr>
                      <a:r>
                        <a:rPr lang="en-US" altLang="zh-CN" sz="800" i="0">
                          <a:solidFill>
                            <a:srgbClr val="000000"/>
                          </a:solidFill>
                          <a:latin typeface="Segoe UI" panose="020B0502040204020203"/>
                          <a:ea typeface="Segoe UI" panose="020B0502040204020203"/>
                        </a:rPr>
                        <a:t>Still in the early development stage</a:t>
                      </a:r>
                      <a:endParaRPr lang="en-US" altLang="zh-CN" sz="800" i="0">
                        <a:solidFill>
                          <a:srgbClr val="000000"/>
                        </a:solidFill>
                        <a:latin typeface="Segoe UI" panose="020B0502040204020203"/>
                        <a:ea typeface="Segoe UI" panose="020B0502040204020203"/>
                      </a:endParaRPr>
                    </a:p>
                  </a:txBody>
                  <a:tcPr marL="114300" marR="114300" marT="76200" marB="76200" anchor="ctr" anchorCtr="0">
                    <a:lnL>
                      <a:noFill/>
                    </a:lnL>
                    <a:lnR>
                      <a:noFill/>
                    </a:lnR>
                    <a:lnT>
                      <a:noFill/>
                    </a:lnT>
                    <a:lnB>
                      <a:noFill/>
                    </a:lnB>
                    <a:solidFill>
                      <a:srgbClr val="FFFFFF"/>
                    </a:solidFill>
                  </a:tcPr>
                </a:tc>
              </a:tr>
            </a:tbl>
          </a:graphicData>
        </a:graphic>
      </p:graphicFrame>
      <p:sp>
        <p:nvSpPr>
          <p:cNvPr id="25" name="文本框 24"/>
          <p:cNvSpPr txBox="1"/>
          <p:nvPr/>
        </p:nvSpPr>
        <p:spPr>
          <a:xfrm>
            <a:off x="853440" y="4632325"/>
            <a:ext cx="5080000" cy="260350"/>
          </a:xfrm>
          <a:prstGeom prst="rect">
            <a:avLst/>
          </a:prstGeom>
        </p:spPr>
        <p:txBody>
          <a:bodyPr>
            <a:spAutoFit/>
          </a:bodyPr>
          <a:p>
            <a:pPr marL="0" indent="0" algn="just" defTabSz="266700">
              <a:spcBef>
                <a:spcPct val="0"/>
              </a:spcBef>
              <a:spcAft>
                <a:spcPct val="0"/>
              </a:spcAft>
            </a:pPr>
            <a:r>
              <a:rPr lang="en-US" altLang="zh-CN" sz="1100">
                <a:latin typeface="Calibri" panose="020F0502020204030204"/>
                <a:ea typeface="宋体" panose="02010600030101010101" pitchFamily="2" charset="-122"/>
              </a:rPr>
              <a:t> </a:t>
            </a:r>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Quantum Computing Hardware</a:t>
            </a:r>
            <a:endParaRPr lang="en-US" sz="1600" dirty="0"/>
          </a:p>
        </p:txBody>
      </p:sp>
      <p:pic>
        <p:nvPicPr>
          <p:cNvPr id="11" name="Image 0" descr="https://test-kimi-img.moonshot.cn/pub/slides/slides_tmpl/image/25-05-30-10:51:06-d0shq6k75iks832je5d0.png"/>
          <p:cNvPicPr>
            <a:picLocks noChangeAspect="1"/>
          </p:cNvPicPr>
          <p:nvPr/>
        </p:nvPicPr>
        <p:blipFill>
          <a:blip r:embed="rId1"/>
          <a:srcRect t="122" b="122"/>
          <a:stretch>
            <a:fillRect/>
          </a:stretch>
        </p:blipFill>
        <p:spPr>
          <a:xfrm>
            <a:off x="-32702" y="1633220"/>
            <a:ext cx="12257405" cy="1812290"/>
          </a:xfrm>
          <a:prstGeom prst="rect">
            <a:avLst/>
          </a:prstGeom>
        </p:spPr>
      </p:pic>
      <p:sp>
        <p:nvSpPr>
          <p:cNvPr id="12" name="Shape 9"/>
          <p:cNvSpPr/>
          <p:nvPr>
            <p:custDataLst>
              <p:tags r:id="rId2"/>
            </p:custDataLst>
          </p:nvPr>
        </p:nvSpPr>
        <p:spPr>
          <a:xfrm>
            <a:off x="2196561" y="2473621"/>
            <a:ext cx="1459038" cy="1459038"/>
          </a:xfrm>
          <a:prstGeom prst="ellipse">
            <a:avLst/>
          </a:prstGeom>
          <a:solidFill>
            <a:srgbClr val="FFFFFF"/>
          </a:solidFill>
          <a:ln w="19050">
            <a:solidFill>
              <a:srgbClr val="2E536D"/>
            </a:solidFill>
            <a:prstDash val="solid"/>
          </a:ln>
        </p:spPr>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custDataLst>
              <p:tags r:id="rId3"/>
            </p:custDataLst>
          </p:nvPr>
        </p:nvSpPr>
        <p:spPr>
          <a:xfrm>
            <a:off x="2388111" y="2665171"/>
            <a:ext cx="1075939" cy="1075939"/>
          </a:xfrm>
          <a:prstGeom prst="ellipse">
            <a:avLst/>
          </a:prstGeom>
          <a:solidFill>
            <a:srgbClr val="B4CA7C"/>
          </a:solidFill>
        </p:spPr>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4"/>
            </p:custDataLst>
          </p:nvPr>
        </p:nvSpPr>
        <p:spPr>
          <a:xfrm>
            <a:off x="5366481" y="2473621"/>
            <a:ext cx="1459038" cy="1459038"/>
          </a:xfrm>
          <a:prstGeom prst="ellipse">
            <a:avLst/>
          </a:prstGeom>
          <a:solidFill>
            <a:srgbClr val="FFFFFF"/>
          </a:solidFill>
          <a:ln w="19050">
            <a:solidFill>
              <a:srgbClr val="BFBFBF"/>
            </a:solidFill>
            <a:prstDash val="solid"/>
          </a:ln>
        </p:spPr>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custDataLst>
              <p:tags r:id="rId5"/>
            </p:custDataLst>
          </p:nvPr>
        </p:nvSpPr>
        <p:spPr>
          <a:xfrm>
            <a:off x="5558031" y="2665171"/>
            <a:ext cx="1075939" cy="1075939"/>
          </a:xfrm>
          <a:prstGeom prst="ellipse">
            <a:avLst/>
          </a:prstGeom>
          <a:solidFill>
            <a:srgbClr val="525E30"/>
          </a:solidFill>
        </p:spPr>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custDataLst>
              <p:tags r:id="rId6"/>
            </p:custDataLst>
          </p:nvPr>
        </p:nvSpPr>
        <p:spPr>
          <a:xfrm>
            <a:off x="8536401" y="2473621"/>
            <a:ext cx="1459038" cy="1459038"/>
          </a:xfrm>
          <a:prstGeom prst="ellipse">
            <a:avLst/>
          </a:prstGeom>
          <a:solidFill>
            <a:srgbClr val="FFFFFF"/>
          </a:solidFill>
          <a:ln w="19050">
            <a:solidFill>
              <a:srgbClr val="2E536D"/>
            </a:solidFill>
            <a:prstDash val="solid"/>
          </a:ln>
        </p:spPr>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custDataLst>
              <p:tags r:id="rId7"/>
            </p:custDataLst>
          </p:nvPr>
        </p:nvSpPr>
        <p:spPr>
          <a:xfrm>
            <a:off x="8727951" y="2665171"/>
            <a:ext cx="1075939" cy="1075939"/>
          </a:xfrm>
          <a:prstGeom prst="ellipse">
            <a:avLst/>
          </a:prstGeom>
          <a:solidFill>
            <a:srgbClr val="B4CA7C"/>
          </a:solidFill>
        </p:spPr>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custDataLst>
              <p:tags r:id="rId8"/>
            </p:custDataLst>
          </p:nvPr>
        </p:nvSpPr>
        <p:spPr>
          <a:xfrm>
            <a:off x="2552868" y="2907327"/>
            <a:ext cx="726482" cy="584775"/>
          </a:xfrm>
          <a:prstGeom prst="rect">
            <a:avLst/>
          </a:prstGeom>
          <a:solidFill>
            <a:srgbClr val="000000">
              <a:alpha val="0"/>
            </a:srgbClr>
          </a:solidFill>
        </p:spPr>
      </p:sp>
      <p:sp>
        <p:nvSpPr>
          <p:cNvPr id="25" name="Text 22"/>
          <p:cNvSpPr/>
          <p:nvPr>
            <p:custDataLst>
              <p:tags r:id="rId9"/>
            </p:custDataLst>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custDataLst>
              <p:tags r:id="rId10"/>
            </p:custDataLst>
          </p:nvPr>
        </p:nvSpPr>
        <p:spPr>
          <a:xfrm>
            <a:off x="5722788" y="2907327"/>
            <a:ext cx="726482" cy="584775"/>
          </a:xfrm>
          <a:prstGeom prst="rect">
            <a:avLst/>
          </a:prstGeom>
          <a:solidFill>
            <a:srgbClr val="000000">
              <a:alpha val="0"/>
            </a:srgbClr>
          </a:solidFill>
        </p:spPr>
      </p:sp>
      <p:sp>
        <p:nvSpPr>
          <p:cNvPr id="27" name="Text 24"/>
          <p:cNvSpPr/>
          <p:nvPr>
            <p:custDataLst>
              <p:tags r:id="rId11"/>
            </p:custDataLst>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custDataLst>
              <p:tags r:id="rId12"/>
            </p:custDataLst>
          </p:nvPr>
        </p:nvSpPr>
        <p:spPr>
          <a:xfrm>
            <a:off x="8912650" y="2907327"/>
            <a:ext cx="726482" cy="584775"/>
          </a:xfrm>
          <a:prstGeom prst="rect">
            <a:avLst/>
          </a:prstGeom>
          <a:solidFill>
            <a:srgbClr val="000000">
              <a:alpha val="0"/>
            </a:srgbClr>
          </a:solidFill>
        </p:spPr>
      </p:sp>
      <p:sp>
        <p:nvSpPr>
          <p:cNvPr id="29" name="Text 26"/>
          <p:cNvSpPr/>
          <p:nvPr>
            <p:custDataLst>
              <p:tags r:id="rId13"/>
            </p:custDataLst>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custDataLst>
              <p:tags r:id="rId14"/>
            </p:custDataLst>
          </p:nvPr>
        </p:nvSpPr>
        <p:spPr>
          <a:xfrm>
            <a:off x="137604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Types of Quantum Computers</a:t>
            </a:r>
            <a:endParaRPr lang="en-US" sz="1600" dirty="0"/>
          </a:p>
        </p:txBody>
      </p:sp>
      <p:sp>
        <p:nvSpPr>
          <p:cNvPr id="31" name="Text 28"/>
          <p:cNvSpPr/>
          <p:nvPr>
            <p:custDataLst>
              <p:tags r:id="rId15"/>
            </p:custDataLst>
          </p:nvPr>
        </p:nvSpPr>
        <p:spPr>
          <a:xfrm>
            <a:off x="1376045" y="4379595"/>
            <a:ext cx="2872740" cy="1918335"/>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There are several types of quantum computers, including superconducting quantum computers, ion trap quantum computers, and photonic quantum computers. Each type has its own advantages and challenges, with ongoing research aimed at improving their performance and reliability.</a:t>
            </a:r>
            <a:endParaRPr lang="en-US" sz="1200" dirty="0"/>
          </a:p>
        </p:txBody>
      </p:sp>
      <p:sp>
        <p:nvSpPr>
          <p:cNvPr id="32" name="Text 29"/>
          <p:cNvSpPr/>
          <p:nvPr>
            <p:custDataLst>
              <p:tags r:id="rId16"/>
            </p:custDataLst>
          </p:nvPr>
        </p:nvSpPr>
        <p:spPr>
          <a:xfrm>
            <a:off x="4708525"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Challenges in Quantum Hardware Development</a:t>
            </a:r>
            <a:endParaRPr lang="en-US" sz="1600" dirty="0"/>
          </a:p>
        </p:txBody>
      </p:sp>
      <p:sp>
        <p:nvSpPr>
          <p:cNvPr id="33" name="Text 30"/>
          <p:cNvSpPr/>
          <p:nvPr>
            <p:custDataLst>
              <p:tags r:id="rId17"/>
            </p:custDataLst>
          </p:nvPr>
        </p:nvSpPr>
        <p:spPr>
          <a:xfrm>
            <a:off x="4708525" y="4616450"/>
            <a:ext cx="2872740" cy="1678305"/>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Developing quantum hardware faces challenges such as maintaining qubit coherence, scaling up the number of qubits, and minimizing error rates. Researchers are working on innovative materials and error correction techniques to overcome these hurdles.</a:t>
            </a:r>
            <a:endParaRPr lang="en-US" sz="1200" dirty="0"/>
          </a:p>
        </p:txBody>
      </p:sp>
      <p:sp>
        <p:nvSpPr>
          <p:cNvPr id="34" name="Text 31"/>
          <p:cNvSpPr/>
          <p:nvPr>
            <p:custDataLst>
              <p:tags r:id="rId18"/>
            </p:custDataLst>
          </p:nvPr>
        </p:nvSpPr>
        <p:spPr>
          <a:xfrm>
            <a:off x="8229600"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Current State of Quantum Hardware</a:t>
            </a:r>
            <a:endParaRPr lang="en-US" sz="1600" dirty="0"/>
          </a:p>
        </p:txBody>
      </p:sp>
      <p:sp>
        <p:nvSpPr>
          <p:cNvPr id="35" name="Text 32"/>
          <p:cNvSpPr/>
          <p:nvPr>
            <p:custDataLst>
              <p:tags r:id="rId19"/>
            </p:custDataLst>
          </p:nvPr>
        </p:nvSpPr>
        <p:spPr>
          <a:xfrm>
            <a:off x="8229600" y="4552950"/>
            <a:ext cx="2872740" cy="1918335"/>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Major tech companies and research institutions are making progress in developing quantum processors with increasing numbers of qubits and improved coherence times. The focus is now on improving the fidelity of quantum operations and developing fault-tolerant quantum computers.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Quantum Hardware Implementation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descr="屏幕截图 2025-07-06 233049"/>
          <p:cNvPicPr>
            <a:picLocks noChangeAspect="1"/>
          </p:cNvPicPr>
          <p:nvPr/>
        </p:nvPicPr>
        <p:blipFill>
          <a:blip r:embed="rId1"/>
          <a:stretch>
            <a:fillRect/>
          </a:stretch>
        </p:blipFill>
        <p:spPr>
          <a:xfrm>
            <a:off x="626110" y="1068070"/>
            <a:ext cx="10533380" cy="5130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The Development of Quantum Hardware: Superconducting Technology</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1177925" y="1362075"/>
            <a:ext cx="9836785" cy="4714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Development </a:t>
            </a:r>
            <a:r>
              <a:rPr lang="en-US" altLang="zh-CN" sz="2800" b="1" dirty="0">
                <a:solidFill>
                  <a:srgbClr val="2F493E"/>
                </a:solidFill>
                <a:latin typeface="MiSans" pitchFamily="34" charset="-122"/>
                <a:ea typeface="MiSans" pitchFamily="34" charset="-122"/>
                <a:cs typeface="MiSans" pitchFamily="34" charset="-120"/>
              </a:rPr>
              <a:t>Roadmap</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descr="屏幕截图 2025-07-06 234003"/>
          <p:cNvPicPr>
            <a:picLocks noChangeAspect="1"/>
          </p:cNvPicPr>
          <p:nvPr/>
        </p:nvPicPr>
        <p:blipFill>
          <a:blip r:embed="rId1"/>
          <a:stretch>
            <a:fillRect/>
          </a:stretch>
        </p:blipFill>
        <p:spPr>
          <a:xfrm>
            <a:off x="1462405" y="1255395"/>
            <a:ext cx="9709785" cy="4890770"/>
          </a:xfrm>
          <a:prstGeom prst="rect">
            <a:avLst/>
          </a:prstGeom>
        </p:spPr>
      </p:pic>
      <p:pic>
        <p:nvPicPr>
          <p:cNvPr id="16" name="图片 15"/>
          <p:cNvPicPr>
            <a:picLocks noChangeAspect="1"/>
          </p:cNvPicPr>
          <p:nvPr/>
        </p:nvPicPr>
        <p:blipFill>
          <a:blip r:embed="rId2"/>
          <a:stretch>
            <a:fillRect/>
          </a:stretch>
        </p:blipFill>
        <p:spPr>
          <a:xfrm>
            <a:off x="8876030" y="667385"/>
            <a:ext cx="2296160" cy="8483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The Development of Quantum Hardware: Ion Trap Technology</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2485390" y="1004570"/>
            <a:ext cx="7861300" cy="52470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The Development of Quantum Hardware: Ion Trap Technology</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2485390" y="1004570"/>
            <a:ext cx="7861300" cy="52470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Roadmap For Growth &amp; Market Leadership</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descr="屏幕截图 2025-07-06 234634"/>
          <p:cNvPicPr>
            <a:picLocks noChangeAspect="1"/>
          </p:cNvPicPr>
          <p:nvPr/>
        </p:nvPicPr>
        <p:blipFill>
          <a:blip r:embed="rId1"/>
          <a:stretch>
            <a:fillRect/>
          </a:stretch>
        </p:blipFill>
        <p:spPr>
          <a:xfrm>
            <a:off x="1226185" y="1018540"/>
            <a:ext cx="9514205" cy="51803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Comparison of Quantum Computing Technologies.</a:t>
            </a:r>
            <a:endParaRPr lang="en-US" altLang="zh-CN" sz="2800" b="1" dirty="0">
              <a:solidFill>
                <a:srgbClr val="2F493E"/>
              </a:solidFill>
              <a:latin typeface="MiSans" pitchFamily="34" charset="-122"/>
              <a:ea typeface="MiSans" pitchFamily="34" charset="-122"/>
              <a:cs typeface="MiSans" pitchFamily="34" charset="-120"/>
            </a:endParaRPr>
          </a:p>
          <a:p>
            <a:pPr marL="0" indent="0" algn="just">
              <a:lnSpc>
                <a:spcPct val="100000"/>
              </a:lnSpc>
              <a:buNone/>
            </a:pP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3514090" y="958215"/>
            <a:ext cx="4984750" cy="4686935"/>
          </a:xfrm>
          <a:prstGeom prst="rect">
            <a:avLst/>
          </a:prstGeom>
        </p:spPr>
      </p:pic>
      <p:pic>
        <p:nvPicPr>
          <p:cNvPr id="16" name="图片 15"/>
          <p:cNvPicPr>
            <a:picLocks noChangeAspect="1"/>
          </p:cNvPicPr>
          <p:nvPr/>
        </p:nvPicPr>
        <p:blipFill>
          <a:blip r:embed="rId2"/>
          <a:stretch>
            <a:fillRect/>
          </a:stretch>
        </p:blipFill>
        <p:spPr>
          <a:xfrm>
            <a:off x="3514090" y="5703570"/>
            <a:ext cx="5017770" cy="5295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03</a:t>
            </a:r>
            <a:endParaRPr lang="en-US" sz="1600" dirty="0"/>
          </a:p>
        </p:txBody>
      </p:sp>
      <p:sp>
        <p:nvSpPr>
          <p:cNvPr id="7" name="Text 3"/>
          <p:cNvSpPr/>
          <p:nvPr/>
        </p:nvSpPr>
        <p:spPr>
          <a:xfrm>
            <a:off x="5979795" y="3223895"/>
            <a:ext cx="4779645" cy="3697684"/>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Integration of Quantum Computing and Intelligent Computing</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Quantum Machine Learning</a:t>
            </a:r>
            <a:endParaRPr lang="en-US" sz="1600" dirty="0"/>
          </a:p>
        </p:txBody>
      </p:sp>
      <p:sp>
        <p:nvSpPr>
          <p:cNvPr id="12" name="Shape 9"/>
          <p:cNvSpPr/>
          <p:nvPr/>
        </p:nvSpPr>
        <p:spPr>
          <a:xfrm>
            <a:off x="2808605" y="1239520"/>
            <a:ext cx="652145" cy="663575"/>
          </a:xfrm>
          <a:prstGeom prst="ellipse">
            <a:avLst/>
          </a:prstGeom>
          <a:solidFill>
            <a:srgbClr val="B4CA7C"/>
          </a:solidFill>
        </p:spPr>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010025" y="3220720"/>
            <a:ext cx="652145" cy="663575"/>
          </a:xfrm>
          <a:prstGeom prst="ellipse">
            <a:avLst/>
          </a:prstGeom>
          <a:solidFill>
            <a:srgbClr val="B4CA7C"/>
          </a:solidFill>
        </p:spPr>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3161030" y="5215890"/>
            <a:ext cx="652145" cy="663575"/>
          </a:xfrm>
          <a:prstGeom prst="ellipse">
            <a:avLst/>
          </a:prstGeom>
          <a:solidFill>
            <a:srgbClr val="B4CA7C"/>
          </a:solidFill>
        </p:spPr>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Quantum Algorithms for Machine Learning</a:t>
            </a:r>
            <a:endParaRPr lang="en-US" sz="1600" dirty="0"/>
          </a:p>
        </p:txBody>
      </p:sp>
      <p:sp>
        <p:nvSpPr>
          <p:cNvPr id="22" name="Text 19"/>
          <p:cNvSpPr/>
          <p:nvPr/>
        </p:nvSpPr>
        <p:spPr>
          <a:xfrm>
            <a:off x="4210685" y="1703070"/>
            <a:ext cx="683895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machine learning aims to enhance traditional algorithms using quantum principles. Algorithms like QSVM and QPCA offer potential speedup by exploiting quantum parallelism and entanglement.</a:t>
            </a:r>
            <a:endParaRPr lang="en-US" sz="1600" dirty="0"/>
          </a:p>
        </p:txBody>
      </p:sp>
      <p:sp>
        <p:nvSpPr>
          <p:cNvPr id="23" name="Text 20"/>
          <p:cNvSpPr/>
          <p:nvPr/>
        </p:nvSpPr>
        <p:spPr>
          <a:xfrm>
            <a:off x="4027170" y="5546725"/>
            <a:ext cx="6839585"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Efficient data encoding and processing are crucial for quantum machine learning. Methods like amplitude encoding and quantum feature maps enable the extraction of meaningful patterns from quantum-encoded data.</a:t>
            </a:r>
            <a:endParaRPr lang="en-US" sz="1600" dirty="0"/>
          </a:p>
        </p:txBody>
      </p:sp>
      <p:sp>
        <p:nvSpPr>
          <p:cNvPr id="24" name="Text 21"/>
          <p:cNvSpPr/>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Quantum Data Encoding and Processing</a:t>
            </a:r>
            <a:endParaRPr lang="en-US" sz="1600" dirty="0"/>
          </a:p>
        </p:txBody>
      </p:sp>
      <p:sp>
        <p:nvSpPr>
          <p:cNvPr id="25" name="Text 22"/>
          <p:cNvSpPr/>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Quantum Neural Networks</a:t>
            </a:r>
            <a:endParaRPr lang="en-US" sz="1600" dirty="0"/>
          </a:p>
        </p:txBody>
      </p:sp>
      <p:sp>
        <p:nvSpPr>
          <p:cNvPr id="26" name="Text 23"/>
          <p:cNvSpPr/>
          <p:nvPr/>
        </p:nvSpPr>
        <p:spPr>
          <a:xfrm>
            <a:off x="4859020" y="3758565"/>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neural networks combine quantum computing and neural networks, using qubits as neurons and quantum gates for operations. They have the potential to solve complex problems more efficiently than classical neural networks.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138366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Comparison of Quantum Machine Learning Algorithms</a:t>
            </a:r>
            <a:endParaRPr lang="en-US" altLang="zh-CN" sz="2800" b="1" dirty="0">
              <a:solidFill>
                <a:srgbClr val="2F493E"/>
              </a:solidFill>
              <a:latin typeface="MiSans" pitchFamily="34" charset="-122"/>
              <a:ea typeface="MiSans" pitchFamily="34" charset="-122"/>
              <a:cs typeface="MiSans" pitchFamily="34" charset="-120"/>
            </a:endParaRPr>
          </a:p>
          <a:p>
            <a:pPr marL="0" indent="0" algn="just">
              <a:lnSpc>
                <a:spcPct val="100000"/>
              </a:lnSpc>
              <a:buNone/>
            </a:pPr>
            <a:endParaRPr lang="en-US" altLang="zh-CN" sz="2800" b="1" dirty="0">
              <a:solidFill>
                <a:srgbClr val="2F493E"/>
              </a:solidFill>
              <a:latin typeface="MiSans" pitchFamily="34" charset="-122"/>
              <a:ea typeface="MiSans" pitchFamily="34" charset="-122"/>
              <a:cs typeface="MiSans" pitchFamily="34" charset="-120"/>
            </a:endParaRPr>
          </a:p>
          <a:p>
            <a:pPr marL="0" indent="0" algn="just">
              <a:lnSpc>
                <a:spcPct val="100000"/>
              </a:lnSpc>
              <a:buNone/>
            </a:pP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p:cNvPicPr>
            <a:picLocks noChangeAspect="1"/>
          </p:cNvPicPr>
          <p:nvPr/>
        </p:nvPicPr>
        <p:blipFill>
          <a:blip r:embed="rId1"/>
          <a:stretch>
            <a:fillRect/>
          </a:stretch>
        </p:blipFill>
        <p:spPr>
          <a:xfrm>
            <a:off x="3034665" y="867410"/>
            <a:ext cx="5085080" cy="57816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Quantum Optimization for Intelligent Computing</a:t>
            </a:r>
            <a:endParaRPr lang="en-US" sz="1600" dirty="0"/>
          </a:p>
        </p:txBody>
      </p:sp>
      <p:pic>
        <p:nvPicPr>
          <p:cNvPr id="11" name="Image 0" descr="https://test-kimi-img.moonshot.cn/pub/slides/slides_tmpl/image/25-05-30-10:51:06-d0shq6k75iks832je5d0.png"/>
          <p:cNvPicPr>
            <a:picLocks noChangeAspect="1"/>
          </p:cNvPicPr>
          <p:nvPr/>
        </p:nvPicPr>
        <p:blipFill>
          <a:blip r:embed="rId1"/>
          <a:srcRect t="122" b="122"/>
          <a:stretch>
            <a:fillRect/>
          </a:stretch>
        </p:blipFill>
        <p:spPr>
          <a:xfrm>
            <a:off x="-32702" y="1633220"/>
            <a:ext cx="12257405" cy="1812290"/>
          </a:xfrm>
          <a:prstGeom prst="rect">
            <a:avLst/>
          </a:prstGeom>
        </p:spPr>
      </p:pic>
      <p:sp>
        <p:nvSpPr>
          <p:cNvPr id="12" name="Shape 9"/>
          <p:cNvSpPr/>
          <p:nvPr>
            <p:custDataLst>
              <p:tags r:id="rId2"/>
            </p:custDataLst>
          </p:nvPr>
        </p:nvSpPr>
        <p:spPr>
          <a:xfrm>
            <a:off x="2196561" y="2473621"/>
            <a:ext cx="1459038" cy="1459038"/>
          </a:xfrm>
          <a:prstGeom prst="ellipse">
            <a:avLst/>
          </a:prstGeom>
          <a:solidFill>
            <a:srgbClr val="FFFFFF"/>
          </a:solidFill>
          <a:ln w="19050">
            <a:solidFill>
              <a:srgbClr val="2E536D"/>
            </a:solidFill>
            <a:prstDash val="solid"/>
          </a:ln>
        </p:spPr>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custDataLst>
              <p:tags r:id="rId3"/>
            </p:custDataLst>
          </p:nvPr>
        </p:nvSpPr>
        <p:spPr>
          <a:xfrm>
            <a:off x="2388111" y="2665171"/>
            <a:ext cx="1075939" cy="1075939"/>
          </a:xfrm>
          <a:prstGeom prst="ellipse">
            <a:avLst/>
          </a:prstGeom>
          <a:solidFill>
            <a:srgbClr val="B4CA7C"/>
          </a:solidFill>
        </p:spPr>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4"/>
            </p:custDataLst>
          </p:nvPr>
        </p:nvSpPr>
        <p:spPr>
          <a:xfrm>
            <a:off x="5366481" y="2473621"/>
            <a:ext cx="1459038" cy="1459038"/>
          </a:xfrm>
          <a:prstGeom prst="ellipse">
            <a:avLst/>
          </a:prstGeom>
          <a:solidFill>
            <a:srgbClr val="FFFFFF"/>
          </a:solidFill>
          <a:ln w="19050">
            <a:solidFill>
              <a:srgbClr val="BFBFBF"/>
            </a:solidFill>
            <a:prstDash val="solid"/>
          </a:ln>
        </p:spPr>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custDataLst>
              <p:tags r:id="rId5"/>
            </p:custDataLst>
          </p:nvPr>
        </p:nvSpPr>
        <p:spPr>
          <a:xfrm>
            <a:off x="5558031" y="2665171"/>
            <a:ext cx="1075939" cy="1075939"/>
          </a:xfrm>
          <a:prstGeom prst="ellipse">
            <a:avLst/>
          </a:prstGeom>
          <a:solidFill>
            <a:srgbClr val="525E30"/>
          </a:solidFill>
        </p:spPr>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custDataLst>
              <p:tags r:id="rId6"/>
            </p:custDataLst>
          </p:nvPr>
        </p:nvSpPr>
        <p:spPr>
          <a:xfrm>
            <a:off x="8536401" y="2473621"/>
            <a:ext cx="1459038" cy="1459038"/>
          </a:xfrm>
          <a:prstGeom prst="ellipse">
            <a:avLst/>
          </a:prstGeom>
          <a:solidFill>
            <a:srgbClr val="FFFFFF"/>
          </a:solidFill>
          <a:ln w="19050">
            <a:solidFill>
              <a:srgbClr val="2E536D"/>
            </a:solidFill>
            <a:prstDash val="solid"/>
          </a:ln>
        </p:spPr>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custDataLst>
              <p:tags r:id="rId7"/>
            </p:custDataLst>
          </p:nvPr>
        </p:nvSpPr>
        <p:spPr>
          <a:xfrm>
            <a:off x="8727951" y="2665171"/>
            <a:ext cx="1075939" cy="1075939"/>
          </a:xfrm>
          <a:prstGeom prst="ellipse">
            <a:avLst/>
          </a:prstGeom>
          <a:solidFill>
            <a:srgbClr val="B4CA7C"/>
          </a:solidFill>
        </p:spPr>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custDataLst>
              <p:tags r:id="rId8"/>
            </p:custDataLst>
          </p:nvPr>
        </p:nvSpPr>
        <p:spPr>
          <a:xfrm>
            <a:off x="2552868" y="2907327"/>
            <a:ext cx="726482" cy="584775"/>
          </a:xfrm>
          <a:prstGeom prst="rect">
            <a:avLst/>
          </a:prstGeom>
          <a:solidFill>
            <a:srgbClr val="000000">
              <a:alpha val="0"/>
            </a:srgbClr>
          </a:solidFill>
        </p:spPr>
      </p:sp>
      <p:sp>
        <p:nvSpPr>
          <p:cNvPr id="25" name="Text 22"/>
          <p:cNvSpPr/>
          <p:nvPr>
            <p:custDataLst>
              <p:tags r:id="rId9"/>
            </p:custDataLst>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custDataLst>
              <p:tags r:id="rId10"/>
            </p:custDataLst>
          </p:nvPr>
        </p:nvSpPr>
        <p:spPr>
          <a:xfrm>
            <a:off x="5722788" y="2907327"/>
            <a:ext cx="726482" cy="584775"/>
          </a:xfrm>
          <a:prstGeom prst="rect">
            <a:avLst/>
          </a:prstGeom>
          <a:solidFill>
            <a:srgbClr val="000000">
              <a:alpha val="0"/>
            </a:srgbClr>
          </a:solidFill>
        </p:spPr>
      </p:sp>
      <p:sp>
        <p:nvSpPr>
          <p:cNvPr id="27" name="Text 24"/>
          <p:cNvSpPr/>
          <p:nvPr>
            <p:custDataLst>
              <p:tags r:id="rId11"/>
            </p:custDataLst>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custDataLst>
              <p:tags r:id="rId12"/>
            </p:custDataLst>
          </p:nvPr>
        </p:nvSpPr>
        <p:spPr>
          <a:xfrm>
            <a:off x="8912650" y="2907327"/>
            <a:ext cx="726482" cy="584775"/>
          </a:xfrm>
          <a:prstGeom prst="rect">
            <a:avLst/>
          </a:prstGeom>
          <a:solidFill>
            <a:srgbClr val="000000">
              <a:alpha val="0"/>
            </a:srgbClr>
          </a:solidFill>
        </p:spPr>
      </p:sp>
      <p:sp>
        <p:nvSpPr>
          <p:cNvPr id="29" name="Text 26"/>
          <p:cNvSpPr/>
          <p:nvPr>
            <p:custDataLst>
              <p:tags r:id="rId13"/>
            </p:custDataLst>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custDataLst>
              <p:tags r:id="rId14"/>
            </p:custDataLst>
          </p:nvPr>
        </p:nvSpPr>
        <p:spPr>
          <a:xfrm>
            <a:off x="1376045"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Quantum Annealing and Optimization Problems</a:t>
            </a:r>
            <a:endParaRPr lang="en-US" sz="1600" dirty="0"/>
          </a:p>
        </p:txBody>
      </p:sp>
      <p:sp>
        <p:nvSpPr>
          <p:cNvPr id="31" name="Text 28"/>
          <p:cNvSpPr/>
          <p:nvPr>
            <p:custDataLst>
              <p:tags r:id="rId15"/>
            </p:custDataLst>
          </p:nvPr>
        </p:nvSpPr>
        <p:spPr>
          <a:xfrm>
            <a:off x="1376045" y="4552950"/>
            <a:ext cx="2872740" cy="200104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annealing uses quantum tunneling to solve optimization problems more efficiently than classical methods. It is particularly effective for combinatorial problems like the traveling salesman problem.</a:t>
            </a:r>
            <a:endParaRPr lang="en-US" sz="1600" dirty="0"/>
          </a:p>
        </p:txBody>
      </p:sp>
      <p:sp>
        <p:nvSpPr>
          <p:cNvPr id="32" name="Text 29"/>
          <p:cNvSpPr/>
          <p:nvPr>
            <p:custDataLst>
              <p:tags r:id="rId16"/>
            </p:custDataLst>
          </p:nvPr>
        </p:nvSpPr>
        <p:spPr>
          <a:xfrm>
            <a:off x="4708525"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Variational Quantum Eigensolver (VQE) and Its Applications</a:t>
            </a:r>
            <a:endParaRPr lang="en-US" sz="1600" dirty="0"/>
          </a:p>
        </p:txBody>
      </p:sp>
      <p:sp>
        <p:nvSpPr>
          <p:cNvPr id="33" name="Text 30"/>
          <p:cNvSpPr/>
          <p:nvPr>
            <p:custDataLst>
              <p:tags r:id="rId17"/>
            </p:custDataLst>
          </p:nvPr>
        </p:nvSpPr>
        <p:spPr>
          <a:xfrm>
            <a:off x="4708525" y="4552950"/>
            <a:ext cx="2872740" cy="200104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VQE is a hybrid quantum-classical algorithm used for optimization and quantum chemistry. It combines quantum state preparation with classical optimization to find eigenvalues and eigenvectors more efficiently.</a:t>
            </a:r>
            <a:endParaRPr lang="en-US" sz="1600" dirty="0"/>
          </a:p>
        </p:txBody>
      </p:sp>
      <p:sp>
        <p:nvSpPr>
          <p:cNvPr id="34" name="Text 31"/>
          <p:cNvSpPr/>
          <p:nvPr>
            <p:custDataLst>
              <p:tags r:id="rId18"/>
            </p:custDataLst>
          </p:nvPr>
        </p:nvSpPr>
        <p:spPr>
          <a:xfrm>
            <a:off x="8229600"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Quantum Approximate Optimization Algorithm (QAOA)</a:t>
            </a:r>
            <a:endParaRPr lang="en-US" sz="1600" dirty="0"/>
          </a:p>
        </p:txBody>
      </p:sp>
      <p:sp>
        <p:nvSpPr>
          <p:cNvPr id="35" name="Text 32"/>
          <p:cNvSpPr/>
          <p:nvPr>
            <p:custDataLst>
              <p:tags r:id="rId19"/>
            </p:custDataLst>
          </p:nvPr>
        </p:nvSpPr>
        <p:spPr>
          <a:xfrm>
            <a:off x="8229600" y="4657090"/>
            <a:ext cx="2872740" cy="200104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QAOA is a hybrid algorithm for solving combinatorial optimization problems. It balances quantum and classical resources to find approximate solutions more efficiently than classical methods alone.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Application Cases of Quantum Optimization Algorithms</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2779395" y="867410"/>
            <a:ext cx="6570345" cy="56216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138366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Comparison of Quantum Computing Technologies for Accelerating AI Training</a:t>
            </a:r>
            <a:endParaRPr lang="en-US" altLang="zh-CN" sz="2800" b="1" dirty="0">
              <a:solidFill>
                <a:srgbClr val="2F493E"/>
              </a:solidFill>
              <a:latin typeface="MiSans" pitchFamily="34" charset="-122"/>
              <a:ea typeface="MiSans" pitchFamily="34" charset="-122"/>
              <a:cs typeface="MiSans" pitchFamily="34" charset="-120"/>
            </a:endParaRPr>
          </a:p>
          <a:p>
            <a:pPr marL="0" indent="0" algn="just">
              <a:lnSpc>
                <a:spcPct val="100000"/>
              </a:lnSpc>
              <a:buNone/>
            </a:pP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p:cNvPicPr>
            <a:picLocks noChangeAspect="1"/>
          </p:cNvPicPr>
          <p:nvPr/>
        </p:nvPicPr>
        <p:blipFill>
          <a:blip r:embed="rId1"/>
          <a:stretch>
            <a:fillRect/>
          </a:stretch>
        </p:blipFill>
        <p:spPr>
          <a:xfrm>
            <a:off x="2898140" y="1325245"/>
            <a:ext cx="6864350" cy="52527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Quantum Communication and Intelligent Systems</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36445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QKD enables secure communication by generating shared secret keys using quantum principles. It ensures data privacy and security in intelligent systems.</a:t>
            </a:r>
            <a:endParaRPr lang="en-US" sz="1600" dirty="0"/>
          </a:p>
        </p:txBody>
      </p:sp>
      <p:sp>
        <p:nvSpPr>
          <p:cNvPr id="13" name="Text 10"/>
          <p:cNvSpPr/>
          <p:nvPr/>
        </p:nvSpPr>
        <p:spPr>
          <a:xfrm>
            <a:off x="1047115" y="3433353"/>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Quantum Key Distribution (QKD) and Secure Communication</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048272"/>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Quantum teleportation allows the transfer of quantum states without physical transmission. It can enhance distributed intelligent systems by enabling collaborative computations and knowledge sharing.</a:t>
            </a:r>
            <a:endParaRPr lang="en-US" sz="1600" dirty="0"/>
          </a:p>
        </p:txBody>
      </p:sp>
      <p:sp>
        <p:nvSpPr>
          <p:cNvPr id="18" name="Text 14"/>
          <p:cNvSpPr/>
          <p:nvPr/>
        </p:nvSpPr>
        <p:spPr>
          <a:xfrm>
            <a:off x="4490724" y="359395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Quantum Teleportation and Distributed Intelligent Systems</a:t>
            </a:r>
            <a:endParaRPr lang="en-US" sz="1600" dirty="0"/>
          </a:p>
        </p:txBody>
      </p:sp>
      <p:sp>
        <p:nvSpPr>
          <p:cNvPr id="19" name="Shape 15"/>
          <p:cNvSpPr/>
          <p:nvPr/>
        </p:nvSpPr>
        <p:spPr>
          <a:xfrm>
            <a:off x="8276590" y="1499855"/>
            <a:ext cx="3131820" cy="4437826"/>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163750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The quantum internet envisions a global network of quantum devices for secure communication and distributed computing. It holds promise for revolutionizing intelligent systems in the future.</a:t>
            </a:r>
            <a:endParaRPr lang="en-US" sz="1600" dirty="0"/>
          </a:p>
        </p:txBody>
      </p:sp>
      <p:sp>
        <p:nvSpPr>
          <p:cNvPr id="23" name="Text 18"/>
          <p:cNvSpPr/>
          <p:nvPr/>
        </p:nvSpPr>
        <p:spPr>
          <a:xfrm>
            <a:off x="8404225" y="3433353"/>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Quantum Internet and Future Intelligent Networks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04</a:t>
            </a:r>
            <a:endParaRPr lang="en-US" sz="1600" dirty="0"/>
          </a:p>
        </p:txBody>
      </p:sp>
      <p:sp>
        <p:nvSpPr>
          <p:cNvPr id="7" name="Text 3"/>
          <p:cNvSpPr/>
          <p:nvPr/>
        </p:nvSpPr>
        <p:spPr>
          <a:xfrm>
            <a:off x="5979795" y="3223895"/>
            <a:ext cx="4779645" cy="1437084"/>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Case Studies and Applications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Quantum Computing in Drug Discovery</a:t>
            </a:r>
            <a:endParaRPr lang="en-US" sz="1600" dirty="0"/>
          </a:p>
        </p:txBody>
      </p:sp>
      <p:pic>
        <p:nvPicPr>
          <p:cNvPr id="11" name="Image 0" descr="https://test-kimi-img.moonshot.cn/pub/slides/slides_tmpl/image/25-05-30-10:51:06-d0shq6k75iks832je5d0.png"/>
          <p:cNvPicPr>
            <a:picLocks noChangeAspect="1"/>
          </p:cNvPicPr>
          <p:nvPr/>
        </p:nvPicPr>
        <p:blipFill>
          <a:blip r:embed="rId1"/>
          <a:srcRect t="122" b="122"/>
          <a:stretch>
            <a:fillRect/>
          </a:stretch>
        </p:blipFill>
        <p:spPr>
          <a:xfrm>
            <a:off x="-32702" y="1633220"/>
            <a:ext cx="12257405" cy="1812290"/>
          </a:xfrm>
          <a:prstGeom prst="rect">
            <a:avLst/>
          </a:prstGeom>
        </p:spPr>
      </p:pic>
      <p:sp>
        <p:nvSpPr>
          <p:cNvPr id="12" name="Shape 9"/>
          <p:cNvSpPr/>
          <p:nvPr>
            <p:custDataLst>
              <p:tags r:id="rId2"/>
            </p:custDataLst>
          </p:nvPr>
        </p:nvSpPr>
        <p:spPr>
          <a:xfrm>
            <a:off x="2196561" y="2473621"/>
            <a:ext cx="1459038" cy="1459038"/>
          </a:xfrm>
          <a:prstGeom prst="ellipse">
            <a:avLst/>
          </a:prstGeom>
          <a:solidFill>
            <a:srgbClr val="FFFFFF"/>
          </a:solidFill>
          <a:ln w="19050">
            <a:solidFill>
              <a:srgbClr val="2E536D"/>
            </a:solidFill>
            <a:prstDash val="solid"/>
          </a:ln>
        </p:spPr>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custDataLst>
              <p:tags r:id="rId3"/>
            </p:custDataLst>
          </p:nvPr>
        </p:nvSpPr>
        <p:spPr>
          <a:xfrm>
            <a:off x="2388111" y="2665171"/>
            <a:ext cx="1075939" cy="1075939"/>
          </a:xfrm>
          <a:prstGeom prst="ellipse">
            <a:avLst/>
          </a:prstGeom>
          <a:solidFill>
            <a:srgbClr val="B4CA7C"/>
          </a:solidFill>
        </p:spPr>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4"/>
            </p:custDataLst>
          </p:nvPr>
        </p:nvSpPr>
        <p:spPr>
          <a:xfrm>
            <a:off x="5366481" y="2473621"/>
            <a:ext cx="1459038" cy="1459038"/>
          </a:xfrm>
          <a:prstGeom prst="ellipse">
            <a:avLst/>
          </a:prstGeom>
          <a:solidFill>
            <a:srgbClr val="FFFFFF"/>
          </a:solidFill>
          <a:ln w="19050">
            <a:solidFill>
              <a:srgbClr val="BFBFBF"/>
            </a:solidFill>
            <a:prstDash val="solid"/>
          </a:ln>
        </p:spPr>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custDataLst>
              <p:tags r:id="rId5"/>
            </p:custDataLst>
          </p:nvPr>
        </p:nvSpPr>
        <p:spPr>
          <a:xfrm>
            <a:off x="5558031" y="2665171"/>
            <a:ext cx="1075939" cy="1075939"/>
          </a:xfrm>
          <a:prstGeom prst="ellipse">
            <a:avLst/>
          </a:prstGeom>
          <a:solidFill>
            <a:srgbClr val="525E30"/>
          </a:solidFill>
        </p:spPr>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custDataLst>
              <p:tags r:id="rId6"/>
            </p:custDataLst>
          </p:nvPr>
        </p:nvSpPr>
        <p:spPr>
          <a:xfrm>
            <a:off x="8536401" y="2473621"/>
            <a:ext cx="1459038" cy="1459038"/>
          </a:xfrm>
          <a:prstGeom prst="ellipse">
            <a:avLst/>
          </a:prstGeom>
          <a:solidFill>
            <a:srgbClr val="FFFFFF"/>
          </a:solidFill>
          <a:ln w="19050">
            <a:solidFill>
              <a:srgbClr val="2E536D"/>
            </a:solidFill>
            <a:prstDash val="solid"/>
          </a:ln>
        </p:spPr>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custDataLst>
              <p:tags r:id="rId7"/>
            </p:custDataLst>
          </p:nvPr>
        </p:nvSpPr>
        <p:spPr>
          <a:xfrm>
            <a:off x="8727951" y="2665171"/>
            <a:ext cx="1075939" cy="1075939"/>
          </a:xfrm>
          <a:prstGeom prst="ellipse">
            <a:avLst/>
          </a:prstGeom>
          <a:solidFill>
            <a:srgbClr val="B4CA7C"/>
          </a:solidFill>
        </p:spPr>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custDataLst>
              <p:tags r:id="rId8"/>
            </p:custDataLst>
          </p:nvPr>
        </p:nvSpPr>
        <p:spPr>
          <a:xfrm>
            <a:off x="2552868" y="2907327"/>
            <a:ext cx="726482" cy="584775"/>
          </a:xfrm>
          <a:prstGeom prst="rect">
            <a:avLst/>
          </a:prstGeom>
          <a:solidFill>
            <a:srgbClr val="000000">
              <a:alpha val="0"/>
            </a:srgbClr>
          </a:solidFill>
        </p:spPr>
      </p:sp>
      <p:sp>
        <p:nvSpPr>
          <p:cNvPr id="25" name="Text 22"/>
          <p:cNvSpPr/>
          <p:nvPr>
            <p:custDataLst>
              <p:tags r:id="rId9"/>
            </p:custDataLst>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custDataLst>
              <p:tags r:id="rId10"/>
            </p:custDataLst>
          </p:nvPr>
        </p:nvSpPr>
        <p:spPr>
          <a:xfrm>
            <a:off x="5722788" y="2907327"/>
            <a:ext cx="726482" cy="584775"/>
          </a:xfrm>
          <a:prstGeom prst="rect">
            <a:avLst/>
          </a:prstGeom>
          <a:solidFill>
            <a:srgbClr val="000000">
              <a:alpha val="0"/>
            </a:srgbClr>
          </a:solidFill>
        </p:spPr>
      </p:sp>
      <p:sp>
        <p:nvSpPr>
          <p:cNvPr id="27" name="Text 24"/>
          <p:cNvSpPr/>
          <p:nvPr>
            <p:custDataLst>
              <p:tags r:id="rId11"/>
            </p:custDataLst>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custDataLst>
              <p:tags r:id="rId12"/>
            </p:custDataLst>
          </p:nvPr>
        </p:nvSpPr>
        <p:spPr>
          <a:xfrm>
            <a:off x="8912650" y="2907327"/>
            <a:ext cx="726482" cy="584775"/>
          </a:xfrm>
          <a:prstGeom prst="rect">
            <a:avLst/>
          </a:prstGeom>
          <a:solidFill>
            <a:srgbClr val="000000">
              <a:alpha val="0"/>
            </a:srgbClr>
          </a:solidFill>
        </p:spPr>
      </p:sp>
      <p:sp>
        <p:nvSpPr>
          <p:cNvPr id="29" name="Text 26"/>
          <p:cNvSpPr/>
          <p:nvPr>
            <p:custDataLst>
              <p:tags r:id="rId13"/>
            </p:custDataLst>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custDataLst>
              <p:tags r:id="rId14"/>
            </p:custDataLst>
          </p:nvPr>
        </p:nvSpPr>
        <p:spPr>
          <a:xfrm>
            <a:off x="1376045"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Quantum Algorithms for Molecular Simulation</a:t>
            </a:r>
            <a:endParaRPr lang="en-US" sz="1600" dirty="0"/>
          </a:p>
        </p:txBody>
      </p:sp>
      <p:sp>
        <p:nvSpPr>
          <p:cNvPr id="31" name="Text 28"/>
          <p:cNvSpPr/>
          <p:nvPr>
            <p:custDataLst>
              <p:tags r:id="rId15"/>
            </p:custDataLst>
          </p:nvPr>
        </p:nvSpPr>
        <p:spPr>
          <a:xfrm>
            <a:off x="1376045" y="4552950"/>
            <a:ext cx="2872740"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algorithms like VQE can simulate molecular behavior more accurately than classical methods. This enables precise predictions of molecular properties, accelerating drug discovery.</a:t>
            </a:r>
            <a:endParaRPr lang="en-US" sz="1600" dirty="0"/>
          </a:p>
        </p:txBody>
      </p:sp>
      <p:sp>
        <p:nvSpPr>
          <p:cNvPr id="32" name="Text 29"/>
          <p:cNvSpPr/>
          <p:nvPr>
            <p:custDataLst>
              <p:tags r:id="rId16"/>
            </p:custDataLst>
          </p:nvPr>
        </p:nvSpPr>
        <p:spPr>
          <a:xfrm>
            <a:off x="4708525"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Quantum Machine Learning for Drug Screening</a:t>
            </a:r>
            <a:endParaRPr lang="en-US" sz="1600" dirty="0"/>
          </a:p>
        </p:txBody>
      </p:sp>
      <p:sp>
        <p:nvSpPr>
          <p:cNvPr id="33" name="Text 30"/>
          <p:cNvSpPr/>
          <p:nvPr>
            <p:custDataLst>
              <p:tags r:id="rId17"/>
            </p:custDataLst>
          </p:nvPr>
        </p:nvSpPr>
        <p:spPr>
          <a:xfrm>
            <a:off x="4708525" y="4601845"/>
            <a:ext cx="2872740"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machine learning can process large molecular datasets more efficiently, identifying potential drug candidates faster. This reduces the time and cost associated with drug development.</a:t>
            </a:r>
            <a:endParaRPr lang="en-US" sz="1600" dirty="0"/>
          </a:p>
        </p:txBody>
      </p:sp>
      <p:sp>
        <p:nvSpPr>
          <p:cNvPr id="34" name="Text 31"/>
          <p:cNvSpPr/>
          <p:nvPr>
            <p:custDataLst>
              <p:tags r:id="rId18"/>
            </p:custDataLst>
          </p:nvPr>
        </p:nvSpPr>
        <p:spPr>
          <a:xfrm>
            <a:off x="8229600" y="4036695"/>
            <a:ext cx="3100705" cy="787400"/>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Case Study: Quantum Computing in Cancer Drug Development</a:t>
            </a:r>
            <a:endParaRPr lang="en-US" sz="1600" dirty="0"/>
          </a:p>
        </p:txBody>
      </p:sp>
      <p:sp>
        <p:nvSpPr>
          <p:cNvPr id="35" name="Text 32"/>
          <p:cNvSpPr/>
          <p:nvPr>
            <p:custDataLst>
              <p:tags r:id="rId19"/>
            </p:custDataLst>
          </p:nvPr>
        </p:nvSpPr>
        <p:spPr>
          <a:xfrm>
            <a:off x="8229600" y="4750435"/>
            <a:ext cx="2872740" cy="200104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computing has been used to simulate cancer cell interactions and identify potential drug candidates. This has the potential to transform cancer therapy by offering more effective treatments.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Quantum Computing in Financial Risk Management</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36445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Quantum algorithms like QAOA can optimize investment portfolios more efficiently, considering multiple factors to maximize returns while minimizing risks.</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Quantum Algorithms for Portfolio Optimization</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1463080"/>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Quantum machine learning can detect subtle patterns in financial transactions, improving fraud detection accuracy and reducing losses.</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Quantum Machine Learning for Fraud Detection</a:t>
            </a:r>
            <a:endParaRPr lang="en-US" sz="1600" dirty="0"/>
          </a:p>
        </p:txBody>
      </p:sp>
      <p:sp>
        <p:nvSpPr>
          <p:cNvPr id="19" name="Shape 15"/>
          <p:cNvSpPr/>
          <p:nvPr/>
        </p:nvSpPr>
        <p:spPr>
          <a:xfrm>
            <a:off x="8276590" y="1499855"/>
            <a:ext cx="3131820" cy="4437826"/>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28355" y="1556997"/>
            <a:ext cx="2783205" cy="1633785"/>
          </a:xfrm>
          <a:prstGeom prst="rect">
            <a:avLst/>
          </a:prstGeom>
        </p:spPr>
      </p:pic>
      <p:sp>
        <p:nvSpPr>
          <p:cNvPr id="22" name="Text 17"/>
          <p:cNvSpPr/>
          <p:nvPr/>
        </p:nvSpPr>
        <p:spPr>
          <a:xfrm>
            <a:off x="8407400" y="4026412"/>
            <a:ext cx="2827020" cy="136445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Quantum computing has been used to improve credit risk assessment models, providing more accurate predictions of borrower default likelihood.</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Case Study: Quantum Computing in Credit Risk Assessment</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Quantum Computing in Intelligent Transportation Systems</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796030" y="1413510"/>
            <a:ext cx="8031480" cy="460248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67175" y="2952115"/>
            <a:ext cx="7560310" cy="0"/>
          </a:xfrm>
          <a:prstGeom prst="line">
            <a:avLst/>
          </a:prstGeom>
          <a:noFill/>
          <a:ln w="12700">
            <a:solidFill>
              <a:srgbClr val="9FB26A"/>
            </a:solidFill>
            <a:prstDash val="dash"/>
            <a:headEnd type="none"/>
            <a:tailEnd type="none"/>
          </a:ln>
        </p:spPr>
      </p:sp>
      <p:sp>
        <p:nvSpPr>
          <p:cNvPr id="17" name="Shape 14"/>
          <p:cNvSpPr/>
          <p:nvPr/>
        </p:nvSpPr>
        <p:spPr>
          <a:xfrm>
            <a:off x="4067175" y="4481830"/>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Quantum Optimization for Traffic Flow Management</a:t>
            </a:r>
            <a:endParaRPr lang="en-US" sz="1600" dirty="0"/>
          </a:p>
        </p:txBody>
      </p:sp>
      <p:sp>
        <p:nvSpPr>
          <p:cNvPr id="19" name="Text 16"/>
          <p:cNvSpPr/>
          <p:nvPr/>
        </p:nvSpPr>
        <p:spPr>
          <a:xfrm>
            <a:off x="4038600" y="1941830"/>
            <a:ext cx="761619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algorithms can optimize traffic routing more efficiently, reducing congestion and improving overall traffic efficiency.</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Quantum Machine Learning for Predictive Maintenance</a:t>
            </a:r>
            <a:endParaRPr lang="en-US" sz="1600" dirty="0"/>
          </a:p>
        </p:txBody>
      </p:sp>
      <p:sp>
        <p:nvSpPr>
          <p:cNvPr id="21" name="Text 18"/>
          <p:cNvSpPr/>
          <p:nvPr/>
        </p:nvSpPr>
        <p:spPr>
          <a:xfrm>
            <a:off x="4038600" y="3471545"/>
            <a:ext cx="761619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machine learning can analyze vehicle performance data to predict equipment failures, enabling proactive maintenance and reducing downtime.</a:t>
            </a:r>
            <a:endParaRPr lang="en-US" sz="1600" dirty="0"/>
          </a:p>
        </p:txBody>
      </p:sp>
      <p:sp>
        <p:nvSpPr>
          <p:cNvPr id="22" name="Text 19"/>
          <p:cNvSpPr/>
          <p:nvPr/>
        </p:nvSpPr>
        <p:spPr>
          <a:xfrm>
            <a:off x="4038600" y="4632325"/>
            <a:ext cx="7617460" cy="645517"/>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Case Study: Quantum Computing in Autonomous Vehicle Routing</a:t>
            </a:r>
            <a:endParaRPr lang="en-US" sz="1600" dirty="0"/>
          </a:p>
        </p:txBody>
      </p:sp>
      <p:sp>
        <p:nvSpPr>
          <p:cNvPr id="23" name="Text 20"/>
          <p:cNvSpPr/>
          <p:nvPr/>
        </p:nvSpPr>
        <p:spPr>
          <a:xfrm>
            <a:off x="4038600" y="5001260"/>
            <a:ext cx="761619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computing has been used to optimize autonomous vehicle routing, improving travel time and overall transportation efficiency.</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05</a:t>
            </a:r>
            <a:endParaRPr lang="en-US" sz="1600" dirty="0"/>
          </a:p>
        </p:txBody>
      </p:sp>
      <p:sp>
        <p:nvSpPr>
          <p:cNvPr id="7" name="Text 3"/>
          <p:cNvSpPr/>
          <p:nvPr/>
        </p:nvSpPr>
        <p:spPr>
          <a:xfrm>
            <a:off x="5979795" y="3223895"/>
            <a:ext cx="4779645" cy="1437084"/>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Challenges and Future Directions</a:t>
            </a:r>
            <a:endParaRPr lang="en-US" sz="1600" dirty="0"/>
          </a:p>
        </p:txBody>
      </p:sp>
      <p:sp>
        <p:nvSpPr>
          <p:cNvPr id="8" name="Text 4"/>
          <p:cNvSpPr/>
          <p:nvPr/>
        </p:nvSpPr>
        <p:spPr>
          <a:xfrm>
            <a:off x="649605" y="269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1"/>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Technical Challenges in Quantum-Intelligent Integration</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71720" y="3249295"/>
            <a:ext cx="3194685" cy="276860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93100" y="3274695"/>
            <a:ext cx="3157220" cy="275780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71720" y="1171575"/>
            <a:ext cx="4551045" cy="7747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Error Correction and Fault Tolerance</a:t>
            </a:r>
            <a:endParaRPr lang="en-US" sz="1600" dirty="0"/>
          </a:p>
        </p:txBody>
      </p:sp>
      <p:sp>
        <p:nvSpPr>
          <p:cNvPr id="21" name="Text 18"/>
          <p:cNvSpPr/>
          <p:nvPr/>
        </p:nvSpPr>
        <p:spPr>
          <a:xfrm>
            <a:off x="4802505" y="1946275"/>
            <a:ext cx="6647815"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Developing error correction codes and fault-tolerant architectures is essential for reliable quantum computations. This is crucial for quantum machine learning and optimization algorithms.</a:t>
            </a:r>
            <a:endParaRPr lang="en-US" sz="1600" dirty="0"/>
          </a:p>
        </p:txBody>
      </p:sp>
      <p:sp>
        <p:nvSpPr>
          <p:cNvPr id="23" name="Text 20"/>
          <p:cNvSpPr/>
          <p:nvPr/>
        </p:nvSpPr>
        <p:spPr>
          <a:xfrm>
            <a:off x="50482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Scalability of Quantum Systems</a:t>
            </a:r>
            <a:endParaRPr lang="en-US" sz="1600" dirty="0"/>
          </a:p>
        </p:txBody>
      </p:sp>
      <p:sp>
        <p:nvSpPr>
          <p:cNvPr id="24" name="Text 21"/>
          <p:cNvSpPr/>
          <p:nvPr/>
        </p:nvSpPr>
        <p:spPr>
          <a:xfrm>
            <a:off x="8337550" y="341947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Integration with Classical Systems</a:t>
            </a:r>
            <a:endParaRPr lang="en-US" sz="1600" dirty="0"/>
          </a:p>
        </p:txBody>
      </p:sp>
      <p:sp>
        <p:nvSpPr>
          <p:cNvPr id="25" name="Text 22"/>
          <p:cNvSpPr/>
          <p:nvPr/>
        </p:nvSpPr>
        <p:spPr>
          <a:xfrm>
            <a:off x="5048250" y="3828415"/>
            <a:ext cx="2872740"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Scaling up quantum systems to handle larger problems is a significant challenge. Researchers are exploring modular architectures and error correction techniques to improve scalability.</a:t>
            </a:r>
            <a:endParaRPr lang="en-US" sz="1600" dirty="0"/>
          </a:p>
        </p:txBody>
      </p:sp>
      <p:sp>
        <p:nvSpPr>
          <p:cNvPr id="26" name="Text 23"/>
          <p:cNvSpPr/>
          <p:nvPr/>
        </p:nvSpPr>
        <p:spPr>
          <a:xfrm>
            <a:off x="8418195" y="3954780"/>
            <a:ext cx="2872740"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Integrating quantum and classical systems requires efficient data transfer and hybrid computation frameworks. This ensures compatibility between quantum and classical algorithms.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Limitations and Challenges of Quantum Computing Hardware and Software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文本框 23"/>
          <p:cNvSpPr txBox="1"/>
          <p:nvPr/>
        </p:nvSpPr>
        <p:spPr>
          <a:xfrm>
            <a:off x="1272540" y="1362075"/>
            <a:ext cx="9535795" cy="4485640"/>
          </a:xfrm>
          <a:prstGeom prst="rect">
            <a:avLst/>
          </a:prstGeom>
        </p:spPr>
        <p:txBody>
          <a:bodyPr>
            <a:noAutofit/>
          </a:bodyPr>
          <a:p>
            <a:pPr marL="0" indent="0">
              <a:lnSpc>
                <a:spcPts val="1400"/>
              </a:lnSpc>
              <a:spcBef>
                <a:spcPts val="400"/>
              </a:spcBef>
              <a:spcAft>
                <a:spcPts val="400"/>
              </a:spcAft>
              <a:buNone/>
            </a:pPr>
            <a:r>
              <a:rPr lang="en-US" altLang="zh-CN" b="1" i="0" dirty="0">
                <a:solidFill>
                  <a:srgbClr val="2B2F36"/>
                </a:solidFill>
                <a:latin typeface="MiSans" pitchFamily="34" charset="-122"/>
                <a:ea typeface="MiSans" pitchFamily="34" charset="-122"/>
                <a:cs typeface="MiSans" pitchFamily="34" charset="-120"/>
              </a:rPr>
              <a:t>Hardware Limitations</a:t>
            </a:r>
            <a:endParaRPr lang="en-US" altLang="zh-CN" b="1"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400" b="0" i="0" dirty="0">
                <a:solidFill>
                  <a:srgbClr val="2B2F36"/>
                </a:solidFill>
                <a:latin typeface="MiSans" pitchFamily="34" charset="-122"/>
                <a:ea typeface="MiSans" pitchFamily="34" charset="-122"/>
                <a:cs typeface="MiSans" pitchFamily="34" charset="-120"/>
              </a:rPr>
              <a:t>1.Quantity and quality of qubits: Building qubits with sufficient quantity and high quality (low error rate, long coherence time) remains a huge challenge. The number of qubits in current quantum computers is far from the scale required to solve practical complex problems. </a:t>
            </a: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400" b="0" i="0" dirty="0">
                <a:solidFill>
                  <a:srgbClr val="2B2F36"/>
                </a:solidFill>
                <a:latin typeface="MiSans" pitchFamily="34" charset="-122"/>
                <a:ea typeface="MiSans" pitchFamily="34" charset="-122"/>
                <a:cs typeface="MiSans" pitchFamily="34" charset="-120"/>
              </a:rPr>
              <a:t>2.Coherence: The coherence time of qubits is still relatively short, limiting the complexity and runtime of quantum algorithms.</a:t>
            </a: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400" b="0" i="0" dirty="0">
                <a:solidFill>
                  <a:srgbClr val="2B2F36"/>
                </a:solidFill>
                <a:latin typeface="MiSans" pitchFamily="34" charset="-122"/>
                <a:ea typeface="MiSans" pitchFamily="34" charset="-122"/>
                <a:cs typeface="MiSans" pitchFamily="34" charset="-120"/>
              </a:rPr>
              <a:t>3.Scalability: How to effectively scale up quantum computers, increase the number of qubits while maintaining their performance, remains a technical challenge.</a:t>
            </a: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400" b="0" i="0" dirty="0">
                <a:solidFill>
                  <a:srgbClr val="2B2F36"/>
                </a:solidFill>
                <a:latin typeface="MiSans" pitchFamily="34" charset="-122"/>
                <a:ea typeface="MiSans" pitchFamily="34" charset="-122"/>
                <a:cs typeface="MiSans" pitchFamily="34" charset="-120"/>
              </a:rPr>
              <a:t>4.Operational precision and fidelity: Improving the operational precision and fidelity of quantum gates and reducing error rates are key to achieving reliable quantum computing.</a:t>
            </a: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endParaRPr lang="en-US" altLang="zh-CN" sz="1400" b="0" i="0" dirty="0">
              <a:solidFill>
                <a:srgbClr val="2B2F36"/>
              </a:solidFill>
              <a:latin typeface="MiSans" pitchFamily="34" charset="-122"/>
              <a:ea typeface="MiSans" pitchFamily="34" charset="-122"/>
              <a:cs typeface="MiSans" pitchFamily="34" charset="-120"/>
            </a:endParaRPr>
          </a:p>
          <a:p>
            <a:pPr marL="0" indent="0">
              <a:lnSpc>
                <a:spcPts val="1400"/>
              </a:lnSpc>
              <a:spcBef>
                <a:spcPts val="400"/>
              </a:spcBef>
              <a:spcAft>
                <a:spcPts val="400"/>
              </a:spcAft>
              <a:buNone/>
            </a:pPr>
            <a:r>
              <a:rPr lang="en-US" altLang="zh-CN" sz="1400" b="0" i="0" dirty="0">
                <a:solidFill>
                  <a:srgbClr val="2B2F36"/>
                </a:solidFill>
                <a:latin typeface="MiSans" pitchFamily="34" charset="-122"/>
                <a:ea typeface="MiSans" pitchFamily="34" charset="-122"/>
                <a:cs typeface="MiSans" pitchFamily="34" charset="-120"/>
              </a:rPr>
              <a:t>5.Low-temperature and environmental control: Some qubit technologies (e.g., superconducting qubits) require operation in extremely low-temperature environments close to absolute zero, increasing cost and complexity.</a:t>
            </a:r>
            <a:endParaRPr lang="en-US" altLang="zh-CN" sz="1400" b="0" i="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Limitations and Challenges of Quantum Computing Hardware and Software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文本框 23"/>
          <p:cNvSpPr txBox="1"/>
          <p:nvPr/>
        </p:nvSpPr>
        <p:spPr>
          <a:xfrm>
            <a:off x="1272540" y="1362075"/>
            <a:ext cx="9535795" cy="4485640"/>
          </a:xfrm>
          <a:prstGeom prst="rect">
            <a:avLst/>
          </a:prstGeom>
        </p:spPr>
        <p:txBody>
          <a:bodyPr>
            <a:noAutofit/>
          </a:bodyPr>
          <a:p>
            <a:pPr marL="0" algn="l">
              <a:lnSpc>
                <a:spcPts val="1400"/>
              </a:lnSpc>
              <a:spcBef>
                <a:spcPts val="400"/>
              </a:spcBef>
              <a:spcAft>
                <a:spcPts val="400"/>
              </a:spcAft>
              <a:buClrTx/>
              <a:buSzTx/>
              <a:buFontTx/>
              <a:buNone/>
            </a:pPr>
            <a:r>
              <a:rPr lang="en-US" altLang="zh-CN" sz="1800" b="1" i="0" dirty="0">
                <a:solidFill>
                  <a:srgbClr val="2B2F36"/>
                </a:solidFill>
                <a:latin typeface="MiSans" pitchFamily="34" charset="-122"/>
                <a:ea typeface="MiSans" pitchFamily="34" charset="-122"/>
                <a:cs typeface="MiSans" pitchFamily="34" charset="-120"/>
              </a:rPr>
              <a:t>Software Limitations</a:t>
            </a:r>
            <a:endParaRPr lang="en-US" altLang="zh-CN" sz="1800" b="1"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None/>
            </a:pPr>
            <a:r>
              <a:rPr lang="en-US" altLang="zh-CN" sz="1400" b="0" i="0" dirty="0">
                <a:solidFill>
                  <a:srgbClr val="2B2F36"/>
                </a:solidFill>
                <a:latin typeface="MiSans" pitchFamily="34" charset="-122"/>
                <a:ea typeface="MiSans" pitchFamily="34" charset="-122"/>
                <a:cs typeface="MiSans" pitchFamily="34" charset="-120"/>
              </a:rPr>
              <a:t>1.Development of quantum algorithms: Designing efficient quantum algorithms for specific AI tasks remains a challenge. </a:t>
            </a:r>
            <a:endParaRPr lang="en-US" altLang="zh-CN" sz="1400" b="0"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None/>
            </a:pPr>
            <a:endParaRPr lang="en-US" altLang="zh-CN" sz="1400" b="0"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None/>
            </a:pPr>
            <a:r>
              <a:rPr lang="en-US" altLang="zh-CN" sz="1400" b="0" i="0" dirty="0">
                <a:solidFill>
                  <a:srgbClr val="2B2F36"/>
                </a:solidFill>
                <a:latin typeface="MiSans" pitchFamily="34" charset="-122"/>
                <a:ea typeface="MiSans" pitchFamily="34" charset="-122"/>
                <a:cs typeface="MiSans" pitchFamily="34" charset="-120"/>
              </a:rPr>
              <a:t>2.Quantum programming and development tools: The programming models of quantum computing differ significantly from classical computing, and there is a lack of mature, user-friendly development tools and programming languages.</a:t>
            </a:r>
            <a:endParaRPr lang="en-US" altLang="zh-CN" sz="1400" b="0"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None/>
            </a:pPr>
            <a:endParaRPr lang="en-US" altLang="zh-CN" sz="1400" b="0"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None/>
            </a:pPr>
            <a:r>
              <a:rPr lang="en-US" altLang="zh-CN" sz="1400" b="0" i="0" dirty="0">
                <a:solidFill>
                  <a:srgbClr val="2B2F36"/>
                </a:solidFill>
                <a:latin typeface="MiSans" pitchFamily="34" charset="-122"/>
                <a:ea typeface="MiSans" pitchFamily="34" charset="-122"/>
                <a:cs typeface="MiSans" pitchFamily="34" charset="-120"/>
              </a:rPr>
              <a:t>3.Capabilities of quantum simulators: Given the limited availability of real quantum hardware, high-performance quantum simulators are crucial for algorithm development and verification. However, simulating large-scale quantum systems remains extremely difficult.</a:t>
            </a:r>
            <a:endParaRPr lang="en-US" altLang="zh-CN" sz="1400" b="0" i="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Limitations and Challenges of Quantum Computing Hardware and Software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文本框 23"/>
          <p:cNvSpPr txBox="1"/>
          <p:nvPr/>
        </p:nvSpPr>
        <p:spPr>
          <a:xfrm>
            <a:off x="1272540" y="1362075"/>
            <a:ext cx="9535795" cy="4485640"/>
          </a:xfrm>
          <a:prstGeom prst="rect">
            <a:avLst/>
          </a:prstGeom>
        </p:spPr>
        <p:txBody>
          <a:bodyPr>
            <a:noAutofit/>
          </a:bodyPr>
          <a:p>
            <a:pPr marL="0" algn="l">
              <a:lnSpc>
                <a:spcPts val="1400"/>
              </a:lnSpc>
              <a:spcBef>
                <a:spcPts val="400"/>
              </a:spcBef>
              <a:spcAft>
                <a:spcPts val="400"/>
              </a:spcAft>
              <a:buClrTx/>
              <a:buSzTx/>
              <a:buFontTx/>
              <a:buNone/>
            </a:pPr>
            <a:r>
              <a:rPr lang="en-US" altLang="zh-CN" sz="1800" b="1" i="0" dirty="0">
                <a:solidFill>
                  <a:srgbClr val="2B2F36"/>
                </a:solidFill>
                <a:latin typeface="MiSans" pitchFamily="34" charset="-122"/>
                <a:ea typeface="MiSans" pitchFamily="34" charset="-122"/>
                <a:cs typeface="MiSans" pitchFamily="34" charset="-120"/>
              </a:rPr>
              <a:t>Potential Solutions and Technical Breakthrough Directions</a:t>
            </a:r>
            <a:endParaRPr lang="en-US" altLang="zh-CN" sz="1800" b="1"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FontTx/>
              <a:buNone/>
            </a:pPr>
            <a:r>
              <a:rPr lang="en-US" altLang="zh-CN" sz="1400" b="0" i="0" dirty="0">
                <a:solidFill>
                  <a:srgbClr val="2B2F36"/>
                </a:solidFill>
                <a:latin typeface="MiSans" pitchFamily="34" charset="-122"/>
                <a:ea typeface="MiSans" pitchFamily="34" charset="-122"/>
                <a:cs typeface="MiSans" pitchFamily="34" charset="-120"/>
              </a:rPr>
              <a:t>1.Quantum error correction: Developing effective quantum error-correcting codes and fault-tolerant computing techniques is key to building large-scale reliable quantum computers. </a:t>
            </a:r>
            <a:endParaRPr lang="en-US" altLang="zh-CN" sz="1400" b="0"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FontTx/>
              <a:buNone/>
            </a:pPr>
            <a:endParaRPr lang="en-US" altLang="zh-CN" sz="1400" b="0"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FontTx/>
              <a:buNone/>
            </a:pPr>
            <a:r>
              <a:rPr lang="en-US" altLang="zh-CN" sz="1400" b="0" i="0" dirty="0">
                <a:solidFill>
                  <a:srgbClr val="2B2F36"/>
                </a:solidFill>
                <a:latin typeface="MiSans" pitchFamily="34" charset="-122"/>
                <a:ea typeface="MiSans" pitchFamily="34" charset="-122"/>
                <a:cs typeface="MiSans" pitchFamily="34" charset="-120"/>
              </a:rPr>
              <a:t>2.New qubit technologies: Exploring and developing new qubit technologies that are more stable, easier to control, and scalable.</a:t>
            </a:r>
            <a:endParaRPr lang="en-US" altLang="zh-CN" sz="1400" b="0"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FontTx/>
              <a:buNone/>
            </a:pPr>
            <a:endParaRPr lang="en-US" altLang="zh-CN" sz="1400" b="0"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FontTx/>
              <a:buNone/>
            </a:pPr>
            <a:r>
              <a:rPr lang="en-US" altLang="zh-CN" sz="1400" b="0" i="0" dirty="0">
                <a:solidFill>
                  <a:srgbClr val="2B2F36"/>
                </a:solidFill>
                <a:latin typeface="MiSans" pitchFamily="34" charset="-122"/>
                <a:ea typeface="MiSans" pitchFamily="34" charset="-122"/>
                <a:cs typeface="MiSans" pitchFamily="34" charset="-120"/>
              </a:rPr>
              <a:t>3.Hybrid quantum-classical computing: Combining the advantages of classical and quantum computers to accelerate computationally intensive parts of classical algorithms using quantum computing.</a:t>
            </a:r>
            <a:endParaRPr lang="en-US" altLang="zh-CN" sz="1400" b="0"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FontTx/>
              <a:buNone/>
            </a:pPr>
            <a:endParaRPr lang="en-US" altLang="zh-CN" sz="1400" b="0" i="0" dirty="0">
              <a:solidFill>
                <a:srgbClr val="2B2F36"/>
              </a:solidFill>
              <a:latin typeface="MiSans" pitchFamily="34" charset="-122"/>
              <a:ea typeface="MiSans" pitchFamily="34" charset="-122"/>
              <a:cs typeface="MiSans" pitchFamily="34" charset="-120"/>
            </a:endParaRPr>
          </a:p>
          <a:p>
            <a:pPr marL="0" algn="l">
              <a:lnSpc>
                <a:spcPts val="1400"/>
              </a:lnSpc>
              <a:spcBef>
                <a:spcPts val="400"/>
              </a:spcBef>
              <a:spcAft>
                <a:spcPts val="400"/>
              </a:spcAft>
              <a:buClrTx/>
              <a:buSzTx/>
              <a:buFontTx/>
              <a:buNone/>
            </a:pPr>
            <a:r>
              <a:rPr lang="en-US" altLang="zh-CN" sz="1400" b="0" i="0" dirty="0">
                <a:solidFill>
                  <a:srgbClr val="2B2F36"/>
                </a:solidFill>
                <a:latin typeface="MiSans" pitchFamily="34" charset="-122"/>
                <a:ea typeface="MiSans" pitchFamily="34" charset="-122"/>
                <a:cs typeface="MiSans" pitchFamily="34" charset="-120"/>
              </a:rPr>
              <a:t>4.Construction of the quantum software ecosystem: Developing more advanced quantum programming languages, compilers, algorithm libraries, and application toolkits to lower the entry barrier for quantum computing.</a:t>
            </a:r>
            <a:endParaRPr lang="en-US" altLang="zh-CN" sz="1400" b="0" i="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Limitations and Challenges of Quantum Computing Hardware and Software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图片 12"/>
          <p:cNvPicPr>
            <a:picLocks noChangeAspect="1"/>
          </p:cNvPicPr>
          <p:nvPr/>
        </p:nvPicPr>
        <p:blipFill>
          <a:blip r:embed="rId1"/>
          <a:stretch>
            <a:fillRect/>
          </a:stretch>
        </p:blipFill>
        <p:spPr>
          <a:xfrm>
            <a:off x="2931160" y="1464310"/>
            <a:ext cx="6847840" cy="45389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Limitations and Challenges of Quantum Computing Hardware and Software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4" name="图片 13"/>
          <p:cNvPicPr>
            <a:picLocks noChangeAspect="1"/>
          </p:cNvPicPr>
          <p:nvPr/>
        </p:nvPicPr>
        <p:blipFill>
          <a:blip r:embed="rId1"/>
          <a:stretch>
            <a:fillRect/>
          </a:stretch>
        </p:blipFill>
        <p:spPr>
          <a:xfrm>
            <a:off x="1725295" y="1516380"/>
            <a:ext cx="9214485" cy="400240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Ethical and Societal Implications</a:t>
            </a:r>
            <a:endParaRPr lang="en-US" sz="1600" dirty="0"/>
          </a:p>
        </p:txBody>
      </p:sp>
      <p:pic>
        <p:nvPicPr>
          <p:cNvPr id="11" name="Image 0" descr="https://test-kimi-img.moonshot.cn/pub/slides/slides_tmpl/image/25-05-30-10:51:06-d0shq6k75iks832je5d0.png"/>
          <p:cNvPicPr>
            <a:picLocks noChangeAspect="1"/>
          </p:cNvPicPr>
          <p:nvPr/>
        </p:nvPicPr>
        <p:blipFill>
          <a:blip r:embed="rId1"/>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Privacy and Security Concerns</a:t>
            </a:r>
            <a:endParaRPr lang="en-US" sz="1600" dirty="0"/>
          </a:p>
        </p:txBody>
      </p:sp>
      <p:sp>
        <p:nvSpPr>
          <p:cNvPr id="31" name="Text 28"/>
          <p:cNvSpPr/>
          <p:nvPr/>
        </p:nvSpPr>
        <p:spPr>
          <a:xfrm>
            <a:off x="1376045" y="4379595"/>
            <a:ext cx="2872740"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computing poses a threat to classical cryptography. Developing quantum-resistant cryptographic methods is essential to protect data privacy and security.</a:t>
            </a:r>
            <a:endParaRPr lang="en-US" sz="1600" dirty="0"/>
          </a:p>
        </p:txBody>
      </p:sp>
      <p:sp>
        <p:nvSpPr>
          <p:cNvPr id="32" name="Text 29"/>
          <p:cNvSpPr/>
          <p:nvPr/>
        </p:nvSpPr>
        <p:spPr>
          <a:xfrm>
            <a:off x="4708525"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Bias and Fairness in Quantum Machine Learning</a:t>
            </a:r>
            <a:endParaRPr lang="en-US" sz="1600" dirty="0"/>
          </a:p>
        </p:txBody>
      </p:sp>
      <p:sp>
        <p:nvSpPr>
          <p:cNvPr id="33" name="Text 30"/>
          <p:cNvSpPr/>
          <p:nvPr/>
        </p:nvSpPr>
        <p:spPr>
          <a:xfrm>
            <a:off x="4708525" y="4552950"/>
            <a:ext cx="2872740" cy="1429345"/>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machine learning algorithms can inherit biases from training data. Developing methods to detect and mitigate bias is crucial for fairness and reliability.</a:t>
            </a:r>
            <a:endParaRPr lang="en-US" sz="1600" dirty="0"/>
          </a:p>
        </p:txBody>
      </p:sp>
      <p:sp>
        <p:nvSpPr>
          <p:cNvPr id="34" name="Text 31"/>
          <p:cNvSpPr/>
          <p:nvPr/>
        </p:nvSpPr>
        <p:spPr>
          <a:xfrm>
            <a:off x="8229600"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Impact on Employment and Society</a:t>
            </a:r>
            <a:endParaRPr lang="en-US" sz="1600" dirty="0"/>
          </a:p>
        </p:txBody>
      </p:sp>
      <p:sp>
        <p:nvSpPr>
          <p:cNvPr id="35" name="Text 32"/>
          <p:cNvSpPr/>
          <p:nvPr/>
        </p:nvSpPr>
        <p:spPr>
          <a:xfrm>
            <a:off x="8229600" y="4552950"/>
            <a:ext cx="2872740"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adoption of quantum and intelligent computing technologies can lead to job displacement. Strategies for retraining and upskilling workers are essential to mitigate negative impacts.</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Future Prospects and Opportunities</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796030" y="1413510"/>
            <a:ext cx="8031480" cy="460248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67175" y="2952115"/>
            <a:ext cx="7560310" cy="0"/>
          </a:xfrm>
          <a:prstGeom prst="line">
            <a:avLst/>
          </a:prstGeom>
          <a:noFill/>
          <a:ln w="12700">
            <a:solidFill>
              <a:srgbClr val="9FB26A"/>
            </a:solidFill>
            <a:prstDash val="dash"/>
            <a:headEnd type="none"/>
            <a:tailEnd type="none"/>
          </a:ln>
        </p:spPr>
      </p:sp>
      <p:sp>
        <p:nvSpPr>
          <p:cNvPr id="17" name="Shape 14"/>
          <p:cNvSpPr/>
          <p:nvPr/>
        </p:nvSpPr>
        <p:spPr>
          <a:xfrm>
            <a:off x="4067175" y="4481830"/>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Advancements in Quantum Hardware</a:t>
            </a:r>
            <a:endParaRPr lang="en-US" sz="1600" dirty="0"/>
          </a:p>
        </p:txBody>
      </p:sp>
      <p:sp>
        <p:nvSpPr>
          <p:cNvPr id="19" name="Text 16"/>
          <p:cNvSpPr/>
          <p:nvPr/>
        </p:nvSpPr>
        <p:spPr>
          <a:xfrm>
            <a:off x="4038600" y="1941830"/>
            <a:ext cx="761619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Ongoing advancements in quantum hardware, such as improved coherence times and gate fidelities, will enable more practical applications of quantum computing.</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Development of Hybrid Quantum-Classical Systems</a:t>
            </a:r>
            <a:endParaRPr lang="en-US" sz="1600" dirty="0"/>
          </a:p>
        </p:txBody>
      </p:sp>
      <p:sp>
        <p:nvSpPr>
          <p:cNvPr id="21" name="Text 18"/>
          <p:cNvSpPr/>
          <p:nvPr/>
        </p:nvSpPr>
        <p:spPr>
          <a:xfrm>
            <a:off x="4038600" y="3471545"/>
            <a:ext cx="761619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Hybrid systems combining quantum and classical computing will drive innovation in intelligent computing by leveraging the strengths of both technologies.</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Global Collaboration and Standardization</a:t>
            </a:r>
            <a:endParaRPr lang="en-US" sz="1600" dirty="0"/>
          </a:p>
        </p:txBody>
      </p:sp>
      <p:sp>
        <p:nvSpPr>
          <p:cNvPr id="23" name="Text 20"/>
          <p:cNvSpPr/>
          <p:nvPr/>
        </p:nvSpPr>
        <p:spPr>
          <a:xfrm>
            <a:off x="4038600" y="5001260"/>
            <a:ext cx="761619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Global collaboration and standardization efforts are crucial for the development and deployment of quantum and intelligent computing technologies. This will ensure compatibility and security across different systems.</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06</a:t>
            </a:r>
            <a:endParaRPr lang="en-US" sz="1600" dirty="0"/>
          </a:p>
        </p:txBody>
      </p:sp>
      <p:sp>
        <p:nvSpPr>
          <p:cNvPr id="7" name="Text 3"/>
          <p:cNvSpPr/>
          <p:nvPr/>
        </p:nvSpPr>
        <p:spPr>
          <a:xfrm>
            <a:off x="5979795" y="3223895"/>
            <a:ext cx="4779645" cy="683617"/>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Conclusion</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Summary of Key Points</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62229"/>
            <a:ext cx="3122930" cy="466090"/>
          </a:xfrm>
          <a:prstGeom prst="rect">
            <a:avLst/>
          </a:prstGeom>
          <a:noFill/>
        </p:spPr>
        <p:txBody>
          <a:bodyPr wrap="square" lIns="0" tIns="0" rIns="0" bIns="35941" rtlCol="0" anchor="b">
            <a:spAutoFit/>
          </a:bodyPr>
          <a:lstStyle/>
          <a:p>
            <a:pPr marL="0" indent="0" algn="just">
              <a:lnSpc>
                <a:spcPct val="100000"/>
              </a:lnSpc>
              <a:buNone/>
            </a:pPr>
            <a:r>
              <a:rPr lang="en-US" sz="1400" b="1" dirty="0">
                <a:solidFill>
                  <a:srgbClr val="5E927D"/>
                </a:solidFill>
                <a:latin typeface="MiSans" pitchFamily="34" charset="-122"/>
                <a:ea typeface="MiSans" pitchFamily="34" charset="-122"/>
                <a:cs typeface="MiSans" pitchFamily="34" charset="-120"/>
              </a:rPr>
              <a:t>Recap of Quantum and Intelligent Computing Integration</a:t>
            </a:r>
            <a:endParaRPr lang="en-US" sz="1400" dirty="0"/>
          </a:p>
        </p:txBody>
      </p:sp>
      <p:sp>
        <p:nvSpPr>
          <p:cNvPr id="34" name="Text 32"/>
          <p:cNvSpPr/>
          <p:nvPr/>
        </p:nvSpPr>
        <p:spPr>
          <a:xfrm>
            <a:off x="1515110" y="2399665"/>
            <a:ext cx="2301875" cy="2286992"/>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integration of quantum computing and intelligent computing offers significant benefits, including exponential speedup and advanced algorithms. This has the potential to revolutionize various fields.</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Importance of Addressing Challenges</a:t>
            </a:r>
            <a:endParaRPr lang="en-US" sz="1600" dirty="0"/>
          </a:p>
        </p:txBody>
      </p:sp>
      <p:sp>
        <p:nvSpPr>
          <p:cNvPr id="52" name="Text 50"/>
          <p:cNvSpPr/>
          <p:nvPr/>
        </p:nvSpPr>
        <p:spPr>
          <a:xfrm>
            <a:off x="4747260" y="2372995"/>
            <a:ext cx="2301875" cy="2286992"/>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Addressing technical challenges like error correction, scalability, and integration is crucial for realizing the full potential of quantum computing. Ethical and societal implications must also be considered.</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Future Opportunities and Collaborations</a:t>
            </a:r>
            <a:endParaRPr lang="en-US" sz="1600" dirty="0"/>
          </a:p>
        </p:txBody>
      </p:sp>
      <p:sp>
        <p:nvSpPr>
          <p:cNvPr id="70" name="Text 68"/>
          <p:cNvSpPr/>
          <p:nvPr/>
        </p:nvSpPr>
        <p:spPr>
          <a:xfrm>
            <a:off x="8064500" y="2333625"/>
            <a:ext cx="2301875" cy="200104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Advancements in quantum hardware, the development of hybrid systems, and global collaboration efforts will drive innovation and adoption of these technologies.</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1"/>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1"/>
          <a:stretch>
            <a:fillRect/>
          </a:stretch>
        </p:blipFill>
        <p:spPr>
          <a:xfrm>
            <a:off x="4509770" y="222948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1"/>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Future Work and Final Thoughts</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36600" y="4594860"/>
            <a:ext cx="10720070" cy="159067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9005" y="361759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Encouraging collaboration between academia, industry, and government will accelerate the development of these technologies. Supporting startups will drive new ideas and solutions.</a:t>
            </a:r>
            <a:endParaRPr lang="en-US" sz="1600" dirty="0"/>
          </a:p>
        </p:txBody>
      </p:sp>
      <p:sp>
        <p:nvSpPr>
          <p:cNvPr id="20" name="Text 18"/>
          <p:cNvSpPr/>
          <p:nvPr/>
        </p:nvSpPr>
        <p:spPr>
          <a:xfrm>
            <a:off x="929005" y="149669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Ongoing Research and Development</a:t>
            </a:r>
            <a:endParaRPr lang="en-US" sz="1600" dirty="0"/>
          </a:p>
        </p:txBody>
      </p:sp>
      <p:sp>
        <p:nvSpPr>
          <p:cNvPr id="21" name="Text 19"/>
          <p:cNvSpPr/>
          <p:nvPr/>
        </p:nvSpPr>
        <p:spPr>
          <a:xfrm>
            <a:off x="929005" y="1983740"/>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Continued research and development in quantum and intelligent computing integration will be essential for overcoming challenges and unlocking new opportunities.</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Encouraging Collaboration and Innovation</a:t>
            </a:r>
            <a:endParaRPr lang="en-US" sz="1600" dirty="0"/>
          </a:p>
        </p:txBody>
      </p:sp>
      <p:sp>
        <p:nvSpPr>
          <p:cNvPr id="23" name="Text 21"/>
          <p:cNvSpPr/>
          <p:nvPr/>
        </p:nvSpPr>
        <p:spPr>
          <a:xfrm>
            <a:off x="929005" y="4831080"/>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Final Thoughts on the Integration Journey</a:t>
            </a:r>
            <a:endParaRPr lang="en-US" sz="1600" dirty="0"/>
          </a:p>
        </p:txBody>
      </p:sp>
      <p:sp>
        <p:nvSpPr>
          <p:cNvPr id="24" name="Text 22"/>
          <p:cNvSpPr/>
          <p:nvPr/>
        </p:nvSpPr>
        <p:spPr>
          <a:xfrm>
            <a:off x="929005" y="538670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integration of quantum computing and intelligent computing is both exciting and challenging. By addressing challenges and fostering collaboration, we can create a more efficient and intelligent future.</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6" name="Text 3"/>
          <p:cNvSpPr/>
          <p:nvPr/>
        </p:nvSpPr>
        <p:spPr>
          <a:xfrm>
            <a:off x="2715260" y="3318510"/>
            <a:ext cx="6761480" cy="1414780"/>
          </a:xfrm>
          <a:prstGeom prst="rect">
            <a:avLst/>
          </a:prstGeom>
          <a:noFill/>
        </p:spPr>
        <p:txBody>
          <a:bodyPr wrap="square" lIns="91440" tIns="45720" rIns="91440" bIns="45720" rtlCol="0" anchor="t"/>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THANK YOU</a:t>
            </a:r>
            <a:endParaRPr lang="en-US" sz="1600" dirty="0"/>
          </a:p>
        </p:txBody>
      </p:sp>
    </p:spTree>
  </p:cSld>
  <p:clrMapOvr>
    <a:masterClrMapping/>
  </p:clrMapOvr>
</p:sld>
</file>

<file path=ppt/tags/tag1.xml><?xml version="1.0" encoding="utf-8"?>
<p:tagLst xmlns:p="http://schemas.openxmlformats.org/presentationml/2006/main">
  <p:tag name="KSO_WM_DIAGRAM_VIRTUALLY_FRAME" val="{&quot;height&quot;:302.8,&quot;left&quot;:473.92417322834643,&quot;top&quot;:159.4,&quot;width&quot;:402.6258267716536}"/>
</p:tagLst>
</file>

<file path=ppt/tags/tag2.xml><?xml version="1.0" encoding="utf-8"?>
<p:tagLst xmlns:p="http://schemas.openxmlformats.org/presentationml/2006/main">
  <p:tag name="KSO_WM_DIAGRAM_VIRTUALLY_FRAME" val="{&quot;height&quot;:302.8,&quot;left&quot;:473.92417322834643,&quot;top&quot;:159.4,&quot;width&quot;:402.6258267716536}"/>
</p:tagLst>
</file>

<file path=ppt/tags/tag3.xml><?xml version="1.0" encoding="utf-8"?>
<p:tagLst xmlns:p="http://schemas.openxmlformats.org/presentationml/2006/main">
  <p:tag name="KSO_WM_DIAGRAM_VIRTUALLY_FRAME" val="{&quot;height&quot;:302.8,&quot;left&quot;:473.92417322834643,&quot;top&quot;:159.4,&quot;width&quot;:402.6258267716536}"/>
</p:tagLst>
</file>

<file path=ppt/tags/tag4.xml><?xml version="1.0" encoding="utf-8"?>
<p:tagLst xmlns:p="http://schemas.openxmlformats.org/presentationml/2006/main">
  <p:tag name="KSO_WM_DIAGRAM_VIRTUALLY_FRAME" val="{&quot;height&quot;:302.8,&quot;left&quot;:473.92417322834643,&quot;top&quot;:159.4,&quot;width&quot;:402.6258267716536}"/>
</p:tagLst>
</file>

<file path=ppt/tags/tag5.xml><?xml version="1.0" encoding="utf-8"?>
<p:tagLst xmlns:p="http://schemas.openxmlformats.org/presentationml/2006/main">
  <p:tag name="KSO_WM_DIAGRAM_VIRTUALLY_FRAME" val="{&quot;height&quot;:302.8,&quot;left&quot;:473.92417322834643,&quot;top&quot;:159.4,&quot;width&quot;:402.6258267716536}"/>
</p:tagLst>
</file>

<file path=ppt/tags/tag6.xml><?xml version="1.0" encoding="utf-8"?>
<p:tagLst xmlns:p="http://schemas.openxmlformats.org/presentationml/2006/main">
  <p:tag name="KSO_WM_DIAGRAM_VIRTUALLY_FRAME" val="{&quot;height&quot;:302.8,&quot;left&quot;:473.92417322834643,&quot;top&quot;:159.4,&quot;width&quot;:402.6258267716536}"/>
</p:tagLst>
</file>

<file path=ppt/tags/tag7.xml><?xml version="1.0" encoding="utf-8"?>
<p:tagLst xmlns:p="http://schemas.openxmlformats.org/presentationml/2006/main">
  <p:tag name="KSO_WM_DIAGRAM_VIRTUALLY_FRAME" val="{&quot;height&quot;:302.8,&quot;left&quot;:473.92417322834643,&quot;top&quot;:159.4,&quot;width&quot;:402.6258267716536}"/>
</p:tagLst>
</file>

<file path=ppt/tags/tag8.xml><?xml version="1.0" encoding="utf-8"?>
<p:tagLst xmlns:p="http://schemas.openxmlformats.org/presentationml/2006/main">
  <p:tag name="KSO_WM_DIAGRAM_VIRTUALLY_FRAME" val="{&quot;height&quot;:302.8,&quot;left&quot;:473.92417322834643,&quot;top&quot;:159.4,&quot;width&quot;:402.6258267716536}"/>
</p:tagLst>
</file>

<file path=ppt/tags/tag9.xml><?xml version="1.0" encoding="utf-8"?>
<p:tagLst xmlns:p="http://schemas.openxmlformats.org/presentationml/2006/main">
  <p:tag name="KSO_WM_DIAGRAM_VIRTUALLY_FRAME" val="{&quot;height&quot;:302.8,&quot;left&quot;:473.92417322834643,&quot;top&quot;:159.4,&quot;width&quot;:402.6258267716536}"/>
</p:tagLst>
</file>

<file path=ppt/tags/tag10.xml><?xml version="1.0" encoding="utf-8"?>
<p:tagLst xmlns:p="http://schemas.openxmlformats.org/presentationml/2006/main">
  <p:tag name="KSO_WM_DIAGRAM_VIRTUALLY_FRAME" val="{&quot;height&quot;:302.8,&quot;left&quot;:473.92417322834643,&quot;top&quot;:159.4,&quot;width&quot;:402.6258267716536}"/>
</p:tagLst>
</file>

<file path=ppt/tags/tag11.xml><?xml version="1.0" encoding="utf-8"?>
<p:tagLst xmlns:p="http://schemas.openxmlformats.org/presentationml/2006/main">
  <p:tag name="TABLE_ENDDRAG_ORIGIN_RECT" val="734*377"/>
  <p:tag name="TABLE_ENDDRAG_RECT" val="158*108*734*377"/>
</p:tagLst>
</file>

<file path=ppt/tags/tag12.xml><?xml version="1.0" encoding="utf-8"?>
<p:tagLst xmlns:p="http://schemas.openxmlformats.org/presentationml/2006/main">
  <p:tag name="KSO_WM_DIAGRAM_VIRTUALLY_FRAME" val="{&quot;height&quot;:427.1766929133858,&quot;left&quot;:108.35,&quot;top&quot;:194.77330708661418,&quot;width&quot;:783.8}"/>
</p:tagLst>
</file>

<file path=ppt/tags/tag13.xml><?xml version="1.0" encoding="utf-8"?>
<p:tagLst xmlns:p="http://schemas.openxmlformats.org/presentationml/2006/main">
  <p:tag name="KSO_WM_DIAGRAM_VIRTUALLY_FRAME" val="{&quot;height&quot;:427.1766929133858,&quot;left&quot;:108.35,&quot;top&quot;:194.77330708661418,&quot;width&quot;:783.8}"/>
</p:tagLst>
</file>

<file path=ppt/tags/tag14.xml><?xml version="1.0" encoding="utf-8"?>
<p:tagLst xmlns:p="http://schemas.openxmlformats.org/presentationml/2006/main">
  <p:tag name="KSO_WM_DIAGRAM_VIRTUALLY_FRAME" val="{&quot;height&quot;:427.1766929133858,&quot;left&quot;:108.35,&quot;top&quot;:194.77330708661418,&quot;width&quot;:783.8}"/>
</p:tagLst>
</file>

<file path=ppt/tags/tag15.xml><?xml version="1.0" encoding="utf-8"?>
<p:tagLst xmlns:p="http://schemas.openxmlformats.org/presentationml/2006/main">
  <p:tag name="KSO_WM_DIAGRAM_VIRTUALLY_FRAME" val="{&quot;height&quot;:427.1766929133858,&quot;left&quot;:108.35,&quot;top&quot;:194.77330708661418,&quot;width&quot;:783.8}"/>
</p:tagLst>
</file>

<file path=ppt/tags/tag16.xml><?xml version="1.0" encoding="utf-8"?>
<p:tagLst xmlns:p="http://schemas.openxmlformats.org/presentationml/2006/main">
  <p:tag name="KSO_WM_DIAGRAM_VIRTUALLY_FRAME" val="{&quot;height&quot;:427.1766929133858,&quot;left&quot;:108.35,&quot;top&quot;:194.77330708661418,&quot;width&quot;:783.8}"/>
</p:tagLst>
</file>

<file path=ppt/tags/tag17.xml><?xml version="1.0" encoding="utf-8"?>
<p:tagLst xmlns:p="http://schemas.openxmlformats.org/presentationml/2006/main">
  <p:tag name="KSO_WM_DIAGRAM_VIRTUALLY_FRAME" val="{&quot;height&quot;:427.1766929133858,&quot;left&quot;:108.35,&quot;top&quot;:194.77330708661418,&quot;width&quot;:783.8}"/>
</p:tagLst>
</file>

<file path=ppt/tags/tag18.xml><?xml version="1.0" encoding="utf-8"?>
<p:tagLst xmlns:p="http://schemas.openxmlformats.org/presentationml/2006/main">
  <p:tag name="KSO_WM_DIAGRAM_VIRTUALLY_FRAME" val="{&quot;height&quot;:427.1766929133858,&quot;left&quot;:108.35,&quot;top&quot;:194.77330708661418,&quot;width&quot;:783.8}"/>
</p:tagLst>
</file>

<file path=ppt/tags/tag19.xml><?xml version="1.0" encoding="utf-8"?>
<p:tagLst xmlns:p="http://schemas.openxmlformats.org/presentationml/2006/main">
  <p:tag name="KSO_WM_DIAGRAM_VIRTUALLY_FRAME" val="{&quot;height&quot;:427.1766929133858,&quot;left&quot;:108.35,&quot;top&quot;:194.77330708661418,&quot;width&quot;:783.8}"/>
</p:tagLst>
</file>

<file path=ppt/tags/tag20.xml><?xml version="1.0" encoding="utf-8"?>
<p:tagLst xmlns:p="http://schemas.openxmlformats.org/presentationml/2006/main">
  <p:tag name="KSO_WM_DIAGRAM_VIRTUALLY_FRAME" val="{&quot;height&quot;:427.1766929133858,&quot;left&quot;:108.35,&quot;top&quot;:194.77330708661418,&quot;width&quot;:783.8}"/>
</p:tagLst>
</file>

<file path=ppt/tags/tag21.xml><?xml version="1.0" encoding="utf-8"?>
<p:tagLst xmlns:p="http://schemas.openxmlformats.org/presentationml/2006/main">
  <p:tag name="KSO_WM_DIAGRAM_VIRTUALLY_FRAME" val="{&quot;height&quot;:427.1766929133858,&quot;left&quot;:108.35,&quot;top&quot;:194.77330708661418,&quot;width&quot;:783.8}"/>
</p:tagLst>
</file>

<file path=ppt/tags/tag22.xml><?xml version="1.0" encoding="utf-8"?>
<p:tagLst xmlns:p="http://schemas.openxmlformats.org/presentationml/2006/main">
  <p:tag name="KSO_WM_DIAGRAM_VIRTUALLY_FRAME" val="{&quot;height&quot;:427.1766929133858,&quot;left&quot;:108.35,&quot;top&quot;:194.77330708661418,&quot;width&quot;:783.8}"/>
</p:tagLst>
</file>

<file path=ppt/tags/tag23.xml><?xml version="1.0" encoding="utf-8"?>
<p:tagLst xmlns:p="http://schemas.openxmlformats.org/presentationml/2006/main">
  <p:tag name="KSO_WM_DIAGRAM_VIRTUALLY_FRAME" val="{&quot;height&quot;:427.1766929133858,&quot;left&quot;:108.35,&quot;top&quot;:194.77330708661418,&quot;width&quot;:783.8}"/>
</p:tagLst>
</file>

<file path=ppt/tags/tag24.xml><?xml version="1.0" encoding="utf-8"?>
<p:tagLst xmlns:p="http://schemas.openxmlformats.org/presentationml/2006/main">
  <p:tag name="KSO_WM_DIAGRAM_VIRTUALLY_FRAME" val="{&quot;height&quot;:427.1766929133858,&quot;left&quot;:108.35,&quot;top&quot;:194.77330708661418,&quot;width&quot;:783.8}"/>
</p:tagLst>
</file>

<file path=ppt/tags/tag25.xml><?xml version="1.0" encoding="utf-8"?>
<p:tagLst xmlns:p="http://schemas.openxmlformats.org/presentationml/2006/main">
  <p:tag name="KSO_WM_DIAGRAM_VIRTUALLY_FRAME" val="{&quot;height&quot;:427.1766929133858,&quot;left&quot;:108.35,&quot;top&quot;:194.77330708661418,&quot;width&quot;:783.8}"/>
</p:tagLst>
</file>

<file path=ppt/tags/tag26.xml><?xml version="1.0" encoding="utf-8"?>
<p:tagLst xmlns:p="http://schemas.openxmlformats.org/presentationml/2006/main">
  <p:tag name="KSO_WM_DIAGRAM_VIRTUALLY_FRAME" val="{&quot;height&quot;:427.1766929133858,&quot;left&quot;:108.35,&quot;top&quot;:194.77330708661418,&quot;width&quot;:783.8}"/>
</p:tagLst>
</file>

<file path=ppt/tags/tag27.xml><?xml version="1.0" encoding="utf-8"?>
<p:tagLst xmlns:p="http://schemas.openxmlformats.org/presentationml/2006/main">
  <p:tag name="KSO_WM_DIAGRAM_VIRTUALLY_FRAME" val="{&quot;height&quot;:427.1766929133858,&quot;left&quot;:108.35,&quot;top&quot;:194.77330708661418,&quot;width&quot;:783.8}"/>
</p:tagLst>
</file>

<file path=ppt/tags/tag28.xml><?xml version="1.0" encoding="utf-8"?>
<p:tagLst xmlns:p="http://schemas.openxmlformats.org/presentationml/2006/main">
  <p:tag name="KSO_WM_DIAGRAM_VIRTUALLY_FRAME" val="{&quot;height&quot;:427.1766929133858,&quot;left&quot;:108.35,&quot;top&quot;:194.77330708661418,&quot;width&quot;:783.8}"/>
</p:tagLst>
</file>

<file path=ppt/tags/tag29.xml><?xml version="1.0" encoding="utf-8"?>
<p:tagLst xmlns:p="http://schemas.openxmlformats.org/presentationml/2006/main">
  <p:tag name="KSO_WM_DIAGRAM_VIRTUALLY_FRAME" val="{&quot;height&quot;:427.1766929133858,&quot;left&quot;:108.35,&quot;top&quot;:194.77330708661418,&quot;width&quot;:783.8}"/>
</p:tagLst>
</file>

<file path=ppt/tags/tag30.xml><?xml version="1.0" encoding="utf-8"?>
<p:tagLst xmlns:p="http://schemas.openxmlformats.org/presentationml/2006/main">
  <p:tag name="KSO_WM_DIAGRAM_VIRTUALLY_FRAME" val="{&quot;height&quot;:329.48921259842507,&quot;left&quot;:108.35,&quot;top&quot;:194.77330708661418,&quot;width&quot;:783.8}"/>
</p:tagLst>
</file>

<file path=ppt/tags/tag31.xml><?xml version="1.0" encoding="utf-8"?>
<p:tagLst xmlns:p="http://schemas.openxmlformats.org/presentationml/2006/main">
  <p:tag name="KSO_WM_DIAGRAM_VIRTUALLY_FRAME" val="{&quot;height&quot;:329.48921259842507,&quot;left&quot;:108.35,&quot;top&quot;:194.77330708661418,&quot;width&quot;:783.8}"/>
</p:tagLst>
</file>

<file path=ppt/tags/tag32.xml><?xml version="1.0" encoding="utf-8"?>
<p:tagLst xmlns:p="http://schemas.openxmlformats.org/presentationml/2006/main">
  <p:tag name="KSO_WM_DIAGRAM_VIRTUALLY_FRAME" val="{&quot;height&quot;:329.48921259842507,&quot;left&quot;:108.35,&quot;top&quot;:194.77330708661418,&quot;width&quot;:783.8}"/>
</p:tagLst>
</file>

<file path=ppt/tags/tag33.xml><?xml version="1.0" encoding="utf-8"?>
<p:tagLst xmlns:p="http://schemas.openxmlformats.org/presentationml/2006/main">
  <p:tag name="KSO_WM_DIAGRAM_VIRTUALLY_FRAME" val="{&quot;height&quot;:329.48921259842507,&quot;left&quot;:108.35,&quot;top&quot;:194.77330708661418,&quot;width&quot;:783.8}"/>
</p:tagLst>
</file>

<file path=ppt/tags/tag34.xml><?xml version="1.0" encoding="utf-8"?>
<p:tagLst xmlns:p="http://schemas.openxmlformats.org/presentationml/2006/main">
  <p:tag name="KSO_WM_DIAGRAM_VIRTUALLY_FRAME" val="{&quot;height&quot;:329.48921259842507,&quot;left&quot;:108.35,&quot;top&quot;:194.77330708661418,&quot;width&quot;:783.8}"/>
</p:tagLst>
</file>

<file path=ppt/tags/tag35.xml><?xml version="1.0" encoding="utf-8"?>
<p:tagLst xmlns:p="http://schemas.openxmlformats.org/presentationml/2006/main">
  <p:tag name="KSO_WM_DIAGRAM_VIRTUALLY_FRAME" val="{&quot;height&quot;:329.48921259842507,&quot;left&quot;:108.35,&quot;top&quot;:194.77330708661418,&quot;width&quot;:783.8}"/>
</p:tagLst>
</file>

<file path=ppt/tags/tag36.xml><?xml version="1.0" encoding="utf-8"?>
<p:tagLst xmlns:p="http://schemas.openxmlformats.org/presentationml/2006/main">
  <p:tag name="KSO_WM_DIAGRAM_VIRTUALLY_FRAME" val="{&quot;height&quot;:329.48921259842507,&quot;left&quot;:108.35,&quot;top&quot;:194.77330708661418,&quot;width&quot;:783.8}"/>
</p:tagLst>
</file>

<file path=ppt/tags/tag37.xml><?xml version="1.0" encoding="utf-8"?>
<p:tagLst xmlns:p="http://schemas.openxmlformats.org/presentationml/2006/main">
  <p:tag name="KSO_WM_DIAGRAM_VIRTUALLY_FRAME" val="{&quot;height&quot;:329.48921259842507,&quot;left&quot;:108.35,&quot;top&quot;:194.77330708661418,&quot;width&quot;:783.8}"/>
</p:tagLst>
</file>

<file path=ppt/tags/tag38.xml><?xml version="1.0" encoding="utf-8"?>
<p:tagLst xmlns:p="http://schemas.openxmlformats.org/presentationml/2006/main">
  <p:tag name="KSO_WM_DIAGRAM_VIRTUALLY_FRAME" val="{&quot;height&quot;:329.48921259842507,&quot;left&quot;:108.35,&quot;top&quot;:194.77330708661418,&quot;width&quot;:783.8}"/>
</p:tagLst>
</file>

<file path=ppt/tags/tag39.xml><?xml version="1.0" encoding="utf-8"?>
<p:tagLst xmlns:p="http://schemas.openxmlformats.org/presentationml/2006/main">
  <p:tag name="KSO_WM_DIAGRAM_VIRTUALLY_FRAME" val="{&quot;height&quot;:329.48921259842507,&quot;left&quot;:108.35,&quot;top&quot;:194.77330708661418,&quot;width&quot;:783.8}"/>
</p:tagLst>
</file>

<file path=ppt/tags/tag40.xml><?xml version="1.0" encoding="utf-8"?>
<p:tagLst xmlns:p="http://schemas.openxmlformats.org/presentationml/2006/main">
  <p:tag name="KSO_WM_DIAGRAM_VIRTUALLY_FRAME" val="{&quot;height&quot;:329.48921259842507,&quot;left&quot;:108.35,&quot;top&quot;:194.77330708661418,&quot;width&quot;:783.8}"/>
</p:tagLst>
</file>

<file path=ppt/tags/tag41.xml><?xml version="1.0" encoding="utf-8"?>
<p:tagLst xmlns:p="http://schemas.openxmlformats.org/presentationml/2006/main">
  <p:tag name="KSO_WM_DIAGRAM_VIRTUALLY_FRAME" val="{&quot;height&quot;:329.48921259842507,&quot;left&quot;:108.35,&quot;top&quot;:194.77330708661418,&quot;width&quot;:783.8}"/>
</p:tagLst>
</file>

<file path=ppt/tags/tag42.xml><?xml version="1.0" encoding="utf-8"?>
<p:tagLst xmlns:p="http://schemas.openxmlformats.org/presentationml/2006/main">
  <p:tag name="KSO_WM_DIAGRAM_VIRTUALLY_FRAME" val="{&quot;height&quot;:329.48921259842507,&quot;left&quot;:108.35,&quot;top&quot;:194.77330708661418,&quot;width&quot;:783.8}"/>
</p:tagLst>
</file>

<file path=ppt/tags/tag43.xml><?xml version="1.0" encoding="utf-8"?>
<p:tagLst xmlns:p="http://schemas.openxmlformats.org/presentationml/2006/main">
  <p:tag name="KSO_WM_DIAGRAM_VIRTUALLY_FRAME" val="{&quot;height&quot;:329.48921259842507,&quot;left&quot;:108.35,&quot;top&quot;:194.77330708661418,&quot;width&quot;:783.8}"/>
</p:tagLst>
</file>

<file path=ppt/tags/tag44.xml><?xml version="1.0" encoding="utf-8"?>
<p:tagLst xmlns:p="http://schemas.openxmlformats.org/presentationml/2006/main">
  <p:tag name="KSO_WM_DIAGRAM_VIRTUALLY_FRAME" val="{&quot;height&quot;:329.48921259842507,&quot;left&quot;:108.35,&quot;top&quot;:194.77330708661418,&quot;width&quot;:783.8}"/>
</p:tagLst>
</file>

<file path=ppt/tags/tag45.xml><?xml version="1.0" encoding="utf-8"?>
<p:tagLst xmlns:p="http://schemas.openxmlformats.org/presentationml/2006/main">
  <p:tag name="KSO_WM_DIAGRAM_VIRTUALLY_FRAME" val="{&quot;height&quot;:329.48921259842507,&quot;left&quot;:108.35,&quot;top&quot;:194.77330708661418,&quot;width&quot;:783.8}"/>
</p:tagLst>
</file>

<file path=ppt/tags/tag46.xml><?xml version="1.0" encoding="utf-8"?>
<p:tagLst xmlns:p="http://schemas.openxmlformats.org/presentationml/2006/main">
  <p:tag name="KSO_WM_DIAGRAM_VIRTUALLY_FRAME" val="{&quot;height&quot;:329.48921259842507,&quot;left&quot;:108.35,&quot;top&quot;:194.77330708661418,&quot;width&quot;:783.8}"/>
</p:tagLst>
</file>

<file path=ppt/tags/tag47.xml><?xml version="1.0" encoding="utf-8"?>
<p:tagLst xmlns:p="http://schemas.openxmlformats.org/presentationml/2006/main">
  <p:tag name="KSO_WM_DIAGRAM_VIRTUALLY_FRAME" val="{&quot;height&quot;:329.48921259842507,&quot;left&quot;:108.35,&quot;top&quot;:194.77330708661418,&quot;width&quot;:783.8}"/>
</p:tagLst>
</file>

<file path=ppt/tags/tag48.xml><?xml version="1.0" encoding="utf-8"?>
<p:tagLst xmlns:p="http://schemas.openxmlformats.org/presentationml/2006/main">
  <p:tag name="KSO_WM_DIAGRAM_VIRTUALLY_FRAME" val="{&quot;height&quot;:336.8392125984251,&quot;left&quot;:108.35,&quot;top&quot;:194.77330708661418,&quot;width&quot;:783.8}"/>
</p:tagLst>
</file>

<file path=ppt/tags/tag49.xml><?xml version="1.0" encoding="utf-8"?>
<p:tagLst xmlns:p="http://schemas.openxmlformats.org/presentationml/2006/main">
  <p:tag name="KSO_WM_DIAGRAM_VIRTUALLY_FRAME" val="{&quot;height&quot;:336.8392125984251,&quot;left&quot;:108.35,&quot;top&quot;:194.77330708661418,&quot;width&quot;:783.8}"/>
</p:tagLst>
</file>

<file path=ppt/tags/tag50.xml><?xml version="1.0" encoding="utf-8"?>
<p:tagLst xmlns:p="http://schemas.openxmlformats.org/presentationml/2006/main">
  <p:tag name="KSO_WM_DIAGRAM_VIRTUALLY_FRAME" val="{&quot;height&quot;:336.8392125984251,&quot;left&quot;:108.35,&quot;top&quot;:194.77330708661418,&quot;width&quot;:783.8}"/>
</p:tagLst>
</file>

<file path=ppt/tags/tag51.xml><?xml version="1.0" encoding="utf-8"?>
<p:tagLst xmlns:p="http://schemas.openxmlformats.org/presentationml/2006/main">
  <p:tag name="KSO_WM_DIAGRAM_VIRTUALLY_FRAME" val="{&quot;height&quot;:336.8392125984251,&quot;left&quot;:108.35,&quot;top&quot;:194.77330708661418,&quot;width&quot;:783.8}"/>
</p:tagLst>
</file>

<file path=ppt/tags/tag52.xml><?xml version="1.0" encoding="utf-8"?>
<p:tagLst xmlns:p="http://schemas.openxmlformats.org/presentationml/2006/main">
  <p:tag name="KSO_WM_DIAGRAM_VIRTUALLY_FRAME" val="{&quot;height&quot;:336.8392125984251,&quot;left&quot;:108.35,&quot;top&quot;:194.77330708661418,&quot;width&quot;:783.8}"/>
</p:tagLst>
</file>

<file path=ppt/tags/tag53.xml><?xml version="1.0" encoding="utf-8"?>
<p:tagLst xmlns:p="http://schemas.openxmlformats.org/presentationml/2006/main">
  <p:tag name="KSO_WM_DIAGRAM_VIRTUALLY_FRAME" val="{&quot;height&quot;:336.8392125984251,&quot;left&quot;:108.35,&quot;top&quot;:194.77330708661418,&quot;width&quot;:783.8}"/>
</p:tagLst>
</file>

<file path=ppt/tags/tag54.xml><?xml version="1.0" encoding="utf-8"?>
<p:tagLst xmlns:p="http://schemas.openxmlformats.org/presentationml/2006/main">
  <p:tag name="KSO_WM_DIAGRAM_VIRTUALLY_FRAME" val="{&quot;height&quot;:336.8392125984251,&quot;left&quot;:108.35,&quot;top&quot;:194.77330708661418,&quot;width&quot;:783.8}"/>
</p:tagLst>
</file>

<file path=ppt/tags/tag55.xml><?xml version="1.0" encoding="utf-8"?>
<p:tagLst xmlns:p="http://schemas.openxmlformats.org/presentationml/2006/main">
  <p:tag name="KSO_WM_DIAGRAM_VIRTUALLY_FRAME" val="{&quot;height&quot;:336.8392125984251,&quot;left&quot;:108.35,&quot;top&quot;:194.77330708661418,&quot;width&quot;:783.8}"/>
</p:tagLst>
</file>

<file path=ppt/tags/tag56.xml><?xml version="1.0" encoding="utf-8"?>
<p:tagLst xmlns:p="http://schemas.openxmlformats.org/presentationml/2006/main">
  <p:tag name="KSO_WM_DIAGRAM_VIRTUALLY_FRAME" val="{&quot;height&quot;:336.8392125984251,&quot;left&quot;:108.35,&quot;top&quot;:194.77330708661418,&quot;width&quot;:783.8}"/>
</p:tagLst>
</file>

<file path=ppt/tags/tag57.xml><?xml version="1.0" encoding="utf-8"?>
<p:tagLst xmlns:p="http://schemas.openxmlformats.org/presentationml/2006/main">
  <p:tag name="KSO_WM_DIAGRAM_VIRTUALLY_FRAME" val="{&quot;height&quot;:336.8392125984251,&quot;left&quot;:108.35,&quot;top&quot;:194.77330708661418,&quot;width&quot;:783.8}"/>
</p:tagLst>
</file>

<file path=ppt/tags/tag58.xml><?xml version="1.0" encoding="utf-8"?>
<p:tagLst xmlns:p="http://schemas.openxmlformats.org/presentationml/2006/main">
  <p:tag name="KSO_WM_DIAGRAM_VIRTUALLY_FRAME" val="{&quot;height&quot;:336.8392125984251,&quot;left&quot;:108.35,&quot;top&quot;:194.77330708661418,&quot;width&quot;:783.8}"/>
</p:tagLst>
</file>

<file path=ppt/tags/tag59.xml><?xml version="1.0" encoding="utf-8"?>
<p:tagLst xmlns:p="http://schemas.openxmlformats.org/presentationml/2006/main">
  <p:tag name="KSO_WM_DIAGRAM_VIRTUALLY_FRAME" val="{&quot;height&quot;:336.8392125984251,&quot;left&quot;:108.35,&quot;top&quot;:194.77330708661418,&quot;width&quot;:783.8}"/>
</p:tagLst>
</file>

<file path=ppt/tags/tag60.xml><?xml version="1.0" encoding="utf-8"?>
<p:tagLst xmlns:p="http://schemas.openxmlformats.org/presentationml/2006/main">
  <p:tag name="KSO_WM_DIAGRAM_VIRTUALLY_FRAME" val="{&quot;height&quot;:336.8392125984251,&quot;left&quot;:108.35,&quot;top&quot;:194.77330708661418,&quot;width&quot;:783.8}"/>
</p:tagLst>
</file>

<file path=ppt/tags/tag61.xml><?xml version="1.0" encoding="utf-8"?>
<p:tagLst xmlns:p="http://schemas.openxmlformats.org/presentationml/2006/main">
  <p:tag name="KSO_WM_DIAGRAM_VIRTUALLY_FRAME" val="{&quot;height&quot;:336.8392125984251,&quot;left&quot;:108.35,&quot;top&quot;:194.77330708661418,&quot;width&quot;:783.8}"/>
</p:tagLst>
</file>

<file path=ppt/tags/tag62.xml><?xml version="1.0" encoding="utf-8"?>
<p:tagLst xmlns:p="http://schemas.openxmlformats.org/presentationml/2006/main">
  <p:tag name="KSO_WM_DIAGRAM_VIRTUALLY_FRAME" val="{&quot;height&quot;:336.8392125984251,&quot;left&quot;:108.35,&quot;top&quot;:194.77330708661418,&quot;width&quot;:783.8}"/>
</p:tagLst>
</file>

<file path=ppt/tags/tag63.xml><?xml version="1.0" encoding="utf-8"?>
<p:tagLst xmlns:p="http://schemas.openxmlformats.org/presentationml/2006/main">
  <p:tag name="KSO_WM_DIAGRAM_VIRTUALLY_FRAME" val="{&quot;height&quot;:336.8392125984251,&quot;left&quot;:108.35,&quot;top&quot;:194.77330708661418,&quot;width&quot;:783.8}"/>
</p:tagLst>
</file>

<file path=ppt/tags/tag64.xml><?xml version="1.0" encoding="utf-8"?>
<p:tagLst xmlns:p="http://schemas.openxmlformats.org/presentationml/2006/main">
  <p:tag name="KSO_WM_DIAGRAM_VIRTUALLY_FRAME" val="{&quot;height&quot;:336.8392125984251,&quot;left&quot;:108.35,&quot;top&quot;:194.77330708661418,&quot;width&quot;:783.8}"/>
</p:tagLst>
</file>

<file path=ppt/tags/tag65.xml><?xml version="1.0" encoding="utf-8"?>
<p:tagLst xmlns:p="http://schemas.openxmlformats.org/presentationml/2006/main">
  <p:tag name="KSO_WM_DIAGRAM_VIRTUALLY_FRAME" val="{&quot;height&quot;:336.8392125984251,&quot;left&quot;:108.35,&quot;top&quot;:194.77330708661418,&quot;width&quot;:783.8}"/>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16724</Words>
  <Application>WPS 演示</Application>
  <PresentationFormat>On-screen Show (16:9)</PresentationFormat>
  <Paragraphs>425</Paragraphs>
  <Slides>43</Slides>
  <Notes>24</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43</vt:i4>
      </vt:variant>
    </vt:vector>
  </HeadingPairs>
  <TitlesOfParts>
    <vt:vector size="56" baseType="lpstr">
      <vt:lpstr>Arial</vt:lpstr>
      <vt:lpstr>宋体</vt:lpstr>
      <vt:lpstr>Wingdings</vt:lpstr>
      <vt:lpstr>MiSans</vt:lpstr>
      <vt:lpstr>MiSans</vt:lpstr>
      <vt:lpstr>Calibri</vt:lpstr>
      <vt:lpstr>微软雅黑</vt:lpstr>
      <vt:lpstr>Arial Unicode MS</vt:lpstr>
      <vt:lpstr>等线</vt:lpstr>
      <vt:lpstr>Segoe UI</vt:lpstr>
      <vt:lpstr>Calibri</vt:lpstr>
      <vt:lpstr>Custom Theme</vt:lpstr>
      <vt:lpstr>1_Custom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walnut</cp:lastModifiedBy>
  <cp:revision>4</cp:revision>
  <dcterms:created xsi:type="dcterms:W3CDTF">2025-07-06T12:26:00Z</dcterms:created>
  <dcterms:modified xsi:type="dcterms:W3CDTF">2025-07-06T17:49:30Z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9FDFFF6591C5431B949142E2D856E467_12</vt:lpwstr>
  </property>
  <property fmtid="{D5CDD505-2E9C-101B-9397-08002B2CF9AE}" pid="3" name="KSOProductBuildVer">
    <vt:lpwstr>2052-12.1.0.21915</vt:lpwstr>
  </property>
</Properties>
</file>