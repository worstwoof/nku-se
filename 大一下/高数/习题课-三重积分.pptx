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  <p:sldId id="303" r:id="rId14"/>
    <p:sldId id="271" r:id="rId15"/>
    <p:sldId id="305" r:id="rId16"/>
    <p:sldId id="294" r:id="rId17"/>
    <p:sldId id="288" r:id="rId18"/>
    <p:sldId id="296" r:id="rId19"/>
    <p:sldId id="275" r:id="rId20"/>
    <p:sldId id="299" r:id="rId21"/>
    <p:sldId id="277" r:id="rId22"/>
    <p:sldId id="278" r:id="rId23"/>
    <p:sldId id="284" r:id="rId24"/>
    <p:sldId id="309" r:id="rId25"/>
    <p:sldId id="307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FF"/>
    <a:srgbClr val="6600FF"/>
    <a:srgbClr val="000066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e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4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7" Type="http://schemas.openxmlformats.org/officeDocument/2006/relationships/image" Target="../media/image23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Relationship Id="rId6" Type="http://schemas.openxmlformats.org/officeDocument/2006/relationships/image" Target="../media/image22.emf"/><Relationship Id="rId5" Type="http://schemas.openxmlformats.org/officeDocument/2006/relationships/image" Target="../media/image21.wmf"/><Relationship Id="rId4" Type="http://schemas.openxmlformats.org/officeDocument/2006/relationships/image" Target="../media/image20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5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image" Target="../media/image29.wmf"/><Relationship Id="rId7" Type="http://schemas.openxmlformats.org/officeDocument/2006/relationships/image" Target="../media/image33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Relationship Id="rId9" Type="http://schemas.openxmlformats.org/officeDocument/2006/relationships/image" Target="../media/image35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40.wmf"/><Relationship Id="rId1" Type="http://schemas.openxmlformats.org/officeDocument/2006/relationships/image" Target="../media/image39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3" Type="http://schemas.openxmlformats.org/officeDocument/2006/relationships/image" Target="../media/image45.emf"/><Relationship Id="rId7" Type="http://schemas.openxmlformats.org/officeDocument/2006/relationships/image" Target="../media/image49.e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6" Type="http://schemas.openxmlformats.org/officeDocument/2006/relationships/image" Target="../media/image48.emf"/><Relationship Id="rId11" Type="http://schemas.openxmlformats.org/officeDocument/2006/relationships/image" Target="../media/image53.emf"/><Relationship Id="rId5" Type="http://schemas.openxmlformats.org/officeDocument/2006/relationships/image" Target="../media/image47.emf"/><Relationship Id="rId10" Type="http://schemas.openxmlformats.org/officeDocument/2006/relationships/image" Target="../media/image52.emf"/><Relationship Id="rId4" Type="http://schemas.openxmlformats.org/officeDocument/2006/relationships/image" Target="../media/image46.emf"/><Relationship Id="rId9" Type="http://schemas.openxmlformats.org/officeDocument/2006/relationships/image" Target="../media/image51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e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7" Type="http://schemas.openxmlformats.org/officeDocument/2006/relationships/image" Target="../media/image62.wmf"/><Relationship Id="rId2" Type="http://schemas.openxmlformats.org/officeDocument/2006/relationships/image" Target="../media/image57.emf"/><Relationship Id="rId1" Type="http://schemas.openxmlformats.org/officeDocument/2006/relationships/image" Target="../media/image56.wmf"/><Relationship Id="rId6" Type="http://schemas.openxmlformats.org/officeDocument/2006/relationships/image" Target="../media/image61.emf"/><Relationship Id="rId5" Type="http://schemas.openxmlformats.org/officeDocument/2006/relationships/image" Target="../media/image60.emf"/><Relationship Id="rId4" Type="http://schemas.openxmlformats.org/officeDocument/2006/relationships/image" Target="../media/image59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image" Target="../media/image63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66.emf"/><Relationship Id="rId1" Type="http://schemas.openxmlformats.org/officeDocument/2006/relationships/image" Target="../media/image65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69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D2FE-BD29-4E71-AD04-CFB7B2742D65}" type="datetimeFigureOut">
              <a:rPr lang="zh-CN" altLang="en-US" smtClean="0"/>
              <a:t>2022/3/29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E48D-73B2-4609-8C4C-6965E6D791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80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D2FE-BD29-4E71-AD04-CFB7B2742D65}" type="datetimeFigureOut">
              <a:rPr lang="zh-CN" altLang="en-US" smtClean="0"/>
              <a:t>2022/3/29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E48D-73B2-4609-8C4C-6965E6D791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6531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D2FE-BD29-4E71-AD04-CFB7B2742D65}" type="datetimeFigureOut">
              <a:rPr lang="zh-CN" altLang="en-US" smtClean="0"/>
              <a:t>2022/3/29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E48D-73B2-4609-8C4C-6965E6D791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0260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D2FE-BD29-4E71-AD04-CFB7B2742D65}" type="datetimeFigureOut">
              <a:rPr lang="zh-CN" altLang="en-US" smtClean="0"/>
              <a:t>2022/3/29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E48D-73B2-4609-8C4C-6965E6D791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7826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D2FE-BD29-4E71-AD04-CFB7B2742D65}" type="datetimeFigureOut">
              <a:rPr lang="zh-CN" altLang="en-US" smtClean="0"/>
              <a:t>2022/3/29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E48D-73B2-4609-8C4C-6965E6D791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430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D2FE-BD29-4E71-AD04-CFB7B2742D65}" type="datetimeFigureOut">
              <a:rPr lang="zh-CN" altLang="en-US" smtClean="0"/>
              <a:t>2022/3/29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E48D-73B2-4609-8C4C-6965E6D791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8711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D2FE-BD29-4E71-AD04-CFB7B2742D65}" type="datetimeFigureOut">
              <a:rPr lang="zh-CN" altLang="en-US" smtClean="0"/>
              <a:t>2022/3/29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E48D-73B2-4609-8C4C-6965E6D791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6709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D2FE-BD29-4E71-AD04-CFB7B2742D65}" type="datetimeFigureOut">
              <a:rPr lang="zh-CN" altLang="en-US" smtClean="0"/>
              <a:t>2022/3/29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E48D-73B2-4609-8C4C-6965E6D791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7447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D2FE-BD29-4E71-AD04-CFB7B2742D65}" type="datetimeFigureOut">
              <a:rPr lang="zh-CN" altLang="en-US" smtClean="0"/>
              <a:t>2022/3/29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E48D-73B2-4609-8C4C-6965E6D791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1301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D2FE-BD29-4E71-AD04-CFB7B2742D65}" type="datetimeFigureOut">
              <a:rPr lang="zh-CN" altLang="en-US" smtClean="0"/>
              <a:t>2022/3/29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E48D-73B2-4609-8C4C-6965E6D791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7124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7D2FE-BD29-4E71-AD04-CFB7B2742D65}" type="datetimeFigureOut">
              <a:rPr lang="zh-CN" altLang="en-US" smtClean="0"/>
              <a:t>2022/3/29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3E48D-73B2-4609-8C4C-6965E6D791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172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7D2FE-BD29-4E71-AD04-CFB7B2742D65}" type="datetimeFigureOut">
              <a:rPr lang="zh-CN" altLang="en-US" smtClean="0"/>
              <a:t>2022/3/29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3E48D-73B2-4609-8C4C-6965E6D791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3557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7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9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1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3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5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16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oleObject" Target="../embeddings/oleObject22.bin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21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3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18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5" Type="http://schemas.openxmlformats.org/officeDocument/2006/relationships/oleObject" Target="../embeddings/oleObject23.bin"/><Relationship Id="rId10" Type="http://schemas.openxmlformats.org/officeDocument/2006/relationships/image" Target="../media/image20.emf"/><Relationship Id="rId4" Type="http://schemas.openxmlformats.org/officeDocument/2006/relationships/image" Target="../media/image17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22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4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6.e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25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32.bin"/><Relationship Id="rId18" Type="http://schemas.openxmlformats.org/officeDocument/2006/relationships/image" Target="../media/image34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31.wmf"/><Relationship Id="rId17" Type="http://schemas.openxmlformats.org/officeDocument/2006/relationships/oleObject" Target="../embeddings/oleObject34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3.wmf"/><Relationship Id="rId20" Type="http://schemas.openxmlformats.org/officeDocument/2006/relationships/image" Target="../media/image35.wmf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5" Type="http://schemas.openxmlformats.org/officeDocument/2006/relationships/oleObject" Target="../embeddings/oleObject33.bin"/><Relationship Id="rId10" Type="http://schemas.openxmlformats.org/officeDocument/2006/relationships/image" Target="../media/image30.wmf"/><Relationship Id="rId19" Type="http://schemas.openxmlformats.org/officeDocument/2006/relationships/oleObject" Target="../embeddings/oleObject35.bin"/><Relationship Id="rId4" Type="http://schemas.openxmlformats.org/officeDocument/2006/relationships/image" Target="../media/image27.wmf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32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6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39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41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13" Type="http://schemas.openxmlformats.org/officeDocument/2006/relationships/oleObject" Target="../embeddings/oleObject48.bin"/><Relationship Id="rId18" Type="http://schemas.openxmlformats.org/officeDocument/2006/relationships/image" Target="../media/image50.emf"/><Relationship Id="rId3" Type="http://schemas.openxmlformats.org/officeDocument/2006/relationships/oleObject" Target="../embeddings/oleObject43.bin"/><Relationship Id="rId21" Type="http://schemas.openxmlformats.org/officeDocument/2006/relationships/oleObject" Target="../embeddings/oleObject52.bin"/><Relationship Id="rId7" Type="http://schemas.openxmlformats.org/officeDocument/2006/relationships/oleObject" Target="../embeddings/oleObject45.bin"/><Relationship Id="rId12" Type="http://schemas.openxmlformats.org/officeDocument/2006/relationships/image" Target="../media/image47.emf"/><Relationship Id="rId17" Type="http://schemas.openxmlformats.org/officeDocument/2006/relationships/oleObject" Target="../embeddings/oleObject5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9.emf"/><Relationship Id="rId20" Type="http://schemas.openxmlformats.org/officeDocument/2006/relationships/image" Target="../media/image51.emf"/><Relationship Id="rId1" Type="http://schemas.openxmlformats.org/officeDocument/2006/relationships/vmlDrawing" Target="../drawings/vmlDrawing14.v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47.bin"/><Relationship Id="rId24" Type="http://schemas.openxmlformats.org/officeDocument/2006/relationships/image" Target="../media/image53.emf"/><Relationship Id="rId5" Type="http://schemas.openxmlformats.org/officeDocument/2006/relationships/oleObject" Target="../embeddings/oleObject44.bin"/><Relationship Id="rId15" Type="http://schemas.openxmlformats.org/officeDocument/2006/relationships/oleObject" Target="../embeddings/oleObject49.bin"/><Relationship Id="rId23" Type="http://schemas.openxmlformats.org/officeDocument/2006/relationships/oleObject" Target="../embeddings/oleObject53.bin"/><Relationship Id="rId10" Type="http://schemas.openxmlformats.org/officeDocument/2006/relationships/image" Target="../media/image46.emf"/><Relationship Id="rId19" Type="http://schemas.openxmlformats.org/officeDocument/2006/relationships/oleObject" Target="../embeddings/oleObject51.bin"/><Relationship Id="rId4" Type="http://schemas.openxmlformats.org/officeDocument/2006/relationships/image" Target="../media/image43.wmf"/><Relationship Id="rId9" Type="http://schemas.openxmlformats.org/officeDocument/2006/relationships/oleObject" Target="../embeddings/oleObject46.bin"/><Relationship Id="rId14" Type="http://schemas.openxmlformats.org/officeDocument/2006/relationships/image" Target="../media/image48.emf"/><Relationship Id="rId22" Type="http://schemas.openxmlformats.org/officeDocument/2006/relationships/image" Target="../media/image52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4.emf"/><Relationship Id="rId5" Type="http://schemas.openxmlformats.org/officeDocument/2006/relationships/oleObject" Target="../embeddings/Microsoft_Word_97_-_2003___1.doc"/><Relationship Id="rId4" Type="http://schemas.openxmlformats.org/officeDocument/2006/relationships/oleObject" Target="../embeddings/oleObject54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13" Type="http://schemas.openxmlformats.org/officeDocument/2006/relationships/oleObject" Target="../embeddings/oleObject60.bin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60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2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57.emf"/><Relationship Id="rId11" Type="http://schemas.openxmlformats.org/officeDocument/2006/relationships/oleObject" Target="../embeddings/oleObject59.bin"/><Relationship Id="rId5" Type="http://schemas.openxmlformats.org/officeDocument/2006/relationships/oleObject" Target="../embeddings/oleObject56.bin"/><Relationship Id="rId15" Type="http://schemas.openxmlformats.org/officeDocument/2006/relationships/oleObject" Target="../embeddings/oleObject61.bin"/><Relationship Id="rId10" Type="http://schemas.openxmlformats.org/officeDocument/2006/relationships/image" Target="../media/image59.wmf"/><Relationship Id="rId4" Type="http://schemas.openxmlformats.org/officeDocument/2006/relationships/image" Target="../media/image56.wmf"/><Relationship Id="rId9" Type="http://schemas.openxmlformats.org/officeDocument/2006/relationships/oleObject" Target="../embeddings/oleObject58.bin"/><Relationship Id="rId14" Type="http://schemas.openxmlformats.org/officeDocument/2006/relationships/image" Target="../media/image61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4.e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63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66.e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65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68.wmf"/><Relationship Id="rId5" Type="http://schemas.openxmlformats.org/officeDocument/2006/relationships/oleObject" Target="../embeddings/oleObject67.bin"/><Relationship Id="rId4" Type="http://schemas.openxmlformats.org/officeDocument/2006/relationships/image" Target="../media/image67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69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71.w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7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47F910-22F5-484C-AC77-D32136C2BD69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2048" name="Rectangle 0"/>
          <p:cNvSpPr>
            <a:spLocks noChangeArrowheads="1"/>
          </p:cNvSpPr>
          <p:nvPr/>
        </p:nvSpPr>
        <p:spPr bwMode="auto">
          <a:xfrm>
            <a:off x="2927350" y="404813"/>
            <a:ext cx="4876800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4800" b="1">
                <a:solidFill>
                  <a:srgbClr val="0000FF"/>
                </a:solidFill>
                <a:latin typeface="Times New Roman" panose="02020603050405020304" pitchFamily="18" charset="0"/>
                <a:ea typeface="华文行楷" panose="02010800040101010101" pitchFamily="2" charset="-122"/>
              </a:rPr>
              <a:t>三重积分习题课</a:t>
            </a:r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2624138" y="1312863"/>
            <a:ext cx="7772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1" lang="zh-CN" altLang="en-US" sz="2800" b="1">
                <a:latin typeface="Times New Roman" panose="02020603050405020304" pitchFamily="18" charset="0"/>
              </a:rPr>
              <a:t>基本方法：化三重积分为三次积分计算。</a:t>
            </a:r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2624138" y="1922463"/>
            <a:ext cx="2590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kumimoji="1" lang="zh-CN" altLang="en-US" sz="2800" b="1">
                <a:latin typeface="Times New Roman" panose="02020603050405020304" pitchFamily="18" charset="0"/>
              </a:rPr>
              <a:t>关键步骤：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4224338" y="1968501"/>
            <a:ext cx="3962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1" lang="en-US" altLang="zh-CN" sz="2800" b="1">
                <a:latin typeface="Times New Roman" panose="02020603050405020304" pitchFamily="18" charset="0"/>
              </a:rPr>
              <a:t>(1)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坐标系的选取</a:t>
            </a:r>
          </a:p>
        </p:txBody>
      </p:sp>
      <p:sp>
        <p:nvSpPr>
          <p:cNvPr id="2052" name="Rectangle 4"/>
          <p:cNvSpPr>
            <a:spLocks noChangeArrowheads="1"/>
          </p:cNvSpPr>
          <p:nvPr/>
        </p:nvSpPr>
        <p:spPr bwMode="auto">
          <a:xfrm>
            <a:off x="4224338" y="2532063"/>
            <a:ext cx="5486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1" lang="en-US" altLang="zh-CN" sz="2800" b="1">
                <a:latin typeface="Times New Roman" panose="02020603050405020304" pitchFamily="18" charset="0"/>
              </a:rPr>
              <a:t>(2)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积分顺序的选定（直角）</a:t>
            </a:r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4224338" y="3141663"/>
            <a:ext cx="35052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1" lang="en-US" altLang="zh-CN" sz="2800" b="1">
                <a:latin typeface="Times New Roman" panose="02020603050405020304" pitchFamily="18" charset="0"/>
              </a:rPr>
              <a:t>(3)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定出积分限 </a:t>
            </a:r>
          </a:p>
        </p:txBody>
      </p:sp>
      <p:sp>
        <p:nvSpPr>
          <p:cNvPr id="2054" name="Rectangle 6"/>
          <p:cNvSpPr>
            <a:spLocks noChangeArrowheads="1"/>
          </p:cNvSpPr>
          <p:nvPr/>
        </p:nvSpPr>
        <p:spPr bwMode="auto">
          <a:xfrm>
            <a:off x="2279650" y="3716338"/>
            <a:ext cx="75438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 dirty="0">
                <a:latin typeface="Times New Roman" panose="02020603050405020304" pitchFamily="18" charset="0"/>
              </a:rPr>
              <a:t>  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要结合被积函数、积分区域两方面的因素综合考虑才能找到好的</a:t>
            </a:r>
            <a:r>
              <a:rPr kumimoji="1" lang="zh-CN" altLang="en-US" sz="2800" b="1" dirty="0" smtClean="0">
                <a:latin typeface="Times New Roman" panose="02020603050405020304" pitchFamily="18" charset="0"/>
              </a:rPr>
              <a:t>方案</a:t>
            </a:r>
            <a:r>
              <a:rPr kumimoji="1" lang="en-US" altLang="zh-CN" sz="2800" b="1" dirty="0" smtClean="0">
                <a:latin typeface="Times New Roman" panose="02020603050405020304" pitchFamily="18" charset="0"/>
              </a:rPr>
              <a:t>.</a:t>
            </a:r>
            <a:endParaRPr kumimoji="1"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2279650" y="4829175"/>
            <a:ext cx="76200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 dirty="0">
                <a:latin typeface="Times New Roman" panose="02020603050405020304" pitchFamily="18" charset="0"/>
              </a:rPr>
              <a:t>  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对积分区域要有一定的空间想象力，最好能画出</a:t>
            </a:r>
            <a:r>
              <a:rPr kumimoji="1" lang="zh-CN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的图形。如</a:t>
            </a:r>
            <a:r>
              <a:rPr kumimoji="1" lang="zh-CN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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的图不好画，也要画出</a:t>
            </a:r>
            <a:r>
              <a:rPr kumimoji="1" lang="zh-CN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在某坐标面上的投影区域的</a:t>
            </a:r>
            <a:r>
              <a:rPr kumimoji="1" lang="zh-CN" altLang="en-US" sz="2800" b="1" dirty="0" smtClean="0">
                <a:latin typeface="Times New Roman" panose="02020603050405020304" pitchFamily="18" charset="0"/>
              </a:rPr>
              <a:t>图形</a:t>
            </a:r>
            <a:r>
              <a:rPr kumimoji="1" lang="en-US" altLang="zh-CN" sz="2800" b="1" dirty="0" smtClean="0">
                <a:latin typeface="Times New Roman" panose="02020603050405020304" pitchFamily="18" charset="0"/>
              </a:rPr>
              <a:t>.</a:t>
            </a:r>
            <a:r>
              <a:rPr kumimoji="1" lang="zh-CN" altLang="en-US" sz="2800" b="1" dirty="0" smtClean="0">
                <a:latin typeface="Times New Roman" panose="02020603050405020304" pitchFamily="18" charset="0"/>
              </a:rPr>
              <a:t> </a:t>
            </a:r>
            <a:endParaRPr kumimoji="1" lang="zh-CN" altLang="en-US" sz="2800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301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  <p:bldP spid="2051" grpId="0"/>
      <p:bldP spid="2052" grpId="0"/>
      <p:bldP spid="2053" grpId="0"/>
      <p:bldP spid="2054" grpId="0" autoUpdateAnimBg="0"/>
      <p:bldP spid="2055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0AF4D0-F59D-4A5F-A8A5-1EC4BE0E9528}" type="slidenum">
              <a:rPr lang="en-US" altLang="zh-CN"/>
              <a:pPr/>
              <a:t>2</a:t>
            </a:fld>
            <a:endParaRPr lang="en-US" altLang="zh-CN"/>
          </a:p>
        </p:txBody>
      </p:sp>
      <p:sp>
        <p:nvSpPr>
          <p:cNvPr id="122883" name="Rectangle 3"/>
          <p:cNvSpPr>
            <a:spLocks noChangeArrowheads="1"/>
          </p:cNvSpPr>
          <p:nvPr/>
        </p:nvSpPr>
        <p:spPr bwMode="auto">
          <a:xfrm>
            <a:off x="1919288" y="404813"/>
            <a:ext cx="762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1" lang="en-US" altLang="zh-CN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kumimoji="1" lang="zh-CN" altLang="en-US" sz="2800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一、利用直角坐标系计算三重积分。</a:t>
            </a:r>
          </a:p>
        </p:txBody>
      </p:sp>
      <p:sp>
        <p:nvSpPr>
          <p:cNvPr id="122884" name="Rectangle 4"/>
          <p:cNvSpPr>
            <a:spLocks noChangeArrowheads="1"/>
          </p:cNvSpPr>
          <p:nvPr/>
        </p:nvSpPr>
        <p:spPr bwMode="auto">
          <a:xfrm>
            <a:off x="2133600" y="1646238"/>
            <a:ext cx="6781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>
                <a:latin typeface="Times New Roman" panose="02020603050405020304" pitchFamily="18" charset="0"/>
              </a:rPr>
              <a:t>(1)“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投影法”又叫“先单后重法” </a:t>
            </a:r>
          </a:p>
        </p:txBody>
      </p:sp>
      <p:sp>
        <p:nvSpPr>
          <p:cNvPr id="122887" name="Rectangle 7"/>
          <p:cNvSpPr>
            <a:spLocks noChangeArrowheads="1"/>
          </p:cNvSpPr>
          <p:nvPr/>
        </p:nvSpPr>
        <p:spPr bwMode="auto">
          <a:xfrm>
            <a:off x="2133600" y="1036638"/>
            <a:ext cx="762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1" lang="en-US" altLang="zh-CN" sz="2800" b="1">
                <a:latin typeface="Times New Roman" panose="02020603050405020304" pitchFamily="18" charset="0"/>
              </a:rPr>
              <a:t>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适用性较广，要有一定的空间想象力。 </a:t>
            </a:r>
          </a:p>
        </p:txBody>
      </p:sp>
      <p:graphicFrame>
        <p:nvGraphicFramePr>
          <p:cNvPr id="122880" name="Object 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1103971"/>
              </p:ext>
            </p:extLst>
          </p:nvPr>
        </p:nvGraphicFramePr>
        <p:xfrm>
          <a:off x="2625725" y="2420938"/>
          <a:ext cx="6615113" cy="1057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" name="Equation" r:id="rId3" imgW="2793960" imgH="444240" progId="Equation.DSMT4">
                  <p:embed/>
                </p:oleObj>
              </mc:Choice>
              <mc:Fallback>
                <p:oleObj name="Equation" r:id="rId3" imgW="279396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625725" y="2420938"/>
                        <a:ext cx="6615113" cy="1057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8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5660313"/>
              </p:ext>
            </p:extLst>
          </p:nvPr>
        </p:nvGraphicFramePr>
        <p:xfrm>
          <a:off x="2582863" y="4900613"/>
          <a:ext cx="6802437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1" name="Equation" r:id="rId5" imgW="2958840" imgH="406080" progId="Equation.DSMT4">
                  <p:embed/>
                </p:oleObj>
              </mc:Choice>
              <mc:Fallback>
                <p:oleObj name="Equation" r:id="rId5" imgW="29588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582863" y="4900613"/>
                        <a:ext cx="6802437" cy="990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3"/>
          <p:cNvSpPr>
            <a:spLocks noChangeArrowheads="1"/>
          </p:cNvSpPr>
          <p:nvPr/>
        </p:nvSpPr>
        <p:spPr bwMode="black">
          <a:xfrm>
            <a:off x="2351088" y="3716338"/>
            <a:ext cx="7315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latin typeface="Times New Roman" panose="02020603050405020304" pitchFamily="18" charset="0"/>
              </a:rPr>
              <a:t>再依被积函数和积分区域的特点选定积分顺序。 </a:t>
            </a:r>
          </a:p>
        </p:txBody>
      </p:sp>
    </p:spTree>
    <p:extLst>
      <p:ext uri="{BB962C8B-B14F-4D97-AF65-F5344CB8AC3E}">
        <p14:creationId xmlns:p14="http://schemas.microsoft.com/office/powerpoint/2010/main" val="646373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3" grpId="0"/>
      <p:bldP spid="122884" grpId="0"/>
      <p:bldP spid="12288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A7729-ACFE-4B8D-8E73-2AB9F1871A7E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123909" name="Rectangle 5"/>
          <p:cNvSpPr>
            <a:spLocks noChangeArrowheads="1"/>
          </p:cNvSpPr>
          <p:nvPr/>
        </p:nvSpPr>
        <p:spPr bwMode="black">
          <a:xfrm>
            <a:off x="2514600" y="2514600"/>
            <a:ext cx="76200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kumimoji="1" lang="en-US" altLang="zh-CN" sz="2800" b="1">
                <a:latin typeface="Times New Roman" panose="02020603050405020304" pitchFamily="18" charset="0"/>
              </a:rPr>
              <a:t> “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先单”的“单”选哪一个变量？</a:t>
            </a:r>
          </a:p>
        </p:txBody>
      </p:sp>
      <p:sp>
        <p:nvSpPr>
          <p:cNvPr id="123911" name="Text Box 7"/>
          <p:cNvSpPr txBox="1">
            <a:spLocks noChangeArrowheads="1"/>
          </p:cNvSpPr>
          <p:nvPr/>
        </p:nvSpPr>
        <p:spPr bwMode="auto">
          <a:xfrm>
            <a:off x="2514601" y="1812926"/>
            <a:ext cx="72421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    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往另两个坐标面上投影的情况与此类似。</a:t>
            </a:r>
          </a:p>
        </p:txBody>
      </p:sp>
      <p:sp>
        <p:nvSpPr>
          <p:cNvPr id="123904" name="Text Box 0"/>
          <p:cNvSpPr txBox="1">
            <a:spLocks noChangeArrowheads="1"/>
          </p:cNvSpPr>
          <p:nvPr/>
        </p:nvSpPr>
        <p:spPr bwMode="auto">
          <a:xfrm>
            <a:off x="2819401" y="3276601"/>
            <a:ext cx="715772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</a:rPr>
              <a:t>依被积函数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f 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latin typeface="Times New Roman" panose="02020603050405020304" pitchFamily="18" charset="0"/>
              </a:rPr>
              <a:t>,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</a:rPr>
              <a:t>y</a:t>
            </a:r>
            <a:r>
              <a:rPr kumimoji="1" lang="en-US" altLang="zh-CN" sz="2800" b="1" dirty="0" smtClean="0">
                <a:latin typeface="Times New Roman" panose="02020603050405020304" pitchFamily="18" charset="0"/>
              </a:rPr>
              <a:t>, </a:t>
            </a:r>
            <a:r>
              <a:rPr kumimoji="1" lang="en-US" altLang="zh-CN" sz="2800" b="1" i="1" dirty="0" smtClean="0">
                <a:latin typeface="Times New Roman" panose="02020603050405020304" pitchFamily="18" charset="0"/>
              </a:rPr>
              <a:t>z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及积分区域</a:t>
            </a:r>
            <a:r>
              <a:rPr kumimoji="1" lang="zh-CN" altLang="en-US" sz="28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共同</a:t>
            </a:r>
            <a:r>
              <a:rPr kumimoji="1" lang="zh-CN" altLang="en-US" sz="2800" b="1" dirty="0" smtClean="0">
                <a:latin typeface="Times New Roman" panose="02020603050405020304" pitchFamily="18" charset="0"/>
              </a:rPr>
              <a:t>确定</a:t>
            </a:r>
            <a:r>
              <a:rPr kumimoji="1" lang="en-US" altLang="zh-CN" sz="2800" b="1" dirty="0" smtClean="0">
                <a:latin typeface="Times New Roman" panose="02020603050405020304" pitchFamily="18" charset="0"/>
              </a:rPr>
              <a:t>.</a:t>
            </a:r>
            <a:endParaRPr kumimoji="1" lang="zh-CN" altLang="en-US" sz="2800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23363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425FEC-CC17-4838-A16D-96B58E1B4BEA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124930" name="Rectangle 2"/>
          <p:cNvSpPr>
            <a:spLocks noChangeArrowheads="1"/>
          </p:cNvSpPr>
          <p:nvPr/>
        </p:nvSpPr>
        <p:spPr bwMode="black">
          <a:xfrm>
            <a:off x="2362200" y="1066800"/>
            <a:ext cx="73152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1" lang="en-US" altLang="zh-CN" sz="2800" b="1">
                <a:latin typeface="Times New Roman" panose="02020603050405020304" pitchFamily="18" charset="0"/>
              </a:rPr>
              <a:t>     </a:t>
            </a:r>
            <a:r>
              <a:rPr kumimoji="1" lang="zh-CN" altLang="en-US" sz="2800" b="1">
                <a:latin typeface="Times New Roman" panose="02020603050405020304" pitchFamily="18" charset="0"/>
              </a:rPr>
              <a:t>设</a:t>
            </a:r>
            <a:r>
              <a:rPr kumimoji="1" lang="zh-CN" altLang="en-US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夹在平面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z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=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c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和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z </a:t>
            </a:r>
            <a:r>
              <a:rPr kumimoji="1" lang="en-US" altLang="zh-CN" sz="2800" b="1">
                <a:latin typeface="Times New Roman" panose="02020603050405020304" pitchFamily="18" charset="0"/>
              </a:rPr>
              <a:t>=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c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</a:rPr>
              <a:t>之间，竖坐标为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z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的平面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c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1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z </a:t>
            </a:r>
            <a:r>
              <a:rPr kumimoji="1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kumimoji="1" lang="en-US" altLang="zh-CN" sz="2800" b="1"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c</a:t>
            </a:r>
            <a:r>
              <a:rPr kumimoji="1" lang="en-US" altLang="zh-CN" sz="2800" b="1" baseline="-25000"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截</a:t>
            </a:r>
            <a:r>
              <a:rPr kumimoji="1" lang="zh-CN" altLang="en-US" sz="2800" b="1" i="1">
                <a:latin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所得截面记为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D</a:t>
            </a:r>
            <a:r>
              <a:rPr kumimoji="1" lang="en-US" altLang="zh-CN" sz="2800" b="1" i="1" baseline="-25000">
                <a:latin typeface="Times New Roman" panose="02020603050405020304" pitchFamily="18" charset="0"/>
              </a:rPr>
              <a:t>z</a:t>
            </a:r>
            <a:r>
              <a:rPr kumimoji="1" lang="zh-CN" altLang="en-US" sz="2800" b="1">
                <a:latin typeface="Times New Roman" panose="02020603050405020304" pitchFamily="18" charset="0"/>
              </a:rPr>
              <a:t>，则有</a:t>
            </a:r>
          </a:p>
        </p:txBody>
      </p:sp>
      <p:graphicFrame>
        <p:nvGraphicFramePr>
          <p:cNvPr id="1249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8751680"/>
              </p:ext>
            </p:extLst>
          </p:nvPr>
        </p:nvGraphicFramePr>
        <p:xfrm>
          <a:off x="2678113" y="2028825"/>
          <a:ext cx="7080250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7" name="Equation" r:id="rId3" imgW="2819160" imgH="431640" progId="Equation.DSMT4">
                  <p:embed/>
                </p:oleObj>
              </mc:Choice>
              <mc:Fallback>
                <p:oleObj name="Equation" r:id="rId3" imgW="28191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678113" y="2028825"/>
                        <a:ext cx="7080250" cy="1081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32" name="Text Box 4"/>
          <p:cNvSpPr txBox="1">
            <a:spLocks noChangeArrowheads="1"/>
          </p:cNvSpPr>
          <p:nvPr/>
        </p:nvSpPr>
        <p:spPr bwMode="black">
          <a:xfrm>
            <a:off x="2362201" y="3048001"/>
            <a:ext cx="77120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latin typeface="Times New Roman" panose="02020603050405020304" pitchFamily="18" charset="0"/>
              </a:rPr>
              <a:t>通常选用此法时应满足：</a:t>
            </a:r>
          </a:p>
        </p:txBody>
      </p:sp>
      <p:sp>
        <p:nvSpPr>
          <p:cNvPr id="124933" name="Text Box 5"/>
          <p:cNvSpPr txBox="1">
            <a:spLocks noChangeArrowheads="1"/>
          </p:cNvSpPr>
          <p:nvPr/>
        </p:nvSpPr>
        <p:spPr bwMode="black">
          <a:xfrm>
            <a:off x="2438401" y="3733800"/>
            <a:ext cx="77120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 dirty="0">
                <a:latin typeface="Times New Roman" panose="02020603050405020304" pitchFamily="18" charset="0"/>
              </a:rPr>
              <a:t>①</a:t>
            </a:r>
            <a:r>
              <a:rPr kumimoji="1" lang="en-US" altLang="zh-CN" sz="2800" b="1" i="1" dirty="0" err="1">
                <a:latin typeface="Times New Roman" panose="02020603050405020304" pitchFamily="18" charset="0"/>
              </a:rPr>
              <a:t>D</a:t>
            </a:r>
            <a:r>
              <a:rPr kumimoji="1" lang="en-US" altLang="zh-CN" sz="2800" b="1" i="1" baseline="-30000" dirty="0" err="1">
                <a:latin typeface="Times New Roman" panose="02020603050405020304" pitchFamily="18" charset="0"/>
              </a:rPr>
              <a:t>z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较简单：圆、椭圆、矩形、三角形等，容易算得其面积；</a:t>
            </a:r>
          </a:p>
        </p:txBody>
      </p:sp>
      <p:sp>
        <p:nvSpPr>
          <p:cNvPr id="124934" name="Text Box 6"/>
          <p:cNvSpPr txBox="1">
            <a:spLocks noChangeArrowheads="1"/>
          </p:cNvSpPr>
          <p:nvPr/>
        </p:nvSpPr>
        <p:spPr bwMode="auto">
          <a:xfrm>
            <a:off x="2346325" y="447675"/>
            <a:ext cx="79977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 dirty="0">
                <a:latin typeface="Times New Roman" panose="02020603050405020304" pitchFamily="18" charset="0"/>
              </a:rPr>
              <a:t>(2)“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截面法”又称“</a:t>
            </a:r>
            <a:r>
              <a:rPr kumimoji="1" lang="zh-CN" altLang="en-US" sz="2800" b="1" dirty="0" smtClean="0">
                <a:latin typeface="Times New Roman" panose="02020603050405020304" pitchFamily="18" charset="0"/>
              </a:rPr>
              <a:t>先二后一法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”、“切片法”。</a:t>
            </a:r>
          </a:p>
        </p:txBody>
      </p:sp>
      <p:graphicFrame>
        <p:nvGraphicFramePr>
          <p:cNvPr id="124935" name="Object 7"/>
          <p:cNvGraphicFramePr>
            <a:graphicFrameLocks noChangeAspect="1"/>
          </p:cNvGraphicFramePr>
          <p:nvPr/>
        </p:nvGraphicFramePr>
        <p:xfrm>
          <a:off x="2576513" y="4802188"/>
          <a:ext cx="4322762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8" name="Equation" r:id="rId5" imgW="1777680" imgH="380880" progId="Equation.DSMT4">
                  <p:embed/>
                </p:oleObj>
              </mc:Choice>
              <mc:Fallback>
                <p:oleObj name="Equation" r:id="rId5" imgW="17776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576513" y="4802188"/>
                        <a:ext cx="4322762" cy="931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493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4332277"/>
              </p:ext>
            </p:extLst>
          </p:nvPr>
        </p:nvGraphicFramePr>
        <p:xfrm>
          <a:off x="3001963" y="5715000"/>
          <a:ext cx="4538662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9" name="Equation" r:id="rId7" imgW="1866600" imgH="215640" progId="Equation.DSMT4">
                  <p:embed/>
                </p:oleObj>
              </mc:Choice>
              <mc:Fallback>
                <p:oleObj name="Equation" r:id="rId7" imgW="186660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3001963" y="5715000"/>
                        <a:ext cx="4538662" cy="525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83997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4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4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4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4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4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0" grpId="0" autoUpdateAnimBg="0"/>
      <p:bldP spid="124932" grpId="0" autoUpdateAnimBg="0"/>
      <p:bldP spid="124933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3FEA5-B44E-43BA-8DCD-C4FEC55C89EC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125954" name="Rectangle 2"/>
          <p:cNvSpPr>
            <a:spLocks noChangeArrowheads="1"/>
          </p:cNvSpPr>
          <p:nvPr/>
        </p:nvSpPr>
        <p:spPr bwMode="black">
          <a:xfrm>
            <a:off x="2362200" y="609601"/>
            <a:ext cx="685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二、柱面坐标系下计算三重积分 </a:t>
            </a:r>
          </a:p>
        </p:txBody>
      </p:sp>
      <p:graphicFrame>
        <p:nvGraphicFramePr>
          <p:cNvPr id="12595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8964153"/>
              </p:ext>
            </p:extLst>
          </p:nvPr>
        </p:nvGraphicFramePr>
        <p:xfrm>
          <a:off x="1276350" y="1014286"/>
          <a:ext cx="8705850" cy="2424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4" name="Equation" r:id="rId3" imgW="3327120" imgH="939600" progId="Equation.DSMT4">
                  <p:embed/>
                </p:oleObj>
              </mc:Choice>
              <mc:Fallback>
                <p:oleObj name="Equation" r:id="rId3" imgW="3327120" imgH="93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276350" y="1014286"/>
                        <a:ext cx="8705850" cy="2424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24"/>
          <p:cNvGrpSpPr>
            <a:grpSpLocks/>
          </p:cNvGrpSpPr>
          <p:nvPr/>
        </p:nvGrpSpPr>
        <p:grpSpPr bwMode="auto">
          <a:xfrm>
            <a:off x="1206692" y="3371701"/>
            <a:ext cx="8482346" cy="578506"/>
            <a:chOff x="230" y="553"/>
            <a:chExt cx="5603" cy="311"/>
          </a:xfrm>
        </p:grpSpPr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230" y="553"/>
              <a:ext cx="479" cy="2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若</a:t>
              </a:r>
              <a:r>
                <a:rPr lang="zh-CN" altLang="en-US" sz="2800" dirty="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</a:p>
          </p:txBody>
        </p:sp>
        <p:graphicFrame>
          <p:nvGraphicFramePr>
            <p:cNvPr id="8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0892254"/>
                </p:ext>
              </p:extLst>
            </p:nvPr>
          </p:nvGraphicFramePr>
          <p:xfrm>
            <a:off x="593" y="598"/>
            <a:ext cx="5240" cy="2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35" name="Equation" r:id="rId5" imgW="4368600" imgH="228600" progId="Equation.DSMT4">
                    <p:embed/>
                  </p:oleObj>
                </mc:Choice>
                <mc:Fallback>
                  <p:oleObj name="Equation" r:id="rId5" imgW="436860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3" y="598"/>
                          <a:ext cx="5240" cy="266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137034" y="4003860"/>
            <a:ext cx="7191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则</a:t>
            </a:r>
            <a:r>
              <a:rPr lang="zh-CN" altLang="en-US" sz="2800" dirty="0"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3293199"/>
              </p:ext>
            </p:extLst>
          </p:nvPr>
        </p:nvGraphicFramePr>
        <p:xfrm>
          <a:off x="1856171" y="4098084"/>
          <a:ext cx="8596363" cy="7155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6" name="Equation" r:id="rId7" imgW="7657920" imgH="609480" progId="Equation.DSMT4">
                  <p:embed/>
                </p:oleObj>
              </mc:Choice>
              <mc:Fallback>
                <p:oleObj name="Equation" r:id="rId7" imgW="7657920" imgH="609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6171" y="4098084"/>
                        <a:ext cx="8596363" cy="7155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975317"/>
              </p:ext>
            </p:extLst>
          </p:nvPr>
        </p:nvGraphicFramePr>
        <p:xfrm>
          <a:off x="2068512" y="4813612"/>
          <a:ext cx="7121525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7" name="Equation" r:id="rId9" imgW="6553080" imgH="571320" progId="Equation.DSMT4">
                  <p:embed/>
                </p:oleObj>
              </mc:Choice>
              <mc:Fallback>
                <p:oleObj name="Equation" r:id="rId9" imgW="6553080" imgH="571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8512" y="4813612"/>
                        <a:ext cx="7121525" cy="6524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700582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5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0216C-7E65-4499-94AC-1B68BB0E6DB9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126978" name="Rectangle 2"/>
          <p:cNvSpPr>
            <a:spLocks noChangeArrowheads="1"/>
          </p:cNvSpPr>
          <p:nvPr/>
        </p:nvSpPr>
        <p:spPr bwMode="black">
          <a:xfrm>
            <a:off x="2209800" y="533401"/>
            <a:ext cx="6400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三、球面坐标系下计算三重积分。 </a:t>
            </a:r>
          </a:p>
        </p:txBody>
      </p:sp>
      <p:graphicFrame>
        <p:nvGraphicFramePr>
          <p:cNvPr id="12697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5216313"/>
              </p:ext>
            </p:extLst>
          </p:nvPr>
        </p:nvGraphicFramePr>
        <p:xfrm>
          <a:off x="1320121" y="1224879"/>
          <a:ext cx="8346394" cy="941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1" name="Equation" r:id="rId3" imgW="3340080" imgH="406080" progId="Equation.DSMT4">
                  <p:embed/>
                </p:oleObj>
              </mc:Choice>
              <mc:Fallback>
                <p:oleObj name="Equation" r:id="rId3" imgW="334008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1320121" y="1224879"/>
                        <a:ext cx="8346394" cy="94126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980" name="Rectangle 4"/>
          <p:cNvSpPr>
            <a:spLocks noChangeArrowheads="1"/>
          </p:cNvSpPr>
          <p:nvPr/>
        </p:nvSpPr>
        <p:spPr bwMode="black">
          <a:xfrm>
            <a:off x="1191746" y="5045166"/>
            <a:ext cx="9310110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just"/>
            <a:r>
              <a:rPr kumimoji="1" lang="en-US" altLang="zh-CN" sz="2800" b="1" dirty="0"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有的三重积分可能有多种选择：不同的</a:t>
            </a:r>
            <a:r>
              <a:rPr kumimoji="1" lang="zh-CN" altLang="en-US" sz="2800" b="1" dirty="0" smtClean="0">
                <a:latin typeface="Times New Roman" panose="02020603050405020304" pitchFamily="18" charset="0"/>
              </a:rPr>
              <a:t>坐标系、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不同的顺序积</a:t>
            </a:r>
            <a:r>
              <a:rPr kumimoji="1" lang="zh-CN" altLang="en-US" sz="2800" b="1" dirty="0" smtClean="0">
                <a:latin typeface="Times New Roman" panose="02020603050405020304" pitchFamily="18" charset="0"/>
              </a:rPr>
              <a:t>等</a:t>
            </a:r>
            <a:r>
              <a:rPr kumimoji="1" lang="en-US" altLang="zh-CN" sz="2800" b="1" dirty="0" smtClean="0">
                <a:latin typeface="Times New Roman" panose="02020603050405020304" pitchFamily="18" charset="0"/>
              </a:rPr>
              <a:t>.</a:t>
            </a:r>
            <a:r>
              <a:rPr kumimoji="1" lang="zh-CN" altLang="en-US" sz="2800" b="1" dirty="0" smtClean="0">
                <a:latin typeface="Times New Roman" panose="02020603050405020304" pitchFamily="18" charset="0"/>
              </a:rPr>
              <a:t>总结经验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，选取简单的</a:t>
            </a:r>
            <a:r>
              <a:rPr kumimoji="1" lang="zh-CN" altLang="en-US" sz="2800" b="1" dirty="0" smtClean="0">
                <a:latin typeface="Times New Roman" panose="02020603050405020304" pitchFamily="18" charset="0"/>
              </a:rPr>
              <a:t>方法</a:t>
            </a:r>
            <a:r>
              <a:rPr kumimoji="1" lang="en-US" altLang="zh-CN" sz="2800" b="1" dirty="0" smtClean="0">
                <a:latin typeface="Times New Roman" panose="02020603050405020304" pitchFamily="18" charset="0"/>
              </a:rPr>
              <a:t>.</a:t>
            </a:r>
            <a:r>
              <a:rPr kumimoji="1" lang="zh-CN" altLang="en-US" sz="2800" b="1" dirty="0" smtClean="0">
                <a:latin typeface="Times New Roman" panose="02020603050405020304" pitchFamily="18" charset="0"/>
              </a:rPr>
              <a:t> </a:t>
            </a:r>
            <a:endParaRPr kumimoji="1" lang="zh-CN" altLang="en-US" sz="2800" b="1" dirty="0">
              <a:latin typeface="Times New Roman" panose="02020603050405020304" pitchFamily="18" charset="0"/>
            </a:endParaRP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1184818" y="2273135"/>
            <a:ext cx="9572626" cy="533399"/>
            <a:chOff x="258" y="2403"/>
            <a:chExt cx="6030" cy="336"/>
          </a:xfrm>
        </p:grpSpPr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258" y="2403"/>
              <a:ext cx="4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若</a:t>
              </a:r>
              <a:r>
                <a:rPr lang="zh-CN" altLang="en-US" sz="2800" dirty="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</a:p>
          </p:txBody>
        </p:sp>
        <p:graphicFrame>
          <p:nvGraphicFramePr>
            <p:cNvPr id="9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91640197"/>
                </p:ext>
              </p:extLst>
            </p:nvPr>
          </p:nvGraphicFramePr>
          <p:xfrm>
            <a:off x="581" y="2408"/>
            <a:ext cx="5707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92" name="Equation" r:id="rId5" imgW="4495680" imgH="228600" progId="Equation.DSMT4">
                    <p:embed/>
                  </p:oleObj>
                </mc:Choice>
                <mc:Fallback>
                  <p:oleObj name="Equation" r:id="rId5" imgW="44956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1" y="2408"/>
                          <a:ext cx="5707" cy="33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13"/>
          <p:cNvGrpSpPr>
            <a:grpSpLocks/>
          </p:cNvGrpSpPr>
          <p:nvPr/>
        </p:nvGrpSpPr>
        <p:grpSpPr bwMode="auto">
          <a:xfrm>
            <a:off x="1191746" y="2884504"/>
            <a:ext cx="3146425" cy="684213"/>
            <a:chOff x="263" y="2818"/>
            <a:chExt cx="1982" cy="431"/>
          </a:xfrm>
        </p:grpSpPr>
        <p:graphicFrame>
          <p:nvGraphicFramePr>
            <p:cNvPr id="11" name="Object 14"/>
            <p:cNvGraphicFramePr>
              <a:graphicFrameLocks noChangeAspect="1"/>
            </p:cNvGraphicFramePr>
            <p:nvPr/>
          </p:nvGraphicFramePr>
          <p:xfrm>
            <a:off x="661" y="2818"/>
            <a:ext cx="1584" cy="4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93" name="Equation" r:id="rId7" imgW="1397000" imgH="381000" progId="Equation.DSMT4">
                    <p:embed/>
                  </p:oleObj>
                </mc:Choice>
                <mc:Fallback>
                  <p:oleObj name="Equation" r:id="rId7" imgW="1397000" imgH="3810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1" y="2818"/>
                          <a:ext cx="1584" cy="43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Rectangle 15"/>
            <p:cNvSpPr>
              <a:spLocks noChangeArrowheads="1"/>
            </p:cNvSpPr>
            <p:nvPr/>
          </p:nvSpPr>
          <p:spPr bwMode="auto">
            <a:xfrm>
              <a:off x="263" y="2822"/>
              <a:ext cx="4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则</a:t>
              </a:r>
              <a:r>
                <a:rPr lang="zh-CN" altLang="en-US" sz="2800" dirty="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 </a:t>
              </a:r>
            </a:p>
          </p:txBody>
        </p:sp>
      </p:grpSp>
      <p:graphicFrame>
        <p:nvGraphicFramePr>
          <p:cNvPr id="13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1394844"/>
              </p:ext>
            </p:extLst>
          </p:nvPr>
        </p:nvGraphicFramePr>
        <p:xfrm>
          <a:off x="2209801" y="3441776"/>
          <a:ext cx="6629400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4" name="Equation" r:id="rId9" imgW="3632200" imgH="381000" progId="Equation.DSMT4">
                  <p:embed/>
                </p:oleObj>
              </mc:Choice>
              <mc:Fallback>
                <p:oleObj name="Equation" r:id="rId9" imgW="36322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1" y="3441776"/>
                        <a:ext cx="6629400" cy="71913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2895275"/>
              </p:ext>
            </p:extLst>
          </p:nvPr>
        </p:nvGraphicFramePr>
        <p:xfrm>
          <a:off x="2209800" y="4171915"/>
          <a:ext cx="7993062" cy="69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95" name="Equation" r:id="rId11" imgW="4267200" imgH="355600" progId="Equation.DSMT4">
                  <p:embed/>
                </p:oleObj>
              </mc:Choice>
              <mc:Fallback>
                <p:oleObj name="Equation" r:id="rId11" imgW="4267200" imgH="355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171915"/>
                        <a:ext cx="7993062" cy="692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2039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6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6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6980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9661-C15E-47B2-9D6C-20746628944D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128002" name="Rectangle 2"/>
          <p:cNvSpPr>
            <a:spLocks noChangeArrowheads="1"/>
          </p:cNvSpPr>
          <p:nvPr/>
        </p:nvSpPr>
        <p:spPr bwMode="black">
          <a:xfrm>
            <a:off x="2209800" y="457201"/>
            <a:ext cx="8077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四、三重积分中的对称性的</a:t>
            </a:r>
            <a:r>
              <a:rPr kumimoji="1" lang="zh-CN" altLang="en-US" sz="2800" b="1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应用</a:t>
            </a:r>
            <a:r>
              <a:rPr kumimoji="1"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.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2800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6424392"/>
              </p:ext>
            </p:extLst>
          </p:nvPr>
        </p:nvGraphicFramePr>
        <p:xfrm>
          <a:off x="2924175" y="1785938"/>
          <a:ext cx="6951663" cy="214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4" name="Equation" r:id="rId3" imgW="2933640" imgH="914400" progId="Equation.DSMT4">
                  <p:embed/>
                </p:oleObj>
              </mc:Choice>
              <mc:Fallback>
                <p:oleObj name="Equation" r:id="rId3" imgW="293364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924175" y="1785938"/>
                        <a:ext cx="6951663" cy="21447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8004" name="Rectangle 4"/>
          <p:cNvSpPr>
            <a:spLocks noChangeArrowheads="1"/>
          </p:cNvSpPr>
          <p:nvPr/>
        </p:nvSpPr>
        <p:spPr bwMode="black">
          <a:xfrm>
            <a:off x="2438400" y="5334001"/>
            <a:ext cx="3048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类似地：</a:t>
            </a:r>
            <a:r>
              <a:rPr kumimoji="1"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…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128005" name="Rectangle 5"/>
          <p:cNvSpPr>
            <a:spLocks noChangeArrowheads="1"/>
          </p:cNvSpPr>
          <p:nvPr/>
        </p:nvSpPr>
        <p:spPr bwMode="black">
          <a:xfrm>
            <a:off x="2346325" y="4151969"/>
            <a:ext cx="381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1"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kumimoji="1"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baseline="-30000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1 </a:t>
            </a:r>
            <a:r>
              <a:rPr kumimoji="1" lang="zh-CN" altLang="en-US" sz="2800" b="1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是 </a:t>
            </a:r>
            <a:r>
              <a:rPr kumimoji="1" lang="zh-CN" altLang="en-US" sz="2800" b="1" i="1" dirty="0" smtClean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 </a:t>
            </a:r>
            <a:r>
              <a:rPr kumimoji="1" lang="zh-CN" altLang="en-US" sz="2800" b="1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的 </a:t>
            </a:r>
            <a:r>
              <a:rPr kumimoji="1" lang="en-US" altLang="zh-CN" sz="2800" b="1" i="1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z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kumimoji="1"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0 </a:t>
            </a:r>
            <a:r>
              <a:rPr kumimoji="1" lang="zh-CN" altLang="en-US" sz="2800" b="1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的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部分</a:t>
            </a:r>
          </a:p>
        </p:txBody>
      </p:sp>
      <p:sp>
        <p:nvSpPr>
          <p:cNvPr id="128006" name="Text Box 6"/>
          <p:cNvSpPr txBox="1">
            <a:spLocks noChangeArrowheads="1"/>
          </p:cNvSpPr>
          <p:nvPr/>
        </p:nvSpPr>
        <p:spPr bwMode="auto">
          <a:xfrm>
            <a:off x="2346325" y="1127126"/>
            <a:ext cx="419217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 dirty="0">
                <a:latin typeface="Times New Roman" panose="02020603050405020304" pitchFamily="18" charset="0"/>
              </a:rPr>
              <a:t>(1)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设</a:t>
            </a:r>
            <a:r>
              <a:rPr kumimoji="1" lang="zh-CN" altLang="en-US" sz="2800" b="1" i="1" dirty="0" smtClean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 </a:t>
            </a:r>
            <a:r>
              <a:rPr kumimoji="1" lang="zh-CN" altLang="en-US" sz="2800" b="1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关于平面 </a:t>
            </a:r>
            <a:r>
              <a:rPr kumimoji="1" lang="en-US" altLang="zh-CN" sz="2800" b="1" i="1" dirty="0" err="1" smtClean="0">
                <a:solidFill>
                  <a:srgbClr val="0000CC"/>
                </a:solidFill>
                <a:latin typeface="Times New Roman" panose="02020603050405020304" pitchFamily="18" charset="0"/>
              </a:rPr>
              <a:t>xoy</a:t>
            </a:r>
            <a:r>
              <a:rPr kumimoji="1" lang="zh-CN" altLang="en-US" sz="2800" b="1" dirty="0" smtClean="0">
                <a:solidFill>
                  <a:srgbClr val="0000CC"/>
                </a:solidFill>
                <a:latin typeface="Times New Roman" panose="02020603050405020304" pitchFamily="18" charset="0"/>
              </a:rPr>
              <a:t>对称</a:t>
            </a:r>
            <a:r>
              <a:rPr kumimoji="1" lang="en-US" altLang="zh-CN" sz="2800" b="1" dirty="0" smtClean="0">
                <a:latin typeface="Times New Roman" panose="02020603050405020304" pitchFamily="18" charset="0"/>
              </a:rPr>
              <a:t>.</a:t>
            </a:r>
            <a:endParaRPr kumimoji="1" lang="zh-CN" altLang="en-US" sz="2800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8482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8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8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8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8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8004" grpId="0" autoUpdateAnimBg="0"/>
      <p:bldP spid="128005" grpId="0" autoUpdateAnimBg="0"/>
      <p:bldP spid="128006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2CFB9-3A42-4802-AAB4-291D4557C80B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129026" name="Rectangle 2"/>
          <p:cNvSpPr>
            <a:spLocks noChangeArrowheads="1"/>
          </p:cNvSpPr>
          <p:nvPr/>
        </p:nvSpPr>
        <p:spPr bwMode="black">
          <a:xfrm>
            <a:off x="2286000" y="609600"/>
            <a:ext cx="7620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1" lang="en-US" altLang="zh-CN" sz="2800" b="1" dirty="0">
                <a:latin typeface="Times New Roman" panose="02020603050405020304" pitchFamily="18" charset="0"/>
              </a:rPr>
              <a:t>(2)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设</a:t>
            </a:r>
            <a:r>
              <a:rPr kumimoji="1" lang="zh-CN" altLang="en-US" sz="2800" b="1" i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关于原点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O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对称， </a:t>
            </a:r>
            <a:r>
              <a:rPr kumimoji="1" lang="zh-CN" altLang="en-US" sz="2800" b="1" i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kumimoji="1" lang="zh-CN" altLang="en-US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800" b="1" baseline="-30000" dirty="0">
                <a:solidFill>
                  <a:srgbClr val="0000CC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是</a:t>
            </a:r>
            <a:r>
              <a:rPr kumimoji="1" lang="zh-CN" altLang="en-US" sz="2800" b="1" i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的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z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0 (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或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x 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0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，或</a:t>
            </a:r>
            <a:r>
              <a:rPr kumimoji="1" lang="en-US" altLang="zh-CN" sz="2800" b="1" i="1" dirty="0">
                <a:solidFill>
                  <a:srgbClr val="0000CC"/>
                </a:solidFill>
                <a:latin typeface="Times New Roman" panose="02020603050405020304" pitchFamily="18" charset="0"/>
              </a:rPr>
              <a:t>y 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kumimoji="1" lang="en-US" altLang="zh-CN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 0) </a:t>
            </a:r>
            <a:r>
              <a:rPr kumimoji="1" lang="zh-CN" altLang="en-US" sz="2800" b="1" dirty="0">
                <a:solidFill>
                  <a:srgbClr val="0000CC"/>
                </a:solidFill>
                <a:latin typeface="Times New Roman" panose="02020603050405020304" pitchFamily="18" charset="0"/>
              </a:rPr>
              <a:t>的部分，则</a:t>
            </a:r>
          </a:p>
        </p:txBody>
      </p:sp>
      <p:graphicFrame>
        <p:nvGraphicFramePr>
          <p:cNvPr id="12902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0801502"/>
              </p:ext>
            </p:extLst>
          </p:nvPr>
        </p:nvGraphicFramePr>
        <p:xfrm>
          <a:off x="2514601" y="1676401"/>
          <a:ext cx="7065963" cy="213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89" name="Equation" r:id="rId3" imgW="3073320" imgH="914400" progId="Equation.DSMT4">
                  <p:embed/>
                </p:oleObj>
              </mc:Choice>
              <mc:Fallback>
                <p:oleObj name="Equation" r:id="rId3" imgW="307332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514601" y="1676401"/>
                        <a:ext cx="7065963" cy="2138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7665538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9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99EDB3-5020-4B19-8D7C-7D72A0F82B58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130050" name="Rectangle 2"/>
          <p:cNvSpPr>
            <a:spLocks noChangeArrowheads="1"/>
          </p:cNvSpPr>
          <p:nvPr/>
        </p:nvSpPr>
        <p:spPr bwMode="black">
          <a:xfrm>
            <a:off x="2133600" y="304801"/>
            <a:ext cx="8001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(3)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若</a:t>
            </a:r>
            <a:r>
              <a:rPr kumimoji="1" lang="zh-CN" altLang="en-US" sz="2800" b="1" i="1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关于</a:t>
            </a:r>
            <a:r>
              <a:rPr kumimoji="1" lang="zh-CN" altLang="en-US" sz="2800" b="1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变量 </a:t>
            </a:r>
            <a:r>
              <a:rPr kumimoji="1" lang="en-US" altLang="zh-CN" sz="2800" b="1" i="1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, </a:t>
            </a:r>
            <a:r>
              <a:rPr kumimoji="1" lang="en-US" altLang="zh-CN" sz="2800" b="1" i="1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y</a:t>
            </a:r>
            <a:r>
              <a:rPr kumimoji="1"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, </a:t>
            </a:r>
            <a:r>
              <a:rPr kumimoji="1" lang="en-US" altLang="zh-CN" sz="2800" b="1" i="1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z </a:t>
            </a:r>
            <a:r>
              <a:rPr kumimoji="1" lang="zh-CN" altLang="en-US" sz="2800" b="1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具有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轮换对称性，</a:t>
            </a:r>
          </a:p>
        </p:txBody>
      </p:sp>
      <p:graphicFrame>
        <p:nvGraphicFramePr>
          <p:cNvPr id="13005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704618"/>
              </p:ext>
            </p:extLst>
          </p:nvPr>
        </p:nvGraphicFramePr>
        <p:xfrm>
          <a:off x="2011363" y="1447800"/>
          <a:ext cx="7629525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7" name="Equation" r:id="rId3" imgW="3416040" imgH="380880" progId="Equation.DSMT4">
                  <p:embed/>
                </p:oleObj>
              </mc:Choice>
              <mc:Fallback>
                <p:oleObj name="Equation" r:id="rId3" imgW="34160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011363" y="1447800"/>
                        <a:ext cx="7629525" cy="946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4849933"/>
              </p:ext>
            </p:extLst>
          </p:nvPr>
        </p:nvGraphicFramePr>
        <p:xfrm>
          <a:off x="2452688" y="2117725"/>
          <a:ext cx="7032625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8" name="Equation" r:id="rId5" imgW="2869920" imgH="444240" progId="Equation.DSMT4">
                  <p:embed/>
                </p:oleObj>
              </mc:Choice>
              <mc:Fallback>
                <p:oleObj name="Equation" r:id="rId5" imgW="28699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452688" y="2117725"/>
                        <a:ext cx="7032625" cy="1176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0053" name="Rectangle 5"/>
          <p:cNvSpPr>
            <a:spLocks noChangeArrowheads="1"/>
          </p:cNvSpPr>
          <p:nvPr/>
        </p:nvSpPr>
        <p:spPr bwMode="black">
          <a:xfrm>
            <a:off x="2209800" y="838201"/>
            <a:ext cx="7620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/>
            <a:r>
              <a:rPr kumimoji="1" lang="zh-CN" altLang="en-US" sz="2800" b="1">
                <a:latin typeface="Times New Roman" panose="02020603050405020304" pitchFamily="18" charset="0"/>
              </a:rPr>
              <a:t>即若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a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b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c</a:t>
            </a:r>
            <a:r>
              <a:rPr kumimoji="1" lang="en-US" altLang="zh-CN" sz="2800" b="1">
                <a:latin typeface="Times New Roman" panose="02020603050405020304" pitchFamily="18" charset="0"/>
              </a:rPr>
              <a:t>)</a:t>
            </a:r>
            <a:r>
              <a:rPr kumimoji="1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Ω,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则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b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c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a</a:t>
            </a:r>
            <a:r>
              <a:rPr kumimoji="1" lang="en-US" altLang="zh-CN" sz="2800" b="1">
                <a:latin typeface="Times New Roman" panose="02020603050405020304" pitchFamily="18" charset="0"/>
              </a:rPr>
              <a:t>)</a:t>
            </a:r>
            <a:r>
              <a:rPr kumimoji="1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Ω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,(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c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a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b</a:t>
            </a:r>
            <a:r>
              <a:rPr kumimoji="1" lang="en-US" altLang="zh-CN" sz="2800" b="1">
                <a:latin typeface="Times New Roman" panose="02020603050405020304" pitchFamily="18" charset="0"/>
              </a:rPr>
              <a:t>)</a:t>
            </a:r>
            <a:r>
              <a:rPr kumimoji="1" lang="en-US" altLang="zh-CN" sz="28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Ω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则有</a:t>
            </a:r>
          </a:p>
        </p:txBody>
      </p:sp>
      <p:graphicFrame>
        <p:nvGraphicFramePr>
          <p:cNvPr id="1300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94887536"/>
              </p:ext>
            </p:extLst>
          </p:nvPr>
        </p:nvGraphicFramePr>
        <p:xfrm>
          <a:off x="2538413" y="3886200"/>
          <a:ext cx="5497512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59" name="Equation" r:id="rId7" imgW="2044440" imgH="380880" progId="Equation.DSMT4">
                  <p:embed/>
                </p:oleObj>
              </mc:Choice>
              <mc:Fallback>
                <p:oleObj name="Equation" r:id="rId7" imgW="20444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538413" y="3886200"/>
                        <a:ext cx="5497512" cy="925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55" name="Object 7"/>
          <p:cNvGraphicFramePr>
            <a:graphicFrameLocks noChangeAspect="1"/>
          </p:cNvGraphicFramePr>
          <p:nvPr/>
        </p:nvGraphicFramePr>
        <p:xfrm>
          <a:off x="2743201" y="5486400"/>
          <a:ext cx="5013325" cy="1036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60" name="公式" r:id="rId9" imgW="1892160" imgH="393480" progId="Equation.3">
                  <p:embed/>
                </p:oleObj>
              </mc:Choice>
              <mc:Fallback>
                <p:oleObj name="公式" r:id="rId9" imgW="18921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743201" y="5486400"/>
                        <a:ext cx="5013325" cy="1036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5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1021386"/>
              </p:ext>
            </p:extLst>
          </p:nvPr>
        </p:nvGraphicFramePr>
        <p:xfrm>
          <a:off x="7818438" y="5548313"/>
          <a:ext cx="1582737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61" name="Equation" r:id="rId11" imgW="660240" imgH="406080" progId="Equation.DSMT4">
                  <p:embed/>
                </p:oleObj>
              </mc:Choice>
              <mc:Fallback>
                <p:oleObj name="Equation" r:id="rId11" imgW="6602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818438" y="5548313"/>
                        <a:ext cx="1582737" cy="969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57" name="Object 9"/>
          <p:cNvGraphicFramePr>
            <a:graphicFrameLocks noChangeAspect="1"/>
          </p:cNvGraphicFramePr>
          <p:nvPr/>
        </p:nvGraphicFramePr>
        <p:xfrm>
          <a:off x="2498725" y="3295651"/>
          <a:ext cx="503555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62" name="Equation" r:id="rId13" imgW="1879560" imgH="215640" progId="Equation.DSMT4">
                  <p:embed/>
                </p:oleObj>
              </mc:Choice>
              <mc:Fallback>
                <p:oleObj name="Equation" r:id="rId13" imgW="187956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498725" y="3295651"/>
                        <a:ext cx="5035550" cy="568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0058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6965831"/>
              </p:ext>
            </p:extLst>
          </p:nvPr>
        </p:nvGraphicFramePr>
        <p:xfrm>
          <a:off x="2767013" y="4632325"/>
          <a:ext cx="4167187" cy="1077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63" name="Equation" r:id="rId15" imgW="1549080" imgH="444240" progId="Equation.DSMT4">
                  <p:embed/>
                </p:oleObj>
              </mc:Choice>
              <mc:Fallback>
                <p:oleObj name="Equation" r:id="rId15" imgW="154908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767013" y="4632325"/>
                        <a:ext cx="4167187" cy="1077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6186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0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0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0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0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0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0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0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0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3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B01DD0-BE95-4BF6-B1C4-F74D948199A6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131074" name="Text Box 2"/>
          <p:cNvSpPr txBox="1">
            <a:spLocks noChangeArrowheads="1"/>
          </p:cNvSpPr>
          <p:nvPr/>
        </p:nvSpPr>
        <p:spPr bwMode="auto">
          <a:xfrm>
            <a:off x="1992313" y="476251"/>
            <a:ext cx="480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rgbClr val="3333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使用对称性时应注意：</a:t>
            </a:r>
          </a:p>
        </p:txBody>
      </p:sp>
      <p:sp>
        <p:nvSpPr>
          <p:cNvPr id="131075" name="Text Box 3"/>
          <p:cNvSpPr txBox="1">
            <a:spLocks noChangeArrowheads="1"/>
          </p:cNvSpPr>
          <p:nvPr/>
        </p:nvSpPr>
        <p:spPr bwMode="auto">
          <a:xfrm>
            <a:off x="2382839" y="1263651"/>
            <a:ext cx="71659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Times New Roman" panose="02020603050405020304" pitchFamily="18" charset="0"/>
              </a:rPr>
              <a:t>1</a:t>
            </a:r>
            <a:r>
              <a:rPr kumimoji="1" lang="zh-CN" altLang="en-US" sz="2800" b="1">
                <a:latin typeface="Times New Roman" panose="02020603050405020304" pitchFamily="18" charset="0"/>
              </a:rPr>
              <a:t>、积分区域关于坐标面的对称性；</a:t>
            </a:r>
          </a:p>
        </p:txBody>
      </p:sp>
      <p:sp>
        <p:nvSpPr>
          <p:cNvPr id="131076" name="Text Box 4"/>
          <p:cNvSpPr txBox="1">
            <a:spLocks noChangeArrowheads="1"/>
          </p:cNvSpPr>
          <p:nvPr/>
        </p:nvSpPr>
        <p:spPr bwMode="auto">
          <a:xfrm>
            <a:off x="2382838" y="1949450"/>
            <a:ext cx="768191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 dirty="0"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、被积函数在积分区域上的关于三个自变量的</a:t>
            </a:r>
            <a:r>
              <a:rPr kumimoji="1" lang="zh-CN" altLang="en-US" sz="2800" b="1" dirty="0" smtClean="0">
                <a:latin typeface="Times New Roman" panose="02020603050405020304" pitchFamily="18" charset="0"/>
              </a:rPr>
              <a:t>奇偶性</a:t>
            </a:r>
            <a:r>
              <a:rPr kumimoji="1" lang="en-US" altLang="zh-CN" sz="2800" b="1" dirty="0" smtClean="0">
                <a:latin typeface="Times New Roman" panose="02020603050405020304" pitchFamily="18" charset="0"/>
              </a:rPr>
              <a:t>.</a:t>
            </a:r>
            <a:endParaRPr kumimoji="1" lang="zh-CN" altLang="en-US" sz="2800" b="1" dirty="0">
              <a:latin typeface="Times New Roman" panose="02020603050405020304" pitchFamily="18" charset="0"/>
            </a:endParaRPr>
          </a:p>
        </p:txBody>
      </p:sp>
      <p:sp>
        <p:nvSpPr>
          <p:cNvPr id="131077" name="Text Box 5"/>
          <p:cNvSpPr txBox="1">
            <a:spLocks noChangeArrowheads="1"/>
          </p:cNvSpPr>
          <p:nvPr/>
        </p:nvSpPr>
        <p:spPr bwMode="auto">
          <a:xfrm>
            <a:off x="2382839" y="3778250"/>
            <a:ext cx="74072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>
                <a:latin typeface="Times New Roman" panose="02020603050405020304" pitchFamily="18" charset="0"/>
              </a:rPr>
              <a:t>①</a:t>
            </a:r>
            <a:r>
              <a:rPr kumimoji="1" lang="zh-CN" altLang="en-US" sz="2800" b="1">
                <a:latin typeface="Times New Roman" panose="02020603050405020304" pitchFamily="18" charset="0"/>
              </a:rPr>
              <a:t>被积函数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f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x,y,z</a:t>
            </a:r>
            <a:r>
              <a:rPr kumimoji="1" lang="en-US" altLang="zh-CN" sz="2800" b="1"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是关于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z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的奇函数，则三重积分为零</a:t>
            </a:r>
            <a:r>
              <a:rPr kumimoji="1"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31078" name="Text Box 6"/>
          <p:cNvSpPr txBox="1">
            <a:spLocks noChangeArrowheads="1"/>
          </p:cNvSpPr>
          <p:nvPr/>
        </p:nvSpPr>
        <p:spPr bwMode="auto">
          <a:xfrm>
            <a:off x="2382839" y="4784725"/>
            <a:ext cx="7407275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en-US" altLang="zh-CN" sz="2800" b="1">
                <a:latin typeface="Times New Roman" panose="02020603050405020304" pitchFamily="18" charset="0"/>
              </a:rPr>
              <a:t>②</a:t>
            </a:r>
            <a:r>
              <a:rPr kumimoji="1" lang="zh-CN" altLang="en-US" sz="2800" b="1">
                <a:latin typeface="Times New Roman" panose="02020603050405020304" pitchFamily="18" charset="0"/>
              </a:rPr>
              <a:t>若被积函数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f</a:t>
            </a:r>
            <a:r>
              <a:rPr kumimoji="1" lang="en-US" altLang="zh-CN" sz="2800" b="1">
                <a:latin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y</a:t>
            </a:r>
            <a:r>
              <a:rPr kumimoji="1" lang="en-US" altLang="zh-CN" sz="2800" b="1">
                <a:latin typeface="Times New Roman" panose="02020603050405020304" pitchFamily="18" charset="0"/>
              </a:rPr>
              <a:t>,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z</a:t>
            </a:r>
            <a:r>
              <a:rPr kumimoji="1" lang="en-US" altLang="zh-CN" sz="2800" b="1">
                <a:latin typeface="Times New Roman" panose="02020603050405020304" pitchFamily="18" charset="0"/>
              </a:rPr>
              <a:t>)</a:t>
            </a:r>
            <a:r>
              <a:rPr kumimoji="1" lang="zh-CN" altLang="en-US" sz="2800" b="1">
                <a:latin typeface="Times New Roman" panose="02020603050405020304" pitchFamily="18" charset="0"/>
              </a:rPr>
              <a:t>是关于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z</a:t>
            </a:r>
            <a:r>
              <a:rPr kumimoji="1" lang="zh-CN" altLang="en-US" sz="2800" b="1">
                <a:latin typeface="Times New Roman" panose="02020603050405020304" pitchFamily="18" charset="0"/>
              </a:rPr>
              <a:t>的偶函数，则三重积分为</a:t>
            </a:r>
            <a:r>
              <a:rPr kumimoji="1" lang="zh-CN" altLang="en-US" sz="2800" b="1">
                <a:latin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在</a:t>
            </a:r>
            <a:r>
              <a:rPr kumimoji="1" lang="en-US" altLang="zh-CN" sz="2800" b="1" i="1">
                <a:latin typeface="Times New Roman" panose="02020603050405020304" pitchFamily="18" charset="0"/>
              </a:rPr>
              <a:t>xoy</a:t>
            </a:r>
            <a:r>
              <a:rPr kumimoji="1" lang="zh-CN" altLang="en-US" sz="2800" b="1">
                <a:latin typeface="Times New Roman" panose="02020603050405020304" pitchFamily="18" charset="0"/>
              </a:rPr>
              <a:t>平面上方的半个闭区域的三重积分的两倍</a:t>
            </a:r>
            <a:r>
              <a:rPr kumimoji="1" lang="en-US" altLang="zh-CN" sz="2800" b="1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131079" name="Text Box 7"/>
          <p:cNvSpPr txBox="1">
            <a:spLocks noChangeArrowheads="1"/>
          </p:cNvSpPr>
          <p:nvPr/>
        </p:nvSpPr>
        <p:spPr bwMode="auto">
          <a:xfrm>
            <a:off x="2382839" y="3062288"/>
            <a:ext cx="63277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latin typeface="Times New Roman" panose="02020603050405020304" pitchFamily="18" charset="0"/>
              </a:rPr>
              <a:t>例如：当积分区域</a:t>
            </a:r>
            <a:r>
              <a:rPr kumimoji="1" lang="zh-CN" altLang="en-US" sz="2800" b="1" dirty="0">
                <a:latin typeface="Times New Roman" panose="02020603050405020304" pitchFamily="18" charset="0"/>
                <a:sym typeface="Symbol" panose="05050102010706020507" pitchFamily="18" charset="2"/>
              </a:rPr>
              <a:t>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关于平面</a:t>
            </a:r>
            <a:r>
              <a:rPr kumimoji="1" lang="en-US" altLang="zh-CN" sz="2800" b="1" i="1" dirty="0" err="1">
                <a:latin typeface="Times New Roman" panose="02020603050405020304" pitchFamily="18" charset="0"/>
              </a:rPr>
              <a:t>xoy</a:t>
            </a:r>
            <a:r>
              <a:rPr kumimoji="1" lang="zh-CN" altLang="en-US" sz="2800" b="1" dirty="0" smtClean="0">
                <a:latin typeface="Times New Roman" panose="02020603050405020304" pitchFamily="18" charset="0"/>
              </a:rPr>
              <a:t>对称</a:t>
            </a:r>
            <a:r>
              <a:rPr kumimoji="1" lang="en-US" altLang="zh-CN" sz="2800" b="1" dirty="0" smtClean="0">
                <a:latin typeface="Times New Roman" panose="02020603050405020304" pitchFamily="18" charset="0"/>
              </a:rPr>
              <a:t>.</a:t>
            </a:r>
            <a:endParaRPr kumimoji="1" lang="zh-CN" altLang="en-US" sz="2800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904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13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13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1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1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75" grpId="0" autoUpdateAnimBg="0"/>
      <p:bldP spid="131076" grpId="0" autoUpdateAnimBg="0"/>
      <p:bldP spid="131077" grpId="0" autoUpdateAnimBg="0"/>
      <p:bldP spid="131078" grpId="0" autoUpdateAnimBg="0"/>
      <p:bldP spid="131079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27FDE-33E0-4DE6-A9AE-A02A28138829}" type="slidenum">
              <a:rPr lang="en-US" altLang="zh-CN"/>
              <a:pPr/>
              <a:t>11</a:t>
            </a:fld>
            <a:endParaRPr lang="en-US" altLang="zh-CN"/>
          </a:p>
        </p:txBody>
      </p:sp>
      <p:graphicFrame>
        <p:nvGraphicFramePr>
          <p:cNvPr id="13209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5333241"/>
              </p:ext>
            </p:extLst>
          </p:nvPr>
        </p:nvGraphicFramePr>
        <p:xfrm>
          <a:off x="2074863" y="1258888"/>
          <a:ext cx="5811837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24" name="Equation" r:id="rId3" imgW="2577960" imgH="380880" progId="Equation.DSMT4">
                  <p:embed/>
                </p:oleObj>
              </mc:Choice>
              <mc:Fallback>
                <p:oleObj name="Equation" r:id="rId3" imgW="257796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074863" y="1258888"/>
                        <a:ext cx="5811837" cy="857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2105" name="Text Box 9"/>
          <p:cNvSpPr txBox="1">
            <a:spLocks noChangeArrowheads="1"/>
          </p:cNvSpPr>
          <p:nvPr/>
        </p:nvSpPr>
        <p:spPr bwMode="auto">
          <a:xfrm>
            <a:off x="1981201" y="581026"/>
            <a:ext cx="58975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kumimoji="1"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利用对称性计算下列三重积分。</a:t>
            </a:r>
            <a:endParaRPr kumimoji="1" lang="zh-CN" altLang="en-US" sz="2800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2106" name="AutoShape 10"/>
          <p:cNvSpPr>
            <a:spLocks noChangeArrowheads="1"/>
          </p:cNvSpPr>
          <p:nvPr/>
        </p:nvSpPr>
        <p:spPr bwMode="auto">
          <a:xfrm>
            <a:off x="8074025" y="990600"/>
            <a:ext cx="1676400" cy="1676400"/>
          </a:xfrm>
          <a:prstGeom prst="cube">
            <a:avLst>
              <a:gd name="adj" fmla="val 25000"/>
            </a:avLst>
          </a:prstGeom>
          <a:solidFill>
            <a:srgbClr val="FFCCFF"/>
          </a:solidFill>
          <a:ln w="38100">
            <a:solidFill>
              <a:srgbClr val="FF00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2107" name="Group 11"/>
          <p:cNvGrpSpPr>
            <a:grpSpLocks noChangeAspect="1"/>
          </p:cNvGrpSpPr>
          <p:nvPr/>
        </p:nvGrpSpPr>
        <p:grpSpPr bwMode="auto">
          <a:xfrm>
            <a:off x="7391400" y="338139"/>
            <a:ext cx="2870200" cy="2776537"/>
            <a:chOff x="4056" y="174"/>
            <a:chExt cx="1674" cy="1620"/>
          </a:xfrm>
        </p:grpSpPr>
        <p:sp>
          <p:nvSpPr>
            <p:cNvPr id="132108" name="Rectangle 12"/>
            <p:cNvSpPr>
              <a:spLocks noChangeAspect="1" noChangeArrowheads="1"/>
            </p:cNvSpPr>
            <p:nvPr/>
          </p:nvSpPr>
          <p:spPr bwMode="black">
            <a:xfrm>
              <a:off x="4466" y="174"/>
              <a:ext cx="177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132109" name="Line 13"/>
            <p:cNvSpPr>
              <a:spLocks noChangeAspect="1" noChangeShapeType="1"/>
            </p:cNvSpPr>
            <p:nvPr/>
          </p:nvSpPr>
          <p:spPr bwMode="black">
            <a:xfrm>
              <a:off x="4710" y="1291"/>
              <a:ext cx="88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10" name="Line 14"/>
            <p:cNvSpPr>
              <a:spLocks noChangeAspect="1" noChangeShapeType="1"/>
            </p:cNvSpPr>
            <p:nvPr/>
          </p:nvSpPr>
          <p:spPr bwMode="black">
            <a:xfrm flipV="1">
              <a:off x="4710" y="240"/>
              <a:ext cx="0" cy="105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111" name="Rectangle 15"/>
            <p:cNvSpPr>
              <a:spLocks noChangeAspect="1" noChangeArrowheads="1"/>
            </p:cNvSpPr>
            <p:nvPr/>
          </p:nvSpPr>
          <p:spPr bwMode="black">
            <a:xfrm>
              <a:off x="4056" y="1527"/>
              <a:ext cx="196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32112" name="Rectangle 16"/>
            <p:cNvSpPr>
              <a:spLocks noChangeAspect="1" noChangeArrowheads="1"/>
            </p:cNvSpPr>
            <p:nvPr/>
          </p:nvSpPr>
          <p:spPr bwMode="black">
            <a:xfrm>
              <a:off x="5544" y="1325"/>
              <a:ext cx="186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32113" name="Rectangle 17"/>
            <p:cNvSpPr>
              <a:spLocks noChangeAspect="1" noChangeArrowheads="1"/>
            </p:cNvSpPr>
            <p:nvPr/>
          </p:nvSpPr>
          <p:spPr bwMode="black">
            <a:xfrm>
              <a:off x="4607" y="1268"/>
              <a:ext cx="196" cy="2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400" b="1" i="1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132114" name="Line 18"/>
            <p:cNvSpPr>
              <a:spLocks noChangeAspect="1" noChangeShapeType="1"/>
            </p:cNvSpPr>
            <p:nvPr/>
          </p:nvSpPr>
          <p:spPr bwMode="black">
            <a:xfrm flipH="1">
              <a:off x="4231" y="1273"/>
              <a:ext cx="502" cy="5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7343503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2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2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210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B8CE4-3892-45C3-B305-FA9381666763}" type="slidenum">
              <a:rPr lang="en-US" altLang="zh-CN"/>
              <a:pPr/>
              <a:t>12</a:t>
            </a:fld>
            <a:endParaRPr lang="en-US" altLang="zh-CN"/>
          </a:p>
        </p:txBody>
      </p:sp>
      <p:graphicFrame>
        <p:nvGraphicFramePr>
          <p:cNvPr id="1341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8735794"/>
              </p:ext>
            </p:extLst>
          </p:nvPr>
        </p:nvGraphicFramePr>
        <p:xfrm>
          <a:off x="2060575" y="377825"/>
          <a:ext cx="4027488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4" name="Equation" r:id="rId3" imgW="1714320" imgH="380880" progId="Equation.DSMT4">
                  <p:embed/>
                </p:oleObj>
              </mc:Choice>
              <mc:Fallback>
                <p:oleObj name="Equation" r:id="rId3" imgW="17143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060575" y="377825"/>
                        <a:ext cx="4027488" cy="895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155" name="Object 11"/>
          <p:cNvGraphicFramePr>
            <a:graphicFrameLocks noChangeAspect="1"/>
          </p:cNvGraphicFramePr>
          <p:nvPr/>
        </p:nvGraphicFramePr>
        <p:xfrm>
          <a:off x="2438400" y="1139826"/>
          <a:ext cx="3132138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5" name="公式" r:id="rId5" imgW="1333440" imgH="228600" progId="Equation.3">
                  <p:embed/>
                </p:oleObj>
              </mc:Choice>
              <mc:Fallback>
                <p:oleObj name="公式" r:id="rId5" imgW="133344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438400" y="1139826"/>
                        <a:ext cx="3132138" cy="536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4156" name="Group 12"/>
          <p:cNvGrpSpPr>
            <a:grpSpLocks/>
          </p:cNvGrpSpPr>
          <p:nvPr/>
        </p:nvGrpSpPr>
        <p:grpSpPr bwMode="auto">
          <a:xfrm>
            <a:off x="7620000" y="1066801"/>
            <a:ext cx="1843088" cy="1782763"/>
            <a:chOff x="4085" y="821"/>
            <a:chExt cx="1161" cy="1123"/>
          </a:xfrm>
        </p:grpSpPr>
        <p:sp>
          <p:nvSpPr>
            <p:cNvPr id="134157" name="Oval 13" descr="球体"/>
            <p:cNvSpPr>
              <a:spLocks noChangeAspect="1" noChangeArrowheads="1"/>
            </p:cNvSpPr>
            <p:nvPr/>
          </p:nvSpPr>
          <p:spPr bwMode="black">
            <a:xfrm>
              <a:off x="4085" y="821"/>
              <a:ext cx="1161" cy="1123"/>
            </a:xfrm>
            <a:prstGeom prst="ellipse">
              <a:avLst/>
            </a:prstGeom>
            <a:pattFill prst="sphere">
              <a:fgClr>
                <a:schemeClr val="accent1"/>
              </a:fgClr>
              <a:bgClr>
                <a:schemeClr val="bg1"/>
              </a:bgClr>
            </a:pattFill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4158" name="Oval 14" descr="球体"/>
            <p:cNvSpPr>
              <a:spLocks noChangeAspect="1" noChangeArrowheads="1"/>
            </p:cNvSpPr>
            <p:nvPr/>
          </p:nvSpPr>
          <p:spPr bwMode="black">
            <a:xfrm>
              <a:off x="4089" y="1238"/>
              <a:ext cx="1142" cy="286"/>
            </a:xfrm>
            <a:prstGeom prst="ellipse">
              <a:avLst/>
            </a:prstGeom>
            <a:pattFill prst="sphere">
              <a:fgClr>
                <a:schemeClr val="accent1"/>
              </a:fgClr>
              <a:bgClr>
                <a:schemeClr val="bg1"/>
              </a:bgClr>
            </a:pattFill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4159" name="Group 15"/>
          <p:cNvGrpSpPr>
            <a:grpSpLocks/>
          </p:cNvGrpSpPr>
          <p:nvPr/>
        </p:nvGrpSpPr>
        <p:grpSpPr bwMode="auto">
          <a:xfrm>
            <a:off x="7467601" y="304800"/>
            <a:ext cx="2703513" cy="2514600"/>
            <a:chOff x="4006" y="912"/>
            <a:chExt cx="1703" cy="1584"/>
          </a:xfrm>
        </p:grpSpPr>
        <p:sp>
          <p:nvSpPr>
            <p:cNvPr id="134160" name="Line 16"/>
            <p:cNvSpPr>
              <a:spLocks noChangeAspect="1" noChangeShapeType="1"/>
            </p:cNvSpPr>
            <p:nvPr/>
          </p:nvSpPr>
          <p:spPr bwMode="black">
            <a:xfrm>
              <a:off x="4660" y="1963"/>
              <a:ext cx="88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61" name="Line 17"/>
            <p:cNvSpPr>
              <a:spLocks noChangeAspect="1" noChangeShapeType="1"/>
            </p:cNvSpPr>
            <p:nvPr/>
          </p:nvSpPr>
          <p:spPr bwMode="black">
            <a:xfrm flipV="1">
              <a:off x="4660" y="1056"/>
              <a:ext cx="0" cy="90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62" name="Rectangle 18"/>
            <p:cNvSpPr>
              <a:spLocks noChangeAspect="1" noChangeArrowheads="1"/>
            </p:cNvSpPr>
            <p:nvPr/>
          </p:nvSpPr>
          <p:spPr bwMode="black">
            <a:xfrm>
              <a:off x="4006" y="2169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i="1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34163" name="Rectangle 19"/>
            <p:cNvSpPr>
              <a:spLocks noChangeAspect="1" noChangeArrowheads="1"/>
            </p:cNvSpPr>
            <p:nvPr/>
          </p:nvSpPr>
          <p:spPr bwMode="black">
            <a:xfrm>
              <a:off x="5494" y="1968"/>
              <a:ext cx="2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i="1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34164" name="Rectangle 20"/>
            <p:cNvSpPr>
              <a:spLocks noChangeAspect="1" noChangeArrowheads="1"/>
            </p:cNvSpPr>
            <p:nvPr/>
          </p:nvSpPr>
          <p:spPr bwMode="black">
            <a:xfrm>
              <a:off x="4416" y="912"/>
              <a:ext cx="20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i="1"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134165" name="Rectangle 21"/>
            <p:cNvSpPr>
              <a:spLocks noChangeAspect="1" noChangeArrowheads="1"/>
            </p:cNvSpPr>
            <p:nvPr/>
          </p:nvSpPr>
          <p:spPr bwMode="black">
            <a:xfrm>
              <a:off x="4557" y="1910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i="1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134166" name="Line 22"/>
            <p:cNvSpPr>
              <a:spLocks noChangeAspect="1" noChangeShapeType="1"/>
            </p:cNvSpPr>
            <p:nvPr/>
          </p:nvSpPr>
          <p:spPr bwMode="black">
            <a:xfrm flipH="1">
              <a:off x="4181" y="1945"/>
              <a:ext cx="502" cy="5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167" name="Rectangle 23"/>
            <p:cNvSpPr>
              <a:spLocks noChangeAspect="1" noChangeArrowheads="1"/>
            </p:cNvSpPr>
            <p:nvPr/>
          </p:nvSpPr>
          <p:spPr bwMode="black">
            <a:xfrm>
              <a:off x="4438" y="1161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i="1">
                  <a:latin typeface="Times New Roman" panose="02020603050405020304" pitchFamily="18" charset="0"/>
                </a:rPr>
                <a:t>a</a:t>
              </a:r>
              <a:endParaRPr kumimoji="1" lang="en-US" altLang="zh-CN" sz="2800" b="1"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187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4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4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9442" name="Object 2"/>
          <p:cNvGraphicFramePr>
            <a:graphicFrameLocks noChangeAspect="1"/>
          </p:cNvGraphicFramePr>
          <p:nvPr/>
        </p:nvGraphicFramePr>
        <p:xfrm>
          <a:off x="2898775" y="609600"/>
          <a:ext cx="6927850" cy="1023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57" name="Equation" r:id="rId3" imgW="6629400" imgH="977760" progId="Equation.3">
                  <p:embed/>
                </p:oleObj>
              </mc:Choice>
              <mc:Fallback>
                <p:oleObj name="Equation" r:id="rId3" imgW="6629400" imgH="9777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8775" y="609600"/>
                        <a:ext cx="6927850" cy="1023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9443" name="Object 3"/>
          <p:cNvGraphicFramePr>
            <a:graphicFrameLocks noChangeAspect="1"/>
          </p:cNvGraphicFramePr>
          <p:nvPr/>
        </p:nvGraphicFramePr>
        <p:xfrm>
          <a:off x="2971801" y="1701800"/>
          <a:ext cx="5719763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58" name="公式" r:id="rId5" imgW="2400120" imgH="215640" progId="Equation.3">
                  <p:embed/>
                </p:oleObj>
              </mc:Choice>
              <mc:Fallback>
                <p:oleObj name="公式" r:id="rId5" imgW="240012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1" y="1701800"/>
                        <a:ext cx="5719763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94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4207285"/>
              </p:ext>
            </p:extLst>
          </p:nvPr>
        </p:nvGraphicFramePr>
        <p:xfrm>
          <a:off x="3205019" y="2188551"/>
          <a:ext cx="3318952" cy="856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59" name="Equation" r:id="rId7" imgW="1473120" imgH="380880" progId="Equation.DSMT4">
                  <p:embed/>
                </p:oleObj>
              </mc:Choice>
              <mc:Fallback>
                <p:oleObj name="Equation" r:id="rId7" imgW="14731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5019" y="2188551"/>
                        <a:ext cx="3318952" cy="8562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9456" name="Text Box 16"/>
          <p:cNvSpPr txBox="1">
            <a:spLocks noChangeArrowheads="1"/>
          </p:cNvSpPr>
          <p:nvPr/>
        </p:nvSpPr>
        <p:spPr bwMode="auto">
          <a:xfrm>
            <a:off x="2063750" y="765176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FF0000"/>
                </a:solidFill>
                <a:latin typeface="+mn-ea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7" name="Group 8"/>
          <p:cNvGrpSpPr>
            <a:grpSpLocks/>
          </p:cNvGrpSpPr>
          <p:nvPr/>
        </p:nvGrpSpPr>
        <p:grpSpPr bwMode="auto">
          <a:xfrm>
            <a:off x="10082342" y="2939100"/>
            <a:ext cx="1066800" cy="1219200"/>
            <a:chOff x="3599" y="672"/>
            <a:chExt cx="913" cy="1104"/>
          </a:xfrm>
        </p:grpSpPr>
        <p:sp>
          <p:nvSpPr>
            <p:cNvPr id="29" name="Oval 10"/>
            <p:cNvSpPr>
              <a:spLocks noChangeArrowheads="1"/>
            </p:cNvSpPr>
            <p:nvPr/>
          </p:nvSpPr>
          <p:spPr bwMode="auto">
            <a:xfrm>
              <a:off x="3600" y="672"/>
              <a:ext cx="912" cy="336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AutoShape 9"/>
            <p:cNvSpPr>
              <a:spLocks noChangeArrowheads="1"/>
            </p:cNvSpPr>
            <p:nvPr/>
          </p:nvSpPr>
          <p:spPr bwMode="auto">
            <a:xfrm rot="16202681">
              <a:off x="3599" y="864"/>
              <a:ext cx="912" cy="912"/>
            </a:xfrm>
            <a:prstGeom prst="moon">
              <a:avLst>
                <a:gd name="adj" fmla="val 84630"/>
              </a:avLst>
            </a:prstGeom>
            <a:solidFill>
              <a:srgbClr val="FFFF00"/>
            </a:solidFill>
            <a:ln w="2857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8" name="Group 12"/>
          <p:cNvGrpSpPr>
            <a:grpSpLocks/>
          </p:cNvGrpSpPr>
          <p:nvPr/>
        </p:nvGrpSpPr>
        <p:grpSpPr bwMode="auto">
          <a:xfrm>
            <a:off x="10012008" y="2431101"/>
            <a:ext cx="1676400" cy="2311400"/>
            <a:chOff x="4272" y="2608"/>
            <a:chExt cx="1056" cy="1456"/>
          </a:xfrm>
        </p:grpSpPr>
        <p:graphicFrame>
          <p:nvGraphicFramePr>
            <p:cNvPr id="19" name="Object 13"/>
            <p:cNvGraphicFramePr>
              <a:graphicFrameLocks noChangeAspect="1"/>
            </p:cNvGraphicFramePr>
            <p:nvPr/>
          </p:nvGraphicFramePr>
          <p:xfrm>
            <a:off x="4386" y="3888"/>
            <a:ext cx="174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60" name="Equation" r:id="rId9" imgW="139680" imgH="139680" progId="Equation.3">
                    <p:embed/>
                  </p:oleObj>
                </mc:Choice>
                <mc:Fallback>
                  <p:oleObj name="Equation" r:id="rId9" imgW="1396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6" y="3888"/>
                          <a:ext cx="174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14"/>
            <p:cNvGraphicFramePr>
              <a:graphicFrameLocks noChangeAspect="1"/>
            </p:cNvGraphicFramePr>
            <p:nvPr/>
          </p:nvGraphicFramePr>
          <p:xfrm>
            <a:off x="5155" y="3744"/>
            <a:ext cx="173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61" name="Equation" r:id="rId11" imgW="139680" imgH="164880" progId="Equation.3">
                    <p:embed/>
                  </p:oleObj>
                </mc:Choice>
                <mc:Fallback>
                  <p:oleObj name="Equation" r:id="rId11" imgW="139680" imgH="1648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55" y="3744"/>
                          <a:ext cx="173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Line 15"/>
            <p:cNvSpPr>
              <a:spLocks noChangeShapeType="1"/>
            </p:cNvSpPr>
            <p:nvPr/>
          </p:nvSpPr>
          <p:spPr bwMode="auto">
            <a:xfrm flipV="1">
              <a:off x="4656" y="3043"/>
              <a:ext cx="0" cy="65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Line 16"/>
            <p:cNvSpPr>
              <a:spLocks noChangeShapeType="1"/>
            </p:cNvSpPr>
            <p:nvPr/>
          </p:nvSpPr>
          <p:spPr bwMode="auto">
            <a:xfrm flipV="1">
              <a:off x="4656" y="2640"/>
              <a:ext cx="0" cy="4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3" name="Object 17"/>
            <p:cNvGraphicFramePr>
              <a:graphicFrameLocks noChangeAspect="1"/>
            </p:cNvGraphicFramePr>
            <p:nvPr/>
          </p:nvGraphicFramePr>
          <p:xfrm>
            <a:off x="4464" y="2608"/>
            <a:ext cx="142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62" name="Equation" r:id="rId13" imgW="114120" imgH="139680" progId="Equation.3">
                    <p:embed/>
                  </p:oleObj>
                </mc:Choice>
                <mc:Fallback>
                  <p:oleObj name="Equation" r:id="rId13" imgW="11412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2608"/>
                          <a:ext cx="142" cy="1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18"/>
            <p:cNvGraphicFramePr>
              <a:graphicFrameLocks noChangeAspect="1"/>
            </p:cNvGraphicFramePr>
            <p:nvPr/>
          </p:nvGraphicFramePr>
          <p:xfrm>
            <a:off x="4608" y="3696"/>
            <a:ext cx="163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63" name="Equation" r:id="rId15" imgW="164880" imgH="177480" progId="Equation.3">
                    <p:embed/>
                  </p:oleObj>
                </mc:Choice>
                <mc:Fallback>
                  <p:oleObj name="Equation" r:id="rId15" imgW="164880" imgH="1774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3696"/>
                          <a:ext cx="163" cy="1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Line 19"/>
            <p:cNvSpPr>
              <a:spLocks noChangeShapeType="1"/>
            </p:cNvSpPr>
            <p:nvPr/>
          </p:nvSpPr>
          <p:spPr bwMode="auto">
            <a:xfrm>
              <a:off x="4656" y="3696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Line 20"/>
            <p:cNvSpPr>
              <a:spLocks noChangeShapeType="1"/>
            </p:cNvSpPr>
            <p:nvPr/>
          </p:nvSpPr>
          <p:spPr bwMode="auto">
            <a:xfrm flipH="1">
              <a:off x="4272" y="3696"/>
              <a:ext cx="384" cy="2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3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4926302"/>
              </p:ext>
            </p:extLst>
          </p:nvPr>
        </p:nvGraphicFramePr>
        <p:xfrm>
          <a:off x="10392036" y="3025704"/>
          <a:ext cx="300393" cy="344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64" name="Equation" r:id="rId17" imgW="164880" imgH="190440" progId="Equation.DSMT4">
                  <p:embed/>
                </p:oleObj>
              </mc:Choice>
              <mc:Fallback>
                <p:oleObj name="Equation" r:id="rId17" imgW="164880" imgH="190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92036" y="3025704"/>
                        <a:ext cx="300393" cy="3448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8107033"/>
              </p:ext>
            </p:extLst>
          </p:nvPr>
        </p:nvGraphicFramePr>
        <p:xfrm>
          <a:off x="8934349" y="2674358"/>
          <a:ext cx="1369221" cy="3852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65" name="Equation" r:id="rId19" imgW="812520" imgH="228600" progId="Equation.DSMT4">
                  <p:embed/>
                </p:oleObj>
              </mc:Choice>
              <mc:Fallback>
                <p:oleObj name="Equation" r:id="rId19" imgW="812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4349" y="2674358"/>
                        <a:ext cx="1369221" cy="3852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0791055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61967-DA76-4F55-854B-6C2EF34D7E24}" type="slidenum">
              <a:rPr lang="en-US" altLang="zh-CN"/>
              <a:pPr/>
              <a:t>14</a:t>
            </a:fld>
            <a:endParaRPr lang="en-US" altLang="zh-CN"/>
          </a:p>
        </p:txBody>
      </p:sp>
      <p:graphicFrame>
        <p:nvGraphicFramePr>
          <p:cNvPr id="13926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6217524"/>
              </p:ext>
            </p:extLst>
          </p:nvPr>
        </p:nvGraphicFramePr>
        <p:xfrm>
          <a:off x="2300671" y="431801"/>
          <a:ext cx="2425700" cy="795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5" name="Equation" r:id="rId3" imgW="2552400" imgH="838080" progId="Equation.DSMT4">
                  <p:embed/>
                </p:oleObj>
              </mc:Choice>
              <mc:Fallback>
                <p:oleObj name="Equation" r:id="rId3" imgW="2552400" imgH="838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0671" y="431801"/>
                        <a:ext cx="2425700" cy="795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4065903"/>
              </p:ext>
            </p:extLst>
          </p:nvPr>
        </p:nvGraphicFramePr>
        <p:xfrm>
          <a:off x="1951359" y="1259170"/>
          <a:ext cx="303212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6" name="Equation" r:id="rId5" imgW="3174840" imgH="495000" progId="Equation.DSMT4">
                  <p:embed/>
                </p:oleObj>
              </mc:Choice>
              <mc:Fallback>
                <p:oleObj name="Equation" r:id="rId5" imgW="3174840" imgH="495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1359" y="1259170"/>
                        <a:ext cx="3032125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274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6334842"/>
              </p:ext>
            </p:extLst>
          </p:nvPr>
        </p:nvGraphicFramePr>
        <p:xfrm>
          <a:off x="9220200" y="1295401"/>
          <a:ext cx="4699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7" name="Equation" r:id="rId7" imgW="203040" imgH="228600" progId="Equation.DSMT4">
                  <p:embed/>
                </p:oleObj>
              </mc:Choice>
              <mc:Fallback>
                <p:oleObj name="Equation" r:id="rId7" imgW="203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0200" y="1295401"/>
                        <a:ext cx="4699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9276" name="Group 12"/>
          <p:cNvGrpSpPr>
            <a:grpSpLocks/>
          </p:cNvGrpSpPr>
          <p:nvPr/>
        </p:nvGrpSpPr>
        <p:grpSpPr bwMode="auto">
          <a:xfrm>
            <a:off x="7605714" y="1227138"/>
            <a:ext cx="1843087" cy="1782762"/>
            <a:chOff x="4085" y="821"/>
            <a:chExt cx="1161" cy="1123"/>
          </a:xfrm>
        </p:grpSpPr>
        <p:sp>
          <p:nvSpPr>
            <p:cNvPr id="139277" name="Oval 13" descr="宽下对角线"/>
            <p:cNvSpPr>
              <a:spLocks noChangeAspect="1" noChangeArrowheads="1"/>
            </p:cNvSpPr>
            <p:nvPr/>
          </p:nvSpPr>
          <p:spPr bwMode="black">
            <a:xfrm>
              <a:off x="4085" y="821"/>
              <a:ext cx="1161" cy="1123"/>
            </a:xfrm>
            <a:prstGeom prst="ellipse">
              <a:avLst/>
            </a:prstGeom>
            <a:pattFill prst="wdDnDiag">
              <a:fgClr>
                <a:srgbClr val="FFCCFF"/>
              </a:fgClr>
              <a:bgClr>
                <a:schemeClr val="bg1"/>
              </a:bgClr>
            </a:pattFill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9278" name="Oval 14" descr="宽下对角线"/>
            <p:cNvSpPr>
              <a:spLocks noChangeAspect="1" noChangeArrowheads="1"/>
            </p:cNvSpPr>
            <p:nvPr/>
          </p:nvSpPr>
          <p:spPr bwMode="black">
            <a:xfrm>
              <a:off x="4089" y="1238"/>
              <a:ext cx="1142" cy="286"/>
            </a:xfrm>
            <a:prstGeom prst="ellipse">
              <a:avLst/>
            </a:prstGeom>
            <a:pattFill prst="wdDnDiag">
              <a:fgClr>
                <a:srgbClr val="FFCCFF"/>
              </a:fgClr>
              <a:bgClr>
                <a:schemeClr val="bg1"/>
              </a:bgClr>
            </a:pattFill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9279" name="Oval 15" descr="宽上对角线"/>
          <p:cNvSpPr>
            <a:spLocks noChangeAspect="1" noChangeArrowheads="1"/>
          </p:cNvSpPr>
          <p:nvPr/>
        </p:nvSpPr>
        <p:spPr bwMode="auto">
          <a:xfrm>
            <a:off x="7708900" y="1560513"/>
            <a:ext cx="1587500" cy="265112"/>
          </a:xfrm>
          <a:prstGeom prst="ellipse">
            <a:avLst/>
          </a:prstGeom>
          <a:pattFill prst="wdUpDiag">
            <a:fgClr>
              <a:schemeClr val="accent1"/>
            </a:fgClr>
            <a:bgClr>
              <a:schemeClr val="bg1"/>
            </a:bgClr>
          </a:pattFill>
          <a:ln w="38100">
            <a:solidFill>
              <a:srgbClr val="0000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9289" name="Group 25"/>
          <p:cNvGrpSpPr>
            <a:grpSpLocks/>
          </p:cNvGrpSpPr>
          <p:nvPr/>
        </p:nvGrpSpPr>
        <p:grpSpPr bwMode="auto">
          <a:xfrm>
            <a:off x="7391401" y="304800"/>
            <a:ext cx="2703513" cy="2971800"/>
            <a:chOff x="3936" y="-96"/>
            <a:chExt cx="1703" cy="1872"/>
          </a:xfrm>
        </p:grpSpPr>
        <p:sp>
          <p:nvSpPr>
            <p:cNvPr id="139290" name="Rectangle 26"/>
            <p:cNvSpPr>
              <a:spLocks noChangeAspect="1" noChangeArrowheads="1"/>
            </p:cNvSpPr>
            <p:nvPr/>
          </p:nvSpPr>
          <p:spPr bwMode="black">
            <a:xfrm>
              <a:off x="4428" y="249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39291" name="Line 27"/>
            <p:cNvSpPr>
              <a:spLocks noChangeAspect="1" noChangeShapeType="1"/>
            </p:cNvSpPr>
            <p:nvPr/>
          </p:nvSpPr>
          <p:spPr bwMode="black">
            <a:xfrm>
              <a:off x="4638" y="1061"/>
              <a:ext cx="88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292" name="Line 28"/>
            <p:cNvSpPr>
              <a:spLocks noChangeAspect="1" noChangeShapeType="1"/>
            </p:cNvSpPr>
            <p:nvPr/>
          </p:nvSpPr>
          <p:spPr bwMode="black">
            <a:xfrm flipV="1">
              <a:off x="4638" y="96"/>
              <a:ext cx="0" cy="9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293" name="Rectangle 29"/>
            <p:cNvSpPr>
              <a:spLocks noChangeAspect="1" noChangeArrowheads="1"/>
            </p:cNvSpPr>
            <p:nvPr/>
          </p:nvSpPr>
          <p:spPr bwMode="black">
            <a:xfrm>
              <a:off x="3936" y="1305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i="1">
                  <a:latin typeface="Times New Roman" panose="02020603050405020304" pitchFamily="18" charset="0"/>
                </a:rPr>
                <a:t>x</a:t>
              </a:r>
            </a:p>
          </p:txBody>
        </p:sp>
        <p:sp>
          <p:nvSpPr>
            <p:cNvPr id="139294" name="Rectangle 30"/>
            <p:cNvSpPr>
              <a:spLocks noChangeAspect="1" noChangeArrowheads="1"/>
            </p:cNvSpPr>
            <p:nvPr/>
          </p:nvSpPr>
          <p:spPr bwMode="black">
            <a:xfrm>
              <a:off x="5424" y="1066"/>
              <a:ext cx="2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i="1">
                  <a:latin typeface="Times New Roman" panose="02020603050405020304" pitchFamily="18" charset="0"/>
                </a:rPr>
                <a:t>y</a:t>
              </a:r>
            </a:p>
          </p:txBody>
        </p:sp>
        <p:sp>
          <p:nvSpPr>
            <p:cNvPr id="139295" name="Rectangle 31"/>
            <p:cNvSpPr>
              <a:spLocks noChangeAspect="1" noChangeArrowheads="1"/>
            </p:cNvSpPr>
            <p:nvPr/>
          </p:nvSpPr>
          <p:spPr bwMode="black">
            <a:xfrm>
              <a:off x="4368" y="-96"/>
              <a:ext cx="20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i="1">
                  <a:latin typeface="Times New Roman" panose="02020603050405020304" pitchFamily="18" charset="0"/>
                </a:rPr>
                <a:t>z</a:t>
              </a:r>
            </a:p>
          </p:txBody>
        </p:sp>
        <p:sp>
          <p:nvSpPr>
            <p:cNvPr id="139296" name="Rectangle 32"/>
            <p:cNvSpPr>
              <a:spLocks noChangeAspect="1" noChangeArrowheads="1"/>
            </p:cNvSpPr>
            <p:nvPr/>
          </p:nvSpPr>
          <p:spPr bwMode="black">
            <a:xfrm>
              <a:off x="4416" y="864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sz="2800" b="1" i="1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139297" name="Line 33"/>
            <p:cNvSpPr>
              <a:spLocks noChangeAspect="1" noChangeShapeType="1"/>
            </p:cNvSpPr>
            <p:nvPr/>
          </p:nvSpPr>
          <p:spPr bwMode="black">
            <a:xfrm flipH="1">
              <a:off x="4116" y="1043"/>
              <a:ext cx="540" cy="54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298" name="Line 34"/>
            <p:cNvSpPr>
              <a:spLocks noChangeAspect="1" noChangeShapeType="1"/>
            </p:cNvSpPr>
            <p:nvPr/>
          </p:nvSpPr>
          <p:spPr bwMode="black">
            <a:xfrm flipV="1">
              <a:off x="4656" y="1056"/>
              <a:ext cx="0" cy="7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" name="矩形 2"/>
          <p:cNvSpPr/>
          <p:nvPr/>
        </p:nvSpPr>
        <p:spPr>
          <a:xfrm>
            <a:off x="1577396" y="463833"/>
            <a:ext cx="7248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352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9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9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9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9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27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663" name="Group 55"/>
          <p:cNvGrpSpPr>
            <a:grpSpLocks/>
          </p:cNvGrpSpPr>
          <p:nvPr/>
        </p:nvGrpSpPr>
        <p:grpSpPr bwMode="auto">
          <a:xfrm>
            <a:off x="2053257" y="308904"/>
            <a:ext cx="7362826" cy="1690688"/>
            <a:chOff x="377" y="107"/>
            <a:chExt cx="4638" cy="1065"/>
          </a:xfrm>
        </p:grpSpPr>
        <p:sp>
          <p:nvSpPr>
            <p:cNvPr id="196619" name="Text Box 11"/>
            <p:cNvSpPr txBox="1">
              <a:spLocks noChangeArrowheads="1"/>
            </p:cNvSpPr>
            <p:nvPr/>
          </p:nvSpPr>
          <p:spPr bwMode="auto">
            <a:xfrm>
              <a:off x="377" y="158"/>
              <a:ext cx="507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200" b="1" dirty="0" smtClean="0">
                  <a:solidFill>
                    <a:srgbClr val="FF0000"/>
                  </a:solidFill>
                </a:rPr>
                <a:t>例</a:t>
              </a:r>
              <a:r>
                <a:rPr lang="en-US" altLang="zh-CN" sz="32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6620" name="Text Box 12"/>
            <p:cNvSpPr txBox="1">
              <a:spLocks noChangeArrowheads="1"/>
            </p:cNvSpPr>
            <p:nvPr/>
          </p:nvSpPr>
          <p:spPr bwMode="auto">
            <a:xfrm>
              <a:off x="884" y="209"/>
              <a:ext cx="3288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800" b="1" dirty="0"/>
                <a:t>设                                       </a:t>
              </a:r>
              <a:r>
                <a:rPr lang="en-US" altLang="zh-CN" sz="2800" b="1" dirty="0"/>
                <a:t>, </a:t>
              </a:r>
              <a:r>
                <a:rPr lang="zh-CN" altLang="en-US" sz="2800" b="1" dirty="0"/>
                <a:t>其中</a:t>
              </a:r>
              <a:r>
                <a:rPr lang="el-GR" altLang="zh-CN" sz="2800" b="1" dirty="0">
                  <a:cs typeface="Times New Roman" panose="02020603050405020304" pitchFamily="18" charset="0"/>
                </a:rPr>
                <a:t>Ω</a:t>
              </a:r>
              <a:r>
                <a:rPr lang="zh-CN" altLang="en-US" sz="2800" b="1" dirty="0">
                  <a:cs typeface="Times New Roman" panose="02020603050405020304" pitchFamily="18" charset="0"/>
                </a:rPr>
                <a:t>由</a:t>
              </a:r>
              <a:endParaRPr lang="zh-CN" altLang="el-GR" sz="2800" b="1" dirty="0"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96621" name="Object 13"/>
            <p:cNvGraphicFramePr>
              <a:graphicFrameLocks noChangeAspect="1"/>
            </p:cNvGraphicFramePr>
            <p:nvPr>
              <p:extLst/>
            </p:nvPr>
          </p:nvGraphicFramePr>
          <p:xfrm>
            <a:off x="1172" y="107"/>
            <a:ext cx="2074" cy="6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70" name="Equation" r:id="rId3" imgW="1346040" imgH="380880" progId="Equation.DSMT4">
                    <p:embed/>
                  </p:oleObj>
                </mc:Choice>
                <mc:Fallback>
                  <p:oleObj name="Equation" r:id="rId3" imgW="1346040" imgH="380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2" y="107"/>
                          <a:ext cx="2074" cy="6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6622" name="Object 14"/>
            <p:cNvGraphicFramePr>
              <a:graphicFrameLocks noChangeAspect="1"/>
            </p:cNvGraphicFramePr>
            <p:nvPr>
              <p:extLst/>
            </p:nvPr>
          </p:nvGraphicFramePr>
          <p:xfrm>
            <a:off x="810" y="719"/>
            <a:ext cx="3423" cy="4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371" name="Equation" r:id="rId5" imgW="2222280" imgH="279360" progId="Equation.DSMT4">
                    <p:embed/>
                  </p:oleObj>
                </mc:Choice>
                <mc:Fallback>
                  <p:oleObj name="Equation" r:id="rId5" imgW="2222280" imgH="27936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0" y="719"/>
                          <a:ext cx="3423" cy="45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6623" name="Text Box 15"/>
            <p:cNvSpPr txBox="1">
              <a:spLocks noChangeArrowheads="1"/>
            </p:cNvSpPr>
            <p:nvPr/>
          </p:nvSpPr>
          <p:spPr bwMode="auto">
            <a:xfrm>
              <a:off x="4332" y="799"/>
              <a:ext cx="68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800" b="1" dirty="0"/>
                <a:t>所</a:t>
              </a:r>
              <a:r>
                <a:rPr lang="zh-CN" altLang="en-US" sz="2800" b="1" dirty="0" smtClean="0"/>
                <a:t>界</a:t>
              </a:r>
              <a:r>
                <a:rPr lang="en-US" altLang="zh-CN" sz="2800" b="1" dirty="0" smtClean="0"/>
                <a:t>.</a:t>
              </a:r>
              <a:r>
                <a:rPr lang="zh-CN" altLang="en-US" sz="2800" b="1" dirty="0" smtClean="0"/>
                <a:t> </a:t>
              </a:r>
              <a:endParaRPr lang="zh-CN" altLang="en-US" sz="2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942991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fld id="{46AF8DE1-6D76-4B0A-AC18-58A85CDF71D9}" type="slidenum">
              <a:rPr lang="en-US" altLang="zh-CN" sz="1400"/>
              <a:pPr>
                <a:spcBef>
                  <a:spcPct val="50000"/>
                </a:spcBef>
                <a:buFontTx/>
                <a:buNone/>
              </a:pPr>
              <a:t>16</a:t>
            </a:fld>
            <a:endParaRPr lang="en-US" altLang="zh-CN" sz="1400"/>
          </a:p>
        </p:txBody>
      </p:sp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6003635" y="2767340"/>
            <a:ext cx="184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2"/>
              </a:solidFill>
            </a:endParaRPr>
          </a:p>
        </p:txBody>
      </p:sp>
      <p:graphicFrame>
        <p:nvGraphicFramePr>
          <p:cNvPr id="1843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8449588"/>
              </p:ext>
            </p:extLst>
          </p:nvPr>
        </p:nvGraphicFramePr>
        <p:xfrm>
          <a:off x="3109120" y="349174"/>
          <a:ext cx="3025775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06" name="Equation" r:id="rId3" imgW="1269720" imgH="380880" progId="Equation.DSMT4">
                  <p:embed/>
                </p:oleObj>
              </mc:Choice>
              <mc:Fallback>
                <p:oleObj name="Equation" r:id="rId3" imgW="12697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9120" y="349174"/>
                        <a:ext cx="3025775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7" name="Rectangle 4"/>
          <p:cNvSpPr>
            <a:spLocks noChangeArrowheads="1"/>
          </p:cNvSpPr>
          <p:nvPr/>
        </p:nvSpPr>
        <p:spPr bwMode="auto">
          <a:xfrm>
            <a:off x="5219700" y="3792538"/>
            <a:ext cx="22225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1100" b="1">
                <a:latin typeface="Arial" panose="020B0604020202020204" pitchFamily="34" charset="0"/>
                <a:ea typeface="新宋体" panose="02010609030101010101" pitchFamily="49" charset="-122"/>
              </a:rPr>
              <a:t> </a:t>
            </a:r>
            <a:endParaRPr lang="en-US" altLang="zh-CN" sz="2400">
              <a:ea typeface="新宋体" panose="02010609030101010101" pitchFamily="49" charset="-122"/>
            </a:endParaRPr>
          </a:p>
        </p:txBody>
      </p:sp>
      <p:sp>
        <p:nvSpPr>
          <p:cNvPr id="18438" name="Text Box 5"/>
          <p:cNvSpPr txBox="1">
            <a:spLocks noChangeArrowheads="1"/>
          </p:cNvSpPr>
          <p:nvPr/>
        </p:nvSpPr>
        <p:spPr bwMode="auto">
          <a:xfrm>
            <a:off x="1468122" y="398691"/>
            <a:ext cx="24368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 smtClean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kumimoji="0" lang="en-US" altLang="zh-CN" sz="2800" b="1" dirty="0" smtClean="0">
                <a:solidFill>
                  <a:srgbClr val="FF0000"/>
                </a:solidFill>
                <a:ea typeface="新宋体" panose="02010609030101010101" pitchFamily="49" charset="-122"/>
                <a:cs typeface="Times New Roman" panose="02020603050405020304" pitchFamily="18" charset="0"/>
              </a:rPr>
              <a:t>5</a:t>
            </a:r>
            <a:r>
              <a:rPr kumimoji="0" lang="zh-CN" altLang="en-US" sz="2800" b="1" dirty="0" smtClean="0">
                <a:latin typeface="Arial" panose="020B0604020202020204" pitchFamily="34" charset="0"/>
              </a:rPr>
              <a:t> </a:t>
            </a:r>
            <a:r>
              <a:rPr kumimoji="0" lang="zh-CN" altLang="en-US" sz="2800" b="1" dirty="0">
                <a:latin typeface="Arial" panose="020B0604020202020204" pitchFamily="34" charset="0"/>
              </a:rPr>
              <a:t>计算</a:t>
            </a:r>
          </a:p>
        </p:txBody>
      </p:sp>
      <p:sp>
        <p:nvSpPr>
          <p:cNvPr id="18439" name="Text Box 6"/>
          <p:cNvSpPr txBox="1">
            <a:spLocks noChangeArrowheads="1"/>
          </p:cNvSpPr>
          <p:nvPr/>
        </p:nvSpPr>
        <p:spPr bwMode="auto">
          <a:xfrm>
            <a:off x="6188366" y="408196"/>
            <a:ext cx="170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zh-CN" altLang="en-US" sz="2800" b="1" dirty="0">
                <a:latin typeface="Arial" panose="020B0604020202020204" pitchFamily="34" charset="0"/>
              </a:rPr>
              <a:t>其中</a:t>
            </a:r>
          </a:p>
        </p:txBody>
      </p:sp>
      <p:graphicFrame>
        <p:nvGraphicFramePr>
          <p:cNvPr id="1844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5165688"/>
              </p:ext>
            </p:extLst>
          </p:nvPr>
        </p:nvGraphicFramePr>
        <p:xfrm>
          <a:off x="1645605" y="1138231"/>
          <a:ext cx="6995158" cy="107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07" name="Equation" r:id="rId5" imgW="3047760" imgH="469800" progId="Equation.DSMT4">
                  <p:embed/>
                </p:oleObj>
              </mc:Choice>
              <mc:Fallback>
                <p:oleObj name="Equation" r:id="rId5" imgW="30477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5605" y="1138231"/>
                        <a:ext cx="6995158" cy="107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92710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72" name="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961EDB03-9AD6-494D-B28C-D8738A4A8FEA}" type="slidenum">
              <a:rPr lang="en-US" altLang="zh-CN" sz="1400">
                <a:solidFill>
                  <a:schemeClr val="tx1"/>
                </a:solidFill>
              </a:rPr>
              <a:pPr/>
              <a:t>17</a:t>
            </a:fld>
            <a:endParaRPr lang="en-US" altLang="zh-CN" sz="1400">
              <a:solidFill>
                <a:schemeClr val="tx1"/>
              </a:solidFill>
            </a:endParaRPr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8028810" y="2351881"/>
            <a:ext cx="1690688" cy="598488"/>
            <a:chOff x="3954" y="1488"/>
            <a:chExt cx="1065" cy="377"/>
          </a:xfrm>
        </p:grpSpPr>
        <p:grpSp>
          <p:nvGrpSpPr>
            <p:cNvPr id="23597" name="Group 3"/>
            <p:cNvGrpSpPr>
              <a:grpSpLocks/>
            </p:cNvGrpSpPr>
            <p:nvPr/>
          </p:nvGrpSpPr>
          <p:grpSpPr bwMode="auto">
            <a:xfrm>
              <a:off x="4456" y="1681"/>
              <a:ext cx="563" cy="95"/>
              <a:chOff x="4257" y="1442"/>
              <a:chExt cx="982" cy="190"/>
            </a:xfrm>
          </p:grpSpPr>
          <p:sp>
            <p:nvSpPr>
              <p:cNvPr id="23599" name="Arc 4"/>
              <p:cNvSpPr>
                <a:spLocks/>
              </p:cNvSpPr>
              <p:nvPr/>
            </p:nvSpPr>
            <p:spPr bwMode="auto">
              <a:xfrm>
                <a:off x="4273" y="1442"/>
                <a:ext cx="948" cy="95"/>
              </a:xfrm>
              <a:custGeom>
                <a:avLst/>
                <a:gdLst>
                  <a:gd name="T0" fmla="*/ 0 w 43192"/>
                  <a:gd name="T1" fmla="*/ 92 h 21600"/>
                  <a:gd name="T2" fmla="*/ 948 w 43192"/>
                  <a:gd name="T3" fmla="*/ 95 h 21600"/>
                  <a:gd name="T4" fmla="*/ 474 w 43192"/>
                  <a:gd name="T5" fmla="*/ 95 h 21600"/>
                  <a:gd name="T6" fmla="*/ 0 60000 65536"/>
                  <a:gd name="T7" fmla="*/ 0 60000 65536"/>
                  <a:gd name="T8" fmla="*/ 0 60000 65536"/>
                  <a:gd name="T9" fmla="*/ 0 w 43192"/>
                  <a:gd name="T10" fmla="*/ 0 h 21600"/>
                  <a:gd name="T11" fmla="*/ 43192 w 4319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192" h="21600" fill="none" extrusionOk="0">
                    <a:moveTo>
                      <a:pt x="-1" y="21014"/>
                    </a:moveTo>
                    <a:cubicBezTo>
                      <a:pt x="316" y="9317"/>
                      <a:pt x="9890" y="-1"/>
                      <a:pt x="21592" y="0"/>
                    </a:cubicBezTo>
                    <a:cubicBezTo>
                      <a:pt x="33521" y="0"/>
                      <a:pt x="43192" y="9670"/>
                      <a:pt x="43192" y="21600"/>
                    </a:cubicBezTo>
                  </a:path>
                  <a:path w="43192" h="21600" stroke="0" extrusionOk="0">
                    <a:moveTo>
                      <a:pt x="-1" y="21014"/>
                    </a:moveTo>
                    <a:cubicBezTo>
                      <a:pt x="316" y="9317"/>
                      <a:pt x="9890" y="-1"/>
                      <a:pt x="21592" y="0"/>
                    </a:cubicBezTo>
                    <a:cubicBezTo>
                      <a:pt x="33521" y="0"/>
                      <a:pt x="43192" y="9670"/>
                      <a:pt x="43192" y="21600"/>
                    </a:cubicBezTo>
                    <a:lnTo>
                      <a:pt x="21592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accent2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600" name="Arc 5"/>
              <p:cNvSpPr>
                <a:spLocks/>
              </p:cNvSpPr>
              <p:nvPr/>
            </p:nvSpPr>
            <p:spPr bwMode="auto">
              <a:xfrm>
                <a:off x="4257" y="1560"/>
                <a:ext cx="982" cy="72"/>
              </a:xfrm>
              <a:custGeom>
                <a:avLst/>
                <a:gdLst>
                  <a:gd name="T0" fmla="*/ 948 w 43195"/>
                  <a:gd name="T1" fmla="*/ 2 h 21600"/>
                  <a:gd name="T2" fmla="*/ 0 w 43195"/>
                  <a:gd name="T3" fmla="*/ 0 h 21600"/>
                  <a:gd name="T4" fmla="*/ 474 w 4319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43195"/>
                  <a:gd name="T10" fmla="*/ 0 h 21600"/>
                  <a:gd name="T11" fmla="*/ 43195 w 4319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195" h="21600" fill="none" extrusionOk="0">
                    <a:moveTo>
                      <a:pt x="43194" y="469"/>
                    </a:moveTo>
                    <a:cubicBezTo>
                      <a:pt x="42939" y="12213"/>
                      <a:pt x="33346" y="21599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</a:path>
                  <a:path w="43195" h="21600" stroke="0" extrusionOk="0">
                    <a:moveTo>
                      <a:pt x="43194" y="469"/>
                    </a:moveTo>
                    <a:cubicBezTo>
                      <a:pt x="42939" y="12213"/>
                      <a:pt x="33346" y="21599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aphicFrame>
          <p:nvGraphicFramePr>
            <p:cNvPr id="23571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10571168"/>
                </p:ext>
              </p:extLst>
            </p:nvPr>
          </p:nvGraphicFramePr>
          <p:xfrm>
            <a:off x="3954" y="1488"/>
            <a:ext cx="298" cy="3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02" name="Equation" r:id="rId3" imgW="190440" imgH="241200" progId="Equation.DSMT4">
                    <p:embed/>
                  </p:oleObj>
                </mc:Choice>
                <mc:Fallback>
                  <p:oleObj name="Equation" r:id="rId3" imgW="1904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4" y="1488"/>
                          <a:ext cx="298" cy="37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98" name="Line 7"/>
            <p:cNvSpPr>
              <a:spLocks noChangeShapeType="1"/>
            </p:cNvSpPr>
            <p:nvPr/>
          </p:nvSpPr>
          <p:spPr bwMode="auto">
            <a:xfrm>
              <a:off x="4272" y="1728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8"/>
          <p:cNvGrpSpPr>
            <a:grpSpLocks/>
          </p:cNvGrpSpPr>
          <p:nvPr/>
        </p:nvGrpSpPr>
        <p:grpSpPr bwMode="auto">
          <a:xfrm>
            <a:off x="8207379" y="1371601"/>
            <a:ext cx="1504950" cy="836613"/>
            <a:chOff x="4073" y="864"/>
            <a:chExt cx="948" cy="527"/>
          </a:xfrm>
        </p:grpSpPr>
        <p:grpSp>
          <p:nvGrpSpPr>
            <p:cNvPr id="23593" name="Group 9"/>
            <p:cNvGrpSpPr>
              <a:grpSpLocks/>
            </p:cNvGrpSpPr>
            <p:nvPr/>
          </p:nvGrpSpPr>
          <p:grpSpPr bwMode="auto">
            <a:xfrm>
              <a:off x="4477" y="1296"/>
              <a:ext cx="544" cy="95"/>
              <a:chOff x="4272" y="1442"/>
              <a:chExt cx="949" cy="190"/>
            </a:xfrm>
          </p:grpSpPr>
          <p:sp>
            <p:nvSpPr>
              <p:cNvPr id="23595" name="Arc 10"/>
              <p:cNvSpPr>
                <a:spLocks/>
              </p:cNvSpPr>
              <p:nvPr/>
            </p:nvSpPr>
            <p:spPr bwMode="auto">
              <a:xfrm>
                <a:off x="4273" y="1442"/>
                <a:ext cx="948" cy="95"/>
              </a:xfrm>
              <a:custGeom>
                <a:avLst/>
                <a:gdLst>
                  <a:gd name="T0" fmla="*/ 0 w 43192"/>
                  <a:gd name="T1" fmla="*/ 92 h 21600"/>
                  <a:gd name="T2" fmla="*/ 948 w 43192"/>
                  <a:gd name="T3" fmla="*/ 95 h 21600"/>
                  <a:gd name="T4" fmla="*/ 474 w 43192"/>
                  <a:gd name="T5" fmla="*/ 95 h 21600"/>
                  <a:gd name="T6" fmla="*/ 0 60000 65536"/>
                  <a:gd name="T7" fmla="*/ 0 60000 65536"/>
                  <a:gd name="T8" fmla="*/ 0 60000 65536"/>
                  <a:gd name="T9" fmla="*/ 0 w 43192"/>
                  <a:gd name="T10" fmla="*/ 0 h 21600"/>
                  <a:gd name="T11" fmla="*/ 43192 w 4319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192" h="21600" fill="none" extrusionOk="0">
                    <a:moveTo>
                      <a:pt x="-1" y="21014"/>
                    </a:moveTo>
                    <a:cubicBezTo>
                      <a:pt x="316" y="9317"/>
                      <a:pt x="9890" y="-1"/>
                      <a:pt x="21592" y="0"/>
                    </a:cubicBezTo>
                    <a:cubicBezTo>
                      <a:pt x="33521" y="0"/>
                      <a:pt x="43192" y="9670"/>
                      <a:pt x="43192" y="21600"/>
                    </a:cubicBezTo>
                  </a:path>
                  <a:path w="43192" h="21600" stroke="0" extrusionOk="0">
                    <a:moveTo>
                      <a:pt x="-1" y="21014"/>
                    </a:moveTo>
                    <a:cubicBezTo>
                      <a:pt x="316" y="9317"/>
                      <a:pt x="9890" y="-1"/>
                      <a:pt x="21592" y="0"/>
                    </a:cubicBezTo>
                    <a:cubicBezTo>
                      <a:pt x="33521" y="0"/>
                      <a:pt x="43192" y="9670"/>
                      <a:pt x="43192" y="21600"/>
                    </a:cubicBezTo>
                    <a:lnTo>
                      <a:pt x="21592" y="21600"/>
                    </a:lnTo>
                    <a:close/>
                  </a:path>
                </a:pathLst>
              </a:custGeom>
              <a:noFill/>
              <a:ln w="19050">
                <a:solidFill>
                  <a:srgbClr val="FFCC66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596" name="Arc 11"/>
              <p:cNvSpPr>
                <a:spLocks/>
              </p:cNvSpPr>
              <p:nvPr/>
            </p:nvSpPr>
            <p:spPr bwMode="auto">
              <a:xfrm>
                <a:off x="4272" y="1537"/>
                <a:ext cx="948" cy="95"/>
              </a:xfrm>
              <a:custGeom>
                <a:avLst/>
                <a:gdLst>
                  <a:gd name="T0" fmla="*/ 948 w 43195"/>
                  <a:gd name="T1" fmla="*/ 2 h 21600"/>
                  <a:gd name="T2" fmla="*/ 0 w 43195"/>
                  <a:gd name="T3" fmla="*/ 0 h 21600"/>
                  <a:gd name="T4" fmla="*/ 474 w 4319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43195"/>
                  <a:gd name="T10" fmla="*/ 0 h 21600"/>
                  <a:gd name="T11" fmla="*/ 43195 w 4319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195" h="21600" fill="none" extrusionOk="0">
                    <a:moveTo>
                      <a:pt x="43194" y="469"/>
                    </a:moveTo>
                    <a:cubicBezTo>
                      <a:pt x="42939" y="12213"/>
                      <a:pt x="33346" y="21599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</a:path>
                  <a:path w="43195" h="21600" stroke="0" extrusionOk="0">
                    <a:moveTo>
                      <a:pt x="43194" y="469"/>
                    </a:moveTo>
                    <a:cubicBezTo>
                      <a:pt x="42939" y="12213"/>
                      <a:pt x="33346" y="21599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19050">
                <a:solidFill>
                  <a:srgbClr val="00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aphicFrame>
          <p:nvGraphicFramePr>
            <p:cNvPr id="23570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14446888"/>
                </p:ext>
              </p:extLst>
            </p:nvPr>
          </p:nvGraphicFramePr>
          <p:xfrm>
            <a:off x="4073" y="864"/>
            <a:ext cx="390" cy="3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03" name="Equation" r:id="rId5" imgW="203040" imgH="241200" progId="Equation.DSMT4">
                    <p:embed/>
                  </p:oleObj>
                </mc:Choice>
                <mc:Fallback>
                  <p:oleObj name="Equation" r:id="rId5" imgW="20304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3" y="864"/>
                          <a:ext cx="390" cy="39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94" name="Line 13"/>
            <p:cNvSpPr>
              <a:spLocks noChangeShapeType="1"/>
            </p:cNvSpPr>
            <p:nvPr/>
          </p:nvSpPr>
          <p:spPr bwMode="auto">
            <a:xfrm>
              <a:off x="4416" y="1200"/>
              <a:ext cx="24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575" name="Rectangle 14"/>
          <p:cNvSpPr>
            <a:spLocks noChangeArrowheads="1"/>
          </p:cNvSpPr>
          <p:nvPr/>
        </p:nvSpPr>
        <p:spPr bwMode="auto">
          <a:xfrm>
            <a:off x="1891189" y="409973"/>
            <a:ext cx="251364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 smtClean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6</a:t>
            </a:r>
            <a:r>
              <a:rPr lang="zh-CN" altLang="en-US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  </a:t>
            </a:r>
            <a:r>
              <a:rPr lang="zh-CN" altLang="en-US" b="1" dirty="0" smtClean="0">
                <a:solidFill>
                  <a:schemeClr val="tx1"/>
                </a:solidFill>
                <a:latin typeface="+mn-ea"/>
                <a:ea typeface="+mn-ea"/>
              </a:rPr>
              <a:t>计算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积分</a:t>
            </a:r>
            <a:endParaRPr lang="zh-CN" altLang="en-US" b="1" dirty="0">
              <a:latin typeface="+mn-ea"/>
              <a:ea typeface="+mn-ea"/>
            </a:endParaRPr>
          </a:p>
        </p:txBody>
      </p:sp>
      <p:graphicFrame>
        <p:nvGraphicFramePr>
          <p:cNvPr id="88884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10828"/>
              </p:ext>
            </p:extLst>
          </p:nvPr>
        </p:nvGraphicFramePr>
        <p:xfrm>
          <a:off x="1790700" y="1129367"/>
          <a:ext cx="2263775" cy="42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04" name="Equation" r:id="rId7" imgW="2222280" imgH="419040" progId="Equation.DSMT4">
                  <p:embed/>
                </p:oleObj>
              </mc:Choice>
              <mc:Fallback>
                <p:oleObj name="Equation" r:id="rId7" imgW="222228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0700" y="1129367"/>
                        <a:ext cx="2263775" cy="42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8848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6986869"/>
              </p:ext>
            </p:extLst>
          </p:nvPr>
        </p:nvGraphicFramePr>
        <p:xfrm>
          <a:off x="4154357" y="1119188"/>
          <a:ext cx="30321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05" name="Equation" r:id="rId9" imgW="2946240" imgH="419040" progId="Equation.DSMT4">
                  <p:embed/>
                </p:oleObj>
              </mc:Choice>
              <mc:Fallback>
                <p:oleObj name="Equation" r:id="rId9" imgW="29462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4357" y="1119188"/>
                        <a:ext cx="30321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0522636"/>
              </p:ext>
            </p:extLst>
          </p:nvPr>
        </p:nvGraphicFramePr>
        <p:xfrm>
          <a:off x="4404836" y="414537"/>
          <a:ext cx="2425700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206" name="Equation" r:id="rId11" imgW="2425680" imgH="596880" progId="Equation.DSMT4">
                  <p:embed/>
                </p:oleObj>
              </mc:Choice>
              <mc:Fallback>
                <p:oleObj name="Equation" r:id="rId11" imgW="2425680" imgH="596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4836" y="414537"/>
                        <a:ext cx="2425700" cy="59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8850" name="Text Box 18"/>
          <p:cNvSpPr txBox="1">
            <a:spLocks noChangeArrowheads="1"/>
          </p:cNvSpPr>
          <p:nvPr/>
        </p:nvSpPr>
        <p:spPr bwMode="auto">
          <a:xfrm>
            <a:off x="6835779" y="409973"/>
            <a:ext cx="2743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其中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  <a:sym typeface="Symbol" panose="05050102010706020507" pitchFamily="18" charset="2"/>
              </a:rPr>
              <a:t>是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两个球 </a:t>
            </a:r>
          </a:p>
        </p:txBody>
      </p:sp>
      <p:sp>
        <p:nvSpPr>
          <p:cNvPr id="888851" name="Text Box 19"/>
          <p:cNvSpPr txBox="1">
            <a:spLocks noChangeArrowheads="1"/>
          </p:cNvSpPr>
          <p:nvPr/>
        </p:nvSpPr>
        <p:spPr bwMode="auto">
          <a:xfrm>
            <a:off x="1790700" y="1676401"/>
            <a:ext cx="3276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( </a:t>
            </a:r>
            <a:r>
              <a:rPr lang="en-US" altLang="zh-CN" b="1" i="1" dirty="0">
                <a:solidFill>
                  <a:schemeClr val="tx1"/>
                </a:solidFill>
                <a:ea typeface="黑体" panose="02010609060101010101" pitchFamily="49" charset="-122"/>
              </a:rPr>
              <a:t>R 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&gt; 0 )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的公共部分</a:t>
            </a:r>
            <a:r>
              <a:rPr lang="en-US" altLang="zh-CN" b="1" dirty="0">
                <a:solidFill>
                  <a:schemeClr val="tx1"/>
                </a:solidFill>
                <a:ea typeface="黑体" panose="02010609060101010101" pitchFamily="49" charset="-122"/>
              </a:rPr>
              <a:t>.</a:t>
            </a:r>
          </a:p>
        </p:txBody>
      </p:sp>
      <p:grpSp>
        <p:nvGrpSpPr>
          <p:cNvPr id="6" name="Group 30"/>
          <p:cNvGrpSpPr>
            <a:grpSpLocks/>
          </p:cNvGrpSpPr>
          <p:nvPr/>
        </p:nvGrpSpPr>
        <p:grpSpPr bwMode="auto">
          <a:xfrm>
            <a:off x="8523288" y="1447800"/>
            <a:ext cx="1801812" cy="1981200"/>
            <a:chOff x="4272" y="1200"/>
            <a:chExt cx="1135" cy="1248"/>
          </a:xfrm>
        </p:grpSpPr>
        <p:grpSp>
          <p:nvGrpSpPr>
            <p:cNvPr id="23582" name="Group 31"/>
            <p:cNvGrpSpPr>
              <a:grpSpLocks/>
            </p:cNvGrpSpPr>
            <p:nvPr/>
          </p:nvGrpSpPr>
          <p:grpSpPr bwMode="auto">
            <a:xfrm>
              <a:off x="4272" y="1200"/>
              <a:ext cx="1135" cy="1248"/>
              <a:chOff x="4272" y="1277"/>
              <a:chExt cx="1135" cy="1248"/>
            </a:xfrm>
          </p:grpSpPr>
          <p:sp>
            <p:nvSpPr>
              <p:cNvPr id="23584" name="Arc 32"/>
              <p:cNvSpPr>
                <a:spLocks/>
              </p:cNvSpPr>
              <p:nvPr/>
            </p:nvSpPr>
            <p:spPr bwMode="auto">
              <a:xfrm>
                <a:off x="4276" y="1613"/>
                <a:ext cx="956" cy="576"/>
              </a:xfrm>
              <a:custGeom>
                <a:avLst/>
                <a:gdLst>
                  <a:gd name="T0" fmla="*/ 956 w 37642"/>
                  <a:gd name="T1" fmla="*/ 283 h 21600"/>
                  <a:gd name="T2" fmla="*/ 0 w 37642"/>
                  <a:gd name="T3" fmla="*/ 283 h 21600"/>
                  <a:gd name="T4" fmla="*/ 478 w 37642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37642"/>
                  <a:gd name="T10" fmla="*/ 0 h 21600"/>
                  <a:gd name="T11" fmla="*/ 37642 w 3764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642" h="21600" fill="none" extrusionOk="0">
                    <a:moveTo>
                      <a:pt x="37642" y="10595"/>
                    </a:moveTo>
                    <a:cubicBezTo>
                      <a:pt x="33815" y="17393"/>
                      <a:pt x="26620" y="21599"/>
                      <a:pt x="18819" y="21600"/>
                    </a:cubicBezTo>
                    <a:cubicBezTo>
                      <a:pt x="11020" y="21600"/>
                      <a:pt x="3827" y="17396"/>
                      <a:pt x="-1" y="10602"/>
                    </a:cubicBezTo>
                  </a:path>
                  <a:path w="37642" h="21600" stroke="0" extrusionOk="0">
                    <a:moveTo>
                      <a:pt x="37642" y="10595"/>
                    </a:moveTo>
                    <a:cubicBezTo>
                      <a:pt x="33815" y="17393"/>
                      <a:pt x="26620" y="21599"/>
                      <a:pt x="18819" y="21600"/>
                    </a:cubicBezTo>
                    <a:cubicBezTo>
                      <a:pt x="11020" y="21600"/>
                      <a:pt x="3827" y="17396"/>
                      <a:pt x="-1" y="10602"/>
                    </a:cubicBezTo>
                    <a:lnTo>
                      <a:pt x="18819" y="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585" name="Arc 33"/>
              <p:cNvSpPr>
                <a:spLocks/>
              </p:cNvSpPr>
              <p:nvPr/>
            </p:nvSpPr>
            <p:spPr bwMode="auto">
              <a:xfrm>
                <a:off x="4272" y="1613"/>
                <a:ext cx="956" cy="576"/>
              </a:xfrm>
              <a:custGeom>
                <a:avLst/>
                <a:gdLst>
                  <a:gd name="T0" fmla="*/ 0 w 37272"/>
                  <a:gd name="T1" fmla="*/ 282 h 21600"/>
                  <a:gd name="T2" fmla="*/ 956 w 37272"/>
                  <a:gd name="T3" fmla="*/ 287 h 21600"/>
                  <a:gd name="T4" fmla="*/ 477 w 37272"/>
                  <a:gd name="T5" fmla="*/ 576 h 21600"/>
                  <a:gd name="T6" fmla="*/ 0 60000 65536"/>
                  <a:gd name="T7" fmla="*/ 0 60000 65536"/>
                  <a:gd name="T8" fmla="*/ 0 60000 65536"/>
                  <a:gd name="T9" fmla="*/ 0 w 37272"/>
                  <a:gd name="T10" fmla="*/ 0 h 21600"/>
                  <a:gd name="T11" fmla="*/ 37272 w 3727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272" h="21600" fill="none" extrusionOk="0">
                    <a:moveTo>
                      <a:pt x="0" y="10584"/>
                    </a:moveTo>
                    <a:cubicBezTo>
                      <a:pt x="3890" y="4022"/>
                      <a:pt x="10952" y="-1"/>
                      <a:pt x="18580" y="0"/>
                    </a:cubicBezTo>
                    <a:cubicBezTo>
                      <a:pt x="26286" y="0"/>
                      <a:pt x="33409" y="4106"/>
                      <a:pt x="37271" y="10775"/>
                    </a:cubicBezTo>
                  </a:path>
                  <a:path w="37272" h="21600" stroke="0" extrusionOk="0">
                    <a:moveTo>
                      <a:pt x="0" y="10584"/>
                    </a:moveTo>
                    <a:cubicBezTo>
                      <a:pt x="3890" y="4022"/>
                      <a:pt x="10952" y="-1"/>
                      <a:pt x="18580" y="0"/>
                    </a:cubicBezTo>
                    <a:cubicBezTo>
                      <a:pt x="26286" y="0"/>
                      <a:pt x="33409" y="4106"/>
                      <a:pt x="37271" y="10775"/>
                    </a:cubicBezTo>
                    <a:lnTo>
                      <a:pt x="18580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graphicFrame>
            <p:nvGraphicFramePr>
              <p:cNvPr id="23565" name="Object 34"/>
              <p:cNvGraphicFramePr>
                <a:graphicFrameLocks noChangeAspect="1"/>
              </p:cNvGraphicFramePr>
              <p:nvPr/>
            </p:nvGraphicFramePr>
            <p:xfrm>
              <a:off x="4800" y="1411"/>
              <a:ext cx="159" cy="1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207" name="Equation" r:id="rId13" imgW="279360" imgH="304560" progId="Equation.3">
                      <p:embed/>
                    </p:oleObj>
                  </mc:Choice>
                  <mc:Fallback>
                    <p:oleObj name="Equation" r:id="rId13" imgW="279360" imgH="3045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00" y="1411"/>
                            <a:ext cx="159" cy="17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586" name="Line 35"/>
              <p:cNvSpPr>
                <a:spLocks noChangeShapeType="1"/>
              </p:cNvSpPr>
              <p:nvPr/>
            </p:nvSpPr>
            <p:spPr bwMode="auto">
              <a:xfrm flipH="1">
                <a:off x="4488" y="2171"/>
                <a:ext cx="272" cy="2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87" name="Line 36"/>
              <p:cNvSpPr>
                <a:spLocks noChangeShapeType="1"/>
              </p:cNvSpPr>
              <p:nvPr/>
            </p:nvSpPr>
            <p:spPr bwMode="auto">
              <a:xfrm>
                <a:off x="4273" y="2189"/>
                <a:ext cx="113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88" name="Line 37"/>
              <p:cNvSpPr>
                <a:spLocks noChangeShapeType="1"/>
              </p:cNvSpPr>
              <p:nvPr/>
            </p:nvSpPr>
            <p:spPr bwMode="auto">
              <a:xfrm flipV="1">
                <a:off x="4761" y="1277"/>
                <a:ext cx="0" cy="3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3566" name="Object 38"/>
              <p:cNvGraphicFramePr>
                <a:graphicFrameLocks noChangeAspect="1"/>
              </p:cNvGraphicFramePr>
              <p:nvPr/>
            </p:nvGraphicFramePr>
            <p:xfrm>
              <a:off x="4588" y="1318"/>
              <a:ext cx="123" cy="12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208" name="Equation" r:id="rId15" imgW="215640" imgH="215640" progId="Equation.3">
                      <p:embed/>
                    </p:oleObj>
                  </mc:Choice>
                  <mc:Fallback>
                    <p:oleObj name="Equation" r:id="rId15" imgW="215640" imgH="21564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88" y="1318"/>
                            <a:ext cx="123" cy="12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67" name="Object 39"/>
              <p:cNvGraphicFramePr>
                <a:graphicFrameLocks noChangeAspect="1"/>
              </p:cNvGraphicFramePr>
              <p:nvPr/>
            </p:nvGraphicFramePr>
            <p:xfrm>
              <a:off x="5232" y="2259"/>
              <a:ext cx="137" cy="1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209" name="Equation" r:id="rId17" imgW="241200" imgH="317160" progId="Equation.3">
                      <p:embed/>
                    </p:oleObj>
                  </mc:Choice>
                  <mc:Fallback>
                    <p:oleObj name="Equation" r:id="rId17" imgW="241200" imgH="3171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32" y="2259"/>
                            <a:ext cx="137" cy="1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68" name="Object 40"/>
              <p:cNvGraphicFramePr>
                <a:graphicFrameLocks noChangeAspect="1"/>
              </p:cNvGraphicFramePr>
              <p:nvPr/>
            </p:nvGraphicFramePr>
            <p:xfrm>
              <a:off x="4598" y="2389"/>
              <a:ext cx="129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210" name="Equation" r:id="rId19" imgW="228600" imgH="241200" progId="Equation.3">
                      <p:embed/>
                    </p:oleObj>
                  </mc:Choice>
                  <mc:Fallback>
                    <p:oleObj name="Equation" r:id="rId19" imgW="228600" imgH="2412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98" y="2389"/>
                            <a:ext cx="129" cy="1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569" name="Object 41"/>
              <p:cNvGraphicFramePr>
                <a:graphicFrameLocks noChangeAspect="1"/>
              </p:cNvGraphicFramePr>
              <p:nvPr/>
            </p:nvGraphicFramePr>
            <p:xfrm>
              <a:off x="4752" y="2225"/>
              <a:ext cx="122" cy="1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0211" name="Equation" r:id="rId21" imgW="215640" imgH="241200" progId="Equation.3">
                      <p:embed/>
                    </p:oleObj>
                  </mc:Choice>
                  <mc:Fallback>
                    <p:oleObj name="Equation" r:id="rId21" imgW="215640" imgH="2412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52" y="2225"/>
                            <a:ext cx="122" cy="1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3589" name="Line 42"/>
              <p:cNvSpPr>
                <a:spLocks noChangeShapeType="1"/>
              </p:cNvSpPr>
              <p:nvPr/>
            </p:nvSpPr>
            <p:spPr bwMode="auto">
              <a:xfrm flipV="1">
                <a:off x="4761" y="1613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90" name="Oval 43"/>
              <p:cNvSpPr>
                <a:spLocks noChangeArrowheads="1"/>
              </p:cNvSpPr>
              <p:nvPr/>
            </p:nvSpPr>
            <p:spPr bwMode="auto">
              <a:xfrm>
                <a:off x="4738" y="1879"/>
                <a:ext cx="34" cy="34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591" name="Arc 44"/>
              <p:cNvSpPr>
                <a:spLocks/>
              </p:cNvSpPr>
              <p:nvPr/>
            </p:nvSpPr>
            <p:spPr bwMode="auto">
              <a:xfrm>
                <a:off x="4273" y="1807"/>
                <a:ext cx="948" cy="95"/>
              </a:xfrm>
              <a:custGeom>
                <a:avLst/>
                <a:gdLst>
                  <a:gd name="T0" fmla="*/ 0 w 43192"/>
                  <a:gd name="T1" fmla="*/ 92 h 21600"/>
                  <a:gd name="T2" fmla="*/ 948 w 43192"/>
                  <a:gd name="T3" fmla="*/ 95 h 21600"/>
                  <a:gd name="T4" fmla="*/ 474 w 43192"/>
                  <a:gd name="T5" fmla="*/ 95 h 21600"/>
                  <a:gd name="T6" fmla="*/ 0 60000 65536"/>
                  <a:gd name="T7" fmla="*/ 0 60000 65536"/>
                  <a:gd name="T8" fmla="*/ 0 60000 65536"/>
                  <a:gd name="T9" fmla="*/ 0 w 43192"/>
                  <a:gd name="T10" fmla="*/ 0 h 21600"/>
                  <a:gd name="T11" fmla="*/ 43192 w 43192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192" h="21600" fill="none" extrusionOk="0">
                    <a:moveTo>
                      <a:pt x="-1" y="21014"/>
                    </a:moveTo>
                    <a:cubicBezTo>
                      <a:pt x="316" y="9317"/>
                      <a:pt x="9890" y="-1"/>
                      <a:pt x="21592" y="0"/>
                    </a:cubicBezTo>
                    <a:cubicBezTo>
                      <a:pt x="33521" y="0"/>
                      <a:pt x="43192" y="9670"/>
                      <a:pt x="43192" y="21600"/>
                    </a:cubicBezTo>
                  </a:path>
                  <a:path w="43192" h="21600" stroke="0" extrusionOk="0">
                    <a:moveTo>
                      <a:pt x="-1" y="21014"/>
                    </a:moveTo>
                    <a:cubicBezTo>
                      <a:pt x="316" y="9317"/>
                      <a:pt x="9890" y="-1"/>
                      <a:pt x="21592" y="0"/>
                    </a:cubicBezTo>
                    <a:cubicBezTo>
                      <a:pt x="33521" y="0"/>
                      <a:pt x="43192" y="9670"/>
                      <a:pt x="43192" y="21600"/>
                    </a:cubicBezTo>
                    <a:lnTo>
                      <a:pt x="21592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23592" name="Arc 45"/>
              <p:cNvSpPr>
                <a:spLocks/>
              </p:cNvSpPr>
              <p:nvPr/>
            </p:nvSpPr>
            <p:spPr bwMode="auto">
              <a:xfrm>
                <a:off x="4272" y="1902"/>
                <a:ext cx="948" cy="95"/>
              </a:xfrm>
              <a:custGeom>
                <a:avLst/>
                <a:gdLst>
                  <a:gd name="T0" fmla="*/ 948 w 43195"/>
                  <a:gd name="T1" fmla="*/ 2 h 21600"/>
                  <a:gd name="T2" fmla="*/ 0 w 43195"/>
                  <a:gd name="T3" fmla="*/ 0 h 21600"/>
                  <a:gd name="T4" fmla="*/ 474 w 43195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43195"/>
                  <a:gd name="T10" fmla="*/ 0 h 21600"/>
                  <a:gd name="T11" fmla="*/ 43195 w 43195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195" h="21600" fill="none" extrusionOk="0">
                    <a:moveTo>
                      <a:pt x="43194" y="469"/>
                    </a:moveTo>
                    <a:cubicBezTo>
                      <a:pt x="42939" y="12213"/>
                      <a:pt x="33346" y="21599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</a:path>
                  <a:path w="43195" h="21600" stroke="0" extrusionOk="0">
                    <a:moveTo>
                      <a:pt x="43194" y="469"/>
                    </a:moveTo>
                    <a:cubicBezTo>
                      <a:pt x="42939" y="12213"/>
                      <a:pt x="33346" y="21599"/>
                      <a:pt x="21600" y="21600"/>
                    </a:cubicBez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158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2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endParaRPr lang="zh-CN" altLang="en-US"/>
              </a:p>
            </p:txBody>
          </p:sp>
        </p:grpSp>
        <p:graphicFrame>
          <p:nvGraphicFramePr>
            <p:cNvPr id="23564" name="Object 46"/>
            <p:cNvGraphicFramePr>
              <a:graphicFrameLocks noChangeAspect="1"/>
            </p:cNvGraphicFramePr>
            <p:nvPr/>
          </p:nvGraphicFramePr>
          <p:xfrm>
            <a:off x="5184" y="1296"/>
            <a:ext cx="160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212" name="Equation" r:id="rId23" imgW="253800" imgH="558720" progId="Equation.3">
                    <p:embed/>
                  </p:oleObj>
                </mc:Choice>
                <mc:Fallback>
                  <p:oleObj name="Equation" r:id="rId23" imgW="253800" imgH="5587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4" y="1296"/>
                          <a:ext cx="160" cy="35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83" name="Freeform 47"/>
            <p:cNvSpPr>
              <a:spLocks/>
            </p:cNvSpPr>
            <p:nvPr/>
          </p:nvSpPr>
          <p:spPr bwMode="auto">
            <a:xfrm>
              <a:off x="4800" y="1584"/>
              <a:ext cx="384" cy="240"/>
            </a:xfrm>
            <a:custGeom>
              <a:avLst/>
              <a:gdLst>
                <a:gd name="T0" fmla="*/ 0 w 336"/>
                <a:gd name="T1" fmla="*/ 240 h 240"/>
                <a:gd name="T2" fmla="*/ 192 w 336"/>
                <a:gd name="T3" fmla="*/ 192 h 240"/>
                <a:gd name="T4" fmla="*/ 336 w 336"/>
                <a:gd name="T5" fmla="*/ 0 h 240"/>
                <a:gd name="T6" fmla="*/ 0 60000 65536"/>
                <a:gd name="T7" fmla="*/ 0 60000 65536"/>
                <a:gd name="T8" fmla="*/ 0 60000 65536"/>
                <a:gd name="T9" fmla="*/ 0 w 336"/>
                <a:gd name="T10" fmla="*/ 0 h 240"/>
                <a:gd name="T11" fmla="*/ 336 w 336"/>
                <a:gd name="T12" fmla="*/ 240 h 2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6" h="240">
                  <a:moveTo>
                    <a:pt x="0" y="240"/>
                  </a:moveTo>
                  <a:cubicBezTo>
                    <a:pt x="68" y="236"/>
                    <a:pt x="136" y="232"/>
                    <a:pt x="192" y="192"/>
                  </a:cubicBezTo>
                  <a:cubicBezTo>
                    <a:pt x="248" y="152"/>
                    <a:pt x="292" y="76"/>
                    <a:pt x="336" y="0"/>
                  </a:cubicBezTo>
                </a:path>
              </a:pathLst>
            </a:custGeom>
            <a:noFill/>
            <a:ln w="9525">
              <a:solidFill>
                <a:schemeClr val="accent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2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07457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9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0" y="2743201"/>
            <a:ext cx="2209800" cy="2098675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34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4073849"/>
              </p:ext>
            </p:extLst>
          </p:nvPr>
        </p:nvGraphicFramePr>
        <p:xfrm>
          <a:off x="2286000" y="823121"/>
          <a:ext cx="7324725" cy="171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40" name="Document" r:id="rId5" imgW="7398626" imgH="1735515" progId="Word.Document.8">
                  <p:embed/>
                </p:oleObj>
              </mc:Choice>
              <mc:Fallback>
                <p:oleObj name="Document" r:id="rId5" imgW="7398626" imgH="173551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823121"/>
                        <a:ext cx="7324725" cy="171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2286000" y="823121"/>
            <a:ext cx="88088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/>
            <a:r>
              <a:rPr lang="zh-CN" altLang="en-US" b="1" dirty="0" smtClean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b="1" dirty="0" smtClean="0">
                <a:solidFill>
                  <a:srgbClr val="FF0000"/>
                </a:solidFill>
                <a:ea typeface="黑体" panose="02010609060101010101" pitchFamily="49" charset="-122"/>
              </a:rPr>
              <a:t>7</a:t>
            </a:r>
            <a:endParaRPr lang="zh-CN" altLang="en-US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6989344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0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724CB1-E9D4-4843-882A-873FDAB8221C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202754" name="Rectangle 2"/>
          <p:cNvSpPr>
            <a:spLocks noChangeArrowheads="1"/>
          </p:cNvSpPr>
          <p:nvPr/>
        </p:nvSpPr>
        <p:spPr bwMode="black">
          <a:xfrm>
            <a:off x="1981200" y="501650"/>
            <a:ext cx="80010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kumimoji="1"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例</a:t>
            </a:r>
            <a:r>
              <a:rPr kumimoji="1"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8</a:t>
            </a:r>
            <a:r>
              <a:rPr kumimoji="1"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   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证明曲面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z 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=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baseline="30000" dirty="0"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+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kumimoji="1" lang="en-US" altLang="zh-CN" sz="2800" b="1" baseline="30000" dirty="0"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+1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上任一点的切平面与曲面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z 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=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x</a:t>
            </a:r>
            <a:r>
              <a:rPr kumimoji="1" lang="en-US" altLang="zh-CN" sz="2800" b="1" baseline="30000" dirty="0">
                <a:latin typeface="Times New Roman" panose="02020603050405020304" pitchFamily="18" charset="0"/>
              </a:rPr>
              <a:t>2</a:t>
            </a:r>
            <a:r>
              <a:rPr kumimoji="1" lang="en-US" altLang="zh-CN" sz="2800" b="1" dirty="0">
                <a:latin typeface="Times New Roman" panose="02020603050405020304" pitchFamily="18" charset="0"/>
              </a:rPr>
              <a:t>+</a:t>
            </a:r>
            <a:r>
              <a:rPr kumimoji="1" lang="en-US" altLang="zh-CN" sz="2800" b="1" i="1" dirty="0">
                <a:latin typeface="Times New Roman" panose="02020603050405020304" pitchFamily="18" charset="0"/>
              </a:rPr>
              <a:t>y</a:t>
            </a:r>
            <a:r>
              <a:rPr kumimoji="1" lang="en-US" altLang="zh-CN" sz="2800" b="1" baseline="30000" dirty="0">
                <a:latin typeface="Times New Roman" panose="02020603050405020304" pitchFamily="18" charset="0"/>
              </a:rPr>
              <a:t>2</a:t>
            </a:r>
            <a:r>
              <a:rPr kumimoji="1" lang="zh-CN" altLang="en-US" sz="2800" b="1" dirty="0">
                <a:latin typeface="Times New Roman" panose="02020603050405020304" pitchFamily="18" charset="0"/>
              </a:rPr>
              <a:t>所围立体的体积为定值。</a:t>
            </a:r>
            <a:r>
              <a:rPr kumimoji="1"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4862464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2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54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B29EF-B7F1-41A1-987B-3F1B46B2644B}" type="slidenum">
              <a:rPr lang="en-US" altLang="zh-CN"/>
              <a:pPr/>
              <a:t>20</a:t>
            </a:fld>
            <a:endParaRPr lang="en-US" altLang="zh-CN"/>
          </a:p>
        </p:txBody>
      </p:sp>
      <p:sp>
        <p:nvSpPr>
          <p:cNvPr id="212994" name="Arc 2"/>
          <p:cNvSpPr>
            <a:spLocks noChangeAspect="1"/>
          </p:cNvSpPr>
          <p:nvPr/>
        </p:nvSpPr>
        <p:spPr bwMode="black">
          <a:xfrm>
            <a:off x="7392989" y="809625"/>
            <a:ext cx="1944687" cy="175260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21723 w 43200"/>
              <a:gd name="T1" fmla="*/ 43200 h 43200"/>
              <a:gd name="T2" fmla="*/ 23443 w 43200"/>
              <a:gd name="T3" fmla="*/ 43121 h 43200"/>
              <a:gd name="T4" fmla="*/ 21600 w 43200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722" y="43199"/>
                </a:moveTo>
                <a:cubicBezTo>
                  <a:pt x="21681" y="43199"/>
                  <a:pt x="21640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2814"/>
                  <a:pt x="34617" y="42164"/>
                  <a:pt x="23443" y="43121"/>
                </a:cubicBezTo>
              </a:path>
              <a:path w="43200" h="43200" stroke="0" extrusionOk="0">
                <a:moveTo>
                  <a:pt x="21722" y="43199"/>
                </a:moveTo>
                <a:cubicBezTo>
                  <a:pt x="21681" y="43199"/>
                  <a:pt x="21640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2814"/>
                  <a:pt x="34617" y="42164"/>
                  <a:pt x="23443" y="43121"/>
                </a:cubicBezTo>
                <a:lnTo>
                  <a:pt x="21600" y="21600"/>
                </a:lnTo>
                <a:close/>
              </a:path>
            </a:pathLst>
          </a:custGeom>
          <a:noFill/>
          <a:ln w="38100" cap="rnd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2995" name="Arc 3"/>
          <p:cNvSpPr>
            <a:spLocks noChangeAspect="1"/>
          </p:cNvSpPr>
          <p:nvPr/>
        </p:nvSpPr>
        <p:spPr bwMode="black">
          <a:xfrm flipV="1">
            <a:off x="7391401" y="1668463"/>
            <a:ext cx="1946275" cy="1751012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40261 w 43200"/>
              <a:gd name="T1" fmla="*/ 32478 h 43200"/>
              <a:gd name="T2" fmla="*/ 40538 w 43200"/>
              <a:gd name="T3" fmla="*/ 31987 h 43200"/>
              <a:gd name="T4" fmla="*/ 21600 w 43200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40260" y="32477"/>
                </a:moveTo>
                <a:cubicBezTo>
                  <a:pt x="36390" y="39117"/>
                  <a:pt x="29284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5231"/>
                  <a:pt x="42284" y="28803"/>
                  <a:pt x="40538" y="31987"/>
                </a:cubicBezTo>
              </a:path>
              <a:path w="43200" h="43200" stroke="0" extrusionOk="0">
                <a:moveTo>
                  <a:pt x="40260" y="32477"/>
                </a:moveTo>
                <a:cubicBezTo>
                  <a:pt x="36390" y="39117"/>
                  <a:pt x="29284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5231"/>
                  <a:pt x="42284" y="28803"/>
                  <a:pt x="40538" y="31987"/>
                </a:cubicBezTo>
                <a:lnTo>
                  <a:pt x="21600" y="21600"/>
                </a:lnTo>
                <a:close/>
              </a:path>
            </a:pathLst>
          </a:custGeom>
          <a:noFill/>
          <a:ln w="38100" cap="rnd">
            <a:solidFill>
              <a:srgbClr val="00FF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129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721817"/>
              </p:ext>
            </p:extLst>
          </p:nvPr>
        </p:nvGraphicFramePr>
        <p:xfrm>
          <a:off x="7405688" y="2181225"/>
          <a:ext cx="56197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10" name="Equation" r:id="rId3" imgW="279360" imgH="469800" progId="Equation.DSMT4">
                  <p:embed/>
                </p:oleObj>
              </mc:Choice>
              <mc:Fallback>
                <p:oleObj name="Equation" r:id="rId3" imgW="27936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405688" y="2181225"/>
                        <a:ext cx="561975" cy="952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2997" name="Group 5"/>
          <p:cNvGrpSpPr>
            <a:grpSpLocks/>
          </p:cNvGrpSpPr>
          <p:nvPr/>
        </p:nvGrpSpPr>
        <p:grpSpPr bwMode="auto">
          <a:xfrm>
            <a:off x="7486651" y="1643064"/>
            <a:ext cx="1725613" cy="915987"/>
            <a:chOff x="3517" y="1665"/>
            <a:chExt cx="1087" cy="577"/>
          </a:xfrm>
        </p:grpSpPr>
        <p:sp>
          <p:nvSpPr>
            <p:cNvPr id="212998" name="Arc 6" descr="宽上对角线"/>
            <p:cNvSpPr>
              <a:spLocks noChangeAspect="1"/>
            </p:cNvSpPr>
            <p:nvPr/>
          </p:nvSpPr>
          <p:spPr bwMode="black">
            <a:xfrm>
              <a:off x="3517" y="1691"/>
              <a:ext cx="1087" cy="551"/>
            </a:xfrm>
            <a:custGeom>
              <a:avLst/>
              <a:gdLst>
                <a:gd name="G0" fmla="+- 19438 0 0"/>
                <a:gd name="G1" fmla="+- 0 0 0"/>
                <a:gd name="G2" fmla="+- 21600 0 0"/>
                <a:gd name="T0" fmla="*/ 38250 w 38250"/>
                <a:gd name="T1" fmla="*/ 10614 h 21600"/>
                <a:gd name="T2" fmla="*/ 0 w 38250"/>
                <a:gd name="T3" fmla="*/ 9420 h 21600"/>
                <a:gd name="T4" fmla="*/ 19438 w 38250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250" h="21600" fill="none" extrusionOk="0">
                  <a:moveTo>
                    <a:pt x="38250" y="10614"/>
                  </a:moveTo>
                  <a:cubicBezTo>
                    <a:pt x="34420" y="17401"/>
                    <a:pt x="27231" y="21599"/>
                    <a:pt x="19438" y="21600"/>
                  </a:cubicBezTo>
                  <a:cubicBezTo>
                    <a:pt x="11160" y="21600"/>
                    <a:pt x="3610" y="16869"/>
                    <a:pt x="0" y="9419"/>
                  </a:cubicBezTo>
                </a:path>
                <a:path w="38250" h="21600" stroke="0" extrusionOk="0">
                  <a:moveTo>
                    <a:pt x="38250" y="10614"/>
                  </a:moveTo>
                  <a:cubicBezTo>
                    <a:pt x="34420" y="17401"/>
                    <a:pt x="27231" y="21599"/>
                    <a:pt x="19438" y="21600"/>
                  </a:cubicBezTo>
                  <a:cubicBezTo>
                    <a:pt x="11160" y="21600"/>
                    <a:pt x="3610" y="16869"/>
                    <a:pt x="0" y="9419"/>
                  </a:cubicBezTo>
                  <a:lnTo>
                    <a:pt x="19438" y="0"/>
                  </a:lnTo>
                  <a:close/>
                </a:path>
              </a:pathLst>
            </a:custGeom>
            <a:pattFill prst="wdUpDiag">
              <a:fgClr>
                <a:schemeClr val="accent1"/>
              </a:fgClr>
              <a:bgClr>
                <a:schemeClr val="bg1"/>
              </a:bgClr>
            </a:pattFill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2999" name="Arc 7" descr="宽上对角线"/>
            <p:cNvSpPr>
              <a:spLocks noChangeAspect="1"/>
            </p:cNvSpPr>
            <p:nvPr/>
          </p:nvSpPr>
          <p:spPr bwMode="black">
            <a:xfrm flipV="1">
              <a:off x="3534" y="1665"/>
              <a:ext cx="1066" cy="553"/>
            </a:xfrm>
            <a:custGeom>
              <a:avLst/>
              <a:gdLst>
                <a:gd name="G0" fmla="+- 18801 0 0"/>
                <a:gd name="G1" fmla="+- 0 0 0"/>
                <a:gd name="G2" fmla="+- 21600 0 0"/>
                <a:gd name="T0" fmla="*/ 37606 w 37606"/>
                <a:gd name="T1" fmla="*/ 10627 h 21600"/>
                <a:gd name="T2" fmla="*/ 0 w 37606"/>
                <a:gd name="T3" fmla="*/ 10634 h 21600"/>
                <a:gd name="T4" fmla="*/ 18801 w 37606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7606" h="21600" fill="none" extrusionOk="0">
                  <a:moveTo>
                    <a:pt x="37605" y="10626"/>
                  </a:moveTo>
                  <a:cubicBezTo>
                    <a:pt x="33774" y="17407"/>
                    <a:pt x="26589" y="21599"/>
                    <a:pt x="18801" y="21600"/>
                  </a:cubicBezTo>
                  <a:cubicBezTo>
                    <a:pt x="11015" y="21600"/>
                    <a:pt x="3832" y="17410"/>
                    <a:pt x="-1" y="10634"/>
                  </a:cubicBezTo>
                </a:path>
                <a:path w="37606" h="21600" stroke="0" extrusionOk="0">
                  <a:moveTo>
                    <a:pt x="37605" y="10626"/>
                  </a:moveTo>
                  <a:cubicBezTo>
                    <a:pt x="33774" y="17407"/>
                    <a:pt x="26589" y="21599"/>
                    <a:pt x="18801" y="21600"/>
                  </a:cubicBezTo>
                  <a:cubicBezTo>
                    <a:pt x="11015" y="21600"/>
                    <a:pt x="3832" y="17410"/>
                    <a:pt x="-1" y="10634"/>
                  </a:cubicBezTo>
                  <a:lnTo>
                    <a:pt x="18801" y="0"/>
                  </a:lnTo>
                  <a:close/>
                </a:path>
              </a:pathLst>
            </a:custGeom>
            <a:pattFill prst="wdUpDiag">
              <a:fgClr>
                <a:schemeClr val="accent1"/>
              </a:fgClr>
              <a:bgClr>
                <a:schemeClr val="bg1"/>
              </a:bgClr>
            </a:pattFill>
            <a:ln w="38100">
              <a:solidFill>
                <a:srgbClr val="FF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000" name="Oval 8"/>
            <p:cNvSpPr>
              <a:spLocks noChangeArrowheads="1"/>
            </p:cNvSpPr>
            <p:nvPr/>
          </p:nvSpPr>
          <p:spPr bwMode="auto">
            <a:xfrm>
              <a:off x="3552" y="1824"/>
              <a:ext cx="1050" cy="231"/>
            </a:xfrm>
            <a:prstGeom prst="ellipse">
              <a:avLst/>
            </a:prstGeom>
            <a:solidFill>
              <a:srgbClr val="FFFFCC"/>
            </a:solidFill>
            <a:ln w="28575">
              <a:solidFill>
                <a:srgbClr val="FF00FF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1300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2606928"/>
              </p:ext>
            </p:extLst>
          </p:nvPr>
        </p:nvGraphicFramePr>
        <p:xfrm>
          <a:off x="7961711" y="1740619"/>
          <a:ext cx="488157" cy="6508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11" name="公式" r:id="rId5" imgW="279360" imgH="393480" progId="Equation.3">
                  <p:embed/>
                </p:oleObj>
              </mc:Choice>
              <mc:Fallback>
                <p:oleObj name="公式" r:id="rId5" imgW="27936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961711" y="1740619"/>
                        <a:ext cx="488157" cy="6508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3002" name="Group 10"/>
          <p:cNvGrpSpPr>
            <a:grpSpLocks/>
          </p:cNvGrpSpPr>
          <p:nvPr/>
        </p:nvGrpSpPr>
        <p:grpSpPr bwMode="auto">
          <a:xfrm>
            <a:off x="7456489" y="333376"/>
            <a:ext cx="2562225" cy="3255963"/>
            <a:chOff x="3880" y="468"/>
            <a:chExt cx="1614" cy="2051"/>
          </a:xfrm>
        </p:grpSpPr>
        <p:sp>
          <p:nvSpPr>
            <p:cNvPr id="213003" name="Line 11"/>
            <p:cNvSpPr>
              <a:spLocks noChangeAspect="1" noChangeShapeType="1"/>
            </p:cNvSpPr>
            <p:nvPr/>
          </p:nvSpPr>
          <p:spPr bwMode="black">
            <a:xfrm flipH="1">
              <a:off x="4043" y="1858"/>
              <a:ext cx="423" cy="4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13004" name="Group 12"/>
            <p:cNvGrpSpPr>
              <a:grpSpLocks/>
            </p:cNvGrpSpPr>
            <p:nvPr/>
          </p:nvGrpSpPr>
          <p:grpSpPr bwMode="auto">
            <a:xfrm>
              <a:off x="3880" y="468"/>
              <a:ext cx="1614" cy="2051"/>
              <a:chOff x="3498" y="840"/>
              <a:chExt cx="1614" cy="2051"/>
            </a:xfrm>
          </p:grpSpPr>
          <p:sp>
            <p:nvSpPr>
              <p:cNvPr id="213005" name="Line 13"/>
              <p:cNvSpPr>
                <a:spLocks noChangeAspect="1" noChangeShapeType="1"/>
              </p:cNvSpPr>
              <p:nvPr/>
            </p:nvSpPr>
            <p:spPr bwMode="black">
              <a:xfrm>
                <a:off x="4067" y="2244"/>
                <a:ext cx="1005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3006" name="Rectangle 14"/>
              <p:cNvSpPr>
                <a:spLocks noChangeAspect="1" noChangeArrowheads="1"/>
              </p:cNvSpPr>
              <p:nvPr/>
            </p:nvSpPr>
            <p:spPr bwMode="black">
              <a:xfrm>
                <a:off x="4900" y="2207"/>
                <a:ext cx="212" cy="3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700" b="1" i="1">
                    <a:latin typeface="Times New Roman" panose="02020603050405020304" pitchFamily="18" charset="0"/>
                  </a:rPr>
                  <a:t>y</a:t>
                </a:r>
              </a:p>
            </p:txBody>
          </p:sp>
          <p:sp>
            <p:nvSpPr>
              <p:cNvPr id="213007" name="Line 15"/>
              <p:cNvSpPr>
                <a:spLocks noChangeAspect="1" noChangeShapeType="1"/>
              </p:cNvSpPr>
              <p:nvPr/>
            </p:nvSpPr>
            <p:spPr bwMode="black">
              <a:xfrm flipV="1">
                <a:off x="4067" y="1016"/>
                <a:ext cx="0" cy="12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3008" name="Rectangle 16"/>
              <p:cNvSpPr>
                <a:spLocks noChangeAspect="1" noChangeArrowheads="1"/>
              </p:cNvSpPr>
              <p:nvPr/>
            </p:nvSpPr>
            <p:spPr bwMode="black">
              <a:xfrm>
                <a:off x="3498" y="2574"/>
                <a:ext cx="224" cy="3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700" b="1" i="1">
                    <a:latin typeface="Times New Roman" panose="02020603050405020304" pitchFamily="18" charset="0"/>
                  </a:rPr>
                  <a:t>x</a:t>
                </a:r>
              </a:p>
            </p:txBody>
          </p:sp>
          <p:sp>
            <p:nvSpPr>
              <p:cNvPr id="213009" name="Rectangle 17"/>
              <p:cNvSpPr>
                <a:spLocks noChangeAspect="1" noChangeArrowheads="1"/>
              </p:cNvSpPr>
              <p:nvPr/>
            </p:nvSpPr>
            <p:spPr bwMode="black">
              <a:xfrm>
                <a:off x="3865" y="840"/>
                <a:ext cx="200" cy="3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700" b="1" i="1">
                    <a:latin typeface="Times New Roman" panose="02020603050405020304" pitchFamily="18" charset="0"/>
                  </a:rPr>
                  <a:t>z</a:t>
                </a:r>
              </a:p>
            </p:txBody>
          </p:sp>
          <p:sp>
            <p:nvSpPr>
              <p:cNvPr id="213010" name="Rectangle 18"/>
              <p:cNvSpPr>
                <a:spLocks noChangeAspect="1" noChangeArrowheads="1"/>
              </p:cNvSpPr>
              <p:nvPr/>
            </p:nvSpPr>
            <p:spPr bwMode="black">
              <a:xfrm>
                <a:off x="4022" y="2207"/>
                <a:ext cx="224" cy="31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kumimoji="1" lang="en-US" altLang="zh-CN" sz="2700" b="1" i="1">
                    <a:latin typeface="Times New Roman" panose="02020603050405020304" pitchFamily="18" charset="0"/>
                  </a:rPr>
                  <a:t>o</a:t>
                </a:r>
              </a:p>
            </p:txBody>
          </p:sp>
        </p:grpSp>
      </p:grpSp>
      <p:grpSp>
        <p:nvGrpSpPr>
          <p:cNvPr id="213011" name="Group 19"/>
          <p:cNvGrpSpPr>
            <a:grpSpLocks/>
          </p:cNvGrpSpPr>
          <p:nvPr/>
        </p:nvGrpSpPr>
        <p:grpSpPr bwMode="auto">
          <a:xfrm>
            <a:off x="8393113" y="1590676"/>
            <a:ext cx="596900" cy="1069975"/>
            <a:chOff x="4068" y="1632"/>
            <a:chExt cx="376" cy="674"/>
          </a:xfrm>
        </p:grpSpPr>
        <p:sp>
          <p:nvSpPr>
            <p:cNvPr id="213012" name="Arc 20"/>
            <p:cNvSpPr>
              <a:spLocks noChangeAspect="1"/>
            </p:cNvSpPr>
            <p:nvPr/>
          </p:nvSpPr>
          <p:spPr bwMode="black">
            <a:xfrm>
              <a:off x="4068" y="2098"/>
              <a:ext cx="108" cy="208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16804"/>
                <a:gd name="T1" fmla="*/ 0 h 21600"/>
                <a:gd name="T2" fmla="*/ 16804 w 16804"/>
                <a:gd name="T3" fmla="*/ 8028 h 21600"/>
                <a:gd name="T4" fmla="*/ 0 w 16804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804" h="21600" fill="none" extrusionOk="0">
                  <a:moveTo>
                    <a:pt x="0" y="0"/>
                  </a:moveTo>
                  <a:cubicBezTo>
                    <a:pt x="6526" y="0"/>
                    <a:pt x="12703" y="2950"/>
                    <a:pt x="16803" y="8028"/>
                  </a:cubicBezTo>
                </a:path>
                <a:path w="16804" h="21600" stroke="0" extrusionOk="0">
                  <a:moveTo>
                    <a:pt x="0" y="0"/>
                  </a:moveTo>
                  <a:cubicBezTo>
                    <a:pt x="6526" y="0"/>
                    <a:pt x="12703" y="2950"/>
                    <a:pt x="16803" y="8028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13013" name="Object 21"/>
            <p:cNvGraphicFramePr>
              <a:graphicFrameLocks noChangeAspect="1"/>
            </p:cNvGraphicFramePr>
            <p:nvPr>
              <p:extLst/>
            </p:nvPr>
          </p:nvGraphicFramePr>
          <p:xfrm>
            <a:off x="4170" y="1632"/>
            <a:ext cx="274" cy="5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4212" name="Equation" r:id="rId7" imgW="215640" imgH="406080" progId="Equation.DSMT4">
                    <p:embed/>
                  </p:oleObj>
                </mc:Choice>
                <mc:Fallback>
                  <p:oleObj name="Equation" r:id="rId7" imgW="215640" imgH="4060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black">
                        <a:xfrm>
                          <a:off x="4170" y="1632"/>
                          <a:ext cx="274" cy="5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3014" name="Line 22"/>
          <p:cNvSpPr>
            <a:spLocks noChangeShapeType="1"/>
          </p:cNvSpPr>
          <p:nvPr/>
        </p:nvSpPr>
        <p:spPr bwMode="auto">
          <a:xfrm flipV="1">
            <a:off x="8380413" y="625475"/>
            <a:ext cx="762000" cy="1905000"/>
          </a:xfrm>
          <a:prstGeom prst="line">
            <a:avLst/>
          </a:prstGeom>
          <a:noFill/>
          <a:ln w="38100">
            <a:solidFill>
              <a:srgbClr val="FF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15" name="Line 23"/>
          <p:cNvSpPr>
            <a:spLocks noChangeShapeType="1"/>
          </p:cNvSpPr>
          <p:nvPr/>
        </p:nvSpPr>
        <p:spPr bwMode="auto">
          <a:xfrm flipV="1">
            <a:off x="8383588" y="2079625"/>
            <a:ext cx="1676400" cy="482600"/>
          </a:xfrm>
          <a:prstGeom prst="line">
            <a:avLst/>
          </a:prstGeom>
          <a:noFill/>
          <a:ln w="38100">
            <a:solidFill>
              <a:srgbClr val="0000FF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3016" name="Line 24"/>
          <p:cNvSpPr>
            <a:spLocks noChangeAspect="1" noChangeShapeType="1"/>
          </p:cNvSpPr>
          <p:nvPr/>
        </p:nvSpPr>
        <p:spPr bwMode="black">
          <a:xfrm flipV="1">
            <a:off x="8361363" y="1817689"/>
            <a:ext cx="1427162" cy="712787"/>
          </a:xfrm>
          <a:prstGeom prst="line">
            <a:avLst/>
          </a:prstGeom>
          <a:noFill/>
          <a:ln w="38100">
            <a:solidFill>
              <a:srgbClr val="008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3017" name="Object 25"/>
          <p:cNvGraphicFramePr>
            <a:graphicFrameLocks noChangeAspect="1"/>
          </p:cNvGraphicFramePr>
          <p:nvPr>
            <p:extLst/>
          </p:nvPr>
        </p:nvGraphicFramePr>
        <p:xfrm>
          <a:off x="7618414" y="981076"/>
          <a:ext cx="433387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13" name="Equation" r:id="rId9" imgW="215640" imgH="469800" progId="Equation.DSMT4">
                  <p:embed/>
                </p:oleObj>
              </mc:Choice>
              <mc:Fallback>
                <p:oleObj name="Equation" r:id="rId9" imgW="2156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618414" y="981076"/>
                        <a:ext cx="433387" cy="955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18" name="Object 26"/>
          <p:cNvGraphicFramePr>
            <a:graphicFrameLocks noChangeAspect="1"/>
          </p:cNvGraphicFramePr>
          <p:nvPr/>
        </p:nvGraphicFramePr>
        <p:xfrm>
          <a:off x="7948613" y="1411289"/>
          <a:ext cx="508000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14" name="公式" r:id="rId11" imgW="253800" imgH="164880" progId="Equation.3">
                  <p:embed/>
                </p:oleObj>
              </mc:Choice>
              <mc:Fallback>
                <p:oleObj name="公式" r:id="rId11" imgW="253800" imgH="164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7948613" y="1411289"/>
                        <a:ext cx="508000" cy="331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21" name="Object 29"/>
          <p:cNvGraphicFramePr>
            <a:graphicFrameLocks noChangeAspect="1"/>
          </p:cNvGraphicFramePr>
          <p:nvPr/>
        </p:nvGraphicFramePr>
        <p:xfrm>
          <a:off x="2208214" y="1268414"/>
          <a:ext cx="4600575" cy="115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15" name="Equation" r:id="rId13" imgW="1917360" imgH="482400" progId="Equation.DSMT4">
                  <p:embed/>
                </p:oleObj>
              </mc:Choice>
              <mc:Fallback>
                <p:oleObj name="Equation" r:id="rId13" imgW="191736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208214" y="1268414"/>
                        <a:ext cx="4600575" cy="11572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302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2103162"/>
              </p:ext>
            </p:extLst>
          </p:nvPr>
        </p:nvGraphicFramePr>
        <p:xfrm>
          <a:off x="2884488" y="424966"/>
          <a:ext cx="325913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216" name="Equation" r:id="rId15" imgW="1358640" imgH="380880" progId="Equation.DSMT4">
                  <p:embed/>
                </p:oleObj>
              </mc:Choice>
              <mc:Fallback>
                <p:oleObj name="Equation" r:id="rId15" imgW="13586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884488" y="424966"/>
                        <a:ext cx="3259137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2054787" y="523286"/>
            <a:ext cx="7232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7989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3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2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2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2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3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2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3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3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3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4" grpId="0" animBg="1"/>
      <p:bldP spid="212995" grpId="0" animBg="1"/>
      <p:bldP spid="213014" grpId="0" animBg="1"/>
      <p:bldP spid="213015" grpId="0" animBg="1"/>
      <p:bldP spid="2130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37A12B-582D-4744-AABF-F61563F11B7D}" type="slidenum">
              <a:rPr lang="en-US" altLang="zh-CN"/>
              <a:pPr/>
              <a:t>21</a:t>
            </a:fld>
            <a:endParaRPr lang="en-US" altLang="zh-CN"/>
          </a:p>
        </p:txBody>
      </p:sp>
      <p:graphicFrame>
        <p:nvGraphicFramePr>
          <p:cNvPr id="20480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2936759"/>
              </p:ext>
            </p:extLst>
          </p:nvPr>
        </p:nvGraphicFramePr>
        <p:xfrm>
          <a:off x="3019982" y="574087"/>
          <a:ext cx="83185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19" name="Equation" r:id="rId3" imgW="876240" imgH="444240" progId="Equation.DSMT4">
                  <p:embed/>
                </p:oleObj>
              </mc:Choice>
              <mc:Fallback>
                <p:oleObj name="Equation" r:id="rId3" imgW="87624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9982" y="574087"/>
                        <a:ext cx="831850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24" name="Object 24"/>
          <p:cNvGraphicFramePr>
            <a:graphicFrameLocks noChangeAspect="1"/>
          </p:cNvGraphicFramePr>
          <p:nvPr/>
        </p:nvGraphicFramePr>
        <p:xfrm>
          <a:off x="2520951" y="985838"/>
          <a:ext cx="6600825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020" name="Equation" r:id="rId5" imgW="2641320" imgH="342720" progId="Equation.DSMT4">
                  <p:embed/>
                </p:oleObj>
              </mc:Choice>
              <mc:Fallback>
                <p:oleObj name="Equation" r:id="rId5" imgW="2641320" imgH="342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0951" y="985838"/>
                        <a:ext cx="6600825" cy="855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069545" y="483539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779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FFFDF-4154-4903-A48D-64936CC7E728}" type="slidenum">
              <a:rPr lang="en-US" altLang="zh-CN"/>
              <a:pPr/>
              <a:t>22</a:t>
            </a:fld>
            <a:endParaRPr lang="en-US" altLang="zh-CN"/>
          </a:p>
        </p:txBody>
      </p:sp>
      <p:graphicFrame>
        <p:nvGraphicFramePr>
          <p:cNvPr id="20582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4541228"/>
              </p:ext>
            </p:extLst>
          </p:nvPr>
        </p:nvGraphicFramePr>
        <p:xfrm>
          <a:off x="2848769" y="361154"/>
          <a:ext cx="4727575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49" name="Equation" r:id="rId3" imgW="1930320" imgH="330120" progId="Equation.DSMT4">
                  <p:embed/>
                </p:oleObj>
              </mc:Choice>
              <mc:Fallback>
                <p:oleObj name="Equation" r:id="rId3" imgW="193032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848769" y="361154"/>
                        <a:ext cx="4727575" cy="808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833" name="Object 9"/>
          <p:cNvGraphicFramePr>
            <a:graphicFrameLocks noChangeAspect="1"/>
          </p:cNvGraphicFramePr>
          <p:nvPr/>
        </p:nvGraphicFramePr>
        <p:xfrm>
          <a:off x="2819401" y="1031876"/>
          <a:ext cx="5503863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850" name="公式" r:id="rId5" imgW="2247840" imgH="419040" progId="Equation.3">
                  <p:embed/>
                </p:oleObj>
              </mc:Choice>
              <mc:Fallback>
                <p:oleObj name="公式" r:id="rId5" imgW="224784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black">
                      <a:xfrm>
                        <a:off x="2819401" y="1031876"/>
                        <a:ext cx="5503863" cy="1025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1916590" y="476252"/>
            <a:ext cx="8846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443812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7395" name="Object 3"/>
          <p:cNvGraphicFramePr>
            <a:graphicFrameLocks noChangeAspect="1"/>
          </p:cNvGraphicFramePr>
          <p:nvPr/>
        </p:nvGraphicFramePr>
        <p:xfrm>
          <a:off x="2971800" y="776288"/>
          <a:ext cx="6629400" cy="158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22" name="Equation" r:id="rId3" imgW="6311880" imgH="1511280" progId="Equation.3">
                  <p:embed/>
                </p:oleObj>
              </mc:Choice>
              <mc:Fallback>
                <p:oleObj name="Equation" r:id="rId3" imgW="6311880" imgH="15112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776288"/>
                        <a:ext cx="6629400" cy="158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7396" name="Object 4"/>
          <p:cNvGraphicFramePr>
            <a:graphicFrameLocks noChangeAspect="1"/>
          </p:cNvGraphicFramePr>
          <p:nvPr/>
        </p:nvGraphicFramePr>
        <p:xfrm>
          <a:off x="2865438" y="2514600"/>
          <a:ext cx="406876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323" name="Equation" r:id="rId5" imgW="3771720" imgH="469800" progId="Equation.3">
                  <p:embed/>
                </p:oleObj>
              </mc:Choice>
              <mc:Fallback>
                <p:oleObj name="Equation" r:id="rId5" imgW="3771720" imgH="469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5438" y="2514600"/>
                        <a:ext cx="406876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7427" name="Text Box 35"/>
          <p:cNvSpPr txBox="1">
            <a:spLocks noChangeArrowheads="1"/>
          </p:cNvSpPr>
          <p:nvPr/>
        </p:nvSpPr>
        <p:spPr bwMode="auto">
          <a:xfrm>
            <a:off x="1866900" y="731838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 eaLnBrk="0" hangingPunct="0"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FF0000"/>
                </a:solidFill>
                <a:latin typeface="+mn-ea"/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12</a:t>
            </a:r>
            <a:endParaRPr lang="en-US" altLang="zh-C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6497231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671" name="Group 15"/>
          <p:cNvGrpSpPr>
            <a:grpSpLocks/>
          </p:cNvGrpSpPr>
          <p:nvPr/>
        </p:nvGrpSpPr>
        <p:grpSpPr bwMode="auto">
          <a:xfrm>
            <a:off x="1478973" y="262732"/>
            <a:ext cx="7994651" cy="1697039"/>
            <a:chOff x="472" y="164"/>
            <a:chExt cx="5036" cy="1069"/>
          </a:xfrm>
        </p:grpSpPr>
        <p:sp>
          <p:nvSpPr>
            <p:cNvPr id="198660" name="Text Box 4"/>
            <p:cNvSpPr txBox="1">
              <a:spLocks noChangeArrowheads="1"/>
            </p:cNvSpPr>
            <p:nvPr/>
          </p:nvSpPr>
          <p:spPr bwMode="auto">
            <a:xfrm>
              <a:off x="476" y="164"/>
              <a:ext cx="638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3200" b="1" dirty="0" smtClean="0">
                  <a:solidFill>
                    <a:srgbClr val="FF0000"/>
                  </a:solidFill>
                </a:rPr>
                <a:t>例</a:t>
              </a:r>
              <a:r>
                <a:rPr lang="en-US" altLang="zh-CN" sz="3200" b="1" dirty="0" smtClean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13</a:t>
              </a:r>
              <a:endPara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8661" name="Text Box 5"/>
            <p:cNvSpPr txBox="1">
              <a:spLocks noChangeArrowheads="1"/>
            </p:cNvSpPr>
            <p:nvPr/>
          </p:nvSpPr>
          <p:spPr bwMode="auto">
            <a:xfrm>
              <a:off x="1148" y="195"/>
              <a:ext cx="4360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FF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2800" b="1" dirty="0"/>
                <a:t>求 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[ 0 , +  ) </a:t>
              </a:r>
              <a:r>
                <a:rPr lang="zh-CN" altLang="en-US" sz="2800" b="1" dirty="0"/>
                <a:t>上的连续函数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 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 </a:t>
              </a:r>
              <a:r>
                <a:rPr lang="en-US" altLang="zh-CN" sz="28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 </a:t>
              </a:r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r>
                <a:rPr lang="en-US" altLang="zh-CN" sz="2800" b="1" dirty="0"/>
                <a:t>, </a:t>
              </a:r>
              <a:r>
                <a:rPr lang="zh-CN" altLang="en-US" sz="2800" b="1" dirty="0"/>
                <a:t>使它满足</a:t>
              </a:r>
              <a:endParaRPr lang="zh-CN" altLang="el-GR" sz="2800" b="1" dirty="0"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98662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428781"/>
                </p:ext>
              </p:extLst>
            </p:nvPr>
          </p:nvGraphicFramePr>
          <p:xfrm>
            <a:off x="472" y="532"/>
            <a:ext cx="4070" cy="7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261" name="Equation" r:id="rId3" imgW="2641320" imgH="431640" progId="Equation.DSMT4">
                    <p:embed/>
                  </p:oleObj>
                </mc:Choice>
                <mc:Fallback>
                  <p:oleObj name="Equation" r:id="rId3" imgW="264132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" y="532"/>
                          <a:ext cx="4070" cy="7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 algn="ctr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909257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8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93071" y="587875"/>
            <a:ext cx="18053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</a:rPr>
              <a:t>例</a:t>
            </a:r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  </a:t>
            </a:r>
            <a:r>
              <a:rPr lang="zh-CN" altLang="en-US" sz="2800" b="1" dirty="0" smtClean="0"/>
              <a:t>计算</a:t>
            </a:r>
            <a:endParaRPr lang="zh-CN" altLang="en-US" sz="2800" b="1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9675773"/>
              </p:ext>
            </p:extLst>
          </p:nvPr>
        </p:nvGraphicFramePr>
        <p:xfrm>
          <a:off x="2985924" y="471900"/>
          <a:ext cx="4231409" cy="8462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25" name="Equation" r:id="rId3" imgW="1904760" imgH="380880" progId="Equation.DSMT4">
                  <p:embed/>
                </p:oleObj>
              </mc:Choice>
              <mc:Fallback>
                <p:oleObj name="Equation" r:id="rId3" imgW="1904760" imgH="380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85924" y="471900"/>
                        <a:ext cx="4231409" cy="8462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7186307" y="543277"/>
            <a:ext cx="26356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其中</a:t>
            </a:r>
            <a:r>
              <a:rPr lang="el-GR" altLang="zh-CN"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zh-CN" altLang="en-US" sz="2800" b="1" dirty="0" smtClean="0"/>
              <a:t>是由曲面</a:t>
            </a:r>
            <a:endParaRPr lang="zh-CN" altLang="en-US" sz="2800" b="1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930267"/>
              </p:ext>
            </p:extLst>
          </p:nvPr>
        </p:nvGraphicFramePr>
        <p:xfrm>
          <a:off x="1141269" y="1059648"/>
          <a:ext cx="5896840" cy="95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326" name="Equation" r:id="rId5" imgW="2501640" imgH="406080" progId="Equation.DSMT4">
                  <p:embed/>
                </p:oleObj>
              </mc:Choice>
              <mc:Fallback>
                <p:oleObj name="Equation" r:id="rId5" imgW="2501640" imgH="406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41269" y="1059648"/>
                        <a:ext cx="5896840" cy="957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7038109" y="1276969"/>
            <a:ext cx="24304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所围成的立体</a:t>
            </a:r>
            <a:r>
              <a:rPr lang="en-US" altLang="zh-CN" sz="2800" b="1" dirty="0" smtClean="0"/>
              <a:t>.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801862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2275</TotalTime>
  <Words>650</Words>
  <Application>Microsoft Office PowerPoint</Application>
  <PresentationFormat>宽屏</PresentationFormat>
  <Paragraphs>99</Paragraphs>
  <Slides>25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25</vt:i4>
      </vt:variant>
    </vt:vector>
  </HeadingPairs>
  <TitlesOfParts>
    <vt:vector size="40" baseType="lpstr">
      <vt:lpstr>黑体</vt:lpstr>
      <vt:lpstr>华文行楷</vt:lpstr>
      <vt:lpstr>楷体_GB2312</vt:lpstr>
      <vt:lpstr>宋体</vt:lpstr>
      <vt:lpstr>新宋体</vt:lpstr>
      <vt:lpstr>Arial</vt:lpstr>
      <vt:lpstr>Calibri</vt:lpstr>
      <vt:lpstr>Calibri Light</vt:lpstr>
      <vt:lpstr>Symbol</vt:lpstr>
      <vt:lpstr>Times New Roman</vt:lpstr>
      <vt:lpstr>Office 主题</vt:lpstr>
      <vt:lpstr>Equation</vt:lpstr>
      <vt:lpstr>公式</vt:lpstr>
      <vt:lpstr>MathType 6.0 Equation</vt:lpstr>
      <vt:lpstr>Document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Microsoft 帐户</cp:lastModifiedBy>
  <cp:revision>79</cp:revision>
  <dcterms:created xsi:type="dcterms:W3CDTF">2020-02-22T13:05:21Z</dcterms:created>
  <dcterms:modified xsi:type="dcterms:W3CDTF">2022-03-29T11:17:10Z</dcterms:modified>
</cp:coreProperties>
</file>