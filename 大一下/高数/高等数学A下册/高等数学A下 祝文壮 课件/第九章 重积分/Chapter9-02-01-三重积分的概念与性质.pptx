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9.wmf"/><Relationship Id="rId7" Type="http://schemas.openxmlformats.org/officeDocument/2006/relationships/image" Target="../media/image13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2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0" Type="http://schemas.openxmlformats.org/officeDocument/2006/relationships/image" Target="../media/image30.w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4" Type="http://schemas.openxmlformats.org/officeDocument/2006/relationships/image" Target="../media/image36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5" Type="http://schemas.openxmlformats.org/officeDocument/2006/relationships/image" Target="../media/image41.wmf"/><Relationship Id="rId4" Type="http://schemas.openxmlformats.org/officeDocument/2006/relationships/image" Target="../media/image40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5" Type="http://schemas.openxmlformats.org/officeDocument/2006/relationships/image" Target="../media/image46.wmf"/><Relationship Id="rId10" Type="http://schemas.openxmlformats.org/officeDocument/2006/relationships/image" Target="../media/image5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image" Target="../media/image64.wmf"/><Relationship Id="rId18" Type="http://schemas.openxmlformats.org/officeDocument/2006/relationships/image" Target="../media/image69.wmf"/><Relationship Id="rId3" Type="http://schemas.openxmlformats.org/officeDocument/2006/relationships/image" Target="../media/image54.wmf"/><Relationship Id="rId7" Type="http://schemas.openxmlformats.org/officeDocument/2006/relationships/image" Target="../media/image58.wmf"/><Relationship Id="rId12" Type="http://schemas.openxmlformats.org/officeDocument/2006/relationships/image" Target="../media/image63.wmf"/><Relationship Id="rId17" Type="http://schemas.openxmlformats.org/officeDocument/2006/relationships/image" Target="../media/image68.wmf"/><Relationship Id="rId2" Type="http://schemas.openxmlformats.org/officeDocument/2006/relationships/image" Target="../media/image53.wmf"/><Relationship Id="rId16" Type="http://schemas.openxmlformats.org/officeDocument/2006/relationships/image" Target="../media/image67.wmf"/><Relationship Id="rId1" Type="http://schemas.openxmlformats.org/officeDocument/2006/relationships/image" Target="../media/image52.wmf"/><Relationship Id="rId6" Type="http://schemas.openxmlformats.org/officeDocument/2006/relationships/image" Target="../media/image57.wmf"/><Relationship Id="rId11" Type="http://schemas.openxmlformats.org/officeDocument/2006/relationships/image" Target="../media/image62.wmf"/><Relationship Id="rId5" Type="http://schemas.openxmlformats.org/officeDocument/2006/relationships/image" Target="../media/image56.wmf"/><Relationship Id="rId15" Type="http://schemas.openxmlformats.org/officeDocument/2006/relationships/image" Target="../media/image66.wmf"/><Relationship Id="rId10" Type="http://schemas.openxmlformats.org/officeDocument/2006/relationships/image" Target="../media/image61.wmf"/><Relationship Id="rId19" Type="http://schemas.openxmlformats.org/officeDocument/2006/relationships/image" Target="../media/image70.wmf"/><Relationship Id="rId4" Type="http://schemas.openxmlformats.org/officeDocument/2006/relationships/image" Target="../media/image55.wmf"/><Relationship Id="rId9" Type="http://schemas.openxmlformats.org/officeDocument/2006/relationships/image" Target="../media/image60.wmf"/><Relationship Id="rId14" Type="http://schemas.openxmlformats.org/officeDocument/2006/relationships/image" Target="../media/image6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4DDE6E-217C-4362-BDFF-20A25C841233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88EE9-941F-46FA-A54C-06A28682D6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9808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88EE9-941F-46FA-A54C-06A28682D6F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2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6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203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340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17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06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32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675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321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46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677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064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1008F6-9903-4647-9BD9-442DA52521B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906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14059-F156-4946-9452-E6BF2CB69CCC}" type="datetimeFigureOut">
              <a:rPr lang="zh-CN" altLang="en-US" smtClean="0"/>
              <a:t>2022/3/21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DD451-72BD-427D-93E1-BAD2E5C83E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684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6.wmf"/><Relationship Id="rId3" Type="http://schemas.openxmlformats.org/officeDocument/2006/relationships/image" Target="../media/image1.png"/><Relationship Id="rId7" Type="http://schemas.openxmlformats.org/officeDocument/2006/relationships/image" Target="../media/image3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5.wmf"/><Relationship Id="rId5" Type="http://schemas.openxmlformats.org/officeDocument/2006/relationships/image" Target="../media/image2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1.wmf"/><Relationship Id="rId18" Type="http://schemas.openxmlformats.org/officeDocument/2006/relationships/oleObject" Target="../embeddings/oleObject13.bin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oleObject" Target="../embeddings/oleObject10.bin"/><Relationship Id="rId17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11" Type="http://schemas.openxmlformats.org/officeDocument/2006/relationships/image" Target="../media/image10.wmf"/><Relationship Id="rId5" Type="http://schemas.openxmlformats.org/officeDocument/2006/relationships/oleObject" Target="../embeddings/oleObject7.bin"/><Relationship Id="rId15" Type="http://schemas.openxmlformats.org/officeDocument/2006/relationships/image" Target="../media/image12.wmf"/><Relationship Id="rId10" Type="http://schemas.openxmlformats.org/officeDocument/2006/relationships/oleObject" Target="../embeddings/oleObject9.bin"/><Relationship Id="rId19" Type="http://schemas.openxmlformats.org/officeDocument/2006/relationships/image" Target="../media/image14.wmf"/><Relationship Id="rId4" Type="http://schemas.openxmlformats.org/officeDocument/2006/relationships/image" Target="../media/image7.wmf"/><Relationship Id="rId9" Type="http://schemas.openxmlformats.org/officeDocument/2006/relationships/image" Target="../media/image1.png"/><Relationship Id="rId14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Microsoft_Word_97_-_2003___1.doc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6.bin"/><Relationship Id="rId10" Type="http://schemas.openxmlformats.org/officeDocument/2006/relationships/image" Target="../media/image19.w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26.bin"/><Relationship Id="rId26" Type="http://schemas.openxmlformats.org/officeDocument/2006/relationships/oleObject" Target="../embeddings/oleObject30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29.wmf"/><Relationship Id="rId7" Type="http://schemas.openxmlformats.org/officeDocument/2006/relationships/image" Target="../media/image22.wmf"/><Relationship Id="rId12" Type="http://schemas.openxmlformats.org/officeDocument/2006/relationships/oleObject" Target="../embeddings/oleObject23.bin"/><Relationship Id="rId17" Type="http://schemas.openxmlformats.org/officeDocument/2006/relationships/image" Target="../media/image27.wmf"/><Relationship Id="rId25" Type="http://schemas.openxmlformats.org/officeDocument/2006/relationships/image" Target="../media/image31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5.bin"/><Relationship Id="rId20" Type="http://schemas.openxmlformats.org/officeDocument/2006/relationships/oleObject" Target="../embeddings/oleObject27.bin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29.bin"/><Relationship Id="rId5" Type="http://schemas.openxmlformats.org/officeDocument/2006/relationships/image" Target="../media/image21.wmf"/><Relationship Id="rId15" Type="http://schemas.openxmlformats.org/officeDocument/2006/relationships/image" Target="../media/image26.wmf"/><Relationship Id="rId23" Type="http://schemas.openxmlformats.org/officeDocument/2006/relationships/image" Target="../media/image30.wmf"/><Relationship Id="rId28" Type="http://schemas.openxmlformats.org/officeDocument/2006/relationships/image" Target="../media/image1.png"/><Relationship Id="rId10" Type="http://schemas.openxmlformats.org/officeDocument/2006/relationships/oleObject" Target="../embeddings/oleObject22.bin"/><Relationship Id="rId19" Type="http://schemas.openxmlformats.org/officeDocument/2006/relationships/image" Target="../media/image28.wmf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24.bin"/><Relationship Id="rId22" Type="http://schemas.openxmlformats.org/officeDocument/2006/relationships/oleObject" Target="../embeddings/oleObject28.bin"/><Relationship Id="rId27" Type="http://schemas.openxmlformats.org/officeDocument/2006/relationships/image" Target="../media/image32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3" Type="http://schemas.openxmlformats.org/officeDocument/2006/relationships/image" Target="../media/image1.png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36.wmf"/><Relationship Id="rId5" Type="http://schemas.openxmlformats.org/officeDocument/2006/relationships/image" Target="../media/image33.wmf"/><Relationship Id="rId10" Type="http://schemas.openxmlformats.org/officeDocument/2006/relationships/oleObject" Target="../embeddings/oleObject34.bin"/><Relationship Id="rId4" Type="http://schemas.openxmlformats.org/officeDocument/2006/relationships/oleObject" Target="../embeddings/oleObject31.bin"/><Relationship Id="rId9" Type="http://schemas.openxmlformats.org/officeDocument/2006/relationships/image" Target="../media/image35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1.png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12" Type="http://schemas.openxmlformats.org/officeDocument/2006/relationships/image" Target="../media/image4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9.bin"/><Relationship Id="rId5" Type="http://schemas.openxmlformats.org/officeDocument/2006/relationships/oleObject" Target="../embeddings/oleObject36.bin"/><Relationship Id="rId10" Type="http://schemas.openxmlformats.org/officeDocument/2006/relationships/image" Target="../media/image40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46.wmf"/><Relationship Id="rId18" Type="http://schemas.openxmlformats.org/officeDocument/2006/relationships/oleObject" Target="../embeddings/oleObject47.bin"/><Relationship Id="rId3" Type="http://schemas.openxmlformats.org/officeDocument/2006/relationships/image" Target="../media/image1.png"/><Relationship Id="rId21" Type="http://schemas.openxmlformats.org/officeDocument/2006/relationships/image" Target="../media/image50.wmf"/><Relationship Id="rId7" Type="http://schemas.openxmlformats.org/officeDocument/2006/relationships/image" Target="../media/image43.wmf"/><Relationship Id="rId12" Type="http://schemas.openxmlformats.org/officeDocument/2006/relationships/oleObject" Target="../embeddings/oleObject44.bin"/><Relationship Id="rId17" Type="http://schemas.openxmlformats.org/officeDocument/2006/relationships/image" Target="../media/image4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46.bin"/><Relationship Id="rId20" Type="http://schemas.openxmlformats.org/officeDocument/2006/relationships/oleObject" Target="../embeddings/oleObject48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45.wmf"/><Relationship Id="rId5" Type="http://schemas.openxmlformats.org/officeDocument/2006/relationships/image" Target="../media/image42.wmf"/><Relationship Id="rId15" Type="http://schemas.openxmlformats.org/officeDocument/2006/relationships/image" Target="../media/image47.wmf"/><Relationship Id="rId23" Type="http://schemas.openxmlformats.org/officeDocument/2006/relationships/image" Target="../media/image51.wmf"/><Relationship Id="rId10" Type="http://schemas.openxmlformats.org/officeDocument/2006/relationships/oleObject" Target="../embeddings/oleObject43.bin"/><Relationship Id="rId19" Type="http://schemas.openxmlformats.org/officeDocument/2006/relationships/image" Target="../media/image49.wmf"/><Relationship Id="rId4" Type="http://schemas.openxmlformats.org/officeDocument/2006/relationships/oleObject" Target="../embeddings/oleObject40.bin"/><Relationship Id="rId9" Type="http://schemas.openxmlformats.org/officeDocument/2006/relationships/image" Target="../media/image44.wmf"/><Relationship Id="rId14" Type="http://schemas.openxmlformats.org/officeDocument/2006/relationships/oleObject" Target="../embeddings/oleObject45.bin"/><Relationship Id="rId22" Type="http://schemas.openxmlformats.org/officeDocument/2006/relationships/oleObject" Target="../embeddings/oleObject49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5.bin"/><Relationship Id="rId18" Type="http://schemas.openxmlformats.org/officeDocument/2006/relationships/image" Target="../media/image59.wmf"/><Relationship Id="rId26" Type="http://schemas.openxmlformats.org/officeDocument/2006/relationships/oleObject" Target="../embeddings/oleObject61.bin"/><Relationship Id="rId39" Type="http://schemas.openxmlformats.org/officeDocument/2006/relationships/image" Target="../media/image69.wmf"/><Relationship Id="rId21" Type="http://schemas.openxmlformats.org/officeDocument/2006/relationships/image" Target="../media/image60.wmf"/><Relationship Id="rId34" Type="http://schemas.openxmlformats.org/officeDocument/2006/relationships/oleObject" Target="../embeddings/oleObject65.bin"/><Relationship Id="rId7" Type="http://schemas.openxmlformats.org/officeDocument/2006/relationships/oleObject" Target="../embeddings/oleObject5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8.wmf"/><Relationship Id="rId20" Type="http://schemas.openxmlformats.org/officeDocument/2006/relationships/oleObject" Target="../embeddings/oleObject58.bin"/><Relationship Id="rId29" Type="http://schemas.openxmlformats.org/officeDocument/2006/relationships/image" Target="../media/image64.wmf"/><Relationship Id="rId41" Type="http://schemas.openxmlformats.org/officeDocument/2006/relationships/image" Target="../media/image7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53.wmf"/><Relationship Id="rId11" Type="http://schemas.openxmlformats.org/officeDocument/2006/relationships/oleObject" Target="../embeddings/oleObject54.bin"/><Relationship Id="rId24" Type="http://schemas.openxmlformats.org/officeDocument/2006/relationships/oleObject" Target="../embeddings/oleObject60.bin"/><Relationship Id="rId32" Type="http://schemas.openxmlformats.org/officeDocument/2006/relationships/oleObject" Target="../embeddings/oleObject64.bin"/><Relationship Id="rId37" Type="http://schemas.openxmlformats.org/officeDocument/2006/relationships/image" Target="../media/image68.wmf"/><Relationship Id="rId40" Type="http://schemas.openxmlformats.org/officeDocument/2006/relationships/oleObject" Target="../embeddings/oleObject68.bin"/><Relationship Id="rId5" Type="http://schemas.openxmlformats.org/officeDocument/2006/relationships/oleObject" Target="../embeddings/oleObject51.bin"/><Relationship Id="rId15" Type="http://schemas.openxmlformats.org/officeDocument/2006/relationships/oleObject" Target="../embeddings/oleObject56.bin"/><Relationship Id="rId23" Type="http://schemas.openxmlformats.org/officeDocument/2006/relationships/image" Target="../media/image61.wmf"/><Relationship Id="rId28" Type="http://schemas.openxmlformats.org/officeDocument/2006/relationships/oleObject" Target="../embeddings/oleObject62.bin"/><Relationship Id="rId36" Type="http://schemas.openxmlformats.org/officeDocument/2006/relationships/oleObject" Target="../embeddings/oleObject66.bin"/><Relationship Id="rId10" Type="http://schemas.openxmlformats.org/officeDocument/2006/relationships/image" Target="../media/image55.wmf"/><Relationship Id="rId19" Type="http://schemas.openxmlformats.org/officeDocument/2006/relationships/image" Target="../media/image1.png"/><Relationship Id="rId31" Type="http://schemas.openxmlformats.org/officeDocument/2006/relationships/image" Target="../media/image65.wmf"/><Relationship Id="rId4" Type="http://schemas.openxmlformats.org/officeDocument/2006/relationships/image" Target="../media/image52.wmf"/><Relationship Id="rId9" Type="http://schemas.openxmlformats.org/officeDocument/2006/relationships/oleObject" Target="../embeddings/oleObject53.bin"/><Relationship Id="rId14" Type="http://schemas.openxmlformats.org/officeDocument/2006/relationships/image" Target="../media/image57.wmf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63.wmf"/><Relationship Id="rId30" Type="http://schemas.openxmlformats.org/officeDocument/2006/relationships/oleObject" Target="../embeddings/oleObject63.bin"/><Relationship Id="rId35" Type="http://schemas.openxmlformats.org/officeDocument/2006/relationships/image" Target="../media/image67.wmf"/><Relationship Id="rId8" Type="http://schemas.openxmlformats.org/officeDocument/2006/relationships/image" Target="../media/image54.wmf"/><Relationship Id="rId3" Type="http://schemas.openxmlformats.org/officeDocument/2006/relationships/oleObject" Target="../embeddings/oleObject50.bin"/><Relationship Id="rId12" Type="http://schemas.openxmlformats.org/officeDocument/2006/relationships/image" Target="../media/image56.wmf"/><Relationship Id="rId17" Type="http://schemas.openxmlformats.org/officeDocument/2006/relationships/oleObject" Target="../embeddings/oleObject57.bin"/><Relationship Id="rId25" Type="http://schemas.openxmlformats.org/officeDocument/2006/relationships/image" Target="../media/image62.wmf"/><Relationship Id="rId33" Type="http://schemas.openxmlformats.org/officeDocument/2006/relationships/image" Target="../media/image66.wmf"/><Relationship Id="rId38" Type="http://schemas.openxmlformats.org/officeDocument/2006/relationships/oleObject" Target="../embeddings/oleObject6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7"/>
          <p:cNvSpPr txBox="1">
            <a:spLocks noChangeArrowheads="1"/>
          </p:cNvSpPr>
          <p:nvPr/>
        </p:nvSpPr>
        <p:spPr bwMode="auto">
          <a:xfrm>
            <a:off x="4135727" y="1451929"/>
            <a:ext cx="3151825" cy="769441"/>
          </a:xfrm>
          <a:prstGeom prst="rect">
            <a:avLst/>
          </a:prstGeom>
          <a:noFill/>
          <a:ln w="50800" cmpd="thickThin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4400" dirty="0" smtClean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2</a:t>
            </a:r>
            <a:r>
              <a:rPr lang="en-US" altLang="zh-CN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.  </a:t>
            </a:r>
            <a:r>
              <a:rPr lang="zh-CN" altLang="en-US" sz="4400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三重积分</a:t>
            </a:r>
            <a:endParaRPr lang="zh-CN" altLang="en-US" sz="4800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9219" name="AutoShape 9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4043363" y="5553075"/>
            <a:ext cx="3581400" cy="381000"/>
          </a:xfrm>
          <a:prstGeom prst="actionButtonBlank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220" name="Text Box 10"/>
          <p:cNvSpPr txBox="1">
            <a:spLocks noChangeArrowheads="1"/>
          </p:cNvSpPr>
          <p:nvPr/>
        </p:nvSpPr>
        <p:spPr bwMode="auto">
          <a:xfrm>
            <a:off x="10455869" y="108586"/>
            <a:ext cx="1553630" cy="523220"/>
          </a:xfrm>
          <a:prstGeom prst="rect">
            <a:avLst/>
          </a:prstGeom>
          <a:noFill/>
          <a:ln w="222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zh-CN" altLang="en-US" dirty="0">
                <a:solidFill>
                  <a:schemeClr val="accent2"/>
                </a:solidFill>
                <a:ea typeface="楷体_GB2312" pitchFamily="49" charset="-122"/>
              </a:rPr>
              <a:t> </a:t>
            </a:r>
            <a:r>
              <a:rPr kumimoji="0" lang="en-US" altLang="zh-CN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Chapter 9</a:t>
            </a:r>
            <a:r>
              <a:rPr kumimoji="0" lang="zh-CN" altLang="en-US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 </a:t>
            </a:r>
          </a:p>
        </p:txBody>
      </p:sp>
      <p:sp>
        <p:nvSpPr>
          <p:cNvPr id="9221" name="文本框 1"/>
          <p:cNvSpPr txBox="1">
            <a:spLocks noChangeArrowheads="1"/>
          </p:cNvSpPr>
          <p:nvPr/>
        </p:nvSpPr>
        <p:spPr bwMode="auto">
          <a:xfrm>
            <a:off x="2927351" y="2763838"/>
            <a:ext cx="604364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2.1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、三重积分的概念与性质</a:t>
            </a:r>
            <a:endParaRPr lang="en-US" altLang="zh-CN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 smtClean="0">
                <a:solidFill>
                  <a:schemeClr val="tx1"/>
                </a:solidFill>
                <a:ea typeface="楷体_GB2312" pitchFamily="49" charset="-122"/>
              </a:rPr>
              <a:t>2.2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、在直角坐标系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下三重积分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的计算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2.3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在柱坐标系下三重积分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计算</a:t>
            </a:r>
            <a:endParaRPr lang="en-US" altLang="zh-CN" b="1" dirty="0" smtClean="0">
              <a:solidFill>
                <a:schemeClr val="tx1"/>
              </a:solidFill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2.4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在球坐标系下三重积分</a:t>
            </a:r>
            <a:r>
              <a:rPr lang="zh-CN" altLang="en-US" b="1" dirty="0">
                <a:solidFill>
                  <a:schemeClr val="tx1"/>
                </a:solidFill>
                <a:ea typeface="楷体_GB2312" pitchFamily="49" charset="-122"/>
              </a:rPr>
              <a:t>的计算</a:t>
            </a:r>
            <a:endParaRPr lang="en-US" altLang="zh-CN" b="1" dirty="0">
              <a:solidFill>
                <a:schemeClr val="tx1"/>
              </a:solidFill>
              <a:ea typeface="楷体_GB2312" pitchFamily="49" charset="-122"/>
            </a:endParaRPr>
          </a:p>
          <a:p>
            <a:pPr>
              <a:spcBef>
                <a:spcPct val="0"/>
              </a:spcBef>
              <a:buNone/>
            </a:pPr>
            <a:r>
              <a:rPr lang="en-US" altLang="zh-CN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2.5</a:t>
            </a:r>
            <a:r>
              <a:rPr lang="zh-CN" altLang="en-US" b="1" dirty="0" smtClean="0">
                <a:solidFill>
                  <a:schemeClr val="tx1"/>
                </a:solidFill>
                <a:ea typeface="宋体" panose="02010600030101010101" pitchFamily="2" charset="-122"/>
              </a:rPr>
              <a:t>、</a:t>
            </a:r>
            <a:r>
              <a:rPr lang="zh-CN" altLang="en-US" b="1" dirty="0" smtClean="0">
                <a:solidFill>
                  <a:schemeClr val="tx1"/>
                </a:solidFill>
                <a:ea typeface="楷体_GB2312" pitchFamily="49" charset="-122"/>
              </a:rPr>
              <a:t>三重积分的一般换元公式</a:t>
            </a:r>
            <a:endParaRPr lang="zh-CN" altLang="en-US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95718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Text Box 2"/>
          <p:cNvSpPr txBox="1">
            <a:spLocks noChangeArrowheads="1"/>
          </p:cNvSpPr>
          <p:nvPr/>
        </p:nvSpPr>
        <p:spPr bwMode="auto">
          <a:xfrm>
            <a:off x="1556727" y="1525358"/>
            <a:ext cx="2327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问题的提出：</a:t>
            </a:r>
            <a:endParaRPr lang="zh-CN" altLang="en-US" sz="2000" b="1" dirty="0">
              <a:solidFill>
                <a:srgbClr val="FF0000"/>
              </a:solidFill>
              <a:ea typeface="宋体" panose="02010600030101010101" pitchFamily="2" charset="-122"/>
            </a:endParaRPr>
          </a:p>
        </p:txBody>
      </p:sp>
      <p:sp>
        <p:nvSpPr>
          <p:cNvPr id="297990" name="Text Box 6"/>
          <p:cNvSpPr txBox="1">
            <a:spLocks noChangeArrowheads="1"/>
          </p:cNvSpPr>
          <p:nvPr/>
        </p:nvSpPr>
        <p:spPr bwMode="auto">
          <a:xfrm>
            <a:off x="1556727" y="3384367"/>
            <a:ext cx="2890838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取极限三个步骤</a:t>
            </a:r>
            <a:r>
              <a:rPr lang="en-US" altLang="zh-CN" b="1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endParaRPr lang="en-US" altLang="zh-CN" sz="2000" b="1" dirty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74" name="Rectangle 10"/>
          <p:cNvSpPr>
            <a:spLocks noGrp="1" noChangeArrowheads="1"/>
          </p:cNvSpPr>
          <p:nvPr>
            <p:ph type="title"/>
          </p:nvPr>
        </p:nvSpPr>
        <p:spPr>
          <a:xfrm>
            <a:off x="1651794" y="255589"/>
            <a:ext cx="6681788" cy="110013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zh-CN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2.1</a:t>
            </a:r>
            <a:r>
              <a:rPr lang="zh-CN" alt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、</a:t>
            </a:r>
            <a:r>
              <a:rPr lang="zh-CN" altLang="en-US" b="1" dirty="0" smtClean="0">
                <a:solidFill>
                  <a:srgbClr val="FF0000"/>
                </a:solidFill>
                <a:latin typeface="+mn-ea"/>
                <a:ea typeface="+mn-ea"/>
              </a:rPr>
              <a:t>三重积分的概念及性质</a:t>
            </a:r>
          </a:p>
        </p:txBody>
      </p:sp>
      <p:graphicFrame>
        <p:nvGraphicFramePr>
          <p:cNvPr id="10245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125762"/>
              </p:ext>
            </p:extLst>
          </p:nvPr>
        </p:nvGraphicFramePr>
        <p:xfrm>
          <a:off x="3606801" y="1529887"/>
          <a:ext cx="6327775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" name="Equation" r:id="rId4" imgW="2603500" imgH="215900" progId="Equation.DSMT4">
                  <p:embed/>
                </p:oleObj>
              </mc:Choice>
              <mc:Fallback>
                <p:oleObj name="Equation" r:id="rId4" imgW="2603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6801" y="1529887"/>
                        <a:ext cx="6327775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283544"/>
              </p:ext>
            </p:extLst>
          </p:nvPr>
        </p:nvGraphicFramePr>
        <p:xfrm>
          <a:off x="1651794" y="2131031"/>
          <a:ext cx="31686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2" name="Equation" r:id="rId6" imgW="1333500" imgH="215900" progId="Equation.DSMT4">
                  <p:embed/>
                </p:oleObj>
              </mc:Choice>
              <mc:Fallback>
                <p:oleObj name="Equation" r:id="rId6" imgW="13335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794" y="2131031"/>
                        <a:ext cx="31686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1236589"/>
              </p:ext>
            </p:extLst>
          </p:nvPr>
        </p:nvGraphicFramePr>
        <p:xfrm>
          <a:off x="2325689" y="2840314"/>
          <a:ext cx="760888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3" name="Equation" r:id="rId8" imgW="3213100" imgH="215900" progId="Equation.DSMT4">
                  <p:embed/>
                </p:oleObj>
              </mc:Choice>
              <mc:Fallback>
                <p:oleObj name="Equation" r:id="rId8" imgW="32131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5689" y="2840314"/>
                        <a:ext cx="7608887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9414730"/>
              </p:ext>
            </p:extLst>
          </p:nvPr>
        </p:nvGraphicFramePr>
        <p:xfrm>
          <a:off x="1651794" y="3987433"/>
          <a:ext cx="5748338" cy="56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" name="Equation" r:id="rId10" imgW="2349500" imgH="228600" progId="Equation.DSMT4">
                  <p:embed/>
                </p:oleObj>
              </mc:Choice>
              <mc:Fallback>
                <p:oleObj name="Equation" r:id="rId10" imgW="23495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1794" y="3987433"/>
                        <a:ext cx="5748338" cy="56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9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5793257"/>
              </p:ext>
            </p:extLst>
          </p:nvPr>
        </p:nvGraphicFramePr>
        <p:xfrm>
          <a:off x="2156192" y="4647228"/>
          <a:ext cx="3165475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5" name="Equation" r:id="rId12" imgW="1257300" imgH="228600" progId="Equation.DSMT4">
                  <p:embed/>
                </p:oleObj>
              </mc:Choice>
              <mc:Fallback>
                <p:oleObj name="Equation" r:id="rId12" imgW="12573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6192" y="4647228"/>
                        <a:ext cx="3165475" cy="57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56079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79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7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86" grpId="0" autoUpdateAnimBg="0"/>
      <p:bldP spid="297990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90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034762"/>
              </p:ext>
            </p:extLst>
          </p:nvPr>
        </p:nvGraphicFramePr>
        <p:xfrm>
          <a:off x="6846888" y="1071563"/>
          <a:ext cx="1611312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8" name="Equation" r:id="rId3" imgW="698400" imgH="228600" progId="Equation.DSMT4">
                  <p:embed/>
                </p:oleObj>
              </mc:Choice>
              <mc:Fallback>
                <p:oleObj name="Equation" r:id="rId3" imgW="698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8" y="1071563"/>
                        <a:ext cx="1611312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347927"/>
              </p:ext>
            </p:extLst>
          </p:nvPr>
        </p:nvGraphicFramePr>
        <p:xfrm>
          <a:off x="4441032" y="1691789"/>
          <a:ext cx="35750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19" name="公式" r:id="rId5" imgW="1549400" imgH="228600" progId="Equation.3">
                  <p:embed/>
                </p:oleObj>
              </mc:Choice>
              <mc:Fallback>
                <p:oleObj name="公式" r:id="rId5" imgW="1549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032" y="1691789"/>
                        <a:ext cx="35750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90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9266322"/>
              </p:ext>
            </p:extLst>
          </p:nvPr>
        </p:nvGraphicFramePr>
        <p:xfrm>
          <a:off x="4292600" y="2719694"/>
          <a:ext cx="3722687" cy="998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0" name="公式" r:id="rId7" imgW="1612900" imgH="431800" progId="Equation.3">
                  <p:embed/>
                </p:oleObj>
              </mc:Choice>
              <mc:Fallback>
                <p:oleObj name="公式" r:id="rId7" imgW="1612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2600" y="2719694"/>
                        <a:ext cx="3722687" cy="998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6" name="Text Box 8"/>
          <p:cNvSpPr txBox="1">
            <a:spLocks noChangeArrowheads="1"/>
          </p:cNvSpPr>
          <p:nvPr/>
        </p:nvSpPr>
        <p:spPr bwMode="auto">
          <a:xfrm>
            <a:off x="2279651" y="3644354"/>
            <a:ext cx="17764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(3)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取极限</a:t>
            </a:r>
          </a:p>
        </p:txBody>
      </p:sp>
      <p:graphicFrame>
        <p:nvGraphicFramePr>
          <p:cNvPr id="299017" name="Object 9"/>
          <p:cNvGraphicFramePr>
            <a:graphicFrameLocks noChangeAspect="1"/>
          </p:cNvGraphicFramePr>
          <p:nvPr/>
        </p:nvGraphicFramePr>
        <p:xfrm>
          <a:off x="4087814" y="4005264"/>
          <a:ext cx="4281487" cy="998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1" name="公式" r:id="rId10" imgW="1854200" imgH="431800" progId="Equation.3">
                  <p:embed/>
                </p:oleObj>
              </mc:Choice>
              <mc:Fallback>
                <p:oleObj name="公式" r:id="rId10" imgW="18542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87814" y="4005264"/>
                        <a:ext cx="4281487" cy="998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9018" name="Text Box 10"/>
          <p:cNvSpPr txBox="1">
            <a:spLocks noChangeArrowheads="1"/>
          </p:cNvSpPr>
          <p:nvPr/>
        </p:nvSpPr>
        <p:spPr bwMode="auto">
          <a:xfrm>
            <a:off x="2279651" y="5013326"/>
            <a:ext cx="898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</a:p>
        </p:txBody>
      </p:sp>
      <p:graphicFrame>
        <p:nvGraphicFramePr>
          <p:cNvPr id="299019" name="Object 11"/>
          <p:cNvGraphicFramePr>
            <a:graphicFrameLocks noChangeAspect="1"/>
          </p:cNvGraphicFramePr>
          <p:nvPr/>
        </p:nvGraphicFramePr>
        <p:xfrm>
          <a:off x="3663951" y="5084763"/>
          <a:ext cx="3167063" cy="646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2" name="公式" r:id="rId12" imgW="1371600" imgH="279400" progId="Equation.3">
                  <p:embed/>
                </p:oleObj>
              </mc:Choice>
              <mc:Fallback>
                <p:oleObj name="公式" r:id="rId12" imgW="1371600" imgH="279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3951" y="5084763"/>
                        <a:ext cx="3167063" cy="646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3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067831"/>
              </p:ext>
            </p:extLst>
          </p:nvPr>
        </p:nvGraphicFramePr>
        <p:xfrm>
          <a:off x="2211877" y="1085058"/>
          <a:ext cx="4776787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3" name="Equation" r:id="rId14" imgW="2006600" imgH="228600" progId="Equation.DSMT4">
                  <p:embed/>
                </p:oleObj>
              </mc:Choice>
              <mc:Fallback>
                <p:oleObj name="Equation" r:id="rId14" imgW="2006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1877" y="1085058"/>
                        <a:ext cx="4776787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4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57742446"/>
              </p:ext>
            </p:extLst>
          </p:nvPr>
        </p:nvGraphicFramePr>
        <p:xfrm>
          <a:off x="8564809" y="1088233"/>
          <a:ext cx="2047875" cy="541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4" name="Equation" r:id="rId16" imgW="863225" imgH="228501" progId="Equation.DSMT4">
                  <p:embed/>
                </p:oleObj>
              </mc:Choice>
              <mc:Fallback>
                <p:oleObj name="Equation" r:id="rId16" imgW="863225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64809" y="1088233"/>
                        <a:ext cx="2047875" cy="541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5" name="对象 3"/>
          <p:cNvGraphicFramePr>
            <a:graphicFrameLocks noChangeAspect="1"/>
          </p:cNvGraphicFramePr>
          <p:nvPr/>
        </p:nvGraphicFramePr>
        <p:xfrm>
          <a:off x="2273300" y="2274889"/>
          <a:ext cx="51244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25" name="Equation" r:id="rId18" imgW="2159000" imgH="228600" progId="Equation.DSMT4">
                  <p:embed/>
                </p:oleObj>
              </mc:Choice>
              <mc:Fallback>
                <p:oleObj name="Equation" r:id="rId18" imgW="2159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3300" y="2274889"/>
                        <a:ext cx="51244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45993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99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99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99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99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99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99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016" grpId="0" autoUpdateAnimBg="0"/>
      <p:bldP spid="29901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52685" y="255738"/>
            <a:ext cx="3249043" cy="64140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en-US" sz="3200" b="1" dirty="0" smtClean="0">
                <a:solidFill>
                  <a:srgbClr val="FF0000"/>
                </a:solidFill>
                <a:latin typeface="+mn-ea"/>
                <a:ea typeface="+mn-ea"/>
              </a:rPr>
              <a:t>三重积分的定义</a:t>
            </a:r>
            <a:endParaRPr lang="zh-CN" altLang="en-US" sz="32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graphicFrame>
        <p:nvGraphicFramePr>
          <p:cNvPr id="12292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4932541"/>
              </p:ext>
            </p:extLst>
          </p:nvPr>
        </p:nvGraphicFramePr>
        <p:xfrm>
          <a:off x="2118148" y="1113942"/>
          <a:ext cx="7873130" cy="523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Equation" r:id="rId3" imgW="3441700" imgH="2286000" progId="Equation.DSMT4">
                  <p:embed/>
                </p:oleObj>
              </mc:Choice>
              <mc:Fallback>
                <p:oleObj name="Equation" r:id="rId3" imgW="3441700" imgH="2286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8148" y="1113942"/>
                        <a:ext cx="7873130" cy="523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6765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395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3208835"/>
              </p:ext>
            </p:extLst>
          </p:nvPr>
        </p:nvGraphicFramePr>
        <p:xfrm>
          <a:off x="2455864" y="2695816"/>
          <a:ext cx="7007313" cy="988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" name="公式" r:id="rId3" imgW="7378700" imgH="1041400" progId="Equation.3">
                  <p:embed/>
                </p:oleObj>
              </mc:Choice>
              <mc:Fallback>
                <p:oleObj name="公式" r:id="rId3" imgW="7378700" imgH="1041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2695816"/>
                        <a:ext cx="7007313" cy="9887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7" name="Object 5"/>
          <p:cNvGraphicFramePr>
            <a:graphicFrameLocks noChangeAspect="1"/>
          </p:cNvGraphicFramePr>
          <p:nvPr/>
        </p:nvGraphicFramePr>
        <p:xfrm>
          <a:off x="5448301" y="3246438"/>
          <a:ext cx="30956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" name="Equation" r:id="rId5" imgW="1308100" imgH="241300" progId="Equation.DSMT4">
                  <p:embed/>
                </p:oleObj>
              </mc:Choice>
              <mc:Fallback>
                <p:oleObj name="Equation" r:id="rId5" imgW="1308100" imgH="2413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3246438"/>
                        <a:ext cx="30956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552883"/>
              </p:ext>
            </p:extLst>
          </p:nvPr>
        </p:nvGraphicFramePr>
        <p:xfrm>
          <a:off x="2455864" y="3736976"/>
          <a:ext cx="7104063" cy="157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5" name="Document" r:id="rId7" imgW="7058774" imgH="1585038" progId="Word.Document.8">
                  <p:embed/>
                </p:oleObj>
              </mc:Choice>
              <mc:Fallback>
                <p:oleObj name="Document" r:id="rId7" imgW="7058774" imgH="1585038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3736976"/>
                        <a:ext cx="7104063" cy="157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395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1702912"/>
              </p:ext>
            </p:extLst>
          </p:nvPr>
        </p:nvGraphicFramePr>
        <p:xfrm>
          <a:off x="2455864" y="5436500"/>
          <a:ext cx="6568684" cy="4216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6" name="公式" r:id="rId9" imgW="7124700" imgH="457200" progId="Equation.3">
                  <p:embed/>
                </p:oleObj>
              </mc:Choice>
              <mc:Fallback>
                <p:oleObj name="公式" r:id="rId9" imgW="71247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5436500"/>
                        <a:ext cx="6568684" cy="42166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8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5465528"/>
              </p:ext>
            </p:extLst>
          </p:nvPr>
        </p:nvGraphicFramePr>
        <p:xfrm>
          <a:off x="2455864" y="933511"/>
          <a:ext cx="6613134" cy="1637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7" name="Equation" r:id="rId11" imgW="2768600" imgH="685800" progId="Equation.DSMT4">
                  <p:embed/>
                </p:oleObj>
              </mc:Choice>
              <mc:Fallback>
                <p:oleObj name="Equation" r:id="rId11" imgW="276860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864" y="933511"/>
                        <a:ext cx="6613134" cy="1637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398033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3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/>
          </p:nvPr>
        </p:nvGraphicFramePr>
        <p:xfrm>
          <a:off x="870858" y="1006475"/>
          <a:ext cx="10432868" cy="50752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816"/>
                <a:gridCol w="2255520"/>
                <a:gridCol w="2560320"/>
                <a:gridCol w="3161212"/>
              </a:tblGrid>
              <a:tr h="465399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       分       割</a:t>
                      </a:r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        近似求和</a:t>
                      </a:r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           取   极   限</a:t>
                      </a:r>
                      <a:endParaRPr lang="zh-CN" altLang="en-US" sz="1800" dirty="0"/>
                    </a:p>
                  </a:txBody>
                  <a:tcPr marL="91439" marR="91439" marT="45713" marB="45713"/>
                </a:tc>
              </a:tr>
              <a:tr h="157024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</a:tr>
              <a:tr h="147740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</a:tr>
              <a:tr h="1562193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 marT="45713" marB="45713"/>
                </a:tc>
              </a:tr>
            </a:tbl>
          </a:graphicData>
        </a:graphic>
      </p:graphicFrame>
      <p:graphicFrame>
        <p:nvGraphicFramePr>
          <p:cNvPr id="14366" name="对象 4"/>
          <p:cNvGraphicFramePr>
            <a:graphicFrameLocks noChangeAspect="1"/>
          </p:cNvGraphicFramePr>
          <p:nvPr>
            <p:extLst/>
          </p:nvPr>
        </p:nvGraphicFramePr>
        <p:xfrm>
          <a:off x="1639889" y="1885157"/>
          <a:ext cx="1346200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8" name="Equation" r:id="rId4" imgW="685800" imgH="330200" progId="Equation.DSMT4">
                  <p:embed/>
                </p:oleObj>
              </mc:Choice>
              <mc:Fallback>
                <p:oleObj name="Equation" r:id="rId4" imgW="685800" imgH="330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9889" y="1885157"/>
                        <a:ext cx="1346200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7" name="对象 5"/>
          <p:cNvGraphicFramePr>
            <a:graphicFrameLocks noChangeAspect="1"/>
          </p:cNvGraphicFramePr>
          <p:nvPr>
            <p:extLst/>
          </p:nvPr>
        </p:nvGraphicFramePr>
        <p:xfrm>
          <a:off x="1389064" y="3471069"/>
          <a:ext cx="184785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99" name="Equation" r:id="rId6" imgW="977900" imgH="381000" progId="Equation.DSMT4">
                  <p:embed/>
                </p:oleObj>
              </mc:Choice>
              <mc:Fallback>
                <p:oleObj name="Equation" r:id="rId6" imgW="9779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064" y="3471069"/>
                        <a:ext cx="184785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8" name="对象 6"/>
          <p:cNvGraphicFramePr>
            <a:graphicFrameLocks noChangeAspect="1"/>
          </p:cNvGraphicFramePr>
          <p:nvPr>
            <p:extLst/>
          </p:nvPr>
        </p:nvGraphicFramePr>
        <p:xfrm>
          <a:off x="3533890" y="1757363"/>
          <a:ext cx="20367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0" name="Equation" r:id="rId8" imgW="1016000" imgH="457200" progId="Equation.DSMT4">
                  <p:embed/>
                </p:oleObj>
              </mc:Choice>
              <mc:Fallback>
                <p:oleObj name="Equation" r:id="rId8" imgW="10160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3890" y="1757363"/>
                        <a:ext cx="20367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69" name="对象 7"/>
          <p:cNvGraphicFramePr>
            <a:graphicFrameLocks noChangeAspect="1"/>
          </p:cNvGraphicFramePr>
          <p:nvPr>
            <p:extLst/>
          </p:nvPr>
        </p:nvGraphicFramePr>
        <p:xfrm>
          <a:off x="3702665" y="3425826"/>
          <a:ext cx="14986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1" name="Equation" r:id="rId10" imgW="838200" imgH="457200" progId="Equation.DSMT4">
                  <p:embed/>
                </p:oleObj>
              </mc:Choice>
              <mc:Fallback>
                <p:oleObj name="Equation" r:id="rId10" imgW="8382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665" y="3425826"/>
                        <a:ext cx="14986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0" name="对象 8"/>
          <p:cNvGraphicFramePr>
            <a:graphicFrameLocks noChangeAspect="1"/>
          </p:cNvGraphicFramePr>
          <p:nvPr/>
        </p:nvGraphicFramePr>
        <p:xfrm>
          <a:off x="6159501" y="1484313"/>
          <a:ext cx="1666875" cy="1492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2" name="Equation" r:id="rId12" imgW="927100" imgH="901700" progId="Equation.DSMT4">
                  <p:embed/>
                </p:oleObj>
              </mc:Choice>
              <mc:Fallback>
                <p:oleObj name="Equation" r:id="rId12" imgW="927100" imgH="901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9501" y="1484313"/>
                        <a:ext cx="1666875" cy="1492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1" name="对象 9"/>
          <p:cNvGraphicFramePr>
            <a:graphicFrameLocks noChangeAspect="1"/>
          </p:cNvGraphicFramePr>
          <p:nvPr/>
        </p:nvGraphicFramePr>
        <p:xfrm>
          <a:off x="5953125" y="2994025"/>
          <a:ext cx="1957388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3" name="Equation" r:id="rId14" imgW="1040948" imgH="901309" progId="Equation.DSMT4">
                  <p:embed/>
                </p:oleObj>
              </mc:Choice>
              <mc:Fallback>
                <p:oleObj name="Equation" r:id="rId14" imgW="1040948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3125" y="2994025"/>
                        <a:ext cx="1957388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2" name="对象 10"/>
          <p:cNvGraphicFramePr>
            <a:graphicFrameLocks noChangeAspect="1"/>
          </p:cNvGraphicFramePr>
          <p:nvPr>
            <p:extLst/>
          </p:nvPr>
        </p:nvGraphicFramePr>
        <p:xfrm>
          <a:off x="8648973" y="1541463"/>
          <a:ext cx="1855788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4" name="Equation" r:id="rId16" imgW="1002865" imgH="723586" progId="Equation.DSMT4">
                  <p:embed/>
                </p:oleObj>
              </mc:Choice>
              <mc:Fallback>
                <p:oleObj name="Equation" r:id="rId16" imgW="1002865" imgH="72358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48973" y="1541463"/>
                        <a:ext cx="1855788" cy="1336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3" name="对象 11"/>
          <p:cNvGraphicFramePr>
            <a:graphicFrameLocks noChangeAspect="1"/>
          </p:cNvGraphicFramePr>
          <p:nvPr>
            <p:extLst/>
          </p:nvPr>
        </p:nvGraphicFramePr>
        <p:xfrm>
          <a:off x="8357757" y="3118643"/>
          <a:ext cx="2498725" cy="130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5" name="Equation" r:id="rId18" imgW="1384300" imgH="723900" progId="Equation.DSMT4">
                  <p:embed/>
                </p:oleObj>
              </mc:Choice>
              <mc:Fallback>
                <p:oleObj name="Equation" r:id="rId18" imgW="13843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57757" y="3118643"/>
                        <a:ext cx="2498725" cy="130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4" name="对象 12"/>
          <p:cNvGraphicFramePr>
            <a:graphicFrameLocks noChangeAspect="1"/>
          </p:cNvGraphicFramePr>
          <p:nvPr>
            <p:extLst/>
          </p:nvPr>
        </p:nvGraphicFramePr>
        <p:xfrm>
          <a:off x="979125" y="5028781"/>
          <a:ext cx="2185987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6" name="Equation" r:id="rId20" imgW="1295400" imgH="381000" progId="Equation.DSMT4">
                  <p:embed/>
                </p:oleObj>
              </mc:Choice>
              <mc:Fallback>
                <p:oleObj name="Equation" r:id="rId20" imgW="12954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9125" y="5028781"/>
                        <a:ext cx="2185987" cy="642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5" name="对象 13"/>
          <p:cNvGraphicFramePr>
            <a:graphicFrameLocks noChangeAspect="1"/>
          </p:cNvGraphicFramePr>
          <p:nvPr>
            <p:extLst/>
          </p:nvPr>
        </p:nvGraphicFramePr>
        <p:xfrm>
          <a:off x="3608388" y="4851695"/>
          <a:ext cx="156527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7" name="Equation" r:id="rId22" imgW="876300" imgH="457200" progId="Equation.DSMT4">
                  <p:embed/>
                </p:oleObj>
              </mc:Choice>
              <mc:Fallback>
                <p:oleObj name="Equation" r:id="rId22" imgW="876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08388" y="4851695"/>
                        <a:ext cx="156527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6" name="对象 14"/>
          <p:cNvGraphicFramePr>
            <a:graphicFrameLocks noChangeAspect="1"/>
          </p:cNvGraphicFramePr>
          <p:nvPr/>
        </p:nvGraphicFramePr>
        <p:xfrm>
          <a:off x="5959475" y="4519613"/>
          <a:ext cx="1981200" cy="1465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8" name="Equation" r:id="rId24" imgW="1218671" imgH="901309" progId="Equation.DSMT4">
                  <p:embed/>
                </p:oleObj>
              </mc:Choice>
              <mc:Fallback>
                <p:oleObj name="Equation" r:id="rId24" imgW="1218671" imgH="90130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9475" y="4519613"/>
                        <a:ext cx="1981200" cy="1465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77" name="对象 15"/>
          <p:cNvGraphicFramePr>
            <a:graphicFrameLocks noChangeAspect="1"/>
          </p:cNvGraphicFramePr>
          <p:nvPr>
            <p:extLst/>
          </p:nvPr>
        </p:nvGraphicFramePr>
        <p:xfrm>
          <a:off x="8383950" y="4592558"/>
          <a:ext cx="2476500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9" name="Equation" r:id="rId26" imgW="1371600" imgH="723900" progId="Equation.DSMT4">
                  <p:embed/>
                </p:oleObj>
              </mc:Choice>
              <mc:Fallback>
                <p:oleObj name="Equation" r:id="rId26" imgW="13716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3950" y="4592558"/>
                        <a:ext cx="2476500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78" name="文本框 1"/>
          <p:cNvSpPr txBox="1">
            <a:spLocks noChangeArrowheads="1"/>
          </p:cNvSpPr>
          <p:nvPr/>
        </p:nvSpPr>
        <p:spPr bwMode="auto">
          <a:xfrm>
            <a:off x="4125913" y="374651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FF0000"/>
                </a:solidFill>
                <a:ea typeface="宋体" panose="02010600030101010101" pitchFamily="2" charset="-122"/>
              </a:rPr>
              <a:t>三种积分定义对照表</a:t>
            </a:r>
          </a:p>
        </p:txBody>
      </p:sp>
    </p:spTree>
    <p:extLst>
      <p:ext uri="{BB962C8B-B14F-4D97-AF65-F5344CB8AC3E}">
        <p14:creationId xmlns:p14="http://schemas.microsoft.com/office/powerpoint/2010/main" val="240959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文本框 2"/>
          <p:cNvSpPr txBox="1">
            <a:spLocks noChangeArrowheads="1"/>
          </p:cNvSpPr>
          <p:nvPr/>
        </p:nvSpPr>
        <p:spPr bwMode="auto">
          <a:xfrm>
            <a:off x="1847850" y="549275"/>
            <a:ext cx="9017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注：</a:t>
            </a:r>
          </a:p>
        </p:txBody>
      </p:sp>
      <p:graphicFrame>
        <p:nvGraphicFramePr>
          <p:cNvPr id="14340" name="对象 3"/>
          <p:cNvGraphicFramePr>
            <a:graphicFrameLocks noChangeAspect="1"/>
          </p:cNvGraphicFramePr>
          <p:nvPr/>
        </p:nvGraphicFramePr>
        <p:xfrm>
          <a:off x="2566988" y="549275"/>
          <a:ext cx="7364412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7" name="Equation" r:id="rId4" imgW="2908300" imgH="457200" progId="Equation.DSMT4">
                  <p:embed/>
                </p:oleObj>
              </mc:Choice>
              <mc:Fallback>
                <p:oleObj name="Equation" r:id="rId4" imgW="29083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549275"/>
                        <a:ext cx="7364412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4011408"/>
              </p:ext>
            </p:extLst>
          </p:nvPr>
        </p:nvGraphicFramePr>
        <p:xfrm>
          <a:off x="2566988" y="1968069"/>
          <a:ext cx="743426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8" name="Equation" r:id="rId6" imgW="3111480" imgH="609480" progId="Equation.DSMT4">
                  <p:embed/>
                </p:oleObj>
              </mc:Choice>
              <mc:Fallback>
                <p:oleObj name="Equation" r:id="rId6" imgW="3111480" imgH="6094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8" y="1968069"/>
                        <a:ext cx="743426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4766213"/>
              </p:ext>
            </p:extLst>
          </p:nvPr>
        </p:nvGraphicFramePr>
        <p:xfrm>
          <a:off x="2661194" y="5580881"/>
          <a:ext cx="6553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29" name="Equation" r:id="rId8" imgW="2768600" imgH="215900" progId="Equation.DSMT4">
                  <p:embed/>
                </p:oleObj>
              </mc:Choice>
              <mc:Fallback>
                <p:oleObj name="Equation" r:id="rId8" imgW="2768600" imgH="215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194" y="5580881"/>
                        <a:ext cx="6553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2842415"/>
              </p:ext>
            </p:extLst>
          </p:nvPr>
        </p:nvGraphicFramePr>
        <p:xfrm>
          <a:off x="2661194" y="3422219"/>
          <a:ext cx="5280025" cy="20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Equation" r:id="rId10" imgW="2209680" imgH="850680" progId="Equation.DSMT4">
                  <p:embed/>
                </p:oleObj>
              </mc:Choice>
              <mc:Fallback>
                <p:oleObj name="Equation" r:id="rId10" imgW="2209680" imgH="850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1194" y="3422219"/>
                        <a:ext cx="5280025" cy="20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973741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996487"/>
              </p:ext>
            </p:extLst>
          </p:nvPr>
        </p:nvGraphicFramePr>
        <p:xfrm>
          <a:off x="1576251" y="853440"/>
          <a:ext cx="870857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6027"/>
                <a:gridCol w="3534031"/>
                <a:gridCol w="4668512"/>
              </a:tblGrid>
              <a:tr h="540678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2800" dirty="0" smtClean="0"/>
                        <a:t>            二重积分</a:t>
                      </a:r>
                      <a:endParaRPr lang="zh-CN" altLang="en-US" sz="2800" dirty="0"/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                   </a:t>
                      </a:r>
                      <a:r>
                        <a:rPr lang="zh-CN" altLang="en-US" sz="2800" dirty="0" smtClean="0"/>
                        <a:t>三重积分</a:t>
                      </a:r>
                      <a:endParaRPr lang="zh-CN" altLang="en-US" sz="2800" dirty="0"/>
                    </a:p>
                  </a:txBody>
                  <a:tcPr marL="91444" marR="91444" marT="45707" marB="45707"/>
                </a:tc>
              </a:tr>
              <a:tr h="2974273"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endParaRPr lang="en-US" altLang="zh-CN" sz="1800" dirty="0" smtClean="0"/>
                    </a:p>
                    <a:p>
                      <a:r>
                        <a:rPr lang="zh-CN" altLang="en-US" sz="2800" b="1" dirty="0" smtClean="0"/>
                        <a:t>几</a:t>
                      </a:r>
                      <a:endParaRPr lang="en-US" altLang="zh-CN" sz="2800" b="1" dirty="0" smtClean="0"/>
                    </a:p>
                    <a:p>
                      <a:r>
                        <a:rPr lang="zh-CN" altLang="en-US" sz="2800" b="1" dirty="0" smtClean="0"/>
                        <a:t>何</a:t>
                      </a:r>
                      <a:endParaRPr lang="en-US" altLang="zh-CN" sz="2800" b="1" dirty="0" smtClean="0"/>
                    </a:p>
                    <a:p>
                      <a:r>
                        <a:rPr lang="zh-CN" altLang="en-US" sz="2800" b="1" dirty="0" smtClean="0"/>
                        <a:t>意</a:t>
                      </a:r>
                      <a:endParaRPr lang="en-US" altLang="zh-CN" sz="2800" b="1" dirty="0" smtClean="0"/>
                    </a:p>
                    <a:p>
                      <a:r>
                        <a:rPr lang="zh-CN" altLang="en-US" sz="2800" b="1" dirty="0" smtClean="0"/>
                        <a:t>义</a:t>
                      </a:r>
                      <a:endParaRPr lang="zh-CN" altLang="en-US" sz="2800" b="1" dirty="0"/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en-US" altLang="zh-CN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(1)</a:t>
                      </a:r>
                      <a:r>
                        <a:rPr lang="zh-CN" altLang="en-US" sz="2400" b="1" dirty="0" smtClean="0"/>
                        <a:t>曲顶柱体的体积：</a:t>
                      </a:r>
                      <a:endParaRPr lang="en-US" altLang="zh-CN" sz="2400" b="1" dirty="0" smtClean="0"/>
                    </a:p>
                    <a:p>
                      <a:r>
                        <a:rPr lang="zh-CN" altLang="en-US" sz="2400" b="1" dirty="0" smtClean="0"/>
                        <a:t>底</a:t>
                      </a:r>
                      <a:r>
                        <a:rPr lang="en-US" altLang="zh-CN" sz="2400" b="1" dirty="0" smtClean="0"/>
                        <a:t>——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r>
                        <a:rPr lang="en-US" altLang="zh-CN" sz="2400" b="1" i="1" dirty="0" smtClean="0"/>
                        <a:t>, </a:t>
                      </a:r>
                      <a:r>
                        <a:rPr lang="zh-CN" altLang="en-US" sz="2400" b="1" i="0" dirty="0" smtClean="0"/>
                        <a:t>曲顶</a:t>
                      </a:r>
                      <a:r>
                        <a:rPr lang="en-US" altLang="zh-CN" sz="2400" b="1" i="0" dirty="0" smtClean="0"/>
                        <a:t>——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 y</a:t>
                      </a:r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endParaRPr lang="en-US" altLang="zh-CN" sz="2800" b="1" i="0" dirty="0" smtClean="0"/>
                    </a:p>
                    <a:p>
                      <a:endParaRPr lang="en-US" altLang="zh-CN" sz="2400" b="1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(2)</a:t>
                      </a:r>
                      <a:r>
                        <a:rPr lang="zh-CN" altLang="en-US" sz="2400" b="1" i="0" dirty="0" smtClean="0"/>
                        <a:t>平面薄板面积：</a:t>
                      </a:r>
                      <a:endParaRPr lang="en-US" altLang="zh-CN" sz="2400" b="1" i="0" dirty="0" smtClean="0"/>
                    </a:p>
                    <a:p>
                      <a:r>
                        <a:rPr lang="zh-CN" altLang="en-US" sz="2400" b="1" i="0" dirty="0" smtClean="0"/>
                        <a:t>薄板所在平面区域</a:t>
                      </a:r>
                      <a:r>
                        <a:rPr lang="en-US" altLang="zh-CN" sz="2400" b="0" i="0" dirty="0" smtClean="0"/>
                        <a:t>——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2400" b="1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r>
                        <a:rPr lang="zh-CN" altLang="en-US" sz="2400" b="1" dirty="0" smtClean="0"/>
                        <a:t>空间立体的体积：</a:t>
                      </a:r>
                      <a:endParaRPr lang="en-US" altLang="zh-CN" sz="2400" b="1" dirty="0" smtClean="0"/>
                    </a:p>
                    <a:p>
                      <a:r>
                        <a:rPr lang="zh-CN" altLang="en-US" sz="2400" b="1" i="0" dirty="0" smtClean="0"/>
                        <a:t>立体所在空间区域</a:t>
                      </a:r>
                      <a:r>
                        <a:rPr lang="en-US" altLang="zh-CN" sz="2400" b="0" i="0" dirty="0" smtClean="0"/>
                        <a:t>——</a:t>
                      </a:r>
                      <a:r>
                        <a:rPr lang="el-GR" altLang="zh-CN" sz="2400" b="0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endParaRPr lang="zh-CN" alt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44" marR="91444" marT="45707" marB="45707"/>
                </a:tc>
              </a:tr>
              <a:tr h="2154329"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r>
                        <a:rPr lang="zh-CN" altLang="en-US" sz="2800" b="1" dirty="0" smtClean="0"/>
                        <a:t>物</a:t>
                      </a:r>
                      <a:endParaRPr lang="en-US" altLang="zh-CN" sz="2800" b="1" dirty="0" smtClean="0"/>
                    </a:p>
                    <a:p>
                      <a:r>
                        <a:rPr lang="zh-CN" altLang="en-US" sz="2800" b="1" dirty="0" smtClean="0"/>
                        <a:t>理</a:t>
                      </a:r>
                      <a:endParaRPr lang="en-US" altLang="zh-CN" sz="2800" b="1" dirty="0" smtClean="0"/>
                    </a:p>
                    <a:p>
                      <a:r>
                        <a:rPr lang="zh-CN" altLang="en-US" sz="2800" b="1" dirty="0" smtClean="0"/>
                        <a:t>意</a:t>
                      </a:r>
                      <a:endParaRPr lang="en-US" altLang="zh-CN" sz="2800" b="1" dirty="0" smtClean="0"/>
                    </a:p>
                    <a:p>
                      <a:r>
                        <a:rPr lang="zh-CN" altLang="en-US" sz="2800" b="1" dirty="0" smtClean="0"/>
                        <a:t>义</a:t>
                      </a:r>
                      <a:endParaRPr lang="zh-CN" altLang="en-US" sz="2800" b="1" dirty="0"/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平面薄板质量：</a:t>
                      </a:r>
                      <a:endParaRPr lang="en-US" altLang="zh-CN" sz="2400" b="1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薄板所在区域</a:t>
                      </a:r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——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薄板密度</a:t>
                      </a:r>
                      <a:r>
                        <a:rPr lang="en-US" altLang="zh-CN" sz="2400" b="1" i="0" dirty="0" smtClean="0"/>
                        <a:t>——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 y</a:t>
                      </a:r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2400" b="1" dirty="0"/>
                    </a:p>
                  </a:txBody>
                  <a:tcPr marL="91444" marR="91444" marT="45707" marB="45707"/>
                </a:tc>
                <a:tc>
                  <a:txBody>
                    <a:bodyPr/>
                    <a:lstStyle/>
                    <a:p>
                      <a:r>
                        <a:rPr lang="zh-CN" altLang="en-US" sz="2400" b="1" dirty="0" smtClean="0"/>
                        <a:t>空间立体的质量：</a:t>
                      </a:r>
                      <a:endParaRPr lang="en-US" altLang="zh-CN" sz="2400" b="1" dirty="0" smtClean="0"/>
                    </a:p>
                    <a:p>
                      <a:r>
                        <a:rPr lang="zh-CN" altLang="en-US" sz="2400" b="1" i="0" dirty="0" smtClean="0"/>
                        <a:t>立体所在空间区域</a:t>
                      </a:r>
                      <a:r>
                        <a:rPr lang="en-US" altLang="zh-CN" sz="2400" b="1" i="0" dirty="0" smtClean="0"/>
                        <a:t>——</a:t>
                      </a:r>
                      <a:r>
                        <a:rPr lang="el-GR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Ω</a:t>
                      </a:r>
                      <a:endParaRPr lang="en-US" altLang="zh-CN" sz="2400" b="1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zh-CN" altLang="en-US" sz="2400" b="1" i="0" dirty="0" smtClean="0"/>
                        <a:t>立体的密度</a:t>
                      </a:r>
                      <a:r>
                        <a:rPr lang="en-US" altLang="zh-CN" sz="2400" b="0" i="0" dirty="0" smtClean="0"/>
                        <a:t>——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400" b="1" i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 y, z</a:t>
                      </a:r>
                      <a:r>
                        <a:rPr lang="en-US" altLang="zh-CN" sz="2400" b="1" i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2400" b="1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zh-CN" altLang="en-US" sz="1800" dirty="0"/>
                    </a:p>
                  </a:txBody>
                  <a:tcPr marL="91444" marR="91444" marT="45707" marB="45707"/>
                </a:tc>
              </a:tr>
            </a:tbl>
          </a:graphicData>
        </a:graphic>
      </p:graphicFrame>
      <p:graphicFrame>
        <p:nvGraphicFramePr>
          <p:cNvPr id="16405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5391662"/>
              </p:ext>
            </p:extLst>
          </p:nvPr>
        </p:nvGraphicFramePr>
        <p:xfrm>
          <a:off x="2415898" y="2111230"/>
          <a:ext cx="2440828" cy="8143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0" name="Equation" r:id="rId3" imgW="1143000" imgH="381000" progId="Equation.DSMT4">
                  <p:embed/>
                </p:oleObj>
              </mc:Choice>
              <mc:Fallback>
                <p:oleObj name="Equation" r:id="rId3" imgW="11430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5898" y="2111230"/>
                        <a:ext cx="2440828" cy="8143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6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187446"/>
              </p:ext>
            </p:extLst>
          </p:nvPr>
        </p:nvGraphicFramePr>
        <p:xfrm>
          <a:off x="2962021" y="3619075"/>
          <a:ext cx="1348581" cy="7781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1" name="Equation" r:id="rId5" imgW="660113" imgH="380835" progId="Equation.DSMT4">
                  <p:embed/>
                </p:oleObj>
              </mc:Choice>
              <mc:Fallback>
                <p:oleObj name="Equation" r:id="rId5" imgW="660113" imgH="38083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2021" y="3619075"/>
                        <a:ext cx="1348581" cy="7781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7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5655253"/>
              </p:ext>
            </p:extLst>
          </p:nvPr>
        </p:nvGraphicFramePr>
        <p:xfrm>
          <a:off x="2548396" y="5572948"/>
          <a:ext cx="2377366" cy="7837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2" name="Equation" r:id="rId7" imgW="1155700" imgH="381000" progId="Equation.DSMT4">
                  <p:embed/>
                </p:oleObj>
              </mc:Choice>
              <mc:Fallback>
                <p:oleObj name="Equation" r:id="rId7" imgW="1155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8396" y="5572948"/>
                        <a:ext cx="2377366" cy="7837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8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029139"/>
              </p:ext>
            </p:extLst>
          </p:nvPr>
        </p:nvGraphicFramePr>
        <p:xfrm>
          <a:off x="6283690" y="2485861"/>
          <a:ext cx="1400174" cy="7241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" name="Equation" r:id="rId9" imgW="736600" imgH="381000" progId="Equation.DSMT4">
                  <p:embed/>
                </p:oleObj>
              </mc:Choice>
              <mc:Fallback>
                <p:oleObj name="Equation" r:id="rId9" imgW="736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3690" y="2485861"/>
                        <a:ext cx="1400174" cy="7241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09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185813"/>
              </p:ext>
            </p:extLst>
          </p:nvPr>
        </p:nvGraphicFramePr>
        <p:xfrm>
          <a:off x="6396901" y="5566605"/>
          <a:ext cx="2765469" cy="7901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4" name="Equation" r:id="rId11" imgW="1333500" imgH="381000" progId="Equation.DSMT4">
                  <p:embed/>
                </p:oleObj>
              </mc:Choice>
              <mc:Fallback>
                <p:oleObj name="Equation" r:id="rId11" imgW="13335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96901" y="5566605"/>
                        <a:ext cx="2765469" cy="7901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0" name="文本框 8"/>
          <p:cNvSpPr txBox="1">
            <a:spLocks noChangeArrowheads="1"/>
          </p:cNvSpPr>
          <p:nvPr/>
        </p:nvSpPr>
        <p:spPr bwMode="auto">
          <a:xfrm>
            <a:off x="3636312" y="132599"/>
            <a:ext cx="471635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两种积分实际意义对照表</a:t>
            </a:r>
          </a:p>
        </p:txBody>
      </p:sp>
    </p:spTree>
    <p:extLst>
      <p:ext uri="{BB962C8B-B14F-4D97-AF65-F5344CB8AC3E}">
        <p14:creationId xmlns:p14="http://schemas.microsoft.com/office/powerpoint/2010/main" val="256772763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1686A3-A20A-46F8-9B8F-34BF920EC603}" type="slidenum">
              <a:rPr lang="en-US" altLang="zh-CN" sz="1200">
                <a:solidFill>
                  <a:schemeClr val="accent2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200">
              <a:solidFill>
                <a:schemeClr val="accent2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84468"/>
              </p:ext>
            </p:extLst>
          </p:nvPr>
        </p:nvGraphicFramePr>
        <p:xfrm>
          <a:off x="661852" y="771427"/>
          <a:ext cx="10855877" cy="5555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3723152"/>
                <a:gridCol w="5565183"/>
              </a:tblGrid>
              <a:tr h="504054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      </a:t>
                      </a:r>
                      <a:r>
                        <a:rPr lang="zh-CN" altLang="en-US" sz="2400" dirty="0" smtClean="0"/>
                        <a:t>二重积分</a:t>
                      </a:r>
                      <a:endParaRPr lang="zh-CN" altLang="en-US" sz="24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r>
                        <a:rPr lang="zh-CN" altLang="en-US" sz="2400" dirty="0" smtClean="0"/>
                        <a:t>                     三重积分</a:t>
                      </a:r>
                      <a:endParaRPr lang="zh-CN" altLang="en-US" sz="2400" dirty="0"/>
                    </a:p>
                  </a:txBody>
                  <a:tcPr marL="91439" marR="91439"/>
                </a:tc>
              </a:tr>
              <a:tr h="1063144"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</a:t>
                      </a:r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   </a:t>
                      </a:r>
                      <a:r>
                        <a:rPr lang="zh-CN" altLang="en-US" sz="2400" b="1" dirty="0" smtClean="0"/>
                        <a:t>线性性</a:t>
                      </a:r>
                      <a:endParaRPr lang="zh-CN" altLang="en-US" sz="2400" b="1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</a:tr>
              <a:tr h="1063144"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r>
                        <a:rPr lang="zh-CN" altLang="en-US" sz="1800" dirty="0" smtClean="0"/>
                        <a:t>  </a:t>
                      </a:r>
                      <a:r>
                        <a:rPr lang="zh-CN" altLang="en-US" sz="2400" b="1" dirty="0" smtClean="0"/>
                        <a:t>区域</a:t>
                      </a:r>
                      <a:r>
                        <a:rPr lang="en-US" altLang="zh-CN" sz="2400" b="1" dirty="0" smtClean="0"/>
                        <a:t>(</a:t>
                      </a:r>
                      <a:r>
                        <a:rPr lang="zh-CN" altLang="en-US" sz="2400" b="1" dirty="0" smtClean="0"/>
                        <a:t>间</a:t>
                      </a:r>
                      <a:r>
                        <a:rPr lang="en-US" altLang="zh-CN" sz="2400" b="1" dirty="0" smtClean="0"/>
                        <a:t>)</a:t>
                      </a:r>
                    </a:p>
                    <a:p>
                      <a:r>
                        <a:rPr lang="zh-CN" altLang="en-US" sz="2400" b="1" dirty="0" smtClean="0"/>
                        <a:t>   可加性</a:t>
                      </a:r>
                      <a:endParaRPr lang="zh-CN" altLang="en-US" sz="2400" b="1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</a:tr>
              <a:tr h="980820"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r>
                        <a:rPr lang="en-US" altLang="zh-CN" sz="1800" dirty="0" smtClean="0"/>
                        <a:t>   </a:t>
                      </a:r>
                      <a:r>
                        <a:rPr lang="zh-CN" altLang="en-US" sz="2400" b="1" dirty="0" smtClean="0"/>
                        <a:t>保序性</a:t>
                      </a:r>
                      <a:endParaRPr lang="zh-CN" altLang="en-US" sz="2400" b="1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</a:tr>
              <a:tr h="995977"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r>
                        <a:rPr lang="zh-CN" altLang="en-US" sz="1800" dirty="0" smtClean="0"/>
                        <a:t> </a:t>
                      </a:r>
                      <a:r>
                        <a:rPr lang="zh-CN" altLang="en-US" sz="2400" b="1" dirty="0" smtClean="0"/>
                        <a:t>估值定理</a:t>
                      </a:r>
                      <a:endParaRPr lang="zh-CN" altLang="en-US" sz="2400" b="1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zh-CN" altLang="en-US" sz="2400" b="1" dirty="0" smtClean="0"/>
                        <a:t>   积分中</a:t>
                      </a:r>
                      <a:endParaRPr lang="en-US" altLang="zh-CN" sz="2400" b="1" dirty="0" smtClean="0"/>
                    </a:p>
                    <a:p>
                      <a:r>
                        <a:rPr lang="en-US" altLang="zh-CN" sz="2400" b="1" dirty="0" smtClean="0"/>
                        <a:t>   </a:t>
                      </a:r>
                      <a:r>
                        <a:rPr lang="zh-CN" altLang="en-US" sz="2400" b="1" dirty="0" smtClean="0"/>
                        <a:t>值定理</a:t>
                      </a:r>
                      <a:endParaRPr lang="zh-CN" altLang="en-US" sz="2400" b="1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39" marR="91439"/>
                </a:tc>
              </a:tr>
            </a:tbl>
          </a:graphicData>
        </a:graphic>
      </p:graphicFrame>
      <p:graphicFrame>
        <p:nvGraphicFramePr>
          <p:cNvPr id="17441" name="对象 5"/>
          <p:cNvGraphicFramePr>
            <a:graphicFrameLocks noChangeAspect="1"/>
          </p:cNvGraphicFramePr>
          <p:nvPr/>
        </p:nvGraphicFramePr>
        <p:xfrm>
          <a:off x="6524625" y="1296988"/>
          <a:ext cx="3435350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4" name="Equation" r:id="rId4" imgW="2540000" imgH="774700" progId="Equation.DSMT4">
                  <p:embed/>
                </p:oleObj>
              </mc:Choice>
              <mc:Fallback>
                <p:oleObj name="Equation" r:id="rId4" imgW="25400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4625" y="1296988"/>
                        <a:ext cx="3435350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2" name="对象 6"/>
          <p:cNvGraphicFramePr>
            <a:graphicFrameLocks noChangeAspect="1"/>
          </p:cNvGraphicFramePr>
          <p:nvPr/>
        </p:nvGraphicFramePr>
        <p:xfrm>
          <a:off x="6443663" y="2325689"/>
          <a:ext cx="3321050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5" name="Equation" r:id="rId6" imgW="2349500" imgH="800100" progId="Equation.DSMT4">
                  <p:embed/>
                </p:oleObj>
              </mc:Choice>
              <mc:Fallback>
                <p:oleObj name="Equation" r:id="rId6" imgW="2349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2325689"/>
                        <a:ext cx="3321050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3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940966"/>
              </p:ext>
            </p:extLst>
          </p:nvPr>
        </p:nvGraphicFramePr>
        <p:xfrm>
          <a:off x="6299200" y="3479802"/>
          <a:ext cx="3514933" cy="9612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6" name="Equation" r:id="rId8" imgW="2184400" imgH="596900" progId="Equation.DSMT4">
                  <p:embed/>
                </p:oleObj>
              </mc:Choice>
              <mc:Fallback>
                <p:oleObj name="Equation" r:id="rId8" imgW="21844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9200" y="3479802"/>
                        <a:ext cx="3514933" cy="96127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4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548107"/>
              </p:ext>
            </p:extLst>
          </p:nvPr>
        </p:nvGraphicFramePr>
        <p:xfrm>
          <a:off x="6506576" y="4494426"/>
          <a:ext cx="3371850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7" name="Equation" r:id="rId10" imgW="2146300" imgH="596900" progId="Equation.DSMT4">
                  <p:embed/>
                </p:oleObj>
              </mc:Choice>
              <mc:Fallback>
                <p:oleObj name="Equation" r:id="rId10" imgW="21463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6576" y="4494426"/>
                        <a:ext cx="3371850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5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3352096"/>
              </p:ext>
            </p:extLst>
          </p:nvPr>
        </p:nvGraphicFramePr>
        <p:xfrm>
          <a:off x="6514940" y="5363489"/>
          <a:ext cx="3243263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8" name="Equation" r:id="rId12" imgW="2044700" imgH="609600" progId="Equation.DSMT4">
                  <p:embed/>
                </p:oleObj>
              </mc:Choice>
              <mc:Fallback>
                <p:oleObj name="Equation" r:id="rId12" imgW="20447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4940" y="5363489"/>
                        <a:ext cx="3243263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6" name="对象 13"/>
          <p:cNvGraphicFramePr>
            <a:graphicFrameLocks noChangeAspect="1"/>
          </p:cNvGraphicFramePr>
          <p:nvPr>
            <p:extLst/>
          </p:nvPr>
        </p:nvGraphicFramePr>
        <p:xfrm>
          <a:off x="2705100" y="1285605"/>
          <a:ext cx="2919412" cy="1047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9" name="Equation" r:id="rId14" imgW="2159000" imgH="774700" progId="Equation.DSMT4">
                  <p:embed/>
                </p:oleObj>
              </mc:Choice>
              <mc:Fallback>
                <p:oleObj name="Equation" r:id="rId14" imgW="2159000" imgH="774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1285605"/>
                        <a:ext cx="2919412" cy="1047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7" name="对象 14"/>
          <p:cNvGraphicFramePr>
            <a:graphicFrameLocks noChangeAspect="1"/>
          </p:cNvGraphicFramePr>
          <p:nvPr>
            <p:extLst/>
          </p:nvPr>
        </p:nvGraphicFramePr>
        <p:xfrm>
          <a:off x="2638358" y="2310607"/>
          <a:ext cx="2747962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0" name="Equation" r:id="rId16" imgW="1968500" imgH="800100" progId="Equation.DSMT4">
                  <p:embed/>
                </p:oleObj>
              </mc:Choice>
              <mc:Fallback>
                <p:oleObj name="Equation" r:id="rId16" imgW="1968500" imgH="800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8358" y="2310607"/>
                        <a:ext cx="2747962" cy="1114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8" name="对象 15"/>
          <p:cNvGraphicFramePr>
            <a:graphicFrameLocks noChangeAspect="1"/>
          </p:cNvGraphicFramePr>
          <p:nvPr>
            <p:extLst/>
          </p:nvPr>
        </p:nvGraphicFramePr>
        <p:xfrm>
          <a:off x="2651307" y="3479801"/>
          <a:ext cx="2874962" cy="950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1" name="Equation" r:id="rId18" imgW="1803400" imgH="596900" progId="Equation.DSMT4">
                  <p:embed/>
                </p:oleObj>
              </mc:Choice>
              <mc:Fallback>
                <p:oleObj name="Equation" r:id="rId18" imgW="18034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1307" y="3479801"/>
                        <a:ext cx="2874962" cy="950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49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6519078"/>
              </p:ext>
            </p:extLst>
          </p:nvPr>
        </p:nvGraphicFramePr>
        <p:xfrm>
          <a:off x="2705100" y="4494426"/>
          <a:ext cx="2892425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2" name="Equation" r:id="rId20" imgW="1943100" imgH="596900" progId="Equation.DSMT4">
                  <p:embed/>
                </p:oleObj>
              </mc:Choice>
              <mc:Fallback>
                <p:oleObj name="Equation" r:id="rId20" imgW="1943100" imgH="596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5100" y="4494426"/>
                        <a:ext cx="2892425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50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7619680"/>
              </p:ext>
            </p:extLst>
          </p:nvPr>
        </p:nvGraphicFramePr>
        <p:xfrm>
          <a:off x="2672489" y="5390875"/>
          <a:ext cx="2679700" cy="963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13" name="Equation" r:id="rId22" imgW="1689100" imgH="609600" progId="Equation.DSMT4">
                  <p:embed/>
                </p:oleObj>
              </mc:Choice>
              <mc:Fallback>
                <p:oleObj name="Equation" r:id="rId22" imgW="1689100" imgH="60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2489" y="5390875"/>
                        <a:ext cx="2679700" cy="963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1" name="文本框 1"/>
          <p:cNvSpPr txBox="1">
            <a:spLocks noChangeArrowheads="1"/>
          </p:cNvSpPr>
          <p:nvPr/>
        </p:nvSpPr>
        <p:spPr bwMode="auto">
          <a:xfrm>
            <a:off x="4226811" y="194198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两种积分性质对照表</a:t>
            </a:r>
          </a:p>
        </p:txBody>
      </p:sp>
    </p:spTree>
    <p:extLst>
      <p:ext uri="{BB962C8B-B14F-4D97-AF65-F5344CB8AC3E}">
        <p14:creationId xmlns:p14="http://schemas.microsoft.com/office/powerpoint/2010/main" val="189061494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754035"/>
              </p:ext>
            </p:extLst>
          </p:nvPr>
        </p:nvGraphicFramePr>
        <p:xfrm>
          <a:off x="879191" y="868156"/>
          <a:ext cx="10501745" cy="5611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8055"/>
                <a:gridCol w="4573472"/>
                <a:gridCol w="5440218"/>
              </a:tblGrid>
              <a:tr h="407376"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                  </a:t>
                      </a:r>
                      <a:r>
                        <a:rPr lang="zh-CN" altLang="en-US" sz="2000" dirty="0" smtClean="0"/>
                        <a:t>二重积分</a:t>
                      </a:r>
                      <a:endParaRPr lang="zh-CN" altLang="en-US" sz="2000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r>
                        <a:rPr lang="zh-CN" altLang="en-US" sz="1800" dirty="0" smtClean="0"/>
                        <a:t>                                  </a:t>
                      </a:r>
                      <a:r>
                        <a:rPr lang="zh-CN" altLang="en-US" sz="2000" dirty="0" smtClean="0"/>
                        <a:t>三重积分</a:t>
                      </a:r>
                      <a:endParaRPr lang="zh-CN" altLang="en-US" sz="2000" dirty="0"/>
                    </a:p>
                  </a:txBody>
                  <a:tcPr marL="91456" marR="91456" marT="45701" marB="45701"/>
                </a:tc>
              </a:tr>
              <a:tr h="2602218"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endParaRPr lang="en-US" altLang="zh-CN" sz="1800" dirty="0" smtClean="0"/>
                    </a:p>
                    <a:p>
                      <a:r>
                        <a:rPr lang="zh-CN" altLang="en-US" sz="2000" b="1" dirty="0" smtClean="0"/>
                        <a:t>奇偶对称</a:t>
                      </a:r>
                      <a:endParaRPr lang="zh-CN" altLang="en-US" sz="2000" b="1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</a:tr>
              <a:tr h="2602218">
                <a:tc>
                  <a:txBody>
                    <a:bodyPr/>
                    <a:lstStyle/>
                    <a:p>
                      <a:endParaRPr lang="en-US" altLang="zh-CN" sz="1800" dirty="0" smtClean="0"/>
                    </a:p>
                    <a:p>
                      <a:endParaRPr lang="en-US" altLang="zh-CN" sz="1800" dirty="0" smtClean="0"/>
                    </a:p>
                    <a:p>
                      <a:r>
                        <a:rPr lang="zh-CN" altLang="en-US" sz="2000" b="1" dirty="0" smtClean="0"/>
                        <a:t>轮换对称</a:t>
                      </a:r>
                      <a:endParaRPr lang="zh-CN" altLang="en-US" sz="2000" b="1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  <a:tc>
                  <a:txBody>
                    <a:bodyPr/>
                    <a:lstStyle/>
                    <a:p>
                      <a:endParaRPr lang="zh-CN" altLang="en-US" sz="1800" dirty="0"/>
                    </a:p>
                  </a:txBody>
                  <a:tcPr marL="91456" marR="91456" marT="45701" marB="45701"/>
                </a:tc>
              </a:tr>
            </a:tbl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>
            <p:extLst/>
          </p:nvPr>
        </p:nvGraphicFramePr>
        <p:xfrm>
          <a:off x="1646225" y="1365267"/>
          <a:ext cx="4168799" cy="4028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6" name="Equation" r:id="rId3" imgW="2413000" imgH="228600" progId="Equation.DSMT4">
                  <p:embed/>
                </p:oleObj>
              </mc:Choice>
              <mc:Fallback>
                <p:oleObj name="Equation" r:id="rId3" imgW="24130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6225" y="1365267"/>
                        <a:ext cx="4168799" cy="40280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3636021"/>
              </p:ext>
            </p:extLst>
          </p:nvPr>
        </p:nvGraphicFramePr>
        <p:xfrm>
          <a:off x="1476240" y="1717063"/>
          <a:ext cx="2579681" cy="4267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7" name="Equation" r:id="rId5" imgW="1511280" imgH="203040" progId="Equation.DSMT4">
                  <p:embed/>
                </p:oleObj>
              </mc:Choice>
              <mc:Fallback>
                <p:oleObj name="Equation" r:id="rId5" imgW="15112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240" y="1717063"/>
                        <a:ext cx="2579681" cy="4267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915910"/>
              </p:ext>
            </p:extLst>
          </p:nvPr>
        </p:nvGraphicFramePr>
        <p:xfrm>
          <a:off x="1476240" y="4016223"/>
          <a:ext cx="343535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8" name="Equation" r:id="rId7" imgW="1828800" imgH="457200" progId="Equation.DSMT4">
                  <p:embed/>
                </p:oleObj>
              </mc:Choice>
              <mc:Fallback>
                <p:oleObj name="Equation" r:id="rId7" imgW="18288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240" y="4016223"/>
                        <a:ext cx="343535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2559325"/>
              </p:ext>
            </p:extLst>
          </p:nvPr>
        </p:nvGraphicFramePr>
        <p:xfrm>
          <a:off x="2128003" y="4890936"/>
          <a:ext cx="3080432" cy="7395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39" name="Equation" r:id="rId9" imgW="1879600" imgH="381000" progId="Equation.DSMT4">
                  <p:embed/>
                </p:oleObj>
              </mc:Choice>
              <mc:Fallback>
                <p:oleObj name="Equation" r:id="rId9" imgW="18796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8003" y="4890936"/>
                        <a:ext cx="3080432" cy="7395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/>
          </p:nvPr>
        </p:nvGraphicFramePr>
        <p:xfrm>
          <a:off x="6126945" y="1373419"/>
          <a:ext cx="5253991" cy="3986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0" name="Equation" r:id="rId11" imgW="3086100" imgH="228600" progId="Equation.DSMT4">
                  <p:embed/>
                </p:oleObj>
              </mc:Choice>
              <mc:Fallback>
                <p:oleObj name="Equation" r:id="rId11" imgW="30861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6945" y="1373419"/>
                        <a:ext cx="5253991" cy="3986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"/>
          <p:cNvGraphicFramePr>
            <a:graphicFrameLocks noChangeAspect="1"/>
          </p:cNvGraphicFramePr>
          <p:nvPr>
            <p:extLst/>
          </p:nvPr>
        </p:nvGraphicFramePr>
        <p:xfrm>
          <a:off x="5994843" y="1754498"/>
          <a:ext cx="2731499" cy="4117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1" name="Equation" r:id="rId13" imgW="1765080" imgH="203040" progId="Equation.DSMT4">
                  <p:embed/>
                </p:oleObj>
              </mc:Choice>
              <mc:Fallback>
                <p:oleObj name="Equation" r:id="rId13" imgW="1765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94843" y="1754498"/>
                        <a:ext cx="2731499" cy="41170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9211678"/>
              </p:ext>
            </p:extLst>
          </p:nvPr>
        </p:nvGraphicFramePr>
        <p:xfrm>
          <a:off x="6260771" y="3903925"/>
          <a:ext cx="43910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2" name="Equation" r:id="rId15" imgW="2501640" imgH="457200" progId="Equation.DSMT4">
                  <p:embed/>
                </p:oleObj>
              </mc:Choice>
              <mc:Fallback>
                <p:oleObj name="Equation" r:id="rId15" imgW="250164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0771" y="3903925"/>
                        <a:ext cx="43910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2474266"/>
              </p:ext>
            </p:extLst>
          </p:nvPr>
        </p:nvGraphicFramePr>
        <p:xfrm>
          <a:off x="6003812" y="4657277"/>
          <a:ext cx="3416535" cy="6875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3" name="Equation" r:id="rId17" imgW="2412720" imgH="380880" progId="Equation.DSMT4">
                  <p:embed/>
                </p:oleObj>
              </mc:Choice>
              <mc:Fallback>
                <p:oleObj name="Equation" r:id="rId17" imgW="2412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03812" y="4657277"/>
                        <a:ext cx="3416535" cy="6875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1" name="文本框 1"/>
          <p:cNvSpPr txBox="1">
            <a:spLocks noChangeArrowheads="1"/>
          </p:cNvSpPr>
          <p:nvPr/>
        </p:nvSpPr>
        <p:spPr bwMode="auto">
          <a:xfrm>
            <a:off x="1717579" y="5765649"/>
            <a:ext cx="958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6079214"/>
              </p:ext>
            </p:extLst>
          </p:nvPr>
        </p:nvGraphicFramePr>
        <p:xfrm>
          <a:off x="2591210" y="5682040"/>
          <a:ext cx="2154018" cy="7218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4" name="Equation" r:id="rId20" imgW="1549080" imgH="380880" progId="Equation.DSMT4">
                  <p:embed/>
                </p:oleObj>
              </mc:Choice>
              <mc:Fallback>
                <p:oleObj name="Equation" r:id="rId20" imgW="1549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210" y="5682040"/>
                        <a:ext cx="2154018" cy="7218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3" name="文本框 14"/>
          <p:cNvSpPr txBox="1">
            <a:spLocks noChangeArrowheads="1"/>
          </p:cNvSpPr>
          <p:nvPr/>
        </p:nvSpPr>
        <p:spPr bwMode="auto">
          <a:xfrm>
            <a:off x="5994843" y="5926771"/>
            <a:ext cx="80493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solidFill>
                  <a:schemeClr val="tx1"/>
                </a:solidFill>
                <a:ea typeface="宋体" panose="02010600030101010101" pitchFamily="2" charset="-122"/>
              </a:rPr>
              <a:t>特别，</a:t>
            </a:r>
          </a:p>
        </p:txBody>
      </p:sp>
      <p:graphicFrame>
        <p:nvGraphicFramePr>
          <p:cNvPr id="1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59278584"/>
              </p:ext>
            </p:extLst>
          </p:nvPr>
        </p:nvGraphicFramePr>
        <p:xfrm>
          <a:off x="6738117" y="5801873"/>
          <a:ext cx="4459212" cy="6731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5" name="Equation" r:id="rId22" imgW="2552700" imgH="381000" progId="Equation.DSMT4">
                  <p:embed/>
                </p:oleObj>
              </mc:Choice>
              <mc:Fallback>
                <p:oleObj name="Equation" r:id="rId22" imgW="2552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117" y="5801873"/>
                        <a:ext cx="4459212" cy="6731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5" name="文本框 12"/>
          <p:cNvSpPr txBox="1">
            <a:spLocks noChangeArrowheads="1"/>
          </p:cNvSpPr>
          <p:nvPr/>
        </p:nvSpPr>
        <p:spPr bwMode="auto">
          <a:xfrm>
            <a:off x="3730625" y="403225"/>
            <a:ext cx="413385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19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9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9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</a:rPr>
              <a:t>两种积分对称性质对照表</a:t>
            </a:r>
          </a:p>
        </p:txBody>
      </p:sp>
      <p:graphicFrame>
        <p:nvGraphicFramePr>
          <p:cNvPr id="17" name="Object 2"/>
          <p:cNvGraphicFramePr>
            <a:graphicFrameLocks noChangeAspect="1"/>
          </p:cNvGraphicFramePr>
          <p:nvPr>
            <p:extLst/>
          </p:nvPr>
        </p:nvGraphicFramePr>
        <p:xfrm>
          <a:off x="3012934" y="3637500"/>
          <a:ext cx="595312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6" name="Equation" r:id="rId24" imgW="330120" imgH="114120" progId="Equation.DSMT4">
                  <p:embed/>
                </p:oleObj>
              </mc:Choice>
              <mc:Fallback>
                <p:oleObj name="Equation" r:id="rId24" imgW="330120" imgH="114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2934" y="3637500"/>
                        <a:ext cx="595312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1339492"/>
              </p:ext>
            </p:extLst>
          </p:nvPr>
        </p:nvGraphicFramePr>
        <p:xfrm>
          <a:off x="3729205" y="2011821"/>
          <a:ext cx="2009950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7" name="Equation" r:id="rId26" imgW="1282680" imgH="380880" progId="Equation.DSMT4">
                  <p:embed/>
                </p:oleObj>
              </mc:Choice>
              <mc:Fallback>
                <p:oleObj name="Equation" r:id="rId26" imgW="1282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205" y="2011821"/>
                        <a:ext cx="2009950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6949632"/>
              </p:ext>
            </p:extLst>
          </p:nvPr>
        </p:nvGraphicFramePr>
        <p:xfrm>
          <a:off x="1497196" y="2500679"/>
          <a:ext cx="2358466" cy="409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8" name="Equation" r:id="rId28" imgW="1434960" imgH="203040" progId="Equation.DSMT4">
                  <p:embed/>
                </p:oleObj>
              </mc:Choice>
              <mc:Fallback>
                <p:oleObj name="Equation" r:id="rId28" imgW="143496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7196" y="2500679"/>
                        <a:ext cx="2358466" cy="409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7991996"/>
              </p:ext>
            </p:extLst>
          </p:nvPr>
        </p:nvGraphicFramePr>
        <p:xfrm>
          <a:off x="2525871" y="2923758"/>
          <a:ext cx="3060101" cy="759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49" name="Equation" r:id="rId30" imgW="2133360" imgH="406080" progId="Equation.DSMT4">
                  <p:embed/>
                </p:oleObj>
              </mc:Choice>
              <mc:Fallback>
                <p:oleObj name="Equation" r:id="rId30" imgW="21333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5871" y="2923758"/>
                        <a:ext cx="3060101" cy="7598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"/>
          <p:cNvGraphicFramePr>
            <a:graphicFrameLocks noChangeAspect="1"/>
          </p:cNvGraphicFramePr>
          <p:nvPr>
            <p:extLst/>
          </p:nvPr>
        </p:nvGraphicFramePr>
        <p:xfrm>
          <a:off x="7045234" y="2910029"/>
          <a:ext cx="4152095" cy="784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0" name="Equation" r:id="rId32" imgW="2514600" imgH="406080" progId="Equation.DSMT4">
                  <p:embed/>
                </p:oleObj>
              </mc:Choice>
              <mc:Fallback>
                <p:oleObj name="Equation" r:id="rId32" imgW="251460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5234" y="2910029"/>
                        <a:ext cx="4152095" cy="7840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"/>
          <p:cNvGraphicFramePr>
            <a:graphicFrameLocks noChangeAspect="1"/>
          </p:cNvGraphicFramePr>
          <p:nvPr>
            <p:extLst/>
          </p:nvPr>
        </p:nvGraphicFramePr>
        <p:xfrm>
          <a:off x="8516170" y="2084874"/>
          <a:ext cx="2711173" cy="7445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1" name="Equation" r:id="rId34" imgW="1485720" imgH="380880" progId="Equation.DSMT4">
                  <p:embed/>
                </p:oleObj>
              </mc:Choice>
              <mc:Fallback>
                <p:oleObj name="Equation" r:id="rId34" imgW="14857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6170" y="2084874"/>
                        <a:ext cx="2711173" cy="7445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"/>
          <p:cNvGraphicFramePr>
            <a:graphicFrameLocks noChangeAspect="1"/>
          </p:cNvGraphicFramePr>
          <p:nvPr>
            <p:extLst/>
          </p:nvPr>
        </p:nvGraphicFramePr>
        <p:xfrm>
          <a:off x="5955599" y="2496590"/>
          <a:ext cx="2560571" cy="41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2" name="Equation" r:id="rId36" imgW="1701720" imgH="203040" progId="Equation.DSMT4">
                  <p:embed/>
                </p:oleObj>
              </mc:Choice>
              <mc:Fallback>
                <p:oleObj name="Equation" r:id="rId36" imgW="170172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5599" y="2496590"/>
                        <a:ext cx="2560571" cy="41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2"/>
          <p:cNvGraphicFramePr>
            <a:graphicFrameLocks noChangeAspect="1"/>
          </p:cNvGraphicFramePr>
          <p:nvPr>
            <p:extLst/>
          </p:nvPr>
        </p:nvGraphicFramePr>
        <p:xfrm>
          <a:off x="8158628" y="3676720"/>
          <a:ext cx="595312" cy="20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3" name="Equation" r:id="rId38" imgW="330120" imgH="114120" progId="Equation.DSMT4">
                  <p:embed/>
                </p:oleObj>
              </mc:Choice>
              <mc:Fallback>
                <p:oleObj name="Equation" r:id="rId38" imgW="330120" imgH="114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8628" y="3676720"/>
                        <a:ext cx="595312" cy="20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8790916"/>
              </p:ext>
            </p:extLst>
          </p:nvPr>
        </p:nvGraphicFramePr>
        <p:xfrm>
          <a:off x="7533923" y="5235611"/>
          <a:ext cx="3663406" cy="6888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54" name="Equation" r:id="rId40" imgW="2400120" imgH="380880" progId="Equation.DSMT4">
                  <p:embed/>
                </p:oleObj>
              </mc:Choice>
              <mc:Fallback>
                <p:oleObj name="Equation" r:id="rId40" imgW="24001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3923" y="5235611"/>
                        <a:ext cx="3663406" cy="6888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63684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61" grpId="0"/>
      <p:bldP spid="1846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3023</TotalTime>
  <Words>244</Words>
  <Application>Microsoft Office PowerPoint</Application>
  <PresentationFormat>宽屏</PresentationFormat>
  <Paragraphs>74</Paragraphs>
  <Slides>10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华文行楷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Equation</vt:lpstr>
      <vt:lpstr>公式</vt:lpstr>
      <vt:lpstr>Document</vt:lpstr>
      <vt:lpstr>PowerPoint 演示文稿</vt:lpstr>
      <vt:lpstr>2.1、三重积分的概念及性质</vt:lpstr>
      <vt:lpstr>PowerPoint 演示文稿</vt:lpstr>
      <vt:lpstr>三重积分的定义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Microsoft 帐户</cp:lastModifiedBy>
  <cp:revision>23</cp:revision>
  <dcterms:created xsi:type="dcterms:W3CDTF">2020-03-03T14:16:09Z</dcterms:created>
  <dcterms:modified xsi:type="dcterms:W3CDTF">2022-03-21T08:42:01Z</dcterms:modified>
</cp:coreProperties>
</file>