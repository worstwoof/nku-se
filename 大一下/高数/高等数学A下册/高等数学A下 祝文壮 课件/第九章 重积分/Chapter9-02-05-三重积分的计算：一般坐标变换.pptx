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image" Target="../media/image17.wmf"/><Relationship Id="rId7" Type="http://schemas.openxmlformats.org/officeDocument/2006/relationships/image" Target="../media/image21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image" Target="../media/image32.wmf"/><Relationship Id="rId7" Type="http://schemas.openxmlformats.org/officeDocument/2006/relationships/image" Target="../media/image34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3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9" Type="http://schemas.openxmlformats.org/officeDocument/2006/relationships/image" Target="../media/image36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25.wmf"/><Relationship Id="rId1" Type="http://schemas.openxmlformats.org/officeDocument/2006/relationships/image" Target="../media/image52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image" Target="../media/image58.wmf"/><Relationship Id="rId7" Type="http://schemas.openxmlformats.org/officeDocument/2006/relationships/image" Target="../media/image61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60.wmf"/><Relationship Id="rId5" Type="http://schemas.openxmlformats.org/officeDocument/2006/relationships/image" Target="../media/image25.wmf"/><Relationship Id="rId4" Type="http://schemas.openxmlformats.org/officeDocument/2006/relationships/image" Target="../media/image59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image" Target="../media/image65.wmf"/><Relationship Id="rId7" Type="http://schemas.openxmlformats.org/officeDocument/2006/relationships/image" Target="../media/image68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7.wmf"/><Relationship Id="rId5" Type="http://schemas.openxmlformats.org/officeDocument/2006/relationships/image" Target="../media/image25.wmf"/><Relationship Id="rId4" Type="http://schemas.openxmlformats.org/officeDocument/2006/relationships/image" Target="../media/image66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B94419-CBBB-49E7-BE44-6C1BE4B2907F}" type="datetimeFigureOut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73C7CE-EB51-40C7-86B7-CC8E0893EC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357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73C7CE-EB51-40C7-86B7-CC8E0893EC6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363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38385-B48A-4835-BBCA-BCF956471FCD}" type="datetime1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451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A64F-F626-4187-9452-343A03A2B9E6}" type="datetime1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136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3A570-CE02-45A0-96A8-A5646691794C}" type="datetime1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360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0898C-2D65-4003-85C1-E44E90A84D4D}" type="datetime1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618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3CC30-6FE5-46DA-B8AD-72B6410F9C5E}" type="datetime1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595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E3282-E047-4DFF-AF0F-01E91A0FB06C}" type="datetime1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283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C73C0-BB71-4B8A-B719-157D46942C36}" type="datetime1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04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6CA46-1DFE-433A-9983-F95F65C43F32}" type="datetime1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471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92FB-D094-4A55-93A5-79D9C2247701}" type="datetime1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322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7602D-DA7B-44C7-AFD6-12F4A739BBB6}" type="datetime1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294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583D-CF98-4D13-A7CF-EF24868F068E}" type="datetime1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280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3E5D9-99B0-4A49-B498-F94E25187D0A}" type="datetime1">
              <a:rPr lang="zh-CN" altLang="en-US" smtClean="0"/>
              <a:t>2022/3/30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39585-CF94-4127-9E2B-D1A9CAAC3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471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4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2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22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19.wmf"/><Relationship Id="rId17" Type="http://schemas.openxmlformats.org/officeDocument/2006/relationships/oleObject" Target="../embeddings/oleObject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0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image" Target="../media/image27.wmf"/><Relationship Id="rId3" Type="http://schemas.openxmlformats.org/officeDocument/2006/relationships/image" Target="../media/image29.png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26.wmf"/><Relationship Id="rId5" Type="http://schemas.openxmlformats.org/officeDocument/2006/relationships/image" Target="../media/image23.wmf"/><Relationship Id="rId15" Type="http://schemas.openxmlformats.org/officeDocument/2006/relationships/image" Target="../media/image28.wmf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5.wmf"/><Relationship Id="rId14" Type="http://schemas.openxmlformats.org/officeDocument/2006/relationships/oleObject" Target="../embeddings/oleObject2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24.wmf"/><Relationship Id="rId18" Type="http://schemas.openxmlformats.org/officeDocument/2006/relationships/oleObject" Target="../embeddings/oleObject36.bin"/><Relationship Id="rId3" Type="http://schemas.openxmlformats.org/officeDocument/2006/relationships/image" Target="../media/image29.png"/><Relationship Id="rId21" Type="http://schemas.openxmlformats.org/officeDocument/2006/relationships/image" Target="../media/image36.wmf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33.bin"/><Relationship Id="rId17" Type="http://schemas.openxmlformats.org/officeDocument/2006/relationships/image" Target="../media/image3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5.bin"/><Relationship Id="rId20" Type="http://schemas.openxmlformats.org/officeDocument/2006/relationships/oleObject" Target="../embeddings/oleObject37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23.wmf"/><Relationship Id="rId5" Type="http://schemas.openxmlformats.org/officeDocument/2006/relationships/image" Target="../media/image30.wmf"/><Relationship Id="rId15" Type="http://schemas.openxmlformats.org/officeDocument/2006/relationships/image" Target="../media/image33.wmf"/><Relationship Id="rId10" Type="http://schemas.openxmlformats.org/officeDocument/2006/relationships/oleObject" Target="../embeddings/oleObject32.bin"/><Relationship Id="rId19" Type="http://schemas.openxmlformats.org/officeDocument/2006/relationships/image" Target="../media/image35.e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2.wmf"/><Relationship Id="rId14" Type="http://schemas.openxmlformats.org/officeDocument/2006/relationships/oleObject" Target="../embeddings/oleObject3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1.wmf"/><Relationship Id="rId18" Type="http://schemas.openxmlformats.org/officeDocument/2006/relationships/oleObject" Target="../embeddings/oleObject45.bin"/><Relationship Id="rId3" Type="http://schemas.openxmlformats.org/officeDocument/2006/relationships/image" Target="../media/image29.png"/><Relationship Id="rId7" Type="http://schemas.openxmlformats.org/officeDocument/2006/relationships/image" Target="../media/image38.wmf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4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4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0.wmf"/><Relationship Id="rId5" Type="http://schemas.openxmlformats.org/officeDocument/2006/relationships/image" Target="../media/image37.wmf"/><Relationship Id="rId15" Type="http://schemas.openxmlformats.org/officeDocument/2006/relationships/image" Target="../media/image42.w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44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39.wmf"/><Relationship Id="rId14" Type="http://schemas.openxmlformats.org/officeDocument/2006/relationships/oleObject" Target="../embeddings/oleObject4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image" Target="../media/image49.wmf"/><Relationship Id="rId3" Type="http://schemas.openxmlformats.org/officeDocument/2006/relationships/image" Target="../media/image29.png"/><Relationship Id="rId7" Type="http://schemas.openxmlformats.org/officeDocument/2006/relationships/image" Target="../media/image46.wmf"/><Relationship Id="rId12" Type="http://schemas.openxmlformats.org/officeDocument/2006/relationships/oleObject" Target="../embeddings/oleObject50.bin"/><Relationship Id="rId17" Type="http://schemas.openxmlformats.org/officeDocument/2006/relationships/image" Target="../media/image5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2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48.wmf"/><Relationship Id="rId5" Type="http://schemas.openxmlformats.org/officeDocument/2006/relationships/image" Target="../media/image45.wmf"/><Relationship Id="rId15" Type="http://schemas.openxmlformats.org/officeDocument/2006/relationships/image" Target="../media/image50.wmf"/><Relationship Id="rId10" Type="http://schemas.openxmlformats.org/officeDocument/2006/relationships/oleObject" Target="../embeddings/oleObject49.bin"/><Relationship Id="rId4" Type="http://schemas.openxmlformats.org/officeDocument/2006/relationships/oleObject" Target="../embeddings/oleObject46.bin"/><Relationship Id="rId9" Type="http://schemas.openxmlformats.org/officeDocument/2006/relationships/image" Target="../media/image47.wmf"/><Relationship Id="rId14" Type="http://schemas.openxmlformats.org/officeDocument/2006/relationships/oleObject" Target="../embeddings/oleObject5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image" Target="../media/image55.wmf"/><Relationship Id="rId3" Type="http://schemas.openxmlformats.org/officeDocument/2006/relationships/oleObject" Target="../embeddings/oleObject53.bin"/><Relationship Id="rId7" Type="http://schemas.openxmlformats.org/officeDocument/2006/relationships/image" Target="../media/image25.wmf"/><Relationship Id="rId12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54.wmf"/><Relationship Id="rId5" Type="http://schemas.openxmlformats.org/officeDocument/2006/relationships/image" Target="../media/image29.png"/><Relationship Id="rId10" Type="http://schemas.openxmlformats.org/officeDocument/2006/relationships/oleObject" Target="../embeddings/oleObject56.bin"/><Relationship Id="rId4" Type="http://schemas.openxmlformats.org/officeDocument/2006/relationships/image" Target="../media/image52.wmf"/><Relationship Id="rId9" Type="http://schemas.openxmlformats.org/officeDocument/2006/relationships/image" Target="../media/image53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25.wmf"/><Relationship Id="rId18" Type="http://schemas.openxmlformats.org/officeDocument/2006/relationships/oleObject" Target="../embeddings/oleObject65.bin"/><Relationship Id="rId3" Type="http://schemas.openxmlformats.org/officeDocument/2006/relationships/image" Target="../media/image29.png"/><Relationship Id="rId7" Type="http://schemas.openxmlformats.org/officeDocument/2006/relationships/image" Target="../media/image57.wmf"/><Relationship Id="rId12" Type="http://schemas.openxmlformats.org/officeDocument/2006/relationships/oleObject" Target="../embeddings/oleObject62.bin"/><Relationship Id="rId17" Type="http://schemas.openxmlformats.org/officeDocument/2006/relationships/image" Target="../media/image6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4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59.wmf"/><Relationship Id="rId5" Type="http://schemas.openxmlformats.org/officeDocument/2006/relationships/image" Target="../media/image56.wmf"/><Relationship Id="rId15" Type="http://schemas.openxmlformats.org/officeDocument/2006/relationships/image" Target="../media/image60.wmf"/><Relationship Id="rId10" Type="http://schemas.openxmlformats.org/officeDocument/2006/relationships/oleObject" Target="../embeddings/oleObject61.bin"/><Relationship Id="rId19" Type="http://schemas.openxmlformats.org/officeDocument/2006/relationships/image" Target="../media/image62.wmf"/><Relationship Id="rId4" Type="http://schemas.openxmlformats.org/officeDocument/2006/relationships/oleObject" Target="../embeddings/oleObject58.bin"/><Relationship Id="rId9" Type="http://schemas.openxmlformats.org/officeDocument/2006/relationships/image" Target="../media/image58.wmf"/><Relationship Id="rId14" Type="http://schemas.openxmlformats.org/officeDocument/2006/relationships/oleObject" Target="../embeddings/oleObject6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image" Target="../media/image25.wmf"/><Relationship Id="rId18" Type="http://schemas.openxmlformats.org/officeDocument/2006/relationships/oleObject" Target="../embeddings/oleObject73.bin"/><Relationship Id="rId3" Type="http://schemas.openxmlformats.org/officeDocument/2006/relationships/image" Target="../media/image29.png"/><Relationship Id="rId7" Type="http://schemas.openxmlformats.org/officeDocument/2006/relationships/image" Target="../media/image64.wmf"/><Relationship Id="rId12" Type="http://schemas.openxmlformats.org/officeDocument/2006/relationships/oleObject" Target="../embeddings/oleObject70.bin"/><Relationship Id="rId17" Type="http://schemas.openxmlformats.org/officeDocument/2006/relationships/image" Target="../media/image6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2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66.wmf"/><Relationship Id="rId5" Type="http://schemas.openxmlformats.org/officeDocument/2006/relationships/image" Target="../media/image63.wmf"/><Relationship Id="rId15" Type="http://schemas.openxmlformats.org/officeDocument/2006/relationships/image" Target="../media/image67.wmf"/><Relationship Id="rId10" Type="http://schemas.openxmlformats.org/officeDocument/2006/relationships/oleObject" Target="../embeddings/oleObject69.bin"/><Relationship Id="rId19" Type="http://schemas.openxmlformats.org/officeDocument/2006/relationships/image" Target="../media/image69.wmf"/><Relationship Id="rId4" Type="http://schemas.openxmlformats.org/officeDocument/2006/relationships/oleObject" Target="../embeddings/oleObject66.bin"/><Relationship Id="rId9" Type="http://schemas.openxmlformats.org/officeDocument/2006/relationships/image" Target="../media/image65.wmf"/><Relationship Id="rId14" Type="http://schemas.openxmlformats.org/officeDocument/2006/relationships/oleObject" Target="../embeddings/oleObject7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7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75.bin"/><Relationship Id="rId5" Type="http://schemas.openxmlformats.org/officeDocument/2006/relationships/image" Target="../media/image70.wmf"/><Relationship Id="rId4" Type="http://schemas.openxmlformats.org/officeDocument/2006/relationships/oleObject" Target="../embeddings/oleObject7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4066" name="Object 2"/>
          <p:cNvGraphicFramePr>
            <a:graphicFrameLocks noChangeAspect="1"/>
          </p:cNvGraphicFramePr>
          <p:nvPr/>
        </p:nvGraphicFramePr>
        <p:xfrm>
          <a:off x="1847851" y="2117726"/>
          <a:ext cx="8518525" cy="180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公式" r:id="rId4" imgW="3111500" imgH="698500" progId="Equation.3">
                  <p:embed/>
                </p:oleObj>
              </mc:Choice>
              <mc:Fallback>
                <p:oleObj name="公式" r:id="rId4" imgW="31115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1" y="2117726"/>
                        <a:ext cx="8518525" cy="180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67" name="Object 3"/>
          <p:cNvGraphicFramePr>
            <a:graphicFrameLocks noChangeAspect="1"/>
          </p:cNvGraphicFramePr>
          <p:nvPr/>
        </p:nvGraphicFramePr>
        <p:xfrm>
          <a:off x="2119313" y="3989388"/>
          <a:ext cx="8204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公式" r:id="rId6" imgW="3124200" imgH="215900" progId="Equation.3">
                  <p:embed/>
                </p:oleObj>
              </mc:Choice>
              <mc:Fallback>
                <p:oleObj name="公式" r:id="rId6" imgW="31242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313" y="3989388"/>
                        <a:ext cx="82042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68" name="Object 4"/>
          <p:cNvGraphicFramePr>
            <a:graphicFrameLocks noChangeAspect="1"/>
          </p:cNvGraphicFramePr>
          <p:nvPr/>
        </p:nvGraphicFramePr>
        <p:xfrm>
          <a:off x="2536826" y="4638675"/>
          <a:ext cx="71596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公式" r:id="rId8" imgW="2768600" imgH="203200" progId="Equation.3">
                  <p:embed/>
                </p:oleObj>
              </mc:Choice>
              <mc:Fallback>
                <p:oleObj name="公式" r:id="rId8" imgW="27686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6826" y="4638675"/>
                        <a:ext cx="715962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69" name="Object 5"/>
          <p:cNvGraphicFramePr>
            <a:graphicFrameLocks noChangeAspect="1"/>
          </p:cNvGraphicFramePr>
          <p:nvPr/>
        </p:nvGraphicFramePr>
        <p:xfrm>
          <a:off x="2171701" y="5302251"/>
          <a:ext cx="77057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公式" r:id="rId10" imgW="2692400" imgH="215900" progId="Equation.3">
                  <p:embed/>
                </p:oleObj>
              </mc:Choice>
              <mc:Fallback>
                <p:oleObj name="公式" r:id="rId10" imgW="2692400" imgH="215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701" y="5302251"/>
                        <a:ext cx="77057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6" name="Rectangle 6"/>
          <p:cNvSpPr>
            <a:spLocks noGrp="1" noChangeArrowheads="1"/>
          </p:cNvSpPr>
          <p:nvPr>
            <p:ph type="title"/>
          </p:nvPr>
        </p:nvSpPr>
        <p:spPr>
          <a:xfrm>
            <a:off x="1847851" y="847725"/>
            <a:ext cx="4947585" cy="103187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2.5</a:t>
            </a:r>
            <a:r>
              <a:rPr lang="zh-CN" alt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zh-CN" altLang="en-US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三重积分换元法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64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4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4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44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4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5090" name="Object 2"/>
          <p:cNvGraphicFramePr>
            <a:graphicFrameLocks noChangeAspect="1"/>
          </p:cNvGraphicFramePr>
          <p:nvPr/>
        </p:nvGraphicFramePr>
        <p:xfrm>
          <a:off x="1914526" y="733426"/>
          <a:ext cx="8228013" cy="270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0" name="公式" r:id="rId3" imgW="3556000" imgH="1168400" progId="Equation.3">
                  <p:embed/>
                </p:oleObj>
              </mc:Choice>
              <mc:Fallback>
                <p:oleObj name="公式" r:id="rId3" imgW="3556000" imgH="116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4526" y="733426"/>
                        <a:ext cx="8228013" cy="2703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5091" name="Object 3"/>
          <p:cNvGraphicFramePr>
            <a:graphicFrameLocks noChangeAspect="1"/>
          </p:cNvGraphicFramePr>
          <p:nvPr/>
        </p:nvGraphicFramePr>
        <p:xfrm>
          <a:off x="2095500" y="3748088"/>
          <a:ext cx="7924800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1" name="公式" r:id="rId5" imgW="3362482" imgH="704677" progId="Equation.3">
                  <p:embed/>
                </p:oleObj>
              </mc:Choice>
              <mc:Fallback>
                <p:oleObj name="公式" r:id="rId5" imgW="3362482" imgH="70467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0" y="3748088"/>
                        <a:ext cx="7924800" cy="179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5132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4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4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27534" y="1153341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对于柱坐标</a:t>
            </a:r>
            <a:endParaRPr lang="zh-CN" altLang="en-US" sz="2800" b="1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/>
          </p:nvPr>
        </p:nvGraphicFramePr>
        <p:xfrm>
          <a:off x="3325679" y="1228303"/>
          <a:ext cx="4185226" cy="461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Equation" r:id="rId3" imgW="1841400" imgH="203040" progId="Equation.DSMT4">
                  <p:embed/>
                </p:oleObj>
              </mc:Choice>
              <mc:Fallback>
                <p:oleObj name="Equation" r:id="rId3" imgW="18414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25679" y="1228303"/>
                        <a:ext cx="4185226" cy="4618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/>
          </p:nvPr>
        </p:nvGraphicFramePr>
        <p:xfrm>
          <a:off x="1592157" y="2159874"/>
          <a:ext cx="2092376" cy="1016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Equation" r:id="rId5" imgW="888840" imgH="431640" progId="Equation.DSMT4">
                  <p:embed/>
                </p:oleObj>
              </mc:Choice>
              <mc:Fallback>
                <p:oleObj name="Equation" r:id="rId5" imgW="8888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92157" y="2159874"/>
                        <a:ext cx="2092376" cy="1016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/>
          </p:nvPr>
        </p:nvGraphicFramePr>
        <p:xfrm>
          <a:off x="3684533" y="1822275"/>
          <a:ext cx="3228260" cy="1675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Equation" r:id="rId7" imgW="1346040" imgH="698400" progId="Equation.DSMT4">
                  <p:embed/>
                </p:oleObj>
              </mc:Choice>
              <mc:Fallback>
                <p:oleObj name="Equation" r:id="rId7" imgW="134604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84533" y="1822275"/>
                        <a:ext cx="3228260" cy="16750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/>
          </p:nvPr>
        </p:nvGraphicFramePr>
        <p:xfrm>
          <a:off x="6912793" y="2469931"/>
          <a:ext cx="721681" cy="3797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Equation" r:id="rId9" imgW="241200" imgH="126720" progId="Equation.DSMT4">
                  <p:embed/>
                </p:oleObj>
              </mc:Choice>
              <mc:Fallback>
                <p:oleObj name="Equation" r:id="rId9" imgW="241200" imgH="12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912793" y="2469931"/>
                        <a:ext cx="721681" cy="3797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27534" y="3657855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对于球坐标</a:t>
            </a:r>
            <a:endParaRPr lang="zh-CN" altLang="en-US" sz="2800" b="1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/>
          </p:nvPr>
        </p:nvGraphicFramePr>
        <p:xfrm>
          <a:off x="3325679" y="3664306"/>
          <a:ext cx="640715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Equation" r:id="rId11" imgW="2819160" imgH="203040" progId="Equation.DSMT4">
                  <p:embed/>
                </p:oleObj>
              </mc:Choice>
              <mc:Fallback>
                <p:oleObj name="Equation" r:id="rId11" imgW="28191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25679" y="3664306"/>
                        <a:ext cx="6407150" cy="461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/>
          </p:nvPr>
        </p:nvGraphicFramePr>
        <p:xfrm>
          <a:off x="1093966" y="4587109"/>
          <a:ext cx="2092376" cy="1016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Equation" r:id="rId13" imgW="888840" imgH="431640" progId="Equation.DSMT4">
                  <p:embed/>
                </p:oleObj>
              </mc:Choice>
              <mc:Fallback>
                <p:oleObj name="Equation" r:id="rId13" imgW="8888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93966" y="4587109"/>
                        <a:ext cx="2092376" cy="1016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/>
          </p:nvPr>
        </p:nvGraphicFramePr>
        <p:xfrm>
          <a:off x="3186342" y="4355057"/>
          <a:ext cx="5889625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Equation" r:id="rId15" imgW="2654280" imgH="698400" progId="Equation.DSMT4">
                  <p:embed/>
                </p:oleObj>
              </mc:Choice>
              <mc:Fallback>
                <p:oleObj name="Equation" r:id="rId15" imgW="265428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86342" y="4355057"/>
                        <a:ext cx="5889625" cy="154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/>
          </p:nvPr>
        </p:nvGraphicFramePr>
        <p:xfrm>
          <a:off x="8936630" y="4786857"/>
          <a:ext cx="19002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Equation" r:id="rId17" imgW="634680" imgH="228600" progId="Equation.DSMT4">
                  <p:embed/>
                </p:oleObj>
              </mc:Choice>
              <mc:Fallback>
                <p:oleObj name="Equation" r:id="rId17" imgW="634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936630" y="4786857"/>
                        <a:ext cx="1900238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883641" y="505270"/>
            <a:ext cx="53303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柱坐标，球坐标是特殊的换元法</a:t>
            </a:r>
            <a:r>
              <a:rPr lang="en-US" altLang="zh-CN" sz="2800" b="1" dirty="0" smtClean="0"/>
              <a:t>.</a:t>
            </a:r>
            <a:endParaRPr lang="zh-CN" altLang="en-US" sz="2800" b="1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211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7219" y="956261"/>
            <a:ext cx="7280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6754422"/>
              </p:ext>
            </p:extLst>
          </p:nvPr>
        </p:nvGraphicFramePr>
        <p:xfrm>
          <a:off x="1385929" y="722783"/>
          <a:ext cx="9659938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8" name="Equation" r:id="rId3" imgW="4101840" imgH="419040" progId="Equation.DSMT4">
                  <p:embed/>
                </p:oleObj>
              </mc:Choice>
              <mc:Fallback>
                <p:oleObj name="Equation" r:id="rId3" imgW="41018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85929" y="722783"/>
                        <a:ext cx="9659938" cy="987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627219" y="1844900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解一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31632" y="1830682"/>
            <a:ext cx="73629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显然，若将</a:t>
            </a:r>
            <a:r>
              <a:rPr lang="el-GR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800" b="1" dirty="0" smtClean="0"/>
              <a:t> </a:t>
            </a:r>
            <a:r>
              <a:rPr lang="zh-CN" altLang="en-US" sz="2800" b="1" dirty="0" smtClean="0"/>
              <a:t>变成单位球体，计算将简单些，</a:t>
            </a:r>
            <a:endParaRPr lang="zh-CN" altLang="en-US" sz="28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8552049" y="1791099"/>
            <a:ext cx="24938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为此考虑变换</a:t>
            </a:r>
            <a:endParaRPr lang="zh-CN" altLang="en-US" sz="2800" b="1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657013"/>
              </p:ext>
            </p:extLst>
          </p:nvPr>
        </p:nvGraphicFramePr>
        <p:xfrm>
          <a:off x="1323608" y="2276724"/>
          <a:ext cx="3517900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9" name="Equation" r:id="rId5" imgW="1396800" imgH="406080" progId="Equation.DSMT4">
                  <p:embed/>
                </p:oleObj>
              </mc:Choice>
              <mc:Fallback>
                <p:oleObj name="Equation" r:id="rId5" imgW="13968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23608" y="2276724"/>
                        <a:ext cx="3517900" cy="1023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8495751"/>
              </p:ext>
            </p:extLst>
          </p:nvPr>
        </p:nvGraphicFramePr>
        <p:xfrm>
          <a:off x="5038813" y="2583702"/>
          <a:ext cx="3857336" cy="520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0" name="Equation" r:id="rId7" imgW="1600200" imgH="215640" progId="Equation.DSMT4">
                  <p:embed/>
                </p:oleObj>
              </mc:Choice>
              <mc:Fallback>
                <p:oleObj name="Equation" r:id="rId7" imgW="16002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38813" y="2583702"/>
                        <a:ext cx="3857336" cy="5204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9308415"/>
              </p:ext>
            </p:extLst>
          </p:nvPr>
        </p:nvGraphicFramePr>
        <p:xfrm>
          <a:off x="1080227" y="3256759"/>
          <a:ext cx="5590374" cy="164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1" name="Equation" r:id="rId9" imgW="2374560" imgH="698400" progId="Equation.DSMT4">
                  <p:embed/>
                </p:oleObj>
              </mc:Choice>
              <mc:Fallback>
                <p:oleObj name="Equation" r:id="rId9" imgW="237456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80227" y="3256759"/>
                        <a:ext cx="5590374" cy="1643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0158314"/>
              </p:ext>
            </p:extLst>
          </p:nvPr>
        </p:nvGraphicFramePr>
        <p:xfrm>
          <a:off x="1080227" y="4771811"/>
          <a:ext cx="6157055" cy="568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2" name="Equation" r:id="rId11" imgW="2476440" imgH="228600" progId="Equation.DSMT4">
                  <p:embed/>
                </p:oleObj>
              </mc:Choice>
              <mc:Fallback>
                <p:oleObj name="Equation" r:id="rId11" imgW="2476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80227" y="4771811"/>
                        <a:ext cx="6157055" cy="5683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080227" y="545120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于是</a:t>
            </a:r>
            <a:endParaRPr lang="zh-CN" altLang="en-US" sz="2800" b="1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217301"/>
              </p:ext>
            </p:extLst>
          </p:nvPr>
        </p:nvGraphicFramePr>
        <p:xfrm>
          <a:off x="2111757" y="5380591"/>
          <a:ext cx="4686482" cy="912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3" name="Equation" r:id="rId13" imgW="1955520" imgH="380880" progId="Equation.DSMT4">
                  <p:embed/>
                </p:oleObj>
              </mc:Choice>
              <mc:Fallback>
                <p:oleObj name="Equation" r:id="rId13" imgW="19555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11757" y="5380591"/>
                        <a:ext cx="4686482" cy="9129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6287514"/>
              </p:ext>
            </p:extLst>
          </p:nvPr>
        </p:nvGraphicFramePr>
        <p:xfrm>
          <a:off x="6798239" y="5342754"/>
          <a:ext cx="2676509" cy="9229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4" name="Equation" r:id="rId15" imgW="1104840" imgH="380880" progId="Equation.DSMT4">
                  <p:embed/>
                </p:oleObj>
              </mc:Choice>
              <mc:Fallback>
                <p:oleObj name="Equation" r:id="rId15" imgW="11048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798239" y="5342754"/>
                        <a:ext cx="2676509" cy="9229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6769399"/>
              </p:ext>
            </p:extLst>
          </p:nvPr>
        </p:nvGraphicFramePr>
        <p:xfrm>
          <a:off x="9399451" y="5272427"/>
          <a:ext cx="1376218" cy="880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5" name="Equation" r:id="rId17" imgW="634680" imgH="406080" progId="Equation.DSMT4">
                  <p:embed/>
                </p:oleObj>
              </mc:Choice>
              <mc:Fallback>
                <p:oleObj name="Equation" r:id="rId17" imgW="634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399451" y="5272427"/>
                        <a:ext cx="1376218" cy="8807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029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66618" y="757382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解法二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Text Box 10"/>
          <p:cNvSpPr txBox="1">
            <a:spLocks noChangeArrowheads="1"/>
          </p:cNvSpPr>
          <p:nvPr/>
        </p:nvSpPr>
        <p:spPr bwMode="auto">
          <a:xfrm>
            <a:off x="1920660" y="1098179"/>
            <a:ext cx="304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作广义球坐标变换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" name="Object 11"/>
          <p:cNvGraphicFramePr>
            <a:graphicFrameLocks noChangeAspect="1"/>
          </p:cNvGraphicFramePr>
          <p:nvPr>
            <p:extLst/>
          </p:nvPr>
        </p:nvGraphicFramePr>
        <p:xfrm>
          <a:off x="5177993" y="539502"/>
          <a:ext cx="3305175" cy="168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2" name="公式" r:id="rId4" imgW="1371600" imgH="698500" progId="Equation.3">
                  <p:embed/>
                </p:oleObj>
              </mc:Choice>
              <mc:Fallback>
                <p:oleObj name="公式" r:id="rId4" imgW="13716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7993" y="539502"/>
                        <a:ext cx="3305175" cy="168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3"/>
          <p:cNvGraphicFramePr>
            <a:graphicFrameLocks noChangeAspect="1"/>
          </p:cNvGraphicFramePr>
          <p:nvPr>
            <p:extLst/>
          </p:nvPr>
        </p:nvGraphicFramePr>
        <p:xfrm>
          <a:off x="2318250" y="2123241"/>
          <a:ext cx="2413034" cy="564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3" name="公式" r:id="rId6" imgW="977900" imgH="228600" progId="Equation.3">
                  <p:embed/>
                </p:oleObj>
              </mc:Choice>
              <mc:Fallback>
                <p:oleObj name="公式" r:id="rId6" imgW="9779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8250" y="2123241"/>
                        <a:ext cx="2413034" cy="5642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1287313" y="2123241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则有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/>
          </p:nvPr>
        </p:nvGraphicFramePr>
        <p:xfrm>
          <a:off x="1287313" y="2958328"/>
          <a:ext cx="881221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4" name="Equation" r:id="rId8" imgW="3441600" imgH="215640" progId="Equation.DSMT4">
                  <p:embed/>
                </p:oleObj>
              </mc:Choice>
              <mc:Fallback>
                <p:oleObj name="Equation" r:id="rId8" imgW="3441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87313" y="2958328"/>
                        <a:ext cx="8812213" cy="552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287313" y="3670284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于是，</a:t>
            </a:r>
            <a:endParaRPr lang="zh-CN" altLang="en-US" sz="2800" b="1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/>
          </p:nvPr>
        </p:nvGraphicFramePr>
        <p:xfrm>
          <a:off x="2622031" y="3822645"/>
          <a:ext cx="5377320" cy="896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5" name="Equation" r:id="rId10" imgW="2286000" imgH="380880" progId="Equation.DSMT4">
                  <p:embed/>
                </p:oleObj>
              </mc:Choice>
              <mc:Fallback>
                <p:oleObj name="Equation" r:id="rId10" imgW="22860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622031" y="3822645"/>
                        <a:ext cx="5377320" cy="896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/>
          </p:nvPr>
        </p:nvGraphicFramePr>
        <p:xfrm>
          <a:off x="2930774" y="4666851"/>
          <a:ext cx="4227829" cy="763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6" name="Equation" r:id="rId12" imgW="1828800" imgH="330120" progId="Equation.DSMT4">
                  <p:embed/>
                </p:oleObj>
              </mc:Choice>
              <mc:Fallback>
                <p:oleObj name="Equation" r:id="rId12" imgW="18288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930774" y="4666851"/>
                        <a:ext cx="4227829" cy="7633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/>
          </p:nvPr>
        </p:nvGraphicFramePr>
        <p:xfrm>
          <a:off x="2848395" y="5354189"/>
          <a:ext cx="1545936" cy="98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7" name="Equation" r:id="rId14" imgW="634680" imgH="406080" progId="Equation.DSMT4">
                  <p:embed/>
                </p:oleObj>
              </mc:Choice>
              <mc:Fallback>
                <p:oleObj name="Equation" r:id="rId14" imgW="6346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848395" y="5354189"/>
                        <a:ext cx="1545936" cy="98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03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6" grpId="0" autoUpdateAnimBg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2098289" y="630013"/>
            <a:ext cx="126509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ea typeface="楷体_GB2312" pitchFamily="49" charset="-122"/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ea typeface="楷体_GB2312" pitchFamily="49" charset="-122"/>
              </a:rPr>
              <a:t>2 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求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46115" name="Object 3"/>
          <p:cNvGraphicFramePr>
            <a:graphicFrameLocks noChangeAspect="1"/>
          </p:cNvGraphicFramePr>
          <p:nvPr>
            <p:extLst/>
          </p:nvPr>
        </p:nvGraphicFramePr>
        <p:xfrm>
          <a:off x="3449638" y="565150"/>
          <a:ext cx="2075259" cy="799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6" name="Equation" r:id="rId4" imgW="1130040" imgH="380880" progId="Equation.DSMT4">
                  <p:embed/>
                </p:oleObj>
              </mc:Choice>
              <mc:Fallback>
                <p:oleObj name="Equation" r:id="rId4" imgW="11300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9638" y="565150"/>
                        <a:ext cx="2075259" cy="7998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16" name="Text Box 4"/>
          <p:cNvSpPr txBox="1">
            <a:spLocks noChangeArrowheads="1"/>
          </p:cNvSpPr>
          <p:nvPr/>
        </p:nvSpPr>
        <p:spPr bwMode="auto">
          <a:xfrm>
            <a:off x="5825727" y="646266"/>
            <a:ext cx="20746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其中 </a:t>
            </a:r>
            <a:r>
              <a:rPr lang="el-GR" altLang="zh-CN" b="1" dirty="0" smtClean="0">
                <a:solidFill>
                  <a:schemeClr val="tx1"/>
                </a:solidFill>
                <a:ea typeface="楷体_GB2312" pitchFamily="49" charset="-122"/>
              </a:rPr>
              <a:t>Ω</a:t>
            </a:r>
            <a:r>
              <a:rPr lang="en-US" altLang="zh-CN" b="1" dirty="0" smtClean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为由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46117" name="Object 5"/>
          <p:cNvGraphicFramePr>
            <a:graphicFrameLocks noChangeAspect="1"/>
          </p:cNvGraphicFramePr>
          <p:nvPr>
            <p:extLst/>
          </p:nvPr>
        </p:nvGraphicFramePr>
        <p:xfrm>
          <a:off x="2097389" y="1263651"/>
          <a:ext cx="2492375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7" name="公式" r:id="rId6" imgW="1079500" imgH="419100" progId="Equation.3">
                  <p:embed/>
                </p:oleObj>
              </mc:Choice>
              <mc:Fallback>
                <p:oleObj name="公式" r:id="rId6" imgW="1079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389" y="1263651"/>
                        <a:ext cx="2492375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18" name="Text Box 6"/>
          <p:cNvSpPr txBox="1">
            <a:spLocks noChangeArrowheads="1"/>
          </p:cNvSpPr>
          <p:nvPr/>
        </p:nvSpPr>
        <p:spPr bwMode="auto">
          <a:xfrm>
            <a:off x="4589764" y="1474714"/>
            <a:ext cx="541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与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46119" name="Object 7"/>
          <p:cNvGraphicFramePr>
            <a:graphicFrameLocks noChangeAspect="1"/>
          </p:cNvGraphicFramePr>
          <p:nvPr>
            <p:extLst/>
          </p:nvPr>
        </p:nvGraphicFramePr>
        <p:xfrm>
          <a:off x="5239694" y="1527895"/>
          <a:ext cx="7905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8" name="公式" r:id="rId8" imgW="342603" imgH="177646" progId="Equation.3">
                  <p:embed/>
                </p:oleObj>
              </mc:Choice>
              <mc:Fallback>
                <p:oleObj name="公式" r:id="rId8" imgW="342603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9694" y="1527895"/>
                        <a:ext cx="7905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20" name="Text Box 8"/>
          <p:cNvSpPr txBox="1">
            <a:spLocks noChangeArrowheads="1"/>
          </p:cNvSpPr>
          <p:nvPr/>
        </p:nvSpPr>
        <p:spPr bwMode="auto">
          <a:xfrm>
            <a:off x="6063135" y="1503362"/>
            <a:ext cx="2416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所确定的区域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.</a:t>
            </a:r>
            <a:endParaRPr lang="en-US" altLang="zh-CN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46121" name="Text Box 9"/>
          <p:cNvSpPr txBox="1">
            <a:spLocks noChangeArrowheads="1"/>
          </p:cNvSpPr>
          <p:nvPr/>
        </p:nvSpPr>
        <p:spPr bwMode="auto">
          <a:xfrm>
            <a:off x="1941910" y="2556328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endParaRPr lang="zh-CN" altLang="en-US" sz="2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46122" name="Text Box 10"/>
          <p:cNvSpPr txBox="1">
            <a:spLocks noChangeArrowheads="1"/>
          </p:cNvSpPr>
          <p:nvPr/>
        </p:nvSpPr>
        <p:spPr bwMode="auto">
          <a:xfrm>
            <a:off x="2483247" y="2592358"/>
            <a:ext cx="304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作广义球坐标变换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46123" name="Object 11"/>
          <p:cNvGraphicFramePr>
            <a:graphicFrameLocks noChangeAspect="1"/>
          </p:cNvGraphicFramePr>
          <p:nvPr>
            <p:extLst/>
          </p:nvPr>
        </p:nvGraphicFramePr>
        <p:xfrm>
          <a:off x="5618635" y="2022475"/>
          <a:ext cx="3046956" cy="1552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9" name="Equation" r:id="rId10" imgW="1371600" imgH="698500" progId="Equation.DSMT4">
                  <p:embed/>
                </p:oleObj>
              </mc:Choice>
              <mc:Fallback>
                <p:oleObj name="Equation" r:id="rId10" imgW="1371600" imgH="698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8635" y="2022475"/>
                        <a:ext cx="3046956" cy="1552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24" name="Text Box 12"/>
          <p:cNvSpPr txBox="1">
            <a:spLocks noChangeArrowheads="1"/>
          </p:cNvSpPr>
          <p:nvPr/>
        </p:nvSpPr>
        <p:spPr bwMode="auto">
          <a:xfrm>
            <a:off x="1984215" y="3467597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于是，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46125" name="Object 13"/>
          <p:cNvGraphicFramePr>
            <a:graphicFrameLocks noChangeAspect="1"/>
          </p:cNvGraphicFramePr>
          <p:nvPr>
            <p:extLst/>
          </p:nvPr>
        </p:nvGraphicFramePr>
        <p:xfrm>
          <a:off x="3215916" y="3439954"/>
          <a:ext cx="2355850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0" name="公式" r:id="rId12" imgW="977900" imgH="228600" progId="Equation.3">
                  <p:embed/>
                </p:oleObj>
              </mc:Choice>
              <mc:Fallback>
                <p:oleObj name="公式" r:id="rId12" imgW="9779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916" y="3439954"/>
                        <a:ext cx="2355850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26" name="Object 14"/>
          <p:cNvGraphicFramePr>
            <a:graphicFrameLocks noChangeAspect="1"/>
          </p:cNvGraphicFramePr>
          <p:nvPr>
            <p:extLst/>
          </p:nvPr>
        </p:nvGraphicFramePr>
        <p:xfrm>
          <a:off x="1970973" y="5039520"/>
          <a:ext cx="1519723" cy="771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1" name="Equation" r:id="rId14" imgW="838080" imgH="380880" progId="Equation.DSMT4">
                  <p:embed/>
                </p:oleObj>
              </mc:Choice>
              <mc:Fallback>
                <p:oleObj name="Equation" r:id="rId14" imgW="838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973" y="5039520"/>
                        <a:ext cx="1519723" cy="7719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27" name="Object 15"/>
          <p:cNvGraphicFramePr>
            <a:graphicFrameLocks noChangeAspect="1"/>
          </p:cNvGraphicFramePr>
          <p:nvPr>
            <p:extLst/>
          </p:nvPr>
        </p:nvGraphicFramePr>
        <p:xfrm>
          <a:off x="8955550" y="4802544"/>
          <a:ext cx="1419369" cy="988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2" name="Equation" r:id="rId16" imgW="634680" imgH="419040" progId="Equation.DSMT4">
                  <p:embed/>
                </p:oleObj>
              </mc:Choice>
              <mc:Fallback>
                <p:oleObj name="Equation" r:id="rId16" imgW="6346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5550" y="4802544"/>
                        <a:ext cx="1419369" cy="9881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28" name="Object 16"/>
          <p:cNvGraphicFramePr>
            <a:graphicFrameLocks noChangeAspect="1"/>
          </p:cNvGraphicFramePr>
          <p:nvPr>
            <p:extLst/>
          </p:nvPr>
        </p:nvGraphicFramePr>
        <p:xfrm>
          <a:off x="3343576" y="4802544"/>
          <a:ext cx="5611974" cy="898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3" name="公式" r:id="rId18" imgW="2476410" imgH="343019" progId="Equation.3">
                  <p:embed/>
                </p:oleObj>
              </mc:Choice>
              <mc:Fallback>
                <p:oleObj name="公式" r:id="rId18" imgW="2476410" imgH="34301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3576" y="4802544"/>
                        <a:ext cx="5611974" cy="8984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/>
          </p:nvPr>
        </p:nvGraphicFramePr>
        <p:xfrm>
          <a:off x="1984215" y="3931348"/>
          <a:ext cx="8426450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4" name="Equation" r:id="rId20" imgW="3720960" imgH="444240" progId="Equation.DSMT4">
                  <p:embed/>
                </p:oleObj>
              </mc:Choice>
              <mc:Fallback>
                <p:oleObj name="Equation" r:id="rId20" imgW="37209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984215" y="3931348"/>
                        <a:ext cx="8426450" cy="1008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418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46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6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46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6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6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6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21" grpId="0" autoUpdateAnimBg="0"/>
      <p:bldP spid="346122" grpId="0" autoUpdateAnimBg="0"/>
      <p:bldP spid="34612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1101635" y="597512"/>
            <a:ext cx="162576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ea typeface="楷体_GB2312" pitchFamily="49" charset="-122"/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ea typeface="楷体_GB2312" pitchFamily="49" charset="-122"/>
              </a:rPr>
              <a:t>3  </a:t>
            </a:r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计算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46115" name="Object 3"/>
          <p:cNvGraphicFramePr>
            <a:graphicFrameLocks noChangeAspect="1"/>
          </p:cNvGraphicFramePr>
          <p:nvPr>
            <p:extLst/>
          </p:nvPr>
        </p:nvGraphicFramePr>
        <p:xfrm>
          <a:off x="2846388" y="558800"/>
          <a:ext cx="4918075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0" name="Equation" r:id="rId4" imgW="2577960" imgH="380880" progId="Equation.DSMT4">
                  <p:embed/>
                </p:oleObj>
              </mc:Choice>
              <mc:Fallback>
                <p:oleObj name="Equation" r:id="rId4" imgW="25779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388" y="558800"/>
                        <a:ext cx="4918075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16" name="Text Box 4"/>
          <p:cNvSpPr txBox="1">
            <a:spLocks noChangeArrowheads="1"/>
          </p:cNvSpPr>
          <p:nvPr/>
        </p:nvSpPr>
        <p:spPr bwMode="auto">
          <a:xfrm>
            <a:off x="1263521" y="1369942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其中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46121" name="Text Box 9"/>
          <p:cNvSpPr txBox="1">
            <a:spLocks noChangeArrowheads="1"/>
          </p:cNvSpPr>
          <p:nvPr/>
        </p:nvSpPr>
        <p:spPr bwMode="auto">
          <a:xfrm>
            <a:off x="1263521" y="2044125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endParaRPr lang="zh-CN" altLang="en-US" sz="2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346122" name="Text Box 10"/>
          <p:cNvSpPr txBox="1">
            <a:spLocks noChangeArrowheads="1"/>
          </p:cNvSpPr>
          <p:nvPr/>
        </p:nvSpPr>
        <p:spPr bwMode="auto">
          <a:xfrm>
            <a:off x="1911483" y="2044125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作变换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46123" name="Object 11"/>
          <p:cNvGraphicFramePr>
            <a:graphicFrameLocks noChangeAspect="1"/>
          </p:cNvGraphicFramePr>
          <p:nvPr>
            <p:extLst/>
          </p:nvPr>
        </p:nvGraphicFramePr>
        <p:xfrm>
          <a:off x="3178175" y="1927328"/>
          <a:ext cx="2266653" cy="1757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1" name="Equation" r:id="rId6" imgW="901440" imgH="698400" progId="Equation.DSMT4">
                  <p:embed/>
                </p:oleObj>
              </mc:Choice>
              <mc:Fallback>
                <p:oleObj name="Equation" r:id="rId6" imgW="90144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8175" y="1927328"/>
                        <a:ext cx="2266653" cy="17579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26" name="Object 14"/>
          <p:cNvGraphicFramePr>
            <a:graphicFrameLocks noChangeAspect="1"/>
          </p:cNvGraphicFramePr>
          <p:nvPr>
            <p:extLst/>
          </p:nvPr>
        </p:nvGraphicFramePr>
        <p:xfrm>
          <a:off x="2377288" y="4264593"/>
          <a:ext cx="4467506" cy="1061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2" name="Equation" r:id="rId8" imgW="2209680" imgH="469800" progId="Equation.DSMT4">
                  <p:embed/>
                </p:oleObj>
              </mc:Choice>
              <mc:Fallback>
                <p:oleObj name="Equation" r:id="rId8" imgW="22096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7288" y="4264593"/>
                        <a:ext cx="4467506" cy="10614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27" name="Object 15"/>
          <p:cNvGraphicFramePr>
            <a:graphicFrameLocks noChangeAspect="1"/>
          </p:cNvGraphicFramePr>
          <p:nvPr>
            <p:extLst/>
          </p:nvPr>
        </p:nvGraphicFramePr>
        <p:xfrm>
          <a:off x="6294438" y="5357813"/>
          <a:ext cx="1279525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3" name="Equation" r:id="rId10" imgW="596880" imgH="406080" progId="Equation.DSMT4">
                  <p:embed/>
                </p:oleObj>
              </mc:Choice>
              <mc:Fallback>
                <p:oleObj name="Equation" r:id="rId10" imgW="596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4438" y="5357813"/>
                        <a:ext cx="1279525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28" name="Object 16"/>
          <p:cNvGraphicFramePr>
            <a:graphicFrameLocks noChangeAspect="1"/>
          </p:cNvGraphicFramePr>
          <p:nvPr>
            <p:extLst/>
          </p:nvPr>
        </p:nvGraphicFramePr>
        <p:xfrm>
          <a:off x="2674138" y="5326070"/>
          <a:ext cx="3606589" cy="902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4" name="Equation" r:id="rId12" imgW="1879560" imgH="406080" progId="Equation.DSMT4">
                  <p:embed/>
                </p:oleObj>
              </mc:Choice>
              <mc:Fallback>
                <p:oleObj name="Equation" r:id="rId12" imgW="18795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4138" y="5326070"/>
                        <a:ext cx="3606589" cy="902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/>
          </p:nvPr>
        </p:nvGraphicFramePr>
        <p:xfrm>
          <a:off x="2095647" y="1428015"/>
          <a:ext cx="8737978" cy="49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5" name="Equation" r:id="rId14" imgW="3555720" imgH="203040" progId="Equation.DSMT4">
                  <p:embed/>
                </p:oleObj>
              </mc:Choice>
              <mc:Fallback>
                <p:oleObj name="Equation" r:id="rId14" imgW="35557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095647" y="1428015"/>
                        <a:ext cx="8737978" cy="499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5655863" y="207688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则有</a:t>
            </a:r>
            <a:endParaRPr lang="zh-CN" altLang="en-US" sz="2800" b="1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/>
          </p:nvPr>
        </p:nvGraphicFramePr>
        <p:xfrm>
          <a:off x="6527356" y="2054394"/>
          <a:ext cx="4092115" cy="1630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6" name="Equation" r:id="rId16" imgW="1752480" imgH="698400" progId="Equation.DSMT4">
                  <p:embed/>
                </p:oleObj>
              </mc:Choice>
              <mc:Fallback>
                <p:oleObj name="Equation" r:id="rId16" imgW="175248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527356" y="2054394"/>
                        <a:ext cx="4092115" cy="16309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/>
          </p:nvPr>
        </p:nvGraphicFramePr>
        <p:xfrm>
          <a:off x="1712913" y="3825876"/>
          <a:ext cx="7859455" cy="513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7" name="Equation" r:id="rId18" imgW="3301920" imgH="215640" progId="Equation.DSMT4">
                  <p:embed/>
                </p:oleObj>
              </mc:Choice>
              <mc:Fallback>
                <p:oleObj name="Equation" r:id="rId18" imgW="3301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712913" y="3825876"/>
                        <a:ext cx="7859455" cy="5136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38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46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46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46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6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21" grpId="0" autoUpdateAnimBg="0"/>
      <p:bldP spid="346122" grpId="0" autoUpdateAnimBg="0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1263521" y="614983"/>
            <a:ext cx="162576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ea typeface="楷体_GB2312" pitchFamily="49" charset="-122"/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ea typeface="楷体_GB2312" pitchFamily="49" charset="-122"/>
              </a:rPr>
              <a:t>4  </a:t>
            </a:r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计算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46115" name="Object 3"/>
          <p:cNvGraphicFramePr>
            <a:graphicFrameLocks noChangeAspect="1"/>
          </p:cNvGraphicFramePr>
          <p:nvPr>
            <p:extLst/>
          </p:nvPr>
        </p:nvGraphicFramePr>
        <p:xfrm>
          <a:off x="3092016" y="486565"/>
          <a:ext cx="3969282" cy="883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4" name="Equation" r:id="rId4" imgW="1955520" imgH="380880" progId="Equation.DSMT4">
                  <p:embed/>
                </p:oleObj>
              </mc:Choice>
              <mc:Fallback>
                <p:oleObj name="Equation" r:id="rId4" imgW="19555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016" y="486565"/>
                        <a:ext cx="3969282" cy="8833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16" name="Text Box 4"/>
          <p:cNvSpPr txBox="1">
            <a:spLocks noChangeArrowheads="1"/>
          </p:cNvSpPr>
          <p:nvPr/>
        </p:nvSpPr>
        <p:spPr bwMode="auto">
          <a:xfrm>
            <a:off x="1263521" y="1369942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其中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46121" name="Text Box 9"/>
          <p:cNvSpPr txBox="1">
            <a:spLocks noChangeArrowheads="1"/>
          </p:cNvSpPr>
          <p:nvPr/>
        </p:nvSpPr>
        <p:spPr bwMode="auto">
          <a:xfrm>
            <a:off x="1263521" y="2044125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endParaRPr lang="zh-CN" altLang="en-US" sz="2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/>
          </p:nvPr>
        </p:nvGraphicFramePr>
        <p:xfrm>
          <a:off x="2674138" y="1408256"/>
          <a:ext cx="5648325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" name="Equation" r:id="rId6" imgW="2298600" imgH="228600" progId="Equation.DSMT4">
                  <p:embed/>
                </p:oleObj>
              </mc:Choice>
              <mc:Fallback>
                <p:oleObj name="Equation" r:id="rId6" imgW="2298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74138" y="1408256"/>
                        <a:ext cx="5648325" cy="560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7349854" y="2070220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故</a:t>
            </a:r>
            <a:endParaRPr lang="zh-CN" altLang="en-US" sz="28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1928177" y="2056865"/>
            <a:ext cx="54216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由于 </a:t>
            </a:r>
            <a:r>
              <a:rPr lang="el-GR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b="1" dirty="0" smtClean="0"/>
              <a:t>关于三个坐标平面对称，</a:t>
            </a:r>
            <a:endParaRPr lang="zh-CN" altLang="en-US" sz="2800" b="1" dirty="0"/>
          </a:p>
        </p:txBody>
      </p:sp>
      <p:graphicFrame>
        <p:nvGraphicFramePr>
          <p:cNvPr id="1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985434"/>
              </p:ext>
            </p:extLst>
          </p:nvPr>
        </p:nvGraphicFramePr>
        <p:xfrm>
          <a:off x="1979613" y="2579688"/>
          <a:ext cx="6573837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6" name="Equation" r:id="rId8" imgW="3238200" imgH="380880" progId="Equation.DSMT4">
                  <p:embed/>
                </p:oleObj>
              </mc:Choice>
              <mc:Fallback>
                <p:oleObj name="Equation" r:id="rId8" imgW="32382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579688"/>
                        <a:ext cx="6573837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"/>
          <p:cNvGraphicFramePr>
            <a:graphicFrameLocks noChangeAspect="1"/>
          </p:cNvGraphicFramePr>
          <p:nvPr>
            <p:extLst/>
          </p:nvPr>
        </p:nvGraphicFramePr>
        <p:xfrm>
          <a:off x="1116800" y="3481247"/>
          <a:ext cx="4314182" cy="8690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7" name="Equation" r:id="rId10" imgW="2158920" imgH="380880" progId="Equation.DSMT4">
                  <p:embed/>
                </p:oleObj>
              </mc:Choice>
              <mc:Fallback>
                <p:oleObj name="Equation" r:id="rId10" imgW="2158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800" y="3481247"/>
                        <a:ext cx="4314182" cy="8690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"/>
          <p:cNvGraphicFramePr>
            <a:graphicFrameLocks noChangeAspect="1"/>
          </p:cNvGraphicFramePr>
          <p:nvPr>
            <p:extLst/>
          </p:nvPr>
        </p:nvGraphicFramePr>
        <p:xfrm>
          <a:off x="5430982" y="3473672"/>
          <a:ext cx="4383087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8" name="Equation" r:id="rId12" imgW="2158920" imgH="380880" progId="Equation.DSMT4">
                  <p:embed/>
                </p:oleObj>
              </mc:Choice>
              <mc:Fallback>
                <p:oleObj name="Equation" r:id="rId12" imgW="2158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0982" y="3473672"/>
                        <a:ext cx="4383087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"/>
          <p:cNvGraphicFramePr>
            <a:graphicFrameLocks noChangeAspect="1"/>
          </p:cNvGraphicFramePr>
          <p:nvPr>
            <p:extLst/>
          </p:nvPr>
        </p:nvGraphicFramePr>
        <p:xfrm>
          <a:off x="1336941" y="4399983"/>
          <a:ext cx="4086225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9" name="Equation" r:id="rId14" imgW="2044440" imgH="380880" progId="Equation.DSMT4">
                  <p:embed/>
                </p:oleObj>
              </mc:Choice>
              <mc:Fallback>
                <p:oleObj name="Equation" r:id="rId14" imgW="2044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6941" y="4399983"/>
                        <a:ext cx="4086225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10"/>
          <p:cNvSpPr txBox="1">
            <a:spLocks noChangeArrowheads="1"/>
          </p:cNvSpPr>
          <p:nvPr/>
        </p:nvSpPr>
        <p:spPr bwMode="auto">
          <a:xfrm>
            <a:off x="1101635" y="5488681"/>
            <a:ext cx="304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作广义球坐标变换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3" name="Object 11"/>
          <p:cNvGraphicFramePr>
            <a:graphicFrameLocks noChangeAspect="1"/>
          </p:cNvGraphicFramePr>
          <p:nvPr>
            <p:extLst/>
          </p:nvPr>
        </p:nvGraphicFramePr>
        <p:xfrm>
          <a:off x="4440238" y="4954588"/>
          <a:ext cx="3335337" cy="168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0" name="Equation" r:id="rId16" imgW="1384200" imgH="698400" progId="Equation.DSMT4">
                  <p:embed/>
                </p:oleObj>
              </mc:Choice>
              <mc:Fallback>
                <p:oleObj name="Equation" r:id="rId16" imgW="138420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4954588"/>
                        <a:ext cx="3335337" cy="168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9309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21" grpId="0" autoUpdateAnimBg="0"/>
      <p:bldP spid="3" grpId="0"/>
      <p:bldP spid="5" grpId="0"/>
      <p:bldP spid="2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3"/>
          <p:cNvGraphicFramePr>
            <a:graphicFrameLocks noChangeAspect="1"/>
          </p:cNvGraphicFramePr>
          <p:nvPr>
            <p:extLst/>
          </p:nvPr>
        </p:nvGraphicFramePr>
        <p:xfrm>
          <a:off x="2581275" y="1214438"/>
          <a:ext cx="20701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0" name="Equation" r:id="rId3" imgW="838080" imgH="228600" progId="Equation.DSMT4">
                  <p:embed/>
                </p:oleObj>
              </mc:Choice>
              <mc:Fallback>
                <p:oleObj name="Equation" r:id="rId3" imgW="838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1275" y="1214438"/>
                        <a:ext cx="207010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2"/>
          <p:cNvSpPr txBox="1">
            <a:spLocks noChangeArrowheads="1"/>
          </p:cNvSpPr>
          <p:nvPr/>
        </p:nvSpPr>
        <p:spPr bwMode="auto">
          <a:xfrm>
            <a:off x="1582877" y="1255022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则有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/>
          </p:nvPr>
        </p:nvGraphicFramePr>
        <p:xfrm>
          <a:off x="1508985" y="1950069"/>
          <a:ext cx="881221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1" name="Equation" r:id="rId6" imgW="3441600" imgH="215640" progId="Equation.DSMT4">
                  <p:embed/>
                </p:oleObj>
              </mc:Choice>
              <mc:Fallback>
                <p:oleObj name="Equation" r:id="rId6" imgW="3441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08985" y="1950069"/>
                        <a:ext cx="8812213" cy="552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402538" y="2674346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于是，</a:t>
            </a:r>
            <a:endParaRPr lang="zh-CN" altLang="en-US" sz="2800" b="1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/>
          </p:nvPr>
        </p:nvGraphicFramePr>
        <p:xfrm>
          <a:off x="1773381" y="3197566"/>
          <a:ext cx="5431692" cy="802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2" name="Equation" r:id="rId8" imgW="2234880" imgH="330120" progId="Equation.DSMT4">
                  <p:embed/>
                </p:oleObj>
              </mc:Choice>
              <mc:Fallback>
                <p:oleObj name="Equation" r:id="rId8" imgW="22348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73381" y="3197566"/>
                        <a:ext cx="5431692" cy="8024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/>
          </p:nvPr>
        </p:nvGraphicFramePr>
        <p:xfrm>
          <a:off x="2071832" y="4116638"/>
          <a:ext cx="4534674" cy="813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3" name="Equation" r:id="rId10" imgW="1841400" imgH="330120" progId="Equation.DSMT4">
                  <p:embed/>
                </p:oleObj>
              </mc:Choice>
              <mc:Fallback>
                <p:oleObj name="Equation" r:id="rId10" imgW="18414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071832" y="4116638"/>
                        <a:ext cx="4534674" cy="8131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/>
          </p:nvPr>
        </p:nvGraphicFramePr>
        <p:xfrm>
          <a:off x="2110431" y="5046414"/>
          <a:ext cx="1239980" cy="901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4" name="Equation" r:id="rId12" imgW="558720" imgH="406080" progId="Equation.DSMT4">
                  <p:embed/>
                </p:oleObj>
              </mc:Choice>
              <mc:Fallback>
                <p:oleObj name="Equation" r:id="rId12" imgW="5587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10431" y="5046414"/>
                        <a:ext cx="1239980" cy="9018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959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1227681" y="604283"/>
            <a:ext cx="162576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ea typeface="楷体_GB2312" pitchFamily="49" charset="-122"/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ea typeface="楷体_GB2312" pitchFamily="49" charset="-122"/>
              </a:rPr>
              <a:t>5  </a:t>
            </a:r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计算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46115" name="Object 3"/>
          <p:cNvGraphicFramePr>
            <a:graphicFrameLocks noChangeAspect="1"/>
          </p:cNvGraphicFramePr>
          <p:nvPr>
            <p:extLst/>
          </p:nvPr>
        </p:nvGraphicFramePr>
        <p:xfrm>
          <a:off x="3273891" y="467237"/>
          <a:ext cx="3221037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2" name="Equation" r:id="rId4" imgW="1587240" imgH="393480" progId="Equation.DSMT4">
                  <p:embed/>
                </p:oleObj>
              </mc:Choice>
              <mc:Fallback>
                <p:oleObj name="Equation" r:id="rId4" imgW="158724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3891" y="467237"/>
                        <a:ext cx="3221037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16" name="Text Box 4"/>
          <p:cNvSpPr txBox="1">
            <a:spLocks noChangeArrowheads="1"/>
          </p:cNvSpPr>
          <p:nvPr/>
        </p:nvSpPr>
        <p:spPr bwMode="auto">
          <a:xfrm>
            <a:off x="1306158" y="1247212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其中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46121" name="Text Box 9"/>
          <p:cNvSpPr txBox="1">
            <a:spLocks noChangeArrowheads="1"/>
          </p:cNvSpPr>
          <p:nvPr/>
        </p:nvSpPr>
        <p:spPr bwMode="auto">
          <a:xfrm>
            <a:off x="1263521" y="2044125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endParaRPr lang="zh-CN" altLang="en-US" sz="2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/>
          </p:nvPr>
        </p:nvGraphicFramePr>
        <p:xfrm>
          <a:off x="2433003" y="1268655"/>
          <a:ext cx="539750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3" name="Equation" r:id="rId6" imgW="2197080" imgH="228600" progId="Equation.DSMT4">
                  <p:embed/>
                </p:oleObj>
              </mc:Choice>
              <mc:Fallback>
                <p:oleObj name="Equation" r:id="rId6" imgW="2197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33003" y="1268655"/>
                        <a:ext cx="5397500" cy="560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10"/>
          <p:cNvSpPr txBox="1">
            <a:spLocks noChangeArrowheads="1"/>
          </p:cNvSpPr>
          <p:nvPr/>
        </p:nvSpPr>
        <p:spPr bwMode="auto">
          <a:xfrm>
            <a:off x="1911533" y="2052737"/>
            <a:ext cx="19880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作坐标变换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3" name="Object 11"/>
          <p:cNvGraphicFramePr>
            <a:graphicFrameLocks noChangeAspect="1"/>
          </p:cNvGraphicFramePr>
          <p:nvPr>
            <p:extLst/>
          </p:nvPr>
        </p:nvGraphicFramePr>
        <p:xfrm>
          <a:off x="4440238" y="1870075"/>
          <a:ext cx="3152775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4" name="Equation" r:id="rId8" imgW="1307880" imgH="698400" progId="Equation.DSMT4">
                  <p:embed/>
                </p:oleObj>
              </mc:Choice>
              <mc:Fallback>
                <p:oleObj name="Equation" r:id="rId8" imgW="130788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1870075"/>
                        <a:ext cx="3152775" cy="168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1351849" y="3300549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则有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" name="Object 13"/>
          <p:cNvGraphicFramePr>
            <a:graphicFrameLocks noChangeAspect="1"/>
          </p:cNvGraphicFramePr>
          <p:nvPr>
            <p:extLst/>
          </p:nvPr>
        </p:nvGraphicFramePr>
        <p:xfrm>
          <a:off x="2373313" y="3300413"/>
          <a:ext cx="188277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5" name="Equation" r:id="rId10" imgW="761760" imgH="228600" progId="Equation.DSMT4">
                  <p:embed/>
                </p:oleObj>
              </mc:Choice>
              <mc:Fallback>
                <p:oleObj name="Equation" r:id="rId10" imgW="761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3313" y="3300413"/>
                        <a:ext cx="188277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/>
          </p:nvPr>
        </p:nvGraphicFramePr>
        <p:xfrm>
          <a:off x="1306158" y="3934468"/>
          <a:ext cx="881221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6" name="Equation" r:id="rId12" imgW="3441600" imgH="215640" progId="Equation.DSMT4">
                  <p:embed/>
                </p:oleObj>
              </mc:Choice>
              <mc:Fallback>
                <p:oleObj name="Equation" r:id="rId12" imgW="3441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306158" y="3934468"/>
                        <a:ext cx="8812213" cy="552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1278186" y="4482856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于是，</a:t>
            </a:r>
            <a:endParaRPr lang="zh-CN" altLang="en-US" sz="2800" b="1" dirty="0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461357"/>
              </p:ext>
            </p:extLst>
          </p:nvPr>
        </p:nvGraphicFramePr>
        <p:xfrm>
          <a:off x="1279525" y="5033963"/>
          <a:ext cx="549275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7" name="Equation" r:id="rId14" imgW="2260440" imgH="330120" progId="Equation.DSMT4">
                  <p:embed/>
                </p:oleObj>
              </mc:Choice>
              <mc:Fallback>
                <p:oleObj name="Equation" r:id="rId14" imgW="22604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279525" y="5033963"/>
                        <a:ext cx="5492750" cy="803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/>
          </p:nvPr>
        </p:nvGraphicFramePr>
        <p:xfrm>
          <a:off x="6712744" y="5045348"/>
          <a:ext cx="359568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8" name="Equation" r:id="rId16" imgW="1460160" imgH="330120" progId="Equation.DSMT4">
                  <p:embed/>
                </p:oleObj>
              </mc:Choice>
              <mc:Fallback>
                <p:oleObj name="Equation" r:id="rId16" imgW="146016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712744" y="5045348"/>
                        <a:ext cx="3595687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/>
          </p:nvPr>
        </p:nvGraphicFramePr>
        <p:xfrm>
          <a:off x="10219135" y="4990579"/>
          <a:ext cx="868363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9" name="Equation" r:id="rId18" imgW="393480" imgH="419040" progId="Equation.DSMT4">
                  <p:embed/>
                </p:oleObj>
              </mc:Choice>
              <mc:Fallback>
                <p:oleObj name="Equation" r:id="rId18" imgW="3934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0219135" y="4990579"/>
                        <a:ext cx="868363" cy="922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6700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21" grpId="0" autoUpdateAnimBg="0"/>
      <p:bldP spid="22" grpId="0" autoUpdateAnimBg="0"/>
      <p:bldP spid="15" grpId="0" autoUpdateAnimBg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1177503" y="815996"/>
            <a:ext cx="162576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ea typeface="楷体_GB2312" pitchFamily="49" charset="-122"/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ea typeface="楷体_GB2312" pitchFamily="49" charset="-122"/>
              </a:rPr>
              <a:t>6  </a:t>
            </a:r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计算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461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9385017"/>
              </p:ext>
            </p:extLst>
          </p:nvPr>
        </p:nvGraphicFramePr>
        <p:xfrm>
          <a:off x="3147401" y="774464"/>
          <a:ext cx="2447925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6" name="Equation" r:id="rId4" imgW="1206360" imgH="380880" progId="Equation.DSMT4">
                  <p:embed/>
                </p:oleObj>
              </mc:Choice>
              <mc:Fallback>
                <p:oleObj name="Equation" r:id="rId4" imgW="12063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7401" y="774464"/>
                        <a:ext cx="2447925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16" name="Text Box 4"/>
          <p:cNvSpPr txBox="1">
            <a:spLocks noChangeArrowheads="1"/>
          </p:cNvSpPr>
          <p:nvPr/>
        </p:nvSpPr>
        <p:spPr bwMode="auto">
          <a:xfrm>
            <a:off x="1247499" y="1598557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其中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46121" name="Text Box 9"/>
          <p:cNvSpPr txBox="1">
            <a:spLocks noChangeArrowheads="1"/>
          </p:cNvSpPr>
          <p:nvPr/>
        </p:nvSpPr>
        <p:spPr bwMode="auto">
          <a:xfrm>
            <a:off x="1172775" y="2600721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endParaRPr lang="zh-CN" altLang="en-US" sz="20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4327720"/>
              </p:ext>
            </p:extLst>
          </p:nvPr>
        </p:nvGraphicFramePr>
        <p:xfrm>
          <a:off x="2772810" y="1661516"/>
          <a:ext cx="4649788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7" name="Equation" r:id="rId6" imgW="1892160" imgH="228600" progId="Equation.DSMT4">
                  <p:embed/>
                </p:oleObj>
              </mc:Choice>
              <mc:Fallback>
                <p:oleObj name="Equation" r:id="rId6" imgW="1892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72810" y="1661516"/>
                        <a:ext cx="4649788" cy="560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10"/>
          <p:cNvSpPr txBox="1">
            <a:spLocks noChangeArrowheads="1"/>
          </p:cNvSpPr>
          <p:nvPr/>
        </p:nvSpPr>
        <p:spPr bwMode="auto">
          <a:xfrm>
            <a:off x="1841828" y="2583639"/>
            <a:ext cx="19880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作坐标变换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70083"/>
              </p:ext>
            </p:extLst>
          </p:nvPr>
        </p:nvGraphicFramePr>
        <p:xfrm>
          <a:off x="4446079" y="2077729"/>
          <a:ext cx="3016250" cy="1611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8" name="Equation" r:id="rId8" imgW="1307880" imgH="698400" progId="Equation.DSMT4">
                  <p:embed/>
                </p:oleObj>
              </mc:Choice>
              <mc:Fallback>
                <p:oleObj name="Equation" r:id="rId8" imgW="130788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6079" y="2077729"/>
                        <a:ext cx="3016250" cy="16114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1300419" y="3465625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则有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667139"/>
              </p:ext>
            </p:extLst>
          </p:nvPr>
        </p:nvGraphicFramePr>
        <p:xfrm>
          <a:off x="2530214" y="3445454"/>
          <a:ext cx="188277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9" name="Equation" r:id="rId10" imgW="761760" imgH="228600" progId="Equation.DSMT4">
                  <p:embed/>
                </p:oleObj>
              </mc:Choice>
              <mc:Fallback>
                <p:oleObj name="Equation" r:id="rId10" imgW="761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214" y="3445454"/>
                        <a:ext cx="188277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3178413"/>
              </p:ext>
            </p:extLst>
          </p:nvPr>
        </p:nvGraphicFramePr>
        <p:xfrm>
          <a:off x="1261104" y="4062718"/>
          <a:ext cx="8623460" cy="540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0" name="Equation" r:id="rId12" imgW="3441600" imgH="215640" progId="Equation.DSMT4">
                  <p:embed/>
                </p:oleObj>
              </mc:Choice>
              <mc:Fallback>
                <p:oleObj name="Equation" r:id="rId12" imgW="34416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261104" y="4062718"/>
                        <a:ext cx="8623460" cy="540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1132746" y="4706316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于是，</a:t>
            </a:r>
            <a:endParaRPr lang="zh-CN" altLang="en-US" sz="2800" b="1" dirty="0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3236681"/>
              </p:ext>
            </p:extLst>
          </p:nvPr>
        </p:nvGraphicFramePr>
        <p:xfrm>
          <a:off x="2530214" y="4553771"/>
          <a:ext cx="583247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1" name="Equation" r:id="rId14" imgW="2400120" imgH="330120" progId="Equation.DSMT4">
                  <p:embed/>
                </p:oleObj>
              </mc:Choice>
              <mc:Fallback>
                <p:oleObj name="Equation" r:id="rId14" imgW="240012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530214" y="4553771"/>
                        <a:ext cx="5832475" cy="803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7503678"/>
              </p:ext>
            </p:extLst>
          </p:nvPr>
        </p:nvGraphicFramePr>
        <p:xfrm>
          <a:off x="2167121" y="5326807"/>
          <a:ext cx="440848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2" name="Equation" r:id="rId16" imgW="1790640" imgH="330120" progId="Equation.DSMT4">
                  <p:embed/>
                </p:oleObj>
              </mc:Choice>
              <mc:Fallback>
                <p:oleObj name="Equation" r:id="rId16" imgW="179064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167121" y="5326807"/>
                        <a:ext cx="4408487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4227705"/>
              </p:ext>
            </p:extLst>
          </p:nvPr>
        </p:nvGraphicFramePr>
        <p:xfrm>
          <a:off x="6547888" y="5326807"/>
          <a:ext cx="896937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3" name="Equation" r:id="rId18" imgW="406080" imgH="406080" progId="Equation.DSMT4">
                  <p:embed/>
                </p:oleObj>
              </mc:Choice>
              <mc:Fallback>
                <p:oleObj name="Equation" r:id="rId18" imgW="4060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547888" y="5326807"/>
                        <a:ext cx="896937" cy="895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/>
          <p:cNvGrpSpPr/>
          <p:nvPr/>
        </p:nvGrpSpPr>
        <p:grpSpPr>
          <a:xfrm>
            <a:off x="4388931" y="560322"/>
            <a:ext cx="929319" cy="914400"/>
            <a:chOff x="4631052" y="225262"/>
            <a:chExt cx="929319" cy="914400"/>
          </a:xfrm>
        </p:grpSpPr>
        <p:sp>
          <p:nvSpPr>
            <p:cNvPr id="11" name="弧形 10"/>
            <p:cNvSpPr/>
            <p:nvPr/>
          </p:nvSpPr>
          <p:spPr>
            <a:xfrm rot="17775298">
              <a:off x="4645971" y="225262"/>
              <a:ext cx="914400" cy="914400"/>
            </a:xfrm>
            <a:prstGeom prst="arc">
              <a:avLst>
                <a:gd name="adj1" fmla="val 16200000"/>
                <a:gd name="adj2" fmla="val 20285133"/>
              </a:avLst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箭头连接符 12"/>
            <p:cNvCxnSpPr/>
            <p:nvPr/>
          </p:nvCxnSpPr>
          <p:spPr>
            <a:xfrm flipH="1">
              <a:off x="4631052" y="473338"/>
              <a:ext cx="65904" cy="138635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4846163" y="436135"/>
            <a:ext cx="3271060" cy="446761"/>
            <a:chOff x="6597157" y="511737"/>
            <a:chExt cx="3271060" cy="446761"/>
          </a:xfrm>
        </p:grpSpPr>
        <p:sp>
          <p:nvSpPr>
            <p:cNvPr id="27" name="圆角矩形 26"/>
            <p:cNvSpPr/>
            <p:nvPr/>
          </p:nvSpPr>
          <p:spPr>
            <a:xfrm>
              <a:off x="6597157" y="511737"/>
              <a:ext cx="3114042" cy="446761"/>
            </a:xfrm>
            <a:prstGeom prst="roundRect">
              <a:avLst/>
            </a:prstGeom>
            <a:noFill/>
            <a:ln w="28575">
              <a:solidFill>
                <a:srgbClr val="00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6597157" y="550452"/>
              <a:ext cx="32710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 </a:t>
              </a:r>
              <a:r>
                <a:rPr lang="zh-CN" altLang="en-US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换成 </a:t>
              </a:r>
              <a:r>
                <a:rPr lang="en-US" altLang="zh-CN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2022,</a:t>
              </a:r>
              <a:r>
                <a:rPr lang="zh-CN" altLang="en-US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换成 </a:t>
              </a:r>
              <a:r>
                <a:rPr lang="en-US" altLang="zh-CN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b="1" i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n, </a:t>
              </a:r>
              <a:r>
                <a:rPr lang="zh-CN" altLang="en-US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试一下！</a:t>
              </a:r>
              <a:endPara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196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21" grpId="0" autoUpdateAnimBg="0"/>
      <p:bldP spid="22" grpId="0" autoUpdateAnimBg="0"/>
      <p:bldP spid="15" grpId="0" autoUpdateAnimBg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1132188" y="776433"/>
            <a:ext cx="17171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ea typeface="楷体_GB2312" pitchFamily="49" charset="-122"/>
              </a:rPr>
              <a:t>练习 </a:t>
            </a:r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计算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46115" name="Object 3"/>
          <p:cNvGraphicFramePr>
            <a:graphicFrameLocks noChangeAspect="1"/>
          </p:cNvGraphicFramePr>
          <p:nvPr>
            <p:extLst/>
          </p:nvPr>
        </p:nvGraphicFramePr>
        <p:xfrm>
          <a:off x="2849325" y="710723"/>
          <a:ext cx="2447925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0" name="Equation" r:id="rId4" imgW="1206360" imgH="380880" progId="Equation.DSMT4">
                  <p:embed/>
                </p:oleObj>
              </mc:Choice>
              <mc:Fallback>
                <p:oleObj name="Equation" r:id="rId4" imgW="12063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9325" y="710723"/>
                        <a:ext cx="2447925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16" name="Text Box 4"/>
          <p:cNvSpPr txBox="1">
            <a:spLocks noChangeArrowheads="1"/>
          </p:cNvSpPr>
          <p:nvPr/>
        </p:nvSpPr>
        <p:spPr bwMode="auto">
          <a:xfrm>
            <a:off x="1332284" y="2018185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其中</a:t>
            </a:r>
            <a:endParaRPr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/>
          </p:nvPr>
        </p:nvGraphicFramePr>
        <p:xfrm>
          <a:off x="2800906" y="1657495"/>
          <a:ext cx="4992688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1" name="Equation" r:id="rId6" imgW="2031840" imgH="507960" progId="Equation.DSMT4">
                  <p:embed/>
                </p:oleObj>
              </mc:Choice>
              <mc:Fallback>
                <p:oleObj name="Equation" r:id="rId6" imgW="203184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00906" y="1657495"/>
                        <a:ext cx="4992688" cy="124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39585-CF94-4127-9E2B-D1A9CAAC317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83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6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16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2106</TotalTime>
  <Words>157</Words>
  <Application>Microsoft Office PowerPoint</Application>
  <PresentationFormat>宽屏</PresentationFormat>
  <Paragraphs>61</Paragraphs>
  <Slides>12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楷体_GB2312</vt:lpstr>
      <vt:lpstr>宋体</vt:lpstr>
      <vt:lpstr>Arial</vt:lpstr>
      <vt:lpstr>Calibri</vt:lpstr>
      <vt:lpstr>Calibri Light</vt:lpstr>
      <vt:lpstr>Times New Roman</vt:lpstr>
      <vt:lpstr>Office 主题</vt:lpstr>
      <vt:lpstr>公式</vt:lpstr>
      <vt:lpstr>Equation</vt:lpstr>
      <vt:lpstr>2.5、三重积分换元法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2.5、三重积分换元法</dc:title>
  <dc:creator>dell</dc:creator>
  <cp:lastModifiedBy>Microsoft 帐户</cp:lastModifiedBy>
  <cp:revision>11</cp:revision>
  <dcterms:created xsi:type="dcterms:W3CDTF">2021-03-13T15:40:24Z</dcterms:created>
  <dcterms:modified xsi:type="dcterms:W3CDTF">2022-03-30T06:46:40Z</dcterms:modified>
</cp:coreProperties>
</file>