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8" r:id="rId2"/>
    <p:sldId id="279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7" r:id="rId13"/>
    <p:sldId id="272" r:id="rId14"/>
    <p:sldId id="273" r:id="rId15"/>
    <p:sldId id="274" r:id="rId16"/>
    <p:sldId id="275" r:id="rId17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114" d="100"/>
          <a:sy n="114" d="100"/>
        </p:scale>
        <p:origin x="108" y="1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6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e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emf"/><Relationship Id="rId1" Type="http://schemas.openxmlformats.org/officeDocument/2006/relationships/image" Target="../media/image16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4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emf"/><Relationship Id="rId4" Type="http://schemas.openxmlformats.org/officeDocument/2006/relationships/image" Target="../media/image34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4" Type="http://schemas.openxmlformats.org/officeDocument/2006/relationships/image" Target="../media/image4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7" Type="http://schemas.openxmlformats.org/officeDocument/2006/relationships/image" Target="../media/image48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xmlns="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2022/2/22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xmlns="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2022/2/22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xmlns="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xmlns="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2022/2/22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2022/2/22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2022/2/22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xmlns="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2022/2/22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xmlns="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xmlns="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xmlns="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2022/2/22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xmlns="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xmlns="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xmlns="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2022/2/22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xmlns="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xmlns="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xmlns="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2022/2/22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xmlns="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xmlns="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xmlns="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2022/2/22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xmlns="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xmlns="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xmlns="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2022/2/22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xmlns="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xmlns="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2022/2/22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2022/2/22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6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xmlns="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xmlns="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2022/2/22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7.bin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9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Microsoft_Word_97_-_2003___1.doc"/><Relationship Id="rId15" Type="http://schemas.openxmlformats.org/officeDocument/2006/relationships/oleObject" Target="../embeddings/oleObject8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__2.doc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3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e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5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0.emf"/><Relationship Id="rId5" Type="http://schemas.openxmlformats.org/officeDocument/2006/relationships/oleObject" Target="../embeddings/Microsoft_Word_97_-_2003___3.doc"/><Relationship Id="rId4" Type="http://schemas.openxmlformats.org/officeDocument/2006/relationships/image" Target="../media/image2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4.wmf"/><Relationship Id="rId4" Type="http://schemas.openxmlformats.org/officeDocument/2006/relationships/image" Target="../media/image31.emf"/><Relationship Id="rId9" Type="http://schemas.openxmlformats.org/officeDocument/2006/relationships/oleObject" Target="../embeddings/oleObject3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Microsoft_Word_97_-_2003___4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5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41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37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43.bin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4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8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5" Type="http://schemas.openxmlformats.org/officeDocument/2006/relationships/oleObject" Target="../embeddings/oleObject44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4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5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42" name="Text Box 18"/>
          <p:cNvSpPr txBox="1">
            <a:spLocks noChangeArrowheads="1"/>
          </p:cNvSpPr>
          <p:nvPr/>
        </p:nvSpPr>
        <p:spPr bwMode="auto">
          <a:xfrm>
            <a:off x="2711624" y="2708920"/>
            <a:ext cx="6362550" cy="707886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第五节</a:t>
            </a:r>
            <a:r>
              <a:rPr lang="zh-CN" altLang="en-US" sz="4000" b="1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多元函数的泰勒公式</a:t>
            </a:r>
            <a:endParaRPr lang="zh-CN" altLang="en-US" sz="4000" b="1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056440" y="404664"/>
            <a:ext cx="1375698" cy="523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8</a:t>
            </a:r>
            <a:endParaRPr lang="zh-CN" altLang="en-US" sz="2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0589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351584" y="683097"/>
            <a:ext cx="3240856" cy="575791"/>
          </a:xfrm>
        </p:spPr>
        <p:txBody>
          <a:bodyPr/>
          <a:lstStyle/>
          <a:p>
            <a:pPr algn="l"/>
            <a:r>
              <a:rPr lang="zh-CN" alt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一、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问题的提出  </a:t>
            </a:r>
          </a:p>
        </p:txBody>
      </p:sp>
      <p:graphicFrame>
        <p:nvGraphicFramePr>
          <p:cNvPr id="38915" name="Object 3"/>
          <p:cNvGraphicFramePr>
            <a:graphicFrameLocks noChangeAspect="1"/>
          </p:cNvGraphicFramePr>
          <p:nvPr>
            <p:extLst/>
          </p:nvPr>
        </p:nvGraphicFramePr>
        <p:xfrm>
          <a:off x="2287764" y="2206482"/>
          <a:ext cx="7583487" cy="245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2" name="Equation" r:id="rId3" imgW="7581600" imgH="2450880" progId="Equation.DSMT4">
                  <p:embed/>
                </p:oleObj>
              </mc:Choice>
              <mc:Fallback>
                <p:oleObj name="Equation" r:id="rId3" imgW="7581600" imgH="245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7764" y="2206482"/>
                        <a:ext cx="7583487" cy="245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2287764" y="1473129"/>
            <a:ext cx="594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/>
              <a:t>一元函数的泰勒公式：</a:t>
            </a:r>
          </a:p>
        </p:txBody>
      </p:sp>
      <p:graphicFrame>
        <p:nvGraphicFramePr>
          <p:cNvPr id="38917" name="Object 5"/>
          <p:cNvGraphicFramePr>
            <a:graphicFrameLocks noChangeAspect="1"/>
          </p:cNvGraphicFramePr>
          <p:nvPr/>
        </p:nvGraphicFramePr>
        <p:xfrm>
          <a:off x="2438400" y="4760913"/>
          <a:ext cx="7410450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3" name="文档" r:id="rId5" imgW="7413480" imgH="1352160" progId="Word.Document.8">
                  <p:embed/>
                </p:oleObj>
              </mc:Choice>
              <mc:Fallback>
                <p:oleObj name="文档" r:id="rId5" imgW="7413480" imgH="13521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760913"/>
                        <a:ext cx="7410450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936065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4" name="Group 14"/>
          <p:cNvGrpSpPr>
            <a:grpSpLocks/>
          </p:cNvGrpSpPr>
          <p:nvPr/>
        </p:nvGrpSpPr>
        <p:grpSpPr bwMode="auto">
          <a:xfrm>
            <a:off x="2424113" y="3838575"/>
            <a:ext cx="7415212" cy="527050"/>
            <a:chOff x="567" y="2341"/>
            <a:chExt cx="4671" cy="332"/>
          </a:xfrm>
        </p:grpSpPr>
        <p:sp>
          <p:nvSpPr>
            <p:cNvPr id="5128" name="Text Box 8"/>
            <p:cNvSpPr txBox="1">
              <a:spLocks noChangeArrowheads="1"/>
            </p:cNvSpPr>
            <p:nvPr/>
          </p:nvSpPr>
          <p:spPr bwMode="auto">
            <a:xfrm>
              <a:off x="567" y="2341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证</a:t>
              </a:r>
              <a:endParaRPr lang="zh-CN" altLang="en-US" b="1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129" name="Text Box 9"/>
            <p:cNvSpPr txBox="1">
              <a:spLocks noChangeArrowheads="1"/>
            </p:cNvSpPr>
            <p:nvPr/>
          </p:nvSpPr>
          <p:spPr bwMode="auto">
            <a:xfrm>
              <a:off x="975" y="2341"/>
              <a:ext cx="15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/>
                <a:t>引入函数</a:t>
              </a:r>
            </a:p>
          </p:txBody>
        </p:sp>
        <p:graphicFrame>
          <p:nvGraphicFramePr>
            <p:cNvPr id="5130" name="Object 10"/>
            <p:cNvGraphicFramePr>
              <a:graphicFrameLocks noChangeAspect="1"/>
            </p:cNvGraphicFramePr>
            <p:nvPr/>
          </p:nvGraphicFramePr>
          <p:xfrm>
            <a:off x="2018" y="2387"/>
            <a:ext cx="3220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1" name="Equation" r:id="rId3" imgW="2286000" imgH="203040" progId="Equation.DSMT4">
                    <p:embed/>
                  </p:oleObj>
                </mc:Choice>
                <mc:Fallback>
                  <p:oleObj name="Equation" r:id="rId3" imgW="22860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2387"/>
                          <a:ext cx="3220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1873619"/>
              </p:ext>
            </p:extLst>
          </p:nvPr>
        </p:nvGraphicFramePr>
        <p:xfrm>
          <a:off x="2424112" y="972247"/>
          <a:ext cx="7923087" cy="1972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" name="Document" r:id="rId5" imgW="7730918" imgH="1930269" progId="Word.Document.8">
                  <p:embed/>
                </p:oleObj>
              </mc:Choice>
              <mc:Fallback>
                <p:oleObj name="Document" r:id="rId5" imgW="7730918" imgH="193026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2" y="972247"/>
                        <a:ext cx="7923087" cy="19725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Rectangle 5"/>
          <p:cNvSpPr>
            <a:spLocks noGrp="1" noChangeArrowheads="1"/>
          </p:cNvSpPr>
          <p:nvPr>
            <p:ph type="title"/>
          </p:nvPr>
        </p:nvSpPr>
        <p:spPr>
          <a:xfrm>
            <a:off x="2143059" y="319684"/>
            <a:ext cx="4679999" cy="576362"/>
          </a:xfrm>
          <a:noFill/>
        </p:spPr>
        <p:txBody>
          <a:bodyPr/>
          <a:lstStyle/>
          <a:p>
            <a:pPr algn="l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二、中值定理和泰勒公式</a:t>
            </a:r>
          </a:p>
        </p:txBody>
      </p:sp>
      <p:graphicFrame>
        <p:nvGraphicFramePr>
          <p:cNvPr id="5135" name="Object 15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67547922"/>
              </p:ext>
            </p:extLst>
          </p:nvPr>
        </p:nvGraphicFramePr>
        <p:xfrm>
          <a:off x="3000376" y="5503863"/>
          <a:ext cx="669607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3" name="Equation" r:id="rId7" imgW="2743200" imgH="241200" progId="Equation.DSMT4">
                  <p:embed/>
                </p:oleObj>
              </mc:Choice>
              <mc:Fallback>
                <p:oleObj name="Equation" r:id="rId7" imgW="2743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5503863"/>
                        <a:ext cx="6696075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511478"/>
              </p:ext>
            </p:extLst>
          </p:nvPr>
        </p:nvGraphicFramePr>
        <p:xfrm>
          <a:off x="2424113" y="2809875"/>
          <a:ext cx="774700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4" name="Equation" r:id="rId9" imgW="3429000" imgH="457200" progId="Equation.DSMT4">
                  <p:embed/>
                </p:oleObj>
              </mc:Choice>
              <mc:Fallback>
                <p:oleObj name="Equation" r:id="rId9" imgW="3429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2809875"/>
                        <a:ext cx="7747000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37" name="Group 17"/>
          <p:cNvGrpSpPr>
            <a:grpSpLocks/>
          </p:cNvGrpSpPr>
          <p:nvPr/>
        </p:nvGrpSpPr>
        <p:grpSpPr bwMode="auto">
          <a:xfrm>
            <a:off x="2640014" y="4422775"/>
            <a:ext cx="7777162" cy="534988"/>
            <a:chOff x="567" y="2704"/>
            <a:chExt cx="4899" cy="337"/>
          </a:xfrm>
        </p:grpSpPr>
        <p:sp>
          <p:nvSpPr>
            <p:cNvPr id="5131" name="Text Box 11"/>
            <p:cNvSpPr txBox="1">
              <a:spLocks noChangeArrowheads="1"/>
            </p:cNvSpPr>
            <p:nvPr/>
          </p:nvSpPr>
          <p:spPr bwMode="auto">
            <a:xfrm>
              <a:off x="567" y="2704"/>
              <a:ext cx="489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/>
                <a:t>显然                                      内可微 </a:t>
              </a:r>
              <a:r>
                <a:rPr lang="en-US" altLang="zh-CN" sz="2800" b="1" dirty="0"/>
                <a:t>,</a:t>
              </a:r>
              <a:r>
                <a:rPr lang="zh-CN" altLang="en-US" sz="2800" b="1" dirty="0"/>
                <a:t>由中值定理                                                            </a:t>
              </a:r>
              <a:endParaRPr lang="zh-CN" altLang="en-US" dirty="0"/>
            </a:p>
          </p:txBody>
        </p:sp>
        <p:graphicFrame>
          <p:nvGraphicFramePr>
            <p:cNvPr id="5132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9491531"/>
                </p:ext>
              </p:extLst>
            </p:nvPr>
          </p:nvGraphicFramePr>
          <p:xfrm>
            <a:off x="1111" y="2727"/>
            <a:ext cx="2300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5" name="Equation" r:id="rId11" imgW="1587240" imgH="215640" progId="Equation.DSMT4">
                    <p:embed/>
                  </p:oleObj>
                </mc:Choice>
                <mc:Fallback>
                  <p:oleObj name="Equation" r:id="rId11" imgW="158724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" y="2727"/>
                          <a:ext cx="2300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33" name="Object 13"/>
          <p:cNvGraphicFramePr>
            <a:graphicFrameLocks noChangeAspect="1"/>
          </p:cNvGraphicFramePr>
          <p:nvPr/>
        </p:nvGraphicFramePr>
        <p:xfrm>
          <a:off x="2627313" y="5022851"/>
          <a:ext cx="72136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6" name="Equation" r:id="rId13" imgW="2958840" imgH="203040" progId="Equation.DSMT4">
                  <p:embed/>
                </p:oleObj>
              </mc:Choice>
              <mc:Fallback>
                <p:oleObj name="Equation" r:id="rId13" imgW="2958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5022851"/>
                        <a:ext cx="72136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8" name="Object 18"/>
          <p:cNvGraphicFramePr>
            <a:graphicFrameLocks noGrp="1" noChangeAspect="1"/>
          </p:cNvGraphicFramePr>
          <p:nvPr>
            <p:ph sz="half" idx="2"/>
          </p:nvPr>
        </p:nvGraphicFramePr>
        <p:xfrm>
          <a:off x="3216275" y="6049963"/>
          <a:ext cx="169545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7" name="Equation" r:id="rId15" imgW="723600" imgH="203040" progId="Equation.DSMT4">
                  <p:embed/>
                </p:oleObj>
              </mc:Choice>
              <mc:Fallback>
                <p:oleObj name="Equation" r:id="rId15" imgW="723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6049963"/>
                        <a:ext cx="169545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246223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2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274935"/>
              </p:ext>
            </p:extLst>
          </p:nvPr>
        </p:nvGraphicFramePr>
        <p:xfrm>
          <a:off x="2135559" y="836712"/>
          <a:ext cx="7782617" cy="197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Document" r:id="rId3" imgW="7693476" imgH="1951149" progId="Word.Document.8">
                  <p:embed/>
                </p:oleObj>
              </mc:Choice>
              <mc:Fallback>
                <p:oleObj name="Document" r:id="rId3" imgW="7693476" imgH="195114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59" y="836712"/>
                        <a:ext cx="7782617" cy="197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8504051"/>
              </p:ext>
            </p:extLst>
          </p:nvPr>
        </p:nvGraphicFramePr>
        <p:xfrm>
          <a:off x="2207568" y="2564904"/>
          <a:ext cx="7782617" cy="2893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Equation" r:id="rId5" imgW="8712000" imgH="3238200" progId="Equation.DSMT4">
                  <p:embed/>
                </p:oleObj>
              </mc:Choice>
              <mc:Fallback>
                <p:oleObj name="Equation" r:id="rId5" imgW="8712000" imgH="323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2564904"/>
                        <a:ext cx="7782617" cy="28936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564137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2590800" y="914401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其中记号</a:t>
            </a:r>
            <a:endParaRPr lang="zh-CN" altLang="en-US"/>
          </a:p>
        </p:txBody>
      </p:sp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2438400" y="1676400"/>
          <a:ext cx="3276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6" name="公式" r:id="rId3" imgW="3276360" imgH="965160" progId="Equation.3">
                  <p:embed/>
                </p:oleObj>
              </mc:Choice>
              <mc:Fallback>
                <p:oleObj name="公式" r:id="rId3" imgW="327636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676400"/>
                        <a:ext cx="3276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85" name="Group 17"/>
          <p:cNvGrpSpPr>
            <a:grpSpLocks/>
          </p:cNvGrpSpPr>
          <p:nvPr/>
        </p:nvGrpSpPr>
        <p:grpSpPr bwMode="auto">
          <a:xfrm>
            <a:off x="3048000" y="2895606"/>
            <a:ext cx="4643438" cy="604839"/>
            <a:chOff x="960" y="1824"/>
            <a:chExt cx="2925" cy="381"/>
          </a:xfrm>
        </p:grpSpPr>
        <p:graphicFrame>
          <p:nvGraphicFramePr>
            <p:cNvPr id="717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0659825"/>
                </p:ext>
              </p:extLst>
            </p:nvPr>
          </p:nvGraphicFramePr>
          <p:xfrm>
            <a:off x="1474" y="1836"/>
            <a:ext cx="2411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7" name="Equation" r:id="rId5" imgW="1574640" imgH="241200" progId="Equation.DSMT4">
                    <p:embed/>
                  </p:oleObj>
                </mc:Choice>
                <mc:Fallback>
                  <p:oleObj name="Equation" r:id="rId5" imgW="15746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1836"/>
                          <a:ext cx="2411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2" name="Text Box 4"/>
            <p:cNvSpPr txBox="1">
              <a:spLocks noChangeArrowheads="1"/>
            </p:cNvSpPr>
            <p:nvPr/>
          </p:nvSpPr>
          <p:spPr bwMode="auto">
            <a:xfrm>
              <a:off x="960" y="1824"/>
              <a:ext cx="6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/>
                <a:t>表示</a:t>
              </a:r>
              <a:endParaRPr lang="zh-CN" altLang="en-US"/>
            </a:p>
          </p:txBody>
        </p:sp>
      </p:grpSp>
      <p:graphicFrame>
        <p:nvGraphicFramePr>
          <p:cNvPr id="7176" name="Object 8"/>
          <p:cNvGraphicFramePr>
            <a:graphicFrameLocks noChangeAspect="1"/>
          </p:cNvGraphicFramePr>
          <p:nvPr/>
        </p:nvGraphicFramePr>
        <p:xfrm>
          <a:off x="2559050" y="3670300"/>
          <a:ext cx="34163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8" name="公式" r:id="rId7" imgW="3416040" imgH="1028520" progId="Equation.3">
                  <p:embed/>
                </p:oleObj>
              </mc:Choice>
              <mc:Fallback>
                <p:oleObj name="公式" r:id="rId7" imgW="3416040" imgH="1028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9050" y="3670300"/>
                        <a:ext cx="34163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86" name="Group 18"/>
          <p:cNvGrpSpPr>
            <a:grpSpLocks/>
          </p:cNvGrpSpPr>
          <p:nvPr/>
        </p:nvGrpSpPr>
        <p:grpSpPr bwMode="auto">
          <a:xfrm>
            <a:off x="2438400" y="5029201"/>
            <a:ext cx="7402513" cy="595313"/>
            <a:chOff x="576" y="3168"/>
            <a:chExt cx="4663" cy="375"/>
          </a:xfrm>
        </p:grpSpPr>
        <p:sp>
          <p:nvSpPr>
            <p:cNvPr id="7177" name="Text Box 9"/>
            <p:cNvSpPr txBox="1">
              <a:spLocks noChangeArrowheads="1"/>
            </p:cNvSpPr>
            <p:nvPr/>
          </p:nvSpPr>
          <p:spPr bwMode="auto">
            <a:xfrm>
              <a:off x="576" y="3168"/>
              <a:ext cx="6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/>
                <a:t>表示</a:t>
              </a:r>
              <a:endParaRPr lang="zh-CN" altLang="en-US"/>
            </a:p>
          </p:txBody>
        </p:sp>
        <p:graphicFrame>
          <p:nvGraphicFramePr>
            <p:cNvPr id="7178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2091297"/>
                </p:ext>
              </p:extLst>
            </p:nvPr>
          </p:nvGraphicFramePr>
          <p:xfrm>
            <a:off x="1111" y="3175"/>
            <a:ext cx="4128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9" name="Equation" r:id="rId9" imgW="2844720" imgH="253800" progId="Equation.DSMT4">
                    <p:embed/>
                  </p:oleObj>
                </mc:Choice>
                <mc:Fallback>
                  <p:oleObj name="Equation" r:id="rId9" imgW="284472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" y="3175"/>
                          <a:ext cx="4128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32899879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2438400" y="1295401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一般地</a:t>
            </a:r>
            <a:r>
              <a:rPr lang="en-US" altLang="zh-CN" sz="2800" b="1"/>
              <a:t>,</a:t>
            </a:r>
            <a:r>
              <a:rPr lang="zh-CN" altLang="en-US" sz="2800" b="1"/>
              <a:t>记号</a:t>
            </a:r>
          </a:p>
        </p:txBody>
      </p:sp>
      <p:graphicFrame>
        <p:nvGraphicFramePr>
          <p:cNvPr id="40963" name="Object 3"/>
          <p:cNvGraphicFramePr>
            <a:graphicFrameLocks noChangeAspect="1"/>
          </p:cNvGraphicFramePr>
          <p:nvPr/>
        </p:nvGraphicFramePr>
        <p:xfrm>
          <a:off x="4572000" y="990600"/>
          <a:ext cx="44958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2" name="公式" r:id="rId3" imgW="4495680" imgH="1079280" progId="Equation.3">
                  <p:embed/>
                </p:oleObj>
              </mc:Choice>
              <mc:Fallback>
                <p:oleObj name="公式" r:id="rId3" imgW="4495680" imgH="1079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990600"/>
                        <a:ext cx="44958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4"/>
          <p:cNvGraphicFramePr>
            <a:graphicFrameLocks noChangeAspect="1"/>
          </p:cNvGraphicFramePr>
          <p:nvPr/>
        </p:nvGraphicFramePr>
        <p:xfrm>
          <a:off x="3505200" y="2286000"/>
          <a:ext cx="4343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3" name="公式" r:id="rId5" imgW="4343400" imgH="990360" progId="Equation.3">
                  <p:embed/>
                </p:oleObj>
              </mc:Choice>
              <mc:Fallback>
                <p:oleObj name="公式" r:id="rId5" imgW="4343400" imgH="990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286000"/>
                        <a:ext cx="43434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2514600" y="3367088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40967" name="Text Box 7"/>
          <p:cNvSpPr txBox="1">
            <a:spLocks noChangeArrowheads="1"/>
          </p:cNvSpPr>
          <p:nvPr/>
        </p:nvSpPr>
        <p:spPr bwMode="auto">
          <a:xfrm>
            <a:off x="3505200" y="3367088"/>
            <a:ext cx="243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引入函数</a:t>
            </a:r>
          </a:p>
        </p:txBody>
      </p:sp>
      <p:graphicFrame>
        <p:nvGraphicFramePr>
          <p:cNvPr id="40968" name="Object 8"/>
          <p:cNvGraphicFramePr>
            <a:graphicFrameLocks noChangeAspect="1"/>
          </p:cNvGraphicFramePr>
          <p:nvPr/>
        </p:nvGraphicFramePr>
        <p:xfrm>
          <a:off x="3124200" y="4114800"/>
          <a:ext cx="5981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4" name="公式" r:id="rId7" imgW="5981400" imgH="457200" progId="Equation.3">
                  <p:embed/>
                </p:oleObj>
              </mc:Choice>
              <mc:Fallback>
                <p:oleObj name="公式" r:id="rId7" imgW="5981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114800"/>
                        <a:ext cx="5981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0" name="Text Box 10"/>
          <p:cNvSpPr txBox="1">
            <a:spLocks noChangeArrowheads="1"/>
          </p:cNvSpPr>
          <p:nvPr/>
        </p:nvSpPr>
        <p:spPr bwMode="auto">
          <a:xfrm>
            <a:off x="2667000" y="4724401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显然</a:t>
            </a:r>
            <a:endParaRPr lang="zh-CN" altLang="en-US"/>
          </a:p>
        </p:txBody>
      </p:sp>
      <p:graphicFrame>
        <p:nvGraphicFramePr>
          <p:cNvPr id="40971" name="Object 11"/>
          <p:cNvGraphicFramePr>
            <a:graphicFrameLocks noChangeAspect="1"/>
          </p:cNvGraphicFramePr>
          <p:nvPr/>
        </p:nvGraphicFramePr>
        <p:xfrm>
          <a:off x="3797300" y="4800600"/>
          <a:ext cx="267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5" name="公式" r:id="rId9" imgW="2679480" imgH="457200" progId="Equation.3">
                  <p:embed/>
                </p:oleObj>
              </mc:Choice>
              <mc:Fallback>
                <p:oleObj name="公式" r:id="rId9" imgW="26794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7300" y="4800600"/>
                        <a:ext cx="2679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2" name="Object 12"/>
          <p:cNvGraphicFramePr>
            <a:graphicFrameLocks noChangeAspect="1"/>
          </p:cNvGraphicFramePr>
          <p:nvPr/>
        </p:nvGraphicFramePr>
        <p:xfrm>
          <a:off x="3810000" y="5486400"/>
          <a:ext cx="3784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6" name="公式" r:id="rId11" imgW="3784320" imgH="457200" progId="Equation.3">
                  <p:embed/>
                </p:oleObj>
              </mc:Choice>
              <mc:Fallback>
                <p:oleObj name="公式" r:id="rId11" imgW="37843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486400"/>
                        <a:ext cx="3784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3484290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65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5" grpId="0" autoUpdateAnimBg="0"/>
      <p:bldP spid="40967" grpId="0" autoUpdateAnimBg="0"/>
      <p:bldP spid="4097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4" name="Group 12"/>
          <p:cNvGrpSpPr>
            <a:grpSpLocks/>
          </p:cNvGrpSpPr>
          <p:nvPr/>
        </p:nvGrpSpPr>
        <p:grpSpPr bwMode="auto">
          <a:xfrm>
            <a:off x="2438400" y="914401"/>
            <a:ext cx="7620000" cy="519113"/>
            <a:chOff x="672" y="1776"/>
            <a:chExt cx="4800" cy="327"/>
          </a:xfrm>
        </p:grpSpPr>
        <p:sp>
          <p:nvSpPr>
            <p:cNvPr id="8202" name="Text Box 10"/>
            <p:cNvSpPr txBox="1">
              <a:spLocks noChangeArrowheads="1"/>
            </p:cNvSpPr>
            <p:nvPr/>
          </p:nvSpPr>
          <p:spPr bwMode="auto">
            <a:xfrm>
              <a:off x="672" y="1776"/>
              <a:ext cx="48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/>
                <a:t>由        的定义及多元复合函数的求导法则</a:t>
              </a:r>
              <a:r>
                <a:rPr lang="en-US" altLang="zh-CN" sz="2800" b="1"/>
                <a:t>,</a:t>
              </a:r>
              <a:r>
                <a:rPr lang="zh-CN" altLang="en-US" sz="2800" b="1"/>
                <a:t>可得</a:t>
              </a:r>
            </a:p>
          </p:txBody>
        </p:sp>
        <p:graphicFrame>
          <p:nvGraphicFramePr>
            <p:cNvPr id="8203" name="Object 11"/>
            <p:cNvGraphicFramePr>
              <a:graphicFrameLocks noChangeAspect="1"/>
            </p:cNvGraphicFramePr>
            <p:nvPr/>
          </p:nvGraphicFramePr>
          <p:xfrm>
            <a:off x="960" y="1824"/>
            <a:ext cx="464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4" name="公式" r:id="rId3" imgW="736560" imgH="406080" progId="Equation.3">
                    <p:embed/>
                  </p:oleObj>
                </mc:Choice>
                <mc:Fallback>
                  <p:oleObj name="公式" r:id="rId3" imgW="73656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1824"/>
                          <a:ext cx="464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2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487054"/>
              </p:ext>
            </p:extLst>
          </p:nvPr>
        </p:nvGraphicFramePr>
        <p:xfrm>
          <a:off x="2438400" y="1639664"/>
          <a:ext cx="7402016" cy="1721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5" name="Equation" r:id="rId5" imgW="3111480" imgH="723600" progId="Equation.DSMT4">
                  <p:embed/>
                </p:oleObj>
              </mc:Choice>
              <mc:Fallback>
                <p:oleObj name="Equation" r:id="rId5" imgW="311148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639664"/>
                        <a:ext cx="7402016" cy="17212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131361"/>
              </p:ext>
            </p:extLst>
          </p:nvPr>
        </p:nvGraphicFramePr>
        <p:xfrm>
          <a:off x="2701984" y="3768629"/>
          <a:ext cx="7151817" cy="1186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6" name="Equation" r:id="rId7" imgW="3060360" imgH="507960" progId="Equation.DSMT4">
                  <p:embed/>
                </p:oleObj>
              </mc:Choice>
              <mc:Fallback>
                <p:oleObj name="Equation" r:id="rId7" imgW="306036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1984" y="3768629"/>
                        <a:ext cx="7151817" cy="11864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7" name="Object 15"/>
          <p:cNvGraphicFramePr>
            <a:graphicFrameLocks noChangeAspect="1"/>
          </p:cNvGraphicFramePr>
          <p:nvPr/>
        </p:nvGraphicFramePr>
        <p:xfrm>
          <a:off x="3048000" y="5410201"/>
          <a:ext cx="2082800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7" name="公式" r:id="rId9" imgW="2082600" imgH="253800" progId="Equation.3">
                  <p:embed/>
                </p:oleObj>
              </mc:Choice>
              <mc:Fallback>
                <p:oleObj name="公式" r:id="rId9" imgW="20826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410201"/>
                        <a:ext cx="2082800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487468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2614614" y="977900"/>
          <a:ext cx="6529387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4" name="公式" r:id="rId3" imgW="6527520" imgH="2070000" progId="Equation.3">
                  <p:embed/>
                </p:oleObj>
              </mc:Choice>
              <mc:Fallback>
                <p:oleObj name="公式" r:id="rId3" imgW="6527520" imgH="2070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614" y="977900"/>
                        <a:ext cx="6529387" cy="207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2438400" y="3276601"/>
            <a:ext cx="640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利用一元函数的麦克劳林公式，得</a:t>
            </a:r>
          </a:p>
        </p:txBody>
      </p:sp>
      <p:graphicFrame>
        <p:nvGraphicFramePr>
          <p:cNvPr id="9220" name="Object 4"/>
          <p:cNvGraphicFramePr>
            <a:graphicFrameLocks noChangeAspect="1"/>
          </p:cNvGraphicFramePr>
          <p:nvPr/>
        </p:nvGraphicFramePr>
        <p:xfrm>
          <a:off x="2667000" y="3962400"/>
          <a:ext cx="6846888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5" name="公式" r:id="rId5" imgW="6845040" imgH="1981080" progId="Equation.3">
                  <p:embed/>
                </p:oleObj>
              </mc:Choice>
              <mc:Fallback>
                <p:oleObj name="公式" r:id="rId5" imgW="6845040" imgH="1981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962400"/>
                        <a:ext cx="6846888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775786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2463801" y="812800"/>
          <a:ext cx="7446963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8" name="文档" r:id="rId3" imgW="7558410" imgH="1948154" progId="Word.Document.8">
                  <p:embed/>
                </p:oleObj>
              </mc:Choice>
              <mc:Fallback>
                <p:oleObj name="文档" r:id="rId3" imgW="7558410" imgH="194815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1" y="812800"/>
                        <a:ext cx="7446963" cy="193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2436814" y="2674938"/>
          <a:ext cx="7850187" cy="329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9" name="公式" r:id="rId5" imgW="8229600" imgH="3454200" progId="Equation.3">
                  <p:embed/>
                </p:oleObj>
              </mc:Choice>
              <mc:Fallback>
                <p:oleObj name="公式" r:id="rId5" imgW="8229600" imgH="3454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6814" y="2674938"/>
                        <a:ext cx="7850187" cy="329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491082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2286000" y="921543"/>
            <a:ext cx="91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其中</a:t>
            </a:r>
          </a:p>
        </p:txBody>
      </p:sp>
      <p:graphicFrame>
        <p:nvGraphicFramePr>
          <p:cNvPr id="112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669978"/>
              </p:ext>
            </p:extLst>
          </p:nvPr>
        </p:nvGraphicFramePr>
        <p:xfrm>
          <a:off x="2438400" y="1440655"/>
          <a:ext cx="6897688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name="公式" r:id="rId3" imgW="6895800" imgH="1562040" progId="Equation.3">
                  <p:embed/>
                </p:oleObj>
              </mc:Choice>
              <mc:Fallback>
                <p:oleObj name="公式" r:id="rId3" imgW="6895800" imgH="1562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440655"/>
                        <a:ext cx="6897688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8616280" y="3140968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/>
              <a:t>证毕</a:t>
            </a:r>
          </a:p>
        </p:txBody>
      </p:sp>
      <p:graphicFrame>
        <p:nvGraphicFramePr>
          <p:cNvPr id="112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734333"/>
              </p:ext>
            </p:extLst>
          </p:nvPr>
        </p:nvGraphicFramePr>
        <p:xfrm>
          <a:off x="1991544" y="3861048"/>
          <a:ext cx="8493323" cy="121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" name="Document" r:id="rId5" imgW="8055289" imgH="1188689" progId="Word.Document.8">
                  <p:embed/>
                </p:oleObj>
              </mc:Choice>
              <mc:Fallback>
                <p:oleObj name="Document" r:id="rId5" imgW="8055289" imgH="11886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44" y="3861048"/>
                        <a:ext cx="8493323" cy="1217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672985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6" name="Object 2"/>
          <p:cNvGraphicFramePr>
            <a:graphicFrameLocks noChangeAspect="1"/>
          </p:cNvGraphicFramePr>
          <p:nvPr/>
        </p:nvGraphicFramePr>
        <p:xfrm>
          <a:off x="2438400" y="962026"/>
          <a:ext cx="7570788" cy="178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0" name="文档" r:id="rId3" imgW="7579330" imgH="1777641" progId="Word.Document.8">
                  <p:embed/>
                </p:oleObj>
              </mc:Choice>
              <mc:Fallback>
                <p:oleObj name="文档" r:id="rId3" imgW="7579330" imgH="177764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962026"/>
                        <a:ext cx="7570788" cy="178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7" name="Object 3"/>
          <p:cNvGraphicFramePr>
            <a:graphicFrameLocks noChangeAspect="1"/>
          </p:cNvGraphicFramePr>
          <p:nvPr/>
        </p:nvGraphicFramePr>
        <p:xfrm>
          <a:off x="2438400" y="2895600"/>
          <a:ext cx="7900988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" name="公式" r:id="rId5" imgW="7899120" imgH="2019240" progId="Equation.3">
                  <p:embed/>
                </p:oleObj>
              </mc:Choice>
              <mc:Fallback>
                <p:oleObj name="公式" r:id="rId5" imgW="7899120" imgH="2019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895600"/>
                        <a:ext cx="7900988" cy="201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991" name="Group 7"/>
          <p:cNvGrpSpPr>
            <a:grpSpLocks/>
          </p:cNvGrpSpPr>
          <p:nvPr/>
        </p:nvGrpSpPr>
        <p:grpSpPr bwMode="auto">
          <a:xfrm>
            <a:off x="5638800" y="4171951"/>
            <a:ext cx="3022600" cy="519113"/>
            <a:chOff x="1296" y="3239"/>
            <a:chExt cx="1904" cy="327"/>
          </a:xfrm>
        </p:grpSpPr>
        <p:sp>
          <p:nvSpPr>
            <p:cNvPr id="41989" name="Text Box 5"/>
            <p:cNvSpPr txBox="1">
              <a:spLocks noChangeArrowheads="1"/>
            </p:cNvSpPr>
            <p:nvPr/>
          </p:nvSpPr>
          <p:spPr bwMode="auto">
            <a:xfrm>
              <a:off x="1296" y="3239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/>
                <a:t>其中</a:t>
              </a:r>
            </a:p>
          </p:txBody>
        </p:sp>
        <p:graphicFrame>
          <p:nvGraphicFramePr>
            <p:cNvPr id="41990" name="Object 6"/>
            <p:cNvGraphicFramePr>
              <a:graphicFrameLocks noChangeAspect="1"/>
            </p:cNvGraphicFramePr>
            <p:nvPr/>
          </p:nvGraphicFramePr>
          <p:xfrm>
            <a:off x="1848" y="3240"/>
            <a:ext cx="1352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92" name="公式" r:id="rId7" imgW="2145960" imgH="495000" progId="Equation.3">
                    <p:embed/>
                  </p:oleObj>
                </mc:Choice>
                <mc:Fallback>
                  <p:oleObj name="公式" r:id="rId7" imgW="2145960" imgH="495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8" y="3240"/>
                          <a:ext cx="1352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992" name="Object 8"/>
          <p:cNvGraphicFramePr>
            <a:graphicFrameLocks noChangeAspect="1"/>
          </p:cNvGraphicFramePr>
          <p:nvPr/>
        </p:nvGraphicFramePr>
        <p:xfrm>
          <a:off x="2438400" y="5029200"/>
          <a:ext cx="75438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3" name="文档" r:id="rId9" imgW="7550280" imgH="1189080" progId="Word.Document.8">
                  <p:embed/>
                </p:oleObj>
              </mc:Choice>
              <mc:Fallback>
                <p:oleObj name="文档" r:id="rId9" imgW="7550280" imgH="11890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029200"/>
                        <a:ext cx="7543800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367947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820612"/>
              </p:ext>
            </p:extLst>
          </p:nvPr>
        </p:nvGraphicFramePr>
        <p:xfrm>
          <a:off x="2063552" y="903928"/>
          <a:ext cx="6552728" cy="561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4" name="文档" r:id="rId3" imgW="6413400" imgH="551160" progId="Word.Document.8">
                  <p:embed/>
                </p:oleObj>
              </mc:Choice>
              <mc:Fallback>
                <p:oleObj name="文档" r:id="rId3" imgW="6413400" imgH="5511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903928"/>
                        <a:ext cx="6552728" cy="5618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974959"/>
              </p:ext>
            </p:extLst>
          </p:nvPr>
        </p:nvGraphicFramePr>
        <p:xfrm>
          <a:off x="2711624" y="1471614"/>
          <a:ext cx="5885499" cy="1813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5" name="Equation" r:id="rId5" imgW="2349360" imgH="723600" progId="Equation.DSMT4">
                  <p:embed/>
                </p:oleObj>
              </mc:Choice>
              <mc:Fallback>
                <p:oleObj name="Equation" r:id="rId5" imgW="234936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1471614"/>
                        <a:ext cx="5885499" cy="18133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1991544" y="3308796"/>
            <a:ext cx="701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/>
              <a:t>上式称为</a:t>
            </a:r>
            <a:r>
              <a:rPr lang="zh-CN" altLang="en-US" sz="2800" b="1" dirty="0">
                <a:solidFill>
                  <a:srgbClr val="FF0000"/>
                </a:solidFill>
              </a:rPr>
              <a:t>二元函数的拉格朗日中值公式</a:t>
            </a:r>
            <a:r>
              <a:rPr lang="en-US" altLang="zh-CN" sz="2800" b="1" dirty="0"/>
              <a:t>.</a:t>
            </a:r>
          </a:p>
        </p:txBody>
      </p:sp>
      <p:graphicFrame>
        <p:nvGraphicFramePr>
          <p:cNvPr id="1230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930884"/>
              </p:ext>
            </p:extLst>
          </p:nvPr>
        </p:nvGraphicFramePr>
        <p:xfrm>
          <a:off x="2063552" y="3833792"/>
          <a:ext cx="8492554" cy="2089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6" name="Document" r:id="rId7" imgW="8116852" imgH="2001188" progId="Word.Document.8">
                  <p:embed/>
                </p:oleObj>
              </mc:Choice>
              <mc:Fallback>
                <p:oleObj name="Document" r:id="rId7" imgW="8116852" imgH="200118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3833792"/>
                        <a:ext cx="8492554" cy="20898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706496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9" name="Object 7"/>
          <p:cNvGraphicFramePr>
            <a:graphicFrameLocks noChangeAspect="1"/>
          </p:cNvGraphicFramePr>
          <p:nvPr/>
        </p:nvGraphicFramePr>
        <p:xfrm>
          <a:off x="2438400" y="819150"/>
          <a:ext cx="685800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8" name="文档" r:id="rId3" imgW="7008480" imgH="1189080" progId="Word.Document.8">
                  <p:embed/>
                </p:oleObj>
              </mc:Choice>
              <mc:Fallback>
                <p:oleObj name="文档" r:id="rId3" imgW="7008480" imgH="11890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819150"/>
                        <a:ext cx="6858000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8"/>
          <p:cNvGraphicFramePr>
            <a:graphicFrameLocks noChangeAspect="1"/>
          </p:cNvGraphicFramePr>
          <p:nvPr/>
        </p:nvGraphicFramePr>
        <p:xfrm>
          <a:off x="2438400" y="2122489"/>
          <a:ext cx="7239000" cy="289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9" name="公式" r:id="rId5" imgW="8089560" imgH="3238200" progId="Equation.3">
                  <p:embed/>
                </p:oleObj>
              </mc:Choice>
              <mc:Fallback>
                <p:oleObj name="公式" r:id="rId5" imgW="8089560" imgH="32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122489"/>
                        <a:ext cx="7239000" cy="289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Object 9"/>
          <p:cNvGraphicFramePr>
            <a:graphicFrameLocks noChangeAspect="1"/>
          </p:cNvGraphicFramePr>
          <p:nvPr/>
        </p:nvGraphicFramePr>
        <p:xfrm>
          <a:off x="6781800" y="5094288"/>
          <a:ext cx="15240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0" name="公式" r:id="rId7" imgW="1523880" imgH="393480" progId="Equation.3">
                  <p:embed/>
                </p:oleObj>
              </mc:Choice>
              <mc:Fallback>
                <p:oleObj name="公式" r:id="rId7" imgW="15238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094288"/>
                        <a:ext cx="15240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10"/>
          <p:cNvGraphicFramePr>
            <a:graphicFrameLocks noChangeAspect="1"/>
          </p:cNvGraphicFramePr>
          <p:nvPr/>
        </p:nvGraphicFramePr>
        <p:xfrm>
          <a:off x="9067800" y="5094288"/>
          <a:ext cx="4572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1" name="公式" r:id="rId9" imgW="457200" imgH="393480" progId="Equation.3">
                  <p:embed/>
                </p:oleObj>
              </mc:Choice>
              <mc:Fallback>
                <p:oleObj name="公式" r:id="rId9" imgW="4572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7800" y="5094288"/>
                        <a:ext cx="4572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557611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2438400" y="909638"/>
            <a:ext cx="91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3657600" y="895350"/>
          <a:ext cx="615315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8" name="文档" r:id="rId3" imgW="6160680" imgH="1199520" progId="Word.Document.8">
                  <p:embed/>
                </p:oleObj>
              </mc:Choice>
              <mc:Fallback>
                <p:oleObj name="文档" r:id="rId3" imgW="6160680" imgH="11995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895350"/>
                        <a:ext cx="615315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2514600" y="2262981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94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9047452"/>
              </p:ext>
            </p:extLst>
          </p:nvPr>
        </p:nvGraphicFramePr>
        <p:xfrm>
          <a:off x="3352800" y="2022476"/>
          <a:ext cx="517525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9" name="Equation" r:id="rId5" imgW="2234880" imgH="431640" progId="Equation.DSMT4">
                  <p:embed/>
                </p:oleObj>
              </mc:Choice>
              <mc:Fallback>
                <p:oleObj name="Equation" r:id="rId5" imgW="2234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022476"/>
                        <a:ext cx="5175250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9443449"/>
              </p:ext>
            </p:extLst>
          </p:nvPr>
        </p:nvGraphicFramePr>
        <p:xfrm>
          <a:off x="2615586" y="2963692"/>
          <a:ext cx="7296837" cy="1024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0" name="Equation" r:id="rId7" imgW="3073320" imgH="431640" progId="Equation.DSMT4">
                  <p:embed/>
                </p:oleObj>
              </mc:Choice>
              <mc:Fallback>
                <p:oleObj name="Equation" r:id="rId7" imgW="3073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5586" y="2963692"/>
                        <a:ext cx="7296837" cy="10246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Object 9"/>
          <p:cNvGraphicFramePr>
            <a:graphicFrameLocks noChangeAspect="1"/>
          </p:cNvGraphicFramePr>
          <p:nvPr/>
        </p:nvGraphicFramePr>
        <p:xfrm>
          <a:off x="3048000" y="3962400"/>
          <a:ext cx="3416300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1" name="公式" r:id="rId9" imgW="3416040" imgH="939600" progId="Equation.3">
                  <p:embed/>
                </p:oleObj>
              </mc:Choice>
              <mc:Fallback>
                <p:oleObj name="公式" r:id="rId9" imgW="341604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962400"/>
                        <a:ext cx="3416300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6" name="Object 10"/>
          <p:cNvGraphicFramePr>
            <a:graphicFrameLocks noChangeAspect="1"/>
          </p:cNvGraphicFramePr>
          <p:nvPr/>
        </p:nvGraphicFramePr>
        <p:xfrm>
          <a:off x="7239000" y="4329114"/>
          <a:ext cx="19304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2" name="公式" r:id="rId11" imgW="1930320" imgH="393480" progId="Equation.3">
                  <p:embed/>
                </p:oleObj>
              </mc:Choice>
              <mc:Fallback>
                <p:oleObj name="公式" r:id="rId11" imgW="19303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4329114"/>
                        <a:ext cx="19304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6" name="Object 20"/>
          <p:cNvGraphicFramePr>
            <a:graphicFrameLocks noChangeAspect="1"/>
          </p:cNvGraphicFramePr>
          <p:nvPr/>
        </p:nvGraphicFramePr>
        <p:xfrm>
          <a:off x="3048000" y="5003800"/>
          <a:ext cx="36576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3" name="公式" r:id="rId13" imgW="3657600" imgH="939600" progId="Equation.3">
                  <p:embed/>
                </p:oleObj>
              </mc:Choice>
              <mc:Fallback>
                <p:oleObj name="公式" r:id="rId13" imgW="365760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003800"/>
                        <a:ext cx="36576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013876"/>
              </p:ext>
            </p:extLst>
          </p:nvPr>
        </p:nvGraphicFramePr>
        <p:xfrm>
          <a:off x="7239000" y="5325636"/>
          <a:ext cx="21971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4" name="公式" r:id="rId15" imgW="2197080" imgH="393480" progId="Equation.3">
                  <p:embed/>
                </p:oleObj>
              </mc:Choice>
              <mc:Fallback>
                <p:oleObj name="公式" r:id="rId15" imgW="21970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325636"/>
                        <a:ext cx="21971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999999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162908"/>
              </p:ext>
            </p:extLst>
          </p:nvPr>
        </p:nvGraphicFramePr>
        <p:xfrm>
          <a:off x="2451538" y="781794"/>
          <a:ext cx="7604902" cy="1057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4" name="Equation" r:id="rId3" imgW="3377880" imgH="469800" progId="Equation.DSMT4">
                  <p:embed/>
                </p:oleObj>
              </mc:Choice>
              <mc:Fallback>
                <p:oleObj name="Equation" r:id="rId3" imgW="33778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538" y="781794"/>
                        <a:ext cx="7604902" cy="1057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7067270"/>
              </p:ext>
            </p:extLst>
          </p:nvPr>
        </p:nvGraphicFramePr>
        <p:xfrm>
          <a:off x="2718707" y="1954227"/>
          <a:ext cx="6005982" cy="2338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5" name="Equation" r:id="rId5" imgW="2641320" imgH="1028520" progId="Equation.DSMT4">
                  <p:embed/>
                </p:oleObj>
              </mc:Choice>
              <mc:Fallback>
                <p:oleObj name="Equation" r:id="rId5" imgW="2641320" imgH="1028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8707" y="1954227"/>
                        <a:ext cx="6005982" cy="23388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974880"/>
              </p:ext>
            </p:extLst>
          </p:nvPr>
        </p:nvGraphicFramePr>
        <p:xfrm>
          <a:off x="2718707" y="4293095"/>
          <a:ext cx="7481749" cy="1762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6" name="Equation" r:id="rId7" imgW="3288960" imgH="774360" progId="Equation.DSMT4">
                  <p:embed/>
                </p:oleObj>
              </mc:Choice>
              <mc:Fallback>
                <p:oleObj name="Equation" r:id="rId7" imgW="3288960" imgH="774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8707" y="4293095"/>
                        <a:ext cx="7481749" cy="17621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626696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2743200" y="990601"/>
          <a:ext cx="28702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8" name="文档" r:id="rId3" imgW="2879640" imgH="617760" progId="Word.Document.8">
                  <p:embed/>
                </p:oleObj>
              </mc:Choice>
              <mc:Fallback>
                <p:oleObj name="文档" r:id="rId3" imgW="2879640" imgH="6177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990601"/>
                        <a:ext cx="287020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2819400" y="1676400"/>
          <a:ext cx="72151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9" name="公式" r:id="rId5" imgW="7213320" imgH="838080" progId="Equation.3">
                  <p:embed/>
                </p:oleObj>
              </mc:Choice>
              <mc:Fallback>
                <p:oleObj name="公式" r:id="rId5" imgW="72133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676400"/>
                        <a:ext cx="7215188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2743200" y="2743201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其中</a:t>
            </a:r>
            <a:endParaRPr lang="zh-CN" altLang="en-US"/>
          </a:p>
        </p:txBody>
      </p:sp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3429000" y="3200400"/>
          <a:ext cx="5589588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0" name="公式" r:id="rId7" imgW="5587920" imgH="2070000" progId="Equation.3">
                  <p:embed/>
                </p:oleObj>
              </mc:Choice>
              <mc:Fallback>
                <p:oleObj name="公式" r:id="rId7" imgW="5587920" imgH="2070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200400"/>
                        <a:ext cx="5589588" cy="207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230303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1753</TotalTime>
  <Words>81</Words>
  <Application>Microsoft Office PowerPoint</Application>
  <PresentationFormat>宽屏</PresentationFormat>
  <Paragraphs>24</Paragraphs>
  <Slides>16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黑体</vt:lpstr>
      <vt:lpstr>华文行楷</vt:lpstr>
      <vt:lpstr>华文楷体</vt:lpstr>
      <vt:lpstr>宋体</vt:lpstr>
      <vt:lpstr>Arial</vt:lpstr>
      <vt:lpstr>Calibri</vt:lpstr>
      <vt:lpstr>Times New Roman</vt:lpstr>
      <vt:lpstr>Office 主题</vt:lpstr>
      <vt:lpstr>Equation</vt:lpstr>
      <vt:lpstr>文档</vt:lpstr>
      <vt:lpstr>Document</vt:lpstr>
      <vt:lpstr>公式</vt:lpstr>
      <vt:lpstr>PowerPoint 演示文稿</vt:lpstr>
      <vt:lpstr>一、问题的提出  </vt:lpstr>
      <vt:lpstr>二、中值定理和泰勒公式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Microsoft 帐户</cp:lastModifiedBy>
  <cp:revision>74</cp:revision>
  <dcterms:created xsi:type="dcterms:W3CDTF">2009-06-13T01:14:34Z</dcterms:created>
  <dcterms:modified xsi:type="dcterms:W3CDTF">2022-02-22T15:15:49Z</dcterms:modified>
</cp:coreProperties>
</file>