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3" r:id="rId3"/>
    <p:sldId id="304" r:id="rId4"/>
    <p:sldId id="305" r:id="rId5"/>
    <p:sldId id="312" r:id="rId6"/>
    <p:sldId id="316" r:id="rId7"/>
    <p:sldId id="343" r:id="rId8"/>
    <p:sldId id="340" r:id="rId9"/>
    <p:sldId id="341" r:id="rId10"/>
    <p:sldId id="342" r:id="rId11"/>
    <p:sldId id="352" r:id="rId12"/>
    <p:sldId id="323" r:id="rId13"/>
    <p:sldId id="321" r:id="rId14"/>
    <p:sldId id="328" r:id="rId15"/>
    <p:sldId id="347" r:id="rId16"/>
    <p:sldId id="325" r:id="rId17"/>
    <p:sldId id="329" r:id="rId18"/>
    <p:sldId id="348" r:id="rId19"/>
    <p:sldId id="34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emf"/><Relationship Id="rId3" Type="http://schemas.openxmlformats.org/officeDocument/2006/relationships/image" Target="../media/image4.e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e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emf"/><Relationship Id="rId15" Type="http://schemas.openxmlformats.org/officeDocument/2006/relationships/image" Target="../media/image16.wmf"/><Relationship Id="rId10" Type="http://schemas.openxmlformats.org/officeDocument/2006/relationships/image" Target="../media/image11.e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emf"/><Relationship Id="rId1" Type="http://schemas.openxmlformats.org/officeDocument/2006/relationships/image" Target="../media/image30.png"/><Relationship Id="rId4" Type="http://schemas.openxmlformats.org/officeDocument/2006/relationships/image" Target="../media/image33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2.png"/><Relationship Id="rId1" Type="http://schemas.openxmlformats.org/officeDocument/2006/relationships/image" Target="../media/image30.png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815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06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53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40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01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26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52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1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51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25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88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1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451B8-9768-4CB1-BDED-FA2606F1BDF7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24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24" Type="http://schemas.openxmlformats.org/officeDocument/2006/relationships/image" Target="../media/image12.wmf"/><Relationship Id="rId32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28" Type="http://schemas.openxmlformats.org/officeDocument/2006/relationships/image" Target="../media/image14.e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10.bin"/><Relationship Id="rId31" Type="http://schemas.openxmlformats.org/officeDocument/2006/relationships/oleObject" Target="../embeddings/oleObject16.bin"/><Relationship Id="rId4" Type="http://schemas.openxmlformats.org/officeDocument/2006/relationships/image" Target="../media/image2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Relationship Id="rId22" Type="http://schemas.openxmlformats.org/officeDocument/2006/relationships/image" Target="../media/image11.emf"/><Relationship Id="rId27" Type="http://schemas.openxmlformats.org/officeDocument/2006/relationships/oleObject" Target="../embeddings/oleObject14.bin"/><Relationship Id="rId30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3.emf"/><Relationship Id="rId4" Type="http://schemas.openxmlformats.org/officeDocument/2006/relationships/image" Target="../media/image30.png"/><Relationship Id="rId9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2.png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5.wmf"/><Relationship Id="rId4" Type="http://schemas.openxmlformats.org/officeDocument/2006/relationships/image" Target="../media/image30.png"/><Relationship Id="rId9" Type="http://schemas.openxmlformats.org/officeDocument/2006/relationships/oleObject" Target="../embeddings/oleObject3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1.wmf"/><Relationship Id="rId3" Type="http://schemas.openxmlformats.org/officeDocument/2006/relationships/oleObject" Target="../embeddings/oleObject39.bin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3.bin"/><Relationship Id="rId4" Type="http://schemas.openxmlformats.org/officeDocument/2006/relationships/image" Target="../media/image37.wmf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4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57.bin"/><Relationship Id="rId18" Type="http://schemas.openxmlformats.org/officeDocument/2006/relationships/oleObject" Target="../embeddings/oleObject60.bin"/><Relationship Id="rId3" Type="http://schemas.openxmlformats.org/officeDocument/2006/relationships/oleObject" Target="../embeddings/oleObject52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wmf"/><Relationship Id="rId20" Type="http://schemas.openxmlformats.org/officeDocument/2006/relationships/oleObject" Target="../embeddings/oleObject6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52.wmf"/><Relationship Id="rId19" Type="http://schemas.openxmlformats.org/officeDocument/2006/relationships/image" Target="../media/image56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4.wmf"/><Relationship Id="rId22" Type="http://schemas.openxmlformats.org/officeDocument/2006/relationships/image" Target="../media/image5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5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A082-EBC9-4251-8525-CF06CE30826C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733800" y="533400"/>
            <a:ext cx="38862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4200" b="1" dirty="0" smtClean="0">
                <a:solidFill>
                  <a:srgbClr val="0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第八章  </a:t>
            </a:r>
            <a:r>
              <a:rPr lang="zh-CN" altLang="en-US" sz="4200" b="1" dirty="0">
                <a:solidFill>
                  <a:srgbClr val="0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重积分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2514600" y="1295400"/>
            <a:ext cx="7467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rgbClr val="0000FF"/>
                </a:solidFill>
                <a:ea typeface="楷体_GB2312" pitchFamily="49" charset="-122"/>
              </a:rPr>
              <a:t>7.2</a:t>
            </a:r>
            <a:r>
              <a:rPr lang="en-US" altLang="zh-CN" sz="3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二重积分的计算法 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black">
          <a:xfrm>
            <a:off x="2590800" y="1979614"/>
            <a:ext cx="6629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ea typeface="楷体_GB2312" pitchFamily="49" charset="-122"/>
              </a:rPr>
              <a:t>7.2.4  </a:t>
            </a:r>
            <a:r>
              <a:rPr lang="zh-CN" altLang="en-US" sz="3200" b="1">
                <a:solidFill>
                  <a:srgbClr val="0000FF"/>
                </a:solidFill>
                <a:ea typeface="楷体_GB2312" pitchFamily="49" charset="-122"/>
              </a:rPr>
              <a:t>二重积分习题课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black">
          <a:xfrm>
            <a:off x="3048000" y="58674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</a:rPr>
              <a:t>3</a:t>
            </a:r>
            <a:r>
              <a:rPr lang="zh-CN" altLang="en-US" sz="2800" b="1">
                <a:solidFill>
                  <a:srgbClr val="000000"/>
                </a:solidFill>
              </a:rPr>
              <a:t>、性质 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667000" y="2590801"/>
            <a:ext cx="3309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</a:rPr>
              <a:t>一、内容提要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2819400" y="3200401"/>
            <a:ext cx="6757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</a:rPr>
              <a:t>（一）二重积分的概念、性质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3048000" y="3810001"/>
            <a:ext cx="2497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</a:rPr>
              <a:t>1</a:t>
            </a:r>
            <a:r>
              <a:rPr lang="zh-CN" altLang="en-US" sz="2800" b="1">
                <a:solidFill>
                  <a:srgbClr val="000000"/>
                </a:solidFill>
              </a:rPr>
              <a:t>、定义</a:t>
            </a: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black">
          <a:xfrm>
            <a:off x="3048000" y="5057773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</a:rPr>
              <a:t>、几何意义：曲顶柱体的体积 </a:t>
            </a:r>
          </a:p>
        </p:txBody>
      </p:sp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3581400" y="4114800"/>
          <a:ext cx="54943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3" imgW="2273040" imgH="444240" progId="Equation.DSMT4">
                  <p:embed/>
                </p:oleObj>
              </mc:Choice>
              <mc:Fallback>
                <p:oleObj name="Equation" r:id="rId3" imgW="2273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581400" y="4114800"/>
                        <a:ext cx="5494338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815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autoUpdateAnimBg="0"/>
      <p:bldP spid="2051" grpId="0" autoUpdateAnimBg="0"/>
      <p:bldP spid="2052" grpId="0" autoUpdateAnimBg="0"/>
      <p:bldP spid="2053" grpId="0" autoUpdateAnimBg="0"/>
      <p:bldP spid="2054" grpId="0" autoUpdateAnimBg="0"/>
      <p:bldP spid="2055" grpId="0" autoUpdateAnimBg="0"/>
      <p:bldP spid="2056" grpId="0" autoUpdateAnimBg="0"/>
      <p:bldP spid="205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5CE2-A7CF-4EAD-B29D-E411E4BC8C18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black">
          <a:xfrm>
            <a:off x="2362200" y="457201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 </a:t>
            </a:r>
            <a:r>
              <a:rPr lang="zh-CN" altLang="en-US" sz="2800" b="1" dirty="0">
                <a:solidFill>
                  <a:srgbClr val="000000"/>
                </a:solidFill>
              </a:rPr>
              <a:t>交换积分顺序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black">
          <a:xfrm>
            <a:off x="2362200" y="3124201"/>
            <a:ext cx="693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00"/>
                </a:solidFill>
              </a:rPr>
              <a:t>利用极坐标计算二重积分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black">
          <a:xfrm>
            <a:off x="2362200" y="1143000"/>
            <a:ext cx="7543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</a:rPr>
              <a:t>     </a:t>
            </a:r>
            <a:r>
              <a:rPr lang="zh-CN" altLang="en-US" sz="2800" b="1" dirty="0">
                <a:solidFill>
                  <a:srgbClr val="000000"/>
                </a:solidFill>
              </a:rPr>
              <a:t>由所给的二次积分的顺序及积分限，确定积分区域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（画出图形），再按新的积分顺序将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用新的不等式表出，即定出新的积分限。 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black">
          <a:xfrm>
            <a:off x="2301240" y="3886201"/>
            <a:ext cx="563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</a:rPr>
              <a:t>积分顺序通常是先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</a:rPr>
              <a:t>后</a:t>
            </a:r>
            <a:r>
              <a:rPr lang="zh-CN" altLang="en-US" sz="2800" b="1" i="1" dirty="0">
                <a:solidFill>
                  <a:srgbClr val="000000"/>
                </a:solidFill>
                <a:sym typeface="Symbol" panose="05050102010706020507" pitchFamily="18" charset="2"/>
              </a:rPr>
              <a:t></a:t>
            </a:r>
            <a:endParaRPr lang="zh-CN" altLang="en-US" sz="2800" b="1" i="1" dirty="0">
              <a:solidFill>
                <a:srgbClr val="000000"/>
              </a:solidFill>
            </a:endParaRPr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black">
          <a:xfrm>
            <a:off x="2362200" y="4648201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的极坐标表示 </a:t>
            </a:r>
          </a:p>
        </p:txBody>
      </p:sp>
    </p:spTree>
    <p:extLst>
      <p:ext uri="{BB962C8B-B14F-4D97-AF65-F5344CB8AC3E}">
        <p14:creationId xmlns:p14="http://schemas.microsoft.com/office/powerpoint/2010/main" val="162539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autoUpdateAnimBg="0"/>
      <p:bldP spid="40964" grpId="0" autoUpdateAnimBg="0"/>
      <p:bldP spid="40965" grpId="0" autoUpdateAnimBg="0"/>
      <p:bldP spid="4096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F288-640A-4041-A82A-B6A41877FF12}" type="slidenum">
              <a:rPr lang="en-US" altLang="zh-CN"/>
              <a:pPr/>
              <a:t>3</a:t>
            </a:fld>
            <a:endParaRPr lang="en-US" altLang="zh-CN"/>
          </a:p>
        </p:txBody>
      </p:sp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2105026" y="473076"/>
          <a:ext cx="23161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5" name="Equation" r:id="rId3" imgW="965160" imgH="215640" progId="Equation.DSMT4">
                  <p:embed/>
                </p:oleObj>
              </mc:Choice>
              <mc:Fallback>
                <p:oleObj name="Equation" r:id="rId3" imgW="965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05026" y="473076"/>
                        <a:ext cx="231616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47963"/>
              </p:ext>
            </p:extLst>
          </p:nvPr>
        </p:nvGraphicFramePr>
        <p:xfrm>
          <a:off x="2308225" y="1052513"/>
          <a:ext cx="4914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6" name="Equation" r:id="rId5" imgW="2006280" imgH="228600" progId="Equation.DSMT4">
                  <p:embed/>
                </p:oleObj>
              </mc:Choice>
              <mc:Fallback>
                <p:oleObj name="Equation" r:id="rId5" imgW="2006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08225" y="1052513"/>
                        <a:ext cx="49149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2074863" y="1616076"/>
          <a:ext cx="39306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7" name="Equation" r:id="rId7" imgW="1638000" imgH="215640" progId="Equation.DSMT4">
                  <p:embed/>
                </p:oleObj>
              </mc:Choice>
              <mc:Fallback>
                <p:oleObj name="Equation" r:id="rId7" imgW="1638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74863" y="1616076"/>
                        <a:ext cx="39306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269287"/>
              </p:ext>
            </p:extLst>
          </p:nvPr>
        </p:nvGraphicFramePr>
        <p:xfrm>
          <a:off x="2308225" y="2286000"/>
          <a:ext cx="45386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8" name="Equation" r:id="rId9" imgW="1688760" imgH="203040" progId="Equation.DSMT4">
                  <p:embed/>
                </p:oleObj>
              </mc:Choice>
              <mc:Fallback>
                <p:oleObj name="Equation" r:id="rId9" imgW="1688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08225" y="2286000"/>
                        <a:ext cx="453866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2090739" y="2852739"/>
          <a:ext cx="35639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9" name="Equation" r:id="rId11" imgW="1485720" imgH="215640" progId="Equation.DSMT4">
                  <p:embed/>
                </p:oleObj>
              </mc:Choice>
              <mc:Fallback>
                <p:oleObj name="Equation" r:id="rId11" imgW="1485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90739" y="2852739"/>
                        <a:ext cx="3563937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601172"/>
              </p:ext>
            </p:extLst>
          </p:nvPr>
        </p:nvGraphicFramePr>
        <p:xfrm>
          <a:off x="2292350" y="3468688"/>
          <a:ext cx="41894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0" name="Equation" r:id="rId13" imgW="1726920" imgH="203040" progId="Equation.DSMT4">
                  <p:embed/>
                </p:oleObj>
              </mc:Choice>
              <mc:Fallback>
                <p:oleObj name="Equation" r:id="rId13" imgW="1726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92350" y="3468688"/>
                        <a:ext cx="4189413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Rectangle 8"/>
          <p:cNvSpPr>
            <a:spLocks noChangeArrowheads="1"/>
          </p:cNvSpPr>
          <p:nvPr/>
        </p:nvSpPr>
        <p:spPr bwMode="black">
          <a:xfrm>
            <a:off x="1981201" y="4117976"/>
            <a:ext cx="5122863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</a:rPr>
              <a:t>   </a:t>
            </a:r>
            <a:r>
              <a:rPr lang="zh-CN" altLang="en-US" sz="2800" b="1" dirty="0">
                <a:solidFill>
                  <a:srgbClr val="000000"/>
                </a:solidFill>
              </a:rPr>
              <a:t>如</a:t>
            </a:r>
            <a:r>
              <a:rPr lang="en-US" altLang="zh-CN" sz="2800" b="1" i="1" dirty="0">
                <a:solidFill>
                  <a:srgbClr val="000000"/>
                </a:solidFill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的边界是由直角坐标方程</a:t>
            </a:r>
            <a:r>
              <a:rPr lang="en-US" altLang="zh-CN" sz="2800" b="1" dirty="0">
                <a:solidFill>
                  <a:srgbClr val="000000"/>
                </a:solidFill>
              </a:rPr>
              <a:t>: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rgbClr val="000000"/>
                </a:solidFill>
              </a:rPr>
              <a:t>给出，通常可从几何意义去确定</a:t>
            </a:r>
            <a:r>
              <a:rPr lang="en-US" altLang="zh-CN" sz="2800" b="1" i="1" dirty="0">
                <a:solidFill>
                  <a:srgbClr val="000000"/>
                </a:solidFill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的极坐标表示（图形是重要的）或利用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 b="1" dirty="0">
                <a:solidFill>
                  <a:srgbClr val="000000"/>
                </a:solidFill>
              </a:rPr>
              <a:t>，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 b="1" dirty="0">
                <a:solidFill>
                  <a:srgbClr val="000000"/>
                </a:solidFill>
              </a:rPr>
              <a:t>进行变换。</a:t>
            </a:r>
          </a:p>
        </p:txBody>
      </p:sp>
      <p:grpSp>
        <p:nvGrpSpPr>
          <p:cNvPr id="39945" name="Group 9"/>
          <p:cNvGrpSpPr>
            <a:grpSpLocks noChangeAspect="1"/>
          </p:cNvGrpSpPr>
          <p:nvPr/>
        </p:nvGrpSpPr>
        <p:grpSpPr bwMode="auto">
          <a:xfrm>
            <a:off x="7491414" y="2458475"/>
            <a:ext cx="2789574" cy="2123050"/>
            <a:chOff x="3552" y="2342"/>
            <a:chExt cx="2196" cy="1671"/>
          </a:xfrm>
        </p:grpSpPr>
        <p:grpSp>
          <p:nvGrpSpPr>
            <p:cNvPr id="39946" name="Group 10"/>
            <p:cNvGrpSpPr>
              <a:grpSpLocks noChangeAspect="1"/>
            </p:cNvGrpSpPr>
            <p:nvPr/>
          </p:nvGrpSpPr>
          <p:grpSpPr bwMode="auto">
            <a:xfrm>
              <a:off x="4176" y="2357"/>
              <a:ext cx="864" cy="713"/>
              <a:chOff x="4056" y="484"/>
              <a:chExt cx="960" cy="792"/>
            </a:xfrm>
          </p:grpSpPr>
          <p:sp>
            <p:nvSpPr>
              <p:cNvPr id="39947" name="Freeform 11" descr="深色竖线"/>
              <p:cNvSpPr>
                <a:spLocks noChangeAspect="1"/>
              </p:cNvSpPr>
              <p:nvPr/>
            </p:nvSpPr>
            <p:spPr bwMode="black">
              <a:xfrm>
                <a:off x="4056" y="484"/>
                <a:ext cx="960" cy="792"/>
              </a:xfrm>
              <a:custGeom>
                <a:avLst/>
                <a:gdLst>
                  <a:gd name="T0" fmla="*/ 0 w 640"/>
                  <a:gd name="T1" fmla="*/ 48 h 576"/>
                  <a:gd name="T2" fmla="*/ 192 w 640"/>
                  <a:gd name="T3" fmla="*/ 0 h 576"/>
                  <a:gd name="T4" fmla="*/ 384 w 640"/>
                  <a:gd name="T5" fmla="*/ 48 h 576"/>
                  <a:gd name="T6" fmla="*/ 528 w 640"/>
                  <a:gd name="T7" fmla="*/ 144 h 576"/>
                  <a:gd name="T8" fmla="*/ 624 w 640"/>
                  <a:gd name="T9" fmla="*/ 384 h 576"/>
                  <a:gd name="T10" fmla="*/ 624 w 640"/>
                  <a:gd name="T11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0" h="576">
                    <a:moveTo>
                      <a:pt x="0" y="48"/>
                    </a:moveTo>
                    <a:cubicBezTo>
                      <a:pt x="64" y="24"/>
                      <a:pt x="128" y="0"/>
                      <a:pt x="192" y="0"/>
                    </a:cubicBezTo>
                    <a:cubicBezTo>
                      <a:pt x="256" y="0"/>
                      <a:pt x="328" y="24"/>
                      <a:pt x="384" y="48"/>
                    </a:cubicBezTo>
                    <a:cubicBezTo>
                      <a:pt x="440" y="72"/>
                      <a:pt x="488" y="88"/>
                      <a:pt x="528" y="144"/>
                    </a:cubicBezTo>
                    <a:cubicBezTo>
                      <a:pt x="568" y="200"/>
                      <a:pt x="608" y="312"/>
                      <a:pt x="624" y="384"/>
                    </a:cubicBezTo>
                    <a:cubicBezTo>
                      <a:pt x="640" y="456"/>
                      <a:pt x="632" y="516"/>
                      <a:pt x="624" y="576"/>
                    </a:cubicBezTo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 cmpd="sng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8" name="Freeform 12" descr="深色竖线"/>
              <p:cNvSpPr>
                <a:spLocks noChangeAspect="1"/>
              </p:cNvSpPr>
              <p:nvPr/>
            </p:nvSpPr>
            <p:spPr bwMode="black">
              <a:xfrm>
                <a:off x="4056" y="556"/>
                <a:ext cx="936" cy="720"/>
              </a:xfrm>
              <a:custGeom>
                <a:avLst/>
                <a:gdLst>
                  <a:gd name="T0" fmla="*/ 0 w 624"/>
                  <a:gd name="T1" fmla="*/ 0 h 480"/>
                  <a:gd name="T2" fmla="*/ 96 w 624"/>
                  <a:gd name="T3" fmla="*/ 240 h 480"/>
                  <a:gd name="T4" fmla="*/ 384 w 624"/>
                  <a:gd name="T5" fmla="*/ 384 h 480"/>
                  <a:gd name="T6" fmla="*/ 624 w 624"/>
                  <a:gd name="T7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24" h="480">
                    <a:moveTo>
                      <a:pt x="0" y="0"/>
                    </a:moveTo>
                    <a:cubicBezTo>
                      <a:pt x="16" y="88"/>
                      <a:pt x="32" y="176"/>
                      <a:pt x="96" y="240"/>
                    </a:cubicBezTo>
                    <a:cubicBezTo>
                      <a:pt x="160" y="304"/>
                      <a:pt x="296" y="344"/>
                      <a:pt x="384" y="384"/>
                    </a:cubicBezTo>
                    <a:cubicBezTo>
                      <a:pt x="472" y="424"/>
                      <a:pt x="548" y="452"/>
                      <a:pt x="624" y="480"/>
                    </a:cubicBezTo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 cmpd="sng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49" name="Line 13"/>
            <p:cNvSpPr>
              <a:spLocks noChangeAspect="1" noChangeShapeType="1"/>
            </p:cNvSpPr>
            <p:nvPr/>
          </p:nvSpPr>
          <p:spPr bwMode="black">
            <a:xfrm flipV="1">
              <a:off x="3695" y="3079"/>
              <a:ext cx="1297" cy="55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Line 14"/>
            <p:cNvSpPr>
              <a:spLocks noChangeAspect="1" noChangeShapeType="1"/>
            </p:cNvSpPr>
            <p:nvPr/>
          </p:nvSpPr>
          <p:spPr bwMode="black">
            <a:xfrm flipH="1">
              <a:off x="3695" y="2453"/>
              <a:ext cx="474" cy="1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5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4366071"/>
                </p:ext>
              </p:extLst>
            </p:nvPr>
          </p:nvGraphicFramePr>
          <p:xfrm>
            <a:off x="4876" y="3022"/>
            <a:ext cx="80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11" name="Equation" r:id="rId15" imgW="596880" imgH="215640" progId="Equation.DSMT4">
                    <p:embed/>
                  </p:oleObj>
                </mc:Choice>
                <mc:Fallback>
                  <p:oleObj name="Equation" r:id="rId15" imgW="59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876" y="3022"/>
                          <a:ext cx="808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2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3968958"/>
                </p:ext>
              </p:extLst>
            </p:nvPr>
          </p:nvGraphicFramePr>
          <p:xfrm>
            <a:off x="4943" y="2342"/>
            <a:ext cx="80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12" name="Equation" r:id="rId17" imgW="596880" imgH="215640" progId="Equation.DSMT4">
                    <p:embed/>
                  </p:oleObj>
                </mc:Choice>
                <mc:Fallback>
                  <p:oleObj name="Equation" r:id="rId17" imgW="59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943" y="2342"/>
                          <a:ext cx="805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3" name="Line 17"/>
            <p:cNvSpPr>
              <a:spLocks noChangeAspect="1" noChangeShapeType="1"/>
            </p:cNvSpPr>
            <p:nvPr/>
          </p:nvSpPr>
          <p:spPr bwMode="black">
            <a:xfrm>
              <a:off x="3695" y="3635"/>
              <a:ext cx="14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4" name="Rectangle 18"/>
            <p:cNvSpPr>
              <a:spLocks noChangeAspect="1" noChangeArrowheads="1"/>
            </p:cNvSpPr>
            <p:nvPr/>
          </p:nvSpPr>
          <p:spPr bwMode="black">
            <a:xfrm>
              <a:off x="3552" y="3607"/>
              <a:ext cx="321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9955" name="Rectangle 19"/>
            <p:cNvSpPr>
              <a:spLocks noChangeAspect="1" noChangeArrowheads="1"/>
            </p:cNvSpPr>
            <p:nvPr/>
          </p:nvSpPr>
          <p:spPr bwMode="black">
            <a:xfrm>
              <a:off x="4980" y="3629"/>
              <a:ext cx="275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9956" name="Rectangle 20"/>
            <p:cNvSpPr>
              <a:spLocks noChangeAspect="1" noChangeArrowheads="1"/>
            </p:cNvSpPr>
            <p:nvPr/>
          </p:nvSpPr>
          <p:spPr bwMode="black">
            <a:xfrm>
              <a:off x="4608" y="2549"/>
              <a:ext cx="33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39957" name="Group 21"/>
            <p:cNvGrpSpPr>
              <a:grpSpLocks noChangeAspect="1"/>
            </p:cNvGrpSpPr>
            <p:nvPr/>
          </p:nvGrpSpPr>
          <p:grpSpPr bwMode="auto">
            <a:xfrm>
              <a:off x="3969" y="3475"/>
              <a:ext cx="356" cy="202"/>
              <a:chOff x="3969" y="3475"/>
              <a:chExt cx="356" cy="202"/>
            </a:xfrm>
          </p:grpSpPr>
          <p:sp>
            <p:nvSpPr>
              <p:cNvPr id="39958" name="Arc 22"/>
              <p:cNvSpPr>
                <a:spLocks noChangeAspect="1"/>
              </p:cNvSpPr>
              <p:nvPr/>
            </p:nvSpPr>
            <p:spPr bwMode="auto">
              <a:xfrm>
                <a:off x="3969" y="3521"/>
                <a:ext cx="102" cy="10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2798"/>
                  <a:gd name="T2" fmla="*/ 21567 w 21600"/>
                  <a:gd name="T3" fmla="*/ 22798 h 22798"/>
                  <a:gd name="T4" fmla="*/ 0 w 21600"/>
                  <a:gd name="T5" fmla="*/ 21600 h 22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2798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</a:path>
                  <a:path w="21600" h="22798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59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1820864"/>
                  </p:ext>
                </p:extLst>
              </p:nvPr>
            </p:nvGraphicFramePr>
            <p:xfrm>
              <a:off x="4105" y="3475"/>
              <a:ext cx="220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513" name="Equation" r:id="rId19" imgW="152280" imgH="139680" progId="Equation.DSMT4">
                      <p:embed/>
                    </p:oleObj>
                  </mc:Choice>
                  <mc:Fallback>
                    <p:oleObj name="Equation" r:id="rId19" imgW="1522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4105" y="3475"/>
                            <a:ext cx="220" cy="2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9960" name="Group 24"/>
            <p:cNvGrpSpPr>
              <a:grpSpLocks noChangeAspect="1"/>
            </p:cNvGrpSpPr>
            <p:nvPr/>
          </p:nvGrpSpPr>
          <p:grpSpPr bwMode="auto">
            <a:xfrm>
              <a:off x="3742" y="3203"/>
              <a:ext cx="306" cy="418"/>
              <a:chOff x="3756" y="3203"/>
              <a:chExt cx="306" cy="418"/>
            </a:xfrm>
          </p:grpSpPr>
          <p:sp>
            <p:nvSpPr>
              <p:cNvPr id="39961" name="Arc 25"/>
              <p:cNvSpPr>
                <a:spLocks noChangeAspect="1"/>
              </p:cNvSpPr>
              <p:nvPr/>
            </p:nvSpPr>
            <p:spPr bwMode="auto">
              <a:xfrm>
                <a:off x="3756" y="3485"/>
                <a:ext cx="129" cy="13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2798"/>
                  <a:gd name="T2" fmla="*/ 21567 w 21600"/>
                  <a:gd name="T3" fmla="*/ 22798 h 22798"/>
                  <a:gd name="T4" fmla="*/ 0 w 21600"/>
                  <a:gd name="T5" fmla="*/ 21600 h 22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2798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</a:path>
                  <a:path w="21600" h="22798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62" name="Object 26"/>
              <p:cNvGraphicFramePr>
                <a:graphicFrameLocks noChangeAspect="1"/>
              </p:cNvGraphicFramePr>
              <p:nvPr/>
            </p:nvGraphicFramePr>
            <p:xfrm>
              <a:off x="3833" y="3203"/>
              <a:ext cx="229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514" name="Equation" r:id="rId21" imgW="164880" imgH="203040" progId="Equation.DSMT4">
                      <p:embed/>
                    </p:oleObj>
                  </mc:Choice>
                  <mc:Fallback>
                    <p:oleObj name="Equation" r:id="rId21" imgW="1648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833" y="3203"/>
                            <a:ext cx="229" cy="2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9963" name="Group 27"/>
          <p:cNvGrpSpPr>
            <a:grpSpLocks noChangeAspect="1"/>
          </p:cNvGrpSpPr>
          <p:nvPr/>
        </p:nvGrpSpPr>
        <p:grpSpPr bwMode="auto">
          <a:xfrm>
            <a:off x="7404100" y="333376"/>
            <a:ext cx="2579688" cy="2225675"/>
            <a:chOff x="3424" y="436"/>
            <a:chExt cx="2031" cy="1752"/>
          </a:xfrm>
        </p:grpSpPr>
        <p:sp>
          <p:nvSpPr>
            <p:cNvPr id="39964" name="Freeform 28" descr="深色上对角线"/>
            <p:cNvSpPr>
              <a:spLocks noChangeAspect="1"/>
            </p:cNvSpPr>
            <p:nvPr/>
          </p:nvSpPr>
          <p:spPr bwMode="auto">
            <a:xfrm>
              <a:off x="3878" y="572"/>
              <a:ext cx="975" cy="862"/>
            </a:xfrm>
            <a:custGeom>
              <a:avLst/>
              <a:gdLst>
                <a:gd name="T0" fmla="*/ 159 w 984"/>
                <a:gd name="T1" fmla="*/ 0 h 870"/>
                <a:gd name="T2" fmla="*/ 522 w 984"/>
                <a:gd name="T3" fmla="*/ 46 h 870"/>
                <a:gd name="T4" fmla="*/ 704 w 984"/>
                <a:gd name="T5" fmla="*/ 137 h 870"/>
                <a:gd name="T6" fmla="*/ 885 w 984"/>
                <a:gd name="T7" fmla="*/ 318 h 870"/>
                <a:gd name="T8" fmla="*/ 930 w 984"/>
                <a:gd name="T9" fmla="*/ 499 h 870"/>
                <a:gd name="T10" fmla="*/ 976 w 984"/>
                <a:gd name="T11" fmla="*/ 635 h 870"/>
                <a:gd name="T12" fmla="*/ 976 w 984"/>
                <a:gd name="T13" fmla="*/ 681 h 870"/>
                <a:gd name="T14" fmla="*/ 930 w 984"/>
                <a:gd name="T15" fmla="*/ 726 h 870"/>
                <a:gd name="T16" fmla="*/ 794 w 984"/>
                <a:gd name="T17" fmla="*/ 772 h 870"/>
                <a:gd name="T18" fmla="*/ 522 w 984"/>
                <a:gd name="T19" fmla="*/ 862 h 870"/>
                <a:gd name="T20" fmla="*/ 432 w 984"/>
                <a:gd name="T21" fmla="*/ 817 h 870"/>
                <a:gd name="T22" fmla="*/ 341 w 984"/>
                <a:gd name="T23" fmla="*/ 817 h 870"/>
                <a:gd name="T24" fmla="*/ 205 w 984"/>
                <a:gd name="T25" fmla="*/ 726 h 870"/>
                <a:gd name="T26" fmla="*/ 114 w 984"/>
                <a:gd name="T27" fmla="*/ 681 h 870"/>
                <a:gd name="T28" fmla="*/ 23 w 984"/>
                <a:gd name="T29" fmla="*/ 590 h 870"/>
                <a:gd name="T30" fmla="*/ 23 w 984"/>
                <a:gd name="T31" fmla="*/ 545 h 870"/>
                <a:gd name="T32" fmla="*/ 23 w 984"/>
                <a:gd name="T33" fmla="*/ 499 h 870"/>
                <a:gd name="T34" fmla="*/ 159 w 984"/>
                <a:gd name="T35" fmla="*/ 137 h 870"/>
                <a:gd name="T36" fmla="*/ 205 w 984"/>
                <a:gd name="T37" fmla="*/ 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84" h="870">
                  <a:moveTo>
                    <a:pt x="159" y="0"/>
                  </a:moveTo>
                  <a:cubicBezTo>
                    <a:pt x="295" y="11"/>
                    <a:pt x="431" y="23"/>
                    <a:pt x="522" y="46"/>
                  </a:cubicBezTo>
                  <a:cubicBezTo>
                    <a:pt x="613" y="69"/>
                    <a:pt x="644" y="92"/>
                    <a:pt x="704" y="137"/>
                  </a:cubicBezTo>
                  <a:cubicBezTo>
                    <a:pt x="764" y="182"/>
                    <a:pt x="847" y="258"/>
                    <a:pt x="885" y="318"/>
                  </a:cubicBezTo>
                  <a:cubicBezTo>
                    <a:pt x="923" y="378"/>
                    <a:pt x="915" y="446"/>
                    <a:pt x="930" y="499"/>
                  </a:cubicBezTo>
                  <a:cubicBezTo>
                    <a:pt x="945" y="552"/>
                    <a:pt x="968" y="605"/>
                    <a:pt x="976" y="635"/>
                  </a:cubicBezTo>
                  <a:cubicBezTo>
                    <a:pt x="984" y="665"/>
                    <a:pt x="984" y="666"/>
                    <a:pt x="976" y="681"/>
                  </a:cubicBezTo>
                  <a:cubicBezTo>
                    <a:pt x="968" y="696"/>
                    <a:pt x="960" y="711"/>
                    <a:pt x="930" y="726"/>
                  </a:cubicBezTo>
                  <a:cubicBezTo>
                    <a:pt x="900" y="741"/>
                    <a:pt x="862" y="749"/>
                    <a:pt x="794" y="772"/>
                  </a:cubicBezTo>
                  <a:cubicBezTo>
                    <a:pt x="726" y="795"/>
                    <a:pt x="582" y="854"/>
                    <a:pt x="522" y="862"/>
                  </a:cubicBezTo>
                  <a:cubicBezTo>
                    <a:pt x="462" y="870"/>
                    <a:pt x="462" y="824"/>
                    <a:pt x="432" y="817"/>
                  </a:cubicBezTo>
                  <a:cubicBezTo>
                    <a:pt x="402" y="810"/>
                    <a:pt x="379" y="832"/>
                    <a:pt x="341" y="817"/>
                  </a:cubicBezTo>
                  <a:cubicBezTo>
                    <a:pt x="303" y="802"/>
                    <a:pt x="243" y="749"/>
                    <a:pt x="205" y="726"/>
                  </a:cubicBezTo>
                  <a:cubicBezTo>
                    <a:pt x="167" y="703"/>
                    <a:pt x="144" y="704"/>
                    <a:pt x="114" y="681"/>
                  </a:cubicBezTo>
                  <a:cubicBezTo>
                    <a:pt x="84" y="658"/>
                    <a:pt x="38" y="613"/>
                    <a:pt x="23" y="590"/>
                  </a:cubicBezTo>
                  <a:cubicBezTo>
                    <a:pt x="8" y="567"/>
                    <a:pt x="23" y="560"/>
                    <a:pt x="23" y="545"/>
                  </a:cubicBezTo>
                  <a:cubicBezTo>
                    <a:pt x="23" y="530"/>
                    <a:pt x="0" y="567"/>
                    <a:pt x="23" y="499"/>
                  </a:cubicBezTo>
                  <a:cubicBezTo>
                    <a:pt x="46" y="431"/>
                    <a:pt x="129" y="220"/>
                    <a:pt x="159" y="137"/>
                  </a:cubicBezTo>
                  <a:cubicBezTo>
                    <a:pt x="189" y="54"/>
                    <a:pt x="197" y="27"/>
                    <a:pt x="205" y="0"/>
                  </a:cubicBezTo>
                </a:path>
              </a:pathLst>
            </a:custGeom>
            <a:pattFill prst="dkUpDiag">
              <a:fgClr>
                <a:schemeClr val="accent1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5" name="Line 29"/>
            <p:cNvSpPr>
              <a:spLocks noChangeAspect="1" noChangeShapeType="1"/>
            </p:cNvSpPr>
            <p:nvPr/>
          </p:nvSpPr>
          <p:spPr bwMode="black">
            <a:xfrm flipV="1">
              <a:off x="3567" y="1469"/>
              <a:ext cx="795" cy="341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6" name="Line 30"/>
            <p:cNvSpPr>
              <a:spLocks noChangeAspect="1" noChangeShapeType="1"/>
            </p:cNvSpPr>
            <p:nvPr/>
          </p:nvSpPr>
          <p:spPr bwMode="black">
            <a:xfrm flipH="1">
              <a:off x="3567" y="1089"/>
              <a:ext cx="289" cy="72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967" name="Group 31"/>
            <p:cNvGrpSpPr>
              <a:grpSpLocks noChangeAspect="1"/>
            </p:cNvGrpSpPr>
            <p:nvPr/>
          </p:nvGrpSpPr>
          <p:grpSpPr bwMode="auto">
            <a:xfrm>
              <a:off x="3873" y="586"/>
              <a:ext cx="980" cy="870"/>
              <a:chOff x="1008" y="1041"/>
              <a:chExt cx="1153" cy="1023"/>
            </a:xfrm>
          </p:grpSpPr>
          <p:sp>
            <p:nvSpPr>
              <p:cNvPr id="39968" name="Freeform 32"/>
              <p:cNvSpPr>
                <a:spLocks noChangeAspect="1"/>
              </p:cNvSpPr>
              <p:nvPr/>
            </p:nvSpPr>
            <p:spPr bwMode="black">
              <a:xfrm>
                <a:off x="1225" y="1041"/>
                <a:ext cx="936" cy="792"/>
              </a:xfrm>
              <a:custGeom>
                <a:avLst/>
                <a:gdLst>
                  <a:gd name="T0" fmla="*/ 0 w 624"/>
                  <a:gd name="T1" fmla="*/ 0 h 432"/>
                  <a:gd name="T2" fmla="*/ 336 w 624"/>
                  <a:gd name="T3" fmla="*/ 48 h 432"/>
                  <a:gd name="T4" fmla="*/ 528 w 624"/>
                  <a:gd name="T5" fmla="*/ 192 h 432"/>
                  <a:gd name="T6" fmla="*/ 624 w 624"/>
                  <a:gd name="T7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24" h="432">
                    <a:moveTo>
                      <a:pt x="0" y="0"/>
                    </a:moveTo>
                    <a:cubicBezTo>
                      <a:pt x="124" y="8"/>
                      <a:pt x="248" y="16"/>
                      <a:pt x="336" y="48"/>
                    </a:cubicBezTo>
                    <a:cubicBezTo>
                      <a:pt x="424" y="80"/>
                      <a:pt x="480" y="128"/>
                      <a:pt x="528" y="192"/>
                    </a:cubicBezTo>
                    <a:cubicBezTo>
                      <a:pt x="576" y="256"/>
                      <a:pt x="600" y="344"/>
                      <a:pt x="624" y="432"/>
                    </a:cubicBezTo>
                  </a:path>
                </a:pathLst>
              </a:custGeom>
              <a:noFill/>
              <a:ln w="38100" cmpd="sng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Freeform 33"/>
              <p:cNvSpPr>
                <a:spLocks noChangeAspect="1"/>
              </p:cNvSpPr>
              <p:nvPr/>
            </p:nvSpPr>
            <p:spPr bwMode="black">
              <a:xfrm>
                <a:off x="1008" y="1617"/>
                <a:ext cx="577" cy="432"/>
              </a:xfrm>
              <a:custGeom>
                <a:avLst/>
                <a:gdLst>
                  <a:gd name="T0" fmla="*/ 0 w 384"/>
                  <a:gd name="T1" fmla="*/ 0 h 288"/>
                  <a:gd name="T2" fmla="*/ 96 w 384"/>
                  <a:gd name="T3" fmla="*/ 144 h 288"/>
                  <a:gd name="T4" fmla="*/ 384 w 384"/>
                  <a:gd name="T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88">
                    <a:moveTo>
                      <a:pt x="0" y="0"/>
                    </a:moveTo>
                    <a:cubicBezTo>
                      <a:pt x="16" y="48"/>
                      <a:pt x="32" y="96"/>
                      <a:pt x="96" y="144"/>
                    </a:cubicBezTo>
                    <a:cubicBezTo>
                      <a:pt x="160" y="192"/>
                      <a:pt x="336" y="264"/>
                      <a:pt x="384" y="288"/>
                    </a:cubicBezTo>
                  </a:path>
                </a:pathLst>
              </a:custGeom>
              <a:noFill/>
              <a:ln w="38100" cmpd="sng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34"/>
              <p:cNvSpPr>
                <a:spLocks noChangeAspect="1" noChangeShapeType="1"/>
              </p:cNvSpPr>
              <p:nvPr/>
            </p:nvSpPr>
            <p:spPr bwMode="black">
              <a:xfrm flipH="1">
                <a:off x="1008" y="1041"/>
                <a:ext cx="217" cy="576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35"/>
              <p:cNvSpPr>
                <a:spLocks noChangeAspect="1" noChangeShapeType="1"/>
              </p:cNvSpPr>
              <p:nvPr/>
            </p:nvSpPr>
            <p:spPr bwMode="black">
              <a:xfrm flipV="1">
                <a:off x="1585" y="1848"/>
                <a:ext cx="576" cy="216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9972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3285959"/>
                </p:ext>
              </p:extLst>
            </p:nvPr>
          </p:nvGraphicFramePr>
          <p:xfrm>
            <a:off x="4647" y="1344"/>
            <a:ext cx="80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15" name="Equation" r:id="rId23" imgW="596880" imgH="215640" progId="Equation.DSMT4">
                    <p:embed/>
                  </p:oleObj>
                </mc:Choice>
                <mc:Fallback>
                  <p:oleObj name="Equation" r:id="rId23" imgW="59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647" y="1344"/>
                          <a:ext cx="808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3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5989920"/>
                </p:ext>
              </p:extLst>
            </p:nvPr>
          </p:nvGraphicFramePr>
          <p:xfrm>
            <a:off x="4635" y="436"/>
            <a:ext cx="80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16" name="Equation" r:id="rId25" imgW="596880" imgH="215640" progId="Equation.DSMT4">
                    <p:embed/>
                  </p:oleObj>
                </mc:Choice>
                <mc:Fallback>
                  <p:oleObj name="Equation" r:id="rId25" imgW="59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635" y="436"/>
                          <a:ext cx="805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9974" name="Group 38"/>
            <p:cNvGrpSpPr>
              <a:grpSpLocks noChangeAspect="1"/>
            </p:cNvGrpSpPr>
            <p:nvPr/>
          </p:nvGrpSpPr>
          <p:grpSpPr bwMode="auto">
            <a:xfrm>
              <a:off x="3424" y="1782"/>
              <a:ext cx="1703" cy="406"/>
              <a:chOff x="480" y="2448"/>
              <a:chExt cx="2004" cy="478"/>
            </a:xfrm>
          </p:grpSpPr>
          <p:sp>
            <p:nvSpPr>
              <p:cNvPr id="39975" name="Line 39"/>
              <p:cNvSpPr>
                <a:spLocks noChangeAspect="1" noChangeShapeType="1"/>
              </p:cNvSpPr>
              <p:nvPr/>
            </p:nvSpPr>
            <p:spPr bwMode="black">
              <a:xfrm>
                <a:off x="648" y="2481"/>
                <a:ext cx="16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6" name="Rectangle 40"/>
              <p:cNvSpPr>
                <a:spLocks noChangeAspect="1" noChangeArrowheads="1"/>
              </p:cNvSpPr>
              <p:nvPr/>
            </p:nvSpPr>
            <p:spPr bwMode="black">
              <a:xfrm>
                <a:off x="480" y="2448"/>
                <a:ext cx="378" cy="4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39977" name="Rectangle 41"/>
              <p:cNvSpPr>
                <a:spLocks noChangeAspect="1" noChangeArrowheads="1"/>
              </p:cNvSpPr>
              <p:nvPr/>
            </p:nvSpPr>
            <p:spPr bwMode="black">
              <a:xfrm>
                <a:off x="2160" y="2473"/>
                <a:ext cx="324" cy="4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</p:grpSp>
        <p:sp>
          <p:nvSpPr>
            <p:cNvPr id="39978" name="Rectangle 42"/>
            <p:cNvSpPr>
              <a:spLocks noChangeAspect="1" noChangeArrowheads="1"/>
            </p:cNvSpPr>
            <p:nvPr/>
          </p:nvSpPr>
          <p:spPr bwMode="black">
            <a:xfrm>
              <a:off x="4195" y="799"/>
              <a:ext cx="33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39979" name="Group 43"/>
            <p:cNvGrpSpPr>
              <a:grpSpLocks noChangeAspect="1"/>
            </p:cNvGrpSpPr>
            <p:nvPr/>
          </p:nvGrpSpPr>
          <p:grpSpPr bwMode="auto">
            <a:xfrm>
              <a:off x="3606" y="1389"/>
              <a:ext cx="306" cy="418"/>
              <a:chOff x="3756" y="3203"/>
              <a:chExt cx="306" cy="418"/>
            </a:xfrm>
          </p:grpSpPr>
          <p:sp>
            <p:nvSpPr>
              <p:cNvPr id="39980" name="Arc 44"/>
              <p:cNvSpPr>
                <a:spLocks noChangeAspect="1"/>
              </p:cNvSpPr>
              <p:nvPr/>
            </p:nvSpPr>
            <p:spPr bwMode="auto">
              <a:xfrm>
                <a:off x="3756" y="3485"/>
                <a:ext cx="129" cy="13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2798"/>
                  <a:gd name="T2" fmla="*/ 21567 w 21600"/>
                  <a:gd name="T3" fmla="*/ 22798 h 22798"/>
                  <a:gd name="T4" fmla="*/ 0 w 21600"/>
                  <a:gd name="T5" fmla="*/ 21600 h 22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2798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</a:path>
                  <a:path w="21600" h="22798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81" name="Object 45"/>
              <p:cNvGraphicFramePr>
                <a:graphicFrameLocks noChangeAspect="1"/>
              </p:cNvGraphicFramePr>
              <p:nvPr/>
            </p:nvGraphicFramePr>
            <p:xfrm>
              <a:off x="3833" y="3203"/>
              <a:ext cx="229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517" name="Equation" r:id="rId27" imgW="164880" imgH="203040" progId="Equation.DSMT4">
                      <p:embed/>
                    </p:oleObj>
                  </mc:Choice>
                  <mc:Fallback>
                    <p:oleObj name="Equation" r:id="rId27" imgW="1648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833" y="3203"/>
                            <a:ext cx="229" cy="2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9982" name="Group 46"/>
            <p:cNvGrpSpPr>
              <a:grpSpLocks noChangeAspect="1"/>
            </p:cNvGrpSpPr>
            <p:nvPr/>
          </p:nvGrpSpPr>
          <p:grpSpPr bwMode="auto">
            <a:xfrm>
              <a:off x="3833" y="1661"/>
              <a:ext cx="356" cy="202"/>
              <a:chOff x="3969" y="3475"/>
              <a:chExt cx="356" cy="202"/>
            </a:xfrm>
          </p:grpSpPr>
          <p:sp>
            <p:nvSpPr>
              <p:cNvPr id="39983" name="Arc 47"/>
              <p:cNvSpPr>
                <a:spLocks noChangeAspect="1"/>
              </p:cNvSpPr>
              <p:nvPr/>
            </p:nvSpPr>
            <p:spPr bwMode="auto">
              <a:xfrm>
                <a:off x="3969" y="3521"/>
                <a:ext cx="102" cy="10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2798"/>
                  <a:gd name="T2" fmla="*/ 21567 w 21600"/>
                  <a:gd name="T3" fmla="*/ 22798 h 22798"/>
                  <a:gd name="T4" fmla="*/ 0 w 21600"/>
                  <a:gd name="T5" fmla="*/ 21600 h 22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2798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</a:path>
                  <a:path w="21600" h="22798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84" name="Object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9135934"/>
                  </p:ext>
                </p:extLst>
              </p:nvPr>
            </p:nvGraphicFramePr>
            <p:xfrm>
              <a:off x="4105" y="3475"/>
              <a:ext cx="220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518" name="Equation" r:id="rId29" imgW="152280" imgH="139680" progId="Equation.DSMT4">
                      <p:embed/>
                    </p:oleObj>
                  </mc:Choice>
                  <mc:Fallback>
                    <p:oleObj name="Equation" r:id="rId29" imgW="1522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4105" y="3475"/>
                            <a:ext cx="220" cy="2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9985" name="Line 49"/>
          <p:cNvSpPr>
            <a:spLocks noChangeAspect="1" noChangeShapeType="1"/>
          </p:cNvSpPr>
          <p:nvPr/>
        </p:nvSpPr>
        <p:spPr bwMode="auto">
          <a:xfrm flipV="1">
            <a:off x="7383464" y="2332038"/>
            <a:ext cx="1646237" cy="2195512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6" name="Line 50"/>
          <p:cNvSpPr>
            <a:spLocks noChangeAspect="1" noChangeShapeType="1"/>
          </p:cNvSpPr>
          <p:nvPr/>
        </p:nvSpPr>
        <p:spPr bwMode="auto">
          <a:xfrm flipV="1">
            <a:off x="7467600" y="90488"/>
            <a:ext cx="1646238" cy="2195512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9987" name="Group 51"/>
          <p:cNvGrpSpPr>
            <a:grpSpLocks noChangeAspect="1"/>
          </p:cNvGrpSpPr>
          <p:nvPr/>
        </p:nvGrpSpPr>
        <p:grpSpPr bwMode="auto">
          <a:xfrm>
            <a:off x="7751764" y="4652963"/>
            <a:ext cx="2478087" cy="1936750"/>
            <a:chOff x="3744" y="528"/>
            <a:chExt cx="1950" cy="1524"/>
          </a:xfrm>
        </p:grpSpPr>
        <p:graphicFrame>
          <p:nvGraphicFramePr>
            <p:cNvPr id="39988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0726725"/>
                </p:ext>
              </p:extLst>
            </p:nvPr>
          </p:nvGraphicFramePr>
          <p:xfrm>
            <a:off x="4367" y="528"/>
            <a:ext cx="77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19" name="Equation" r:id="rId31" imgW="571320" imgH="203040" progId="Equation.DSMT4">
                    <p:embed/>
                  </p:oleObj>
                </mc:Choice>
                <mc:Fallback>
                  <p:oleObj name="Equation" r:id="rId31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367" y="528"/>
                          <a:ext cx="773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9989" name="Group 53"/>
            <p:cNvGrpSpPr>
              <a:grpSpLocks noChangeAspect="1"/>
            </p:cNvGrpSpPr>
            <p:nvPr/>
          </p:nvGrpSpPr>
          <p:grpSpPr bwMode="auto">
            <a:xfrm>
              <a:off x="3744" y="720"/>
              <a:ext cx="1172" cy="1332"/>
              <a:chOff x="1008" y="1296"/>
              <a:chExt cx="1530" cy="1739"/>
            </a:xfrm>
          </p:grpSpPr>
          <p:sp>
            <p:nvSpPr>
              <p:cNvPr id="39990" name="Arc 54" descr="深色竖线"/>
              <p:cNvSpPr>
                <a:spLocks noChangeAspect="1"/>
              </p:cNvSpPr>
              <p:nvPr/>
            </p:nvSpPr>
            <p:spPr bwMode="black">
              <a:xfrm>
                <a:off x="1565" y="1296"/>
                <a:ext cx="973" cy="111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91" name="Arc 55" descr="深色竖线"/>
              <p:cNvSpPr>
                <a:spLocks noChangeAspect="1"/>
              </p:cNvSpPr>
              <p:nvPr/>
            </p:nvSpPr>
            <p:spPr bwMode="black">
              <a:xfrm flipH="1">
                <a:off x="1008" y="1296"/>
                <a:ext cx="557" cy="55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92" name="Arc 56" descr="深色竖线"/>
              <p:cNvSpPr>
                <a:spLocks noChangeAspect="1"/>
              </p:cNvSpPr>
              <p:nvPr/>
            </p:nvSpPr>
            <p:spPr bwMode="black">
              <a:xfrm flipV="1">
                <a:off x="1843" y="2409"/>
                <a:ext cx="695" cy="62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93" name="Arc 57" descr="深色竖线"/>
              <p:cNvSpPr>
                <a:spLocks noChangeAspect="1"/>
              </p:cNvSpPr>
              <p:nvPr/>
            </p:nvSpPr>
            <p:spPr bwMode="black">
              <a:xfrm flipH="1" flipV="1">
                <a:off x="1008" y="1852"/>
                <a:ext cx="835" cy="118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94" name="Line 58"/>
            <p:cNvSpPr>
              <a:spLocks noChangeAspect="1" noChangeShapeType="1"/>
            </p:cNvSpPr>
            <p:nvPr/>
          </p:nvSpPr>
          <p:spPr bwMode="black">
            <a:xfrm>
              <a:off x="4262" y="1388"/>
              <a:ext cx="12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5" name="Rectangle 59"/>
            <p:cNvSpPr>
              <a:spLocks noChangeAspect="1" noChangeArrowheads="1"/>
            </p:cNvSpPr>
            <p:nvPr/>
          </p:nvSpPr>
          <p:spPr bwMode="black">
            <a:xfrm>
              <a:off x="4017" y="1355"/>
              <a:ext cx="321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996" name="Rectangle 60"/>
            <p:cNvSpPr>
              <a:spLocks noChangeAspect="1" noChangeArrowheads="1"/>
            </p:cNvSpPr>
            <p:nvPr/>
          </p:nvSpPr>
          <p:spPr bwMode="black">
            <a:xfrm>
              <a:off x="5419" y="1382"/>
              <a:ext cx="275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9997" name="Rectangle 61"/>
            <p:cNvSpPr>
              <a:spLocks noChangeAspect="1" noChangeArrowheads="1"/>
            </p:cNvSpPr>
            <p:nvPr/>
          </p:nvSpPr>
          <p:spPr bwMode="black">
            <a:xfrm>
              <a:off x="4369" y="1440"/>
              <a:ext cx="335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39998" name="Line 62"/>
          <p:cNvSpPr>
            <a:spLocks noChangeAspect="1" noChangeShapeType="1"/>
          </p:cNvSpPr>
          <p:nvPr/>
        </p:nvSpPr>
        <p:spPr bwMode="auto">
          <a:xfrm flipH="1" flipV="1">
            <a:off x="7185025" y="4768851"/>
            <a:ext cx="1219200" cy="976313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10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4" grpId="0" autoUpdateAnimBg="0"/>
      <p:bldP spid="39985" grpId="0" animBg="1"/>
      <p:bldP spid="39986" grpId="0" animBg="1"/>
      <p:bldP spid="3999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0785-7017-403C-9E38-E08132BB5FF7}" type="slidenum">
              <a:rPr lang="en-US" altLang="zh-CN"/>
              <a:pPr/>
              <a:t>4</a:t>
            </a:fld>
            <a:endParaRPr lang="en-US" altLang="zh-CN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2397126" y="441326"/>
          <a:ext cx="2771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2" name="Equation" r:id="rId3" imgW="1155600" imgH="215640" progId="Equation.DSMT4">
                  <p:embed/>
                </p:oleObj>
              </mc:Choice>
              <mc:Fallback>
                <p:oleObj name="Equation" r:id="rId3" imgW="1155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97126" y="441326"/>
                        <a:ext cx="277177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495551" y="1052513"/>
          <a:ext cx="7007225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3" name="Equation" r:id="rId5" imgW="2920680" imgH="444240" progId="Equation.DSMT4">
                  <p:embed/>
                </p:oleObj>
              </mc:Choice>
              <mc:Fallback>
                <p:oleObj name="Equation" r:id="rId5" imgW="2920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95551" y="1052513"/>
                        <a:ext cx="7007225" cy="1065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1992313" y="2060576"/>
          <a:ext cx="7586662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4" name="Equation" r:id="rId7" imgW="3162240" imgH="469800" progId="Equation.DSMT4">
                  <p:embed/>
                </p:oleObj>
              </mc:Choice>
              <mc:Fallback>
                <p:oleObj name="Equation" r:id="rId7" imgW="31622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92313" y="2060576"/>
                        <a:ext cx="7586662" cy="112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424113" y="3213101"/>
          <a:ext cx="35941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5" name="Equation" r:id="rId9" imgW="1498320" imgH="203040" progId="Equation.DSMT4">
                  <p:embed/>
                </p:oleObj>
              </mc:Choice>
              <mc:Fallback>
                <p:oleObj name="Equation" r:id="rId9" imgW="1498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24113" y="3213101"/>
                        <a:ext cx="3594100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867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0B51-A83D-4B78-8450-941E8B54CDD2}" type="slidenum">
              <a:rPr lang="en-US" altLang="zh-CN"/>
              <a:pPr/>
              <a:t>5</a:t>
            </a:fld>
            <a:endParaRPr lang="en-US" altLang="zh-CN"/>
          </a:p>
        </p:txBody>
      </p:sp>
      <p:graphicFrame>
        <p:nvGraphicFramePr>
          <p:cNvPr id="317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784210"/>
              </p:ext>
            </p:extLst>
          </p:nvPr>
        </p:nvGraphicFramePr>
        <p:xfrm>
          <a:off x="2079625" y="404813"/>
          <a:ext cx="7305675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52" name="Equation" r:id="rId3" imgW="3047760" imgH="609480" progId="Equation.DSMT4">
                  <p:embed/>
                </p:oleObj>
              </mc:Choice>
              <mc:Fallback>
                <p:oleObj name="Equation" r:id="rId3" imgW="304776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79625" y="404813"/>
                        <a:ext cx="7305675" cy="1462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71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ADAC-7436-4AFE-8E8E-44096A929459}" type="slidenum">
              <a:rPr lang="en-US" altLang="zh-CN"/>
              <a:pPr/>
              <a:t>6</a:t>
            </a:fld>
            <a:endParaRPr lang="en-US" altLang="zh-CN"/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137713"/>
              </p:ext>
            </p:extLst>
          </p:nvPr>
        </p:nvGraphicFramePr>
        <p:xfrm>
          <a:off x="2106613" y="300039"/>
          <a:ext cx="7085012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02" name="Equation" r:id="rId3" imgW="2857320" imgH="558720" progId="Equation.DSMT4">
                  <p:embed/>
                </p:oleObj>
              </mc:Choice>
              <mc:Fallback>
                <p:oleObj name="Equation" r:id="rId3" imgW="28573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06613" y="300039"/>
                        <a:ext cx="7085012" cy="1385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584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220" name="Group 12"/>
          <p:cNvGrpSpPr>
            <a:grpSpLocks/>
          </p:cNvGrpSpPr>
          <p:nvPr/>
        </p:nvGrpSpPr>
        <p:grpSpPr bwMode="auto">
          <a:xfrm>
            <a:off x="1639889" y="426267"/>
            <a:ext cx="8610554" cy="1382710"/>
            <a:chOff x="400" y="658"/>
            <a:chExt cx="5166" cy="871"/>
          </a:xfrm>
        </p:grpSpPr>
        <p:sp>
          <p:nvSpPr>
            <p:cNvPr id="350221" name="Rectangle 13"/>
            <p:cNvSpPr>
              <a:spLocks noChangeArrowheads="1"/>
            </p:cNvSpPr>
            <p:nvPr/>
          </p:nvSpPr>
          <p:spPr bwMode="auto">
            <a:xfrm>
              <a:off x="400" y="660"/>
              <a:ext cx="5166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C00000"/>
                  </a:solidFill>
                  <a:latin typeface="Arial" panose="020B0604020202020204" pitchFamily="34" charset="0"/>
                </a:rPr>
                <a:t>例</a:t>
              </a:r>
              <a:r>
                <a:rPr lang="en-US" altLang="zh-CN" sz="2800" b="1" dirty="0" smtClean="0">
                  <a:solidFill>
                    <a:srgbClr val="C00000"/>
                  </a:solidFill>
                  <a:latin typeface="Arial" panose="020B0604020202020204" pitchFamily="34" charset="0"/>
                </a:rPr>
                <a:t>3</a:t>
              </a:r>
              <a:r>
                <a:rPr lang="en-US" altLang="zh-CN" sz="2800" b="1" dirty="0" smtClean="0">
                  <a:latin typeface="Arial" panose="020B0604020202020204" pitchFamily="34" charset="0"/>
                </a:rPr>
                <a:t> </a:t>
              </a:r>
              <a:r>
                <a:rPr lang="zh-CN" altLang="en-US" sz="2800" b="1" dirty="0">
                  <a:latin typeface="Arial" panose="020B0604020202020204" pitchFamily="34" charset="0"/>
                </a:rPr>
                <a:t>计算二重积分</a:t>
              </a:r>
              <a:r>
                <a:rPr lang="zh-CN" altLang="en-US" sz="2400" b="1" dirty="0">
                  <a:latin typeface="Arial" panose="020B0604020202020204" pitchFamily="34" charset="0"/>
                </a:rPr>
                <a:t>                            </a:t>
              </a:r>
              <a:r>
                <a:rPr lang="en-US" altLang="zh-CN" sz="2400" b="1" dirty="0" smtClean="0">
                  <a:latin typeface="Arial" panose="020B0604020202020204" pitchFamily="34" charset="0"/>
                </a:rPr>
                <a:t>          </a:t>
              </a:r>
              <a:r>
                <a:rPr lang="zh-CN" altLang="en-US" sz="2800" b="1" dirty="0" smtClean="0">
                  <a:latin typeface="Arial" panose="020B0604020202020204" pitchFamily="34" charset="0"/>
                </a:rPr>
                <a:t>其中   是</a:t>
              </a:r>
              <a:r>
                <a:rPr lang="zh-CN" altLang="en-US" sz="2800" b="1" dirty="0">
                  <a:latin typeface="Arial" panose="020B0604020202020204" pitchFamily="34" charset="0"/>
                </a:rPr>
                <a:t>圆周</a:t>
              </a:r>
            </a:p>
          </p:txBody>
        </p:sp>
        <p:graphicFrame>
          <p:nvGraphicFramePr>
            <p:cNvPr id="350222" name="Object 14"/>
            <p:cNvGraphicFramePr>
              <a:graphicFrameLocks noChangeAspect="1"/>
            </p:cNvGraphicFramePr>
            <p:nvPr/>
          </p:nvGraphicFramePr>
          <p:xfrm>
            <a:off x="2122" y="658"/>
            <a:ext cx="1948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55" name="Equation" r:id="rId3" imgW="1422360" imgH="393480" progId="Equation.DSMT4">
                    <p:embed/>
                  </p:oleObj>
                </mc:Choice>
                <mc:Fallback>
                  <p:oleObj name="Equation" r:id="rId3" imgW="14223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2" y="658"/>
                          <a:ext cx="1948" cy="58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2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7199113"/>
                </p:ext>
              </p:extLst>
            </p:nvPr>
          </p:nvGraphicFramePr>
          <p:xfrm>
            <a:off x="4475" y="835"/>
            <a:ext cx="23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56" name="Equation" r:id="rId5" imgW="164885" imgH="164885" progId="Equation.DSMT4">
                    <p:embed/>
                  </p:oleObj>
                </mc:Choice>
                <mc:Fallback>
                  <p:oleObj name="Equation" r:id="rId5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5" y="835"/>
                          <a:ext cx="234" cy="23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24" name="Object 16"/>
            <p:cNvGraphicFramePr>
              <a:graphicFrameLocks noChangeAspect="1"/>
            </p:cNvGraphicFramePr>
            <p:nvPr/>
          </p:nvGraphicFramePr>
          <p:xfrm>
            <a:off x="498" y="1165"/>
            <a:ext cx="1257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57" name="Equation" r:id="rId7" imgW="914400" imgH="228600" progId="Equation.DSMT4">
                    <p:embed/>
                  </p:oleObj>
                </mc:Choice>
                <mc:Fallback>
                  <p:oleObj name="Equation" r:id="rId7" imgW="914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" y="1165"/>
                          <a:ext cx="1257" cy="36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0225" name="Rectangle 17"/>
            <p:cNvSpPr>
              <a:spLocks noChangeArrowheads="1"/>
            </p:cNvSpPr>
            <p:nvPr/>
          </p:nvSpPr>
          <p:spPr bwMode="auto">
            <a:xfrm>
              <a:off x="1546" y="1186"/>
              <a:ext cx="21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 smtClean="0">
                  <a:latin typeface="Arial" panose="020B0604020202020204" pitchFamily="34" charset="0"/>
                </a:rPr>
                <a:t>    所</a:t>
              </a:r>
              <a:r>
                <a:rPr lang="zh-CN" altLang="en-US" sz="2800" b="1" dirty="0">
                  <a:latin typeface="Arial" panose="020B0604020202020204" pitchFamily="34" charset="0"/>
                </a:rPr>
                <a:t>围成的闭区域</a:t>
              </a:r>
              <a:r>
                <a:rPr lang="zh-CN" altLang="en-US" sz="2400" b="1" dirty="0">
                  <a:latin typeface="Arial" panose="020B0604020202020204" pitchFamily="34" charset="0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240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3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147234"/>
              </p:ext>
            </p:extLst>
          </p:nvPr>
        </p:nvGraphicFramePr>
        <p:xfrm>
          <a:off x="6359153" y="412997"/>
          <a:ext cx="4505436" cy="1013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42" name="公式" r:id="rId3" imgW="2374560" imgH="482400" progId="Equation.3">
                  <p:embed/>
                </p:oleObj>
              </mc:Choice>
              <mc:Fallback>
                <p:oleObj name="公式" r:id="rId3" imgW="2374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153" y="412997"/>
                        <a:ext cx="4505436" cy="1013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1028868" y="384674"/>
            <a:ext cx="949325" cy="431800"/>
          </a:xfrm>
        </p:spPr>
        <p:txBody>
          <a:bodyPr>
            <a:noAutofit/>
          </a:bodyPr>
          <a:lstStyle/>
          <a:p>
            <a:pPr algn="l"/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4</a:t>
            </a:r>
            <a:r>
              <a:rPr lang="en-US" altLang="zh-CN" sz="2800" dirty="0" smtClean="0">
                <a:solidFill>
                  <a:srgbClr val="FF0000"/>
                </a:solidFill>
              </a:rPr>
              <a:t>.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27651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717777"/>
              </p:ext>
            </p:extLst>
          </p:nvPr>
        </p:nvGraphicFramePr>
        <p:xfrm>
          <a:off x="2190751" y="336543"/>
          <a:ext cx="4051300" cy="87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43" name="公式" r:id="rId5" imgW="1765080" imgH="393480" progId="Equation.3">
                  <p:embed/>
                </p:oleObj>
              </mc:Choice>
              <mc:Fallback>
                <p:oleObj name="公式" r:id="rId5" imgW="1765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1" y="336543"/>
                        <a:ext cx="4051300" cy="872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056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49336" y="358886"/>
            <a:ext cx="5851525" cy="685800"/>
          </a:xfrm>
        </p:spPr>
        <p:txBody>
          <a:bodyPr/>
          <a:lstStyle/>
          <a:p>
            <a:pPr algn="l"/>
            <a:r>
              <a:rPr lang="zh-CN" altLang="en-US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将积分化为极坐标形式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775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251093"/>
              </p:ext>
            </p:extLst>
          </p:nvPr>
        </p:nvGraphicFramePr>
        <p:xfrm>
          <a:off x="6398418" y="1074057"/>
          <a:ext cx="4342185" cy="1128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7" name="Equation" r:id="rId3" imgW="1752480" imgH="469800" progId="Equation.DSMT4">
                  <p:embed/>
                </p:oleObj>
              </mc:Choice>
              <mc:Fallback>
                <p:oleObj name="Equation" r:id="rId3" imgW="1752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8418" y="1074057"/>
                        <a:ext cx="4342185" cy="11285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172380"/>
              </p:ext>
            </p:extLst>
          </p:nvPr>
        </p:nvGraphicFramePr>
        <p:xfrm>
          <a:off x="3394281" y="1042241"/>
          <a:ext cx="3311319" cy="1006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8" name="公式" r:id="rId5" imgW="1371600" imgH="431640" progId="Equation.3">
                  <p:embed/>
                </p:oleObj>
              </mc:Choice>
              <mc:Fallback>
                <p:oleObj name="公式" r:id="rId5" imgW="1371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281" y="1042241"/>
                        <a:ext cx="3311319" cy="1006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43" name="Text Box 39"/>
          <p:cNvSpPr txBox="1">
            <a:spLocks noChangeArrowheads="1"/>
          </p:cNvSpPr>
          <p:nvPr/>
        </p:nvSpPr>
        <p:spPr bwMode="auto">
          <a:xfrm>
            <a:off x="2635415" y="1328457"/>
            <a:ext cx="6143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93116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8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778224"/>
              </p:ext>
            </p:extLst>
          </p:nvPr>
        </p:nvGraphicFramePr>
        <p:xfrm>
          <a:off x="9240077" y="1505268"/>
          <a:ext cx="2054225" cy="231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1" name="BMP 图象" r:id="rId3" imgW="1657581" imgH="1809524" progId="Paint.Picture">
                  <p:embed/>
                </p:oleObj>
              </mc:Choice>
              <mc:Fallback>
                <p:oleObj name="BMP 图象" r:id="rId3" imgW="1657581" imgH="18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0077" y="1505268"/>
                        <a:ext cx="2054225" cy="23193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470246"/>
              </p:ext>
            </p:extLst>
          </p:nvPr>
        </p:nvGraphicFramePr>
        <p:xfrm>
          <a:off x="1246188" y="508000"/>
          <a:ext cx="7500937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2" name="Document" r:id="rId5" imgW="7368025" imgH="1773314" progId="Word.Document.8">
                  <p:embed/>
                </p:oleObj>
              </mc:Choice>
              <mc:Fallback>
                <p:oleObj name="Document" r:id="rId5" imgW="7368025" imgH="17733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508000"/>
                        <a:ext cx="7500937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499834"/>
              </p:ext>
            </p:extLst>
          </p:nvPr>
        </p:nvGraphicFramePr>
        <p:xfrm>
          <a:off x="9240077" y="1512411"/>
          <a:ext cx="2055812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3" name="BMP 图象" r:id="rId7" imgW="1657581" imgH="1809524" progId="Paint.Picture">
                  <p:embed/>
                </p:oleObj>
              </mc:Choice>
              <mc:Fallback>
                <p:oleObj name="BMP 图象" r:id="rId7" imgW="1657581" imgH="18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0077" y="1512411"/>
                        <a:ext cx="2055812" cy="23050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561907"/>
              </p:ext>
            </p:extLst>
          </p:nvPr>
        </p:nvGraphicFramePr>
        <p:xfrm>
          <a:off x="10509067" y="2318635"/>
          <a:ext cx="2095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4" name="公式" r:id="rId9" imgW="419040" imgH="457200" progId="Equation.3">
                  <p:embed/>
                </p:oleObj>
              </mc:Choice>
              <mc:Fallback>
                <p:oleObj name="公式" r:id="rId9" imgW="4190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067" y="2318635"/>
                        <a:ext cx="2095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97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8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479480"/>
              </p:ext>
            </p:extLst>
          </p:nvPr>
        </p:nvGraphicFramePr>
        <p:xfrm>
          <a:off x="9393977" y="832840"/>
          <a:ext cx="2054225" cy="231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6" name="BMP 图象" r:id="rId3" imgW="1657581" imgH="1809524" progId="Paint.Picture">
                  <p:embed/>
                </p:oleObj>
              </mc:Choice>
              <mc:Fallback>
                <p:oleObj name="BMP 图象" r:id="rId3" imgW="1657581" imgH="18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977" y="832840"/>
                        <a:ext cx="2054225" cy="23193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787385"/>
              </p:ext>
            </p:extLst>
          </p:nvPr>
        </p:nvGraphicFramePr>
        <p:xfrm>
          <a:off x="9393977" y="839984"/>
          <a:ext cx="2055812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7" name="BMP 图象" r:id="rId5" imgW="1657581" imgH="1809524" progId="Paint.Picture">
                  <p:embed/>
                </p:oleObj>
              </mc:Choice>
              <mc:Fallback>
                <p:oleObj name="BMP 图象" r:id="rId5" imgW="1657581" imgH="18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977" y="839984"/>
                        <a:ext cx="2055812" cy="23050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045299"/>
              </p:ext>
            </p:extLst>
          </p:nvPr>
        </p:nvGraphicFramePr>
        <p:xfrm>
          <a:off x="10642054" y="1542711"/>
          <a:ext cx="304619" cy="304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8" name="Equation" r:id="rId7" imgW="164880" imgH="164880" progId="Equation.DSMT4">
                  <p:embed/>
                </p:oleObj>
              </mc:Choice>
              <mc:Fallback>
                <p:oleObj name="Equation" r:id="rId7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2054" y="1542711"/>
                        <a:ext cx="304619" cy="304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698344"/>
              </p:ext>
            </p:extLst>
          </p:nvPr>
        </p:nvGraphicFramePr>
        <p:xfrm>
          <a:off x="2245733" y="944957"/>
          <a:ext cx="5659438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9" name="Equation" r:id="rId9" imgW="2260440" imgH="495000" progId="Equation.DSMT4">
                  <p:embed/>
                </p:oleObj>
              </mc:Choice>
              <mc:Fallback>
                <p:oleObj name="Equation" r:id="rId9" imgW="22604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733" y="944957"/>
                        <a:ext cx="5659438" cy="123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106986"/>
              </p:ext>
            </p:extLst>
          </p:nvPr>
        </p:nvGraphicFramePr>
        <p:xfrm>
          <a:off x="1804080" y="437825"/>
          <a:ext cx="6783977" cy="570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40" name="Equation" r:id="rId11" imgW="2717640" imgH="228600" progId="Equation.DSMT4">
                  <p:embed/>
                </p:oleObj>
              </mc:Choice>
              <mc:Fallback>
                <p:oleObj name="Equation" r:id="rId11" imgW="2717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04080" y="437825"/>
                        <a:ext cx="6783977" cy="570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62719" y="46152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01626" y="1986809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(2014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年考研题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29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C77E44-EEB3-4740-ACBE-E4CC709C748F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835586" name="AutoShape 2"/>
          <p:cNvSpPr>
            <a:spLocks noChangeArrowheads="1"/>
          </p:cNvSpPr>
          <p:nvPr/>
        </p:nvSpPr>
        <p:spPr bwMode="auto">
          <a:xfrm>
            <a:off x="5880100" y="692150"/>
            <a:ext cx="1728788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99FF"/>
              </a:gs>
            </a:gsLst>
            <a:lin ang="5400000" scaled="1"/>
          </a:gra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5587" name="Group 3"/>
          <p:cNvGrpSpPr>
            <a:grpSpLocks/>
          </p:cNvGrpSpPr>
          <p:nvPr/>
        </p:nvGrpSpPr>
        <p:grpSpPr bwMode="auto">
          <a:xfrm>
            <a:off x="7705725" y="1571626"/>
            <a:ext cx="1422400" cy="1476375"/>
            <a:chOff x="3936" y="846"/>
            <a:chExt cx="896" cy="930"/>
          </a:xfrm>
        </p:grpSpPr>
        <p:sp>
          <p:nvSpPr>
            <p:cNvPr id="835588" name="Rectangle 4"/>
            <p:cNvSpPr>
              <a:spLocks noChangeArrowheads="1"/>
            </p:cNvSpPr>
            <p:nvPr/>
          </p:nvSpPr>
          <p:spPr bwMode="auto">
            <a:xfrm>
              <a:off x="4080" y="894"/>
              <a:ext cx="717" cy="73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66FFFF"/>
                </a:gs>
                <a:gs pos="100000">
                  <a:srgbClr val="FFFFFF"/>
                </a:gs>
              </a:gsLst>
              <a:lin ang="2700000" scaled="1"/>
            </a:gradFill>
            <a:ln w="28575">
              <a:solidFill>
                <a:srgbClr val="0000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35589" name="Object 5"/>
            <p:cNvGraphicFramePr>
              <a:graphicFrameLocks noChangeAspect="1"/>
            </p:cNvGraphicFramePr>
            <p:nvPr/>
          </p:nvGraphicFramePr>
          <p:xfrm>
            <a:off x="3936" y="846"/>
            <a:ext cx="8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78" name="Equation" r:id="rId3" imgW="177480" imgH="304560" progId="Equation.3">
                    <p:embed/>
                  </p:oleObj>
                </mc:Choice>
                <mc:Fallback>
                  <p:oleObj name="Equation" r:id="rId3" imgW="17748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846"/>
                          <a:ext cx="8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5590" name="Object 6"/>
            <p:cNvGraphicFramePr>
              <a:graphicFrameLocks noChangeAspect="1"/>
            </p:cNvGraphicFramePr>
            <p:nvPr/>
          </p:nvGraphicFramePr>
          <p:xfrm>
            <a:off x="4752" y="1639"/>
            <a:ext cx="8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79" name="Equation" r:id="rId5" imgW="177480" imgH="304560" progId="Equation.3">
                    <p:embed/>
                  </p:oleObj>
                </mc:Choice>
                <mc:Fallback>
                  <p:oleObj name="Equation" r:id="rId5" imgW="17748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639"/>
                          <a:ext cx="8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35591" name="AutoShape 7"/>
          <p:cNvSpPr>
            <a:spLocks noChangeArrowheads="1"/>
          </p:cNvSpPr>
          <p:nvPr/>
        </p:nvSpPr>
        <p:spPr bwMode="auto">
          <a:xfrm>
            <a:off x="2279650" y="1458913"/>
            <a:ext cx="4724400" cy="457200"/>
          </a:xfrm>
          <a:prstGeom prst="parallelogram">
            <a:avLst>
              <a:gd name="adj" fmla="val 27795"/>
            </a:avLst>
          </a:prstGeom>
          <a:gradFill rotWithShape="0">
            <a:gsLst>
              <a:gs pos="0">
                <a:srgbClr val="FFFFFF"/>
              </a:gs>
              <a:gs pos="100000">
                <a:srgbClr val="00FFCC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592" name="Text Box 8"/>
          <p:cNvSpPr txBox="1">
            <a:spLocks noChangeArrowheads="1"/>
          </p:cNvSpPr>
          <p:nvPr/>
        </p:nvSpPr>
        <p:spPr bwMode="auto">
          <a:xfrm>
            <a:off x="2749550" y="668628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/>
              <a:t>计算二重积分</a:t>
            </a:r>
            <a:endParaRPr lang="zh-CN" altLang="en-US" sz="2400" b="1" dirty="0"/>
          </a:p>
        </p:txBody>
      </p:sp>
      <p:sp>
        <p:nvSpPr>
          <p:cNvPr id="835594" name="Text Box 10"/>
          <p:cNvSpPr txBox="1">
            <a:spLocks noChangeArrowheads="1"/>
          </p:cNvSpPr>
          <p:nvPr/>
        </p:nvSpPr>
        <p:spPr bwMode="auto">
          <a:xfrm>
            <a:off x="8650288" y="15716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35600" name="Object 16"/>
          <p:cNvGraphicFramePr>
            <a:graphicFrameLocks noChangeAspect="1"/>
          </p:cNvGraphicFramePr>
          <p:nvPr/>
        </p:nvGraphicFramePr>
        <p:xfrm>
          <a:off x="5448301" y="677863"/>
          <a:ext cx="27987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80" name="Equation" r:id="rId6" imgW="2819160" imgH="812520" progId="Equation.3">
                  <p:embed/>
                </p:oleObj>
              </mc:Choice>
              <mc:Fallback>
                <p:oleObj name="Equation" r:id="rId6" imgW="28191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677863"/>
                        <a:ext cx="27987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5601" name="Text Box 17"/>
          <p:cNvSpPr txBox="1">
            <a:spLocks noChangeArrowheads="1"/>
          </p:cNvSpPr>
          <p:nvPr/>
        </p:nvSpPr>
        <p:spPr bwMode="auto">
          <a:xfrm>
            <a:off x="1593850" y="641820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zh-CN" sz="2800" dirty="0">
                <a:solidFill>
                  <a:srgbClr val="FF0000"/>
                </a:solidFill>
                <a:ea typeface="黑体" panose="02010609060101010101" pitchFamily="49" charset="-122"/>
              </a:rPr>
              <a:t>例</a:t>
            </a:r>
            <a:endParaRPr lang="zh-CN" altLang="en-US" sz="24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835603" name="Text Box 19"/>
          <p:cNvSpPr txBox="1">
            <a:spLocks noChangeArrowheads="1"/>
          </p:cNvSpPr>
          <p:nvPr/>
        </p:nvSpPr>
        <p:spPr bwMode="auto">
          <a:xfrm>
            <a:off x="8269288" y="20288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609" name="Text Box 25"/>
          <p:cNvSpPr txBox="1">
            <a:spLocks noChangeArrowheads="1"/>
          </p:cNvSpPr>
          <p:nvPr/>
        </p:nvSpPr>
        <p:spPr bwMode="auto">
          <a:xfrm>
            <a:off x="8201025" y="7493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/>
              <a:t>其中</a:t>
            </a:r>
            <a:endParaRPr lang="zh-CN" altLang="en-US" sz="2400" b="1" dirty="0"/>
          </a:p>
        </p:txBody>
      </p:sp>
      <p:grpSp>
        <p:nvGrpSpPr>
          <p:cNvPr id="835612" name="Group 28"/>
          <p:cNvGrpSpPr>
            <a:grpSpLocks/>
          </p:cNvGrpSpPr>
          <p:nvPr/>
        </p:nvGrpSpPr>
        <p:grpSpPr bwMode="auto">
          <a:xfrm>
            <a:off x="7696201" y="1371601"/>
            <a:ext cx="1965325" cy="1704975"/>
            <a:chOff x="4061" y="1056"/>
            <a:chExt cx="1238" cy="1074"/>
          </a:xfrm>
        </p:grpSpPr>
        <p:sp>
          <p:nvSpPr>
            <p:cNvPr id="835613" name="Line 29"/>
            <p:cNvSpPr>
              <a:spLocks noChangeShapeType="1"/>
            </p:cNvSpPr>
            <p:nvPr/>
          </p:nvSpPr>
          <p:spPr bwMode="auto">
            <a:xfrm flipV="1">
              <a:off x="4224" y="1056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35614" name="Object 30"/>
            <p:cNvGraphicFramePr>
              <a:graphicFrameLocks noChangeAspect="1"/>
            </p:cNvGraphicFramePr>
            <p:nvPr/>
          </p:nvGraphicFramePr>
          <p:xfrm>
            <a:off x="4061" y="1056"/>
            <a:ext cx="115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81" name="Equation" r:id="rId8" imgW="253800" imgH="317160" progId="Equation.3">
                    <p:embed/>
                  </p:oleObj>
                </mc:Choice>
                <mc:Fallback>
                  <p:oleObj name="Equation" r:id="rId8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1056"/>
                          <a:ext cx="115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5615" name="Object 31"/>
            <p:cNvGraphicFramePr>
              <a:graphicFrameLocks noChangeAspect="1"/>
            </p:cNvGraphicFramePr>
            <p:nvPr/>
          </p:nvGraphicFramePr>
          <p:xfrm>
            <a:off x="4080" y="1968"/>
            <a:ext cx="13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82" name="Equation" r:id="rId10" imgW="291960" imgH="317160" progId="Equation.3">
                    <p:embed/>
                  </p:oleObj>
                </mc:Choice>
                <mc:Fallback>
                  <p:oleObj name="Equation" r:id="rId10" imgW="29196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968"/>
                          <a:ext cx="133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5616" name="Object 32"/>
            <p:cNvGraphicFramePr>
              <a:graphicFrameLocks noChangeAspect="1"/>
            </p:cNvGraphicFramePr>
            <p:nvPr/>
          </p:nvGraphicFramePr>
          <p:xfrm>
            <a:off x="5184" y="2016"/>
            <a:ext cx="115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83" name="Equation" r:id="rId12" imgW="253800" imgH="241200" progId="Equation.3">
                    <p:embed/>
                  </p:oleObj>
                </mc:Choice>
                <mc:Fallback>
                  <p:oleObj name="Equation" r:id="rId12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016"/>
                          <a:ext cx="115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5617" name="Line 33"/>
            <p:cNvSpPr>
              <a:spLocks noChangeShapeType="1"/>
            </p:cNvSpPr>
            <p:nvPr/>
          </p:nvSpPr>
          <p:spPr bwMode="auto">
            <a:xfrm>
              <a:off x="4080" y="1968"/>
              <a:ext cx="115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5618" name="Group 34"/>
          <p:cNvGrpSpPr>
            <a:grpSpLocks/>
          </p:cNvGrpSpPr>
          <p:nvPr/>
        </p:nvGrpSpPr>
        <p:grpSpPr bwMode="auto">
          <a:xfrm>
            <a:off x="7934326" y="1649413"/>
            <a:ext cx="2608263" cy="1219200"/>
            <a:chOff x="4224" y="1249"/>
            <a:chExt cx="1643" cy="768"/>
          </a:xfrm>
        </p:grpSpPr>
        <p:sp>
          <p:nvSpPr>
            <p:cNvPr id="835619" name="Arc 35"/>
            <p:cNvSpPr>
              <a:spLocks/>
            </p:cNvSpPr>
            <p:nvPr/>
          </p:nvSpPr>
          <p:spPr bwMode="auto">
            <a:xfrm>
              <a:off x="4224" y="1249"/>
              <a:ext cx="717" cy="7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22"/>
                <a:gd name="T1" fmla="*/ 0 h 21600"/>
                <a:gd name="T2" fmla="*/ 21522 w 21522"/>
                <a:gd name="T3" fmla="*/ 19761 h 21600"/>
                <a:gd name="T4" fmla="*/ 0 w 2152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22" h="21600" fill="none" extrusionOk="0">
                  <a:moveTo>
                    <a:pt x="0" y="0"/>
                  </a:moveTo>
                  <a:cubicBezTo>
                    <a:pt x="11216" y="0"/>
                    <a:pt x="20566" y="8585"/>
                    <a:pt x="21521" y="19761"/>
                  </a:cubicBezTo>
                </a:path>
                <a:path w="21522" h="21600" stroke="0" extrusionOk="0">
                  <a:moveTo>
                    <a:pt x="0" y="0"/>
                  </a:moveTo>
                  <a:cubicBezTo>
                    <a:pt x="11216" y="0"/>
                    <a:pt x="20566" y="8585"/>
                    <a:pt x="21521" y="1976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3562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3822957"/>
                </p:ext>
              </p:extLst>
            </p:nvPr>
          </p:nvGraphicFramePr>
          <p:xfrm>
            <a:off x="4890" y="1404"/>
            <a:ext cx="97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84" name="Equation" r:id="rId14" imgW="723600" imgH="228600" progId="Equation.DSMT4">
                    <p:embed/>
                  </p:oleObj>
                </mc:Choice>
                <mc:Fallback>
                  <p:oleObj name="Equation" r:id="rId14" imgW="723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0" y="1404"/>
                          <a:ext cx="977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35633" name="Object 49"/>
          <p:cNvGraphicFramePr>
            <a:graphicFrameLocks noChangeAspect="1"/>
          </p:cNvGraphicFramePr>
          <p:nvPr/>
        </p:nvGraphicFramePr>
        <p:xfrm>
          <a:off x="2351088" y="1484313"/>
          <a:ext cx="449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85" name="公式" r:id="rId16" imgW="4495680" imgH="444240" progId="Equation.3">
                  <p:embed/>
                </p:oleObj>
              </mc:Choice>
              <mc:Fallback>
                <p:oleObj name="公式" r:id="rId16" imgW="44956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484313"/>
                        <a:ext cx="449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37308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5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5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3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5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35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3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3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3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5586" grpId="0" animBg="1"/>
      <p:bldP spid="835591" grpId="0" animBg="1"/>
      <p:bldP spid="835592" grpId="0"/>
      <p:bldP spid="835594" grpId="0" autoUpdateAnimBg="0"/>
      <p:bldP spid="835601" grpId="0"/>
      <p:bldP spid="83560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917C-70F9-4A78-AFDB-6187ED7C64A4}" type="slidenum">
              <a:rPr lang="en-US" altLang="zh-CN"/>
              <a:pPr/>
              <a:t>13</a:t>
            </a:fld>
            <a:endParaRPr lang="en-US" altLang="zh-CN"/>
          </a:p>
        </p:txBody>
      </p:sp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1141483" y="1971427"/>
            <a:ext cx="2819400" cy="3328988"/>
            <a:chOff x="528" y="768"/>
            <a:chExt cx="1776" cy="2097"/>
          </a:xfrm>
        </p:grpSpPr>
        <p:sp>
          <p:nvSpPr>
            <p:cNvPr id="22532" name="Oval 4" descr="苏格兰方格呢"/>
            <p:cNvSpPr>
              <a:spLocks noChangeAspect="1" noChangeArrowheads="1"/>
            </p:cNvSpPr>
            <p:nvPr/>
          </p:nvSpPr>
          <p:spPr bwMode="invGray">
            <a:xfrm>
              <a:off x="610" y="1193"/>
              <a:ext cx="1328" cy="1327"/>
            </a:xfrm>
            <a:prstGeom prst="ellipse">
              <a:avLst/>
            </a:prstGeom>
            <a:pattFill prst="plaid">
              <a:fgClr>
                <a:srgbClr val="FFFFCC"/>
              </a:fgClr>
              <a:bgClr>
                <a:srgbClr val="FF33CC"/>
              </a:bgClr>
            </a:pattFill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3" name="Line 5"/>
            <p:cNvSpPr>
              <a:spLocks noChangeAspect="1" noChangeShapeType="1"/>
            </p:cNvSpPr>
            <p:nvPr/>
          </p:nvSpPr>
          <p:spPr bwMode="invGray">
            <a:xfrm>
              <a:off x="528" y="2520"/>
              <a:ext cx="17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4" name="Oval 6"/>
            <p:cNvSpPr>
              <a:spLocks noChangeAspect="1" noChangeArrowheads="1"/>
            </p:cNvSpPr>
            <p:nvPr/>
          </p:nvSpPr>
          <p:spPr bwMode="invGray">
            <a:xfrm>
              <a:off x="962" y="1861"/>
              <a:ext cx="659" cy="659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5" name="Rectangle 7"/>
            <p:cNvSpPr>
              <a:spLocks noChangeAspect="1" noChangeArrowheads="1"/>
            </p:cNvSpPr>
            <p:nvPr/>
          </p:nvSpPr>
          <p:spPr bwMode="invGray">
            <a:xfrm>
              <a:off x="1483" y="1437"/>
              <a:ext cx="26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2536" name="Oval 8"/>
            <p:cNvSpPr>
              <a:spLocks noChangeAspect="1" noChangeArrowheads="1"/>
            </p:cNvSpPr>
            <p:nvPr/>
          </p:nvSpPr>
          <p:spPr bwMode="invGray">
            <a:xfrm>
              <a:off x="1247" y="2160"/>
              <a:ext cx="69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7" name="Rectangle 9"/>
            <p:cNvSpPr>
              <a:spLocks noChangeAspect="1" noChangeArrowheads="1"/>
            </p:cNvSpPr>
            <p:nvPr/>
          </p:nvSpPr>
          <p:spPr bwMode="invGray">
            <a:xfrm>
              <a:off x="1008" y="993"/>
              <a:ext cx="333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538" name="Rectangle 10"/>
            <p:cNvSpPr>
              <a:spLocks noChangeAspect="1" noChangeArrowheads="1"/>
            </p:cNvSpPr>
            <p:nvPr/>
          </p:nvSpPr>
          <p:spPr bwMode="invGray">
            <a:xfrm>
              <a:off x="1046" y="2490"/>
              <a:ext cx="26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2539" name="Oval 11"/>
            <p:cNvSpPr>
              <a:spLocks noChangeAspect="1" noChangeArrowheads="1"/>
            </p:cNvSpPr>
            <p:nvPr/>
          </p:nvSpPr>
          <p:spPr bwMode="invGray">
            <a:xfrm>
              <a:off x="1235" y="1829"/>
              <a:ext cx="70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0" name="Rectangle 12"/>
            <p:cNvSpPr>
              <a:spLocks noChangeAspect="1" noChangeArrowheads="1"/>
            </p:cNvSpPr>
            <p:nvPr/>
          </p:nvSpPr>
          <p:spPr bwMode="invGray">
            <a:xfrm>
              <a:off x="1056" y="1614"/>
              <a:ext cx="22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541" name="Line 13"/>
            <p:cNvSpPr>
              <a:spLocks noChangeAspect="1" noChangeShapeType="1"/>
            </p:cNvSpPr>
            <p:nvPr/>
          </p:nvSpPr>
          <p:spPr bwMode="invGray">
            <a:xfrm flipV="1">
              <a:off x="1276" y="864"/>
              <a:ext cx="0" cy="20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2" name="Rectangle 14"/>
            <p:cNvSpPr>
              <a:spLocks noChangeAspect="1" noChangeArrowheads="1"/>
            </p:cNvSpPr>
            <p:nvPr/>
          </p:nvSpPr>
          <p:spPr bwMode="invGray">
            <a:xfrm>
              <a:off x="2007" y="2472"/>
              <a:ext cx="2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2543" name="Rectangle 15"/>
            <p:cNvSpPr>
              <a:spLocks noChangeAspect="1" noChangeArrowheads="1"/>
            </p:cNvSpPr>
            <p:nvPr/>
          </p:nvSpPr>
          <p:spPr bwMode="invGray">
            <a:xfrm>
              <a:off x="1046" y="768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23" name="Rectangle 2"/>
          <p:cNvSpPr>
            <a:spLocks noChangeArrowheads="1"/>
          </p:cNvSpPr>
          <p:nvPr/>
        </p:nvSpPr>
        <p:spPr bwMode="black">
          <a:xfrm>
            <a:off x="661627" y="756197"/>
            <a:ext cx="3242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0000FF"/>
                </a:solidFill>
              </a:rPr>
              <a:t>例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9   </a:t>
            </a:r>
            <a:r>
              <a:rPr lang="zh-CN" altLang="en-US" sz="2800" b="1" dirty="0" smtClean="0">
                <a:solidFill>
                  <a:srgbClr val="000000"/>
                </a:solidFill>
              </a:rPr>
              <a:t>计算二重积分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 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455271"/>
              </p:ext>
            </p:extLst>
          </p:nvPr>
        </p:nvGraphicFramePr>
        <p:xfrm>
          <a:off x="3664021" y="386309"/>
          <a:ext cx="6643687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8" name="Equation" r:id="rId3" imgW="2679480" imgH="507960" progId="Equation.DSMT4">
                  <p:embed/>
                </p:oleObj>
              </mc:Choice>
              <mc:Fallback>
                <p:oleObj name="Equation" r:id="rId3" imgW="26794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64021" y="386309"/>
                        <a:ext cx="6643687" cy="1258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44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475027"/>
              </p:ext>
            </p:extLst>
          </p:nvPr>
        </p:nvGraphicFramePr>
        <p:xfrm>
          <a:off x="3620658" y="344232"/>
          <a:ext cx="4991581" cy="917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07" name="Equation" r:id="rId3" imgW="2158920" imgH="380880" progId="Equation.DSMT4">
                  <p:embed/>
                </p:oleObj>
              </mc:Choice>
              <mc:Fallback>
                <p:oleObj name="Equation" r:id="rId3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658" y="344232"/>
                        <a:ext cx="4991581" cy="917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9394590" y="1383213"/>
            <a:ext cx="1524000" cy="1600200"/>
          </a:xfrm>
          <a:prstGeom prst="ellipse">
            <a:avLst/>
          </a:prstGeom>
          <a:solidFill>
            <a:srgbClr val="00FFFF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102" name="Group 22"/>
          <p:cNvGrpSpPr>
            <a:grpSpLocks/>
          </p:cNvGrpSpPr>
          <p:nvPr/>
        </p:nvGrpSpPr>
        <p:grpSpPr bwMode="auto">
          <a:xfrm>
            <a:off x="8815883" y="944320"/>
            <a:ext cx="2819400" cy="2819400"/>
            <a:chOff x="3984" y="960"/>
            <a:chExt cx="1776" cy="1776"/>
          </a:xfrm>
        </p:grpSpPr>
        <p:sp>
          <p:nvSpPr>
            <p:cNvPr id="46090" name="Line 10"/>
            <p:cNvSpPr>
              <a:spLocks noChangeShapeType="1"/>
            </p:cNvSpPr>
            <p:nvPr/>
          </p:nvSpPr>
          <p:spPr bwMode="auto">
            <a:xfrm>
              <a:off x="3984" y="2112"/>
              <a:ext cx="17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1" name="Line 11"/>
            <p:cNvSpPr>
              <a:spLocks noChangeShapeType="1"/>
            </p:cNvSpPr>
            <p:nvPr/>
          </p:nvSpPr>
          <p:spPr bwMode="auto">
            <a:xfrm flipV="1">
              <a:off x="4512" y="960"/>
              <a:ext cx="0" cy="1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092" name="Line 12"/>
          <p:cNvSpPr>
            <a:spLocks noChangeShapeType="1"/>
          </p:cNvSpPr>
          <p:nvPr/>
        </p:nvSpPr>
        <p:spPr bwMode="auto">
          <a:xfrm>
            <a:off x="8728118" y="1905000"/>
            <a:ext cx="205740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1" name="Rectangle 21"/>
          <p:cNvSpPr>
            <a:spLocks noChangeArrowheads="1"/>
          </p:cNvSpPr>
          <p:nvPr/>
        </p:nvSpPr>
        <p:spPr bwMode="auto">
          <a:xfrm>
            <a:off x="1408880" y="535181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 smtClean="0">
                <a:solidFill>
                  <a:srgbClr val="0000FF"/>
                </a:solidFill>
              </a:rPr>
              <a:t>例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10</a:t>
            </a:r>
            <a:r>
              <a:rPr lang="en-US" altLang="zh-CN" sz="2800" dirty="0" smtClean="0">
                <a:solidFill>
                  <a:srgbClr val="0000FF"/>
                </a:solidFill>
              </a:rPr>
              <a:t>    </a:t>
            </a:r>
            <a:r>
              <a:rPr lang="zh-CN" altLang="en-US" sz="2800" b="1" dirty="0"/>
              <a:t>计算</a:t>
            </a:r>
          </a:p>
        </p:txBody>
      </p:sp>
    </p:spTree>
    <p:extLst>
      <p:ext uri="{BB962C8B-B14F-4D97-AF65-F5344CB8AC3E}">
        <p14:creationId xmlns:p14="http://schemas.microsoft.com/office/powerpoint/2010/main" val="118766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9" grpId="0" animBg="1"/>
      <p:bldP spid="46092" grpId="0" animBg="1"/>
      <p:bldP spid="4610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853282" y="584201"/>
            <a:ext cx="8054974" cy="523875"/>
            <a:chOff x="-899" y="1009"/>
            <a:chExt cx="5074" cy="330"/>
          </a:xfrm>
        </p:grpSpPr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-899" y="1009"/>
              <a:ext cx="105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例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11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 </a:t>
              </a:r>
              <a:r>
                <a:rPr lang="zh-CN" altLang="en-US" sz="2800" b="1" dirty="0" smtClean="0">
                  <a:latin typeface="宋体" panose="02010600030101010101" pitchFamily="2" charset="-122"/>
                </a:rPr>
                <a:t>设</a:t>
              </a:r>
              <a:r>
                <a:rPr lang="zh-CN" altLang="en-US" sz="2800" b="1" dirty="0" smtClean="0">
                  <a:latin typeface="Arial" panose="020B0604020202020204" pitchFamily="34" charset="0"/>
                </a:rPr>
                <a:t> 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6457345"/>
                </p:ext>
              </p:extLst>
            </p:nvPr>
          </p:nvGraphicFramePr>
          <p:xfrm>
            <a:off x="63" y="1030"/>
            <a:ext cx="46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102" r:id="rId3" imgW="355292" imgH="203024" progId="Equation.DSMT4">
                    <p:embed/>
                  </p:oleObj>
                </mc:Choice>
                <mc:Fallback>
                  <p:oleObj r:id="rId3" imgW="355292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" y="1030"/>
                          <a:ext cx="464" cy="2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527" y="1009"/>
              <a:ext cx="364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</a:rPr>
                <a:t>有连续的一阶导数，且</a:t>
              </a:r>
              <a:r>
                <a:rPr lang="zh-CN" altLang="en-US" sz="2800" b="1" dirty="0">
                  <a:latin typeface="Arial" panose="020B0604020202020204" pitchFamily="34" charset="0"/>
                </a:rPr>
                <a:t>              </a:t>
              </a:r>
              <a:r>
                <a:rPr lang="zh-CN" altLang="en-US" sz="2800" b="1" dirty="0" smtClean="0">
                  <a:latin typeface="Arial" panose="020B0604020202020204" pitchFamily="34" charset="0"/>
                </a:rPr>
                <a:t> 求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2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4587861"/>
                </p:ext>
              </p:extLst>
            </p:nvPr>
          </p:nvGraphicFramePr>
          <p:xfrm>
            <a:off x="2856" y="1055"/>
            <a:ext cx="85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103" name="Equation" r:id="rId5" imgW="609480" imgH="203040" progId="Equation.DSMT4">
                    <p:embed/>
                  </p:oleObj>
                </mc:Choice>
                <mc:Fallback>
                  <p:oleObj name="Equation" r:id="rId5" imgW="609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6" y="1055"/>
                          <a:ext cx="859" cy="2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995287"/>
              </p:ext>
            </p:extLst>
          </p:nvPr>
        </p:nvGraphicFramePr>
        <p:xfrm>
          <a:off x="3475039" y="1041401"/>
          <a:ext cx="4355610" cy="1055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4" name="Equation" r:id="rId7" imgW="2006280" imgH="482400" progId="Equation.DSMT4">
                  <p:embed/>
                </p:oleObj>
              </mc:Choice>
              <mc:Fallback>
                <p:oleObj name="Equation" r:id="rId7" imgW="20062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9" y="1041401"/>
                        <a:ext cx="4355610" cy="10552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542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24084-DC84-47F0-AEF5-2578B791A3DE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922631" name="Rectangle 7"/>
          <p:cNvSpPr>
            <a:spLocks noChangeArrowheads="1"/>
          </p:cNvSpPr>
          <p:nvPr/>
        </p:nvSpPr>
        <p:spPr bwMode="auto">
          <a:xfrm>
            <a:off x="8710613" y="2895600"/>
            <a:ext cx="1066800" cy="1066800"/>
          </a:xfrm>
          <a:prstGeom prst="rect">
            <a:avLst/>
          </a:prstGeom>
          <a:gradFill rotWithShape="0">
            <a:gsLst>
              <a:gs pos="0">
                <a:srgbClr val="66FF33"/>
              </a:gs>
              <a:gs pos="50000">
                <a:srgbClr val="66FFFF"/>
              </a:gs>
              <a:gs pos="100000">
                <a:srgbClr val="66FF33"/>
              </a:gs>
            </a:gsLst>
            <a:lin ang="5400000" scaled="1"/>
          </a:gra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632" name="WordArt 8"/>
          <p:cNvSpPr>
            <a:spLocks noChangeArrowheads="1" noChangeShapeType="1" noTextEdit="1"/>
          </p:cNvSpPr>
          <p:nvPr/>
        </p:nvSpPr>
        <p:spPr bwMode="auto">
          <a:xfrm>
            <a:off x="2438400" y="406400"/>
            <a:ext cx="685800" cy="6683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graphicFrame>
        <p:nvGraphicFramePr>
          <p:cNvPr id="922633" name="Object 9"/>
          <p:cNvGraphicFramePr>
            <a:graphicFrameLocks noChangeAspect="1"/>
          </p:cNvGraphicFramePr>
          <p:nvPr/>
        </p:nvGraphicFramePr>
        <p:xfrm>
          <a:off x="3276600" y="566738"/>
          <a:ext cx="2832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6" name="Equation" r:id="rId3" imgW="2831760" imgH="431640" progId="Equation.3">
                  <p:embed/>
                </p:oleObj>
              </mc:Choice>
              <mc:Fallback>
                <p:oleObj name="Equation" r:id="rId3" imgW="2831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66738"/>
                        <a:ext cx="2832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34" name="Text Box 10"/>
          <p:cNvSpPr txBox="1">
            <a:spLocks noChangeArrowheads="1"/>
          </p:cNvSpPr>
          <p:nvPr/>
        </p:nvSpPr>
        <p:spPr bwMode="auto">
          <a:xfrm>
            <a:off x="6096000" y="479426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/>
              <a:t>证明</a:t>
            </a:r>
          </a:p>
        </p:txBody>
      </p:sp>
      <p:graphicFrame>
        <p:nvGraphicFramePr>
          <p:cNvPr id="922635" name="Object 11"/>
          <p:cNvGraphicFramePr>
            <a:graphicFrameLocks noChangeAspect="1"/>
          </p:cNvGraphicFramePr>
          <p:nvPr/>
        </p:nvGraphicFramePr>
        <p:xfrm>
          <a:off x="3105150" y="1016000"/>
          <a:ext cx="5308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7" name="Equation" r:id="rId5" imgW="5308560" imgH="888840" progId="Equation.3">
                  <p:embed/>
                </p:oleObj>
              </mc:Choice>
              <mc:Fallback>
                <p:oleObj name="Equation" r:id="rId5" imgW="53085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1016000"/>
                        <a:ext cx="5308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36" name="Object 12"/>
          <p:cNvGraphicFramePr>
            <a:graphicFrameLocks noChangeAspect="1"/>
          </p:cNvGraphicFramePr>
          <p:nvPr/>
        </p:nvGraphicFramePr>
        <p:xfrm>
          <a:off x="2590800" y="1752600"/>
          <a:ext cx="6527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8" name="Equation" r:id="rId7" imgW="6527520" imgH="825480" progId="Equation.3">
                  <p:embed/>
                </p:oleObj>
              </mc:Choice>
              <mc:Fallback>
                <p:oleObj name="Equation" r:id="rId7" imgW="65275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752600"/>
                        <a:ext cx="6527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637" name="Group 13"/>
          <p:cNvGrpSpPr>
            <a:grpSpLocks/>
          </p:cNvGrpSpPr>
          <p:nvPr/>
        </p:nvGrpSpPr>
        <p:grpSpPr bwMode="auto">
          <a:xfrm>
            <a:off x="8329614" y="2373314"/>
            <a:ext cx="1881187" cy="1970087"/>
            <a:chOff x="4224" y="1879"/>
            <a:chExt cx="1185" cy="1241"/>
          </a:xfrm>
        </p:grpSpPr>
        <p:sp>
          <p:nvSpPr>
            <p:cNvPr id="922638" name="Line 14"/>
            <p:cNvSpPr>
              <a:spLocks noChangeShapeType="1"/>
            </p:cNvSpPr>
            <p:nvPr/>
          </p:nvSpPr>
          <p:spPr bwMode="auto">
            <a:xfrm flipV="1">
              <a:off x="4224" y="2544"/>
              <a:ext cx="1185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639" name="Line 15"/>
            <p:cNvSpPr>
              <a:spLocks noChangeShapeType="1"/>
            </p:cNvSpPr>
            <p:nvPr/>
          </p:nvSpPr>
          <p:spPr bwMode="auto">
            <a:xfrm flipV="1">
              <a:off x="4785" y="1879"/>
              <a:ext cx="0" cy="1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640" name="Object 16"/>
            <p:cNvGraphicFramePr>
              <a:graphicFrameLocks noChangeAspect="1"/>
            </p:cNvGraphicFramePr>
            <p:nvPr/>
          </p:nvGraphicFramePr>
          <p:xfrm>
            <a:off x="5280" y="2569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89" name="Equation" r:id="rId9" imgW="253800" imgH="241200" progId="Equation.3">
                    <p:embed/>
                  </p:oleObj>
                </mc:Choice>
                <mc:Fallback>
                  <p:oleObj name="Equation" r:id="rId9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569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41" name="Object 17"/>
            <p:cNvGraphicFramePr>
              <a:graphicFrameLocks noChangeAspect="1"/>
            </p:cNvGraphicFramePr>
            <p:nvPr/>
          </p:nvGraphicFramePr>
          <p:xfrm>
            <a:off x="4656" y="2569"/>
            <a:ext cx="106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90" name="Equation" r:id="rId11" imgW="215640" imgH="241200" progId="Equation.3">
                    <p:embed/>
                  </p:oleObj>
                </mc:Choice>
                <mc:Fallback>
                  <p:oleObj name="Equation" r:id="rId11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569"/>
                          <a:ext cx="106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42" name="Object 18"/>
            <p:cNvGraphicFramePr>
              <a:graphicFrameLocks noChangeAspect="1"/>
            </p:cNvGraphicFramePr>
            <p:nvPr/>
          </p:nvGraphicFramePr>
          <p:xfrm>
            <a:off x="4627" y="1955"/>
            <a:ext cx="125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91" name="Equation" r:id="rId13" imgW="253800" imgH="317160" progId="Equation.3">
                    <p:embed/>
                  </p:oleObj>
                </mc:Choice>
                <mc:Fallback>
                  <p:oleObj name="Equation" r:id="rId13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7" y="1955"/>
                          <a:ext cx="125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645" name="Object 21"/>
          <p:cNvGraphicFramePr>
            <a:graphicFrameLocks noChangeAspect="1"/>
          </p:cNvGraphicFramePr>
          <p:nvPr/>
        </p:nvGraphicFramePr>
        <p:xfrm>
          <a:off x="9855201" y="3397250"/>
          <a:ext cx="1508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2" name="Equation" r:id="rId15" imgW="253800" imgH="825480" progId="Equation.3">
                  <p:embed/>
                </p:oleObj>
              </mc:Choice>
              <mc:Fallback>
                <p:oleObj name="Equation" r:id="rId15" imgW="25380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5201" y="3397250"/>
                        <a:ext cx="1508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46" name="Object 22"/>
          <p:cNvGraphicFramePr>
            <a:graphicFrameLocks noChangeAspect="1"/>
          </p:cNvGraphicFramePr>
          <p:nvPr/>
        </p:nvGraphicFramePr>
        <p:xfrm>
          <a:off x="9321801" y="2362200"/>
          <a:ext cx="1508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3" name="Equation" r:id="rId17" imgW="253800" imgH="825480" progId="Equation.3">
                  <p:embed/>
                </p:oleObj>
              </mc:Choice>
              <mc:Fallback>
                <p:oleObj name="Equation" r:id="rId17" imgW="25380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1801" y="2362200"/>
                        <a:ext cx="1508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47" name="Object 23"/>
          <p:cNvGraphicFramePr>
            <a:graphicFrameLocks noChangeAspect="1"/>
          </p:cNvGraphicFramePr>
          <p:nvPr/>
        </p:nvGraphicFramePr>
        <p:xfrm>
          <a:off x="9244014" y="3930650"/>
          <a:ext cx="3079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4" name="Equation" r:id="rId18" imgW="520560" imgH="825480" progId="Equation.3">
                  <p:embed/>
                </p:oleObj>
              </mc:Choice>
              <mc:Fallback>
                <p:oleObj name="Equation" r:id="rId18" imgW="5205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4014" y="3930650"/>
                        <a:ext cx="3079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54" name="Object 30"/>
          <p:cNvGraphicFramePr>
            <a:graphicFrameLocks noChangeAspect="1"/>
          </p:cNvGraphicFramePr>
          <p:nvPr/>
        </p:nvGraphicFramePr>
        <p:xfrm>
          <a:off x="8405814" y="3397250"/>
          <a:ext cx="3079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5" name="Equation" r:id="rId20" imgW="520560" imgH="825480" progId="Equation.3">
                  <p:embed/>
                </p:oleObj>
              </mc:Choice>
              <mc:Fallback>
                <p:oleObj name="Equation" r:id="rId20" imgW="5205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5814" y="3397250"/>
                        <a:ext cx="3079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80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205876"/>
              </p:ext>
            </p:extLst>
          </p:nvPr>
        </p:nvGraphicFramePr>
        <p:xfrm>
          <a:off x="9334500" y="3031332"/>
          <a:ext cx="261938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6" name="Equation" r:id="rId21" imgW="164880" imgH="164880" progId="Equation.DSMT4">
                  <p:embed/>
                </p:oleObj>
              </mc:Choice>
              <mc:Fallback>
                <p:oleObj name="Equation" r:id="rId21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0" y="3031332"/>
                        <a:ext cx="261938" cy="26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9251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2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047292"/>
              </p:ext>
            </p:extLst>
          </p:nvPr>
        </p:nvGraphicFramePr>
        <p:xfrm>
          <a:off x="2626994" y="1040602"/>
          <a:ext cx="38830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2" name="Equation" r:id="rId3" imgW="1714320" imgH="215640" progId="Equation.DSMT4">
                  <p:embed/>
                </p:oleObj>
              </mc:Choice>
              <mc:Fallback>
                <p:oleObj name="Equation" r:id="rId3" imgW="1714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994" y="1040602"/>
                        <a:ext cx="388302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6643096" y="1003260"/>
            <a:ext cx="2590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/>
              <a:t>试将二重积分                              </a:t>
            </a:r>
          </a:p>
        </p:txBody>
      </p:sp>
      <p:graphicFrame>
        <p:nvGraphicFramePr>
          <p:cNvPr id="512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966103"/>
              </p:ext>
            </p:extLst>
          </p:nvPr>
        </p:nvGraphicFramePr>
        <p:xfrm>
          <a:off x="2696663" y="1667115"/>
          <a:ext cx="3222691" cy="884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3" name="Equation" r:id="rId5" imgW="1434960" imgH="393480" progId="Equation.DSMT4">
                  <p:embed/>
                </p:oleObj>
              </mc:Choice>
              <mc:Fallback>
                <p:oleObj name="Equation" r:id="rId5" imgW="143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663" y="1667115"/>
                        <a:ext cx="3222691" cy="884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26575"/>
              </p:ext>
            </p:extLst>
          </p:nvPr>
        </p:nvGraphicFramePr>
        <p:xfrm>
          <a:off x="6372275" y="1685517"/>
          <a:ext cx="213477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4" name="Equation" r:id="rId7" imgW="927000" imgH="241200" progId="Equation.DSMT4">
                  <p:embed/>
                </p:oleObj>
              </mc:Choice>
              <mc:Fallback>
                <p:oleObj name="Equation" r:id="rId7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75" y="1685517"/>
                        <a:ext cx="213477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2602515" y="2521694"/>
            <a:ext cx="236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/>
              <a:t>化成</a:t>
            </a:r>
            <a:r>
              <a:rPr lang="zh-CN" altLang="en-US" sz="2800" b="1" dirty="0" smtClean="0"/>
              <a:t>定积分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  <p:sp>
        <p:nvSpPr>
          <p:cNvPr id="51218" name="Rectangle 18"/>
          <p:cNvSpPr>
            <a:spLocks noChangeArrowheads="1"/>
          </p:cNvSpPr>
          <p:nvPr/>
        </p:nvSpPr>
        <p:spPr bwMode="auto">
          <a:xfrm>
            <a:off x="1350917" y="100326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 smtClean="0">
                <a:solidFill>
                  <a:srgbClr val="0000FF"/>
                </a:solidFill>
              </a:rPr>
              <a:t>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25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8" grpId="0" autoUpdateAnimBg="0"/>
      <p:bldP spid="51211" grpId="0" autoUpdateAnimBg="0"/>
      <p:bldP spid="5121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9863" y="722811"/>
            <a:ext cx="2307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例    计算积分</a:t>
            </a:r>
            <a:endParaRPr lang="zh-CN" altLang="en-US" sz="2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964009"/>
              </p:ext>
            </p:extLst>
          </p:nvPr>
        </p:nvGraphicFramePr>
        <p:xfrm>
          <a:off x="3386905" y="531010"/>
          <a:ext cx="5292937" cy="995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70" name="Equation" r:id="rId3" imgW="2565360" imgH="482400" progId="Equation.DSMT4">
                  <p:embed/>
                </p:oleObj>
              </mc:Choice>
              <mc:Fallback>
                <p:oleObj name="Equation" r:id="rId3" imgW="25653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6905" y="531010"/>
                        <a:ext cx="5292937" cy="995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05127"/>
              </p:ext>
            </p:extLst>
          </p:nvPr>
        </p:nvGraphicFramePr>
        <p:xfrm>
          <a:off x="1097108" y="1632525"/>
          <a:ext cx="4303305" cy="493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71" name="Equation" r:id="rId5" imgW="1993680" imgH="228600" progId="Equation.DSMT4">
                  <p:embed/>
                </p:oleObj>
              </mc:Choice>
              <mc:Fallback>
                <p:oleObj name="Equation" r:id="rId5" imgW="1993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7108" y="1632525"/>
                        <a:ext cx="4303305" cy="493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/>
          <p:cNvGrpSpPr/>
          <p:nvPr/>
        </p:nvGrpSpPr>
        <p:grpSpPr>
          <a:xfrm>
            <a:off x="9238829" y="522756"/>
            <a:ext cx="2325364" cy="2545739"/>
            <a:chOff x="9238829" y="522756"/>
            <a:chExt cx="2325364" cy="2545739"/>
          </a:xfrm>
        </p:grpSpPr>
        <p:sp>
          <p:nvSpPr>
            <p:cNvPr id="17" name="文本框 16"/>
            <p:cNvSpPr txBox="1"/>
            <p:nvPr/>
          </p:nvSpPr>
          <p:spPr>
            <a:xfrm>
              <a:off x="9887511" y="522756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9238829" y="934211"/>
              <a:ext cx="2325364" cy="2134284"/>
              <a:chOff x="9084568" y="1859763"/>
              <a:chExt cx="2325364" cy="2134284"/>
            </a:xfrm>
          </p:grpSpPr>
          <p:cxnSp>
            <p:nvCxnSpPr>
              <p:cNvPr id="7" name="直接箭头连接符 6"/>
              <p:cNvCxnSpPr/>
              <p:nvPr/>
            </p:nvCxnSpPr>
            <p:spPr>
              <a:xfrm flipV="1">
                <a:off x="9084568" y="3001818"/>
                <a:ext cx="2156087" cy="458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 flipH="1" flipV="1">
                <a:off x="10132158" y="1859763"/>
                <a:ext cx="18472" cy="2134284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9759432" y="2926905"/>
                <a:ext cx="3706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zh-CN" alt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1071378" y="3001818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椭圆 22"/>
          <p:cNvSpPr/>
          <p:nvPr/>
        </p:nvSpPr>
        <p:spPr>
          <a:xfrm>
            <a:off x="9692883" y="1428217"/>
            <a:ext cx="1222026" cy="1210042"/>
          </a:xfrm>
          <a:prstGeom prst="ellipse">
            <a:avLst/>
          </a:prstGeom>
          <a:solidFill>
            <a:schemeClr val="accent1"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10295655" y="1485263"/>
            <a:ext cx="1423447" cy="117298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弧形 31"/>
          <p:cNvSpPr/>
          <p:nvPr/>
        </p:nvSpPr>
        <p:spPr>
          <a:xfrm>
            <a:off x="9915602" y="2371750"/>
            <a:ext cx="717841" cy="640968"/>
          </a:xfrm>
          <a:prstGeom prst="arc">
            <a:avLst>
              <a:gd name="adj1" fmla="val 19065830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221978"/>
              </p:ext>
            </p:extLst>
          </p:nvPr>
        </p:nvGraphicFramePr>
        <p:xfrm>
          <a:off x="10721378" y="2282470"/>
          <a:ext cx="229734" cy="2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72" name="Equation" r:id="rId7" imgW="139680" imgH="177480" progId="Equation.DSMT4">
                  <p:embed/>
                </p:oleObj>
              </mc:Choice>
              <mc:Fallback>
                <p:oleObj name="Equation" r:id="rId7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21378" y="2282470"/>
                        <a:ext cx="229734" cy="292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9947039" y="2601949"/>
            <a:ext cx="1935739" cy="400110"/>
            <a:chOff x="9788592" y="3579410"/>
            <a:chExt cx="1935739" cy="400110"/>
          </a:xfrm>
        </p:grpSpPr>
        <p:grpSp>
          <p:nvGrpSpPr>
            <p:cNvPr id="34" name="组合 33"/>
            <p:cNvGrpSpPr/>
            <p:nvPr/>
          </p:nvGrpSpPr>
          <p:grpSpPr>
            <a:xfrm>
              <a:off x="9788592" y="3579410"/>
              <a:ext cx="1935739" cy="400110"/>
              <a:chOff x="9788592" y="3579410"/>
              <a:chExt cx="1935739" cy="400110"/>
            </a:xfrm>
          </p:grpSpPr>
          <p:cxnSp>
            <p:nvCxnSpPr>
              <p:cNvPr id="24" name="直接箭头连接符 23"/>
              <p:cNvCxnSpPr/>
              <p:nvPr/>
            </p:nvCxnSpPr>
            <p:spPr>
              <a:xfrm flipV="1">
                <a:off x="10130046" y="3628383"/>
                <a:ext cx="1594285" cy="458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本框 30"/>
              <p:cNvSpPr txBox="1"/>
              <p:nvPr/>
            </p:nvSpPr>
            <p:spPr>
              <a:xfrm>
                <a:off x="9788592" y="3579410"/>
                <a:ext cx="3706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zh-CN" alt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9885519"/>
                </p:ext>
              </p:extLst>
            </p:nvPr>
          </p:nvGraphicFramePr>
          <p:xfrm>
            <a:off x="11409932" y="3635711"/>
            <a:ext cx="278543" cy="309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273" name="Equation" r:id="rId9" imgW="114120" imgH="126720" progId="Equation.DSMT4">
                    <p:embed/>
                  </p:oleObj>
                </mc:Choice>
                <mc:Fallback>
                  <p:oleObj name="Equation" r:id="rId9" imgW="114120" imgH="12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409932" y="3635711"/>
                          <a:ext cx="278543" cy="3094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3591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1200" y="6373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练习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263" y="637309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计算积分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378501"/>
              </p:ext>
            </p:extLst>
          </p:nvPr>
        </p:nvGraphicFramePr>
        <p:xfrm>
          <a:off x="3113632" y="604509"/>
          <a:ext cx="36734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3" name="Equation" r:id="rId3" imgW="1777680" imgH="406080" progId="Equation.DSMT4">
                  <p:embed/>
                </p:oleObj>
              </mc:Choice>
              <mc:Fallback>
                <p:oleObj name="Equation" r:id="rId3" imgW="1777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3632" y="604509"/>
                        <a:ext cx="3673475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585106"/>
              </p:ext>
            </p:extLst>
          </p:nvPr>
        </p:nvGraphicFramePr>
        <p:xfrm>
          <a:off x="1264205" y="1475509"/>
          <a:ext cx="4303305" cy="493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4" name="Equation" r:id="rId5" imgW="1993680" imgH="228600" progId="Equation.DSMT4">
                  <p:embed/>
                </p:oleObj>
              </mc:Choice>
              <mc:Fallback>
                <p:oleObj name="Equation" r:id="rId5" imgW="1993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4205" y="1475509"/>
                        <a:ext cx="4303305" cy="493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362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3386</TotalTime>
  <Words>267</Words>
  <Application>Microsoft Office PowerPoint</Application>
  <PresentationFormat>宽屏</PresentationFormat>
  <Paragraphs>66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黑体</vt:lpstr>
      <vt:lpstr>华文行楷</vt:lpstr>
      <vt:lpstr>楷体_GB2312</vt:lpstr>
      <vt:lpstr>宋体</vt:lpstr>
      <vt:lpstr>Arial</vt:lpstr>
      <vt:lpstr>Calibri</vt:lpstr>
      <vt:lpstr>Calibri Light</vt:lpstr>
      <vt:lpstr>Symbol</vt:lpstr>
      <vt:lpstr>Times New Roman</vt:lpstr>
      <vt:lpstr>Office 主题</vt:lpstr>
      <vt:lpstr>Equation</vt:lpstr>
      <vt:lpstr>公式</vt:lpstr>
      <vt:lpstr>BMP 图象</vt:lpstr>
      <vt:lpstr>Document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例4.</vt:lpstr>
      <vt:lpstr>例6. 将积分化为极坐标形式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微软用户</cp:lastModifiedBy>
  <cp:revision>80</cp:revision>
  <dcterms:created xsi:type="dcterms:W3CDTF">2020-02-18T00:15:31Z</dcterms:created>
  <dcterms:modified xsi:type="dcterms:W3CDTF">2025-04-13T11:46:55Z</dcterms:modified>
</cp:coreProperties>
</file>