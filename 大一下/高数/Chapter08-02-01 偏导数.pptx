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14" d="100"/>
          <a:sy n="114" d="100"/>
        </p:scale>
        <p:origin x="108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e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13.wmf"/><Relationship Id="rId1" Type="http://schemas.openxmlformats.org/officeDocument/2006/relationships/image" Target="../media/image21.e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13.wmf"/><Relationship Id="rId1" Type="http://schemas.openxmlformats.org/officeDocument/2006/relationships/image" Target="../media/image29.e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2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2.wmf"/><Relationship Id="rId3" Type="http://schemas.openxmlformats.org/officeDocument/2006/relationships/image" Target="../media/image62.emf"/><Relationship Id="rId7" Type="http://schemas.openxmlformats.org/officeDocument/2006/relationships/image" Target="../media/image66.wmf"/><Relationship Id="rId12" Type="http://schemas.openxmlformats.org/officeDocument/2006/relationships/image" Target="../media/image71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emf"/><Relationship Id="rId11" Type="http://schemas.openxmlformats.org/officeDocument/2006/relationships/image" Target="../media/image70.wmf"/><Relationship Id="rId5" Type="http://schemas.openxmlformats.org/officeDocument/2006/relationships/image" Target="../media/image64.wmf"/><Relationship Id="rId15" Type="http://schemas.openxmlformats.org/officeDocument/2006/relationships/image" Target="../media/image74.wmf"/><Relationship Id="rId10" Type="http://schemas.openxmlformats.org/officeDocument/2006/relationships/image" Target="../media/image69.wmf"/><Relationship Id="rId4" Type="http://schemas.openxmlformats.org/officeDocument/2006/relationships/image" Target="../media/image63.wmf"/><Relationship Id="rId9" Type="http://schemas.openxmlformats.org/officeDocument/2006/relationships/image" Target="../media/image68.wmf"/><Relationship Id="rId14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e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5" Type="http://schemas.openxmlformats.org/officeDocument/2006/relationships/image" Target="../media/image9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9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e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45.wmf"/><Relationship Id="rId1" Type="http://schemas.openxmlformats.org/officeDocument/2006/relationships/image" Target="../media/image102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5.wmf"/><Relationship Id="rId3" Type="http://schemas.openxmlformats.org/officeDocument/2006/relationships/image" Target="../media/image52.wmf"/><Relationship Id="rId7" Type="http://schemas.openxmlformats.org/officeDocument/2006/relationships/image" Target="../media/image109.wmf"/><Relationship Id="rId12" Type="http://schemas.openxmlformats.org/officeDocument/2006/relationships/image" Target="../media/image114.wmf"/><Relationship Id="rId2" Type="http://schemas.openxmlformats.org/officeDocument/2006/relationships/image" Target="../media/image106.wmf"/><Relationship Id="rId1" Type="http://schemas.openxmlformats.org/officeDocument/2006/relationships/image" Target="../media/image50.wmf"/><Relationship Id="rId6" Type="http://schemas.openxmlformats.org/officeDocument/2006/relationships/image" Target="../media/image108.wmf"/><Relationship Id="rId11" Type="http://schemas.openxmlformats.org/officeDocument/2006/relationships/image" Target="../media/image113.wmf"/><Relationship Id="rId5" Type="http://schemas.openxmlformats.org/officeDocument/2006/relationships/image" Target="../media/image54.wmf"/><Relationship Id="rId10" Type="http://schemas.openxmlformats.org/officeDocument/2006/relationships/image" Target="../media/image112.wmf"/><Relationship Id="rId4" Type="http://schemas.openxmlformats.org/officeDocument/2006/relationships/image" Target="../media/image107.wmf"/><Relationship Id="rId9" Type="http://schemas.openxmlformats.org/officeDocument/2006/relationships/image" Target="../media/image11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4" Type="http://schemas.openxmlformats.org/officeDocument/2006/relationships/image" Target="../media/image11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9A5981-CB2D-47E1-8F7B-D10537744354}" type="slidenum">
              <a:rPr lang="en-US" altLang="zh-CN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355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03050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xmlns="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xmlns="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xmlns="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xmlns="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xmlns="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xmlns="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xmlns="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xmlns="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slide" Target="slide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Microsoft_Word_97_-_2003___2.doc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3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4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Microsoft_Word_97_-_2003___5.doc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9.wmf"/><Relationship Id="rId3" Type="http://schemas.openxmlformats.org/officeDocument/2006/relationships/oleObject" Target="../embeddings/Microsoft_Word_97_-_2003___6.doc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2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7.wmf"/><Relationship Id="rId3" Type="http://schemas.openxmlformats.org/officeDocument/2006/relationships/oleObject" Target="../embeddings/Microsoft_Word_97_-_2003___7.doc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21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Microsoft_Word_97_-_2003___8.doc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1.w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7.wmf"/><Relationship Id="rId26" Type="http://schemas.openxmlformats.org/officeDocument/2006/relationships/image" Target="../media/image71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29" Type="http://schemas.openxmlformats.org/officeDocument/2006/relationships/oleObject" Target="../embeddings/oleObject68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70.wmf"/><Relationship Id="rId32" Type="http://schemas.openxmlformats.org/officeDocument/2006/relationships/image" Target="../media/image74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72.wmf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63.bin"/><Relationship Id="rId31" Type="http://schemas.openxmlformats.org/officeDocument/2006/relationships/oleObject" Target="../embeddings/oleObject69.bin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5.emf"/><Relationship Id="rId22" Type="http://schemas.openxmlformats.org/officeDocument/2006/relationships/image" Target="../media/image69.wmf"/><Relationship Id="rId27" Type="http://schemas.openxmlformats.org/officeDocument/2006/relationships/oleObject" Target="../embeddings/oleObject67.bin"/><Relationship Id="rId30" Type="http://schemas.openxmlformats.org/officeDocument/2006/relationships/image" Target="../media/image7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Microsoft_Word_97_-_2003___9.doc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87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90.wmf"/><Relationship Id="rId32" Type="http://schemas.openxmlformats.org/officeDocument/2006/relationships/image" Target="../media/image94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92.w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8.bin"/><Relationship Id="rId4" Type="http://schemas.openxmlformats.org/officeDocument/2006/relationships/image" Target="../media/image80.e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86.bin"/><Relationship Id="rId30" Type="http://schemas.openxmlformats.org/officeDocument/2006/relationships/image" Target="../media/image9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Microsoft_Word_97_-_2003___10.doc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1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98.w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10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4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9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0.wmf"/><Relationship Id="rId26" Type="http://schemas.openxmlformats.org/officeDocument/2006/relationships/image" Target="../media/image114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13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15.wmf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Relationship Id="rId27" Type="http://schemas.openxmlformats.org/officeDocument/2006/relationships/oleObject" Target="../embeddings/oleObject1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Microsoft_Word_97_-_2003___11.doc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7.emf"/><Relationship Id="rId5" Type="http://schemas.openxmlformats.org/officeDocument/2006/relationships/oleObject" Target="../embeddings/Microsoft_Word_97_-_2003___12.doc"/><Relationship Id="rId10" Type="http://schemas.openxmlformats.org/officeDocument/2006/relationships/image" Target="../media/image119.wmf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2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27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../../../&#39640;&#31561;&#25968;&#23398;-sxl/&#19979;&#20876;/&#31532;&#20843;&#31456;/D8_9&#20064;&#39064;&#35838;.pp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3664736" y="3059112"/>
            <a:ext cx="5500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FF33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一、 偏导数的定义及其计算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3670416" y="3918164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FF33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二 、高阶偏导数  </a:t>
            </a:r>
          </a:p>
        </p:txBody>
      </p:sp>
      <p:sp>
        <p:nvSpPr>
          <p:cNvPr id="40972" name="AutoShape 1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79875" y="5300663"/>
            <a:ext cx="3276600" cy="6858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3459028" y="1737392"/>
            <a:ext cx="4121641" cy="830997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800" b="1" dirty="0" smtClean="0">
                <a:solidFill>
                  <a:srgbClr val="FF0000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§2</a:t>
            </a: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偏  </a:t>
            </a: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导  数  </a:t>
            </a:r>
          </a:p>
        </p:txBody>
      </p:sp>
      <p:graphicFrame>
        <p:nvGraphicFramePr>
          <p:cNvPr id="40974" name="Object 14"/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公式" r:id="rId5" imgW="190500" imgH="419100" progId="Equation.3">
                  <p:embed/>
                </p:oleObj>
              </mc:Choice>
              <mc:Fallback>
                <p:oleObj name="公式" r:id="rId5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648075" y="4721225"/>
            <a:ext cx="3654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三 、小结  思考题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9276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477984"/>
              </p:ext>
            </p:extLst>
          </p:nvPr>
        </p:nvGraphicFramePr>
        <p:xfrm>
          <a:off x="914400" y="1627188"/>
          <a:ext cx="10360025" cy="320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Document" r:id="rId3" imgW="9909810" imgH="3061863" progId="Word.Document.8">
                  <p:embed/>
                </p:oleObj>
              </mc:Choice>
              <mc:Fallback>
                <p:oleObj name="Document" r:id="rId3" imgW="9909810" imgH="30618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27188"/>
                        <a:ext cx="10360025" cy="320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1343472" y="692696"/>
            <a:ext cx="6192688" cy="936104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一、偏导数的定义及其计算法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675599"/>
              </p:ext>
            </p:extLst>
          </p:nvPr>
        </p:nvGraphicFramePr>
        <p:xfrm>
          <a:off x="1919536" y="4653136"/>
          <a:ext cx="7056783" cy="1397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Document" r:id="rId5" imgW="6306346" imgH="1188689" progId="Word.Document.8">
                  <p:embed/>
                </p:oleObj>
              </mc:Choice>
              <mc:Fallback>
                <p:oleObj name="Document" r:id="rId5" imgW="6306346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4653136"/>
                        <a:ext cx="7056783" cy="1397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33805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87345757"/>
              </p:ext>
            </p:extLst>
          </p:nvPr>
        </p:nvGraphicFramePr>
        <p:xfrm>
          <a:off x="1559496" y="1268760"/>
          <a:ext cx="8496946" cy="317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Document" r:id="rId3" imgW="7579712" imgH="2828446" progId="Word.Document.8">
                  <p:embed/>
                </p:oleObj>
              </mc:Choice>
              <mc:Fallback>
                <p:oleObj name="Document" r:id="rId3" imgW="7579712" imgH="28284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268760"/>
                        <a:ext cx="8496946" cy="317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01244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973753"/>
              </p:ext>
            </p:extLst>
          </p:nvPr>
        </p:nvGraphicFramePr>
        <p:xfrm>
          <a:off x="1381297" y="836712"/>
          <a:ext cx="9553034" cy="2777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Document" r:id="rId3" imgW="9345231" imgH="2709279" progId="Word.Document.8">
                  <p:embed/>
                </p:oleObj>
              </mc:Choice>
              <mc:Fallback>
                <p:oleObj name="Document" r:id="rId3" imgW="9345231" imgH="27092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297" y="836712"/>
                        <a:ext cx="9553034" cy="2777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67083"/>
              </p:ext>
            </p:extLst>
          </p:nvPr>
        </p:nvGraphicFramePr>
        <p:xfrm>
          <a:off x="1660027" y="3429000"/>
          <a:ext cx="8995573" cy="197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Document" r:id="rId5" imgW="8570510" imgH="1889465" progId="Word.Document.8">
                  <p:embed/>
                </p:oleObj>
              </mc:Choice>
              <mc:Fallback>
                <p:oleObj name="Document" r:id="rId5" imgW="8570510" imgH="18894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027" y="3429000"/>
                        <a:ext cx="8995573" cy="197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12871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590800" y="928688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偏导数的概念可以推广到二元以上函数</a:t>
            </a:r>
          </a:p>
        </p:txBody>
      </p:sp>
      <p:grpSp>
        <p:nvGrpSpPr>
          <p:cNvPr id="184323" name="Group 3"/>
          <p:cNvGrpSpPr>
            <a:grpSpLocks/>
          </p:cNvGrpSpPr>
          <p:nvPr/>
        </p:nvGrpSpPr>
        <p:grpSpPr bwMode="auto">
          <a:xfrm>
            <a:off x="2590800" y="1600201"/>
            <a:ext cx="6248400" cy="519113"/>
            <a:chOff x="672" y="1104"/>
            <a:chExt cx="3936" cy="327"/>
          </a:xfrm>
        </p:grpSpPr>
        <p:sp>
          <p:nvSpPr>
            <p:cNvPr id="45063" name="Text Box 4"/>
            <p:cNvSpPr txBox="1">
              <a:spLocks noChangeArrowheads="1"/>
            </p:cNvSpPr>
            <p:nvPr/>
          </p:nvSpPr>
          <p:spPr bwMode="auto">
            <a:xfrm>
              <a:off x="672" y="1104"/>
              <a:ext cx="39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如                          在                处    </a:t>
              </a:r>
            </a:p>
          </p:txBody>
        </p:sp>
        <p:graphicFrame>
          <p:nvGraphicFramePr>
            <p:cNvPr id="45064" name="Object 5"/>
            <p:cNvGraphicFramePr>
              <a:graphicFrameLocks noChangeAspect="1"/>
            </p:cNvGraphicFramePr>
            <p:nvPr/>
          </p:nvGraphicFramePr>
          <p:xfrm>
            <a:off x="1024" y="1152"/>
            <a:ext cx="132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7" name="公式" r:id="rId3" imgW="2108200" imgH="406400" progId="Equation.3">
                    <p:embed/>
                  </p:oleObj>
                </mc:Choice>
                <mc:Fallback>
                  <p:oleObj name="公式" r:id="rId3" imgW="21082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152"/>
                          <a:ext cx="132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5" name="Object 6"/>
            <p:cNvGraphicFramePr>
              <a:graphicFrameLocks noChangeAspect="1"/>
            </p:cNvGraphicFramePr>
            <p:nvPr/>
          </p:nvGraphicFramePr>
          <p:xfrm>
            <a:off x="2688" y="1137"/>
            <a:ext cx="76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8" name="公式" r:id="rId5" imgW="1205977" imgH="406224" progId="Equation.3">
                    <p:embed/>
                  </p:oleObj>
                </mc:Choice>
                <mc:Fallback>
                  <p:oleObj name="公式" r:id="rId5" imgW="1205977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1137"/>
                          <a:ext cx="76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525637"/>
              </p:ext>
            </p:extLst>
          </p:nvPr>
        </p:nvGraphicFramePr>
        <p:xfrm>
          <a:off x="2726122" y="2359795"/>
          <a:ext cx="6815956" cy="97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" name="Equation" r:id="rId7" imgW="2844720" imgH="406080" progId="Equation.DSMT4">
                  <p:embed/>
                </p:oleObj>
              </mc:Choice>
              <mc:Fallback>
                <p:oleObj name="Equation" r:id="rId7" imgW="2844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22" y="2359795"/>
                        <a:ext cx="6815956" cy="973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1919"/>
              </p:ext>
            </p:extLst>
          </p:nvPr>
        </p:nvGraphicFramePr>
        <p:xfrm>
          <a:off x="2726122" y="3370512"/>
          <a:ext cx="6749534" cy="102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0" name="Equation" r:id="rId9" imgW="2831760" imgH="431640" progId="Equation.DSMT4">
                  <p:embed/>
                </p:oleObj>
              </mc:Choice>
              <mc:Fallback>
                <p:oleObj name="Equation" r:id="rId9" imgW="283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22" y="3370512"/>
                        <a:ext cx="6749534" cy="102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325115"/>
              </p:ext>
            </p:extLst>
          </p:nvPr>
        </p:nvGraphicFramePr>
        <p:xfrm>
          <a:off x="2726122" y="4440538"/>
          <a:ext cx="6732158" cy="1004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1" name="Equation" r:id="rId11" imgW="2806560" imgH="419040" progId="Equation.DSMT4">
                  <p:embed/>
                </p:oleObj>
              </mc:Choice>
              <mc:Fallback>
                <p:oleObj name="Equation" r:id="rId11" imgW="2806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22" y="4440538"/>
                        <a:ext cx="6732158" cy="1004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87517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12359"/>
              </p:ext>
            </p:extLst>
          </p:nvPr>
        </p:nvGraphicFramePr>
        <p:xfrm>
          <a:off x="2500313" y="973138"/>
          <a:ext cx="74406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" name="Document" r:id="rId3" imgW="7478189" imgH="700182" progId="Word.Document.8">
                  <p:embed/>
                </p:oleObj>
              </mc:Choice>
              <mc:Fallback>
                <p:oleObj name="Document" r:id="rId3" imgW="7478189" imgH="7001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973138"/>
                        <a:ext cx="7440612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2438400" y="19954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3429000" y="1854200"/>
          <a:ext cx="76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1" name="公式" r:id="rId5" imgW="761669" imgH="888614" progId="Equation.3">
                  <p:embed/>
                </p:oleObj>
              </mc:Choice>
              <mc:Fallback>
                <p:oleObj name="公式" r:id="rId5" imgW="761669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54200"/>
                        <a:ext cx="76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4343400" y="2159000"/>
          <a:ext cx="1320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2" name="公式" r:id="rId7" imgW="1320800" imgH="368300" progId="Equation.3">
                  <p:embed/>
                </p:oleObj>
              </mc:Choice>
              <mc:Fallback>
                <p:oleObj name="公式" r:id="rId7" imgW="1320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159000"/>
                        <a:ext cx="1320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0" name="Object 6"/>
          <p:cNvGraphicFramePr>
            <a:graphicFrameLocks noChangeAspect="1"/>
          </p:cNvGraphicFramePr>
          <p:nvPr/>
        </p:nvGraphicFramePr>
        <p:xfrm>
          <a:off x="6248400" y="1905000"/>
          <a:ext cx="685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3" name="公式" r:id="rId9" imgW="685800" imgH="914400" progId="Equation.3">
                  <p:embed/>
                </p:oleObj>
              </mc:Choice>
              <mc:Fallback>
                <p:oleObj name="公式" r:id="rId9" imgW="685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05000"/>
                        <a:ext cx="685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7054850" y="2222500"/>
          <a:ext cx="1308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4" name="公式" r:id="rId11" imgW="1308100" imgH="368300" progId="Equation.3">
                  <p:embed/>
                </p:oleObj>
              </mc:Choice>
              <mc:Fallback>
                <p:oleObj name="公式" r:id="rId11" imgW="13081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0" y="2222500"/>
                        <a:ext cx="1308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2895600" y="3022600"/>
          <a:ext cx="1790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" name="公式" r:id="rId13" imgW="1790700" imgH="965200" progId="Equation.3">
                  <p:embed/>
                </p:oleObj>
              </mc:Choice>
              <mc:Fallback>
                <p:oleObj name="公式" r:id="rId13" imgW="1790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22600"/>
                        <a:ext cx="1790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9"/>
          <p:cNvGraphicFramePr>
            <a:graphicFrameLocks noChangeAspect="1"/>
          </p:cNvGraphicFramePr>
          <p:nvPr/>
        </p:nvGraphicFramePr>
        <p:xfrm>
          <a:off x="4699000" y="3362325"/>
          <a:ext cx="2349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" name="公式" r:id="rId15" imgW="2349500" imgH="368300" progId="Equation.3">
                  <p:embed/>
                </p:oleObj>
              </mc:Choice>
              <mc:Fallback>
                <p:oleObj name="公式" r:id="rId15" imgW="23495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3362325"/>
                        <a:ext cx="2349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10"/>
          <p:cNvGraphicFramePr>
            <a:graphicFrameLocks noChangeAspect="1"/>
          </p:cNvGraphicFramePr>
          <p:nvPr/>
        </p:nvGraphicFramePr>
        <p:xfrm>
          <a:off x="3457575" y="4216400"/>
          <a:ext cx="1206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" name="公式" r:id="rId17" imgW="1206500" imgH="965200" progId="Equation.3">
                  <p:embed/>
                </p:oleObj>
              </mc:Choice>
              <mc:Fallback>
                <p:oleObj name="公式" r:id="rId17" imgW="1206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4216400"/>
                        <a:ext cx="1206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5" name="Object 11"/>
          <p:cNvGraphicFramePr>
            <a:graphicFrameLocks noChangeAspect="1"/>
          </p:cNvGraphicFramePr>
          <p:nvPr/>
        </p:nvGraphicFramePr>
        <p:xfrm>
          <a:off x="4705350" y="4521200"/>
          <a:ext cx="2336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8" name="公式" r:id="rId19" imgW="2336800" imgH="368300" progId="Equation.3">
                  <p:embed/>
                </p:oleObj>
              </mc:Choice>
              <mc:Fallback>
                <p:oleObj name="公式" r:id="rId19" imgW="2336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4521200"/>
                        <a:ext cx="2336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03863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90711"/>
              </p:ext>
            </p:extLst>
          </p:nvPr>
        </p:nvGraphicFramePr>
        <p:xfrm>
          <a:off x="2450949" y="986099"/>
          <a:ext cx="6097487" cy="1654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" name="Document" r:id="rId3" imgW="6119140" imgH="1676476" progId="Word.Document.8">
                  <p:embed/>
                </p:oleObj>
              </mc:Choice>
              <mc:Fallback>
                <p:oleObj name="Document" r:id="rId3" imgW="6119140" imgH="16764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949" y="986099"/>
                        <a:ext cx="6097487" cy="1654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438400" y="289560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3517900" y="2757488"/>
          <a:ext cx="76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5" name="公式" r:id="rId5" imgW="761669" imgH="888614" progId="Equation.3">
                  <p:embed/>
                </p:oleObj>
              </mc:Choice>
              <mc:Fallback>
                <p:oleObj name="公式" r:id="rId5" imgW="761669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757488"/>
                        <a:ext cx="76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4324350" y="2946400"/>
          <a:ext cx="901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6" name="公式" r:id="rId7" imgW="901309" imgH="469696" progId="Equation.3">
                  <p:embed/>
                </p:oleObj>
              </mc:Choice>
              <mc:Fallback>
                <p:oleObj name="公式" r:id="rId7" imgW="901309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2946400"/>
                        <a:ext cx="901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4" name="Object 6"/>
          <p:cNvGraphicFramePr>
            <a:graphicFrameLocks noChangeAspect="1"/>
          </p:cNvGraphicFramePr>
          <p:nvPr/>
        </p:nvGraphicFramePr>
        <p:xfrm>
          <a:off x="6057900" y="2757488"/>
          <a:ext cx="73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7" name="公式" r:id="rId9" imgW="736600" imgH="965200" progId="Equation.3">
                  <p:embed/>
                </p:oleObj>
              </mc:Choice>
              <mc:Fallback>
                <p:oleObj name="公式" r:id="rId9" imgW="73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2757488"/>
                        <a:ext cx="73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5" name="Object 7"/>
          <p:cNvGraphicFramePr>
            <a:graphicFrameLocks noChangeAspect="1"/>
          </p:cNvGraphicFramePr>
          <p:nvPr/>
        </p:nvGraphicFramePr>
        <p:xfrm>
          <a:off x="6851650" y="2960688"/>
          <a:ext cx="11049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8" name="公式" r:id="rId11" imgW="1104900" imgH="444500" progId="Equation.3">
                  <p:embed/>
                </p:oleObj>
              </mc:Choice>
              <mc:Fallback>
                <p:oleObj name="公式" r:id="rId11" imgW="1104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2960688"/>
                        <a:ext cx="11049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6" name="Object 8"/>
          <p:cNvGraphicFramePr>
            <a:graphicFrameLocks noChangeAspect="1"/>
          </p:cNvGraphicFramePr>
          <p:nvPr/>
        </p:nvGraphicFramePr>
        <p:xfrm>
          <a:off x="3276600" y="3925888"/>
          <a:ext cx="2159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" name="公式" r:id="rId13" imgW="2159000" imgH="965200" progId="Equation.3">
                  <p:embed/>
                </p:oleObj>
              </mc:Choice>
              <mc:Fallback>
                <p:oleObj name="公式" r:id="rId13" imgW="2159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25888"/>
                        <a:ext cx="2159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5562600" y="3925888"/>
          <a:ext cx="3568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" name="公式" r:id="rId15" imgW="3568700" imgH="965200" progId="Equation.3">
                  <p:embed/>
                </p:oleObj>
              </mc:Choice>
              <mc:Fallback>
                <p:oleObj name="公式" r:id="rId15" imgW="3568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925888"/>
                        <a:ext cx="3568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10"/>
          <p:cNvGraphicFramePr>
            <a:graphicFrameLocks noChangeAspect="1"/>
          </p:cNvGraphicFramePr>
          <p:nvPr/>
        </p:nvGraphicFramePr>
        <p:xfrm>
          <a:off x="3327400" y="5284788"/>
          <a:ext cx="151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" name="公式" r:id="rId17" imgW="1511300" imgH="419100" progId="Equation.3">
                  <p:embed/>
                </p:oleObj>
              </mc:Choice>
              <mc:Fallback>
                <p:oleObj name="公式" r:id="rId17" imgW="1511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5284788"/>
                        <a:ext cx="1511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9" name="Object 11"/>
          <p:cNvGraphicFramePr>
            <a:graphicFrameLocks noChangeAspect="1"/>
          </p:cNvGraphicFramePr>
          <p:nvPr/>
        </p:nvGraphicFramePr>
        <p:xfrm>
          <a:off x="4978400" y="5367338"/>
          <a:ext cx="7620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" name="公式" r:id="rId19" imgW="761669" imgH="342751" progId="Equation.3">
                  <p:embed/>
                </p:oleObj>
              </mc:Choice>
              <mc:Fallback>
                <p:oleObj name="公式" r:id="rId19" imgW="761669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5367338"/>
                        <a:ext cx="7620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0" name="Text Box 12"/>
          <p:cNvSpPr txBox="1">
            <a:spLocks noChangeArrowheads="1"/>
          </p:cNvSpPr>
          <p:nvPr/>
        </p:nvSpPr>
        <p:spPr bwMode="auto">
          <a:xfrm>
            <a:off x="6580188" y="525145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原结论成立．</a:t>
            </a:r>
          </a:p>
        </p:txBody>
      </p:sp>
    </p:spTree>
    <p:extLst>
      <p:ext uri="{BB962C8B-B14F-4D97-AF65-F5344CB8AC3E}">
        <p14:creationId xmlns:p14="http://schemas.microsoft.com/office/powerpoint/2010/main" val="1876335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  <p:bldP spid="18638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326336"/>
              </p:ext>
            </p:extLst>
          </p:nvPr>
        </p:nvGraphicFramePr>
        <p:xfrm>
          <a:off x="2516188" y="873125"/>
          <a:ext cx="70389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4" name="Document" r:id="rId3" imgW="7076054" imgH="1093651" progId="Word.Document.8">
                  <p:embed/>
                </p:oleObj>
              </mc:Choice>
              <mc:Fallback>
                <p:oleObj name="Document" r:id="rId3" imgW="7076054" imgH="10936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873125"/>
                        <a:ext cx="70389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438400" y="22098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3429000" y="2133600"/>
          <a:ext cx="76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公式" r:id="rId5" imgW="761669" imgH="888614" progId="Equation.3">
                  <p:embed/>
                </p:oleObj>
              </mc:Choice>
              <mc:Fallback>
                <p:oleObj name="公式" r:id="rId5" imgW="761669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33600"/>
                        <a:ext cx="76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7" name="Object 5"/>
          <p:cNvGraphicFramePr>
            <a:graphicFrameLocks noChangeAspect="1"/>
          </p:cNvGraphicFramePr>
          <p:nvPr/>
        </p:nvGraphicFramePr>
        <p:xfrm>
          <a:off x="4210050" y="2032000"/>
          <a:ext cx="4419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" name="公式" r:id="rId7" imgW="4419600" imgH="1625600" progId="Equation.3">
                  <p:embed/>
                </p:oleObj>
              </mc:Choice>
              <mc:Fallback>
                <p:oleObj name="公式" r:id="rId7" imgW="44196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2032000"/>
                        <a:ext cx="4419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3962400" y="3949700"/>
          <a:ext cx="3987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" name="公式" r:id="rId9" imgW="3987800" imgH="1155700" progId="Equation.3">
                  <p:embed/>
                </p:oleObj>
              </mc:Choice>
              <mc:Fallback>
                <p:oleObj name="公式" r:id="rId9" imgW="3987800" imgH="115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949700"/>
                        <a:ext cx="3987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/>
        </p:nvGraphicFramePr>
        <p:xfrm>
          <a:off x="3956050" y="5207000"/>
          <a:ext cx="1536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" name="公式" r:id="rId11" imgW="1536700" imgH="914400" progId="Equation.3">
                  <p:embed/>
                </p:oleObj>
              </mc:Choice>
              <mc:Fallback>
                <p:oleObj name="公式" r:id="rId11" imgW="1536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0" y="5207000"/>
                        <a:ext cx="1536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8280400" y="4116388"/>
          <a:ext cx="17780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" name="公式" r:id="rId13" imgW="1777229" imgH="533169" progId="Equation.3">
                  <p:embed/>
                </p:oleObj>
              </mc:Choice>
              <mc:Fallback>
                <p:oleObj name="公式" r:id="rId13" imgW="1777229" imgH="5331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00" y="4116388"/>
                        <a:ext cx="17780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78664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2971800" y="1016000"/>
          <a:ext cx="73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8" name="公式" r:id="rId3" imgW="736600" imgH="965200" progId="Equation.3">
                  <p:embed/>
                </p:oleObj>
              </mc:Choice>
              <mc:Fallback>
                <p:oleObj name="公式" r:id="rId3" imgW="73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016000"/>
                        <a:ext cx="73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3752850" y="914400"/>
          <a:ext cx="4419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" name="公式" r:id="rId5" imgW="4419600" imgH="1625600" progId="Equation.3">
                  <p:embed/>
                </p:oleObj>
              </mc:Choice>
              <mc:Fallback>
                <p:oleObj name="公式" r:id="rId5" imgW="44196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914400"/>
                        <a:ext cx="4419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3505200" y="2819400"/>
          <a:ext cx="3987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0" name="公式" r:id="rId7" imgW="3987800" imgH="1155700" progId="Equation.3">
                  <p:embed/>
                </p:oleObj>
              </mc:Choice>
              <mc:Fallback>
                <p:oleObj name="公式" r:id="rId7" imgW="3987800" imgH="115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19400"/>
                        <a:ext cx="3987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3476625" y="4051300"/>
          <a:ext cx="2667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1" name="公式" r:id="rId9" imgW="2667000" imgH="965200" progId="Equation.3">
                  <p:embed/>
                </p:oleObj>
              </mc:Choice>
              <mc:Fallback>
                <p:oleObj name="公式" r:id="rId9" imgW="2667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4051300"/>
                        <a:ext cx="2667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6819900" y="4343401"/>
          <a:ext cx="1104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2" name="公式" r:id="rId11" imgW="1104421" imgH="406224" progId="Equation.3">
                  <p:embed/>
                </p:oleObj>
              </mc:Choice>
              <mc:Fallback>
                <p:oleObj name="公式" r:id="rId11" imgW="110442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4343401"/>
                        <a:ext cx="11049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566906"/>
              </p:ext>
            </p:extLst>
          </p:nvPr>
        </p:nvGraphicFramePr>
        <p:xfrm>
          <a:off x="3807121" y="5083917"/>
          <a:ext cx="876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3" name="公式" r:id="rId13" imgW="876300" imgH="1168400" progId="Equation.3">
                  <p:embed/>
                </p:oleObj>
              </mc:Choice>
              <mc:Fallback>
                <p:oleObj name="公式" r:id="rId13" imgW="876300" imgH="116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121" y="5083917"/>
                        <a:ext cx="8763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4" name="Text Box 8"/>
          <p:cNvSpPr txBox="1">
            <a:spLocks noChangeArrowheads="1"/>
          </p:cNvSpPr>
          <p:nvPr/>
        </p:nvSpPr>
        <p:spPr bwMode="auto">
          <a:xfrm>
            <a:off x="4660900" y="5380626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不存在．</a:t>
            </a:r>
          </a:p>
        </p:txBody>
      </p:sp>
    </p:spTree>
    <p:extLst>
      <p:ext uri="{BB962C8B-B14F-4D97-AF65-F5344CB8AC3E}">
        <p14:creationId xmlns:p14="http://schemas.microsoft.com/office/powerpoint/2010/main" val="37370009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66" name="Object 2"/>
          <p:cNvGraphicFramePr>
            <a:graphicFrameLocks noChangeAspect="1"/>
          </p:cNvGraphicFramePr>
          <p:nvPr/>
        </p:nvGraphicFramePr>
        <p:xfrm>
          <a:off x="3509964" y="1701801"/>
          <a:ext cx="61610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文档" r:id="rId3" imgW="6172200" imgH="894080" progId="Word.Document.8">
                  <p:embed/>
                </p:oleObj>
              </mc:Choice>
              <mc:Fallback>
                <p:oleObj name="文档" r:id="rId3" imgW="6172200" imgH="894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4" y="1701801"/>
                        <a:ext cx="616108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96897"/>
              </p:ext>
            </p:extLst>
          </p:nvPr>
        </p:nvGraphicFramePr>
        <p:xfrm>
          <a:off x="2499386" y="3910806"/>
          <a:ext cx="736424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" name="Equation" r:id="rId5" imgW="3073320" imgH="279360" progId="Equation.DSMT4">
                  <p:embed/>
                </p:oleObj>
              </mc:Choice>
              <mc:Fallback>
                <p:oleObj name="Equation" r:id="rId5" imgW="3073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386" y="3910806"/>
                        <a:ext cx="736424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438400" y="944564"/>
            <a:ext cx="4593704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有关偏导数的几点说明：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2590800" y="1858963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１、</a:t>
            </a: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2590800" y="27432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２、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3429000" y="2743200"/>
            <a:ext cx="6019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求分界点、不连续点处的偏导数要用定义求；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2476500" y="49530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0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401985"/>
              </p:ext>
            </p:extLst>
          </p:nvPr>
        </p:nvGraphicFramePr>
        <p:xfrm>
          <a:off x="3269126" y="4671153"/>
          <a:ext cx="3998160" cy="110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8" name="Equation" r:id="rId7" imgW="1612800" imgH="444240" progId="Equation.DSMT4">
                  <p:embed/>
                </p:oleObj>
              </mc:Choice>
              <mc:Fallback>
                <p:oleObj name="Equation" r:id="rId7" imgW="1612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126" y="4671153"/>
                        <a:ext cx="3998160" cy="1101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7251700" y="5105400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公式" r:id="rId9" imgW="520474" imgH="330057" progId="Equation.3">
                  <p:embed/>
                </p:oleObj>
              </mc:Choice>
              <mc:Fallback>
                <p:oleObj name="公式" r:id="rId9" imgW="520474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5105400"/>
                        <a:ext cx="520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113368"/>
              </p:ext>
            </p:extLst>
          </p:nvPr>
        </p:nvGraphicFramePr>
        <p:xfrm>
          <a:off x="7825653" y="5041247"/>
          <a:ext cx="1623147" cy="58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" name="Equation" r:id="rId11" imgW="672840" imgH="241200" progId="Equation.DSMT4">
                  <p:embed/>
                </p:oleObj>
              </mc:Choice>
              <mc:Fallback>
                <p:oleObj name="Equation" r:id="rId11" imgW="672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5653" y="5041247"/>
                        <a:ext cx="1623147" cy="581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61639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 autoUpdateAnimBg="0"/>
      <p:bldP spid="190470" grpId="0" autoUpdateAnimBg="0"/>
      <p:bldP spid="190471" grpId="0" autoUpdateAnimBg="0"/>
      <p:bldP spid="19047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2492375" y="762000"/>
          <a:ext cx="65786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" name="Equation" r:id="rId3" imgW="6578600" imgH="2019300" progId="Equation.3">
                  <p:embed/>
                </p:oleObj>
              </mc:Choice>
              <mc:Fallback>
                <p:oleObj name="Equation" r:id="rId3" imgW="6578600" imgH="201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762000"/>
                        <a:ext cx="65786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376488" y="123031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2382838" y="306863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1493" name="Object 5"/>
          <p:cNvGraphicFramePr>
            <a:graphicFrameLocks noChangeAspect="1"/>
          </p:cNvGraphicFramePr>
          <p:nvPr/>
        </p:nvGraphicFramePr>
        <p:xfrm>
          <a:off x="3276600" y="3124200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3" name="Equation" r:id="rId5" imgW="2628900" imgH="431800" progId="Equation.3">
                  <p:embed/>
                </p:oleObj>
              </mc:Choice>
              <mc:Fallback>
                <p:oleObj name="Equation" r:id="rId5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24200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964701"/>
              </p:ext>
            </p:extLst>
          </p:nvPr>
        </p:nvGraphicFramePr>
        <p:xfrm>
          <a:off x="3179192" y="3741986"/>
          <a:ext cx="4566000" cy="1037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4" name="Equation" r:id="rId7" imgW="1955520" imgH="444240" progId="Equation.DSMT4">
                  <p:embed/>
                </p:oleObj>
              </mc:Choice>
              <mc:Fallback>
                <p:oleObj name="Equation" r:id="rId7" imgW="1955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192" y="3741986"/>
                        <a:ext cx="4566000" cy="1037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7737475" y="3748088"/>
          <a:ext cx="200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5" name="Equation" r:id="rId9" imgW="2006600" imgH="965200" progId="Equation.3">
                  <p:embed/>
                </p:oleObj>
              </mc:Choice>
              <mc:Fallback>
                <p:oleObj name="Equation" r:id="rId9" imgW="200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475" y="3748088"/>
                        <a:ext cx="200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580739"/>
              </p:ext>
            </p:extLst>
          </p:nvPr>
        </p:nvGraphicFramePr>
        <p:xfrm>
          <a:off x="3148553" y="4867621"/>
          <a:ext cx="4596639" cy="1044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6" name="Equation" r:id="rId11" imgW="1955520" imgH="444240" progId="Equation.DSMT4">
                  <p:embed/>
                </p:oleObj>
              </mc:Choice>
              <mc:Fallback>
                <p:oleObj name="Equation" r:id="rId11" imgW="1955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553" y="4867621"/>
                        <a:ext cx="4596639" cy="1044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7716838" y="4891088"/>
          <a:ext cx="200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7" name="Equation" r:id="rId13" imgW="2006600" imgH="965200" progId="Equation.3">
                  <p:embed/>
                </p:oleObj>
              </mc:Choice>
              <mc:Fallback>
                <p:oleObj name="Equation" r:id="rId13" imgW="200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4891088"/>
                        <a:ext cx="200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14221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2667000" y="685800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6" name="Equation" r:id="rId3" imgW="2628900" imgH="431800" progId="Equation.3">
                  <p:embed/>
                </p:oleObj>
              </mc:Choice>
              <mc:Fallback>
                <p:oleObj name="Equation" r:id="rId3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85800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5322888" y="612776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按定义可知：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546980"/>
              </p:ext>
            </p:extLst>
          </p:nvPr>
        </p:nvGraphicFramePr>
        <p:xfrm>
          <a:off x="2587526" y="1095695"/>
          <a:ext cx="4790380" cy="940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7" name="Equation" r:id="rId5" imgW="2070000" imgH="406080" progId="Equation.DSMT4">
                  <p:embed/>
                </p:oleObj>
              </mc:Choice>
              <mc:Fallback>
                <p:oleObj name="Equation" r:id="rId5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526" y="1095695"/>
                        <a:ext cx="4790380" cy="940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7391400" y="1146175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8" name="Equation" r:id="rId7" imgW="2019300" imgH="838200" progId="Equation.3">
                  <p:embed/>
                </p:oleObj>
              </mc:Choice>
              <mc:Fallback>
                <p:oleObj name="Equation" r:id="rId7" imgW="2019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146175"/>
                        <a:ext cx="201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017415"/>
              </p:ext>
            </p:extLst>
          </p:nvPr>
        </p:nvGraphicFramePr>
        <p:xfrm>
          <a:off x="2587526" y="2008194"/>
          <a:ext cx="4803874" cy="1014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9" name="Equation" r:id="rId9" imgW="2044440" imgH="431640" progId="Equation.DSMT4">
                  <p:embed/>
                </p:oleObj>
              </mc:Choice>
              <mc:Fallback>
                <p:oleObj name="Equation" r:id="rId9" imgW="2044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526" y="2008194"/>
                        <a:ext cx="4803874" cy="1014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7397750" y="2066925"/>
          <a:ext cx="198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0" name="Equation" r:id="rId11" imgW="1981200" imgH="914400" progId="Equation.3">
                  <p:embed/>
                </p:oleObj>
              </mc:Choice>
              <mc:Fallback>
                <p:oleObj name="Equation" r:id="rId11" imgW="1981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2066925"/>
                        <a:ext cx="1981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074555"/>
              </p:ext>
            </p:extLst>
          </p:nvPr>
        </p:nvGraphicFramePr>
        <p:xfrm>
          <a:off x="2667000" y="2923850"/>
          <a:ext cx="6005834" cy="1659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" name="Equation" r:id="rId13" imgW="2527200" imgH="698400" progId="Equation.DSMT4">
                  <p:embed/>
                </p:oleObj>
              </mc:Choice>
              <mc:Fallback>
                <p:oleObj name="Equation" r:id="rId13" imgW="25272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23850"/>
                        <a:ext cx="6005834" cy="1659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988369"/>
              </p:ext>
            </p:extLst>
          </p:nvPr>
        </p:nvGraphicFramePr>
        <p:xfrm>
          <a:off x="2654594" y="4509120"/>
          <a:ext cx="5974955" cy="165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2" name="Equation" r:id="rId15" imgW="2527200" imgH="698400" progId="Equation.DSMT4">
                  <p:embed/>
                </p:oleObj>
              </mc:Choice>
              <mc:Fallback>
                <p:oleObj name="Equation" r:id="rId15" imgW="25272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594" y="4509120"/>
                        <a:ext cx="5974955" cy="1651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0111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438400" y="762001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３、偏导数存在与连续的关系</a:t>
            </a:r>
          </a:p>
        </p:txBody>
      </p:sp>
      <p:sp>
        <p:nvSpPr>
          <p:cNvPr id="193539" name="Line 3"/>
          <p:cNvSpPr>
            <a:spLocks noChangeShapeType="1"/>
          </p:cNvSpPr>
          <p:nvPr/>
        </p:nvSpPr>
        <p:spPr bwMode="auto">
          <a:xfrm>
            <a:off x="6781800" y="1704975"/>
            <a:ext cx="6096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0" name="Line 4"/>
          <p:cNvSpPr>
            <a:spLocks noChangeShapeType="1"/>
          </p:cNvSpPr>
          <p:nvPr/>
        </p:nvSpPr>
        <p:spPr bwMode="auto">
          <a:xfrm flipV="1">
            <a:off x="7848600" y="2286001"/>
            <a:ext cx="609600" cy="285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1" name="WordArt 5"/>
          <p:cNvSpPr>
            <a:spLocks noChangeArrowheads="1" noChangeShapeType="1" noTextEdit="1"/>
          </p:cNvSpPr>
          <p:nvPr/>
        </p:nvSpPr>
        <p:spPr bwMode="auto">
          <a:xfrm>
            <a:off x="8001000" y="2057400"/>
            <a:ext cx="228600" cy="457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236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2743201" y="2590801"/>
          <a:ext cx="6970713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name="文档" r:id="rId3" imgW="6990080" imgH="1991360" progId="Word.Document.8">
                  <p:embed/>
                </p:oleObj>
              </mc:Choice>
              <mc:Fallback>
                <p:oleObj name="文档" r:id="rId3" imgW="6990080" imgH="1991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2590801"/>
                        <a:ext cx="6970713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4" name="Text Box 8"/>
          <p:cNvSpPr txBox="1">
            <a:spLocks noChangeArrowheads="1"/>
          </p:cNvSpPr>
          <p:nvPr/>
        </p:nvSpPr>
        <p:spPr bwMode="auto">
          <a:xfrm>
            <a:off x="2514600" y="5305426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但函数在该点处并不连续</a:t>
            </a:r>
            <a:r>
              <a:rPr lang="en-US" altLang="zh-CN" sz="2800" b="1"/>
              <a:t>.</a:t>
            </a:r>
          </a:p>
        </p:txBody>
      </p:sp>
      <p:sp>
        <p:nvSpPr>
          <p:cNvPr id="193545" name="Rectangle 9"/>
          <p:cNvSpPr>
            <a:spLocks noChangeArrowheads="1"/>
          </p:cNvSpPr>
          <p:nvPr/>
        </p:nvSpPr>
        <p:spPr bwMode="auto">
          <a:xfrm>
            <a:off x="6705600" y="5338763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偏导数存在       连续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</a:p>
        </p:txBody>
      </p:sp>
      <p:grpSp>
        <p:nvGrpSpPr>
          <p:cNvPr id="193546" name="Group 10"/>
          <p:cNvGrpSpPr>
            <a:grpSpLocks/>
          </p:cNvGrpSpPr>
          <p:nvPr/>
        </p:nvGrpSpPr>
        <p:grpSpPr bwMode="auto">
          <a:xfrm>
            <a:off x="8610600" y="5457826"/>
            <a:ext cx="609600" cy="257175"/>
            <a:chOff x="4446" y="3330"/>
            <a:chExt cx="384" cy="162"/>
          </a:xfrm>
        </p:grpSpPr>
        <p:sp>
          <p:nvSpPr>
            <p:cNvPr id="54285" name="Line 11"/>
            <p:cNvSpPr>
              <a:spLocks noChangeShapeType="1"/>
            </p:cNvSpPr>
            <p:nvPr/>
          </p:nvSpPr>
          <p:spPr bwMode="auto">
            <a:xfrm>
              <a:off x="4446" y="3426"/>
              <a:ext cx="384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6" name="Line 12"/>
            <p:cNvSpPr>
              <a:spLocks noChangeShapeType="1"/>
            </p:cNvSpPr>
            <p:nvPr/>
          </p:nvSpPr>
          <p:spPr bwMode="auto">
            <a:xfrm flipH="1">
              <a:off x="4560" y="3330"/>
              <a:ext cx="96" cy="16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3549" name="Rectangle 13"/>
          <p:cNvSpPr>
            <a:spLocks noChangeArrowheads="1"/>
          </p:cNvSpPr>
          <p:nvPr/>
        </p:nvSpPr>
        <p:spPr bwMode="auto">
          <a:xfrm>
            <a:off x="2895600" y="1462088"/>
            <a:ext cx="5729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一元函数中在某点可导   </a:t>
            </a:r>
            <a:r>
              <a:rPr lang="zh-CN" altLang="en-US" sz="2800" b="1">
                <a:solidFill>
                  <a:schemeClr val="accent2"/>
                </a:solidFill>
              </a:rPr>
              <a:t>      </a:t>
            </a:r>
            <a:r>
              <a:rPr lang="zh-CN" altLang="en-US" sz="2800" b="1"/>
              <a:t> 连续，</a:t>
            </a:r>
          </a:p>
        </p:txBody>
      </p:sp>
      <p:sp>
        <p:nvSpPr>
          <p:cNvPr id="193550" name="Rectangle 14"/>
          <p:cNvSpPr>
            <a:spLocks noChangeArrowheads="1"/>
          </p:cNvSpPr>
          <p:nvPr/>
        </p:nvSpPr>
        <p:spPr bwMode="auto">
          <a:xfrm>
            <a:off x="2895600" y="2057401"/>
            <a:ext cx="690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多元函数中在某点偏导数存在 </a:t>
            </a:r>
            <a:r>
              <a:rPr lang="zh-CN" altLang="en-US" sz="2800" b="1">
                <a:solidFill>
                  <a:schemeClr val="accent2"/>
                </a:solidFill>
              </a:rPr>
              <a:t>         </a:t>
            </a:r>
            <a:r>
              <a:rPr lang="zh-CN" altLang="en-US" sz="2800" b="1"/>
              <a:t> 连续，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98138"/>
              </p:ext>
            </p:extLst>
          </p:nvPr>
        </p:nvGraphicFramePr>
        <p:xfrm>
          <a:off x="5895526" y="4509198"/>
          <a:ext cx="35433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quation" r:id="rId5" imgW="1422360" imgH="241200" progId="Equation.DSMT4">
                  <p:embed/>
                </p:oleObj>
              </mc:Choice>
              <mc:Fallback>
                <p:oleObj name="Equation" r:id="rId5" imgW="1422360" imgH="241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526" y="4509198"/>
                        <a:ext cx="3543300" cy="604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632868" y="4507110"/>
            <a:ext cx="3713957" cy="539358"/>
            <a:chOff x="2514600" y="4433262"/>
            <a:chExt cx="3713957" cy="53935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4197131"/>
                </p:ext>
              </p:extLst>
            </p:nvPr>
          </p:nvGraphicFramePr>
          <p:xfrm>
            <a:off x="4457700" y="4541044"/>
            <a:ext cx="76200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0" name="Equation" r:id="rId7" imgW="761669" imgH="406224" progId="Equation.DSMT4">
                    <p:embed/>
                  </p:oleObj>
                </mc:Choice>
                <mc:Fallback>
                  <p:oleObj name="Equation" r:id="rId7" imgW="761669" imgH="406224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7700" y="4541044"/>
                          <a:ext cx="762000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0"/>
            <p:cNvSpPr>
              <a:spLocks noChangeArrowheads="1"/>
            </p:cNvSpPr>
            <p:nvPr/>
          </p:nvSpPr>
          <p:spPr bwMode="auto">
            <a:xfrm>
              <a:off x="2514600" y="4433262"/>
              <a:ext cx="214124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依定义知在</a:t>
              </a:r>
              <a:endPara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" name="Rectangle 31"/>
            <p:cNvSpPr>
              <a:spLocks noChangeArrowheads="1"/>
            </p:cNvSpPr>
            <p:nvPr/>
          </p:nvSpPr>
          <p:spPr bwMode="auto">
            <a:xfrm>
              <a:off x="5187475" y="4449400"/>
              <a:ext cx="10410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处，</a:t>
              </a:r>
              <a:endPara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8604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9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animBg="1"/>
      <p:bldP spid="193540" grpId="0" animBg="1"/>
      <p:bldP spid="193541" grpId="0" animBg="1"/>
      <p:bldP spid="193544" grpId="0" autoUpdateAnimBg="0"/>
      <p:bldP spid="193545" grpId="0" autoUpdateAnimBg="0"/>
      <p:bldP spid="193549" grpId="0" autoUpdateAnimBg="0"/>
      <p:bldP spid="19355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22958" y="320859"/>
            <a:ext cx="5546725" cy="533400"/>
          </a:xfrm>
          <a:noFill/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4.  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二元函数偏导数的几何意义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194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343701"/>
              </p:ext>
            </p:extLst>
          </p:nvPr>
        </p:nvGraphicFramePr>
        <p:xfrm>
          <a:off x="2279576" y="854190"/>
          <a:ext cx="4475092" cy="119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7" name="Equation" r:id="rId3" imgW="1968480" imgH="520560" progId="Equation.DSMT4">
                  <p:embed/>
                </p:oleObj>
              </mc:Choice>
              <mc:Fallback>
                <p:oleObj name="Equation" r:id="rId3" imgW="19684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854190"/>
                        <a:ext cx="4475092" cy="1191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080059"/>
              </p:ext>
            </p:extLst>
          </p:nvPr>
        </p:nvGraphicFramePr>
        <p:xfrm>
          <a:off x="3073147" y="2087739"/>
          <a:ext cx="1921572" cy="116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8" name="Equation" r:id="rId5" imgW="825480" imgH="482400" progId="Equation.DSMT4">
                  <p:embed/>
                </p:oleObj>
              </mc:Choice>
              <mc:Fallback>
                <p:oleObj name="Equation" r:id="rId5" imgW="825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147" y="2087739"/>
                        <a:ext cx="1921572" cy="116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5" name="Object 5"/>
          <p:cNvGraphicFramePr>
            <a:graphicFrameLocks noChangeAspect="1"/>
          </p:cNvGraphicFramePr>
          <p:nvPr/>
        </p:nvGraphicFramePr>
        <p:xfrm>
          <a:off x="2351088" y="3219451"/>
          <a:ext cx="8493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9" name="公式" r:id="rId7" imgW="838055" imgH="419126" progId="Equation.3">
                  <p:embed/>
                </p:oleObj>
              </mc:Choice>
              <mc:Fallback>
                <p:oleObj name="公式" r:id="rId7" imgW="83805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219451"/>
                        <a:ext cx="8493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383330"/>
              </p:ext>
            </p:extLst>
          </p:nvPr>
        </p:nvGraphicFramePr>
        <p:xfrm>
          <a:off x="2572716" y="3617212"/>
          <a:ext cx="4523872" cy="120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0" name="Equation" r:id="rId9" imgW="1968480" imgH="520560" progId="Equation.DSMT4">
                  <p:embed/>
                </p:oleObj>
              </mc:Choice>
              <mc:Fallback>
                <p:oleObj name="Equation" r:id="rId9" imgW="19684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716" y="3617212"/>
                        <a:ext cx="4523872" cy="1205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7" name="Text Box 7"/>
          <p:cNvSpPr txBox="1">
            <a:spLocks noChangeArrowheads="1"/>
          </p:cNvSpPr>
          <p:nvPr/>
        </p:nvSpPr>
        <p:spPr bwMode="auto">
          <a:xfrm>
            <a:off x="1868488" y="5135563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是曲线</a:t>
            </a:r>
          </a:p>
        </p:txBody>
      </p:sp>
      <p:graphicFrame>
        <p:nvGraphicFramePr>
          <p:cNvPr id="194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112090"/>
              </p:ext>
            </p:extLst>
          </p:nvPr>
        </p:nvGraphicFramePr>
        <p:xfrm>
          <a:off x="3039286" y="4847025"/>
          <a:ext cx="1968137" cy="1161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" name="Equation" r:id="rId11" imgW="825480" imgH="482400" progId="Equation.DSMT4">
                  <p:embed/>
                </p:oleObj>
              </mc:Choice>
              <mc:Fallback>
                <p:oleObj name="Equation" r:id="rId11" imgW="825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286" y="4847025"/>
                        <a:ext cx="1968137" cy="1161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9" name="Object 9"/>
          <p:cNvGraphicFramePr>
            <a:graphicFrameLocks noChangeAspect="1"/>
          </p:cNvGraphicFramePr>
          <p:nvPr/>
        </p:nvGraphicFramePr>
        <p:xfrm>
          <a:off x="7778751" y="5187951"/>
          <a:ext cx="8540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2" name="公式" r:id="rId13" imgW="857142" imgH="476121" progId="Equation.3">
                  <p:embed/>
                </p:oleObj>
              </mc:Choice>
              <mc:Fallback>
                <p:oleObj name="公式" r:id="rId13" imgW="857142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1" y="5187951"/>
                        <a:ext cx="8540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4904436" y="2312778"/>
            <a:ext cx="2971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i="1" dirty="0">
                <a:ea typeface="楷体_GB2312" pitchFamily="49" charset="-122"/>
              </a:rPr>
              <a:t>M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处的切线</a:t>
            </a:r>
          </a:p>
        </p:txBody>
      </p:sp>
      <p:sp>
        <p:nvSpPr>
          <p:cNvPr id="194571" name="Text Box 11"/>
          <p:cNvSpPr txBox="1">
            <a:spLocks noChangeArrowheads="1"/>
          </p:cNvSpPr>
          <p:nvPr/>
        </p:nvSpPr>
        <p:spPr bwMode="auto">
          <a:xfrm>
            <a:off x="3216275" y="3141663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对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轴的斜率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94572" name="Text Box 12"/>
          <p:cNvSpPr txBox="1">
            <a:spLocks noChangeArrowheads="1"/>
          </p:cNvSpPr>
          <p:nvPr/>
        </p:nvSpPr>
        <p:spPr bwMode="auto">
          <a:xfrm>
            <a:off x="4953000" y="5105401"/>
            <a:ext cx="2971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  <a:r>
              <a:rPr lang="en-US" altLang="zh-CN" sz="2800" b="1" i="1">
                <a:ea typeface="楷体_GB2312" pitchFamily="49" charset="-122"/>
              </a:rPr>
              <a:t>M</a:t>
            </a:r>
            <a:r>
              <a:rPr lang="en-US" altLang="zh-CN" sz="2800" b="1" baseline="-25000">
                <a:ea typeface="楷体_GB2312" pitchFamily="49" charset="-122"/>
              </a:rPr>
              <a:t>0 </a:t>
            </a:r>
            <a:r>
              <a:rPr lang="zh-CN" altLang="en-US" sz="2800" b="1">
                <a:ea typeface="楷体_GB2312" pitchFamily="49" charset="-122"/>
              </a:rPr>
              <a:t>处的切线</a:t>
            </a:r>
          </a:p>
        </p:txBody>
      </p:sp>
      <p:sp>
        <p:nvSpPr>
          <p:cNvPr id="194573" name="Text Box 13"/>
          <p:cNvSpPr txBox="1">
            <a:spLocks noChangeArrowheads="1"/>
          </p:cNvSpPr>
          <p:nvPr/>
        </p:nvSpPr>
        <p:spPr bwMode="auto">
          <a:xfrm>
            <a:off x="10043657" y="5133976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斜率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94574" name="Text Box 14"/>
          <p:cNvSpPr txBox="1">
            <a:spLocks noChangeArrowheads="1"/>
          </p:cNvSpPr>
          <p:nvPr/>
        </p:nvSpPr>
        <p:spPr bwMode="auto">
          <a:xfrm>
            <a:off x="1905000" y="237648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是曲线</a:t>
            </a:r>
          </a:p>
        </p:txBody>
      </p:sp>
      <p:grpSp>
        <p:nvGrpSpPr>
          <p:cNvPr id="194579" name="Group 19"/>
          <p:cNvGrpSpPr>
            <a:grpSpLocks/>
          </p:cNvGrpSpPr>
          <p:nvPr/>
        </p:nvGrpSpPr>
        <p:grpSpPr bwMode="auto">
          <a:xfrm>
            <a:off x="7678738" y="808192"/>
            <a:ext cx="2608262" cy="3686817"/>
            <a:chOff x="3744" y="177"/>
            <a:chExt cx="1824" cy="2580"/>
          </a:xfrm>
        </p:grpSpPr>
        <p:sp>
          <p:nvSpPr>
            <p:cNvPr id="55344" name="Arc 20"/>
            <p:cNvSpPr>
              <a:spLocks/>
            </p:cNvSpPr>
            <p:nvPr/>
          </p:nvSpPr>
          <p:spPr bwMode="auto">
            <a:xfrm>
              <a:off x="4369" y="417"/>
              <a:ext cx="1041" cy="576"/>
            </a:xfrm>
            <a:custGeom>
              <a:avLst/>
              <a:gdLst>
                <a:gd name="T0" fmla="*/ 0 w 21275"/>
                <a:gd name="T1" fmla="*/ 24 h 21600"/>
                <a:gd name="T2" fmla="*/ 1041 w 21275"/>
                <a:gd name="T3" fmla="*/ 164 h 21600"/>
                <a:gd name="T4" fmla="*/ 303 w 21275"/>
                <a:gd name="T5" fmla="*/ 57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75" h="21600" fill="none" extrusionOk="0">
                  <a:moveTo>
                    <a:pt x="0" y="908"/>
                  </a:moveTo>
                  <a:cubicBezTo>
                    <a:pt x="2010" y="305"/>
                    <a:pt x="4098" y="-1"/>
                    <a:pt x="6198" y="0"/>
                  </a:cubicBezTo>
                  <a:cubicBezTo>
                    <a:pt x="11830" y="0"/>
                    <a:pt x="17241" y="2200"/>
                    <a:pt x="21274" y="6132"/>
                  </a:cubicBezTo>
                </a:path>
                <a:path w="21275" h="21600" stroke="0" extrusionOk="0">
                  <a:moveTo>
                    <a:pt x="0" y="908"/>
                  </a:moveTo>
                  <a:cubicBezTo>
                    <a:pt x="2010" y="305"/>
                    <a:pt x="4098" y="-1"/>
                    <a:pt x="6198" y="0"/>
                  </a:cubicBezTo>
                  <a:cubicBezTo>
                    <a:pt x="11830" y="0"/>
                    <a:pt x="17241" y="2200"/>
                    <a:pt x="21274" y="6132"/>
                  </a:cubicBezTo>
                  <a:lnTo>
                    <a:pt x="6198" y="21600"/>
                  </a:lnTo>
                  <a:lnTo>
                    <a:pt x="0" y="90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5" name="Arc 21"/>
            <p:cNvSpPr>
              <a:spLocks/>
            </p:cNvSpPr>
            <p:nvPr/>
          </p:nvSpPr>
          <p:spPr bwMode="auto">
            <a:xfrm>
              <a:off x="3889" y="1159"/>
              <a:ext cx="1166" cy="576"/>
            </a:xfrm>
            <a:custGeom>
              <a:avLst/>
              <a:gdLst>
                <a:gd name="T0" fmla="*/ 0 w 23838"/>
                <a:gd name="T1" fmla="*/ 54 h 21600"/>
                <a:gd name="T2" fmla="*/ 1166 w 23838"/>
                <a:gd name="T3" fmla="*/ 155 h 21600"/>
                <a:gd name="T4" fmla="*/ 446 w 23838"/>
                <a:gd name="T5" fmla="*/ 57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838" h="21600" fill="none" extrusionOk="0">
                  <a:moveTo>
                    <a:pt x="0" y="2015"/>
                  </a:moveTo>
                  <a:cubicBezTo>
                    <a:pt x="2853" y="687"/>
                    <a:pt x="5962" y="-1"/>
                    <a:pt x="9110" y="0"/>
                  </a:cubicBezTo>
                  <a:cubicBezTo>
                    <a:pt x="14576" y="0"/>
                    <a:pt x="19839" y="2072"/>
                    <a:pt x="23838" y="5799"/>
                  </a:cubicBezTo>
                </a:path>
                <a:path w="23838" h="21600" stroke="0" extrusionOk="0">
                  <a:moveTo>
                    <a:pt x="0" y="2015"/>
                  </a:moveTo>
                  <a:cubicBezTo>
                    <a:pt x="2853" y="687"/>
                    <a:pt x="5962" y="-1"/>
                    <a:pt x="9110" y="0"/>
                  </a:cubicBezTo>
                  <a:cubicBezTo>
                    <a:pt x="14576" y="0"/>
                    <a:pt x="19839" y="2072"/>
                    <a:pt x="23838" y="5799"/>
                  </a:cubicBezTo>
                  <a:lnTo>
                    <a:pt x="9110" y="21600"/>
                  </a:lnTo>
                  <a:lnTo>
                    <a:pt x="0" y="2015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6" name="Arc 22"/>
            <p:cNvSpPr>
              <a:spLocks/>
            </p:cNvSpPr>
            <p:nvPr/>
          </p:nvSpPr>
          <p:spPr bwMode="auto">
            <a:xfrm flipH="1">
              <a:off x="5040" y="574"/>
              <a:ext cx="528" cy="728"/>
            </a:xfrm>
            <a:custGeom>
              <a:avLst/>
              <a:gdLst>
                <a:gd name="T0" fmla="*/ 167 w 21600"/>
                <a:gd name="T1" fmla="*/ 0 h 20488"/>
                <a:gd name="T2" fmla="*/ 528 w 21600"/>
                <a:gd name="T3" fmla="*/ 726 h 20488"/>
                <a:gd name="T4" fmla="*/ 0 w 21600"/>
                <a:gd name="T5" fmla="*/ 728 h 204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0488" fill="none" extrusionOk="0">
                  <a:moveTo>
                    <a:pt x="6841" y="-1"/>
                  </a:moveTo>
                  <a:cubicBezTo>
                    <a:pt x="15635" y="2936"/>
                    <a:pt x="21575" y="11158"/>
                    <a:pt x="21599" y="20430"/>
                  </a:cubicBezTo>
                </a:path>
                <a:path w="21600" h="20488" stroke="0" extrusionOk="0">
                  <a:moveTo>
                    <a:pt x="6841" y="-1"/>
                  </a:moveTo>
                  <a:cubicBezTo>
                    <a:pt x="15635" y="2936"/>
                    <a:pt x="21575" y="11158"/>
                    <a:pt x="21599" y="20430"/>
                  </a:cubicBezTo>
                  <a:lnTo>
                    <a:pt x="0" y="20488"/>
                  </a:lnTo>
                  <a:lnTo>
                    <a:pt x="6841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7" name="Arc 23"/>
            <p:cNvSpPr>
              <a:spLocks/>
            </p:cNvSpPr>
            <p:nvPr/>
          </p:nvSpPr>
          <p:spPr bwMode="auto">
            <a:xfrm flipH="1">
              <a:off x="3888" y="438"/>
              <a:ext cx="528" cy="816"/>
            </a:xfrm>
            <a:custGeom>
              <a:avLst/>
              <a:gdLst>
                <a:gd name="T0" fmla="*/ 46 w 21581"/>
                <a:gd name="T1" fmla="*/ 0 h 21520"/>
                <a:gd name="T2" fmla="*/ 528 w 21581"/>
                <a:gd name="T3" fmla="*/ 781 h 21520"/>
                <a:gd name="T4" fmla="*/ 0 w 21581"/>
                <a:gd name="T5" fmla="*/ 816 h 215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1" h="21520" fill="none" extrusionOk="0">
                  <a:moveTo>
                    <a:pt x="1859" y="0"/>
                  </a:moveTo>
                  <a:cubicBezTo>
                    <a:pt x="12678" y="935"/>
                    <a:pt x="21120" y="9756"/>
                    <a:pt x="21580" y="20605"/>
                  </a:cubicBezTo>
                </a:path>
                <a:path w="21581" h="21520" stroke="0" extrusionOk="0">
                  <a:moveTo>
                    <a:pt x="1859" y="0"/>
                  </a:moveTo>
                  <a:cubicBezTo>
                    <a:pt x="12678" y="935"/>
                    <a:pt x="21120" y="9756"/>
                    <a:pt x="21580" y="20605"/>
                  </a:cubicBezTo>
                  <a:lnTo>
                    <a:pt x="0" y="21520"/>
                  </a:lnTo>
                  <a:lnTo>
                    <a:pt x="1859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48" name="Group 24"/>
            <p:cNvGrpSpPr>
              <a:grpSpLocks/>
            </p:cNvGrpSpPr>
            <p:nvPr/>
          </p:nvGrpSpPr>
          <p:grpSpPr bwMode="auto">
            <a:xfrm>
              <a:off x="3744" y="198"/>
              <a:ext cx="1584" cy="2448"/>
              <a:chOff x="3744" y="198"/>
              <a:chExt cx="1584" cy="2448"/>
            </a:xfrm>
          </p:grpSpPr>
          <p:sp>
            <p:nvSpPr>
              <p:cNvPr id="55352" name="Line 25"/>
              <p:cNvSpPr>
                <a:spLocks noChangeShapeType="1"/>
              </p:cNvSpPr>
              <p:nvPr/>
            </p:nvSpPr>
            <p:spPr bwMode="auto">
              <a:xfrm>
                <a:off x="4128" y="187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3" name="Line 26"/>
              <p:cNvSpPr>
                <a:spLocks noChangeShapeType="1"/>
              </p:cNvSpPr>
              <p:nvPr/>
            </p:nvSpPr>
            <p:spPr bwMode="auto">
              <a:xfrm flipH="1">
                <a:off x="3744" y="1878"/>
                <a:ext cx="384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4" name="Line 27"/>
              <p:cNvSpPr>
                <a:spLocks noChangeShapeType="1"/>
              </p:cNvSpPr>
              <p:nvPr/>
            </p:nvSpPr>
            <p:spPr bwMode="auto">
              <a:xfrm flipV="1">
                <a:off x="4128" y="198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5" name="Line 28"/>
              <p:cNvSpPr>
                <a:spLocks noChangeShapeType="1"/>
              </p:cNvSpPr>
              <p:nvPr/>
            </p:nvSpPr>
            <p:spPr bwMode="auto">
              <a:xfrm flipV="1">
                <a:off x="4128" y="1158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6" name="Line 29"/>
              <p:cNvSpPr>
                <a:spLocks noChangeShapeType="1"/>
              </p:cNvSpPr>
              <p:nvPr/>
            </p:nvSpPr>
            <p:spPr bwMode="auto">
              <a:xfrm flipV="1">
                <a:off x="4128" y="58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5349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2992080"/>
                </p:ext>
              </p:extLst>
            </p:nvPr>
          </p:nvGraphicFramePr>
          <p:xfrm>
            <a:off x="5324" y="1820"/>
            <a:ext cx="21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3" name="Equation" r:id="rId15" imgW="139680" imgH="164880" progId="Equation.DSMT4">
                    <p:embed/>
                  </p:oleObj>
                </mc:Choice>
                <mc:Fallback>
                  <p:oleObj name="Equation" r:id="rId1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1820"/>
                          <a:ext cx="21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0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6907643"/>
                </p:ext>
              </p:extLst>
            </p:nvPr>
          </p:nvGraphicFramePr>
          <p:xfrm>
            <a:off x="3792" y="2545"/>
            <a:ext cx="22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4" name="Equation" r:id="rId17" imgW="139680" imgH="139680" progId="Equation.DSMT4">
                    <p:embed/>
                  </p:oleObj>
                </mc:Choice>
                <mc:Fallback>
                  <p:oleObj name="Equation" r:id="rId17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545"/>
                          <a:ext cx="222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1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3910572"/>
                </p:ext>
              </p:extLst>
            </p:nvPr>
          </p:nvGraphicFramePr>
          <p:xfrm>
            <a:off x="3888" y="177"/>
            <a:ext cx="19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5" name="Equation" r:id="rId19" imgW="114120" imgH="139680" progId="Equation.DSMT4">
                    <p:embed/>
                  </p:oleObj>
                </mc:Choice>
                <mc:Fallback>
                  <p:oleObj name="Equation" r:id="rId19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77"/>
                          <a:ext cx="19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593" name="Group 33"/>
          <p:cNvGrpSpPr>
            <a:grpSpLocks/>
          </p:cNvGrpSpPr>
          <p:nvPr/>
        </p:nvGrpSpPr>
        <p:grpSpPr bwMode="auto">
          <a:xfrm>
            <a:off x="7385681" y="1557339"/>
            <a:ext cx="2213934" cy="2438971"/>
            <a:chOff x="3596" y="695"/>
            <a:chExt cx="1548" cy="1691"/>
          </a:xfrm>
        </p:grpSpPr>
        <p:sp>
          <p:nvSpPr>
            <p:cNvPr id="55339" name="Line 34"/>
            <p:cNvSpPr>
              <a:spLocks noChangeShapeType="1"/>
            </p:cNvSpPr>
            <p:nvPr/>
          </p:nvSpPr>
          <p:spPr bwMode="auto">
            <a:xfrm>
              <a:off x="3936" y="2304"/>
              <a:ext cx="1200" cy="0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40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2461691"/>
                </p:ext>
              </p:extLst>
            </p:nvPr>
          </p:nvGraphicFramePr>
          <p:xfrm>
            <a:off x="3596" y="2058"/>
            <a:ext cx="25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6" name="Equation" r:id="rId21" imgW="177480" imgH="228600" progId="Equation.DSMT4">
                    <p:embed/>
                  </p:oleObj>
                </mc:Choice>
                <mc:Fallback>
                  <p:oleObj name="Equation" r:id="rId21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2058"/>
                          <a:ext cx="25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1" name="Arc 36"/>
            <p:cNvSpPr>
              <a:spLocks/>
            </p:cNvSpPr>
            <p:nvPr/>
          </p:nvSpPr>
          <p:spPr bwMode="auto">
            <a:xfrm>
              <a:off x="4032" y="695"/>
              <a:ext cx="1112" cy="578"/>
            </a:xfrm>
            <a:custGeom>
              <a:avLst/>
              <a:gdLst>
                <a:gd name="T0" fmla="*/ 0 w 22720"/>
                <a:gd name="T1" fmla="*/ 25 h 21600"/>
                <a:gd name="T2" fmla="*/ 1112 w 22720"/>
                <a:gd name="T3" fmla="*/ 201 h 21600"/>
                <a:gd name="T4" fmla="*/ 310 w 22720"/>
                <a:gd name="T5" fmla="*/ 57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20" h="21600" fill="none" extrusionOk="0">
                  <a:moveTo>
                    <a:pt x="0" y="952"/>
                  </a:moveTo>
                  <a:cubicBezTo>
                    <a:pt x="2054" y="320"/>
                    <a:pt x="4192" y="-1"/>
                    <a:pt x="6342" y="0"/>
                  </a:cubicBezTo>
                  <a:cubicBezTo>
                    <a:pt x="12635" y="0"/>
                    <a:pt x="18616" y="2745"/>
                    <a:pt x="22720" y="7517"/>
                  </a:cubicBezTo>
                </a:path>
                <a:path w="22720" h="21600" stroke="0" extrusionOk="0">
                  <a:moveTo>
                    <a:pt x="0" y="952"/>
                  </a:moveTo>
                  <a:cubicBezTo>
                    <a:pt x="2054" y="320"/>
                    <a:pt x="4192" y="-1"/>
                    <a:pt x="6342" y="0"/>
                  </a:cubicBezTo>
                  <a:cubicBezTo>
                    <a:pt x="12635" y="0"/>
                    <a:pt x="18616" y="2745"/>
                    <a:pt x="22720" y="7517"/>
                  </a:cubicBezTo>
                  <a:lnTo>
                    <a:pt x="6342" y="21600"/>
                  </a:lnTo>
                  <a:lnTo>
                    <a:pt x="0" y="952"/>
                  </a:lnTo>
                  <a:close/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2" name="Line 37"/>
            <p:cNvSpPr>
              <a:spLocks noChangeShapeType="1"/>
            </p:cNvSpPr>
            <p:nvPr/>
          </p:nvSpPr>
          <p:spPr bwMode="auto">
            <a:xfrm>
              <a:off x="4032" y="726"/>
              <a:ext cx="0" cy="1584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3" name="Line 38"/>
            <p:cNvSpPr>
              <a:spLocks noChangeShapeType="1"/>
            </p:cNvSpPr>
            <p:nvPr/>
          </p:nvSpPr>
          <p:spPr bwMode="auto">
            <a:xfrm>
              <a:off x="5136" y="870"/>
              <a:ext cx="0" cy="144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99" name="Group 39"/>
          <p:cNvGrpSpPr>
            <a:grpSpLocks/>
          </p:cNvGrpSpPr>
          <p:nvPr/>
        </p:nvGrpSpPr>
        <p:grpSpPr bwMode="auto">
          <a:xfrm>
            <a:off x="8328027" y="1484312"/>
            <a:ext cx="1932944" cy="755646"/>
            <a:chOff x="4176" y="630"/>
            <a:chExt cx="1352" cy="529"/>
          </a:xfrm>
        </p:grpSpPr>
        <p:sp>
          <p:nvSpPr>
            <p:cNvPr id="55337" name="Line 40"/>
            <p:cNvSpPr>
              <a:spLocks noChangeShapeType="1"/>
            </p:cNvSpPr>
            <p:nvPr/>
          </p:nvSpPr>
          <p:spPr bwMode="auto">
            <a:xfrm>
              <a:off x="4176" y="630"/>
              <a:ext cx="120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8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4632105"/>
                </p:ext>
              </p:extLst>
            </p:nvPr>
          </p:nvGraphicFramePr>
          <p:xfrm>
            <a:off x="5275" y="807"/>
            <a:ext cx="253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7" name="Equation" r:id="rId23" imgW="177480" imgH="241200" progId="Equation.DSMT4">
                    <p:embed/>
                  </p:oleObj>
                </mc:Choice>
                <mc:Fallback>
                  <p:oleObj name="Equation" r:id="rId23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5" y="807"/>
                          <a:ext cx="253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60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719253"/>
              </p:ext>
            </p:extLst>
          </p:nvPr>
        </p:nvGraphicFramePr>
        <p:xfrm>
          <a:off x="8161338" y="3232150"/>
          <a:ext cx="287337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" name="Equation" r:id="rId25" imgW="126720" imgH="139680" progId="Equation.DSMT4">
                  <p:embed/>
                </p:oleObj>
              </mc:Choice>
              <mc:Fallback>
                <p:oleObj name="Equation" r:id="rId25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338" y="3232150"/>
                        <a:ext cx="287337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03" name="Group 43"/>
          <p:cNvGrpSpPr>
            <a:grpSpLocks/>
          </p:cNvGrpSpPr>
          <p:nvPr/>
        </p:nvGrpSpPr>
        <p:grpSpPr bwMode="auto">
          <a:xfrm>
            <a:off x="8199398" y="877889"/>
            <a:ext cx="955714" cy="1289659"/>
            <a:chOff x="4108" y="226"/>
            <a:chExt cx="668" cy="902"/>
          </a:xfrm>
        </p:grpSpPr>
        <p:sp>
          <p:nvSpPr>
            <p:cNvPr id="55335" name="Line 44"/>
            <p:cNvSpPr>
              <a:spLocks noChangeShapeType="1"/>
            </p:cNvSpPr>
            <p:nvPr/>
          </p:nvSpPr>
          <p:spPr bwMode="auto">
            <a:xfrm flipH="1">
              <a:off x="4320" y="226"/>
              <a:ext cx="456" cy="8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6806596"/>
                </p:ext>
              </p:extLst>
            </p:nvPr>
          </p:nvGraphicFramePr>
          <p:xfrm>
            <a:off x="4108" y="809"/>
            <a:ext cx="25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9" name="Equation" r:id="rId27" imgW="177480" imgH="228600" progId="Equation.DSMT4">
                    <p:embed/>
                  </p:oleObj>
                </mc:Choice>
                <mc:Fallback>
                  <p:oleObj name="Equation" r:id="rId27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809"/>
                          <a:ext cx="25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06" name="Group 46"/>
          <p:cNvGrpSpPr>
            <a:grpSpLocks/>
          </p:cNvGrpSpPr>
          <p:nvPr/>
        </p:nvGrpSpPr>
        <p:grpSpPr bwMode="auto">
          <a:xfrm>
            <a:off x="8616953" y="1268413"/>
            <a:ext cx="869161" cy="3086100"/>
            <a:chOff x="4416" y="480"/>
            <a:chExt cx="608" cy="2160"/>
          </a:xfrm>
        </p:grpSpPr>
        <p:sp>
          <p:nvSpPr>
            <p:cNvPr id="55330" name="Line 47"/>
            <p:cNvSpPr>
              <a:spLocks noChangeShapeType="1"/>
            </p:cNvSpPr>
            <p:nvPr/>
          </p:nvSpPr>
          <p:spPr bwMode="auto">
            <a:xfrm flipH="1">
              <a:off x="4416" y="1872"/>
              <a:ext cx="336" cy="768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1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898814"/>
                </p:ext>
              </p:extLst>
            </p:nvPr>
          </p:nvGraphicFramePr>
          <p:xfrm>
            <a:off x="4797" y="1579"/>
            <a:ext cx="227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80" name="Equation" r:id="rId29" imgW="177480" imgH="228600" progId="Equation.DSMT4">
                    <p:embed/>
                  </p:oleObj>
                </mc:Choice>
                <mc:Fallback>
                  <p:oleObj name="Equation" r:id="rId29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1579"/>
                          <a:ext cx="227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2" name="Arc 49"/>
            <p:cNvSpPr>
              <a:spLocks/>
            </p:cNvSpPr>
            <p:nvPr/>
          </p:nvSpPr>
          <p:spPr bwMode="auto">
            <a:xfrm flipH="1">
              <a:off x="4416" y="490"/>
              <a:ext cx="528" cy="710"/>
            </a:xfrm>
            <a:custGeom>
              <a:avLst/>
              <a:gdLst>
                <a:gd name="T0" fmla="*/ 203 w 21578"/>
                <a:gd name="T1" fmla="*/ 0 h 19950"/>
                <a:gd name="T2" fmla="*/ 528 w 21578"/>
                <a:gd name="T3" fmla="*/ 675 h 19950"/>
                <a:gd name="T4" fmla="*/ 0 w 21578"/>
                <a:gd name="T5" fmla="*/ 710 h 19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78" h="19950" fill="none" extrusionOk="0">
                  <a:moveTo>
                    <a:pt x="8279" y="0"/>
                  </a:moveTo>
                  <a:cubicBezTo>
                    <a:pt x="16016" y="3211"/>
                    <a:pt x="21199" y="10605"/>
                    <a:pt x="21577" y="18974"/>
                  </a:cubicBezTo>
                </a:path>
                <a:path w="21578" h="19950" stroke="0" extrusionOk="0">
                  <a:moveTo>
                    <a:pt x="8279" y="0"/>
                  </a:moveTo>
                  <a:cubicBezTo>
                    <a:pt x="16016" y="3211"/>
                    <a:pt x="21199" y="10605"/>
                    <a:pt x="21577" y="18974"/>
                  </a:cubicBezTo>
                  <a:lnTo>
                    <a:pt x="0" y="19950"/>
                  </a:lnTo>
                  <a:lnTo>
                    <a:pt x="8279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33" name="Line 50"/>
            <p:cNvSpPr>
              <a:spLocks noChangeShapeType="1"/>
            </p:cNvSpPr>
            <p:nvPr/>
          </p:nvSpPr>
          <p:spPr bwMode="auto">
            <a:xfrm>
              <a:off x="4416" y="1152"/>
              <a:ext cx="0" cy="1488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34" name="Line 51"/>
            <p:cNvSpPr>
              <a:spLocks noChangeShapeType="1"/>
            </p:cNvSpPr>
            <p:nvPr/>
          </p:nvSpPr>
          <p:spPr bwMode="auto">
            <a:xfrm flipV="1">
              <a:off x="4752" y="480"/>
              <a:ext cx="0" cy="1392"/>
            </a:xfrm>
            <a:prstGeom prst="line">
              <a:avLst/>
            </a:prstGeom>
            <a:noFill/>
            <a:ln w="15875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12" name="Group 52"/>
          <p:cNvGrpSpPr>
            <a:grpSpLocks/>
          </p:cNvGrpSpPr>
          <p:nvPr/>
        </p:nvGrpSpPr>
        <p:grpSpPr bwMode="auto">
          <a:xfrm>
            <a:off x="8492656" y="1235712"/>
            <a:ext cx="369715" cy="2610801"/>
            <a:chOff x="4313" y="476"/>
            <a:chExt cx="259" cy="1828"/>
          </a:xfrm>
        </p:grpSpPr>
        <p:sp>
          <p:nvSpPr>
            <p:cNvPr id="55326" name="Line 53"/>
            <p:cNvSpPr>
              <a:spLocks noChangeShapeType="1"/>
            </p:cNvSpPr>
            <p:nvPr/>
          </p:nvSpPr>
          <p:spPr bwMode="auto">
            <a:xfrm flipV="1">
              <a:off x="4560" y="720"/>
              <a:ext cx="0" cy="1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27" name="Group 54"/>
            <p:cNvGrpSpPr>
              <a:grpSpLocks/>
            </p:cNvGrpSpPr>
            <p:nvPr/>
          </p:nvGrpSpPr>
          <p:grpSpPr bwMode="auto">
            <a:xfrm>
              <a:off x="4313" y="476"/>
              <a:ext cx="259" cy="246"/>
              <a:chOff x="4313" y="476"/>
              <a:chExt cx="259" cy="246"/>
            </a:xfrm>
          </p:grpSpPr>
          <p:graphicFrame>
            <p:nvGraphicFramePr>
              <p:cNvPr id="55328" name="Object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6573266"/>
                  </p:ext>
                </p:extLst>
              </p:nvPr>
            </p:nvGraphicFramePr>
            <p:xfrm>
              <a:off x="4313" y="476"/>
              <a:ext cx="259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81" name="Equation" r:id="rId31" imgW="241200" imgH="228600" progId="Equation.DSMT4">
                      <p:embed/>
                    </p:oleObj>
                  </mc:Choice>
                  <mc:Fallback>
                    <p:oleObj name="Equation" r:id="rId31" imgW="2412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3" y="476"/>
                            <a:ext cx="259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29" name="Oval 56"/>
              <p:cNvSpPr>
                <a:spLocks noChangeArrowheads="1"/>
              </p:cNvSpPr>
              <p:nvPr/>
            </p:nvSpPr>
            <p:spPr bwMode="auto">
              <a:xfrm>
                <a:off x="4534" y="672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194620" name="Rectangle 60"/>
          <p:cNvSpPr>
            <a:spLocks noChangeArrowheads="1"/>
          </p:cNvSpPr>
          <p:nvPr/>
        </p:nvSpPr>
        <p:spPr bwMode="auto">
          <a:xfrm>
            <a:off x="8610600" y="51196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对 </a:t>
            </a:r>
            <a:r>
              <a:rPr lang="en-US" altLang="zh-CN" sz="2800" b="1" i="1">
                <a:ea typeface="楷体_GB2312" pitchFamily="49" charset="-122"/>
              </a:rPr>
              <a:t>y </a:t>
            </a:r>
            <a:r>
              <a:rPr lang="zh-CN" altLang="en-US" sz="2800" b="1">
                <a:ea typeface="楷体_GB2312" pitchFamily="49" charset="-122"/>
              </a:rPr>
              <a:t>轴的</a:t>
            </a:r>
            <a:endParaRPr lang="zh-CN" altLang="en-US" sz="2800" b="1" i="1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64278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4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7" grpId="0" autoUpdateAnimBg="0"/>
      <p:bldP spid="194570" grpId="0" autoUpdateAnimBg="0"/>
      <p:bldP spid="194571" grpId="0" autoUpdateAnimBg="0"/>
      <p:bldP spid="194572" grpId="0" autoUpdateAnimBg="0"/>
      <p:bldP spid="194573" grpId="0" autoUpdateAnimBg="0"/>
      <p:bldP spid="194574" grpId="0" build="p" autoUpdateAnimBg="0"/>
      <p:bldP spid="194620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28649"/>
              </p:ext>
            </p:extLst>
          </p:nvPr>
        </p:nvGraphicFramePr>
        <p:xfrm>
          <a:off x="2102723" y="2628268"/>
          <a:ext cx="3840877" cy="983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6" name="Equation" r:id="rId3" imgW="1739880" imgH="444240" progId="Equation.DSMT4">
                  <p:embed/>
                </p:oleObj>
              </mc:Choice>
              <mc:Fallback>
                <p:oleObj name="Equation" r:id="rId3" imgW="1739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723" y="2628268"/>
                        <a:ext cx="3840877" cy="983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111137"/>
              </p:ext>
            </p:extLst>
          </p:nvPr>
        </p:nvGraphicFramePr>
        <p:xfrm>
          <a:off x="6233785" y="2590111"/>
          <a:ext cx="3748415" cy="106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7" name="Equation" r:id="rId5" imgW="1663560" imgH="469800" progId="Equation.DSMT4">
                  <p:embed/>
                </p:oleObj>
              </mc:Choice>
              <mc:Fallback>
                <p:oleObj name="Equation" r:id="rId5" imgW="1663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785" y="2590111"/>
                        <a:ext cx="3748415" cy="106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604102"/>
              </p:ext>
            </p:extLst>
          </p:nvPr>
        </p:nvGraphicFramePr>
        <p:xfrm>
          <a:off x="2109018" y="3827619"/>
          <a:ext cx="3910783" cy="962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8" name="Equation" r:id="rId7" imgW="1803240" imgH="444240" progId="Equation.DSMT4">
                  <p:embed/>
                </p:oleObj>
              </mc:Choice>
              <mc:Fallback>
                <p:oleObj name="Equation" r:id="rId7" imgW="1803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018" y="3827619"/>
                        <a:ext cx="3910783" cy="962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74060"/>
              </p:ext>
            </p:extLst>
          </p:nvPr>
        </p:nvGraphicFramePr>
        <p:xfrm>
          <a:off x="6233785" y="3769103"/>
          <a:ext cx="3857671" cy="1020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9" name="Equation" r:id="rId9" imgW="1777680" imgH="469800" progId="Equation.DSMT4">
                  <p:embed/>
                </p:oleObj>
              </mc:Choice>
              <mc:Fallback>
                <p:oleObj name="Equation" r:id="rId9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785" y="3769103"/>
                        <a:ext cx="3857671" cy="1020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0" name="Object 6"/>
          <p:cNvGraphicFramePr>
            <a:graphicFrameLocks noChangeAspect="1"/>
          </p:cNvGraphicFramePr>
          <p:nvPr/>
        </p:nvGraphicFramePr>
        <p:xfrm>
          <a:off x="2584450" y="1752601"/>
          <a:ext cx="54927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0" name="文档" r:id="rId11" imgW="5273040" imgH="594360" progId="Word.Document.8">
                  <p:embed/>
                </p:oleObj>
              </mc:Choice>
              <mc:Fallback>
                <p:oleObj name="文档" r:id="rId11" imgW="5273040" imgH="59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1752601"/>
                        <a:ext cx="54927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1" name="Text Box 7"/>
          <p:cNvSpPr txBox="1">
            <a:spLocks noChangeArrowheads="1"/>
          </p:cNvSpPr>
          <p:nvPr/>
        </p:nvSpPr>
        <p:spPr bwMode="auto">
          <a:xfrm>
            <a:off x="9867900" y="3453850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纯偏导</a:t>
            </a:r>
          </a:p>
        </p:txBody>
      </p:sp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9677400" y="4649195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混合偏导</a:t>
            </a:r>
          </a:p>
        </p:txBody>
      </p:sp>
      <p:sp>
        <p:nvSpPr>
          <p:cNvPr id="195593" name="Rectangle 9"/>
          <p:cNvSpPr>
            <a:spLocks noChangeArrowheads="1"/>
          </p:cNvSpPr>
          <p:nvPr/>
        </p:nvSpPr>
        <p:spPr bwMode="auto">
          <a:xfrm>
            <a:off x="2286000" y="5348288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定义：二阶及二阶以上的偏导数统称为高阶偏导数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6330" name="Rectangle 10"/>
          <p:cNvSpPr>
            <a:spLocks noGrp="1" noChangeArrowheads="1"/>
          </p:cNvSpPr>
          <p:nvPr>
            <p:ph type="title"/>
          </p:nvPr>
        </p:nvSpPr>
        <p:spPr>
          <a:xfrm>
            <a:off x="2423592" y="715599"/>
            <a:ext cx="4449688" cy="879376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二、高阶偏导数</a:t>
            </a:r>
          </a:p>
        </p:txBody>
      </p:sp>
    </p:spTree>
    <p:extLst>
      <p:ext uri="{BB962C8B-B14F-4D97-AF65-F5344CB8AC3E}">
        <p14:creationId xmlns:p14="http://schemas.microsoft.com/office/powerpoint/2010/main" val="41753061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1" grpId="0" autoUpdateAnimBg="0"/>
      <p:bldP spid="195592" grpId="0" autoUpdateAnimBg="0"/>
      <p:bldP spid="19559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58651"/>
              </p:ext>
            </p:extLst>
          </p:nvPr>
        </p:nvGraphicFramePr>
        <p:xfrm>
          <a:off x="2516188" y="779463"/>
          <a:ext cx="7252220" cy="24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5" name="Document" r:id="rId3" imgW="6987131" imgH="2362258" progId="Word.Document.8">
                  <p:embed/>
                </p:oleObj>
              </mc:Choice>
              <mc:Fallback>
                <p:oleObj name="Document" r:id="rId3" imgW="6987131" imgH="23622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779463"/>
                        <a:ext cx="7252220" cy="2451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2362200" y="28956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6612" name="Object 4"/>
          <p:cNvGraphicFramePr>
            <a:graphicFrameLocks noChangeAspect="1"/>
          </p:cNvGraphicFramePr>
          <p:nvPr/>
        </p:nvGraphicFramePr>
        <p:xfrm>
          <a:off x="3124200" y="2743200"/>
          <a:ext cx="457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6" name="公式" r:id="rId5" imgW="457200" imgH="889000" progId="Equation.3">
                  <p:embed/>
                </p:oleObj>
              </mc:Choice>
              <mc:Fallback>
                <p:oleObj name="公式" r:id="rId5" imgW="45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743200"/>
                        <a:ext cx="457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3657600" y="2959100"/>
          <a:ext cx="2755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7" name="公式" r:id="rId7" imgW="2755900" imgH="469900" progId="Equation.3">
                  <p:embed/>
                </p:oleObj>
              </mc:Choice>
              <mc:Fallback>
                <p:oleObj name="公式" r:id="rId7" imgW="2755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959100"/>
                        <a:ext cx="2755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/>
        </p:nvGraphicFramePr>
        <p:xfrm>
          <a:off x="6629401" y="2743200"/>
          <a:ext cx="4302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8" name="公式" r:id="rId9" imgW="431800" imgH="965200" progId="Equation.3">
                  <p:embed/>
                </p:oleObj>
              </mc:Choice>
              <mc:Fallback>
                <p:oleObj name="公式" r:id="rId9" imgW="431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743200"/>
                        <a:ext cx="43021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/>
          <p:cNvGraphicFramePr>
            <a:graphicFrameLocks noChangeAspect="1"/>
          </p:cNvGraphicFramePr>
          <p:nvPr/>
        </p:nvGraphicFramePr>
        <p:xfrm>
          <a:off x="7200900" y="2946400"/>
          <a:ext cx="2768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9" name="公式" r:id="rId11" imgW="2768600" imgH="469900" progId="Equation.3">
                  <p:embed/>
                </p:oleObj>
              </mc:Choice>
              <mc:Fallback>
                <p:oleObj name="公式" r:id="rId11" imgW="2768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2946400"/>
                        <a:ext cx="2768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8"/>
          <p:cNvGraphicFramePr>
            <a:graphicFrameLocks noChangeAspect="1"/>
          </p:cNvGraphicFramePr>
          <p:nvPr/>
        </p:nvGraphicFramePr>
        <p:xfrm>
          <a:off x="2628900" y="3810000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0" name="公式" r:id="rId13" imgW="609600" imgH="927100" progId="Equation.3">
                  <p:embed/>
                </p:oleObj>
              </mc:Choice>
              <mc:Fallback>
                <p:oleObj name="公式" r:id="rId13" imgW="60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3810000"/>
                        <a:ext cx="609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3238500" y="4049713"/>
          <a:ext cx="1117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1" name="公式" r:id="rId15" imgW="1117600" imgH="469900" progId="Equation.3">
                  <p:embed/>
                </p:oleObj>
              </mc:Choice>
              <mc:Fallback>
                <p:oleObj name="公式" r:id="rId15" imgW="1117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049713"/>
                        <a:ext cx="1117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6819900" y="3810001"/>
          <a:ext cx="5969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" name="公式" r:id="rId17" imgW="596641" imgH="1002865" progId="Equation.3">
                  <p:embed/>
                </p:oleObj>
              </mc:Choice>
              <mc:Fallback>
                <p:oleObj name="公式" r:id="rId17" imgW="596641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3810001"/>
                        <a:ext cx="5969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9" name="Object 11"/>
          <p:cNvGraphicFramePr>
            <a:graphicFrameLocks noChangeAspect="1"/>
          </p:cNvGraphicFramePr>
          <p:nvPr/>
        </p:nvGraphicFramePr>
        <p:xfrm>
          <a:off x="7416800" y="4049713"/>
          <a:ext cx="201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3" name="公式" r:id="rId19" imgW="2019300" imgH="469900" progId="Equation.3">
                  <p:embed/>
                </p:oleObj>
              </mc:Choice>
              <mc:Fallback>
                <p:oleObj name="公式" r:id="rId19" imgW="2019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4049713"/>
                        <a:ext cx="201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0" name="Object 12"/>
          <p:cNvGraphicFramePr>
            <a:graphicFrameLocks noChangeAspect="1"/>
          </p:cNvGraphicFramePr>
          <p:nvPr/>
        </p:nvGraphicFramePr>
        <p:xfrm>
          <a:off x="4838700" y="3873500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4" name="公式" r:id="rId21" imgW="609600" imgH="927100" progId="Equation.3">
                  <p:embed/>
                </p:oleObj>
              </mc:Choice>
              <mc:Fallback>
                <p:oleObj name="公式" r:id="rId21" imgW="60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3873500"/>
                        <a:ext cx="609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1" name="Object 13"/>
          <p:cNvGraphicFramePr>
            <a:graphicFrameLocks noChangeAspect="1"/>
          </p:cNvGraphicFramePr>
          <p:nvPr/>
        </p:nvGraphicFramePr>
        <p:xfrm>
          <a:off x="5486400" y="4125913"/>
          <a:ext cx="95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5" name="公式" r:id="rId23" imgW="952087" imgH="469696" progId="Equation.3">
                  <p:embed/>
                </p:oleObj>
              </mc:Choice>
              <mc:Fallback>
                <p:oleObj name="公式" r:id="rId23" imgW="952087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125913"/>
                        <a:ext cx="952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2" name="Object 14"/>
          <p:cNvGraphicFramePr>
            <a:graphicFrameLocks noChangeAspect="1"/>
          </p:cNvGraphicFramePr>
          <p:nvPr/>
        </p:nvGraphicFramePr>
        <p:xfrm>
          <a:off x="6210301" y="4953001"/>
          <a:ext cx="8112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6" name="公式" r:id="rId25" imgW="812447" imgH="1002865" progId="Equation.3">
                  <p:embed/>
                </p:oleObj>
              </mc:Choice>
              <mc:Fallback>
                <p:oleObj name="公式" r:id="rId25" imgW="812447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1" y="4953001"/>
                        <a:ext cx="8112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3" name="Object 15"/>
          <p:cNvGraphicFramePr>
            <a:graphicFrameLocks noChangeAspect="1"/>
          </p:cNvGraphicFramePr>
          <p:nvPr/>
        </p:nvGraphicFramePr>
        <p:xfrm>
          <a:off x="7073900" y="5245100"/>
          <a:ext cx="252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7" name="公式" r:id="rId27" imgW="2527300" imgH="469900" progId="Equation.3">
                  <p:embed/>
                </p:oleObj>
              </mc:Choice>
              <mc:Fallback>
                <p:oleObj name="公式" r:id="rId27" imgW="2527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5245100"/>
                        <a:ext cx="2527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4" name="Object 16"/>
          <p:cNvGraphicFramePr>
            <a:graphicFrameLocks noChangeAspect="1"/>
          </p:cNvGraphicFramePr>
          <p:nvPr/>
        </p:nvGraphicFramePr>
        <p:xfrm>
          <a:off x="2476501" y="4876801"/>
          <a:ext cx="8112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8" name="公式" r:id="rId29" imgW="812447" imgH="1002865" progId="Equation.3">
                  <p:embed/>
                </p:oleObj>
              </mc:Choice>
              <mc:Fallback>
                <p:oleObj name="公式" r:id="rId29" imgW="812447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1" y="4876801"/>
                        <a:ext cx="8112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5" name="Object 17"/>
          <p:cNvGraphicFramePr>
            <a:graphicFrameLocks noChangeAspect="1"/>
          </p:cNvGraphicFramePr>
          <p:nvPr/>
        </p:nvGraphicFramePr>
        <p:xfrm>
          <a:off x="3346450" y="5192713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9" name="公式" r:id="rId31" imgW="2514600" imgH="469900" progId="Equation.3">
                  <p:embed/>
                </p:oleObj>
              </mc:Choice>
              <mc:Fallback>
                <p:oleObj name="公式" r:id="rId31" imgW="2514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192713"/>
                        <a:ext cx="251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45075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3505200" y="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475912"/>
              </p:ext>
            </p:extLst>
          </p:nvPr>
        </p:nvGraphicFramePr>
        <p:xfrm>
          <a:off x="2516187" y="980728"/>
          <a:ext cx="7046669" cy="69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6" name="Document" r:id="rId3" imgW="7112775" imgH="704862" progId="Word.Document.8">
                  <p:embed/>
                </p:oleObj>
              </mc:Choice>
              <mc:Fallback>
                <p:oleObj name="Document" r:id="rId3" imgW="7112775" imgH="7048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7" y="980728"/>
                        <a:ext cx="7046669" cy="697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438400" y="1998663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7637" name="Object 5"/>
          <p:cNvGraphicFramePr>
            <a:graphicFrameLocks noChangeAspect="1"/>
          </p:cNvGraphicFramePr>
          <p:nvPr/>
        </p:nvGraphicFramePr>
        <p:xfrm>
          <a:off x="3232150" y="1933575"/>
          <a:ext cx="237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7" name="公式" r:id="rId5" imgW="2374900" imgH="838200" progId="Equation.3">
                  <p:embed/>
                </p:oleObj>
              </mc:Choice>
              <mc:Fallback>
                <p:oleObj name="公式" r:id="rId5" imgW="2374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1933575"/>
                        <a:ext cx="237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8" name="Object 6"/>
          <p:cNvGraphicFramePr>
            <a:graphicFrameLocks noChangeAspect="1"/>
          </p:cNvGraphicFramePr>
          <p:nvPr/>
        </p:nvGraphicFramePr>
        <p:xfrm>
          <a:off x="6540500" y="1895475"/>
          <a:ext cx="256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8" name="公式" r:id="rId7" imgW="2565400" imgH="914400" progId="Equation.3">
                  <p:embed/>
                </p:oleObj>
              </mc:Choice>
              <mc:Fallback>
                <p:oleObj name="公式" r:id="rId7" imgW="2565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1895475"/>
                        <a:ext cx="2565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9" name="Object 7"/>
          <p:cNvGraphicFramePr>
            <a:graphicFrameLocks noChangeAspect="1"/>
          </p:cNvGraphicFramePr>
          <p:nvPr/>
        </p:nvGraphicFramePr>
        <p:xfrm>
          <a:off x="3022600" y="3133725"/>
          <a:ext cx="2654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9" name="公式" r:id="rId9" imgW="2654300" imgH="876300" progId="Equation.3">
                  <p:embed/>
                </p:oleObj>
              </mc:Choice>
              <mc:Fallback>
                <p:oleObj name="公式" r:id="rId9" imgW="26543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3133725"/>
                        <a:ext cx="26543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0" name="Object 8"/>
          <p:cNvGraphicFramePr>
            <a:graphicFrameLocks noChangeAspect="1"/>
          </p:cNvGraphicFramePr>
          <p:nvPr/>
        </p:nvGraphicFramePr>
        <p:xfrm>
          <a:off x="6534150" y="3138488"/>
          <a:ext cx="2870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0" name="公式" r:id="rId11" imgW="2870200" imgH="952500" progId="Equation.3">
                  <p:embed/>
                </p:oleObj>
              </mc:Choice>
              <mc:Fallback>
                <p:oleObj name="公式" r:id="rId11" imgW="28702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3138488"/>
                        <a:ext cx="2870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1" name="Object 9"/>
          <p:cNvGraphicFramePr>
            <a:graphicFrameLocks noChangeAspect="1"/>
          </p:cNvGraphicFramePr>
          <p:nvPr/>
        </p:nvGraphicFramePr>
        <p:xfrm>
          <a:off x="2876550" y="4457700"/>
          <a:ext cx="306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1" name="公式" r:id="rId13" imgW="3060700" imgH="952500" progId="Equation.3">
                  <p:embed/>
                </p:oleObj>
              </mc:Choice>
              <mc:Fallback>
                <p:oleObj name="公式" r:id="rId13" imgW="3060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4457700"/>
                        <a:ext cx="3060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2" name="Object 10"/>
          <p:cNvGraphicFramePr>
            <a:graphicFrameLocks noChangeAspect="1"/>
          </p:cNvGraphicFramePr>
          <p:nvPr/>
        </p:nvGraphicFramePr>
        <p:xfrm>
          <a:off x="6407150" y="4433888"/>
          <a:ext cx="306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2" name="公式" r:id="rId15" imgW="3060700" imgH="952500" progId="Equation.3">
                  <p:embed/>
                </p:oleObj>
              </mc:Choice>
              <mc:Fallback>
                <p:oleObj name="公式" r:id="rId15" imgW="3060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4433888"/>
                        <a:ext cx="3060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3347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2362200" y="768351"/>
            <a:ext cx="1862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问题：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3490914" y="762001"/>
            <a:ext cx="451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混合偏导数都相等吗？</a:t>
            </a:r>
          </a:p>
        </p:txBody>
      </p:sp>
      <p:graphicFrame>
        <p:nvGraphicFramePr>
          <p:cNvPr id="198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024001"/>
              </p:ext>
            </p:extLst>
          </p:nvPr>
        </p:nvGraphicFramePr>
        <p:xfrm>
          <a:off x="2362200" y="1245291"/>
          <a:ext cx="6902152" cy="224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3" name="Equation" r:id="rId3" imgW="2895480" imgH="939600" progId="Equation.DSMT4">
                  <p:embed/>
                </p:oleObj>
              </mc:Choice>
              <mc:Fallback>
                <p:oleObj name="Equation" r:id="rId3" imgW="28954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45291"/>
                        <a:ext cx="6902152" cy="2240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2376488" y="183356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2382838" y="35052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8663" name="Object 7"/>
          <p:cNvGraphicFramePr>
            <a:graphicFrameLocks noChangeAspect="1"/>
          </p:cNvGraphicFramePr>
          <p:nvPr/>
        </p:nvGraphicFramePr>
        <p:xfrm>
          <a:off x="3276600" y="3560763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4" name="Equation" r:id="rId5" imgW="2628900" imgH="431800" progId="Equation.3">
                  <p:embed/>
                </p:oleObj>
              </mc:Choice>
              <mc:Fallback>
                <p:oleObj name="Equation" r:id="rId5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60763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042241"/>
              </p:ext>
            </p:extLst>
          </p:nvPr>
        </p:nvGraphicFramePr>
        <p:xfrm>
          <a:off x="2428818" y="4024314"/>
          <a:ext cx="4895072" cy="963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5" name="Equation" r:id="rId7" imgW="2260440" imgH="444240" progId="Equation.DSMT4">
                  <p:embed/>
                </p:oleObj>
              </mc:Choice>
              <mc:Fallback>
                <p:oleObj name="Equation" r:id="rId7" imgW="2260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18" y="4024314"/>
                        <a:ext cx="4895072" cy="963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39135"/>
              </p:ext>
            </p:extLst>
          </p:nvPr>
        </p:nvGraphicFramePr>
        <p:xfrm>
          <a:off x="7323890" y="4051623"/>
          <a:ext cx="30607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6" name="Equation" r:id="rId9" imgW="3365500" imgH="965200" progId="Equation.DSMT4">
                  <p:embed/>
                </p:oleObj>
              </mc:Choice>
              <mc:Fallback>
                <p:oleObj name="Equation" r:id="rId9" imgW="3365500" imgH="96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3890" y="4051623"/>
                        <a:ext cx="30607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689530"/>
              </p:ext>
            </p:extLst>
          </p:nvPr>
        </p:nvGraphicFramePr>
        <p:xfrm>
          <a:off x="2397362" y="4951894"/>
          <a:ext cx="4621280" cy="1005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7" name="Equation" r:id="rId11" imgW="2044440" imgH="444240" progId="Equation.DSMT4">
                  <p:embed/>
                </p:oleObj>
              </mc:Choice>
              <mc:Fallback>
                <p:oleObj name="Equation" r:id="rId11" imgW="2044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362" y="4951894"/>
                        <a:ext cx="4621280" cy="1005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59141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utoUpdateAnimBg="0"/>
      <p:bldP spid="198661" grpId="0" autoUpdateAnimBg="0"/>
      <p:bldP spid="19866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849123"/>
              </p:ext>
            </p:extLst>
          </p:nvPr>
        </p:nvGraphicFramePr>
        <p:xfrm>
          <a:off x="1532394" y="1243949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0" name="Equation" r:id="rId3" imgW="2628900" imgH="431800" progId="Equation.3">
                  <p:embed/>
                </p:oleObj>
              </mc:Choice>
              <mc:Fallback>
                <p:oleObj name="Equation" r:id="rId3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394" y="1243949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4161294" y="1215720"/>
            <a:ext cx="230425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按定义可知：</a:t>
            </a:r>
          </a:p>
        </p:txBody>
      </p:sp>
      <p:graphicFrame>
        <p:nvGraphicFramePr>
          <p:cNvPr id="199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910671"/>
              </p:ext>
            </p:extLst>
          </p:nvPr>
        </p:nvGraphicFramePr>
        <p:xfrm>
          <a:off x="1559429" y="1707542"/>
          <a:ext cx="4821393" cy="946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" name="Equation" r:id="rId5" imgW="2070000" imgH="406080" progId="Equation.DSMT4">
                  <p:embed/>
                </p:oleObj>
              </mc:Choice>
              <mc:Fallback>
                <p:oleObj name="Equation" r:id="rId5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29" y="1707542"/>
                        <a:ext cx="4821393" cy="946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087089"/>
              </p:ext>
            </p:extLst>
          </p:nvPr>
        </p:nvGraphicFramePr>
        <p:xfrm>
          <a:off x="6327362" y="1762124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2" name="Equation" r:id="rId7" imgW="2019300" imgH="838200" progId="Equation.3">
                  <p:embed/>
                </p:oleObj>
              </mc:Choice>
              <mc:Fallback>
                <p:oleObj name="Equation" r:id="rId7" imgW="2019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362" y="1762124"/>
                        <a:ext cx="201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705070"/>
              </p:ext>
            </p:extLst>
          </p:nvPr>
        </p:nvGraphicFramePr>
        <p:xfrm>
          <a:off x="1472303" y="2682979"/>
          <a:ext cx="4849037" cy="102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" name="Equation" r:id="rId9" imgW="2044440" imgH="431640" progId="Equation.DSMT4">
                  <p:embed/>
                </p:oleObj>
              </mc:Choice>
              <mc:Fallback>
                <p:oleObj name="Equation" r:id="rId9" imgW="2044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303" y="2682979"/>
                        <a:ext cx="4849037" cy="1024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12304"/>
              </p:ext>
            </p:extLst>
          </p:nvPr>
        </p:nvGraphicFramePr>
        <p:xfrm>
          <a:off x="6406563" y="2753901"/>
          <a:ext cx="198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4" name="Equation" r:id="rId11" imgW="1981200" imgH="914400" progId="Equation.3">
                  <p:embed/>
                </p:oleObj>
              </mc:Choice>
              <mc:Fallback>
                <p:oleObj name="Equation" r:id="rId11" imgW="1981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6563" y="2753901"/>
                        <a:ext cx="1981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009656"/>
              </p:ext>
            </p:extLst>
          </p:nvPr>
        </p:nvGraphicFramePr>
        <p:xfrm>
          <a:off x="1449544" y="3686490"/>
          <a:ext cx="4894556" cy="967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5" name="Equation" r:id="rId13" imgW="2184120" imgH="431640" progId="Equation.DSMT4">
                  <p:embed/>
                </p:oleObj>
              </mc:Choice>
              <mc:Fallback>
                <p:oleObj name="Equation" r:id="rId13" imgW="2184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544" y="3686490"/>
                        <a:ext cx="4894556" cy="967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179278"/>
              </p:ext>
            </p:extLst>
          </p:nvPr>
        </p:nvGraphicFramePr>
        <p:xfrm>
          <a:off x="6361974" y="3979729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6" name="Equation" r:id="rId15" imgW="583947" imgH="368140" progId="Equation.3">
                  <p:embed/>
                </p:oleObj>
              </mc:Choice>
              <mc:Fallback>
                <p:oleObj name="Equation" r:id="rId15" imgW="583947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974" y="3979729"/>
                        <a:ext cx="584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729298"/>
              </p:ext>
            </p:extLst>
          </p:nvPr>
        </p:nvGraphicFramePr>
        <p:xfrm>
          <a:off x="1422114" y="4544408"/>
          <a:ext cx="4870643" cy="929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" name="Equation" r:id="rId17" imgW="2197080" imgH="419040" progId="Equation.DSMT4">
                  <p:embed/>
                </p:oleObj>
              </mc:Choice>
              <mc:Fallback>
                <p:oleObj name="Equation" r:id="rId17" imgW="2197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114" y="4544408"/>
                        <a:ext cx="4870643" cy="929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300172"/>
              </p:ext>
            </p:extLst>
          </p:nvPr>
        </p:nvGraphicFramePr>
        <p:xfrm>
          <a:off x="6337134" y="4850200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" name="Equation" r:id="rId19" imgW="558558" imgH="317362" progId="Equation.3">
                  <p:embed/>
                </p:oleObj>
              </mc:Choice>
              <mc:Fallback>
                <p:oleObj name="Equation" r:id="rId19" imgW="55855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134" y="4850200"/>
                        <a:ext cx="558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665097"/>
              </p:ext>
            </p:extLst>
          </p:nvPr>
        </p:nvGraphicFramePr>
        <p:xfrm>
          <a:off x="2209569" y="5661248"/>
          <a:ext cx="409309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9" name="Equation" r:id="rId21" imgW="1714320" imgH="241200" progId="Equation.DSMT4">
                  <p:embed/>
                </p:oleObj>
              </mc:Choice>
              <mc:Fallback>
                <p:oleObj name="Equation" r:id="rId21" imgW="1714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569" y="5661248"/>
                        <a:ext cx="4093090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304503" y="44624"/>
            <a:ext cx="3824703" cy="1900772"/>
            <a:chOff x="7955769" y="4031766"/>
            <a:chExt cx="3824703" cy="1900772"/>
          </a:xfrm>
          <a:solidFill>
            <a:schemeClr val="accent2">
              <a:lumMod val="60000"/>
              <a:lumOff val="40000"/>
            </a:schemeClr>
          </a:solidFill>
        </p:grpSpPr>
        <p:graphicFrame>
          <p:nvGraphicFramePr>
            <p:cNvPr id="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6897835"/>
                </p:ext>
              </p:extLst>
            </p:nvPr>
          </p:nvGraphicFramePr>
          <p:xfrm>
            <a:off x="7955769" y="4031766"/>
            <a:ext cx="3824703" cy="963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0" name="Equation" r:id="rId23" imgW="1993680" imgH="444240" progId="Equation.DSMT4">
                    <p:embed/>
                  </p:oleObj>
                </mc:Choice>
                <mc:Fallback>
                  <p:oleObj name="Equation" r:id="rId23" imgW="199368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5769" y="4031766"/>
                          <a:ext cx="3824703" cy="963612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0762529"/>
                </p:ext>
              </p:extLst>
            </p:nvPr>
          </p:nvGraphicFramePr>
          <p:xfrm>
            <a:off x="7955770" y="5003236"/>
            <a:ext cx="3824702" cy="929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1" name="Equation" r:id="rId25" imgW="1993680" imgH="444240" progId="Equation.DSMT4">
                    <p:embed/>
                  </p:oleObj>
                </mc:Choice>
                <mc:Fallback>
                  <p:oleObj name="Equation" r:id="rId25" imgW="199368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5770" y="5003236"/>
                          <a:ext cx="3824702" cy="929302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287912"/>
              </p:ext>
            </p:extLst>
          </p:nvPr>
        </p:nvGraphicFramePr>
        <p:xfrm>
          <a:off x="6155510" y="36766"/>
          <a:ext cx="2148993" cy="445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2" name="Equation" r:id="rId27" imgW="1041120" imgH="215640" progId="Equation.DSMT4">
                  <p:embed/>
                </p:oleObj>
              </mc:Choice>
              <mc:Fallback>
                <p:oleObj name="Equation" r:id="rId27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510" y="36766"/>
                        <a:ext cx="2148993" cy="44552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78525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706" name="Object 2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1964802682"/>
              </p:ext>
            </p:extLst>
          </p:nvPr>
        </p:nvGraphicFramePr>
        <p:xfrm>
          <a:off x="2133601" y="1524001"/>
          <a:ext cx="7850831" cy="209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" name="Document" r:id="rId3" imgW="8127652" imgH="2174703" progId="Word.Document.8">
                  <p:embed/>
                </p:oleObj>
              </mc:Choice>
              <mc:Fallback>
                <p:oleObj name="Document" r:id="rId3" imgW="8127652" imgH="21747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524001"/>
                        <a:ext cx="7850831" cy="2098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7" name="Line 3"/>
          <p:cNvSpPr>
            <a:spLocks noChangeShapeType="1"/>
          </p:cNvSpPr>
          <p:nvPr/>
        </p:nvSpPr>
        <p:spPr bwMode="auto">
          <a:xfrm>
            <a:off x="6672064" y="2636912"/>
            <a:ext cx="64807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0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439082"/>
              </p:ext>
            </p:extLst>
          </p:nvPr>
        </p:nvGraphicFramePr>
        <p:xfrm>
          <a:off x="2490788" y="3640138"/>
          <a:ext cx="7299325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3" name="Document" r:id="rId5" imgW="7338504" imgH="1581079" progId="Word.Document.8">
                  <p:embed/>
                </p:oleObj>
              </mc:Choice>
              <mc:Fallback>
                <p:oleObj name="Document" r:id="rId5" imgW="7338504" imgH="15810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3640138"/>
                        <a:ext cx="7299325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9" name="Object 5"/>
          <p:cNvGraphicFramePr>
            <a:graphicFrameLocks noChangeAspect="1"/>
          </p:cNvGraphicFramePr>
          <p:nvPr/>
        </p:nvGraphicFramePr>
        <p:xfrm>
          <a:off x="3648075" y="4076700"/>
          <a:ext cx="2120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4" name="公式" r:id="rId7" imgW="2120900" imgH="1016000" progId="Equation.3">
                  <p:embed/>
                </p:oleObj>
              </mc:Choice>
              <mc:Fallback>
                <p:oleObj name="公式" r:id="rId7" imgW="21209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076700"/>
                        <a:ext cx="2120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2362201" y="768351"/>
            <a:ext cx="2005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问题：</a:t>
            </a:r>
          </a:p>
        </p:txBody>
      </p:sp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3387725" y="762001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具备怎样的条件才能使混合偏导数相等？</a:t>
            </a:r>
          </a:p>
        </p:txBody>
      </p:sp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2438400" y="520065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00713" name="Object 9"/>
          <p:cNvGraphicFramePr>
            <a:graphicFrameLocks noChangeAspect="1"/>
          </p:cNvGraphicFramePr>
          <p:nvPr/>
        </p:nvGraphicFramePr>
        <p:xfrm>
          <a:off x="3302000" y="5041900"/>
          <a:ext cx="4318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5" name="公式" r:id="rId9" imgW="4318000" imgH="825500" progId="Equation.3">
                  <p:embed/>
                </p:oleObj>
              </mc:Choice>
              <mc:Fallback>
                <p:oleObj name="公式" r:id="rId9" imgW="43180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5041900"/>
                        <a:ext cx="4318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6349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animBg="1"/>
      <p:bldP spid="200711" grpId="0" autoUpdateAnimBg="0"/>
      <p:bldP spid="20071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2952750" y="914400"/>
          <a:ext cx="232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5" name="公式" r:id="rId3" imgW="2324100" imgH="914400" progId="Equation.3">
                  <p:embed/>
                </p:oleObj>
              </mc:Choice>
              <mc:Fallback>
                <p:oleObj name="公式" r:id="rId3" imgW="2324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914400"/>
                        <a:ext cx="232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5689600" y="914400"/>
          <a:ext cx="203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6" name="公式" r:id="rId5" imgW="2032000" imgH="914400" progId="Equation.3">
                  <p:embed/>
                </p:oleObj>
              </mc:Choice>
              <mc:Fallback>
                <p:oleObj name="公式" r:id="rId5" imgW="2032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914400"/>
                        <a:ext cx="203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2" name="Object 4"/>
          <p:cNvGraphicFramePr>
            <a:graphicFrameLocks noChangeAspect="1"/>
          </p:cNvGraphicFramePr>
          <p:nvPr/>
        </p:nvGraphicFramePr>
        <p:xfrm>
          <a:off x="2781300" y="2171700"/>
          <a:ext cx="5753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7" name="公式" r:id="rId7" imgW="5753100" imgH="952500" progId="Equation.3">
                  <p:embed/>
                </p:oleObj>
              </mc:Choice>
              <mc:Fallback>
                <p:oleObj name="公式" r:id="rId7" imgW="5753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171700"/>
                        <a:ext cx="5753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3" name="Object 5"/>
          <p:cNvGraphicFramePr>
            <a:graphicFrameLocks noChangeAspect="1"/>
          </p:cNvGraphicFramePr>
          <p:nvPr/>
        </p:nvGraphicFramePr>
        <p:xfrm>
          <a:off x="2971800" y="3467100"/>
          <a:ext cx="55387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8" name="公式" r:id="rId9" imgW="5537200" imgH="952500" progId="Equation.3">
                  <p:embed/>
                </p:oleObj>
              </mc:Choice>
              <mc:Fallback>
                <p:oleObj name="公式" r:id="rId9" imgW="55372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467100"/>
                        <a:ext cx="55387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/>
          <p:cNvGraphicFramePr>
            <a:graphicFrameLocks noChangeAspect="1"/>
          </p:cNvGraphicFramePr>
          <p:nvPr/>
        </p:nvGraphicFramePr>
        <p:xfrm>
          <a:off x="2603500" y="4756150"/>
          <a:ext cx="2044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9" name="Equation" r:id="rId11" imgW="2044700" imgH="965200" progId="Equation.3">
                  <p:embed/>
                </p:oleObj>
              </mc:Choice>
              <mc:Fallback>
                <p:oleObj name="Equation" r:id="rId11" imgW="2044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4756150"/>
                        <a:ext cx="2044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8180388" y="5056188"/>
          <a:ext cx="5826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0" name="公式" r:id="rId13" imgW="583693" imgH="317225" progId="Equation.3">
                  <p:embed/>
                </p:oleObj>
              </mc:Choice>
              <mc:Fallback>
                <p:oleObj name="公式" r:id="rId13" imgW="583693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0388" y="5056188"/>
                        <a:ext cx="5826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6" name="Object 8"/>
          <p:cNvGraphicFramePr>
            <a:graphicFrameLocks noChangeAspect="1"/>
          </p:cNvGraphicFramePr>
          <p:nvPr/>
        </p:nvGraphicFramePr>
        <p:xfrm>
          <a:off x="4724400" y="4749800"/>
          <a:ext cx="336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1" name="Equation" r:id="rId15" imgW="3365500" imgH="965200" progId="Equation.3">
                  <p:embed/>
                </p:oleObj>
              </mc:Choice>
              <mc:Fallback>
                <p:oleObj name="Equation" r:id="rId15" imgW="3365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749800"/>
                        <a:ext cx="336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7" name="Text Box 9"/>
          <p:cNvSpPr txBox="1">
            <a:spLocks noChangeArrowheads="1"/>
          </p:cNvSpPr>
          <p:nvPr/>
        </p:nvSpPr>
        <p:spPr bwMode="auto">
          <a:xfrm>
            <a:off x="9067800" y="49530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/>
              <a:t>证毕．</a:t>
            </a:r>
          </a:p>
        </p:txBody>
      </p:sp>
    </p:spTree>
    <p:extLst>
      <p:ext uri="{BB962C8B-B14F-4D97-AF65-F5344CB8AC3E}">
        <p14:creationId xmlns:p14="http://schemas.microsoft.com/office/powerpoint/2010/main" val="2126190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2882900" y="2300289"/>
            <a:ext cx="3505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偏导数的定义</a:t>
            </a: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2895600" y="3136900"/>
            <a:ext cx="647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偏导数的计算、偏导数的几何意义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2895600" y="4221164"/>
            <a:ext cx="22240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高阶偏导数</a:t>
            </a:r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5410200" y="2362201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（偏增量比的极限）</a:t>
            </a:r>
          </a:p>
        </p:txBody>
      </p:sp>
      <p:graphicFrame>
        <p:nvGraphicFramePr>
          <p:cNvPr id="202758" name="Object 6"/>
          <p:cNvGraphicFramePr>
            <a:graphicFrameLocks noChangeAspect="1"/>
          </p:cNvGraphicFramePr>
          <p:nvPr/>
        </p:nvGraphicFramePr>
        <p:xfrm>
          <a:off x="5105401" y="4038600"/>
          <a:ext cx="4048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公式" r:id="rId3" imgW="406224" imgH="1040948" progId="Equation.3">
                  <p:embed/>
                </p:oleObj>
              </mc:Choice>
              <mc:Fallback>
                <p:oleObj name="公式" r:id="rId3" imgW="406224" imgH="10409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4038600"/>
                        <a:ext cx="4048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5410201" y="3810000"/>
            <a:ext cx="1412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纯偏导</a:t>
            </a:r>
          </a:p>
        </p:txBody>
      </p:sp>
      <p:sp>
        <p:nvSpPr>
          <p:cNvPr id="202760" name="Rectangle 8"/>
          <p:cNvSpPr>
            <a:spLocks noChangeArrowheads="1"/>
          </p:cNvSpPr>
          <p:nvPr/>
        </p:nvSpPr>
        <p:spPr bwMode="auto">
          <a:xfrm>
            <a:off x="5410200" y="4602164"/>
            <a:ext cx="1822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混合偏导</a:t>
            </a:r>
          </a:p>
        </p:txBody>
      </p:sp>
      <p:sp>
        <p:nvSpPr>
          <p:cNvPr id="202761" name="Rectangle 9"/>
          <p:cNvSpPr>
            <a:spLocks noChangeArrowheads="1"/>
          </p:cNvSpPr>
          <p:nvPr/>
        </p:nvSpPr>
        <p:spPr bwMode="auto">
          <a:xfrm>
            <a:off x="7010400" y="4654551"/>
            <a:ext cx="3189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（相等的条件）</a:t>
            </a:r>
          </a:p>
        </p:txBody>
      </p:sp>
      <p:sp>
        <p:nvSpPr>
          <p:cNvPr id="63498" name="Rectangle 10"/>
          <p:cNvSpPr>
            <a:spLocks noGrp="1" noChangeArrowheads="1"/>
          </p:cNvSpPr>
          <p:nvPr>
            <p:ph type="title"/>
          </p:nvPr>
        </p:nvSpPr>
        <p:spPr>
          <a:xfrm>
            <a:off x="2783632" y="1052736"/>
            <a:ext cx="2465785" cy="822918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三、小结</a:t>
            </a:r>
          </a:p>
        </p:txBody>
      </p:sp>
    </p:spTree>
    <p:extLst>
      <p:ext uri="{BB962C8B-B14F-4D97-AF65-F5344CB8AC3E}">
        <p14:creationId xmlns:p14="http://schemas.microsoft.com/office/powerpoint/2010/main" val="23780333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755" grpId="0" autoUpdateAnimBg="0"/>
      <p:bldP spid="202756" grpId="0" autoUpdateAnimBg="0"/>
      <p:bldP spid="202757" grpId="0" autoUpdateAnimBg="0"/>
      <p:bldP spid="202759" grpId="0" autoUpdateAnimBg="0"/>
      <p:bldP spid="202760" grpId="0" autoUpdateAnimBg="0"/>
      <p:bldP spid="20276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2208213" y="908051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1. </a:t>
            </a:r>
            <a:r>
              <a:rPr lang="zh-CN" altLang="en-US" sz="2800" b="1">
                <a:ea typeface="楷体_GB2312" pitchFamily="49" charset="-122"/>
              </a:rPr>
              <a:t>偏导数的概念及有关结论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2424113" y="155733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定义</a:t>
            </a:r>
            <a:r>
              <a:rPr lang="en-US" altLang="zh-CN" sz="2800" b="1">
                <a:ea typeface="楷体_GB2312" pitchFamily="49" charset="-122"/>
              </a:rPr>
              <a:t>; </a:t>
            </a:r>
            <a:r>
              <a:rPr lang="zh-CN" altLang="en-US" sz="2800" b="1">
                <a:ea typeface="楷体_GB2312" pitchFamily="49" charset="-122"/>
              </a:rPr>
              <a:t>记号</a:t>
            </a:r>
            <a:r>
              <a:rPr lang="en-US" altLang="zh-CN" sz="2800" b="1">
                <a:ea typeface="楷体_GB2312" pitchFamily="49" charset="-122"/>
              </a:rPr>
              <a:t>; </a:t>
            </a:r>
            <a:r>
              <a:rPr lang="zh-CN" altLang="en-US" sz="2800" b="1">
                <a:ea typeface="楷体_GB2312" pitchFamily="49" charset="-122"/>
              </a:rPr>
              <a:t>几何意义</a:t>
            </a:r>
          </a:p>
        </p:txBody>
      </p:sp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2424113" y="2276476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函数在一点偏导数存在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7315200" y="22860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函数在此点连续</a:t>
            </a:r>
          </a:p>
        </p:txBody>
      </p:sp>
      <p:sp>
        <p:nvSpPr>
          <p:cNvPr id="203782" name="Text Box 6"/>
          <p:cNvSpPr txBox="1">
            <a:spLocks noChangeArrowheads="1"/>
          </p:cNvSpPr>
          <p:nvPr/>
        </p:nvSpPr>
        <p:spPr bwMode="auto">
          <a:xfrm>
            <a:off x="2438400" y="2909888"/>
            <a:ext cx="3322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混合偏导数连续</a:t>
            </a:r>
          </a:p>
        </p:txBody>
      </p:sp>
      <p:grpSp>
        <p:nvGrpSpPr>
          <p:cNvPr id="203783" name="Group 7"/>
          <p:cNvGrpSpPr>
            <a:grpSpLocks/>
          </p:cNvGrpSpPr>
          <p:nvPr/>
        </p:nvGrpSpPr>
        <p:grpSpPr bwMode="auto">
          <a:xfrm>
            <a:off x="6400800" y="2362200"/>
            <a:ext cx="914400" cy="457200"/>
            <a:chOff x="2928" y="1200"/>
            <a:chExt cx="576" cy="288"/>
          </a:xfrm>
        </p:grpSpPr>
        <p:sp>
          <p:nvSpPr>
            <p:cNvPr id="64539" name="AutoShape 8"/>
            <p:cNvSpPr>
              <a:spLocks noChangeArrowheads="1"/>
            </p:cNvSpPr>
            <p:nvPr/>
          </p:nvSpPr>
          <p:spPr bwMode="auto">
            <a:xfrm>
              <a:off x="2928" y="1296"/>
              <a:ext cx="576" cy="96"/>
            </a:xfrm>
            <a:prstGeom prst="rightArrow">
              <a:avLst>
                <a:gd name="adj1" fmla="val 50000"/>
                <a:gd name="adj2" fmla="val 1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540" name="Line 9"/>
            <p:cNvSpPr>
              <a:spLocks noChangeShapeType="1"/>
            </p:cNvSpPr>
            <p:nvPr/>
          </p:nvSpPr>
          <p:spPr bwMode="auto">
            <a:xfrm>
              <a:off x="2976" y="1200"/>
              <a:ext cx="384" cy="28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3786" name="AutoShape 10"/>
          <p:cNvSpPr>
            <a:spLocks noChangeArrowheads="1"/>
          </p:cNvSpPr>
          <p:nvPr/>
        </p:nvSpPr>
        <p:spPr bwMode="auto">
          <a:xfrm>
            <a:off x="5486400" y="3108325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6400800" y="2909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与求导顺序无关</a:t>
            </a:r>
          </a:p>
        </p:txBody>
      </p:sp>
      <p:sp>
        <p:nvSpPr>
          <p:cNvPr id="203788" name="Text Box 12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2209800" y="3505201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2. </a:t>
            </a:r>
            <a:r>
              <a:rPr lang="zh-CN" altLang="en-US" sz="2800" b="1">
                <a:ea typeface="楷体_GB2312" pitchFamily="49" charset="-122"/>
              </a:rPr>
              <a:t>偏导数的计算方法</a:t>
            </a:r>
          </a:p>
        </p:txBody>
      </p:sp>
      <p:sp>
        <p:nvSpPr>
          <p:cNvPr id="203789" name="Text Box 13"/>
          <p:cNvSpPr txBox="1">
            <a:spLocks noChangeArrowheads="1"/>
          </p:cNvSpPr>
          <p:nvPr/>
        </p:nvSpPr>
        <p:spPr bwMode="auto">
          <a:xfrm>
            <a:off x="2438400" y="4221163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求一点处偏导数的方法</a:t>
            </a:r>
          </a:p>
        </p:txBody>
      </p:sp>
      <p:sp>
        <p:nvSpPr>
          <p:cNvPr id="203790" name="AutoShape 14"/>
          <p:cNvSpPr>
            <a:spLocks/>
          </p:cNvSpPr>
          <p:nvPr/>
        </p:nvSpPr>
        <p:spPr bwMode="auto">
          <a:xfrm>
            <a:off x="6400800" y="3911601"/>
            <a:ext cx="230188" cy="1223963"/>
          </a:xfrm>
          <a:prstGeom prst="leftBrace">
            <a:avLst>
              <a:gd name="adj1" fmla="val 44310"/>
              <a:gd name="adj2" fmla="val 4872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3791" name="Text Box 15"/>
          <p:cNvSpPr txBox="1">
            <a:spLocks noChangeArrowheads="1"/>
          </p:cNvSpPr>
          <p:nvPr/>
        </p:nvSpPr>
        <p:spPr bwMode="auto">
          <a:xfrm>
            <a:off x="6629400" y="3687763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先代后求</a:t>
            </a:r>
          </a:p>
        </p:txBody>
      </p:sp>
      <p:sp>
        <p:nvSpPr>
          <p:cNvPr id="203792" name="Text Box 16"/>
          <p:cNvSpPr txBox="1">
            <a:spLocks noChangeArrowheads="1"/>
          </p:cNvSpPr>
          <p:nvPr/>
        </p:nvSpPr>
        <p:spPr bwMode="auto">
          <a:xfrm>
            <a:off x="6629400" y="42052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先求后代</a:t>
            </a:r>
          </a:p>
        </p:txBody>
      </p:sp>
      <p:sp>
        <p:nvSpPr>
          <p:cNvPr id="203793" name="Text Box 17"/>
          <p:cNvSpPr txBox="1">
            <a:spLocks noChangeArrowheads="1"/>
          </p:cNvSpPr>
          <p:nvPr/>
        </p:nvSpPr>
        <p:spPr bwMode="auto">
          <a:xfrm>
            <a:off x="6629400" y="46624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利用定义</a:t>
            </a:r>
          </a:p>
        </p:txBody>
      </p:sp>
      <p:sp>
        <p:nvSpPr>
          <p:cNvPr id="203794" name="Text Box 18"/>
          <p:cNvSpPr txBox="1">
            <a:spLocks noChangeArrowheads="1"/>
          </p:cNvSpPr>
          <p:nvPr/>
        </p:nvSpPr>
        <p:spPr bwMode="auto">
          <a:xfrm>
            <a:off x="2438400" y="5211763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求高阶偏导数的方法</a:t>
            </a:r>
          </a:p>
        </p:txBody>
      </p:sp>
      <p:sp>
        <p:nvSpPr>
          <p:cNvPr id="203795" name="Line 19"/>
          <p:cNvSpPr>
            <a:spLocks noChangeShapeType="1"/>
          </p:cNvSpPr>
          <p:nvPr/>
        </p:nvSpPr>
        <p:spPr bwMode="auto">
          <a:xfrm>
            <a:off x="6172200" y="5516563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6" name="Text Box 20"/>
          <p:cNvSpPr txBox="1">
            <a:spLocks noChangeArrowheads="1"/>
          </p:cNvSpPr>
          <p:nvPr/>
        </p:nvSpPr>
        <p:spPr bwMode="auto">
          <a:xfrm>
            <a:off x="7162800" y="521176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逐次求导法</a:t>
            </a:r>
          </a:p>
        </p:txBody>
      </p:sp>
      <p:sp>
        <p:nvSpPr>
          <p:cNvPr id="203797" name="Text Box 21"/>
          <p:cNvSpPr txBox="1">
            <a:spLocks noChangeArrowheads="1"/>
          </p:cNvSpPr>
          <p:nvPr/>
        </p:nvSpPr>
        <p:spPr bwMode="auto">
          <a:xfrm>
            <a:off x="2590800" y="5791201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与求导顺序无关时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应选择方便的求导顺序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68898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0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autoUpdateAnimBg="0"/>
      <p:bldP spid="203779" grpId="0" autoUpdateAnimBg="0"/>
      <p:bldP spid="203780" grpId="0" autoUpdateAnimBg="0"/>
      <p:bldP spid="203781" grpId="0" autoUpdateAnimBg="0"/>
      <p:bldP spid="203782" grpId="0" autoUpdateAnimBg="0"/>
      <p:bldP spid="203786" grpId="0" animBg="1"/>
      <p:bldP spid="203787" grpId="0" autoUpdateAnimBg="0"/>
      <p:bldP spid="203788" grpId="0" autoUpdateAnimBg="0"/>
      <p:bldP spid="203789" grpId="0" autoUpdateAnimBg="0"/>
      <p:bldP spid="203790" grpId="0" animBg="1"/>
      <p:bldP spid="203791" grpId="0" autoUpdateAnimBg="0"/>
      <p:bldP spid="203792" grpId="0" autoUpdateAnimBg="0"/>
      <p:bldP spid="203793" grpId="0" autoUpdateAnimBg="0"/>
      <p:bldP spid="203794" grpId="0" autoUpdateAnimBg="0"/>
      <p:bldP spid="203795" grpId="0" animBg="1"/>
      <p:bldP spid="203796" grpId="0" autoUpdateAnimBg="0"/>
      <p:bldP spid="203797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333</Words>
  <Application>Microsoft Office PowerPoint</Application>
  <PresentationFormat>宽屏</PresentationFormat>
  <Paragraphs>75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黑体</vt:lpstr>
      <vt:lpstr>华文行楷</vt:lpstr>
      <vt:lpstr>华文楷体</vt:lpstr>
      <vt:lpstr>楷体_GB2312</vt:lpstr>
      <vt:lpstr>宋体</vt:lpstr>
      <vt:lpstr>Arial</vt:lpstr>
      <vt:lpstr>Calibri</vt:lpstr>
      <vt:lpstr>Times New Roman</vt:lpstr>
      <vt:lpstr>Office 主题</vt:lpstr>
      <vt:lpstr>公式</vt:lpstr>
      <vt:lpstr>Document</vt:lpstr>
      <vt:lpstr>Equation</vt:lpstr>
      <vt:lpstr>文档</vt:lpstr>
      <vt:lpstr>MathType 6.0 Equation</vt:lpstr>
      <vt:lpstr>PowerPoint 演示文稿</vt:lpstr>
      <vt:lpstr>一、偏导数的定义及其计算法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 二元函数偏导数的几何意义:</vt:lpstr>
      <vt:lpstr>二、高阶偏导数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Microsoft 帐户</cp:lastModifiedBy>
  <cp:revision>96</cp:revision>
  <dcterms:created xsi:type="dcterms:W3CDTF">2009-06-13T01:14:34Z</dcterms:created>
  <dcterms:modified xsi:type="dcterms:W3CDTF">2022-02-16T05:48:45Z</dcterms:modified>
</cp:coreProperties>
</file>