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61"/>
  </p:handoutMasterIdLst>
  <p:sldIdLst>
    <p:sldId id="258" r:id="rId3"/>
    <p:sldId id="464" r:id="rId5"/>
    <p:sldId id="271" r:id="rId6"/>
    <p:sldId id="272" r:id="rId7"/>
    <p:sldId id="409" r:id="rId8"/>
    <p:sldId id="279" r:id="rId9"/>
    <p:sldId id="461" r:id="rId10"/>
    <p:sldId id="281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3" r:id="rId20"/>
    <p:sldId id="296" r:id="rId21"/>
    <p:sldId id="345" r:id="rId22"/>
    <p:sldId id="463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7" r:id="rId32"/>
    <p:sldId id="358" r:id="rId33"/>
    <p:sldId id="360" r:id="rId34"/>
    <p:sldId id="369" r:id="rId35"/>
    <p:sldId id="370" r:id="rId36"/>
    <p:sldId id="371" r:id="rId37"/>
    <p:sldId id="372" r:id="rId38"/>
    <p:sldId id="373" r:id="rId39"/>
    <p:sldId id="376" r:id="rId40"/>
    <p:sldId id="377" r:id="rId41"/>
    <p:sldId id="378" r:id="rId42"/>
    <p:sldId id="380" r:id="rId43"/>
    <p:sldId id="382" r:id="rId44"/>
    <p:sldId id="383" r:id="rId45"/>
    <p:sldId id="384" r:id="rId46"/>
    <p:sldId id="385" r:id="rId47"/>
    <p:sldId id="387" r:id="rId48"/>
    <p:sldId id="388" r:id="rId49"/>
    <p:sldId id="389" r:id="rId50"/>
    <p:sldId id="390" r:id="rId51"/>
    <p:sldId id="391" r:id="rId52"/>
    <p:sldId id="392" r:id="rId53"/>
    <p:sldId id="394" r:id="rId54"/>
    <p:sldId id="395" r:id="rId55"/>
    <p:sldId id="396" r:id="rId56"/>
    <p:sldId id="397" r:id="rId57"/>
    <p:sldId id="398" r:id="rId58"/>
    <p:sldId id="400" r:id="rId59"/>
    <p:sldId id="401" r:id="rId60"/>
  </p:sldIdLst>
  <p:sldSz cx="9144000" cy="5143500" type="screen16x9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41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9" autoAdjust="0"/>
    <p:restoredTop sz="86377" autoAdjust="0"/>
  </p:normalViewPr>
  <p:slideViewPr>
    <p:cSldViewPr showGuides="1">
      <p:cViewPr>
        <p:scale>
          <a:sx n="77" d="100"/>
          <a:sy n="77" d="100"/>
        </p:scale>
        <p:origin x="352" y="1072"/>
      </p:cViewPr>
      <p:guideLst>
        <p:guide orient="horz" pos="2741"/>
        <p:guide pos="52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handoutMaster" Target="handoutMasters/handoutMaster1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E7B2F-76B0-4CCC-83FA-00CA85CD8DA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82" name="Shape 182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91" name="Shape 191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87" name="Shape 287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Shape 288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336" name="Shape 336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Shape 337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348" name="Shape 348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348" name="Shape 348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359" name="Shape 359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Shape 360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371" name="Shape 371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Shape 372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401" name="Shape 401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421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422" name="Shape 422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434" name="Shape 434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445" name="Shape 445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Shape 446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454" name="Shape 454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Shape 455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hape 464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465" name="Shape 465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" name="Shape 466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Shape 484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485" name="Shape 485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506" name="Shape 506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Shape 507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25" tIns="46750" rIns="93525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537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538" name="Shape 538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Shape 539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875" tIns="46925" rIns="93875" bIns="469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54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555" name="Shape 555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Shape 556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875" tIns="46925" rIns="93875" bIns="469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569" name="Shape 569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hape 575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576" name="Shape 576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583" name="Shape 583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590" name="Shape 590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hape 611"/>
          <p:cNvSpPr txBox="1">
            <a:spLocks noGrp="1"/>
          </p:cNvSpPr>
          <p:nvPr>
            <p:ph type="sldNum" idx="12"/>
          </p:nvPr>
        </p:nvSpPr>
        <p:spPr>
          <a:xfrm>
            <a:off x="3916363" y="8940800"/>
            <a:ext cx="29924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350" tIns="0" rIns="1935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i="1">
                <a:solidFill>
                  <a:schemeClr val="dk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fld>
            <a:endParaRPr sz="1000" i="1">
              <a:solidFill>
                <a:schemeClr val="dk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612" name="Shape 612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3" name="Shape 613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5" tIns="45325" rIns="92275" bIns="45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hape 619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620" name="Shape 620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630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631" name="Shape 631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638" name="Shape 638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644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645" name="Shape 645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651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652" name="Shape 652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Shape 661"/>
          <p:cNvSpPr txBox="1">
            <a:spLocks noGrp="1"/>
          </p:cNvSpPr>
          <p:nvPr>
            <p:ph type="body" idx="1"/>
          </p:nvPr>
        </p:nvSpPr>
        <p:spPr>
          <a:xfrm>
            <a:off x="922338" y="4470400"/>
            <a:ext cx="5064125" cy="423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2" name="Shape 662"/>
          <p:cNvSpPr>
            <a:spLocks noGrp="1" noRot="1" noChangeAspect="1"/>
          </p:cNvSpPr>
          <p:nvPr>
            <p:ph type="sldImg" idx="2"/>
          </p:nvPr>
        </p:nvSpPr>
        <p:spPr>
          <a:xfrm>
            <a:off x="315913" y="704850"/>
            <a:ext cx="6278562" cy="353218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971550"/>
            <a:ext cx="6629400" cy="1600200"/>
          </a:xfrm>
        </p:spPr>
        <p:txBody>
          <a:bodyPr anchor="t">
            <a:norm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panose="02000503000000020004" charset="0"/>
                <a:cs typeface="Helvetic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246888" y="2771486"/>
            <a:ext cx="5437632" cy="1565401"/>
          </a:xfrm>
        </p:spPr>
        <p:txBody>
          <a:bodyPr>
            <a:noAutofit/>
          </a:bodyPr>
          <a:lstStyle>
            <a:lvl1pPr marL="0" indent="0" algn="r">
              <a:buNone/>
              <a:defRPr sz="2800" baseline="0">
                <a:solidFill>
                  <a:sysClr val="windowText" lastClr="000000"/>
                </a:solidFill>
                <a:latin typeface="Helvetica Neue" panose="02000503000000020004" charset="0"/>
              </a:defRPr>
            </a:lvl1pPr>
          </a:lstStyle>
          <a:p>
            <a:pPr lvl="0"/>
            <a:r>
              <a:rPr lang="en-US" dirty="0"/>
              <a:t>Lecture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015" y="311150"/>
            <a:ext cx="8643620" cy="667385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itchFamily="34" charset="0"/>
                <a:cs typeface="Helvetica" pitchFamily="34" charset="0"/>
              </a:defRPr>
            </a:lvl1pPr>
          </a:lstStyle>
          <a:p>
            <a:r>
              <a:rPr lang="en-US" dirty="0"/>
              <a:t>Click3 to edit Master title style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46888" y="1060704"/>
            <a:ext cx="8668512" cy="3090672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</a:defRPr>
            </a:lvl1pPr>
            <a:lvl2pPr marL="742950" indent="-285750">
              <a:buClr>
                <a:schemeClr val="accent2"/>
              </a:buClr>
              <a:buFont typeface="Arial" panose="020B060402020209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143000" indent="-228600">
              <a:buClr>
                <a:schemeClr val="accent2"/>
              </a:buClr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buClr>
                <a:schemeClr val="accent2"/>
              </a:buClr>
              <a:buFont typeface="Arial" panose="020B060402020209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d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5" y="311150"/>
            <a:ext cx="8571865" cy="1143000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itchFamily="34" charset="0"/>
                <a:cs typeface="Helvetica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28600" y="1536192"/>
            <a:ext cx="8668512" cy="2615184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90204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Font typeface="Arial" panose="020B0604020202090204" pitchFamily="34" charset="0"/>
              <a:buChar char="•"/>
              <a:defRPr sz="2600"/>
            </a:lvl2pPr>
            <a:lvl3pPr marL="1143000" indent="-228600">
              <a:buClr>
                <a:schemeClr val="accent2"/>
              </a:buClr>
              <a:buFont typeface="Arial" panose="020B0604020202090204" pitchFamily="34" charset="0"/>
              <a:buChar char="•"/>
              <a:defRPr sz="2400"/>
            </a:lvl3pPr>
            <a:lvl4pPr marL="1600200" indent="-228600">
              <a:buClr>
                <a:schemeClr val="accent2"/>
              </a:buClr>
              <a:buFont typeface="Arial" panose="020B060402020209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971550"/>
            <a:ext cx="6629400" cy="1600200"/>
          </a:xfrm>
        </p:spPr>
        <p:txBody>
          <a:bodyPr anchor="t">
            <a:norm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panose="02000503000000020004" charset="0"/>
                <a:cs typeface="Helvetic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246888" y="2771486"/>
            <a:ext cx="5437632" cy="1565401"/>
          </a:xfrm>
        </p:spPr>
        <p:txBody>
          <a:bodyPr>
            <a:noAutofit/>
          </a:bodyPr>
          <a:lstStyle>
            <a:lvl1pPr marL="0" indent="0" algn="r">
              <a:buNone/>
              <a:defRPr sz="2800" baseline="0">
                <a:solidFill>
                  <a:sysClr val="windowText" lastClr="000000"/>
                </a:solidFill>
                <a:latin typeface="Helvetica Neue" panose="02000503000000020004" charset="0"/>
              </a:defRPr>
            </a:lvl1pPr>
          </a:lstStyle>
          <a:p>
            <a:pPr lvl="0"/>
            <a:r>
              <a:rPr lang="en-US" dirty="0"/>
              <a:t>Lecture Name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1"/>
          </p:nvPr>
        </p:nvSpPr>
        <p:spPr>
          <a:xfrm>
            <a:off x="4943856" y="4336888"/>
            <a:ext cx="3864864" cy="577088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accent1"/>
                </a:solidFill>
                <a:latin typeface="Century Gothic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687868" y="0"/>
            <a:ext cx="7770333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rgbClr val="0000F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rgbClr val="0000F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rgbClr val="0000F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rgbClr val="0000F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rgbClr val="0000F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rgbClr val="0000F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rgbClr val="0000F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rgbClr val="0000FF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9pPr>
          </a:lstStyle>
          <a:p/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685800" y="1085850"/>
            <a:ext cx="7772400" cy="382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342900" marR="0" lvl="0" indent="-323850" algn="l" rtl="0">
              <a:spcBef>
                <a:spcPts val="480"/>
              </a:spcBef>
              <a:spcAft>
                <a:spcPts val="0"/>
              </a:spcAft>
              <a:buClr>
                <a:srgbClr val="484848"/>
              </a:buClr>
              <a:buSzPts val="3200"/>
              <a:buFont typeface="Helvetica Neue" panose="02000503000000020004"/>
              <a:buChar char="•"/>
              <a:defRPr sz="2400" b="0" i="0" u="none" strike="noStrike" cap="none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1pPr>
            <a:lvl2pPr marL="685800" marR="0" lvl="1" indent="-304800" algn="l" rtl="0">
              <a:spcBef>
                <a:spcPts val="420"/>
              </a:spcBef>
              <a:spcAft>
                <a:spcPts val="0"/>
              </a:spcAft>
              <a:buClr>
                <a:srgbClr val="484848"/>
              </a:buClr>
              <a:buSzPts val="2800"/>
              <a:buFont typeface="Helvetica Neue" panose="02000503000000020004"/>
              <a:buChar char="–"/>
              <a:defRPr sz="2100" b="0" i="0" u="none" strike="noStrike" cap="none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2pPr>
            <a:lvl3pPr marL="1028700" marR="0" lvl="2" indent="-285750" algn="l" rtl="0">
              <a:spcBef>
                <a:spcPts val="360"/>
              </a:spcBef>
              <a:spcAft>
                <a:spcPts val="0"/>
              </a:spcAft>
              <a:buClr>
                <a:srgbClr val="484848"/>
              </a:buClr>
              <a:buSzPts val="2400"/>
              <a:buFont typeface="Helvetica Neue" panose="02000503000000020004"/>
              <a:buChar char="•"/>
              <a:defRPr sz="1800" b="0" i="0" u="none" strike="noStrike" cap="none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3pPr>
            <a:lvl4pPr marL="1371600" marR="0" lvl="3" indent="-266700" algn="l" rtl="0">
              <a:spcBef>
                <a:spcPts val="300"/>
              </a:spcBef>
              <a:spcAft>
                <a:spcPts val="0"/>
              </a:spcAft>
              <a:buClr>
                <a:srgbClr val="484848"/>
              </a:buClr>
              <a:buSzPts val="2000"/>
              <a:buFont typeface="Helvetica Neue" panose="02000503000000020004"/>
              <a:buChar char="–"/>
              <a:defRPr sz="1500" b="0" i="0" u="none" strike="noStrike" cap="none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4pPr>
            <a:lvl5pPr marL="1714500" marR="0" lvl="4" indent="-266700" algn="l" rtl="0">
              <a:spcBef>
                <a:spcPts val="300"/>
              </a:spcBef>
              <a:spcAft>
                <a:spcPts val="0"/>
              </a:spcAft>
              <a:buClr>
                <a:srgbClr val="484848"/>
              </a:buClr>
              <a:buSzPts val="2000"/>
              <a:buFont typeface="Helvetica Neue" panose="02000503000000020004"/>
              <a:buChar char="»"/>
              <a:defRPr sz="1500" b="0" i="0" u="none" strike="noStrike" cap="none">
                <a:solidFill>
                  <a:srgbClr val="484848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5pPr>
            <a:lvl6pPr marL="2057400" marR="0" lvl="5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 panose="020B0604030504040204"/>
              <a:buChar char="»"/>
              <a:defRPr sz="15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6pPr>
            <a:lvl7pPr marL="2400300" marR="0" lvl="6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 panose="020B0604030504040204"/>
              <a:buChar char="»"/>
              <a:defRPr sz="15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7pPr>
            <a:lvl8pPr marL="2743200" marR="0" lvl="7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 panose="020B0604030504040204"/>
              <a:buChar char="»"/>
              <a:defRPr sz="15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8pPr>
            <a:lvl9pPr marL="3086100" marR="0" lvl="8" indent="-2667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 panose="020B0604030504040204"/>
              <a:buChar char="»"/>
              <a:defRPr sz="15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9pPr>
          </a:lstStyle>
          <a:p/>
        </p:txBody>
      </p:sp>
      <p:sp>
        <p:nvSpPr>
          <p:cNvPr id="25" name="Shape 25"/>
          <p:cNvSpPr txBox="1">
            <a:spLocks noGrp="1"/>
          </p:cNvSpPr>
          <p:nvPr>
            <p:ph type="sldNum" idx="12"/>
          </p:nvPr>
        </p:nvSpPr>
        <p:spPr>
          <a:xfrm>
            <a:off x="7239000" y="48006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 Title and Content Slide 36 Title 24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5" y="311150"/>
            <a:ext cx="8664575" cy="667385"/>
          </a:xfrm>
        </p:spPr>
        <p:txBody>
          <a:bodyPr anchor="t">
            <a:normAutofit/>
          </a:bodyPr>
          <a:lstStyle>
            <a:lvl1pPr algn="l">
              <a:defRPr sz="3300">
                <a:latin typeface="Helvetica" pitchFamily="34" charset="0"/>
                <a:cs typeface="Helvetic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46888" y="1060704"/>
            <a:ext cx="8668512" cy="3090672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742950" indent="-285750">
              <a:buClr>
                <a:schemeClr val="accent2"/>
              </a:buClr>
              <a:buFont typeface="Arial" panose="020B0604020202090204" pitchFamily="34" charset="0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>
                <a:schemeClr val="accent2"/>
              </a:buClr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>
                <a:schemeClr val="accent2"/>
              </a:buClr>
              <a:buFont typeface="Arial" panose="020B060402020209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6" name="Slide Deck Title text box"/>
          <p:cNvSpPr txBox="1">
            <a:spLocks noChangeArrowheads="1"/>
          </p:cNvSpPr>
          <p:nvPr userDrawn="1"/>
        </p:nvSpPr>
        <p:spPr bwMode="auto">
          <a:xfrm>
            <a:off x="4667250" y="4379976"/>
            <a:ext cx="4224338" cy="30777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9pPr>
          </a:lstStyle>
          <a:p>
            <a:pPr algn="r" eaLnBrk="1" hangingPunct="1">
              <a:defRPr/>
            </a:pPr>
            <a:r>
              <a:rPr lang="en-US" sz="1400" dirty="0">
                <a:solidFill>
                  <a:schemeClr val="bg1"/>
                </a:solidFill>
                <a:latin typeface="Century Gothic" charset="0"/>
                <a:cs typeface="Century Gothic" charset="0"/>
              </a:rPr>
              <a:t>Slide Deck Title</a:t>
            </a:r>
            <a:endParaRPr lang="en-US" sz="1400" dirty="0">
              <a:solidFill>
                <a:schemeClr val="bg1"/>
              </a:solidFill>
              <a:latin typeface="Century Gothic" charset="0"/>
              <a:cs typeface="Century Gothic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 Title and Content Slide 44 title 18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5" y="311150"/>
            <a:ext cx="8645525" cy="667385"/>
          </a:xfrm>
        </p:spPr>
        <p:txBody>
          <a:bodyPr anchor="t">
            <a:normAutofit/>
          </a:bodyPr>
          <a:lstStyle>
            <a:lvl1pPr algn="l">
              <a:defRPr sz="3300">
                <a:latin typeface="Helvetica" pitchFamily="34" charset="0"/>
                <a:cs typeface="Helvetic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46888" y="1060704"/>
            <a:ext cx="8668512" cy="3090672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9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742950" indent="-285750">
              <a:buClr>
                <a:schemeClr val="accent2"/>
              </a:buClr>
              <a:buFont typeface="Arial" panose="020B060402020209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1143000" indent="-228600">
              <a:buClr>
                <a:schemeClr val="accent2"/>
              </a:buClr>
              <a:buFont typeface="Arial" panose="020B060402020209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1600200" indent="-228600">
              <a:buClr>
                <a:schemeClr val="accent2"/>
              </a:buClr>
              <a:buFont typeface="Arial" panose="020B060402020209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6" name="Slide Deck Title text box"/>
          <p:cNvSpPr txBox="1">
            <a:spLocks noChangeArrowheads="1"/>
          </p:cNvSpPr>
          <p:nvPr userDrawn="1"/>
        </p:nvSpPr>
        <p:spPr bwMode="auto">
          <a:xfrm>
            <a:off x="4667250" y="4379976"/>
            <a:ext cx="4224338" cy="30777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panose="02060503020205020403" charset="0"/>
                <a:ea typeface="MS PGothic" charset="0"/>
              </a:defRPr>
            </a:lvl9pPr>
          </a:lstStyle>
          <a:p>
            <a:pPr algn="r" eaLnBrk="1" hangingPunct="1">
              <a:defRPr/>
            </a:pPr>
            <a:r>
              <a:rPr lang="en-US" sz="1400" dirty="0">
                <a:solidFill>
                  <a:schemeClr val="bg1"/>
                </a:solidFill>
                <a:latin typeface="Century Gothic" charset="0"/>
                <a:cs typeface="Century Gothic" charset="0"/>
              </a:rPr>
              <a:t>Slide Deck Title</a:t>
            </a:r>
            <a:endParaRPr lang="en-US" sz="1400" dirty="0">
              <a:solidFill>
                <a:schemeClr val="bg1"/>
              </a:solidFill>
              <a:latin typeface="Century Gothic" charset="0"/>
              <a:cs typeface="Century Gothic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FFD81-3213-4789-B5DF-194594E817C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FCA20-D3C1-4D02-835D-77BA55FE14B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 Neue" panose="0200050300000002000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90204" pitchFamily="34" charset="0"/>
        <a:buChar char="•"/>
        <a:defRPr sz="2000" kern="1200" baseline="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90204" pitchFamily="34" charset="0"/>
        <a:buChar char="•"/>
        <a:defRPr sz="1800" kern="1200" baseline="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90204" pitchFamily="34" charset="0"/>
        <a:buChar char="•"/>
        <a:defRPr sz="1600" kern="1200" baseline="0">
          <a:solidFill>
            <a:schemeClr val="tx1"/>
          </a:solidFill>
          <a:latin typeface="Helvetica Neue" panose="0200050300000002000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04800" y="1504950"/>
            <a:ext cx="8441055" cy="1600200"/>
          </a:xfrm>
        </p:spPr>
        <p:txBody>
          <a:bodyPr/>
          <a:lstStyle/>
          <a:p>
            <a:pPr algn="ctr"/>
            <a:r>
              <a:rPr lang="en-US" dirty="0"/>
              <a:t>Lab2 SQL</a:t>
            </a:r>
            <a:endParaRPr lang="en-US" dirty="0"/>
          </a:p>
        </p:txBody>
      </p:sp>
      <p:sp>
        <p:nvSpPr>
          <p:cNvPr id="2" name="textbox 6"/>
          <p:cNvSpPr/>
          <p:nvPr>
            <p:custDataLst>
              <p:tags r:id="rId1"/>
            </p:custDataLst>
          </p:nvPr>
        </p:nvSpPr>
        <p:spPr>
          <a:xfrm>
            <a:off x="1219200" y="3714750"/>
            <a:ext cx="7078980" cy="880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ctr" rtl="0" eaLnBrk="0">
              <a:lnSpc>
                <a:spcPct val="91000"/>
              </a:lnSpc>
            </a:pPr>
            <a:r>
              <a:rPr lang="en-US" sz="2200" dirty="0"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Liang Liu</a:t>
            </a:r>
            <a:endParaRPr sz="2200" dirty="0"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marL="12700" algn="ctr" rtl="0" eaLnBrk="0">
              <a:lnSpc>
                <a:spcPts val="4100"/>
              </a:lnSpc>
            </a:pPr>
            <a:r>
              <a:rPr lang="en-US" sz="2200" dirty="0"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2026 spring</a:t>
            </a:r>
            <a:endParaRPr lang="en-US" sz="2200" dirty="0"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Tahoma" panose="020B0604030504040204"/>
              </a:rPr>
              <a:t>Objectives</a:t>
            </a:r>
            <a:endParaRPr lang="en-US">
              <a:sym typeface="Tahoma" panose="020B060403050404020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52400" y="971550"/>
            <a:ext cx="8668512" cy="3090672"/>
          </a:xfrm>
        </p:spPr>
        <p:txBody>
          <a:bodyPr>
            <a:normAutofit/>
          </a:bodyPr>
          <a:lstStyle/>
          <a:p>
            <a:pPr lvl="0"/>
            <a:r>
              <a:rPr lang="en-US" sz="2200" dirty="0">
                <a:sym typeface="Tahoma" panose="020B0604030504040204"/>
              </a:rPr>
              <a:t>Gain proficiency in SQL syntax</a:t>
            </a:r>
            <a:endParaRPr lang="en-US" sz="2200" dirty="0">
              <a:sym typeface="Tahoma" panose="020B0604030504040204"/>
            </a:endParaRPr>
          </a:p>
          <a:p>
            <a:pPr lvl="0"/>
            <a:endParaRPr lang="en-US" sz="2200" dirty="0">
              <a:sym typeface="Tahoma" panose="020B0604030504040204"/>
            </a:endParaRPr>
          </a:p>
          <a:p>
            <a:pPr lvl="0"/>
            <a:r>
              <a:rPr lang="en-US" sz="2200" dirty="0">
                <a:sym typeface="Tahoma" panose="020B0604030504040204"/>
              </a:rPr>
              <a:t>Get familiar with SQL semantics</a:t>
            </a:r>
            <a:endParaRPr lang="en-US" sz="2200" dirty="0">
              <a:sym typeface="Tahoma" panose="020B0604030504040204"/>
            </a:endParaRPr>
          </a:p>
          <a:p>
            <a:pPr lvl="0"/>
            <a:endParaRPr lang="en-US" sz="2200" dirty="0">
              <a:sym typeface="Tahoma" panose="020B0604030504040204"/>
            </a:endParaRPr>
          </a:p>
          <a:p>
            <a:pPr lvl="0"/>
            <a:r>
              <a:rPr lang="en-US" sz="2200" dirty="0">
                <a:sym typeface="Tahoma" panose="020B0604030504040204"/>
              </a:rPr>
              <a:t>Apply SQL to practical data querying and analysis tasks</a:t>
            </a:r>
            <a:endParaRPr lang="en-US" sz="2200" dirty="0"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Tahoma" panose="020B0604030504040204"/>
              </a:rPr>
              <a:t>SQL Language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52400" y="971550"/>
            <a:ext cx="8668512" cy="3090672"/>
          </a:xfrm>
        </p:spPr>
        <p:txBody>
          <a:bodyPr>
            <a:normAutofit/>
          </a:bodyPr>
          <a:lstStyle/>
          <a:p>
            <a:pPr lvl="0"/>
            <a:r>
              <a:rPr lang="en-US" sz="2200" dirty="0">
                <a:sym typeface="Tahoma" panose="020B0604030504040204"/>
              </a:rPr>
              <a:t>Two sublanguages:</a:t>
            </a:r>
            <a:endParaRPr lang="en-US" sz="2200" dirty="0">
              <a:sym typeface="Tahoma" panose="020B0604030504040204"/>
            </a:endParaRPr>
          </a:p>
          <a:p>
            <a:pPr lvl="1"/>
            <a:r>
              <a:rPr lang="en-US" sz="2200" dirty="0">
                <a:sym typeface="Tahoma" panose="020B0604030504040204"/>
              </a:rPr>
              <a:t>DDL – Data Definition Language</a:t>
            </a:r>
            <a:endParaRPr lang="en-US" sz="2200" dirty="0">
              <a:sym typeface="Tahoma" panose="020B0604030504040204"/>
            </a:endParaRPr>
          </a:p>
          <a:p>
            <a:pPr lvl="2"/>
            <a:r>
              <a:rPr lang="en-US" sz="2200" dirty="0">
                <a:sym typeface="Tahoma" panose="020B0604030504040204"/>
              </a:rPr>
              <a:t>Define and modify schema</a:t>
            </a:r>
            <a:endParaRPr lang="en-US" sz="2200" dirty="0">
              <a:sym typeface="Tahoma" panose="020B0604030504040204"/>
            </a:endParaRPr>
          </a:p>
          <a:p>
            <a:pPr marL="914400" lvl="2" indent="0">
              <a:buNone/>
            </a:pPr>
            <a:endParaRPr lang="en-US" sz="2200" dirty="0">
              <a:sym typeface="Tahoma" panose="020B0604030504040204"/>
            </a:endParaRPr>
          </a:p>
          <a:p>
            <a:pPr lvl="1"/>
            <a:r>
              <a:rPr lang="en-US" sz="2200" dirty="0">
                <a:sym typeface="Tahoma" panose="020B0604030504040204"/>
              </a:rPr>
              <a:t>DML – Data Manipulation Language</a:t>
            </a:r>
            <a:endParaRPr lang="en-US" sz="2200" dirty="0">
              <a:sym typeface="Tahoma" panose="020B0604030504040204"/>
            </a:endParaRPr>
          </a:p>
          <a:p>
            <a:pPr lvl="2"/>
            <a:r>
              <a:rPr lang="en-US" sz="2200" dirty="0">
                <a:sym typeface="Tahoma" panose="020B0604030504040204"/>
              </a:rPr>
              <a:t>Queries can be written intuitively.</a:t>
            </a:r>
            <a:endParaRPr lang="en-US" sz="2200" dirty="0">
              <a:sym typeface="Tahoma" panose="020B0604030504040204"/>
            </a:endParaRPr>
          </a:p>
          <a:p>
            <a:pPr lvl="0"/>
            <a:endParaRPr lang="en-US" sz="2200" dirty="0"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Example Database</a:t>
            </a:r>
            <a:endParaRPr lang="en-US" sz="3300" dirty="0"/>
          </a:p>
        </p:txBody>
      </p:sp>
      <p:graphicFrame>
        <p:nvGraphicFramePr>
          <p:cNvPr id="7" name="Shape 175" descr="A table contain sid, sname, rating, age for many sailors" title="Sailors Table"/>
          <p:cNvGraphicFramePr/>
          <p:nvPr/>
        </p:nvGraphicFramePr>
        <p:xfrm>
          <a:off x="345040" y="1657351"/>
          <a:ext cx="4303160" cy="14933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1075790"/>
                <a:gridCol w="1075790"/>
                <a:gridCol w="1075790"/>
                <a:gridCol w="1075790"/>
              </a:tblGrid>
              <a:tr h="13727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sng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2000" b="1" i="0" u="sng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30477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800" dirty="0"/>
                    </a:p>
                  </a:txBody>
                  <a:tcPr marL="91450" marR="91450" marT="45700" marB="4570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Fred</a:t>
                      </a:r>
                      <a:endParaRPr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7</a:t>
                      </a:r>
                      <a:endParaRPr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0477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Jim</a:t>
                      </a:r>
                      <a:endParaRPr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30477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Nancy</a:t>
                      </a:r>
                      <a:endParaRPr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8</a:t>
                      </a:r>
                      <a:endParaRPr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sp>
        <p:nvSpPr>
          <p:cNvPr id="8" name="Shape 176"/>
          <p:cNvSpPr/>
          <p:nvPr/>
        </p:nvSpPr>
        <p:spPr>
          <a:xfrm>
            <a:off x="268840" y="1200150"/>
            <a:ext cx="1433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Sailors</a:t>
            </a:r>
            <a:endParaRPr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aphicFrame>
        <p:nvGraphicFramePr>
          <p:cNvPr id="9" name="Shape 177" descr="Table containing sid, bid, day for many boat reservatins" title="Reserves"/>
          <p:cNvGraphicFramePr/>
          <p:nvPr/>
        </p:nvGraphicFramePr>
        <p:xfrm>
          <a:off x="2281752" y="3757516"/>
          <a:ext cx="4191000" cy="118895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1397000"/>
                <a:gridCol w="1397000"/>
                <a:gridCol w="1397000"/>
              </a:tblGrid>
              <a:tr h="3555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sng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2000" b="1" i="0" u="sng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bid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day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9/12/2015</a:t>
                      </a:r>
                      <a:endParaRPr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9/13/2015</a:t>
                      </a:r>
                      <a:endParaRPr sz="20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</a:tbl>
          </a:graphicData>
        </a:graphic>
      </p:graphicFrame>
      <p:sp>
        <p:nvSpPr>
          <p:cNvPr id="10" name="Shape 178"/>
          <p:cNvSpPr/>
          <p:nvPr/>
        </p:nvSpPr>
        <p:spPr>
          <a:xfrm>
            <a:off x="2281752" y="3285358"/>
            <a:ext cx="18369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Reserves</a:t>
            </a:r>
            <a:endParaRPr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aphicFrame>
        <p:nvGraphicFramePr>
          <p:cNvPr id="11" name="Shape 179" descr="A table containing bid, bname, color for many boats" title="Boats"/>
          <p:cNvGraphicFramePr/>
          <p:nvPr/>
        </p:nvGraphicFramePr>
        <p:xfrm>
          <a:off x="5298040" y="1657350"/>
          <a:ext cx="3429000" cy="15848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57250"/>
                <a:gridCol w="1581150"/>
                <a:gridCol w="990600"/>
              </a:tblGrid>
              <a:tr h="39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sng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bid</a:t>
                      </a:r>
                      <a:endParaRPr b="1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bname</a:t>
                      </a:r>
                      <a:endParaRPr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color</a:t>
                      </a:r>
                      <a:endParaRPr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39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101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Nina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red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9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Pinta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blue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396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103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Santa Maria</a:t>
                      </a:r>
                      <a:endParaRPr lang="en-US" sz="20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red</a:t>
                      </a:r>
                      <a:endParaRPr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sp>
        <p:nvSpPr>
          <p:cNvPr id="12" name="Shape 180"/>
          <p:cNvSpPr/>
          <p:nvPr/>
        </p:nvSpPr>
        <p:spPr>
          <a:xfrm>
            <a:off x="5221840" y="1200150"/>
            <a:ext cx="12492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Boats</a:t>
            </a:r>
            <a:endParaRPr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Example </a:t>
            </a:r>
            <a:r>
              <a:rPr lang="en-US" dirty="0">
                <a:sym typeface="Tahoma" panose="020B0604030504040204"/>
              </a:rPr>
              <a:t>Database</a:t>
            </a:r>
            <a:r>
              <a:rPr lang="en-US" dirty="0">
                <a:sym typeface="Tahoma" panose="020B0604030504040204"/>
              </a:rPr>
              <a:t>, Pt. 2</a:t>
            </a:r>
            <a:endParaRPr lang="en-US" dirty="0"/>
          </a:p>
        </p:txBody>
      </p:sp>
      <p:graphicFrame>
        <p:nvGraphicFramePr>
          <p:cNvPr id="7" name="Shape 175" descr="A table contain sid, sname, rating, age for many sailors" title="Sailors Table"/>
          <p:cNvGraphicFramePr/>
          <p:nvPr>
            <p:custDataLst>
              <p:tags r:id="rId1"/>
            </p:custDataLst>
          </p:nvPr>
        </p:nvGraphicFramePr>
        <p:xfrm>
          <a:off x="1752600" y="1528445"/>
          <a:ext cx="5730240" cy="32740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sng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id</a:t>
                      </a:r>
                      <a:endParaRPr sz="2000" b="1" i="0" u="sng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name</a:t>
                      </a:r>
                      <a:endParaRPr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b="1" dirty="0"/>
                        <a:t>dept</a:t>
                      </a:r>
                      <a:endParaRPr lang="en-US"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b="1" dirty="0"/>
                        <a:t>gpa</a:t>
                      </a:r>
                      <a:endParaRPr lang="en-US"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b="1" dirty="0"/>
                        <a:t>age</a:t>
                      </a:r>
                      <a:endParaRPr lang="en-US" altLang="en-US"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 err="1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gender</a:t>
                      </a:r>
                      <a:r>
                        <a:rPr lang="en-US" sz="1800" dirty="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 </a:t>
                      </a:r>
                      <a:endParaRPr lang="en-US" altLang="en-US"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800" dirty="0"/>
                    </a:p>
                  </a:txBody>
                  <a:tcPr marL="91450" marR="91450" marT="45700" marB="4570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Fred</a:t>
                      </a:r>
                      <a:endParaRPr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CS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3.4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19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M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Jim</a:t>
                      </a:r>
                      <a:endParaRPr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EE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3.8</a:t>
                      </a:r>
                      <a:endParaRPr 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19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M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Nancy</a:t>
                      </a:r>
                      <a:endParaRPr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CS</a:t>
                      </a:r>
                      <a:endParaRPr 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4.1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20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F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6496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4</a:t>
                      </a:r>
                      <a:endParaRPr lang="en-US"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Frankie</a:t>
                      </a:r>
                      <a:endParaRPr 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CS</a:t>
                      </a:r>
                      <a:endParaRPr 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4.1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18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M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5</a:t>
                      </a:r>
                      <a:endParaRPr lang="en-US" altLang="en-US"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Eric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EE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3.8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20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F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7211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6</a:t>
                      </a:r>
                      <a:endParaRPr lang="en-US" altLang="en-US"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Mia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PHY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3.8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20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M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7</a:t>
                      </a:r>
                      <a:endParaRPr lang="en-US" altLang="en-US"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Fred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CS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4.2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20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F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sp>
        <p:nvSpPr>
          <p:cNvPr id="8" name="Shape 176"/>
          <p:cNvSpPr/>
          <p:nvPr/>
        </p:nvSpPr>
        <p:spPr>
          <a:xfrm>
            <a:off x="1725930" y="1022350"/>
            <a:ext cx="5852795" cy="46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Students </a:t>
            </a:r>
            <a:endParaRPr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5" y="198120"/>
            <a:ext cx="8645525" cy="667385"/>
          </a:xfrm>
        </p:spPr>
        <p:txBody>
          <a:bodyPr/>
          <a:lstStyle/>
          <a:p>
            <a:r>
              <a:rPr lang="en-US" sz="3300">
                <a:sym typeface="Tahoma" panose="020B0604030504040204"/>
              </a:rPr>
              <a:t>The SQL DDL</a:t>
            </a:r>
            <a:endParaRPr lang="en-US" sz="3300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136525" y="1090930"/>
            <a:ext cx="3566160" cy="3090545"/>
          </a:xfrm>
        </p:spPr>
        <p:txBody>
          <a:bodyPr>
            <a:normAutofit fontScale="57500"/>
          </a:bodyPr>
          <a:lstStyle/>
          <a:p>
            <a:pPr lvl="0">
              <a:lnSpc>
                <a:spcPct val="90000"/>
              </a:lnSpc>
              <a:spcBef>
                <a:spcPts val="0"/>
              </a:spcBef>
              <a:buClr>
                <a:srgbClr val="484848"/>
              </a:buClr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CREATE TABLE Sailors (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914400" lvl="0">
              <a:lnSpc>
                <a:spcPct val="90000"/>
              </a:lnSpc>
              <a:spcBef>
                <a:spcPts val="0"/>
              </a:spcBef>
              <a:buClr>
                <a:srgbClr val="484848"/>
              </a:buClr>
              <a:buSzPts val="1800"/>
              <a:buNone/>
            </a:pP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sid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INTEGER,  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914400" lvl="0">
              <a:lnSpc>
                <a:spcPct val="90000"/>
              </a:lnSpc>
              <a:spcBef>
                <a:spcPts val="0"/>
              </a:spcBef>
              <a:buClr>
                <a:srgbClr val="484848"/>
              </a:buClr>
              <a:buSzPts val="1800"/>
              <a:buNone/>
            </a:pP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sname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CHAR(20),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914400" lvl="0">
              <a:lnSpc>
                <a:spcPct val="90000"/>
              </a:lnSpc>
              <a:spcBef>
                <a:spcPts val="0"/>
              </a:spcBef>
              <a:buClr>
                <a:srgbClr val="484848"/>
              </a:buClr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rating INTEGER,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914400" lvl="0">
              <a:lnSpc>
                <a:spcPct val="90000"/>
              </a:lnSpc>
              <a:spcBef>
                <a:spcPts val="0"/>
              </a:spcBef>
              <a:buClr>
                <a:srgbClr val="484848"/>
              </a:buClr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age FLOAT,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lnSpc>
                <a:spcPct val="90000"/>
              </a:lnSpc>
              <a:spcBef>
                <a:spcPts val="0"/>
              </a:spcBef>
              <a:buClr>
                <a:srgbClr val="484848"/>
              </a:buClr>
              <a:buSzPts val="1800"/>
              <a:buNone/>
            </a:pP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       PRIMARY KEY (</a:t>
            </a:r>
            <a:r>
              <a:rPr lang="en-US" b="1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sid</a:t>
            </a: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)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);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0" indent="0">
              <a:lnSpc>
                <a:spcPct val="90000"/>
              </a:lnSpc>
              <a:spcBef>
                <a:spcPts val="180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CREATE TABLE Boats (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bid INTEGER,     	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bname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CHAR (20),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color CHAR(10),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PRIMARY KEY (bid));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0" indent="0">
              <a:lnSpc>
                <a:spcPct val="90000"/>
              </a:lnSpc>
              <a:spcBef>
                <a:spcPts val="180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CREATE TABLE Reserves (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sid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INTEGER,     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bid INTEGER,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day DATE, 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PRIMARY KEY (</a:t>
            </a:r>
            <a:r>
              <a:rPr lang="en-US" b="1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sid</a:t>
            </a: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bid, day),</a:t>
            </a:r>
            <a:endParaRPr lang="en-US" b="1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FOREIGN KEY (</a:t>
            </a:r>
            <a:r>
              <a:rPr lang="en-US" b="1" i="1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sid</a:t>
            </a: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) REFERENCES Sailors,</a:t>
            </a:r>
            <a:endParaRPr lang="en-US" b="1" i="1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685800" indent="0">
              <a:lnSpc>
                <a:spcPct val="90000"/>
              </a:lnSpc>
              <a:spcBef>
                <a:spcPts val="0"/>
              </a:spcBef>
              <a:buSzPts val="1800"/>
              <a:buNone/>
            </a:pPr>
            <a:r>
              <a:rPr lang="en-US" b="1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FOREIGN KEY (bid) REFERENCES Boats);</a:t>
            </a:r>
            <a:endParaRPr lang="en-US" b="1" i="1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  <p:graphicFrame>
        <p:nvGraphicFramePr>
          <p:cNvPr id="9" name="Shape 216" descr="A table containing bid, bname, color for many boats" title="Boats"/>
          <p:cNvGraphicFramePr/>
          <p:nvPr/>
        </p:nvGraphicFramePr>
        <p:xfrm>
          <a:off x="4932450" y="2266356"/>
          <a:ext cx="3982950" cy="13411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995727"/>
                <a:gridCol w="1835419"/>
                <a:gridCol w="1151804"/>
              </a:tblGrid>
              <a:tr h="26347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sng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bid</a:t>
                      </a:r>
                      <a:endParaRPr sz="16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bname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color</a:t>
                      </a:r>
                      <a:endParaRPr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2372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101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Nina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red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372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Pinta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blue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372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103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Santa Maria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red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Shape 198" descr="A table contain sid, sname, rating, age for many sailors" title="Sailors"/>
          <p:cNvGraphicFramePr/>
          <p:nvPr/>
        </p:nvGraphicFramePr>
        <p:xfrm>
          <a:off x="2819400" y="895350"/>
          <a:ext cx="3416376" cy="13411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650729"/>
                <a:gridCol w="1057449"/>
                <a:gridCol w="854099"/>
                <a:gridCol w="854099"/>
              </a:tblGrid>
              <a:tr h="3055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sng" strike="noStrike" cap="none" dirty="0" err="1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600" b="1" i="0" u="sng" strike="noStrike" cap="none" dirty="0"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600" b="1" i="0" u="none" strike="noStrike" cap="none"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 dirty="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2240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Fred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7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240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Jim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2404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Nancy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8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Shape 226" descr="A table with information about the sid, bid, and day for many boat reservations" title="Reservations Table"/>
          <p:cNvGraphicFramePr/>
          <p:nvPr/>
        </p:nvGraphicFramePr>
        <p:xfrm>
          <a:off x="2814090" y="4199403"/>
          <a:ext cx="3650925" cy="91443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1216975"/>
                <a:gridCol w="1216975"/>
                <a:gridCol w="1216975"/>
              </a:tblGrid>
              <a:tr h="26645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1" i="0" u="sng" strike="noStrike" cap="none" dirty="0" err="1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400" b="1" i="0" u="sng" strike="noStrike" cap="none" dirty="0"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1" i="0" u="sng" strike="noStrike" cap="none" dirty="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bid</a:t>
                      </a:r>
                      <a:endParaRPr sz="14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1" i="0" u="sng" strike="noStrike" cap="none" dirty="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day</a:t>
                      </a:r>
                      <a:endParaRPr sz="14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26645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400" dirty="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9/12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6645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40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4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9/13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</a:tbl>
          </a:graphicData>
        </a:graphic>
      </p:graphicFrame>
      <p:cxnSp>
        <p:nvCxnSpPr>
          <p:cNvPr id="17" name="Shape 253" descr="An arrow connecting the bid field in the reserves table to the primary key bid in the boats table" title="Bid match"/>
          <p:cNvCxnSpPr/>
          <p:nvPr/>
        </p:nvCxnSpPr>
        <p:spPr>
          <a:xfrm rot="5400000" flipH="1" flipV="1">
            <a:off x="3844302" y="3179516"/>
            <a:ext cx="1868324" cy="307976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8" name="Shape 253" descr="An arrow connecting the sid field in the reserves table to the primary key sid in the sailors table" title="sid match"/>
          <p:cNvCxnSpPr/>
          <p:nvPr/>
        </p:nvCxnSpPr>
        <p:spPr>
          <a:xfrm rot="16200000" flipV="1">
            <a:off x="1986175" y="2448188"/>
            <a:ext cx="3090672" cy="375545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lg" len="lg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olidFill>
                  <a:srgbClr val="C00000"/>
                </a:solidFill>
              </a:rPr>
              <a:t>The SQL DDL?</a:t>
            </a:r>
            <a:endParaRPr lang="en-US" sz="3300" dirty="0">
              <a:solidFill>
                <a:srgbClr val="C00000"/>
              </a:solidFill>
            </a:endParaRPr>
          </a:p>
        </p:txBody>
      </p:sp>
      <p:graphicFrame>
        <p:nvGraphicFramePr>
          <p:cNvPr id="7" name="Shape 175" descr="A table contain sid, sname, rating, age for many sailors" title="Sailors Table"/>
          <p:cNvGraphicFramePr/>
          <p:nvPr>
            <p:custDataLst>
              <p:tags r:id="rId1"/>
            </p:custDataLst>
          </p:nvPr>
        </p:nvGraphicFramePr>
        <p:xfrm>
          <a:off x="1752600" y="1528445"/>
          <a:ext cx="5730240" cy="32740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8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sng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id</a:t>
                      </a:r>
                      <a:endParaRPr sz="2000" b="1" i="0" u="sng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name</a:t>
                      </a:r>
                      <a:endParaRPr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b="1" dirty="0"/>
                        <a:t>dept</a:t>
                      </a:r>
                      <a:endParaRPr lang="en-US"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b="1" dirty="0"/>
                        <a:t>gpa</a:t>
                      </a:r>
                      <a:endParaRPr lang="en-US"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b="1" dirty="0"/>
                        <a:t>age</a:t>
                      </a:r>
                      <a:endParaRPr lang="en-US" altLang="en-US"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 err="1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gender</a:t>
                      </a:r>
                      <a:r>
                        <a:rPr lang="en-US" sz="1800" dirty="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 </a:t>
                      </a:r>
                      <a:endParaRPr lang="en-US" altLang="en-US" b="1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800" dirty="0"/>
                    </a:p>
                  </a:txBody>
                  <a:tcPr marL="91450" marR="91450" marT="45700" marB="4570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Fred</a:t>
                      </a:r>
                      <a:endParaRPr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CS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3.4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19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M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Jim</a:t>
                      </a:r>
                      <a:endParaRPr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EE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3.8</a:t>
                      </a:r>
                      <a:endParaRPr 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19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M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Nancy</a:t>
                      </a:r>
                      <a:endParaRPr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CS</a:t>
                      </a:r>
                      <a:endParaRPr 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4.1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20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F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6496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4</a:t>
                      </a:r>
                      <a:endParaRPr lang="en-US"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Frankie</a:t>
                      </a:r>
                      <a:endParaRPr 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/>
                        <a:t>CS</a:t>
                      </a:r>
                      <a:endParaRPr 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/>
                        <a:t>4.1</a:t>
                      </a:r>
                      <a:endParaRPr 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18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M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5</a:t>
                      </a:r>
                      <a:endParaRPr lang="en-US" altLang="en-US"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Eric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EE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3.8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20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F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7211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6</a:t>
                      </a:r>
                      <a:endParaRPr lang="en-US" altLang="en-US"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Mia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PHY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3.8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20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M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7</a:t>
                      </a:r>
                      <a:endParaRPr lang="en-US" altLang="en-US" sz="180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Fred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/>
                        <a:t>CS</a:t>
                      </a:r>
                      <a:endParaRPr lang="en-US" altLang="en-US" sz="18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3.4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20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altLang="en-US" sz="1800" dirty="0"/>
                        <a:t>F</a:t>
                      </a:r>
                      <a:endParaRPr lang="en-US" altLang="en-US" sz="18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sp>
        <p:nvSpPr>
          <p:cNvPr id="8" name="Shape 176"/>
          <p:cNvSpPr/>
          <p:nvPr/>
        </p:nvSpPr>
        <p:spPr>
          <a:xfrm>
            <a:off x="1725930" y="1022350"/>
            <a:ext cx="5852795" cy="46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Students </a:t>
            </a:r>
            <a:endParaRPr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The SQL DML</a:t>
            </a:r>
            <a:endParaRPr lang="en-US" sz="33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246888" y="1060704"/>
            <a:ext cx="4401312" cy="3090672"/>
          </a:xfrm>
        </p:spPr>
        <p:txBody>
          <a:bodyPr/>
          <a:lstStyle/>
          <a:p>
            <a:pPr lvl="0" algn="l">
              <a:spcBef>
                <a:spcPts val="3000"/>
              </a:spcBef>
              <a:buClr>
                <a:srgbClr val="4B4B4B"/>
              </a:buClr>
              <a:buSzTx/>
            </a:pPr>
            <a:r>
              <a:rPr lang="en-US" dirty="0">
                <a:solidFill>
                  <a:srgbClr val="000000"/>
                </a:solidFill>
                <a:sym typeface="Helvetica Neue" panose="02000503000000020004"/>
              </a:rPr>
              <a:t>Find all 27-year-old sailors:</a:t>
            </a:r>
            <a:endParaRPr lang="en-US" dirty="0">
              <a:solidFill>
                <a:srgbClr val="000000"/>
              </a:solidFill>
              <a:sym typeface="Helvetica Neue" panose="02000503000000020004"/>
            </a:endParaRPr>
          </a:p>
          <a:p>
            <a:pPr marL="1828800" lv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 *</a:t>
            </a:r>
            <a:endParaRPr lang="en-US" b="1" dirty="0">
              <a:solidFill>
                <a:srgbClr val="000000"/>
              </a:solidFill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1828800" lv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  Sailors AS S</a:t>
            </a:r>
            <a:endParaRPr lang="en-US" b="1" dirty="0">
              <a:solidFill>
                <a:srgbClr val="000000"/>
              </a:solidFill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1828800" lv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WHERE </a:t>
            </a:r>
            <a:r>
              <a:rPr lang="en-US" b="1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S.age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=27;</a:t>
            </a:r>
            <a:endParaRPr lang="en-US" b="1" dirty="0">
              <a:solidFill>
                <a:srgbClr val="000000"/>
              </a:solidFill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spcBef>
                <a:spcPts val="3000"/>
              </a:spcBef>
              <a:buClr>
                <a:srgbClr val="4B4B4B"/>
              </a:buClr>
              <a:buFont typeface="Arial" panose="020B060402020209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find just names and rating, replace the first line to:</a:t>
            </a:r>
            <a:endParaRPr lang="en-US" dirty="0">
              <a:solidFill>
                <a:srgbClr val="000000"/>
              </a:solidFill>
            </a:endParaRPr>
          </a:p>
          <a:p>
            <a:pPr marL="1828800" lvl="0" indent="0">
              <a:spcBef>
                <a:spcPts val="0"/>
              </a:spcBef>
              <a:buClr>
                <a:srgbClr val="4B4B4B"/>
              </a:buClr>
              <a:buNone/>
            </a:pP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 </a:t>
            </a:r>
            <a:r>
              <a:rPr lang="en-US" b="1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S.sname</a:t>
            </a:r>
            <a:r>
              <a:rPr lang="en-US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</a:t>
            </a:r>
            <a:r>
              <a:rPr lang="en-US" b="1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S.rating</a:t>
            </a:r>
            <a:endParaRPr lang="en-US" b="1" dirty="0">
              <a:solidFill>
                <a:srgbClr val="000000"/>
              </a:solidFill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  <p:sp>
        <p:nvSpPr>
          <p:cNvPr id="6" name="Shape 277"/>
          <p:cNvSpPr/>
          <p:nvPr/>
        </p:nvSpPr>
        <p:spPr>
          <a:xfrm>
            <a:off x="5791299" y="1352550"/>
            <a:ext cx="17832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Sailors</a:t>
            </a:r>
            <a:endParaRPr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aphicFrame>
        <p:nvGraphicFramePr>
          <p:cNvPr id="8" name="Shape 198" descr="A table contain sid, sname, rating, age for many sailors" title="Sailors"/>
          <p:cNvGraphicFramePr/>
          <p:nvPr/>
        </p:nvGraphicFramePr>
        <p:xfrm>
          <a:off x="4876800" y="1874505"/>
          <a:ext cx="3416376" cy="146307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650729"/>
                <a:gridCol w="1057449"/>
                <a:gridCol w="854099"/>
                <a:gridCol w="854099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sng" strike="noStrike" cap="none" dirty="0" err="1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600" b="1" i="0" u="sng" strike="noStrike" cap="none" dirty="0"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600" b="1" i="0" u="none" strike="noStrike" cap="none"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1" i="0" u="none" strike="noStrike" cap="none" dirty="0"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/>
                    </a:solidFill>
                  </a:tcPr>
                </a:tc>
              </a:tr>
              <a:tr h="3107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Fred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7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3107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Jim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3107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Nancy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8</a:t>
                      </a:r>
                      <a:endParaRPr lang="en-US" sz="16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ahoma" panose="020B0604030504040204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SELECT DISTINCT</a:t>
            </a:r>
            <a:endParaRPr lang="en-US" sz="33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 DISTINCT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S.name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S.gpa</a:t>
            </a:r>
            <a:b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students S</a:t>
            </a:r>
            <a:b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WHERE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= 'CS'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spcBef>
                <a:spcPts val="5900"/>
              </a:spcBef>
              <a:buClr>
                <a:srgbClr val="484848"/>
              </a:buClr>
              <a:buSzPts val="2000"/>
              <a:buFont typeface="Tahoma" panose="020B0604030504040204"/>
              <a:buChar char="•"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DISTINCT specifies removal of duplicate rows before output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spcBef>
                <a:spcPts val="400"/>
              </a:spcBef>
              <a:buClr>
                <a:srgbClr val="484848"/>
              </a:buClr>
              <a:buSzPts val="2000"/>
              <a:buFont typeface="Tahoma" panose="020B0604030504040204"/>
              <a:buChar char="•"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Can refer to the students table as “S”, this is called an alias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ORDER</a:t>
            </a:r>
            <a:r>
              <a:rPr lang="en-US" sz="3300" dirty="0">
                <a:sym typeface="Helvetica Neue Light" panose="02000503000000020004"/>
              </a:rPr>
              <a:t> BY</a:t>
            </a:r>
            <a:endParaRPr lang="en-US" sz="33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247015" y="1208405"/>
            <a:ext cx="8668385" cy="2853690"/>
          </a:xfrm>
        </p:spPr>
        <p:txBody>
          <a:bodyPr>
            <a:normAutofit lnSpcReduction="10000"/>
          </a:bodyPr>
          <a:lstStyle/>
          <a:p>
            <a:pPr marL="0" lvl="0" indent="0" fontAlgn="auto">
              <a:lnSpc>
                <a:spcPct val="100000"/>
              </a:lnSpc>
              <a:spcBef>
                <a:spcPts val="0"/>
              </a:spcBef>
              <a:buClr>
                <a:srgbClr val="484848"/>
              </a:buClr>
              <a:buSzPts val="2000"/>
              <a:buNone/>
            </a:pP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S.name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S.gpa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S.age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*2 AS a2</a:t>
            </a:r>
            <a:b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Students S</a:t>
            </a:r>
            <a:br>
              <a:rPr lang="en-US" sz="2000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WHERE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= 'CS'</a:t>
            </a:r>
            <a:b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ORDER BY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S.gpa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S.name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a2;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ORDER BY, Pt. 2</a:t>
            </a:r>
            <a:endParaRPr lang="en-US" sz="33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lvl="0" algn="l">
              <a:lnSpc>
                <a:spcPct val="100000"/>
              </a:lnSpc>
              <a:spcBef>
                <a:spcPts val="3000"/>
              </a:spcBef>
              <a:buSzTx/>
              <a:buChar char="•"/>
            </a:pPr>
            <a:r>
              <a:rPr lang="en-US" sz="1800" dirty="0">
                <a:solidFill>
                  <a:srgbClr val="000000"/>
                </a:solidFill>
                <a:sym typeface="Tahoma" panose="020B0604030504040204"/>
              </a:rPr>
              <a:t>SELECT  S.name, S.gpa, S.age*2 AS a2</a:t>
            </a:r>
            <a:br>
              <a:rPr lang="en-US" sz="1800" dirty="0">
                <a:solidFill>
                  <a:srgbClr val="000000"/>
                </a:solidFill>
                <a:sym typeface="Tahoma" panose="020B0604030504040204"/>
              </a:rPr>
            </a:br>
            <a:r>
              <a:rPr lang="en-US" sz="1800" dirty="0">
                <a:solidFill>
                  <a:srgbClr val="000000"/>
                </a:solidFill>
                <a:sym typeface="Tahoma" panose="020B0604030504040204"/>
              </a:rPr>
              <a:t>FROM Students S</a:t>
            </a:r>
            <a:br>
              <a:rPr lang="en-US" sz="1800" dirty="0">
                <a:solidFill>
                  <a:srgbClr val="000000"/>
                </a:solidFill>
                <a:sym typeface="Tahoma" panose="020B0604030504040204"/>
              </a:rPr>
            </a:br>
            <a:r>
              <a:rPr lang="en-US" sz="1800" dirty="0">
                <a:solidFill>
                  <a:srgbClr val="000000"/>
                </a:solidFill>
                <a:sym typeface="Tahoma" panose="020B0604030504040204"/>
              </a:rPr>
              <a:t>WHERE S.dept = 'CS'</a:t>
            </a:r>
            <a:br>
              <a:rPr lang="en-US" sz="1800" dirty="0">
                <a:solidFill>
                  <a:srgbClr val="000000"/>
                </a:solidFill>
                <a:sym typeface="Tahoma" panose="020B0604030504040204"/>
              </a:rPr>
            </a:br>
            <a:r>
              <a:rPr lang="en-US" sz="1800" dirty="0">
                <a:solidFill>
                  <a:srgbClr val="000000"/>
                </a:solidFill>
                <a:sym typeface="Tahoma" panose="020B0604030504040204"/>
              </a:rPr>
              <a:t>ORDER BY S.gpa </a:t>
            </a:r>
            <a:r>
              <a:rPr lang="en-US" sz="1800" dirty="0">
                <a:solidFill>
                  <a:srgbClr val="C00000"/>
                </a:solidFill>
                <a:sym typeface="Tahoma" panose="020B0604030504040204"/>
              </a:rPr>
              <a:t>DESC</a:t>
            </a:r>
            <a:r>
              <a:rPr lang="en-US" sz="1800" dirty="0">
                <a:solidFill>
                  <a:srgbClr val="000000"/>
                </a:solidFill>
                <a:sym typeface="Tahoma" panose="020B0604030504040204"/>
              </a:rPr>
              <a:t>, S.name </a:t>
            </a:r>
            <a:r>
              <a:rPr lang="en-US" sz="1800" dirty="0">
                <a:solidFill>
                  <a:srgbClr val="C00000"/>
                </a:solidFill>
                <a:sym typeface="Tahoma" panose="020B0604030504040204"/>
              </a:rPr>
              <a:t>ASC</a:t>
            </a:r>
            <a:r>
              <a:rPr lang="en-US" sz="1800" dirty="0">
                <a:solidFill>
                  <a:srgbClr val="000000"/>
                </a:solidFill>
                <a:sym typeface="Tahoma" panose="020B0604030504040204"/>
              </a:rPr>
              <a:t>, a2;</a:t>
            </a:r>
            <a:endParaRPr lang="en-US" dirty="0">
              <a:solidFill>
                <a:srgbClr val="000000"/>
              </a:solidFill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LIMIT</a:t>
            </a:r>
            <a:endParaRPr lang="en-US" sz="33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0">
              <a:lnSpc>
                <a:spcPct val="90000"/>
              </a:lnSpc>
              <a:spcBef>
                <a:spcPts val="0"/>
              </a:spcBef>
              <a:buClr>
                <a:srgbClr val="484848"/>
              </a:buClr>
              <a:buSzPts val="2000"/>
              <a:buFont typeface="Lucida Sans"/>
              <a:buChar char="•"/>
            </a:pP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S.name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S.gpa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S.age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*2 AS a2</a:t>
            </a:r>
            <a:b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Students S</a:t>
            </a:r>
            <a:br>
              <a:rPr lang="en-US" sz="2000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WHERE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= 'CS'</a:t>
            </a:r>
            <a:b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ORDER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BY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S.gpa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DESC,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S.name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ASC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, a2;</a:t>
            </a:r>
            <a:b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LIMIT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2 ;</a:t>
            </a:r>
            <a:endParaRPr lang="en-US" sz="3200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lnSpc>
                <a:spcPct val="90000"/>
              </a:lnSpc>
              <a:spcBef>
                <a:spcPts val="6000"/>
              </a:spcBef>
              <a:buClr>
                <a:srgbClr val="484848"/>
              </a:buClr>
              <a:buSzPts val="2400"/>
              <a:buFont typeface="Tahoma" panose="020B0604030504040204"/>
              <a:buChar char="•"/>
            </a:pPr>
            <a:r>
              <a:rPr lang="en-US" sz="24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Only produces the first &lt;integer&gt; output rows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Aggregates</a:t>
            </a:r>
            <a:endParaRPr lang="en-US" sz="33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44500" lvl="0">
              <a:lnSpc>
                <a:spcPct val="90000"/>
              </a:lnSpc>
              <a:spcBef>
                <a:spcPts val="0"/>
              </a:spcBef>
              <a:buSzPts val="2000"/>
            </a:pP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[DISTINCT] </a:t>
            </a: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AVG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S.gpa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)</a:t>
            </a:r>
            <a:b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Students S</a:t>
            </a:r>
            <a:br>
              <a:rPr lang="en-US" sz="2000" i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WHERE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= 'CS'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lnSpc>
                <a:spcPct val="90000"/>
              </a:lnSpc>
              <a:spcBef>
                <a:spcPts val="360"/>
              </a:spcBef>
              <a:buClr>
                <a:srgbClr val="484848"/>
              </a:buClr>
              <a:buSzPts val="1800"/>
              <a:buFont typeface="Tahoma" panose="020B0604030504040204"/>
              <a:buChar char="•"/>
            </a:pP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lnSpc>
                <a:spcPct val="90000"/>
              </a:lnSpc>
              <a:spcBef>
                <a:spcPts val="360"/>
              </a:spcBef>
              <a:buClr>
                <a:srgbClr val="484848"/>
              </a:buClr>
              <a:buSzPts val="1800"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Other aggregates: SUM, COUNT, MAX, MIN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GROUP BY</a:t>
            </a:r>
            <a:endParaRPr lang="en-US" sz="33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0"/>
              </a:spcBef>
              <a:buClr>
                <a:srgbClr val="FF0000"/>
              </a:buClr>
              <a:buSzPts val="1800"/>
              <a:buNone/>
            </a:pP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 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[DISTINCT] </a:t>
            </a: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AVG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S.gpa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),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b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 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Students S</a:t>
            </a:r>
            <a:b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GROUP BY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endParaRPr lang="en-US" sz="1600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lnSpc>
                <a:spcPct val="90000"/>
              </a:lnSpc>
              <a:spcBef>
                <a:spcPts val="400"/>
              </a:spcBef>
              <a:buClr>
                <a:srgbClr val="484848"/>
              </a:buClr>
              <a:buSzPts val="2000"/>
              <a:buFont typeface="Tahoma" panose="020B0604030504040204"/>
              <a:buChar char="•"/>
            </a:pPr>
            <a:endParaRPr lang="en-US" sz="2000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lnSpc>
                <a:spcPct val="90000"/>
              </a:lnSpc>
              <a:spcBef>
                <a:spcPts val="400"/>
              </a:spcBef>
              <a:buClr>
                <a:srgbClr val="484848"/>
              </a:buClr>
              <a:buSzPts val="2000"/>
            </a:pP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Produce an aggregate result per group</a:t>
            </a:r>
            <a:endParaRPr lang="en-US" sz="2000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lnSpc>
                <a:spcPct val="90000"/>
              </a:lnSpc>
              <a:spcBef>
                <a:spcPts val="400"/>
              </a:spcBef>
              <a:buClr>
                <a:srgbClr val="484848"/>
              </a:buClr>
              <a:buSzPts val="2000"/>
            </a:pPr>
            <a:r>
              <a:rPr lang="en-US" sz="1995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Cardinality of output = # of distinct group values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lvl="0">
              <a:lnSpc>
                <a:spcPct val="90000"/>
              </a:lnSpc>
              <a:spcBef>
                <a:spcPts val="400"/>
              </a:spcBef>
              <a:buClr>
                <a:srgbClr val="484848"/>
              </a:buClr>
              <a:buSzPts val="2000"/>
              <a:buFont typeface="Tahoma" panose="020B0604030504040204"/>
              <a:buChar char="•"/>
            </a:pP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Tahoma" panose="020B0604030504040204"/>
              </a:rPr>
              <a:t>HAVING</a:t>
            </a:r>
            <a:endParaRPr lang="en-US" sz="33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ts val="2000"/>
              <a:buNone/>
            </a:pP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[DISTINCT] </a:t>
            </a: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AVG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S.gpa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), </a:t>
            </a:r>
            <a:r>
              <a:rPr lang="en-US" sz="2000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S.dept</a:t>
            </a:r>
            <a:b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000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 </a:t>
            </a:r>
            <a: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Students S</a:t>
            </a:r>
            <a:br>
              <a:rPr lang="en-US" sz="2000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GROUP BY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</a:t>
            </a:r>
            <a:r>
              <a:rPr lang="en-US" err="1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.</a:t>
            </a:r>
            <a:r>
              <a:rPr lang="en-US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dept</a:t>
            </a:r>
            <a:b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b="1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HAVING COUNT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(*) &gt; 2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  <a:p>
            <a:pPr marL="0" lvl="0" indent="0">
              <a:lnSpc>
                <a:spcPct val="90000"/>
              </a:lnSpc>
              <a:spcBef>
                <a:spcPts val="5000"/>
              </a:spcBef>
              <a:buClr>
                <a:srgbClr val="484848"/>
              </a:buClr>
              <a:buSzPts val="2000"/>
              <a:buFont typeface="Tahoma" panose="020B0604030504040204"/>
              <a:buNone/>
            </a:pPr>
            <a:endParaRPr lang="en-US" dirty="0"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>
                <a:sym typeface="Tahoma" panose="020B0604030504040204"/>
              </a:rPr>
              <a:t>Putting</a:t>
            </a:r>
            <a:r>
              <a:rPr lang="en-US" sz="3300">
                <a:sym typeface="Helvetica Neue Light" panose="02000503000000020004"/>
              </a:rPr>
              <a:t> it all together</a:t>
            </a:r>
            <a:endParaRPr lang="en-US" sz="33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SELECT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r>
              <a:rPr lang="en-US" dirty="0" err="1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S.dept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, </a:t>
            </a:r>
            <a:r>
              <a:rPr lang="en-US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AVG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(</a:t>
            </a:r>
            <a:r>
              <a:rPr lang="en-US" dirty="0" err="1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S.gpa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), </a:t>
            </a:r>
            <a:r>
              <a:rPr lang="en-US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COUNT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(*)</a:t>
            </a:r>
            <a:b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FROM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Students S</a:t>
            </a:r>
            <a:br>
              <a:rPr lang="en-US" i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WHERE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r>
              <a:rPr lang="en-US" dirty="0" err="1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S.gender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= 'F'</a:t>
            </a:r>
            <a:b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GROUP BY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r>
              <a:rPr lang="en-US" dirty="0" err="1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S.dept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b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HAVING COUNT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(*) &gt;= 2</a:t>
            </a:r>
            <a:b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ORDER BY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r>
              <a:rPr lang="en-US" dirty="0" err="1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S.dept</a:t>
            </a:r>
            <a:r>
              <a:rPr lang="en-US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;</a:t>
            </a:r>
            <a:endParaRPr lang="en-US"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sym typeface="Helvetica Neue Light" panose="02000503000000020004"/>
              </a:rPr>
              <a:t>DISTINCT Aggregates</a:t>
            </a:r>
            <a:endParaRPr lang="en-US" sz="33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lvl="0" indent="0">
              <a:lnSpc>
                <a:spcPct val="90000"/>
              </a:lnSpc>
              <a:spcBef>
                <a:spcPts val="4000"/>
              </a:spcBef>
              <a:buClr>
                <a:srgbClr val="FF0000"/>
              </a:buClr>
              <a:buSzPts val="20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SELECT COUNT(DISTINCT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Lucida Sans"/>
              </a:rPr>
              <a:t>S.name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)</a:t>
            </a:r>
            <a:b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</a:b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FROM Students S</a:t>
            </a:r>
            <a:br>
              <a:rPr lang="en-US" i="1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</a:b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WHERE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Lucida Sans"/>
              </a:rPr>
              <a:t>S.dept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 = 'CS';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Lucida Sans"/>
            </a:endParaRPr>
          </a:p>
          <a:p>
            <a:pPr marL="0" lvl="0" indent="0">
              <a:lnSpc>
                <a:spcPct val="90000"/>
              </a:lnSpc>
              <a:spcBef>
                <a:spcPts val="4000"/>
              </a:spcBef>
              <a:buClr>
                <a:srgbClr val="FF0000"/>
              </a:buClr>
              <a:buSzPts val="1800"/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SELECT DISTINCT COUNT(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Lucida Sans"/>
              </a:rPr>
              <a:t>S.name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)</a:t>
            </a:r>
            <a:b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</a:b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FROM Students S</a:t>
            </a:r>
            <a:br>
              <a:rPr lang="en-US" i="1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</a:b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WHERE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Lucida Sans"/>
              </a:rPr>
              <a:t>S.dept</a:t>
            </a: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Lucida Sans"/>
              </a:rPr>
              <a:t> = 'CS';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Lucid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7015" y="311150"/>
            <a:ext cx="8571865" cy="678180"/>
          </a:xfrm>
        </p:spPr>
        <p:txBody>
          <a:bodyPr>
            <a:normAutofit/>
          </a:bodyPr>
          <a:lstStyle/>
          <a:p>
            <a:r>
              <a:rPr lang="en-US" dirty="0">
                <a:sym typeface="Tahoma" panose="020B0604030504040204"/>
              </a:rPr>
              <a:t>SQL DML: General Single-Table Queries 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247015" y="1197610"/>
            <a:ext cx="8668385" cy="368427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300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SELECT [DISTINCT] </a:t>
            </a:r>
            <a:r>
              <a:rPr lang="en-US" sz="2300" i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&lt;column expression list&gt;</a:t>
            </a:r>
            <a:b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sz="2300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FROM</a:t>
            </a: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r>
              <a:rPr lang="en-US" sz="2300" i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&lt;single table&gt;</a:t>
            </a:r>
            <a:b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[</a:t>
            </a:r>
            <a:r>
              <a:rPr lang="en-US" sz="2300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WHERE</a:t>
            </a: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r>
              <a:rPr lang="en-US" sz="2300" i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&lt;predicate&gt;</a:t>
            </a: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]</a:t>
            </a:r>
            <a:b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[</a:t>
            </a:r>
            <a:r>
              <a:rPr lang="en-US" sz="2300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GROUP BY</a:t>
            </a: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r>
              <a:rPr lang="en-US" sz="2300" i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&lt;column list&gt;</a:t>
            </a:r>
            <a:b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[</a:t>
            </a:r>
            <a:r>
              <a:rPr lang="en-US" sz="2300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HAVING</a:t>
            </a: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r>
              <a:rPr lang="en-US" sz="2300" i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&lt;predicate&gt;</a:t>
            </a: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] ]</a:t>
            </a:r>
            <a:b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[</a:t>
            </a:r>
            <a:r>
              <a:rPr lang="en-US" sz="2300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ORDER BY</a:t>
            </a: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</a:t>
            </a:r>
            <a:r>
              <a:rPr lang="en-US" sz="2300" i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&lt;column list&gt;</a:t>
            </a: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]</a:t>
            </a:r>
            <a:b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[</a:t>
            </a:r>
            <a:r>
              <a:rPr lang="en-US" sz="2300" b="1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LIMIT</a:t>
            </a:r>
            <a:r>
              <a:rPr lang="en-US" sz="2300" dirty="0"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 &lt;integer&gt;];</a:t>
            </a:r>
            <a:endParaRPr lang="en-US" sz="2300"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Helvetica Neue Light" panose="02000503000000020004"/>
              </a:rPr>
              <a:t>Join Queries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SELECT [DISTINCT]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&lt;column expression list&gt;</a:t>
            </a:r>
            <a:br>
              <a:rPr lang="en-US" sz="2800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sz="2800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FROM </a:t>
            </a:r>
            <a:r>
              <a:rPr lang="en-US" sz="2800" b="1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&lt;table1 [AS t1], ... , </a:t>
            </a:r>
            <a:r>
              <a:rPr lang="en-US" sz="2800" b="1" i="1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tableN</a:t>
            </a:r>
            <a:r>
              <a:rPr lang="en-US" sz="2800" b="1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 [AS </a:t>
            </a:r>
            <a:r>
              <a:rPr lang="en-US" sz="2800" b="1" i="1" dirty="0" err="1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tn</a:t>
            </a:r>
            <a:r>
              <a:rPr lang="en-US" sz="2800" b="1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]&gt;</a:t>
            </a:r>
            <a:br>
              <a:rPr lang="en-US" sz="2800" b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[WHERE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&lt;predicate&gt;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]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[GROUP BY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&lt;column list&gt;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[HAVING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&lt;predicate&gt;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] ]</a:t>
            </a:r>
            <a:b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</a:b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[ORDER BY </a:t>
            </a:r>
            <a:r>
              <a:rPr lang="en-US" i="1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&lt;column list&gt;</a:t>
            </a:r>
            <a:r>
              <a:rPr lang="en-US" dirty="0">
                <a:solidFill>
                  <a:srgbClr val="000000"/>
                </a:solidFill>
                <a:ea typeface="Helvetica Neue" panose="02000503000000020004" charset="0"/>
                <a:cs typeface="Helvetica Neue" panose="02000503000000020004" charset="0"/>
                <a:sym typeface="Tahoma" panose="020B0604030504040204"/>
              </a:rPr>
              <a:t>];</a:t>
            </a:r>
            <a:endParaRPr lang="en-US" dirty="0">
              <a:solidFill>
                <a:srgbClr val="000000"/>
              </a:solidFill>
              <a:ea typeface="Helvetica Neue" panose="02000503000000020004" charset="0"/>
              <a:cs typeface="Helvetica Neue" panose="02000503000000020004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209550"/>
            <a:ext cx="8664575" cy="667385"/>
          </a:xfrm>
        </p:spPr>
        <p:txBody>
          <a:bodyPr>
            <a:normAutofit fontScale="90000"/>
          </a:bodyPr>
          <a:lstStyle/>
          <a:p>
            <a:r>
              <a:rPr lang="en-US" sz="2665" dirty="0">
                <a:solidFill>
                  <a:srgbClr val="C00000"/>
                </a:solidFill>
              </a:rPr>
              <a:t>Reinitialize Sailors and Reserves using DELETE and INSERT</a:t>
            </a:r>
            <a:endParaRPr lang="en-US" sz="2665" dirty="0">
              <a:solidFill>
                <a:srgbClr val="C00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The modified tables are shown below:</a:t>
            </a:r>
            <a:endParaRPr lang="en-US" dirty="0"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9" name="Shape 148" descr="Table with sid, sname, rating, age of many sailors" title="Sailors"/>
          <p:cNvGraphicFramePr/>
          <p:nvPr/>
        </p:nvGraphicFramePr>
        <p:xfrm>
          <a:off x="238482" y="1874500"/>
          <a:ext cx="3577288" cy="13714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94322"/>
                <a:gridCol w="988461"/>
                <a:gridCol w="800183"/>
                <a:gridCol w="894322"/>
              </a:tblGrid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Garfield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4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Bob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5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19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sp>
        <p:nvSpPr>
          <p:cNvPr id="10" name="Shape 149"/>
          <p:cNvSpPr/>
          <p:nvPr/>
        </p:nvSpPr>
        <p:spPr>
          <a:xfrm>
            <a:off x="304800" y="1500757"/>
            <a:ext cx="14478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Sailors</a:t>
            </a:r>
            <a:endParaRPr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aphicFrame>
        <p:nvGraphicFramePr>
          <p:cNvPr id="11" name="Shape 150" descr="A table with sid, bid, day for many reserves" title="Reserves Table"/>
          <p:cNvGraphicFramePr/>
          <p:nvPr/>
        </p:nvGraphicFramePr>
        <p:xfrm>
          <a:off x="5410200" y="1874500"/>
          <a:ext cx="2556213" cy="10973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38200"/>
                <a:gridCol w="1104900"/>
                <a:gridCol w="613113"/>
              </a:tblGrid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bid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day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9/12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9/13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10/01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</a:tbl>
          </a:graphicData>
        </a:graphic>
      </p:graphicFrame>
      <p:sp>
        <p:nvSpPr>
          <p:cNvPr id="12" name="Shape 151"/>
          <p:cNvSpPr/>
          <p:nvPr/>
        </p:nvSpPr>
        <p:spPr>
          <a:xfrm>
            <a:off x="5681662" y="1441492"/>
            <a:ext cx="143351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Reserves</a:t>
            </a:r>
            <a:endParaRPr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Helvetica Neue Light" panose="02000503000000020004"/>
              </a:rPr>
              <a:t>Cross (Cartesian) Product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All pairs of tuples, concatenated</a:t>
            </a:r>
            <a:endParaRPr lang="en-US" dirty="0"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  <p:graphicFrame>
        <p:nvGraphicFramePr>
          <p:cNvPr id="9" name="Shape 148" descr="Table with sid, sname, rating, age of many sailors" title="Sailors"/>
          <p:cNvGraphicFramePr/>
          <p:nvPr/>
        </p:nvGraphicFramePr>
        <p:xfrm>
          <a:off x="238482" y="1874500"/>
          <a:ext cx="3577288" cy="13714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94322"/>
                <a:gridCol w="988461"/>
                <a:gridCol w="800183"/>
                <a:gridCol w="894322"/>
              </a:tblGrid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Garfield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4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Bob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5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19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sp>
        <p:nvSpPr>
          <p:cNvPr id="10" name="Shape 149"/>
          <p:cNvSpPr/>
          <p:nvPr/>
        </p:nvSpPr>
        <p:spPr>
          <a:xfrm>
            <a:off x="304800" y="1500757"/>
            <a:ext cx="14478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Sailors</a:t>
            </a:r>
            <a:endParaRPr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aphicFrame>
        <p:nvGraphicFramePr>
          <p:cNvPr id="11" name="Shape 150" descr="A table with sid, bid, day for many reserves" title="Reserves Table"/>
          <p:cNvGraphicFramePr/>
          <p:nvPr/>
        </p:nvGraphicFramePr>
        <p:xfrm>
          <a:off x="5410200" y="1874500"/>
          <a:ext cx="2556213" cy="10973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38200"/>
                <a:gridCol w="1104900"/>
                <a:gridCol w="613113"/>
              </a:tblGrid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bid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day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9/12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9/13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10/01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</a:tbl>
          </a:graphicData>
        </a:graphic>
      </p:graphicFrame>
      <p:sp>
        <p:nvSpPr>
          <p:cNvPr id="12" name="Shape 151"/>
          <p:cNvSpPr/>
          <p:nvPr/>
        </p:nvSpPr>
        <p:spPr>
          <a:xfrm>
            <a:off x="5681662" y="1441492"/>
            <a:ext cx="1433513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Reserves</a:t>
            </a:r>
            <a:endParaRPr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aphicFrame>
        <p:nvGraphicFramePr>
          <p:cNvPr id="13" name="Shape 152" descr="a cartesian product of the reserves and sailor table" title="Join"/>
          <p:cNvGraphicFramePr/>
          <p:nvPr/>
        </p:nvGraphicFramePr>
        <p:xfrm>
          <a:off x="664050" y="3410682"/>
          <a:ext cx="5812948" cy="16459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30421"/>
                <a:gridCol w="917834"/>
                <a:gridCol w="743009"/>
                <a:gridCol w="830421"/>
                <a:gridCol w="830421"/>
                <a:gridCol w="830421"/>
                <a:gridCol w="830421"/>
              </a:tblGrid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200" b="1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bid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day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9/13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101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10/01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11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...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5" y="210185"/>
            <a:ext cx="8664575" cy="667385"/>
          </a:xfrm>
        </p:spPr>
        <p:txBody>
          <a:bodyPr>
            <a:normAutofit/>
          </a:bodyPr>
          <a:lstStyle/>
          <a:p>
            <a:r>
              <a:rPr lang="en-US" dirty="0">
                <a:sym typeface="Helvetica Neue Light" panose="02000503000000020004"/>
              </a:rPr>
              <a:t>Find sailors who’ve reserved a boat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4648200" y="877824"/>
            <a:ext cx="8668512" cy="30906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SELECT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S.sid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0" lvl="0" indent="0"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FROM Sailors AS S, Reserves AS R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0" lvl="0" indent="0"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WHERE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S.sid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=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R.sid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</p:txBody>
      </p:sp>
      <p:graphicFrame>
        <p:nvGraphicFramePr>
          <p:cNvPr id="4" name="Shape 148" descr="Table with sid, sname, rating, age of many sailors" title="Sailors"/>
          <p:cNvGraphicFramePr/>
          <p:nvPr/>
        </p:nvGraphicFramePr>
        <p:xfrm>
          <a:off x="238482" y="1874500"/>
          <a:ext cx="3577288" cy="13714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94322"/>
                <a:gridCol w="988461"/>
                <a:gridCol w="800183"/>
                <a:gridCol w="894322"/>
              </a:tblGrid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Garfield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4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Bob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5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19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Shape 150" descr="A table with sid, bid, day for many reserves" title="Reserves Table"/>
          <p:cNvGraphicFramePr/>
          <p:nvPr/>
        </p:nvGraphicFramePr>
        <p:xfrm>
          <a:off x="5410200" y="1874500"/>
          <a:ext cx="2556213" cy="10973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38200"/>
                <a:gridCol w="1104900"/>
                <a:gridCol w="613113"/>
              </a:tblGrid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bid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day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9/12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9/13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10/01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Shape 152" descr="a cartesian product of the reserves and sailor table" title="Join"/>
          <p:cNvGraphicFramePr/>
          <p:nvPr/>
        </p:nvGraphicFramePr>
        <p:xfrm>
          <a:off x="664050" y="3410682"/>
          <a:ext cx="5812948" cy="16459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30421"/>
                <a:gridCol w="917834"/>
                <a:gridCol w="743009"/>
                <a:gridCol w="830421"/>
                <a:gridCol w="830421"/>
                <a:gridCol w="830421"/>
                <a:gridCol w="830421"/>
              </a:tblGrid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200" b="1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bid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day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9/13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101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10/01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11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20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20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9/12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2423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…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...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8" name="Group 7" descr="Lines crossing out the 2nd and 4th row of the join table" title="Horizontal Lines"/>
          <p:cNvGrpSpPr/>
          <p:nvPr/>
        </p:nvGrpSpPr>
        <p:grpSpPr>
          <a:xfrm>
            <a:off x="381000" y="4019550"/>
            <a:ext cx="6096000" cy="609600"/>
            <a:chOff x="381000" y="4019550"/>
            <a:chExt cx="6096000" cy="609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81000" y="4019550"/>
              <a:ext cx="6096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81000" y="4629150"/>
              <a:ext cx="6096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 descr="Liens crossing out rating, age, sid, day columns from the join table" title="Vertical Lines"/>
          <p:cNvGrpSpPr/>
          <p:nvPr/>
        </p:nvGrpSpPr>
        <p:grpSpPr>
          <a:xfrm>
            <a:off x="2590800" y="3118655"/>
            <a:ext cx="3247430" cy="1922047"/>
            <a:chOff x="2590800" y="3118655"/>
            <a:chExt cx="3247430" cy="1922047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2590800" y="3118655"/>
              <a:ext cx="0" cy="192204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276600" y="3118655"/>
              <a:ext cx="0" cy="192204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038600" y="3118655"/>
              <a:ext cx="0" cy="192204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838230" y="3118655"/>
              <a:ext cx="0" cy="192204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760" y="285750"/>
            <a:ext cx="8664575" cy="667385"/>
          </a:xfrm>
        </p:spPr>
        <p:txBody>
          <a:bodyPr>
            <a:normAutofit/>
          </a:bodyPr>
          <a:lstStyle/>
          <a:p>
            <a:r>
              <a:rPr lang="en-US" dirty="0">
                <a:sym typeface="Helvetica Neue Light" panose="02000503000000020004"/>
              </a:rPr>
              <a:t>Find sailors who’ve reserved a boat </a:t>
            </a:r>
            <a:r>
              <a:rPr lang="en-US" dirty="0" err="1">
                <a:sym typeface="Helvetica Neue Light" panose="02000503000000020004"/>
              </a:rPr>
              <a:t>cont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4648200" y="877824"/>
            <a:ext cx="8668512" cy="30906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SELECT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S.sid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0" lvl="0" indent="0"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FROM Sailors AS S, Reserves AS R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0" lvl="0" indent="0"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WHERE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S.sid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=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R.sid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</p:txBody>
      </p:sp>
      <p:graphicFrame>
        <p:nvGraphicFramePr>
          <p:cNvPr id="4" name="Shape 148" descr="Table with sid, sname, rating, age of many sailors" title="Sailors"/>
          <p:cNvGraphicFramePr/>
          <p:nvPr/>
        </p:nvGraphicFramePr>
        <p:xfrm>
          <a:off x="238482" y="1874500"/>
          <a:ext cx="3577288" cy="13714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94322"/>
                <a:gridCol w="988461"/>
                <a:gridCol w="800183"/>
                <a:gridCol w="894322"/>
              </a:tblGrid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rating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FF">
                        <a:alpha val="49412"/>
                      </a:srgbClr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</a:t>
                      </a:r>
                      <a:endParaRPr sz="1200" dirty="0"/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Garfield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sz="1200" dirty="0"/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08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4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Bob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5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19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91450" marR="9145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Shape 150" descr="A table with sid, bid, day for many reserves" title="Reserves Table"/>
          <p:cNvGraphicFramePr/>
          <p:nvPr/>
        </p:nvGraphicFramePr>
        <p:xfrm>
          <a:off x="5410200" y="1874500"/>
          <a:ext cx="2556213" cy="10973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38200"/>
                <a:gridCol w="1104900"/>
                <a:gridCol w="613113"/>
              </a:tblGrid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sid</a:t>
                      </a:r>
                      <a:endParaRPr sz="1200" b="1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bid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day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9EEB">
                        <a:alpha val="49803"/>
                      </a:srgbClr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9/12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102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9/13</a:t>
                      </a:r>
                      <a:endParaRPr sz="1200" dirty="0"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FA"/>
                    </a:solidFill>
                  </a:tcPr>
                </a:tc>
              </a:tr>
              <a:tr h="2505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Helvetica Neue" panose="02000503000000020004" charset="0"/>
                          <a:ea typeface="Helvetica Neue" panose="02000503000000020004" charset="0"/>
                          <a:cs typeface="Helvetica Neue" panose="02000503000000020004" charset="0"/>
                          <a:sym typeface="Tahoma" panose="020B0604030504040204"/>
                        </a:rPr>
                        <a:t>10/01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Helvetica Neue" panose="02000503000000020004" charset="0"/>
                        <a:ea typeface="Helvetica Neue" panose="02000503000000020004" charset="0"/>
                        <a:cs typeface="Helvetica Neue" panose="02000503000000020004" charset="0"/>
                        <a:sym typeface="Tahoma" panose="020B06040305040402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Shape 152" descr="The true join table of all of the sailors who have reserved a boat" title="Result"/>
          <p:cNvGraphicFramePr/>
          <p:nvPr/>
        </p:nvGraphicFramePr>
        <p:xfrm>
          <a:off x="2809012" y="3505990"/>
          <a:ext cx="2548800" cy="118877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20800"/>
                <a:gridCol w="907200"/>
                <a:gridCol w="820800"/>
              </a:tblGrid>
              <a:tr h="29721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sid</a:t>
                      </a:r>
                      <a:endParaRPr sz="1500" b="1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500" b="1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bid</a:t>
                      </a:r>
                      <a:endParaRPr sz="1400" dirty="0"/>
                    </a:p>
                  </a:txBody>
                  <a:tcPr marL="68588" marR="68588" marT="34294" marB="34294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/>
                    </a:solidFill>
                  </a:tcPr>
                </a:tc>
              </a:tr>
              <a:tr h="2971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400"/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5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400" dirty="0"/>
                    </a:p>
                  </a:txBody>
                  <a:tcPr marL="68588" marR="68588" marT="34294" marB="34294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FB"/>
                    </a:solidFill>
                  </a:tcPr>
                </a:tc>
              </a:tr>
              <a:tr h="2971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</a:t>
                      </a:r>
                      <a:endParaRPr sz="1400" dirty="0"/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5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101</a:t>
                      </a:r>
                      <a:endParaRPr sz="15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94" marB="34294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971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</a:t>
                      </a:r>
                      <a:endParaRPr sz="1400" dirty="0"/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500" b="0" i="0" u="none" strike="noStrike" cap="none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102</a:t>
                      </a:r>
                      <a:endParaRPr sz="1400" dirty="0"/>
                    </a:p>
                  </a:txBody>
                  <a:tcPr marL="68588" marR="68588" marT="34294" marB="34294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3300" dirty="0">
                <a:sym typeface="Helvetica Neue Light" panose="02000503000000020004"/>
              </a:rPr>
              <a:t>Column Names and Table Aliases</a:t>
            </a:r>
            <a:endParaRPr lang="en-US" sz="3300" dirty="0">
              <a:sym typeface="Helvetica Neue Light" panose="020005030000000200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</p:nvPr>
        </p:nvSpPr>
        <p:spPr>
          <a:xfrm>
            <a:off x="247015" y="1221105"/>
            <a:ext cx="8668385" cy="2929890"/>
          </a:xfrm>
        </p:spPr>
        <p:txBody>
          <a:bodyPr>
            <a:normAutofit/>
          </a:bodyPr>
          <a:lstStyle/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SELECT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Sailors.sid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,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sname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, bid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FROM Sailors, Reserves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WHERE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Sailors.sid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 =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Reserves.sid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19050" indent="0">
              <a:spcBef>
                <a:spcPts val="240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SELECT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,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sname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, bid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FROM Sailors AS S, Reserves AS R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WHERE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 =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R.sid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65" dirty="0"/>
              <a:t>More Aliases</a:t>
            </a:r>
            <a:endParaRPr lang="en-US" sz="3665" dirty="0"/>
          </a:p>
        </p:txBody>
      </p:sp>
      <p:sp>
        <p:nvSpPr>
          <p:cNvPr id="195" name="Shape 195"/>
          <p:cNvSpPr txBox="1">
            <a:spLocks noGrp="1"/>
          </p:cNvSpPr>
          <p:nvPr>
            <p:ph sz="quarter" idx="13"/>
          </p:nvPr>
        </p:nvSpPr>
        <p:spPr>
          <a:xfrm>
            <a:off x="76200" y="1364012"/>
            <a:ext cx="8668512" cy="3090672"/>
          </a:xfrm>
        </p:spPr>
        <p:txBody>
          <a:bodyPr>
            <a:normAutofit/>
          </a:bodyPr>
          <a:lstStyle/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SELECT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x.sname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,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x.age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, 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	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y.sname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 AS sname2, 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	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y.age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 AS age2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FROM Sailors AS x, Sailors AS y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WHERE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x.age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 &gt;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y.age</a:t>
            </a:r>
            <a:endParaRPr lang="en-US" dirty="0"/>
          </a:p>
        </p:txBody>
      </p:sp>
      <p:graphicFrame>
        <p:nvGraphicFramePr>
          <p:cNvPr id="198" name="Shape 198" descr="A table with columns sname, age, sname2, age2 produced as a result of the SQL query" title="Result of Select query"/>
          <p:cNvGraphicFramePr/>
          <p:nvPr/>
        </p:nvGraphicFramePr>
        <p:xfrm>
          <a:off x="5686424" y="1154535"/>
          <a:ext cx="3280809" cy="203433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837645"/>
                <a:gridCol w="688181"/>
                <a:gridCol w="940595"/>
                <a:gridCol w="814388"/>
              </a:tblGrid>
              <a:tr h="22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</a:t>
                      </a:r>
                      <a:endParaRPr sz="1400" dirty="0"/>
                    </a:p>
                  </a:txBody>
                  <a:tcPr marL="68588" marR="68588" marT="34275" marB="3427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</a:t>
                      </a:r>
                      <a:endParaRPr sz="1400" dirty="0"/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sname2</a:t>
                      </a:r>
                      <a:endParaRPr sz="1400" dirty="0"/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age2</a:t>
                      </a:r>
                      <a:endParaRPr sz="1400" dirty="0"/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FFF">
                        <a:alpha val="49803"/>
                      </a:srgbClr>
                    </a:solidFill>
                  </a:tcPr>
                </a:tc>
              </a:tr>
              <a:tr h="29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400" dirty="0"/>
                    </a:p>
                  </a:txBody>
                  <a:tcPr marL="68588" marR="68588" marT="34275" marB="3427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Bob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19</a:t>
                      </a:r>
                      <a:endParaRPr sz="1400" dirty="0"/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</a:tr>
              <a:tr h="29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400" dirty="0"/>
                    </a:p>
                  </a:txBody>
                  <a:tcPr marL="68588" marR="68588" marT="34275" marB="3427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sz="1400" dirty="0"/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297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400" dirty="0"/>
                    </a:p>
                  </a:txBody>
                  <a:tcPr marL="68588" marR="68588" marT="34275" marB="3427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Garfield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sz="1400" dirty="0"/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OliveOyl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39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Bob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19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Garfield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Popeye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22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Garfield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27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Bob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 panose="020B06040305040402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  <a:sym typeface="Tahoma" panose="020B0604030504040204"/>
                        </a:rPr>
                        <a:t>19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ahoma" panose="020B0604030504040204"/>
                        <a:ea typeface="Tahoma" panose="020B0604030504040204"/>
                        <a:cs typeface="Tahoma" panose="020B0604030504040204"/>
                        <a:sym typeface="Tahoma" panose="020B0604030504040204"/>
                      </a:endParaRPr>
                    </a:p>
                  </a:txBody>
                  <a:tcPr marL="68588" marR="68588" marT="34275" marB="3427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Helvetica Neue Light" panose="02000503000000020004"/>
              </a:rPr>
              <a:t>Arithmetic Expressions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47015" y="1199515"/>
            <a:ext cx="8668385" cy="295148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2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SELECT </a:t>
            </a:r>
            <a:r>
              <a:rPr lang="en-US" sz="2200" dirty="0" err="1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S.age</a:t>
            </a:r>
            <a:r>
              <a:rPr lang="en-US" sz="22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, </a:t>
            </a:r>
            <a:r>
              <a:rPr lang="en-US" sz="2200" b="1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S.age-5 AS age1, 2*</a:t>
            </a:r>
            <a:r>
              <a:rPr lang="en-US" sz="2200" b="1" dirty="0" err="1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S.age</a:t>
            </a:r>
            <a:r>
              <a:rPr lang="en-US" sz="2200" b="1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 AS age2</a:t>
            </a:r>
            <a:endParaRPr lang="en-US" sz="2200" b="1" dirty="0">
              <a:ea typeface="Helvetica Neue" panose="02000503000000020004" charset="0"/>
              <a:cs typeface="Helvetica Neue" panose="02000503000000020004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22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FROM   Sailors AS S</a:t>
            </a:r>
            <a:endParaRPr lang="en-US" sz="2200" dirty="0"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22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WHERE  </a:t>
            </a:r>
            <a:r>
              <a:rPr lang="en-US" sz="2200" dirty="0" err="1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S.sname</a:t>
            </a:r>
            <a:r>
              <a:rPr lang="en-US" sz="22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 = 'Popeye’</a:t>
            </a:r>
            <a:endParaRPr lang="en-US" sz="2200" dirty="0"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>
              <a:spcBef>
                <a:spcPts val="6000"/>
              </a:spcBef>
            </a:pPr>
            <a:r>
              <a:rPr lang="en-US" sz="22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SELECT S1.sname AS name1, S2.sname AS name2</a:t>
            </a:r>
            <a:endParaRPr lang="en-US" sz="2200" dirty="0">
              <a:ea typeface="Helvetica Neue" panose="02000503000000020004" charset="0"/>
              <a:cs typeface="Helvetica Neue" panose="02000503000000020004" charset="0"/>
            </a:endParaRPr>
          </a:p>
          <a:p>
            <a:pPr marL="685800" lvl="0" indent="0">
              <a:spcBef>
                <a:spcPts val="0"/>
              </a:spcBef>
              <a:buNone/>
            </a:pPr>
            <a:r>
              <a:rPr lang="en-US" sz="22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FROM   Sailors AS S1, Sailors AS S2</a:t>
            </a:r>
            <a:endParaRPr lang="en-US" sz="2200" dirty="0"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marL="685800" lvl="0" indent="0">
              <a:spcBef>
                <a:spcPts val="0"/>
              </a:spcBef>
              <a:buNone/>
            </a:pPr>
            <a:r>
              <a:rPr lang="en-US" sz="22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WHERE  </a:t>
            </a:r>
            <a:r>
              <a:rPr lang="en-US" sz="2200" b="1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2*S1.rating = S2.rating - 1</a:t>
            </a:r>
            <a:endParaRPr lang="en-US" sz="2200" b="1" dirty="0">
              <a:ea typeface="Helvetica Neue" panose="02000503000000020004" charset="0"/>
              <a:cs typeface="Helvetica Neue" panose="020005030000000200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SQL Calculator</a:t>
            </a:r>
            <a:endParaRPr lang="en-US" sz="3300" dirty="0"/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SELECT 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log(1000) as three,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exp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(ln(2)) as two, 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cos(0) as one,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ln(2*3) = ln(2) + ln(3) as sanity; 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buNone/>
            </a:pP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5" y="209550"/>
            <a:ext cx="8643620" cy="667385"/>
          </a:xfrm>
        </p:spPr>
        <p:txBody>
          <a:bodyPr>
            <a:normAutofit/>
          </a:bodyPr>
          <a:lstStyle/>
          <a:p>
            <a:r>
              <a:rPr lang="en-US" sz="3665" dirty="0">
                <a:sym typeface="Helvetica Neue Light" panose="02000503000000020004"/>
              </a:rPr>
              <a:t>String Comparisons</a:t>
            </a:r>
            <a:endParaRPr lang="en-US" sz="3665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indent="-457200" fontAlgn="auto">
              <a:lnSpc>
                <a:spcPct val="100000"/>
              </a:lnSpc>
              <a:spcBef>
                <a:spcPts val="0"/>
              </a:spcBef>
            </a:pPr>
            <a:r>
              <a:rPr lang="en-US" sz="30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LIKE</a:t>
            </a:r>
            <a:endParaRPr lang="en-US" sz="3000" dirty="0"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marL="914400" lvl="1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SELECT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S.sname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marL="91440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FROM   Sailors S</a:t>
            </a:r>
            <a:endParaRPr lang="en-US" sz="2800" dirty="0">
              <a:ea typeface="Helvetica Neue" panose="02000503000000020004" charset="0"/>
              <a:cs typeface="Helvetica Neue" panose="02000503000000020004" charset="0"/>
            </a:endParaRPr>
          </a:p>
          <a:p>
            <a:pPr marL="91440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WHERE  </a:t>
            </a:r>
            <a:r>
              <a:rPr lang="en-US" sz="2800" b="1" dirty="0" err="1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S.sname</a:t>
            </a:r>
            <a:r>
              <a:rPr lang="en-US" sz="2800" b="1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 LIKE 'B_%’</a:t>
            </a:r>
            <a:endParaRPr lang="en-US" sz="2800" b="1" dirty="0"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lvl="0" indent="-457200" fontAlgn="auto">
              <a:lnSpc>
                <a:spcPct val="100000"/>
              </a:lnSpc>
              <a:spcBef>
                <a:spcPts val="3000"/>
              </a:spcBef>
            </a:pPr>
            <a:r>
              <a:rPr lang="en-US" sz="3100" dirty="0"/>
              <a:t>Standard Regular Expressions</a:t>
            </a:r>
            <a:endParaRPr lang="en-US" sz="3100" b="1" dirty="0"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marL="914400" lvl="1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SELECT </a:t>
            </a:r>
            <a:r>
              <a:rPr lang="en-US" dirty="0" err="1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S.sname</a:t>
            </a:r>
            <a:endParaRPr lang="en-US" dirty="0"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marL="914400" lv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FROM   Sailors S</a:t>
            </a:r>
            <a:endParaRPr lang="en-US" sz="2800" dirty="0">
              <a:ea typeface="Helvetica Neue" panose="02000503000000020004" charset="0"/>
              <a:cs typeface="Helvetica Neue" panose="02000503000000020004" charset="0"/>
            </a:endParaRPr>
          </a:p>
          <a:p>
            <a:pPr marL="914400" lv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WHERE  </a:t>
            </a:r>
            <a:r>
              <a:rPr lang="en-US" sz="2800" b="1" dirty="0" err="1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S.sname</a:t>
            </a:r>
            <a:r>
              <a:rPr lang="en-US" sz="2800" b="1" dirty="0"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 ~ 'B.*’</a:t>
            </a:r>
            <a:endParaRPr lang="en-US" sz="2800" b="1" dirty="0"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5" y="311150"/>
            <a:ext cx="8779510" cy="667385"/>
          </a:xfrm>
        </p:spPr>
        <p:txBody>
          <a:bodyPr>
            <a:noAutofit/>
          </a:bodyPr>
          <a:lstStyle/>
          <a:p>
            <a:r>
              <a:rPr lang="en-US" sz="2800" dirty="0">
                <a:sym typeface="Helvetica Neue Light" panose="02000503000000020004"/>
              </a:rPr>
              <a:t>Sid’s of sailors who reserved a red </a:t>
            </a:r>
            <a:r>
              <a:rPr lang="en-US" sz="2800" b="1" dirty="0">
                <a:sym typeface="Helvetica Neue" panose="02000503000000020004"/>
              </a:rPr>
              <a:t>OR</a:t>
            </a:r>
            <a:r>
              <a:rPr lang="en-US" sz="2800" dirty="0">
                <a:sym typeface="Helvetica Neue Light" panose="02000503000000020004"/>
              </a:rPr>
              <a:t> a green boat</a:t>
            </a:r>
            <a:endParaRPr lang="en-US" sz="2800" dirty="0">
              <a:sym typeface="Helvetica Neue Light" panose="02000503000000020004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239800" y="1581150"/>
            <a:ext cx="8668512" cy="3090672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endParaRPr lang="en-US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Boats B, Reserves 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AND</a:t>
            </a:r>
            <a:endParaRPr lang="en-US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914400" indent="0">
              <a:spcBef>
                <a:spcPts val="0"/>
              </a:spcBef>
              <a:buNone/>
            </a:pPr>
            <a:r>
              <a:rPr lang="en-US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='red' </a:t>
            </a:r>
            <a:r>
              <a:rPr lang="en-US" b="1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OR</a:t>
            </a:r>
            <a:r>
              <a:rPr lang="en-US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='green')</a:t>
            </a:r>
            <a:endParaRPr lang="en-US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015" y="311150"/>
            <a:ext cx="8718550" cy="667385"/>
          </a:xfrm>
        </p:spPr>
        <p:txBody>
          <a:bodyPr>
            <a:noAutofit/>
          </a:bodyPr>
          <a:lstStyle/>
          <a:p>
            <a:r>
              <a:rPr lang="en-US" sz="2600" dirty="0">
                <a:sym typeface="Helvetica Neue Light" panose="02000503000000020004"/>
              </a:rPr>
              <a:t>Sid’s of sailors who reserved a red </a:t>
            </a:r>
            <a:r>
              <a:rPr lang="en-US" sz="2600" b="1" dirty="0">
                <a:sym typeface="Helvetica Neue" panose="02000503000000020004"/>
              </a:rPr>
              <a:t>OR</a:t>
            </a:r>
            <a:r>
              <a:rPr lang="en-US" sz="2600" dirty="0">
                <a:sym typeface="Helvetica Neue Light" panose="02000503000000020004"/>
              </a:rPr>
              <a:t> a green boat Pt 2</a:t>
            </a:r>
            <a:endParaRPr lang="en-US" sz="26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247015" y="1011555"/>
            <a:ext cx="8668385" cy="3994785"/>
          </a:xfrm>
        </p:spPr>
        <p:txBody>
          <a:bodyPr>
            <a:normAutofit fontScale="67500" lnSpcReduction="20000"/>
          </a:bodyPr>
          <a:lstStyle/>
          <a:p>
            <a:pPr marL="1905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B,Reserves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AND 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91440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='red’ OR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='green')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VS…</a:t>
            </a:r>
            <a:endParaRPr lang="en-US" b="1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 B, Reserves 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AND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='red'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UNION ALL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 B, Reserves 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AND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='green'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914400" indent="0">
              <a:buNone/>
            </a:pP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290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Find sailors who have </a:t>
            </a:r>
            <a:r>
              <a:rPr lang="en-US" sz="2800" b="1" dirty="0"/>
              <a:t>not</a:t>
            </a:r>
            <a:r>
              <a:rPr lang="en-US" sz="2800" dirty="0"/>
              <a:t> reserved a boat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</p:nvPr>
        </p:nvSpPr>
        <p:spPr>
          <a:xfrm>
            <a:off x="247015" y="1108075"/>
            <a:ext cx="8668385" cy="3731895"/>
          </a:xfrm>
        </p:spPr>
        <p:txBody>
          <a:bodyPr>
            <a:normAutofit/>
          </a:bodyPr>
          <a:lstStyle/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Sailors S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EXCEPT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Sailors S, Reserves R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Queries: IN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 anchor="t" anchorCtr="0"/>
          <a:lstStyle/>
          <a:p>
            <a:pPr lvl="0"/>
            <a:r>
              <a:rPr lang="en-US" sz="2100" i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Book Antiqua"/>
              </a:rPr>
              <a:t>Names of sailors who’ve reserved boat #102:</a:t>
            </a:r>
            <a:endParaRPr lang="en-US" sz="2100" i="1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Book Antiqua"/>
            </a:endParaRPr>
          </a:p>
          <a:p>
            <a:pPr marL="685800" indent="0">
              <a:spcBef>
                <a:spcPts val="225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S.sname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lvl="2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Sailors S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lvl="2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IN 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097280" lvl="2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097280" lvl="2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 Reserves R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097280" lvl="2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=102)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  <p:cxnSp>
        <p:nvCxnSpPr>
          <p:cNvPr id="344" name="Shape 344" descr="Arrow poining to the SELECT statement within the outer select statmeent" title="Subquery Arrow"/>
          <p:cNvCxnSpPr/>
          <p:nvPr/>
        </p:nvCxnSpPr>
        <p:spPr>
          <a:xfrm flipH="1">
            <a:off x="4648200" y="2762250"/>
            <a:ext cx="1371600" cy="800100"/>
          </a:xfrm>
          <a:prstGeom prst="straightConnector1">
            <a:avLst/>
          </a:prstGeom>
          <a:solidFill>
            <a:srgbClr val="3366FF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345" name="Shape 345" descr="Arrow poining to the SELECT statement within the outer select statmeent"/>
          <p:cNvSpPr txBox="1"/>
          <p:nvPr/>
        </p:nvSpPr>
        <p:spPr>
          <a:xfrm>
            <a:off x="6155890" y="2531906"/>
            <a:ext cx="137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r>
              <a:rPr lang="en-US" sz="2100" b="1" dirty="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subquery</a:t>
            </a:r>
            <a:endParaRPr sz="2100" b="1" dirty="0"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Queries: NOT 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 anchorCtr="0">
            <a:normAutofit/>
          </a:bodyPr>
          <a:lstStyle/>
          <a:p>
            <a:pPr indent="-342900">
              <a:spcBef>
                <a:spcPts val="0"/>
              </a:spcBef>
            </a:pPr>
            <a:r>
              <a:rPr lang="en-US" sz="2100" i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Book Antiqua"/>
              </a:rPr>
              <a:t>Names of sailors who’ve </a:t>
            </a:r>
            <a:r>
              <a:rPr lang="en-US" sz="2100" b="1" i="1" u="sng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Book Antiqua"/>
              </a:rPr>
              <a:t>not</a:t>
            </a:r>
            <a:r>
              <a:rPr lang="en-US" sz="2100" b="1" i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Book Antiqua"/>
              </a:rPr>
              <a:t> </a:t>
            </a:r>
            <a:r>
              <a:rPr lang="en-US" sz="2100" i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Book Antiqua"/>
              </a:rPr>
              <a:t>reserved boat #103:</a:t>
            </a:r>
            <a:endParaRPr lang="en-US" sz="2100" i="1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Book Antiqua"/>
            </a:endParaRPr>
          </a:p>
          <a:p>
            <a:pPr marL="685800" indent="0">
              <a:spcBef>
                <a:spcPts val="300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S.sname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Sailors S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NOT IN 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097280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097280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Reserves R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097280" indent="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=103)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Queries: EXISTS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976630"/>
            <a:ext cx="7772400" cy="3938270"/>
          </a:xfrm>
        </p:spPr>
        <p:txBody>
          <a:bodyPr anchor="t" anchorCtr="0">
            <a:normAutofit/>
          </a:bodyPr>
          <a:lstStyle/>
          <a:p>
            <a:pPr marL="685800" indent="-551180">
              <a:spcBef>
                <a:spcPts val="300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S.sname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-55118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Sailors S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-55118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EXISTS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-55118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(SELECT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-55118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FROM  Reserves R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-551180">
              <a:spcBef>
                <a:spcPts val="0"/>
              </a:spcBef>
              <a:buNone/>
            </a:pP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WHERE  </a:t>
            </a:r>
            <a:r>
              <a:rPr lang="en-US" sz="21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2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=103)</a:t>
            </a:r>
            <a:endParaRPr lang="en-US" sz="21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 with Correlation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87425"/>
            <a:ext cx="7772400" cy="3938270"/>
          </a:xfrm>
        </p:spPr>
        <p:txBody>
          <a:bodyPr anchor="t" anchorCtr="0"/>
          <a:lstStyle/>
          <a:p>
            <a:pPr marL="257175" indent="-257175">
              <a:spcBef>
                <a:spcPts val="360"/>
              </a:spcBef>
              <a:buSzPts val="2400"/>
            </a:pPr>
            <a:r>
              <a:rPr lang="en-US" sz="1800" i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Book Antiqua"/>
              </a:rPr>
              <a:t>Names of sailors who’ve reserved boat #102:</a:t>
            </a:r>
            <a:endParaRPr lang="en-US" sz="1800" i="1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Book Antiqua"/>
            </a:endParaRPr>
          </a:p>
          <a:p>
            <a:pPr marL="685800" indent="0">
              <a:spcBef>
                <a:spcPts val="200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S.sname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 Sailors S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18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EXISTS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09728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 *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09728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Reserves R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09728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=102 AND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)</a:t>
            </a:r>
            <a:endParaRPr lang="en-US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7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Set-Comparison Operators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906780"/>
            <a:ext cx="7772400" cy="4008120"/>
          </a:xfrm>
        </p:spPr>
        <p:txBody>
          <a:bodyPr>
            <a:normAutofit/>
          </a:bodyPr>
          <a:lstStyle/>
          <a:p>
            <a:pPr marL="257175" indent="-257175">
              <a:spcBef>
                <a:spcPts val="360"/>
              </a:spcBef>
              <a:buSzPts val="2400"/>
            </a:pPr>
            <a:r>
              <a:rPr lang="en-US" dirty="0"/>
              <a:t>Other forms: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op ANY,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+mn-ea"/>
              </a:rPr>
              <a:t>op SOME,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op ALL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2000"/>
              </a:spcBef>
              <a:buSzPts val="2400"/>
              <a:buNone/>
            </a:pPr>
            <a:r>
              <a:rPr lang="en-US" dirty="0"/>
              <a:t>Find sailors whose rating is greater than that of </a:t>
            </a:r>
            <a:r>
              <a:rPr lang="en-US" i="1" dirty="0"/>
              <a:t>some</a:t>
            </a:r>
            <a:r>
              <a:rPr lang="en-US" dirty="0"/>
              <a:t> sailor called Popeye:</a:t>
            </a:r>
            <a:endParaRPr lang="en-US" dirty="0"/>
          </a:p>
          <a:p>
            <a:pPr marL="0" indent="0">
              <a:spcBef>
                <a:spcPts val="200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Sailors S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S.rating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&gt; SOME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09728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 S2.rating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09728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Sailors S2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09728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S2.sname='Popeye')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ARGMAX? Pt 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857250"/>
            <a:ext cx="7772400" cy="3829050"/>
          </a:xfrm>
        </p:spPr>
        <p:txBody>
          <a:bodyPr anchor="t" anchorCtr="0"/>
          <a:lstStyle/>
          <a:p>
            <a:pPr marL="257175" indent="-257175">
              <a:spcBef>
                <a:spcPts val="0"/>
              </a:spcBef>
            </a:pPr>
            <a:r>
              <a:rPr lang="en-US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The sailor with the highest rating</a:t>
            </a:r>
            <a:endParaRPr lang="en-US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</a:endParaRPr>
          </a:p>
          <a:p>
            <a:pPr marL="257175" indent="-257175">
              <a:spcBef>
                <a:spcPts val="0"/>
              </a:spcBef>
            </a:pPr>
            <a:r>
              <a:rPr lang="en-US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Correct or Incorrect?</a:t>
            </a:r>
            <a:endParaRPr lang="en-US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</a:endParaRPr>
          </a:p>
          <a:p>
            <a:pPr marL="685800" indent="0">
              <a:spcBef>
                <a:spcPts val="225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MAX(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S.rating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)</a:t>
            </a:r>
            <a:b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</a:b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Sailors S;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2250"/>
              </a:spcBef>
              <a:buNone/>
            </a:pPr>
            <a:r>
              <a:rPr lang="en-US" sz="1700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VS</a:t>
            </a:r>
            <a:endParaRPr lang="en-US" sz="1700" b="1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marL="685800" indent="0">
              <a:spcBef>
                <a:spcPts val="225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S.*, MAX(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S.rating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)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Sailors S;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42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ARGMAX? Pt 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705" y="857250"/>
            <a:ext cx="7772400" cy="3829050"/>
          </a:xfrm>
        </p:spPr>
        <p:txBody>
          <a:bodyPr>
            <a:normAutofit fontScale="70000" lnSpcReduction="20000"/>
          </a:bodyPr>
          <a:lstStyle/>
          <a:p>
            <a:pPr marL="257175" indent="-257175">
              <a:spcBef>
                <a:spcPts val="0"/>
              </a:spcBef>
            </a:pPr>
            <a:r>
              <a:rPr lang="en-US" sz="34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The sailor with the highest rating</a:t>
            </a:r>
            <a:endParaRPr lang="en-US" sz="3400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</a:endParaRPr>
          </a:p>
          <a:p>
            <a:pPr marL="257175" indent="-257175">
              <a:spcBef>
                <a:spcPts val="0"/>
              </a:spcBef>
              <a:spcAft>
                <a:spcPts val="1000"/>
              </a:spcAft>
            </a:pPr>
            <a:r>
              <a:rPr lang="en-US" sz="34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Correct or Incorrect? Same or different?</a:t>
            </a:r>
            <a:endParaRPr lang="en-US" sz="3400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</a:endParaRPr>
          </a:p>
          <a:p>
            <a:pPr marL="685800" indent="0">
              <a:spcBef>
                <a:spcPts val="1125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Sailors S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S.rating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&gt;= ALL 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85725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 S2.rating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85725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Sailors S2)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1500"/>
              </a:spcBef>
              <a:buNone/>
            </a:pPr>
            <a:r>
              <a:rPr lang="en-US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VS</a:t>
            </a:r>
            <a:endParaRPr lang="en-US" b="1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marL="685800" indent="0">
              <a:spcBef>
                <a:spcPts val="150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Sailors S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S.rating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9144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 MAX(S2.rating)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9144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Sailors S2)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43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ARGMAX? Pt 3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028700"/>
            <a:ext cx="7772400" cy="3829050"/>
          </a:xfrm>
        </p:spPr>
        <p:txBody>
          <a:bodyPr>
            <a:normAutofit fontScale="92500" lnSpcReduction="10000"/>
          </a:bodyPr>
          <a:lstStyle/>
          <a:p>
            <a:pPr marL="257175" indent="-257175">
              <a:spcBef>
                <a:spcPts val="0"/>
              </a:spcBef>
            </a:pPr>
            <a:r>
              <a:rPr lang="en-US" sz="2600" dirty="0"/>
              <a:t>The sailor with the highest rating</a:t>
            </a:r>
            <a:endParaRPr lang="en-US" sz="2600" dirty="0"/>
          </a:p>
          <a:p>
            <a:pPr marL="257175" indent="-257175">
              <a:spcBef>
                <a:spcPts val="0"/>
              </a:spcBef>
            </a:pPr>
            <a:r>
              <a:rPr lang="en-US" sz="26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Correct or Incorrect? Same or different?</a:t>
            </a:r>
            <a:endParaRPr lang="en-US" sz="2600" dirty="0"/>
          </a:p>
          <a:p>
            <a:pPr marL="685800" indent="0">
              <a:spcBef>
                <a:spcPts val="150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Sailors S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S.rating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&gt;= ALL 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9144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 S2.rating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9144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Sailors S2)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1500"/>
              </a:spcBef>
              <a:buNone/>
            </a:pPr>
            <a:r>
              <a:rPr lang="en-US" sz="1800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  <a:sym typeface="Droid Sans Mono"/>
              </a:rPr>
              <a:t>VS</a:t>
            </a:r>
            <a:endParaRPr lang="en-US" sz="1800" b="1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Droid Sans Mono"/>
            </a:endParaRPr>
          </a:p>
          <a:p>
            <a:pPr marL="685800" indent="0">
              <a:spcBef>
                <a:spcPts val="150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  Sailors S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ORDER BY rating DESC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LIMIT 1;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“Inner” Joins: Another Syntax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t">
            <a:noAutofit/>
          </a:bodyPr>
          <a:lstStyle/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SELECT s.*,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r.bid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FROM Sailors s, Reserves r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WHERE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 =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r.sid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AND ...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19050" indent="0">
              <a:buNone/>
            </a:pP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SELECT s.*,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r.bid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FROM Sailors s INNER JOIN Reserves r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ON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s.sid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 =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r.sid</a:t>
            </a:r>
            <a:b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Tahoma" panose="020B0604030504040204"/>
              </a:rPr>
              <a:t>WHERE ...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Inner/Natural Joins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SzPts val="1600"/>
              <a:buNone/>
            </a:pP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s.sname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0"/>
              </a:spcBef>
              <a:buSzPts val="1600"/>
              <a:buNone/>
            </a:pP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Sailors s, Reserves 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240"/>
              </a:spcBef>
              <a:buSzPts val="1600"/>
              <a:buNone/>
            </a:pP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95885" indent="0">
              <a:spcBef>
                <a:spcPts val="240"/>
              </a:spcBef>
              <a:buSzPts val="1600"/>
              <a:buNone/>
            </a:pP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AND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s.age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&gt; 20;	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1500"/>
              </a:spcBef>
              <a:buSzPts val="1600"/>
              <a:buNone/>
            </a:pP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s.sname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240"/>
              </a:spcBef>
              <a:buSzPts val="1600"/>
              <a:buNone/>
            </a:pP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Sailors s </a:t>
            </a:r>
            <a:r>
              <a:rPr lang="en-US" sz="12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INNER JOIN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Reserves 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240"/>
              </a:spcBef>
              <a:buSzPts val="1600"/>
              <a:buNone/>
            </a:pPr>
            <a:r>
              <a:rPr lang="en-US" sz="12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ON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240"/>
              </a:spcBef>
              <a:buSzPts val="1600"/>
              <a:buNone/>
            </a:pP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s.age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&gt; 20;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2250"/>
              </a:spcBef>
              <a:buSzPts val="1600"/>
              <a:buNone/>
            </a:pP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s.sname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240"/>
              </a:spcBef>
              <a:buSzPts val="1600"/>
              <a:buNone/>
            </a:pP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Sailors s </a:t>
            </a:r>
            <a:r>
              <a:rPr lang="en-US" sz="12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NATURAL JOIN 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Reserves r</a:t>
            </a:r>
            <a:b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</a:b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12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s.age</a:t>
            </a:r>
            <a:r>
              <a:rPr lang="en-US" sz="12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&gt; 20;</a:t>
            </a:r>
            <a:endParaRPr lang="en-US" sz="12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257175" indent="-257175">
              <a:spcBef>
                <a:spcPts val="2250"/>
              </a:spcBef>
              <a:buClr>
                <a:schemeClr val="dk1"/>
              </a:buClr>
              <a:buSzPts val="1800"/>
            </a:pPr>
            <a:r>
              <a:rPr lang="en-US" sz="1500" b="1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ALL 3 ARE EQUIVALENT!</a:t>
            </a:r>
            <a:endParaRPr lang="en-US" sz="1500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</a:endParaRPr>
          </a:p>
          <a:p>
            <a:pPr marL="257175" indent="-257175">
              <a:spcBef>
                <a:spcPts val="270"/>
              </a:spcBef>
              <a:buClr>
                <a:schemeClr val="dk1"/>
              </a:buClr>
              <a:buSzPts val="1800"/>
            </a:pPr>
            <a:r>
              <a:rPr lang="en-US" sz="135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“NATURAL” means </a:t>
            </a:r>
            <a:r>
              <a:rPr lang="en-US" sz="1350" dirty="0" err="1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equi</a:t>
            </a:r>
            <a:r>
              <a:rPr lang="en-US" sz="135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-join for pairs of attributes with the same name</a:t>
            </a:r>
            <a:endParaRPr lang="en-US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Outer Join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 anchorCtr="0">
            <a:normAutofit/>
          </a:bodyPr>
          <a:lstStyle/>
          <a:p>
            <a:pPr indent="-342900">
              <a:spcBef>
                <a:spcPts val="360"/>
              </a:spcBef>
              <a:buSzPts val="2400"/>
            </a:pPr>
            <a:r>
              <a:rPr lang="en-US" dirty="0"/>
              <a:t>Returns all matched rows, </a:t>
            </a:r>
            <a:r>
              <a:rPr lang="en-US" u="sng" dirty="0"/>
              <a:t>and </a:t>
            </a:r>
            <a:r>
              <a:rPr lang="en-US" i="1" u="sng" dirty="0"/>
              <a:t>preserves</a:t>
            </a:r>
            <a:r>
              <a:rPr lang="en-US" u="sng" dirty="0"/>
              <a:t> all unmatched rows from the table on the left</a:t>
            </a:r>
            <a:r>
              <a:rPr lang="en-US" dirty="0"/>
              <a:t> of the join clause</a:t>
            </a:r>
            <a:endParaRPr lang="en-US" dirty="0"/>
          </a:p>
          <a:p>
            <a:pPr lvl="1" indent="-342900">
              <a:spcBef>
                <a:spcPts val="360"/>
              </a:spcBef>
              <a:buSzPts val="2400"/>
            </a:pPr>
            <a:r>
              <a:rPr lang="en-US" dirty="0"/>
              <a:t>(use nulls in fields of non-matching tuples)</a:t>
            </a:r>
            <a:endParaRPr lang="en-US"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914400" indent="-257175">
              <a:spcBef>
                <a:spcPts val="2250"/>
              </a:spcBef>
              <a:buClr>
                <a:srgbClr val="0033CC"/>
              </a:buClr>
              <a:buSzPts val="2000"/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s.sname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914400" indent="-257175">
              <a:spcBef>
                <a:spcPts val="300"/>
              </a:spcBef>
              <a:buClr>
                <a:srgbClr val="0033CC"/>
              </a:buClr>
              <a:buSzPts val="2000"/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Sailors2 s LEFT OUTER JOIN Reserves2 r 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914400" indent="-257175">
              <a:spcBef>
                <a:spcPts val="300"/>
              </a:spcBef>
              <a:buClr>
                <a:srgbClr val="0033CC"/>
              </a:buClr>
              <a:buSzPts val="2000"/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ON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;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Tahoma" panose="020B0604030504040204"/>
            </a:endParaRPr>
          </a:p>
          <a:p>
            <a:pPr marL="257175" indent="-257175">
              <a:spcBef>
                <a:spcPts val="2250"/>
              </a:spcBef>
              <a:buSzPts val="24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Outer Join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t" anchorCtr="0">
            <a:normAutofit/>
          </a:bodyPr>
          <a:lstStyle/>
          <a:p>
            <a:pPr indent="-342900">
              <a:spcBef>
                <a:spcPts val="360"/>
              </a:spcBef>
              <a:buSzPts val="2400"/>
            </a:pPr>
            <a:r>
              <a:rPr lang="en-US" dirty="0"/>
              <a:t>Returns all matched rows, </a:t>
            </a:r>
            <a:r>
              <a:rPr lang="en-US" u="sng" dirty="0"/>
              <a:t>and </a:t>
            </a:r>
            <a:r>
              <a:rPr lang="en-US" i="1" u="sng" dirty="0"/>
              <a:t>preserves</a:t>
            </a:r>
            <a:r>
              <a:rPr lang="en-US" u="sng" dirty="0"/>
              <a:t> all unmatched rows from the table on the right </a:t>
            </a:r>
            <a:r>
              <a:rPr lang="en-US" dirty="0"/>
              <a:t>of the join clause</a:t>
            </a:r>
            <a:endParaRPr lang="en-US" dirty="0"/>
          </a:p>
          <a:p>
            <a:pPr lvl="1" indent="-342900">
              <a:spcBef>
                <a:spcPts val="360"/>
              </a:spcBef>
              <a:buSzPts val="2400"/>
            </a:pPr>
            <a:r>
              <a:rPr lang="en-US" dirty="0"/>
              <a:t>(use nulls in fields of non-matching tuples)</a:t>
            </a:r>
            <a:endParaRPr lang="en-US" dirty="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  <a:p>
            <a:pPr marL="381000" lvl="1" indent="0">
              <a:spcBef>
                <a:spcPts val="2000"/>
              </a:spcBef>
              <a:buNone/>
            </a:pP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b.bname</a:t>
            </a:r>
            <a:endParaRPr lang="en-US" sz="19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381000" lvl="1" indent="0">
              <a:buNone/>
            </a:pP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Reserves2 r RIGHT OUTER JOIN Boats2 b</a:t>
            </a:r>
            <a:endParaRPr lang="en-US" sz="19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381000" lvl="1" indent="0">
              <a:buNone/>
            </a:pP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ON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50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 Outer Join</a:t>
            </a:r>
            <a:endParaRPr lang="en-US" dirty="0"/>
          </a:p>
        </p:txBody>
      </p:sp>
      <p:sp>
        <p:nvSpPr>
          <p:cNvPr id="510" name="Shape 510"/>
          <p:cNvSpPr txBox="1"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200" u="sng" dirty="0"/>
              <a:t>Returns all (matched or unmatched) rows from the tables on both sides</a:t>
            </a:r>
            <a:r>
              <a:rPr lang="en-US" sz="2200" dirty="0"/>
              <a:t> of the join clause </a:t>
            </a:r>
            <a:endParaRPr lang="en-US" sz="2200" dirty="0"/>
          </a:p>
          <a:p>
            <a:pPr marL="381000" lvl="1" indent="0">
              <a:spcBef>
                <a:spcPts val="2000"/>
              </a:spcBef>
              <a:buNone/>
            </a:pP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r.sid</a:t>
            </a: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b.bname</a:t>
            </a:r>
            <a:endParaRPr lang="en-US" sz="19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381000" lvl="1" indent="0">
              <a:buNone/>
            </a:pP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Reserves2 r FULL OUTER JOIN Boats2 b</a:t>
            </a:r>
            <a:endParaRPr lang="en-US" sz="19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381000" lvl="1" indent="0">
              <a:buNone/>
            </a:pP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ON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1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r>
              <a:rPr lang="en-US" sz="19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endParaRPr lang="en-US" sz="19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spcBef>
                <a:spcPts val="2000"/>
              </a:spcBef>
            </a:pPr>
            <a:r>
              <a:rPr lang="en-US" sz="1800" dirty="0"/>
              <a:t>Returns all boats &amp; all information on reservations</a:t>
            </a:r>
            <a:endParaRPr lang="en-US" sz="1800" dirty="0"/>
          </a:p>
          <a:p>
            <a:r>
              <a:rPr lang="en-US" sz="1800" dirty="0"/>
              <a:t>No match for </a:t>
            </a:r>
            <a:r>
              <a:rPr lang="en-US" sz="1800" dirty="0" err="1"/>
              <a:t>r.bid</a:t>
            </a:r>
            <a:r>
              <a:rPr lang="en-US" sz="1800" dirty="0"/>
              <a:t>?  </a:t>
            </a:r>
            <a:endParaRPr lang="en-US" sz="1800" dirty="0"/>
          </a:p>
          <a:p>
            <a:pPr lvl="1"/>
            <a:r>
              <a:rPr lang="en-US" sz="1800" dirty="0" err="1"/>
              <a:t>b.bid</a:t>
            </a:r>
            <a:r>
              <a:rPr lang="en-US" sz="1800" dirty="0"/>
              <a:t> IS NULL AND </a:t>
            </a:r>
            <a:r>
              <a:rPr lang="en-US" sz="1800" dirty="0" err="1"/>
              <a:t>b.bname</a:t>
            </a:r>
            <a:r>
              <a:rPr lang="en-US" sz="1800" dirty="0"/>
              <a:t> IS NULL!</a:t>
            </a:r>
            <a:endParaRPr lang="en-US" sz="1800" dirty="0"/>
          </a:p>
          <a:p>
            <a:r>
              <a:rPr lang="en-US" sz="1800" dirty="0"/>
              <a:t>No match for </a:t>
            </a:r>
            <a:r>
              <a:rPr lang="en-US" sz="1800" dirty="0" err="1"/>
              <a:t>b.bid</a:t>
            </a:r>
            <a:r>
              <a:rPr lang="en-US" sz="1800" dirty="0"/>
              <a:t>?</a:t>
            </a:r>
            <a:endParaRPr lang="en-US" sz="1800" dirty="0"/>
          </a:p>
          <a:p>
            <a:pPr lvl="1"/>
            <a:r>
              <a:rPr lang="en-US" sz="1800" dirty="0" err="1"/>
              <a:t>r.sid</a:t>
            </a:r>
            <a:r>
              <a:rPr lang="en-US" sz="1800" dirty="0"/>
              <a:t> IS NULL!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Views: Named Queries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57200" y="1162050"/>
            <a:ext cx="7772400" cy="3829050"/>
          </a:xfrm>
        </p:spPr>
        <p:txBody>
          <a:bodyPr anchor="t" anchorCtr="0">
            <a:noAutofit/>
          </a:bodyPr>
          <a:lstStyle/>
          <a:p>
            <a:pPr marL="0" indent="0">
              <a:spcBef>
                <a:spcPts val="1875"/>
              </a:spcBef>
              <a:spcAft>
                <a:spcPts val="2000"/>
              </a:spcAft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CREATE VIEW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Redcount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AS SELECT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COUNT(*) AS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Boats2 B, Reserves2 R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AND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='red'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GROUP BY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55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Instead of Relations in Queries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CREATE VIEW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Redcount</a:t>
            </a:r>
            <a:endParaRPr lang="en-US" sz="1800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AS SELECT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COUNT(*) AS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endParaRPr lang="en-US" sz="1800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Boats2 B, Reserves2 R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AND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='red'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GROUP BY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;</a:t>
            </a:r>
            <a:endParaRPr lang="en-US" sz="1800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257175" indent="-257175"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redcount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;</a:t>
            </a:r>
            <a:endParaRPr lang="en-US" sz="1800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bname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endParaRPr lang="en-US" sz="1800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Redcount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R, Boats2 B</a:t>
            </a:r>
            <a:endParaRPr lang="en-US" sz="1800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endParaRPr lang="en-US" sz="1800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AND </a:t>
            </a:r>
            <a:r>
              <a:rPr lang="en-US" sz="1800" dirty="0" err="1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r>
              <a:rPr lang="en-US" sz="1800" dirty="0">
                <a:solidFill>
                  <a:schemeClr val="dk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&lt; 10;</a:t>
            </a:r>
            <a:endParaRPr lang="en-US" sz="1800" dirty="0">
              <a:solidFill>
                <a:schemeClr val="dk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 txBox="1">
            <a:spLocks noGrp="1"/>
          </p:cNvSpPr>
          <p:nvPr>
            <p:ph type="title"/>
          </p:nvPr>
        </p:nvSpPr>
        <p:spPr>
          <a:xfrm>
            <a:off x="687868" y="133350"/>
            <a:ext cx="7770333" cy="857250"/>
          </a:xfrm>
        </p:spPr>
        <p:txBody>
          <a:bodyPr/>
          <a:lstStyle/>
          <a:p>
            <a:r>
              <a:rPr lang="en-US" dirty="0"/>
              <a:t>Subqueries in FROM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97205" y="994410"/>
            <a:ext cx="7772400" cy="3729990"/>
          </a:xfrm>
        </p:spPr>
        <p:txBody>
          <a:bodyPr anchor="t" anchorCtr="0">
            <a:normAutofit/>
          </a:bodyPr>
          <a:lstStyle/>
          <a:p>
            <a:pPr marL="0" indent="0">
              <a:spcBef>
                <a:spcPts val="225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bname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Boats2 B,</a:t>
            </a:r>
            <a:b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</a:b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COUNT (*)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Boats2 B, Reserves2 R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AND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'red'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GROUP BY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) AS Reds(bid,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)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indent="0">
              <a:spcBef>
                <a:spcPts val="100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Reds.bid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028700" indent="0">
              <a:spcBef>
                <a:spcPts val="0"/>
              </a:spcBef>
              <a:buNone/>
            </a:pP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AND </a:t>
            </a:r>
            <a:r>
              <a:rPr lang="en-US" sz="17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r>
              <a:rPr lang="en-US" sz="17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&lt; 10</a:t>
            </a:r>
            <a:endParaRPr lang="en-US" sz="17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title"/>
          </p:nvPr>
        </p:nvSpPr>
        <p:spPr>
          <a:xfrm>
            <a:off x="533400" y="0"/>
            <a:ext cx="8218170" cy="85725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WITH a.k.a. Common Table Expression (CTE)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085850"/>
            <a:ext cx="7772400" cy="3829050"/>
          </a:xfrm>
        </p:spPr>
        <p:txBody>
          <a:bodyPr anchor="t" anchorCtr="0">
            <a:normAutofit/>
          </a:bodyPr>
          <a:lstStyle/>
          <a:p>
            <a:pPr marL="0" indent="-914400" algn="l" fontAlgn="auto">
              <a:spcBef>
                <a:spcPts val="2250"/>
              </a:spcBef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WITH Reds(bid, scount) AS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-914400" algn="l" fontAlgn="auto">
              <a:spcBef>
                <a:spcPts val="2250"/>
              </a:spcBef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B.bid, COUNT (*)</a:t>
            </a:r>
            <a:endParaRPr lang="en-US" sz="1600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-914400" algn="l" fontAlgn="auto">
              <a:spcBef>
                <a:spcPts val="0"/>
              </a:spcBef>
              <a:buNone/>
            </a:pP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Boats2 B, Reserves2 R</a:t>
            </a:r>
            <a:endParaRPr lang="en-US" sz="1600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-914400" algn="l" fontAlgn="auto">
              <a:spcBef>
                <a:spcPts val="0"/>
              </a:spcBef>
              <a:buNone/>
            </a:pP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R.bid = B.bid AND B.color = 'red'</a:t>
            </a:r>
            <a:endParaRPr lang="en-US" sz="1600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-914400" algn="l" fontAlgn="auto">
              <a:spcBef>
                <a:spcPts val="0"/>
              </a:spcBef>
              <a:buNone/>
            </a:pPr>
            <a:r>
              <a:rPr lang="en-US" sz="1600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GROUP BY B.bid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)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 algn="l" fontAlgn="auto">
              <a:spcBef>
                <a:spcPts val="2250"/>
              </a:spcBef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bname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 algn="l" fontAlgn="auto">
              <a:spcBef>
                <a:spcPts val="0"/>
              </a:spcBef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Boats2 B, Reds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 algn="l" fontAlgn="auto">
              <a:spcBef>
                <a:spcPts val="0"/>
              </a:spcBef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Reds.bid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 algn="l" fontAlgn="auto">
              <a:spcBef>
                <a:spcPts val="0"/>
              </a:spcBef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AND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&lt; 10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ym typeface="Helvetica Neue Light" panose="02000503000000020004"/>
              </a:rPr>
              <a:t>Can have many queries in WITH</a:t>
            </a:r>
            <a:endParaRPr lang="en-US" dirty="0">
              <a:sym typeface="Helvetica Neue Light" panose="020005030000000200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09600" y="1104900"/>
            <a:ext cx="7772400" cy="3829050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300" dirty="0">
                <a:latin typeface="Helvetica Neue" panose="02000503000000020004" charset="0"/>
                <a:ea typeface="Helvetica Neue" panose="02000503000000020004" charset="0"/>
                <a:cs typeface="Helvetica Neue" panose="02000503000000020004" charset="0"/>
              </a:rPr>
              <a:t>Another “view on the fly” syntax:</a:t>
            </a:r>
            <a:endParaRPr lang="en-US" sz="3300" dirty="0">
              <a:latin typeface="Helvetica Neue" panose="02000503000000020004" charset="0"/>
              <a:ea typeface="Helvetica Neue" panose="02000503000000020004" charset="0"/>
              <a:cs typeface="Helvetica Neue" panose="02000503000000020004" charset="0"/>
              <a:sym typeface="Arimo"/>
            </a:endParaRPr>
          </a:p>
          <a:p>
            <a:pPr marL="685800" indent="0">
              <a:spcBef>
                <a:spcPts val="200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WITH Reds(bid,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) AS</a:t>
            </a:r>
            <a:b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</a:b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COUNT (*)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Boats2 B, Reserves2 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AND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B.color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'red'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GROUP BY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),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1500"/>
              </a:spcBef>
              <a:buNone/>
            </a:pP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UnpopularReds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AS</a:t>
            </a:r>
            <a:b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</a:b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bname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,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Boats2 B, Reds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Reds.bid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=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B.bid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AND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scount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&lt; 10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200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UnpopularReds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;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59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ARGMAX GROUP BY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t" anchorCtr="0">
            <a:normAutofit/>
          </a:bodyPr>
          <a:lstStyle/>
          <a:p>
            <a:pPr marL="257175" indent="-257175">
              <a:spcBef>
                <a:spcPts val="0"/>
              </a:spcBef>
            </a:pPr>
            <a:r>
              <a:rPr lang="en-US" dirty="0"/>
              <a:t>The sailor with the highest rating per age</a:t>
            </a:r>
            <a:endParaRPr lang="en-US" dirty="0"/>
          </a:p>
          <a:p>
            <a:pPr marL="685800" indent="0">
              <a:spcBef>
                <a:spcPts val="225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WITH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maxratings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(age,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maxrating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) AS</a:t>
            </a:r>
            <a:b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</a:b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(SELECT age, max(rating) 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FROM Sailors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68580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GROUP BY age)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300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S.*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 FROM Sailors S,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maxratings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m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WHERE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S.age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m.age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  AND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S.rating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 =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m.maxrating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;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 Values</a:t>
            </a:r>
            <a:endParaRPr lang="en-US"/>
          </a:p>
        </p:txBody>
      </p:sp>
      <p:sp>
        <p:nvSpPr>
          <p:cNvPr id="616" name="Shape 616"/>
          <p:cNvSpPr txBox="1">
            <a:spLocks noGrp="1"/>
          </p:cNvSpPr>
          <p:nvPr>
            <p:ph type="body" idx="1"/>
          </p:nvPr>
        </p:nvSpPr>
        <p:spPr>
          <a:xfrm>
            <a:off x="533400" y="1155469"/>
            <a:ext cx="7772400" cy="3829050"/>
          </a:xfrm>
        </p:spPr>
        <p:txBody>
          <a:bodyPr anchor="t" anchorCtr="0">
            <a:normAutofit/>
          </a:bodyPr>
          <a:lstStyle/>
          <a:p>
            <a:r>
              <a:rPr lang="en-US" sz="2200" dirty="0"/>
              <a:t>Field values are sometimes unknown</a:t>
            </a:r>
            <a:endParaRPr lang="en-US" sz="2200" dirty="0"/>
          </a:p>
          <a:p>
            <a:pPr lvl="1"/>
            <a:r>
              <a:rPr lang="en-US" sz="2200" dirty="0"/>
              <a:t>SQL provides a special value NULL for such situations.</a:t>
            </a:r>
            <a:endParaRPr lang="en-US" sz="2200" dirty="0"/>
          </a:p>
          <a:p>
            <a:pPr lvl="1"/>
            <a:r>
              <a:rPr lang="en-US" sz="2200" dirty="0"/>
              <a:t>Every data type can be NULL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The presence of null complicates many issues. E.g.:</a:t>
            </a:r>
            <a:endParaRPr lang="en-US" sz="2200" dirty="0"/>
          </a:p>
          <a:p>
            <a:pPr lvl="1"/>
            <a:r>
              <a:rPr lang="en-US" sz="2200" dirty="0"/>
              <a:t>Selection predicates (WHERE)</a:t>
            </a:r>
            <a:endParaRPr lang="en-US" sz="2200" dirty="0"/>
          </a:p>
          <a:p>
            <a:pPr lvl="1"/>
            <a:r>
              <a:rPr lang="en-US" sz="2200" dirty="0"/>
              <a:t>Aggregation</a:t>
            </a:r>
            <a:endParaRPr lang="en-US" sz="2200" dirty="0"/>
          </a:p>
          <a:p>
            <a:endParaRPr lang="en-US" sz="2200" dirty="0"/>
          </a:p>
        </p:txBody>
      </p:sp>
    </p:spTree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Shape 62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in the WHERE clause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57175" indent="-257175">
              <a:spcBef>
                <a:spcPts val="0"/>
              </a:spcBef>
              <a:buSzPts val="2400"/>
            </a:pPr>
            <a:r>
              <a:rPr lang="en-US" dirty="0"/>
              <a:t>Consider a tuple where </a:t>
            </a:r>
            <a:r>
              <a:rPr lang="en-US" sz="2000" dirty="0">
                <a:latin typeface="Droid Sans Mono"/>
                <a:ea typeface="Droid Sans Mono"/>
                <a:cs typeface="Droid Sans Mono"/>
                <a:sym typeface="Droid Sans Mono"/>
              </a:rPr>
              <a:t>rating </a:t>
            </a:r>
            <a:r>
              <a:rPr lang="en-US" dirty="0"/>
              <a:t>IS NULL. </a:t>
            </a:r>
            <a:endParaRPr lang="en-US" dirty="0"/>
          </a:p>
          <a:p>
            <a:pPr marL="257175" indent="-142875">
              <a:spcBef>
                <a:spcPts val="3000"/>
              </a:spcBef>
              <a:spcAft>
                <a:spcPts val="3000"/>
              </a:spcAft>
              <a:buSzPts val="2400"/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INSERT INTO sailors VALUES</a:t>
            </a:r>
            <a:b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</a:b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(11, 'Jack Sparrow', NULL, 35);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360"/>
              </a:spcBef>
              <a:buSzPts val="2400"/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 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360"/>
              </a:spcBef>
              <a:buSzPts val="2400"/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WHERE rating &gt; 8;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3750"/>
              </a:spcBef>
              <a:buSzPts val="2400"/>
              <a:buNone/>
            </a:pPr>
            <a:r>
              <a:rPr lang="en-US" dirty="0"/>
              <a:t>Is Jack Sparrow in the output? 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63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 in comparators</a:t>
            </a:r>
            <a:endParaRPr lang="en-US" dirty="0"/>
          </a:p>
        </p:txBody>
      </p:sp>
      <p:sp>
        <p:nvSpPr>
          <p:cNvPr id="634" name="Shape 634"/>
          <p:cNvSpPr txBox="1">
            <a:spLocks noGrp="1"/>
          </p:cNvSpPr>
          <p:nvPr>
            <p:ph type="body" idx="1"/>
          </p:nvPr>
        </p:nvSpPr>
        <p:spPr>
          <a:xfrm>
            <a:off x="533400" y="1123950"/>
            <a:ext cx="7772400" cy="3829050"/>
          </a:xfrm>
        </p:spPr>
        <p:txBody>
          <a:bodyPr anchor="t" anchorCtr="0"/>
          <a:lstStyle/>
          <a:p>
            <a:r>
              <a:rPr lang="en-US" dirty="0"/>
              <a:t>Rule: (x op NULL) evaluates to … NULL!</a:t>
            </a:r>
            <a:endParaRPr lang="en-US" dirty="0">
              <a:sym typeface="Droid Sans Mono"/>
            </a:endParaRPr>
          </a:p>
          <a:p>
            <a:pPr marL="19050" indent="0">
              <a:spcBef>
                <a:spcPts val="100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100 = NULL;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spcBef>
                <a:spcPts val="100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100 &lt; NULL;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spcBef>
                <a:spcPts val="1000"/>
              </a:spcBef>
              <a:buNone/>
            </a:pP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100 &gt;= NULL;</a:t>
            </a:r>
            <a:endParaRPr lang="en-US" sz="18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Explicit NULL Checks</a:t>
            </a:r>
            <a:endParaRPr lang="en-US" dirty="0"/>
          </a:p>
        </p:txBody>
      </p:sp>
      <p:sp>
        <p:nvSpPr>
          <p:cNvPr id="641" name="Shape 641"/>
          <p:cNvSpPr txBox="1">
            <a:spLocks noGrp="1"/>
          </p:cNvSpPr>
          <p:nvPr>
            <p:ph type="body" idx="1"/>
          </p:nvPr>
        </p:nvSpPr>
        <p:spPr/>
        <p:txBody>
          <a:bodyPr anchor="t" anchorCtr="0">
            <a:normAutofit/>
          </a:bodyPr>
          <a:lstStyle/>
          <a:p>
            <a:pPr marL="19050" indent="0"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 WHERE rating IS NULL;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spcBef>
                <a:spcPts val="200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 WHERE rating IS NOT NULL;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64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 at top of WHERE</a:t>
            </a:r>
            <a:endParaRPr lang="en-US" dirty="0"/>
          </a:p>
        </p:txBody>
      </p:sp>
      <p:sp>
        <p:nvSpPr>
          <p:cNvPr id="648" name="Shape 648"/>
          <p:cNvSpPr txBox="1">
            <a:spLocks noGrp="1"/>
          </p:cNvSpPr>
          <p:nvPr>
            <p:ph type="body" idx="1"/>
          </p:nvPr>
        </p:nvSpPr>
        <p:spPr>
          <a:xfrm>
            <a:off x="462280" y="819150"/>
            <a:ext cx="7995920" cy="3829050"/>
          </a:xfrm>
        </p:spPr>
        <p:txBody>
          <a:bodyPr anchor="t" anchorCtr="0"/>
          <a:lstStyle/>
          <a:p>
            <a:pPr>
              <a:spcAft>
                <a:spcPts val="2000"/>
              </a:spcAft>
            </a:pPr>
            <a:r>
              <a:rPr lang="en-US" dirty="0"/>
              <a:t>Rule: Do not output a tuple  </a:t>
            </a:r>
            <a:r>
              <a:rPr lang="en-US" dirty="0">
                <a:sym typeface="Droid Sans Mono"/>
              </a:rPr>
              <a:t>WHERE NULL</a:t>
            </a:r>
            <a:endParaRPr lang="en-US" dirty="0">
              <a:sym typeface="Droid Sans Mono"/>
            </a:endParaRPr>
          </a:p>
          <a:p>
            <a:pPr marL="19050" indent="0">
              <a:spcBef>
                <a:spcPts val="100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sailors;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spcBef>
                <a:spcPts val="100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 WHERE rating &gt; 8;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spcBef>
                <a:spcPts val="1000"/>
              </a:spcBef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 WHERE rating &lt;= 8;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Shape 65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in Boolean Logic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76250" y="975995"/>
            <a:ext cx="8199755" cy="3443605"/>
          </a:xfrm>
        </p:spPr>
        <p:txBody>
          <a:bodyPr anchor="t" anchorCtr="0">
            <a:noAutofit/>
          </a:bodyPr>
          <a:lstStyle/>
          <a:p>
            <a:pPr marL="0" indent="0">
              <a:spcBef>
                <a:spcPts val="11250"/>
              </a:spcBef>
              <a:spcAft>
                <a:spcPts val="2250"/>
              </a:spcAft>
              <a:buSzPts val="2000"/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 WHERE rating &gt; 8 AND TRUE;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spcBef>
                <a:spcPts val="300"/>
              </a:spcBef>
              <a:spcAft>
                <a:spcPts val="1500"/>
              </a:spcAft>
              <a:buSzPts val="2000"/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 WHERE rating &gt; 8 OR TRUE;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300"/>
              </a:spcBef>
              <a:buSzPts val="2000"/>
              <a:buNone/>
            </a:pPr>
            <a:r>
              <a:rPr lang="en-US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* FROM sailors WHERE NOT (rating &gt; 8);</a:t>
            </a:r>
            <a:endParaRPr lang="en-US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0" indent="0">
              <a:spcBef>
                <a:spcPts val="2000"/>
              </a:spcBef>
              <a:buSzPts val="2000"/>
              <a:buNone/>
            </a:pPr>
            <a:r>
              <a:rPr lang="en-US" sz="16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General rule: NULL **column values** are ignored by aggregate functions</a:t>
            </a:r>
            <a:endParaRPr lang="en-US" sz="16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66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and Aggregation</a:t>
            </a:r>
            <a:endParaRPr lang="en-US" dirty="0"/>
          </a:p>
        </p:txBody>
      </p:sp>
      <p:sp>
        <p:nvSpPr>
          <p:cNvPr id="665" name="Shape 665"/>
          <p:cNvSpPr txBox="1">
            <a:spLocks noGrp="1"/>
          </p:cNvSpPr>
          <p:nvPr>
            <p:ph type="body" idx="1"/>
          </p:nvPr>
        </p:nvSpPr>
        <p:spPr>
          <a:xfrm>
            <a:off x="533400" y="1123950"/>
            <a:ext cx="6096000" cy="3829050"/>
          </a:xfrm>
        </p:spPr>
        <p:txBody>
          <a:bodyPr anchor="t" anchorCtr="0">
            <a:normAutofit/>
          </a:bodyPr>
          <a:lstStyle/>
          <a:p>
            <a:pPr marL="19050" indent="0">
              <a:spcBef>
                <a:spcPts val="200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count(*) FROM sailors;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spcBef>
                <a:spcPts val="200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count(rating) FROM sailors;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19050" indent="0">
              <a:spcBef>
                <a:spcPts val="200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sum(rating) FROM sailors;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spcBef>
                <a:spcPts val="2000"/>
              </a:spcBef>
              <a:buNone/>
            </a:pP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SELECT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avg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(rating) FROM sailors;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  <a:p>
            <a:pPr marL="19050" indent="0">
              <a:spcBef>
                <a:spcPts val="4000"/>
              </a:spcBef>
              <a:buNone/>
            </a:pP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Droid Sans Mono"/>
              </a:rPr>
              <a:t>General rule: NULL **column values** are ignored by aggregate functions</a:t>
            </a:r>
            <a:endParaRPr lang="en-US" sz="20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Droid Sans Mono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451*277"/>
  <p:tag name="TABLE_ENDDRAG_RECT" val="190*120*451*277"/>
</p:tagLst>
</file>

<file path=ppt/tags/tag3.xml><?xml version="1.0" encoding="utf-8"?>
<p:tagLst xmlns:p="http://schemas.openxmlformats.org/presentationml/2006/main">
  <p:tag name="TABLE_ENDDRAG_ORIGIN_RECT" val="451*277"/>
  <p:tag name="TABLE_ENDDRAG_RECT" val="190*120*451*277"/>
</p:tagLst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541B27"/>
      </a:dk2>
      <a:lt2>
        <a:srgbClr val="AACDCA"/>
      </a:lt2>
      <a:accent1>
        <a:srgbClr val="D72C2F"/>
      </a:accent1>
      <a:accent2>
        <a:srgbClr val="44516F"/>
      </a:accent2>
      <a:accent3>
        <a:srgbClr val="79C6C1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BRCOE updated template</Template>
  <TotalTime>0</TotalTime>
  <Words>11196</Words>
  <Application>WPS 文字</Application>
  <PresentationFormat>On-screen Show (16:9)</PresentationFormat>
  <Paragraphs>1363</Paragraphs>
  <Slides>57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83" baseType="lpstr">
      <vt:lpstr>Arial</vt:lpstr>
      <vt:lpstr>宋体</vt:lpstr>
      <vt:lpstr>Wingdings</vt:lpstr>
      <vt:lpstr>Helvetica Neue</vt:lpstr>
      <vt:lpstr>Helvetica</vt:lpstr>
      <vt:lpstr>Century Gothic</vt:lpstr>
      <vt:lpstr>苹方-简</vt:lpstr>
      <vt:lpstr>Helvetica Neue Light</vt:lpstr>
      <vt:lpstr>Tahoma</vt:lpstr>
      <vt:lpstr>Helvetica Neue</vt:lpstr>
      <vt:lpstr>Book Antiqua</vt:lpstr>
      <vt:lpstr>Thonburi</vt:lpstr>
      <vt:lpstr>Rockwell</vt:lpstr>
      <vt:lpstr>MS PGothic</vt:lpstr>
      <vt:lpstr>Lucida Sans</vt:lpstr>
      <vt:lpstr>微软雅黑</vt:lpstr>
      <vt:lpstr>汉仪旗黑</vt:lpstr>
      <vt:lpstr>宋体</vt:lpstr>
      <vt:lpstr>Arial Unicode MS</vt:lpstr>
      <vt:lpstr>Calibri</vt:lpstr>
      <vt:lpstr>汉仪书宋二KW</vt:lpstr>
      <vt:lpstr>Menlo</vt:lpstr>
      <vt:lpstr>Times New Roman</vt:lpstr>
      <vt:lpstr>Droid Sans Mono</vt:lpstr>
      <vt:lpstr>Arimo</vt:lpstr>
      <vt:lpstr>Office Theme</vt:lpstr>
      <vt:lpstr>lab2 SQL</vt:lpstr>
      <vt:lpstr>SQL Language</vt:lpstr>
      <vt:lpstr>SQL Language</vt:lpstr>
      <vt:lpstr>Example Database</vt:lpstr>
      <vt:lpstr>Example Database, Pt. 2</vt:lpstr>
      <vt:lpstr>The SQL DDL: Foreign Keys</vt:lpstr>
      <vt:lpstr>Example Database, Pt. 2</vt:lpstr>
      <vt:lpstr>The SQL DML</vt:lpstr>
      <vt:lpstr>SELECT DISTINCT</vt:lpstr>
      <vt:lpstr>ORDER BY</vt:lpstr>
      <vt:lpstr>ORDER BY, Pt. 2</vt:lpstr>
      <vt:lpstr>LIMIT</vt:lpstr>
      <vt:lpstr>Aggregates</vt:lpstr>
      <vt:lpstr>GROUP BY</vt:lpstr>
      <vt:lpstr>HAVING</vt:lpstr>
      <vt:lpstr>Putting it all together</vt:lpstr>
      <vt:lpstr>DISTINCT Aggregates</vt:lpstr>
      <vt:lpstr>SQL DML: General Single-Table Queries </vt:lpstr>
      <vt:lpstr>Join Queries</vt:lpstr>
      <vt:lpstr>Cross (Cartesian) Product</vt:lpstr>
      <vt:lpstr>Cross (Cartesian) Product</vt:lpstr>
      <vt:lpstr>Find sailors who’ve reserved a boat</vt:lpstr>
      <vt:lpstr>Find sailors who’ve reserved a boat cont</vt:lpstr>
      <vt:lpstr>Column Names and Table Aliases</vt:lpstr>
      <vt:lpstr>More Aliases</vt:lpstr>
      <vt:lpstr>Arithmetic Expressions</vt:lpstr>
      <vt:lpstr>SQL Calculator</vt:lpstr>
      <vt:lpstr>String Comparisons</vt:lpstr>
      <vt:lpstr>Sid’s of sailors who reserved a red OR a green boat</vt:lpstr>
      <vt:lpstr>Sid’s of sailors who reserved a red OR a green boat Pt 2</vt:lpstr>
      <vt:lpstr>Find sailors who have not reserved a boat</vt:lpstr>
      <vt:lpstr>Nested Queries: IN</vt:lpstr>
      <vt:lpstr>Nested Queries: NOT IN</vt:lpstr>
      <vt:lpstr>Nested Queries: EXISTS</vt:lpstr>
      <vt:lpstr>Nested Queries with Correlation</vt:lpstr>
      <vt:lpstr>Set-Comparison Operators</vt:lpstr>
      <vt:lpstr>ARGMAX? Pt 1</vt:lpstr>
      <vt:lpstr>ARGMAX? Pt 2</vt:lpstr>
      <vt:lpstr>ARGMAX? Pt 3</vt:lpstr>
      <vt:lpstr>“Inner” Joins: Another Syntax</vt:lpstr>
      <vt:lpstr>Inner/Natural Joins</vt:lpstr>
      <vt:lpstr>Left Outer Join</vt:lpstr>
      <vt:lpstr>Right Outer Join</vt:lpstr>
      <vt:lpstr>Full Outer Join</vt:lpstr>
      <vt:lpstr>Views: Named Queries</vt:lpstr>
      <vt:lpstr>Views Instead of Relations in Queries</vt:lpstr>
      <vt:lpstr>Subqueries in FROM</vt:lpstr>
      <vt:lpstr>WITH a.k.a. common table expression (CTE)</vt:lpstr>
      <vt:lpstr>Can have many queries in WITH</vt:lpstr>
      <vt:lpstr>ARGMAX GROUP BY?</vt:lpstr>
      <vt:lpstr>Brief Detour: Null Values</vt:lpstr>
      <vt:lpstr>NULL in the WHERE clause</vt:lpstr>
      <vt:lpstr>NULL in comparators</vt:lpstr>
      <vt:lpstr>Explicit NULL Checks</vt:lpstr>
      <vt:lpstr>NULL at top of WHERE</vt:lpstr>
      <vt:lpstr>NULL in Boolean Logic</vt:lpstr>
      <vt:lpstr>NULL and Aggregation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Daphne Nhuch</dc:creator>
  <dc:subject>Name of Course</dc:subject>
  <cp:lastModifiedBy>Frankie Liu</cp:lastModifiedBy>
  <cp:revision>60</cp:revision>
  <dcterms:created xsi:type="dcterms:W3CDTF">2026-03-27T05:20:58Z</dcterms:created>
  <dcterms:modified xsi:type="dcterms:W3CDTF">2026-03-27T05:20:58Z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ICV">
    <vt:lpwstr>B25E5612B272A9201030C569CFABDF39_43</vt:lpwstr>
  </property>
  <property fmtid="{D5CDD505-2E9C-101B-9397-08002B2CF9AE}" pid="4" name="KSOProductBuildVer">
    <vt:lpwstr>2052-6.5.2.8766</vt:lpwstr>
  </property>
</Properties>
</file>