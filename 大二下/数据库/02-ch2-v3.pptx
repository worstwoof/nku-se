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handoutMasterIdLst>
    <p:handoutMasterId r:id="rId41"/>
  </p:handoutMasterIdLst>
  <p:sldIdLst>
    <p:sldId id="256" r:id="rId3"/>
    <p:sldId id="257" r:id="rId4"/>
    <p:sldId id="290" r:id="rId5"/>
    <p:sldId id="292" r:id="rId6"/>
    <p:sldId id="293" r:id="rId7"/>
    <p:sldId id="294" r:id="rId8"/>
    <p:sldId id="258" r:id="rId9"/>
    <p:sldId id="259" r:id="rId10"/>
    <p:sldId id="260" r:id="rId11"/>
    <p:sldId id="261" r:id="rId12"/>
    <p:sldId id="263" r:id="rId13"/>
    <p:sldId id="26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1" r:id="rId38"/>
    <p:sldId id="289" r:id="rId40"/>
  </p:sldIdLst>
  <p:sldSz cx="9144000" cy="6858000"/>
  <p:notesSz cx="6858000" cy="9144000"/>
  <p:embeddedFontLst>
    <p:embeddedFont>
      <p:font typeface="PingFang SC" panose="020B0400000000000000" charset="-122"/>
      <p:regular r:id="rId4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兰 帅" initials="兰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font" Target="fonts/font1.fntdata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 panose="020205030504050903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3171" tIns="46586" rIns="93171" bIns="46586" anchor="b" anchorCtr="0"/>
          <a:p>
            <a:pPr lvl="0" algn="r" defTabSz="930275"/>
            <a:r>
              <a:rPr lang="en-US" altLang="en-US" sz="1200" dirty="0">
                <a:latin typeface="Helvetica" charset="0"/>
              </a:rPr>
              <a:t>*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63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/>
        <p:txBody>
          <a:bodyPr wrap="none" lIns="93171" tIns="46586" rIns="93171" bIns="46586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6" name="标题文本"/>
          <p:cNvSpPr txBox="1"/>
          <p:nvPr>
            <p:ph type="title" hasCustomPrompt="1"/>
          </p:nvPr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7" name="正文级别 1…"/>
          <p:cNvSpPr txBox="1"/>
          <p:nvPr>
            <p:ph type="body" idx="1" hasCustomPrompt="1"/>
          </p:nvPr>
        </p:nvSpPr>
        <p:spPr>
          <a:xfrm>
            <a:off x="768350" y="1093787"/>
            <a:ext cx="7707314" cy="49037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SzPct val="110000"/>
              <a:buChar char="▪"/>
            </a:lvl1pPr>
            <a:lvl2pPr>
              <a:buSzPct val="110000"/>
              <a:buChar char="•"/>
            </a:lvl2pPr>
            <a:lvl3pPr>
              <a:buChar char="▪"/>
            </a:lvl3pPr>
            <a:lvl4pPr>
              <a:buChar char="•"/>
            </a:lvl4pPr>
            <a:lvl5pPr>
              <a:buChar char="▪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39" name="标题文本"/>
          <p:cNvSpPr txBox="1"/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/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800"/>
              </a:spcBef>
              <a:buClrTx/>
              <a:buSzTx/>
              <a:buNone/>
              <a:defRPr sz="2000"/>
            </a:lvl1pPr>
            <a:lvl2pPr marL="0" indent="457200">
              <a:spcBef>
                <a:spcPts val="800"/>
              </a:spcBef>
              <a:buClrTx/>
              <a:buSzTx/>
              <a:buNone/>
              <a:defRPr sz="2000"/>
            </a:lvl2pPr>
            <a:lvl3pPr marL="0" indent="914400">
              <a:spcBef>
                <a:spcPts val="800"/>
              </a:spcBef>
              <a:buClrTx/>
              <a:buSzTx/>
              <a:buNone/>
              <a:defRPr sz="2000"/>
            </a:lvl3pPr>
            <a:lvl4pPr marL="0" indent="1371600">
              <a:spcBef>
                <a:spcPts val="800"/>
              </a:spcBef>
              <a:buClrTx/>
              <a:buSzTx/>
              <a:buNone/>
              <a:defRPr sz="2000"/>
            </a:lvl4pPr>
            <a:lvl5pPr marL="0" indent="1828800">
              <a:spcBef>
                <a:spcPts val="800"/>
              </a:spcBef>
              <a:buClrTx/>
              <a:buSzTx/>
              <a:buNone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52" name="标题文本"/>
          <p:cNvSpPr txBox="1"/>
          <p:nvPr>
            <p:ph type="title" hasCustomPrompt="1"/>
          </p:nvPr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3" name="正文级别 1…"/>
          <p:cNvSpPr txBox="1"/>
          <p:nvPr>
            <p:ph type="body" sz="half" idx="1" hasCustomPrompt="1"/>
          </p:nvPr>
        </p:nvSpPr>
        <p:spPr>
          <a:xfrm>
            <a:off x="814387" y="1093787"/>
            <a:ext cx="3754439" cy="49037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65" name="标题文本"/>
          <p:cNvSpPr txBox="1"/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6" name="正文级别 1…"/>
          <p:cNvSpPr txBox="1"/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1000"/>
              </a:spcBef>
              <a:buClrTx/>
              <a:buSzTx/>
              <a:buNone/>
              <a:defRPr sz="2400" b="1"/>
            </a:lvl1pPr>
            <a:lvl2pPr marL="0" indent="457200">
              <a:spcBef>
                <a:spcPts val="1000"/>
              </a:spcBef>
              <a:buClrTx/>
              <a:buSzTx/>
              <a:buNone/>
              <a:defRPr sz="2400" b="1"/>
            </a:lvl2pPr>
            <a:lvl3pPr marL="0" indent="914400">
              <a:spcBef>
                <a:spcPts val="1000"/>
              </a:spcBef>
              <a:buClrTx/>
              <a:buSzTx/>
              <a:buNone/>
              <a:defRPr sz="2400" b="1"/>
            </a:lvl3pPr>
            <a:lvl4pPr marL="0" indent="1371600">
              <a:spcBef>
                <a:spcPts val="1000"/>
              </a:spcBef>
              <a:buClrTx/>
              <a:buSzTx/>
              <a:buNone/>
              <a:defRPr sz="2400" b="1"/>
            </a:lvl4pPr>
            <a:lvl5pPr marL="0" indent="1828800">
              <a:spcBef>
                <a:spcPts val="1000"/>
              </a:spcBef>
              <a:buClrTx/>
              <a:buSz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7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1000"/>
              </a:spcBef>
              <a:buClrTx/>
              <a:buSzTx/>
              <a:buNone/>
              <a:defRPr sz="2400" b="1"/>
            </a:p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79" name="标题文本"/>
          <p:cNvSpPr txBox="1"/>
          <p:nvPr>
            <p:ph type="title" hasCustomPrompt="1"/>
          </p:nvPr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02" name="标题文本"/>
          <p:cNvSpPr txBox="1"/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/>
          <a:lstStyle>
            <a:lvl1pPr algn="l">
              <a:defRPr sz="2000"/>
            </a:lvl1pPr>
          </a:lstStyle>
          <a:p>
            <a:r>
              <a:t>标题文本</a:t>
            </a:r>
          </a:p>
        </p:txBody>
      </p:sp>
      <p:sp>
        <p:nvSpPr>
          <p:cNvPr id="103" name="正文级别 1…"/>
          <p:cNvSpPr txBox="1"/>
          <p:nvPr>
            <p:ph type="body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500"/>
              </a:spcBef>
              <a:buClrTx/>
              <a:buSzTx/>
              <a:buNone/>
              <a:defRPr sz="1400"/>
            </a:p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16" name="标题文本"/>
          <p:cNvSpPr txBox="1"/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l">
              <a:defRPr sz="2000"/>
            </a:lvl1pPr>
          </a:lstStyle>
          <a:p>
            <a:r>
              <a:t>标题文本</a:t>
            </a:r>
          </a:p>
        </p:txBody>
      </p:sp>
      <p:sp>
        <p:nvSpPr>
          <p:cNvPr id="117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/>
          <a:lstStyle/>
          <a:p/>
        </p:txBody>
      </p:sp>
      <p:sp>
        <p:nvSpPr>
          <p:cNvPr id="118" name="正文级别 1…"/>
          <p:cNvSpPr txBox="1"/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buClrTx/>
              <a:buSzTx/>
              <a:buNone/>
              <a:defRPr sz="1400"/>
            </a:lvl1pPr>
            <a:lvl2pPr marL="0" indent="457200">
              <a:spcBef>
                <a:spcPts val="500"/>
              </a:spcBef>
              <a:buClrTx/>
              <a:buSzTx/>
              <a:buNone/>
              <a:defRPr sz="1400"/>
            </a:lvl2pPr>
            <a:lvl3pPr marL="0" indent="914400">
              <a:spcBef>
                <a:spcPts val="500"/>
              </a:spcBef>
              <a:buClrTx/>
              <a:buSzTx/>
              <a:buNone/>
              <a:defRPr sz="1400"/>
            </a:lvl3pPr>
            <a:lvl4pPr marL="0" indent="1371600">
              <a:spcBef>
                <a:spcPts val="500"/>
              </a:spcBef>
              <a:buClrTx/>
              <a:buSzTx/>
              <a:buNone/>
              <a:defRPr sz="1400"/>
            </a:lvl4pPr>
            <a:lvl5pPr marL="0" indent="1828800">
              <a:spcBef>
                <a:spcPts val="500"/>
              </a:spcBef>
              <a:buClrTx/>
              <a:buSz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8"/>
          <p:cNvSpPr/>
          <p:nvPr/>
        </p:nvSpPr>
        <p:spPr>
          <a:xfrm>
            <a:off x="8916988" y="5445125"/>
            <a:ext cx="227013" cy="47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" y="21600"/>
                </a:moveTo>
                <a:lnTo>
                  <a:pt x="0" y="20892"/>
                </a:lnTo>
                <a:lnTo>
                  <a:pt x="0" y="19475"/>
                </a:lnTo>
                <a:lnTo>
                  <a:pt x="152" y="16997"/>
                </a:lnTo>
                <a:lnTo>
                  <a:pt x="379" y="14164"/>
                </a:lnTo>
                <a:lnTo>
                  <a:pt x="682" y="12039"/>
                </a:lnTo>
                <a:lnTo>
                  <a:pt x="985" y="10977"/>
                </a:lnTo>
                <a:lnTo>
                  <a:pt x="1288" y="8852"/>
                </a:lnTo>
                <a:lnTo>
                  <a:pt x="1819" y="7436"/>
                </a:lnTo>
                <a:lnTo>
                  <a:pt x="2274" y="6020"/>
                </a:lnTo>
                <a:lnTo>
                  <a:pt x="3032" y="4603"/>
                </a:lnTo>
                <a:lnTo>
                  <a:pt x="3411" y="3541"/>
                </a:lnTo>
                <a:lnTo>
                  <a:pt x="4320" y="2125"/>
                </a:lnTo>
                <a:lnTo>
                  <a:pt x="4851" y="2125"/>
                </a:lnTo>
                <a:lnTo>
                  <a:pt x="5305" y="708"/>
                </a:lnTo>
                <a:lnTo>
                  <a:pt x="5912" y="708"/>
                </a:lnTo>
                <a:lnTo>
                  <a:pt x="6442" y="0"/>
                </a:lnTo>
                <a:lnTo>
                  <a:pt x="10383" y="0"/>
                </a:lnTo>
                <a:lnTo>
                  <a:pt x="11065" y="708"/>
                </a:lnTo>
                <a:lnTo>
                  <a:pt x="11672" y="708"/>
                </a:lnTo>
                <a:lnTo>
                  <a:pt x="12354" y="1416"/>
                </a:lnTo>
                <a:lnTo>
                  <a:pt x="13112" y="2125"/>
                </a:lnTo>
                <a:lnTo>
                  <a:pt x="13794" y="2833"/>
                </a:lnTo>
                <a:lnTo>
                  <a:pt x="14552" y="2833"/>
                </a:lnTo>
                <a:lnTo>
                  <a:pt x="15234" y="4249"/>
                </a:lnTo>
                <a:lnTo>
                  <a:pt x="15840" y="4249"/>
                </a:lnTo>
                <a:lnTo>
                  <a:pt x="16371" y="4603"/>
                </a:lnTo>
                <a:lnTo>
                  <a:pt x="16977" y="5311"/>
                </a:lnTo>
                <a:lnTo>
                  <a:pt x="17735" y="6020"/>
                </a:lnTo>
                <a:lnTo>
                  <a:pt x="18114" y="6728"/>
                </a:lnTo>
                <a:lnTo>
                  <a:pt x="18720" y="7436"/>
                </a:lnTo>
                <a:lnTo>
                  <a:pt x="19251" y="8144"/>
                </a:lnTo>
                <a:lnTo>
                  <a:pt x="19705" y="8852"/>
                </a:lnTo>
                <a:lnTo>
                  <a:pt x="20160" y="8852"/>
                </a:lnTo>
                <a:lnTo>
                  <a:pt x="20463" y="9561"/>
                </a:lnTo>
                <a:lnTo>
                  <a:pt x="20691" y="9561"/>
                </a:lnTo>
                <a:lnTo>
                  <a:pt x="21145" y="10269"/>
                </a:lnTo>
                <a:lnTo>
                  <a:pt x="21600" y="11331"/>
                </a:lnTo>
                <a:lnTo>
                  <a:pt x="21145" y="15580"/>
                </a:lnTo>
                <a:lnTo>
                  <a:pt x="20994" y="15580"/>
                </a:lnTo>
                <a:lnTo>
                  <a:pt x="20691" y="14872"/>
                </a:lnTo>
                <a:lnTo>
                  <a:pt x="20312" y="14872"/>
                </a:lnTo>
                <a:lnTo>
                  <a:pt x="19705" y="14164"/>
                </a:lnTo>
                <a:lnTo>
                  <a:pt x="19023" y="13456"/>
                </a:lnTo>
                <a:lnTo>
                  <a:pt x="18265" y="12748"/>
                </a:lnTo>
                <a:lnTo>
                  <a:pt x="17811" y="12039"/>
                </a:lnTo>
                <a:lnTo>
                  <a:pt x="17432" y="12039"/>
                </a:lnTo>
                <a:lnTo>
                  <a:pt x="16977" y="11331"/>
                </a:lnTo>
                <a:lnTo>
                  <a:pt x="16522" y="11331"/>
                </a:lnTo>
                <a:lnTo>
                  <a:pt x="16143" y="10977"/>
                </a:lnTo>
                <a:lnTo>
                  <a:pt x="15688" y="10977"/>
                </a:lnTo>
                <a:lnTo>
                  <a:pt x="15234" y="10269"/>
                </a:lnTo>
                <a:lnTo>
                  <a:pt x="14855" y="10269"/>
                </a:lnTo>
                <a:lnTo>
                  <a:pt x="14400" y="9561"/>
                </a:lnTo>
                <a:lnTo>
                  <a:pt x="13794" y="9561"/>
                </a:lnTo>
                <a:lnTo>
                  <a:pt x="13491" y="8852"/>
                </a:lnTo>
                <a:lnTo>
                  <a:pt x="13112" y="8852"/>
                </a:lnTo>
                <a:lnTo>
                  <a:pt x="12657" y="8144"/>
                </a:lnTo>
                <a:lnTo>
                  <a:pt x="12354" y="8144"/>
                </a:lnTo>
                <a:lnTo>
                  <a:pt x="11975" y="7436"/>
                </a:lnTo>
                <a:lnTo>
                  <a:pt x="11672" y="7436"/>
                </a:lnTo>
                <a:lnTo>
                  <a:pt x="11217" y="6728"/>
                </a:lnTo>
                <a:lnTo>
                  <a:pt x="10762" y="6728"/>
                </a:lnTo>
                <a:lnTo>
                  <a:pt x="10914" y="16997"/>
                </a:lnTo>
                <a:lnTo>
                  <a:pt x="8337" y="5311"/>
                </a:lnTo>
                <a:lnTo>
                  <a:pt x="8943" y="16997"/>
                </a:lnTo>
                <a:lnTo>
                  <a:pt x="6291" y="7436"/>
                </a:lnTo>
                <a:lnTo>
                  <a:pt x="6897" y="16997"/>
                </a:lnTo>
                <a:lnTo>
                  <a:pt x="4472" y="10269"/>
                </a:lnTo>
                <a:lnTo>
                  <a:pt x="4320" y="10269"/>
                </a:lnTo>
                <a:lnTo>
                  <a:pt x="4017" y="10977"/>
                </a:lnTo>
                <a:lnTo>
                  <a:pt x="3714" y="10977"/>
                </a:lnTo>
                <a:lnTo>
                  <a:pt x="3259" y="12039"/>
                </a:lnTo>
                <a:lnTo>
                  <a:pt x="2880" y="12748"/>
                </a:lnTo>
                <a:lnTo>
                  <a:pt x="2425" y="13456"/>
                </a:lnTo>
                <a:lnTo>
                  <a:pt x="1743" y="15580"/>
                </a:lnTo>
                <a:lnTo>
                  <a:pt x="1137" y="17705"/>
                </a:lnTo>
                <a:lnTo>
                  <a:pt x="531" y="19475"/>
                </a:lnTo>
                <a:lnTo>
                  <a:pt x="303" y="20892"/>
                </a:lnTo>
                <a:lnTo>
                  <a:pt x="152" y="21600"/>
                </a:lnTo>
                <a:close/>
              </a:path>
            </a:pathLst>
          </a:cu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30" name="标题文本"/>
          <p:cNvSpPr txBox="1"/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1" name="正文级别 1…"/>
          <p:cNvSpPr txBox="1"/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Tx/>
              <a:buSzTx/>
              <a:buNone/>
            </a:lvl1pPr>
            <a:lvl2pPr marL="0" indent="457200" algn="ctr">
              <a:buClrTx/>
              <a:buSzTx/>
              <a:buNone/>
            </a:lvl2pPr>
            <a:lvl3pPr marL="0" indent="914400" algn="ctr">
              <a:buClrTx/>
              <a:buSzTx/>
              <a:buNone/>
            </a:lvl3pPr>
            <a:lvl4pPr marL="0" indent="1371600" algn="ctr">
              <a:buClrTx/>
              <a:buSzTx/>
              <a:buNone/>
            </a:lvl4pPr>
            <a:lvl5pPr marL="0" indent="1828800" algn="ctr">
              <a:buClrTx/>
              <a:buSz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/>
          <p:nvPr>
            <p:ph type="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2060"/>
          </a:solidFill>
          <a:effectLst>
            <a:outerShdw blurRad="38100" dist="38100" dir="2700000" rotWithShape="0">
              <a:srgbClr val="DDDDDD"/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100000"/>
        <a:buFontTx/>
        <a:buChar char="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742950" marR="0" indent="-28575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95000"/>
        <a:buFontTx/>
        <a:buChar char="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0858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85000"/>
        <a:buFontTx/>
        <a:buChar char="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4287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100000"/>
        <a:buFontTx/>
        <a:buChar char="–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17716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75000"/>
        <a:buFontTx/>
        <a:buChar char="»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216150" marR="0" indent="-215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75000"/>
        <a:buFontTx/>
        <a:buChar char="»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2673350" marR="0" indent="-215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75000"/>
        <a:buFontTx/>
        <a:buChar char="»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130550" marR="0" indent="-215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75000"/>
        <a:buFontTx/>
        <a:buChar char="»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3587750" marR="0" indent="-215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2060"/>
        </a:buClr>
        <a:buSzPct val="75000"/>
        <a:buFontTx/>
        <a:buChar char="»"/>
        <a:defRPr sz="1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1pPr>
      <a:lvl2pPr marL="0" marR="0" indent="4572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2pPr>
      <a:lvl3pPr marL="0" marR="0" indent="9144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3pPr>
      <a:lvl4pPr marL="0" marR="0" indent="13716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4pPr>
      <a:lvl5pPr marL="0" marR="0" indent="18288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5pPr>
      <a:lvl6pPr marL="0" marR="0" indent="22860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6pPr>
      <a:lvl7pPr marL="0" marR="0" indent="27432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7pPr>
      <a:lvl8pPr marL="0" marR="0" indent="32004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8pPr>
      <a:lvl9pPr marL="0" marR="0" indent="3657600" algn="r" defTabSz="914400" rtl="0" latinLnBrk="0">
        <a:lnSpc>
          <a:spcPct val="100000"/>
        </a:lnSpc>
        <a:spcBef>
          <a:spcPts val="8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50305040509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1.emf"/><Relationship Id="rId10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3.png"/><Relationship Id="rId3" Type="http://schemas.openxmlformats.org/officeDocument/2006/relationships/tags" Target="../tags/tag14.xml"/><Relationship Id="rId23" Type="http://schemas.openxmlformats.org/officeDocument/2006/relationships/vmlDrawing" Target="../drawings/vmlDrawing2.v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1.emf"/><Relationship Id="rId20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tags" Target="../tags/tag39.xml"/><Relationship Id="rId3" Type="http://schemas.openxmlformats.org/officeDocument/2006/relationships/image" Target="../media/image22.png"/><Relationship Id="rId2" Type="http://schemas.openxmlformats.org/officeDocument/2006/relationships/tags" Target="../tags/tag38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Chapter 2: Intro to Relational Model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6" name="textbox 6"/>
          <p:cNvSpPr/>
          <p:nvPr>
            <p:custDataLst>
              <p:tags r:id="rId1"/>
            </p:custDataLst>
          </p:nvPr>
        </p:nvSpPr>
        <p:spPr>
          <a:xfrm>
            <a:off x="1259205" y="5229225"/>
            <a:ext cx="707898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910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Prof. Liang Liu</a:t>
            </a:r>
            <a:endParaRPr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12700" algn="ctr" rtl="0" eaLnBrk="0">
              <a:lnSpc>
                <a:spcPts val="41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2026 spring</a:t>
            </a:r>
            <a:endParaRPr lang="en-US"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44450" tIns="44450" rIns="44450" bIns="44450" anchor="ctr"/>
          <a:lstStyle/>
          <a:p>
            <a:r>
              <a:rPr>
                <a:solidFill>
                  <a:srgbClr val="C00000"/>
                </a:solidFill>
              </a:rPr>
              <a:t>Outline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4" name="Rectangle 3"/>
          <p:cNvSpPr txBox="1"/>
          <p:nvPr>
            <p:ph type="body" sz="half" idx="1"/>
          </p:nvPr>
        </p:nvSpPr>
        <p:spPr>
          <a:xfrm>
            <a:off x="768350" y="1104900"/>
            <a:ext cx="7496762" cy="2772156"/>
          </a:xfrm>
          <a:prstGeom prst="rect">
            <a:avLst/>
          </a:prstGeom>
        </p:spPr>
        <p:txBody>
          <a:bodyPr lIns="44450" tIns="44450" rIns="44450" bIns="44450"/>
          <a:lstStyle/>
          <a:p>
            <a:r>
              <a:rPr lang="en-US"/>
              <a:t>Data Model</a:t>
            </a:r>
            <a:endParaRPr lang="en-US"/>
          </a:p>
          <a:p>
            <a:pPr lvl="1"/>
            <a:r>
              <a:rPr lang="en-US"/>
              <a:t>Relational Data Model</a:t>
            </a:r>
            <a:endParaRPr lang="en-US"/>
          </a:p>
          <a:p>
            <a:endParaRPr lang="en-US"/>
          </a:p>
          <a:p>
            <a:r>
              <a:rPr lang="en-US"/>
              <a:t>Relation</a:t>
            </a:r>
            <a:endParaRPr lang="en-US"/>
          </a:p>
          <a:p/>
          <a:p>
            <a:r>
              <a:t>Relational Algebra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8"/>
          <p:cNvSpPr/>
          <p:nvPr/>
        </p:nvSpPr>
        <p:spPr>
          <a:xfrm>
            <a:off x="245745" y="1468755"/>
            <a:ext cx="8443595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1450" indent="-171450" algn="l" rtl="0" eaLnBrk="0">
              <a:lnSpc>
                <a:spcPct val="93000"/>
              </a:lnSpc>
              <a:buFont typeface="Arial" panose="020B0604020202090204" pitchFamily="34" charset="0"/>
              <a:buChar char="•"/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01040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Model</a:t>
            </a:r>
            <a:endParaRPr lang="en-US" sz="2100" kern="0" spc="6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58240" lvl="1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sz="21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Abstract </a:t>
            </a:r>
            <a:r>
              <a:rPr sz="21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Data Representation</a:t>
            </a:r>
            <a:endParaRPr sz="21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marL="1158240" lvl="1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 level</a:t>
            </a:r>
            <a:endParaRPr lang="en-US" sz="2100" kern="0" spc="6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58240" lvl="1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endParaRPr lang="en-US" sz="2100" kern="0" spc="6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364490" y="641350"/>
            <a:ext cx="8324850" cy="508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700" algn="ctr" rtl="0" eaLnBrk="0">
              <a:lnSpc>
                <a:spcPct val="85000"/>
              </a:lnSpc>
            </a:pPr>
            <a:r>
              <a:rPr sz="2800" b="1" kern="0"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  <a:uFillTx/>
                <a:latin typeface="+mj-lt"/>
                <a:ea typeface="+mj-ea"/>
                <a:cs typeface="+mj-cs"/>
              </a:rPr>
              <a:t>Data Model vs Data </a:t>
            </a:r>
            <a:r>
              <a:rPr sz="2800" b="1" kern="0"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rPr>
              <a:t>Representation</a:t>
            </a:r>
            <a:endParaRPr sz="2800" b="1" kern="0"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927100" y="5298440"/>
            <a:ext cx="7198995" cy="862330"/>
            <a:chOff x="4263" y="8760"/>
            <a:chExt cx="11337" cy="1358"/>
          </a:xfrm>
        </p:grpSpPr>
        <p:sp>
          <p:nvSpPr>
            <p:cNvPr id="62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320" y="8880"/>
              <a:ext cx="1128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3" name="Text Box 7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263" y="8760"/>
              <a:ext cx="9430" cy="6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6" charset="0"/>
                  <a:ea typeface="宋体" pitchFamily="2" charset="-122"/>
                  <a:cs typeface="宋体" pitchFamily="2" charset="-122"/>
                </a:rPr>
                <a:t>12000 Mike Chan 30 M 12305 George Best 27 M  ...</a:t>
              </a:r>
              <a:endParaRPr kumimoji="0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6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4" name="Line 8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8520" y="88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5" name="Line 9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3080" y="88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6" name="AutoShape 10"/>
            <p:cNvSpPr/>
            <p:nvPr>
              <p:custDataLst>
                <p:tags r:id="rId5"/>
              </p:custDataLst>
            </p:nvPr>
          </p:nvSpPr>
          <p:spPr bwMode="auto">
            <a:xfrm rot="-5400000">
              <a:off x="6300" y="7405"/>
              <a:ext cx="240" cy="4200"/>
            </a:xfrm>
            <a:prstGeom prst="leftBrace">
              <a:avLst>
                <a:gd name="adj1" fmla="val 145833"/>
                <a:gd name="adj2" fmla="val 50000"/>
              </a:avLst>
            </a:prstGeom>
            <a:noFill/>
            <a:ln w="9525">
              <a:solidFill>
                <a:srgbClr val="F8400E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7" name="AutoShape 11"/>
            <p:cNvSpPr/>
            <p:nvPr>
              <p:custDataLst>
                <p:tags r:id="rId6"/>
              </p:custDataLst>
            </p:nvPr>
          </p:nvSpPr>
          <p:spPr bwMode="auto">
            <a:xfrm rot="-5400000">
              <a:off x="10680" y="7225"/>
              <a:ext cx="240" cy="4560"/>
            </a:xfrm>
            <a:prstGeom prst="leftBrace">
              <a:avLst>
                <a:gd name="adj1" fmla="val 158333"/>
                <a:gd name="adj2" fmla="val 50000"/>
              </a:avLst>
            </a:prstGeom>
            <a:noFill/>
            <a:ln w="9525">
              <a:solidFill>
                <a:srgbClr val="F8400E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8" name="Text Box 1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60" y="9490"/>
              <a:ext cx="1793" cy="6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8400E"/>
                  </a:solidFill>
                  <a:effectLst/>
                  <a:uLnTx/>
                  <a:uFillTx/>
                  <a:latin typeface="Tahoma" panose="020B0604030504040204" pitchFamily="6" charset="0"/>
                  <a:ea typeface="宋体" pitchFamily="2" charset="-122"/>
                  <a:cs typeface="宋体" pitchFamily="2" charset="-122"/>
                </a:rPr>
                <a:t>29 bytes</a:t>
              </a:r>
              <a:endParaRPr kumimoji="0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F8400E"/>
                </a:solidFill>
                <a:effectLst/>
                <a:uLnTx/>
                <a:uFillTx/>
                <a:latin typeface="Tahoma" panose="020B0604030504040204" pitchFamily="6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9" name="Text Box 1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960" y="9490"/>
              <a:ext cx="1793" cy="6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8400E"/>
                  </a:solidFill>
                  <a:effectLst/>
                  <a:uLnTx/>
                  <a:uFillTx/>
                  <a:latin typeface="Tahoma" panose="020B0604030504040204" pitchFamily="6" charset="0"/>
                  <a:ea typeface="宋体" pitchFamily="2" charset="-122"/>
                  <a:cs typeface="宋体" pitchFamily="2" charset="-122"/>
                </a:rPr>
                <a:t>29 bytes</a:t>
              </a:r>
              <a:endParaRPr kumimoji="0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F8400E"/>
                </a:solidFill>
                <a:effectLst/>
                <a:uLnTx/>
                <a:uFillTx/>
                <a:latin typeface="Tahoma" panose="020B0604030504040204" pitchFamily="6" charset="0"/>
                <a:ea typeface="宋体" pitchFamily="2" charset="-122"/>
                <a:cs typeface="宋体" pitchFamily="2" charset="-122"/>
              </a:endParaRPr>
            </a:p>
          </p:txBody>
        </p:sp>
      </p:grpSp>
      <p:graphicFrame>
        <p:nvGraphicFramePr>
          <p:cNvPr id="73" name="Object 4"/>
          <p:cNvGraphicFramePr/>
          <p:nvPr>
            <p:custDataLst>
              <p:tags r:id="rId9"/>
            </p:custDataLst>
          </p:nvPr>
        </p:nvGraphicFramePr>
        <p:xfrm>
          <a:off x="2611120" y="2418715"/>
          <a:ext cx="4236720" cy="1430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10" imgW="4957445" imgH="2294890" progId="Excel.Sheet.8">
                  <p:embed/>
                </p:oleObj>
              </mc:Choice>
              <mc:Fallback>
                <p:oleObj name="" r:id="rId10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11120" y="2418715"/>
                        <a:ext cx="4236720" cy="1430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08"/>
          <p:cNvSpPr/>
          <p:nvPr>
            <p:custDataLst>
              <p:tags r:id="rId12"/>
            </p:custDataLst>
          </p:nvPr>
        </p:nvSpPr>
        <p:spPr>
          <a:xfrm>
            <a:off x="245745" y="4305300"/>
            <a:ext cx="8443595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71450" indent="-171450" algn="l" rtl="0" eaLnBrk="0">
              <a:lnSpc>
                <a:spcPct val="93000"/>
              </a:lnSpc>
              <a:buFont typeface="Arial" panose="020B0604020202090204" pitchFamily="34" charset="0"/>
              <a:buChar char="•"/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01040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</a:t>
            </a:r>
            <a:r>
              <a:rPr sz="21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Representation</a:t>
            </a:r>
            <a:endParaRPr sz="21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marL="1158240" lvl="1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format</a:t>
            </a:r>
            <a:r>
              <a:rPr lang="zh-CN" alt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宋体" charset="0"/>
                <a:cs typeface="Arial" panose="020B0604020202090204"/>
              </a:rPr>
              <a:t>、</a:t>
            </a:r>
            <a:r>
              <a:rPr lang="en-US" altLang="zh-CN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宋体" charset="0"/>
                <a:cs typeface="Arial" panose="020B0604020202090204"/>
              </a:rPr>
              <a:t>Data size</a:t>
            </a:r>
            <a:r>
              <a:rPr lang="zh-CN" alt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宋体" charset="0"/>
                <a:cs typeface="Arial" panose="020B0604020202090204"/>
              </a:rPr>
              <a:t>、Character set</a:t>
            </a:r>
            <a:endParaRPr lang="zh-CN" altLang="en-US" sz="2100" kern="0" spc="6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宋体" charset="0"/>
              <a:cs typeface="Arial" panose="020B0604020202090204"/>
            </a:endParaRPr>
          </a:p>
          <a:p>
            <a:pPr marL="1158240" lvl="1" indent="-342900" algn="l" rtl="0" eaLnBrk="0">
              <a:lnSpc>
                <a:spcPct val="85000"/>
              </a:lnSpc>
              <a:buFont typeface="Arial" panose="020B0604020202090204" pitchFamily="34" charset="0"/>
              <a:buChar char="•"/>
            </a:pPr>
            <a:r>
              <a:rPr lang="en-US" sz="2100" kern="0" spc="6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Low level</a:t>
            </a:r>
            <a:endParaRPr lang="en-US" sz="2100" kern="0" spc="6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流程图: 文档 6"/>
          <p:cNvSpPr/>
          <p:nvPr>
            <p:custDataLst>
              <p:tags r:id="rId13"/>
            </p:custDataLst>
          </p:nvPr>
        </p:nvSpPr>
        <p:spPr>
          <a:xfrm>
            <a:off x="737870" y="5195570"/>
            <a:ext cx="7817485" cy="1061720"/>
          </a:xfrm>
          <a:prstGeom prst="flowChartDocumen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34945"/>
            <a:ext cx="7886700" cy="1055370"/>
          </a:xfrm>
        </p:spPr>
        <p:txBody>
          <a:bodyPr>
            <a:normAutofit fontScale="70000"/>
          </a:bodyPr>
          <a:p>
            <a:pPr marL="0" indent="0" algn="ctr">
              <a:buNone/>
            </a:pPr>
            <a:r>
              <a:rPr sz="4000" b="1"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What is Data Model? </a:t>
            </a:r>
            <a:endParaRPr sz="4000" b="1"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  <a:p>
            <a:pPr marL="0" lvl="1" indent="0" algn="ctr">
              <a:buNone/>
            </a:pPr>
            <a:r>
              <a:rPr sz="32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Abstract Data Representation</a:t>
            </a:r>
            <a:r>
              <a:rPr lang="en-US" sz="32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+ Data Operator</a:t>
            </a:r>
            <a:endParaRPr sz="32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marL="0" indent="0" algn="ctr">
              <a:buNone/>
            </a:pPr>
            <a:endParaRPr lang="en-US" altLang="zh-CN" sz="32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332740"/>
            <a:ext cx="7886700" cy="1055370"/>
          </a:xfrm>
        </p:spPr>
        <p:txBody>
          <a:bodyPr>
            <a:normAutofit fontScale="70000"/>
          </a:bodyPr>
          <a:p>
            <a:pPr marL="0" indent="0" algn="ctr">
              <a:buNone/>
            </a:pPr>
            <a:r>
              <a:rPr sz="4000" b="1">
                <a:solidFill>
                  <a:schemeClr val="tx1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What is Data Model? </a:t>
            </a:r>
            <a:endParaRPr sz="4000" b="1"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  <a:p>
            <a:pPr marL="0" lvl="1" indent="0" algn="ctr">
              <a:buNone/>
            </a:pPr>
            <a:r>
              <a:rPr sz="32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Abstract Data Representation</a:t>
            </a:r>
            <a:r>
              <a:rPr lang="en-US" sz="32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+ Data Operator</a:t>
            </a:r>
            <a:endParaRPr sz="32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marL="0" indent="0" algn="ctr">
              <a:buNone/>
            </a:pPr>
            <a:endParaRPr lang="en-US" altLang="zh-CN" sz="32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295" y="2419985"/>
            <a:ext cx="1969770" cy="76009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5040" y="2125345"/>
            <a:ext cx="786765" cy="1353820"/>
          </a:xfrm>
          <a:prstGeom prst="rect">
            <a:avLst/>
          </a:prstGeom>
        </p:spPr>
      </p:pic>
      <p:cxnSp>
        <p:nvCxnSpPr>
          <p:cNvPr id="24" name="Straight Arrow Connector 13"/>
          <p:cNvCxnSpPr/>
          <p:nvPr>
            <p:custDataLst>
              <p:tags r:id="rId5"/>
            </p:custDataLst>
          </p:nvPr>
        </p:nvCxnSpPr>
        <p:spPr>
          <a:xfrm>
            <a:off x="1688439" y="2253805"/>
            <a:ext cx="302260" cy="222250"/>
          </a:xfrm>
          <a:prstGeom prst="straightConnector1">
            <a:avLst/>
          </a:prstGeom>
          <a:ln>
            <a:headEnd type="none"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5034280" y="1666240"/>
            <a:ext cx="280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tx1"/>
                </a:solidFill>
                <a:ea typeface="宋体" charset="0"/>
              </a:rPr>
              <a:t>Graph</a:t>
            </a:r>
            <a:endParaRPr lang="en-US" altLang="zh-CN">
              <a:solidFill>
                <a:schemeClr val="tx1"/>
              </a:solidFill>
              <a:ea typeface="宋体" charset="0"/>
            </a:endParaRPr>
          </a:p>
        </p:txBody>
      </p:sp>
      <p:sp>
        <p:nvSpPr>
          <p:cNvPr id="4" name="椭圆 3"/>
          <p:cNvSpPr/>
          <p:nvPr>
            <p:custDataLst>
              <p:tags r:id="rId7"/>
            </p:custDataLst>
          </p:nvPr>
        </p:nvSpPr>
        <p:spPr>
          <a:xfrm>
            <a:off x="5868035" y="2131695"/>
            <a:ext cx="986790" cy="8528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Mike </a:t>
            </a:r>
            <a:endParaRPr lang="en-US" altLang="zh-CN" sz="1200">
              <a:solidFill>
                <a:schemeClr val="tx1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Chan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>
            <a:off x="5868035" y="3648075"/>
            <a:ext cx="960120" cy="8528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00">
                <a:solidFill>
                  <a:schemeClr val="tx1"/>
                </a:solidFill>
              </a:rPr>
              <a:t>George Best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9"/>
            </p:custDataLst>
          </p:nvPr>
        </p:nvSpPr>
        <p:spPr>
          <a:xfrm>
            <a:off x="4986020" y="1795145"/>
            <a:ext cx="523875" cy="48831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00">
                <a:solidFill>
                  <a:schemeClr val="tx1"/>
                </a:solidFill>
              </a:rPr>
              <a:t>30</a:t>
            </a:r>
            <a:endParaRPr lang="en-US" altLang="zh-CN" sz="110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4" idx="2"/>
            <a:endCxn id="5" idx="5"/>
          </p:cNvCxnSpPr>
          <p:nvPr>
            <p:custDataLst>
              <p:tags r:id="rId10"/>
            </p:custDataLst>
          </p:nvPr>
        </p:nvCxnSpPr>
        <p:spPr>
          <a:xfrm flipH="1" flipV="1">
            <a:off x="5433060" y="2211705"/>
            <a:ext cx="434975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椭圆 5"/>
          <p:cNvSpPr/>
          <p:nvPr>
            <p:custDataLst>
              <p:tags r:id="rId11"/>
            </p:custDataLst>
          </p:nvPr>
        </p:nvSpPr>
        <p:spPr>
          <a:xfrm>
            <a:off x="5034280" y="3827145"/>
            <a:ext cx="523875" cy="48831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00">
                <a:solidFill>
                  <a:schemeClr val="tx1"/>
                </a:solidFill>
              </a:rPr>
              <a:t>47</a:t>
            </a:r>
            <a:endParaRPr lang="en-US" altLang="zh-CN" sz="11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19" idx="2"/>
            <a:endCxn id="6" idx="6"/>
          </p:cNvCxnSpPr>
          <p:nvPr>
            <p:custDataLst>
              <p:tags r:id="rId12"/>
            </p:custDataLst>
          </p:nvPr>
        </p:nvCxnSpPr>
        <p:spPr>
          <a:xfrm flipH="1" flipV="1">
            <a:off x="5558155" y="4071620"/>
            <a:ext cx="30988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椭圆 26"/>
          <p:cNvSpPr/>
          <p:nvPr>
            <p:custDataLst>
              <p:tags r:id="rId13"/>
            </p:custDataLst>
          </p:nvPr>
        </p:nvSpPr>
        <p:spPr>
          <a:xfrm>
            <a:off x="7314565" y="2283460"/>
            <a:ext cx="523875" cy="48831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00">
                <a:solidFill>
                  <a:schemeClr val="tx1"/>
                </a:solidFill>
              </a:rPr>
              <a:t>M</a:t>
            </a:r>
            <a:endParaRPr lang="en-US" altLang="zh-CN" sz="1100">
              <a:solidFill>
                <a:schemeClr val="tx1"/>
              </a:solidFill>
            </a:endParaRPr>
          </a:p>
        </p:txBody>
      </p:sp>
      <p:cxnSp>
        <p:nvCxnSpPr>
          <p:cNvPr id="28" name="直接箭头连接符 27"/>
          <p:cNvCxnSpPr>
            <a:stCxn id="4" idx="6"/>
            <a:endCxn id="27" idx="2"/>
          </p:cNvCxnSpPr>
          <p:nvPr>
            <p:custDataLst>
              <p:tags r:id="rId14"/>
            </p:custDataLst>
          </p:nvPr>
        </p:nvCxnSpPr>
        <p:spPr>
          <a:xfrm flipV="1">
            <a:off x="6854825" y="2527935"/>
            <a:ext cx="459740" cy="30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椭圆 29"/>
          <p:cNvSpPr/>
          <p:nvPr>
            <p:custDataLst>
              <p:tags r:id="rId15"/>
            </p:custDataLst>
          </p:nvPr>
        </p:nvSpPr>
        <p:spPr>
          <a:xfrm>
            <a:off x="7306310" y="3848735"/>
            <a:ext cx="523875" cy="48831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00">
                <a:solidFill>
                  <a:schemeClr val="tx1"/>
                </a:solidFill>
              </a:rPr>
              <a:t>F</a:t>
            </a:r>
            <a:endParaRPr lang="en-US" altLang="zh-CN" sz="110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19" idx="6"/>
            <a:endCxn id="30" idx="2"/>
          </p:cNvCxnSpPr>
          <p:nvPr>
            <p:custDataLst>
              <p:tags r:id="rId16"/>
            </p:custDataLst>
          </p:nvPr>
        </p:nvCxnSpPr>
        <p:spPr>
          <a:xfrm>
            <a:off x="6828155" y="4074795"/>
            <a:ext cx="47815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1043305" y="1746885"/>
            <a:ext cx="280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tx1"/>
                </a:solidFill>
              </a:rPr>
              <a:t>Key Value Map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1054100" y="4291965"/>
            <a:ext cx="280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FF0000"/>
                </a:solidFill>
              </a:rPr>
              <a:t>Relation(Tuple set)</a:t>
            </a:r>
            <a:endParaRPr lang="zh-CN" altLang="en-US">
              <a:solidFill>
                <a:srgbClr val="FF0000"/>
              </a:solidFill>
              <a:ea typeface="宋体" charset="0"/>
            </a:endParaRPr>
          </a:p>
        </p:txBody>
      </p:sp>
      <p:graphicFrame>
        <p:nvGraphicFramePr>
          <p:cNvPr id="73" name="Object 4"/>
          <p:cNvGraphicFramePr/>
          <p:nvPr>
            <p:custDataLst>
              <p:tags r:id="rId19"/>
            </p:custDataLst>
          </p:nvPr>
        </p:nvGraphicFramePr>
        <p:xfrm>
          <a:off x="955040" y="4816475"/>
          <a:ext cx="2903220" cy="127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20" imgW="4957445" imgH="2294890" progId="Excel.Sheet.8">
                  <p:embed/>
                </p:oleObj>
              </mc:Choice>
              <mc:Fallback>
                <p:oleObj name="" r:id="rId20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55040" y="4816475"/>
                        <a:ext cx="2903220" cy="1276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34945"/>
            <a:ext cx="7886700" cy="1055370"/>
          </a:xfrm>
        </p:spPr>
        <p:txBody>
          <a:bodyPr>
            <a:normAutofit fontScale="70000"/>
          </a:bodyPr>
          <a:p>
            <a:pPr marL="0" indent="0" algn="ctr">
              <a:buNone/>
            </a:pPr>
            <a:r>
              <a:rPr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What is </a:t>
            </a:r>
            <a:r>
              <a:rPr 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Relational </a:t>
            </a:r>
            <a:r>
              <a:rPr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Data Model? </a:t>
            </a:r>
            <a:endParaRPr sz="4000" b="1"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  <a:p>
            <a:pPr marL="0" lvl="1" indent="0" algn="ctr">
              <a:buNone/>
            </a:pPr>
            <a:r>
              <a:rPr sz="32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Abstract Data Representation</a:t>
            </a:r>
            <a:r>
              <a:rPr lang="en-US" sz="3200" dirty="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+ Data Operator</a:t>
            </a:r>
            <a:endParaRPr sz="32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marL="0" indent="0" algn="ctr">
              <a:buNone/>
            </a:pPr>
            <a:endParaRPr lang="en-US" altLang="zh-CN" sz="3200"/>
          </a:p>
        </p:txBody>
      </p:sp>
      <p:sp>
        <p:nvSpPr>
          <p:cNvPr id="2" name="下箭头 1"/>
          <p:cNvSpPr/>
          <p:nvPr/>
        </p:nvSpPr>
        <p:spPr>
          <a:xfrm>
            <a:off x="3491865" y="3644900"/>
            <a:ext cx="215900" cy="360045"/>
          </a:xfrm>
          <a:prstGeom prst="downArrow">
            <a:avLst/>
          </a:prstGeom>
          <a:solidFill>
            <a:srgbClr val="CCECFF"/>
          </a:solidFill>
          <a:ln w="25400" cap="flat">
            <a:solidFill>
              <a:schemeClr val="accent1">
                <a:lumOff val="44000"/>
              </a:schemeClr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5875" y="4076700"/>
            <a:ext cx="213550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Relation</a:t>
            </a:r>
            <a:endParaRPr kumimoji="0" lang="en-US" altLang="zh-CN" sz="2000" b="0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下箭头 4"/>
          <p:cNvSpPr/>
          <p:nvPr>
            <p:custDataLst>
              <p:tags r:id="rId1"/>
            </p:custDataLst>
          </p:nvPr>
        </p:nvSpPr>
        <p:spPr>
          <a:xfrm>
            <a:off x="6372225" y="3644900"/>
            <a:ext cx="215900" cy="360045"/>
          </a:xfrm>
          <a:prstGeom prst="downArrow">
            <a:avLst/>
          </a:prstGeom>
          <a:solidFill>
            <a:srgbClr val="CCECFF"/>
          </a:solidFill>
          <a:ln w="25400" cap="flat">
            <a:solidFill>
              <a:schemeClr val="accent1">
                <a:lumOff val="44000"/>
              </a:schemeClr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435600" y="4077335"/>
            <a:ext cx="213550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Relation Operator</a:t>
            </a:r>
            <a:endParaRPr kumimoji="0" lang="en-US" altLang="zh-CN" sz="2000" b="0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pPr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Example of a Instructor Relation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148" name="Text Box 4"/>
          <p:cNvSpPr txBox="1"/>
          <p:nvPr/>
        </p:nvSpPr>
        <p:spPr>
          <a:xfrm>
            <a:off x="7080444" y="1333500"/>
            <a:ext cx="1374389" cy="6502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ctr">
              <a:defRPr sz="1800"/>
            </a:pPr>
            <a:r>
              <a:t>attributes</a:t>
            </a:r>
          </a:p>
          <a:p>
            <a:pPr algn="ctr">
              <a:defRPr sz="1800"/>
            </a:pPr>
            <a:r>
              <a:t>(or columns)</a:t>
            </a:r>
          </a:p>
        </p:txBody>
      </p:sp>
      <p:sp>
        <p:nvSpPr>
          <p:cNvPr id="149" name="Line 5"/>
          <p:cNvSpPr/>
          <p:nvPr/>
        </p:nvSpPr>
        <p:spPr>
          <a:xfrm flipH="1">
            <a:off x="3238498" y="1565274"/>
            <a:ext cx="3927477" cy="35084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0" name="Line 6"/>
          <p:cNvSpPr/>
          <p:nvPr/>
        </p:nvSpPr>
        <p:spPr>
          <a:xfrm flipH="1">
            <a:off x="4608512" y="1546224"/>
            <a:ext cx="2557462" cy="36989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1" name="Line 7"/>
          <p:cNvSpPr/>
          <p:nvPr/>
        </p:nvSpPr>
        <p:spPr>
          <a:xfrm flipH="1">
            <a:off x="5819774" y="1565274"/>
            <a:ext cx="1320801" cy="360365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2" name="Text Box 8"/>
          <p:cNvSpPr txBox="1"/>
          <p:nvPr/>
        </p:nvSpPr>
        <p:spPr>
          <a:xfrm>
            <a:off x="7028192" y="2522538"/>
            <a:ext cx="1005816" cy="650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ctr">
              <a:defRPr sz="1800"/>
            </a:pPr>
            <a:r>
              <a:t>tuples</a:t>
            </a:r>
          </a:p>
          <a:p>
            <a:pPr algn="ctr">
              <a:defRPr sz="1800"/>
            </a:pPr>
            <a:r>
              <a:t>(or rows)</a:t>
            </a:r>
          </a:p>
        </p:txBody>
      </p:sp>
      <p:sp>
        <p:nvSpPr>
          <p:cNvPr id="153" name="Line 9"/>
          <p:cNvSpPr/>
          <p:nvPr/>
        </p:nvSpPr>
        <p:spPr>
          <a:xfrm flipH="1" flipV="1">
            <a:off x="6742113" y="2487614"/>
            <a:ext cx="369888" cy="220662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4" name="Line 10"/>
          <p:cNvSpPr/>
          <p:nvPr/>
        </p:nvSpPr>
        <p:spPr>
          <a:xfrm flipH="1">
            <a:off x="6729413" y="2706688"/>
            <a:ext cx="369888" cy="11113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5" name="Line 11"/>
          <p:cNvSpPr/>
          <p:nvPr/>
        </p:nvSpPr>
        <p:spPr>
          <a:xfrm flipH="1">
            <a:off x="6718300" y="2717799"/>
            <a:ext cx="392114" cy="31274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6" name="Line 12"/>
          <p:cNvSpPr/>
          <p:nvPr/>
        </p:nvSpPr>
        <p:spPr>
          <a:xfrm flipH="1">
            <a:off x="6729413" y="2727325"/>
            <a:ext cx="381001" cy="55562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/>
        </p:txBody>
      </p:sp>
      <p:pic>
        <p:nvPicPr>
          <p:cNvPr id="157" name="Graphic 2" descr="Graphic 2"/>
          <p:cNvPicPr>
            <a:picLocks noChangeAspect="1"/>
          </p:cNvPicPr>
          <p:nvPr/>
        </p:nvPicPr>
        <p:blipFill>
          <a:blip r:embed="rId1"/>
          <a:srcRect b="13197"/>
          <a:stretch>
            <a:fillRect/>
          </a:stretch>
        </p:blipFill>
        <p:spPr>
          <a:xfrm>
            <a:off x="1680368" y="1756896"/>
            <a:ext cx="5154614" cy="4428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44450" tIns="44450" rIns="44450" bIns="44450" anchor="ctr"/>
          <a:lstStyle/>
          <a:p>
            <a:r>
              <a:rPr>
                <a:solidFill>
                  <a:srgbClr val="C00000"/>
                </a:solidFill>
              </a:rPr>
              <a:t>Relation Schema and Instance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61" name="Rectangle 3"/>
          <p:cNvSpPr txBox="1"/>
          <p:nvPr>
            <p:ph type="body" idx="1"/>
          </p:nvPr>
        </p:nvSpPr>
        <p:spPr>
          <a:xfrm>
            <a:off x="768350" y="1104899"/>
            <a:ext cx="7979724" cy="3712198"/>
          </a:xfrm>
          <a:prstGeom prst="rect">
            <a:avLst/>
          </a:prstGeom>
        </p:spPr>
        <p:txBody>
          <a:bodyPr lIns="44450" tIns="44450" rIns="44450" bIns="44450"/>
          <a:lstStyle/>
          <a:p>
            <a:pPr>
              <a:defRPr i="1"/>
            </a:pPr>
            <a:r>
              <a:t>A</a:t>
            </a:r>
            <a:r>
              <a:rPr i="0" baseline="-25000"/>
              <a:t>1</a:t>
            </a:r>
            <a:r>
              <a:rPr i="0"/>
              <a:t>, </a:t>
            </a:r>
            <a:r>
              <a:t>A</a:t>
            </a:r>
            <a:r>
              <a:rPr i="0" baseline="-25000"/>
              <a:t>2</a:t>
            </a:r>
            <a:r>
              <a:rPr i="0"/>
              <a:t>, …, </a:t>
            </a:r>
            <a:r>
              <a:t>A</a:t>
            </a:r>
            <a:r>
              <a:rPr baseline="-25000"/>
              <a:t>n</a:t>
            </a:r>
            <a:r>
              <a:t> </a:t>
            </a:r>
            <a:r>
              <a:rPr i="0"/>
              <a:t>are </a:t>
            </a:r>
            <a:r>
              <a:rPr b="1" i="0">
                <a:solidFill>
                  <a:srgbClr val="002060"/>
                </a:solidFill>
              </a:rPr>
              <a:t>attributes</a:t>
            </a:r>
            <a:endParaRPr b="1" i="0">
              <a:solidFill>
                <a:srgbClr val="002060"/>
              </a:solidFill>
            </a:endParaRPr>
          </a:p>
          <a:p>
            <a:pPr>
              <a:defRPr i="1"/>
            </a:pPr>
            <a:r>
              <a:t>R</a:t>
            </a:r>
            <a:r>
              <a:rPr i="0"/>
              <a:t> = (</a:t>
            </a:r>
            <a:r>
              <a:t>A</a:t>
            </a:r>
            <a:r>
              <a:rPr i="0" baseline="-25000"/>
              <a:t>1</a:t>
            </a:r>
            <a:r>
              <a:rPr i="0"/>
              <a:t>, </a:t>
            </a:r>
            <a:r>
              <a:t>A</a:t>
            </a:r>
            <a:r>
              <a:rPr i="0" baseline="-25000"/>
              <a:t>2</a:t>
            </a:r>
            <a:r>
              <a:rPr i="0"/>
              <a:t>, …, </a:t>
            </a:r>
            <a:r>
              <a:t>A</a:t>
            </a:r>
            <a:r>
              <a:rPr baseline="-25000"/>
              <a:t>n</a:t>
            </a:r>
            <a:r>
              <a:rPr i="0"/>
              <a:t> ) is a </a:t>
            </a:r>
            <a:r>
              <a:rPr b="1" i="0">
                <a:solidFill>
                  <a:srgbClr val="002060"/>
                </a:solidFill>
              </a:rPr>
              <a:t>relation schema</a:t>
            </a:r>
            <a:endParaRPr b="1" i="0">
              <a:solidFill>
                <a:srgbClr val="002060"/>
              </a:solidFill>
            </a:endParaRPr>
          </a:p>
          <a:p>
            <a:pPr lvl="1">
              <a:defRPr i="1"/>
            </a:pPr>
            <a:r>
              <a:t>Example:</a:t>
            </a:r>
            <a:r>
              <a:rPr lang="en-US"/>
              <a:t> </a:t>
            </a:r>
            <a:r>
              <a:rPr i="1"/>
              <a:t>instructor </a:t>
            </a:r>
            <a:r>
              <a:t> = (</a:t>
            </a:r>
            <a:r>
              <a:rPr i="1"/>
              <a:t>ID,  name, dept_name, salary</a:t>
            </a:r>
            <a:r>
              <a:t>)</a:t>
            </a:r>
          </a:p>
          <a:p>
            <a:pPr>
              <a:lnSpc>
                <a:spcPct val="120000"/>
              </a:lnSpc>
            </a:pPr>
            <a:r>
              <a:t>A </a:t>
            </a:r>
            <a:r>
              <a:rPr b="1">
                <a:solidFill>
                  <a:srgbClr val="002060"/>
                </a:solidFill>
              </a:rPr>
              <a:t>relation instance </a:t>
            </a:r>
            <a:r>
              <a:rPr i="1"/>
              <a:t>r</a:t>
            </a:r>
            <a:r>
              <a:t> defined over schema </a:t>
            </a:r>
            <a:r>
              <a:rPr i="1"/>
              <a:t>R</a:t>
            </a:r>
            <a:r>
              <a:t> is denoted  by </a:t>
            </a:r>
            <a:r>
              <a:rPr i="1"/>
              <a:t>r </a:t>
            </a:r>
            <a:r>
              <a:t>(</a:t>
            </a:r>
            <a:r>
              <a:rPr i="1"/>
              <a:t>R</a:t>
            </a:r>
            <a:r>
              <a:t>).</a:t>
            </a:r>
          </a:p>
          <a:p>
            <a:pPr>
              <a:lnSpc>
                <a:spcPct val="120000"/>
              </a:lnSpc>
            </a:pPr>
            <a:r>
              <a:t>An element </a:t>
            </a:r>
            <a:r>
              <a:rPr b="1" i="1">
                <a:solidFill>
                  <a:srgbClr val="000099"/>
                </a:solidFill>
              </a:rPr>
              <a:t>t</a:t>
            </a:r>
            <a:r>
              <a:rPr b="1">
                <a:solidFill>
                  <a:srgbClr val="000099"/>
                </a:solidFill>
              </a:rPr>
              <a:t> </a:t>
            </a:r>
            <a:r>
              <a:t>of</a:t>
            </a:r>
            <a:r>
              <a:rPr b="1">
                <a:solidFill>
                  <a:srgbClr val="666699"/>
                </a:solidFill>
              </a:rPr>
              <a:t> </a:t>
            </a:r>
            <a:r>
              <a:t>relation</a:t>
            </a:r>
            <a:r>
              <a:rPr b="1">
                <a:solidFill>
                  <a:srgbClr val="666699"/>
                </a:solidFill>
              </a:rPr>
              <a:t> </a:t>
            </a:r>
            <a:r>
              <a:rPr b="1" i="1">
                <a:solidFill>
                  <a:srgbClr val="000099"/>
                </a:solidFill>
              </a:rPr>
              <a:t>r</a:t>
            </a:r>
            <a:r>
              <a:t> is called a  </a:t>
            </a:r>
            <a:r>
              <a:rPr b="1">
                <a:solidFill>
                  <a:srgbClr val="002060"/>
                </a:solidFill>
              </a:rPr>
              <a:t>tuple</a:t>
            </a:r>
            <a:r>
              <a:t> and is represented by a </a:t>
            </a:r>
            <a:r>
              <a:rPr b="1">
                <a:solidFill>
                  <a:srgbClr val="002060"/>
                </a:solidFill>
              </a:rPr>
              <a:t>row</a:t>
            </a:r>
            <a:r>
              <a:rPr i="1"/>
              <a:t> </a:t>
            </a:r>
            <a:r>
              <a:t>in a table</a:t>
            </a:r>
          </a:p>
        </p:txBody>
      </p:sp>
      <p:pic>
        <p:nvPicPr>
          <p:cNvPr id="175" name="Graphic 5" descr="Graphic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2197"/>
          <a:stretch>
            <a:fillRect/>
          </a:stretch>
        </p:blipFill>
        <p:spPr>
          <a:xfrm>
            <a:off x="2589386" y="3068704"/>
            <a:ext cx="4483053" cy="354006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Attributes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165" name="Rectangle 3"/>
          <p:cNvSpPr txBox="1"/>
          <p:nvPr>
            <p:ph type="body" idx="1"/>
          </p:nvPr>
        </p:nvSpPr>
        <p:spPr>
          <a:xfrm>
            <a:off x="768350" y="1219200"/>
            <a:ext cx="7656560" cy="4230624"/>
          </a:xfrm>
          <a:prstGeom prst="rect">
            <a:avLst/>
          </a:prstGeom>
        </p:spPr>
        <p:txBody>
          <a:bodyPr/>
          <a:lstStyle/>
          <a:p>
            <a:r>
              <a:t>The set of allowed values for each attribute is called the </a:t>
            </a:r>
            <a:r>
              <a:rPr b="1">
                <a:solidFill>
                  <a:srgbClr val="002060"/>
                </a:solidFill>
              </a:rPr>
              <a:t>domain</a:t>
            </a:r>
            <a:r>
              <a:rPr>
                <a:solidFill>
                  <a:srgbClr val="002060"/>
                </a:solidFill>
              </a:rPr>
              <a:t> </a:t>
            </a:r>
            <a:r>
              <a:t>of the attribute</a:t>
            </a:r>
          </a:p>
          <a:p/>
          <a:p>
            <a:r>
              <a:t>Attribute values are (normally) required to be </a:t>
            </a:r>
            <a:r>
              <a:rPr b="1">
                <a:solidFill>
                  <a:srgbClr val="002060"/>
                </a:solidFill>
              </a:rPr>
              <a:t>atomic</a:t>
            </a:r>
            <a:r>
              <a:t>; that is, indivisible</a:t>
            </a:r>
          </a:p>
          <a:p/>
          <a:p>
            <a:r>
              <a:t>The special value</a:t>
            </a:r>
            <a:r>
              <a:rPr b="1">
                <a:solidFill>
                  <a:srgbClr val="CC3300"/>
                </a:solidFill>
              </a:rPr>
              <a:t> </a:t>
            </a:r>
            <a:r>
              <a:rPr b="1" i="1"/>
              <a:t>null</a:t>
            </a:r>
            <a:r>
              <a:t>  is a member of every domain. Indicated that the value is “unknown”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Relations are Unordered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169" name="Rectangle 3"/>
          <p:cNvSpPr txBox="1"/>
          <p:nvPr>
            <p:ph type="body" sz="quarter" idx="1"/>
          </p:nvPr>
        </p:nvSpPr>
        <p:spPr>
          <a:xfrm>
            <a:off x="768349" y="1219200"/>
            <a:ext cx="7621049" cy="1048512"/>
          </a:xfrm>
          <a:prstGeom prst="rect">
            <a:avLst/>
          </a:prstGeom>
        </p:spPr>
        <p:txBody>
          <a:bodyPr/>
          <a:lstStyle/>
          <a:p>
            <a:r>
              <a:t>Order of tuples is irrelevant (tuples may be stored in an arbitrary order)</a:t>
            </a:r>
          </a:p>
          <a:p>
            <a:r>
              <a:t>Example: </a:t>
            </a:r>
            <a:r>
              <a:rPr i="1"/>
              <a:t>instructor</a:t>
            </a:r>
            <a:r>
              <a:t>  relation with unordered tuples</a:t>
            </a:r>
          </a:p>
        </p:txBody>
      </p:sp>
      <p:pic>
        <p:nvPicPr>
          <p:cNvPr id="170" name="Graphic 5" descr="Graphic 5"/>
          <p:cNvPicPr>
            <a:picLocks noChangeAspect="1"/>
          </p:cNvPicPr>
          <p:nvPr/>
        </p:nvPicPr>
        <p:blipFill>
          <a:blip r:embed="rId1"/>
          <a:srcRect b="12197"/>
          <a:stretch>
            <a:fillRect/>
          </a:stretch>
        </p:blipFill>
        <p:spPr>
          <a:xfrm>
            <a:off x="1948917" y="2188346"/>
            <a:ext cx="4702739" cy="371354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Keys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179" name="Rectangle 3"/>
          <p:cNvSpPr txBox="1"/>
          <p:nvPr>
            <p:ph type="body" idx="1"/>
          </p:nvPr>
        </p:nvSpPr>
        <p:spPr>
          <a:xfrm>
            <a:off x="768351" y="1098864"/>
            <a:ext cx="7647679" cy="4896169"/>
          </a:xfrm>
          <a:prstGeom prst="rect">
            <a:avLst/>
          </a:prstGeom>
        </p:spPr>
        <p:txBody>
          <a:bodyPr/>
          <a:lstStyle/>
          <a:p>
            <a:r>
              <a:t>Let K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Í </a:t>
            </a:r>
            <a:r>
              <a:t>R</a:t>
            </a:r>
          </a:p>
          <a:p>
            <a:pPr>
              <a:defRPr i="1"/>
            </a:pPr>
            <a:r>
              <a:t>K </a:t>
            </a:r>
            <a:r>
              <a:rPr i="0"/>
              <a:t>is a </a:t>
            </a:r>
            <a:r>
              <a:rPr b="1" i="0">
                <a:solidFill>
                  <a:srgbClr val="002060"/>
                </a:solidFill>
              </a:rPr>
              <a:t>superkey</a:t>
            </a:r>
            <a:r>
              <a:rPr b="1" i="0">
                <a:solidFill>
                  <a:srgbClr val="CC3300"/>
                </a:solidFill>
              </a:rPr>
              <a:t> </a:t>
            </a:r>
            <a:r>
              <a:rPr i="0"/>
              <a:t>of </a:t>
            </a:r>
            <a:r>
              <a:t>R</a:t>
            </a:r>
            <a:r>
              <a:rPr i="0"/>
              <a:t> if values for </a:t>
            </a:r>
            <a:r>
              <a:t>K</a:t>
            </a:r>
            <a:r>
              <a:rPr i="0"/>
              <a:t> are sufficient to identify a unique tuple of each possible relation </a:t>
            </a:r>
            <a:r>
              <a:t>r(R)</a:t>
            </a:r>
            <a:r>
              <a:rPr i="0"/>
              <a:t> </a:t>
            </a:r>
            <a:endParaRPr i="0"/>
          </a:p>
          <a:p>
            <a:pPr lvl="1">
              <a:lnSpc>
                <a:spcPct val="130000"/>
              </a:lnSpc>
              <a:buClr>
                <a:srgbClr val="FF9933"/>
              </a:buClr>
              <a:buFont typeface="Arial" panose="020B0604020202090204"/>
            </a:pPr>
            <a:r>
              <a:t>Example:  {</a:t>
            </a:r>
            <a:r>
              <a:rPr i="1"/>
              <a:t>ID</a:t>
            </a:r>
            <a:r>
              <a:t>} and {ID,name} are both superkeys of </a:t>
            </a:r>
            <a:r>
              <a:rPr i="1"/>
              <a:t>instructor.</a:t>
            </a:r>
            <a:endParaRPr i="1"/>
          </a:p>
          <a:p>
            <a:pPr>
              <a:lnSpc>
                <a:spcPct val="120000"/>
              </a:lnSpc>
            </a:pPr>
            <a:r>
              <a:t>Superkey </a:t>
            </a:r>
            <a:r>
              <a:rPr i="1"/>
              <a:t>K</a:t>
            </a:r>
            <a:r>
              <a:t> is a </a:t>
            </a:r>
            <a:r>
              <a:rPr b="1">
                <a:solidFill>
                  <a:srgbClr val="002060"/>
                </a:solidFill>
              </a:rPr>
              <a:t>candidate key</a:t>
            </a:r>
            <a:r>
              <a:t> if </a:t>
            </a:r>
            <a:r>
              <a:rPr i="1"/>
              <a:t>K</a:t>
            </a:r>
            <a:r>
              <a:t> is minimal</a:t>
            </a:r>
            <a:br/>
            <a:r>
              <a:t>Example:  {</a:t>
            </a:r>
            <a:r>
              <a:rPr i="1"/>
              <a:t>ID</a:t>
            </a:r>
            <a:r>
              <a:t>} is a candidate key for </a:t>
            </a:r>
            <a:r>
              <a:rPr i="1"/>
              <a:t>Instructor</a:t>
            </a:r>
            <a:endParaRPr i="1"/>
          </a:p>
          <a:p>
            <a:pPr>
              <a:lnSpc>
                <a:spcPct val="120000"/>
              </a:lnSpc>
            </a:pPr>
            <a:r>
              <a:t>One of the candidate keys is selected to be the </a:t>
            </a:r>
            <a:r>
              <a:rPr b="1">
                <a:solidFill>
                  <a:srgbClr val="002060"/>
                </a:solidFill>
              </a:rPr>
              <a:t>primary key</a:t>
            </a:r>
            <a:r>
              <a:t>.</a:t>
            </a:r>
          </a:p>
          <a:p>
            <a:pPr lvl="1">
              <a:lnSpc>
                <a:spcPct val="120000"/>
              </a:lnSpc>
              <a:buClr>
                <a:srgbClr val="FF9933"/>
              </a:buClr>
              <a:buFont typeface="Arial" panose="020B0604020202090204"/>
            </a:pPr>
            <a:r>
              <a:t>Which one?</a:t>
            </a:r>
          </a:p>
          <a:p>
            <a:pPr>
              <a:defRPr b="1">
                <a:solidFill>
                  <a:srgbClr val="002060"/>
                </a:solidFill>
              </a:defRPr>
            </a:pPr>
            <a:r>
              <a:t>Foreign key</a:t>
            </a:r>
            <a:r>
              <a:rPr b="0"/>
              <a:t> </a:t>
            </a:r>
            <a:r>
              <a:rPr b="0">
                <a:solidFill>
                  <a:srgbClr val="000000"/>
                </a:solidFill>
              </a:rPr>
              <a:t>constraint: Value in one relation must appear in another</a:t>
            </a:r>
            <a:endParaRPr b="0">
              <a:solidFill>
                <a:srgbClr val="000000"/>
              </a:solidFill>
            </a:endParaRPr>
          </a:p>
          <a:p>
            <a:pPr lvl="1">
              <a:buClr>
                <a:srgbClr val="FF9933"/>
              </a:buClr>
              <a:buFont typeface="Arial" panose="020B0604020202090204"/>
              <a:defRPr b="1">
                <a:solidFill>
                  <a:srgbClr val="002060"/>
                </a:solidFill>
              </a:defRPr>
            </a:pPr>
            <a:r>
              <a:t>Referencing</a:t>
            </a:r>
            <a:r>
              <a:rPr b="0">
                <a:solidFill>
                  <a:srgbClr val="000000"/>
                </a:solidFill>
              </a:rPr>
              <a:t> relation</a:t>
            </a:r>
            <a:endParaRPr b="0">
              <a:solidFill>
                <a:srgbClr val="000000"/>
              </a:solidFill>
            </a:endParaRPr>
          </a:p>
          <a:p>
            <a:pPr lvl="1">
              <a:buClr>
                <a:srgbClr val="FF9933"/>
              </a:buClr>
              <a:buFont typeface="Arial" panose="020B0604020202090204"/>
              <a:defRPr b="1">
                <a:solidFill>
                  <a:srgbClr val="002060"/>
                </a:solidFill>
              </a:defRPr>
            </a:pPr>
            <a:r>
              <a:t>Referenced</a:t>
            </a:r>
            <a:r>
              <a:rPr b="0">
                <a:solidFill>
                  <a:srgbClr val="000000"/>
                </a:solidFill>
              </a:rPr>
              <a:t> relation</a:t>
            </a:r>
            <a:endParaRPr b="0">
              <a:solidFill>
                <a:srgbClr val="000000"/>
              </a:solidFill>
            </a:endParaRP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Example: </a:t>
            </a:r>
            <a:r>
              <a:rPr i="1"/>
              <a:t>dept_name</a:t>
            </a:r>
            <a:r>
              <a:t> in i</a:t>
            </a:r>
            <a:r>
              <a:rPr i="1"/>
              <a:t>nstructor</a:t>
            </a:r>
            <a:r>
              <a:t>  is a foreign key from </a:t>
            </a:r>
            <a:r>
              <a:rPr i="1"/>
              <a:t>instructor</a:t>
            </a:r>
            <a:r>
              <a:t> referencing </a:t>
            </a:r>
            <a:r>
              <a:rPr i="1"/>
              <a:t>department</a:t>
            </a:r>
            <a:endParaRPr i="1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rPr>
                <a:solidFill>
                  <a:srgbClr val="C00000"/>
                </a:solidFill>
                <a:effectLst>
                  <a:outerShdw blurRad="38100" dist="38100" dir="2700000" rotWithShape="0">
                    <a:srgbClr val="DDDDDD"/>
                  </a:outerShdw>
                </a:effectLst>
              </a:rPr>
              <a:t>Schema Diagram for University Database</a:t>
            </a:r>
            <a:endParaRPr>
              <a:solidFill>
                <a:srgbClr val="C00000"/>
              </a:solidFill>
              <a:effectLst>
                <a:outerShdw blurRad="38100" dist="38100" dir="2700000" rotWithShape="0">
                  <a:srgbClr val="DDDDDD"/>
                </a:outerShdw>
              </a:effectLst>
            </a:endParaRPr>
          </a:p>
        </p:txBody>
      </p:sp>
      <p:pic>
        <p:nvPicPr>
          <p:cNvPr id="183" name="Graphic 2" descr="Graphic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02" y="1383738"/>
            <a:ext cx="8131996" cy="487195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Relational Algebra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1" name="Rectangle 3"/>
          <p:cNvSpPr txBox="1"/>
          <p:nvPr>
            <p:ph type="body" idx="1"/>
          </p:nvPr>
        </p:nvSpPr>
        <p:spPr>
          <a:xfrm>
            <a:off x="768350" y="1077912"/>
            <a:ext cx="7558903" cy="4876801"/>
          </a:xfrm>
          <a:prstGeom prst="rect">
            <a:avLst/>
          </a:prstGeom>
        </p:spPr>
        <p:txBody>
          <a:bodyPr/>
          <a:lstStyle/>
          <a:p>
            <a:r>
              <a:t>An algebraic language consisting  of a set of operations that take one or two relations as input and produce a new relation as their result. </a:t>
            </a:r>
          </a:p>
          <a:p>
            <a:r>
              <a:t>Six basic operators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select: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endParaRPr>
              <a:latin typeface="Symbol"/>
              <a:ea typeface="Symbol"/>
              <a:cs typeface="Symbol"/>
              <a:sym typeface="Symbol"/>
            </a:endParaRP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project: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endParaRPr>
              <a:latin typeface="Symbol"/>
              <a:ea typeface="Symbol"/>
              <a:cs typeface="Symbol"/>
              <a:sym typeface="Symbol"/>
            </a:endParaRP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union: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</a:t>
            </a:r>
            <a:endParaRPr>
              <a:latin typeface="Symbol"/>
              <a:ea typeface="Symbol"/>
              <a:cs typeface="Symbol"/>
              <a:sym typeface="Symbol"/>
            </a:endParaRP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set difference: </a:t>
            </a:r>
            <a:r>
              <a:rPr i="1"/>
              <a:t>–</a:t>
            </a:r>
            <a:r>
              <a:t> 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Cartesian product: x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rename: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r</a:t>
            </a:r>
            <a:endParaRPr>
              <a:latin typeface="Symbol"/>
              <a:ea typeface="Symbol"/>
              <a:cs typeface="Symbol"/>
              <a:sym typeface="Symbol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3"/>
          <p:cNvSpPr txBox="1"/>
          <p:nvPr>
            <p:ph type="body" sz="half" idx="1"/>
          </p:nvPr>
        </p:nvSpPr>
        <p:spPr>
          <a:xfrm>
            <a:off x="909752" y="966181"/>
            <a:ext cx="7612172" cy="2462820"/>
          </a:xfrm>
          <a:prstGeom prst="rect">
            <a:avLst/>
          </a:prstGeom>
        </p:spPr>
        <p:txBody>
          <a:bodyPr/>
          <a:lstStyle/>
          <a:p>
            <a:pPr marL="274320" indent="-274320" defTabSz="731520">
              <a:lnSpc>
                <a:spcPct val="90000"/>
              </a:lnSpc>
              <a:spcBef>
                <a:spcPts val="500"/>
              </a:spcBef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The  </a:t>
            </a:r>
            <a:r>
              <a:rPr b="1"/>
              <a:t>selec</a:t>
            </a:r>
            <a:r>
              <a:t>t operation selects tuples that satisfy a given predicate.</a:t>
            </a:r>
          </a:p>
          <a:p>
            <a:pPr marL="274320" indent="-274320" defTabSz="731520">
              <a:lnSpc>
                <a:spcPct val="90000"/>
              </a:lnSpc>
              <a:spcBef>
                <a:spcPts val="500"/>
              </a:spcBef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Notation: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30000"/>
              <a:t>p </a:t>
            </a:r>
            <a:r>
              <a:t>(</a:t>
            </a:r>
            <a:r>
              <a:rPr i="1"/>
              <a:t>r</a:t>
            </a:r>
            <a:r>
              <a:t>)</a:t>
            </a:r>
          </a:p>
          <a:p>
            <a:pPr marL="274320" indent="-274320" defTabSz="731520">
              <a:lnSpc>
                <a:spcPct val="90000"/>
              </a:lnSpc>
              <a:spcBef>
                <a:spcPts val="500"/>
              </a:spcBef>
              <a:tabLst>
                <a:tab pos="1320800" algn="l"/>
                <a:tab pos="2514600" algn="r"/>
                <a:tab pos="2730500" algn="l"/>
              </a:tabLst>
              <a:defRPr sz="1360" i="1"/>
            </a:pPr>
            <a:r>
              <a:t>p</a:t>
            </a:r>
            <a:r>
              <a:rPr i="0"/>
              <a:t> is called the </a:t>
            </a:r>
            <a:r>
              <a:rPr b="1" i="0">
                <a:solidFill>
                  <a:srgbClr val="002060"/>
                </a:solidFill>
              </a:rPr>
              <a:t>selection predicate</a:t>
            </a:r>
            <a:endParaRPr b="1" i="0">
              <a:solidFill>
                <a:srgbClr val="002060"/>
              </a:solidFill>
            </a:endParaRPr>
          </a:p>
          <a:p>
            <a:pPr marL="274320" indent="-274320" defTabSz="731520">
              <a:lnSpc>
                <a:spcPct val="90000"/>
              </a:lnSpc>
              <a:spcBef>
                <a:spcPts val="500"/>
              </a:spcBef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Example: select those tuples of the </a:t>
            </a:r>
            <a:r>
              <a:rPr i="1"/>
              <a:t>instructor</a:t>
            </a:r>
            <a:r>
              <a:t>  relation where the instructor is in the “Physics” department.</a:t>
            </a:r>
          </a:p>
          <a:p>
            <a:pPr marL="594360" lvl="1" indent="-228600" defTabSz="731520">
              <a:lnSpc>
                <a:spcPct val="90000"/>
              </a:lnSpc>
              <a:spcBef>
                <a:spcPts val="500"/>
              </a:spcBef>
              <a:buClr>
                <a:srgbClr val="FF9933"/>
              </a:buClr>
              <a:buFont typeface="Arial" panose="020B0604020202090204"/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Query</a:t>
            </a:r>
          </a:p>
          <a:p>
            <a:pPr marL="0" lvl="1" indent="365760" defTabSz="731520">
              <a:lnSpc>
                <a:spcPct val="90000"/>
              </a:lnSpc>
              <a:spcBef>
                <a:spcPts val="600"/>
              </a:spcBef>
              <a:buSzTx/>
              <a:buFont typeface="Wingdings" panose="05000000000000000000"/>
              <a:buNone/>
              <a:tabLst>
                <a:tab pos="1320800" algn="l"/>
                <a:tab pos="2514600" algn="r"/>
                <a:tab pos="2730500" algn="l"/>
              </a:tabLst>
              <a:defRPr sz="640"/>
            </a:pPr>
            <a:r>
              <a:t> </a:t>
            </a:r>
            <a:br/>
            <a:r>
              <a:rPr sz="1360"/>
              <a:t>  	</a:t>
            </a:r>
            <a:r>
              <a:rPr sz="152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1520"/>
              <a:t> </a:t>
            </a:r>
            <a:r>
              <a:rPr sz="1520" i="1" baseline="-30000"/>
              <a:t>dept_name=</a:t>
            </a:r>
            <a:r>
              <a:rPr sz="1520" i="1" baseline="-30000"/>
              <a:t>“</a:t>
            </a:r>
            <a:r>
              <a:rPr sz="1520" i="1" baseline="-30000"/>
              <a:t>Physics” </a:t>
            </a:r>
            <a:r>
              <a:rPr sz="1360"/>
              <a:t>(</a:t>
            </a:r>
            <a:r>
              <a:rPr sz="1360" i="1"/>
              <a:t>instructor</a:t>
            </a:r>
            <a:r>
              <a:rPr sz="1360"/>
              <a:t>)</a:t>
            </a:r>
            <a:endParaRPr sz="1360"/>
          </a:p>
          <a:p>
            <a:pPr marL="0" lvl="1" indent="365760" defTabSz="731520">
              <a:lnSpc>
                <a:spcPct val="90000"/>
              </a:lnSpc>
              <a:spcBef>
                <a:spcPts val="500"/>
              </a:spcBef>
              <a:buSzTx/>
              <a:buFont typeface="Wingdings" panose="05000000000000000000"/>
              <a:buNone/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                                                        </a:t>
            </a:r>
          </a:p>
          <a:p>
            <a:pPr marL="0" lvl="1" indent="365760" defTabSz="731520">
              <a:lnSpc>
                <a:spcPct val="90000"/>
              </a:lnSpc>
              <a:spcBef>
                <a:spcPts val="500"/>
              </a:spcBef>
              <a:buSzTx/>
              <a:buFont typeface="Wingdings" panose="05000000000000000000"/>
              <a:buNone/>
              <a:tabLst>
                <a:tab pos="1320800" algn="l"/>
                <a:tab pos="2514600" algn="r"/>
                <a:tab pos="2730500" algn="l"/>
              </a:tabLst>
              <a:defRPr sz="1360"/>
            </a:pPr>
            <a:r>
              <a:t>                                                                               </a:t>
            </a:r>
          </a:p>
        </p:txBody>
      </p:sp>
      <p:sp>
        <p:nvSpPr>
          <p:cNvPr id="19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Select Operation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196" name="Graphic 2" descr="Graphic 2"/>
          <p:cNvPicPr>
            <a:picLocks noChangeAspect="1"/>
          </p:cNvPicPr>
          <p:nvPr/>
        </p:nvPicPr>
        <p:blipFill>
          <a:blip r:embed="rId1"/>
          <a:srcRect b="31858"/>
          <a:stretch>
            <a:fillRect/>
          </a:stretch>
        </p:blipFill>
        <p:spPr>
          <a:xfrm>
            <a:off x="4288016" y="4049377"/>
            <a:ext cx="4932140" cy="12231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7" name="Graphic 4" descr="Graphic 4"/>
          <p:cNvPicPr>
            <a:picLocks noChangeAspect="1"/>
          </p:cNvPicPr>
          <p:nvPr/>
        </p:nvPicPr>
        <p:blipFill>
          <a:blip r:embed="rId2"/>
          <a:srcRect b="12197"/>
          <a:stretch>
            <a:fillRect/>
          </a:stretch>
        </p:blipFill>
        <p:spPr>
          <a:xfrm>
            <a:off x="0" y="3115842"/>
            <a:ext cx="3913412" cy="30902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8" name="TextBox 1"/>
          <p:cNvSpPr txBox="1"/>
          <p:nvPr/>
        </p:nvSpPr>
        <p:spPr>
          <a:xfrm>
            <a:off x="6259482" y="3434887"/>
            <a:ext cx="1768533" cy="3327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t>Result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1" bldLvl="0" animBg="1" advAuto="0"/>
      <p:bldP spid="194" grpId="2" bldLvl="5" animBg="1" advAuto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Select Operation (Cont.)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02" name="Rectangle 3"/>
          <p:cNvSpPr txBox="1"/>
          <p:nvPr>
            <p:ph type="body" idx="1"/>
          </p:nvPr>
        </p:nvSpPr>
        <p:spPr>
          <a:xfrm>
            <a:off x="768349" y="1138873"/>
            <a:ext cx="7656561" cy="481082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We allow comparisons using </a:t>
            </a:r>
          </a:p>
          <a:p>
            <a:pPr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</a:pPr>
            <a:r>
              <a:t>                     =,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¹</a:t>
            </a:r>
            <a:r>
              <a:t>, &gt;,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³</a:t>
            </a:r>
            <a:r>
              <a:t>. &lt;.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£</a:t>
            </a:r>
            <a:endParaRPr>
              <a:latin typeface="Symbol"/>
              <a:ea typeface="Symbol"/>
              <a:cs typeface="Symbol"/>
              <a:sym typeface="Symbol"/>
            </a:endParaRPr>
          </a:p>
          <a:p>
            <a:pPr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</a:pPr>
            <a: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</a:pPr>
            <a:r>
              <a:rPr>
                <a:latin typeface="Symbol"/>
                <a:ea typeface="Symbol"/>
                <a:cs typeface="Symbol"/>
                <a:sym typeface="Symbol"/>
              </a:rPr>
              <a:t>                   Ù </a:t>
            </a:r>
            <a:r>
              <a:t>(</a:t>
            </a:r>
            <a:r>
              <a:rPr b="1"/>
              <a:t>and</a:t>
            </a:r>
            <a:r>
              <a:t>),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Ú </a:t>
            </a:r>
            <a:r>
              <a:t>(</a:t>
            </a:r>
            <a:r>
              <a:rPr b="1"/>
              <a:t>or</a:t>
            </a:r>
            <a:r>
              <a:t>),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Ø </a:t>
            </a:r>
            <a:r>
              <a:t>(</a:t>
            </a:r>
            <a:r>
              <a:rPr b="1"/>
              <a:t>not</a:t>
            </a:r>
            <a:r>
              <a:t>)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  <a:defRPr sz="800"/>
            </a:pPr>
            <a:r>
              <a:t> </a:t>
            </a:r>
            <a:br/>
            <a:r>
              <a:rPr sz="1700"/>
              <a:t>          </a:t>
            </a:r>
            <a:r>
              <a:rPr sz="170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1700"/>
              <a:t> </a:t>
            </a:r>
            <a:r>
              <a:rPr sz="1700" i="1" baseline="-25000"/>
              <a:t>dept_name=</a:t>
            </a:r>
            <a:r>
              <a:rPr sz="1700" i="1" baseline="-25000"/>
              <a:t>“</a:t>
            </a:r>
            <a:r>
              <a:rPr sz="1700" i="1" baseline="-25000"/>
              <a:t>Physics</a:t>
            </a:r>
            <a:r>
              <a:rPr sz="1700" i="1" baseline="-25000"/>
              <a:t>” </a:t>
            </a:r>
            <a:r>
              <a:rPr sz="1700">
                <a:latin typeface="Symbol"/>
                <a:ea typeface="Symbol"/>
                <a:cs typeface="Symbol"/>
                <a:sym typeface="Symbol"/>
              </a:rPr>
              <a:t>Ù</a:t>
            </a:r>
            <a:r>
              <a:rPr sz="1700" i="1" baseline="-25000"/>
              <a:t> </a:t>
            </a:r>
            <a:r>
              <a:rPr sz="1700" i="1" baseline="-25000"/>
              <a:t>salary &gt;</a:t>
            </a:r>
            <a:r>
              <a:rPr sz="1700" i="1"/>
              <a:t> </a:t>
            </a:r>
            <a:r>
              <a:rPr sz="1700" i="1" baseline="-25000"/>
              <a:t>90,000</a:t>
            </a:r>
            <a:r>
              <a:rPr sz="1700" i="1"/>
              <a:t> </a:t>
            </a:r>
            <a:r>
              <a:rPr sz="1700"/>
              <a:t>(</a:t>
            </a:r>
            <a:r>
              <a:rPr sz="1700" i="1"/>
              <a:t>instructor</a:t>
            </a:r>
            <a:r>
              <a:rPr sz="1700"/>
              <a:t>)</a:t>
            </a:r>
            <a:endParaRPr sz="1700"/>
          </a:p>
          <a:p>
            <a:pPr marL="0" indent="0">
              <a:lnSpc>
                <a:spcPct val="90000"/>
              </a:lnSpc>
              <a:spcBef>
                <a:spcPts val="300"/>
              </a:spcBef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  <a:defRPr sz="800" i="1"/>
            </a:pPr>
            <a:r>
              <a:t> 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buClr>
                <a:srgbClr val="FF9933"/>
              </a:buClr>
              <a:buFont typeface="Arial" panose="020B0604020202090204"/>
              <a:tabLst>
                <a:tab pos="1651000" algn="l"/>
                <a:tab pos="3149600" algn="r"/>
                <a:tab pos="3416300" algn="l"/>
              </a:tabLst>
            </a:pPr>
            <a: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buClr>
                <a:srgbClr val="FF9933"/>
              </a:buClr>
              <a:buFont typeface="Arial" panose="020B0604020202090204"/>
              <a:tabLst>
                <a:tab pos="1651000" algn="l"/>
                <a:tab pos="3149600" algn="r"/>
                <a:tab pos="3416300" algn="l"/>
              </a:tabLst>
              <a:defRPr i="1"/>
            </a:pPr>
            <a:r>
              <a:t> </a:t>
            </a:r>
            <a:r>
              <a:rPr sz="1900" i="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1900" i="0"/>
              <a:t> </a:t>
            </a:r>
            <a:r>
              <a:rPr sz="1900" baseline="-25000"/>
              <a:t>dept_name=building</a:t>
            </a:r>
            <a:r>
              <a:rPr sz="1900"/>
              <a:t> </a:t>
            </a:r>
            <a:r>
              <a:rPr sz="1900" baseline="-25000"/>
              <a:t> </a:t>
            </a:r>
            <a:r>
              <a:rPr i="0"/>
              <a:t>(</a:t>
            </a:r>
            <a:r>
              <a:t>department</a:t>
            </a:r>
            <a:r>
              <a:rPr i="0"/>
              <a:t>)</a:t>
            </a:r>
            <a:endParaRPr i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Project Operation Example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06" name="Rectangle 3"/>
          <p:cNvSpPr txBox="1"/>
          <p:nvPr>
            <p:ph type="body" sz="quarter" idx="1"/>
          </p:nvPr>
        </p:nvSpPr>
        <p:spPr>
          <a:xfrm>
            <a:off x="768350" y="1077913"/>
            <a:ext cx="7912352" cy="1218479"/>
          </a:xfrm>
          <a:prstGeom prst="rect">
            <a:avLst/>
          </a:prstGeom>
        </p:spPr>
        <p:txBody>
          <a:bodyPr/>
          <a:lstStyle/>
          <a:p>
            <a:pPr marL="298450" indent="-298450" defTabSz="795655">
              <a:spcBef>
                <a:spcPts val="600"/>
              </a:spcBef>
              <a:tabLst>
                <a:tab pos="2819400" algn="r"/>
              </a:tabLst>
              <a:defRPr sz="1480"/>
            </a:pPr>
            <a:r>
              <a:t>Example: eliminate the </a:t>
            </a:r>
            <a:r>
              <a:rPr i="1"/>
              <a:t>dept_name</a:t>
            </a:r>
            <a:r>
              <a:t> attribute of </a:t>
            </a:r>
            <a:r>
              <a:rPr i="1"/>
              <a:t>instructor</a:t>
            </a:r>
            <a:endParaRPr i="1"/>
          </a:p>
          <a:p>
            <a:pPr marL="298450" indent="-298450" defTabSz="795655">
              <a:spcBef>
                <a:spcPts val="600"/>
              </a:spcBef>
              <a:tabLst>
                <a:tab pos="2819400" algn="r"/>
              </a:tabLst>
              <a:defRPr sz="1480"/>
            </a:pPr>
            <a:r>
              <a:t>Query</a:t>
            </a:r>
            <a:r>
              <a:rPr i="1"/>
              <a:t>:</a:t>
            </a:r>
            <a:br>
              <a:rPr i="1"/>
            </a:br>
            <a:r>
              <a:rPr sz="695"/>
              <a:t> </a:t>
            </a:r>
            <a:br>
              <a:rPr sz="695"/>
            </a:br>
            <a:r>
              <a:t>         	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8000"/>
              <a:t>ID, name, salary</a:t>
            </a:r>
            <a:r>
              <a:t> (</a:t>
            </a:r>
            <a:r>
              <a:rPr i="1"/>
              <a:t>instructor</a:t>
            </a:r>
            <a:r>
              <a:t>)</a:t>
            </a:r>
            <a:br/>
          </a:p>
        </p:txBody>
      </p:sp>
      <p:pic>
        <p:nvPicPr>
          <p:cNvPr id="207" name="Graphic 2" descr="Graphic 2"/>
          <p:cNvPicPr>
            <a:picLocks noChangeAspect="1"/>
          </p:cNvPicPr>
          <p:nvPr/>
        </p:nvPicPr>
        <p:blipFill>
          <a:blip r:embed="rId1"/>
          <a:srcRect b="9823"/>
          <a:stretch>
            <a:fillRect/>
          </a:stretch>
        </p:blipFill>
        <p:spPr>
          <a:xfrm>
            <a:off x="4304453" y="2695943"/>
            <a:ext cx="4341299" cy="38607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8" name="Graphic 4" descr="Graphic 4"/>
          <p:cNvPicPr>
            <a:picLocks noChangeAspect="1"/>
          </p:cNvPicPr>
          <p:nvPr/>
        </p:nvPicPr>
        <p:blipFill>
          <a:blip r:embed="rId2"/>
          <a:srcRect b="12197"/>
          <a:stretch>
            <a:fillRect/>
          </a:stretch>
        </p:blipFill>
        <p:spPr>
          <a:xfrm>
            <a:off x="109912" y="2774413"/>
            <a:ext cx="4550078" cy="359299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9" name="TextBox 1"/>
          <p:cNvSpPr txBox="1"/>
          <p:nvPr/>
        </p:nvSpPr>
        <p:spPr>
          <a:xfrm>
            <a:off x="5261956" y="2366104"/>
            <a:ext cx="2558244" cy="3327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Result </a:t>
            </a:r>
            <a:r>
              <a:rPr b="0"/>
              <a:t>(order is irrelevant)</a:t>
            </a:r>
            <a:endParaRPr b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Project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13" name="Rectangle 3"/>
          <p:cNvSpPr txBox="1"/>
          <p:nvPr>
            <p:ph type="body" idx="1"/>
          </p:nvPr>
        </p:nvSpPr>
        <p:spPr>
          <a:xfrm>
            <a:off x="768350" y="1077595"/>
            <a:ext cx="7683500" cy="30765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tabLst>
                <a:tab pos="3251200" algn="r"/>
              </a:tabLst>
            </a:pPr>
            <a:r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1200" algn="r"/>
              </a:tabLst>
            </a:pPr>
            <a:r>
              <a:t>Notation:</a:t>
            </a:r>
          </a:p>
          <a:p>
            <a:pPr>
              <a:lnSpc>
                <a:spcPct val="120000"/>
              </a:lnSpc>
              <a:buSzTx/>
              <a:buFont typeface="Wingdings" panose="05000000000000000000"/>
              <a:buNone/>
              <a:tabLst>
                <a:tab pos="3251200" algn="r"/>
              </a:tabLst>
            </a:pPr>
            <a:r>
              <a:rPr>
                <a:latin typeface="Symbol"/>
                <a:ea typeface="Symbol"/>
                <a:cs typeface="Symbol"/>
                <a:sym typeface="Symbol"/>
              </a:rPr>
              <a:t>                  Õ </a:t>
            </a:r>
            <a:r>
              <a:rPr i="1" baseline="-25000"/>
              <a:t>A</a:t>
            </a:r>
            <a:r>
              <a:rPr i="1" baseline="-50000"/>
              <a:t>1</a:t>
            </a:r>
            <a:r>
              <a:rPr i="1" baseline="-25000"/>
              <a:t>,A</a:t>
            </a:r>
            <a:r>
              <a:rPr i="1" baseline="-50000"/>
              <a:t>2</a:t>
            </a:r>
            <a:r>
              <a:rPr i="1" baseline="-25000"/>
              <a:t>,A</a:t>
            </a:r>
            <a:r>
              <a:rPr i="1" baseline="-50000"/>
              <a:t>3</a:t>
            </a:r>
            <a:r>
              <a:rPr i="1" baseline="-25000"/>
              <a:t> ….A</a:t>
            </a:r>
            <a:r>
              <a:rPr i="1" baseline="-50000"/>
              <a:t>k</a:t>
            </a:r>
            <a:r>
              <a:rPr i="1" baseline="-25000"/>
              <a:t> </a:t>
            </a:r>
            <a:r>
              <a:rPr baseline="-25000"/>
              <a:t> </a:t>
            </a:r>
            <a:r>
              <a:t>(</a:t>
            </a:r>
            <a:r>
              <a:rPr i="1"/>
              <a:t>r</a:t>
            </a:r>
            <a:r>
              <a:t>)</a:t>
            </a:r>
            <a:r>
              <a:rPr>
                <a:solidFill>
                  <a:srgbClr val="0090E5"/>
                </a:solidFill>
              </a:rPr>
              <a:t>	</a:t>
            </a:r>
            <a:endParaRPr>
              <a:solidFill>
                <a:srgbClr val="0090E5"/>
              </a:solidFill>
            </a:endParaRPr>
          </a:p>
          <a:p>
            <a:pPr>
              <a:lnSpc>
                <a:spcPct val="120000"/>
              </a:lnSpc>
              <a:buSzTx/>
              <a:buFont typeface="Wingdings" panose="05000000000000000000"/>
              <a:buNone/>
              <a:tabLst>
                <a:tab pos="3251200" algn="r"/>
              </a:tabLst>
            </a:pPr>
            <a:r>
              <a:t>	where </a:t>
            </a:r>
            <a:r>
              <a:rPr i="1"/>
              <a:t>A</a:t>
            </a:r>
            <a:r>
              <a:rPr i="1" baseline="-25000"/>
              <a:t>1</a:t>
            </a:r>
            <a:r>
              <a:rPr i="1"/>
              <a:t>, A</a:t>
            </a:r>
            <a:r>
              <a:rPr i="1" baseline="-25000"/>
              <a:t>2</a:t>
            </a:r>
            <a:r>
              <a:t>,  …, </a:t>
            </a:r>
            <a:r>
              <a:rPr i="1"/>
              <a:t>A</a:t>
            </a:r>
            <a:r>
              <a:rPr i="1" baseline="-25000"/>
              <a:t>k</a:t>
            </a:r>
            <a:r>
              <a:t>  are attribute names and </a:t>
            </a:r>
            <a:r>
              <a:rPr i="1"/>
              <a:t>r</a:t>
            </a:r>
            <a:r>
              <a:t> is a relation name.</a:t>
            </a:r>
          </a:p>
          <a:p>
            <a:pPr>
              <a:tabLst>
                <a:tab pos="3251200" algn="r"/>
              </a:tabLst>
            </a:pPr>
            <a:r>
              <a:t>The result is defined as the relation of </a:t>
            </a:r>
            <a:r>
              <a:rPr i="1"/>
              <a:t>k</a:t>
            </a:r>
            <a:r>
              <a:t> columns obtained by erasing the columns that are not listed</a:t>
            </a:r>
          </a:p>
          <a:p>
            <a:pPr>
              <a:tabLst>
                <a:tab pos="3251200" algn="r"/>
              </a:tabLst>
              <a:defRPr b="1"/>
            </a:pPr>
            <a:r>
              <a:t>Duplicate rows removed from result</a:t>
            </a:r>
            <a:r>
              <a:rPr b="0"/>
              <a:t>, since relations are sets</a:t>
            </a:r>
            <a:endParaRPr b="0"/>
          </a:p>
        </p:txBody>
      </p:sp>
      <p:graphicFrame>
        <p:nvGraphicFramePr>
          <p:cNvPr id="1512" name="table 15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23974" y="4779772"/>
          <a:ext cx="1109345" cy="1261745"/>
        </p:xfrm>
        <a:graphic>
          <a:graphicData uri="http://schemas.openxmlformats.org/drawingml/2006/table">
            <a:tbl>
              <a:tblPr/>
              <a:tblGrid>
                <a:gridCol w="554990"/>
                <a:gridCol w="554355"/>
              </a:tblGrid>
              <a:tr h="255905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191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a_</a:t>
                      </a: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id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683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b_</a:t>
                      </a: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id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9555">
                <a:tc>
                  <a:txBody>
                    <a:bodyPr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180" algn="l" rtl="0" eaLnBrk="0">
                        <a:lnSpc>
                          <a:spcPct val="94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a1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815" algn="l" rtl="0" eaLnBrk="0">
                        <a:lnSpc>
                          <a:spcPts val="1470"/>
                        </a:lnSpc>
                        <a:spcBef>
                          <a:spcPts val="0"/>
                        </a:spcBef>
                      </a:pP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101</a:t>
                      </a:r>
                      <a:endParaRPr sz="12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250189">
                <a:tc>
                  <a:txBody>
                    <a:bodyPr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18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a2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815" algn="l" rtl="0" eaLnBrk="0">
                        <a:lnSpc>
                          <a:spcPts val="1470"/>
                        </a:lnSpc>
                        <a:spcBef>
                          <a:spcPts val="0"/>
                        </a:spcBef>
                      </a:pP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102</a:t>
                      </a:r>
                      <a:endParaRPr sz="12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555">
                <a:tc>
                  <a:txBody>
                    <a:bodyPr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18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a2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815" algn="l" rtl="0" eaLnBrk="0">
                        <a:lnSpc>
                          <a:spcPts val="1470"/>
                        </a:lnSpc>
                        <a:spcBef>
                          <a:spcPts val="0"/>
                        </a:spcBef>
                      </a:pP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103</a:t>
                      </a:r>
                      <a:endParaRPr sz="12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256539">
                <a:tc>
                  <a:txBody>
                    <a:bodyPr/>
                    <a:p>
                      <a:pPr algn="l" rtl="0" eaLnBrk="0">
                        <a:lnSpc>
                          <a:spcPct val="133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18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a3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815" algn="l" rtl="0" eaLnBrk="0">
                        <a:lnSpc>
                          <a:spcPts val="1475"/>
                        </a:lnSpc>
                        <a:spcBef>
                          <a:spcPts val="0"/>
                        </a:spcBef>
                      </a:pP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104</a:t>
                      </a:r>
                      <a:endParaRPr sz="12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14" name="table 15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483227" y="5150358"/>
          <a:ext cx="1416050" cy="762000"/>
        </p:xfrm>
        <a:graphic>
          <a:graphicData uri="http://schemas.openxmlformats.org/drawingml/2006/table">
            <a:tbl>
              <a:tblPr/>
              <a:tblGrid>
                <a:gridCol w="861060"/>
                <a:gridCol w="554990"/>
              </a:tblGrid>
              <a:tr h="255905"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38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b_id-100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556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a_</a:t>
                      </a: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id</a:t>
                      </a:r>
                      <a:endParaRPr sz="14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9555">
                <a:tc>
                  <a:txBody>
                    <a:bodyPr/>
                    <a:p>
                      <a:pPr algn="l" rtl="0" eaLnBrk="0">
                        <a:lnSpc>
                          <a:spcPct val="134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50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2</a:t>
                      </a:r>
                      <a:endParaRPr sz="14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4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a2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256539">
                <a:tc>
                  <a:txBody>
                    <a:bodyPr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6990" algn="l" rtl="0" eaLnBrk="0">
                        <a:lnSpc>
                          <a:spcPct val="88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3</a:t>
                      </a:r>
                      <a:endParaRPr sz="14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41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465" algn="l" rtl="0" eaLnBrk="0">
                        <a:lnSpc>
                          <a:spcPct val="94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iragino Kaku Gothic ProN W3" panose="020B0300000000000000" charset="-128"/>
                          <a:ea typeface="Hiragino Kaku Gothic ProN W3" panose="020B0300000000000000" charset="-128"/>
                          <a:cs typeface="Hiragino Kaku Gothic ProN W3" panose="020B0300000000000000" charset="-128"/>
                        </a:rPr>
                        <a:t>a2</a:t>
                      </a:r>
                      <a:endParaRPr sz="1300" dirty="0">
                        <a:latin typeface="Hiragino Kaku Gothic ProN W3" panose="020B0300000000000000" charset="-128"/>
                        <a:ea typeface="Hiragino Kaku Gothic ProN W3" panose="020B0300000000000000" charset="-128"/>
                        <a:cs typeface="Hiragino Kaku Gothic ProN W3" panose="020B0300000000000000" charset="-128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16" name="textbox 1516"/>
          <p:cNvSpPr/>
          <p:nvPr>
            <p:custDataLst>
              <p:tags r:id="rId3"/>
            </p:custDataLst>
          </p:nvPr>
        </p:nvSpPr>
        <p:spPr>
          <a:xfrm>
            <a:off x="3923665" y="4725035"/>
            <a:ext cx="3053715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220"/>
              </a:lnSpc>
            </a:pPr>
            <a:r>
              <a:rPr sz="2700" b="1" kern="0" spc="60" baseline="9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Π</a:t>
            </a:r>
            <a:r>
              <a:rPr sz="1800" b="1" kern="0" spc="6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b_</a:t>
            </a:r>
            <a:r>
              <a:rPr sz="1800" b="1" kern="0" spc="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id</a:t>
            </a:r>
            <a:r>
              <a:rPr sz="1800" b="1" kern="0" spc="6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-100,a_</a:t>
            </a:r>
            <a:r>
              <a:rPr sz="1800" b="1" kern="0" spc="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id</a:t>
            </a:r>
            <a:r>
              <a:rPr sz="1100" kern="0" spc="-18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700" b="1" kern="0" spc="60" baseline="9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(σ</a:t>
            </a:r>
            <a:r>
              <a:rPr sz="1800" b="1" kern="0" spc="6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a_</a:t>
            </a:r>
            <a:r>
              <a:rPr sz="1800" b="1" kern="0" spc="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id</a:t>
            </a:r>
            <a:r>
              <a:rPr sz="1800" b="1" kern="0" spc="6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='</a:t>
            </a:r>
            <a:r>
              <a:rPr sz="1800" b="1" kern="0" spc="50" baseline="-10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a2'</a:t>
            </a:r>
            <a:r>
              <a:rPr sz="2700" b="1" kern="0" spc="50" baseline="900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(R))</a:t>
            </a:r>
            <a:endParaRPr sz="2700" baseline="90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18" name="textbox 1518"/>
          <p:cNvSpPr/>
          <p:nvPr>
            <p:custDataLst>
              <p:tags r:id="rId4"/>
            </p:custDataLst>
          </p:nvPr>
        </p:nvSpPr>
        <p:spPr>
          <a:xfrm>
            <a:off x="1691843" y="4509363"/>
            <a:ext cx="1386840" cy="265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9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R(a_</a:t>
            </a:r>
            <a:r>
              <a:rPr sz="1800" b="1" kern="0" spc="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id</a:t>
            </a:r>
            <a:r>
              <a:rPr sz="1800" b="1" kern="0" spc="9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,b_</a:t>
            </a:r>
            <a:r>
              <a:rPr sz="1800" b="1" kern="0" spc="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id</a:t>
            </a:r>
            <a:r>
              <a:rPr sz="1800" b="1" kern="0" spc="90" dirty="0">
                <a:solidFill>
                  <a:srgbClr val="E30008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)</a:t>
            </a:r>
            <a:endParaRPr sz="18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Composition of Relational Operations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17" name="Rectangle 3"/>
          <p:cNvSpPr txBox="1"/>
          <p:nvPr>
            <p:ph type="body" idx="1"/>
          </p:nvPr>
        </p:nvSpPr>
        <p:spPr>
          <a:xfrm>
            <a:off x="768351" y="1242035"/>
            <a:ext cx="7558786" cy="3720110"/>
          </a:xfrm>
          <a:prstGeom prst="rect">
            <a:avLst/>
          </a:prstGeom>
        </p:spPr>
        <p:txBody>
          <a:bodyPr/>
          <a:lstStyle/>
          <a:p>
            <a:r>
              <a:t>The result of a relational-algebra operation is relation  and therefore of relational-algebra operations can be composed together into a </a:t>
            </a:r>
            <a:r>
              <a:rPr b="1"/>
              <a:t>relational-algebra expression</a:t>
            </a:r>
            <a:r>
              <a:t>.</a:t>
            </a:r>
          </a:p>
          <a:p>
            <a:r>
              <a:t>Consider  the query -- Find the names of all instructors in the Physics department.</a:t>
            </a:r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pPr>
              <a:buSzTx/>
              <a:buFont typeface="Wingdings" panose="05000000000000000000"/>
              <a:buNone/>
            </a:pPr>
            <a:r>
              <a:t>        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name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dept_name</a:t>
            </a:r>
            <a:r>
              <a:rPr i="1"/>
              <a:t> </a:t>
            </a:r>
            <a:r>
              <a:rPr i="1" baseline="-25000"/>
              <a:t>=</a:t>
            </a:r>
            <a:r>
              <a:rPr i="1" baseline="-25000"/>
              <a:t>“</a:t>
            </a:r>
            <a:r>
              <a:rPr i="1" baseline="-25000"/>
              <a:t>Physics</a:t>
            </a:r>
            <a:r>
              <a:rPr i="1" baseline="-25000"/>
              <a:t>”</a:t>
            </a:r>
            <a:r>
              <a:rPr i="1" baseline="-25000"/>
              <a:t> </a:t>
            </a:r>
            <a:r>
              <a:rPr i="1"/>
              <a:t> </a:t>
            </a:r>
            <a:r>
              <a:t>(</a:t>
            </a:r>
            <a:r>
              <a:rPr i="1"/>
              <a:t>instructor</a:t>
            </a:r>
            <a:r>
              <a:t>))</a:t>
            </a:r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Instead of giving the name of a relation as the argument of the projection operation, we give an expression that evaluates to a relation.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Cartesian-Product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21" name="Rectangle 3"/>
          <p:cNvSpPr txBox="1"/>
          <p:nvPr>
            <p:ph type="body" idx="1"/>
          </p:nvPr>
        </p:nvSpPr>
        <p:spPr>
          <a:xfrm>
            <a:off x="768350" y="1065720"/>
            <a:ext cx="7709824" cy="4876801"/>
          </a:xfrm>
          <a:prstGeom prst="rect">
            <a:avLst/>
          </a:prstGeom>
        </p:spPr>
        <p:txBody>
          <a:bodyPr/>
          <a:lstStyle/>
          <a:p>
            <a:pPr>
              <a:tabLst>
                <a:tab pos="3149600" algn="r"/>
              </a:tabLst>
            </a:pPr>
            <a:r>
              <a:t>The Cartesian-product operation (denoted by X)  allows us to combine information from any two relations.  </a:t>
            </a:r>
          </a:p>
          <a:p>
            <a:pPr>
              <a:tabLst>
                <a:tab pos="3149600" algn="r"/>
              </a:tabLst>
            </a:pPr>
            <a:r>
              <a:t>Example: the Cartesian product of the relations </a:t>
            </a:r>
            <a:r>
              <a:rPr i="1"/>
              <a:t>instructor</a:t>
            </a:r>
            <a:r>
              <a:t> and t</a:t>
            </a:r>
            <a:r>
              <a:rPr i="1"/>
              <a:t>eaches</a:t>
            </a:r>
            <a:r>
              <a:t> is written  as:</a:t>
            </a:r>
          </a:p>
          <a:p>
            <a:pPr>
              <a:buSzTx/>
              <a:buFont typeface="Wingdings" panose="05000000000000000000"/>
              <a:buNone/>
              <a:tabLst>
                <a:tab pos="3149600" algn="r"/>
              </a:tabLst>
              <a:defRPr i="1"/>
            </a:pPr>
            <a:r>
              <a:t>                instructor</a:t>
            </a:r>
            <a:r>
              <a:rPr i="0"/>
              <a:t>  X  </a:t>
            </a:r>
            <a:r>
              <a:t>teaches</a:t>
            </a:r>
          </a:p>
          <a:p>
            <a:pPr>
              <a:tabLst>
                <a:tab pos="3149600" algn="r"/>
              </a:tabLst>
            </a:pPr>
            <a:r>
              <a:t>We construct a tuple of the result out of each possible pair of tuples: one from the </a:t>
            </a:r>
            <a:r>
              <a:rPr i="1"/>
              <a:t>instructor</a:t>
            </a:r>
            <a:r>
              <a:t> relation and one from the </a:t>
            </a:r>
            <a:r>
              <a:rPr i="1"/>
              <a:t>teaches</a:t>
            </a:r>
            <a:r>
              <a:t> relation (see next slide)</a:t>
            </a:r>
          </a:p>
          <a:p>
            <a:pPr>
              <a:tabLst>
                <a:tab pos="3149600" algn="r"/>
              </a:tabLst>
            </a:pPr>
            <a:r>
              <a:t>Since the instructor</a:t>
            </a:r>
            <a:r>
              <a:rPr i="1"/>
              <a:t> ID </a:t>
            </a:r>
            <a:r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buClr>
                <a:srgbClr val="FF9933"/>
              </a:buClr>
              <a:buFont typeface="Arial" panose="020B0604020202090204"/>
              <a:tabLst>
                <a:tab pos="3149600" algn="r"/>
              </a:tabLst>
              <a:defRPr i="1"/>
            </a:pPr>
            <a:r>
              <a:t>instructor.ID</a:t>
            </a:r>
          </a:p>
          <a:p>
            <a:pPr lvl="1">
              <a:buClr>
                <a:srgbClr val="FF9933"/>
              </a:buClr>
              <a:buFont typeface="Arial" panose="020B0604020202090204"/>
              <a:tabLst>
                <a:tab pos="3149600" algn="r"/>
              </a:tabLst>
              <a:defRPr i="1"/>
            </a:pPr>
            <a:r>
              <a:t>teaches.ID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The  instructor  </a:t>
            </a:r>
            <a:r>
              <a:rPr sz="2800">
                <a:solidFill>
                  <a:srgbClr val="C00000"/>
                </a:solidFill>
              </a:rPr>
              <a:t>X</a:t>
            </a:r>
            <a:r>
              <a:rPr>
                <a:solidFill>
                  <a:srgbClr val="C00000"/>
                </a:solidFill>
              </a:rPr>
              <a:t>  teaches  table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25" name="Graphic 3" descr="Graphic 3"/>
          <p:cNvPicPr>
            <a:picLocks noChangeAspect="1"/>
          </p:cNvPicPr>
          <p:nvPr/>
        </p:nvPicPr>
        <p:blipFill>
          <a:blip r:embed="rId1"/>
          <a:srcRect b="6550"/>
          <a:stretch>
            <a:fillRect/>
          </a:stretch>
        </p:blipFill>
        <p:spPr>
          <a:xfrm>
            <a:off x="1669590" y="727202"/>
            <a:ext cx="5459493" cy="596482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Join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29" name="Rectangle 3"/>
          <p:cNvSpPr txBox="1"/>
          <p:nvPr>
            <p:ph type="body" idx="1"/>
          </p:nvPr>
        </p:nvSpPr>
        <p:spPr>
          <a:xfrm>
            <a:off x="768351" y="1126680"/>
            <a:ext cx="7631939" cy="4664521"/>
          </a:xfrm>
          <a:prstGeom prst="rect">
            <a:avLst/>
          </a:prstGeom>
        </p:spPr>
        <p:txBody>
          <a:bodyPr/>
          <a:lstStyle/>
          <a:p>
            <a:pPr>
              <a:tabLst>
                <a:tab pos="3149600" algn="r"/>
              </a:tabLst>
            </a:pPr>
            <a:r>
              <a:t>The Cartesian-Product </a:t>
            </a:r>
          </a:p>
          <a:p>
            <a:pPr>
              <a:buSzTx/>
              <a:buFont typeface="Wingdings" panose="05000000000000000000"/>
              <a:buNone/>
              <a:tabLst>
                <a:tab pos="3149600" algn="r"/>
              </a:tabLst>
              <a:defRPr i="1"/>
            </a:pPr>
            <a:r>
              <a:t>                    instructor</a:t>
            </a:r>
            <a:r>
              <a:rPr i="0"/>
              <a:t>  X  </a:t>
            </a:r>
            <a:r>
              <a:t>teaches</a:t>
            </a:r>
          </a:p>
          <a:p>
            <a:pPr>
              <a:buSzTx/>
              <a:buFont typeface="Wingdings" panose="05000000000000000000"/>
              <a:buNone/>
              <a:tabLst>
                <a:tab pos="3149600" algn="r"/>
              </a:tabLst>
            </a:pPr>
            <a:r>
              <a:t>      associates every  tuple of  instructor with every tuple of teaches.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Most of the resulting rows have information about instructors who </a:t>
            </a:r>
            <a:r>
              <a:rPr b="1">
                <a:solidFill>
                  <a:schemeClr val="tx1"/>
                </a:solidFill>
                <a:latin typeface="Helvetica Bold" charset="0"/>
                <a:cs typeface="Helvetica Bold" charset="0"/>
              </a:rPr>
              <a:t>did NOT</a:t>
            </a:r>
            <a:r>
              <a:t> teach a particular course. </a:t>
            </a:r>
          </a:p>
          <a:p>
            <a:r>
              <a:t>To get only those tuples of  “</a:t>
            </a:r>
            <a:r>
              <a:rPr i="1"/>
              <a:t>instructor</a:t>
            </a:r>
            <a:r>
              <a:t>  X  </a:t>
            </a:r>
            <a:r>
              <a:rPr i="1"/>
              <a:t>teaches</a:t>
            </a:r>
            <a:r>
              <a:t> “ that pertain to instructors and the courses that they taught, we write:</a:t>
            </a:r>
          </a:p>
          <a:p>
            <a:pPr>
              <a:buSzTx/>
              <a:buFont typeface="Wingdings" panose="05000000000000000000"/>
              <a:buNone/>
              <a:defRPr>
                <a:solidFill>
                  <a:srgbClr val="0090E5"/>
                </a:solidFill>
              </a:defRPr>
            </a:pPr>
            <a:r>
              <a:t>            </a:t>
            </a:r>
            <a:r>
              <a:rPr>
                <a:solidFill>
                  <a:srgbClr val="000000"/>
                </a:solidFill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solidFill>
                  <a:srgbClr val="000000"/>
                </a:solidFill>
              </a:rPr>
              <a:t> </a:t>
            </a:r>
            <a:r>
              <a:rPr i="1" baseline="-25000">
                <a:solidFill>
                  <a:srgbClr val="000000"/>
                </a:solidFill>
              </a:rPr>
              <a:t>instructor.id =  teaches.id </a:t>
            </a:r>
            <a:r>
              <a:rPr i="1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(</a:t>
            </a:r>
            <a:r>
              <a:rPr i="1">
                <a:solidFill>
                  <a:srgbClr val="000000"/>
                </a:solidFill>
              </a:rPr>
              <a:t>instructor  </a:t>
            </a:r>
            <a:r>
              <a:rPr>
                <a:solidFill>
                  <a:srgbClr val="000000"/>
                </a:solidFill>
              </a:rPr>
              <a:t>x</a:t>
            </a:r>
            <a:r>
              <a:rPr i="1">
                <a:solidFill>
                  <a:srgbClr val="000000"/>
                </a:solidFill>
              </a:rPr>
              <a:t> teaches </a:t>
            </a:r>
            <a:r>
              <a:rPr>
                <a:solidFill>
                  <a:srgbClr val="000000"/>
                </a:solidFill>
              </a:rPr>
              <a:t>))</a:t>
            </a:r>
            <a:endParaRPr>
              <a:solidFill>
                <a:srgbClr val="000000"/>
              </a:solidFill>
            </a:endParaRPr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We get only those tuples of “</a:t>
            </a:r>
            <a:r>
              <a:rPr i="1"/>
              <a:t>instructor</a:t>
            </a:r>
            <a:r>
              <a:t>  X  </a:t>
            </a:r>
            <a:r>
              <a:rPr i="1"/>
              <a:t>teaches” </a:t>
            </a:r>
            <a:r>
              <a:t>that pertain to instructors and the courses that they taught.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Join Operation (Cont.)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33" name="Rectangle 3"/>
          <p:cNvSpPr txBox="1"/>
          <p:nvPr>
            <p:ph type="body" sz="quarter" idx="1"/>
          </p:nvPr>
        </p:nvSpPr>
        <p:spPr>
          <a:xfrm>
            <a:off x="768350" y="1077912"/>
            <a:ext cx="7436868" cy="848424"/>
          </a:xfrm>
          <a:prstGeom prst="rect">
            <a:avLst/>
          </a:prstGeom>
        </p:spPr>
        <p:txBody>
          <a:bodyPr/>
          <a:lstStyle/>
          <a:p>
            <a:r>
              <a:t>The  table corresponding to:</a:t>
            </a:r>
          </a:p>
          <a:p>
            <a:pPr>
              <a:buSzTx/>
              <a:buFont typeface="Wingdings" panose="05000000000000000000"/>
              <a:buNone/>
              <a:defRPr i="1">
                <a:solidFill>
                  <a:srgbClr val="0090E5"/>
                </a:solidFill>
              </a:defRPr>
            </a:pPr>
            <a:r>
              <a:t>            </a:t>
            </a:r>
            <a:r>
              <a:rPr i="0">
                <a:solidFill>
                  <a:srgbClr val="000000"/>
                </a:solidFill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baseline="-25000">
                <a:solidFill>
                  <a:srgbClr val="000000"/>
                </a:solidFill>
              </a:rPr>
              <a:t>instructor.id =  teaches.id </a:t>
            </a:r>
            <a:r>
              <a:rPr i="0"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instructor  </a:t>
            </a:r>
            <a:r>
              <a:rPr i="0">
                <a:solidFill>
                  <a:srgbClr val="000000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 teaches</a:t>
            </a:r>
            <a:r>
              <a:rPr i="0">
                <a:solidFill>
                  <a:srgbClr val="000000"/>
                </a:solidFill>
              </a:rPr>
              <a:t>)) </a:t>
            </a:r>
            <a:endParaRPr i="0">
              <a:solidFill>
                <a:srgbClr val="000000"/>
              </a:solidFill>
            </a:endParaRPr>
          </a:p>
        </p:txBody>
      </p:sp>
      <p:pic>
        <p:nvPicPr>
          <p:cNvPr id="234" name="Graphic 3" descr="Graphic 3"/>
          <p:cNvPicPr>
            <a:picLocks noChangeAspect="1"/>
          </p:cNvPicPr>
          <p:nvPr/>
        </p:nvPicPr>
        <p:blipFill>
          <a:blip r:embed="rId1"/>
          <a:srcRect b="12878"/>
          <a:stretch>
            <a:fillRect/>
          </a:stretch>
        </p:blipFill>
        <p:spPr>
          <a:xfrm>
            <a:off x="938783" y="1926383"/>
            <a:ext cx="7416311" cy="413455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Join Operation (Cont.)</a:t>
            </a:r>
            <a:endParaRPr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Rectangle 3"/>
              <p:cNvSpPr txBox="1"/>
              <p:nvPr>
                <p:ph type="body" idx="1"/>
              </p:nvPr>
            </p:nvSpPr>
            <p:spPr>
              <a:xfrm>
                <a:off x="768349" y="1138873"/>
                <a:ext cx="7644133" cy="4823015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tabLst>
                    <a:tab pos="3149600" algn="r"/>
                  </a:tabLst>
                </a:pPr>
                <a:r>
                  <a:t>The </a:t>
                </a:r>
                <a:r>
                  <a:rPr b="1"/>
                  <a:t>join </a:t>
                </a:r>
                <a:r>
                  <a:t>operation allows us to combine  a select operation and a  </a:t>
                </a:r>
                <a:r>
                  <a:rPr b="1"/>
                  <a:t> </a:t>
                </a:r>
                <a:r>
                  <a:t>Cartesian-Product  operation into a single operation.</a:t>
                </a:r>
              </a:p>
              <a:p>
                <a:pPr>
                  <a:tabLst>
                    <a:tab pos="3149600" algn="r"/>
                  </a:tabLst>
                </a:pPr>
                <a:r>
                  <a:t>Consider relations </a:t>
                </a:r>
                <a:r>
                  <a:rPr i="1"/>
                  <a:t>r </a:t>
                </a:r>
                <a:r>
                  <a:t>(</a:t>
                </a:r>
                <a:r>
                  <a:rPr i="1"/>
                  <a:t>R</a:t>
                </a:r>
                <a:r>
                  <a:t>) and </a:t>
                </a:r>
                <a:r>
                  <a:rPr i="1"/>
                  <a:t>s </a:t>
                </a:r>
                <a:r>
                  <a:t>(</a:t>
                </a:r>
                <a:r>
                  <a:rPr i="1"/>
                  <a:t>S</a:t>
                </a:r>
                <a:r>
                  <a:t>)</a:t>
                </a:r>
              </a:p>
              <a:p>
                <a:r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t> s is defined as follows:</a:t>
                </a:r>
              </a:p>
              <a:p>
                <a:pPr>
                  <a:buSzTx/>
                  <a:buFont typeface="Wingdings" panose="05000000000000000000"/>
                  <a:buNone/>
                  <a:defRPr i="1"/>
                </a:pPr>
                <a:r>
                  <a:t>       </a:t>
                </a:r>
                <a:r>
                  <a:rPr i="0"/>
                  <a:t>         </a:t>
                </a:r>
                <a14:m>
                  <m:oMath xmlns:m="http://schemas.openxmlformats.org/officeDocument/2006/math"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i="0"/>
              </a:p>
              <a:p>
                <a:pPr>
                  <a:spcBef>
                    <a:spcPts val="300"/>
                  </a:spcBef>
                  <a:buSzTx/>
                  <a:buFont typeface="Wingdings" panose="05000000000000000000"/>
                  <a:buNone/>
                  <a:defRPr sz="800"/>
                </a:pPr>
                <a:r>
                  <a:t> </a:t>
                </a:r>
              </a:p>
              <a:p>
                <a:r>
                  <a:t>Thus</a:t>
                </a:r>
              </a:p>
              <a:p>
                <a:pPr marL="0" indent="0">
                  <a:buSzTx/>
                  <a:buFont typeface="Wingdings" panose="05000000000000000000"/>
                  <a:buNone/>
                  <a:defRPr i="1"/>
                </a:pPr>
                <a:r>
                  <a:t>                  </a:t>
                </a:r>
                <a:r>
                  <a:rPr i="0">
                    <a:latin typeface="Symbol"/>
                    <a:ea typeface="Symbol"/>
                    <a:cs typeface="Symbol"/>
                    <a:sym typeface="Symbol"/>
                  </a:rPr>
                  <a:t>s</a:t>
                </a:r>
                <a:r>
                  <a:rPr i="0"/>
                  <a:t> </a:t>
                </a:r>
                <a:r>
                  <a:rPr baseline="-25000"/>
                  <a:t>instructor.id =  teaches.id  </a:t>
                </a:r>
                <a:r>
                  <a:rPr i="0"/>
                  <a:t>(</a:t>
                </a:r>
                <a:r>
                  <a:t>instructor  </a:t>
                </a:r>
                <a:r>
                  <a:rPr i="0"/>
                  <a:t>x</a:t>
                </a:r>
                <a:r>
                  <a:t> teaches </a:t>
                </a:r>
                <a:r>
                  <a:rPr i="0"/>
                  <a:t>))</a:t>
                </a:r>
                <a:endParaRPr i="0"/>
              </a:p>
              <a:p>
                <a:pPr marL="0" indent="0">
                  <a:spcBef>
                    <a:spcPts val="300"/>
                  </a:spcBef>
                  <a:buSzTx/>
                  <a:buFont typeface="Wingdings" panose="05000000000000000000"/>
                  <a:buNone/>
                  <a:defRPr sz="800"/>
                </a:pPr>
                <a:r>
                  <a:t> </a:t>
                </a:r>
              </a:p>
              <a:p>
                <a:r>
                  <a:t>Can equivalently be written as </a:t>
                </a:r>
              </a:p>
              <a:p>
                <a:pPr>
                  <a:buSzTx/>
                  <a:buFont typeface="Wingdings" panose="05000000000000000000"/>
                  <a:buNone/>
                  <a:defRPr i="1"/>
                </a:pPr>
                <a:r>
                  <a:t>                 instructor</a:t>
                </a:r>
                <a:r>
                  <a:rPr i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/>
                    </m:sSub>
                  </m:oMath>
                </a14:m>
                <a:r>
                  <a:rPr baseline="-25000"/>
                  <a:t>Instructor.id = teaches.id</a:t>
                </a:r>
                <a:r>
                  <a:rPr i="0" baseline="-25000"/>
                  <a:t> </a:t>
                </a:r>
                <a:r>
                  <a:t>teaches</a:t>
                </a:r>
                <a:r>
                  <a:rPr i="0"/>
                  <a:t>.</a:t>
                </a:r>
                <a:endParaRPr i="0"/>
              </a:p>
            </p:txBody>
          </p:sp>
        </mc:Choice>
        <mc:Fallback>
          <p:sp>
            <p:nvSpPr>
              <p:cNvPr id="23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44133" cy="4823015"/>
              </a:xfrm>
              <a:prstGeom prst="rect">
                <a:avLst/>
              </a:prstGeom>
              <a:blipFill rotWithShape="1">
                <a:blip r:embed="rId1"/>
                <a:stretch>
                  <a:fillRect l="-8" t="-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Union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42" name="Rectangle 3"/>
          <p:cNvSpPr txBox="1"/>
          <p:nvPr>
            <p:ph type="body" idx="1"/>
          </p:nvPr>
        </p:nvSpPr>
        <p:spPr>
          <a:xfrm>
            <a:off x="768350" y="1114489"/>
            <a:ext cx="7683190" cy="4688904"/>
          </a:xfrm>
          <a:prstGeom prst="rect">
            <a:avLst/>
          </a:prstGeom>
        </p:spPr>
        <p:txBody>
          <a:bodyPr/>
          <a:lstStyle/>
          <a:p>
            <a:pPr>
              <a:tabLst>
                <a:tab pos="2959100" algn="r"/>
              </a:tabLst>
            </a:pPr>
            <a:r>
              <a:t>The union operation allows us to combine two relations </a:t>
            </a:r>
          </a:p>
          <a:p>
            <a:pPr>
              <a:tabLst>
                <a:tab pos="2959100" algn="r"/>
              </a:tabLst>
            </a:pPr>
            <a:r>
              <a:t>Notation:  </a:t>
            </a:r>
            <a:r>
              <a:rPr i="1"/>
              <a:t>r 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 </a:t>
            </a:r>
            <a:r>
              <a:rPr i="1"/>
              <a:t>s</a:t>
            </a:r>
            <a:endParaRPr i="1"/>
          </a:p>
          <a:p>
            <a:pPr>
              <a:tabLst>
                <a:tab pos="2959100" algn="r"/>
              </a:tabLst>
            </a:pPr>
            <a:r>
              <a:t>For </a:t>
            </a:r>
            <a:r>
              <a:rPr i="1"/>
              <a:t>r</a:t>
            </a:r>
            <a:r>
              <a:t>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 </a:t>
            </a:r>
            <a:r>
              <a:rPr i="1"/>
              <a:t>s</a:t>
            </a:r>
            <a:r>
              <a:t> to be valid.</a:t>
            </a:r>
          </a:p>
          <a:p>
            <a:pPr>
              <a:buSzTx/>
              <a:buFont typeface="Wingdings" panose="05000000000000000000"/>
              <a:buNone/>
              <a:tabLst>
                <a:tab pos="2959100" algn="r"/>
              </a:tabLst>
              <a:defRPr i="1"/>
            </a:pPr>
            <a:r>
              <a:t>	</a:t>
            </a:r>
            <a:r>
              <a:rPr i="0"/>
              <a:t>1.   </a:t>
            </a:r>
            <a:r>
              <a:t>r,</a:t>
            </a:r>
            <a:r>
              <a:rPr i="0"/>
              <a:t> </a:t>
            </a:r>
            <a:r>
              <a:t>s</a:t>
            </a:r>
            <a:r>
              <a:rPr i="0"/>
              <a:t> must have the </a:t>
            </a:r>
            <a:r>
              <a:t>same </a:t>
            </a:r>
            <a:r>
              <a:rPr b="1" i="0">
                <a:solidFill>
                  <a:srgbClr val="002060"/>
                </a:solidFill>
              </a:rPr>
              <a:t>arity</a:t>
            </a:r>
            <a:r>
              <a:rPr i="0"/>
              <a:t> (same number of attributes)</a:t>
            </a:r>
            <a:endParaRPr i="0"/>
          </a:p>
          <a:p>
            <a:pPr>
              <a:spcBef>
                <a:spcPts val="0"/>
              </a:spcBef>
              <a:buSzTx/>
              <a:buFont typeface="Wingdings" panose="05000000000000000000"/>
              <a:buNone/>
              <a:tabLst>
                <a:tab pos="2959100" algn="r"/>
              </a:tabLst>
            </a:pPr>
            <a:r>
              <a:t>	2.   The attribute domains must be </a:t>
            </a:r>
            <a:r>
              <a:rPr b="1">
                <a:solidFill>
                  <a:srgbClr val="002060"/>
                </a:solidFill>
              </a:rPr>
              <a:t>compatible</a:t>
            </a:r>
            <a:r>
              <a:t> (example: 2</a:t>
            </a:r>
            <a:r>
              <a:rPr baseline="30000"/>
              <a:t>nd</a:t>
            </a:r>
            <a:r>
              <a:t> </a:t>
            </a:r>
          </a:p>
          <a:p>
            <a:pPr marL="285750" lvl="1" indent="171450">
              <a:spcBef>
                <a:spcPts val="0"/>
              </a:spcBef>
              <a:buSzTx/>
              <a:buFont typeface="Wingdings" panose="05000000000000000000"/>
              <a:buNone/>
              <a:tabLst>
                <a:tab pos="2959100" algn="r"/>
              </a:tabLst>
              <a:defRPr sz="1600"/>
            </a:pPr>
            <a:r>
              <a:t>     </a:t>
            </a:r>
            <a:r>
              <a:rPr sz="1700"/>
              <a:t>column of </a:t>
            </a:r>
            <a:r>
              <a:rPr sz="1700" i="1"/>
              <a:t>r</a:t>
            </a:r>
            <a:r>
              <a:rPr sz="1700"/>
              <a:t> deals with the same type of values as does the </a:t>
            </a:r>
            <a:endParaRPr sz="1700"/>
          </a:p>
          <a:p>
            <a:pPr marL="285750" lvl="1" indent="171450">
              <a:spcBef>
                <a:spcPts val="0"/>
              </a:spcBef>
              <a:buSzTx/>
              <a:buFont typeface="Wingdings" panose="05000000000000000000"/>
              <a:buNone/>
              <a:tabLst>
                <a:tab pos="2959100" algn="r"/>
              </a:tabLst>
            </a:pPr>
            <a:r>
              <a:t>     2</a:t>
            </a:r>
            <a:r>
              <a:rPr baseline="30000"/>
              <a:t>nd </a:t>
            </a:r>
            <a:r>
              <a:t>column of </a:t>
            </a:r>
            <a:r>
              <a:rPr i="1"/>
              <a:t>s</a:t>
            </a:r>
            <a:r>
              <a:t>)</a:t>
            </a:r>
          </a:p>
          <a:p>
            <a:pPr>
              <a:lnSpc>
                <a:spcPct val="140000"/>
              </a:lnSpc>
              <a:tabLst>
                <a:tab pos="2959100" algn="r"/>
              </a:tabLst>
            </a:pPr>
            <a:r>
              <a:t>Example: to find all courses taught in the Fall 2017 semester, or in the Spring 2018 semester, or in both</a:t>
            </a:r>
            <a:br/>
            <a:r>
              <a:t>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Fall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year=2017 </a:t>
            </a:r>
            <a:r>
              <a:t>(</a:t>
            </a:r>
            <a:r>
              <a:rPr i="1"/>
              <a:t>section</a:t>
            </a:r>
            <a:r>
              <a:t>))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  </a:t>
            </a:r>
            <a:br>
              <a:rPr>
                <a:latin typeface="Symbol"/>
                <a:ea typeface="Symbol"/>
                <a:cs typeface="Symbol"/>
                <a:sym typeface="Symbol"/>
              </a:rPr>
            </a:br>
            <a:r>
              <a:t>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Spring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year=2018 </a:t>
            </a:r>
            <a:r>
              <a:t>(</a:t>
            </a:r>
            <a:r>
              <a:rPr i="1"/>
              <a:t>section</a:t>
            </a:r>
            <a:r>
              <a:t>))</a:t>
            </a:r>
          </a:p>
          <a:p>
            <a:pPr>
              <a:lnSpc>
                <a:spcPct val="140000"/>
              </a:lnSpc>
              <a:tabLst>
                <a:tab pos="2959100" algn="r"/>
              </a:tabLst>
            </a:pPr>
          </a:p>
          <a:p>
            <a:pPr>
              <a:lnSpc>
                <a:spcPct val="140000"/>
              </a:lnSpc>
              <a:tabLst>
                <a:tab pos="2959100" algn="r"/>
              </a:tabLst>
            </a:pPr>
            <a:r>
              <a:rPr>
                <a:sym typeface="+mn-ea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>
                <a:sym typeface="+mn-ea"/>
              </a:rPr>
              <a:t>course_id</a:t>
            </a:r>
            <a:r>
              <a:rPr>
                <a:sym typeface="+mn-ea"/>
              </a:rP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>
                <a:sym typeface="+mn-ea"/>
              </a:rPr>
              <a:t> </a:t>
            </a:r>
            <a:r>
              <a:rPr lang="en-US" i="1" baseline="-25000">
                <a:sym typeface="+mn-ea"/>
              </a:rPr>
              <a:t>(</a:t>
            </a:r>
            <a:r>
              <a:rPr i="1" baseline="-25000">
                <a:sym typeface="+mn-ea"/>
              </a:rPr>
              <a:t>semester=“Fall”  Λ year=201</a:t>
            </a:r>
            <a:r>
              <a:rPr lang="en-US" i="1" baseline="-25000">
                <a:sym typeface="+mn-ea"/>
              </a:rPr>
              <a:t>7)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Ú</a:t>
            </a:r>
            <a:r>
              <a:rPr lang="en-US" i="1" baseline="-25000">
                <a:sym typeface="+mn-ea"/>
              </a:rPr>
              <a:t>  </a:t>
            </a:r>
            <a:r>
              <a:rPr lang="en-US" i="1" baseline="-25000">
                <a:sym typeface="+mn-ea"/>
              </a:rPr>
              <a:t>(</a:t>
            </a:r>
            <a:r>
              <a:rPr i="1" baseline="-25000">
                <a:sym typeface="+mn-ea"/>
              </a:rPr>
              <a:t>semester=“Spring”  Λ year=2018</a:t>
            </a:r>
            <a:r>
              <a:rPr lang="en-US" i="1" baseline="-25000">
                <a:sym typeface="+mn-ea"/>
              </a:rPr>
              <a:t>)</a:t>
            </a:r>
            <a:r>
              <a:rPr i="1" baseline="-25000">
                <a:sym typeface="+mn-ea"/>
              </a:rPr>
              <a:t> </a:t>
            </a:r>
            <a:r>
              <a:rPr>
                <a:sym typeface="+mn-ea"/>
              </a:rPr>
              <a:t>(</a:t>
            </a:r>
            <a:r>
              <a:rPr i="1">
                <a:sym typeface="+mn-ea"/>
              </a:rPr>
              <a:t>section</a:t>
            </a:r>
            <a:r>
              <a:rPr>
                <a:sym typeface="+mn-ea"/>
              </a:rPr>
              <a:t>))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section table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46" name="Content Placeholder 4" descr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" y="1228474"/>
            <a:ext cx="7707314" cy="463441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Union Operation (Cont.)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50" name="Rectangle 3"/>
          <p:cNvSpPr txBox="1"/>
          <p:nvPr>
            <p:ph type="body" sz="quarter" idx="1"/>
          </p:nvPr>
        </p:nvSpPr>
        <p:spPr>
          <a:xfrm>
            <a:off x="768349" y="1041337"/>
            <a:ext cx="7680708" cy="137268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40000"/>
              </a:lnSpc>
              <a:tabLst>
                <a:tab pos="2959100" algn="r"/>
              </a:tabLst>
            </a:pPr>
            <a:r>
              <a:t>Result of: </a:t>
            </a:r>
            <a:br/>
            <a:r>
              <a:t>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Fall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year=2017 </a:t>
            </a:r>
            <a:r>
              <a:t>(</a:t>
            </a:r>
            <a:r>
              <a:rPr i="1"/>
              <a:t>section</a:t>
            </a:r>
            <a:r>
              <a:t>))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  </a:t>
            </a:r>
            <a:br>
              <a:rPr>
                <a:latin typeface="Symbol"/>
                <a:ea typeface="Symbol"/>
                <a:cs typeface="Symbol"/>
                <a:sym typeface="Symbol"/>
              </a:rPr>
            </a:br>
            <a:r>
              <a:rPr>
                <a:latin typeface="Symbol"/>
                <a:ea typeface="Symbol"/>
                <a:cs typeface="Symbol"/>
                <a:sym typeface="Symbol"/>
              </a:rPr>
              <a:t>   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Spring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year=2018 </a:t>
            </a:r>
            <a:r>
              <a:t>(</a:t>
            </a:r>
            <a:r>
              <a:rPr i="1"/>
              <a:t>section</a:t>
            </a:r>
            <a:r>
              <a:t>))</a:t>
            </a:r>
          </a:p>
        </p:txBody>
      </p:sp>
      <p:pic>
        <p:nvPicPr>
          <p:cNvPr id="251" name="Graphic 2" descr="Graphic 2"/>
          <p:cNvPicPr>
            <a:picLocks noChangeAspect="1"/>
          </p:cNvPicPr>
          <p:nvPr/>
        </p:nvPicPr>
        <p:blipFill>
          <a:blip r:embed="rId1"/>
          <a:srcRect l="37449" r="37780" b="13863"/>
          <a:stretch>
            <a:fillRect/>
          </a:stretch>
        </p:blipFill>
        <p:spPr>
          <a:xfrm>
            <a:off x="5757159" y="2517924"/>
            <a:ext cx="1818733" cy="28747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46" y="3096490"/>
            <a:ext cx="1067712" cy="1207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3" name="TextBox 7"/>
          <p:cNvSpPr txBox="1"/>
          <p:nvPr/>
        </p:nvSpPr>
        <p:spPr>
          <a:xfrm>
            <a:off x="2138993" y="3530751"/>
            <a:ext cx="243475" cy="294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>
                <a:latin typeface="Symbol"/>
                <a:ea typeface="Symbol"/>
                <a:cs typeface="Symbol"/>
                <a:sym typeface="Symbol"/>
              </a:rPr>
              <a:t>È</a:t>
            </a:r>
            <a:endParaRPr b="0">
              <a:latin typeface="Symbol"/>
              <a:ea typeface="Symbol"/>
              <a:cs typeface="Symbol"/>
              <a:sym typeface="Symbol"/>
            </a:endParaRPr>
          </a:p>
        </p:txBody>
      </p:sp>
      <p:sp>
        <p:nvSpPr>
          <p:cNvPr id="254" name="TextBox 8"/>
          <p:cNvSpPr txBox="1"/>
          <p:nvPr/>
        </p:nvSpPr>
        <p:spPr>
          <a:xfrm>
            <a:off x="5002622" y="3595973"/>
            <a:ext cx="313807" cy="3327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t>=</a:t>
            </a:r>
          </a:p>
        </p:txBody>
      </p:sp>
      <p:pic>
        <p:nvPicPr>
          <p:cNvPr id="255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904" y="2842873"/>
            <a:ext cx="1235329" cy="223812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Set-Intersection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59" name="Rectangle 3"/>
          <p:cNvSpPr txBox="1"/>
          <p:nvPr>
            <p:ph type="body" idx="1"/>
          </p:nvPr>
        </p:nvSpPr>
        <p:spPr>
          <a:xfrm>
            <a:off x="768350" y="1077912"/>
            <a:ext cx="7612168" cy="3933001"/>
          </a:xfrm>
          <a:prstGeom prst="rect">
            <a:avLst/>
          </a:prstGeom>
        </p:spPr>
        <p:txBody>
          <a:bodyPr/>
          <a:lstStyle/>
          <a:p>
            <a:r>
              <a:t>The  set-intersection  operation  allows us to find tuples that are in both the input relations.</a:t>
            </a:r>
          </a:p>
          <a:p>
            <a:r>
              <a:t>Notation: </a:t>
            </a:r>
            <a:r>
              <a:rPr i="1"/>
              <a:t>r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Ç </a:t>
            </a:r>
            <a:r>
              <a:rPr i="1"/>
              <a:t>s</a:t>
            </a:r>
            <a:endParaRPr i="1"/>
          </a:p>
          <a:p>
            <a:r>
              <a:t>Assume: </a:t>
            </a:r>
          </a:p>
          <a:p>
            <a:pPr lvl="1">
              <a:buClr>
                <a:srgbClr val="FF9933"/>
              </a:buClr>
              <a:buFont typeface="Arial" panose="020B0604020202090204"/>
              <a:defRPr i="1"/>
            </a:pPr>
            <a:r>
              <a:t>r</a:t>
            </a:r>
            <a:r>
              <a:rPr i="0"/>
              <a:t>, </a:t>
            </a:r>
            <a:r>
              <a:t>s</a:t>
            </a:r>
            <a:r>
              <a:rPr i="0"/>
              <a:t> have the </a:t>
            </a:r>
            <a:r>
              <a:t>same arity</a:t>
            </a:r>
            <a:r>
              <a:rPr i="0"/>
              <a:t> </a:t>
            </a:r>
            <a:endParaRPr i="0"/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attributes of </a:t>
            </a:r>
            <a:r>
              <a:rPr i="1"/>
              <a:t>r</a:t>
            </a:r>
            <a:r>
              <a:t> and </a:t>
            </a:r>
            <a:r>
              <a:rPr i="1"/>
              <a:t>s</a:t>
            </a:r>
            <a:r>
              <a:t> are compatible</a:t>
            </a:r>
          </a:p>
          <a:p>
            <a:r>
              <a:t>Example: Find the set of all courses taught in both the Fall 2017 and the Spring 2018 semesters.</a:t>
            </a:r>
          </a:p>
          <a:p>
            <a:pPr>
              <a:buSzTx/>
              <a:buFont typeface="Wingdings" panose="05000000000000000000"/>
              <a:buNone/>
            </a:pPr>
            <a:r>
              <a:t>      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Fall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year=2017 </a:t>
            </a:r>
            <a:r>
              <a:t>(</a:t>
            </a:r>
            <a:r>
              <a:rPr i="1"/>
              <a:t>section</a:t>
            </a:r>
            <a:r>
              <a:t>))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Ç </a:t>
            </a:r>
            <a:br>
              <a:rPr>
                <a:latin typeface="Symbol"/>
                <a:ea typeface="Symbol"/>
                <a:cs typeface="Symbol"/>
                <a:sym typeface="Symbol"/>
              </a:rPr>
            </a:br>
            <a:r>
              <a:t>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Spring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year=2018 </a:t>
            </a:r>
            <a:r>
              <a:t>(</a:t>
            </a:r>
            <a:r>
              <a:rPr i="1"/>
              <a:t>section</a:t>
            </a:r>
            <a:r>
              <a:t>))</a:t>
            </a:r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Result</a:t>
            </a:r>
          </a:p>
        </p:txBody>
      </p:sp>
      <p:pic>
        <p:nvPicPr>
          <p:cNvPr id="260" name="Graphic 2" descr="Graphic 2"/>
          <p:cNvPicPr>
            <a:picLocks noChangeAspect="1"/>
          </p:cNvPicPr>
          <p:nvPr/>
        </p:nvPicPr>
        <p:blipFill>
          <a:blip r:embed="rId1"/>
          <a:srcRect l="38817" r="40862" b="33302"/>
          <a:stretch>
            <a:fillRect/>
          </a:stretch>
        </p:blipFill>
        <p:spPr>
          <a:xfrm>
            <a:off x="3584771" y="4723514"/>
            <a:ext cx="1373863" cy="8243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"/>
          <p:cNvSpPr txBox="1"/>
          <p:nvPr>
            <p:ph type="title"/>
          </p:nvPr>
        </p:nvSpPr>
        <p:spPr>
          <a:xfrm>
            <a:off x="768350" y="111125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Set Difference Operation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64" name="Rectangle 3"/>
          <p:cNvSpPr txBox="1"/>
          <p:nvPr>
            <p:ph type="body" idx="1"/>
          </p:nvPr>
        </p:nvSpPr>
        <p:spPr>
          <a:xfrm>
            <a:off x="768351" y="1077913"/>
            <a:ext cx="7754212" cy="3737927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200"/>
              </a:spcBef>
            </a:pPr>
            <a:r>
              <a:t>The set-difference operation allows us to find tuples that are in one relation but are not in another. </a:t>
            </a:r>
          </a:p>
          <a:p>
            <a:pPr>
              <a:spcBef>
                <a:spcPts val="1200"/>
              </a:spcBef>
            </a:pPr>
            <a:r>
              <a:t>Notation </a:t>
            </a:r>
            <a:r>
              <a:rPr i="1"/>
              <a:t>r – s</a:t>
            </a:r>
            <a:endParaRPr i="1"/>
          </a:p>
          <a:p>
            <a:r>
              <a:t>Set differences must be taken between </a:t>
            </a:r>
            <a:r>
              <a:rPr b="1">
                <a:solidFill>
                  <a:srgbClr val="002060"/>
                </a:solidFill>
              </a:rPr>
              <a:t>compatible</a:t>
            </a:r>
            <a:r>
              <a:t> relations.</a:t>
            </a:r>
          </a:p>
          <a:p>
            <a:pPr lvl="1">
              <a:buClr>
                <a:srgbClr val="FF9933"/>
              </a:buClr>
              <a:buFont typeface="Arial" panose="020B0604020202090204"/>
              <a:defRPr i="1"/>
            </a:pPr>
            <a:r>
              <a:t>r</a:t>
            </a:r>
            <a:r>
              <a:rPr i="0"/>
              <a:t> and </a:t>
            </a:r>
            <a:r>
              <a:t>s</a:t>
            </a:r>
            <a:r>
              <a:rPr i="0"/>
              <a:t> must have the </a:t>
            </a:r>
            <a:r>
              <a:rPr i="0">
                <a:solidFill>
                  <a:srgbClr val="002060"/>
                </a:solidFill>
              </a:rPr>
              <a:t>same</a:t>
            </a:r>
            <a:r>
              <a:rPr i="0"/>
              <a:t> arity</a:t>
            </a:r>
            <a:endParaRPr i="0"/>
          </a:p>
          <a:p>
            <a:pPr lvl="1">
              <a:buClr>
                <a:srgbClr val="FF9933"/>
              </a:buClr>
              <a:buFont typeface="Arial" panose="020B0604020202090204"/>
            </a:pPr>
            <a:r>
              <a:t>attribute domains of </a:t>
            </a:r>
            <a:r>
              <a:rPr i="1"/>
              <a:t>r </a:t>
            </a:r>
            <a:r>
              <a:t>and </a:t>
            </a:r>
            <a:r>
              <a:rPr i="1"/>
              <a:t>s </a:t>
            </a:r>
            <a:r>
              <a:t>must be compatible</a:t>
            </a:r>
          </a:p>
          <a:p>
            <a:pPr>
              <a:lnSpc>
                <a:spcPct val="140000"/>
              </a:lnSpc>
            </a:pPr>
            <a:r>
              <a:t>Example: to find all courses taught in the Fall 2017 semester, but not in the Spring 2018 semester</a:t>
            </a:r>
            <a:br/>
            <a:r>
              <a:t>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Fall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year=2017 </a:t>
            </a:r>
            <a:r>
              <a:t>(</a:t>
            </a:r>
            <a:r>
              <a:rPr i="1"/>
              <a:t>section</a:t>
            </a:r>
            <a:r>
              <a:t>))  −  </a:t>
            </a:r>
            <a:br/>
            <a:r>
              <a:rPr>
                <a:latin typeface="Symbol"/>
                <a:ea typeface="Symbol"/>
                <a:cs typeface="Symbol"/>
                <a:sym typeface="Symbol"/>
              </a:rPr>
              <a:t>   Õ</a:t>
            </a:r>
            <a:r>
              <a:rPr i="1" baseline="-25000"/>
              <a:t>course_id</a:t>
            </a:r>
            <a:r>
              <a:t> 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s</a:t>
            </a:r>
            <a:r>
              <a:t> </a:t>
            </a:r>
            <a:r>
              <a:rPr i="1" baseline="-25000"/>
              <a:t>semester=</a:t>
            </a:r>
            <a:r>
              <a:rPr i="1" baseline="-25000"/>
              <a:t>“</a:t>
            </a:r>
            <a:r>
              <a:rPr i="1" baseline="-25000"/>
              <a:t>Spring</a:t>
            </a:r>
            <a:r>
              <a:rPr i="1" baseline="-25000"/>
              <a:t>”</a:t>
            </a:r>
            <a:r>
              <a:rPr i="1" baseline="-25000"/>
              <a:t>  </a:t>
            </a:r>
            <a:r>
              <a:rPr i="1" baseline="-25000"/>
              <a:t>Λ</a:t>
            </a:r>
            <a:r>
              <a:rPr i="1" baseline="-25000"/>
              <a:t> year=2018 </a:t>
            </a:r>
            <a:r>
              <a:t>(</a:t>
            </a:r>
            <a:r>
              <a:rPr i="1"/>
              <a:t>section</a:t>
            </a:r>
            <a:r>
              <a:t>))</a:t>
            </a:r>
          </a:p>
        </p:txBody>
      </p:sp>
      <p:pic>
        <p:nvPicPr>
          <p:cNvPr id="265" name="Graphic 2" descr="Graphic 2"/>
          <p:cNvPicPr>
            <a:picLocks noChangeAspect="1"/>
          </p:cNvPicPr>
          <p:nvPr/>
        </p:nvPicPr>
        <p:blipFill>
          <a:blip r:embed="rId1"/>
          <a:srcRect l="40709" r="41293" b="41353"/>
          <a:stretch>
            <a:fillRect/>
          </a:stretch>
        </p:blipFill>
        <p:spPr>
          <a:xfrm>
            <a:off x="3971063" y="4882072"/>
            <a:ext cx="1201873" cy="98335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The Assignment  Operation 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69" name="Rectangle 3"/>
          <p:cNvSpPr txBox="1"/>
          <p:nvPr>
            <p:ph type="body" idx="1"/>
          </p:nvPr>
        </p:nvSpPr>
        <p:spPr>
          <a:xfrm>
            <a:off x="768350" y="1071562"/>
            <a:ext cx="7656322" cy="4835209"/>
          </a:xfrm>
          <a:prstGeom prst="rect">
            <a:avLst/>
          </a:prstGeom>
        </p:spPr>
        <p:txBody>
          <a:bodyPr/>
          <a:lstStyle/>
          <a:p>
            <a:pPr algn="l"/>
            <a:r>
              <a:t>It is convenient at times to write a relational-algebra expression by assigning parts of it to temporary relation variables.  </a:t>
            </a:r>
          </a:p>
          <a:p>
            <a:pPr algn="l"/>
            <a:r>
              <a:t>The assignment  operation is  denoted by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¬</a:t>
            </a:r>
            <a:r>
              <a:t> and works like assignment in a programming language.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Example: Find all instructor in the “Physics” and Music department.</a:t>
            </a:r>
            <a:br/>
            <a:br/>
            <a:r>
              <a:t>         </a:t>
            </a:r>
            <a:r>
              <a:rPr i="1"/>
              <a:t>Physics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 ¬</a:t>
            </a:r>
            <a:r>
              <a:rPr b="1"/>
              <a:t> </a:t>
            </a:r>
            <a:r>
              <a:rPr sz="180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1800"/>
              <a:t> </a:t>
            </a:r>
            <a:r>
              <a:rPr i="1" baseline="-25000"/>
              <a:t>dept_name=</a:t>
            </a:r>
            <a:r>
              <a:rPr i="1" baseline="-25000"/>
              <a:t>“</a:t>
            </a:r>
            <a:r>
              <a:rPr i="1" baseline="-25000"/>
              <a:t>Physics</a:t>
            </a:r>
            <a:r>
              <a:rPr i="1" baseline="-25000"/>
              <a:t>” </a:t>
            </a:r>
            <a:r>
              <a:t>(</a:t>
            </a:r>
            <a:r>
              <a:rPr i="1"/>
              <a:t>instructor</a:t>
            </a:r>
            <a:r>
              <a:t>)</a:t>
            </a:r>
          </a:p>
          <a:p>
            <a:pPr marL="285750" lvl="1" indent="171450"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</a:pPr>
            <a:r>
              <a:t>       </a:t>
            </a:r>
            <a:r>
              <a:rPr i="1"/>
              <a:t>Music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 ¬</a:t>
            </a:r>
            <a:r>
              <a:rPr b="1"/>
              <a:t> </a:t>
            </a:r>
            <a:r>
              <a:rPr sz="190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1900"/>
              <a:t> </a:t>
            </a:r>
            <a:r>
              <a:rPr sz="1900" i="1" baseline="-25000"/>
              <a:t>dept_name=</a:t>
            </a:r>
            <a:r>
              <a:rPr sz="1900" i="1" baseline="-25000"/>
              <a:t>“</a:t>
            </a:r>
            <a:r>
              <a:rPr sz="1900" i="1" baseline="-25000"/>
              <a:t>Music” </a:t>
            </a:r>
            <a:r>
              <a:t>(</a:t>
            </a:r>
            <a:r>
              <a:rPr i="1"/>
              <a:t>instructor</a:t>
            </a:r>
            <a:r>
              <a:t>)</a:t>
            </a:r>
          </a:p>
          <a:p>
            <a:pPr marL="285750" lvl="1" indent="171450">
              <a:lnSpc>
                <a:spcPct val="90000"/>
              </a:lnSpc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</a:pPr>
            <a:r>
              <a:t>       </a:t>
            </a:r>
            <a:r>
              <a:rPr i="1"/>
              <a:t>Physics</a:t>
            </a:r>
            <a:r>
              <a:t>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È </a:t>
            </a:r>
            <a:r>
              <a:rPr i="1"/>
              <a:t>Music</a:t>
            </a:r>
            <a:endParaRPr i="1"/>
          </a:p>
          <a:p>
            <a:pPr marL="285750" lvl="1" indent="171450">
              <a:lnSpc>
                <a:spcPct val="90000"/>
              </a:lnSpc>
              <a:spcBef>
                <a:spcPts val="300"/>
              </a:spcBef>
              <a:buSzTx/>
              <a:buFont typeface="Wingdings" panose="05000000000000000000"/>
              <a:buNone/>
              <a:tabLst>
                <a:tab pos="1651000" algn="l"/>
                <a:tab pos="3149600" algn="r"/>
                <a:tab pos="3416300" algn="l"/>
              </a:tabLst>
              <a:defRPr sz="800"/>
            </a:pPr>
            <a:r>
              <a:t> </a:t>
            </a:r>
          </a:p>
          <a:p>
            <a:pPr>
              <a:tabLst>
                <a:tab pos="1651000" algn="l"/>
                <a:tab pos="3149600" algn="r"/>
                <a:tab pos="3416300" algn="l"/>
              </a:tabLst>
            </a:pPr>
            <a:r>
              <a:t>With the assignment operation, a query can be written as a sequential program consisting of a series of assignments followed by an expression whose value is displayed as the result of the query. 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The Rename Operation 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73" name="Rectangle 3"/>
          <p:cNvSpPr txBox="1"/>
          <p:nvPr>
            <p:ph type="body" sz="half" idx="1"/>
          </p:nvPr>
        </p:nvSpPr>
        <p:spPr>
          <a:xfrm>
            <a:off x="768350" y="1077595"/>
            <a:ext cx="7683500" cy="2784475"/>
          </a:xfrm>
          <a:prstGeom prst="rect">
            <a:avLst/>
          </a:prstGeom>
        </p:spPr>
        <p:txBody>
          <a:bodyPr/>
          <a:lstStyle/>
          <a:p>
            <a:r>
              <a:t>The results of relational-algebra expressions do not have a name that we can use to refer to them.  The  rename operator,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r </a:t>
            </a:r>
            <a:r>
              <a:rPr i="1"/>
              <a:t>,</a:t>
            </a:r>
            <a:r>
              <a:t>  is provided </a:t>
            </a:r>
            <a:r>
              <a:rPr i="1"/>
              <a:t> </a:t>
            </a:r>
            <a:r>
              <a:t>for that purpose</a:t>
            </a:r>
          </a:p>
          <a:p>
            <a:r>
              <a:t>The expression:</a:t>
            </a:r>
          </a:p>
          <a:p>
            <a:pPr>
              <a:buSzTx/>
              <a:buFont typeface="Wingdings" panose="05000000000000000000"/>
              <a:buNone/>
            </a:pPr>
            <a:r>
              <a:t>             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r</a:t>
            </a:r>
            <a:r>
              <a:rPr i="1" baseline="-25000"/>
              <a:t>x</a:t>
            </a:r>
            <a:r>
              <a:rPr i="1"/>
              <a:t> </a:t>
            </a:r>
            <a:r>
              <a:t>(</a:t>
            </a:r>
            <a:r>
              <a:rPr i="1"/>
              <a:t>E</a:t>
            </a:r>
            <a:r>
              <a:t>)</a:t>
            </a:r>
          </a:p>
          <a:p>
            <a:pPr>
              <a:buSzTx/>
              <a:buFont typeface="Wingdings" panose="05000000000000000000"/>
              <a:buNone/>
            </a:pPr>
            <a:r>
              <a:t>      returns the result of expression </a:t>
            </a:r>
            <a:r>
              <a:rPr i="1"/>
              <a:t>E</a:t>
            </a:r>
            <a:r>
              <a:t> under the name </a:t>
            </a:r>
            <a:r>
              <a:rPr i="1"/>
              <a:t>x</a:t>
            </a:r>
            <a:endParaRPr i="1"/>
          </a:p>
          <a:p>
            <a:r>
              <a:t>Another form of the rename operation:</a:t>
            </a:r>
          </a:p>
          <a:p>
            <a:pPr>
              <a:buSzTx/>
              <a:buFont typeface="Wingdings" panose="05000000000000000000"/>
              <a:buNone/>
            </a:pPr>
            <a:r>
              <a:t>            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r</a:t>
            </a:r>
            <a:r>
              <a:rPr i="1" baseline="-25000"/>
              <a:t>x(A1,A2, .. An) </a:t>
            </a:r>
            <a:r>
              <a:t>(</a:t>
            </a:r>
            <a:r>
              <a:rPr i="1"/>
              <a:t>E</a:t>
            </a:r>
            <a: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44165" y="3716655"/>
            <a:ext cx="3187065" cy="29743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Aggregate Functions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77" name="Rectangle 3"/>
          <p:cNvSpPr txBox="1"/>
          <p:nvPr>
            <p:ph type="body" idx="1"/>
          </p:nvPr>
        </p:nvSpPr>
        <p:spPr>
          <a:xfrm>
            <a:off x="768350" y="1093787"/>
            <a:ext cx="7253986" cy="3795205"/>
          </a:xfrm>
          <a:prstGeom prst="rect">
            <a:avLst/>
          </a:prstGeom>
        </p:spPr>
        <p:txBody>
          <a:bodyPr/>
          <a:lstStyle/>
          <a:p>
            <a:pPr>
              <a:tabLst>
                <a:tab pos="2222500" algn="l"/>
              </a:tabLst>
            </a:pPr>
            <a:r>
              <a:t>These functions operate on the multiset (set with duplicates) of values of a column of a relation, and return a value</a:t>
            </a:r>
          </a:p>
          <a:p>
            <a:pPr>
              <a:buSzTx/>
              <a:buFont typeface="Wingdings" panose="05000000000000000000"/>
              <a:buNone/>
              <a:tabLst>
                <a:tab pos="2222500" algn="l"/>
              </a:tabLst>
            </a:pPr>
            <a:r>
              <a:t>		</a:t>
            </a:r>
            <a:r>
              <a:rPr b="1"/>
              <a:t>avg: </a:t>
            </a:r>
            <a:r>
              <a:t>average value</a:t>
            </a:r>
            <a:br/>
            <a:r>
              <a:t>	</a:t>
            </a:r>
            <a:r>
              <a:rPr b="1"/>
              <a:t>min:  </a:t>
            </a:r>
            <a:r>
              <a:t>minimum value</a:t>
            </a:r>
            <a:br/>
            <a:r>
              <a:t>	</a:t>
            </a:r>
            <a:r>
              <a:rPr b="1"/>
              <a:t>max:  </a:t>
            </a:r>
            <a:r>
              <a:t>maximum value</a:t>
            </a:r>
            <a:br/>
            <a:r>
              <a:t>	</a:t>
            </a:r>
            <a:r>
              <a:rPr b="1"/>
              <a:t>sum:  </a:t>
            </a:r>
            <a:r>
              <a:t>sum of values</a:t>
            </a:r>
            <a:br/>
            <a:r>
              <a:t>	</a:t>
            </a:r>
            <a:r>
              <a:rPr b="1"/>
              <a:t>count:  </a:t>
            </a:r>
            <a:r>
              <a:t>number of values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Aggregate Functions Examples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81" name="Rectangle 3"/>
          <p:cNvSpPr txBox="1"/>
          <p:nvPr>
            <p:ph type="body" idx="1"/>
          </p:nvPr>
        </p:nvSpPr>
        <p:spPr>
          <a:xfrm>
            <a:off x="768349" y="1108074"/>
            <a:ext cx="7681915" cy="4805047"/>
          </a:xfrm>
          <a:prstGeom prst="rect">
            <a:avLst/>
          </a:prstGeom>
        </p:spPr>
        <p:txBody>
          <a:bodyPr/>
          <a:lstStyle/>
          <a:p>
            <a:pPr>
              <a:tabLst>
                <a:tab pos="1701800" algn="l"/>
              </a:tabLst>
            </a:pPr>
            <a:r>
              <a:t>Find the average salary of instructors</a:t>
            </a:r>
          </a:p>
          <a:p>
            <a:pPr lvl="1">
              <a:spcBef>
                <a:spcPts val="1000"/>
              </a:spcBef>
              <a:buClr>
                <a:srgbClr val="FF9933"/>
              </a:buClr>
              <a:buFont typeface="Arial" panose="020B0604020202090204"/>
              <a:tabLst>
                <a:tab pos="1701800" algn="l"/>
              </a:tabLst>
              <a:defRPr sz="2000" i="1"/>
            </a:pPr>
            <a:r>
              <a:t>γ</a:t>
            </a:r>
            <a:r>
              <a:rPr baseline="-25000"/>
              <a:t>avg(salary)</a:t>
            </a:r>
            <a:r>
              <a:t>(instructor)</a:t>
            </a:r>
            <a:br/>
          </a:p>
          <a:p>
            <a:pPr>
              <a:tabLst>
                <a:tab pos="1701800" algn="l"/>
              </a:tabLst>
            </a:pPr>
            <a:r>
              <a:t>Find the total number of courses in 2018</a:t>
            </a:r>
          </a:p>
          <a:p>
            <a:pPr lvl="1">
              <a:spcBef>
                <a:spcPts val="1000"/>
              </a:spcBef>
              <a:buClr>
                <a:srgbClr val="FF9933"/>
              </a:buClr>
              <a:buFont typeface="Arial" panose="020B0604020202090204"/>
              <a:tabLst>
                <a:tab pos="1701800" algn="l"/>
              </a:tabLst>
              <a:defRPr sz="2000" i="1"/>
            </a:pPr>
            <a:r>
              <a:t>γ</a:t>
            </a:r>
            <a:r>
              <a:rPr baseline="-25000"/>
              <a:t>count(course_id)</a:t>
            </a:r>
            <a:r>
              <a:t>(</a:t>
            </a:r>
            <a:r>
              <a:rPr sz="2400" i="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sz="2400" i="0"/>
              <a:t> </a:t>
            </a:r>
            <a:r>
              <a:rPr baseline="-25000"/>
              <a:t>year =2018 </a:t>
            </a:r>
            <a:r>
              <a:t>(section))</a:t>
            </a:r>
          </a:p>
        </p:txBody>
      </p:sp>
      <p:sp>
        <p:nvSpPr>
          <p:cNvPr id="282" name="Text Box 4"/>
          <p:cNvSpPr txBox="1"/>
          <p:nvPr/>
        </p:nvSpPr>
        <p:spPr>
          <a:xfrm>
            <a:off x="804544" y="2813049"/>
            <a:ext cx="7590475" cy="370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800"/>
            </a:lvl1pPr>
          </a:lstStyle>
          <a:p>
            <a:r>
              <a:t>   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Aggregate Functions – Group By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86" name="Rectangle 3"/>
          <p:cNvSpPr txBox="1"/>
          <p:nvPr>
            <p:ph type="body" sz="quarter" idx="1"/>
          </p:nvPr>
        </p:nvSpPr>
        <p:spPr>
          <a:xfrm>
            <a:off x="768351" y="1023938"/>
            <a:ext cx="7900163" cy="1292543"/>
          </a:xfrm>
          <a:prstGeom prst="rect">
            <a:avLst/>
          </a:prstGeom>
        </p:spPr>
        <p:txBody>
          <a:bodyPr/>
          <a:lstStyle/>
          <a:p>
            <a:pPr>
              <a:tabLst>
                <a:tab pos="622300" algn="l"/>
              </a:tabLst>
            </a:pPr>
            <a:r>
              <a:t>Find the average salary of instructors in each department</a:t>
            </a:r>
          </a:p>
          <a:p>
            <a:pPr lvl="1">
              <a:spcBef>
                <a:spcPts val="800"/>
              </a:spcBef>
              <a:buClr>
                <a:srgbClr val="FF9933"/>
              </a:buClr>
              <a:buFont typeface="Arial" panose="020B0604020202090204"/>
              <a:tabLst>
                <a:tab pos="1701800" algn="l"/>
              </a:tabLst>
              <a:defRPr sz="2000" i="1" baseline="-25000"/>
            </a:pPr>
            <a:r>
              <a:t>dept_name</a:t>
            </a:r>
            <a:r>
              <a:rPr baseline="0"/>
              <a:t>γ</a:t>
            </a:r>
            <a:r>
              <a:t>avg(salary)</a:t>
            </a:r>
            <a:r>
              <a:rPr baseline="0"/>
              <a:t>(instructor)</a:t>
            </a:r>
            <a:endParaRPr baseline="0"/>
          </a:p>
        </p:txBody>
      </p:sp>
      <p:pic>
        <p:nvPicPr>
          <p:cNvPr id="287" name="Graphic 2" descr="Graphic 2"/>
          <p:cNvPicPr>
            <a:picLocks noChangeAspect="1"/>
          </p:cNvPicPr>
          <p:nvPr/>
        </p:nvPicPr>
        <p:blipFill>
          <a:blip r:embed="rId1"/>
          <a:srcRect l="19771" t="2012" r="19587" b="13353"/>
          <a:stretch>
            <a:fillRect/>
          </a:stretch>
        </p:blipFill>
        <p:spPr>
          <a:xfrm>
            <a:off x="641556" y="2528705"/>
            <a:ext cx="3930444" cy="34155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8" name="Graphic 4" descr="Graphic 4"/>
          <p:cNvPicPr>
            <a:picLocks noChangeAspect="1"/>
          </p:cNvPicPr>
          <p:nvPr/>
        </p:nvPicPr>
        <p:blipFill>
          <a:blip r:embed="rId2"/>
          <a:srcRect l="31384" t="3187" r="31718" b="23128"/>
          <a:stretch>
            <a:fillRect/>
          </a:stretch>
        </p:blipFill>
        <p:spPr>
          <a:xfrm>
            <a:off x="5346096" y="2528705"/>
            <a:ext cx="2426305" cy="223149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Equivalent Queries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92" name="Rectangle 3"/>
          <p:cNvSpPr txBox="1"/>
          <p:nvPr>
            <p:ph type="body" idx="1"/>
          </p:nvPr>
        </p:nvSpPr>
        <p:spPr>
          <a:xfrm>
            <a:off x="768349" y="1096739"/>
            <a:ext cx="7683194" cy="4664521"/>
          </a:xfrm>
          <a:prstGeom prst="rect">
            <a:avLst/>
          </a:prstGeom>
        </p:spPr>
        <p:txBody>
          <a:bodyPr/>
          <a:lstStyle/>
          <a:p>
            <a:r>
              <a:t>There is more than one way to write a query in relational algebra. </a:t>
            </a:r>
          </a:p>
          <a:p>
            <a:r>
              <a:t>Example:  Find information about courses taught by instructors in the Physics department with salary greater than 90,000</a:t>
            </a:r>
          </a:p>
          <a:p>
            <a:r>
              <a:t>Query 1</a:t>
            </a:r>
          </a:p>
          <a:p>
            <a:pPr>
              <a:buSzTx/>
              <a:buFont typeface="Wingdings" panose="05000000000000000000"/>
              <a:buNone/>
              <a:defRPr i="1"/>
            </a:pPr>
            <a:r>
              <a:t>          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i="0"/>
              <a:t> </a:t>
            </a:r>
            <a:r>
              <a:rPr baseline="-25000"/>
              <a:t>dept_name=</a:t>
            </a:r>
            <a:r>
              <a:rPr baseline="-25000"/>
              <a:t>“</a:t>
            </a:r>
            <a:r>
              <a:rPr baseline="-25000"/>
              <a:t>Physics</a:t>
            </a:r>
            <a:r>
              <a:rPr baseline="-25000"/>
              <a:t>”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Ù</a:t>
            </a:r>
            <a:r>
              <a:rPr baseline="-25000"/>
              <a:t> </a:t>
            </a:r>
            <a:r>
              <a:rPr baseline="-25000"/>
              <a:t>salary &gt; </a:t>
            </a:r>
            <a:r>
              <a:rPr i="0" baseline="-25000"/>
              <a:t>90,000</a:t>
            </a:r>
            <a:r>
              <a:rPr i="0"/>
              <a:t> (</a:t>
            </a:r>
            <a:r>
              <a:t>instructor</a:t>
            </a:r>
            <a:r>
              <a:rPr i="0"/>
              <a:t>)</a:t>
            </a:r>
            <a:endParaRPr i="0"/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r>
              <a:t>Query 2</a:t>
            </a:r>
          </a:p>
          <a:p>
            <a:pPr>
              <a:buSzTx/>
              <a:buFont typeface="Wingdings" panose="05000000000000000000"/>
              <a:buNone/>
              <a:defRPr i="1"/>
            </a:pPr>
            <a:r>
              <a:t>         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i="0"/>
              <a:t> </a:t>
            </a:r>
            <a:r>
              <a:rPr baseline="-25000"/>
              <a:t>dept_name=</a:t>
            </a:r>
            <a:r>
              <a:rPr baseline="-25000"/>
              <a:t>“</a:t>
            </a:r>
            <a:r>
              <a:rPr baseline="-25000"/>
              <a:t>Physics</a:t>
            </a:r>
            <a:r>
              <a:rPr baseline="-25000"/>
              <a:t>” </a:t>
            </a:r>
            <a:r>
              <a:rPr i="0"/>
              <a:t>(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s</a:t>
            </a:r>
            <a:r>
              <a:rPr i="0"/>
              <a:t> </a:t>
            </a:r>
            <a:r>
              <a:rPr baseline="-25000"/>
              <a:t>salary &gt; 90.000</a:t>
            </a:r>
            <a:r>
              <a:t> </a:t>
            </a:r>
            <a:r>
              <a:rPr i="0"/>
              <a:t>(</a:t>
            </a:r>
            <a:r>
              <a:t>instructor</a:t>
            </a:r>
            <a:r>
              <a:rPr i="0"/>
              <a:t>))</a:t>
            </a:r>
            <a:endParaRPr i="0"/>
          </a:p>
          <a:p>
            <a:pPr>
              <a:spcBef>
                <a:spcPts val="300"/>
              </a:spcBef>
              <a:buSzTx/>
              <a:buFont typeface="Wingdings" panose="05000000000000000000"/>
              <a:buNone/>
              <a:defRPr sz="800"/>
            </a:pPr>
            <a:r>
              <a:t> </a:t>
            </a:r>
          </a:p>
          <a:p>
            <a:pPr>
              <a:lnSpc>
                <a:spcPct val="90000"/>
              </a:lnSpc>
              <a:tabLst>
                <a:tab pos="1651000" algn="l"/>
                <a:tab pos="3149600" algn="r"/>
                <a:tab pos="3416300" algn="l"/>
              </a:tabLst>
            </a:pPr>
            <a:r>
              <a:t>The two queries are not identical; they are, however, equivalent -- they give the same result on any database.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Equivalent Queries</a:t>
            </a:r>
            <a:endParaRPr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Rectangle 3"/>
              <p:cNvSpPr txBox="1"/>
              <p:nvPr>
                <p:ph type="body" idx="1"/>
              </p:nvPr>
            </p:nvSpPr>
            <p:spPr>
              <a:xfrm>
                <a:off x="768350" y="824865"/>
                <a:ext cx="7639050" cy="2395855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Example:  Find information about courses taught by instructors in the Physics department</a:t>
                </a:r>
              </a:p>
              <a:p>
                <a:r>
                  <a:t>Query 1</a:t>
                </a:r>
              </a:p>
              <a:p>
                <a:pPr marL="0" indent="0">
                  <a:buSzTx/>
                  <a:buFont typeface="Wingdings" panose="05000000000000000000"/>
                  <a:buNone/>
                  <a:defRPr i="1"/>
                </a:pPr>
                <a:r>
                  <a:t>       </a:t>
                </a:r>
                <a:r>
                  <a:rPr i="0">
                    <a:latin typeface="Symbol"/>
                    <a:ea typeface="Symbol"/>
                    <a:cs typeface="Symbol"/>
                    <a:sym typeface="Symbol"/>
                  </a:rPr>
                  <a:t>s</a:t>
                </a:r>
                <a:r>
                  <a:rPr baseline="-25000"/>
                  <a:t>dept_name=</a:t>
                </a:r>
                <a:r>
                  <a:rPr baseline="-25000"/>
                  <a:t>“</a:t>
                </a:r>
                <a:r>
                  <a:rPr baseline="-25000"/>
                  <a:t>Physics</a:t>
                </a:r>
                <a:r>
                  <a:rPr baseline="-25000"/>
                  <a:t>” </a:t>
                </a:r>
                <a:r>
                  <a:t>(instructor</a:t>
                </a:r>
                <a:r>
                  <a:rPr i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/>
                    </m:sSub>
                  </m:oMath>
                </a14:m>
                <a:r>
                  <a:rPr baseline="-25000"/>
                  <a:t>instructor.ID = teaches.ID</a:t>
                </a:r>
                <a:r>
                  <a:rPr i="0" baseline="-25000"/>
                  <a:t> </a:t>
                </a:r>
                <a:r>
                  <a:t>teaches)</a:t>
                </a:r>
              </a:p>
              <a:p>
                <a:pPr>
                  <a:spcBef>
                    <a:spcPts val="300"/>
                  </a:spcBef>
                  <a:buSzTx/>
                  <a:buFont typeface="Wingdings" panose="05000000000000000000"/>
                  <a:buNone/>
                  <a:defRPr sz="800"/>
                </a:pPr>
                <a:r>
                  <a:t> </a:t>
                </a:r>
              </a:p>
              <a:p>
                <a:r>
                  <a:t>Query 2</a:t>
                </a:r>
              </a:p>
              <a:p>
                <a:pPr>
                  <a:buSzTx/>
                  <a:buFont typeface="Wingdings" panose="05000000000000000000"/>
                  <a:buNone/>
                  <a:defRPr i="1"/>
                </a:pPr>
                <a:r>
                  <a:t>       (</a:t>
                </a:r>
                <a:r>
                  <a:rPr i="0">
                    <a:latin typeface="Symbol"/>
                    <a:ea typeface="Symbol"/>
                    <a:cs typeface="Symbol"/>
                    <a:sym typeface="Symbol"/>
                  </a:rPr>
                  <a:t>s</a:t>
                </a:r>
                <a:r>
                  <a:rPr baseline="-25000"/>
                  <a:t>dept_name=</a:t>
                </a:r>
                <a:r>
                  <a:rPr baseline="-25000"/>
                  <a:t>“</a:t>
                </a:r>
                <a:r>
                  <a:rPr baseline="-25000"/>
                  <a:t>Physics</a:t>
                </a:r>
                <a:r>
                  <a:rPr baseline="-25000"/>
                  <a:t>” </a:t>
                </a:r>
                <a:r>
                  <a:t>(instructor))</a:t>
                </a:r>
                <a:r>
                  <a:rPr i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/>
                    </m:sSub>
                  </m:oMath>
                </a14:m>
                <a:r>
                  <a:rPr baseline="-25000"/>
                  <a:t>instructor.ID = teaches.ID</a:t>
                </a:r>
                <a:r>
                  <a:rPr i="0" baseline="-25000"/>
                  <a:t> </a:t>
                </a:r>
                <a:r>
                  <a:t>teaches</a:t>
                </a:r>
              </a:p>
              <a:p>
                <a:pPr>
                  <a:spcBef>
                    <a:spcPts val="300"/>
                  </a:spcBef>
                  <a:buSzTx/>
                  <a:buFont typeface="Wingdings" panose="05000000000000000000"/>
                  <a:buNone/>
                  <a:defRPr sz="800"/>
                </a:pPr>
              </a:p>
            </p:txBody>
          </p:sp>
        </mc:Choice>
        <mc:Fallback>
          <p:sp>
            <p:nvSpPr>
              <p:cNvPr id="29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824865"/>
                <a:ext cx="7639050" cy="23958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92090" y="3213100"/>
            <a:ext cx="3228975" cy="3571875"/>
          </a:xfrm>
          <a:prstGeom prst="rect">
            <a:avLst/>
          </a:prstGeom>
        </p:spPr>
      </p:pic>
      <p:pic>
        <p:nvPicPr>
          <p:cNvPr id="287" name="Graphic 2" descr="Graphic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9771" t="2012" r="19587" b="13353"/>
          <a:stretch>
            <a:fillRect/>
          </a:stretch>
        </p:blipFill>
        <p:spPr>
          <a:xfrm>
            <a:off x="899795" y="3406775"/>
            <a:ext cx="3743325" cy="325310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 b="1" i="0" u="none" strike="noStrike" kern="0" cap="none" spc="0" normalizeH="0" baseline="0">
                <a:solidFill>
                  <a:srgbClr val="C00000"/>
                </a:solidFill>
                <a:uFillTx/>
                <a:latin typeface="+mj-lt"/>
                <a:cs typeface="+mj-cs"/>
              </a:rPr>
              <a:t>Summary of Relational Algebra Operators</a:t>
            </a:r>
            <a:endParaRPr kumimoji="1" lang="en-US" sz="28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55298" name="Rectangle 3"/>
          <p:cNvSpPr/>
          <p:nvPr/>
        </p:nvSpPr>
        <p:spPr>
          <a:xfrm>
            <a:off x="1093788" y="803275"/>
            <a:ext cx="7246937" cy="325438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pPr eaLnBrk="0" hangingPunct="0"/>
            <a:endParaRPr lang="en-US" altLang="en-US" sz="1200" dirty="0">
              <a:latin typeface="Helvetica" charset="0"/>
            </a:endParaRPr>
          </a:p>
        </p:txBody>
      </p:sp>
      <p:sp>
        <p:nvSpPr>
          <p:cNvPr id="55299" name="Rectangle 4"/>
          <p:cNvSpPr/>
          <p:nvPr/>
        </p:nvSpPr>
        <p:spPr>
          <a:xfrm>
            <a:off x="1093788" y="1179513"/>
            <a:ext cx="7253287" cy="48958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pPr eaLnBrk="0" hangingPunct="0"/>
            <a:endParaRPr lang="en-US" altLang="en-US" sz="1200" dirty="0">
              <a:latin typeface="Helvetica" charset="0"/>
            </a:endParaRPr>
          </a:p>
        </p:txBody>
      </p:sp>
      <p:cxnSp>
        <p:nvCxnSpPr>
          <p:cNvPr id="55300" name="Straight Connector 5"/>
          <p:cNvCxnSpPr/>
          <p:nvPr/>
        </p:nvCxnSpPr>
        <p:spPr>
          <a:xfrm>
            <a:off x="2862263" y="1169988"/>
            <a:ext cx="0" cy="49053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01" name="Straight Connector 2"/>
          <p:cNvCxnSpPr/>
          <p:nvPr/>
        </p:nvCxnSpPr>
        <p:spPr>
          <a:xfrm flipV="1">
            <a:off x="2862263" y="803275"/>
            <a:ext cx="0" cy="3254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02" name="TextBox 6"/>
          <p:cNvSpPr txBox="1"/>
          <p:nvPr/>
        </p:nvSpPr>
        <p:spPr>
          <a:xfrm>
            <a:off x="1042988" y="846138"/>
            <a:ext cx="6186487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 Symbol (Name)                  Example of Use</a:t>
            </a:r>
            <a:endParaRPr lang="en-US" altLang="en-US" sz="1200" dirty="0">
              <a:latin typeface="Palatino Linotype" pitchFamily="18" charset="0"/>
            </a:endParaRPr>
          </a:p>
        </p:txBody>
      </p:sp>
      <p:sp>
        <p:nvSpPr>
          <p:cNvPr id="55303" name="TextBox 9"/>
          <p:cNvSpPr txBox="1"/>
          <p:nvPr/>
        </p:nvSpPr>
        <p:spPr>
          <a:xfrm>
            <a:off x="1023938" y="1306513"/>
            <a:ext cx="6486525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 (Selection)	                        </a:t>
            </a:r>
            <a:r>
              <a:rPr lang="el-GR" altLang="en-US" sz="1200" baseline="30000" dirty="0">
                <a:latin typeface="Times New Roman" panose="02020503050405090304" charset="0"/>
              </a:rPr>
              <a:t>σ</a:t>
            </a:r>
            <a:r>
              <a:rPr lang="en-US" altLang="en-US" sz="1200" dirty="0">
                <a:latin typeface="Times New Roman" panose="02020503050405090304" charset="0"/>
              </a:rPr>
              <a:t> </a:t>
            </a:r>
            <a:r>
              <a:rPr lang="en-US" altLang="en-US" sz="1200" dirty="0">
                <a:latin typeface="Palatino Linotype" pitchFamily="18" charset="0"/>
              </a:rPr>
              <a:t>salary &gt; = 85000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instructor</a:t>
            </a:r>
            <a:r>
              <a:rPr lang="en-US" altLang="en-US" sz="1200" baseline="30000" dirty="0">
                <a:latin typeface="Palatino Linotype" pitchFamily="18" charset="0"/>
              </a:rPr>
              <a:t>)</a:t>
            </a:r>
            <a:endParaRPr lang="en-US" altLang="en-US" sz="1200" baseline="30000" dirty="0">
              <a:latin typeface="Palatino Linotype" pitchFamily="18" charset="0"/>
            </a:endParaRPr>
          </a:p>
        </p:txBody>
      </p:sp>
      <p:sp>
        <p:nvSpPr>
          <p:cNvPr id="55304" name="TextBox 8"/>
          <p:cNvSpPr txBox="1"/>
          <p:nvPr/>
        </p:nvSpPr>
        <p:spPr>
          <a:xfrm>
            <a:off x="1128713" y="1111250"/>
            <a:ext cx="887412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l-GR" altLang="en-US" sz="1200" dirty="0">
                <a:latin typeface="Times New Roman" panose="02020503050405090304" charset="0"/>
              </a:rPr>
              <a:t>σ</a:t>
            </a:r>
            <a:endParaRPr lang="en-US" altLang="en-US" sz="1200" dirty="0">
              <a:latin typeface="Helvetica" charset="0"/>
            </a:endParaRPr>
          </a:p>
        </p:txBody>
      </p:sp>
      <p:cxnSp>
        <p:nvCxnSpPr>
          <p:cNvPr id="55305" name="Straight Connector 11"/>
          <p:cNvCxnSpPr/>
          <p:nvPr/>
        </p:nvCxnSpPr>
        <p:spPr>
          <a:xfrm>
            <a:off x="2862263" y="1574800"/>
            <a:ext cx="54784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06" name="TextBox 12"/>
          <p:cNvSpPr txBox="1"/>
          <p:nvPr/>
        </p:nvSpPr>
        <p:spPr>
          <a:xfrm>
            <a:off x="2870200" y="1581150"/>
            <a:ext cx="5478463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Return rows of the input relation that satisfy the predicate.</a:t>
            </a:r>
            <a:endParaRPr lang="en-US" altLang="en-US" sz="1200" dirty="0">
              <a:latin typeface="Palatino Linotype" pitchFamily="18" charset="0"/>
            </a:endParaRPr>
          </a:p>
        </p:txBody>
      </p:sp>
      <p:cxnSp>
        <p:nvCxnSpPr>
          <p:cNvPr id="55307" name="Straight Connector 16"/>
          <p:cNvCxnSpPr/>
          <p:nvPr/>
        </p:nvCxnSpPr>
        <p:spPr>
          <a:xfrm>
            <a:off x="1093788" y="1900238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08" name="Straight Connector 18"/>
          <p:cNvCxnSpPr/>
          <p:nvPr/>
        </p:nvCxnSpPr>
        <p:spPr>
          <a:xfrm>
            <a:off x="2870200" y="2335213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09" name="Straight Connector 19"/>
          <p:cNvCxnSpPr/>
          <p:nvPr/>
        </p:nvCxnSpPr>
        <p:spPr>
          <a:xfrm>
            <a:off x="1101725" y="2795588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10" name="TextBox 20"/>
          <p:cNvSpPr txBox="1"/>
          <p:nvPr/>
        </p:nvSpPr>
        <p:spPr>
          <a:xfrm>
            <a:off x="1135063" y="1852613"/>
            <a:ext cx="889000" cy="277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l-GR" altLang="en-US" sz="1200" dirty="0">
                <a:latin typeface="Times New Roman" panose="02020503050405090304" charset="0"/>
              </a:rPr>
              <a:t>Π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5311" name="TextBox 21"/>
          <p:cNvSpPr txBox="1"/>
          <p:nvPr/>
        </p:nvSpPr>
        <p:spPr>
          <a:xfrm>
            <a:off x="1031875" y="2047875"/>
            <a:ext cx="6484938" cy="277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 (Projection)	                         </a:t>
            </a:r>
            <a:r>
              <a:rPr lang="el-GR" altLang="en-US" sz="1200" baseline="30000" dirty="0">
                <a:latin typeface="Times New Roman" panose="02020503050405090304" charset="0"/>
              </a:rPr>
              <a:t>Π</a:t>
            </a:r>
            <a:r>
              <a:rPr lang="en-US" altLang="en-US" sz="1200" dirty="0">
                <a:latin typeface="Times New Roman" panose="02020503050405090304" charset="0"/>
              </a:rPr>
              <a:t> </a:t>
            </a:r>
            <a:r>
              <a:rPr lang="en-US" altLang="en-US" sz="1200" i="1" dirty="0">
                <a:latin typeface="Palatino Linotype" pitchFamily="18" charset="0"/>
              </a:rPr>
              <a:t>ID, salary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instructor</a:t>
            </a:r>
            <a:r>
              <a:rPr lang="en-US" altLang="en-US" sz="1200" baseline="30000" dirty="0">
                <a:latin typeface="Palatino Linotype" pitchFamily="18" charset="0"/>
              </a:rPr>
              <a:t>)</a:t>
            </a:r>
            <a:endParaRPr lang="en-US" altLang="en-US" sz="1200" baseline="30000" dirty="0">
              <a:latin typeface="Palatino Linotype" pitchFamily="18" charset="0"/>
            </a:endParaRPr>
          </a:p>
        </p:txBody>
      </p:sp>
      <p:sp>
        <p:nvSpPr>
          <p:cNvPr id="55312" name="TextBox 22"/>
          <p:cNvSpPr txBox="1"/>
          <p:nvPr/>
        </p:nvSpPr>
        <p:spPr>
          <a:xfrm>
            <a:off x="2870200" y="2322513"/>
            <a:ext cx="547687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Output specified attributes from all rows of the input relation.  Remove duplicate tuples from the output.</a:t>
            </a:r>
            <a:endParaRPr lang="en-US" altLang="en-US" sz="1200" dirty="0">
              <a:latin typeface="Palatino Linotype" pitchFamily="18" charset="0"/>
            </a:endParaRPr>
          </a:p>
        </p:txBody>
      </p:sp>
      <p:cxnSp>
        <p:nvCxnSpPr>
          <p:cNvPr id="55313" name="Straight Connector 25"/>
          <p:cNvCxnSpPr/>
          <p:nvPr/>
        </p:nvCxnSpPr>
        <p:spPr>
          <a:xfrm>
            <a:off x="2868613" y="3205163"/>
            <a:ext cx="54784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14" name="Straight Connector 26"/>
          <p:cNvCxnSpPr/>
          <p:nvPr/>
        </p:nvCxnSpPr>
        <p:spPr>
          <a:xfrm>
            <a:off x="1100138" y="3673475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15" name="TextBox 31"/>
          <p:cNvSpPr txBox="1"/>
          <p:nvPr/>
        </p:nvSpPr>
        <p:spPr>
          <a:xfrm>
            <a:off x="1057275" y="2735263"/>
            <a:ext cx="922338" cy="277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x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5316" name="TextBox 32"/>
          <p:cNvSpPr txBox="1"/>
          <p:nvPr/>
        </p:nvSpPr>
        <p:spPr>
          <a:xfrm>
            <a:off x="1036638" y="2908300"/>
            <a:ext cx="6486525" cy="277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(Cartesian Product)	 </a:t>
            </a:r>
            <a:r>
              <a:rPr lang="en-US" altLang="en-US" sz="1200" i="1" dirty="0">
                <a:latin typeface="Palatino Linotype" pitchFamily="18" charset="0"/>
              </a:rPr>
              <a:t>instructor</a:t>
            </a:r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x</a:t>
            </a:r>
            <a:r>
              <a:rPr lang="en-US" altLang="en-US" sz="1200" i="1" dirty="0">
                <a:latin typeface="Palatino Linotype" pitchFamily="18" charset="0"/>
              </a:rPr>
              <a:t>  department</a:t>
            </a:r>
            <a:endParaRPr lang="en-US" altLang="en-US" sz="1200" i="1" dirty="0">
              <a:latin typeface="Palatino Linotype" pitchFamily="18" charset="0"/>
            </a:endParaRPr>
          </a:p>
        </p:txBody>
      </p:sp>
      <p:sp>
        <p:nvSpPr>
          <p:cNvPr id="55317" name="TextBox 34"/>
          <p:cNvSpPr txBox="1"/>
          <p:nvPr/>
        </p:nvSpPr>
        <p:spPr>
          <a:xfrm>
            <a:off x="2874963" y="3209925"/>
            <a:ext cx="5575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Output pairs of rows from the two input relations that have the same value on all attributes that have the same name.</a:t>
            </a:r>
            <a:endParaRPr lang="en-US" altLang="en-US" sz="1200" dirty="0">
              <a:latin typeface="Palatino Linotype" pitchFamily="18" charset="0"/>
            </a:endParaRPr>
          </a:p>
        </p:txBody>
      </p:sp>
      <p:cxnSp>
        <p:nvCxnSpPr>
          <p:cNvPr id="55318" name="Straight Connector 35"/>
          <p:cNvCxnSpPr/>
          <p:nvPr/>
        </p:nvCxnSpPr>
        <p:spPr>
          <a:xfrm>
            <a:off x="1093788" y="4400550"/>
            <a:ext cx="725963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19" name="Straight Connector 36"/>
          <p:cNvCxnSpPr/>
          <p:nvPr/>
        </p:nvCxnSpPr>
        <p:spPr>
          <a:xfrm>
            <a:off x="1106488" y="5108575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20" name="TextBox 37"/>
          <p:cNvSpPr txBox="1"/>
          <p:nvPr/>
        </p:nvSpPr>
        <p:spPr>
          <a:xfrm>
            <a:off x="1055688" y="3622675"/>
            <a:ext cx="922337" cy="277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∪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5321" name="TextBox 38"/>
          <p:cNvSpPr txBox="1"/>
          <p:nvPr/>
        </p:nvSpPr>
        <p:spPr>
          <a:xfrm>
            <a:off x="1035050" y="3795713"/>
            <a:ext cx="6486525" cy="277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(Union)		 </a:t>
            </a:r>
            <a:r>
              <a:rPr lang="el-GR" altLang="en-US" sz="1200" baseline="30000" dirty="0">
                <a:latin typeface="Times New Roman" panose="02020503050405090304" charset="0"/>
              </a:rPr>
              <a:t>Π</a:t>
            </a:r>
            <a:r>
              <a:rPr lang="en-US" altLang="en-US" sz="1200" dirty="0">
                <a:latin typeface="Times New Roman" panose="02020503050405090304" charset="0"/>
              </a:rPr>
              <a:t> </a:t>
            </a:r>
            <a:r>
              <a:rPr lang="en-US" altLang="en-US" sz="1200" i="1" dirty="0">
                <a:latin typeface="Palatino Linotype" pitchFamily="18" charset="0"/>
              </a:rPr>
              <a:t>name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instructor)  </a:t>
            </a:r>
            <a:r>
              <a:rPr lang="en-US" altLang="en-US" sz="1200" baseline="30000" dirty="0">
                <a:latin typeface="Palatino Linotype" pitchFamily="18" charset="0"/>
              </a:rPr>
              <a:t>∪  </a:t>
            </a:r>
            <a:r>
              <a:rPr lang="el-GR" altLang="en-US" sz="1200" baseline="30000" dirty="0">
                <a:latin typeface="Times New Roman" panose="02020503050405090304" charset="0"/>
              </a:rPr>
              <a:t>Π</a:t>
            </a:r>
            <a:r>
              <a:rPr lang="en-US" altLang="en-US" sz="1200" baseline="30000" dirty="0">
                <a:latin typeface="Times New Roman" panose="02020503050405090304" charset="0"/>
              </a:rPr>
              <a:t> </a:t>
            </a:r>
            <a:r>
              <a:rPr lang="en-US" altLang="en-US" sz="1200" i="1" dirty="0">
                <a:latin typeface="Palatino Linotype" pitchFamily="18" charset="0"/>
              </a:rPr>
              <a:t>name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student)</a:t>
            </a:r>
            <a:endParaRPr lang="en-US" altLang="en-US" sz="1200" i="1" dirty="0">
              <a:latin typeface="Palatino Linotype" pitchFamily="18" charset="0"/>
            </a:endParaRPr>
          </a:p>
        </p:txBody>
      </p:sp>
      <p:sp>
        <p:nvSpPr>
          <p:cNvPr id="55322" name="TextBox 39"/>
          <p:cNvSpPr txBox="1"/>
          <p:nvPr/>
        </p:nvSpPr>
        <p:spPr>
          <a:xfrm>
            <a:off x="2867025" y="4089400"/>
            <a:ext cx="5575300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Output the union of tuples from the </a:t>
            </a:r>
            <a:r>
              <a:rPr lang="en-US" altLang="en-US" sz="1200" i="1" dirty="0">
                <a:latin typeface="Palatino Linotype" pitchFamily="18" charset="0"/>
              </a:rPr>
              <a:t>two </a:t>
            </a:r>
            <a:r>
              <a:rPr lang="en-US" altLang="en-US" sz="1200" dirty="0">
                <a:latin typeface="Palatino Linotype" pitchFamily="18" charset="0"/>
              </a:rPr>
              <a:t>input relations.</a:t>
            </a:r>
            <a:endParaRPr lang="en-US" altLang="en-US" sz="1200" dirty="0">
              <a:latin typeface="Palatino Linotype" pitchFamily="18" charset="0"/>
            </a:endParaRPr>
          </a:p>
        </p:txBody>
      </p:sp>
      <p:cxnSp>
        <p:nvCxnSpPr>
          <p:cNvPr id="55323" name="Straight Connector 42"/>
          <p:cNvCxnSpPr/>
          <p:nvPr/>
        </p:nvCxnSpPr>
        <p:spPr>
          <a:xfrm>
            <a:off x="2874963" y="4056063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24" name="TextBox 24"/>
          <p:cNvSpPr txBox="1"/>
          <p:nvPr/>
        </p:nvSpPr>
        <p:spPr>
          <a:xfrm>
            <a:off x="1038225" y="5259388"/>
            <a:ext cx="6486525" cy="277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(Natural Join)	 </a:t>
            </a:r>
            <a:r>
              <a:rPr lang="en-US" altLang="en-US" sz="1200" i="1" dirty="0">
                <a:latin typeface="Palatino Linotype" pitchFamily="18" charset="0"/>
              </a:rPr>
              <a:t>instructor</a:t>
            </a:r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⋈</a:t>
            </a:r>
            <a:r>
              <a:rPr lang="en-US" altLang="en-US" sz="1200" i="1" dirty="0">
                <a:latin typeface="Palatino Linotype" pitchFamily="18" charset="0"/>
              </a:rPr>
              <a:t>  department</a:t>
            </a:r>
            <a:endParaRPr lang="en-US" altLang="en-US" sz="1200" i="1" dirty="0">
              <a:latin typeface="Palatino Linotype" pitchFamily="18" charset="0"/>
            </a:endParaRPr>
          </a:p>
        </p:txBody>
      </p:sp>
      <p:sp>
        <p:nvSpPr>
          <p:cNvPr id="55325" name="TextBox 27"/>
          <p:cNvSpPr txBox="1"/>
          <p:nvPr/>
        </p:nvSpPr>
        <p:spPr>
          <a:xfrm>
            <a:off x="2868613" y="5559425"/>
            <a:ext cx="55753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Output pairs of rows from the two input relations that have the same value on all attributes that have the same name.</a:t>
            </a:r>
            <a:endParaRPr lang="en-US" altLang="en-US" sz="1200" dirty="0">
              <a:latin typeface="Palatino Linotype" pitchFamily="18" charset="0"/>
            </a:endParaRPr>
          </a:p>
        </p:txBody>
      </p:sp>
      <p:sp>
        <p:nvSpPr>
          <p:cNvPr id="55326" name="TextBox 30"/>
          <p:cNvSpPr txBox="1"/>
          <p:nvPr/>
        </p:nvSpPr>
        <p:spPr>
          <a:xfrm>
            <a:off x="1049338" y="5078413"/>
            <a:ext cx="923925" cy="277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⋈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5327" name="TextBox 37"/>
          <p:cNvSpPr txBox="1"/>
          <p:nvPr/>
        </p:nvSpPr>
        <p:spPr>
          <a:xfrm>
            <a:off x="1046163" y="4348163"/>
            <a:ext cx="922337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</a:t>
            </a:r>
            <a:r>
              <a:rPr lang="en-US" altLang="en-US" sz="1200" dirty="0">
                <a:latin typeface="Lucida Sans Unicode" pitchFamily="34" charset="0"/>
              </a:rPr>
              <a:t>-</a:t>
            </a:r>
            <a:endParaRPr lang="en-US" altLang="en-US" sz="1200" dirty="0">
              <a:latin typeface="Helvetica" charset="0"/>
            </a:endParaRPr>
          </a:p>
        </p:txBody>
      </p:sp>
      <p:sp>
        <p:nvSpPr>
          <p:cNvPr id="55328" name="TextBox 38"/>
          <p:cNvSpPr txBox="1"/>
          <p:nvPr/>
        </p:nvSpPr>
        <p:spPr>
          <a:xfrm>
            <a:off x="1025525" y="4521200"/>
            <a:ext cx="6486525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 (Set Difference)	 </a:t>
            </a:r>
            <a:r>
              <a:rPr lang="el-GR" altLang="en-US" sz="1200" baseline="30000" dirty="0">
                <a:latin typeface="Times New Roman" panose="02020503050405090304" charset="0"/>
              </a:rPr>
              <a:t>Π</a:t>
            </a:r>
            <a:r>
              <a:rPr lang="en-US" altLang="en-US" sz="1200" dirty="0">
                <a:latin typeface="Times New Roman" panose="02020503050405090304" charset="0"/>
              </a:rPr>
              <a:t> </a:t>
            </a:r>
            <a:r>
              <a:rPr lang="en-US" altLang="en-US" sz="1200" i="1" dirty="0">
                <a:latin typeface="Palatino Linotype" pitchFamily="18" charset="0"/>
              </a:rPr>
              <a:t>name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instructor) </a:t>
            </a:r>
            <a:r>
              <a:rPr lang="en-US" altLang="en-US" sz="1200" dirty="0">
                <a:latin typeface="Lucida Sans Unicode" pitchFamily="34" charset="0"/>
              </a:rPr>
              <a:t> </a:t>
            </a:r>
            <a:r>
              <a:rPr lang="en-US" altLang="en-US" sz="1200" baseline="30000" dirty="0">
                <a:latin typeface="Palatino Linotype" pitchFamily="18" charset="0"/>
              </a:rPr>
              <a:t>--  </a:t>
            </a:r>
            <a:r>
              <a:rPr lang="el-GR" altLang="en-US" sz="1200" baseline="30000" dirty="0">
                <a:latin typeface="Times New Roman" panose="02020503050405090304" charset="0"/>
              </a:rPr>
              <a:t>Π</a:t>
            </a:r>
            <a:r>
              <a:rPr lang="en-US" altLang="en-US" sz="1200" baseline="30000" dirty="0">
                <a:latin typeface="Times New Roman" panose="02020503050405090304" charset="0"/>
              </a:rPr>
              <a:t> </a:t>
            </a:r>
            <a:r>
              <a:rPr lang="en-US" altLang="en-US" sz="1200" i="1" dirty="0">
                <a:latin typeface="Palatino Linotype" pitchFamily="18" charset="0"/>
              </a:rPr>
              <a:t>name </a:t>
            </a:r>
            <a:r>
              <a:rPr lang="en-US" altLang="en-US" sz="1200" baseline="30000" dirty="0">
                <a:latin typeface="Palatino Linotype" pitchFamily="18" charset="0"/>
              </a:rPr>
              <a:t>(</a:t>
            </a:r>
            <a:r>
              <a:rPr lang="en-US" altLang="en-US" sz="1200" i="1" baseline="30000" dirty="0">
                <a:latin typeface="Palatino Linotype" pitchFamily="18" charset="0"/>
              </a:rPr>
              <a:t>student)</a:t>
            </a:r>
            <a:endParaRPr lang="en-US" altLang="en-US" sz="1200" i="1" dirty="0">
              <a:latin typeface="Palatino Linotype" pitchFamily="18" charset="0"/>
            </a:endParaRPr>
          </a:p>
        </p:txBody>
      </p:sp>
      <p:sp>
        <p:nvSpPr>
          <p:cNvPr id="55329" name="TextBox 39"/>
          <p:cNvSpPr txBox="1"/>
          <p:nvPr/>
        </p:nvSpPr>
        <p:spPr>
          <a:xfrm>
            <a:off x="2873375" y="4805363"/>
            <a:ext cx="5575300" cy="276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en-US" sz="1200" dirty="0">
                <a:latin typeface="Palatino Linotype" pitchFamily="18" charset="0"/>
              </a:rPr>
              <a:t>Output the set difference of tuples from the two input relations. </a:t>
            </a:r>
            <a:endParaRPr lang="en-US" altLang="en-US" sz="1200" dirty="0">
              <a:latin typeface="Palatino Linotype" pitchFamily="18" charset="0"/>
            </a:endParaRPr>
          </a:p>
        </p:txBody>
      </p:sp>
      <p:cxnSp>
        <p:nvCxnSpPr>
          <p:cNvPr id="55330" name="Straight Connector 42"/>
          <p:cNvCxnSpPr/>
          <p:nvPr/>
        </p:nvCxnSpPr>
        <p:spPr>
          <a:xfrm>
            <a:off x="2873375" y="4764088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31" name="Straight Connector 35"/>
          <p:cNvCxnSpPr/>
          <p:nvPr/>
        </p:nvCxnSpPr>
        <p:spPr>
          <a:xfrm>
            <a:off x="2854325" y="5527675"/>
            <a:ext cx="54975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C00000"/>
                </a:solidFill>
              </a:rPr>
              <a:t>End of Chapter 2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2_db-5-grey">
  <a:themeElements>
    <a:clrScheme name="2_db-5-gre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CCCC00"/>
      </a:accent2>
      <a:accent3>
        <a:srgbClr val="E2F4FF"/>
      </a:accent3>
      <a:accent4>
        <a:srgbClr val="707070"/>
      </a:accent4>
      <a:accent5>
        <a:srgbClr val="6E6E6E"/>
      </a:accent5>
      <a:accent6>
        <a:srgbClr val="B9B900"/>
      </a:accent6>
      <a:hlink>
        <a:srgbClr val="0000FF"/>
      </a:hlink>
      <a:folHlink>
        <a:srgbClr val="FF00FF"/>
      </a:folHlink>
    </a:clrScheme>
    <a:fontScheme name="2_db-5-grey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2_db-5-gre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25400" cap="flat">
          <a:solidFill>
            <a:schemeClr val="accent1">
              <a:lumOff val="44000"/>
            </a:schemeClr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b-5-grey">
  <a:themeElements>
    <a:clrScheme name="2_db-5-gre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CCCC00"/>
      </a:accent2>
      <a:accent3>
        <a:srgbClr val="E2F4FF"/>
      </a:accent3>
      <a:accent4>
        <a:srgbClr val="707070"/>
      </a:accent4>
      <a:accent5>
        <a:srgbClr val="6E6E6E"/>
      </a:accent5>
      <a:accent6>
        <a:srgbClr val="B9B900"/>
      </a:accent6>
      <a:hlink>
        <a:srgbClr val="0000FF"/>
      </a:hlink>
      <a:folHlink>
        <a:srgbClr val="FF00FF"/>
      </a:folHlink>
    </a:clrScheme>
    <a:fontScheme name="2_db-5-grey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2_db-5-gre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25400" cap="flat">
          <a:solidFill>
            <a:schemeClr val="accent1">
              <a:lumOff val="44000"/>
            </a:schemeClr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11194</Words>
  <Application>WPS 文字</Application>
  <PresentationFormat/>
  <Paragraphs>399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72" baseType="lpstr">
      <vt:lpstr>Arial</vt:lpstr>
      <vt:lpstr>宋体</vt:lpstr>
      <vt:lpstr>Wingdings</vt:lpstr>
      <vt:lpstr>Helvetica</vt:lpstr>
      <vt:lpstr>Times New Roman</vt:lpstr>
      <vt:lpstr>Helvetica Neue</vt:lpstr>
      <vt:lpstr>Arial</vt:lpstr>
      <vt:lpstr>汉仪书宋二KW</vt:lpstr>
      <vt:lpstr>Tahoma</vt:lpstr>
      <vt:lpstr>宋体</vt:lpstr>
      <vt:lpstr>微软雅黑</vt:lpstr>
      <vt:lpstr>汉仪旗黑</vt:lpstr>
      <vt:lpstr>Arial Unicode MS</vt:lpstr>
      <vt:lpstr>Symbol</vt:lpstr>
      <vt:lpstr>Kingsoft Sign</vt:lpstr>
      <vt:lpstr>Wingdings</vt:lpstr>
      <vt:lpstr>PingFang SC</vt:lpstr>
      <vt:lpstr>Hiragino Kaku Gothic ProN W3</vt:lpstr>
      <vt:lpstr>Helvetica Bold</vt:lpstr>
      <vt:lpstr>Cambria Math</vt:lpstr>
      <vt:lpstr>Kingsoft Math</vt:lpstr>
      <vt:lpstr>DejaVu Math TeX Gyre</vt:lpstr>
      <vt:lpstr>MS PGothic</vt:lpstr>
      <vt:lpstr>冬青黑体简体中文</vt:lpstr>
      <vt:lpstr>Helvetica</vt:lpstr>
      <vt:lpstr>Palatino Linotype</vt:lpstr>
      <vt:lpstr>Times New Roman</vt:lpstr>
      <vt:lpstr>Lucida Sans Unicode</vt:lpstr>
      <vt:lpstr>宋体-简</vt:lpstr>
      <vt:lpstr>Calibri Light</vt:lpstr>
      <vt:lpstr>Helvetica Neue</vt:lpstr>
      <vt:lpstr>苹方-简</vt:lpstr>
      <vt:lpstr>2_db-5-grey</vt:lpstr>
      <vt:lpstr>Excel.Sheet.8</vt:lpstr>
      <vt:lpstr>Excel.Sheet.8</vt:lpstr>
      <vt:lpstr>Chapter 2: Intro to Relational Model</vt:lpstr>
      <vt:lpstr>Outline</vt:lpstr>
      <vt:lpstr>PowerPoint 演示文稿</vt:lpstr>
      <vt:lpstr>PowerPoint 演示文稿</vt:lpstr>
      <vt:lpstr>PowerPoint 演示文稿</vt:lpstr>
      <vt:lpstr>PowerPoint 演示文稿</vt:lpstr>
      <vt:lpstr>Example of a Instructor Relation</vt:lpstr>
      <vt:lpstr>Relation Schema and Instance</vt:lpstr>
      <vt:lpstr>Attributes</vt:lpstr>
      <vt:lpstr>Relations are Unordered</vt:lpstr>
      <vt:lpstr>Keys</vt:lpstr>
      <vt:lpstr>Schema Diagram for University Database</vt:lpstr>
      <vt:lpstr>Relational Algebra</vt:lpstr>
      <vt:lpstr>Select Operation</vt:lpstr>
      <vt:lpstr>Select Operation (Cont.)</vt:lpstr>
      <vt:lpstr>Project Operation Example</vt:lpstr>
      <vt:lpstr>Project Operation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section table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Aggregate Functions</vt:lpstr>
      <vt:lpstr>Aggregate Functions Examples</vt:lpstr>
      <vt:lpstr>Aggregate Functions – Group By</vt:lpstr>
      <vt:lpstr>Equivalent Queries</vt:lpstr>
      <vt:lpstr>Equivalent Queries</vt:lpstr>
      <vt:lpstr>Summary of Relational Algebra Operators</vt:lpstr>
      <vt:lpstr>End of Chapter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Intro to Relational Model</dc:title>
  <dc:creator/>
  <cp:lastModifiedBy>Frankie Liu</cp:lastModifiedBy>
  <cp:revision>22</cp:revision>
  <dcterms:created xsi:type="dcterms:W3CDTF">2026-03-13T09:17:44Z</dcterms:created>
  <dcterms:modified xsi:type="dcterms:W3CDTF">2026-03-13T09:17:44Z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0CC507D05FBC342402E3A9697D4DEE20_43</vt:lpwstr>
  </property>
  <property fmtid="{D5CDD505-2E9C-101B-9397-08002B2CF9AE}" pid="3" name="KSOProductBuildVer">
    <vt:lpwstr>2052-6.5.2.8766</vt:lpwstr>
  </property>
</Properties>
</file>