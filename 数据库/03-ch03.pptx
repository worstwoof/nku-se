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93"/>
  </p:handoutMasterIdLst>
  <p:sldIdLst>
    <p:sldId id="256" r:id="rId4"/>
    <p:sldId id="358" r:id="rId6"/>
    <p:sldId id="258" r:id="rId7"/>
    <p:sldId id="423" r:id="rId8"/>
    <p:sldId id="424" r:id="rId9"/>
    <p:sldId id="425" r:id="rId10"/>
    <p:sldId id="426" r:id="rId11"/>
    <p:sldId id="427" r:id="rId12"/>
    <p:sldId id="428" r:id="rId13"/>
    <p:sldId id="494" r:id="rId14"/>
    <p:sldId id="495" r:id="rId15"/>
    <p:sldId id="496" r:id="rId16"/>
    <p:sldId id="429" r:id="rId17"/>
    <p:sldId id="341" r:id="rId18"/>
    <p:sldId id="259" r:id="rId19"/>
    <p:sldId id="260" r:id="rId20"/>
    <p:sldId id="261" r:id="rId21"/>
    <p:sldId id="262" r:id="rId22"/>
    <p:sldId id="497" r:id="rId23"/>
    <p:sldId id="263" r:id="rId24"/>
    <p:sldId id="493" r:id="rId25"/>
    <p:sldId id="334" r:id="rId26"/>
    <p:sldId id="265" r:id="rId27"/>
    <p:sldId id="266" r:id="rId28"/>
    <p:sldId id="267" r:id="rId29"/>
    <p:sldId id="268" r:id="rId30"/>
    <p:sldId id="351" r:id="rId31"/>
    <p:sldId id="498" r:id="rId32"/>
    <p:sldId id="269" r:id="rId33"/>
    <p:sldId id="270" r:id="rId34"/>
    <p:sldId id="271" r:id="rId35"/>
    <p:sldId id="276" r:id="rId36"/>
    <p:sldId id="349" r:id="rId37"/>
    <p:sldId id="350" r:id="rId38"/>
    <p:sldId id="335" r:id="rId39"/>
    <p:sldId id="336" r:id="rId40"/>
    <p:sldId id="278" r:id="rId41"/>
    <p:sldId id="279" r:id="rId42"/>
    <p:sldId id="499" r:id="rId43"/>
    <p:sldId id="500" r:id="rId44"/>
    <p:sldId id="281" r:id="rId45"/>
    <p:sldId id="282" r:id="rId46"/>
    <p:sldId id="345" r:id="rId47"/>
    <p:sldId id="283" r:id="rId48"/>
    <p:sldId id="504" r:id="rId49"/>
    <p:sldId id="505" r:id="rId50"/>
    <p:sldId id="506" r:id="rId51"/>
    <p:sldId id="284" r:id="rId52"/>
    <p:sldId id="507" r:id="rId53"/>
    <p:sldId id="285" r:id="rId54"/>
    <p:sldId id="286" r:id="rId55"/>
    <p:sldId id="287" r:id="rId56"/>
    <p:sldId id="288" r:id="rId57"/>
    <p:sldId id="289" r:id="rId58"/>
    <p:sldId id="290" r:id="rId59"/>
    <p:sldId id="291" r:id="rId60"/>
    <p:sldId id="508" r:id="rId61"/>
    <p:sldId id="510" r:id="rId62"/>
    <p:sldId id="511" r:id="rId63"/>
    <p:sldId id="513" r:id="rId64"/>
    <p:sldId id="292" r:id="rId65"/>
    <p:sldId id="348" r:id="rId66"/>
    <p:sldId id="352" r:id="rId67"/>
    <p:sldId id="293" r:id="rId68"/>
    <p:sldId id="294" r:id="rId69"/>
    <p:sldId id="295" r:id="rId70"/>
    <p:sldId id="296" r:id="rId71"/>
    <p:sldId id="297" r:id="rId72"/>
    <p:sldId id="298" r:id="rId73"/>
    <p:sldId id="299" r:id="rId74"/>
    <p:sldId id="300" r:id="rId75"/>
    <p:sldId id="301" r:id="rId76"/>
    <p:sldId id="302" r:id="rId77"/>
    <p:sldId id="353" r:id="rId78"/>
    <p:sldId id="303" r:id="rId79"/>
    <p:sldId id="305" r:id="rId80"/>
    <p:sldId id="306" r:id="rId81"/>
    <p:sldId id="354" r:id="rId82"/>
    <p:sldId id="343" r:id="rId83"/>
    <p:sldId id="308" r:id="rId84"/>
    <p:sldId id="339" r:id="rId85"/>
    <p:sldId id="309" r:id="rId86"/>
    <p:sldId id="310" r:id="rId87"/>
    <p:sldId id="311" r:id="rId88"/>
    <p:sldId id="312" r:id="rId89"/>
    <p:sldId id="313" r:id="rId90"/>
    <p:sldId id="356" r:id="rId91"/>
    <p:sldId id="315" r:id="rId92"/>
  </p:sldIdLst>
  <p:sldSz cx="9144000" cy="6858000" type="screen4x3"/>
  <p:notesSz cx="7086600" cy="9372600"/>
  <p:custShowLst>
    <p:custShow name="Custom Show 1" id="0">
      <p:sldLst>
        <p:sld r:id="rId7"/>
        <p:sld r:id="rId21"/>
        <p:sld r:id="rId24"/>
        <p:sld r:id="rId56"/>
        <p:sld r:id="rId55"/>
        <p:sld r:id="rId27"/>
        <p:sld r:id="rId42"/>
        <p:sld r:id="rId42"/>
        <p:sld r:id="rId58"/>
        <p:sld r:id="rId87"/>
        <p:sld r:id="rId90"/>
        <p:sld r:id="rId33"/>
        <p:sld r:id="rId71"/>
        <p:sld r:id="rId72"/>
        <p:sld r:id="rId57"/>
        <p:sld r:id="rId88"/>
        <p:sld r:id="rId89"/>
      </p:sldLst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9" userDrawn="1">
          <p15:clr>
            <a:srgbClr val="A4A3A4"/>
          </p15:clr>
        </p15:guide>
        <p15:guide id="2" pos="4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75"/>
    <p:restoredTop sz="94664"/>
  </p:normalViewPr>
  <p:slideViewPr>
    <p:cSldViewPr snapToGrid="0" showGuides="1">
      <p:cViewPr varScale="1">
        <p:scale>
          <a:sx n="70" d="100"/>
          <a:sy n="70" d="100"/>
        </p:scale>
        <p:origin x="-648" y="-90"/>
      </p:cViewPr>
      <p:guideLst>
        <p:guide orient="horz" pos="699"/>
        <p:guide pos="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178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handoutMaster" Target="handoutMasters/handoutMaster1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defTabSz="939165">
              <a:defRPr sz="1200"/>
            </a:lvl1pPr>
          </a:lstStyle>
          <a:p>
            <a:pPr marL="0" marR="0" lvl="0" indent="0" algn="l" defTabSz="93916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algn="r" defTabSz="939165">
              <a:defRPr sz="1200"/>
            </a:lvl1pPr>
          </a:lstStyle>
          <a:p>
            <a:pPr marL="0" marR="0" lvl="0" indent="0" algn="r" defTabSz="93916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lstStyle>
            <a:lvl1pPr defTabSz="939165">
              <a:defRPr sz="1200"/>
            </a:lvl1pPr>
          </a:lstStyle>
          <a:p>
            <a:pPr marL="0" marR="0" lvl="0" indent="0" algn="l" defTabSz="93916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p>
            <a:pPr lvl="0" algn="r" defTabSz="938530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defTabSz="939165">
              <a:defRPr sz="1200"/>
            </a:lvl1pPr>
          </a:lstStyle>
          <a:p>
            <a:pPr marL="0" marR="0" lvl="0" indent="0" algn="l" defTabSz="93916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algn="r" defTabSz="939165">
              <a:defRPr sz="1200"/>
            </a:lvl1pPr>
          </a:lstStyle>
          <a:p>
            <a:pPr marL="0" marR="0" lvl="0" indent="0" algn="r" defTabSz="93916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71684" name="Rectangle 4"/>
          <p:cNvSpPr>
            <a:spLocks noTextEdit="1"/>
          </p:cNvSpPr>
          <p:nvPr>
            <p:ph type="sldImg" idx="2"/>
          </p:nvPr>
        </p:nvSpPr>
        <p:spPr>
          <a:xfrm>
            <a:off x="1200150" y="704850"/>
            <a:ext cx="4686300" cy="35147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lstStyle>
            <a:lvl1pPr defTabSz="939165">
              <a:defRPr sz="1200"/>
            </a:lvl1pPr>
          </a:lstStyle>
          <a:p>
            <a:pPr marL="0" marR="0" lvl="0" indent="0" algn="l" defTabSz="93916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p>
            <a:pPr lvl="0" algn="r" defTabSz="938530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2707" name="Rectangle 2"/>
          <p:cNvSpPr>
            <a:spLocks noTextEdit="1"/>
          </p:cNvSpPr>
          <p:nvPr>
            <p:ph type="sldImg"/>
          </p:nvPr>
        </p:nvSpPr>
        <p:spPr>
          <a:xfrm>
            <a:off x="1201738" y="704850"/>
            <a:ext cx="4686300" cy="3514725"/>
          </a:xfrm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3731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73732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1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73733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73734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73735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73736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475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Shape 145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5779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680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782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885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98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08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08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192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192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2947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2948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2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2949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2950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2951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2952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3971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3972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3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3973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3974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3975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3976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4995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4996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4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4997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4998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4999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5000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6019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6020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5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6021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6022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6023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6024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7043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7044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5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7045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7046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7047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7048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7043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7044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5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7045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7046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7047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7048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8067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8068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6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8069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8070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8071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8072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9091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9092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8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9093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9094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89095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9096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01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1139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1140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9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91141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1142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1143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91144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2163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2164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9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92165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2166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2167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92168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318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421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523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6259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626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7283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7284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7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97285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7286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97287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97288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035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035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1379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101380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 anchorCtr="0"/>
          <a:p>
            <a:pPr lvl="0" algn="r" defTabSz="930275"/>
            <a:r>
              <a:rPr lang="en-US" altLang="en-US" sz="1300" dirty="0">
                <a:latin typeface="Times New Roman" panose="02020503050405090304" pitchFamily="18" charset="0"/>
              </a:rPr>
              <a:t>9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101381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101382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 anchorCtr="0"/>
          <a:p>
            <a:pPr lvl="0"/>
            <a:endParaRPr lang="en-US" altLang="en-US" dirty="0"/>
          </a:p>
        </p:txBody>
      </p:sp>
      <p:sp>
        <p:nvSpPr>
          <p:cNvPr id="101383" name="Rectangle 6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101384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240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342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342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445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445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547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6499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650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752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85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957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957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1619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162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264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264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366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366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469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469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571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571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6739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674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776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776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878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878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981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981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083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083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18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288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288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390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390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493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49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595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595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6979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698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800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800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902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902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005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005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107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107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2099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210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312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312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4147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414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5171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517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6195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61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72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 anchorCtr="0"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8243" name="Rectangle 2"/>
          <p:cNvSpPr>
            <a:spLocks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824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 anchorCtr="0"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2.vml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Rectangle 6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0" imgH="0" progId="MS_ClipArt_Gallery.2">
                  <p:embed/>
                </p:oleObj>
              </mc:Choice>
              <mc:Fallback>
                <p:oleObj name="" r:id="rId2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367054" y="5726113"/>
            <a:ext cx="309880" cy="275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Arial" panose="020B0604020202090204" pitchFamily="34" charset="0"/>
              <a:buChar char="•"/>
              <a:defRPr/>
            </a:lvl1pPr>
            <a:lvl2pPr>
              <a:buFont typeface="Arial" panose="020B0604020202090204" pitchFamily="34" charset="0"/>
              <a:buChar char="•"/>
              <a:defRPr/>
            </a:lvl2pPr>
            <a:lvl3pPr>
              <a:buFont typeface="Arial" panose="020B0604020202090204" pitchFamily="34" charset="0"/>
              <a:buChar char="•"/>
              <a:defRPr/>
            </a:lvl3pPr>
            <a:lvl4pPr>
              <a:buFont typeface="Arial" panose="020B0604020202090204" pitchFamily="34" charset="0"/>
              <a:buChar char="•"/>
              <a:defRPr/>
            </a:lvl4pPr>
            <a:lvl5pPr>
              <a:buFont typeface="Arial" panose="020B0604020202090204" pitchFamily="34" charset="0"/>
              <a:buChar char="•"/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None/>
              <a:defRPr/>
            </a:pPr>
            <a:endParaRPr kumimoji="1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Rectangle 6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0" imgH="0" progId="MS_ClipArt_Gallery.2">
                  <p:embed/>
                </p:oleObj>
              </mc:Choice>
              <mc:Fallback>
                <p:oleObj name="" r:id="rId2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367054" y="5726113"/>
            <a:ext cx="309880" cy="275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Arial" panose="020B0604020202090204" pitchFamily="34" charset="0"/>
              <a:buChar char="•"/>
              <a:defRPr/>
            </a:lvl1pPr>
            <a:lvl2pPr>
              <a:buFont typeface="Arial" panose="020B0604020202090204" pitchFamily="34" charset="0"/>
              <a:buChar char="•"/>
              <a:defRPr/>
            </a:lvl2pPr>
            <a:lvl3pPr>
              <a:buFont typeface="Arial" panose="020B0604020202090204" pitchFamily="34" charset="0"/>
              <a:buChar char="•"/>
              <a:defRPr/>
            </a:lvl3pPr>
            <a:lvl4pPr>
              <a:buFont typeface="Arial" panose="020B0604020202090204" pitchFamily="34" charset="0"/>
              <a:buChar char="•"/>
              <a:defRPr/>
            </a:lvl4pPr>
            <a:lvl5pPr>
              <a:buFont typeface="Arial" panose="020B0604020202090204" pitchFamily="34" charset="0"/>
              <a:buChar char="•"/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None/>
              <a:defRPr/>
            </a:pPr>
            <a:endParaRPr kumimoji="1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2224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31" name="Freeform 8"/>
          <p:cNvSpPr/>
          <p:nvPr/>
        </p:nvSpPr>
        <p:spPr bwMode="auto">
          <a:xfrm>
            <a:off x="8916988" y="5445125"/>
            <a:ext cx="227013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Arial" panose="020B0604020202090204" pitchFamily="34" charset="0"/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Arial" panose="020B0604020202090204" pitchFamily="34" charset="0"/>
        <a:buChar char="•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Arial" panose="020B0604020202090204" pitchFamily="34" charset="0"/>
        <a:buChar char="•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Arial" panose="020B0604020202090204" pitchFamily="34" charset="0"/>
        <a:buChar char="•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Font typeface="Arial" panose="020B0604020202090204" pitchFamily="34" charset="0"/>
        <a:buChar char="•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2224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31" name="Freeform 8"/>
          <p:cNvSpPr/>
          <p:nvPr/>
        </p:nvSpPr>
        <p:spPr bwMode="auto">
          <a:xfrm>
            <a:off x="8916988" y="5445125"/>
            <a:ext cx="227013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503050405090304" pitchFamily="18" charset="0"/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.bin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2.emf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4.bin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6.bin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31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3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tags" Target="../tags/tag3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714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3: Introduction to SQL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6"/>
          <p:cNvSpPr/>
          <p:nvPr>
            <p:custDataLst>
              <p:tags r:id="rId1"/>
            </p:custDataLst>
          </p:nvPr>
        </p:nvSpPr>
        <p:spPr>
          <a:xfrm>
            <a:off x="1259205" y="5229225"/>
            <a:ext cx="7078980" cy="880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ctr" rtl="0" eaLnBrk="0">
              <a:lnSpc>
                <a:spcPct val="910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Prof. Liang Liu</a:t>
            </a:r>
            <a:endParaRPr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12700" algn="ctr" rtl="0" eaLnBrk="0">
              <a:lnSpc>
                <a:spcPts val="41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2026 spring</a:t>
            </a:r>
            <a:endParaRPr lang="en-US"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Outline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809625" y="1104900"/>
            <a:ext cx="7413625" cy="4732338"/>
          </a:xfrm>
        </p:spPr>
        <p:txBody>
          <a:bodyPr vert="horz" wrap="square" lIns="90488" tIns="44450" rIns="90488" bIns="44450" anchor="t" anchorCtr="0"/>
          <a:p>
            <a:r>
              <a:rPr lang="en-US" altLang="en-US" dirty="0"/>
              <a:t>Overview of The SQL Query Language</a:t>
            </a:r>
            <a:endParaRPr lang="en-US" altLang="en-US" dirty="0"/>
          </a:p>
          <a:p>
            <a:r>
              <a:rPr lang="en-US" altLang="en-US" dirty="0"/>
              <a:t>Data Definition</a:t>
            </a:r>
            <a:endParaRPr lang="en-US" altLang="en-US" dirty="0"/>
          </a:p>
          <a:p>
            <a:r>
              <a:rPr lang="en-US" altLang="en-US" dirty="0"/>
              <a:t>Basic Query Structure</a:t>
            </a:r>
            <a:endParaRPr lang="en-US" altLang="en-US" dirty="0"/>
          </a:p>
          <a:p>
            <a:r>
              <a:rPr lang="en-US" altLang="en-US" dirty="0"/>
              <a:t>Additional Basic Operations</a:t>
            </a:r>
            <a:endParaRPr lang="en-US" altLang="en-US" dirty="0"/>
          </a:p>
          <a:p>
            <a:r>
              <a:rPr lang="en-US" altLang="en-US" dirty="0"/>
              <a:t>Set Operations</a:t>
            </a:r>
            <a:endParaRPr lang="en-US" altLang="en-US" dirty="0"/>
          </a:p>
          <a:p>
            <a:r>
              <a:rPr lang="en-US" altLang="en-US" dirty="0"/>
              <a:t>Null Values</a:t>
            </a:r>
            <a:endParaRPr lang="en-US" altLang="en-US" dirty="0"/>
          </a:p>
          <a:p>
            <a:r>
              <a:rPr lang="en-US" altLang="en-US" dirty="0"/>
              <a:t>Aggregate Functions</a:t>
            </a:r>
            <a:endParaRPr lang="en-US" altLang="en-US" dirty="0"/>
          </a:p>
          <a:p>
            <a:r>
              <a:rPr lang="en-US" altLang="en-US" dirty="0"/>
              <a:t>Nested Subqueries</a:t>
            </a:r>
            <a:endParaRPr lang="en-US" altLang="en-US" dirty="0"/>
          </a:p>
          <a:p>
            <a:r>
              <a:rPr lang="en-US" altLang="en-US" dirty="0"/>
              <a:t>Modification of the Database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History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IBM Sequel language developed as part of </a:t>
            </a:r>
            <a:r>
              <a:rPr lang="en-US" altLang="en-US" b="1" dirty="0">
                <a:solidFill>
                  <a:srgbClr val="FF0000"/>
                </a:solidFill>
                <a:latin typeface="Helvetica Bold" charset="0"/>
                <a:cs typeface="Helvetica Bold" charset="0"/>
              </a:rPr>
              <a:t>System R</a:t>
            </a:r>
            <a:r>
              <a:rPr lang="en-US" altLang="en-US" dirty="0"/>
              <a:t> project at the IBM San Jose Research Laboratory</a:t>
            </a:r>
            <a:endParaRPr lang="en-US" altLang="en-US" dirty="0"/>
          </a:p>
          <a:p>
            <a:r>
              <a:rPr lang="en-US" altLang="en-US" dirty="0"/>
              <a:t>Renamed </a:t>
            </a:r>
            <a:r>
              <a:rPr lang="en-US" altLang="en-US" dirty="0">
                <a:solidFill>
                  <a:srgbClr val="FF0000"/>
                </a:solidFill>
              </a:rPr>
              <a:t>Structured Query Language (SQL)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ANSI and ISO standard SQL:</a:t>
            </a:r>
            <a:endParaRPr lang="en-US" altLang="en-US" dirty="0"/>
          </a:p>
          <a:p>
            <a:pPr lvl="1"/>
            <a:r>
              <a:rPr lang="en-US" altLang="en-US" dirty="0"/>
              <a:t>SQL-86</a:t>
            </a:r>
            <a:endParaRPr lang="en-US" altLang="en-US" dirty="0"/>
          </a:p>
          <a:p>
            <a:pPr lvl="1"/>
            <a:r>
              <a:rPr lang="en-US" altLang="en-US" dirty="0"/>
              <a:t>SQL-89</a:t>
            </a:r>
            <a:endParaRPr lang="en-US" altLang="en-US" dirty="0"/>
          </a:p>
          <a:p>
            <a:pPr lvl="1"/>
            <a:r>
              <a:rPr lang="en-US" altLang="en-US" dirty="0"/>
              <a:t>SQL-92 </a:t>
            </a:r>
            <a:endParaRPr lang="en-US" altLang="en-US" dirty="0"/>
          </a:p>
          <a:p>
            <a:pPr lvl="1"/>
            <a:r>
              <a:rPr lang="en-US" altLang="en-US" dirty="0"/>
              <a:t>SQL:1999 (language name became Y2K compliant!)</a:t>
            </a:r>
            <a:endParaRPr lang="en-US" altLang="en-US" dirty="0"/>
          </a:p>
          <a:p>
            <a:pPr lvl="1"/>
            <a:r>
              <a:rPr lang="en-US" altLang="en-US" dirty="0"/>
              <a:t>SQL:2003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Commercial systems offer most, if not all, SQL-92 features, plus varying feature sets from later standards and special proprietary features.  </a:t>
            </a:r>
            <a:endParaRPr lang="en-US" altLang="en-US" dirty="0"/>
          </a:p>
          <a:p>
            <a:pPr lvl="1"/>
            <a:r>
              <a:rPr lang="en-US" altLang="en-US" dirty="0"/>
              <a:t>Not all examples here may work on your particular system.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SQL’s Persistence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257175" indent="-257175">
              <a:spcBef>
                <a:spcPts val="360"/>
              </a:spcBef>
              <a:buSzPts val="2400"/>
            </a:pPr>
            <a:r>
              <a:rPr lang="en-US" dirty="0">
                <a:sym typeface="+mn-ea"/>
              </a:rPr>
              <a:t>Over 40 years old!</a:t>
            </a:r>
            <a:endParaRPr lang="en-US" dirty="0"/>
          </a:p>
          <a:p>
            <a:pPr marL="257175" indent="-257175">
              <a:spcBef>
                <a:spcPts val="360"/>
              </a:spcBef>
              <a:buSzPts val="2400"/>
            </a:pPr>
            <a:endParaRPr lang="en-US" dirty="0">
              <a:sym typeface="+mn-ea"/>
            </a:endParaRPr>
          </a:p>
          <a:p>
            <a:pPr marL="257175" indent="-257175">
              <a:spcBef>
                <a:spcPts val="360"/>
              </a:spcBef>
              <a:buSzPts val="2400"/>
            </a:pPr>
            <a:r>
              <a:rPr lang="en-US" dirty="0">
                <a:sym typeface="+mn-ea"/>
              </a:rPr>
              <a:t>Questioned repeatedly</a:t>
            </a:r>
            <a:endParaRPr dirty="0"/>
          </a:p>
          <a:p>
            <a:pPr marL="557530" lvl="1" indent="-214630">
              <a:spcBef>
                <a:spcPts val="300"/>
              </a:spcBef>
              <a:buSzPts val="2000"/>
            </a:pPr>
            <a:r>
              <a:rPr lang="en-US" dirty="0">
                <a:sym typeface="+mn-ea"/>
              </a:rPr>
              <a:t>90’s: Object-Oriented DBMS (OQL, etc.)</a:t>
            </a:r>
            <a:endParaRPr dirty="0"/>
          </a:p>
          <a:p>
            <a:pPr marL="557530" lvl="1" indent="-214630">
              <a:spcBef>
                <a:spcPts val="300"/>
              </a:spcBef>
              <a:buSzPts val="2000"/>
            </a:pPr>
            <a:r>
              <a:rPr lang="en-US" dirty="0">
                <a:sym typeface="+mn-ea"/>
              </a:rPr>
              <a:t>2000’s: XML (</a:t>
            </a:r>
            <a:r>
              <a:rPr lang="en-US" dirty="0" err="1">
                <a:sym typeface="+mn-ea"/>
              </a:rPr>
              <a:t>Xquery</a:t>
            </a:r>
            <a:r>
              <a:rPr lang="en-US" dirty="0">
                <a:sym typeface="+mn-ea"/>
              </a:rPr>
              <a:t>, </a:t>
            </a:r>
            <a:r>
              <a:rPr lang="en-US" dirty="0" err="1">
                <a:sym typeface="+mn-ea"/>
              </a:rPr>
              <a:t>Xpath</a:t>
            </a:r>
            <a:r>
              <a:rPr lang="en-US" dirty="0">
                <a:sym typeface="+mn-ea"/>
              </a:rPr>
              <a:t>, XSLT)</a:t>
            </a:r>
            <a:endParaRPr dirty="0"/>
          </a:p>
          <a:p>
            <a:pPr marL="557530" lvl="1" indent="-214630">
              <a:spcBef>
                <a:spcPts val="300"/>
              </a:spcBef>
              <a:buSzPts val="2000"/>
            </a:pPr>
            <a:r>
              <a:rPr lang="en-US" dirty="0">
                <a:sym typeface="+mn-ea"/>
              </a:rPr>
              <a:t>2010’s: NoSQL &amp; MapReduce</a:t>
            </a:r>
            <a:endParaRPr dirty="0"/>
          </a:p>
          <a:p>
            <a:pPr marL="257175" indent="-257175">
              <a:spcBef>
                <a:spcPts val="360"/>
              </a:spcBef>
              <a:buSzPts val="2400"/>
            </a:pPr>
            <a:endParaRPr lang="en-US" dirty="0">
              <a:sym typeface="+mn-ea"/>
            </a:endParaRPr>
          </a:p>
          <a:p>
            <a:pPr marL="257175" indent="-257175">
              <a:spcBef>
                <a:spcPts val="360"/>
              </a:spcBef>
              <a:buSzPts val="2400"/>
            </a:pPr>
            <a:r>
              <a:rPr lang="en-US" dirty="0">
                <a:sym typeface="+mn-ea"/>
              </a:rPr>
              <a:t>SQL keeps re-emerging as the standard</a:t>
            </a:r>
            <a:endParaRPr dirty="0"/>
          </a:p>
          <a:p>
            <a:pPr marL="557530" lvl="1" indent="-214630">
              <a:spcBef>
                <a:spcPts val="300"/>
              </a:spcBef>
              <a:buSzPts val="2000"/>
            </a:pPr>
            <a:r>
              <a:rPr lang="en-US" dirty="0">
                <a:sym typeface="+mn-ea"/>
              </a:rPr>
              <a:t>Even Hadoop, Spark etc. mostly used via SQL</a:t>
            </a:r>
            <a:endParaRPr dirty="0"/>
          </a:p>
          <a:p>
            <a:pPr marL="557530" lvl="1" indent="-214630">
              <a:spcBef>
                <a:spcPts val="300"/>
              </a:spcBef>
              <a:buSzPts val="2000"/>
            </a:pPr>
            <a:r>
              <a:rPr lang="en-US" dirty="0">
                <a:sym typeface="+mn-ea"/>
              </a:rPr>
              <a:t>May not be perfect, but it is useful</a:t>
            </a:r>
            <a:endParaRPr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SQL Pros and Cons</a:t>
            </a:r>
            <a:endParaRPr lang="en-US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spcBef>
                <a:spcPts val="0"/>
              </a:spcBef>
              <a:buClr>
                <a:srgbClr val="484848"/>
              </a:buClr>
              <a:buSzPts val="28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Declarative!</a:t>
            </a:r>
            <a:endParaRPr lang="en-US" dirty="0"/>
          </a:p>
          <a:p>
            <a:pPr lvl="1">
              <a:spcBef>
                <a:spcPts val="480"/>
              </a:spcBef>
              <a:buClr>
                <a:srgbClr val="484848"/>
              </a:buClr>
              <a:buSzPts val="24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Say </a:t>
            </a:r>
            <a:r>
              <a:rPr lang="en-US" i="1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what</a:t>
            </a: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 you want, not </a:t>
            </a:r>
            <a:r>
              <a:rPr lang="en-US" i="1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how </a:t>
            </a: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to get it</a:t>
            </a:r>
            <a:endParaRPr lang="en-US" dirty="0"/>
          </a:p>
          <a:p>
            <a:pPr lvl="0">
              <a:spcBef>
                <a:spcPts val="560"/>
              </a:spcBef>
              <a:buClr>
                <a:srgbClr val="484848"/>
              </a:buClr>
              <a:buSzPts val="2800"/>
              <a:buFont typeface="Arial" panose="020B0604020202090204" pitchFamily="34" charset="0"/>
              <a:buChar char="•"/>
            </a:pPr>
            <a:endParaRPr lang="en-US" dirty="0"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lvl="0">
              <a:spcBef>
                <a:spcPts val="560"/>
              </a:spcBef>
              <a:buClr>
                <a:srgbClr val="484848"/>
              </a:buClr>
              <a:buSzPts val="28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Implemented widely</a:t>
            </a:r>
            <a:endParaRPr lang="en-US" dirty="0"/>
          </a:p>
          <a:p>
            <a:pPr lvl="1">
              <a:spcBef>
                <a:spcPts val="480"/>
              </a:spcBef>
              <a:buClr>
                <a:srgbClr val="484848"/>
              </a:buClr>
              <a:buSzPts val="24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With varying levels of efficiency, completeness</a:t>
            </a:r>
            <a:endParaRPr lang="en-US" dirty="0"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lvl="0">
              <a:spcBef>
                <a:spcPts val="560"/>
              </a:spcBef>
              <a:buClr>
                <a:srgbClr val="484848"/>
              </a:buClr>
              <a:buSzPts val="2800"/>
              <a:buFont typeface="Arial" panose="020B0604020202090204" pitchFamily="34" charset="0"/>
              <a:buChar char="•"/>
            </a:pPr>
            <a:endParaRPr lang="en-US" dirty="0"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lvl="0">
              <a:spcBef>
                <a:spcPts val="560"/>
              </a:spcBef>
              <a:buClr>
                <a:srgbClr val="484848"/>
              </a:buClr>
              <a:buSzPts val="28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Constrained</a:t>
            </a:r>
            <a:endParaRPr lang="en-US" dirty="0"/>
          </a:p>
          <a:p>
            <a:pPr lvl="1">
              <a:spcBef>
                <a:spcPts val="480"/>
              </a:spcBef>
              <a:buClr>
                <a:srgbClr val="484848"/>
              </a:buClr>
              <a:buSzPts val="24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Not targeted at Turing-complete tasks</a:t>
            </a:r>
            <a:endParaRPr lang="en-US" dirty="0"/>
          </a:p>
          <a:p>
            <a:pPr lvl="0">
              <a:spcBef>
                <a:spcPts val="560"/>
              </a:spcBef>
              <a:buClr>
                <a:srgbClr val="484848"/>
              </a:buClr>
              <a:buSzPts val="2800"/>
              <a:buFont typeface="Arial" panose="020B0604020202090204" pitchFamily="34" charset="0"/>
              <a:buChar char="•"/>
            </a:pPr>
            <a:endParaRPr lang="en-US" dirty="0"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lvl="0">
              <a:spcBef>
                <a:spcPts val="560"/>
              </a:spcBef>
              <a:buClr>
                <a:srgbClr val="484848"/>
              </a:buClr>
              <a:buSzPts val="28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General-purpose and feature-rich</a:t>
            </a:r>
            <a:endParaRPr lang="en-US" dirty="0"/>
          </a:p>
          <a:p>
            <a:pPr lvl="1">
              <a:spcBef>
                <a:spcPts val="480"/>
              </a:spcBef>
              <a:buClr>
                <a:srgbClr val="484848"/>
              </a:buClr>
              <a:buSzPts val="24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many years of added features</a:t>
            </a:r>
            <a:endParaRPr lang="en-US" dirty="0"/>
          </a:p>
          <a:p>
            <a:pPr lvl="1">
              <a:spcBef>
                <a:spcPts val="480"/>
              </a:spcBef>
              <a:buClr>
                <a:srgbClr val="484848"/>
              </a:buClr>
              <a:buSzPts val="2400"/>
              <a:buFont typeface="Arial" panose="020B0604020202090204" pitchFamily="34" charset="0"/>
              <a:buChar char="•"/>
            </a:pPr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extensible: callouts to other languages, data sources</a:t>
            </a:r>
            <a:endParaRPr lang="en-US" dirty="0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Tahoma" panose="020B0604030504040204"/>
              </a:rPr>
              <a:t>Relational Terminology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4705" y="1094105"/>
            <a:ext cx="7661275" cy="610235"/>
          </a:xfrm>
        </p:spPr>
        <p:txBody>
          <a:bodyPr/>
          <a:p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Database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: Set of named Relations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endParaRPr lang="zh-CN" altLang="en-US"/>
          </a:p>
        </p:txBody>
      </p:sp>
      <p:grpSp>
        <p:nvGrpSpPr>
          <p:cNvPr id="6" name="Shape 95" descr="A large cylindrical database full of tables " title="Database"/>
          <p:cNvGrpSpPr/>
          <p:nvPr/>
        </p:nvGrpSpPr>
        <p:grpSpPr>
          <a:xfrm>
            <a:off x="941070" y="1971040"/>
            <a:ext cx="7193280" cy="4142105"/>
            <a:chOff x="6011863" y="3911600"/>
            <a:chExt cx="3132137" cy="1727200"/>
          </a:xfrm>
        </p:grpSpPr>
        <p:pic>
          <p:nvPicPr>
            <p:cNvPr id="7" name="Shape 96" descr="skitched-3-4.jpg"/>
            <p:cNvPicPr preferRelativeResize="0"/>
            <p:nvPr>
              <p:custDataLst>
                <p:tags r:id="rId1"/>
              </p:custDataLst>
            </p:nvPr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011863" y="3911600"/>
              <a:ext cx="3132137" cy="172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Shape 97"/>
            <p:cNvSpPr/>
            <p:nvPr>
              <p:custDataLst>
                <p:tags r:id="rId3"/>
              </p:custDataLst>
            </p:nvPr>
          </p:nvSpPr>
          <p:spPr>
            <a:xfrm>
              <a:off x="6400800" y="4572000"/>
              <a:ext cx="2286000" cy="838200"/>
            </a:xfrm>
            <a:prstGeom prst="rect">
              <a:avLst/>
            </a:prstGeom>
            <a:solidFill>
              <a:srgbClr val="F7B21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F0E30"/>
                </a:buClr>
                <a:buSzPts val="1200"/>
                <a:buFont typeface="Book Antiqua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aphicFrame>
        <p:nvGraphicFramePr>
          <p:cNvPr id="9" name="Shape 98" title="Empty Table 2"/>
          <p:cNvGraphicFramePr/>
          <p:nvPr>
            <p:custDataLst>
              <p:tags r:id="rId4"/>
            </p:custDataLst>
          </p:nvPr>
        </p:nvGraphicFramePr>
        <p:xfrm>
          <a:off x="1648932" y="4417906"/>
          <a:ext cx="824400" cy="7394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3000"/>
                <a:gridCol w="120750"/>
                <a:gridCol w="370650"/>
              </a:tblGrid>
              <a:tr h="1245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47675" marR="47675" marT="23850" marB="2385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47675" marR="47675" marT="23850" marB="2385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47675" marR="47675" marT="23850" marB="23850">
                    <a:solidFill>
                      <a:srgbClr val="6D9EEB"/>
                    </a:solidFill>
                  </a:tcPr>
                </a:tc>
              </a:tr>
              <a:tr h="1245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C7C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C7C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C7CFFF"/>
                    </a:solidFill>
                  </a:tcPr>
                </a:tc>
              </a:tr>
              <a:tr h="1245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F1F1FC"/>
                    </a:solidFill>
                  </a:tcPr>
                </a:tc>
              </a:tr>
              <a:tr h="12457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C7C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47675" marR="47675" marT="23850" marB="23850">
                    <a:solidFill>
                      <a:srgbClr val="C7CFF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47675" marR="47675" marT="23850" marB="23850">
                    <a:solidFill>
                      <a:srgbClr val="C7C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Shape 99" title="Empty Table 4"/>
          <p:cNvGraphicFramePr/>
          <p:nvPr>
            <p:custDataLst>
              <p:tags r:id="rId5"/>
            </p:custDataLst>
          </p:nvPr>
        </p:nvGraphicFramePr>
        <p:xfrm>
          <a:off x="6313040" y="4737637"/>
          <a:ext cx="1084425" cy="420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1475"/>
                <a:gridCol w="361950"/>
                <a:gridCol w="361000"/>
              </a:tblGrid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06666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06666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06666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CE5C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Shape 100" title="Empty Table 3"/>
          <p:cNvGraphicFramePr/>
          <p:nvPr>
            <p:custDataLst>
              <p:tags r:id="rId6"/>
            </p:custDataLst>
          </p:nvPr>
        </p:nvGraphicFramePr>
        <p:xfrm>
          <a:off x="6250113" y="3683358"/>
          <a:ext cx="1124325" cy="420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74650"/>
                <a:gridCol w="374900"/>
                <a:gridCol w="374775"/>
              </a:tblGrid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C27BA0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C27BA0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C27BA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EAD1D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AD1D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AD1D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D9D2E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EAD1D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AD1D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Shape 102" title="Empty Table 1"/>
          <p:cNvGraphicFramePr/>
          <p:nvPr>
            <p:custDataLst>
              <p:tags r:id="rId7"/>
            </p:custDataLst>
          </p:nvPr>
        </p:nvGraphicFramePr>
        <p:xfrm>
          <a:off x="1518920" y="3554675"/>
          <a:ext cx="1084425" cy="420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1475"/>
                <a:gridCol w="361475"/>
                <a:gridCol w="361475"/>
              </a:tblGrid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06666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06666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E06666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FCE5C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dirty="0"/>
                    </a:p>
                  </a:txBody>
                  <a:tcPr marL="28900" marR="28900" marT="14450" marB="14450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Object 4"/>
          <p:cNvGraphicFramePr/>
          <p:nvPr>
            <p:custDataLst>
              <p:tags r:id="rId8"/>
            </p:custDataLst>
          </p:nvPr>
        </p:nvGraphicFramePr>
        <p:xfrm>
          <a:off x="2752090" y="3917315"/>
          <a:ext cx="3312160" cy="124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9" imgW="4957445" imgH="2294890" progId="Excel.Sheet.8">
                  <p:embed/>
                </p:oleObj>
              </mc:Choice>
              <mc:Fallback>
                <p:oleObj name="" r:id="rId9" imgW="4957445" imgH="2294890" progId="Excel.Shee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52090" y="3917315"/>
                        <a:ext cx="3312160" cy="12420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Tahoma" panose="020B0604030504040204"/>
              </a:rPr>
              <a:t>Relational Terminology, Pt 2.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4705" y="1094105"/>
            <a:ext cx="7661275" cy="1610995"/>
          </a:xfrm>
        </p:spPr>
        <p:txBody>
          <a:bodyPr/>
          <a:p>
            <a:pPr lvl="0">
              <a:spcBef>
                <a:spcPts val="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Database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: Set of named Relations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pPr lvl="0">
              <a:spcBef>
                <a:spcPts val="64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Relation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 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(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Table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):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pPr lvl="1">
              <a:spcBef>
                <a:spcPts val="560"/>
              </a:spcBef>
              <a:buClr>
                <a:srgbClr val="484848"/>
              </a:buClr>
              <a:buSzPts val="2800"/>
              <a:buFont typeface="Helvetica Neue" panose="02000503000000020004"/>
              <a:buChar char="–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Schema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: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 metadata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Helvetica Neue" panose="02000503000000020004"/>
            </a:endParaRPr>
          </a:p>
          <a:p>
            <a:pPr lvl="2">
              <a:spcBef>
                <a:spcPts val="560"/>
              </a:spcBef>
              <a:buClr>
                <a:srgbClr val="484848"/>
              </a:buClr>
              <a:buSzPts val="2800"/>
              <a:buFont typeface="Helvetica Neue" panose="02000503000000020004"/>
              <a:buChar char="–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create table person (id int, name varchar(20), age int, gender bool)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pPr lvl="1">
              <a:spcBef>
                <a:spcPts val="560"/>
              </a:spcBef>
              <a:buClr>
                <a:srgbClr val="484848"/>
              </a:buClr>
              <a:buSzPts val="2800"/>
              <a:buFont typeface="Helvetica Neue" panose="02000503000000020004"/>
              <a:buChar char="–"/>
            </a:pPr>
            <a:endParaRPr lang="en-US" b="1" i="1" dirty="0">
              <a:ea typeface="Helvetica Neue" panose="02000503000000020004" charset="0"/>
              <a:cs typeface="Helvetica Neue" panose="02000503000000020004" charset="0"/>
              <a:sym typeface="+mn-ea"/>
            </a:endParaRPr>
          </a:p>
          <a:p>
            <a:pPr lvl="1">
              <a:spcBef>
                <a:spcPts val="560"/>
              </a:spcBef>
              <a:buClr>
                <a:srgbClr val="484848"/>
              </a:buClr>
              <a:buSzPts val="2800"/>
              <a:buFont typeface="Helvetica Neue" panose="02000503000000020004"/>
              <a:buChar char="–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Instance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: 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set of data satisfying the schema</a:t>
            </a:r>
            <a:endParaRPr lang="zh-CN" altLang="en-US"/>
          </a:p>
        </p:txBody>
      </p:sp>
      <p:graphicFrame>
        <p:nvGraphicFramePr>
          <p:cNvPr id="73" name="Object 4"/>
          <p:cNvGraphicFramePr/>
          <p:nvPr>
            <p:custDataLst>
              <p:tags r:id="rId1"/>
            </p:custDataLst>
          </p:nvPr>
        </p:nvGraphicFramePr>
        <p:xfrm>
          <a:off x="1433195" y="3868420"/>
          <a:ext cx="5994400" cy="2399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2" imgW="4957445" imgH="2294890" progId="Excel.Sheet.8">
                  <p:embed/>
                </p:oleObj>
              </mc:Choice>
              <mc:Fallback>
                <p:oleObj name="" r:id="rId2" imgW="4957445" imgH="2294890" progId="Excel.Shee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33195" y="3868420"/>
                        <a:ext cx="5994400" cy="2399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Tahoma" panose="020B0604030504040204"/>
              </a:rPr>
              <a:t>Relational Terminology, Pt. 3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spcBef>
                <a:spcPts val="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Database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: Set of named Relations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pPr lvl="0">
              <a:spcBef>
                <a:spcPts val="64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Relation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 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(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Table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):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pPr lvl="1">
              <a:spcBef>
                <a:spcPts val="560"/>
              </a:spcBef>
              <a:buClr>
                <a:srgbClr val="484848"/>
              </a:buClr>
              <a:buSzPts val="2800"/>
              <a:buFont typeface="Helvetica Neue" panose="02000503000000020004"/>
              <a:buChar char="–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Schema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: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 description (“metadata”)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pPr lvl="1">
              <a:spcBef>
                <a:spcPts val="560"/>
              </a:spcBef>
              <a:buClr>
                <a:srgbClr val="484848"/>
              </a:buClr>
              <a:buSzPts val="2800"/>
              <a:buFont typeface="Helvetica Neue" panose="02000503000000020004"/>
              <a:buChar char="–"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+mn-ea"/>
              </a:rPr>
              <a:t>Instance</a:t>
            </a:r>
            <a:r>
              <a:rPr lang="en-US" i="1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: 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set of data satisfying the schema</a:t>
            </a:r>
            <a:endParaRPr lang="en-US" dirty="0">
              <a:ea typeface="Helvetica Neue" panose="02000503000000020004" charset="0"/>
              <a:cs typeface="Helvetica Neue" panose="02000503000000020004" charset="0"/>
            </a:endParaRPr>
          </a:p>
          <a:p>
            <a:pPr lvl="0">
              <a:spcBef>
                <a:spcPts val="64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endParaRPr lang="en-US" b="1" i="1" dirty="0">
              <a:solidFill>
                <a:srgbClr val="FF0000"/>
              </a:solidFill>
              <a:ea typeface="Helvetica Neue" panose="02000503000000020004" charset="0"/>
              <a:cs typeface="Helvetica Neue" panose="02000503000000020004" charset="0"/>
              <a:sym typeface="+mn-ea"/>
            </a:endParaRPr>
          </a:p>
          <a:p>
            <a:pPr lvl="0">
              <a:spcBef>
                <a:spcPts val="64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r>
              <a:rPr lang="en-US" b="1" i="1" dirty="0">
                <a:solidFill>
                  <a:srgbClr val="FF0000"/>
                </a:solidFill>
                <a:ea typeface="Helvetica Neue" panose="02000503000000020004" charset="0"/>
                <a:cs typeface="Helvetica Neue" panose="02000503000000020004" charset="0"/>
                <a:sym typeface="+mn-ea"/>
              </a:rPr>
              <a:t>Attribute</a:t>
            </a:r>
            <a:r>
              <a:rPr lang="en-US" dirty="0">
                <a:solidFill>
                  <a:srgbClr val="FF0000"/>
                </a:solidFill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 (</a:t>
            </a:r>
            <a:r>
              <a:rPr lang="en-US" i="1" dirty="0">
                <a:solidFill>
                  <a:srgbClr val="FF0000"/>
                </a:solidFill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Column, Field</a:t>
            </a:r>
            <a:r>
              <a:rPr lang="en-US" dirty="0">
                <a:solidFill>
                  <a:srgbClr val="FF0000"/>
                </a:solidFill>
                <a:ea typeface="Helvetica Neue" panose="02000503000000020004" charset="0"/>
                <a:cs typeface="Helvetica Neue" panose="02000503000000020004" charset="0"/>
                <a:sym typeface="Helvetica Neue" panose="02000503000000020004"/>
              </a:rPr>
              <a:t>)</a:t>
            </a:r>
            <a:endParaRPr lang="en-US" dirty="0">
              <a:solidFill>
                <a:srgbClr val="FF0000"/>
              </a:solidFill>
              <a:ea typeface="Helvetica Neue" panose="02000503000000020004" charset="0"/>
              <a:cs typeface="Helvetica Neue" panose="02000503000000020004" charset="0"/>
              <a:sym typeface="Helvetica Neue" panose="02000503000000020004"/>
            </a:endParaRPr>
          </a:p>
          <a:p>
            <a:pPr lvl="0">
              <a:spcBef>
                <a:spcPts val="64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endParaRPr lang="zh-CN" altLang="en-US"/>
          </a:p>
          <a:p>
            <a:pPr lvl="0">
              <a:spcBef>
                <a:spcPts val="640"/>
              </a:spcBef>
              <a:buClr>
                <a:srgbClr val="484848"/>
              </a:buClr>
              <a:buSzPts val="3200"/>
              <a:buFont typeface="Helvetica Neue" panose="02000503000000020004"/>
              <a:buChar char="•"/>
            </a:pPr>
            <a:endParaRPr lang="zh-CN" altLang="en-US"/>
          </a:p>
        </p:txBody>
      </p:sp>
      <p:graphicFrame>
        <p:nvGraphicFramePr>
          <p:cNvPr id="73" name="Object 4"/>
          <p:cNvGraphicFramePr/>
          <p:nvPr>
            <p:custDataLst>
              <p:tags r:id="rId1"/>
            </p:custDataLst>
          </p:nvPr>
        </p:nvGraphicFramePr>
        <p:xfrm>
          <a:off x="1489075" y="3429000"/>
          <a:ext cx="5994400" cy="2399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2" imgW="4957445" imgH="2294890" progId="Excel.Sheet.8">
                  <p:embed/>
                </p:oleObj>
              </mc:Choice>
              <mc:Fallback>
                <p:oleObj name="" r:id="rId2" imgW="4957445" imgH="2294890" progId="Excel.Shee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89075" y="3429000"/>
                        <a:ext cx="5994400" cy="2399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4636135" y="3429000"/>
            <a:ext cx="1188720" cy="2464435"/>
          </a:xfrm>
          <a:prstGeom prst="rect">
            <a:avLst/>
          </a:prstGeom>
          <a:noFill/>
          <a:ln w="698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Tahoma" panose="020B0604030504040204"/>
              </a:rPr>
              <a:t>Relational Terminology, Pt. 4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b="1" i="1" dirty="0">
                <a:sym typeface="+mn-ea"/>
              </a:rPr>
              <a:t>Database</a:t>
            </a:r>
            <a:r>
              <a:rPr lang="en-US" dirty="0">
                <a:sym typeface="Helvetica Neue" panose="02000503000000020004"/>
              </a:rPr>
              <a:t>: Set of named Relations</a:t>
            </a:r>
            <a:endParaRPr lang="en-US" dirty="0"/>
          </a:p>
          <a:p>
            <a:pPr lvl="0"/>
            <a:r>
              <a:rPr lang="en-US" b="1" i="1" dirty="0">
                <a:sym typeface="+mn-ea"/>
              </a:rPr>
              <a:t>Relation</a:t>
            </a:r>
            <a:r>
              <a:rPr lang="en-US" dirty="0">
                <a:sym typeface="Helvetica Neue" panose="02000503000000020004"/>
              </a:rPr>
              <a:t> (Table):</a:t>
            </a:r>
            <a:endParaRPr lang="en-US" dirty="0"/>
          </a:p>
          <a:p>
            <a:pPr lvl="1"/>
            <a:r>
              <a:rPr lang="en-US" b="1" i="1" dirty="0">
                <a:sym typeface="+mn-ea"/>
              </a:rPr>
              <a:t>Schema</a:t>
            </a:r>
            <a:r>
              <a:rPr lang="en-US" dirty="0">
                <a:sym typeface="Helvetica Neue" panose="02000503000000020004"/>
              </a:rPr>
              <a:t>: description (“metadata”)</a:t>
            </a:r>
            <a:endParaRPr lang="en-US" dirty="0"/>
          </a:p>
          <a:p>
            <a:pPr lvl="1"/>
            <a:r>
              <a:rPr lang="en-US" b="1" i="1" dirty="0">
                <a:sym typeface="+mn-ea"/>
              </a:rPr>
              <a:t>Instance</a:t>
            </a:r>
            <a:r>
              <a:rPr lang="en-US" dirty="0">
                <a:sym typeface="Helvetica Neue" panose="02000503000000020004"/>
              </a:rPr>
              <a:t>: set of data satisfying the schema</a:t>
            </a:r>
            <a:endParaRPr lang="en-US" dirty="0"/>
          </a:p>
          <a:p>
            <a:pPr lvl="0"/>
            <a:r>
              <a:rPr lang="en-US" b="1" i="1" dirty="0">
                <a:sym typeface="+mn-ea"/>
              </a:rPr>
              <a:t>Attribute</a:t>
            </a:r>
            <a:r>
              <a:rPr lang="en-US" dirty="0">
                <a:sym typeface="Helvetica Neue" panose="02000503000000020004"/>
              </a:rPr>
              <a:t> (Column, Field)</a:t>
            </a:r>
            <a:endParaRPr lang="en-US" dirty="0"/>
          </a:p>
          <a:p>
            <a:pPr lvl="0"/>
            <a:r>
              <a:rPr lang="en-US" b="1" i="1" dirty="0">
                <a:sym typeface="+mn-ea"/>
              </a:rPr>
              <a:t>Tuple</a:t>
            </a:r>
            <a:r>
              <a:rPr lang="en-US" dirty="0">
                <a:sym typeface="Helvetica Neue" panose="02000503000000020004"/>
              </a:rPr>
              <a:t> (Record, Row)</a:t>
            </a:r>
            <a:endParaRPr lang="en-US" dirty="0"/>
          </a:p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73" name="Object 4"/>
          <p:cNvGraphicFramePr/>
          <p:nvPr>
            <p:custDataLst>
              <p:tags r:id="rId1"/>
            </p:custDataLst>
          </p:nvPr>
        </p:nvGraphicFramePr>
        <p:xfrm>
          <a:off x="1489075" y="3747135"/>
          <a:ext cx="5994400" cy="2399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2" imgW="4957445" imgH="2294890" progId="Excel.Sheet.8">
                  <p:embed/>
                </p:oleObj>
              </mc:Choice>
              <mc:Fallback>
                <p:oleObj name="" r:id="rId2" imgW="4957445" imgH="2294890" progId="Excel.Shee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89075" y="3747135"/>
                        <a:ext cx="5994400" cy="2399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202055" y="4761865"/>
            <a:ext cx="6567805" cy="393065"/>
          </a:xfrm>
          <a:prstGeom prst="rect">
            <a:avLst/>
          </a:prstGeom>
          <a:noFill/>
          <a:ln w="698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>
                <a:sym typeface="Helvetica Neue Light" panose="02000503000000020004"/>
              </a:rPr>
              <a:t>Quick Check 1</a:t>
            </a:r>
            <a:endParaRPr lang="en-US" dirty="0">
              <a:sym typeface="Helvetica Neue Light" panose="02000503000000020004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85800" y="1073785"/>
            <a:ext cx="7772400" cy="4946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Why is this not a relation?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40" name="Shape 140" descr="A table with 3 columns, the second row has 4 entries" title="Saddress"/>
          <p:cNvGraphicFramePr/>
          <p:nvPr/>
        </p:nvGraphicFramePr>
        <p:xfrm>
          <a:off x="1999616" y="1858645"/>
          <a:ext cx="4725670" cy="19621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10970"/>
                <a:gridCol w="1859280"/>
                <a:gridCol w="1455420"/>
              </a:tblGrid>
              <a:tr h="714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num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street 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</a:rPr>
                        <a:t>text</a:t>
                      </a:r>
                      <a:endParaRPr sz="1800" b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zip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84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Maple Ave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54704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22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High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Street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41338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75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Hearst Ave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94720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CFFF"/>
                    </a:solidFill>
                  </a:tcPr>
                </a:tc>
              </a:tr>
            </a:tbl>
          </a:graphicData>
        </a:graphic>
      </p:graphicFrame>
      <p:sp>
        <p:nvSpPr>
          <p:cNvPr id="141" name="Shape 141" descr="A table with 3 columns, the second row has 4 entries" title="Saddress"/>
          <p:cNvSpPr/>
          <p:nvPr/>
        </p:nvSpPr>
        <p:spPr>
          <a:xfrm>
            <a:off x="6725566" y="3008941"/>
            <a:ext cx="828675" cy="373950"/>
          </a:xfrm>
          <a:prstGeom prst="rect">
            <a:avLst/>
          </a:prstGeom>
          <a:solidFill>
            <a:srgbClr val="F1F1FC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Clr>
                <a:schemeClr val="lt1"/>
              </a:buClr>
              <a:buSzPts val="2400"/>
            </a:pP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76425</a:t>
            </a:r>
            <a:endParaRPr sz="2100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>
                <a:sym typeface="Helvetica Neue Light" panose="02000503000000020004"/>
              </a:rPr>
              <a:t>Quick Check 2</a:t>
            </a:r>
            <a:endParaRPr lang="en-US" dirty="0">
              <a:sym typeface="Helvetica Neue Light" panose="02000503000000020004"/>
            </a:endParaRPr>
          </a:p>
        </p:txBody>
      </p:sp>
      <p:graphicFrame>
        <p:nvGraphicFramePr>
          <p:cNvPr id="150" name="Shape 150" descr="A table with column names: num, street, and num" title="Table"/>
          <p:cNvGraphicFramePr/>
          <p:nvPr/>
        </p:nvGraphicFramePr>
        <p:xfrm>
          <a:off x="2078034" y="1796547"/>
          <a:ext cx="5192395" cy="163258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31010"/>
                <a:gridCol w="1941195"/>
                <a:gridCol w="1520190"/>
              </a:tblGrid>
              <a:tr h="3402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num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street 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</a:rPr>
                        <a:t>text</a:t>
                      </a:r>
                      <a:endParaRPr sz="1800" b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num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4130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84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Maple Ave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54704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</a:tr>
              <a:tr h="4130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22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High Street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 panose="020B0604020202090204"/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76425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4130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75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Hearst Ave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94720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CFFF"/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1073785"/>
            <a:ext cx="7772400" cy="494665"/>
          </a:xfrm>
        </p:spPr>
        <p:txBody>
          <a:bodyPr/>
          <a:p>
            <a:r>
              <a:rPr lang="en-US" dirty="0">
                <a:solidFill>
                  <a:schemeClr val="tx1"/>
                </a:solidFill>
              </a:rPr>
              <a:t>Why is this not a relation?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Check 3</a:t>
            </a:r>
            <a:endParaRPr lang="en-US" dirty="0"/>
          </a:p>
        </p:txBody>
      </p:sp>
      <p:graphicFrame>
        <p:nvGraphicFramePr>
          <p:cNvPr id="157" name="Shape 157" descr="Columns: first (text), last (text), addr (address) the third column has an address which takes the form of tuple" title="Table"/>
          <p:cNvGraphicFramePr/>
          <p:nvPr/>
        </p:nvGraphicFramePr>
        <p:xfrm>
          <a:off x="1639342" y="1757045"/>
          <a:ext cx="5585460" cy="1612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07465"/>
                <a:gridCol w="1724660"/>
                <a:gridCol w="2553335"/>
              </a:tblGrid>
              <a:tr h="39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first 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</a:rPr>
                        <a:t>text</a:t>
                      </a:r>
                      <a:endParaRPr sz="1800" b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last 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</a:rPr>
                        <a:t>text</a:t>
                      </a:r>
                      <a:endParaRPr sz="1800" b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addr 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sz="1800" b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wei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jones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84848"/>
                          </a:solidFill>
                        </a:rPr>
                        <a:t>(84, ‘Maple’, 54704)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apurva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lee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84848"/>
                          </a:solidFill>
                        </a:rPr>
                        <a:t>(22, ‘High’, 76425)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sara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manning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484848"/>
                          </a:solidFill>
                        </a:rPr>
                        <a:t>(75, ‘Hearst’, 94720)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119344" marR="119344" marT="59663" marB="59663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sp>
        <p:nvSpPr>
          <p:cNvPr id="3" name="Text Placeholder 5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1073785"/>
            <a:ext cx="7772400" cy="494665"/>
          </a:xfrm>
        </p:spPr>
        <p:txBody>
          <a:bodyPr/>
          <a:p>
            <a:r>
              <a:rPr lang="en-US" dirty="0">
                <a:solidFill>
                  <a:schemeClr val="tx1"/>
                </a:solidFill>
              </a:rPr>
              <a:t>Why is this not a relation?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Tahoma" panose="020B0604030504040204"/>
              </a:rPr>
              <a:t>SQL Language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dirty="0">
                <a:sym typeface="Tahoma" panose="020B0604030504040204"/>
              </a:rPr>
              <a:t>Two sublanguages:</a:t>
            </a:r>
            <a:endParaRPr lang="en-US" dirty="0">
              <a:sym typeface="Tahoma" panose="020B0604030504040204"/>
            </a:endParaRPr>
          </a:p>
          <a:p>
            <a:pPr lvl="1"/>
            <a:r>
              <a:rPr lang="en-US" dirty="0">
                <a:sym typeface="Tahoma" panose="020B0604030504040204"/>
              </a:rPr>
              <a:t>DDL – Data Definition Language</a:t>
            </a:r>
            <a:endParaRPr lang="en-US" dirty="0">
              <a:sym typeface="Tahoma" panose="020B0604030504040204"/>
            </a:endParaRPr>
          </a:p>
          <a:p>
            <a:pPr lvl="2"/>
            <a:r>
              <a:rPr lang="en-US" dirty="0">
                <a:sym typeface="Tahoma" panose="020B0604030504040204"/>
              </a:rPr>
              <a:t>Define and modify schema</a:t>
            </a:r>
            <a:endParaRPr lang="en-US" dirty="0">
              <a:sym typeface="Tahoma" panose="020B0604030504040204"/>
            </a:endParaRPr>
          </a:p>
          <a:p>
            <a:pPr lvl="1"/>
            <a:r>
              <a:rPr lang="en-US" dirty="0">
                <a:sym typeface="Tahoma" panose="020B0604030504040204"/>
              </a:rPr>
              <a:t>DML – Data Manipulation Language</a:t>
            </a:r>
            <a:endParaRPr lang="en-US" dirty="0">
              <a:sym typeface="Tahoma" panose="020B0604030504040204"/>
            </a:endParaRPr>
          </a:p>
          <a:p>
            <a:pPr lvl="2"/>
            <a:r>
              <a:rPr lang="en-US" dirty="0">
                <a:sym typeface="Tahoma" panose="020B0604030504040204"/>
              </a:rPr>
              <a:t>Queries can be written intuitively</a:t>
            </a:r>
            <a:endParaRPr lang="en-US" dirty="0">
              <a:sym typeface="Tahoma" panose="020B0604030504040204"/>
            </a:endParaRPr>
          </a:p>
          <a:p>
            <a:pPr marL="857250" lvl="2" indent="0">
              <a:buNone/>
            </a:pPr>
            <a:endParaRPr lang="en-US" dirty="0">
              <a:sym typeface="Tahoma" panose="020B0604030504040204"/>
            </a:endParaRPr>
          </a:p>
          <a:p>
            <a:pPr lvl="0"/>
            <a:r>
              <a:rPr lang="en-US" dirty="0">
                <a:sym typeface="Tahoma" panose="020B0604030504040204"/>
              </a:rPr>
              <a:t>RDBMS responsible for efficient evaluation</a:t>
            </a:r>
            <a:endParaRPr lang="en-US" dirty="0">
              <a:sym typeface="Tahoma" panose="020B0604030504040204"/>
            </a:endParaRPr>
          </a:p>
          <a:p>
            <a:pPr lvl="1"/>
            <a:r>
              <a:rPr lang="en-US" dirty="0">
                <a:sym typeface="Tahoma" panose="020B0604030504040204"/>
              </a:rPr>
              <a:t>Choose and run algorithms for declarative queries</a:t>
            </a:r>
            <a:endParaRPr lang="en-US" dirty="0">
              <a:sym typeface="Tahoma" panose="020B0604030504040204"/>
            </a:endParaRPr>
          </a:p>
          <a:p>
            <a:pPr lvl="1"/>
            <a:r>
              <a:rPr lang="en-US" dirty="0">
                <a:sym typeface="Tahoma" panose="020B0604030504040204"/>
              </a:rPr>
              <a:t>Choice of algorithm must not affect query answer</a:t>
            </a:r>
            <a:endParaRPr lang="en-US" dirty="0">
              <a:sym typeface="Tahoma" panose="020B0604030504040204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Data Definition Language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914400" y="1898650"/>
            <a:ext cx="7596188" cy="2633663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The schema for each relation</a:t>
            </a:r>
            <a:endParaRPr lang="en-US" altLang="en-US" dirty="0"/>
          </a:p>
          <a:p>
            <a:r>
              <a:rPr lang="en-US" altLang="en-US" dirty="0"/>
              <a:t>The domain of values associated with each attribute</a:t>
            </a:r>
            <a:endParaRPr lang="en-US" altLang="en-US" dirty="0"/>
          </a:p>
          <a:p>
            <a:r>
              <a:rPr lang="en-US" altLang="en-US" dirty="0"/>
              <a:t>Integrity constraints</a:t>
            </a:r>
            <a:endParaRPr lang="en-US" altLang="en-US" dirty="0"/>
          </a:p>
          <a:p>
            <a:r>
              <a:rPr lang="en-US" altLang="en-US" dirty="0"/>
              <a:t>And </a:t>
            </a:r>
            <a:endParaRPr lang="en-US" altLang="en-US" dirty="0"/>
          </a:p>
          <a:p>
            <a:pPr lvl="1"/>
            <a:r>
              <a:rPr lang="en-US" altLang="en-US" dirty="0"/>
              <a:t>The set of indices to be maintained for each relations</a:t>
            </a:r>
            <a:endParaRPr lang="en-US" altLang="en-US" dirty="0"/>
          </a:p>
          <a:p>
            <a:pPr lvl="1"/>
            <a:r>
              <a:rPr lang="en-US" altLang="en-US" dirty="0"/>
              <a:t>Security and authorization information for each relation</a:t>
            </a:r>
            <a:endParaRPr lang="en-US" altLang="en-US" dirty="0"/>
          </a:p>
          <a:p>
            <a:pPr lvl="1"/>
            <a:r>
              <a:rPr lang="en-US" altLang="en-US" dirty="0"/>
              <a:t>The physical storage structure of each relation on disk</a:t>
            </a:r>
            <a:endParaRPr lang="en-US" altLang="en-US" dirty="0"/>
          </a:p>
        </p:txBody>
      </p:sp>
      <p:sp>
        <p:nvSpPr>
          <p:cNvPr id="8196" name="Text Box 4"/>
          <p:cNvSpPr txBox="1"/>
          <p:nvPr/>
        </p:nvSpPr>
        <p:spPr>
          <a:xfrm>
            <a:off x="739775" y="1106488"/>
            <a:ext cx="7239000" cy="6715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latin typeface="Helvetica" pitchFamily="34" charset="0"/>
              </a:rPr>
              <a:t>The SQL </a:t>
            </a:r>
            <a:r>
              <a:rPr lang="en-US" altLang="en-US" sz="2000" dirty="0">
                <a:latin typeface="Helvetica" pitchFamily="34" charset="0"/>
              </a:rPr>
              <a:t>data-definition language (DDL)</a:t>
            </a:r>
            <a:r>
              <a:rPr lang="en-US" altLang="en-US" dirty="0">
                <a:latin typeface="Helvetica" pitchFamily="34" charset="0"/>
              </a:rPr>
              <a:t> allows the specification of information about relations, including:</a:t>
            </a:r>
            <a:endParaRPr lang="en-US" altLang="en-US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Domain Types in SQL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789863" cy="4876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char(n).</a:t>
            </a:r>
            <a:r>
              <a:rPr lang="en-US" altLang="en-US" dirty="0"/>
              <a:t>  Fixed length character string, with user-specified length </a:t>
            </a:r>
            <a:r>
              <a:rPr lang="en-US" altLang="en-US" i="1" dirty="0"/>
              <a:t>n.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varchar(n).</a:t>
            </a:r>
            <a:r>
              <a:rPr lang="en-US" altLang="en-US" b="1" dirty="0"/>
              <a:t> </a:t>
            </a:r>
            <a:r>
              <a:rPr lang="en-US" altLang="en-US" dirty="0"/>
              <a:t> Variable length character strings, with user-specified maximum length </a:t>
            </a:r>
            <a:r>
              <a:rPr lang="en-US" altLang="en-US" i="1" dirty="0"/>
              <a:t>n.</a:t>
            </a:r>
            <a:endParaRPr lang="en-US" altLang="en-US" i="1" dirty="0"/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int.</a:t>
            </a:r>
            <a:r>
              <a:rPr lang="en-US" altLang="en-US" b="1" dirty="0"/>
              <a:t>  </a:t>
            </a:r>
            <a:r>
              <a:rPr lang="en-US" altLang="en-US" dirty="0"/>
              <a:t>Integer (a finite subset of the integers that is machine-dependent).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smallint.</a:t>
            </a:r>
            <a:r>
              <a:rPr lang="en-US" altLang="en-US" dirty="0"/>
              <a:t>  Small integer (a machine-dependent subset of the integer domain type).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numeric(p,d).</a:t>
            </a:r>
            <a:r>
              <a:rPr lang="en-US" altLang="en-US" dirty="0"/>
              <a:t>  Fixed point number, with user-specified precision of </a:t>
            </a:r>
            <a:r>
              <a:rPr lang="en-US" altLang="en-US" i="1" dirty="0"/>
              <a:t>p</a:t>
            </a:r>
            <a:r>
              <a:rPr lang="en-US" altLang="en-US" dirty="0"/>
              <a:t> digits, with </a:t>
            </a:r>
            <a:r>
              <a:rPr lang="en-US" altLang="en-US" i="1" dirty="0"/>
              <a:t>d</a:t>
            </a:r>
            <a:r>
              <a:rPr lang="en-US" altLang="en-US" dirty="0"/>
              <a:t> digits to the right of decimal point.  (ex., </a:t>
            </a:r>
            <a:r>
              <a:rPr lang="en-US" altLang="en-US" b="1" dirty="0"/>
              <a:t>numeric</a:t>
            </a:r>
            <a:r>
              <a:rPr lang="en-US" altLang="en-US" dirty="0"/>
              <a:t>(3,1), allows 44.5 to be stores exactly, but not 444.5 or 0.32)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real, double precision.</a:t>
            </a:r>
            <a:r>
              <a:rPr lang="en-US" altLang="en-US" dirty="0"/>
              <a:t>  Floating point and double-precision floating point numbers, with machine-dependent precision.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float(n).</a:t>
            </a:r>
            <a:r>
              <a:rPr lang="en-US" altLang="en-US" dirty="0"/>
              <a:t>  Floating point number, with user-specified precision of at least </a:t>
            </a:r>
            <a:r>
              <a:rPr lang="en-US" altLang="en-US" i="1" dirty="0"/>
              <a:t>n</a:t>
            </a:r>
            <a:r>
              <a:rPr lang="en-US" altLang="en-US" dirty="0"/>
              <a:t> digits.</a:t>
            </a:r>
            <a:endParaRPr lang="en-US" altLang="en-US" dirty="0"/>
          </a:p>
          <a:p>
            <a:pPr>
              <a:lnSpc>
                <a:spcPct val="90000"/>
              </a:lnSpc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Create Table Construct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823913" y="1127125"/>
            <a:ext cx="7878762" cy="5227638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An SQL relation is defined using the </a:t>
            </a:r>
            <a:r>
              <a:rPr lang="en-US" altLang="en-US" b="1" dirty="0">
                <a:solidFill>
                  <a:srgbClr val="000099"/>
                </a:solidFill>
              </a:rPr>
              <a:t>create table</a:t>
            </a:r>
            <a:r>
              <a:rPr lang="en-US" altLang="en-US" b="1" dirty="0"/>
              <a:t> </a:t>
            </a:r>
            <a:r>
              <a:rPr lang="en-US" altLang="en-US" dirty="0"/>
              <a:t>command:</a:t>
            </a:r>
            <a:endParaRPr lang="en-US" altLang="en-US" dirty="0"/>
          </a:p>
          <a:p>
            <a:pPr defTabSz="914400">
              <a:buNone/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create table </a:t>
            </a:r>
            <a:r>
              <a:rPr lang="en-US" altLang="en-US" i="1" dirty="0"/>
              <a:t>r 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i="1" dirty="0"/>
              <a:t>D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US" altLang="en-US" i="1" dirty="0"/>
              <a:t>D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</a:t>
            </a:r>
            <a:r>
              <a:rPr lang="en-US" altLang="en-US" i="1" dirty="0"/>
              <a:t> D</a:t>
            </a:r>
            <a:r>
              <a:rPr lang="en-US" altLang="en-US" i="1" baseline="-25000" dirty="0"/>
              <a:t>n</a:t>
            </a:r>
            <a:r>
              <a:rPr lang="en-US" altLang="en-US" i="1" dirty="0"/>
              <a:t>,</a:t>
            </a:r>
            <a:br>
              <a:rPr lang="en-US" altLang="en-US" i="1" dirty="0"/>
            </a:br>
            <a:r>
              <a:rPr lang="en-US" altLang="en-US" i="1" dirty="0"/>
              <a:t>			</a:t>
            </a:r>
            <a:r>
              <a:rPr lang="en-US" altLang="en-US" dirty="0"/>
              <a:t>(integrity-constraint</a:t>
            </a:r>
            <a:r>
              <a:rPr lang="en-US" altLang="en-US" baseline="-25000" dirty="0"/>
              <a:t>1</a:t>
            </a:r>
            <a:r>
              <a:rPr lang="en-US" altLang="en-US" dirty="0"/>
              <a:t>),</a:t>
            </a:r>
            <a:br>
              <a:rPr lang="en-US" altLang="en-US" dirty="0"/>
            </a:br>
            <a:r>
              <a:rPr lang="en-US" altLang="en-US" dirty="0"/>
              <a:t>			...,</a:t>
            </a:r>
            <a:br>
              <a:rPr lang="en-US" altLang="en-US" dirty="0"/>
            </a:br>
            <a:r>
              <a:rPr lang="en-US" altLang="en-US" dirty="0"/>
              <a:t>			(integrity-constraint</a:t>
            </a:r>
            <a:r>
              <a:rPr lang="en-US" altLang="en-US" baseline="-25000" dirty="0"/>
              <a:t>k</a:t>
            </a:r>
            <a:r>
              <a:rPr lang="en-US" altLang="en-US" dirty="0"/>
              <a:t>))</a:t>
            </a:r>
            <a:endParaRPr lang="en-US" altLang="en-US" dirty="0"/>
          </a:p>
          <a:p>
            <a:pPr lvl="1" defTabSz="91440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i="1" dirty="0"/>
              <a:t>r</a:t>
            </a:r>
            <a:r>
              <a:rPr lang="en-US" altLang="en-US" dirty="0"/>
              <a:t> is the name of the relation</a:t>
            </a:r>
            <a:endParaRPr lang="en-US" altLang="en-US" dirty="0"/>
          </a:p>
          <a:p>
            <a:pPr lvl="1" defTabSz="91440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each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i</a:t>
            </a:r>
            <a:r>
              <a:rPr lang="en-US" altLang="en-US" dirty="0"/>
              <a:t> is an attribute name in the schema of relation </a:t>
            </a:r>
            <a:r>
              <a:rPr lang="en-US" altLang="en-US" i="1" dirty="0"/>
              <a:t>r</a:t>
            </a:r>
            <a:endParaRPr lang="en-US" altLang="en-US" i="1" dirty="0"/>
          </a:p>
          <a:p>
            <a:pPr lvl="1" defTabSz="91440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is the data type of values in the domain of attribute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i</a:t>
            </a:r>
            <a:endParaRPr lang="en-US" altLang="en-US" i="1" baseline="-25000" dirty="0"/>
          </a:p>
          <a:p>
            <a:pPr lvl="1" defTabSz="914400">
              <a:buNone/>
              <a:tabLst>
                <a:tab pos="1489075" algn="l"/>
                <a:tab pos="1949450" algn="l"/>
                <a:tab pos="3037205" algn="l"/>
              </a:tabLst>
            </a:pPr>
            <a:endParaRPr lang="en-US" altLang="en-US" dirty="0"/>
          </a:p>
          <a:p>
            <a:pPr defTabSz="91440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Example:</a:t>
            </a:r>
            <a:endParaRPr lang="en-US" altLang="en-US" dirty="0"/>
          </a:p>
          <a:p>
            <a:pPr defTabSz="914400">
              <a:buNone/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		 </a:t>
            </a:r>
            <a:r>
              <a:rPr lang="en-US" altLang="en-US" b="1" dirty="0"/>
              <a:t>create table</a:t>
            </a:r>
            <a:r>
              <a:rPr lang="en-US" altLang="en-US" dirty="0"/>
              <a:t> </a:t>
            </a:r>
            <a:r>
              <a:rPr lang="en-US" altLang="en-US" i="1" dirty="0"/>
              <a:t>instructor</a:t>
            </a:r>
            <a:r>
              <a:rPr lang="en-US" altLang="en-US" dirty="0"/>
              <a:t> (</a:t>
            </a:r>
            <a:br>
              <a:rPr lang="en-US" altLang="en-US" dirty="0"/>
            </a:br>
            <a:r>
              <a:rPr lang="en-US" altLang="en-US" dirty="0"/>
              <a:t>                             </a:t>
            </a:r>
            <a:r>
              <a:rPr lang="en-US" altLang="en-US" i="1" dirty="0"/>
              <a:t>ID</a:t>
            </a:r>
            <a:r>
              <a:rPr lang="en-US" altLang="en-US" dirty="0"/>
              <a:t>                </a:t>
            </a:r>
            <a:r>
              <a:rPr lang="en-US" altLang="en-US" b="1" dirty="0"/>
              <a:t>char</a:t>
            </a:r>
            <a:r>
              <a:rPr lang="en-US" altLang="en-US" dirty="0"/>
              <a:t>(5),</a:t>
            </a:r>
            <a:br>
              <a:rPr lang="en-US" altLang="en-US" dirty="0"/>
            </a:br>
            <a:r>
              <a:rPr lang="en-US" altLang="en-US" dirty="0"/>
              <a:t>                             </a:t>
            </a:r>
            <a:r>
              <a:rPr lang="en-US" altLang="en-US" i="1" dirty="0"/>
              <a:t>name           </a:t>
            </a:r>
            <a:r>
              <a:rPr lang="en-US" altLang="en-US" b="1" dirty="0"/>
              <a:t>varchar</a:t>
            </a:r>
            <a:r>
              <a:rPr lang="en-US" altLang="en-US" dirty="0"/>
              <a:t>(20)</a:t>
            </a:r>
            <a:r>
              <a:rPr lang="en-US" altLang="en-US" b="1" dirty="0"/>
              <a:t>,</a:t>
            </a:r>
            <a:br>
              <a:rPr lang="en-US" altLang="en-US" b="1" i="1" dirty="0"/>
            </a:br>
            <a:r>
              <a:rPr lang="en-US" altLang="en-US" b="1" i="1" dirty="0"/>
              <a:t>                             </a:t>
            </a:r>
            <a:r>
              <a:rPr lang="en-US" altLang="en-US" i="1" dirty="0"/>
              <a:t>dept_name  </a:t>
            </a:r>
            <a:r>
              <a:rPr lang="en-US" altLang="en-US" b="1" dirty="0"/>
              <a:t>varchar</a:t>
            </a:r>
            <a:r>
              <a:rPr lang="en-US" altLang="en-US" dirty="0"/>
              <a:t>(20),</a:t>
            </a:r>
            <a:br>
              <a:rPr lang="en-US" altLang="en-US" dirty="0"/>
            </a:br>
            <a:r>
              <a:rPr lang="en-US" altLang="en-US" dirty="0"/>
              <a:t>                             </a:t>
            </a:r>
            <a:r>
              <a:rPr lang="en-US" altLang="en-US" i="1" dirty="0"/>
              <a:t>salary</a:t>
            </a:r>
            <a:r>
              <a:rPr lang="en-US" altLang="en-US" dirty="0"/>
              <a:t>           </a:t>
            </a:r>
            <a:r>
              <a:rPr lang="en-US" altLang="en-US" b="1" dirty="0"/>
              <a:t>numeric</a:t>
            </a:r>
            <a:r>
              <a:rPr lang="en-US" altLang="en-US" dirty="0"/>
              <a:t>(8,2))</a:t>
            </a:r>
            <a:endParaRPr lang="en-US" altLang="en-US" dirty="0"/>
          </a:p>
          <a:p>
            <a:pPr defTabSz="914400">
              <a:buNone/>
              <a:tabLst>
                <a:tab pos="1489075" algn="l"/>
                <a:tab pos="1949450" algn="l"/>
                <a:tab pos="303720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5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Integrity Constraints in Create Table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823913" y="1098550"/>
            <a:ext cx="6638925" cy="1254125"/>
          </a:xfrm>
        </p:spPr>
        <p:txBody>
          <a:bodyPr vert="horz" wrap="square" lIns="91440" tIns="45720" rIns="91440" bIns="45720" anchor="t" anchorCtr="0"/>
          <a:p>
            <a:r>
              <a:rPr lang="en-US" altLang="en-US" b="1" dirty="0"/>
              <a:t>not null</a:t>
            </a:r>
            <a:endParaRPr lang="en-US" altLang="en-US" b="1" dirty="0"/>
          </a:p>
          <a:p>
            <a:r>
              <a:rPr lang="en-US" altLang="en-US" b="1" dirty="0"/>
              <a:t>primary key</a:t>
            </a:r>
            <a:r>
              <a:rPr lang="en-US" altLang="en-US" dirty="0"/>
              <a:t> (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 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b="1" dirty="0"/>
              <a:t>foreign key 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baseline="-25000" dirty="0"/>
              <a:t>m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 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r</a:t>
            </a:r>
            <a:endParaRPr lang="en-US" altLang="en-US" dirty="0"/>
          </a:p>
        </p:txBody>
      </p:sp>
      <p:sp>
        <p:nvSpPr>
          <p:cNvPr id="11268" name="Rectangle 4"/>
          <p:cNvSpPr/>
          <p:nvPr/>
        </p:nvSpPr>
        <p:spPr>
          <a:xfrm>
            <a:off x="771525" y="2395538"/>
            <a:ext cx="7319963" cy="25146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en-US" i="1" dirty="0">
                <a:latin typeface="Helvetica" pitchFamily="34" charset="0"/>
              </a:rPr>
              <a:t>Example:</a:t>
            </a:r>
            <a:endParaRPr lang="en-US" altLang="en-US" i="1" dirty="0">
              <a:latin typeface="Helvetica" pitchFamily="34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endParaRPr lang="en-US" altLang="en-US" b="1" dirty="0">
              <a:latin typeface="Helvetica" pitchFamily="34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en-US" dirty="0">
                <a:latin typeface="Helvetica" pitchFamily="34" charset="0"/>
              </a:rPr>
              <a:t>	</a:t>
            </a:r>
            <a:r>
              <a:rPr lang="en-US" altLang="en-US" b="1" dirty="0">
                <a:latin typeface="Helvetica" pitchFamily="34" charset="0"/>
              </a:rPr>
              <a:t>create table</a:t>
            </a: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i="1" dirty="0">
                <a:latin typeface="Helvetica" pitchFamily="34" charset="0"/>
              </a:rPr>
              <a:t>instructor</a:t>
            </a:r>
            <a:r>
              <a:rPr lang="en-US" altLang="en-US" dirty="0">
                <a:latin typeface="Helvetica" pitchFamily="34" charset="0"/>
              </a:rPr>
              <a:t> (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                            </a:t>
            </a:r>
            <a:r>
              <a:rPr lang="en-US" altLang="en-US" i="1" dirty="0">
                <a:latin typeface="Helvetica" pitchFamily="34" charset="0"/>
              </a:rPr>
              <a:t>ID</a:t>
            </a:r>
            <a:r>
              <a:rPr lang="en-US" altLang="en-US" dirty="0">
                <a:latin typeface="Helvetica" pitchFamily="34" charset="0"/>
              </a:rPr>
              <a:t>                </a:t>
            </a:r>
            <a:r>
              <a:rPr lang="en-US" altLang="en-US" b="1" dirty="0">
                <a:latin typeface="Helvetica" pitchFamily="34" charset="0"/>
              </a:rPr>
              <a:t>char</a:t>
            </a:r>
            <a:r>
              <a:rPr lang="en-US" altLang="en-US" dirty="0">
                <a:latin typeface="Helvetica" pitchFamily="34" charset="0"/>
              </a:rPr>
              <a:t>(5),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                            </a:t>
            </a:r>
            <a:r>
              <a:rPr lang="en-US" altLang="en-US" i="1" dirty="0">
                <a:latin typeface="Helvetica" pitchFamily="34" charset="0"/>
              </a:rPr>
              <a:t>name           </a:t>
            </a:r>
            <a:r>
              <a:rPr lang="en-US" altLang="en-US" b="1" dirty="0">
                <a:latin typeface="Helvetica" pitchFamily="34" charset="0"/>
              </a:rPr>
              <a:t>varchar</a:t>
            </a:r>
            <a:r>
              <a:rPr lang="en-US" altLang="en-US" dirty="0">
                <a:latin typeface="Helvetica" pitchFamily="34" charset="0"/>
              </a:rPr>
              <a:t>(20) </a:t>
            </a:r>
            <a:r>
              <a:rPr lang="en-US" altLang="en-US" b="1" dirty="0">
                <a:latin typeface="Helvetica" pitchFamily="34" charset="0"/>
              </a:rPr>
              <a:t>not null,</a:t>
            </a:r>
            <a:br>
              <a:rPr lang="en-US" altLang="en-US" b="1" i="1" dirty="0">
                <a:latin typeface="Helvetica" pitchFamily="34" charset="0"/>
              </a:rPr>
            </a:br>
            <a:r>
              <a:rPr lang="en-US" altLang="en-US" b="1" i="1" dirty="0">
                <a:latin typeface="Helvetica" pitchFamily="34" charset="0"/>
              </a:rPr>
              <a:t>                             </a:t>
            </a:r>
            <a:r>
              <a:rPr lang="en-US" altLang="en-US" i="1" dirty="0">
                <a:latin typeface="Helvetica" pitchFamily="34" charset="0"/>
              </a:rPr>
              <a:t>dept_name  </a:t>
            </a:r>
            <a:r>
              <a:rPr lang="en-US" altLang="en-US" b="1" dirty="0">
                <a:latin typeface="Helvetica" pitchFamily="34" charset="0"/>
              </a:rPr>
              <a:t>varchar</a:t>
            </a:r>
            <a:r>
              <a:rPr lang="en-US" altLang="en-US" dirty="0">
                <a:latin typeface="Helvetica" pitchFamily="34" charset="0"/>
              </a:rPr>
              <a:t>(20),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                            </a:t>
            </a:r>
            <a:r>
              <a:rPr lang="en-US" altLang="en-US" i="1" dirty="0">
                <a:latin typeface="Helvetica" pitchFamily="34" charset="0"/>
              </a:rPr>
              <a:t>salary</a:t>
            </a:r>
            <a:r>
              <a:rPr lang="en-US" altLang="en-US" dirty="0">
                <a:latin typeface="Helvetica" pitchFamily="34" charset="0"/>
              </a:rPr>
              <a:t>           </a:t>
            </a:r>
            <a:r>
              <a:rPr lang="en-US" altLang="en-US" b="1" dirty="0">
                <a:latin typeface="Helvetica" pitchFamily="34" charset="0"/>
              </a:rPr>
              <a:t>numeric</a:t>
            </a:r>
            <a:r>
              <a:rPr lang="en-US" altLang="en-US" dirty="0">
                <a:latin typeface="Helvetica" pitchFamily="34" charset="0"/>
              </a:rPr>
              <a:t>(8,2),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sz="1600" dirty="0">
                <a:latin typeface="Helvetica" pitchFamily="34" charset="0"/>
              </a:rPr>
              <a:t>                                </a:t>
            </a:r>
            <a:r>
              <a:rPr lang="en-US" altLang="en-US" b="1" dirty="0">
                <a:latin typeface="Helvetica" pitchFamily="34" charset="0"/>
              </a:rPr>
              <a:t>primary key </a:t>
            </a:r>
            <a:r>
              <a:rPr lang="en-US" altLang="en-US" dirty="0">
                <a:latin typeface="Helvetica" pitchFamily="34" charset="0"/>
              </a:rPr>
              <a:t>(</a:t>
            </a:r>
            <a:r>
              <a:rPr lang="en-US" altLang="en-US" i="1" dirty="0">
                <a:latin typeface="Helvetica" pitchFamily="34" charset="0"/>
              </a:rPr>
              <a:t>ID</a:t>
            </a:r>
            <a:r>
              <a:rPr lang="en-US" altLang="en-US" dirty="0">
                <a:latin typeface="Helvetica" pitchFamily="34" charset="0"/>
              </a:rPr>
              <a:t>),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                            </a:t>
            </a:r>
            <a:r>
              <a:rPr lang="en-US" altLang="en-US" b="1" dirty="0">
                <a:latin typeface="Helvetica" pitchFamily="34" charset="0"/>
              </a:rPr>
              <a:t>foreign key </a:t>
            </a:r>
            <a:r>
              <a:rPr lang="en-US" altLang="en-US" i="1" dirty="0">
                <a:latin typeface="Helvetica" pitchFamily="34" charset="0"/>
              </a:rPr>
              <a:t>(dept_name</a:t>
            </a:r>
            <a:r>
              <a:rPr lang="en-US" altLang="en-US" dirty="0">
                <a:latin typeface="Helvetica" pitchFamily="34" charset="0"/>
              </a:rPr>
              <a:t>) </a:t>
            </a:r>
            <a:r>
              <a:rPr lang="en-US" altLang="en-US" b="1" dirty="0">
                <a:latin typeface="Helvetica" pitchFamily="34" charset="0"/>
              </a:rPr>
              <a:t>references </a:t>
            </a:r>
            <a:r>
              <a:rPr lang="en-US" altLang="en-US" i="1" dirty="0">
                <a:latin typeface="Helvetica" pitchFamily="34" charset="0"/>
              </a:rPr>
              <a:t>department);</a:t>
            </a:r>
            <a:endParaRPr lang="en-US" altLang="en-US" i="1" dirty="0">
              <a:latin typeface="Helvetica" pitchFamily="34" charset="0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805180" y="5229225"/>
            <a:ext cx="762508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Arial" panose="020B0604020202090204" pitchFamily="34" charset="0"/>
              <a:buChar char="•"/>
            </a:pPr>
            <a:r>
              <a:rPr lang="en-US" altLang="en-US" b="1" dirty="0">
                <a:latin typeface="Helvetica" pitchFamily="34" charset="0"/>
              </a:rPr>
              <a:t>primary key </a:t>
            </a:r>
            <a:r>
              <a:rPr lang="en-US" altLang="en-US" dirty="0">
                <a:latin typeface="Helvetica" pitchFamily="34" charset="0"/>
              </a:rPr>
              <a:t>declaration on an attribute automatically ensures</a:t>
            </a:r>
            <a:r>
              <a:rPr lang="en-US" altLang="en-US" b="1" dirty="0">
                <a:latin typeface="Helvetica" pitchFamily="34" charset="0"/>
              </a:rPr>
              <a:t> not null</a:t>
            </a:r>
            <a:endParaRPr lang="en-US" altLang="en-US" b="1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 Few More Relation Definitions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AutoShape 3"/>
          <p:cNvSpPr>
            <a:spLocks noChangeAspect="1"/>
          </p:cNvSpPr>
          <p:nvPr>
            <p:ph idx="1"/>
          </p:nvPr>
        </p:nvSpPr>
        <p:spPr>
          <a:xfrm>
            <a:off x="609600" y="885825"/>
            <a:ext cx="8216900" cy="5497513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/>
              <a:t>create table</a:t>
            </a:r>
            <a:r>
              <a:rPr lang="en-US" altLang="en-US" dirty="0"/>
              <a:t> </a:t>
            </a:r>
            <a:r>
              <a:rPr lang="en-US" altLang="en-US" i="1" dirty="0"/>
              <a:t>student</a:t>
            </a:r>
            <a:r>
              <a:rPr lang="en-US" altLang="en-US" dirty="0"/>
              <a:t> (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ID</a:t>
            </a:r>
            <a:r>
              <a:rPr lang="en-US" altLang="en-US" dirty="0"/>
              <a:t>                    </a:t>
            </a:r>
            <a:r>
              <a:rPr lang="en-US" altLang="en-US" b="1" dirty="0"/>
              <a:t>varchar</a:t>
            </a:r>
            <a:r>
              <a:rPr lang="en-US" altLang="en-US" dirty="0"/>
              <a:t>(5),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name</a:t>
            </a:r>
            <a:r>
              <a:rPr lang="en-US" altLang="en-US" dirty="0"/>
              <a:t>               </a:t>
            </a:r>
            <a:r>
              <a:rPr lang="en-US" altLang="en-US" b="1" dirty="0"/>
              <a:t>varchar</a:t>
            </a:r>
            <a:r>
              <a:rPr lang="en-US" altLang="en-US" dirty="0"/>
              <a:t>(20) not null,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dept_name</a:t>
            </a:r>
            <a:r>
              <a:rPr lang="en-US" altLang="en-US" dirty="0"/>
              <a:t>      </a:t>
            </a:r>
            <a:r>
              <a:rPr lang="en-US" altLang="en-US" b="1" dirty="0"/>
              <a:t>varchar</a:t>
            </a:r>
            <a:r>
              <a:rPr lang="en-US" altLang="en-US" dirty="0"/>
              <a:t>(20),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tot_cred</a:t>
            </a:r>
            <a:r>
              <a:rPr lang="en-US" altLang="en-US" dirty="0"/>
              <a:t>           </a:t>
            </a:r>
            <a:r>
              <a:rPr lang="en-US" altLang="en-US" b="1" dirty="0"/>
              <a:t>numeric</a:t>
            </a:r>
            <a:r>
              <a:rPr lang="en-US" altLang="en-US" dirty="0"/>
              <a:t>(3,0),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b="1" dirty="0"/>
              <a:t>primary key </a:t>
            </a:r>
            <a:r>
              <a:rPr lang="en-US" altLang="en-US" i="1" dirty="0"/>
              <a:t>(ID),</a:t>
            </a:r>
            <a:endParaRPr lang="en-US" altLang="en-US" i="1" dirty="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b="1" dirty="0"/>
              <a:t>             foreign key </a:t>
            </a:r>
            <a:r>
              <a:rPr lang="en-US" altLang="en-US" i="1" dirty="0"/>
              <a:t>(dept_name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department</a:t>
            </a:r>
            <a:r>
              <a:rPr lang="en-US" altLang="en-US" dirty="0"/>
              <a:t>);</a:t>
            </a:r>
            <a:endParaRPr lang="en-US" altLang="en-US" dirty="0"/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/>
              <a:t>create table</a:t>
            </a:r>
            <a:r>
              <a:rPr lang="en-US" altLang="en-US" dirty="0"/>
              <a:t> </a:t>
            </a:r>
            <a:r>
              <a:rPr lang="en-US" altLang="en-US" i="1" dirty="0"/>
              <a:t>takes</a:t>
            </a:r>
            <a:r>
              <a:rPr lang="en-US" altLang="en-US" dirty="0"/>
              <a:t> (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ID</a:t>
            </a:r>
            <a:r>
              <a:rPr lang="en-US" altLang="en-US" dirty="0"/>
              <a:t>                   </a:t>
            </a:r>
            <a:r>
              <a:rPr lang="en-US" altLang="en-US" b="1" dirty="0"/>
              <a:t>varchar</a:t>
            </a:r>
            <a:r>
              <a:rPr lang="en-US" altLang="en-US" dirty="0"/>
              <a:t>(5),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course_id</a:t>
            </a:r>
            <a:r>
              <a:rPr lang="en-US" altLang="en-US" dirty="0"/>
              <a:t>       </a:t>
            </a:r>
            <a:r>
              <a:rPr lang="en-US" altLang="en-US" b="1" dirty="0"/>
              <a:t>varchar</a:t>
            </a:r>
            <a:r>
              <a:rPr lang="en-US" altLang="en-US" dirty="0"/>
              <a:t>(8),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sec_id</a:t>
            </a:r>
            <a:r>
              <a:rPr lang="en-US" altLang="en-US" dirty="0"/>
              <a:t>            </a:t>
            </a:r>
            <a:r>
              <a:rPr lang="en-US" altLang="en-US" b="1" dirty="0"/>
              <a:t>varchar</a:t>
            </a:r>
            <a:r>
              <a:rPr lang="en-US" altLang="en-US" dirty="0"/>
              <a:t>(8),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semester</a:t>
            </a:r>
            <a:r>
              <a:rPr lang="en-US" altLang="en-US" dirty="0"/>
              <a:t>        </a:t>
            </a:r>
            <a:r>
              <a:rPr lang="en-US" altLang="en-US" b="1" dirty="0"/>
              <a:t>varchar</a:t>
            </a:r>
            <a:r>
              <a:rPr lang="en-US" altLang="en-US" dirty="0"/>
              <a:t>(6),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year</a:t>
            </a:r>
            <a:r>
              <a:rPr lang="en-US" altLang="en-US" dirty="0"/>
              <a:t>                </a:t>
            </a:r>
            <a:r>
              <a:rPr lang="en-US" altLang="en-US" b="1" dirty="0"/>
              <a:t>numeric</a:t>
            </a:r>
            <a:r>
              <a:rPr lang="en-US" altLang="en-US" dirty="0"/>
              <a:t>(4,0),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grade</a:t>
            </a:r>
            <a:r>
              <a:rPr lang="en-US" altLang="en-US" dirty="0"/>
              <a:t>              </a:t>
            </a:r>
            <a:r>
              <a:rPr lang="en-US" altLang="en-US" b="1" dirty="0"/>
              <a:t>varchar</a:t>
            </a:r>
            <a:r>
              <a:rPr lang="en-US" altLang="en-US" dirty="0"/>
              <a:t>(2), </a:t>
            </a:r>
            <a:endParaRPr lang="en-US" altLang="en-US" dirty="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b="1" dirty="0"/>
              <a:t>             primary key </a:t>
            </a:r>
            <a:r>
              <a:rPr lang="en-US" altLang="en-US" i="1" dirty="0"/>
              <a:t>(ID, course_id, sec_id, semester, year)</a:t>
            </a:r>
            <a:r>
              <a:rPr lang="en-US" altLang="en-US" dirty="0"/>
              <a:t> ,</a:t>
            </a:r>
            <a:endParaRPr lang="en-US" altLang="en-US" dirty="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b="1" dirty="0"/>
              <a:t>             foreign key </a:t>
            </a:r>
            <a:r>
              <a:rPr lang="en-US" altLang="en-US" dirty="0"/>
              <a:t>(</a:t>
            </a:r>
            <a:r>
              <a:rPr lang="en-US" altLang="en-US" i="1" dirty="0"/>
              <a:t>ID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b="1" i="1" dirty="0"/>
              <a:t> </a:t>
            </a:r>
            <a:r>
              <a:rPr lang="en-US" altLang="en-US" i="1" dirty="0"/>
              <a:t>student,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b="1" dirty="0"/>
              <a:t>foreign key </a:t>
            </a:r>
            <a:r>
              <a:rPr lang="en-US" altLang="en-US" dirty="0"/>
              <a:t>(</a:t>
            </a:r>
            <a:r>
              <a:rPr lang="en-US" altLang="en-US" i="1" dirty="0"/>
              <a:t>course_id, sec_id, semester, year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section</a:t>
            </a:r>
            <a:r>
              <a:rPr lang="en-US" altLang="en-US" dirty="0"/>
              <a:t>);</a:t>
            </a:r>
            <a:endParaRPr lang="en-US" altLang="en-US" dirty="0"/>
          </a:p>
          <a:p>
            <a:pPr lvl="0">
              <a:lnSpc>
                <a:spcPct val="90000"/>
              </a:lnSpc>
            </a:pPr>
            <a:endParaRPr lang="en-US" altLang="en-US" dirty="0"/>
          </a:p>
          <a:p>
            <a:pPr lvl="0">
              <a:lnSpc>
                <a:spcPct val="90000"/>
              </a:lnSpc>
            </a:pPr>
            <a:r>
              <a:rPr lang="en-US" altLang="en-US" b="1" dirty="0">
                <a:sym typeface="+mn-ea"/>
              </a:rPr>
              <a:t>primary key </a:t>
            </a:r>
            <a:r>
              <a:rPr lang="en-US" altLang="en-US" i="1" dirty="0">
                <a:sym typeface="+mn-ea"/>
              </a:rPr>
              <a:t>(ID, course_id, sec_id, semester, year)</a:t>
            </a:r>
            <a:r>
              <a:rPr lang="en-US" altLang="en-US" dirty="0"/>
              <a:t> VS </a:t>
            </a:r>
            <a:r>
              <a:rPr lang="en-US" altLang="en-US" b="1" dirty="0">
                <a:sym typeface="+mn-ea"/>
              </a:rPr>
              <a:t>primary key </a:t>
            </a:r>
            <a:r>
              <a:rPr lang="en-US" altLang="en-US" i="1" dirty="0">
                <a:sym typeface="+mn-ea"/>
              </a:rPr>
              <a:t>(ID, course_id, </a:t>
            </a:r>
            <a:r>
              <a:rPr lang="en-US" altLang="en-US" i="1" strike="sngStrike" dirty="0">
                <a:solidFill>
                  <a:srgbClr val="FF0000"/>
                </a:solidFill>
                <a:sym typeface="+mn-ea"/>
              </a:rPr>
              <a:t>sec_id</a:t>
            </a:r>
            <a:r>
              <a:rPr lang="en-US" altLang="en-US" i="1" dirty="0">
                <a:sym typeface="+mn-ea"/>
              </a:rPr>
              <a:t>, semester, year)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And more still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b="1" dirty="0"/>
              <a:t>create table</a:t>
            </a:r>
            <a:r>
              <a:rPr lang="en-US" altLang="en-US" dirty="0"/>
              <a:t> </a:t>
            </a:r>
            <a:r>
              <a:rPr lang="en-US" altLang="en-US" i="1" dirty="0"/>
              <a:t>course</a:t>
            </a:r>
            <a:r>
              <a:rPr lang="en-US" altLang="en-US" dirty="0"/>
              <a:t> (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course_id</a:t>
            </a:r>
            <a:r>
              <a:rPr lang="en-US" altLang="en-US" dirty="0"/>
              <a:t>        </a:t>
            </a:r>
            <a:r>
              <a:rPr lang="en-US" altLang="en-US" b="1" dirty="0"/>
              <a:t>varchar</a:t>
            </a:r>
            <a:r>
              <a:rPr lang="en-US" altLang="en-US" dirty="0"/>
              <a:t>(8),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title</a:t>
            </a:r>
            <a:r>
              <a:rPr lang="en-US" altLang="en-US" dirty="0"/>
              <a:t>                  </a:t>
            </a:r>
            <a:r>
              <a:rPr lang="en-US" altLang="en-US" b="1" dirty="0"/>
              <a:t>varchar(</a:t>
            </a:r>
            <a:r>
              <a:rPr lang="en-US" altLang="en-US" dirty="0"/>
              <a:t>50),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dept_name</a:t>
            </a:r>
            <a:r>
              <a:rPr lang="en-US" altLang="en-US" dirty="0"/>
              <a:t>      </a:t>
            </a:r>
            <a:r>
              <a:rPr lang="en-US" altLang="en-US" b="1" dirty="0"/>
              <a:t>varchar</a:t>
            </a:r>
            <a:r>
              <a:rPr lang="en-US" altLang="en-US" dirty="0"/>
              <a:t>(20),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credits</a:t>
            </a:r>
            <a:r>
              <a:rPr lang="en-US" altLang="en-US" dirty="0"/>
              <a:t>             </a:t>
            </a:r>
            <a:r>
              <a:rPr lang="en-US" altLang="en-US" b="1" dirty="0"/>
              <a:t>numeric</a:t>
            </a:r>
            <a:r>
              <a:rPr lang="en-US" altLang="en-US" dirty="0"/>
              <a:t>(2,0),</a:t>
            </a:r>
            <a:endParaRPr lang="en-US" altLang="en-US" dirty="0"/>
          </a:p>
          <a:p>
            <a:pPr>
              <a:spcBef>
                <a:spcPct val="0"/>
              </a:spcBef>
              <a:buNone/>
            </a:pPr>
            <a:r>
              <a:rPr lang="en-US" altLang="en-US" dirty="0"/>
              <a:t>             </a:t>
            </a:r>
            <a:r>
              <a:rPr lang="en-US" altLang="en-US" b="1" dirty="0"/>
              <a:t>primary key </a:t>
            </a:r>
            <a:r>
              <a:rPr lang="en-US" altLang="en-US" i="1" dirty="0"/>
              <a:t>(course_id),</a:t>
            </a:r>
            <a:endParaRPr lang="en-US" altLang="en-US" i="1" dirty="0"/>
          </a:p>
          <a:p>
            <a:pPr>
              <a:spcBef>
                <a:spcPct val="0"/>
              </a:spcBef>
              <a:buNone/>
            </a:pPr>
            <a:r>
              <a:rPr lang="en-US" altLang="en-US" b="1" dirty="0"/>
              <a:t>     </a:t>
            </a:r>
            <a:r>
              <a:rPr lang="en-US" altLang="en-US" dirty="0"/>
              <a:t>        </a:t>
            </a:r>
            <a:r>
              <a:rPr lang="en-US" altLang="en-US" b="1" dirty="0"/>
              <a:t>foreign key </a:t>
            </a:r>
            <a:r>
              <a:rPr lang="en-US" altLang="en-US" i="1" dirty="0"/>
              <a:t>(dept_name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department</a:t>
            </a:r>
            <a:r>
              <a:rPr lang="en-US" altLang="en-US" dirty="0"/>
              <a:t>);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>
                <a:sym typeface="Tahoma" panose="020B0604030504040204"/>
              </a:rPr>
              <a:t>Foreign Keys</a:t>
            </a:r>
            <a:endParaRPr lang="zh-CN" alt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0" y="1243330"/>
            <a:ext cx="4993005" cy="5182870"/>
          </a:xfrm>
        </p:spPr>
        <p:txBody>
          <a:bodyPr>
            <a:normAutofit fontScale="87500"/>
          </a:bodyPr>
          <a:p>
            <a:pPr lvl="0" latinLnBrk="0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90204" pitchFamily="34" charset="0"/>
              <a:buChar char="•"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CREATE TABLE Sailors (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sz="183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sz="183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INTEGER,   </a:t>
            </a:r>
            <a:endParaRPr lang="en-US" sz="183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sz="183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sname</a:t>
            </a:r>
            <a:r>
              <a:rPr lang="en-US" sz="183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CHAR(20), </a:t>
            </a:r>
            <a:endParaRPr lang="en-US" sz="183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sz="183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rating INTEGER, </a:t>
            </a:r>
            <a:endParaRPr lang="en-US" sz="183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sz="183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age FLOAT</a:t>
            </a:r>
            <a:endParaRPr lang="en-US" sz="183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atinLnBrk="0">
              <a:lnSpc>
                <a:spcPct val="100000"/>
              </a:lnSpc>
              <a:spcBef>
                <a:spcPts val="1800"/>
              </a:spcBef>
              <a:buSzPts val="1800"/>
              <a:buFont typeface="Arial" panose="020B0604020202090204" pitchFamily="34" charset="0"/>
              <a:buChar char="•"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CREATE TABLE Boats (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bid INTEGER,     	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bname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CHAR (20),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color CHAR(10),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latin typeface="Helvetica" pitchFamily="34" charset="0"/>
                <a:ea typeface="Helvetica Neue" panose="02000503000000020004" charset="0"/>
                <a:cs typeface="Helvetica" pitchFamily="34" charset="0"/>
                <a:sym typeface="Tahoma" panose="020B0604030504040204"/>
              </a:rPr>
              <a:t>    PRIMARY KEY (bid));</a:t>
            </a:r>
            <a:endParaRPr lang="en-US" dirty="0">
              <a:latin typeface="Helvetica" pitchFamily="34" charset="0"/>
              <a:ea typeface="Helvetica Neue" panose="02000503000000020004" charset="0"/>
              <a:cs typeface="Helvetica" pitchFamily="34" charset="0"/>
              <a:sym typeface="Tahoma" panose="020B0604030504040204"/>
            </a:endParaRPr>
          </a:p>
          <a:p>
            <a:pPr latinLnBrk="0">
              <a:lnSpc>
                <a:spcPct val="100000"/>
              </a:lnSpc>
              <a:spcBef>
                <a:spcPts val="1800"/>
              </a:spcBef>
              <a:buSzPts val="1800"/>
              <a:buFont typeface="Arial" panose="020B0604020202090204" pitchFamily="34" charset="0"/>
              <a:buChar char="•"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CREATE TABLE Reserves (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sid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INTEGER,     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bid INTEGER,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day DATE,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PRIMARY KEY (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bid, day),</a:t>
            </a:r>
            <a:endParaRPr lang="en-US" b="1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FOREIGN KEY (</a:t>
            </a:r>
            <a:r>
              <a:rPr lang="en-US" b="1" i="1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   REFERENCES Sailors,</a:t>
            </a:r>
            <a:endParaRPr lang="en-US" b="1" i="1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 latinLnBrk="0">
              <a:lnSpc>
                <a:spcPct val="100000"/>
              </a:lnSpc>
              <a:spcBef>
                <a:spcPts val="0"/>
              </a:spcBef>
              <a:buSzPts val="1800"/>
              <a:buNone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</a:t>
            </a:r>
            <a:r>
              <a:rPr lang="en-US" b="1" i="1" dirty="0">
                <a:solidFill>
                  <a:srgbClr val="FF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FOREIGN KEY (bid) REFERENCES Boats</a:t>
            </a: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);</a:t>
            </a:r>
            <a:endParaRPr lang="en-US" b="1" i="1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  <p:graphicFrame>
        <p:nvGraphicFramePr>
          <p:cNvPr id="9" name="Shape 216" descr="A table containing bid, bname, color for many boats" title="Boats"/>
          <p:cNvGraphicFramePr/>
          <p:nvPr>
            <p:custDataLst>
              <p:tags r:id="rId2"/>
            </p:custDataLst>
          </p:nvPr>
        </p:nvGraphicFramePr>
        <p:xfrm>
          <a:off x="5610225" y="2612390"/>
          <a:ext cx="3378200" cy="13411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44550"/>
                <a:gridCol w="1556385"/>
                <a:gridCol w="977265"/>
              </a:tblGrid>
              <a:tr h="33528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sng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sz="16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bname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color</a:t>
                      </a:r>
                      <a:endParaRPr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237234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101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Nina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red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37234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Pinta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blue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37234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103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Santa Maria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red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Shape 198" descr="A table contain sid, sname, rating, age for many sailors" title="Sailors"/>
          <p:cNvGraphicFramePr/>
          <p:nvPr>
            <p:custDataLst>
              <p:tags r:id="rId3"/>
            </p:custDataLst>
          </p:nvPr>
        </p:nvGraphicFramePr>
        <p:xfrm>
          <a:off x="3354070" y="991235"/>
          <a:ext cx="3416376" cy="13411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650729"/>
                <a:gridCol w="1057449"/>
                <a:gridCol w="854099"/>
                <a:gridCol w="854099"/>
              </a:tblGrid>
              <a:tr h="305508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sng" strike="noStrike" cap="none" dirty="0" err="1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600" b="1" i="0" u="sng" strike="noStrike" cap="none" dirty="0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600" b="1" i="0" u="none" strike="noStrike" cap="none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224046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7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24046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Jim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24046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Nancy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8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Shape 226" descr="A table with information about the sid, bid, and day for many boat reservations" title="Reservations Table"/>
          <p:cNvGraphicFramePr/>
          <p:nvPr>
            <p:custDataLst>
              <p:tags r:id="rId4"/>
            </p:custDataLst>
          </p:nvPr>
        </p:nvGraphicFramePr>
        <p:xfrm>
          <a:off x="3597680" y="4295288"/>
          <a:ext cx="3650925" cy="91443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216975"/>
                <a:gridCol w="1216975"/>
                <a:gridCol w="1216975"/>
              </a:tblGrid>
              <a:tr h="30480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1" i="0" u="sng" strike="noStrike" cap="none" dirty="0" err="1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400" b="1" i="0" u="sng" strike="noStrike" cap="none" dirty="0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1" i="0" u="sng" strike="noStrike" cap="none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1" i="0" u="sng" strike="noStrike" cap="none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day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266457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400"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9/12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66457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40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9/13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cxnSp>
        <p:nvCxnSpPr>
          <p:cNvPr id="17" name="Shape 253" descr="An arrow connecting the bid field in the reserves table to the primary key bid in the boats table" title="Bid match"/>
          <p:cNvCxnSpPr/>
          <p:nvPr>
            <p:custDataLst>
              <p:tags r:id="rId5"/>
            </p:custDataLst>
          </p:nvPr>
        </p:nvCxnSpPr>
        <p:spPr>
          <a:xfrm rot="16200000">
            <a:off x="4598670" y="3350895"/>
            <a:ext cx="1572895" cy="45212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Shape 253" descr="An arrow connecting the sid field in the reserves table to the primary key sid in the sailors table" title="sid match"/>
          <p:cNvCxnSpPr/>
          <p:nvPr>
            <p:custDataLst>
              <p:tags r:id="rId6"/>
            </p:custDataLst>
          </p:nvPr>
        </p:nvCxnSpPr>
        <p:spPr>
          <a:xfrm rot="16200000" flipV="1">
            <a:off x="2520845" y="2544073"/>
            <a:ext cx="3090672" cy="375545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Updates to tables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739775" y="1022350"/>
            <a:ext cx="7859395" cy="5159375"/>
          </a:xfrm>
        </p:spPr>
        <p:txBody>
          <a:bodyPr vert="horz" wrap="square" lIns="91440" tIns="45720" rIns="91440" bIns="45720" anchor="t" anchorCtr="0"/>
          <a:p>
            <a:pPr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Table </a:t>
            </a:r>
            <a:r>
              <a:rPr lang="en-US" altLang="en-US" b="1" dirty="0">
                <a:solidFill>
                  <a:srgbClr val="000099"/>
                </a:solidFill>
              </a:rPr>
              <a:t>shema</a:t>
            </a:r>
            <a:endParaRPr lang="en-US" altLang="en-US" b="1" dirty="0">
              <a:solidFill>
                <a:srgbClr val="000099"/>
              </a:solidFill>
            </a:endParaRPr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latin typeface="Helvetica" pitchFamily="34" charset="0"/>
                <a:sym typeface="+mn-ea"/>
              </a:rPr>
              <a:t>create table</a:t>
            </a:r>
            <a:r>
              <a:rPr lang="en-US" altLang="en-US" dirty="0">
                <a:latin typeface="Helvetica" pitchFamily="34" charset="0"/>
                <a:sym typeface="+mn-ea"/>
              </a:rPr>
              <a:t> </a:t>
            </a:r>
            <a:r>
              <a:rPr lang="en-US" altLang="en-US" i="1" dirty="0">
                <a:latin typeface="Helvetica" pitchFamily="34" charset="0"/>
                <a:sym typeface="+mn-ea"/>
              </a:rPr>
              <a:t>instructor</a:t>
            </a:r>
            <a:r>
              <a:rPr lang="en-US" altLang="en-US" dirty="0">
                <a:latin typeface="Helvetica" pitchFamily="34" charset="0"/>
                <a:sym typeface="+mn-ea"/>
              </a:rPr>
              <a:t> (</a:t>
            </a:r>
            <a:br>
              <a:rPr lang="en-US" altLang="en-US" dirty="0">
                <a:latin typeface="Helvetica" pitchFamily="34" charset="0"/>
                <a:sym typeface="+mn-ea"/>
              </a:rPr>
            </a:br>
            <a:r>
              <a:rPr lang="en-US" altLang="en-US" dirty="0">
                <a:latin typeface="Helvetica" pitchFamily="34" charset="0"/>
                <a:sym typeface="+mn-ea"/>
              </a:rPr>
              <a:t>                             </a:t>
            </a:r>
            <a:r>
              <a:rPr lang="en-US" altLang="en-US" i="1" dirty="0">
                <a:latin typeface="Helvetica" pitchFamily="34" charset="0"/>
                <a:sym typeface="+mn-ea"/>
              </a:rPr>
              <a:t>ID</a:t>
            </a:r>
            <a:r>
              <a:rPr lang="en-US" altLang="en-US" dirty="0">
                <a:latin typeface="Helvetica" pitchFamily="34" charset="0"/>
                <a:sym typeface="+mn-ea"/>
              </a:rPr>
              <a:t>                </a:t>
            </a:r>
            <a:r>
              <a:rPr lang="en-US" altLang="en-US" b="1" dirty="0">
                <a:latin typeface="Helvetica" pitchFamily="34" charset="0"/>
                <a:sym typeface="+mn-ea"/>
              </a:rPr>
              <a:t>char</a:t>
            </a:r>
            <a:r>
              <a:rPr lang="en-US" altLang="en-US" dirty="0">
                <a:latin typeface="Helvetica" pitchFamily="34" charset="0"/>
                <a:sym typeface="+mn-ea"/>
              </a:rPr>
              <a:t>(5),</a:t>
            </a:r>
            <a:br>
              <a:rPr lang="en-US" altLang="en-US" dirty="0">
                <a:latin typeface="Helvetica" pitchFamily="34" charset="0"/>
                <a:sym typeface="+mn-ea"/>
              </a:rPr>
            </a:br>
            <a:r>
              <a:rPr lang="en-US" altLang="en-US" dirty="0">
                <a:latin typeface="Helvetica" pitchFamily="34" charset="0"/>
                <a:sym typeface="+mn-ea"/>
              </a:rPr>
              <a:t>                             </a:t>
            </a:r>
            <a:r>
              <a:rPr lang="en-US" altLang="en-US" i="1" dirty="0">
                <a:latin typeface="Helvetica" pitchFamily="34" charset="0"/>
                <a:sym typeface="+mn-ea"/>
              </a:rPr>
              <a:t>name           </a:t>
            </a:r>
            <a:r>
              <a:rPr lang="en-US" altLang="en-US" b="1" dirty="0">
                <a:latin typeface="Helvetica" pitchFamily="34" charset="0"/>
                <a:sym typeface="+mn-ea"/>
              </a:rPr>
              <a:t>varchar</a:t>
            </a:r>
            <a:r>
              <a:rPr lang="en-US" altLang="en-US" dirty="0">
                <a:latin typeface="Helvetica" pitchFamily="34" charset="0"/>
                <a:sym typeface="+mn-ea"/>
              </a:rPr>
              <a:t>(20) </a:t>
            </a:r>
            <a:r>
              <a:rPr lang="en-US" altLang="en-US" b="1" dirty="0">
                <a:latin typeface="Helvetica" pitchFamily="34" charset="0"/>
                <a:sym typeface="+mn-ea"/>
              </a:rPr>
              <a:t>not null,</a:t>
            </a:r>
            <a:br>
              <a:rPr lang="en-US" altLang="en-US" b="1" i="1" dirty="0">
                <a:latin typeface="Helvetica" pitchFamily="34" charset="0"/>
                <a:sym typeface="+mn-ea"/>
              </a:rPr>
            </a:br>
            <a:r>
              <a:rPr lang="en-US" altLang="en-US" b="1" i="1" dirty="0">
                <a:latin typeface="Helvetica" pitchFamily="34" charset="0"/>
                <a:sym typeface="+mn-ea"/>
              </a:rPr>
              <a:t>                             </a:t>
            </a:r>
            <a:r>
              <a:rPr lang="en-US" altLang="en-US" i="1" dirty="0">
                <a:latin typeface="Helvetica" pitchFamily="34" charset="0"/>
                <a:sym typeface="+mn-ea"/>
              </a:rPr>
              <a:t>dept_name  </a:t>
            </a:r>
            <a:r>
              <a:rPr lang="en-US" altLang="en-US" b="1" dirty="0">
                <a:latin typeface="Helvetica" pitchFamily="34" charset="0"/>
                <a:sym typeface="+mn-ea"/>
              </a:rPr>
              <a:t>varchar</a:t>
            </a:r>
            <a:r>
              <a:rPr lang="en-US" altLang="en-US" dirty="0">
                <a:latin typeface="Helvetica" pitchFamily="34" charset="0"/>
                <a:sym typeface="+mn-ea"/>
              </a:rPr>
              <a:t>(20),</a:t>
            </a:r>
            <a:br>
              <a:rPr lang="en-US" altLang="en-US" dirty="0">
                <a:latin typeface="Helvetica" pitchFamily="34" charset="0"/>
                <a:sym typeface="+mn-ea"/>
              </a:rPr>
            </a:br>
            <a:r>
              <a:rPr lang="en-US" altLang="en-US" dirty="0">
                <a:latin typeface="Helvetica" pitchFamily="34" charset="0"/>
                <a:sym typeface="+mn-ea"/>
              </a:rPr>
              <a:t>                             </a:t>
            </a:r>
            <a:r>
              <a:rPr lang="en-US" altLang="en-US" i="1" dirty="0">
                <a:latin typeface="Helvetica" pitchFamily="34" charset="0"/>
                <a:sym typeface="+mn-ea"/>
              </a:rPr>
              <a:t>salary</a:t>
            </a:r>
            <a:r>
              <a:rPr lang="en-US" altLang="en-US" dirty="0">
                <a:latin typeface="Helvetica" pitchFamily="34" charset="0"/>
                <a:sym typeface="+mn-ea"/>
              </a:rPr>
              <a:t>           </a:t>
            </a:r>
            <a:r>
              <a:rPr lang="en-US" altLang="en-US" b="1" dirty="0">
                <a:latin typeface="Helvetica" pitchFamily="34" charset="0"/>
                <a:sym typeface="+mn-ea"/>
              </a:rPr>
              <a:t>numeric</a:t>
            </a:r>
            <a:r>
              <a:rPr lang="en-US" altLang="en-US" dirty="0">
                <a:latin typeface="Helvetica" pitchFamily="34" charset="0"/>
                <a:sym typeface="+mn-ea"/>
              </a:rPr>
              <a:t>(8,2),</a:t>
            </a:r>
            <a:br>
              <a:rPr lang="en-US" altLang="en-US" dirty="0">
                <a:latin typeface="Helvetica" pitchFamily="34" charset="0"/>
                <a:sym typeface="+mn-ea"/>
              </a:rPr>
            </a:br>
            <a:r>
              <a:rPr lang="en-US" altLang="en-US" dirty="0">
                <a:latin typeface="Helvetica" pitchFamily="34" charset="0"/>
                <a:sym typeface="+mn-ea"/>
              </a:rPr>
              <a:t>                             </a:t>
            </a:r>
            <a:r>
              <a:rPr lang="en-US" altLang="en-US" b="1" dirty="0">
                <a:latin typeface="Helvetica" pitchFamily="34" charset="0"/>
                <a:sym typeface="+mn-ea"/>
              </a:rPr>
              <a:t>primary key </a:t>
            </a:r>
            <a:r>
              <a:rPr lang="en-US" altLang="en-US" dirty="0">
                <a:latin typeface="Helvetica" pitchFamily="34" charset="0"/>
                <a:sym typeface="+mn-ea"/>
              </a:rPr>
              <a:t>(</a:t>
            </a:r>
            <a:r>
              <a:rPr lang="en-US" altLang="en-US" i="1" dirty="0">
                <a:latin typeface="Helvetica" pitchFamily="34" charset="0"/>
                <a:sym typeface="+mn-ea"/>
              </a:rPr>
              <a:t>ID</a:t>
            </a:r>
            <a:r>
              <a:rPr lang="en-US" altLang="en-US" dirty="0">
                <a:latin typeface="Helvetica" pitchFamily="34" charset="0"/>
                <a:sym typeface="+mn-ea"/>
              </a:rPr>
              <a:t>),</a:t>
            </a:r>
            <a:br>
              <a:rPr lang="en-US" altLang="en-US" dirty="0">
                <a:latin typeface="Helvetica" pitchFamily="34" charset="0"/>
                <a:sym typeface="+mn-ea"/>
              </a:rPr>
            </a:br>
            <a:r>
              <a:rPr lang="en-US" altLang="en-US" dirty="0">
                <a:latin typeface="Helvetica" pitchFamily="34" charset="0"/>
                <a:sym typeface="+mn-ea"/>
              </a:rPr>
              <a:t>                             </a:t>
            </a:r>
            <a:r>
              <a:rPr lang="en-US" altLang="en-US" b="1" dirty="0">
                <a:latin typeface="Helvetica" pitchFamily="34" charset="0"/>
                <a:sym typeface="+mn-ea"/>
              </a:rPr>
              <a:t>foreign key </a:t>
            </a:r>
            <a:r>
              <a:rPr lang="en-US" altLang="en-US" i="1" dirty="0">
                <a:latin typeface="Helvetica" pitchFamily="34" charset="0"/>
                <a:sym typeface="+mn-ea"/>
              </a:rPr>
              <a:t>(dept_name</a:t>
            </a:r>
            <a:r>
              <a:rPr lang="en-US" altLang="en-US" dirty="0">
                <a:latin typeface="Helvetica" pitchFamily="34" charset="0"/>
                <a:sym typeface="+mn-ea"/>
              </a:rPr>
              <a:t>) </a:t>
            </a:r>
            <a:r>
              <a:rPr lang="en-US" altLang="en-US" b="1" dirty="0">
                <a:latin typeface="Helvetica" pitchFamily="34" charset="0"/>
                <a:sym typeface="+mn-ea"/>
              </a:rPr>
              <a:t>references </a:t>
            </a:r>
            <a:r>
              <a:rPr lang="en-US" altLang="en-US" i="1" dirty="0">
                <a:latin typeface="Helvetica" pitchFamily="34" charset="0"/>
                <a:sym typeface="+mn-ea"/>
              </a:rPr>
              <a:t>department);</a:t>
            </a:r>
            <a:endParaRPr lang="en-US" altLang="en-US" i="1" dirty="0">
              <a:latin typeface="Helvetica" pitchFamily="34" charset="0"/>
            </a:endParaRPr>
          </a:p>
          <a:p>
            <a:pPr defTabSz="914400">
              <a:lnSpc>
                <a:spcPct val="90000"/>
              </a:lnSpc>
              <a:tabLst>
                <a:tab pos="2232025" algn="l"/>
              </a:tabLst>
            </a:pPr>
            <a:endParaRPr lang="en-US" altLang="en-US" b="1" dirty="0">
              <a:solidFill>
                <a:srgbClr val="000099"/>
              </a:solidFill>
            </a:endParaRPr>
          </a:p>
          <a:p>
            <a:pPr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Insert  </a:t>
            </a:r>
            <a:endParaRPr lang="en-US" altLang="en-US" dirty="0"/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/>
              <a:t>insert into </a:t>
            </a:r>
            <a:r>
              <a:rPr lang="en-US" altLang="en-US" i="1" dirty="0"/>
              <a:t>instructor </a:t>
            </a:r>
            <a:r>
              <a:rPr lang="en-US" altLang="en-US" b="1" dirty="0"/>
              <a:t>values </a:t>
            </a:r>
            <a:r>
              <a:rPr lang="en-US" altLang="en-US" dirty="0"/>
              <a:t>(‘10211’, ’Smith’, ’Biology’, 66000);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Updates to tables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739775" y="942340"/>
            <a:ext cx="7385050" cy="5159375"/>
          </a:xfrm>
        </p:spPr>
        <p:txBody>
          <a:bodyPr vert="horz" wrap="square" lIns="91440" tIns="45720" rIns="91440" bIns="45720" anchor="t" anchorCtr="0"/>
          <a:p>
            <a:pPr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Delete </a:t>
            </a:r>
            <a:endParaRPr lang="en-US" altLang="en-US" b="1" dirty="0">
              <a:solidFill>
                <a:srgbClr val="000099"/>
              </a:solidFill>
            </a:endParaRPr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/>
              <a:t>delete from </a:t>
            </a:r>
            <a:r>
              <a:rPr lang="en-US" altLang="en-US" i="1" dirty="0"/>
              <a:t>student ;</a:t>
            </a:r>
            <a:endParaRPr lang="en-US" altLang="en-US" i="1" dirty="0"/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ym typeface="+mn-ea"/>
              </a:rPr>
              <a:t>delete from </a:t>
            </a:r>
            <a:r>
              <a:rPr lang="en-US" altLang="en-US" i="1" dirty="0">
                <a:sym typeface="+mn-ea"/>
              </a:rPr>
              <a:t>student  where id=</a:t>
            </a:r>
            <a:r>
              <a:rPr lang="zh-CN" altLang="en-US" i="1" dirty="0">
                <a:ea typeface="宋体" charset="0"/>
                <a:sym typeface="+mn-ea"/>
              </a:rPr>
              <a:t>’</a:t>
            </a:r>
            <a:r>
              <a:rPr lang="en-US" altLang="zh-CN" i="1" dirty="0">
                <a:ea typeface="宋体" charset="0"/>
                <a:sym typeface="+mn-ea"/>
              </a:rPr>
              <a:t>1</a:t>
            </a:r>
            <a:r>
              <a:rPr lang="zh-CN" altLang="en-US" i="1" dirty="0">
                <a:ea typeface="宋体" charset="0"/>
                <a:sym typeface="+mn-ea"/>
              </a:rPr>
              <a:t>’</a:t>
            </a:r>
            <a:r>
              <a:rPr lang="en-US" altLang="zh-CN" i="1" dirty="0">
                <a:ea typeface="宋体" charset="0"/>
                <a:sym typeface="+mn-ea"/>
              </a:rPr>
              <a:t>;</a:t>
            </a:r>
            <a:endParaRPr lang="en-US" altLang="zh-CN" i="1" dirty="0">
              <a:ea typeface="宋体" charset="0"/>
              <a:sym typeface="+mn-ea"/>
            </a:endParaRPr>
          </a:p>
          <a:p>
            <a:pPr marL="857250" lvl="2" indent="0" defTabSz="914400">
              <a:lnSpc>
                <a:spcPct val="90000"/>
              </a:lnSpc>
              <a:buNone/>
              <a:tabLst>
                <a:tab pos="2232025" algn="l"/>
              </a:tabLst>
            </a:pPr>
            <a:endParaRPr lang="en-US" altLang="en-US" i="1" dirty="0"/>
          </a:p>
          <a:p>
            <a:pPr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Drop/Truncate Table</a:t>
            </a:r>
            <a:endParaRPr lang="en-US" altLang="en-US" b="1" dirty="0">
              <a:solidFill>
                <a:srgbClr val="000099"/>
              </a:solidFill>
            </a:endParaRPr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/>
              <a:t>drop table </a:t>
            </a:r>
            <a:r>
              <a:rPr lang="en-US" altLang="en-US" i="1" dirty="0"/>
              <a:t>r;</a:t>
            </a:r>
            <a:endParaRPr lang="en-US" altLang="en-US" i="1" dirty="0"/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ym typeface="+mn-ea"/>
              </a:rPr>
              <a:t>truncate table </a:t>
            </a:r>
            <a:r>
              <a:rPr lang="en-US" altLang="en-US" i="1" dirty="0">
                <a:sym typeface="+mn-ea"/>
              </a:rPr>
              <a:t>r;</a:t>
            </a:r>
            <a:endParaRPr lang="en-US" altLang="en-US" i="1" dirty="0"/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endParaRPr lang="en-US" altLang="en-US" i="1" dirty="0"/>
          </a:p>
          <a:p>
            <a:pPr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Alter </a:t>
            </a:r>
            <a:r>
              <a:rPr lang="en-US" altLang="en-US" dirty="0"/>
              <a:t> </a:t>
            </a:r>
            <a:endParaRPr lang="en-US" altLang="en-US" dirty="0"/>
          </a:p>
          <a:p>
            <a:pPr lvl="1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/>
              <a:t>alter table </a:t>
            </a:r>
            <a:r>
              <a:rPr lang="en-US" altLang="en-US" i="1" dirty="0"/>
              <a:t>r </a:t>
            </a:r>
            <a:r>
              <a:rPr lang="en-US" altLang="en-US" b="1" dirty="0"/>
              <a:t>add </a:t>
            </a:r>
            <a:r>
              <a:rPr lang="en-US" altLang="en-US" i="1" dirty="0"/>
              <a:t>A D</a:t>
            </a:r>
            <a:endParaRPr lang="en-US" altLang="en-US" i="1" dirty="0"/>
          </a:p>
          <a:p>
            <a:pPr lvl="2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i="1" dirty="0"/>
              <a:t> </a:t>
            </a:r>
            <a:r>
              <a:rPr lang="en-US" altLang="en-US" dirty="0"/>
              <a:t>where </a:t>
            </a:r>
            <a:r>
              <a:rPr lang="en-US" altLang="en-US" i="1" dirty="0"/>
              <a:t>A</a:t>
            </a:r>
            <a:r>
              <a:rPr lang="en-US" altLang="en-US" dirty="0"/>
              <a:t> is the name of the attribute to be added to relation </a:t>
            </a:r>
            <a:r>
              <a:rPr lang="en-US" altLang="en-US" i="1" dirty="0"/>
              <a:t>r </a:t>
            </a:r>
            <a:r>
              <a:rPr lang="en-US" altLang="en-US" dirty="0"/>
              <a:t> and </a:t>
            </a:r>
            <a:r>
              <a:rPr lang="en-US" altLang="en-US" i="1" dirty="0"/>
              <a:t>D</a:t>
            </a:r>
            <a:r>
              <a:rPr lang="en-US" altLang="en-US" dirty="0"/>
              <a:t> is the domain of </a:t>
            </a:r>
            <a:r>
              <a:rPr lang="en-US" altLang="en-US" i="1" dirty="0"/>
              <a:t>A.</a:t>
            </a:r>
            <a:endParaRPr lang="en-US" altLang="en-US" dirty="0"/>
          </a:p>
          <a:p>
            <a:pPr lvl="2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dirty="0"/>
              <a:t>All exiting tuples in the relation are </a:t>
            </a:r>
            <a:r>
              <a:rPr lang="en-US" altLang="en-US" dirty="0">
                <a:solidFill>
                  <a:srgbClr val="FF0000"/>
                </a:solidFill>
              </a:rPr>
              <a:t>assigned </a:t>
            </a:r>
            <a:r>
              <a:rPr lang="en-US" altLang="en-US" i="1" dirty="0">
                <a:solidFill>
                  <a:srgbClr val="FF0000"/>
                </a:solidFill>
              </a:rPr>
              <a:t>null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as the value for the new attribute.  </a:t>
            </a:r>
            <a:endParaRPr lang="en-US" altLang="en-US" dirty="0"/>
          </a:p>
          <a:p>
            <a:pPr lvl="1" defTabSz="914400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b="1" dirty="0"/>
              <a:t>alter table </a:t>
            </a:r>
            <a:r>
              <a:rPr lang="en-US" altLang="en-US" i="1" dirty="0"/>
              <a:t>r</a:t>
            </a:r>
            <a:r>
              <a:rPr lang="en-US" altLang="en-US" b="1" dirty="0"/>
              <a:t> drop</a:t>
            </a:r>
            <a:r>
              <a:rPr lang="en-US" altLang="en-US" i="1" dirty="0"/>
              <a:t> A     </a:t>
            </a:r>
            <a:endParaRPr lang="en-US" altLang="en-US" i="1" dirty="0"/>
          </a:p>
          <a:p>
            <a:pPr lvl="2" defTabSz="914400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dirty="0"/>
              <a:t>where </a:t>
            </a:r>
            <a:r>
              <a:rPr lang="en-US" altLang="en-US" i="1" dirty="0"/>
              <a:t>A</a:t>
            </a:r>
            <a:r>
              <a:rPr lang="en-US" altLang="en-US" dirty="0"/>
              <a:t> is the name of an attribute of relation</a:t>
            </a:r>
            <a:r>
              <a:rPr lang="en-US" altLang="en-US" i="1" dirty="0"/>
              <a:t> r</a:t>
            </a:r>
            <a:endParaRPr lang="en-US" altLang="en-US" i="1" dirty="0"/>
          </a:p>
          <a:p>
            <a:pPr lvl="2" defTabSz="91440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dirty="0"/>
              <a:t>Dropping of attributes not supported by many databases.</a:t>
            </a: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Basic Query Structure 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640638" cy="4881562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A typical SQL query has the form: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select 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P</a:t>
            </a:r>
            <a:br>
              <a:rPr lang="en-US" altLang="en-US" i="1" dirty="0"/>
            </a:b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i="1" dirty="0"/>
              <a:t>A</a:t>
            </a:r>
            <a:r>
              <a:rPr lang="en-US" altLang="en-US" i="1" baseline="-25000" dirty="0"/>
              <a:t>i </a:t>
            </a:r>
            <a:r>
              <a:rPr lang="en-US" altLang="en-US" dirty="0"/>
              <a:t>represents an attribute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i="1" dirty="0"/>
              <a:t>R</a:t>
            </a:r>
            <a:r>
              <a:rPr lang="en-US" altLang="en-US" i="1" baseline="-25000" dirty="0"/>
              <a:t>i </a:t>
            </a:r>
            <a:r>
              <a:rPr lang="en-US" altLang="en-US" dirty="0"/>
              <a:t>represents a relation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i="1" dirty="0"/>
              <a:t>P</a:t>
            </a:r>
            <a:r>
              <a:rPr lang="en-US" altLang="en-US" dirty="0"/>
              <a:t> is a predicate.</a:t>
            </a:r>
            <a:endParaRPr lang="en-US" altLang="en-US" dirty="0"/>
          </a:p>
          <a:p>
            <a:pPr defTabSz="914400"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The result of an SQL query is a relation.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8066088" cy="5165725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The </a:t>
            </a:r>
            <a:r>
              <a:rPr lang="en-US" altLang="en-US" b="1" dirty="0"/>
              <a:t>select</a:t>
            </a:r>
            <a:r>
              <a:rPr lang="en-US" altLang="en-US" dirty="0"/>
              <a:t> clause lists the attributes desired in the result of a query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dirty="0"/>
              <a:t>corresponds to the projection operation of the relational algebra</a:t>
            </a:r>
            <a:endParaRPr lang="en-US" altLang="en-US" dirty="0"/>
          </a:p>
          <a:p>
            <a:pPr defTabSz="914400">
              <a:lnSpc>
                <a:spcPct val="110000"/>
              </a:lnSpc>
              <a:tabLst>
                <a:tab pos="2056130" algn="l"/>
              </a:tabLst>
            </a:pPr>
            <a:endParaRPr lang="en-US" altLang="en-US" dirty="0"/>
          </a:p>
          <a:p>
            <a:pPr defTabSz="914400">
              <a:lnSpc>
                <a:spcPct val="110000"/>
              </a:lnSpc>
              <a:tabLst>
                <a:tab pos="2056130" algn="l"/>
              </a:tabLst>
            </a:pPr>
            <a:r>
              <a:rPr lang="en-US" altLang="en-US" dirty="0"/>
              <a:t>Example: find the names of all instructors: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select </a:t>
            </a:r>
            <a:r>
              <a:rPr lang="en-US" altLang="en-US" i="1" dirty="0"/>
              <a:t>name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defTabSz="914400"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b="1" dirty="0">
                <a:latin typeface="Helvetica Bold" charset="0"/>
                <a:cs typeface="Helvetica Bold" charset="0"/>
              </a:rPr>
              <a:t>NOTE: </a:t>
            </a:r>
            <a:r>
              <a:rPr lang="en-US" altLang="en-US" dirty="0"/>
              <a:t> SQL names are case </a:t>
            </a:r>
            <a:r>
              <a:rPr lang="en-US" altLang="en-US" b="1" dirty="0">
                <a:latin typeface="Helvetica Bold" charset="0"/>
                <a:cs typeface="Helvetica Bold" charset="0"/>
              </a:rPr>
              <a:t>insensitive</a:t>
            </a:r>
            <a:r>
              <a:rPr lang="en-US" altLang="en-US" dirty="0"/>
              <a:t> 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dirty="0"/>
              <a:t>E.g.,  </a:t>
            </a:r>
            <a:r>
              <a:rPr lang="en-US" altLang="en-US" i="1" dirty="0"/>
              <a:t>Name</a:t>
            </a:r>
            <a:r>
              <a:rPr lang="en-US" altLang="en-US" dirty="0"/>
              <a:t> ≡ </a:t>
            </a:r>
            <a:r>
              <a:rPr lang="en-US" altLang="en-US" i="1" dirty="0"/>
              <a:t>NAME</a:t>
            </a:r>
            <a:r>
              <a:rPr lang="en-US" altLang="en-US" dirty="0"/>
              <a:t> ≡ </a:t>
            </a:r>
            <a:r>
              <a:rPr lang="en-US" altLang="en-US" i="1" dirty="0"/>
              <a:t>name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475538" cy="4876800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SQL allows duplicates in relations as well as in query results.</a:t>
            </a:r>
            <a:endParaRPr lang="en-US" altLang="en-US" dirty="0"/>
          </a:p>
          <a:p>
            <a:pPr defTabSz="914400"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To force the elimination of duplicates, insert the keyword </a:t>
            </a:r>
            <a:r>
              <a:rPr lang="en-US" altLang="en-US" b="1" dirty="0">
                <a:solidFill>
                  <a:srgbClr val="000099"/>
                </a:solidFill>
              </a:rPr>
              <a:t>distinct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after select</a:t>
            </a:r>
            <a:r>
              <a:rPr lang="en-US" altLang="en-US" b="1" dirty="0"/>
              <a:t>.</a:t>
            </a:r>
            <a:endParaRPr lang="en-US" altLang="en-US" b="1" dirty="0"/>
          </a:p>
          <a:p>
            <a:pPr defTabSz="914400"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Find the department names of all instructors, and remove duplicates</a:t>
            </a:r>
            <a:endParaRPr lang="en-US" altLang="en-US" dirty="0"/>
          </a:p>
          <a:p>
            <a:pPr defTabSz="914400">
              <a:buNone/>
              <a:tabLst>
                <a:tab pos="205613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distinct </a:t>
            </a:r>
            <a:r>
              <a:rPr lang="en-US" altLang="en-US" i="1" dirty="0"/>
              <a:t>dept_name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defTabSz="914400"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The keyword </a:t>
            </a:r>
            <a:r>
              <a:rPr lang="en-US" altLang="en-US" b="1" dirty="0"/>
              <a:t>all </a:t>
            </a:r>
            <a:r>
              <a:rPr lang="en-US" altLang="en-US" dirty="0"/>
              <a:t>specifies that duplicates should not be removed.</a:t>
            </a:r>
            <a:br>
              <a:rPr lang="en-US" altLang="en-US" dirty="0"/>
            </a:br>
            <a:endParaRPr lang="en-US" altLang="en-US" dirty="0"/>
          </a:p>
          <a:p>
            <a:pPr defTabSz="914400">
              <a:buNone/>
              <a:tabLst>
                <a:tab pos="205613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all</a:t>
            </a:r>
            <a:r>
              <a:rPr lang="en-US" altLang="en-US" dirty="0"/>
              <a:t> </a:t>
            </a:r>
            <a:r>
              <a:rPr lang="en-US" altLang="en-US" i="1" dirty="0"/>
              <a:t>dept_name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8072438" cy="5178425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An asterisk in the select clause denotes “all attributes”</a:t>
            </a:r>
            <a:endParaRPr lang="en-US" altLang="en-US" dirty="0"/>
          </a:p>
          <a:p>
            <a:pPr defTabSz="914400">
              <a:buNone/>
              <a:tabLst>
                <a:tab pos="2056130" algn="l"/>
              </a:tabLst>
            </a:pPr>
            <a:r>
              <a:rPr lang="en-US" altLang="en-US" b="1" dirty="0"/>
              <a:t>			select </a:t>
            </a:r>
            <a:r>
              <a:rPr lang="en-US" altLang="en-US" dirty="0"/>
              <a:t>*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defTabSz="914400"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An attribute can be a literal  with  no </a:t>
            </a:r>
            <a:r>
              <a:rPr lang="en-US" altLang="en-US" b="1" dirty="0"/>
              <a:t>from  </a:t>
            </a:r>
            <a:r>
              <a:rPr lang="en-US" altLang="en-US" dirty="0"/>
              <a:t>clause</a:t>
            </a:r>
            <a:endParaRPr lang="en-US" altLang="en-US" dirty="0"/>
          </a:p>
          <a:p>
            <a:pPr defTabSz="914400">
              <a:buNone/>
              <a:tabLst>
                <a:tab pos="2056130" algn="l"/>
              </a:tabLst>
            </a:pPr>
            <a:r>
              <a:rPr lang="en-US" altLang="en-US" b="1" dirty="0"/>
              <a:t>			select  </a:t>
            </a:r>
            <a:r>
              <a:rPr lang="en-US" altLang="en-US" dirty="0"/>
              <a:t>‘437’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dirty="0"/>
              <a:t>Results is a table with one column and a single row with value “437”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dirty="0"/>
              <a:t>Can give the column a name using:</a:t>
            </a:r>
            <a:endParaRPr lang="en-US" altLang="en-US" dirty="0"/>
          </a:p>
          <a:p>
            <a:pPr lvl="1" defTabSz="914400">
              <a:buNone/>
              <a:tabLst>
                <a:tab pos="2056130" algn="l"/>
              </a:tabLst>
            </a:pPr>
            <a:r>
              <a:rPr lang="en-US" altLang="en-US" dirty="0"/>
              <a:t>                    </a:t>
            </a:r>
            <a:r>
              <a:rPr lang="en-US" altLang="en-US" b="1" dirty="0"/>
              <a:t>select </a:t>
            </a:r>
            <a:r>
              <a:rPr lang="en-US" altLang="en-US" dirty="0"/>
              <a:t>‘437’ </a:t>
            </a:r>
            <a:r>
              <a:rPr lang="en-US" altLang="en-US" b="1" dirty="0"/>
              <a:t>as </a:t>
            </a:r>
            <a:r>
              <a:rPr lang="en-US" altLang="en-US" i="1" dirty="0"/>
              <a:t>FOO</a:t>
            </a:r>
            <a:r>
              <a:rPr lang="en-US" altLang="en-US" dirty="0"/>
              <a:t>	</a:t>
            </a:r>
            <a:endParaRPr lang="en-US" altLang="en-US" i="1" dirty="0"/>
          </a:p>
          <a:p>
            <a:pPr defTabSz="914400"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An attribute can be a literal with </a:t>
            </a:r>
            <a:r>
              <a:rPr lang="en-US" altLang="en-US" b="1" dirty="0"/>
              <a:t>from  </a:t>
            </a:r>
            <a:r>
              <a:rPr lang="en-US" altLang="en-US" dirty="0"/>
              <a:t>clause</a:t>
            </a:r>
            <a:endParaRPr lang="en-US" altLang="en-US" dirty="0"/>
          </a:p>
          <a:p>
            <a:pPr defTabSz="914400">
              <a:buNone/>
              <a:tabLst>
                <a:tab pos="2056130" algn="l"/>
              </a:tabLst>
            </a:pPr>
            <a:r>
              <a:rPr lang="en-US" altLang="en-US" b="1" dirty="0"/>
              <a:t>			select  </a:t>
            </a:r>
            <a:r>
              <a:rPr lang="en-US" altLang="en-US" dirty="0"/>
              <a:t>‘A’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dirty="0"/>
              <a:t>Result is a table with one column and </a:t>
            </a:r>
            <a:r>
              <a:rPr lang="en-US" altLang="en-US" i="1" dirty="0">
                <a:solidFill>
                  <a:srgbClr val="FF0000"/>
                </a:solidFill>
              </a:rPr>
              <a:t>N</a:t>
            </a:r>
            <a:r>
              <a:rPr lang="en-US" altLang="en-US" dirty="0">
                <a:solidFill>
                  <a:srgbClr val="FF0000"/>
                </a:solidFill>
              </a:rPr>
              <a:t> rows</a:t>
            </a:r>
            <a:r>
              <a:rPr lang="en-US" altLang="en-US" dirty="0"/>
              <a:t> (number of tuples in the </a:t>
            </a:r>
            <a:r>
              <a:rPr lang="en-US" altLang="en-US" i="1" dirty="0"/>
              <a:t>instructors</a:t>
            </a:r>
            <a:r>
              <a:rPr lang="en-US" altLang="en-US" dirty="0"/>
              <a:t> table), each row with value “A”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39075" cy="5178425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select</a:t>
            </a:r>
            <a:r>
              <a:rPr lang="en-US" altLang="en-US" dirty="0"/>
              <a:t> clause can contain arithmetic expressions involving the operation, +, –, </a:t>
            </a:r>
            <a:r>
              <a:rPr lang="en-US" altLang="en-US" dirty="0">
                <a:latin typeface="Symbol" charset="2"/>
              </a:rPr>
              <a:t></a:t>
            </a:r>
            <a:r>
              <a:rPr lang="en-US" altLang="en-US" dirty="0"/>
              <a:t>, and /, and operating on constants or attributes of tuples.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endParaRPr lang="en-US" altLang="en-US" dirty="0"/>
          </a:p>
          <a:p>
            <a:pPr lvl="0" defTabSz="914400">
              <a:tabLst>
                <a:tab pos="2056130" algn="l"/>
              </a:tabLst>
            </a:pPr>
            <a:r>
              <a:rPr lang="en-US" altLang="en-US" dirty="0"/>
              <a:t>The query: </a:t>
            </a:r>
            <a:endParaRPr lang="en-US" altLang="en-US" dirty="0"/>
          </a:p>
          <a:p>
            <a:pPr lvl="0" defTabSz="914400">
              <a:buNone/>
              <a:tabLst>
                <a:tab pos="2056130" algn="l"/>
              </a:tabLst>
            </a:pPr>
            <a:r>
              <a:rPr lang="en-US" altLang="en-US" b="1" dirty="0"/>
              <a:t>	                  select</a:t>
            </a:r>
            <a:r>
              <a:rPr lang="en-US" altLang="en-US" dirty="0"/>
              <a:t> </a:t>
            </a:r>
            <a:r>
              <a:rPr lang="en-US" altLang="en-US" i="1" dirty="0"/>
              <a:t>ID, name, salary/12</a:t>
            </a:r>
            <a:br>
              <a:rPr lang="en-US" altLang="en-US" dirty="0"/>
            </a:br>
            <a:r>
              <a:rPr lang="en-US" altLang="en-US" dirty="0"/>
              <a:t>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lvl="0" defTabSz="914400">
              <a:buNone/>
              <a:tabLst>
                <a:tab pos="2056130" algn="l"/>
              </a:tabLst>
            </a:pPr>
            <a:r>
              <a:rPr lang="en-US" altLang="en-US" i="1" dirty="0"/>
              <a:t>	</a:t>
            </a:r>
            <a:r>
              <a:rPr lang="en-US" altLang="en-US" dirty="0"/>
              <a:t>would return a relation that is the same as the </a:t>
            </a:r>
            <a:r>
              <a:rPr lang="en-US" altLang="en-US" i="1" dirty="0"/>
              <a:t>instructor </a:t>
            </a:r>
            <a:r>
              <a:rPr lang="en-US" altLang="en-US" dirty="0"/>
              <a:t>relation, except that the value of the attribute </a:t>
            </a:r>
            <a:r>
              <a:rPr lang="en-US" altLang="en-US" i="1" dirty="0"/>
              <a:t>salary </a:t>
            </a:r>
            <a:r>
              <a:rPr lang="en-US" altLang="en-US" dirty="0"/>
              <a:t>is divided by 12.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endParaRPr lang="en-US" altLang="en-US" dirty="0"/>
          </a:p>
          <a:p>
            <a:pPr lvl="0" defTabSz="914400">
              <a:tabLst>
                <a:tab pos="2056130" algn="l"/>
              </a:tabLst>
            </a:pPr>
            <a:r>
              <a:rPr lang="en-US" altLang="en-US" dirty="0"/>
              <a:t>Can rename “s</a:t>
            </a:r>
            <a:r>
              <a:rPr lang="en-US" altLang="en-US" i="1" dirty="0"/>
              <a:t>alary/12” </a:t>
            </a:r>
            <a:r>
              <a:rPr lang="en-US" altLang="en-US" dirty="0"/>
              <a:t>using the </a:t>
            </a:r>
            <a:r>
              <a:rPr lang="en-US" altLang="en-US" b="1" dirty="0"/>
              <a:t>as </a:t>
            </a:r>
            <a:r>
              <a:rPr lang="en-US" altLang="en-US" dirty="0"/>
              <a:t>clause:</a:t>
            </a:r>
            <a:endParaRPr lang="en-US" altLang="en-US" dirty="0"/>
          </a:p>
          <a:p>
            <a:pPr lvl="1" defTabSz="914400">
              <a:buNone/>
              <a:tabLst>
                <a:tab pos="2056130" algn="l"/>
              </a:tabLst>
            </a:pPr>
            <a:r>
              <a:rPr lang="en-US" altLang="en-US" i="1" dirty="0"/>
              <a:t>	        </a:t>
            </a:r>
            <a:r>
              <a:rPr lang="en-US" altLang="en-US" b="1" dirty="0"/>
              <a:t>select </a:t>
            </a:r>
            <a:r>
              <a:rPr lang="en-US" altLang="en-US" i="1" dirty="0"/>
              <a:t>ID, name, salary/12  </a:t>
            </a:r>
            <a:r>
              <a:rPr lang="en-US" altLang="en-US" b="1" dirty="0"/>
              <a:t>as </a:t>
            </a:r>
            <a:r>
              <a:rPr lang="en-US" altLang="en-US" i="1" dirty="0"/>
              <a:t>monthly_salary</a:t>
            </a:r>
            <a:br>
              <a:rPr lang="en-US" altLang="en-US" i="1" dirty="0"/>
            </a:b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endParaRPr lang="en-US" altLang="en-US" dirty="0"/>
          </a:p>
          <a:p>
            <a:pPr lvl="1" defTabSz="914400">
              <a:buNone/>
              <a:tabLst>
                <a:tab pos="2056130" algn="l"/>
              </a:tabLst>
            </a:pPr>
            <a:endParaRPr lang="en-US" altLang="en-US" dirty="0"/>
          </a:p>
          <a:p>
            <a:pPr defTabSz="914400">
              <a:buNone/>
              <a:tabLst>
                <a:tab pos="2056130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361950">
              <a:buFont typeface="Arial" panose="020B0604020202090204" pitchFamily="34" charset="0"/>
              <a:buChar char="•"/>
            </a:pPr>
            <a:r>
              <a:rPr lang="en-US" altLang="en-US" sz="1800" dirty="0"/>
              <a:t>SELECT </a:t>
            </a:r>
            <a:endParaRPr lang="en-US" altLang="en-US" sz="1800" dirty="0"/>
          </a:p>
          <a:p>
            <a:pPr marL="19050" indent="0">
              <a:buNone/>
            </a:pPr>
            <a:r>
              <a:rPr lang="en-US" altLang="en-US" sz="1800" dirty="0"/>
              <a:t>	log(1000) as three,</a:t>
            </a:r>
            <a:endParaRPr lang="en-US" altLang="en-US" sz="1800" dirty="0"/>
          </a:p>
          <a:p>
            <a:pPr marL="19050" indent="0">
              <a:buNone/>
            </a:pPr>
            <a:r>
              <a:rPr lang="en-US" altLang="en-US" sz="1800" dirty="0"/>
              <a:t>	exp(ln(2)) as two, </a:t>
            </a:r>
            <a:endParaRPr lang="en-US" altLang="en-US" sz="1800" dirty="0"/>
          </a:p>
          <a:p>
            <a:pPr marL="19050" indent="0">
              <a:buNone/>
            </a:pPr>
            <a:r>
              <a:rPr lang="en-US" altLang="en-US" sz="1800" dirty="0"/>
              <a:t>	cos(0) as one,</a:t>
            </a:r>
            <a:br>
              <a:rPr lang="en-US" altLang="en-US" sz="1800" dirty="0"/>
            </a:br>
            <a:r>
              <a:rPr lang="en-US" altLang="en-US" sz="1800" dirty="0"/>
              <a:t>	ln(2*3) = ln(2) + ln(3) as sanity; </a:t>
            </a:r>
            <a:endParaRPr lang="en-US" altLang="en-US" sz="1800" dirty="0"/>
          </a:p>
          <a:p>
            <a:pPr marL="19050" indent="0">
              <a:buNone/>
            </a:pP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where Clause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461250" cy="4876800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1311275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dirty="0"/>
              <a:t>clause specifies conditions that the result must satisfy</a:t>
            </a:r>
            <a:endParaRPr lang="en-US" altLang="en-US" dirty="0"/>
          </a:p>
          <a:p>
            <a:pPr lvl="1" defTabSz="914400">
              <a:tabLst>
                <a:tab pos="1311275" algn="l"/>
              </a:tabLst>
            </a:pPr>
            <a:r>
              <a:rPr lang="en-US" altLang="en-US" dirty="0"/>
              <a:t>Corresponds to the selection predicate of the relational algebra. </a:t>
            </a:r>
            <a:endParaRPr lang="en-US" altLang="en-US" dirty="0"/>
          </a:p>
          <a:p>
            <a:pPr lvl="1" defTabSz="914400">
              <a:tabLst>
                <a:tab pos="1311275" algn="l"/>
              </a:tabLst>
            </a:pPr>
            <a:r>
              <a:rPr lang="en-US" altLang="en-US" dirty="0"/>
              <a:t> </a:t>
            </a:r>
            <a:endParaRPr lang="en-US" altLang="en-US" dirty="0"/>
          </a:p>
          <a:p>
            <a:pPr defTabSz="914400">
              <a:tabLst>
                <a:tab pos="1311275" algn="l"/>
              </a:tabLst>
            </a:pPr>
            <a:r>
              <a:rPr lang="en-US" altLang="en-US" dirty="0"/>
              <a:t>To find all instructors in Comp. Sci. dept</a:t>
            </a:r>
            <a:endParaRPr lang="en-US" altLang="en-US" dirty="0"/>
          </a:p>
          <a:p>
            <a:pPr defTabSz="914400">
              <a:buNone/>
              <a:tabLst>
                <a:tab pos="1311275" algn="l"/>
              </a:tabLst>
            </a:pPr>
            <a:r>
              <a:rPr lang="en-US" altLang="en-US" b="1" dirty="0"/>
              <a:t>		select </a:t>
            </a:r>
            <a:r>
              <a:rPr lang="en-US" altLang="en-US" i="1" dirty="0"/>
              <a:t>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dept_name =</a:t>
            </a:r>
            <a:r>
              <a:rPr lang="en-US" altLang="en-US" dirty="0"/>
              <a:t> </a:t>
            </a:r>
            <a:r>
              <a:rPr lang="en-US" altLang="en-US" dirty="0">
                <a:sym typeface="+mn-ea"/>
              </a:rPr>
              <a:t>'</a:t>
            </a:r>
            <a:r>
              <a:rPr lang="en-US" altLang="en-US" dirty="0"/>
              <a:t>Comp. Sci.'</a:t>
            </a:r>
            <a:endParaRPr lang="en-US" altLang="en-US" dirty="0"/>
          </a:p>
          <a:p>
            <a:pPr defTabSz="914400">
              <a:buNone/>
              <a:tabLst>
                <a:tab pos="1311275" algn="l"/>
              </a:tabLst>
            </a:pPr>
            <a:endParaRPr lang="en-US" altLang="en-US" dirty="0"/>
          </a:p>
          <a:p>
            <a:pPr defTabSz="914400">
              <a:tabLst>
                <a:tab pos="1311275" algn="l"/>
              </a:tabLst>
            </a:pPr>
            <a:r>
              <a:rPr lang="en-US" altLang="en-US" dirty="0"/>
              <a:t>Comparison results can be combined using the logical connectives </a:t>
            </a:r>
            <a:r>
              <a:rPr lang="en-US" altLang="en-US" b="1" dirty="0"/>
              <a:t>and, or, </a:t>
            </a:r>
            <a:r>
              <a:rPr lang="en-US" altLang="en-US" dirty="0"/>
              <a:t>and </a:t>
            </a:r>
            <a:r>
              <a:rPr lang="en-US" altLang="en-US" b="1" dirty="0"/>
              <a:t>not </a:t>
            </a:r>
            <a:endParaRPr lang="en-US" altLang="en-US" b="1" dirty="0"/>
          </a:p>
          <a:p>
            <a:pPr lvl="1" defTabSz="914400">
              <a:tabLst>
                <a:tab pos="1311275" algn="l"/>
              </a:tabLst>
            </a:pPr>
            <a:r>
              <a:rPr lang="en-US" altLang="en-US" dirty="0"/>
              <a:t>To find all instructors in Comp. Sci. dept with salary &gt; 80000</a:t>
            </a:r>
            <a:endParaRPr lang="en-US" altLang="en-US" dirty="0"/>
          </a:p>
          <a:p>
            <a:pPr lvl="1" defTabSz="914400">
              <a:buNone/>
              <a:tabLst>
                <a:tab pos="1311275" algn="l"/>
              </a:tabLst>
            </a:pPr>
            <a:r>
              <a:rPr lang="en-US" altLang="en-US" b="1" dirty="0"/>
              <a:t>		select </a:t>
            </a:r>
            <a:r>
              <a:rPr lang="en-US" altLang="en-US" i="1" dirty="0"/>
              <a:t>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dept_name =</a:t>
            </a:r>
            <a:r>
              <a:rPr lang="en-US" altLang="en-US" dirty="0"/>
              <a:t> </a:t>
            </a:r>
            <a:r>
              <a:rPr lang="en-US" altLang="en-US" dirty="0">
                <a:sym typeface="+mn-ea"/>
              </a:rPr>
              <a:t>'</a:t>
            </a:r>
            <a:r>
              <a:rPr lang="en-US" altLang="en-US" dirty="0"/>
              <a:t>Comp. Sci.'</a:t>
            </a:r>
            <a:r>
              <a:rPr lang="en-US" altLang="en-US" i="1" dirty="0"/>
              <a:t>  </a:t>
            </a:r>
            <a:r>
              <a:rPr lang="en-US" altLang="en-US" b="1" dirty="0"/>
              <a:t>and </a:t>
            </a:r>
            <a:r>
              <a:rPr lang="en-US" altLang="en-US" i="1" dirty="0"/>
              <a:t>salary </a:t>
            </a:r>
            <a:r>
              <a:rPr lang="en-US" altLang="en-US" dirty="0"/>
              <a:t>&gt; 80000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from Clause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617538" y="1106488"/>
            <a:ext cx="7797800" cy="5024437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635000" algn="l"/>
                <a:tab pos="2403475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dirty="0"/>
              <a:t>clause lists the relations involved in the query</a:t>
            </a:r>
            <a:endParaRPr lang="en-US" altLang="en-US" dirty="0"/>
          </a:p>
          <a:p>
            <a:pPr lvl="1" defTabSz="914400">
              <a:tabLst>
                <a:tab pos="635000" algn="l"/>
                <a:tab pos="2403475" algn="l"/>
              </a:tabLst>
            </a:pPr>
            <a:r>
              <a:rPr lang="en-US" altLang="en-US" dirty="0"/>
              <a:t>Corresponds to the Cartesian product operation of the relational algebra.</a:t>
            </a:r>
            <a:endParaRPr lang="en-US" altLang="en-US" dirty="0"/>
          </a:p>
          <a:p>
            <a:pPr lvl="1" defTabSz="914400">
              <a:tabLst>
                <a:tab pos="635000" algn="l"/>
                <a:tab pos="2403475" algn="l"/>
              </a:tabLst>
            </a:pPr>
            <a:endParaRPr lang="en-US" altLang="en-US" dirty="0"/>
          </a:p>
          <a:p>
            <a:pPr defTabSz="914400">
              <a:tabLst>
                <a:tab pos="635000" algn="l"/>
                <a:tab pos="2403475" algn="l"/>
              </a:tabLst>
            </a:pPr>
            <a:r>
              <a:rPr lang="en-US" altLang="en-US" dirty="0"/>
              <a:t>Find the Cartesian product </a:t>
            </a:r>
            <a:r>
              <a:rPr lang="en-US" altLang="en-US" i="1" dirty="0"/>
              <a:t>instructor X teaches</a:t>
            </a:r>
            <a:endParaRPr lang="en-US" altLang="en-US" dirty="0"/>
          </a:p>
          <a:p>
            <a:pPr defTabSz="914400">
              <a:buNone/>
              <a:tabLst>
                <a:tab pos="635000" algn="l"/>
                <a:tab pos="2403475" algn="l"/>
              </a:tabLst>
            </a:pPr>
            <a:r>
              <a:rPr lang="en-US" altLang="en-US" b="1" dirty="0"/>
              <a:t>			select </a:t>
            </a:r>
            <a:r>
              <a:rPr lang="en-US" altLang="en-US" dirty="0">
                <a:latin typeface="Symbol" charset="2"/>
              </a:rPr>
              <a:t>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instructor, teaches</a:t>
            </a:r>
            <a:endParaRPr lang="en-US" altLang="en-US" i="1" dirty="0"/>
          </a:p>
          <a:p>
            <a:pPr lvl="1" defTabSz="914400">
              <a:tabLst>
                <a:tab pos="635000" algn="l"/>
                <a:tab pos="2403475" algn="l"/>
              </a:tabLst>
            </a:pPr>
            <a:r>
              <a:rPr lang="en-US" altLang="en-US" dirty="0"/>
              <a:t>generates </a:t>
            </a:r>
            <a:r>
              <a:rPr lang="en-US" altLang="en-US" b="1" dirty="0">
                <a:latin typeface="Helvetica Bold" charset="0"/>
                <a:cs typeface="Helvetica Bold" charset="0"/>
              </a:rPr>
              <a:t>every possible instructor – teaches pair</a:t>
            </a:r>
            <a:r>
              <a:rPr lang="en-US" altLang="en-US" dirty="0"/>
              <a:t>, with all attributes from both relations.</a:t>
            </a:r>
            <a:endParaRPr lang="en-US" altLang="en-US" dirty="0"/>
          </a:p>
          <a:p>
            <a:pPr lvl="1" defTabSz="914400">
              <a:tabLst>
                <a:tab pos="635000" algn="l"/>
                <a:tab pos="2403475" algn="l"/>
              </a:tabLst>
            </a:pPr>
            <a:r>
              <a:rPr lang="en-US" altLang="en-US" dirty="0"/>
              <a:t>For common attributes (e.g., </a:t>
            </a:r>
            <a:r>
              <a:rPr lang="en-US" altLang="en-US" i="1" dirty="0"/>
              <a:t>ID</a:t>
            </a:r>
            <a:r>
              <a:rPr lang="en-US" altLang="en-US" dirty="0"/>
              <a:t>), the attributes  in the resulting table are renamed using the  relation name (e.g., </a:t>
            </a:r>
            <a:r>
              <a:rPr lang="en-US" altLang="en-US" i="1" dirty="0"/>
              <a:t>instructor.ID</a:t>
            </a:r>
            <a:r>
              <a:rPr lang="en-US" altLang="en-US" dirty="0"/>
              <a:t>)</a:t>
            </a:r>
            <a:endParaRPr lang="en-US" altLang="en-US" dirty="0"/>
          </a:p>
          <a:p>
            <a:pPr lvl="1" defTabSz="914400">
              <a:tabLst>
                <a:tab pos="635000" algn="l"/>
                <a:tab pos="2403475" algn="l"/>
              </a:tabLst>
            </a:pPr>
            <a:endParaRPr lang="en-US" altLang="en-US" dirty="0"/>
          </a:p>
          <a:p>
            <a:pPr defTabSz="914400">
              <a:tabLst>
                <a:tab pos="635000" algn="l"/>
                <a:tab pos="2403475" algn="l"/>
              </a:tabLst>
            </a:pPr>
            <a:r>
              <a:rPr lang="en-US" altLang="en-US" dirty="0"/>
              <a:t>Cartesian product </a:t>
            </a:r>
            <a:r>
              <a:rPr lang="en-US" altLang="en-US" dirty="0">
                <a:solidFill>
                  <a:schemeClr val="tx2"/>
                </a:solidFill>
              </a:rPr>
              <a:t>not very useful</a:t>
            </a:r>
            <a:r>
              <a:rPr lang="en-US" altLang="en-US" dirty="0"/>
              <a:t> directly, but useful combined with where-clause condition (selection operation in relational algebra).</a:t>
            </a:r>
            <a:endParaRPr lang="en-US" altLang="en-US" dirty="0"/>
          </a:p>
          <a:p>
            <a:pPr defTabSz="914400"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  <a:endParaRPr lang="en-US" altLang="en-US" i="1" dirty="0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Cartesian Product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2531" name="Picture 4" descr="2"/>
          <p:cNvPicPr>
            <a:picLocks noChangeAspect="1"/>
          </p:cNvPicPr>
          <p:nvPr/>
        </p:nvPicPr>
        <p:blipFill>
          <a:blip r:embed="rId1"/>
          <a:srcRect b="56506"/>
          <a:stretch>
            <a:fillRect/>
          </a:stretch>
        </p:blipFill>
        <p:spPr>
          <a:xfrm>
            <a:off x="4721225" y="1155700"/>
            <a:ext cx="3890963" cy="1565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Text Box 6"/>
          <p:cNvSpPr txBox="1"/>
          <p:nvPr/>
        </p:nvSpPr>
        <p:spPr>
          <a:xfrm>
            <a:off x="1776413" y="833438"/>
            <a:ext cx="12271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en-US" sz="2000" i="1" dirty="0">
                <a:latin typeface="Helvetica" pitchFamily="34" charset="0"/>
              </a:rPr>
              <a:t>instructor</a:t>
            </a:r>
            <a:endParaRPr lang="en-US" altLang="en-US" sz="2000" i="1" dirty="0">
              <a:latin typeface="Helvetica" pitchFamily="34" charset="0"/>
            </a:endParaRPr>
          </a:p>
        </p:txBody>
      </p:sp>
      <p:sp>
        <p:nvSpPr>
          <p:cNvPr id="22533" name="Text Box 7"/>
          <p:cNvSpPr txBox="1"/>
          <p:nvPr/>
        </p:nvSpPr>
        <p:spPr>
          <a:xfrm>
            <a:off x="6135688" y="800100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en-US" sz="2000" i="1" dirty="0">
                <a:latin typeface="Helvetica" pitchFamily="34" charset="0"/>
              </a:rPr>
              <a:t>teaches</a:t>
            </a:r>
            <a:endParaRPr lang="en-US" altLang="en-US" sz="2000" i="1" dirty="0">
              <a:latin typeface="Helvetica" pitchFamily="34" charset="0"/>
            </a:endParaRPr>
          </a:p>
        </p:txBody>
      </p:sp>
      <p:pic>
        <p:nvPicPr>
          <p:cNvPr id="22534" name="Picture 8" descr="2"/>
          <p:cNvPicPr>
            <a:picLocks noChangeAspect="1"/>
          </p:cNvPicPr>
          <p:nvPr/>
        </p:nvPicPr>
        <p:blipFill>
          <a:blip r:embed="rId2"/>
          <a:srcRect b="50357"/>
          <a:stretch>
            <a:fillRect/>
          </a:stretch>
        </p:blipFill>
        <p:spPr>
          <a:xfrm>
            <a:off x="514350" y="1230313"/>
            <a:ext cx="3883025" cy="1447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5" name="Picture 1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724150"/>
            <a:ext cx="6629400" cy="388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Examples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900113" y="1106488"/>
            <a:ext cx="7991475" cy="4600575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Find the names of all instructors who have taught some course and the course_id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b="1" dirty="0"/>
              <a:t>select </a:t>
            </a:r>
            <a:r>
              <a:rPr lang="en-US" altLang="en-US" i="1" dirty="0"/>
              <a:t>name, course_id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 , teaches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instructor.ID = teaches.ID </a:t>
            </a:r>
            <a:endParaRPr lang="en-US" altLang="en-US" i="1" dirty="0"/>
          </a:p>
          <a:p>
            <a:pPr lvl="1" defTabSz="914400">
              <a:buNone/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Find the names of all instructors in the Art  department who have taught some course and the course_id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b="1" dirty="0"/>
              <a:t>select </a:t>
            </a:r>
            <a:r>
              <a:rPr lang="en-US" altLang="en-US" i="1" dirty="0"/>
              <a:t>name, course_id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 , teaches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instructor.ID = teaches.ID  </a:t>
            </a:r>
            <a:r>
              <a:rPr lang="en-US" altLang="en-US" b="1" i="1" dirty="0"/>
              <a:t>and</a:t>
            </a:r>
            <a:r>
              <a:rPr lang="en-US" altLang="en-US" i="1" dirty="0"/>
              <a:t>  instructor. dept_name = </a:t>
            </a:r>
            <a:r>
              <a:rPr lang="en-US" altLang="en-US" dirty="0"/>
              <a:t>‘Art’</a:t>
            </a:r>
            <a:endParaRPr lang="en-US" altLang="en-US" dirty="0"/>
          </a:p>
          <a:p>
            <a:pPr lvl="1" defTabSz="914400">
              <a:buNone/>
              <a:tabLst>
                <a:tab pos="2056130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Rename Operation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600075" y="1106488"/>
            <a:ext cx="8435975" cy="5208587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The SQL allows renaming relations and attributes using the </a:t>
            </a:r>
            <a:r>
              <a:rPr lang="en-US" altLang="en-US" b="1" dirty="0"/>
              <a:t>as </a:t>
            </a:r>
            <a:r>
              <a:rPr lang="en-US" altLang="en-US" dirty="0"/>
              <a:t>clause:</a:t>
            </a:r>
            <a:endParaRPr lang="en-US" altLang="en-US" dirty="0"/>
          </a:p>
          <a:p>
            <a:pPr defTabSz="914400">
              <a:buNone/>
              <a:tabLst>
                <a:tab pos="2056130" algn="l"/>
              </a:tabLst>
            </a:pPr>
            <a:r>
              <a:rPr lang="en-US" altLang="en-US" i="1" dirty="0"/>
              <a:t>		old-name </a:t>
            </a:r>
            <a:r>
              <a:rPr lang="en-US" altLang="en-US" b="1" dirty="0"/>
              <a:t>as</a:t>
            </a:r>
            <a:r>
              <a:rPr lang="en-US" altLang="en-US" i="1" dirty="0"/>
              <a:t> new-name</a:t>
            </a:r>
            <a:br>
              <a:rPr lang="en-US" altLang="en-US" dirty="0"/>
            </a:b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Find the names of all instructors who have a higher salary than </a:t>
            </a:r>
            <a:br>
              <a:rPr lang="en-US" altLang="en-US" dirty="0"/>
            </a:br>
            <a:r>
              <a:rPr lang="en-US" altLang="en-US" dirty="0"/>
              <a:t>some instructor in ‘Comp. Sci’.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b="1" dirty="0"/>
              <a:t>select distinct </a:t>
            </a:r>
            <a:r>
              <a:rPr lang="en-US" altLang="en-US" i="1" dirty="0"/>
              <a:t>T.name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T, instructor </a:t>
            </a:r>
            <a:r>
              <a:rPr lang="en-US" altLang="en-US" b="1" dirty="0"/>
              <a:t>as </a:t>
            </a:r>
            <a:r>
              <a:rPr lang="en-US" altLang="en-US" i="1" dirty="0"/>
              <a:t>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T.salary &gt; S.salary </a:t>
            </a:r>
            <a:r>
              <a:rPr lang="en-US" altLang="en-US" b="1" dirty="0"/>
              <a:t>and </a:t>
            </a:r>
            <a:r>
              <a:rPr lang="en-US" altLang="en-US" i="1" dirty="0"/>
              <a:t>S.dept_name = ‘Comp. Sci.’</a:t>
            </a:r>
            <a:endParaRPr lang="en-US" altLang="en-US" i="1" dirty="0"/>
          </a:p>
          <a:p>
            <a:pPr lvl="1" defTabSz="914400">
              <a:buNone/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Keyword </a:t>
            </a:r>
            <a:r>
              <a:rPr lang="en-US" altLang="en-US" b="1" dirty="0"/>
              <a:t>as</a:t>
            </a:r>
            <a:r>
              <a:rPr lang="en-US" altLang="en-US" dirty="0"/>
              <a:t> is optional and may be omitted</a:t>
            </a:r>
            <a:br>
              <a:rPr lang="en-US" altLang="en-US" dirty="0"/>
            </a:br>
            <a:r>
              <a:rPr lang="en-US" altLang="en-US" dirty="0"/>
              <a:t>              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 ≡ instructor</a:t>
            </a:r>
            <a:r>
              <a:rPr lang="en-US" altLang="en-US" b="1" dirty="0"/>
              <a:t> </a:t>
            </a:r>
            <a:r>
              <a:rPr lang="en-US" altLang="en-US" i="1" dirty="0"/>
              <a:t>T</a:t>
            </a:r>
            <a:endParaRPr lang="en-US" altLang="en-US" i="1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b="1" dirty="0">
                <a:sym typeface="+mn-ea"/>
              </a:rPr>
              <a:t>select distinct </a:t>
            </a:r>
            <a:r>
              <a:rPr lang="en-US" altLang="en-US" i="1" dirty="0">
                <a:sym typeface="+mn-ea"/>
              </a:rPr>
              <a:t>T.name</a:t>
            </a:r>
            <a:br>
              <a:rPr lang="en-US" altLang="en-US" i="1" dirty="0">
                <a:sym typeface="+mn-ea"/>
              </a:rPr>
            </a:br>
            <a:r>
              <a:rPr lang="en-US" altLang="en-US" b="1" dirty="0">
                <a:sym typeface="+mn-ea"/>
              </a:rPr>
              <a:t>from </a:t>
            </a:r>
            <a:r>
              <a:rPr lang="en-US" altLang="en-US" i="1" dirty="0">
                <a:sym typeface="+mn-ea"/>
              </a:rPr>
              <a:t>instructor </a:t>
            </a:r>
            <a:r>
              <a:rPr lang="en-US" altLang="en-US" b="1" strike="sngStrike" dirty="0">
                <a:solidFill>
                  <a:srgbClr val="FF0000"/>
                </a:solidFill>
                <a:sym typeface="+mn-ea"/>
              </a:rPr>
              <a:t>as </a:t>
            </a:r>
            <a:r>
              <a:rPr lang="en-US" altLang="en-US" i="1" dirty="0">
                <a:sym typeface="+mn-ea"/>
              </a:rPr>
              <a:t>T, instructor </a:t>
            </a:r>
            <a:r>
              <a:rPr lang="en-US" altLang="en-US" b="1" strike="sngStrike" dirty="0">
                <a:solidFill>
                  <a:srgbClr val="FF0000"/>
                </a:solidFill>
                <a:sym typeface="+mn-ea"/>
              </a:rPr>
              <a:t>as </a:t>
            </a:r>
            <a:r>
              <a:rPr lang="en-US" altLang="en-US" i="1" dirty="0">
                <a:sym typeface="+mn-ea"/>
              </a:rPr>
              <a:t>S</a:t>
            </a:r>
            <a:br>
              <a:rPr lang="en-US" altLang="en-US" i="1" dirty="0">
                <a:sym typeface="+mn-ea"/>
              </a:rPr>
            </a:br>
            <a:r>
              <a:rPr lang="en-US" altLang="en-US" b="1" dirty="0">
                <a:sym typeface="+mn-ea"/>
              </a:rPr>
              <a:t>where </a:t>
            </a:r>
            <a:r>
              <a:rPr lang="en-US" altLang="en-US" i="1" dirty="0">
                <a:sym typeface="+mn-ea"/>
              </a:rPr>
              <a:t>T.salary &gt; S.salary </a:t>
            </a:r>
            <a:r>
              <a:rPr lang="en-US" altLang="en-US" b="1" dirty="0">
                <a:sym typeface="+mn-ea"/>
              </a:rPr>
              <a:t>and </a:t>
            </a:r>
            <a:r>
              <a:rPr lang="en-US" altLang="en-US" i="1" dirty="0">
                <a:sym typeface="+mn-ea"/>
              </a:rPr>
              <a:t>S.dept_name = ‘Comp. Sci.’</a:t>
            </a:r>
            <a:endParaRPr lang="en-US" altLang="en-US" i="1" dirty="0"/>
          </a:p>
          <a:p>
            <a:pPr lvl="1" defTabSz="914400">
              <a:tabLst>
                <a:tab pos="2056130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Self Join Example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4"/>
          <p:cNvSpPr/>
          <p:nvPr/>
        </p:nvSpPr>
        <p:spPr>
          <a:xfrm>
            <a:off x="798513" y="1125538"/>
            <a:ext cx="7029450" cy="4857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100000"/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Relation </a:t>
            </a:r>
            <a:r>
              <a:rPr lang="en-US" altLang="en-US" i="1" dirty="0">
                <a:latin typeface="Helvetica" pitchFamily="34" charset="0"/>
              </a:rPr>
              <a:t>emp-super</a:t>
            </a:r>
            <a:endParaRPr lang="en-US" altLang="en-US" dirty="0">
              <a:latin typeface="Helvetica" pitchFamily="34" charset="0"/>
            </a:endParaRPr>
          </a:p>
        </p:txBody>
      </p:sp>
      <p:sp>
        <p:nvSpPr>
          <p:cNvPr id="25604" name="Rectangle 5"/>
          <p:cNvSpPr/>
          <p:nvPr/>
        </p:nvSpPr>
        <p:spPr>
          <a:xfrm>
            <a:off x="801688" y="3671888"/>
            <a:ext cx="8291512" cy="1115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>
              <a:spcBef>
                <a:spcPct val="35000"/>
              </a:spcBef>
              <a:buClr>
                <a:schemeClr val="tx2"/>
              </a:buClr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 Find the supervisor of “Bob”</a:t>
            </a:r>
            <a:endParaRPr lang="en-US" altLang="en-US" dirty="0">
              <a:latin typeface="Helvetica" pitchFamily="34" charset="0"/>
            </a:endParaRP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 Find the supervisor of the supervisor of “Bob”</a:t>
            </a:r>
            <a:endParaRPr lang="en-US" altLang="en-US" dirty="0">
              <a:latin typeface="Helvetica" pitchFamily="34" charset="0"/>
            </a:endParaRP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 Find  ALL the supervisors (direct and indirect) of “Bob</a:t>
            </a:r>
            <a:endParaRPr lang="en-US" altLang="en-US" dirty="0">
              <a:latin typeface="Helvetica" pitchFamily="34" charset="0"/>
            </a:endParaRPr>
          </a:p>
        </p:txBody>
      </p:sp>
      <p:grpSp>
        <p:nvGrpSpPr>
          <p:cNvPr id="25605" name="Group 5"/>
          <p:cNvGrpSpPr/>
          <p:nvPr/>
        </p:nvGrpSpPr>
        <p:grpSpPr>
          <a:xfrm>
            <a:off x="2193290" y="1682115"/>
            <a:ext cx="2996565" cy="1735773"/>
            <a:chOff x="3520161" y="1574164"/>
            <a:chExt cx="2996564" cy="1735773"/>
          </a:xfrm>
        </p:grpSpPr>
        <p:sp>
          <p:nvSpPr>
            <p:cNvPr id="25606" name="Rectangle 1"/>
            <p:cNvSpPr/>
            <p:nvPr/>
          </p:nvSpPr>
          <p:spPr>
            <a:xfrm>
              <a:off x="3555721" y="1619249"/>
              <a:ext cx="2360612" cy="360363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p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25607" name="Rectangle 6"/>
            <p:cNvSpPr/>
            <p:nvPr/>
          </p:nvSpPr>
          <p:spPr>
            <a:xfrm>
              <a:off x="3566833" y="2020887"/>
              <a:ext cx="2360613" cy="1239837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p>
              <a:endParaRPr lang="en-US" altLang="en-US" dirty="0">
                <a:latin typeface="Helvetica" pitchFamily="34" charset="0"/>
              </a:endParaRPr>
            </a:p>
          </p:txBody>
        </p:sp>
        <p:cxnSp>
          <p:nvCxnSpPr>
            <p:cNvPr id="25608" name="Straight Connector 3"/>
            <p:cNvCxnSpPr/>
            <p:nvPr/>
          </p:nvCxnSpPr>
          <p:spPr>
            <a:xfrm>
              <a:off x="4635221" y="1619249"/>
              <a:ext cx="0" cy="360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5609" name="Straight Connector 9"/>
            <p:cNvCxnSpPr/>
            <p:nvPr/>
          </p:nvCxnSpPr>
          <p:spPr>
            <a:xfrm flipH="1">
              <a:off x="4635221" y="2028824"/>
              <a:ext cx="3175" cy="1231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5610" name="TextBox 5"/>
            <p:cNvSpPr txBox="1"/>
            <p:nvPr/>
          </p:nvSpPr>
          <p:spPr>
            <a:xfrm>
              <a:off x="3520161" y="1574164"/>
              <a:ext cx="2996564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en-US" i="1" dirty="0">
                  <a:latin typeface="Helvetica" pitchFamily="34" charset="0"/>
                </a:rPr>
                <a:t> </a:t>
              </a:r>
              <a:r>
                <a:rPr lang="en-US" altLang="en-US" sz="1800" i="1" dirty="0">
                  <a:latin typeface="Palatino Linotype" pitchFamily="18" charset="0"/>
                </a:rPr>
                <a:t>person    supervisor</a:t>
              </a:r>
              <a:endParaRPr lang="en-US" altLang="en-US" sz="1800" i="1" dirty="0">
                <a:latin typeface="Palatino Linotype" pitchFamily="18" charset="0"/>
              </a:endParaRPr>
            </a:p>
          </p:txBody>
        </p:sp>
        <p:sp>
          <p:nvSpPr>
            <p:cNvPr id="25611" name="TextBox 7"/>
            <p:cNvSpPr txBox="1"/>
            <p:nvPr/>
          </p:nvSpPr>
          <p:spPr>
            <a:xfrm>
              <a:off x="3590646" y="1987549"/>
              <a:ext cx="2330450" cy="1322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en-US" sz="2000" dirty="0">
                  <a:latin typeface="Palatino Linotype" pitchFamily="18" charset="0"/>
                </a:rPr>
                <a:t>Bob	   Alice</a:t>
              </a:r>
              <a:endParaRPr lang="en-US" altLang="en-US" sz="2000" dirty="0">
                <a:latin typeface="Palatino Linotype" pitchFamily="18" charset="0"/>
              </a:endParaRPr>
            </a:p>
            <a:p>
              <a:r>
                <a:rPr lang="en-US" altLang="en-US" sz="2000" dirty="0">
                  <a:latin typeface="Palatino Linotype" pitchFamily="18" charset="0"/>
                </a:rPr>
                <a:t>Mary	   Susan</a:t>
              </a:r>
              <a:endParaRPr lang="en-US" altLang="en-US" sz="2000" dirty="0">
                <a:latin typeface="Palatino Linotype" pitchFamily="18" charset="0"/>
              </a:endParaRPr>
            </a:p>
            <a:p>
              <a:r>
                <a:rPr lang="en-US" altLang="en-US" sz="2000" dirty="0">
                  <a:latin typeface="Palatino Linotype" pitchFamily="18" charset="0"/>
                </a:rPr>
                <a:t>Alice	   David</a:t>
              </a:r>
              <a:endParaRPr lang="en-US" altLang="en-US" sz="2000" dirty="0">
                <a:latin typeface="Palatino Linotype" pitchFamily="18" charset="0"/>
              </a:endParaRPr>
            </a:p>
            <a:p>
              <a:r>
                <a:rPr lang="en-US" altLang="en-US" sz="2000" dirty="0">
                  <a:latin typeface="Palatino Linotype" pitchFamily="18" charset="0"/>
                </a:rPr>
                <a:t>David   	   Mary</a:t>
              </a:r>
              <a:endParaRPr lang="en-US" altLang="en-US" sz="2000" dirty="0">
                <a:latin typeface="Palatino Linotype" pitchFamily="18" charset="0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String Operations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8600" cy="51816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SQL includes a string-matching operator for comparisons on character strings.  The operator </a:t>
            </a:r>
            <a:r>
              <a:rPr lang="en-US" altLang="en-US" b="1" dirty="0"/>
              <a:t>like</a:t>
            </a:r>
            <a:r>
              <a:rPr lang="en-US" altLang="en-US" dirty="0"/>
              <a:t> uses patterns that are described using two special characters: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percent ( % ).  The % character matches any substring.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underscore ( _ ).  The _ character matches any character.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endParaRPr lang="en-US" altLang="en-US" dirty="0"/>
          </a:p>
          <a:p>
            <a:pPr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Find the names of all instructors whose name includes the substring “dar”.</a:t>
            </a:r>
            <a:endParaRPr lang="en-US" altLang="en-US" dirty="0"/>
          </a:p>
          <a:p>
            <a:pPr defTabSz="914400">
              <a:buNone/>
              <a:tabLst>
                <a:tab pos="1889125" algn="l"/>
                <a:tab pos="2403475" algn="l"/>
              </a:tabLst>
            </a:pPr>
            <a:r>
              <a:rPr lang="en-US" altLang="en-US" b="1" dirty="0"/>
              <a:t>		se</a:t>
            </a:r>
            <a:r>
              <a:rPr lang="en-US" altLang="en-US" dirty="0"/>
              <a:t>le</a:t>
            </a:r>
            <a:r>
              <a:rPr lang="en-US" altLang="en-US" b="1" dirty="0"/>
              <a:t>ct </a:t>
            </a:r>
            <a:r>
              <a:rPr lang="en-US" altLang="en-US" i="1" dirty="0"/>
              <a:t>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where</a:t>
            </a:r>
            <a:r>
              <a:rPr lang="en-US" altLang="en-US" b="1" i="1" dirty="0"/>
              <a:t> </a:t>
            </a:r>
            <a:r>
              <a:rPr lang="en-US" altLang="en-US" i="1" dirty="0"/>
              <a:t>name </a:t>
            </a:r>
            <a:r>
              <a:rPr lang="en-US" altLang="en-US" b="1" dirty="0"/>
              <a:t>like </a:t>
            </a:r>
            <a:r>
              <a:rPr lang="en-US" altLang="en-US" b="1" dirty="0">
                <a:latin typeface="Century Gothic" pitchFamily="34" charset="0"/>
              </a:rPr>
              <a:t>'</a:t>
            </a:r>
            <a:r>
              <a:rPr lang="en-US" altLang="en-US" dirty="0"/>
              <a:t>%dar%</a:t>
            </a:r>
            <a:r>
              <a:rPr lang="en-US" altLang="en-US" dirty="0">
                <a:latin typeface="Century Gothic" pitchFamily="34" charset="0"/>
              </a:rPr>
              <a:t>' </a:t>
            </a:r>
            <a:endParaRPr lang="en-US" altLang="en-US" dirty="0">
              <a:latin typeface="Century Gothic" pitchFamily="34" charset="0"/>
            </a:endParaRPr>
          </a:p>
          <a:p>
            <a:pPr defTabSz="914400">
              <a:buNone/>
              <a:tabLst>
                <a:tab pos="1889125" algn="l"/>
                <a:tab pos="2403475" algn="l"/>
              </a:tabLst>
            </a:pPr>
            <a:endParaRPr lang="en-US" altLang="en-US" dirty="0">
              <a:latin typeface="Century Gothic" pitchFamily="34" charset="0"/>
            </a:endParaRPr>
          </a:p>
          <a:p>
            <a:pPr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Match the string “100%”</a:t>
            </a:r>
            <a:endParaRPr lang="en-US" altLang="en-US" dirty="0"/>
          </a:p>
          <a:p>
            <a:pPr defTabSz="914400">
              <a:buNone/>
              <a:tabLst>
                <a:tab pos="1889125" algn="l"/>
                <a:tab pos="2403475" algn="l"/>
              </a:tabLst>
            </a:pPr>
            <a:r>
              <a:rPr lang="en-US" altLang="en-US" dirty="0"/>
              <a:t>			</a:t>
            </a:r>
            <a:r>
              <a:rPr lang="en-US" altLang="en-US" b="1" dirty="0"/>
              <a:t>like </a:t>
            </a:r>
            <a:r>
              <a:rPr lang="en-US" altLang="en-US" b="1" dirty="0">
                <a:latin typeface="Century Gothic" pitchFamily="34" charset="0"/>
              </a:rPr>
              <a:t>‘</a:t>
            </a:r>
            <a:r>
              <a:rPr lang="en-US" altLang="en-US" dirty="0"/>
              <a:t>100 \%</a:t>
            </a:r>
            <a:r>
              <a:rPr lang="en-US" altLang="en-US" dirty="0">
                <a:latin typeface="Century Gothic" pitchFamily="34" charset="0"/>
              </a:rPr>
              <a:t>' </a:t>
            </a:r>
            <a:r>
              <a:rPr lang="en-US" altLang="en-US" dirty="0"/>
              <a:t> </a:t>
            </a:r>
            <a:r>
              <a:rPr lang="en-US" altLang="en-US" b="1" dirty="0"/>
              <a:t>escape  </a:t>
            </a:r>
            <a:r>
              <a:rPr lang="en-US" altLang="en-US" b="1" dirty="0">
                <a:latin typeface="Century Gothic" pitchFamily="34" charset="0"/>
              </a:rPr>
              <a:t>'</a:t>
            </a:r>
            <a:r>
              <a:rPr lang="en-US" altLang="en-US" dirty="0"/>
              <a:t>\</a:t>
            </a:r>
            <a:r>
              <a:rPr lang="en-US" altLang="en-US" dirty="0">
                <a:latin typeface="Century Gothic" pitchFamily="34" charset="0"/>
              </a:rPr>
              <a:t>' </a:t>
            </a:r>
            <a:endParaRPr lang="en-US" altLang="en-US" dirty="0"/>
          </a:p>
          <a:p>
            <a:pPr defTabSz="914400">
              <a:buNone/>
              <a:tabLst>
                <a:tab pos="1889125" algn="l"/>
                <a:tab pos="2403475" algn="l"/>
              </a:tabLst>
            </a:pPr>
            <a:r>
              <a:rPr lang="en-US" altLang="en-US" dirty="0"/>
              <a:t>      in that above we use backslash (\) as the </a:t>
            </a:r>
            <a:r>
              <a:rPr lang="en-US" altLang="en-US" dirty="0">
                <a:solidFill>
                  <a:srgbClr val="FF0000"/>
                </a:solidFill>
              </a:rPr>
              <a:t>escape </a:t>
            </a:r>
            <a:r>
              <a:rPr lang="en-US" altLang="en-US" dirty="0"/>
              <a:t>character.</a:t>
            </a:r>
            <a:endParaRPr lang="en-US" altLang="en-US" dirty="0"/>
          </a:p>
          <a:p>
            <a:pPr defTabSz="914400">
              <a:buNone/>
              <a:tabLst>
                <a:tab pos="1889125" algn="l"/>
                <a:tab pos="24034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String Operations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8600" cy="51816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Patterns are </a:t>
            </a:r>
            <a:r>
              <a:rPr lang="en-US" altLang="en-US" b="1" dirty="0">
                <a:latin typeface="Helvetica Bold" charset="0"/>
                <a:cs typeface="Helvetica Bold" charset="0"/>
              </a:rPr>
              <a:t>case sensitive</a:t>
            </a:r>
            <a:r>
              <a:rPr lang="en-US" altLang="en-US" dirty="0"/>
              <a:t>. </a:t>
            </a:r>
            <a:endParaRPr lang="en-US" altLang="en-US" dirty="0"/>
          </a:p>
          <a:p>
            <a:pPr defTabSz="914400">
              <a:tabLst>
                <a:tab pos="1889125" algn="l"/>
                <a:tab pos="2403475" algn="l"/>
              </a:tabLst>
            </a:pPr>
            <a:endParaRPr lang="en-US" altLang="en-US" dirty="0"/>
          </a:p>
          <a:p>
            <a:pPr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Pattern matching examples: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‘Intro%’ matches any string beginning with “Intro”.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‘%Comp%’ matches any string containing “Comp” as a substring.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‘_ _ _’ matches any string of exactly three characters.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‘_ _ _ %’ matches any string of at least three characters.</a:t>
            </a:r>
            <a:endParaRPr lang="en-US" altLang="en-US" dirty="0"/>
          </a:p>
          <a:p>
            <a:pPr lvl="1" defTabSz="914400">
              <a:buNone/>
              <a:tabLst>
                <a:tab pos="1889125" algn="l"/>
                <a:tab pos="2403475" algn="l"/>
              </a:tabLst>
            </a:pPr>
            <a:endParaRPr lang="en-US" altLang="en-US" dirty="0"/>
          </a:p>
          <a:p>
            <a:pPr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SQL supports a variety of string operations such as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concatenation (using “||”)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converting from upper to lower case (and vice versa)</a:t>
            </a:r>
            <a:endParaRPr lang="en-US" altLang="en-US" dirty="0"/>
          </a:p>
          <a:p>
            <a:pPr lvl="1" defTabSz="914400">
              <a:tabLst>
                <a:tab pos="1889125" algn="l"/>
                <a:tab pos="2403475" algn="l"/>
              </a:tabLst>
            </a:pPr>
            <a:r>
              <a:rPr lang="en-US" altLang="en-US" dirty="0"/>
              <a:t>finding string length, extracting substrings, etc.</a:t>
            </a: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Ordering the Display of Tuples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814388" y="1108075"/>
            <a:ext cx="7661275" cy="4202113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906780" algn="l"/>
              </a:tabLst>
            </a:pPr>
            <a:r>
              <a:rPr lang="en-US" altLang="en-US" dirty="0"/>
              <a:t>List in alphabetic order the names of all instructors </a:t>
            </a:r>
            <a:endParaRPr lang="en-US" altLang="en-US" dirty="0"/>
          </a:p>
          <a:p>
            <a:pPr defTabSz="914400">
              <a:buNone/>
              <a:tabLst>
                <a:tab pos="906780" algn="l"/>
              </a:tabLst>
            </a:pPr>
            <a:r>
              <a:rPr lang="en-US" altLang="en-US" dirty="0"/>
              <a:t>              </a:t>
            </a:r>
            <a:r>
              <a:rPr lang="en-US" altLang="en-US" b="1" dirty="0"/>
              <a:t>select distinct </a:t>
            </a:r>
            <a:r>
              <a:rPr lang="en-US" altLang="en-US" i="1" dirty="0"/>
              <a:t>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  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dirty="0"/>
              <a:t>	</a:t>
            </a:r>
            <a:r>
              <a:rPr lang="en-US" altLang="en-US" b="1" dirty="0"/>
              <a:t>order by </a:t>
            </a:r>
            <a:r>
              <a:rPr lang="en-US" altLang="en-US" i="1" dirty="0"/>
              <a:t>name</a:t>
            </a:r>
            <a:endParaRPr lang="en-US" altLang="en-US" i="1" dirty="0"/>
          </a:p>
          <a:p>
            <a:pPr defTabSz="914400">
              <a:buNone/>
              <a:tabLst>
                <a:tab pos="906780" algn="l"/>
              </a:tabLst>
            </a:pPr>
            <a:endParaRPr lang="en-US" altLang="en-US" dirty="0"/>
          </a:p>
          <a:p>
            <a:pPr defTabSz="914400">
              <a:tabLst>
                <a:tab pos="906780" algn="l"/>
              </a:tabLst>
            </a:pPr>
            <a:r>
              <a:rPr lang="en-US" altLang="en-US" dirty="0"/>
              <a:t>We may specify </a:t>
            </a:r>
            <a:r>
              <a:rPr lang="en-US" altLang="en-US" b="1" dirty="0">
                <a:solidFill>
                  <a:srgbClr val="000099"/>
                </a:solidFill>
              </a:rPr>
              <a:t>desc</a:t>
            </a:r>
            <a:r>
              <a:rPr lang="en-US" altLang="en-US" dirty="0"/>
              <a:t> for descending order or </a:t>
            </a:r>
            <a:r>
              <a:rPr lang="en-US" altLang="en-US" b="1" dirty="0">
                <a:solidFill>
                  <a:srgbClr val="000099"/>
                </a:solidFill>
              </a:rPr>
              <a:t>asc</a:t>
            </a:r>
            <a:r>
              <a:rPr lang="en-US" altLang="en-US" dirty="0"/>
              <a:t> for ascending order, for each attribute; </a:t>
            </a:r>
            <a:r>
              <a:rPr lang="en-US" altLang="en-US" dirty="0">
                <a:solidFill>
                  <a:srgbClr val="FF0000"/>
                </a:solidFill>
              </a:rPr>
              <a:t>ascending order is the default</a:t>
            </a:r>
            <a:r>
              <a:rPr lang="en-US" altLang="en-US" dirty="0"/>
              <a:t>.</a:t>
            </a:r>
            <a:endParaRPr lang="en-US" altLang="en-US" dirty="0"/>
          </a:p>
          <a:p>
            <a:pPr lvl="1" defTabSz="914400">
              <a:tabLst>
                <a:tab pos="906780" algn="l"/>
              </a:tabLst>
            </a:pPr>
            <a:r>
              <a:rPr lang="en-US" altLang="en-US" dirty="0"/>
              <a:t>Example:  </a:t>
            </a:r>
            <a:r>
              <a:rPr lang="en-US" altLang="en-US" b="1" dirty="0"/>
              <a:t>order by</a:t>
            </a:r>
            <a:r>
              <a:rPr lang="en-US" altLang="en-US" dirty="0"/>
              <a:t> </a:t>
            </a:r>
            <a:r>
              <a:rPr lang="en-US" altLang="en-US" i="1" dirty="0"/>
              <a:t>name</a:t>
            </a:r>
            <a:r>
              <a:rPr lang="en-US" altLang="en-US" dirty="0"/>
              <a:t> </a:t>
            </a:r>
            <a:r>
              <a:rPr lang="en-US" altLang="en-US" b="1" dirty="0"/>
              <a:t>desc</a:t>
            </a:r>
            <a:endParaRPr lang="en-US" altLang="en-US" b="1" dirty="0"/>
          </a:p>
          <a:p>
            <a:pPr marL="457200" lvl="1" indent="0" defTabSz="914400">
              <a:buNone/>
              <a:tabLst>
                <a:tab pos="906780" algn="l"/>
              </a:tabLst>
            </a:pPr>
            <a:endParaRPr lang="en-US" altLang="en-US" b="1" dirty="0"/>
          </a:p>
          <a:p>
            <a:pPr defTabSz="914400">
              <a:tabLst>
                <a:tab pos="906780" algn="l"/>
              </a:tabLst>
            </a:pPr>
            <a:r>
              <a:rPr lang="en-US" altLang="en-US" dirty="0"/>
              <a:t>Can sort on multiple attributes</a:t>
            </a:r>
            <a:endParaRPr lang="en-US" altLang="en-US" dirty="0"/>
          </a:p>
          <a:p>
            <a:pPr lvl="1" defTabSz="914400">
              <a:tabLst>
                <a:tab pos="906780" algn="l"/>
              </a:tabLst>
            </a:pPr>
            <a:r>
              <a:rPr lang="en-US" altLang="en-US" dirty="0"/>
              <a:t>Example: </a:t>
            </a:r>
            <a:r>
              <a:rPr lang="en-US" altLang="en-US" b="1" dirty="0"/>
              <a:t>order by </a:t>
            </a:r>
            <a:r>
              <a:rPr lang="en-US" altLang="en-US" dirty="0"/>
              <a:t> </a:t>
            </a:r>
            <a:r>
              <a:rPr lang="en-US" altLang="en-US" i="1" dirty="0"/>
              <a:t>dept_name, name</a:t>
            </a: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Where Clause Predicates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8089900" cy="5038725"/>
          </a:xfrm>
        </p:spPr>
        <p:txBody>
          <a:bodyPr vert="horz" wrap="square" lIns="90488" tIns="44450" rIns="90488" bIns="44450" anchor="t" anchorCtr="0"/>
          <a:p>
            <a:r>
              <a:rPr lang="en-US" altLang="en-US" dirty="0"/>
              <a:t>SQL includes a </a:t>
            </a:r>
            <a:r>
              <a:rPr lang="en-US" altLang="en-US" b="1" dirty="0">
                <a:solidFill>
                  <a:srgbClr val="000099"/>
                </a:solidFill>
              </a:rPr>
              <a:t>between</a:t>
            </a:r>
            <a:r>
              <a:rPr lang="en-US" altLang="en-US" dirty="0"/>
              <a:t> comparison operator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Example:  Find the names of all instructors with salary between $90,000 and $100,000 (that is, </a:t>
            </a:r>
            <a:r>
              <a:rPr lang="en-US" altLang="en-US" dirty="0">
                <a:latin typeface="Symbol" charset="2"/>
              </a:rPr>
              <a:t> </a:t>
            </a:r>
            <a:r>
              <a:rPr lang="en-US" altLang="en-US" dirty="0"/>
              <a:t>$90,000 and </a:t>
            </a:r>
            <a:r>
              <a:rPr lang="en-US" altLang="en-US" dirty="0">
                <a:latin typeface="Symbol" charset="2"/>
              </a:rPr>
              <a:t> </a:t>
            </a:r>
            <a:r>
              <a:rPr lang="en-US" altLang="en-US" dirty="0"/>
              <a:t>$100,000)</a:t>
            </a:r>
            <a:endParaRPr lang="en-US" altLang="en-US" dirty="0"/>
          </a:p>
          <a:p>
            <a:pPr lvl="1"/>
            <a:r>
              <a:rPr lang="en-US" altLang="en-US" b="1" dirty="0"/>
              <a:t>select</a:t>
            </a:r>
            <a:r>
              <a:rPr lang="en-US" altLang="en-US" i="1" dirty="0"/>
              <a:t> name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dirty="0"/>
            </a:br>
            <a:r>
              <a:rPr lang="en-US" altLang="en-US" b="1" dirty="0"/>
              <a:t>where </a:t>
            </a:r>
            <a:r>
              <a:rPr lang="en-US" altLang="en-US" i="1" dirty="0"/>
              <a:t>salary </a:t>
            </a:r>
            <a:r>
              <a:rPr lang="en-US" altLang="en-US" b="1" dirty="0"/>
              <a:t>between </a:t>
            </a:r>
            <a:r>
              <a:rPr lang="en-US" altLang="en-US" dirty="0"/>
              <a:t>90000 </a:t>
            </a:r>
            <a:r>
              <a:rPr lang="en-US" altLang="en-US" b="1" dirty="0"/>
              <a:t>and </a:t>
            </a:r>
            <a:r>
              <a:rPr lang="en-US" altLang="en-US" dirty="0"/>
              <a:t>100000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Tuple comparison</a:t>
            </a:r>
            <a:endParaRPr lang="en-US" altLang="en-US" dirty="0"/>
          </a:p>
          <a:p>
            <a:pPr lvl="1"/>
            <a:r>
              <a:rPr lang="en-US" altLang="en-US" b="1" dirty="0"/>
              <a:t>select </a:t>
            </a:r>
            <a:r>
              <a:rPr lang="en-US" altLang="en-US" i="1" dirty="0"/>
              <a:t>name</a:t>
            </a:r>
            <a:r>
              <a:rPr lang="en-US" altLang="en-US" dirty="0"/>
              <a:t>, </a:t>
            </a:r>
            <a:r>
              <a:rPr lang="en-US" altLang="en-US" i="1" dirty="0"/>
              <a:t>course_id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r>
              <a:rPr lang="en-US" altLang="en-US" dirty="0"/>
              <a:t>, </a:t>
            </a:r>
            <a:r>
              <a:rPr lang="en-US" altLang="en-US" i="1" dirty="0"/>
              <a:t>teaches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dirty="0"/>
              <a:t>(</a:t>
            </a:r>
            <a:r>
              <a:rPr lang="en-US" altLang="en-US" i="1" dirty="0"/>
              <a:t>instructor</a:t>
            </a:r>
            <a:r>
              <a:rPr lang="en-US" altLang="en-US" dirty="0"/>
              <a:t>.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i="1" dirty="0"/>
              <a:t>dept_name</a:t>
            </a:r>
            <a:r>
              <a:rPr lang="en-US" altLang="en-US" dirty="0"/>
              <a:t>) = (</a:t>
            </a:r>
            <a:r>
              <a:rPr lang="en-US" altLang="en-US" i="1" dirty="0"/>
              <a:t>teaches</a:t>
            </a:r>
            <a:r>
              <a:rPr lang="en-US" altLang="en-US" dirty="0"/>
              <a:t>.</a:t>
            </a:r>
            <a:r>
              <a:rPr lang="en-US" altLang="en-US" i="1" dirty="0"/>
              <a:t>ID</a:t>
            </a:r>
            <a:r>
              <a:rPr lang="en-US" altLang="en-US" dirty="0"/>
              <a:t>, ’Biology’);</a:t>
            </a:r>
            <a:endParaRPr lang="en-US" altLang="en-US" dirty="0"/>
          </a:p>
          <a:p>
            <a:pPr lvl="1"/>
            <a:endParaRPr lang="en-US" altLang="en-US" sz="2000" dirty="0">
              <a:latin typeface="Times New Roman" panose="0202050305040509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+mn-ea"/>
              </a:rPr>
              <a:t>Set Semantics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dirty="0"/>
              <a:t>Set: a collection of distinct elements</a:t>
            </a:r>
            <a:endParaRPr lang="en-US" dirty="0"/>
          </a:p>
          <a:p>
            <a:endParaRPr lang="en-US" dirty="0"/>
          </a:p>
          <a:p>
            <a:r>
              <a:rPr lang="en-US" dirty="0"/>
              <a:t>Standard ways of manipulating/combining sets</a:t>
            </a:r>
            <a:endParaRPr lang="en-US" dirty="0"/>
          </a:p>
          <a:p>
            <a:pPr lvl="1"/>
            <a:r>
              <a:rPr lang="en-US" dirty="0"/>
              <a:t>Union</a:t>
            </a:r>
            <a:endParaRPr lang="en-US" dirty="0"/>
          </a:p>
          <a:p>
            <a:pPr lvl="1"/>
            <a:r>
              <a:rPr lang="en-US" dirty="0"/>
              <a:t>Intersect</a:t>
            </a:r>
            <a:endParaRPr lang="en-US" dirty="0"/>
          </a:p>
          <a:p>
            <a:pPr lvl="1"/>
            <a:r>
              <a:rPr lang="en-US" dirty="0"/>
              <a:t>Except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Treat tuples within a relation as elements of a set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+mn-ea"/>
              </a:rPr>
              <a:t>Set Semantics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814705" y="1094105"/>
            <a:ext cx="3298825" cy="4903470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p>
            <a:pPr marL="0" indent="0">
              <a:spcBef>
                <a:spcPts val="0"/>
              </a:spcBef>
              <a:buNone/>
            </a:pPr>
            <a:r>
              <a:rPr lang="de-DE" sz="1800" dirty="0"/>
              <a:t>R = {</a:t>
            </a:r>
            <a:r>
              <a:rPr lang="de-DE" sz="1800" dirty="0">
                <a:solidFill>
                  <a:srgbClr val="F89400"/>
                </a:solidFill>
              </a:rPr>
              <a:t>A, A, A, A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B0F0"/>
                </a:solidFill>
              </a:rPr>
              <a:t>B, B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2060"/>
                </a:solidFill>
              </a:rPr>
              <a:t>C</a:t>
            </a:r>
            <a:r>
              <a:rPr lang="de-DE" sz="1800" dirty="0">
                <a:solidFill>
                  <a:srgbClr val="1B8301"/>
                </a:solidFill>
              </a:rPr>
              <a:t>, </a:t>
            </a:r>
            <a:r>
              <a:rPr lang="de-DE" sz="1800" dirty="0">
                <a:solidFill>
                  <a:srgbClr val="00B050"/>
                </a:solidFill>
              </a:rPr>
              <a:t>D</a:t>
            </a:r>
            <a:r>
              <a:rPr lang="de-DE" sz="1800" dirty="0"/>
              <a:t>}</a:t>
            </a:r>
            <a:br>
              <a:rPr lang="de-DE" sz="1800" dirty="0"/>
            </a:br>
            <a:r>
              <a:rPr lang="de-DE" sz="1800" dirty="0"/>
              <a:t>S = {</a:t>
            </a:r>
            <a:r>
              <a:rPr lang="de-DE" sz="1800" dirty="0">
                <a:solidFill>
                  <a:srgbClr val="F89400"/>
                </a:solidFill>
              </a:rPr>
              <a:t>A, A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B0F0"/>
                </a:solidFill>
              </a:rPr>
              <a:t>B, B, B</a:t>
            </a:r>
            <a:r>
              <a:rPr lang="de-DE" sz="1800" dirty="0">
                <a:solidFill>
                  <a:schemeClr val="accent1"/>
                </a:solidFill>
              </a:rPr>
              <a:t>,</a:t>
            </a:r>
            <a:r>
              <a:rPr lang="de-DE" sz="1800" dirty="0"/>
              <a:t> </a:t>
            </a:r>
            <a:r>
              <a:rPr lang="de-DE" sz="1800" dirty="0">
                <a:solidFill>
                  <a:srgbClr val="002060"/>
                </a:solidFill>
              </a:rPr>
              <a:t>C</a:t>
            </a:r>
            <a:r>
              <a:rPr lang="de-DE" sz="1800" dirty="0">
                <a:solidFill>
                  <a:srgbClr val="7030A0"/>
                </a:solidFill>
              </a:rPr>
              <a:t>, </a:t>
            </a:r>
            <a:r>
              <a:rPr lang="de-DE" sz="1800" dirty="0">
                <a:solidFill>
                  <a:srgbClr val="FC62F0"/>
                </a:solidFill>
              </a:rPr>
              <a:t>E</a:t>
            </a:r>
            <a:r>
              <a:rPr lang="de-DE" sz="1800" dirty="0"/>
              <a:t>}</a:t>
            </a:r>
            <a:endParaRPr lang="de-DE" sz="1800" dirty="0"/>
          </a:p>
          <a:p>
            <a:pPr marL="257175" indent="-257175" latinLnBrk="0">
              <a:lnSpc>
                <a:spcPct val="150000"/>
              </a:lnSpc>
              <a:spcBef>
                <a:spcPts val="1500"/>
              </a:spcBef>
              <a:buSzPts val="2400"/>
            </a:pPr>
            <a:r>
              <a:rPr lang="de-DE" sz="1800" dirty="0"/>
              <a:t>UNION</a:t>
            </a:r>
            <a:br>
              <a:rPr lang="de-DE" sz="1800" dirty="0"/>
            </a:br>
            <a:r>
              <a:rPr lang="de-DE" sz="1800" dirty="0"/>
              <a:t>	{</a:t>
            </a:r>
            <a:r>
              <a:rPr lang="de-DE" sz="1800" dirty="0">
                <a:solidFill>
                  <a:srgbClr val="F89400"/>
                </a:solidFill>
              </a:rPr>
              <a:t>A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B0F0"/>
                </a:solidFill>
              </a:rPr>
              <a:t>B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2060"/>
                </a:solidFill>
              </a:rPr>
              <a:t>C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B050"/>
                </a:solidFill>
              </a:rPr>
              <a:t>D</a:t>
            </a:r>
            <a:r>
              <a:rPr lang="de-DE" sz="1800" dirty="0">
                <a:solidFill>
                  <a:schemeClr val="dk1"/>
                </a:solidFill>
              </a:rPr>
              <a:t>, </a:t>
            </a:r>
            <a:r>
              <a:rPr lang="de-DE" sz="1800" dirty="0">
                <a:solidFill>
                  <a:srgbClr val="FC62F0"/>
                </a:solidFill>
              </a:rPr>
              <a:t>E</a:t>
            </a:r>
            <a:r>
              <a:rPr lang="de-DE" sz="1800" dirty="0"/>
              <a:t>}</a:t>
            </a:r>
            <a:endParaRPr lang="de-DE" sz="1800" dirty="0"/>
          </a:p>
          <a:p>
            <a:pPr marL="257175" indent="-257175" latinLnBrk="0">
              <a:lnSpc>
                <a:spcPct val="150000"/>
              </a:lnSpc>
              <a:spcBef>
                <a:spcPts val="360"/>
              </a:spcBef>
              <a:buSzPts val="2400"/>
            </a:pPr>
            <a:r>
              <a:rPr lang="de-DE" sz="1800" dirty="0"/>
              <a:t>INTERSECT</a:t>
            </a:r>
            <a:br>
              <a:rPr lang="de-DE" sz="1800" dirty="0"/>
            </a:br>
            <a:r>
              <a:rPr lang="de-DE" sz="1800" dirty="0"/>
              <a:t>	 {</a:t>
            </a:r>
            <a:r>
              <a:rPr lang="de-DE" sz="1800" dirty="0">
                <a:solidFill>
                  <a:srgbClr val="F89400"/>
                </a:solidFill>
              </a:rPr>
              <a:t>A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B0F0"/>
                </a:solidFill>
              </a:rPr>
              <a:t>B</a:t>
            </a:r>
            <a:r>
              <a:rPr lang="de-DE" sz="1800" dirty="0"/>
              <a:t>, </a:t>
            </a:r>
            <a:r>
              <a:rPr lang="de-DE" sz="1800" dirty="0">
                <a:solidFill>
                  <a:srgbClr val="002060"/>
                </a:solidFill>
              </a:rPr>
              <a:t>C</a:t>
            </a:r>
            <a:r>
              <a:rPr lang="de-DE" sz="1800" dirty="0"/>
              <a:t>}</a:t>
            </a:r>
            <a:endParaRPr lang="de-DE" sz="1800" dirty="0"/>
          </a:p>
          <a:p>
            <a:pPr marL="257175" indent="-257175" latinLnBrk="0">
              <a:lnSpc>
                <a:spcPct val="150000"/>
              </a:lnSpc>
              <a:spcBef>
                <a:spcPts val="360"/>
              </a:spcBef>
              <a:buSzPts val="2400"/>
            </a:pPr>
            <a:r>
              <a:rPr lang="de-DE" sz="1800" dirty="0"/>
              <a:t>EXCEPT</a:t>
            </a:r>
            <a:br>
              <a:rPr lang="de-DE" sz="1800" dirty="0"/>
            </a:br>
            <a:r>
              <a:rPr lang="de-DE" sz="1800" dirty="0"/>
              <a:t>	 {</a:t>
            </a:r>
            <a:r>
              <a:rPr lang="de-DE" sz="1800" dirty="0">
                <a:solidFill>
                  <a:srgbClr val="00B050"/>
                </a:solidFill>
              </a:rPr>
              <a:t>D</a:t>
            </a:r>
            <a:r>
              <a:rPr lang="de-DE" sz="1800" dirty="0"/>
              <a:t>}</a:t>
            </a:r>
            <a:endParaRPr lang="de-DE" sz="1800" dirty="0"/>
          </a:p>
          <a:p>
            <a:pPr marL="257175" indent="-257175">
              <a:spcBef>
                <a:spcPts val="360"/>
              </a:spcBef>
              <a:buSzPts val="2400"/>
            </a:pPr>
            <a:endParaRPr lang="de-DE" sz="1800" dirty="0"/>
          </a:p>
          <a:p>
            <a:pPr marL="257175" indent="-257175">
              <a:spcBef>
                <a:spcPts val="360"/>
              </a:spcBef>
              <a:buSzPts val="2400"/>
            </a:pPr>
            <a:endParaRPr lang="de-DE" sz="1800" dirty="0"/>
          </a:p>
        </p:txBody>
      </p:sp>
      <p:sp>
        <p:nvSpPr>
          <p:cNvPr id="6" name="Text Placeholder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1365" y="1094105"/>
            <a:ext cx="4121150" cy="490347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  <a:defRPr kumimoji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Arial" panose="020B0604020202090204" pitchFamily="34" charset="0"/>
              <a:buChar char="•"/>
              <a:defRPr kumimoji="1">
                <a:solidFill>
                  <a:schemeClr val="dk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Arial" panose="020B0604020202090204" pitchFamily="34" charset="0"/>
              <a:buChar char="•"/>
              <a:defRPr kumimoji="1">
                <a:solidFill>
                  <a:schemeClr val="dk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90204" pitchFamily="34" charset="0"/>
              <a:buChar char="•"/>
              <a:defRPr kumimoji="1">
                <a:solidFill>
                  <a:schemeClr val="dk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Arial" panose="020B0604020202090204" pitchFamily="34" charset="0"/>
              <a:buChar char="•"/>
              <a:defRPr kumimoji="1">
                <a:solidFill>
                  <a:schemeClr val="dk1"/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dk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dk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dk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dk1"/>
                </a:solidFill>
                <a:latin typeface="+mn-lt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90204" pitchFamily="34" charset="0"/>
              <a:buChar char="•"/>
            </a:pPr>
            <a:r>
              <a:rPr lang="en-US" sz="18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Note: Think of each letter as being a </a:t>
            </a:r>
            <a:r>
              <a:rPr lang="en-US" sz="18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tuple</a:t>
            </a:r>
            <a:r>
              <a:rPr lang="en-US" sz="18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in  </a:t>
            </a:r>
            <a:r>
              <a:rPr lang="en-US" sz="18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relation.</a:t>
            </a:r>
            <a:endParaRPr lang="en-US" sz="1800" b="1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Arial" panose="020B0604020202090204" pitchFamily="34" charset="0"/>
              <a:buChar char="•"/>
            </a:pPr>
            <a:r>
              <a:rPr lang="de-DE" sz="1800" kern="0" dirty="0">
                <a:solidFill>
                  <a:srgbClr val="F89400"/>
                </a:solidFill>
                <a:sym typeface="Tahoma" panose="020B0604030504040204"/>
              </a:rPr>
              <a:t>A</a:t>
            </a:r>
            <a:r>
              <a:rPr lang="en-US" sz="18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:  </a:t>
            </a:r>
            <a:r>
              <a:rPr lang="en-US" sz="18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(Jim, 18, English, 4.0) </a:t>
            </a:r>
            <a:endParaRPr lang="en-US" sz="1800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Arial" panose="020B0604020202090204" pitchFamily="34" charset="0"/>
              <a:buChar char="•"/>
            </a:pPr>
            <a:r>
              <a:rPr lang="de-DE" sz="1800" kern="0" dirty="0">
                <a:solidFill>
                  <a:srgbClr val="00B0F0"/>
                </a:solidFill>
                <a:sym typeface="Tahoma" panose="020B0604030504040204"/>
              </a:rPr>
              <a:t>B</a:t>
            </a:r>
            <a:r>
              <a:rPr lang="en-US" sz="18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:  </a:t>
            </a:r>
            <a:r>
              <a:rPr lang="en-US" sz="18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(Marcela , 20, CS, 3.8)</a:t>
            </a:r>
            <a:endParaRPr lang="en-US" sz="1800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Arial" panose="020B0604020202090204" pitchFamily="34" charset="0"/>
              <a:buChar char="•"/>
            </a:pPr>
            <a:r>
              <a:rPr lang="de-DE" sz="1800" kern="0" dirty="0">
                <a:solidFill>
                  <a:srgbClr val="002060"/>
                </a:solidFill>
                <a:sym typeface="Tahoma" panose="020B0604030504040204"/>
              </a:rPr>
              <a:t>C</a:t>
            </a:r>
            <a:r>
              <a:rPr lang="en-US" sz="18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:  </a:t>
            </a:r>
            <a:r>
              <a:rPr lang="en-US" sz="18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(Gail, 19, Statistics, 3.74)</a:t>
            </a:r>
            <a:endParaRPr lang="en-US" sz="1800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Arial" panose="020B0604020202090204" pitchFamily="34" charset="0"/>
              <a:buChar char="•"/>
            </a:pPr>
            <a:r>
              <a:rPr lang="de-DE" sz="1800" kern="0" dirty="0">
                <a:solidFill>
                  <a:srgbClr val="00B050"/>
                </a:solidFill>
                <a:sym typeface="Tahoma" panose="020B0604030504040204"/>
              </a:rPr>
              <a:t>D</a:t>
            </a:r>
            <a:r>
              <a:rPr lang="en-US" sz="18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:  </a:t>
            </a:r>
            <a:r>
              <a:rPr lang="en-US" sz="18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(Goddard, 20, Math, 3.8)</a:t>
            </a:r>
            <a:endParaRPr lang="en-US" altLang="en-US" sz="1800" dirty="0">
              <a:solidFill>
                <a:schemeClr val="dk1"/>
              </a:solidFill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257175" indent="-257175">
              <a:spcBef>
                <a:spcPts val="360"/>
              </a:spcBef>
              <a:buSzPts val="2400"/>
            </a:pPr>
            <a:endParaRPr lang="de-DE" sz="1800" dirty="0"/>
          </a:p>
          <a:p>
            <a:pPr marL="257175" indent="-257175">
              <a:spcBef>
                <a:spcPts val="360"/>
              </a:spcBef>
              <a:buSzPts val="2400"/>
            </a:pPr>
            <a:endParaRPr lang="de-DE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Duplicates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2" name="Rectangle 3"/>
          <p:cNvSpPr>
            <a:spLocks noGrp="1"/>
          </p:cNvSpPr>
          <p:nvPr>
            <p:ph idx="1"/>
          </p:nvPr>
        </p:nvSpPr>
        <p:spPr>
          <a:xfrm>
            <a:off x="814388" y="1104900"/>
            <a:ext cx="6991350" cy="4549775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437005" algn="l"/>
                <a:tab pos="2176780" algn="l"/>
              </a:tabLst>
            </a:pPr>
            <a:r>
              <a:rPr lang="en-US" altLang="en-US" dirty="0"/>
              <a:t>Example: Suppose multiset relations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(</a:t>
            </a:r>
            <a:r>
              <a:rPr lang="en-US" altLang="en-US" i="1" dirty="0"/>
              <a:t>A, B</a:t>
            </a:r>
            <a:r>
              <a:rPr lang="en-US" altLang="en-US" dirty="0"/>
              <a:t>)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(</a:t>
            </a:r>
            <a:r>
              <a:rPr lang="en-US" altLang="en-US" i="1" dirty="0"/>
              <a:t>C</a:t>
            </a:r>
            <a:r>
              <a:rPr lang="en-US" altLang="en-US" dirty="0"/>
              <a:t>) are as follows:</a:t>
            </a:r>
            <a:endParaRPr lang="en-US" altLang="en-US" dirty="0"/>
          </a:p>
          <a:p>
            <a:pPr defTabSz="91440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= {(1, </a:t>
            </a:r>
            <a:r>
              <a:rPr lang="en-US" altLang="en-US" i="1" dirty="0"/>
              <a:t>a</a:t>
            </a:r>
            <a:r>
              <a:rPr lang="en-US" altLang="en-US" dirty="0"/>
              <a:t>) (2,</a:t>
            </a:r>
            <a:r>
              <a:rPr lang="en-US" altLang="en-US" i="1" dirty="0"/>
              <a:t>a</a:t>
            </a:r>
            <a:r>
              <a:rPr lang="en-US" altLang="en-US" dirty="0"/>
              <a:t>)}    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= {(2), (3), (3)}</a:t>
            </a:r>
            <a:endParaRPr lang="en-US" altLang="en-US" dirty="0"/>
          </a:p>
          <a:p>
            <a:pPr defTabSz="914400">
              <a:tabLst>
                <a:tab pos="1437005" algn="l"/>
                <a:tab pos="2176780" algn="l"/>
              </a:tabLst>
            </a:pPr>
            <a:endParaRPr lang="en-US" altLang="en-US" dirty="0"/>
          </a:p>
          <a:p>
            <a:pPr defTabSz="914400">
              <a:tabLst>
                <a:tab pos="1437005" algn="l"/>
                <a:tab pos="2176780" algn="l"/>
              </a:tabLst>
            </a:pPr>
            <a:r>
              <a:rPr lang="en-US" altLang="en-US" dirty="0"/>
              <a:t>Then </a:t>
            </a:r>
            <a:r>
              <a:rPr lang="en-US" altLang="en-US" dirty="0">
                <a:sym typeface="Symbol" charset="2"/>
              </a:rPr>
              <a:t></a:t>
            </a:r>
            <a:r>
              <a:rPr lang="en-US" altLang="en-US" sz="2000" i="1" baseline="-25000" dirty="0">
                <a:sym typeface="Symbol" charset="2"/>
              </a:rPr>
              <a:t>B</a:t>
            </a:r>
            <a:r>
              <a:rPr lang="en-US" altLang="en-US" dirty="0">
                <a:sym typeface="Symbol" charset="2"/>
              </a:rPr>
              <a:t>(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) would be {(a), (a)}, while </a:t>
            </a:r>
            <a:r>
              <a:rPr lang="en-US" altLang="en-US" dirty="0">
                <a:sym typeface="Symbol" charset="2"/>
              </a:rPr>
              <a:t></a:t>
            </a:r>
            <a:r>
              <a:rPr lang="en-US" altLang="en-US" sz="2000" i="1" baseline="-25000" dirty="0">
                <a:sym typeface="Symbol" charset="2"/>
              </a:rPr>
              <a:t>B</a:t>
            </a:r>
            <a:r>
              <a:rPr lang="en-US" altLang="en-US" dirty="0">
                <a:sym typeface="Symbol" charset="2"/>
              </a:rPr>
              <a:t>(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) x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would be</a:t>
            </a:r>
            <a:endParaRPr lang="en-US" altLang="en-US" dirty="0"/>
          </a:p>
          <a:p>
            <a:pPr defTabSz="91440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{(</a:t>
            </a:r>
            <a:r>
              <a:rPr lang="en-US" altLang="en-US" i="1" dirty="0"/>
              <a:t>a</a:t>
            </a:r>
            <a:r>
              <a:rPr lang="en-US" altLang="en-US" dirty="0"/>
              <a:t>,2), (</a:t>
            </a:r>
            <a:r>
              <a:rPr lang="en-US" altLang="en-US" i="1" dirty="0"/>
              <a:t>a</a:t>
            </a:r>
            <a:r>
              <a:rPr lang="en-US" altLang="en-US" dirty="0"/>
              <a:t>,2), (</a:t>
            </a:r>
            <a:r>
              <a:rPr lang="en-US" altLang="en-US" i="1" dirty="0"/>
              <a:t>a</a:t>
            </a:r>
            <a:r>
              <a:rPr lang="en-US" altLang="en-US" dirty="0"/>
              <a:t>,3), (</a:t>
            </a:r>
            <a:r>
              <a:rPr lang="en-US" altLang="en-US" i="1" dirty="0"/>
              <a:t>a</a:t>
            </a:r>
            <a:r>
              <a:rPr lang="en-US" altLang="en-US" dirty="0"/>
              <a:t>,3), (</a:t>
            </a:r>
            <a:r>
              <a:rPr lang="en-US" altLang="en-US" i="1" dirty="0"/>
              <a:t>a</a:t>
            </a:r>
            <a:r>
              <a:rPr lang="en-US" altLang="en-US" dirty="0"/>
              <a:t>,3), (</a:t>
            </a:r>
            <a:r>
              <a:rPr lang="en-US" altLang="en-US" i="1" dirty="0"/>
              <a:t>a</a:t>
            </a:r>
            <a:r>
              <a:rPr lang="en-US" altLang="en-US" dirty="0"/>
              <a:t>,3)}</a:t>
            </a:r>
            <a:endParaRPr lang="en-US" altLang="en-US" dirty="0"/>
          </a:p>
          <a:p>
            <a:pPr defTabSz="914400">
              <a:tabLst>
                <a:tab pos="1437005" algn="l"/>
                <a:tab pos="2176780" algn="l"/>
              </a:tabLst>
            </a:pPr>
            <a:endParaRPr lang="en-US" altLang="en-US" dirty="0"/>
          </a:p>
          <a:p>
            <a:pPr defTabSz="914400">
              <a:tabLst>
                <a:tab pos="1437005" algn="l"/>
                <a:tab pos="2176780" algn="l"/>
              </a:tabLst>
            </a:pPr>
            <a:r>
              <a:rPr lang="en-US" altLang="en-US" dirty="0"/>
              <a:t>SQL duplicate semantics: </a:t>
            </a:r>
            <a:endParaRPr lang="en-US" altLang="en-US" dirty="0"/>
          </a:p>
          <a:p>
            <a:pPr defTabSz="91440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baseline="-25000" dirty="0"/>
              <a:t>, 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sz="2000" i="1" baseline="-25000" dirty="0"/>
              <a:t>n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r</a:t>
            </a:r>
            <a:r>
              <a:rPr lang="en-US" altLang="en-US" sz="2000" i="1" baseline="-25000" dirty="0"/>
              <a:t>m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P</a:t>
            </a:r>
            <a:endParaRPr lang="en-US" altLang="en-US" i="1" dirty="0"/>
          </a:p>
          <a:p>
            <a:pPr defTabSz="914400">
              <a:buNone/>
              <a:tabLst>
                <a:tab pos="1437005" algn="l"/>
                <a:tab pos="2176780" algn="l"/>
              </a:tabLst>
            </a:pPr>
            <a:r>
              <a:rPr lang="en-US" altLang="en-US" i="1" dirty="0"/>
              <a:t>	</a:t>
            </a:r>
            <a:r>
              <a:rPr lang="en-US" altLang="en-US" dirty="0"/>
              <a:t>is equivalent to the </a:t>
            </a:r>
            <a:r>
              <a:rPr lang="en-US" altLang="en-US" i="1" dirty="0"/>
              <a:t>multiset</a:t>
            </a:r>
            <a:r>
              <a:rPr lang="en-US" altLang="en-US" dirty="0"/>
              <a:t> version of the expression:</a:t>
            </a:r>
            <a:endParaRPr lang="en-US" altLang="en-US" dirty="0"/>
          </a:p>
          <a:p>
            <a:pPr defTabSz="91440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</a:t>
            </a:r>
            <a:endParaRPr lang="en-US" altLang="en-US" i="1" baseline="-25000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298065" y="5337175"/>
          <a:ext cx="3640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022600" imgH="355600" progId="Equation.3">
                  <p:embed/>
                </p:oleObj>
              </mc:Choice>
              <mc:Fallback>
                <p:oleObj name="" r:id="rId1" imgW="3022600" imgH="355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98065" y="5337175"/>
                        <a:ext cx="3640138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381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Operations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814388" y="1108075"/>
            <a:ext cx="7661275" cy="511175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481455" algn="l"/>
              </a:tabLst>
            </a:pPr>
            <a:r>
              <a:rPr lang="en-US" altLang="en-US" dirty="0"/>
              <a:t>Find courses that ran in Fall 2009 or in Spring 2010</a:t>
            </a:r>
            <a:endParaRPr lang="en-US" altLang="en-US" dirty="0"/>
          </a:p>
        </p:txBody>
      </p:sp>
      <p:sp>
        <p:nvSpPr>
          <p:cNvPr id="31748" name="Text Box 4"/>
          <p:cNvSpPr txBox="1"/>
          <p:nvPr/>
        </p:nvSpPr>
        <p:spPr>
          <a:xfrm>
            <a:off x="819150" y="4222750"/>
            <a:ext cx="6341745" cy="3397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285750" indent="-285750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</a:t>
            </a:r>
            <a:r>
              <a:rPr lang="en-US" altLang="en-US" sz="1600" dirty="0">
                <a:latin typeface="Helvetica" pitchFamily="34" charset="0"/>
              </a:rPr>
              <a:t> </a:t>
            </a:r>
            <a:r>
              <a:rPr lang="en-US" altLang="en-US" dirty="0">
                <a:latin typeface="Helvetica" pitchFamily="34" charset="0"/>
              </a:rPr>
              <a:t>Find courses that ran in Fall 2009 but not in Spring 2010</a:t>
            </a:r>
            <a:endParaRPr lang="en-US" altLang="en-US" dirty="0">
              <a:latin typeface="Helvetica" pitchFamily="34" charset="0"/>
            </a:endParaRPr>
          </a:p>
        </p:txBody>
      </p:sp>
      <p:sp>
        <p:nvSpPr>
          <p:cNvPr id="31749" name="Text Box 5"/>
          <p:cNvSpPr txBox="1"/>
          <p:nvPr/>
        </p:nvSpPr>
        <p:spPr>
          <a:xfrm>
            <a:off x="1141413" y="1560513"/>
            <a:ext cx="7540625" cy="915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</a:pPr>
            <a:r>
              <a:rPr lang="en-US" altLang="en-US" dirty="0">
                <a:latin typeface="Helvetica" pitchFamily="34" charset="0"/>
              </a:rPr>
              <a:t>(</a:t>
            </a:r>
            <a:r>
              <a:rPr lang="en-US" altLang="en-US" b="1" dirty="0">
                <a:latin typeface="Helvetica" pitchFamily="34" charset="0"/>
              </a:rPr>
              <a:t>select</a:t>
            </a: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i="1" dirty="0">
                <a:latin typeface="Helvetica" pitchFamily="34" charset="0"/>
              </a:rPr>
              <a:t>course_id </a:t>
            </a:r>
            <a:r>
              <a:rPr lang="en-US" altLang="en-US" b="1" dirty="0">
                <a:latin typeface="Helvetica" pitchFamily="34" charset="0"/>
              </a:rPr>
              <a:t>from </a:t>
            </a:r>
            <a:r>
              <a:rPr lang="en-US" altLang="en-US" i="1" dirty="0">
                <a:latin typeface="Helvetica" pitchFamily="34" charset="0"/>
              </a:rPr>
              <a:t>section </a:t>
            </a:r>
            <a:r>
              <a:rPr lang="en-US" altLang="en-US" b="1" dirty="0">
                <a:latin typeface="Helvetica" pitchFamily="34" charset="0"/>
              </a:rPr>
              <a:t>where </a:t>
            </a:r>
            <a:r>
              <a:rPr lang="en-US" altLang="en-US" i="1" dirty="0">
                <a:latin typeface="Helvetica" pitchFamily="34" charset="0"/>
              </a:rPr>
              <a:t>sem = </a:t>
            </a:r>
            <a:r>
              <a:rPr lang="en-US" altLang="en-US" dirty="0">
                <a:latin typeface="Helvetica" pitchFamily="34" charset="0"/>
              </a:rPr>
              <a:t>‘Fall’ </a:t>
            </a:r>
            <a:r>
              <a:rPr lang="en-US" altLang="en-US" b="1" dirty="0">
                <a:latin typeface="Helvetica" pitchFamily="34" charset="0"/>
              </a:rPr>
              <a:t>and </a:t>
            </a:r>
            <a:r>
              <a:rPr lang="en-US" altLang="en-US" i="1" dirty="0">
                <a:latin typeface="Helvetica" pitchFamily="34" charset="0"/>
              </a:rPr>
              <a:t>year = </a:t>
            </a:r>
            <a:r>
              <a:rPr lang="en-US" altLang="en-US" dirty="0">
                <a:latin typeface="Helvetica" pitchFamily="34" charset="0"/>
              </a:rPr>
              <a:t>2009)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b="1" dirty="0">
                <a:latin typeface="Helvetica" pitchFamily="34" charset="0"/>
              </a:rPr>
              <a:t>union</a:t>
            </a:r>
            <a:br>
              <a:rPr lang="en-US" altLang="en-US" b="1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(</a:t>
            </a:r>
            <a:r>
              <a:rPr lang="en-US" altLang="en-US" b="1" dirty="0">
                <a:latin typeface="Helvetica" pitchFamily="34" charset="0"/>
              </a:rPr>
              <a:t>select</a:t>
            </a: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i="1" dirty="0">
                <a:latin typeface="Helvetica" pitchFamily="34" charset="0"/>
              </a:rPr>
              <a:t>course_id </a:t>
            </a:r>
            <a:r>
              <a:rPr lang="en-US" altLang="en-US" b="1" dirty="0">
                <a:latin typeface="Helvetica" pitchFamily="34" charset="0"/>
              </a:rPr>
              <a:t>from </a:t>
            </a:r>
            <a:r>
              <a:rPr lang="en-US" altLang="en-US" i="1" dirty="0">
                <a:latin typeface="Helvetica" pitchFamily="34" charset="0"/>
              </a:rPr>
              <a:t>section </a:t>
            </a:r>
            <a:r>
              <a:rPr lang="en-US" altLang="en-US" b="1" dirty="0">
                <a:latin typeface="Helvetica" pitchFamily="34" charset="0"/>
              </a:rPr>
              <a:t>where </a:t>
            </a:r>
            <a:r>
              <a:rPr lang="en-US" altLang="en-US" i="1" dirty="0">
                <a:latin typeface="Helvetica" pitchFamily="34" charset="0"/>
              </a:rPr>
              <a:t>sem = </a:t>
            </a:r>
            <a:r>
              <a:rPr lang="en-US" altLang="en-US" dirty="0">
                <a:latin typeface="Helvetica" pitchFamily="34" charset="0"/>
              </a:rPr>
              <a:t>‘Spring’ </a:t>
            </a:r>
            <a:r>
              <a:rPr lang="en-US" altLang="en-US" b="1" dirty="0">
                <a:latin typeface="Helvetica" pitchFamily="34" charset="0"/>
              </a:rPr>
              <a:t>and </a:t>
            </a:r>
            <a:r>
              <a:rPr lang="en-US" altLang="en-US" i="1" dirty="0">
                <a:latin typeface="Helvetica" pitchFamily="34" charset="0"/>
              </a:rPr>
              <a:t>year = </a:t>
            </a:r>
            <a:r>
              <a:rPr lang="en-US" altLang="en-US" dirty="0">
                <a:latin typeface="Helvetica" pitchFamily="34" charset="0"/>
              </a:rPr>
              <a:t>2010)</a:t>
            </a:r>
            <a:endParaRPr lang="en-US" altLang="en-US" dirty="0">
              <a:latin typeface="Helvetica" pitchFamily="34" charset="0"/>
            </a:endParaRPr>
          </a:p>
        </p:txBody>
      </p:sp>
      <p:sp>
        <p:nvSpPr>
          <p:cNvPr id="31750" name="Text Box 6"/>
          <p:cNvSpPr txBox="1"/>
          <p:nvPr/>
        </p:nvSpPr>
        <p:spPr>
          <a:xfrm>
            <a:off x="847725" y="2678113"/>
            <a:ext cx="59677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Find courses that ran in Fall 2009 and in Spring 2010</a:t>
            </a:r>
            <a:endParaRPr lang="en-US" altLang="en-US" dirty="0">
              <a:latin typeface="Helvetica" pitchFamily="34" charset="0"/>
            </a:endParaRPr>
          </a:p>
        </p:txBody>
      </p:sp>
      <p:sp>
        <p:nvSpPr>
          <p:cNvPr id="31751" name="Text Box 7"/>
          <p:cNvSpPr txBox="1"/>
          <p:nvPr/>
        </p:nvSpPr>
        <p:spPr>
          <a:xfrm>
            <a:off x="1150938" y="3094038"/>
            <a:ext cx="7540625" cy="915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</a:pPr>
            <a:r>
              <a:rPr lang="en-US" altLang="en-US" dirty="0">
                <a:latin typeface="Helvetica" pitchFamily="34" charset="0"/>
              </a:rPr>
              <a:t>(</a:t>
            </a:r>
            <a:r>
              <a:rPr lang="en-US" altLang="en-US" b="1" dirty="0">
                <a:latin typeface="Helvetica" pitchFamily="34" charset="0"/>
              </a:rPr>
              <a:t>select</a:t>
            </a: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i="1" dirty="0">
                <a:latin typeface="Helvetica" pitchFamily="34" charset="0"/>
              </a:rPr>
              <a:t>course_id </a:t>
            </a:r>
            <a:r>
              <a:rPr lang="en-US" altLang="en-US" b="1" dirty="0">
                <a:latin typeface="Helvetica" pitchFamily="34" charset="0"/>
              </a:rPr>
              <a:t>from </a:t>
            </a:r>
            <a:r>
              <a:rPr lang="en-US" altLang="en-US" i="1" dirty="0">
                <a:latin typeface="Helvetica" pitchFamily="34" charset="0"/>
              </a:rPr>
              <a:t>section </a:t>
            </a:r>
            <a:r>
              <a:rPr lang="en-US" altLang="en-US" b="1" dirty="0">
                <a:latin typeface="Helvetica" pitchFamily="34" charset="0"/>
              </a:rPr>
              <a:t>where </a:t>
            </a:r>
            <a:r>
              <a:rPr lang="en-US" altLang="en-US" i="1" dirty="0">
                <a:latin typeface="Helvetica" pitchFamily="34" charset="0"/>
              </a:rPr>
              <a:t>sem = </a:t>
            </a:r>
            <a:r>
              <a:rPr lang="en-US" altLang="en-US" dirty="0">
                <a:latin typeface="Helvetica" pitchFamily="34" charset="0"/>
              </a:rPr>
              <a:t>‘Fall’ </a:t>
            </a:r>
            <a:r>
              <a:rPr lang="en-US" altLang="en-US" b="1" dirty="0">
                <a:latin typeface="Helvetica" pitchFamily="34" charset="0"/>
              </a:rPr>
              <a:t>and </a:t>
            </a:r>
            <a:r>
              <a:rPr lang="en-US" altLang="en-US" i="1" dirty="0">
                <a:latin typeface="Helvetica" pitchFamily="34" charset="0"/>
              </a:rPr>
              <a:t>year = </a:t>
            </a:r>
            <a:r>
              <a:rPr lang="en-US" altLang="en-US" dirty="0">
                <a:latin typeface="Helvetica" pitchFamily="34" charset="0"/>
              </a:rPr>
              <a:t>2009)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b="1" dirty="0">
                <a:latin typeface="Helvetica" pitchFamily="34" charset="0"/>
              </a:rPr>
              <a:t>intersect</a:t>
            </a:r>
            <a:br>
              <a:rPr lang="en-US" altLang="en-US" b="1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(</a:t>
            </a:r>
            <a:r>
              <a:rPr lang="en-US" altLang="en-US" b="1" dirty="0">
                <a:latin typeface="Helvetica" pitchFamily="34" charset="0"/>
              </a:rPr>
              <a:t>select</a:t>
            </a: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i="1" dirty="0">
                <a:latin typeface="Helvetica" pitchFamily="34" charset="0"/>
              </a:rPr>
              <a:t>course_id </a:t>
            </a:r>
            <a:r>
              <a:rPr lang="en-US" altLang="en-US" b="1" dirty="0">
                <a:latin typeface="Helvetica" pitchFamily="34" charset="0"/>
              </a:rPr>
              <a:t>from </a:t>
            </a:r>
            <a:r>
              <a:rPr lang="en-US" altLang="en-US" i="1" dirty="0">
                <a:latin typeface="Helvetica" pitchFamily="34" charset="0"/>
              </a:rPr>
              <a:t>section </a:t>
            </a:r>
            <a:r>
              <a:rPr lang="en-US" altLang="en-US" b="1" dirty="0">
                <a:latin typeface="Helvetica" pitchFamily="34" charset="0"/>
              </a:rPr>
              <a:t>where </a:t>
            </a:r>
            <a:r>
              <a:rPr lang="en-US" altLang="en-US" i="1" dirty="0">
                <a:latin typeface="Helvetica" pitchFamily="34" charset="0"/>
              </a:rPr>
              <a:t>sem = </a:t>
            </a:r>
            <a:r>
              <a:rPr lang="en-US" altLang="en-US" dirty="0">
                <a:latin typeface="Helvetica" pitchFamily="34" charset="0"/>
              </a:rPr>
              <a:t>‘Spring’ </a:t>
            </a:r>
            <a:r>
              <a:rPr lang="en-US" altLang="en-US" b="1" dirty="0">
                <a:latin typeface="Helvetica" pitchFamily="34" charset="0"/>
              </a:rPr>
              <a:t>and </a:t>
            </a:r>
            <a:r>
              <a:rPr lang="en-US" altLang="en-US" i="1" dirty="0">
                <a:latin typeface="Helvetica" pitchFamily="34" charset="0"/>
              </a:rPr>
              <a:t>year = </a:t>
            </a:r>
            <a:r>
              <a:rPr lang="en-US" altLang="en-US" dirty="0">
                <a:latin typeface="Helvetica" pitchFamily="34" charset="0"/>
              </a:rPr>
              <a:t>2010)</a:t>
            </a:r>
            <a:endParaRPr lang="en-US" altLang="en-US" dirty="0">
              <a:latin typeface="Helvetica" pitchFamily="34" charset="0"/>
            </a:endParaRPr>
          </a:p>
        </p:txBody>
      </p:sp>
      <p:sp>
        <p:nvSpPr>
          <p:cNvPr id="31752" name="Text Box 8"/>
          <p:cNvSpPr txBox="1"/>
          <p:nvPr/>
        </p:nvSpPr>
        <p:spPr>
          <a:xfrm>
            <a:off x="1166813" y="4659313"/>
            <a:ext cx="7540625" cy="915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</a:pPr>
            <a:r>
              <a:rPr lang="en-US" altLang="en-US" dirty="0">
                <a:latin typeface="Helvetica" pitchFamily="34" charset="0"/>
              </a:rPr>
              <a:t>(</a:t>
            </a:r>
            <a:r>
              <a:rPr lang="en-US" altLang="en-US" b="1" dirty="0">
                <a:latin typeface="Helvetica" pitchFamily="34" charset="0"/>
              </a:rPr>
              <a:t>select</a:t>
            </a: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i="1" dirty="0">
                <a:latin typeface="Helvetica" pitchFamily="34" charset="0"/>
              </a:rPr>
              <a:t>course_id </a:t>
            </a:r>
            <a:r>
              <a:rPr lang="en-US" altLang="en-US" b="1" dirty="0">
                <a:latin typeface="Helvetica" pitchFamily="34" charset="0"/>
              </a:rPr>
              <a:t>from </a:t>
            </a:r>
            <a:r>
              <a:rPr lang="en-US" altLang="en-US" i="1" dirty="0">
                <a:latin typeface="Helvetica" pitchFamily="34" charset="0"/>
              </a:rPr>
              <a:t>section </a:t>
            </a:r>
            <a:r>
              <a:rPr lang="en-US" altLang="en-US" b="1" dirty="0">
                <a:latin typeface="Helvetica" pitchFamily="34" charset="0"/>
              </a:rPr>
              <a:t>where </a:t>
            </a:r>
            <a:r>
              <a:rPr lang="en-US" altLang="en-US" i="1" dirty="0">
                <a:latin typeface="Helvetica" pitchFamily="34" charset="0"/>
              </a:rPr>
              <a:t>sem = </a:t>
            </a:r>
            <a:r>
              <a:rPr lang="en-US" altLang="en-US" dirty="0">
                <a:latin typeface="Helvetica" pitchFamily="34" charset="0"/>
              </a:rPr>
              <a:t>‘Fall’ </a:t>
            </a:r>
            <a:r>
              <a:rPr lang="en-US" altLang="en-US" b="1" dirty="0">
                <a:latin typeface="Helvetica" pitchFamily="34" charset="0"/>
              </a:rPr>
              <a:t>and </a:t>
            </a:r>
            <a:r>
              <a:rPr lang="en-US" altLang="en-US" i="1" dirty="0">
                <a:latin typeface="Helvetica" pitchFamily="34" charset="0"/>
              </a:rPr>
              <a:t>year = </a:t>
            </a:r>
            <a:r>
              <a:rPr lang="en-US" altLang="en-US" dirty="0">
                <a:latin typeface="Helvetica" pitchFamily="34" charset="0"/>
              </a:rPr>
              <a:t>2009)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b="1" dirty="0">
                <a:latin typeface="Helvetica" pitchFamily="34" charset="0"/>
              </a:rPr>
              <a:t>except</a:t>
            </a:r>
            <a:br>
              <a:rPr lang="en-US" altLang="en-US" b="1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(</a:t>
            </a:r>
            <a:r>
              <a:rPr lang="en-US" altLang="en-US" b="1" dirty="0">
                <a:latin typeface="Helvetica" pitchFamily="34" charset="0"/>
              </a:rPr>
              <a:t>select</a:t>
            </a:r>
            <a:r>
              <a:rPr lang="en-US" altLang="en-US" dirty="0">
                <a:latin typeface="Helvetica" pitchFamily="34" charset="0"/>
              </a:rPr>
              <a:t> </a:t>
            </a:r>
            <a:r>
              <a:rPr lang="en-US" altLang="en-US" i="1" dirty="0">
                <a:latin typeface="Helvetica" pitchFamily="34" charset="0"/>
              </a:rPr>
              <a:t>course_id </a:t>
            </a:r>
            <a:r>
              <a:rPr lang="en-US" altLang="en-US" b="1" dirty="0">
                <a:latin typeface="Helvetica" pitchFamily="34" charset="0"/>
              </a:rPr>
              <a:t>from </a:t>
            </a:r>
            <a:r>
              <a:rPr lang="en-US" altLang="en-US" i="1" dirty="0">
                <a:latin typeface="Helvetica" pitchFamily="34" charset="0"/>
              </a:rPr>
              <a:t>section </a:t>
            </a:r>
            <a:r>
              <a:rPr lang="en-US" altLang="en-US" b="1" dirty="0">
                <a:latin typeface="Helvetica" pitchFamily="34" charset="0"/>
              </a:rPr>
              <a:t>where </a:t>
            </a:r>
            <a:r>
              <a:rPr lang="en-US" altLang="en-US" i="1" dirty="0">
                <a:latin typeface="Helvetica" pitchFamily="34" charset="0"/>
              </a:rPr>
              <a:t>sem = </a:t>
            </a:r>
            <a:r>
              <a:rPr lang="en-US" altLang="en-US" dirty="0">
                <a:latin typeface="Helvetica" pitchFamily="34" charset="0"/>
              </a:rPr>
              <a:t>‘Spring’ </a:t>
            </a:r>
            <a:r>
              <a:rPr lang="en-US" altLang="en-US" b="1" dirty="0">
                <a:latin typeface="Helvetica" pitchFamily="34" charset="0"/>
              </a:rPr>
              <a:t>and </a:t>
            </a:r>
            <a:r>
              <a:rPr lang="en-US" altLang="en-US" i="1" dirty="0">
                <a:latin typeface="Helvetica" pitchFamily="34" charset="0"/>
              </a:rPr>
              <a:t>year = </a:t>
            </a:r>
            <a:r>
              <a:rPr lang="en-US" altLang="en-US" dirty="0">
                <a:latin typeface="Helvetica" pitchFamily="34" charset="0"/>
              </a:rPr>
              <a:t>2010)</a:t>
            </a:r>
            <a:endParaRPr lang="en-US" altLang="en-US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Operations (Cont.)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684213" y="1106488"/>
            <a:ext cx="8435975" cy="4806950"/>
          </a:xfrm>
        </p:spPr>
        <p:txBody>
          <a:bodyPr vert="horz" wrap="square" lIns="90488" tIns="44450" rIns="90488" bIns="44450" anchor="t" anchorCtr="0"/>
          <a:p>
            <a:pPr defTabSz="914400">
              <a:tabLst>
                <a:tab pos="2056130" algn="l"/>
              </a:tabLst>
            </a:pPr>
            <a:r>
              <a:rPr lang="en-US" altLang="en-US" dirty="0"/>
              <a:t>Find the salaries of all instructors that are less than the largest salary.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b="1" dirty="0"/>
              <a:t>select distinct </a:t>
            </a:r>
            <a:r>
              <a:rPr lang="en-US" altLang="en-US" i="1" dirty="0"/>
              <a:t>T.salary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T, instructor </a:t>
            </a:r>
            <a:r>
              <a:rPr lang="en-US" altLang="en-US" b="1" dirty="0"/>
              <a:t>as </a:t>
            </a:r>
            <a:r>
              <a:rPr lang="en-US" altLang="en-US" i="1" dirty="0"/>
              <a:t>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T.salary &lt; S.salary </a:t>
            </a:r>
            <a:endParaRPr lang="en-US" altLang="en-US" i="1" dirty="0"/>
          </a:p>
          <a:p>
            <a:pPr lvl="1" defTabSz="914400">
              <a:buNone/>
              <a:tabLst>
                <a:tab pos="2056130" algn="l"/>
              </a:tabLst>
            </a:pPr>
            <a:endParaRPr lang="en-US" altLang="en-US" i="1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Find all the salaries of all instructors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b="1" dirty="0"/>
              <a:t>select distinct </a:t>
            </a:r>
            <a:r>
              <a:rPr lang="en-US" altLang="en-US" i="1" dirty="0"/>
              <a:t>salary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lvl="1" defTabSz="914400">
              <a:buNone/>
              <a:tabLst>
                <a:tab pos="2056130" algn="l"/>
              </a:tabLst>
            </a:pPr>
            <a:endParaRPr lang="en-US" altLang="en-US" dirty="0"/>
          </a:p>
          <a:p>
            <a:pPr defTabSz="914400">
              <a:tabLst>
                <a:tab pos="2056130" algn="l"/>
              </a:tabLst>
            </a:pPr>
            <a:r>
              <a:rPr lang="en-US" altLang="en-US" dirty="0"/>
              <a:t>Find the largest salary of all instructors.</a:t>
            </a:r>
            <a:endParaRPr lang="en-US" altLang="en-US" dirty="0"/>
          </a:p>
          <a:p>
            <a:pPr lvl="1" defTabSz="914400">
              <a:tabLst>
                <a:tab pos="2056130" algn="l"/>
              </a:tabLst>
            </a:pPr>
            <a:r>
              <a:rPr lang="en-US" altLang="en-US" dirty="0"/>
              <a:t>  (</a:t>
            </a:r>
            <a:r>
              <a:rPr lang="en-US" altLang="en-US" sz="1500" dirty="0"/>
              <a:t>select distinct salary from instructor 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</a:t>
            </a:r>
            <a:r>
              <a:rPr lang="en-US" altLang="en-US" sz="1500" b="1" dirty="0"/>
              <a:t>except</a:t>
            </a:r>
            <a:br>
              <a:rPr lang="en-US" altLang="en-US" b="1" dirty="0"/>
            </a:br>
            <a:r>
              <a:rPr lang="en-US" altLang="en-US" b="1" dirty="0"/>
              <a:t>   </a:t>
            </a:r>
            <a:r>
              <a:rPr lang="en-US" altLang="en-US" dirty="0"/>
              <a:t>(</a:t>
            </a:r>
            <a:r>
              <a:rPr lang="en-US" altLang="en-US" sz="1500" dirty="0"/>
              <a:t>select distinct T.salary from instructor as T, instructor as S where T.salary &lt; S.salary</a:t>
            </a:r>
            <a:r>
              <a:rPr lang="en-US" altLang="en-US" dirty="0"/>
              <a:t>)</a:t>
            </a:r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0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charRg st="0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167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charRg st="167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248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charRg st="248" end="2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Operations (Cont.)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809625" y="1095375"/>
            <a:ext cx="7661275" cy="4903788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Set operations </a:t>
            </a:r>
            <a:r>
              <a:rPr lang="en-US" altLang="en-US" b="1" dirty="0">
                <a:solidFill>
                  <a:srgbClr val="000099"/>
                </a:solidFill>
              </a:rPr>
              <a:t>union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000099"/>
                </a:solidFill>
              </a:rPr>
              <a:t>intersect</a:t>
            </a:r>
            <a:r>
              <a:rPr lang="en-US" altLang="en-US" b="1" dirty="0"/>
              <a:t>,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0099"/>
                </a:solidFill>
              </a:rPr>
              <a:t>except</a:t>
            </a:r>
            <a:r>
              <a:rPr lang="en-US" altLang="en-US" b="1" dirty="0"/>
              <a:t> </a:t>
            </a:r>
            <a:endParaRPr lang="en-US" altLang="en-US" b="1" dirty="0"/>
          </a:p>
          <a:p>
            <a:pPr lvl="1"/>
            <a:r>
              <a:rPr lang="en-US" altLang="en-US" dirty="0">
                <a:sym typeface="Symbol" charset="2"/>
              </a:rPr>
              <a:t>Each of the above operations automatically eliminates duplicates</a:t>
            </a:r>
            <a:endParaRPr lang="en-US" altLang="en-US" dirty="0">
              <a:sym typeface="Symbol" charset="2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dirty="0">
              <a:sym typeface="Symbol" charset="2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dirty="0">
                <a:sym typeface="Symbol" charset="2"/>
              </a:rPr>
              <a:t>To retain all duplicates use the corresponding multiset versions </a:t>
            </a:r>
            <a:r>
              <a:rPr lang="en-US" altLang="en-US" b="1" dirty="0">
                <a:solidFill>
                  <a:srgbClr val="000099"/>
                </a:solidFill>
                <a:sym typeface="Symbol" charset="2"/>
              </a:rPr>
              <a:t>union all, intersect all</a:t>
            </a:r>
            <a:r>
              <a:rPr lang="en-US" altLang="en-US" b="1" dirty="0">
                <a:sym typeface="Symbol" charset="2"/>
              </a:rPr>
              <a:t> </a:t>
            </a:r>
            <a:r>
              <a:rPr lang="en-US" altLang="en-US" dirty="0">
                <a:sym typeface="Symbol" charset="2"/>
              </a:rPr>
              <a:t>and </a:t>
            </a:r>
            <a:r>
              <a:rPr lang="en-US" altLang="en-US" b="1" dirty="0">
                <a:solidFill>
                  <a:srgbClr val="000099"/>
                </a:solidFill>
                <a:sym typeface="Symbol" charset="2"/>
              </a:rPr>
              <a:t>except all</a:t>
            </a:r>
            <a:r>
              <a:rPr lang="en-US" altLang="en-US" b="1" dirty="0">
                <a:sym typeface="Symbol" charset="2"/>
              </a:rPr>
              <a:t>.</a:t>
            </a:r>
            <a:br>
              <a:rPr lang="en-US" altLang="en-US" b="1" dirty="0">
                <a:sym typeface="Symbol" charset="2"/>
              </a:rPr>
            </a:br>
            <a:endParaRPr lang="en-US" altLang="en-US" sz="800" dirty="0">
              <a:sym typeface="Symbol" charset="2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dirty="0">
              <a:sym typeface="Symbol" charset="2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dirty="0">
                <a:sym typeface="Symbol" charset="2"/>
              </a:rPr>
              <a:t>Suppose a tuple occurs </a:t>
            </a:r>
            <a:r>
              <a:rPr lang="en-US" altLang="en-US" i="1" dirty="0">
                <a:sym typeface="Symbol" charset="2"/>
              </a:rPr>
              <a:t>m</a:t>
            </a:r>
            <a:r>
              <a:rPr lang="en-US" altLang="en-US" dirty="0">
                <a:sym typeface="Symbol" charset="2"/>
              </a:rPr>
              <a:t> times in </a:t>
            </a:r>
            <a:r>
              <a:rPr lang="en-US" altLang="en-US" i="1" dirty="0">
                <a:sym typeface="Symbol" charset="2"/>
              </a:rPr>
              <a:t>r</a:t>
            </a:r>
            <a:r>
              <a:rPr lang="en-US" altLang="en-US" dirty="0">
                <a:sym typeface="Symbol" charset="2"/>
              </a:rPr>
              <a:t> and </a:t>
            </a:r>
            <a:r>
              <a:rPr lang="en-US" altLang="en-US" i="1" dirty="0">
                <a:sym typeface="Symbol" charset="2"/>
              </a:rPr>
              <a:t>n </a:t>
            </a:r>
            <a:r>
              <a:rPr lang="en-US" altLang="en-US" dirty="0">
                <a:sym typeface="Symbol" charset="2"/>
              </a:rPr>
              <a:t>times in </a:t>
            </a:r>
            <a:r>
              <a:rPr lang="en-US" altLang="en-US" i="1" dirty="0">
                <a:sym typeface="Symbol" charset="2"/>
              </a:rPr>
              <a:t>s, </a:t>
            </a:r>
            <a:r>
              <a:rPr lang="en-US" altLang="en-US" dirty="0">
                <a:sym typeface="Symbol" charset="2"/>
              </a:rPr>
              <a:t>then, it occurs:</a:t>
            </a:r>
            <a:endParaRPr lang="en-US" altLang="en-US" dirty="0">
              <a:sym typeface="Symbol" charset="2"/>
            </a:endParaRPr>
          </a:p>
          <a:p>
            <a:pPr lvl="1"/>
            <a:r>
              <a:rPr lang="en-US" altLang="en-US" i="1" dirty="0"/>
              <a:t>m 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+ n </a:t>
            </a:r>
            <a:r>
              <a:rPr lang="en-US" altLang="en-US" dirty="0"/>
              <a:t>times in </a:t>
            </a:r>
            <a:r>
              <a:rPr lang="en-US" altLang="en-US" i="1" dirty="0"/>
              <a:t>r </a:t>
            </a:r>
            <a:r>
              <a:rPr lang="en-US" altLang="en-US" b="1" dirty="0"/>
              <a:t>union all </a:t>
            </a:r>
            <a:r>
              <a:rPr lang="en-US" altLang="en-US" i="1" dirty="0"/>
              <a:t>s</a:t>
            </a:r>
            <a:endParaRPr lang="en-US" altLang="en-US" i="1" dirty="0"/>
          </a:p>
          <a:p>
            <a:pPr lvl="1"/>
            <a:r>
              <a:rPr lang="en-US" altLang="en-US" dirty="0"/>
              <a:t>min(</a:t>
            </a:r>
            <a:r>
              <a:rPr lang="en-US" altLang="en-US" i="1" dirty="0"/>
              <a:t>m,n)</a:t>
            </a:r>
            <a:r>
              <a:rPr lang="en-US" altLang="en-US" dirty="0"/>
              <a:t> times in </a:t>
            </a:r>
            <a:r>
              <a:rPr lang="en-US" altLang="en-US" i="1" dirty="0"/>
              <a:t>r</a:t>
            </a:r>
            <a:r>
              <a:rPr lang="en-US" altLang="en-US" dirty="0"/>
              <a:t> </a:t>
            </a:r>
            <a:r>
              <a:rPr lang="en-US" altLang="en-US" b="1" dirty="0"/>
              <a:t>intersect all </a:t>
            </a:r>
            <a:r>
              <a:rPr lang="en-US" altLang="en-US" i="1" dirty="0"/>
              <a:t>s</a:t>
            </a:r>
            <a:endParaRPr lang="en-US" altLang="en-US" i="1" dirty="0"/>
          </a:p>
          <a:p>
            <a:pPr lvl="1"/>
            <a:r>
              <a:rPr lang="en-US" altLang="en-US" dirty="0"/>
              <a:t>max(0, </a:t>
            </a:r>
            <a:r>
              <a:rPr lang="en-US" altLang="en-US" i="1" dirty="0"/>
              <a:t>m – n)</a:t>
            </a:r>
            <a:r>
              <a:rPr lang="en-US" altLang="en-US" dirty="0"/>
              <a:t> times in </a:t>
            </a:r>
            <a:r>
              <a:rPr lang="en-US" altLang="en-US" i="1" dirty="0"/>
              <a:t>r</a:t>
            </a:r>
            <a:r>
              <a:rPr lang="en-US" altLang="en-US" dirty="0"/>
              <a:t> </a:t>
            </a:r>
            <a:r>
              <a:rPr lang="en-US" altLang="en-US" b="1" dirty="0"/>
              <a:t>except all </a:t>
            </a:r>
            <a:r>
              <a:rPr lang="en-US" altLang="en-US" i="1" dirty="0"/>
              <a:t>s</a:t>
            </a:r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+mn-ea"/>
              </a:rPr>
              <a:t>UNION ALL: Multiset Semantics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20750" y="1401445"/>
            <a:ext cx="7772400" cy="3829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rtlCol="0" anchor="ctr" anchorCtr="0">
            <a:normAutofit/>
          </a:bodyPr>
          <a:lstStyle>
            <a:lvl1pPr marL="342900" marR="0" lvl="0" indent="-323850" algn="l" defTabSz="914400" rtl="0" eaLnBrk="1" latinLnBrk="0" hangingPunct="1">
              <a:spcBef>
                <a:spcPts val="480"/>
              </a:spcBef>
              <a:spcAft>
                <a:spcPts val="0"/>
              </a:spcAft>
              <a:buClr>
                <a:srgbClr val="484848"/>
              </a:buClr>
              <a:buSzPts val="3200"/>
              <a:buFont typeface="Helvetica Neue" panose="02000503000000020004"/>
              <a:buChar char="•"/>
              <a:defRPr sz="2400" b="0" i="0" u="none" strike="noStrike" kern="1200" cap="none" baseline="0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1pPr>
            <a:lvl2pPr marL="685800" marR="0" lvl="1" indent="-304800" algn="l" defTabSz="914400" rtl="0" eaLnBrk="1" latinLnBrk="0" hangingPunct="1">
              <a:spcBef>
                <a:spcPts val="420"/>
              </a:spcBef>
              <a:spcAft>
                <a:spcPts val="0"/>
              </a:spcAft>
              <a:buClr>
                <a:srgbClr val="484848"/>
              </a:buClr>
              <a:buSzPts val="2800"/>
              <a:buFont typeface="Helvetica Neue" panose="02000503000000020004"/>
              <a:buChar char="–"/>
              <a:defRPr sz="2100" b="0" i="0" u="none" strike="noStrike" kern="1200" cap="none" baseline="0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2pPr>
            <a:lvl3pPr marL="1028700" marR="0" lvl="2" indent="-285750" algn="l" defTabSz="914400" rtl="0" eaLnBrk="1" latinLnBrk="0" hangingPunct="1">
              <a:spcBef>
                <a:spcPts val="360"/>
              </a:spcBef>
              <a:spcAft>
                <a:spcPts val="0"/>
              </a:spcAft>
              <a:buClr>
                <a:srgbClr val="484848"/>
              </a:buClr>
              <a:buSzPts val="2400"/>
              <a:buFont typeface="Helvetica Neue" panose="02000503000000020004"/>
              <a:buChar char="•"/>
              <a:defRPr sz="1800" b="0" i="0" u="none" strike="noStrike" kern="1200" cap="none" baseline="0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3pPr>
            <a:lvl4pPr marL="1371600" marR="0" lvl="3" indent="-26670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rgbClr val="484848"/>
              </a:buClr>
              <a:buSzPts val="2000"/>
              <a:buFont typeface="Helvetica Neue" panose="02000503000000020004"/>
              <a:buChar char="–"/>
              <a:defRPr sz="1500" b="0" i="0" u="none" strike="noStrike" kern="1200" cap="none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4pPr>
            <a:lvl5pPr marL="1714500" marR="0" lvl="4" indent="-26670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rgbClr val="484848"/>
              </a:buClr>
              <a:buSzPts val="2000"/>
              <a:buFont typeface="Helvetica Neue" panose="02000503000000020004"/>
              <a:buChar char="»"/>
              <a:defRPr sz="1500" b="0" i="0" u="none" strike="noStrike" kern="1200" cap="none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5pPr>
            <a:lvl6pPr marL="2057400" marR="0" lvl="5" indent="-26670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kern="1200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6pPr>
            <a:lvl7pPr marL="2400300" marR="0" lvl="6" indent="-26670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kern="1200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7pPr>
            <a:lvl8pPr marL="2743200" marR="0" lvl="7" indent="-26670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kern="1200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8pPr>
            <a:lvl9pPr marL="3086100" marR="0" lvl="8" indent="-266700" algn="l" defTabSz="914400" rtl="0" eaLnBrk="1" latinLnBrk="0" hangingPunct="1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kern="1200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9pPr>
          </a:lstStyle>
          <a:p>
            <a:pPr indent="-342900">
              <a:spcBef>
                <a:spcPts val="0"/>
              </a:spcBef>
              <a:buSzPts val="2400"/>
              <a:buFont typeface="Arial" panose="020B0604020202090204" pitchFamily="34" charset="0"/>
              <a:buChar char="•"/>
            </a:pPr>
            <a:r>
              <a:rPr lang="en-US" sz="2000" dirty="0"/>
              <a:t>R = {</a:t>
            </a:r>
            <a:r>
              <a:rPr lang="en-US" sz="2000" dirty="0">
                <a:solidFill>
                  <a:srgbClr val="F89400"/>
                </a:solidFill>
              </a:rPr>
              <a:t>A, A, A, A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F0"/>
                </a:solidFill>
              </a:rPr>
              <a:t>B, B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2060"/>
                </a:solidFill>
              </a:rPr>
              <a:t>C</a:t>
            </a:r>
            <a:r>
              <a:rPr lang="en-US" sz="2000" dirty="0">
                <a:solidFill>
                  <a:srgbClr val="1B8301"/>
                </a:solidFill>
              </a:rPr>
              <a:t>, </a:t>
            </a:r>
            <a:r>
              <a:rPr lang="en-US" sz="2000" dirty="0">
                <a:solidFill>
                  <a:srgbClr val="00B050"/>
                </a:solidFill>
              </a:rPr>
              <a:t>D</a:t>
            </a:r>
            <a:r>
              <a:rPr lang="en-US" sz="2000" dirty="0"/>
              <a:t>} = {</a:t>
            </a:r>
            <a:r>
              <a:rPr lang="en-US" sz="2000" dirty="0">
                <a:solidFill>
                  <a:srgbClr val="F89400"/>
                </a:solidFill>
              </a:rPr>
              <a:t>A(4), </a:t>
            </a:r>
            <a:r>
              <a:rPr lang="en-US" sz="2000" dirty="0">
                <a:solidFill>
                  <a:srgbClr val="00B0F0"/>
                </a:solidFill>
              </a:rPr>
              <a:t>B(2), </a:t>
            </a:r>
            <a:r>
              <a:rPr lang="en-US" sz="2000" dirty="0">
                <a:solidFill>
                  <a:srgbClr val="002060"/>
                </a:solidFill>
              </a:rPr>
              <a:t>C(1), </a:t>
            </a:r>
            <a:r>
              <a:rPr lang="en-US" sz="2000" dirty="0">
                <a:solidFill>
                  <a:srgbClr val="00B050"/>
                </a:solidFill>
              </a:rPr>
              <a:t>D(1)</a:t>
            </a:r>
            <a:r>
              <a:rPr lang="en-US" sz="2000" dirty="0"/>
              <a:t>}</a:t>
            </a:r>
            <a:endParaRPr lang="en-US" sz="2000" dirty="0"/>
          </a:p>
          <a:p>
            <a:pPr marL="0" indent="0">
              <a:spcBef>
                <a:spcPts val="0"/>
              </a:spcBef>
              <a:buSzPts val="2400"/>
              <a:buFont typeface="Arial" panose="020B0604020202090204" pitchFamily="34" charset="0"/>
              <a:buNone/>
            </a:pPr>
            <a:r>
              <a:rPr lang="en-US" sz="2000" dirty="0"/>
              <a:t> </a:t>
            </a:r>
            <a:endParaRPr lang="en-US" sz="2000" dirty="0"/>
          </a:p>
          <a:p>
            <a:pPr indent="-342900">
              <a:spcBef>
                <a:spcPts val="0"/>
              </a:spcBef>
              <a:buSzPts val="2400"/>
              <a:buFont typeface="Arial" panose="020B0604020202090204" pitchFamily="34" charset="0"/>
              <a:buChar char="•"/>
            </a:pPr>
            <a:r>
              <a:rPr lang="en-US" sz="2000" dirty="0"/>
              <a:t>S = {</a:t>
            </a:r>
            <a:r>
              <a:rPr lang="en-US" sz="2000" dirty="0">
                <a:solidFill>
                  <a:srgbClr val="F89400"/>
                </a:solidFill>
              </a:rPr>
              <a:t>A, A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F0"/>
                </a:solidFill>
              </a:rPr>
              <a:t>B, B, B</a:t>
            </a:r>
            <a:r>
              <a:rPr lang="en-US" sz="2000" dirty="0">
                <a:solidFill>
                  <a:schemeClr val="accent1"/>
                </a:solidFill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</a:rPr>
              <a:t>C</a:t>
            </a:r>
            <a:r>
              <a:rPr lang="en-US" sz="2000" dirty="0">
                <a:solidFill>
                  <a:srgbClr val="7030A0"/>
                </a:solidFill>
              </a:rPr>
              <a:t>, </a:t>
            </a:r>
            <a:r>
              <a:rPr lang="en-US" sz="2000" dirty="0">
                <a:solidFill>
                  <a:srgbClr val="FC62F0"/>
                </a:solidFill>
              </a:rPr>
              <a:t>E</a:t>
            </a:r>
            <a:r>
              <a:rPr lang="en-US" sz="2000" dirty="0"/>
              <a:t>} = {</a:t>
            </a:r>
            <a:r>
              <a:rPr lang="en-US" sz="2000" dirty="0">
                <a:solidFill>
                  <a:srgbClr val="F89400"/>
                </a:solidFill>
              </a:rPr>
              <a:t>A(2), </a:t>
            </a:r>
            <a:r>
              <a:rPr lang="en-US" sz="2000" dirty="0">
                <a:solidFill>
                  <a:srgbClr val="00B0F0"/>
                </a:solidFill>
              </a:rPr>
              <a:t>B(3), </a:t>
            </a:r>
            <a:r>
              <a:rPr lang="en-US" sz="2000" dirty="0">
                <a:solidFill>
                  <a:srgbClr val="002060"/>
                </a:solidFill>
              </a:rPr>
              <a:t>C(1), </a:t>
            </a:r>
            <a:r>
              <a:rPr lang="en-US" sz="2000" dirty="0">
                <a:solidFill>
                  <a:srgbClr val="FC62F0"/>
                </a:solidFill>
              </a:rPr>
              <a:t>E(1)}</a:t>
            </a:r>
            <a:endParaRPr lang="en-US" sz="2000" dirty="0">
              <a:solidFill>
                <a:srgbClr val="FC62F0"/>
              </a:solidFill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90204" pitchFamily="34" charset="0"/>
              <a:buChar char="•"/>
            </a:pPr>
            <a:endParaRPr lang="en-US" sz="2000" dirty="0"/>
          </a:p>
          <a:p>
            <a:pPr marL="0" indent="-257175">
              <a:spcBef>
                <a:spcPts val="1875"/>
              </a:spcBef>
              <a:buSzPts val="2400"/>
            </a:pPr>
            <a:r>
              <a:rPr lang="en-US" sz="2000" dirty="0"/>
              <a:t>UNION </a:t>
            </a:r>
            <a:r>
              <a:rPr lang="en-US" sz="2000" dirty="0">
                <a:sym typeface="+mn-ea"/>
              </a:rPr>
              <a:t>ALL</a:t>
            </a:r>
            <a:r>
              <a:rPr lang="en-US" sz="2000" dirty="0"/>
              <a:t>: sum of cardinalities</a:t>
            </a:r>
            <a:endParaRPr lang="en-US" sz="2000" dirty="0"/>
          </a:p>
          <a:p>
            <a:pPr marL="685800" indent="0">
              <a:spcBef>
                <a:spcPts val="0"/>
              </a:spcBef>
              <a:buSzPts val="2400"/>
              <a:buNone/>
            </a:pPr>
            <a:r>
              <a:rPr lang="en-US" sz="2000" dirty="0"/>
              <a:t>{</a:t>
            </a:r>
            <a:r>
              <a:rPr lang="en-US" sz="2000" dirty="0">
                <a:solidFill>
                  <a:srgbClr val="F89400"/>
                </a:solidFill>
              </a:rPr>
              <a:t>A(4+2), </a:t>
            </a:r>
            <a:r>
              <a:rPr lang="en-US" sz="2000" dirty="0">
                <a:solidFill>
                  <a:srgbClr val="00B0F0"/>
                </a:solidFill>
              </a:rPr>
              <a:t>B(2+3)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2060"/>
                </a:solidFill>
              </a:rPr>
              <a:t>C(1+1)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D(1+0),</a:t>
            </a:r>
            <a:r>
              <a:rPr lang="en-US" sz="20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dirty="0">
                <a:solidFill>
                  <a:srgbClr val="FC62F0"/>
                </a:solidFill>
              </a:rPr>
              <a:t>E(0+1)} </a:t>
            </a:r>
            <a:br>
              <a:rPr lang="en-US" sz="2000" dirty="0"/>
            </a:br>
            <a:r>
              <a:rPr lang="en-US" sz="2000" dirty="0"/>
              <a:t>= {</a:t>
            </a:r>
            <a:r>
              <a:rPr lang="en-US" sz="2000" dirty="0">
                <a:solidFill>
                  <a:srgbClr val="F89400"/>
                </a:solidFill>
              </a:rPr>
              <a:t>A, A, A, A, A, A, </a:t>
            </a:r>
            <a:r>
              <a:rPr lang="en-US" sz="2000" dirty="0">
                <a:solidFill>
                  <a:srgbClr val="00B0F0"/>
                </a:solidFill>
              </a:rPr>
              <a:t>B, B, B, B, B</a:t>
            </a:r>
            <a:r>
              <a:rPr lang="en-US" sz="2000" dirty="0">
                <a:solidFill>
                  <a:schemeClr val="accent1"/>
                </a:solidFill>
              </a:rPr>
              <a:t>, </a:t>
            </a:r>
            <a:r>
              <a:rPr lang="en-US" sz="2000" dirty="0">
                <a:solidFill>
                  <a:srgbClr val="002060"/>
                </a:solidFill>
              </a:rPr>
              <a:t>C, C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dirty="0">
                <a:solidFill>
                  <a:srgbClr val="00B050"/>
                </a:solidFill>
              </a:rPr>
              <a:t>D</a:t>
            </a:r>
            <a:r>
              <a:rPr lang="en-US" sz="2000" dirty="0">
                <a:solidFill>
                  <a:schemeClr val="dk1"/>
                </a:solidFill>
              </a:rPr>
              <a:t>, </a:t>
            </a:r>
            <a:r>
              <a:rPr lang="en-US" sz="2000" dirty="0">
                <a:solidFill>
                  <a:srgbClr val="FC62F0"/>
                </a:solidFill>
              </a:rPr>
              <a:t>E</a:t>
            </a:r>
            <a:r>
              <a:rPr lang="en-US" sz="2000" dirty="0"/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+mn-ea"/>
              </a:rPr>
              <a:t>INTERSECT </a:t>
            </a:r>
            <a:r>
              <a:rPr lang="en-US" dirty="0">
                <a:sym typeface="+mn-ea"/>
              </a:rPr>
              <a:t>ALL</a:t>
            </a:r>
            <a:r>
              <a:rPr lang="en-US" dirty="0">
                <a:sym typeface="+mn-ea"/>
              </a:rPr>
              <a:t>: </a:t>
            </a:r>
            <a:r>
              <a:rPr lang="en-US" dirty="0">
                <a:sym typeface="+mn-ea"/>
              </a:rPr>
              <a:t> Multiset Semantics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304800" y="1333500"/>
            <a:ext cx="8370570" cy="3829050"/>
          </a:xfrm>
        </p:spPr>
        <p:txBody>
          <a:bodyPr>
            <a:normAutofit/>
          </a:bodyPr>
          <a:p>
            <a:pPr>
              <a:spcBef>
                <a:spcPts val="0"/>
              </a:spcBef>
              <a:buSzPts val="2400"/>
            </a:pPr>
            <a:r>
              <a:rPr lang="en-US" sz="2000" dirty="0"/>
              <a:t>R = {</a:t>
            </a:r>
            <a:r>
              <a:rPr lang="en-US" sz="2000" dirty="0">
                <a:solidFill>
                  <a:srgbClr val="F89400"/>
                </a:solidFill>
              </a:rPr>
              <a:t>A, A, A, A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F0"/>
                </a:solidFill>
              </a:rPr>
              <a:t>B, B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2060"/>
                </a:solidFill>
              </a:rPr>
              <a:t>C</a:t>
            </a:r>
            <a:r>
              <a:rPr lang="en-US" sz="2000" dirty="0">
                <a:solidFill>
                  <a:srgbClr val="1B8301"/>
                </a:solidFill>
              </a:rPr>
              <a:t>, </a:t>
            </a:r>
            <a:r>
              <a:rPr lang="en-US" sz="2000" dirty="0">
                <a:solidFill>
                  <a:srgbClr val="00B050"/>
                </a:solidFill>
              </a:rPr>
              <a:t>D</a:t>
            </a:r>
            <a:r>
              <a:rPr lang="en-US" sz="2000" dirty="0"/>
              <a:t>} = {</a:t>
            </a:r>
            <a:r>
              <a:rPr lang="en-US" sz="2000" dirty="0">
                <a:solidFill>
                  <a:srgbClr val="F89400"/>
                </a:solidFill>
              </a:rPr>
              <a:t>A(4), </a:t>
            </a:r>
            <a:r>
              <a:rPr lang="en-US" sz="2000" dirty="0">
                <a:solidFill>
                  <a:srgbClr val="00B0F0"/>
                </a:solidFill>
              </a:rPr>
              <a:t>B(2), </a:t>
            </a:r>
            <a:r>
              <a:rPr lang="en-US" sz="2000" dirty="0">
                <a:solidFill>
                  <a:srgbClr val="002060"/>
                </a:solidFill>
              </a:rPr>
              <a:t>C(1), </a:t>
            </a:r>
            <a:r>
              <a:rPr lang="en-US" sz="2000" dirty="0">
                <a:solidFill>
                  <a:srgbClr val="00B050"/>
                </a:solidFill>
              </a:rPr>
              <a:t>D(1)</a:t>
            </a:r>
            <a:r>
              <a:rPr lang="en-US" sz="2000" dirty="0"/>
              <a:t>} </a:t>
            </a:r>
            <a:endParaRPr lang="en-US" sz="2000" dirty="0"/>
          </a:p>
          <a:p>
            <a:pPr>
              <a:spcBef>
                <a:spcPts val="0"/>
              </a:spcBef>
              <a:buSzPts val="2400"/>
            </a:pPr>
            <a:endParaRPr lang="en-US" sz="2000" dirty="0"/>
          </a:p>
          <a:p>
            <a:pPr>
              <a:spcBef>
                <a:spcPts val="0"/>
              </a:spcBef>
              <a:buSzPts val="2400"/>
            </a:pPr>
            <a:r>
              <a:rPr lang="en-US" sz="2000" dirty="0"/>
              <a:t>S = {</a:t>
            </a:r>
            <a:r>
              <a:rPr lang="en-US" sz="2000" dirty="0">
                <a:solidFill>
                  <a:srgbClr val="F89400"/>
                </a:solidFill>
              </a:rPr>
              <a:t>A, A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F0"/>
                </a:solidFill>
              </a:rPr>
              <a:t>B, B, B</a:t>
            </a:r>
            <a:r>
              <a:rPr lang="en-US" sz="2000" dirty="0">
                <a:solidFill>
                  <a:schemeClr val="accent1"/>
                </a:solidFill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</a:rPr>
              <a:t>C</a:t>
            </a:r>
            <a:r>
              <a:rPr lang="en-US" sz="2000" dirty="0">
                <a:solidFill>
                  <a:srgbClr val="7030A0"/>
                </a:solidFill>
              </a:rPr>
              <a:t>, </a:t>
            </a:r>
            <a:r>
              <a:rPr lang="en-US" sz="2000" dirty="0">
                <a:solidFill>
                  <a:srgbClr val="FC62F0"/>
                </a:solidFill>
              </a:rPr>
              <a:t>E</a:t>
            </a:r>
            <a:r>
              <a:rPr lang="en-US" sz="2000" dirty="0"/>
              <a:t>} = {</a:t>
            </a:r>
            <a:r>
              <a:rPr lang="en-US" sz="2000" dirty="0">
                <a:solidFill>
                  <a:srgbClr val="F89400"/>
                </a:solidFill>
              </a:rPr>
              <a:t>A(2), </a:t>
            </a:r>
            <a:r>
              <a:rPr lang="en-US" sz="2000" dirty="0">
                <a:solidFill>
                  <a:srgbClr val="00B0F0"/>
                </a:solidFill>
              </a:rPr>
              <a:t>B(3), </a:t>
            </a:r>
            <a:r>
              <a:rPr lang="en-US" sz="2000" dirty="0">
                <a:solidFill>
                  <a:srgbClr val="002060"/>
                </a:solidFill>
              </a:rPr>
              <a:t>C(1), </a:t>
            </a:r>
            <a:r>
              <a:rPr lang="en-US" sz="2000" dirty="0">
                <a:solidFill>
                  <a:srgbClr val="FC62F0"/>
                </a:solidFill>
              </a:rPr>
              <a:t>E(1)}</a:t>
            </a:r>
            <a:endParaRPr lang="en-US" sz="2000" dirty="0">
              <a:solidFill>
                <a:srgbClr val="FC62F0"/>
              </a:solidFill>
            </a:endParaRPr>
          </a:p>
          <a:p>
            <a:pPr>
              <a:spcBef>
                <a:spcPts val="0"/>
              </a:spcBef>
              <a:buSzPts val="2400"/>
            </a:pPr>
            <a:endParaRPr lang="en-US" sz="2000" dirty="0"/>
          </a:p>
          <a:p>
            <a:pPr marL="0" indent="-257175">
              <a:spcBef>
                <a:spcPts val="1875"/>
              </a:spcBef>
              <a:buSzPts val="2400"/>
            </a:pPr>
            <a:r>
              <a:rPr lang="en-US" sz="2000" dirty="0"/>
              <a:t>INTERSECT </a:t>
            </a:r>
            <a:r>
              <a:rPr lang="en-US" sz="2000" dirty="0">
                <a:sym typeface="+mn-ea"/>
              </a:rPr>
              <a:t>ALL</a:t>
            </a:r>
            <a:r>
              <a:rPr lang="en-US" sz="2000" dirty="0"/>
              <a:t>: min of cardinalities</a:t>
            </a:r>
            <a:endParaRPr lang="en-US" sz="2000" dirty="0"/>
          </a:p>
          <a:p>
            <a:pPr marL="457200" lvl="1" indent="-257175">
              <a:spcBef>
                <a:spcPts val="1875"/>
              </a:spcBef>
              <a:buSzPts val="2400"/>
            </a:pPr>
            <a:r>
              <a:rPr lang="en-US" sz="2000" dirty="0"/>
              <a:t>{</a:t>
            </a:r>
            <a:r>
              <a:rPr lang="en-US" sz="2000" dirty="0">
                <a:solidFill>
                  <a:srgbClr val="F89400"/>
                </a:solidFill>
              </a:rPr>
              <a:t>A(min(4,2)), </a:t>
            </a:r>
            <a:r>
              <a:rPr lang="en-US" sz="2000" dirty="0">
                <a:solidFill>
                  <a:srgbClr val="00B0F0"/>
                </a:solidFill>
              </a:rPr>
              <a:t>B(min(2,3))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2060"/>
                </a:solidFill>
              </a:rPr>
              <a:t>C(min(1,1))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50"/>
                </a:solidFill>
                <a:ea typeface="+mn-ea"/>
                <a:cs typeface="+mn-cs"/>
              </a:rPr>
              <a:t>D(min(1,0))</a:t>
            </a:r>
            <a:r>
              <a:rPr lang="en-US" sz="2000" dirty="0">
                <a:solidFill>
                  <a:schemeClr val="dk1"/>
                </a:solidFill>
              </a:rPr>
              <a:t>, </a:t>
            </a:r>
            <a:r>
              <a:rPr lang="en-US" sz="2000" dirty="0">
                <a:solidFill>
                  <a:srgbClr val="FC62F0"/>
                </a:solidFill>
              </a:rPr>
              <a:t>E(min(0,1))}</a:t>
            </a:r>
            <a:br>
              <a:rPr lang="en-US" sz="2000" dirty="0"/>
            </a:br>
            <a:r>
              <a:rPr lang="en-US" sz="2000" dirty="0"/>
              <a:t>= {</a:t>
            </a:r>
            <a:r>
              <a:rPr lang="en-US" sz="2000" dirty="0">
                <a:solidFill>
                  <a:srgbClr val="F89400"/>
                </a:solidFill>
              </a:rPr>
              <a:t>A, A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00B0F0"/>
                </a:solidFill>
                <a:cs typeface="+mn-ea"/>
              </a:rPr>
              <a:t> B, B, </a:t>
            </a:r>
            <a:r>
              <a:rPr lang="en-US" sz="2000" dirty="0">
                <a:solidFill>
                  <a:srgbClr val="002060"/>
                </a:solidFill>
              </a:rPr>
              <a:t>C</a:t>
            </a:r>
            <a:r>
              <a:rPr lang="en-US" sz="2000" dirty="0"/>
              <a:t>} 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+mn-ea"/>
              </a:rPr>
              <a:t>EXCEPT </a:t>
            </a:r>
            <a:r>
              <a:rPr lang="en-US" dirty="0">
                <a:sym typeface="+mn-ea"/>
              </a:rPr>
              <a:t>ALL</a:t>
            </a:r>
            <a:r>
              <a:rPr lang="en-US" dirty="0">
                <a:sym typeface="+mn-ea"/>
              </a:rPr>
              <a:t>: </a:t>
            </a:r>
            <a:r>
              <a:rPr lang="en-US" dirty="0">
                <a:sym typeface="+mn-ea"/>
              </a:rPr>
              <a:t> Multiset Semantics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304800" y="1123950"/>
            <a:ext cx="7772400" cy="3829050"/>
          </a:xfrm>
        </p:spPr>
        <p:txBody>
          <a:bodyPr/>
          <a:p>
            <a:pPr>
              <a:spcBef>
                <a:spcPts val="0"/>
              </a:spcBef>
              <a:buSzPts val="2400"/>
              <a:buFont typeface="Arial" panose="020B0604020202090204" pitchFamily="34" charset="0"/>
              <a:buChar char="•"/>
            </a:pPr>
            <a:r>
              <a:rPr lang="en-US" dirty="0"/>
              <a:t>R = {</a:t>
            </a:r>
            <a:r>
              <a:rPr lang="en-US" dirty="0">
                <a:solidFill>
                  <a:srgbClr val="F89400"/>
                </a:solidFill>
              </a:rPr>
              <a:t>A, A, A, A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B, B</a:t>
            </a:r>
            <a:r>
              <a:rPr lang="en-US" dirty="0"/>
              <a:t>, </a:t>
            </a:r>
            <a:r>
              <a:rPr lang="en-US" dirty="0">
                <a:solidFill>
                  <a:srgbClr val="002060"/>
                </a:solidFill>
              </a:rPr>
              <a:t>C</a:t>
            </a:r>
            <a:r>
              <a:rPr lang="en-US" dirty="0">
                <a:solidFill>
                  <a:srgbClr val="1B8301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D</a:t>
            </a:r>
            <a:r>
              <a:rPr lang="en-US" dirty="0"/>
              <a:t>} = {</a:t>
            </a:r>
            <a:r>
              <a:rPr lang="en-US" dirty="0">
                <a:solidFill>
                  <a:srgbClr val="F89400"/>
                </a:solidFill>
              </a:rPr>
              <a:t>A(4), </a:t>
            </a:r>
            <a:r>
              <a:rPr lang="en-US" dirty="0">
                <a:solidFill>
                  <a:srgbClr val="00B0F0"/>
                </a:solidFill>
              </a:rPr>
              <a:t>B(2), </a:t>
            </a:r>
            <a:r>
              <a:rPr lang="en-US" dirty="0">
                <a:solidFill>
                  <a:srgbClr val="002060"/>
                </a:solidFill>
              </a:rPr>
              <a:t>C(1), </a:t>
            </a:r>
            <a:r>
              <a:rPr lang="en-US" sz="1800" dirty="0">
                <a:solidFill>
                  <a:srgbClr val="00B050"/>
                </a:solidFill>
              </a:rPr>
              <a:t>D(1)</a:t>
            </a:r>
            <a:r>
              <a:rPr lang="en-US" dirty="0"/>
              <a:t>} </a:t>
            </a:r>
            <a:endParaRPr lang="en-US" dirty="0"/>
          </a:p>
          <a:p>
            <a:pPr>
              <a:spcBef>
                <a:spcPts val="0"/>
              </a:spcBef>
              <a:buSzPts val="2400"/>
              <a:buFont typeface="Arial" panose="020B0604020202090204" pitchFamily="34" charset="0"/>
              <a:buChar char="•"/>
            </a:pPr>
            <a:endParaRPr lang="en-US" dirty="0"/>
          </a:p>
          <a:p>
            <a:pPr>
              <a:spcBef>
                <a:spcPts val="0"/>
              </a:spcBef>
              <a:buSzPts val="2400"/>
              <a:buFont typeface="Arial" panose="020B0604020202090204" pitchFamily="34" charset="0"/>
              <a:buChar char="•"/>
            </a:pPr>
            <a:endParaRPr lang="en-US" dirty="0"/>
          </a:p>
          <a:p>
            <a:pPr>
              <a:spcBef>
                <a:spcPts val="0"/>
              </a:spcBef>
              <a:buSzPts val="2400"/>
              <a:buFont typeface="Arial" panose="020B0604020202090204" pitchFamily="34" charset="0"/>
              <a:buChar char="•"/>
            </a:pPr>
            <a:r>
              <a:rPr lang="en-US" dirty="0"/>
              <a:t>S = {</a:t>
            </a:r>
            <a:r>
              <a:rPr lang="en-US" dirty="0">
                <a:solidFill>
                  <a:srgbClr val="F89400"/>
                </a:solidFill>
              </a:rPr>
              <a:t>A, A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B, B, B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C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>
                <a:solidFill>
                  <a:srgbClr val="FC62F0"/>
                </a:solidFill>
              </a:rPr>
              <a:t>E</a:t>
            </a:r>
            <a:r>
              <a:rPr lang="en-US" dirty="0"/>
              <a:t>} = {</a:t>
            </a:r>
            <a:r>
              <a:rPr lang="en-US" dirty="0">
                <a:solidFill>
                  <a:srgbClr val="F89400"/>
                </a:solidFill>
              </a:rPr>
              <a:t>A(2), </a:t>
            </a:r>
            <a:r>
              <a:rPr lang="en-US" dirty="0">
                <a:solidFill>
                  <a:srgbClr val="00B0F0"/>
                </a:solidFill>
              </a:rPr>
              <a:t>B(3), </a:t>
            </a:r>
            <a:r>
              <a:rPr lang="en-US" dirty="0">
                <a:solidFill>
                  <a:srgbClr val="002060"/>
                </a:solidFill>
              </a:rPr>
              <a:t>C(1), </a:t>
            </a:r>
            <a:r>
              <a:rPr lang="en-US" dirty="0">
                <a:solidFill>
                  <a:srgbClr val="FC62F0"/>
                </a:solidFill>
              </a:rPr>
              <a:t>E(1)}</a:t>
            </a:r>
            <a:endParaRPr lang="en-US" dirty="0"/>
          </a:p>
          <a:p>
            <a:pPr marL="0" indent="-257175">
              <a:spcBef>
                <a:spcPts val="1875"/>
              </a:spcBef>
              <a:buSzPts val="2400"/>
            </a:pPr>
            <a:endParaRPr lang="en-US" dirty="0"/>
          </a:p>
          <a:p>
            <a:pPr marL="0" indent="-257175">
              <a:spcBef>
                <a:spcPts val="1875"/>
              </a:spcBef>
              <a:buSzPts val="2400"/>
            </a:pPr>
            <a:r>
              <a:rPr lang="en-US" dirty="0"/>
              <a:t>EXCEPT </a:t>
            </a:r>
            <a:r>
              <a:rPr lang="en-US" dirty="0">
                <a:sym typeface="+mn-ea"/>
              </a:rPr>
              <a:t>ALL</a:t>
            </a:r>
            <a:r>
              <a:rPr lang="en-US" dirty="0"/>
              <a:t>: difference of cardinalities</a:t>
            </a:r>
            <a:endParaRPr lang="en-US" dirty="0"/>
          </a:p>
          <a:p>
            <a:pPr marL="457200" lvl="1" indent="-257175">
              <a:spcBef>
                <a:spcPts val="1875"/>
              </a:spcBef>
              <a:buSzPts val="2400"/>
            </a:pPr>
            <a:r>
              <a:rPr lang="en-US" dirty="0"/>
              <a:t>{</a:t>
            </a:r>
            <a:r>
              <a:rPr lang="en-US" dirty="0">
                <a:solidFill>
                  <a:srgbClr val="F89400"/>
                </a:solidFill>
              </a:rPr>
              <a:t>A(4-2), </a:t>
            </a:r>
            <a:r>
              <a:rPr lang="en-US" dirty="0">
                <a:solidFill>
                  <a:srgbClr val="00B0F0"/>
                </a:solidFill>
              </a:rPr>
              <a:t>B(2-3)</a:t>
            </a:r>
            <a:r>
              <a:rPr lang="en-US" dirty="0"/>
              <a:t>, </a:t>
            </a:r>
            <a:r>
              <a:rPr lang="en-US" dirty="0">
                <a:solidFill>
                  <a:srgbClr val="002060"/>
                </a:solidFill>
              </a:rPr>
              <a:t>C(1-1)</a:t>
            </a:r>
            <a:r>
              <a:rPr lang="en-US" dirty="0"/>
              <a:t>,</a:t>
            </a:r>
            <a:r>
              <a:rPr lang="en-US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800" dirty="0">
                <a:solidFill>
                  <a:srgbClr val="00B050"/>
                </a:solidFill>
                <a:ea typeface="+mn-ea"/>
                <a:cs typeface="+mn-cs"/>
              </a:rPr>
              <a:t>D(1-0),</a:t>
            </a:r>
            <a:r>
              <a:rPr lang="en-US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rgbClr val="FC62F0"/>
                </a:solidFill>
              </a:rPr>
              <a:t>E(0-1)} </a:t>
            </a:r>
            <a:r>
              <a:rPr lang="en-US" dirty="0"/>
              <a:t>= {</a:t>
            </a:r>
            <a:r>
              <a:rPr lang="en-US" dirty="0">
                <a:solidFill>
                  <a:srgbClr val="F89400"/>
                </a:solidFill>
              </a:rPr>
              <a:t>A, A,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sz="1800" dirty="0">
                <a:solidFill>
                  <a:srgbClr val="00B050"/>
                </a:solidFill>
                <a:ea typeface="+mn-ea"/>
                <a:cs typeface="+mn-cs"/>
              </a:rPr>
              <a:t>D</a:t>
            </a:r>
            <a:r>
              <a:rPr lang="en-US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Null Values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126288" cy="5156200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It is possible for tuples to have a null value, denoted by </a:t>
            </a:r>
            <a:r>
              <a:rPr lang="en-US" altLang="en-US" i="1" dirty="0"/>
              <a:t>null</a:t>
            </a:r>
            <a:r>
              <a:rPr lang="en-US" altLang="en-US" dirty="0"/>
              <a:t>, for some of their attributes</a:t>
            </a:r>
            <a:endParaRPr lang="en-US" altLang="en-US" dirty="0"/>
          </a:p>
          <a:p>
            <a:endParaRPr lang="en-US" altLang="en-US" i="1" dirty="0"/>
          </a:p>
          <a:p>
            <a:r>
              <a:rPr lang="en-US" altLang="en-US" i="1" dirty="0"/>
              <a:t>null</a:t>
            </a:r>
            <a:r>
              <a:rPr lang="en-US" altLang="en-US" dirty="0"/>
              <a:t> signifies an unknown value or that a value does not exist.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result of any arithmetic expression involving </a:t>
            </a:r>
            <a:r>
              <a:rPr lang="en-US" altLang="en-US" i="1" dirty="0"/>
              <a:t>null</a:t>
            </a:r>
            <a:r>
              <a:rPr lang="en-US" altLang="en-US" dirty="0"/>
              <a:t> is </a:t>
            </a:r>
            <a:r>
              <a:rPr lang="en-US" altLang="en-US" i="1" dirty="0"/>
              <a:t>null</a:t>
            </a:r>
            <a:endParaRPr lang="en-US" altLang="en-US" i="1" dirty="0"/>
          </a:p>
          <a:p>
            <a:pPr lvl="1"/>
            <a:r>
              <a:rPr lang="en-US" altLang="en-US" dirty="0"/>
              <a:t>5 + </a:t>
            </a:r>
            <a:r>
              <a:rPr lang="en-US" altLang="en-US" i="1" dirty="0"/>
              <a:t>null</a:t>
            </a:r>
            <a:r>
              <a:rPr lang="en-US" altLang="en-US" dirty="0"/>
              <a:t>  returns null</a:t>
            </a:r>
            <a:endParaRPr lang="en-US" altLang="en-US" dirty="0"/>
          </a:p>
          <a:p>
            <a:pPr lvl="1" algn="l"/>
            <a:r>
              <a:rPr lang="en-US" altLang="en-US" sz="1800" dirty="0">
                <a:cs typeface="+mn-ea"/>
                <a:sym typeface="Droid Sans Mono"/>
              </a:rPr>
              <a:t>100 = </a:t>
            </a:r>
            <a:r>
              <a:rPr lang="en-US" altLang="en-US" sz="1800" i="1" dirty="0">
                <a:cs typeface="+mn-ea"/>
                <a:sym typeface="Droid Sans Mono"/>
              </a:rPr>
              <a:t>null</a:t>
            </a:r>
            <a:r>
              <a:rPr lang="en-US" altLang="en-US" sz="1800" i="1" dirty="0">
                <a:cs typeface="+mn-ea"/>
                <a:sym typeface="+mn-ea"/>
              </a:rPr>
              <a:t> </a:t>
            </a:r>
            <a:r>
              <a:rPr lang="en-US" altLang="en-US" sz="1800" dirty="0">
                <a:cs typeface="+mn-ea"/>
                <a:sym typeface="+mn-ea"/>
              </a:rPr>
              <a:t>returns null</a:t>
            </a:r>
            <a:endParaRPr lang="en-US" altLang="en-US" sz="1800" dirty="0">
              <a:cs typeface="+mn-ea"/>
            </a:endParaRPr>
          </a:p>
          <a:p>
            <a:endParaRPr lang="en-US" altLang="en-US" dirty="0"/>
          </a:p>
          <a:p>
            <a:r>
              <a:rPr lang="en-US" altLang="en-US" dirty="0"/>
              <a:t>The predicate  </a:t>
            </a:r>
            <a:r>
              <a:rPr lang="en-US" altLang="en-US" b="1" dirty="0"/>
              <a:t>is null</a:t>
            </a:r>
            <a:r>
              <a:rPr lang="en-US" altLang="en-US" dirty="0"/>
              <a:t> can be used to check for null values.</a:t>
            </a:r>
            <a:endParaRPr lang="en-US" altLang="en-US" dirty="0"/>
          </a:p>
          <a:p>
            <a:pPr lvl="1"/>
            <a:r>
              <a:rPr lang="en-US" altLang="en-US" dirty="0"/>
              <a:t>Example: Find all instructors whose salary is null</a:t>
            </a:r>
            <a:r>
              <a:rPr lang="en-US" altLang="en-US" i="1" dirty="0"/>
              <a:t>.</a:t>
            </a:r>
            <a:endParaRPr lang="en-US" altLang="en-US" i="1" dirty="0"/>
          </a:p>
          <a:p>
            <a:pPr>
              <a:buNone/>
            </a:pPr>
            <a:r>
              <a:rPr lang="en-US" altLang="en-US" b="1" dirty="0"/>
              <a:t>		select</a:t>
            </a:r>
            <a:r>
              <a:rPr lang="en-US" altLang="en-US" i="1" dirty="0"/>
              <a:t> 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</a:t>
            </a:r>
            <a:r>
              <a:rPr lang="en-US" altLang="en-US" i="1" dirty="0"/>
              <a:t> 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salary </a:t>
            </a:r>
            <a:r>
              <a:rPr lang="en-US" altLang="en-US" b="1" dirty="0"/>
              <a:t>is null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+mn-ea"/>
              </a:rPr>
              <a:t>NULL in the WHERE clause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126288" cy="5156200"/>
          </a:xfrm>
        </p:spPr>
        <p:txBody>
          <a:bodyPr vert="horz" wrap="square" lIns="91440" tIns="45720" rIns="91440" bIns="45720" anchor="t" anchorCtr="0"/>
          <a:p>
            <a:pPr marL="257175" indent="-257175">
              <a:spcBef>
                <a:spcPts val="0"/>
              </a:spcBef>
              <a:buSzPts val="2400"/>
            </a:pPr>
            <a:r>
              <a:rPr lang="en-US" dirty="0">
                <a:sym typeface="+mn-ea"/>
              </a:rPr>
              <a:t>Consider a tuple where </a:t>
            </a:r>
            <a:r>
              <a:rPr lang="en-US" dirty="0">
                <a:latin typeface="Droid Sans Mono"/>
                <a:ea typeface="Droid Sans Mono"/>
                <a:cs typeface="Droid Sans Mono"/>
                <a:sym typeface="Droid Sans Mono"/>
              </a:rPr>
              <a:t>rating </a:t>
            </a:r>
            <a:r>
              <a:rPr lang="en-US" dirty="0">
                <a:sym typeface="+mn-ea"/>
              </a:rPr>
              <a:t>IS NULL. </a:t>
            </a:r>
            <a:endParaRPr lang="en-US" dirty="0">
              <a:sym typeface="+mn-ea"/>
            </a:endParaRPr>
          </a:p>
          <a:p>
            <a:pPr marL="257175" indent="-257175">
              <a:spcBef>
                <a:spcPts val="0"/>
              </a:spcBef>
              <a:buSzPts val="2400"/>
            </a:pP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+mn-ea"/>
            </a:endParaRPr>
          </a:p>
          <a:p>
            <a:pPr marL="257175" indent="-257175">
              <a:spcBef>
                <a:spcPts val="0"/>
              </a:spcBef>
              <a:buSzPts val="2400"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INSERT INTO sailors VALUES</a:t>
            </a:r>
            <a:b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(11, 'Jack Sparrow', NULL, 35);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257175" indent="-257175">
              <a:spcBef>
                <a:spcPts val="0"/>
              </a:spcBef>
              <a:buSzPts val="2400"/>
            </a:pP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257175" indent="-257175">
              <a:spcBef>
                <a:spcPts val="0"/>
              </a:spcBef>
              <a:buSzPts val="2400"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rating &gt; 8;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257175" indent="-257175">
              <a:spcBef>
                <a:spcPts val="0"/>
              </a:spcBef>
              <a:buSzPts val="2400"/>
            </a:pP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257175" indent="-257175">
              <a:spcBef>
                <a:spcPts val="0"/>
              </a:spcBef>
              <a:buSzPts val="2400"/>
            </a:pPr>
            <a:r>
              <a:rPr lang="en-US" dirty="0">
                <a:sym typeface="+mn-ea"/>
              </a:rPr>
              <a:t>Is Jack Sparrow in the output? </a:t>
            </a: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Null Values and Three Valued Logic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739775" y="829628"/>
            <a:ext cx="7661275" cy="4903787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Three values – </a:t>
            </a:r>
            <a:r>
              <a:rPr lang="en-US" altLang="en-US" i="1" dirty="0"/>
              <a:t>true</a:t>
            </a:r>
            <a:r>
              <a:rPr lang="en-US" altLang="en-US" dirty="0"/>
              <a:t>, </a:t>
            </a:r>
            <a:r>
              <a:rPr lang="en-US" altLang="en-US" i="1" dirty="0"/>
              <a:t>false</a:t>
            </a:r>
            <a:r>
              <a:rPr lang="en-US" altLang="en-US" dirty="0"/>
              <a:t>, </a:t>
            </a:r>
            <a:r>
              <a:rPr lang="en-US" altLang="en-US" i="1" dirty="0"/>
              <a:t>unknown</a:t>
            </a:r>
            <a:endParaRPr lang="en-US" altLang="en-US" i="1" dirty="0"/>
          </a:p>
          <a:p>
            <a:r>
              <a:rPr lang="en-US" altLang="en-US" dirty="0"/>
              <a:t>Three-valued logic using the value </a:t>
            </a:r>
            <a:r>
              <a:rPr lang="en-US" altLang="en-US" i="1" dirty="0"/>
              <a:t>unknown</a:t>
            </a:r>
            <a:r>
              <a:rPr lang="en-US" altLang="en-US" dirty="0"/>
              <a:t>:</a:t>
            </a:r>
            <a:endParaRPr lang="en-US" altLang="en-US" dirty="0"/>
          </a:p>
          <a:p>
            <a:pPr lvl="1"/>
            <a:r>
              <a:rPr lang="en-US" altLang="en-US" dirty="0"/>
              <a:t>OR: (</a:t>
            </a:r>
            <a:r>
              <a:rPr lang="en-US" altLang="en-US" i="1" dirty="0"/>
              <a:t>unknown</a:t>
            </a:r>
            <a:r>
              <a:rPr lang="en-US" altLang="en-US" dirty="0"/>
              <a:t> </a:t>
            </a:r>
            <a:r>
              <a:rPr lang="en-US" altLang="en-US" b="1" dirty="0"/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true</a:t>
            </a:r>
            <a:r>
              <a:rPr lang="en-US" altLang="en-US" dirty="0"/>
              <a:t>)   = </a:t>
            </a:r>
            <a:r>
              <a:rPr lang="en-US" altLang="en-US" i="1" dirty="0"/>
              <a:t>true</a:t>
            </a:r>
            <a:r>
              <a:rPr lang="en-US" altLang="en-US" dirty="0"/>
              <a:t>,</a:t>
            </a:r>
            <a:br>
              <a:rPr lang="en-US" altLang="en-US" dirty="0"/>
            </a:br>
            <a:r>
              <a:rPr lang="en-US" altLang="en-US" dirty="0"/>
              <a:t>       (</a:t>
            </a:r>
            <a:r>
              <a:rPr lang="en-US" altLang="en-US" i="1" dirty="0"/>
              <a:t>unknown</a:t>
            </a:r>
            <a:r>
              <a:rPr lang="en-US" altLang="en-US" dirty="0"/>
              <a:t> </a:t>
            </a:r>
            <a:r>
              <a:rPr lang="en-US" altLang="en-US" b="1" dirty="0"/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false</a:t>
            </a:r>
            <a:r>
              <a:rPr lang="en-US" altLang="en-US" dirty="0"/>
              <a:t>)  = </a:t>
            </a:r>
            <a:r>
              <a:rPr lang="en-US" altLang="en-US" i="1" dirty="0"/>
              <a:t>unknown</a:t>
            </a:r>
            <a:br>
              <a:rPr lang="en-US" altLang="en-US" dirty="0"/>
            </a:br>
            <a:r>
              <a:rPr lang="en-US" altLang="en-US" dirty="0"/>
              <a:t>       (</a:t>
            </a:r>
            <a:r>
              <a:rPr lang="en-US" altLang="en-US" i="1" dirty="0"/>
              <a:t>unknown </a:t>
            </a:r>
            <a:r>
              <a:rPr lang="en-US" altLang="en-US" b="1" dirty="0"/>
              <a:t>or</a:t>
            </a:r>
            <a:r>
              <a:rPr lang="en-US" altLang="en-US" i="1" dirty="0"/>
              <a:t> unknown) = unknown</a:t>
            </a:r>
            <a:endParaRPr lang="en-US" altLang="en-US" i="1" dirty="0"/>
          </a:p>
          <a:p>
            <a:pPr lvl="1"/>
            <a:r>
              <a:rPr lang="en-US" altLang="en-US" dirty="0"/>
              <a:t>AND:</a:t>
            </a:r>
            <a:r>
              <a:rPr lang="en-US" altLang="en-US" i="1" dirty="0"/>
              <a:t> (true</a:t>
            </a:r>
            <a:r>
              <a:rPr lang="en-US" altLang="en-US" b="1" dirty="0"/>
              <a:t> and </a:t>
            </a:r>
            <a:r>
              <a:rPr lang="en-US" altLang="en-US" i="1" dirty="0"/>
              <a:t>unknown)  = unknown,    </a:t>
            </a:r>
            <a:br>
              <a:rPr lang="en-US" altLang="en-US" i="1" dirty="0"/>
            </a:br>
            <a:r>
              <a:rPr lang="en-US" altLang="en-US" i="1" dirty="0"/>
              <a:t>         (false</a:t>
            </a:r>
            <a:r>
              <a:rPr lang="en-US" altLang="en-US" b="1" dirty="0"/>
              <a:t> and </a:t>
            </a:r>
            <a:r>
              <a:rPr lang="en-US" altLang="en-US" i="1" dirty="0"/>
              <a:t>unknown) = false,</a:t>
            </a:r>
            <a:br>
              <a:rPr lang="en-US" altLang="en-US" i="1" dirty="0"/>
            </a:br>
            <a:r>
              <a:rPr lang="en-US" altLang="en-US" i="1" dirty="0"/>
              <a:t>         (unknown </a:t>
            </a:r>
            <a:r>
              <a:rPr lang="en-US" altLang="en-US" b="1" dirty="0"/>
              <a:t>and</a:t>
            </a:r>
            <a:r>
              <a:rPr lang="en-US" altLang="en-US" i="1" dirty="0"/>
              <a:t> unknown) = unknown</a:t>
            </a:r>
            <a:endParaRPr lang="en-US" altLang="en-US" i="1" dirty="0"/>
          </a:p>
          <a:p>
            <a:pPr lvl="1"/>
            <a:r>
              <a:rPr lang="en-US" altLang="en-US" dirty="0"/>
              <a:t>NOT</a:t>
            </a:r>
            <a:r>
              <a:rPr lang="en-US" altLang="en-US" i="1" dirty="0"/>
              <a:t>:  (</a:t>
            </a:r>
            <a:r>
              <a:rPr lang="en-US" altLang="en-US" b="1" dirty="0"/>
              <a:t>not</a:t>
            </a:r>
            <a:r>
              <a:rPr lang="en-US" altLang="en-US" i="1" dirty="0"/>
              <a:t> unknown) = unknown</a:t>
            </a:r>
            <a:endParaRPr lang="en-US" altLang="en-US" i="1" dirty="0"/>
          </a:p>
          <a:p>
            <a:pPr lvl="1"/>
            <a:r>
              <a:rPr lang="en-US" altLang="en-US" dirty="0"/>
              <a:t>“</a:t>
            </a:r>
            <a:r>
              <a:rPr lang="en-US" altLang="en-US" i="1" dirty="0"/>
              <a:t>P</a:t>
            </a:r>
            <a:r>
              <a:rPr lang="en-US" altLang="en-US" b="1" dirty="0"/>
              <a:t>  is unknown</a:t>
            </a:r>
            <a:r>
              <a:rPr lang="en-US" altLang="en-US" dirty="0"/>
              <a:t>”</a:t>
            </a:r>
            <a:r>
              <a:rPr lang="en-US" altLang="en-US" b="1" dirty="0"/>
              <a:t> </a:t>
            </a:r>
            <a:r>
              <a:rPr lang="en-US" altLang="en-US" dirty="0"/>
              <a:t>evaluates to true if predicate </a:t>
            </a:r>
            <a:r>
              <a:rPr lang="en-US" altLang="en-US" i="1" dirty="0"/>
              <a:t>P</a:t>
            </a:r>
            <a:r>
              <a:rPr lang="en-US" altLang="en-US" dirty="0"/>
              <a:t> evaluates to </a:t>
            </a:r>
            <a:r>
              <a:rPr lang="en-US" altLang="en-US" i="1" dirty="0"/>
              <a:t>unknown</a:t>
            </a:r>
            <a:endParaRPr lang="en-US" altLang="en-US" i="1" dirty="0"/>
          </a:p>
          <a:p>
            <a:pPr lvl="1"/>
            <a:endParaRPr lang="en-US" altLang="en-US" dirty="0"/>
          </a:p>
        </p:txBody>
      </p:sp>
      <p:graphicFrame>
        <p:nvGraphicFramePr>
          <p:cNvPr id="2" name="Shape 657" descr="A Truth table for the operator AND" title="AND Truth Table"/>
          <p:cNvGraphicFramePr/>
          <p:nvPr>
            <p:custDataLst>
              <p:tags r:id="rId1"/>
            </p:custDataLst>
          </p:nvPr>
        </p:nvGraphicFramePr>
        <p:xfrm>
          <a:off x="3719195" y="4626610"/>
          <a:ext cx="1577176" cy="1657352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394294"/>
                <a:gridCol w="394294"/>
                <a:gridCol w="394294"/>
                <a:gridCol w="394294"/>
              </a:tblGrid>
              <a:tr h="4447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 dirty="0">
                          <a:solidFill>
                            <a:schemeClr val="tx2"/>
                          </a:solidFill>
                        </a:rPr>
                        <a:t>AND</a:t>
                      </a:r>
                      <a:endParaRPr lang="en-US" sz="900" b="1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38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T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F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N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noFill/>
                  </a:tcPr>
                </a:tc>
              </a:tr>
              <a:tr h="3838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F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900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63544" marR="63544" marT="31763" marB="31763" anchor="ctr">
                    <a:noFill/>
                  </a:tcPr>
                </a:tc>
              </a:tr>
              <a:tr h="4447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N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noFill/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900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63544" marR="63544" marT="31763" marB="31763" anchor="ctr">
                    <a:noFill/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N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Shape 658" descr="A Truth table for the operator OR" title="OR Truth Table"/>
          <p:cNvGraphicFramePr/>
          <p:nvPr>
            <p:custDataLst>
              <p:tags r:id="rId2"/>
            </p:custDataLst>
          </p:nvPr>
        </p:nvGraphicFramePr>
        <p:xfrm>
          <a:off x="5685296" y="4626610"/>
          <a:ext cx="1577176" cy="1621406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394294"/>
                <a:gridCol w="394294"/>
                <a:gridCol w="394294"/>
                <a:gridCol w="394294"/>
              </a:tblGrid>
              <a:tr h="408842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 dirty="0">
                          <a:solidFill>
                            <a:schemeClr val="tx2"/>
                          </a:solidFill>
                        </a:rPr>
                        <a:t>OR</a:t>
                      </a:r>
                      <a:endParaRPr lang="en-US" sz="900" b="1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38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T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T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900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63544" marR="63544" marT="31763" marB="31763" anchor="ctr">
                    <a:noFill/>
                  </a:tcPr>
                </a:tc>
              </a:tr>
              <a:tr h="3838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T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noFill/>
                  </a:tcPr>
                </a:tc>
              </a:tr>
              <a:tr h="4447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900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63544" marR="63544" marT="31763" marB="31763" anchor="ctr">
                    <a:noFill/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N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noFill/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/>
                        <a:t>N</a:t>
                      </a:r>
                      <a:endParaRPr sz="900" u="none" strike="noStrike" cap="none" dirty="0"/>
                    </a:p>
                  </a:txBody>
                  <a:tcPr marL="63544" marR="63544" marT="31763" marB="31763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Shape 659" descr="A Truth table for the operator NOT" title="NOT Truth Table"/>
          <p:cNvGraphicFramePr/>
          <p:nvPr>
            <p:custDataLst>
              <p:tags r:id="rId3"/>
            </p:custDataLst>
          </p:nvPr>
        </p:nvGraphicFramePr>
        <p:xfrm>
          <a:off x="1793080" y="5455285"/>
          <a:ext cx="1577176" cy="828676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394294"/>
                <a:gridCol w="394294"/>
                <a:gridCol w="394294"/>
                <a:gridCol w="394294"/>
              </a:tblGrid>
              <a:tr h="4447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 dirty="0">
                          <a:solidFill>
                            <a:schemeClr val="tx2"/>
                          </a:solidFill>
                        </a:rPr>
                        <a:t>NOT</a:t>
                      </a:r>
                      <a:endParaRPr lang="en-US" sz="900" b="1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sz="9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3888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 dirty="0"/>
                    </a:p>
                  </a:txBody>
                  <a:tcPr marL="63544" marR="63544" marT="31763" marB="317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</a:t>
                      </a:r>
                      <a:endParaRPr sz="90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</a:t>
                      </a:r>
                      <a:endParaRPr sz="90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44" marR="63544" marT="31763" marB="31763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</a:t>
                      </a:r>
                      <a:endParaRPr sz="90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44" marR="63544" marT="31763" marB="31763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814388" y="1093788"/>
            <a:ext cx="7010400" cy="3897312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2222500" algn="l"/>
              </a:tabLst>
            </a:pPr>
            <a:r>
              <a:rPr lang="en-US" altLang="en-US" dirty="0"/>
              <a:t>These functions operate on the multiset of values of a column of a relation, and return a value</a:t>
            </a:r>
            <a:endParaRPr lang="en-US" altLang="en-US" dirty="0"/>
          </a:p>
          <a:p>
            <a:pPr lvl="1" defTabSz="914400">
              <a:tabLst>
                <a:tab pos="2222500" algn="l"/>
              </a:tabLst>
            </a:pPr>
            <a:r>
              <a:rPr lang="en-US" altLang="en-US" b="1" dirty="0"/>
              <a:t>avg: </a:t>
            </a:r>
            <a:r>
              <a:rPr lang="en-US" altLang="en-US" dirty="0"/>
              <a:t>average value</a:t>
            </a:r>
            <a:endParaRPr lang="en-US" altLang="en-US" dirty="0"/>
          </a:p>
          <a:p>
            <a:pPr lvl="1" defTabSz="914400">
              <a:tabLst>
                <a:tab pos="2222500" algn="l"/>
              </a:tabLst>
            </a:pPr>
            <a:r>
              <a:rPr lang="en-US" altLang="en-US" b="1" dirty="0"/>
              <a:t>min:  </a:t>
            </a:r>
            <a:r>
              <a:rPr lang="en-US" altLang="en-US" dirty="0"/>
              <a:t>minimum value</a:t>
            </a:r>
            <a:endParaRPr lang="en-US" altLang="en-US" dirty="0"/>
          </a:p>
          <a:p>
            <a:pPr lvl="1" defTabSz="914400">
              <a:tabLst>
                <a:tab pos="2222500" algn="l"/>
              </a:tabLst>
            </a:pPr>
            <a:r>
              <a:rPr lang="en-US" altLang="en-US" b="1" dirty="0"/>
              <a:t>max:  </a:t>
            </a:r>
            <a:r>
              <a:rPr lang="en-US" altLang="en-US" dirty="0"/>
              <a:t>maximum value</a:t>
            </a:r>
            <a:endParaRPr lang="en-US" altLang="en-US" dirty="0"/>
          </a:p>
          <a:p>
            <a:pPr lvl="1" defTabSz="914400">
              <a:tabLst>
                <a:tab pos="2222500" algn="l"/>
              </a:tabLst>
            </a:pPr>
            <a:r>
              <a:rPr lang="en-US" altLang="en-US" b="1" dirty="0"/>
              <a:t>sum:  </a:t>
            </a:r>
            <a:r>
              <a:rPr lang="en-US" altLang="en-US" dirty="0"/>
              <a:t>sum of values</a:t>
            </a:r>
            <a:endParaRPr lang="en-US" altLang="en-US" dirty="0"/>
          </a:p>
          <a:p>
            <a:pPr lvl="1" defTabSz="914400">
              <a:tabLst>
                <a:tab pos="2222500" algn="l"/>
              </a:tabLst>
            </a:pPr>
            <a:r>
              <a:rPr lang="en-US" altLang="en-US" b="1" dirty="0"/>
              <a:t>count:  </a:t>
            </a:r>
            <a:r>
              <a:rPr lang="en-US" altLang="en-US" dirty="0"/>
              <a:t>number of values</a:t>
            </a:r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814388" y="1108075"/>
            <a:ext cx="7843837" cy="525145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711325" algn="l"/>
              </a:tabLst>
            </a:pPr>
            <a:r>
              <a:rPr lang="en-US" altLang="en-US" dirty="0"/>
              <a:t>Find the average salary of instructors in the Computer Science department </a:t>
            </a:r>
            <a:endParaRPr lang="en-US" altLang="en-US" dirty="0"/>
          </a:p>
          <a:p>
            <a:pPr lvl="1" defTabSz="914400">
              <a:tabLst>
                <a:tab pos="1711325" algn="l"/>
              </a:tabLst>
            </a:pPr>
            <a:r>
              <a:rPr lang="en-US" altLang="en-US" b="1" dirty="0"/>
              <a:t>select avg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dept_name</a:t>
            </a:r>
            <a:r>
              <a:rPr lang="en-US" altLang="en-US" dirty="0"/>
              <a:t>= ’Comp. Sci.’;</a:t>
            </a:r>
            <a:endParaRPr lang="en-US" altLang="en-US" dirty="0"/>
          </a:p>
          <a:p>
            <a:pPr defTabSz="914400">
              <a:tabLst>
                <a:tab pos="1711325" algn="l"/>
              </a:tabLst>
            </a:pPr>
            <a:endParaRPr lang="en-US" altLang="en-US" dirty="0"/>
          </a:p>
          <a:p>
            <a:pPr defTabSz="914400">
              <a:tabLst>
                <a:tab pos="1711325" algn="l"/>
              </a:tabLst>
            </a:pPr>
            <a:r>
              <a:rPr lang="en-US" altLang="en-US" dirty="0"/>
              <a:t>Find the total number of instructors who teach a course in the Spring 2010 semester</a:t>
            </a:r>
            <a:endParaRPr lang="en-US" altLang="en-US" dirty="0"/>
          </a:p>
          <a:p>
            <a:pPr lvl="1" defTabSz="914400">
              <a:tabLst>
                <a:tab pos="1711325" algn="l"/>
              </a:tabLst>
            </a:pPr>
            <a:r>
              <a:rPr lang="en-US" altLang="en-US" b="1" dirty="0"/>
              <a:t>select count </a:t>
            </a:r>
            <a:r>
              <a:rPr lang="en-US" altLang="en-US" dirty="0"/>
              <a:t>(</a:t>
            </a:r>
            <a:r>
              <a:rPr lang="en-US" altLang="en-US" b="1" dirty="0"/>
              <a:t>distinct </a:t>
            </a:r>
            <a:r>
              <a:rPr lang="en-US" altLang="en-US" i="1" dirty="0"/>
              <a:t>ID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teaches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semester </a:t>
            </a:r>
            <a:r>
              <a:rPr lang="en-US" altLang="en-US" dirty="0"/>
              <a:t>= ’Spring’ </a:t>
            </a:r>
            <a:r>
              <a:rPr lang="en-US" altLang="en-US" b="1" dirty="0"/>
              <a:t>and </a:t>
            </a:r>
            <a:r>
              <a:rPr lang="en-US" altLang="en-US" i="1" dirty="0"/>
              <a:t>year </a:t>
            </a:r>
            <a:r>
              <a:rPr lang="en-US" altLang="en-US" dirty="0"/>
              <a:t>= 2010;</a:t>
            </a:r>
            <a:endParaRPr lang="en-US" altLang="en-US" dirty="0"/>
          </a:p>
          <a:p>
            <a:pPr defTabSz="914400">
              <a:tabLst>
                <a:tab pos="1711325" algn="l"/>
              </a:tabLst>
            </a:pPr>
            <a:endParaRPr lang="en-US" altLang="en-US" dirty="0"/>
          </a:p>
          <a:p>
            <a:pPr defTabSz="914400">
              <a:tabLst>
                <a:tab pos="1711325" algn="l"/>
              </a:tabLst>
            </a:pPr>
            <a:r>
              <a:rPr lang="en-US" altLang="en-US" dirty="0"/>
              <a:t>Find the number of tuples in the </a:t>
            </a:r>
            <a:r>
              <a:rPr lang="en-US" altLang="en-US" i="1" dirty="0"/>
              <a:t>course </a:t>
            </a:r>
            <a:r>
              <a:rPr lang="en-US" altLang="en-US" dirty="0"/>
              <a:t>relation</a:t>
            </a:r>
            <a:endParaRPr lang="en-US" altLang="en-US" dirty="0"/>
          </a:p>
          <a:p>
            <a:pPr lvl="1" defTabSz="914400">
              <a:tabLst>
                <a:tab pos="1711325" algn="l"/>
              </a:tabLst>
            </a:pPr>
            <a:r>
              <a:rPr lang="en-US" altLang="en-US" b="1" dirty="0"/>
              <a:t>select count </a:t>
            </a:r>
            <a:r>
              <a:rPr lang="en-US" altLang="en-US" dirty="0"/>
              <a:t>(*)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course</a:t>
            </a:r>
            <a:r>
              <a:rPr lang="en-US" altLang="en-US" dirty="0"/>
              <a:t>;</a:t>
            </a:r>
            <a:endParaRPr lang="en-US" altLang="en-US" dirty="0"/>
          </a:p>
          <a:p>
            <a:pPr defTabSz="914400">
              <a:tabLst>
                <a:tab pos="1711325" algn="l"/>
              </a:tabLst>
            </a:pPr>
            <a:endParaRPr lang="en-US" altLang="en-US" dirty="0"/>
          </a:p>
          <a:p>
            <a:pPr lvl="1" defTabSz="914400">
              <a:tabLst>
                <a:tab pos="1711325" algn="l"/>
              </a:tabLst>
            </a:pPr>
            <a:endParaRPr lang="en-US" altLang="en-US" dirty="0"/>
          </a:p>
          <a:p>
            <a:pPr defTabSz="914400"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7892" name="Text Box 4"/>
          <p:cNvSpPr txBox="1"/>
          <p:nvPr/>
        </p:nvSpPr>
        <p:spPr>
          <a:xfrm>
            <a:off x="758825" y="2813050"/>
            <a:ext cx="76819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dirty="0">
                <a:latin typeface="Helvetica" pitchFamily="34" charset="0"/>
              </a:rPr>
              <a:t>   </a:t>
            </a:r>
            <a:endParaRPr lang="en-US" altLang="en-US" sz="1600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 – Group By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760413" y="1023938"/>
            <a:ext cx="8048625" cy="1414462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625475" algn="l"/>
              </a:tabLst>
            </a:pPr>
            <a:r>
              <a:rPr lang="en-US" altLang="en-US" dirty="0"/>
              <a:t>Find the average salary of instructors in each department</a:t>
            </a:r>
            <a:endParaRPr lang="en-US" altLang="en-US" dirty="0"/>
          </a:p>
          <a:p>
            <a:pPr lvl="1" defTabSz="914400">
              <a:tabLst>
                <a:tab pos="625475" algn="l"/>
              </a:tabLst>
            </a:pPr>
            <a:r>
              <a:rPr lang="en-US" altLang="en-US" b="1" dirty="0"/>
              <a:t>select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b="1" dirty="0"/>
              <a:t>avg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 </a:t>
            </a:r>
            <a:r>
              <a:rPr lang="en-US" altLang="en-US" b="1" dirty="0"/>
              <a:t>as</a:t>
            </a:r>
            <a:r>
              <a:rPr lang="en-US" altLang="en-US" dirty="0"/>
              <a:t> </a:t>
            </a:r>
            <a:r>
              <a:rPr lang="en-US" altLang="en-US" i="1" dirty="0"/>
              <a:t>avg_salary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b="1" dirty="0"/>
              <a:t>group by </a:t>
            </a:r>
            <a:r>
              <a:rPr lang="en-US" altLang="en-US" i="1" dirty="0"/>
              <a:t>dept_name</a:t>
            </a:r>
            <a:r>
              <a:rPr lang="en-US" altLang="en-US" dirty="0"/>
              <a:t>;</a:t>
            </a:r>
            <a:endParaRPr lang="en-US" altLang="en-US" dirty="0"/>
          </a:p>
          <a:p>
            <a:pPr lvl="1" defTabSz="914400">
              <a:tabLst>
                <a:tab pos="625475" algn="l"/>
              </a:tabLst>
            </a:pPr>
            <a:endParaRPr lang="en-US" altLang="en-US" dirty="0"/>
          </a:p>
          <a:p>
            <a:pPr lvl="1" defTabSz="914400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8916" name="Picture 4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463" y="2571750"/>
            <a:ext cx="4056062" cy="3648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7" name="Picture 5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5" y="3122613"/>
            <a:ext cx="2411413" cy="267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8" name="Text Box 6"/>
          <p:cNvSpPr txBox="1"/>
          <p:nvPr/>
        </p:nvSpPr>
        <p:spPr>
          <a:xfrm>
            <a:off x="7129463" y="3228975"/>
            <a:ext cx="882650" cy="2127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lIns="0" tIns="0" rIns="0" bIns="0">
            <a:spAutoFit/>
          </a:bodyPr>
          <a:p>
            <a:r>
              <a:rPr lang="en-US" altLang="en-US" sz="1400" i="1" dirty="0">
                <a:latin typeface="Helvetica" pitchFamily="34" charset="0"/>
              </a:rPr>
              <a:t>avg_salary</a:t>
            </a:r>
            <a:endParaRPr lang="en-US" altLang="en-US" sz="1400" i="1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Aggregation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Text Box 3"/>
          <p:cNvSpPr/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Attributes in </a:t>
            </a:r>
            <a:r>
              <a:rPr lang="en-US" altLang="en-US" b="1" dirty="0"/>
              <a:t>select </a:t>
            </a:r>
            <a:r>
              <a:rPr lang="en-US" altLang="en-US" dirty="0"/>
              <a:t>clause outside of aggregate functions must appear in </a:t>
            </a:r>
            <a:r>
              <a:rPr lang="en-US" altLang="en-US" b="1" dirty="0"/>
              <a:t>group by</a:t>
            </a:r>
            <a:r>
              <a:rPr lang="en-US" altLang="en-US" dirty="0"/>
              <a:t> list</a:t>
            </a:r>
            <a:endParaRPr lang="en-US" altLang="en-US" dirty="0"/>
          </a:p>
          <a:p>
            <a:pPr lvl="1"/>
            <a:r>
              <a:rPr lang="en-US" altLang="en-US" b="1" dirty="0"/>
              <a:t>select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i="1" strike="sngStrike" dirty="0">
                <a:solidFill>
                  <a:schemeClr val="tx2"/>
                </a:solidFill>
              </a:rPr>
              <a:t>ID</a:t>
            </a:r>
            <a:r>
              <a:rPr lang="en-US" altLang="en-US" dirty="0"/>
              <a:t>, </a:t>
            </a:r>
            <a:r>
              <a:rPr lang="en-US" altLang="en-US" b="1" dirty="0"/>
              <a:t>avg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b="1" dirty="0"/>
              <a:t>group by </a:t>
            </a:r>
            <a:r>
              <a:rPr lang="en-US" altLang="en-US" i="1" dirty="0"/>
              <a:t>dept_name</a:t>
            </a:r>
            <a:r>
              <a:rPr lang="en-US" altLang="en-US" dirty="0"/>
              <a:t>;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 – Having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814388" y="1193800"/>
            <a:ext cx="7661275" cy="773113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489075" algn="l"/>
              </a:tabLst>
            </a:pPr>
            <a:r>
              <a:rPr lang="en-US" altLang="en-US" dirty="0"/>
              <a:t>Find the names and average salaries of all departments whose average salary is greater than 42000</a:t>
            </a:r>
            <a:endParaRPr lang="en-US" altLang="en-US" dirty="0"/>
          </a:p>
        </p:txBody>
      </p:sp>
      <p:sp>
        <p:nvSpPr>
          <p:cNvPr id="40964" name="Text Box 4"/>
          <p:cNvSpPr txBox="1"/>
          <p:nvPr/>
        </p:nvSpPr>
        <p:spPr>
          <a:xfrm>
            <a:off x="658813" y="3567113"/>
            <a:ext cx="784225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</a:pPr>
            <a:r>
              <a:rPr lang="en-US" altLang="en-US" dirty="0">
                <a:solidFill>
                  <a:schemeClr val="tx2"/>
                </a:solidFill>
                <a:latin typeface="Helvetica" pitchFamily="34" charset="0"/>
              </a:rPr>
              <a:t>       \</a:t>
            </a:r>
            <a:r>
              <a:rPr lang="en-US" altLang="en-US" dirty="0">
                <a:latin typeface="Helvetica" pitchFamily="34" charset="0"/>
              </a:rPr>
              <a:t>Note:  predicates in the </a:t>
            </a:r>
            <a:r>
              <a:rPr lang="en-US" altLang="en-US" b="1" dirty="0">
                <a:latin typeface="Helvetica" pitchFamily="34" charset="0"/>
              </a:rPr>
              <a:t>having</a:t>
            </a:r>
            <a:r>
              <a:rPr lang="en-US" altLang="en-US" dirty="0">
                <a:latin typeface="Helvetica" pitchFamily="34" charset="0"/>
              </a:rPr>
              <a:t> clause are applied after the 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                formation of groups whereas predicates in the </a:t>
            </a:r>
            <a:r>
              <a:rPr lang="en-US" altLang="en-US" b="1" dirty="0">
                <a:latin typeface="Helvetica" pitchFamily="34" charset="0"/>
              </a:rPr>
              <a:t>where</a:t>
            </a:r>
            <a:r>
              <a:rPr lang="en-US" altLang="en-US" dirty="0">
                <a:latin typeface="Helvetica" pitchFamily="34" charset="0"/>
              </a:rPr>
              <a:t> 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                clause are applied before forming groups</a:t>
            </a:r>
            <a:endParaRPr lang="en-US" altLang="en-US" dirty="0">
              <a:latin typeface="Helvetica" pitchFamily="34" charset="0"/>
            </a:endParaRPr>
          </a:p>
          <a:p>
            <a:endParaRPr lang="en-US" altLang="en-US" dirty="0">
              <a:latin typeface="Times New Roman" panose="02020503050405090304" pitchFamily="18" charset="0"/>
            </a:endParaRPr>
          </a:p>
        </p:txBody>
      </p:sp>
      <p:sp>
        <p:nvSpPr>
          <p:cNvPr id="40965" name="Text Box 5"/>
          <p:cNvSpPr txBox="1"/>
          <p:nvPr/>
        </p:nvSpPr>
        <p:spPr>
          <a:xfrm>
            <a:off x="1677988" y="2114550"/>
            <a:ext cx="5861050" cy="1069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dept_name</a:t>
            </a:r>
            <a:r>
              <a:rPr lang="en-US" altLang="en-US" sz="1600" dirty="0">
                <a:latin typeface="Helvetica" pitchFamily="34" charset="0"/>
              </a:rPr>
              <a:t>, </a:t>
            </a:r>
            <a:r>
              <a:rPr lang="en-US" altLang="en-US" sz="1600" b="1" dirty="0">
                <a:latin typeface="Helvetica" pitchFamily="34" charset="0"/>
              </a:rPr>
              <a:t>avg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i="1" dirty="0">
                <a:latin typeface="Helvetica" pitchFamily="34" charset="0"/>
              </a:rPr>
              <a:t>salary</a:t>
            </a:r>
            <a:r>
              <a:rPr lang="en-US" altLang="en-US" sz="1600" dirty="0">
                <a:latin typeface="Helvetica" pitchFamily="34" charset="0"/>
              </a:rPr>
              <a:t>)</a:t>
            </a:r>
            <a:endParaRPr lang="en-US" altLang="en-US" sz="1600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instructor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group by </a:t>
            </a:r>
            <a:r>
              <a:rPr lang="en-US" altLang="en-US" sz="1600" i="1" dirty="0">
                <a:latin typeface="Helvetica" pitchFamily="34" charset="0"/>
              </a:rPr>
              <a:t>dept_name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having avg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i="1" dirty="0">
                <a:latin typeface="Helvetica" pitchFamily="34" charset="0"/>
              </a:rPr>
              <a:t>salary</a:t>
            </a:r>
            <a:r>
              <a:rPr lang="en-US" altLang="en-US" sz="1600" dirty="0">
                <a:latin typeface="Helvetica" pitchFamily="34" charset="0"/>
              </a:rPr>
              <a:t>) &gt; 42000;</a:t>
            </a:r>
            <a:endParaRPr lang="en-US" altLang="en-US" sz="1600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Null Values and Aggregates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739775" y="1106805"/>
            <a:ext cx="7840980" cy="201168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830705" algn="l"/>
                <a:tab pos="2232025" algn="l"/>
              </a:tabLst>
            </a:pPr>
            <a:r>
              <a:rPr lang="en-US" altLang="en-US" dirty="0"/>
              <a:t>Total all salaries</a:t>
            </a:r>
            <a:endParaRPr lang="en-US" altLang="en-US" dirty="0"/>
          </a:p>
          <a:p>
            <a:pPr defTabSz="914400">
              <a:buNone/>
              <a:tabLst>
                <a:tab pos="1830705" algn="l"/>
                <a:tab pos="2232025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sum</a:t>
            </a:r>
            <a:r>
              <a:rPr lang="en-US" altLang="en-US" dirty="0"/>
              <a:t> (</a:t>
            </a:r>
            <a:r>
              <a:rPr lang="en-US" altLang="en-US" i="1" dirty="0"/>
              <a:t>salary </a:t>
            </a:r>
            <a:r>
              <a:rPr lang="en-US" altLang="en-US" dirty="0"/>
              <a:t>)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</a:t>
            </a:r>
            <a:r>
              <a:rPr lang="en-US" altLang="en-US" i="1" dirty="0"/>
              <a:t> instructor</a:t>
            </a:r>
            <a:endParaRPr lang="en-US" altLang="en-US" dirty="0"/>
          </a:p>
          <a:p>
            <a:pPr lvl="1" defTabSz="914400">
              <a:tabLst>
                <a:tab pos="1830705" algn="l"/>
                <a:tab pos="2232025" algn="l"/>
              </a:tabLst>
            </a:pPr>
            <a:r>
              <a:rPr lang="en-US" altLang="en-US" dirty="0"/>
              <a:t>Above statement ignores null amounts</a:t>
            </a:r>
            <a:endParaRPr lang="en-US" altLang="en-US" dirty="0"/>
          </a:p>
          <a:p>
            <a:pPr lvl="1" defTabSz="914400">
              <a:tabLst>
                <a:tab pos="1830705" algn="l"/>
                <a:tab pos="2232025" algn="l"/>
              </a:tabLst>
            </a:pPr>
            <a:r>
              <a:rPr lang="en-US" altLang="en-US" dirty="0"/>
              <a:t>Result is </a:t>
            </a:r>
            <a:r>
              <a:rPr lang="en-US" altLang="en-US" i="1" dirty="0"/>
              <a:t>null</a:t>
            </a:r>
            <a:r>
              <a:rPr lang="en-US" altLang="en-US" dirty="0"/>
              <a:t> if there is no non-null amount</a:t>
            </a:r>
            <a:endParaRPr lang="en-US" altLang="en-US" dirty="0"/>
          </a:p>
          <a:p>
            <a:pPr defTabSz="914400">
              <a:tabLst>
                <a:tab pos="1830705" algn="l"/>
                <a:tab pos="2232025" algn="l"/>
              </a:tabLst>
            </a:pPr>
            <a:endParaRPr lang="en-US" altLang="en-US" dirty="0"/>
          </a:p>
          <a:p>
            <a:pPr defTabSz="914400">
              <a:tabLst>
                <a:tab pos="1830705" algn="l"/>
                <a:tab pos="2232025" algn="l"/>
              </a:tabLst>
            </a:pPr>
            <a:endParaRPr lang="en-US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3445" y="3307715"/>
            <a:ext cx="7230745" cy="23698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Null Values and Aggregates</a:t>
            </a:r>
            <a:r>
              <a:rPr lang="en-US" noProof="0" smtClean="0">
                <a:ln>
                  <a:noFill/>
                </a:ln>
                <a:uLnTx/>
                <a:uFillTx/>
                <a:sym typeface="+mn-ea"/>
              </a:rPr>
              <a:t>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0663" cy="466725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830705" algn="l"/>
                <a:tab pos="2232025" algn="l"/>
              </a:tabLst>
            </a:pPr>
            <a:r>
              <a:rPr lang="en-US" altLang="en-US" dirty="0"/>
              <a:t>All aggregate operations except </a:t>
            </a:r>
            <a:r>
              <a:rPr lang="en-US" altLang="en-US" b="1" dirty="0"/>
              <a:t>count(*)</a:t>
            </a:r>
            <a:r>
              <a:rPr lang="en-US" altLang="en-US" dirty="0"/>
              <a:t> ignore tuples with null values on the aggregated attributes</a:t>
            </a:r>
            <a:endParaRPr lang="en-US" altLang="en-US" dirty="0"/>
          </a:p>
          <a:p>
            <a:pPr defTabSz="914400">
              <a:tabLst>
                <a:tab pos="1830705" algn="l"/>
                <a:tab pos="2232025" algn="l"/>
              </a:tabLst>
            </a:pPr>
            <a:endParaRPr lang="en-US" altLang="en-US" dirty="0"/>
          </a:p>
          <a:p>
            <a:pPr defTabSz="914400">
              <a:tabLst>
                <a:tab pos="1830705" algn="l"/>
                <a:tab pos="2232025" algn="l"/>
              </a:tabLst>
            </a:pPr>
            <a:r>
              <a:rPr lang="en-US" altLang="en-US" dirty="0"/>
              <a:t>What if collection has only null values?</a:t>
            </a:r>
            <a:endParaRPr lang="en-US" altLang="en-US" dirty="0"/>
          </a:p>
          <a:p>
            <a:pPr lvl="1" defTabSz="914400">
              <a:tabLst>
                <a:tab pos="1830705" algn="l"/>
                <a:tab pos="2232025" algn="l"/>
              </a:tabLst>
            </a:pPr>
            <a:r>
              <a:rPr lang="en-US" altLang="en-US" dirty="0"/>
              <a:t>count returns 0</a:t>
            </a:r>
            <a:endParaRPr lang="en-US" altLang="en-US" dirty="0"/>
          </a:p>
          <a:p>
            <a:pPr lvl="1" defTabSz="914400">
              <a:tabLst>
                <a:tab pos="1830705" algn="l"/>
                <a:tab pos="2232025" algn="l"/>
              </a:tabLst>
            </a:pPr>
            <a:r>
              <a:rPr lang="en-US" altLang="en-US" dirty="0"/>
              <a:t>all other aggregates return null</a:t>
            </a:r>
            <a:endParaRPr lang="en-US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1690" y="3686175"/>
            <a:ext cx="7320915" cy="193611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Tahoma" panose="020B0604030504040204"/>
              </a:rPr>
              <a:t>Basic Single-Table Queries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8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247015" y="1504950"/>
            <a:ext cx="8598535" cy="3090545"/>
          </a:xfrm>
        </p:spPr>
        <p:txBody>
          <a:bodyPr/>
          <a:p>
            <a:pPr lvl="0" latinLnBrk="0"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[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DISTINCT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&lt;column expression list&gt;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&lt;single table&gt;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WHERE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&lt;predicate&gt;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GROUP BY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&lt;column list&gt;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HAVING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&lt;predicate&gt;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 ]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ORDER BY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&lt;column list&gt;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LIMIT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&lt;integer&gt;];</a:t>
            </a:r>
            <a:endParaRPr lang="en-US" dirty="0">
              <a:solidFill>
                <a:srgbClr val="000000"/>
              </a:solidFill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Helvetica Neue Light" panose="02000503000000020004"/>
              </a:rPr>
              <a:t>Conceptual SQL Evaluation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Flow order of SQL Evaluation: 1) From: Relation cross-product. 2) Where: Apply selections (eliminate rows). 3) Project away columns (just keep those used in SELECT GROUP BY, HAVING) 4) Group By: Form groups and aggregate. 5) Having: Elimiante groups. 6) Distinct: Eliminate duplicates" title="Conceptual SQL Evaluatio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" y="863600"/>
            <a:ext cx="7346315" cy="40265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20950" y="5496560"/>
            <a:ext cx="457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SELECT        [DISTINCT]  </a:t>
            </a:r>
            <a:r>
              <a:rPr lang="en-US" sz="1200" i="1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target-list</a:t>
            </a:r>
            <a:endParaRPr lang="en-US" sz="1200" dirty="0">
              <a:ea typeface="Helvetica Neue" panose="02000503000000020004" charset="0"/>
              <a:cs typeface="Helvetica Neue" panose="02000503000000020004" charset="0"/>
              <a:sym typeface="Book Antiqu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FROM         </a:t>
            </a:r>
            <a:r>
              <a:rPr lang="en-US" sz="1200" i="1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relation-list</a:t>
            </a:r>
            <a:endParaRPr lang="en-US" sz="1200" dirty="0">
              <a:ea typeface="Helvetica Neue" panose="02000503000000020004" charset="0"/>
              <a:cs typeface="Helvetica Neue" panose="02000503000000020004" charset="0"/>
              <a:sym typeface="Book Antiqu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WHERE        </a:t>
            </a:r>
            <a:r>
              <a:rPr lang="en-US" sz="1200" i="1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qualification</a:t>
            </a:r>
            <a:endParaRPr lang="en-US" sz="1200" dirty="0">
              <a:ea typeface="Helvetica Neue" panose="02000503000000020004" charset="0"/>
              <a:cs typeface="Helvetica Neue" panose="020005030000000200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GROUP BY  </a:t>
            </a:r>
            <a:r>
              <a:rPr lang="en-US" sz="1200" i="1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grouping-list</a:t>
            </a:r>
            <a:endParaRPr lang="en-US" sz="1200" dirty="0">
              <a:ea typeface="Helvetica Neue" panose="02000503000000020004" charset="0"/>
              <a:cs typeface="Helvetica Neue" panose="0200050300000002000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HAVING      </a:t>
            </a:r>
            <a:r>
              <a:rPr lang="en-US" sz="1200" i="1" dirty="0">
                <a:ea typeface="Helvetica Neue" panose="02000503000000020004" charset="0"/>
                <a:cs typeface="Helvetica Neue" panose="02000503000000020004" charset="0"/>
                <a:sym typeface="Book Antiqua"/>
              </a:rPr>
              <a:t>group-</a:t>
            </a:r>
            <a:r>
              <a:rPr lang="en-US" sz="1200" i="1" dirty="0" err="1">
                <a:ea typeface="Helvetica Neue" panose="02000503000000020004" charset="0"/>
                <a:cs typeface="Helvetica Neue" panose="02000503000000020004" charset="0"/>
                <a:sym typeface="Book Antiqua"/>
              </a:rPr>
              <a:t>qualification</a:t>
            </a:r>
            <a:endParaRPr lang="en-US" altLang="en-US" sz="1200" i="1" dirty="0" err="1">
              <a:ea typeface="Helvetica Neue" panose="02000503000000020004" charset="0"/>
              <a:cs typeface="Helvetica Neue" panose="02000503000000020004" charset="0"/>
              <a:sym typeface="Book Antiqu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>
                <a:sym typeface="Helvetica Neue Light" panose="02000503000000020004"/>
              </a:rPr>
              <a:t>Putting it all together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8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247015" y="1236345"/>
            <a:ext cx="8598535" cy="3090545"/>
          </a:xfrm>
        </p:spPr>
        <p:txBody>
          <a:bodyPr/>
          <a:p>
            <a:pPr lvl="0" latinLnBrk="0"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AVG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</a:t>
            </a:r>
            <a:r>
              <a:rPr lang="en-US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), 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COUNT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(*)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Students S</a:t>
            </a:r>
            <a:b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WHERE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S.gender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= 'F'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GROUP BY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HAVING COUNT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(*) &gt;= 2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ORDER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BY </a:t>
            </a:r>
            <a:r>
              <a:rPr lang="en-US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;</a:t>
            </a:r>
            <a:endParaRPr lang="en-US" dirty="0">
              <a:solidFill>
                <a:srgbClr val="000000"/>
              </a:solidFill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Nested Subqueries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788988" y="1039813"/>
            <a:ext cx="7724775" cy="4876800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SQL provides a mechanism for the nesting of subqueries. A </a:t>
            </a:r>
            <a:r>
              <a:rPr lang="en-US" altLang="en-US" b="1" dirty="0">
                <a:solidFill>
                  <a:srgbClr val="000099"/>
                </a:solidFill>
              </a:rPr>
              <a:t>subquery</a:t>
            </a:r>
            <a:r>
              <a:rPr lang="en-US" altLang="en-US" dirty="0"/>
              <a:t> is a </a:t>
            </a:r>
            <a:r>
              <a:rPr lang="en-US" altLang="en-US" b="1" dirty="0"/>
              <a:t>select-from-where</a:t>
            </a:r>
            <a:r>
              <a:rPr lang="en-US" altLang="en-US" dirty="0"/>
              <a:t> expression that is nested within another query.</a:t>
            </a:r>
            <a:endParaRPr lang="en-US" altLang="en-US" dirty="0"/>
          </a:p>
          <a:p>
            <a:r>
              <a:rPr lang="en-US" altLang="en-US" dirty="0"/>
              <a:t>The nesting can be done in the following SQL query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select 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P</a:t>
            </a:r>
            <a:endParaRPr lang="en-US" altLang="en-US" i="1" dirty="0"/>
          </a:p>
          <a:p>
            <a:pPr>
              <a:buNone/>
            </a:pPr>
            <a:br>
              <a:rPr lang="en-US" altLang="en-US" i="1" dirty="0"/>
            </a:br>
            <a:r>
              <a:rPr lang="en-US" altLang="en-US" dirty="0"/>
              <a:t>as follows:</a:t>
            </a:r>
            <a:endParaRPr lang="en-US" altLang="en-US" dirty="0"/>
          </a:p>
          <a:p>
            <a:pPr lvl="1"/>
            <a:r>
              <a:rPr lang="en-US" altLang="en-US" i="1" dirty="0"/>
              <a:t>A</a:t>
            </a:r>
            <a:r>
              <a:rPr lang="en-US" altLang="en-US" i="1" baseline="-25000" dirty="0"/>
              <a:t>i   </a:t>
            </a:r>
            <a:r>
              <a:rPr lang="en-US" altLang="en-US" dirty="0"/>
              <a:t>can be replaced be a subquery that generates a single value.</a:t>
            </a: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i="1" baseline="-25000" dirty="0"/>
              <a:t>i </a:t>
            </a:r>
            <a:r>
              <a:rPr lang="en-US" altLang="en-US" dirty="0"/>
              <a:t> can be replaced by any valid subquery</a:t>
            </a:r>
            <a:endParaRPr lang="en-US" altLang="en-US" dirty="0"/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 can be replaced with an expression of the form:</a:t>
            </a:r>
            <a:endParaRPr lang="en-US" altLang="en-US" dirty="0"/>
          </a:p>
          <a:p>
            <a:pPr lvl="1">
              <a:buNone/>
            </a:pPr>
            <a:r>
              <a:rPr lang="en-US" altLang="en-US" dirty="0"/>
              <a:t>                </a:t>
            </a:r>
            <a:r>
              <a:rPr lang="en-US" altLang="en-US" i="1" dirty="0"/>
              <a:t>B</a:t>
            </a:r>
            <a:r>
              <a:rPr lang="en-US" altLang="en-US" dirty="0"/>
              <a:t> &lt;operation&gt; (subquery)</a:t>
            </a:r>
            <a:endParaRPr lang="en-US" altLang="en-US" dirty="0"/>
          </a:p>
          <a:p>
            <a:pPr lvl="1">
              <a:buNone/>
            </a:pPr>
            <a:r>
              <a:rPr lang="en-US" altLang="en-US" dirty="0"/>
              <a:t>     Where </a:t>
            </a:r>
            <a:r>
              <a:rPr lang="en-US" altLang="en-US" i="1" dirty="0"/>
              <a:t>B</a:t>
            </a:r>
            <a:r>
              <a:rPr lang="en-US" altLang="en-US" dirty="0"/>
              <a:t> is an attribute and &lt;operation&gt; to be defined later.</a:t>
            </a:r>
            <a:endParaRPr lang="en-US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5717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Where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803275" y="803275"/>
            <a:ext cx="7343775" cy="4586288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651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Where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803275" y="803275"/>
            <a:ext cx="7343775" cy="4586288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endParaRPr lang="en-US" altLang="en-US" dirty="0"/>
          </a:p>
          <a:p>
            <a:r>
              <a:rPr lang="en-US" altLang="en-US" dirty="0"/>
              <a:t>A common use of subqueries is to perform tests:</a:t>
            </a:r>
            <a:endParaRPr lang="en-US" altLang="en-US" dirty="0"/>
          </a:p>
          <a:p>
            <a:pPr lvl="1"/>
            <a:r>
              <a:rPr lang="en-US" altLang="en-US" dirty="0"/>
              <a:t> For set membership</a:t>
            </a:r>
            <a:endParaRPr lang="en-US" altLang="en-US" dirty="0"/>
          </a:p>
          <a:p>
            <a:pPr lvl="1"/>
            <a:r>
              <a:rPr lang="en-US" altLang="en-US" dirty="0"/>
              <a:t> For set comparisons</a:t>
            </a:r>
            <a:endParaRPr lang="en-US" altLang="en-US" dirty="0"/>
          </a:p>
          <a:p>
            <a:pPr lvl="1"/>
            <a:r>
              <a:rPr lang="en-US" altLang="en-US" dirty="0"/>
              <a:t> For set cardinality.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Membership 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811213" y="1109663"/>
            <a:ext cx="7661275" cy="917575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027430" algn="l"/>
              </a:tabLst>
            </a:pPr>
            <a:r>
              <a:rPr lang="en-US" altLang="en-US" dirty="0"/>
              <a:t>Find courses offered in Fall 2009 and in Spring 2010</a:t>
            </a:r>
            <a:endParaRPr lang="en-US" altLang="en-US" dirty="0"/>
          </a:p>
        </p:txBody>
      </p:sp>
      <p:sp>
        <p:nvSpPr>
          <p:cNvPr id="46084" name="Text Box 4"/>
          <p:cNvSpPr txBox="1"/>
          <p:nvPr/>
        </p:nvSpPr>
        <p:spPr>
          <a:xfrm>
            <a:off x="758825" y="3595688"/>
            <a:ext cx="76882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 Find courses offered in Fall 2009 but not in Spring 2010</a:t>
            </a:r>
            <a:endParaRPr lang="en-US" altLang="en-US" dirty="0">
              <a:latin typeface="Times New Roman" panose="02020503050405090304" pitchFamily="18" charset="0"/>
            </a:endParaRPr>
          </a:p>
        </p:txBody>
      </p:sp>
      <p:sp>
        <p:nvSpPr>
          <p:cNvPr id="46085" name="Text Box 5"/>
          <p:cNvSpPr txBox="1"/>
          <p:nvPr/>
        </p:nvSpPr>
        <p:spPr>
          <a:xfrm>
            <a:off x="1612900" y="1698625"/>
            <a:ext cx="6216650" cy="1558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distinct </a:t>
            </a:r>
            <a:r>
              <a:rPr lang="en-US" altLang="en-US" sz="1600" i="1" dirty="0">
                <a:latin typeface="Helvetica" pitchFamily="34" charset="0"/>
              </a:rPr>
              <a:t>course_id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section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where </a:t>
            </a:r>
            <a:r>
              <a:rPr lang="en-US" altLang="en-US" sz="1600" i="1" dirty="0">
                <a:latin typeface="Helvetica" pitchFamily="34" charset="0"/>
              </a:rPr>
              <a:t>semester </a:t>
            </a:r>
            <a:r>
              <a:rPr lang="en-US" altLang="en-US" sz="1600" dirty="0">
                <a:latin typeface="Helvetica" pitchFamily="34" charset="0"/>
              </a:rPr>
              <a:t>= ’Fall’ </a:t>
            </a:r>
            <a:r>
              <a:rPr lang="en-US" altLang="en-US" sz="1600" b="1" dirty="0">
                <a:latin typeface="Helvetica" pitchFamily="34" charset="0"/>
              </a:rPr>
              <a:t>and </a:t>
            </a:r>
            <a:r>
              <a:rPr lang="en-US" altLang="en-US" sz="1600" i="1" dirty="0">
                <a:latin typeface="Helvetica" pitchFamily="34" charset="0"/>
              </a:rPr>
              <a:t>year</a:t>
            </a:r>
            <a:r>
              <a:rPr lang="en-US" altLang="en-US" sz="1600" dirty="0">
                <a:latin typeface="Helvetica" pitchFamily="34" charset="0"/>
              </a:rPr>
              <a:t>= 2009 </a:t>
            </a:r>
            <a:r>
              <a:rPr lang="en-US" altLang="en-US" sz="1600" b="1" dirty="0">
                <a:latin typeface="Helvetica" pitchFamily="34" charset="0"/>
              </a:rPr>
              <a:t>and </a:t>
            </a:r>
            <a:br>
              <a:rPr lang="en-US" altLang="en-US" sz="1600" b="1" dirty="0">
                <a:latin typeface="Helvetica" pitchFamily="34" charset="0"/>
              </a:rPr>
            </a:br>
            <a:r>
              <a:rPr lang="en-US" altLang="en-US" sz="1600" b="1" dirty="0">
                <a:latin typeface="Helvetica" pitchFamily="34" charset="0"/>
              </a:rPr>
              <a:t>           </a:t>
            </a:r>
            <a:r>
              <a:rPr lang="en-US" altLang="en-US" sz="1600" i="1" dirty="0">
                <a:latin typeface="Helvetica" pitchFamily="34" charset="0"/>
              </a:rPr>
              <a:t>course_id </a:t>
            </a:r>
            <a:r>
              <a:rPr lang="en-US" altLang="en-US" sz="1600" b="1" dirty="0">
                <a:latin typeface="Helvetica" pitchFamily="34" charset="0"/>
              </a:rPr>
              <a:t>in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course_id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from </a:t>
            </a:r>
            <a:r>
              <a:rPr lang="en-US" altLang="en-US" sz="1600" i="1" dirty="0">
                <a:latin typeface="Helvetica" pitchFamily="34" charset="0"/>
              </a:rPr>
              <a:t>section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where </a:t>
            </a:r>
            <a:r>
              <a:rPr lang="en-US" altLang="en-US" sz="1600" i="1" dirty="0">
                <a:latin typeface="Helvetica" pitchFamily="34" charset="0"/>
              </a:rPr>
              <a:t>semester </a:t>
            </a:r>
            <a:r>
              <a:rPr lang="en-US" altLang="en-US" sz="1600" dirty="0">
                <a:latin typeface="Helvetica" pitchFamily="34" charset="0"/>
              </a:rPr>
              <a:t>= ’Spring’ </a:t>
            </a:r>
            <a:r>
              <a:rPr lang="en-US" altLang="en-US" sz="1600" b="1" dirty="0">
                <a:latin typeface="Helvetica" pitchFamily="34" charset="0"/>
              </a:rPr>
              <a:t>and </a:t>
            </a:r>
            <a:r>
              <a:rPr lang="en-US" altLang="en-US" sz="1600" i="1" dirty="0">
                <a:latin typeface="Helvetica" pitchFamily="34" charset="0"/>
              </a:rPr>
              <a:t>year</a:t>
            </a:r>
            <a:r>
              <a:rPr lang="en-US" altLang="en-US" sz="1600" dirty="0">
                <a:latin typeface="Helvetica" pitchFamily="34" charset="0"/>
              </a:rPr>
              <a:t>= 2010);</a:t>
            </a:r>
            <a:endParaRPr lang="en-US" altLang="en-US" sz="1600" dirty="0">
              <a:latin typeface="Helvetica" pitchFamily="34" charset="0"/>
            </a:endParaRPr>
          </a:p>
        </p:txBody>
      </p:sp>
      <p:sp>
        <p:nvSpPr>
          <p:cNvPr id="46086" name="Text Box 6"/>
          <p:cNvSpPr txBox="1"/>
          <p:nvPr/>
        </p:nvSpPr>
        <p:spPr>
          <a:xfrm>
            <a:off x="1625600" y="4225925"/>
            <a:ext cx="6586538" cy="1558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distinct </a:t>
            </a:r>
            <a:r>
              <a:rPr lang="en-US" altLang="en-US" sz="1600" i="1" dirty="0">
                <a:latin typeface="Helvetica" pitchFamily="34" charset="0"/>
              </a:rPr>
              <a:t>course_id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section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where </a:t>
            </a:r>
            <a:r>
              <a:rPr lang="en-US" altLang="en-US" sz="1600" i="1" dirty="0">
                <a:latin typeface="Helvetica" pitchFamily="34" charset="0"/>
              </a:rPr>
              <a:t>semester </a:t>
            </a:r>
            <a:r>
              <a:rPr lang="en-US" altLang="en-US" sz="1600" dirty="0">
                <a:latin typeface="Helvetica" pitchFamily="34" charset="0"/>
              </a:rPr>
              <a:t>= ’Fall’ </a:t>
            </a:r>
            <a:r>
              <a:rPr lang="en-US" altLang="en-US" sz="1600" b="1" dirty="0">
                <a:latin typeface="Helvetica" pitchFamily="34" charset="0"/>
              </a:rPr>
              <a:t>and </a:t>
            </a:r>
            <a:r>
              <a:rPr lang="en-US" altLang="en-US" sz="1600" i="1" dirty="0">
                <a:latin typeface="Helvetica" pitchFamily="34" charset="0"/>
              </a:rPr>
              <a:t>year</a:t>
            </a:r>
            <a:r>
              <a:rPr lang="en-US" altLang="en-US" sz="1600" dirty="0">
                <a:latin typeface="Helvetica" pitchFamily="34" charset="0"/>
              </a:rPr>
              <a:t>= 2009 </a:t>
            </a:r>
            <a:r>
              <a:rPr lang="en-US" altLang="en-US" sz="1600" b="1" dirty="0">
                <a:latin typeface="Helvetica" pitchFamily="34" charset="0"/>
              </a:rPr>
              <a:t>and </a:t>
            </a:r>
            <a:br>
              <a:rPr lang="en-US" altLang="en-US" sz="1600" b="1" dirty="0">
                <a:latin typeface="Helvetica" pitchFamily="34" charset="0"/>
              </a:rPr>
            </a:br>
            <a:r>
              <a:rPr lang="en-US" altLang="en-US" sz="1600" b="1" dirty="0">
                <a:latin typeface="Helvetica" pitchFamily="34" charset="0"/>
              </a:rPr>
              <a:t>           </a:t>
            </a:r>
            <a:r>
              <a:rPr lang="en-US" altLang="en-US" sz="1600" i="1" dirty="0">
                <a:latin typeface="Helvetica" pitchFamily="34" charset="0"/>
              </a:rPr>
              <a:t>course_id  </a:t>
            </a:r>
            <a:r>
              <a:rPr lang="en-US" altLang="en-US" sz="1600" b="1" dirty="0">
                <a:latin typeface="Helvetica" pitchFamily="34" charset="0"/>
              </a:rPr>
              <a:t>not in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course_id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       from </a:t>
            </a:r>
            <a:r>
              <a:rPr lang="en-US" altLang="en-US" sz="1600" i="1" dirty="0">
                <a:latin typeface="Helvetica" pitchFamily="34" charset="0"/>
              </a:rPr>
              <a:t>section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       where </a:t>
            </a:r>
            <a:r>
              <a:rPr lang="en-US" altLang="en-US" sz="1600" i="1" dirty="0">
                <a:latin typeface="Helvetica" pitchFamily="34" charset="0"/>
              </a:rPr>
              <a:t>semester </a:t>
            </a:r>
            <a:r>
              <a:rPr lang="en-US" altLang="en-US" sz="1600" dirty="0">
                <a:latin typeface="Helvetica" pitchFamily="34" charset="0"/>
              </a:rPr>
              <a:t>= ’Spring’ </a:t>
            </a:r>
            <a:r>
              <a:rPr lang="en-US" altLang="en-US" sz="1600" b="1" dirty="0">
                <a:latin typeface="Helvetica" pitchFamily="34" charset="0"/>
              </a:rPr>
              <a:t>and </a:t>
            </a:r>
            <a:r>
              <a:rPr lang="en-US" altLang="en-US" sz="1600" i="1" dirty="0">
                <a:latin typeface="Helvetica" pitchFamily="34" charset="0"/>
              </a:rPr>
              <a:t>year</a:t>
            </a:r>
            <a:r>
              <a:rPr lang="en-US" altLang="en-US" sz="1600" dirty="0">
                <a:latin typeface="Helvetica" pitchFamily="34" charset="0"/>
              </a:rPr>
              <a:t>= 2010);</a:t>
            </a:r>
            <a:endParaRPr lang="en-US" altLang="en-US" sz="1600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Membership (Cont.)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661275" cy="760412"/>
          </a:xfrm>
        </p:spPr>
        <p:txBody>
          <a:bodyPr vert="horz" wrap="square" lIns="91440" tIns="45720" rIns="91440" bIns="45720" anchor="t" anchorCtr="0"/>
          <a:p>
            <a:pPr defTabSz="916305">
              <a:tabLst>
                <a:tab pos="684530" algn="l"/>
                <a:tab pos="1250950" algn="l"/>
              </a:tabLst>
            </a:pPr>
            <a:r>
              <a:rPr lang="en-US" altLang="en-US" dirty="0"/>
              <a:t>Find the total number of (distinct) students who have taken course sections taught by the instructor with </a:t>
            </a:r>
            <a:r>
              <a:rPr lang="en-US" altLang="en-US" i="1" dirty="0"/>
              <a:t>ID </a:t>
            </a:r>
            <a:r>
              <a:rPr lang="en-US" altLang="en-US" dirty="0"/>
              <a:t>10101</a:t>
            </a:r>
            <a:endParaRPr lang="en-US" altLang="en-US" dirty="0"/>
          </a:p>
          <a:p>
            <a:pPr defTabSz="916305">
              <a:tabLst>
                <a:tab pos="684530" algn="l"/>
                <a:tab pos="1250950" algn="l"/>
              </a:tabLst>
            </a:pPr>
            <a:endParaRPr lang="en-US" altLang="en-US" i="1" dirty="0"/>
          </a:p>
        </p:txBody>
      </p:sp>
      <p:sp>
        <p:nvSpPr>
          <p:cNvPr id="47108" name="Text Box 4"/>
          <p:cNvSpPr txBox="1"/>
          <p:nvPr/>
        </p:nvSpPr>
        <p:spPr>
          <a:xfrm>
            <a:off x="739775" y="5589588"/>
            <a:ext cx="74374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  <a:latin typeface="Helvetica" pitchFamily="34" charset="0"/>
              </a:rPr>
              <a:t>  </a:t>
            </a:r>
            <a:r>
              <a:rPr lang="en-US" altLang="en-US" dirty="0">
                <a:latin typeface="Helvetica" pitchFamily="34" charset="0"/>
              </a:rPr>
              <a:t>Note: Above query can be written in a much simpler manner.  </a:t>
            </a:r>
            <a:br>
              <a:rPr lang="en-US" altLang="en-US" dirty="0">
                <a:latin typeface="Helvetica" pitchFamily="34" charset="0"/>
              </a:rPr>
            </a:br>
            <a:r>
              <a:rPr lang="en-US" altLang="en-US" dirty="0">
                <a:latin typeface="Helvetica" pitchFamily="34" charset="0"/>
              </a:rPr>
              <a:t>     The formulation above is simply to illustrate SQL features.</a:t>
            </a:r>
            <a:endParaRPr lang="en-US" altLang="en-US" dirty="0">
              <a:latin typeface="Helvetica" pitchFamily="34" charset="0"/>
            </a:endParaRPr>
          </a:p>
        </p:txBody>
      </p:sp>
      <p:sp>
        <p:nvSpPr>
          <p:cNvPr id="47109" name="Text Box 5"/>
          <p:cNvSpPr txBox="1"/>
          <p:nvPr/>
        </p:nvSpPr>
        <p:spPr>
          <a:xfrm>
            <a:off x="1787525" y="1933575"/>
            <a:ext cx="5749925" cy="1558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count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b="1" dirty="0">
                <a:latin typeface="Helvetica" pitchFamily="34" charset="0"/>
              </a:rPr>
              <a:t>distinct </a:t>
            </a:r>
            <a:r>
              <a:rPr lang="en-US" altLang="en-US" sz="1600" i="1" dirty="0">
                <a:latin typeface="Helvetica" pitchFamily="34" charset="0"/>
              </a:rPr>
              <a:t>ID</a:t>
            </a:r>
            <a:r>
              <a:rPr lang="en-US" altLang="en-US" sz="1600" dirty="0">
                <a:latin typeface="Helvetica" pitchFamily="34" charset="0"/>
              </a:rPr>
              <a:t>)</a:t>
            </a:r>
            <a:endParaRPr lang="en-US" altLang="en-US" sz="1600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takes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where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i="1" dirty="0">
                <a:latin typeface="Helvetica" pitchFamily="34" charset="0"/>
              </a:rPr>
              <a:t>course_id</a:t>
            </a:r>
            <a:r>
              <a:rPr lang="en-US" altLang="en-US" sz="1600" dirty="0">
                <a:latin typeface="Helvetica" pitchFamily="34" charset="0"/>
              </a:rPr>
              <a:t>, </a:t>
            </a:r>
            <a:r>
              <a:rPr lang="en-US" altLang="en-US" sz="1600" i="1" dirty="0">
                <a:latin typeface="Helvetica" pitchFamily="34" charset="0"/>
              </a:rPr>
              <a:t>sec_id</a:t>
            </a:r>
            <a:r>
              <a:rPr lang="en-US" altLang="en-US" sz="1600" dirty="0">
                <a:latin typeface="Helvetica" pitchFamily="34" charset="0"/>
              </a:rPr>
              <a:t>, </a:t>
            </a:r>
            <a:r>
              <a:rPr lang="en-US" altLang="en-US" sz="1600" i="1" dirty="0">
                <a:latin typeface="Helvetica" pitchFamily="34" charset="0"/>
              </a:rPr>
              <a:t>semester</a:t>
            </a:r>
            <a:r>
              <a:rPr lang="en-US" altLang="en-US" sz="1600" dirty="0">
                <a:latin typeface="Helvetica" pitchFamily="34" charset="0"/>
              </a:rPr>
              <a:t>, </a:t>
            </a:r>
            <a:r>
              <a:rPr lang="en-US" altLang="en-US" sz="1600" i="1" dirty="0">
                <a:latin typeface="Helvetica" pitchFamily="34" charset="0"/>
              </a:rPr>
              <a:t>year</a:t>
            </a:r>
            <a:r>
              <a:rPr lang="en-US" altLang="en-US" sz="1600" dirty="0">
                <a:latin typeface="Helvetica" pitchFamily="34" charset="0"/>
              </a:rPr>
              <a:t>) </a:t>
            </a:r>
            <a:r>
              <a:rPr lang="en-US" altLang="en-US" sz="1600" b="1" dirty="0">
                <a:latin typeface="Helvetica" pitchFamily="34" charset="0"/>
              </a:rPr>
              <a:t>in </a:t>
            </a:r>
            <a:br>
              <a:rPr lang="en-US" altLang="en-US" sz="1600" b="1" dirty="0">
                <a:latin typeface="Helvetica" pitchFamily="34" charset="0"/>
              </a:rPr>
            </a:br>
            <a:r>
              <a:rPr lang="en-US" altLang="en-US" sz="1600" b="1" dirty="0">
                <a:latin typeface="Helvetica" pitchFamily="34" charset="0"/>
              </a:rPr>
              <a:t>                               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b="1" dirty="0">
                <a:solidFill>
                  <a:schemeClr val="tx2"/>
                </a:solidFill>
                <a:latin typeface="Helvetica" pitchFamily="34" charset="0"/>
              </a:rPr>
              <a:t>select </a:t>
            </a:r>
            <a:r>
              <a:rPr lang="en-US" altLang="en-US" sz="1600" i="1" dirty="0">
                <a:solidFill>
                  <a:schemeClr val="tx2"/>
                </a:solidFill>
                <a:latin typeface="Helvetica" pitchFamily="34" charset="0"/>
              </a:rPr>
              <a:t>course_id</a:t>
            </a:r>
            <a:r>
              <a:rPr lang="en-US" altLang="en-US" sz="1600" dirty="0">
                <a:solidFill>
                  <a:schemeClr val="tx2"/>
                </a:solidFill>
                <a:latin typeface="Helvetica" pitchFamily="34" charset="0"/>
              </a:rPr>
              <a:t>, </a:t>
            </a:r>
            <a:r>
              <a:rPr lang="en-US" altLang="en-US" sz="1600" i="1" dirty="0">
                <a:solidFill>
                  <a:schemeClr val="tx2"/>
                </a:solidFill>
                <a:latin typeface="Helvetica" pitchFamily="34" charset="0"/>
              </a:rPr>
              <a:t>sec_id</a:t>
            </a:r>
            <a:r>
              <a:rPr lang="en-US" altLang="en-US" sz="1600" dirty="0">
                <a:solidFill>
                  <a:schemeClr val="tx2"/>
                </a:solidFill>
                <a:latin typeface="Helvetica" pitchFamily="34" charset="0"/>
              </a:rPr>
              <a:t>, </a:t>
            </a:r>
            <a:r>
              <a:rPr lang="en-US" altLang="en-US" sz="1600" i="1" dirty="0">
                <a:solidFill>
                  <a:schemeClr val="tx2"/>
                </a:solidFill>
                <a:latin typeface="Helvetica" pitchFamily="34" charset="0"/>
              </a:rPr>
              <a:t>semester</a:t>
            </a:r>
            <a:r>
              <a:rPr lang="en-US" altLang="en-US" sz="1600" dirty="0">
                <a:solidFill>
                  <a:schemeClr val="tx2"/>
                </a:solidFill>
                <a:latin typeface="Helvetica" pitchFamily="34" charset="0"/>
              </a:rPr>
              <a:t>, </a:t>
            </a:r>
            <a:r>
              <a:rPr lang="en-US" altLang="en-US" sz="1600" i="1" dirty="0">
                <a:solidFill>
                  <a:schemeClr val="tx2"/>
                </a:solidFill>
                <a:latin typeface="Helvetica" pitchFamily="34" charset="0"/>
              </a:rPr>
              <a:t>year</a:t>
            </a:r>
            <a:endParaRPr lang="en-US" altLang="en-US" sz="1600" i="1" dirty="0">
              <a:solidFill>
                <a:schemeClr val="tx2"/>
              </a:solidFill>
              <a:latin typeface="Helvetica" pitchFamily="34" charset="0"/>
            </a:endParaRPr>
          </a:p>
          <a:p>
            <a:r>
              <a:rPr lang="en-US" altLang="en-US" sz="1600" b="1" dirty="0">
                <a:solidFill>
                  <a:schemeClr val="tx2"/>
                </a:solidFill>
                <a:latin typeface="Helvetica" pitchFamily="34" charset="0"/>
              </a:rPr>
              <a:t>                                 from </a:t>
            </a:r>
            <a:r>
              <a:rPr lang="en-US" altLang="en-US" sz="1600" i="1" dirty="0">
                <a:solidFill>
                  <a:schemeClr val="tx2"/>
                </a:solidFill>
                <a:latin typeface="Helvetica" pitchFamily="34" charset="0"/>
              </a:rPr>
              <a:t>teaches</a:t>
            </a:r>
            <a:endParaRPr lang="en-US" altLang="en-US" sz="1600" i="1" dirty="0">
              <a:solidFill>
                <a:schemeClr val="tx2"/>
              </a:solidFill>
              <a:latin typeface="Helvetica" pitchFamily="34" charset="0"/>
            </a:endParaRPr>
          </a:p>
          <a:p>
            <a:r>
              <a:rPr lang="en-US" altLang="en-US" sz="1600" b="1" dirty="0">
                <a:solidFill>
                  <a:schemeClr val="tx2"/>
                </a:solidFill>
                <a:latin typeface="Helvetica" pitchFamily="34" charset="0"/>
              </a:rPr>
              <a:t>                                 where </a:t>
            </a:r>
            <a:r>
              <a:rPr lang="en-US" altLang="en-US" sz="1600" i="1" dirty="0">
                <a:solidFill>
                  <a:schemeClr val="tx2"/>
                </a:solidFill>
                <a:latin typeface="Helvetica" pitchFamily="34" charset="0"/>
              </a:rPr>
              <a:t>teaches</a:t>
            </a:r>
            <a:r>
              <a:rPr lang="en-US" altLang="en-US" sz="1600" dirty="0">
                <a:solidFill>
                  <a:schemeClr val="tx2"/>
                </a:solidFill>
                <a:latin typeface="Helvetica" pitchFamily="34" charset="0"/>
              </a:rPr>
              <a:t>.</a:t>
            </a:r>
            <a:r>
              <a:rPr lang="en-US" altLang="en-US" sz="1600" i="1" dirty="0">
                <a:solidFill>
                  <a:schemeClr val="tx2"/>
                </a:solidFill>
                <a:latin typeface="Helvetica" pitchFamily="34" charset="0"/>
              </a:rPr>
              <a:t>ID</a:t>
            </a:r>
            <a:r>
              <a:rPr lang="en-US" altLang="en-US" sz="1600" dirty="0">
                <a:solidFill>
                  <a:schemeClr val="tx2"/>
                </a:solidFill>
                <a:latin typeface="Helvetica" pitchFamily="34" charset="0"/>
              </a:rPr>
              <a:t>= 10101</a:t>
            </a:r>
            <a:r>
              <a:rPr lang="en-US" altLang="en-US" sz="1600" dirty="0">
                <a:latin typeface="Helvetica" pitchFamily="34" charset="0"/>
              </a:rPr>
              <a:t>);</a:t>
            </a:r>
            <a:endParaRPr lang="en-US" altLang="en-US" sz="1600" dirty="0">
              <a:latin typeface="Helvetica" pitchFamily="34" charset="0"/>
            </a:endParaRPr>
          </a:p>
        </p:txBody>
      </p:sp>
      <p:pic>
        <p:nvPicPr>
          <p:cNvPr id="22531" name="Picture 4" descr="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56506"/>
          <a:stretch>
            <a:fillRect/>
          </a:stretch>
        </p:blipFill>
        <p:spPr>
          <a:xfrm>
            <a:off x="2226310" y="3559175"/>
            <a:ext cx="3890963" cy="1565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2197735" y="3875405"/>
            <a:ext cx="3987800" cy="447040"/>
          </a:xfrm>
          <a:prstGeom prst="rect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Comparison – “some”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661275" cy="766762"/>
          </a:xfrm>
        </p:spPr>
        <p:txBody>
          <a:bodyPr vert="horz" wrap="square" lIns="91440" tIns="45720" rIns="91440" bIns="45720" anchor="t" anchorCtr="0"/>
          <a:p>
            <a:pPr defTabSz="916305">
              <a:tabLst>
                <a:tab pos="1830705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  <a:endParaRPr lang="en-US" altLang="en-US" dirty="0"/>
          </a:p>
        </p:txBody>
      </p:sp>
      <p:sp>
        <p:nvSpPr>
          <p:cNvPr id="48132" name="Text Box 4"/>
          <p:cNvSpPr txBox="1"/>
          <p:nvPr/>
        </p:nvSpPr>
        <p:spPr>
          <a:xfrm>
            <a:off x="739775" y="3046413"/>
            <a:ext cx="72358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Same query using &gt; </a:t>
            </a:r>
            <a:r>
              <a:rPr lang="en-US" altLang="en-US" b="1" dirty="0">
                <a:latin typeface="Helvetica" pitchFamily="34" charset="0"/>
              </a:rPr>
              <a:t>some</a:t>
            </a:r>
            <a:r>
              <a:rPr lang="en-US" altLang="en-US" dirty="0">
                <a:latin typeface="Helvetica" pitchFamily="34" charset="0"/>
              </a:rPr>
              <a:t> clause</a:t>
            </a:r>
            <a:endParaRPr lang="en-US" altLang="en-US" dirty="0">
              <a:latin typeface="Times New Roman" panose="02020503050405090304" pitchFamily="18" charset="0"/>
            </a:endParaRPr>
          </a:p>
        </p:txBody>
      </p:sp>
      <p:sp>
        <p:nvSpPr>
          <p:cNvPr id="48133" name="Text Box 5"/>
          <p:cNvSpPr txBox="1"/>
          <p:nvPr/>
        </p:nvSpPr>
        <p:spPr>
          <a:xfrm>
            <a:off x="1957388" y="3597275"/>
            <a:ext cx="5657850" cy="131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name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instructor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where </a:t>
            </a:r>
            <a:r>
              <a:rPr lang="en-US" altLang="en-US" sz="1600" i="1" dirty="0">
                <a:latin typeface="Helvetica" pitchFamily="34" charset="0"/>
              </a:rPr>
              <a:t>salary </a:t>
            </a:r>
            <a:r>
              <a:rPr lang="en-US" altLang="en-US" sz="1600" dirty="0">
                <a:latin typeface="Helvetica" pitchFamily="34" charset="0"/>
              </a:rPr>
              <a:t>&gt; </a:t>
            </a:r>
            <a:r>
              <a:rPr lang="en-US" altLang="en-US" sz="1600" b="1" dirty="0">
                <a:latin typeface="Helvetica" pitchFamily="34" charset="0"/>
              </a:rPr>
              <a:t>some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salary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    from </a:t>
            </a:r>
            <a:r>
              <a:rPr lang="en-US" altLang="en-US" sz="1600" i="1" dirty="0">
                <a:latin typeface="Helvetica" pitchFamily="34" charset="0"/>
              </a:rPr>
              <a:t>instructor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    where </a:t>
            </a:r>
            <a:r>
              <a:rPr lang="en-US" altLang="en-US" sz="1600" i="1" dirty="0">
                <a:latin typeface="Helvetica" pitchFamily="34" charset="0"/>
              </a:rPr>
              <a:t>dept name </a:t>
            </a:r>
            <a:r>
              <a:rPr lang="en-US" altLang="en-US" sz="1600" dirty="0">
                <a:latin typeface="Helvetica" pitchFamily="34" charset="0"/>
              </a:rPr>
              <a:t>= ’Biology’);</a:t>
            </a:r>
            <a:endParaRPr lang="en-US" altLang="en-US" sz="1600" dirty="0">
              <a:latin typeface="Helvetica" pitchFamily="34" charset="0"/>
            </a:endParaRPr>
          </a:p>
        </p:txBody>
      </p:sp>
      <p:sp>
        <p:nvSpPr>
          <p:cNvPr id="48134" name="Text Box 6"/>
          <p:cNvSpPr txBox="1"/>
          <p:nvPr/>
        </p:nvSpPr>
        <p:spPr>
          <a:xfrm>
            <a:off x="1952625" y="1957388"/>
            <a:ext cx="5275263" cy="82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distinct </a:t>
            </a:r>
            <a:r>
              <a:rPr lang="en-US" altLang="en-US" sz="1600" i="1" dirty="0">
                <a:latin typeface="Helvetica" pitchFamily="34" charset="0"/>
              </a:rPr>
              <a:t>T</a:t>
            </a:r>
            <a:r>
              <a:rPr lang="en-US" altLang="en-US" sz="1600" dirty="0">
                <a:latin typeface="Helvetica" pitchFamily="34" charset="0"/>
              </a:rPr>
              <a:t>.</a:t>
            </a:r>
            <a:r>
              <a:rPr lang="en-US" altLang="en-US" sz="1600" i="1" dirty="0">
                <a:latin typeface="Helvetica" pitchFamily="34" charset="0"/>
              </a:rPr>
              <a:t>name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instructor </a:t>
            </a:r>
            <a:r>
              <a:rPr lang="en-US" altLang="en-US" sz="1600" b="1" dirty="0">
                <a:latin typeface="Helvetica" pitchFamily="34" charset="0"/>
              </a:rPr>
              <a:t>as </a:t>
            </a:r>
            <a:r>
              <a:rPr lang="en-US" altLang="en-US" sz="1600" i="1" dirty="0">
                <a:latin typeface="Helvetica" pitchFamily="34" charset="0"/>
              </a:rPr>
              <a:t>T</a:t>
            </a:r>
            <a:r>
              <a:rPr lang="en-US" altLang="en-US" sz="1600" dirty="0">
                <a:latin typeface="Helvetica" pitchFamily="34" charset="0"/>
              </a:rPr>
              <a:t>, </a:t>
            </a:r>
            <a:r>
              <a:rPr lang="en-US" altLang="en-US" sz="1600" i="1" dirty="0">
                <a:latin typeface="Helvetica" pitchFamily="34" charset="0"/>
              </a:rPr>
              <a:t>instructor </a:t>
            </a:r>
            <a:r>
              <a:rPr lang="en-US" altLang="en-US" sz="1600" b="1" dirty="0">
                <a:latin typeface="Helvetica" pitchFamily="34" charset="0"/>
              </a:rPr>
              <a:t>as </a:t>
            </a:r>
            <a:r>
              <a:rPr lang="en-US" altLang="en-US" sz="1600" i="1" dirty="0">
                <a:latin typeface="Helvetica" pitchFamily="34" charset="0"/>
              </a:rPr>
              <a:t>S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where </a:t>
            </a:r>
            <a:r>
              <a:rPr lang="en-US" altLang="en-US" sz="1600" i="1" dirty="0">
                <a:latin typeface="Helvetica" pitchFamily="34" charset="0"/>
              </a:rPr>
              <a:t>T.salary </a:t>
            </a:r>
            <a:r>
              <a:rPr lang="en-US" altLang="en-US" sz="1600" dirty="0">
                <a:latin typeface="Helvetica" pitchFamily="34" charset="0"/>
              </a:rPr>
              <a:t>&gt; </a:t>
            </a:r>
            <a:r>
              <a:rPr lang="en-US" altLang="en-US" sz="1600" i="1" dirty="0">
                <a:latin typeface="Helvetica" pitchFamily="34" charset="0"/>
              </a:rPr>
              <a:t>S.salary </a:t>
            </a:r>
            <a:r>
              <a:rPr lang="en-US" altLang="en-US" sz="1600" b="1" dirty="0">
                <a:latin typeface="Helvetica" pitchFamily="34" charset="0"/>
              </a:rPr>
              <a:t>and </a:t>
            </a:r>
            <a:r>
              <a:rPr lang="en-US" altLang="en-US" sz="1600" i="1" dirty="0">
                <a:latin typeface="Helvetica" pitchFamily="34" charset="0"/>
              </a:rPr>
              <a:t>S.dept name </a:t>
            </a:r>
            <a:r>
              <a:rPr lang="en-US" altLang="en-US" sz="1600" dirty="0">
                <a:latin typeface="Helvetica" pitchFamily="34" charset="0"/>
              </a:rPr>
              <a:t>= ’Biology’;</a:t>
            </a:r>
            <a:endParaRPr lang="en-US" altLang="en-US" sz="1600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381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Definition of  “some”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6800850" cy="714375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charset="2"/>
              </a:rPr>
              <a:t></a:t>
            </a:r>
            <a:r>
              <a:rPr lang="en-US" altLang="en-US" i="1" dirty="0">
                <a:sym typeface="Symbol" charset="2"/>
              </a:rPr>
              <a:t>t </a:t>
            </a:r>
            <a:r>
              <a:rPr lang="en-US" altLang="en-US" dirty="0">
                <a:sym typeface="Symbol" charset="2"/>
              </a:rPr>
              <a:t></a:t>
            </a:r>
            <a:r>
              <a:rPr lang="en-US" altLang="en-US" i="1" dirty="0">
                <a:sym typeface="Symbol" charset="2"/>
              </a:rPr>
              <a:t>r </a:t>
            </a:r>
            <a:r>
              <a:rPr lang="en-US" altLang="en-US" dirty="0">
                <a:sym typeface="Symbol" charset="2"/>
              </a:rPr>
              <a:t>such that (F &lt;comp&gt; </a:t>
            </a:r>
            <a:r>
              <a:rPr lang="en-US" altLang="en-US" i="1" dirty="0">
                <a:sym typeface="Symbol" charset="2"/>
              </a:rPr>
              <a:t>t </a:t>
            </a:r>
            <a:r>
              <a:rPr lang="en-US" altLang="en-US" dirty="0">
                <a:sym typeface="Symbol" charset="2"/>
              </a:rPr>
              <a:t>)</a:t>
            </a:r>
            <a:br>
              <a:rPr lang="en-US" altLang="en-US" i="1" dirty="0">
                <a:sym typeface="Symbol" charset="2"/>
              </a:rPr>
            </a:br>
            <a:r>
              <a:rPr lang="en-US" altLang="en-US" dirty="0">
                <a:sym typeface="Symbol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49156" name="Group 1"/>
          <p:cNvGrpSpPr/>
          <p:nvPr/>
        </p:nvGrpSpPr>
        <p:grpSpPr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49157" name="Group 4"/>
            <p:cNvGrpSpPr/>
            <p:nvPr/>
          </p:nvGrpSpPr>
          <p:grpSpPr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49175" name="Rectangle 5"/>
              <p:cNvSpPr/>
              <p:nvPr/>
            </p:nvSpPr>
            <p:spPr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en-US" sz="2400" dirty="0">
                    <a:latin typeface="Times New Roman" panose="02020503050405090304" pitchFamily="18" charset="0"/>
                  </a:rPr>
                  <a:t>0</a:t>
                </a:r>
                <a:endParaRPr lang="en-US" altLang="en-US" sz="24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49176" name="Rectangle 6"/>
              <p:cNvSpPr/>
              <p:nvPr/>
            </p:nvSpPr>
            <p:spPr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en-US" sz="2400" dirty="0">
                    <a:latin typeface="Times New Roman" panose="02020503050405090304" pitchFamily="18" charset="0"/>
                  </a:rPr>
                  <a:t>5</a:t>
                </a:r>
                <a:endParaRPr lang="en-US" altLang="en-US" sz="24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49177" name="Rectangle 7"/>
              <p:cNvSpPr/>
              <p:nvPr/>
            </p:nvSpPr>
            <p:spPr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en-US" sz="2400" dirty="0">
                    <a:latin typeface="Times New Roman" panose="02020503050405090304" pitchFamily="18" charset="0"/>
                  </a:rPr>
                  <a:t>6</a:t>
                </a:r>
                <a:endParaRPr lang="en-US" altLang="en-US" sz="2400" dirty="0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49158" name="Text Box 8"/>
            <p:cNvSpPr txBox="1"/>
            <p:nvPr/>
          </p:nvSpPr>
          <p:spPr>
            <a:xfrm>
              <a:off x="830263" y="2257425"/>
              <a:ext cx="1350962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&lt; </a:t>
              </a:r>
              <a:r>
                <a:rPr lang="en-US" altLang="en-US" b="1" dirty="0">
                  <a:latin typeface="Helvetica" pitchFamily="34" charset="0"/>
                </a:rPr>
                <a:t>some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49159" name="Text Box 9"/>
            <p:cNvSpPr txBox="1"/>
            <p:nvPr/>
          </p:nvSpPr>
          <p:spPr>
            <a:xfrm>
              <a:off x="2638425" y="2257425"/>
              <a:ext cx="9144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true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49160" name="Rectangle 10"/>
            <p:cNvSpPr/>
            <p:nvPr/>
          </p:nvSpPr>
          <p:spPr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0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49161" name="Rectangle 11"/>
            <p:cNvSpPr/>
            <p:nvPr/>
          </p:nvSpPr>
          <p:spPr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5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49162" name="Rectangle 12"/>
            <p:cNvSpPr/>
            <p:nvPr/>
          </p:nvSpPr>
          <p:spPr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0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49163" name="Text Box 13"/>
            <p:cNvSpPr txBox="1"/>
            <p:nvPr/>
          </p:nvSpPr>
          <p:spPr>
            <a:xfrm>
              <a:off x="2638425" y="34163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false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49164" name="Rectangle 14"/>
            <p:cNvSpPr/>
            <p:nvPr/>
          </p:nvSpPr>
          <p:spPr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5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49165" name="Rectangle 15"/>
            <p:cNvSpPr/>
            <p:nvPr/>
          </p:nvSpPr>
          <p:spPr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0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49166" name="Rectangle 16"/>
            <p:cNvSpPr/>
            <p:nvPr/>
          </p:nvSpPr>
          <p:spPr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5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49167" name="Text Box 17"/>
            <p:cNvSpPr txBox="1"/>
            <p:nvPr/>
          </p:nvSpPr>
          <p:spPr>
            <a:xfrm>
              <a:off x="809625" y="5000625"/>
              <a:ext cx="14478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</a:t>
              </a:r>
              <a:r>
                <a:rPr lang="en-US" altLang="en-US" sz="2400" dirty="0">
                  <a:latin typeface="Times New Roman" panose="02020503050405090304" pitchFamily="18" charset="0"/>
                  <a:sym typeface="Symbol" charset="2"/>
                </a:rPr>
                <a:t></a:t>
              </a:r>
              <a:r>
                <a:rPr lang="en-US" altLang="en-US" dirty="0">
                  <a:latin typeface="Helvetica" pitchFamily="34" charset="0"/>
                </a:rPr>
                <a:t> </a:t>
              </a:r>
              <a:r>
                <a:rPr lang="en-US" altLang="en-US" b="1" dirty="0">
                  <a:latin typeface="Helvetica" pitchFamily="34" charset="0"/>
                </a:rPr>
                <a:t>some</a:t>
              </a:r>
              <a:endParaRPr lang="en-US" altLang="en-US" b="1" dirty="0">
                <a:latin typeface="Helvetica" pitchFamily="34" charset="0"/>
              </a:endParaRPr>
            </a:p>
          </p:txBody>
        </p:sp>
        <p:sp>
          <p:nvSpPr>
            <p:cNvPr id="49168" name="Text Box 18"/>
            <p:cNvSpPr txBox="1"/>
            <p:nvPr/>
          </p:nvSpPr>
          <p:spPr>
            <a:xfrm>
              <a:off x="2638425" y="5000625"/>
              <a:ext cx="25146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true (since 0 </a:t>
              </a:r>
              <a:r>
                <a:rPr lang="en-US" altLang="en-US" sz="2400" dirty="0">
                  <a:latin typeface="Times New Roman" panose="02020503050405090304" pitchFamily="18" charset="0"/>
                  <a:sym typeface="Symbol" charset="2"/>
                </a:rPr>
                <a:t> </a:t>
              </a:r>
              <a:r>
                <a:rPr lang="en-US" altLang="en-US" dirty="0">
                  <a:latin typeface="Helvetica" pitchFamily="34" charset="0"/>
                  <a:sym typeface="Symbol" charset="2"/>
                </a:rPr>
                <a:t>5)</a:t>
              </a:r>
              <a:endParaRPr lang="en-US" altLang="en-US" sz="2400" dirty="0">
                <a:latin typeface="Times New Roman" panose="02020503050405090304" pitchFamily="18" charset="0"/>
                <a:sym typeface="Symbol" charset="2"/>
              </a:endParaRPr>
            </a:p>
          </p:txBody>
        </p:sp>
        <p:sp>
          <p:nvSpPr>
            <p:cNvPr id="49169" name="Text Box 19"/>
            <p:cNvSpPr txBox="1"/>
            <p:nvPr/>
          </p:nvSpPr>
          <p:spPr>
            <a:xfrm>
              <a:off x="3738563" y="2486025"/>
              <a:ext cx="48768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(read:  5 &lt; some tuple in the relation) 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49170" name="Text Box 20"/>
            <p:cNvSpPr txBox="1"/>
            <p:nvPr/>
          </p:nvSpPr>
          <p:spPr>
            <a:xfrm>
              <a:off x="844550" y="3402013"/>
              <a:ext cx="1377950" cy="3667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&lt; </a:t>
              </a:r>
              <a:r>
                <a:rPr lang="en-US" altLang="en-US" b="1" dirty="0">
                  <a:latin typeface="Helvetica" pitchFamily="34" charset="0"/>
                </a:rPr>
                <a:t>some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49171" name="Text Box 21"/>
            <p:cNvSpPr txBox="1"/>
            <p:nvPr/>
          </p:nvSpPr>
          <p:spPr>
            <a:xfrm>
              <a:off x="2638425" y="415925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true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49172" name="Text Box 22"/>
            <p:cNvSpPr txBox="1"/>
            <p:nvPr/>
          </p:nvSpPr>
          <p:spPr>
            <a:xfrm>
              <a:off x="885825" y="4162425"/>
              <a:ext cx="15240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= </a:t>
              </a:r>
              <a:r>
                <a:rPr lang="en-US" altLang="en-US" b="1" dirty="0">
                  <a:latin typeface="Helvetica" pitchFamily="34" charset="0"/>
                </a:rPr>
                <a:t>some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49173" name="Rectangle 23"/>
            <p:cNvSpPr/>
            <p:nvPr/>
          </p:nvSpPr>
          <p:spPr>
            <a:xfrm>
              <a:off x="823913" y="5472113"/>
              <a:ext cx="6800850" cy="71437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/>
            <a:p>
              <a:r>
                <a:rPr lang="en-US" altLang="en-US" dirty="0">
                  <a:latin typeface="Arial" panose="020B0604020202090204" pitchFamily="34" charset="0"/>
                </a:rPr>
                <a:t>(= </a:t>
              </a:r>
              <a:r>
                <a:rPr lang="en-US" altLang="en-US" b="1" dirty="0">
                  <a:latin typeface="Arial" panose="020B0604020202090204" pitchFamily="34" charset="0"/>
                </a:rPr>
                <a:t>some</a:t>
              </a:r>
              <a:r>
                <a:rPr lang="en-US" altLang="en-US" dirty="0">
                  <a:latin typeface="Arial" panose="020B0604020202090204" pitchFamily="34" charset="0"/>
                </a:rPr>
                <a:t>) </a:t>
              </a:r>
              <a:r>
                <a:rPr lang="en-US" altLang="en-US" dirty="0">
                  <a:latin typeface="Arial" panose="020B0604020202090204" pitchFamily="34" charset="0"/>
                  <a:sym typeface="Symbol" charset="2"/>
                </a:rPr>
                <a:t> </a:t>
              </a:r>
              <a:r>
                <a:rPr lang="en-US" altLang="en-US" b="1" dirty="0">
                  <a:latin typeface="Arial" panose="020B0604020202090204" pitchFamily="34" charset="0"/>
                  <a:sym typeface="Symbol" charset="2"/>
                </a:rPr>
                <a:t>in</a:t>
              </a:r>
              <a:endParaRPr lang="en-US" altLang="en-US" b="1" dirty="0">
                <a:latin typeface="Arial" panose="020B0604020202090204" pitchFamily="34" charset="0"/>
                <a:sym typeface="Symbol" charset="2"/>
              </a:endParaRPr>
            </a:p>
            <a:p>
              <a:r>
                <a:rPr lang="en-US" altLang="en-US" dirty="0">
                  <a:latin typeface="Arial" panose="020B0604020202090204" pitchFamily="34" charset="0"/>
                  <a:sym typeface="Symbol" charset="2"/>
                </a:rPr>
                <a:t>However, ( </a:t>
              </a:r>
              <a:r>
                <a:rPr lang="en-US" altLang="en-US" b="1" dirty="0">
                  <a:latin typeface="Arial" panose="020B0604020202090204" pitchFamily="34" charset="0"/>
                  <a:sym typeface="Symbol" charset="2"/>
                </a:rPr>
                <a:t>some</a:t>
              </a:r>
              <a:r>
                <a:rPr lang="en-US" altLang="en-US" dirty="0">
                  <a:latin typeface="Arial" panose="020B0604020202090204" pitchFamily="34" charset="0"/>
                  <a:sym typeface="Symbol" charset="2"/>
                </a:rPr>
                <a:t>)  </a:t>
              </a:r>
              <a:r>
                <a:rPr lang="en-US" altLang="en-US" b="1" dirty="0">
                  <a:latin typeface="Arial" panose="020B0604020202090204" pitchFamily="34" charset="0"/>
                  <a:sym typeface="Symbol" charset="2"/>
                </a:rPr>
                <a:t>not in</a:t>
              </a:r>
              <a:endParaRPr lang="en-US" altLang="en-US" dirty="0">
                <a:latin typeface="Arial" panose="020B0604020202090204" pitchFamily="34" charset="0"/>
                <a:sym typeface="Symbol" charset="2"/>
              </a:endParaRPr>
            </a:p>
          </p:txBody>
        </p:sp>
        <p:sp>
          <p:nvSpPr>
            <p:cNvPr id="49174" name="Line 24"/>
            <p:cNvSpPr/>
            <p:nvPr/>
          </p:nvSpPr>
          <p:spPr>
            <a:xfrm flipH="1">
              <a:off x="2919413" y="5840413"/>
              <a:ext cx="122237" cy="2794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Comparison – “all”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814388" y="1108075"/>
            <a:ext cx="7661275" cy="976313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370330" algn="l"/>
                <a:tab pos="1830705" algn="l"/>
              </a:tabLst>
            </a:pPr>
            <a:r>
              <a:rPr lang="en-US" altLang="en-US" dirty="0"/>
              <a:t>Find the names of all instructors whose salary is greater than the salary of all instructors in the Biology department.</a:t>
            </a:r>
            <a:endParaRPr lang="en-US" altLang="en-US" dirty="0"/>
          </a:p>
        </p:txBody>
      </p:sp>
      <p:sp>
        <p:nvSpPr>
          <p:cNvPr id="50180" name="Text Box 4"/>
          <p:cNvSpPr txBox="1"/>
          <p:nvPr/>
        </p:nvSpPr>
        <p:spPr>
          <a:xfrm>
            <a:off x="1836738" y="2065338"/>
            <a:ext cx="5018087" cy="131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name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instructor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where </a:t>
            </a:r>
            <a:r>
              <a:rPr lang="en-US" altLang="en-US" sz="1600" i="1" dirty="0">
                <a:latin typeface="Helvetica" pitchFamily="34" charset="0"/>
              </a:rPr>
              <a:t>salary </a:t>
            </a:r>
            <a:r>
              <a:rPr lang="en-US" altLang="en-US" sz="1600" dirty="0">
                <a:latin typeface="Helvetica" pitchFamily="34" charset="0"/>
              </a:rPr>
              <a:t>&gt; </a:t>
            </a:r>
            <a:r>
              <a:rPr lang="en-US" altLang="en-US" sz="1600" b="1" dirty="0">
                <a:latin typeface="Helvetica" pitchFamily="34" charset="0"/>
              </a:rPr>
              <a:t>all </a:t>
            </a:r>
            <a:r>
              <a:rPr lang="en-US" altLang="en-US" sz="1600" dirty="0">
                <a:latin typeface="Helvetica" pitchFamily="34" charset="0"/>
              </a:rPr>
              <a:t>(</a:t>
            </a:r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salary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from </a:t>
            </a:r>
            <a:r>
              <a:rPr lang="en-US" altLang="en-US" sz="1600" i="1" dirty="0">
                <a:latin typeface="Helvetica" pitchFamily="34" charset="0"/>
              </a:rPr>
              <a:t>instructor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where </a:t>
            </a:r>
            <a:r>
              <a:rPr lang="en-US" altLang="en-US" sz="1600" i="1" dirty="0">
                <a:latin typeface="Helvetica" pitchFamily="34" charset="0"/>
              </a:rPr>
              <a:t>dept name </a:t>
            </a:r>
            <a:r>
              <a:rPr lang="en-US" altLang="en-US" sz="1600" dirty="0">
                <a:latin typeface="Helvetica" pitchFamily="34" charset="0"/>
              </a:rPr>
              <a:t>= ’Biology’);</a:t>
            </a:r>
            <a:endParaRPr lang="en-US" altLang="en-US" sz="1600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Definition of “all”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823913" y="1122363"/>
            <a:ext cx="6638925" cy="382587"/>
          </a:xfrm>
        </p:spPr>
        <p:txBody>
          <a:bodyPr vert="horz" wrap="square" lIns="90488" tIns="44450" rIns="90488" bIns="44450" anchor="t" anchorCtr="0"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charset="2"/>
              </a:rPr>
              <a:t></a:t>
            </a:r>
            <a:r>
              <a:rPr lang="en-US" altLang="en-US" i="1" dirty="0">
                <a:sym typeface="Symbol" charset="2"/>
              </a:rPr>
              <a:t>t </a:t>
            </a:r>
            <a:r>
              <a:rPr lang="en-US" altLang="en-US" dirty="0">
                <a:sym typeface="Symbol" charset="2"/>
              </a:rPr>
              <a:t></a:t>
            </a:r>
            <a:r>
              <a:rPr lang="en-US" altLang="en-US" i="1" dirty="0">
                <a:sym typeface="Symbol" charset="2"/>
              </a:rPr>
              <a:t>r</a:t>
            </a:r>
            <a:r>
              <a:rPr lang="en-US" altLang="en-US" dirty="0">
                <a:sym typeface="Symbol" charset="2"/>
              </a:rPr>
              <a:t> (F &lt;comp&gt; </a:t>
            </a:r>
            <a:r>
              <a:rPr lang="en-US" altLang="en-US" i="1" dirty="0">
                <a:sym typeface="Symbol" charset="2"/>
              </a:rPr>
              <a:t>t)</a:t>
            </a:r>
            <a:endParaRPr lang="en-US" altLang="en-US" dirty="0"/>
          </a:p>
        </p:txBody>
      </p:sp>
      <p:grpSp>
        <p:nvGrpSpPr>
          <p:cNvPr id="51204" name="Group 1"/>
          <p:cNvGrpSpPr/>
          <p:nvPr/>
        </p:nvGrpSpPr>
        <p:grpSpPr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51205" name="Group 4"/>
            <p:cNvGrpSpPr/>
            <p:nvPr/>
          </p:nvGrpSpPr>
          <p:grpSpPr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1222" name="Rectangle 5"/>
              <p:cNvSpPr/>
              <p:nvPr/>
            </p:nvSpPr>
            <p:spPr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en-US" sz="2400" dirty="0">
                    <a:latin typeface="Times New Roman" panose="02020503050405090304" pitchFamily="18" charset="0"/>
                  </a:rPr>
                  <a:t>0</a:t>
                </a:r>
                <a:endParaRPr lang="en-US" altLang="en-US" sz="24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51223" name="Rectangle 6"/>
              <p:cNvSpPr/>
              <p:nvPr/>
            </p:nvSpPr>
            <p:spPr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en-US" sz="2400" dirty="0">
                    <a:latin typeface="Times New Roman" panose="02020503050405090304" pitchFamily="18" charset="0"/>
                  </a:rPr>
                  <a:t>5</a:t>
                </a:r>
                <a:endParaRPr lang="en-US" altLang="en-US" sz="2400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51224" name="Rectangle 7"/>
              <p:cNvSpPr/>
              <p:nvPr/>
            </p:nvSpPr>
            <p:spPr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en-US" sz="2400" dirty="0">
                    <a:latin typeface="Times New Roman" panose="02020503050405090304" pitchFamily="18" charset="0"/>
                  </a:rPr>
                  <a:t>6</a:t>
                </a:r>
                <a:endParaRPr lang="en-US" altLang="en-US" sz="2400" dirty="0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51206" name="Text Box 8"/>
            <p:cNvSpPr txBox="1"/>
            <p:nvPr/>
          </p:nvSpPr>
          <p:spPr>
            <a:xfrm>
              <a:off x="1593850" y="20574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&lt; </a:t>
              </a:r>
              <a:r>
                <a:rPr lang="en-US" altLang="en-US" b="1" dirty="0">
                  <a:latin typeface="Helvetica" pitchFamily="34" charset="0"/>
                </a:rPr>
                <a:t>all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51207" name="Text Box 9"/>
            <p:cNvSpPr txBox="1"/>
            <p:nvPr/>
          </p:nvSpPr>
          <p:spPr>
            <a:xfrm>
              <a:off x="3152775" y="20574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false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51208" name="Rectangle 10"/>
            <p:cNvSpPr/>
            <p:nvPr/>
          </p:nvSpPr>
          <p:spPr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6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51209" name="Rectangle 11"/>
            <p:cNvSpPr/>
            <p:nvPr/>
          </p:nvSpPr>
          <p:spPr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10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51210" name="Rectangle 12"/>
            <p:cNvSpPr/>
            <p:nvPr/>
          </p:nvSpPr>
          <p:spPr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4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51211" name="Text Box 13"/>
            <p:cNvSpPr txBox="1"/>
            <p:nvPr/>
          </p:nvSpPr>
          <p:spPr>
            <a:xfrm>
              <a:off x="3152775" y="3216275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true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51212" name="Rectangle 14"/>
            <p:cNvSpPr/>
            <p:nvPr/>
          </p:nvSpPr>
          <p:spPr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5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51213" name="Rectangle 15"/>
            <p:cNvSpPr/>
            <p:nvPr/>
          </p:nvSpPr>
          <p:spPr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4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51214" name="Rectangle 16"/>
            <p:cNvSpPr/>
            <p:nvPr/>
          </p:nvSpPr>
          <p:spPr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en-US" sz="2400" dirty="0">
                  <a:latin typeface="Times New Roman" panose="02020503050405090304" pitchFamily="18" charset="0"/>
                </a:rPr>
                <a:t>6</a:t>
              </a:r>
              <a:endParaRPr lang="en-US" altLang="en-US" sz="2400" dirty="0">
                <a:latin typeface="Times New Roman" panose="02020503050405090304" pitchFamily="18" charset="0"/>
              </a:endParaRPr>
            </a:p>
          </p:txBody>
        </p:sp>
        <p:sp>
          <p:nvSpPr>
            <p:cNvPr id="51215" name="Text Box 17"/>
            <p:cNvSpPr txBox="1"/>
            <p:nvPr/>
          </p:nvSpPr>
          <p:spPr>
            <a:xfrm>
              <a:off x="1704975" y="4800600"/>
              <a:ext cx="16764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</a:t>
              </a:r>
              <a:r>
                <a:rPr lang="en-US" altLang="en-US" sz="2400" dirty="0">
                  <a:latin typeface="Times New Roman" panose="02020503050405090304" pitchFamily="18" charset="0"/>
                  <a:sym typeface="Symbol" charset="2"/>
                </a:rPr>
                <a:t></a:t>
              </a:r>
              <a:r>
                <a:rPr lang="en-US" altLang="en-US" dirty="0">
                  <a:latin typeface="Helvetica" pitchFamily="34" charset="0"/>
                </a:rPr>
                <a:t> </a:t>
              </a:r>
              <a:r>
                <a:rPr lang="en-US" altLang="en-US" b="1" dirty="0">
                  <a:latin typeface="Helvetica" pitchFamily="34" charset="0"/>
                </a:rPr>
                <a:t>all</a:t>
              </a:r>
              <a:endParaRPr lang="en-US" altLang="en-US" b="1" dirty="0">
                <a:latin typeface="Helvetica" pitchFamily="34" charset="0"/>
              </a:endParaRPr>
            </a:p>
          </p:txBody>
        </p:sp>
        <p:sp>
          <p:nvSpPr>
            <p:cNvPr id="51216" name="Text Box 18"/>
            <p:cNvSpPr txBox="1"/>
            <p:nvPr/>
          </p:nvSpPr>
          <p:spPr>
            <a:xfrm>
              <a:off x="3163888" y="4786313"/>
              <a:ext cx="45720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true (since 5 </a:t>
              </a:r>
              <a:r>
                <a:rPr lang="en-US" altLang="en-US" sz="2400" dirty="0">
                  <a:latin typeface="Times New Roman" panose="02020503050405090304" pitchFamily="18" charset="0"/>
                  <a:sym typeface="Symbol" charset="2"/>
                </a:rPr>
                <a:t> </a:t>
              </a:r>
              <a:r>
                <a:rPr lang="en-US" altLang="en-US" dirty="0">
                  <a:latin typeface="Helvetica" pitchFamily="34" charset="0"/>
                  <a:sym typeface="Symbol" charset="2"/>
                </a:rPr>
                <a:t>4 and 5 </a:t>
              </a:r>
              <a:r>
                <a:rPr lang="en-US" altLang="en-US" sz="2400" dirty="0">
                  <a:latin typeface="Times New Roman" panose="02020503050405090304" pitchFamily="18" charset="0"/>
                  <a:sym typeface="Symbol" charset="2"/>
                </a:rPr>
                <a:t></a:t>
              </a:r>
              <a:r>
                <a:rPr lang="en-US" altLang="en-US" dirty="0">
                  <a:latin typeface="Helvetica" pitchFamily="34" charset="0"/>
                  <a:sym typeface="Symbol" charset="2"/>
                </a:rPr>
                <a:t> 6)</a:t>
              </a:r>
              <a:endParaRPr lang="en-US" altLang="en-US" sz="2400" dirty="0">
                <a:latin typeface="Times New Roman" panose="02020503050405090304" pitchFamily="18" charset="0"/>
                <a:sym typeface="Symbol" charset="2"/>
              </a:endParaRPr>
            </a:p>
          </p:txBody>
        </p:sp>
        <p:sp>
          <p:nvSpPr>
            <p:cNvPr id="51217" name="Text Box 19"/>
            <p:cNvSpPr txBox="1"/>
            <p:nvPr/>
          </p:nvSpPr>
          <p:spPr>
            <a:xfrm>
              <a:off x="1651000" y="3228975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&lt; </a:t>
              </a:r>
              <a:r>
                <a:rPr lang="en-US" altLang="en-US" b="1" dirty="0">
                  <a:latin typeface="Helvetica" pitchFamily="34" charset="0"/>
                </a:rPr>
                <a:t>all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51218" name="Text Box 20"/>
            <p:cNvSpPr txBox="1"/>
            <p:nvPr/>
          </p:nvSpPr>
          <p:spPr>
            <a:xfrm>
              <a:off x="3152775" y="3959225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) = false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51219" name="Text Box 21"/>
            <p:cNvSpPr txBox="1"/>
            <p:nvPr/>
          </p:nvSpPr>
          <p:spPr>
            <a:xfrm>
              <a:off x="1704975" y="39624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itchFamily="34" charset="0"/>
                </a:rPr>
                <a:t>(5 = </a:t>
              </a:r>
              <a:r>
                <a:rPr lang="en-US" altLang="en-US" b="1" dirty="0">
                  <a:latin typeface="Helvetica" pitchFamily="34" charset="0"/>
                </a:rPr>
                <a:t>all</a:t>
              </a:r>
              <a:endParaRPr lang="en-US" altLang="en-US" dirty="0">
                <a:latin typeface="Helvetica" pitchFamily="34" charset="0"/>
              </a:endParaRPr>
            </a:p>
          </p:txBody>
        </p:sp>
        <p:sp>
          <p:nvSpPr>
            <p:cNvPr id="51220" name="Rectangle 22"/>
            <p:cNvSpPr/>
            <p:nvPr/>
          </p:nvSpPr>
          <p:spPr>
            <a:xfrm>
              <a:off x="1238250" y="5257800"/>
              <a:ext cx="6800850" cy="71437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/>
            <a:p>
              <a:r>
                <a:rPr lang="en-US" altLang="en-US" dirty="0">
                  <a:latin typeface="Arial" panose="020B0604020202090204" pitchFamily="34" charset="0"/>
                </a:rPr>
                <a:t>(</a:t>
              </a:r>
              <a:r>
                <a:rPr lang="en-US" altLang="en-US" dirty="0">
                  <a:latin typeface="Arial" panose="020B0604020202090204" pitchFamily="34" charset="0"/>
                  <a:sym typeface="Symbol" charset="2"/>
                </a:rPr>
                <a:t></a:t>
              </a:r>
              <a:r>
                <a:rPr lang="en-US" altLang="en-US" dirty="0">
                  <a:latin typeface="Arial" panose="020B0604020202090204" pitchFamily="34" charset="0"/>
                </a:rPr>
                <a:t> </a:t>
              </a:r>
              <a:r>
                <a:rPr lang="en-US" altLang="en-US" b="1" dirty="0">
                  <a:latin typeface="Arial" panose="020B0604020202090204" pitchFamily="34" charset="0"/>
                </a:rPr>
                <a:t>all</a:t>
              </a:r>
              <a:r>
                <a:rPr lang="en-US" altLang="en-US" dirty="0">
                  <a:latin typeface="Arial" panose="020B0604020202090204" pitchFamily="34" charset="0"/>
                </a:rPr>
                <a:t>) </a:t>
              </a:r>
              <a:r>
                <a:rPr lang="en-US" altLang="en-US" dirty="0">
                  <a:latin typeface="Arial" panose="020B0604020202090204" pitchFamily="34" charset="0"/>
                  <a:sym typeface="Symbol" charset="2"/>
                </a:rPr>
                <a:t> </a:t>
              </a:r>
              <a:r>
                <a:rPr lang="en-US" altLang="en-US" b="1" dirty="0">
                  <a:latin typeface="Arial" panose="020B0604020202090204" pitchFamily="34" charset="0"/>
                  <a:sym typeface="Symbol" charset="2"/>
                </a:rPr>
                <a:t>not in</a:t>
              </a:r>
              <a:endParaRPr lang="en-US" altLang="en-US" b="1" dirty="0">
                <a:latin typeface="Arial" panose="020B0604020202090204" pitchFamily="34" charset="0"/>
                <a:sym typeface="Symbol" charset="2"/>
              </a:endParaRPr>
            </a:p>
            <a:p>
              <a:r>
                <a:rPr lang="en-US" altLang="en-US" dirty="0">
                  <a:latin typeface="Arial" panose="020B0604020202090204" pitchFamily="34" charset="0"/>
                  <a:sym typeface="Symbol" charset="2"/>
                </a:rPr>
                <a:t>However, (= </a:t>
              </a:r>
              <a:r>
                <a:rPr lang="en-US" altLang="en-US" b="1" dirty="0">
                  <a:latin typeface="Arial" panose="020B0604020202090204" pitchFamily="34" charset="0"/>
                  <a:sym typeface="Symbol" charset="2"/>
                </a:rPr>
                <a:t>all</a:t>
              </a:r>
              <a:r>
                <a:rPr lang="en-US" altLang="en-US" dirty="0">
                  <a:latin typeface="Arial" panose="020B0604020202090204" pitchFamily="34" charset="0"/>
                  <a:sym typeface="Symbol" charset="2"/>
                </a:rPr>
                <a:t>)  </a:t>
              </a:r>
              <a:r>
                <a:rPr lang="en-US" altLang="en-US" b="1" dirty="0">
                  <a:latin typeface="Arial" panose="020B0604020202090204" pitchFamily="34" charset="0"/>
                  <a:sym typeface="Symbol" charset="2"/>
                </a:rPr>
                <a:t>in</a:t>
              </a:r>
              <a:endParaRPr lang="en-US" altLang="en-US" b="1" dirty="0">
                <a:latin typeface="Arial" panose="020B0604020202090204" pitchFamily="34" charset="0"/>
                <a:sym typeface="Symbol" charset="2"/>
              </a:endParaRPr>
            </a:p>
          </p:txBody>
        </p:sp>
        <p:sp>
          <p:nvSpPr>
            <p:cNvPr id="51221" name="Line 23"/>
            <p:cNvSpPr/>
            <p:nvPr/>
          </p:nvSpPr>
          <p:spPr>
            <a:xfrm flipH="1">
              <a:off x="3016250" y="5603875"/>
              <a:ext cx="109538" cy="2286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Test for Empty Relations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1089025" y="1106488"/>
            <a:ext cx="6683375" cy="4876800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The </a:t>
            </a:r>
            <a:r>
              <a:rPr lang="en-US" altLang="en-US" b="1" dirty="0"/>
              <a:t>exists</a:t>
            </a:r>
            <a:r>
              <a:rPr lang="en-US" altLang="en-US" dirty="0"/>
              <a:t> construct returns the value </a:t>
            </a:r>
            <a:r>
              <a:rPr lang="en-US" altLang="en-US" b="1" dirty="0"/>
              <a:t>true</a:t>
            </a:r>
            <a:r>
              <a:rPr lang="en-US" altLang="en-US" dirty="0"/>
              <a:t> if the argument subquery is nonempty.</a:t>
            </a:r>
            <a:endParaRPr lang="en-US" altLang="en-US" dirty="0"/>
          </a:p>
          <a:p>
            <a:r>
              <a:rPr lang="en-US" altLang="en-US" b="1" dirty="0"/>
              <a:t>exists </a:t>
            </a:r>
            <a:r>
              <a:rPr lang="en-US" altLang="en-US" i="1" dirty="0"/>
              <a:t> r </a:t>
            </a:r>
            <a:r>
              <a:rPr lang="en-US" altLang="en-US" dirty="0">
                <a:sym typeface="Symbol" charset="2"/>
              </a:rPr>
              <a:t> </a:t>
            </a:r>
            <a:r>
              <a:rPr lang="en-US" altLang="en-US" i="1" dirty="0">
                <a:sym typeface="Symbol" charset="2"/>
              </a:rPr>
              <a:t>r </a:t>
            </a:r>
            <a:r>
              <a:rPr lang="en-US" altLang="en-US" dirty="0">
                <a:sym typeface="Symbol" charset="2"/>
              </a:rPr>
              <a:t> </a:t>
            </a:r>
            <a:r>
              <a:rPr lang="en-US" altLang="en-US" i="1" dirty="0"/>
              <a:t>Ø</a:t>
            </a:r>
            <a:endParaRPr lang="en-US" altLang="en-US" dirty="0">
              <a:sym typeface="Symbol" charset="2"/>
            </a:endParaRPr>
          </a:p>
          <a:p>
            <a:r>
              <a:rPr lang="en-US" altLang="en-US" b="1" dirty="0">
                <a:sym typeface="Symbol" charset="2"/>
              </a:rPr>
              <a:t>not exists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charset="2"/>
              </a:rPr>
              <a:t> </a:t>
            </a:r>
            <a:r>
              <a:rPr lang="en-US" altLang="en-US" i="1" dirty="0">
                <a:sym typeface="Symbol" charset="2"/>
              </a:rPr>
              <a:t>r </a:t>
            </a:r>
            <a:r>
              <a:rPr lang="en-US" altLang="en-US" dirty="0">
                <a:sym typeface="Symbol" charset="2"/>
              </a:rPr>
              <a:t>= </a:t>
            </a:r>
            <a:r>
              <a:rPr lang="en-US" altLang="en-US" i="1" dirty="0"/>
              <a:t>Ø</a:t>
            </a:r>
            <a:endParaRPr lang="en-US" altLang="en-US" i="1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Use of “exists”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Yet another way of specifying the query “Find all courses taught in both the Fall 2009 semester and in the Spring 2010 semester”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	   select </a:t>
            </a:r>
            <a:r>
              <a:rPr lang="en-US" altLang="en-US" i="1" dirty="0"/>
              <a:t>course_id</a:t>
            </a:r>
            <a:br>
              <a:rPr lang="en-US" altLang="en-US" i="1" dirty="0"/>
            </a:br>
            <a:r>
              <a:rPr lang="en-US" altLang="en-US" i="1" dirty="0"/>
              <a:t>   </a:t>
            </a:r>
            <a:r>
              <a:rPr lang="en-US" altLang="en-US" b="1" dirty="0"/>
              <a:t>from </a:t>
            </a:r>
            <a:r>
              <a:rPr lang="en-US" altLang="en-US" i="1" dirty="0"/>
              <a:t>section </a:t>
            </a:r>
            <a:r>
              <a:rPr lang="en-US" altLang="en-US" b="1" dirty="0"/>
              <a:t>as </a:t>
            </a:r>
            <a:r>
              <a:rPr lang="en-US" altLang="en-US" i="1" dirty="0"/>
              <a:t>S</a:t>
            </a:r>
            <a:br>
              <a:rPr lang="en-US" altLang="en-US" i="1" dirty="0"/>
            </a:br>
            <a:r>
              <a:rPr lang="en-US" altLang="en-US" i="1" dirty="0"/>
              <a:t>   </a:t>
            </a:r>
            <a:r>
              <a:rPr lang="en-US" altLang="en-US" b="1" dirty="0"/>
              <a:t>where </a:t>
            </a:r>
            <a:r>
              <a:rPr lang="en-US" altLang="en-US" i="1" dirty="0"/>
              <a:t>semester </a:t>
            </a:r>
            <a:r>
              <a:rPr lang="en-US" altLang="en-US" dirty="0"/>
              <a:t>= ’Fall’ </a:t>
            </a:r>
            <a:r>
              <a:rPr lang="en-US" altLang="en-US" b="1" dirty="0"/>
              <a:t>and </a:t>
            </a:r>
            <a:r>
              <a:rPr lang="en-US" altLang="en-US" i="1" dirty="0"/>
              <a:t>year </a:t>
            </a:r>
            <a:r>
              <a:rPr lang="en-US" altLang="en-US" dirty="0"/>
              <a:t>= 2009 </a:t>
            </a:r>
            <a:r>
              <a:rPr lang="en-US" altLang="en-US" b="1" dirty="0"/>
              <a:t>and </a:t>
            </a:r>
            <a:br>
              <a:rPr lang="en-US" altLang="en-US" b="1" dirty="0"/>
            </a:br>
            <a:r>
              <a:rPr lang="en-US" altLang="en-US" b="1" dirty="0"/>
              <a:t>               exists </a:t>
            </a:r>
            <a:r>
              <a:rPr lang="en-US" altLang="en-US" dirty="0"/>
              <a:t>(</a:t>
            </a:r>
            <a:r>
              <a:rPr lang="en-US" altLang="en-US" b="1" dirty="0"/>
              <a:t>select </a:t>
            </a:r>
            <a:r>
              <a:rPr lang="en-US" altLang="en-US" dirty="0"/>
              <a:t>*</a:t>
            </a:r>
            <a:br>
              <a:rPr lang="en-US" altLang="en-US" dirty="0"/>
            </a:br>
            <a:r>
              <a:rPr lang="en-US" altLang="en-US" dirty="0"/>
              <a:t>          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section </a:t>
            </a:r>
            <a:r>
              <a:rPr lang="en-US" altLang="en-US" b="1" dirty="0"/>
              <a:t>as </a:t>
            </a:r>
            <a:r>
              <a:rPr lang="en-US" altLang="en-US" i="1" dirty="0"/>
              <a:t>T</a:t>
            </a:r>
            <a:br>
              <a:rPr lang="en-US" altLang="en-US" i="1" dirty="0"/>
            </a:br>
            <a:r>
              <a:rPr lang="en-US" altLang="en-US" i="1" dirty="0"/>
              <a:t>                            </a:t>
            </a:r>
            <a:r>
              <a:rPr lang="en-US" altLang="en-US" b="1" dirty="0"/>
              <a:t>where </a:t>
            </a:r>
            <a:r>
              <a:rPr lang="en-US" altLang="en-US" i="1" dirty="0"/>
              <a:t>semester </a:t>
            </a:r>
            <a:r>
              <a:rPr lang="en-US" altLang="en-US" dirty="0"/>
              <a:t>= ’Spring’ </a:t>
            </a:r>
            <a:r>
              <a:rPr lang="en-US" altLang="en-US" b="1" dirty="0"/>
              <a:t>and </a:t>
            </a:r>
            <a:r>
              <a:rPr lang="en-US" altLang="en-US" i="1" dirty="0"/>
              <a:t>year</a:t>
            </a:r>
            <a:r>
              <a:rPr lang="en-US" altLang="en-US" dirty="0"/>
              <a:t>= 2010 </a:t>
            </a:r>
            <a:br>
              <a:rPr lang="en-US" altLang="en-US" dirty="0"/>
            </a:br>
            <a:r>
              <a:rPr lang="en-US" altLang="en-US" dirty="0"/>
              <a:t>                                        </a:t>
            </a:r>
            <a:r>
              <a:rPr lang="en-US" altLang="en-US" b="1" dirty="0"/>
              <a:t>and </a:t>
            </a:r>
            <a:r>
              <a:rPr lang="en-US" altLang="en-US" i="1" dirty="0"/>
              <a:t>S</a:t>
            </a:r>
            <a:r>
              <a:rPr lang="en-US" altLang="en-US" dirty="0"/>
              <a:t>.</a:t>
            </a:r>
            <a:r>
              <a:rPr lang="en-US" altLang="en-US" i="1" dirty="0"/>
              <a:t>course_id </a:t>
            </a:r>
            <a:r>
              <a:rPr lang="en-US" altLang="en-US" dirty="0"/>
              <a:t>= </a:t>
            </a:r>
            <a:r>
              <a:rPr lang="en-US" altLang="en-US" i="1" dirty="0"/>
              <a:t>T</a:t>
            </a:r>
            <a:r>
              <a:rPr lang="en-US" altLang="en-US" dirty="0"/>
              <a:t>.</a:t>
            </a:r>
            <a:r>
              <a:rPr lang="en-US" altLang="en-US" i="1" dirty="0"/>
              <a:t>course_id</a:t>
            </a:r>
            <a:r>
              <a:rPr lang="en-US" altLang="en-US" dirty="0"/>
              <a:t>);</a:t>
            </a:r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b="1" dirty="0">
              <a:solidFill>
                <a:srgbClr val="000099"/>
              </a:solidFill>
            </a:endParaRPr>
          </a:p>
          <a:p>
            <a:r>
              <a:rPr lang="en-US" altLang="en-US" b="1" dirty="0">
                <a:solidFill>
                  <a:srgbClr val="000099"/>
                </a:solidFill>
              </a:rPr>
              <a:t>Correlation name</a:t>
            </a:r>
            <a:r>
              <a:rPr lang="en-US" altLang="en-US" dirty="0"/>
              <a:t> – variable S  in the outer query</a:t>
            </a:r>
            <a:endParaRPr lang="en-US" altLang="en-US" b="1" dirty="0">
              <a:solidFill>
                <a:srgbClr val="000099"/>
              </a:solidFill>
            </a:endParaRPr>
          </a:p>
          <a:p>
            <a:endParaRPr lang="en-US" altLang="en-US" b="1" dirty="0">
              <a:solidFill>
                <a:srgbClr val="000099"/>
              </a:solidFill>
            </a:endParaRPr>
          </a:p>
          <a:p>
            <a:r>
              <a:rPr lang="en-US" altLang="en-US" b="1" dirty="0">
                <a:solidFill>
                  <a:srgbClr val="000099"/>
                </a:solidFill>
              </a:rPr>
              <a:t>Correlated subquery </a:t>
            </a:r>
            <a:r>
              <a:rPr lang="en-US" altLang="en-US" dirty="0"/>
              <a:t>– the inner query</a:t>
            </a:r>
            <a:endParaRPr lang="en-US" altLang="en-US" dirty="0"/>
          </a:p>
          <a:p>
            <a:pPr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Use of “not exists”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661275" cy="8763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462280" algn="l"/>
                <a:tab pos="1027430" algn="l"/>
                <a:tab pos="1548130" algn="l"/>
              </a:tabLst>
            </a:pPr>
            <a:r>
              <a:rPr lang="en-US" altLang="en-US" dirty="0"/>
              <a:t>Find all students who have taken all courses offered in the Biology department.</a:t>
            </a:r>
            <a:endParaRPr lang="en-US" altLang="en-US" dirty="0"/>
          </a:p>
        </p:txBody>
      </p:sp>
      <p:sp>
        <p:nvSpPr>
          <p:cNvPr id="54276" name="Text Box 4"/>
          <p:cNvSpPr txBox="1"/>
          <p:nvPr/>
        </p:nvSpPr>
        <p:spPr>
          <a:xfrm>
            <a:off x="1054100" y="1976438"/>
            <a:ext cx="6162675" cy="3270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600" b="1" dirty="0">
                <a:latin typeface="Helvetica" pitchFamily="34" charset="0"/>
              </a:rPr>
              <a:t>select distinct </a:t>
            </a:r>
            <a:r>
              <a:rPr lang="en-US" altLang="en-US" sz="1600" i="1" dirty="0">
                <a:latin typeface="Helvetica" pitchFamily="34" charset="0"/>
              </a:rPr>
              <a:t>S</a:t>
            </a:r>
            <a:r>
              <a:rPr lang="en-US" altLang="en-US" sz="1600" dirty="0">
                <a:latin typeface="Helvetica" pitchFamily="34" charset="0"/>
              </a:rPr>
              <a:t>.</a:t>
            </a:r>
            <a:r>
              <a:rPr lang="en-US" altLang="en-US" sz="1600" i="1" dirty="0">
                <a:latin typeface="Helvetica" pitchFamily="34" charset="0"/>
              </a:rPr>
              <a:t>ID</a:t>
            </a:r>
            <a:r>
              <a:rPr lang="en-US" altLang="en-US" sz="1600" dirty="0">
                <a:latin typeface="Helvetica" pitchFamily="34" charset="0"/>
              </a:rPr>
              <a:t>, </a:t>
            </a:r>
            <a:r>
              <a:rPr lang="en-US" altLang="en-US" sz="1600" i="1" dirty="0">
                <a:latin typeface="Helvetica" pitchFamily="34" charset="0"/>
              </a:rPr>
              <a:t>S</a:t>
            </a:r>
            <a:r>
              <a:rPr lang="en-US" altLang="en-US" sz="1600" dirty="0">
                <a:latin typeface="Helvetica" pitchFamily="34" charset="0"/>
              </a:rPr>
              <a:t>.</a:t>
            </a:r>
            <a:r>
              <a:rPr lang="en-US" altLang="en-US" sz="1600" i="1" dirty="0">
                <a:latin typeface="Helvetica" pitchFamily="34" charset="0"/>
              </a:rPr>
              <a:t>name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from </a:t>
            </a:r>
            <a:r>
              <a:rPr lang="en-US" altLang="en-US" sz="1600" i="1" dirty="0">
                <a:latin typeface="Helvetica" pitchFamily="34" charset="0"/>
              </a:rPr>
              <a:t>student </a:t>
            </a:r>
            <a:r>
              <a:rPr lang="en-US" altLang="en-US" sz="1600" b="1" dirty="0">
                <a:latin typeface="Helvetica" pitchFamily="34" charset="0"/>
              </a:rPr>
              <a:t>as </a:t>
            </a:r>
            <a:r>
              <a:rPr lang="en-US" altLang="en-US" sz="1600" i="1" dirty="0">
                <a:latin typeface="Helvetica" pitchFamily="34" charset="0"/>
              </a:rPr>
              <a:t>S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where not exists </a:t>
            </a:r>
            <a:r>
              <a:rPr lang="en-US" altLang="en-US" sz="1600" dirty="0">
                <a:latin typeface="Helvetica" pitchFamily="34" charset="0"/>
              </a:rPr>
              <a:t>( (</a:t>
            </a:r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course_id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from </a:t>
            </a:r>
            <a:r>
              <a:rPr lang="en-US" altLang="en-US" sz="1600" i="1" dirty="0">
                <a:latin typeface="Helvetica" pitchFamily="34" charset="0"/>
              </a:rPr>
              <a:t>course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where </a:t>
            </a:r>
            <a:r>
              <a:rPr lang="en-US" altLang="en-US" sz="1600" i="1" dirty="0">
                <a:latin typeface="Helvetica" pitchFamily="34" charset="0"/>
              </a:rPr>
              <a:t>dept_name </a:t>
            </a:r>
            <a:r>
              <a:rPr lang="en-US" altLang="en-US" sz="1600" dirty="0">
                <a:latin typeface="Helvetica" pitchFamily="34" charset="0"/>
              </a:rPr>
              <a:t>= ’Biology’)</a:t>
            </a:r>
            <a:endParaRPr lang="en-US" altLang="en-US" sz="1600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except</a:t>
            </a:r>
            <a:endParaRPr lang="en-US" altLang="en-US" sz="1600" b="1" dirty="0">
              <a:latin typeface="Helvetica" pitchFamily="34" charset="0"/>
            </a:endParaRPr>
          </a:p>
          <a:p>
            <a:r>
              <a:rPr lang="en-US" altLang="en-US" sz="1600" dirty="0">
                <a:latin typeface="Helvetica" pitchFamily="34" charset="0"/>
              </a:rPr>
              <a:t>                                 (</a:t>
            </a:r>
            <a:r>
              <a:rPr lang="en-US" altLang="en-US" sz="1600" b="1" dirty="0">
                <a:latin typeface="Helvetica" pitchFamily="34" charset="0"/>
              </a:rPr>
              <a:t>select </a:t>
            </a:r>
            <a:r>
              <a:rPr lang="en-US" altLang="en-US" sz="1600" i="1" dirty="0">
                <a:latin typeface="Helvetica" pitchFamily="34" charset="0"/>
              </a:rPr>
              <a:t>T</a:t>
            </a:r>
            <a:r>
              <a:rPr lang="en-US" altLang="en-US" sz="1600" dirty="0">
                <a:latin typeface="Helvetica" pitchFamily="34" charset="0"/>
              </a:rPr>
              <a:t>.</a:t>
            </a:r>
            <a:r>
              <a:rPr lang="en-US" altLang="en-US" sz="1600" i="1" dirty="0">
                <a:latin typeface="Helvetica" pitchFamily="34" charset="0"/>
              </a:rPr>
              <a:t>course_id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  from </a:t>
            </a:r>
            <a:r>
              <a:rPr lang="en-US" altLang="en-US" sz="1600" i="1" dirty="0">
                <a:latin typeface="Helvetica" pitchFamily="34" charset="0"/>
              </a:rPr>
              <a:t>takes </a:t>
            </a:r>
            <a:r>
              <a:rPr lang="en-US" altLang="en-US" sz="1600" b="1" dirty="0">
                <a:latin typeface="Helvetica" pitchFamily="34" charset="0"/>
              </a:rPr>
              <a:t>as </a:t>
            </a:r>
            <a:r>
              <a:rPr lang="en-US" altLang="en-US" sz="1600" i="1" dirty="0">
                <a:latin typeface="Helvetica" pitchFamily="34" charset="0"/>
              </a:rPr>
              <a:t>T</a:t>
            </a:r>
            <a:endParaRPr lang="en-US" altLang="en-US" sz="1600" i="1" dirty="0">
              <a:latin typeface="Helvetica" pitchFamily="34" charset="0"/>
            </a:endParaRPr>
          </a:p>
          <a:p>
            <a:r>
              <a:rPr lang="en-US" altLang="en-US" sz="1600" b="1" dirty="0">
                <a:latin typeface="Helvetica" pitchFamily="34" charset="0"/>
              </a:rPr>
              <a:t>                                   where </a:t>
            </a:r>
            <a:r>
              <a:rPr lang="en-US" altLang="en-US" sz="1600" i="1" dirty="0">
                <a:latin typeface="Helvetica" pitchFamily="34" charset="0"/>
              </a:rPr>
              <a:t>S</a:t>
            </a:r>
            <a:r>
              <a:rPr lang="en-US" altLang="en-US" sz="1600" dirty="0">
                <a:latin typeface="Helvetica" pitchFamily="34" charset="0"/>
              </a:rPr>
              <a:t>.</a:t>
            </a:r>
            <a:r>
              <a:rPr lang="en-US" altLang="en-US" sz="1600" i="1" dirty="0">
                <a:latin typeface="Helvetica" pitchFamily="34" charset="0"/>
              </a:rPr>
              <a:t>ID </a:t>
            </a:r>
            <a:r>
              <a:rPr lang="en-US" altLang="en-US" sz="1600" dirty="0">
                <a:latin typeface="Helvetica" pitchFamily="34" charset="0"/>
              </a:rPr>
              <a:t>= </a:t>
            </a:r>
            <a:r>
              <a:rPr lang="en-US" altLang="en-US" sz="1600" i="1" dirty="0">
                <a:latin typeface="Helvetica" pitchFamily="34" charset="0"/>
              </a:rPr>
              <a:t>T</a:t>
            </a:r>
            <a:r>
              <a:rPr lang="en-US" altLang="en-US" sz="1600" dirty="0">
                <a:latin typeface="Helvetica" pitchFamily="34" charset="0"/>
              </a:rPr>
              <a:t>.</a:t>
            </a:r>
            <a:r>
              <a:rPr lang="en-US" altLang="en-US" sz="1600" i="1" dirty="0">
                <a:latin typeface="Helvetica" pitchFamily="34" charset="0"/>
              </a:rPr>
              <a:t>ID</a:t>
            </a:r>
            <a:r>
              <a:rPr lang="en-US" altLang="en-US" sz="1600" dirty="0">
                <a:latin typeface="Helvetica" pitchFamily="34" charset="0"/>
              </a:rPr>
              <a:t>));</a:t>
            </a:r>
            <a:endParaRPr lang="en-US" altLang="en-US" sz="1600" dirty="0">
              <a:latin typeface="Helvetica" pitchFamily="34" charset="0"/>
            </a:endParaRPr>
          </a:p>
          <a:p>
            <a:endParaRPr lang="en-US" altLang="en-US" sz="1600" dirty="0">
              <a:latin typeface="Helvetica" pitchFamily="34" charset="0"/>
            </a:endParaRPr>
          </a:p>
          <a:p>
            <a:pPr>
              <a:buChar char="•"/>
            </a:pPr>
            <a:r>
              <a:rPr lang="en-US" altLang="en-US" sz="1600" dirty="0">
                <a:latin typeface="Helvetica" pitchFamily="34" charset="0"/>
              </a:rPr>
              <a:t>    First nested query lists all courses offered in Biology</a:t>
            </a:r>
            <a:endParaRPr lang="en-US" altLang="en-US" sz="1600" dirty="0">
              <a:latin typeface="Helvetica" pitchFamily="34" charset="0"/>
            </a:endParaRPr>
          </a:p>
          <a:p>
            <a:pPr>
              <a:buChar char="•"/>
            </a:pPr>
            <a:r>
              <a:rPr lang="en-US" altLang="en-US" sz="1600" dirty="0">
                <a:latin typeface="Helvetica" pitchFamily="34" charset="0"/>
              </a:rPr>
              <a:t>    Second nested query lists all courses a particular student took</a:t>
            </a:r>
            <a:endParaRPr lang="en-US" altLang="en-US" sz="1600" dirty="0">
              <a:latin typeface="Helvetica" pitchFamily="34" charset="0"/>
            </a:endParaRPr>
          </a:p>
          <a:p>
            <a:endParaRPr lang="en-US" altLang="en-US" sz="1600" dirty="0">
              <a:latin typeface="Helvetica" pitchFamily="34" charset="0"/>
            </a:endParaRPr>
          </a:p>
        </p:txBody>
      </p:sp>
      <p:sp>
        <p:nvSpPr>
          <p:cNvPr id="54277" name="Text Box 5"/>
          <p:cNvSpPr txBox="1"/>
          <p:nvPr/>
        </p:nvSpPr>
        <p:spPr>
          <a:xfrm>
            <a:off x="690563" y="5129213"/>
            <a:ext cx="6243320" cy="12401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</a:pPr>
            <a:r>
              <a:rPr lang="en-US" altLang="en-US" dirty="0">
                <a:latin typeface="Helvetica" pitchFamily="34" charset="0"/>
              </a:rPr>
              <a:t> </a:t>
            </a:r>
            <a:endParaRPr lang="en-US" altLang="en-US" dirty="0">
              <a:latin typeface="Helvetica" pitchFamily="34" charset="0"/>
            </a:endParaRP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</a:pPr>
            <a:r>
              <a:rPr lang="en-US" altLang="en-US" dirty="0">
                <a:latin typeface="Helvetica" pitchFamily="34" charset="0"/>
              </a:rPr>
              <a:t>  Note that </a:t>
            </a:r>
            <a:r>
              <a:rPr lang="en-US" altLang="en-US" i="1" dirty="0">
                <a:latin typeface="Helvetica" pitchFamily="34" charset="0"/>
              </a:rPr>
              <a:t>X – Y = Ø   </a:t>
            </a:r>
            <a:r>
              <a:rPr lang="en-US" altLang="en-US" dirty="0">
                <a:latin typeface="Helvetica" pitchFamily="34" charset="0"/>
                <a:sym typeface="Symbol" charset="2"/>
              </a:rPr>
              <a:t>   </a:t>
            </a:r>
            <a:r>
              <a:rPr lang="en-US" altLang="en-US" i="1" dirty="0">
                <a:latin typeface="Helvetica" pitchFamily="34" charset="0"/>
                <a:sym typeface="Symbol" charset="2"/>
              </a:rPr>
              <a:t>X</a:t>
            </a:r>
            <a:r>
              <a:rPr lang="en-US" altLang="en-US" dirty="0">
                <a:latin typeface="Helvetica" pitchFamily="34" charset="0"/>
                <a:sym typeface="Symbol" charset="2"/>
              </a:rPr>
              <a:t> </a:t>
            </a:r>
            <a:r>
              <a:rPr lang="en-US" altLang="en-US" i="1" dirty="0">
                <a:latin typeface="Helvetica" pitchFamily="34" charset="0"/>
                <a:sym typeface="Symbol" charset="2"/>
              </a:rPr>
              <a:t>Y</a:t>
            </a:r>
            <a:endParaRPr lang="en-US" altLang="en-US" i="1" dirty="0">
              <a:latin typeface="Helvetica" pitchFamily="34" charset="0"/>
              <a:sym typeface="Symbol" charset="2"/>
            </a:endParaRP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Arial" panose="020B0604020202090204" pitchFamily="34" charset="0"/>
              <a:buChar char="•"/>
            </a:pPr>
            <a:r>
              <a:rPr lang="en-US" altLang="en-US" i="1" dirty="0">
                <a:latin typeface="Helvetica" pitchFamily="34" charset="0"/>
                <a:sym typeface="Symbol" charset="2"/>
              </a:rPr>
              <a:t>  Note: </a:t>
            </a:r>
            <a:r>
              <a:rPr lang="en-US" altLang="en-US" dirty="0">
                <a:latin typeface="Helvetica" pitchFamily="34" charset="0"/>
                <a:sym typeface="Symbol" charset="2"/>
              </a:rPr>
              <a:t>Cannot write this query using</a:t>
            </a:r>
            <a:r>
              <a:rPr lang="en-US" altLang="en-US" i="1" dirty="0">
                <a:latin typeface="Helvetica" pitchFamily="34" charset="0"/>
                <a:sym typeface="Symbol" charset="2"/>
              </a:rPr>
              <a:t> </a:t>
            </a:r>
            <a:r>
              <a:rPr lang="en-US" altLang="en-US" dirty="0">
                <a:latin typeface="Helvetica" pitchFamily="34" charset="0"/>
                <a:sym typeface="Symbol" charset="2"/>
              </a:rPr>
              <a:t>=</a:t>
            </a:r>
            <a:r>
              <a:rPr lang="en-US" altLang="en-US" b="1" dirty="0">
                <a:latin typeface="Helvetica" pitchFamily="34" charset="0"/>
                <a:sym typeface="Symbol" charset="2"/>
              </a:rPr>
              <a:t> all</a:t>
            </a:r>
            <a:r>
              <a:rPr lang="en-US" altLang="en-US" i="1" dirty="0">
                <a:latin typeface="Helvetica" pitchFamily="34" charset="0"/>
                <a:sym typeface="Symbol" charset="2"/>
              </a:rPr>
              <a:t> </a:t>
            </a:r>
            <a:r>
              <a:rPr lang="en-US" altLang="en-US" dirty="0">
                <a:latin typeface="Helvetica" pitchFamily="34" charset="0"/>
                <a:sym typeface="Symbol" charset="2"/>
              </a:rPr>
              <a:t>and its variants</a:t>
            </a:r>
            <a:endParaRPr lang="en-US" altLang="en-US" sz="24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Test for Absence of Duplicate Tuples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814388" y="1112838"/>
            <a:ext cx="6965950" cy="4367212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803275" algn="l"/>
                <a:tab pos="1548130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unique</a:t>
            </a:r>
            <a:r>
              <a:rPr lang="en-US" altLang="en-US" dirty="0"/>
              <a:t> construct tests whether a subquery has any duplicate tuples in its result.</a:t>
            </a:r>
            <a:endParaRPr lang="en-US" altLang="en-US" dirty="0"/>
          </a:p>
          <a:p>
            <a:pPr defTabSz="914400">
              <a:tabLst>
                <a:tab pos="803275" algn="l"/>
                <a:tab pos="1548130" algn="l"/>
              </a:tabLst>
            </a:pPr>
            <a:endParaRPr lang="en-US" altLang="en-US" dirty="0"/>
          </a:p>
          <a:p>
            <a:pPr defTabSz="914400">
              <a:tabLst>
                <a:tab pos="803275" algn="l"/>
                <a:tab pos="1548130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unique</a:t>
            </a:r>
            <a:r>
              <a:rPr lang="en-US" altLang="en-US" dirty="0"/>
              <a:t> construct evaluates to “true” if a given subquery contains no duplicates .</a:t>
            </a:r>
            <a:endParaRPr lang="en-US" altLang="en-US" dirty="0"/>
          </a:p>
          <a:p>
            <a:pPr defTabSz="914400">
              <a:tabLst>
                <a:tab pos="803275" algn="l"/>
                <a:tab pos="1548130" algn="l"/>
              </a:tabLst>
            </a:pPr>
            <a:endParaRPr lang="en-US" altLang="en-US" dirty="0"/>
          </a:p>
          <a:p>
            <a:pPr defTabSz="914400">
              <a:tabLst>
                <a:tab pos="803275" algn="l"/>
                <a:tab pos="1548130" algn="l"/>
              </a:tabLst>
            </a:pPr>
            <a:r>
              <a:rPr lang="en-US" altLang="en-US" dirty="0"/>
              <a:t>Find all courses that were offered at most once in 2009</a:t>
            </a:r>
            <a:endParaRPr lang="en-US" altLang="en-US" dirty="0"/>
          </a:p>
          <a:p>
            <a:pPr lvl="1" defTabSz="914400">
              <a:buNone/>
              <a:tabLst>
                <a:tab pos="803275" algn="l"/>
                <a:tab pos="1548130" algn="l"/>
              </a:tabLst>
            </a:pPr>
            <a:r>
              <a:rPr lang="en-US" altLang="en-US" b="1" dirty="0"/>
              <a:t>    select </a:t>
            </a:r>
            <a:r>
              <a:rPr lang="en-US" altLang="en-US" i="1" dirty="0"/>
              <a:t>T</a:t>
            </a:r>
            <a:r>
              <a:rPr lang="en-US" altLang="en-US" dirty="0"/>
              <a:t>.</a:t>
            </a:r>
            <a:r>
              <a:rPr lang="en-US" altLang="en-US" i="1" dirty="0"/>
              <a:t>course_id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course </a:t>
            </a:r>
            <a:r>
              <a:rPr lang="en-US" altLang="en-US" b="1" dirty="0"/>
              <a:t>as </a:t>
            </a:r>
            <a:r>
              <a:rPr lang="en-US" altLang="en-US" i="1" dirty="0"/>
              <a:t>T</a:t>
            </a:r>
            <a:br>
              <a:rPr lang="en-US" altLang="en-US" i="1" dirty="0"/>
            </a:br>
            <a:r>
              <a:rPr lang="en-US" altLang="en-US" b="1" dirty="0"/>
              <a:t>where unique </a:t>
            </a:r>
            <a:r>
              <a:rPr lang="en-US" altLang="en-US" dirty="0"/>
              <a:t>(</a:t>
            </a:r>
            <a:r>
              <a:rPr lang="en-US" altLang="en-US" b="1" dirty="0"/>
              <a:t>select </a:t>
            </a:r>
            <a:r>
              <a:rPr lang="en-US" altLang="en-US" i="1" dirty="0"/>
              <a:t>R</a:t>
            </a:r>
            <a:r>
              <a:rPr lang="en-US" altLang="en-US" dirty="0"/>
              <a:t>.</a:t>
            </a:r>
            <a:r>
              <a:rPr lang="en-US" altLang="en-US" i="1" dirty="0"/>
              <a:t>course_id</a:t>
            </a:r>
            <a:br>
              <a:rPr lang="en-US" altLang="en-US" i="1" dirty="0"/>
            </a:br>
            <a:r>
              <a:rPr lang="en-US" altLang="en-US" i="1" dirty="0"/>
              <a:t>         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section </a:t>
            </a:r>
            <a:r>
              <a:rPr lang="en-US" altLang="en-US" b="1" dirty="0"/>
              <a:t>as </a:t>
            </a:r>
            <a:r>
              <a:rPr lang="en-US" altLang="en-US" i="1" dirty="0"/>
              <a:t>R</a:t>
            </a:r>
            <a:br>
              <a:rPr lang="en-US" altLang="en-US" i="1" dirty="0"/>
            </a:br>
            <a:r>
              <a:rPr lang="en-US" altLang="en-US" i="1" dirty="0"/>
              <a:t>                           </a:t>
            </a:r>
            <a:r>
              <a:rPr lang="en-US" altLang="en-US" b="1" dirty="0"/>
              <a:t>where </a:t>
            </a:r>
            <a:r>
              <a:rPr lang="en-US" altLang="en-US" i="1" dirty="0"/>
              <a:t>T</a:t>
            </a:r>
            <a:r>
              <a:rPr lang="en-US" altLang="en-US" dirty="0"/>
              <a:t>.</a:t>
            </a:r>
            <a:r>
              <a:rPr lang="en-US" altLang="en-US" i="1" dirty="0"/>
              <a:t>course_id</a:t>
            </a:r>
            <a:r>
              <a:rPr lang="en-US" altLang="en-US" dirty="0"/>
              <a:t>= </a:t>
            </a:r>
            <a:r>
              <a:rPr lang="en-US" altLang="en-US" i="1" dirty="0"/>
              <a:t>R</a:t>
            </a:r>
            <a:r>
              <a:rPr lang="en-US" altLang="en-US" dirty="0"/>
              <a:t>.</a:t>
            </a:r>
            <a:r>
              <a:rPr lang="en-US" altLang="en-US" i="1" dirty="0"/>
              <a:t>course_id </a:t>
            </a:r>
            <a:br>
              <a:rPr lang="en-US" altLang="en-US" i="1" dirty="0"/>
            </a:br>
            <a:r>
              <a:rPr lang="en-US" altLang="en-US" i="1" dirty="0"/>
              <a:t>                                       </a:t>
            </a:r>
            <a:r>
              <a:rPr lang="en-US" altLang="en-US" b="1" dirty="0"/>
              <a:t>and </a:t>
            </a:r>
            <a:r>
              <a:rPr lang="en-US" altLang="en-US" i="1" dirty="0"/>
              <a:t>R</a:t>
            </a:r>
            <a:r>
              <a:rPr lang="en-US" altLang="en-US" dirty="0"/>
              <a:t>.</a:t>
            </a:r>
            <a:r>
              <a:rPr lang="en-US" altLang="en-US" i="1" dirty="0"/>
              <a:t>year </a:t>
            </a:r>
            <a:r>
              <a:rPr lang="en-US" altLang="en-US" dirty="0"/>
              <a:t>= 2009);</a:t>
            </a:r>
            <a:endParaRPr lang="en-US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Form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8600" cy="48768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  <a:p>
            <a:pPr defTabSz="914400">
              <a:buNone/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Form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8600" cy="48768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dirty="0"/>
              <a:t>SQL allows a subquery expression to be used in the </a:t>
            </a:r>
            <a:r>
              <a:rPr lang="en-US" altLang="en-US" b="1" dirty="0"/>
              <a:t>from </a:t>
            </a:r>
            <a:r>
              <a:rPr lang="en-US" altLang="en-US" dirty="0"/>
              <a:t>clause</a:t>
            </a:r>
            <a:endParaRPr lang="en-US" altLang="en-US" dirty="0"/>
          </a:p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dirty="0"/>
              <a:t>Find the average instructors’ salaries of those departments where the average salary is greater than $42,000.”</a:t>
            </a:r>
            <a:endParaRPr lang="en-US" altLang="en-US" dirty="0"/>
          </a:p>
          <a:p>
            <a:pPr lvl="1" defTabSz="914400">
              <a:buNone/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b="1" dirty="0"/>
              <a:t>    select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avg_salary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dirty="0"/>
              <a:t>(</a:t>
            </a:r>
            <a:r>
              <a:rPr lang="en-US" altLang="en-US" b="1" dirty="0"/>
              <a:t>select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b="1" dirty="0"/>
              <a:t>avg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 </a:t>
            </a:r>
            <a:r>
              <a:rPr lang="en-US" altLang="en-US" b="1" dirty="0"/>
              <a:t>as </a:t>
            </a:r>
            <a:r>
              <a:rPr lang="en-US" altLang="en-US" i="1" dirty="0"/>
              <a:t>avg_salary</a:t>
            </a:r>
            <a:br>
              <a:rPr lang="en-US" altLang="en-US" i="1" dirty="0"/>
            </a:br>
            <a:r>
              <a:rPr lang="en-US" altLang="en-US" i="1" dirty="0"/>
              <a:t>           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    </a:t>
            </a:r>
            <a:r>
              <a:rPr lang="en-US" altLang="en-US" b="1" dirty="0"/>
              <a:t>group by </a:t>
            </a:r>
            <a:r>
              <a:rPr lang="en-US" altLang="en-US" i="1" dirty="0"/>
              <a:t>dept_name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where </a:t>
            </a:r>
            <a:r>
              <a:rPr lang="en-US" altLang="en-US" i="1" dirty="0"/>
              <a:t>avg_salary </a:t>
            </a:r>
            <a:r>
              <a:rPr lang="en-US" altLang="en-US" dirty="0"/>
              <a:t>&gt; 42000;</a:t>
            </a:r>
            <a:endParaRPr lang="en-US" altLang="en-US" dirty="0"/>
          </a:p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dirty="0"/>
              <a:t>Note that we do not need to use the </a:t>
            </a:r>
            <a:r>
              <a:rPr lang="en-US" altLang="en-US" b="1" dirty="0"/>
              <a:t>having </a:t>
            </a:r>
            <a:r>
              <a:rPr lang="en-US" altLang="en-US" dirty="0"/>
              <a:t>clause</a:t>
            </a:r>
            <a:endParaRPr lang="en-US" altLang="en-US" dirty="0"/>
          </a:p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dirty="0"/>
              <a:t>Another way to write above query</a:t>
            </a:r>
            <a:endParaRPr lang="en-US" altLang="en-US" dirty="0"/>
          </a:p>
          <a:p>
            <a:pPr lvl="1" defTabSz="914400">
              <a:buNone/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b="1" dirty="0"/>
              <a:t>    select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avg_salary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(</a:t>
            </a:r>
            <a:r>
              <a:rPr lang="en-US" altLang="en-US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select </a:t>
            </a:r>
            <a: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dept_name</a:t>
            </a:r>
            <a:r>
              <a:rPr lang="en-US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, </a:t>
            </a:r>
            <a:r>
              <a:rPr lang="en-US" altLang="en-US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avg </a:t>
            </a:r>
            <a:r>
              <a:rPr lang="en-US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(</a:t>
            </a:r>
            <a: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salary</a:t>
            </a:r>
            <a:r>
              <a:rPr lang="en-US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) </a:t>
            </a:r>
            <a:b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</a:br>
            <a: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          </a:t>
            </a:r>
            <a:r>
              <a:rPr lang="en-US" altLang="en-US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from </a:t>
            </a:r>
            <a: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instructor</a:t>
            </a:r>
            <a:b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</a:br>
            <a: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          </a:t>
            </a:r>
            <a:r>
              <a:rPr lang="en-US" altLang="en-US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group by </a:t>
            </a:r>
            <a:r>
              <a:rPr lang="en-US" altLang="en-US" i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dept_name</a:t>
            </a:r>
            <a:r>
              <a:rPr lang="en-US" altLang="en-US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)</a:t>
            </a:r>
            <a:r>
              <a:rPr lang="en-US" altLang="en-US" dirty="0"/>
              <a:t> </a:t>
            </a:r>
            <a:r>
              <a:rPr lang="en-US" altLang="en-US" b="1" dirty="0"/>
              <a:t>as </a:t>
            </a:r>
            <a:r>
              <a:rPr lang="en-US" altLang="en-US" i="1" dirty="0">
                <a:solidFill>
                  <a:schemeClr val="tx2"/>
                </a:solidFill>
              </a:rPr>
              <a:t>dept_avg </a:t>
            </a:r>
            <a:r>
              <a:rPr lang="en-US" altLang="en-US" dirty="0">
                <a:solidFill>
                  <a:schemeClr val="tx2"/>
                </a:solidFill>
              </a:rPr>
              <a:t>(</a:t>
            </a:r>
            <a:r>
              <a:rPr lang="en-US" altLang="en-US" i="1" dirty="0">
                <a:solidFill>
                  <a:schemeClr val="tx2"/>
                </a:solidFill>
              </a:rPr>
              <a:t>dept_name</a:t>
            </a:r>
            <a:r>
              <a:rPr lang="en-US" altLang="en-US" dirty="0">
                <a:solidFill>
                  <a:schemeClr val="tx2"/>
                </a:solidFill>
              </a:rPr>
              <a:t>, </a:t>
            </a:r>
            <a:r>
              <a:rPr lang="en-US" altLang="en-US" i="1" dirty="0">
                <a:solidFill>
                  <a:schemeClr val="tx2"/>
                </a:solidFill>
              </a:rPr>
              <a:t>avg_salary</a:t>
            </a:r>
            <a:r>
              <a:rPr lang="en-US" altLang="en-US" dirty="0">
                <a:solidFill>
                  <a:schemeClr val="tx2"/>
                </a:solidFill>
              </a:rPr>
              <a:t>)</a:t>
            </a:r>
            <a:endParaRPr lang="en-US" altLang="en-US" dirty="0">
              <a:solidFill>
                <a:schemeClr val="tx2"/>
              </a:solidFill>
            </a:endParaRPr>
          </a:p>
          <a:p>
            <a:pPr lvl="1" defTabSz="914400">
              <a:buNone/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b="1" dirty="0"/>
              <a:t>    where </a:t>
            </a:r>
            <a:r>
              <a:rPr lang="en-US" altLang="en-US" i="1" dirty="0"/>
              <a:t>avg_salary </a:t>
            </a:r>
            <a:r>
              <a:rPr lang="en-US" altLang="en-US" dirty="0"/>
              <a:t>&gt; 42000;</a:t>
            </a:r>
            <a:endParaRPr lang="en-US" altLang="en-US" dirty="0"/>
          </a:p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  <a:p>
            <a:pPr defTabSz="914400">
              <a:buNone/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With Clause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421563" cy="4903787"/>
          </a:xfrm>
        </p:spPr>
        <p:txBody>
          <a:bodyPr vert="horz" wrap="square" lIns="91440" tIns="45720" rIns="91440" bIns="45720" anchor="t" anchorCtr="0"/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with</a:t>
            </a:r>
            <a:r>
              <a:rPr lang="en-US" altLang="en-US" dirty="0"/>
              <a:t> clause provides a way of defining a temporary relation whose definition is available only to the query in which the </a:t>
            </a:r>
            <a:r>
              <a:rPr lang="en-US" altLang="en-US" b="1" dirty="0"/>
              <a:t>with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clause occurs. 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Find all departments with the maximum budget </a:t>
            </a:r>
            <a:br>
              <a:rPr lang="en-US" altLang="en-US" dirty="0"/>
            </a:br>
            <a:br>
              <a:rPr lang="en-US" altLang="en-US" b="1" dirty="0"/>
            </a:br>
            <a:r>
              <a:rPr lang="en-US" altLang="en-US" b="1" dirty="0"/>
              <a:t>     with </a:t>
            </a:r>
            <a:r>
              <a:rPr lang="en-US" altLang="en-US" i="1" dirty="0"/>
              <a:t>max_budget </a:t>
            </a:r>
            <a:r>
              <a:rPr lang="en-US" altLang="en-US" dirty="0"/>
              <a:t>(</a:t>
            </a:r>
            <a:r>
              <a:rPr lang="en-US" altLang="en-US" i="1" dirty="0"/>
              <a:t>value</a:t>
            </a:r>
            <a:r>
              <a:rPr lang="en-US" altLang="en-US" dirty="0"/>
              <a:t>) </a:t>
            </a:r>
            <a:r>
              <a:rPr lang="en-US" altLang="en-US" b="1" dirty="0"/>
              <a:t>as </a:t>
            </a:r>
            <a:br>
              <a:rPr lang="en-US" altLang="en-US" b="1" dirty="0"/>
            </a:br>
            <a:r>
              <a:rPr lang="en-US" altLang="en-US" b="1" dirty="0"/>
              <a:t>             </a:t>
            </a:r>
            <a:r>
              <a:rPr lang="en-US" altLang="en-US" dirty="0"/>
              <a:t>(</a:t>
            </a:r>
            <a:r>
              <a:rPr lang="en-US" altLang="en-US" b="1" dirty="0"/>
              <a:t>select max</a:t>
            </a:r>
            <a:r>
              <a:rPr lang="en-US" altLang="en-US" dirty="0"/>
              <a:t>(</a:t>
            </a:r>
            <a:r>
              <a:rPr lang="en-US" altLang="en-US" i="1" dirty="0"/>
              <a:t>budget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</a:t>
            </a:r>
            <a:r>
              <a:rPr lang="en-US" altLang="en-US" b="1" dirty="0"/>
              <a:t>select </a:t>
            </a:r>
            <a:r>
              <a:rPr lang="en-US" altLang="en-US" i="1" dirty="0"/>
              <a:t>department.name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r>
              <a:rPr lang="en-US" altLang="en-US" dirty="0"/>
              <a:t>, </a:t>
            </a:r>
            <a:r>
              <a:rPr lang="en-US" altLang="en-US" i="1" dirty="0"/>
              <a:t>max_budget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where </a:t>
            </a:r>
            <a:r>
              <a:rPr lang="en-US" altLang="en-US" i="1" dirty="0"/>
              <a:t>department</a:t>
            </a:r>
            <a:r>
              <a:rPr lang="en-US" altLang="en-US" dirty="0"/>
              <a:t>.</a:t>
            </a:r>
            <a:r>
              <a:rPr lang="en-US" altLang="en-US" i="1" dirty="0"/>
              <a:t>budget </a:t>
            </a:r>
            <a:r>
              <a:rPr lang="en-US" altLang="en-US" dirty="0"/>
              <a:t>= </a:t>
            </a:r>
            <a:r>
              <a:rPr lang="en-US" altLang="en-US" i="1" dirty="0"/>
              <a:t>max_budget.value</a:t>
            </a:r>
            <a:r>
              <a:rPr lang="en-US" altLang="en-US" dirty="0"/>
              <a:t>;</a:t>
            </a:r>
            <a:endParaRPr lang="en-US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Complex Queries using With Clause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814388" y="1147763"/>
            <a:ext cx="7661275" cy="996950"/>
          </a:xfrm>
        </p:spPr>
        <p:txBody>
          <a:bodyPr vert="horz" wrap="square" lIns="91440" tIns="45720" rIns="91440" bIns="45720" anchor="t" anchorCtr="0"/>
          <a:p>
            <a:r>
              <a:rPr lang="en-US" altLang="en-US" sz="2000" dirty="0"/>
              <a:t>Find all departments where the total salary is greater than the average of the total salary at all departments</a:t>
            </a:r>
            <a:endParaRPr lang="en-US" altLang="en-US" sz="2000" dirty="0"/>
          </a:p>
        </p:txBody>
      </p:sp>
      <p:sp>
        <p:nvSpPr>
          <p:cNvPr id="59396" name="Text Box 4"/>
          <p:cNvSpPr txBox="1"/>
          <p:nvPr/>
        </p:nvSpPr>
        <p:spPr>
          <a:xfrm>
            <a:off x="1201738" y="2073275"/>
            <a:ext cx="7659687" cy="314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2000" b="1" dirty="0">
                <a:latin typeface="Helvetica" pitchFamily="34" charset="0"/>
              </a:rPr>
              <a:t>with </a:t>
            </a:r>
            <a:r>
              <a:rPr lang="en-US" altLang="en-US" sz="2000" i="1" dirty="0">
                <a:solidFill>
                  <a:schemeClr val="tx2"/>
                </a:solidFill>
                <a:latin typeface="Helvetica" pitchFamily="34" charset="0"/>
              </a:rPr>
              <a:t>dept _total </a:t>
            </a:r>
            <a:r>
              <a:rPr lang="en-US" altLang="en-US" sz="2000" dirty="0">
                <a:latin typeface="Helvetica" pitchFamily="34" charset="0"/>
              </a:rPr>
              <a:t>(</a:t>
            </a:r>
            <a:r>
              <a:rPr lang="en-US" altLang="en-US" sz="2000" i="1" dirty="0">
                <a:latin typeface="Helvetica" pitchFamily="34" charset="0"/>
              </a:rPr>
              <a:t>dept_name</a:t>
            </a:r>
            <a:r>
              <a:rPr lang="en-US" altLang="en-US" sz="2000" dirty="0">
                <a:latin typeface="Helvetica" pitchFamily="34" charset="0"/>
              </a:rPr>
              <a:t>, </a:t>
            </a:r>
            <a:r>
              <a:rPr lang="en-US" altLang="en-US" sz="2000" i="1" dirty="0">
                <a:latin typeface="Helvetica" pitchFamily="34" charset="0"/>
              </a:rPr>
              <a:t>value</a:t>
            </a:r>
            <a:r>
              <a:rPr lang="en-US" altLang="en-US" sz="2000" dirty="0">
                <a:latin typeface="Helvetica" pitchFamily="34" charset="0"/>
              </a:rPr>
              <a:t>) </a:t>
            </a:r>
            <a:r>
              <a:rPr lang="en-US" altLang="en-US" sz="2000" b="1" dirty="0">
                <a:latin typeface="Helvetica" pitchFamily="34" charset="0"/>
              </a:rPr>
              <a:t>as</a:t>
            </a:r>
            <a:endParaRPr lang="en-US" altLang="en-US" sz="2000" b="1" dirty="0">
              <a:latin typeface="Helvetica" pitchFamily="34" charset="0"/>
            </a:endParaRPr>
          </a:p>
          <a:p>
            <a:r>
              <a:rPr lang="en-US" altLang="en-US" sz="2000" dirty="0">
                <a:latin typeface="Helvetica" pitchFamily="34" charset="0"/>
              </a:rPr>
              <a:t>        (</a:t>
            </a:r>
            <a:r>
              <a:rPr lang="en-US" altLang="en-US" sz="2000" b="1" dirty="0">
                <a:latin typeface="Helvetica" pitchFamily="34" charset="0"/>
              </a:rPr>
              <a:t>select </a:t>
            </a:r>
            <a:r>
              <a:rPr lang="en-US" altLang="en-US" sz="2000" i="1" dirty="0">
                <a:latin typeface="Helvetica" pitchFamily="34" charset="0"/>
              </a:rPr>
              <a:t>dept_name</a:t>
            </a:r>
            <a:r>
              <a:rPr lang="en-US" altLang="en-US" sz="2000" dirty="0">
                <a:latin typeface="Helvetica" pitchFamily="34" charset="0"/>
              </a:rPr>
              <a:t>, </a:t>
            </a:r>
            <a:r>
              <a:rPr lang="en-US" altLang="en-US" sz="2000" b="1" dirty="0">
                <a:latin typeface="Helvetica" pitchFamily="34" charset="0"/>
              </a:rPr>
              <a:t>sum</a:t>
            </a:r>
            <a:r>
              <a:rPr lang="en-US" altLang="en-US" sz="2000" dirty="0">
                <a:latin typeface="Helvetica" pitchFamily="34" charset="0"/>
              </a:rPr>
              <a:t>(</a:t>
            </a:r>
            <a:r>
              <a:rPr lang="en-US" altLang="en-US" sz="2000" i="1" dirty="0">
                <a:latin typeface="Helvetica" pitchFamily="34" charset="0"/>
              </a:rPr>
              <a:t>salary</a:t>
            </a:r>
            <a:r>
              <a:rPr lang="en-US" altLang="en-US" sz="2000" dirty="0">
                <a:latin typeface="Helvetica" pitchFamily="34" charset="0"/>
              </a:rPr>
              <a:t>)</a:t>
            </a:r>
            <a:endParaRPr lang="en-US" altLang="en-US" sz="2000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         from </a:t>
            </a:r>
            <a:r>
              <a:rPr lang="en-US" altLang="en-US" sz="2000" i="1" dirty="0">
                <a:latin typeface="Helvetica" pitchFamily="34" charset="0"/>
              </a:rPr>
              <a:t>instructor</a:t>
            </a:r>
            <a:endParaRPr lang="en-US" altLang="en-US" sz="2000" i="1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         group by </a:t>
            </a:r>
            <a:r>
              <a:rPr lang="en-US" altLang="en-US" sz="2000" i="1" dirty="0">
                <a:latin typeface="Helvetica" pitchFamily="34" charset="0"/>
              </a:rPr>
              <a:t>dept_name</a:t>
            </a:r>
            <a:r>
              <a:rPr lang="en-US" altLang="en-US" sz="2000" dirty="0">
                <a:latin typeface="Helvetica" pitchFamily="34" charset="0"/>
              </a:rPr>
              <a:t>),</a:t>
            </a:r>
            <a:endParaRPr lang="en-US" altLang="en-US" sz="2000" dirty="0">
              <a:latin typeface="Helvetica" pitchFamily="34" charset="0"/>
            </a:endParaRPr>
          </a:p>
          <a:p>
            <a:r>
              <a:rPr lang="en-US" altLang="en-US" sz="2000" i="1" dirty="0">
                <a:latin typeface="Helvetica" pitchFamily="34" charset="0"/>
              </a:rPr>
              <a:t>dept_total_avg</a:t>
            </a:r>
            <a:r>
              <a:rPr lang="en-US" altLang="en-US" sz="2000" dirty="0">
                <a:latin typeface="Helvetica" pitchFamily="34" charset="0"/>
              </a:rPr>
              <a:t>(</a:t>
            </a:r>
            <a:r>
              <a:rPr lang="en-US" altLang="en-US" sz="2000" i="1" dirty="0">
                <a:latin typeface="Helvetica" pitchFamily="34" charset="0"/>
              </a:rPr>
              <a:t>value</a:t>
            </a:r>
            <a:r>
              <a:rPr lang="en-US" altLang="en-US" sz="2000" dirty="0">
                <a:latin typeface="Helvetica" pitchFamily="34" charset="0"/>
              </a:rPr>
              <a:t>) </a:t>
            </a:r>
            <a:r>
              <a:rPr lang="en-US" altLang="en-US" sz="2000" b="1" dirty="0">
                <a:latin typeface="Helvetica" pitchFamily="34" charset="0"/>
              </a:rPr>
              <a:t>as</a:t>
            </a:r>
            <a:endParaRPr lang="en-US" altLang="en-US" sz="2000" b="1" dirty="0">
              <a:latin typeface="Helvetica" pitchFamily="34" charset="0"/>
            </a:endParaRPr>
          </a:p>
          <a:p>
            <a:r>
              <a:rPr lang="en-US" altLang="en-US" sz="2000" dirty="0">
                <a:latin typeface="Helvetica" pitchFamily="34" charset="0"/>
              </a:rPr>
              <a:t>       (</a:t>
            </a:r>
            <a:r>
              <a:rPr lang="en-US" altLang="en-US" sz="2000" b="1" dirty="0">
                <a:latin typeface="Helvetica" pitchFamily="34" charset="0"/>
              </a:rPr>
              <a:t>select avg</a:t>
            </a:r>
            <a:r>
              <a:rPr lang="en-US" altLang="en-US" sz="2000" dirty="0">
                <a:latin typeface="Helvetica" pitchFamily="34" charset="0"/>
              </a:rPr>
              <a:t>(</a:t>
            </a:r>
            <a:r>
              <a:rPr lang="en-US" altLang="en-US" sz="2000" i="1" dirty="0">
                <a:latin typeface="Helvetica" pitchFamily="34" charset="0"/>
              </a:rPr>
              <a:t>value</a:t>
            </a:r>
            <a:r>
              <a:rPr lang="en-US" altLang="en-US" sz="2000" dirty="0">
                <a:latin typeface="Helvetica" pitchFamily="34" charset="0"/>
              </a:rPr>
              <a:t>)</a:t>
            </a:r>
            <a:endParaRPr lang="en-US" altLang="en-US" sz="2000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       from </a:t>
            </a:r>
            <a:r>
              <a:rPr lang="en-US" altLang="en-US" sz="2000" i="1" dirty="0">
                <a:solidFill>
                  <a:schemeClr val="tx2"/>
                </a:solidFill>
                <a:latin typeface="Helvetica" pitchFamily="34" charset="0"/>
              </a:rPr>
              <a:t>dept_total</a:t>
            </a:r>
            <a:r>
              <a:rPr lang="en-US" altLang="en-US" sz="2000" dirty="0">
                <a:latin typeface="Helvetica" pitchFamily="34" charset="0"/>
              </a:rPr>
              <a:t>)</a:t>
            </a:r>
            <a:endParaRPr lang="en-US" altLang="en-US" sz="2000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select </a:t>
            </a:r>
            <a:r>
              <a:rPr lang="en-US" altLang="en-US" sz="2000" i="1" dirty="0">
                <a:latin typeface="Helvetica" pitchFamily="34" charset="0"/>
              </a:rPr>
              <a:t>dept_name</a:t>
            </a:r>
            <a:endParaRPr lang="en-US" altLang="en-US" sz="2000" i="1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from </a:t>
            </a:r>
            <a:r>
              <a:rPr lang="en-US" altLang="en-US" sz="2000" i="1" dirty="0">
                <a:latin typeface="Helvetica" pitchFamily="34" charset="0"/>
              </a:rPr>
              <a:t>dept_total</a:t>
            </a:r>
            <a:r>
              <a:rPr lang="en-US" altLang="en-US" sz="2000" dirty="0">
                <a:latin typeface="Helvetica" pitchFamily="34" charset="0"/>
              </a:rPr>
              <a:t>, </a:t>
            </a:r>
            <a:r>
              <a:rPr lang="en-US" altLang="en-US" sz="2000" i="1" dirty="0">
                <a:latin typeface="Helvetica" pitchFamily="34" charset="0"/>
              </a:rPr>
              <a:t>dept_total_avg</a:t>
            </a:r>
            <a:endParaRPr lang="en-US" altLang="en-US" sz="2000" i="1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where </a:t>
            </a:r>
            <a:r>
              <a:rPr lang="en-US" altLang="en-US" sz="2000" i="1" dirty="0">
                <a:latin typeface="Helvetica" pitchFamily="34" charset="0"/>
              </a:rPr>
              <a:t>dept_total.value </a:t>
            </a:r>
            <a:r>
              <a:rPr lang="en-US" altLang="en-US" sz="2000" dirty="0">
                <a:latin typeface="Helvetica" pitchFamily="34" charset="0"/>
              </a:rPr>
              <a:t>&gt; </a:t>
            </a:r>
            <a:r>
              <a:rPr lang="en-US" altLang="en-US" sz="2000" i="1" dirty="0">
                <a:latin typeface="Helvetica" pitchFamily="34" charset="0"/>
              </a:rPr>
              <a:t>dept_total_avg.value</a:t>
            </a:r>
            <a:r>
              <a:rPr lang="en-US" altLang="en-US" sz="2000" dirty="0">
                <a:latin typeface="Helvetica" pitchFamily="34" charset="0"/>
              </a:rPr>
              <a:t>;</a:t>
            </a:r>
            <a:endParaRPr lang="en-US" altLang="en-US" sz="2000" dirty="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Select Clause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-496887" y="931863"/>
            <a:ext cx="2189162" cy="3097212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  <a:p>
            <a:pPr defTabSz="914400">
              <a:buNone/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Scalar Subquery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814388" y="1093788"/>
            <a:ext cx="8056562" cy="4903787"/>
          </a:xfrm>
        </p:spPr>
        <p:txBody>
          <a:bodyPr vert="horz" wrap="square" lIns="91440" tIns="45720" rIns="91440" bIns="45720" anchor="t" anchorCtr="0"/>
          <a:p>
            <a:r>
              <a:rPr lang="en-US" altLang="en-US" sz="2000" b="1" dirty="0">
                <a:latin typeface="Helvetica Bold" charset="0"/>
                <a:cs typeface="Helvetica Bold" charset="0"/>
              </a:rPr>
              <a:t>Scalar subquery</a:t>
            </a:r>
            <a:r>
              <a:rPr lang="en-US" altLang="en-US" sz="2000" dirty="0"/>
              <a:t> is one which is used where a single value is expected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List all departments along with the number of instructors in each department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	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, </a:t>
            </a:r>
            <a:br>
              <a:rPr lang="en-US" altLang="en-US" sz="2000" dirty="0"/>
            </a:br>
            <a:r>
              <a:rPr lang="en-US" altLang="en-US" sz="2000" dirty="0"/>
              <a:t>             (</a:t>
            </a:r>
            <a:r>
              <a:rPr lang="en-US" altLang="en-US" sz="2000" b="1" dirty="0"/>
              <a:t>select count</a:t>
            </a:r>
            <a:r>
              <a:rPr lang="en-US" altLang="en-US" sz="2000" dirty="0"/>
              <a:t>(*) </a:t>
            </a:r>
            <a:br>
              <a:rPr lang="en-US" altLang="en-US" sz="2000" dirty="0"/>
            </a:br>
            <a:r>
              <a:rPr lang="en-US" altLang="en-US" sz="2000" dirty="0"/>
              <a:t>                 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 </a:t>
            </a:r>
            <a:br>
              <a:rPr lang="en-US" altLang="en-US" sz="2000" i="1" dirty="0"/>
            </a:br>
            <a:r>
              <a:rPr lang="en-US" altLang="en-US" sz="2000" i="1" dirty="0"/>
              <a:t>                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department</a:t>
            </a:r>
            <a:r>
              <a:rPr lang="en-US" altLang="en-US" sz="2000" dirty="0"/>
              <a:t>.</a:t>
            </a:r>
            <a:r>
              <a:rPr lang="en-US" altLang="en-US" sz="2000" i="1" dirty="0"/>
              <a:t>dept_name </a:t>
            </a:r>
            <a:r>
              <a:rPr lang="en-US" altLang="en-US" sz="2000" dirty="0"/>
              <a:t>=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.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)</a:t>
            </a:r>
            <a:br>
              <a:rPr lang="en-US" altLang="en-US" sz="2000" dirty="0"/>
            </a:br>
            <a:r>
              <a:rPr lang="en-US" altLang="en-US" sz="2000" dirty="0"/>
              <a:t>             </a:t>
            </a:r>
            <a:r>
              <a:rPr lang="en-US" altLang="en-US" sz="2000" b="1" dirty="0"/>
              <a:t>as </a:t>
            </a:r>
            <a:r>
              <a:rPr lang="en-US" altLang="en-US" sz="2000" i="1" dirty="0"/>
              <a:t>num_instructors</a:t>
            </a:r>
            <a:br>
              <a:rPr lang="en-US" altLang="en-US" sz="2000" i="1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department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Runtime error if subquery returns more than one result tuple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Modification of the Database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962025" y="1363663"/>
            <a:ext cx="7747000" cy="3768725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652905" algn="l"/>
                <a:tab pos="2633980" algn="l"/>
              </a:tabLst>
            </a:pPr>
            <a:r>
              <a:rPr lang="en-US" altLang="en-US" dirty="0"/>
              <a:t>Deletion of tuples from a given relation.</a:t>
            </a:r>
            <a:endParaRPr lang="en-US" altLang="en-US" dirty="0">
              <a:latin typeface="Century Gothic" pitchFamily="34" charset="0"/>
            </a:endParaRPr>
          </a:p>
          <a:p>
            <a:pPr defTabSz="914400">
              <a:tabLst>
                <a:tab pos="1652905" algn="l"/>
                <a:tab pos="2633980" algn="l"/>
              </a:tabLst>
            </a:pPr>
            <a:endParaRPr lang="en-US" altLang="en-US" dirty="0"/>
          </a:p>
          <a:p>
            <a:pPr defTabSz="914400">
              <a:tabLst>
                <a:tab pos="1652905" algn="l"/>
                <a:tab pos="2633980" algn="l"/>
              </a:tabLst>
            </a:pPr>
            <a:r>
              <a:rPr lang="en-US" altLang="en-US" dirty="0"/>
              <a:t>Insertion of new tuples into a given relation</a:t>
            </a:r>
            <a:endParaRPr lang="en-US" altLang="en-US" dirty="0"/>
          </a:p>
          <a:p>
            <a:pPr defTabSz="914400">
              <a:tabLst>
                <a:tab pos="1652905" algn="l"/>
                <a:tab pos="2633980" algn="l"/>
              </a:tabLst>
            </a:pPr>
            <a:endParaRPr lang="en-US" altLang="en-US" dirty="0"/>
          </a:p>
          <a:p>
            <a:pPr defTabSz="914400">
              <a:tabLst>
                <a:tab pos="1652905" algn="l"/>
                <a:tab pos="2633980" algn="l"/>
              </a:tabLst>
            </a:pPr>
            <a:r>
              <a:rPr lang="en-US" altLang="en-US" dirty="0"/>
              <a:t>Updating of values in some tuples in a given relation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333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Deletion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747000" cy="517525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652905" algn="l"/>
                <a:tab pos="2633980" algn="l"/>
              </a:tabLst>
            </a:pPr>
            <a:r>
              <a:rPr lang="en-US" altLang="en-US" dirty="0"/>
              <a:t>Delete all instructors</a:t>
            </a:r>
            <a:endParaRPr lang="en-US" altLang="en-US" dirty="0"/>
          </a:p>
          <a:p>
            <a:pPr defTabSz="914400">
              <a:buNone/>
              <a:tabLst>
                <a:tab pos="1652905" algn="l"/>
                <a:tab pos="263398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delete from </a:t>
            </a:r>
            <a:r>
              <a:rPr lang="en-US" altLang="en-US" i="1" dirty="0"/>
              <a:t>instructor</a:t>
            </a:r>
            <a:r>
              <a:rPr lang="en-US" altLang="en-US" dirty="0">
                <a:latin typeface="Century Gothic" pitchFamily="34" charset="0"/>
              </a:rPr>
              <a:t> </a:t>
            </a:r>
            <a:endParaRPr lang="en-US" altLang="en-US" dirty="0">
              <a:latin typeface="Century Gothic" pitchFamily="34" charset="0"/>
            </a:endParaRPr>
          </a:p>
          <a:p>
            <a:pPr defTabSz="914400">
              <a:buNone/>
              <a:tabLst>
                <a:tab pos="1652905" algn="l"/>
                <a:tab pos="2633980" algn="l"/>
              </a:tabLst>
            </a:pPr>
            <a:endParaRPr lang="en-US" altLang="en-US" dirty="0">
              <a:latin typeface="Century Gothic" pitchFamily="34" charset="0"/>
            </a:endParaRPr>
          </a:p>
          <a:p>
            <a:pPr defTabSz="914400">
              <a:tabLst>
                <a:tab pos="1652905" algn="l"/>
                <a:tab pos="2633980" algn="l"/>
              </a:tabLst>
            </a:pPr>
            <a:r>
              <a:rPr lang="en-US" altLang="en-US" dirty="0"/>
              <a:t>Delete all instructors from the Finance department</a:t>
            </a:r>
            <a:br>
              <a:rPr lang="en-US" altLang="en-US" dirty="0"/>
            </a:br>
            <a:r>
              <a:rPr lang="en-US" altLang="en-US" dirty="0"/>
              <a:t>                     </a:t>
            </a:r>
            <a:r>
              <a:rPr lang="en-US" altLang="en-US" b="1" dirty="0"/>
              <a:t>delete 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              </a:t>
            </a:r>
            <a:r>
              <a:rPr lang="en-US" altLang="en-US" b="1" dirty="0"/>
              <a:t>where </a:t>
            </a:r>
            <a:r>
              <a:rPr lang="en-US" altLang="en-US" i="1" dirty="0"/>
              <a:t>dept_name</a:t>
            </a:r>
            <a:r>
              <a:rPr lang="en-US" altLang="en-US" dirty="0"/>
              <a:t>= ’Finance’;</a:t>
            </a:r>
            <a:endParaRPr lang="en-US" altLang="en-US" dirty="0"/>
          </a:p>
          <a:p>
            <a:pPr defTabSz="914400">
              <a:buNone/>
              <a:tabLst>
                <a:tab pos="1652905" algn="l"/>
                <a:tab pos="2633980" algn="l"/>
              </a:tabLst>
            </a:pPr>
            <a:endParaRPr lang="en-US" altLang="en-US" dirty="0"/>
          </a:p>
          <a:p>
            <a:pPr defTabSz="914400">
              <a:tabLst>
                <a:tab pos="1652905" algn="l"/>
                <a:tab pos="2633980" algn="l"/>
              </a:tabLst>
            </a:pPr>
            <a:r>
              <a:rPr lang="en-US" altLang="en-US" dirty="0"/>
              <a:t>Delete all tuples in the </a:t>
            </a:r>
            <a:r>
              <a:rPr lang="en-US" altLang="en-US" i="1" dirty="0"/>
              <a:t>instructor </a:t>
            </a:r>
            <a:r>
              <a:rPr lang="en-US" altLang="en-US" dirty="0"/>
              <a:t>relation for those instructors associated with a department located in the Watson building.</a:t>
            </a:r>
            <a:endParaRPr lang="en-US" altLang="en-US" dirty="0"/>
          </a:p>
          <a:p>
            <a:pPr defTabSz="914400">
              <a:buNone/>
              <a:tabLst>
                <a:tab pos="1652905" algn="l"/>
                <a:tab pos="2633980" algn="l"/>
              </a:tabLst>
            </a:pPr>
            <a:r>
              <a:rPr lang="en-US" altLang="en-US" b="1" dirty="0"/>
              <a:t>		delete 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              </a:t>
            </a:r>
            <a:r>
              <a:rPr lang="en-US" altLang="en-US" b="1" dirty="0"/>
              <a:t>where </a:t>
            </a:r>
            <a:r>
              <a:rPr lang="en-US" altLang="en-US" i="1" dirty="0"/>
              <a:t>dept name </a:t>
            </a:r>
            <a:r>
              <a:rPr lang="en-US" altLang="en-US" b="1" dirty="0"/>
              <a:t>in </a:t>
            </a:r>
            <a:r>
              <a:rPr lang="en-US" altLang="en-US" dirty="0"/>
              <a:t>(</a:t>
            </a:r>
            <a:r>
              <a:rPr lang="en-US" altLang="en-US" b="1" dirty="0"/>
              <a:t>select </a:t>
            </a:r>
            <a:r>
              <a:rPr lang="en-US" altLang="en-US" i="1" dirty="0"/>
              <a:t>dept name</a:t>
            </a:r>
            <a:br>
              <a:rPr lang="en-US" altLang="en-US" i="1" dirty="0"/>
            </a:br>
            <a:r>
              <a:rPr lang="en-US" altLang="en-US" i="1" dirty="0"/>
              <a:t>                                      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br>
              <a:rPr lang="en-US" altLang="en-US" i="1" dirty="0"/>
            </a:br>
            <a:r>
              <a:rPr lang="en-US" altLang="en-US" i="1" dirty="0"/>
              <a:t>                                                        </a:t>
            </a:r>
            <a:r>
              <a:rPr lang="en-US" altLang="en-US" b="1" dirty="0"/>
              <a:t>where </a:t>
            </a:r>
            <a:r>
              <a:rPr lang="en-US" altLang="en-US" i="1" dirty="0"/>
              <a:t>building </a:t>
            </a:r>
            <a:r>
              <a:rPr lang="en-US" altLang="en-US" dirty="0"/>
              <a:t>= ’Watson’);</a:t>
            </a:r>
            <a:endParaRPr lang="en-US" altLang="en-US" dirty="0"/>
          </a:p>
          <a:p>
            <a:pPr defTabSz="914400">
              <a:tabLst>
                <a:tab pos="1652905" algn="l"/>
                <a:tab pos="263398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Deletion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809625" y="1109663"/>
            <a:ext cx="7661275" cy="1268412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370330" algn="l"/>
                <a:tab pos="3140075" algn="l"/>
              </a:tabLst>
            </a:pPr>
            <a:r>
              <a:rPr lang="en-US" altLang="en-US" dirty="0"/>
              <a:t>Delete all instructors whose salary is less than the average salary of instructors</a:t>
            </a:r>
            <a:endParaRPr lang="en-US" altLang="en-US" dirty="0"/>
          </a:p>
        </p:txBody>
      </p:sp>
      <p:sp>
        <p:nvSpPr>
          <p:cNvPr id="64516" name="Text Box 4"/>
          <p:cNvSpPr txBox="1"/>
          <p:nvPr/>
        </p:nvSpPr>
        <p:spPr>
          <a:xfrm>
            <a:off x="1549400" y="1924050"/>
            <a:ext cx="741521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2000" b="1" dirty="0">
                <a:latin typeface="Helvetica" pitchFamily="34" charset="0"/>
              </a:rPr>
              <a:t>delete from </a:t>
            </a:r>
            <a:r>
              <a:rPr lang="en-US" altLang="en-US" sz="2000" i="1" dirty="0">
                <a:latin typeface="Helvetica" pitchFamily="34" charset="0"/>
              </a:rPr>
              <a:t>instructor</a:t>
            </a:r>
            <a:endParaRPr lang="en-US" altLang="en-US" sz="2000" i="1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where </a:t>
            </a:r>
            <a:r>
              <a:rPr lang="en-US" altLang="en-US" sz="2000" i="1" dirty="0">
                <a:latin typeface="Helvetica" pitchFamily="34" charset="0"/>
              </a:rPr>
              <a:t>salary </a:t>
            </a:r>
            <a:r>
              <a:rPr lang="en-US" altLang="en-US" sz="2000" dirty="0">
                <a:latin typeface="Helvetica" pitchFamily="34" charset="0"/>
              </a:rPr>
              <a:t>&lt; (</a:t>
            </a:r>
            <a:r>
              <a:rPr lang="en-US" altLang="en-US" sz="2000" b="1" dirty="0">
                <a:latin typeface="Helvetica" pitchFamily="34" charset="0"/>
              </a:rPr>
              <a:t>select avg </a:t>
            </a:r>
            <a:r>
              <a:rPr lang="en-US" altLang="en-US" sz="2000" dirty="0">
                <a:latin typeface="Helvetica" pitchFamily="34" charset="0"/>
              </a:rPr>
              <a:t>(</a:t>
            </a:r>
            <a:r>
              <a:rPr lang="en-US" altLang="en-US" sz="2000" i="1" dirty="0">
                <a:latin typeface="Helvetica" pitchFamily="34" charset="0"/>
              </a:rPr>
              <a:t>salary</a:t>
            </a:r>
            <a:r>
              <a:rPr lang="en-US" altLang="en-US" sz="2000" dirty="0">
                <a:latin typeface="Helvetica" pitchFamily="34" charset="0"/>
              </a:rPr>
              <a:t>) </a:t>
            </a:r>
            <a:endParaRPr lang="en-US" altLang="en-US" sz="2000" dirty="0">
              <a:latin typeface="Helvetica" pitchFamily="34" charset="0"/>
            </a:endParaRPr>
          </a:p>
          <a:p>
            <a:r>
              <a:rPr lang="en-US" altLang="en-US" sz="2000" b="1" dirty="0">
                <a:latin typeface="Helvetica" pitchFamily="34" charset="0"/>
              </a:rPr>
              <a:t>                           from </a:t>
            </a:r>
            <a:r>
              <a:rPr lang="en-US" altLang="en-US" sz="2000" i="1" dirty="0">
                <a:latin typeface="Helvetica" pitchFamily="34" charset="0"/>
              </a:rPr>
              <a:t>instructor</a:t>
            </a:r>
            <a:r>
              <a:rPr lang="en-US" altLang="en-US" sz="2000" dirty="0">
                <a:latin typeface="Helvetica" pitchFamily="34" charset="0"/>
              </a:rPr>
              <a:t>);</a:t>
            </a:r>
            <a:endParaRPr lang="en-US" altLang="en-US" sz="2000" dirty="0">
              <a:latin typeface="Helvetica" pitchFamily="34" charset="0"/>
            </a:endParaRPr>
          </a:p>
        </p:txBody>
      </p:sp>
      <p:sp>
        <p:nvSpPr>
          <p:cNvPr id="64517" name="Text Box 5"/>
          <p:cNvSpPr txBox="1"/>
          <p:nvPr/>
        </p:nvSpPr>
        <p:spPr>
          <a:xfrm>
            <a:off x="747713" y="3046413"/>
            <a:ext cx="7527925" cy="2292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793750" lvl="1" indent="-336550">
              <a:spcBef>
                <a:spcPct val="35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en-US" dirty="0">
                <a:latin typeface="Helvetica" pitchFamily="34" charset="0"/>
              </a:rPr>
              <a:t>Problem:  as we delete tuples from deposit, the average salary changes</a:t>
            </a:r>
            <a:endParaRPr lang="en-US" altLang="en-US" dirty="0">
              <a:latin typeface="Helvetica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en-US" dirty="0">
                <a:latin typeface="Helvetica" pitchFamily="34" charset="0"/>
              </a:rPr>
              <a:t>Solution used in SQL:</a:t>
            </a:r>
            <a:endParaRPr lang="en-US" altLang="en-US" dirty="0">
              <a:latin typeface="Helvetica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</a:pPr>
            <a:r>
              <a:rPr lang="en-US" altLang="en-US" dirty="0">
                <a:latin typeface="Helvetica" pitchFamily="34" charset="0"/>
              </a:rPr>
              <a:t>       1.   First, compute </a:t>
            </a:r>
            <a:r>
              <a:rPr lang="en-US" altLang="en-US" b="1" dirty="0">
                <a:latin typeface="Helvetica" pitchFamily="34" charset="0"/>
              </a:rPr>
              <a:t>avg</a:t>
            </a:r>
            <a:r>
              <a:rPr lang="en-US" altLang="en-US" dirty="0">
                <a:latin typeface="Helvetica" pitchFamily="34" charset="0"/>
              </a:rPr>
              <a:t> (salary) and find all tuples to delete</a:t>
            </a:r>
            <a:endParaRPr lang="en-US" altLang="en-US" dirty="0">
              <a:latin typeface="Helvetica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</a:pPr>
            <a:endParaRPr lang="en-US" altLang="en-US" sz="800" dirty="0">
              <a:latin typeface="Helvetica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</a:pPr>
            <a:r>
              <a:rPr lang="en-US" altLang="en-US" dirty="0">
                <a:latin typeface="Helvetica" pitchFamily="34" charset="0"/>
              </a:rPr>
              <a:t>       2.   Next, delete all tuples found above (without </a:t>
            </a:r>
            <a:endParaRPr lang="en-US" altLang="en-US" dirty="0">
              <a:latin typeface="Helvetica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</a:pPr>
            <a:r>
              <a:rPr lang="en-US" altLang="en-US" dirty="0">
                <a:latin typeface="Helvetica" pitchFamily="34" charset="0"/>
              </a:rPr>
              <a:t>             recomputing  </a:t>
            </a:r>
            <a:r>
              <a:rPr lang="en-US" altLang="en-US" b="1" dirty="0">
                <a:latin typeface="Helvetica" pitchFamily="34" charset="0"/>
              </a:rPr>
              <a:t>avg</a:t>
            </a:r>
            <a:r>
              <a:rPr lang="en-US" altLang="en-US" dirty="0">
                <a:latin typeface="Helvetica" pitchFamily="34" charset="0"/>
              </a:rPr>
              <a:t> or retesting the tuples) </a:t>
            </a:r>
            <a:endParaRPr lang="en-US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Insertion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8600" cy="48768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1205230" algn="l"/>
                <a:tab pos="1891030" algn="l"/>
              </a:tabLst>
            </a:pPr>
            <a:r>
              <a:rPr lang="en-US" altLang="en-US" dirty="0"/>
              <a:t>Add a new tuple to </a:t>
            </a:r>
            <a:r>
              <a:rPr lang="en-US" altLang="en-US" i="1" dirty="0"/>
              <a:t>course</a:t>
            </a:r>
            <a:endParaRPr lang="en-US" altLang="en-US" i="1" dirty="0"/>
          </a:p>
          <a:p>
            <a:pPr defTabSz="914400">
              <a:buNone/>
              <a:tabLst>
                <a:tab pos="1205230" algn="l"/>
                <a:tab pos="1891030" algn="l"/>
              </a:tabLst>
            </a:pPr>
            <a:r>
              <a:rPr lang="en-US" altLang="en-US" b="1" dirty="0"/>
              <a:t>	      insert into </a:t>
            </a:r>
            <a:r>
              <a:rPr lang="en-US" altLang="en-US" i="1" dirty="0"/>
              <a:t>course</a:t>
            </a:r>
            <a:br>
              <a:rPr lang="en-US" altLang="en-US" i="1" dirty="0"/>
            </a:br>
            <a:r>
              <a:rPr lang="en-US" altLang="en-US" i="1" dirty="0"/>
              <a:t>             </a:t>
            </a:r>
            <a:r>
              <a:rPr lang="en-US" altLang="en-US" b="1" dirty="0"/>
              <a:t>values </a:t>
            </a:r>
            <a:r>
              <a:rPr lang="en-US" altLang="en-US" dirty="0"/>
              <a:t>(’CS-437’, ’Database Systems’, ’Comp. Sci.’, 4);</a:t>
            </a:r>
            <a:endParaRPr lang="en-US" altLang="en-US" dirty="0"/>
          </a:p>
          <a:p>
            <a:pPr defTabSz="914400">
              <a:buNone/>
              <a:tabLst>
                <a:tab pos="1205230" algn="l"/>
                <a:tab pos="1891030" algn="l"/>
              </a:tabLst>
            </a:pPr>
            <a:endParaRPr lang="en-US" altLang="en-US" dirty="0"/>
          </a:p>
          <a:p>
            <a:pPr defTabSz="914400">
              <a:tabLst>
                <a:tab pos="1205230" algn="l"/>
                <a:tab pos="1891030" algn="l"/>
              </a:tabLst>
            </a:pPr>
            <a:r>
              <a:rPr lang="en-US" altLang="en-US" dirty="0"/>
              <a:t>or equivalently</a:t>
            </a:r>
            <a:br>
              <a:rPr lang="en-US" altLang="en-US" dirty="0"/>
            </a:br>
            <a:endParaRPr lang="en-US" altLang="en-US" sz="400" dirty="0"/>
          </a:p>
          <a:p>
            <a:pPr defTabSz="914400">
              <a:buNone/>
              <a:tabLst>
                <a:tab pos="1205230" algn="l"/>
                <a:tab pos="1891030" algn="l"/>
              </a:tabLst>
            </a:pPr>
            <a:r>
              <a:rPr lang="en-US" altLang="en-US" dirty="0"/>
              <a:t>           </a:t>
            </a:r>
            <a:r>
              <a:rPr lang="en-US" altLang="en-US" b="1" dirty="0"/>
              <a:t>insert into </a:t>
            </a:r>
            <a:r>
              <a:rPr lang="en-US" altLang="en-US" i="1" dirty="0"/>
              <a:t>course </a:t>
            </a:r>
            <a:r>
              <a:rPr lang="en-US" altLang="en-US" dirty="0"/>
              <a:t>(</a:t>
            </a:r>
            <a:r>
              <a:rPr lang="en-US" altLang="en-US" i="1" dirty="0"/>
              <a:t>course_id</a:t>
            </a:r>
            <a:r>
              <a:rPr lang="en-US" altLang="en-US" dirty="0"/>
              <a:t>,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        </a:t>
            </a:r>
            <a:r>
              <a:rPr lang="en-US" altLang="en-US" b="1" dirty="0"/>
              <a:t>values </a:t>
            </a:r>
            <a:r>
              <a:rPr lang="en-US" altLang="en-US" dirty="0"/>
              <a:t>(’CS-437’, ’Database Systems’, ’Comp. Sci.’, 4);</a:t>
            </a:r>
            <a:endParaRPr lang="en-US" altLang="en-US" dirty="0"/>
          </a:p>
          <a:p>
            <a:pPr defTabSz="914400">
              <a:buNone/>
              <a:tabLst>
                <a:tab pos="1205230" algn="l"/>
                <a:tab pos="1891030" algn="l"/>
              </a:tabLst>
            </a:pPr>
            <a:endParaRPr lang="en-US" altLang="en-US" dirty="0"/>
          </a:p>
          <a:p>
            <a:pPr defTabSz="914400">
              <a:tabLst>
                <a:tab pos="1205230" algn="l"/>
                <a:tab pos="1891030" algn="l"/>
              </a:tabLst>
            </a:pPr>
            <a:r>
              <a:rPr lang="en-US" altLang="en-US" dirty="0"/>
              <a:t>Add a new tuple to </a:t>
            </a:r>
            <a:r>
              <a:rPr lang="en-US" altLang="en-US" i="1" dirty="0"/>
              <a:t>student  </a:t>
            </a:r>
            <a:r>
              <a:rPr lang="en-US" altLang="en-US" dirty="0"/>
              <a:t>with </a:t>
            </a:r>
            <a:r>
              <a:rPr lang="en-US" altLang="en-US" i="1" dirty="0"/>
              <a:t>tot_creds </a:t>
            </a:r>
            <a:r>
              <a:rPr lang="en-US" altLang="en-US" dirty="0"/>
              <a:t>set to null</a:t>
            </a:r>
            <a:endParaRPr lang="en-US" altLang="en-US" dirty="0"/>
          </a:p>
          <a:p>
            <a:pPr defTabSz="914400">
              <a:buNone/>
              <a:tabLst>
                <a:tab pos="1205230" algn="l"/>
                <a:tab pos="1891030" algn="l"/>
              </a:tabLst>
            </a:pPr>
            <a:r>
              <a:rPr lang="en-US" altLang="en-US" b="1" dirty="0"/>
              <a:t>	      insert into </a:t>
            </a:r>
            <a:r>
              <a:rPr lang="en-US" altLang="en-US" i="1" dirty="0"/>
              <a:t>student</a:t>
            </a:r>
            <a:br>
              <a:rPr lang="en-US" altLang="en-US" i="1" dirty="0"/>
            </a:br>
            <a:r>
              <a:rPr lang="en-US" altLang="en-US" i="1" dirty="0"/>
              <a:t>             </a:t>
            </a:r>
            <a:r>
              <a:rPr lang="en-US" altLang="en-US" b="1" dirty="0"/>
              <a:t>values </a:t>
            </a:r>
            <a:r>
              <a:rPr lang="en-US" altLang="en-US" dirty="0"/>
              <a:t>(’3003’, ’Green’, ’Finance’, </a:t>
            </a:r>
            <a:r>
              <a:rPr lang="en-US" altLang="en-US" i="1" dirty="0"/>
              <a:t>null</a:t>
            </a:r>
            <a:r>
              <a:rPr lang="en-US" altLang="en-US" dirty="0"/>
              <a:t>);</a:t>
            </a:r>
            <a:endParaRPr lang="en-US" altLang="en-US" dirty="0"/>
          </a:p>
          <a:p>
            <a:pPr defTabSz="914400">
              <a:buNone/>
              <a:tabLst>
                <a:tab pos="1205230" algn="l"/>
                <a:tab pos="189103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Insertion (Cont.)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8115300" cy="52705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908050" algn="l"/>
              </a:tabLst>
            </a:pPr>
            <a:r>
              <a:rPr lang="en-US" altLang="en-US" dirty="0"/>
              <a:t>Add all instructors to the </a:t>
            </a:r>
            <a:r>
              <a:rPr lang="en-US" altLang="en-US" i="1" dirty="0"/>
              <a:t>student</a:t>
            </a:r>
            <a:r>
              <a:rPr lang="en-US" altLang="en-US" dirty="0"/>
              <a:t>  relation with tot_creds set to 0</a:t>
            </a:r>
            <a:endParaRPr lang="en-US" altLang="en-US" dirty="0"/>
          </a:p>
          <a:p>
            <a:pPr defTabSz="914400">
              <a:buNone/>
              <a:tabLst>
                <a:tab pos="908050" algn="l"/>
              </a:tabLst>
            </a:pPr>
            <a:r>
              <a:rPr lang="en-US" altLang="en-US" dirty="0"/>
              <a:t>	    </a:t>
            </a:r>
            <a:r>
              <a:rPr lang="en-US" altLang="en-US" b="1" dirty="0"/>
              <a:t>insert into </a:t>
            </a:r>
            <a:r>
              <a:rPr lang="en-US" altLang="en-US" i="1" dirty="0"/>
              <a:t>student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select </a:t>
            </a:r>
            <a:r>
              <a:rPr lang="en-US" altLang="en-US" i="1" dirty="0"/>
              <a:t>ID, name, dept_name, 0</a:t>
            </a:r>
            <a:br>
              <a:rPr lang="en-US" altLang="en-US" i="1" dirty="0"/>
            </a:br>
            <a:r>
              <a:rPr lang="en-US" altLang="en-US" i="1" dirty="0"/>
              <a:t>         </a:t>
            </a:r>
            <a:r>
              <a:rPr lang="en-US" altLang="en-US" b="1" dirty="0"/>
              <a:t>from </a:t>
            </a:r>
            <a:r>
              <a:rPr lang="en-US" altLang="en-US" i="1" dirty="0"/>
              <a:t>  instructor</a:t>
            </a:r>
            <a:endParaRPr lang="en-US" altLang="en-US" i="1" dirty="0"/>
          </a:p>
          <a:p>
            <a:pPr defTabSz="914400">
              <a:buNone/>
              <a:tabLst>
                <a:tab pos="908050" algn="l"/>
              </a:tabLst>
            </a:pPr>
            <a:endParaRPr lang="en-US" altLang="en-US" i="1" dirty="0"/>
          </a:p>
          <a:p>
            <a:pPr defTabSz="914400">
              <a:tabLst>
                <a:tab pos="908050" algn="l"/>
              </a:tabLst>
            </a:pPr>
            <a:r>
              <a:rPr lang="en-US" altLang="en-US" dirty="0"/>
              <a:t>The </a:t>
            </a:r>
            <a:r>
              <a:rPr lang="en-US" altLang="en-US" b="1" dirty="0"/>
              <a:t>select from where</a:t>
            </a:r>
            <a:r>
              <a:rPr lang="en-US" altLang="en-US" dirty="0"/>
              <a:t> statement is evaluated fully before any of its results are inserted into the relation.  </a:t>
            </a:r>
            <a:endParaRPr lang="en-US" altLang="en-US" dirty="0"/>
          </a:p>
          <a:p>
            <a:pPr defTabSz="914400">
              <a:tabLst>
                <a:tab pos="908050" algn="l"/>
              </a:tabLst>
            </a:pPr>
            <a:endParaRPr lang="en-US" altLang="en-US" dirty="0"/>
          </a:p>
          <a:p>
            <a:pPr defTabSz="914400">
              <a:tabLst>
                <a:tab pos="908050" algn="l"/>
              </a:tabLst>
            </a:pPr>
            <a:r>
              <a:rPr lang="en-US" altLang="en-US" dirty="0"/>
              <a:t>Otherwise queries like</a:t>
            </a:r>
            <a:endParaRPr lang="en-US" altLang="en-US" dirty="0"/>
          </a:p>
          <a:p>
            <a:pPr defTabSz="914400">
              <a:buNone/>
              <a:tabLst>
                <a:tab pos="908050" algn="l"/>
              </a:tabLst>
            </a:pPr>
            <a:r>
              <a:rPr lang="en-US" altLang="en-US" dirty="0"/>
              <a:t>       	</a:t>
            </a:r>
            <a:r>
              <a:rPr lang="en-US" altLang="en-US" b="1" dirty="0"/>
              <a:t>insert into</a:t>
            </a:r>
            <a:r>
              <a:rPr lang="en-US" altLang="en-US" dirty="0"/>
              <a:t> </a:t>
            </a:r>
            <a:r>
              <a:rPr lang="en-US" altLang="en-US" i="1" dirty="0"/>
              <a:t>table</a:t>
            </a:r>
            <a:r>
              <a:rPr lang="en-US" altLang="en-US" dirty="0"/>
              <a:t>1 </a:t>
            </a:r>
            <a:r>
              <a:rPr lang="en-US" altLang="en-US" b="1" dirty="0"/>
              <a:t>select</a:t>
            </a:r>
            <a:r>
              <a:rPr lang="en-US" altLang="en-US" dirty="0"/>
              <a:t> * 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table</a:t>
            </a:r>
            <a:r>
              <a:rPr lang="en-US" altLang="en-US" dirty="0"/>
              <a:t>1</a:t>
            </a:r>
            <a:endParaRPr lang="en-US" altLang="en-US" dirty="0"/>
          </a:p>
          <a:p>
            <a:pPr defTabSz="914400">
              <a:buNone/>
              <a:tabLst>
                <a:tab pos="908050" algn="l"/>
              </a:tabLst>
            </a:pPr>
            <a:r>
              <a:rPr lang="en-US" altLang="en-US" dirty="0"/>
              <a:t>       would cause problem</a:t>
            </a:r>
            <a:endParaRPr lang="en-US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xfrm>
            <a:off x="912813" y="1154113"/>
            <a:ext cx="6954837" cy="4876800"/>
          </a:xfrm>
        </p:spPr>
        <p:txBody>
          <a:bodyPr vert="horz" wrap="square" lIns="91440" tIns="45720" rIns="91440" bIns="45720" anchor="t" anchorCtr="0"/>
          <a:p>
            <a:pPr defTabSz="914400">
              <a:tabLst>
                <a:tab pos="2336800" algn="l"/>
              </a:tabLst>
            </a:pPr>
            <a:r>
              <a:rPr lang="en-US" altLang="en-US" dirty="0"/>
              <a:t>Increase salaries of instructors whose salary is over $100,000 by 3%, and all others by a 5% </a:t>
            </a:r>
            <a:endParaRPr lang="en-US" altLang="en-US" dirty="0"/>
          </a:p>
          <a:p>
            <a:pPr lvl="1" defTabSz="914400">
              <a:tabLst>
                <a:tab pos="2336800" algn="l"/>
              </a:tabLst>
            </a:pPr>
            <a:r>
              <a:rPr lang="en-US" altLang="en-US" dirty="0"/>
              <a:t>Write two </a:t>
            </a:r>
            <a:r>
              <a:rPr lang="en-US" altLang="en-US" b="1" dirty="0"/>
              <a:t>update </a:t>
            </a:r>
            <a:r>
              <a:rPr lang="en-US" altLang="en-US" dirty="0"/>
              <a:t>statements:</a:t>
            </a:r>
            <a:endParaRPr lang="en-US" altLang="en-US" dirty="0"/>
          </a:p>
          <a:p>
            <a:pPr lvl="1" defTabSz="914400">
              <a:buNone/>
              <a:tabLst>
                <a:tab pos="2336800" algn="l"/>
              </a:tabLst>
            </a:pPr>
            <a:r>
              <a:rPr lang="en-US" altLang="en-US" dirty="0"/>
              <a:t>	           </a:t>
            </a:r>
            <a:r>
              <a:rPr lang="en-US" altLang="en-US" b="1" dirty="0">
                <a:sym typeface="Symbol" charset="2"/>
              </a:rPr>
              <a:t>update </a:t>
            </a:r>
            <a:r>
              <a:rPr lang="en-US" altLang="en-US" i="1" dirty="0">
                <a:sym typeface="Symbol" charset="2"/>
              </a:rPr>
              <a:t>instructor</a:t>
            </a:r>
            <a:br>
              <a:rPr lang="en-US" altLang="en-US" i="1" dirty="0">
                <a:sym typeface="Symbol" charset="2"/>
              </a:rPr>
            </a:br>
            <a:r>
              <a:rPr lang="en-US" altLang="en-US" i="1" dirty="0">
                <a:sym typeface="Symbol" charset="2"/>
              </a:rPr>
              <a:t>               </a:t>
            </a:r>
            <a:r>
              <a:rPr lang="en-US" altLang="en-US" b="1" dirty="0">
                <a:sym typeface="Symbol" charset="2"/>
              </a:rPr>
              <a:t>set </a:t>
            </a:r>
            <a:r>
              <a:rPr lang="en-US" altLang="en-US" i="1" dirty="0">
                <a:sym typeface="Symbol" charset="2"/>
              </a:rPr>
              <a:t>salary </a:t>
            </a:r>
            <a:r>
              <a:rPr lang="en-US" altLang="en-US" dirty="0">
                <a:sym typeface="Symbol" charset="2"/>
              </a:rPr>
              <a:t>= </a:t>
            </a:r>
            <a:r>
              <a:rPr lang="en-US" altLang="en-US" i="1" dirty="0">
                <a:sym typeface="Symbol" charset="2"/>
              </a:rPr>
              <a:t>salary </a:t>
            </a:r>
            <a:r>
              <a:rPr lang="en-US" altLang="en-US" dirty="0">
                <a:sym typeface="Symbol" charset="2"/>
              </a:rPr>
              <a:t>* 1.03</a:t>
            </a:r>
            <a:br>
              <a:rPr lang="en-US" altLang="en-US" dirty="0">
                <a:sym typeface="Symbol" charset="2"/>
              </a:rPr>
            </a:br>
            <a:r>
              <a:rPr lang="en-US" altLang="en-US" dirty="0">
                <a:sym typeface="Symbol" charset="2"/>
              </a:rPr>
              <a:t>               </a:t>
            </a:r>
            <a:r>
              <a:rPr lang="en-US" altLang="en-US" b="1" dirty="0">
                <a:sym typeface="Symbol" charset="2"/>
              </a:rPr>
              <a:t>where </a:t>
            </a:r>
            <a:r>
              <a:rPr lang="en-US" altLang="en-US" i="1" dirty="0">
                <a:sym typeface="Symbol" charset="2"/>
              </a:rPr>
              <a:t>salary </a:t>
            </a:r>
            <a:r>
              <a:rPr lang="en-US" altLang="en-US" dirty="0">
                <a:sym typeface="Symbol" charset="2"/>
              </a:rPr>
              <a:t>&gt; 100000;</a:t>
            </a:r>
            <a:br>
              <a:rPr lang="en-US" altLang="en-US" dirty="0">
                <a:sym typeface="Symbol" charset="2"/>
              </a:rPr>
            </a:br>
            <a:r>
              <a:rPr lang="en-US" altLang="en-US" dirty="0">
                <a:sym typeface="Symbol" charset="2"/>
              </a:rPr>
              <a:t>           </a:t>
            </a:r>
            <a:r>
              <a:rPr lang="en-US" altLang="en-US" b="1" dirty="0">
                <a:sym typeface="Symbol" charset="2"/>
              </a:rPr>
              <a:t>update </a:t>
            </a:r>
            <a:r>
              <a:rPr lang="en-US" altLang="en-US" i="1" dirty="0">
                <a:sym typeface="Symbol" charset="2"/>
              </a:rPr>
              <a:t>instructor</a:t>
            </a:r>
            <a:br>
              <a:rPr lang="en-US" altLang="en-US" i="1" dirty="0">
                <a:sym typeface="Symbol" charset="2"/>
              </a:rPr>
            </a:br>
            <a:r>
              <a:rPr lang="en-US" altLang="en-US" i="1" dirty="0">
                <a:sym typeface="Symbol" charset="2"/>
              </a:rPr>
              <a:t>                </a:t>
            </a:r>
            <a:r>
              <a:rPr lang="en-US" altLang="en-US" b="1" dirty="0">
                <a:sym typeface="Symbol" charset="2"/>
              </a:rPr>
              <a:t>set </a:t>
            </a:r>
            <a:r>
              <a:rPr lang="en-US" altLang="en-US" i="1" dirty="0">
                <a:sym typeface="Symbol" charset="2"/>
              </a:rPr>
              <a:t>salary </a:t>
            </a:r>
            <a:r>
              <a:rPr lang="en-US" altLang="en-US" dirty="0">
                <a:sym typeface="Symbol" charset="2"/>
              </a:rPr>
              <a:t>= </a:t>
            </a:r>
            <a:r>
              <a:rPr lang="en-US" altLang="en-US" i="1" dirty="0">
                <a:sym typeface="Symbol" charset="2"/>
              </a:rPr>
              <a:t>salary </a:t>
            </a:r>
            <a:r>
              <a:rPr lang="en-US" altLang="en-US" dirty="0">
                <a:sym typeface="Symbol" charset="2"/>
              </a:rPr>
              <a:t>* 1.05</a:t>
            </a:r>
            <a:br>
              <a:rPr lang="en-US" altLang="en-US" dirty="0">
                <a:sym typeface="Symbol" charset="2"/>
              </a:rPr>
            </a:br>
            <a:r>
              <a:rPr lang="en-US" altLang="en-US" dirty="0">
                <a:sym typeface="Symbol" charset="2"/>
              </a:rPr>
              <a:t>                </a:t>
            </a:r>
            <a:r>
              <a:rPr lang="en-US" altLang="en-US" b="1" dirty="0">
                <a:sym typeface="Symbol" charset="2"/>
              </a:rPr>
              <a:t>where </a:t>
            </a:r>
            <a:r>
              <a:rPr lang="en-US" altLang="en-US" i="1" dirty="0">
                <a:sym typeface="Symbol" charset="2"/>
              </a:rPr>
              <a:t>salary </a:t>
            </a:r>
            <a:r>
              <a:rPr lang="en-US" altLang="en-US" dirty="0">
                <a:sym typeface="Symbol" charset="2"/>
              </a:rPr>
              <a:t>&lt;= 100000;</a:t>
            </a:r>
            <a:endParaRPr lang="en-US" altLang="en-US" dirty="0">
              <a:sym typeface="Symbol" charset="2"/>
            </a:endParaRPr>
          </a:p>
          <a:p>
            <a:pPr lvl="1" defTabSz="914400">
              <a:tabLst>
                <a:tab pos="2336800" algn="l"/>
              </a:tabLst>
            </a:pPr>
            <a:r>
              <a:rPr lang="en-US" altLang="en-US" dirty="0">
                <a:sym typeface="Symbol" charset="2"/>
              </a:rPr>
              <a:t>The order is important</a:t>
            </a:r>
            <a:endParaRPr lang="en-US" altLang="en-US" dirty="0">
              <a:sym typeface="Symbol" charset="2"/>
            </a:endParaRPr>
          </a:p>
          <a:p>
            <a:pPr lvl="1" defTabSz="914400">
              <a:tabLst>
                <a:tab pos="2336800" algn="l"/>
              </a:tabLst>
            </a:pPr>
            <a:r>
              <a:rPr lang="en-US" altLang="en-US" dirty="0">
                <a:sym typeface="Symbol" charset="2"/>
              </a:rPr>
              <a:t>Can be done better using the </a:t>
            </a:r>
            <a:r>
              <a:rPr lang="en-US" altLang="en-US" b="1" dirty="0">
                <a:sym typeface="Symbol" charset="2"/>
              </a:rPr>
              <a:t>case </a:t>
            </a:r>
            <a:r>
              <a:rPr lang="en-US" altLang="en-US" dirty="0">
                <a:sym typeface="Symbol" charset="2"/>
              </a:rPr>
              <a:t>statement</a:t>
            </a:r>
            <a:endParaRPr lang="en-US" altLang="en-US" dirty="0">
              <a:sym typeface="Symbol" charset="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Case Statement for Conditional Updates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Same query as before but with case statement</a:t>
            </a:r>
            <a:endParaRPr lang="en-US" altLang="en-US" dirty="0"/>
          </a:p>
          <a:p>
            <a:pPr>
              <a:buNone/>
            </a:pPr>
            <a:r>
              <a:rPr lang="en-US" altLang="en-US" dirty="0"/>
              <a:t>		 </a:t>
            </a:r>
            <a:r>
              <a:rPr lang="en-US" altLang="en-US" b="1" dirty="0"/>
              <a:t>update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        </a:t>
            </a:r>
            <a:r>
              <a:rPr lang="en-US" altLang="en-US" b="1" dirty="0"/>
              <a:t>set </a:t>
            </a:r>
            <a:r>
              <a:rPr lang="en-US" altLang="en-US" i="1" dirty="0"/>
              <a:t>salary </a:t>
            </a:r>
            <a:r>
              <a:rPr lang="en-US" altLang="en-US" dirty="0"/>
              <a:t>= </a:t>
            </a:r>
            <a:r>
              <a:rPr lang="en-US" altLang="en-US" b="1" dirty="0"/>
              <a:t>case</a:t>
            </a:r>
            <a:br>
              <a:rPr lang="en-US" altLang="en-US" b="1" dirty="0"/>
            </a:br>
            <a:r>
              <a:rPr lang="en-US" altLang="en-US" b="1" dirty="0"/>
              <a:t>                                      when </a:t>
            </a:r>
            <a:r>
              <a:rPr lang="en-US" altLang="en-US" i="1" dirty="0"/>
              <a:t>salary </a:t>
            </a:r>
            <a:r>
              <a:rPr lang="en-US" altLang="en-US" dirty="0"/>
              <a:t>&lt;= 100000 </a:t>
            </a:r>
            <a:r>
              <a:rPr lang="en-US" altLang="en-US" b="1" dirty="0"/>
              <a:t>then </a:t>
            </a:r>
            <a:r>
              <a:rPr lang="en-US" altLang="en-US" i="1" dirty="0"/>
              <a:t>salary </a:t>
            </a:r>
            <a:r>
              <a:rPr lang="en-US" altLang="en-US" dirty="0"/>
              <a:t>* 1.05</a:t>
            </a:r>
            <a:br>
              <a:rPr lang="en-US" altLang="en-US" dirty="0"/>
            </a:br>
            <a:r>
              <a:rPr lang="en-US" altLang="en-US" dirty="0"/>
              <a:t>                                      </a:t>
            </a:r>
            <a:r>
              <a:rPr lang="en-US" altLang="en-US" b="1" dirty="0"/>
              <a:t>else </a:t>
            </a:r>
            <a:r>
              <a:rPr lang="en-US" altLang="en-US" i="1" dirty="0"/>
              <a:t>salary </a:t>
            </a:r>
            <a:r>
              <a:rPr lang="en-US" altLang="en-US" dirty="0"/>
              <a:t>* 1.03</a:t>
            </a:r>
            <a:br>
              <a:rPr lang="en-US" altLang="en-US" dirty="0"/>
            </a:br>
            <a:r>
              <a:rPr lang="en-US" altLang="en-US" dirty="0"/>
              <a:t>                                     </a:t>
            </a:r>
            <a:r>
              <a:rPr lang="en-US" altLang="en-US" b="1" dirty="0"/>
              <a:t>end</a:t>
            </a:r>
            <a:endParaRPr lang="en-US" altLang="en-US" dirty="0"/>
          </a:p>
          <a:p>
            <a:pPr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Updates with Scalar Subqueries</a:t>
            </a: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Recompute and update tot_creds value for all students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       update </a:t>
            </a:r>
            <a:r>
              <a:rPr lang="en-US" altLang="en-US" i="1" dirty="0"/>
              <a:t>student S 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set </a:t>
            </a:r>
            <a:r>
              <a:rPr lang="en-US" altLang="en-US" i="1" dirty="0"/>
              <a:t>tot_cred </a:t>
            </a:r>
            <a:r>
              <a:rPr lang="en-US" altLang="en-US" dirty="0"/>
              <a:t>= (</a:t>
            </a:r>
            <a:r>
              <a:rPr lang="en-US" altLang="en-US" b="1" dirty="0"/>
              <a:t>select sum</a:t>
            </a:r>
            <a:r>
              <a:rPr lang="en-US" altLang="en-US" dirty="0"/>
              <a:t>(</a:t>
            </a:r>
            <a:r>
              <a:rPr lang="en-US" altLang="en-US" i="1" dirty="0"/>
              <a:t>credits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       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takes, course</a:t>
            </a:r>
            <a:br>
              <a:rPr lang="en-US" altLang="en-US" i="1" dirty="0"/>
            </a:br>
            <a:r>
              <a:rPr lang="en-US" altLang="en-US" i="1" dirty="0"/>
              <a:t>                              </a:t>
            </a:r>
            <a:r>
              <a:rPr lang="en-US" altLang="en-US" b="1" dirty="0"/>
              <a:t>where </a:t>
            </a:r>
            <a:r>
              <a:rPr lang="en-US" altLang="en-US" i="1" dirty="0"/>
              <a:t>takes.course_id </a:t>
            </a:r>
            <a:r>
              <a:rPr lang="en-US" altLang="en-US" dirty="0"/>
              <a:t>= </a:t>
            </a:r>
            <a:r>
              <a:rPr lang="en-US" altLang="en-US" i="1" dirty="0"/>
              <a:t>course.course_id </a:t>
            </a:r>
            <a:r>
              <a:rPr lang="en-US" altLang="en-US" b="1" dirty="0"/>
              <a:t>and </a:t>
            </a:r>
            <a:br>
              <a:rPr lang="en-US" altLang="en-US" b="1" dirty="0"/>
            </a:br>
            <a:r>
              <a:rPr lang="en-US" altLang="en-US" b="1" dirty="0"/>
              <a:t>                                         </a:t>
            </a:r>
            <a:r>
              <a:rPr lang="en-US" altLang="en-US" i="1" dirty="0"/>
              <a:t>S</a:t>
            </a:r>
            <a:r>
              <a:rPr lang="en-US" altLang="en-US" dirty="0"/>
              <a:t>.</a:t>
            </a:r>
            <a:r>
              <a:rPr lang="en-US" altLang="en-US" i="1" dirty="0"/>
              <a:t>ID</a:t>
            </a:r>
            <a:r>
              <a:rPr lang="en-US" altLang="en-US" dirty="0"/>
              <a:t>= </a:t>
            </a:r>
            <a:r>
              <a:rPr lang="en-US" altLang="en-US" i="1" dirty="0"/>
              <a:t>takes</a:t>
            </a:r>
            <a:r>
              <a:rPr lang="en-US" altLang="en-US" dirty="0"/>
              <a:t>.</a:t>
            </a:r>
            <a:r>
              <a:rPr lang="en-US" altLang="en-US" i="1" dirty="0"/>
              <a:t>ID.</a:t>
            </a:r>
            <a:r>
              <a:rPr lang="en-US" altLang="en-US" b="1" dirty="0"/>
              <a:t>and                             				   </a:t>
            </a:r>
            <a:r>
              <a:rPr lang="en-US" altLang="en-US" i="1" dirty="0"/>
              <a:t>takes</a:t>
            </a:r>
            <a:r>
              <a:rPr lang="en-US" altLang="en-US" dirty="0"/>
              <a:t>.</a:t>
            </a:r>
            <a:r>
              <a:rPr lang="en-US" altLang="en-US" i="1" dirty="0"/>
              <a:t>grade </a:t>
            </a:r>
            <a:r>
              <a:rPr lang="en-US" altLang="en-US" dirty="0"/>
              <a:t>&lt;&gt; ’F’ </a:t>
            </a:r>
            <a:r>
              <a:rPr lang="en-US" altLang="en-US" b="1" dirty="0"/>
              <a:t>and</a:t>
            </a:r>
            <a:br>
              <a:rPr lang="en-US" altLang="en-US" b="1" dirty="0"/>
            </a:br>
            <a:r>
              <a:rPr lang="en-US" altLang="en-US" b="1" dirty="0"/>
              <a:t>                                         </a:t>
            </a:r>
            <a:r>
              <a:rPr lang="en-US" altLang="en-US" i="1" dirty="0"/>
              <a:t>takes</a:t>
            </a:r>
            <a:r>
              <a:rPr lang="en-US" altLang="en-US" dirty="0"/>
              <a:t>.</a:t>
            </a:r>
            <a:r>
              <a:rPr lang="en-US" altLang="en-US" i="1" dirty="0"/>
              <a:t>grade </a:t>
            </a:r>
            <a:r>
              <a:rPr lang="en-US" altLang="en-US" b="1" dirty="0"/>
              <a:t>is not null</a:t>
            </a:r>
            <a:r>
              <a:rPr lang="en-US" altLang="en-US" dirty="0"/>
              <a:t>);</a:t>
            </a:r>
            <a:endParaRPr lang="en-US" altLang="en-US" dirty="0"/>
          </a:p>
          <a:p>
            <a:r>
              <a:rPr lang="en-US" altLang="en-US" dirty="0"/>
              <a:t>Sets </a:t>
            </a:r>
            <a:r>
              <a:rPr lang="en-US" altLang="en-US" i="1" dirty="0"/>
              <a:t>tot_creds</a:t>
            </a:r>
            <a:r>
              <a:rPr lang="en-US" altLang="en-US" dirty="0"/>
              <a:t> to null for students who have not taken any course</a:t>
            </a:r>
            <a:endParaRPr lang="en-US" altLang="en-US" dirty="0"/>
          </a:p>
          <a:p>
            <a:r>
              <a:rPr lang="en-US" altLang="en-US" dirty="0"/>
              <a:t>Instead of </a:t>
            </a:r>
            <a:r>
              <a:rPr lang="en-US" altLang="en-US" b="1" dirty="0"/>
              <a:t>sum</a:t>
            </a:r>
            <a:r>
              <a:rPr lang="en-US" altLang="en-US" dirty="0"/>
              <a:t>(</a:t>
            </a:r>
            <a:r>
              <a:rPr lang="en-US" altLang="en-US" i="1" dirty="0"/>
              <a:t>credits</a:t>
            </a:r>
            <a:r>
              <a:rPr lang="en-US" altLang="en-US" dirty="0"/>
              <a:t>), use: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                  case </a:t>
            </a:r>
            <a:br>
              <a:rPr lang="en-US" altLang="en-US" b="1" dirty="0"/>
            </a:br>
            <a:r>
              <a:rPr lang="en-US" altLang="en-US" b="1" dirty="0"/>
              <a:t>                 when sum</a:t>
            </a:r>
            <a:r>
              <a:rPr lang="en-US" altLang="en-US" dirty="0"/>
              <a:t>(</a:t>
            </a:r>
            <a:r>
              <a:rPr lang="en-US" altLang="en-US" i="1" dirty="0"/>
              <a:t>credits</a:t>
            </a:r>
            <a:r>
              <a:rPr lang="en-US" altLang="en-US" dirty="0"/>
              <a:t>) </a:t>
            </a:r>
            <a:r>
              <a:rPr lang="en-US" altLang="en-US" b="1" dirty="0"/>
              <a:t>is not null then sum</a:t>
            </a:r>
            <a:r>
              <a:rPr lang="en-US" altLang="en-US" dirty="0"/>
              <a:t>(</a:t>
            </a:r>
            <a:r>
              <a:rPr lang="en-US" altLang="en-US" i="1" dirty="0"/>
              <a:t>credits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            </a:t>
            </a:r>
            <a:r>
              <a:rPr lang="en-US" altLang="en-US" b="1" dirty="0"/>
              <a:t>else </a:t>
            </a:r>
            <a:r>
              <a:rPr lang="en-US" altLang="en-US" dirty="0"/>
              <a:t>0</a:t>
            </a:r>
            <a:br>
              <a:rPr lang="en-US" altLang="en-US" dirty="0"/>
            </a:br>
            <a:r>
              <a:rPr lang="en-US" altLang="en-US" dirty="0"/>
              <a:t>             </a:t>
            </a:r>
            <a:r>
              <a:rPr lang="en-US" altLang="en-US" b="1" dirty="0"/>
              <a:t>end</a:t>
            </a:r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End of Chapter 3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6"/>
          <p:cNvSpPr/>
          <p:nvPr>
            <p:custDataLst>
              <p:tags r:id="rId1"/>
            </p:custDataLst>
          </p:nvPr>
        </p:nvSpPr>
        <p:spPr>
          <a:xfrm>
            <a:off x="1259205" y="5229225"/>
            <a:ext cx="7078980" cy="880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ctr" rtl="0" eaLnBrk="0">
              <a:lnSpc>
                <a:spcPct val="910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Prof. Liang Liu</a:t>
            </a:r>
            <a:endParaRPr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12700" algn="ctr" rtl="0" eaLnBrk="0">
              <a:lnSpc>
                <a:spcPts val="41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2026 spring</a:t>
            </a:r>
            <a:endParaRPr lang="en-US"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  <p:tag name="TABLE_ENDDRAG_ORIGIN_RECT" val="266*105"/>
  <p:tag name="TABLE_ENDDRAG_RECT" val="430*202*266*105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30416</Words>
  <Application>WPS 演示</Application>
  <PresentationFormat>On-screen Show (4:3)</PresentationFormat>
  <Paragraphs>1226</Paragraphs>
  <Slides>88</Slides>
  <Notes>65</Notes>
  <HiddenSlides>0</HiddenSlides>
  <MMClips>0</MMClips>
  <ScaleCrop>false</ScaleCrop>
  <HeadingPairs>
    <vt:vector size="10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88</vt:i4>
      </vt:variant>
      <vt:variant>
        <vt:lpstr>自定义放映</vt:lpstr>
      </vt:variant>
      <vt:variant>
        <vt:i4>1</vt:i4>
      </vt:variant>
    </vt:vector>
  </HeadingPairs>
  <TitlesOfParts>
    <vt:vector size="129" baseType="lpstr">
      <vt:lpstr>Arial</vt:lpstr>
      <vt:lpstr>宋体</vt:lpstr>
      <vt:lpstr>Wingdings</vt:lpstr>
      <vt:lpstr>Helvetica</vt:lpstr>
      <vt:lpstr>Monotype Sorts</vt:lpstr>
      <vt:lpstr>Thonburi</vt:lpstr>
      <vt:lpstr>Webdings</vt:lpstr>
      <vt:lpstr>Times New Roman</vt:lpstr>
      <vt:lpstr>Helvetica Bold</vt:lpstr>
      <vt:lpstr>Helvetica Neue</vt:lpstr>
      <vt:lpstr>Tahoma</vt:lpstr>
      <vt:lpstr>Helvetica Neue</vt:lpstr>
      <vt:lpstr>Book Antiqua</vt:lpstr>
      <vt:lpstr>Arial</vt:lpstr>
      <vt:lpstr>微软雅黑</vt:lpstr>
      <vt:lpstr>汉仪旗黑</vt:lpstr>
      <vt:lpstr>宋体</vt:lpstr>
      <vt:lpstr>Arial Unicode MS</vt:lpstr>
      <vt:lpstr>汉仪书宋二KW</vt:lpstr>
      <vt:lpstr>Calibri</vt:lpstr>
      <vt:lpstr>Symbol</vt:lpstr>
      <vt:lpstr>Kingsoft Sign</vt:lpstr>
      <vt:lpstr>Palatino Linotype</vt:lpstr>
      <vt:lpstr>苹方-简</vt:lpstr>
      <vt:lpstr>Century Gothic</vt:lpstr>
      <vt:lpstr>Helvetica Neue Light</vt:lpstr>
      <vt:lpstr>Rockwell</vt:lpstr>
      <vt:lpstr>MS PGothic</vt:lpstr>
      <vt:lpstr>Wingdings</vt:lpstr>
      <vt:lpstr>Menlo</vt:lpstr>
      <vt:lpstr>Droid Sans Mono</vt:lpstr>
      <vt:lpstr>2_db-5-grey</vt:lpstr>
      <vt:lpstr>1_db-5-grey</vt:lpstr>
      <vt:lpstr>MS_ClipArt_Gallery.2</vt:lpstr>
      <vt:lpstr>MS_ClipArt_Gallery.2</vt:lpstr>
      <vt:lpstr>Excel.Sheet.8</vt:lpstr>
      <vt:lpstr>Excel.Sheet.8</vt:lpstr>
      <vt:lpstr>Excel.Sheet.8</vt:lpstr>
      <vt:lpstr>Excel.Sheet.8</vt:lpstr>
      <vt:lpstr>Equation.3</vt:lpstr>
      <vt:lpstr>Chapter 3: Introduction to SQL</vt:lpstr>
      <vt:lpstr>Outline</vt:lpstr>
      <vt:lpstr>History</vt:lpstr>
      <vt:lpstr>SQL’s Persistence</vt:lpstr>
      <vt:lpstr>SQL Pros and Cons</vt:lpstr>
      <vt:lpstr>Relational Terminology</vt:lpstr>
      <vt:lpstr>Relational Terminology, Pt 2.</vt:lpstr>
      <vt:lpstr>Relational Terminology, Pt. 3</vt:lpstr>
      <vt:lpstr>Relational Terminology, Pt. 4</vt:lpstr>
      <vt:lpstr>Quick Check 1</vt:lpstr>
      <vt:lpstr>Quick Check 2</vt:lpstr>
      <vt:lpstr>Quick Check 3</vt:lpstr>
      <vt:lpstr>SQL Language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And more still</vt:lpstr>
      <vt:lpstr>Updates to tables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select Clause (Cont.)</vt:lpstr>
      <vt:lpstr>The where Clause</vt:lpstr>
      <vt:lpstr>The from Clause</vt:lpstr>
      <vt:lpstr>Cartesian Product</vt:lpstr>
      <vt:lpstr>Examples</vt:lpstr>
      <vt:lpstr>The Rename Operation</vt:lpstr>
      <vt:lpstr>Self Join Example</vt:lpstr>
      <vt:lpstr>String Operations</vt:lpstr>
      <vt:lpstr>String Operations (Cont.)</vt:lpstr>
      <vt:lpstr>Ordering the Display of Tuples</vt:lpstr>
      <vt:lpstr>Where Clause Predicates</vt:lpstr>
      <vt:lpstr>Duplicates</vt:lpstr>
      <vt:lpstr>Set Semantics</vt:lpstr>
      <vt:lpstr>Duplicates (Cont.)</vt:lpstr>
      <vt:lpstr>Set Operations</vt:lpstr>
      <vt:lpstr>Set Operations (Cont.)</vt:lpstr>
      <vt:lpstr>Set Operations (Cont.)</vt:lpstr>
      <vt:lpstr>UNION ALL: Multiset Semantics</vt:lpstr>
      <vt:lpstr>INTERSECT ALL:  Multiset Semantics</vt:lpstr>
      <vt:lpstr>EXCEPT ALL:  Multiset Semantics</vt:lpstr>
      <vt:lpstr>Null Values</vt:lpstr>
      <vt:lpstr>Null Values</vt:lpstr>
      <vt:lpstr>Null Values and Three Valued Logic</vt:lpstr>
      <vt:lpstr>Aggregate Functions</vt:lpstr>
      <vt:lpstr>Aggregate Functions (Cont.)</vt:lpstr>
      <vt:lpstr>Aggregate Functions – Group By</vt:lpstr>
      <vt:lpstr>Aggregation (Cont.)</vt:lpstr>
      <vt:lpstr>Aggregate Functions – Having Clause</vt:lpstr>
      <vt:lpstr>Null Values and Aggregates</vt:lpstr>
      <vt:lpstr>Null Values and Aggregates</vt:lpstr>
      <vt:lpstr>Null Values and Aggregates (Cont.)</vt:lpstr>
      <vt:lpstr>Basic Single-Table Queries</vt:lpstr>
      <vt:lpstr>Conceptual SQL Evaluation</vt:lpstr>
      <vt:lpstr>Nested Subqueries</vt:lpstr>
      <vt:lpstr>Subqueries in the Where Clause</vt:lpstr>
      <vt:lpstr>Subqueries in the Where Clause</vt:lpstr>
      <vt:lpstr>Set Membership </vt:lpstr>
      <vt:lpstr>Set Membership (Cont.)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Use of “not exists” Clause</vt:lpstr>
      <vt:lpstr>Test for Absence of Duplicate Tuples</vt:lpstr>
      <vt:lpstr>Subqueries in the Form Clause</vt:lpstr>
      <vt:lpstr>Subqueries in the Form Clause</vt:lpstr>
      <vt:lpstr>With Clause</vt:lpstr>
      <vt:lpstr>Complex Queries using With Clause</vt:lpstr>
      <vt:lpstr>Subqueries in the Select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Frankie Liu</cp:lastModifiedBy>
  <cp:revision>453</cp:revision>
  <cp:lastPrinted>2026-03-20T00:44:21Z</cp:lastPrinted>
  <dcterms:created xsi:type="dcterms:W3CDTF">2026-03-20T00:44:21Z</dcterms:created>
  <dcterms:modified xsi:type="dcterms:W3CDTF">2026-03-20T00:44:21Z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FB3968677CA5F6890E0CA869976851E9_43</vt:lpwstr>
  </property>
  <property fmtid="{D5CDD505-2E9C-101B-9397-08002B2CF9AE}" pid="3" name="KSOProductBuildVer">
    <vt:lpwstr>2052-6.5.2.8766</vt:lpwstr>
  </property>
</Properties>
</file>