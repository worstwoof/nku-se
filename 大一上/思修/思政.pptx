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49" r:id="rId2"/>
    <p:sldMasterId id="2147483650" r:id="rId3"/>
    <p:sldMasterId id="2147483651" r:id="rId4"/>
    <p:sldMasterId id="2147483652" r:id="rId5"/>
    <p:sldMasterId id="2147483653" r:id="rId6"/>
  </p:sldMasterIdLst>
  <p:notesMasterIdLst>
    <p:notesMasterId r:id="rId24"/>
  </p:notesMasterIdLst>
  <p:sldIdLst>
    <p:sldId id="256" r:id="rId7"/>
    <p:sldId id="257" r:id="rId8"/>
    <p:sldId id="279" r:id="rId9"/>
    <p:sldId id="281" r:id="rId10"/>
    <p:sldId id="282" r:id="rId11"/>
    <p:sldId id="283" r:id="rId12"/>
    <p:sldId id="280" r:id="rId13"/>
    <p:sldId id="260" r:id="rId14"/>
    <p:sldId id="263" r:id="rId15"/>
    <p:sldId id="264" r:id="rId16"/>
    <p:sldId id="265" r:id="rId17"/>
    <p:sldId id="266" r:id="rId18"/>
    <p:sldId id="267" r:id="rId19"/>
    <p:sldId id="268" r:id="rId20"/>
    <p:sldId id="269" r:id="rId21"/>
    <p:sldId id="270" r:id="rId22"/>
    <p:sldId id="278" r:id="rId23"/>
  </p:sldIdLst>
  <p:sldSz cx="9144000" cy="5143500" type="screen16x9"/>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FF"/>
    <a:srgbClr val="1A4B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48" y="952"/>
      </p:cViewPr>
      <p:guideLst/>
    </p:cSldViewPr>
  </p:slideViewPr>
  <p:notesTextViewPr>
    <p:cViewPr>
      <p:scale>
        <a:sx n="50" d="100"/>
        <a:sy n="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57"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58"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59"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60"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1"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62"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image" Target="../media/image15.png"/><Relationship Id="rId3" Type="http://schemas.openxmlformats.org/officeDocument/2006/relationships/tags" Target="../tags/tag3.xml"/><Relationship Id="rId21" Type="http://schemas.openxmlformats.org/officeDocument/2006/relationships/slideLayout" Target="../slideLayouts/slideLayout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image" Target="../media/image14.pn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13.pn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image" Target="../media/image12.png"/><Relationship Id="rId28" Type="http://schemas.openxmlformats.org/officeDocument/2006/relationships/image" Target="../media/image17.png"/><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1.png"/><Relationship Id="rId27"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microsoft.com/office/2007/relationships/hdphoto" Target="../media/hdphoto1.wdp"/><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jpe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jpe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tags" Target="../tags/tag33.xml"/><Relationship Id="rId18" Type="http://schemas.openxmlformats.org/officeDocument/2006/relationships/tags" Target="../tags/tag38.xml"/><Relationship Id="rId26" Type="http://schemas.openxmlformats.org/officeDocument/2006/relationships/image" Target="../media/image27.png"/><Relationship Id="rId3" Type="http://schemas.openxmlformats.org/officeDocument/2006/relationships/tags" Target="../tags/tag23.xml"/><Relationship Id="rId21" Type="http://schemas.openxmlformats.org/officeDocument/2006/relationships/slideLayout" Target="../slideLayouts/slideLayout1.xml"/><Relationship Id="rId7" Type="http://schemas.openxmlformats.org/officeDocument/2006/relationships/tags" Target="../tags/tag27.xml"/><Relationship Id="rId12" Type="http://schemas.openxmlformats.org/officeDocument/2006/relationships/tags" Target="../tags/tag32.xml"/><Relationship Id="rId17" Type="http://schemas.openxmlformats.org/officeDocument/2006/relationships/tags" Target="../tags/tag37.xml"/><Relationship Id="rId25" Type="http://schemas.openxmlformats.org/officeDocument/2006/relationships/image" Target="../media/image21.jpeg"/><Relationship Id="rId2" Type="http://schemas.openxmlformats.org/officeDocument/2006/relationships/tags" Target="../tags/tag22.xml"/><Relationship Id="rId16" Type="http://schemas.openxmlformats.org/officeDocument/2006/relationships/tags" Target="../tags/tag36.xml"/><Relationship Id="rId20" Type="http://schemas.openxmlformats.org/officeDocument/2006/relationships/tags" Target="../tags/tag40.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tags" Target="../tags/tag31.xml"/><Relationship Id="rId24" Type="http://schemas.openxmlformats.org/officeDocument/2006/relationships/image" Target="../media/image20.png"/><Relationship Id="rId5" Type="http://schemas.openxmlformats.org/officeDocument/2006/relationships/tags" Target="../tags/tag25.xml"/><Relationship Id="rId15" Type="http://schemas.openxmlformats.org/officeDocument/2006/relationships/tags" Target="../tags/tag35.xml"/><Relationship Id="rId23" Type="http://schemas.openxmlformats.org/officeDocument/2006/relationships/image" Target="../media/image19.png"/><Relationship Id="rId28" Type="http://schemas.openxmlformats.org/officeDocument/2006/relationships/image" Target="../media/image12.png"/><Relationship Id="rId10" Type="http://schemas.openxmlformats.org/officeDocument/2006/relationships/tags" Target="../tags/tag30.xml"/><Relationship Id="rId19" Type="http://schemas.openxmlformats.org/officeDocument/2006/relationships/tags" Target="../tags/tag39.xml"/><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tags" Target="../tags/tag34.xml"/><Relationship Id="rId22" Type="http://schemas.openxmlformats.org/officeDocument/2006/relationships/image" Target="../media/image18.png"/><Relationship Id="rId27" Type="http://schemas.microsoft.com/office/2007/relationships/hdphoto" Target="../media/hdphoto2.wdp"/></Relationships>
</file>

<file path=ppt/slides/_rels/slide6.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18" Type="http://schemas.openxmlformats.org/officeDocument/2006/relationships/tags" Target="../tags/tag58.xml"/><Relationship Id="rId26" Type="http://schemas.openxmlformats.org/officeDocument/2006/relationships/image" Target="../media/image27.png"/><Relationship Id="rId3" Type="http://schemas.openxmlformats.org/officeDocument/2006/relationships/tags" Target="../tags/tag43.xml"/><Relationship Id="rId21" Type="http://schemas.openxmlformats.org/officeDocument/2006/relationships/slideLayout" Target="../slideLayouts/slideLayout1.xml"/><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tags" Target="../tags/tag57.xml"/><Relationship Id="rId25" Type="http://schemas.openxmlformats.org/officeDocument/2006/relationships/image" Target="../media/image21.jpeg"/><Relationship Id="rId2" Type="http://schemas.openxmlformats.org/officeDocument/2006/relationships/tags" Target="../tags/tag42.xml"/><Relationship Id="rId16" Type="http://schemas.openxmlformats.org/officeDocument/2006/relationships/tags" Target="../tags/tag56.xml"/><Relationship Id="rId20" Type="http://schemas.openxmlformats.org/officeDocument/2006/relationships/tags" Target="../tags/tag60.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24" Type="http://schemas.openxmlformats.org/officeDocument/2006/relationships/image" Target="../media/image20.png"/><Relationship Id="rId5" Type="http://schemas.openxmlformats.org/officeDocument/2006/relationships/tags" Target="../tags/tag45.xml"/><Relationship Id="rId15" Type="http://schemas.openxmlformats.org/officeDocument/2006/relationships/tags" Target="../tags/tag55.xml"/><Relationship Id="rId23" Type="http://schemas.openxmlformats.org/officeDocument/2006/relationships/image" Target="../media/image19.png"/><Relationship Id="rId28" Type="http://schemas.openxmlformats.org/officeDocument/2006/relationships/image" Target="../media/image12.png"/><Relationship Id="rId10" Type="http://schemas.openxmlformats.org/officeDocument/2006/relationships/tags" Target="../tags/tag50.xml"/><Relationship Id="rId19" Type="http://schemas.openxmlformats.org/officeDocument/2006/relationships/tags" Target="../tags/tag59.xml"/><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 Id="rId22" Type="http://schemas.openxmlformats.org/officeDocument/2006/relationships/image" Target="../media/image18.png"/><Relationship Id="rId27" Type="http://schemas.microsoft.com/office/2007/relationships/hdphoto" Target="../media/hdphoto2.wdp"/></Relationships>
</file>

<file path=ppt/slides/_rels/slide7.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tags" Target="../tags/tag73.xml"/><Relationship Id="rId18" Type="http://schemas.openxmlformats.org/officeDocument/2006/relationships/tags" Target="../tags/tag78.xml"/><Relationship Id="rId26" Type="http://schemas.openxmlformats.org/officeDocument/2006/relationships/image" Target="../media/image18.png"/><Relationship Id="rId3" Type="http://schemas.openxmlformats.org/officeDocument/2006/relationships/tags" Target="../tags/tag63.xml"/><Relationship Id="rId21" Type="http://schemas.openxmlformats.org/officeDocument/2006/relationships/slideLayout" Target="../slideLayouts/slideLayout1.xml"/><Relationship Id="rId7" Type="http://schemas.openxmlformats.org/officeDocument/2006/relationships/tags" Target="../tags/tag67.xml"/><Relationship Id="rId12" Type="http://schemas.openxmlformats.org/officeDocument/2006/relationships/tags" Target="../tags/tag72.xml"/><Relationship Id="rId17" Type="http://schemas.openxmlformats.org/officeDocument/2006/relationships/tags" Target="../tags/tag77.xml"/><Relationship Id="rId25" Type="http://schemas.openxmlformats.org/officeDocument/2006/relationships/image" Target="../media/image29.jpeg"/><Relationship Id="rId2" Type="http://schemas.openxmlformats.org/officeDocument/2006/relationships/tags" Target="../tags/tag62.xml"/><Relationship Id="rId16" Type="http://schemas.openxmlformats.org/officeDocument/2006/relationships/tags" Target="../tags/tag76.xml"/><Relationship Id="rId20" Type="http://schemas.openxmlformats.org/officeDocument/2006/relationships/tags" Target="../tags/tag80.xml"/><Relationship Id="rId29" Type="http://schemas.openxmlformats.org/officeDocument/2006/relationships/image" Target="../media/image21.jpeg"/><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24" Type="http://schemas.openxmlformats.org/officeDocument/2006/relationships/image" Target="../media/image12.png"/><Relationship Id="rId5" Type="http://schemas.openxmlformats.org/officeDocument/2006/relationships/tags" Target="../tags/tag65.xml"/><Relationship Id="rId15" Type="http://schemas.openxmlformats.org/officeDocument/2006/relationships/tags" Target="../tags/tag75.xml"/><Relationship Id="rId23" Type="http://schemas.microsoft.com/office/2007/relationships/hdphoto" Target="../media/hdphoto3.wdp"/><Relationship Id="rId28" Type="http://schemas.openxmlformats.org/officeDocument/2006/relationships/image" Target="../media/image19.png"/><Relationship Id="rId10" Type="http://schemas.openxmlformats.org/officeDocument/2006/relationships/tags" Target="../tags/tag70.xml"/><Relationship Id="rId19" Type="http://schemas.openxmlformats.org/officeDocument/2006/relationships/tags" Target="../tags/tag79.xml"/><Relationship Id="rId4" Type="http://schemas.openxmlformats.org/officeDocument/2006/relationships/tags" Target="../tags/tag64.xml"/><Relationship Id="rId9" Type="http://schemas.openxmlformats.org/officeDocument/2006/relationships/tags" Target="../tags/tag69.xml"/><Relationship Id="rId14" Type="http://schemas.openxmlformats.org/officeDocument/2006/relationships/tags" Target="../tags/tag74.xml"/><Relationship Id="rId22" Type="http://schemas.openxmlformats.org/officeDocument/2006/relationships/image" Target="../media/image28.png"/><Relationship Id="rId27"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8.png"/><Relationship Id="rId4" Type="http://schemas.openxmlformats.org/officeDocument/2006/relationships/image" Target="../media/image31.png"/><Relationship Id="rId9" Type="http://schemas.openxmlformats.org/officeDocument/2006/relationships/image" Target="../media/image36.png"/></Relationships>
</file>

<file path=ppt/slides/_rels/slide1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1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1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1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14.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1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1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50.png"/><Relationship Id="rId12"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6.png"/><Relationship Id="rId5" Type="http://schemas.openxmlformats.org/officeDocument/2006/relationships/image" Target="../media/image4.png"/><Relationship Id="rId10" Type="http://schemas.openxmlformats.org/officeDocument/2006/relationships/image" Target="../media/image51.png"/><Relationship Id="rId4" Type="http://schemas.openxmlformats.org/officeDocument/2006/relationships/image" Target="../media/image3.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图片 1"/>
          <p:cNvPicPr>
            <a:picLocks noChangeAspect="1"/>
          </p:cNvPicPr>
          <p:nvPr/>
        </p:nvPicPr>
        <p:blipFill>
          <a:blip r:embed="rId2">
            <a:alphaModFix/>
          </a:blip>
          <a:stretch>
            <a:fillRect/>
          </a:stretch>
        </p:blipFill>
        <p:spPr>
          <a:xfrm>
            <a:off x="0" y="0"/>
            <a:ext cx="9144000" cy="5143500"/>
          </a:xfrm>
          <a:prstGeom prst="rect">
            <a:avLst/>
          </a:prstGeom>
        </p:spPr>
      </p:pic>
      <p:pic>
        <p:nvPicPr>
          <p:cNvPr id="2097153" name="图片 2"/>
          <p:cNvPicPr>
            <a:picLocks noChangeAspect="1"/>
          </p:cNvPicPr>
          <p:nvPr/>
        </p:nvPicPr>
        <p:blipFill>
          <a:blip r:embed="rId3">
            <a:alphaModFix/>
          </a:blip>
          <a:stretch>
            <a:fillRect/>
          </a:stretch>
        </p:blipFill>
        <p:spPr>
          <a:xfrm>
            <a:off x="5103945" y="-1228949"/>
            <a:ext cx="2571750" cy="2571750"/>
          </a:xfrm>
          <a:prstGeom prst="rect">
            <a:avLst/>
          </a:prstGeom>
        </p:spPr>
      </p:pic>
      <p:pic>
        <p:nvPicPr>
          <p:cNvPr id="2097154" name="图片 3"/>
          <p:cNvPicPr>
            <a:picLocks noChangeAspect="1"/>
          </p:cNvPicPr>
          <p:nvPr/>
        </p:nvPicPr>
        <p:blipFill>
          <a:blip r:embed="rId4">
            <a:alphaModFix/>
          </a:blip>
          <a:stretch>
            <a:fillRect/>
          </a:stretch>
        </p:blipFill>
        <p:spPr>
          <a:xfrm>
            <a:off x="5103945" y="-1433563"/>
            <a:ext cx="2571750" cy="2571750"/>
          </a:xfrm>
          <a:prstGeom prst="rect">
            <a:avLst/>
          </a:prstGeom>
        </p:spPr>
      </p:pic>
      <p:pic>
        <p:nvPicPr>
          <p:cNvPr id="2097155" name="图片 4"/>
          <p:cNvPicPr>
            <a:picLocks noChangeAspect="1"/>
          </p:cNvPicPr>
          <p:nvPr/>
        </p:nvPicPr>
        <p:blipFill>
          <a:blip r:embed="rId5">
            <a:alphaModFix/>
          </a:blip>
          <a:stretch>
            <a:fillRect/>
          </a:stretch>
        </p:blipFill>
        <p:spPr>
          <a:xfrm rot="5400000">
            <a:off x="7614244" y="403115"/>
            <a:ext cx="2968102" cy="2968102"/>
          </a:xfrm>
          <a:prstGeom prst="rect">
            <a:avLst/>
          </a:prstGeom>
        </p:spPr>
      </p:pic>
      <p:pic>
        <p:nvPicPr>
          <p:cNvPr id="2097156" name="图片 5"/>
          <p:cNvPicPr>
            <a:picLocks noChangeAspect="1"/>
          </p:cNvPicPr>
          <p:nvPr/>
        </p:nvPicPr>
        <p:blipFill>
          <a:blip r:embed="rId6">
            <a:alphaModFix/>
          </a:blip>
          <a:stretch>
            <a:fillRect/>
          </a:stretch>
        </p:blipFill>
        <p:spPr>
          <a:xfrm rot="5400000">
            <a:off x="7861653" y="403115"/>
            <a:ext cx="2968102" cy="2968102"/>
          </a:xfrm>
          <a:prstGeom prst="rect">
            <a:avLst/>
          </a:prstGeom>
        </p:spPr>
      </p:pic>
      <p:sp>
        <p:nvSpPr>
          <p:cNvPr id="1048576" name="文本框 18"/>
          <p:cNvSpPr txBox="1"/>
          <p:nvPr/>
        </p:nvSpPr>
        <p:spPr>
          <a:xfrm>
            <a:off x="323850" y="1899920"/>
            <a:ext cx="5476875" cy="88011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6000" b="1"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 MBTI</a:t>
            </a:r>
            <a:endParaRPr lang="en-US" sz="6000" kern="100" spc="0" dirty="0">
              <a:solidFill>
                <a:srgbClr val="1A4B59">
                  <a:alpha val="100000"/>
                </a:srgbClr>
              </a:solidFill>
              <a:latin typeface="创客贴稚圆体 Bold Bold" panose="02010800040101010101" pitchFamily="1" charset="-122"/>
              <a:ea typeface="创客贴稚圆体 Bold Bold" panose="02010800040101010101" pitchFamily="1" charset="-122"/>
            </a:endParaRPr>
          </a:p>
          <a:p>
            <a:pPr algn="l">
              <a:lnSpc>
                <a:spcPct val="100000"/>
              </a:lnSpc>
            </a:pPr>
            <a:r>
              <a:rPr lang="zh-CN" altLang="en-US" sz="2400"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能帮助我们</a:t>
            </a:r>
            <a:r>
              <a:rPr lang="zh-CN" altLang="en-US" sz="4000"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认识自己</a:t>
            </a:r>
            <a:r>
              <a:rPr lang="zh-CN" altLang="en-US" sz="2400"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吗</a:t>
            </a:r>
          </a:p>
        </p:txBody>
      </p:sp>
      <p:sp>
        <p:nvSpPr>
          <p:cNvPr id="1048577" name="文本框 9"/>
          <p:cNvSpPr txBox="1"/>
          <p:nvPr/>
        </p:nvSpPr>
        <p:spPr>
          <a:xfrm>
            <a:off x="468083" y="403226"/>
            <a:ext cx="3928895" cy="302895"/>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zh-CN" sz="1990" kern="100" spc="0">
                <a:solidFill>
                  <a:srgbClr val="424142">
                    <a:alpha val="100000"/>
                  </a:srgbClr>
                </a:solidFill>
                <a:latin typeface="Noto Sans S Chinese Regular" panose="02010800040101010101" pitchFamily="1" charset="-122"/>
                <a:ea typeface="Noto Sans S Chinese Regular" panose="02010800040101010101" pitchFamily="1" charset="-122"/>
              </a:rPr>
              <a:t>对人的认识</a:t>
            </a:r>
          </a:p>
        </p:txBody>
      </p:sp>
      <p:pic>
        <p:nvPicPr>
          <p:cNvPr id="2097157" name="图片 10"/>
          <p:cNvPicPr>
            <a:picLocks noChangeAspect="1"/>
          </p:cNvPicPr>
          <p:nvPr/>
        </p:nvPicPr>
        <p:blipFill>
          <a:blip r:embed="rId7">
            <a:alphaModFix/>
          </a:blip>
          <a:stretch>
            <a:fillRect/>
          </a:stretch>
        </p:blipFill>
        <p:spPr>
          <a:xfrm>
            <a:off x="323850" y="4659630"/>
            <a:ext cx="3150235" cy="327660"/>
          </a:xfrm>
          <a:prstGeom prst="rect">
            <a:avLst/>
          </a:prstGeom>
        </p:spPr>
      </p:pic>
      <p:sp>
        <p:nvSpPr>
          <p:cNvPr id="1048578" name="文本框 11"/>
          <p:cNvSpPr txBox="1"/>
          <p:nvPr/>
        </p:nvSpPr>
        <p:spPr>
          <a:xfrm>
            <a:off x="323850" y="4617417"/>
            <a:ext cx="3117738" cy="411450"/>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汇报人：</a:t>
            </a:r>
            <a:r>
              <a:rPr lang="zh-CN"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赵宇哲</a:t>
            </a:r>
            <a:r>
              <a:rPr lang="en-US" altLang="zh-CN"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 </a:t>
            </a:r>
            <a:r>
              <a:rPr lang="zh-CN" altLang="en-US"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黄子豪</a:t>
            </a:r>
            <a:r>
              <a:rPr lang="en-US" altLang="zh-CN"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 </a:t>
            </a:r>
            <a:r>
              <a:rPr lang="zh-CN" altLang="en-US"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魏宇轩</a:t>
            </a:r>
            <a:r>
              <a:rPr lang="en-US" altLang="zh-CN"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 </a:t>
            </a:r>
            <a:r>
              <a:rPr lang="zh-CN" altLang="en-US"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唐小涯</a:t>
            </a:r>
            <a:r>
              <a:rPr lang="en-US" altLang="zh-CN"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  </a:t>
            </a:r>
            <a:r>
              <a:rPr lang="zh-CN" altLang="en-US"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陈</a:t>
            </a:r>
            <a:r>
              <a:rPr lang="en-US" altLang="en-US"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雨昂</a:t>
            </a:r>
            <a:endParaRPr lang="en-US" altLang="zh-CN" sz="1165" kern="100" spc="0">
              <a:solidFill>
                <a:srgbClr val="FFFFFF">
                  <a:alpha val="100000"/>
                </a:srgbClr>
              </a:solidFill>
              <a:latin typeface="Noto Sans S Chinese Regular" panose="02010800040101010101" pitchFamily="1" charset="-122"/>
              <a:ea typeface="Noto Sans S Chinese Regular" panose="02010800040101010101" pitchFamily="1" charset="-122"/>
            </a:endParaRPr>
          </a:p>
        </p:txBody>
      </p:sp>
      <p:pic>
        <p:nvPicPr>
          <p:cNvPr id="2097158" name="图片 12"/>
          <p:cNvPicPr>
            <a:picLocks noChangeAspect="1"/>
          </p:cNvPicPr>
          <p:nvPr/>
        </p:nvPicPr>
        <p:blipFill>
          <a:blip r:embed="rId8">
            <a:alphaModFix/>
          </a:blip>
          <a:stretch>
            <a:fillRect/>
          </a:stretch>
        </p:blipFill>
        <p:spPr>
          <a:xfrm>
            <a:off x="395605" y="4156075"/>
            <a:ext cx="2369820" cy="346710"/>
          </a:xfrm>
          <a:prstGeom prst="rect">
            <a:avLst/>
          </a:prstGeom>
        </p:spPr>
      </p:pic>
      <p:sp>
        <p:nvSpPr>
          <p:cNvPr id="1048579" name="文本框 13"/>
          <p:cNvSpPr txBox="1"/>
          <p:nvPr/>
        </p:nvSpPr>
        <p:spPr>
          <a:xfrm>
            <a:off x="561975" y="4241165"/>
            <a:ext cx="2037715" cy="17589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lang="zh-CN"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思政作业：人物采访</a:t>
            </a:r>
            <a:r>
              <a:rPr lang="en-US" altLang="zh-CN"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+PPT</a:t>
            </a:r>
            <a:r>
              <a:rPr lang="zh-CN" altLang="en-US"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展示</a:t>
            </a:r>
          </a:p>
        </p:txBody>
      </p:sp>
      <p:pic>
        <p:nvPicPr>
          <p:cNvPr id="2097159" name="图片 16"/>
          <p:cNvPicPr>
            <a:picLocks noChangeAspect="1"/>
          </p:cNvPicPr>
          <p:nvPr/>
        </p:nvPicPr>
        <p:blipFill>
          <a:blip r:embed="rId9">
            <a:alphaModFix/>
          </a:blip>
          <a:stretch>
            <a:fillRect/>
          </a:stretch>
        </p:blipFill>
        <p:spPr>
          <a:xfrm>
            <a:off x="6524953" y="921124"/>
            <a:ext cx="1130331" cy="1130331"/>
          </a:xfrm>
          <a:prstGeom prst="rect">
            <a:avLst/>
          </a:prstGeom>
        </p:spPr>
      </p:pic>
      <p:pic>
        <p:nvPicPr>
          <p:cNvPr id="2097160" name="图片 17"/>
          <p:cNvPicPr>
            <a:picLocks noChangeAspect="1"/>
          </p:cNvPicPr>
          <p:nvPr/>
        </p:nvPicPr>
        <p:blipFill>
          <a:blip r:embed="rId10">
            <a:alphaModFix/>
          </a:blip>
          <a:stretch>
            <a:fillRect/>
          </a:stretch>
        </p:blipFill>
        <p:spPr>
          <a:xfrm>
            <a:off x="6676694" y="1072866"/>
            <a:ext cx="826849" cy="826849"/>
          </a:xfrm>
          <a:prstGeom prst="rect">
            <a:avLst/>
          </a:prstGeom>
        </p:spPr>
      </p:pic>
      <p:pic>
        <p:nvPicPr>
          <p:cNvPr id="2097161" name="图片 14"/>
          <p:cNvPicPr>
            <a:picLocks noChangeAspect="1"/>
          </p:cNvPicPr>
          <p:nvPr/>
        </p:nvPicPr>
        <p:blipFill>
          <a:blip r:embed="rId11">
            <a:alphaModFix/>
          </a:blip>
          <a:stretch>
            <a:fillRect/>
          </a:stretch>
        </p:blipFill>
        <p:spPr>
          <a:xfrm rot="5400000">
            <a:off x="5080315" y="1695728"/>
            <a:ext cx="3621245" cy="3621245"/>
          </a:xfrm>
          <a:prstGeom prst="rect">
            <a:avLst/>
          </a:prstGeom>
        </p:spPr>
      </p:pic>
      <p:pic>
        <p:nvPicPr>
          <p:cNvPr id="2097162" name="图片 19"/>
          <p:cNvPicPr>
            <a:picLocks noChangeAspect="1"/>
          </p:cNvPicPr>
          <p:nvPr/>
        </p:nvPicPr>
        <p:blipFill>
          <a:blip r:embed="rId12"/>
          <a:stretch>
            <a:fillRect/>
          </a:stretch>
        </p:blipFill>
        <p:spPr>
          <a:xfrm rot="18720000">
            <a:off x="7975600" y="523240"/>
            <a:ext cx="2539365" cy="2539365"/>
          </a:xfrm>
          <a:prstGeom prst="ellipse">
            <a:avLst/>
          </a:prstGeom>
        </p:spPr>
      </p:pic>
      <p:pic>
        <p:nvPicPr>
          <p:cNvPr id="2097163" name="图片 6"/>
          <p:cNvPicPr>
            <a:picLocks noChangeAspect="1"/>
          </p:cNvPicPr>
          <p:nvPr/>
        </p:nvPicPr>
        <p:blipFill>
          <a:blip r:embed="rId12"/>
          <a:stretch>
            <a:fillRect/>
          </a:stretch>
        </p:blipFill>
        <p:spPr>
          <a:xfrm>
            <a:off x="5302250" y="1923415"/>
            <a:ext cx="3176905" cy="3176905"/>
          </a:xfrm>
          <a:prstGeom prst="ellipse">
            <a:avLst/>
          </a:prstGeom>
        </p:spPr>
      </p:pic>
      <p:pic>
        <p:nvPicPr>
          <p:cNvPr id="2097164" name="图片 8"/>
          <p:cNvPicPr>
            <a:picLocks noChangeAspect="1"/>
          </p:cNvPicPr>
          <p:nvPr/>
        </p:nvPicPr>
        <p:blipFill>
          <a:blip r:embed="rId12"/>
          <a:stretch>
            <a:fillRect/>
          </a:stretch>
        </p:blipFill>
        <p:spPr>
          <a:xfrm rot="12600000">
            <a:off x="5342890" y="-1000760"/>
            <a:ext cx="2117725" cy="2117725"/>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5" name="图片 1"/>
          <p:cNvPicPr>
            <a:picLocks noChangeAspect="1"/>
          </p:cNvPicPr>
          <p:nvPr/>
        </p:nvPicPr>
        <p:blipFill>
          <a:blip r:embed="rId22">
            <a:alphaModFix/>
          </a:blip>
          <a:stretch>
            <a:fillRect/>
          </a:stretch>
        </p:blipFill>
        <p:spPr>
          <a:xfrm>
            <a:off x="0" y="20538"/>
            <a:ext cx="9144000" cy="5143500"/>
          </a:xfrm>
          <a:prstGeom prst="rect">
            <a:avLst/>
          </a:prstGeom>
        </p:spPr>
      </p:pic>
      <p:pic>
        <p:nvPicPr>
          <p:cNvPr id="2097166" name="图片 2"/>
          <p:cNvPicPr>
            <a:picLocks noChangeAspect="1"/>
          </p:cNvPicPr>
          <p:nvPr>
            <p:custDataLst>
              <p:tags r:id="rId1"/>
            </p:custDataLst>
          </p:nvPr>
        </p:nvPicPr>
        <p:blipFill>
          <a:blip r:embed="rId23">
            <a:alphaModFix/>
          </a:blip>
          <a:stretch>
            <a:fillRect/>
          </a:stretch>
        </p:blipFill>
        <p:spPr>
          <a:xfrm>
            <a:off x="9882297" y="2990213"/>
            <a:ext cx="381469" cy="381469"/>
          </a:xfrm>
          <a:prstGeom prst="rect">
            <a:avLst/>
          </a:prstGeom>
        </p:spPr>
      </p:pic>
      <p:pic>
        <p:nvPicPr>
          <p:cNvPr id="2097167" name="图片 3"/>
          <p:cNvPicPr>
            <a:picLocks noChangeAspect="1"/>
          </p:cNvPicPr>
          <p:nvPr>
            <p:custDataLst>
              <p:tags r:id="rId2"/>
            </p:custDataLst>
          </p:nvPr>
        </p:nvPicPr>
        <p:blipFill>
          <a:blip r:embed="rId23">
            <a:alphaModFix/>
          </a:blip>
          <a:stretch>
            <a:fillRect/>
          </a:stretch>
        </p:blipFill>
        <p:spPr>
          <a:xfrm>
            <a:off x="3707647" y="3910472"/>
            <a:ext cx="381469" cy="381469"/>
          </a:xfrm>
          <a:prstGeom prst="rect">
            <a:avLst/>
          </a:prstGeom>
        </p:spPr>
      </p:pic>
      <p:pic>
        <p:nvPicPr>
          <p:cNvPr id="2097168" name="图片 4"/>
          <p:cNvPicPr>
            <a:picLocks noChangeAspect="1"/>
          </p:cNvPicPr>
          <p:nvPr>
            <p:custDataLst>
              <p:tags r:id="rId3"/>
            </p:custDataLst>
          </p:nvPr>
        </p:nvPicPr>
        <p:blipFill>
          <a:blip r:embed="rId23">
            <a:alphaModFix/>
          </a:blip>
          <a:stretch>
            <a:fillRect/>
          </a:stretch>
        </p:blipFill>
        <p:spPr>
          <a:xfrm>
            <a:off x="4211978" y="1798227"/>
            <a:ext cx="381469" cy="381469"/>
          </a:xfrm>
          <a:prstGeom prst="rect">
            <a:avLst/>
          </a:prstGeom>
        </p:spPr>
      </p:pic>
      <p:pic>
        <p:nvPicPr>
          <p:cNvPr id="2097169" name="图片 5"/>
          <p:cNvPicPr>
            <a:picLocks noChangeAspect="1"/>
          </p:cNvPicPr>
          <p:nvPr>
            <p:custDataLst>
              <p:tags r:id="rId4"/>
            </p:custDataLst>
          </p:nvPr>
        </p:nvPicPr>
        <p:blipFill>
          <a:blip r:embed="rId23">
            <a:alphaModFix/>
          </a:blip>
          <a:stretch>
            <a:fillRect/>
          </a:stretch>
        </p:blipFill>
        <p:spPr>
          <a:xfrm>
            <a:off x="3707647" y="1174473"/>
            <a:ext cx="381469" cy="381469"/>
          </a:xfrm>
          <a:prstGeom prst="rect">
            <a:avLst/>
          </a:prstGeom>
        </p:spPr>
      </p:pic>
      <p:pic>
        <p:nvPicPr>
          <p:cNvPr id="2097170" name="图片 6"/>
          <p:cNvPicPr>
            <a:picLocks noChangeAspect="1"/>
          </p:cNvPicPr>
          <p:nvPr>
            <p:custDataLst>
              <p:tags r:id="rId5"/>
            </p:custDataLst>
          </p:nvPr>
        </p:nvPicPr>
        <p:blipFill>
          <a:blip r:embed="rId23">
            <a:alphaModFix/>
          </a:blip>
          <a:stretch>
            <a:fillRect/>
          </a:stretch>
        </p:blipFill>
        <p:spPr>
          <a:xfrm>
            <a:off x="3383479" y="539824"/>
            <a:ext cx="381469" cy="381469"/>
          </a:xfrm>
          <a:prstGeom prst="rect">
            <a:avLst/>
          </a:prstGeom>
        </p:spPr>
      </p:pic>
      <p:pic>
        <p:nvPicPr>
          <p:cNvPr id="2097171" name="图片 7"/>
          <p:cNvPicPr>
            <a:picLocks noChangeAspect="1"/>
          </p:cNvPicPr>
          <p:nvPr/>
        </p:nvPicPr>
        <p:blipFill>
          <a:blip r:embed="rId24">
            <a:alphaModFix/>
          </a:blip>
          <a:stretch>
            <a:fillRect/>
          </a:stretch>
        </p:blipFill>
        <p:spPr>
          <a:xfrm>
            <a:off x="966905" y="3371544"/>
            <a:ext cx="871326" cy="871326"/>
          </a:xfrm>
          <a:prstGeom prst="rect">
            <a:avLst/>
          </a:prstGeom>
        </p:spPr>
      </p:pic>
      <p:pic>
        <p:nvPicPr>
          <p:cNvPr id="2097172" name="图片 8"/>
          <p:cNvPicPr>
            <a:picLocks noChangeAspect="1"/>
          </p:cNvPicPr>
          <p:nvPr/>
        </p:nvPicPr>
        <p:blipFill>
          <a:blip r:embed="rId25">
            <a:alphaModFix/>
          </a:blip>
          <a:stretch>
            <a:fillRect/>
          </a:stretch>
        </p:blipFill>
        <p:spPr>
          <a:xfrm>
            <a:off x="867306" y="1160620"/>
            <a:ext cx="3055976" cy="3055976"/>
          </a:xfrm>
          <a:prstGeom prst="rect">
            <a:avLst/>
          </a:prstGeom>
        </p:spPr>
      </p:pic>
      <p:sp>
        <p:nvSpPr>
          <p:cNvPr id="1048580" name="文本框 26"/>
          <p:cNvSpPr txBox="1"/>
          <p:nvPr/>
        </p:nvSpPr>
        <p:spPr>
          <a:xfrm>
            <a:off x="2515108" y="1798098"/>
            <a:ext cx="685800" cy="1692222"/>
          </a:xfrm>
          <a:prstGeom prst="rect">
            <a:avLst/>
          </a:prstGeom>
        </p:spPr>
        <p:txBody>
          <a:bodyPr vert="eaVert" wrap="square" lIns="0" tIns="0" rIns="0" bIns="0" anchor="ctr">
            <a:scene3d>
              <a:camera prst="legacyObliqueTopLeft">
                <a:rot lat="0" lon="0" rev="0"/>
              </a:camera>
              <a:lightRig rig="legacyFlat1" dir="tl"/>
            </a:scene3d>
          </a:bodyPr>
          <a:lstStyle/>
          <a:p>
            <a:pPr algn="ctr">
              <a:lnSpc>
                <a:spcPct val="100000"/>
              </a:lnSpc>
            </a:pPr>
            <a:r>
              <a:rPr sz="4500" kern="100" spc="0">
                <a:solidFill>
                  <a:srgbClr val="FFFFFF">
                    <a:alpha val="100000"/>
                  </a:srgbClr>
                </a:solidFill>
                <a:latin typeface="创客贴稚圆体 Bold Bold" panose="02010800040101010101" pitchFamily="1" charset="-122"/>
                <a:ea typeface="创客贴稚圆体 Bold Bold" panose="02010800040101010101" pitchFamily="1" charset="-122"/>
              </a:rPr>
              <a:t>目 录</a:t>
            </a:r>
          </a:p>
        </p:txBody>
      </p:sp>
      <p:sp>
        <p:nvSpPr>
          <p:cNvPr id="1048581" name="文本框 9"/>
          <p:cNvSpPr txBox="1"/>
          <p:nvPr/>
        </p:nvSpPr>
        <p:spPr>
          <a:xfrm>
            <a:off x="2186806" y="2158746"/>
            <a:ext cx="408319" cy="1928175"/>
          </a:xfrm>
          <a:prstGeom prst="rect">
            <a:avLst/>
          </a:prstGeom>
        </p:spPr>
        <p:txBody>
          <a:bodyPr vert="eaVert" wrap="square" lIns="0" tIns="0" rIns="0" bIns="0" anchor="ctr">
            <a:scene3d>
              <a:camera prst="legacyObliqueTopLeft">
                <a:rot lat="0" lon="0" rev="0"/>
              </a:camera>
              <a:lightRig rig="legacyFlat1" dir="tl"/>
            </a:scene3d>
          </a:bodyPr>
          <a:lstStyle/>
          <a:p>
            <a:pPr algn="ctr">
              <a:lnSpc>
                <a:spcPct val="100000"/>
              </a:lnSpc>
            </a:pPr>
            <a:r>
              <a:rPr sz="2680" kern="100" spc="0">
                <a:solidFill>
                  <a:srgbClr val="FFFFFF">
                    <a:alpha val="100000"/>
                  </a:srgbClr>
                </a:solidFill>
                <a:latin typeface="Noto Sans S Chinese Bold Bold" panose="02010800040101010101" pitchFamily="1" charset="-122"/>
                <a:ea typeface="Noto Sans S Chinese Bold Bold" panose="02010800040101010101" pitchFamily="1" charset="-122"/>
              </a:rPr>
              <a:t>CONTENTS</a:t>
            </a:r>
          </a:p>
        </p:txBody>
      </p:sp>
      <p:sp>
        <p:nvSpPr>
          <p:cNvPr id="1048582" name="文本框 10"/>
          <p:cNvSpPr txBox="1"/>
          <p:nvPr>
            <p:custDataLst>
              <p:tags r:id="rId6"/>
            </p:custDataLst>
          </p:nvPr>
        </p:nvSpPr>
        <p:spPr>
          <a:xfrm>
            <a:off x="3308501" y="557163"/>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1</a:t>
            </a:r>
          </a:p>
        </p:txBody>
      </p:sp>
      <p:sp>
        <p:nvSpPr>
          <p:cNvPr id="1048583" name="文本框 11"/>
          <p:cNvSpPr txBox="1"/>
          <p:nvPr>
            <p:custDataLst>
              <p:tags r:id="rId7"/>
            </p:custDataLst>
          </p:nvPr>
        </p:nvSpPr>
        <p:spPr>
          <a:xfrm>
            <a:off x="3981633" y="517110"/>
            <a:ext cx="2218433"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绪论</a:t>
            </a:r>
          </a:p>
        </p:txBody>
      </p:sp>
      <p:sp>
        <p:nvSpPr>
          <p:cNvPr id="1048584" name="文本框 12"/>
          <p:cNvSpPr txBox="1"/>
          <p:nvPr>
            <p:custDataLst>
              <p:tags r:id="rId8"/>
            </p:custDataLst>
          </p:nvPr>
        </p:nvSpPr>
        <p:spPr>
          <a:xfrm>
            <a:off x="3981633" y="873786"/>
            <a:ext cx="1666640" cy="13716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sz="900" kern="100" spc="0">
                <a:solidFill>
                  <a:srgbClr val="424142">
                    <a:alpha val="100000"/>
                  </a:srgbClr>
                </a:solidFill>
                <a:latin typeface="Noto Sans S Chinese Regular" panose="02010800040101010101" pitchFamily="1" charset="-122"/>
                <a:ea typeface="Noto Sans S Chinese Regular" panose="02010800040101010101" pitchFamily="1" charset="-122"/>
              </a:rPr>
              <a:t>Introduction</a:t>
            </a:r>
          </a:p>
        </p:txBody>
      </p:sp>
      <p:sp>
        <p:nvSpPr>
          <p:cNvPr id="1048585" name="文本框 13"/>
          <p:cNvSpPr txBox="1"/>
          <p:nvPr>
            <p:custDataLst>
              <p:tags r:id="rId9"/>
            </p:custDataLst>
          </p:nvPr>
        </p:nvSpPr>
        <p:spPr>
          <a:xfrm>
            <a:off x="3636225" y="1203418"/>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2</a:t>
            </a:r>
          </a:p>
        </p:txBody>
      </p:sp>
      <p:sp>
        <p:nvSpPr>
          <p:cNvPr id="1048586" name="文本框 14"/>
          <p:cNvSpPr txBox="1"/>
          <p:nvPr>
            <p:custDataLst>
              <p:tags r:id="rId10"/>
            </p:custDataLst>
          </p:nvPr>
        </p:nvSpPr>
        <p:spPr>
          <a:xfrm>
            <a:off x="4644390" y="1736090"/>
            <a:ext cx="2847975" cy="37846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altLang="zh-CN" sz="2800" kern="100" spc="0" dirty="0" err="1">
                <a:solidFill>
                  <a:srgbClr val="1A4B59">
                    <a:alpha val="100000"/>
                  </a:srgbClr>
                </a:solidFill>
                <a:latin typeface="创客贴稚圆体 Bold Bold" panose="02010800040101010101" pitchFamily="1" charset="-122"/>
                <a:ea typeface="创客贴稚圆体 Bold Bold" panose="02010800040101010101" pitchFamily="1" charset="-122"/>
              </a:rPr>
              <a:t>Nkuers</a:t>
            </a:r>
            <a:r>
              <a:rPr lang="zh-CN" altLang="en-US" sz="3200"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大</a:t>
            </a:r>
            <a:r>
              <a:rPr lang="zh-CN" sz="3200"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采访</a:t>
            </a:r>
          </a:p>
        </p:txBody>
      </p:sp>
      <p:sp>
        <p:nvSpPr>
          <p:cNvPr id="1048587" name="文本框 15"/>
          <p:cNvSpPr txBox="1"/>
          <p:nvPr>
            <p:custDataLst>
              <p:tags r:id="rId11"/>
            </p:custDataLst>
          </p:nvPr>
        </p:nvSpPr>
        <p:spPr>
          <a:xfrm>
            <a:off x="5770761" y="2150676"/>
            <a:ext cx="2297261" cy="16002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2400" kern="100" spc="0" dirty="0">
                <a:solidFill>
                  <a:srgbClr val="424142">
                    <a:alpha val="100000"/>
                  </a:srgbClr>
                </a:solidFill>
                <a:latin typeface="Noto Sans S Chinese Regular" panose="02010800040101010101" pitchFamily="1" charset="-122"/>
                <a:ea typeface="Noto Sans S Chinese Regular" panose="02010800040101010101" pitchFamily="1" charset="-122"/>
              </a:rPr>
              <a:t>Interview</a:t>
            </a:r>
          </a:p>
        </p:txBody>
      </p:sp>
      <p:sp>
        <p:nvSpPr>
          <p:cNvPr id="1048588" name="文本框 16"/>
          <p:cNvSpPr txBox="1"/>
          <p:nvPr>
            <p:custDataLst>
              <p:tags r:id="rId12"/>
            </p:custDataLst>
          </p:nvPr>
        </p:nvSpPr>
        <p:spPr>
          <a:xfrm>
            <a:off x="9773248" y="2990006"/>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5</a:t>
            </a:r>
          </a:p>
        </p:txBody>
      </p:sp>
      <p:sp>
        <p:nvSpPr>
          <p:cNvPr id="1048589" name="文本框 17"/>
          <p:cNvSpPr txBox="1"/>
          <p:nvPr>
            <p:custDataLst>
              <p:tags r:id="rId13"/>
            </p:custDataLst>
          </p:nvPr>
        </p:nvSpPr>
        <p:spPr>
          <a:xfrm>
            <a:off x="5027621" y="2882152"/>
            <a:ext cx="3640506"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kern="100" spc="0" dirty="0">
                <a:solidFill>
                  <a:srgbClr val="424142">
                    <a:alpha val="100000"/>
                  </a:srgbClr>
                </a:solidFill>
                <a:latin typeface="Noto Sans S Chinese Regular" panose="02010800040101010101" pitchFamily="1" charset="-122"/>
                <a:ea typeface="Noto Sans S Chinese Regular" panose="02010800040101010101" pitchFamily="1" charset="-122"/>
              </a:rPr>
              <a:t>MBTI</a:t>
            </a:r>
            <a:r>
              <a:rPr lang="zh-CN" altLang="en-US" kern="100" spc="0" dirty="0">
                <a:solidFill>
                  <a:srgbClr val="424142">
                    <a:alpha val="100000"/>
                  </a:srgbClr>
                </a:solidFill>
                <a:latin typeface="Noto Sans S Chinese Regular" panose="02010800040101010101" pitchFamily="1" charset="-122"/>
                <a:ea typeface="Noto Sans S Chinese Regular" panose="02010800040101010101" pitchFamily="1" charset="-122"/>
              </a:rPr>
              <a:t>是</a:t>
            </a:r>
            <a:r>
              <a:rPr lang="en-US" sz="2400" b="1" kern="100" spc="0" dirty="0" err="1">
                <a:solidFill>
                  <a:srgbClr val="424142">
                    <a:alpha val="100000"/>
                  </a:srgbClr>
                </a:solidFill>
                <a:latin typeface="Noto Sans S Chinese Regular" panose="02010800040101010101" pitchFamily="1" charset="-122"/>
                <a:ea typeface="Noto Sans S Chinese Regular" panose="02010800040101010101" pitchFamily="1" charset="-122"/>
              </a:rPr>
              <a:t>帮助</a:t>
            </a:r>
            <a:r>
              <a:rPr lang="en-US" kern="100" spc="0" dirty="0" err="1">
                <a:solidFill>
                  <a:srgbClr val="424142">
                    <a:alpha val="100000"/>
                  </a:srgbClr>
                </a:solidFill>
                <a:latin typeface="Noto Sans S Chinese Regular" panose="02010800040101010101" pitchFamily="1" charset="-122"/>
                <a:ea typeface="Noto Sans S Chinese Regular" panose="02010800040101010101" pitchFamily="1" charset="-122"/>
              </a:rPr>
              <a:t>or</a:t>
            </a:r>
            <a:r>
              <a:rPr lang="zh-CN" altLang="en-US" sz="2400" b="1" kern="100" spc="0" dirty="0">
                <a:solidFill>
                  <a:srgbClr val="424142">
                    <a:alpha val="100000"/>
                  </a:srgbClr>
                </a:solidFill>
                <a:latin typeface="Noto Sans S Chinese Regular" panose="02010800040101010101" pitchFamily="1" charset="-122"/>
                <a:ea typeface="Noto Sans S Chinese Regular" panose="02010800040101010101" pitchFamily="1" charset="-122"/>
              </a:rPr>
              <a:t>限制</a:t>
            </a:r>
            <a:r>
              <a:rPr lang="en-US" kern="100" spc="0" dirty="0" err="1">
                <a:solidFill>
                  <a:srgbClr val="424142">
                    <a:alpha val="100000"/>
                  </a:srgbClr>
                </a:solidFill>
                <a:latin typeface="Noto Sans S Chinese Regular" panose="02010800040101010101" pitchFamily="1" charset="-122"/>
                <a:ea typeface="Noto Sans S Chinese Regular" panose="02010800040101010101" pitchFamily="1" charset="-122"/>
              </a:rPr>
              <a:t>我们认识自我</a:t>
            </a:r>
            <a:r>
              <a:rPr lang="zh-CN" altLang="en-US" kern="100" spc="0" dirty="0">
                <a:solidFill>
                  <a:srgbClr val="424142">
                    <a:alpha val="100000"/>
                  </a:srgbClr>
                </a:solidFill>
                <a:latin typeface="Noto Sans S Chinese Regular" panose="02010800040101010101" pitchFamily="1" charset="-122"/>
                <a:ea typeface="Noto Sans S Chinese Regular" panose="02010800040101010101" pitchFamily="1" charset="-122"/>
              </a:rPr>
              <a:t>？</a:t>
            </a:r>
          </a:p>
        </p:txBody>
      </p:sp>
      <p:sp>
        <p:nvSpPr>
          <p:cNvPr id="1048590" name="文本框 19"/>
          <p:cNvSpPr txBox="1"/>
          <p:nvPr>
            <p:custDataLst>
              <p:tags r:id="rId14"/>
            </p:custDataLst>
          </p:nvPr>
        </p:nvSpPr>
        <p:spPr>
          <a:xfrm>
            <a:off x="3617159" y="3910501"/>
            <a:ext cx="523075" cy="376614"/>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4</a:t>
            </a:r>
          </a:p>
        </p:txBody>
      </p:sp>
      <p:sp>
        <p:nvSpPr>
          <p:cNvPr id="1048591" name="文本框 20"/>
          <p:cNvSpPr txBox="1"/>
          <p:nvPr>
            <p:custDataLst>
              <p:tags r:id="rId15"/>
            </p:custDataLst>
          </p:nvPr>
        </p:nvSpPr>
        <p:spPr>
          <a:xfrm>
            <a:off x="4593678" y="2465384"/>
            <a:ext cx="3640506"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谈谈你对MBTI的理解</a:t>
            </a:r>
            <a:r>
              <a:rPr lang="zh-CN" alt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a:t>
            </a:r>
          </a:p>
        </p:txBody>
      </p:sp>
      <p:sp>
        <p:nvSpPr>
          <p:cNvPr id="1048592" name="文本框 22"/>
          <p:cNvSpPr txBox="1"/>
          <p:nvPr>
            <p:custDataLst>
              <p:tags r:id="rId16"/>
            </p:custDataLst>
          </p:nvPr>
        </p:nvSpPr>
        <p:spPr>
          <a:xfrm>
            <a:off x="4154464" y="1798175"/>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3</a:t>
            </a:r>
          </a:p>
        </p:txBody>
      </p:sp>
      <p:sp>
        <p:nvSpPr>
          <p:cNvPr id="1048593" name="文本框 23"/>
          <p:cNvSpPr txBox="1"/>
          <p:nvPr>
            <p:custDataLst>
              <p:tags r:id="rId17"/>
            </p:custDataLst>
          </p:nvPr>
        </p:nvSpPr>
        <p:spPr>
          <a:xfrm>
            <a:off x="4089456" y="3585732"/>
            <a:ext cx="3640506" cy="1241837"/>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zh-CN" altLang="en-US" sz="2800" kern="100" spc="0">
                <a:solidFill>
                  <a:srgbClr val="1A4B59">
                    <a:alpha val="100000"/>
                  </a:srgbClr>
                </a:solidFill>
                <a:latin typeface="创客贴稚圆体 Bold Bold" panose="02010800040101010101" pitchFamily="1" charset="-122"/>
                <a:ea typeface="创客贴稚圆体 Bold Bold" panose="02010800040101010101" pitchFamily="1" charset="-122"/>
              </a:rPr>
              <a:t>总结</a:t>
            </a:r>
            <a:endParaRPr lang="en-US" sz="2400" kern="100" spc="0">
              <a:solidFill>
                <a:srgbClr val="424142">
                  <a:alpha val="100000"/>
                </a:srgbClr>
              </a:solidFill>
              <a:latin typeface="Noto Sans S Chinese Regular" panose="02010800040101010101" pitchFamily="1" charset="-122"/>
              <a:ea typeface="Noto Sans S Chinese Regular" panose="02010800040101010101" pitchFamily="1" charset="-122"/>
            </a:endParaRPr>
          </a:p>
        </p:txBody>
      </p:sp>
      <p:pic>
        <p:nvPicPr>
          <p:cNvPr id="2097173" name="图片 25"/>
          <p:cNvPicPr>
            <a:picLocks noChangeAspect="1"/>
          </p:cNvPicPr>
          <p:nvPr/>
        </p:nvPicPr>
        <p:blipFill>
          <a:blip r:embed="rId26">
            <a:alphaModFix/>
          </a:blip>
          <a:stretch>
            <a:fillRect/>
          </a:stretch>
        </p:blipFill>
        <p:spPr>
          <a:xfrm>
            <a:off x="382235" y="3225435"/>
            <a:ext cx="1592035" cy="1592035"/>
          </a:xfrm>
          <a:prstGeom prst="rect">
            <a:avLst/>
          </a:prstGeom>
        </p:spPr>
      </p:pic>
      <p:sp>
        <p:nvSpPr>
          <p:cNvPr id="1048594" name="文本框 27"/>
          <p:cNvSpPr txBox="1"/>
          <p:nvPr>
            <p:custDataLst>
              <p:tags r:id="rId18"/>
            </p:custDataLst>
          </p:nvPr>
        </p:nvSpPr>
        <p:spPr>
          <a:xfrm>
            <a:off x="4251206" y="1154555"/>
            <a:ext cx="2847975" cy="378372"/>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altLang="zh-CN" sz="2800" kern="100" spc="0" dirty="0">
                <a:solidFill>
                  <a:srgbClr val="1A4B59">
                    <a:alpha val="100000"/>
                  </a:srgbClr>
                </a:solidFill>
                <a:latin typeface="创客贴稚圆体" charset="-122"/>
                <a:ea typeface="创客贴稚圆体" charset="-122"/>
              </a:rPr>
              <a:t>What is MBTI?</a:t>
            </a:r>
            <a:endParaRPr lang="zh-CN" altLang="en-US" sz="2800" kern="100" spc="0" dirty="0">
              <a:solidFill>
                <a:srgbClr val="1A4B59">
                  <a:alpha val="100000"/>
                </a:srgbClr>
              </a:solidFill>
              <a:latin typeface="创客贴稚圆体" charset="-122"/>
              <a:ea typeface="创客贴稚圆体" charset="-122"/>
            </a:endParaRPr>
          </a:p>
        </p:txBody>
      </p:sp>
      <p:sp>
        <p:nvSpPr>
          <p:cNvPr id="1048595" name="文本框 29"/>
          <p:cNvSpPr txBox="1"/>
          <p:nvPr>
            <p:custDataLst>
              <p:tags r:id="rId19"/>
            </p:custDataLst>
          </p:nvPr>
        </p:nvSpPr>
        <p:spPr>
          <a:xfrm>
            <a:off x="4211836" y="4371906"/>
            <a:ext cx="2297261" cy="16002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1400" kern="100" spc="0">
                <a:solidFill>
                  <a:srgbClr val="424142">
                    <a:alpha val="100000"/>
                  </a:srgbClr>
                </a:solidFill>
                <a:latin typeface="Noto Sans S Chinese Regular" panose="02010800040101010101" pitchFamily="1" charset="-122"/>
                <a:ea typeface="Noto Sans S Chinese Regular" panose="02010800040101010101" pitchFamily="1" charset="-122"/>
              </a:rPr>
              <a:t>Summary</a:t>
            </a:r>
          </a:p>
        </p:txBody>
      </p:sp>
      <p:sp>
        <p:nvSpPr>
          <p:cNvPr id="1048596" name="文本框 30"/>
          <p:cNvSpPr txBox="1"/>
          <p:nvPr>
            <p:custDataLst>
              <p:tags r:id="rId20"/>
            </p:custDataLst>
          </p:nvPr>
        </p:nvSpPr>
        <p:spPr>
          <a:xfrm>
            <a:off x="4427546" y="3371737"/>
            <a:ext cx="3640506"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zh-CN" altLang="en-US" sz="1600" kern="100" spc="0">
                <a:solidFill>
                  <a:srgbClr val="424142">
                    <a:alpha val="100000"/>
                  </a:srgbClr>
                </a:solidFill>
                <a:latin typeface="Noto Sans S Chinese Regular" panose="02010800040101010101" pitchFamily="1" charset="-122"/>
                <a:ea typeface="Noto Sans S Chinese Regular" panose="02010800040101010101" pitchFamily="1" charset="-122"/>
              </a:rPr>
              <a:t>对人的认识只能通过</a:t>
            </a:r>
            <a:r>
              <a:rPr lang="en-US" altLang="zh-CN" sz="1600" kern="100" spc="0">
                <a:solidFill>
                  <a:srgbClr val="424142">
                    <a:alpha val="100000"/>
                  </a:srgbClr>
                </a:solidFill>
                <a:latin typeface="Noto Sans S Chinese Regular" panose="02010800040101010101" pitchFamily="1" charset="-122"/>
                <a:ea typeface="Noto Sans S Chinese Regular" panose="02010800040101010101" pitchFamily="1" charset="-122"/>
              </a:rPr>
              <a:t>MBTI</a:t>
            </a:r>
            <a:r>
              <a:rPr lang="zh-CN" altLang="en-US" sz="1600" kern="100" spc="0">
                <a:solidFill>
                  <a:srgbClr val="424142">
                    <a:alpha val="100000"/>
                  </a:srgbClr>
                </a:solidFill>
                <a:latin typeface="Noto Sans S Chinese Regular" panose="02010800040101010101" pitchFamily="1" charset="-122"/>
                <a:ea typeface="Noto Sans S Chinese Regular" panose="02010800040101010101" pitchFamily="1" charset="-122"/>
              </a:rPr>
              <a:t>吗🤔</a:t>
            </a:r>
          </a:p>
        </p:txBody>
      </p:sp>
      <p:pic>
        <p:nvPicPr>
          <p:cNvPr id="2097174" name="图片 31"/>
          <p:cNvPicPr>
            <a:picLocks noChangeAspect="1"/>
          </p:cNvPicPr>
          <p:nvPr/>
        </p:nvPicPr>
        <p:blipFill>
          <a:blip r:embed="rId27"/>
          <a:stretch>
            <a:fillRect/>
          </a:stretch>
        </p:blipFill>
        <p:spPr>
          <a:xfrm>
            <a:off x="7236460" y="3371850"/>
            <a:ext cx="1743075" cy="1743075"/>
          </a:xfrm>
          <a:prstGeom prst="ellipse">
            <a:avLst/>
          </a:prstGeom>
        </p:spPr>
      </p:pic>
      <p:pic>
        <p:nvPicPr>
          <p:cNvPr id="2097175" name="图片 35"/>
          <p:cNvPicPr>
            <a:picLocks noChangeAspect="1"/>
          </p:cNvPicPr>
          <p:nvPr/>
        </p:nvPicPr>
        <p:blipFill>
          <a:blip r:embed="rId28"/>
          <a:stretch>
            <a:fillRect/>
          </a:stretch>
        </p:blipFill>
        <p:spPr>
          <a:xfrm>
            <a:off x="7308215" y="147955"/>
            <a:ext cx="1737360" cy="2317115"/>
          </a:xfrm>
          <a:prstGeom prst="rect">
            <a:avLst/>
          </a:prstGeom>
        </p:spPr>
      </p:pic>
      <p:pic>
        <p:nvPicPr>
          <p:cNvPr id="2097176" name="图片 36"/>
          <p:cNvPicPr>
            <a:picLocks noChangeAspect="1"/>
          </p:cNvPicPr>
          <p:nvPr/>
        </p:nvPicPr>
        <p:blipFill>
          <a:blip r:embed="rId27"/>
          <a:stretch>
            <a:fillRect/>
          </a:stretch>
        </p:blipFill>
        <p:spPr>
          <a:xfrm>
            <a:off x="107950" y="123190"/>
            <a:ext cx="1477645" cy="1477645"/>
          </a:xfrm>
          <a:prstGeom prst="ellipse">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A735E-0691-DD3C-7236-55F1E935BCF2}"/>
            </a:ext>
          </a:extLst>
        </p:cNvPr>
        <p:cNvGrpSpPr/>
        <p:nvPr/>
      </p:nvGrpSpPr>
      <p:grpSpPr>
        <a:xfrm>
          <a:off x="0" y="0"/>
          <a:ext cx="0" cy="0"/>
          <a:chOff x="0" y="0"/>
          <a:chExt cx="0" cy="0"/>
        </a:xfrm>
      </p:grpSpPr>
      <p:grpSp>
        <p:nvGrpSpPr>
          <p:cNvPr id="53" name="组合 52">
            <a:extLst>
              <a:ext uri="{FF2B5EF4-FFF2-40B4-BE49-F238E27FC236}">
                <a16:creationId xmlns:a16="http://schemas.microsoft.com/office/drawing/2014/main" id="{A98D9763-3210-867D-B6B6-1D2A97676E42}"/>
              </a:ext>
            </a:extLst>
          </p:cNvPr>
          <p:cNvGrpSpPr/>
          <p:nvPr/>
        </p:nvGrpSpPr>
        <p:grpSpPr>
          <a:xfrm rot="2771804">
            <a:off x="-2557167" y="-192815"/>
            <a:ext cx="5719468" cy="4695594"/>
            <a:chOff x="940091" y="346924"/>
            <a:chExt cx="3771782" cy="3096575"/>
          </a:xfrm>
        </p:grpSpPr>
        <p:sp>
          <p:nvSpPr>
            <p:cNvPr id="52" name="任意多边形: 形状 51">
              <a:extLst>
                <a:ext uri="{FF2B5EF4-FFF2-40B4-BE49-F238E27FC236}">
                  <a16:creationId xmlns:a16="http://schemas.microsoft.com/office/drawing/2014/main" id="{E009FBA8-37C7-A8A3-8F0A-5570B5DABCFA}"/>
                </a:ext>
              </a:extLst>
            </p:cNvPr>
            <p:cNvSpPr>
              <a:spLocks noChangeAspect="1"/>
            </p:cNvSpPr>
            <p:nvPr/>
          </p:nvSpPr>
          <p:spPr bwMode="auto">
            <a:xfrm rot="18405544">
              <a:off x="979123" y="969264"/>
              <a:ext cx="2120290" cy="875610"/>
            </a:xfrm>
            <a:custGeom>
              <a:avLst/>
              <a:gdLst>
                <a:gd name="connsiteX0" fmla="*/ 2120290 w 2120290"/>
                <a:gd name="connsiteY0" fmla="*/ 606174 h 875610"/>
                <a:gd name="connsiteX1" fmla="*/ 2120290 w 2120290"/>
                <a:gd name="connsiteY1" fmla="*/ 612307 h 875610"/>
                <a:gd name="connsiteX2" fmla="*/ 1767801 w 2120290"/>
                <a:gd name="connsiteY2" fmla="*/ 875610 h 875610"/>
                <a:gd name="connsiteX3" fmla="*/ 1697781 w 2120290"/>
                <a:gd name="connsiteY3" fmla="*/ 791119 h 875610"/>
                <a:gd name="connsiteX4" fmla="*/ 354003 w 2120290"/>
                <a:gd name="connsiteY4" fmla="*/ 596497 h 875610"/>
                <a:gd name="connsiteX5" fmla="*/ 263167 w 2120290"/>
                <a:gd name="connsiteY5" fmla="*/ 657464 h 875610"/>
                <a:gd name="connsiteX6" fmla="*/ 0 w 2120290"/>
                <a:gd name="connsiteY6" fmla="*/ 305157 h 875610"/>
                <a:gd name="connsiteX7" fmla="*/ 0 w 2120290"/>
                <a:gd name="connsiteY7" fmla="*/ 300554 h 875610"/>
                <a:gd name="connsiteX8" fmla="*/ 126812 w 2120290"/>
                <a:gd name="connsiteY8" fmla="*/ 215441 h 875610"/>
                <a:gd name="connsiteX9" fmla="*/ 2024215 w 2120290"/>
                <a:gd name="connsiteY9" fmla="*/ 490244 h 87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20290" h="875610">
                  <a:moveTo>
                    <a:pt x="2120290" y="606174"/>
                  </a:moveTo>
                  <a:lnTo>
                    <a:pt x="2120290" y="612307"/>
                  </a:lnTo>
                  <a:lnTo>
                    <a:pt x="1767801" y="875610"/>
                  </a:lnTo>
                  <a:lnTo>
                    <a:pt x="1697781" y="791119"/>
                  </a:lnTo>
                  <a:cubicBezTo>
                    <a:pt x="1353634" y="416309"/>
                    <a:pt x="790348" y="334728"/>
                    <a:pt x="354003" y="596497"/>
                  </a:cubicBezTo>
                  <a:lnTo>
                    <a:pt x="263167" y="657464"/>
                  </a:lnTo>
                  <a:lnTo>
                    <a:pt x="0" y="305157"/>
                  </a:lnTo>
                  <a:lnTo>
                    <a:pt x="0" y="300554"/>
                  </a:lnTo>
                  <a:lnTo>
                    <a:pt x="126812" y="215441"/>
                  </a:lnTo>
                  <a:cubicBezTo>
                    <a:pt x="742927" y="-154177"/>
                    <a:pt x="1538282" y="-38984"/>
                    <a:pt x="2024215" y="490244"/>
                  </a:cubicBezTo>
                  <a:close/>
                </a:path>
              </a:pathLst>
            </a:custGeom>
            <a:blipFill dpi="0" rotWithShape="1">
              <a:blip r:embed="rId2" cstate="email"/>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400" eaLnBrk="0" fontAlgn="base" hangingPunct="0">
                <a:spcBef>
                  <a:spcPct val="0"/>
                </a:spcBef>
                <a:spcAft>
                  <a:spcPct val="0"/>
                </a:spcAft>
                <a:defRPr/>
              </a:pPr>
              <a:endParaRPr lang="zh-CN" altLang="en-US" sz="1735">
                <a:solidFill>
                  <a:prstClr val="white"/>
                </a:solidFill>
                <a:latin typeface="Calibri" panose="020F0502020204030204"/>
                <a:ea typeface="宋体" panose="02010600030101010101" pitchFamily="2" charset="-122"/>
              </a:endParaRPr>
            </a:p>
          </p:txBody>
        </p:sp>
        <p:pic>
          <p:nvPicPr>
            <p:cNvPr id="46" name="图片 45">
              <a:extLst>
                <a:ext uri="{FF2B5EF4-FFF2-40B4-BE49-F238E27FC236}">
                  <a16:creationId xmlns:a16="http://schemas.microsoft.com/office/drawing/2014/main" id="{14A7D7CD-37C2-76DF-37BC-A64251716A5F}"/>
                </a:ext>
              </a:extLst>
            </p:cNvPr>
            <p:cNvPicPr>
              <a:picLocks noChangeAspect="1"/>
            </p:cNvPicPr>
            <p:nvPr/>
          </p:nvPicPr>
          <p:blipFill>
            <a:blip r:embed="rId3" cstate="email"/>
            <a:srcRect l="59" t="35226" r="3841" b="3208"/>
            <a:stretch>
              <a:fillRect/>
            </a:stretch>
          </p:blipFill>
          <p:spPr bwMode="auto">
            <a:xfrm rot="13432278">
              <a:off x="940091" y="2644991"/>
              <a:ext cx="2147483" cy="773845"/>
            </a:xfrm>
            <a:custGeom>
              <a:avLst/>
              <a:gdLst>
                <a:gd name="connsiteX0" fmla="*/ 2147483 w 2147483"/>
                <a:gd name="connsiteY0" fmla="*/ 466210 h 773845"/>
                <a:gd name="connsiteX1" fmla="*/ 1827482 w 2147483"/>
                <a:gd name="connsiteY1" fmla="*/ 773845 h 773845"/>
                <a:gd name="connsiteX2" fmla="*/ 1747538 w 2147483"/>
                <a:gd name="connsiteY2" fmla="*/ 698674 h 773845"/>
                <a:gd name="connsiteX3" fmla="*/ 390004 w 2147483"/>
                <a:gd name="connsiteY3" fmla="*/ 671928 h 773845"/>
                <a:gd name="connsiteX4" fmla="*/ 307415 w 2147483"/>
                <a:gd name="connsiteY4" fmla="*/ 743672 h 773845"/>
                <a:gd name="connsiteX5" fmla="*/ 0 w 2147483"/>
                <a:gd name="connsiteY5" fmla="*/ 423900 h 773845"/>
                <a:gd name="connsiteX6" fmla="*/ 2147483 w 2147483"/>
                <a:gd name="connsiteY6" fmla="*/ 466210 h 77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47483" h="773845">
                  <a:moveTo>
                    <a:pt x="2147483" y="466210"/>
                  </a:moveTo>
                  <a:lnTo>
                    <a:pt x="1827482" y="773845"/>
                  </a:lnTo>
                  <a:lnTo>
                    <a:pt x="1747538" y="698674"/>
                  </a:lnTo>
                  <a:cubicBezTo>
                    <a:pt x="1359633" y="369358"/>
                    <a:pt x="790581" y="358147"/>
                    <a:pt x="390004" y="671928"/>
                  </a:cubicBezTo>
                  <a:lnTo>
                    <a:pt x="307415" y="743672"/>
                  </a:lnTo>
                  <a:lnTo>
                    <a:pt x="0" y="423900"/>
                  </a:lnTo>
                  <a:cubicBezTo>
                    <a:pt x="604695" y="-157427"/>
                    <a:pt x="1566155" y="-138484"/>
                    <a:pt x="2147483" y="466210"/>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任意多边形: 形状 44">
              <a:extLst>
                <a:ext uri="{FF2B5EF4-FFF2-40B4-BE49-F238E27FC236}">
                  <a16:creationId xmlns:a16="http://schemas.microsoft.com/office/drawing/2014/main" id="{4F38ACBB-CD40-8FFC-AFFC-F92B0E69D4BB}"/>
                </a:ext>
              </a:extLst>
            </p:cNvPr>
            <p:cNvSpPr>
              <a:spLocks noChangeAspect="1"/>
            </p:cNvSpPr>
            <p:nvPr/>
          </p:nvSpPr>
          <p:spPr>
            <a:xfrm rot="3227539">
              <a:off x="3210440" y="1942065"/>
              <a:ext cx="883750" cy="2119117"/>
            </a:xfrm>
            <a:custGeom>
              <a:avLst/>
              <a:gdLst>
                <a:gd name="connsiteX0" fmla="*/ 0 w 883750"/>
                <a:gd name="connsiteY0" fmla="*/ 357911 h 2119117"/>
                <a:gd name="connsiteX1" fmla="*/ 262025 w 883750"/>
                <a:gd name="connsiteY1" fmla="*/ 0 h 2119117"/>
                <a:gd name="connsiteX2" fmla="*/ 675743 w 883750"/>
                <a:gd name="connsiteY2" fmla="*/ 1992728 h 2119117"/>
                <a:gd name="connsiteX3" fmla="*/ 592667 w 883750"/>
                <a:gd name="connsiteY3" fmla="*/ 2119117 h 2119117"/>
                <a:gd name="connsiteX4" fmla="*/ 585501 w 883750"/>
                <a:gd name="connsiteY4" fmla="*/ 2119117 h 2119117"/>
                <a:gd name="connsiteX5" fmla="*/ 232171 w 883750"/>
                <a:gd name="connsiteY5" fmla="*/ 1860446 h 2119117"/>
                <a:gd name="connsiteX6" fmla="*/ 292445 w 883750"/>
                <a:gd name="connsiteY6" fmla="*/ 1768746 h 2119117"/>
                <a:gd name="connsiteX7" fmla="*/ 84901 w 883750"/>
                <a:gd name="connsiteY7" fmla="*/ 426904 h 211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3750" h="2119117">
                  <a:moveTo>
                    <a:pt x="0" y="357911"/>
                  </a:moveTo>
                  <a:lnTo>
                    <a:pt x="262025" y="0"/>
                  </a:lnTo>
                  <a:cubicBezTo>
                    <a:pt x="896542" y="464527"/>
                    <a:pt x="1065390" y="1328825"/>
                    <a:pt x="675743" y="1992728"/>
                  </a:cubicBezTo>
                  <a:lnTo>
                    <a:pt x="592667" y="2119117"/>
                  </a:lnTo>
                  <a:lnTo>
                    <a:pt x="585501" y="2119117"/>
                  </a:lnTo>
                  <a:lnTo>
                    <a:pt x="232171" y="1860446"/>
                  </a:lnTo>
                  <a:lnTo>
                    <a:pt x="292445" y="1768746"/>
                  </a:lnTo>
                  <a:cubicBezTo>
                    <a:pt x="550003" y="1329904"/>
                    <a:pt x="463005" y="767430"/>
                    <a:pt x="84901" y="426904"/>
                  </a:cubicBezTo>
                  <a:close/>
                </a:path>
              </a:pathLst>
            </a:custGeom>
            <a:blipFill>
              <a:blip r:embed="rId4" cstate="email"/>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400" eaLnBrk="0" fontAlgn="base" hangingPunct="0">
                <a:spcBef>
                  <a:spcPct val="0"/>
                </a:spcBef>
                <a:spcAft>
                  <a:spcPct val="0"/>
                </a:spcAft>
                <a:defRPr/>
              </a:pPr>
              <a:endParaRPr lang="zh-CN" altLang="en-US" sz="1735" dirty="0">
                <a:solidFill>
                  <a:prstClr val="white"/>
                </a:solidFill>
                <a:latin typeface="Calibri" panose="020F0502020204030204"/>
                <a:ea typeface="宋体" panose="02010600030101010101" pitchFamily="2" charset="-122"/>
              </a:endParaRPr>
            </a:p>
          </p:txBody>
        </p:sp>
        <p:pic>
          <p:nvPicPr>
            <p:cNvPr id="44" name="图片 43">
              <a:extLst>
                <a:ext uri="{FF2B5EF4-FFF2-40B4-BE49-F238E27FC236}">
                  <a16:creationId xmlns:a16="http://schemas.microsoft.com/office/drawing/2014/main" id="{7AF87AED-62DD-6136-FB28-4544E26B3DFC}"/>
                </a:ext>
              </a:extLst>
            </p:cNvPr>
            <p:cNvPicPr>
              <a:picLocks noChangeAspect="1"/>
            </p:cNvPicPr>
            <p:nvPr/>
          </p:nvPicPr>
          <p:blipFill>
            <a:blip r:embed="rId5"/>
            <a:srcRect l="17379" t="6116" r="31845" b="3616"/>
            <a:stretch>
              <a:fillRect/>
            </a:stretch>
          </p:blipFill>
          <p:spPr bwMode="auto">
            <a:xfrm>
              <a:off x="2882220" y="666291"/>
              <a:ext cx="1518794" cy="1518794"/>
            </a:xfrm>
            <a:custGeom>
              <a:avLst/>
              <a:gdLst>
                <a:gd name="connsiteX0" fmla="*/ 0 w 1518794"/>
                <a:gd name="connsiteY0" fmla="*/ 0 h 1518794"/>
                <a:gd name="connsiteX1" fmla="*/ 1518794 w 1518794"/>
                <a:gd name="connsiteY1" fmla="*/ 1518794 h 1518794"/>
                <a:gd name="connsiteX2" fmla="*/ 1074902 w 1518794"/>
                <a:gd name="connsiteY2" fmla="*/ 1518794 h 1518794"/>
                <a:gd name="connsiteX3" fmla="*/ 1069368 w 1518794"/>
                <a:gd name="connsiteY3" fmla="*/ 1409199 h 1518794"/>
                <a:gd name="connsiteX4" fmla="*/ 109260 w 1518794"/>
                <a:gd name="connsiteY4" fmla="*/ 449091 h 1518794"/>
                <a:gd name="connsiteX5" fmla="*/ 0 w 1518794"/>
                <a:gd name="connsiteY5" fmla="*/ 443574 h 1518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18794" h="1518794">
                  <a:moveTo>
                    <a:pt x="0" y="0"/>
                  </a:moveTo>
                  <a:cubicBezTo>
                    <a:pt x="838807" y="0"/>
                    <a:pt x="1518794" y="679987"/>
                    <a:pt x="1518794" y="1518794"/>
                  </a:cubicBezTo>
                  <a:lnTo>
                    <a:pt x="1074902" y="1518794"/>
                  </a:lnTo>
                  <a:lnTo>
                    <a:pt x="1069368" y="1409199"/>
                  </a:lnTo>
                  <a:cubicBezTo>
                    <a:pt x="1017957" y="902962"/>
                    <a:pt x="615498" y="500503"/>
                    <a:pt x="109260" y="449091"/>
                  </a:cubicBezTo>
                  <a:lnTo>
                    <a:pt x="0" y="443574"/>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26" name="Picture 2">
            <a:extLst>
              <a:ext uri="{FF2B5EF4-FFF2-40B4-BE49-F238E27FC236}">
                <a16:creationId xmlns:a16="http://schemas.microsoft.com/office/drawing/2014/main" id="{18BC3598-394D-F100-577E-7FF82D7BFDBC}"/>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374744" y="-11005"/>
            <a:ext cx="2780501" cy="1875275"/>
          </a:xfrm>
          <a:prstGeom prst="rect">
            <a:avLst/>
          </a:prstGeom>
          <a:noFill/>
          <a:extLst>
            <a:ext uri="{909E8E84-426E-40DD-AFC4-6F175D3DCCD1}">
              <a14:hiddenFill xmlns:a14="http://schemas.microsoft.com/office/drawing/2010/main">
                <a:solidFill>
                  <a:srgbClr val="FFFFFF"/>
                </a:solidFill>
              </a14:hiddenFill>
            </a:ext>
          </a:extLst>
        </p:spPr>
      </p:pic>
      <p:grpSp>
        <p:nvGrpSpPr>
          <p:cNvPr id="2097153" name="组合 2097152">
            <a:extLst>
              <a:ext uri="{FF2B5EF4-FFF2-40B4-BE49-F238E27FC236}">
                <a16:creationId xmlns:a16="http://schemas.microsoft.com/office/drawing/2014/main" id="{17EACA8F-BD2C-9A37-7433-77084F883ADB}"/>
              </a:ext>
            </a:extLst>
          </p:cNvPr>
          <p:cNvGrpSpPr/>
          <p:nvPr/>
        </p:nvGrpSpPr>
        <p:grpSpPr>
          <a:xfrm>
            <a:off x="5405253" y="555526"/>
            <a:ext cx="1110963" cy="792088"/>
            <a:chOff x="5755605" y="195486"/>
            <a:chExt cx="1110963" cy="792088"/>
          </a:xfrm>
        </p:grpSpPr>
        <p:pic>
          <p:nvPicPr>
            <p:cNvPr id="61" name="图片 60">
              <a:extLst>
                <a:ext uri="{FF2B5EF4-FFF2-40B4-BE49-F238E27FC236}">
                  <a16:creationId xmlns:a16="http://schemas.microsoft.com/office/drawing/2014/main" id="{13FF48ED-CD86-2372-341F-A663691F516B}"/>
                </a:ext>
              </a:extLst>
            </p:cNvPr>
            <p:cNvPicPr>
              <a:picLocks noChangeAspect="1"/>
            </p:cNvPicPr>
            <p:nvPr/>
          </p:nvPicPr>
          <p:blipFill>
            <a:blip r:embed="rId8" cstate="print">
              <a:extLst>
                <a:ext uri="{28A0092B-C50C-407E-A947-70E740481C1C}">
                  <a14:useLocalDpi xmlns:a14="http://schemas.microsoft.com/office/drawing/2010/main" val="0"/>
                </a:ext>
              </a:extLst>
            </a:blip>
            <a:srcRect l="36004" t="37458" r="39840" b="47092"/>
            <a:stretch/>
          </p:blipFill>
          <p:spPr>
            <a:xfrm>
              <a:off x="5940152" y="195486"/>
              <a:ext cx="926416" cy="792088"/>
            </a:xfrm>
            <a:prstGeom prst="rect">
              <a:avLst/>
            </a:prstGeom>
          </p:spPr>
        </p:pic>
        <p:sp>
          <p:nvSpPr>
            <p:cNvPr id="2097152" name="矩形 2097151">
              <a:extLst>
                <a:ext uri="{FF2B5EF4-FFF2-40B4-BE49-F238E27FC236}">
                  <a16:creationId xmlns:a16="http://schemas.microsoft.com/office/drawing/2014/main" id="{1DA12AAD-17A1-AC01-01FC-1DCAE6E8737D}"/>
                </a:ext>
              </a:extLst>
            </p:cNvPr>
            <p:cNvSpPr/>
            <p:nvPr/>
          </p:nvSpPr>
          <p:spPr>
            <a:xfrm>
              <a:off x="5755605" y="555526"/>
              <a:ext cx="216024" cy="4320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097158" name="组合 2097157">
            <a:extLst>
              <a:ext uri="{FF2B5EF4-FFF2-40B4-BE49-F238E27FC236}">
                <a16:creationId xmlns:a16="http://schemas.microsoft.com/office/drawing/2014/main" id="{F45F0927-79A8-F203-3E39-A34A94B628EA}"/>
              </a:ext>
            </a:extLst>
          </p:cNvPr>
          <p:cNvGrpSpPr/>
          <p:nvPr/>
        </p:nvGrpSpPr>
        <p:grpSpPr>
          <a:xfrm>
            <a:off x="7129325" y="467150"/>
            <a:ext cx="1130795" cy="1058967"/>
            <a:chOff x="6300192" y="2787774"/>
            <a:chExt cx="914771" cy="821791"/>
          </a:xfrm>
        </p:grpSpPr>
        <p:pic>
          <p:nvPicPr>
            <p:cNvPr id="60" name="图片 59">
              <a:extLst>
                <a:ext uri="{FF2B5EF4-FFF2-40B4-BE49-F238E27FC236}">
                  <a16:creationId xmlns:a16="http://schemas.microsoft.com/office/drawing/2014/main" id="{1C19B786-106B-96DD-5852-40BA2BB4EFA4}"/>
                </a:ext>
              </a:extLst>
            </p:cNvPr>
            <p:cNvPicPr>
              <a:picLocks noChangeAspect="1"/>
            </p:cNvPicPr>
            <p:nvPr/>
          </p:nvPicPr>
          <p:blipFill>
            <a:blip r:embed="rId9" cstate="print">
              <a:extLst>
                <a:ext uri="{28A0092B-C50C-407E-A947-70E740481C1C}">
                  <a14:useLocalDpi xmlns:a14="http://schemas.microsoft.com/office/drawing/2010/main" val="0"/>
                </a:ext>
              </a:extLst>
            </a:blip>
            <a:srcRect l="70605" t="51504" r="4360" b="27426"/>
            <a:stretch/>
          </p:blipFill>
          <p:spPr>
            <a:xfrm>
              <a:off x="6588224" y="2787774"/>
              <a:ext cx="576064" cy="648072"/>
            </a:xfrm>
            <a:prstGeom prst="rect">
              <a:avLst/>
            </a:prstGeom>
          </p:spPr>
        </p:pic>
        <p:sp>
          <p:nvSpPr>
            <p:cNvPr id="2097154" name="矩形 2097153">
              <a:extLst>
                <a:ext uri="{FF2B5EF4-FFF2-40B4-BE49-F238E27FC236}">
                  <a16:creationId xmlns:a16="http://schemas.microsoft.com/office/drawing/2014/main" id="{3C569BC2-757E-8C1A-A1F3-F65D83E405B3}"/>
                </a:ext>
              </a:extLst>
            </p:cNvPr>
            <p:cNvSpPr/>
            <p:nvPr/>
          </p:nvSpPr>
          <p:spPr>
            <a:xfrm>
              <a:off x="6434782" y="2787774"/>
              <a:ext cx="216024" cy="7920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7155" name="矩形 2097154">
              <a:extLst>
                <a:ext uri="{FF2B5EF4-FFF2-40B4-BE49-F238E27FC236}">
                  <a16:creationId xmlns:a16="http://schemas.microsoft.com/office/drawing/2014/main" id="{90EF104A-BAED-8971-66F0-B95C6C63171A}"/>
                </a:ext>
              </a:extLst>
            </p:cNvPr>
            <p:cNvSpPr/>
            <p:nvPr/>
          </p:nvSpPr>
          <p:spPr>
            <a:xfrm>
              <a:off x="6422875" y="3393541"/>
              <a:ext cx="792088" cy="2160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7156" name="矩形 2097155">
              <a:extLst>
                <a:ext uri="{FF2B5EF4-FFF2-40B4-BE49-F238E27FC236}">
                  <a16:creationId xmlns:a16="http://schemas.microsoft.com/office/drawing/2014/main" id="{FD8CB800-BC92-95CA-B4A8-6B88737FC059}"/>
                </a:ext>
              </a:extLst>
            </p:cNvPr>
            <p:cNvSpPr/>
            <p:nvPr/>
          </p:nvSpPr>
          <p:spPr>
            <a:xfrm>
              <a:off x="7020272" y="3291830"/>
              <a:ext cx="72008" cy="2160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7157" name="矩形 2097156">
              <a:extLst>
                <a:ext uri="{FF2B5EF4-FFF2-40B4-BE49-F238E27FC236}">
                  <a16:creationId xmlns:a16="http://schemas.microsoft.com/office/drawing/2014/main" id="{46863B95-88B6-3E51-F40D-AB8DF65DABD7}"/>
                </a:ext>
              </a:extLst>
            </p:cNvPr>
            <p:cNvSpPr/>
            <p:nvPr/>
          </p:nvSpPr>
          <p:spPr>
            <a:xfrm>
              <a:off x="6300192" y="3291830"/>
              <a:ext cx="432048" cy="14401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97160" name="组合 2097159">
            <a:extLst>
              <a:ext uri="{FF2B5EF4-FFF2-40B4-BE49-F238E27FC236}">
                <a16:creationId xmlns:a16="http://schemas.microsoft.com/office/drawing/2014/main" id="{A27C8A60-B96F-6EC0-B989-F260A7788486}"/>
              </a:ext>
            </a:extLst>
          </p:cNvPr>
          <p:cNvGrpSpPr>
            <a:grpSpLocks noChangeAspect="1"/>
          </p:cNvGrpSpPr>
          <p:nvPr/>
        </p:nvGrpSpPr>
        <p:grpSpPr>
          <a:xfrm>
            <a:off x="8361127" y="397769"/>
            <a:ext cx="900584" cy="1128348"/>
            <a:chOff x="4427984" y="2283717"/>
            <a:chExt cx="533073" cy="667891"/>
          </a:xfrm>
        </p:grpSpPr>
        <p:pic>
          <p:nvPicPr>
            <p:cNvPr id="62" name="图片 61">
              <a:extLst>
                <a:ext uri="{FF2B5EF4-FFF2-40B4-BE49-F238E27FC236}">
                  <a16:creationId xmlns:a16="http://schemas.microsoft.com/office/drawing/2014/main" id="{5A6D847D-C624-50B5-AD04-77C83F476665}"/>
                </a:ext>
              </a:extLst>
            </p:cNvPr>
            <p:cNvPicPr>
              <a:picLocks noChangeAspect="1"/>
            </p:cNvPicPr>
            <p:nvPr/>
          </p:nvPicPr>
          <p:blipFill>
            <a:blip r:embed="rId10" cstate="print">
              <a:extLst>
                <a:ext uri="{28A0092B-C50C-407E-A947-70E740481C1C}">
                  <a14:useLocalDpi xmlns:a14="http://schemas.microsoft.com/office/drawing/2010/main" val="0"/>
                </a:ext>
              </a:extLst>
            </a:blip>
            <a:srcRect l="60367" t="17224" r="23827" b="64047"/>
            <a:stretch/>
          </p:blipFill>
          <p:spPr>
            <a:xfrm>
              <a:off x="4427984" y="2283717"/>
              <a:ext cx="363719" cy="576065"/>
            </a:xfrm>
            <a:prstGeom prst="rect">
              <a:avLst/>
            </a:prstGeom>
          </p:spPr>
        </p:pic>
        <p:sp>
          <p:nvSpPr>
            <p:cNvPr id="2097159" name="矩形 2097158">
              <a:extLst>
                <a:ext uri="{FF2B5EF4-FFF2-40B4-BE49-F238E27FC236}">
                  <a16:creationId xmlns:a16="http://schemas.microsoft.com/office/drawing/2014/main" id="{D73FFD36-2E2C-3AF2-D65B-DDE52CFDB9FF}"/>
                </a:ext>
              </a:extLst>
            </p:cNvPr>
            <p:cNvSpPr/>
            <p:nvPr/>
          </p:nvSpPr>
          <p:spPr>
            <a:xfrm>
              <a:off x="4673025" y="2807592"/>
              <a:ext cx="288032" cy="14401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3" name="图片 62">
            <a:extLst>
              <a:ext uri="{FF2B5EF4-FFF2-40B4-BE49-F238E27FC236}">
                <a16:creationId xmlns:a16="http://schemas.microsoft.com/office/drawing/2014/main" id="{87BFE5BF-3999-CD8B-D24E-9A5E9F528E6D}"/>
              </a:ext>
            </a:extLst>
          </p:cNvPr>
          <p:cNvPicPr>
            <a:picLocks noChangeAspect="1"/>
          </p:cNvPicPr>
          <p:nvPr/>
        </p:nvPicPr>
        <p:blipFill>
          <a:blip r:embed="rId11" cstate="print">
            <a:extLst>
              <a:ext uri="{28A0092B-C50C-407E-A947-70E740481C1C}">
                <a14:useLocalDpi xmlns:a14="http://schemas.microsoft.com/office/drawing/2010/main" val="0"/>
              </a:ext>
            </a:extLst>
          </a:blip>
          <a:srcRect l="20046" t="1584" r="61178" b="81599"/>
          <a:stretch/>
        </p:blipFill>
        <p:spPr>
          <a:xfrm>
            <a:off x="6663293" y="529910"/>
            <a:ext cx="662743" cy="793443"/>
          </a:xfrm>
          <a:prstGeom prst="rect">
            <a:avLst/>
          </a:prstGeom>
        </p:spPr>
      </p:pic>
    </p:spTree>
    <p:extLst>
      <p:ext uri="{BB962C8B-B14F-4D97-AF65-F5344CB8AC3E}">
        <p14:creationId xmlns:p14="http://schemas.microsoft.com/office/powerpoint/2010/main" val="341852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58797-E27D-1500-B642-F4F1B3C637A5}"/>
            </a:ext>
          </a:extLst>
        </p:cNvPr>
        <p:cNvGrpSpPr/>
        <p:nvPr/>
      </p:nvGrpSpPr>
      <p:grpSpPr>
        <a:xfrm>
          <a:off x="0" y="0"/>
          <a:ext cx="0" cy="0"/>
          <a:chOff x="0" y="0"/>
          <a:chExt cx="0" cy="0"/>
        </a:xfrm>
      </p:grpSpPr>
      <p:pic>
        <p:nvPicPr>
          <p:cNvPr id="5" name="图片 15">
            <a:extLst>
              <a:ext uri="{FF2B5EF4-FFF2-40B4-BE49-F238E27FC236}">
                <a16:creationId xmlns:a16="http://schemas.microsoft.com/office/drawing/2014/main" id="{7BF7C5B7-7528-CB08-8D21-8A000810A92C}"/>
              </a:ext>
            </a:extLst>
          </p:cNvPr>
          <p:cNvPicPr>
            <a:picLocks noChangeAspect="1"/>
          </p:cNvPicPr>
          <p:nvPr/>
        </p:nvPicPr>
        <p:blipFill>
          <a:blip r:embed="rId2"/>
          <a:srcRect/>
          <a:stretch>
            <a:fillRect/>
          </a:stretch>
        </p:blipFill>
        <p:spPr bwMode="auto">
          <a:xfrm>
            <a:off x="-296755" y="-74382"/>
            <a:ext cx="9440756" cy="5310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5086874D-A9CB-69F4-9BCD-F8F16DA734DE}"/>
              </a:ext>
            </a:extLst>
          </p:cNvPr>
          <p:cNvSpPr/>
          <p:nvPr/>
        </p:nvSpPr>
        <p:spPr>
          <a:xfrm>
            <a:off x="-562220" y="-477459"/>
            <a:ext cx="10161001" cy="6116579"/>
          </a:xfrm>
          <a:prstGeom prst="rect">
            <a:avLst/>
          </a:prstGeom>
          <a:solidFill>
            <a:schemeClr val="accent1">
              <a:alpha val="3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3" name="组合 52">
            <a:extLst>
              <a:ext uri="{FF2B5EF4-FFF2-40B4-BE49-F238E27FC236}">
                <a16:creationId xmlns:a16="http://schemas.microsoft.com/office/drawing/2014/main" id="{A26C5FFA-6FCB-056B-799D-CD7499881AD7}"/>
              </a:ext>
            </a:extLst>
          </p:cNvPr>
          <p:cNvGrpSpPr/>
          <p:nvPr/>
        </p:nvGrpSpPr>
        <p:grpSpPr>
          <a:xfrm rot="2771804">
            <a:off x="-2557167" y="-192815"/>
            <a:ext cx="5719468" cy="4695594"/>
            <a:chOff x="940091" y="346924"/>
            <a:chExt cx="3771782" cy="3096575"/>
          </a:xfrm>
        </p:grpSpPr>
        <p:sp>
          <p:nvSpPr>
            <p:cNvPr id="52" name="任意多边形: 形状 51">
              <a:extLst>
                <a:ext uri="{FF2B5EF4-FFF2-40B4-BE49-F238E27FC236}">
                  <a16:creationId xmlns:a16="http://schemas.microsoft.com/office/drawing/2014/main" id="{F2210CAA-A3EA-4776-3188-537C8E670F67}"/>
                </a:ext>
              </a:extLst>
            </p:cNvPr>
            <p:cNvSpPr>
              <a:spLocks noChangeAspect="1"/>
            </p:cNvSpPr>
            <p:nvPr/>
          </p:nvSpPr>
          <p:spPr bwMode="auto">
            <a:xfrm rot="18405544">
              <a:off x="979123" y="969264"/>
              <a:ext cx="2120290" cy="875610"/>
            </a:xfrm>
            <a:custGeom>
              <a:avLst/>
              <a:gdLst>
                <a:gd name="connsiteX0" fmla="*/ 2120290 w 2120290"/>
                <a:gd name="connsiteY0" fmla="*/ 606174 h 875610"/>
                <a:gd name="connsiteX1" fmla="*/ 2120290 w 2120290"/>
                <a:gd name="connsiteY1" fmla="*/ 612307 h 875610"/>
                <a:gd name="connsiteX2" fmla="*/ 1767801 w 2120290"/>
                <a:gd name="connsiteY2" fmla="*/ 875610 h 875610"/>
                <a:gd name="connsiteX3" fmla="*/ 1697781 w 2120290"/>
                <a:gd name="connsiteY3" fmla="*/ 791119 h 875610"/>
                <a:gd name="connsiteX4" fmla="*/ 354003 w 2120290"/>
                <a:gd name="connsiteY4" fmla="*/ 596497 h 875610"/>
                <a:gd name="connsiteX5" fmla="*/ 263167 w 2120290"/>
                <a:gd name="connsiteY5" fmla="*/ 657464 h 875610"/>
                <a:gd name="connsiteX6" fmla="*/ 0 w 2120290"/>
                <a:gd name="connsiteY6" fmla="*/ 305157 h 875610"/>
                <a:gd name="connsiteX7" fmla="*/ 0 w 2120290"/>
                <a:gd name="connsiteY7" fmla="*/ 300554 h 875610"/>
                <a:gd name="connsiteX8" fmla="*/ 126812 w 2120290"/>
                <a:gd name="connsiteY8" fmla="*/ 215441 h 875610"/>
                <a:gd name="connsiteX9" fmla="*/ 2024215 w 2120290"/>
                <a:gd name="connsiteY9" fmla="*/ 490244 h 87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20290" h="875610">
                  <a:moveTo>
                    <a:pt x="2120290" y="606174"/>
                  </a:moveTo>
                  <a:lnTo>
                    <a:pt x="2120290" y="612307"/>
                  </a:lnTo>
                  <a:lnTo>
                    <a:pt x="1767801" y="875610"/>
                  </a:lnTo>
                  <a:lnTo>
                    <a:pt x="1697781" y="791119"/>
                  </a:lnTo>
                  <a:cubicBezTo>
                    <a:pt x="1353634" y="416309"/>
                    <a:pt x="790348" y="334728"/>
                    <a:pt x="354003" y="596497"/>
                  </a:cubicBezTo>
                  <a:lnTo>
                    <a:pt x="263167" y="657464"/>
                  </a:lnTo>
                  <a:lnTo>
                    <a:pt x="0" y="305157"/>
                  </a:lnTo>
                  <a:lnTo>
                    <a:pt x="0" y="300554"/>
                  </a:lnTo>
                  <a:lnTo>
                    <a:pt x="126812" y="215441"/>
                  </a:lnTo>
                  <a:cubicBezTo>
                    <a:pt x="742927" y="-154177"/>
                    <a:pt x="1538282" y="-38984"/>
                    <a:pt x="2024215" y="490244"/>
                  </a:cubicBezTo>
                  <a:close/>
                </a:path>
              </a:pathLst>
            </a:custGeom>
            <a:blipFill dpi="0" rotWithShape="1">
              <a:blip r:embed="rId3" cstate="email"/>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400" eaLnBrk="0" fontAlgn="base" hangingPunct="0">
                <a:spcBef>
                  <a:spcPct val="0"/>
                </a:spcBef>
                <a:spcAft>
                  <a:spcPct val="0"/>
                </a:spcAft>
                <a:defRPr/>
              </a:pPr>
              <a:endParaRPr lang="zh-CN" altLang="en-US" sz="1735">
                <a:solidFill>
                  <a:prstClr val="white"/>
                </a:solidFill>
                <a:latin typeface="Calibri" panose="020F0502020204030204"/>
                <a:ea typeface="宋体" panose="02010600030101010101" pitchFamily="2" charset="-122"/>
              </a:endParaRPr>
            </a:p>
          </p:txBody>
        </p:sp>
        <p:pic>
          <p:nvPicPr>
            <p:cNvPr id="46" name="图片 45">
              <a:extLst>
                <a:ext uri="{FF2B5EF4-FFF2-40B4-BE49-F238E27FC236}">
                  <a16:creationId xmlns:a16="http://schemas.microsoft.com/office/drawing/2014/main" id="{C8C16237-254B-9459-6568-793857CF1B5F}"/>
                </a:ext>
              </a:extLst>
            </p:cNvPr>
            <p:cNvPicPr>
              <a:picLocks noChangeAspect="1"/>
            </p:cNvPicPr>
            <p:nvPr/>
          </p:nvPicPr>
          <p:blipFill>
            <a:blip r:embed="rId4" cstate="email"/>
            <a:srcRect l="59" t="35226" r="3841" b="3208"/>
            <a:stretch>
              <a:fillRect/>
            </a:stretch>
          </p:blipFill>
          <p:spPr bwMode="auto">
            <a:xfrm rot="13432278">
              <a:off x="940091" y="2644991"/>
              <a:ext cx="2147483" cy="773845"/>
            </a:xfrm>
            <a:custGeom>
              <a:avLst/>
              <a:gdLst>
                <a:gd name="connsiteX0" fmla="*/ 2147483 w 2147483"/>
                <a:gd name="connsiteY0" fmla="*/ 466210 h 773845"/>
                <a:gd name="connsiteX1" fmla="*/ 1827482 w 2147483"/>
                <a:gd name="connsiteY1" fmla="*/ 773845 h 773845"/>
                <a:gd name="connsiteX2" fmla="*/ 1747538 w 2147483"/>
                <a:gd name="connsiteY2" fmla="*/ 698674 h 773845"/>
                <a:gd name="connsiteX3" fmla="*/ 390004 w 2147483"/>
                <a:gd name="connsiteY3" fmla="*/ 671928 h 773845"/>
                <a:gd name="connsiteX4" fmla="*/ 307415 w 2147483"/>
                <a:gd name="connsiteY4" fmla="*/ 743672 h 773845"/>
                <a:gd name="connsiteX5" fmla="*/ 0 w 2147483"/>
                <a:gd name="connsiteY5" fmla="*/ 423900 h 773845"/>
                <a:gd name="connsiteX6" fmla="*/ 2147483 w 2147483"/>
                <a:gd name="connsiteY6" fmla="*/ 466210 h 77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47483" h="773845">
                  <a:moveTo>
                    <a:pt x="2147483" y="466210"/>
                  </a:moveTo>
                  <a:lnTo>
                    <a:pt x="1827482" y="773845"/>
                  </a:lnTo>
                  <a:lnTo>
                    <a:pt x="1747538" y="698674"/>
                  </a:lnTo>
                  <a:cubicBezTo>
                    <a:pt x="1359633" y="369358"/>
                    <a:pt x="790581" y="358147"/>
                    <a:pt x="390004" y="671928"/>
                  </a:cubicBezTo>
                  <a:lnTo>
                    <a:pt x="307415" y="743672"/>
                  </a:lnTo>
                  <a:lnTo>
                    <a:pt x="0" y="423900"/>
                  </a:lnTo>
                  <a:cubicBezTo>
                    <a:pt x="604695" y="-157427"/>
                    <a:pt x="1566155" y="-138484"/>
                    <a:pt x="2147483" y="466210"/>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任意多边形: 形状 44">
              <a:extLst>
                <a:ext uri="{FF2B5EF4-FFF2-40B4-BE49-F238E27FC236}">
                  <a16:creationId xmlns:a16="http://schemas.microsoft.com/office/drawing/2014/main" id="{B381E643-D2AF-1C1A-60BB-B6843DE8D0E4}"/>
                </a:ext>
              </a:extLst>
            </p:cNvPr>
            <p:cNvSpPr>
              <a:spLocks noChangeAspect="1"/>
            </p:cNvSpPr>
            <p:nvPr/>
          </p:nvSpPr>
          <p:spPr>
            <a:xfrm rot="3227539">
              <a:off x="3210440" y="1942065"/>
              <a:ext cx="883750" cy="2119117"/>
            </a:xfrm>
            <a:custGeom>
              <a:avLst/>
              <a:gdLst>
                <a:gd name="connsiteX0" fmla="*/ 0 w 883750"/>
                <a:gd name="connsiteY0" fmla="*/ 357911 h 2119117"/>
                <a:gd name="connsiteX1" fmla="*/ 262025 w 883750"/>
                <a:gd name="connsiteY1" fmla="*/ 0 h 2119117"/>
                <a:gd name="connsiteX2" fmla="*/ 675743 w 883750"/>
                <a:gd name="connsiteY2" fmla="*/ 1992728 h 2119117"/>
                <a:gd name="connsiteX3" fmla="*/ 592667 w 883750"/>
                <a:gd name="connsiteY3" fmla="*/ 2119117 h 2119117"/>
                <a:gd name="connsiteX4" fmla="*/ 585501 w 883750"/>
                <a:gd name="connsiteY4" fmla="*/ 2119117 h 2119117"/>
                <a:gd name="connsiteX5" fmla="*/ 232171 w 883750"/>
                <a:gd name="connsiteY5" fmla="*/ 1860446 h 2119117"/>
                <a:gd name="connsiteX6" fmla="*/ 292445 w 883750"/>
                <a:gd name="connsiteY6" fmla="*/ 1768746 h 2119117"/>
                <a:gd name="connsiteX7" fmla="*/ 84901 w 883750"/>
                <a:gd name="connsiteY7" fmla="*/ 426904 h 211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3750" h="2119117">
                  <a:moveTo>
                    <a:pt x="0" y="357911"/>
                  </a:moveTo>
                  <a:lnTo>
                    <a:pt x="262025" y="0"/>
                  </a:lnTo>
                  <a:cubicBezTo>
                    <a:pt x="896542" y="464527"/>
                    <a:pt x="1065390" y="1328825"/>
                    <a:pt x="675743" y="1992728"/>
                  </a:cubicBezTo>
                  <a:lnTo>
                    <a:pt x="592667" y="2119117"/>
                  </a:lnTo>
                  <a:lnTo>
                    <a:pt x="585501" y="2119117"/>
                  </a:lnTo>
                  <a:lnTo>
                    <a:pt x="232171" y="1860446"/>
                  </a:lnTo>
                  <a:lnTo>
                    <a:pt x="292445" y="1768746"/>
                  </a:lnTo>
                  <a:cubicBezTo>
                    <a:pt x="550003" y="1329904"/>
                    <a:pt x="463005" y="767430"/>
                    <a:pt x="84901" y="426904"/>
                  </a:cubicBezTo>
                  <a:close/>
                </a:path>
              </a:pathLst>
            </a:custGeom>
            <a:blipFill>
              <a:blip r:embed="rId5" cstate="email"/>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400" eaLnBrk="0" fontAlgn="base" hangingPunct="0">
                <a:spcBef>
                  <a:spcPct val="0"/>
                </a:spcBef>
                <a:spcAft>
                  <a:spcPct val="0"/>
                </a:spcAft>
                <a:defRPr/>
              </a:pPr>
              <a:endParaRPr lang="zh-CN" altLang="en-US" sz="1735" dirty="0">
                <a:solidFill>
                  <a:prstClr val="white"/>
                </a:solidFill>
                <a:latin typeface="Calibri" panose="020F0502020204030204"/>
                <a:ea typeface="宋体" panose="02010600030101010101" pitchFamily="2" charset="-122"/>
              </a:endParaRPr>
            </a:p>
          </p:txBody>
        </p:sp>
        <p:pic>
          <p:nvPicPr>
            <p:cNvPr id="44" name="图片 43">
              <a:extLst>
                <a:ext uri="{FF2B5EF4-FFF2-40B4-BE49-F238E27FC236}">
                  <a16:creationId xmlns:a16="http://schemas.microsoft.com/office/drawing/2014/main" id="{74832316-762B-1D49-170C-FD084727A3D8}"/>
                </a:ext>
              </a:extLst>
            </p:cNvPr>
            <p:cNvPicPr>
              <a:picLocks noChangeAspect="1"/>
            </p:cNvPicPr>
            <p:nvPr/>
          </p:nvPicPr>
          <p:blipFill>
            <a:blip r:embed="rId2"/>
            <a:srcRect l="17379" t="6116" r="31845" b="3616"/>
            <a:stretch>
              <a:fillRect/>
            </a:stretch>
          </p:blipFill>
          <p:spPr bwMode="auto">
            <a:xfrm>
              <a:off x="2882220" y="666291"/>
              <a:ext cx="1518794" cy="1518794"/>
            </a:xfrm>
            <a:custGeom>
              <a:avLst/>
              <a:gdLst>
                <a:gd name="connsiteX0" fmla="*/ 0 w 1518794"/>
                <a:gd name="connsiteY0" fmla="*/ 0 h 1518794"/>
                <a:gd name="connsiteX1" fmla="*/ 1518794 w 1518794"/>
                <a:gd name="connsiteY1" fmla="*/ 1518794 h 1518794"/>
                <a:gd name="connsiteX2" fmla="*/ 1074902 w 1518794"/>
                <a:gd name="connsiteY2" fmla="*/ 1518794 h 1518794"/>
                <a:gd name="connsiteX3" fmla="*/ 1069368 w 1518794"/>
                <a:gd name="connsiteY3" fmla="*/ 1409199 h 1518794"/>
                <a:gd name="connsiteX4" fmla="*/ 109260 w 1518794"/>
                <a:gd name="connsiteY4" fmla="*/ 449091 h 1518794"/>
                <a:gd name="connsiteX5" fmla="*/ 0 w 1518794"/>
                <a:gd name="connsiteY5" fmla="*/ 443574 h 1518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18794" h="1518794">
                  <a:moveTo>
                    <a:pt x="0" y="0"/>
                  </a:moveTo>
                  <a:cubicBezTo>
                    <a:pt x="838807" y="0"/>
                    <a:pt x="1518794" y="679987"/>
                    <a:pt x="1518794" y="1518794"/>
                  </a:cubicBezTo>
                  <a:lnTo>
                    <a:pt x="1074902" y="1518794"/>
                  </a:lnTo>
                  <a:lnTo>
                    <a:pt x="1069368" y="1409199"/>
                  </a:lnTo>
                  <a:cubicBezTo>
                    <a:pt x="1017957" y="902962"/>
                    <a:pt x="615498" y="500503"/>
                    <a:pt x="109260" y="449091"/>
                  </a:cubicBezTo>
                  <a:lnTo>
                    <a:pt x="0" y="443574"/>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 name="组合 7">
            <a:extLst>
              <a:ext uri="{FF2B5EF4-FFF2-40B4-BE49-F238E27FC236}">
                <a16:creationId xmlns:a16="http://schemas.microsoft.com/office/drawing/2014/main" id="{B827EF23-3558-2FB6-4722-268ABCD8E4E2}"/>
              </a:ext>
            </a:extLst>
          </p:cNvPr>
          <p:cNvGrpSpPr/>
          <p:nvPr/>
        </p:nvGrpSpPr>
        <p:grpSpPr>
          <a:xfrm>
            <a:off x="3347864" y="1779662"/>
            <a:ext cx="4365337" cy="1584176"/>
            <a:chOff x="3347864" y="1995686"/>
            <a:chExt cx="4365337" cy="1584176"/>
          </a:xfrm>
        </p:grpSpPr>
        <p:sp>
          <p:nvSpPr>
            <p:cNvPr id="2" name="文本框 10">
              <a:extLst>
                <a:ext uri="{FF2B5EF4-FFF2-40B4-BE49-F238E27FC236}">
                  <a16:creationId xmlns:a16="http://schemas.microsoft.com/office/drawing/2014/main" id="{9B795F7C-13E4-55C3-A572-4A474B389CD8}"/>
                </a:ext>
              </a:extLst>
            </p:cNvPr>
            <p:cNvSpPr txBox="1"/>
            <p:nvPr/>
          </p:nvSpPr>
          <p:spPr>
            <a:xfrm>
              <a:off x="3613467" y="2444874"/>
              <a:ext cx="3834130" cy="685800"/>
            </a:xfrm>
            <a:prstGeom prst="rect">
              <a:avLst/>
            </a:prstGeom>
            <a:ln w="57150">
              <a:noFill/>
            </a:ln>
          </p:spPr>
          <p:txBody>
            <a:bodyPr wrap="square" lIns="0" tIns="0" rIns="0" bIns="0" anchor="ctr">
              <a:scene3d>
                <a:camera prst="legacyObliqueTopLeft">
                  <a:rot lat="0" lon="0" rev="0"/>
                </a:camera>
                <a:lightRig rig="legacyFlat1" dir="tl"/>
              </a:scene3d>
            </a:bodyPr>
            <a:lstStyle/>
            <a:p>
              <a:pPr algn="l">
                <a:lnSpc>
                  <a:spcPct val="100000"/>
                </a:lnSpc>
              </a:pPr>
              <a:r>
                <a:rPr lang="en-US" altLang="zh-CN" sz="4500" b="1" kern="100" dirty="0" err="1">
                  <a:solidFill>
                    <a:schemeClr val="accent4">
                      <a:lumMod val="40000"/>
                      <a:lumOff val="60000"/>
                    </a:schemeClr>
                  </a:solidFill>
                  <a:latin typeface="华文琥珀" panose="02010800040101010101" pitchFamily="2" charset="-122"/>
                  <a:ea typeface="华文琥珀" panose="02010800040101010101" pitchFamily="2" charset="-122"/>
                  <a:cs typeface="创客贴稚圆体" charset="-122"/>
                  <a:sym typeface="+mn-ea"/>
                </a:rPr>
                <a:t>Nkuers</a:t>
              </a:r>
              <a:r>
                <a:rPr lang="zh-CN" altLang="en-US" sz="4500" b="1" kern="100" dirty="0">
                  <a:solidFill>
                    <a:schemeClr val="tx2">
                      <a:lumMod val="75000"/>
                    </a:schemeClr>
                  </a:solidFill>
                  <a:latin typeface="华文琥珀" panose="02010800040101010101" pitchFamily="2" charset="-122"/>
                  <a:ea typeface="华文琥珀" panose="02010800040101010101" pitchFamily="2" charset="-122"/>
                  <a:cs typeface="创客贴稚圆体" charset="-122"/>
                  <a:sym typeface="+mn-ea"/>
                </a:rPr>
                <a:t>大</a:t>
              </a:r>
              <a:r>
                <a:rPr lang="zh-CN" sz="4500" b="1" kern="100" dirty="0">
                  <a:solidFill>
                    <a:schemeClr val="tx2">
                      <a:lumMod val="75000"/>
                    </a:schemeClr>
                  </a:solidFill>
                  <a:latin typeface="华文琥珀" panose="02010800040101010101" pitchFamily="2" charset="-122"/>
                  <a:ea typeface="华文琥珀" panose="02010800040101010101" pitchFamily="2" charset="-122"/>
                  <a:cs typeface="创客贴稚圆体" charset="-122"/>
                  <a:sym typeface="+mn-ea"/>
                </a:rPr>
                <a:t>采访</a:t>
              </a:r>
              <a:endParaRPr sz="4500" b="1" kern="100" spc="0" dirty="0">
                <a:solidFill>
                  <a:schemeClr val="tx2">
                    <a:lumMod val="75000"/>
                  </a:schemeClr>
                </a:solidFill>
                <a:latin typeface="华文琥珀" panose="02010800040101010101" pitchFamily="2" charset="-122"/>
                <a:ea typeface="华文琥珀" panose="02010800040101010101" pitchFamily="2" charset="-122"/>
                <a:cs typeface="创客贴稚圆体" charset="-122"/>
              </a:endParaRPr>
            </a:p>
          </p:txBody>
        </p:sp>
        <p:sp>
          <p:nvSpPr>
            <p:cNvPr id="7" name="矩形: 圆角 6">
              <a:extLst>
                <a:ext uri="{FF2B5EF4-FFF2-40B4-BE49-F238E27FC236}">
                  <a16:creationId xmlns:a16="http://schemas.microsoft.com/office/drawing/2014/main" id="{8ABFCD76-5A44-7C80-253B-0E4408D74E7B}"/>
                </a:ext>
              </a:extLst>
            </p:cNvPr>
            <p:cNvSpPr/>
            <p:nvPr/>
          </p:nvSpPr>
          <p:spPr>
            <a:xfrm>
              <a:off x="3347864" y="1995686"/>
              <a:ext cx="4365337" cy="1584176"/>
            </a:xfrm>
            <a:prstGeom prst="roundRect">
              <a:avLst/>
            </a:prstGeom>
            <a:noFill/>
            <a:ln w="5715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563529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C6F84-1ADA-89A8-BEE9-6E25383896F8}"/>
            </a:ext>
          </a:extLst>
        </p:cNvPr>
        <p:cNvGrpSpPr/>
        <p:nvPr/>
      </p:nvGrpSpPr>
      <p:grpSpPr>
        <a:xfrm>
          <a:off x="0" y="0"/>
          <a:ext cx="0" cy="0"/>
          <a:chOff x="0" y="0"/>
          <a:chExt cx="0" cy="0"/>
        </a:xfrm>
      </p:grpSpPr>
      <p:grpSp>
        <p:nvGrpSpPr>
          <p:cNvPr id="53" name="组合 52">
            <a:extLst>
              <a:ext uri="{FF2B5EF4-FFF2-40B4-BE49-F238E27FC236}">
                <a16:creationId xmlns:a16="http://schemas.microsoft.com/office/drawing/2014/main" id="{380EB095-ED27-859A-9B9C-B81162FB7C97}"/>
              </a:ext>
            </a:extLst>
          </p:cNvPr>
          <p:cNvGrpSpPr/>
          <p:nvPr/>
        </p:nvGrpSpPr>
        <p:grpSpPr>
          <a:xfrm rot="2771804">
            <a:off x="-2557167" y="-192815"/>
            <a:ext cx="5719468" cy="4695594"/>
            <a:chOff x="940091" y="346924"/>
            <a:chExt cx="3771782" cy="3096575"/>
          </a:xfrm>
        </p:grpSpPr>
        <p:sp>
          <p:nvSpPr>
            <p:cNvPr id="52" name="任意多边形: 形状 51">
              <a:extLst>
                <a:ext uri="{FF2B5EF4-FFF2-40B4-BE49-F238E27FC236}">
                  <a16:creationId xmlns:a16="http://schemas.microsoft.com/office/drawing/2014/main" id="{265FEF08-2029-FE39-FA56-16C2946B685B}"/>
                </a:ext>
              </a:extLst>
            </p:cNvPr>
            <p:cNvSpPr>
              <a:spLocks noChangeAspect="1"/>
            </p:cNvSpPr>
            <p:nvPr/>
          </p:nvSpPr>
          <p:spPr bwMode="auto">
            <a:xfrm rot="18405544">
              <a:off x="979123" y="969264"/>
              <a:ext cx="2120290" cy="875610"/>
            </a:xfrm>
            <a:custGeom>
              <a:avLst/>
              <a:gdLst>
                <a:gd name="connsiteX0" fmla="*/ 2120290 w 2120290"/>
                <a:gd name="connsiteY0" fmla="*/ 606174 h 875610"/>
                <a:gd name="connsiteX1" fmla="*/ 2120290 w 2120290"/>
                <a:gd name="connsiteY1" fmla="*/ 612307 h 875610"/>
                <a:gd name="connsiteX2" fmla="*/ 1767801 w 2120290"/>
                <a:gd name="connsiteY2" fmla="*/ 875610 h 875610"/>
                <a:gd name="connsiteX3" fmla="*/ 1697781 w 2120290"/>
                <a:gd name="connsiteY3" fmla="*/ 791119 h 875610"/>
                <a:gd name="connsiteX4" fmla="*/ 354003 w 2120290"/>
                <a:gd name="connsiteY4" fmla="*/ 596497 h 875610"/>
                <a:gd name="connsiteX5" fmla="*/ 263167 w 2120290"/>
                <a:gd name="connsiteY5" fmla="*/ 657464 h 875610"/>
                <a:gd name="connsiteX6" fmla="*/ 0 w 2120290"/>
                <a:gd name="connsiteY6" fmla="*/ 305157 h 875610"/>
                <a:gd name="connsiteX7" fmla="*/ 0 w 2120290"/>
                <a:gd name="connsiteY7" fmla="*/ 300554 h 875610"/>
                <a:gd name="connsiteX8" fmla="*/ 126812 w 2120290"/>
                <a:gd name="connsiteY8" fmla="*/ 215441 h 875610"/>
                <a:gd name="connsiteX9" fmla="*/ 2024215 w 2120290"/>
                <a:gd name="connsiteY9" fmla="*/ 490244 h 87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20290" h="875610">
                  <a:moveTo>
                    <a:pt x="2120290" y="606174"/>
                  </a:moveTo>
                  <a:lnTo>
                    <a:pt x="2120290" y="612307"/>
                  </a:lnTo>
                  <a:lnTo>
                    <a:pt x="1767801" y="875610"/>
                  </a:lnTo>
                  <a:lnTo>
                    <a:pt x="1697781" y="791119"/>
                  </a:lnTo>
                  <a:cubicBezTo>
                    <a:pt x="1353634" y="416309"/>
                    <a:pt x="790348" y="334728"/>
                    <a:pt x="354003" y="596497"/>
                  </a:cubicBezTo>
                  <a:lnTo>
                    <a:pt x="263167" y="657464"/>
                  </a:lnTo>
                  <a:lnTo>
                    <a:pt x="0" y="305157"/>
                  </a:lnTo>
                  <a:lnTo>
                    <a:pt x="0" y="300554"/>
                  </a:lnTo>
                  <a:lnTo>
                    <a:pt x="126812" y="215441"/>
                  </a:lnTo>
                  <a:cubicBezTo>
                    <a:pt x="742927" y="-154177"/>
                    <a:pt x="1538282" y="-38984"/>
                    <a:pt x="2024215" y="490244"/>
                  </a:cubicBezTo>
                  <a:close/>
                </a:path>
              </a:pathLst>
            </a:custGeom>
            <a:blipFill dpi="0" rotWithShape="1">
              <a:blip r:embed="rId22" cstate="email"/>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400" eaLnBrk="0" fontAlgn="base" hangingPunct="0">
                <a:spcBef>
                  <a:spcPct val="0"/>
                </a:spcBef>
                <a:spcAft>
                  <a:spcPct val="0"/>
                </a:spcAft>
                <a:defRPr/>
              </a:pPr>
              <a:endParaRPr lang="zh-CN" altLang="en-US" sz="1735">
                <a:solidFill>
                  <a:prstClr val="white"/>
                </a:solidFill>
                <a:latin typeface="Calibri" panose="020F0502020204030204"/>
                <a:ea typeface="宋体" panose="02010600030101010101" pitchFamily="2" charset="-122"/>
              </a:endParaRPr>
            </a:p>
          </p:txBody>
        </p:sp>
        <p:pic>
          <p:nvPicPr>
            <p:cNvPr id="46" name="图片 45">
              <a:extLst>
                <a:ext uri="{FF2B5EF4-FFF2-40B4-BE49-F238E27FC236}">
                  <a16:creationId xmlns:a16="http://schemas.microsoft.com/office/drawing/2014/main" id="{F84AC32D-A52C-EAE4-2D2D-4DBBEC1F294F}"/>
                </a:ext>
              </a:extLst>
            </p:cNvPr>
            <p:cNvPicPr>
              <a:picLocks noChangeAspect="1"/>
            </p:cNvPicPr>
            <p:nvPr/>
          </p:nvPicPr>
          <p:blipFill>
            <a:blip r:embed="rId23" cstate="email"/>
            <a:srcRect l="59" t="35226" r="3841" b="3208"/>
            <a:stretch>
              <a:fillRect/>
            </a:stretch>
          </p:blipFill>
          <p:spPr bwMode="auto">
            <a:xfrm rot="13432278">
              <a:off x="940091" y="2644991"/>
              <a:ext cx="2147483" cy="773845"/>
            </a:xfrm>
            <a:custGeom>
              <a:avLst/>
              <a:gdLst>
                <a:gd name="connsiteX0" fmla="*/ 2147483 w 2147483"/>
                <a:gd name="connsiteY0" fmla="*/ 466210 h 773845"/>
                <a:gd name="connsiteX1" fmla="*/ 1827482 w 2147483"/>
                <a:gd name="connsiteY1" fmla="*/ 773845 h 773845"/>
                <a:gd name="connsiteX2" fmla="*/ 1747538 w 2147483"/>
                <a:gd name="connsiteY2" fmla="*/ 698674 h 773845"/>
                <a:gd name="connsiteX3" fmla="*/ 390004 w 2147483"/>
                <a:gd name="connsiteY3" fmla="*/ 671928 h 773845"/>
                <a:gd name="connsiteX4" fmla="*/ 307415 w 2147483"/>
                <a:gd name="connsiteY4" fmla="*/ 743672 h 773845"/>
                <a:gd name="connsiteX5" fmla="*/ 0 w 2147483"/>
                <a:gd name="connsiteY5" fmla="*/ 423900 h 773845"/>
                <a:gd name="connsiteX6" fmla="*/ 2147483 w 2147483"/>
                <a:gd name="connsiteY6" fmla="*/ 466210 h 77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47483" h="773845">
                  <a:moveTo>
                    <a:pt x="2147483" y="466210"/>
                  </a:moveTo>
                  <a:lnTo>
                    <a:pt x="1827482" y="773845"/>
                  </a:lnTo>
                  <a:lnTo>
                    <a:pt x="1747538" y="698674"/>
                  </a:lnTo>
                  <a:cubicBezTo>
                    <a:pt x="1359633" y="369358"/>
                    <a:pt x="790581" y="358147"/>
                    <a:pt x="390004" y="671928"/>
                  </a:cubicBezTo>
                  <a:lnTo>
                    <a:pt x="307415" y="743672"/>
                  </a:lnTo>
                  <a:lnTo>
                    <a:pt x="0" y="423900"/>
                  </a:lnTo>
                  <a:cubicBezTo>
                    <a:pt x="604695" y="-157427"/>
                    <a:pt x="1566155" y="-138484"/>
                    <a:pt x="2147483" y="466210"/>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任意多边形: 形状 44">
              <a:extLst>
                <a:ext uri="{FF2B5EF4-FFF2-40B4-BE49-F238E27FC236}">
                  <a16:creationId xmlns:a16="http://schemas.microsoft.com/office/drawing/2014/main" id="{24D4CBD9-0DAC-8F04-7C4E-7093143CF407}"/>
                </a:ext>
              </a:extLst>
            </p:cNvPr>
            <p:cNvSpPr>
              <a:spLocks noChangeAspect="1"/>
            </p:cNvSpPr>
            <p:nvPr/>
          </p:nvSpPr>
          <p:spPr>
            <a:xfrm rot="3227539">
              <a:off x="3210440" y="1942065"/>
              <a:ext cx="883750" cy="2119117"/>
            </a:xfrm>
            <a:custGeom>
              <a:avLst/>
              <a:gdLst>
                <a:gd name="connsiteX0" fmla="*/ 0 w 883750"/>
                <a:gd name="connsiteY0" fmla="*/ 357911 h 2119117"/>
                <a:gd name="connsiteX1" fmla="*/ 262025 w 883750"/>
                <a:gd name="connsiteY1" fmla="*/ 0 h 2119117"/>
                <a:gd name="connsiteX2" fmla="*/ 675743 w 883750"/>
                <a:gd name="connsiteY2" fmla="*/ 1992728 h 2119117"/>
                <a:gd name="connsiteX3" fmla="*/ 592667 w 883750"/>
                <a:gd name="connsiteY3" fmla="*/ 2119117 h 2119117"/>
                <a:gd name="connsiteX4" fmla="*/ 585501 w 883750"/>
                <a:gd name="connsiteY4" fmla="*/ 2119117 h 2119117"/>
                <a:gd name="connsiteX5" fmla="*/ 232171 w 883750"/>
                <a:gd name="connsiteY5" fmla="*/ 1860446 h 2119117"/>
                <a:gd name="connsiteX6" fmla="*/ 292445 w 883750"/>
                <a:gd name="connsiteY6" fmla="*/ 1768746 h 2119117"/>
                <a:gd name="connsiteX7" fmla="*/ 84901 w 883750"/>
                <a:gd name="connsiteY7" fmla="*/ 426904 h 211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3750" h="2119117">
                  <a:moveTo>
                    <a:pt x="0" y="357911"/>
                  </a:moveTo>
                  <a:lnTo>
                    <a:pt x="262025" y="0"/>
                  </a:lnTo>
                  <a:cubicBezTo>
                    <a:pt x="896542" y="464527"/>
                    <a:pt x="1065390" y="1328825"/>
                    <a:pt x="675743" y="1992728"/>
                  </a:cubicBezTo>
                  <a:lnTo>
                    <a:pt x="592667" y="2119117"/>
                  </a:lnTo>
                  <a:lnTo>
                    <a:pt x="585501" y="2119117"/>
                  </a:lnTo>
                  <a:lnTo>
                    <a:pt x="232171" y="1860446"/>
                  </a:lnTo>
                  <a:lnTo>
                    <a:pt x="292445" y="1768746"/>
                  </a:lnTo>
                  <a:cubicBezTo>
                    <a:pt x="550003" y="1329904"/>
                    <a:pt x="463005" y="767430"/>
                    <a:pt x="84901" y="426904"/>
                  </a:cubicBezTo>
                  <a:close/>
                </a:path>
              </a:pathLst>
            </a:custGeom>
            <a:blipFill>
              <a:blip r:embed="rId24" cstate="email"/>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400" eaLnBrk="0" fontAlgn="base" hangingPunct="0">
                <a:spcBef>
                  <a:spcPct val="0"/>
                </a:spcBef>
                <a:spcAft>
                  <a:spcPct val="0"/>
                </a:spcAft>
                <a:defRPr/>
              </a:pPr>
              <a:endParaRPr lang="zh-CN" altLang="en-US" sz="1735" dirty="0">
                <a:solidFill>
                  <a:prstClr val="white"/>
                </a:solidFill>
                <a:latin typeface="Calibri" panose="020F0502020204030204"/>
                <a:ea typeface="宋体" panose="02010600030101010101" pitchFamily="2" charset="-122"/>
              </a:endParaRPr>
            </a:p>
          </p:txBody>
        </p:sp>
        <p:pic>
          <p:nvPicPr>
            <p:cNvPr id="44" name="图片 43">
              <a:extLst>
                <a:ext uri="{FF2B5EF4-FFF2-40B4-BE49-F238E27FC236}">
                  <a16:creationId xmlns:a16="http://schemas.microsoft.com/office/drawing/2014/main" id="{F142E1D9-B04D-2738-D8D5-3D67602F5697}"/>
                </a:ext>
              </a:extLst>
            </p:cNvPr>
            <p:cNvPicPr>
              <a:picLocks noChangeAspect="1"/>
            </p:cNvPicPr>
            <p:nvPr/>
          </p:nvPicPr>
          <p:blipFill>
            <a:blip r:embed="rId25"/>
            <a:srcRect l="17379" t="6116" r="31845" b="3616"/>
            <a:stretch>
              <a:fillRect/>
            </a:stretch>
          </p:blipFill>
          <p:spPr bwMode="auto">
            <a:xfrm>
              <a:off x="2882220" y="666291"/>
              <a:ext cx="1518794" cy="1518794"/>
            </a:xfrm>
            <a:custGeom>
              <a:avLst/>
              <a:gdLst>
                <a:gd name="connsiteX0" fmla="*/ 0 w 1518794"/>
                <a:gd name="connsiteY0" fmla="*/ 0 h 1518794"/>
                <a:gd name="connsiteX1" fmla="*/ 1518794 w 1518794"/>
                <a:gd name="connsiteY1" fmla="*/ 1518794 h 1518794"/>
                <a:gd name="connsiteX2" fmla="*/ 1074902 w 1518794"/>
                <a:gd name="connsiteY2" fmla="*/ 1518794 h 1518794"/>
                <a:gd name="connsiteX3" fmla="*/ 1069368 w 1518794"/>
                <a:gd name="connsiteY3" fmla="*/ 1409199 h 1518794"/>
                <a:gd name="connsiteX4" fmla="*/ 109260 w 1518794"/>
                <a:gd name="connsiteY4" fmla="*/ 449091 h 1518794"/>
                <a:gd name="connsiteX5" fmla="*/ 0 w 1518794"/>
                <a:gd name="connsiteY5" fmla="*/ 443574 h 1518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18794" h="1518794">
                  <a:moveTo>
                    <a:pt x="0" y="0"/>
                  </a:moveTo>
                  <a:cubicBezTo>
                    <a:pt x="838807" y="0"/>
                    <a:pt x="1518794" y="679987"/>
                    <a:pt x="1518794" y="1518794"/>
                  </a:cubicBezTo>
                  <a:lnTo>
                    <a:pt x="1074902" y="1518794"/>
                  </a:lnTo>
                  <a:lnTo>
                    <a:pt x="1069368" y="1409199"/>
                  </a:lnTo>
                  <a:cubicBezTo>
                    <a:pt x="1017957" y="902962"/>
                    <a:pt x="615498" y="500503"/>
                    <a:pt x="109260" y="449091"/>
                  </a:cubicBezTo>
                  <a:lnTo>
                    <a:pt x="0" y="443574"/>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26" name="Picture 2">
            <a:extLst>
              <a:ext uri="{FF2B5EF4-FFF2-40B4-BE49-F238E27FC236}">
                <a16:creationId xmlns:a16="http://schemas.microsoft.com/office/drawing/2014/main" id="{62602AA7-BCDE-5735-F049-C9604A0D3994}"/>
              </a:ext>
            </a:extLst>
          </p:cNvPr>
          <p:cNvPicPr>
            <a:picLocks noChangeAspect="1" noChangeArrowheads="1"/>
          </p:cNvPicPr>
          <p:nvPr/>
        </p:nvPicPr>
        <p:blipFill>
          <a:blip r:embed="rId26" cstate="print">
            <a:extLst>
              <a:ext uri="{BEBA8EAE-BF5A-486C-A8C5-ECC9F3942E4B}">
                <a14:imgProps xmlns:a14="http://schemas.microsoft.com/office/drawing/2010/main">
                  <a14:imgLayer r:embed="rId2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rot="3100516">
            <a:off x="4576924" y="2352743"/>
            <a:ext cx="1583267" cy="1067815"/>
          </a:xfrm>
          <a:prstGeom prst="rect">
            <a:avLst/>
          </a:prstGeom>
          <a:noFill/>
          <a:extLst>
            <a:ext uri="{909E8E84-426E-40DD-AFC4-6F175D3DCCD1}">
              <a14:hiddenFill xmlns:a14="http://schemas.microsoft.com/office/drawing/2010/main">
                <a:solidFill>
                  <a:srgbClr val="FFFFFF"/>
                </a:solidFill>
              </a14:hiddenFill>
            </a:ext>
          </a:extLst>
        </p:spPr>
      </p:pic>
      <p:pic>
        <p:nvPicPr>
          <p:cNvPr id="2097166" name="图片 2">
            <a:extLst>
              <a:ext uri="{FF2B5EF4-FFF2-40B4-BE49-F238E27FC236}">
                <a16:creationId xmlns:a16="http://schemas.microsoft.com/office/drawing/2014/main" id="{326D1D0E-D006-C4E4-732A-1A582E8893C9}"/>
              </a:ext>
            </a:extLst>
          </p:cNvPr>
          <p:cNvPicPr>
            <a:picLocks noChangeAspect="1"/>
          </p:cNvPicPr>
          <p:nvPr>
            <p:custDataLst>
              <p:tags r:id="rId1"/>
            </p:custDataLst>
          </p:nvPr>
        </p:nvPicPr>
        <p:blipFill>
          <a:blip r:embed="rId28">
            <a:alphaModFix/>
          </a:blip>
          <a:stretch>
            <a:fillRect/>
          </a:stretch>
        </p:blipFill>
        <p:spPr>
          <a:xfrm>
            <a:off x="9882297" y="2990213"/>
            <a:ext cx="381469" cy="381469"/>
          </a:xfrm>
          <a:prstGeom prst="rect">
            <a:avLst/>
          </a:prstGeom>
        </p:spPr>
      </p:pic>
      <p:pic>
        <p:nvPicPr>
          <p:cNvPr id="2097167" name="图片 3">
            <a:extLst>
              <a:ext uri="{FF2B5EF4-FFF2-40B4-BE49-F238E27FC236}">
                <a16:creationId xmlns:a16="http://schemas.microsoft.com/office/drawing/2014/main" id="{A7B9AE3A-235A-FFF0-C8E7-9E4B18C87D6E}"/>
              </a:ext>
            </a:extLst>
          </p:cNvPr>
          <p:cNvPicPr>
            <a:picLocks noChangeAspect="1"/>
          </p:cNvPicPr>
          <p:nvPr>
            <p:custDataLst>
              <p:tags r:id="rId2"/>
            </p:custDataLst>
          </p:nvPr>
        </p:nvPicPr>
        <p:blipFill>
          <a:blip r:embed="rId28">
            <a:alphaModFix/>
          </a:blip>
          <a:stretch>
            <a:fillRect/>
          </a:stretch>
        </p:blipFill>
        <p:spPr>
          <a:xfrm>
            <a:off x="6708410" y="3600070"/>
            <a:ext cx="381469" cy="381469"/>
          </a:xfrm>
          <a:prstGeom prst="rect">
            <a:avLst/>
          </a:prstGeom>
        </p:spPr>
      </p:pic>
      <p:pic>
        <p:nvPicPr>
          <p:cNvPr id="2097168" name="图片 4">
            <a:extLst>
              <a:ext uri="{FF2B5EF4-FFF2-40B4-BE49-F238E27FC236}">
                <a16:creationId xmlns:a16="http://schemas.microsoft.com/office/drawing/2014/main" id="{CB355AB1-3C7B-D427-0C6C-04E264B062EF}"/>
              </a:ext>
            </a:extLst>
          </p:cNvPr>
          <p:cNvPicPr>
            <a:picLocks noChangeAspect="1"/>
          </p:cNvPicPr>
          <p:nvPr>
            <p:custDataLst>
              <p:tags r:id="rId3"/>
            </p:custDataLst>
          </p:nvPr>
        </p:nvPicPr>
        <p:blipFill>
          <a:blip r:embed="rId28">
            <a:alphaModFix/>
          </a:blip>
          <a:stretch>
            <a:fillRect/>
          </a:stretch>
        </p:blipFill>
        <p:spPr>
          <a:xfrm>
            <a:off x="7212741" y="1487825"/>
            <a:ext cx="381469" cy="381469"/>
          </a:xfrm>
          <a:prstGeom prst="rect">
            <a:avLst/>
          </a:prstGeom>
        </p:spPr>
      </p:pic>
      <p:pic>
        <p:nvPicPr>
          <p:cNvPr id="2097169" name="图片 5">
            <a:extLst>
              <a:ext uri="{FF2B5EF4-FFF2-40B4-BE49-F238E27FC236}">
                <a16:creationId xmlns:a16="http://schemas.microsoft.com/office/drawing/2014/main" id="{51A90644-5B94-B54E-E7B5-C5831F73BE71}"/>
              </a:ext>
            </a:extLst>
          </p:cNvPr>
          <p:cNvPicPr>
            <a:picLocks noChangeAspect="1"/>
          </p:cNvPicPr>
          <p:nvPr>
            <p:custDataLst>
              <p:tags r:id="rId4"/>
            </p:custDataLst>
          </p:nvPr>
        </p:nvPicPr>
        <p:blipFill>
          <a:blip r:embed="rId28">
            <a:alphaModFix/>
          </a:blip>
          <a:stretch>
            <a:fillRect/>
          </a:stretch>
        </p:blipFill>
        <p:spPr>
          <a:xfrm>
            <a:off x="6708410" y="864071"/>
            <a:ext cx="381469" cy="381469"/>
          </a:xfrm>
          <a:prstGeom prst="rect">
            <a:avLst/>
          </a:prstGeom>
        </p:spPr>
      </p:pic>
      <p:pic>
        <p:nvPicPr>
          <p:cNvPr id="2097170" name="图片 6">
            <a:extLst>
              <a:ext uri="{FF2B5EF4-FFF2-40B4-BE49-F238E27FC236}">
                <a16:creationId xmlns:a16="http://schemas.microsoft.com/office/drawing/2014/main" id="{9D22931E-8063-20D1-B630-2EA7718DC149}"/>
              </a:ext>
            </a:extLst>
          </p:cNvPr>
          <p:cNvPicPr>
            <a:picLocks noChangeAspect="1"/>
          </p:cNvPicPr>
          <p:nvPr>
            <p:custDataLst>
              <p:tags r:id="rId5"/>
            </p:custDataLst>
          </p:nvPr>
        </p:nvPicPr>
        <p:blipFill>
          <a:blip r:embed="rId28">
            <a:alphaModFix/>
          </a:blip>
          <a:stretch>
            <a:fillRect/>
          </a:stretch>
        </p:blipFill>
        <p:spPr>
          <a:xfrm>
            <a:off x="6384242" y="229422"/>
            <a:ext cx="381469" cy="381469"/>
          </a:xfrm>
          <a:prstGeom prst="rect">
            <a:avLst/>
          </a:prstGeom>
        </p:spPr>
      </p:pic>
      <p:sp>
        <p:nvSpPr>
          <p:cNvPr id="1048582" name="文本框 10">
            <a:extLst>
              <a:ext uri="{FF2B5EF4-FFF2-40B4-BE49-F238E27FC236}">
                <a16:creationId xmlns:a16="http://schemas.microsoft.com/office/drawing/2014/main" id="{7253D404-C7E8-766B-5204-44453E652173}"/>
              </a:ext>
            </a:extLst>
          </p:cNvPr>
          <p:cNvSpPr txBox="1"/>
          <p:nvPr>
            <p:custDataLst>
              <p:tags r:id="rId6"/>
            </p:custDataLst>
          </p:nvPr>
        </p:nvSpPr>
        <p:spPr>
          <a:xfrm>
            <a:off x="6309264" y="246761"/>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1</a:t>
            </a:r>
          </a:p>
        </p:txBody>
      </p:sp>
      <p:sp>
        <p:nvSpPr>
          <p:cNvPr id="1048583" name="文本框 11">
            <a:extLst>
              <a:ext uri="{FF2B5EF4-FFF2-40B4-BE49-F238E27FC236}">
                <a16:creationId xmlns:a16="http://schemas.microsoft.com/office/drawing/2014/main" id="{6B1C3B04-FF85-EC09-53D5-05DAB44EB972}"/>
              </a:ext>
            </a:extLst>
          </p:cNvPr>
          <p:cNvSpPr txBox="1"/>
          <p:nvPr>
            <p:custDataLst>
              <p:tags r:id="rId7"/>
            </p:custDataLst>
          </p:nvPr>
        </p:nvSpPr>
        <p:spPr>
          <a:xfrm>
            <a:off x="6982396" y="206708"/>
            <a:ext cx="2218433"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绪论</a:t>
            </a:r>
          </a:p>
        </p:txBody>
      </p:sp>
      <p:sp>
        <p:nvSpPr>
          <p:cNvPr id="1048584" name="文本框 12">
            <a:extLst>
              <a:ext uri="{FF2B5EF4-FFF2-40B4-BE49-F238E27FC236}">
                <a16:creationId xmlns:a16="http://schemas.microsoft.com/office/drawing/2014/main" id="{A4955041-FCD2-92B4-5CCD-65FB228B696B}"/>
              </a:ext>
            </a:extLst>
          </p:cNvPr>
          <p:cNvSpPr txBox="1"/>
          <p:nvPr>
            <p:custDataLst>
              <p:tags r:id="rId8"/>
            </p:custDataLst>
          </p:nvPr>
        </p:nvSpPr>
        <p:spPr>
          <a:xfrm>
            <a:off x="6982396" y="563384"/>
            <a:ext cx="1666640" cy="13716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sz="900" kern="100" spc="0">
                <a:solidFill>
                  <a:srgbClr val="424142">
                    <a:alpha val="100000"/>
                  </a:srgbClr>
                </a:solidFill>
                <a:latin typeface="Noto Sans S Chinese Regular" panose="02010800040101010101" pitchFamily="1" charset="-122"/>
                <a:ea typeface="Noto Sans S Chinese Regular" panose="02010800040101010101" pitchFamily="1" charset="-122"/>
              </a:rPr>
              <a:t>Introduction</a:t>
            </a:r>
          </a:p>
        </p:txBody>
      </p:sp>
      <p:sp>
        <p:nvSpPr>
          <p:cNvPr id="1048585" name="文本框 13">
            <a:extLst>
              <a:ext uri="{FF2B5EF4-FFF2-40B4-BE49-F238E27FC236}">
                <a16:creationId xmlns:a16="http://schemas.microsoft.com/office/drawing/2014/main" id="{5D2BC187-62BD-AF4D-DCF7-1D247FF9687C}"/>
              </a:ext>
            </a:extLst>
          </p:cNvPr>
          <p:cNvSpPr txBox="1"/>
          <p:nvPr>
            <p:custDataLst>
              <p:tags r:id="rId9"/>
            </p:custDataLst>
          </p:nvPr>
        </p:nvSpPr>
        <p:spPr>
          <a:xfrm>
            <a:off x="6636988" y="893016"/>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2</a:t>
            </a:r>
          </a:p>
        </p:txBody>
      </p:sp>
      <p:sp>
        <p:nvSpPr>
          <p:cNvPr id="1048586" name="文本框 14">
            <a:extLst>
              <a:ext uri="{FF2B5EF4-FFF2-40B4-BE49-F238E27FC236}">
                <a16:creationId xmlns:a16="http://schemas.microsoft.com/office/drawing/2014/main" id="{FEA79EA8-09EA-9A4A-924F-9934B4A75A8E}"/>
              </a:ext>
            </a:extLst>
          </p:cNvPr>
          <p:cNvSpPr txBox="1"/>
          <p:nvPr>
            <p:custDataLst>
              <p:tags r:id="rId10"/>
            </p:custDataLst>
          </p:nvPr>
        </p:nvSpPr>
        <p:spPr>
          <a:xfrm>
            <a:off x="7645153" y="1425688"/>
            <a:ext cx="2847975" cy="37846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altLang="zh-CN" sz="2800" kern="100" spc="0" dirty="0" err="1">
                <a:solidFill>
                  <a:srgbClr val="1A4B59">
                    <a:alpha val="100000"/>
                  </a:srgbClr>
                </a:solidFill>
                <a:latin typeface="创客贴稚圆体 Bold Bold" panose="02010800040101010101" pitchFamily="1" charset="-122"/>
                <a:ea typeface="创客贴稚圆体 Bold Bold" panose="02010800040101010101" pitchFamily="1" charset="-122"/>
              </a:rPr>
              <a:t>Nkuers</a:t>
            </a:r>
            <a:r>
              <a:rPr lang="zh-CN" altLang="en-US" sz="3200"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大</a:t>
            </a:r>
            <a:r>
              <a:rPr lang="zh-CN" sz="3200"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采访</a:t>
            </a:r>
          </a:p>
        </p:txBody>
      </p:sp>
      <p:sp>
        <p:nvSpPr>
          <p:cNvPr id="1048587" name="文本框 15">
            <a:extLst>
              <a:ext uri="{FF2B5EF4-FFF2-40B4-BE49-F238E27FC236}">
                <a16:creationId xmlns:a16="http://schemas.microsoft.com/office/drawing/2014/main" id="{7042C3D7-0511-7CC3-46C4-0FDD823F3D0D}"/>
              </a:ext>
            </a:extLst>
          </p:cNvPr>
          <p:cNvSpPr txBox="1"/>
          <p:nvPr>
            <p:custDataLst>
              <p:tags r:id="rId11"/>
            </p:custDataLst>
          </p:nvPr>
        </p:nvSpPr>
        <p:spPr>
          <a:xfrm>
            <a:off x="8771524" y="1840274"/>
            <a:ext cx="2297261" cy="16002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2400" kern="100" spc="0" dirty="0">
                <a:solidFill>
                  <a:srgbClr val="424142">
                    <a:alpha val="100000"/>
                  </a:srgbClr>
                </a:solidFill>
                <a:latin typeface="Noto Sans S Chinese Regular" panose="02010800040101010101" pitchFamily="1" charset="-122"/>
                <a:ea typeface="Noto Sans S Chinese Regular" panose="02010800040101010101" pitchFamily="1" charset="-122"/>
              </a:rPr>
              <a:t>Interview</a:t>
            </a:r>
          </a:p>
        </p:txBody>
      </p:sp>
      <p:sp>
        <p:nvSpPr>
          <p:cNvPr id="1048588" name="文本框 16">
            <a:extLst>
              <a:ext uri="{FF2B5EF4-FFF2-40B4-BE49-F238E27FC236}">
                <a16:creationId xmlns:a16="http://schemas.microsoft.com/office/drawing/2014/main" id="{2F198132-8EBA-4568-B5C0-57ADC5D51CAA}"/>
              </a:ext>
            </a:extLst>
          </p:cNvPr>
          <p:cNvSpPr txBox="1"/>
          <p:nvPr>
            <p:custDataLst>
              <p:tags r:id="rId12"/>
            </p:custDataLst>
          </p:nvPr>
        </p:nvSpPr>
        <p:spPr>
          <a:xfrm>
            <a:off x="9773248" y="2990006"/>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5</a:t>
            </a:r>
          </a:p>
        </p:txBody>
      </p:sp>
      <p:sp>
        <p:nvSpPr>
          <p:cNvPr id="1048589" name="文本框 17">
            <a:extLst>
              <a:ext uri="{FF2B5EF4-FFF2-40B4-BE49-F238E27FC236}">
                <a16:creationId xmlns:a16="http://schemas.microsoft.com/office/drawing/2014/main" id="{C421C276-4E51-62A5-1DEC-5FDA5A4D56A2}"/>
              </a:ext>
            </a:extLst>
          </p:cNvPr>
          <p:cNvSpPr txBox="1"/>
          <p:nvPr>
            <p:custDataLst>
              <p:tags r:id="rId13"/>
            </p:custDataLst>
          </p:nvPr>
        </p:nvSpPr>
        <p:spPr>
          <a:xfrm>
            <a:off x="8028384" y="2571750"/>
            <a:ext cx="3640506"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MBTI</a:t>
            </a:r>
            <a:r>
              <a:rPr lang="zh-CN" alt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是</a:t>
            </a:r>
            <a:r>
              <a:rPr lang="en-US" sz="2400" b="1" kern="100" spc="0">
                <a:solidFill>
                  <a:srgbClr val="424142">
                    <a:alpha val="100000"/>
                  </a:srgbClr>
                </a:solidFill>
                <a:latin typeface="Noto Sans S Chinese Regular" panose="02010800040101010101" pitchFamily="1" charset="-122"/>
                <a:ea typeface="Noto Sans S Chinese Regular" panose="02010800040101010101" pitchFamily="1" charset="-122"/>
              </a:rPr>
              <a:t>帮助</a:t>
            </a:r>
            <a:r>
              <a:rPr 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or</a:t>
            </a:r>
            <a:r>
              <a:rPr lang="zh-CN" altLang="en-US" sz="2400" b="1" kern="100" spc="0">
                <a:solidFill>
                  <a:srgbClr val="424142">
                    <a:alpha val="100000"/>
                  </a:srgbClr>
                </a:solidFill>
                <a:latin typeface="Noto Sans S Chinese Regular" panose="02010800040101010101" pitchFamily="1" charset="-122"/>
                <a:ea typeface="Noto Sans S Chinese Regular" panose="02010800040101010101" pitchFamily="1" charset="-122"/>
              </a:rPr>
              <a:t>限制</a:t>
            </a:r>
            <a:r>
              <a:rPr 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我们认识自我</a:t>
            </a:r>
            <a:r>
              <a:rPr lang="zh-CN" alt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a:t>
            </a:r>
          </a:p>
        </p:txBody>
      </p:sp>
      <p:sp>
        <p:nvSpPr>
          <p:cNvPr id="1048590" name="文本框 19">
            <a:extLst>
              <a:ext uri="{FF2B5EF4-FFF2-40B4-BE49-F238E27FC236}">
                <a16:creationId xmlns:a16="http://schemas.microsoft.com/office/drawing/2014/main" id="{DCEE635A-69E4-CD84-BE68-FF687BCE319E}"/>
              </a:ext>
            </a:extLst>
          </p:cNvPr>
          <p:cNvSpPr txBox="1"/>
          <p:nvPr>
            <p:custDataLst>
              <p:tags r:id="rId14"/>
            </p:custDataLst>
          </p:nvPr>
        </p:nvSpPr>
        <p:spPr>
          <a:xfrm>
            <a:off x="6617922" y="3600099"/>
            <a:ext cx="523075" cy="376614"/>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4</a:t>
            </a:r>
          </a:p>
        </p:txBody>
      </p:sp>
      <p:sp>
        <p:nvSpPr>
          <p:cNvPr id="1048591" name="文本框 20">
            <a:extLst>
              <a:ext uri="{FF2B5EF4-FFF2-40B4-BE49-F238E27FC236}">
                <a16:creationId xmlns:a16="http://schemas.microsoft.com/office/drawing/2014/main" id="{EBCFD0E6-DF43-BC88-EBED-08C0DE003113}"/>
              </a:ext>
            </a:extLst>
          </p:cNvPr>
          <p:cNvSpPr txBox="1"/>
          <p:nvPr>
            <p:custDataLst>
              <p:tags r:id="rId15"/>
            </p:custDataLst>
          </p:nvPr>
        </p:nvSpPr>
        <p:spPr>
          <a:xfrm>
            <a:off x="7594441" y="2154982"/>
            <a:ext cx="3640506"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谈谈你对MBTI的理解</a:t>
            </a:r>
            <a:r>
              <a:rPr lang="zh-CN" alt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a:t>
            </a:r>
          </a:p>
        </p:txBody>
      </p:sp>
      <p:sp>
        <p:nvSpPr>
          <p:cNvPr id="1048592" name="文本框 22">
            <a:extLst>
              <a:ext uri="{FF2B5EF4-FFF2-40B4-BE49-F238E27FC236}">
                <a16:creationId xmlns:a16="http://schemas.microsoft.com/office/drawing/2014/main" id="{1810F4DB-BDB3-895A-8363-E1352209F69B}"/>
              </a:ext>
            </a:extLst>
          </p:cNvPr>
          <p:cNvSpPr txBox="1"/>
          <p:nvPr>
            <p:custDataLst>
              <p:tags r:id="rId16"/>
            </p:custDataLst>
          </p:nvPr>
        </p:nvSpPr>
        <p:spPr>
          <a:xfrm>
            <a:off x="7155227" y="1487773"/>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3</a:t>
            </a:r>
          </a:p>
        </p:txBody>
      </p:sp>
      <p:sp>
        <p:nvSpPr>
          <p:cNvPr id="1048593" name="文本框 23">
            <a:extLst>
              <a:ext uri="{FF2B5EF4-FFF2-40B4-BE49-F238E27FC236}">
                <a16:creationId xmlns:a16="http://schemas.microsoft.com/office/drawing/2014/main" id="{387821BD-F866-EC14-ACDD-FDF433F668CF}"/>
              </a:ext>
            </a:extLst>
          </p:cNvPr>
          <p:cNvSpPr txBox="1"/>
          <p:nvPr>
            <p:custDataLst>
              <p:tags r:id="rId17"/>
            </p:custDataLst>
          </p:nvPr>
        </p:nvSpPr>
        <p:spPr>
          <a:xfrm>
            <a:off x="7231485" y="3095989"/>
            <a:ext cx="3640506" cy="1241837"/>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zh-CN" altLang="en-US" sz="2800"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总结</a:t>
            </a:r>
            <a:endParaRPr lang="en-US" sz="2400" kern="100" spc="0" dirty="0">
              <a:solidFill>
                <a:srgbClr val="424142">
                  <a:alpha val="100000"/>
                </a:srgbClr>
              </a:solidFill>
              <a:latin typeface="Noto Sans S Chinese Regular" panose="02010800040101010101" pitchFamily="1" charset="-122"/>
              <a:ea typeface="Noto Sans S Chinese Regular" panose="02010800040101010101" pitchFamily="1" charset="-122"/>
            </a:endParaRPr>
          </a:p>
        </p:txBody>
      </p:sp>
      <p:sp>
        <p:nvSpPr>
          <p:cNvPr id="1048594" name="文本框 27">
            <a:extLst>
              <a:ext uri="{FF2B5EF4-FFF2-40B4-BE49-F238E27FC236}">
                <a16:creationId xmlns:a16="http://schemas.microsoft.com/office/drawing/2014/main" id="{EEC1D351-FC3B-07CA-2614-DE8A7754BB89}"/>
              </a:ext>
            </a:extLst>
          </p:cNvPr>
          <p:cNvSpPr txBox="1"/>
          <p:nvPr>
            <p:custDataLst>
              <p:tags r:id="rId18"/>
            </p:custDataLst>
          </p:nvPr>
        </p:nvSpPr>
        <p:spPr>
          <a:xfrm>
            <a:off x="7251969" y="844153"/>
            <a:ext cx="2847975" cy="378372"/>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altLang="zh-CN" sz="2800" kern="100" spc="0" dirty="0">
                <a:solidFill>
                  <a:srgbClr val="1A4B59">
                    <a:alpha val="100000"/>
                  </a:srgbClr>
                </a:solidFill>
                <a:latin typeface="创客贴稚圆体" charset="-122"/>
                <a:ea typeface="创客贴稚圆体" charset="-122"/>
              </a:rPr>
              <a:t>What is MBTI?</a:t>
            </a:r>
            <a:endParaRPr lang="zh-CN" altLang="en-US" sz="2800" kern="100" spc="0" dirty="0">
              <a:solidFill>
                <a:srgbClr val="1A4B59">
                  <a:alpha val="100000"/>
                </a:srgbClr>
              </a:solidFill>
              <a:latin typeface="创客贴稚圆体" charset="-122"/>
              <a:ea typeface="创客贴稚圆体" charset="-122"/>
            </a:endParaRPr>
          </a:p>
        </p:txBody>
      </p:sp>
      <p:sp>
        <p:nvSpPr>
          <p:cNvPr id="1048595" name="文本框 29">
            <a:extLst>
              <a:ext uri="{FF2B5EF4-FFF2-40B4-BE49-F238E27FC236}">
                <a16:creationId xmlns:a16="http://schemas.microsoft.com/office/drawing/2014/main" id="{235B3FE5-7B35-AE9E-7242-A6D4546DB46B}"/>
              </a:ext>
            </a:extLst>
          </p:cNvPr>
          <p:cNvSpPr txBox="1"/>
          <p:nvPr>
            <p:custDataLst>
              <p:tags r:id="rId19"/>
            </p:custDataLst>
          </p:nvPr>
        </p:nvSpPr>
        <p:spPr>
          <a:xfrm>
            <a:off x="7212599" y="4061504"/>
            <a:ext cx="2297261" cy="16002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1400" kern="100" spc="0">
                <a:solidFill>
                  <a:srgbClr val="424142">
                    <a:alpha val="100000"/>
                  </a:srgbClr>
                </a:solidFill>
                <a:latin typeface="Noto Sans S Chinese Regular" panose="02010800040101010101" pitchFamily="1" charset="-122"/>
                <a:ea typeface="Noto Sans S Chinese Regular" panose="02010800040101010101" pitchFamily="1" charset="-122"/>
              </a:rPr>
              <a:t>Summary</a:t>
            </a:r>
          </a:p>
        </p:txBody>
      </p:sp>
      <p:sp>
        <p:nvSpPr>
          <p:cNvPr id="1048596" name="文本框 30">
            <a:extLst>
              <a:ext uri="{FF2B5EF4-FFF2-40B4-BE49-F238E27FC236}">
                <a16:creationId xmlns:a16="http://schemas.microsoft.com/office/drawing/2014/main" id="{AA0DAAE4-CDA2-FECE-AA4B-B2FB2A5228C9}"/>
              </a:ext>
            </a:extLst>
          </p:cNvPr>
          <p:cNvSpPr txBox="1"/>
          <p:nvPr>
            <p:custDataLst>
              <p:tags r:id="rId20"/>
            </p:custDataLst>
          </p:nvPr>
        </p:nvSpPr>
        <p:spPr>
          <a:xfrm>
            <a:off x="7428309" y="3061335"/>
            <a:ext cx="3640506"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zh-CN" altLang="en-US" sz="1600" kern="100" spc="0">
                <a:solidFill>
                  <a:srgbClr val="424142">
                    <a:alpha val="100000"/>
                  </a:srgbClr>
                </a:solidFill>
                <a:latin typeface="Noto Sans S Chinese Regular" panose="02010800040101010101" pitchFamily="1" charset="-122"/>
                <a:ea typeface="Noto Sans S Chinese Regular" panose="02010800040101010101" pitchFamily="1" charset="-122"/>
              </a:rPr>
              <a:t>对人的认识只能通过</a:t>
            </a:r>
            <a:r>
              <a:rPr lang="en-US" altLang="zh-CN" sz="1600" kern="100" spc="0">
                <a:solidFill>
                  <a:srgbClr val="424142">
                    <a:alpha val="100000"/>
                  </a:srgbClr>
                </a:solidFill>
                <a:latin typeface="Noto Sans S Chinese Regular" panose="02010800040101010101" pitchFamily="1" charset="-122"/>
                <a:ea typeface="Noto Sans S Chinese Regular" panose="02010800040101010101" pitchFamily="1" charset="-122"/>
              </a:rPr>
              <a:t>MBTI</a:t>
            </a:r>
            <a:r>
              <a:rPr lang="zh-CN" altLang="en-US" sz="1600" kern="100" spc="0">
                <a:solidFill>
                  <a:srgbClr val="424142">
                    <a:alpha val="100000"/>
                  </a:srgbClr>
                </a:solidFill>
                <a:latin typeface="Noto Sans S Chinese Regular" panose="02010800040101010101" pitchFamily="1" charset="-122"/>
                <a:ea typeface="Noto Sans S Chinese Regular" panose="02010800040101010101" pitchFamily="1" charset="-122"/>
              </a:rPr>
              <a:t>吗🤔</a:t>
            </a:r>
          </a:p>
        </p:txBody>
      </p:sp>
    </p:spTree>
    <p:extLst>
      <p:ext uri="{BB962C8B-B14F-4D97-AF65-F5344CB8AC3E}">
        <p14:creationId xmlns:p14="http://schemas.microsoft.com/office/powerpoint/2010/main" val="4185247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0C3E3-58A6-AE4B-5609-57573D0D4FE0}"/>
            </a:ext>
          </a:extLst>
        </p:cNvPr>
        <p:cNvGrpSpPr/>
        <p:nvPr/>
      </p:nvGrpSpPr>
      <p:grpSpPr>
        <a:xfrm>
          <a:off x="0" y="0"/>
          <a:ext cx="0" cy="0"/>
          <a:chOff x="0" y="0"/>
          <a:chExt cx="0" cy="0"/>
        </a:xfrm>
      </p:grpSpPr>
      <p:grpSp>
        <p:nvGrpSpPr>
          <p:cNvPr id="53" name="组合 52">
            <a:extLst>
              <a:ext uri="{FF2B5EF4-FFF2-40B4-BE49-F238E27FC236}">
                <a16:creationId xmlns:a16="http://schemas.microsoft.com/office/drawing/2014/main" id="{A964FFD5-3DD6-6BEA-753B-17A75D601B5E}"/>
              </a:ext>
            </a:extLst>
          </p:cNvPr>
          <p:cNvGrpSpPr/>
          <p:nvPr/>
        </p:nvGrpSpPr>
        <p:grpSpPr>
          <a:xfrm rot="2771804">
            <a:off x="-2557167" y="-192815"/>
            <a:ext cx="5719468" cy="4695594"/>
            <a:chOff x="940091" y="346924"/>
            <a:chExt cx="3771782" cy="3096575"/>
          </a:xfrm>
        </p:grpSpPr>
        <p:sp>
          <p:nvSpPr>
            <p:cNvPr id="52" name="任意多边形: 形状 51">
              <a:extLst>
                <a:ext uri="{FF2B5EF4-FFF2-40B4-BE49-F238E27FC236}">
                  <a16:creationId xmlns:a16="http://schemas.microsoft.com/office/drawing/2014/main" id="{50CAA041-F227-9143-CF75-39A23CB0F96B}"/>
                </a:ext>
              </a:extLst>
            </p:cNvPr>
            <p:cNvSpPr>
              <a:spLocks noChangeAspect="1"/>
            </p:cNvSpPr>
            <p:nvPr/>
          </p:nvSpPr>
          <p:spPr bwMode="auto">
            <a:xfrm rot="18405544">
              <a:off x="979123" y="969264"/>
              <a:ext cx="2120290" cy="875610"/>
            </a:xfrm>
            <a:custGeom>
              <a:avLst/>
              <a:gdLst>
                <a:gd name="connsiteX0" fmla="*/ 2120290 w 2120290"/>
                <a:gd name="connsiteY0" fmla="*/ 606174 h 875610"/>
                <a:gd name="connsiteX1" fmla="*/ 2120290 w 2120290"/>
                <a:gd name="connsiteY1" fmla="*/ 612307 h 875610"/>
                <a:gd name="connsiteX2" fmla="*/ 1767801 w 2120290"/>
                <a:gd name="connsiteY2" fmla="*/ 875610 h 875610"/>
                <a:gd name="connsiteX3" fmla="*/ 1697781 w 2120290"/>
                <a:gd name="connsiteY3" fmla="*/ 791119 h 875610"/>
                <a:gd name="connsiteX4" fmla="*/ 354003 w 2120290"/>
                <a:gd name="connsiteY4" fmla="*/ 596497 h 875610"/>
                <a:gd name="connsiteX5" fmla="*/ 263167 w 2120290"/>
                <a:gd name="connsiteY5" fmla="*/ 657464 h 875610"/>
                <a:gd name="connsiteX6" fmla="*/ 0 w 2120290"/>
                <a:gd name="connsiteY6" fmla="*/ 305157 h 875610"/>
                <a:gd name="connsiteX7" fmla="*/ 0 w 2120290"/>
                <a:gd name="connsiteY7" fmla="*/ 300554 h 875610"/>
                <a:gd name="connsiteX8" fmla="*/ 126812 w 2120290"/>
                <a:gd name="connsiteY8" fmla="*/ 215441 h 875610"/>
                <a:gd name="connsiteX9" fmla="*/ 2024215 w 2120290"/>
                <a:gd name="connsiteY9" fmla="*/ 490244 h 87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20290" h="875610">
                  <a:moveTo>
                    <a:pt x="2120290" y="606174"/>
                  </a:moveTo>
                  <a:lnTo>
                    <a:pt x="2120290" y="612307"/>
                  </a:lnTo>
                  <a:lnTo>
                    <a:pt x="1767801" y="875610"/>
                  </a:lnTo>
                  <a:lnTo>
                    <a:pt x="1697781" y="791119"/>
                  </a:lnTo>
                  <a:cubicBezTo>
                    <a:pt x="1353634" y="416309"/>
                    <a:pt x="790348" y="334728"/>
                    <a:pt x="354003" y="596497"/>
                  </a:cubicBezTo>
                  <a:lnTo>
                    <a:pt x="263167" y="657464"/>
                  </a:lnTo>
                  <a:lnTo>
                    <a:pt x="0" y="305157"/>
                  </a:lnTo>
                  <a:lnTo>
                    <a:pt x="0" y="300554"/>
                  </a:lnTo>
                  <a:lnTo>
                    <a:pt x="126812" y="215441"/>
                  </a:lnTo>
                  <a:cubicBezTo>
                    <a:pt x="742927" y="-154177"/>
                    <a:pt x="1538282" y="-38984"/>
                    <a:pt x="2024215" y="490244"/>
                  </a:cubicBezTo>
                  <a:close/>
                </a:path>
              </a:pathLst>
            </a:custGeom>
            <a:blipFill dpi="0" rotWithShape="1">
              <a:blip r:embed="rId22" cstate="email"/>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400" eaLnBrk="0" fontAlgn="base" hangingPunct="0">
                <a:spcBef>
                  <a:spcPct val="0"/>
                </a:spcBef>
                <a:spcAft>
                  <a:spcPct val="0"/>
                </a:spcAft>
                <a:defRPr/>
              </a:pPr>
              <a:endParaRPr lang="zh-CN" altLang="en-US" sz="1735">
                <a:solidFill>
                  <a:prstClr val="white"/>
                </a:solidFill>
                <a:latin typeface="Calibri" panose="020F0502020204030204"/>
                <a:ea typeface="宋体" panose="02010600030101010101" pitchFamily="2" charset="-122"/>
              </a:endParaRPr>
            </a:p>
          </p:txBody>
        </p:sp>
        <p:pic>
          <p:nvPicPr>
            <p:cNvPr id="46" name="图片 45">
              <a:extLst>
                <a:ext uri="{FF2B5EF4-FFF2-40B4-BE49-F238E27FC236}">
                  <a16:creationId xmlns:a16="http://schemas.microsoft.com/office/drawing/2014/main" id="{E47C2CF1-1ED0-8501-AD6A-364C86392FE4}"/>
                </a:ext>
              </a:extLst>
            </p:cNvPr>
            <p:cNvPicPr>
              <a:picLocks noChangeAspect="1"/>
            </p:cNvPicPr>
            <p:nvPr/>
          </p:nvPicPr>
          <p:blipFill>
            <a:blip r:embed="rId23" cstate="email"/>
            <a:srcRect l="59" t="35226" r="3841" b="3208"/>
            <a:stretch>
              <a:fillRect/>
            </a:stretch>
          </p:blipFill>
          <p:spPr bwMode="auto">
            <a:xfrm rot="13432278">
              <a:off x="940091" y="2644991"/>
              <a:ext cx="2147483" cy="773845"/>
            </a:xfrm>
            <a:custGeom>
              <a:avLst/>
              <a:gdLst>
                <a:gd name="connsiteX0" fmla="*/ 2147483 w 2147483"/>
                <a:gd name="connsiteY0" fmla="*/ 466210 h 773845"/>
                <a:gd name="connsiteX1" fmla="*/ 1827482 w 2147483"/>
                <a:gd name="connsiteY1" fmla="*/ 773845 h 773845"/>
                <a:gd name="connsiteX2" fmla="*/ 1747538 w 2147483"/>
                <a:gd name="connsiteY2" fmla="*/ 698674 h 773845"/>
                <a:gd name="connsiteX3" fmla="*/ 390004 w 2147483"/>
                <a:gd name="connsiteY3" fmla="*/ 671928 h 773845"/>
                <a:gd name="connsiteX4" fmla="*/ 307415 w 2147483"/>
                <a:gd name="connsiteY4" fmla="*/ 743672 h 773845"/>
                <a:gd name="connsiteX5" fmla="*/ 0 w 2147483"/>
                <a:gd name="connsiteY5" fmla="*/ 423900 h 773845"/>
                <a:gd name="connsiteX6" fmla="*/ 2147483 w 2147483"/>
                <a:gd name="connsiteY6" fmla="*/ 466210 h 77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47483" h="773845">
                  <a:moveTo>
                    <a:pt x="2147483" y="466210"/>
                  </a:moveTo>
                  <a:lnTo>
                    <a:pt x="1827482" y="773845"/>
                  </a:lnTo>
                  <a:lnTo>
                    <a:pt x="1747538" y="698674"/>
                  </a:lnTo>
                  <a:cubicBezTo>
                    <a:pt x="1359633" y="369358"/>
                    <a:pt x="790581" y="358147"/>
                    <a:pt x="390004" y="671928"/>
                  </a:cubicBezTo>
                  <a:lnTo>
                    <a:pt x="307415" y="743672"/>
                  </a:lnTo>
                  <a:lnTo>
                    <a:pt x="0" y="423900"/>
                  </a:lnTo>
                  <a:cubicBezTo>
                    <a:pt x="604695" y="-157427"/>
                    <a:pt x="1566155" y="-138484"/>
                    <a:pt x="2147483" y="466210"/>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任意多边形: 形状 44">
              <a:extLst>
                <a:ext uri="{FF2B5EF4-FFF2-40B4-BE49-F238E27FC236}">
                  <a16:creationId xmlns:a16="http://schemas.microsoft.com/office/drawing/2014/main" id="{12F39D15-F058-0B64-BA32-3C044C3FBA97}"/>
                </a:ext>
              </a:extLst>
            </p:cNvPr>
            <p:cNvSpPr>
              <a:spLocks noChangeAspect="1"/>
            </p:cNvSpPr>
            <p:nvPr/>
          </p:nvSpPr>
          <p:spPr>
            <a:xfrm rot="3227539">
              <a:off x="3210440" y="1942065"/>
              <a:ext cx="883750" cy="2119117"/>
            </a:xfrm>
            <a:custGeom>
              <a:avLst/>
              <a:gdLst>
                <a:gd name="connsiteX0" fmla="*/ 0 w 883750"/>
                <a:gd name="connsiteY0" fmla="*/ 357911 h 2119117"/>
                <a:gd name="connsiteX1" fmla="*/ 262025 w 883750"/>
                <a:gd name="connsiteY1" fmla="*/ 0 h 2119117"/>
                <a:gd name="connsiteX2" fmla="*/ 675743 w 883750"/>
                <a:gd name="connsiteY2" fmla="*/ 1992728 h 2119117"/>
                <a:gd name="connsiteX3" fmla="*/ 592667 w 883750"/>
                <a:gd name="connsiteY3" fmla="*/ 2119117 h 2119117"/>
                <a:gd name="connsiteX4" fmla="*/ 585501 w 883750"/>
                <a:gd name="connsiteY4" fmla="*/ 2119117 h 2119117"/>
                <a:gd name="connsiteX5" fmla="*/ 232171 w 883750"/>
                <a:gd name="connsiteY5" fmla="*/ 1860446 h 2119117"/>
                <a:gd name="connsiteX6" fmla="*/ 292445 w 883750"/>
                <a:gd name="connsiteY6" fmla="*/ 1768746 h 2119117"/>
                <a:gd name="connsiteX7" fmla="*/ 84901 w 883750"/>
                <a:gd name="connsiteY7" fmla="*/ 426904 h 211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3750" h="2119117">
                  <a:moveTo>
                    <a:pt x="0" y="357911"/>
                  </a:moveTo>
                  <a:lnTo>
                    <a:pt x="262025" y="0"/>
                  </a:lnTo>
                  <a:cubicBezTo>
                    <a:pt x="896542" y="464527"/>
                    <a:pt x="1065390" y="1328825"/>
                    <a:pt x="675743" y="1992728"/>
                  </a:cubicBezTo>
                  <a:lnTo>
                    <a:pt x="592667" y="2119117"/>
                  </a:lnTo>
                  <a:lnTo>
                    <a:pt x="585501" y="2119117"/>
                  </a:lnTo>
                  <a:lnTo>
                    <a:pt x="232171" y="1860446"/>
                  </a:lnTo>
                  <a:lnTo>
                    <a:pt x="292445" y="1768746"/>
                  </a:lnTo>
                  <a:cubicBezTo>
                    <a:pt x="550003" y="1329904"/>
                    <a:pt x="463005" y="767430"/>
                    <a:pt x="84901" y="426904"/>
                  </a:cubicBezTo>
                  <a:close/>
                </a:path>
              </a:pathLst>
            </a:custGeom>
            <a:blipFill>
              <a:blip r:embed="rId24" cstate="email"/>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400" eaLnBrk="0" fontAlgn="base" hangingPunct="0">
                <a:spcBef>
                  <a:spcPct val="0"/>
                </a:spcBef>
                <a:spcAft>
                  <a:spcPct val="0"/>
                </a:spcAft>
                <a:defRPr/>
              </a:pPr>
              <a:endParaRPr lang="zh-CN" altLang="en-US" sz="1735" dirty="0">
                <a:solidFill>
                  <a:prstClr val="white"/>
                </a:solidFill>
                <a:latin typeface="Calibri" panose="020F0502020204030204"/>
                <a:ea typeface="宋体" panose="02010600030101010101" pitchFamily="2" charset="-122"/>
              </a:endParaRPr>
            </a:p>
          </p:txBody>
        </p:sp>
        <p:pic>
          <p:nvPicPr>
            <p:cNvPr id="44" name="图片 43">
              <a:extLst>
                <a:ext uri="{FF2B5EF4-FFF2-40B4-BE49-F238E27FC236}">
                  <a16:creationId xmlns:a16="http://schemas.microsoft.com/office/drawing/2014/main" id="{78BF3E53-4937-CF05-CEB9-00CD30BC1CA9}"/>
                </a:ext>
              </a:extLst>
            </p:cNvPr>
            <p:cNvPicPr>
              <a:picLocks noChangeAspect="1"/>
            </p:cNvPicPr>
            <p:nvPr/>
          </p:nvPicPr>
          <p:blipFill>
            <a:blip r:embed="rId25"/>
            <a:srcRect l="17379" t="6116" r="31845" b="3616"/>
            <a:stretch>
              <a:fillRect/>
            </a:stretch>
          </p:blipFill>
          <p:spPr bwMode="auto">
            <a:xfrm>
              <a:off x="2882220" y="666291"/>
              <a:ext cx="1518794" cy="1518794"/>
            </a:xfrm>
            <a:custGeom>
              <a:avLst/>
              <a:gdLst>
                <a:gd name="connsiteX0" fmla="*/ 0 w 1518794"/>
                <a:gd name="connsiteY0" fmla="*/ 0 h 1518794"/>
                <a:gd name="connsiteX1" fmla="*/ 1518794 w 1518794"/>
                <a:gd name="connsiteY1" fmla="*/ 1518794 h 1518794"/>
                <a:gd name="connsiteX2" fmla="*/ 1074902 w 1518794"/>
                <a:gd name="connsiteY2" fmla="*/ 1518794 h 1518794"/>
                <a:gd name="connsiteX3" fmla="*/ 1069368 w 1518794"/>
                <a:gd name="connsiteY3" fmla="*/ 1409199 h 1518794"/>
                <a:gd name="connsiteX4" fmla="*/ 109260 w 1518794"/>
                <a:gd name="connsiteY4" fmla="*/ 449091 h 1518794"/>
                <a:gd name="connsiteX5" fmla="*/ 0 w 1518794"/>
                <a:gd name="connsiteY5" fmla="*/ 443574 h 1518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18794" h="1518794">
                  <a:moveTo>
                    <a:pt x="0" y="0"/>
                  </a:moveTo>
                  <a:cubicBezTo>
                    <a:pt x="838807" y="0"/>
                    <a:pt x="1518794" y="679987"/>
                    <a:pt x="1518794" y="1518794"/>
                  </a:cubicBezTo>
                  <a:lnTo>
                    <a:pt x="1074902" y="1518794"/>
                  </a:lnTo>
                  <a:lnTo>
                    <a:pt x="1069368" y="1409199"/>
                  </a:lnTo>
                  <a:cubicBezTo>
                    <a:pt x="1017957" y="902962"/>
                    <a:pt x="615498" y="500503"/>
                    <a:pt x="109260" y="449091"/>
                  </a:cubicBezTo>
                  <a:lnTo>
                    <a:pt x="0" y="443574"/>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26" name="Picture 2">
            <a:extLst>
              <a:ext uri="{FF2B5EF4-FFF2-40B4-BE49-F238E27FC236}">
                <a16:creationId xmlns:a16="http://schemas.microsoft.com/office/drawing/2014/main" id="{FF5F5E78-EE5F-D1DC-231E-2DBCB9D2F9E2}"/>
              </a:ext>
            </a:extLst>
          </p:cNvPr>
          <p:cNvPicPr>
            <a:picLocks noChangeAspect="1" noChangeArrowheads="1"/>
          </p:cNvPicPr>
          <p:nvPr/>
        </p:nvPicPr>
        <p:blipFill>
          <a:blip r:embed="rId26" cstate="print">
            <a:extLst>
              <a:ext uri="{BEBA8EAE-BF5A-486C-A8C5-ECC9F3942E4B}">
                <a14:imgProps xmlns:a14="http://schemas.microsoft.com/office/drawing/2010/main">
                  <a14:imgLayer r:embed="rId2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rot="3100516">
            <a:off x="4576924" y="2352743"/>
            <a:ext cx="1583267" cy="1067815"/>
          </a:xfrm>
          <a:prstGeom prst="rect">
            <a:avLst/>
          </a:prstGeom>
          <a:noFill/>
          <a:extLst>
            <a:ext uri="{909E8E84-426E-40DD-AFC4-6F175D3DCCD1}">
              <a14:hiddenFill xmlns:a14="http://schemas.microsoft.com/office/drawing/2010/main">
                <a:solidFill>
                  <a:srgbClr val="FFFFFF"/>
                </a:solidFill>
              </a14:hiddenFill>
            </a:ext>
          </a:extLst>
        </p:spPr>
      </p:pic>
      <p:pic>
        <p:nvPicPr>
          <p:cNvPr id="2097166" name="图片 2">
            <a:extLst>
              <a:ext uri="{FF2B5EF4-FFF2-40B4-BE49-F238E27FC236}">
                <a16:creationId xmlns:a16="http://schemas.microsoft.com/office/drawing/2014/main" id="{ADA9ED20-0CDF-5145-99F2-83C78F3CEFEB}"/>
              </a:ext>
            </a:extLst>
          </p:cNvPr>
          <p:cNvPicPr>
            <a:picLocks noChangeAspect="1"/>
          </p:cNvPicPr>
          <p:nvPr>
            <p:custDataLst>
              <p:tags r:id="rId1"/>
            </p:custDataLst>
          </p:nvPr>
        </p:nvPicPr>
        <p:blipFill>
          <a:blip r:embed="rId28">
            <a:alphaModFix/>
          </a:blip>
          <a:stretch>
            <a:fillRect/>
          </a:stretch>
        </p:blipFill>
        <p:spPr>
          <a:xfrm>
            <a:off x="9882297" y="2990213"/>
            <a:ext cx="381469" cy="381469"/>
          </a:xfrm>
          <a:prstGeom prst="rect">
            <a:avLst/>
          </a:prstGeom>
        </p:spPr>
      </p:pic>
      <p:pic>
        <p:nvPicPr>
          <p:cNvPr id="2097167" name="图片 3">
            <a:extLst>
              <a:ext uri="{FF2B5EF4-FFF2-40B4-BE49-F238E27FC236}">
                <a16:creationId xmlns:a16="http://schemas.microsoft.com/office/drawing/2014/main" id="{7278B29E-8EB3-4C81-A6D7-DED548837737}"/>
              </a:ext>
            </a:extLst>
          </p:cNvPr>
          <p:cNvPicPr>
            <a:picLocks noChangeAspect="1"/>
          </p:cNvPicPr>
          <p:nvPr>
            <p:custDataLst>
              <p:tags r:id="rId2"/>
            </p:custDataLst>
          </p:nvPr>
        </p:nvPicPr>
        <p:blipFill>
          <a:blip r:embed="rId28">
            <a:alphaModFix/>
          </a:blip>
          <a:stretch>
            <a:fillRect/>
          </a:stretch>
        </p:blipFill>
        <p:spPr>
          <a:xfrm>
            <a:off x="6708410" y="3600070"/>
            <a:ext cx="381469" cy="381469"/>
          </a:xfrm>
          <a:prstGeom prst="rect">
            <a:avLst/>
          </a:prstGeom>
        </p:spPr>
      </p:pic>
      <p:pic>
        <p:nvPicPr>
          <p:cNvPr id="2097168" name="图片 4">
            <a:extLst>
              <a:ext uri="{FF2B5EF4-FFF2-40B4-BE49-F238E27FC236}">
                <a16:creationId xmlns:a16="http://schemas.microsoft.com/office/drawing/2014/main" id="{1344047F-0A74-F39B-DFD1-EF16E2B6D001}"/>
              </a:ext>
            </a:extLst>
          </p:cNvPr>
          <p:cNvPicPr>
            <a:picLocks noChangeAspect="1"/>
          </p:cNvPicPr>
          <p:nvPr>
            <p:custDataLst>
              <p:tags r:id="rId3"/>
            </p:custDataLst>
          </p:nvPr>
        </p:nvPicPr>
        <p:blipFill>
          <a:blip r:embed="rId28">
            <a:alphaModFix/>
          </a:blip>
          <a:stretch>
            <a:fillRect/>
          </a:stretch>
        </p:blipFill>
        <p:spPr>
          <a:xfrm>
            <a:off x="7212741" y="1487825"/>
            <a:ext cx="381469" cy="381469"/>
          </a:xfrm>
          <a:prstGeom prst="rect">
            <a:avLst/>
          </a:prstGeom>
        </p:spPr>
      </p:pic>
      <p:pic>
        <p:nvPicPr>
          <p:cNvPr id="2097169" name="图片 5">
            <a:extLst>
              <a:ext uri="{FF2B5EF4-FFF2-40B4-BE49-F238E27FC236}">
                <a16:creationId xmlns:a16="http://schemas.microsoft.com/office/drawing/2014/main" id="{E3ADCC63-9425-CE87-5256-023F156A0AEC}"/>
              </a:ext>
            </a:extLst>
          </p:cNvPr>
          <p:cNvPicPr>
            <a:picLocks noChangeAspect="1"/>
          </p:cNvPicPr>
          <p:nvPr>
            <p:custDataLst>
              <p:tags r:id="rId4"/>
            </p:custDataLst>
          </p:nvPr>
        </p:nvPicPr>
        <p:blipFill>
          <a:blip r:embed="rId28">
            <a:alphaModFix/>
          </a:blip>
          <a:stretch>
            <a:fillRect/>
          </a:stretch>
        </p:blipFill>
        <p:spPr>
          <a:xfrm>
            <a:off x="6708410" y="864071"/>
            <a:ext cx="381469" cy="381469"/>
          </a:xfrm>
          <a:prstGeom prst="rect">
            <a:avLst/>
          </a:prstGeom>
        </p:spPr>
      </p:pic>
      <p:pic>
        <p:nvPicPr>
          <p:cNvPr id="2097170" name="图片 6">
            <a:extLst>
              <a:ext uri="{FF2B5EF4-FFF2-40B4-BE49-F238E27FC236}">
                <a16:creationId xmlns:a16="http://schemas.microsoft.com/office/drawing/2014/main" id="{8165E521-0774-625C-ADB0-93EB5CE1A57C}"/>
              </a:ext>
            </a:extLst>
          </p:cNvPr>
          <p:cNvPicPr>
            <a:picLocks noChangeAspect="1"/>
          </p:cNvPicPr>
          <p:nvPr>
            <p:custDataLst>
              <p:tags r:id="rId5"/>
            </p:custDataLst>
          </p:nvPr>
        </p:nvPicPr>
        <p:blipFill>
          <a:blip r:embed="rId28">
            <a:alphaModFix/>
          </a:blip>
          <a:stretch>
            <a:fillRect/>
          </a:stretch>
        </p:blipFill>
        <p:spPr>
          <a:xfrm>
            <a:off x="6384242" y="229422"/>
            <a:ext cx="381469" cy="381469"/>
          </a:xfrm>
          <a:prstGeom prst="rect">
            <a:avLst/>
          </a:prstGeom>
        </p:spPr>
      </p:pic>
      <p:sp>
        <p:nvSpPr>
          <p:cNvPr id="1048582" name="文本框 10">
            <a:extLst>
              <a:ext uri="{FF2B5EF4-FFF2-40B4-BE49-F238E27FC236}">
                <a16:creationId xmlns:a16="http://schemas.microsoft.com/office/drawing/2014/main" id="{A29A8A79-E6B7-4487-C497-A2660975EDF3}"/>
              </a:ext>
            </a:extLst>
          </p:cNvPr>
          <p:cNvSpPr txBox="1"/>
          <p:nvPr>
            <p:custDataLst>
              <p:tags r:id="rId6"/>
            </p:custDataLst>
          </p:nvPr>
        </p:nvSpPr>
        <p:spPr>
          <a:xfrm>
            <a:off x="6309264" y="246761"/>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1</a:t>
            </a:r>
          </a:p>
        </p:txBody>
      </p:sp>
      <p:sp>
        <p:nvSpPr>
          <p:cNvPr id="1048583" name="文本框 11">
            <a:extLst>
              <a:ext uri="{FF2B5EF4-FFF2-40B4-BE49-F238E27FC236}">
                <a16:creationId xmlns:a16="http://schemas.microsoft.com/office/drawing/2014/main" id="{07D9293B-38EB-5281-B53E-3BFC08416A9D}"/>
              </a:ext>
            </a:extLst>
          </p:cNvPr>
          <p:cNvSpPr txBox="1"/>
          <p:nvPr>
            <p:custDataLst>
              <p:tags r:id="rId7"/>
            </p:custDataLst>
          </p:nvPr>
        </p:nvSpPr>
        <p:spPr>
          <a:xfrm>
            <a:off x="6982396" y="206708"/>
            <a:ext cx="2218433"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绪论</a:t>
            </a:r>
          </a:p>
        </p:txBody>
      </p:sp>
      <p:sp>
        <p:nvSpPr>
          <p:cNvPr id="1048584" name="文本框 12">
            <a:extLst>
              <a:ext uri="{FF2B5EF4-FFF2-40B4-BE49-F238E27FC236}">
                <a16:creationId xmlns:a16="http://schemas.microsoft.com/office/drawing/2014/main" id="{B4A22481-16FF-91B4-BB93-587E41ADC62B}"/>
              </a:ext>
            </a:extLst>
          </p:cNvPr>
          <p:cNvSpPr txBox="1"/>
          <p:nvPr>
            <p:custDataLst>
              <p:tags r:id="rId8"/>
            </p:custDataLst>
          </p:nvPr>
        </p:nvSpPr>
        <p:spPr>
          <a:xfrm>
            <a:off x="6982396" y="563384"/>
            <a:ext cx="1666640" cy="13716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sz="900" kern="100" spc="0">
                <a:solidFill>
                  <a:srgbClr val="424142">
                    <a:alpha val="100000"/>
                  </a:srgbClr>
                </a:solidFill>
                <a:latin typeface="Noto Sans S Chinese Regular" panose="02010800040101010101" pitchFamily="1" charset="-122"/>
                <a:ea typeface="Noto Sans S Chinese Regular" panose="02010800040101010101" pitchFamily="1" charset="-122"/>
              </a:rPr>
              <a:t>Introduction</a:t>
            </a:r>
          </a:p>
        </p:txBody>
      </p:sp>
      <p:sp>
        <p:nvSpPr>
          <p:cNvPr id="1048585" name="文本框 13">
            <a:extLst>
              <a:ext uri="{FF2B5EF4-FFF2-40B4-BE49-F238E27FC236}">
                <a16:creationId xmlns:a16="http://schemas.microsoft.com/office/drawing/2014/main" id="{8E0485B7-8B04-CCF7-DDC3-6F481366886F}"/>
              </a:ext>
            </a:extLst>
          </p:cNvPr>
          <p:cNvSpPr txBox="1"/>
          <p:nvPr>
            <p:custDataLst>
              <p:tags r:id="rId9"/>
            </p:custDataLst>
          </p:nvPr>
        </p:nvSpPr>
        <p:spPr>
          <a:xfrm>
            <a:off x="6636988" y="893016"/>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2</a:t>
            </a:r>
          </a:p>
        </p:txBody>
      </p:sp>
      <p:sp>
        <p:nvSpPr>
          <p:cNvPr id="1048586" name="文本框 14">
            <a:extLst>
              <a:ext uri="{FF2B5EF4-FFF2-40B4-BE49-F238E27FC236}">
                <a16:creationId xmlns:a16="http://schemas.microsoft.com/office/drawing/2014/main" id="{C94646B3-A123-7CE8-A14F-F81AD8A2728A}"/>
              </a:ext>
            </a:extLst>
          </p:cNvPr>
          <p:cNvSpPr txBox="1"/>
          <p:nvPr>
            <p:custDataLst>
              <p:tags r:id="rId10"/>
            </p:custDataLst>
          </p:nvPr>
        </p:nvSpPr>
        <p:spPr>
          <a:xfrm>
            <a:off x="7645153" y="1425688"/>
            <a:ext cx="2847975" cy="37846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altLang="zh-CN" sz="2800" kern="100" spc="0" dirty="0" err="1">
                <a:solidFill>
                  <a:srgbClr val="1A4B59">
                    <a:alpha val="100000"/>
                  </a:srgbClr>
                </a:solidFill>
                <a:latin typeface="创客贴稚圆体 Bold Bold" panose="02010800040101010101" pitchFamily="1" charset="-122"/>
                <a:ea typeface="创客贴稚圆体 Bold Bold" panose="02010800040101010101" pitchFamily="1" charset="-122"/>
              </a:rPr>
              <a:t>Nkuers</a:t>
            </a:r>
            <a:r>
              <a:rPr lang="zh-CN" altLang="en-US" sz="3200"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大</a:t>
            </a:r>
            <a:r>
              <a:rPr lang="zh-CN" sz="3200"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采访</a:t>
            </a:r>
          </a:p>
        </p:txBody>
      </p:sp>
      <p:sp>
        <p:nvSpPr>
          <p:cNvPr id="1048587" name="文本框 15">
            <a:extLst>
              <a:ext uri="{FF2B5EF4-FFF2-40B4-BE49-F238E27FC236}">
                <a16:creationId xmlns:a16="http://schemas.microsoft.com/office/drawing/2014/main" id="{092D59C2-CE03-E732-A6D5-49DA94E6BFBD}"/>
              </a:ext>
            </a:extLst>
          </p:cNvPr>
          <p:cNvSpPr txBox="1"/>
          <p:nvPr>
            <p:custDataLst>
              <p:tags r:id="rId11"/>
            </p:custDataLst>
          </p:nvPr>
        </p:nvSpPr>
        <p:spPr>
          <a:xfrm>
            <a:off x="8771524" y="1840274"/>
            <a:ext cx="2297261" cy="16002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2400" kern="100" spc="0" dirty="0">
                <a:solidFill>
                  <a:srgbClr val="424142">
                    <a:alpha val="100000"/>
                  </a:srgbClr>
                </a:solidFill>
                <a:latin typeface="Noto Sans S Chinese Regular" panose="02010800040101010101" pitchFamily="1" charset="-122"/>
                <a:ea typeface="Noto Sans S Chinese Regular" panose="02010800040101010101" pitchFamily="1" charset="-122"/>
              </a:rPr>
              <a:t>Interview</a:t>
            </a:r>
          </a:p>
        </p:txBody>
      </p:sp>
      <p:sp>
        <p:nvSpPr>
          <p:cNvPr id="1048588" name="文本框 16">
            <a:extLst>
              <a:ext uri="{FF2B5EF4-FFF2-40B4-BE49-F238E27FC236}">
                <a16:creationId xmlns:a16="http://schemas.microsoft.com/office/drawing/2014/main" id="{D2BDB8B1-59F4-B8C5-9DE7-A308F6051F85}"/>
              </a:ext>
            </a:extLst>
          </p:cNvPr>
          <p:cNvSpPr txBox="1"/>
          <p:nvPr>
            <p:custDataLst>
              <p:tags r:id="rId12"/>
            </p:custDataLst>
          </p:nvPr>
        </p:nvSpPr>
        <p:spPr>
          <a:xfrm>
            <a:off x="9773248" y="2990006"/>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5</a:t>
            </a:r>
          </a:p>
        </p:txBody>
      </p:sp>
      <p:sp>
        <p:nvSpPr>
          <p:cNvPr id="1048589" name="文本框 17">
            <a:extLst>
              <a:ext uri="{FF2B5EF4-FFF2-40B4-BE49-F238E27FC236}">
                <a16:creationId xmlns:a16="http://schemas.microsoft.com/office/drawing/2014/main" id="{8E0363F7-BBBA-02A7-593D-C27E193ACC3C}"/>
              </a:ext>
            </a:extLst>
          </p:cNvPr>
          <p:cNvSpPr txBox="1"/>
          <p:nvPr>
            <p:custDataLst>
              <p:tags r:id="rId13"/>
            </p:custDataLst>
          </p:nvPr>
        </p:nvSpPr>
        <p:spPr>
          <a:xfrm>
            <a:off x="8028384" y="2571750"/>
            <a:ext cx="3640506"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MBTI</a:t>
            </a:r>
            <a:r>
              <a:rPr lang="zh-CN" alt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是</a:t>
            </a:r>
            <a:r>
              <a:rPr lang="en-US" sz="2400" b="1" kern="100" spc="0">
                <a:solidFill>
                  <a:srgbClr val="424142">
                    <a:alpha val="100000"/>
                  </a:srgbClr>
                </a:solidFill>
                <a:latin typeface="Noto Sans S Chinese Regular" panose="02010800040101010101" pitchFamily="1" charset="-122"/>
                <a:ea typeface="Noto Sans S Chinese Regular" panose="02010800040101010101" pitchFamily="1" charset="-122"/>
              </a:rPr>
              <a:t>帮助</a:t>
            </a:r>
            <a:r>
              <a:rPr 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or</a:t>
            </a:r>
            <a:r>
              <a:rPr lang="zh-CN" altLang="en-US" sz="2400" b="1" kern="100" spc="0">
                <a:solidFill>
                  <a:srgbClr val="424142">
                    <a:alpha val="100000"/>
                  </a:srgbClr>
                </a:solidFill>
                <a:latin typeface="Noto Sans S Chinese Regular" panose="02010800040101010101" pitchFamily="1" charset="-122"/>
                <a:ea typeface="Noto Sans S Chinese Regular" panose="02010800040101010101" pitchFamily="1" charset="-122"/>
              </a:rPr>
              <a:t>限制</a:t>
            </a:r>
            <a:r>
              <a:rPr 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我们认识自我</a:t>
            </a:r>
            <a:r>
              <a:rPr lang="zh-CN" alt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a:t>
            </a:r>
          </a:p>
        </p:txBody>
      </p:sp>
      <p:sp>
        <p:nvSpPr>
          <p:cNvPr id="1048590" name="文本框 19">
            <a:extLst>
              <a:ext uri="{FF2B5EF4-FFF2-40B4-BE49-F238E27FC236}">
                <a16:creationId xmlns:a16="http://schemas.microsoft.com/office/drawing/2014/main" id="{F8E26969-CC48-51F8-59DB-2B1DE3F656B4}"/>
              </a:ext>
            </a:extLst>
          </p:cNvPr>
          <p:cNvSpPr txBox="1"/>
          <p:nvPr>
            <p:custDataLst>
              <p:tags r:id="rId14"/>
            </p:custDataLst>
          </p:nvPr>
        </p:nvSpPr>
        <p:spPr>
          <a:xfrm>
            <a:off x="6617922" y="3600099"/>
            <a:ext cx="523075" cy="376614"/>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4</a:t>
            </a:r>
          </a:p>
        </p:txBody>
      </p:sp>
      <p:sp>
        <p:nvSpPr>
          <p:cNvPr id="1048591" name="文本框 20">
            <a:extLst>
              <a:ext uri="{FF2B5EF4-FFF2-40B4-BE49-F238E27FC236}">
                <a16:creationId xmlns:a16="http://schemas.microsoft.com/office/drawing/2014/main" id="{CEADFF49-A75D-3515-7CC7-793F9397BF91}"/>
              </a:ext>
            </a:extLst>
          </p:cNvPr>
          <p:cNvSpPr txBox="1"/>
          <p:nvPr>
            <p:custDataLst>
              <p:tags r:id="rId15"/>
            </p:custDataLst>
          </p:nvPr>
        </p:nvSpPr>
        <p:spPr>
          <a:xfrm>
            <a:off x="7594441" y="2154982"/>
            <a:ext cx="3640506"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谈谈你对MBTI的理解</a:t>
            </a:r>
            <a:r>
              <a:rPr lang="zh-CN" alt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a:t>
            </a:r>
          </a:p>
        </p:txBody>
      </p:sp>
      <p:sp>
        <p:nvSpPr>
          <p:cNvPr id="1048592" name="文本框 22">
            <a:extLst>
              <a:ext uri="{FF2B5EF4-FFF2-40B4-BE49-F238E27FC236}">
                <a16:creationId xmlns:a16="http://schemas.microsoft.com/office/drawing/2014/main" id="{ECF1E609-33CC-D23C-DC27-8428DC33990E}"/>
              </a:ext>
            </a:extLst>
          </p:cNvPr>
          <p:cNvSpPr txBox="1"/>
          <p:nvPr>
            <p:custDataLst>
              <p:tags r:id="rId16"/>
            </p:custDataLst>
          </p:nvPr>
        </p:nvSpPr>
        <p:spPr>
          <a:xfrm>
            <a:off x="7155227" y="1487773"/>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3</a:t>
            </a:r>
          </a:p>
        </p:txBody>
      </p:sp>
      <p:sp>
        <p:nvSpPr>
          <p:cNvPr id="1048593" name="文本框 23">
            <a:extLst>
              <a:ext uri="{FF2B5EF4-FFF2-40B4-BE49-F238E27FC236}">
                <a16:creationId xmlns:a16="http://schemas.microsoft.com/office/drawing/2014/main" id="{F7C0FE1B-92C4-0AB0-AF5F-8B5E29A31437}"/>
              </a:ext>
            </a:extLst>
          </p:cNvPr>
          <p:cNvSpPr txBox="1"/>
          <p:nvPr>
            <p:custDataLst>
              <p:tags r:id="rId17"/>
            </p:custDataLst>
          </p:nvPr>
        </p:nvSpPr>
        <p:spPr>
          <a:xfrm>
            <a:off x="7231485" y="3095989"/>
            <a:ext cx="3640506" cy="1241837"/>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zh-CN" altLang="en-US" sz="2800"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总结</a:t>
            </a:r>
            <a:endParaRPr lang="en-US" sz="2400" kern="100" spc="0" dirty="0">
              <a:solidFill>
                <a:srgbClr val="424142">
                  <a:alpha val="100000"/>
                </a:srgbClr>
              </a:solidFill>
              <a:latin typeface="Noto Sans S Chinese Regular" panose="02010800040101010101" pitchFamily="1" charset="-122"/>
              <a:ea typeface="Noto Sans S Chinese Regular" panose="02010800040101010101" pitchFamily="1" charset="-122"/>
            </a:endParaRPr>
          </a:p>
        </p:txBody>
      </p:sp>
      <p:sp>
        <p:nvSpPr>
          <p:cNvPr id="1048594" name="文本框 27">
            <a:extLst>
              <a:ext uri="{FF2B5EF4-FFF2-40B4-BE49-F238E27FC236}">
                <a16:creationId xmlns:a16="http://schemas.microsoft.com/office/drawing/2014/main" id="{AA8969B8-805D-2CB2-1665-1D22AAB3A3CF}"/>
              </a:ext>
            </a:extLst>
          </p:cNvPr>
          <p:cNvSpPr txBox="1"/>
          <p:nvPr>
            <p:custDataLst>
              <p:tags r:id="rId18"/>
            </p:custDataLst>
          </p:nvPr>
        </p:nvSpPr>
        <p:spPr>
          <a:xfrm>
            <a:off x="7251969" y="844153"/>
            <a:ext cx="2847975" cy="378372"/>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altLang="zh-CN" sz="2800" kern="100" spc="0" dirty="0">
                <a:solidFill>
                  <a:srgbClr val="1A4B59">
                    <a:alpha val="100000"/>
                  </a:srgbClr>
                </a:solidFill>
                <a:latin typeface="创客贴稚圆体" charset="-122"/>
                <a:ea typeface="创客贴稚圆体" charset="-122"/>
              </a:rPr>
              <a:t>What is MBTI?</a:t>
            </a:r>
            <a:endParaRPr lang="zh-CN" altLang="en-US" sz="2800" kern="100" spc="0" dirty="0">
              <a:solidFill>
                <a:srgbClr val="1A4B59">
                  <a:alpha val="100000"/>
                </a:srgbClr>
              </a:solidFill>
              <a:latin typeface="创客贴稚圆体" charset="-122"/>
              <a:ea typeface="创客贴稚圆体" charset="-122"/>
            </a:endParaRPr>
          </a:p>
        </p:txBody>
      </p:sp>
      <p:sp>
        <p:nvSpPr>
          <p:cNvPr id="1048595" name="文本框 29">
            <a:extLst>
              <a:ext uri="{FF2B5EF4-FFF2-40B4-BE49-F238E27FC236}">
                <a16:creationId xmlns:a16="http://schemas.microsoft.com/office/drawing/2014/main" id="{D621EBA7-F84B-0D4C-9C74-C441D89146CF}"/>
              </a:ext>
            </a:extLst>
          </p:cNvPr>
          <p:cNvSpPr txBox="1"/>
          <p:nvPr>
            <p:custDataLst>
              <p:tags r:id="rId19"/>
            </p:custDataLst>
          </p:nvPr>
        </p:nvSpPr>
        <p:spPr>
          <a:xfrm>
            <a:off x="7212599" y="4061504"/>
            <a:ext cx="2297261" cy="16002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1400" kern="100" spc="0">
                <a:solidFill>
                  <a:srgbClr val="424142">
                    <a:alpha val="100000"/>
                  </a:srgbClr>
                </a:solidFill>
                <a:latin typeface="Noto Sans S Chinese Regular" panose="02010800040101010101" pitchFamily="1" charset="-122"/>
                <a:ea typeface="Noto Sans S Chinese Regular" panose="02010800040101010101" pitchFamily="1" charset="-122"/>
              </a:rPr>
              <a:t>Summary</a:t>
            </a:r>
          </a:p>
        </p:txBody>
      </p:sp>
      <p:sp>
        <p:nvSpPr>
          <p:cNvPr id="1048596" name="文本框 30">
            <a:extLst>
              <a:ext uri="{FF2B5EF4-FFF2-40B4-BE49-F238E27FC236}">
                <a16:creationId xmlns:a16="http://schemas.microsoft.com/office/drawing/2014/main" id="{958AE9C7-D7CE-F35F-F299-F660394B2433}"/>
              </a:ext>
            </a:extLst>
          </p:cNvPr>
          <p:cNvSpPr txBox="1"/>
          <p:nvPr>
            <p:custDataLst>
              <p:tags r:id="rId20"/>
            </p:custDataLst>
          </p:nvPr>
        </p:nvSpPr>
        <p:spPr>
          <a:xfrm>
            <a:off x="7428309" y="3061335"/>
            <a:ext cx="3640506"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zh-CN" altLang="en-US" sz="1600" kern="100" spc="0">
                <a:solidFill>
                  <a:srgbClr val="424142">
                    <a:alpha val="100000"/>
                  </a:srgbClr>
                </a:solidFill>
                <a:latin typeface="Noto Sans S Chinese Regular" panose="02010800040101010101" pitchFamily="1" charset="-122"/>
                <a:ea typeface="Noto Sans S Chinese Regular" panose="02010800040101010101" pitchFamily="1" charset="-122"/>
              </a:rPr>
              <a:t>对人的认识只能通过</a:t>
            </a:r>
            <a:r>
              <a:rPr lang="en-US" altLang="zh-CN" sz="1600" kern="100" spc="0">
                <a:solidFill>
                  <a:srgbClr val="424142">
                    <a:alpha val="100000"/>
                  </a:srgbClr>
                </a:solidFill>
                <a:latin typeface="Noto Sans S Chinese Regular" panose="02010800040101010101" pitchFamily="1" charset="-122"/>
                <a:ea typeface="Noto Sans S Chinese Regular" panose="02010800040101010101" pitchFamily="1" charset="-122"/>
              </a:rPr>
              <a:t>MBTI</a:t>
            </a:r>
            <a:r>
              <a:rPr lang="zh-CN" altLang="en-US" sz="1600" kern="100" spc="0">
                <a:solidFill>
                  <a:srgbClr val="424142">
                    <a:alpha val="100000"/>
                  </a:srgbClr>
                </a:solidFill>
                <a:latin typeface="Noto Sans S Chinese Regular" panose="02010800040101010101" pitchFamily="1" charset="-122"/>
                <a:ea typeface="Noto Sans S Chinese Regular" panose="02010800040101010101" pitchFamily="1" charset="-122"/>
              </a:rPr>
              <a:t>吗🤔</a:t>
            </a:r>
          </a:p>
        </p:txBody>
      </p:sp>
    </p:spTree>
    <p:extLst>
      <p:ext uri="{BB962C8B-B14F-4D97-AF65-F5344CB8AC3E}">
        <p14:creationId xmlns:p14="http://schemas.microsoft.com/office/powerpoint/2010/main" val="2006941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83412-6B29-C2FE-B67B-CAA793F1F29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0375CEA7-C866-57B6-8F76-1909EF4E812F}"/>
              </a:ext>
            </a:extLst>
          </p:cNvPr>
          <p:cNvPicPr>
            <a:picLocks noChangeAspect="1" noChangeArrowheads="1"/>
          </p:cNvPicPr>
          <p:nvPr/>
        </p:nvPicPr>
        <p:blipFill>
          <a:blip r:embed="rId22" cstate="print">
            <a:extLst>
              <a:ext uri="{BEBA8EAE-BF5A-486C-A8C5-ECC9F3942E4B}">
                <a14:imgProps xmlns:a14="http://schemas.microsoft.com/office/drawing/2010/main">
                  <a14:imgLayer r:embed="rId2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rot="3100516">
            <a:off x="4576924" y="2352743"/>
            <a:ext cx="1583267" cy="1067815"/>
          </a:xfrm>
          <a:prstGeom prst="rect">
            <a:avLst/>
          </a:prstGeom>
          <a:noFill/>
          <a:extLst>
            <a:ext uri="{909E8E84-426E-40DD-AFC4-6F175D3DCCD1}">
              <a14:hiddenFill xmlns:a14="http://schemas.microsoft.com/office/drawing/2010/main">
                <a:solidFill>
                  <a:srgbClr val="FFFFFF"/>
                </a:solidFill>
              </a14:hiddenFill>
            </a:ext>
          </a:extLst>
        </p:spPr>
      </p:pic>
      <p:pic>
        <p:nvPicPr>
          <p:cNvPr id="2097166" name="图片 2">
            <a:extLst>
              <a:ext uri="{FF2B5EF4-FFF2-40B4-BE49-F238E27FC236}">
                <a16:creationId xmlns:a16="http://schemas.microsoft.com/office/drawing/2014/main" id="{A79586B2-8640-F9BE-63F3-48F2A97AAFC5}"/>
              </a:ext>
            </a:extLst>
          </p:cNvPr>
          <p:cNvPicPr>
            <a:picLocks noChangeAspect="1"/>
          </p:cNvPicPr>
          <p:nvPr>
            <p:custDataLst>
              <p:tags r:id="rId1"/>
            </p:custDataLst>
          </p:nvPr>
        </p:nvPicPr>
        <p:blipFill>
          <a:blip r:embed="rId24">
            <a:alphaModFix/>
          </a:blip>
          <a:stretch>
            <a:fillRect/>
          </a:stretch>
        </p:blipFill>
        <p:spPr>
          <a:xfrm>
            <a:off x="9882297" y="2990213"/>
            <a:ext cx="381469" cy="381469"/>
          </a:xfrm>
          <a:prstGeom prst="rect">
            <a:avLst/>
          </a:prstGeom>
        </p:spPr>
      </p:pic>
      <p:pic>
        <p:nvPicPr>
          <p:cNvPr id="2097167" name="图片 3">
            <a:extLst>
              <a:ext uri="{FF2B5EF4-FFF2-40B4-BE49-F238E27FC236}">
                <a16:creationId xmlns:a16="http://schemas.microsoft.com/office/drawing/2014/main" id="{BACFB149-3C28-4D4F-B4EC-2C9B8770EA9E}"/>
              </a:ext>
            </a:extLst>
          </p:cNvPr>
          <p:cNvPicPr>
            <a:picLocks noChangeAspect="1"/>
          </p:cNvPicPr>
          <p:nvPr>
            <p:custDataLst>
              <p:tags r:id="rId2"/>
            </p:custDataLst>
          </p:nvPr>
        </p:nvPicPr>
        <p:blipFill>
          <a:blip r:embed="rId24">
            <a:alphaModFix/>
          </a:blip>
          <a:stretch>
            <a:fillRect/>
          </a:stretch>
        </p:blipFill>
        <p:spPr>
          <a:xfrm>
            <a:off x="6708410" y="3600070"/>
            <a:ext cx="381469" cy="381469"/>
          </a:xfrm>
          <a:prstGeom prst="rect">
            <a:avLst/>
          </a:prstGeom>
        </p:spPr>
      </p:pic>
      <p:pic>
        <p:nvPicPr>
          <p:cNvPr id="2097168" name="图片 4">
            <a:extLst>
              <a:ext uri="{FF2B5EF4-FFF2-40B4-BE49-F238E27FC236}">
                <a16:creationId xmlns:a16="http://schemas.microsoft.com/office/drawing/2014/main" id="{21A561D4-9EFB-9391-D707-C73335F16658}"/>
              </a:ext>
            </a:extLst>
          </p:cNvPr>
          <p:cNvPicPr>
            <a:picLocks noChangeAspect="1"/>
          </p:cNvPicPr>
          <p:nvPr>
            <p:custDataLst>
              <p:tags r:id="rId3"/>
            </p:custDataLst>
          </p:nvPr>
        </p:nvPicPr>
        <p:blipFill>
          <a:blip r:embed="rId24">
            <a:alphaModFix/>
          </a:blip>
          <a:stretch>
            <a:fillRect/>
          </a:stretch>
        </p:blipFill>
        <p:spPr>
          <a:xfrm>
            <a:off x="7212741" y="1487825"/>
            <a:ext cx="381469" cy="381469"/>
          </a:xfrm>
          <a:prstGeom prst="rect">
            <a:avLst/>
          </a:prstGeom>
        </p:spPr>
      </p:pic>
      <p:pic>
        <p:nvPicPr>
          <p:cNvPr id="2097169" name="图片 5">
            <a:extLst>
              <a:ext uri="{FF2B5EF4-FFF2-40B4-BE49-F238E27FC236}">
                <a16:creationId xmlns:a16="http://schemas.microsoft.com/office/drawing/2014/main" id="{BAE16A4C-6034-44C3-1875-48F8AF89E0E5}"/>
              </a:ext>
            </a:extLst>
          </p:cNvPr>
          <p:cNvPicPr>
            <a:picLocks noChangeAspect="1"/>
          </p:cNvPicPr>
          <p:nvPr>
            <p:custDataLst>
              <p:tags r:id="rId4"/>
            </p:custDataLst>
          </p:nvPr>
        </p:nvPicPr>
        <p:blipFill>
          <a:blip r:embed="rId24">
            <a:alphaModFix/>
          </a:blip>
          <a:stretch>
            <a:fillRect/>
          </a:stretch>
        </p:blipFill>
        <p:spPr>
          <a:xfrm>
            <a:off x="6708410" y="864071"/>
            <a:ext cx="381469" cy="381469"/>
          </a:xfrm>
          <a:prstGeom prst="rect">
            <a:avLst/>
          </a:prstGeom>
        </p:spPr>
      </p:pic>
      <p:pic>
        <p:nvPicPr>
          <p:cNvPr id="2097170" name="图片 6">
            <a:extLst>
              <a:ext uri="{FF2B5EF4-FFF2-40B4-BE49-F238E27FC236}">
                <a16:creationId xmlns:a16="http://schemas.microsoft.com/office/drawing/2014/main" id="{26CF343F-FE51-6F47-9B0A-2FC6A9BF65FE}"/>
              </a:ext>
            </a:extLst>
          </p:cNvPr>
          <p:cNvPicPr>
            <a:picLocks noChangeAspect="1"/>
          </p:cNvPicPr>
          <p:nvPr>
            <p:custDataLst>
              <p:tags r:id="rId5"/>
            </p:custDataLst>
          </p:nvPr>
        </p:nvPicPr>
        <p:blipFill>
          <a:blip r:embed="rId24">
            <a:alphaModFix/>
          </a:blip>
          <a:stretch>
            <a:fillRect/>
          </a:stretch>
        </p:blipFill>
        <p:spPr>
          <a:xfrm>
            <a:off x="6384242" y="229422"/>
            <a:ext cx="381469" cy="381469"/>
          </a:xfrm>
          <a:prstGeom prst="rect">
            <a:avLst/>
          </a:prstGeom>
        </p:spPr>
      </p:pic>
      <p:sp>
        <p:nvSpPr>
          <p:cNvPr id="1048582" name="文本框 10">
            <a:extLst>
              <a:ext uri="{FF2B5EF4-FFF2-40B4-BE49-F238E27FC236}">
                <a16:creationId xmlns:a16="http://schemas.microsoft.com/office/drawing/2014/main" id="{E0607A35-33D6-470D-B6D5-4066EF3E7DDF}"/>
              </a:ext>
            </a:extLst>
          </p:cNvPr>
          <p:cNvSpPr txBox="1"/>
          <p:nvPr>
            <p:custDataLst>
              <p:tags r:id="rId6"/>
            </p:custDataLst>
          </p:nvPr>
        </p:nvSpPr>
        <p:spPr>
          <a:xfrm>
            <a:off x="6309264" y="246761"/>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1</a:t>
            </a:r>
          </a:p>
        </p:txBody>
      </p:sp>
      <p:sp>
        <p:nvSpPr>
          <p:cNvPr id="1048583" name="文本框 11">
            <a:extLst>
              <a:ext uri="{FF2B5EF4-FFF2-40B4-BE49-F238E27FC236}">
                <a16:creationId xmlns:a16="http://schemas.microsoft.com/office/drawing/2014/main" id="{12FF5C81-5632-0A3B-9609-3F6E29FCEC50}"/>
              </a:ext>
            </a:extLst>
          </p:cNvPr>
          <p:cNvSpPr txBox="1"/>
          <p:nvPr>
            <p:custDataLst>
              <p:tags r:id="rId7"/>
            </p:custDataLst>
          </p:nvPr>
        </p:nvSpPr>
        <p:spPr>
          <a:xfrm>
            <a:off x="6982396" y="206708"/>
            <a:ext cx="2218433"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绪论</a:t>
            </a:r>
          </a:p>
        </p:txBody>
      </p:sp>
      <p:sp>
        <p:nvSpPr>
          <p:cNvPr id="1048584" name="文本框 12">
            <a:extLst>
              <a:ext uri="{FF2B5EF4-FFF2-40B4-BE49-F238E27FC236}">
                <a16:creationId xmlns:a16="http://schemas.microsoft.com/office/drawing/2014/main" id="{10C1134D-C7EB-EDC3-BF3B-DB3222A6F706}"/>
              </a:ext>
            </a:extLst>
          </p:cNvPr>
          <p:cNvSpPr txBox="1"/>
          <p:nvPr>
            <p:custDataLst>
              <p:tags r:id="rId8"/>
            </p:custDataLst>
          </p:nvPr>
        </p:nvSpPr>
        <p:spPr>
          <a:xfrm>
            <a:off x="6982396" y="563384"/>
            <a:ext cx="1666640" cy="13716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sz="900" kern="100" spc="0">
                <a:solidFill>
                  <a:srgbClr val="424142">
                    <a:alpha val="100000"/>
                  </a:srgbClr>
                </a:solidFill>
                <a:latin typeface="Noto Sans S Chinese Regular" panose="02010800040101010101" pitchFamily="1" charset="-122"/>
                <a:ea typeface="Noto Sans S Chinese Regular" panose="02010800040101010101" pitchFamily="1" charset="-122"/>
              </a:rPr>
              <a:t>Introduction</a:t>
            </a:r>
          </a:p>
        </p:txBody>
      </p:sp>
      <p:sp>
        <p:nvSpPr>
          <p:cNvPr id="1048585" name="文本框 13">
            <a:extLst>
              <a:ext uri="{FF2B5EF4-FFF2-40B4-BE49-F238E27FC236}">
                <a16:creationId xmlns:a16="http://schemas.microsoft.com/office/drawing/2014/main" id="{65A1F042-B5AF-E182-8D63-067EA95979F8}"/>
              </a:ext>
            </a:extLst>
          </p:cNvPr>
          <p:cNvSpPr txBox="1"/>
          <p:nvPr>
            <p:custDataLst>
              <p:tags r:id="rId9"/>
            </p:custDataLst>
          </p:nvPr>
        </p:nvSpPr>
        <p:spPr>
          <a:xfrm>
            <a:off x="6636988" y="893016"/>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2</a:t>
            </a:r>
          </a:p>
        </p:txBody>
      </p:sp>
      <p:sp>
        <p:nvSpPr>
          <p:cNvPr id="1048586" name="文本框 14">
            <a:extLst>
              <a:ext uri="{FF2B5EF4-FFF2-40B4-BE49-F238E27FC236}">
                <a16:creationId xmlns:a16="http://schemas.microsoft.com/office/drawing/2014/main" id="{651091B1-57C4-1B30-0B67-DA2EBFBD45BF}"/>
              </a:ext>
            </a:extLst>
          </p:cNvPr>
          <p:cNvSpPr txBox="1"/>
          <p:nvPr>
            <p:custDataLst>
              <p:tags r:id="rId10"/>
            </p:custDataLst>
          </p:nvPr>
        </p:nvSpPr>
        <p:spPr>
          <a:xfrm>
            <a:off x="7645153" y="1425688"/>
            <a:ext cx="2847975" cy="37846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altLang="zh-CN" sz="2800" kern="100" spc="0" dirty="0" err="1">
                <a:solidFill>
                  <a:srgbClr val="1A4B59">
                    <a:alpha val="100000"/>
                  </a:srgbClr>
                </a:solidFill>
                <a:latin typeface="创客贴稚圆体 Bold Bold" panose="02010800040101010101" pitchFamily="1" charset="-122"/>
                <a:ea typeface="创客贴稚圆体 Bold Bold" panose="02010800040101010101" pitchFamily="1" charset="-122"/>
              </a:rPr>
              <a:t>Nkuers</a:t>
            </a:r>
            <a:r>
              <a:rPr lang="zh-CN" altLang="en-US" sz="3200"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大</a:t>
            </a:r>
            <a:r>
              <a:rPr lang="zh-CN" sz="3200"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采访</a:t>
            </a:r>
          </a:p>
        </p:txBody>
      </p:sp>
      <p:sp>
        <p:nvSpPr>
          <p:cNvPr id="1048587" name="文本框 15">
            <a:extLst>
              <a:ext uri="{FF2B5EF4-FFF2-40B4-BE49-F238E27FC236}">
                <a16:creationId xmlns:a16="http://schemas.microsoft.com/office/drawing/2014/main" id="{71E918C1-899D-E0FD-C3B1-051C2115A5A6}"/>
              </a:ext>
            </a:extLst>
          </p:cNvPr>
          <p:cNvSpPr txBox="1"/>
          <p:nvPr>
            <p:custDataLst>
              <p:tags r:id="rId11"/>
            </p:custDataLst>
          </p:nvPr>
        </p:nvSpPr>
        <p:spPr>
          <a:xfrm>
            <a:off x="8771524" y="1840274"/>
            <a:ext cx="2297261" cy="16002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2400" kern="100" spc="0" dirty="0">
                <a:solidFill>
                  <a:srgbClr val="424142">
                    <a:alpha val="100000"/>
                  </a:srgbClr>
                </a:solidFill>
                <a:latin typeface="Noto Sans S Chinese Regular" panose="02010800040101010101" pitchFamily="1" charset="-122"/>
                <a:ea typeface="Noto Sans S Chinese Regular" panose="02010800040101010101" pitchFamily="1" charset="-122"/>
              </a:rPr>
              <a:t>Interview</a:t>
            </a:r>
          </a:p>
        </p:txBody>
      </p:sp>
      <p:sp>
        <p:nvSpPr>
          <p:cNvPr id="1048588" name="文本框 16">
            <a:extLst>
              <a:ext uri="{FF2B5EF4-FFF2-40B4-BE49-F238E27FC236}">
                <a16:creationId xmlns:a16="http://schemas.microsoft.com/office/drawing/2014/main" id="{620F93BC-E9D0-2365-F7D7-6E867EE4558F}"/>
              </a:ext>
            </a:extLst>
          </p:cNvPr>
          <p:cNvSpPr txBox="1"/>
          <p:nvPr>
            <p:custDataLst>
              <p:tags r:id="rId12"/>
            </p:custDataLst>
          </p:nvPr>
        </p:nvSpPr>
        <p:spPr>
          <a:xfrm>
            <a:off x="9773248" y="2990006"/>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5</a:t>
            </a:r>
          </a:p>
        </p:txBody>
      </p:sp>
      <p:sp>
        <p:nvSpPr>
          <p:cNvPr id="1048589" name="文本框 17">
            <a:extLst>
              <a:ext uri="{FF2B5EF4-FFF2-40B4-BE49-F238E27FC236}">
                <a16:creationId xmlns:a16="http://schemas.microsoft.com/office/drawing/2014/main" id="{B4A767C7-1A65-58D9-4D12-45388B971714}"/>
              </a:ext>
            </a:extLst>
          </p:cNvPr>
          <p:cNvSpPr txBox="1"/>
          <p:nvPr>
            <p:custDataLst>
              <p:tags r:id="rId13"/>
            </p:custDataLst>
          </p:nvPr>
        </p:nvSpPr>
        <p:spPr>
          <a:xfrm>
            <a:off x="8028384" y="2571750"/>
            <a:ext cx="3640506"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MBTI</a:t>
            </a:r>
            <a:r>
              <a:rPr lang="zh-CN" alt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是</a:t>
            </a:r>
            <a:r>
              <a:rPr lang="en-US" sz="2400" b="1" kern="100" spc="0">
                <a:solidFill>
                  <a:srgbClr val="424142">
                    <a:alpha val="100000"/>
                  </a:srgbClr>
                </a:solidFill>
                <a:latin typeface="Noto Sans S Chinese Regular" panose="02010800040101010101" pitchFamily="1" charset="-122"/>
                <a:ea typeface="Noto Sans S Chinese Regular" panose="02010800040101010101" pitchFamily="1" charset="-122"/>
              </a:rPr>
              <a:t>帮助</a:t>
            </a:r>
            <a:r>
              <a:rPr 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or</a:t>
            </a:r>
            <a:r>
              <a:rPr lang="zh-CN" altLang="en-US" sz="2400" b="1" kern="100" spc="0">
                <a:solidFill>
                  <a:srgbClr val="424142">
                    <a:alpha val="100000"/>
                  </a:srgbClr>
                </a:solidFill>
                <a:latin typeface="Noto Sans S Chinese Regular" panose="02010800040101010101" pitchFamily="1" charset="-122"/>
                <a:ea typeface="Noto Sans S Chinese Regular" panose="02010800040101010101" pitchFamily="1" charset="-122"/>
              </a:rPr>
              <a:t>限制</a:t>
            </a:r>
            <a:r>
              <a:rPr 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我们认识自我</a:t>
            </a:r>
            <a:r>
              <a:rPr lang="zh-CN" alt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a:t>
            </a:r>
          </a:p>
        </p:txBody>
      </p:sp>
      <p:sp>
        <p:nvSpPr>
          <p:cNvPr id="1048590" name="文本框 19">
            <a:extLst>
              <a:ext uri="{FF2B5EF4-FFF2-40B4-BE49-F238E27FC236}">
                <a16:creationId xmlns:a16="http://schemas.microsoft.com/office/drawing/2014/main" id="{4220D428-6B0A-2258-6B1F-0DC64015A0E9}"/>
              </a:ext>
            </a:extLst>
          </p:cNvPr>
          <p:cNvSpPr txBox="1"/>
          <p:nvPr>
            <p:custDataLst>
              <p:tags r:id="rId14"/>
            </p:custDataLst>
          </p:nvPr>
        </p:nvSpPr>
        <p:spPr>
          <a:xfrm>
            <a:off x="6617922" y="3600099"/>
            <a:ext cx="523075" cy="376614"/>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4</a:t>
            </a:r>
          </a:p>
        </p:txBody>
      </p:sp>
      <p:sp>
        <p:nvSpPr>
          <p:cNvPr id="1048591" name="文本框 20">
            <a:extLst>
              <a:ext uri="{FF2B5EF4-FFF2-40B4-BE49-F238E27FC236}">
                <a16:creationId xmlns:a16="http://schemas.microsoft.com/office/drawing/2014/main" id="{624A8565-E02B-3EAB-62C9-8B50B3FAE00A}"/>
              </a:ext>
            </a:extLst>
          </p:cNvPr>
          <p:cNvSpPr txBox="1"/>
          <p:nvPr>
            <p:custDataLst>
              <p:tags r:id="rId15"/>
            </p:custDataLst>
          </p:nvPr>
        </p:nvSpPr>
        <p:spPr>
          <a:xfrm>
            <a:off x="7594441" y="2154982"/>
            <a:ext cx="3640506"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谈谈你对MBTI的理解</a:t>
            </a:r>
            <a:r>
              <a:rPr lang="zh-CN" altLang="en-US" kern="100" spc="0">
                <a:solidFill>
                  <a:srgbClr val="424142">
                    <a:alpha val="100000"/>
                  </a:srgbClr>
                </a:solidFill>
                <a:latin typeface="Noto Sans S Chinese Regular" panose="02010800040101010101" pitchFamily="1" charset="-122"/>
                <a:ea typeface="Noto Sans S Chinese Regular" panose="02010800040101010101" pitchFamily="1" charset="-122"/>
              </a:rPr>
              <a:t>？</a:t>
            </a:r>
          </a:p>
        </p:txBody>
      </p:sp>
      <p:sp>
        <p:nvSpPr>
          <p:cNvPr id="1048592" name="文本框 22">
            <a:extLst>
              <a:ext uri="{FF2B5EF4-FFF2-40B4-BE49-F238E27FC236}">
                <a16:creationId xmlns:a16="http://schemas.microsoft.com/office/drawing/2014/main" id="{8F722A90-7FBC-6E80-1E9C-8C60B1069686}"/>
              </a:ext>
            </a:extLst>
          </p:cNvPr>
          <p:cNvSpPr txBox="1"/>
          <p:nvPr>
            <p:custDataLst>
              <p:tags r:id="rId16"/>
            </p:custDataLst>
          </p:nvPr>
        </p:nvSpPr>
        <p:spPr>
          <a:xfrm>
            <a:off x="7155227" y="1487773"/>
            <a:ext cx="490147" cy="352905"/>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2250" kern="100" spc="0">
                <a:solidFill>
                  <a:srgbClr val="FFFFFF">
                    <a:alpha val="100000"/>
                  </a:srgbClr>
                </a:solidFill>
                <a:latin typeface="创客贴稚圆体 Bold Bold" panose="02010800040101010101" pitchFamily="1" charset="-122"/>
                <a:ea typeface="创客贴稚圆体 Bold Bold" panose="02010800040101010101" pitchFamily="1" charset="-122"/>
              </a:rPr>
              <a:t>3</a:t>
            </a:r>
          </a:p>
        </p:txBody>
      </p:sp>
      <p:sp>
        <p:nvSpPr>
          <p:cNvPr id="1048593" name="文本框 23">
            <a:extLst>
              <a:ext uri="{FF2B5EF4-FFF2-40B4-BE49-F238E27FC236}">
                <a16:creationId xmlns:a16="http://schemas.microsoft.com/office/drawing/2014/main" id="{091722BD-C08D-7308-F2E7-273332757174}"/>
              </a:ext>
            </a:extLst>
          </p:cNvPr>
          <p:cNvSpPr txBox="1"/>
          <p:nvPr>
            <p:custDataLst>
              <p:tags r:id="rId17"/>
            </p:custDataLst>
          </p:nvPr>
        </p:nvSpPr>
        <p:spPr>
          <a:xfrm>
            <a:off x="7231485" y="3095989"/>
            <a:ext cx="3640506" cy="1241837"/>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zh-CN" altLang="en-US" sz="2800" kern="100" spc="0" dirty="0">
                <a:solidFill>
                  <a:srgbClr val="1A4B59">
                    <a:alpha val="100000"/>
                  </a:srgbClr>
                </a:solidFill>
                <a:latin typeface="创客贴稚圆体 Bold Bold" panose="02010800040101010101" pitchFamily="1" charset="-122"/>
                <a:ea typeface="创客贴稚圆体 Bold Bold" panose="02010800040101010101" pitchFamily="1" charset="-122"/>
              </a:rPr>
              <a:t>总结</a:t>
            </a:r>
            <a:endParaRPr lang="en-US" sz="2400" kern="100" spc="0" dirty="0">
              <a:solidFill>
                <a:srgbClr val="424142">
                  <a:alpha val="100000"/>
                </a:srgbClr>
              </a:solidFill>
              <a:latin typeface="Noto Sans S Chinese Regular" panose="02010800040101010101" pitchFamily="1" charset="-122"/>
              <a:ea typeface="Noto Sans S Chinese Regular" panose="02010800040101010101" pitchFamily="1" charset="-122"/>
            </a:endParaRPr>
          </a:p>
        </p:txBody>
      </p:sp>
      <p:sp>
        <p:nvSpPr>
          <p:cNvPr id="1048594" name="文本框 27">
            <a:extLst>
              <a:ext uri="{FF2B5EF4-FFF2-40B4-BE49-F238E27FC236}">
                <a16:creationId xmlns:a16="http://schemas.microsoft.com/office/drawing/2014/main" id="{14107864-4B9F-E207-ABAD-835B552733CE}"/>
              </a:ext>
            </a:extLst>
          </p:cNvPr>
          <p:cNvSpPr txBox="1"/>
          <p:nvPr>
            <p:custDataLst>
              <p:tags r:id="rId18"/>
            </p:custDataLst>
          </p:nvPr>
        </p:nvSpPr>
        <p:spPr>
          <a:xfrm>
            <a:off x="7251969" y="844153"/>
            <a:ext cx="2847975" cy="378372"/>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altLang="zh-CN" sz="2800" kern="100" spc="0" dirty="0">
                <a:solidFill>
                  <a:srgbClr val="1A4B59">
                    <a:alpha val="100000"/>
                  </a:srgbClr>
                </a:solidFill>
                <a:latin typeface="创客贴稚圆体" charset="-122"/>
                <a:ea typeface="创客贴稚圆体" charset="-122"/>
              </a:rPr>
              <a:t>What is MBTI?</a:t>
            </a:r>
            <a:endParaRPr lang="zh-CN" altLang="en-US" sz="2800" kern="100" spc="0" dirty="0">
              <a:solidFill>
                <a:srgbClr val="1A4B59">
                  <a:alpha val="100000"/>
                </a:srgbClr>
              </a:solidFill>
              <a:latin typeface="创客贴稚圆体" charset="-122"/>
              <a:ea typeface="创客贴稚圆体" charset="-122"/>
            </a:endParaRPr>
          </a:p>
        </p:txBody>
      </p:sp>
      <p:sp>
        <p:nvSpPr>
          <p:cNvPr id="1048595" name="文本框 29">
            <a:extLst>
              <a:ext uri="{FF2B5EF4-FFF2-40B4-BE49-F238E27FC236}">
                <a16:creationId xmlns:a16="http://schemas.microsoft.com/office/drawing/2014/main" id="{18BEB805-DBF8-E260-0421-1513EA40CBE0}"/>
              </a:ext>
            </a:extLst>
          </p:cNvPr>
          <p:cNvSpPr txBox="1"/>
          <p:nvPr>
            <p:custDataLst>
              <p:tags r:id="rId19"/>
            </p:custDataLst>
          </p:nvPr>
        </p:nvSpPr>
        <p:spPr>
          <a:xfrm>
            <a:off x="7212599" y="4061504"/>
            <a:ext cx="2297261" cy="16002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1400" kern="100" spc="0">
                <a:solidFill>
                  <a:srgbClr val="424142">
                    <a:alpha val="100000"/>
                  </a:srgbClr>
                </a:solidFill>
                <a:latin typeface="Noto Sans S Chinese Regular" panose="02010800040101010101" pitchFamily="1" charset="-122"/>
                <a:ea typeface="Noto Sans S Chinese Regular" panose="02010800040101010101" pitchFamily="1" charset="-122"/>
              </a:rPr>
              <a:t>Summary</a:t>
            </a:r>
          </a:p>
        </p:txBody>
      </p:sp>
      <p:sp>
        <p:nvSpPr>
          <p:cNvPr id="1048596" name="文本框 30">
            <a:extLst>
              <a:ext uri="{FF2B5EF4-FFF2-40B4-BE49-F238E27FC236}">
                <a16:creationId xmlns:a16="http://schemas.microsoft.com/office/drawing/2014/main" id="{6A7A9A45-078C-86C0-C262-67EC938B8A16}"/>
              </a:ext>
            </a:extLst>
          </p:cNvPr>
          <p:cNvSpPr txBox="1"/>
          <p:nvPr>
            <p:custDataLst>
              <p:tags r:id="rId20"/>
            </p:custDataLst>
          </p:nvPr>
        </p:nvSpPr>
        <p:spPr>
          <a:xfrm>
            <a:off x="7428309" y="3061335"/>
            <a:ext cx="3640506"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zh-CN" altLang="en-US" sz="1600" kern="100" spc="0">
                <a:solidFill>
                  <a:srgbClr val="424142">
                    <a:alpha val="100000"/>
                  </a:srgbClr>
                </a:solidFill>
                <a:latin typeface="Noto Sans S Chinese Regular" panose="02010800040101010101" pitchFamily="1" charset="-122"/>
                <a:ea typeface="Noto Sans S Chinese Regular" panose="02010800040101010101" pitchFamily="1" charset="-122"/>
              </a:rPr>
              <a:t>对人的认识只能通过</a:t>
            </a:r>
            <a:r>
              <a:rPr lang="en-US" altLang="zh-CN" sz="1600" kern="100" spc="0">
                <a:solidFill>
                  <a:srgbClr val="424142">
                    <a:alpha val="100000"/>
                  </a:srgbClr>
                </a:solidFill>
                <a:latin typeface="Noto Sans S Chinese Regular" panose="02010800040101010101" pitchFamily="1" charset="-122"/>
                <a:ea typeface="Noto Sans S Chinese Regular" panose="02010800040101010101" pitchFamily="1" charset="-122"/>
              </a:rPr>
              <a:t>MBTI</a:t>
            </a:r>
            <a:r>
              <a:rPr lang="zh-CN" altLang="en-US" sz="1600" kern="100" spc="0">
                <a:solidFill>
                  <a:srgbClr val="424142">
                    <a:alpha val="100000"/>
                  </a:srgbClr>
                </a:solidFill>
                <a:latin typeface="Noto Sans S Chinese Regular" panose="02010800040101010101" pitchFamily="1" charset="-122"/>
                <a:ea typeface="Noto Sans S Chinese Regular" panose="02010800040101010101" pitchFamily="1" charset="-122"/>
              </a:rPr>
              <a:t>吗🤔</a:t>
            </a:r>
          </a:p>
        </p:txBody>
      </p:sp>
      <p:sp>
        <p:nvSpPr>
          <p:cNvPr id="25" name="任意多边形: 形状 24">
            <a:extLst>
              <a:ext uri="{FF2B5EF4-FFF2-40B4-BE49-F238E27FC236}">
                <a16:creationId xmlns:a16="http://schemas.microsoft.com/office/drawing/2014/main" id="{A0F4F47A-19C6-2A41-E747-0D42F1F21AB6}"/>
              </a:ext>
            </a:extLst>
          </p:cNvPr>
          <p:cNvSpPr/>
          <p:nvPr/>
        </p:nvSpPr>
        <p:spPr>
          <a:xfrm>
            <a:off x="2882220" y="666291"/>
            <a:ext cx="1518794" cy="1518794"/>
          </a:xfrm>
          <a:custGeom>
            <a:avLst/>
            <a:gdLst>
              <a:gd name="connsiteX0" fmla="*/ 0 w 1518794"/>
              <a:gd name="connsiteY0" fmla="*/ 0 h 1518794"/>
              <a:gd name="connsiteX1" fmla="*/ 1518794 w 1518794"/>
              <a:gd name="connsiteY1" fmla="*/ 1518794 h 1518794"/>
              <a:gd name="connsiteX2" fmla="*/ 1074902 w 1518794"/>
              <a:gd name="connsiteY2" fmla="*/ 1518794 h 1518794"/>
              <a:gd name="connsiteX3" fmla="*/ 1069368 w 1518794"/>
              <a:gd name="connsiteY3" fmla="*/ 1409199 h 1518794"/>
              <a:gd name="connsiteX4" fmla="*/ 109260 w 1518794"/>
              <a:gd name="connsiteY4" fmla="*/ 449091 h 1518794"/>
              <a:gd name="connsiteX5" fmla="*/ 0 w 1518794"/>
              <a:gd name="connsiteY5" fmla="*/ 443574 h 1518794"/>
              <a:gd name="connsiteX6" fmla="*/ 0 w 1518794"/>
              <a:gd name="connsiteY6" fmla="*/ 0 h 1518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8794" h="1518794">
                <a:moveTo>
                  <a:pt x="0" y="0"/>
                </a:moveTo>
                <a:cubicBezTo>
                  <a:pt x="838807" y="0"/>
                  <a:pt x="1518794" y="679987"/>
                  <a:pt x="1518794" y="1518794"/>
                </a:cubicBezTo>
                <a:lnTo>
                  <a:pt x="1074902" y="1518794"/>
                </a:lnTo>
                <a:lnTo>
                  <a:pt x="1069368" y="1409199"/>
                </a:lnTo>
                <a:cubicBezTo>
                  <a:pt x="1017957" y="902962"/>
                  <a:pt x="615498" y="500503"/>
                  <a:pt x="109260" y="449091"/>
                </a:cubicBezTo>
                <a:lnTo>
                  <a:pt x="0" y="443574"/>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97959" tIns="606404" rIns="407514" bIns="1616039" numCol="1" spcCol="1270" anchor="ctr" anchorCtr="0">
            <a:noAutofit/>
          </a:bodyPr>
          <a:lstStyle/>
          <a:p>
            <a:pPr marL="0" lvl="0" indent="0" algn="ctr" defTabSz="1555750">
              <a:lnSpc>
                <a:spcPct val="90000"/>
              </a:lnSpc>
              <a:spcBef>
                <a:spcPct val="0"/>
              </a:spcBef>
              <a:spcAft>
                <a:spcPct val="35000"/>
              </a:spcAft>
              <a:buNone/>
            </a:pPr>
            <a:endParaRPr lang="zh-CN" altLang="en-US" sz="3500" kern="1200" dirty="0"/>
          </a:p>
        </p:txBody>
      </p:sp>
      <p:sp>
        <p:nvSpPr>
          <p:cNvPr id="32" name="任意多边形: 形状 31">
            <a:extLst>
              <a:ext uri="{FF2B5EF4-FFF2-40B4-BE49-F238E27FC236}">
                <a16:creationId xmlns:a16="http://schemas.microsoft.com/office/drawing/2014/main" id="{4D81CD61-E0CB-8DC1-2EAD-4ACBB6D5DE8B}"/>
              </a:ext>
            </a:extLst>
          </p:cNvPr>
          <p:cNvSpPr/>
          <p:nvPr/>
        </p:nvSpPr>
        <p:spPr>
          <a:xfrm rot="5400000">
            <a:off x="2882220" y="2230609"/>
            <a:ext cx="1518794" cy="1518794"/>
          </a:xfrm>
          <a:custGeom>
            <a:avLst/>
            <a:gdLst>
              <a:gd name="connsiteX0" fmla="*/ 0 w 1518794"/>
              <a:gd name="connsiteY0" fmla="*/ 0 h 1518794"/>
              <a:gd name="connsiteX1" fmla="*/ 1518794 w 1518794"/>
              <a:gd name="connsiteY1" fmla="*/ 1518794 h 1518794"/>
              <a:gd name="connsiteX2" fmla="*/ 1074902 w 1518794"/>
              <a:gd name="connsiteY2" fmla="*/ 1518794 h 1518794"/>
              <a:gd name="connsiteX3" fmla="*/ 1069368 w 1518794"/>
              <a:gd name="connsiteY3" fmla="*/ 1409199 h 1518794"/>
              <a:gd name="connsiteX4" fmla="*/ 109260 w 1518794"/>
              <a:gd name="connsiteY4" fmla="*/ 449091 h 1518794"/>
              <a:gd name="connsiteX5" fmla="*/ 0 w 1518794"/>
              <a:gd name="connsiteY5" fmla="*/ 443574 h 1518794"/>
              <a:gd name="connsiteX6" fmla="*/ 0 w 1518794"/>
              <a:gd name="connsiteY6" fmla="*/ 0 h 1518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8794" h="1518794">
                <a:moveTo>
                  <a:pt x="0" y="0"/>
                </a:moveTo>
                <a:cubicBezTo>
                  <a:pt x="838807" y="0"/>
                  <a:pt x="1518794" y="679987"/>
                  <a:pt x="1518794" y="1518794"/>
                </a:cubicBezTo>
                <a:lnTo>
                  <a:pt x="1074902" y="1518794"/>
                </a:lnTo>
                <a:lnTo>
                  <a:pt x="1069368" y="1409199"/>
                </a:lnTo>
                <a:cubicBezTo>
                  <a:pt x="1017957" y="902962"/>
                  <a:pt x="615498" y="500503"/>
                  <a:pt x="109260" y="449091"/>
                </a:cubicBezTo>
                <a:lnTo>
                  <a:pt x="0" y="443574"/>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97959" tIns="606404" rIns="407514" bIns="1616039" numCol="1" spcCol="1270" anchor="ctr" anchorCtr="0">
            <a:noAutofit/>
          </a:bodyPr>
          <a:lstStyle/>
          <a:p>
            <a:pPr marL="0" lvl="0" indent="0" algn="ctr" defTabSz="1555750">
              <a:lnSpc>
                <a:spcPct val="90000"/>
              </a:lnSpc>
              <a:spcBef>
                <a:spcPct val="0"/>
              </a:spcBef>
              <a:spcAft>
                <a:spcPct val="35000"/>
              </a:spcAft>
              <a:buNone/>
            </a:pPr>
            <a:endParaRPr lang="zh-CN" altLang="en-US" sz="3500" kern="1200" dirty="0"/>
          </a:p>
        </p:txBody>
      </p:sp>
      <p:sp>
        <p:nvSpPr>
          <p:cNvPr id="33" name="任意多边形: 形状 32">
            <a:extLst>
              <a:ext uri="{FF2B5EF4-FFF2-40B4-BE49-F238E27FC236}">
                <a16:creationId xmlns:a16="http://schemas.microsoft.com/office/drawing/2014/main" id="{56613A51-9908-81B0-4F79-09B12F1B24C7}"/>
              </a:ext>
            </a:extLst>
          </p:cNvPr>
          <p:cNvSpPr/>
          <p:nvPr/>
        </p:nvSpPr>
        <p:spPr>
          <a:xfrm rot="10800000">
            <a:off x="1294723" y="2230609"/>
            <a:ext cx="1518794" cy="1518794"/>
          </a:xfrm>
          <a:custGeom>
            <a:avLst/>
            <a:gdLst>
              <a:gd name="connsiteX0" fmla="*/ 0 w 1518794"/>
              <a:gd name="connsiteY0" fmla="*/ 0 h 1518794"/>
              <a:gd name="connsiteX1" fmla="*/ 1518794 w 1518794"/>
              <a:gd name="connsiteY1" fmla="*/ 1518794 h 1518794"/>
              <a:gd name="connsiteX2" fmla="*/ 1074902 w 1518794"/>
              <a:gd name="connsiteY2" fmla="*/ 1518794 h 1518794"/>
              <a:gd name="connsiteX3" fmla="*/ 1069368 w 1518794"/>
              <a:gd name="connsiteY3" fmla="*/ 1409199 h 1518794"/>
              <a:gd name="connsiteX4" fmla="*/ 109260 w 1518794"/>
              <a:gd name="connsiteY4" fmla="*/ 449091 h 1518794"/>
              <a:gd name="connsiteX5" fmla="*/ 0 w 1518794"/>
              <a:gd name="connsiteY5" fmla="*/ 443574 h 1518794"/>
              <a:gd name="connsiteX6" fmla="*/ 0 w 1518794"/>
              <a:gd name="connsiteY6" fmla="*/ 0 h 1518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8794" h="1518794">
                <a:moveTo>
                  <a:pt x="0" y="0"/>
                </a:moveTo>
                <a:cubicBezTo>
                  <a:pt x="838807" y="0"/>
                  <a:pt x="1518794" y="679987"/>
                  <a:pt x="1518794" y="1518794"/>
                </a:cubicBezTo>
                <a:lnTo>
                  <a:pt x="1074902" y="1518794"/>
                </a:lnTo>
                <a:lnTo>
                  <a:pt x="1069368" y="1409199"/>
                </a:lnTo>
                <a:cubicBezTo>
                  <a:pt x="1017957" y="902962"/>
                  <a:pt x="615498" y="500503"/>
                  <a:pt x="109260" y="449091"/>
                </a:cubicBezTo>
                <a:lnTo>
                  <a:pt x="0" y="443574"/>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97959" tIns="606404" rIns="407514" bIns="1616039" numCol="1" spcCol="1270" anchor="ctr" anchorCtr="0">
            <a:noAutofit/>
          </a:bodyPr>
          <a:lstStyle/>
          <a:p>
            <a:pPr marL="0" lvl="0" indent="0" algn="ctr" defTabSz="1555750">
              <a:lnSpc>
                <a:spcPct val="90000"/>
              </a:lnSpc>
              <a:spcBef>
                <a:spcPct val="0"/>
              </a:spcBef>
              <a:spcAft>
                <a:spcPct val="35000"/>
              </a:spcAft>
              <a:buNone/>
            </a:pPr>
            <a:endParaRPr lang="zh-CN" altLang="en-US" sz="3500" kern="1200" dirty="0"/>
          </a:p>
        </p:txBody>
      </p:sp>
      <p:sp>
        <p:nvSpPr>
          <p:cNvPr id="34" name="任意多边形: 形状 33">
            <a:extLst>
              <a:ext uri="{FF2B5EF4-FFF2-40B4-BE49-F238E27FC236}">
                <a16:creationId xmlns:a16="http://schemas.microsoft.com/office/drawing/2014/main" id="{E09570D9-7A29-1323-B6E4-282246500FF2}"/>
              </a:ext>
            </a:extLst>
          </p:cNvPr>
          <p:cNvSpPr/>
          <p:nvPr/>
        </p:nvSpPr>
        <p:spPr>
          <a:xfrm rot="16200000">
            <a:off x="1294723" y="658237"/>
            <a:ext cx="1518794" cy="1518794"/>
          </a:xfrm>
          <a:custGeom>
            <a:avLst/>
            <a:gdLst>
              <a:gd name="connsiteX0" fmla="*/ 0 w 1518794"/>
              <a:gd name="connsiteY0" fmla="*/ 0 h 1518794"/>
              <a:gd name="connsiteX1" fmla="*/ 1518794 w 1518794"/>
              <a:gd name="connsiteY1" fmla="*/ 1518794 h 1518794"/>
              <a:gd name="connsiteX2" fmla="*/ 1074902 w 1518794"/>
              <a:gd name="connsiteY2" fmla="*/ 1518794 h 1518794"/>
              <a:gd name="connsiteX3" fmla="*/ 1069368 w 1518794"/>
              <a:gd name="connsiteY3" fmla="*/ 1409199 h 1518794"/>
              <a:gd name="connsiteX4" fmla="*/ 109260 w 1518794"/>
              <a:gd name="connsiteY4" fmla="*/ 449091 h 1518794"/>
              <a:gd name="connsiteX5" fmla="*/ 0 w 1518794"/>
              <a:gd name="connsiteY5" fmla="*/ 443574 h 1518794"/>
              <a:gd name="connsiteX6" fmla="*/ 0 w 1518794"/>
              <a:gd name="connsiteY6" fmla="*/ 0 h 1518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8794" h="1518794">
                <a:moveTo>
                  <a:pt x="0" y="0"/>
                </a:moveTo>
                <a:cubicBezTo>
                  <a:pt x="838807" y="0"/>
                  <a:pt x="1518794" y="679987"/>
                  <a:pt x="1518794" y="1518794"/>
                </a:cubicBezTo>
                <a:lnTo>
                  <a:pt x="1074902" y="1518794"/>
                </a:lnTo>
                <a:lnTo>
                  <a:pt x="1069368" y="1409199"/>
                </a:lnTo>
                <a:cubicBezTo>
                  <a:pt x="1017957" y="902962"/>
                  <a:pt x="615498" y="500503"/>
                  <a:pt x="109260" y="449091"/>
                </a:cubicBezTo>
                <a:lnTo>
                  <a:pt x="0" y="443574"/>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97959" tIns="606404" rIns="407514" bIns="1616039" numCol="1" spcCol="1270" anchor="ctr" anchorCtr="0">
            <a:noAutofit/>
          </a:bodyPr>
          <a:lstStyle/>
          <a:p>
            <a:pPr marL="0" lvl="0" indent="0" algn="ctr" defTabSz="1555750">
              <a:lnSpc>
                <a:spcPct val="90000"/>
              </a:lnSpc>
              <a:spcBef>
                <a:spcPct val="0"/>
              </a:spcBef>
              <a:spcAft>
                <a:spcPct val="35000"/>
              </a:spcAft>
              <a:buNone/>
            </a:pPr>
            <a:endParaRPr lang="zh-CN" altLang="en-US" sz="3500" kern="1200" dirty="0"/>
          </a:p>
        </p:txBody>
      </p:sp>
      <p:pic>
        <p:nvPicPr>
          <p:cNvPr id="35" name="图片 5">
            <a:extLst>
              <a:ext uri="{FF2B5EF4-FFF2-40B4-BE49-F238E27FC236}">
                <a16:creationId xmlns:a16="http://schemas.microsoft.com/office/drawing/2014/main" id="{366BD581-8324-40A8-937C-A3F7815C3C03}"/>
              </a:ext>
            </a:extLst>
          </p:cNvPr>
          <p:cNvPicPr>
            <a:picLocks noChangeAspect="1"/>
          </p:cNvPicPr>
          <p:nvPr/>
        </p:nvPicPr>
        <p:blipFill>
          <a:blip r:embed="rId25"/>
          <a:srcRect/>
          <a:stretch>
            <a:fillRect/>
          </a:stretch>
        </p:blipFill>
        <p:spPr bwMode="auto">
          <a:xfrm>
            <a:off x="6084168" y="4104774"/>
            <a:ext cx="2215841" cy="1246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矩形 36">
            <a:extLst>
              <a:ext uri="{FF2B5EF4-FFF2-40B4-BE49-F238E27FC236}">
                <a16:creationId xmlns:a16="http://schemas.microsoft.com/office/drawing/2014/main" id="{AA8297D5-5AB7-926D-B3AD-079635C06692}"/>
              </a:ext>
            </a:extLst>
          </p:cNvPr>
          <p:cNvSpPr>
            <a:spLocks noChangeAspect="1"/>
          </p:cNvSpPr>
          <p:nvPr/>
        </p:nvSpPr>
        <p:spPr bwMode="auto">
          <a:xfrm>
            <a:off x="0" y="4876006"/>
            <a:ext cx="3523545" cy="1981994"/>
          </a:xfrm>
          <a:prstGeom prst="rect">
            <a:avLst/>
          </a:prstGeom>
          <a:blipFill dpi="0" rotWithShape="1">
            <a:blip r:embed="rId26" cstate="email"/>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0" fontAlgn="base" hangingPunct="0">
              <a:spcBef>
                <a:spcPct val="0"/>
              </a:spcBef>
              <a:spcAft>
                <a:spcPct val="0"/>
              </a:spcAft>
              <a:defRPr/>
            </a:pPr>
            <a:endParaRPr lang="zh-CN" altLang="en-US" sz="1735">
              <a:solidFill>
                <a:prstClr val="white"/>
              </a:solidFill>
              <a:latin typeface="Calibri" panose="020F0502020204030204"/>
              <a:ea typeface="宋体" panose="02010600030101010101" pitchFamily="2" charset="-122"/>
            </a:endParaRPr>
          </a:p>
        </p:txBody>
      </p:sp>
      <p:sp>
        <p:nvSpPr>
          <p:cNvPr id="39" name="矩形 38">
            <a:extLst>
              <a:ext uri="{FF2B5EF4-FFF2-40B4-BE49-F238E27FC236}">
                <a16:creationId xmlns:a16="http://schemas.microsoft.com/office/drawing/2014/main" id="{10D10DE3-8493-3E9D-C758-8D116CBC9205}"/>
              </a:ext>
            </a:extLst>
          </p:cNvPr>
          <p:cNvSpPr>
            <a:spLocks noChangeAspect="1"/>
          </p:cNvSpPr>
          <p:nvPr/>
        </p:nvSpPr>
        <p:spPr>
          <a:xfrm>
            <a:off x="1940935" y="2238450"/>
            <a:ext cx="2467016" cy="2130366"/>
          </a:xfrm>
          <a:prstGeom prst="rect">
            <a:avLst/>
          </a:prstGeom>
          <a:blipFill>
            <a:blip r:embed="rId27" cstate="email"/>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0" fontAlgn="base" hangingPunct="0">
              <a:spcBef>
                <a:spcPct val="0"/>
              </a:spcBef>
              <a:spcAft>
                <a:spcPct val="0"/>
              </a:spcAft>
              <a:defRPr/>
            </a:pPr>
            <a:endParaRPr lang="zh-CN" altLang="en-US" sz="1735">
              <a:solidFill>
                <a:prstClr val="white"/>
              </a:solidFill>
              <a:latin typeface="Calibri" panose="020F0502020204030204"/>
              <a:ea typeface="宋体" panose="02010600030101010101" pitchFamily="2" charset="-122"/>
            </a:endParaRPr>
          </a:p>
        </p:txBody>
      </p:sp>
      <p:pic>
        <p:nvPicPr>
          <p:cNvPr id="41" name="图片 6">
            <a:extLst>
              <a:ext uri="{FF2B5EF4-FFF2-40B4-BE49-F238E27FC236}">
                <a16:creationId xmlns:a16="http://schemas.microsoft.com/office/drawing/2014/main" id="{1CB5B2C1-0C14-A6CE-5EFD-7ABF634423BD}"/>
              </a:ext>
            </a:extLst>
          </p:cNvPr>
          <p:cNvPicPr>
            <a:picLocks noChangeAspect="1"/>
          </p:cNvPicPr>
          <p:nvPr/>
        </p:nvPicPr>
        <p:blipFill>
          <a:blip r:embed="rId28" cstate="email"/>
          <a:srcRect/>
          <a:stretch>
            <a:fillRect/>
          </a:stretch>
        </p:blipFill>
        <p:spPr bwMode="auto">
          <a:xfrm>
            <a:off x="-252536" y="4368815"/>
            <a:ext cx="4495587" cy="25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5">
            <a:extLst>
              <a:ext uri="{FF2B5EF4-FFF2-40B4-BE49-F238E27FC236}">
                <a16:creationId xmlns:a16="http://schemas.microsoft.com/office/drawing/2014/main" id="{E3741EE8-F8DB-E1FD-3924-AD651D0DBA8A}"/>
              </a:ext>
            </a:extLst>
          </p:cNvPr>
          <p:cNvPicPr>
            <a:picLocks noChangeAspect="1"/>
          </p:cNvPicPr>
          <p:nvPr/>
        </p:nvPicPr>
        <p:blipFill>
          <a:blip r:embed="rId29"/>
          <a:srcRect/>
          <a:stretch>
            <a:fillRect/>
          </a:stretch>
        </p:blipFill>
        <p:spPr bwMode="auto">
          <a:xfrm>
            <a:off x="4527498" y="1282450"/>
            <a:ext cx="2991171" cy="1682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1580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750" fill="hold"/>
                                        <p:tgtEl>
                                          <p:spTgt spid="39"/>
                                        </p:tgtEl>
                                        <p:attrNameLst>
                                          <p:attrName>ppt_x</p:attrName>
                                        </p:attrNameLst>
                                      </p:cBhvr>
                                      <p:tavLst>
                                        <p:tav tm="0">
                                          <p:val>
                                            <p:strVal val="1+#ppt_w/2"/>
                                          </p:val>
                                        </p:tav>
                                        <p:tav tm="100000">
                                          <p:val>
                                            <p:strVal val="#ppt_x"/>
                                          </p:val>
                                        </p:tav>
                                      </p:tavLst>
                                    </p:anim>
                                    <p:anim calcmode="lin" valueType="num">
                                      <p:cBhvr additive="base">
                                        <p:cTn id="8" dur="75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97" name="图片 1"/>
          <p:cNvPicPr>
            <a:picLocks noChangeAspect="1"/>
          </p:cNvPicPr>
          <p:nvPr/>
        </p:nvPicPr>
        <p:blipFill>
          <a:blip r:embed="rId2">
            <a:alphaModFix/>
          </a:blip>
          <a:stretch>
            <a:fillRect/>
          </a:stretch>
        </p:blipFill>
        <p:spPr>
          <a:xfrm>
            <a:off x="0" y="0"/>
            <a:ext cx="9144000" cy="5143500"/>
          </a:xfrm>
          <a:prstGeom prst="rect">
            <a:avLst/>
          </a:prstGeom>
        </p:spPr>
      </p:pic>
      <p:pic>
        <p:nvPicPr>
          <p:cNvPr id="2097198" name="图片 2"/>
          <p:cNvPicPr>
            <a:picLocks noChangeAspect="1"/>
          </p:cNvPicPr>
          <p:nvPr/>
        </p:nvPicPr>
        <p:blipFill>
          <a:blip r:embed="rId3">
            <a:alphaModFix/>
          </a:blip>
          <a:stretch>
            <a:fillRect/>
          </a:stretch>
        </p:blipFill>
        <p:spPr>
          <a:xfrm rot="16199999">
            <a:off x="3147102" y="-2544335"/>
            <a:ext cx="2848913" cy="6558683"/>
          </a:xfrm>
          <a:prstGeom prst="rect">
            <a:avLst/>
          </a:prstGeom>
        </p:spPr>
      </p:pic>
      <p:sp>
        <p:nvSpPr>
          <p:cNvPr id="1048610" name="文本框 18"/>
          <p:cNvSpPr txBox="1"/>
          <p:nvPr/>
        </p:nvSpPr>
        <p:spPr>
          <a:xfrm>
            <a:off x="3401440" y="362736"/>
            <a:ext cx="2340236" cy="1143000"/>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7505" kern="100" spc="0">
                <a:solidFill>
                  <a:srgbClr val="FFFFFF">
                    <a:alpha val="100000"/>
                  </a:srgbClr>
                </a:solidFill>
                <a:latin typeface="Noto Sans S Chinese Bold Bold" panose="02010800040101010101" pitchFamily="1" charset="-122"/>
                <a:ea typeface="Noto Sans S Chinese Bold Bold" panose="02010800040101010101" pitchFamily="1" charset="-122"/>
              </a:rPr>
              <a:t>02</a:t>
            </a:r>
          </a:p>
        </p:txBody>
      </p:sp>
      <p:pic>
        <p:nvPicPr>
          <p:cNvPr id="2097199" name="图片 3"/>
          <p:cNvPicPr>
            <a:picLocks noChangeAspect="1"/>
          </p:cNvPicPr>
          <p:nvPr/>
        </p:nvPicPr>
        <p:blipFill>
          <a:blip r:embed="rId4">
            <a:alphaModFix amt="57999"/>
          </a:blip>
          <a:stretch>
            <a:fillRect/>
          </a:stretch>
        </p:blipFill>
        <p:spPr>
          <a:xfrm rot="16259999">
            <a:off x="8117228" y="3986604"/>
            <a:ext cx="1241412" cy="1241412"/>
          </a:xfrm>
          <a:prstGeom prst="rect">
            <a:avLst/>
          </a:prstGeom>
        </p:spPr>
      </p:pic>
      <p:pic>
        <p:nvPicPr>
          <p:cNvPr id="2097200" name="图片 4"/>
          <p:cNvPicPr>
            <a:picLocks noChangeAspect="1"/>
          </p:cNvPicPr>
          <p:nvPr/>
        </p:nvPicPr>
        <p:blipFill>
          <a:blip r:embed="rId5">
            <a:alphaModFix/>
          </a:blip>
          <a:stretch>
            <a:fillRect/>
          </a:stretch>
        </p:blipFill>
        <p:spPr>
          <a:xfrm rot="16259999">
            <a:off x="8560943" y="4430318"/>
            <a:ext cx="801503" cy="801503"/>
          </a:xfrm>
          <a:prstGeom prst="rect">
            <a:avLst/>
          </a:prstGeom>
        </p:spPr>
      </p:pic>
      <p:pic>
        <p:nvPicPr>
          <p:cNvPr id="2097201" name="图片 5"/>
          <p:cNvPicPr>
            <a:picLocks noChangeAspect="1"/>
          </p:cNvPicPr>
          <p:nvPr/>
        </p:nvPicPr>
        <p:blipFill>
          <a:blip r:embed="rId6">
            <a:alphaModFix/>
          </a:blip>
          <a:stretch>
            <a:fillRect/>
          </a:stretch>
        </p:blipFill>
        <p:spPr>
          <a:xfrm rot="16259999">
            <a:off x="8109438" y="4894968"/>
            <a:ext cx="340838" cy="340838"/>
          </a:xfrm>
          <a:prstGeom prst="rect">
            <a:avLst/>
          </a:prstGeom>
        </p:spPr>
      </p:pic>
      <p:pic>
        <p:nvPicPr>
          <p:cNvPr id="2097202" name="图片 6"/>
          <p:cNvPicPr>
            <a:picLocks noChangeAspect="1"/>
          </p:cNvPicPr>
          <p:nvPr/>
        </p:nvPicPr>
        <p:blipFill>
          <a:blip r:embed="rId4">
            <a:alphaModFix amt="57999"/>
          </a:blip>
          <a:stretch>
            <a:fillRect/>
          </a:stretch>
        </p:blipFill>
        <p:spPr>
          <a:xfrm rot="16259999">
            <a:off x="-273971" y="4036996"/>
            <a:ext cx="1241412" cy="1241412"/>
          </a:xfrm>
          <a:prstGeom prst="rect">
            <a:avLst/>
          </a:prstGeom>
        </p:spPr>
      </p:pic>
      <p:pic>
        <p:nvPicPr>
          <p:cNvPr id="2097203" name="图片 7"/>
          <p:cNvPicPr>
            <a:picLocks noChangeAspect="1"/>
          </p:cNvPicPr>
          <p:nvPr/>
        </p:nvPicPr>
        <p:blipFill>
          <a:blip r:embed="rId5">
            <a:alphaModFix/>
          </a:blip>
          <a:stretch>
            <a:fillRect/>
          </a:stretch>
        </p:blipFill>
        <p:spPr>
          <a:xfrm rot="16259999">
            <a:off x="-277776" y="4430318"/>
            <a:ext cx="801503" cy="801503"/>
          </a:xfrm>
          <a:prstGeom prst="rect">
            <a:avLst/>
          </a:prstGeom>
        </p:spPr>
      </p:pic>
      <p:pic>
        <p:nvPicPr>
          <p:cNvPr id="2097204" name="图片 8"/>
          <p:cNvPicPr>
            <a:picLocks noChangeAspect="1"/>
          </p:cNvPicPr>
          <p:nvPr/>
        </p:nvPicPr>
        <p:blipFill>
          <a:blip r:embed="rId6">
            <a:alphaModFix/>
          </a:blip>
          <a:stretch>
            <a:fillRect/>
          </a:stretch>
        </p:blipFill>
        <p:spPr>
          <a:xfrm rot="16259999">
            <a:off x="703271" y="4894968"/>
            <a:ext cx="340838" cy="340838"/>
          </a:xfrm>
          <a:prstGeom prst="rect">
            <a:avLst/>
          </a:prstGeom>
        </p:spPr>
      </p:pic>
      <p:sp>
        <p:nvSpPr>
          <p:cNvPr id="1048611" name="文本框 10"/>
          <p:cNvSpPr txBox="1"/>
          <p:nvPr/>
        </p:nvSpPr>
        <p:spPr>
          <a:xfrm>
            <a:off x="611607" y="2315260"/>
            <a:ext cx="7815763" cy="685800"/>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lang="en-US" altLang="zh-CN" sz="4500" kern="100">
                <a:solidFill>
                  <a:srgbClr val="1A4B59">
                    <a:alpha val="100000"/>
                  </a:srgbClr>
                </a:solidFill>
                <a:latin typeface="创客贴稚圆体" charset="-122"/>
                <a:ea typeface="创客贴稚圆体" charset="-122"/>
                <a:sym typeface="+mn-ea"/>
              </a:rPr>
              <a:t>What is MBTI?</a:t>
            </a:r>
            <a:r>
              <a:rPr lang="zh-CN" altLang="en-US" sz="4500" kern="100" spc="0">
                <a:solidFill>
                  <a:srgbClr val="1A4B59">
                    <a:alpha val="100000"/>
                  </a:srgbClr>
                </a:solidFill>
                <a:latin typeface="创客贴稚圆体 Bold Bold" panose="02010800040101010101" pitchFamily="1" charset="-122"/>
                <a:ea typeface="创客贴稚圆体 Bold Bold" panose="02010800040101010101" pitchFamily="1" charset="-122"/>
              </a:rPr>
              <a:t>🤔</a:t>
            </a:r>
          </a:p>
        </p:txBody>
      </p:sp>
      <p:pic>
        <p:nvPicPr>
          <p:cNvPr id="2097205" name="图片 12"/>
          <p:cNvPicPr>
            <a:picLocks noChangeAspect="1"/>
          </p:cNvPicPr>
          <p:nvPr/>
        </p:nvPicPr>
        <p:blipFill>
          <a:blip r:embed="rId7">
            <a:alphaModFix/>
          </a:blip>
          <a:stretch>
            <a:fillRect/>
          </a:stretch>
        </p:blipFill>
        <p:spPr>
          <a:xfrm rot="21539999">
            <a:off x="259153" y="517447"/>
            <a:ext cx="543012" cy="543012"/>
          </a:xfrm>
          <a:prstGeom prst="rect">
            <a:avLst/>
          </a:prstGeom>
        </p:spPr>
      </p:pic>
      <p:pic>
        <p:nvPicPr>
          <p:cNvPr id="2097206" name="图片 13"/>
          <p:cNvPicPr>
            <a:picLocks noChangeAspect="1"/>
          </p:cNvPicPr>
          <p:nvPr/>
        </p:nvPicPr>
        <p:blipFill>
          <a:blip r:embed="rId8">
            <a:alphaModFix/>
          </a:blip>
          <a:stretch>
            <a:fillRect/>
          </a:stretch>
        </p:blipFill>
        <p:spPr>
          <a:xfrm rot="21539999">
            <a:off x="275423" y="533718"/>
            <a:ext cx="510472" cy="510472"/>
          </a:xfrm>
          <a:prstGeom prst="rect">
            <a:avLst/>
          </a:prstGeom>
        </p:spPr>
      </p:pic>
      <p:pic>
        <p:nvPicPr>
          <p:cNvPr id="2097207" name="图片 14"/>
          <p:cNvPicPr>
            <a:picLocks noChangeAspect="1"/>
          </p:cNvPicPr>
          <p:nvPr/>
        </p:nvPicPr>
        <p:blipFill>
          <a:blip r:embed="rId9">
            <a:alphaModFix/>
          </a:blip>
          <a:stretch>
            <a:fillRect/>
          </a:stretch>
        </p:blipFill>
        <p:spPr>
          <a:xfrm rot="21539999">
            <a:off x="-85012" y="743410"/>
            <a:ext cx="610391" cy="610391"/>
          </a:xfrm>
          <a:prstGeom prst="rect">
            <a:avLst/>
          </a:prstGeom>
        </p:spPr>
      </p:pic>
      <p:pic>
        <p:nvPicPr>
          <p:cNvPr id="2097208" name="图片 15"/>
          <p:cNvPicPr>
            <a:picLocks noChangeAspect="1"/>
          </p:cNvPicPr>
          <p:nvPr/>
        </p:nvPicPr>
        <p:blipFill>
          <a:blip r:embed="rId7">
            <a:alphaModFix/>
          </a:blip>
          <a:stretch>
            <a:fillRect/>
          </a:stretch>
        </p:blipFill>
        <p:spPr>
          <a:xfrm rot="21539999">
            <a:off x="7621254" y="1744118"/>
            <a:ext cx="543012" cy="543012"/>
          </a:xfrm>
          <a:prstGeom prst="rect">
            <a:avLst/>
          </a:prstGeom>
        </p:spPr>
      </p:pic>
      <p:pic>
        <p:nvPicPr>
          <p:cNvPr id="2097209" name="图片 16"/>
          <p:cNvPicPr>
            <a:picLocks noChangeAspect="1"/>
          </p:cNvPicPr>
          <p:nvPr/>
        </p:nvPicPr>
        <p:blipFill>
          <a:blip r:embed="rId8">
            <a:alphaModFix/>
          </a:blip>
          <a:stretch>
            <a:fillRect/>
          </a:stretch>
        </p:blipFill>
        <p:spPr>
          <a:xfrm rot="21539999">
            <a:off x="7637524" y="1760388"/>
            <a:ext cx="510472" cy="510472"/>
          </a:xfrm>
          <a:prstGeom prst="rect">
            <a:avLst/>
          </a:prstGeom>
        </p:spPr>
      </p:pic>
      <p:pic>
        <p:nvPicPr>
          <p:cNvPr id="2097210" name="图片 17"/>
          <p:cNvPicPr>
            <a:picLocks noChangeAspect="1"/>
          </p:cNvPicPr>
          <p:nvPr/>
        </p:nvPicPr>
        <p:blipFill>
          <a:blip r:embed="rId9">
            <a:alphaModFix/>
          </a:blip>
          <a:stretch>
            <a:fillRect/>
          </a:stretch>
        </p:blipFill>
        <p:spPr>
          <a:xfrm rot="21539999">
            <a:off x="7863768" y="1970080"/>
            <a:ext cx="610391" cy="610391"/>
          </a:xfrm>
          <a:prstGeom prst="rect">
            <a:avLst/>
          </a:prstGeom>
        </p:spPr>
      </p:pic>
      <p:pic>
        <p:nvPicPr>
          <p:cNvPr id="2097211" name="图片 19"/>
          <p:cNvPicPr>
            <a:picLocks noChangeAspect="1"/>
          </p:cNvPicPr>
          <p:nvPr/>
        </p:nvPicPr>
        <p:blipFill>
          <a:blip r:embed="rId10"/>
          <a:stretch>
            <a:fillRect/>
          </a:stretch>
        </p:blipFill>
        <p:spPr>
          <a:xfrm>
            <a:off x="1532721" y="1739420"/>
            <a:ext cx="6063615" cy="32700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41" name="图片 1"/>
          <p:cNvPicPr>
            <a:picLocks noChangeAspect="1"/>
          </p:cNvPicPr>
          <p:nvPr/>
        </p:nvPicPr>
        <p:blipFill>
          <a:blip r:embed="rId2">
            <a:alphaModFix/>
          </a:blip>
          <a:stretch>
            <a:fillRect/>
          </a:stretch>
        </p:blipFill>
        <p:spPr>
          <a:xfrm>
            <a:off x="-90293" y="-1320362"/>
            <a:ext cx="9144000" cy="5143500"/>
          </a:xfrm>
          <a:prstGeom prst="rect">
            <a:avLst/>
          </a:prstGeom>
        </p:spPr>
      </p:pic>
      <p:pic>
        <p:nvPicPr>
          <p:cNvPr id="2097242" name="图片 2"/>
          <p:cNvPicPr>
            <a:picLocks noChangeAspect="1"/>
          </p:cNvPicPr>
          <p:nvPr/>
        </p:nvPicPr>
        <p:blipFill>
          <a:blip r:embed="rId3">
            <a:alphaModFix/>
          </a:blip>
          <a:stretch>
            <a:fillRect/>
          </a:stretch>
        </p:blipFill>
        <p:spPr>
          <a:xfrm rot="16199999">
            <a:off x="3105789" y="-2753162"/>
            <a:ext cx="2848913" cy="6558683"/>
          </a:xfrm>
          <a:prstGeom prst="rect">
            <a:avLst/>
          </a:prstGeom>
        </p:spPr>
      </p:pic>
      <p:sp>
        <p:nvSpPr>
          <p:cNvPr id="1048638" name="文本框 18"/>
          <p:cNvSpPr txBox="1"/>
          <p:nvPr/>
        </p:nvSpPr>
        <p:spPr>
          <a:xfrm>
            <a:off x="3360127" y="330815"/>
            <a:ext cx="2340236" cy="1143000"/>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7505" kern="100" spc="0">
                <a:solidFill>
                  <a:srgbClr val="FFFFFF">
                    <a:alpha val="100000"/>
                  </a:srgbClr>
                </a:solidFill>
                <a:latin typeface="Noto Sans S Chinese Bold Bold" panose="02010800040101010101" pitchFamily="1" charset="-122"/>
                <a:ea typeface="Noto Sans S Chinese Bold Bold" panose="02010800040101010101" pitchFamily="1" charset="-122"/>
              </a:rPr>
              <a:t>03</a:t>
            </a:r>
          </a:p>
        </p:txBody>
      </p:sp>
      <p:pic>
        <p:nvPicPr>
          <p:cNvPr id="2097243" name="图片 3"/>
          <p:cNvPicPr>
            <a:picLocks noChangeAspect="1"/>
          </p:cNvPicPr>
          <p:nvPr/>
        </p:nvPicPr>
        <p:blipFill>
          <a:blip r:embed="rId4">
            <a:alphaModFix amt="57999"/>
          </a:blip>
          <a:stretch>
            <a:fillRect/>
          </a:stretch>
        </p:blipFill>
        <p:spPr>
          <a:xfrm rot="16259999">
            <a:off x="8117228" y="3986604"/>
            <a:ext cx="1241412" cy="1241412"/>
          </a:xfrm>
          <a:prstGeom prst="rect">
            <a:avLst/>
          </a:prstGeom>
        </p:spPr>
      </p:pic>
      <p:pic>
        <p:nvPicPr>
          <p:cNvPr id="2097244" name="图片 4"/>
          <p:cNvPicPr>
            <a:picLocks noChangeAspect="1"/>
          </p:cNvPicPr>
          <p:nvPr/>
        </p:nvPicPr>
        <p:blipFill>
          <a:blip r:embed="rId5">
            <a:alphaModFix/>
          </a:blip>
          <a:stretch>
            <a:fillRect/>
          </a:stretch>
        </p:blipFill>
        <p:spPr>
          <a:xfrm rot="16259999">
            <a:off x="8560943" y="4430318"/>
            <a:ext cx="801503" cy="801503"/>
          </a:xfrm>
          <a:prstGeom prst="rect">
            <a:avLst/>
          </a:prstGeom>
        </p:spPr>
      </p:pic>
      <p:pic>
        <p:nvPicPr>
          <p:cNvPr id="2097245" name="图片 5"/>
          <p:cNvPicPr>
            <a:picLocks noChangeAspect="1"/>
          </p:cNvPicPr>
          <p:nvPr/>
        </p:nvPicPr>
        <p:blipFill>
          <a:blip r:embed="rId6">
            <a:alphaModFix/>
          </a:blip>
          <a:stretch>
            <a:fillRect/>
          </a:stretch>
        </p:blipFill>
        <p:spPr>
          <a:xfrm rot="16259999">
            <a:off x="8109438" y="4894968"/>
            <a:ext cx="340838" cy="340838"/>
          </a:xfrm>
          <a:prstGeom prst="rect">
            <a:avLst/>
          </a:prstGeom>
        </p:spPr>
      </p:pic>
      <p:pic>
        <p:nvPicPr>
          <p:cNvPr id="2097246" name="图片 6"/>
          <p:cNvPicPr>
            <a:picLocks noChangeAspect="1"/>
          </p:cNvPicPr>
          <p:nvPr/>
        </p:nvPicPr>
        <p:blipFill>
          <a:blip r:embed="rId4">
            <a:alphaModFix amt="57999"/>
          </a:blip>
          <a:stretch>
            <a:fillRect/>
          </a:stretch>
        </p:blipFill>
        <p:spPr>
          <a:xfrm rot="16259999">
            <a:off x="-273971" y="4036996"/>
            <a:ext cx="1241412" cy="1241412"/>
          </a:xfrm>
          <a:prstGeom prst="rect">
            <a:avLst/>
          </a:prstGeom>
        </p:spPr>
      </p:pic>
      <p:pic>
        <p:nvPicPr>
          <p:cNvPr id="2097247" name="图片 7"/>
          <p:cNvPicPr>
            <a:picLocks noChangeAspect="1"/>
          </p:cNvPicPr>
          <p:nvPr/>
        </p:nvPicPr>
        <p:blipFill>
          <a:blip r:embed="rId5">
            <a:alphaModFix/>
          </a:blip>
          <a:stretch>
            <a:fillRect/>
          </a:stretch>
        </p:blipFill>
        <p:spPr>
          <a:xfrm rot="16259999">
            <a:off x="-277776" y="4430318"/>
            <a:ext cx="801503" cy="801503"/>
          </a:xfrm>
          <a:prstGeom prst="rect">
            <a:avLst/>
          </a:prstGeom>
        </p:spPr>
      </p:pic>
      <p:pic>
        <p:nvPicPr>
          <p:cNvPr id="2097248" name="图片 8"/>
          <p:cNvPicPr>
            <a:picLocks noChangeAspect="1"/>
          </p:cNvPicPr>
          <p:nvPr/>
        </p:nvPicPr>
        <p:blipFill>
          <a:blip r:embed="rId6">
            <a:alphaModFix/>
          </a:blip>
          <a:stretch>
            <a:fillRect/>
          </a:stretch>
        </p:blipFill>
        <p:spPr>
          <a:xfrm rot="16259999">
            <a:off x="703271" y="4894968"/>
            <a:ext cx="340838" cy="340838"/>
          </a:xfrm>
          <a:prstGeom prst="rect">
            <a:avLst/>
          </a:prstGeom>
        </p:spPr>
      </p:pic>
      <p:sp>
        <p:nvSpPr>
          <p:cNvPr id="1048639" name="文本框 10"/>
          <p:cNvSpPr txBox="1"/>
          <p:nvPr/>
        </p:nvSpPr>
        <p:spPr>
          <a:xfrm>
            <a:off x="3562985" y="2571750"/>
            <a:ext cx="3834130" cy="6858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altLang="zh-CN" sz="4500" b="1" kern="100" dirty="0" err="1">
                <a:solidFill>
                  <a:srgbClr val="1A4B59">
                    <a:alpha val="100000"/>
                  </a:srgbClr>
                </a:solidFill>
                <a:latin typeface="创客贴稚圆体" charset="-122"/>
                <a:ea typeface="创客贴稚圆体" charset="-122"/>
                <a:cs typeface="创客贴稚圆体" charset="-122"/>
                <a:sym typeface="+mn-ea"/>
              </a:rPr>
              <a:t>Nkuers</a:t>
            </a:r>
            <a:r>
              <a:rPr lang="zh-CN" altLang="en-US" sz="4500" b="1" kern="100" dirty="0">
                <a:solidFill>
                  <a:srgbClr val="1A4B59">
                    <a:alpha val="100000"/>
                  </a:srgbClr>
                </a:solidFill>
                <a:latin typeface="创客贴稚圆体" charset="-122"/>
                <a:ea typeface="创客贴稚圆体" charset="-122"/>
                <a:cs typeface="创客贴稚圆体" charset="-122"/>
                <a:sym typeface="+mn-ea"/>
              </a:rPr>
              <a:t>大</a:t>
            </a:r>
            <a:r>
              <a:rPr lang="zh-CN" sz="4500" b="1" kern="100" dirty="0">
                <a:solidFill>
                  <a:srgbClr val="1A4B59">
                    <a:alpha val="100000"/>
                  </a:srgbClr>
                </a:solidFill>
                <a:latin typeface="创客贴稚圆体" charset="-122"/>
                <a:ea typeface="创客贴稚圆体" charset="-122"/>
                <a:cs typeface="创客贴稚圆体" charset="-122"/>
                <a:sym typeface="+mn-ea"/>
              </a:rPr>
              <a:t>采访</a:t>
            </a:r>
            <a:endParaRPr sz="4500" b="1" kern="100" spc="0" dirty="0">
              <a:solidFill>
                <a:srgbClr val="1A4B59">
                  <a:alpha val="100000"/>
                </a:srgbClr>
              </a:solidFill>
              <a:latin typeface="创客贴稚圆体" charset="-122"/>
              <a:ea typeface="创客贴稚圆体" charset="-122"/>
              <a:cs typeface="创客贴稚圆体" charset="-122"/>
            </a:endParaRPr>
          </a:p>
        </p:txBody>
      </p:sp>
      <p:pic>
        <p:nvPicPr>
          <p:cNvPr id="2097249" name="图片 12"/>
          <p:cNvPicPr>
            <a:picLocks noChangeAspect="1"/>
          </p:cNvPicPr>
          <p:nvPr/>
        </p:nvPicPr>
        <p:blipFill>
          <a:blip r:embed="rId7">
            <a:alphaModFix/>
          </a:blip>
          <a:stretch>
            <a:fillRect/>
          </a:stretch>
        </p:blipFill>
        <p:spPr>
          <a:xfrm rot="21539999">
            <a:off x="259153" y="517447"/>
            <a:ext cx="543012" cy="543012"/>
          </a:xfrm>
          <a:prstGeom prst="rect">
            <a:avLst/>
          </a:prstGeom>
        </p:spPr>
      </p:pic>
      <p:pic>
        <p:nvPicPr>
          <p:cNvPr id="2097250" name="图片 13"/>
          <p:cNvPicPr>
            <a:picLocks noChangeAspect="1"/>
          </p:cNvPicPr>
          <p:nvPr/>
        </p:nvPicPr>
        <p:blipFill>
          <a:blip r:embed="rId8">
            <a:alphaModFix/>
          </a:blip>
          <a:stretch>
            <a:fillRect/>
          </a:stretch>
        </p:blipFill>
        <p:spPr>
          <a:xfrm rot="21539999">
            <a:off x="275423" y="533718"/>
            <a:ext cx="510472" cy="510472"/>
          </a:xfrm>
          <a:prstGeom prst="rect">
            <a:avLst/>
          </a:prstGeom>
        </p:spPr>
      </p:pic>
      <p:pic>
        <p:nvPicPr>
          <p:cNvPr id="2097251" name="图片 14"/>
          <p:cNvPicPr>
            <a:picLocks noChangeAspect="1"/>
          </p:cNvPicPr>
          <p:nvPr/>
        </p:nvPicPr>
        <p:blipFill>
          <a:blip r:embed="rId9">
            <a:alphaModFix/>
          </a:blip>
          <a:stretch>
            <a:fillRect/>
          </a:stretch>
        </p:blipFill>
        <p:spPr>
          <a:xfrm rot="21539999">
            <a:off x="-85012" y="743410"/>
            <a:ext cx="610391" cy="610391"/>
          </a:xfrm>
          <a:prstGeom prst="rect">
            <a:avLst/>
          </a:prstGeom>
        </p:spPr>
      </p:pic>
      <p:pic>
        <p:nvPicPr>
          <p:cNvPr id="2097252" name="图片 15"/>
          <p:cNvPicPr>
            <a:picLocks noChangeAspect="1"/>
          </p:cNvPicPr>
          <p:nvPr/>
        </p:nvPicPr>
        <p:blipFill>
          <a:blip r:embed="rId7">
            <a:alphaModFix/>
          </a:blip>
          <a:stretch>
            <a:fillRect/>
          </a:stretch>
        </p:blipFill>
        <p:spPr>
          <a:xfrm rot="21539999">
            <a:off x="7679746" y="1363779"/>
            <a:ext cx="543012" cy="543012"/>
          </a:xfrm>
          <a:prstGeom prst="rect">
            <a:avLst/>
          </a:prstGeom>
        </p:spPr>
      </p:pic>
      <p:pic>
        <p:nvPicPr>
          <p:cNvPr id="2097253" name="图片 16"/>
          <p:cNvPicPr>
            <a:picLocks noChangeAspect="1"/>
          </p:cNvPicPr>
          <p:nvPr/>
        </p:nvPicPr>
        <p:blipFill>
          <a:blip r:embed="rId8">
            <a:alphaModFix/>
          </a:blip>
          <a:stretch>
            <a:fillRect/>
          </a:stretch>
        </p:blipFill>
        <p:spPr>
          <a:xfrm rot="21539999">
            <a:off x="7696016" y="1380049"/>
            <a:ext cx="510472" cy="510472"/>
          </a:xfrm>
          <a:prstGeom prst="rect">
            <a:avLst/>
          </a:prstGeom>
        </p:spPr>
      </p:pic>
      <p:pic>
        <p:nvPicPr>
          <p:cNvPr id="2097254" name="图片 17"/>
          <p:cNvPicPr>
            <a:picLocks noChangeAspect="1"/>
          </p:cNvPicPr>
          <p:nvPr/>
        </p:nvPicPr>
        <p:blipFill>
          <a:blip r:embed="rId9">
            <a:alphaModFix/>
          </a:blip>
          <a:stretch>
            <a:fillRect/>
          </a:stretch>
        </p:blipFill>
        <p:spPr>
          <a:xfrm rot="21539999">
            <a:off x="7922260" y="1589741"/>
            <a:ext cx="610391" cy="610391"/>
          </a:xfrm>
          <a:prstGeom prst="rect">
            <a:avLst/>
          </a:prstGeom>
        </p:spPr>
      </p:pic>
      <p:pic>
        <p:nvPicPr>
          <p:cNvPr id="2097255" name="图片 19"/>
          <p:cNvPicPr>
            <a:picLocks noChangeAspect="1"/>
          </p:cNvPicPr>
          <p:nvPr/>
        </p:nvPicPr>
        <p:blipFill>
          <a:blip r:embed="rId10"/>
          <a:stretch>
            <a:fillRect/>
          </a:stretch>
        </p:blipFill>
        <p:spPr>
          <a:xfrm>
            <a:off x="683260" y="1779270"/>
            <a:ext cx="2711450" cy="2711450"/>
          </a:xfrm>
          <a:prstGeom prst="ellipse">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56" name="图片 1"/>
          <p:cNvPicPr>
            <a:picLocks noChangeAspect="1"/>
          </p:cNvPicPr>
          <p:nvPr/>
        </p:nvPicPr>
        <p:blipFill>
          <a:blip r:embed="rId2">
            <a:alphaModFix/>
          </a:blip>
          <a:stretch>
            <a:fillRect/>
          </a:stretch>
        </p:blipFill>
        <p:spPr>
          <a:xfrm>
            <a:off x="0" y="0"/>
            <a:ext cx="9144000" cy="5143500"/>
          </a:xfrm>
          <a:prstGeom prst="rect">
            <a:avLst/>
          </a:prstGeom>
        </p:spPr>
      </p:pic>
      <p:pic>
        <p:nvPicPr>
          <p:cNvPr id="2097257" name="图片 2"/>
          <p:cNvPicPr>
            <a:picLocks noChangeAspect="1"/>
          </p:cNvPicPr>
          <p:nvPr/>
        </p:nvPicPr>
        <p:blipFill>
          <a:blip r:embed="rId3">
            <a:alphaModFix/>
          </a:blip>
          <a:stretch>
            <a:fillRect/>
          </a:stretch>
        </p:blipFill>
        <p:spPr>
          <a:xfrm rot="5400000">
            <a:off x="6140327" y="-1074955"/>
            <a:ext cx="22103" cy="2869000"/>
          </a:xfrm>
          <a:prstGeom prst="rect">
            <a:avLst/>
          </a:prstGeom>
        </p:spPr>
      </p:pic>
      <p:sp>
        <p:nvSpPr>
          <p:cNvPr id="1048640" name="文本框 23"/>
          <p:cNvSpPr txBox="1"/>
          <p:nvPr/>
        </p:nvSpPr>
        <p:spPr>
          <a:xfrm>
            <a:off x="608123" y="177477"/>
            <a:ext cx="1430157"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1</a:t>
            </a:r>
            <a:r>
              <a:rPr lang="zh-CN" alt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号同学</a:t>
            </a:r>
            <a:r>
              <a:rPr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a:t>
            </a:r>
          </a:p>
        </p:txBody>
      </p:sp>
      <p:pic>
        <p:nvPicPr>
          <p:cNvPr id="2097258" name="图片 5"/>
          <p:cNvPicPr>
            <a:picLocks noChangeAspect="1"/>
          </p:cNvPicPr>
          <p:nvPr/>
        </p:nvPicPr>
        <p:blipFill>
          <a:blip r:embed="rId4">
            <a:alphaModFix/>
          </a:blip>
          <a:stretch>
            <a:fillRect/>
          </a:stretch>
        </p:blipFill>
        <p:spPr>
          <a:xfrm>
            <a:off x="-67566" y="-50187"/>
            <a:ext cx="396405" cy="396405"/>
          </a:xfrm>
          <a:prstGeom prst="rect">
            <a:avLst/>
          </a:prstGeom>
        </p:spPr>
      </p:pic>
      <p:pic>
        <p:nvPicPr>
          <p:cNvPr id="2097259" name="图片 6"/>
          <p:cNvPicPr>
            <a:picLocks noChangeAspect="1"/>
          </p:cNvPicPr>
          <p:nvPr/>
        </p:nvPicPr>
        <p:blipFill>
          <a:blip r:embed="rId5">
            <a:alphaModFix/>
          </a:blip>
          <a:stretch>
            <a:fillRect/>
          </a:stretch>
        </p:blipFill>
        <p:spPr>
          <a:xfrm>
            <a:off x="137221" y="138432"/>
            <a:ext cx="383234" cy="383234"/>
          </a:xfrm>
          <a:prstGeom prst="rect">
            <a:avLst/>
          </a:prstGeom>
        </p:spPr>
      </p:pic>
      <p:pic>
        <p:nvPicPr>
          <p:cNvPr id="2097260" name="图片 16"/>
          <p:cNvPicPr>
            <a:picLocks noChangeAspect="1"/>
          </p:cNvPicPr>
          <p:nvPr/>
        </p:nvPicPr>
        <p:blipFill>
          <a:blip r:embed="rId6">
            <a:alphaModFix/>
          </a:blip>
          <a:stretch>
            <a:fillRect/>
          </a:stretch>
        </p:blipFill>
        <p:spPr>
          <a:xfrm>
            <a:off x="1875627" y="4316217"/>
            <a:ext cx="304407" cy="304407"/>
          </a:xfrm>
          <a:prstGeom prst="rect">
            <a:avLst/>
          </a:prstGeom>
        </p:spPr>
      </p:pic>
      <p:pic>
        <p:nvPicPr>
          <p:cNvPr id="2097261" name="图片 17"/>
          <p:cNvPicPr>
            <a:picLocks noChangeAspect="1"/>
          </p:cNvPicPr>
          <p:nvPr/>
        </p:nvPicPr>
        <p:blipFill>
          <a:blip r:embed="rId7">
            <a:alphaModFix/>
          </a:blip>
          <a:stretch>
            <a:fillRect/>
          </a:stretch>
        </p:blipFill>
        <p:spPr>
          <a:xfrm>
            <a:off x="3089709" y="4316217"/>
            <a:ext cx="304407" cy="304407"/>
          </a:xfrm>
          <a:prstGeom prst="rect">
            <a:avLst/>
          </a:prstGeom>
        </p:spPr>
      </p:pic>
      <p:pic>
        <p:nvPicPr>
          <p:cNvPr id="2097262" name="图片 18"/>
          <p:cNvPicPr>
            <a:picLocks noChangeAspect="1"/>
          </p:cNvPicPr>
          <p:nvPr/>
        </p:nvPicPr>
        <p:blipFill>
          <a:blip r:embed="rId6">
            <a:alphaModFix/>
          </a:blip>
          <a:stretch>
            <a:fillRect/>
          </a:stretch>
        </p:blipFill>
        <p:spPr>
          <a:xfrm>
            <a:off x="4303791" y="4316217"/>
            <a:ext cx="304407" cy="304407"/>
          </a:xfrm>
          <a:prstGeom prst="rect">
            <a:avLst/>
          </a:prstGeom>
        </p:spPr>
      </p:pic>
      <p:pic>
        <p:nvPicPr>
          <p:cNvPr id="2097263" name="图片 19"/>
          <p:cNvPicPr>
            <a:picLocks noChangeAspect="1"/>
          </p:cNvPicPr>
          <p:nvPr/>
        </p:nvPicPr>
        <p:blipFill>
          <a:blip r:embed="rId7">
            <a:alphaModFix/>
          </a:blip>
          <a:stretch>
            <a:fillRect/>
          </a:stretch>
        </p:blipFill>
        <p:spPr>
          <a:xfrm>
            <a:off x="5517873" y="4316217"/>
            <a:ext cx="304407" cy="304407"/>
          </a:xfrm>
          <a:prstGeom prst="rect">
            <a:avLst/>
          </a:prstGeom>
        </p:spPr>
      </p:pic>
      <p:pic>
        <p:nvPicPr>
          <p:cNvPr id="2097264" name="图片 20"/>
          <p:cNvPicPr>
            <a:picLocks noChangeAspect="1"/>
          </p:cNvPicPr>
          <p:nvPr/>
        </p:nvPicPr>
        <p:blipFill>
          <a:blip r:embed="rId6">
            <a:alphaModFix/>
          </a:blip>
          <a:stretch>
            <a:fillRect/>
          </a:stretch>
        </p:blipFill>
        <p:spPr>
          <a:xfrm>
            <a:off x="6731955" y="4316217"/>
            <a:ext cx="304407" cy="304407"/>
          </a:xfrm>
          <a:prstGeom prst="rect">
            <a:avLst/>
          </a:prstGeom>
        </p:spPr>
      </p:pic>
      <p:sp>
        <p:nvSpPr>
          <p:cNvPr id="1048641" name="文本框 21"/>
          <p:cNvSpPr txBox="1"/>
          <p:nvPr/>
        </p:nvSpPr>
        <p:spPr>
          <a:xfrm>
            <a:off x="1700780" y="177477"/>
            <a:ext cx="2836315"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INFP</a:t>
            </a:r>
            <a:r>
              <a:rPr lang="zh-CN" alt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小蝴蝶</a:t>
            </a:r>
          </a:p>
        </p:txBody>
      </p:sp>
      <p:grpSp>
        <p:nvGrpSpPr>
          <p:cNvPr id="41" name="组合 34"/>
          <p:cNvGrpSpPr/>
          <p:nvPr/>
        </p:nvGrpSpPr>
        <p:grpSpPr>
          <a:xfrm>
            <a:off x="1264920" y="746760"/>
            <a:ext cx="5050155" cy="434340"/>
            <a:chOff x="2777" y="1669"/>
            <a:chExt cx="6469" cy="907"/>
          </a:xfrm>
        </p:grpSpPr>
        <p:pic>
          <p:nvPicPr>
            <p:cNvPr id="2097265" name="图片 25"/>
            <p:cNvPicPr>
              <a:picLocks noChangeAspect="1"/>
            </p:cNvPicPr>
            <p:nvPr/>
          </p:nvPicPr>
          <p:blipFill>
            <a:blip r:embed="rId8">
              <a:alphaModFix/>
            </a:blip>
            <a:stretch>
              <a:fillRect/>
            </a:stretch>
          </p:blipFill>
          <p:spPr>
            <a:xfrm>
              <a:off x="2777" y="1669"/>
              <a:ext cx="6469" cy="907"/>
            </a:xfrm>
            <a:prstGeom prst="rect">
              <a:avLst/>
            </a:prstGeom>
          </p:spPr>
        </p:pic>
        <p:pic>
          <p:nvPicPr>
            <p:cNvPr id="2097266" name="图片 24"/>
            <p:cNvPicPr>
              <a:picLocks noChangeAspect="1"/>
            </p:cNvPicPr>
            <p:nvPr/>
          </p:nvPicPr>
          <p:blipFill>
            <a:blip r:embed="rId9">
              <a:alphaModFix/>
            </a:blip>
            <a:stretch>
              <a:fillRect/>
            </a:stretch>
          </p:blipFill>
          <p:spPr>
            <a:xfrm>
              <a:off x="2867" y="1752"/>
              <a:ext cx="6302" cy="710"/>
            </a:xfrm>
            <a:prstGeom prst="rect">
              <a:avLst/>
            </a:prstGeom>
          </p:spPr>
        </p:pic>
        <p:sp>
          <p:nvSpPr>
            <p:cNvPr id="1048642" name="文本框 28"/>
            <p:cNvSpPr txBox="1"/>
            <p:nvPr/>
          </p:nvSpPr>
          <p:spPr>
            <a:xfrm>
              <a:off x="2954" y="1753"/>
              <a:ext cx="5841" cy="640"/>
            </a:xfrm>
            <a:prstGeom prst="rect">
              <a:avLst/>
            </a:prstGeom>
            <a:noFill/>
          </p:spPr>
          <p:txBody>
            <a:bodyPr wrap="square" rtlCol="0">
              <a:spAutoFit/>
            </a:bodyPr>
            <a:lstStyle/>
            <a:p>
              <a:r>
                <a:rPr lang="zh-CN" altLang="en-US" sz="1400">
                  <a:latin typeface="宋体" panose="02010600030101010101" pitchFamily="2" charset="-122"/>
                  <a:ea typeface="宋体" panose="02010600030101010101" pitchFamily="2" charset="-122"/>
                  <a:cs typeface="宋体" panose="02010600030101010101" pitchFamily="2" charset="-122"/>
                </a:rPr>
                <a:t>Q：同学你好！请问你有了解过mbti吗？</a:t>
              </a:r>
            </a:p>
          </p:txBody>
        </p:sp>
      </p:grpSp>
      <p:pic>
        <p:nvPicPr>
          <p:cNvPr id="2097267" name="图片 30"/>
          <p:cNvPicPr>
            <a:picLocks noChangeAspect="1"/>
          </p:cNvPicPr>
          <p:nvPr/>
        </p:nvPicPr>
        <p:blipFill>
          <a:blip r:embed="rId10">
            <a:alphaModFix/>
          </a:blip>
          <a:stretch>
            <a:fillRect/>
          </a:stretch>
        </p:blipFill>
        <p:spPr>
          <a:xfrm rot="10800000">
            <a:off x="3273425" y="1276350"/>
            <a:ext cx="4892040" cy="709930"/>
          </a:xfrm>
          <a:prstGeom prst="rect">
            <a:avLst/>
          </a:prstGeom>
        </p:spPr>
      </p:pic>
      <p:pic>
        <p:nvPicPr>
          <p:cNvPr id="2097268" name="图片 29"/>
          <p:cNvPicPr>
            <a:picLocks noChangeAspect="1"/>
          </p:cNvPicPr>
          <p:nvPr/>
        </p:nvPicPr>
        <p:blipFill>
          <a:blip r:embed="rId9">
            <a:alphaModFix/>
          </a:blip>
          <a:stretch>
            <a:fillRect/>
          </a:stretch>
        </p:blipFill>
        <p:spPr>
          <a:xfrm>
            <a:off x="3345815" y="1348740"/>
            <a:ext cx="4744085" cy="560705"/>
          </a:xfrm>
          <a:prstGeom prst="rect">
            <a:avLst/>
          </a:prstGeom>
        </p:spPr>
      </p:pic>
      <p:sp>
        <p:nvSpPr>
          <p:cNvPr id="1048643" name="文本框 31"/>
          <p:cNvSpPr txBox="1"/>
          <p:nvPr/>
        </p:nvSpPr>
        <p:spPr>
          <a:xfrm>
            <a:off x="3417570" y="1384300"/>
            <a:ext cx="4596765" cy="521970"/>
          </a:xfrm>
          <a:prstGeom prst="rect">
            <a:avLst/>
          </a:prstGeom>
          <a:noFill/>
        </p:spPr>
        <p:txBody>
          <a:bodyPr wrap="square" rtlCol="0">
            <a:spAutoFit/>
          </a:bodyPr>
          <a:lstStyle/>
          <a:p>
            <a:r>
              <a:rPr lang="zh-CN" altLang="en-US" sz="1400"/>
              <a:t>A：有的有的！我超喜欢mbti，我应该是朋友里面最了解mbti的人，而且我平常也喜欢看一些mbti有关的帖子。</a:t>
            </a:r>
          </a:p>
        </p:txBody>
      </p:sp>
      <p:grpSp>
        <p:nvGrpSpPr>
          <p:cNvPr id="42" name="组合 38"/>
          <p:cNvGrpSpPr/>
          <p:nvPr/>
        </p:nvGrpSpPr>
        <p:grpSpPr>
          <a:xfrm>
            <a:off x="827405" y="2140585"/>
            <a:ext cx="5050155" cy="575248"/>
            <a:chOff x="2777" y="1669"/>
            <a:chExt cx="6469" cy="909"/>
          </a:xfrm>
        </p:grpSpPr>
        <p:pic>
          <p:nvPicPr>
            <p:cNvPr id="2097269" name="图片 39"/>
            <p:cNvPicPr>
              <a:picLocks noChangeAspect="1"/>
            </p:cNvPicPr>
            <p:nvPr/>
          </p:nvPicPr>
          <p:blipFill>
            <a:blip r:embed="rId8">
              <a:alphaModFix/>
            </a:blip>
            <a:stretch>
              <a:fillRect/>
            </a:stretch>
          </p:blipFill>
          <p:spPr>
            <a:xfrm>
              <a:off x="2777" y="1669"/>
              <a:ext cx="6469" cy="907"/>
            </a:xfrm>
            <a:prstGeom prst="rect">
              <a:avLst/>
            </a:prstGeom>
          </p:spPr>
        </p:pic>
        <p:pic>
          <p:nvPicPr>
            <p:cNvPr id="2097270" name="图片 40"/>
            <p:cNvPicPr>
              <a:picLocks noChangeAspect="1"/>
            </p:cNvPicPr>
            <p:nvPr/>
          </p:nvPicPr>
          <p:blipFill>
            <a:blip r:embed="rId9">
              <a:alphaModFix/>
            </a:blip>
            <a:stretch>
              <a:fillRect/>
            </a:stretch>
          </p:blipFill>
          <p:spPr>
            <a:xfrm>
              <a:off x="2867" y="1752"/>
              <a:ext cx="6302" cy="710"/>
            </a:xfrm>
            <a:prstGeom prst="rect">
              <a:avLst/>
            </a:prstGeom>
          </p:spPr>
        </p:pic>
        <p:sp>
          <p:nvSpPr>
            <p:cNvPr id="1048644" name="文本框 41"/>
            <p:cNvSpPr txBox="1"/>
            <p:nvPr/>
          </p:nvSpPr>
          <p:spPr>
            <a:xfrm>
              <a:off x="2954" y="1753"/>
              <a:ext cx="5841" cy="825"/>
            </a:xfrm>
            <a:prstGeom prst="rect">
              <a:avLst/>
            </a:prstGeom>
            <a:noFill/>
          </p:spPr>
          <p:txBody>
            <a:bodyPr wrap="square" rtlCol="0">
              <a:spAutoFit/>
            </a:bodyPr>
            <a:lstStyle/>
            <a:p>
              <a:r>
                <a:rPr lang="zh-CN" altLang="en-US" sz="1400">
                  <a:latin typeface="宋体" panose="02010600030101010101" pitchFamily="2" charset="-122"/>
                  <a:ea typeface="宋体" panose="02010600030101010101" pitchFamily="2" charset="-122"/>
                  <a:cs typeface="宋体" panose="02010600030101010101" pitchFamily="2" charset="-122"/>
                  <a:sym typeface="+mn-ea"/>
                </a:rPr>
                <a:t>Q:看来您对mbti有很深的认同感，那请问你介意分享一下你认同和喜爱mbti的理由吗？</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grpSp>
      <p:pic>
        <p:nvPicPr>
          <p:cNvPr id="2097271" name="图片 50"/>
          <p:cNvPicPr>
            <a:picLocks noChangeAspect="1"/>
          </p:cNvPicPr>
          <p:nvPr/>
        </p:nvPicPr>
        <p:blipFill>
          <a:blip r:embed="rId10">
            <a:alphaModFix/>
          </a:blip>
          <a:stretch>
            <a:fillRect/>
          </a:stretch>
        </p:blipFill>
        <p:spPr>
          <a:xfrm rot="10800000">
            <a:off x="520700" y="2964180"/>
            <a:ext cx="7892415" cy="1888490"/>
          </a:xfrm>
          <a:prstGeom prst="rect">
            <a:avLst/>
          </a:prstGeom>
        </p:spPr>
      </p:pic>
      <p:pic>
        <p:nvPicPr>
          <p:cNvPr id="2097272" name="图片 46"/>
          <p:cNvPicPr>
            <a:picLocks noChangeAspect="1"/>
          </p:cNvPicPr>
          <p:nvPr/>
        </p:nvPicPr>
        <p:blipFill>
          <a:blip r:embed="rId11"/>
          <a:stretch>
            <a:fillRect/>
          </a:stretch>
        </p:blipFill>
        <p:spPr>
          <a:xfrm>
            <a:off x="619760" y="628015"/>
            <a:ext cx="613410" cy="817880"/>
          </a:xfrm>
          <a:prstGeom prst="rect">
            <a:avLst/>
          </a:prstGeom>
        </p:spPr>
      </p:pic>
      <p:pic>
        <p:nvPicPr>
          <p:cNvPr id="2097273" name="图片 47"/>
          <p:cNvPicPr>
            <a:picLocks noChangeAspect="1"/>
          </p:cNvPicPr>
          <p:nvPr/>
        </p:nvPicPr>
        <p:blipFill>
          <a:blip r:embed="rId12"/>
          <a:stretch>
            <a:fillRect/>
          </a:stretch>
        </p:blipFill>
        <p:spPr>
          <a:xfrm>
            <a:off x="8315960" y="1491615"/>
            <a:ext cx="589915" cy="786765"/>
          </a:xfrm>
          <a:prstGeom prst="rect">
            <a:avLst/>
          </a:prstGeom>
        </p:spPr>
      </p:pic>
      <p:pic>
        <p:nvPicPr>
          <p:cNvPr id="2097274" name="图片 51"/>
          <p:cNvPicPr>
            <a:picLocks noChangeAspect="1"/>
          </p:cNvPicPr>
          <p:nvPr/>
        </p:nvPicPr>
        <p:blipFill>
          <a:blip r:embed="rId9">
            <a:alphaModFix/>
          </a:blip>
          <a:stretch>
            <a:fillRect/>
          </a:stretch>
        </p:blipFill>
        <p:spPr>
          <a:xfrm>
            <a:off x="619760" y="3076575"/>
            <a:ext cx="7695565" cy="1651635"/>
          </a:xfrm>
          <a:prstGeom prst="rect">
            <a:avLst/>
          </a:prstGeom>
        </p:spPr>
      </p:pic>
      <p:sp>
        <p:nvSpPr>
          <p:cNvPr id="1048645" name="文本框 33"/>
          <p:cNvSpPr txBox="1"/>
          <p:nvPr/>
        </p:nvSpPr>
        <p:spPr>
          <a:xfrm>
            <a:off x="611505" y="3075940"/>
            <a:ext cx="7870825" cy="1883410"/>
          </a:xfrm>
          <a:prstGeom prst="rect">
            <a:avLst/>
          </a:prstGeom>
          <a:noFill/>
        </p:spPr>
        <p:txBody>
          <a:bodyPr wrap="square" rtlCol="0">
            <a:noAutofit/>
          </a:bodyPr>
          <a:lstStyle/>
          <a:p>
            <a:pPr>
              <a:lnSpc>
                <a:spcPct val="120000"/>
              </a:lnSpc>
            </a:pPr>
            <a:r>
              <a:rPr lang="zh-CN" altLang="en-US" sz="1200">
                <a:latin typeface="宋体" panose="02010600030101010101" pitchFamily="2" charset="-122"/>
                <a:ea typeface="宋体" panose="02010600030101010101" pitchFamily="2" charset="-122"/>
                <a:cs typeface="宋体" panose="02010600030101010101" pitchFamily="2" charset="-122"/>
              </a:rPr>
              <a:t>A：我是小蝴蝶INFP。我测出是INFP之后其实是感觉松了一口气的，就因为我一直想要成为一个外向的人，我也一直以为自己是一个外向的人，但测出来之后发现不是的时候我才意识到原来是这样的，我感觉从那个时候开始我才真正接受自己。mbti给了我一个能够讨论差异的机会。小时候我在饭局上一句话不说，结束后被批评怎么什么都不讲，其他小孩怎么怎么样……所以我一度很羡慕外向活泼的人，因为这个世界外向的人更讨人喜欢，也会有更多的机会。所以每到一个新的环境，我都会装一装e人，试图改变以前的形象。但没办法，一段时间后还是不行，真的太累了！但有了mbti之后我意识到了性格这东西有些时候真的是天生的，我渐渐也就与自己和解了。为什么要为了别人喜欢而做自己不喜欢的事情呢？好像有了mbti后，每种性格都是合理的，更理解自己也更理解他人。</a:t>
            </a:r>
          </a:p>
        </p:txBody>
      </p:sp>
      <p:pic>
        <p:nvPicPr>
          <p:cNvPr id="2097275" name="图片 52"/>
          <p:cNvPicPr>
            <a:picLocks noChangeAspect="1"/>
          </p:cNvPicPr>
          <p:nvPr/>
        </p:nvPicPr>
        <p:blipFill>
          <a:blip r:embed="rId11"/>
          <a:stretch>
            <a:fillRect/>
          </a:stretch>
        </p:blipFill>
        <p:spPr>
          <a:xfrm>
            <a:off x="107315" y="1986280"/>
            <a:ext cx="613410" cy="817880"/>
          </a:xfrm>
          <a:prstGeom prst="rect">
            <a:avLst/>
          </a:prstGeom>
        </p:spPr>
      </p:pic>
      <p:pic>
        <p:nvPicPr>
          <p:cNvPr id="2097276" name="图片 53"/>
          <p:cNvPicPr>
            <a:picLocks noChangeAspect="1"/>
          </p:cNvPicPr>
          <p:nvPr/>
        </p:nvPicPr>
        <p:blipFill>
          <a:blip r:embed="rId12"/>
          <a:stretch>
            <a:fillRect/>
          </a:stretch>
        </p:blipFill>
        <p:spPr>
          <a:xfrm>
            <a:off x="8442960" y="3107690"/>
            <a:ext cx="589915" cy="7867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77" name="图片 1"/>
          <p:cNvPicPr>
            <a:picLocks noChangeAspect="1"/>
          </p:cNvPicPr>
          <p:nvPr/>
        </p:nvPicPr>
        <p:blipFill>
          <a:blip r:embed="rId2">
            <a:alphaModFix/>
          </a:blip>
          <a:stretch>
            <a:fillRect/>
          </a:stretch>
        </p:blipFill>
        <p:spPr>
          <a:xfrm>
            <a:off x="0" y="0"/>
            <a:ext cx="9144000" cy="5143500"/>
          </a:xfrm>
          <a:prstGeom prst="rect">
            <a:avLst/>
          </a:prstGeom>
        </p:spPr>
      </p:pic>
      <p:pic>
        <p:nvPicPr>
          <p:cNvPr id="2097278" name="图片 2"/>
          <p:cNvPicPr>
            <a:picLocks noChangeAspect="1"/>
          </p:cNvPicPr>
          <p:nvPr/>
        </p:nvPicPr>
        <p:blipFill>
          <a:blip r:embed="rId3">
            <a:alphaModFix/>
          </a:blip>
          <a:stretch>
            <a:fillRect/>
          </a:stretch>
        </p:blipFill>
        <p:spPr>
          <a:xfrm rot="5400000">
            <a:off x="6140327" y="-1074955"/>
            <a:ext cx="22103" cy="2869000"/>
          </a:xfrm>
          <a:prstGeom prst="rect">
            <a:avLst/>
          </a:prstGeom>
        </p:spPr>
      </p:pic>
      <p:sp>
        <p:nvSpPr>
          <p:cNvPr id="1048646" name="文本框 23"/>
          <p:cNvSpPr txBox="1"/>
          <p:nvPr/>
        </p:nvSpPr>
        <p:spPr>
          <a:xfrm>
            <a:off x="608123" y="177477"/>
            <a:ext cx="1430157"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1</a:t>
            </a:r>
            <a:r>
              <a:rPr lang="zh-CN" alt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号同学</a:t>
            </a:r>
            <a:r>
              <a:rPr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a:t>
            </a:r>
          </a:p>
        </p:txBody>
      </p:sp>
      <p:pic>
        <p:nvPicPr>
          <p:cNvPr id="2097279" name="图片 5"/>
          <p:cNvPicPr>
            <a:picLocks noChangeAspect="1"/>
          </p:cNvPicPr>
          <p:nvPr/>
        </p:nvPicPr>
        <p:blipFill>
          <a:blip r:embed="rId4">
            <a:alphaModFix/>
          </a:blip>
          <a:stretch>
            <a:fillRect/>
          </a:stretch>
        </p:blipFill>
        <p:spPr>
          <a:xfrm>
            <a:off x="-67566" y="-50187"/>
            <a:ext cx="396405" cy="396405"/>
          </a:xfrm>
          <a:prstGeom prst="rect">
            <a:avLst/>
          </a:prstGeom>
        </p:spPr>
      </p:pic>
      <p:pic>
        <p:nvPicPr>
          <p:cNvPr id="2097280" name="图片 6"/>
          <p:cNvPicPr>
            <a:picLocks noChangeAspect="1"/>
          </p:cNvPicPr>
          <p:nvPr/>
        </p:nvPicPr>
        <p:blipFill>
          <a:blip r:embed="rId5">
            <a:alphaModFix/>
          </a:blip>
          <a:stretch>
            <a:fillRect/>
          </a:stretch>
        </p:blipFill>
        <p:spPr>
          <a:xfrm>
            <a:off x="137221" y="138432"/>
            <a:ext cx="383234" cy="383234"/>
          </a:xfrm>
          <a:prstGeom prst="rect">
            <a:avLst/>
          </a:prstGeom>
        </p:spPr>
      </p:pic>
      <p:pic>
        <p:nvPicPr>
          <p:cNvPr id="2097281" name="图片 16"/>
          <p:cNvPicPr>
            <a:picLocks noChangeAspect="1"/>
          </p:cNvPicPr>
          <p:nvPr/>
        </p:nvPicPr>
        <p:blipFill>
          <a:blip r:embed="rId6">
            <a:alphaModFix/>
          </a:blip>
          <a:stretch>
            <a:fillRect/>
          </a:stretch>
        </p:blipFill>
        <p:spPr>
          <a:xfrm>
            <a:off x="1875627" y="4316217"/>
            <a:ext cx="304407" cy="304407"/>
          </a:xfrm>
          <a:prstGeom prst="rect">
            <a:avLst/>
          </a:prstGeom>
        </p:spPr>
      </p:pic>
      <p:pic>
        <p:nvPicPr>
          <p:cNvPr id="2097282" name="图片 17"/>
          <p:cNvPicPr>
            <a:picLocks noChangeAspect="1"/>
          </p:cNvPicPr>
          <p:nvPr/>
        </p:nvPicPr>
        <p:blipFill>
          <a:blip r:embed="rId7">
            <a:alphaModFix/>
          </a:blip>
          <a:stretch>
            <a:fillRect/>
          </a:stretch>
        </p:blipFill>
        <p:spPr>
          <a:xfrm>
            <a:off x="3089709" y="4316217"/>
            <a:ext cx="304407" cy="304407"/>
          </a:xfrm>
          <a:prstGeom prst="rect">
            <a:avLst/>
          </a:prstGeom>
        </p:spPr>
      </p:pic>
      <p:pic>
        <p:nvPicPr>
          <p:cNvPr id="2097283" name="图片 18"/>
          <p:cNvPicPr>
            <a:picLocks noChangeAspect="1"/>
          </p:cNvPicPr>
          <p:nvPr/>
        </p:nvPicPr>
        <p:blipFill>
          <a:blip r:embed="rId6">
            <a:alphaModFix/>
          </a:blip>
          <a:stretch>
            <a:fillRect/>
          </a:stretch>
        </p:blipFill>
        <p:spPr>
          <a:xfrm>
            <a:off x="4303791" y="4316217"/>
            <a:ext cx="304407" cy="304407"/>
          </a:xfrm>
          <a:prstGeom prst="rect">
            <a:avLst/>
          </a:prstGeom>
        </p:spPr>
      </p:pic>
      <p:pic>
        <p:nvPicPr>
          <p:cNvPr id="2097284" name="图片 19"/>
          <p:cNvPicPr>
            <a:picLocks noChangeAspect="1"/>
          </p:cNvPicPr>
          <p:nvPr/>
        </p:nvPicPr>
        <p:blipFill>
          <a:blip r:embed="rId7">
            <a:alphaModFix/>
          </a:blip>
          <a:stretch>
            <a:fillRect/>
          </a:stretch>
        </p:blipFill>
        <p:spPr>
          <a:xfrm>
            <a:off x="5517873" y="4316217"/>
            <a:ext cx="304407" cy="304407"/>
          </a:xfrm>
          <a:prstGeom prst="rect">
            <a:avLst/>
          </a:prstGeom>
        </p:spPr>
      </p:pic>
      <p:pic>
        <p:nvPicPr>
          <p:cNvPr id="2097285" name="图片 20"/>
          <p:cNvPicPr>
            <a:picLocks noChangeAspect="1"/>
          </p:cNvPicPr>
          <p:nvPr/>
        </p:nvPicPr>
        <p:blipFill>
          <a:blip r:embed="rId6">
            <a:alphaModFix/>
          </a:blip>
          <a:stretch>
            <a:fillRect/>
          </a:stretch>
        </p:blipFill>
        <p:spPr>
          <a:xfrm>
            <a:off x="6731955" y="4316217"/>
            <a:ext cx="304407" cy="304407"/>
          </a:xfrm>
          <a:prstGeom prst="rect">
            <a:avLst/>
          </a:prstGeom>
        </p:spPr>
      </p:pic>
      <p:sp>
        <p:nvSpPr>
          <p:cNvPr id="1048647" name="文本框 21"/>
          <p:cNvSpPr txBox="1"/>
          <p:nvPr/>
        </p:nvSpPr>
        <p:spPr>
          <a:xfrm>
            <a:off x="1700780" y="177477"/>
            <a:ext cx="2836315"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INFP</a:t>
            </a:r>
            <a:r>
              <a:rPr lang="zh-CN" alt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小蝴蝶</a:t>
            </a:r>
          </a:p>
        </p:txBody>
      </p:sp>
      <p:grpSp>
        <p:nvGrpSpPr>
          <p:cNvPr id="47" name="组合 38"/>
          <p:cNvGrpSpPr/>
          <p:nvPr/>
        </p:nvGrpSpPr>
        <p:grpSpPr>
          <a:xfrm>
            <a:off x="1179195" y="862330"/>
            <a:ext cx="6297930" cy="786837"/>
            <a:chOff x="2777" y="1669"/>
            <a:chExt cx="6469" cy="907"/>
          </a:xfrm>
        </p:grpSpPr>
        <p:pic>
          <p:nvPicPr>
            <p:cNvPr id="2097286" name="图片 39"/>
            <p:cNvPicPr>
              <a:picLocks noChangeAspect="1"/>
            </p:cNvPicPr>
            <p:nvPr/>
          </p:nvPicPr>
          <p:blipFill>
            <a:blip r:embed="rId8">
              <a:alphaModFix/>
            </a:blip>
            <a:stretch>
              <a:fillRect/>
            </a:stretch>
          </p:blipFill>
          <p:spPr>
            <a:xfrm>
              <a:off x="2777" y="1669"/>
              <a:ext cx="6469" cy="907"/>
            </a:xfrm>
            <a:prstGeom prst="rect">
              <a:avLst/>
            </a:prstGeom>
          </p:spPr>
        </p:pic>
        <p:pic>
          <p:nvPicPr>
            <p:cNvPr id="2097287" name="图片 40"/>
            <p:cNvPicPr>
              <a:picLocks noChangeAspect="1"/>
            </p:cNvPicPr>
            <p:nvPr/>
          </p:nvPicPr>
          <p:blipFill>
            <a:blip r:embed="rId9">
              <a:alphaModFix/>
            </a:blip>
            <a:stretch>
              <a:fillRect/>
            </a:stretch>
          </p:blipFill>
          <p:spPr>
            <a:xfrm>
              <a:off x="2853" y="1722"/>
              <a:ext cx="6348" cy="786"/>
            </a:xfrm>
            <a:prstGeom prst="rect">
              <a:avLst/>
            </a:prstGeom>
          </p:spPr>
        </p:pic>
        <p:sp>
          <p:nvSpPr>
            <p:cNvPr id="1048648" name="文本框 41"/>
            <p:cNvSpPr txBox="1"/>
            <p:nvPr/>
          </p:nvSpPr>
          <p:spPr>
            <a:xfrm>
              <a:off x="2853" y="1836"/>
              <a:ext cx="6263" cy="574"/>
            </a:xfrm>
            <a:prstGeom prst="rect">
              <a:avLst/>
            </a:prstGeom>
            <a:noFill/>
          </p:spPr>
          <p:txBody>
            <a:bodyPr wrap="square" rtlCol="0">
              <a:spAutoFit/>
            </a:bodyPr>
            <a:lstStyle/>
            <a:p>
              <a:r>
                <a:rPr lang="zh-CN" altLang="en-US" sz="1400">
                  <a:latin typeface="宋体" panose="02010600030101010101" pitchFamily="2" charset="-122"/>
                  <a:ea typeface="宋体" panose="02010600030101010101" pitchFamily="2" charset="-122"/>
                  <a:cs typeface="宋体" panose="02010600030101010101" pitchFamily="2" charset="-122"/>
                  <a:sym typeface="+mn-ea"/>
                </a:rPr>
                <a:t>Q：是的，现在确实有越来越多的人了解和接触到mbti，但同时也有很多人认为mbti会限制人的多样化发展。你对mbti的流行持什么态度呢？</a:t>
              </a:r>
            </a:p>
          </p:txBody>
        </p:sp>
      </p:grpSp>
      <p:pic>
        <p:nvPicPr>
          <p:cNvPr id="2097288" name="图片 50"/>
          <p:cNvPicPr>
            <a:picLocks noChangeAspect="1"/>
          </p:cNvPicPr>
          <p:nvPr/>
        </p:nvPicPr>
        <p:blipFill>
          <a:blip r:embed="rId10">
            <a:alphaModFix/>
          </a:blip>
          <a:stretch>
            <a:fillRect/>
          </a:stretch>
        </p:blipFill>
        <p:spPr>
          <a:xfrm rot="10800000">
            <a:off x="539115" y="2068830"/>
            <a:ext cx="7892415" cy="2063750"/>
          </a:xfrm>
          <a:prstGeom prst="rect">
            <a:avLst/>
          </a:prstGeom>
        </p:spPr>
      </p:pic>
      <p:pic>
        <p:nvPicPr>
          <p:cNvPr id="2097289" name="图片 51"/>
          <p:cNvPicPr>
            <a:picLocks noChangeAspect="1"/>
          </p:cNvPicPr>
          <p:nvPr/>
        </p:nvPicPr>
        <p:blipFill>
          <a:blip r:embed="rId9">
            <a:alphaModFix/>
          </a:blip>
          <a:stretch>
            <a:fillRect/>
          </a:stretch>
        </p:blipFill>
        <p:spPr>
          <a:xfrm>
            <a:off x="619760" y="2143760"/>
            <a:ext cx="7754620" cy="1901190"/>
          </a:xfrm>
          <a:prstGeom prst="rect">
            <a:avLst/>
          </a:prstGeom>
        </p:spPr>
      </p:pic>
      <p:sp>
        <p:nvSpPr>
          <p:cNvPr id="1048649" name="文本框 33"/>
          <p:cNvSpPr txBox="1"/>
          <p:nvPr/>
        </p:nvSpPr>
        <p:spPr>
          <a:xfrm>
            <a:off x="611505" y="2139950"/>
            <a:ext cx="7870825" cy="1883410"/>
          </a:xfrm>
          <a:prstGeom prst="rect">
            <a:avLst/>
          </a:prstGeom>
          <a:noFill/>
        </p:spPr>
        <p:txBody>
          <a:bodyPr wrap="square" rtlCol="0">
            <a:noAutofit/>
          </a:bodyPr>
          <a:lstStyle/>
          <a:p>
            <a:pPr>
              <a:lnSpc>
                <a:spcPct val="120000"/>
              </a:lnSpc>
            </a:pPr>
            <a:r>
              <a:rPr lang="zh-CN" altLang="en-US" sz="1200">
                <a:latin typeface="宋体" panose="02010600030101010101" pitchFamily="2" charset="-122"/>
                <a:ea typeface="宋体" panose="02010600030101010101" pitchFamily="2" charset="-122"/>
                <a:cs typeface="宋体" panose="02010600030101010101" pitchFamily="2" charset="-122"/>
              </a:rPr>
              <a:t>A：mbti是一种自我认同的方式，让大家知道自己的正向功能因此更加自信何乐而不为呢？更何况借助mbti我们也可以直观地跟人相处，我之前觉得我和我的一位朋友交往的过程中总是感觉她并不考虑我的感受，感觉她并不在乎我。我了解到mbti后明白了她并不是不在乎我，而是她做为T人的思维方式就是更加直接，更加注重效率的，而我们同样是对方很重要的人。对我来说mbti并不是简单地贴标签和限制发展，毕竟没有人会因为mbti放弃探索自己的可能性吧。反倒我觉得mbti的出现让更多不同的性格被看到和接纳了，内向敏感的我也会找到一个群体，遇见很多相似的人，发现原来有这么多人和我有相似的感受。其实我很感谢mbti的流行，至少它似乎正让性格的多元性和差异性逐渐成为一种共识，人可以是这样的，也可以是那样的，只是看待这个世界的角度和方式不同而已，我们都是鲜活的。</a:t>
            </a:r>
          </a:p>
        </p:txBody>
      </p:sp>
      <p:pic>
        <p:nvPicPr>
          <p:cNvPr id="2097290" name="图片 52"/>
          <p:cNvPicPr>
            <a:picLocks noChangeAspect="1"/>
          </p:cNvPicPr>
          <p:nvPr/>
        </p:nvPicPr>
        <p:blipFill>
          <a:blip r:embed="rId11"/>
          <a:stretch>
            <a:fillRect/>
          </a:stretch>
        </p:blipFill>
        <p:spPr>
          <a:xfrm>
            <a:off x="395605" y="922655"/>
            <a:ext cx="613410" cy="817880"/>
          </a:xfrm>
          <a:prstGeom prst="rect">
            <a:avLst/>
          </a:prstGeom>
        </p:spPr>
      </p:pic>
      <p:pic>
        <p:nvPicPr>
          <p:cNvPr id="2097291" name="图片 53"/>
          <p:cNvPicPr>
            <a:picLocks noChangeAspect="1"/>
          </p:cNvPicPr>
          <p:nvPr/>
        </p:nvPicPr>
        <p:blipFill>
          <a:blip r:embed="rId12"/>
          <a:stretch>
            <a:fillRect/>
          </a:stretch>
        </p:blipFill>
        <p:spPr>
          <a:xfrm>
            <a:off x="8481695" y="2067560"/>
            <a:ext cx="589915" cy="7867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92" name="图片 1"/>
          <p:cNvPicPr>
            <a:picLocks noChangeAspect="1"/>
          </p:cNvPicPr>
          <p:nvPr/>
        </p:nvPicPr>
        <p:blipFill>
          <a:blip r:embed="rId2">
            <a:alphaModFix/>
          </a:blip>
          <a:stretch>
            <a:fillRect/>
          </a:stretch>
        </p:blipFill>
        <p:spPr>
          <a:xfrm>
            <a:off x="0" y="0"/>
            <a:ext cx="9144000" cy="5143500"/>
          </a:xfrm>
          <a:prstGeom prst="rect">
            <a:avLst/>
          </a:prstGeom>
        </p:spPr>
      </p:pic>
      <p:pic>
        <p:nvPicPr>
          <p:cNvPr id="2097293" name="图片 2"/>
          <p:cNvPicPr>
            <a:picLocks noChangeAspect="1"/>
          </p:cNvPicPr>
          <p:nvPr/>
        </p:nvPicPr>
        <p:blipFill>
          <a:blip r:embed="rId3">
            <a:alphaModFix/>
          </a:blip>
          <a:stretch>
            <a:fillRect/>
          </a:stretch>
        </p:blipFill>
        <p:spPr>
          <a:xfrm rot="5400000">
            <a:off x="6140327" y="-1074955"/>
            <a:ext cx="22103" cy="2869000"/>
          </a:xfrm>
          <a:prstGeom prst="rect">
            <a:avLst/>
          </a:prstGeom>
        </p:spPr>
      </p:pic>
      <p:sp>
        <p:nvSpPr>
          <p:cNvPr id="1048650" name="文本框 23"/>
          <p:cNvSpPr txBox="1"/>
          <p:nvPr/>
        </p:nvSpPr>
        <p:spPr>
          <a:xfrm>
            <a:off x="608123" y="177477"/>
            <a:ext cx="1430157"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altLang="zh-CN"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2</a:t>
            </a:r>
            <a:r>
              <a:rPr lang="zh-CN" alt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号同学</a:t>
            </a:r>
            <a:r>
              <a:rPr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a:t>
            </a:r>
          </a:p>
        </p:txBody>
      </p:sp>
      <p:pic>
        <p:nvPicPr>
          <p:cNvPr id="2097294" name="图片 5"/>
          <p:cNvPicPr>
            <a:picLocks noChangeAspect="1"/>
          </p:cNvPicPr>
          <p:nvPr/>
        </p:nvPicPr>
        <p:blipFill>
          <a:blip r:embed="rId4">
            <a:alphaModFix/>
          </a:blip>
          <a:stretch>
            <a:fillRect/>
          </a:stretch>
        </p:blipFill>
        <p:spPr>
          <a:xfrm>
            <a:off x="-67566" y="-50187"/>
            <a:ext cx="396405" cy="396405"/>
          </a:xfrm>
          <a:prstGeom prst="rect">
            <a:avLst/>
          </a:prstGeom>
        </p:spPr>
      </p:pic>
      <p:pic>
        <p:nvPicPr>
          <p:cNvPr id="2097295" name="图片 6"/>
          <p:cNvPicPr>
            <a:picLocks noChangeAspect="1"/>
          </p:cNvPicPr>
          <p:nvPr/>
        </p:nvPicPr>
        <p:blipFill>
          <a:blip r:embed="rId5">
            <a:alphaModFix/>
          </a:blip>
          <a:stretch>
            <a:fillRect/>
          </a:stretch>
        </p:blipFill>
        <p:spPr>
          <a:xfrm>
            <a:off x="137221" y="138432"/>
            <a:ext cx="383234" cy="383234"/>
          </a:xfrm>
          <a:prstGeom prst="rect">
            <a:avLst/>
          </a:prstGeom>
        </p:spPr>
      </p:pic>
      <p:pic>
        <p:nvPicPr>
          <p:cNvPr id="2097296" name="图片 16"/>
          <p:cNvPicPr>
            <a:picLocks noChangeAspect="1"/>
          </p:cNvPicPr>
          <p:nvPr/>
        </p:nvPicPr>
        <p:blipFill>
          <a:blip r:embed="rId6">
            <a:alphaModFix/>
          </a:blip>
          <a:stretch>
            <a:fillRect/>
          </a:stretch>
        </p:blipFill>
        <p:spPr>
          <a:xfrm>
            <a:off x="1875627" y="4316217"/>
            <a:ext cx="304407" cy="304407"/>
          </a:xfrm>
          <a:prstGeom prst="rect">
            <a:avLst/>
          </a:prstGeom>
        </p:spPr>
      </p:pic>
      <p:pic>
        <p:nvPicPr>
          <p:cNvPr id="2097297" name="图片 17"/>
          <p:cNvPicPr>
            <a:picLocks noChangeAspect="1"/>
          </p:cNvPicPr>
          <p:nvPr/>
        </p:nvPicPr>
        <p:blipFill>
          <a:blip r:embed="rId7">
            <a:alphaModFix/>
          </a:blip>
          <a:stretch>
            <a:fillRect/>
          </a:stretch>
        </p:blipFill>
        <p:spPr>
          <a:xfrm>
            <a:off x="3089709" y="4316217"/>
            <a:ext cx="304407" cy="304407"/>
          </a:xfrm>
          <a:prstGeom prst="rect">
            <a:avLst/>
          </a:prstGeom>
        </p:spPr>
      </p:pic>
      <p:pic>
        <p:nvPicPr>
          <p:cNvPr id="2097298" name="图片 18"/>
          <p:cNvPicPr>
            <a:picLocks noChangeAspect="1"/>
          </p:cNvPicPr>
          <p:nvPr/>
        </p:nvPicPr>
        <p:blipFill>
          <a:blip r:embed="rId6">
            <a:alphaModFix/>
          </a:blip>
          <a:stretch>
            <a:fillRect/>
          </a:stretch>
        </p:blipFill>
        <p:spPr>
          <a:xfrm>
            <a:off x="4303791" y="4316217"/>
            <a:ext cx="304407" cy="304407"/>
          </a:xfrm>
          <a:prstGeom prst="rect">
            <a:avLst/>
          </a:prstGeom>
        </p:spPr>
      </p:pic>
      <p:pic>
        <p:nvPicPr>
          <p:cNvPr id="2097299" name="图片 19"/>
          <p:cNvPicPr>
            <a:picLocks noChangeAspect="1"/>
          </p:cNvPicPr>
          <p:nvPr/>
        </p:nvPicPr>
        <p:blipFill>
          <a:blip r:embed="rId7">
            <a:alphaModFix/>
          </a:blip>
          <a:stretch>
            <a:fillRect/>
          </a:stretch>
        </p:blipFill>
        <p:spPr>
          <a:xfrm>
            <a:off x="5517873" y="4316217"/>
            <a:ext cx="304407" cy="304407"/>
          </a:xfrm>
          <a:prstGeom prst="rect">
            <a:avLst/>
          </a:prstGeom>
        </p:spPr>
      </p:pic>
      <p:pic>
        <p:nvPicPr>
          <p:cNvPr id="2097300" name="图片 20"/>
          <p:cNvPicPr>
            <a:picLocks noChangeAspect="1"/>
          </p:cNvPicPr>
          <p:nvPr/>
        </p:nvPicPr>
        <p:blipFill>
          <a:blip r:embed="rId6">
            <a:alphaModFix/>
          </a:blip>
          <a:stretch>
            <a:fillRect/>
          </a:stretch>
        </p:blipFill>
        <p:spPr>
          <a:xfrm>
            <a:off x="6731955" y="4316217"/>
            <a:ext cx="304407" cy="304407"/>
          </a:xfrm>
          <a:prstGeom prst="rect">
            <a:avLst/>
          </a:prstGeom>
        </p:spPr>
      </p:pic>
      <p:sp>
        <p:nvSpPr>
          <p:cNvPr id="1048651" name="文本框 21"/>
          <p:cNvSpPr txBox="1"/>
          <p:nvPr/>
        </p:nvSpPr>
        <p:spPr>
          <a:xfrm>
            <a:off x="1700780" y="177477"/>
            <a:ext cx="2836315"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2250" kern="100">
                <a:solidFill>
                  <a:srgbClr val="1A4B59">
                    <a:alpha val="100000"/>
                  </a:srgbClr>
                </a:solidFill>
                <a:latin typeface="创客贴稚圆体 Bold Bold" panose="02010800040101010101" pitchFamily="1" charset="-122"/>
                <a:ea typeface="创客贴稚圆体 Bold Bold" panose="02010800040101010101" pitchFamily="1" charset="-122"/>
                <a:sym typeface="+mn-ea"/>
              </a:rPr>
              <a:t>INFJ</a:t>
            </a:r>
            <a:r>
              <a:rPr lang="zh-CN" altLang="en-US" sz="2250" kern="100">
                <a:solidFill>
                  <a:srgbClr val="1A4B59">
                    <a:alpha val="100000"/>
                  </a:srgbClr>
                </a:solidFill>
                <a:latin typeface="创客贴稚圆体 Bold Bold" panose="02010800040101010101" pitchFamily="1" charset="-122"/>
                <a:ea typeface="创客贴稚圆体 Bold Bold" panose="02010800040101010101" pitchFamily="1" charset="-122"/>
                <a:sym typeface="+mn-ea"/>
              </a:rPr>
              <a:t>，</a:t>
            </a:r>
            <a:r>
              <a:rPr lang="en-US" altLang="zh-CN" sz="2250" kern="100">
                <a:solidFill>
                  <a:srgbClr val="1A4B59">
                    <a:alpha val="100000"/>
                  </a:srgbClr>
                </a:solidFill>
                <a:latin typeface="创客贴稚圆体 Bold Bold" panose="02010800040101010101" pitchFamily="1" charset="-122"/>
                <a:ea typeface="创客贴稚圆体 Bold Bold" panose="02010800040101010101" pitchFamily="1" charset="-122"/>
                <a:sym typeface="+mn-ea"/>
              </a:rPr>
              <a:t>PPE</a:t>
            </a:r>
            <a:r>
              <a:rPr lang="zh-CN" altLang="en-US" sz="2250" kern="100">
                <a:solidFill>
                  <a:srgbClr val="1A4B59">
                    <a:alpha val="100000"/>
                  </a:srgbClr>
                </a:solidFill>
                <a:latin typeface="创客贴稚圆体 Bold Bold" panose="02010800040101010101" pitchFamily="1" charset="-122"/>
                <a:ea typeface="创客贴稚圆体 Bold Bold" panose="02010800040101010101" pitchFamily="1" charset="-122"/>
                <a:sym typeface="+mn-ea"/>
              </a:rPr>
              <a:t>试验班</a:t>
            </a:r>
            <a:endParaRPr lang="zh-CN" alt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endParaRPr>
          </a:p>
        </p:txBody>
      </p:sp>
      <p:grpSp>
        <p:nvGrpSpPr>
          <p:cNvPr id="52" name="组合 34"/>
          <p:cNvGrpSpPr/>
          <p:nvPr/>
        </p:nvGrpSpPr>
        <p:grpSpPr>
          <a:xfrm>
            <a:off x="1264920" y="746760"/>
            <a:ext cx="5525962" cy="434166"/>
            <a:chOff x="2777" y="1669"/>
            <a:chExt cx="6674" cy="907"/>
          </a:xfrm>
        </p:grpSpPr>
        <p:pic>
          <p:nvPicPr>
            <p:cNvPr id="2097301" name="图片 25"/>
            <p:cNvPicPr>
              <a:picLocks noChangeAspect="1"/>
            </p:cNvPicPr>
            <p:nvPr/>
          </p:nvPicPr>
          <p:blipFill>
            <a:blip r:embed="rId8">
              <a:alphaModFix/>
            </a:blip>
            <a:stretch>
              <a:fillRect/>
            </a:stretch>
          </p:blipFill>
          <p:spPr>
            <a:xfrm>
              <a:off x="2777" y="1669"/>
              <a:ext cx="6469" cy="907"/>
            </a:xfrm>
            <a:prstGeom prst="rect">
              <a:avLst/>
            </a:prstGeom>
          </p:spPr>
        </p:pic>
        <p:pic>
          <p:nvPicPr>
            <p:cNvPr id="2097302" name="图片 24"/>
            <p:cNvPicPr>
              <a:picLocks noChangeAspect="1"/>
            </p:cNvPicPr>
            <p:nvPr/>
          </p:nvPicPr>
          <p:blipFill>
            <a:blip r:embed="rId9">
              <a:alphaModFix/>
            </a:blip>
            <a:stretch>
              <a:fillRect/>
            </a:stretch>
          </p:blipFill>
          <p:spPr>
            <a:xfrm>
              <a:off x="2867" y="1752"/>
              <a:ext cx="6302" cy="710"/>
            </a:xfrm>
            <a:prstGeom prst="rect">
              <a:avLst/>
            </a:prstGeom>
          </p:spPr>
        </p:pic>
        <p:sp>
          <p:nvSpPr>
            <p:cNvPr id="1048652" name="文本框 28"/>
            <p:cNvSpPr txBox="1"/>
            <p:nvPr/>
          </p:nvSpPr>
          <p:spPr>
            <a:xfrm>
              <a:off x="2779" y="1753"/>
              <a:ext cx="6672" cy="641"/>
            </a:xfrm>
            <a:prstGeom prst="rect">
              <a:avLst/>
            </a:prstGeom>
            <a:noFill/>
          </p:spPr>
          <p:txBody>
            <a:bodyPr wrap="square" rtlCol="0">
              <a:spAutoFit/>
            </a:bodyPr>
            <a:lstStyle/>
            <a:p>
              <a:r>
                <a:rPr lang="zh-CN" altLang="en-US" sz="1400">
                  <a:latin typeface="宋体" panose="02010600030101010101" pitchFamily="2" charset="-122"/>
                  <a:ea typeface="宋体" panose="02010600030101010101" pitchFamily="2" charset="-122"/>
                  <a:cs typeface="宋体" panose="02010600030101010101" pitchFamily="2" charset="-122"/>
                </a:rPr>
                <a:t>Q：同学你好！很高兴您接受我们的采访，请问您对MBTI有了解吗？</a:t>
              </a:r>
            </a:p>
          </p:txBody>
        </p:sp>
      </p:grpSp>
      <p:pic>
        <p:nvPicPr>
          <p:cNvPr id="2097303" name="图片 30"/>
          <p:cNvPicPr>
            <a:picLocks noChangeAspect="1"/>
          </p:cNvPicPr>
          <p:nvPr/>
        </p:nvPicPr>
        <p:blipFill>
          <a:blip r:embed="rId10">
            <a:alphaModFix/>
          </a:blip>
          <a:stretch>
            <a:fillRect/>
          </a:stretch>
        </p:blipFill>
        <p:spPr>
          <a:xfrm rot="10800000">
            <a:off x="1572895" y="1276350"/>
            <a:ext cx="6679565" cy="837565"/>
          </a:xfrm>
          <a:prstGeom prst="rect">
            <a:avLst/>
          </a:prstGeom>
        </p:spPr>
      </p:pic>
      <p:pic>
        <p:nvPicPr>
          <p:cNvPr id="2097304" name="图片 29"/>
          <p:cNvPicPr>
            <a:picLocks noChangeAspect="1"/>
          </p:cNvPicPr>
          <p:nvPr/>
        </p:nvPicPr>
        <p:blipFill>
          <a:blip r:embed="rId9">
            <a:alphaModFix/>
          </a:blip>
          <a:stretch>
            <a:fillRect/>
          </a:stretch>
        </p:blipFill>
        <p:spPr>
          <a:xfrm>
            <a:off x="1635125" y="1348740"/>
            <a:ext cx="6548120" cy="675640"/>
          </a:xfrm>
          <a:prstGeom prst="rect">
            <a:avLst/>
          </a:prstGeom>
        </p:spPr>
      </p:pic>
      <p:sp>
        <p:nvSpPr>
          <p:cNvPr id="1048653" name="文本框 31"/>
          <p:cNvSpPr txBox="1"/>
          <p:nvPr/>
        </p:nvSpPr>
        <p:spPr>
          <a:xfrm>
            <a:off x="1572895" y="1289050"/>
            <a:ext cx="6740525" cy="741045"/>
          </a:xfrm>
          <a:prstGeom prst="rect">
            <a:avLst/>
          </a:prstGeom>
          <a:noFill/>
        </p:spPr>
        <p:txBody>
          <a:bodyPr wrap="square" rtlCol="0">
            <a:noAutofit/>
          </a:bodyPr>
          <a:lstStyle/>
          <a:p>
            <a:pPr>
              <a:lnSpc>
                <a:spcPct val="120000"/>
              </a:lnSpc>
            </a:pPr>
            <a:r>
              <a:rPr lang="zh-CN" altLang="en-US" sz="1200"/>
              <a:t>A：我可能一直对我自身感到好奇，所以其实我很早就有在关注人格测试的相关内容。像MBTI爆火之前，我也读到过荣格的《心理类型》，我们每个人都总是会喜欢问自己“我是谁”，但我们自己又难以回答，往往只能借助外界各种指标来定位自己，这很有趣，不是吗？</a:t>
            </a:r>
          </a:p>
        </p:txBody>
      </p:sp>
      <p:grpSp>
        <p:nvGrpSpPr>
          <p:cNvPr id="53" name="组合 38"/>
          <p:cNvGrpSpPr/>
          <p:nvPr/>
        </p:nvGrpSpPr>
        <p:grpSpPr>
          <a:xfrm>
            <a:off x="819785" y="2217420"/>
            <a:ext cx="5050155" cy="575248"/>
            <a:chOff x="2777" y="1669"/>
            <a:chExt cx="6469" cy="909"/>
          </a:xfrm>
        </p:grpSpPr>
        <p:pic>
          <p:nvPicPr>
            <p:cNvPr id="2097305" name="图片 39"/>
            <p:cNvPicPr>
              <a:picLocks noChangeAspect="1"/>
            </p:cNvPicPr>
            <p:nvPr/>
          </p:nvPicPr>
          <p:blipFill>
            <a:blip r:embed="rId8">
              <a:alphaModFix/>
            </a:blip>
            <a:stretch>
              <a:fillRect/>
            </a:stretch>
          </p:blipFill>
          <p:spPr>
            <a:xfrm>
              <a:off x="2777" y="1669"/>
              <a:ext cx="6469" cy="907"/>
            </a:xfrm>
            <a:prstGeom prst="rect">
              <a:avLst/>
            </a:prstGeom>
          </p:spPr>
        </p:pic>
        <p:pic>
          <p:nvPicPr>
            <p:cNvPr id="2097306" name="图片 40"/>
            <p:cNvPicPr>
              <a:picLocks noChangeAspect="1"/>
            </p:cNvPicPr>
            <p:nvPr/>
          </p:nvPicPr>
          <p:blipFill>
            <a:blip r:embed="rId9">
              <a:alphaModFix/>
            </a:blip>
            <a:stretch>
              <a:fillRect/>
            </a:stretch>
          </p:blipFill>
          <p:spPr>
            <a:xfrm>
              <a:off x="2867" y="1752"/>
              <a:ext cx="6302" cy="710"/>
            </a:xfrm>
            <a:prstGeom prst="rect">
              <a:avLst/>
            </a:prstGeom>
          </p:spPr>
        </p:pic>
        <p:sp>
          <p:nvSpPr>
            <p:cNvPr id="1048654" name="文本框 41"/>
            <p:cNvSpPr txBox="1"/>
            <p:nvPr/>
          </p:nvSpPr>
          <p:spPr>
            <a:xfrm>
              <a:off x="2954" y="1753"/>
              <a:ext cx="5841" cy="825"/>
            </a:xfrm>
            <a:prstGeom prst="rect">
              <a:avLst/>
            </a:prstGeom>
            <a:noFill/>
          </p:spPr>
          <p:txBody>
            <a:bodyPr wrap="square" rtlCol="0">
              <a:spAutoFit/>
            </a:bodyPr>
            <a:lstStyle/>
            <a:p>
              <a:r>
                <a:rPr lang="zh-CN" altLang="en-US" sz="1400">
                  <a:latin typeface="宋体" panose="02010600030101010101" pitchFamily="2" charset="-122"/>
                  <a:ea typeface="宋体" panose="02010600030101010101" pitchFamily="2" charset="-122"/>
                  <a:cs typeface="宋体" panose="02010600030101010101" pitchFamily="2" charset="-122"/>
                  <a:sym typeface="+mn-ea"/>
                </a:rPr>
                <a:t>Q:看来您对人格测试有很深的了解，那么您是如何看待MBTI对于自我认知和社会交往的意义呢？</a:t>
              </a:r>
            </a:p>
          </p:txBody>
        </p:sp>
      </p:grpSp>
      <p:pic>
        <p:nvPicPr>
          <p:cNvPr id="2097307" name="图片 50"/>
          <p:cNvPicPr>
            <a:picLocks noChangeAspect="1"/>
          </p:cNvPicPr>
          <p:nvPr/>
        </p:nvPicPr>
        <p:blipFill>
          <a:blip r:embed="rId10">
            <a:alphaModFix/>
          </a:blip>
          <a:stretch>
            <a:fillRect/>
          </a:stretch>
        </p:blipFill>
        <p:spPr>
          <a:xfrm rot="10800000">
            <a:off x="520700" y="2964180"/>
            <a:ext cx="7892415" cy="1233805"/>
          </a:xfrm>
          <a:prstGeom prst="rect">
            <a:avLst/>
          </a:prstGeom>
        </p:spPr>
      </p:pic>
      <p:pic>
        <p:nvPicPr>
          <p:cNvPr id="2097308" name="图片 46"/>
          <p:cNvPicPr>
            <a:picLocks noChangeAspect="1"/>
          </p:cNvPicPr>
          <p:nvPr/>
        </p:nvPicPr>
        <p:blipFill>
          <a:blip r:embed="rId11"/>
          <a:stretch>
            <a:fillRect/>
          </a:stretch>
        </p:blipFill>
        <p:spPr>
          <a:xfrm>
            <a:off x="619760" y="628015"/>
            <a:ext cx="613410" cy="817880"/>
          </a:xfrm>
          <a:prstGeom prst="rect">
            <a:avLst/>
          </a:prstGeom>
        </p:spPr>
      </p:pic>
      <p:pic>
        <p:nvPicPr>
          <p:cNvPr id="2097309" name="图片 47"/>
          <p:cNvPicPr>
            <a:picLocks noChangeAspect="1"/>
          </p:cNvPicPr>
          <p:nvPr/>
        </p:nvPicPr>
        <p:blipFill>
          <a:blip r:embed="rId12"/>
          <a:stretch>
            <a:fillRect/>
          </a:stretch>
        </p:blipFill>
        <p:spPr>
          <a:xfrm>
            <a:off x="8315960" y="1181100"/>
            <a:ext cx="589915" cy="786765"/>
          </a:xfrm>
          <a:prstGeom prst="rect">
            <a:avLst/>
          </a:prstGeom>
        </p:spPr>
      </p:pic>
      <p:pic>
        <p:nvPicPr>
          <p:cNvPr id="2097310" name="图片 51"/>
          <p:cNvPicPr>
            <a:picLocks noChangeAspect="1"/>
          </p:cNvPicPr>
          <p:nvPr/>
        </p:nvPicPr>
        <p:blipFill>
          <a:blip r:embed="rId9">
            <a:alphaModFix/>
          </a:blip>
          <a:stretch>
            <a:fillRect/>
          </a:stretch>
        </p:blipFill>
        <p:spPr>
          <a:xfrm>
            <a:off x="619760" y="3076575"/>
            <a:ext cx="7695565" cy="1019175"/>
          </a:xfrm>
          <a:prstGeom prst="rect">
            <a:avLst/>
          </a:prstGeom>
        </p:spPr>
      </p:pic>
      <p:sp>
        <p:nvSpPr>
          <p:cNvPr id="1048655" name="文本框 33"/>
          <p:cNvSpPr txBox="1"/>
          <p:nvPr/>
        </p:nvSpPr>
        <p:spPr>
          <a:xfrm>
            <a:off x="612140" y="3076575"/>
            <a:ext cx="7757160" cy="1094740"/>
          </a:xfrm>
          <a:prstGeom prst="rect">
            <a:avLst/>
          </a:prstGeom>
          <a:noFill/>
        </p:spPr>
        <p:txBody>
          <a:bodyPr wrap="square" rtlCol="0">
            <a:noAutofit/>
          </a:bodyPr>
          <a:lstStyle/>
          <a:p>
            <a:pPr>
              <a:lnSpc>
                <a:spcPct val="120000"/>
              </a:lnSpc>
            </a:pPr>
            <a:r>
              <a:rPr lang="zh-CN" altLang="en-US" sz="1200">
                <a:latin typeface="宋体" panose="02010600030101010101" pitchFamily="2" charset="-122"/>
                <a:ea typeface="宋体" panose="02010600030101010101" pitchFamily="2" charset="-122"/>
                <a:cs typeface="宋体" panose="02010600030101010101" pitchFamily="2" charset="-122"/>
              </a:rPr>
              <a:t>A：MBTI或许能反映你人格的一部分，这有助于你认知自我，但它往往反映的很片面，这就致使你或许会不自觉走向MBTI为你刻画的人物画像，而不能自由地发现自己，交往他人。</a:t>
            </a:r>
          </a:p>
          <a:p>
            <a:pPr>
              <a:lnSpc>
                <a:spcPct val="120000"/>
              </a:lnSpc>
            </a:pPr>
            <a:r>
              <a:rPr lang="zh-CN" altLang="en-US" sz="1200">
                <a:latin typeface="宋体" panose="02010600030101010101" pitchFamily="2" charset="-122"/>
                <a:ea typeface="宋体" panose="02010600030101010101" pitchFamily="2" charset="-122"/>
                <a:cs typeface="宋体" panose="02010600030101010101" pitchFamily="2" charset="-122"/>
              </a:rPr>
              <a:t>归根结底吧，MBTI只是一种工具，你可以自由地选择用或者不用，与其纠结它对人格社交的意义，不如去与真实的人去交流，真实地为自己生活。</a:t>
            </a:r>
          </a:p>
        </p:txBody>
      </p:sp>
      <p:pic>
        <p:nvPicPr>
          <p:cNvPr id="2097311" name="图片 52"/>
          <p:cNvPicPr>
            <a:picLocks noChangeAspect="1"/>
          </p:cNvPicPr>
          <p:nvPr/>
        </p:nvPicPr>
        <p:blipFill>
          <a:blip r:embed="rId11"/>
          <a:stretch>
            <a:fillRect/>
          </a:stretch>
        </p:blipFill>
        <p:spPr>
          <a:xfrm>
            <a:off x="107315" y="1986280"/>
            <a:ext cx="613410" cy="817880"/>
          </a:xfrm>
          <a:prstGeom prst="rect">
            <a:avLst/>
          </a:prstGeom>
        </p:spPr>
      </p:pic>
      <p:pic>
        <p:nvPicPr>
          <p:cNvPr id="2097312" name="图片 53"/>
          <p:cNvPicPr>
            <a:picLocks noChangeAspect="1"/>
          </p:cNvPicPr>
          <p:nvPr/>
        </p:nvPicPr>
        <p:blipFill>
          <a:blip r:embed="rId12"/>
          <a:stretch>
            <a:fillRect/>
          </a:stretch>
        </p:blipFill>
        <p:spPr>
          <a:xfrm>
            <a:off x="8442960" y="3107690"/>
            <a:ext cx="589915" cy="7867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313" name="图片 1"/>
          <p:cNvPicPr>
            <a:picLocks noChangeAspect="1"/>
          </p:cNvPicPr>
          <p:nvPr/>
        </p:nvPicPr>
        <p:blipFill>
          <a:blip r:embed="rId2">
            <a:alphaModFix/>
          </a:blip>
          <a:stretch>
            <a:fillRect/>
          </a:stretch>
        </p:blipFill>
        <p:spPr>
          <a:xfrm>
            <a:off x="0" y="0"/>
            <a:ext cx="9144000" cy="5143500"/>
          </a:xfrm>
          <a:prstGeom prst="rect">
            <a:avLst/>
          </a:prstGeom>
        </p:spPr>
      </p:pic>
      <p:pic>
        <p:nvPicPr>
          <p:cNvPr id="2097314" name="图片 2"/>
          <p:cNvPicPr>
            <a:picLocks noChangeAspect="1"/>
          </p:cNvPicPr>
          <p:nvPr/>
        </p:nvPicPr>
        <p:blipFill>
          <a:blip r:embed="rId3">
            <a:alphaModFix/>
          </a:blip>
          <a:stretch>
            <a:fillRect/>
          </a:stretch>
        </p:blipFill>
        <p:spPr>
          <a:xfrm rot="5400000">
            <a:off x="6140327" y="-1074955"/>
            <a:ext cx="22103" cy="2869000"/>
          </a:xfrm>
          <a:prstGeom prst="rect">
            <a:avLst/>
          </a:prstGeom>
        </p:spPr>
      </p:pic>
      <p:sp>
        <p:nvSpPr>
          <p:cNvPr id="1048656" name="文本框 23"/>
          <p:cNvSpPr txBox="1"/>
          <p:nvPr/>
        </p:nvSpPr>
        <p:spPr>
          <a:xfrm>
            <a:off x="608123" y="177477"/>
            <a:ext cx="1430157"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altLang="zh-CN"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2</a:t>
            </a:r>
            <a:r>
              <a:rPr lang="zh-CN" alt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号同学</a:t>
            </a:r>
            <a:r>
              <a:rPr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a:t>
            </a:r>
          </a:p>
        </p:txBody>
      </p:sp>
      <p:pic>
        <p:nvPicPr>
          <p:cNvPr id="2097315" name="图片 5"/>
          <p:cNvPicPr>
            <a:picLocks noChangeAspect="1"/>
          </p:cNvPicPr>
          <p:nvPr/>
        </p:nvPicPr>
        <p:blipFill>
          <a:blip r:embed="rId4">
            <a:alphaModFix/>
          </a:blip>
          <a:stretch>
            <a:fillRect/>
          </a:stretch>
        </p:blipFill>
        <p:spPr>
          <a:xfrm>
            <a:off x="-67566" y="-50187"/>
            <a:ext cx="396405" cy="396405"/>
          </a:xfrm>
          <a:prstGeom prst="rect">
            <a:avLst/>
          </a:prstGeom>
        </p:spPr>
      </p:pic>
      <p:pic>
        <p:nvPicPr>
          <p:cNvPr id="2097316" name="图片 6"/>
          <p:cNvPicPr>
            <a:picLocks noChangeAspect="1"/>
          </p:cNvPicPr>
          <p:nvPr/>
        </p:nvPicPr>
        <p:blipFill>
          <a:blip r:embed="rId5">
            <a:alphaModFix/>
          </a:blip>
          <a:stretch>
            <a:fillRect/>
          </a:stretch>
        </p:blipFill>
        <p:spPr>
          <a:xfrm>
            <a:off x="137221" y="138432"/>
            <a:ext cx="383234" cy="383234"/>
          </a:xfrm>
          <a:prstGeom prst="rect">
            <a:avLst/>
          </a:prstGeom>
        </p:spPr>
      </p:pic>
      <p:pic>
        <p:nvPicPr>
          <p:cNvPr id="2097317" name="图片 16"/>
          <p:cNvPicPr>
            <a:picLocks noChangeAspect="1"/>
          </p:cNvPicPr>
          <p:nvPr/>
        </p:nvPicPr>
        <p:blipFill>
          <a:blip r:embed="rId6">
            <a:alphaModFix/>
          </a:blip>
          <a:stretch>
            <a:fillRect/>
          </a:stretch>
        </p:blipFill>
        <p:spPr>
          <a:xfrm>
            <a:off x="1875627" y="4316217"/>
            <a:ext cx="304407" cy="304407"/>
          </a:xfrm>
          <a:prstGeom prst="rect">
            <a:avLst/>
          </a:prstGeom>
        </p:spPr>
      </p:pic>
      <p:pic>
        <p:nvPicPr>
          <p:cNvPr id="2097318" name="图片 17"/>
          <p:cNvPicPr>
            <a:picLocks noChangeAspect="1"/>
          </p:cNvPicPr>
          <p:nvPr/>
        </p:nvPicPr>
        <p:blipFill>
          <a:blip r:embed="rId7">
            <a:alphaModFix/>
          </a:blip>
          <a:stretch>
            <a:fillRect/>
          </a:stretch>
        </p:blipFill>
        <p:spPr>
          <a:xfrm>
            <a:off x="3089709" y="4316217"/>
            <a:ext cx="304407" cy="304407"/>
          </a:xfrm>
          <a:prstGeom prst="rect">
            <a:avLst/>
          </a:prstGeom>
        </p:spPr>
      </p:pic>
      <p:pic>
        <p:nvPicPr>
          <p:cNvPr id="2097319" name="图片 18"/>
          <p:cNvPicPr>
            <a:picLocks noChangeAspect="1"/>
          </p:cNvPicPr>
          <p:nvPr/>
        </p:nvPicPr>
        <p:blipFill>
          <a:blip r:embed="rId6">
            <a:alphaModFix/>
          </a:blip>
          <a:stretch>
            <a:fillRect/>
          </a:stretch>
        </p:blipFill>
        <p:spPr>
          <a:xfrm>
            <a:off x="4303791" y="4316217"/>
            <a:ext cx="304407" cy="304407"/>
          </a:xfrm>
          <a:prstGeom prst="rect">
            <a:avLst/>
          </a:prstGeom>
        </p:spPr>
      </p:pic>
      <p:pic>
        <p:nvPicPr>
          <p:cNvPr id="2097320" name="图片 19"/>
          <p:cNvPicPr>
            <a:picLocks noChangeAspect="1"/>
          </p:cNvPicPr>
          <p:nvPr/>
        </p:nvPicPr>
        <p:blipFill>
          <a:blip r:embed="rId7">
            <a:alphaModFix/>
          </a:blip>
          <a:stretch>
            <a:fillRect/>
          </a:stretch>
        </p:blipFill>
        <p:spPr>
          <a:xfrm>
            <a:off x="5517873" y="4316217"/>
            <a:ext cx="304407" cy="304407"/>
          </a:xfrm>
          <a:prstGeom prst="rect">
            <a:avLst/>
          </a:prstGeom>
        </p:spPr>
      </p:pic>
      <p:pic>
        <p:nvPicPr>
          <p:cNvPr id="2097321" name="图片 20"/>
          <p:cNvPicPr>
            <a:picLocks noChangeAspect="1"/>
          </p:cNvPicPr>
          <p:nvPr/>
        </p:nvPicPr>
        <p:blipFill>
          <a:blip r:embed="rId6">
            <a:alphaModFix/>
          </a:blip>
          <a:stretch>
            <a:fillRect/>
          </a:stretch>
        </p:blipFill>
        <p:spPr>
          <a:xfrm>
            <a:off x="6731955" y="4316217"/>
            <a:ext cx="304407" cy="304407"/>
          </a:xfrm>
          <a:prstGeom prst="rect">
            <a:avLst/>
          </a:prstGeom>
        </p:spPr>
      </p:pic>
      <p:sp>
        <p:nvSpPr>
          <p:cNvPr id="1048657" name="文本框 21"/>
          <p:cNvSpPr txBox="1"/>
          <p:nvPr/>
        </p:nvSpPr>
        <p:spPr>
          <a:xfrm>
            <a:off x="1700780" y="177477"/>
            <a:ext cx="2836315"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2250" kern="100">
                <a:solidFill>
                  <a:srgbClr val="1A4B59">
                    <a:alpha val="100000"/>
                  </a:srgbClr>
                </a:solidFill>
                <a:latin typeface="创客贴稚圆体 Bold Bold" panose="02010800040101010101" pitchFamily="1" charset="-122"/>
                <a:ea typeface="创客贴稚圆体 Bold Bold" panose="02010800040101010101" pitchFamily="1" charset="-122"/>
                <a:sym typeface="+mn-ea"/>
              </a:rPr>
              <a:t>INFJ</a:t>
            </a:r>
            <a:r>
              <a:rPr lang="zh-CN" altLang="en-US" sz="2250" kern="100">
                <a:solidFill>
                  <a:srgbClr val="1A4B59">
                    <a:alpha val="100000"/>
                  </a:srgbClr>
                </a:solidFill>
                <a:latin typeface="创客贴稚圆体 Bold Bold" panose="02010800040101010101" pitchFamily="1" charset="-122"/>
                <a:ea typeface="创客贴稚圆体 Bold Bold" panose="02010800040101010101" pitchFamily="1" charset="-122"/>
                <a:sym typeface="+mn-ea"/>
              </a:rPr>
              <a:t>，</a:t>
            </a:r>
            <a:r>
              <a:rPr lang="en-US" altLang="zh-CN" sz="2250" kern="100">
                <a:solidFill>
                  <a:srgbClr val="1A4B59">
                    <a:alpha val="100000"/>
                  </a:srgbClr>
                </a:solidFill>
                <a:latin typeface="创客贴稚圆体 Bold Bold" panose="02010800040101010101" pitchFamily="1" charset="-122"/>
                <a:ea typeface="创客贴稚圆体 Bold Bold" panose="02010800040101010101" pitchFamily="1" charset="-122"/>
                <a:sym typeface="+mn-ea"/>
              </a:rPr>
              <a:t>PPE</a:t>
            </a:r>
            <a:r>
              <a:rPr lang="zh-CN" altLang="en-US" sz="2250" kern="100">
                <a:solidFill>
                  <a:srgbClr val="1A4B59">
                    <a:alpha val="100000"/>
                  </a:srgbClr>
                </a:solidFill>
                <a:latin typeface="创客贴稚圆体 Bold Bold" panose="02010800040101010101" pitchFamily="1" charset="-122"/>
                <a:ea typeface="创客贴稚圆体 Bold Bold" panose="02010800040101010101" pitchFamily="1" charset="-122"/>
                <a:sym typeface="+mn-ea"/>
              </a:rPr>
              <a:t>试验班</a:t>
            </a:r>
            <a:endParaRPr lang="zh-CN" alt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endParaRPr>
          </a:p>
        </p:txBody>
      </p:sp>
      <p:grpSp>
        <p:nvGrpSpPr>
          <p:cNvPr id="58" name="组合 34"/>
          <p:cNvGrpSpPr/>
          <p:nvPr/>
        </p:nvGrpSpPr>
        <p:grpSpPr>
          <a:xfrm>
            <a:off x="1264920" y="699542"/>
            <a:ext cx="5050155" cy="434340"/>
            <a:chOff x="2777" y="1669"/>
            <a:chExt cx="6469" cy="907"/>
          </a:xfrm>
        </p:grpSpPr>
        <p:pic>
          <p:nvPicPr>
            <p:cNvPr id="2097322" name="图片 25"/>
            <p:cNvPicPr>
              <a:picLocks noChangeAspect="1"/>
            </p:cNvPicPr>
            <p:nvPr/>
          </p:nvPicPr>
          <p:blipFill>
            <a:blip r:embed="rId8">
              <a:alphaModFix/>
            </a:blip>
            <a:stretch>
              <a:fillRect/>
            </a:stretch>
          </p:blipFill>
          <p:spPr>
            <a:xfrm>
              <a:off x="2777" y="1669"/>
              <a:ext cx="6469" cy="907"/>
            </a:xfrm>
            <a:prstGeom prst="rect">
              <a:avLst/>
            </a:prstGeom>
          </p:spPr>
        </p:pic>
        <p:pic>
          <p:nvPicPr>
            <p:cNvPr id="2097323" name="图片 24"/>
            <p:cNvPicPr>
              <a:picLocks noChangeAspect="1"/>
            </p:cNvPicPr>
            <p:nvPr/>
          </p:nvPicPr>
          <p:blipFill>
            <a:blip r:embed="rId9">
              <a:alphaModFix/>
            </a:blip>
            <a:stretch>
              <a:fillRect/>
            </a:stretch>
          </p:blipFill>
          <p:spPr>
            <a:xfrm>
              <a:off x="2867" y="1752"/>
              <a:ext cx="6302" cy="710"/>
            </a:xfrm>
            <a:prstGeom prst="rect">
              <a:avLst/>
            </a:prstGeom>
          </p:spPr>
        </p:pic>
        <p:sp>
          <p:nvSpPr>
            <p:cNvPr id="1048658" name="文本框 28"/>
            <p:cNvSpPr txBox="1"/>
            <p:nvPr/>
          </p:nvSpPr>
          <p:spPr>
            <a:xfrm>
              <a:off x="2954" y="1753"/>
              <a:ext cx="5841" cy="64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宋体" panose="02010600030101010101" pitchFamily="2" charset="-122"/>
                </a:rPr>
                <a:t>Q：既然如此，您是否对MBTI是存疑的呢？</a:t>
              </a:r>
            </a:p>
          </p:txBody>
        </p:sp>
      </p:grpSp>
      <p:pic>
        <p:nvPicPr>
          <p:cNvPr id="2097324" name="图片 30"/>
          <p:cNvPicPr>
            <a:picLocks noChangeAspect="1"/>
          </p:cNvPicPr>
          <p:nvPr/>
        </p:nvPicPr>
        <p:blipFill>
          <a:blip r:embed="rId10">
            <a:alphaModFix/>
          </a:blip>
          <a:stretch>
            <a:fillRect/>
          </a:stretch>
        </p:blipFill>
        <p:spPr>
          <a:xfrm rot="10800000">
            <a:off x="1544955" y="1276350"/>
            <a:ext cx="6620510" cy="1810385"/>
          </a:xfrm>
          <a:prstGeom prst="rect">
            <a:avLst/>
          </a:prstGeom>
        </p:spPr>
      </p:pic>
      <p:pic>
        <p:nvPicPr>
          <p:cNvPr id="2097325" name="图片 29"/>
          <p:cNvPicPr>
            <a:picLocks noChangeAspect="1"/>
          </p:cNvPicPr>
          <p:nvPr/>
        </p:nvPicPr>
        <p:blipFill>
          <a:blip r:embed="rId9">
            <a:alphaModFix/>
          </a:blip>
          <a:stretch>
            <a:fillRect/>
          </a:stretch>
        </p:blipFill>
        <p:spPr>
          <a:xfrm>
            <a:off x="1624330" y="1348740"/>
            <a:ext cx="6465570" cy="1675765"/>
          </a:xfrm>
          <a:prstGeom prst="rect">
            <a:avLst/>
          </a:prstGeom>
        </p:spPr>
      </p:pic>
      <p:sp>
        <p:nvSpPr>
          <p:cNvPr id="1048659" name="文本框 31"/>
          <p:cNvSpPr txBox="1"/>
          <p:nvPr/>
        </p:nvSpPr>
        <p:spPr>
          <a:xfrm>
            <a:off x="1628775" y="1312545"/>
            <a:ext cx="6499860" cy="1703070"/>
          </a:xfrm>
          <a:prstGeom prst="rect">
            <a:avLst/>
          </a:prstGeom>
          <a:noFill/>
        </p:spPr>
        <p:txBody>
          <a:bodyPr wrap="square" rtlCol="0">
            <a:noAutofit/>
          </a:bodyPr>
          <a:lstStyle/>
          <a:p>
            <a:pPr>
              <a:lnSpc>
                <a:spcPct val="110000"/>
              </a:lnSpc>
            </a:pPr>
            <a:r>
              <a:rPr lang="zh-CN" altLang="en-US" sz="1200" dirty="0"/>
              <a:t>A：我并不完全否认MBTI，我认为它可以作为一个认知自我与外界的参照，有道理，但并不准确。比如我可能会像传统意义上的INFJ一样，不排斥聚会，但我内心可能更倾向独处，有时候沾染一点完美主义，又因为它而自我内耗，这或许算是较为贴切的方面了。</a:t>
            </a:r>
          </a:p>
          <a:p>
            <a:pPr>
              <a:lnSpc>
                <a:spcPct val="110000"/>
              </a:lnSpc>
            </a:pPr>
            <a:r>
              <a:rPr lang="zh-CN" altLang="en-US" sz="1200" dirty="0"/>
              <a:t>但是都说INFJ早熟，能很早适应社会规则，我不以为然。我认为我一直在坚守自我，尽管有时显得格格不入。我谈过我的高考很烂，当时老师班主任轮流轰炸我，让我走清美的西方艺术理论，但是我还是选了南开，因为我最后想明白我其实没那么喜欢艺术，我无法把它作为一生的事业去热爱，那我就一定不会因为外界的一些看法而动摇，我很庆幸，我可以说这二十多年我在为内心而活，而不是像个讨好规则和世俗的INFJ</a:t>
            </a:r>
          </a:p>
        </p:txBody>
      </p:sp>
      <p:grpSp>
        <p:nvGrpSpPr>
          <p:cNvPr id="59" name="组合 38"/>
          <p:cNvGrpSpPr/>
          <p:nvPr/>
        </p:nvGrpSpPr>
        <p:grpSpPr>
          <a:xfrm>
            <a:off x="1052195" y="3238500"/>
            <a:ext cx="5050155" cy="573982"/>
            <a:chOff x="2777" y="1669"/>
            <a:chExt cx="6469" cy="907"/>
          </a:xfrm>
        </p:grpSpPr>
        <p:pic>
          <p:nvPicPr>
            <p:cNvPr id="2097326" name="图片 39"/>
            <p:cNvPicPr>
              <a:picLocks noChangeAspect="1"/>
            </p:cNvPicPr>
            <p:nvPr/>
          </p:nvPicPr>
          <p:blipFill>
            <a:blip r:embed="rId8">
              <a:alphaModFix/>
            </a:blip>
            <a:stretch>
              <a:fillRect/>
            </a:stretch>
          </p:blipFill>
          <p:spPr>
            <a:xfrm>
              <a:off x="2777" y="1669"/>
              <a:ext cx="6469" cy="907"/>
            </a:xfrm>
            <a:prstGeom prst="rect">
              <a:avLst/>
            </a:prstGeom>
          </p:spPr>
        </p:pic>
        <p:pic>
          <p:nvPicPr>
            <p:cNvPr id="2097327" name="图片 40"/>
            <p:cNvPicPr>
              <a:picLocks noChangeAspect="1"/>
            </p:cNvPicPr>
            <p:nvPr/>
          </p:nvPicPr>
          <p:blipFill>
            <a:blip r:embed="rId9">
              <a:alphaModFix/>
            </a:blip>
            <a:stretch>
              <a:fillRect/>
            </a:stretch>
          </p:blipFill>
          <p:spPr>
            <a:xfrm>
              <a:off x="2867" y="1752"/>
              <a:ext cx="6302" cy="710"/>
            </a:xfrm>
            <a:prstGeom prst="rect">
              <a:avLst/>
            </a:prstGeom>
          </p:spPr>
        </p:pic>
        <p:sp>
          <p:nvSpPr>
            <p:cNvPr id="1048660" name="文本框 41"/>
            <p:cNvSpPr txBox="1"/>
            <p:nvPr/>
          </p:nvSpPr>
          <p:spPr>
            <a:xfrm>
              <a:off x="2954" y="1881"/>
              <a:ext cx="5841" cy="485"/>
            </a:xfrm>
            <a:prstGeom prst="rect">
              <a:avLst/>
            </a:prstGeom>
            <a:noFill/>
          </p:spPr>
          <p:txBody>
            <a:bodyPr wrap="square" rtlCol="0">
              <a:spAutoFit/>
            </a:bodyPr>
            <a:lstStyle/>
            <a:p>
              <a:r>
                <a:rPr lang="zh-CN" altLang="en-US" sz="1400">
                  <a:latin typeface="宋体" panose="02010600030101010101" pitchFamily="2" charset="-122"/>
                  <a:ea typeface="宋体" panose="02010600030101010101" pitchFamily="2" charset="-122"/>
                  <a:cs typeface="宋体" panose="02010600030101010101" pitchFamily="2" charset="-122"/>
                  <a:sym typeface="+mn-ea"/>
                </a:rPr>
                <a:t>Q:那您认为又是什么导致了MBTI的片面性呢？</a:t>
              </a:r>
            </a:p>
          </p:txBody>
        </p:sp>
      </p:grpSp>
      <p:pic>
        <p:nvPicPr>
          <p:cNvPr id="2097328" name="图片 50"/>
          <p:cNvPicPr>
            <a:picLocks noChangeAspect="1"/>
          </p:cNvPicPr>
          <p:nvPr/>
        </p:nvPicPr>
        <p:blipFill>
          <a:blip r:embed="rId10">
            <a:alphaModFix/>
          </a:blip>
          <a:stretch>
            <a:fillRect/>
          </a:stretch>
        </p:blipFill>
        <p:spPr>
          <a:xfrm rot="10800000">
            <a:off x="1331595" y="3887470"/>
            <a:ext cx="7009130" cy="1214755"/>
          </a:xfrm>
          <a:prstGeom prst="rect">
            <a:avLst/>
          </a:prstGeom>
        </p:spPr>
      </p:pic>
      <p:pic>
        <p:nvPicPr>
          <p:cNvPr id="2097329" name="图片 46"/>
          <p:cNvPicPr>
            <a:picLocks noChangeAspect="1"/>
          </p:cNvPicPr>
          <p:nvPr/>
        </p:nvPicPr>
        <p:blipFill>
          <a:blip r:embed="rId11"/>
          <a:stretch>
            <a:fillRect/>
          </a:stretch>
        </p:blipFill>
        <p:spPr>
          <a:xfrm>
            <a:off x="619760" y="628015"/>
            <a:ext cx="613410" cy="817880"/>
          </a:xfrm>
          <a:prstGeom prst="rect">
            <a:avLst/>
          </a:prstGeom>
        </p:spPr>
      </p:pic>
      <p:pic>
        <p:nvPicPr>
          <p:cNvPr id="2097330" name="图片 47"/>
          <p:cNvPicPr>
            <a:picLocks noChangeAspect="1"/>
          </p:cNvPicPr>
          <p:nvPr/>
        </p:nvPicPr>
        <p:blipFill>
          <a:blip r:embed="rId12"/>
          <a:stretch>
            <a:fillRect/>
          </a:stretch>
        </p:blipFill>
        <p:spPr>
          <a:xfrm>
            <a:off x="8315960" y="1491615"/>
            <a:ext cx="589915" cy="786765"/>
          </a:xfrm>
          <a:prstGeom prst="rect">
            <a:avLst/>
          </a:prstGeom>
        </p:spPr>
      </p:pic>
      <p:pic>
        <p:nvPicPr>
          <p:cNvPr id="2097331" name="图片 51"/>
          <p:cNvPicPr>
            <a:picLocks noChangeAspect="1"/>
          </p:cNvPicPr>
          <p:nvPr/>
        </p:nvPicPr>
        <p:blipFill>
          <a:blip r:embed="rId9">
            <a:alphaModFix/>
          </a:blip>
          <a:stretch>
            <a:fillRect/>
          </a:stretch>
        </p:blipFill>
        <p:spPr>
          <a:xfrm>
            <a:off x="1403350" y="3966845"/>
            <a:ext cx="6844030" cy="1031875"/>
          </a:xfrm>
          <a:prstGeom prst="rect">
            <a:avLst/>
          </a:prstGeom>
        </p:spPr>
      </p:pic>
      <p:sp>
        <p:nvSpPr>
          <p:cNvPr id="1048661" name="文本框 33"/>
          <p:cNvSpPr txBox="1"/>
          <p:nvPr/>
        </p:nvSpPr>
        <p:spPr>
          <a:xfrm>
            <a:off x="1473200" y="3981450"/>
            <a:ext cx="6842760" cy="1130300"/>
          </a:xfrm>
          <a:prstGeom prst="rect">
            <a:avLst/>
          </a:prstGeom>
          <a:noFill/>
        </p:spPr>
        <p:txBody>
          <a:bodyPr wrap="square" rtlCol="0">
            <a:noAutofit/>
          </a:bodyPr>
          <a:lstStyle/>
          <a:p>
            <a:pPr>
              <a:lnSpc>
                <a:spcPct val="120000"/>
              </a:lnSpc>
            </a:pPr>
            <a:r>
              <a:rPr lang="zh-CN" altLang="en-US" sz="1200">
                <a:latin typeface="宋体" panose="02010600030101010101" pitchFamily="2" charset="-122"/>
                <a:ea typeface="宋体" panose="02010600030101010101" pitchFamily="2" charset="-122"/>
                <a:cs typeface="宋体" panose="02010600030101010101" pitchFamily="2" charset="-122"/>
              </a:rPr>
              <a:t>A：首先呢，对于借助一些量化指标来帮助我们认识自己和社会交往，我觉得这一定是有道理的，但是用人格分类简单划分人，我持保留意见。打个比方51%i，51%e和99%e的三个人，你无法说谁更相近。并且MBTI测试过程中不可避免会有主观因素在，干扰我们不由自主地填出我们心目中“理想人格”或是潜意识里希望自己成为的人格，但那并不一定是我们当下的人格的真实状况。</a:t>
            </a:r>
          </a:p>
        </p:txBody>
      </p:sp>
      <p:pic>
        <p:nvPicPr>
          <p:cNvPr id="2097332" name="图片 52"/>
          <p:cNvPicPr>
            <a:picLocks noChangeAspect="1"/>
          </p:cNvPicPr>
          <p:nvPr/>
        </p:nvPicPr>
        <p:blipFill>
          <a:blip r:embed="rId11"/>
          <a:stretch>
            <a:fillRect/>
          </a:stretch>
        </p:blipFill>
        <p:spPr>
          <a:xfrm>
            <a:off x="323215" y="2994660"/>
            <a:ext cx="613410" cy="817880"/>
          </a:xfrm>
          <a:prstGeom prst="rect">
            <a:avLst/>
          </a:prstGeom>
        </p:spPr>
      </p:pic>
      <p:pic>
        <p:nvPicPr>
          <p:cNvPr id="2097333" name="图片 53"/>
          <p:cNvPicPr>
            <a:picLocks noChangeAspect="1"/>
          </p:cNvPicPr>
          <p:nvPr/>
        </p:nvPicPr>
        <p:blipFill>
          <a:blip r:embed="rId12"/>
          <a:stretch>
            <a:fillRect/>
          </a:stretch>
        </p:blipFill>
        <p:spPr>
          <a:xfrm>
            <a:off x="8460105" y="3507740"/>
            <a:ext cx="589915" cy="7867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334" name="图片 1"/>
          <p:cNvPicPr>
            <a:picLocks noChangeAspect="1"/>
          </p:cNvPicPr>
          <p:nvPr/>
        </p:nvPicPr>
        <p:blipFill>
          <a:blip r:embed="rId2">
            <a:alphaModFix/>
          </a:blip>
          <a:stretch>
            <a:fillRect/>
          </a:stretch>
        </p:blipFill>
        <p:spPr>
          <a:xfrm>
            <a:off x="35560" y="-20320"/>
            <a:ext cx="9144000" cy="5143500"/>
          </a:xfrm>
          <a:prstGeom prst="rect">
            <a:avLst/>
          </a:prstGeom>
        </p:spPr>
      </p:pic>
      <p:pic>
        <p:nvPicPr>
          <p:cNvPr id="2097335" name="图片 2"/>
          <p:cNvPicPr>
            <a:picLocks noChangeAspect="1"/>
          </p:cNvPicPr>
          <p:nvPr/>
        </p:nvPicPr>
        <p:blipFill>
          <a:blip r:embed="rId3">
            <a:alphaModFix/>
          </a:blip>
          <a:stretch>
            <a:fillRect/>
          </a:stretch>
        </p:blipFill>
        <p:spPr>
          <a:xfrm rot="5400000">
            <a:off x="6140327" y="-1074955"/>
            <a:ext cx="22103" cy="2869000"/>
          </a:xfrm>
          <a:prstGeom prst="rect">
            <a:avLst/>
          </a:prstGeom>
        </p:spPr>
      </p:pic>
      <p:sp>
        <p:nvSpPr>
          <p:cNvPr id="1048662" name="文本框 23"/>
          <p:cNvSpPr txBox="1"/>
          <p:nvPr/>
        </p:nvSpPr>
        <p:spPr>
          <a:xfrm>
            <a:off x="608123" y="177477"/>
            <a:ext cx="1430157"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altLang="zh-CN"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3</a:t>
            </a:r>
            <a:r>
              <a:rPr lang="zh-CN" alt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号同学</a:t>
            </a:r>
            <a:r>
              <a:rPr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a:t>
            </a:r>
          </a:p>
        </p:txBody>
      </p:sp>
      <p:pic>
        <p:nvPicPr>
          <p:cNvPr id="2097336" name="图片 5"/>
          <p:cNvPicPr>
            <a:picLocks noChangeAspect="1"/>
          </p:cNvPicPr>
          <p:nvPr/>
        </p:nvPicPr>
        <p:blipFill>
          <a:blip r:embed="rId4">
            <a:alphaModFix/>
          </a:blip>
          <a:stretch>
            <a:fillRect/>
          </a:stretch>
        </p:blipFill>
        <p:spPr>
          <a:xfrm>
            <a:off x="-67566" y="-50187"/>
            <a:ext cx="396405" cy="396405"/>
          </a:xfrm>
          <a:prstGeom prst="rect">
            <a:avLst/>
          </a:prstGeom>
        </p:spPr>
      </p:pic>
      <p:pic>
        <p:nvPicPr>
          <p:cNvPr id="2097337" name="图片 6"/>
          <p:cNvPicPr>
            <a:picLocks noChangeAspect="1"/>
          </p:cNvPicPr>
          <p:nvPr/>
        </p:nvPicPr>
        <p:blipFill>
          <a:blip r:embed="rId5">
            <a:alphaModFix/>
          </a:blip>
          <a:stretch>
            <a:fillRect/>
          </a:stretch>
        </p:blipFill>
        <p:spPr>
          <a:xfrm>
            <a:off x="137221" y="138432"/>
            <a:ext cx="383234" cy="383234"/>
          </a:xfrm>
          <a:prstGeom prst="rect">
            <a:avLst/>
          </a:prstGeom>
        </p:spPr>
      </p:pic>
      <p:pic>
        <p:nvPicPr>
          <p:cNvPr id="2097338" name="图片 16"/>
          <p:cNvPicPr>
            <a:picLocks noChangeAspect="1"/>
          </p:cNvPicPr>
          <p:nvPr/>
        </p:nvPicPr>
        <p:blipFill>
          <a:blip r:embed="rId6">
            <a:alphaModFix/>
          </a:blip>
          <a:stretch>
            <a:fillRect/>
          </a:stretch>
        </p:blipFill>
        <p:spPr>
          <a:xfrm>
            <a:off x="1875627" y="4316217"/>
            <a:ext cx="304407" cy="304407"/>
          </a:xfrm>
          <a:prstGeom prst="rect">
            <a:avLst/>
          </a:prstGeom>
        </p:spPr>
      </p:pic>
      <p:pic>
        <p:nvPicPr>
          <p:cNvPr id="2097339" name="图片 17"/>
          <p:cNvPicPr>
            <a:picLocks noChangeAspect="1"/>
          </p:cNvPicPr>
          <p:nvPr/>
        </p:nvPicPr>
        <p:blipFill>
          <a:blip r:embed="rId7">
            <a:alphaModFix/>
          </a:blip>
          <a:stretch>
            <a:fillRect/>
          </a:stretch>
        </p:blipFill>
        <p:spPr>
          <a:xfrm>
            <a:off x="3089709" y="4316217"/>
            <a:ext cx="304407" cy="304407"/>
          </a:xfrm>
          <a:prstGeom prst="rect">
            <a:avLst/>
          </a:prstGeom>
        </p:spPr>
      </p:pic>
      <p:pic>
        <p:nvPicPr>
          <p:cNvPr id="2097340" name="图片 18"/>
          <p:cNvPicPr>
            <a:picLocks noChangeAspect="1"/>
          </p:cNvPicPr>
          <p:nvPr/>
        </p:nvPicPr>
        <p:blipFill>
          <a:blip r:embed="rId6">
            <a:alphaModFix/>
          </a:blip>
          <a:stretch>
            <a:fillRect/>
          </a:stretch>
        </p:blipFill>
        <p:spPr>
          <a:xfrm>
            <a:off x="4303791" y="4316217"/>
            <a:ext cx="304407" cy="304407"/>
          </a:xfrm>
          <a:prstGeom prst="rect">
            <a:avLst/>
          </a:prstGeom>
        </p:spPr>
      </p:pic>
      <p:pic>
        <p:nvPicPr>
          <p:cNvPr id="2097341" name="图片 19"/>
          <p:cNvPicPr>
            <a:picLocks noChangeAspect="1"/>
          </p:cNvPicPr>
          <p:nvPr/>
        </p:nvPicPr>
        <p:blipFill>
          <a:blip r:embed="rId7">
            <a:alphaModFix/>
          </a:blip>
          <a:stretch>
            <a:fillRect/>
          </a:stretch>
        </p:blipFill>
        <p:spPr>
          <a:xfrm>
            <a:off x="5517873" y="4316217"/>
            <a:ext cx="304407" cy="304407"/>
          </a:xfrm>
          <a:prstGeom prst="rect">
            <a:avLst/>
          </a:prstGeom>
        </p:spPr>
      </p:pic>
      <p:pic>
        <p:nvPicPr>
          <p:cNvPr id="2097342" name="图片 20"/>
          <p:cNvPicPr>
            <a:picLocks noChangeAspect="1"/>
          </p:cNvPicPr>
          <p:nvPr/>
        </p:nvPicPr>
        <p:blipFill>
          <a:blip r:embed="rId6">
            <a:alphaModFix/>
          </a:blip>
          <a:stretch>
            <a:fillRect/>
          </a:stretch>
        </p:blipFill>
        <p:spPr>
          <a:xfrm>
            <a:off x="6731955" y="4316217"/>
            <a:ext cx="304407" cy="304407"/>
          </a:xfrm>
          <a:prstGeom prst="rect">
            <a:avLst/>
          </a:prstGeom>
        </p:spPr>
      </p:pic>
      <p:sp>
        <p:nvSpPr>
          <p:cNvPr id="1048663" name="文本框 21"/>
          <p:cNvSpPr txBox="1"/>
          <p:nvPr/>
        </p:nvSpPr>
        <p:spPr>
          <a:xfrm>
            <a:off x="1700780" y="177477"/>
            <a:ext cx="2836315"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2250" kern="100">
                <a:solidFill>
                  <a:srgbClr val="1A4B59">
                    <a:alpha val="100000"/>
                  </a:srgbClr>
                </a:solidFill>
                <a:latin typeface="创客贴稚圆体 Bold Bold" panose="02010800040101010101" pitchFamily="1" charset="-122"/>
                <a:ea typeface="创客贴稚圆体 Bold Bold" panose="02010800040101010101" pitchFamily="1" charset="-122"/>
                <a:sym typeface="+mn-ea"/>
              </a:rPr>
              <a:t>INTP or ISFJ</a:t>
            </a:r>
            <a:endParaRPr lang="zh-CN" alt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endParaRPr>
          </a:p>
        </p:txBody>
      </p:sp>
      <p:grpSp>
        <p:nvGrpSpPr>
          <p:cNvPr id="64" name="组合 34"/>
          <p:cNvGrpSpPr/>
          <p:nvPr/>
        </p:nvGrpSpPr>
        <p:grpSpPr>
          <a:xfrm>
            <a:off x="1264920" y="662305"/>
            <a:ext cx="5771515" cy="624205"/>
            <a:chOff x="2777" y="1669"/>
            <a:chExt cx="6469" cy="907"/>
          </a:xfrm>
        </p:grpSpPr>
        <p:pic>
          <p:nvPicPr>
            <p:cNvPr id="2097343" name="图片 25"/>
            <p:cNvPicPr>
              <a:picLocks noChangeAspect="1"/>
            </p:cNvPicPr>
            <p:nvPr/>
          </p:nvPicPr>
          <p:blipFill>
            <a:blip r:embed="rId8">
              <a:alphaModFix/>
            </a:blip>
            <a:stretch>
              <a:fillRect/>
            </a:stretch>
          </p:blipFill>
          <p:spPr>
            <a:xfrm>
              <a:off x="2777" y="1669"/>
              <a:ext cx="6469" cy="907"/>
            </a:xfrm>
            <a:prstGeom prst="rect">
              <a:avLst/>
            </a:prstGeom>
          </p:spPr>
        </p:pic>
        <p:pic>
          <p:nvPicPr>
            <p:cNvPr id="2097344" name="图片 24"/>
            <p:cNvPicPr>
              <a:picLocks noChangeAspect="1"/>
            </p:cNvPicPr>
            <p:nvPr/>
          </p:nvPicPr>
          <p:blipFill>
            <a:blip r:embed="rId9">
              <a:alphaModFix/>
            </a:blip>
            <a:stretch>
              <a:fillRect/>
            </a:stretch>
          </p:blipFill>
          <p:spPr>
            <a:xfrm>
              <a:off x="2867" y="1752"/>
              <a:ext cx="6302" cy="710"/>
            </a:xfrm>
            <a:prstGeom prst="rect">
              <a:avLst/>
            </a:prstGeom>
          </p:spPr>
        </p:pic>
        <p:sp>
          <p:nvSpPr>
            <p:cNvPr id="1048664" name="文本框 28"/>
            <p:cNvSpPr txBox="1"/>
            <p:nvPr/>
          </p:nvSpPr>
          <p:spPr>
            <a:xfrm>
              <a:off x="2954" y="1753"/>
              <a:ext cx="5841" cy="758"/>
            </a:xfrm>
            <a:prstGeom prst="rect">
              <a:avLst/>
            </a:prstGeom>
            <a:noFill/>
          </p:spPr>
          <p:txBody>
            <a:bodyPr wrap="square" rtlCol="0">
              <a:spAutoFit/>
            </a:bodyPr>
            <a:lstStyle/>
            <a:p>
              <a:r>
                <a:rPr lang="zh-CN" altLang="en-US" sz="1400">
                  <a:latin typeface="宋体" panose="02010600030101010101" pitchFamily="2" charset="-122"/>
                  <a:ea typeface="宋体" panose="02010600030101010101" pitchFamily="2" charset="-122"/>
                  <a:cs typeface="宋体" panose="02010600030101010101" pitchFamily="2" charset="-122"/>
                </a:rPr>
                <a:t>Q：很高兴你能接受我们的采访，请问你有做过MBTI测试吗？如果有，能和我们分享一下你的MBTI吗？</a:t>
              </a:r>
            </a:p>
          </p:txBody>
        </p:sp>
      </p:grpSp>
      <p:pic>
        <p:nvPicPr>
          <p:cNvPr id="2097345" name="图片 30"/>
          <p:cNvPicPr>
            <a:picLocks noChangeAspect="1"/>
          </p:cNvPicPr>
          <p:nvPr/>
        </p:nvPicPr>
        <p:blipFill>
          <a:blip r:embed="rId10">
            <a:alphaModFix/>
          </a:blip>
          <a:stretch>
            <a:fillRect/>
          </a:stretch>
        </p:blipFill>
        <p:spPr>
          <a:xfrm rot="10800000">
            <a:off x="3275330" y="1384935"/>
            <a:ext cx="4892040" cy="709930"/>
          </a:xfrm>
          <a:prstGeom prst="rect">
            <a:avLst/>
          </a:prstGeom>
        </p:spPr>
      </p:pic>
      <p:pic>
        <p:nvPicPr>
          <p:cNvPr id="2097346" name="图片 29"/>
          <p:cNvPicPr>
            <a:picLocks noChangeAspect="1"/>
          </p:cNvPicPr>
          <p:nvPr/>
        </p:nvPicPr>
        <p:blipFill>
          <a:blip r:embed="rId9">
            <a:alphaModFix/>
          </a:blip>
          <a:stretch>
            <a:fillRect/>
          </a:stretch>
        </p:blipFill>
        <p:spPr>
          <a:xfrm>
            <a:off x="3345815" y="1445260"/>
            <a:ext cx="4744085" cy="560705"/>
          </a:xfrm>
          <a:prstGeom prst="rect">
            <a:avLst/>
          </a:prstGeom>
        </p:spPr>
      </p:pic>
      <p:sp>
        <p:nvSpPr>
          <p:cNvPr id="1048665" name="文本框 31"/>
          <p:cNvSpPr txBox="1"/>
          <p:nvPr/>
        </p:nvSpPr>
        <p:spPr>
          <a:xfrm>
            <a:off x="3419475" y="1491615"/>
            <a:ext cx="4596765" cy="496570"/>
          </a:xfrm>
          <a:prstGeom prst="rect">
            <a:avLst/>
          </a:prstGeom>
          <a:noFill/>
        </p:spPr>
        <p:txBody>
          <a:bodyPr wrap="square" rtlCol="0">
            <a:spAutoFit/>
          </a:bodyPr>
          <a:lstStyle/>
          <a:p>
            <a:pPr>
              <a:lnSpc>
                <a:spcPct val="110000"/>
              </a:lnSpc>
            </a:pPr>
            <a:r>
              <a:rPr lang="zh-CN" altLang="en-US" sz="1200"/>
              <a:t>A：虽然我本人不是很感兴趣，但身边的人时不时就会拉我测一下，有时是INTP，有时又是ISFJ，每次测出来的结果都不太一样。</a:t>
            </a:r>
          </a:p>
        </p:txBody>
      </p:sp>
      <p:grpSp>
        <p:nvGrpSpPr>
          <p:cNvPr id="65" name="组合 38"/>
          <p:cNvGrpSpPr/>
          <p:nvPr/>
        </p:nvGrpSpPr>
        <p:grpSpPr>
          <a:xfrm>
            <a:off x="827405" y="2140585"/>
            <a:ext cx="5050155" cy="573982"/>
            <a:chOff x="2777" y="1669"/>
            <a:chExt cx="6469" cy="907"/>
          </a:xfrm>
        </p:grpSpPr>
        <p:pic>
          <p:nvPicPr>
            <p:cNvPr id="2097347" name="图片 39"/>
            <p:cNvPicPr>
              <a:picLocks noChangeAspect="1"/>
            </p:cNvPicPr>
            <p:nvPr/>
          </p:nvPicPr>
          <p:blipFill>
            <a:blip r:embed="rId8">
              <a:alphaModFix/>
            </a:blip>
            <a:stretch>
              <a:fillRect/>
            </a:stretch>
          </p:blipFill>
          <p:spPr>
            <a:xfrm>
              <a:off x="2777" y="1669"/>
              <a:ext cx="6469" cy="907"/>
            </a:xfrm>
            <a:prstGeom prst="rect">
              <a:avLst/>
            </a:prstGeom>
          </p:spPr>
        </p:pic>
        <p:pic>
          <p:nvPicPr>
            <p:cNvPr id="2097348" name="图片 40"/>
            <p:cNvPicPr>
              <a:picLocks noChangeAspect="1"/>
            </p:cNvPicPr>
            <p:nvPr/>
          </p:nvPicPr>
          <p:blipFill>
            <a:blip r:embed="rId9">
              <a:alphaModFix/>
            </a:blip>
            <a:stretch>
              <a:fillRect/>
            </a:stretch>
          </p:blipFill>
          <p:spPr>
            <a:xfrm>
              <a:off x="2867" y="1752"/>
              <a:ext cx="6302" cy="710"/>
            </a:xfrm>
            <a:prstGeom prst="rect">
              <a:avLst/>
            </a:prstGeom>
          </p:spPr>
        </p:pic>
        <p:sp>
          <p:nvSpPr>
            <p:cNvPr id="1048666" name="文本框 41"/>
            <p:cNvSpPr txBox="1"/>
            <p:nvPr/>
          </p:nvSpPr>
          <p:spPr>
            <a:xfrm>
              <a:off x="2954" y="1866"/>
              <a:ext cx="5841" cy="485"/>
            </a:xfrm>
            <a:prstGeom prst="rect">
              <a:avLst/>
            </a:prstGeom>
            <a:noFill/>
          </p:spPr>
          <p:txBody>
            <a:bodyPr wrap="square" rtlCol="0">
              <a:spAutoFit/>
            </a:bodyPr>
            <a:lstStyle/>
            <a:p>
              <a:r>
                <a:rPr lang="zh-CN" altLang="en-US" sz="1400">
                  <a:latin typeface="宋体" panose="02010600030101010101" pitchFamily="2" charset="-122"/>
                  <a:ea typeface="宋体" panose="02010600030101010101" pitchFamily="2" charset="-122"/>
                  <a:cs typeface="宋体" panose="02010600030101010101" pitchFamily="2" charset="-122"/>
                  <a:sym typeface="+mn-ea"/>
                </a:rPr>
                <a:t>Q:你认为为什么会出现这种多变的结果呢？</a:t>
              </a:r>
            </a:p>
          </p:txBody>
        </p:sp>
      </p:grpSp>
      <p:pic>
        <p:nvPicPr>
          <p:cNvPr id="2097349" name="图片 50"/>
          <p:cNvPicPr>
            <a:picLocks noChangeAspect="1"/>
          </p:cNvPicPr>
          <p:nvPr/>
        </p:nvPicPr>
        <p:blipFill>
          <a:blip r:embed="rId10">
            <a:alphaModFix/>
          </a:blip>
          <a:stretch>
            <a:fillRect/>
          </a:stretch>
        </p:blipFill>
        <p:spPr>
          <a:xfrm rot="10800000">
            <a:off x="520700" y="2849245"/>
            <a:ext cx="7892415" cy="1387475"/>
          </a:xfrm>
          <a:prstGeom prst="rect">
            <a:avLst/>
          </a:prstGeom>
        </p:spPr>
      </p:pic>
      <p:pic>
        <p:nvPicPr>
          <p:cNvPr id="2097350" name="图片 46"/>
          <p:cNvPicPr>
            <a:picLocks noChangeAspect="1"/>
          </p:cNvPicPr>
          <p:nvPr/>
        </p:nvPicPr>
        <p:blipFill>
          <a:blip r:embed="rId11"/>
          <a:stretch>
            <a:fillRect/>
          </a:stretch>
        </p:blipFill>
        <p:spPr>
          <a:xfrm>
            <a:off x="619760" y="628015"/>
            <a:ext cx="613410" cy="817880"/>
          </a:xfrm>
          <a:prstGeom prst="rect">
            <a:avLst/>
          </a:prstGeom>
        </p:spPr>
      </p:pic>
      <p:pic>
        <p:nvPicPr>
          <p:cNvPr id="2097351" name="图片 51"/>
          <p:cNvPicPr>
            <a:picLocks noChangeAspect="1"/>
          </p:cNvPicPr>
          <p:nvPr/>
        </p:nvPicPr>
        <p:blipFill>
          <a:blip r:embed="rId9">
            <a:alphaModFix/>
          </a:blip>
          <a:stretch>
            <a:fillRect/>
          </a:stretch>
        </p:blipFill>
        <p:spPr>
          <a:xfrm>
            <a:off x="619760" y="2927985"/>
            <a:ext cx="7695565" cy="1231265"/>
          </a:xfrm>
          <a:prstGeom prst="rect">
            <a:avLst/>
          </a:prstGeom>
        </p:spPr>
      </p:pic>
      <p:sp>
        <p:nvSpPr>
          <p:cNvPr id="1048667" name="文本框 33"/>
          <p:cNvSpPr txBox="1"/>
          <p:nvPr/>
        </p:nvSpPr>
        <p:spPr>
          <a:xfrm>
            <a:off x="683895" y="2932430"/>
            <a:ext cx="7614285" cy="1137285"/>
          </a:xfrm>
          <a:prstGeom prst="rect">
            <a:avLst/>
          </a:prstGeom>
          <a:noFill/>
        </p:spPr>
        <p:txBody>
          <a:bodyPr wrap="square" rtlCol="0">
            <a:noAutofit/>
          </a:bodyPr>
          <a:lstStyle/>
          <a:p>
            <a:pPr>
              <a:lnSpc>
                <a:spcPct val="120000"/>
              </a:lnSpc>
            </a:pPr>
            <a:r>
              <a:rPr lang="zh-CN" altLang="en-US" sz="1200">
                <a:latin typeface="宋体" panose="02010600030101010101" pitchFamily="2" charset="-122"/>
                <a:ea typeface="宋体" panose="02010600030101010101" pitchFamily="2" charset="-122"/>
                <a:cs typeface="宋体" panose="02010600030101010101" pitchFamily="2" charset="-122"/>
              </a:rPr>
              <a:t>A：首先，人总是会变的，在不同时间基于不同的境遇与心境，面对同一问题也会有不同选择，即使是一时心情的好坏也会影响人的判断，进而导向不同的结果。其次，从51%的N到51%的S其实变化不大，但也会呈现出截然不同的结果。最后，有很多测试题出的不是很好，有的指向性过于明显，会让人倾向于选择自己主观认为更好的一项，而不是更贴合自己的一项；还有的设问过于宽泛缺乏具体情境，而人的选择往往是基于情境的，所设想的情景不一样所做出的选择也会不一样。</a:t>
            </a:r>
          </a:p>
        </p:txBody>
      </p:sp>
      <p:pic>
        <p:nvPicPr>
          <p:cNvPr id="2097352" name="图片 52"/>
          <p:cNvPicPr>
            <a:picLocks noChangeAspect="1"/>
          </p:cNvPicPr>
          <p:nvPr/>
        </p:nvPicPr>
        <p:blipFill>
          <a:blip r:embed="rId11"/>
          <a:stretch>
            <a:fillRect/>
          </a:stretch>
        </p:blipFill>
        <p:spPr>
          <a:xfrm>
            <a:off x="137160" y="1951990"/>
            <a:ext cx="613410" cy="817880"/>
          </a:xfrm>
          <a:prstGeom prst="rect">
            <a:avLst/>
          </a:prstGeom>
        </p:spPr>
      </p:pic>
      <p:pic>
        <p:nvPicPr>
          <p:cNvPr id="2097353" name="图片 3"/>
          <p:cNvPicPr>
            <a:picLocks noChangeAspect="1"/>
          </p:cNvPicPr>
          <p:nvPr/>
        </p:nvPicPr>
        <p:blipFill>
          <a:blip r:embed="rId12"/>
          <a:stretch>
            <a:fillRect/>
          </a:stretch>
        </p:blipFill>
        <p:spPr>
          <a:xfrm flipH="1">
            <a:off x="8315960" y="1112520"/>
            <a:ext cx="597535" cy="796925"/>
          </a:xfrm>
          <a:prstGeom prst="rect">
            <a:avLst/>
          </a:prstGeom>
        </p:spPr>
      </p:pic>
      <p:pic>
        <p:nvPicPr>
          <p:cNvPr id="2097354" name="图片 4"/>
          <p:cNvPicPr>
            <a:picLocks noChangeAspect="1"/>
          </p:cNvPicPr>
          <p:nvPr/>
        </p:nvPicPr>
        <p:blipFill>
          <a:blip r:embed="rId12"/>
          <a:stretch>
            <a:fillRect/>
          </a:stretch>
        </p:blipFill>
        <p:spPr>
          <a:xfrm flipH="1">
            <a:off x="8460105" y="2919730"/>
            <a:ext cx="583565" cy="7791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355" name="图片 1"/>
          <p:cNvPicPr>
            <a:picLocks noChangeAspect="1"/>
          </p:cNvPicPr>
          <p:nvPr/>
        </p:nvPicPr>
        <p:blipFill>
          <a:blip r:embed="rId2">
            <a:alphaModFix/>
          </a:blip>
          <a:stretch>
            <a:fillRect/>
          </a:stretch>
        </p:blipFill>
        <p:spPr>
          <a:xfrm>
            <a:off x="0" y="0"/>
            <a:ext cx="9144000" cy="5143500"/>
          </a:xfrm>
          <a:prstGeom prst="rect">
            <a:avLst/>
          </a:prstGeom>
        </p:spPr>
      </p:pic>
      <p:pic>
        <p:nvPicPr>
          <p:cNvPr id="2097356" name="图片 2"/>
          <p:cNvPicPr>
            <a:picLocks noChangeAspect="1"/>
          </p:cNvPicPr>
          <p:nvPr/>
        </p:nvPicPr>
        <p:blipFill>
          <a:blip r:embed="rId3">
            <a:alphaModFix/>
          </a:blip>
          <a:stretch>
            <a:fillRect/>
          </a:stretch>
        </p:blipFill>
        <p:spPr>
          <a:xfrm rot="5400000">
            <a:off x="6140327" y="-1074955"/>
            <a:ext cx="22103" cy="2869000"/>
          </a:xfrm>
          <a:prstGeom prst="rect">
            <a:avLst/>
          </a:prstGeom>
        </p:spPr>
      </p:pic>
      <p:sp>
        <p:nvSpPr>
          <p:cNvPr id="1048668" name="文本框 23"/>
          <p:cNvSpPr txBox="1"/>
          <p:nvPr/>
        </p:nvSpPr>
        <p:spPr>
          <a:xfrm>
            <a:off x="608123" y="177477"/>
            <a:ext cx="1430157"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altLang="zh-CN"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3</a:t>
            </a:r>
            <a:r>
              <a:rPr lang="zh-CN" alt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号同学</a:t>
            </a:r>
            <a:r>
              <a:rPr sz="2250" kern="100" spc="0">
                <a:solidFill>
                  <a:srgbClr val="1A4B59">
                    <a:alpha val="100000"/>
                  </a:srgbClr>
                </a:solidFill>
                <a:latin typeface="创客贴稚圆体 Bold Bold" panose="02010800040101010101" pitchFamily="1" charset="-122"/>
                <a:ea typeface="创客贴稚圆体 Bold Bold" panose="02010800040101010101" pitchFamily="1" charset="-122"/>
              </a:rPr>
              <a:t>:</a:t>
            </a:r>
          </a:p>
        </p:txBody>
      </p:sp>
      <p:pic>
        <p:nvPicPr>
          <p:cNvPr id="2097357" name="图片 5"/>
          <p:cNvPicPr>
            <a:picLocks noChangeAspect="1"/>
          </p:cNvPicPr>
          <p:nvPr/>
        </p:nvPicPr>
        <p:blipFill>
          <a:blip r:embed="rId4">
            <a:alphaModFix/>
          </a:blip>
          <a:stretch>
            <a:fillRect/>
          </a:stretch>
        </p:blipFill>
        <p:spPr>
          <a:xfrm>
            <a:off x="-67566" y="-50187"/>
            <a:ext cx="396405" cy="396405"/>
          </a:xfrm>
          <a:prstGeom prst="rect">
            <a:avLst/>
          </a:prstGeom>
        </p:spPr>
      </p:pic>
      <p:pic>
        <p:nvPicPr>
          <p:cNvPr id="2097358" name="图片 6"/>
          <p:cNvPicPr>
            <a:picLocks noChangeAspect="1"/>
          </p:cNvPicPr>
          <p:nvPr/>
        </p:nvPicPr>
        <p:blipFill>
          <a:blip r:embed="rId5">
            <a:alphaModFix/>
          </a:blip>
          <a:stretch>
            <a:fillRect/>
          </a:stretch>
        </p:blipFill>
        <p:spPr>
          <a:xfrm>
            <a:off x="137221" y="138432"/>
            <a:ext cx="383234" cy="383234"/>
          </a:xfrm>
          <a:prstGeom prst="rect">
            <a:avLst/>
          </a:prstGeom>
        </p:spPr>
      </p:pic>
      <p:pic>
        <p:nvPicPr>
          <p:cNvPr id="2097359" name="图片 16"/>
          <p:cNvPicPr>
            <a:picLocks noChangeAspect="1"/>
          </p:cNvPicPr>
          <p:nvPr/>
        </p:nvPicPr>
        <p:blipFill>
          <a:blip r:embed="rId6">
            <a:alphaModFix/>
          </a:blip>
          <a:stretch>
            <a:fillRect/>
          </a:stretch>
        </p:blipFill>
        <p:spPr>
          <a:xfrm>
            <a:off x="1875627" y="4316217"/>
            <a:ext cx="304407" cy="304407"/>
          </a:xfrm>
          <a:prstGeom prst="rect">
            <a:avLst/>
          </a:prstGeom>
        </p:spPr>
      </p:pic>
      <p:pic>
        <p:nvPicPr>
          <p:cNvPr id="2097360" name="图片 17"/>
          <p:cNvPicPr>
            <a:picLocks noChangeAspect="1"/>
          </p:cNvPicPr>
          <p:nvPr/>
        </p:nvPicPr>
        <p:blipFill>
          <a:blip r:embed="rId7">
            <a:alphaModFix/>
          </a:blip>
          <a:stretch>
            <a:fillRect/>
          </a:stretch>
        </p:blipFill>
        <p:spPr>
          <a:xfrm>
            <a:off x="3089709" y="4316217"/>
            <a:ext cx="304407" cy="304407"/>
          </a:xfrm>
          <a:prstGeom prst="rect">
            <a:avLst/>
          </a:prstGeom>
        </p:spPr>
      </p:pic>
      <p:pic>
        <p:nvPicPr>
          <p:cNvPr id="2097361" name="图片 18"/>
          <p:cNvPicPr>
            <a:picLocks noChangeAspect="1"/>
          </p:cNvPicPr>
          <p:nvPr/>
        </p:nvPicPr>
        <p:blipFill>
          <a:blip r:embed="rId6">
            <a:alphaModFix/>
          </a:blip>
          <a:stretch>
            <a:fillRect/>
          </a:stretch>
        </p:blipFill>
        <p:spPr>
          <a:xfrm>
            <a:off x="4303791" y="4316217"/>
            <a:ext cx="304407" cy="304407"/>
          </a:xfrm>
          <a:prstGeom prst="rect">
            <a:avLst/>
          </a:prstGeom>
        </p:spPr>
      </p:pic>
      <p:pic>
        <p:nvPicPr>
          <p:cNvPr id="2097362" name="图片 19"/>
          <p:cNvPicPr>
            <a:picLocks noChangeAspect="1"/>
          </p:cNvPicPr>
          <p:nvPr/>
        </p:nvPicPr>
        <p:blipFill>
          <a:blip r:embed="rId7">
            <a:alphaModFix/>
          </a:blip>
          <a:stretch>
            <a:fillRect/>
          </a:stretch>
        </p:blipFill>
        <p:spPr>
          <a:xfrm>
            <a:off x="5517873" y="4316217"/>
            <a:ext cx="304407" cy="304407"/>
          </a:xfrm>
          <a:prstGeom prst="rect">
            <a:avLst/>
          </a:prstGeom>
        </p:spPr>
      </p:pic>
      <p:pic>
        <p:nvPicPr>
          <p:cNvPr id="2097363" name="图片 20"/>
          <p:cNvPicPr>
            <a:picLocks noChangeAspect="1"/>
          </p:cNvPicPr>
          <p:nvPr/>
        </p:nvPicPr>
        <p:blipFill>
          <a:blip r:embed="rId6">
            <a:alphaModFix/>
          </a:blip>
          <a:stretch>
            <a:fillRect/>
          </a:stretch>
        </p:blipFill>
        <p:spPr>
          <a:xfrm>
            <a:off x="6731955" y="4316217"/>
            <a:ext cx="304407" cy="304407"/>
          </a:xfrm>
          <a:prstGeom prst="rect">
            <a:avLst/>
          </a:prstGeom>
        </p:spPr>
      </p:pic>
      <p:sp>
        <p:nvSpPr>
          <p:cNvPr id="1048669" name="文本框 21"/>
          <p:cNvSpPr txBox="1"/>
          <p:nvPr/>
        </p:nvSpPr>
        <p:spPr>
          <a:xfrm>
            <a:off x="1700780" y="177477"/>
            <a:ext cx="2836315" cy="342900"/>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lang="en-US" sz="2250" kern="100">
                <a:solidFill>
                  <a:srgbClr val="1A4B59">
                    <a:alpha val="100000"/>
                  </a:srgbClr>
                </a:solidFill>
                <a:latin typeface="创客贴稚圆体 Bold Bold" panose="02010800040101010101" pitchFamily="1" charset="-122"/>
                <a:ea typeface="创客贴稚圆体 Bold Bold" panose="02010800040101010101" pitchFamily="1" charset="-122"/>
                <a:sym typeface="+mn-ea"/>
              </a:rPr>
              <a:t>INTP or ISFJ</a:t>
            </a:r>
            <a:endParaRPr lang="zh-CN" altLang="en-US" sz="2250" kern="100" spc="0">
              <a:solidFill>
                <a:srgbClr val="1A4B59">
                  <a:alpha val="100000"/>
                </a:srgbClr>
              </a:solidFill>
              <a:latin typeface="创客贴稚圆体 Bold Bold" panose="02010800040101010101" pitchFamily="1" charset="-122"/>
              <a:ea typeface="创客贴稚圆体 Bold Bold" panose="02010800040101010101" pitchFamily="1" charset="-122"/>
            </a:endParaRPr>
          </a:p>
        </p:txBody>
      </p:sp>
      <p:grpSp>
        <p:nvGrpSpPr>
          <p:cNvPr id="70" name="组合 34"/>
          <p:cNvGrpSpPr/>
          <p:nvPr/>
        </p:nvGrpSpPr>
        <p:grpSpPr>
          <a:xfrm>
            <a:off x="1264920" y="746760"/>
            <a:ext cx="5050155" cy="434340"/>
            <a:chOff x="2777" y="1669"/>
            <a:chExt cx="6469" cy="907"/>
          </a:xfrm>
        </p:grpSpPr>
        <p:pic>
          <p:nvPicPr>
            <p:cNvPr id="2097364" name="图片 25"/>
            <p:cNvPicPr>
              <a:picLocks noChangeAspect="1"/>
            </p:cNvPicPr>
            <p:nvPr/>
          </p:nvPicPr>
          <p:blipFill>
            <a:blip r:embed="rId8">
              <a:alphaModFix/>
            </a:blip>
            <a:stretch>
              <a:fillRect/>
            </a:stretch>
          </p:blipFill>
          <p:spPr>
            <a:xfrm>
              <a:off x="2777" y="1669"/>
              <a:ext cx="6469" cy="907"/>
            </a:xfrm>
            <a:prstGeom prst="rect">
              <a:avLst/>
            </a:prstGeom>
          </p:spPr>
        </p:pic>
        <p:pic>
          <p:nvPicPr>
            <p:cNvPr id="2097365" name="图片 24"/>
            <p:cNvPicPr>
              <a:picLocks noChangeAspect="1"/>
            </p:cNvPicPr>
            <p:nvPr/>
          </p:nvPicPr>
          <p:blipFill>
            <a:blip r:embed="rId9">
              <a:alphaModFix/>
            </a:blip>
            <a:stretch>
              <a:fillRect/>
            </a:stretch>
          </p:blipFill>
          <p:spPr>
            <a:xfrm>
              <a:off x="2867" y="1752"/>
              <a:ext cx="6302" cy="710"/>
            </a:xfrm>
            <a:prstGeom prst="rect">
              <a:avLst/>
            </a:prstGeom>
          </p:spPr>
        </p:pic>
        <p:sp>
          <p:nvSpPr>
            <p:cNvPr id="1048670" name="文本框 28"/>
            <p:cNvSpPr txBox="1"/>
            <p:nvPr/>
          </p:nvSpPr>
          <p:spPr>
            <a:xfrm>
              <a:off x="2954" y="1753"/>
              <a:ext cx="5841" cy="640"/>
            </a:xfrm>
            <a:prstGeom prst="rect">
              <a:avLst/>
            </a:prstGeom>
            <a:noFill/>
          </p:spPr>
          <p:txBody>
            <a:bodyPr wrap="square" rtlCol="0">
              <a:spAutoFit/>
            </a:bodyPr>
            <a:lstStyle/>
            <a:p>
              <a:r>
                <a:rPr lang="zh-CN" altLang="en-US" sz="1400">
                  <a:latin typeface="宋体" panose="02010600030101010101" pitchFamily="2" charset="-122"/>
                  <a:ea typeface="宋体" panose="02010600030101010101" pitchFamily="2" charset="-122"/>
                  <a:cs typeface="宋体" panose="02010600030101010101" pitchFamily="2" charset="-122"/>
                </a:rPr>
                <a:t>Q：那是否可以认为你对MBTI持否定态度？</a:t>
              </a:r>
            </a:p>
          </p:txBody>
        </p:sp>
      </p:grpSp>
      <p:pic>
        <p:nvPicPr>
          <p:cNvPr id="2097366" name="图片 30"/>
          <p:cNvPicPr>
            <a:picLocks noChangeAspect="1"/>
          </p:cNvPicPr>
          <p:nvPr/>
        </p:nvPicPr>
        <p:blipFill>
          <a:blip r:embed="rId10">
            <a:alphaModFix/>
          </a:blip>
          <a:stretch>
            <a:fillRect/>
          </a:stretch>
        </p:blipFill>
        <p:spPr>
          <a:xfrm rot="10800000">
            <a:off x="1544955" y="1239520"/>
            <a:ext cx="6620510" cy="1321435"/>
          </a:xfrm>
          <a:prstGeom prst="rect">
            <a:avLst/>
          </a:prstGeom>
        </p:spPr>
      </p:pic>
      <p:pic>
        <p:nvPicPr>
          <p:cNvPr id="2097367" name="图片 29"/>
          <p:cNvPicPr>
            <a:picLocks noChangeAspect="1"/>
          </p:cNvPicPr>
          <p:nvPr/>
        </p:nvPicPr>
        <p:blipFill>
          <a:blip r:embed="rId9">
            <a:alphaModFix/>
          </a:blip>
          <a:stretch>
            <a:fillRect/>
          </a:stretch>
        </p:blipFill>
        <p:spPr>
          <a:xfrm>
            <a:off x="1624330" y="1307465"/>
            <a:ext cx="6465570" cy="1185545"/>
          </a:xfrm>
          <a:prstGeom prst="rect">
            <a:avLst/>
          </a:prstGeom>
        </p:spPr>
      </p:pic>
      <p:sp>
        <p:nvSpPr>
          <p:cNvPr id="1048671" name="文本框 31"/>
          <p:cNvSpPr txBox="1"/>
          <p:nvPr/>
        </p:nvSpPr>
        <p:spPr>
          <a:xfrm>
            <a:off x="1619885" y="1307465"/>
            <a:ext cx="6499860" cy="1283335"/>
          </a:xfrm>
          <a:prstGeom prst="rect">
            <a:avLst/>
          </a:prstGeom>
          <a:noFill/>
        </p:spPr>
        <p:txBody>
          <a:bodyPr wrap="square" rtlCol="0">
            <a:noAutofit/>
          </a:bodyPr>
          <a:lstStyle/>
          <a:p>
            <a:pPr>
              <a:lnSpc>
                <a:spcPct val="120000"/>
              </a:lnSpc>
            </a:pPr>
            <a:r>
              <a:rPr lang="zh-CN" altLang="en-US" sz="1200"/>
              <a:t>A：也算不上否定。毕竟MBTI测试的确具有一定的科学性和准确性。我的每个测试结果也都能在一定程度上反映我当时的心境，我只是认为MBTI和之前的星座之类的东西一样有些被过度神化了。与MBTI相似的心理测试还有很多，也各有优劣，但都不过是对人的笼统分类，精确到个人层面便只能起到参考作用。用作日常的消遣和社交的话题并无不妥，但单凭MBTI便对一个人的人格盖棺定论何尝不是另一种以貌取人。</a:t>
            </a:r>
          </a:p>
        </p:txBody>
      </p:sp>
      <p:grpSp>
        <p:nvGrpSpPr>
          <p:cNvPr id="71" name="组合 38"/>
          <p:cNvGrpSpPr/>
          <p:nvPr/>
        </p:nvGrpSpPr>
        <p:grpSpPr>
          <a:xfrm>
            <a:off x="1126490" y="2615565"/>
            <a:ext cx="5050155" cy="573982"/>
            <a:chOff x="2777" y="1669"/>
            <a:chExt cx="6469" cy="907"/>
          </a:xfrm>
        </p:grpSpPr>
        <p:pic>
          <p:nvPicPr>
            <p:cNvPr id="2097368" name="图片 39"/>
            <p:cNvPicPr>
              <a:picLocks noChangeAspect="1"/>
            </p:cNvPicPr>
            <p:nvPr/>
          </p:nvPicPr>
          <p:blipFill>
            <a:blip r:embed="rId8">
              <a:alphaModFix/>
            </a:blip>
            <a:stretch>
              <a:fillRect/>
            </a:stretch>
          </p:blipFill>
          <p:spPr>
            <a:xfrm>
              <a:off x="2777" y="1669"/>
              <a:ext cx="6469" cy="907"/>
            </a:xfrm>
            <a:prstGeom prst="rect">
              <a:avLst/>
            </a:prstGeom>
          </p:spPr>
        </p:pic>
        <p:pic>
          <p:nvPicPr>
            <p:cNvPr id="2097369" name="图片 40"/>
            <p:cNvPicPr>
              <a:picLocks noChangeAspect="1"/>
            </p:cNvPicPr>
            <p:nvPr/>
          </p:nvPicPr>
          <p:blipFill>
            <a:blip r:embed="rId9">
              <a:alphaModFix/>
            </a:blip>
            <a:stretch>
              <a:fillRect/>
            </a:stretch>
          </p:blipFill>
          <p:spPr>
            <a:xfrm>
              <a:off x="2867" y="1752"/>
              <a:ext cx="6302" cy="710"/>
            </a:xfrm>
            <a:prstGeom prst="rect">
              <a:avLst/>
            </a:prstGeom>
          </p:spPr>
        </p:pic>
        <p:sp>
          <p:nvSpPr>
            <p:cNvPr id="1048672" name="文本框 41"/>
            <p:cNvSpPr txBox="1"/>
            <p:nvPr/>
          </p:nvSpPr>
          <p:spPr>
            <a:xfrm>
              <a:off x="2954" y="1881"/>
              <a:ext cx="5841" cy="485"/>
            </a:xfrm>
            <a:prstGeom prst="rect">
              <a:avLst/>
            </a:prstGeom>
            <a:noFill/>
          </p:spPr>
          <p:txBody>
            <a:bodyPr wrap="square" rtlCol="0">
              <a:spAutoFit/>
            </a:bodyPr>
            <a:lstStyle/>
            <a:p>
              <a:r>
                <a:rPr lang="zh-CN" altLang="en-US" sz="1400">
                  <a:latin typeface="宋体" panose="02010600030101010101" pitchFamily="2" charset="-122"/>
                  <a:ea typeface="宋体" panose="02010600030101010101" pitchFamily="2" charset="-122"/>
                  <a:cs typeface="宋体" panose="02010600030101010101" pitchFamily="2" charset="-122"/>
                  <a:sym typeface="+mn-ea"/>
                </a:rPr>
                <a:t>Q:那你觉得MBTI对自我认识和社会交往有何价值？</a:t>
              </a:r>
            </a:p>
          </p:txBody>
        </p:sp>
      </p:grpSp>
      <p:pic>
        <p:nvPicPr>
          <p:cNvPr id="2097370" name="图片 50"/>
          <p:cNvPicPr>
            <a:picLocks noChangeAspect="1"/>
          </p:cNvPicPr>
          <p:nvPr/>
        </p:nvPicPr>
        <p:blipFill>
          <a:blip r:embed="rId10">
            <a:alphaModFix/>
          </a:blip>
          <a:stretch>
            <a:fillRect/>
          </a:stretch>
        </p:blipFill>
        <p:spPr>
          <a:xfrm rot="10800000">
            <a:off x="474345" y="3244850"/>
            <a:ext cx="7866380" cy="1624965"/>
          </a:xfrm>
          <a:prstGeom prst="rect">
            <a:avLst/>
          </a:prstGeom>
        </p:spPr>
      </p:pic>
      <p:pic>
        <p:nvPicPr>
          <p:cNvPr id="2097371" name="图片 46"/>
          <p:cNvPicPr>
            <a:picLocks noChangeAspect="1"/>
          </p:cNvPicPr>
          <p:nvPr/>
        </p:nvPicPr>
        <p:blipFill>
          <a:blip r:embed="rId11"/>
          <a:stretch>
            <a:fillRect/>
          </a:stretch>
        </p:blipFill>
        <p:spPr>
          <a:xfrm>
            <a:off x="619760" y="628015"/>
            <a:ext cx="613410" cy="817880"/>
          </a:xfrm>
          <a:prstGeom prst="rect">
            <a:avLst/>
          </a:prstGeom>
        </p:spPr>
      </p:pic>
      <p:pic>
        <p:nvPicPr>
          <p:cNvPr id="2097372" name="图片 51"/>
          <p:cNvPicPr>
            <a:picLocks noChangeAspect="1"/>
          </p:cNvPicPr>
          <p:nvPr/>
        </p:nvPicPr>
        <p:blipFill>
          <a:blip r:embed="rId9">
            <a:alphaModFix/>
          </a:blip>
          <a:stretch>
            <a:fillRect/>
          </a:stretch>
        </p:blipFill>
        <p:spPr>
          <a:xfrm>
            <a:off x="596900" y="3321685"/>
            <a:ext cx="7648575" cy="1468120"/>
          </a:xfrm>
          <a:prstGeom prst="rect">
            <a:avLst/>
          </a:prstGeom>
        </p:spPr>
      </p:pic>
      <p:sp>
        <p:nvSpPr>
          <p:cNvPr id="1048673" name="文本框 33"/>
          <p:cNvSpPr txBox="1"/>
          <p:nvPr/>
        </p:nvSpPr>
        <p:spPr>
          <a:xfrm>
            <a:off x="619760" y="3322320"/>
            <a:ext cx="7792085" cy="1329055"/>
          </a:xfrm>
          <a:prstGeom prst="rect">
            <a:avLst/>
          </a:prstGeom>
          <a:noFill/>
        </p:spPr>
        <p:txBody>
          <a:bodyPr wrap="square" rtlCol="0">
            <a:noAutofit/>
          </a:bodyPr>
          <a:lstStyle/>
          <a:p>
            <a:pPr>
              <a:lnSpc>
                <a:spcPct val="130000"/>
              </a:lnSpc>
            </a:pPr>
            <a:r>
              <a:rPr lang="zh-CN" altLang="en-US" sz="1200">
                <a:latin typeface="宋体" panose="02010600030101010101" pitchFamily="2" charset="-122"/>
                <a:ea typeface="宋体" panose="02010600030101010101" pitchFamily="2" charset="-122"/>
                <a:cs typeface="宋体" panose="02010600030101010101" pitchFamily="2" charset="-122"/>
              </a:rPr>
              <a:t>A：不可否认MBTI可以帮助我们获得一个初步的自我认识，尽管这种认识是笼统、片面、有时效性的，也比没有自我认识要好。MBTI在帮助踏入自我认识的大门的同时还为我们提供了进一步了解自我的方向：我与测试结果的共通语不同点在哪？为什么相同又为什么不同？测试时效性的成因是什么？由MBTI的不足出发，基于自身实际情况进一步深究，便不难得到更进一步的自我认识</a:t>
            </a:r>
            <a:r>
              <a:rPr lang="en-US" altLang="zh-CN" sz="1200">
                <a:latin typeface="宋体" panose="02010600030101010101" pitchFamily="2" charset="-122"/>
                <a:ea typeface="宋体" panose="02010600030101010101" pitchFamily="2" charset="-122"/>
                <a:cs typeface="宋体" panose="02010600030101010101" pitchFamily="2" charset="-122"/>
              </a:rPr>
              <a:t>.</a:t>
            </a:r>
            <a:r>
              <a:rPr lang="zh-CN" altLang="en-US" sz="1200">
                <a:latin typeface="宋体" panose="02010600030101010101" pitchFamily="2" charset="-122"/>
                <a:ea typeface="宋体" panose="02010600030101010101" pitchFamily="2" charset="-122"/>
                <a:cs typeface="宋体" panose="02010600030101010101" pitchFamily="2" charset="-122"/>
              </a:rPr>
              <a:t>社交方面我认为MBTI是一个打开话匣子的好话题，比起谈论天气和生活琐事之类更能促进相互了解，又不会显得过于冒犯。但也仅限于一个话题，人是多样而充满个性的，若是仅凭MBTI便对一个人定了性，留下了刻板的第一印象，恐怕就再难以正确的认识了解他了。</a:t>
            </a:r>
          </a:p>
        </p:txBody>
      </p:sp>
      <p:pic>
        <p:nvPicPr>
          <p:cNvPr id="2097373" name="图片 52"/>
          <p:cNvPicPr>
            <a:picLocks noChangeAspect="1"/>
          </p:cNvPicPr>
          <p:nvPr/>
        </p:nvPicPr>
        <p:blipFill>
          <a:blip r:embed="rId11"/>
          <a:stretch>
            <a:fillRect/>
          </a:stretch>
        </p:blipFill>
        <p:spPr>
          <a:xfrm>
            <a:off x="395605" y="2299335"/>
            <a:ext cx="613410" cy="817880"/>
          </a:xfrm>
          <a:prstGeom prst="rect">
            <a:avLst/>
          </a:prstGeom>
        </p:spPr>
      </p:pic>
      <p:pic>
        <p:nvPicPr>
          <p:cNvPr id="2097374" name="图片 3"/>
          <p:cNvPicPr>
            <a:picLocks noChangeAspect="1"/>
          </p:cNvPicPr>
          <p:nvPr/>
        </p:nvPicPr>
        <p:blipFill>
          <a:blip r:embed="rId12"/>
          <a:stretch>
            <a:fillRect/>
          </a:stretch>
        </p:blipFill>
        <p:spPr>
          <a:xfrm flipH="1">
            <a:off x="8245475" y="1126490"/>
            <a:ext cx="597535" cy="796925"/>
          </a:xfrm>
          <a:prstGeom prst="rect">
            <a:avLst/>
          </a:prstGeom>
        </p:spPr>
      </p:pic>
      <p:pic>
        <p:nvPicPr>
          <p:cNvPr id="2097375" name="图片 4"/>
          <p:cNvPicPr>
            <a:picLocks noChangeAspect="1"/>
          </p:cNvPicPr>
          <p:nvPr/>
        </p:nvPicPr>
        <p:blipFill>
          <a:blip r:embed="rId12"/>
          <a:stretch>
            <a:fillRect/>
          </a:stretch>
        </p:blipFill>
        <p:spPr>
          <a:xfrm flipH="1">
            <a:off x="8411845" y="2931795"/>
            <a:ext cx="597535" cy="7969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376" name="图片 1"/>
          <p:cNvPicPr>
            <a:picLocks noChangeAspect="1"/>
          </p:cNvPicPr>
          <p:nvPr/>
        </p:nvPicPr>
        <p:blipFill>
          <a:blip r:embed="rId2">
            <a:alphaModFix/>
          </a:blip>
          <a:stretch>
            <a:fillRect/>
          </a:stretch>
        </p:blipFill>
        <p:spPr>
          <a:xfrm>
            <a:off x="0" y="0"/>
            <a:ext cx="9144000" cy="5143500"/>
          </a:xfrm>
          <a:prstGeom prst="rect">
            <a:avLst/>
          </a:prstGeom>
        </p:spPr>
      </p:pic>
      <p:pic>
        <p:nvPicPr>
          <p:cNvPr id="2097377" name="图片 2"/>
          <p:cNvPicPr>
            <a:picLocks noChangeAspect="1"/>
          </p:cNvPicPr>
          <p:nvPr/>
        </p:nvPicPr>
        <p:blipFill>
          <a:blip r:embed="rId3">
            <a:alphaModFix/>
          </a:blip>
          <a:stretch>
            <a:fillRect/>
          </a:stretch>
        </p:blipFill>
        <p:spPr>
          <a:xfrm rot="16199999">
            <a:off x="3103082" y="-2743270"/>
            <a:ext cx="2848913" cy="6558683"/>
          </a:xfrm>
          <a:prstGeom prst="rect">
            <a:avLst/>
          </a:prstGeom>
        </p:spPr>
      </p:pic>
      <p:sp>
        <p:nvSpPr>
          <p:cNvPr id="1048674" name="文本框 18"/>
          <p:cNvSpPr txBox="1"/>
          <p:nvPr/>
        </p:nvSpPr>
        <p:spPr>
          <a:xfrm>
            <a:off x="3357420" y="353679"/>
            <a:ext cx="2340236" cy="1143000"/>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7505" kern="100" spc="0">
                <a:solidFill>
                  <a:srgbClr val="FFFFFF">
                    <a:alpha val="100000"/>
                  </a:srgbClr>
                </a:solidFill>
                <a:latin typeface="Noto Sans S Chinese Bold Bold" panose="02010800040101010101" pitchFamily="1" charset="-122"/>
                <a:ea typeface="Noto Sans S Chinese Bold Bold" panose="02010800040101010101" pitchFamily="1" charset="-122"/>
              </a:rPr>
              <a:t>04</a:t>
            </a:r>
          </a:p>
        </p:txBody>
      </p:sp>
      <p:pic>
        <p:nvPicPr>
          <p:cNvPr id="2097378" name="图片 3"/>
          <p:cNvPicPr>
            <a:picLocks noChangeAspect="1"/>
          </p:cNvPicPr>
          <p:nvPr/>
        </p:nvPicPr>
        <p:blipFill>
          <a:blip r:embed="rId4">
            <a:alphaModFix amt="57999"/>
          </a:blip>
          <a:stretch>
            <a:fillRect/>
          </a:stretch>
        </p:blipFill>
        <p:spPr>
          <a:xfrm rot="16259999">
            <a:off x="8117228" y="3986604"/>
            <a:ext cx="1241412" cy="1241412"/>
          </a:xfrm>
          <a:prstGeom prst="rect">
            <a:avLst/>
          </a:prstGeom>
        </p:spPr>
      </p:pic>
      <p:pic>
        <p:nvPicPr>
          <p:cNvPr id="2097379" name="图片 4"/>
          <p:cNvPicPr>
            <a:picLocks noChangeAspect="1"/>
          </p:cNvPicPr>
          <p:nvPr/>
        </p:nvPicPr>
        <p:blipFill>
          <a:blip r:embed="rId5">
            <a:alphaModFix/>
          </a:blip>
          <a:stretch>
            <a:fillRect/>
          </a:stretch>
        </p:blipFill>
        <p:spPr>
          <a:xfrm rot="16259999">
            <a:off x="8560943" y="4430318"/>
            <a:ext cx="801503" cy="801503"/>
          </a:xfrm>
          <a:prstGeom prst="rect">
            <a:avLst/>
          </a:prstGeom>
        </p:spPr>
      </p:pic>
      <p:pic>
        <p:nvPicPr>
          <p:cNvPr id="2097380" name="图片 5"/>
          <p:cNvPicPr>
            <a:picLocks noChangeAspect="1"/>
          </p:cNvPicPr>
          <p:nvPr/>
        </p:nvPicPr>
        <p:blipFill>
          <a:blip r:embed="rId6">
            <a:alphaModFix/>
          </a:blip>
          <a:stretch>
            <a:fillRect/>
          </a:stretch>
        </p:blipFill>
        <p:spPr>
          <a:xfrm rot="16259999">
            <a:off x="8109438" y="4894968"/>
            <a:ext cx="340838" cy="340838"/>
          </a:xfrm>
          <a:prstGeom prst="rect">
            <a:avLst/>
          </a:prstGeom>
        </p:spPr>
      </p:pic>
      <p:pic>
        <p:nvPicPr>
          <p:cNvPr id="2097381" name="图片 6"/>
          <p:cNvPicPr>
            <a:picLocks noChangeAspect="1"/>
          </p:cNvPicPr>
          <p:nvPr/>
        </p:nvPicPr>
        <p:blipFill>
          <a:blip r:embed="rId4">
            <a:alphaModFix amt="57999"/>
          </a:blip>
          <a:stretch>
            <a:fillRect/>
          </a:stretch>
        </p:blipFill>
        <p:spPr>
          <a:xfrm rot="16259999">
            <a:off x="-273971" y="4036996"/>
            <a:ext cx="1241412" cy="1241412"/>
          </a:xfrm>
          <a:prstGeom prst="rect">
            <a:avLst/>
          </a:prstGeom>
        </p:spPr>
      </p:pic>
      <p:pic>
        <p:nvPicPr>
          <p:cNvPr id="2097382" name="图片 7"/>
          <p:cNvPicPr>
            <a:picLocks noChangeAspect="1"/>
          </p:cNvPicPr>
          <p:nvPr/>
        </p:nvPicPr>
        <p:blipFill>
          <a:blip r:embed="rId5">
            <a:alphaModFix/>
          </a:blip>
          <a:stretch>
            <a:fillRect/>
          </a:stretch>
        </p:blipFill>
        <p:spPr>
          <a:xfrm rot="16259999">
            <a:off x="-277776" y="4430318"/>
            <a:ext cx="801503" cy="801503"/>
          </a:xfrm>
          <a:prstGeom prst="rect">
            <a:avLst/>
          </a:prstGeom>
        </p:spPr>
      </p:pic>
      <p:pic>
        <p:nvPicPr>
          <p:cNvPr id="2097383" name="图片 8"/>
          <p:cNvPicPr>
            <a:picLocks noChangeAspect="1"/>
          </p:cNvPicPr>
          <p:nvPr/>
        </p:nvPicPr>
        <p:blipFill>
          <a:blip r:embed="rId6">
            <a:alphaModFix/>
          </a:blip>
          <a:stretch>
            <a:fillRect/>
          </a:stretch>
        </p:blipFill>
        <p:spPr>
          <a:xfrm rot="16259999">
            <a:off x="703271" y="4894968"/>
            <a:ext cx="340838" cy="340838"/>
          </a:xfrm>
          <a:prstGeom prst="rect">
            <a:avLst/>
          </a:prstGeom>
        </p:spPr>
      </p:pic>
      <p:sp>
        <p:nvSpPr>
          <p:cNvPr id="1048675" name="文本框 10"/>
          <p:cNvSpPr txBox="1"/>
          <p:nvPr/>
        </p:nvSpPr>
        <p:spPr>
          <a:xfrm>
            <a:off x="623756" y="2211421"/>
            <a:ext cx="7829469" cy="685800"/>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lang="zh-CN" sz="4500" kern="100" spc="0">
                <a:solidFill>
                  <a:srgbClr val="1A4B59">
                    <a:alpha val="100000"/>
                  </a:srgbClr>
                </a:solidFill>
                <a:latin typeface="创客贴稚圆体 Bold Bold" panose="02010800040101010101" pitchFamily="1" charset="-122"/>
                <a:ea typeface="创客贴稚圆体 Bold Bold" panose="02010800040101010101" pitchFamily="1" charset="-122"/>
              </a:rPr>
              <a:t>总结</a:t>
            </a:r>
          </a:p>
        </p:txBody>
      </p:sp>
      <p:sp>
        <p:nvSpPr>
          <p:cNvPr id="1048676" name="文本框 11"/>
          <p:cNvSpPr txBox="1"/>
          <p:nvPr/>
        </p:nvSpPr>
        <p:spPr>
          <a:xfrm>
            <a:off x="1030851" y="3401862"/>
            <a:ext cx="7015277" cy="367097"/>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endParaRPr sz="1205" kern="100" spc="0">
              <a:solidFill>
                <a:srgbClr val="424142">
                  <a:alpha val="100000"/>
                </a:srgbClr>
              </a:solidFill>
              <a:latin typeface="Noto Sans S Chinese Regular" panose="02010800040101010101" pitchFamily="1" charset="-122"/>
              <a:ea typeface="Noto Sans S Chinese Regular" panose="02010800040101010101" pitchFamily="1" charset="-122"/>
            </a:endParaRPr>
          </a:p>
        </p:txBody>
      </p:sp>
      <p:pic>
        <p:nvPicPr>
          <p:cNvPr id="2097384" name="图片 12"/>
          <p:cNvPicPr>
            <a:picLocks noChangeAspect="1"/>
          </p:cNvPicPr>
          <p:nvPr/>
        </p:nvPicPr>
        <p:blipFill>
          <a:blip r:embed="rId7">
            <a:alphaModFix/>
          </a:blip>
          <a:stretch>
            <a:fillRect/>
          </a:stretch>
        </p:blipFill>
        <p:spPr>
          <a:xfrm rot="21539999">
            <a:off x="259153" y="517447"/>
            <a:ext cx="543012" cy="543012"/>
          </a:xfrm>
          <a:prstGeom prst="rect">
            <a:avLst/>
          </a:prstGeom>
        </p:spPr>
      </p:pic>
      <p:pic>
        <p:nvPicPr>
          <p:cNvPr id="2097385" name="图片 13"/>
          <p:cNvPicPr>
            <a:picLocks noChangeAspect="1"/>
          </p:cNvPicPr>
          <p:nvPr/>
        </p:nvPicPr>
        <p:blipFill>
          <a:blip r:embed="rId8">
            <a:alphaModFix/>
          </a:blip>
          <a:stretch>
            <a:fillRect/>
          </a:stretch>
        </p:blipFill>
        <p:spPr>
          <a:xfrm rot="21539999">
            <a:off x="275423" y="533718"/>
            <a:ext cx="510472" cy="510472"/>
          </a:xfrm>
          <a:prstGeom prst="rect">
            <a:avLst/>
          </a:prstGeom>
        </p:spPr>
      </p:pic>
      <p:pic>
        <p:nvPicPr>
          <p:cNvPr id="2097386" name="图片 14"/>
          <p:cNvPicPr>
            <a:picLocks noChangeAspect="1"/>
          </p:cNvPicPr>
          <p:nvPr/>
        </p:nvPicPr>
        <p:blipFill>
          <a:blip r:embed="rId9">
            <a:alphaModFix/>
          </a:blip>
          <a:stretch>
            <a:fillRect/>
          </a:stretch>
        </p:blipFill>
        <p:spPr>
          <a:xfrm rot="21539999">
            <a:off x="-85012" y="743410"/>
            <a:ext cx="610391" cy="610391"/>
          </a:xfrm>
          <a:prstGeom prst="rect">
            <a:avLst/>
          </a:prstGeom>
        </p:spPr>
      </p:pic>
      <p:pic>
        <p:nvPicPr>
          <p:cNvPr id="2097387" name="图片 15"/>
          <p:cNvPicPr>
            <a:picLocks noChangeAspect="1"/>
          </p:cNvPicPr>
          <p:nvPr/>
        </p:nvPicPr>
        <p:blipFill>
          <a:blip r:embed="rId7">
            <a:alphaModFix/>
          </a:blip>
          <a:stretch>
            <a:fillRect/>
          </a:stretch>
        </p:blipFill>
        <p:spPr>
          <a:xfrm rot="21539999">
            <a:off x="7679746" y="1363779"/>
            <a:ext cx="543012" cy="543012"/>
          </a:xfrm>
          <a:prstGeom prst="rect">
            <a:avLst/>
          </a:prstGeom>
        </p:spPr>
      </p:pic>
      <p:pic>
        <p:nvPicPr>
          <p:cNvPr id="2097388" name="图片 16"/>
          <p:cNvPicPr>
            <a:picLocks noChangeAspect="1"/>
          </p:cNvPicPr>
          <p:nvPr/>
        </p:nvPicPr>
        <p:blipFill>
          <a:blip r:embed="rId8">
            <a:alphaModFix/>
          </a:blip>
          <a:stretch>
            <a:fillRect/>
          </a:stretch>
        </p:blipFill>
        <p:spPr>
          <a:xfrm rot="21539999">
            <a:off x="7696016" y="1380049"/>
            <a:ext cx="510472" cy="510472"/>
          </a:xfrm>
          <a:prstGeom prst="rect">
            <a:avLst/>
          </a:prstGeom>
        </p:spPr>
      </p:pic>
      <p:pic>
        <p:nvPicPr>
          <p:cNvPr id="2097389" name="图片 17"/>
          <p:cNvPicPr>
            <a:picLocks noChangeAspect="1"/>
          </p:cNvPicPr>
          <p:nvPr/>
        </p:nvPicPr>
        <p:blipFill>
          <a:blip r:embed="rId9">
            <a:alphaModFix/>
          </a:blip>
          <a:stretch>
            <a:fillRect/>
          </a:stretch>
        </p:blipFill>
        <p:spPr>
          <a:xfrm rot="21539999">
            <a:off x="7922260" y="1589741"/>
            <a:ext cx="610391" cy="61039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491" name="图片 1"/>
          <p:cNvPicPr>
            <a:picLocks noChangeAspect="1"/>
          </p:cNvPicPr>
          <p:nvPr/>
        </p:nvPicPr>
        <p:blipFill>
          <a:blip r:embed="rId2">
            <a:alphaModFix/>
          </a:blip>
          <a:stretch>
            <a:fillRect/>
          </a:stretch>
        </p:blipFill>
        <p:spPr>
          <a:xfrm>
            <a:off x="0" y="0"/>
            <a:ext cx="9144000" cy="5143500"/>
          </a:xfrm>
          <a:prstGeom prst="rect">
            <a:avLst/>
          </a:prstGeom>
        </p:spPr>
      </p:pic>
      <p:pic>
        <p:nvPicPr>
          <p:cNvPr id="2097492" name="图片 2"/>
          <p:cNvPicPr>
            <a:picLocks noChangeAspect="1"/>
          </p:cNvPicPr>
          <p:nvPr/>
        </p:nvPicPr>
        <p:blipFill>
          <a:blip r:embed="rId3">
            <a:alphaModFix/>
          </a:blip>
          <a:stretch>
            <a:fillRect/>
          </a:stretch>
        </p:blipFill>
        <p:spPr>
          <a:xfrm>
            <a:off x="5103945" y="-1228949"/>
            <a:ext cx="2571750" cy="2571750"/>
          </a:xfrm>
          <a:prstGeom prst="rect">
            <a:avLst/>
          </a:prstGeom>
        </p:spPr>
      </p:pic>
      <p:pic>
        <p:nvPicPr>
          <p:cNvPr id="2097493" name="图片 3"/>
          <p:cNvPicPr>
            <a:picLocks noChangeAspect="1"/>
          </p:cNvPicPr>
          <p:nvPr/>
        </p:nvPicPr>
        <p:blipFill>
          <a:blip r:embed="rId4">
            <a:alphaModFix/>
          </a:blip>
          <a:stretch>
            <a:fillRect/>
          </a:stretch>
        </p:blipFill>
        <p:spPr>
          <a:xfrm>
            <a:off x="5103945" y="-1433563"/>
            <a:ext cx="2571750" cy="2571750"/>
          </a:xfrm>
          <a:prstGeom prst="rect">
            <a:avLst/>
          </a:prstGeom>
        </p:spPr>
      </p:pic>
      <p:pic>
        <p:nvPicPr>
          <p:cNvPr id="2097494" name="图片 4"/>
          <p:cNvPicPr>
            <a:picLocks noChangeAspect="1"/>
          </p:cNvPicPr>
          <p:nvPr/>
        </p:nvPicPr>
        <p:blipFill>
          <a:blip r:embed="rId5">
            <a:alphaModFix/>
          </a:blip>
          <a:stretch>
            <a:fillRect/>
          </a:stretch>
        </p:blipFill>
        <p:spPr>
          <a:xfrm rot="5400000">
            <a:off x="7614244" y="403115"/>
            <a:ext cx="2968102" cy="2968102"/>
          </a:xfrm>
          <a:prstGeom prst="rect">
            <a:avLst/>
          </a:prstGeom>
        </p:spPr>
      </p:pic>
      <p:pic>
        <p:nvPicPr>
          <p:cNvPr id="2097495" name="图片 5"/>
          <p:cNvPicPr>
            <a:picLocks noChangeAspect="1"/>
          </p:cNvPicPr>
          <p:nvPr/>
        </p:nvPicPr>
        <p:blipFill>
          <a:blip r:embed="rId6">
            <a:alphaModFix/>
          </a:blip>
          <a:stretch>
            <a:fillRect/>
          </a:stretch>
        </p:blipFill>
        <p:spPr>
          <a:xfrm rot="5400000">
            <a:off x="7861653" y="403115"/>
            <a:ext cx="2968102" cy="2968102"/>
          </a:xfrm>
          <a:prstGeom prst="rect">
            <a:avLst/>
          </a:prstGeom>
        </p:spPr>
      </p:pic>
      <p:pic>
        <p:nvPicPr>
          <p:cNvPr id="2097496" name="图片 6"/>
          <p:cNvPicPr>
            <a:picLocks noChangeAspect="1"/>
          </p:cNvPicPr>
          <p:nvPr/>
        </p:nvPicPr>
        <p:blipFill>
          <a:blip r:embed="rId7">
            <a:alphaModFix/>
          </a:blip>
          <a:stretch>
            <a:fillRect/>
          </a:stretch>
        </p:blipFill>
        <p:spPr>
          <a:xfrm rot="5400000">
            <a:off x="5276681" y="1678836"/>
            <a:ext cx="3626876" cy="3626876"/>
          </a:xfrm>
          <a:prstGeom prst="rect">
            <a:avLst/>
          </a:prstGeom>
        </p:spPr>
      </p:pic>
      <p:pic>
        <p:nvPicPr>
          <p:cNvPr id="2097497" name="图片 8"/>
          <p:cNvPicPr>
            <a:picLocks noChangeAspect="1"/>
          </p:cNvPicPr>
          <p:nvPr/>
        </p:nvPicPr>
        <p:blipFill>
          <a:blip r:embed="rId8">
            <a:alphaModFix/>
          </a:blip>
          <a:stretch>
            <a:fillRect/>
          </a:stretch>
        </p:blipFill>
        <p:spPr>
          <a:xfrm>
            <a:off x="6524953" y="921124"/>
            <a:ext cx="1130331" cy="1130331"/>
          </a:xfrm>
          <a:prstGeom prst="rect">
            <a:avLst/>
          </a:prstGeom>
        </p:spPr>
      </p:pic>
      <p:pic>
        <p:nvPicPr>
          <p:cNvPr id="2097498" name="图片 9"/>
          <p:cNvPicPr>
            <a:picLocks noChangeAspect="1"/>
          </p:cNvPicPr>
          <p:nvPr/>
        </p:nvPicPr>
        <p:blipFill>
          <a:blip r:embed="rId9">
            <a:alphaModFix/>
          </a:blip>
          <a:stretch>
            <a:fillRect/>
          </a:stretch>
        </p:blipFill>
        <p:spPr>
          <a:xfrm>
            <a:off x="6676694" y="1072866"/>
            <a:ext cx="826849" cy="826849"/>
          </a:xfrm>
          <a:prstGeom prst="rect">
            <a:avLst/>
          </a:prstGeom>
        </p:spPr>
      </p:pic>
      <p:sp>
        <p:nvSpPr>
          <p:cNvPr id="1048752" name="文本框 18"/>
          <p:cNvSpPr txBox="1"/>
          <p:nvPr/>
        </p:nvSpPr>
        <p:spPr>
          <a:xfrm>
            <a:off x="294298" y="1927123"/>
            <a:ext cx="5672758" cy="839117"/>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sz="5510" kern="100" spc="0">
                <a:solidFill>
                  <a:srgbClr val="1A4B59">
                    <a:alpha val="100000"/>
                  </a:srgbClr>
                </a:solidFill>
                <a:latin typeface="创客贴稚圆体 Bold Bold" panose="02010800040101010101" pitchFamily="1" charset="-122"/>
                <a:ea typeface="创客贴稚圆体 Bold Bold" panose="02010800040101010101" pitchFamily="1" charset="-122"/>
              </a:rPr>
              <a:t>请老师批评指正</a:t>
            </a:r>
          </a:p>
        </p:txBody>
      </p:sp>
      <p:sp>
        <p:nvSpPr>
          <p:cNvPr id="1048753" name="文本框 10"/>
          <p:cNvSpPr txBox="1"/>
          <p:nvPr/>
        </p:nvSpPr>
        <p:spPr>
          <a:xfrm>
            <a:off x="294298" y="2802752"/>
            <a:ext cx="2351377" cy="211624"/>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sz="1390" kern="100" spc="0">
                <a:solidFill>
                  <a:srgbClr val="424142">
                    <a:alpha val="100000"/>
                  </a:srgbClr>
                </a:solidFill>
                <a:latin typeface="Noto Sans S Chinese Regular" panose="02010800040101010101" pitchFamily="1" charset="-122"/>
                <a:ea typeface="Noto Sans S Chinese Regular" panose="02010800040101010101" pitchFamily="1" charset="-122"/>
              </a:rPr>
              <a:t>Ask the teacher to criticize</a:t>
            </a:r>
          </a:p>
        </p:txBody>
      </p:sp>
      <p:pic>
        <p:nvPicPr>
          <p:cNvPr id="2097499" name="图片 12"/>
          <p:cNvPicPr>
            <a:picLocks noChangeAspect="1"/>
          </p:cNvPicPr>
          <p:nvPr/>
        </p:nvPicPr>
        <p:blipFill>
          <a:blip r:embed="rId10">
            <a:alphaModFix/>
          </a:blip>
          <a:stretch>
            <a:fillRect/>
          </a:stretch>
        </p:blipFill>
        <p:spPr>
          <a:xfrm>
            <a:off x="294298" y="537750"/>
            <a:ext cx="1161598" cy="385612"/>
          </a:xfrm>
          <a:prstGeom prst="rect">
            <a:avLst/>
          </a:prstGeom>
        </p:spPr>
      </p:pic>
      <p:sp>
        <p:nvSpPr>
          <p:cNvPr id="1048754" name="文本框 13"/>
          <p:cNvSpPr txBox="1"/>
          <p:nvPr/>
        </p:nvSpPr>
        <p:spPr>
          <a:xfrm>
            <a:off x="294298" y="1574801"/>
            <a:ext cx="3928895" cy="302895"/>
          </a:xfrm>
          <a:prstGeom prst="rect">
            <a:avLst/>
          </a:prstGeom>
        </p:spPr>
        <p:txBody>
          <a:bodyPr wrap="square" lIns="0" tIns="0" rIns="0" bIns="0" anchor="ctr">
            <a:scene3d>
              <a:camera prst="legacyObliqueTopLeft">
                <a:rot lat="0" lon="0" rev="0"/>
              </a:camera>
              <a:lightRig rig="legacyFlat1" dir="tl"/>
            </a:scene3d>
          </a:bodyPr>
          <a:lstStyle/>
          <a:p>
            <a:pPr algn="l">
              <a:lnSpc>
                <a:spcPct val="100000"/>
              </a:lnSpc>
            </a:pPr>
            <a:r>
              <a:rPr sz="1990" kern="100" spc="0">
                <a:solidFill>
                  <a:srgbClr val="424142">
                    <a:alpha val="100000"/>
                  </a:srgbClr>
                </a:solidFill>
                <a:latin typeface="Noto Sans S Chinese Regular" panose="02010800040101010101" pitchFamily="1" charset="-122"/>
                <a:ea typeface="Noto Sans S Chinese Regular" panose="02010800040101010101" pitchFamily="1" charset="-122"/>
              </a:rPr>
              <a:t>简约风论文答辩模板</a:t>
            </a:r>
          </a:p>
        </p:txBody>
      </p:sp>
      <p:pic>
        <p:nvPicPr>
          <p:cNvPr id="2097500" name="图片 14"/>
          <p:cNvPicPr>
            <a:picLocks noChangeAspect="1"/>
          </p:cNvPicPr>
          <p:nvPr/>
        </p:nvPicPr>
        <p:blipFill>
          <a:blip r:embed="rId11">
            <a:alphaModFix/>
          </a:blip>
          <a:stretch>
            <a:fillRect/>
          </a:stretch>
        </p:blipFill>
        <p:spPr>
          <a:xfrm>
            <a:off x="344170" y="4096385"/>
            <a:ext cx="3931920" cy="327660"/>
          </a:xfrm>
          <a:prstGeom prst="rect">
            <a:avLst/>
          </a:prstGeom>
        </p:spPr>
      </p:pic>
      <p:sp>
        <p:nvSpPr>
          <p:cNvPr id="1048755" name="文本框 15"/>
          <p:cNvSpPr txBox="1"/>
          <p:nvPr/>
        </p:nvSpPr>
        <p:spPr>
          <a:xfrm>
            <a:off x="429748" y="4096384"/>
            <a:ext cx="3657995" cy="375082"/>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汇报人：</a:t>
            </a:r>
            <a:r>
              <a:rPr sz="1165" kern="100">
                <a:solidFill>
                  <a:srgbClr val="FFFFFF">
                    <a:alpha val="100000"/>
                  </a:srgbClr>
                </a:solidFill>
                <a:latin typeface="Noto Sans S Chinese Regular" panose="02010800040101010101" pitchFamily="1" charset="-122"/>
                <a:ea typeface="Noto Sans S Chinese Regular" panose="02010800040101010101" pitchFamily="1" charset="-122"/>
                <a:sym typeface="+mn-ea"/>
              </a:rPr>
              <a:t>汇报人：</a:t>
            </a:r>
            <a:r>
              <a:rPr lang="zh-CN" sz="1165" kern="100">
                <a:solidFill>
                  <a:srgbClr val="FFFFFF">
                    <a:alpha val="100000"/>
                  </a:srgbClr>
                </a:solidFill>
                <a:latin typeface="Noto Sans S Chinese Regular" panose="02010800040101010101" pitchFamily="1" charset="-122"/>
                <a:ea typeface="Noto Sans S Chinese Regular" panose="02010800040101010101" pitchFamily="1" charset="-122"/>
                <a:sym typeface="+mn-ea"/>
              </a:rPr>
              <a:t>赵宇哲</a:t>
            </a:r>
            <a:r>
              <a:rPr lang="en-US" altLang="zh-CN" sz="1165" kern="100">
                <a:solidFill>
                  <a:srgbClr val="FFFFFF">
                    <a:alpha val="100000"/>
                  </a:srgbClr>
                </a:solidFill>
                <a:latin typeface="Noto Sans S Chinese Regular" panose="02010800040101010101" pitchFamily="1" charset="-122"/>
                <a:ea typeface="Noto Sans S Chinese Regular" panose="02010800040101010101" pitchFamily="1" charset="-122"/>
                <a:sym typeface="+mn-ea"/>
              </a:rPr>
              <a:t> </a:t>
            </a:r>
            <a:r>
              <a:rPr lang="zh-CN" altLang="en-US" sz="1165" kern="100">
                <a:solidFill>
                  <a:srgbClr val="FFFFFF">
                    <a:alpha val="100000"/>
                  </a:srgbClr>
                </a:solidFill>
                <a:latin typeface="Noto Sans S Chinese Regular" panose="02010800040101010101" pitchFamily="1" charset="-122"/>
                <a:ea typeface="Noto Sans S Chinese Regular" panose="02010800040101010101" pitchFamily="1" charset="-122"/>
                <a:sym typeface="+mn-ea"/>
              </a:rPr>
              <a:t>黄子豪</a:t>
            </a:r>
            <a:r>
              <a:rPr lang="en-US" altLang="zh-CN" sz="1165" kern="100">
                <a:solidFill>
                  <a:srgbClr val="FFFFFF">
                    <a:alpha val="100000"/>
                  </a:srgbClr>
                </a:solidFill>
                <a:latin typeface="Noto Sans S Chinese Regular" panose="02010800040101010101" pitchFamily="1" charset="-122"/>
                <a:ea typeface="Noto Sans S Chinese Regular" panose="02010800040101010101" pitchFamily="1" charset="-122"/>
                <a:sym typeface="+mn-ea"/>
              </a:rPr>
              <a:t> </a:t>
            </a:r>
            <a:r>
              <a:rPr lang="zh-CN" altLang="en-US" sz="1165" kern="100">
                <a:solidFill>
                  <a:srgbClr val="FFFFFF">
                    <a:alpha val="100000"/>
                  </a:srgbClr>
                </a:solidFill>
                <a:latin typeface="Noto Sans S Chinese Regular" panose="02010800040101010101" pitchFamily="1" charset="-122"/>
                <a:ea typeface="Noto Sans S Chinese Regular" panose="02010800040101010101" pitchFamily="1" charset="-122"/>
                <a:sym typeface="+mn-ea"/>
              </a:rPr>
              <a:t>魏宇轩</a:t>
            </a:r>
            <a:r>
              <a:rPr lang="en-US" altLang="zh-CN" sz="1165" kern="100">
                <a:solidFill>
                  <a:srgbClr val="FFFFFF">
                    <a:alpha val="100000"/>
                  </a:srgbClr>
                </a:solidFill>
                <a:latin typeface="Noto Sans S Chinese Regular" panose="02010800040101010101" pitchFamily="1" charset="-122"/>
                <a:ea typeface="Noto Sans S Chinese Regular" panose="02010800040101010101" pitchFamily="1" charset="-122"/>
                <a:sym typeface="+mn-ea"/>
              </a:rPr>
              <a:t> </a:t>
            </a:r>
            <a:r>
              <a:rPr lang="zh-CN" altLang="en-US" sz="1165" kern="100">
                <a:solidFill>
                  <a:srgbClr val="FFFFFF">
                    <a:alpha val="100000"/>
                  </a:srgbClr>
                </a:solidFill>
                <a:latin typeface="Noto Sans S Chinese Regular" panose="02010800040101010101" pitchFamily="1" charset="-122"/>
                <a:ea typeface="Noto Sans S Chinese Regular" panose="02010800040101010101" pitchFamily="1" charset="-122"/>
                <a:sym typeface="+mn-ea"/>
              </a:rPr>
              <a:t>唐小涯</a:t>
            </a:r>
            <a:r>
              <a:rPr lang="en-US" altLang="zh-CN" sz="1165" kern="100">
                <a:solidFill>
                  <a:srgbClr val="FFFFFF">
                    <a:alpha val="100000"/>
                  </a:srgbClr>
                </a:solidFill>
                <a:latin typeface="Noto Sans S Chinese Regular" panose="02010800040101010101" pitchFamily="1" charset="-122"/>
                <a:ea typeface="Noto Sans S Chinese Regular" panose="02010800040101010101" pitchFamily="1" charset="-122"/>
                <a:sym typeface="+mn-ea"/>
              </a:rPr>
              <a:t>  </a:t>
            </a:r>
            <a:r>
              <a:rPr lang="zh-CN" altLang="en-US" sz="1165" kern="100">
                <a:solidFill>
                  <a:srgbClr val="FFFFFF">
                    <a:alpha val="100000"/>
                  </a:srgbClr>
                </a:solidFill>
                <a:latin typeface="Noto Sans S Chinese Regular" panose="02010800040101010101" pitchFamily="1" charset="-122"/>
                <a:ea typeface="Noto Sans S Chinese Regular" panose="02010800040101010101" pitchFamily="1" charset="-122"/>
                <a:sym typeface="+mn-ea"/>
              </a:rPr>
              <a:t>陈</a:t>
            </a:r>
            <a:r>
              <a:rPr lang="en-US" altLang="en-US" sz="1165" kern="100">
                <a:solidFill>
                  <a:srgbClr val="FFFFFF">
                    <a:alpha val="100000"/>
                  </a:srgbClr>
                </a:solidFill>
                <a:latin typeface="Noto Sans S Chinese Regular" panose="02010800040101010101" pitchFamily="1" charset="-122"/>
                <a:ea typeface="Noto Sans S Chinese Regular" panose="02010800040101010101" pitchFamily="1" charset="-122"/>
                <a:sym typeface="+mn-ea"/>
              </a:rPr>
              <a:t>雨昂</a:t>
            </a:r>
            <a:r>
              <a:rPr lang="en-US" altLang="zh-CN" sz="1165" kern="100">
                <a:solidFill>
                  <a:srgbClr val="FFFFFF">
                    <a:alpha val="100000"/>
                  </a:srgbClr>
                </a:solidFill>
                <a:latin typeface="Noto Sans S Chinese Regular" panose="02010800040101010101" pitchFamily="1" charset="-122"/>
                <a:ea typeface="Noto Sans S Chinese Regular" panose="02010800040101010101" pitchFamily="1" charset="-122"/>
                <a:sym typeface="+mn-ea"/>
              </a:rPr>
              <a:t> </a:t>
            </a:r>
            <a:endParaRPr sz="1165" kern="100" spc="0">
              <a:solidFill>
                <a:srgbClr val="FFFFFF">
                  <a:alpha val="100000"/>
                </a:srgbClr>
              </a:solidFill>
              <a:latin typeface="Noto Sans S Chinese Regular" panose="02010800040101010101" pitchFamily="1" charset="-122"/>
              <a:ea typeface="Noto Sans S Chinese Regular" panose="02010800040101010101" pitchFamily="1" charset="-122"/>
            </a:endParaRPr>
          </a:p>
        </p:txBody>
      </p:sp>
      <p:pic>
        <p:nvPicPr>
          <p:cNvPr id="2097501" name="图片 16"/>
          <p:cNvPicPr>
            <a:picLocks noChangeAspect="1"/>
          </p:cNvPicPr>
          <p:nvPr/>
        </p:nvPicPr>
        <p:blipFill>
          <a:blip r:embed="rId12">
            <a:alphaModFix/>
          </a:blip>
          <a:stretch>
            <a:fillRect/>
          </a:stretch>
        </p:blipFill>
        <p:spPr>
          <a:xfrm>
            <a:off x="3996024" y="4659728"/>
            <a:ext cx="1324718" cy="346610"/>
          </a:xfrm>
          <a:prstGeom prst="rect">
            <a:avLst/>
          </a:prstGeom>
        </p:spPr>
      </p:pic>
      <p:sp>
        <p:nvSpPr>
          <p:cNvPr id="1048756" name="文本框 17"/>
          <p:cNvSpPr txBox="1"/>
          <p:nvPr/>
        </p:nvSpPr>
        <p:spPr>
          <a:xfrm>
            <a:off x="3995852" y="4732219"/>
            <a:ext cx="1429203" cy="175901"/>
          </a:xfrm>
          <a:prstGeom prst="rect">
            <a:avLst/>
          </a:prstGeom>
        </p:spPr>
        <p:txBody>
          <a:bodyPr wrap="square" lIns="0" tIns="0" rIns="0" bIns="0" anchor="ctr">
            <a:scene3d>
              <a:camera prst="legacyObliqueTopLeft">
                <a:rot lat="0" lon="0" rev="0"/>
              </a:camera>
              <a:lightRig rig="legacyFlat1" dir="tl"/>
            </a:scene3d>
          </a:bodyPr>
          <a:lstStyle/>
          <a:p>
            <a:pPr algn="ctr">
              <a:lnSpc>
                <a:spcPct val="100000"/>
              </a:lnSpc>
            </a:pPr>
            <a:r>
              <a:rPr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时间：202</a:t>
            </a:r>
            <a:r>
              <a:rPr lang="en-US"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4</a:t>
            </a:r>
            <a:r>
              <a:rPr sz="1165" kern="100" spc="0">
                <a:solidFill>
                  <a:srgbClr val="FFFFFF">
                    <a:alpha val="100000"/>
                  </a:srgbClr>
                </a:solidFill>
                <a:latin typeface="Noto Sans S Chinese Regular" panose="02010800040101010101" pitchFamily="1" charset="-122"/>
                <a:ea typeface="Noto Sans S Chinese Regular" panose="02010800040101010101" pitchFamily="1" charset="-122"/>
              </a:rPr>
              <a:t>.12.01</a:t>
            </a:r>
          </a:p>
        </p:txBody>
      </p:sp>
      <p:pic>
        <p:nvPicPr>
          <p:cNvPr id="2097502" name="图片 19"/>
          <p:cNvPicPr>
            <a:picLocks noChangeAspect="1"/>
          </p:cNvPicPr>
          <p:nvPr/>
        </p:nvPicPr>
        <p:blipFill>
          <a:blip r:embed="rId13"/>
          <a:stretch>
            <a:fillRect/>
          </a:stretch>
        </p:blipFill>
        <p:spPr>
          <a:xfrm rot="20280000">
            <a:off x="5473065" y="1877695"/>
            <a:ext cx="3233420" cy="3233420"/>
          </a:xfrm>
          <a:prstGeom prst="ellipse">
            <a:avLst/>
          </a:prstGeom>
        </p:spPr>
      </p:pic>
      <p:pic>
        <p:nvPicPr>
          <p:cNvPr id="2097503" name="图片 20"/>
          <p:cNvPicPr>
            <a:picLocks noChangeAspect="1"/>
          </p:cNvPicPr>
          <p:nvPr/>
        </p:nvPicPr>
        <p:blipFill>
          <a:blip r:embed="rId13"/>
          <a:stretch>
            <a:fillRect/>
          </a:stretch>
        </p:blipFill>
        <p:spPr>
          <a:xfrm rot="13260000">
            <a:off x="5251450" y="-1065530"/>
            <a:ext cx="2277110" cy="2277110"/>
          </a:xfrm>
          <a:prstGeom prst="ellipse">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20.54496062992126,&quot;left&quot;:260.51188976377955,&quot;top&quot;:40.717322834645664,&quot;width&quot;:560.2907874015748}"/>
</p:tagLst>
</file>

<file path=ppt/theme/theme1.xml><?xml version="1.0" encoding="utf-8"?>
<a:theme xmlns:a="http://schemas.openxmlformats.org/drawingml/2006/main" name="unioffice Theme">
  <a:themeElements>
    <a:clrScheme name="Office">
      <a:dk1>
        <a:sysClr val="windowText" lastClr="000000"/>
      </a:dk1>
      <a:lt1>
        <a:sysClr val="window" lastClr="FFFFFF"/>
      </a:lt1>
      <a:dk2>
        <a:srgbClr val="44546A"/>
      </a:dk2>
      <a:lt2>
        <a:srgbClr val="E7E7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gs>
            <a:gs pos="50000">
              <a:schemeClr val="phClr"/>
            </a:gs>
          </a:gsLst>
          <a:lin ang="5400000" scaled="0"/>
        </a:gradFill>
        <a:gradFill rotWithShape="1">
          <a:gsLst>
            <a:gs pos="0">
              <a:schemeClr val="phClr"/>
            </a:gs>
            <a:gs pos="50000">
              <a:schemeClr val="phClr"/>
            </a:gs>
          </a:gsLst>
          <a:lin ang="5400000" scaled="0"/>
        </a:gradFill>
      </a:fillStyleLst>
      <a:lnStyleLst>
        <a:ln w="6350" cap="flat" cmpd="sng" algn="ctr"/>
        <a:ln w="12700" cap="flat" cmpd="sng" algn="ctr"/>
        <a:ln w="19050" cap="flat" cmpd="sng" algn="ctr"/>
      </a:lnStyleLst>
      <a:effectStyleLst>
        <a:effectStyle>
          <a:effectLst/>
        </a:effectStyle>
        <a:effectStyle>
          <a:effectLst/>
        </a:effectStyle>
        <a:effectStyle>
          <a:effectLst/>
        </a:effectStyle>
      </a:effectStyleLst>
      <a:bgFillStyleLst>
        <a:solidFill>
          <a:schemeClr val="phClr"/>
        </a:solidFill>
        <a:solidFill>
          <a:schemeClr val="phClr"/>
        </a:solidFill>
        <a:gradFill rotWithShape="1">
          <a:gsLst>
            <a:gs pos="0">
              <a:schemeClr val="phClr"/>
            </a:gs>
            <a:gs pos="50000">
              <a:schemeClr val="phClr"/>
            </a:gs>
          </a:gsLst>
          <a:lin ang="5400000" scaled="0"/>
        </a:gradFill>
      </a:bgFillStyleLst>
    </a:fmtScheme>
  </a:themeElements>
  <a:objectDefaults/>
  <a:extraClrSchemeLst/>
</a:theme>
</file>

<file path=ppt/theme/theme2.xml><?xml version="1.0" encoding="utf-8"?>
<a:theme xmlns:a="http://schemas.openxmlformats.org/drawingml/2006/main" name="1_unioffice Theme">
  <a:themeElements>
    <a:clrScheme name="Office">
      <a:dk1>
        <a:sysClr val="windowText" lastClr="000000"/>
      </a:dk1>
      <a:lt1>
        <a:sysClr val="window" lastClr="FFFFFF"/>
      </a:lt1>
      <a:dk2>
        <a:srgbClr val="44546A"/>
      </a:dk2>
      <a:lt2>
        <a:srgbClr val="E7E7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gs>
            <a:gs pos="50000">
              <a:schemeClr val="phClr"/>
            </a:gs>
          </a:gsLst>
          <a:lin ang="5400000" scaled="0"/>
        </a:gradFill>
        <a:gradFill rotWithShape="1">
          <a:gsLst>
            <a:gs pos="0">
              <a:schemeClr val="phClr"/>
            </a:gs>
            <a:gs pos="50000">
              <a:schemeClr val="phClr"/>
            </a:gs>
          </a:gsLst>
          <a:lin ang="5400000" scaled="0"/>
        </a:gradFill>
      </a:fillStyleLst>
      <a:lnStyleLst>
        <a:ln w="6350" cap="flat" cmpd="sng" algn="ctr"/>
        <a:ln w="12700" cap="flat" cmpd="sng" algn="ctr"/>
        <a:ln w="19050" cap="flat" cmpd="sng" algn="ctr"/>
      </a:lnStyleLst>
      <a:effectStyleLst>
        <a:effectStyle>
          <a:effectLst/>
        </a:effectStyle>
        <a:effectStyle>
          <a:effectLst/>
        </a:effectStyle>
        <a:effectStyle>
          <a:effectLst/>
        </a:effectStyle>
      </a:effectStyleLst>
      <a:bgFillStyleLst>
        <a:solidFill>
          <a:schemeClr val="phClr"/>
        </a:solidFill>
        <a:solidFill>
          <a:schemeClr val="phClr"/>
        </a:solidFill>
        <a:gradFill rotWithShape="1">
          <a:gsLst>
            <a:gs pos="0">
              <a:schemeClr val="phClr"/>
            </a:gs>
            <a:gs pos="50000">
              <a:schemeClr val="phClr"/>
            </a:gs>
          </a:gsLst>
          <a:lin ang="5400000" scaled="0"/>
        </a:gradFill>
      </a:bgFillStyleLst>
    </a:fmtScheme>
  </a:themeElements>
  <a:objectDefaults/>
  <a:extraClrSchemeLst/>
</a:theme>
</file>

<file path=ppt/theme/theme3.xml><?xml version="1.0" encoding="utf-8"?>
<a:theme xmlns:a="http://schemas.openxmlformats.org/drawingml/2006/main" name="2_unioffice Theme">
  <a:themeElements>
    <a:clrScheme name="Office">
      <a:dk1>
        <a:sysClr val="windowText" lastClr="000000"/>
      </a:dk1>
      <a:lt1>
        <a:sysClr val="window" lastClr="FFFFFF"/>
      </a:lt1>
      <a:dk2>
        <a:srgbClr val="44546A"/>
      </a:dk2>
      <a:lt2>
        <a:srgbClr val="E7E7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gs>
            <a:gs pos="50000">
              <a:schemeClr val="phClr"/>
            </a:gs>
          </a:gsLst>
          <a:lin ang="5400000" scaled="0"/>
        </a:gradFill>
        <a:gradFill rotWithShape="1">
          <a:gsLst>
            <a:gs pos="0">
              <a:schemeClr val="phClr"/>
            </a:gs>
            <a:gs pos="50000">
              <a:schemeClr val="phClr"/>
            </a:gs>
          </a:gsLst>
          <a:lin ang="5400000" scaled="0"/>
        </a:gradFill>
      </a:fillStyleLst>
      <a:lnStyleLst>
        <a:ln w="6350" cap="flat" cmpd="sng" algn="ctr"/>
        <a:ln w="12700" cap="flat" cmpd="sng" algn="ctr"/>
        <a:ln w="19050" cap="flat" cmpd="sng" algn="ctr"/>
      </a:lnStyleLst>
      <a:effectStyleLst>
        <a:effectStyle>
          <a:effectLst/>
        </a:effectStyle>
        <a:effectStyle>
          <a:effectLst/>
        </a:effectStyle>
        <a:effectStyle>
          <a:effectLst/>
        </a:effectStyle>
      </a:effectStyleLst>
      <a:bgFillStyleLst>
        <a:solidFill>
          <a:schemeClr val="phClr"/>
        </a:solidFill>
        <a:solidFill>
          <a:schemeClr val="phClr"/>
        </a:solidFill>
        <a:gradFill rotWithShape="1">
          <a:gsLst>
            <a:gs pos="0">
              <a:schemeClr val="phClr"/>
            </a:gs>
            <a:gs pos="50000">
              <a:schemeClr val="phClr"/>
            </a:gs>
          </a:gsLst>
          <a:lin ang="5400000" scaled="0"/>
        </a:gradFill>
      </a:bgFillStyleLst>
    </a:fmtScheme>
  </a:themeElements>
  <a:objectDefaults/>
  <a:extraClrSchemeLst/>
</a:theme>
</file>

<file path=ppt/theme/theme4.xml><?xml version="1.0" encoding="utf-8"?>
<a:theme xmlns:a="http://schemas.openxmlformats.org/drawingml/2006/main" name="3_unioffice Theme">
  <a:themeElements>
    <a:clrScheme name="Office">
      <a:dk1>
        <a:sysClr val="windowText" lastClr="000000"/>
      </a:dk1>
      <a:lt1>
        <a:sysClr val="window" lastClr="FFFFFF"/>
      </a:lt1>
      <a:dk2>
        <a:srgbClr val="44546A"/>
      </a:dk2>
      <a:lt2>
        <a:srgbClr val="E7E7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gs>
            <a:gs pos="50000">
              <a:schemeClr val="phClr"/>
            </a:gs>
          </a:gsLst>
          <a:lin ang="5400000" scaled="0"/>
        </a:gradFill>
        <a:gradFill rotWithShape="1">
          <a:gsLst>
            <a:gs pos="0">
              <a:schemeClr val="phClr"/>
            </a:gs>
            <a:gs pos="50000">
              <a:schemeClr val="phClr"/>
            </a:gs>
          </a:gsLst>
          <a:lin ang="5400000" scaled="0"/>
        </a:gradFill>
      </a:fillStyleLst>
      <a:lnStyleLst>
        <a:ln w="6350" cap="flat" cmpd="sng" algn="ctr"/>
        <a:ln w="12700" cap="flat" cmpd="sng" algn="ctr"/>
        <a:ln w="19050" cap="flat" cmpd="sng" algn="ctr"/>
      </a:lnStyleLst>
      <a:effectStyleLst>
        <a:effectStyle>
          <a:effectLst/>
        </a:effectStyle>
        <a:effectStyle>
          <a:effectLst/>
        </a:effectStyle>
        <a:effectStyle>
          <a:effectLst/>
        </a:effectStyle>
      </a:effectStyleLst>
      <a:bgFillStyleLst>
        <a:solidFill>
          <a:schemeClr val="phClr"/>
        </a:solidFill>
        <a:solidFill>
          <a:schemeClr val="phClr"/>
        </a:solidFill>
        <a:gradFill rotWithShape="1">
          <a:gsLst>
            <a:gs pos="0">
              <a:schemeClr val="phClr"/>
            </a:gs>
            <a:gs pos="50000">
              <a:schemeClr val="phClr"/>
            </a:gs>
          </a:gsLst>
          <a:lin ang="5400000" scaled="0"/>
        </a:gradFill>
      </a:bgFillStyleLst>
    </a:fmtScheme>
  </a:themeElements>
  <a:objectDefaults/>
  <a:extraClrSchemeLst/>
</a:theme>
</file>

<file path=ppt/theme/theme5.xml><?xml version="1.0" encoding="utf-8"?>
<a:theme xmlns:a="http://schemas.openxmlformats.org/drawingml/2006/main" name="4_unioffice Theme">
  <a:themeElements>
    <a:clrScheme name="Office">
      <a:dk1>
        <a:sysClr val="windowText" lastClr="000000"/>
      </a:dk1>
      <a:lt1>
        <a:sysClr val="window" lastClr="FFFFFF"/>
      </a:lt1>
      <a:dk2>
        <a:srgbClr val="44546A"/>
      </a:dk2>
      <a:lt2>
        <a:srgbClr val="E7E7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gs>
            <a:gs pos="50000">
              <a:schemeClr val="phClr"/>
            </a:gs>
          </a:gsLst>
          <a:lin ang="5400000" scaled="0"/>
        </a:gradFill>
        <a:gradFill rotWithShape="1">
          <a:gsLst>
            <a:gs pos="0">
              <a:schemeClr val="phClr"/>
            </a:gs>
            <a:gs pos="50000">
              <a:schemeClr val="phClr"/>
            </a:gs>
          </a:gsLst>
          <a:lin ang="5400000" scaled="0"/>
        </a:gradFill>
      </a:fillStyleLst>
      <a:lnStyleLst>
        <a:ln w="6350" cap="flat" cmpd="sng" algn="ctr"/>
        <a:ln w="12700" cap="flat" cmpd="sng" algn="ctr"/>
        <a:ln w="19050" cap="flat" cmpd="sng" algn="ctr"/>
      </a:lnStyleLst>
      <a:effectStyleLst>
        <a:effectStyle>
          <a:effectLst/>
        </a:effectStyle>
        <a:effectStyle>
          <a:effectLst/>
        </a:effectStyle>
        <a:effectStyle>
          <a:effectLst/>
        </a:effectStyle>
      </a:effectStyleLst>
      <a:bgFillStyleLst>
        <a:solidFill>
          <a:schemeClr val="phClr"/>
        </a:solidFill>
        <a:solidFill>
          <a:schemeClr val="phClr"/>
        </a:solidFill>
        <a:gradFill rotWithShape="1">
          <a:gsLst>
            <a:gs pos="0">
              <a:schemeClr val="phClr"/>
            </a:gs>
            <a:gs pos="50000">
              <a:schemeClr val="phClr"/>
            </a:gs>
          </a:gsLst>
          <a:lin ang="5400000" scaled="0"/>
        </a:gradFill>
      </a:bgFillStyleLst>
    </a:fmtScheme>
  </a:themeElements>
  <a:objectDefaults/>
  <a:extraClrSchemeLst/>
</a:theme>
</file>

<file path=ppt/theme/theme6.xml><?xml version="1.0" encoding="utf-8"?>
<a:theme xmlns:a="http://schemas.openxmlformats.org/drawingml/2006/main" name="5_unioffice Theme">
  <a:themeElements>
    <a:clrScheme name="Office">
      <a:dk1>
        <a:sysClr val="windowText" lastClr="000000"/>
      </a:dk1>
      <a:lt1>
        <a:sysClr val="window" lastClr="FFFFFF"/>
      </a:lt1>
      <a:dk2>
        <a:srgbClr val="44546A"/>
      </a:dk2>
      <a:lt2>
        <a:srgbClr val="E7E7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gs>
            <a:gs pos="50000">
              <a:schemeClr val="phClr"/>
            </a:gs>
          </a:gsLst>
          <a:lin ang="5400000" scaled="0"/>
        </a:gradFill>
        <a:gradFill rotWithShape="1">
          <a:gsLst>
            <a:gs pos="0">
              <a:schemeClr val="phClr"/>
            </a:gs>
            <a:gs pos="50000">
              <a:schemeClr val="phClr"/>
            </a:gs>
          </a:gsLst>
          <a:lin ang="5400000" scaled="0"/>
        </a:gradFill>
      </a:fillStyleLst>
      <a:lnStyleLst>
        <a:ln w="6350" cap="flat" cmpd="sng" algn="ctr"/>
        <a:ln w="12700" cap="flat" cmpd="sng" algn="ctr"/>
        <a:ln w="19050" cap="flat" cmpd="sng" algn="ctr"/>
      </a:lnStyleLst>
      <a:effectStyleLst>
        <a:effectStyle>
          <a:effectLst/>
        </a:effectStyle>
        <a:effectStyle>
          <a:effectLst/>
        </a:effectStyle>
        <a:effectStyle>
          <a:effectLst/>
        </a:effectStyle>
      </a:effectStyleLst>
      <a:bgFillStyleLst>
        <a:solidFill>
          <a:schemeClr val="phClr"/>
        </a:solidFill>
        <a:solidFill>
          <a:schemeClr val="phClr"/>
        </a:solidFill>
        <a:gradFill rotWithShape="1">
          <a:gsLst>
            <a:gs pos="0">
              <a:schemeClr val="phClr"/>
            </a:gs>
            <a:gs pos="50000">
              <a:schemeClr val="phClr"/>
            </a:gs>
          </a:gsLst>
          <a:lin ang="5400000" scaled="0"/>
        </a:gradFill>
      </a:bgFillStyleLst>
    </a:fmtScheme>
  </a:themeElements>
  <a:objectDefaults/>
  <a:extraClrScheme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1957</Words>
  <Application>Microsoft Office PowerPoint</Application>
  <PresentationFormat>全屏显示(16:9)</PresentationFormat>
  <Paragraphs>115</Paragraphs>
  <Slides>17</Slides>
  <Notes>0</Notes>
  <HiddenSlides>0</HiddenSlides>
  <MMClips>0</MMClips>
  <ScaleCrop>false</ScaleCrop>
  <HeadingPairs>
    <vt:vector size="6" baseType="variant">
      <vt:variant>
        <vt:lpstr>已用的字体</vt:lpstr>
      </vt:variant>
      <vt:variant>
        <vt:i4>8</vt:i4>
      </vt:variant>
      <vt:variant>
        <vt:lpstr>主题</vt:lpstr>
      </vt:variant>
      <vt:variant>
        <vt:i4>6</vt:i4>
      </vt:variant>
      <vt:variant>
        <vt:lpstr>幻灯片标题</vt:lpstr>
      </vt:variant>
      <vt:variant>
        <vt:i4>17</vt:i4>
      </vt:variant>
    </vt:vector>
  </HeadingPairs>
  <TitlesOfParts>
    <vt:vector size="31" baseType="lpstr">
      <vt:lpstr>Noto Sans S Chinese Bold Bold</vt:lpstr>
      <vt:lpstr>Noto Sans S Chinese Regular</vt:lpstr>
      <vt:lpstr>创客贴稚圆体</vt:lpstr>
      <vt:lpstr>创客贴稚圆体 Bold Bold</vt:lpstr>
      <vt:lpstr>华文琥珀</vt:lpstr>
      <vt:lpstr>宋体</vt:lpstr>
      <vt:lpstr>Arial</vt:lpstr>
      <vt:lpstr>Calibri</vt:lpstr>
      <vt:lpstr>unioffice Theme</vt:lpstr>
      <vt:lpstr>1_unioffice Theme</vt:lpstr>
      <vt:lpstr>2_unioffice Theme</vt:lpstr>
      <vt:lpstr>3_unioffice Theme</vt:lpstr>
      <vt:lpstr>4_unioffice Theme</vt:lpstr>
      <vt:lpstr>5_unioffice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FoxyUtils ehf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TGR-W10</dc:creator>
  <cp:lastModifiedBy>h13625633873@outlook.com</cp:lastModifiedBy>
  <cp:revision>1</cp:revision>
  <dcterms:created xsi:type="dcterms:W3CDTF">2024-11-26T12:20:00Z</dcterms:created>
  <dcterms:modified xsi:type="dcterms:W3CDTF">2024-11-30T12:10:17Z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6A446AF88BD4491AA368D36E98E5FFD6_13</vt:lpwstr>
  </property>
  <property fmtid="{D5CDD505-2E9C-101B-9397-08002B2CF9AE}" pid="3" name="KSOProductBuildVer">
    <vt:lpwstr>2052-12.1.0.18608</vt:lpwstr>
  </property>
</Properties>
</file>