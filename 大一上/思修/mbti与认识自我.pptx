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wav" ContentType="audio/x-wav"/>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83" r:id="rId3"/>
    <p:sldId id="294" r:id="rId4"/>
    <p:sldId id="261" r:id="rId5"/>
    <p:sldId id="282" r:id="rId6"/>
    <p:sldId id="281" r:id="rId7"/>
    <p:sldId id="284" r:id="rId8"/>
    <p:sldId id="269" r:id="rId9"/>
    <p:sldId id="262" r:id="rId10"/>
    <p:sldId id="274" r:id="rId11"/>
    <p:sldId id="275" r:id="rId12"/>
    <p:sldId id="276" r:id="rId13"/>
    <p:sldId id="277" r:id="rId14"/>
    <p:sldId id="279" r:id="rId15"/>
    <p:sldId id="285" r:id="rId16"/>
    <p:sldId id="286" r:id="rId17"/>
    <p:sldId id="287" r:id="rId18"/>
    <p:sldId id="290" r:id="rId19"/>
    <p:sldId id="291" r:id="rId20"/>
    <p:sldId id="292" r:id="rId21"/>
    <p:sldId id="293" r:id="rId22"/>
  </p:sldIdLst>
  <p:sldSz cx="12192000" cy="6858000"/>
  <p:notesSz cx="6858000" cy="9144000"/>
  <p:embeddedFontLst>
    <p:embeddedFont>
      <p:font typeface="Segoe UI Black" panose="020B0A02040204020203" pitchFamily="34" charset="0"/>
      <p:bold r:id="rId23"/>
      <p:boldItalic r:id="rId24"/>
    </p:embeddedFont>
    <p:embeddedFont>
      <p:font typeface="程荣光刻楷" panose="03000503000000000000" pitchFamily="66" charset="-122"/>
      <p:regular r:id="rId25"/>
    </p:embeddedFont>
    <p:embeddedFont>
      <p:font typeface="等线" panose="02010600030101010101" pitchFamily="2" charset="-122"/>
      <p:regular r:id="rId26"/>
      <p:bold r:id="rId27"/>
    </p:embeddedFont>
    <p:embeddedFont>
      <p:font typeface="等线 Light" panose="02010600030101010101" pitchFamily="2" charset="-122"/>
      <p:regular r:id="rId28"/>
    </p:embeddedFont>
    <p:embeddedFont>
      <p:font typeface="华文琥珀" panose="02010800040101010101" pitchFamily="2" charset="-122"/>
      <p:regular r:id="rId29"/>
    </p:embeddedFont>
    <p:embeddedFont>
      <p:font typeface="华文楷体" panose="02010600040101010101" pitchFamily="2" charset="-122"/>
      <p:regular r:id="rId30"/>
    </p:embeddedFont>
    <p:embeddedFont>
      <p:font typeface="华文隶书" panose="02010800040101010101" pitchFamily="2" charset="-122"/>
      <p:regular r:id="rId31"/>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48" y="5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tableStyles" Target="tableStyle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2B0E20E-0784-FCC0-D2F8-01EA7002E7D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8BCE9893-B46D-2817-EBF3-E09EC8F73F0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DA03AECD-B40F-2DA7-9D39-48573D7C5559}"/>
              </a:ext>
            </a:extLst>
          </p:cNvPr>
          <p:cNvSpPr>
            <a:spLocks noGrp="1"/>
          </p:cNvSpPr>
          <p:nvPr>
            <p:ph type="dt" sz="half" idx="10"/>
          </p:nvPr>
        </p:nvSpPr>
        <p:spPr/>
        <p:txBody>
          <a:bodyPr/>
          <a:lstStyle/>
          <a:p>
            <a:fld id="{8E90CBDB-AECF-48C8-AFE1-5A36D3760FAE}" type="datetimeFigureOut">
              <a:rPr lang="zh-CN" altLang="en-US" smtClean="0"/>
              <a:t>2024/12/8</a:t>
            </a:fld>
            <a:endParaRPr lang="zh-CN" altLang="en-US"/>
          </a:p>
        </p:txBody>
      </p:sp>
      <p:sp>
        <p:nvSpPr>
          <p:cNvPr id="5" name="页脚占位符 4">
            <a:extLst>
              <a:ext uri="{FF2B5EF4-FFF2-40B4-BE49-F238E27FC236}">
                <a16:creationId xmlns:a16="http://schemas.microsoft.com/office/drawing/2014/main" id="{F687061F-A2FC-D99E-C0AD-9E07CA849896}"/>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6814966-3F59-8ADD-4BF7-1BC462B667A6}"/>
              </a:ext>
            </a:extLst>
          </p:cNvPr>
          <p:cNvSpPr>
            <a:spLocks noGrp="1"/>
          </p:cNvSpPr>
          <p:nvPr>
            <p:ph type="sldNum" sz="quarter" idx="12"/>
          </p:nvPr>
        </p:nvSpPr>
        <p:spPr/>
        <p:txBody>
          <a:bodyPr/>
          <a:lstStyle/>
          <a:p>
            <a:fld id="{A9125DA4-A981-4E2C-950C-EDA746D31700}" type="slidenum">
              <a:rPr lang="zh-CN" altLang="en-US" smtClean="0"/>
              <a:t>‹#›</a:t>
            </a:fld>
            <a:endParaRPr lang="zh-CN" altLang="en-US"/>
          </a:p>
        </p:txBody>
      </p:sp>
    </p:spTree>
    <p:extLst>
      <p:ext uri="{BB962C8B-B14F-4D97-AF65-F5344CB8AC3E}">
        <p14:creationId xmlns:p14="http://schemas.microsoft.com/office/powerpoint/2010/main" val="22333437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63E29EF-D88B-D3AD-28AF-9173D3372393}"/>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8B97B90-8D9C-8E9B-C64D-A202836505B4}"/>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FC3A6FF-4A3B-7A5C-9B72-2B065DC44A87}"/>
              </a:ext>
            </a:extLst>
          </p:cNvPr>
          <p:cNvSpPr>
            <a:spLocks noGrp="1"/>
          </p:cNvSpPr>
          <p:nvPr>
            <p:ph type="dt" sz="half" idx="10"/>
          </p:nvPr>
        </p:nvSpPr>
        <p:spPr/>
        <p:txBody>
          <a:bodyPr/>
          <a:lstStyle/>
          <a:p>
            <a:fld id="{8E90CBDB-AECF-48C8-AFE1-5A36D3760FAE}" type="datetimeFigureOut">
              <a:rPr lang="zh-CN" altLang="en-US" smtClean="0"/>
              <a:t>2024/12/8</a:t>
            </a:fld>
            <a:endParaRPr lang="zh-CN" altLang="en-US"/>
          </a:p>
        </p:txBody>
      </p:sp>
      <p:sp>
        <p:nvSpPr>
          <p:cNvPr id="5" name="页脚占位符 4">
            <a:extLst>
              <a:ext uri="{FF2B5EF4-FFF2-40B4-BE49-F238E27FC236}">
                <a16:creationId xmlns:a16="http://schemas.microsoft.com/office/drawing/2014/main" id="{EE6A1089-93D0-6DA1-2433-5FB6E1197649}"/>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6506984-0F63-EA85-2D95-80F596E36A16}"/>
              </a:ext>
            </a:extLst>
          </p:cNvPr>
          <p:cNvSpPr>
            <a:spLocks noGrp="1"/>
          </p:cNvSpPr>
          <p:nvPr>
            <p:ph type="sldNum" sz="quarter" idx="12"/>
          </p:nvPr>
        </p:nvSpPr>
        <p:spPr/>
        <p:txBody>
          <a:bodyPr/>
          <a:lstStyle/>
          <a:p>
            <a:fld id="{A9125DA4-A981-4E2C-950C-EDA746D31700}" type="slidenum">
              <a:rPr lang="zh-CN" altLang="en-US" smtClean="0"/>
              <a:t>‹#›</a:t>
            </a:fld>
            <a:endParaRPr lang="zh-CN" altLang="en-US"/>
          </a:p>
        </p:txBody>
      </p:sp>
    </p:spTree>
    <p:extLst>
      <p:ext uri="{BB962C8B-B14F-4D97-AF65-F5344CB8AC3E}">
        <p14:creationId xmlns:p14="http://schemas.microsoft.com/office/powerpoint/2010/main" val="19164844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F095713-A2B7-4942-375F-C9E19E3F21C1}"/>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74EBEFE7-07BB-9B1B-FBC9-958BE8AA8E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DF8384A7-B243-D0FA-FF25-8CE46F34A900}"/>
              </a:ext>
            </a:extLst>
          </p:cNvPr>
          <p:cNvSpPr>
            <a:spLocks noGrp="1"/>
          </p:cNvSpPr>
          <p:nvPr>
            <p:ph type="dt" sz="half" idx="10"/>
          </p:nvPr>
        </p:nvSpPr>
        <p:spPr/>
        <p:txBody>
          <a:bodyPr/>
          <a:lstStyle/>
          <a:p>
            <a:fld id="{8E90CBDB-AECF-48C8-AFE1-5A36D3760FAE}" type="datetimeFigureOut">
              <a:rPr lang="zh-CN" altLang="en-US" smtClean="0"/>
              <a:t>2024/12/8</a:t>
            </a:fld>
            <a:endParaRPr lang="zh-CN" altLang="en-US"/>
          </a:p>
        </p:txBody>
      </p:sp>
      <p:sp>
        <p:nvSpPr>
          <p:cNvPr id="5" name="页脚占位符 4">
            <a:extLst>
              <a:ext uri="{FF2B5EF4-FFF2-40B4-BE49-F238E27FC236}">
                <a16:creationId xmlns:a16="http://schemas.microsoft.com/office/drawing/2014/main" id="{FC2176B6-A311-405F-9888-7BF6ADA73065}"/>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44B1C15-C913-19FE-4E67-C7B740DAB672}"/>
              </a:ext>
            </a:extLst>
          </p:cNvPr>
          <p:cNvSpPr>
            <a:spLocks noGrp="1"/>
          </p:cNvSpPr>
          <p:nvPr>
            <p:ph type="sldNum" sz="quarter" idx="12"/>
          </p:nvPr>
        </p:nvSpPr>
        <p:spPr/>
        <p:txBody>
          <a:bodyPr/>
          <a:lstStyle/>
          <a:p>
            <a:fld id="{A9125DA4-A981-4E2C-950C-EDA746D31700}" type="slidenum">
              <a:rPr lang="zh-CN" altLang="en-US" smtClean="0"/>
              <a:t>‹#›</a:t>
            </a:fld>
            <a:endParaRPr lang="zh-CN" altLang="en-US"/>
          </a:p>
        </p:txBody>
      </p:sp>
    </p:spTree>
    <p:extLst>
      <p:ext uri="{BB962C8B-B14F-4D97-AF65-F5344CB8AC3E}">
        <p14:creationId xmlns:p14="http://schemas.microsoft.com/office/powerpoint/2010/main" val="20652249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D7CE7F63-2B18-716A-5805-E9D3AD640BCF}"/>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7CF55186-69A1-84E6-DFF1-0CA77CC74089}"/>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0E909923-2E1A-6A73-AEB7-FD799C369F52}"/>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4F58C7E1-4BFF-3C1E-308B-3E533A16C70F}"/>
              </a:ext>
            </a:extLst>
          </p:cNvPr>
          <p:cNvSpPr>
            <a:spLocks noGrp="1"/>
          </p:cNvSpPr>
          <p:nvPr>
            <p:ph type="dt" sz="half" idx="10"/>
          </p:nvPr>
        </p:nvSpPr>
        <p:spPr/>
        <p:txBody>
          <a:bodyPr/>
          <a:lstStyle/>
          <a:p>
            <a:fld id="{8E90CBDB-AECF-48C8-AFE1-5A36D3760FAE}" type="datetimeFigureOut">
              <a:rPr lang="zh-CN" altLang="en-US" smtClean="0"/>
              <a:t>2024/12/8</a:t>
            </a:fld>
            <a:endParaRPr lang="zh-CN" altLang="en-US"/>
          </a:p>
        </p:txBody>
      </p:sp>
      <p:sp>
        <p:nvSpPr>
          <p:cNvPr id="6" name="页脚占位符 5">
            <a:extLst>
              <a:ext uri="{FF2B5EF4-FFF2-40B4-BE49-F238E27FC236}">
                <a16:creationId xmlns:a16="http://schemas.microsoft.com/office/drawing/2014/main" id="{7EBFA4CD-EA47-6F25-D7F7-B5C664B9B66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33A15E1-528B-09F9-68C8-E0D7AD411DA9}"/>
              </a:ext>
            </a:extLst>
          </p:cNvPr>
          <p:cNvSpPr>
            <a:spLocks noGrp="1"/>
          </p:cNvSpPr>
          <p:nvPr>
            <p:ph type="sldNum" sz="quarter" idx="12"/>
          </p:nvPr>
        </p:nvSpPr>
        <p:spPr/>
        <p:txBody>
          <a:bodyPr/>
          <a:lstStyle/>
          <a:p>
            <a:fld id="{A9125DA4-A981-4E2C-950C-EDA746D31700}" type="slidenum">
              <a:rPr lang="zh-CN" altLang="en-US" smtClean="0"/>
              <a:t>‹#›</a:t>
            </a:fld>
            <a:endParaRPr lang="zh-CN" altLang="en-US"/>
          </a:p>
        </p:txBody>
      </p:sp>
    </p:spTree>
    <p:extLst>
      <p:ext uri="{BB962C8B-B14F-4D97-AF65-F5344CB8AC3E}">
        <p14:creationId xmlns:p14="http://schemas.microsoft.com/office/powerpoint/2010/main" val="419935604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7EEB17-DE5E-949B-D717-1BB07F54ECBC}"/>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B541350A-3CD8-4ADB-23FF-855A50BAAB2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F1DC7CB3-9C2E-1245-3775-AF72840B0FF7}"/>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3414FAA4-0205-28F7-395E-9B561E9B56D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8403576A-43C1-E65F-7705-80F4F3056D4D}"/>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C74BBBB5-D693-02B0-50CF-BF4950FE3BA9}"/>
              </a:ext>
            </a:extLst>
          </p:cNvPr>
          <p:cNvSpPr>
            <a:spLocks noGrp="1"/>
          </p:cNvSpPr>
          <p:nvPr>
            <p:ph type="dt" sz="half" idx="10"/>
          </p:nvPr>
        </p:nvSpPr>
        <p:spPr/>
        <p:txBody>
          <a:bodyPr/>
          <a:lstStyle/>
          <a:p>
            <a:fld id="{8E90CBDB-AECF-48C8-AFE1-5A36D3760FAE}" type="datetimeFigureOut">
              <a:rPr lang="zh-CN" altLang="en-US" smtClean="0"/>
              <a:t>2024/12/8</a:t>
            </a:fld>
            <a:endParaRPr lang="zh-CN" altLang="en-US"/>
          </a:p>
        </p:txBody>
      </p:sp>
      <p:sp>
        <p:nvSpPr>
          <p:cNvPr id="8" name="页脚占位符 7">
            <a:extLst>
              <a:ext uri="{FF2B5EF4-FFF2-40B4-BE49-F238E27FC236}">
                <a16:creationId xmlns:a16="http://schemas.microsoft.com/office/drawing/2014/main" id="{02C4B1CD-C990-8DA4-F299-074D496B4BFC}"/>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01506D9E-99C8-468B-0C4F-C343025EA8EE}"/>
              </a:ext>
            </a:extLst>
          </p:cNvPr>
          <p:cNvSpPr>
            <a:spLocks noGrp="1"/>
          </p:cNvSpPr>
          <p:nvPr>
            <p:ph type="sldNum" sz="quarter" idx="12"/>
          </p:nvPr>
        </p:nvSpPr>
        <p:spPr/>
        <p:txBody>
          <a:bodyPr/>
          <a:lstStyle/>
          <a:p>
            <a:fld id="{A9125DA4-A981-4E2C-950C-EDA746D31700}" type="slidenum">
              <a:rPr lang="zh-CN" altLang="en-US" smtClean="0"/>
              <a:t>‹#›</a:t>
            </a:fld>
            <a:endParaRPr lang="zh-CN" altLang="en-US"/>
          </a:p>
        </p:txBody>
      </p:sp>
    </p:spTree>
    <p:extLst>
      <p:ext uri="{BB962C8B-B14F-4D97-AF65-F5344CB8AC3E}">
        <p14:creationId xmlns:p14="http://schemas.microsoft.com/office/powerpoint/2010/main" val="14945215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E185E00-5837-2608-8EA1-1B907BFDCEB3}"/>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CC9E48E2-ED86-6CA6-840A-6182C6B1D6D2}"/>
              </a:ext>
            </a:extLst>
          </p:cNvPr>
          <p:cNvSpPr>
            <a:spLocks noGrp="1"/>
          </p:cNvSpPr>
          <p:nvPr>
            <p:ph type="dt" sz="half" idx="10"/>
          </p:nvPr>
        </p:nvSpPr>
        <p:spPr/>
        <p:txBody>
          <a:bodyPr/>
          <a:lstStyle/>
          <a:p>
            <a:fld id="{8E90CBDB-AECF-48C8-AFE1-5A36D3760FAE}" type="datetimeFigureOut">
              <a:rPr lang="zh-CN" altLang="en-US" smtClean="0"/>
              <a:t>2024/12/8</a:t>
            </a:fld>
            <a:endParaRPr lang="zh-CN" altLang="en-US"/>
          </a:p>
        </p:txBody>
      </p:sp>
      <p:sp>
        <p:nvSpPr>
          <p:cNvPr id="4" name="页脚占位符 3">
            <a:extLst>
              <a:ext uri="{FF2B5EF4-FFF2-40B4-BE49-F238E27FC236}">
                <a16:creationId xmlns:a16="http://schemas.microsoft.com/office/drawing/2014/main" id="{8B334447-E9FA-1C8A-7A0C-FC7FB4AD87EC}"/>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7EE63126-0EC1-870C-A135-037C3DEF6B7B}"/>
              </a:ext>
            </a:extLst>
          </p:cNvPr>
          <p:cNvSpPr>
            <a:spLocks noGrp="1"/>
          </p:cNvSpPr>
          <p:nvPr>
            <p:ph type="sldNum" sz="quarter" idx="12"/>
          </p:nvPr>
        </p:nvSpPr>
        <p:spPr/>
        <p:txBody>
          <a:bodyPr/>
          <a:lstStyle/>
          <a:p>
            <a:fld id="{A9125DA4-A981-4E2C-950C-EDA746D31700}" type="slidenum">
              <a:rPr lang="zh-CN" altLang="en-US" smtClean="0"/>
              <a:t>‹#›</a:t>
            </a:fld>
            <a:endParaRPr lang="zh-CN" altLang="en-US"/>
          </a:p>
        </p:txBody>
      </p:sp>
    </p:spTree>
    <p:extLst>
      <p:ext uri="{BB962C8B-B14F-4D97-AF65-F5344CB8AC3E}">
        <p14:creationId xmlns:p14="http://schemas.microsoft.com/office/powerpoint/2010/main" val="30176119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21BD9E8-6309-476E-3A1F-FF755D160F90}"/>
              </a:ext>
            </a:extLst>
          </p:cNvPr>
          <p:cNvSpPr>
            <a:spLocks noGrp="1"/>
          </p:cNvSpPr>
          <p:nvPr>
            <p:ph type="dt" sz="half" idx="10"/>
          </p:nvPr>
        </p:nvSpPr>
        <p:spPr/>
        <p:txBody>
          <a:bodyPr/>
          <a:lstStyle/>
          <a:p>
            <a:fld id="{8E90CBDB-AECF-48C8-AFE1-5A36D3760FAE}" type="datetimeFigureOut">
              <a:rPr lang="zh-CN" altLang="en-US" smtClean="0"/>
              <a:t>2024/12/8</a:t>
            </a:fld>
            <a:endParaRPr lang="zh-CN" altLang="en-US"/>
          </a:p>
        </p:txBody>
      </p:sp>
      <p:sp>
        <p:nvSpPr>
          <p:cNvPr id="3" name="页脚占位符 2">
            <a:extLst>
              <a:ext uri="{FF2B5EF4-FFF2-40B4-BE49-F238E27FC236}">
                <a16:creationId xmlns:a16="http://schemas.microsoft.com/office/drawing/2014/main" id="{DCA5C073-DD0B-DA13-8575-EE689BE3A144}"/>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C8E20869-AFD3-C772-5F8D-493AEEB407E6}"/>
              </a:ext>
            </a:extLst>
          </p:cNvPr>
          <p:cNvSpPr>
            <a:spLocks noGrp="1"/>
          </p:cNvSpPr>
          <p:nvPr>
            <p:ph type="sldNum" sz="quarter" idx="12"/>
          </p:nvPr>
        </p:nvSpPr>
        <p:spPr/>
        <p:txBody>
          <a:bodyPr/>
          <a:lstStyle/>
          <a:p>
            <a:fld id="{A9125DA4-A981-4E2C-950C-EDA746D31700}" type="slidenum">
              <a:rPr lang="zh-CN" altLang="en-US" smtClean="0"/>
              <a:t>‹#›</a:t>
            </a:fld>
            <a:endParaRPr lang="zh-CN" altLang="en-US"/>
          </a:p>
        </p:txBody>
      </p:sp>
    </p:spTree>
    <p:extLst>
      <p:ext uri="{BB962C8B-B14F-4D97-AF65-F5344CB8AC3E}">
        <p14:creationId xmlns:p14="http://schemas.microsoft.com/office/powerpoint/2010/main" val="17019491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4D1D0E-CFFC-924F-8E84-8875577DB136}"/>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16DEDE27-0040-6166-9F47-F9DC5035A0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D34286BD-E8BE-E41B-E8F7-2228809B581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7113F706-2979-B669-DFA5-808C72FED383}"/>
              </a:ext>
            </a:extLst>
          </p:cNvPr>
          <p:cNvSpPr>
            <a:spLocks noGrp="1"/>
          </p:cNvSpPr>
          <p:nvPr>
            <p:ph type="dt" sz="half" idx="10"/>
          </p:nvPr>
        </p:nvSpPr>
        <p:spPr/>
        <p:txBody>
          <a:bodyPr/>
          <a:lstStyle/>
          <a:p>
            <a:fld id="{8E90CBDB-AECF-48C8-AFE1-5A36D3760FAE}" type="datetimeFigureOut">
              <a:rPr lang="zh-CN" altLang="en-US" smtClean="0"/>
              <a:t>2024/12/8</a:t>
            </a:fld>
            <a:endParaRPr lang="zh-CN" altLang="en-US"/>
          </a:p>
        </p:txBody>
      </p:sp>
      <p:sp>
        <p:nvSpPr>
          <p:cNvPr id="6" name="页脚占位符 5">
            <a:extLst>
              <a:ext uri="{FF2B5EF4-FFF2-40B4-BE49-F238E27FC236}">
                <a16:creationId xmlns:a16="http://schemas.microsoft.com/office/drawing/2014/main" id="{5AE3090E-C825-C958-EA59-230BDD270909}"/>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FCA8A6F1-1691-85F9-A0EC-00C5428E34F9}"/>
              </a:ext>
            </a:extLst>
          </p:cNvPr>
          <p:cNvSpPr>
            <a:spLocks noGrp="1"/>
          </p:cNvSpPr>
          <p:nvPr>
            <p:ph type="sldNum" sz="quarter" idx="12"/>
          </p:nvPr>
        </p:nvSpPr>
        <p:spPr/>
        <p:txBody>
          <a:bodyPr/>
          <a:lstStyle/>
          <a:p>
            <a:fld id="{A9125DA4-A981-4E2C-950C-EDA746D31700}" type="slidenum">
              <a:rPr lang="zh-CN" altLang="en-US" smtClean="0"/>
              <a:t>‹#›</a:t>
            </a:fld>
            <a:endParaRPr lang="zh-CN" altLang="en-US"/>
          </a:p>
        </p:txBody>
      </p:sp>
    </p:spTree>
    <p:extLst>
      <p:ext uri="{BB962C8B-B14F-4D97-AF65-F5344CB8AC3E}">
        <p14:creationId xmlns:p14="http://schemas.microsoft.com/office/powerpoint/2010/main" val="24800582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01314E-EA3C-4F1F-8381-E4526D3C6310}"/>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808B0CAA-40BD-D6C5-BB7B-F8084BD1FD8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7ED4A462-D69D-DECD-FC69-DE9C1FEBDC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0F23ADD-F0C4-E7CB-B91D-FD912BE51FB7}"/>
              </a:ext>
            </a:extLst>
          </p:cNvPr>
          <p:cNvSpPr>
            <a:spLocks noGrp="1"/>
          </p:cNvSpPr>
          <p:nvPr>
            <p:ph type="dt" sz="half" idx="10"/>
          </p:nvPr>
        </p:nvSpPr>
        <p:spPr/>
        <p:txBody>
          <a:bodyPr/>
          <a:lstStyle/>
          <a:p>
            <a:fld id="{8E90CBDB-AECF-48C8-AFE1-5A36D3760FAE}" type="datetimeFigureOut">
              <a:rPr lang="zh-CN" altLang="en-US" smtClean="0"/>
              <a:t>2024/12/8</a:t>
            </a:fld>
            <a:endParaRPr lang="zh-CN" altLang="en-US"/>
          </a:p>
        </p:txBody>
      </p:sp>
      <p:sp>
        <p:nvSpPr>
          <p:cNvPr id="6" name="页脚占位符 5">
            <a:extLst>
              <a:ext uri="{FF2B5EF4-FFF2-40B4-BE49-F238E27FC236}">
                <a16:creationId xmlns:a16="http://schemas.microsoft.com/office/drawing/2014/main" id="{9AC0336F-3D0B-4FC3-59E1-710721A404BE}"/>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5F9D0C46-CDE5-6235-7D6E-2077A8470870}"/>
              </a:ext>
            </a:extLst>
          </p:cNvPr>
          <p:cNvSpPr>
            <a:spLocks noGrp="1"/>
          </p:cNvSpPr>
          <p:nvPr>
            <p:ph type="sldNum" sz="quarter" idx="12"/>
          </p:nvPr>
        </p:nvSpPr>
        <p:spPr/>
        <p:txBody>
          <a:bodyPr/>
          <a:lstStyle/>
          <a:p>
            <a:fld id="{A9125DA4-A981-4E2C-950C-EDA746D31700}" type="slidenum">
              <a:rPr lang="zh-CN" altLang="en-US" smtClean="0"/>
              <a:t>‹#›</a:t>
            </a:fld>
            <a:endParaRPr lang="zh-CN" altLang="en-US"/>
          </a:p>
        </p:txBody>
      </p:sp>
    </p:spTree>
    <p:extLst>
      <p:ext uri="{BB962C8B-B14F-4D97-AF65-F5344CB8AC3E}">
        <p14:creationId xmlns:p14="http://schemas.microsoft.com/office/powerpoint/2010/main" val="9440760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774F468-24EC-9862-3F2C-83AB22923673}"/>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DB305C83-E939-4A09-9322-A235B702CD1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78875A95-5907-DAC7-3925-53A96B3BC9D2}"/>
              </a:ext>
            </a:extLst>
          </p:cNvPr>
          <p:cNvSpPr>
            <a:spLocks noGrp="1"/>
          </p:cNvSpPr>
          <p:nvPr>
            <p:ph type="dt" sz="half" idx="10"/>
          </p:nvPr>
        </p:nvSpPr>
        <p:spPr/>
        <p:txBody>
          <a:bodyPr/>
          <a:lstStyle/>
          <a:p>
            <a:fld id="{8E90CBDB-AECF-48C8-AFE1-5A36D3760FAE}" type="datetimeFigureOut">
              <a:rPr lang="zh-CN" altLang="en-US" smtClean="0"/>
              <a:t>2024/12/8</a:t>
            </a:fld>
            <a:endParaRPr lang="zh-CN" altLang="en-US"/>
          </a:p>
        </p:txBody>
      </p:sp>
      <p:sp>
        <p:nvSpPr>
          <p:cNvPr id="5" name="页脚占位符 4">
            <a:extLst>
              <a:ext uri="{FF2B5EF4-FFF2-40B4-BE49-F238E27FC236}">
                <a16:creationId xmlns:a16="http://schemas.microsoft.com/office/drawing/2014/main" id="{1506CEF3-6ABD-D895-65BB-0AB5CF13A8F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5B1367FE-44FD-BD0D-18F1-E406F1E18710}"/>
              </a:ext>
            </a:extLst>
          </p:cNvPr>
          <p:cNvSpPr>
            <a:spLocks noGrp="1"/>
          </p:cNvSpPr>
          <p:nvPr>
            <p:ph type="sldNum" sz="quarter" idx="12"/>
          </p:nvPr>
        </p:nvSpPr>
        <p:spPr/>
        <p:txBody>
          <a:bodyPr/>
          <a:lstStyle/>
          <a:p>
            <a:fld id="{A9125DA4-A981-4E2C-950C-EDA746D31700}" type="slidenum">
              <a:rPr lang="zh-CN" altLang="en-US" smtClean="0"/>
              <a:t>‹#›</a:t>
            </a:fld>
            <a:endParaRPr lang="zh-CN" altLang="en-US"/>
          </a:p>
        </p:txBody>
      </p:sp>
    </p:spTree>
    <p:extLst>
      <p:ext uri="{BB962C8B-B14F-4D97-AF65-F5344CB8AC3E}">
        <p14:creationId xmlns:p14="http://schemas.microsoft.com/office/powerpoint/2010/main" val="410996885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4020A484-A0F1-B69B-CD63-5AF3605CE513}"/>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762D0BC2-996A-72BD-AB20-B3A9F5DA4B81}"/>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CD64A45E-7967-6FF3-D989-ADE77FA7F853}"/>
              </a:ext>
            </a:extLst>
          </p:cNvPr>
          <p:cNvSpPr>
            <a:spLocks noGrp="1"/>
          </p:cNvSpPr>
          <p:nvPr>
            <p:ph type="dt" sz="half" idx="10"/>
          </p:nvPr>
        </p:nvSpPr>
        <p:spPr/>
        <p:txBody>
          <a:bodyPr/>
          <a:lstStyle/>
          <a:p>
            <a:fld id="{8E90CBDB-AECF-48C8-AFE1-5A36D3760FAE}" type="datetimeFigureOut">
              <a:rPr lang="zh-CN" altLang="en-US" smtClean="0"/>
              <a:t>2024/12/8</a:t>
            </a:fld>
            <a:endParaRPr lang="zh-CN" altLang="en-US"/>
          </a:p>
        </p:txBody>
      </p:sp>
      <p:sp>
        <p:nvSpPr>
          <p:cNvPr id="5" name="页脚占位符 4">
            <a:extLst>
              <a:ext uri="{FF2B5EF4-FFF2-40B4-BE49-F238E27FC236}">
                <a16:creationId xmlns:a16="http://schemas.microsoft.com/office/drawing/2014/main" id="{670D82CF-17A2-7F0E-36EE-9B186B20D07B}"/>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111181CE-C19C-5FAF-8E2D-D6E0C39F028C}"/>
              </a:ext>
            </a:extLst>
          </p:cNvPr>
          <p:cNvSpPr>
            <a:spLocks noGrp="1"/>
          </p:cNvSpPr>
          <p:nvPr>
            <p:ph type="sldNum" sz="quarter" idx="12"/>
          </p:nvPr>
        </p:nvSpPr>
        <p:spPr/>
        <p:txBody>
          <a:bodyPr/>
          <a:lstStyle/>
          <a:p>
            <a:fld id="{A9125DA4-A981-4E2C-950C-EDA746D31700}" type="slidenum">
              <a:rPr lang="zh-CN" altLang="en-US" smtClean="0"/>
              <a:t>‹#›</a:t>
            </a:fld>
            <a:endParaRPr lang="zh-CN" altLang="en-US"/>
          </a:p>
        </p:txBody>
      </p:sp>
    </p:spTree>
    <p:extLst>
      <p:ext uri="{BB962C8B-B14F-4D97-AF65-F5344CB8AC3E}">
        <p14:creationId xmlns:p14="http://schemas.microsoft.com/office/powerpoint/2010/main" val="415575977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C2017DEE-81AE-D14C-57BC-DAFD51C8D8A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EA25A8FB-7F08-63C7-517A-56BB379102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8FB80C33-527F-54B3-8EE2-16637F91C5C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E90CBDB-AECF-48C8-AFE1-5A36D3760FAE}" type="datetimeFigureOut">
              <a:rPr lang="zh-CN" altLang="en-US" smtClean="0"/>
              <a:t>2024/12/8</a:t>
            </a:fld>
            <a:endParaRPr lang="zh-CN" altLang="en-US"/>
          </a:p>
        </p:txBody>
      </p:sp>
      <p:sp>
        <p:nvSpPr>
          <p:cNvPr id="5" name="页脚占位符 4">
            <a:extLst>
              <a:ext uri="{FF2B5EF4-FFF2-40B4-BE49-F238E27FC236}">
                <a16:creationId xmlns:a16="http://schemas.microsoft.com/office/drawing/2014/main" id="{E85BC97E-8131-F977-76D8-87D2E0F3DF8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72EA0C1B-4D31-4DBB-FD38-CDFDC63C36A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125DA4-A981-4E2C-950C-EDA746D31700}" type="slidenum">
              <a:rPr lang="zh-CN" altLang="en-US" smtClean="0"/>
              <a:t>‹#›</a:t>
            </a:fld>
            <a:endParaRPr lang="zh-CN" altLang="en-US"/>
          </a:p>
        </p:txBody>
      </p:sp>
    </p:spTree>
    <p:extLst>
      <p:ext uri="{BB962C8B-B14F-4D97-AF65-F5344CB8AC3E}">
        <p14:creationId xmlns:p14="http://schemas.microsoft.com/office/powerpoint/2010/main" val="24181323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jpe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6.png"/><Relationship Id="rId7" Type="http://schemas.openxmlformats.org/officeDocument/2006/relationships/image" Target="../media/image12.png"/><Relationship Id="rId2" Type="http://schemas.openxmlformats.org/officeDocument/2006/relationships/image" Target="../media/image15.jp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17.png"/><Relationship Id="rId9" Type="http://schemas.openxmlformats.org/officeDocument/2006/relationships/image" Target="../media/image18.png"/></Relationships>
</file>

<file path=ppt/slides/_rels/slide12.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16.png"/><Relationship Id="rId7" Type="http://schemas.openxmlformats.org/officeDocument/2006/relationships/image" Target="../media/image12.png"/><Relationship Id="rId2" Type="http://schemas.openxmlformats.org/officeDocument/2006/relationships/image" Target="../media/image15.jpg"/><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17.png"/><Relationship Id="rId9" Type="http://schemas.openxmlformats.org/officeDocument/2006/relationships/image" Target="../media/image18.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19.jp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19.jp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audio" Target="../media/audio1.wav"/><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矩形 6">
            <a:extLst>
              <a:ext uri="{FF2B5EF4-FFF2-40B4-BE49-F238E27FC236}">
                <a16:creationId xmlns:a16="http://schemas.microsoft.com/office/drawing/2014/main" id="{34DD5F61-A7AC-1823-52CA-397D6B08BB80}"/>
              </a:ext>
            </a:extLst>
          </p:cNvPr>
          <p:cNvSpPr/>
          <p:nvPr/>
        </p:nvSpPr>
        <p:spPr>
          <a:xfrm>
            <a:off x="-347134" y="-414866"/>
            <a:ext cx="12886267" cy="7272866"/>
          </a:xfrm>
          <a:prstGeom prst="rect">
            <a:avLst/>
          </a:prstGeom>
          <a:solidFill>
            <a:schemeClr val="bg1">
              <a:alpha val="73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useBgFill="1">
        <p:nvSpPr>
          <p:cNvPr id="13" name="任意多边形: 形状 12">
            <a:extLst>
              <a:ext uri="{FF2B5EF4-FFF2-40B4-BE49-F238E27FC236}">
                <a16:creationId xmlns:a16="http://schemas.microsoft.com/office/drawing/2014/main" id="{4B1EBD1E-125C-0058-8001-57238030185F}"/>
              </a:ext>
            </a:extLst>
          </p:cNvPr>
          <p:cNvSpPr/>
          <p:nvPr/>
        </p:nvSpPr>
        <p:spPr>
          <a:xfrm rot="18292778">
            <a:off x="6936451" y="-390708"/>
            <a:ext cx="7513181" cy="5227051"/>
          </a:xfrm>
          <a:custGeom>
            <a:avLst/>
            <a:gdLst>
              <a:gd name="connsiteX0" fmla="*/ 278867 w 1508745"/>
              <a:gd name="connsiteY0" fmla="*/ 110647 h 625964"/>
              <a:gd name="connsiteX1" fmla="*/ 278867 w 1508745"/>
              <a:gd name="connsiteY1" fmla="*/ 110647 h 625964"/>
              <a:gd name="connsiteX2" fmla="*/ 278867 w 1508745"/>
              <a:gd name="connsiteY2" fmla="*/ 110647 h 625964"/>
              <a:gd name="connsiteX3" fmla="*/ 1138907 w 1508745"/>
              <a:gd name="connsiteY3" fmla="*/ 497414 h 625964"/>
              <a:gd name="connsiteX4" fmla="*/ 1139093 w 1508745"/>
              <a:gd name="connsiteY4" fmla="*/ 497600 h 625964"/>
              <a:gd name="connsiteX5" fmla="*/ 1138907 w 1508745"/>
              <a:gd name="connsiteY5" fmla="*/ 497414 h 625964"/>
              <a:gd name="connsiteX6" fmla="*/ 461925 w 1508745"/>
              <a:gd name="connsiteY6" fmla="*/ 521040 h 625964"/>
              <a:gd name="connsiteX7" fmla="*/ 461367 w 1508745"/>
              <a:gd name="connsiteY7" fmla="*/ 521040 h 625964"/>
              <a:gd name="connsiteX8" fmla="*/ 461925 w 1508745"/>
              <a:gd name="connsiteY8" fmla="*/ 521040 h 625964"/>
              <a:gd name="connsiteX9" fmla="*/ 75158 w 1508745"/>
              <a:gd name="connsiteY9" fmla="*/ 590990 h 625964"/>
              <a:gd name="connsiteX10" fmla="*/ 75158 w 1508745"/>
              <a:gd name="connsiteY10" fmla="*/ 590990 h 625964"/>
              <a:gd name="connsiteX11" fmla="*/ 74786 w 1508745"/>
              <a:gd name="connsiteY11" fmla="*/ 590990 h 625964"/>
              <a:gd name="connsiteX12" fmla="*/ 75158 w 1508745"/>
              <a:gd name="connsiteY12" fmla="*/ 590990 h 625964"/>
              <a:gd name="connsiteX13" fmla="*/ 656890 w 1508745"/>
              <a:gd name="connsiteY13" fmla="*/ 618709 h 625964"/>
              <a:gd name="connsiteX14" fmla="*/ 656704 w 1508745"/>
              <a:gd name="connsiteY14" fmla="*/ 618523 h 625964"/>
              <a:gd name="connsiteX15" fmla="*/ 656518 w 1508745"/>
              <a:gd name="connsiteY15" fmla="*/ 618523 h 625964"/>
              <a:gd name="connsiteX16" fmla="*/ 656890 w 1508745"/>
              <a:gd name="connsiteY16" fmla="*/ 618709 h 625964"/>
              <a:gd name="connsiteX17" fmla="*/ 784324 w 1508745"/>
              <a:gd name="connsiteY17" fmla="*/ 625964 h 625964"/>
              <a:gd name="connsiteX18" fmla="*/ 784324 w 1508745"/>
              <a:gd name="connsiteY18" fmla="*/ 625964 h 625964"/>
              <a:gd name="connsiteX19" fmla="*/ 784138 w 1508745"/>
              <a:gd name="connsiteY19" fmla="*/ 625964 h 625964"/>
              <a:gd name="connsiteX20" fmla="*/ 784324 w 1508745"/>
              <a:gd name="connsiteY20" fmla="*/ 625964 h 625964"/>
              <a:gd name="connsiteX21" fmla="*/ 299331 w 1508745"/>
              <a:gd name="connsiteY21" fmla="*/ 110647 h 625964"/>
              <a:gd name="connsiteX22" fmla="*/ 299517 w 1508745"/>
              <a:gd name="connsiteY22" fmla="*/ 110647 h 625964"/>
              <a:gd name="connsiteX23" fmla="*/ 299331 w 1508745"/>
              <a:gd name="connsiteY23" fmla="*/ 110647 h 625964"/>
              <a:gd name="connsiteX24" fmla="*/ 828787 w 1508745"/>
              <a:gd name="connsiteY24" fmla="*/ 35116 h 625964"/>
              <a:gd name="connsiteX25" fmla="*/ 841623 w 1508745"/>
              <a:gd name="connsiteY25" fmla="*/ 37163 h 625964"/>
              <a:gd name="connsiteX26" fmla="*/ 886458 w 1508745"/>
              <a:gd name="connsiteY26" fmla="*/ 37163 h 625964"/>
              <a:gd name="connsiteX27" fmla="*/ 900224 w 1508745"/>
              <a:gd name="connsiteY27" fmla="*/ 35675 h 625964"/>
              <a:gd name="connsiteX28" fmla="*/ 1214624 w 1508745"/>
              <a:gd name="connsiteY28" fmla="*/ 35675 h 625964"/>
              <a:gd name="connsiteX29" fmla="*/ 1228390 w 1508745"/>
              <a:gd name="connsiteY29" fmla="*/ 37163 h 625964"/>
              <a:gd name="connsiteX30" fmla="*/ 1299642 w 1508745"/>
              <a:gd name="connsiteY30" fmla="*/ 37721 h 625964"/>
              <a:gd name="connsiteX31" fmla="*/ 1346895 w 1508745"/>
              <a:gd name="connsiteY31" fmla="*/ 40511 h 625964"/>
              <a:gd name="connsiteX32" fmla="*/ 1383358 w 1508745"/>
              <a:gd name="connsiteY32" fmla="*/ 41070 h 625964"/>
              <a:gd name="connsiteX33" fmla="*/ 1430610 w 1508745"/>
              <a:gd name="connsiteY33" fmla="*/ 43860 h 625964"/>
              <a:gd name="connsiteX34" fmla="*/ 1463539 w 1508745"/>
              <a:gd name="connsiteY34" fmla="*/ 44604 h 625964"/>
              <a:gd name="connsiteX35" fmla="*/ 1477677 w 1508745"/>
              <a:gd name="connsiteY35" fmla="*/ 44790 h 625964"/>
              <a:gd name="connsiteX36" fmla="*/ 1478235 w 1508745"/>
              <a:gd name="connsiteY36" fmla="*/ 43860 h 625964"/>
              <a:gd name="connsiteX37" fmla="*/ 1487909 w 1508745"/>
              <a:gd name="connsiteY37" fmla="*/ 44604 h 625964"/>
              <a:gd name="connsiteX38" fmla="*/ 1491072 w 1508745"/>
              <a:gd name="connsiteY38" fmla="*/ 43674 h 625964"/>
              <a:gd name="connsiteX39" fmla="*/ 1508745 w 1508745"/>
              <a:gd name="connsiteY39" fmla="*/ 40698 h 625964"/>
              <a:gd name="connsiteX40" fmla="*/ 1500746 w 1508745"/>
              <a:gd name="connsiteY40" fmla="*/ 37535 h 625964"/>
              <a:gd name="connsiteX41" fmla="*/ 1495723 w 1508745"/>
              <a:gd name="connsiteY41" fmla="*/ 37721 h 625964"/>
              <a:gd name="connsiteX42" fmla="*/ 1491072 w 1508745"/>
              <a:gd name="connsiteY42" fmla="*/ 40884 h 625964"/>
              <a:gd name="connsiteX43" fmla="*/ 1478794 w 1508745"/>
              <a:gd name="connsiteY43" fmla="*/ 40325 h 625964"/>
              <a:gd name="connsiteX44" fmla="*/ 1478608 w 1508745"/>
              <a:gd name="connsiteY44" fmla="*/ 39023 h 625964"/>
              <a:gd name="connsiteX45" fmla="*/ 1456469 w 1508745"/>
              <a:gd name="connsiteY45" fmla="*/ 31582 h 625964"/>
              <a:gd name="connsiteX46" fmla="*/ 1459632 w 1508745"/>
              <a:gd name="connsiteY46" fmla="*/ 29907 h 625964"/>
              <a:gd name="connsiteX47" fmla="*/ 1452563 w 1508745"/>
              <a:gd name="connsiteY47" fmla="*/ 25815 h 625964"/>
              <a:gd name="connsiteX48" fmla="*/ 1443261 w 1508745"/>
              <a:gd name="connsiteY48" fmla="*/ 28233 h 625964"/>
              <a:gd name="connsiteX49" fmla="*/ 1443633 w 1508745"/>
              <a:gd name="connsiteY49" fmla="*/ 29163 h 625964"/>
              <a:gd name="connsiteX50" fmla="*/ 1435819 w 1508745"/>
              <a:gd name="connsiteY50" fmla="*/ 28977 h 625964"/>
              <a:gd name="connsiteX51" fmla="*/ 1435633 w 1508745"/>
              <a:gd name="connsiteY51" fmla="*/ 28047 h 625964"/>
              <a:gd name="connsiteX52" fmla="*/ 1433029 w 1508745"/>
              <a:gd name="connsiteY52" fmla="*/ 26187 h 625964"/>
              <a:gd name="connsiteX53" fmla="*/ 1432657 w 1508745"/>
              <a:gd name="connsiteY53" fmla="*/ 22838 h 625964"/>
              <a:gd name="connsiteX54" fmla="*/ 1417402 w 1508745"/>
              <a:gd name="connsiteY54" fmla="*/ 16141 h 625964"/>
              <a:gd name="connsiteX55" fmla="*/ 1414611 w 1508745"/>
              <a:gd name="connsiteY55" fmla="*/ 16141 h 625964"/>
              <a:gd name="connsiteX56" fmla="*/ 1394706 w 1508745"/>
              <a:gd name="connsiteY56" fmla="*/ 21350 h 625964"/>
              <a:gd name="connsiteX57" fmla="*/ 1394706 w 1508745"/>
              <a:gd name="connsiteY57" fmla="*/ 20978 h 625964"/>
              <a:gd name="connsiteX58" fmla="*/ 1379637 w 1508745"/>
              <a:gd name="connsiteY58" fmla="*/ 14839 h 625964"/>
              <a:gd name="connsiteX59" fmla="*/ 1379079 w 1508745"/>
              <a:gd name="connsiteY59" fmla="*/ 15211 h 625964"/>
              <a:gd name="connsiteX60" fmla="*/ 1375544 w 1508745"/>
              <a:gd name="connsiteY60" fmla="*/ 12792 h 625964"/>
              <a:gd name="connsiteX61" fmla="*/ 1365498 w 1508745"/>
              <a:gd name="connsiteY61" fmla="*/ 11862 h 625964"/>
              <a:gd name="connsiteX62" fmla="*/ 1352476 w 1508745"/>
              <a:gd name="connsiteY62" fmla="*/ 12792 h 625964"/>
              <a:gd name="connsiteX63" fmla="*/ 1351359 w 1508745"/>
              <a:gd name="connsiteY63" fmla="*/ 11490 h 625964"/>
              <a:gd name="connsiteX64" fmla="*/ 1337035 w 1508745"/>
              <a:gd name="connsiteY64" fmla="*/ 9816 h 625964"/>
              <a:gd name="connsiteX65" fmla="*/ 1331268 w 1508745"/>
              <a:gd name="connsiteY65" fmla="*/ 9444 h 625964"/>
              <a:gd name="connsiteX66" fmla="*/ 1322896 w 1508745"/>
              <a:gd name="connsiteY66" fmla="*/ 9258 h 625964"/>
              <a:gd name="connsiteX67" fmla="*/ 1292386 w 1508745"/>
              <a:gd name="connsiteY67" fmla="*/ 5165 h 625964"/>
              <a:gd name="connsiteX68" fmla="*/ 1259644 w 1508745"/>
              <a:gd name="connsiteY68" fmla="*/ 2374 h 625964"/>
              <a:gd name="connsiteX69" fmla="*/ 1247180 w 1508745"/>
              <a:gd name="connsiteY69" fmla="*/ 1816 h 625964"/>
              <a:gd name="connsiteX70" fmla="*/ 1209043 w 1508745"/>
              <a:gd name="connsiteY70" fmla="*/ 2374 h 625964"/>
              <a:gd name="connsiteX71" fmla="*/ 1209229 w 1508745"/>
              <a:gd name="connsiteY71" fmla="*/ 2188 h 625964"/>
              <a:gd name="connsiteX72" fmla="*/ 1126257 w 1508745"/>
              <a:gd name="connsiteY72" fmla="*/ 3677 h 625964"/>
              <a:gd name="connsiteX73" fmla="*/ 999753 w 1508745"/>
              <a:gd name="connsiteY73" fmla="*/ 4979 h 625964"/>
              <a:gd name="connsiteX74" fmla="*/ 949337 w 1508745"/>
              <a:gd name="connsiteY74" fmla="*/ 5723 h 625964"/>
              <a:gd name="connsiteX75" fmla="*/ 912502 w 1508745"/>
              <a:gd name="connsiteY75" fmla="*/ 8513 h 625964"/>
              <a:gd name="connsiteX76" fmla="*/ 896131 w 1508745"/>
              <a:gd name="connsiteY76" fmla="*/ 9072 h 625964"/>
              <a:gd name="connsiteX77" fmla="*/ 877714 w 1508745"/>
              <a:gd name="connsiteY77" fmla="*/ 11862 h 625964"/>
              <a:gd name="connsiteX78" fmla="*/ 865622 w 1508745"/>
              <a:gd name="connsiteY78" fmla="*/ 12606 h 625964"/>
              <a:gd name="connsiteX79" fmla="*/ 842739 w 1508745"/>
              <a:gd name="connsiteY79" fmla="*/ 15583 h 625964"/>
              <a:gd name="connsiteX80" fmla="*/ 841995 w 1508745"/>
              <a:gd name="connsiteY80" fmla="*/ 16513 h 625964"/>
              <a:gd name="connsiteX81" fmla="*/ 840879 w 1508745"/>
              <a:gd name="connsiteY81" fmla="*/ 16141 h 625964"/>
              <a:gd name="connsiteX82" fmla="*/ 832507 w 1508745"/>
              <a:gd name="connsiteY82" fmla="*/ 18745 h 625964"/>
              <a:gd name="connsiteX83" fmla="*/ 829531 w 1508745"/>
              <a:gd name="connsiteY83" fmla="*/ 19303 h 625964"/>
              <a:gd name="connsiteX84" fmla="*/ 822275 w 1508745"/>
              <a:gd name="connsiteY84" fmla="*/ 23024 h 625964"/>
              <a:gd name="connsiteX85" fmla="*/ 822647 w 1508745"/>
              <a:gd name="connsiteY85" fmla="*/ 22652 h 625964"/>
              <a:gd name="connsiteX86" fmla="*/ 828787 w 1508745"/>
              <a:gd name="connsiteY86" fmla="*/ 35116 h 625964"/>
              <a:gd name="connsiteX87" fmla="*/ 1348197 w 1508745"/>
              <a:gd name="connsiteY87" fmla="*/ 23396 h 625964"/>
              <a:gd name="connsiteX88" fmla="*/ 1348197 w 1508745"/>
              <a:gd name="connsiteY88" fmla="*/ 23396 h 625964"/>
              <a:gd name="connsiteX89" fmla="*/ 1348383 w 1508745"/>
              <a:gd name="connsiteY89" fmla="*/ 23210 h 625964"/>
              <a:gd name="connsiteX90" fmla="*/ 1348197 w 1508745"/>
              <a:gd name="connsiteY90" fmla="*/ 23396 h 625964"/>
              <a:gd name="connsiteX91" fmla="*/ 1348197 w 1508745"/>
              <a:gd name="connsiteY91" fmla="*/ 23396 h 625964"/>
              <a:gd name="connsiteX92" fmla="*/ 1348383 w 1508745"/>
              <a:gd name="connsiteY92" fmla="*/ 23210 h 625964"/>
              <a:gd name="connsiteX93" fmla="*/ 1348383 w 1508745"/>
              <a:gd name="connsiteY93" fmla="*/ 23024 h 625964"/>
              <a:gd name="connsiteX94" fmla="*/ 1348941 w 1508745"/>
              <a:gd name="connsiteY94" fmla="*/ 23024 h 625964"/>
              <a:gd name="connsiteX95" fmla="*/ 1347825 w 1508745"/>
              <a:gd name="connsiteY95" fmla="*/ 24140 h 625964"/>
              <a:gd name="connsiteX96" fmla="*/ 1348197 w 1508745"/>
              <a:gd name="connsiteY96" fmla="*/ 23396 h 625964"/>
              <a:gd name="connsiteX97" fmla="*/ 1347825 w 1508745"/>
              <a:gd name="connsiteY97" fmla="*/ 23582 h 625964"/>
              <a:gd name="connsiteX98" fmla="*/ 1348197 w 1508745"/>
              <a:gd name="connsiteY98" fmla="*/ 23396 h 625964"/>
              <a:gd name="connsiteX99" fmla="*/ 209848 w 1508745"/>
              <a:gd name="connsiteY99" fmla="*/ 34372 h 625964"/>
              <a:gd name="connsiteX100" fmla="*/ 209476 w 1508745"/>
              <a:gd name="connsiteY100" fmla="*/ 35488 h 625964"/>
              <a:gd name="connsiteX101" fmla="*/ 213196 w 1508745"/>
              <a:gd name="connsiteY101" fmla="*/ 39953 h 625964"/>
              <a:gd name="connsiteX102" fmla="*/ 219894 w 1508745"/>
              <a:gd name="connsiteY102" fmla="*/ 43860 h 625964"/>
              <a:gd name="connsiteX103" fmla="*/ 219522 w 1508745"/>
              <a:gd name="connsiteY103" fmla="*/ 43674 h 625964"/>
              <a:gd name="connsiteX104" fmla="*/ 227893 w 1508745"/>
              <a:gd name="connsiteY104" fmla="*/ 47209 h 625964"/>
              <a:gd name="connsiteX105" fmla="*/ 229009 w 1508745"/>
              <a:gd name="connsiteY105" fmla="*/ 46837 h 625964"/>
              <a:gd name="connsiteX106" fmla="*/ 229753 w 1508745"/>
              <a:gd name="connsiteY106" fmla="*/ 47767 h 625964"/>
              <a:gd name="connsiteX107" fmla="*/ 244264 w 1508745"/>
              <a:gd name="connsiteY107" fmla="*/ 51115 h 625964"/>
              <a:gd name="connsiteX108" fmla="*/ 274216 w 1508745"/>
              <a:gd name="connsiteY108" fmla="*/ 50929 h 625964"/>
              <a:gd name="connsiteX109" fmla="*/ 285192 w 1508745"/>
              <a:gd name="connsiteY109" fmla="*/ 47209 h 625964"/>
              <a:gd name="connsiteX110" fmla="*/ 288727 w 1508745"/>
              <a:gd name="connsiteY110" fmla="*/ 43488 h 625964"/>
              <a:gd name="connsiteX111" fmla="*/ 288541 w 1508745"/>
              <a:gd name="connsiteY111" fmla="*/ 38837 h 625964"/>
              <a:gd name="connsiteX112" fmla="*/ 285564 w 1508745"/>
              <a:gd name="connsiteY112" fmla="*/ 33814 h 625964"/>
              <a:gd name="connsiteX113" fmla="*/ 282215 w 1508745"/>
              <a:gd name="connsiteY113" fmla="*/ 30280 h 625964"/>
              <a:gd name="connsiteX114" fmla="*/ 282029 w 1508745"/>
              <a:gd name="connsiteY114" fmla="*/ 30093 h 625964"/>
              <a:gd name="connsiteX115" fmla="*/ 278309 w 1508745"/>
              <a:gd name="connsiteY115" fmla="*/ 27117 h 625964"/>
              <a:gd name="connsiteX116" fmla="*/ 271239 w 1508745"/>
              <a:gd name="connsiteY116" fmla="*/ 23396 h 625964"/>
              <a:gd name="connsiteX117" fmla="*/ 271425 w 1508745"/>
              <a:gd name="connsiteY117" fmla="*/ 23396 h 625964"/>
              <a:gd name="connsiteX118" fmla="*/ 260449 w 1508745"/>
              <a:gd name="connsiteY118" fmla="*/ 19862 h 625964"/>
              <a:gd name="connsiteX119" fmla="*/ 257473 w 1508745"/>
              <a:gd name="connsiteY119" fmla="*/ 19490 h 625964"/>
              <a:gd name="connsiteX120" fmla="*/ 219149 w 1508745"/>
              <a:gd name="connsiteY120" fmla="*/ 19675 h 625964"/>
              <a:gd name="connsiteX121" fmla="*/ 218219 w 1508745"/>
              <a:gd name="connsiteY121" fmla="*/ 20606 h 625964"/>
              <a:gd name="connsiteX122" fmla="*/ 216917 w 1508745"/>
              <a:gd name="connsiteY122" fmla="*/ 20234 h 625964"/>
              <a:gd name="connsiteX123" fmla="*/ 212266 w 1508745"/>
              <a:gd name="connsiteY123" fmla="*/ 23396 h 625964"/>
              <a:gd name="connsiteX124" fmla="*/ 212452 w 1508745"/>
              <a:gd name="connsiteY124" fmla="*/ 23210 h 625964"/>
              <a:gd name="connsiteX125" fmla="*/ 209104 w 1508745"/>
              <a:gd name="connsiteY125" fmla="*/ 26931 h 625964"/>
              <a:gd name="connsiteX126" fmla="*/ 208545 w 1508745"/>
              <a:gd name="connsiteY126" fmla="*/ 33628 h 625964"/>
              <a:gd name="connsiteX127" fmla="*/ 209848 w 1508745"/>
              <a:gd name="connsiteY127" fmla="*/ 34372 h 625964"/>
              <a:gd name="connsiteX128" fmla="*/ 3535 w 1508745"/>
              <a:gd name="connsiteY128" fmla="*/ 58185 h 625964"/>
              <a:gd name="connsiteX129" fmla="*/ 8558 w 1508745"/>
              <a:gd name="connsiteY129" fmla="*/ 61161 h 625964"/>
              <a:gd name="connsiteX130" fmla="*/ 9674 w 1508745"/>
              <a:gd name="connsiteY130" fmla="*/ 60789 h 625964"/>
              <a:gd name="connsiteX131" fmla="*/ 10418 w 1508745"/>
              <a:gd name="connsiteY131" fmla="*/ 61719 h 625964"/>
              <a:gd name="connsiteX132" fmla="*/ 21208 w 1508745"/>
              <a:gd name="connsiteY132" fmla="*/ 64882 h 625964"/>
              <a:gd name="connsiteX133" fmla="*/ 22882 w 1508745"/>
              <a:gd name="connsiteY133" fmla="*/ 64510 h 625964"/>
              <a:gd name="connsiteX134" fmla="*/ 24371 w 1508745"/>
              <a:gd name="connsiteY134" fmla="*/ 65254 h 625964"/>
              <a:gd name="connsiteX135" fmla="*/ 59159 w 1508745"/>
              <a:gd name="connsiteY135" fmla="*/ 65440 h 625964"/>
              <a:gd name="connsiteX136" fmla="*/ 60647 w 1508745"/>
              <a:gd name="connsiteY136" fmla="*/ 64696 h 625964"/>
              <a:gd name="connsiteX137" fmla="*/ 62322 w 1508745"/>
              <a:gd name="connsiteY137" fmla="*/ 65068 h 625964"/>
              <a:gd name="connsiteX138" fmla="*/ 69763 w 1508745"/>
              <a:gd name="connsiteY138" fmla="*/ 61905 h 625964"/>
              <a:gd name="connsiteX139" fmla="*/ 69949 w 1508745"/>
              <a:gd name="connsiteY139" fmla="*/ 61719 h 625964"/>
              <a:gd name="connsiteX140" fmla="*/ 72182 w 1508745"/>
              <a:gd name="connsiteY140" fmla="*/ 55580 h 625964"/>
              <a:gd name="connsiteX141" fmla="*/ 68647 w 1508745"/>
              <a:gd name="connsiteY141" fmla="*/ 51860 h 625964"/>
              <a:gd name="connsiteX142" fmla="*/ 62136 w 1508745"/>
              <a:gd name="connsiteY142" fmla="*/ 47767 h 625964"/>
              <a:gd name="connsiteX143" fmla="*/ 62322 w 1508745"/>
              <a:gd name="connsiteY143" fmla="*/ 47953 h 625964"/>
              <a:gd name="connsiteX144" fmla="*/ 54322 w 1508745"/>
              <a:gd name="connsiteY144" fmla="*/ 44604 h 625964"/>
              <a:gd name="connsiteX145" fmla="*/ 51904 w 1508745"/>
              <a:gd name="connsiteY145" fmla="*/ 44046 h 625964"/>
              <a:gd name="connsiteX146" fmla="*/ 32556 w 1508745"/>
              <a:gd name="connsiteY146" fmla="*/ 41070 h 625964"/>
              <a:gd name="connsiteX147" fmla="*/ 22138 w 1508745"/>
              <a:gd name="connsiteY147" fmla="*/ 41070 h 625964"/>
              <a:gd name="connsiteX148" fmla="*/ 6511 w 1508745"/>
              <a:gd name="connsiteY148" fmla="*/ 44232 h 625964"/>
              <a:gd name="connsiteX149" fmla="*/ 186 w 1508745"/>
              <a:gd name="connsiteY149" fmla="*/ 49255 h 625964"/>
              <a:gd name="connsiteX150" fmla="*/ 0 w 1508745"/>
              <a:gd name="connsiteY150" fmla="*/ 54092 h 625964"/>
              <a:gd name="connsiteX151" fmla="*/ 3535 w 1508745"/>
              <a:gd name="connsiteY151" fmla="*/ 58185 h 625964"/>
              <a:gd name="connsiteX152" fmla="*/ 1326059 w 1508745"/>
              <a:gd name="connsiteY152" fmla="*/ 347842 h 625964"/>
              <a:gd name="connsiteX153" fmla="*/ 1289968 w 1508745"/>
              <a:gd name="connsiteY153" fmla="*/ 347655 h 625964"/>
              <a:gd name="connsiteX154" fmla="*/ 1282154 w 1508745"/>
              <a:gd name="connsiteY154" fmla="*/ 357887 h 625964"/>
              <a:gd name="connsiteX155" fmla="*/ 1282340 w 1508745"/>
              <a:gd name="connsiteY155" fmla="*/ 357887 h 625964"/>
              <a:gd name="connsiteX156" fmla="*/ 1289968 w 1508745"/>
              <a:gd name="connsiteY156" fmla="*/ 361050 h 625964"/>
              <a:gd name="connsiteX157" fmla="*/ 1296479 w 1508745"/>
              <a:gd name="connsiteY157" fmla="*/ 361794 h 625964"/>
              <a:gd name="connsiteX158" fmla="*/ 1327733 w 1508745"/>
              <a:gd name="connsiteY158" fmla="*/ 361794 h 625964"/>
              <a:gd name="connsiteX159" fmla="*/ 1333314 w 1508745"/>
              <a:gd name="connsiteY159" fmla="*/ 360864 h 625964"/>
              <a:gd name="connsiteX160" fmla="*/ 1338337 w 1508745"/>
              <a:gd name="connsiteY160" fmla="*/ 357887 h 625964"/>
              <a:gd name="connsiteX161" fmla="*/ 1338151 w 1508745"/>
              <a:gd name="connsiteY161" fmla="*/ 350818 h 625964"/>
              <a:gd name="connsiteX162" fmla="*/ 1326059 w 1508745"/>
              <a:gd name="connsiteY162" fmla="*/ 347842 h 62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1508745" h="625964">
                <a:moveTo>
                  <a:pt x="278867" y="110647"/>
                </a:moveTo>
                <a:cubicBezTo>
                  <a:pt x="278867" y="110461"/>
                  <a:pt x="278867" y="110461"/>
                  <a:pt x="278867" y="110647"/>
                </a:cubicBezTo>
                <a:cubicBezTo>
                  <a:pt x="278867" y="110461"/>
                  <a:pt x="278867" y="110461"/>
                  <a:pt x="278867" y="110647"/>
                </a:cubicBezTo>
                <a:close/>
                <a:moveTo>
                  <a:pt x="1138907" y="497414"/>
                </a:moveTo>
                <a:lnTo>
                  <a:pt x="1139093" y="497600"/>
                </a:lnTo>
                <a:lnTo>
                  <a:pt x="1138907" y="497414"/>
                </a:lnTo>
                <a:close/>
                <a:moveTo>
                  <a:pt x="461925" y="521040"/>
                </a:moveTo>
                <a:lnTo>
                  <a:pt x="461367" y="521040"/>
                </a:lnTo>
                <a:lnTo>
                  <a:pt x="461925" y="521040"/>
                </a:lnTo>
                <a:close/>
                <a:moveTo>
                  <a:pt x="75158" y="590990"/>
                </a:moveTo>
                <a:cubicBezTo>
                  <a:pt x="75158" y="590990"/>
                  <a:pt x="74972" y="590990"/>
                  <a:pt x="75158" y="590990"/>
                </a:cubicBezTo>
                <a:lnTo>
                  <a:pt x="74786" y="590990"/>
                </a:lnTo>
                <a:lnTo>
                  <a:pt x="75158" y="590990"/>
                </a:lnTo>
                <a:close/>
                <a:moveTo>
                  <a:pt x="656890" y="618709"/>
                </a:moveTo>
                <a:cubicBezTo>
                  <a:pt x="656890" y="618709"/>
                  <a:pt x="656704" y="618709"/>
                  <a:pt x="656704" y="618523"/>
                </a:cubicBezTo>
                <a:lnTo>
                  <a:pt x="656518" y="618523"/>
                </a:lnTo>
                <a:lnTo>
                  <a:pt x="656890" y="618709"/>
                </a:lnTo>
                <a:close/>
                <a:moveTo>
                  <a:pt x="784324" y="625964"/>
                </a:moveTo>
                <a:cubicBezTo>
                  <a:pt x="784324" y="625964"/>
                  <a:pt x="784324" y="625778"/>
                  <a:pt x="784324" y="625964"/>
                </a:cubicBezTo>
                <a:lnTo>
                  <a:pt x="784138" y="625964"/>
                </a:lnTo>
                <a:lnTo>
                  <a:pt x="784324" y="625964"/>
                </a:lnTo>
                <a:close/>
                <a:moveTo>
                  <a:pt x="299331" y="110647"/>
                </a:moveTo>
                <a:lnTo>
                  <a:pt x="299517" y="110647"/>
                </a:lnTo>
                <a:lnTo>
                  <a:pt x="299331" y="110647"/>
                </a:lnTo>
                <a:close/>
                <a:moveTo>
                  <a:pt x="828787" y="35116"/>
                </a:moveTo>
                <a:cubicBezTo>
                  <a:pt x="832879" y="36419"/>
                  <a:pt x="837530" y="35302"/>
                  <a:pt x="841623" y="37163"/>
                </a:cubicBezTo>
                <a:cubicBezTo>
                  <a:pt x="856506" y="34930"/>
                  <a:pt x="871575" y="34930"/>
                  <a:pt x="886458" y="37163"/>
                </a:cubicBezTo>
                <a:cubicBezTo>
                  <a:pt x="890922" y="35302"/>
                  <a:pt x="895573" y="35675"/>
                  <a:pt x="900224" y="35675"/>
                </a:cubicBezTo>
                <a:lnTo>
                  <a:pt x="1214624" y="35675"/>
                </a:lnTo>
                <a:cubicBezTo>
                  <a:pt x="1219274" y="35675"/>
                  <a:pt x="1223925" y="35302"/>
                  <a:pt x="1228390" y="37163"/>
                </a:cubicBezTo>
                <a:cubicBezTo>
                  <a:pt x="1252203" y="34558"/>
                  <a:pt x="1275829" y="36791"/>
                  <a:pt x="1299642" y="37721"/>
                </a:cubicBezTo>
                <a:cubicBezTo>
                  <a:pt x="1315269" y="41442"/>
                  <a:pt x="1331268" y="36605"/>
                  <a:pt x="1346895" y="40511"/>
                </a:cubicBezTo>
                <a:cubicBezTo>
                  <a:pt x="1358987" y="39023"/>
                  <a:pt x="1371265" y="40139"/>
                  <a:pt x="1383358" y="41070"/>
                </a:cubicBezTo>
                <a:cubicBezTo>
                  <a:pt x="1398984" y="44976"/>
                  <a:pt x="1414983" y="39953"/>
                  <a:pt x="1430610" y="43860"/>
                </a:cubicBezTo>
                <a:cubicBezTo>
                  <a:pt x="1441586" y="42558"/>
                  <a:pt x="1452563" y="43116"/>
                  <a:pt x="1463539" y="44604"/>
                </a:cubicBezTo>
                <a:cubicBezTo>
                  <a:pt x="1468189" y="46465"/>
                  <a:pt x="1473026" y="46279"/>
                  <a:pt x="1477677" y="44790"/>
                </a:cubicBezTo>
                <a:cubicBezTo>
                  <a:pt x="1477863" y="44418"/>
                  <a:pt x="1478049" y="44232"/>
                  <a:pt x="1478235" y="43860"/>
                </a:cubicBezTo>
                <a:cubicBezTo>
                  <a:pt x="1481398" y="44046"/>
                  <a:pt x="1484747" y="44418"/>
                  <a:pt x="1487909" y="44604"/>
                </a:cubicBezTo>
                <a:cubicBezTo>
                  <a:pt x="1488839" y="44046"/>
                  <a:pt x="1489956" y="43674"/>
                  <a:pt x="1491072" y="43674"/>
                </a:cubicBezTo>
                <a:cubicBezTo>
                  <a:pt x="1497211" y="43488"/>
                  <a:pt x="1503722" y="47023"/>
                  <a:pt x="1508745" y="40698"/>
                </a:cubicBezTo>
                <a:cubicBezTo>
                  <a:pt x="1506513" y="38651"/>
                  <a:pt x="1503350" y="39023"/>
                  <a:pt x="1500746" y="37535"/>
                </a:cubicBezTo>
                <a:cubicBezTo>
                  <a:pt x="1499071" y="37535"/>
                  <a:pt x="1497397" y="37721"/>
                  <a:pt x="1495723" y="37721"/>
                </a:cubicBezTo>
                <a:cubicBezTo>
                  <a:pt x="1494234" y="38837"/>
                  <a:pt x="1492560" y="39953"/>
                  <a:pt x="1491072" y="40884"/>
                </a:cubicBezTo>
                <a:lnTo>
                  <a:pt x="1478794" y="40325"/>
                </a:lnTo>
                <a:cubicBezTo>
                  <a:pt x="1478794" y="39953"/>
                  <a:pt x="1478794" y="39581"/>
                  <a:pt x="1478608" y="39023"/>
                </a:cubicBezTo>
                <a:cubicBezTo>
                  <a:pt x="1473212" y="30652"/>
                  <a:pt x="1464283" y="33070"/>
                  <a:pt x="1456469" y="31582"/>
                </a:cubicBezTo>
                <a:cubicBezTo>
                  <a:pt x="1457585" y="31024"/>
                  <a:pt x="1458516" y="30466"/>
                  <a:pt x="1459632" y="29907"/>
                </a:cubicBezTo>
                <a:cubicBezTo>
                  <a:pt x="1458144" y="27117"/>
                  <a:pt x="1455167" y="26559"/>
                  <a:pt x="1452563" y="25815"/>
                </a:cubicBezTo>
                <a:cubicBezTo>
                  <a:pt x="1449586" y="26931"/>
                  <a:pt x="1445679" y="25071"/>
                  <a:pt x="1443261" y="28233"/>
                </a:cubicBezTo>
                <a:cubicBezTo>
                  <a:pt x="1443447" y="28605"/>
                  <a:pt x="1443447" y="28791"/>
                  <a:pt x="1443633" y="29163"/>
                </a:cubicBezTo>
                <a:cubicBezTo>
                  <a:pt x="1441028" y="28977"/>
                  <a:pt x="1438424" y="28977"/>
                  <a:pt x="1435819" y="28977"/>
                </a:cubicBezTo>
                <a:cubicBezTo>
                  <a:pt x="1435819" y="28791"/>
                  <a:pt x="1435819" y="28419"/>
                  <a:pt x="1435633" y="28047"/>
                </a:cubicBezTo>
                <a:cubicBezTo>
                  <a:pt x="1435075" y="26931"/>
                  <a:pt x="1434145" y="26373"/>
                  <a:pt x="1433029" y="26187"/>
                </a:cubicBezTo>
                <a:cubicBezTo>
                  <a:pt x="1432843" y="25071"/>
                  <a:pt x="1432843" y="23954"/>
                  <a:pt x="1432657" y="22838"/>
                </a:cubicBezTo>
                <a:cubicBezTo>
                  <a:pt x="1430982" y="12792"/>
                  <a:pt x="1420378" y="23024"/>
                  <a:pt x="1417402" y="16141"/>
                </a:cubicBezTo>
                <a:cubicBezTo>
                  <a:pt x="1416472" y="16513"/>
                  <a:pt x="1415542" y="16513"/>
                  <a:pt x="1414611" y="16141"/>
                </a:cubicBezTo>
                <a:cubicBezTo>
                  <a:pt x="1408844" y="20978"/>
                  <a:pt x="1400287" y="16141"/>
                  <a:pt x="1394706" y="21350"/>
                </a:cubicBezTo>
                <a:lnTo>
                  <a:pt x="1394706" y="20978"/>
                </a:lnTo>
                <a:cubicBezTo>
                  <a:pt x="1391357" y="15025"/>
                  <a:pt x="1385776" y="14094"/>
                  <a:pt x="1379637" y="14839"/>
                </a:cubicBezTo>
                <a:cubicBezTo>
                  <a:pt x="1379451" y="15025"/>
                  <a:pt x="1379265" y="15025"/>
                  <a:pt x="1379079" y="15211"/>
                </a:cubicBezTo>
                <a:cubicBezTo>
                  <a:pt x="1378335" y="13908"/>
                  <a:pt x="1376660" y="13536"/>
                  <a:pt x="1375544" y="12792"/>
                </a:cubicBezTo>
                <a:cubicBezTo>
                  <a:pt x="1372195" y="12420"/>
                  <a:pt x="1368847" y="12234"/>
                  <a:pt x="1365498" y="11862"/>
                </a:cubicBezTo>
                <a:cubicBezTo>
                  <a:pt x="1361033" y="10374"/>
                  <a:pt x="1356755" y="11676"/>
                  <a:pt x="1352476" y="12792"/>
                </a:cubicBezTo>
                <a:cubicBezTo>
                  <a:pt x="1352104" y="12420"/>
                  <a:pt x="1351732" y="11862"/>
                  <a:pt x="1351359" y="11490"/>
                </a:cubicBezTo>
                <a:cubicBezTo>
                  <a:pt x="1346709" y="10188"/>
                  <a:pt x="1341686" y="11676"/>
                  <a:pt x="1337035" y="9816"/>
                </a:cubicBezTo>
                <a:cubicBezTo>
                  <a:pt x="1335174" y="6839"/>
                  <a:pt x="1333314" y="7025"/>
                  <a:pt x="1331268" y="9444"/>
                </a:cubicBezTo>
                <a:cubicBezTo>
                  <a:pt x="1328477" y="11118"/>
                  <a:pt x="1325687" y="10746"/>
                  <a:pt x="1322896" y="9258"/>
                </a:cubicBezTo>
                <a:cubicBezTo>
                  <a:pt x="1312292" y="11490"/>
                  <a:pt x="1302432" y="8141"/>
                  <a:pt x="1292386" y="5165"/>
                </a:cubicBezTo>
                <a:cubicBezTo>
                  <a:pt x="1281782" y="1258"/>
                  <a:pt x="1270248" y="6095"/>
                  <a:pt x="1259644" y="2374"/>
                </a:cubicBezTo>
                <a:cubicBezTo>
                  <a:pt x="1255365" y="3304"/>
                  <a:pt x="1251273" y="2932"/>
                  <a:pt x="1247180" y="1816"/>
                </a:cubicBezTo>
                <a:cubicBezTo>
                  <a:pt x="1234343" y="-230"/>
                  <a:pt x="1221693" y="-1160"/>
                  <a:pt x="1209043" y="2374"/>
                </a:cubicBezTo>
                <a:lnTo>
                  <a:pt x="1209229" y="2188"/>
                </a:lnTo>
                <a:cubicBezTo>
                  <a:pt x="1181695" y="5723"/>
                  <a:pt x="1153976" y="3118"/>
                  <a:pt x="1126257" y="3677"/>
                </a:cubicBezTo>
                <a:cubicBezTo>
                  <a:pt x="1084213" y="4607"/>
                  <a:pt x="1041983" y="2188"/>
                  <a:pt x="999753" y="4979"/>
                </a:cubicBezTo>
                <a:cubicBezTo>
                  <a:pt x="983010" y="6467"/>
                  <a:pt x="966267" y="6653"/>
                  <a:pt x="949337" y="5723"/>
                </a:cubicBezTo>
                <a:cubicBezTo>
                  <a:pt x="937245" y="9444"/>
                  <a:pt x="924595" y="4793"/>
                  <a:pt x="912502" y="8513"/>
                </a:cubicBezTo>
                <a:cubicBezTo>
                  <a:pt x="907107" y="9816"/>
                  <a:pt x="901712" y="10002"/>
                  <a:pt x="896131" y="9072"/>
                </a:cubicBezTo>
                <a:cubicBezTo>
                  <a:pt x="890364" y="12234"/>
                  <a:pt x="883481" y="8699"/>
                  <a:pt x="877714" y="11862"/>
                </a:cubicBezTo>
                <a:cubicBezTo>
                  <a:pt x="873807" y="13164"/>
                  <a:pt x="869714" y="13536"/>
                  <a:pt x="865622" y="12606"/>
                </a:cubicBezTo>
                <a:cubicBezTo>
                  <a:pt x="858366" y="15769"/>
                  <a:pt x="849995" y="11862"/>
                  <a:pt x="842739" y="15583"/>
                </a:cubicBezTo>
                <a:lnTo>
                  <a:pt x="841995" y="16513"/>
                </a:lnTo>
                <a:lnTo>
                  <a:pt x="840879" y="16141"/>
                </a:lnTo>
                <a:cubicBezTo>
                  <a:pt x="838088" y="17071"/>
                  <a:pt x="835112" y="17257"/>
                  <a:pt x="832507" y="18745"/>
                </a:cubicBezTo>
                <a:cubicBezTo>
                  <a:pt x="831763" y="19862"/>
                  <a:pt x="830647" y="20048"/>
                  <a:pt x="829531" y="19303"/>
                </a:cubicBezTo>
                <a:cubicBezTo>
                  <a:pt x="827298" y="21164"/>
                  <a:pt x="823950" y="20420"/>
                  <a:pt x="822275" y="23024"/>
                </a:cubicBezTo>
                <a:lnTo>
                  <a:pt x="822647" y="22652"/>
                </a:lnTo>
                <a:cubicBezTo>
                  <a:pt x="817997" y="30838"/>
                  <a:pt x="823206" y="33442"/>
                  <a:pt x="828787" y="35116"/>
                </a:cubicBezTo>
                <a:close/>
                <a:moveTo>
                  <a:pt x="1348197" y="23396"/>
                </a:moveTo>
                <a:cubicBezTo>
                  <a:pt x="1348197" y="23582"/>
                  <a:pt x="1348197" y="23582"/>
                  <a:pt x="1348197" y="23396"/>
                </a:cubicBezTo>
                <a:cubicBezTo>
                  <a:pt x="1348197" y="23396"/>
                  <a:pt x="1348383" y="23396"/>
                  <a:pt x="1348383" y="23210"/>
                </a:cubicBezTo>
                <a:cubicBezTo>
                  <a:pt x="1348383" y="23396"/>
                  <a:pt x="1348383" y="23396"/>
                  <a:pt x="1348197" y="23396"/>
                </a:cubicBezTo>
                <a:cubicBezTo>
                  <a:pt x="1348383" y="23396"/>
                  <a:pt x="1348383" y="23396"/>
                  <a:pt x="1348197" y="23396"/>
                </a:cubicBezTo>
                <a:lnTo>
                  <a:pt x="1348383" y="23210"/>
                </a:lnTo>
                <a:lnTo>
                  <a:pt x="1348383" y="23024"/>
                </a:lnTo>
                <a:lnTo>
                  <a:pt x="1348941" y="23024"/>
                </a:lnTo>
                <a:lnTo>
                  <a:pt x="1347825" y="24140"/>
                </a:lnTo>
                <a:cubicBezTo>
                  <a:pt x="1348011" y="23954"/>
                  <a:pt x="1348197" y="23768"/>
                  <a:pt x="1348197" y="23396"/>
                </a:cubicBezTo>
                <a:cubicBezTo>
                  <a:pt x="1348011" y="23582"/>
                  <a:pt x="1348011" y="23582"/>
                  <a:pt x="1347825" y="23582"/>
                </a:cubicBezTo>
                <a:cubicBezTo>
                  <a:pt x="1348011" y="23582"/>
                  <a:pt x="1348197" y="23582"/>
                  <a:pt x="1348197" y="23396"/>
                </a:cubicBezTo>
                <a:close/>
                <a:moveTo>
                  <a:pt x="209848" y="34372"/>
                </a:moveTo>
                <a:lnTo>
                  <a:pt x="209476" y="35488"/>
                </a:lnTo>
                <a:cubicBezTo>
                  <a:pt x="209848" y="37907"/>
                  <a:pt x="210778" y="39581"/>
                  <a:pt x="213196" y="39953"/>
                </a:cubicBezTo>
                <a:cubicBezTo>
                  <a:pt x="214313" y="43116"/>
                  <a:pt x="217847" y="42372"/>
                  <a:pt x="219894" y="43860"/>
                </a:cubicBezTo>
                <a:lnTo>
                  <a:pt x="219522" y="43674"/>
                </a:lnTo>
                <a:cubicBezTo>
                  <a:pt x="221754" y="46465"/>
                  <a:pt x="225103" y="46279"/>
                  <a:pt x="227893" y="47209"/>
                </a:cubicBezTo>
                <a:lnTo>
                  <a:pt x="229009" y="46837"/>
                </a:lnTo>
                <a:lnTo>
                  <a:pt x="229753" y="47767"/>
                </a:lnTo>
                <a:cubicBezTo>
                  <a:pt x="234032" y="51488"/>
                  <a:pt x="239985" y="47581"/>
                  <a:pt x="244264" y="51115"/>
                </a:cubicBezTo>
                <a:cubicBezTo>
                  <a:pt x="254310" y="51115"/>
                  <a:pt x="264170" y="50929"/>
                  <a:pt x="274216" y="50929"/>
                </a:cubicBezTo>
                <a:cubicBezTo>
                  <a:pt x="277378" y="48325"/>
                  <a:pt x="282401" y="51115"/>
                  <a:pt x="285192" y="47209"/>
                </a:cubicBezTo>
                <a:cubicBezTo>
                  <a:pt x="287052" y="46465"/>
                  <a:pt x="287982" y="45162"/>
                  <a:pt x="288727" y="43488"/>
                </a:cubicBezTo>
                <a:cubicBezTo>
                  <a:pt x="288727" y="42000"/>
                  <a:pt x="288541" y="40325"/>
                  <a:pt x="288541" y="38837"/>
                </a:cubicBezTo>
                <a:cubicBezTo>
                  <a:pt x="288355" y="36791"/>
                  <a:pt x="287052" y="35302"/>
                  <a:pt x="285564" y="33814"/>
                </a:cubicBezTo>
                <a:cubicBezTo>
                  <a:pt x="284448" y="32698"/>
                  <a:pt x="283332" y="31582"/>
                  <a:pt x="282215" y="30280"/>
                </a:cubicBezTo>
                <a:lnTo>
                  <a:pt x="282029" y="30093"/>
                </a:lnTo>
                <a:cubicBezTo>
                  <a:pt x="280727" y="29163"/>
                  <a:pt x="279611" y="27861"/>
                  <a:pt x="278309" y="27117"/>
                </a:cubicBezTo>
                <a:cubicBezTo>
                  <a:pt x="276634" y="24698"/>
                  <a:pt x="273286" y="25257"/>
                  <a:pt x="271239" y="23396"/>
                </a:cubicBezTo>
                <a:lnTo>
                  <a:pt x="271425" y="23396"/>
                </a:lnTo>
                <a:cubicBezTo>
                  <a:pt x="268449" y="20048"/>
                  <a:pt x="263612" y="22652"/>
                  <a:pt x="260449" y="19862"/>
                </a:cubicBezTo>
                <a:cubicBezTo>
                  <a:pt x="259333" y="20606"/>
                  <a:pt x="258403" y="20420"/>
                  <a:pt x="257473" y="19490"/>
                </a:cubicBezTo>
                <a:cubicBezTo>
                  <a:pt x="244636" y="17071"/>
                  <a:pt x="231986" y="16885"/>
                  <a:pt x="219149" y="19675"/>
                </a:cubicBezTo>
                <a:lnTo>
                  <a:pt x="218219" y="20606"/>
                </a:lnTo>
                <a:lnTo>
                  <a:pt x="216917" y="20234"/>
                </a:lnTo>
                <a:cubicBezTo>
                  <a:pt x="214871" y="20606"/>
                  <a:pt x="213382" y="21908"/>
                  <a:pt x="212266" y="23396"/>
                </a:cubicBezTo>
                <a:lnTo>
                  <a:pt x="212452" y="23210"/>
                </a:lnTo>
                <a:cubicBezTo>
                  <a:pt x="211150" y="24326"/>
                  <a:pt x="209848" y="25443"/>
                  <a:pt x="209104" y="26931"/>
                </a:cubicBezTo>
                <a:cubicBezTo>
                  <a:pt x="206499" y="28977"/>
                  <a:pt x="206685" y="31210"/>
                  <a:pt x="208545" y="33628"/>
                </a:cubicBezTo>
                <a:lnTo>
                  <a:pt x="209848" y="34372"/>
                </a:lnTo>
                <a:close/>
                <a:moveTo>
                  <a:pt x="3535" y="58185"/>
                </a:moveTo>
                <a:cubicBezTo>
                  <a:pt x="4837" y="59673"/>
                  <a:pt x="6325" y="60975"/>
                  <a:pt x="8558" y="61161"/>
                </a:cubicBezTo>
                <a:lnTo>
                  <a:pt x="9674" y="60789"/>
                </a:lnTo>
                <a:lnTo>
                  <a:pt x="10418" y="61719"/>
                </a:lnTo>
                <a:cubicBezTo>
                  <a:pt x="13581" y="64510"/>
                  <a:pt x="18231" y="61905"/>
                  <a:pt x="21208" y="64882"/>
                </a:cubicBezTo>
                <a:lnTo>
                  <a:pt x="22882" y="64510"/>
                </a:lnTo>
                <a:lnTo>
                  <a:pt x="24371" y="65254"/>
                </a:lnTo>
                <a:cubicBezTo>
                  <a:pt x="35905" y="67859"/>
                  <a:pt x="47625" y="67487"/>
                  <a:pt x="59159" y="65440"/>
                </a:cubicBezTo>
                <a:lnTo>
                  <a:pt x="60647" y="64696"/>
                </a:lnTo>
                <a:lnTo>
                  <a:pt x="62322" y="65068"/>
                </a:lnTo>
                <a:cubicBezTo>
                  <a:pt x="64368" y="63208"/>
                  <a:pt x="67531" y="63580"/>
                  <a:pt x="69763" y="61905"/>
                </a:cubicBezTo>
                <a:lnTo>
                  <a:pt x="69949" y="61719"/>
                </a:lnTo>
                <a:cubicBezTo>
                  <a:pt x="70507" y="59673"/>
                  <a:pt x="75902" y="58929"/>
                  <a:pt x="72182" y="55580"/>
                </a:cubicBezTo>
                <a:cubicBezTo>
                  <a:pt x="71996" y="53348"/>
                  <a:pt x="70879" y="52046"/>
                  <a:pt x="68647" y="51860"/>
                </a:cubicBezTo>
                <a:cubicBezTo>
                  <a:pt x="67717" y="48697"/>
                  <a:pt x="63996" y="49627"/>
                  <a:pt x="62136" y="47767"/>
                </a:cubicBezTo>
                <a:lnTo>
                  <a:pt x="62322" y="47953"/>
                </a:lnTo>
                <a:cubicBezTo>
                  <a:pt x="60275" y="45534"/>
                  <a:pt x="56927" y="45906"/>
                  <a:pt x="54322" y="44604"/>
                </a:cubicBezTo>
                <a:cubicBezTo>
                  <a:pt x="53392" y="45348"/>
                  <a:pt x="52462" y="45162"/>
                  <a:pt x="51904" y="44046"/>
                </a:cubicBezTo>
                <a:cubicBezTo>
                  <a:pt x="45765" y="40698"/>
                  <a:pt x="38695" y="44046"/>
                  <a:pt x="32556" y="41070"/>
                </a:cubicBezTo>
                <a:cubicBezTo>
                  <a:pt x="29021" y="42744"/>
                  <a:pt x="25673" y="42744"/>
                  <a:pt x="22138" y="41070"/>
                </a:cubicBezTo>
                <a:cubicBezTo>
                  <a:pt x="17301" y="43860"/>
                  <a:pt x="11348" y="41070"/>
                  <a:pt x="6511" y="44232"/>
                </a:cubicBezTo>
                <a:cubicBezTo>
                  <a:pt x="4837" y="46465"/>
                  <a:pt x="744" y="45720"/>
                  <a:pt x="186" y="49255"/>
                </a:cubicBezTo>
                <a:cubicBezTo>
                  <a:pt x="186" y="50929"/>
                  <a:pt x="0" y="52418"/>
                  <a:pt x="0" y="54092"/>
                </a:cubicBezTo>
                <a:cubicBezTo>
                  <a:pt x="1116" y="55580"/>
                  <a:pt x="2232" y="56883"/>
                  <a:pt x="3535" y="58185"/>
                </a:cubicBezTo>
                <a:close/>
                <a:moveTo>
                  <a:pt x="1326059" y="347842"/>
                </a:moveTo>
                <a:cubicBezTo>
                  <a:pt x="1313966" y="347842"/>
                  <a:pt x="1301874" y="347655"/>
                  <a:pt x="1289968" y="347655"/>
                </a:cubicBezTo>
                <a:cubicBezTo>
                  <a:pt x="1286247" y="350260"/>
                  <a:pt x="1277503" y="348958"/>
                  <a:pt x="1282154" y="357887"/>
                </a:cubicBezTo>
                <a:lnTo>
                  <a:pt x="1282340" y="357887"/>
                </a:lnTo>
                <a:cubicBezTo>
                  <a:pt x="1284573" y="359748"/>
                  <a:pt x="1287735" y="359376"/>
                  <a:pt x="1289968" y="361050"/>
                </a:cubicBezTo>
                <a:cubicBezTo>
                  <a:pt x="1292200" y="361236"/>
                  <a:pt x="1294247" y="361422"/>
                  <a:pt x="1296479" y="361794"/>
                </a:cubicBezTo>
                <a:cubicBezTo>
                  <a:pt x="1306897" y="363655"/>
                  <a:pt x="1317315" y="363655"/>
                  <a:pt x="1327733" y="361794"/>
                </a:cubicBezTo>
                <a:cubicBezTo>
                  <a:pt x="1329593" y="361422"/>
                  <a:pt x="1331454" y="361236"/>
                  <a:pt x="1333314" y="360864"/>
                </a:cubicBezTo>
                <a:cubicBezTo>
                  <a:pt x="1335360" y="360678"/>
                  <a:pt x="1336849" y="359190"/>
                  <a:pt x="1338337" y="357887"/>
                </a:cubicBezTo>
                <a:cubicBezTo>
                  <a:pt x="1340197" y="355469"/>
                  <a:pt x="1340197" y="353237"/>
                  <a:pt x="1338151" y="350818"/>
                </a:cubicBezTo>
                <a:cubicBezTo>
                  <a:pt x="1334430" y="348028"/>
                  <a:pt x="1329779" y="349702"/>
                  <a:pt x="1326059" y="347842"/>
                </a:cubicBezTo>
                <a:close/>
              </a:path>
            </a:pathLst>
          </a:custGeom>
          <a:ln w="1860" cap="flat">
            <a:noFill/>
            <a:prstDash val="solid"/>
            <a:miter/>
          </a:ln>
        </p:spPr>
        <p:txBody>
          <a:bodyPr rtlCol="0" anchor="ctr"/>
          <a:lstStyle/>
          <a:p>
            <a:endParaRPr lang="zh-CN" altLang="en-US"/>
          </a:p>
        </p:txBody>
      </p:sp>
      <p:sp useBgFill="1">
        <p:nvSpPr>
          <p:cNvPr id="14" name="任意多边形: 形状 13">
            <a:extLst>
              <a:ext uri="{FF2B5EF4-FFF2-40B4-BE49-F238E27FC236}">
                <a16:creationId xmlns:a16="http://schemas.microsoft.com/office/drawing/2014/main" id="{1E9D8956-7DF3-FD7F-50E4-FAE79C39D6A9}"/>
              </a:ext>
            </a:extLst>
          </p:cNvPr>
          <p:cNvSpPr/>
          <p:nvPr/>
        </p:nvSpPr>
        <p:spPr>
          <a:xfrm rot="18292778">
            <a:off x="6266039" y="6887217"/>
            <a:ext cx="250651" cy="153948"/>
          </a:xfrm>
          <a:custGeom>
            <a:avLst/>
            <a:gdLst>
              <a:gd name="connsiteX0" fmla="*/ 48741 w 50334"/>
              <a:gd name="connsiteY0" fmla="*/ 5563 h 18436"/>
              <a:gd name="connsiteX1" fmla="*/ 44648 w 50334"/>
              <a:gd name="connsiteY1" fmla="*/ 2400 h 18436"/>
              <a:gd name="connsiteX2" fmla="*/ 45021 w 50334"/>
              <a:gd name="connsiteY2" fmla="*/ 2586 h 18436"/>
              <a:gd name="connsiteX3" fmla="*/ 10418 w 50334"/>
              <a:gd name="connsiteY3" fmla="*/ 2028 h 18436"/>
              <a:gd name="connsiteX4" fmla="*/ 8185 w 50334"/>
              <a:gd name="connsiteY4" fmla="*/ 2586 h 18436"/>
              <a:gd name="connsiteX5" fmla="*/ 3349 w 50334"/>
              <a:gd name="connsiteY5" fmla="*/ 5563 h 18436"/>
              <a:gd name="connsiteX6" fmla="*/ 3163 w 50334"/>
              <a:gd name="connsiteY6" fmla="*/ 5563 h 18436"/>
              <a:gd name="connsiteX7" fmla="*/ 0 w 50334"/>
              <a:gd name="connsiteY7" fmla="*/ 9655 h 18436"/>
              <a:gd name="connsiteX8" fmla="*/ 186 w 50334"/>
              <a:gd name="connsiteY8" fmla="*/ 14492 h 18436"/>
              <a:gd name="connsiteX9" fmla="*/ 41486 w 50334"/>
              <a:gd name="connsiteY9" fmla="*/ 16166 h 18436"/>
              <a:gd name="connsiteX10" fmla="*/ 48741 w 50334"/>
              <a:gd name="connsiteY10" fmla="*/ 5563 h 184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334" h="18436">
                <a:moveTo>
                  <a:pt x="48741" y="5563"/>
                </a:moveTo>
                <a:cubicBezTo>
                  <a:pt x="47439" y="4446"/>
                  <a:pt x="46323" y="2958"/>
                  <a:pt x="44648" y="2400"/>
                </a:cubicBezTo>
                <a:lnTo>
                  <a:pt x="45021" y="2586"/>
                </a:lnTo>
                <a:cubicBezTo>
                  <a:pt x="33486" y="-1321"/>
                  <a:pt x="21952" y="-205"/>
                  <a:pt x="10418" y="2028"/>
                </a:cubicBezTo>
                <a:cubicBezTo>
                  <a:pt x="9860" y="2958"/>
                  <a:pt x="9116" y="3144"/>
                  <a:pt x="8185" y="2586"/>
                </a:cubicBezTo>
                <a:cubicBezTo>
                  <a:pt x="6139" y="2958"/>
                  <a:pt x="4837" y="4260"/>
                  <a:pt x="3349" y="5563"/>
                </a:cubicBezTo>
                <a:lnTo>
                  <a:pt x="3163" y="5563"/>
                </a:lnTo>
                <a:cubicBezTo>
                  <a:pt x="2046" y="6865"/>
                  <a:pt x="930" y="8167"/>
                  <a:pt x="0" y="9655"/>
                </a:cubicBezTo>
                <a:cubicBezTo>
                  <a:pt x="0" y="11330"/>
                  <a:pt x="186" y="12818"/>
                  <a:pt x="186" y="14492"/>
                </a:cubicBezTo>
                <a:cubicBezTo>
                  <a:pt x="13767" y="21189"/>
                  <a:pt x="27719" y="17655"/>
                  <a:pt x="41486" y="16166"/>
                </a:cubicBezTo>
                <a:cubicBezTo>
                  <a:pt x="45021" y="13190"/>
                  <a:pt x="53950" y="14120"/>
                  <a:pt x="48741" y="5563"/>
                </a:cubicBezTo>
                <a:close/>
              </a:path>
            </a:pathLst>
          </a:custGeom>
          <a:ln w="1860" cap="flat">
            <a:noFill/>
            <a:prstDash val="solid"/>
            <a:miter/>
          </a:ln>
        </p:spPr>
        <p:txBody>
          <a:bodyPr rtlCol="0" anchor="ctr"/>
          <a:lstStyle/>
          <a:p>
            <a:endParaRPr lang="zh-CN" altLang="en-US"/>
          </a:p>
        </p:txBody>
      </p:sp>
      <p:sp useBgFill="1">
        <p:nvSpPr>
          <p:cNvPr id="15" name="任意多边形: 形状 14">
            <a:extLst>
              <a:ext uri="{FF2B5EF4-FFF2-40B4-BE49-F238E27FC236}">
                <a16:creationId xmlns:a16="http://schemas.microsoft.com/office/drawing/2014/main" id="{4B68E094-2FA3-371D-2E04-8D93F72025FB}"/>
              </a:ext>
            </a:extLst>
          </p:cNvPr>
          <p:cNvSpPr/>
          <p:nvPr/>
        </p:nvSpPr>
        <p:spPr>
          <a:xfrm rot="19768596">
            <a:off x="5008241" y="-987134"/>
            <a:ext cx="10575005" cy="6419902"/>
          </a:xfrm>
          <a:custGeom>
            <a:avLst/>
            <a:gdLst>
              <a:gd name="connsiteX0" fmla="*/ 1666689 w 1667202"/>
              <a:gd name="connsiteY0" fmla="*/ 114598 h 593501"/>
              <a:gd name="connsiteX1" fmla="*/ 1663154 w 1667202"/>
              <a:gd name="connsiteY1" fmla="*/ 111249 h 593501"/>
              <a:gd name="connsiteX2" fmla="*/ 1659620 w 1667202"/>
              <a:gd name="connsiteY2" fmla="*/ 111249 h 593501"/>
              <a:gd name="connsiteX3" fmla="*/ 1656457 w 1667202"/>
              <a:gd name="connsiteY3" fmla="*/ 113854 h 593501"/>
              <a:gd name="connsiteX4" fmla="*/ 1649202 w 1667202"/>
              <a:gd name="connsiteY4" fmla="*/ 114226 h 593501"/>
              <a:gd name="connsiteX5" fmla="*/ 1646039 w 1667202"/>
              <a:gd name="connsiteY5" fmla="*/ 114412 h 593501"/>
              <a:gd name="connsiteX6" fmla="*/ 1642504 w 1667202"/>
              <a:gd name="connsiteY6" fmla="*/ 113667 h 593501"/>
              <a:gd name="connsiteX7" fmla="*/ 1631714 w 1667202"/>
              <a:gd name="connsiteY7" fmla="*/ 113854 h 593501"/>
              <a:gd name="connsiteX8" fmla="*/ 1628552 w 1667202"/>
              <a:gd name="connsiteY8" fmla="*/ 113481 h 593501"/>
              <a:gd name="connsiteX9" fmla="*/ 1629110 w 1667202"/>
              <a:gd name="connsiteY9" fmla="*/ 112365 h 593501"/>
              <a:gd name="connsiteX10" fmla="*/ 1627808 w 1667202"/>
              <a:gd name="connsiteY10" fmla="*/ 111435 h 593501"/>
              <a:gd name="connsiteX11" fmla="*/ 1607530 w 1667202"/>
              <a:gd name="connsiteY11" fmla="*/ 103436 h 593501"/>
              <a:gd name="connsiteX12" fmla="*/ 1605670 w 1667202"/>
              <a:gd name="connsiteY12" fmla="*/ 102877 h 593501"/>
              <a:gd name="connsiteX13" fmla="*/ 1607530 w 1667202"/>
              <a:gd name="connsiteY13" fmla="*/ 101761 h 593501"/>
              <a:gd name="connsiteX14" fmla="*/ 1601205 w 1667202"/>
              <a:gd name="connsiteY14" fmla="*/ 97668 h 593501"/>
              <a:gd name="connsiteX15" fmla="*/ 1600460 w 1667202"/>
              <a:gd name="connsiteY15" fmla="*/ 103994 h 593501"/>
              <a:gd name="connsiteX16" fmla="*/ 1593391 w 1667202"/>
              <a:gd name="connsiteY16" fmla="*/ 104180 h 593501"/>
              <a:gd name="connsiteX17" fmla="*/ 1585392 w 1667202"/>
              <a:gd name="connsiteY17" fmla="*/ 102877 h 593501"/>
              <a:gd name="connsiteX18" fmla="*/ 1581113 w 1667202"/>
              <a:gd name="connsiteY18" fmla="*/ 102691 h 593501"/>
              <a:gd name="connsiteX19" fmla="*/ 1579997 w 1667202"/>
              <a:gd name="connsiteY19" fmla="*/ 103250 h 593501"/>
              <a:gd name="connsiteX20" fmla="*/ 1578880 w 1667202"/>
              <a:gd name="connsiteY20" fmla="*/ 100831 h 593501"/>
              <a:gd name="connsiteX21" fmla="*/ 1579811 w 1667202"/>
              <a:gd name="connsiteY21" fmla="*/ 101017 h 593501"/>
              <a:gd name="connsiteX22" fmla="*/ 1580741 w 1667202"/>
              <a:gd name="connsiteY22" fmla="*/ 100831 h 593501"/>
              <a:gd name="connsiteX23" fmla="*/ 1576090 w 1667202"/>
              <a:gd name="connsiteY23" fmla="*/ 97110 h 593501"/>
              <a:gd name="connsiteX24" fmla="*/ 1575718 w 1667202"/>
              <a:gd name="connsiteY24" fmla="*/ 99901 h 593501"/>
              <a:gd name="connsiteX25" fmla="*/ 1574602 w 1667202"/>
              <a:gd name="connsiteY25" fmla="*/ 100087 h 593501"/>
              <a:gd name="connsiteX26" fmla="*/ 1573299 w 1667202"/>
              <a:gd name="connsiteY26" fmla="*/ 99157 h 593501"/>
              <a:gd name="connsiteX27" fmla="*/ 1561951 w 1667202"/>
              <a:gd name="connsiteY27" fmla="*/ 93762 h 593501"/>
              <a:gd name="connsiteX28" fmla="*/ 1552091 w 1667202"/>
              <a:gd name="connsiteY28" fmla="*/ 93762 h 593501"/>
              <a:gd name="connsiteX29" fmla="*/ 1544464 w 1667202"/>
              <a:gd name="connsiteY29" fmla="*/ 97110 h 593501"/>
              <a:gd name="connsiteX30" fmla="*/ 1542976 w 1667202"/>
              <a:gd name="connsiteY30" fmla="*/ 97296 h 593501"/>
              <a:gd name="connsiteX31" fmla="*/ 1540185 w 1667202"/>
              <a:gd name="connsiteY31" fmla="*/ 94134 h 593501"/>
              <a:gd name="connsiteX32" fmla="*/ 1534976 w 1667202"/>
              <a:gd name="connsiteY32" fmla="*/ 94134 h 593501"/>
              <a:gd name="connsiteX33" fmla="*/ 1523814 w 1667202"/>
              <a:gd name="connsiteY33" fmla="*/ 93576 h 593501"/>
              <a:gd name="connsiteX34" fmla="*/ 1523070 w 1667202"/>
              <a:gd name="connsiteY34" fmla="*/ 95622 h 593501"/>
              <a:gd name="connsiteX35" fmla="*/ 1520279 w 1667202"/>
              <a:gd name="connsiteY35" fmla="*/ 97110 h 593501"/>
              <a:gd name="connsiteX36" fmla="*/ 1516745 w 1667202"/>
              <a:gd name="connsiteY36" fmla="*/ 96924 h 593501"/>
              <a:gd name="connsiteX37" fmla="*/ 1506327 w 1667202"/>
              <a:gd name="connsiteY37" fmla="*/ 93762 h 593501"/>
              <a:gd name="connsiteX38" fmla="*/ 1502978 w 1667202"/>
              <a:gd name="connsiteY38" fmla="*/ 93948 h 593501"/>
              <a:gd name="connsiteX39" fmla="*/ 1503164 w 1667202"/>
              <a:gd name="connsiteY39" fmla="*/ 93948 h 593501"/>
              <a:gd name="connsiteX40" fmla="*/ 1496839 w 1667202"/>
              <a:gd name="connsiteY40" fmla="*/ 99715 h 593501"/>
              <a:gd name="connsiteX41" fmla="*/ 1494234 w 1667202"/>
              <a:gd name="connsiteY41" fmla="*/ 99715 h 593501"/>
              <a:gd name="connsiteX42" fmla="*/ 1472096 w 1667202"/>
              <a:gd name="connsiteY42" fmla="*/ 93576 h 593501"/>
              <a:gd name="connsiteX43" fmla="*/ 1446609 w 1667202"/>
              <a:gd name="connsiteY43" fmla="*/ 90413 h 593501"/>
              <a:gd name="connsiteX44" fmla="*/ 1368103 w 1667202"/>
              <a:gd name="connsiteY44" fmla="*/ 90599 h 593501"/>
              <a:gd name="connsiteX45" fmla="*/ 1362522 w 1667202"/>
              <a:gd name="connsiteY45" fmla="*/ 90599 h 593501"/>
              <a:gd name="connsiteX46" fmla="*/ 1321780 w 1667202"/>
              <a:gd name="connsiteY46" fmla="*/ 90227 h 593501"/>
              <a:gd name="connsiteX47" fmla="*/ 1321594 w 1667202"/>
              <a:gd name="connsiteY47" fmla="*/ 79437 h 593501"/>
              <a:gd name="connsiteX48" fmla="*/ 1321408 w 1667202"/>
              <a:gd name="connsiteY48" fmla="*/ 79623 h 593501"/>
              <a:gd name="connsiteX49" fmla="*/ 1360847 w 1667202"/>
              <a:gd name="connsiteY49" fmla="*/ 74414 h 593501"/>
              <a:gd name="connsiteX50" fmla="*/ 1364010 w 1667202"/>
              <a:gd name="connsiteY50" fmla="*/ 72926 h 593501"/>
              <a:gd name="connsiteX51" fmla="*/ 1376102 w 1667202"/>
              <a:gd name="connsiteY51" fmla="*/ 69949 h 593501"/>
              <a:gd name="connsiteX52" fmla="*/ 1366986 w 1667202"/>
              <a:gd name="connsiteY52" fmla="*/ 68647 h 593501"/>
              <a:gd name="connsiteX53" fmla="*/ 1363824 w 1667202"/>
              <a:gd name="connsiteY53" fmla="*/ 69205 h 593501"/>
              <a:gd name="connsiteX54" fmla="*/ 1356754 w 1667202"/>
              <a:gd name="connsiteY54" fmla="*/ 65856 h 593501"/>
              <a:gd name="connsiteX55" fmla="*/ 1355824 w 1667202"/>
              <a:gd name="connsiteY55" fmla="*/ 64740 h 593501"/>
              <a:gd name="connsiteX56" fmla="*/ 1356568 w 1667202"/>
              <a:gd name="connsiteY56" fmla="*/ 62136 h 593501"/>
              <a:gd name="connsiteX57" fmla="*/ 1356382 w 1667202"/>
              <a:gd name="connsiteY57" fmla="*/ 62136 h 593501"/>
              <a:gd name="connsiteX58" fmla="*/ 1363452 w 1667202"/>
              <a:gd name="connsiteY58" fmla="*/ 58229 h 593501"/>
              <a:gd name="connsiteX59" fmla="*/ 1363080 w 1667202"/>
              <a:gd name="connsiteY59" fmla="*/ 58601 h 593501"/>
              <a:gd name="connsiteX60" fmla="*/ 1361963 w 1667202"/>
              <a:gd name="connsiteY60" fmla="*/ 48927 h 593501"/>
              <a:gd name="connsiteX61" fmla="*/ 1346336 w 1667202"/>
              <a:gd name="connsiteY61" fmla="*/ 48183 h 593501"/>
              <a:gd name="connsiteX62" fmla="*/ 1341686 w 1667202"/>
              <a:gd name="connsiteY62" fmla="*/ 45579 h 593501"/>
              <a:gd name="connsiteX63" fmla="*/ 1335174 w 1667202"/>
              <a:gd name="connsiteY63" fmla="*/ 45207 h 593501"/>
              <a:gd name="connsiteX64" fmla="*/ 1345964 w 1667202"/>
              <a:gd name="connsiteY64" fmla="*/ 44090 h 593501"/>
              <a:gd name="connsiteX65" fmla="*/ 1369033 w 1667202"/>
              <a:gd name="connsiteY65" fmla="*/ 43346 h 593501"/>
              <a:gd name="connsiteX66" fmla="*/ 1370149 w 1667202"/>
              <a:gd name="connsiteY66" fmla="*/ 43160 h 593501"/>
              <a:gd name="connsiteX67" fmla="*/ 1372381 w 1667202"/>
              <a:gd name="connsiteY67" fmla="*/ 44648 h 593501"/>
              <a:gd name="connsiteX68" fmla="*/ 1447540 w 1667202"/>
              <a:gd name="connsiteY68" fmla="*/ 45579 h 593501"/>
              <a:gd name="connsiteX69" fmla="*/ 1481212 w 1667202"/>
              <a:gd name="connsiteY69" fmla="*/ 46509 h 593501"/>
              <a:gd name="connsiteX70" fmla="*/ 1482700 w 1667202"/>
              <a:gd name="connsiteY70" fmla="*/ 45021 h 593501"/>
              <a:gd name="connsiteX71" fmla="*/ 1492746 w 1667202"/>
              <a:gd name="connsiteY71" fmla="*/ 44834 h 593501"/>
              <a:gd name="connsiteX72" fmla="*/ 1506699 w 1667202"/>
              <a:gd name="connsiteY72" fmla="*/ 45207 h 593501"/>
              <a:gd name="connsiteX73" fmla="*/ 1508001 w 1667202"/>
              <a:gd name="connsiteY73" fmla="*/ 47997 h 593501"/>
              <a:gd name="connsiteX74" fmla="*/ 1513024 w 1667202"/>
              <a:gd name="connsiteY74" fmla="*/ 48183 h 593501"/>
              <a:gd name="connsiteX75" fmla="*/ 1520465 w 1667202"/>
              <a:gd name="connsiteY75" fmla="*/ 41672 h 593501"/>
              <a:gd name="connsiteX76" fmla="*/ 1509861 w 1667202"/>
              <a:gd name="connsiteY76" fmla="*/ 42416 h 593501"/>
              <a:gd name="connsiteX77" fmla="*/ 1502978 w 1667202"/>
              <a:gd name="connsiteY77" fmla="*/ 40742 h 593501"/>
              <a:gd name="connsiteX78" fmla="*/ 1496281 w 1667202"/>
              <a:gd name="connsiteY78" fmla="*/ 40928 h 593501"/>
              <a:gd name="connsiteX79" fmla="*/ 1492560 w 1667202"/>
              <a:gd name="connsiteY79" fmla="*/ 40556 h 593501"/>
              <a:gd name="connsiteX80" fmla="*/ 1492188 w 1667202"/>
              <a:gd name="connsiteY80" fmla="*/ 41486 h 593501"/>
              <a:gd name="connsiteX81" fmla="*/ 1492932 w 1667202"/>
              <a:gd name="connsiteY81" fmla="*/ 42230 h 593501"/>
              <a:gd name="connsiteX82" fmla="*/ 1492746 w 1667202"/>
              <a:gd name="connsiteY82" fmla="*/ 44462 h 593501"/>
              <a:gd name="connsiteX83" fmla="*/ 1492932 w 1667202"/>
              <a:gd name="connsiteY83" fmla="*/ 42230 h 593501"/>
              <a:gd name="connsiteX84" fmla="*/ 1482886 w 1667202"/>
              <a:gd name="connsiteY84" fmla="*/ 41858 h 593501"/>
              <a:gd name="connsiteX85" fmla="*/ 1482700 w 1667202"/>
              <a:gd name="connsiteY85" fmla="*/ 41114 h 593501"/>
              <a:gd name="connsiteX86" fmla="*/ 1437866 w 1667202"/>
              <a:gd name="connsiteY86" fmla="*/ 34789 h 593501"/>
              <a:gd name="connsiteX87" fmla="*/ 1433029 w 1667202"/>
              <a:gd name="connsiteY87" fmla="*/ 36649 h 593501"/>
              <a:gd name="connsiteX88" fmla="*/ 1431168 w 1667202"/>
              <a:gd name="connsiteY88" fmla="*/ 36091 h 593501"/>
              <a:gd name="connsiteX89" fmla="*/ 1429308 w 1667202"/>
              <a:gd name="connsiteY89" fmla="*/ 34603 h 593501"/>
              <a:gd name="connsiteX90" fmla="*/ 1420565 w 1667202"/>
              <a:gd name="connsiteY90" fmla="*/ 31068 h 593501"/>
              <a:gd name="connsiteX91" fmla="*/ 1437308 w 1667202"/>
              <a:gd name="connsiteY91" fmla="*/ 30696 h 593501"/>
              <a:gd name="connsiteX92" fmla="*/ 1447168 w 1667202"/>
              <a:gd name="connsiteY92" fmla="*/ 30510 h 593501"/>
              <a:gd name="connsiteX93" fmla="*/ 1454981 w 1667202"/>
              <a:gd name="connsiteY93" fmla="*/ 30510 h 593501"/>
              <a:gd name="connsiteX94" fmla="*/ 1465027 w 1667202"/>
              <a:gd name="connsiteY94" fmla="*/ 27347 h 593501"/>
              <a:gd name="connsiteX95" fmla="*/ 1462422 w 1667202"/>
              <a:gd name="connsiteY95" fmla="*/ 26975 h 593501"/>
              <a:gd name="connsiteX96" fmla="*/ 1461120 w 1667202"/>
              <a:gd name="connsiteY96" fmla="*/ 24185 h 593501"/>
              <a:gd name="connsiteX97" fmla="*/ 1457958 w 1667202"/>
              <a:gd name="connsiteY97" fmla="*/ 23440 h 593501"/>
              <a:gd name="connsiteX98" fmla="*/ 1443819 w 1667202"/>
              <a:gd name="connsiteY98" fmla="*/ 20650 h 593501"/>
              <a:gd name="connsiteX99" fmla="*/ 1436750 w 1667202"/>
              <a:gd name="connsiteY99" fmla="*/ 21208 h 593501"/>
              <a:gd name="connsiteX100" fmla="*/ 1430238 w 1667202"/>
              <a:gd name="connsiteY100" fmla="*/ 20464 h 593501"/>
              <a:gd name="connsiteX101" fmla="*/ 1426704 w 1667202"/>
              <a:gd name="connsiteY101" fmla="*/ 23999 h 593501"/>
              <a:gd name="connsiteX102" fmla="*/ 1399542 w 1667202"/>
              <a:gd name="connsiteY102" fmla="*/ 22138 h 593501"/>
              <a:gd name="connsiteX103" fmla="*/ 1390799 w 1667202"/>
              <a:gd name="connsiteY103" fmla="*/ 21022 h 593501"/>
              <a:gd name="connsiteX104" fmla="*/ 1389311 w 1667202"/>
              <a:gd name="connsiteY104" fmla="*/ 21394 h 593501"/>
              <a:gd name="connsiteX105" fmla="*/ 1388194 w 1667202"/>
              <a:gd name="connsiteY105" fmla="*/ 20278 h 593501"/>
              <a:gd name="connsiteX106" fmla="*/ 1355638 w 1667202"/>
              <a:gd name="connsiteY106" fmla="*/ 15255 h 593501"/>
              <a:gd name="connsiteX107" fmla="*/ 1353778 w 1667202"/>
              <a:gd name="connsiteY107" fmla="*/ 15813 h 593501"/>
              <a:gd name="connsiteX108" fmla="*/ 1351732 w 1667202"/>
              <a:gd name="connsiteY108" fmla="*/ 13767 h 593501"/>
              <a:gd name="connsiteX109" fmla="*/ 1343546 w 1667202"/>
              <a:gd name="connsiteY109" fmla="*/ 13581 h 593501"/>
              <a:gd name="connsiteX110" fmla="*/ 1334988 w 1667202"/>
              <a:gd name="connsiteY110" fmla="*/ 13767 h 593501"/>
              <a:gd name="connsiteX111" fmla="*/ 1328849 w 1667202"/>
              <a:gd name="connsiteY111" fmla="*/ 13209 h 593501"/>
              <a:gd name="connsiteX112" fmla="*/ 1325687 w 1667202"/>
              <a:gd name="connsiteY112" fmla="*/ 13395 h 593501"/>
              <a:gd name="connsiteX113" fmla="*/ 1324756 w 1667202"/>
              <a:gd name="connsiteY113" fmla="*/ 12092 h 593501"/>
              <a:gd name="connsiteX114" fmla="*/ 1297037 w 1667202"/>
              <a:gd name="connsiteY114" fmla="*/ 10232 h 593501"/>
              <a:gd name="connsiteX115" fmla="*/ 1262621 w 1667202"/>
              <a:gd name="connsiteY115" fmla="*/ 9674 h 593501"/>
              <a:gd name="connsiteX116" fmla="*/ 1252203 w 1667202"/>
              <a:gd name="connsiteY116" fmla="*/ 9860 h 593501"/>
              <a:gd name="connsiteX117" fmla="*/ 1241785 w 1667202"/>
              <a:gd name="connsiteY117" fmla="*/ 9860 h 593501"/>
              <a:gd name="connsiteX118" fmla="*/ 1177789 w 1667202"/>
              <a:gd name="connsiteY118" fmla="*/ 7069 h 593501"/>
              <a:gd name="connsiteX119" fmla="*/ 1166440 w 1667202"/>
              <a:gd name="connsiteY119" fmla="*/ 7069 h 593501"/>
              <a:gd name="connsiteX120" fmla="*/ 1160487 w 1667202"/>
              <a:gd name="connsiteY120" fmla="*/ 7069 h 593501"/>
              <a:gd name="connsiteX121" fmla="*/ 1138907 w 1667202"/>
              <a:gd name="connsiteY121" fmla="*/ 7255 h 593501"/>
              <a:gd name="connsiteX122" fmla="*/ 1133326 w 1667202"/>
              <a:gd name="connsiteY122" fmla="*/ 7069 h 593501"/>
              <a:gd name="connsiteX123" fmla="*/ 1133698 w 1667202"/>
              <a:gd name="connsiteY123" fmla="*/ 7255 h 593501"/>
              <a:gd name="connsiteX124" fmla="*/ 1115281 w 1667202"/>
              <a:gd name="connsiteY124" fmla="*/ 5209 h 593501"/>
              <a:gd name="connsiteX125" fmla="*/ 1048122 w 1667202"/>
              <a:gd name="connsiteY125" fmla="*/ 3721 h 593501"/>
              <a:gd name="connsiteX126" fmla="*/ 1038076 w 1667202"/>
              <a:gd name="connsiteY126" fmla="*/ 3535 h 593501"/>
              <a:gd name="connsiteX127" fmla="*/ 966453 w 1667202"/>
              <a:gd name="connsiteY127" fmla="*/ 6511 h 593501"/>
              <a:gd name="connsiteX128" fmla="*/ 962918 w 1667202"/>
              <a:gd name="connsiteY128" fmla="*/ 6325 h 593501"/>
              <a:gd name="connsiteX129" fmla="*/ 938547 w 1667202"/>
              <a:gd name="connsiteY129" fmla="*/ 6511 h 593501"/>
              <a:gd name="connsiteX130" fmla="*/ 905619 w 1667202"/>
              <a:gd name="connsiteY130" fmla="*/ 7069 h 593501"/>
              <a:gd name="connsiteX131" fmla="*/ 879388 w 1667202"/>
              <a:gd name="connsiteY131" fmla="*/ 9860 h 593501"/>
              <a:gd name="connsiteX132" fmla="*/ 868784 w 1667202"/>
              <a:gd name="connsiteY132" fmla="*/ 10046 h 593501"/>
              <a:gd name="connsiteX133" fmla="*/ 844414 w 1667202"/>
              <a:gd name="connsiteY133" fmla="*/ 9860 h 593501"/>
              <a:gd name="connsiteX134" fmla="*/ 837902 w 1667202"/>
              <a:gd name="connsiteY134" fmla="*/ 10418 h 593501"/>
              <a:gd name="connsiteX135" fmla="*/ 827856 w 1667202"/>
              <a:gd name="connsiteY135" fmla="*/ 20464 h 593501"/>
              <a:gd name="connsiteX136" fmla="*/ 829159 w 1667202"/>
              <a:gd name="connsiteY136" fmla="*/ 20092 h 593501"/>
              <a:gd name="connsiteX137" fmla="*/ 830461 w 1667202"/>
              <a:gd name="connsiteY137" fmla="*/ 20650 h 593501"/>
              <a:gd name="connsiteX138" fmla="*/ 830461 w 1667202"/>
              <a:gd name="connsiteY138" fmla="*/ 27533 h 593501"/>
              <a:gd name="connsiteX139" fmla="*/ 828973 w 1667202"/>
              <a:gd name="connsiteY139" fmla="*/ 29394 h 593501"/>
              <a:gd name="connsiteX140" fmla="*/ 826368 w 1667202"/>
              <a:gd name="connsiteY140" fmla="*/ 29394 h 593501"/>
              <a:gd name="connsiteX141" fmla="*/ 809625 w 1667202"/>
              <a:gd name="connsiteY141" fmla="*/ 30696 h 593501"/>
              <a:gd name="connsiteX142" fmla="*/ 807021 w 1667202"/>
              <a:gd name="connsiteY142" fmla="*/ 31440 h 593501"/>
              <a:gd name="connsiteX143" fmla="*/ 785068 w 1667202"/>
              <a:gd name="connsiteY143" fmla="*/ 34417 h 593501"/>
              <a:gd name="connsiteX144" fmla="*/ 724235 w 1667202"/>
              <a:gd name="connsiteY144" fmla="*/ 34975 h 593501"/>
              <a:gd name="connsiteX145" fmla="*/ 676982 w 1667202"/>
              <a:gd name="connsiteY145" fmla="*/ 37765 h 593501"/>
              <a:gd name="connsiteX146" fmla="*/ 663960 w 1667202"/>
              <a:gd name="connsiteY146" fmla="*/ 38509 h 593501"/>
              <a:gd name="connsiteX147" fmla="*/ 652797 w 1667202"/>
              <a:gd name="connsiteY147" fmla="*/ 42788 h 593501"/>
              <a:gd name="connsiteX148" fmla="*/ 661541 w 1667202"/>
              <a:gd name="connsiteY148" fmla="*/ 53578 h 593501"/>
              <a:gd name="connsiteX149" fmla="*/ 663029 w 1667202"/>
              <a:gd name="connsiteY149" fmla="*/ 54322 h 593501"/>
              <a:gd name="connsiteX150" fmla="*/ 663215 w 1667202"/>
              <a:gd name="connsiteY150" fmla="*/ 55252 h 593501"/>
              <a:gd name="connsiteX151" fmla="*/ 665820 w 1667202"/>
              <a:gd name="connsiteY151" fmla="*/ 56555 h 593501"/>
              <a:gd name="connsiteX152" fmla="*/ 663215 w 1667202"/>
              <a:gd name="connsiteY152" fmla="*/ 58973 h 593501"/>
              <a:gd name="connsiteX153" fmla="*/ 663029 w 1667202"/>
              <a:gd name="connsiteY153" fmla="*/ 59717 h 593501"/>
              <a:gd name="connsiteX154" fmla="*/ 660425 w 1667202"/>
              <a:gd name="connsiteY154" fmla="*/ 60461 h 593501"/>
              <a:gd name="connsiteX155" fmla="*/ 653542 w 1667202"/>
              <a:gd name="connsiteY155" fmla="*/ 68647 h 593501"/>
              <a:gd name="connsiteX156" fmla="*/ 653169 w 1667202"/>
              <a:gd name="connsiteY156" fmla="*/ 68275 h 593501"/>
              <a:gd name="connsiteX157" fmla="*/ 642007 w 1667202"/>
              <a:gd name="connsiteY157" fmla="*/ 79437 h 593501"/>
              <a:gd name="connsiteX158" fmla="*/ 639031 w 1667202"/>
              <a:gd name="connsiteY158" fmla="*/ 79809 h 593501"/>
              <a:gd name="connsiteX159" fmla="*/ 606661 w 1667202"/>
              <a:gd name="connsiteY159" fmla="*/ 79809 h 593501"/>
              <a:gd name="connsiteX160" fmla="*/ 603684 w 1667202"/>
              <a:gd name="connsiteY160" fmla="*/ 79437 h 593501"/>
              <a:gd name="connsiteX161" fmla="*/ 592894 w 1667202"/>
              <a:gd name="connsiteY161" fmla="*/ 76274 h 593501"/>
              <a:gd name="connsiteX162" fmla="*/ 593080 w 1667202"/>
              <a:gd name="connsiteY162" fmla="*/ 76460 h 593501"/>
              <a:gd name="connsiteX163" fmla="*/ 589918 w 1667202"/>
              <a:gd name="connsiteY163" fmla="*/ 72554 h 593501"/>
              <a:gd name="connsiteX164" fmla="*/ 589359 w 1667202"/>
              <a:gd name="connsiteY164" fmla="*/ 71252 h 593501"/>
              <a:gd name="connsiteX165" fmla="*/ 590476 w 1667202"/>
              <a:gd name="connsiteY165" fmla="*/ 69019 h 593501"/>
              <a:gd name="connsiteX166" fmla="*/ 595871 w 1667202"/>
              <a:gd name="connsiteY166" fmla="*/ 64740 h 593501"/>
              <a:gd name="connsiteX167" fmla="*/ 599963 w 1667202"/>
              <a:gd name="connsiteY167" fmla="*/ 61764 h 593501"/>
              <a:gd name="connsiteX168" fmla="*/ 599777 w 1667202"/>
              <a:gd name="connsiteY168" fmla="*/ 61950 h 593501"/>
              <a:gd name="connsiteX169" fmla="*/ 586755 w 1667202"/>
              <a:gd name="connsiteY169" fmla="*/ 56183 h 593501"/>
              <a:gd name="connsiteX170" fmla="*/ 587127 w 1667202"/>
              <a:gd name="connsiteY170" fmla="*/ 55811 h 593501"/>
              <a:gd name="connsiteX171" fmla="*/ 582662 w 1667202"/>
              <a:gd name="connsiteY171" fmla="*/ 58601 h 593501"/>
              <a:gd name="connsiteX172" fmla="*/ 575779 w 1667202"/>
              <a:gd name="connsiteY172" fmla="*/ 62508 h 593501"/>
              <a:gd name="connsiteX173" fmla="*/ 575965 w 1667202"/>
              <a:gd name="connsiteY173" fmla="*/ 62322 h 593501"/>
              <a:gd name="connsiteX174" fmla="*/ 568710 w 1667202"/>
              <a:gd name="connsiteY174" fmla="*/ 65670 h 593501"/>
              <a:gd name="connsiteX175" fmla="*/ 568896 w 1667202"/>
              <a:gd name="connsiteY175" fmla="*/ 65670 h 593501"/>
              <a:gd name="connsiteX176" fmla="*/ 558292 w 1667202"/>
              <a:gd name="connsiteY176" fmla="*/ 68647 h 593501"/>
              <a:gd name="connsiteX177" fmla="*/ 530386 w 1667202"/>
              <a:gd name="connsiteY177" fmla="*/ 68647 h 593501"/>
              <a:gd name="connsiteX178" fmla="*/ 526666 w 1667202"/>
              <a:gd name="connsiteY178" fmla="*/ 65856 h 593501"/>
              <a:gd name="connsiteX179" fmla="*/ 523131 w 1667202"/>
              <a:gd name="connsiteY179" fmla="*/ 62322 h 593501"/>
              <a:gd name="connsiteX180" fmla="*/ 516062 w 1667202"/>
              <a:gd name="connsiteY180" fmla="*/ 58601 h 593501"/>
              <a:gd name="connsiteX181" fmla="*/ 500063 w 1667202"/>
              <a:gd name="connsiteY181" fmla="*/ 58787 h 593501"/>
              <a:gd name="connsiteX182" fmla="*/ 488714 w 1667202"/>
              <a:gd name="connsiteY182" fmla="*/ 61578 h 593501"/>
              <a:gd name="connsiteX183" fmla="*/ 485552 w 1667202"/>
              <a:gd name="connsiteY183" fmla="*/ 62136 h 593501"/>
              <a:gd name="connsiteX184" fmla="*/ 471227 w 1667202"/>
              <a:gd name="connsiteY184" fmla="*/ 65298 h 593501"/>
              <a:gd name="connsiteX185" fmla="*/ 468437 w 1667202"/>
              <a:gd name="connsiteY185" fmla="*/ 65670 h 593501"/>
              <a:gd name="connsiteX186" fmla="*/ 450205 w 1667202"/>
              <a:gd name="connsiteY186" fmla="*/ 68647 h 593501"/>
              <a:gd name="connsiteX187" fmla="*/ 446670 w 1667202"/>
              <a:gd name="connsiteY187" fmla="*/ 68647 h 593501"/>
              <a:gd name="connsiteX188" fmla="*/ 442392 w 1667202"/>
              <a:gd name="connsiteY188" fmla="*/ 66042 h 593501"/>
              <a:gd name="connsiteX189" fmla="*/ 434950 w 1667202"/>
              <a:gd name="connsiteY189" fmla="*/ 62322 h 593501"/>
              <a:gd name="connsiteX190" fmla="*/ 432718 w 1667202"/>
              <a:gd name="connsiteY190" fmla="*/ 61764 h 593501"/>
              <a:gd name="connsiteX191" fmla="*/ 418765 w 1667202"/>
              <a:gd name="connsiteY191" fmla="*/ 61578 h 593501"/>
              <a:gd name="connsiteX192" fmla="*/ 416347 w 1667202"/>
              <a:gd name="connsiteY192" fmla="*/ 62322 h 593501"/>
              <a:gd name="connsiteX193" fmla="*/ 408719 w 1667202"/>
              <a:gd name="connsiteY193" fmla="*/ 66042 h 593501"/>
              <a:gd name="connsiteX194" fmla="*/ 401650 w 1667202"/>
              <a:gd name="connsiteY194" fmla="*/ 69577 h 593501"/>
              <a:gd name="connsiteX195" fmla="*/ 394209 w 1667202"/>
              <a:gd name="connsiteY195" fmla="*/ 72368 h 593501"/>
              <a:gd name="connsiteX196" fmla="*/ 393278 w 1667202"/>
              <a:gd name="connsiteY196" fmla="*/ 73298 h 593501"/>
              <a:gd name="connsiteX197" fmla="*/ 391976 w 1667202"/>
              <a:gd name="connsiteY197" fmla="*/ 72926 h 593501"/>
              <a:gd name="connsiteX198" fmla="*/ 376535 w 1667202"/>
              <a:gd name="connsiteY198" fmla="*/ 72740 h 593501"/>
              <a:gd name="connsiteX199" fmla="*/ 356071 w 1667202"/>
              <a:gd name="connsiteY199" fmla="*/ 72554 h 593501"/>
              <a:gd name="connsiteX200" fmla="*/ 349188 w 1667202"/>
              <a:gd name="connsiteY200" fmla="*/ 76460 h 593501"/>
              <a:gd name="connsiteX201" fmla="*/ 349374 w 1667202"/>
              <a:gd name="connsiteY201" fmla="*/ 76274 h 593501"/>
              <a:gd name="connsiteX202" fmla="*/ 342677 w 1667202"/>
              <a:gd name="connsiteY202" fmla="*/ 80181 h 593501"/>
              <a:gd name="connsiteX203" fmla="*/ 338584 w 1667202"/>
              <a:gd name="connsiteY203" fmla="*/ 82414 h 593501"/>
              <a:gd name="connsiteX204" fmla="*/ 335979 w 1667202"/>
              <a:gd name="connsiteY204" fmla="*/ 83158 h 593501"/>
              <a:gd name="connsiteX205" fmla="*/ 324631 w 1667202"/>
              <a:gd name="connsiteY205" fmla="*/ 85948 h 593501"/>
              <a:gd name="connsiteX206" fmla="*/ 301377 w 1667202"/>
              <a:gd name="connsiteY206" fmla="*/ 86692 h 593501"/>
              <a:gd name="connsiteX207" fmla="*/ 296540 w 1667202"/>
              <a:gd name="connsiteY207" fmla="*/ 96180 h 593501"/>
              <a:gd name="connsiteX208" fmla="*/ 296168 w 1667202"/>
              <a:gd name="connsiteY208" fmla="*/ 96552 h 593501"/>
              <a:gd name="connsiteX209" fmla="*/ 289657 w 1667202"/>
              <a:gd name="connsiteY209" fmla="*/ 100273 h 593501"/>
              <a:gd name="connsiteX210" fmla="*/ 279053 w 1667202"/>
              <a:gd name="connsiteY210" fmla="*/ 103622 h 593501"/>
              <a:gd name="connsiteX211" fmla="*/ 276448 w 1667202"/>
              <a:gd name="connsiteY211" fmla="*/ 103994 h 593501"/>
              <a:gd name="connsiteX212" fmla="*/ 261565 w 1667202"/>
              <a:gd name="connsiteY212" fmla="*/ 106970 h 593501"/>
              <a:gd name="connsiteX213" fmla="*/ 256356 w 1667202"/>
              <a:gd name="connsiteY213" fmla="*/ 107528 h 593501"/>
              <a:gd name="connsiteX214" fmla="*/ 244636 w 1667202"/>
              <a:gd name="connsiteY214" fmla="*/ 112365 h 593501"/>
              <a:gd name="connsiteX215" fmla="*/ 245008 w 1667202"/>
              <a:gd name="connsiteY215" fmla="*/ 125388 h 593501"/>
              <a:gd name="connsiteX216" fmla="*/ 238125 w 1667202"/>
              <a:gd name="connsiteY216" fmla="*/ 132271 h 593501"/>
              <a:gd name="connsiteX217" fmla="*/ 233660 w 1667202"/>
              <a:gd name="connsiteY217" fmla="*/ 138410 h 593501"/>
              <a:gd name="connsiteX218" fmla="*/ 230125 w 1667202"/>
              <a:gd name="connsiteY218" fmla="*/ 151991 h 593501"/>
              <a:gd name="connsiteX219" fmla="*/ 227707 w 1667202"/>
              <a:gd name="connsiteY219" fmla="*/ 152735 h 593501"/>
              <a:gd name="connsiteX220" fmla="*/ 216545 w 1667202"/>
              <a:gd name="connsiteY220" fmla="*/ 164083 h 593501"/>
              <a:gd name="connsiteX221" fmla="*/ 216359 w 1667202"/>
              <a:gd name="connsiteY221" fmla="*/ 165385 h 593501"/>
              <a:gd name="connsiteX222" fmla="*/ 230125 w 1667202"/>
              <a:gd name="connsiteY222" fmla="*/ 183617 h 593501"/>
              <a:gd name="connsiteX223" fmla="*/ 230870 w 1667202"/>
              <a:gd name="connsiteY223" fmla="*/ 184733 h 593501"/>
              <a:gd name="connsiteX224" fmla="*/ 229939 w 1667202"/>
              <a:gd name="connsiteY224" fmla="*/ 187151 h 593501"/>
              <a:gd name="connsiteX225" fmla="*/ 229753 w 1667202"/>
              <a:gd name="connsiteY225" fmla="*/ 187151 h 593501"/>
              <a:gd name="connsiteX226" fmla="*/ 231614 w 1667202"/>
              <a:gd name="connsiteY226" fmla="*/ 197197 h 593501"/>
              <a:gd name="connsiteX227" fmla="*/ 240357 w 1667202"/>
              <a:gd name="connsiteY227" fmla="*/ 197941 h 593501"/>
              <a:gd name="connsiteX228" fmla="*/ 247613 w 1667202"/>
              <a:gd name="connsiteY228" fmla="*/ 200546 h 593501"/>
              <a:gd name="connsiteX229" fmla="*/ 253752 w 1667202"/>
              <a:gd name="connsiteY229" fmla="*/ 204825 h 593501"/>
              <a:gd name="connsiteX230" fmla="*/ 253938 w 1667202"/>
              <a:gd name="connsiteY230" fmla="*/ 205197 h 593501"/>
              <a:gd name="connsiteX231" fmla="*/ 255426 w 1667202"/>
              <a:gd name="connsiteY231" fmla="*/ 205941 h 593501"/>
              <a:gd name="connsiteX232" fmla="*/ 254124 w 1667202"/>
              <a:gd name="connsiteY232" fmla="*/ 206871 h 593501"/>
              <a:gd name="connsiteX233" fmla="*/ 251147 w 1667202"/>
              <a:gd name="connsiteY233" fmla="*/ 208173 h 593501"/>
              <a:gd name="connsiteX234" fmla="*/ 250961 w 1667202"/>
              <a:gd name="connsiteY234" fmla="*/ 214871 h 593501"/>
              <a:gd name="connsiteX235" fmla="*/ 250961 w 1667202"/>
              <a:gd name="connsiteY235" fmla="*/ 214685 h 593501"/>
              <a:gd name="connsiteX236" fmla="*/ 254124 w 1667202"/>
              <a:gd name="connsiteY236" fmla="*/ 220638 h 593501"/>
              <a:gd name="connsiteX237" fmla="*/ 255426 w 1667202"/>
              <a:gd name="connsiteY237" fmla="*/ 240543 h 593501"/>
              <a:gd name="connsiteX238" fmla="*/ 257287 w 1667202"/>
              <a:gd name="connsiteY238" fmla="*/ 240543 h 593501"/>
              <a:gd name="connsiteX239" fmla="*/ 257287 w 1667202"/>
              <a:gd name="connsiteY239" fmla="*/ 241288 h 593501"/>
              <a:gd name="connsiteX240" fmla="*/ 255426 w 1667202"/>
              <a:gd name="connsiteY240" fmla="*/ 240729 h 593501"/>
              <a:gd name="connsiteX241" fmla="*/ 252450 w 1667202"/>
              <a:gd name="connsiteY241" fmla="*/ 239799 h 593501"/>
              <a:gd name="connsiteX242" fmla="*/ 243520 w 1667202"/>
              <a:gd name="connsiteY242" fmla="*/ 238311 h 593501"/>
              <a:gd name="connsiteX243" fmla="*/ 219335 w 1667202"/>
              <a:gd name="connsiteY243" fmla="*/ 236823 h 593501"/>
              <a:gd name="connsiteX244" fmla="*/ 219521 w 1667202"/>
              <a:gd name="connsiteY244" fmla="*/ 238683 h 593501"/>
              <a:gd name="connsiteX245" fmla="*/ 222126 w 1667202"/>
              <a:gd name="connsiteY245" fmla="*/ 238683 h 593501"/>
              <a:gd name="connsiteX246" fmla="*/ 186779 w 1667202"/>
              <a:gd name="connsiteY246" fmla="*/ 241846 h 593501"/>
              <a:gd name="connsiteX247" fmla="*/ 191058 w 1667202"/>
              <a:gd name="connsiteY247" fmla="*/ 239799 h 593501"/>
              <a:gd name="connsiteX248" fmla="*/ 179524 w 1667202"/>
              <a:gd name="connsiteY248" fmla="*/ 239799 h 593501"/>
              <a:gd name="connsiteX249" fmla="*/ 178036 w 1667202"/>
              <a:gd name="connsiteY249" fmla="*/ 238497 h 593501"/>
              <a:gd name="connsiteX250" fmla="*/ 171338 w 1667202"/>
              <a:gd name="connsiteY250" fmla="*/ 237567 h 593501"/>
              <a:gd name="connsiteX251" fmla="*/ 167060 w 1667202"/>
              <a:gd name="connsiteY251" fmla="*/ 238869 h 593501"/>
              <a:gd name="connsiteX252" fmla="*/ 154967 w 1667202"/>
              <a:gd name="connsiteY252" fmla="*/ 239613 h 593501"/>
              <a:gd name="connsiteX253" fmla="*/ 139154 w 1667202"/>
              <a:gd name="connsiteY253" fmla="*/ 242776 h 593501"/>
              <a:gd name="connsiteX254" fmla="*/ 138410 w 1667202"/>
              <a:gd name="connsiteY254" fmla="*/ 243520 h 593501"/>
              <a:gd name="connsiteX255" fmla="*/ 137480 w 1667202"/>
              <a:gd name="connsiteY255" fmla="*/ 243148 h 593501"/>
              <a:gd name="connsiteX256" fmla="*/ 146782 w 1667202"/>
              <a:gd name="connsiteY256" fmla="*/ 248915 h 593501"/>
              <a:gd name="connsiteX257" fmla="*/ 146596 w 1667202"/>
              <a:gd name="connsiteY257" fmla="*/ 248729 h 593501"/>
              <a:gd name="connsiteX258" fmla="*/ 148456 w 1667202"/>
              <a:gd name="connsiteY258" fmla="*/ 251334 h 593501"/>
              <a:gd name="connsiteX259" fmla="*/ 150502 w 1667202"/>
              <a:gd name="connsiteY259" fmla="*/ 256170 h 593501"/>
              <a:gd name="connsiteX260" fmla="*/ 156456 w 1667202"/>
              <a:gd name="connsiteY260" fmla="*/ 257287 h 593501"/>
              <a:gd name="connsiteX261" fmla="*/ 158688 w 1667202"/>
              <a:gd name="connsiteY261" fmla="*/ 256729 h 593501"/>
              <a:gd name="connsiteX262" fmla="*/ 160734 w 1667202"/>
              <a:gd name="connsiteY262" fmla="*/ 258589 h 593501"/>
              <a:gd name="connsiteX263" fmla="*/ 160920 w 1667202"/>
              <a:gd name="connsiteY263" fmla="*/ 260077 h 593501"/>
              <a:gd name="connsiteX264" fmla="*/ 159618 w 1667202"/>
              <a:gd name="connsiteY264" fmla="*/ 260263 h 593501"/>
              <a:gd name="connsiteX265" fmla="*/ 139154 w 1667202"/>
              <a:gd name="connsiteY265" fmla="*/ 263240 h 593501"/>
              <a:gd name="connsiteX266" fmla="*/ 135620 w 1667202"/>
              <a:gd name="connsiteY266" fmla="*/ 263426 h 593501"/>
              <a:gd name="connsiteX267" fmla="*/ 128736 w 1667202"/>
              <a:gd name="connsiteY267" fmla="*/ 263240 h 593501"/>
              <a:gd name="connsiteX268" fmla="*/ 112551 w 1667202"/>
              <a:gd name="connsiteY268" fmla="*/ 263798 h 593501"/>
              <a:gd name="connsiteX269" fmla="*/ 76460 w 1667202"/>
              <a:gd name="connsiteY269" fmla="*/ 267147 h 593501"/>
              <a:gd name="connsiteX270" fmla="*/ 76646 w 1667202"/>
              <a:gd name="connsiteY270" fmla="*/ 267147 h 593501"/>
              <a:gd name="connsiteX271" fmla="*/ 68089 w 1667202"/>
              <a:gd name="connsiteY271" fmla="*/ 267333 h 593501"/>
              <a:gd name="connsiteX272" fmla="*/ 63996 w 1667202"/>
              <a:gd name="connsiteY272" fmla="*/ 267333 h 593501"/>
              <a:gd name="connsiteX273" fmla="*/ 58973 w 1667202"/>
              <a:gd name="connsiteY273" fmla="*/ 269937 h 593501"/>
              <a:gd name="connsiteX274" fmla="*/ 55438 w 1667202"/>
              <a:gd name="connsiteY274" fmla="*/ 270123 h 593501"/>
              <a:gd name="connsiteX275" fmla="*/ 41486 w 1667202"/>
              <a:gd name="connsiteY275" fmla="*/ 270123 h 593501"/>
              <a:gd name="connsiteX276" fmla="*/ 35719 w 1667202"/>
              <a:gd name="connsiteY276" fmla="*/ 270681 h 593501"/>
              <a:gd name="connsiteX277" fmla="*/ 34417 w 1667202"/>
              <a:gd name="connsiteY277" fmla="*/ 271797 h 593501"/>
              <a:gd name="connsiteX278" fmla="*/ 34230 w 1667202"/>
              <a:gd name="connsiteY278" fmla="*/ 273100 h 593501"/>
              <a:gd name="connsiteX279" fmla="*/ 58043 w 1667202"/>
              <a:gd name="connsiteY279" fmla="*/ 282587 h 593501"/>
              <a:gd name="connsiteX280" fmla="*/ 69019 w 1667202"/>
              <a:gd name="connsiteY280" fmla="*/ 292075 h 593501"/>
              <a:gd name="connsiteX281" fmla="*/ 65856 w 1667202"/>
              <a:gd name="connsiteY281" fmla="*/ 291703 h 593501"/>
              <a:gd name="connsiteX282" fmla="*/ 65856 w 1667202"/>
              <a:gd name="connsiteY282" fmla="*/ 291517 h 593501"/>
              <a:gd name="connsiteX283" fmla="*/ 51532 w 1667202"/>
              <a:gd name="connsiteY283" fmla="*/ 294680 h 593501"/>
              <a:gd name="connsiteX284" fmla="*/ 50974 w 1667202"/>
              <a:gd name="connsiteY284" fmla="*/ 295796 h 593501"/>
              <a:gd name="connsiteX285" fmla="*/ 51904 w 1667202"/>
              <a:gd name="connsiteY285" fmla="*/ 298028 h 593501"/>
              <a:gd name="connsiteX286" fmla="*/ 72554 w 1667202"/>
              <a:gd name="connsiteY286" fmla="*/ 298028 h 593501"/>
              <a:gd name="connsiteX287" fmla="*/ 73112 w 1667202"/>
              <a:gd name="connsiteY287" fmla="*/ 296168 h 593501"/>
              <a:gd name="connsiteX288" fmla="*/ 77391 w 1667202"/>
              <a:gd name="connsiteY288" fmla="*/ 296354 h 593501"/>
              <a:gd name="connsiteX289" fmla="*/ 189570 w 1667202"/>
              <a:gd name="connsiteY289" fmla="*/ 297842 h 593501"/>
              <a:gd name="connsiteX290" fmla="*/ 201476 w 1667202"/>
              <a:gd name="connsiteY290" fmla="*/ 297656 h 593501"/>
              <a:gd name="connsiteX291" fmla="*/ 201848 w 1667202"/>
              <a:gd name="connsiteY291" fmla="*/ 302121 h 593501"/>
              <a:gd name="connsiteX292" fmla="*/ 197941 w 1667202"/>
              <a:gd name="connsiteY292" fmla="*/ 305098 h 593501"/>
              <a:gd name="connsiteX293" fmla="*/ 206127 w 1667202"/>
              <a:gd name="connsiteY293" fmla="*/ 315144 h 593501"/>
              <a:gd name="connsiteX294" fmla="*/ 222126 w 1667202"/>
              <a:gd name="connsiteY294" fmla="*/ 315702 h 593501"/>
              <a:gd name="connsiteX295" fmla="*/ 284820 w 1667202"/>
              <a:gd name="connsiteY295" fmla="*/ 315702 h 593501"/>
              <a:gd name="connsiteX296" fmla="*/ 302307 w 1667202"/>
              <a:gd name="connsiteY296" fmla="*/ 315702 h 593501"/>
              <a:gd name="connsiteX297" fmla="*/ 309563 w 1667202"/>
              <a:gd name="connsiteY297" fmla="*/ 318678 h 593501"/>
              <a:gd name="connsiteX298" fmla="*/ 317562 w 1667202"/>
              <a:gd name="connsiteY298" fmla="*/ 322027 h 593501"/>
              <a:gd name="connsiteX299" fmla="*/ 326864 w 1667202"/>
              <a:gd name="connsiteY299" fmla="*/ 322771 h 593501"/>
              <a:gd name="connsiteX300" fmla="*/ 344351 w 1667202"/>
              <a:gd name="connsiteY300" fmla="*/ 330212 h 593501"/>
              <a:gd name="connsiteX301" fmla="*/ 344723 w 1667202"/>
              <a:gd name="connsiteY301" fmla="*/ 330398 h 593501"/>
              <a:gd name="connsiteX302" fmla="*/ 344537 w 1667202"/>
              <a:gd name="connsiteY302" fmla="*/ 331143 h 593501"/>
              <a:gd name="connsiteX303" fmla="*/ 340816 w 1667202"/>
              <a:gd name="connsiteY303" fmla="*/ 332631 h 593501"/>
              <a:gd name="connsiteX304" fmla="*/ 269565 w 1667202"/>
              <a:gd name="connsiteY304" fmla="*/ 333003 h 593501"/>
              <a:gd name="connsiteX305" fmla="*/ 222126 w 1667202"/>
              <a:gd name="connsiteY305" fmla="*/ 335980 h 593501"/>
              <a:gd name="connsiteX306" fmla="*/ 222498 w 1667202"/>
              <a:gd name="connsiteY306" fmla="*/ 336910 h 593501"/>
              <a:gd name="connsiteX307" fmla="*/ 212266 w 1667202"/>
              <a:gd name="connsiteY307" fmla="*/ 336538 h 593501"/>
              <a:gd name="connsiteX308" fmla="*/ 220638 w 1667202"/>
              <a:gd name="connsiteY308" fmla="*/ 342491 h 593501"/>
              <a:gd name="connsiteX309" fmla="*/ 222126 w 1667202"/>
              <a:gd name="connsiteY309" fmla="*/ 344723 h 593501"/>
              <a:gd name="connsiteX310" fmla="*/ 223800 w 1667202"/>
              <a:gd name="connsiteY310" fmla="*/ 355885 h 593501"/>
              <a:gd name="connsiteX311" fmla="*/ 224358 w 1667202"/>
              <a:gd name="connsiteY311" fmla="*/ 357188 h 593501"/>
              <a:gd name="connsiteX312" fmla="*/ 228637 w 1667202"/>
              <a:gd name="connsiteY312" fmla="*/ 361094 h 593501"/>
              <a:gd name="connsiteX313" fmla="*/ 224358 w 1667202"/>
              <a:gd name="connsiteY313" fmla="*/ 365001 h 593501"/>
              <a:gd name="connsiteX314" fmla="*/ 221010 w 1667202"/>
              <a:gd name="connsiteY314" fmla="*/ 368722 h 593501"/>
              <a:gd name="connsiteX315" fmla="*/ 208731 w 1667202"/>
              <a:gd name="connsiteY315" fmla="*/ 376721 h 593501"/>
              <a:gd name="connsiteX316" fmla="*/ 181570 w 1667202"/>
              <a:gd name="connsiteY316" fmla="*/ 376907 h 593501"/>
              <a:gd name="connsiteX317" fmla="*/ 180082 w 1667202"/>
              <a:gd name="connsiteY317" fmla="*/ 378582 h 593501"/>
              <a:gd name="connsiteX318" fmla="*/ 176919 w 1667202"/>
              <a:gd name="connsiteY318" fmla="*/ 377651 h 593501"/>
              <a:gd name="connsiteX319" fmla="*/ 173571 w 1667202"/>
              <a:gd name="connsiteY319" fmla="*/ 378396 h 593501"/>
              <a:gd name="connsiteX320" fmla="*/ 178222 w 1667202"/>
              <a:gd name="connsiteY320" fmla="*/ 384721 h 593501"/>
              <a:gd name="connsiteX321" fmla="*/ 184175 w 1667202"/>
              <a:gd name="connsiteY321" fmla="*/ 384721 h 593501"/>
              <a:gd name="connsiteX322" fmla="*/ 183803 w 1667202"/>
              <a:gd name="connsiteY322" fmla="*/ 385837 h 593501"/>
              <a:gd name="connsiteX323" fmla="*/ 188082 w 1667202"/>
              <a:gd name="connsiteY323" fmla="*/ 388255 h 593501"/>
              <a:gd name="connsiteX324" fmla="*/ 194035 w 1667202"/>
              <a:gd name="connsiteY324" fmla="*/ 392534 h 593501"/>
              <a:gd name="connsiteX325" fmla="*/ 194221 w 1667202"/>
              <a:gd name="connsiteY325" fmla="*/ 392720 h 593501"/>
              <a:gd name="connsiteX326" fmla="*/ 191802 w 1667202"/>
              <a:gd name="connsiteY326" fmla="*/ 400162 h 593501"/>
              <a:gd name="connsiteX327" fmla="*/ 187896 w 1667202"/>
              <a:gd name="connsiteY327" fmla="*/ 403696 h 593501"/>
              <a:gd name="connsiteX328" fmla="*/ 188268 w 1667202"/>
              <a:gd name="connsiteY328" fmla="*/ 403324 h 593501"/>
              <a:gd name="connsiteX329" fmla="*/ 192360 w 1667202"/>
              <a:gd name="connsiteY329" fmla="*/ 419881 h 593501"/>
              <a:gd name="connsiteX330" fmla="*/ 201290 w 1667202"/>
              <a:gd name="connsiteY330" fmla="*/ 420440 h 593501"/>
              <a:gd name="connsiteX331" fmla="*/ 239613 w 1667202"/>
              <a:gd name="connsiteY331" fmla="*/ 423788 h 593501"/>
              <a:gd name="connsiteX332" fmla="*/ 243148 w 1667202"/>
              <a:gd name="connsiteY332" fmla="*/ 423974 h 593501"/>
              <a:gd name="connsiteX333" fmla="*/ 247427 w 1667202"/>
              <a:gd name="connsiteY333" fmla="*/ 426765 h 593501"/>
              <a:gd name="connsiteX334" fmla="*/ 243148 w 1667202"/>
              <a:gd name="connsiteY334" fmla="*/ 430485 h 593501"/>
              <a:gd name="connsiteX335" fmla="*/ 208918 w 1667202"/>
              <a:gd name="connsiteY335" fmla="*/ 430857 h 593501"/>
              <a:gd name="connsiteX336" fmla="*/ 207429 w 1667202"/>
              <a:gd name="connsiteY336" fmla="*/ 432532 h 593501"/>
              <a:gd name="connsiteX337" fmla="*/ 198500 w 1667202"/>
              <a:gd name="connsiteY337" fmla="*/ 432532 h 593501"/>
              <a:gd name="connsiteX338" fmla="*/ 196639 w 1667202"/>
              <a:gd name="connsiteY338" fmla="*/ 431230 h 593501"/>
              <a:gd name="connsiteX339" fmla="*/ 153107 w 1667202"/>
              <a:gd name="connsiteY339" fmla="*/ 430857 h 593501"/>
              <a:gd name="connsiteX340" fmla="*/ 146224 w 1667202"/>
              <a:gd name="connsiteY340" fmla="*/ 433834 h 593501"/>
              <a:gd name="connsiteX341" fmla="*/ 113854 w 1667202"/>
              <a:gd name="connsiteY341" fmla="*/ 431043 h 593501"/>
              <a:gd name="connsiteX342" fmla="*/ 103994 w 1667202"/>
              <a:gd name="connsiteY342" fmla="*/ 430113 h 593501"/>
              <a:gd name="connsiteX343" fmla="*/ 91901 w 1667202"/>
              <a:gd name="connsiteY343" fmla="*/ 429183 h 593501"/>
              <a:gd name="connsiteX344" fmla="*/ 89855 w 1667202"/>
              <a:gd name="connsiteY344" fmla="*/ 430485 h 593501"/>
              <a:gd name="connsiteX345" fmla="*/ 86878 w 1667202"/>
              <a:gd name="connsiteY345" fmla="*/ 430113 h 593501"/>
              <a:gd name="connsiteX346" fmla="*/ 76646 w 1667202"/>
              <a:gd name="connsiteY346" fmla="*/ 430857 h 593501"/>
              <a:gd name="connsiteX347" fmla="*/ 72740 w 1667202"/>
              <a:gd name="connsiteY347" fmla="*/ 430671 h 593501"/>
              <a:gd name="connsiteX348" fmla="*/ 69577 w 1667202"/>
              <a:gd name="connsiteY348" fmla="*/ 430671 h 593501"/>
              <a:gd name="connsiteX349" fmla="*/ 65112 w 1667202"/>
              <a:gd name="connsiteY349" fmla="*/ 430857 h 593501"/>
              <a:gd name="connsiteX350" fmla="*/ 63252 w 1667202"/>
              <a:gd name="connsiteY350" fmla="*/ 430857 h 593501"/>
              <a:gd name="connsiteX351" fmla="*/ 59903 w 1667202"/>
              <a:gd name="connsiteY351" fmla="*/ 432160 h 593501"/>
              <a:gd name="connsiteX352" fmla="*/ 58973 w 1667202"/>
              <a:gd name="connsiteY352" fmla="*/ 430485 h 593501"/>
              <a:gd name="connsiteX353" fmla="*/ 41858 w 1667202"/>
              <a:gd name="connsiteY353" fmla="*/ 430671 h 593501"/>
              <a:gd name="connsiteX354" fmla="*/ 45021 w 1667202"/>
              <a:gd name="connsiteY354" fmla="*/ 437555 h 593501"/>
              <a:gd name="connsiteX355" fmla="*/ 52090 w 1667202"/>
              <a:gd name="connsiteY355" fmla="*/ 438113 h 593501"/>
              <a:gd name="connsiteX356" fmla="*/ 55252 w 1667202"/>
              <a:gd name="connsiteY356" fmla="*/ 437741 h 593501"/>
              <a:gd name="connsiteX357" fmla="*/ 57671 w 1667202"/>
              <a:gd name="connsiteY357" fmla="*/ 439229 h 593501"/>
              <a:gd name="connsiteX358" fmla="*/ 81297 w 1667202"/>
              <a:gd name="connsiteY358" fmla="*/ 440717 h 593501"/>
              <a:gd name="connsiteX359" fmla="*/ 86320 w 1667202"/>
              <a:gd name="connsiteY359" fmla="*/ 441089 h 593501"/>
              <a:gd name="connsiteX360" fmla="*/ 87809 w 1667202"/>
              <a:gd name="connsiteY360" fmla="*/ 438299 h 593501"/>
              <a:gd name="connsiteX361" fmla="*/ 88181 w 1667202"/>
              <a:gd name="connsiteY361" fmla="*/ 438299 h 593501"/>
              <a:gd name="connsiteX362" fmla="*/ 90227 w 1667202"/>
              <a:gd name="connsiteY362" fmla="*/ 441089 h 593501"/>
              <a:gd name="connsiteX363" fmla="*/ 95250 w 1667202"/>
              <a:gd name="connsiteY363" fmla="*/ 444252 h 593501"/>
              <a:gd name="connsiteX364" fmla="*/ 95622 w 1667202"/>
              <a:gd name="connsiteY364" fmla="*/ 444252 h 593501"/>
              <a:gd name="connsiteX365" fmla="*/ 125574 w 1667202"/>
              <a:gd name="connsiteY365" fmla="*/ 444252 h 593501"/>
              <a:gd name="connsiteX366" fmla="*/ 125202 w 1667202"/>
              <a:gd name="connsiteY366" fmla="*/ 443880 h 593501"/>
              <a:gd name="connsiteX367" fmla="*/ 145666 w 1667202"/>
              <a:gd name="connsiteY367" fmla="*/ 445368 h 593501"/>
              <a:gd name="connsiteX368" fmla="*/ 145666 w 1667202"/>
              <a:gd name="connsiteY368" fmla="*/ 445554 h 593501"/>
              <a:gd name="connsiteX369" fmla="*/ 144921 w 1667202"/>
              <a:gd name="connsiteY369" fmla="*/ 446484 h 593501"/>
              <a:gd name="connsiteX370" fmla="*/ 146038 w 1667202"/>
              <a:gd name="connsiteY370" fmla="*/ 447973 h 593501"/>
              <a:gd name="connsiteX371" fmla="*/ 166874 w 1667202"/>
              <a:gd name="connsiteY371" fmla="*/ 447787 h 593501"/>
              <a:gd name="connsiteX372" fmla="*/ 167804 w 1667202"/>
              <a:gd name="connsiteY372" fmla="*/ 447043 h 593501"/>
              <a:gd name="connsiteX373" fmla="*/ 189942 w 1667202"/>
              <a:gd name="connsiteY373" fmla="*/ 452066 h 593501"/>
              <a:gd name="connsiteX374" fmla="*/ 191244 w 1667202"/>
              <a:gd name="connsiteY374" fmla="*/ 452251 h 593501"/>
              <a:gd name="connsiteX375" fmla="*/ 191244 w 1667202"/>
              <a:gd name="connsiteY375" fmla="*/ 452624 h 593501"/>
              <a:gd name="connsiteX376" fmla="*/ 188640 w 1667202"/>
              <a:gd name="connsiteY376" fmla="*/ 452066 h 593501"/>
              <a:gd name="connsiteX377" fmla="*/ 137294 w 1667202"/>
              <a:gd name="connsiteY377" fmla="*/ 455228 h 593501"/>
              <a:gd name="connsiteX378" fmla="*/ 134131 w 1667202"/>
              <a:gd name="connsiteY378" fmla="*/ 457088 h 593501"/>
              <a:gd name="connsiteX379" fmla="*/ 128178 w 1667202"/>
              <a:gd name="connsiteY379" fmla="*/ 455228 h 593501"/>
              <a:gd name="connsiteX380" fmla="*/ 125388 w 1667202"/>
              <a:gd name="connsiteY380" fmla="*/ 453554 h 593501"/>
              <a:gd name="connsiteX381" fmla="*/ 117946 w 1667202"/>
              <a:gd name="connsiteY381" fmla="*/ 453554 h 593501"/>
              <a:gd name="connsiteX382" fmla="*/ 114970 w 1667202"/>
              <a:gd name="connsiteY382" fmla="*/ 455042 h 593501"/>
              <a:gd name="connsiteX383" fmla="*/ 107528 w 1667202"/>
              <a:gd name="connsiteY383" fmla="*/ 454670 h 593501"/>
              <a:gd name="connsiteX384" fmla="*/ 104180 w 1667202"/>
              <a:gd name="connsiteY384" fmla="*/ 453740 h 593501"/>
              <a:gd name="connsiteX385" fmla="*/ 97668 w 1667202"/>
              <a:gd name="connsiteY385" fmla="*/ 455414 h 593501"/>
              <a:gd name="connsiteX386" fmla="*/ 104366 w 1667202"/>
              <a:gd name="connsiteY386" fmla="*/ 462297 h 593501"/>
              <a:gd name="connsiteX387" fmla="*/ 127806 w 1667202"/>
              <a:gd name="connsiteY387" fmla="*/ 464530 h 593501"/>
              <a:gd name="connsiteX388" fmla="*/ 126690 w 1667202"/>
              <a:gd name="connsiteY388" fmla="*/ 467878 h 593501"/>
              <a:gd name="connsiteX389" fmla="*/ 132271 w 1667202"/>
              <a:gd name="connsiteY389" fmla="*/ 468623 h 593501"/>
              <a:gd name="connsiteX390" fmla="*/ 138968 w 1667202"/>
              <a:gd name="connsiteY390" fmla="*/ 464158 h 593501"/>
              <a:gd name="connsiteX391" fmla="*/ 139526 w 1667202"/>
              <a:gd name="connsiteY391" fmla="*/ 464530 h 593501"/>
              <a:gd name="connsiteX392" fmla="*/ 147340 w 1667202"/>
              <a:gd name="connsiteY392" fmla="*/ 466018 h 593501"/>
              <a:gd name="connsiteX393" fmla="*/ 165757 w 1667202"/>
              <a:gd name="connsiteY393" fmla="*/ 470297 h 593501"/>
              <a:gd name="connsiteX394" fmla="*/ 170408 w 1667202"/>
              <a:gd name="connsiteY394" fmla="*/ 468064 h 593501"/>
              <a:gd name="connsiteX395" fmla="*/ 173757 w 1667202"/>
              <a:gd name="connsiteY395" fmla="*/ 471971 h 593501"/>
              <a:gd name="connsiteX396" fmla="*/ 173943 w 1667202"/>
              <a:gd name="connsiteY396" fmla="*/ 472157 h 593501"/>
              <a:gd name="connsiteX397" fmla="*/ 184919 w 1667202"/>
              <a:gd name="connsiteY397" fmla="*/ 474762 h 593501"/>
              <a:gd name="connsiteX398" fmla="*/ 184361 w 1667202"/>
              <a:gd name="connsiteY398" fmla="*/ 468995 h 593501"/>
              <a:gd name="connsiteX399" fmla="*/ 186407 w 1667202"/>
              <a:gd name="connsiteY399" fmla="*/ 474576 h 593501"/>
              <a:gd name="connsiteX400" fmla="*/ 206685 w 1667202"/>
              <a:gd name="connsiteY400" fmla="*/ 478482 h 593501"/>
              <a:gd name="connsiteX401" fmla="*/ 207987 w 1667202"/>
              <a:gd name="connsiteY401" fmla="*/ 478110 h 593501"/>
              <a:gd name="connsiteX402" fmla="*/ 209104 w 1667202"/>
              <a:gd name="connsiteY402" fmla="*/ 478854 h 593501"/>
              <a:gd name="connsiteX403" fmla="*/ 216173 w 1667202"/>
              <a:gd name="connsiteY403" fmla="*/ 478854 h 593501"/>
              <a:gd name="connsiteX404" fmla="*/ 216359 w 1667202"/>
              <a:gd name="connsiteY404" fmla="*/ 478854 h 593501"/>
              <a:gd name="connsiteX405" fmla="*/ 227707 w 1667202"/>
              <a:gd name="connsiteY405" fmla="*/ 478482 h 593501"/>
              <a:gd name="connsiteX406" fmla="*/ 230312 w 1667202"/>
              <a:gd name="connsiteY406" fmla="*/ 479599 h 593501"/>
              <a:gd name="connsiteX407" fmla="*/ 255240 w 1667202"/>
              <a:gd name="connsiteY407" fmla="*/ 479413 h 593501"/>
              <a:gd name="connsiteX408" fmla="*/ 257287 w 1667202"/>
              <a:gd name="connsiteY408" fmla="*/ 479599 h 593501"/>
              <a:gd name="connsiteX409" fmla="*/ 269751 w 1667202"/>
              <a:gd name="connsiteY409" fmla="*/ 481831 h 593501"/>
              <a:gd name="connsiteX410" fmla="*/ 270681 w 1667202"/>
              <a:gd name="connsiteY410" fmla="*/ 481831 h 593501"/>
              <a:gd name="connsiteX411" fmla="*/ 290029 w 1667202"/>
              <a:gd name="connsiteY411" fmla="*/ 482017 h 593501"/>
              <a:gd name="connsiteX412" fmla="*/ 291517 w 1667202"/>
              <a:gd name="connsiteY412" fmla="*/ 481645 h 593501"/>
              <a:gd name="connsiteX413" fmla="*/ 292819 w 1667202"/>
              <a:gd name="connsiteY413" fmla="*/ 482575 h 593501"/>
              <a:gd name="connsiteX414" fmla="*/ 299889 w 1667202"/>
              <a:gd name="connsiteY414" fmla="*/ 482389 h 593501"/>
              <a:gd name="connsiteX415" fmla="*/ 300075 w 1667202"/>
              <a:gd name="connsiteY415" fmla="*/ 482389 h 593501"/>
              <a:gd name="connsiteX416" fmla="*/ 305098 w 1667202"/>
              <a:gd name="connsiteY416" fmla="*/ 481831 h 593501"/>
              <a:gd name="connsiteX417" fmla="*/ 310307 w 1667202"/>
              <a:gd name="connsiteY417" fmla="*/ 482203 h 593501"/>
              <a:gd name="connsiteX418" fmla="*/ 320725 w 1667202"/>
              <a:gd name="connsiteY418" fmla="*/ 482389 h 593501"/>
              <a:gd name="connsiteX419" fmla="*/ 338212 w 1667202"/>
              <a:gd name="connsiteY419" fmla="*/ 482761 h 593501"/>
              <a:gd name="connsiteX420" fmla="*/ 345095 w 1667202"/>
              <a:gd name="connsiteY420" fmla="*/ 482575 h 593501"/>
              <a:gd name="connsiteX421" fmla="*/ 350304 w 1667202"/>
              <a:gd name="connsiteY421" fmla="*/ 481831 h 593501"/>
              <a:gd name="connsiteX422" fmla="*/ 360164 w 1667202"/>
              <a:gd name="connsiteY422" fmla="*/ 482017 h 593501"/>
              <a:gd name="connsiteX423" fmla="*/ 369466 w 1667202"/>
              <a:gd name="connsiteY423" fmla="*/ 482575 h 593501"/>
              <a:gd name="connsiteX424" fmla="*/ 383232 w 1667202"/>
              <a:gd name="connsiteY424" fmla="*/ 482761 h 593501"/>
              <a:gd name="connsiteX425" fmla="*/ 397185 w 1667202"/>
              <a:gd name="connsiteY425" fmla="*/ 482575 h 593501"/>
              <a:gd name="connsiteX426" fmla="*/ 407231 w 1667202"/>
              <a:gd name="connsiteY426" fmla="*/ 481831 h 593501"/>
              <a:gd name="connsiteX427" fmla="*/ 411882 w 1667202"/>
              <a:gd name="connsiteY427" fmla="*/ 481645 h 593501"/>
              <a:gd name="connsiteX428" fmla="*/ 411510 w 1667202"/>
              <a:gd name="connsiteY428" fmla="*/ 481459 h 593501"/>
              <a:gd name="connsiteX429" fmla="*/ 442392 w 1667202"/>
              <a:gd name="connsiteY429" fmla="*/ 482389 h 593501"/>
              <a:gd name="connsiteX430" fmla="*/ 445926 w 1667202"/>
              <a:gd name="connsiteY430" fmla="*/ 482575 h 593501"/>
              <a:gd name="connsiteX431" fmla="*/ 480715 w 1667202"/>
              <a:gd name="connsiteY431" fmla="*/ 482947 h 593501"/>
              <a:gd name="connsiteX432" fmla="*/ 484250 w 1667202"/>
              <a:gd name="connsiteY432" fmla="*/ 482761 h 593501"/>
              <a:gd name="connsiteX433" fmla="*/ 505085 w 1667202"/>
              <a:gd name="connsiteY433" fmla="*/ 482947 h 593501"/>
              <a:gd name="connsiteX434" fmla="*/ 528712 w 1667202"/>
              <a:gd name="connsiteY434" fmla="*/ 482389 h 593501"/>
              <a:gd name="connsiteX435" fmla="*/ 538200 w 1667202"/>
              <a:gd name="connsiteY435" fmla="*/ 482203 h 593501"/>
              <a:gd name="connsiteX436" fmla="*/ 550850 w 1667202"/>
              <a:gd name="connsiteY436" fmla="*/ 482017 h 593501"/>
              <a:gd name="connsiteX437" fmla="*/ 553641 w 1667202"/>
              <a:gd name="connsiteY437" fmla="*/ 486110 h 593501"/>
              <a:gd name="connsiteX438" fmla="*/ 551222 w 1667202"/>
              <a:gd name="connsiteY438" fmla="*/ 493365 h 593501"/>
              <a:gd name="connsiteX439" fmla="*/ 538200 w 1667202"/>
              <a:gd name="connsiteY439" fmla="*/ 493365 h 593501"/>
              <a:gd name="connsiteX440" fmla="*/ 501551 w 1667202"/>
              <a:gd name="connsiteY440" fmla="*/ 496156 h 593501"/>
              <a:gd name="connsiteX441" fmla="*/ 475692 w 1667202"/>
              <a:gd name="connsiteY441" fmla="*/ 496714 h 593501"/>
              <a:gd name="connsiteX442" fmla="*/ 431974 w 1667202"/>
              <a:gd name="connsiteY442" fmla="*/ 499690 h 593501"/>
              <a:gd name="connsiteX443" fmla="*/ 402580 w 1667202"/>
              <a:gd name="connsiteY443" fmla="*/ 500249 h 593501"/>
              <a:gd name="connsiteX444" fmla="*/ 355327 w 1667202"/>
              <a:gd name="connsiteY444" fmla="*/ 503039 h 593501"/>
              <a:gd name="connsiteX445" fmla="*/ 311981 w 1667202"/>
              <a:gd name="connsiteY445" fmla="*/ 503597 h 593501"/>
              <a:gd name="connsiteX446" fmla="*/ 291517 w 1667202"/>
              <a:gd name="connsiteY446" fmla="*/ 505086 h 593501"/>
              <a:gd name="connsiteX447" fmla="*/ 215987 w 1667202"/>
              <a:gd name="connsiteY447" fmla="*/ 506388 h 593501"/>
              <a:gd name="connsiteX448" fmla="*/ 202034 w 1667202"/>
              <a:gd name="connsiteY448" fmla="*/ 506574 h 593501"/>
              <a:gd name="connsiteX449" fmla="*/ 147898 w 1667202"/>
              <a:gd name="connsiteY449" fmla="*/ 503783 h 593501"/>
              <a:gd name="connsiteX450" fmla="*/ 101017 w 1667202"/>
              <a:gd name="connsiteY450" fmla="*/ 503225 h 593501"/>
              <a:gd name="connsiteX451" fmla="*/ 36463 w 1667202"/>
              <a:gd name="connsiteY451" fmla="*/ 500435 h 593501"/>
              <a:gd name="connsiteX452" fmla="*/ 21766 w 1667202"/>
              <a:gd name="connsiteY452" fmla="*/ 500435 h 593501"/>
              <a:gd name="connsiteX453" fmla="*/ 13581 w 1667202"/>
              <a:gd name="connsiteY453" fmla="*/ 503783 h 593501"/>
              <a:gd name="connsiteX454" fmla="*/ 0 w 1667202"/>
              <a:gd name="connsiteY454" fmla="*/ 507132 h 593501"/>
              <a:gd name="connsiteX455" fmla="*/ 13395 w 1667202"/>
              <a:gd name="connsiteY455" fmla="*/ 506946 h 593501"/>
              <a:gd name="connsiteX456" fmla="*/ 15813 w 1667202"/>
              <a:gd name="connsiteY456" fmla="*/ 508806 h 593501"/>
              <a:gd name="connsiteX457" fmla="*/ 63438 w 1667202"/>
              <a:gd name="connsiteY457" fmla="*/ 522201 h 593501"/>
              <a:gd name="connsiteX458" fmla="*/ 63810 w 1667202"/>
              <a:gd name="connsiteY458" fmla="*/ 522201 h 593501"/>
              <a:gd name="connsiteX459" fmla="*/ 62880 w 1667202"/>
              <a:gd name="connsiteY459" fmla="*/ 524805 h 593501"/>
              <a:gd name="connsiteX460" fmla="*/ 62136 w 1667202"/>
              <a:gd name="connsiteY460" fmla="*/ 524433 h 593501"/>
              <a:gd name="connsiteX461" fmla="*/ 63438 w 1667202"/>
              <a:gd name="connsiteY461" fmla="*/ 531502 h 593501"/>
              <a:gd name="connsiteX462" fmla="*/ 78879 w 1667202"/>
              <a:gd name="connsiteY462" fmla="*/ 531130 h 593501"/>
              <a:gd name="connsiteX463" fmla="*/ 80739 w 1667202"/>
              <a:gd name="connsiteY463" fmla="*/ 533363 h 593501"/>
              <a:gd name="connsiteX464" fmla="*/ 87437 w 1667202"/>
              <a:gd name="connsiteY464" fmla="*/ 535409 h 593501"/>
              <a:gd name="connsiteX465" fmla="*/ 86320 w 1667202"/>
              <a:gd name="connsiteY465" fmla="*/ 538014 h 593501"/>
              <a:gd name="connsiteX466" fmla="*/ 76833 w 1667202"/>
              <a:gd name="connsiteY466" fmla="*/ 541920 h 593501"/>
              <a:gd name="connsiteX467" fmla="*/ 80367 w 1667202"/>
              <a:gd name="connsiteY467" fmla="*/ 544897 h 593501"/>
              <a:gd name="connsiteX468" fmla="*/ 88739 w 1667202"/>
              <a:gd name="connsiteY468" fmla="*/ 542851 h 593501"/>
              <a:gd name="connsiteX469" fmla="*/ 88739 w 1667202"/>
              <a:gd name="connsiteY469" fmla="*/ 542665 h 593501"/>
              <a:gd name="connsiteX470" fmla="*/ 90599 w 1667202"/>
              <a:gd name="connsiteY470" fmla="*/ 541734 h 593501"/>
              <a:gd name="connsiteX471" fmla="*/ 92273 w 1667202"/>
              <a:gd name="connsiteY471" fmla="*/ 541734 h 593501"/>
              <a:gd name="connsiteX472" fmla="*/ 93948 w 1667202"/>
              <a:gd name="connsiteY472" fmla="*/ 541548 h 593501"/>
              <a:gd name="connsiteX473" fmla="*/ 97855 w 1667202"/>
              <a:gd name="connsiteY473" fmla="*/ 539316 h 593501"/>
              <a:gd name="connsiteX474" fmla="*/ 98041 w 1667202"/>
              <a:gd name="connsiteY474" fmla="*/ 536153 h 593501"/>
              <a:gd name="connsiteX475" fmla="*/ 98785 w 1667202"/>
              <a:gd name="connsiteY475" fmla="*/ 536153 h 593501"/>
              <a:gd name="connsiteX476" fmla="*/ 109203 w 1667202"/>
              <a:gd name="connsiteY476" fmla="*/ 538014 h 593501"/>
              <a:gd name="connsiteX477" fmla="*/ 106784 w 1667202"/>
              <a:gd name="connsiteY477" fmla="*/ 544897 h 593501"/>
              <a:gd name="connsiteX478" fmla="*/ 109017 w 1667202"/>
              <a:gd name="connsiteY478" fmla="*/ 548432 h 593501"/>
              <a:gd name="connsiteX479" fmla="*/ 122969 w 1667202"/>
              <a:gd name="connsiteY479" fmla="*/ 547874 h 593501"/>
              <a:gd name="connsiteX480" fmla="*/ 125760 w 1667202"/>
              <a:gd name="connsiteY480" fmla="*/ 548804 h 593501"/>
              <a:gd name="connsiteX481" fmla="*/ 151991 w 1667202"/>
              <a:gd name="connsiteY481" fmla="*/ 551780 h 593501"/>
              <a:gd name="connsiteX482" fmla="*/ 171152 w 1667202"/>
              <a:gd name="connsiteY482" fmla="*/ 551780 h 593501"/>
              <a:gd name="connsiteX483" fmla="*/ 184919 w 1667202"/>
              <a:gd name="connsiteY483" fmla="*/ 552338 h 593501"/>
              <a:gd name="connsiteX484" fmla="*/ 188454 w 1667202"/>
              <a:gd name="connsiteY484" fmla="*/ 551780 h 593501"/>
              <a:gd name="connsiteX485" fmla="*/ 233846 w 1667202"/>
              <a:gd name="connsiteY485" fmla="*/ 552152 h 593501"/>
              <a:gd name="connsiteX486" fmla="*/ 240916 w 1667202"/>
              <a:gd name="connsiteY486" fmla="*/ 552152 h 593501"/>
              <a:gd name="connsiteX487" fmla="*/ 286122 w 1667202"/>
              <a:gd name="connsiteY487" fmla="*/ 552152 h 593501"/>
              <a:gd name="connsiteX488" fmla="*/ 329468 w 1667202"/>
              <a:gd name="connsiteY488" fmla="*/ 551780 h 593501"/>
              <a:gd name="connsiteX489" fmla="*/ 390674 w 1667202"/>
              <a:gd name="connsiteY489" fmla="*/ 548804 h 593501"/>
              <a:gd name="connsiteX490" fmla="*/ 420067 w 1667202"/>
              <a:gd name="connsiteY490" fmla="*/ 548246 h 593501"/>
              <a:gd name="connsiteX491" fmla="*/ 456902 w 1667202"/>
              <a:gd name="connsiteY491" fmla="*/ 545269 h 593501"/>
              <a:gd name="connsiteX492" fmla="*/ 473459 w 1667202"/>
              <a:gd name="connsiteY492" fmla="*/ 544711 h 593501"/>
              <a:gd name="connsiteX493" fmla="*/ 498760 w 1667202"/>
              <a:gd name="connsiteY493" fmla="*/ 541920 h 593501"/>
              <a:gd name="connsiteX494" fmla="*/ 511783 w 1667202"/>
              <a:gd name="connsiteY494" fmla="*/ 541176 h 593501"/>
              <a:gd name="connsiteX495" fmla="*/ 533549 w 1667202"/>
              <a:gd name="connsiteY495" fmla="*/ 538200 h 593501"/>
              <a:gd name="connsiteX496" fmla="*/ 542665 w 1667202"/>
              <a:gd name="connsiteY496" fmla="*/ 537456 h 593501"/>
              <a:gd name="connsiteX497" fmla="*/ 557919 w 1667202"/>
              <a:gd name="connsiteY497" fmla="*/ 534851 h 593501"/>
              <a:gd name="connsiteX498" fmla="*/ 564431 w 1667202"/>
              <a:gd name="connsiteY498" fmla="*/ 534293 h 593501"/>
              <a:gd name="connsiteX499" fmla="*/ 575407 w 1667202"/>
              <a:gd name="connsiteY499" fmla="*/ 531316 h 593501"/>
              <a:gd name="connsiteX500" fmla="*/ 576709 w 1667202"/>
              <a:gd name="connsiteY500" fmla="*/ 530386 h 593501"/>
              <a:gd name="connsiteX501" fmla="*/ 578383 w 1667202"/>
              <a:gd name="connsiteY501" fmla="*/ 530758 h 593501"/>
              <a:gd name="connsiteX502" fmla="*/ 589359 w 1667202"/>
              <a:gd name="connsiteY502" fmla="*/ 527782 h 593501"/>
              <a:gd name="connsiteX503" fmla="*/ 590848 w 1667202"/>
              <a:gd name="connsiteY503" fmla="*/ 526852 h 593501"/>
              <a:gd name="connsiteX504" fmla="*/ 592522 w 1667202"/>
              <a:gd name="connsiteY504" fmla="*/ 527224 h 593501"/>
              <a:gd name="connsiteX505" fmla="*/ 606847 w 1667202"/>
              <a:gd name="connsiteY505" fmla="*/ 524061 h 593501"/>
              <a:gd name="connsiteX506" fmla="*/ 610381 w 1667202"/>
              <a:gd name="connsiteY506" fmla="*/ 524247 h 593501"/>
              <a:gd name="connsiteX507" fmla="*/ 614288 w 1667202"/>
              <a:gd name="connsiteY507" fmla="*/ 526666 h 593501"/>
              <a:gd name="connsiteX508" fmla="*/ 617823 w 1667202"/>
              <a:gd name="connsiteY508" fmla="*/ 530386 h 593501"/>
              <a:gd name="connsiteX509" fmla="*/ 621357 w 1667202"/>
              <a:gd name="connsiteY509" fmla="*/ 537270 h 593501"/>
              <a:gd name="connsiteX510" fmla="*/ 625078 w 1667202"/>
              <a:gd name="connsiteY510" fmla="*/ 540804 h 593501"/>
              <a:gd name="connsiteX511" fmla="*/ 630101 w 1667202"/>
              <a:gd name="connsiteY511" fmla="*/ 540618 h 593501"/>
              <a:gd name="connsiteX512" fmla="*/ 637915 w 1667202"/>
              <a:gd name="connsiteY512" fmla="*/ 537083 h 593501"/>
              <a:gd name="connsiteX513" fmla="*/ 656518 w 1667202"/>
              <a:gd name="connsiteY513" fmla="*/ 547315 h 593501"/>
              <a:gd name="connsiteX514" fmla="*/ 656146 w 1667202"/>
              <a:gd name="connsiteY514" fmla="*/ 546943 h 593501"/>
              <a:gd name="connsiteX515" fmla="*/ 659495 w 1667202"/>
              <a:gd name="connsiteY515" fmla="*/ 550850 h 593501"/>
              <a:gd name="connsiteX516" fmla="*/ 666006 w 1667202"/>
              <a:gd name="connsiteY516" fmla="*/ 554943 h 593501"/>
              <a:gd name="connsiteX517" fmla="*/ 673819 w 1667202"/>
              <a:gd name="connsiteY517" fmla="*/ 558106 h 593501"/>
              <a:gd name="connsiteX518" fmla="*/ 679586 w 1667202"/>
              <a:gd name="connsiteY518" fmla="*/ 558292 h 593501"/>
              <a:gd name="connsiteX519" fmla="*/ 690190 w 1667202"/>
              <a:gd name="connsiteY519" fmla="*/ 554757 h 593501"/>
              <a:gd name="connsiteX520" fmla="*/ 690004 w 1667202"/>
              <a:gd name="connsiteY520" fmla="*/ 554757 h 593501"/>
              <a:gd name="connsiteX521" fmla="*/ 698562 w 1667202"/>
              <a:gd name="connsiteY521" fmla="*/ 554571 h 593501"/>
              <a:gd name="connsiteX522" fmla="*/ 699864 w 1667202"/>
              <a:gd name="connsiteY522" fmla="*/ 554199 h 593501"/>
              <a:gd name="connsiteX523" fmla="*/ 700794 w 1667202"/>
              <a:gd name="connsiteY523" fmla="*/ 555129 h 593501"/>
              <a:gd name="connsiteX524" fmla="*/ 705073 w 1667202"/>
              <a:gd name="connsiteY524" fmla="*/ 557547 h 593501"/>
              <a:gd name="connsiteX525" fmla="*/ 711771 w 1667202"/>
              <a:gd name="connsiteY525" fmla="*/ 564431 h 593501"/>
              <a:gd name="connsiteX526" fmla="*/ 714933 w 1667202"/>
              <a:gd name="connsiteY526" fmla="*/ 568337 h 593501"/>
              <a:gd name="connsiteX527" fmla="*/ 718096 w 1667202"/>
              <a:gd name="connsiteY527" fmla="*/ 572058 h 593501"/>
              <a:gd name="connsiteX528" fmla="*/ 721816 w 1667202"/>
              <a:gd name="connsiteY528" fmla="*/ 575221 h 593501"/>
              <a:gd name="connsiteX529" fmla="*/ 733537 w 1667202"/>
              <a:gd name="connsiteY529" fmla="*/ 578755 h 593501"/>
              <a:gd name="connsiteX530" fmla="*/ 741908 w 1667202"/>
              <a:gd name="connsiteY530" fmla="*/ 574477 h 593501"/>
              <a:gd name="connsiteX531" fmla="*/ 741908 w 1667202"/>
              <a:gd name="connsiteY531" fmla="*/ 572988 h 593501"/>
              <a:gd name="connsiteX532" fmla="*/ 738001 w 1667202"/>
              <a:gd name="connsiteY532" fmla="*/ 565919 h 593501"/>
              <a:gd name="connsiteX533" fmla="*/ 734839 w 1667202"/>
              <a:gd name="connsiteY533" fmla="*/ 562012 h 593501"/>
              <a:gd name="connsiteX534" fmla="*/ 746931 w 1667202"/>
              <a:gd name="connsiteY534" fmla="*/ 557733 h 593501"/>
              <a:gd name="connsiteX535" fmla="*/ 748233 w 1667202"/>
              <a:gd name="connsiteY535" fmla="*/ 557547 h 593501"/>
              <a:gd name="connsiteX536" fmla="*/ 749164 w 1667202"/>
              <a:gd name="connsiteY536" fmla="*/ 558478 h 593501"/>
              <a:gd name="connsiteX537" fmla="*/ 755675 w 1667202"/>
              <a:gd name="connsiteY537" fmla="*/ 561826 h 593501"/>
              <a:gd name="connsiteX538" fmla="*/ 755861 w 1667202"/>
              <a:gd name="connsiteY538" fmla="*/ 562012 h 593501"/>
              <a:gd name="connsiteX539" fmla="*/ 759954 w 1667202"/>
              <a:gd name="connsiteY539" fmla="*/ 564617 h 593501"/>
              <a:gd name="connsiteX540" fmla="*/ 767581 w 1667202"/>
              <a:gd name="connsiteY540" fmla="*/ 568337 h 593501"/>
              <a:gd name="connsiteX541" fmla="*/ 768883 w 1667202"/>
              <a:gd name="connsiteY541" fmla="*/ 567965 h 593501"/>
              <a:gd name="connsiteX542" fmla="*/ 769814 w 1667202"/>
              <a:gd name="connsiteY542" fmla="*/ 568896 h 593501"/>
              <a:gd name="connsiteX543" fmla="*/ 775395 w 1667202"/>
              <a:gd name="connsiteY543" fmla="*/ 570198 h 593501"/>
              <a:gd name="connsiteX544" fmla="*/ 776325 w 1667202"/>
              <a:gd name="connsiteY544" fmla="*/ 572244 h 593501"/>
              <a:gd name="connsiteX545" fmla="*/ 777069 w 1667202"/>
              <a:gd name="connsiteY545" fmla="*/ 574477 h 593501"/>
              <a:gd name="connsiteX546" fmla="*/ 779859 w 1667202"/>
              <a:gd name="connsiteY546" fmla="*/ 577267 h 593501"/>
              <a:gd name="connsiteX547" fmla="*/ 780045 w 1667202"/>
              <a:gd name="connsiteY547" fmla="*/ 579313 h 593501"/>
              <a:gd name="connsiteX548" fmla="*/ 790277 w 1667202"/>
              <a:gd name="connsiteY548" fmla="*/ 579500 h 593501"/>
              <a:gd name="connsiteX549" fmla="*/ 786929 w 1667202"/>
              <a:gd name="connsiteY549" fmla="*/ 589918 h 593501"/>
              <a:gd name="connsiteX550" fmla="*/ 796975 w 1667202"/>
              <a:gd name="connsiteY550" fmla="*/ 592894 h 593501"/>
              <a:gd name="connsiteX551" fmla="*/ 797347 w 1667202"/>
              <a:gd name="connsiteY551" fmla="*/ 591406 h 593501"/>
              <a:gd name="connsiteX552" fmla="*/ 800695 w 1667202"/>
              <a:gd name="connsiteY552" fmla="*/ 589173 h 593501"/>
              <a:gd name="connsiteX553" fmla="*/ 800881 w 1667202"/>
              <a:gd name="connsiteY553" fmla="*/ 587127 h 593501"/>
              <a:gd name="connsiteX554" fmla="*/ 798091 w 1667202"/>
              <a:gd name="connsiteY554" fmla="*/ 582848 h 593501"/>
              <a:gd name="connsiteX555" fmla="*/ 797719 w 1667202"/>
              <a:gd name="connsiteY555" fmla="*/ 582476 h 593501"/>
              <a:gd name="connsiteX556" fmla="*/ 794370 w 1667202"/>
              <a:gd name="connsiteY556" fmla="*/ 582104 h 593501"/>
              <a:gd name="connsiteX557" fmla="*/ 794370 w 1667202"/>
              <a:gd name="connsiteY557" fmla="*/ 581918 h 593501"/>
              <a:gd name="connsiteX558" fmla="*/ 793998 w 1667202"/>
              <a:gd name="connsiteY558" fmla="*/ 579500 h 593501"/>
              <a:gd name="connsiteX559" fmla="*/ 790649 w 1667202"/>
              <a:gd name="connsiteY559" fmla="*/ 579500 h 593501"/>
              <a:gd name="connsiteX560" fmla="*/ 790463 w 1667202"/>
              <a:gd name="connsiteY560" fmla="*/ 576151 h 593501"/>
              <a:gd name="connsiteX561" fmla="*/ 786557 w 1667202"/>
              <a:gd name="connsiteY561" fmla="*/ 572988 h 593501"/>
              <a:gd name="connsiteX562" fmla="*/ 784324 w 1667202"/>
              <a:gd name="connsiteY562" fmla="*/ 572802 h 593501"/>
              <a:gd name="connsiteX563" fmla="*/ 779859 w 1667202"/>
              <a:gd name="connsiteY563" fmla="*/ 569082 h 593501"/>
              <a:gd name="connsiteX564" fmla="*/ 780045 w 1667202"/>
              <a:gd name="connsiteY564" fmla="*/ 569082 h 593501"/>
              <a:gd name="connsiteX565" fmla="*/ 777627 w 1667202"/>
              <a:gd name="connsiteY565" fmla="*/ 568337 h 593501"/>
              <a:gd name="connsiteX566" fmla="*/ 777999 w 1667202"/>
              <a:gd name="connsiteY566" fmla="*/ 567035 h 593501"/>
              <a:gd name="connsiteX567" fmla="*/ 776511 w 1667202"/>
              <a:gd name="connsiteY567" fmla="*/ 565547 h 593501"/>
              <a:gd name="connsiteX568" fmla="*/ 775767 w 1667202"/>
              <a:gd name="connsiteY568" fmla="*/ 564803 h 593501"/>
              <a:gd name="connsiteX569" fmla="*/ 776325 w 1667202"/>
              <a:gd name="connsiteY569" fmla="*/ 563873 h 593501"/>
              <a:gd name="connsiteX570" fmla="*/ 772790 w 1667202"/>
              <a:gd name="connsiteY570" fmla="*/ 559222 h 593501"/>
              <a:gd name="connsiteX571" fmla="*/ 792510 w 1667202"/>
              <a:gd name="connsiteY571" fmla="*/ 554757 h 593501"/>
              <a:gd name="connsiteX572" fmla="*/ 793440 w 1667202"/>
              <a:gd name="connsiteY572" fmla="*/ 554385 h 593501"/>
              <a:gd name="connsiteX573" fmla="*/ 794184 w 1667202"/>
              <a:gd name="connsiteY573" fmla="*/ 555129 h 593501"/>
              <a:gd name="connsiteX574" fmla="*/ 805904 w 1667202"/>
              <a:gd name="connsiteY574" fmla="*/ 558292 h 593501"/>
              <a:gd name="connsiteX575" fmla="*/ 807207 w 1667202"/>
              <a:gd name="connsiteY575" fmla="*/ 557919 h 593501"/>
              <a:gd name="connsiteX576" fmla="*/ 808137 w 1667202"/>
              <a:gd name="connsiteY576" fmla="*/ 558850 h 593501"/>
              <a:gd name="connsiteX577" fmla="*/ 822461 w 1667202"/>
              <a:gd name="connsiteY577" fmla="*/ 561640 h 593501"/>
              <a:gd name="connsiteX578" fmla="*/ 829159 w 1667202"/>
              <a:gd name="connsiteY578" fmla="*/ 565733 h 593501"/>
              <a:gd name="connsiteX579" fmla="*/ 833065 w 1667202"/>
              <a:gd name="connsiteY579" fmla="*/ 568896 h 593501"/>
              <a:gd name="connsiteX580" fmla="*/ 843111 w 1667202"/>
              <a:gd name="connsiteY580" fmla="*/ 576337 h 593501"/>
              <a:gd name="connsiteX581" fmla="*/ 847018 w 1667202"/>
              <a:gd name="connsiteY581" fmla="*/ 579313 h 593501"/>
              <a:gd name="connsiteX582" fmla="*/ 853715 w 1667202"/>
              <a:gd name="connsiteY582" fmla="*/ 583220 h 593501"/>
              <a:gd name="connsiteX583" fmla="*/ 853529 w 1667202"/>
              <a:gd name="connsiteY583" fmla="*/ 583220 h 593501"/>
              <a:gd name="connsiteX584" fmla="*/ 860785 w 1667202"/>
              <a:gd name="connsiteY584" fmla="*/ 586755 h 593501"/>
              <a:gd name="connsiteX585" fmla="*/ 873807 w 1667202"/>
              <a:gd name="connsiteY585" fmla="*/ 583778 h 593501"/>
              <a:gd name="connsiteX586" fmla="*/ 873993 w 1667202"/>
              <a:gd name="connsiteY586" fmla="*/ 584150 h 593501"/>
              <a:gd name="connsiteX587" fmla="*/ 874179 w 1667202"/>
              <a:gd name="connsiteY587" fmla="*/ 576337 h 593501"/>
              <a:gd name="connsiteX588" fmla="*/ 881249 w 1667202"/>
              <a:gd name="connsiteY588" fmla="*/ 573174 h 593501"/>
              <a:gd name="connsiteX589" fmla="*/ 882551 w 1667202"/>
              <a:gd name="connsiteY589" fmla="*/ 572430 h 593501"/>
              <a:gd name="connsiteX590" fmla="*/ 884039 w 1667202"/>
              <a:gd name="connsiteY590" fmla="*/ 572802 h 593501"/>
              <a:gd name="connsiteX591" fmla="*/ 927757 w 1667202"/>
              <a:gd name="connsiteY591" fmla="*/ 572802 h 593501"/>
              <a:gd name="connsiteX592" fmla="*/ 932036 w 1667202"/>
              <a:gd name="connsiteY592" fmla="*/ 572616 h 593501"/>
              <a:gd name="connsiteX593" fmla="*/ 936501 w 1667202"/>
              <a:gd name="connsiteY593" fmla="*/ 569082 h 593501"/>
              <a:gd name="connsiteX594" fmla="*/ 940408 w 1667202"/>
              <a:gd name="connsiteY594" fmla="*/ 565919 h 593501"/>
              <a:gd name="connsiteX595" fmla="*/ 940222 w 1667202"/>
              <a:gd name="connsiteY595" fmla="*/ 566105 h 593501"/>
              <a:gd name="connsiteX596" fmla="*/ 947291 w 1667202"/>
              <a:gd name="connsiteY596" fmla="*/ 562570 h 593501"/>
              <a:gd name="connsiteX597" fmla="*/ 964778 w 1667202"/>
              <a:gd name="connsiteY597" fmla="*/ 562942 h 593501"/>
              <a:gd name="connsiteX598" fmla="*/ 971662 w 1667202"/>
              <a:gd name="connsiteY598" fmla="*/ 566477 h 593501"/>
              <a:gd name="connsiteX599" fmla="*/ 979475 w 1667202"/>
              <a:gd name="connsiteY599" fmla="*/ 569640 h 593501"/>
              <a:gd name="connsiteX600" fmla="*/ 980963 w 1667202"/>
              <a:gd name="connsiteY600" fmla="*/ 569268 h 593501"/>
              <a:gd name="connsiteX601" fmla="*/ 982266 w 1667202"/>
              <a:gd name="connsiteY601" fmla="*/ 570198 h 593501"/>
              <a:gd name="connsiteX602" fmla="*/ 1003102 w 1667202"/>
              <a:gd name="connsiteY602" fmla="*/ 570198 h 593501"/>
              <a:gd name="connsiteX603" fmla="*/ 1003846 w 1667202"/>
              <a:gd name="connsiteY603" fmla="*/ 569268 h 593501"/>
              <a:gd name="connsiteX604" fmla="*/ 1005148 w 1667202"/>
              <a:gd name="connsiteY604" fmla="*/ 569454 h 593501"/>
              <a:gd name="connsiteX605" fmla="*/ 1009799 w 1667202"/>
              <a:gd name="connsiteY605" fmla="*/ 565733 h 593501"/>
              <a:gd name="connsiteX606" fmla="*/ 1009427 w 1667202"/>
              <a:gd name="connsiteY606" fmla="*/ 566105 h 593501"/>
              <a:gd name="connsiteX607" fmla="*/ 1006264 w 1667202"/>
              <a:gd name="connsiteY607" fmla="*/ 549548 h 593501"/>
              <a:gd name="connsiteX608" fmla="*/ 1003846 w 1667202"/>
              <a:gd name="connsiteY608" fmla="*/ 545455 h 593501"/>
              <a:gd name="connsiteX609" fmla="*/ 1003102 w 1667202"/>
              <a:gd name="connsiteY609" fmla="*/ 542665 h 593501"/>
              <a:gd name="connsiteX610" fmla="*/ 1002544 w 1667202"/>
              <a:gd name="connsiteY610" fmla="*/ 541176 h 593501"/>
              <a:gd name="connsiteX611" fmla="*/ 1003474 w 1667202"/>
              <a:gd name="connsiteY611" fmla="*/ 538572 h 593501"/>
              <a:gd name="connsiteX612" fmla="*/ 1010171 w 1667202"/>
              <a:gd name="connsiteY612" fmla="*/ 534665 h 593501"/>
              <a:gd name="connsiteX613" fmla="*/ 1009985 w 1667202"/>
              <a:gd name="connsiteY613" fmla="*/ 534851 h 593501"/>
              <a:gd name="connsiteX614" fmla="*/ 1017240 w 1667202"/>
              <a:gd name="connsiteY614" fmla="*/ 532061 h 593501"/>
              <a:gd name="connsiteX615" fmla="*/ 1018542 w 1667202"/>
              <a:gd name="connsiteY615" fmla="*/ 531130 h 593501"/>
              <a:gd name="connsiteX616" fmla="*/ 1020031 w 1667202"/>
              <a:gd name="connsiteY616" fmla="*/ 531502 h 593501"/>
              <a:gd name="connsiteX617" fmla="*/ 1031193 w 1667202"/>
              <a:gd name="connsiteY617" fmla="*/ 528526 h 593501"/>
              <a:gd name="connsiteX618" fmla="*/ 1036960 w 1667202"/>
              <a:gd name="connsiteY618" fmla="*/ 527782 h 593501"/>
              <a:gd name="connsiteX619" fmla="*/ 1052215 w 1667202"/>
              <a:gd name="connsiteY619" fmla="*/ 524805 h 593501"/>
              <a:gd name="connsiteX620" fmla="*/ 1053517 w 1667202"/>
              <a:gd name="connsiteY620" fmla="*/ 524061 h 593501"/>
              <a:gd name="connsiteX621" fmla="*/ 1055005 w 1667202"/>
              <a:gd name="connsiteY621" fmla="*/ 524433 h 593501"/>
              <a:gd name="connsiteX622" fmla="*/ 1065981 w 1667202"/>
              <a:gd name="connsiteY622" fmla="*/ 521643 h 593501"/>
              <a:gd name="connsiteX623" fmla="*/ 1067284 w 1667202"/>
              <a:gd name="connsiteY623" fmla="*/ 520712 h 593501"/>
              <a:gd name="connsiteX624" fmla="*/ 1068772 w 1667202"/>
              <a:gd name="connsiteY624" fmla="*/ 520899 h 593501"/>
              <a:gd name="connsiteX625" fmla="*/ 1076400 w 1667202"/>
              <a:gd name="connsiteY625" fmla="*/ 517922 h 593501"/>
              <a:gd name="connsiteX626" fmla="*/ 1077144 w 1667202"/>
              <a:gd name="connsiteY626" fmla="*/ 516806 h 593501"/>
              <a:gd name="connsiteX627" fmla="*/ 1078446 w 1667202"/>
              <a:gd name="connsiteY627" fmla="*/ 516992 h 593501"/>
              <a:gd name="connsiteX628" fmla="*/ 1083469 w 1667202"/>
              <a:gd name="connsiteY628" fmla="*/ 514015 h 593501"/>
              <a:gd name="connsiteX629" fmla="*/ 1090166 w 1667202"/>
              <a:gd name="connsiteY629" fmla="*/ 500249 h 593501"/>
              <a:gd name="connsiteX630" fmla="*/ 1090352 w 1667202"/>
              <a:gd name="connsiteY630" fmla="*/ 500435 h 593501"/>
              <a:gd name="connsiteX631" fmla="*/ 1083097 w 1667202"/>
              <a:gd name="connsiteY631" fmla="*/ 497272 h 593501"/>
              <a:gd name="connsiteX632" fmla="*/ 1076027 w 1667202"/>
              <a:gd name="connsiteY632" fmla="*/ 493551 h 593501"/>
              <a:gd name="connsiteX633" fmla="*/ 1075469 w 1667202"/>
              <a:gd name="connsiteY633" fmla="*/ 492249 h 593501"/>
              <a:gd name="connsiteX634" fmla="*/ 1076400 w 1667202"/>
              <a:gd name="connsiteY634" fmla="*/ 489831 h 593501"/>
              <a:gd name="connsiteX635" fmla="*/ 1111188 w 1667202"/>
              <a:gd name="connsiteY635" fmla="*/ 489831 h 593501"/>
              <a:gd name="connsiteX636" fmla="*/ 1170347 w 1667202"/>
              <a:gd name="connsiteY636" fmla="*/ 489831 h 593501"/>
              <a:gd name="connsiteX637" fmla="*/ 1180021 w 1667202"/>
              <a:gd name="connsiteY637" fmla="*/ 489273 h 593501"/>
              <a:gd name="connsiteX638" fmla="*/ 1189695 w 1667202"/>
              <a:gd name="connsiteY638" fmla="*/ 489273 h 593501"/>
              <a:gd name="connsiteX639" fmla="*/ 1192857 w 1667202"/>
              <a:gd name="connsiteY639" fmla="*/ 489273 h 593501"/>
              <a:gd name="connsiteX640" fmla="*/ 1205136 w 1667202"/>
              <a:gd name="connsiteY640" fmla="*/ 486296 h 593501"/>
              <a:gd name="connsiteX641" fmla="*/ 1215740 w 1667202"/>
              <a:gd name="connsiteY641" fmla="*/ 482947 h 593501"/>
              <a:gd name="connsiteX642" fmla="*/ 1215926 w 1667202"/>
              <a:gd name="connsiteY642" fmla="*/ 482947 h 593501"/>
              <a:gd name="connsiteX643" fmla="*/ 1223739 w 1667202"/>
              <a:gd name="connsiteY643" fmla="*/ 468995 h 593501"/>
              <a:gd name="connsiteX644" fmla="*/ 1222251 w 1667202"/>
              <a:gd name="connsiteY644" fmla="*/ 466762 h 593501"/>
              <a:gd name="connsiteX645" fmla="*/ 1219088 w 1667202"/>
              <a:gd name="connsiteY645" fmla="*/ 461925 h 593501"/>
              <a:gd name="connsiteX646" fmla="*/ 1215368 w 1667202"/>
              <a:gd name="connsiteY646" fmla="*/ 458763 h 593501"/>
              <a:gd name="connsiteX647" fmla="*/ 1214624 w 1667202"/>
              <a:gd name="connsiteY647" fmla="*/ 457460 h 593501"/>
              <a:gd name="connsiteX648" fmla="*/ 1215554 w 1667202"/>
              <a:gd name="connsiteY648" fmla="*/ 455228 h 593501"/>
              <a:gd name="connsiteX649" fmla="*/ 1221507 w 1667202"/>
              <a:gd name="connsiteY649" fmla="*/ 454484 h 593501"/>
              <a:gd name="connsiteX650" fmla="*/ 1236390 w 1667202"/>
              <a:gd name="connsiteY650" fmla="*/ 451507 h 593501"/>
              <a:gd name="connsiteX651" fmla="*/ 1237878 w 1667202"/>
              <a:gd name="connsiteY651" fmla="*/ 450763 h 593501"/>
              <a:gd name="connsiteX652" fmla="*/ 1239552 w 1667202"/>
              <a:gd name="connsiteY652" fmla="*/ 451135 h 593501"/>
              <a:gd name="connsiteX653" fmla="*/ 1253877 w 1667202"/>
              <a:gd name="connsiteY653" fmla="*/ 447973 h 593501"/>
              <a:gd name="connsiteX654" fmla="*/ 1259086 w 1667202"/>
              <a:gd name="connsiteY654" fmla="*/ 447229 h 593501"/>
              <a:gd name="connsiteX655" fmla="*/ 1274713 w 1667202"/>
              <a:gd name="connsiteY655" fmla="*/ 444438 h 593501"/>
              <a:gd name="connsiteX656" fmla="*/ 1283457 w 1667202"/>
              <a:gd name="connsiteY656" fmla="*/ 443694 h 593501"/>
              <a:gd name="connsiteX657" fmla="*/ 1297967 w 1667202"/>
              <a:gd name="connsiteY657" fmla="*/ 442392 h 593501"/>
              <a:gd name="connsiteX658" fmla="*/ 1297595 w 1667202"/>
              <a:gd name="connsiteY658" fmla="*/ 443136 h 593501"/>
              <a:gd name="connsiteX659" fmla="*/ 1298525 w 1667202"/>
              <a:gd name="connsiteY659" fmla="*/ 444438 h 593501"/>
              <a:gd name="connsiteX660" fmla="*/ 1298898 w 1667202"/>
              <a:gd name="connsiteY660" fmla="*/ 444624 h 593501"/>
              <a:gd name="connsiteX661" fmla="*/ 1302432 w 1667202"/>
              <a:gd name="connsiteY661" fmla="*/ 444810 h 593501"/>
              <a:gd name="connsiteX662" fmla="*/ 1313036 w 1667202"/>
              <a:gd name="connsiteY662" fmla="*/ 440531 h 593501"/>
              <a:gd name="connsiteX663" fmla="*/ 1309688 w 1667202"/>
              <a:gd name="connsiteY663" fmla="*/ 436997 h 593501"/>
              <a:gd name="connsiteX664" fmla="*/ 1302246 w 1667202"/>
              <a:gd name="connsiteY664" fmla="*/ 437183 h 593501"/>
              <a:gd name="connsiteX665" fmla="*/ 1302618 w 1667202"/>
              <a:gd name="connsiteY665" fmla="*/ 436439 h 593501"/>
              <a:gd name="connsiteX666" fmla="*/ 1298712 w 1667202"/>
              <a:gd name="connsiteY666" fmla="*/ 433648 h 593501"/>
              <a:gd name="connsiteX667" fmla="*/ 1298898 w 1667202"/>
              <a:gd name="connsiteY667" fmla="*/ 433648 h 593501"/>
              <a:gd name="connsiteX668" fmla="*/ 1298525 w 1667202"/>
              <a:gd name="connsiteY668" fmla="*/ 428811 h 593501"/>
              <a:gd name="connsiteX669" fmla="*/ 1299456 w 1667202"/>
              <a:gd name="connsiteY669" fmla="*/ 426579 h 593501"/>
              <a:gd name="connsiteX670" fmla="*/ 1302060 w 1667202"/>
              <a:gd name="connsiteY670" fmla="*/ 422858 h 593501"/>
              <a:gd name="connsiteX671" fmla="*/ 1306153 w 1667202"/>
              <a:gd name="connsiteY671" fmla="*/ 419323 h 593501"/>
              <a:gd name="connsiteX672" fmla="*/ 1312478 w 1667202"/>
              <a:gd name="connsiteY672" fmla="*/ 419323 h 593501"/>
              <a:gd name="connsiteX673" fmla="*/ 1316199 w 1667202"/>
              <a:gd name="connsiteY673" fmla="*/ 415044 h 593501"/>
              <a:gd name="connsiteX674" fmla="*/ 1316199 w 1667202"/>
              <a:gd name="connsiteY674" fmla="*/ 413742 h 593501"/>
              <a:gd name="connsiteX675" fmla="*/ 1316385 w 1667202"/>
              <a:gd name="connsiteY675" fmla="*/ 409091 h 593501"/>
              <a:gd name="connsiteX676" fmla="*/ 1320106 w 1667202"/>
              <a:gd name="connsiteY676" fmla="*/ 406301 h 593501"/>
              <a:gd name="connsiteX677" fmla="*/ 1325687 w 1667202"/>
              <a:gd name="connsiteY677" fmla="*/ 405371 h 593501"/>
              <a:gd name="connsiteX678" fmla="*/ 1344476 w 1667202"/>
              <a:gd name="connsiteY678" fmla="*/ 402766 h 593501"/>
              <a:gd name="connsiteX679" fmla="*/ 1363638 w 1667202"/>
              <a:gd name="connsiteY679" fmla="*/ 402022 h 593501"/>
              <a:gd name="connsiteX680" fmla="*/ 1372381 w 1667202"/>
              <a:gd name="connsiteY680" fmla="*/ 399417 h 593501"/>
              <a:gd name="connsiteX681" fmla="*/ 1392101 w 1667202"/>
              <a:gd name="connsiteY681" fmla="*/ 398673 h 593501"/>
              <a:gd name="connsiteX682" fmla="*/ 1414053 w 1667202"/>
              <a:gd name="connsiteY682" fmla="*/ 395883 h 593501"/>
              <a:gd name="connsiteX683" fmla="*/ 1423169 w 1667202"/>
              <a:gd name="connsiteY683" fmla="*/ 394953 h 593501"/>
              <a:gd name="connsiteX684" fmla="*/ 1434889 w 1667202"/>
              <a:gd name="connsiteY684" fmla="*/ 392348 h 593501"/>
              <a:gd name="connsiteX685" fmla="*/ 1436378 w 1667202"/>
              <a:gd name="connsiteY685" fmla="*/ 391418 h 593501"/>
              <a:gd name="connsiteX686" fmla="*/ 1438052 w 1667202"/>
              <a:gd name="connsiteY686" fmla="*/ 391790 h 593501"/>
              <a:gd name="connsiteX687" fmla="*/ 1448656 w 1667202"/>
              <a:gd name="connsiteY687" fmla="*/ 387883 h 593501"/>
              <a:gd name="connsiteX688" fmla="*/ 1449028 w 1667202"/>
              <a:gd name="connsiteY688" fmla="*/ 374303 h 593501"/>
              <a:gd name="connsiteX689" fmla="*/ 1448842 w 1667202"/>
              <a:gd name="connsiteY689" fmla="*/ 374117 h 593501"/>
              <a:gd name="connsiteX690" fmla="*/ 1443633 w 1667202"/>
              <a:gd name="connsiteY690" fmla="*/ 371326 h 593501"/>
              <a:gd name="connsiteX691" fmla="*/ 1438238 w 1667202"/>
              <a:gd name="connsiteY691" fmla="*/ 370582 h 593501"/>
              <a:gd name="connsiteX692" fmla="*/ 1419076 w 1667202"/>
              <a:gd name="connsiteY692" fmla="*/ 367791 h 593501"/>
              <a:gd name="connsiteX693" fmla="*/ 1406984 w 1667202"/>
              <a:gd name="connsiteY693" fmla="*/ 367233 h 593501"/>
              <a:gd name="connsiteX694" fmla="*/ 1377404 w 1667202"/>
              <a:gd name="connsiteY694" fmla="*/ 364257 h 593501"/>
              <a:gd name="connsiteX695" fmla="*/ 1365126 w 1667202"/>
              <a:gd name="connsiteY695" fmla="*/ 363513 h 593501"/>
              <a:gd name="connsiteX696" fmla="*/ 1353406 w 1667202"/>
              <a:gd name="connsiteY696" fmla="*/ 360908 h 593501"/>
              <a:gd name="connsiteX697" fmla="*/ 1347639 w 1667202"/>
              <a:gd name="connsiteY697" fmla="*/ 360164 h 593501"/>
              <a:gd name="connsiteX698" fmla="*/ 1321966 w 1667202"/>
              <a:gd name="connsiteY698" fmla="*/ 357560 h 593501"/>
              <a:gd name="connsiteX699" fmla="*/ 1316199 w 1667202"/>
              <a:gd name="connsiteY699" fmla="*/ 357001 h 593501"/>
              <a:gd name="connsiteX700" fmla="*/ 1298153 w 1667202"/>
              <a:gd name="connsiteY700" fmla="*/ 354025 h 593501"/>
              <a:gd name="connsiteX701" fmla="*/ 1268202 w 1667202"/>
              <a:gd name="connsiteY701" fmla="*/ 354025 h 593501"/>
              <a:gd name="connsiteX702" fmla="*/ 1253691 w 1667202"/>
              <a:gd name="connsiteY702" fmla="*/ 357374 h 593501"/>
              <a:gd name="connsiteX703" fmla="*/ 1253877 w 1667202"/>
              <a:gd name="connsiteY703" fmla="*/ 357374 h 593501"/>
              <a:gd name="connsiteX704" fmla="*/ 1243273 w 1667202"/>
              <a:gd name="connsiteY704" fmla="*/ 360536 h 593501"/>
              <a:gd name="connsiteX705" fmla="*/ 1230251 w 1667202"/>
              <a:gd name="connsiteY705" fmla="*/ 361466 h 593501"/>
              <a:gd name="connsiteX706" fmla="*/ 1211275 w 1667202"/>
              <a:gd name="connsiteY706" fmla="*/ 361280 h 593501"/>
              <a:gd name="connsiteX707" fmla="*/ 1198625 w 1667202"/>
              <a:gd name="connsiteY707" fmla="*/ 361466 h 593501"/>
              <a:gd name="connsiteX708" fmla="*/ 1190997 w 1667202"/>
              <a:gd name="connsiteY708" fmla="*/ 360350 h 593501"/>
              <a:gd name="connsiteX709" fmla="*/ 1189137 w 1667202"/>
              <a:gd name="connsiteY709" fmla="*/ 357932 h 593501"/>
              <a:gd name="connsiteX710" fmla="*/ 1190997 w 1667202"/>
              <a:gd name="connsiteY710" fmla="*/ 357560 h 593501"/>
              <a:gd name="connsiteX711" fmla="*/ 1190067 w 1667202"/>
              <a:gd name="connsiteY711" fmla="*/ 353653 h 593501"/>
              <a:gd name="connsiteX712" fmla="*/ 1194346 w 1667202"/>
              <a:gd name="connsiteY712" fmla="*/ 350304 h 593501"/>
              <a:gd name="connsiteX713" fmla="*/ 1195648 w 1667202"/>
              <a:gd name="connsiteY713" fmla="*/ 349374 h 593501"/>
              <a:gd name="connsiteX714" fmla="*/ 1196950 w 1667202"/>
              <a:gd name="connsiteY714" fmla="*/ 349932 h 593501"/>
              <a:gd name="connsiteX715" fmla="*/ 1215182 w 1667202"/>
              <a:gd name="connsiteY715" fmla="*/ 346397 h 593501"/>
              <a:gd name="connsiteX716" fmla="*/ 1214996 w 1667202"/>
              <a:gd name="connsiteY716" fmla="*/ 346584 h 593501"/>
              <a:gd name="connsiteX717" fmla="*/ 1218716 w 1667202"/>
              <a:gd name="connsiteY717" fmla="*/ 343979 h 593501"/>
              <a:gd name="connsiteX718" fmla="*/ 1224297 w 1667202"/>
              <a:gd name="connsiteY718" fmla="*/ 342863 h 593501"/>
              <a:gd name="connsiteX719" fmla="*/ 1232669 w 1667202"/>
              <a:gd name="connsiteY719" fmla="*/ 339700 h 593501"/>
              <a:gd name="connsiteX720" fmla="*/ 1239552 w 1667202"/>
              <a:gd name="connsiteY720" fmla="*/ 335794 h 593501"/>
              <a:gd name="connsiteX721" fmla="*/ 1239366 w 1667202"/>
              <a:gd name="connsiteY721" fmla="*/ 335980 h 593501"/>
              <a:gd name="connsiteX722" fmla="*/ 1246808 w 1667202"/>
              <a:gd name="connsiteY722" fmla="*/ 332631 h 593501"/>
              <a:gd name="connsiteX723" fmla="*/ 1256854 w 1667202"/>
              <a:gd name="connsiteY723" fmla="*/ 327608 h 593501"/>
              <a:gd name="connsiteX724" fmla="*/ 1266527 w 1667202"/>
              <a:gd name="connsiteY724" fmla="*/ 325375 h 593501"/>
              <a:gd name="connsiteX725" fmla="*/ 1274713 w 1667202"/>
              <a:gd name="connsiteY725" fmla="*/ 318864 h 593501"/>
              <a:gd name="connsiteX726" fmla="*/ 1263737 w 1667202"/>
              <a:gd name="connsiteY726" fmla="*/ 315516 h 593501"/>
              <a:gd name="connsiteX727" fmla="*/ 1260760 w 1667202"/>
              <a:gd name="connsiteY727" fmla="*/ 315144 h 593501"/>
              <a:gd name="connsiteX728" fmla="*/ 1241599 w 1667202"/>
              <a:gd name="connsiteY728" fmla="*/ 312167 h 593501"/>
              <a:gd name="connsiteX729" fmla="*/ 1198066 w 1667202"/>
              <a:gd name="connsiteY729" fmla="*/ 311237 h 593501"/>
              <a:gd name="connsiteX730" fmla="*/ 1194160 w 1667202"/>
              <a:gd name="connsiteY730" fmla="*/ 308632 h 593501"/>
              <a:gd name="connsiteX731" fmla="*/ 1190997 w 1667202"/>
              <a:gd name="connsiteY731" fmla="*/ 306400 h 593501"/>
              <a:gd name="connsiteX732" fmla="*/ 1190811 w 1667202"/>
              <a:gd name="connsiteY732" fmla="*/ 305098 h 593501"/>
              <a:gd name="connsiteX733" fmla="*/ 1188579 w 1667202"/>
              <a:gd name="connsiteY733" fmla="*/ 304726 h 593501"/>
              <a:gd name="connsiteX734" fmla="*/ 1193788 w 1667202"/>
              <a:gd name="connsiteY734" fmla="*/ 293377 h 593501"/>
              <a:gd name="connsiteX735" fmla="*/ 1193788 w 1667202"/>
              <a:gd name="connsiteY735" fmla="*/ 287982 h 593501"/>
              <a:gd name="connsiteX736" fmla="*/ 1179649 w 1667202"/>
              <a:gd name="connsiteY736" fmla="*/ 284076 h 593501"/>
              <a:gd name="connsiteX737" fmla="*/ 1159929 w 1667202"/>
              <a:gd name="connsiteY737" fmla="*/ 283332 h 593501"/>
              <a:gd name="connsiteX738" fmla="*/ 1139651 w 1667202"/>
              <a:gd name="connsiteY738" fmla="*/ 279239 h 593501"/>
              <a:gd name="connsiteX739" fmla="*/ 1140954 w 1667202"/>
              <a:gd name="connsiteY739" fmla="*/ 278867 h 593501"/>
              <a:gd name="connsiteX740" fmla="*/ 1144860 w 1667202"/>
              <a:gd name="connsiteY740" fmla="*/ 273844 h 593501"/>
              <a:gd name="connsiteX741" fmla="*/ 1139093 w 1667202"/>
              <a:gd name="connsiteY741" fmla="*/ 272914 h 593501"/>
              <a:gd name="connsiteX742" fmla="*/ 1133512 w 1667202"/>
              <a:gd name="connsiteY742" fmla="*/ 273100 h 593501"/>
              <a:gd name="connsiteX743" fmla="*/ 1139093 w 1667202"/>
              <a:gd name="connsiteY743" fmla="*/ 269937 h 593501"/>
              <a:gd name="connsiteX744" fmla="*/ 1164952 w 1667202"/>
              <a:gd name="connsiteY744" fmla="*/ 269565 h 593501"/>
              <a:gd name="connsiteX745" fmla="*/ 1201787 w 1667202"/>
              <a:gd name="connsiteY745" fmla="*/ 268821 h 593501"/>
              <a:gd name="connsiteX746" fmla="*/ 1206438 w 1667202"/>
              <a:gd name="connsiteY746" fmla="*/ 266402 h 593501"/>
              <a:gd name="connsiteX747" fmla="*/ 1208112 w 1667202"/>
              <a:gd name="connsiteY747" fmla="*/ 266774 h 593501"/>
              <a:gd name="connsiteX748" fmla="*/ 1198439 w 1667202"/>
              <a:gd name="connsiteY748" fmla="*/ 277006 h 593501"/>
              <a:gd name="connsiteX749" fmla="*/ 1198625 w 1667202"/>
              <a:gd name="connsiteY749" fmla="*/ 279425 h 593501"/>
              <a:gd name="connsiteX750" fmla="*/ 1203089 w 1667202"/>
              <a:gd name="connsiteY750" fmla="*/ 283332 h 593501"/>
              <a:gd name="connsiteX751" fmla="*/ 1208856 w 1667202"/>
              <a:gd name="connsiteY751" fmla="*/ 284076 h 593501"/>
              <a:gd name="connsiteX752" fmla="*/ 1229692 w 1667202"/>
              <a:gd name="connsiteY752" fmla="*/ 284076 h 593501"/>
              <a:gd name="connsiteX753" fmla="*/ 1239738 w 1667202"/>
              <a:gd name="connsiteY753" fmla="*/ 283518 h 593501"/>
              <a:gd name="connsiteX754" fmla="*/ 1250528 w 1667202"/>
              <a:gd name="connsiteY754" fmla="*/ 280541 h 593501"/>
              <a:gd name="connsiteX755" fmla="*/ 1251645 w 1667202"/>
              <a:gd name="connsiteY755" fmla="*/ 279611 h 593501"/>
              <a:gd name="connsiteX756" fmla="*/ 1253133 w 1667202"/>
              <a:gd name="connsiteY756" fmla="*/ 279797 h 593501"/>
              <a:gd name="connsiteX757" fmla="*/ 1257598 w 1667202"/>
              <a:gd name="connsiteY757" fmla="*/ 276634 h 593501"/>
              <a:gd name="connsiteX758" fmla="*/ 1253691 w 1667202"/>
              <a:gd name="connsiteY758" fmla="*/ 266402 h 593501"/>
              <a:gd name="connsiteX759" fmla="*/ 1250714 w 1667202"/>
              <a:gd name="connsiteY759" fmla="*/ 265658 h 593501"/>
              <a:gd name="connsiteX760" fmla="*/ 1222623 w 1667202"/>
              <a:gd name="connsiteY760" fmla="*/ 262868 h 593501"/>
              <a:gd name="connsiteX761" fmla="*/ 1218158 w 1667202"/>
              <a:gd name="connsiteY761" fmla="*/ 261938 h 593501"/>
              <a:gd name="connsiteX762" fmla="*/ 1219088 w 1667202"/>
              <a:gd name="connsiteY762" fmla="*/ 255984 h 593501"/>
              <a:gd name="connsiteX763" fmla="*/ 1220019 w 1667202"/>
              <a:gd name="connsiteY763" fmla="*/ 255612 h 593501"/>
              <a:gd name="connsiteX764" fmla="*/ 1221135 w 1667202"/>
              <a:gd name="connsiteY764" fmla="*/ 255612 h 593501"/>
              <a:gd name="connsiteX765" fmla="*/ 1222809 w 1667202"/>
              <a:gd name="connsiteY765" fmla="*/ 255798 h 593501"/>
              <a:gd name="connsiteX766" fmla="*/ 1223553 w 1667202"/>
              <a:gd name="connsiteY766" fmla="*/ 254310 h 593501"/>
              <a:gd name="connsiteX767" fmla="*/ 1224483 w 1667202"/>
              <a:gd name="connsiteY767" fmla="*/ 253938 h 593501"/>
              <a:gd name="connsiteX768" fmla="*/ 1236762 w 1667202"/>
              <a:gd name="connsiteY768" fmla="*/ 252450 h 593501"/>
              <a:gd name="connsiteX769" fmla="*/ 1236390 w 1667202"/>
              <a:gd name="connsiteY769" fmla="*/ 251706 h 593501"/>
              <a:gd name="connsiteX770" fmla="*/ 1244389 w 1667202"/>
              <a:gd name="connsiteY770" fmla="*/ 250403 h 593501"/>
              <a:gd name="connsiteX771" fmla="*/ 1236390 w 1667202"/>
              <a:gd name="connsiteY771" fmla="*/ 251706 h 593501"/>
              <a:gd name="connsiteX772" fmla="*/ 1277876 w 1667202"/>
              <a:gd name="connsiteY772" fmla="*/ 252078 h 593501"/>
              <a:gd name="connsiteX773" fmla="*/ 1265411 w 1667202"/>
              <a:gd name="connsiteY773" fmla="*/ 242962 h 593501"/>
              <a:gd name="connsiteX774" fmla="*/ 1268202 w 1667202"/>
              <a:gd name="connsiteY774" fmla="*/ 242032 h 593501"/>
              <a:gd name="connsiteX775" fmla="*/ 1268388 w 1667202"/>
              <a:gd name="connsiteY775" fmla="*/ 241846 h 593501"/>
              <a:gd name="connsiteX776" fmla="*/ 1271550 w 1667202"/>
              <a:gd name="connsiteY776" fmla="*/ 235521 h 593501"/>
              <a:gd name="connsiteX777" fmla="*/ 1288480 w 1667202"/>
              <a:gd name="connsiteY777" fmla="*/ 234404 h 593501"/>
              <a:gd name="connsiteX778" fmla="*/ 1323640 w 1667202"/>
              <a:gd name="connsiteY778" fmla="*/ 235334 h 593501"/>
              <a:gd name="connsiteX779" fmla="*/ 1325501 w 1667202"/>
              <a:gd name="connsiteY779" fmla="*/ 237567 h 593501"/>
              <a:gd name="connsiteX780" fmla="*/ 1323826 w 1667202"/>
              <a:gd name="connsiteY780" fmla="*/ 239055 h 593501"/>
              <a:gd name="connsiteX781" fmla="*/ 1334058 w 1667202"/>
              <a:gd name="connsiteY781" fmla="*/ 237753 h 593501"/>
              <a:gd name="connsiteX782" fmla="*/ 1332570 w 1667202"/>
              <a:gd name="connsiteY782" fmla="*/ 237195 h 593501"/>
              <a:gd name="connsiteX783" fmla="*/ 1334058 w 1667202"/>
              <a:gd name="connsiteY783" fmla="*/ 234962 h 593501"/>
              <a:gd name="connsiteX784" fmla="*/ 1382427 w 1667202"/>
              <a:gd name="connsiteY784" fmla="*/ 234776 h 593501"/>
              <a:gd name="connsiteX785" fmla="*/ 1383358 w 1667202"/>
              <a:gd name="connsiteY785" fmla="*/ 232172 h 593501"/>
              <a:gd name="connsiteX786" fmla="*/ 1386334 w 1667202"/>
              <a:gd name="connsiteY786" fmla="*/ 231986 h 593501"/>
              <a:gd name="connsiteX787" fmla="*/ 1389683 w 1667202"/>
              <a:gd name="connsiteY787" fmla="*/ 230870 h 593501"/>
              <a:gd name="connsiteX788" fmla="*/ 1426518 w 1667202"/>
              <a:gd name="connsiteY788" fmla="*/ 231428 h 593501"/>
              <a:gd name="connsiteX789" fmla="*/ 1431727 w 1667202"/>
              <a:gd name="connsiteY789" fmla="*/ 227707 h 593501"/>
              <a:gd name="connsiteX790" fmla="*/ 1428378 w 1667202"/>
              <a:gd name="connsiteY790" fmla="*/ 227149 h 593501"/>
              <a:gd name="connsiteX791" fmla="*/ 1389497 w 1667202"/>
              <a:gd name="connsiteY791" fmla="*/ 228451 h 593501"/>
              <a:gd name="connsiteX792" fmla="*/ 1379265 w 1667202"/>
              <a:gd name="connsiteY792" fmla="*/ 227149 h 593501"/>
              <a:gd name="connsiteX793" fmla="*/ 1374056 w 1667202"/>
              <a:gd name="connsiteY793" fmla="*/ 225103 h 593501"/>
              <a:gd name="connsiteX794" fmla="*/ 1369591 w 1667202"/>
              <a:gd name="connsiteY794" fmla="*/ 224172 h 593501"/>
              <a:gd name="connsiteX795" fmla="*/ 1372567 w 1667202"/>
              <a:gd name="connsiteY795" fmla="*/ 220824 h 593501"/>
              <a:gd name="connsiteX796" fmla="*/ 1370149 w 1667202"/>
              <a:gd name="connsiteY796" fmla="*/ 220452 h 593501"/>
              <a:gd name="connsiteX797" fmla="*/ 1368103 w 1667202"/>
              <a:gd name="connsiteY797" fmla="*/ 217847 h 593501"/>
              <a:gd name="connsiteX798" fmla="*/ 1358801 w 1667202"/>
              <a:gd name="connsiteY798" fmla="*/ 217661 h 593501"/>
              <a:gd name="connsiteX799" fmla="*/ 1360847 w 1667202"/>
              <a:gd name="connsiteY799" fmla="*/ 223242 h 593501"/>
              <a:gd name="connsiteX800" fmla="*/ 1352662 w 1667202"/>
              <a:gd name="connsiteY800" fmla="*/ 223614 h 593501"/>
              <a:gd name="connsiteX801" fmla="*/ 1354150 w 1667202"/>
              <a:gd name="connsiteY801" fmla="*/ 218033 h 593501"/>
              <a:gd name="connsiteX802" fmla="*/ 1337593 w 1667202"/>
              <a:gd name="connsiteY802" fmla="*/ 218033 h 593501"/>
              <a:gd name="connsiteX803" fmla="*/ 1333872 w 1667202"/>
              <a:gd name="connsiteY803" fmla="*/ 216731 h 593501"/>
              <a:gd name="connsiteX804" fmla="*/ 1330524 w 1667202"/>
              <a:gd name="connsiteY804" fmla="*/ 216917 h 593501"/>
              <a:gd name="connsiteX805" fmla="*/ 1323454 w 1667202"/>
              <a:gd name="connsiteY805" fmla="*/ 216731 h 593501"/>
              <a:gd name="connsiteX806" fmla="*/ 1319919 w 1667202"/>
              <a:gd name="connsiteY806" fmla="*/ 216545 h 593501"/>
              <a:gd name="connsiteX807" fmla="*/ 1320106 w 1667202"/>
              <a:gd name="connsiteY807" fmla="*/ 217847 h 593501"/>
              <a:gd name="connsiteX808" fmla="*/ 1299828 w 1667202"/>
              <a:gd name="connsiteY808" fmla="*/ 217847 h 593501"/>
              <a:gd name="connsiteX809" fmla="*/ 1294991 w 1667202"/>
              <a:gd name="connsiteY809" fmla="*/ 220638 h 593501"/>
              <a:gd name="connsiteX810" fmla="*/ 1292944 w 1667202"/>
              <a:gd name="connsiteY810" fmla="*/ 220452 h 593501"/>
              <a:gd name="connsiteX811" fmla="*/ 1288666 w 1667202"/>
              <a:gd name="connsiteY811" fmla="*/ 217847 h 593501"/>
              <a:gd name="connsiteX812" fmla="*/ 1281782 w 1667202"/>
              <a:gd name="connsiteY812" fmla="*/ 217475 h 593501"/>
              <a:gd name="connsiteX813" fmla="*/ 1278992 w 1667202"/>
              <a:gd name="connsiteY813" fmla="*/ 220080 h 593501"/>
              <a:gd name="connsiteX814" fmla="*/ 1278434 w 1667202"/>
              <a:gd name="connsiteY814" fmla="*/ 217289 h 593501"/>
              <a:gd name="connsiteX815" fmla="*/ 1269318 w 1667202"/>
              <a:gd name="connsiteY815" fmla="*/ 217289 h 593501"/>
              <a:gd name="connsiteX816" fmla="*/ 1265039 w 1667202"/>
              <a:gd name="connsiteY816" fmla="*/ 215987 h 593501"/>
              <a:gd name="connsiteX817" fmla="*/ 1264109 w 1667202"/>
              <a:gd name="connsiteY817" fmla="*/ 215615 h 593501"/>
              <a:gd name="connsiteX818" fmla="*/ 1264109 w 1667202"/>
              <a:gd name="connsiteY818" fmla="*/ 214313 h 593501"/>
              <a:gd name="connsiteX819" fmla="*/ 1264481 w 1667202"/>
              <a:gd name="connsiteY819" fmla="*/ 210592 h 593501"/>
              <a:gd name="connsiteX820" fmla="*/ 1265039 w 1667202"/>
              <a:gd name="connsiteY820" fmla="*/ 209290 h 593501"/>
              <a:gd name="connsiteX821" fmla="*/ 1270062 w 1667202"/>
              <a:gd name="connsiteY821" fmla="*/ 208731 h 593501"/>
              <a:gd name="connsiteX822" fmla="*/ 1325315 w 1667202"/>
              <a:gd name="connsiteY822" fmla="*/ 208545 h 593501"/>
              <a:gd name="connsiteX823" fmla="*/ 1332198 w 1667202"/>
              <a:gd name="connsiteY823" fmla="*/ 207615 h 593501"/>
              <a:gd name="connsiteX824" fmla="*/ 1379079 w 1667202"/>
              <a:gd name="connsiteY824" fmla="*/ 207615 h 593501"/>
              <a:gd name="connsiteX825" fmla="*/ 1445307 w 1667202"/>
              <a:gd name="connsiteY825" fmla="*/ 206871 h 593501"/>
              <a:gd name="connsiteX826" fmla="*/ 1446795 w 1667202"/>
              <a:gd name="connsiteY826" fmla="*/ 205011 h 593501"/>
              <a:gd name="connsiteX827" fmla="*/ 1448470 w 1667202"/>
              <a:gd name="connsiteY827" fmla="*/ 206127 h 593501"/>
              <a:gd name="connsiteX828" fmla="*/ 1445493 w 1667202"/>
              <a:gd name="connsiteY828" fmla="*/ 206871 h 593501"/>
              <a:gd name="connsiteX829" fmla="*/ 1448842 w 1667202"/>
              <a:gd name="connsiteY829" fmla="*/ 207429 h 593501"/>
              <a:gd name="connsiteX830" fmla="*/ 1490328 w 1667202"/>
              <a:gd name="connsiteY830" fmla="*/ 206127 h 593501"/>
              <a:gd name="connsiteX831" fmla="*/ 1490700 w 1667202"/>
              <a:gd name="connsiteY831" fmla="*/ 200360 h 593501"/>
              <a:gd name="connsiteX832" fmla="*/ 1487351 w 1667202"/>
              <a:gd name="connsiteY832" fmla="*/ 199802 h 593501"/>
              <a:gd name="connsiteX833" fmla="*/ 1485119 w 1667202"/>
              <a:gd name="connsiteY833" fmla="*/ 199988 h 593501"/>
              <a:gd name="connsiteX834" fmla="*/ 1481212 w 1667202"/>
              <a:gd name="connsiteY834" fmla="*/ 199988 h 593501"/>
              <a:gd name="connsiteX835" fmla="*/ 1476933 w 1667202"/>
              <a:gd name="connsiteY835" fmla="*/ 196639 h 593501"/>
              <a:gd name="connsiteX836" fmla="*/ 1473585 w 1667202"/>
              <a:gd name="connsiteY836" fmla="*/ 196639 h 593501"/>
              <a:gd name="connsiteX837" fmla="*/ 1470422 w 1667202"/>
              <a:gd name="connsiteY837" fmla="*/ 199616 h 593501"/>
              <a:gd name="connsiteX838" fmla="*/ 1467445 w 1667202"/>
              <a:gd name="connsiteY838" fmla="*/ 199244 h 593501"/>
              <a:gd name="connsiteX839" fmla="*/ 1463167 w 1667202"/>
              <a:gd name="connsiteY839" fmla="*/ 199430 h 593501"/>
              <a:gd name="connsiteX840" fmla="*/ 1459818 w 1667202"/>
              <a:gd name="connsiteY840" fmla="*/ 199802 h 593501"/>
              <a:gd name="connsiteX841" fmla="*/ 1459260 w 1667202"/>
              <a:gd name="connsiteY841" fmla="*/ 197197 h 593501"/>
              <a:gd name="connsiteX842" fmla="*/ 1443633 w 1667202"/>
              <a:gd name="connsiteY842" fmla="*/ 193477 h 593501"/>
              <a:gd name="connsiteX843" fmla="*/ 1441587 w 1667202"/>
              <a:gd name="connsiteY843" fmla="*/ 193291 h 593501"/>
              <a:gd name="connsiteX844" fmla="*/ 1434889 w 1667202"/>
              <a:gd name="connsiteY844" fmla="*/ 193663 h 593501"/>
              <a:gd name="connsiteX845" fmla="*/ 1431727 w 1667202"/>
              <a:gd name="connsiteY845" fmla="*/ 192918 h 593501"/>
              <a:gd name="connsiteX846" fmla="*/ 1408100 w 1667202"/>
              <a:gd name="connsiteY846" fmla="*/ 192918 h 593501"/>
              <a:gd name="connsiteX847" fmla="*/ 1403449 w 1667202"/>
              <a:gd name="connsiteY847" fmla="*/ 191430 h 593501"/>
              <a:gd name="connsiteX848" fmla="*/ 1370893 w 1667202"/>
              <a:gd name="connsiteY848" fmla="*/ 192360 h 593501"/>
              <a:gd name="connsiteX849" fmla="*/ 1360103 w 1667202"/>
              <a:gd name="connsiteY849" fmla="*/ 189942 h 593501"/>
              <a:gd name="connsiteX850" fmla="*/ 1345964 w 1667202"/>
              <a:gd name="connsiteY850" fmla="*/ 189942 h 593501"/>
              <a:gd name="connsiteX851" fmla="*/ 1339639 w 1667202"/>
              <a:gd name="connsiteY851" fmla="*/ 189942 h 593501"/>
              <a:gd name="connsiteX852" fmla="*/ 1330709 w 1667202"/>
              <a:gd name="connsiteY852" fmla="*/ 189198 h 593501"/>
              <a:gd name="connsiteX853" fmla="*/ 1315455 w 1667202"/>
              <a:gd name="connsiteY853" fmla="*/ 184175 h 593501"/>
              <a:gd name="connsiteX854" fmla="*/ 1323640 w 1667202"/>
              <a:gd name="connsiteY854" fmla="*/ 182501 h 593501"/>
              <a:gd name="connsiteX855" fmla="*/ 1324570 w 1667202"/>
              <a:gd name="connsiteY855" fmla="*/ 181570 h 593501"/>
              <a:gd name="connsiteX856" fmla="*/ 1325873 w 1667202"/>
              <a:gd name="connsiteY856" fmla="*/ 181942 h 593501"/>
              <a:gd name="connsiteX857" fmla="*/ 1333500 w 1667202"/>
              <a:gd name="connsiteY857" fmla="*/ 177850 h 593501"/>
              <a:gd name="connsiteX858" fmla="*/ 1333128 w 1667202"/>
              <a:gd name="connsiteY858" fmla="*/ 178222 h 593501"/>
              <a:gd name="connsiteX859" fmla="*/ 1328849 w 1667202"/>
              <a:gd name="connsiteY859" fmla="*/ 168920 h 593501"/>
              <a:gd name="connsiteX860" fmla="*/ 1274899 w 1667202"/>
              <a:gd name="connsiteY860" fmla="*/ 168176 h 593501"/>
              <a:gd name="connsiteX861" fmla="*/ 1243273 w 1667202"/>
              <a:gd name="connsiteY861" fmla="*/ 165013 h 593501"/>
              <a:gd name="connsiteX862" fmla="*/ 1242157 w 1667202"/>
              <a:gd name="connsiteY862" fmla="*/ 165013 h 593501"/>
              <a:gd name="connsiteX863" fmla="*/ 1242901 w 1667202"/>
              <a:gd name="connsiteY863" fmla="*/ 165013 h 593501"/>
              <a:gd name="connsiteX864" fmla="*/ 1390799 w 1667202"/>
              <a:gd name="connsiteY864" fmla="*/ 163153 h 593501"/>
              <a:gd name="connsiteX865" fmla="*/ 1393217 w 1667202"/>
              <a:gd name="connsiteY865" fmla="*/ 161293 h 593501"/>
              <a:gd name="connsiteX866" fmla="*/ 1421309 w 1667202"/>
              <a:gd name="connsiteY866" fmla="*/ 160920 h 593501"/>
              <a:gd name="connsiteX867" fmla="*/ 1420565 w 1667202"/>
              <a:gd name="connsiteY867" fmla="*/ 161479 h 593501"/>
              <a:gd name="connsiteX868" fmla="*/ 1420937 w 1667202"/>
              <a:gd name="connsiteY868" fmla="*/ 162223 h 593501"/>
              <a:gd name="connsiteX869" fmla="*/ 1452563 w 1667202"/>
              <a:gd name="connsiteY869" fmla="*/ 162037 h 593501"/>
              <a:gd name="connsiteX870" fmla="*/ 1456097 w 1667202"/>
              <a:gd name="connsiteY870" fmla="*/ 160920 h 593501"/>
              <a:gd name="connsiteX871" fmla="*/ 1456469 w 1667202"/>
              <a:gd name="connsiteY871" fmla="*/ 160548 h 593501"/>
              <a:gd name="connsiteX872" fmla="*/ 1457400 w 1667202"/>
              <a:gd name="connsiteY872" fmla="*/ 162595 h 593501"/>
              <a:gd name="connsiteX873" fmla="*/ 1507071 w 1667202"/>
              <a:gd name="connsiteY873" fmla="*/ 162595 h 593501"/>
              <a:gd name="connsiteX874" fmla="*/ 1508931 w 1667202"/>
              <a:gd name="connsiteY874" fmla="*/ 160920 h 593501"/>
              <a:gd name="connsiteX875" fmla="*/ 1512094 w 1667202"/>
              <a:gd name="connsiteY875" fmla="*/ 161851 h 593501"/>
              <a:gd name="connsiteX876" fmla="*/ 1526046 w 1667202"/>
              <a:gd name="connsiteY876" fmla="*/ 161665 h 593501"/>
              <a:gd name="connsiteX877" fmla="*/ 1533116 w 1667202"/>
              <a:gd name="connsiteY877" fmla="*/ 161479 h 593501"/>
              <a:gd name="connsiteX878" fmla="*/ 1533674 w 1667202"/>
              <a:gd name="connsiteY878" fmla="*/ 161106 h 593501"/>
              <a:gd name="connsiteX879" fmla="*/ 1527721 w 1667202"/>
              <a:gd name="connsiteY879" fmla="*/ 156642 h 593501"/>
              <a:gd name="connsiteX880" fmla="*/ 1508745 w 1667202"/>
              <a:gd name="connsiteY880" fmla="*/ 157386 h 593501"/>
              <a:gd name="connsiteX881" fmla="*/ 1497025 w 1667202"/>
              <a:gd name="connsiteY881" fmla="*/ 154595 h 593501"/>
              <a:gd name="connsiteX882" fmla="*/ 1485119 w 1667202"/>
              <a:gd name="connsiteY882" fmla="*/ 154409 h 593501"/>
              <a:gd name="connsiteX883" fmla="*/ 1466143 w 1667202"/>
              <a:gd name="connsiteY883" fmla="*/ 153107 h 593501"/>
              <a:gd name="connsiteX884" fmla="*/ 1461492 w 1667202"/>
              <a:gd name="connsiteY884" fmla="*/ 150875 h 593501"/>
              <a:gd name="connsiteX885" fmla="*/ 1454609 w 1667202"/>
              <a:gd name="connsiteY885" fmla="*/ 150688 h 593501"/>
              <a:gd name="connsiteX886" fmla="*/ 1450330 w 1667202"/>
              <a:gd name="connsiteY886" fmla="*/ 151433 h 593501"/>
              <a:gd name="connsiteX887" fmla="*/ 1440284 w 1667202"/>
              <a:gd name="connsiteY887" fmla="*/ 151061 h 593501"/>
              <a:gd name="connsiteX888" fmla="*/ 1429308 w 1667202"/>
              <a:gd name="connsiteY888" fmla="*/ 151433 h 593501"/>
              <a:gd name="connsiteX889" fmla="*/ 1423541 w 1667202"/>
              <a:gd name="connsiteY889" fmla="*/ 154409 h 593501"/>
              <a:gd name="connsiteX890" fmla="*/ 1422239 w 1667202"/>
              <a:gd name="connsiteY890" fmla="*/ 154409 h 593501"/>
              <a:gd name="connsiteX891" fmla="*/ 1420937 w 1667202"/>
              <a:gd name="connsiteY891" fmla="*/ 152363 h 593501"/>
              <a:gd name="connsiteX892" fmla="*/ 1417588 w 1667202"/>
              <a:gd name="connsiteY892" fmla="*/ 150875 h 593501"/>
              <a:gd name="connsiteX893" fmla="*/ 1426890 w 1667202"/>
              <a:gd name="connsiteY893" fmla="*/ 150502 h 593501"/>
              <a:gd name="connsiteX894" fmla="*/ 1431727 w 1667202"/>
              <a:gd name="connsiteY894" fmla="*/ 149572 h 593501"/>
              <a:gd name="connsiteX895" fmla="*/ 1433215 w 1667202"/>
              <a:gd name="connsiteY895" fmla="*/ 148642 h 593501"/>
              <a:gd name="connsiteX896" fmla="*/ 1436936 w 1667202"/>
              <a:gd name="connsiteY896" fmla="*/ 149572 h 593501"/>
              <a:gd name="connsiteX897" fmla="*/ 1449028 w 1667202"/>
              <a:gd name="connsiteY897" fmla="*/ 147898 h 593501"/>
              <a:gd name="connsiteX898" fmla="*/ 1449772 w 1667202"/>
              <a:gd name="connsiteY898" fmla="*/ 146596 h 593501"/>
              <a:gd name="connsiteX899" fmla="*/ 1453679 w 1667202"/>
              <a:gd name="connsiteY899" fmla="*/ 146596 h 593501"/>
              <a:gd name="connsiteX900" fmla="*/ 1458888 w 1667202"/>
              <a:gd name="connsiteY900" fmla="*/ 148084 h 593501"/>
              <a:gd name="connsiteX901" fmla="*/ 1463167 w 1667202"/>
              <a:gd name="connsiteY901" fmla="*/ 147340 h 593501"/>
              <a:gd name="connsiteX902" fmla="*/ 1474143 w 1667202"/>
              <a:gd name="connsiteY902" fmla="*/ 146224 h 593501"/>
              <a:gd name="connsiteX903" fmla="*/ 1490700 w 1667202"/>
              <a:gd name="connsiteY903" fmla="*/ 145666 h 593501"/>
              <a:gd name="connsiteX904" fmla="*/ 1490886 w 1667202"/>
              <a:gd name="connsiteY904" fmla="*/ 143991 h 593501"/>
              <a:gd name="connsiteX905" fmla="*/ 1488467 w 1667202"/>
              <a:gd name="connsiteY905" fmla="*/ 142503 h 593501"/>
              <a:gd name="connsiteX906" fmla="*/ 1488467 w 1667202"/>
              <a:gd name="connsiteY906" fmla="*/ 141945 h 593501"/>
              <a:gd name="connsiteX907" fmla="*/ 1486793 w 1667202"/>
              <a:gd name="connsiteY907" fmla="*/ 139712 h 593501"/>
              <a:gd name="connsiteX908" fmla="*/ 1484188 w 1667202"/>
              <a:gd name="connsiteY908" fmla="*/ 139340 h 593501"/>
              <a:gd name="connsiteX909" fmla="*/ 1473957 w 1667202"/>
              <a:gd name="connsiteY909" fmla="*/ 135806 h 593501"/>
              <a:gd name="connsiteX910" fmla="*/ 1470236 w 1667202"/>
              <a:gd name="connsiteY910" fmla="*/ 135806 h 593501"/>
              <a:gd name="connsiteX911" fmla="*/ 1459632 w 1667202"/>
              <a:gd name="connsiteY911" fmla="*/ 135806 h 593501"/>
              <a:gd name="connsiteX912" fmla="*/ 1456283 w 1667202"/>
              <a:gd name="connsiteY912" fmla="*/ 135806 h 593501"/>
              <a:gd name="connsiteX913" fmla="*/ 1450330 w 1667202"/>
              <a:gd name="connsiteY913" fmla="*/ 138038 h 593501"/>
              <a:gd name="connsiteX914" fmla="*/ 1450516 w 1667202"/>
              <a:gd name="connsiteY914" fmla="*/ 137480 h 593501"/>
              <a:gd name="connsiteX915" fmla="*/ 1449028 w 1667202"/>
              <a:gd name="connsiteY915" fmla="*/ 135992 h 593501"/>
              <a:gd name="connsiteX916" fmla="*/ 1435261 w 1667202"/>
              <a:gd name="connsiteY916" fmla="*/ 135620 h 593501"/>
              <a:gd name="connsiteX917" fmla="*/ 1422611 w 1667202"/>
              <a:gd name="connsiteY917" fmla="*/ 138038 h 593501"/>
              <a:gd name="connsiteX918" fmla="*/ 1420565 w 1667202"/>
              <a:gd name="connsiteY918" fmla="*/ 136178 h 593501"/>
              <a:gd name="connsiteX919" fmla="*/ 1417960 w 1667202"/>
              <a:gd name="connsiteY919" fmla="*/ 135620 h 593501"/>
              <a:gd name="connsiteX920" fmla="*/ 1411077 w 1667202"/>
              <a:gd name="connsiteY920" fmla="*/ 135248 h 593501"/>
              <a:gd name="connsiteX921" fmla="*/ 1404193 w 1667202"/>
              <a:gd name="connsiteY921" fmla="*/ 135806 h 593501"/>
              <a:gd name="connsiteX922" fmla="*/ 1403263 w 1667202"/>
              <a:gd name="connsiteY922" fmla="*/ 138596 h 593501"/>
              <a:gd name="connsiteX923" fmla="*/ 1400845 w 1667202"/>
              <a:gd name="connsiteY923" fmla="*/ 138782 h 593501"/>
              <a:gd name="connsiteX924" fmla="*/ 1401031 w 1667202"/>
              <a:gd name="connsiteY924" fmla="*/ 138596 h 593501"/>
              <a:gd name="connsiteX925" fmla="*/ 1400659 w 1667202"/>
              <a:gd name="connsiteY925" fmla="*/ 138596 h 593501"/>
              <a:gd name="connsiteX926" fmla="*/ 1400473 w 1667202"/>
              <a:gd name="connsiteY926" fmla="*/ 135806 h 593501"/>
              <a:gd name="connsiteX927" fmla="*/ 1384288 w 1667202"/>
              <a:gd name="connsiteY927" fmla="*/ 136178 h 593501"/>
              <a:gd name="connsiteX928" fmla="*/ 1379265 w 1667202"/>
              <a:gd name="connsiteY928" fmla="*/ 139154 h 593501"/>
              <a:gd name="connsiteX929" fmla="*/ 1374056 w 1667202"/>
              <a:gd name="connsiteY929" fmla="*/ 139154 h 593501"/>
              <a:gd name="connsiteX930" fmla="*/ 1372754 w 1667202"/>
              <a:gd name="connsiteY930" fmla="*/ 135620 h 593501"/>
              <a:gd name="connsiteX931" fmla="*/ 1369033 w 1667202"/>
              <a:gd name="connsiteY931" fmla="*/ 134689 h 593501"/>
              <a:gd name="connsiteX932" fmla="*/ 1366800 w 1667202"/>
              <a:gd name="connsiteY932" fmla="*/ 135248 h 593501"/>
              <a:gd name="connsiteX933" fmla="*/ 1366614 w 1667202"/>
              <a:gd name="connsiteY933" fmla="*/ 135248 h 593501"/>
              <a:gd name="connsiteX934" fmla="*/ 1366800 w 1667202"/>
              <a:gd name="connsiteY934" fmla="*/ 134875 h 593501"/>
              <a:gd name="connsiteX935" fmla="*/ 1365870 w 1667202"/>
              <a:gd name="connsiteY935" fmla="*/ 132271 h 593501"/>
              <a:gd name="connsiteX936" fmla="*/ 1358987 w 1667202"/>
              <a:gd name="connsiteY936" fmla="*/ 132457 h 593501"/>
              <a:gd name="connsiteX937" fmla="*/ 1357871 w 1667202"/>
              <a:gd name="connsiteY937" fmla="*/ 134503 h 593501"/>
              <a:gd name="connsiteX938" fmla="*/ 1357313 w 1667202"/>
              <a:gd name="connsiteY938" fmla="*/ 134317 h 593501"/>
              <a:gd name="connsiteX939" fmla="*/ 1355452 w 1667202"/>
              <a:gd name="connsiteY939" fmla="*/ 134689 h 593501"/>
              <a:gd name="connsiteX940" fmla="*/ 1351359 w 1667202"/>
              <a:gd name="connsiteY940" fmla="*/ 136178 h 593501"/>
              <a:gd name="connsiteX941" fmla="*/ 1351732 w 1667202"/>
              <a:gd name="connsiteY941" fmla="*/ 135620 h 593501"/>
              <a:gd name="connsiteX942" fmla="*/ 1347825 w 1667202"/>
              <a:gd name="connsiteY942" fmla="*/ 132643 h 593501"/>
              <a:gd name="connsiteX943" fmla="*/ 1340569 w 1667202"/>
              <a:gd name="connsiteY943" fmla="*/ 129108 h 593501"/>
              <a:gd name="connsiteX944" fmla="*/ 1334616 w 1667202"/>
              <a:gd name="connsiteY944" fmla="*/ 128922 h 593501"/>
              <a:gd name="connsiteX945" fmla="*/ 1322524 w 1667202"/>
              <a:gd name="connsiteY945" fmla="*/ 131527 h 593501"/>
              <a:gd name="connsiteX946" fmla="*/ 1316943 w 1667202"/>
              <a:gd name="connsiteY946" fmla="*/ 132085 h 593501"/>
              <a:gd name="connsiteX947" fmla="*/ 1313408 w 1667202"/>
              <a:gd name="connsiteY947" fmla="*/ 132085 h 593501"/>
              <a:gd name="connsiteX948" fmla="*/ 1302990 w 1667202"/>
              <a:gd name="connsiteY948" fmla="*/ 132457 h 593501"/>
              <a:gd name="connsiteX949" fmla="*/ 1296107 w 1667202"/>
              <a:gd name="connsiteY949" fmla="*/ 132457 h 593501"/>
              <a:gd name="connsiteX950" fmla="*/ 1292944 w 1667202"/>
              <a:gd name="connsiteY950" fmla="*/ 125202 h 593501"/>
              <a:gd name="connsiteX951" fmla="*/ 1292014 w 1667202"/>
              <a:gd name="connsiteY951" fmla="*/ 122969 h 593501"/>
              <a:gd name="connsiteX952" fmla="*/ 1290898 w 1667202"/>
              <a:gd name="connsiteY952" fmla="*/ 122597 h 593501"/>
              <a:gd name="connsiteX953" fmla="*/ 1290898 w 1667202"/>
              <a:gd name="connsiteY953" fmla="*/ 121853 h 593501"/>
              <a:gd name="connsiteX954" fmla="*/ 1305037 w 1667202"/>
              <a:gd name="connsiteY954" fmla="*/ 116458 h 593501"/>
              <a:gd name="connsiteX955" fmla="*/ 1358057 w 1667202"/>
              <a:gd name="connsiteY955" fmla="*/ 116272 h 593501"/>
              <a:gd name="connsiteX956" fmla="*/ 1359731 w 1667202"/>
              <a:gd name="connsiteY956" fmla="*/ 117760 h 593501"/>
              <a:gd name="connsiteX957" fmla="*/ 1373498 w 1667202"/>
              <a:gd name="connsiteY957" fmla="*/ 117016 h 593501"/>
              <a:gd name="connsiteX958" fmla="*/ 1529767 w 1667202"/>
              <a:gd name="connsiteY958" fmla="*/ 118318 h 593501"/>
              <a:gd name="connsiteX959" fmla="*/ 1633947 w 1667202"/>
              <a:gd name="connsiteY959" fmla="*/ 117574 h 593501"/>
              <a:gd name="connsiteX960" fmla="*/ 1661480 w 1667202"/>
              <a:gd name="connsiteY960" fmla="*/ 117760 h 593501"/>
              <a:gd name="connsiteX961" fmla="*/ 1666689 w 1667202"/>
              <a:gd name="connsiteY961" fmla="*/ 114598 h 593501"/>
              <a:gd name="connsiteX962" fmla="*/ 677540 w 1667202"/>
              <a:gd name="connsiteY962" fmla="*/ 60834 h 593501"/>
              <a:gd name="connsiteX963" fmla="*/ 675866 w 1667202"/>
              <a:gd name="connsiteY963" fmla="*/ 60834 h 593501"/>
              <a:gd name="connsiteX964" fmla="*/ 675494 w 1667202"/>
              <a:gd name="connsiteY964" fmla="*/ 60461 h 593501"/>
              <a:gd name="connsiteX965" fmla="*/ 676424 w 1667202"/>
              <a:gd name="connsiteY965" fmla="*/ 60275 h 593501"/>
              <a:gd name="connsiteX966" fmla="*/ 677726 w 1667202"/>
              <a:gd name="connsiteY966" fmla="*/ 59159 h 593501"/>
              <a:gd name="connsiteX967" fmla="*/ 677540 w 1667202"/>
              <a:gd name="connsiteY967" fmla="*/ 60834 h 593501"/>
              <a:gd name="connsiteX968" fmla="*/ 1127559 w 1667202"/>
              <a:gd name="connsiteY968" fmla="*/ 280913 h 593501"/>
              <a:gd name="connsiteX969" fmla="*/ 1124210 w 1667202"/>
              <a:gd name="connsiteY969" fmla="*/ 281285 h 593501"/>
              <a:gd name="connsiteX970" fmla="*/ 1105049 w 1667202"/>
              <a:gd name="connsiteY970" fmla="*/ 283890 h 593501"/>
              <a:gd name="connsiteX971" fmla="*/ 1108584 w 1667202"/>
              <a:gd name="connsiteY971" fmla="*/ 281471 h 593501"/>
              <a:gd name="connsiteX972" fmla="*/ 1112862 w 1667202"/>
              <a:gd name="connsiteY972" fmla="*/ 279053 h 593501"/>
              <a:gd name="connsiteX973" fmla="*/ 1113420 w 1667202"/>
              <a:gd name="connsiteY973" fmla="*/ 274402 h 593501"/>
              <a:gd name="connsiteX974" fmla="*/ 1108770 w 1667202"/>
              <a:gd name="connsiteY974" fmla="*/ 273100 h 593501"/>
              <a:gd name="connsiteX975" fmla="*/ 1094259 w 1667202"/>
              <a:gd name="connsiteY975" fmla="*/ 272542 h 593501"/>
              <a:gd name="connsiteX976" fmla="*/ 1116211 w 1667202"/>
              <a:gd name="connsiteY976" fmla="*/ 274774 h 593501"/>
              <a:gd name="connsiteX977" fmla="*/ 1128675 w 1667202"/>
              <a:gd name="connsiteY977" fmla="*/ 275890 h 593501"/>
              <a:gd name="connsiteX978" fmla="*/ 1127001 w 1667202"/>
              <a:gd name="connsiteY978" fmla="*/ 278123 h 593501"/>
              <a:gd name="connsiteX979" fmla="*/ 1127559 w 1667202"/>
              <a:gd name="connsiteY979" fmla="*/ 280913 h 593501"/>
              <a:gd name="connsiteX980" fmla="*/ 1202903 w 1667202"/>
              <a:gd name="connsiteY980" fmla="*/ 165943 h 593501"/>
              <a:gd name="connsiteX981" fmla="*/ 1204206 w 1667202"/>
              <a:gd name="connsiteY981" fmla="*/ 166129 h 593501"/>
              <a:gd name="connsiteX982" fmla="*/ 1203462 w 1667202"/>
              <a:gd name="connsiteY982" fmla="*/ 166315 h 593501"/>
              <a:gd name="connsiteX983" fmla="*/ 1202903 w 1667202"/>
              <a:gd name="connsiteY983" fmla="*/ 165943 h 593501"/>
              <a:gd name="connsiteX984" fmla="*/ 1339267 w 1667202"/>
              <a:gd name="connsiteY984" fmla="*/ 224731 h 593501"/>
              <a:gd name="connsiteX985" fmla="*/ 1339453 w 1667202"/>
              <a:gd name="connsiteY985" fmla="*/ 224172 h 593501"/>
              <a:gd name="connsiteX986" fmla="*/ 1342430 w 1667202"/>
              <a:gd name="connsiteY986" fmla="*/ 226777 h 593501"/>
              <a:gd name="connsiteX987" fmla="*/ 1348383 w 1667202"/>
              <a:gd name="connsiteY987" fmla="*/ 226777 h 593501"/>
              <a:gd name="connsiteX988" fmla="*/ 1344662 w 1667202"/>
              <a:gd name="connsiteY988" fmla="*/ 227893 h 593501"/>
              <a:gd name="connsiteX989" fmla="*/ 1343918 w 1667202"/>
              <a:gd name="connsiteY989" fmla="*/ 228637 h 593501"/>
              <a:gd name="connsiteX990" fmla="*/ 1341128 w 1667202"/>
              <a:gd name="connsiteY990" fmla="*/ 228637 h 593501"/>
              <a:gd name="connsiteX991" fmla="*/ 1336663 w 1667202"/>
              <a:gd name="connsiteY991" fmla="*/ 227893 h 593501"/>
              <a:gd name="connsiteX992" fmla="*/ 1339267 w 1667202"/>
              <a:gd name="connsiteY992" fmla="*/ 224731 h 593501"/>
              <a:gd name="connsiteX993" fmla="*/ 1280294 w 1667202"/>
              <a:gd name="connsiteY993" fmla="*/ 222126 h 593501"/>
              <a:gd name="connsiteX994" fmla="*/ 1280108 w 1667202"/>
              <a:gd name="connsiteY994" fmla="*/ 222498 h 593501"/>
              <a:gd name="connsiteX995" fmla="*/ 1279736 w 1667202"/>
              <a:gd name="connsiteY995" fmla="*/ 222126 h 593501"/>
              <a:gd name="connsiteX996" fmla="*/ 1280294 w 1667202"/>
              <a:gd name="connsiteY996" fmla="*/ 222126 h 593501"/>
              <a:gd name="connsiteX997" fmla="*/ 1420192 w 1667202"/>
              <a:gd name="connsiteY997" fmla="*/ 144549 h 593501"/>
              <a:gd name="connsiteX998" fmla="*/ 1421867 w 1667202"/>
              <a:gd name="connsiteY998" fmla="*/ 143061 h 593501"/>
              <a:gd name="connsiteX999" fmla="*/ 1421495 w 1667202"/>
              <a:gd name="connsiteY999" fmla="*/ 144921 h 593501"/>
              <a:gd name="connsiteX1000" fmla="*/ 1421681 w 1667202"/>
              <a:gd name="connsiteY1000" fmla="*/ 145480 h 593501"/>
              <a:gd name="connsiteX1001" fmla="*/ 1420192 w 1667202"/>
              <a:gd name="connsiteY1001" fmla="*/ 144549 h 593501"/>
              <a:gd name="connsiteX1002" fmla="*/ 1407914 w 1667202"/>
              <a:gd name="connsiteY1002" fmla="*/ 149386 h 593501"/>
              <a:gd name="connsiteX1003" fmla="*/ 1409774 w 1667202"/>
              <a:gd name="connsiteY1003" fmla="*/ 151433 h 593501"/>
              <a:gd name="connsiteX1004" fmla="*/ 1408658 w 1667202"/>
              <a:gd name="connsiteY1004" fmla="*/ 151061 h 593501"/>
              <a:gd name="connsiteX1005" fmla="*/ 1405310 w 1667202"/>
              <a:gd name="connsiteY1005" fmla="*/ 150130 h 593501"/>
              <a:gd name="connsiteX1006" fmla="*/ 1407914 w 1667202"/>
              <a:gd name="connsiteY1006" fmla="*/ 149386 h 593501"/>
              <a:gd name="connsiteX1007" fmla="*/ 1404565 w 1667202"/>
              <a:gd name="connsiteY1007" fmla="*/ 142317 h 593501"/>
              <a:gd name="connsiteX1008" fmla="*/ 1404565 w 1667202"/>
              <a:gd name="connsiteY1008" fmla="*/ 142317 h 593501"/>
              <a:gd name="connsiteX1009" fmla="*/ 1403821 w 1667202"/>
              <a:gd name="connsiteY1009" fmla="*/ 143619 h 593501"/>
              <a:gd name="connsiteX1010" fmla="*/ 1404565 w 1667202"/>
              <a:gd name="connsiteY1010" fmla="*/ 142317 h 593501"/>
              <a:gd name="connsiteX1011" fmla="*/ 1403263 w 1667202"/>
              <a:gd name="connsiteY1011" fmla="*/ 143805 h 593501"/>
              <a:gd name="connsiteX1012" fmla="*/ 1402147 w 1667202"/>
              <a:gd name="connsiteY1012" fmla="*/ 142131 h 593501"/>
              <a:gd name="connsiteX1013" fmla="*/ 1403263 w 1667202"/>
              <a:gd name="connsiteY1013" fmla="*/ 143805 h 593501"/>
              <a:gd name="connsiteX1014" fmla="*/ 1370335 w 1667202"/>
              <a:gd name="connsiteY1014" fmla="*/ 151061 h 593501"/>
              <a:gd name="connsiteX1015" fmla="*/ 1369963 w 1667202"/>
              <a:gd name="connsiteY1015" fmla="*/ 151247 h 593501"/>
              <a:gd name="connsiteX1016" fmla="*/ 1369591 w 1667202"/>
              <a:gd name="connsiteY1016" fmla="*/ 151247 h 593501"/>
              <a:gd name="connsiteX1017" fmla="*/ 1370335 w 1667202"/>
              <a:gd name="connsiteY1017" fmla="*/ 151061 h 593501"/>
              <a:gd name="connsiteX1018" fmla="*/ 1363638 w 1667202"/>
              <a:gd name="connsiteY1018" fmla="*/ 149944 h 593501"/>
              <a:gd name="connsiteX1019" fmla="*/ 1363824 w 1667202"/>
              <a:gd name="connsiteY1019" fmla="*/ 149572 h 593501"/>
              <a:gd name="connsiteX1020" fmla="*/ 1366056 w 1667202"/>
              <a:gd name="connsiteY1020" fmla="*/ 150875 h 593501"/>
              <a:gd name="connsiteX1021" fmla="*/ 1353778 w 1667202"/>
              <a:gd name="connsiteY1021" fmla="*/ 151433 h 593501"/>
              <a:gd name="connsiteX1022" fmla="*/ 1363638 w 1667202"/>
              <a:gd name="connsiteY1022" fmla="*/ 149944 h 593501"/>
              <a:gd name="connsiteX1023" fmla="*/ 1349685 w 1667202"/>
              <a:gd name="connsiteY1023" fmla="*/ 151247 h 593501"/>
              <a:gd name="connsiteX1024" fmla="*/ 1342058 w 1667202"/>
              <a:gd name="connsiteY1024" fmla="*/ 150875 h 593501"/>
              <a:gd name="connsiteX1025" fmla="*/ 1349685 w 1667202"/>
              <a:gd name="connsiteY1025" fmla="*/ 151247 h 593501"/>
              <a:gd name="connsiteX1026" fmla="*/ 1286805 w 1667202"/>
              <a:gd name="connsiteY1026" fmla="*/ 143991 h 593501"/>
              <a:gd name="connsiteX1027" fmla="*/ 1282712 w 1667202"/>
              <a:gd name="connsiteY1027" fmla="*/ 143991 h 593501"/>
              <a:gd name="connsiteX1028" fmla="*/ 1288666 w 1667202"/>
              <a:gd name="connsiteY1028" fmla="*/ 141387 h 593501"/>
              <a:gd name="connsiteX1029" fmla="*/ 1286805 w 1667202"/>
              <a:gd name="connsiteY1029" fmla="*/ 143991 h 593501"/>
              <a:gd name="connsiteX1030" fmla="*/ 1302990 w 1667202"/>
              <a:gd name="connsiteY1030" fmla="*/ 43346 h 593501"/>
              <a:gd name="connsiteX1031" fmla="*/ 1300758 w 1667202"/>
              <a:gd name="connsiteY1031" fmla="*/ 43346 h 593501"/>
              <a:gd name="connsiteX1032" fmla="*/ 1300758 w 1667202"/>
              <a:gd name="connsiteY1032" fmla="*/ 43160 h 593501"/>
              <a:gd name="connsiteX1033" fmla="*/ 1303920 w 1667202"/>
              <a:gd name="connsiteY1033" fmla="*/ 43160 h 593501"/>
              <a:gd name="connsiteX1034" fmla="*/ 1317129 w 1667202"/>
              <a:gd name="connsiteY1034" fmla="*/ 43532 h 593501"/>
              <a:gd name="connsiteX1035" fmla="*/ 1327547 w 1667202"/>
              <a:gd name="connsiteY1035" fmla="*/ 45021 h 593501"/>
              <a:gd name="connsiteX1036" fmla="*/ 1315269 w 1667202"/>
              <a:gd name="connsiteY1036" fmla="*/ 43346 h 593501"/>
              <a:gd name="connsiteX1037" fmla="*/ 1302990 w 1667202"/>
              <a:gd name="connsiteY1037" fmla="*/ 43346 h 593501"/>
              <a:gd name="connsiteX1038" fmla="*/ 1478980 w 1667202"/>
              <a:gd name="connsiteY1038" fmla="*/ 108645 h 593501"/>
              <a:gd name="connsiteX1039" fmla="*/ 1478794 w 1667202"/>
              <a:gd name="connsiteY1039" fmla="*/ 107156 h 593501"/>
              <a:gd name="connsiteX1040" fmla="*/ 1479352 w 1667202"/>
              <a:gd name="connsiteY1040" fmla="*/ 107714 h 593501"/>
              <a:gd name="connsiteX1041" fmla="*/ 1478980 w 1667202"/>
              <a:gd name="connsiteY1041" fmla="*/ 108645 h 593501"/>
              <a:gd name="connsiteX1042" fmla="*/ 1494979 w 1667202"/>
              <a:gd name="connsiteY1042" fmla="*/ 111435 h 593501"/>
              <a:gd name="connsiteX1043" fmla="*/ 1493862 w 1667202"/>
              <a:gd name="connsiteY1043" fmla="*/ 110691 h 593501"/>
              <a:gd name="connsiteX1044" fmla="*/ 1496281 w 1667202"/>
              <a:gd name="connsiteY1044" fmla="*/ 110691 h 593501"/>
              <a:gd name="connsiteX1045" fmla="*/ 1494979 w 1667202"/>
              <a:gd name="connsiteY1045" fmla="*/ 111435 h 593501"/>
              <a:gd name="connsiteX1046" fmla="*/ 1605483 w 1667202"/>
              <a:gd name="connsiteY1046" fmla="*/ 109575 h 593501"/>
              <a:gd name="connsiteX1047" fmla="*/ 1605297 w 1667202"/>
              <a:gd name="connsiteY1047" fmla="*/ 109761 h 593501"/>
              <a:gd name="connsiteX1048" fmla="*/ 1604925 w 1667202"/>
              <a:gd name="connsiteY1048" fmla="*/ 109761 h 593501"/>
              <a:gd name="connsiteX1049" fmla="*/ 1603995 w 1667202"/>
              <a:gd name="connsiteY1049" fmla="*/ 109203 h 593501"/>
              <a:gd name="connsiteX1050" fmla="*/ 1602693 w 1667202"/>
              <a:gd name="connsiteY1050" fmla="*/ 108272 h 593501"/>
              <a:gd name="connsiteX1051" fmla="*/ 1603065 w 1667202"/>
              <a:gd name="connsiteY1051" fmla="*/ 107714 h 593501"/>
              <a:gd name="connsiteX1052" fmla="*/ 1604739 w 1667202"/>
              <a:gd name="connsiteY1052" fmla="*/ 109017 h 593501"/>
              <a:gd name="connsiteX1053" fmla="*/ 1605483 w 1667202"/>
              <a:gd name="connsiteY1053" fmla="*/ 109575 h 593501"/>
              <a:gd name="connsiteX1054" fmla="*/ 1627808 w 1667202"/>
              <a:gd name="connsiteY1054" fmla="*/ 115900 h 593501"/>
              <a:gd name="connsiteX1055" fmla="*/ 1627436 w 1667202"/>
              <a:gd name="connsiteY1055" fmla="*/ 115714 h 593501"/>
              <a:gd name="connsiteX1056" fmla="*/ 1627808 w 1667202"/>
              <a:gd name="connsiteY1056" fmla="*/ 115900 h 593501"/>
              <a:gd name="connsiteX1057" fmla="*/ 241102 w 1667202"/>
              <a:gd name="connsiteY1057" fmla="*/ 13581 h 593501"/>
              <a:gd name="connsiteX1058" fmla="*/ 244450 w 1667202"/>
              <a:gd name="connsiteY1058" fmla="*/ 4093 h 593501"/>
              <a:gd name="connsiteX1059" fmla="*/ 240916 w 1667202"/>
              <a:gd name="connsiteY1059" fmla="*/ 0 h 593501"/>
              <a:gd name="connsiteX1060" fmla="*/ 231428 w 1667202"/>
              <a:gd name="connsiteY1060" fmla="*/ 5953 h 593501"/>
              <a:gd name="connsiteX1061" fmla="*/ 241102 w 1667202"/>
              <a:gd name="connsiteY1061" fmla="*/ 13581 h 59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Lst>
            <a:rect l="l" t="t" r="r" b="b"/>
            <a:pathLst>
              <a:path w="1667202" h="593501">
                <a:moveTo>
                  <a:pt x="1666689" y="114598"/>
                </a:moveTo>
                <a:cubicBezTo>
                  <a:pt x="1665387" y="113481"/>
                  <a:pt x="1664085" y="112365"/>
                  <a:pt x="1663154" y="111249"/>
                </a:cubicBezTo>
                <a:lnTo>
                  <a:pt x="1659620" y="111249"/>
                </a:lnTo>
                <a:cubicBezTo>
                  <a:pt x="1658690" y="112365"/>
                  <a:pt x="1657573" y="113295"/>
                  <a:pt x="1656457" y="113854"/>
                </a:cubicBezTo>
                <a:cubicBezTo>
                  <a:pt x="1654039" y="115156"/>
                  <a:pt x="1651620" y="115156"/>
                  <a:pt x="1649202" y="114226"/>
                </a:cubicBezTo>
                <a:cubicBezTo>
                  <a:pt x="1647899" y="113295"/>
                  <a:pt x="1646969" y="113295"/>
                  <a:pt x="1646039" y="114412"/>
                </a:cubicBezTo>
                <a:cubicBezTo>
                  <a:pt x="1645109" y="113481"/>
                  <a:pt x="1643993" y="113295"/>
                  <a:pt x="1642504" y="113667"/>
                </a:cubicBezTo>
                <a:cubicBezTo>
                  <a:pt x="1638970" y="114784"/>
                  <a:pt x="1635249" y="114784"/>
                  <a:pt x="1631714" y="113854"/>
                </a:cubicBezTo>
                <a:cubicBezTo>
                  <a:pt x="1630784" y="113295"/>
                  <a:pt x="1629668" y="113295"/>
                  <a:pt x="1628552" y="113481"/>
                </a:cubicBezTo>
                <a:lnTo>
                  <a:pt x="1629110" y="112365"/>
                </a:lnTo>
                <a:lnTo>
                  <a:pt x="1627808" y="111435"/>
                </a:lnTo>
                <a:cubicBezTo>
                  <a:pt x="1618506" y="114970"/>
                  <a:pt x="1614971" y="104552"/>
                  <a:pt x="1607530" y="103436"/>
                </a:cubicBezTo>
                <a:cubicBezTo>
                  <a:pt x="1606972" y="103063"/>
                  <a:pt x="1606228" y="102877"/>
                  <a:pt x="1605670" y="102877"/>
                </a:cubicBezTo>
                <a:cubicBezTo>
                  <a:pt x="1606228" y="102319"/>
                  <a:pt x="1606786" y="101947"/>
                  <a:pt x="1607530" y="101761"/>
                </a:cubicBezTo>
                <a:cubicBezTo>
                  <a:pt x="1610134" y="93204"/>
                  <a:pt x="1603437" y="98785"/>
                  <a:pt x="1601205" y="97668"/>
                </a:cubicBezTo>
                <a:cubicBezTo>
                  <a:pt x="1601019" y="99715"/>
                  <a:pt x="1600647" y="101947"/>
                  <a:pt x="1600460" y="103994"/>
                </a:cubicBezTo>
                <a:cubicBezTo>
                  <a:pt x="1598042" y="103994"/>
                  <a:pt x="1595810" y="104180"/>
                  <a:pt x="1593391" y="104180"/>
                </a:cubicBezTo>
                <a:cubicBezTo>
                  <a:pt x="1590787" y="103808"/>
                  <a:pt x="1587996" y="103436"/>
                  <a:pt x="1585392" y="102877"/>
                </a:cubicBezTo>
                <a:cubicBezTo>
                  <a:pt x="1583903" y="102691"/>
                  <a:pt x="1582601" y="102691"/>
                  <a:pt x="1581113" y="102691"/>
                </a:cubicBezTo>
                <a:lnTo>
                  <a:pt x="1579997" y="103250"/>
                </a:lnTo>
                <a:cubicBezTo>
                  <a:pt x="1579625" y="102505"/>
                  <a:pt x="1579253" y="101761"/>
                  <a:pt x="1578880" y="100831"/>
                </a:cubicBezTo>
                <a:lnTo>
                  <a:pt x="1579811" y="101017"/>
                </a:lnTo>
                <a:lnTo>
                  <a:pt x="1580741" y="100831"/>
                </a:lnTo>
                <a:cubicBezTo>
                  <a:pt x="1579253" y="99529"/>
                  <a:pt x="1577578" y="98413"/>
                  <a:pt x="1576090" y="97110"/>
                </a:cubicBezTo>
                <a:cubicBezTo>
                  <a:pt x="1575904" y="98041"/>
                  <a:pt x="1575718" y="98971"/>
                  <a:pt x="1575718" y="99901"/>
                </a:cubicBezTo>
                <a:cubicBezTo>
                  <a:pt x="1575346" y="99901"/>
                  <a:pt x="1574974" y="100087"/>
                  <a:pt x="1574602" y="100087"/>
                </a:cubicBezTo>
                <a:cubicBezTo>
                  <a:pt x="1574230" y="99715"/>
                  <a:pt x="1573857" y="99343"/>
                  <a:pt x="1573299" y="99157"/>
                </a:cubicBezTo>
                <a:cubicBezTo>
                  <a:pt x="1570323" y="95808"/>
                  <a:pt x="1565486" y="95994"/>
                  <a:pt x="1561951" y="93762"/>
                </a:cubicBezTo>
                <a:lnTo>
                  <a:pt x="1552091" y="93762"/>
                </a:lnTo>
                <a:cubicBezTo>
                  <a:pt x="1549673" y="95250"/>
                  <a:pt x="1547254" y="96552"/>
                  <a:pt x="1544464" y="97110"/>
                </a:cubicBezTo>
                <a:cubicBezTo>
                  <a:pt x="1543906" y="97110"/>
                  <a:pt x="1543534" y="97296"/>
                  <a:pt x="1542976" y="97296"/>
                </a:cubicBezTo>
                <a:cubicBezTo>
                  <a:pt x="1542045" y="96180"/>
                  <a:pt x="1540743" y="95436"/>
                  <a:pt x="1540185" y="94134"/>
                </a:cubicBezTo>
                <a:lnTo>
                  <a:pt x="1534976" y="94134"/>
                </a:lnTo>
                <a:lnTo>
                  <a:pt x="1523814" y="93576"/>
                </a:lnTo>
                <a:cubicBezTo>
                  <a:pt x="1523256" y="94134"/>
                  <a:pt x="1523070" y="94878"/>
                  <a:pt x="1523070" y="95622"/>
                </a:cubicBezTo>
                <a:cubicBezTo>
                  <a:pt x="1521954" y="95808"/>
                  <a:pt x="1521024" y="96366"/>
                  <a:pt x="1520279" y="97110"/>
                </a:cubicBezTo>
                <a:cubicBezTo>
                  <a:pt x="1519163" y="97110"/>
                  <a:pt x="1517861" y="96924"/>
                  <a:pt x="1516745" y="96924"/>
                </a:cubicBezTo>
                <a:cubicBezTo>
                  <a:pt x="1513768" y="94134"/>
                  <a:pt x="1508931" y="97668"/>
                  <a:pt x="1506327" y="93762"/>
                </a:cubicBezTo>
                <a:cubicBezTo>
                  <a:pt x="1505211" y="92832"/>
                  <a:pt x="1503908" y="92832"/>
                  <a:pt x="1502978" y="93948"/>
                </a:cubicBezTo>
                <a:lnTo>
                  <a:pt x="1503164" y="93948"/>
                </a:lnTo>
                <a:cubicBezTo>
                  <a:pt x="1501118" y="95808"/>
                  <a:pt x="1499071" y="97855"/>
                  <a:pt x="1496839" y="99715"/>
                </a:cubicBezTo>
                <a:lnTo>
                  <a:pt x="1494234" y="99715"/>
                </a:lnTo>
                <a:cubicBezTo>
                  <a:pt x="1487351" y="95994"/>
                  <a:pt x="1481026" y="90227"/>
                  <a:pt x="1472096" y="93576"/>
                </a:cubicBezTo>
                <a:cubicBezTo>
                  <a:pt x="1463911" y="89669"/>
                  <a:pt x="1454795" y="94692"/>
                  <a:pt x="1446609" y="90413"/>
                </a:cubicBezTo>
                <a:cubicBezTo>
                  <a:pt x="1420378" y="91715"/>
                  <a:pt x="1394148" y="91715"/>
                  <a:pt x="1368103" y="90599"/>
                </a:cubicBezTo>
                <a:cubicBezTo>
                  <a:pt x="1366242" y="91715"/>
                  <a:pt x="1364382" y="91529"/>
                  <a:pt x="1362522" y="90599"/>
                </a:cubicBezTo>
                <a:cubicBezTo>
                  <a:pt x="1348941" y="90413"/>
                  <a:pt x="1335360" y="92459"/>
                  <a:pt x="1321780" y="90227"/>
                </a:cubicBezTo>
                <a:cubicBezTo>
                  <a:pt x="1319361" y="86692"/>
                  <a:pt x="1318617" y="83158"/>
                  <a:pt x="1321594" y="79437"/>
                </a:cubicBezTo>
                <a:lnTo>
                  <a:pt x="1321408" y="79623"/>
                </a:lnTo>
                <a:cubicBezTo>
                  <a:pt x="1333500" y="69205"/>
                  <a:pt x="1347825" y="77019"/>
                  <a:pt x="1360847" y="74414"/>
                </a:cubicBezTo>
                <a:cubicBezTo>
                  <a:pt x="1362149" y="74228"/>
                  <a:pt x="1363266" y="73856"/>
                  <a:pt x="1364010" y="72926"/>
                </a:cubicBezTo>
                <a:cubicBezTo>
                  <a:pt x="1368661" y="74414"/>
                  <a:pt x="1372939" y="74414"/>
                  <a:pt x="1376102" y="69949"/>
                </a:cubicBezTo>
                <a:cubicBezTo>
                  <a:pt x="1373126" y="69577"/>
                  <a:pt x="1369963" y="69019"/>
                  <a:pt x="1366986" y="68647"/>
                </a:cubicBezTo>
                <a:cubicBezTo>
                  <a:pt x="1365684" y="67903"/>
                  <a:pt x="1364568" y="68089"/>
                  <a:pt x="1363824" y="69205"/>
                </a:cubicBezTo>
                <a:cubicBezTo>
                  <a:pt x="1361963" y="67345"/>
                  <a:pt x="1358429" y="68089"/>
                  <a:pt x="1356754" y="65856"/>
                </a:cubicBezTo>
                <a:cubicBezTo>
                  <a:pt x="1356568" y="65856"/>
                  <a:pt x="1356196" y="65484"/>
                  <a:pt x="1355824" y="64740"/>
                </a:cubicBezTo>
                <a:cubicBezTo>
                  <a:pt x="1355452" y="63996"/>
                  <a:pt x="1355824" y="63066"/>
                  <a:pt x="1356568" y="62136"/>
                </a:cubicBezTo>
                <a:lnTo>
                  <a:pt x="1356382" y="62136"/>
                </a:lnTo>
                <a:cubicBezTo>
                  <a:pt x="1358429" y="60275"/>
                  <a:pt x="1361963" y="61020"/>
                  <a:pt x="1363452" y="58229"/>
                </a:cubicBezTo>
                <a:lnTo>
                  <a:pt x="1363080" y="58601"/>
                </a:lnTo>
                <a:cubicBezTo>
                  <a:pt x="1366056" y="55066"/>
                  <a:pt x="1367358" y="51532"/>
                  <a:pt x="1361963" y="48927"/>
                </a:cubicBezTo>
                <a:cubicBezTo>
                  <a:pt x="1356754" y="49671"/>
                  <a:pt x="1351359" y="49671"/>
                  <a:pt x="1346336" y="48183"/>
                </a:cubicBezTo>
                <a:cubicBezTo>
                  <a:pt x="1345034" y="47067"/>
                  <a:pt x="1343546" y="46137"/>
                  <a:pt x="1341686" y="45579"/>
                </a:cubicBezTo>
                <a:cubicBezTo>
                  <a:pt x="1339453" y="45207"/>
                  <a:pt x="1337407" y="45207"/>
                  <a:pt x="1335174" y="45207"/>
                </a:cubicBezTo>
                <a:cubicBezTo>
                  <a:pt x="1338709" y="45021"/>
                  <a:pt x="1342430" y="44648"/>
                  <a:pt x="1345964" y="44090"/>
                </a:cubicBezTo>
                <a:cubicBezTo>
                  <a:pt x="1353592" y="42602"/>
                  <a:pt x="1361219" y="43718"/>
                  <a:pt x="1369033" y="43346"/>
                </a:cubicBezTo>
                <a:cubicBezTo>
                  <a:pt x="1369405" y="43346"/>
                  <a:pt x="1369777" y="43346"/>
                  <a:pt x="1370149" y="43160"/>
                </a:cubicBezTo>
                <a:cubicBezTo>
                  <a:pt x="1369963" y="44276"/>
                  <a:pt x="1370707" y="44834"/>
                  <a:pt x="1372381" y="44648"/>
                </a:cubicBezTo>
                <a:cubicBezTo>
                  <a:pt x="1397496" y="43160"/>
                  <a:pt x="1422425" y="42788"/>
                  <a:pt x="1447540" y="45579"/>
                </a:cubicBezTo>
                <a:cubicBezTo>
                  <a:pt x="1458702" y="47997"/>
                  <a:pt x="1469864" y="46509"/>
                  <a:pt x="1481212" y="46509"/>
                </a:cubicBezTo>
                <a:cubicBezTo>
                  <a:pt x="1481770" y="45951"/>
                  <a:pt x="1482328" y="45579"/>
                  <a:pt x="1482700" y="45021"/>
                </a:cubicBezTo>
                <a:cubicBezTo>
                  <a:pt x="1486049" y="45951"/>
                  <a:pt x="1489398" y="46137"/>
                  <a:pt x="1492746" y="44834"/>
                </a:cubicBezTo>
                <a:cubicBezTo>
                  <a:pt x="1497397" y="46323"/>
                  <a:pt x="1502048" y="46137"/>
                  <a:pt x="1506699" y="45207"/>
                </a:cubicBezTo>
                <a:cubicBezTo>
                  <a:pt x="1507071" y="46137"/>
                  <a:pt x="1507629" y="47067"/>
                  <a:pt x="1508001" y="47997"/>
                </a:cubicBezTo>
                <a:cubicBezTo>
                  <a:pt x="1509675" y="47997"/>
                  <a:pt x="1511350" y="48183"/>
                  <a:pt x="1513024" y="48183"/>
                </a:cubicBezTo>
                <a:cubicBezTo>
                  <a:pt x="1515256" y="45765"/>
                  <a:pt x="1520465" y="46509"/>
                  <a:pt x="1520465" y="41672"/>
                </a:cubicBezTo>
                <a:cubicBezTo>
                  <a:pt x="1516931" y="41858"/>
                  <a:pt x="1513396" y="42230"/>
                  <a:pt x="1509861" y="42416"/>
                </a:cubicBezTo>
                <a:cubicBezTo>
                  <a:pt x="1507629" y="41858"/>
                  <a:pt x="1505397" y="41300"/>
                  <a:pt x="1502978" y="40742"/>
                </a:cubicBezTo>
                <a:cubicBezTo>
                  <a:pt x="1500746" y="39812"/>
                  <a:pt x="1498513" y="39812"/>
                  <a:pt x="1496281" y="40928"/>
                </a:cubicBezTo>
                <a:cubicBezTo>
                  <a:pt x="1494979" y="40742"/>
                  <a:pt x="1493676" y="40742"/>
                  <a:pt x="1492560" y="40556"/>
                </a:cubicBezTo>
                <a:lnTo>
                  <a:pt x="1492188" y="41486"/>
                </a:lnTo>
                <a:lnTo>
                  <a:pt x="1492932" y="42230"/>
                </a:lnTo>
                <a:cubicBezTo>
                  <a:pt x="1492932" y="42974"/>
                  <a:pt x="1492746" y="43718"/>
                  <a:pt x="1492746" y="44462"/>
                </a:cubicBezTo>
                <a:cubicBezTo>
                  <a:pt x="1492560" y="43718"/>
                  <a:pt x="1492746" y="42974"/>
                  <a:pt x="1492932" y="42230"/>
                </a:cubicBezTo>
                <a:cubicBezTo>
                  <a:pt x="1489584" y="40556"/>
                  <a:pt x="1486235" y="41114"/>
                  <a:pt x="1482886" y="41858"/>
                </a:cubicBezTo>
                <a:cubicBezTo>
                  <a:pt x="1482886" y="41672"/>
                  <a:pt x="1482700" y="41300"/>
                  <a:pt x="1482700" y="41114"/>
                </a:cubicBezTo>
                <a:cubicBezTo>
                  <a:pt x="1467259" y="42044"/>
                  <a:pt x="1453307" y="32928"/>
                  <a:pt x="1437866" y="34789"/>
                </a:cubicBezTo>
                <a:cubicBezTo>
                  <a:pt x="1436191" y="35905"/>
                  <a:pt x="1434517" y="36649"/>
                  <a:pt x="1433029" y="36649"/>
                </a:cubicBezTo>
                <a:cubicBezTo>
                  <a:pt x="1432471" y="35905"/>
                  <a:pt x="1431913" y="35719"/>
                  <a:pt x="1431168" y="36091"/>
                </a:cubicBezTo>
                <a:cubicBezTo>
                  <a:pt x="1430610" y="35719"/>
                  <a:pt x="1429866" y="35347"/>
                  <a:pt x="1429308" y="34603"/>
                </a:cubicBezTo>
                <a:cubicBezTo>
                  <a:pt x="1426518" y="33114"/>
                  <a:pt x="1423727" y="31812"/>
                  <a:pt x="1420565" y="31068"/>
                </a:cubicBezTo>
                <a:cubicBezTo>
                  <a:pt x="1426146" y="30882"/>
                  <a:pt x="1431727" y="30882"/>
                  <a:pt x="1437308" y="30696"/>
                </a:cubicBezTo>
                <a:cubicBezTo>
                  <a:pt x="1440656" y="31626"/>
                  <a:pt x="1444005" y="31812"/>
                  <a:pt x="1447168" y="30510"/>
                </a:cubicBezTo>
                <a:lnTo>
                  <a:pt x="1454981" y="30510"/>
                </a:lnTo>
                <a:cubicBezTo>
                  <a:pt x="1458516" y="29952"/>
                  <a:pt x="1463539" y="34230"/>
                  <a:pt x="1465027" y="27347"/>
                </a:cubicBezTo>
                <a:cubicBezTo>
                  <a:pt x="1464097" y="27347"/>
                  <a:pt x="1463167" y="27161"/>
                  <a:pt x="1462422" y="26975"/>
                </a:cubicBezTo>
                <a:cubicBezTo>
                  <a:pt x="1462608" y="25859"/>
                  <a:pt x="1462050" y="24743"/>
                  <a:pt x="1461120" y="24185"/>
                </a:cubicBezTo>
                <a:cubicBezTo>
                  <a:pt x="1460004" y="24185"/>
                  <a:pt x="1458888" y="23999"/>
                  <a:pt x="1457958" y="23440"/>
                </a:cubicBezTo>
                <a:cubicBezTo>
                  <a:pt x="1453493" y="21022"/>
                  <a:pt x="1448098" y="23999"/>
                  <a:pt x="1443819" y="20650"/>
                </a:cubicBezTo>
                <a:cubicBezTo>
                  <a:pt x="1441400" y="20836"/>
                  <a:pt x="1439168" y="21022"/>
                  <a:pt x="1436750" y="21208"/>
                </a:cubicBezTo>
                <a:cubicBezTo>
                  <a:pt x="1434517" y="21022"/>
                  <a:pt x="1432471" y="20650"/>
                  <a:pt x="1430238" y="20464"/>
                </a:cubicBezTo>
                <a:cubicBezTo>
                  <a:pt x="1429122" y="21580"/>
                  <a:pt x="1428006" y="22882"/>
                  <a:pt x="1426704" y="23999"/>
                </a:cubicBezTo>
                <a:cubicBezTo>
                  <a:pt x="1417588" y="23068"/>
                  <a:pt x="1408658" y="18417"/>
                  <a:pt x="1399542" y="22138"/>
                </a:cubicBezTo>
                <a:cubicBezTo>
                  <a:pt x="1396752" y="21208"/>
                  <a:pt x="1393403" y="22324"/>
                  <a:pt x="1390799" y="21022"/>
                </a:cubicBezTo>
                <a:lnTo>
                  <a:pt x="1389311" y="21394"/>
                </a:lnTo>
                <a:lnTo>
                  <a:pt x="1388194" y="20278"/>
                </a:lnTo>
                <a:cubicBezTo>
                  <a:pt x="1378521" y="10976"/>
                  <a:pt x="1366428" y="17115"/>
                  <a:pt x="1355638" y="15255"/>
                </a:cubicBezTo>
                <a:cubicBezTo>
                  <a:pt x="1354894" y="15255"/>
                  <a:pt x="1354336" y="15441"/>
                  <a:pt x="1353778" y="15813"/>
                </a:cubicBezTo>
                <a:cubicBezTo>
                  <a:pt x="1353778" y="14697"/>
                  <a:pt x="1353034" y="13953"/>
                  <a:pt x="1351732" y="13767"/>
                </a:cubicBezTo>
                <a:cubicBezTo>
                  <a:pt x="1348941" y="14883"/>
                  <a:pt x="1346150" y="14511"/>
                  <a:pt x="1343546" y="13581"/>
                </a:cubicBezTo>
                <a:cubicBezTo>
                  <a:pt x="1340755" y="15627"/>
                  <a:pt x="1337779" y="15069"/>
                  <a:pt x="1334988" y="13767"/>
                </a:cubicBezTo>
                <a:cubicBezTo>
                  <a:pt x="1332942" y="14511"/>
                  <a:pt x="1330896" y="14697"/>
                  <a:pt x="1328849" y="13209"/>
                </a:cubicBezTo>
                <a:cubicBezTo>
                  <a:pt x="1327547" y="12092"/>
                  <a:pt x="1326431" y="12092"/>
                  <a:pt x="1325687" y="13395"/>
                </a:cubicBezTo>
                <a:cubicBezTo>
                  <a:pt x="1325315" y="13022"/>
                  <a:pt x="1325128" y="12650"/>
                  <a:pt x="1324756" y="12092"/>
                </a:cubicBezTo>
                <a:cubicBezTo>
                  <a:pt x="1315641" y="10232"/>
                  <a:pt x="1305967" y="14139"/>
                  <a:pt x="1297037" y="10232"/>
                </a:cubicBezTo>
                <a:cubicBezTo>
                  <a:pt x="1285503" y="11162"/>
                  <a:pt x="1274155" y="11720"/>
                  <a:pt x="1262621" y="9674"/>
                </a:cubicBezTo>
                <a:cubicBezTo>
                  <a:pt x="1259086" y="8000"/>
                  <a:pt x="1255737" y="7813"/>
                  <a:pt x="1252203" y="9860"/>
                </a:cubicBezTo>
                <a:cubicBezTo>
                  <a:pt x="1248668" y="10976"/>
                  <a:pt x="1245133" y="10976"/>
                  <a:pt x="1241785" y="9860"/>
                </a:cubicBezTo>
                <a:cubicBezTo>
                  <a:pt x="1220577" y="5767"/>
                  <a:pt x="1198997" y="11162"/>
                  <a:pt x="1177789" y="7069"/>
                </a:cubicBezTo>
                <a:lnTo>
                  <a:pt x="1166440" y="7069"/>
                </a:lnTo>
                <a:cubicBezTo>
                  <a:pt x="1164394" y="8000"/>
                  <a:pt x="1162348" y="8000"/>
                  <a:pt x="1160487" y="7069"/>
                </a:cubicBezTo>
                <a:cubicBezTo>
                  <a:pt x="1153232" y="7069"/>
                  <a:pt x="1146163" y="7069"/>
                  <a:pt x="1138907" y="7255"/>
                </a:cubicBezTo>
                <a:cubicBezTo>
                  <a:pt x="1137047" y="7627"/>
                  <a:pt x="1135187" y="8558"/>
                  <a:pt x="1133326" y="7069"/>
                </a:cubicBezTo>
                <a:lnTo>
                  <a:pt x="1133698" y="7255"/>
                </a:lnTo>
                <a:cubicBezTo>
                  <a:pt x="1127931" y="2977"/>
                  <a:pt x="1121420" y="5395"/>
                  <a:pt x="1115281" y="5209"/>
                </a:cubicBezTo>
                <a:cubicBezTo>
                  <a:pt x="1092957" y="4093"/>
                  <a:pt x="1070446" y="6883"/>
                  <a:pt x="1048122" y="3721"/>
                </a:cubicBezTo>
                <a:cubicBezTo>
                  <a:pt x="1044774" y="5581"/>
                  <a:pt x="1041425" y="5767"/>
                  <a:pt x="1038076" y="3535"/>
                </a:cubicBezTo>
                <a:cubicBezTo>
                  <a:pt x="1014264" y="8000"/>
                  <a:pt x="990265" y="2418"/>
                  <a:pt x="966453" y="6511"/>
                </a:cubicBezTo>
                <a:cubicBezTo>
                  <a:pt x="965336" y="6511"/>
                  <a:pt x="964034" y="6511"/>
                  <a:pt x="962918" y="6325"/>
                </a:cubicBezTo>
                <a:cubicBezTo>
                  <a:pt x="954732" y="4465"/>
                  <a:pt x="946733" y="4093"/>
                  <a:pt x="938547" y="6511"/>
                </a:cubicBezTo>
                <a:cubicBezTo>
                  <a:pt x="927571" y="9302"/>
                  <a:pt x="916595" y="7441"/>
                  <a:pt x="905619" y="7069"/>
                </a:cubicBezTo>
                <a:cubicBezTo>
                  <a:pt x="897062" y="10418"/>
                  <a:pt x="887760" y="6697"/>
                  <a:pt x="879388" y="9860"/>
                </a:cubicBezTo>
                <a:cubicBezTo>
                  <a:pt x="875854" y="11348"/>
                  <a:pt x="872319" y="11162"/>
                  <a:pt x="868784" y="10046"/>
                </a:cubicBezTo>
                <a:cubicBezTo>
                  <a:pt x="860785" y="7627"/>
                  <a:pt x="852599" y="8000"/>
                  <a:pt x="844414" y="9860"/>
                </a:cubicBezTo>
                <a:cubicBezTo>
                  <a:pt x="842367" y="10976"/>
                  <a:pt x="840135" y="11162"/>
                  <a:pt x="837902" y="10418"/>
                </a:cubicBezTo>
                <a:cubicBezTo>
                  <a:pt x="835484" y="14883"/>
                  <a:pt x="821531" y="7441"/>
                  <a:pt x="827856" y="20464"/>
                </a:cubicBezTo>
                <a:lnTo>
                  <a:pt x="829159" y="20092"/>
                </a:lnTo>
                <a:lnTo>
                  <a:pt x="830461" y="20650"/>
                </a:lnTo>
                <a:lnTo>
                  <a:pt x="830461" y="27533"/>
                </a:lnTo>
                <a:cubicBezTo>
                  <a:pt x="829531" y="28091"/>
                  <a:pt x="828973" y="28835"/>
                  <a:pt x="828973" y="29394"/>
                </a:cubicBezTo>
                <a:lnTo>
                  <a:pt x="826368" y="29394"/>
                </a:lnTo>
                <a:cubicBezTo>
                  <a:pt x="820787" y="29952"/>
                  <a:pt x="815020" y="28091"/>
                  <a:pt x="809625" y="30696"/>
                </a:cubicBezTo>
                <a:cubicBezTo>
                  <a:pt x="809067" y="31812"/>
                  <a:pt x="808137" y="31998"/>
                  <a:pt x="807021" y="31440"/>
                </a:cubicBezTo>
                <a:cubicBezTo>
                  <a:pt x="800137" y="34975"/>
                  <a:pt x="792138" y="30696"/>
                  <a:pt x="785068" y="34417"/>
                </a:cubicBezTo>
                <a:cubicBezTo>
                  <a:pt x="764791" y="36835"/>
                  <a:pt x="744513" y="37393"/>
                  <a:pt x="724235" y="34975"/>
                </a:cubicBezTo>
                <a:cubicBezTo>
                  <a:pt x="708608" y="39067"/>
                  <a:pt x="692609" y="34044"/>
                  <a:pt x="676982" y="37765"/>
                </a:cubicBezTo>
                <a:cubicBezTo>
                  <a:pt x="672703" y="39253"/>
                  <a:pt x="668424" y="39067"/>
                  <a:pt x="663960" y="38509"/>
                </a:cubicBezTo>
                <a:cubicBezTo>
                  <a:pt x="660611" y="41300"/>
                  <a:pt x="653356" y="37765"/>
                  <a:pt x="652797" y="42788"/>
                </a:cubicBezTo>
                <a:cubicBezTo>
                  <a:pt x="652425" y="47067"/>
                  <a:pt x="658006" y="50416"/>
                  <a:pt x="661541" y="53578"/>
                </a:cubicBezTo>
                <a:cubicBezTo>
                  <a:pt x="662099" y="53764"/>
                  <a:pt x="662657" y="54136"/>
                  <a:pt x="663029" y="54322"/>
                </a:cubicBezTo>
                <a:cubicBezTo>
                  <a:pt x="663029" y="54694"/>
                  <a:pt x="663215" y="55066"/>
                  <a:pt x="663215" y="55252"/>
                </a:cubicBezTo>
                <a:cubicBezTo>
                  <a:pt x="664146" y="55625"/>
                  <a:pt x="665634" y="55997"/>
                  <a:pt x="665820" y="56555"/>
                </a:cubicBezTo>
                <a:cubicBezTo>
                  <a:pt x="666378" y="58601"/>
                  <a:pt x="664332" y="58601"/>
                  <a:pt x="663215" y="58973"/>
                </a:cubicBezTo>
                <a:cubicBezTo>
                  <a:pt x="663215" y="59159"/>
                  <a:pt x="663215" y="59531"/>
                  <a:pt x="663029" y="59717"/>
                </a:cubicBezTo>
                <a:cubicBezTo>
                  <a:pt x="662099" y="59903"/>
                  <a:pt x="661355" y="60089"/>
                  <a:pt x="660425" y="60461"/>
                </a:cubicBezTo>
                <a:cubicBezTo>
                  <a:pt x="650751" y="61764"/>
                  <a:pt x="650565" y="61764"/>
                  <a:pt x="653542" y="68647"/>
                </a:cubicBezTo>
                <a:lnTo>
                  <a:pt x="653169" y="68275"/>
                </a:lnTo>
                <a:cubicBezTo>
                  <a:pt x="658751" y="81297"/>
                  <a:pt x="645914" y="75902"/>
                  <a:pt x="642007" y="79437"/>
                </a:cubicBezTo>
                <a:cubicBezTo>
                  <a:pt x="641077" y="80367"/>
                  <a:pt x="640147" y="80553"/>
                  <a:pt x="639031" y="79809"/>
                </a:cubicBezTo>
                <a:cubicBezTo>
                  <a:pt x="628241" y="82414"/>
                  <a:pt x="617451" y="82414"/>
                  <a:pt x="606661" y="79809"/>
                </a:cubicBezTo>
                <a:cubicBezTo>
                  <a:pt x="605544" y="80553"/>
                  <a:pt x="604614" y="80367"/>
                  <a:pt x="603684" y="79437"/>
                </a:cubicBezTo>
                <a:cubicBezTo>
                  <a:pt x="600522" y="76647"/>
                  <a:pt x="596057" y="79065"/>
                  <a:pt x="592894" y="76274"/>
                </a:cubicBezTo>
                <a:lnTo>
                  <a:pt x="593080" y="76460"/>
                </a:lnTo>
                <a:cubicBezTo>
                  <a:pt x="592336" y="74972"/>
                  <a:pt x="591034" y="73856"/>
                  <a:pt x="589918" y="72554"/>
                </a:cubicBezTo>
                <a:cubicBezTo>
                  <a:pt x="589731" y="72182"/>
                  <a:pt x="589359" y="71624"/>
                  <a:pt x="589359" y="71252"/>
                </a:cubicBezTo>
                <a:cubicBezTo>
                  <a:pt x="589545" y="70507"/>
                  <a:pt x="590104" y="69763"/>
                  <a:pt x="590476" y="69019"/>
                </a:cubicBezTo>
                <a:cubicBezTo>
                  <a:pt x="591592" y="66601"/>
                  <a:pt x="595313" y="67531"/>
                  <a:pt x="595871" y="64740"/>
                </a:cubicBezTo>
                <a:cubicBezTo>
                  <a:pt x="597917" y="64740"/>
                  <a:pt x="598847" y="63252"/>
                  <a:pt x="599963" y="61764"/>
                </a:cubicBezTo>
                <a:lnTo>
                  <a:pt x="599777" y="61950"/>
                </a:lnTo>
                <a:cubicBezTo>
                  <a:pt x="600149" y="52276"/>
                  <a:pt x="598289" y="51346"/>
                  <a:pt x="586755" y="56183"/>
                </a:cubicBezTo>
                <a:lnTo>
                  <a:pt x="587127" y="55811"/>
                </a:lnTo>
                <a:cubicBezTo>
                  <a:pt x="585081" y="55811"/>
                  <a:pt x="583964" y="57299"/>
                  <a:pt x="582662" y="58601"/>
                </a:cubicBezTo>
                <a:cubicBezTo>
                  <a:pt x="580802" y="60647"/>
                  <a:pt x="577453" y="59903"/>
                  <a:pt x="575779" y="62508"/>
                </a:cubicBezTo>
                <a:lnTo>
                  <a:pt x="575965" y="62322"/>
                </a:lnTo>
                <a:cubicBezTo>
                  <a:pt x="573732" y="63810"/>
                  <a:pt x="570570" y="63438"/>
                  <a:pt x="568710" y="65670"/>
                </a:cubicBezTo>
                <a:lnTo>
                  <a:pt x="568896" y="65670"/>
                </a:lnTo>
                <a:cubicBezTo>
                  <a:pt x="565919" y="68647"/>
                  <a:pt x="561454" y="66229"/>
                  <a:pt x="558292" y="68647"/>
                </a:cubicBezTo>
                <a:cubicBezTo>
                  <a:pt x="548990" y="70693"/>
                  <a:pt x="539688" y="71437"/>
                  <a:pt x="530386" y="68647"/>
                </a:cubicBezTo>
                <a:cubicBezTo>
                  <a:pt x="529084" y="67717"/>
                  <a:pt x="527968" y="66787"/>
                  <a:pt x="526666" y="65856"/>
                </a:cubicBezTo>
                <a:cubicBezTo>
                  <a:pt x="525735" y="64368"/>
                  <a:pt x="524619" y="63252"/>
                  <a:pt x="523131" y="62322"/>
                </a:cubicBezTo>
                <a:cubicBezTo>
                  <a:pt x="521457" y="59903"/>
                  <a:pt x="518108" y="60461"/>
                  <a:pt x="516062" y="58601"/>
                </a:cubicBezTo>
                <a:cubicBezTo>
                  <a:pt x="510666" y="58601"/>
                  <a:pt x="505458" y="58787"/>
                  <a:pt x="500063" y="58787"/>
                </a:cubicBezTo>
                <a:cubicBezTo>
                  <a:pt x="496528" y="61020"/>
                  <a:pt x="492063" y="59345"/>
                  <a:pt x="488714" y="61578"/>
                </a:cubicBezTo>
                <a:cubicBezTo>
                  <a:pt x="487784" y="62508"/>
                  <a:pt x="486668" y="62694"/>
                  <a:pt x="485552" y="62136"/>
                </a:cubicBezTo>
                <a:cubicBezTo>
                  <a:pt x="481273" y="65670"/>
                  <a:pt x="475506" y="61950"/>
                  <a:pt x="471227" y="65298"/>
                </a:cubicBezTo>
                <a:cubicBezTo>
                  <a:pt x="470483" y="66229"/>
                  <a:pt x="469553" y="66415"/>
                  <a:pt x="468437" y="65670"/>
                </a:cubicBezTo>
                <a:cubicBezTo>
                  <a:pt x="462855" y="69205"/>
                  <a:pt x="455972" y="65112"/>
                  <a:pt x="450205" y="68647"/>
                </a:cubicBezTo>
                <a:lnTo>
                  <a:pt x="446670" y="68647"/>
                </a:lnTo>
                <a:cubicBezTo>
                  <a:pt x="445368" y="67717"/>
                  <a:pt x="444438" y="66042"/>
                  <a:pt x="442392" y="66042"/>
                </a:cubicBezTo>
                <a:cubicBezTo>
                  <a:pt x="440903" y="62880"/>
                  <a:pt x="437369" y="63624"/>
                  <a:pt x="434950" y="62322"/>
                </a:cubicBezTo>
                <a:cubicBezTo>
                  <a:pt x="434020" y="63066"/>
                  <a:pt x="433276" y="62880"/>
                  <a:pt x="432718" y="61764"/>
                </a:cubicBezTo>
                <a:cubicBezTo>
                  <a:pt x="428067" y="59345"/>
                  <a:pt x="423416" y="59717"/>
                  <a:pt x="418765" y="61578"/>
                </a:cubicBezTo>
                <a:cubicBezTo>
                  <a:pt x="418207" y="62694"/>
                  <a:pt x="417463" y="62880"/>
                  <a:pt x="416347" y="62322"/>
                </a:cubicBezTo>
                <a:cubicBezTo>
                  <a:pt x="413742" y="63624"/>
                  <a:pt x="410394" y="63066"/>
                  <a:pt x="408719" y="66042"/>
                </a:cubicBezTo>
                <a:cubicBezTo>
                  <a:pt x="406301" y="66973"/>
                  <a:pt x="403138" y="66787"/>
                  <a:pt x="401650" y="69577"/>
                </a:cubicBezTo>
                <a:cubicBezTo>
                  <a:pt x="399231" y="70507"/>
                  <a:pt x="396441" y="70507"/>
                  <a:pt x="394209" y="72368"/>
                </a:cubicBezTo>
                <a:lnTo>
                  <a:pt x="393278" y="73298"/>
                </a:lnTo>
                <a:lnTo>
                  <a:pt x="391976" y="72926"/>
                </a:lnTo>
                <a:cubicBezTo>
                  <a:pt x="386767" y="74414"/>
                  <a:pt x="381558" y="75530"/>
                  <a:pt x="376535" y="72740"/>
                </a:cubicBezTo>
                <a:cubicBezTo>
                  <a:pt x="369652" y="69577"/>
                  <a:pt x="362769" y="69763"/>
                  <a:pt x="356071" y="72554"/>
                </a:cubicBezTo>
                <a:cubicBezTo>
                  <a:pt x="354211" y="74600"/>
                  <a:pt x="350676" y="73856"/>
                  <a:pt x="349188" y="76460"/>
                </a:cubicBezTo>
                <a:lnTo>
                  <a:pt x="349374" y="76274"/>
                </a:lnTo>
                <a:cubicBezTo>
                  <a:pt x="347328" y="77949"/>
                  <a:pt x="343979" y="77205"/>
                  <a:pt x="342677" y="80181"/>
                </a:cubicBezTo>
                <a:cubicBezTo>
                  <a:pt x="340816" y="80181"/>
                  <a:pt x="339886" y="81669"/>
                  <a:pt x="338584" y="82414"/>
                </a:cubicBezTo>
                <a:cubicBezTo>
                  <a:pt x="338026" y="83530"/>
                  <a:pt x="337096" y="83716"/>
                  <a:pt x="335979" y="83158"/>
                </a:cubicBezTo>
                <a:cubicBezTo>
                  <a:pt x="332631" y="85576"/>
                  <a:pt x="328166" y="83716"/>
                  <a:pt x="324631" y="85948"/>
                </a:cubicBezTo>
                <a:cubicBezTo>
                  <a:pt x="317004" y="87809"/>
                  <a:pt x="309190" y="86878"/>
                  <a:pt x="301377" y="86692"/>
                </a:cubicBezTo>
                <a:cubicBezTo>
                  <a:pt x="296354" y="88181"/>
                  <a:pt x="300447" y="94134"/>
                  <a:pt x="296540" y="96180"/>
                </a:cubicBezTo>
                <a:lnTo>
                  <a:pt x="296168" y="96552"/>
                </a:lnTo>
                <a:cubicBezTo>
                  <a:pt x="294866" y="99157"/>
                  <a:pt x="291331" y="98227"/>
                  <a:pt x="289657" y="100273"/>
                </a:cubicBezTo>
                <a:cubicBezTo>
                  <a:pt x="286680" y="103436"/>
                  <a:pt x="282029" y="100645"/>
                  <a:pt x="279053" y="103622"/>
                </a:cubicBezTo>
                <a:cubicBezTo>
                  <a:pt x="278309" y="104552"/>
                  <a:pt x="277564" y="104738"/>
                  <a:pt x="276448" y="103994"/>
                </a:cubicBezTo>
                <a:cubicBezTo>
                  <a:pt x="271983" y="106970"/>
                  <a:pt x="266030" y="103808"/>
                  <a:pt x="261565" y="106970"/>
                </a:cubicBezTo>
                <a:cubicBezTo>
                  <a:pt x="259891" y="107156"/>
                  <a:pt x="258031" y="107342"/>
                  <a:pt x="256356" y="107528"/>
                </a:cubicBezTo>
                <a:cubicBezTo>
                  <a:pt x="252822" y="109947"/>
                  <a:pt x="246683" y="106412"/>
                  <a:pt x="244636" y="112365"/>
                </a:cubicBezTo>
                <a:cubicBezTo>
                  <a:pt x="246311" y="116644"/>
                  <a:pt x="246311" y="120923"/>
                  <a:pt x="245008" y="125388"/>
                </a:cubicBezTo>
                <a:cubicBezTo>
                  <a:pt x="242218" y="127062"/>
                  <a:pt x="239799" y="129480"/>
                  <a:pt x="238125" y="132271"/>
                </a:cubicBezTo>
                <a:cubicBezTo>
                  <a:pt x="234962" y="133015"/>
                  <a:pt x="235893" y="136922"/>
                  <a:pt x="233660" y="138410"/>
                </a:cubicBezTo>
                <a:cubicBezTo>
                  <a:pt x="230125" y="142317"/>
                  <a:pt x="234218" y="148270"/>
                  <a:pt x="230125" y="151991"/>
                </a:cubicBezTo>
                <a:cubicBezTo>
                  <a:pt x="229567" y="153107"/>
                  <a:pt x="228823" y="153293"/>
                  <a:pt x="227707" y="152735"/>
                </a:cubicBezTo>
                <a:cubicBezTo>
                  <a:pt x="222126" y="154595"/>
                  <a:pt x="218219" y="158316"/>
                  <a:pt x="216545" y="164083"/>
                </a:cubicBezTo>
                <a:lnTo>
                  <a:pt x="216359" y="165385"/>
                </a:lnTo>
                <a:cubicBezTo>
                  <a:pt x="217847" y="173757"/>
                  <a:pt x="222684" y="179710"/>
                  <a:pt x="230125" y="183617"/>
                </a:cubicBezTo>
                <a:cubicBezTo>
                  <a:pt x="230312" y="183617"/>
                  <a:pt x="230684" y="183989"/>
                  <a:pt x="230870" y="184733"/>
                </a:cubicBezTo>
                <a:cubicBezTo>
                  <a:pt x="231056" y="185477"/>
                  <a:pt x="230870" y="186407"/>
                  <a:pt x="229939" y="187151"/>
                </a:cubicBezTo>
                <a:lnTo>
                  <a:pt x="229753" y="187151"/>
                </a:lnTo>
                <a:cubicBezTo>
                  <a:pt x="224358" y="191616"/>
                  <a:pt x="223986" y="195337"/>
                  <a:pt x="231614" y="197197"/>
                </a:cubicBezTo>
                <a:cubicBezTo>
                  <a:pt x="234590" y="196267"/>
                  <a:pt x="237567" y="196639"/>
                  <a:pt x="240357" y="197941"/>
                </a:cubicBezTo>
                <a:cubicBezTo>
                  <a:pt x="242590" y="199430"/>
                  <a:pt x="245194" y="199244"/>
                  <a:pt x="247613" y="200546"/>
                </a:cubicBezTo>
                <a:cubicBezTo>
                  <a:pt x="248729" y="203150"/>
                  <a:pt x="252450" y="202220"/>
                  <a:pt x="253752" y="204825"/>
                </a:cubicBezTo>
                <a:lnTo>
                  <a:pt x="253938" y="205197"/>
                </a:lnTo>
                <a:lnTo>
                  <a:pt x="255426" y="205941"/>
                </a:lnTo>
                <a:lnTo>
                  <a:pt x="254124" y="206871"/>
                </a:lnTo>
                <a:cubicBezTo>
                  <a:pt x="253194" y="207243"/>
                  <a:pt x="252078" y="207801"/>
                  <a:pt x="251147" y="208173"/>
                </a:cubicBezTo>
                <a:cubicBezTo>
                  <a:pt x="248543" y="210406"/>
                  <a:pt x="248543" y="212638"/>
                  <a:pt x="250961" y="214871"/>
                </a:cubicBezTo>
                <a:lnTo>
                  <a:pt x="250961" y="214685"/>
                </a:lnTo>
                <a:cubicBezTo>
                  <a:pt x="252078" y="216545"/>
                  <a:pt x="252822" y="218777"/>
                  <a:pt x="254124" y="220638"/>
                </a:cubicBezTo>
                <a:cubicBezTo>
                  <a:pt x="262124" y="226777"/>
                  <a:pt x="251333" y="234032"/>
                  <a:pt x="255426" y="240543"/>
                </a:cubicBezTo>
                <a:cubicBezTo>
                  <a:pt x="255612" y="241474"/>
                  <a:pt x="256542" y="240916"/>
                  <a:pt x="257287" y="240543"/>
                </a:cubicBezTo>
                <a:lnTo>
                  <a:pt x="257287" y="241288"/>
                </a:lnTo>
                <a:cubicBezTo>
                  <a:pt x="256729" y="241102"/>
                  <a:pt x="255984" y="240916"/>
                  <a:pt x="255426" y="240729"/>
                </a:cubicBezTo>
                <a:cubicBezTo>
                  <a:pt x="254496" y="240543"/>
                  <a:pt x="253380" y="240171"/>
                  <a:pt x="252450" y="239799"/>
                </a:cubicBezTo>
                <a:cubicBezTo>
                  <a:pt x="249473" y="238683"/>
                  <a:pt x="246497" y="238311"/>
                  <a:pt x="243520" y="238311"/>
                </a:cubicBezTo>
                <a:cubicBezTo>
                  <a:pt x="235521" y="235521"/>
                  <a:pt x="227521" y="235707"/>
                  <a:pt x="219335" y="236823"/>
                </a:cubicBezTo>
                <a:cubicBezTo>
                  <a:pt x="219521" y="237381"/>
                  <a:pt x="219708" y="238125"/>
                  <a:pt x="219521" y="238683"/>
                </a:cubicBezTo>
                <a:lnTo>
                  <a:pt x="222126" y="238683"/>
                </a:lnTo>
                <a:cubicBezTo>
                  <a:pt x="210406" y="239985"/>
                  <a:pt x="198686" y="242776"/>
                  <a:pt x="186779" y="241846"/>
                </a:cubicBezTo>
                <a:cubicBezTo>
                  <a:pt x="188082" y="241474"/>
                  <a:pt x="189570" y="240916"/>
                  <a:pt x="191058" y="239799"/>
                </a:cubicBezTo>
                <a:lnTo>
                  <a:pt x="179524" y="239799"/>
                </a:lnTo>
                <a:cubicBezTo>
                  <a:pt x="178966" y="239427"/>
                  <a:pt x="178408" y="239055"/>
                  <a:pt x="178036" y="238497"/>
                </a:cubicBezTo>
                <a:cubicBezTo>
                  <a:pt x="175989" y="237381"/>
                  <a:pt x="173571" y="237567"/>
                  <a:pt x="171338" y="237567"/>
                </a:cubicBezTo>
                <a:cubicBezTo>
                  <a:pt x="169850" y="237567"/>
                  <a:pt x="168362" y="238125"/>
                  <a:pt x="167060" y="238869"/>
                </a:cubicBezTo>
                <a:cubicBezTo>
                  <a:pt x="163153" y="240543"/>
                  <a:pt x="159060" y="241102"/>
                  <a:pt x="154967" y="239613"/>
                </a:cubicBezTo>
                <a:cubicBezTo>
                  <a:pt x="149944" y="242218"/>
                  <a:pt x="143805" y="239427"/>
                  <a:pt x="139154" y="242776"/>
                </a:cubicBezTo>
                <a:lnTo>
                  <a:pt x="138410" y="243520"/>
                </a:lnTo>
                <a:lnTo>
                  <a:pt x="137480" y="243148"/>
                </a:lnTo>
                <a:cubicBezTo>
                  <a:pt x="136364" y="251892"/>
                  <a:pt x="144735" y="245566"/>
                  <a:pt x="146782" y="248915"/>
                </a:cubicBezTo>
                <a:lnTo>
                  <a:pt x="146596" y="248729"/>
                </a:lnTo>
                <a:cubicBezTo>
                  <a:pt x="146968" y="249845"/>
                  <a:pt x="147526" y="250589"/>
                  <a:pt x="148456" y="251334"/>
                </a:cubicBezTo>
                <a:cubicBezTo>
                  <a:pt x="147712" y="253194"/>
                  <a:pt x="147898" y="254868"/>
                  <a:pt x="150502" y="256170"/>
                </a:cubicBezTo>
                <a:cubicBezTo>
                  <a:pt x="152549" y="255798"/>
                  <a:pt x="154781" y="255798"/>
                  <a:pt x="156456" y="257287"/>
                </a:cubicBezTo>
                <a:lnTo>
                  <a:pt x="158688" y="256729"/>
                </a:lnTo>
                <a:cubicBezTo>
                  <a:pt x="159246" y="257473"/>
                  <a:pt x="159990" y="258031"/>
                  <a:pt x="160734" y="258589"/>
                </a:cubicBezTo>
                <a:cubicBezTo>
                  <a:pt x="160920" y="258589"/>
                  <a:pt x="160920" y="260077"/>
                  <a:pt x="160920" y="260077"/>
                </a:cubicBezTo>
                <a:cubicBezTo>
                  <a:pt x="160920" y="260077"/>
                  <a:pt x="159432" y="260263"/>
                  <a:pt x="159618" y="260263"/>
                </a:cubicBezTo>
                <a:cubicBezTo>
                  <a:pt x="153107" y="263054"/>
                  <a:pt x="145666" y="260077"/>
                  <a:pt x="139154" y="263240"/>
                </a:cubicBezTo>
                <a:cubicBezTo>
                  <a:pt x="138038" y="263240"/>
                  <a:pt x="136736" y="263426"/>
                  <a:pt x="135620" y="263426"/>
                </a:cubicBezTo>
                <a:cubicBezTo>
                  <a:pt x="133387" y="261379"/>
                  <a:pt x="130969" y="261379"/>
                  <a:pt x="128736" y="263240"/>
                </a:cubicBezTo>
                <a:cubicBezTo>
                  <a:pt x="123341" y="264914"/>
                  <a:pt x="117946" y="264542"/>
                  <a:pt x="112551" y="263798"/>
                </a:cubicBezTo>
                <a:cubicBezTo>
                  <a:pt x="100831" y="267891"/>
                  <a:pt x="88181" y="262124"/>
                  <a:pt x="76460" y="267147"/>
                </a:cubicBezTo>
                <a:lnTo>
                  <a:pt x="76646" y="267147"/>
                </a:lnTo>
                <a:cubicBezTo>
                  <a:pt x="73856" y="269565"/>
                  <a:pt x="70879" y="268263"/>
                  <a:pt x="68089" y="267333"/>
                </a:cubicBezTo>
                <a:cubicBezTo>
                  <a:pt x="66787" y="268449"/>
                  <a:pt x="65298" y="268635"/>
                  <a:pt x="63996" y="267333"/>
                </a:cubicBezTo>
                <a:cubicBezTo>
                  <a:pt x="61950" y="267519"/>
                  <a:pt x="60461" y="268821"/>
                  <a:pt x="58973" y="269937"/>
                </a:cubicBezTo>
                <a:cubicBezTo>
                  <a:pt x="57857" y="269937"/>
                  <a:pt x="56555" y="270123"/>
                  <a:pt x="55438" y="270123"/>
                </a:cubicBezTo>
                <a:cubicBezTo>
                  <a:pt x="50788" y="268077"/>
                  <a:pt x="46137" y="268077"/>
                  <a:pt x="41486" y="270123"/>
                </a:cubicBezTo>
                <a:cubicBezTo>
                  <a:pt x="39625" y="271425"/>
                  <a:pt x="37765" y="271425"/>
                  <a:pt x="35719" y="270681"/>
                </a:cubicBezTo>
                <a:cubicBezTo>
                  <a:pt x="35347" y="271053"/>
                  <a:pt x="34789" y="271425"/>
                  <a:pt x="34417" y="271797"/>
                </a:cubicBezTo>
                <a:cubicBezTo>
                  <a:pt x="34230" y="272169"/>
                  <a:pt x="34230" y="273100"/>
                  <a:pt x="34230" y="273100"/>
                </a:cubicBezTo>
                <a:cubicBezTo>
                  <a:pt x="42788" y="274588"/>
                  <a:pt x="48555" y="283890"/>
                  <a:pt x="58043" y="282587"/>
                </a:cubicBezTo>
                <a:cubicBezTo>
                  <a:pt x="66601" y="281471"/>
                  <a:pt x="68275" y="286308"/>
                  <a:pt x="69019" y="292075"/>
                </a:cubicBezTo>
                <a:cubicBezTo>
                  <a:pt x="67903" y="291889"/>
                  <a:pt x="66973" y="291889"/>
                  <a:pt x="65856" y="291703"/>
                </a:cubicBezTo>
                <a:lnTo>
                  <a:pt x="65856" y="291517"/>
                </a:lnTo>
                <a:cubicBezTo>
                  <a:pt x="61578" y="295052"/>
                  <a:pt x="55811" y="291331"/>
                  <a:pt x="51532" y="294680"/>
                </a:cubicBezTo>
                <a:cubicBezTo>
                  <a:pt x="51346" y="294680"/>
                  <a:pt x="51160" y="295052"/>
                  <a:pt x="50974" y="295796"/>
                </a:cubicBezTo>
                <a:cubicBezTo>
                  <a:pt x="50788" y="296540"/>
                  <a:pt x="51160" y="297284"/>
                  <a:pt x="51904" y="298028"/>
                </a:cubicBezTo>
                <a:lnTo>
                  <a:pt x="72554" y="298028"/>
                </a:lnTo>
                <a:cubicBezTo>
                  <a:pt x="72926" y="297470"/>
                  <a:pt x="73112" y="296726"/>
                  <a:pt x="73112" y="296168"/>
                </a:cubicBezTo>
                <a:cubicBezTo>
                  <a:pt x="74600" y="296354"/>
                  <a:pt x="75902" y="296354"/>
                  <a:pt x="77391" y="296354"/>
                </a:cubicBezTo>
                <a:cubicBezTo>
                  <a:pt x="114784" y="297284"/>
                  <a:pt x="152177" y="294494"/>
                  <a:pt x="189570" y="297842"/>
                </a:cubicBezTo>
                <a:cubicBezTo>
                  <a:pt x="193477" y="295796"/>
                  <a:pt x="197569" y="295982"/>
                  <a:pt x="201476" y="297656"/>
                </a:cubicBezTo>
                <a:cubicBezTo>
                  <a:pt x="210964" y="298214"/>
                  <a:pt x="200918" y="300819"/>
                  <a:pt x="201848" y="302121"/>
                </a:cubicBezTo>
                <a:cubicBezTo>
                  <a:pt x="200174" y="302679"/>
                  <a:pt x="199244" y="303981"/>
                  <a:pt x="197941" y="305098"/>
                </a:cubicBezTo>
                <a:cubicBezTo>
                  <a:pt x="192732" y="314958"/>
                  <a:pt x="202406" y="312725"/>
                  <a:pt x="206127" y="315144"/>
                </a:cubicBezTo>
                <a:cubicBezTo>
                  <a:pt x="211522" y="315330"/>
                  <a:pt x="216917" y="315516"/>
                  <a:pt x="222126" y="315702"/>
                </a:cubicBezTo>
                <a:cubicBezTo>
                  <a:pt x="242962" y="318120"/>
                  <a:pt x="263984" y="317934"/>
                  <a:pt x="284820" y="315702"/>
                </a:cubicBezTo>
                <a:cubicBezTo>
                  <a:pt x="290587" y="314399"/>
                  <a:pt x="296540" y="314399"/>
                  <a:pt x="302307" y="315702"/>
                </a:cubicBezTo>
                <a:cubicBezTo>
                  <a:pt x="304354" y="317562"/>
                  <a:pt x="307330" y="317004"/>
                  <a:pt x="309563" y="318678"/>
                </a:cubicBezTo>
                <a:cubicBezTo>
                  <a:pt x="311609" y="321097"/>
                  <a:pt x="314958" y="320911"/>
                  <a:pt x="317562" y="322027"/>
                </a:cubicBezTo>
                <a:cubicBezTo>
                  <a:pt x="320725" y="321097"/>
                  <a:pt x="323887" y="321469"/>
                  <a:pt x="326864" y="322771"/>
                </a:cubicBezTo>
                <a:cubicBezTo>
                  <a:pt x="332259" y="325934"/>
                  <a:pt x="341561" y="320539"/>
                  <a:pt x="344351" y="330212"/>
                </a:cubicBezTo>
                <a:cubicBezTo>
                  <a:pt x="344537" y="330212"/>
                  <a:pt x="344537" y="330212"/>
                  <a:pt x="344723" y="330398"/>
                </a:cubicBezTo>
                <a:cubicBezTo>
                  <a:pt x="344723" y="330584"/>
                  <a:pt x="344723" y="330957"/>
                  <a:pt x="344537" y="331143"/>
                </a:cubicBezTo>
                <a:cubicBezTo>
                  <a:pt x="343049" y="331143"/>
                  <a:pt x="341933" y="331701"/>
                  <a:pt x="340816" y="332631"/>
                </a:cubicBezTo>
                <a:cubicBezTo>
                  <a:pt x="317004" y="333561"/>
                  <a:pt x="293377" y="334677"/>
                  <a:pt x="269565" y="333003"/>
                </a:cubicBezTo>
                <a:cubicBezTo>
                  <a:pt x="253938" y="337096"/>
                  <a:pt x="237753" y="332073"/>
                  <a:pt x="222126" y="335980"/>
                </a:cubicBezTo>
                <a:lnTo>
                  <a:pt x="222498" y="336910"/>
                </a:lnTo>
                <a:cubicBezTo>
                  <a:pt x="219149" y="336724"/>
                  <a:pt x="215615" y="336724"/>
                  <a:pt x="212266" y="336538"/>
                </a:cubicBezTo>
                <a:cubicBezTo>
                  <a:pt x="213568" y="341002"/>
                  <a:pt x="217103" y="341561"/>
                  <a:pt x="220638" y="342491"/>
                </a:cubicBezTo>
                <a:cubicBezTo>
                  <a:pt x="221010" y="343235"/>
                  <a:pt x="221568" y="343979"/>
                  <a:pt x="222126" y="344723"/>
                </a:cubicBezTo>
                <a:cubicBezTo>
                  <a:pt x="222126" y="348630"/>
                  <a:pt x="219894" y="353281"/>
                  <a:pt x="223800" y="355885"/>
                </a:cubicBezTo>
                <a:cubicBezTo>
                  <a:pt x="223986" y="356257"/>
                  <a:pt x="224172" y="356815"/>
                  <a:pt x="224358" y="357188"/>
                </a:cubicBezTo>
                <a:cubicBezTo>
                  <a:pt x="224917" y="359234"/>
                  <a:pt x="228823" y="358304"/>
                  <a:pt x="228637" y="361094"/>
                </a:cubicBezTo>
                <a:cubicBezTo>
                  <a:pt x="225847" y="360722"/>
                  <a:pt x="223614" y="360908"/>
                  <a:pt x="224358" y="365001"/>
                </a:cubicBezTo>
                <a:cubicBezTo>
                  <a:pt x="223056" y="366117"/>
                  <a:pt x="221754" y="367233"/>
                  <a:pt x="221010" y="368722"/>
                </a:cubicBezTo>
                <a:cubicBezTo>
                  <a:pt x="220266" y="376535"/>
                  <a:pt x="214871" y="376721"/>
                  <a:pt x="208731" y="376721"/>
                </a:cubicBezTo>
                <a:cubicBezTo>
                  <a:pt x="199616" y="376535"/>
                  <a:pt x="190500" y="376349"/>
                  <a:pt x="181570" y="376907"/>
                </a:cubicBezTo>
                <a:cubicBezTo>
                  <a:pt x="180826" y="377465"/>
                  <a:pt x="180454" y="378023"/>
                  <a:pt x="180082" y="378582"/>
                </a:cubicBezTo>
                <a:cubicBezTo>
                  <a:pt x="178966" y="378210"/>
                  <a:pt x="177850" y="378023"/>
                  <a:pt x="176919" y="377651"/>
                </a:cubicBezTo>
                <a:cubicBezTo>
                  <a:pt x="175989" y="378396"/>
                  <a:pt x="174873" y="378582"/>
                  <a:pt x="173571" y="378396"/>
                </a:cubicBezTo>
                <a:cubicBezTo>
                  <a:pt x="172827" y="382302"/>
                  <a:pt x="176733" y="382488"/>
                  <a:pt x="178222" y="384721"/>
                </a:cubicBezTo>
                <a:lnTo>
                  <a:pt x="184175" y="384721"/>
                </a:lnTo>
                <a:lnTo>
                  <a:pt x="183803" y="385837"/>
                </a:lnTo>
                <a:cubicBezTo>
                  <a:pt x="185291" y="386395"/>
                  <a:pt x="186221" y="388069"/>
                  <a:pt x="188082" y="388255"/>
                </a:cubicBezTo>
                <a:cubicBezTo>
                  <a:pt x="189012" y="391046"/>
                  <a:pt x="192732" y="390116"/>
                  <a:pt x="194035" y="392534"/>
                </a:cubicBezTo>
                <a:lnTo>
                  <a:pt x="194221" y="392720"/>
                </a:lnTo>
                <a:cubicBezTo>
                  <a:pt x="197011" y="396441"/>
                  <a:pt x="192546" y="397743"/>
                  <a:pt x="191802" y="400162"/>
                </a:cubicBezTo>
                <a:cubicBezTo>
                  <a:pt x="189570" y="400162"/>
                  <a:pt x="188454" y="401650"/>
                  <a:pt x="187896" y="403696"/>
                </a:cubicBezTo>
                <a:lnTo>
                  <a:pt x="188268" y="403324"/>
                </a:lnTo>
                <a:cubicBezTo>
                  <a:pt x="183989" y="410208"/>
                  <a:pt x="183431" y="416161"/>
                  <a:pt x="192360" y="419881"/>
                </a:cubicBezTo>
                <a:cubicBezTo>
                  <a:pt x="195523" y="419137"/>
                  <a:pt x="198500" y="419509"/>
                  <a:pt x="201290" y="420440"/>
                </a:cubicBezTo>
                <a:cubicBezTo>
                  <a:pt x="214126" y="420998"/>
                  <a:pt x="226591" y="425090"/>
                  <a:pt x="239613" y="423788"/>
                </a:cubicBezTo>
                <a:cubicBezTo>
                  <a:pt x="240729" y="423788"/>
                  <a:pt x="242032" y="423788"/>
                  <a:pt x="243148" y="423974"/>
                </a:cubicBezTo>
                <a:cubicBezTo>
                  <a:pt x="244450" y="425090"/>
                  <a:pt x="245938" y="426021"/>
                  <a:pt x="247427" y="426765"/>
                </a:cubicBezTo>
                <a:cubicBezTo>
                  <a:pt x="246125" y="428067"/>
                  <a:pt x="244450" y="429183"/>
                  <a:pt x="243148" y="430485"/>
                </a:cubicBezTo>
                <a:cubicBezTo>
                  <a:pt x="231800" y="432160"/>
                  <a:pt x="220266" y="431230"/>
                  <a:pt x="208918" y="430857"/>
                </a:cubicBezTo>
                <a:cubicBezTo>
                  <a:pt x="207801" y="431230"/>
                  <a:pt x="207429" y="431788"/>
                  <a:pt x="207429" y="432532"/>
                </a:cubicBezTo>
                <a:lnTo>
                  <a:pt x="198500" y="432532"/>
                </a:lnTo>
                <a:cubicBezTo>
                  <a:pt x="198313" y="431788"/>
                  <a:pt x="197755" y="431230"/>
                  <a:pt x="196639" y="431230"/>
                </a:cubicBezTo>
                <a:cubicBezTo>
                  <a:pt x="182128" y="431043"/>
                  <a:pt x="167618" y="431043"/>
                  <a:pt x="153107" y="430857"/>
                </a:cubicBezTo>
                <a:cubicBezTo>
                  <a:pt x="151247" y="432718"/>
                  <a:pt x="148084" y="431974"/>
                  <a:pt x="146224" y="433834"/>
                </a:cubicBezTo>
                <a:cubicBezTo>
                  <a:pt x="135620" y="430299"/>
                  <a:pt x="124458" y="435136"/>
                  <a:pt x="113854" y="431043"/>
                </a:cubicBezTo>
                <a:cubicBezTo>
                  <a:pt x="110505" y="430671"/>
                  <a:pt x="107156" y="430485"/>
                  <a:pt x="103994" y="430113"/>
                </a:cubicBezTo>
                <a:cubicBezTo>
                  <a:pt x="100087" y="428253"/>
                  <a:pt x="95994" y="429183"/>
                  <a:pt x="91901" y="429183"/>
                </a:cubicBezTo>
                <a:cubicBezTo>
                  <a:pt x="91157" y="429369"/>
                  <a:pt x="90413" y="429927"/>
                  <a:pt x="89855" y="430485"/>
                </a:cubicBezTo>
                <a:cubicBezTo>
                  <a:pt x="89111" y="429369"/>
                  <a:pt x="88181" y="429369"/>
                  <a:pt x="86878" y="430113"/>
                </a:cubicBezTo>
                <a:cubicBezTo>
                  <a:pt x="83530" y="430299"/>
                  <a:pt x="79995" y="430671"/>
                  <a:pt x="76646" y="430857"/>
                </a:cubicBezTo>
                <a:cubicBezTo>
                  <a:pt x="75344" y="431974"/>
                  <a:pt x="74042" y="431788"/>
                  <a:pt x="72740" y="430671"/>
                </a:cubicBezTo>
                <a:cubicBezTo>
                  <a:pt x="71624" y="430857"/>
                  <a:pt x="70693" y="430857"/>
                  <a:pt x="69577" y="430671"/>
                </a:cubicBezTo>
                <a:cubicBezTo>
                  <a:pt x="68089" y="432532"/>
                  <a:pt x="66601" y="431788"/>
                  <a:pt x="65112" y="430857"/>
                </a:cubicBezTo>
                <a:cubicBezTo>
                  <a:pt x="64554" y="431416"/>
                  <a:pt x="63996" y="431416"/>
                  <a:pt x="63252" y="430857"/>
                </a:cubicBezTo>
                <a:cubicBezTo>
                  <a:pt x="62136" y="431416"/>
                  <a:pt x="61020" y="431788"/>
                  <a:pt x="59903" y="432160"/>
                </a:cubicBezTo>
                <a:cubicBezTo>
                  <a:pt x="59903" y="431602"/>
                  <a:pt x="59531" y="431043"/>
                  <a:pt x="58973" y="430485"/>
                </a:cubicBezTo>
                <a:cubicBezTo>
                  <a:pt x="53206" y="430485"/>
                  <a:pt x="47625" y="430671"/>
                  <a:pt x="41858" y="430671"/>
                </a:cubicBezTo>
                <a:cubicBezTo>
                  <a:pt x="38695" y="434764"/>
                  <a:pt x="43346" y="435508"/>
                  <a:pt x="45021" y="437555"/>
                </a:cubicBezTo>
                <a:cubicBezTo>
                  <a:pt x="47439" y="437741"/>
                  <a:pt x="49671" y="437927"/>
                  <a:pt x="52090" y="438113"/>
                </a:cubicBezTo>
                <a:cubicBezTo>
                  <a:pt x="53392" y="439043"/>
                  <a:pt x="54508" y="438857"/>
                  <a:pt x="55252" y="437741"/>
                </a:cubicBezTo>
                <a:cubicBezTo>
                  <a:pt x="55811" y="438299"/>
                  <a:pt x="56555" y="438857"/>
                  <a:pt x="57671" y="439229"/>
                </a:cubicBezTo>
                <a:cubicBezTo>
                  <a:pt x="65484" y="439973"/>
                  <a:pt x="73670" y="438113"/>
                  <a:pt x="81297" y="440717"/>
                </a:cubicBezTo>
                <a:cubicBezTo>
                  <a:pt x="82972" y="440903"/>
                  <a:pt x="84646" y="440903"/>
                  <a:pt x="86320" y="441089"/>
                </a:cubicBezTo>
                <a:cubicBezTo>
                  <a:pt x="87250" y="440345"/>
                  <a:pt x="87809" y="439601"/>
                  <a:pt x="87809" y="438299"/>
                </a:cubicBezTo>
                <a:lnTo>
                  <a:pt x="88181" y="438299"/>
                </a:lnTo>
                <a:cubicBezTo>
                  <a:pt x="88739" y="439415"/>
                  <a:pt x="89297" y="440159"/>
                  <a:pt x="90227" y="441089"/>
                </a:cubicBezTo>
                <a:cubicBezTo>
                  <a:pt x="91529" y="442578"/>
                  <a:pt x="93018" y="443880"/>
                  <a:pt x="95250" y="444252"/>
                </a:cubicBezTo>
                <a:lnTo>
                  <a:pt x="95622" y="444252"/>
                </a:lnTo>
                <a:cubicBezTo>
                  <a:pt x="105668" y="442206"/>
                  <a:pt x="115528" y="441834"/>
                  <a:pt x="125574" y="444252"/>
                </a:cubicBezTo>
                <a:lnTo>
                  <a:pt x="125202" y="443880"/>
                </a:lnTo>
                <a:cubicBezTo>
                  <a:pt x="131713" y="448345"/>
                  <a:pt x="138782" y="446484"/>
                  <a:pt x="145666" y="445368"/>
                </a:cubicBezTo>
                <a:lnTo>
                  <a:pt x="145666" y="445554"/>
                </a:lnTo>
                <a:cubicBezTo>
                  <a:pt x="145293" y="445554"/>
                  <a:pt x="145107" y="445926"/>
                  <a:pt x="144921" y="446484"/>
                </a:cubicBezTo>
                <a:cubicBezTo>
                  <a:pt x="144735" y="447043"/>
                  <a:pt x="145107" y="447601"/>
                  <a:pt x="146038" y="447973"/>
                </a:cubicBezTo>
                <a:cubicBezTo>
                  <a:pt x="152921" y="447973"/>
                  <a:pt x="159990" y="447787"/>
                  <a:pt x="166874" y="447787"/>
                </a:cubicBezTo>
                <a:cubicBezTo>
                  <a:pt x="167246" y="447787"/>
                  <a:pt x="167618" y="447601"/>
                  <a:pt x="167804" y="447043"/>
                </a:cubicBezTo>
                <a:cubicBezTo>
                  <a:pt x="174687" y="450763"/>
                  <a:pt x="182314" y="451135"/>
                  <a:pt x="189942" y="452066"/>
                </a:cubicBezTo>
                <a:cubicBezTo>
                  <a:pt x="190314" y="452251"/>
                  <a:pt x="190872" y="452251"/>
                  <a:pt x="191244" y="452251"/>
                </a:cubicBezTo>
                <a:lnTo>
                  <a:pt x="191244" y="452624"/>
                </a:lnTo>
                <a:cubicBezTo>
                  <a:pt x="190314" y="452624"/>
                  <a:pt x="189384" y="452437"/>
                  <a:pt x="188640" y="452066"/>
                </a:cubicBezTo>
                <a:cubicBezTo>
                  <a:pt x="171710" y="457274"/>
                  <a:pt x="154595" y="458205"/>
                  <a:pt x="137294" y="455228"/>
                </a:cubicBezTo>
                <a:cubicBezTo>
                  <a:pt x="135620" y="455228"/>
                  <a:pt x="134503" y="455972"/>
                  <a:pt x="134131" y="457088"/>
                </a:cubicBezTo>
                <a:cubicBezTo>
                  <a:pt x="132271" y="456158"/>
                  <a:pt x="130039" y="456158"/>
                  <a:pt x="128178" y="455228"/>
                </a:cubicBezTo>
                <a:cubicBezTo>
                  <a:pt x="127620" y="454112"/>
                  <a:pt x="126690" y="453554"/>
                  <a:pt x="125388" y="453554"/>
                </a:cubicBezTo>
                <a:cubicBezTo>
                  <a:pt x="122969" y="454484"/>
                  <a:pt x="120365" y="454484"/>
                  <a:pt x="117946" y="453554"/>
                </a:cubicBezTo>
                <a:cubicBezTo>
                  <a:pt x="116644" y="453554"/>
                  <a:pt x="115714" y="453926"/>
                  <a:pt x="114970" y="455042"/>
                </a:cubicBezTo>
                <a:cubicBezTo>
                  <a:pt x="112365" y="456530"/>
                  <a:pt x="109947" y="456716"/>
                  <a:pt x="107528" y="454670"/>
                </a:cubicBezTo>
                <a:cubicBezTo>
                  <a:pt x="106412" y="454298"/>
                  <a:pt x="105296" y="454112"/>
                  <a:pt x="104180" y="453740"/>
                </a:cubicBezTo>
                <a:cubicBezTo>
                  <a:pt x="101575" y="452810"/>
                  <a:pt x="99157" y="452437"/>
                  <a:pt x="97668" y="455414"/>
                </a:cubicBezTo>
                <a:cubicBezTo>
                  <a:pt x="98227" y="459321"/>
                  <a:pt x="100459" y="461553"/>
                  <a:pt x="104366" y="462297"/>
                </a:cubicBezTo>
                <a:cubicBezTo>
                  <a:pt x="112365" y="461181"/>
                  <a:pt x="120365" y="460623"/>
                  <a:pt x="127806" y="464530"/>
                </a:cubicBezTo>
                <a:cubicBezTo>
                  <a:pt x="126318" y="465274"/>
                  <a:pt x="125574" y="466762"/>
                  <a:pt x="126690" y="467878"/>
                </a:cubicBezTo>
                <a:cubicBezTo>
                  <a:pt x="128178" y="469553"/>
                  <a:pt x="130225" y="469367"/>
                  <a:pt x="132271" y="468623"/>
                </a:cubicBezTo>
                <a:cubicBezTo>
                  <a:pt x="135992" y="468809"/>
                  <a:pt x="137852" y="466948"/>
                  <a:pt x="138968" y="464158"/>
                </a:cubicBezTo>
                <a:cubicBezTo>
                  <a:pt x="139154" y="464344"/>
                  <a:pt x="139340" y="464344"/>
                  <a:pt x="139526" y="464530"/>
                </a:cubicBezTo>
                <a:cubicBezTo>
                  <a:pt x="142131" y="465460"/>
                  <a:pt x="144735" y="465832"/>
                  <a:pt x="147340" y="466018"/>
                </a:cubicBezTo>
                <a:cubicBezTo>
                  <a:pt x="151247" y="472715"/>
                  <a:pt x="159618" y="468995"/>
                  <a:pt x="165757" y="470297"/>
                </a:cubicBezTo>
                <a:cubicBezTo>
                  <a:pt x="166874" y="468437"/>
                  <a:pt x="168362" y="467692"/>
                  <a:pt x="170408" y="468064"/>
                </a:cubicBezTo>
                <a:cubicBezTo>
                  <a:pt x="172827" y="468250"/>
                  <a:pt x="172641" y="470669"/>
                  <a:pt x="173757" y="471971"/>
                </a:cubicBezTo>
                <a:lnTo>
                  <a:pt x="173943" y="472157"/>
                </a:lnTo>
                <a:cubicBezTo>
                  <a:pt x="177105" y="475320"/>
                  <a:pt x="179896" y="479599"/>
                  <a:pt x="184919" y="474762"/>
                </a:cubicBezTo>
                <a:cubicBezTo>
                  <a:pt x="185291" y="472715"/>
                  <a:pt x="182687" y="471227"/>
                  <a:pt x="184361" y="468995"/>
                </a:cubicBezTo>
                <a:cubicBezTo>
                  <a:pt x="183245" y="471413"/>
                  <a:pt x="185291" y="472901"/>
                  <a:pt x="186407" y="474576"/>
                </a:cubicBezTo>
                <a:cubicBezTo>
                  <a:pt x="192360" y="479599"/>
                  <a:pt x="200360" y="474948"/>
                  <a:pt x="206685" y="478482"/>
                </a:cubicBezTo>
                <a:lnTo>
                  <a:pt x="207987" y="478110"/>
                </a:lnTo>
                <a:lnTo>
                  <a:pt x="209104" y="478854"/>
                </a:lnTo>
                <a:cubicBezTo>
                  <a:pt x="211336" y="480715"/>
                  <a:pt x="213754" y="480715"/>
                  <a:pt x="216173" y="478854"/>
                </a:cubicBezTo>
                <a:lnTo>
                  <a:pt x="216359" y="478854"/>
                </a:lnTo>
                <a:cubicBezTo>
                  <a:pt x="220080" y="475320"/>
                  <a:pt x="223986" y="477180"/>
                  <a:pt x="227707" y="478482"/>
                </a:cubicBezTo>
                <a:cubicBezTo>
                  <a:pt x="228823" y="478296"/>
                  <a:pt x="229753" y="478669"/>
                  <a:pt x="230312" y="479599"/>
                </a:cubicBezTo>
                <a:cubicBezTo>
                  <a:pt x="238683" y="480343"/>
                  <a:pt x="247055" y="482017"/>
                  <a:pt x="255240" y="479413"/>
                </a:cubicBezTo>
                <a:cubicBezTo>
                  <a:pt x="255984" y="479413"/>
                  <a:pt x="256542" y="479599"/>
                  <a:pt x="257287" y="479599"/>
                </a:cubicBezTo>
                <a:cubicBezTo>
                  <a:pt x="261379" y="481087"/>
                  <a:pt x="265844" y="479785"/>
                  <a:pt x="269751" y="481831"/>
                </a:cubicBezTo>
                <a:lnTo>
                  <a:pt x="270681" y="481831"/>
                </a:lnTo>
                <a:cubicBezTo>
                  <a:pt x="277192" y="479785"/>
                  <a:pt x="283518" y="479413"/>
                  <a:pt x="290029" y="482017"/>
                </a:cubicBezTo>
                <a:lnTo>
                  <a:pt x="291517" y="481645"/>
                </a:lnTo>
                <a:lnTo>
                  <a:pt x="292819" y="482575"/>
                </a:lnTo>
                <a:cubicBezTo>
                  <a:pt x="295238" y="484250"/>
                  <a:pt x="297470" y="484063"/>
                  <a:pt x="299889" y="482389"/>
                </a:cubicBezTo>
                <a:lnTo>
                  <a:pt x="300075" y="482389"/>
                </a:lnTo>
                <a:cubicBezTo>
                  <a:pt x="301563" y="480157"/>
                  <a:pt x="303423" y="481645"/>
                  <a:pt x="305098" y="481831"/>
                </a:cubicBezTo>
                <a:cubicBezTo>
                  <a:pt x="306958" y="480715"/>
                  <a:pt x="308632" y="480901"/>
                  <a:pt x="310307" y="482203"/>
                </a:cubicBezTo>
                <a:cubicBezTo>
                  <a:pt x="313841" y="484808"/>
                  <a:pt x="317190" y="484622"/>
                  <a:pt x="320725" y="482389"/>
                </a:cubicBezTo>
                <a:cubicBezTo>
                  <a:pt x="326492" y="481087"/>
                  <a:pt x="332445" y="480901"/>
                  <a:pt x="338212" y="482761"/>
                </a:cubicBezTo>
                <a:cubicBezTo>
                  <a:pt x="340630" y="484250"/>
                  <a:pt x="342863" y="484250"/>
                  <a:pt x="345095" y="482575"/>
                </a:cubicBezTo>
                <a:cubicBezTo>
                  <a:pt x="346584" y="481273"/>
                  <a:pt x="348444" y="480901"/>
                  <a:pt x="350304" y="481831"/>
                </a:cubicBezTo>
                <a:cubicBezTo>
                  <a:pt x="353653" y="480901"/>
                  <a:pt x="357001" y="479785"/>
                  <a:pt x="360164" y="482017"/>
                </a:cubicBezTo>
                <a:cubicBezTo>
                  <a:pt x="363327" y="481273"/>
                  <a:pt x="366489" y="481459"/>
                  <a:pt x="369466" y="482575"/>
                </a:cubicBezTo>
                <a:cubicBezTo>
                  <a:pt x="374117" y="484622"/>
                  <a:pt x="378768" y="484436"/>
                  <a:pt x="383232" y="482761"/>
                </a:cubicBezTo>
                <a:cubicBezTo>
                  <a:pt x="387883" y="481087"/>
                  <a:pt x="392534" y="481459"/>
                  <a:pt x="397185" y="482575"/>
                </a:cubicBezTo>
                <a:cubicBezTo>
                  <a:pt x="400720" y="484250"/>
                  <a:pt x="404254" y="485180"/>
                  <a:pt x="407231" y="481831"/>
                </a:cubicBezTo>
                <a:cubicBezTo>
                  <a:pt x="408719" y="481087"/>
                  <a:pt x="410394" y="481273"/>
                  <a:pt x="411882" y="481645"/>
                </a:cubicBezTo>
                <a:lnTo>
                  <a:pt x="411510" y="481459"/>
                </a:lnTo>
                <a:cubicBezTo>
                  <a:pt x="421742" y="486110"/>
                  <a:pt x="432160" y="484622"/>
                  <a:pt x="442392" y="482389"/>
                </a:cubicBezTo>
                <a:cubicBezTo>
                  <a:pt x="443508" y="481459"/>
                  <a:pt x="444810" y="481459"/>
                  <a:pt x="445926" y="482575"/>
                </a:cubicBezTo>
                <a:cubicBezTo>
                  <a:pt x="457460" y="485552"/>
                  <a:pt x="469181" y="484994"/>
                  <a:pt x="480715" y="482947"/>
                </a:cubicBezTo>
                <a:cubicBezTo>
                  <a:pt x="481831" y="482947"/>
                  <a:pt x="483133" y="482761"/>
                  <a:pt x="484250" y="482761"/>
                </a:cubicBezTo>
                <a:cubicBezTo>
                  <a:pt x="491133" y="485180"/>
                  <a:pt x="498202" y="484994"/>
                  <a:pt x="505085" y="482947"/>
                </a:cubicBezTo>
                <a:cubicBezTo>
                  <a:pt x="512899" y="481645"/>
                  <a:pt x="520898" y="480343"/>
                  <a:pt x="528712" y="482389"/>
                </a:cubicBezTo>
                <a:cubicBezTo>
                  <a:pt x="531875" y="480157"/>
                  <a:pt x="535037" y="481459"/>
                  <a:pt x="538200" y="482203"/>
                </a:cubicBezTo>
                <a:cubicBezTo>
                  <a:pt x="542479" y="481087"/>
                  <a:pt x="546571" y="480157"/>
                  <a:pt x="550850" y="482017"/>
                </a:cubicBezTo>
                <a:cubicBezTo>
                  <a:pt x="551222" y="483877"/>
                  <a:pt x="552524" y="484994"/>
                  <a:pt x="553641" y="486110"/>
                </a:cubicBezTo>
                <a:cubicBezTo>
                  <a:pt x="555315" y="489459"/>
                  <a:pt x="555873" y="492807"/>
                  <a:pt x="551222" y="493365"/>
                </a:cubicBezTo>
                <a:cubicBezTo>
                  <a:pt x="546943" y="494109"/>
                  <a:pt x="542479" y="495040"/>
                  <a:pt x="538200" y="493365"/>
                </a:cubicBezTo>
                <a:cubicBezTo>
                  <a:pt x="526107" y="497086"/>
                  <a:pt x="513457" y="492621"/>
                  <a:pt x="501551" y="496156"/>
                </a:cubicBezTo>
                <a:cubicBezTo>
                  <a:pt x="492993" y="497644"/>
                  <a:pt x="484250" y="498016"/>
                  <a:pt x="475692" y="496714"/>
                </a:cubicBezTo>
                <a:cubicBezTo>
                  <a:pt x="461367" y="500993"/>
                  <a:pt x="446298" y="495598"/>
                  <a:pt x="431974" y="499690"/>
                </a:cubicBezTo>
                <a:cubicBezTo>
                  <a:pt x="422114" y="500621"/>
                  <a:pt x="412440" y="501737"/>
                  <a:pt x="402580" y="500249"/>
                </a:cubicBezTo>
                <a:cubicBezTo>
                  <a:pt x="386953" y="504155"/>
                  <a:pt x="370954" y="499318"/>
                  <a:pt x="355327" y="503039"/>
                </a:cubicBezTo>
                <a:cubicBezTo>
                  <a:pt x="340816" y="504155"/>
                  <a:pt x="326492" y="505086"/>
                  <a:pt x="311981" y="503597"/>
                </a:cubicBezTo>
                <a:cubicBezTo>
                  <a:pt x="305284" y="506202"/>
                  <a:pt x="298400" y="504899"/>
                  <a:pt x="291517" y="505086"/>
                </a:cubicBezTo>
                <a:cubicBezTo>
                  <a:pt x="266402" y="505830"/>
                  <a:pt x="241102" y="503597"/>
                  <a:pt x="215987" y="506388"/>
                </a:cubicBezTo>
                <a:cubicBezTo>
                  <a:pt x="211336" y="507876"/>
                  <a:pt x="206685" y="507690"/>
                  <a:pt x="202034" y="506574"/>
                </a:cubicBezTo>
                <a:cubicBezTo>
                  <a:pt x="184175" y="502667"/>
                  <a:pt x="165757" y="507690"/>
                  <a:pt x="147898" y="503783"/>
                </a:cubicBezTo>
                <a:cubicBezTo>
                  <a:pt x="132271" y="505458"/>
                  <a:pt x="116644" y="503969"/>
                  <a:pt x="101017" y="503225"/>
                </a:cubicBezTo>
                <a:cubicBezTo>
                  <a:pt x="79623" y="499132"/>
                  <a:pt x="57857" y="504341"/>
                  <a:pt x="36463" y="500435"/>
                </a:cubicBezTo>
                <a:cubicBezTo>
                  <a:pt x="31440" y="501365"/>
                  <a:pt x="26603" y="501365"/>
                  <a:pt x="21766" y="500435"/>
                </a:cubicBezTo>
                <a:cubicBezTo>
                  <a:pt x="19534" y="502295"/>
                  <a:pt x="15627" y="501179"/>
                  <a:pt x="13581" y="503783"/>
                </a:cubicBezTo>
                <a:cubicBezTo>
                  <a:pt x="8744" y="503225"/>
                  <a:pt x="3163" y="500249"/>
                  <a:pt x="0" y="507132"/>
                </a:cubicBezTo>
                <a:cubicBezTo>
                  <a:pt x="4465" y="507132"/>
                  <a:pt x="8930" y="506946"/>
                  <a:pt x="13395" y="506946"/>
                </a:cubicBezTo>
                <a:cubicBezTo>
                  <a:pt x="13953" y="507876"/>
                  <a:pt x="14697" y="508434"/>
                  <a:pt x="15813" y="508806"/>
                </a:cubicBezTo>
                <a:cubicBezTo>
                  <a:pt x="32184" y="511225"/>
                  <a:pt x="46509" y="521643"/>
                  <a:pt x="63438" y="522201"/>
                </a:cubicBezTo>
                <a:lnTo>
                  <a:pt x="63810" y="522201"/>
                </a:lnTo>
                <a:cubicBezTo>
                  <a:pt x="63252" y="522945"/>
                  <a:pt x="62880" y="523689"/>
                  <a:pt x="62880" y="524805"/>
                </a:cubicBezTo>
                <a:lnTo>
                  <a:pt x="62136" y="524433"/>
                </a:lnTo>
                <a:cubicBezTo>
                  <a:pt x="62322" y="526852"/>
                  <a:pt x="56369" y="530758"/>
                  <a:pt x="63438" y="531502"/>
                </a:cubicBezTo>
                <a:cubicBezTo>
                  <a:pt x="68461" y="532061"/>
                  <a:pt x="73670" y="531316"/>
                  <a:pt x="78879" y="531130"/>
                </a:cubicBezTo>
                <a:cubicBezTo>
                  <a:pt x="79251" y="531875"/>
                  <a:pt x="79995" y="532619"/>
                  <a:pt x="80739" y="533363"/>
                </a:cubicBezTo>
                <a:cubicBezTo>
                  <a:pt x="82786" y="534479"/>
                  <a:pt x="85018" y="535223"/>
                  <a:pt x="87437" y="535409"/>
                </a:cubicBezTo>
                <a:cubicBezTo>
                  <a:pt x="87064" y="536339"/>
                  <a:pt x="86692" y="537083"/>
                  <a:pt x="86320" y="538014"/>
                </a:cubicBezTo>
                <a:cubicBezTo>
                  <a:pt x="82786" y="538572"/>
                  <a:pt x="78507" y="537083"/>
                  <a:pt x="76833" y="541920"/>
                </a:cubicBezTo>
                <a:cubicBezTo>
                  <a:pt x="77949" y="542851"/>
                  <a:pt x="79251" y="543781"/>
                  <a:pt x="80367" y="544897"/>
                </a:cubicBezTo>
                <a:cubicBezTo>
                  <a:pt x="84274" y="548990"/>
                  <a:pt x="86692" y="546757"/>
                  <a:pt x="88739" y="542851"/>
                </a:cubicBezTo>
                <a:lnTo>
                  <a:pt x="88739" y="542665"/>
                </a:lnTo>
                <a:cubicBezTo>
                  <a:pt x="89297" y="542479"/>
                  <a:pt x="90041" y="542293"/>
                  <a:pt x="90599" y="541734"/>
                </a:cubicBezTo>
                <a:lnTo>
                  <a:pt x="92273" y="541734"/>
                </a:lnTo>
                <a:lnTo>
                  <a:pt x="93948" y="541548"/>
                </a:lnTo>
                <a:cubicBezTo>
                  <a:pt x="94692" y="539688"/>
                  <a:pt x="95994" y="539316"/>
                  <a:pt x="97855" y="539316"/>
                </a:cubicBezTo>
                <a:cubicBezTo>
                  <a:pt x="97855" y="538200"/>
                  <a:pt x="98041" y="537270"/>
                  <a:pt x="98041" y="536153"/>
                </a:cubicBezTo>
                <a:lnTo>
                  <a:pt x="98785" y="536153"/>
                </a:lnTo>
                <a:cubicBezTo>
                  <a:pt x="102319" y="536712"/>
                  <a:pt x="105668" y="537828"/>
                  <a:pt x="109203" y="538014"/>
                </a:cubicBezTo>
                <a:cubicBezTo>
                  <a:pt x="107900" y="540060"/>
                  <a:pt x="107156" y="542479"/>
                  <a:pt x="106784" y="544897"/>
                </a:cubicBezTo>
                <a:cubicBezTo>
                  <a:pt x="106784" y="546571"/>
                  <a:pt x="107528" y="547688"/>
                  <a:pt x="109017" y="548432"/>
                </a:cubicBezTo>
                <a:cubicBezTo>
                  <a:pt x="113667" y="548432"/>
                  <a:pt x="118318" y="549548"/>
                  <a:pt x="122969" y="547874"/>
                </a:cubicBezTo>
                <a:cubicBezTo>
                  <a:pt x="124085" y="547874"/>
                  <a:pt x="125016" y="548246"/>
                  <a:pt x="125760" y="548804"/>
                </a:cubicBezTo>
                <a:cubicBezTo>
                  <a:pt x="134131" y="552338"/>
                  <a:pt x="143433" y="548246"/>
                  <a:pt x="151991" y="551780"/>
                </a:cubicBezTo>
                <a:cubicBezTo>
                  <a:pt x="158502" y="550106"/>
                  <a:pt x="164827" y="548990"/>
                  <a:pt x="171152" y="551780"/>
                </a:cubicBezTo>
                <a:cubicBezTo>
                  <a:pt x="175617" y="554943"/>
                  <a:pt x="180268" y="554013"/>
                  <a:pt x="184919" y="552338"/>
                </a:cubicBezTo>
                <a:cubicBezTo>
                  <a:pt x="186035" y="552152"/>
                  <a:pt x="187151" y="551966"/>
                  <a:pt x="188454" y="551780"/>
                </a:cubicBezTo>
                <a:cubicBezTo>
                  <a:pt x="203522" y="554943"/>
                  <a:pt x="218591" y="554385"/>
                  <a:pt x="233846" y="552152"/>
                </a:cubicBezTo>
                <a:cubicBezTo>
                  <a:pt x="236265" y="551222"/>
                  <a:pt x="238497" y="551222"/>
                  <a:pt x="240916" y="552152"/>
                </a:cubicBezTo>
                <a:cubicBezTo>
                  <a:pt x="255984" y="554385"/>
                  <a:pt x="271053" y="554571"/>
                  <a:pt x="286122" y="552152"/>
                </a:cubicBezTo>
                <a:cubicBezTo>
                  <a:pt x="300633" y="551222"/>
                  <a:pt x="314958" y="550292"/>
                  <a:pt x="329468" y="551780"/>
                </a:cubicBezTo>
                <a:cubicBezTo>
                  <a:pt x="349746" y="547502"/>
                  <a:pt x="370396" y="552896"/>
                  <a:pt x="390674" y="548804"/>
                </a:cubicBezTo>
                <a:cubicBezTo>
                  <a:pt x="400534" y="547688"/>
                  <a:pt x="410208" y="547129"/>
                  <a:pt x="420067" y="548246"/>
                </a:cubicBezTo>
                <a:cubicBezTo>
                  <a:pt x="432160" y="544153"/>
                  <a:pt x="444810" y="549176"/>
                  <a:pt x="456902" y="545269"/>
                </a:cubicBezTo>
                <a:cubicBezTo>
                  <a:pt x="462297" y="543967"/>
                  <a:pt x="467878" y="543781"/>
                  <a:pt x="473459" y="544711"/>
                </a:cubicBezTo>
                <a:cubicBezTo>
                  <a:pt x="481645" y="540990"/>
                  <a:pt x="490575" y="545269"/>
                  <a:pt x="498760" y="541920"/>
                </a:cubicBezTo>
                <a:cubicBezTo>
                  <a:pt x="503039" y="540432"/>
                  <a:pt x="507504" y="540432"/>
                  <a:pt x="511783" y="541176"/>
                </a:cubicBezTo>
                <a:cubicBezTo>
                  <a:pt x="518666" y="537642"/>
                  <a:pt x="526666" y="541734"/>
                  <a:pt x="533549" y="538200"/>
                </a:cubicBezTo>
                <a:cubicBezTo>
                  <a:pt x="536525" y="536898"/>
                  <a:pt x="539688" y="536712"/>
                  <a:pt x="542665" y="537456"/>
                </a:cubicBezTo>
                <a:cubicBezTo>
                  <a:pt x="547502" y="534851"/>
                  <a:pt x="553083" y="537456"/>
                  <a:pt x="557919" y="534851"/>
                </a:cubicBezTo>
                <a:cubicBezTo>
                  <a:pt x="559966" y="533735"/>
                  <a:pt x="562198" y="533549"/>
                  <a:pt x="564431" y="534293"/>
                </a:cubicBezTo>
                <a:cubicBezTo>
                  <a:pt x="567593" y="531689"/>
                  <a:pt x="572058" y="533735"/>
                  <a:pt x="575407" y="531316"/>
                </a:cubicBezTo>
                <a:lnTo>
                  <a:pt x="576709" y="530386"/>
                </a:lnTo>
                <a:lnTo>
                  <a:pt x="578383" y="530758"/>
                </a:lnTo>
                <a:cubicBezTo>
                  <a:pt x="581546" y="528154"/>
                  <a:pt x="586197" y="530200"/>
                  <a:pt x="589359" y="527782"/>
                </a:cubicBezTo>
                <a:lnTo>
                  <a:pt x="590848" y="526852"/>
                </a:lnTo>
                <a:lnTo>
                  <a:pt x="592522" y="527224"/>
                </a:lnTo>
                <a:cubicBezTo>
                  <a:pt x="596801" y="523689"/>
                  <a:pt x="602568" y="527410"/>
                  <a:pt x="606847" y="524061"/>
                </a:cubicBezTo>
                <a:cubicBezTo>
                  <a:pt x="607963" y="524061"/>
                  <a:pt x="609265" y="524247"/>
                  <a:pt x="610381" y="524247"/>
                </a:cubicBezTo>
                <a:cubicBezTo>
                  <a:pt x="611684" y="525177"/>
                  <a:pt x="612800" y="525921"/>
                  <a:pt x="614288" y="526666"/>
                </a:cubicBezTo>
                <a:cubicBezTo>
                  <a:pt x="615032" y="528340"/>
                  <a:pt x="616148" y="529456"/>
                  <a:pt x="617823" y="530386"/>
                </a:cubicBezTo>
                <a:cubicBezTo>
                  <a:pt x="619311" y="532619"/>
                  <a:pt x="618753" y="535781"/>
                  <a:pt x="621357" y="537270"/>
                </a:cubicBezTo>
                <a:cubicBezTo>
                  <a:pt x="622102" y="538944"/>
                  <a:pt x="623404" y="540060"/>
                  <a:pt x="625078" y="540804"/>
                </a:cubicBezTo>
                <a:cubicBezTo>
                  <a:pt x="626752" y="540804"/>
                  <a:pt x="628427" y="540618"/>
                  <a:pt x="630101" y="540618"/>
                </a:cubicBezTo>
                <a:cubicBezTo>
                  <a:pt x="632706" y="539316"/>
                  <a:pt x="636054" y="539688"/>
                  <a:pt x="637915" y="537083"/>
                </a:cubicBezTo>
                <a:cubicBezTo>
                  <a:pt x="648891" y="531502"/>
                  <a:pt x="653169" y="538572"/>
                  <a:pt x="656518" y="547315"/>
                </a:cubicBezTo>
                <a:lnTo>
                  <a:pt x="656146" y="546943"/>
                </a:lnTo>
                <a:cubicBezTo>
                  <a:pt x="656332" y="549176"/>
                  <a:pt x="657634" y="550292"/>
                  <a:pt x="659495" y="550850"/>
                </a:cubicBezTo>
                <a:cubicBezTo>
                  <a:pt x="660611" y="553641"/>
                  <a:pt x="664146" y="552896"/>
                  <a:pt x="666006" y="554943"/>
                </a:cubicBezTo>
                <a:cubicBezTo>
                  <a:pt x="668238" y="557175"/>
                  <a:pt x="671401" y="556803"/>
                  <a:pt x="673819" y="558106"/>
                </a:cubicBezTo>
                <a:cubicBezTo>
                  <a:pt x="675680" y="558106"/>
                  <a:pt x="677726" y="558292"/>
                  <a:pt x="679586" y="558292"/>
                </a:cubicBezTo>
                <a:cubicBezTo>
                  <a:pt x="682563" y="555129"/>
                  <a:pt x="687400" y="558106"/>
                  <a:pt x="690190" y="554757"/>
                </a:cubicBezTo>
                <a:lnTo>
                  <a:pt x="690004" y="554757"/>
                </a:lnTo>
                <a:cubicBezTo>
                  <a:pt x="692795" y="552338"/>
                  <a:pt x="695586" y="553455"/>
                  <a:pt x="698562" y="554571"/>
                </a:cubicBezTo>
                <a:lnTo>
                  <a:pt x="699864" y="554199"/>
                </a:lnTo>
                <a:lnTo>
                  <a:pt x="700794" y="555129"/>
                </a:lnTo>
                <a:cubicBezTo>
                  <a:pt x="702097" y="556245"/>
                  <a:pt x="703213" y="557547"/>
                  <a:pt x="705073" y="557547"/>
                </a:cubicBezTo>
                <a:cubicBezTo>
                  <a:pt x="706934" y="560338"/>
                  <a:pt x="709166" y="562570"/>
                  <a:pt x="711771" y="564431"/>
                </a:cubicBezTo>
                <a:cubicBezTo>
                  <a:pt x="712143" y="566291"/>
                  <a:pt x="713445" y="567407"/>
                  <a:pt x="714933" y="568337"/>
                </a:cubicBezTo>
                <a:cubicBezTo>
                  <a:pt x="715677" y="569826"/>
                  <a:pt x="716980" y="570942"/>
                  <a:pt x="718096" y="572058"/>
                </a:cubicBezTo>
                <a:cubicBezTo>
                  <a:pt x="719212" y="573360"/>
                  <a:pt x="720328" y="574477"/>
                  <a:pt x="721816" y="575221"/>
                </a:cubicBezTo>
                <a:cubicBezTo>
                  <a:pt x="724979" y="578755"/>
                  <a:pt x="729816" y="576895"/>
                  <a:pt x="733537" y="578755"/>
                </a:cubicBezTo>
                <a:cubicBezTo>
                  <a:pt x="736513" y="577639"/>
                  <a:pt x="740234" y="578197"/>
                  <a:pt x="741908" y="574477"/>
                </a:cubicBezTo>
                <a:lnTo>
                  <a:pt x="741908" y="572988"/>
                </a:lnTo>
                <a:cubicBezTo>
                  <a:pt x="740234" y="570756"/>
                  <a:pt x="741164" y="567035"/>
                  <a:pt x="738001" y="565919"/>
                </a:cubicBezTo>
                <a:cubicBezTo>
                  <a:pt x="737815" y="563873"/>
                  <a:pt x="736513" y="562756"/>
                  <a:pt x="734839" y="562012"/>
                </a:cubicBezTo>
                <a:cubicBezTo>
                  <a:pt x="736885" y="555501"/>
                  <a:pt x="736885" y="555501"/>
                  <a:pt x="746931" y="557733"/>
                </a:cubicBezTo>
                <a:lnTo>
                  <a:pt x="748233" y="557547"/>
                </a:lnTo>
                <a:lnTo>
                  <a:pt x="749164" y="558478"/>
                </a:lnTo>
                <a:cubicBezTo>
                  <a:pt x="751024" y="560152"/>
                  <a:pt x="754187" y="559222"/>
                  <a:pt x="755675" y="561826"/>
                </a:cubicBezTo>
                <a:lnTo>
                  <a:pt x="755861" y="562012"/>
                </a:lnTo>
                <a:cubicBezTo>
                  <a:pt x="757349" y="562756"/>
                  <a:pt x="758279" y="564431"/>
                  <a:pt x="759954" y="564617"/>
                </a:cubicBezTo>
                <a:cubicBezTo>
                  <a:pt x="761628" y="567593"/>
                  <a:pt x="764977" y="567035"/>
                  <a:pt x="767581" y="568337"/>
                </a:cubicBezTo>
                <a:lnTo>
                  <a:pt x="768883" y="567965"/>
                </a:lnTo>
                <a:lnTo>
                  <a:pt x="769814" y="568896"/>
                </a:lnTo>
                <a:cubicBezTo>
                  <a:pt x="771488" y="570384"/>
                  <a:pt x="773534" y="570384"/>
                  <a:pt x="775395" y="570198"/>
                </a:cubicBezTo>
                <a:cubicBezTo>
                  <a:pt x="775395" y="570756"/>
                  <a:pt x="775581" y="571500"/>
                  <a:pt x="776325" y="572244"/>
                </a:cubicBezTo>
                <a:cubicBezTo>
                  <a:pt x="777441" y="572616"/>
                  <a:pt x="777627" y="573360"/>
                  <a:pt x="777069" y="574477"/>
                </a:cubicBezTo>
                <a:cubicBezTo>
                  <a:pt x="777441" y="575965"/>
                  <a:pt x="778371" y="576895"/>
                  <a:pt x="779859" y="577267"/>
                </a:cubicBezTo>
                <a:cubicBezTo>
                  <a:pt x="779859" y="578011"/>
                  <a:pt x="779859" y="578569"/>
                  <a:pt x="780045" y="579313"/>
                </a:cubicBezTo>
                <a:cubicBezTo>
                  <a:pt x="783394" y="579313"/>
                  <a:pt x="786929" y="579500"/>
                  <a:pt x="790277" y="579500"/>
                </a:cubicBezTo>
                <a:cubicBezTo>
                  <a:pt x="789161" y="583034"/>
                  <a:pt x="788045" y="586383"/>
                  <a:pt x="786929" y="589918"/>
                </a:cubicBezTo>
                <a:cubicBezTo>
                  <a:pt x="789905" y="592522"/>
                  <a:pt x="792882" y="594568"/>
                  <a:pt x="796975" y="592894"/>
                </a:cubicBezTo>
                <a:cubicBezTo>
                  <a:pt x="797161" y="592336"/>
                  <a:pt x="797161" y="591778"/>
                  <a:pt x="797347" y="591406"/>
                </a:cubicBezTo>
                <a:cubicBezTo>
                  <a:pt x="798835" y="591406"/>
                  <a:pt x="799951" y="590662"/>
                  <a:pt x="800695" y="589173"/>
                </a:cubicBezTo>
                <a:cubicBezTo>
                  <a:pt x="800323" y="588429"/>
                  <a:pt x="800323" y="587871"/>
                  <a:pt x="800881" y="587127"/>
                </a:cubicBezTo>
                <a:cubicBezTo>
                  <a:pt x="799951" y="585639"/>
                  <a:pt x="798649" y="584522"/>
                  <a:pt x="798091" y="582848"/>
                </a:cubicBezTo>
                <a:lnTo>
                  <a:pt x="797719" y="582476"/>
                </a:lnTo>
                <a:cubicBezTo>
                  <a:pt x="796603" y="581732"/>
                  <a:pt x="795486" y="581546"/>
                  <a:pt x="794370" y="582104"/>
                </a:cubicBezTo>
                <a:lnTo>
                  <a:pt x="794370" y="581918"/>
                </a:lnTo>
                <a:cubicBezTo>
                  <a:pt x="794556" y="580988"/>
                  <a:pt x="794556" y="580244"/>
                  <a:pt x="793998" y="579500"/>
                </a:cubicBezTo>
                <a:lnTo>
                  <a:pt x="790649" y="579500"/>
                </a:lnTo>
                <a:cubicBezTo>
                  <a:pt x="790649" y="578383"/>
                  <a:pt x="790463" y="577267"/>
                  <a:pt x="790463" y="576151"/>
                </a:cubicBezTo>
                <a:cubicBezTo>
                  <a:pt x="788417" y="575965"/>
                  <a:pt x="787115" y="575035"/>
                  <a:pt x="786557" y="572988"/>
                </a:cubicBezTo>
                <a:cubicBezTo>
                  <a:pt x="785813" y="572802"/>
                  <a:pt x="785068" y="572802"/>
                  <a:pt x="784324" y="572802"/>
                </a:cubicBezTo>
                <a:cubicBezTo>
                  <a:pt x="783208" y="571128"/>
                  <a:pt x="781348" y="570198"/>
                  <a:pt x="779859" y="569082"/>
                </a:cubicBezTo>
                <a:lnTo>
                  <a:pt x="780045" y="569082"/>
                </a:lnTo>
                <a:cubicBezTo>
                  <a:pt x="779301" y="568151"/>
                  <a:pt x="778371" y="567965"/>
                  <a:pt x="777627" y="568337"/>
                </a:cubicBezTo>
                <a:cubicBezTo>
                  <a:pt x="777813" y="567965"/>
                  <a:pt x="777999" y="567407"/>
                  <a:pt x="777999" y="567035"/>
                </a:cubicBezTo>
                <a:cubicBezTo>
                  <a:pt x="777441" y="566477"/>
                  <a:pt x="777069" y="565919"/>
                  <a:pt x="776511" y="565547"/>
                </a:cubicBezTo>
                <a:lnTo>
                  <a:pt x="775767" y="564803"/>
                </a:lnTo>
                <a:lnTo>
                  <a:pt x="776325" y="563873"/>
                </a:lnTo>
                <a:cubicBezTo>
                  <a:pt x="776139" y="561454"/>
                  <a:pt x="775022" y="559966"/>
                  <a:pt x="772790" y="559222"/>
                </a:cubicBezTo>
                <a:cubicBezTo>
                  <a:pt x="776697" y="552525"/>
                  <a:pt x="777813" y="552152"/>
                  <a:pt x="792510" y="554757"/>
                </a:cubicBezTo>
                <a:lnTo>
                  <a:pt x="793440" y="554385"/>
                </a:lnTo>
                <a:lnTo>
                  <a:pt x="794184" y="555129"/>
                </a:lnTo>
                <a:cubicBezTo>
                  <a:pt x="797533" y="558292"/>
                  <a:pt x="802370" y="556059"/>
                  <a:pt x="805904" y="558292"/>
                </a:cubicBezTo>
                <a:lnTo>
                  <a:pt x="807207" y="557919"/>
                </a:lnTo>
                <a:lnTo>
                  <a:pt x="808137" y="558850"/>
                </a:lnTo>
                <a:cubicBezTo>
                  <a:pt x="812416" y="562198"/>
                  <a:pt x="817997" y="559222"/>
                  <a:pt x="822461" y="561640"/>
                </a:cubicBezTo>
                <a:cubicBezTo>
                  <a:pt x="823764" y="564431"/>
                  <a:pt x="827298" y="563687"/>
                  <a:pt x="829159" y="565733"/>
                </a:cubicBezTo>
                <a:cubicBezTo>
                  <a:pt x="830275" y="567035"/>
                  <a:pt x="831391" y="568337"/>
                  <a:pt x="833065" y="568896"/>
                </a:cubicBezTo>
                <a:cubicBezTo>
                  <a:pt x="835670" y="572430"/>
                  <a:pt x="839949" y="573546"/>
                  <a:pt x="843111" y="576337"/>
                </a:cubicBezTo>
                <a:cubicBezTo>
                  <a:pt x="844228" y="577453"/>
                  <a:pt x="845344" y="578941"/>
                  <a:pt x="847018" y="579313"/>
                </a:cubicBezTo>
                <a:cubicBezTo>
                  <a:pt x="848320" y="582104"/>
                  <a:pt x="851855" y="581360"/>
                  <a:pt x="853715" y="583220"/>
                </a:cubicBezTo>
                <a:lnTo>
                  <a:pt x="853529" y="583220"/>
                </a:lnTo>
                <a:cubicBezTo>
                  <a:pt x="855390" y="585453"/>
                  <a:pt x="858552" y="584895"/>
                  <a:pt x="860785" y="586755"/>
                </a:cubicBezTo>
                <a:cubicBezTo>
                  <a:pt x="865622" y="588615"/>
                  <a:pt x="871203" y="592894"/>
                  <a:pt x="873807" y="583778"/>
                </a:cubicBezTo>
                <a:lnTo>
                  <a:pt x="873993" y="584150"/>
                </a:lnTo>
                <a:cubicBezTo>
                  <a:pt x="872691" y="581546"/>
                  <a:pt x="872319" y="578941"/>
                  <a:pt x="874179" y="576337"/>
                </a:cubicBezTo>
                <a:cubicBezTo>
                  <a:pt x="876226" y="574663"/>
                  <a:pt x="879388" y="575035"/>
                  <a:pt x="881249" y="573174"/>
                </a:cubicBezTo>
                <a:lnTo>
                  <a:pt x="882551" y="572430"/>
                </a:lnTo>
                <a:lnTo>
                  <a:pt x="884039" y="572802"/>
                </a:lnTo>
                <a:cubicBezTo>
                  <a:pt x="898550" y="570198"/>
                  <a:pt x="913061" y="570570"/>
                  <a:pt x="927757" y="572802"/>
                </a:cubicBezTo>
                <a:cubicBezTo>
                  <a:pt x="929060" y="571686"/>
                  <a:pt x="930548" y="571500"/>
                  <a:pt x="932036" y="572616"/>
                </a:cubicBezTo>
                <a:cubicBezTo>
                  <a:pt x="934269" y="572430"/>
                  <a:pt x="935757" y="571128"/>
                  <a:pt x="936501" y="569082"/>
                </a:cubicBezTo>
                <a:cubicBezTo>
                  <a:pt x="938361" y="568523"/>
                  <a:pt x="939292" y="567407"/>
                  <a:pt x="940408" y="565919"/>
                </a:cubicBezTo>
                <a:lnTo>
                  <a:pt x="940222" y="566105"/>
                </a:lnTo>
                <a:cubicBezTo>
                  <a:pt x="942268" y="564431"/>
                  <a:pt x="945617" y="564989"/>
                  <a:pt x="947291" y="562570"/>
                </a:cubicBezTo>
                <a:cubicBezTo>
                  <a:pt x="953244" y="560710"/>
                  <a:pt x="959011" y="559594"/>
                  <a:pt x="964778" y="562942"/>
                </a:cubicBezTo>
                <a:cubicBezTo>
                  <a:pt x="966639" y="564803"/>
                  <a:pt x="969987" y="564059"/>
                  <a:pt x="971662" y="566477"/>
                </a:cubicBezTo>
                <a:cubicBezTo>
                  <a:pt x="973894" y="568337"/>
                  <a:pt x="977057" y="568151"/>
                  <a:pt x="979475" y="569640"/>
                </a:cubicBezTo>
                <a:lnTo>
                  <a:pt x="980963" y="569268"/>
                </a:lnTo>
                <a:lnTo>
                  <a:pt x="982266" y="570198"/>
                </a:lnTo>
                <a:cubicBezTo>
                  <a:pt x="989149" y="572430"/>
                  <a:pt x="996218" y="572430"/>
                  <a:pt x="1003102" y="570198"/>
                </a:cubicBezTo>
                <a:lnTo>
                  <a:pt x="1003846" y="569268"/>
                </a:lnTo>
                <a:lnTo>
                  <a:pt x="1005148" y="569454"/>
                </a:lnTo>
                <a:cubicBezTo>
                  <a:pt x="1007380" y="569268"/>
                  <a:pt x="1009055" y="567965"/>
                  <a:pt x="1009799" y="565733"/>
                </a:cubicBezTo>
                <a:lnTo>
                  <a:pt x="1009427" y="566105"/>
                </a:lnTo>
                <a:cubicBezTo>
                  <a:pt x="1015008" y="559222"/>
                  <a:pt x="1010171" y="554571"/>
                  <a:pt x="1006264" y="549548"/>
                </a:cubicBezTo>
                <a:cubicBezTo>
                  <a:pt x="1005520" y="548060"/>
                  <a:pt x="1004776" y="546757"/>
                  <a:pt x="1003846" y="545455"/>
                </a:cubicBezTo>
                <a:cubicBezTo>
                  <a:pt x="1002730" y="544711"/>
                  <a:pt x="1002357" y="543781"/>
                  <a:pt x="1003102" y="542665"/>
                </a:cubicBezTo>
                <a:cubicBezTo>
                  <a:pt x="1002916" y="542665"/>
                  <a:pt x="1002730" y="542106"/>
                  <a:pt x="1002544" y="541176"/>
                </a:cubicBezTo>
                <a:cubicBezTo>
                  <a:pt x="1002357" y="540246"/>
                  <a:pt x="1002730" y="539316"/>
                  <a:pt x="1003474" y="538572"/>
                </a:cubicBezTo>
                <a:cubicBezTo>
                  <a:pt x="1005148" y="536339"/>
                  <a:pt x="1008497" y="537083"/>
                  <a:pt x="1010171" y="534665"/>
                </a:cubicBezTo>
                <a:lnTo>
                  <a:pt x="1009985" y="534851"/>
                </a:lnTo>
                <a:cubicBezTo>
                  <a:pt x="1012217" y="533177"/>
                  <a:pt x="1015194" y="533549"/>
                  <a:pt x="1017240" y="532061"/>
                </a:cubicBezTo>
                <a:lnTo>
                  <a:pt x="1018542" y="531130"/>
                </a:lnTo>
                <a:lnTo>
                  <a:pt x="1020031" y="531502"/>
                </a:lnTo>
                <a:cubicBezTo>
                  <a:pt x="1023379" y="529084"/>
                  <a:pt x="1027844" y="531130"/>
                  <a:pt x="1031193" y="528526"/>
                </a:cubicBezTo>
                <a:cubicBezTo>
                  <a:pt x="1033053" y="528340"/>
                  <a:pt x="1035100" y="527968"/>
                  <a:pt x="1036960" y="527782"/>
                </a:cubicBezTo>
                <a:cubicBezTo>
                  <a:pt x="1041611" y="524991"/>
                  <a:pt x="1047564" y="527968"/>
                  <a:pt x="1052215" y="524805"/>
                </a:cubicBezTo>
                <a:lnTo>
                  <a:pt x="1053517" y="524061"/>
                </a:lnTo>
                <a:lnTo>
                  <a:pt x="1055005" y="524433"/>
                </a:lnTo>
                <a:cubicBezTo>
                  <a:pt x="1058168" y="521829"/>
                  <a:pt x="1062633" y="523875"/>
                  <a:pt x="1065981" y="521643"/>
                </a:cubicBezTo>
                <a:lnTo>
                  <a:pt x="1067284" y="520712"/>
                </a:lnTo>
                <a:lnTo>
                  <a:pt x="1068772" y="520899"/>
                </a:lnTo>
                <a:cubicBezTo>
                  <a:pt x="1071004" y="519224"/>
                  <a:pt x="1074167" y="519596"/>
                  <a:pt x="1076400" y="517922"/>
                </a:cubicBezTo>
                <a:lnTo>
                  <a:pt x="1077144" y="516806"/>
                </a:lnTo>
                <a:lnTo>
                  <a:pt x="1078446" y="516992"/>
                </a:lnTo>
                <a:cubicBezTo>
                  <a:pt x="1080678" y="516806"/>
                  <a:pt x="1081981" y="515503"/>
                  <a:pt x="1083469" y="514015"/>
                </a:cubicBezTo>
                <a:cubicBezTo>
                  <a:pt x="1087376" y="510108"/>
                  <a:pt x="1095003" y="508248"/>
                  <a:pt x="1090166" y="500249"/>
                </a:cubicBezTo>
                <a:lnTo>
                  <a:pt x="1090352" y="500435"/>
                </a:lnTo>
                <a:cubicBezTo>
                  <a:pt x="1088492" y="498202"/>
                  <a:pt x="1085515" y="498388"/>
                  <a:pt x="1083097" y="497272"/>
                </a:cubicBezTo>
                <a:cubicBezTo>
                  <a:pt x="1081608" y="494481"/>
                  <a:pt x="1078260" y="495040"/>
                  <a:pt x="1076027" y="493551"/>
                </a:cubicBezTo>
                <a:cubicBezTo>
                  <a:pt x="1075841" y="493551"/>
                  <a:pt x="1075655" y="492993"/>
                  <a:pt x="1075469" y="492249"/>
                </a:cubicBezTo>
                <a:cubicBezTo>
                  <a:pt x="1075283" y="491319"/>
                  <a:pt x="1075655" y="490575"/>
                  <a:pt x="1076400" y="489831"/>
                </a:cubicBezTo>
                <a:cubicBezTo>
                  <a:pt x="1087934" y="488342"/>
                  <a:pt x="1099654" y="488528"/>
                  <a:pt x="1111188" y="489831"/>
                </a:cubicBezTo>
                <a:cubicBezTo>
                  <a:pt x="1130908" y="492249"/>
                  <a:pt x="1150627" y="492063"/>
                  <a:pt x="1170347" y="489831"/>
                </a:cubicBezTo>
                <a:cubicBezTo>
                  <a:pt x="1173510" y="489645"/>
                  <a:pt x="1176672" y="489459"/>
                  <a:pt x="1180021" y="489273"/>
                </a:cubicBezTo>
                <a:cubicBezTo>
                  <a:pt x="1183184" y="487040"/>
                  <a:pt x="1186532" y="488342"/>
                  <a:pt x="1189695" y="489273"/>
                </a:cubicBezTo>
                <a:cubicBezTo>
                  <a:pt x="1190811" y="487784"/>
                  <a:pt x="1191741" y="487784"/>
                  <a:pt x="1192857" y="489273"/>
                </a:cubicBezTo>
                <a:cubicBezTo>
                  <a:pt x="1196764" y="487412"/>
                  <a:pt x="1201415" y="488900"/>
                  <a:pt x="1205136" y="486296"/>
                </a:cubicBezTo>
                <a:cubicBezTo>
                  <a:pt x="1207926" y="483133"/>
                  <a:pt x="1212763" y="485738"/>
                  <a:pt x="1215740" y="482947"/>
                </a:cubicBezTo>
                <a:lnTo>
                  <a:pt x="1215926" y="482947"/>
                </a:lnTo>
                <a:cubicBezTo>
                  <a:pt x="1222437" y="480529"/>
                  <a:pt x="1226158" y="476622"/>
                  <a:pt x="1223739" y="468995"/>
                </a:cubicBezTo>
                <a:cubicBezTo>
                  <a:pt x="1222437" y="468809"/>
                  <a:pt x="1221879" y="468064"/>
                  <a:pt x="1222251" y="466762"/>
                </a:cubicBezTo>
                <a:cubicBezTo>
                  <a:pt x="1221879" y="464716"/>
                  <a:pt x="1220577" y="463228"/>
                  <a:pt x="1219088" y="461925"/>
                </a:cubicBezTo>
                <a:cubicBezTo>
                  <a:pt x="1217972" y="460809"/>
                  <a:pt x="1216856" y="459321"/>
                  <a:pt x="1215368" y="458763"/>
                </a:cubicBezTo>
                <a:cubicBezTo>
                  <a:pt x="1215182" y="458763"/>
                  <a:pt x="1214810" y="458391"/>
                  <a:pt x="1214624" y="457460"/>
                </a:cubicBezTo>
                <a:cubicBezTo>
                  <a:pt x="1214438" y="456716"/>
                  <a:pt x="1214810" y="455972"/>
                  <a:pt x="1215554" y="455228"/>
                </a:cubicBezTo>
                <a:cubicBezTo>
                  <a:pt x="1217600" y="455042"/>
                  <a:pt x="1219460" y="454856"/>
                  <a:pt x="1221507" y="454484"/>
                </a:cubicBezTo>
                <a:cubicBezTo>
                  <a:pt x="1226158" y="451507"/>
                  <a:pt x="1231925" y="454670"/>
                  <a:pt x="1236390" y="451507"/>
                </a:cubicBezTo>
                <a:lnTo>
                  <a:pt x="1237878" y="450763"/>
                </a:lnTo>
                <a:lnTo>
                  <a:pt x="1239552" y="451135"/>
                </a:lnTo>
                <a:cubicBezTo>
                  <a:pt x="1243831" y="447601"/>
                  <a:pt x="1249598" y="451321"/>
                  <a:pt x="1253877" y="447973"/>
                </a:cubicBezTo>
                <a:cubicBezTo>
                  <a:pt x="1255551" y="447787"/>
                  <a:pt x="1257412" y="447601"/>
                  <a:pt x="1259086" y="447229"/>
                </a:cubicBezTo>
                <a:cubicBezTo>
                  <a:pt x="1264109" y="444810"/>
                  <a:pt x="1269876" y="447229"/>
                  <a:pt x="1274713" y="444438"/>
                </a:cubicBezTo>
                <a:cubicBezTo>
                  <a:pt x="1277503" y="443322"/>
                  <a:pt x="1280480" y="442764"/>
                  <a:pt x="1283457" y="443694"/>
                </a:cubicBezTo>
                <a:cubicBezTo>
                  <a:pt x="1288108" y="442020"/>
                  <a:pt x="1293130" y="442392"/>
                  <a:pt x="1297967" y="442392"/>
                </a:cubicBezTo>
                <a:lnTo>
                  <a:pt x="1297595" y="443136"/>
                </a:lnTo>
                <a:lnTo>
                  <a:pt x="1298525" y="444438"/>
                </a:lnTo>
                <a:lnTo>
                  <a:pt x="1298898" y="444624"/>
                </a:lnTo>
                <a:cubicBezTo>
                  <a:pt x="1300014" y="445182"/>
                  <a:pt x="1301130" y="445368"/>
                  <a:pt x="1302432" y="444810"/>
                </a:cubicBezTo>
                <a:cubicBezTo>
                  <a:pt x="1305595" y="442578"/>
                  <a:pt x="1310990" y="445926"/>
                  <a:pt x="1313036" y="440531"/>
                </a:cubicBezTo>
                <a:cubicBezTo>
                  <a:pt x="1311920" y="439415"/>
                  <a:pt x="1310804" y="438299"/>
                  <a:pt x="1309688" y="436997"/>
                </a:cubicBezTo>
                <a:cubicBezTo>
                  <a:pt x="1307269" y="436997"/>
                  <a:pt x="1304851" y="437183"/>
                  <a:pt x="1302246" y="437183"/>
                </a:cubicBezTo>
                <a:lnTo>
                  <a:pt x="1302618" y="436439"/>
                </a:lnTo>
                <a:cubicBezTo>
                  <a:pt x="1301130" y="435694"/>
                  <a:pt x="1299828" y="434764"/>
                  <a:pt x="1298712" y="433648"/>
                </a:cubicBezTo>
                <a:lnTo>
                  <a:pt x="1298898" y="433648"/>
                </a:lnTo>
                <a:cubicBezTo>
                  <a:pt x="1297223" y="432160"/>
                  <a:pt x="1297967" y="430485"/>
                  <a:pt x="1298525" y="428811"/>
                </a:cubicBezTo>
                <a:cubicBezTo>
                  <a:pt x="1297967" y="427695"/>
                  <a:pt x="1298339" y="426951"/>
                  <a:pt x="1299456" y="426579"/>
                </a:cubicBezTo>
                <a:cubicBezTo>
                  <a:pt x="1300386" y="425462"/>
                  <a:pt x="1301130" y="424160"/>
                  <a:pt x="1302060" y="422858"/>
                </a:cubicBezTo>
                <a:cubicBezTo>
                  <a:pt x="1303734" y="421928"/>
                  <a:pt x="1303920" y="419509"/>
                  <a:pt x="1306153" y="419323"/>
                </a:cubicBezTo>
                <a:lnTo>
                  <a:pt x="1312478" y="419323"/>
                </a:lnTo>
                <a:cubicBezTo>
                  <a:pt x="1314338" y="418393"/>
                  <a:pt x="1315641" y="416905"/>
                  <a:pt x="1316199" y="415044"/>
                </a:cubicBezTo>
                <a:lnTo>
                  <a:pt x="1316199" y="413742"/>
                </a:lnTo>
                <a:cubicBezTo>
                  <a:pt x="1315455" y="412068"/>
                  <a:pt x="1315083" y="410580"/>
                  <a:pt x="1316385" y="409091"/>
                </a:cubicBezTo>
                <a:cubicBezTo>
                  <a:pt x="1317687" y="408161"/>
                  <a:pt x="1318803" y="407231"/>
                  <a:pt x="1320106" y="406301"/>
                </a:cubicBezTo>
                <a:cubicBezTo>
                  <a:pt x="1321780" y="404813"/>
                  <a:pt x="1323640" y="404627"/>
                  <a:pt x="1325687" y="405371"/>
                </a:cubicBezTo>
                <a:cubicBezTo>
                  <a:pt x="1331640" y="402580"/>
                  <a:pt x="1338523" y="405557"/>
                  <a:pt x="1344476" y="402766"/>
                </a:cubicBezTo>
                <a:cubicBezTo>
                  <a:pt x="1350801" y="401278"/>
                  <a:pt x="1357127" y="401092"/>
                  <a:pt x="1363638" y="402022"/>
                </a:cubicBezTo>
                <a:cubicBezTo>
                  <a:pt x="1366614" y="401278"/>
                  <a:pt x="1369591" y="400720"/>
                  <a:pt x="1372381" y="399417"/>
                </a:cubicBezTo>
                <a:cubicBezTo>
                  <a:pt x="1378893" y="397743"/>
                  <a:pt x="1385590" y="397929"/>
                  <a:pt x="1392101" y="398673"/>
                </a:cubicBezTo>
                <a:cubicBezTo>
                  <a:pt x="1399171" y="395325"/>
                  <a:pt x="1406984" y="399045"/>
                  <a:pt x="1414053" y="395883"/>
                </a:cubicBezTo>
                <a:cubicBezTo>
                  <a:pt x="1417030" y="394581"/>
                  <a:pt x="1420006" y="394395"/>
                  <a:pt x="1423169" y="394953"/>
                </a:cubicBezTo>
                <a:cubicBezTo>
                  <a:pt x="1426890" y="393092"/>
                  <a:pt x="1431355" y="394395"/>
                  <a:pt x="1434889" y="392348"/>
                </a:cubicBezTo>
                <a:lnTo>
                  <a:pt x="1436378" y="391418"/>
                </a:lnTo>
                <a:lnTo>
                  <a:pt x="1438052" y="391790"/>
                </a:lnTo>
                <a:cubicBezTo>
                  <a:pt x="1441028" y="388814"/>
                  <a:pt x="1446051" y="391790"/>
                  <a:pt x="1448656" y="387883"/>
                </a:cubicBezTo>
                <a:cubicBezTo>
                  <a:pt x="1456283" y="383791"/>
                  <a:pt x="1454981" y="379140"/>
                  <a:pt x="1449028" y="374303"/>
                </a:cubicBezTo>
                <a:lnTo>
                  <a:pt x="1448842" y="374117"/>
                </a:lnTo>
                <a:cubicBezTo>
                  <a:pt x="1447354" y="372814"/>
                  <a:pt x="1445865" y="371512"/>
                  <a:pt x="1443633" y="371326"/>
                </a:cubicBezTo>
                <a:cubicBezTo>
                  <a:pt x="1441773" y="371140"/>
                  <a:pt x="1440098" y="370768"/>
                  <a:pt x="1438238" y="370582"/>
                </a:cubicBezTo>
                <a:cubicBezTo>
                  <a:pt x="1432099" y="367420"/>
                  <a:pt x="1425215" y="370582"/>
                  <a:pt x="1419076" y="367791"/>
                </a:cubicBezTo>
                <a:cubicBezTo>
                  <a:pt x="1414984" y="368722"/>
                  <a:pt x="1410891" y="368350"/>
                  <a:pt x="1406984" y="367233"/>
                </a:cubicBezTo>
                <a:cubicBezTo>
                  <a:pt x="1397310" y="363513"/>
                  <a:pt x="1387078" y="367978"/>
                  <a:pt x="1377404" y="364257"/>
                </a:cubicBezTo>
                <a:cubicBezTo>
                  <a:pt x="1373312" y="365373"/>
                  <a:pt x="1369219" y="365001"/>
                  <a:pt x="1365126" y="363513"/>
                </a:cubicBezTo>
                <a:cubicBezTo>
                  <a:pt x="1361591" y="361280"/>
                  <a:pt x="1357127" y="362769"/>
                  <a:pt x="1353406" y="360908"/>
                </a:cubicBezTo>
                <a:cubicBezTo>
                  <a:pt x="1351359" y="361652"/>
                  <a:pt x="1349499" y="361280"/>
                  <a:pt x="1347639" y="360164"/>
                </a:cubicBezTo>
                <a:cubicBezTo>
                  <a:pt x="1339267" y="356815"/>
                  <a:pt x="1330338" y="360908"/>
                  <a:pt x="1321966" y="357560"/>
                </a:cubicBezTo>
                <a:cubicBezTo>
                  <a:pt x="1320106" y="357374"/>
                  <a:pt x="1318245" y="357188"/>
                  <a:pt x="1316199" y="357001"/>
                </a:cubicBezTo>
                <a:cubicBezTo>
                  <a:pt x="1310618" y="353467"/>
                  <a:pt x="1303734" y="357560"/>
                  <a:pt x="1298153" y="354025"/>
                </a:cubicBezTo>
                <a:lnTo>
                  <a:pt x="1268202" y="354025"/>
                </a:lnTo>
                <a:cubicBezTo>
                  <a:pt x="1263923" y="357374"/>
                  <a:pt x="1257970" y="353653"/>
                  <a:pt x="1253691" y="357374"/>
                </a:cubicBezTo>
                <a:lnTo>
                  <a:pt x="1253877" y="357374"/>
                </a:lnTo>
                <a:cubicBezTo>
                  <a:pt x="1250900" y="360350"/>
                  <a:pt x="1246250" y="357746"/>
                  <a:pt x="1243273" y="360536"/>
                </a:cubicBezTo>
                <a:cubicBezTo>
                  <a:pt x="1239180" y="363141"/>
                  <a:pt x="1234529" y="361280"/>
                  <a:pt x="1230251" y="361466"/>
                </a:cubicBezTo>
                <a:cubicBezTo>
                  <a:pt x="1223925" y="363885"/>
                  <a:pt x="1217600" y="366303"/>
                  <a:pt x="1211275" y="361280"/>
                </a:cubicBezTo>
                <a:cubicBezTo>
                  <a:pt x="1206996" y="361280"/>
                  <a:pt x="1202903" y="361280"/>
                  <a:pt x="1198625" y="361466"/>
                </a:cubicBezTo>
                <a:cubicBezTo>
                  <a:pt x="1196020" y="361094"/>
                  <a:pt x="1193602" y="360722"/>
                  <a:pt x="1190997" y="360350"/>
                </a:cubicBezTo>
                <a:cubicBezTo>
                  <a:pt x="1190439" y="359606"/>
                  <a:pt x="1189881" y="358676"/>
                  <a:pt x="1189137" y="357932"/>
                </a:cubicBezTo>
                <a:cubicBezTo>
                  <a:pt x="1189695" y="357932"/>
                  <a:pt x="1190439" y="357746"/>
                  <a:pt x="1190997" y="357560"/>
                </a:cubicBezTo>
                <a:cubicBezTo>
                  <a:pt x="1191555" y="355885"/>
                  <a:pt x="1190997" y="354769"/>
                  <a:pt x="1190067" y="353653"/>
                </a:cubicBezTo>
                <a:cubicBezTo>
                  <a:pt x="1191741" y="352723"/>
                  <a:pt x="1193230" y="351793"/>
                  <a:pt x="1194346" y="350304"/>
                </a:cubicBezTo>
                <a:lnTo>
                  <a:pt x="1195648" y="349374"/>
                </a:lnTo>
                <a:lnTo>
                  <a:pt x="1196950" y="349932"/>
                </a:lnTo>
                <a:cubicBezTo>
                  <a:pt x="1202531" y="346211"/>
                  <a:pt x="1209787" y="350862"/>
                  <a:pt x="1215182" y="346397"/>
                </a:cubicBezTo>
                <a:lnTo>
                  <a:pt x="1214996" y="346584"/>
                </a:lnTo>
                <a:cubicBezTo>
                  <a:pt x="1216112" y="345653"/>
                  <a:pt x="1217414" y="344723"/>
                  <a:pt x="1218716" y="343979"/>
                </a:cubicBezTo>
                <a:cubicBezTo>
                  <a:pt x="1220391" y="342305"/>
                  <a:pt x="1222251" y="342119"/>
                  <a:pt x="1224297" y="342863"/>
                </a:cubicBezTo>
                <a:cubicBezTo>
                  <a:pt x="1227088" y="341747"/>
                  <a:pt x="1230251" y="341747"/>
                  <a:pt x="1232669" y="339700"/>
                </a:cubicBezTo>
                <a:cubicBezTo>
                  <a:pt x="1234529" y="337654"/>
                  <a:pt x="1237878" y="338398"/>
                  <a:pt x="1239552" y="335794"/>
                </a:cubicBezTo>
                <a:lnTo>
                  <a:pt x="1239366" y="335980"/>
                </a:lnTo>
                <a:cubicBezTo>
                  <a:pt x="1241599" y="334305"/>
                  <a:pt x="1244761" y="334863"/>
                  <a:pt x="1246808" y="332631"/>
                </a:cubicBezTo>
                <a:cubicBezTo>
                  <a:pt x="1249412" y="329282"/>
                  <a:pt x="1255365" y="333189"/>
                  <a:pt x="1256854" y="327608"/>
                </a:cubicBezTo>
                <a:cubicBezTo>
                  <a:pt x="1259272" y="323515"/>
                  <a:pt x="1262993" y="325190"/>
                  <a:pt x="1266527" y="325375"/>
                </a:cubicBezTo>
                <a:cubicBezTo>
                  <a:pt x="1268946" y="322957"/>
                  <a:pt x="1276201" y="326306"/>
                  <a:pt x="1274713" y="318864"/>
                </a:cubicBezTo>
                <a:cubicBezTo>
                  <a:pt x="1271550" y="315888"/>
                  <a:pt x="1266899" y="318306"/>
                  <a:pt x="1263737" y="315516"/>
                </a:cubicBezTo>
                <a:cubicBezTo>
                  <a:pt x="1262621" y="316260"/>
                  <a:pt x="1261690" y="316074"/>
                  <a:pt x="1260760" y="315144"/>
                </a:cubicBezTo>
                <a:cubicBezTo>
                  <a:pt x="1254807" y="311795"/>
                  <a:pt x="1247738" y="315144"/>
                  <a:pt x="1241599" y="312167"/>
                </a:cubicBezTo>
                <a:cubicBezTo>
                  <a:pt x="1227088" y="312353"/>
                  <a:pt x="1212577" y="313283"/>
                  <a:pt x="1198066" y="311237"/>
                </a:cubicBezTo>
                <a:cubicBezTo>
                  <a:pt x="1196764" y="310493"/>
                  <a:pt x="1195648" y="309190"/>
                  <a:pt x="1194160" y="308632"/>
                </a:cubicBezTo>
                <a:cubicBezTo>
                  <a:pt x="1193416" y="307330"/>
                  <a:pt x="1192485" y="306586"/>
                  <a:pt x="1190997" y="306400"/>
                </a:cubicBezTo>
                <a:cubicBezTo>
                  <a:pt x="1190997" y="306028"/>
                  <a:pt x="1190811" y="305470"/>
                  <a:pt x="1190811" y="305098"/>
                </a:cubicBezTo>
                <a:cubicBezTo>
                  <a:pt x="1190067" y="304912"/>
                  <a:pt x="1189323" y="304912"/>
                  <a:pt x="1188579" y="304726"/>
                </a:cubicBezTo>
                <a:cubicBezTo>
                  <a:pt x="1187835" y="299889"/>
                  <a:pt x="1190997" y="296726"/>
                  <a:pt x="1193788" y="293377"/>
                </a:cubicBezTo>
                <a:cubicBezTo>
                  <a:pt x="1196950" y="291517"/>
                  <a:pt x="1196950" y="289843"/>
                  <a:pt x="1193788" y="287982"/>
                </a:cubicBezTo>
                <a:cubicBezTo>
                  <a:pt x="1190253" y="282587"/>
                  <a:pt x="1183742" y="287424"/>
                  <a:pt x="1179649" y="284076"/>
                </a:cubicBezTo>
                <a:cubicBezTo>
                  <a:pt x="1172952" y="284634"/>
                  <a:pt x="1166440" y="284820"/>
                  <a:pt x="1159929" y="283332"/>
                </a:cubicBezTo>
                <a:cubicBezTo>
                  <a:pt x="1153232" y="281471"/>
                  <a:pt x="1146535" y="279983"/>
                  <a:pt x="1139651" y="279239"/>
                </a:cubicBezTo>
                <a:cubicBezTo>
                  <a:pt x="1140023" y="279053"/>
                  <a:pt x="1140396" y="279053"/>
                  <a:pt x="1140954" y="278867"/>
                </a:cubicBezTo>
                <a:cubicBezTo>
                  <a:pt x="1142628" y="278309"/>
                  <a:pt x="1143558" y="275518"/>
                  <a:pt x="1144860" y="273844"/>
                </a:cubicBezTo>
                <a:cubicBezTo>
                  <a:pt x="1143000" y="273472"/>
                  <a:pt x="1141140" y="273286"/>
                  <a:pt x="1139093" y="272914"/>
                </a:cubicBezTo>
                <a:cubicBezTo>
                  <a:pt x="1137419" y="273472"/>
                  <a:pt x="1135373" y="273100"/>
                  <a:pt x="1133512" y="273100"/>
                </a:cubicBezTo>
                <a:cubicBezTo>
                  <a:pt x="1135373" y="272355"/>
                  <a:pt x="1137233" y="271425"/>
                  <a:pt x="1139093" y="269937"/>
                </a:cubicBezTo>
                <a:cubicBezTo>
                  <a:pt x="1147651" y="269193"/>
                  <a:pt x="1156395" y="266774"/>
                  <a:pt x="1164952" y="269565"/>
                </a:cubicBezTo>
                <a:cubicBezTo>
                  <a:pt x="1177230" y="266774"/>
                  <a:pt x="1189509" y="268077"/>
                  <a:pt x="1201787" y="268821"/>
                </a:cubicBezTo>
                <a:cubicBezTo>
                  <a:pt x="1203648" y="268449"/>
                  <a:pt x="1205136" y="267519"/>
                  <a:pt x="1206438" y="266402"/>
                </a:cubicBezTo>
                <a:cubicBezTo>
                  <a:pt x="1206996" y="266588"/>
                  <a:pt x="1207554" y="266774"/>
                  <a:pt x="1208112" y="266774"/>
                </a:cubicBezTo>
                <a:cubicBezTo>
                  <a:pt x="1204020" y="269193"/>
                  <a:pt x="1200299" y="272169"/>
                  <a:pt x="1198439" y="277006"/>
                </a:cubicBezTo>
                <a:cubicBezTo>
                  <a:pt x="1198997" y="277751"/>
                  <a:pt x="1198997" y="278681"/>
                  <a:pt x="1198625" y="279425"/>
                </a:cubicBezTo>
                <a:cubicBezTo>
                  <a:pt x="1199555" y="281471"/>
                  <a:pt x="1200857" y="282774"/>
                  <a:pt x="1203089" y="283332"/>
                </a:cubicBezTo>
                <a:cubicBezTo>
                  <a:pt x="1204950" y="283518"/>
                  <a:pt x="1206996" y="283890"/>
                  <a:pt x="1208856" y="284076"/>
                </a:cubicBezTo>
                <a:cubicBezTo>
                  <a:pt x="1215740" y="286122"/>
                  <a:pt x="1222809" y="286122"/>
                  <a:pt x="1229692" y="284076"/>
                </a:cubicBezTo>
                <a:lnTo>
                  <a:pt x="1239738" y="283518"/>
                </a:lnTo>
                <a:cubicBezTo>
                  <a:pt x="1242901" y="280727"/>
                  <a:pt x="1247366" y="282959"/>
                  <a:pt x="1250528" y="280541"/>
                </a:cubicBezTo>
                <a:lnTo>
                  <a:pt x="1251645" y="279611"/>
                </a:lnTo>
                <a:lnTo>
                  <a:pt x="1253133" y="279797"/>
                </a:lnTo>
                <a:cubicBezTo>
                  <a:pt x="1254993" y="279239"/>
                  <a:pt x="1256295" y="277937"/>
                  <a:pt x="1257598" y="276634"/>
                </a:cubicBezTo>
                <a:cubicBezTo>
                  <a:pt x="1261318" y="271239"/>
                  <a:pt x="1257598" y="268821"/>
                  <a:pt x="1253691" y="266402"/>
                </a:cubicBezTo>
                <a:cubicBezTo>
                  <a:pt x="1252575" y="266960"/>
                  <a:pt x="1251459" y="266588"/>
                  <a:pt x="1250714" y="265658"/>
                </a:cubicBezTo>
                <a:cubicBezTo>
                  <a:pt x="1241599" y="262124"/>
                  <a:pt x="1231739" y="266774"/>
                  <a:pt x="1222623" y="262868"/>
                </a:cubicBezTo>
                <a:cubicBezTo>
                  <a:pt x="1221135" y="261751"/>
                  <a:pt x="1219647" y="261565"/>
                  <a:pt x="1218158" y="261938"/>
                </a:cubicBezTo>
                <a:cubicBezTo>
                  <a:pt x="1218158" y="259891"/>
                  <a:pt x="1217786" y="257659"/>
                  <a:pt x="1219088" y="255984"/>
                </a:cubicBezTo>
                <a:cubicBezTo>
                  <a:pt x="1219460" y="255798"/>
                  <a:pt x="1219647" y="255798"/>
                  <a:pt x="1220019" y="255612"/>
                </a:cubicBezTo>
                <a:lnTo>
                  <a:pt x="1221135" y="255612"/>
                </a:lnTo>
                <a:lnTo>
                  <a:pt x="1222809" y="255798"/>
                </a:lnTo>
                <a:cubicBezTo>
                  <a:pt x="1223181" y="255240"/>
                  <a:pt x="1223367" y="254868"/>
                  <a:pt x="1223553" y="254310"/>
                </a:cubicBezTo>
                <a:cubicBezTo>
                  <a:pt x="1223925" y="254310"/>
                  <a:pt x="1224111" y="254124"/>
                  <a:pt x="1224483" y="253938"/>
                </a:cubicBezTo>
                <a:cubicBezTo>
                  <a:pt x="1228576" y="253380"/>
                  <a:pt x="1232855" y="254682"/>
                  <a:pt x="1236762" y="252450"/>
                </a:cubicBezTo>
                <a:lnTo>
                  <a:pt x="1236390" y="251706"/>
                </a:lnTo>
                <a:cubicBezTo>
                  <a:pt x="1238808" y="250961"/>
                  <a:pt x="1241599" y="250589"/>
                  <a:pt x="1244389" y="250403"/>
                </a:cubicBezTo>
                <a:cubicBezTo>
                  <a:pt x="1241971" y="251334"/>
                  <a:pt x="1239366" y="251706"/>
                  <a:pt x="1236390" y="251706"/>
                </a:cubicBezTo>
                <a:cubicBezTo>
                  <a:pt x="1250156" y="253566"/>
                  <a:pt x="1264109" y="252264"/>
                  <a:pt x="1277876" y="252078"/>
                </a:cubicBezTo>
                <a:cubicBezTo>
                  <a:pt x="1279178" y="241846"/>
                  <a:pt x="1265783" y="250961"/>
                  <a:pt x="1265411" y="242962"/>
                </a:cubicBezTo>
                <a:cubicBezTo>
                  <a:pt x="1266527" y="243148"/>
                  <a:pt x="1267458" y="242962"/>
                  <a:pt x="1268202" y="242032"/>
                </a:cubicBezTo>
                <a:lnTo>
                  <a:pt x="1268388" y="241846"/>
                </a:lnTo>
                <a:cubicBezTo>
                  <a:pt x="1269876" y="239985"/>
                  <a:pt x="1268946" y="237009"/>
                  <a:pt x="1271550" y="235521"/>
                </a:cubicBezTo>
                <a:cubicBezTo>
                  <a:pt x="1277131" y="235148"/>
                  <a:pt x="1282899" y="234776"/>
                  <a:pt x="1288480" y="234404"/>
                </a:cubicBezTo>
                <a:cubicBezTo>
                  <a:pt x="1300200" y="234776"/>
                  <a:pt x="1311920" y="234962"/>
                  <a:pt x="1323640" y="235334"/>
                </a:cubicBezTo>
                <a:cubicBezTo>
                  <a:pt x="1324384" y="235893"/>
                  <a:pt x="1324942" y="236823"/>
                  <a:pt x="1325501" y="237567"/>
                </a:cubicBezTo>
                <a:cubicBezTo>
                  <a:pt x="1324756" y="237567"/>
                  <a:pt x="1324198" y="237939"/>
                  <a:pt x="1323826" y="239055"/>
                </a:cubicBezTo>
                <a:cubicBezTo>
                  <a:pt x="1331268" y="243334"/>
                  <a:pt x="1332942" y="243148"/>
                  <a:pt x="1334058" y="237753"/>
                </a:cubicBezTo>
                <a:cubicBezTo>
                  <a:pt x="1333500" y="237381"/>
                  <a:pt x="1333128" y="237195"/>
                  <a:pt x="1332570" y="237195"/>
                </a:cubicBezTo>
                <a:cubicBezTo>
                  <a:pt x="1332942" y="236451"/>
                  <a:pt x="1333500" y="235707"/>
                  <a:pt x="1334058" y="234962"/>
                </a:cubicBezTo>
                <a:cubicBezTo>
                  <a:pt x="1350243" y="234962"/>
                  <a:pt x="1366242" y="234776"/>
                  <a:pt x="1382427" y="234776"/>
                </a:cubicBezTo>
                <a:cubicBezTo>
                  <a:pt x="1383171" y="233846"/>
                  <a:pt x="1383544" y="232916"/>
                  <a:pt x="1383358" y="232172"/>
                </a:cubicBezTo>
                <a:cubicBezTo>
                  <a:pt x="1384288" y="232916"/>
                  <a:pt x="1385404" y="232916"/>
                  <a:pt x="1386334" y="231986"/>
                </a:cubicBezTo>
                <a:lnTo>
                  <a:pt x="1389683" y="230870"/>
                </a:lnTo>
                <a:cubicBezTo>
                  <a:pt x="1401961" y="231056"/>
                  <a:pt x="1414239" y="231428"/>
                  <a:pt x="1426518" y="231428"/>
                </a:cubicBezTo>
                <a:cubicBezTo>
                  <a:pt x="1428564" y="231428"/>
                  <a:pt x="1432657" y="232730"/>
                  <a:pt x="1431727" y="227707"/>
                </a:cubicBezTo>
                <a:cubicBezTo>
                  <a:pt x="1430796" y="226219"/>
                  <a:pt x="1429680" y="226033"/>
                  <a:pt x="1428378" y="227149"/>
                </a:cubicBezTo>
                <a:cubicBezTo>
                  <a:pt x="1415355" y="227521"/>
                  <a:pt x="1402519" y="228079"/>
                  <a:pt x="1389497" y="228451"/>
                </a:cubicBezTo>
                <a:cubicBezTo>
                  <a:pt x="1386148" y="228079"/>
                  <a:pt x="1382613" y="227707"/>
                  <a:pt x="1379265" y="227149"/>
                </a:cubicBezTo>
                <a:cubicBezTo>
                  <a:pt x="1377590" y="226591"/>
                  <a:pt x="1375730" y="225847"/>
                  <a:pt x="1374056" y="225103"/>
                </a:cubicBezTo>
                <a:cubicBezTo>
                  <a:pt x="1372567" y="224731"/>
                  <a:pt x="1371079" y="224358"/>
                  <a:pt x="1369591" y="224172"/>
                </a:cubicBezTo>
                <a:cubicBezTo>
                  <a:pt x="1371079" y="223986"/>
                  <a:pt x="1372195" y="223242"/>
                  <a:pt x="1372567" y="220824"/>
                </a:cubicBezTo>
                <a:cubicBezTo>
                  <a:pt x="1371823" y="220638"/>
                  <a:pt x="1370893" y="220452"/>
                  <a:pt x="1370149" y="220452"/>
                </a:cubicBezTo>
                <a:cubicBezTo>
                  <a:pt x="1370149" y="219149"/>
                  <a:pt x="1369405" y="218219"/>
                  <a:pt x="1368103" y="217847"/>
                </a:cubicBezTo>
                <a:cubicBezTo>
                  <a:pt x="1364940" y="217847"/>
                  <a:pt x="1361963" y="217661"/>
                  <a:pt x="1358801" y="217661"/>
                </a:cubicBezTo>
                <a:cubicBezTo>
                  <a:pt x="1358615" y="220638"/>
                  <a:pt x="1359359" y="222312"/>
                  <a:pt x="1360847" y="223242"/>
                </a:cubicBezTo>
                <a:cubicBezTo>
                  <a:pt x="1358057" y="223056"/>
                  <a:pt x="1355452" y="223242"/>
                  <a:pt x="1352662" y="223614"/>
                </a:cubicBezTo>
                <a:cubicBezTo>
                  <a:pt x="1353592" y="222684"/>
                  <a:pt x="1354150" y="220824"/>
                  <a:pt x="1354150" y="218033"/>
                </a:cubicBezTo>
                <a:lnTo>
                  <a:pt x="1337593" y="218033"/>
                </a:lnTo>
                <a:cubicBezTo>
                  <a:pt x="1336291" y="217661"/>
                  <a:pt x="1335174" y="217289"/>
                  <a:pt x="1333872" y="216731"/>
                </a:cubicBezTo>
                <a:cubicBezTo>
                  <a:pt x="1332756" y="216173"/>
                  <a:pt x="1331640" y="216173"/>
                  <a:pt x="1330524" y="216917"/>
                </a:cubicBezTo>
                <a:cubicBezTo>
                  <a:pt x="1328105" y="216917"/>
                  <a:pt x="1325687" y="216731"/>
                  <a:pt x="1323454" y="216731"/>
                </a:cubicBezTo>
                <a:cubicBezTo>
                  <a:pt x="1322338" y="216359"/>
                  <a:pt x="1321222" y="216359"/>
                  <a:pt x="1319919" y="216545"/>
                </a:cubicBezTo>
                <a:lnTo>
                  <a:pt x="1320106" y="217847"/>
                </a:lnTo>
                <a:lnTo>
                  <a:pt x="1299828" y="217847"/>
                </a:lnTo>
                <a:cubicBezTo>
                  <a:pt x="1297967" y="218405"/>
                  <a:pt x="1295921" y="218963"/>
                  <a:pt x="1294991" y="220638"/>
                </a:cubicBezTo>
                <a:cubicBezTo>
                  <a:pt x="1294247" y="220452"/>
                  <a:pt x="1293689" y="220266"/>
                  <a:pt x="1292944" y="220452"/>
                </a:cubicBezTo>
                <a:cubicBezTo>
                  <a:pt x="1292200" y="218405"/>
                  <a:pt x="1290712" y="217475"/>
                  <a:pt x="1288666" y="217847"/>
                </a:cubicBezTo>
                <a:cubicBezTo>
                  <a:pt x="1286433" y="217661"/>
                  <a:pt x="1284201" y="217661"/>
                  <a:pt x="1281782" y="217475"/>
                </a:cubicBezTo>
                <a:cubicBezTo>
                  <a:pt x="1280852" y="218405"/>
                  <a:pt x="1279922" y="219149"/>
                  <a:pt x="1278992" y="220080"/>
                </a:cubicBezTo>
                <a:cubicBezTo>
                  <a:pt x="1279178" y="219149"/>
                  <a:pt x="1278806" y="218219"/>
                  <a:pt x="1278434" y="217289"/>
                </a:cubicBezTo>
                <a:lnTo>
                  <a:pt x="1269318" y="217289"/>
                </a:lnTo>
                <a:cubicBezTo>
                  <a:pt x="1267830" y="217103"/>
                  <a:pt x="1266341" y="216731"/>
                  <a:pt x="1265039" y="215987"/>
                </a:cubicBezTo>
                <a:cubicBezTo>
                  <a:pt x="1264667" y="215801"/>
                  <a:pt x="1264481" y="215615"/>
                  <a:pt x="1264109" y="215615"/>
                </a:cubicBezTo>
                <a:lnTo>
                  <a:pt x="1264109" y="214313"/>
                </a:lnTo>
                <a:cubicBezTo>
                  <a:pt x="1259830" y="212638"/>
                  <a:pt x="1262063" y="211708"/>
                  <a:pt x="1264481" y="210592"/>
                </a:cubicBezTo>
                <a:cubicBezTo>
                  <a:pt x="1264667" y="210220"/>
                  <a:pt x="1265039" y="209662"/>
                  <a:pt x="1265039" y="209290"/>
                </a:cubicBezTo>
                <a:cubicBezTo>
                  <a:pt x="1266713" y="208731"/>
                  <a:pt x="1268388" y="208545"/>
                  <a:pt x="1270062" y="208731"/>
                </a:cubicBezTo>
                <a:cubicBezTo>
                  <a:pt x="1288480" y="208731"/>
                  <a:pt x="1306897" y="208918"/>
                  <a:pt x="1325315" y="208545"/>
                </a:cubicBezTo>
                <a:cubicBezTo>
                  <a:pt x="1327547" y="208173"/>
                  <a:pt x="1329779" y="207801"/>
                  <a:pt x="1332198" y="207615"/>
                </a:cubicBezTo>
                <a:cubicBezTo>
                  <a:pt x="1347825" y="210034"/>
                  <a:pt x="1363452" y="208545"/>
                  <a:pt x="1379079" y="207615"/>
                </a:cubicBezTo>
                <a:cubicBezTo>
                  <a:pt x="1401217" y="207429"/>
                  <a:pt x="1423169" y="207057"/>
                  <a:pt x="1445307" y="206871"/>
                </a:cubicBezTo>
                <a:cubicBezTo>
                  <a:pt x="1446051" y="206313"/>
                  <a:pt x="1446609" y="205569"/>
                  <a:pt x="1446795" y="205011"/>
                </a:cubicBezTo>
                <a:lnTo>
                  <a:pt x="1448470" y="206127"/>
                </a:lnTo>
                <a:cubicBezTo>
                  <a:pt x="1447354" y="205755"/>
                  <a:pt x="1446237" y="206127"/>
                  <a:pt x="1445493" y="206871"/>
                </a:cubicBezTo>
                <a:lnTo>
                  <a:pt x="1448842" y="207429"/>
                </a:lnTo>
                <a:cubicBezTo>
                  <a:pt x="1462608" y="207057"/>
                  <a:pt x="1476375" y="206499"/>
                  <a:pt x="1490328" y="206127"/>
                </a:cubicBezTo>
                <a:cubicBezTo>
                  <a:pt x="1492932" y="204267"/>
                  <a:pt x="1492932" y="202406"/>
                  <a:pt x="1490700" y="200360"/>
                </a:cubicBezTo>
                <a:lnTo>
                  <a:pt x="1487351" y="199802"/>
                </a:lnTo>
                <a:cubicBezTo>
                  <a:pt x="1486607" y="199802"/>
                  <a:pt x="1485863" y="199802"/>
                  <a:pt x="1485119" y="199988"/>
                </a:cubicBezTo>
                <a:lnTo>
                  <a:pt x="1481212" y="199988"/>
                </a:lnTo>
                <a:cubicBezTo>
                  <a:pt x="1479538" y="199430"/>
                  <a:pt x="1478049" y="198500"/>
                  <a:pt x="1476933" y="196639"/>
                </a:cubicBezTo>
                <a:lnTo>
                  <a:pt x="1473585" y="196639"/>
                </a:lnTo>
                <a:cubicBezTo>
                  <a:pt x="1472840" y="198127"/>
                  <a:pt x="1471724" y="199058"/>
                  <a:pt x="1470422" y="199616"/>
                </a:cubicBezTo>
                <a:cubicBezTo>
                  <a:pt x="1469492" y="199430"/>
                  <a:pt x="1468562" y="199430"/>
                  <a:pt x="1467445" y="199244"/>
                </a:cubicBezTo>
                <a:cubicBezTo>
                  <a:pt x="1465957" y="198686"/>
                  <a:pt x="1464655" y="198686"/>
                  <a:pt x="1463167" y="199430"/>
                </a:cubicBezTo>
                <a:cubicBezTo>
                  <a:pt x="1462050" y="199802"/>
                  <a:pt x="1460934" y="199988"/>
                  <a:pt x="1459818" y="199802"/>
                </a:cubicBezTo>
                <a:cubicBezTo>
                  <a:pt x="1459446" y="199058"/>
                  <a:pt x="1459260" y="198127"/>
                  <a:pt x="1459260" y="197197"/>
                </a:cubicBezTo>
                <a:cubicBezTo>
                  <a:pt x="1454237" y="193291"/>
                  <a:pt x="1449028" y="191802"/>
                  <a:pt x="1443633" y="193477"/>
                </a:cubicBezTo>
                <a:cubicBezTo>
                  <a:pt x="1442889" y="193291"/>
                  <a:pt x="1442145" y="193291"/>
                  <a:pt x="1441587" y="193291"/>
                </a:cubicBezTo>
                <a:cubicBezTo>
                  <a:pt x="1439354" y="193291"/>
                  <a:pt x="1437122" y="193477"/>
                  <a:pt x="1434889" y="193663"/>
                </a:cubicBezTo>
                <a:cubicBezTo>
                  <a:pt x="1433773" y="193663"/>
                  <a:pt x="1432657" y="193477"/>
                  <a:pt x="1431727" y="192918"/>
                </a:cubicBezTo>
                <a:cubicBezTo>
                  <a:pt x="1423913" y="190686"/>
                  <a:pt x="1415914" y="190314"/>
                  <a:pt x="1408100" y="192918"/>
                </a:cubicBezTo>
                <a:cubicBezTo>
                  <a:pt x="1406426" y="192546"/>
                  <a:pt x="1404938" y="191988"/>
                  <a:pt x="1403449" y="191430"/>
                </a:cubicBezTo>
                <a:cubicBezTo>
                  <a:pt x="1392659" y="192174"/>
                  <a:pt x="1381683" y="189942"/>
                  <a:pt x="1370893" y="192360"/>
                </a:cubicBezTo>
                <a:cubicBezTo>
                  <a:pt x="1367358" y="191430"/>
                  <a:pt x="1363638" y="191058"/>
                  <a:pt x="1360103" y="189942"/>
                </a:cubicBezTo>
                <a:cubicBezTo>
                  <a:pt x="1355452" y="191988"/>
                  <a:pt x="1350615" y="190314"/>
                  <a:pt x="1345964" y="189942"/>
                </a:cubicBezTo>
                <a:cubicBezTo>
                  <a:pt x="1343918" y="190872"/>
                  <a:pt x="1341686" y="190686"/>
                  <a:pt x="1339639" y="189942"/>
                </a:cubicBezTo>
                <a:cubicBezTo>
                  <a:pt x="1336477" y="190872"/>
                  <a:pt x="1333686" y="190500"/>
                  <a:pt x="1330709" y="189198"/>
                </a:cubicBezTo>
                <a:cubicBezTo>
                  <a:pt x="1325501" y="187709"/>
                  <a:pt x="1320478" y="184919"/>
                  <a:pt x="1315455" y="184175"/>
                </a:cubicBezTo>
                <a:cubicBezTo>
                  <a:pt x="1317873" y="183989"/>
                  <a:pt x="1321222" y="185477"/>
                  <a:pt x="1323640" y="182501"/>
                </a:cubicBezTo>
                <a:lnTo>
                  <a:pt x="1324570" y="181570"/>
                </a:lnTo>
                <a:lnTo>
                  <a:pt x="1325873" y="181942"/>
                </a:lnTo>
                <a:cubicBezTo>
                  <a:pt x="1328477" y="180640"/>
                  <a:pt x="1332198" y="181384"/>
                  <a:pt x="1333500" y="177850"/>
                </a:cubicBezTo>
                <a:lnTo>
                  <a:pt x="1333128" y="178222"/>
                </a:lnTo>
                <a:cubicBezTo>
                  <a:pt x="1339081" y="171710"/>
                  <a:pt x="1333314" y="170594"/>
                  <a:pt x="1328849" y="168920"/>
                </a:cubicBezTo>
                <a:cubicBezTo>
                  <a:pt x="1310804" y="169664"/>
                  <a:pt x="1292944" y="169478"/>
                  <a:pt x="1274899" y="168176"/>
                </a:cubicBezTo>
                <a:cubicBezTo>
                  <a:pt x="1265039" y="161106"/>
                  <a:pt x="1253877" y="166501"/>
                  <a:pt x="1243273" y="165013"/>
                </a:cubicBezTo>
                <a:lnTo>
                  <a:pt x="1242157" y="165013"/>
                </a:lnTo>
                <a:lnTo>
                  <a:pt x="1242901" y="165013"/>
                </a:lnTo>
                <a:cubicBezTo>
                  <a:pt x="1292200" y="162409"/>
                  <a:pt x="1341500" y="163525"/>
                  <a:pt x="1390799" y="163153"/>
                </a:cubicBezTo>
                <a:cubicBezTo>
                  <a:pt x="1391915" y="162409"/>
                  <a:pt x="1392845" y="161851"/>
                  <a:pt x="1393217" y="161293"/>
                </a:cubicBezTo>
                <a:cubicBezTo>
                  <a:pt x="1402519" y="162223"/>
                  <a:pt x="1412007" y="162409"/>
                  <a:pt x="1421309" y="160920"/>
                </a:cubicBezTo>
                <a:lnTo>
                  <a:pt x="1420565" y="161479"/>
                </a:lnTo>
                <a:lnTo>
                  <a:pt x="1420937" y="162223"/>
                </a:lnTo>
                <a:cubicBezTo>
                  <a:pt x="1431541" y="160734"/>
                  <a:pt x="1441959" y="161293"/>
                  <a:pt x="1452563" y="162037"/>
                </a:cubicBezTo>
                <a:cubicBezTo>
                  <a:pt x="1454051" y="162967"/>
                  <a:pt x="1455167" y="162595"/>
                  <a:pt x="1456097" y="160920"/>
                </a:cubicBezTo>
                <a:lnTo>
                  <a:pt x="1456469" y="160548"/>
                </a:lnTo>
                <a:cubicBezTo>
                  <a:pt x="1456655" y="161106"/>
                  <a:pt x="1456841" y="161851"/>
                  <a:pt x="1457400" y="162595"/>
                </a:cubicBezTo>
                <a:cubicBezTo>
                  <a:pt x="1473957" y="163153"/>
                  <a:pt x="1490514" y="163153"/>
                  <a:pt x="1507071" y="162595"/>
                </a:cubicBezTo>
                <a:cubicBezTo>
                  <a:pt x="1508001" y="162223"/>
                  <a:pt x="1508559" y="161665"/>
                  <a:pt x="1508931" y="160920"/>
                </a:cubicBezTo>
                <a:cubicBezTo>
                  <a:pt x="1510047" y="161293"/>
                  <a:pt x="1510978" y="161479"/>
                  <a:pt x="1512094" y="161851"/>
                </a:cubicBezTo>
                <a:cubicBezTo>
                  <a:pt x="1516745" y="160548"/>
                  <a:pt x="1521396" y="160734"/>
                  <a:pt x="1526046" y="161665"/>
                </a:cubicBezTo>
                <a:cubicBezTo>
                  <a:pt x="1528465" y="162967"/>
                  <a:pt x="1530697" y="162781"/>
                  <a:pt x="1533116" y="161479"/>
                </a:cubicBezTo>
                <a:lnTo>
                  <a:pt x="1533674" y="161106"/>
                </a:lnTo>
                <a:cubicBezTo>
                  <a:pt x="1533488" y="157386"/>
                  <a:pt x="1530883" y="156456"/>
                  <a:pt x="1527721" y="156642"/>
                </a:cubicBezTo>
                <a:cubicBezTo>
                  <a:pt x="1521396" y="156828"/>
                  <a:pt x="1515070" y="157200"/>
                  <a:pt x="1508745" y="157386"/>
                </a:cubicBezTo>
                <a:cubicBezTo>
                  <a:pt x="1505024" y="155898"/>
                  <a:pt x="1500188" y="158316"/>
                  <a:pt x="1497025" y="154595"/>
                </a:cubicBezTo>
                <a:cubicBezTo>
                  <a:pt x="1493118" y="154595"/>
                  <a:pt x="1489025" y="154409"/>
                  <a:pt x="1485119" y="154409"/>
                </a:cubicBezTo>
                <a:cubicBezTo>
                  <a:pt x="1478794" y="155711"/>
                  <a:pt x="1472468" y="151805"/>
                  <a:pt x="1466143" y="153107"/>
                </a:cubicBezTo>
                <a:cubicBezTo>
                  <a:pt x="1465027" y="151991"/>
                  <a:pt x="1463353" y="151433"/>
                  <a:pt x="1461492" y="150875"/>
                </a:cubicBezTo>
                <a:cubicBezTo>
                  <a:pt x="1459260" y="150502"/>
                  <a:pt x="1457027" y="150316"/>
                  <a:pt x="1454609" y="150688"/>
                </a:cubicBezTo>
                <a:cubicBezTo>
                  <a:pt x="1453121" y="150875"/>
                  <a:pt x="1451818" y="151061"/>
                  <a:pt x="1450330" y="151433"/>
                </a:cubicBezTo>
                <a:cubicBezTo>
                  <a:pt x="1446981" y="152549"/>
                  <a:pt x="1443447" y="151991"/>
                  <a:pt x="1440284" y="151061"/>
                </a:cubicBezTo>
                <a:cubicBezTo>
                  <a:pt x="1436564" y="150316"/>
                  <a:pt x="1433029" y="150316"/>
                  <a:pt x="1429308" y="151433"/>
                </a:cubicBezTo>
                <a:cubicBezTo>
                  <a:pt x="1427262" y="152177"/>
                  <a:pt x="1425215" y="153107"/>
                  <a:pt x="1423541" y="154409"/>
                </a:cubicBezTo>
                <a:lnTo>
                  <a:pt x="1422239" y="154409"/>
                </a:lnTo>
                <a:cubicBezTo>
                  <a:pt x="1422053" y="153665"/>
                  <a:pt x="1421681" y="153107"/>
                  <a:pt x="1420937" y="152363"/>
                </a:cubicBezTo>
                <a:cubicBezTo>
                  <a:pt x="1419820" y="151805"/>
                  <a:pt x="1418704" y="151247"/>
                  <a:pt x="1417588" y="150875"/>
                </a:cubicBezTo>
                <a:cubicBezTo>
                  <a:pt x="1420565" y="151061"/>
                  <a:pt x="1423727" y="150875"/>
                  <a:pt x="1426890" y="150502"/>
                </a:cubicBezTo>
                <a:cubicBezTo>
                  <a:pt x="1428564" y="150316"/>
                  <a:pt x="1430238" y="149944"/>
                  <a:pt x="1431727" y="149572"/>
                </a:cubicBezTo>
                <a:cubicBezTo>
                  <a:pt x="1432285" y="149386"/>
                  <a:pt x="1432657" y="149014"/>
                  <a:pt x="1433215" y="148642"/>
                </a:cubicBezTo>
                <a:cubicBezTo>
                  <a:pt x="1434517" y="149014"/>
                  <a:pt x="1435633" y="149386"/>
                  <a:pt x="1436936" y="149572"/>
                </a:cubicBezTo>
                <a:cubicBezTo>
                  <a:pt x="1441028" y="150130"/>
                  <a:pt x="1445307" y="150502"/>
                  <a:pt x="1449028" y="147898"/>
                </a:cubicBezTo>
                <a:cubicBezTo>
                  <a:pt x="1449400" y="147526"/>
                  <a:pt x="1449772" y="146968"/>
                  <a:pt x="1449772" y="146596"/>
                </a:cubicBezTo>
                <a:lnTo>
                  <a:pt x="1453679" y="146596"/>
                </a:lnTo>
                <a:cubicBezTo>
                  <a:pt x="1455353" y="147154"/>
                  <a:pt x="1457213" y="147712"/>
                  <a:pt x="1458888" y="148084"/>
                </a:cubicBezTo>
                <a:cubicBezTo>
                  <a:pt x="1460376" y="148270"/>
                  <a:pt x="1461864" y="148084"/>
                  <a:pt x="1463167" y="147340"/>
                </a:cubicBezTo>
                <a:cubicBezTo>
                  <a:pt x="1466887" y="146968"/>
                  <a:pt x="1470422" y="146596"/>
                  <a:pt x="1474143" y="146224"/>
                </a:cubicBezTo>
                <a:cubicBezTo>
                  <a:pt x="1479724" y="146596"/>
                  <a:pt x="1485305" y="147898"/>
                  <a:pt x="1490700" y="145666"/>
                </a:cubicBezTo>
                <a:lnTo>
                  <a:pt x="1490886" y="143991"/>
                </a:lnTo>
                <a:cubicBezTo>
                  <a:pt x="1490514" y="142689"/>
                  <a:pt x="1489584" y="142131"/>
                  <a:pt x="1488467" y="142503"/>
                </a:cubicBezTo>
                <a:lnTo>
                  <a:pt x="1488467" y="141945"/>
                </a:lnTo>
                <a:cubicBezTo>
                  <a:pt x="1488467" y="141015"/>
                  <a:pt x="1487909" y="140271"/>
                  <a:pt x="1486793" y="139712"/>
                </a:cubicBezTo>
                <a:cubicBezTo>
                  <a:pt x="1485863" y="139898"/>
                  <a:pt x="1484933" y="139898"/>
                  <a:pt x="1484188" y="139340"/>
                </a:cubicBezTo>
                <a:cubicBezTo>
                  <a:pt x="1481398" y="136178"/>
                  <a:pt x="1476561" y="139340"/>
                  <a:pt x="1473957" y="135806"/>
                </a:cubicBezTo>
                <a:lnTo>
                  <a:pt x="1470236" y="135806"/>
                </a:lnTo>
                <a:cubicBezTo>
                  <a:pt x="1466701" y="138410"/>
                  <a:pt x="1463167" y="138224"/>
                  <a:pt x="1459632" y="135806"/>
                </a:cubicBezTo>
                <a:lnTo>
                  <a:pt x="1456283" y="135806"/>
                </a:lnTo>
                <a:cubicBezTo>
                  <a:pt x="1454795" y="137666"/>
                  <a:pt x="1452377" y="137480"/>
                  <a:pt x="1450330" y="138038"/>
                </a:cubicBezTo>
                <a:cubicBezTo>
                  <a:pt x="1450330" y="137852"/>
                  <a:pt x="1450516" y="137666"/>
                  <a:pt x="1450516" y="137480"/>
                </a:cubicBezTo>
                <a:cubicBezTo>
                  <a:pt x="1450702" y="136736"/>
                  <a:pt x="1450144" y="136178"/>
                  <a:pt x="1449028" y="135992"/>
                </a:cubicBezTo>
                <a:cubicBezTo>
                  <a:pt x="1444377" y="135806"/>
                  <a:pt x="1439912" y="135620"/>
                  <a:pt x="1435261" y="135620"/>
                </a:cubicBezTo>
                <a:cubicBezTo>
                  <a:pt x="1430982" y="136178"/>
                  <a:pt x="1426890" y="137852"/>
                  <a:pt x="1422611" y="138038"/>
                </a:cubicBezTo>
                <a:cubicBezTo>
                  <a:pt x="1422983" y="137294"/>
                  <a:pt x="1422239" y="136550"/>
                  <a:pt x="1420565" y="136178"/>
                </a:cubicBezTo>
                <a:cubicBezTo>
                  <a:pt x="1419634" y="136550"/>
                  <a:pt x="1418704" y="136364"/>
                  <a:pt x="1417960" y="135620"/>
                </a:cubicBezTo>
                <a:cubicBezTo>
                  <a:pt x="1415728" y="133759"/>
                  <a:pt x="1413495" y="133945"/>
                  <a:pt x="1411077" y="135248"/>
                </a:cubicBezTo>
                <a:cubicBezTo>
                  <a:pt x="1408844" y="135434"/>
                  <a:pt x="1406426" y="135620"/>
                  <a:pt x="1404193" y="135806"/>
                </a:cubicBezTo>
                <a:cubicBezTo>
                  <a:pt x="1403635" y="136736"/>
                  <a:pt x="1403263" y="137480"/>
                  <a:pt x="1403263" y="138596"/>
                </a:cubicBezTo>
                <a:cubicBezTo>
                  <a:pt x="1402519" y="138224"/>
                  <a:pt x="1401589" y="138224"/>
                  <a:pt x="1400845" y="138782"/>
                </a:cubicBezTo>
                <a:lnTo>
                  <a:pt x="1401031" y="138596"/>
                </a:lnTo>
                <a:lnTo>
                  <a:pt x="1400659" y="138596"/>
                </a:lnTo>
                <a:cubicBezTo>
                  <a:pt x="1400845" y="137666"/>
                  <a:pt x="1400845" y="136736"/>
                  <a:pt x="1400473" y="135806"/>
                </a:cubicBezTo>
                <a:cubicBezTo>
                  <a:pt x="1395078" y="135992"/>
                  <a:pt x="1389683" y="136178"/>
                  <a:pt x="1384288" y="136178"/>
                </a:cubicBezTo>
                <a:cubicBezTo>
                  <a:pt x="1382241" y="136736"/>
                  <a:pt x="1380381" y="137294"/>
                  <a:pt x="1379265" y="139154"/>
                </a:cubicBezTo>
                <a:lnTo>
                  <a:pt x="1374056" y="139154"/>
                </a:lnTo>
                <a:cubicBezTo>
                  <a:pt x="1374056" y="137852"/>
                  <a:pt x="1373684" y="136736"/>
                  <a:pt x="1372754" y="135620"/>
                </a:cubicBezTo>
                <a:cubicBezTo>
                  <a:pt x="1371637" y="134689"/>
                  <a:pt x="1370521" y="134317"/>
                  <a:pt x="1369033" y="134689"/>
                </a:cubicBezTo>
                <a:lnTo>
                  <a:pt x="1366800" y="135248"/>
                </a:lnTo>
                <a:lnTo>
                  <a:pt x="1366614" y="135248"/>
                </a:lnTo>
                <a:cubicBezTo>
                  <a:pt x="1366614" y="135062"/>
                  <a:pt x="1366614" y="135062"/>
                  <a:pt x="1366800" y="134875"/>
                </a:cubicBezTo>
                <a:cubicBezTo>
                  <a:pt x="1366986" y="133945"/>
                  <a:pt x="1366614" y="133015"/>
                  <a:pt x="1365870" y="132271"/>
                </a:cubicBezTo>
                <a:cubicBezTo>
                  <a:pt x="1363638" y="132271"/>
                  <a:pt x="1361219" y="132271"/>
                  <a:pt x="1358987" y="132457"/>
                </a:cubicBezTo>
                <a:cubicBezTo>
                  <a:pt x="1358243" y="133015"/>
                  <a:pt x="1357871" y="133573"/>
                  <a:pt x="1357871" y="134503"/>
                </a:cubicBezTo>
                <a:cubicBezTo>
                  <a:pt x="1357685" y="134503"/>
                  <a:pt x="1357499" y="134503"/>
                  <a:pt x="1357313" y="134317"/>
                </a:cubicBezTo>
                <a:cubicBezTo>
                  <a:pt x="1356754" y="134503"/>
                  <a:pt x="1356010" y="134689"/>
                  <a:pt x="1355452" y="134689"/>
                </a:cubicBezTo>
                <a:cubicBezTo>
                  <a:pt x="1354150" y="135248"/>
                  <a:pt x="1352662" y="135620"/>
                  <a:pt x="1351359" y="136178"/>
                </a:cubicBezTo>
                <a:lnTo>
                  <a:pt x="1351732" y="135620"/>
                </a:lnTo>
                <a:cubicBezTo>
                  <a:pt x="1350429" y="134689"/>
                  <a:pt x="1349313" y="133387"/>
                  <a:pt x="1347825" y="132643"/>
                </a:cubicBezTo>
                <a:cubicBezTo>
                  <a:pt x="1346150" y="130039"/>
                  <a:pt x="1342802" y="130597"/>
                  <a:pt x="1340569" y="129108"/>
                </a:cubicBezTo>
                <a:cubicBezTo>
                  <a:pt x="1338523" y="129108"/>
                  <a:pt x="1336663" y="129108"/>
                  <a:pt x="1334616" y="128922"/>
                </a:cubicBezTo>
                <a:cubicBezTo>
                  <a:pt x="1331082" y="131713"/>
                  <a:pt x="1326431" y="129853"/>
                  <a:pt x="1322524" y="131527"/>
                </a:cubicBezTo>
                <a:cubicBezTo>
                  <a:pt x="1320664" y="130411"/>
                  <a:pt x="1318803" y="130783"/>
                  <a:pt x="1316943" y="132085"/>
                </a:cubicBezTo>
                <a:lnTo>
                  <a:pt x="1313408" y="132085"/>
                </a:lnTo>
                <a:cubicBezTo>
                  <a:pt x="1309874" y="130225"/>
                  <a:pt x="1306339" y="129667"/>
                  <a:pt x="1302990" y="132457"/>
                </a:cubicBezTo>
                <a:cubicBezTo>
                  <a:pt x="1300758" y="133945"/>
                  <a:pt x="1298339" y="133945"/>
                  <a:pt x="1296107" y="132457"/>
                </a:cubicBezTo>
                <a:cubicBezTo>
                  <a:pt x="1294247" y="130411"/>
                  <a:pt x="1294619" y="127434"/>
                  <a:pt x="1292944" y="125202"/>
                </a:cubicBezTo>
                <a:cubicBezTo>
                  <a:pt x="1292014" y="124644"/>
                  <a:pt x="1291642" y="123899"/>
                  <a:pt x="1292014" y="122969"/>
                </a:cubicBezTo>
                <a:cubicBezTo>
                  <a:pt x="1291642" y="122783"/>
                  <a:pt x="1291270" y="122783"/>
                  <a:pt x="1290898" y="122597"/>
                </a:cubicBezTo>
                <a:lnTo>
                  <a:pt x="1290898" y="121853"/>
                </a:lnTo>
                <a:cubicBezTo>
                  <a:pt x="1292944" y="113295"/>
                  <a:pt x="1300014" y="116644"/>
                  <a:pt x="1305037" y="116458"/>
                </a:cubicBezTo>
                <a:cubicBezTo>
                  <a:pt x="1322710" y="116086"/>
                  <a:pt x="1340383" y="116272"/>
                  <a:pt x="1358057" y="116272"/>
                </a:cubicBezTo>
                <a:cubicBezTo>
                  <a:pt x="1358057" y="117016"/>
                  <a:pt x="1358615" y="117574"/>
                  <a:pt x="1359731" y="117760"/>
                </a:cubicBezTo>
                <a:cubicBezTo>
                  <a:pt x="1364382" y="117574"/>
                  <a:pt x="1369033" y="117016"/>
                  <a:pt x="1373498" y="117016"/>
                </a:cubicBezTo>
                <a:cubicBezTo>
                  <a:pt x="1425587" y="117388"/>
                  <a:pt x="1477677" y="118132"/>
                  <a:pt x="1529767" y="118318"/>
                </a:cubicBezTo>
                <a:cubicBezTo>
                  <a:pt x="1564556" y="118504"/>
                  <a:pt x="1599158" y="119621"/>
                  <a:pt x="1633947" y="117574"/>
                </a:cubicBezTo>
                <a:cubicBezTo>
                  <a:pt x="1643063" y="117574"/>
                  <a:pt x="1652178" y="117760"/>
                  <a:pt x="1661480" y="117760"/>
                </a:cubicBezTo>
                <a:cubicBezTo>
                  <a:pt x="1665015" y="119807"/>
                  <a:pt x="1668549" y="118876"/>
                  <a:pt x="1666689" y="114598"/>
                </a:cubicBezTo>
                <a:close/>
                <a:moveTo>
                  <a:pt x="677540" y="60834"/>
                </a:moveTo>
                <a:lnTo>
                  <a:pt x="675866" y="60834"/>
                </a:lnTo>
                <a:lnTo>
                  <a:pt x="675494" y="60461"/>
                </a:lnTo>
                <a:cubicBezTo>
                  <a:pt x="675866" y="60461"/>
                  <a:pt x="676052" y="60275"/>
                  <a:pt x="676424" y="60275"/>
                </a:cubicBezTo>
                <a:cubicBezTo>
                  <a:pt x="677168" y="60089"/>
                  <a:pt x="677726" y="60089"/>
                  <a:pt x="677726" y="59159"/>
                </a:cubicBezTo>
                <a:cubicBezTo>
                  <a:pt x="677540" y="56741"/>
                  <a:pt x="679400" y="61020"/>
                  <a:pt x="677540" y="60834"/>
                </a:cubicBezTo>
                <a:close/>
                <a:moveTo>
                  <a:pt x="1127559" y="280913"/>
                </a:moveTo>
                <a:cubicBezTo>
                  <a:pt x="1126443" y="281099"/>
                  <a:pt x="1125327" y="281099"/>
                  <a:pt x="1124210" y="281285"/>
                </a:cubicBezTo>
                <a:cubicBezTo>
                  <a:pt x="1117885" y="282587"/>
                  <a:pt x="1111560" y="285564"/>
                  <a:pt x="1105049" y="283890"/>
                </a:cubicBezTo>
                <a:cubicBezTo>
                  <a:pt x="1103933" y="283518"/>
                  <a:pt x="1107467" y="282587"/>
                  <a:pt x="1108584" y="281471"/>
                </a:cubicBezTo>
                <a:cubicBezTo>
                  <a:pt x="1110072" y="280913"/>
                  <a:pt x="1111560" y="280169"/>
                  <a:pt x="1112862" y="279053"/>
                </a:cubicBezTo>
                <a:cubicBezTo>
                  <a:pt x="1113607" y="277564"/>
                  <a:pt x="1113979" y="276076"/>
                  <a:pt x="1113420" y="274402"/>
                </a:cubicBezTo>
                <a:cubicBezTo>
                  <a:pt x="1111932" y="273472"/>
                  <a:pt x="1110444" y="273100"/>
                  <a:pt x="1108770" y="273100"/>
                </a:cubicBezTo>
                <a:cubicBezTo>
                  <a:pt x="1103933" y="272728"/>
                  <a:pt x="1099096" y="273844"/>
                  <a:pt x="1094259" y="272542"/>
                </a:cubicBezTo>
                <a:cubicBezTo>
                  <a:pt x="1101514" y="274216"/>
                  <a:pt x="1109142" y="271239"/>
                  <a:pt x="1116211" y="274774"/>
                </a:cubicBezTo>
                <a:cubicBezTo>
                  <a:pt x="1120490" y="275518"/>
                  <a:pt x="1124583" y="276262"/>
                  <a:pt x="1128675" y="275890"/>
                </a:cubicBezTo>
                <a:cubicBezTo>
                  <a:pt x="1128117" y="276448"/>
                  <a:pt x="1127559" y="277006"/>
                  <a:pt x="1127001" y="278123"/>
                </a:cubicBezTo>
                <a:cubicBezTo>
                  <a:pt x="1126629" y="278867"/>
                  <a:pt x="1127001" y="280541"/>
                  <a:pt x="1127559" y="280913"/>
                </a:cubicBezTo>
                <a:close/>
                <a:moveTo>
                  <a:pt x="1202903" y="165943"/>
                </a:moveTo>
                <a:cubicBezTo>
                  <a:pt x="1203275" y="165943"/>
                  <a:pt x="1203648" y="166129"/>
                  <a:pt x="1204206" y="166129"/>
                </a:cubicBezTo>
                <a:cubicBezTo>
                  <a:pt x="1204020" y="166129"/>
                  <a:pt x="1203648" y="166315"/>
                  <a:pt x="1203462" y="166315"/>
                </a:cubicBezTo>
                <a:cubicBezTo>
                  <a:pt x="1203834" y="167618"/>
                  <a:pt x="1203089" y="166874"/>
                  <a:pt x="1202903" y="165943"/>
                </a:cubicBezTo>
                <a:close/>
                <a:moveTo>
                  <a:pt x="1339267" y="224731"/>
                </a:moveTo>
                <a:cubicBezTo>
                  <a:pt x="1339453" y="224544"/>
                  <a:pt x="1339453" y="224358"/>
                  <a:pt x="1339453" y="224172"/>
                </a:cubicBezTo>
                <a:cubicBezTo>
                  <a:pt x="1340011" y="225289"/>
                  <a:pt x="1340941" y="226219"/>
                  <a:pt x="1342430" y="226777"/>
                </a:cubicBezTo>
                <a:cubicBezTo>
                  <a:pt x="1344104" y="226033"/>
                  <a:pt x="1346336" y="226405"/>
                  <a:pt x="1348383" y="226777"/>
                </a:cubicBezTo>
                <a:cubicBezTo>
                  <a:pt x="1347081" y="227149"/>
                  <a:pt x="1345964" y="227521"/>
                  <a:pt x="1344662" y="227893"/>
                </a:cubicBezTo>
                <a:cubicBezTo>
                  <a:pt x="1344290" y="228079"/>
                  <a:pt x="1344104" y="228265"/>
                  <a:pt x="1343918" y="228637"/>
                </a:cubicBezTo>
                <a:lnTo>
                  <a:pt x="1341128" y="228637"/>
                </a:lnTo>
                <a:cubicBezTo>
                  <a:pt x="1339639" y="227893"/>
                  <a:pt x="1338151" y="227707"/>
                  <a:pt x="1336663" y="227893"/>
                </a:cubicBezTo>
                <a:cubicBezTo>
                  <a:pt x="1337779" y="226777"/>
                  <a:pt x="1338709" y="225847"/>
                  <a:pt x="1339267" y="224731"/>
                </a:cubicBezTo>
                <a:close/>
                <a:moveTo>
                  <a:pt x="1280294" y="222126"/>
                </a:moveTo>
                <a:cubicBezTo>
                  <a:pt x="1280294" y="222312"/>
                  <a:pt x="1280294" y="222312"/>
                  <a:pt x="1280108" y="222498"/>
                </a:cubicBezTo>
                <a:lnTo>
                  <a:pt x="1279736" y="222126"/>
                </a:lnTo>
                <a:lnTo>
                  <a:pt x="1280294" y="222126"/>
                </a:lnTo>
                <a:close/>
                <a:moveTo>
                  <a:pt x="1420192" y="144549"/>
                </a:moveTo>
                <a:cubicBezTo>
                  <a:pt x="1420565" y="143991"/>
                  <a:pt x="1421309" y="143619"/>
                  <a:pt x="1421867" y="143061"/>
                </a:cubicBezTo>
                <a:cubicBezTo>
                  <a:pt x="1421681" y="143619"/>
                  <a:pt x="1421495" y="144177"/>
                  <a:pt x="1421495" y="144921"/>
                </a:cubicBezTo>
                <a:cubicBezTo>
                  <a:pt x="1421495" y="145107"/>
                  <a:pt x="1421681" y="145293"/>
                  <a:pt x="1421681" y="145480"/>
                </a:cubicBezTo>
                <a:cubicBezTo>
                  <a:pt x="1420751" y="145480"/>
                  <a:pt x="1420006" y="144921"/>
                  <a:pt x="1420192" y="144549"/>
                </a:cubicBezTo>
                <a:close/>
                <a:moveTo>
                  <a:pt x="1407914" y="149386"/>
                </a:moveTo>
                <a:cubicBezTo>
                  <a:pt x="1408472" y="150130"/>
                  <a:pt x="1409030" y="150875"/>
                  <a:pt x="1409774" y="151433"/>
                </a:cubicBezTo>
                <a:cubicBezTo>
                  <a:pt x="1409402" y="151247"/>
                  <a:pt x="1409030" y="151247"/>
                  <a:pt x="1408658" y="151061"/>
                </a:cubicBezTo>
                <a:cubicBezTo>
                  <a:pt x="1407542" y="150688"/>
                  <a:pt x="1406426" y="150316"/>
                  <a:pt x="1405310" y="150130"/>
                </a:cubicBezTo>
                <a:cubicBezTo>
                  <a:pt x="1406240" y="149944"/>
                  <a:pt x="1407170" y="149758"/>
                  <a:pt x="1407914" y="149386"/>
                </a:cubicBezTo>
                <a:close/>
                <a:moveTo>
                  <a:pt x="1404565" y="142317"/>
                </a:moveTo>
                <a:cubicBezTo>
                  <a:pt x="1404565" y="142503"/>
                  <a:pt x="1404565" y="142503"/>
                  <a:pt x="1404565" y="142317"/>
                </a:cubicBezTo>
                <a:cubicBezTo>
                  <a:pt x="1404379" y="143061"/>
                  <a:pt x="1404007" y="143433"/>
                  <a:pt x="1403821" y="143619"/>
                </a:cubicBezTo>
                <a:cubicBezTo>
                  <a:pt x="1404007" y="143247"/>
                  <a:pt x="1404379" y="142875"/>
                  <a:pt x="1404565" y="142317"/>
                </a:cubicBezTo>
                <a:close/>
                <a:moveTo>
                  <a:pt x="1403263" y="143805"/>
                </a:moveTo>
                <a:cubicBezTo>
                  <a:pt x="1402891" y="143619"/>
                  <a:pt x="1402519" y="143061"/>
                  <a:pt x="1402147" y="142131"/>
                </a:cubicBezTo>
                <a:lnTo>
                  <a:pt x="1403263" y="143805"/>
                </a:lnTo>
                <a:close/>
                <a:moveTo>
                  <a:pt x="1370335" y="151061"/>
                </a:moveTo>
                <a:cubicBezTo>
                  <a:pt x="1370149" y="151061"/>
                  <a:pt x="1370149" y="151061"/>
                  <a:pt x="1369963" y="151247"/>
                </a:cubicBezTo>
                <a:lnTo>
                  <a:pt x="1369591" y="151247"/>
                </a:lnTo>
                <a:cubicBezTo>
                  <a:pt x="1369777" y="151061"/>
                  <a:pt x="1370149" y="151061"/>
                  <a:pt x="1370335" y="151061"/>
                </a:cubicBezTo>
                <a:close/>
                <a:moveTo>
                  <a:pt x="1363638" y="149944"/>
                </a:moveTo>
                <a:cubicBezTo>
                  <a:pt x="1363638" y="149758"/>
                  <a:pt x="1363638" y="149758"/>
                  <a:pt x="1363824" y="149572"/>
                </a:cubicBezTo>
                <a:cubicBezTo>
                  <a:pt x="1364568" y="150130"/>
                  <a:pt x="1365312" y="150502"/>
                  <a:pt x="1366056" y="150875"/>
                </a:cubicBezTo>
                <a:cubicBezTo>
                  <a:pt x="1361963" y="151247"/>
                  <a:pt x="1357871" y="151433"/>
                  <a:pt x="1353778" y="151433"/>
                </a:cubicBezTo>
                <a:cubicBezTo>
                  <a:pt x="1357127" y="151433"/>
                  <a:pt x="1360475" y="151061"/>
                  <a:pt x="1363638" y="149944"/>
                </a:cubicBezTo>
                <a:close/>
                <a:moveTo>
                  <a:pt x="1349685" y="151247"/>
                </a:moveTo>
                <a:cubicBezTo>
                  <a:pt x="1347081" y="151247"/>
                  <a:pt x="1344662" y="151061"/>
                  <a:pt x="1342058" y="150875"/>
                </a:cubicBezTo>
                <a:cubicBezTo>
                  <a:pt x="1344476" y="151061"/>
                  <a:pt x="1347081" y="151247"/>
                  <a:pt x="1349685" y="151247"/>
                </a:cubicBezTo>
                <a:close/>
                <a:moveTo>
                  <a:pt x="1286805" y="143991"/>
                </a:moveTo>
                <a:cubicBezTo>
                  <a:pt x="1285503" y="144177"/>
                  <a:pt x="1284201" y="144177"/>
                  <a:pt x="1282712" y="143991"/>
                </a:cubicBezTo>
                <a:cubicBezTo>
                  <a:pt x="1285317" y="143061"/>
                  <a:pt x="1287177" y="142317"/>
                  <a:pt x="1288666" y="141387"/>
                </a:cubicBezTo>
                <a:cubicBezTo>
                  <a:pt x="1288293" y="142317"/>
                  <a:pt x="1287549" y="143247"/>
                  <a:pt x="1286805" y="143991"/>
                </a:cubicBezTo>
                <a:close/>
                <a:moveTo>
                  <a:pt x="1302990" y="43346"/>
                </a:moveTo>
                <a:lnTo>
                  <a:pt x="1300758" y="43346"/>
                </a:lnTo>
                <a:lnTo>
                  <a:pt x="1300758" y="43160"/>
                </a:lnTo>
                <a:cubicBezTo>
                  <a:pt x="1301874" y="43160"/>
                  <a:pt x="1302990" y="43346"/>
                  <a:pt x="1303920" y="43160"/>
                </a:cubicBezTo>
                <a:cubicBezTo>
                  <a:pt x="1308199" y="43160"/>
                  <a:pt x="1312664" y="42974"/>
                  <a:pt x="1317129" y="43532"/>
                </a:cubicBezTo>
                <a:cubicBezTo>
                  <a:pt x="1320664" y="44276"/>
                  <a:pt x="1324012" y="44834"/>
                  <a:pt x="1327547" y="45021"/>
                </a:cubicBezTo>
                <a:cubicBezTo>
                  <a:pt x="1323454" y="45021"/>
                  <a:pt x="1319361" y="44648"/>
                  <a:pt x="1315269" y="43346"/>
                </a:cubicBezTo>
                <a:lnTo>
                  <a:pt x="1302990" y="43346"/>
                </a:lnTo>
                <a:close/>
                <a:moveTo>
                  <a:pt x="1478980" y="108645"/>
                </a:moveTo>
                <a:cubicBezTo>
                  <a:pt x="1478980" y="108086"/>
                  <a:pt x="1478794" y="107714"/>
                  <a:pt x="1478794" y="107156"/>
                </a:cubicBezTo>
                <a:lnTo>
                  <a:pt x="1479352" y="107714"/>
                </a:lnTo>
                <a:cubicBezTo>
                  <a:pt x="1479352" y="108086"/>
                  <a:pt x="1479166" y="108272"/>
                  <a:pt x="1478980" y="108645"/>
                </a:cubicBezTo>
                <a:close/>
                <a:moveTo>
                  <a:pt x="1494979" y="111435"/>
                </a:moveTo>
                <a:cubicBezTo>
                  <a:pt x="1494793" y="111621"/>
                  <a:pt x="1494048" y="111063"/>
                  <a:pt x="1493862" y="110691"/>
                </a:cubicBezTo>
                <a:lnTo>
                  <a:pt x="1496281" y="110691"/>
                </a:lnTo>
                <a:cubicBezTo>
                  <a:pt x="1495909" y="110877"/>
                  <a:pt x="1495351" y="111063"/>
                  <a:pt x="1494979" y="111435"/>
                </a:cubicBezTo>
                <a:close/>
                <a:moveTo>
                  <a:pt x="1605483" y="109575"/>
                </a:moveTo>
                <a:cubicBezTo>
                  <a:pt x="1605483" y="109761"/>
                  <a:pt x="1605297" y="109761"/>
                  <a:pt x="1605297" y="109761"/>
                </a:cubicBezTo>
                <a:lnTo>
                  <a:pt x="1604925" y="109761"/>
                </a:lnTo>
                <a:cubicBezTo>
                  <a:pt x="1604739" y="109575"/>
                  <a:pt x="1604553" y="109389"/>
                  <a:pt x="1603995" y="109203"/>
                </a:cubicBezTo>
                <a:cubicBezTo>
                  <a:pt x="1603437" y="109017"/>
                  <a:pt x="1603065" y="108645"/>
                  <a:pt x="1602693" y="108272"/>
                </a:cubicBezTo>
                <a:cubicBezTo>
                  <a:pt x="1602879" y="108086"/>
                  <a:pt x="1602879" y="107900"/>
                  <a:pt x="1603065" y="107714"/>
                </a:cubicBezTo>
                <a:cubicBezTo>
                  <a:pt x="1603437" y="108272"/>
                  <a:pt x="1603995" y="108645"/>
                  <a:pt x="1604739" y="109017"/>
                </a:cubicBezTo>
                <a:cubicBezTo>
                  <a:pt x="1606228" y="107528"/>
                  <a:pt x="1606972" y="108086"/>
                  <a:pt x="1605483" y="109575"/>
                </a:cubicBezTo>
                <a:close/>
                <a:moveTo>
                  <a:pt x="1627808" y="115900"/>
                </a:moveTo>
                <a:cubicBezTo>
                  <a:pt x="1627622" y="115900"/>
                  <a:pt x="1627622" y="115900"/>
                  <a:pt x="1627436" y="115714"/>
                </a:cubicBezTo>
                <a:cubicBezTo>
                  <a:pt x="1627622" y="115714"/>
                  <a:pt x="1627808" y="115714"/>
                  <a:pt x="1627808" y="115900"/>
                </a:cubicBezTo>
                <a:close/>
                <a:moveTo>
                  <a:pt x="241102" y="13581"/>
                </a:moveTo>
                <a:cubicBezTo>
                  <a:pt x="244636" y="11162"/>
                  <a:pt x="248915" y="8930"/>
                  <a:pt x="244450" y="4093"/>
                </a:cubicBezTo>
                <a:cubicBezTo>
                  <a:pt x="244078" y="2046"/>
                  <a:pt x="242590" y="1116"/>
                  <a:pt x="240916" y="0"/>
                </a:cubicBezTo>
                <a:cubicBezTo>
                  <a:pt x="236823" y="372"/>
                  <a:pt x="231800" y="-744"/>
                  <a:pt x="231428" y="5953"/>
                </a:cubicBezTo>
                <a:cubicBezTo>
                  <a:pt x="231056" y="13395"/>
                  <a:pt x="235893" y="13395"/>
                  <a:pt x="241102" y="13581"/>
                </a:cubicBezTo>
                <a:close/>
              </a:path>
            </a:pathLst>
          </a:custGeom>
          <a:ln w="1860" cap="flat">
            <a:noFill/>
            <a:prstDash val="solid"/>
            <a:miter/>
          </a:ln>
        </p:spPr>
        <p:txBody>
          <a:bodyPr rtlCol="0" anchor="ctr"/>
          <a:lstStyle/>
          <a:p>
            <a:endParaRPr lang="zh-CN" altLang="en-US"/>
          </a:p>
        </p:txBody>
      </p:sp>
      <p:sp useBgFill="1">
        <p:nvSpPr>
          <p:cNvPr id="16" name="任意多边形: 形状 15">
            <a:extLst>
              <a:ext uri="{FF2B5EF4-FFF2-40B4-BE49-F238E27FC236}">
                <a16:creationId xmlns:a16="http://schemas.microsoft.com/office/drawing/2014/main" id="{51E0D75E-4F22-8E70-2B18-D9CFAF94CD68}"/>
              </a:ext>
            </a:extLst>
          </p:cNvPr>
          <p:cNvSpPr/>
          <p:nvPr/>
        </p:nvSpPr>
        <p:spPr>
          <a:xfrm rot="18292778">
            <a:off x="6869688" y="235649"/>
            <a:ext cx="7610221" cy="3994123"/>
          </a:xfrm>
          <a:custGeom>
            <a:avLst/>
            <a:gdLst>
              <a:gd name="connsiteX0" fmla="*/ 1518977 w 1528232"/>
              <a:gd name="connsiteY0" fmla="*/ 120705 h 478315"/>
              <a:gd name="connsiteX1" fmla="*/ 1516001 w 1528232"/>
              <a:gd name="connsiteY1" fmla="*/ 119403 h 478315"/>
              <a:gd name="connsiteX2" fmla="*/ 1483072 w 1528232"/>
              <a:gd name="connsiteY2" fmla="*/ 119217 h 478315"/>
              <a:gd name="connsiteX3" fmla="*/ 1483072 w 1528232"/>
              <a:gd name="connsiteY3" fmla="*/ 122193 h 478315"/>
              <a:gd name="connsiteX4" fmla="*/ 1516001 w 1528232"/>
              <a:gd name="connsiteY4" fmla="*/ 122007 h 478315"/>
              <a:gd name="connsiteX5" fmla="*/ 1518977 w 1528232"/>
              <a:gd name="connsiteY5" fmla="*/ 120705 h 478315"/>
              <a:gd name="connsiteX6" fmla="*/ 1276573 w 1528232"/>
              <a:gd name="connsiteY6" fmla="*/ 471009 h 478315"/>
              <a:gd name="connsiteX7" fmla="*/ 1266899 w 1528232"/>
              <a:gd name="connsiteY7" fmla="*/ 471195 h 478315"/>
              <a:gd name="connsiteX8" fmla="*/ 1262621 w 1528232"/>
              <a:gd name="connsiteY8" fmla="*/ 478079 h 478315"/>
              <a:gd name="connsiteX9" fmla="*/ 1279922 w 1528232"/>
              <a:gd name="connsiteY9" fmla="*/ 476032 h 478315"/>
              <a:gd name="connsiteX10" fmla="*/ 1276573 w 1528232"/>
              <a:gd name="connsiteY10" fmla="*/ 471009 h 478315"/>
              <a:gd name="connsiteX11" fmla="*/ 1433773 w 1528232"/>
              <a:gd name="connsiteY11" fmla="*/ 154 h 478315"/>
              <a:gd name="connsiteX12" fmla="*/ 1423169 w 1528232"/>
              <a:gd name="connsiteY12" fmla="*/ 154 h 478315"/>
              <a:gd name="connsiteX13" fmla="*/ 1420192 w 1528232"/>
              <a:gd name="connsiteY13" fmla="*/ 2015 h 478315"/>
              <a:gd name="connsiteX14" fmla="*/ 1420006 w 1528232"/>
              <a:gd name="connsiteY14" fmla="*/ 2759 h 478315"/>
              <a:gd name="connsiteX15" fmla="*/ 1424657 w 1528232"/>
              <a:gd name="connsiteY15" fmla="*/ 7223 h 478315"/>
              <a:gd name="connsiteX16" fmla="*/ 1432657 w 1528232"/>
              <a:gd name="connsiteY16" fmla="*/ 7223 h 478315"/>
              <a:gd name="connsiteX17" fmla="*/ 1437494 w 1528232"/>
              <a:gd name="connsiteY17" fmla="*/ 2015 h 478315"/>
              <a:gd name="connsiteX18" fmla="*/ 1433773 w 1528232"/>
              <a:gd name="connsiteY18" fmla="*/ 154 h 478315"/>
              <a:gd name="connsiteX19" fmla="*/ 1526418 w 1528232"/>
              <a:gd name="connsiteY19" fmla="*/ 133355 h 478315"/>
              <a:gd name="connsiteX20" fmla="*/ 1520465 w 1528232"/>
              <a:gd name="connsiteY20" fmla="*/ 132239 h 478315"/>
              <a:gd name="connsiteX21" fmla="*/ 1510234 w 1528232"/>
              <a:gd name="connsiteY21" fmla="*/ 132611 h 478315"/>
              <a:gd name="connsiteX22" fmla="*/ 1506699 w 1528232"/>
              <a:gd name="connsiteY22" fmla="*/ 132239 h 478315"/>
              <a:gd name="connsiteX23" fmla="*/ 1499257 w 1528232"/>
              <a:gd name="connsiteY23" fmla="*/ 136704 h 478315"/>
              <a:gd name="connsiteX24" fmla="*/ 1526418 w 1528232"/>
              <a:gd name="connsiteY24" fmla="*/ 136146 h 478315"/>
              <a:gd name="connsiteX25" fmla="*/ 1526418 w 1528232"/>
              <a:gd name="connsiteY25" fmla="*/ 133355 h 478315"/>
              <a:gd name="connsiteX26" fmla="*/ 1471910 w 1528232"/>
              <a:gd name="connsiteY26" fmla="*/ 118659 h 478315"/>
              <a:gd name="connsiteX27" fmla="*/ 1454423 w 1528232"/>
              <a:gd name="connsiteY27" fmla="*/ 118473 h 478315"/>
              <a:gd name="connsiteX28" fmla="*/ 1451632 w 1528232"/>
              <a:gd name="connsiteY28" fmla="*/ 119403 h 478315"/>
              <a:gd name="connsiteX29" fmla="*/ 1474329 w 1528232"/>
              <a:gd name="connsiteY29" fmla="*/ 122193 h 478315"/>
              <a:gd name="connsiteX30" fmla="*/ 1471910 w 1528232"/>
              <a:gd name="connsiteY30" fmla="*/ 118659 h 478315"/>
              <a:gd name="connsiteX31" fmla="*/ 5209 w 1528232"/>
              <a:gd name="connsiteY31" fmla="*/ 432872 h 478315"/>
              <a:gd name="connsiteX32" fmla="*/ 21952 w 1528232"/>
              <a:gd name="connsiteY32" fmla="*/ 429337 h 478315"/>
              <a:gd name="connsiteX33" fmla="*/ 2791 w 1528232"/>
              <a:gd name="connsiteY33" fmla="*/ 429523 h 478315"/>
              <a:gd name="connsiteX34" fmla="*/ 0 w 1528232"/>
              <a:gd name="connsiteY34" fmla="*/ 430826 h 478315"/>
              <a:gd name="connsiteX35" fmla="*/ 2791 w 1528232"/>
              <a:gd name="connsiteY35" fmla="*/ 432128 h 478315"/>
              <a:gd name="connsiteX36" fmla="*/ 4093 w 1528232"/>
              <a:gd name="connsiteY36" fmla="*/ 432128 h 478315"/>
              <a:gd name="connsiteX37" fmla="*/ 5209 w 1528232"/>
              <a:gd name="connsiteY37" fmla="*/ 432872 h 478315"/>
              <a:gd name="connsiteX38" fmla="*/ 1371823 w 1528232"/>
              <a:gd name="connsiteY38" fmla="*/ 153447 h 478315"/>
              <a:gd name="connsiteX39" fmla="*/ 1384474 w 1528232"/>
              <a:gd name="connsiteY39" fmla="*/ 153633 h 478315"/>
              <a:gd name="connsiteX40" fmla="*/ 1371823 w 1528232"/>
              <a:gd name="connsiteY40" fmla="*/ 153447 h 478315"/>
              <a:gd name="connsiteX41" fmla="*/ 168920 w 1528232"/>
              <a:gd name="connsiteY41" fmla="*/ 209072 h 478315"/>
              <a:gd name="connsiteX42" fmla="*/ 165385 w 1528232"/>
              <a:gd name="connsiteY42" fmla="*/ 209072 h 478315"/>
              <a:gd name="connsiteX43" fmla="*/ 158502 w 1528232"/>
              <a:gd name="connsiteY43" fmla="*/ 210188 h 478315"/>
              <a:gd name="connsiteX44" fmla="*/ 158316 w 1528232"/>
              <a:gd name="connsiteY44" fmla="*/ 212420 h 478315"/>
              <a:gd name="connsiteX45" fmla="*/ 168920 w 1528232"/>
              <a:gd name="connsiteY45" fmla="*/ 212420 h 478315"/>
              <a:gd name="connsiteX46" fmla="*/ 168734 w 1528232"/>
              <a:gd name="connsiteY46" fmla="*/ 210560 h 478315"/>
              <a:gd name="connsiteX47" fmla="*/ 168920 w 1528232"/>
              <a:gd name="connsiteY47" fmla="*/ 209072 h 478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528232" h="478315">
                <a:moveTo>
                  <a:pt x="1518977" y="120705"/>
                </a:moveTo>
                <a:cubicBezTo>
                  <a:pt x="1518047" y="120333"/>
                  <a:pt x="1516931" y="119775"/>
                  <a:pt x="1516001" y="119403"/>
                </a:cubicBezTo>
                <a:cubicBezTo>
                  <a:pt x="1505024" y="119403"/>
                  <a:pt x="1494048" y="119403"/>
                  <a:pt x="1483072" y="119217"/>
                </a:cubicBezTo>
                <a:cubicBezTo>
                  <a:pt x="1480654" y="120333"/>
                  <a:pt x="1480654" y="121263"/>
                  <a:pt x="1483072" y="122193"/>
                </a:cubicBezTo>
                <a:cubicBezTo>
                  <a:pt x="1494048" y="122193"/>
                  <a:pt x="1505024" y="122007"/>
                  <a:pt x="1516001" y="122007"/>
                </a:cubicBezTo>
                <a:cubicBezTo>
                  <a:pt x="1517117" y="121635"/>
                  <a:pt x="1518047" y="121263"/>
                  <a:pt x="1518977" y="120705"/>
                </a:cubicBezTo>
                <a:close/>
                <a:moveTo>
                  <a:pt x="1276573" y="471009"/>
                </a:moveTo>
                <a:cubicBezTo>
                  <a:pt x="1273411" y="471009"/>
                  <a:pt x="1270248" y="471009"/>
                  <a:pt x="1266899" y="471195"/>
                </a:cubicBezTo>
                <a:cubicBezTo>
                  <a:pt x="1264295" y="472683"/>
                  <a:pt x="1260946" y="473800"/>
                  <a:pt x="1262621" y="478079"/>
                </a:cubicBezTo>
                <a:cubicBezTo>
                  <a:pt x="1268388" y="477892"/>
                  <a:pt x="1274527" y="479567"/>
                  <a:pt x="1279922" y="476032"/>
                </a:cubicBezTo>
                <a:cubicBezTo>
                  <a:pt x="1279364" y="473800"/>
                  <a:pt x="1278248" y="472311"/>
                  <a:pt x="1276573" y="471009"/>
                </a:cubicBezTo>
                <a:close/>
                <a:moveTo>
                  <a:pt x="1433773" y="154"/>
                </a:moveTo>
                <a:lnTo>
                  <a:pt x="1423169" y="154"/>
                </a:lnTo>
                <a:cubicBezTo>
                  <a:pt x="1421495" y="-218"/>
                  <a:pt x="1420565" y="340"/>
                  <a:pt x="1420192" y="2015"/>
                </a:cubicBezTo>
                <a:lnTo>
                  <a:pt x="1420006" y="2759"/>
                </a:lnTo>
                <a:cubicBezTo>
                  <a:pt x="1420751" y="4991"/>
                  <a:pt x="1422239" y="6665"/>
                  <a:pt x="1424657" y="7223"/>
                </a:cubicBezTo>
                <a:lnTo>
                  <a:pt x="1432657" y="7223"/>
                </a:lnTo>
                <a:cubicBezTo>
                  <a:pt x="1435261" y="6479"/>
                  <a:pt x="1437866" y="5177"/>
                  <a:pt x="1437494" y="2015"/>
                </a:cubicBezTo>
                <a:cubicBezTo>
                  <a:pt x="1437308" y="-32"/>
                  <a:pt x="1435447" y="-218"/>
                  <a:pt x="1433773" y="154"/>
                </a:cubicBezTo>
                <a:close/>
                <a:moveTo>
                  <a:pt x="1526418" y="133355"/>
                </a:moveTo>
                <a:cubicBezTo>
                  <a:pt x="1524372" y="132983"/>
                  <a:pt x="1522512" y="132611"/>
                  <a:pt x="1520465" y="132239"/>
                </a:cubicBezTo>
                <a:cubicBezTo>
                  <a:pt x="1517117" y="131123"/>
                  <a:pt x="1513582" y="130751"/>
                  <a:pt x="1510234" y="132611"/>
                </a:cubicBezTo>
                <a:cubicBezTo>
                  <a:pt x="1509117" y="132425"/>
                  <a:pt x="1507815" y="132239"/>
                  <a:pt x="1506699" y="132239"/>
                </a:cubicBezTo>
                <a:cubicBezTo>
                  <a:pt x="1503536" y="132797"/>
                  <a:pt x="1499071" y="130937"/>
                  <a:pt x="1499257" y="136704"/>
                </a:cubicBezTo>
                <a:lnTo>
                  <a:pt x="1526418" y="136146"/>
                </a:lnTo>
                <a:cubicBezTo>
                  <a:pt x="1528837" y="135216"/>
                  <a:pt x="1528837" y="134286"/>
                  <a:pt x="1526418" y="133355"/>
                </a:cubicBezTo>
                <a:close/>
                <a:moveTo>
                  <a:pt x="1471910" y="118659"/>
                </a:moveTo>
                <a:cubicBezTo>
                  <a:pt x="1466143" y="118659"/>
                  <a:pt x="1460376" y="118473"/>
                  <a:pt x="1454423" y="118473"/>
                </a:cubicBezTo>
                <a:cubicBezTo>
                  <a:pt x="1453121" y="117728"/>
                  <a:pt x="1452191" y="118100"/>
                  <a:pt x="1451632" y="119403"/>
                </a:cubicBezTo>
                <a:cubicBezTo>
                  <a:pt x="1458516" y="125914"/>
                  <a:pt x="1466887" y="121263"/>
                  <a:pt x="1474329" y="122193"/>
                </a:cubicBezTo>
                <a:cubicBezTo>
                  <a:pt x="1477119" y="118473"/>
                  <a:pt x="1474515" y="118659"/>
                  <a:pt x="1471910" y="118659"/>
                </a:cubicBezTo>
                <a:close/>
                <a:moveTo>
                  <a:pt x="5209" y="432872"/>
                </a:moveTo>
                <a:cubicBezTo>
                  <a:pt x="10790" y="431570"/>
                  <a:pt x="17859" y="437337"/>
                  <a:pt x="21952" y="429337"/>
                </a:cubicBezTo>
                <a:cubicBezTo>
                  <a:pt x="15627" y="429337"/>
                  <a:pt x="9116" y="429523"/>
                  <a:pt x="2791" y="429523"/>
                </a:cubicBezTo>
                <a:cubicBezTo>
                  <a:pt x="1860" y="429895"/>
                  <a:pt x="930" y="430453"/>
                  <a:pt x="0" y="430826"/>
                </a:cubicBezTo>
                <a:cubicBezTo>
                  <a:pt x="930" y="431198"/>
                  <a:pt x="1860" y="431756"/>
                  <a:pt x="2791" y="432128"/>
                </a:cubicBezTo>
                <a:lnTo>
                  <a:pt x="4093" y="432128"/>
                </a:lnTo>
                <a:lnTo>
                  <a:pt x="5209" y="432872"/>
                </a:lnTo>
                <a:close/>
                <a:moveTo>
                  <a:pt x="1371823" y="153447"/>
                </a:moveTo>
                <a:cubicBezTo>
                  <a:pt x="1376102" y="153447"/>
                  <a:pt x="1380195" y="153633"/>
                  <a:pt x="1384474" y="153633"/>
                </a:cubicBezTo>
                <a:cubicBezTo>
                  <a:pt x="1380381" y="147122"/>
                  <a:pt x="1376288" y="147494"/>
                  <a:pt x="1371823" y="153447"/>
                </a:cubicBezTo>
                <a:close/>
                <a:moveTo>
                  <a:pt x="168920" y="209072"/>
                </a:moveTo>
                <a:cubicBezTo>
                  <a:pt x="167804" y="208328"/>
                  <a:pt x="166688" y="208328"/>
                  <a:pt x="165385" y="209072"/>
                </a:cubicBezTo>
                <a:cubicBezTo>
                  <a:pt x="163153" y="209444"/>
                  <a:pt x="160734" y="209816"/>
                  <a:pt x="158502" y="210188"/>
                </a:cubicBezTo>
                <a:cubicBezTo>
                  <a:pt x="158502" y="210932"/>
                  <a:pt x="158502" y="211676"/>
                  <a:pt x="158316" y="212420"/>
                </a:cubicBezTo>
                <a:lnTo>
                  <a:pt x="168920" y="212420"/>
                </a:lnTo>
                <a:cubicBezTo>
                  <a:pt x="168920" y="211862"/>
                  <a:pt x="168734" y="211118"/>
                  <a:pt x="168734" y="210560"/>
                </a:cubicBezTo>
                <a:lnTo>
                  <a:pt x="168920" y="209072"/>
                </a:lnTo>
                <a:close/>
              </a:path>
            </a:pathLst>
          </a:custGeom>
          <a:ln w="1860" cap="flat">
            <a:noFill/>
            <a:prstDash val="solid"/>
            <a:miter/>
          </a:ln>
        </p:spPr>
        <p:txBody>
          <a:bodyPr rtlCol="0" anchor="ctr"/>
          <a:lstStyle/>
          <a:p>
            <a:endParaRPr lang="zh-CN" altLang="en-US"/>
          </a:p>
        </p:txBody>
      </p:sp>
      <p:sp useBgFill="1">
        <p:nvSpPr>
          <p:cNvPr id="17" name="任意多边形: 形状 16">
            <a:extLst>
              <a:ext uri="{FF2B5EF4-FFF2-40B4-BE49-F238E27FC236}">
                <a16:creationId xmlns:a16="http://schemas.microsoft.com/office/drawing/2014/main" id="{21D35CE6-209B-5D93-6871-519E2492293D}"/>
              </a:ext>
            </a:extLst>
          </p:cNvPr>
          <p:cNvSpPr/>
          <p:nvPr/>
        </p:nvSpPr>
        <p:spPr>
          <a:xfrm rot="18292778">
            <a:off x="6961975" y="-257521"/>
            <a:ext cx="8175454" cy="4304657"/>
          </a:xfrm>
          <a:custGeom>
            <a:avLst/>
            <a:gdLst>
              <a:gd name="connsiteX0" fmla="*/ 210012 w 1641738"/>
              <a:gd name="connsiteY0" fmla="*/ 205755 h 515503"/>
              <a:gd name="connsiteX1" fmla="*/ 199780 w 1641738"/>
              <a:gd name="connsiteY1" fmla="*/ 205941 h 515503"/>
              <a:gd name="connsiteX2" fmla="*/ 199780 w 1641738"/>
              <a:gd name="connsiteY2" fmla="*/ 208173 h 515503"/>
              <a:gd name="connsiteX3" fmla="*/ 209640 w 1641738"/>
              <a:gd name="connsiteY3" fmla="*/ 209476 h 515503"/>
              <a:gd name="connsiteX4" fmla="*/ 210012 w 1641738"/>
              <a:gd name="connsiteY4" fmla="*/ 207987 h 515503"/>
              <a:gd name="connsiteX5" fmla="*/ 210012 w 1641738"/>
              <a:gd name="connsiteY5" fmla="*/ 205755 h 515503"/>
              <a:gd name="connsiteX6" fmla="*/ 91136 w 1641738"/>
              <a:gd name="connsiteY6" fmla="*/ 424904 h 515503"/>
              <a:gd name="connsiteX7" fmla="*/ 80718 w 1641738"/>
              <a:gd name="connsiteY7" fmla="*/ 424904 h 515503"/>
              <a:gd name="connsiteX8" fmla="*/ 91136 w 1641738"/>
              <a:gd name="connsiteY8" fmla="*/ 424904 h 515503"/>
              <a:gd name="connsiteX9" fmla="*/ 1418311 w 1641738"/>
              <a:gd name="connsiteY9" fmla="*/ 25487 h 515503"/>
              <a:gd name="connsiteX10" fmla="*/ 1419613 w 1641738"/>
              <a:gd name="connsiteY10" fmla="*/ 27533 h 515503"/>
              <a:gd name="connsiteX11" fmla="*/ 1422218 w 1641738"/>
              <a:gd name="connsiteY11" fmla="*/ 28649 h 515503"/>
              <a:gd name="connsiteX12" fmla="*/ 1429287 w 1641738"/>
              <a:gd name="connsiteY12" fmla="*/ 24371 h 515503"/>
              <a:gd name="connsiteX13" fmla="*/ 1419613 w 1641738"/>
              <a:gd name="connsiteY13" fmla="*/ 24557 h 515503"/>
              <a:gd name="connsiteX14" fmla="*/ 1418311 w 1641738"/>
              <a:gd name="connsiteY14" fmla="*/ 25487 h 515503"/>
              <a:gd name="connsiteX15" fmla="*/ 125552 w 1641738"/>
              <a:gd name="connsiteY15" fmla="*/ 377279 h 515503"/>
              <a:gd name="connsiteX16" fmla="*/ 126669 w 1641738"/>
              <a:gd name="connsiteY16" fmla="*/ 379326 h 515503"/>
              <a:gd name="connsiteX17" fmla="*/ 129831 w 1641738"/>
              <a:gd name="connsiteY17" fmla="*/ 380442 h 515503"/>
              <a:gd name="connsiteX18" fmla="*/ 136528 w 1641738"/>
              <a:gd name="connsiteY18" fmla="*/ 379512 h 515503"/>
              <a:gd name="connsiteX19" fmla="*/ 137273 w 1641738"/>
              <a:gd name="connsiteY19" fmla="*/ 378209 h 515503"/>
              <a:gd name="connsiteX20" fmla="*/ 136156 w 1641738"/>
              <a:gd name="connsiteY20" fmla="*/ 375977 h 515503"/>
              <a:gd name="connsiteX21" fmla="*/ 132994 w 1641738"/>
              <a:gd name="connsiteY21" fmla="*/ 375233 h 515503"/>
              <a:gd name="connsiteX22" fmla="*/ 126297 w 1641738"/>
              <a:gd name="connsiteY22" fmla="*/ 376163 h 515503"/>
              <a:gd name="connsiteX23" fmla="*/ 126483 w 1641738"/>
              <a:gd name="connsiteY23" fmla="*/ 375977 h 515503"/>
              <a:gd name="connsiteX24" fmla="*/ 125552 w 1641738"/>
              <a:gd name="connsiteY24" fmla="*/ 377279 h 515503"/>
              <a:gd name="connsiteX25" fmla="*/ 1537001 w 1641738"/>
              <a:gd name="connsiteY25" fmla="*/ 132271 h 515503"/>
              <a:gd name="connsiteX26" fmla="*/ 1547605 w 1641738"/>
              <a:gd name="connsiteY26" fmla="*/ 132271 h 515503"/>
              <a:gd name="connsiteX27" fmla="*/ 1537001 w 1641738"/>
              <a:gd name="connsiteY27" fmla="*/ 132271 h 515503"/>
              <a:gd name="connsiteX28" fmla="*/ 1519886 w 1641738"/>
              <a:gd name="connsiteY28" fmla="*/ 3349 h 515503"/>
              <a:gd name="connsiteX29" fmla="*/ 1526211 w 1641738"/>
              <a:gd name="connsiteY29" fmla="*/ 3163 h 515503"/>
              <a:gd name="connsiteX30" fmla="*/ 1526397 w 1641738"/>
              <a:gd name="connsiteY30" fmla="*/ 0 h 515503"/>
              <a:gd name="connsiteX31" fmla="*/ 1526397 w 1641738"/>
              <a:gd name="connsiteY31" fmla="*/ 186 h 515503"/>
              <a:gd name="connsiteX32" fmla="*/ 1519886 w 1641738"/>
              <a:gd name="connsiteY32" fmla="*/ 3349 h 515503"/>
              <a:gd name="connsiteX33" fmla="*/ 1641739 w 1641738"/>
              <a:gd name="connsiteY33" fmla="*/ 76460 h 515503"/>
              <a:gd name="connsiteX34" fmla="*/ 1641739 w 1641738"/>
              <a:gd name="connsiteY34" fmla="*/ 72926 h 515503"/>
              <a:gd name="connsiteX35" fmla="*/ 1634670 w 1641738"/>
              <a:gd name="connsiteY35" fmla="*/ 72926 h 515503"/>
              <a:gd name="connsiteX36" fmla="*/ 1633926 w 1641738"/>
              <a:gd name="connsiteY36" fmla="*/ 74042 h 515503"/>
              <a:gd name="connsiteX37" fmla="*/ 1634670 w 1641738"/>
              <a:gd name="connsiteY37" fmla="*/ 76274 h 515503"/>
              <a:gd name="connsiteX38" fmla="*/ 1641739 w 1641738"/>
              <a:gd name="connsiteY38" fmla="*/ 76460 h 515503"/>
              <a:gd name="connsiteX39" fmla="*/ 1575883 w 1641738"/>
              <a:gd name="connsiteY39" fmla="*/ 114970 h 515503"/>
              <a:gd name="connsiteX40" fmla="*/ 1575883 w 1641738"/>
              <a:gd name="connsiteY40" fmla="*/ 118318 h 515503"/>
              <a:gd name="connsiteX41" fmla="*/ 1582580 w 1641738"/>
              <a:gd name="connsiteY41" fmla="*/ 118318 h 515503"/>
              <a:gd name="connsiteX42" fmla="*/ 1583324 w 1641738"/>
              <a:gd name="connsiteY42" fmla="*/ 117202 h 515503"/>
              <a:gd name="connsiteX43" fmla="*/ 1582580 w 1641738"/>
              <a:gd name="connsiteY43" fmla="*/ 114970 h 515503"/>
              <a:gd name="connsiteX44" fmla="*/ 1575883 w 1641738"/>
              <a:gd name="connsiteY44" fmla="*/ 114970 h 515503"/>
              <a:gd name="connsiteX45" fmla="*/ 1617368 w 1641738"/>
              <a:gd name="connsiteY45" fmla="*/ 128736 h 515503"/>
              <a:gd name="connsiteX46" fmla="*/ 1617368 w 1641738"/>
              <a:gd name="connsiteY46" fmla="*/ 132271 h 515503"/>
              <a:gd name="connsiteX47" fmla="*/ 1621647 w 1641738"/>
              <a:gd name="connsiteY47" fmla="*/ 131155 h 515503"/>
              <a:gd name="connsiteX48" fmla="*/ 1617368 w 1641738"/>
              <a:gd name="connsiteY48" fmla="*/ 128736 h 515503"/>
              <a:gd name="connsiteX49" fmla="*/ 42581 w 1641738"/>
              <a:gd name="connsiteY49" fmla="*/ 428253 h 515503"/>
              <a:gd name="connsiteX50" fmla="*/ 48906 w 1641738"/>
              <a:gd name="connsiteY50" fmla="*/ 428067 h 515503"/>
              <a:gd name="connsiteX51" fmla="*/ 50208 w 1641738"/>
              <a:gd name="connsiteY51" fmla="*/ 427137 h 515503"/>
              <a:gd name="connsiteX52" fmla="*/ 49278 w 1641738"/>
              <a:gd name="connsiteY52" fmla="*/ 424904 h 515503"/>
              <a:gd name="connsiteX53" fmla="*/ 42395 w 1641738"/>
              <a:gd name="connsiteY53" fmla="*/ 424718 h 515503"/>
              <a:gd name="connsiteX54" fmla="*/ 42581 w 1641738"/>
              <a:gd name="connsiteY54" fmla="*/ 428253 h 515503"/>
              <a:gd name="connsiteX55" fmla="*/ 537 w 1641738"/>
              <a:gd name="connsiteY55" fmla="*/ 480529 h 515503"/>
              <a:gd name="connsiteX56" fmla="*/ 723 w 1641738"/>
              <a:gd name="connsiteY56" fmla="*/ 484064 h 515503"/>
              <a:gd name="connsiteX57" fmla="*/ 7420 w 1641738"/>
              <a:gd name="connsiteY57" fmla="*/ 480715 h 515503"/>
              <a:gd name="connsiteX58" fmla="*/ 537 w 1641738"/>
              <a:gd name="connsiteY58" fmla="*/ 480529 h 515503"/>
              <a:gd name="connsiteX59" fmla="*/ 67323 w 1641738"/>
              <a:gd name="connsiteY59" fmla="*/ 511597 h 515503"/>
              <a:gd name="connsiteX60" fmla="*/ 73463 w 1641738"/>
              <a:gd name="connsiteY60" fmla="*/ 511783 h 515503"/>
              <a:gd name="connsiteX61" fmla="*/ 67323 w 1641738"/>
              <a:gd name="connsiteY61" fmla="*/ 511597 h 515503"/>
              <a:gd name="connsiteX62" fmla="*/ 1547977 w 1641738"/>
              <a:gd name="connsiteY62" fmla="*/ 17115 h 515503"/>
              <a:gd name="connsiteX63" fmla="*/ 1551326 w 1641738"/>
              <a:gd name="connsiteY63" fmla="*/ 17301 h 515503"/>
              <a:gd name="connsiteX64" fmla="*/ 1551326 w 1641738"/>
              <a:gd name="connsiteY64" fmla="*/ 13767 h 515503"/>
              <a:gd name="connsiteX65" fmla="*/ 1547977 w 1641738"/>
              <a:gd name="connsiteY65" fmla="*/ 13953 h 515503"/>
              <a:gd name="connsiteX66" fmla="*/ 1547977 w 1641738"/>
              <a:gd name="connsiteY66" fmla="*/ 17115 h 515503"/>
              <a:gd name="connsiteX67" fmla="*/ 40162 w 1641738"/>
              <a:gd name="connsiteY67" fmla="*/ 507504 h 515503"/>
              <a:gd name="connsiteX68" fmla="*/ 42395 w 1641738"/>
              <a:gd name="connsiteY68" fmla="*/ 505085 h 515503"/>
              <a:gd name="connsiteX69" fmla="*/ 39232 w 1641738"/>
              <a:gd name="connsiteY69" fmla="*/ 505085 h 515503"/>
              <a:gd name="connsiteX70" fmla="*/ 40162 w 1641738"/>
              <a:gd name="connsiteY70" fmla="*/ 507504 h 515503"/>
              <a:gd name="connsiteX71" fmla="*/ 1460541 w 1641738"/>
              <a:gd name="connsiteY71" fmla="*/ 198499 h 515503"/>
              <a:gd name="connsiteX72" fmla="*/ 1460727 w 1641738"/>
              <a:gd name="connsiteY72" fmla="*/ 201848 h 515503"/>
              <a:gd name="connsiteX73" fmla="*/ 1464075 w 1641738"/>
              <a:gd name="connsiteY73" fmla="*/ 202034 h 515503"/>
              <a:gd name="connsiteX74" fmla="*/ 1460541 w 1641738"/>
              <a:gd name="connsiteY74" fmla="*/ 198499 h 515503"/>
              <a:gd name="connsiteX75" fmla="*/ 112344 w 1641738"/>
              <a:gd name="connsiteY75" fmla="*/ 436252 h 515503"/>
              <a:gd name="connsiteX76" fmla="*/ 108623 w 1641738"/>
              <a:gd name="connsiteY76" fmla="*/ 438857 h 515503"/>
              <a:gd name="connsiteX77" fmla="*/ 113274 w 1641738"/>
              <a:gd name="connsiteY77" fmla="*/ 438113 h 515503"/>
              <a:gd name="connsiteX78" fmla="*/ 112344 w 1641738"/>
              <a:gd name="connsiteY78" fmla="*/ 436252 h 515503"/>
              <a:gd name="connsiteX79" fmla="*/ 39232 w 1641738"/>
              <a:gd name="connsiteY79" fmla="*/ 497644 h 515503"/>
              <a:gd name="connsiteX80" fmla="*/ 55789 w 1641738"/>
              <a:gd name="connsiteY80" fmla="*/ 491319 h 515503"/>
              <a:gd name="connsiteX81" fmla="*/ 39232 w 1641738"/>
              <a:gd name="connsiteY81" fmla="*/ 497644 h 515503"/>
              <a:gd name="connsiteX82" fmla="*/ 1416636 w 1641738"/>
              <a:gd name="connsiteY82" fmla="*/ 192546 h 515503"/>
              <a:gd name="connsiteX83" fmla="*/ 1405102 w 1641738"/>
              <a:gd name="connsiteY83" fmla="*/ 191802 h 515503"/>
              <a:gd name="connsiteX84" fmla="*/ 1416636 w 1641738"/>
              <a:gd name="connsiteY84" fmla="*/ 192546 h 515503"/>
              <a:gd name="connsiteX85" fmla="*/ 1383894 w 1641738"/>
              <a:gd name="connsiteY85" fmla="*/ 191430 h 515503"/>
              <a:gd name="connsiteX86" fmla="*/ 1383894 w 1641738"/>
              <a:gd name="connsiteY86" fmla="*/ 191430 h 515503"/>
              <a:gd name="connsiteX87" fmla="*/ 1395242 w 1641738"/>
              <a:gd name="connsiteY87" fmla="*/ 193104 h 515503"/>
              <a:gd name="connsiteX88" fmla="*/ 1384080 w 1641738"/>
              <a:gd name="connsiteY88" fmla="*/ 191430 h 515503"/>
              <a:gd name="connsiteX89" fmla="*/ 1395242 w 1641738"/>
              <a:gd name="connsiteY89" fmla="*/ 193104 h 515503"/>
              <a:gd name="connsiteX90" fmla="*/ 105275 w 1641738"/>
              <a:gd name="connsiteY90" fmla="*/ 509364 h 515503"/>
              <a:gd name="connsiteX91" fmla="*/ 102298 w 1641738"/>
              <a:gd name="connsiteY91" fmla="*/ 515131 h 515503"/>
              <a:gd name="connsiteX92" fmla="*/ 103786 w 1641738"/>
              <a:gd name="connsiteY92" fmla="*/ 515503 h 515503"/>
              <a:gd name="connsiteX93" fmla="*/ 105275 w 1641738"/>
              <a:gd name="connsiteY93" fmla="*/ 515317 h 515503"/>
              <a:gd name="connsiteX94" fmla="*/ 105275 w 1641738"/>
              <a:gd name="connsiteY94" fmla="*/ 509364 h 515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Lst>
            <a:rect l="l" t="t" r="r" b="b"/>
            <a:pathLst>
              <a:path w="1641738" h="515503">
                <a:moveTo>
                  <a:pt x="210012" y="205755"/>
                </a:moveTo>
                <a:cubicBezTo>
                  <a:pt x="206664" y="205755"/>
                  <a:pt x="203315" y="205755"/>
                  <a:pt x="199780" y="205941"/>
                </a:cubicBezTo>
                <a:cubicBezTo>
                  <a:pt x="199780" y="206685"/>
                  <a:pt x="199594" y="207429"/>
                  <a:pt x="199780" y="208173"/>
                </a:cubicBezTo>
                <a:cubicBezTo>
                  <a:pt x="202571" y="211894"/>
                  <a:pt x="206106" y="210406"/>
                  <a:pt x="209640" y="209476"/>
                </a:cubicBezTo>
                <a:lnTo>
                  <a:pt x="210012" y="207987"/>
                </a:lnTo>
                <a:cubicBezTo>
                  <a:pt x="209826" y="207429"/>
                  <a:pt x="209826" y="206685"/>
                  <a:pt x="210012" y="205755"/>
                </a:cubicBezTo>
                <a:close/>
                <a:moveTo>
                  <a:pt x="91136" y="424904"/>
                </a:moveTo>
                <a:lnTo>
                  <a:pt x="80718" y="424904"/>
                </a:lnTo>
                <a:cubicBezTo>
                  <a:pt x="84067" y="431602"/>
                  <a:pt x="87601" y="431788"/>
                  <a:pt x="91136" y="424904"/>
                </a:cubicBezTo>
                <a:close/>
                <a:moveTo>
                  <a:pt x="1418311" y="25487"/>
                </a:moveTo>
                <a:cubicBezTo>
                  <a:pt x="1417939" y="26231"/>
                  <a:pt x="1418311" y="26789"/>
                  <a:pt x="1419613" y="27533"/>
                </a:cubicBezTo>
                <a:cubicBezTo>
                  <a:pt x="1420729" y="27533"/>
                  <a:pt x="1421473" y="27905"/>
                  <a:pt x="1422218" y="28649"/>
                </a:cubicBezTo>
                <a:cubicBezTo>
                  <a:pt x="1425194" y="28277"/>
                  <a:pt x="1428915" y="29021"/>
                  <a:pt x="1429287" y="24371"/>
                </a:cubicBezTo>
                <a:cubicBezTo>
                  <a:pt x="1426124" y="24371"/>
                  <a:pt x="1422962" y="24557"/>
                  <a:pt x="1419613" y="24557"/>
                </a:cubicBezTo>
                <a:cubicBezTo>
                  <a:pt x="1419241" y="24557"/>
                  <a:pt x="1418869" y="24743"/>
                  <a:pt x="1418311" y="25487"/>
                </a:cubicBezTo>
                <a:close/>
                <a:moveTo>
                  <a:pt x="125552" y="377279"/>
                </a:moveTo>
                <a:cubicBezTo>
                  <a:pt x="125366" y="378023"/>
                  <a:pt x="125738" y="378768"/>
                  <a:pt x="126669" y="379326"/>
                </a:cubicBezTo>
                <a:cubicBezTo>
                  <a:pt x="127971" y="379326"/>
                  <a:pt x="128901" y="379698"/>
                  <a:pt x="129831" y="380442"/>
                </a:cubicBezTo>
                <a:cubicBezTo>
                  <a:pt x="132250" y="381186"/>
                  <a:pt x="134482" y="381372"/>
                  <a:pt x="136528" y="379512"/>
                </a:cubicBezTo>
                <a:cubicBezTo>
                  <a:pt x="136715" y="379512"/>
                  <a:pt x="137087" y="379140"/>
                  <a:pt x="137273" y="378209"/>
                </a:cubicBezTo>
                <a:cubicBezTo>
                  <a:pt x="137459" y="377465"/>
                  <a:pt x="137087" y="376721"/>
                  <a:pt x="136156" y="375977"/>
                </a:cubicBezTo>
                <a:cubicBezTo>
                  <a:pt x="135040" y="375977"/>
                  <a:pt x="133924" y="375791"/>
                  <a:pt x="132994" y="375233"/>
                </a:cubicBezTo>
                <a:cubicBezTo>
                  <a:pt x="130575" y="374117"/>
                  <a:pt x="128157" y="373931"/>
                  <a:pt x="126297" y="376163"/>
                </a:cubicBezTo>
                <a:lnTo>
                  <a:pt x="126483" y="375977"/>
                </a:lnTo>
                <a:cubicBezTo>
                  <a:pt x="126111" y="376163"/>
                  <a:pt x="125738" y="376535"/>
                  <a:pt x="125552" y="377279"/>
                </a:cubicBezTo>
                <a:close/>
                <a:moveTo>
                  <a:pt x="1537001" y="132271"/>
                </a:moveTo>
                <a:lnTo>
                  <a:pt x="1547605" y="132271"/>
                </a:lnTo>
                <a:cubicBezTo>
                  <a:pt x="1544071" y="125574"/>
                  <a:pt x="1540536" y="125016"/>
                  <a:pt x="1537001" y="132271"/>
                </a:cubicBezTo>
                <a:close/>
                <a:moveTo>
                  <a:pt x="1519886" y="3349"/>
                </a:moveTo>
                <a:cubicBezTo>
                  <a:pt x="1521932" y="3349"/>
                  <a:pt x="1524165" y="3163"/>
                  <a:pt x="1526211" y="3163"/>
                </a:cubicBezTo>
                <a:cubicBezTo>
                  <a:pt x="1528444" y="2232"/>
                  <a:pt x="1528630" y="1302"/>
                  <a:pt x="1526397" y="0"/>
                </a:cubicBezTo>
                <a:lnTo>
                  <a:pt x="1526397" y="186"/>
                </a:lnTo>
                <a:cubicBezTo>
                  <a:pt x="1523793" y="0"/>
                  <a:pt x="1520630" y="-744"/>
                  <a:pt x="1519886" y="3349"/>
                </a:cubicBezTo>
                <a:close/>
                <a:moveTo>
                  <a:pt x="1641739" y="76460"/>
                </a:moveTo>
                <a:lnTo>
                  <a:pt x="1641739" y="72926"/>
                </a:lnTo>
                <a:lnTo>
                  <a:pt x="1634670" y="72926"/>
                </a:lnTo>
                <a:cubicBezTo>
                  <a:pt x="1634484" y="72926"/>
                  <a:pt x="1634298" y="73298"/>
                  <a:pt x="1633926" y="74042"/>
                </a:cubicBezTo>
                <a:cubicBezTo>
                  <a:pt x="1633740" y="74786"/>
                  <a:pt x="1633926" y="75530"/>
                  <a:pt x="1634670" y="76274"/>
                </a:cubicBezTo>
                <a:cubicBezTo>
                  <a:pt x="1637088" y="76460"/>
                  <a:pt x="1639507" y="76460"/>
                  <a:pt x="1641739" y="76460"/>
                </a:cubicBezTo>
                <a:close/>
                <a:moveTo>
                  <a:pt x="1575883" y="114970"/>
                </a:moveTo>
                <a:cubicBezTo>
                  <a:pt x="1575511" y="116086"/>
                  <a:pt x="1575511" y="117202"/>
                  <a:pt x="1575883" y="118318"/>
                </a:cubicBezTo>
                <a:lnTo>
                  <a:pt x="1582580" y="118318"/>
                </a:lnTo>
                <a:cubicBezTo>
                  <a:pt x="1582766" y="118318"/>
                  <a:pt x="1582952" y="117946"/>
                  <a:pt x="1583324" y="117202"/>
                </a:cubicBezTo>
                <a:cubicBezTo>
                  <a:pt x="1583510" y="116458"/>
                  <a:pt x="1583324" y="115714"/>
                  <a:pt x="1582580" y="114970"/>
                </a:cubicBezTo>
                <a:cubicBezTo>
                  <a:pt x="1580347" y="114784"/>
                  <a:pt x="1578115" y="114784"/>
                  <a:pt x="1575883" y="114970"/>
                </a:cubicBezTo>
                <a:close/>
                <a:moveTo>
                  <a:pt x="1617368" y="128736"/>
                </a:moveTo>
                <a:cubicBezTo>
                  <a:pt x="1616438" y="129853"/>
                  <a:pt x="1616438" y="131155"/>
                  <a:pt x="1617368" y="132271"/>
                </a:cubicBezTo>
                <a:cubicBezTo>
                  <a:pt x="1618857" y="131899"/>
                  <a:pt x="1621647" y="131527"/>
                  <a:pt x="1621647" y="131155"/>
                </a:cubicBezTo>
                <a:cubicBezTo>
                  <a:pt x="1621647" y="127992"/>
                  <a:pt x="1619043" y="129108"/>
                  <a:pt x="1617368" y="128736"/>
                </a:cubicBezTo>
                <a:close/>
                <a:moveTo>
                  <a:pt x="42581" y="428253"/>
                </a:moveTo>
                <a:cubicBezTo>
                  <a:pt x="44627" y="428253"/>
                  <a:pt x="46860" y="428067"/>
                  <a:pt x="48906" y="428067"/>
                </a:cubicBezTo>
                <a:cubicBezTo>
                  <a:pt x="49278" y="428067"/>
                  <a:pt x="49650" y="427695"/>
                  <a:pt x="50208" y="427137"/>
                </a:cubicBezTo>
                <a:cubicBezTo>
                  <a:pt x="50580" y="426393"/>
                  <a:pt x="50394" y="425648"/>
                  <a:pt x="49278" y="424904"/>
                </a:cubicBezTo>
                <a:cubicBezTo>
                  <a:pt x="47046" y="424904"/>
                  <a:pt x="44627" y="424718"/>
                  <a:pt x="42395" y="424718"/>
                </a:cubicBezTo>
                <a:cubicBezTo>
                  <a:pt x="42581" y="426021"/>
                  <a:pt x="42581" y="427137"/>
                  <a:pt x="42581" y="428253"/>
                </a:cubicBezTo>
                <a:close/>
                <a:moveTo>
                  <a:pt x="537" y="480529"/>
                </a:moveTo>
                <a:cubicBezTo>
                  <a:pt x="-207" y="481831"/>
                  <a:pt x="-207" y="482947"/>
                  <a:pt x="723" y="484064"/>
                </a:cubicBezTo>
                <a:cubicBezTo>
                  <a:pt x="3699" y="484250"/>
                  <a:pt x="6118" y="483505"/>
                  <a:pt x="7420" y="480715"/>
                </a:cubicBezTo>
                <a:cubicBezTo>
                  <a:pt x="5188" y="480715"/>
                  <a:pt x="2955" y="480529"/>
                  <a:pt x="537" y="480529"/>
                </a:cubicBezTo>
                <a:close/>
                <a:moveTo>
                  <a:pt x="67323" y="511597"/>
                </a:moveTo>
                <a:cubicBezTo>
                  <a:pt x="69370" y="511597"/>
                  <a:pt x="71416" y="511783"/>
                  <a:pt x="73463" y="511783"/>
                </a:cubicBezTo>
                <a:cubicBezTo>
                  <a:pt x="71602" y="507318"/>
                  <a:pt x="69556" y="507876"/>
                  <a:pt x="67323" y="511597"/>
                </a:cubicBezTo>
                <a:close/>
                <a:moveTo>
                  <a:pt x="1547977" y="17115"/>
                </a:moveTo>
                <a:cubicBezTo>
                  <a:pt x="1549094" y="17115"/>
                  <a:pt x="1550210" y="17115"/>
                  <a:pt x="1551326" y="17301"/>
                </a:cubicBezTo>
                <a:cubicBezTo>
                  <a:pt x="1552256" y="16185"/>
                  <a:pt x="1552256" y="14883"/>
                  <a:pt x="1551326" y="13767"/>
                </a:cubicBezTo>
                <a:cubicBezTo>
                  <a:pt x="1550210" y="13767"/>
                  <a:pt x="1549094" y="13767"/>
                  <a:pt x="1547977" y="13953"/>
                </a:cubicBezTo>
                <a:cubicBezTo>
                  <a:pt x="1547605" y="14883"/>
                  <a:pt x="1547605" y="15999"/>
                  <a:pt x="1547977" y="17115"/>
                </a:cubicBezTo>
                <a:close/>
                <a:moveTo>
                  <a:pt x="40162" y="507504"/>
                </a:moveTo>
                <a:cubicBezTo>
                  <a:pt x="42023" y="508062"/>
                  <a:pt x="42395" y="506574"/>
                  <a:pt x="42395" y="505085"/>
                </a:cubicBezTo>
                <a:lnTo>
                  <a:pt x="39232" y="505085"/>
                </a:lnTo>
                <a:cubicBezTo>
                  <a:pt x="39604" y="506016"/>
                  <a:pt x="39604" y="507504"/>
                  <a:pt x="40162" y="507504"/>
                </a:cubicBezTo>
                <a:close/>
                <a:moveTo>
                  <a:pt x="1460541" y="198499"/>
                </a:moveTo>
                <a:cubicBezTo>
                  <a:pt x="1460541" y="199616"/>
                  <a:pt x="1460541" y="200732"/>
                  <a:pt x="1460727" y="201848"/>
                </a:cubicBezTo>
                <a:cubicBezTo>
                  <a:pt x="1461843" y="201848"/>
                  <a:pt x="1462959" y="202034"/>
                  <a:pt x="1464075" y="202034"/>
                </a:cubicBezTo>
                <a:cubicBezTo>
                  <a:pt x="1463889" y="199802"/>
                  <a:pt x="1462773" y="198686"/>
                  <a:pt x="1460541" y="198499"/>
                </a:cubicBezTo>
                <a:close/>
                <a:moveTo>
                  <a:pt x="112344" y="436252"/>
                </a:moveTo>
                <a:cubicBezTo>
                  <a:pt x="110484" y="436066"/>
                  <a:pt x="109367" y="437183"/>
                  <a:pt x="108623" y="438857"/>
                </a:cubicBezTo>
                <a:cubicBezTo>
                  <a:pt x="110111" y="438671"/>
                  <a:pt x="111786" y="438485"/>
                  <a:pt x="113274" y="438113"/>
                </a:cubicBezTo>
                <a:cubicBezTo>
                  <a:pt x="113088" y="437369"/>
                  <a:pt x="112902" y="436252"/>
                  <a:pt x="112344" y="436252"/>
                </a:cubicBezTo>
                <a:close/>
                <a:moveTo>
                  <a:pt x="39232" y="497644"/>
                </a:moveTo>
                <a:cubicBezTo>
                  <a:pt x="45371" y="497458"/>
                  <a:pt x="53929" y="503225"/>
                  <a:pt x="55789" y="491319"/>
                </a:cubicBezTo>
                <a:cubicBezTo>
                  <a:pt x="50394" y="493737"/>
                  <a:pt x="42767" y="490575"/>
                  <a:pt x="39232" y="497644"/>
                </a:cubicBezTo>
                <a:close/>
                <a:moveTo>
                  <a:pt x="1416636" y="192546"/>
                </a:moveTo>
                <a:cubicBezTo>
                  <a:pt x="1412730" y="190314"/>
                  <a:pt x="1408823" y="191616"/>
                  <a:pt x="1405102" y="191802"/>
                </a:cubicBezTo>
                <a:cubicBezTo>
                  <a:pt x="1408637" y="195709"/>
                  <a:pt x="1412172" y="196825"/>
                  <a:pt x="1416636" y="192546"/>
                </a:cubicBezTo>
                <a:close/>
                <a:moveTo>
                  <a:pt x="1383894" y="191430"/>
                </a:moveTo>
                <a:cubicBezTo>
                  <a:pt x="1384080" y="191430"/>
                  <a:pt x="1383894" y="191430"/>
                  <a:pt x="1383894" y="191430"/>
                </a:cubicBezTo>
                <a:close/>
                <a:moveTo>
                  <a:pt x="1395242" y="193104"/>
                </a:moveTo>
                <a:cubicBezTo>
                  <a:pt x="1391522" y="190314"/>
                  <a:pt x="1387801" y="191616"/>
                  <a:pt x="1384080" y="191430"/>
                </a:cubicBezTo>
                <a:cubicBezTo>
                  <a:pt x="1386871" y="197011"/>
                  <a:pt x="1390778" y="195337"/>
                  <a:pt x="1395242" y="193104"/>
                </a:cubicBezTo>
                <a:close/>
                <a:moveTo>
                  <a:pt x="105275" y="509364"/>
                </a:moveTo>
                <a:cubicBezTo>
                  <a:pt x="101740" y="508620"/>
                  <a:pt x="102484" y="512713"/>
                  <a:pt x="102298" y="515131"/>
                </a:cubicBezTo>
                <a:lnTo>
                  <a:pt x="103786" y="515503"/>
                </a:lnTo>
                <a:lnTo>
                  <a:pt x="105275" y="515317"/>
                </a:lnTo>
                <a:cubicBezTo>
                  <a:pt x="105089" y="513271"/>
                  <a:pt x="109553" y="510480"/>
                  <a:pt x="105275" y="509364"/>
                </a:cubicBezTo>
                <a:close/>
              </a:path>
            </a:pathLst>
          </a:custGeom>
          <a:ln w="1860" cap="flat">
            <a:noFill/>
            <a:prstDash val="solid"/>
            <a:miter/>
          </a:ln>
        </p:spPr>
        <p:txBody>
          <a:bodyPr rtlCol="0" anchor="ctr"/>
          <a:lstStyle/>
          <a:p>
            <a:endParaRPr lang="zh-CN" altLang="en-US"/>
          </a:p>
        </p:txBody>
      </p:sp>
      <p:sp>
        <p:nvSpPr>
          <p:cNvPr id="18" name="文本框 17">
            <a:extLst>
              <a:ext uri="{FF2B5EF4-FFF2-40B4-BE49-F238E27FC236}">
                <a16:creationId xmlns:a16="http://schemas.microsoft.com/office/drawing/2014/main" id="{C8D8F92E-5E81-0CBC-11CD-1B5674500772}"/>
              </a:ext>
            </a:extLst>
          </p:cNvPr>
          <p:cNvSpPr txBox="1"/>
          <p:nvPr/>
        </p:nvSpPr>
        <p:spPr>
          <a:xfrm>
            <a:off x="1049867" y="1525475"/>
            <a:ext cx="5416868" cy="5047536"/>
          </a:xfrm>
          <a:prstGeom prst="rect">
            <a:avLst/>
          </a:prstGeom>
          <a:noFill/>
        </p:spPr>
        <p:txBody>
          <a:bodyPr wrap="none" rtlCol="0">
            <a:spAutoFit/>
          </a:bodyPr>
          <a:lstStyle/>
          <a:p>
            <a:r>
              <a:rPr lang="en-US" altLang="zh-CN" sz="6000" dirty="0">
                <a:latin typeface="Segoe UI Black" panose="020B0A02040204020203" pitchFamily="34" charset="0"/>
                <a:ea typeface="Segoe UI Black" panose="020B0A02040204020203" pitchFamily="34" charset="0"/>
              </a:rPr>
              <a:t>MBTI</a:t>
            </a:r>
          </a:p>
          <a:p>
            <a:r>
              <a:rPr lang="zh-CN" altLang="en-US" sz="4800" dirty="0">
                <a:latin typeface="程荣光刻楷" panose="03000503000000000000" pitchFamily="66" charset="-122"/>
                <a:ea typeface="程荣光刻楷" panose="03000503000000000000" pitchFamily="66" charset="-122"/>
              </a:rPr>
              <a:t>能帮我们</a:t>
            </a:r>
            <a:endParaRPr lang="en-US" altLang="zh-CN" sz="4800" dirty="0">
              <a:latin typeface="程荣光刻楷" panose="03000503000000000000" pitchFamily="66" charset="-122"/>
              <a:ea typeface="程荣光刻楷" panose="03000503000000000000" pitchFamily="66" charset="-122"/>
            </a:endParaRPr>
          </a:p>
          <a:p>
            <a:r>
              <a:rPr lang="zh-CN" altLang="en-US" sz="4800" dirty="0">
                <a:latin typeface="程荣光刻楷" panose="03000503000000000000" pitchFamily="66" charset="-122"/>
                <a:ea typeface="程荣光刻楷" panose="03000503000000000000" pitchFamily="66" charset="-122"/>
              </a:rPr>
              <a:t>更好</a:t>
            </a:r>
            <a:r>
              <a:rPr lang="zh-CN" altLang="en-US" sz="6600" dirty="0">
                <a:latin typeface="程荣光刻楷" panose="03000503000000000000" pitchFamily="66" charset="-122"/>
                <a:ea typeface="程荣光刻楷" panose="03000503000000000000" pitchFamily="66" charset="-122"/>
              </a:rPr>
              <a:t>认识自己</a:t>
            </a:r>
            <a:r>
              <a:rPr lang="zh-CN" altLang="en-US" sz="4800" dirty="0">
                <a:latin typeface="程荣光刻楷" panose="03000503000000000000" pitchFamily="66" charset="-122"/>
                <a:ea typeface="程荣光刻楷" panose="03000503000000000000" pitchFamily="66" charset="-122"/>
              </a:rPr>
              <a:t>吗</a:t>
            </a:r>
            <a:endParaRPr lang="en-US" altLang="zh-CN" sz="4800" dirty="0">
              <a:latin typeface="程荣光刻楷" panose="03000503000000000000" pitchFamily="66" charset="-122"/>
              <a:ea typeface="程荣光刻楷" panose="03000503000000000000" pitchFamily="66" charset="-122"/>
            </a:endParaRPr>
          </a:p>
          <a:p>
            <a:endParaRPr lang="en-US" altLang="zh-CN" sz="4800" dirty="0">
              <a:latin typeface="程荣光刻楷" panose="03000503000000000000" pitchFamily="66" charset="-122"/>
              <a:ea typeface="程荣光刻楷" panose="03000503000000000000" pitchFamily="66" charset="-122"/>
            </a:endParaRPr>
          </a:p>
          <a:p>
            <a:endParaRPr lang="en-US" altLang="zh-CN" sz="1600" dirty="0">
              <a:latin typeface="程荣光刻楷" panose="03000503000000000000" pitchFamily="66" charset="-122"/>
              <a:ea typeface="程荣光刻楷" panose="03000503000000000000" pitchFamily="66" charset="-122"/>
            </a:endParaRPr>
          </a:p>
          <a:p>
            <a:endParaRPr lang="en-US" altLang="zh-CN" sz="1600" dirty="0">
              <a:latin typeface="程荣光刻楷" panose="03000503000000000000" pitchFamily="66" charset="-122"/>
              <a:ea typeface="程荣光刻楷" panose="03000503000000000000" pitchFamily="66" charset="-122"/>
            </a:endParaRPr>
          </a:p>
          <a:p>
            <a:endParaRPr lang="en-US" altLang="zh-CN" sz="1600" dirty="0">
              <a:latin typeface="程荣光刻楷" panose="03000503000000000000" pitchFamily="66" charset="-122"/>
              <a:ea typeface="程荣光刻楷" panose="03000503000000000000" pitchFamily="66" charset="-122"/>
            </a:endParaRPr>
          </a:p>
          <a:p>
            <a:endParaRPr lang="en-US" altLang="zh-CN" sz="1600" dirty="0">
              <a:latin typeface="程荣光刻楷" panose="03000503000000000000" pitchFamily="66" charset="-122"/>
              <a:ea typeface="程荣光刻楷" panose="03000503000000000000" pitchFamily="66" charset="-122"/>
            </a:endParaRPr>
          </a:p>
          <a:p>
            <a:r>
              <a:rPr lang="zh-CN" altLang="en-US" dirty="0">
                <a:latin typeface="程荣光刻楷" panose="03000503000000000000" pitchFamily="66" charset="-122"/>
                <a:ea typeface="程荣光刻楷" panose="03000503000000000000" pitchFamily="66" charset="-122"/>
              </a:rPr>
              <a:t>参与者：陈雨昂，黄子豪，唐小涯，魏宇轩，赵宇哲</a:t>
            </a:r>
            <a:endParaRPr lang="en-US" altLang="zh-CN" dirty="0">
              <a:latin typeface="程荣光刻楷" panose="03000503000000000000" pitchFamily="66" charset="-122"/>
              <a:ea typeface="程荣光刻楷" panose="03000503000000000000" pitchFamily="66" charset="-122"/>
            </a:endParaRPr>
          </a:p>
          <a:p>
            <a:r>
              <a:rPr lang="en-US" altLang="zh-CN" dirty="0">
                <a:latin typeface="程荣光刻楷" panose="03000503000000000000" pitchFamily="66" charset="-122"/>
                <a:ea typeface="程荣光刻楷" panose="03000503000000000000" pitchFamily="66" charset="-122"/>
              </a:rPr>
              <a:t>      </a:t>
            </a:r>
            <a:r>
              <a:rPr lang="zh-CN" altLang="en-US" dirty="0">
                <a:latin typeface="程荣光刻楷" panose="03000503000000000000" pitchFamily="66" charset="-122"/>
                <a:ea typeface="程荣光刻楷" panose="03000503000000000000" pitchFamily="66" charset="-122"/>
              </a:rPr>
              <a:t>（排名根据姓氏拼音，不分先后）</a:t>
            </a:r>
            <a:endParaRPr lang="en-US" altLang="zh-CN" dirty="0">
              <a:latin typeface="程荣光刻楷" panose="03000503000000000000" pitchFamily="66" charset="-122"/>
              <a:ea typeface="程荣光刻楷" panose="03000503000000000000" pitchFamily="66" charset="-122"/>
            </a:endParaRPr>
          </a:p>
        </p:txBody>
      </p:sp>
    </p:spTree>
    <p:extLst>
      <p:ext uri="{BB962C8B-B14F-4D97-AF65-F5344CB8AC3E}">
        <p14:creationId xmlns:p14="http://schemas.microsoft.com/office/powerpoint/2010/main" val="935655007"/>
      </p:ext>
    </p:extLst>
  </p:cSld>
  <p:clrMapOvr>
    <a:masterClrMapping/>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par>
                          <p:cTn id="8" fill="hold">
                            <p:stCondLst>
                              <p:cond delay="500"/>
                            </p:stCondLst>
                            <p:childTnLst>
                              <p:par>
                                <p:cTn id="9" presetID="16" presetClass="entr" presetSubtype="21" fill="hold" grpId="0" nodeType="afterEffect">
                                  <p:stCondLst>
                                    <p:cond delay="0"/>
                                  </p:stCondLst>
                                  <p:childTnLst>
                                    <p:set>
                                      <p:cBhvr>
                                        <p:cTn id="10" dur="1" fill="hold">
                                          <p:stCondLst>
                                            <p:cond delay="0"/>
                                          </p:stCondLst>
                                        </p:cTn>
                                        <p:tgtEl>
                                          <p:spTgt spid="18"/>
                                        </p:tgtEl>
                                        <p:attrNameLst>
                                          <p:attrName>style.visibility</p:attrName>
                                        </p:attrNameLst>
                                      </p:cBhvr>
                                      <p:to>
                                        <p:strVal val="visible"/>
                                      </p:to>
                                    </p:set>
                                    <p:animEffect transition="in" filter="barn(inVertical)">
                                      <p:cBhvr>
                                        <p:cTn id="11"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8"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4AA7208C-E250-E217-3B1F-5C5D3A6AD922}"/>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BD70E786-D062-4BFB-2AD3-BAE7785592FA}"/>
              </a:ext>
            </a:extLst>
          </p:cNvPr>
          <p:cNvSpPr/>
          <p:nvPr/>
        </p:nvSpPr>
        <p:spPr>
          <a:xfrm>
            <a:off x="0" y="0"/>
            <a:ext cx="12192000" cy="6858000"/>
          </a:xfrm>
          <a:prstGeom prst="rect">
            <a:avLst/>
          </a:prstGeom>
          <a:gradFill>
            <a:gsLst>
              <a:gs pos="0">
                <a:schemeClr val="tx1"/>
              </a:gs>
              <a:gs pos="95402">
                <a:schemeClr val="bg1">
                  <a:alpha val="71000"/>
                </a:schemeClr>
              </a:gs>
              <a:gs pos="66000">
                <a:schemeClr val="bg2">
                  <a:alpha val="60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1" name="文本框 30">
            <a:extLst>
              <a:ext uri="{FF2B5EF4-FFF2-40B4-BE49-F238E27FC236}">
                <a16:creationId xmlns:a16="http://schemas.microsoft.com/office/drawing/2014/main" id="{BF68F645-8A89-13D1-7A2E-34A4F3E6B66B}"/>
              </a:ext>
            </a:extLst>
          </p:cNvPr>
          <p:cNvSpPr txBox="1"/>
          <p:nvPr/>
        </p:nvSpPr>
        <p:spPr>
          <a:xfrm>
            <a:off x="297569" y="1838823"/>
            <a:ext cx="5429183" cy="1200329"/>
          </a:xfrm>
          <a:prstGeom prst="rect">
            <a:avLst/>
          </a:prstGeom>
          <a:noFill/>
        </p:spPr>
        <p:txBody>
          <a:bodyPr wrap="square" rtlCol="0">
            <a:spAutoFit/>
          </a:bodyPr>
          <a:lstStyle/>
          <a:p>
            <a:pPr marL="0" marR="0" lvl="0" indent="0" defTabSz="914400" rtl="0" eaLnBrk="0" fontAlgn="base" latinLnBrk="0" hangingPunct="0">
              <a:lnSpc>
                <a:spcPct val="100000"/>
              </a:lnSpc>
              <a:spcBef>
                <a:spcPct val="0"/>
              </a:spcBef>
              <a:spcAft>
                <a:spcPct val="0"/>
              </a:spcAft>
              <a:buClrTx/>
              <a:buSzTx/>
              <a:buFontTx/>
              <a:buNone/>
              <a:tabLst/>
            </a:pPr>
            <a:r>
              <a:rPr lang="en-US" altLang="zh-CN" sz="2400" kern="100" dirty="0">
                <a:solidFill>
                  <a:schemeClr val="bg1"/>
                </a:solidFill>
                <a:latin typeface="华文楷体" panose="02010600040101010101" pitchFamily="2" charset="-122"/>
                <a:ea typeface="华文楷体" panose="02010600040101010101" pitchFamily="2" charset="-122"/>
                <a:cs typeface="Ebrima" panose="02000000000000000000" pitchFamily="2" charset="0"/>
              </a:rPr>
              <a:t>·</a:t>
            </a:r>
            <a:r>
              <a:rPr lang="zh-CN" altLang="zh-CN" sz="2400" kern="100" dirty="0">
                <a:solidFill>
                  <a:schemeClr val="bg1"/>
                </a:solidFill>
                <a:latin typeface="华文楷体" panose="02010600040101010101" pitchFamily="2" charset="-122"/>
                <a:ea typeface="华文楷体" panose="02010600040101010101" pitchFamily="2" charset="-122"/>
                <a:cs typeface="Ebrima" panose="02000000000000000000" pitchFamily="2" charset="0"/>
              </a:rPr>
              <a:t>在</a:t>
            </a:r>
            <a:r>
              <a:rPr lang="zh-CN" altLang="zh-CN" sz="2400" b="1" i="1" kern="100" dirty="0">
                <a:solidFill>
                  <a:schemeClr val="bg1"/>
                </a:solidFill>
                <a:latin typeface="华文楷体" panose="02010600040101010101" pitchFamily="2" charset="-122"/>
                <a:ea typeface="华文楷体" panose="02010600040101010101" pitchFamily="2" charset="-122"/>
                <a:cs typeface="Ebrima" panose="02000000000000000000" pitchFamily="2" charset="0"/>
              </a:rPr>
              <a:t>职业规划</a:t>
            </a:r>
            <a:r>
              <a:rPr lang="zh-CN" altLang="zh-CN" sz="2400" kern="100" dirty="0">
                <a:solidFill>
                  <a:schemeClr val="bg1"/>
                </a:solidFill>
                <a:latin typeface="华文楷体" panose="02010600040101010101" pitchFamily="2" charset="-122"/>
                <a:ea typeface="华文楷体" panose="02010600040101010101" pitchFamily="2" charset="-122"/>
                <a:cs typeface="Ebrima" panose="02000000000000000000" pitchFamily="2" charset="0"/>
              </a:rPr>
              <a:t>领域，许多人会依据自己过往的学业成绩、兴趣爱好来判断自己适合的工作方向</a:t>
            </a:r>
          </a:p>
        </p:txBody>
      </p:sp>
      <p:sp useBgFill="1">
        <p:nvSpPr>
          <p:cNvPr id="11" name="任意多边形: 形状 10">
            <a:extLst>
              <a:ext uri="{FF2B5EF4-FFF2-40B4-BE49-F238E27FC236}">
                <a16:creationId xmlns:a16="http://schemas.microsoft.com/office/drawing/2014/main" id="{A5113C2B-D8D8-619D-A4E8-A030AF5E4BD2}"/>
              </a:ext>
            </a:extLst>
          </p:cNvPr>
          <p:cNvSpPr>
            <a:spLocks noChangeAspect="1"/>
          </p:cNvSpPr>
          <p:nvPr/>
        </p:nvSpPr>
        <p:spPr>
          <a:xfrm rot="13502899">
            <a:off x="6225540" y="-1516526"/>
            <a:ext cx="9943239" cy="9941062"/>
          </a:xfrm>
          <a:custGeom>
            <a:avLst/>
            <a:gdLst>
              <a:gd name="connsiteX0" fmla="*/ 3914303 w 5232096"/>
              <a:gd name="connsiteY0" fmla="*/ 2797508 h 5230950"/>
              <a:gd name="connsiteX1" fmla="*/ 5232096 w 5232096"/>
              <a:gd name="connsiteY1" fmla="*/ 2797508 h 5230950"/>
              <a:gd name="connsiteX2" fmla="*/ 5228793 w 5232096"/>
              <a:gd name="connsiteY2" fmla="*/ 2867273 h 5230950"/>
              <a:gd name="connsiteX3" fmla="*/ 2884405 w 5232096"/>
              <a:gd name="connsiteY3" fmla="*/ 5226591 h 5230950"/>
              <a:gd name="connsiteX4" fmla="*/ 2798081 w 5232096"/>
              <a:gd name="connsiteY4" fmla="*/ 5230950 h 5230950"/>
              <a:gd name="connsiteX5" fmla="*/ 2798081 w 5232096"/>
              <a:gd name="connsiteY5" fmla="*/ 3913730 h 5230950"/>
              <a:gd name="connsiteX6" fmla="*/ 2880529 w 5232096"/>
              <a:gd name="connsiteY6" fmla="*/ 3901147 h 5230950"/>
              <a:gd name="connsiteX7" fmla="*/ 3901720 w 5232096"/>
              <a:gd name="connsiteY7" fmla="*/ 2879956 h 5230950"/>
              <a:gd name="connsiteX8" fmla="*/ 0 w 5232096"/>
              <a:gd name="connsiteY8" fmla="*/ 2797508 h 5230950"/>
              <a:gd name="connsiteX9" fmla="*/ 1317793 w 5232096"/>
              <a:gd name="connsiteY9" fmla="*/ 2797508 h 5230950"/>
              <a:gd name="connsiteX10" fmla="*/ 1330376 w 5232096"/>
              <a:gd name="connsiteY10" fmla="*/ 2879956 h 5230950"/>
              <a:gd name="connsiteX11" fmla="*/ 2351567 w 5232096"/>
              <a:gd name="connsiteY11" fmla="*/ 3901147 h 5230950"/>
              <a:gd name="connsiteX12" fmla="*/ 2434015 w 5232096"/>
              <a:gd name="connsiteY12" fmla="*/ 3913730 h 5230950"/>
              <a:gd name="connsiteX13" fmla="*/ 2434015 w 5232096"/>
              <a:gd name="connsiteY13" fmla="*/ 5230950 h 5230950"/>
              <a:gd name="connsiteX14" fmla="*/ 2347691 w 5232096"/>
              <a:gd name="connsiteY14" fmla="*/ 5226591 h 5230950"/>
              <a:gd name="connsiteX15" fmla="*/ 3303 w 5232096"/>
              <a:gd name="connsiteY15" fmla="*/ 2867273 h 5230950"/>
              <a:gd name="connsiteX16" fmla="*/ 2798081 w 5232096"/>
              <a:gd name="connsiteY16" fmla="*/ 0 h 5230950"/>
              <a:gd name="connsiteX17" fmla="*/ 2884405 w 5232096"/>
              <a:gd name="connsiteY17" fmla="*/ 4359 h 5230950"/>
              <a:gd name="connsiteX18" fmla="*/ 5228793 w 5232096"/>
              <a:gd name="connsiteY18" fmla="*/ 2363677 h 5230950"/>
              <a:gd name="connsiteX19" fmla="*/ 5232096 w 5232096"/>
              <a:gd name="connsiteY19" fmla="*/ 2433442 h 5230950"/>
              <a:gd name="connsiteX20" fmla="*/ 3914303 w 5232096"/>
              <a:gd name="connsiteY20" fmla="*/ 2433442 h 5230950"/>
              <a:gd name="connsiteX21" fmla="*/ 3901720 w 5232096"/>
              <a:gd name="connsiteY21" fmla="*/ 2350994 h 5230950"/>
              <a:gd name="connsiteX22" fmla="*/ 2880529 w 5232096"/>
              <a:gd name="connsiteY22" fmla="*/ 1329803 h 5230950"/>
              <a:gd name="connsiteX23" fmla="*/ 2798081 w 5232096"/>
              <a:gd name="connsiteY23" fmla="*/ 1317220 h 5230950"/>
              <a:gd name="connsiteX24" fmla="*/ 2434015 w 5232096"/>
              <a:gd name="connsiteY24" fmla="*/ 0 h 5230950"/>
              <a:gd name="connsiteX25" fmla="*/ 2434015 w 5232096"/>
              <a:gd name="connsiteY25" fmla="*/ 1317220 h 5230950"/>
              <a:gd name="connsiteX26" fmla="*/ 2351567 w 5232096"/>
              <a:gd name="connsiteY26" fmla="*/ 1329803 h 5230950"/>
              <a:gd name="connsiteX27" fmla="*/ 1330376 w 5232096"/>
              <a:gd name="connsiteY27" fmla="*/ 2350994 h 5230950"/>
              <a:gd name="connsiteX28" fmla="*/ 1317793 w 5232096"/>
              <a:gd name="connsiteY28" fmla="*/ 2433442 h 5230950"/>
              <a:gd name="connsiteX29" fmla="*/ 0 w 5232096"/>
              <a:gd name="connsiteY29" fmla="*/ 2433442 h 5230950"/>
              <a:gd name="connsiteX30" fmla="*/ 3303 w 5232096"/>
              <a:gd name="connsiteY30" fmla="*/ 2363677 h 5230950"/>
              <a:gd name="connsiteX31" fmla="*/ 2347691 w 5232096"/>
              <a:gd name="connsiteY31" fmla="*/ 4359 h 5230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232096" h="5230950">
                <a:moveTo>
                  <a:pt x="3914303" y="2797508"/>
                </a:moveTo>
                <a:lnTo>
                  <a:pt x="5232096" y="2797508"/>
                </a:lnTo>
                <a:lnTo>
                  <a:pt x="5228793" y="2867273"/>
                </a:lnTo>
                <a:cubicBezTo>
                  <a:pt x="5110479" y="4110318"/>
                  <a:pt x="4125191" y="5100583"/>
                  <a:pt x="2884405" y="5226591"/>
                </a:cubicBezTo>
                <a:lnTo>
                  <a:pt x="2798081" y="5230950"/>
                </a:lnTo>
                <a:lnTo>
                  <a:pt x="2798081" y="3913730"/>
                </a:lnTo>
                <a:lnTo>
                  <a:pt x="2880529" y="3901147"/>
                </a:lnTo>
                <a:cubicBezTo>
                  <a:pt x="3393108" y="3796258"/>
                  <a:pt x="3796831" y="3392535"/>
                  <a:pt x="3901720" y="2879956"/>
                </a:cubicBezTo>
                <a:close/>
                <a:moveTo>
                  <a:pt x="0" y="2797508"/>
                </a:moveTo>
                <a:lnTo>
                  <a:pt x="1317793" y="2797508"/>
                </a:lnTo>
                <a:lnTo>
                  <a:pt x="1330376" y="2879956"/>
                </a:lnTo>
                <a:cubicBezTo>
                  <a:pt x="1435265" y="3392535"/>
                  <a:pt x="1838988" y="3796258"/>
                  <a:pt x="2351567" y="3901147"/>
                </a:cubicBezTo>
                <a:lnTo>
                  <a:pt x="2434015" y="3913730"/>
                </a:lnTo>
                <a:lnTo>
                  <a:pt x="2434015" y="5230950"/>
                </a:lnTo>
                <a:lnTo>
                  <a:pt x="2347691" y="5226591"/>
                </a:lnTo>
                <a:cubicBezTo>
                  <a:pt x="1106905" y="5100583"/>
                  <a:pt x="121617" y="4110318"/>
                  <a:pt x="3303" y="2867273"/>
                </a:cubicBezTo>
                <a:close/>
                <a:moveTo>
                  <a:pt x="2798081" y="0"/>
                </a:moveTo>
                <a:lnTo>
                  <a:pt x="2884405" y="4359"/>
                </a:lnTo>
                <a:cubicBezTo>
                  <a:pt x="4125191" y="130368"/>
                  <a:pt x="5110479" y="1120633"/>
                  <a:pt x="5228793" y="2363677"/>
                </a:cubicBezTo>
                <a:lnTo>
                  <a:pt x="5232096" y="2433442"/>
                </a:lnTo>
                <a:lnTo>
                  <a:pt x="3914303" y="2433442"/>
                </a:lnTo>
                <a:lnTo>
                  <a:pt x="3901720" y="2350994"/>
                </a:lnTo>
                <a:cubicBezTo>
                  <a:pt x="3796831" y="1838415"/>
                  <a:pt x="3393108" y="1434692"/>
                  <a:pt x="2880529" y="1329803"/>
                </a:cubicBezTo>
                <a:lnTo>
                  <a:pt x="2798081" y="1317220"/>
                </a:lnTo>
                <a:close/>
                <a:moveTo>
                  <a:pt x="2434015" y="0"/>
                </a:moveTo>
                <a:lnTo>
                  <a:pt x="2434015" y="1317220"/>
                </a:lnTo>
                <a:lnTo>
                  <a:pt x="2351567" y="1329803"/>
                </a:lnTo>
                <a:cubicBezTo>
                  <a:pt x="1838988" y="1434692"/>
                  <a:pt x="1435265" y="1838415"/>
                  <a:pt x="1330376" y="2350994"/>
                </a:cubicBezTo>
                <a:lnTo>
                  <a:pt x="1317793" y="2433442"/>
                </a:lnTo>
                <a:lnTo>
                  <a:pt x="0" y="2433442"/>
                </a:lnTo>
                <a:lnTo>
                  <a:pt x="3303" y="2363677"/>
                </a:lnTo>
                <a:cubicBezTo>
                  <a:pt x="121617" y="1120633"/>
                  <a:pt x="1106905" y="130368"/>
                  <a:pt x="2347691" y="4359"/>
                </a:cubicBezTo>
                <a:close/>
              </a:path>
            </a:pathLst>
          </a:custGeom>
          <a:ln>
            <a:noFill/>
          </a:ln>
          <a:effectLst>
            <a:outerShdw blurRad="508000" sx="102000" sy="102000" algn="ctr" rotWithShape="0">
              <a:prstClr val="black">
                <a:alpha val="7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文本框 3">
            <a:extLst>
              <a:ext uri="{FF2B5EF4-FFF2-40B4-BE49-F238E27FC236}">
                <a16:creationId xmlns:a16="http://schemas.microsoft.com/office/drawing/2014/main" id="{138E9B40-E18C-51AB-3D8A-72F29E909F71}"/>
              </a:ext>
            </a:extLst>
          </p:cNvPr>
          <p:cNvSpPr txBox="1"/>
          <p:nvPr/>
        </p:nvSpPr>
        <p:spPr>
          <a:xfrm>
            <a:off x="297569" y="532035"/>
            <a:ext cx="5997155" cy="584775"/>
          </a:xfrm>
          <a:prstGeom prst="rect">
            <a:avLst/>
          </a:prstGeom>
          <a:noFill/>
        </p:spPr>
        <p:txBody>
          <a:bodyPr wrap="none" rtlCol="0">
            <a:spAutoFit/>
          </a:bodyPr>
          <a:lstStyle/>
          <a:p>
            <a:r>
              <a:rPr lang="en-US" altLang="zh-CN" sz="3200" b="1" kern="100" dirty="0">
                <a:solidFill>
                  <a:schemeClr val="bg1"/>
                </a:solidFill>
                <a:latin typeface="程荣光刻楷" panose="03000503000000000000" pitchFamily="66" charset="-122"/>
                <a:ea typeface="程荣光刻楷" panose="03000503000000000000" pitchFamily="66" charset="-122"/>
                <a:cs typeface="Times New Roman" panose="02020603050405020304" pitchFamily="18" charset="0"/>
              </a:rPr>
              <a:t>|</a:t>
            </a:r>
            <a:r>
              <a:rPr lang="zh-CN" altLang="zh-CN" sz="3200" kern="100" dirty="0">
                <a:solidFill>
                  <a:schemeClr val="bg1"/>
                </a:solidFill>
                <a:latin typeface="程荣光刻楷" panose="03000503000000000000" pitchFamily="66" charset="-122"/>
                <a:ea typeface="程荣光刻楷" panose="03000503000000000000" pitchFamily="66" charset="-122"/>
                <a:cs typeface="Times New Roman" panose="02020603050405020304" pitchFamily="18" charset="0"/>
              </a:rPr>
              <a:t>自我认知的探索愈发深入且多样</a:t>
            </a:r>
            <a:endParaRPr lang="zh-CN" altLang="en-US" sz="3200" dirty="0"/>
          </a:p>
        </p:txBody>
      </p:sp>
      <p:sp>
        <p:nvSpPr>
          <p:cNvPr id="5" name="文本框 4">
            <a:extLst>
              <a:ext uri="{FF2B5EF4-FFF2-40B4-BE49-F238E27FC236}">
                <a16:creationId xmlns:a16="http://schemas.microsoft.com/office/drawing/2014/main" id="{482ABA1D-FD63-3CB1-5289-C63E14F3DDE4}"/>
              </a:ext>
            </a:extLst>
          </p:cNvPr>
          <p:cNvSpPr txBox="1"/>
          <p:nvPr/>
        </p:nvSpPr>
        <p:spPr>
          <a:xfrm>
            <a:off x="304753" y="1116810"/>
            <a:ext cx="5493812" cy="646331"/>
          </a:xfrm>
          <a:prstGeom prst="rect">
            <a:avLst/>
          </a:prstGeom>
          <a:noFill/>
        </p:spPr>
        <p:txBody>
          <a:bodyPr wrap="none" rtlCol="0">
            <a:spAutoFit/>
          </a:bodyPr>
          <a:lstStyle/>
          <a:p>
            <a:r>
              <a:rPr lang="zh-CN" altLang="zh-CN" sz="1800" kern="100" dirty="0">
                <a:solidFill>
                  <a:srgbClr val="FFFF00"/>
                </a:solidFill>
                <a:latin typeface="华文楷体" panose="02010600040101010101" pitchFamily="2" charset="-122"/>
                <a:ea typeface="华文楷体" panose="02010600040101010101" pitchFamily="2" charset="-122"/>
                <a:cs typeface="Times New Roman" panose="02020603050405020304" pitchFamily="18" charset="0"/>
              </a:rPr>
              <a:t>在当今信息爆炸、多元文化交融碰撞的社会背景下，</a:t>
            </a:r>
            <a:endParaRPr lang="en-US" altLang="zh-CN" sz="1800" kern="100" dirty="0">
              <a:solidFill>
                <a:srgbClr val="FFFF00"/>
              </a:solidFill>
              <a:latin typeface="华文楷体" panose="02010600040101010101" pitchFamily="2" charset="-122"/>
              <a:ea typeface="华文楷体" panose="02010600040101010101" pitchFamily="2" charset="-122"/>
              <a:cs typeface="Times New Roman" panose="02020603050405020304" pitchFamily="18" charset="0"/>
            </a:endParaRPr>
          </a:p>
          <a:p>
            <a:r>
              <a:rPr lang="zh-CN" altLang="zh-CN" sz="1800" kern="100" dirty="0">
                <a:solidFill>
                  <a:srgbClr val="FFFF00"/>
                </a:solidFill>
                <a:latin typeface="华文楷体" panose="02010600040101010101" pitchFamily="2" charset="-122"/>
                <a:ea typeface="华文楷体" panose="02010600040101010101" pitchFamily="2" charset="-122"/>
                <a:cs typeface="Times New Roman" panose="02020603050405020304" pitchFamily="18" charset="0"/>
              </a:rPr>
              <a:t>人们对自我认知的探索愈发深入且多样。</a:t>
            </a:r>
            <a:endParaRPr lang="zh-CN" altLang="en-US" dirty="0">
              <a:solidFill>
                <a:srgbClr val="FFFF00"/>
              </a:solidFill>
              <a:latin typeface="华文楷体" panose="02010600040101010101" pitchFamily="2" charset="-122"/>
              <a:ea typeface="华文楷体" panose="02010600040101010101" pitchFamily="2" charset="-122"/>
            </a:endParaRPr>
          </a:p>
        </p:txBody>
      </p:sp>
      <p:sp>
        <p:nvSpPr>
          <p:cNvPr id="6" name="文本框 5">
            <a:extLst>
              <a:ext uri="{FF2B5EF4-FFF2-40B4-BE49-F238E27FC236}">
                <a16:creationId xmlns:a16="http://schemas.microsoft.com/office/drawing/2014/main" id="{67DC4724-F01B-88B4-4618-A52408164340}"/>
              </a:ext>
            </a:extLst>
          </p:cNvPr>
          <p:cNvSpPr txBox="1"/>
          <p:nvPr/>
        </p:nvSpPr>
        <p:spPr>
          <a:xfrm>
            <a:off x="311937" y="4252070"/>
            <a:ext cx="5429183" cy="1200329"/>
          </a:xfrm>
          <a:prstGeom prst="rect">
            <a:avLst/>
          </a:prstGeom>
          <a:noFill/>
        </p:spPr>
        <p:txBody>
          <a:bodyPr wrap="square" rtlCol="0">
            <a:spAutoFit/>
          </a:bodyPr>
          <a:lstStyle/>
          <a:p>
            <a:pPr marL="0" marR="0" lvl="0" indent="0" defTabSz="914400" rtl="0" eaLnBrk="0" fontAlgn="base" latinLnBrk="0" hangingPunct="0">
              <a:lnSpc>
                <a:spcPct val="100000"/>
              </a:lnSpc>
              <a:spcBef>
                <a:spcPct val="0"/>
              </a:spcBef>
              <a:spcAft>
                <a:spcPct val="0"/>
              </a:spcAft>
              <a:buClrTx/>
              <a:buSzTx/>
              <a:buFontTx/>
              <a:buNone/>
              <a:tabLst/>
            </a:pPr>
            <a:r>
              <a:rPr lang="en-US" altLang="zh-CN"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en-US"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还</a:t>
            </a:r>
            <a:r>
              <a:rPr lang="zh-CN" altLang="zh-CN"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人借助心理测评问卷，像大五人格测试等，试图勾勒出自己更为清晰的心理画像。</a:t>
            </a:r>
          </a:p>
        </p:txBody>
      </p:sp>
      <p:sp>
        <p:nvSpPr>
          <p:cNvPr id="7" name="文本框 6">
            <a:extLst>
              <a:ext uri="{FF2B5EF4-FFF2-40B4-BE49-F238E27FC236}">
                <a16:creationId xmlns:a16="http://schemas.microsoft.com/office/drawing/2014/main" id="{5388BF2D-C869-AA5E-A38B-7E0C11B83F82}"/>
              </a:ext>
            </a:extLst>
          </p:cNvPr>
          <p:cNvSpPr txBox="1"/>
          <p:nvPr/>
        </p:nvSpPr>
        <p:spPr>
          <a:xfrm>
            <a:off x="297569" y="5691765"/>
            <a:ext cx="5429183" cy="707886"/>
          </a:xfrm>
          <a:prstGeom prst="rect">
            <a:avLst/>
          </a:prstGeom>
          <a:noFill/>
        </p:spPr>
        <p:txBody>
          <a:bodyPr wrap="square" rtlCol="0">
            <a:spAutoFit/>
          </a:bodyPr>
          <a:lstStyle/>
          <a:p>
            <a:pPr marL="0" marR="0" lvl="0" indent="0" defTabSz="914400" rtl="0" eaLnBrk="0" fontAlgn="base" latinLnBrk="0" hangingPunct="0">
              <a:lnSpc>
                <a:spcPct val="100000"/>
              </a:lnSpc>
              <a:spcBef>
                <a:spcPct val="0"/>
              </a:spcBef>
              <a:spcAft>
                <a:spcPct val="0"/>
              </a:spcAft>
              <a:buClrTx/>
              <a:buSzTx/>
              <a:buFontTx/>
              <a:buNone/>
              <a:tabLst/>
            </a:pPr>
            <a:r>
              <a:rPr lang="zh-CN" altLang="zh-CN" sz="20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这些都是我们认识自我的常见方式，而这一切都可归结于“对人的认识”这一宏大范畴。</a:t>
            </a:r>
          </a:p>
        </p:txBody>
      </p:sp>
      <p:sp>
        <p:nvSpPr>
          <p:cNvPr id="8" name="文本框 7">
            <a:extLst>
              <a:ext uri="{FF2B5EF4-FFF2-40B4-BE49-F238E27FC236}">
                <a16:creationId xmlns:a16="http://schemas.microsoft.com/office/drawing/2014/main" id="{9939B825-B184-1577-EB30-0894DA3AE8CC}"/>
              </a:ext>
            </a:extLst>
          </p:cNvPr>
          <p:cNvSpPr txBox="1"/>
          <p:nvPr/>
        </p:nvSpPr>
        <p:spPr>
          <a:xfrm>
            <a:off x="304753" y="3032296"/>
            <a:ext cx="5429183" cy="1200329"/>
          </a:xfrm>
          <a:prstGeom prst="rect">
            <a:avLst/>
          </a:prstGeom>
          <a:noFill/>
        </p:spPr>
        <p:txBody>
          <a:bodyPr wrap="square" rtlCol="0">
            <a:spAutoFit/>
          </a:bodyPr>
          <a:lstStyle/>
          <a:p>
            <a:pPr marL="0" marR="0" lvl="0" indent="0" defTabSz="914400" rtl="0" eaLnBrk="0" fontAlgn="base" latinLnBrk="0" hangingPunct="0">
              <a:lnSpc>
                <a:spcPct val="100000"/>
              </a:lnSpc>
              <a:spcBef>
                <a:spcPct val="0"/>
              </a:spcBef>
              <a:spcAft>
                <a:spcPct val="0"/>
              </a:spcAft>
              <a:buClrTx/>
              <a:buSzTx/>
              <a:buFontTx/>
              <a:buNone/>
              <a:tabLst/>
            </a:pPr>
            <a:r>
              <a:rPr lang="en-US" altLang="zh-CN"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zh-CN"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在</a:t>
            </a:r>
            <a:r>
              <a:rPr lang="zh-CN" altLang="zh-CN" sz="2400" b="1" i="1"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社交场合</a:t>
            </a:r>
            <a:r>
              <a:rPr lang="zh-CN" altLang="zh-CN"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中，有人通过他人的评价反馈来了解自己的性格特质是开朗外向还是内敛含蓄</a:t>
            </a:r>
          </a:p>
        </p:txBody>
      </p:sp>
    </p:spTree>
    <p:extLst>
      <p:ext uri="{BB962C8B-B14F-4D97-AF65-F5344CB8AC3E}">
        <p14:creationId xmlns:p14="http://schemas.microsoft.com/office/powerpoint/2010/main" val="86566539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1000"/>
                                        <p:tgtEl>
                                          <p:spTgt spid="5"/>
                                        </p:tgtEl>
                                      </p:cBhvr>
                                    </p:animEffect>
                                    <p:anim calcmode="lin" valueType="num">
                                      <p:cBhvr>
                                        <p:cTn id="12" dur="1000" fill="hold"/>
                                        <p:tgtEl>
                                          <p:spTgt spid="5"/>
                                        </p:tgtEl>
                                        <p:attrNameLst>
                                          <p:attrName>ppt_x</p:attrName>
                                        </p:attrNameLst>
                                      </p:cBhvr>
                                      <p:tavLst>
                                        <p:tav tm="0">
                                          <p:val>
                                            <p:strVal val="#ppt_x"/>
                                          </p:val>
                                        </p:tav>
                                        <p:tav tm="100000">
                                          <p:val>
                                            <p:strVal val="#ppt_x"/>
                                          </p:val>
                                        </p:tav>
                                      </p:tavLst>
                                    </p:anim>
                                    <p:anim calcmode="lin" valueType="num">
                                      <p:cBhvr>
                                        <p:cTn id="1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fade">
                                      <p:cBhvr>
                                        <p:cTn id="18" dur="500"/>
                                        <p:tgtEl>
                                          <p:spTgt spid="31"/>
                                        </p:tgtEl>
                                      </p:cBhvr>
                                    </p:animEffect>
                                  </p:childTnLst>
                                </p:cTn>
                              </p:par>
                            </p:childTnLst>
                          </p:cTn>
                        </p:par>
                        <p:par>
                          <p:cTn id="19" fill="hold">
                            <p:stCondLst>
                              <p:cond delay="500"/>
                            </p:stCondLst>
                            <p:childTnLst>
                              <p:par>
                                <p:cTn id="20" presetID="10" presetClass="entr" presetSubtype="0" fill="hold" grpId="0" nodeType="after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par>
                          <p:cTn id="23" fill="hold">
                            <p:stCondLst>
                              <p:cond delay="1000"/>
                            </p:stCondLst>
                            <p:childTnLst>
                              <p:par>
                                <p:cTn id="24" presetID="10" presetClass="entr" presetSubtype="0" fill="hold" grpId="0" nodeType="after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500"/>
                                        <p:tgtEl>
                                          <p:spTgt spid="6"/>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4" grpId="0"/>
      <p:bldP spid="5" grpId="0"/>
      <p:bldP spid="6" grpId="0"/>
      <p:bldP spid="7"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CEBFA2BC-C78B-8BEC-C334-F7A6442AB3A6}"/>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D77F3BDB-A392-A24D-6129-F5176D8A0F49}"/>
              </a:ext>
            </a:extLst>
          </p:cNvPr>
          <p:cNvSpPr/>
          <p:nvPr/>
        </p:nvSpPr>
        <p:spPr>
          <a:xfrm>
            <a:off x="0" y="0"/>
            <a:ext cx="12192000" cy="6858000"/>
          </a:xfrm>
          <a:prstGeom prst="rect">
            <a:avLst/>
          </a:prstGeom>
          <a:gradFill>
            <a:gsLst>
              <a:gs pos="0">
                <a:schemeClr val="tx1"/>
              </a:gs>
              <a:gs pos="95402">
                <a:schemeClr val="bg1">
                  <a:alpha val="71000"/>
                </a:schemeClr>
              </a:gs>
              <a:gs pos="66000">
                <a:schemeClr val="bg2">
                  <a:alpha val="60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useBgFill="1">
        <p:nvSpPr>
          <p:cNvPr id="11" name="任意多边形: 形状 10">
            <a:extLst>
              <a:ext uri="{FF2B5EF4-FFF2-40B4-BE49-F238E27FC236}">
                <a16:creationId xmlns:a16="http://schemas.microsoft.com/office/drawing/2014/main" id="{6C8B7163-A32A-BB11-C199-0FE68153C268}"/>
              </a:ext>
            </a:extLst>
          </p:cNvPr>
          <p:cNvSpPr>
            <a:spLocks noChangeAspect="1"/>
          </p:cNvSpPr>
          <p:nvPr/>
        </p:nvSpPr>
        <p:spPr>
          <a:xfrm rot="18840835">
            <a:off x="6225540" y="-1516526"/>
            <a:ext cx="9943239" cy="9941062"/>
          </a:xfrm>
          <a:custGeom>
            <a:avLst/>
            <a:gdLst>
              <a:gd name="connsiteX0" fmla="*/ 3914303 w 5232096"/>
              <a:gd name="connsiteY0" fmla="*/ 2797508 h 5230950"/>
              <a:gd name="connsiteX1" fmla="*/ 5232096 w 5232096"/>
              <a:gd name="connsiteY1" fmla="*/ 2797508 h 5230950"/>
              <a:gd name="connsiteX2" fmla="*/ 5228793 w 5232096"/>
              <a:gd name="connsiteY2" fmla="*/ 2867273 h 5230950"/>
              <a:gd name="connsiteX3" fmla="*/ 2884405 w 5232096"/>
              <a:gd name="connsiteY3" fmla="*/ 5226591 h 5230950"/>
              <a:gd name="connsiteX4" fmla="*/ 2798081 w 5232096"/>
              <a:gd name="connsiteY4" fmla="*/ 5230950 h 5230950"/>
              <a:gd name="connsiteX5" fmla="*/ 2798081 w 5232096"/>
              <a:gd name="connsiteY5" fmla="*/ 3913730 h 5230950"/>
              <a:gd name="connsiteX6" fmla="*/ 2880529 w 5232096"/>
              <a:gd name="connsiteY6" fmla="*/ 3901147 h 5230950"/>
              <a:gd name="connsiteX7" fmla="*/ 3901720 w 5232096"/>
              <a:gd name="connsiteY7" fmla="*/ 2879956 h 5230950"/>
              <a:gd name="connsiteX8" fmla="*/ 0 w 5232096"/>
              <a:gd name="connsiteY8" fmla="*/ 2797508 h 5230950"/>
              <a:gd name="connsiteX9" fmla="*/ 1317793 w 5232096"/>
              <a:gd name="connsiteY9" fmla="*/ 2797508 h 5230950"/>
              <a:gd name="connsiteX10" fmla="*/ 1330376 w 5232096"/>
              <a:gd name="connsiteY10" fmla="*/ 2879956 h 5230950"/>
              <a:gd name="connsiteX11" fmla="*/ 2351567 w 5232096"/>
              <a:gd name="connsiteY11" fmla="*/ 3901147 h 5230950"/>
              <a:gd name="connsiteX12" fmla="*/ 2434015 w 5232096"/>
              <a:gd name="connsiteY12" fmla="*/ 3913730 h 5230950"/>
              <a:gd name="connsiteX13" fmla="*/ 2434015 w 5232096"/>
              <a:gd name="connsiteY13" fmla="*/ 5230950 h 5230950"/>
              <a:gd name="connsiteX14" fmla="*/ 2347691 w 5232096"/>
              <a:gd name="connsiteY14" fmla="*/ 5226591 h 5230950"/>
              <a:gd name="connsiteX15" fmla="*/ 3303 w 5232096"/>
              <a:gd name="connsiteY15" fmla="*/ 2867273 h 5230950"/>
              <a:gd name="connsiteX16" fmla="*/ 2798081 w 5232096"/>
              <a:gd name="connsiteY16" fmla="*/ 0 h 5230950"/>
              <a:gd name="connsiteX17" fmla="*/ 2884405 w 5232096"/>
              <a:gd name="connsiteY17" fmla="*/ 4359 h 5230950"/>
              <a:gd name="connsiteX18" fmla="*/ 5228793 w 5232096"/>
              <a:gd name="connsiteY18" fmla="*/ 2363677 h 5230950"/>
              <a:gd name="connsiteX19" fmla="*/ 5232096 w 5232096"/>
              <a:gd name="connsiteY19" fmla="*/ 2433442 h 5230950"/>
              <a:gd name="connsiteX20" fmla="*/ 3914303 w 5232096"/>
              <a:gd name="connsiteY20" fmla="*/ 2433442 h 5230950"/>
              <a:gd name="connsiteX21" fmla="*/ 3901720 w 5232096"/>
              <a:gd name="connsiteY21" fmla="*/ 2350994 h 5230950"/>
              <a:gd name="connsiteX22" fmla="*/ 2880529 w 5232096"/>
              <a:gd name="connsiteY22" fmla="*/ 1329803 h 5230950"/>
              <a:gd name="connsiteX23" fmla="*/ 2798081 w 5232096"/>
              <a:gd name="connsiteY23" fmla="*/ 1317220 h 5230950"/>
              <a:gd name="connsiteX24" fmla="*/ 2434015 w 5232096"/>
              <a:gd name="connsiteY24" fmla="*/ 0 h 5230950"/>
              <a:gd name="connsiteX25" fmla="*/ 2434015 w 5232096"/>
              <a:gd name="connsiteY25" fmla="*/ 1317220 h 5230950"/>
              <a:gd name="connsiteX26" fmla="*/ 2351567 w 5232096"/>
              <a:gd name="connsiteY26" fmla="*/ 1329803 h 5230950"/>
              <a:gd name="connsiteX27" fmla="*/ 1330376 w 5232096"/>
              <a:gd name="connsiteY27" fmla="*/ 2350994 h 5230950"/>
              <a:gd name="connsiteX28" fmla="*/ 1317793 w 5232096"/>
              <a:gd name="connsiteY28" fmla="*/ 2433442 h 5230950"/>
              <a:gd name="connsiteX29" fmla="*/ 0 w 5232096"/>
              <a:gd name="connsiteY29" fmla="*/ 2433442 h 5230950"/>
              <a:gd name="connsiteX30" fmla="*/ 3303 w 5232096"/>
              <a:gd name="connsiteY30" fmla="*/ 2363677 h 5230950"/>
              <a:gd name="connsiteX31" fmla="*/ 2347691 w 5232096"/>
              <a:gd name="connsiteY31" fmla="*/ 4359 h 5230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232096" h="5230950">
                <a:moveTo>
                  <a:pt x="3914303" y="2797508"/>
                </a:moveTo>
                <a:lnTo>
                  <a:pt x="5232096" y="2797508"/>
                </a:lnTo>
                <a:lnTo>
                  <a:pt x="5228793" y="2867273"/>
                </a:lnTo>
                <a:cubicBezTo>
                  <a:pt x="5110479" y="4110318"/>
                  <a:pt x="4125191" y="5100583"/>
                  <a:pt x="2884405" y="5226591"/>
                </a:cubicBezTo>
                <a:lnTo>
                  <a:pt x="2798081" y="5230950"/>
                </a:lnTo>
                <a:lnTo>
                  <a:pt x="2798081" y="3913730"/>
                </a:lnTo>
                <a:lnTo>
                  <a:pt x="2880529" y="3901147"/>
                </a:lnTo>
                <a:cubicBezTo>
                  <a:pt x="3393108" y="3796258"/>
                  <a:pt x="3796831" y="3392535"/>
                  <a:pt x="3901720" y="2879956"/>
                </a:cubicBezTo>
                <a:close/>
                <a:moveTo>
                  <a:pt x="0" y="2797508"/>
                </a:moveTo>
                <a:lnTo>
                  <a:pt x="1317793" y="2797508"/>
                </a:lnTo>
                <a:lnTo>
                  <a:pt x="1330376" y="2879956"/>
                </a:lnTo>
                <a:cubicBezTo>
                  <a:pt x="1435265" y="3392535"/>
                  <a:pt x="1838988" y="3796258"/>
                  <a:pt x="2351567" y="3901147"/>
                </a:cubicBezTo>
                <a:lnTo>
                  <a:pt x="2434015" y="3913730"/>
                </a:lnTo>
                <a:lnTo>
                  <a:pt x="2434015" y="5230950"/>
                </a:lnTo>
                <a:lnTo>
                  <a:pt x="2347691" y="5226591"/>
                </a:lnTo>
                <a:cubicBezTo>
                  <a:pt x="1106905" y="5100583"/>
                  <a:pt x="121617" y="4110318"/>
                  <a:pt x="3303" y="2867273"/>
                </a:cubicBezTo>
                <a:close/>
                <a:moveTo>
                  <a:pt x="2798081" y="0"/>
                </a:moveTo>
                <a:lnTo>
                  <a:pt x="2884405" y="4359"/>
                </a:lnTo>
                <a:cubicBezTo>
                  <a:pt x="4125191" y="130368"/>
                  <a:pt x="5110479" y="1120633"/>
                  <a:pt x="5228793" y="2363677"/>
                </a:cubicBezTo>
                <a:lnTo>
                  <a:pt x="5232096" y="2433442"/>
                </a:lnTo>
                <a:lnTo>
                  <a:pt x="3914303" y="2433442"/>
                </a:lnTo>
                <a:lnTo>
                  <a:pt x="3901720" y="2350994"/>
                </a:lnTo>
                <a:cubicBezTo>
                  <a:pt x="3796831" y="1838415"/>
                  <a:pt x="3393108" y="1434692"/>
                  <a:pt x="2880529" y="1329803"/>
                </a:cubicBezTo>
                <a:lnTo>
                  <a:pt x="2798081" y="1317220"/>
                </a:lnTo>
                <a:close/>
                <a:moveTo>
                  <a:pt x="2434015" y="0"/>
                </a:moveTo>
                <a:lnTo>
                  <a:pt x="2434015" y="1317220"/>
                </a:lnTo>
                <a:lnTo>
                  <a:pt x="2351567" y="1329803"/>
                </a:lnTo>
                <a:cubicBezTo>
                  <a:pt x="1838988" y="1434692"/>
                  <a:pt x="1435265" y="1838415"/>
                  <a:pt x="1330376" y="2350994"/>
                </a:cubicBezTo>
                <a:lnTo>
                  <a:pt x="1317793" y="2433442"/>
                </a:lnTo>
                <a:lnTo>
                  <a:pt x="0" y="2433442"/>
                </a:lnTo>
                <a:lnTo>
                  <a:pt x="3303" y="2363677"/>
                </a:lnTo>
                <a:cubicBezTo>
                  <a:pt x="121617" y="1120633"/>
                  <a:pt x="1106905" y="130368"/>
                  <a:pt x="2347691" y="4359"/>
                </a:cubicBezTo>
                <a:close/>
              </a:path>
            </a:pathLst>
          </a:custGeom>
          <a:ln>
            <a:noFill/>
          </a:ln>
          <a:effectLst>
            <a:outerShdw blurRad="508000" sx="102000" sy="102000" algn="ctr" rotWithShape="0">
              <a:prstClr val="black">
                <a:alpha val="7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文本框 3">
            <a:extLst>
              <a:ext uri="{FF2B5EF4-FFF2-40B4-BE49-F238E27FC236}">
                <a16:creationId xmlns:a16="http://schemas.microsoft.com/office/drawing/2014/main" id="{08ED3ABA-CC07-399D-C392-7540051D7000}"/>
              </a:ext>
            </a:extLst>
          </p:cNvPr>
          <p:cNvSpPr txBox="1"/>
          <p:nvPr/>
        </p:nvSpPr>
        <p:spPr>
          <a:xfrm>
            <a:off x="89241" y="2627341"/>
            <a:ext cx="6096000" cy="3908762"/>
          </a:xfrm>
          <a:prstGeom prst="rect">
            <a:avLst/>
          </a:prstGeom>
          <a:noFill/>
        </p:spPr>
        <p:txBody>
          <a:bodyPr wrap="square" rtlCol="0">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lang="zh-CN" altLang="en-US"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测评报告：</a:t>
            </a:r>
            <a:endParaRPr lang="en-US" altLang="zh-CN"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zh-CN"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zh-CN"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采访内容</a:t>
            </a:r>
            <a:endParaRPr lang="en-US" altLang="zh-CN"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zh-CN"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en-US"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采访</a:t>
            </a:r>
            <a:r>
              <a:rPr lang="zh-CN" altLang="zh-CN"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过程</a:t>
            </a:r>
            <a:endParaRPr lang="en-US" altLang="zh-CN"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zh-CN"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en-US"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提炼</a:t>
            </a:r>
            <a:r>
              <a:rPr lang="zh-CN" altLang="zh-CN"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同学们对当下MBTI爆火的态度</a:t>
            </a:r>
            <a:endParaRPr lang="en-US" altLang="zh-CN"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zh-CN"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en-US"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总结</a:t>
            </a:r>
            <a:r>
              <a:rPr lang="zh-CN" altLang="zh-CN" sz="2400" kern="100" dirty="0">
                <a:solidFill>
                  <a:schemeClr val="bg1"/>
                </a:solidFill>
                <a:latin typeface="程荣光刻楷" panose="03000503000000000000" pitchFamily="66" charset="-122"/>
                <a:ea typeface="程荣光刻楷" panose="03000503000000000000" pitchFamily="66" charset="-122"/>
                <a:cs typeface="Times New Roman" panose="02020603050405020304" pitchFamily="18" charset="0"/>
              </a:rPr>
              <a:t>“对人的认识”</a:t>
            </a:r>
            <a:r>
              <a:rPr lang="zh-CN" altLang="zh-CN"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这一宏大命题的看法</a:t>
            </a:r>
            <a:r>
              <a:rPr lang="en-US" altLang="zh-CN"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en-US"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研究</a:t>
            </a:r>
            <a:r>
              <a:rPr lang="zh-CN" altLang="zh-CN" sz="2400" kern="100" dirty="0">
                <a:solidFill>
                  <a:schemeClr val="bg1"/>
                </a:solidFill>
                <a:latin typeface="程荣光刻楷" panose="03000503000000000000" pitchFamily="66" charset="-122"/>
                <a:ea typeface="程荣光刻楷" panose="03000503000000000000" pitchFamily="66" charset="-122"/>
                <a:cs typeface="Times New Roman" panose="02020603050405020304" pitchFamily="18" charset="0"/>
              </a:rPr>
              <a:t>“</a:t>
            </a:r>
            <a:r>
              <a:rPr lang="zh-CN" altLang="zh-CN" sz="2400" b="1" kern="100" dirty="0">
                <a:solidFill>
                  <a:schemeClr val="bg1"/>
                </a:solidFill>
                <a:latin typeface="Calibri" panose="020F0502020204030204" pitchFamily="34" charset="0"/>
                <a:ea typeface="程荣光刻楷" panose="03000503000000000000" pitchFamily="66" charset="-122"/>
                <a:cs typeface="Calibri" panose="020F0502020204030204" pitchFamily="34" charset="0"/>
              </a:rPr>
              <a:t>MBTI</a:t>
            </a:r>
            <a:r>
              <a:rPr lang="zh-CN" altLang="zh-CN" sz="2400" kern="100" dirty="0">
                <a:solidFill>
                  <a:schemeClr val="bg1"/>
                </a:solidFill>
                <a:latin typeface="程荣光刻楷" panose="03000503000000000000" pitchFamily="66" charset="-122"/>
                <a:ea typeface="程荣光刻楷" panose="03000503000000000000" pitchFamily="66" charset="-122"/>
                <a:cs typeface="Times New Roman" panose="02020603050405020304" pitchFamily="18" charset="0"/>
              </a:rPr>
              <a:t>能否帮助我们更好地认识自我”</a:t>
            </a:r>
            <a:r>
              <a:rPr lang="zh-CN" altLang="zh-CN"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这一话题</a:t>
            </a:r>
            <a:endParaRPr lang="en-US" altLang="zh-CN"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lang="en-US" altLang="zh-CN"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a:t>
            </a:r>
            <a:r>
              <a:rPr lang="zh-CN" altLang="zh-CN"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探讨是否存在除MBTI外更好的认识自我的方式。</a:t>
            </a:r>
          </a:p>
          <a:p>
            <a:pPr marL="0" marR="0" lvl="0" indent="0" algn="just" defTabSz="914400" rtl="0" eaLnBrk="0" fontAlgn="base" latinLnBrk="0" hangingPunct="0">
              <a:lnSpc>
                <a:spcPct val="100000"/>
              </a:lnSpc>
              <a:spcBef>
                <a:spcPct val="0"/>
              </a:spcBef>
              <a:spcAft>
                <a:spcPct val="0"/>
              </a:spcAft>
              <a:buClrTx/>
              <a:buSzTx/>
              <a:buFontTx/>
              <a:buNone/>
              <a:tabLst/>
            </a:pPr>
            <a:r>
              <a:rPr lang="en-US" altLang="zh-CN"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    </a:t>
            </a:r>
            <a:endParaRPr lang="zh-CN" altLang="zh-CN" sz="2400"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endParaRPr>
          </a:p>
        </p:txBody>
      </p:sp>
      <p:sp>
        <p:nvSpPr>
          <p:cNvPr id="3" name="文本框 2">
            <a:extLst>
              <a:ext uri="{FF2B5EF4-FFF2-40B4-BE49-F238E27FC236}">
                <a16:creationId xmlns:a16="http://schemas.microsoft.com/office/drawing/2014/main" id="{BEF89CE9-DE61-3FB0-FF4C-70F740FC0769}"/>
              </a:ext>
            </a:extLst>
          </p:cNvPr>
          <p:cNvSpPr txBox="1"/>
          <p:nvPr/>
        </p:nvSpPr>
        <p:spPr>
          <a:xfrm>
            <a:off x="230930" y="147339"/>
            <a:ext cx="3057247" cy="830997"/>
          </a:xfrm>
          <a:prstGeom prst="rect">
            <a:avLst/>
          </a:prstGeom>
          <a:noFill/>
        </p:spPr>
        <p:txBody>
          <a:bodyPr wrap="none" rtlCol="0">
            <a:spAutoFit/>
          </a:bodyPr>
          <a:lstStyle/>
          <a:p>
            <a:r>
              <a:rPr lang="zh-CN" altLang="zh-CN" sz="4800" b="1"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MBTI测评</a:t>
            </a:r>
            <a:r>
              <a:rPr lang="en-US" altLang="zh-CN" sz="4800" b="1" kern="100" dirty="0">
                <a:solidFill>
                  <a:schemeClr val="bg1"/>
                </a:solidFill>
                <a:latin typeface="华文楷体" panose="02010600040101010101" pitchFamily="2" charset="-122"/>
                <a:ea typeface="华文楷体" panose="02010600040101010101" pitchFamily="2" charset="-122"/>
                <a:cs typeface="Times New Roman" panose="02020603050405020304" pitchFamily="18" charset="0"/>
              </a:rPr>
              <a:t> </a:t>
            </a:r>
          </a:p>
        </p:txBody>
      </p:sp>
      <p:sp>
        <p:nvSpPr>
          <p:cNvPr id="6" name="文本框 5">
            <a:extLst>
              <a:ext uri="{FF2B5EF4-FFF2-40B4-BE49-F238E27FC236}">
                <a16:creationId xmlns:a16="http://schemas.microsoft.com/office/drawing/2014/main" id="{008CEC7A-3CDB-23E5-35EF-5B316A92536D}"/>
              </a:ext>
            </a:extLst>
          </p:cNvPr>
          <p:cNvSpPr txBox="1"/>
          <p:nvPr/>
        </p:nvSpPr>
        <p:spPr>
          <a:xfrm>
            <a:off x="230930" y="1243463"/>
            <a:ext cx="1338828" cy="369332"/>
          </a:xfrm>
          <a:prstGeom prst="rect">
            <a:avLst/>
          </a:prstGeom>
          <a:noFill/>
        </p:spPr>
        <p:txBody>
          <a:bodyPr wrap="none" rtlCol="0">
            <a:spAutoFit/>
          </a:bodyPr>
          <a:lstStyle/>
          <a:p>
            <a:r>
              <a:rPr lang="zh-CN" altLang="zh-CN" sz="1800" kern="100" dirty="0">
                <a:solidFill>
                  <a:srgbClr val="FFFF00"/>
                </a:solidFill>
                <a:latin typeface="华文楷体" panose="02010600040101010101" pitchFamily="2" charset="-122"/>
                <a:ea typeface="华文楷体" panose="02010600040101010101" pitchFamily="2" charset="-122"/>
                <a:cs typeface="Times New Roman" panose="02020603050405020304" pitchFamily="18" charset="0"/>
              </a:rPr>
              <a:t>不同学院，</a:t>
            </a:r>
            <a:endParaRPr lang="zh-CN" altLang="en-US" dirty="0">
              <a:solidFill>
                <a:srgbClr val="FFFF00"/>
              </a:solidFill>
              <a:latin typeface="华文楷体" panose="02010600040101010101" pitchFamily="2" charset="-122"/>
              <a:ea typeface="华文楷体" panose="02010600040101010101" pitchFamily="2" charset="-122"/>
            </a:endParaRPr>
          </a:p>
        </p:txBody>
      </p:sp>
      <p:sp>
        <p:nvSpPr>
          <p:cNvPr id="8" name="文本框 7">
            <a:extLst>
              <a:ext uri="{FF2B5EF4-FFF2-40B4-BE49-F238E27FC236}">
                <a16:creationId xmlns:a16="http://schemas.microsoft.com/office/drawing/2014/main" id="{8C7C1BFE-11A1-0566-F147-4CDC68C1C9CB}"/>
              </a:ext>
            </a:extLst>
          </p:cNvPr>
          <p:cNvSpPr txBox="1"/>
          <p:nvPr/>
        </p:nvSpPr>
        <p:spPr>
          <a:xfrm>
            <a:off x="1120719" y="1684961"/>
            <a:ext cx="1338828" cy="369332"/>
          </a:xfrm>
          <a:prstGeom prst="rect">
            <a:avLst/>
          </a:prstGeom>
          <a:noFill/>
        </p:spPr>
        <p:txBody>
          <a:bodyPr wrap="none" rtlCol="0">
            <a:spAutoFit/>
          </a:bodyPr>
          <a:lstStyle/>
          <a:p>
            <a:r>
              <a:rPr lang="zh-CN" altLang="zh-CN" sz="1800" kern="100" dirty="0">
                <a:solidFill>
                  <a:srgbClr val="FFFF00"/>
                </a:solidFill>
                <a:latin typeface="华文楷体" panose="02010600040101010101" pitchFamily="2" charset="-122"/>
                <a:ea typeface="华文楷体" panose="02010600040101010101" pitchFamily="2" charset="-122"/>
                <a:cs typeface="Times New Roman" panose="02020603050405020304" pitchFamily="18" charset="0"/>
              </a:rPr>
              <a:t>不同专业，</a:t>
            </a:r>
            <a:endParaRPr lang="zh-CN" altLang="en-US" dirty="0">
              <a:solidFill>
                <a:srgbClr val="FFFF00"/>
              </a:solidFill>
              <a:latin typeface="华文楷体" panose="02010600040101010101" pitchFamily="2" charset="-122"/>
              <a:ea typeface="华文楷体" panose="02010600040101010101" pitchFamily="2" charset="-122"/>
            </a:endParaRPr>
          </a:p>
        </p:txBody>
      </p:sp>
      <p:sp>
        <p:nvSpPr>
          <p:cNvPr id="9" name="文本框 8">
            <a:extLst>
              <a:ext uri="{FF2B5EF4-FFF2-40B4-BE49-F238E27FC236}">
                <a16:creationId xmlns:a16="http://schemas.microsoft.com/office/drawing/2014/main" id="{D2593D66-CF0C-7CE6-DFCB-5BCFCBCB3585}"/>
              </a:ext>
            </a:extLst>
          </p:cNvPr>
          <p:cNvSpPr txBox="1"/>
          <p:nvPr/>
        </p:nvSpPr>
        <p:spPr>
          <a:xfrm>
            <a:off x="2060743" y="2126459"/>
            <a:ext cx="1800493" cy="369332"/>
          </a:xfrm>
          <a:prstGeom prst="rect">
            <a:avLst/>
          </a:prstGeom>
          <a:noFill/>
        </p:spPr>
        <p:txBody>
          <a:bodyPr wrap="none" rtlCol="0">
            <a:spAutoFit/>
          </a:bodyPr>
          <a:lstStyle/>
          <a:p>
            <a:r>
              <a:rPr lang="zh-CN" altLang="zh-CN" sz="1800" kern="100" dirty="0">
                <a:solidFill>
                  <a:srgbClr val="FFFF00"/>
                </a:solidFill>
                <a:latin typeface="华文楷体" panose="02010600040101010101" pitchFamily="2" charset="-122"/>
                <a:ea typeface="华文楷体" panose="02010600040101010101" pitchFamily="2" charset="-122"/>
                <a:cs typeface="Times New Roman" panose="02020603050405020304" pitchFamily="18" charset="0"/>
              </a:rPr>
              <a:t>不同性格的同学</a:t>
            </a:r>
            <a:endParaRPr lang="zh-CN" altLang="en-US" dirty="0">
              <a:solidFill>
                <a:srgbClr val="FFFF00"/>
              </a:solidFill>
              <a:latin typeface="华文楷体" panose="02010600040101010101" pitchFamily="2" charset="-122"/>
              <a:ea typeface="华文楷体" panose="02010600040101010101" pitchFamily="2" charset="-122"/>
            </a:endParaRPr>
          </a:p>
        </p:txBody>
      </p:sp>
      <p:grpSp>
        <p:nvGrpSpPr>
          <p:cNvPr id="18" name="组合 17">
            <a:extLst>
              <a:ext uri="{FF2B5EF4-FFF2-40B4-BE49-F238E27FC236}">
                <a16:creationId xmlns:a16="http://schemas.microsoft.com/office/drawing/2014/main" id="{0D36FDAE-2B7F-5085-54D9-30EC8E47A972}"/>
              </a:ext>
            </a:extLst>
          </p:cNvPr>
          <p:cNvGrpSpPr/>
          <p:nvPr/>
        </p:nvGrpSpPr>
        <p:grpSpPr>
          <a:xfrm>
            <a:off x="98385" y="1123627"/>
            <a:ext cx="1436006" cy="530458"/>
            <a:chOff x="98385" y="1123627"/>
            <a:chExt cx="1436006" cy="530458"/>
          </a:xfrm>
        </p:grpSpPr>
        <p:cxnSp>
          <p:nvCxnSpPr>
            <p:cNvPr id="13" name="直接连接符 12">
              <a:extLst>
                <a:ext uri="{FF2B5EF4-FFF2-40B4-BE49-F238E27FC236}">
                  <a16:creationId xmlns:a16="http://schemas.microsoft.com/office/drawing/2014/main" id="{F3C42F59-B1AC-BD74-AD61-02DA6FE90C5A}"/>
                </a:ext>
              </a:extLst>
            </p:cNvPr>
            <p:cNvCxnSpPr/>
            <p:nvPr/>
          </p:nvCxnSpPr>
          <p:spPr>
            <a:xfrm flipH="1">
              <a:off x="1357664" y="1123627"/>
              <a:ext cx="176727" cy="53045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接连接符 16">
              <a:extLst>
                <a:ext uri="{FF2B5EF4-FFF2-40B4-BE49-F238E27FC236}">
                  <a16:creationId xmlns:a16="http://schemas.microsoft.com/office/drawing/2014/main" id="{08F7012E-A0CC-56ED-CA7F-03D11FBB11C6}"/>
                </a:ext>
              </a:extLst>
            </p:cNvPr>
            <p:cNvCxnSpPr/>
            <p:nvPr/>
          </p:nvCxnSpPr>
          <p:spPr>
            <a:xfrm>
              <a:off x="98385" y="1643643"/>
              <a:ext cx="125927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19" name="组合 18">
            <a:extLst>
              <a:ext uri="{FF2B5EF4-FFF2-40B4-BE49-F238E27FC236}">
                <a16:creationId xmlns:a16="http://schemas.microsoft.com/office/drawing/2014/main" id="{6A6885F3-14AC-E50A-AA70-58776B2A8631}"/>
              </a:ext>
            </a:extLst>
          </p:cNvPr>
          <p:cNvGrpSpPr/>
          <p:nvPr/>
        </p:nvGrpSpPr>
        <p:grpSpPr>
          <a:xfrm>
            <a:off x="992355" y="1534147"/>
            <a:ext cx="1436006" cy="530458"/>
            <a:chOff x="98385" y="1123627"/>
            <a:chExt cx="1436006" cy="530458"/>
          </a:xfrm>
        </p:grpSpPr>
        <p:cxnSp>
          <p:nvCxnSpPr>
            <p:cNvPr id="20" name="直接连接符 19">
              <a:extLst>
                <a:ext uri="{FF2B5EF4-FFF2-40B4-BE49-F238E27FC236}">
                  <a16:creationId xmlns:a16="http://schemas.microsoft.com/office/drawing/2014/main" id="{4C6B1293-289B-FA7C-900B-D5FB07E2DE13}"/>
                </a:ext>
              </a:extLst>
            </p:cNvPr>
            <p:cNvCxnSpPr/>
            <p:nvPr/>
          </p:nvCxnSpPr>
          <p:spPr>
            <a:xfrm flipH="1">
              <a:off x="1357664" y="1123627"/>
              <a:ext cx="176727" cy="53045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1" name="直接连接符 20">
              <a:extLst>
                <a:ext uri="{FF2B5EF4-FFF2-40B4-BE49-F238E27FC236}">
                  <a16:creationId xmlns:a16="http://schemas.microsoft.com/office/drawing/2014/main" id="{C4CC43B3-A6A5-6EEB-1790-557760C2924D}"/>
                </a:ext>
              </a:extLst>
            </p:cNvPr>
            <p:cNvCxnSpPr/>
            <p:nvPr/>
          </p:nvCxnSpPr>
          <p:spPr>
            <a:xfrm>
              <a:off x="98385" y="1643643"/>
              <a:ext cx="125927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grpSp>
        <p:nvGrpSpPr>
          <p:cNvPr id="22" name="组合 21">
            <a:extLst>
              <a:ext uri="{FF2B5EF4-FFF2-40B4-BE49-F238E27FC236}">
                <a16:creationId xmlns:a16="http://schemas.microsoft.com/office/drawing/2014/main" id="{E0A275AA-7FF2-81DB-53C4-D7FB54FAFE0D}"/>
              </a:ext>
            </a:extLst>
          </p:cNvPr>
          <p:cNvGrpSpPr/>
          <p:nvPr/>
        </p:nvGrpSpPr>
        <p:grpSpPr>
          <a:xfrm>
            <a:off x="2507602" y="1965333"/>
            <a:ext cx="1436006" cy="530458"/>
            <a:chOff x="98385" y="1123627"/>
            <a:chExt cx="1436006" cy="530458"/>
          </a:xfrm>
        </p:grpSpPr>
        <p:cxnSp>
          <p:nvCxnSpPr>
            <p:cNvPr id="23" name="直接连接符 22">
              <a:extLst>
                <a:ext uri="{FF2B5EF4-FFF2-40B4-BE49-F238E27FC236}">
                  <a16:creationId xmlns:a16="http://schemas.microsoft.com/office/drawing/2014/main" id="{ED656D83-07ED-C7C6-F65F-7CAEAD87F1C4}"/>
                </a:ext>
              </a:extLst>
            </p:cNvPr>
            <p:cNvCxnSpPr/>
            <p:nvPr/>
          </p:nvCxnSpPr>
          <p:spPr>
            <a:xfrm flipH="1">
              <a:off x="1357664" y="1123627"/>
              <a:ext cx="176727" cy="530458"/>
            </a:xfrm>
            <a:prstGeom prst="line">
              <a:avLst/>
            </a:prstGeom>
            <a:ln w="285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4" name="直接连接符 23">
              <a:extLst>
                <a:ext uri="{FF2B5EF4-FFF2-40B4-BE49-F238E27FC236}">
                  <a16:creationId xmlns:a16="http://schemas.microsoft.com/office/drawing/2014/main" id="{922A322A-657B-6EFE-E9C3-A34A165BD2A6}"/>
                </a:ext>
              </a:extLst>
            </p:cNvPr>
            <p:cNvCxnSpPr/>
            <p:nvPr/>
          </p:nvCxnSpPr>
          <p:spPr>
            <a:xfrm>
              <a:off x="98385" y="1643643"/>
              <a:ext cx="1259279"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0102696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1000"/>
                                        <p:tgtEl>
                                          <p:spTgt spid="18"/>
                                        </p:tgtEl>
                                      </p:cBhvr>
                                    </p:animEffect>
                                    <p:anim calcmode="lin" valueType="num">
                                      <p:cBhvr>
                                        <p:cTn id="8" dur="1000" fill="hold"/>
                                        <p:tgtEl>
                                          <p:spTgt spid="18"/>
                                        </p:tgtEl>
                                        <p:attrNameLst>
                                          <p:attrName>ppt_x</p:attrName>
                                        </p:attrNameLst>
                                      </p:cBhvr>
                                      <p:tavLst>
                                        <p:tav tm="0">
                                          <p:val>
                                            <p:strVal val="#ppt_x"/>
                                          </p:val>
                                        </p:tav>
                                        <p:tav tm="100000">
                                          <p:val>
                                            <p:strVal val="#ppt_x"/>
                                          </p:val>
                                        </p:tav>
                                      </p:tavLst>
                                    </p:anim>
                                    <p:anim calcmode="lin" valueType="num">
                                      <p:cBhvr>
                                        <p:cTn id="9" dur="1000" fill="hold"/>
                                        <p:tgtEl>
                                          <p:spTgt spid="18"/>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par>
                          <p:cTn id="15" fill="hold">
                            <p:stCondLst>
                              <p:cond delay="1000"/>
                            </p:stCondLst>
                            <p:childTnLst>
                              <p:par>
                                <p:cTn id="16" presetID="42" presetClass="entr" presetSubtype="0" fill="hold" nodeType="after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fade">
                                      <p:cBhvr>
                                        <p:cTn id="18" dur="1000"/>
                                        <p:tgtEl>
                                          <p:spTgt spid="19"/>
                                        </p:tgtEl>
                                      </p:cBhvr>
                                    </p:animEffect>
                                    <p:anim calcmode="lin" valueType="num">
                                      <p:cBhvr>
                                        <p:cTn id="19" dur="1000" fill="hold"/>
                                        <p:tgtEl>
                                          <p:spTgt spid="19"/>
                                        </p:tgtEl>
                                        <p:attrNameLst>
                                          <p:attrName>ppt_x</p:attrName>
                                        </p:attrNameLst>
                                      </p:cBhvr>
                                      <p:tavLst>
                                        <p:tav tm="0">
                                          <p:val>
                                            <p:strVal val="#ppt_x"/>
                                          </p:val>
                                        </p:tav>
                                        <p:tav tm="100000">
                                          <p:val>
                                            <p:strVal val="#ppt_x"/>
                                          </p:val>
                                        </p:tav>
                                      </p:tavLst>
                                    </p:anim>
                                    <p:anim calcmode="lin" valueType="num">
                                      <p:cBhvr>
                                        <p:cTn id="20" dur="1000" fill="hold"/>
                                        <p:tgtEl>
                                          <p:spTgt spid="19"/>
                                        </p:tgtEl>
                                        <p:attrNameLst>
                                          <p:attrName>ppt_y</p:attrName>
                                        </p:attrNameLst>
                                      </p:cBhvr>
                                      <p:tavLst>
                                        <p:tav tm="0">
                                          <p:val>
                                            <p:strVal val="#ppt_y+.1"/>
                                          </p:val>
                                        </p:tav>
                                        <p:tav tm="100000">
                                          <p:val>
                                            <p:strVal val="#ppt_y"/>
                                          </p:val>
                                        </p:tav>
                                      </p:tavLst>
                                    </p:anim>
                                  </p:childTnLst>
                                </p:cTn>
                              </p:par>
                              <p:par>
                                <p:cTn id="21" presetID="42" presetClass="entr" presetSubtype="0" fill="hold" grpId="0" nodeType="with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fade">
                                      <p:cBhvr>
                                        <p:cTn id="23" dur="1000"/>
                                        <p:tgtEl>
                                          <p:spTgt spid="8"/>
                                        </p:tgtEl>
                                      </p:cBhvr>
                                    </p:animEffect>
                                    <p:anim calcmode="lin" valueType="num">
                                      <p:cBhvr>
                                        <p:cTn id="24" dur="1000" fill="hold"/>
                                        <p:tgtEl>
                                          <p:spTgt spid="8"/>
                                        </p:tgtEl>
                                        <p:attrNameLst>
                                          <p:attrName>ppt_x</p:attrName>
                                        </p:attrNameLst>
                                      </p:cBhvr>
                                      <p:tavLst>
                                        <p:tav tm="0">
                                          <p:val>
                                            <p:strVal val="#ppt_x"/>
                                          </p:val>
                                        </p:tav>
                                        <p:tav tm="100000">
                                          <p:val>
                                            <p:strVal val="#ppt_x"/>
                                          </p:val>
                                        </p:tav>
                                      </p:tavLst>
                                    </p:anim>
                                    <p:anim calcmode="lin" valueType="num">
                                      <p:cBhvr>
                                        <p:cTn id="25" dur="1000" fill="hold"/>
                                        <p:tgtEl>
                                          <p:spTgt spid="8"/>
                                        </p:tgtEl>
                                        <p:attrNameLst>
                                          <p:attrName>ppt_y</p:attrName>
                                        </p:attrNameLst>
                                      </p:cBhvr>
                                      <p:tavLst>
                                        <p:tav tm="0">
                                          <p:val>
                                            <p:strVal val="#ppt_y+.1"/>
                                          </p:val>
                                        </p:tav>
                                        <p:tav tm="100000">
                                          <p:val>
                                            <p:strVal val="#ppt_y"/>
                                          </p:val>
                                        </p:tav>
                                      </p:tavLst>
                                    </p:anim>
                                  </p:childTnLst>
                                </p:cTn>
                              </p:par>
                            </p:childTnLst>
                          </p:cTn>
                        </p:par>
                        <p:par>
                          <p:cTn id="26" fill="hold">
                            <p:stCondLst>
                              <p:cond delay="2000"/>
                            </p:stCondLst>
                            <p:childTnLst>
                              <p:par>
                                <p:cTn id="27" presetID="42" presetClass="entr" presetSubtype="0" fill="hold" nodeType="afterEffect">
                                  <p:stCondLst>
                                    <p:cond delay="0"/>
                                  </p:stCondLst>
                                  <p:childTnLst>
                                    <p:set>
                                      <p:cBhvr>
                                        <p:cTn id="28" dur="1" fill="hold">
                                          <p:stCondLst>
                                            <p:cond delay="0"/>
                                          </p:stCondLst>
                                        </p:cTn>
                                        <p:tgtEl>
                                          <p:spTgt spid="22"/>
                                        </p:tgtEl>
                                        <p:attrNameLst>
                                          <p:attrName>style.visibility</p:attrName>
                                        </p:attrNameLst>
                                      </p:cBhvr>
                                      <p:to>
                                        <p:strVal val="visible"/>
                                      </p:to>
                                    </p:set>
                                    <p:animEffect transition="in" filter="fade">
                                      <p:cBhvr>
                                        <p:cTn id="29" dur="1000"/>
                                        <p:tgtEl>
                                          <p:spTgt spid="22"/>
                                        </p:tgtEl>
                                      </p:cBhvr>
                                    </p:animEffect>
                                    <p:anim calcmode="lin" valueType="num">
                                      <p:cBhvr>
                                        <p:cTn id="30" dur="1000" fill="hold"/>
                                        <p:tgtEl>
                                          <p:spTgt spid="22"/>
                                        </p:tgtEl>
                                        <p:attrNameLst>
                                          <p:attrName>ppt_x</p:attrName>
                                        </p:attrNameLst>
                                      </p:cBhvr>
                                      <p:tavLst>
                                        <p:tav tm="0">
                                          <p:val>
                                            <p:strVal val="#ppt_x"/>
                                          </p:val>
                                        </p:tav>
                                        <p:tav tm="100000">
                                          <p:val>
                                            <p:strVal val="#ppt_x"/>
                                          </p:val>
                                        </p:tav>
                                      </p:tavLst>
                                    </p:anim>
                                    <p:anim calcmode="lin" valueType="num">
                                      <p:cBhvr>
                                        <p:cTn id="31" dur="1000" fill="hold"/>
                                        <p:tgtEl>
                                          <p:spTgt spid="22"/>
                                        </p:tgtEl>
                                        <p:attrNameLst>
                                          <p:attrName>ppt_y</p:attrName>
                                        </p:attrNameLst>
                                      </p:cBhvr>
                                      <p:tavLst>
                                        <p:tav tm="0">
                                          <p:val>
                                            <p:strVal val="#ppt_y+.1"/>
                                          </p:val>
                                        </p:tav>
                                        <p:tav tm="100000">
                                          <p:val>
                                            <p:strVal val="#ppt_y"/>
                                          </p:val>
                                        </p:tav>
                                      </p:tavLst>
                                    </p:anim>
                                  </p:childTnLst>
                                </p:cTn>
                              </p:par>
                              <p:par>
                                <p:cTn id="32" presetID="42" presetClass="entr" presetSubtype="0" fill="hold" grpId="0" nodeType="with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anim calcmode="lin" valueType="num">
                                      <p:cBhvr>
                                        <p:cTn id="35" dur="1000" fill="hold"/>
                                        <p:tgtEl>
                                          <p:spTgt spid="9"/>
                                        </p:tgtEl>
                                        <p:attrNameLst>
                                          <p:attrName>ppt_x</p:attrName>
                                        </p:attrNameLst>
                                      </p:cBhvr>
                                      <p:tavLst>
                                        <p:tav tm="0">
                                          <p:val>
                                            <p:strVal val="#ppt_x"/>
                                          </p:val>
                                        </p:tav>
                                        <p:tav tm="100000">
                                          <p:val>
                                            <p:strVal val="#ppt_x"/>
                                          </p:val>
                                        </p:tav>
                                      </p:tavLst>
                                    </p:anim>
                                    <p:anim calcmode="lin" valueType="num">
                                      <p:cBhvr>
                                        <p:cTn id="36"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4"/>
                                        </p:tgtEl>
                                        <p:attrNameLst>
                                          <p:attrName>style.visibility</p:attrName>
                                        </p:attrNameLst>
                                      </p:cBhvr>
                                      <p:to>
                                        <p:strVal val="visible"/>
                                      </p:to>
                                    </p:set>
                                    <p:animEffect transition="in" filter="fade">
                                      <p:cBhvr>
                                        <p:cTn id="41"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8"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a:extLst>
            <a:ext uri="{FF2B5EF4-FFF2-40B4-BE49-F238E27FC236}">
              <a16:creationId xmlns:a16="http://schemas.microsoft.com/office/drawing/2014/main" id="{8F503FE0-B5E6-7E1B-73EA-6E3883639A87}"/>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7BC1A75B-FC7E-3C6A-8823-1A0C76A766C8}"/>
              </a:ext>
            </a:extLst>
          </p:cNvPr>
          <p:cNvSpPr/>
          <p:nvPr/>
        </p:nvSpPr>
        <p:spPr>
          <a:xfrm>
            <a:off x="0" y="0"/>
            <a:ext cx="12192000" cy="6858000"/>
          </a:xfrm>
          <a:prstGeom prst="rect">
            <a:avLst/>
          </a:prstGeom>
          <a:gradFill>
            <a:gsLst>
              <a:gs pos="0">
                <a:schemeClr val="tx1"/>
              </a:gs>
              <a:gs pos="95402">
                <a:schemeClr val="bg1">
                  <a:alpha val="71000"/>
                </a:schemeClr>
              </a:gs>
              <a:gs pos="66000">
                <a:schemeClr val="bg2">
                  <a:alpha val="60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010E570F-AB63-B62F-E6EA-7A24429346F2}"/>
              </a:ext>
            </a:extLst>
          </p:cNvPr>
          <p:cNvSpPr txBox="1"/>
          <p:nvPr/>
        </p:nvSpPr>
        <p:spPr>
          <a:xfrm>
            <a:off x="0" y="0"/>
            <a:ext cx="2916183" cy="2000548"/>
          </a:xfrm>
          <a:prstGeom prst="rect">
            <a:avLst/>
          </a:prstGeom>
          <a:noFill/>
        </p:spPr>
        <p:txBody>
          <a:bodyPr wrap="none" rtlCol="0">
            <a:spAutoFit/>
          </a:bodyPr>
          <a:lstStyle/>
          <a:p>
            <a:r>
              <a:rPr lang="zh-CN" altLang="en-US" sz="4400" dirty="0">
                <a:solidFill>
                  <a:schemeClr val="bg1"/>
                </a:solidFill>
                <a:latin typeface="程荣光刻楷" panose="03000503000000000000" pitchFamily="66" charset="-122"/>
                <a:ea typeface="程荣光刻楷" panose="03000503000000000000" pitchFamily="66" charset="-122"/>
              </a:rPr>
              <a:t>什么是</a:t>
            </a:r>
            <a:endParaRPr lang="en-US" altLang="zh-CN" sz="4400" dirty="0">
              <a:solidFill>
                <a:schemeClr val="bg1"/>
              </a:solidFill>
              <a:latin typeface="程荣光刻楷" panose="03000503000000000000" pitchFamily="66" charset="-122"/>
              <a:ea typeface="程荣光刻楷" panose="03000503000000000000" pitchFamily="66" charset="-122"/>
            </a:endParaRPr>
          </a:p>
          <a:p>
            <a:r>
              <a:rPr lang="en-US" altLang="zh-CN" sz="8000" dirty="0">
                <a:solidFill>
                  <a:schemeClr val="bg1"/>
                </a:solidFill>
                <a:latin typeface="Segoe UI Black" panose="020B0A02040204020203" pitchFamily="34" charset="0"/>
                <a:ea typeface="Segoe UI Black" panose="020B0A02040204020203" pitchFamily="34" charset="0"/>
              </a:rPr>
              <a:t>MBTI</a:t>
            </a:r>
            <a:endParaRPr lang="zh-CN" altLang="en-US" sz="8000" dirty="0">
              <a:solidFill>
                <a:schemeClr val="bg1"/>
              </a:solidFill>
              <a:latin typeface="Segoe UI Black" panose="020B0A02040204020203" pitchFamily="34" charset="0"/>
            </a:endParaRPr>
          </a:p>
        </p:txBody>
      </p:sp>
      <p:sp>
        <p:nvSpPr>
          <p:cNvPr id="31" name="文本框 30">
            <a:extLst>
              <a:ext uri="{FF2B5EF4-FFF2-40B4-BE49-F238E27FC236}">
                <a16:creationId xmlns:a16="http://schemas.microsoft.com/office/drawing/2014/main" id="{DE180A01-37C7-C93E-1436-5BD6F01A0BBD}"/>
              </a:ext>
            </a:extLst>
          </p:cNvPr>
          <p:cNvSpPr txBox="1"/>
          <p:nvPr/>
        </p:nvSpPr>
        <p:spPr>
          <a:xfrm>
            <a:off x="203200" y="2123658"/>
            <a:ext cx="5892799" cy="3908762"/>
          </a:xfrm>
          <a:prstGeom prst="rect">
            <a:avLst/>
          </a:prstGeom>
          <a:noFill/>
        </p:spPr>
        <p:txBody>
          <a:bodyPr wrap="square" rtlCol="0">
            <a:spAutoFit/>
          </a:bodyPr>
          <a:lstStyle/>
          <a:p>
            <a:pPr algn="just">
              <a:tabLst>
                <a:tab pos="4025900" algn="l"/>
              </a:tabLst>
            </a:pPr>
            <a:r>
              <a:rPr lang="en-US" altLang="zh-CN" sz="2400" kern="100" dirty="0">
                <a:solidFill>
                  <a:schemeClr val="bg1"/>
                </a:solidFill>
                <a:effectLst/>
                <a:latin typeface="华文楷体" panose="02010600040101010101" pitchFamily="2" charset="-122"/>
                <a:ea typeface="华文楷体" panose="02010600040101010101" pitchFamily="2" charset="-122"/>
                <a:cs typeface="Times New Roman" panose="02020603050405020304" pitchFamily="18" charset="0"/>
              </a:rPr>
              <a:t>MBTI</a:t>
            </a:r>
            <a:r>
              <a:rPr lang="zh-CN" altLang="zh-CN" sz="2400" kern="100" dirty="0">
                <a:solidFill>
                  <a:schemeClr val="bg1"/>
                </a:solidFill>
                <a:effectLst/>
                <a:latin typeface="华文楷体" panose="02010600040101010101" pitchFamily="2" charset="-122"/>
                <a:ea typeface="华文楷体" panose="02010600040101010101" pitchFamily="2" charset="-122"/>
                <a:cs typeface="Times New Roman" panose="02020603050405020304" pitchFamily="18" charset="0"/>
              </a:rPr>
              <a:t>是一种</a:t>
            </a:r>
            <a:r>
              <a:rPr lang="zh-CN" altLang="zh-CN" sz="2400" kern="100" dirty="0">
                <a:solidFill>
                  <a:srgbClr val="FFFF00"/>
                </a:solidFill>
                <a:effectLst/>
                <a:latin typeface="华文楷体" panose="02010600040101010101" pitchFamily="2" charset="-122"/>
                <a:ea typeface="华文楷体" panose="02010600040101010101" pitchFamily="2" charset="-122"/>
                <a:cs typeface="Times New Roman" panose="02020603050405020304" pitchFamily="18" charset="0"/>
              </a:rPr>
              <a:t>性格分类工具</a:t>
            </a:r>
            <a:r>
              <a:rPr lang="zh-CN" altLang="zh-CN" sz="2400" kern="100" dirty="0">
                <a:solidFill>
                  <a:schemeClr val="bg1"/>
                </a:solidFill>
                <a:effectLst/>
                <a:latin typeface="华文楷体" panose="02010600040101010101" pitchFamily="2" charset="-122"/>
                <a:ea typeface="华文楷体" panose="02010600040101010101" pitchFamily="2" charset="-122"/>
                <a:cs typeface="Times New Roman" panose="02020603050405020304" pitchFamily="18" charset="0"/>
              </a:rPr>
              <a:t>，全称为迈尔斯</a:t>
            </a:r>
            <a:r>
              <a:rPr lang="en-US" altLang="zh-CN" sz="2400" kern="100" dirty="0">
                <a:solidFill>
                  <a:schemeClr val="bg1"/>
                </a:solidFill>
                <a:effectLst/>
                <a:latin typeface="华文楷体" panose="02010600040101010101" pitchFamily="2" charset="-122"/>
                <a:ea typeface="华文楷体" panose="02010600040101010101" pitchFamily="2" charset="-122"/>
                <a:cs typeface="Times New Roman" panose="02020603050405020304" pitchFamily="18" charset="0"/>
              </a:rPr>
              <a:t>-</a:t>
            </a:r>
            <a:r>
              <a:rPr lang="zh-CN" altLang="zh-CN" sz="2400" kern="100" dirty="0">
                <a:solidFill>
                  <a:schemeClr val="bg1"/>
                </a:solidFill>
                <a:effectLst/>
                <a:latin typeface="华文楷体" panose="02010600040101010101" pitchFamily="2" charset="-122"/>
                <a:ea typeface="华文楷体" panose="02010600040101010101" pitchFamily="2" charset="-122"/>
                <a:cs typeface="Times New Roman" panose="02020603050405020304" pitchFamily="18" charset="0"/>
              </a:rPr>
              <a:t>布里格斯性格类型指标。它基于瑞士心理学家卡尔·荣格的心理类型理论，并由美国心理学家伊莎贝尔·布里格斯·迈尔斯和她的母亲凯瑟琳·库克·布里格斯</a:t>
            </a:r>
          </a:p>
          <a:p>
            <a:pPr algn="just">
              <a:tabLst>
                <a:tab pos="4025900" algn="l"/>
              </a:tabLst>
            </a:pPr>
            <a:r>
              <a:rPr lang="zh-CN" altLang="zh-CN" sz="2400" kern="100" dirty="0">
                <a:solidFill>
                  <a:schemeClr val="bg1"/>
                </a:solidFill>
                <a:effectLst/>
                <a:latin typeface="华文楷体" panose="02010600040101010101" pitchFamily="2" charset="-122"/>
                <a:ea typeface="华文楷体" panose="02010600040101010101" pitchFamily="2" charset="-122"/>
                <a:cs typeface="Times New Roman" panose="02020603050405020304" pitchFamily="18" charset="0"/>
              </a:rPr>
              <a:t>进一步发展而成。</a:t>
            </a:r>
          </a:p>
          <a:p>
            <a:pPr algn="just">
              <a:tabLst>
                <a:tab pos="4025900" algn="l"/>
              </a:tabLst>
            </a:pPr>
            <a:r>
              <a:rPr lang="en-US" altLang="zh-CN" sz="2400" kern="100" dirty="0">
                <a:solidFill>
                  <a:schemeClr val="bg1"/>
                </a:solidFill>
                <a:effectLst/>
                <a:latin typeface="华文楷体" panose="02010600040101010101" pitchFamily="2" charset="-122"/>
                <a:ea typeface="华文楷体" panose="02010600040101010101" pitchFamily="2" charset="-122"/>
                <a:cs typeface="Times New Roman" panose="02020603050405020304" pitchFamily="18" charset="0"/>
              </a:rPr>
              <a:t>MBTI</a:t>
            </a:r>
            <a:r>
              <a:rPr lang="zh-CN" altLang="zh-CN" sz="2400" kern="100" dirty="0">
                <a:solidFill>
                  <a:schemeClr val="bg1"/>
                </a:solidFill>
                <a:effectLst/>
                <a:latin typeface="华文楷体" panose="02010600040101010101" pitchFamily="2" charset="-122"/>
                <a:ea typeface="华文楷体" panose="02010600040101010101" pitchFamily="2" charset="-122"/>
                <a:cs typeface="Times New Roman" panose="02020603050405020304" pitchFamily="18" charset="0"/>
              </a:rPr>
              <a:t>通过一系列问题来评估个体在四个维度上的偏好，每个维度有两个相反的极端，从而将人们的性格分为</a:t>
            </a:r>
            <a:r>
              <a:rPr lang="en-US" altLang="zh-CN" sz="2400" kern="100" dirty="0">
                <a:solidFill>
                  <a:schemeClr val="bg1"/>
                </a:solidFill>
                <a:effectLst/>
                <a:latin typeface="华文楷体" panose="02010600040101010101" pitchFamily="2" charset="-122"/>
                <a:ea typeface="华文楷体" panose="02010600040101010101" pitchFamily="2" charset="-122"/>
                <a:cs typeface="Times New Roman" panose="02020603050405020304" pitchFamily="18" charset="0"/>
              </a:rPr>
              <a:t>16</a:t>
            </a:r>
            <a:r>
              <a:rPr lang="zh-CN" altLang="zh-CN" sz="2400" kern="100" dirty="0">
                <a:solidFill>
                  <a:schemeClr val="bg1"/>
                </a:solidFill>
                <a:effectLst/>
                <a:latin typeface="华文楷体" panose="02010600040101010101" pitchFamily="2" charset="-122"/>
                <a:ea typeface="华文楷体" panose="02010600040101010101" pitchFamily="2" charset="-122"/>
                <a:cs typeface="Times New Roman" panose="02020603050405020304" pitchFamily="18" charset="0"/>
              </a:rPr>
              <a:t>种不同的类型。</a:t>
            </a:r>
          </a:p>
          <a:p>
            <a:endParaRPr lang="zh-CN" altLang="en-US" sz="3200" dirty="0">
              <a:solidFill>
                <a:schemeClr val="bg1"/>
              </a:solidFill>
              <a:latin typeface="华文楷体" panose="02010600040101010101" pitchFamily="2" charset="-122"/>
              <a:ea typeface="华文楷体" panose="02010600040101010101" pitchFamily="2" charset="-122"/>
            </a:endParaRPr>
          </a:p>
        </p:txBody>
      </p:sp>
      <p:sp useBgFill="1">
        <p:nvSpPr>
          <p:cNvPr id="11" name="任意多边形: 形状 10">
            <a:extLst>
              <a:ext uri="{FF2B5EF4-FFF2-40B4-BE49-F238E27FC236}">
                <a16:creationId xmlns:a16="http://schemas.microsoft.com/office/drawing/2014/main" id="{B687CF29-1AB3-7D5F-E81F-C35020142006}"/>
              </a:ext>
            </a:extLst>
          </p:cNvPr>
          <p:cNvSpPr>
            <a:spLocks noChangeAspect="1"/>
          </p:cNvSpPr>
          <p:nvPr/>
        </p:nvSpPr>
        <p:spPr>
          <a:xfrm rot="2613231">
            <a:off x="6225540" y="-1516526"/>
            <a:ext cx="9943239" cy="9941062"/>
          </a:xfrm>
          <a:custGeom>
            <a:avLst/>
            <a:gdLst>
              <a:gd name="connsiteX0" fmla="*/ 3914303 w 5232096"/>
              <a:gd name="connsiteY0" fmla="*/ 2797508 h 5230950"/>
              <a:gd name="connsiteX1" fmla="*/ 5232096 w 5232096"/>
              <a:gd name="connsiteY1" fmla="*/ 2797508 h 5230950"/>
              <a:gd name="connsiteX2" fmla="*/ 5228793 w 5232096"/>
              <a:gd name="connsiteY2" fmla="*/ 2867273 h 5230950"/>
              <a:gd name="connsiteX3" fmla="*/ 2884405 w 5232096"/>
              <a:gd name="connsiteY3" fmla="*/ 5226591 h 5230950"/>
              <a:gd name="connsiteX4" fmla="*/ 2798081 w 5232096"/>
              <a:gd name="connsiteY4" fmla="*/ 5230950 h 5230950"/>
              <a:gd name="connsiteX5" fmla="*/ 2798081 w 5232096"/>
              <a:gd name="connsiteY5" fmla="*/ 3913730 h 5230950"/>
              <a:gd name="connsiteX6" fmla="*/ 2880529 w 5232096"/>
              <a:gd name="connsiteY6" fmla="*/ 3901147 h 5230950"/>
              <a:gd name="connsiteX7" fmla="*/ 3901720 w 5232096"/>
              <a:gd name="connsiteY7" fmla="*/ 2879956 h 5230950"/>
              <a:gd name="connsiteX8" fmla="*/ 0 w 5232096"/>
              <a:gd name="connsiteY8" fmla="*/ 2797508 h 5230950"/>
              <a:gd name="connsiteX9" fmla="*/ 1317793 w 5232096"/>
              <a:gd name="connsiteY9" fmla="*/ 2797508 h 5230950"/>
              <a:gd name="connsiteX10" fmla="*/ 1330376 w 5232096"/>
              <a:gd name="connsiteY10" fmla="*/ 2879956 h 5230950"/>
              <a:gd name="connsiteX11" fmla="*/ 2351567 w 5232096"/>
              <a:gd name="connsiteY11" fmla="*/ 3901147 h 5230950"/>
              <a:gd name="connsiteX12" fmla="*/ 2434015 w 5232096"/>
              <a:gd name="connsiteY12" fmla="*/ 3913730 h 5230950"/>
              <a:gd name="connsiteX13" fmla="*/ 2434015 w 5232096"/>
              <a:gd name="connsiteY13" fmla="*/ 5230950 h 5230950"/>
              <a:gd name="connsiteX14" fmla="*/ 2347691 w 5232096"/>
              <a:gd name="connsiteY14" fmla="*/ 5226591 h 5230950"/>
              <a:gd name="connsiteX15" fmla="*/ 3303 w 5232096"/>
              <a:gd name="connsiteY15" fmla="*/ 2867273 h 5230950"/>
              <a:gd name="connsiteX16" fmla="*/ 2798081 w 5232096"/>
              <a:gd name="connsiteY16" fmla="*/ 0 h 5230950"/>
              <a:gd name="connsiteX17" fmla="*/ 2884405 w 5232096"/>
              <a:gd name="connsiteY17" fmla="*/ 4359 h 5230950"/>
              <a:gd name="connsiteX18" fmla="*/ 5228793 w 5232096"/>
              <a:gd name="connsiteY18" fmla="*/ 2363677 h 5230950"/>
              <a:gd name="connsiteX19" fmla="*/ 5232096 w 5232096"/>
              <a:gd name="connsiteY19" fmla="*/ 2433442 h 5230950"/>
              <a:gd name="connsiteX20" fmla="*/ 3914303 w 5232096"/>
              <a:gd name="connsiteY20" fmla="*/ 2433442 h 5230950"/>
              <a:gd name="connsiteX21" fmla="*/ 3901720 w 5232096"/>
              <a:gd name="connsiteY21" fmla="*/ 2350994 h 5230950"/>
              <a:gd name="connsiteX22" fmla="*/ 2880529 w 5232096"/>
              <a:gd name="connsiteY22" fmla="*/ 1329803 h 5230950"/>
              <a:gd name="connsiteX23" fmla="*/ 2798081 w 5232096"/>
              <a:gd name="connsiteY23" fmla="*/ 1317220 h 5230950"/>
              <a:gd name="connsiteX24" fmla="*/ 2434015 w 5232096"/>
              <a:gd name="connsiteY24" fmla="*/ 0 h 5230950"/>
              <a:gd name="connsiteX25" fmla="*/ 2434015 w 5232096"/>
              <a:gd name="connsiteY25" fmla="*/ 1317220 h 5230950"/>
              <a:gd name="connsiteX26" fmla="*/ 2351567 w 5232096"/>
              <a:gd name="connsiteY26" fmla="*/ 1329803 h 5230950"/>
              <a:gd name="connsiteX27" fmla="*/ 1330376 w 5232096"/>
              <a:gd name="connsiteY27" fmla="*/ 2350994 h 5230950"/>
              <a:gd name="connsiteX28" fmla="*/ 1317793 w 5232096"/>
              <a:gd name="connsiteY28" fmla="*/ 2433442 h 5230950"/>
              <a:gd name="connsiteX29" fmla="*/ 0 w 5232096"/>
              <a:gd name="connsiteY29" fmla="*/ 2433442 h 5230950"/>
              <a:gd name="connsiteX30" fmla="*/ 3303 w 5232096"/>
              <a:gd name="connsiteY30" fmla="*/ 2363677 h 5230950"/>
              <a:gd name="connsiteX31" fmla="*/ 2347691 w 5232096"/>
              <a:gd name="connsiteY31" fmla="*/ 4359 h 5230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232096" h="5230950">
                <a:moveTo>
                  <a:pt x="3914303" y="2797508"/>
                </a:moveTo>
                <a:lnTo>
                  <a:pt x="5232096" y="2797508"/>
                </a:lnTo>
                <a:lnTo>
                  <a:pt x="5228793" y="2867273"/>
                </a:lnTo>
                <a:cubicBezTo>
                  <a:pt x="5110479" y="4110318"/>
                  <a:pt x="4125191" y="5100583"/>
                  <a:pt x="2884405" y="5226591"/>
                </a:cubicBezTo>
                <a:lnTo>
                  <a:pt x="2798081" y="5230950"/>
                </a:lnTo>
                <a:lnTo>
                  <a:pt x="2798081" y="3913730"/>
                </a:lnTo>
                <a:lnTo>
                  <a:pt x="2880529" y="3901147"/>
                </a:lnTo>
                <a:cubicBezTo>
                  <a:pt x="3393108" y="3796258"/>
                  <a:pt x="3796831" y="3392535"/>
                  <a:pt x="3901720" y="2879956"/>
                </a:cubicBezTo>
                <a:close/>
                <a:moveTo>
                  <a:pt x="0" y="2797508"/>
                </a:moveTo>
                <a:lnTo>
                  <a:pt x="1317793" y="2797508"/>
                </a:lnTo>
                <a:lnTo>
                  <a:pt x="1330376" y="2879956"/>
                </a:lnTo>
                <a:cubicBezTo>
                  <a:pt x="1435265" y="3392535"/>
                  <a:pt x="1838988" y="3796258"/>
                  <a:pt x="2351567" y="3901147"/>
                </a:cubicBezTo>
                <a:lnTo>
                  <a:pt x="2434015" y="3913730"/>
                </a:lnTo>
                <a:lnTo>
                  <a:pt x="2434015" y="5230950"/>
                </a:lnTo>
                <a:lnTo>
                  <a:pt x="2347691" y="5226591"/>
                </a:lnTo>
                <a:cubicBezTo>
                  <a:pt x="1106905" y="5100583"/>
                  <a:pt x="121617" y="4110318"/>
                  <a:pt x="3303" y="2867273"/>
                </a:cubicBezTo>
                <a:close/>
                <a:moveTo>
                  <a:pt x="2798081" y="0"/>
                </a:moveTo>
                <a:lnTo>
                  <a:pt x="2884405" y="4359"/>
                </a:lnTo>
                <a:cubicBezTo>
                  <a:pt x="4125191" y="130368"/>
                  <a:pt x="5110479" y="1120633"/>
                  <a:pt x="5228793" y="2363677"/>
                </a:cubicBezTo>
                <a:lnTo>
                  <a:pt x="5232096" y="2433442"/>
                </a:lnTo>
                <a:lnTo>
                  <a:pt x="3914303" y="2433442"/>
                </a:lnTo>
                <a:lnTo>
                  <a:pt x="3901720" y="2350994"/>
                </a:lnTo>
                <a:cubicBezTo>
                  <a:pt x="3796831" y="1838415"/>
                  <a:pt x="3393108" y="1434692"/>
                  <a:pt x="2880529" y="1329803"/>
                </a:cubicBezTo>
                <a:lnTo>
                  <a:pt x="2798081" y="1317220"/>
                </a:lnTo>
                <a:close/>
                <a:moveTo>
                  <a:pt x="2434015" y="0"/>
                </a:moveTo>
                <a:lnTo>
                  <a:pt x="2434015" y="1317220"/>
                </a:lnTo>
                <a:lnTo>
                  <a:pt x="2351567" y="1329803"/>
                </a:lnTo>
                <a:cubicBezTo>
                  <a:pt x="1838988" y="1434692"/>
                  <a:pt x="1435265" y="1838415"/>
                  <a:pt x="1330376" y="2350994"/>
                </a:cubicBezTo>
                <a:lnTo>
                  <a:pt x="1317793" y="2433442"/>
                </a:lnTo>
                <a:lnTo>
                  <a:pt x="0" y="2433442"/>
                </a:lnTo>
                <a:lnTo>
                  <a:pt x="3303" y="2363677"/>
                </a:lnTo>
                <a:cubicBezTo>
                  <a:pt x="121617" y="1120633"/>
                  <a:pt x="1106905" y="130368"/>
                  <a:pt x="2347691" y="4359"/>
                </a:cubicBezTo>
                <a:close/>
              </a:path>
            </a:pathLst>
          </a:custGeom>
          <a:ln>
            <a:noFill/>
          </a:ln>
          <a:effectLst>
            <a:outerShdw blurRad="508000" sx="102000" sy="102000" algn="ctr" rotWithShape="0">
              <a:prstClr val="black">
                <a:alpha val="7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326955358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3000" b="-13000"/>
          </a:stretch>
        </a:blipFill>
        <a:effectLst/>
      </p:bgPr>
    </p:bg>
    <p:spTree>
      <p:nvGrpSpPr>
        <p:cNvPr id="1" name="">
          <a:extLst>
            <a:ext uri="{FF2B5EF4-FFF2-40B4-BE49-F238E27FC236}">
              <a16:creationId xmlns:a16="http://schemas.microsoft.com/office/drawing/2014/main" id="{6AE83047-CD05-CAD1-C69E-799117813F4A}"/>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7566F838-2D4D-F6DA-2024-32238042CBD2}"/>
              </a:ext>
            </a:extLst>
          </p:cNvPr>
          <p:cNvSpPr/>
          <p:nvPr/>
        </p:nvSpPr>
        <p:spPr>
          <a:xfrm>
            <a:off x="0" y="0"/>
            <a:ext cx="12192000" cy="6858000"/>
          </a:xfrm>
          <a:prstGeom prst="rect">
            <a:avLst/>
          </a:prstGeom>
          <a:gradFill>
            <a:gsLst>
              <a:gs pos="0">
                <a:schemeClr val="tx1"/>
              </a:gs>
              <a:gs pos="95402">
                <a:schemeClr val="bg1">
                  <a:alpha val="71000"/>
                </a:schemeClr>
              </a:gs>
              <a:gs pos="66000">
                <a:schemeClr val="bg2">
                  <a:alpha val="60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E8698FCA-4C5D-2F15-D779-CABB8F997FF1}"/>
              </a:ext>
            </a:extLst>
          </p:cNvPr>
          <p:cNvSpPr txBox="1"/>
          <p:nvPr/>
        </p:nvSpPr>
        <p:spPr>
          <a:xfrm>
            <a:off x="0" y="0"/>
            <a:ext cx="2890535" cy="1877437"/>
          </a:xfrm>
          <a:prstGeom prst="rect">
            <a:avLst/>
          </a:prstGeom>
          <a:noFill/>
        </p:spPr>
        <p:txBody>
          <a:bodyPr wrap="none" rtlCol="0">
            <a:spAutoFit/>
          </a:bodyPr>
          <a:lstStyle/>
          <a:p>
            <a:r>
              <a:rPr lang="en-US" altLang="zh-CN" sz="6600" dirty="0">
                <a:solidFill>
                  <a:schemeClr val="bg1"/>
                </a:solidFill>
                <a:latin typeface="Segoe UI Black" panose="020B0A02040204020203" pitchFamily="34" charset="0"/>
                <a:ea typeface="Segoe UI Black" panose="020B0A02040204020203" pitchFamily="34" charset="0"/>
              </a:rPr>
              <a:t>MBTI</a:t>
            </a:r>
            <a:r>
              <a:rPr lang="en-US" altLang="zh-CN" sz="7200" dirty="0">
                <a:solidFill>
                  <a:schemeClr val="bg1"/>
                </a:solidFill>
                <a:latin typeface="华文琥珀" panose="02010800040101010101" pitchFamily="2" charset="-122"/>
                <a:ea typeface="华文琥珀" panose="02010800040101010101" pitchFamily="2" charset="-122"/>
              </a:rPr>
              <a:t>  </a:t>
            </a:r>
          </a:p>
          <a:p>
            <a:r>
              <a:rPr lang="zh-CN" altLang="en-US" sz="4400" dirty="0">
                <a:solidFill>
                  <a:schemeClr val="bg1"/>
                </a:solidFill>
                <a:latin typeface="程荣光刻楷" panose="03000503000000000000" pitchFamily="66" charset="-122"/>
                <a:ea typeface="程荣光刻楷" panose="03000503000000000000" pitchFamily="66" charset="-122"/>
              </a:rPr>
              <a:t>的“四维”</a:t>
            </a:r>
          </a:p>
        </p:txBody>
      </p:sp>
      <p:sp>
        <p:nvSpPr>
          <p:cNvPr id="31" name="文本框 30">
            <a:extLst>
              <a:ext uri="{FF2B5EF4-FFF2-40B4-BE49-F238E27FC236}">
                <a16:creationId xmlns:a16="http://schemas.microsoft.com/office/drawing/2014/main" id="{F8AFC4A9-0CAD-A810-3258-51131316B37D}"/>
              </a:ext>
            </a:extLst>
          </p:cNvPr>
          <p:cNvSpPr txBox="1"/>
          <p:nvPr/>
        </p:nvSpPr>
        <p:spPr>
          <a:xfrm>
            <a:off x="203201" y="2123658"/>
            <a:ext cx="5331325" cy="5509200"/>
          </a:xfrm>
          <a:prstGeom prst="rect">
            <a:avLst/>
          </a:prstGeom>
          <a:noFill/>
        </p:spPr>
        <p:txBody>
          <a:bodyPr wrap="square" rtlCol="0">
            <a:spAutoFit/>
          </a:bodyPr>
          <a:lstStyle/>
          <a:p>
            <a:pPr marL="342900" lvl="0" indent="-342900" algn="just">
              <a:buFont typeface="+mj-lt"/>
              <a:buAutoNum type="arabicPeriod"/>
              <a:tabLst>
                <a:tab pos="457200" algn="l"/>
              </a:tabLst>
            </a:pPr>
            <a:r>
              <a:rPr lang="zh-CN" altLang="zh-CN" sz="2200" b="1" i="1" kern="100" dirty="0">
                <a:solidFill>
                  <a:srgbClr val="FFFF00"/>
                </a:solidFill>
                <a:effectLst/>
                <a:latin typeface="宋体" panose="02010600030101010101" pitchFamily="2" charset="-122"/>
                <a:ea typeface="宋体" panose="02010600030101010101" pitchFamily="2" charset="-122"/>
                <a:cs typeface="Times New Roman" panose="02020603050405020304" pitchFamily="18" charset="0"/>
              </a:rPr>
              <a:t>外向</a:t>
            </a:r>
            <a:r>
              <a:rPr lang="en-US" altLang="zh-CN" sz="2200" b="1" i="1" kern="100" dirty="0">
                <a:solidFill>
                  <a:srgbClr val="FFFF00"/>
                </a:solidFill>
                <a:effectLst/>
                <a:latin typeface="宋体" panose="02010600030101010101" pitchFamily="2" charset="-122"/>
                <a:ea typeface="宋体" panose="02010600030101010101" pitchFamily="2" charset="-122"/>
                <a:cs typeface="Times New Roman" panose="02020603050405020304" pitchFamily="18" charset="0"/>
              </a:rPr>
              <a:t>(E)</a:t>
            </a:r>
            <a:r>
              <a:rPr lang="zh-CN" altLang="zh-CN" sz="2200" b="1" i="1" kern="100" dirty="0">
                <a:solidFill>
                  <a:srgbClr val="FFFF00"/>
                </a:solidFill>
                <a:effectLst/>
                <a:latin typeface="宋体" panose="02010600030101010101" pitchFamily="2" charset="-122"/>
                <a:ea typeface="宋体" panose="02010600030101010101" pitchFamily="2" charset="-122"/>
                <a:cs typeface="Times New Roman" panose="02020603050405020304" pitchFamily="18" charset="0"/>
              </a:rPr>
              <a:t>与内向</a:t>
            </a:r>
            <a:r>
              <a:rPr lang="en-US" altLang="zh-CN" sz="2200" b="1" i="1" kern="100" dirty="0">
                <a:solidFill>
                  <a:srgbClr val="FFFF00"/>
                </a:solidFill>
                <a:effectLst/>
                <a:latin typeface="宋体" panose="02010600030101010101" pitchFamily="2" charset="-122"/>
                <a:ea typeface="宋体" panose="02010600030101010101" pitchFamily="2" charset="-122"/>
                <a:cs typeface="Times New Roman" panose="02020603050405020304" pitchFamily="18" charset="0"/>
              </a:rPr>
              <a:t>(I)</a:t>
            </a:r>
            <a:r>
              <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：描述个体倾向于从外部世界还是内部世界获取能量。</a:t>
            </a:r>
          </a:p>
          <a:p>
            <a:pPr marL="742950" lvl="1" indent="-285750" algn="just">
              <a:buSzPts val="1000"/>
              <a:buFont typeface="Courier New" panose="02070309020205020404" pitchFamily="49" charset="0"/>
              <a:buChar char="o"/>
              <a:tabLst>
                <a:tab pos="914400" algn="l"/>
              </a:tabLst>
            </a:pPr>
            <a:r>
              <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外向型（</a:t>
            </a:r>
            <a:r>
              <a:rPr lang="en-US"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E</a:t>
            </a:r>
            <a:r>
              <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）：倾向于从社交和外部活动中获得能量。</a:t>
            </a:r>
          </a:p>
          <a:p>
            <a:pPr marL="742950" lvl="1" indent="-285750" algn="just">
              <a:buSzPts val="1000"/>
              <a:buFont typeface="Courier New" panose="02070309020205020404" pitchFamily="49" charset="0"/>
              <a:buChar char="o"/>
              <a:tabLst>
                <a:tab pos="914400" algn="l"/>
              </a:tabLst>
            </a:pPr>
            <a:r>
              <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内向型（</a:t>
            </a:r>
            <a:r>
              <a:rPr lang="en-US"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I</a:t>
            </a:r>
            <a:r>
              <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）：倾向于从独处和内省中获得能量。</a:t>
            </a:r>
            <a:endParaRPr lang="en-US"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endParaRPr>
          </a:p>
          <a:p>
            <a:pPr lvl="1" algn="just">
              <a:buSzPts val="1000"/>
              <a:tabLst>
                <a:tab pos="914400" algn="l"/>
              </a:tabLst>
            </a:pPr>
            <a:endPar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endParaRPr>
          </a:p>
          <a:p>
            <a:pPr marL="342900" lvl="0" indent="-342900" algn="just">
              <a:buFont typeface="+mj-lt"/>
              <a:buAutoNum type="arabicPeriod"/>
              <a:tabLst>
                <a:tab pos="457200" algn="l"/>
              </a:tabLst>
            </a:pPr>
            <a:r>
              <a:rPr lang="zh-CN" altLang="zh-CN" sz="2200" b="1" i="1" kern="100" dirty="0">
                <a:solidFill>
                  <a:srgbClr val="FFFF00"/>
                </a:solidFill>
                <a:effectLst/>
                <a:latin typeface="宋体" panose="02010600030101010101" pitchFamily="2" charset="-122"/>
                <a:ea typeface="宋体" panose="02010600030101010101" pitchFamily="2" charset="-122"/>
                <a:cs typeface="Times New Roman" panose="02020603050405020304" pitchFamily="18" charset="0"/>
              </a:rPr>
              <a:t>感觉</a:t>
            </a:r>
            <a:r>
              <a:rPr lang="en-US" altLang="zh-CN" sz="2200" b="1" i="1" kern="100" dirty="0">
                <a:solidFill>
                  <a:srgbClr val="FFFF00"/>
                </a:solidFill>
                <a:effectLst/>
                <a:latin typeface="宋体" panose="02010600030101010101" pitchFamily="2" charset="-122"/>
                <a:ea typeface="宋体" panose="02010600030101010101" pitchFamily="2" charset="-122"/>
                <a:cs typeface="Times New Roman" panose="02020603050405020304" pitchFamily="18" charset="0"/>
              </a:rPr>
              <a:t>(S)</a:t>
            </a:r>
            <a:r>
              <a:rPr lang="zh-CN" altLang="zh-CN" sz="2200" b="1" i="1" kern="100" dirty="0">
                <a:solidFill>
                  <a:srgbClr val="FFFF00"/>
                </a:solidFill>
                <a:effectLst/>
                <a:latin typeface="宋体" panose="02010600030101010101" pitchFamily="2" charset="-122"/>
                <a:ea typeface="宋体" panose="02010600030101010101" pitchFamily="2" charset="-122"/>
                <a:cs typeface="Times New Roman" panose="02020603050405020304" pitchFamily="18" charset="0"/>
              </a:rPr>
              <a:t>与直觉</a:t>
            </a:r>
            <a:r>
              <a:rPr lang="en-US" altLang="zh-CN" sz="2200" b="1" i="1" kern="100" dirty="0">
                <a:solidFill>
                  <a:srgbClr val="FFFF00"/>
                </a:solidFill>
                <a:effectLst/>
                <a:latin typeface="宋体" panose="02010600030101010101" pitchFamily="2" charset="-122"/>
                <a:ea typeface="宋体" panose="02010600030101010101" pitchFamily="2" charset="-122"/>
                <a:cs typeface="Times New Roman" panose="02020603050405020304" pitchFamily="18" charset="0"/>
              </a:rPr>
              <a:t>(N)</a:t>
            </a:r>
            <a:r>
              <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：描述个体倾向于如何收集信息。</a:t>
            </a:r>
          </a:p>
          <a:p>
            <a:pPr marL="742950" lvl="1" indent="-285750" algn="just">
              <a:buSzPts val="1000"/>
              <a:buFont typeface="Courier New" panose="02070309020205020404" pitchFamily="49" charset="0"/>
              <a:buChar char="o"/>
              <a:tabLst>
                <a:tab pos="914400" algn="l"/>
              </a:tabLst>
            </a:pPr>
            <a:r>
              <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感觉型（</a:t>
            </a:r>
            <a:r>
              <a:rPr lang="en-US"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S</a:t>
            </a:r>
            <a:r>
              <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）：倾向于关注现实和具体的信息。</a:t>
            </a:r>
          </a:p>
          <a:p>
            <a:pPr marL="742950" lvl="1" indent="-285750" algn="just">
              <a:buSzPts val="1000"/>
              <a:buFont typeface="Courier New" panose="02070309020205020404" pitchFamily="49" charset="0"/>
              <a:buChar char="o"/>
              <a:tabLst>
                <a:tab pos="914400" algn="l"/>
              </a:tabLst>
            </a:pPr>
            <a:r>
              <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直觉型（</a:t>
            </a:r>
            <a:r>
              <a:rPr lang="en-US"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N</a:t>
            </a:r>
            <a:r>
              <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）：倾向于关注可能性和抽象的概念。</a:t>
            </a:r>
            <a:endParaRPr lang="en-US"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endParaRPr>
          </a:p>
          <a:p>
            <a:pPr lvl="1" algn="just">
              <a:buSzPts val="1000"/>
              <a:tabLst>
                <a:tab pos="914400" algn="l"/>
              </a:tabLst>
            </a:pPr>
            <a:endPar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endParaRPr>
          </a:p>
          <a:p>
            <a:pPr algn="just"/>
            <a:r>
              <a:rPr lang="en-US"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 </a:t>
            </a:r>
            <a:endPar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endParaRPr>
          </a:p>
          <a:p>
            <a:endParaRPr lang="zh-CN" altLang="en-US" sz="2200" dirty="0">
              <a:solidFill>
                <a:schemeClr val="bg1"/>
              </a:solidFill>
              <a:latin typeface="宋体" panose="02010600030101010101" pitchFamily="2" charset="-122"/>
              <a:ea typeface="宋体" panose="02010600030101010101" pitchFamily="2" charset="-122"/>
            </a:endParaRPr>
          </a:p>
        </p:txBody>
      </p:sp>
      <p:sp useBgFill="1">
        <p:nvSpPr>
          <p:cNvPr id="11" name="任意多边形: 形状 10">
            <a:extLst>
              <a:ext uri="{FF2B5EF4-FFF2-40B4-BE49-F238E27FC236}">
                <a16:creationId xmlns:a16="http://schemas.microsoft.com/office/drawing/2014/main" id="{8F323AA7-EBA7-6BBF-FED2-0D56E0D7CE5D}"/>
              </a:ext>
            </a:extLst>
          </p:cNvPr>
          <p:cNvSpPr>
            <a:spLocks noChangeAspect="1"/>
          </p:cNvSpPr>
          <p:nvPr/>
        </p:nvSpPr>
        <p:spPr>
          <a:xfrm rot="8087190">
            <a:off x="6225540" y="-1516526"/>
            <a:ext cx="9943239" cy="9941062"/>
          </a:xfrm>
          <a:custGeom>
            <a:avLst/>
            <a:gdLst>
              <a:gd name="connsiteX0" fmla="*/ 3914303 w 5232096"/>
              <a:gd name="connsiteY0" fmla="*/ 2797508 h 5230950"/>
              <a:gd name="connsiteX1" fmla="*/ 5232096 w 5232096"/>
              <a:gd name="connsiteY1" fmla="*/ 2797508 h 5230950"/>
              <a:gd name="connsiteX2" fmla="*/ 5228793 w 5232096"/>
              <a:gd name="connsiteY2" fmla="*/ 2867273 h 5230950"/>
              <a:gd name="connsiteX3" fmla="*/ 2884405 w 5232096"/>
              <a:gd name="connsiteY3" fmla="*/ 5226591 h 5230950"/>
              <a:gd name="connsiteX4" fmla="*/ 2798081 w 5232096"/>
              <a:gd name="connsiteY4" fmla="*/ 5230950 h 5230950"/>
              <a:gd name="connsiteX5" fmla="*/ 2798081 w 5232096"/>
              <a:gd name="connsiteY5" fmla="*/ 3913730 h 5230950"/>
              <a:gd name="connsiteX6" fmla="*/ 2880529 w 5232096"/>
              <a:gd name="connsiteY6" fmla="*/ 3901147 h 5230950"/>
              <a:gd name="connsiteX7" fmla="*/ 3901720 w 5232096"/>
              <a:gd name="connsiteY7" fmla="*/ 2879956 h 5230950"/>
              <a:gd name="connsiteX8" fmla="*/ 0 w 5232096"/>
              <a:gd name="connsiteY8" fmla="*/ 2797508 h 5230950"/>
              <a:gd name="connsiteX9" fmla="*/ 1317793 w 5232096"/>
              <a:gd name="connsiteY9" fmla="*/ 2797508 h 5230950"/>
              <a:gd name="connsiteX10" fmla="*/ 1330376 w 5232096"/>
              <a:gd name="connsiteY10" fmla="*/ 2879956 h 5230950"/>
              <a:gd name="connsiteX11" fmla="*/ 2351567 w 5232096"/>
              <a:gd name="connsiteY11" fmla="*/ 3901147 h 5230950"/>
              <a:gd name="connsiteX12" fmla="*/ 2434015 w 5232096"/>
              <a:gd name="connsiteY12" fmla="*/ 3913730 h 5230950"/>
              <a:gd name="connsiteX13" fmla="*/ 2434015 w 5232096"/>
              <a:gd name="connsiteY13" fmla="*/ 5230950 h 5230950"/>
              <a:gd name="connsiteX14" fmla="*/ 2347691 w 5232096"/>
              <a:gd name="connsiteY14" fmla="*/ 5226591 h 5230950"/>
              <a:gd name="connsiteX15" fmla="*/ 3303 w 5232096"/>
              <a:gd name="connsiteY15" fmla="*/ 2867273 h 5230950"/>
              <a:gd name="connsiteX16" fmla="*/ 2798081 w 5232096"/>
              <a:gd name="connsiteY16" fmla="*/ 0 h 5230950"/>
              <a:gd name="connsiteX17" fmla="*/ 2884405 w 5232096"/>
              <a:gd name="connsiteY17" fmla="*/ 4359 h 5230950"/>
              <a:gd name="connsiteX18" fmla="*/ 5228793 w 5232096"/>
              <a:gd name="connsiteY18" fmla="*/ 2363677 h 5230950"/>
              <a:gd name="connsiteX19" fmla="*/ 5232096 w 5232096"/>
              <a:gd name="connsiteY19" fmla="*/ 2433442 h 5230950"/>
              <a:gd name="connsiteX20" fmla="*/ 3914303 w 5232096"/>
              <a:gd name="connsiteY20" fmla="*/ 2433442 h 5230950"/>
              <a:gd name="connsiteX21" fmla="*/ 3901720 w 5232096"/>
              <a:gd name="connsiteY21" fmla="*/ 2350994 h 5230950"/>
              <a:gd name="connsiteX22" fmla="*/ 2880529 w 5232096"/>
              <a:gd name="connsiteY22" fmla="*/ 1329803 h 5230950"/>
              <a:gd name="connsiteX23" fmla="*/ 2798081 w 5232096"/>
              <a:gd name="connsiteY23" fmla="*/ 1317220 h 5230950"/>
              <a:gd name="connsiteX24" fmla="*/ 2434015 w 5232096"/>
              <a:gd name="connsiteY24" fmla="*/ 0 h 5230950"/>
              <a:gd name="connsiteX25" fmla="*/ 2434015 w 5232096"/>
              <a:gd name="connsiteY25" fmla="*/ 1317220 h 5230950"/>
              <a:gd name="connsiteX26" fmla="*/ 2351567 w 5232096"/>
              <a:gd name="connsiteY26" fmla="*/ 1329803 h 5230950"/>
              <a:gd name="connsiteX27" fmla="*/ 1330376 w 5232096"/>
              <a:gd name="connsiteY27" fmla="*/ 2350994 h 5230950"/>
              <a:gd name="connsiteX28" fmla="*/ 1317793 w 5232096"/>
              <a:gd name="connsiteY28" fmla="*/ 2433442 h 5230950"/>
              <a:gd name="connsiteX29" fmla="*/ 0 w 5232096"/>
              <a:gd name="connsiteY29" fmla="*/ 2433442 h 5230950"/>
              <a:gd name="connsiteX30" fmla="*/ 3303 w 5232096"/>
              <a:gd name="connsiteY30" fmla="*/ 2363677 h 5230950"/>
              <a:gd name="connsiteX31" fmla="*/ 2347691 w 5232096"/>
              <a:gd name="connsiteY31" fmla="*/ 4359 h 5230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232096" h="5230950">
                <a:moveTo>
                  <a:pt x="3914303" y="2797508"/>
                </a:moveTo>
                <a:lnTo>
                  <a:pt x="5232096" y="2797508"/>
                </a:lnTo>
                <a:lnTo>
                  <a:pt x="5228793" y="2867273"/>
                </a:lnTo>
                <a:cubicBezTo>
                  <a:pt x="5110479" y="4110318"/>
                  <a:pt x="4125191" y="5100583"/>
                  <a:pt x="2884405" y="5226591"/>
                </a:cubicBezTo>
                <a:lnTo>
                  <a:pt x="2798081" y="5230950"/>
                </a:lnTo>
                <a:lnTo>
                  <a:pt x="2798081" y="3913730"/>
                </a:lnTo>
                <a:lnTo>
                  <a:pt x="2880529" y="3901147"/>
                </a:lnTo>
                <a:cubicBezTo>
                  <a:pt x="3393108" y="3796258"/>
                  <a:pt x="3796831" y="3392535"/>
                  <a:pt x="3901720" y="2879956"/>
                </a:cubicBezTo>
                <a:close/>
                <a:moveTo>
                  <a:pt x="0" y="2797508"/>
                </a:moveTo>
                <a:lnTo>
                  <a:pt x="1317793" y="2797508"/>
                </a:lnTo>
                <a:lnTo>
                  <a:pt x="1330376" y="2879956"/>
                </a:lnTo>
                <a:cubicBezTo>
                  <a:pt x="1435265" y="3392535"/>
                  <a:pt x="1838988" y="3796258"/>
                  <a:pt x="2351567" y="3901147"/>
                </a:cubicBezTo>
                <a:lnTo>
                  <a:pt x="2434015" y="3913730"/>
                </a:lnTo>
                <a:lnTo>
                  <a:pt x="2434015" y="5230950"/>
                </a:lnTo>
                <a:lnTo>
                  <a:pt x="2347691" y="5226591"/>
                </a:lnTo>
                <a:cubicBezTo>
                  <a:pt x="1106905" y="5100583"/>
                  <a:pt x="121617" y="4110318"/>
                  <a:pt x="3303" y="2867273"/>
                </a:cubicBezTo>
                <a:close/>
                <a:moveTo>
                  <a:pt x="2798081" y="0"/>
                </a:moveTo>
                <a:lnTo>
                  <a:pt x="2884405" y="4359"/>
                </a:lnTo>
                <a:cubicBezTo>
                  <a:pt x="4125191" y="130368"/>
                  <a:pt x="5110479" y="1120633"/>
                  <a:pt x="5228793" y="2363677"/>
                </a:cubicBezTo>
                <a:lnTo>
                  <a:pt x="5232096" y="2433442"/>
                </a:lnTo>
                <a:lnTo>
                  <a:pt x="3914303" y="2433442"/>
                </a:lnTo>
                <a:lnTo>
                  <a:pt x="3901720" y="2350994"/>
                </a:lnTo>
                <a:cubicBezTo>
                  <a:pt x="3796831" y="1838415"/>
                  <a:pt x="3393108" y="1434692"/>
                  <a:pt x="2880529" y="1329803"/>
                </a:cubicBezTo>
                <a:lnTo>
                  <a:pt x="2798081" y="1317220"/>
                </a:lnTo>
                <a:close/>
                <a:moveTo>
                  <a:pt x="2434015" y="0"/>
                </a:moveTo>
                <a:lnTo>
                  <a:pt x="2434015" y="1317220"/>
                </a:lnTo>
                <a:lnTo>
                  <a:pt x="2351567" y="1329803"/>
                </a:lnTo>
                <a:cubicBezTo>
                  <a:pt x="1838988" y="1434692"/>
                  <a:pt x="1435265" y="1838415"/>
                  <a:pt x="1330376" y="2350994"/>
                </a:cubicBezTo>
                <a:lnTo>
                  <a:pt x="1317793" y="2433442"/>
                </a:lnTo>
                <a:lnTo>
                  <a:pt x="0" y="2433442"/>
                </a:lnTo>
                <a:lnTo>
                  <a:pt x="3303" y="2363677"/>
                </a:lnTo>
                <a:cubicBezTo>
                  <a:pt x="121617" y="1120633"/>
                  <a:pt x="1106905" y="130368"/>
                  <a:pt x="2347691" y="4359"/>
                </a:cubicBezTo>
                <a:close/>
              </a:path>
            </a:pathLst>
          </a:custGeom>
          <a:ln>
            <a:noFill/>
          </a:ln>
          <a:effectLst>
            <a:outerShdw blurRad="508000" sx="102000" sy="102000" algn="ctr" rotWithShape="0">
              <a:prstClr val="black">
                <a:alpha val="7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18306298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additive="base">
                                        <p:cTn id="7" dur="500" fill="hold"/>
                                        <p:tgtEl>
                                          <p:spTgt spid="31"/>
                                        </p:tgtEl>
                                        <p:attrNameLst>
                                          <p:attrName>ppt_x</p:attrName>
                                        </p:attrNameLst>
                                      </p:cBhvr>
                                      <p:tavLst>
                                        <p:tav tm="0">
                                          <p:val>
                                            <p:strVal val="#ppt_x"/>
                                          </p:val>
                                        </p:tav>
                                        <p:tav tm="100000">
                                          <p:val>
                                            <p:strVal val="#ppt_x"/>
                                          </p:val>
                                        </p:tav>
                                      </p:tavLst>
                                    </p:anim>
                                    <p:anim calcmode="lin" valueType="num">
                                      <p:cBhvr additive="base">
                                        <p:cTn id="8" dur="500" fill="hold"/>
                                        <p:tgtEl>
                                          <p:spTgt spid="3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9000" b="-9000"/>
          </a:stretch>
        </a:blipFill>
        <a:effectLst/>
      </p:bgPr>
    </p:bg>
    <p:spTree>
      <p:nvGrpSpPr>
        <p:cNvPr id="1" name="">
          <a:extLst>
            <a:ext uri="{FF2B5EF4-FFF2-40B4-BE49-F238E27FC236}">
              <a16:creationId xmlns:a16="http://schemas.microsoft.com/office/drawing/2014/main" id="{954B74D6-57D9-AD5F-390D-84284E5294D7}"/>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15927CED-3341-D053-3A85-01DA84A28FFA}"/>
              </a:ext>
            </a:extLst>
          </p:cNvPr>
          <p:cNvSpPr/>
          <p:nvPr/>
        </p:nvSpPr>
        <p:spPr>
          <a:xfrm>
            <a:off x="0" y="0"/>
            <a:ext cx="12192000" cy="6858000"/>
          </a:xfrm>
          <a:prstGeom prst="rect">
            <a:avLst/>
          </a:prstGeom>
          <a:gradFill>
            <a:gsLst>
              <a:gs pos="0">
                <a:schemeClr val="tx1"/>
              </a:gs>
              <a:gs pos="95402">
                <a:schemeClr val="bg1">
                  <a:alpha val="71000"/>
                </a:schemeClr>
              </a:gs>
              <a:gs pos="66000">
                <a:schemeClr val="bg2">
                  <a:alpha val="60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文本框 14">
            <a:extLst>
              <a:ext uri="{FF2B5EF4-FFF2-40B4-BE49-F238E27FC236}">
                <a16:creationId xmlns:a16="http://schemas.microsoft.com/office/drawing/2014/main" id="{70E9F4E4-F6F5-F456-D86B-52BB32624388}"/>
              </a:ext>
            </a:extLst>
          </p:cNvPr>
          <p:cNvSpPr txBox="1"/>
          <p:nvPr/>
        </p:nvSpPr>
        <p:spPr>
          <a:xfrm>
            <a:off x="0" y="0"/>
            <a:ext cx="2890535" cy="1877437"/>
          </a:xfrm>
          <a:prstGeom prst="rect">
            <a:avLst/>
          </a:prstGeom>
          <a:noFill/>
        </p:spPr>
        <p:txBody>
          <a:bodyPr wrap="none" rtlCol="0">
            <a:spAutoFit/>
          </a:bodyPr>
          <a:lstStyle/>
          <a:p>
            <a:r>
              <a:rPr lang="en-US" altLang="zh-CN" sz="6600" dirty="0">
                <a:solidFill>
                  <a:schemeClr val="bg1"/>
                </a:solidFill>
                <a:latin typeface="Segoe UI Black" panose="020B0A02040204020203" pitchFamily="34" charset="0"/>
                <a:ea typeface="Segoe UI Black" panose="020B0A02040204020203" pitchFamily="34" charset="0"/>
              </a:rPr>
              <a:t>MBTI</a:t>
            </a:r>
            <a:r>
              <a:rPr lang="en-US" altLang="zh-CN" sz="7200" dirty="0">
                <a:solidFill>
                  <a:schemeClr val="bg1"/>
                </a:solidFill>
                <a:latin typeface="华文琥珀" panose="02010800040101010101" pitchFamily="2" charset="-122"/>
                <a:ea typeface="华文琥珀" panose="02010800040101010101" pitchFamily="2" charset="-122"/>
              </a:rPr>
              <a:t>  </a:t>
            </a:r>
          </a:p>
          <a:p>
            <a:r>
              <a:rPr lang="zh-CN" altLang="en-US" sz="4400" dirty="0">
                <a:solidFill>
                  <a:schemeClr val="bg1"/>
                </a:solidFill>
                <a:latin typeface="程荣光刻楷" panose="03000503000000000000" pitchFamily="66" charset="-122"/>
                <a:ea typeface="程荣光刻楷" panose="03000503000000000000" pitchFamily="66" charset="-122"/>
              </a:rPr>
              <a:t>的“四维”</a:t>
            </a:r>
          </a:p>
        </p:txBody>
      </p:sp>
      <p:sp>
        <p:nvSpPr>
          <p:cNvPr id="31" name="文本框 30">
            <a:extLst>
              <a:ext uri="{FF2B5EF4-FFF2-40B4-BE49-F238E27FC236}">
                <a16:creationId xmlns:a16="http://schemas.microsoft.com/office/drawing/2014/main" id="{2CD3B3BC-C1A4-A44D-E3A6-AE2CF6E31282}"/>
              </a:ext>
            </a:extLst>
          </p:cNvPr>
          <p:cNvSpPr txBox="1"/>
          <p:nvPr/>
        </p:nvSpPr>
        <p:spPr>
          <a:xfrm>
            <a:off x="203201" y="2123658"/>
            <a:ext cx="5138820" cy="5139869"/>
          </a:xfrm>
          <a:prstGeom prst="rect">
            <a:avLst/>
          </a:prstGeom>
          <a:noFill/>
        </p:spPr>
        <p:txBody>
          <a:bodyPr wrap="square" rtlCol="0">
            <a:spAutoFit/>
          </a:bodyPr>
          <a:lstStyle/>
          <a:p>
            <a:pPr lvl="0" algn="just">
              <a:tabLst>
                <a:tab pos="457200" algn="l"/>
              </a:tabLst>
            </a:pPr>
            <a:r>
              <a:rPr lang="en-US" altLang="zh-CN" sz="2200" b="1" i="1" kern="100" dirty="0">
                <a:solidFill>
                  <a:srgbClr val="FFFF00"/>
                </a:solidFill>
                <a:latin typeface="宋体" panose="02010600030101010101" pitchFamily="2" charset="-122"/>
                <a:ea typeface="宋体" panose="02010600030101010101" pitchFamily="2" charset="-122"/>
                <a:cs typeface="Times New Roman" panose="02020603050405020304" pitchFamily="18" charset="0"/>
              </a:rPr>
              <a:t>3. </a:t>
            </a:r>
            <a:r>
              <a:rPr lang="zh-CN" altLang="zh-CN" sz="2200" b="1" i="1" kern="100" dirty="0">
                <a:solidFill>
                  <a:srgbClr val="FFFF00"/>
                </a:solidFill>
                <a:latin typeface="宋体" panose="02010600030101010101" pitchFamily="2" charset="-122"/>
                <a:ea typeface="宋体" panose="02010600030101010101" pitchFamily="2" charset="-122"/>
                <a:cs typeface="Times New Roman" panose="02020603050405020304" pitchFamily="18" charset="0"/>
              </a:rPr>
              <a:t>思考</a:t>
            </a:r>
            <a:r>
              <a:rPr lang="en-US" altLang="zh-CN" sz="2200" b="1" i="1" kern="100" dirty="0">
                <a:solidFill>
                  <a:srgbClr val="FFFF00"/>
                </a:solidFill>
                <a:latin typeface="宋体" panose="02010600030101010101" pitchFamily="2" charset="-122"/>
                <a:ea typeface="宋体" panose="02010600030101010101" pitchFamily="2" charset="-122"/>
                <a:cs typeface="Times New Roman" panose="02020603050405020304" pitchFamily="18" charset="0"/>
              </a:rPr>
              <a:t>(T)</a:t>
            </a:r>
            <a:r>
              <a:rPr lang="zh-CN" altLang="zh-CN" sz="2200" b="1" i="1" kern="100" dirty="0">
                <a:solidFill>
                  <a:srgbClr val="FFFF00"/>
                </a:solidFill>
                <a:latin typeface="宋体" panose="02010600030101010101" pitchFamily="2" charset="-122"/>
                <a:ea typeface="宋体" panose="02010600030101010101" pitchFamily="2" charset="-122"/>
                <a:cs typeface="Times New Roman" panose="02020603050405020304" pitchFamily="18" charset="0"/>
              </a:rPr>
              <a:t>与情</a:t>
            </a:r>
            <a:r>
              <a:rPr lang="zh-CN" altLang="zh-CN" sz="2200" b="1" i="1" kern="100" dirty="0">
                <a:solidFill>
                  <a:srgbClr val="FFFF00"/>
                </a:solidFill>
                <a:effectLst/>
                <a:latin typeface="宋体" panose="02010600030101010101" pitchFamily="2" charset="-122"/>
                <a:ea typeface="宋体" panose="02010600030101010101" pitchFamily="2" charset="-122"/>
                <a:cs typeface="Times New Roman" panose="02020603050405020304" pitchFamily="18" charset="0"/>
              </a:rPr>
              <a:t>感</a:t>
            </a:r>
            <a:r>
              <a:rPr lang="en-US" altLang="zh-CN" sz="2200" b="1" i="1" kern="100" dirty="0">
                <a:solidFill>
                  <a:srgbClr val="FFFF00"/>
                </a:solidFill>
                <a:effectLst/>
                <a:latin typeface="宋体" panose="02010600030101010101" pitchFamily="2" charset="-122"/>
                <a:ea typeface="宋体" panose="02010600030101010101" pitchFamily="2" charset="-122"/>
                <a:cs typeface="Times New Roman" panose="02020603050405020304" pitchFamily="18" charset="0"/>
              </a:rPr>
              <a:t>(F)</a:t>
            </a:r>
            <a:r>
              <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：描述个体倾向于如何做决定。</a:t>
            </a:r>
          </a:p>
          <a:p>
            <a:pPr marL="742950" lvl="1" indent="-285750" algn="just">
              <a:buSzPts val="1000"/>
              <a:buFont typeface="Courier New" panose="02070309020205020404" pitchFamily="49" charset="0"/>
              <a:buChar char="o"/>
              <a:tabLst>
                <a:tab pos="914400" algn="l"/>
              </a:tabLst>
            </a:pPr>
            <a:r>
              <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思考型（</a:t>
            </a:r>
            <a:r>
              <a:rPr lang="en-US"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T</a:t>
            </a:r>
            <a:r>
              <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）：倾向于基于逻辑和客观分析来做决定。</a:t>
            </a:r>
          </a:p>
          <a:p>
            <a:pPr marL="742950" lvl="1" indent="-285750" algn="just">
              <a:buSzPts val="1000"/>
              <a:buFont typeface="Courier New" panose="02070309020205020404" pitchFamily="49" charset="0"/>
              <a:buChar char="o"/>
              <a:tabLst>
                <a:tab pos="914400" algn="l"/>
              </a:tabLst>
            </a:pPr>
            <a:r>
              <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情感型（</a:t>
            </a:r>
            <a:r>
              <a:rPr lang="en-US"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F</a:t>
            </a:r>
            <a:r>
              <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）：倾向于基于个人价值和他人感受来做决定。</a:t>
            </a:r>
            <a:endParaRPr lang="en-US"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endParaRPr>
          </a:p>
          <a:p>
            <a:pPr lvl="1" algn="just">
              <a:buSzPts val="1000"/>
              <a:tabLst>
                <a:tab pos="914400" algn="l"/>
              </a:tabLst>
            </a:pPr>
            <a:endPar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endParaRPr>
          </a:p>
          <a:p>
            <a:pPr lvl="0" algn="just">
              <a:tabLst>
                <a:tab pos="457200" algn="l"/>
              </a:tabLst>
            </a:pPr>
            <a:r>
              <a:rPr lang="en-US" altLang="zh-CN" sz="2200" b="1" i="1" kern="100" dirty="0">
                <a:solidFill>
                  <a:srgbClr val="FFFF00"/>
                </a:solidFill>
                <a:latin typeface="宋体" panose="02010600030101010101" pitchFamily="2" charset="-122"/>
                <a:ea typeface="宋体" panose="02010600030101010101" pitchFamily="2" charset="-122"/>
                <a:cs typeface="Times New Roman" panose="02020603050405020304" pitchFamily="18" charset="0"/>
              </a:rPr>
              <a:t>4. </a:t>
            </a:r>
            <a:r>
              <a:rPr lang="zh-CN" altLang="zh-CN" sz="2200" b="1" i="1" kern="100" dirty="0">
                <a:solidFill>
                  <a:srgbClr val="FFFF00"/>
                </a:solidFill>
                <a:latin typeface="宋体" panose="02010600030101010101" pitchFamily="2" charset="-122"/>
                <a:ea typeface="宋体" panose="02010600030101010101" pitchFamily="2" charset="-122"/>
                <a:cs typeface="Times New Roman" panose="02020603050405020304" pitchFamily="18" charset="0"/>
              </a:rPr>
              <a:t>判断</a:t>
            </a:r>
            <a:r>
              <a:rPr lang="en-US" altLang="zh-CN" sz="2200" b="1" i="1" kern="100" dirty="0">
                <a:solidFill>
                  <a:srgbClr val="FFFF00"/>
                </a:solidFill>
                <a:latin typeface="宋体" panose="02010600030101010101" pitchFamily="2" charset="-122"/>
                <a:ea typeface="宋体" panose="02010600030101010101" pitchFamily="2" charset="-122"/>
                <a:cs typeface="Times New Roman" panose="02020603050405020304" pitchFamily="18" charset="0"/>
              </a:rPr>
              <a:t>(J)</a:t>
            </a:r>
            <a:r>
              <a:rPr lang="zh-CN" altLang="zh-CN" sz="2200" b="1" i="1" kern="100" dirty="0">
                <a:solidFill>
                  <a:srgbClr val="FFFF00"/>
                </a:solidFill>
                <a:effectLst/>
                <a:latin typeface="宋体" panose="02010600030101010101" pitchFamily="2" charset="-122"/>
                <a:ea typeface="宋体" panose="02010600030101010101" pitchFamily="2" charset="-122"/>
                <a:cs typeface="Times New Roman" panose="02020603050405020304" pitchFamily="18" charset="0"/>
              </a:rPr>
              <a:t>与知觉</a:t>
            </a:r>
            <a:r>
              <a:rPr lang="en-US" altLang="zh-CN" sz="2200" b="1" i="1" kern="100" dirty="0">
                <a:solidFill>
                  <a:srgbClr val="FFFF00"/>
                </a:solidFill>
                <a:effectLst/>
                <a:latin typeface="宋体" panose="02010600030101010101" pitchFamily="2" charset="-122"/>
                <a:ea typeface="宋体" panose="02010600030101010101" pitchFamily="2" charset="-122"/>
                <a:cs typeface="Times New Roman" panose="02020603050405020304" pitchFamily="18" charset="0"/>
              </a:rPr>
              <a:t>(P)</a:t>
            </a:r>
            <a:r>
              <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：描述个体倾向于如何对待生活和任务。</a:t>
            </a:r>
          </a:p>
          <a:p>
            <a:pPr marL="742950" lvl="1" indent="-285750" algn="just">
              <a:buSzPts val="1000"/>
              <a:buFont typeface="Courier New" panose="02070309020205020404" pitchFamily="49" charset="0"/>
              <a:buChar char="o"/>
              <a:tabLst>
                <a:tab pos="914400" algn="l"/>
              </a:tabLst>
            </a:pPr>
            <a:r>
              <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判断型（</a:t>
            </a:r>
            <a:r>
              <a:rPr lang="en-US"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J</a:t>
            </a:r>
            <a:r>
              <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）：倾向于有计划和组织，喜欢决定和结构。</a:t>
            </a:r>
          </a:p>
          <a:p>
            <a:pPr marL="742950" lvl="1" indent="-285750" algn="just">
              <a:buSzPts val="1000"/>
              <a:buFont typeface="Courier New" panose="02070309020205020404" pitchFamily="49" charset="0"/>
              <a:buChar char="o"/>
              <a:tabLst>
                <a:tab pos="914400" algn="l"/>
              </a:tabLst>
            </a:pPr>
            <a:r>
              <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知觉型（</a:t>
            </a:r>
            <a:r>
              <a:rPr lang="en-US"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P</a:t>
            </a:r>
            <a:r>
              <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）：倾向于灵活和开放，喜欢保持选择和自发性。</a:t>
            </a:r>
          </a:p>
          <a:p>
            <a:pPr algn="just"/>
            <a:r>
              <a:rPr lang="en-US"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rPr>
              <a:t> </a:t>
            </a:r>
            <a:endParaRPr lang="zh-CN" altLang="zh-CN" sz="2200" kern="100" dirty="0">
              <a:solidFill>
                <a:schemeClr val="bg1"/>
              </a:solidFill>
              <a:effectLst/>
              <a:latin typeface="宋体" panose="02010600030101010101" pitchFamily="2" charset="-122"/>
              <a:ea typeface="宋体" panose="02010600030101010101" pitchFamily="2" charset="-122"/>
              <a:cs typeface="Times New Roman" panose="02020603050405020304" pitchFamily="18" charset="0"/>
            </a:endParaRPr>
          </a:p>
          <a:p>
            <a:endParaRPr lang="zh-CN" altLang="en-US" sz="2200" dirty="0">
              <a:solidFill>
                <a:schemeClr val="bg1"/>
              </a:solidFill>
              <a:latin typeface="宋体" panose="02010600030101010101" pitchFamily="2" charset="-122"/>
              <a:ea typeface="宋体" panose="02010600030101010101" pitchFamily="2" charset="-122"/>
            </a:endParaRPr>
          </a:p>
        </p:txBody>
      </p:sp>
      <p:sp useBgFill="1">
        <p:nvSpPr>
          <p:cNvPr id="11" name="任意多边形: 形状 10">
            <a:extLst>
              <a:ext uri="{FF2B5EF4-FFF2-40B4-BE49-F238E27FC236}">
                <a16:creationId xmlns:a16="http://schemas.microsoft.com/office/drawing/2014/main" id="{13D569A4-34DA-FD34-5BE8-1B74F7E44EC6}"/>
              </a:ext>
            </a:extLst>
          </p:cNvPr>
          <p:cNvSpPr>
            <a:spLocks noChangeAspect="1"/>
          </p:cNvSpPr>
          <p:nvPr/>
        </p:nvSpPr>
        <p:spPr>
          <a:xfrm rot="13392398">
            <a:off x="6225540" y="-1516526"/>
            <a:ext cx="9943239" cy="9941062"/>
          </a:xfrm>
          <a:custGeom>
            <a:avLst/>
            <a:gdLst>
              <a:gd name="connsiteX0" fmla="*/ 3914303 w 5232096"/>
              <a:gd name="connsiteY0" fmla="*/ 2797508 h 5230950"/>
              <a:gd name="connsiteX1" fmla="*/ 5232096 w 5232096"/>
              <a:gd name="connsiteY1" fmla="*/ 2797508 h 5230950"/>
              <a:gd name="connsiteX2" fmla="*/ 5228793 w 5232096"/>
              <a:gd name="connsiteY2" fmla="*/ 2867273 h 5230950"/>
              <a:gd name="connsiteX3" fmla="*/ 2884405 w 5232096"/>
              <a:gd name="connsiteY3" fmla="*/ 5226591 h 5230950"/>
              <a:gd name="connsiteX4" fmla="*/ 2798081 w 5232096"/>
              <a:gd name="connsiteY4" fmla="*/ 5230950 h 5230950"/>
              <a:gd name="connsiteX5" fmla="*/ 2798081 w 5232096"/>
              <a:gd name="connsiteY5" fmla="*/ 3913730 h 5230950"/>
              <a:gd name="connsiteX6" fmla="*/ 2880529 w 5232096"/>
              <a:gd name="connsiteY6" fmla="*/ 3901147 h 5230950"/>
              <a:gd name="connsiteX7" fmla="*/ 3901720 w 5232096"/>
              <a:gd name="connsiteY7" fmla="*/ 2879956 h 5230950"/>
              <a:gd name="connsiteX8" fmla="*/ 0 w 5232096"/>
              <a:gd name="connsiteY8" fmla="*/ 2797508 h 5230950"/>
              <a:gd name="connsiteX9" fmla="*/ 1317793 w 5232096"/>
              <a:gd name="connsiteY9" fmla="*/ 2797508 h 5230950"/>
              <a:gd name="connsiteX10" fmla="*/ 1330376 w 5232096"/>
              <a:gd name="connsiteY10" fmla="*/ 2879956 h 5230950"/>
              <a:gd name="connsiteX11" fmla="*/ 2351567 w 5232096"/>
              <a:gd name="connsiteY11" fmla="*/ 3901147 h 5230950"/>
              <a:gd name="connsiteX12" fmla="*/ 2434015 w 5232096"/>
              <a:gd name="connsiteY12" fmla="*/ 3913730 h 5230950"/>
              <a:gd name="connsiteX13" fmla="*/ 2434015 w 5232096"/>
              <a:gd name="connsiteY13" fmla="*/ 5230950 h 5230950"/>
              <a:gd name="connsiteX14" fmla="*/ 2347691 w 5232096"/>
              <a:gd name="connsiteY14" fmla="*/ 5226591 h 5230950"/>
              <a:gd name="connsiteX15" fmla="*/ 3303 w 5232096"/>
              <a:gd name="connsiteY15" fmla="*/ 2867273 h 5230950"/>
              <a:gd name="connsiteX16" fmla="*/ 2798081 w 5232096"/>
              <a:gd name="connsiteY16" fmla="*/ 0 h 5230950"/>
              <a:gd name="connsiteX17" fmla="*/ 2884405 w 5232096"/>
              <a:gd name="connsiteY17" fmla="*/ 4359 h 5230950"/>
              <a:gd name="connsiteX18" fmla="*/ 5228793 w 5232096"/>
              <a:gd name="connsiteY18" fmla="*/ 2363677 h 5230950"/>
              <a:gd name="connsiteX19" fmla="*/ 5232096 w 5232096"/>
              <a:gd name="connsiteY19" fmla="*/ 2433442 h 5230950"/>
              <a:gd name="connsiteX20" fmla="*/ 3914303 w 5232096"/>
              <a:gd name="connsiteY20" fmla="*/ 2433442 h 5230950"/>
              <a:gd name="connsiteX21" fmla="*/ 3901720 w 5232096"/>
              <a:gd name="connsiteY21" fmla="*/ 2350994 h 5230950"/>
              <a:gd name="connsiteX22" fmla="*/ 2880529 w 5232096"/>
              <a:gd name="connsiteY22" fmla="*/ 1329803 h 5230950"/>
              <a:gd name="connsiteX23" fmla="*/ 2798081 w 5232096"/>
              <a:gd name="connsiteY23" fmla="*/ 1317220 h 5230950"/>
              <a:gd name="connsiteX24" fmla="*/ 2434015 w 5232096"/>
              <a:gd name="connsiteY24" fmla="*/ 0 h 5230950"/>
              <a:gd name="connsiteX25" fmla="*/ 2434015 w 5232096"/>
              <a:gd name="connsiteY25" fmla="*/ 1317220 h 5230950"/>
              <a:gd name="connsiteX26" fmla="*/ 2351567 w 5232096"/>
              <a:gd name="connsiteY26" fmla="*/ 1329803 h 5230950"/>
              <a:gd name="connsiteX27" fmla="*/ 1330376 w 5232096"/>
              <a:gd name="connsiteY27" fmla="*/ 2350994 h 5230950"/>
              <a:gd name="connsiteX28" fmla="*/ 1317793 w 5232096"/>
              <a:gd name="connsiteY28" fmla="*/ 2433442 h 5230950"/>
              <a:gd name="connsiteX29" fmla="*/ 0 w 5232096"/>
              <a:gd name="connsiteY29" fmla="*/ 2433442 h 5230950"/>
              <a:gd name="connsiteX30" fmla="*/ 3303 w 5232096"/>
              <a:gd name="connsiteY30" fmla="*/ 2363677 h 5230950"/>
              <a:gd name="connsiteX31" fmla="*/ 2347691 w 5232096"/>
              <a:gd name="connsiteY31" fmla="*/ 4359 h 5230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232096" h="5230950">
                <a:moveTo>
                  <a:pt x="3914303" y="2797508"/>
                </a:moveTo>
                <a:lnTo>
                  <a:pt x="5232096" y="2797508"/>
                </a:lnTo>
                <a:lnTo>
                  <a:pt x="5228793" y="2867273"/>
                </a:lnTo>
                <a:cubicBezTo>
                  <a:pt x="5110479" y="4110318"/>
                  <a:pt x="4125191" y="5100583"/>
                  <a:pt x="2884405" y="5226591"/>
                </a:cubicBezTo>
                <a:lnTo>
                  <a:pt x="2798081" y="5230950"/>
                </a:lnTo>
                <a:lnTo>
                  <a:pt x="2798081" y="3913730"/>
                </a:lnTo>
                <a:lnTo>
                  <a:pt x="2880529" y="3901147"/>
                </a:lnTo>
                <a:cubicBezTo>
                  <a:pt x="3393108" y="3796258"/>
                  <a:pt x="3796831" y="3392535"/>
                  <a:pt x="3901720" y="2879956"/>
                </a:cubicBezTo>
                <a:close/>
                <a:moveTo>
                  <a:pt x="0" y="2797508"/>
                </a:moveTo>
                <a:lnTo>
                  <a:pt x="1317793" y="2797508"/>
                </a:lnTo>
                <a:lnTo>
                  <a:pt x="1330376" y="2879956"/>
                </a:lnTo>
                <a:cubicBezTo>
                  <a:pt x="1435265" y="3392535"/>
                  <a:pt x="1838988" y="3796258"/>
                  <a:pt x="2351567" y="3901147"/>
                </a:cubicBezTo>
                <a:lnTo>
                  <a:pt x="2434015" y="3913730"/>
                </a:lnTo>
                <a:lnTo>
                  <a:pt x="2434015" y="5230950"/>
                </a:lnTo>
                <a:lnTo>
                  <a:pt x="2347691" y="5226591"/>
                </a:lnTo>
                <a:cubicBezTo>
                  <a:pt x="1106905" y="5100583"/>
                  <a:pt x="121617" y="4110318"/>
                  <a:pt x="3303" y="2867273"/>
                </a:cubicBezTo>
                <a:close/>
                <a:moveTo>
                  <a:pt x="2798081" y="0"/>
                </a:moveTo>
                <a:lnTo>
                  <a:pt x="2884405" y="4359"/>
                </a:lnTo>
                <a:cubicBezTo>
                  <a:pt x="4125191" y="130368"/>
                  <a:pt x="5110479" y="1120633"/>
                  <a:pt x="5228793" y="2363677"/>
                </a:cubicBezTo>
                <a:lnTo>
                  <a:pt x="5232096" y="2433442"/>
                </a:lnTo>
                <a:lnTo>
                  <a:pt x="3914303" y="2433442"/>
                </a:lnTo>
                <a:lnTo>
                  <a:pt x="3901720" y="2350994"/>
                </a:lnTo>
                <a:cubicBezTo>
                  <a:pt x="3796831" y="1838415"/>
                  <a:pt x="3393108" y="1434692"/>
                  <a:pt x="2880529" y="1329803"/>
                </a:cubicBezTo>
                <a:lnTo>
                  <a:pt x="2798081" y="1317220"/>
                </a:lnTo>
                <a:close/>
                <a:moveTo>
                  <a:pt x="2434015" y="0"/>
                </a:moveTo>
                <a:lnTo>
                  <a:pt x="2434015" y="1317220"/>
                </a:lnTo>
                <a:lnTo>
                  <a:pt x="2351567" y="1329803"/>
                </a:lnTo>
                <a:cubicBezTo>
                  <a:pt x="1838988" y="1434692"/>
                  <a:pt x="1435265" y="1838415"/>
                  <a:pt x="1330376" y="2350994"/>
                </a:cubicBezTo>
                <a:lnTo>
                  <a:pt x="1317793" y="2433442"/>
                </a:lnTo>
                <a:lnTo>
                  <a:pt x="0" y="2433442"/>
                </a:lnTo>
                <a:lnTo>
                  <a:pt x="3303" y="2363677"/>
                </a:lnTo>
                <a:cubicBezTo>
                  <a:pt x="121617" y="1120633"/>
                  <a:pt x="1106905" y="130368"/>
                  <a:pt x="2347691" y="4359"/>
                </a:cubicBezTo>
                <a:close/>
              </a:path>
            </a:pathLst>
          </a:custGeom>
          <a:ln>
            <a:noFill/>
          </a:ln>
          <a:effectLst>
            <a:outerShdw blurRad="508000" sx="102000" sy="102000" algn="ctr" rotWithShape="0">
              <a:prstClr val="black">
                <a:alpha val="7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37484527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1000"/>
                                        <p:tgtEl>
                                          <p:spTgt spid="31"/>
                                        </p:tgtEl>
                                      </p:cBhvr>
                                    </p:animEffect>
                                    <p:anim calcmode="lin" valueType="num">
                                      <p:cBhvr>
                                        <p:cTn id="8" dur="1000" fill="hold"/>
                                        <p:tgtEl>
                                          <p:spTgt spid="31"/>
                                        </p:tgtEl>
                                        <p:attrNameLst>
                                          <p:attrName>ppt_x</p:attrName>
                                        </p:attrNameLst>
                                      </p:cBhvr>
                                      <p:tavLst>
                                        <p:tav tm="0">
                                          <p:val>
                                            <p:strVal val="#ppt_x"/>
                                          </p:val>
                                        </p:tav>
                                        <p:tav tm="100000">
                                          <p:val>
                                            <p:strVal val="#ppt_x"/>
                                          </p:val>
                                        </p:tav>
                                      </p:tavLst>
                                    </p:anim>
                                    <p:anim calcmode="lin" valueType="num">
                                      <p:cBhvr>
                                        <p:cTn id="9" dur="1000" fill="hold"/>
                                        <p:tgtEl>
                                          <p:spTgt spid="3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3000" b="-3000"/>
          </a:stretch>
        </a:blipFill>
        <a:effectLst/>
      </p:bgPr>
    </p:bg>
    <p:spTree>
      <p:nvGrpSpPr>
        <p:cNvPr id="1" name="">
          <a:extLst>
            <a:ext uri="{FF2B5EF4-FFF2-40B4-BE49-F238E27FC236}">
              <a16:creationId xmlns:a16="http://schemas.microsoft.com/office/drawing/2014/main" id="{C1762775-7CFE-02CB-B163-4F6B3038A01A}"/>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D4DF6985-6609-CDEB-3A31-4467E05ED496}"/>
              </a:ext>
            </a:extLst>
          </p:cNvPr>
          <p:cNvSpPr/>
          <p:nvPr/>
        </p:nvSpPr>
        <p:spPr>
          <a:xfrm>
            <a:off x="0" y="0"/>
            <a:ext cx="12192000" cy="6858000"/>
          </a:xfrm>
          <a:prstGeom prst="rect">
            <a:avLst/>
          </a:prstGeom>
          <a:gradFill>
            <a:gsLst>
              <a:gs pos="0">
                <a:schemeClr val="tx1"/>
              </a:gs>
              <a:gs pos="95402">
                <a:schemeClr val="bg1">
                  <a:alpha val="71000"/>
                </a:schemeClr>
              </a:gs>
              <a:gs pos="66000">
                <a:schemeClr val="bg2">
                  <a:alpha val="60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5" name="文本框 14">
            <a:extLst>
              <a:ext uri="{FF2B5EF4-FFF2-40B4-BE49-F238E27FC236}">
                <a16:creationId xmlns:a16="http://schemas.microsoft.com/office/drawing/2014/main" id="{455D19F9-384E-B406-B0DD-5B657EAF03AD}"/>
              </a:ext>
            </a:extLst>
          </p:cNvPr>
          <p:cNvSpPr txBox="1"/>
          <p:nvPr/>
        </p:nvSpPr>
        <p:spPr>
          <a:xfrm>
            <a:off x="0" y="0"/>
            <a:ext cx="3935693" cy="1877437"/>
          </a:xfrm>
          <a:prstGeom prst="rect">
            <a:avLst/>
          </a:prstGeom>
          <a:noFill/>
        </p:spPr>
        <p:txBody>
          <a:bodyPr wrap="none" rtlCol="0">
            <a:spAutoFit/>
          </a:bodyPr>
          <a:lstStyle/>
          <a:p>
            <a:r>
              <a:rPr lang="en-US" altLang="zh-CN" sz="6600" dirty="0">
                <a:solidFill>
                  <a:schemeClr val="bg1"/>
                </a:solidFill>
                <a:latin typeface="Segoe UI Black" panose="020B0A02040204020203" pitchFamily="34" charset="0"/>
                <a:ea typeface="Segoe UI Black" panose="020B0A02040204020203" pitchFamily="34" charset="0"/>
              </a:rPr>
              <a:t>MBTI</a:t>
            </a:r>
            <a:r>
              <a:rPr lang="en-US" altLang="zh-CN" sz="7200" dirty="0">
                <a:solidFill>
                  <a:schemeClr val="bg1"/>
                </a:solidFill>
                <a:latin typeface="华文琥珀" panose="02010800040101010101" pitchFamily="2" charset="-122"/>
                <a:ea typeface="华文琥珀" panose="02010800040101010101" pitchFamily="2" charset="-122"/>
              </a:rPr>
              <a:t>  </a:t>
            </a:r>
          </a:p>
          <a:p>
            <a:r>
              <a:rPr lang="zh-CN" altLang="en-US" sz="4400" dirty="0">
                <a:solidFill>
                  <a:schemeClr val="bg1"/>
                </a:solidFill>
                <a:latin typeface="程荣光刻楷" panose="03000503000000000000" pitchFamily="66" charset="-122"/>
                <a:ea typeface="程荣光刻楷" panose="03000503000000000000" pitchFamily="66" charset="-122"/>
              </a:rPr>
              <a:t>的“十六种人格”</a:t>
            </a:r>
          </a:p>
        </p:txBody>
      </p:sp>
      <p:sp>
        <p:nvSpPr>
          <p:cNvPr id="31" name="文本框 30">
            <a:extLst>
              <a:ext uri="{FF2B5EF4-FFF2-40B4-BE49-F238E27FC236}">
                <a16:creationId xmlns:a16="http://schemas.microsoft.com/office/drawing/2014/main" id="{58A36A6C-3788-2BF8-2592-EEB6DF1E99EE}"/>
              </a:ext>
            </a:extLst>
          </p:cNvPr>
          <p:cNvSpPr txBox="1"/>
          <p:nvPr/>
        </p:nvSpPr>
        <p:spPr>
          <a:xfrm>
            <a:off x="203201" y="2123658"/>
            <a:ext cx="5138820" cy="4067780"/>
          </a:xfrm>
          <a:prstGeom prst="rect">
            <a:avLst/>
          </a:prstGeom>
          <a:noFill/>
        </p:spPr>
        <p:txBody>
          <a:bodyPr wrap="square" rtlCol="0">
            <a:spAutoFit/>
          </a:bodyPr>
          <a:lstStyle/>
          <a:p>
            <a:pPr algn="l">
              <a:lnSpc>
                <a:spcPts val="2250"/>
              </a:lnSpc>
              <a:spcBef>
                <a:spcPts val="1800"/>
              </a:spcBef>
            </a:pPr>
            <a:r>
              <a:rPr lang="en-US" altLang="zh-CN" sz="2400" b="0" i="0" dirty="0">
                <a:solidFill>
                  <a:schemeClr val="bg1"/>
                </a:solidFill>
                <a:effectLst/>
                <a:latin typeface="华文楷体" panose="02010600040101010101" pitchFamily="2" charset="-122"/>
                <a:ea typeface="华文楷体" panose="02010600040101010101" pitchFamily="2" charset="-122"/>
              </a:rPr>
              <a:t>INTJ - </a:t>
            </a:r>
            <a:r>
              <a:rPr lang="zh-CN" altLang="en-US" sz="2400" b="0" i="0" dirty="0">
                <a:solidFill>
                  <a:schemeClr val="bg1"/>
                </a:solidFill>
                <a:effectLst/>
                <a:latin typeface="华文楷体" panose="02010600040101010101" pitchFamily="2" charset="-122"/>
                <a:ea typeface="华文楷体" panose="02010600040101010101" pitchFamily="2" charset="-122"/>
              </a:rPr>
              <a:t>建筑师 </a:t>
            </a:r>
            <a:r>
              <a:rPr lang="en-US" altLang="zh-CN" sz="2400" dirty="0">
                <a:solidFill>
                  <a:schemeClr val="bg1"/>
                </a:solidFill>
                <a:latin typeface="华文楷体" panose="02010600040101010101" pitchFamily="2" charset="-122"/>
                <a:ea typeface="华文楷体" panose="02010600040101010101" pitchFamily="2" charset="-122"/>
              </a:rPr>
              <a:t>   </a:t>
            </a:r>
            <a:r>
              <a:rPr lang="en-US" altLang="zh-CN" sz="2400" b="0" i="0" dirty="0">
                <a:solidFill>
                  <a:schemeClr val="bg1"/>
                </a:solidFill>
                <a:effectLst/>
                <a:latin typeface="华文楷体" panose="02010600040101010101" pitchFamily="2" charset="-122"/>
                <a:ea typeface="华文楷体" panose="02010600040101010101" pitchFamily="2" charset="-122"/>
              </a:rPr>
              <a:t>INTP - </a:t>
            </a:r>
            <a:r>
              <a:rPr lang="zh-CN" altLang="en-US" sz="2400" b="0" i="0" dirty="0">
                <a:solidFill>
                  <a:schemeClr val="bg1"/>
                </a:solidFill>
                <a:effectLst/>
                <a:latin typeface="华文楷体" panose="02010600040101010101" pitchFamily="2" charset="-122"/>
                <a:ea typeface="华文楷体" panose="02010600040101010101" pitchFamily="2" charset="-122"/>
              </a:rPr>
              <a:t>逻辑家 </a:t>
            </a:r>
            <a:r>
              <a:rPr lang="en-US" altLang="zh-CN" sz="2400" b="0" i="0" dirty="0">
                <a:solidFill>
                  <a:schemeClr val="bg1"/>
                </a:solidFill>
                <a:effectLst/>
                <a:latin typeface="华文楷体" panose="02010600040101010101" pitchFamily="2" charset="-122"/>
                <a:ea typeface="华文楷体" panose="02010600040101010101" pitchFamily="2" charset="-122"/>
              </a:rPr>
              <a:t> </a:t>
            </a:r>
          </a:p>
          <a:p>
            <a:pPr algn="l">
              <a:lnSpc>
                <a:spcPts val="2250"/>
              </a:lnSpc>
              <a:spcBef>
                <a:spcPts val="1800"/>
              </a:spcBef>
            </a:pPr>
            <a:r>
              <a:rPr lang="en-US" altLang="zh-CN" sz="2400" b="0" i="0" dirty="0">
                <a:solidFill>
                  <a:schemeClr val="bg1"/>
                </a:solidFill>
                <a:effectLst/>
                <a:latin typeface="华文楷体" panose="02010600040101010101" pitchFamily="2" charset="-122"/>
                <a:ea typeface="华文楷体" panose="02010600040101010101" pitchFamily="2" charset="-122"/>
              </a:rPr>
              <a:t>ENTJ - </a:t>
            </a:r>
            <a:r>
              <a:rPr lang="zh-CN" altLang="en-US" sz="2400" b="0" i="0" dirty="0">
                <a:solidFill>
                  <a:schemeClr val="bg1"/>
                </a:solidFill>
                <a:effectLst/>
                <a:latin typeface="华文楷体" panose="02010600040101010101" pitchFamily="2" charset="-122"/>
                <a:ea typeface="华文楷体" panose="02010600040101010101" pitchFamily="2" charset="-122"/>
              </a:rPr>
              <a:t>指挥官 </a:t>
            </a:r>
            <a:r>
              <a:rPr lang="en-US" altLang="zh-CN" sz="2400" dirty="0">
                <a:solidFill>
                  <a:schemeClr val="bg1"/>
                </a:solidFill>
                <a:latin typeface="华文楷体" panose="02010600040101010101" pitchFamily="2" charset="-122"/>
                <a:ea typeface="华文楷体" panose="02010600040101010101" pitchFamily="2" charset="-122"/>
              </a:rPr>
              <a:t>  </a:t>
            </a:r>
            <a:r>
              <a:rPr lang="en-US" altLang="zh-CN" sz="2400" b="0" i="0" dirty="0">
                <a:solidFill>
                  <a:schemeClr val="bg1"/>
                </a:solidFill>
                <a:effectLst/>
                <a:latin typeface="华文楷体" panose="02010600040101010101" pitchFamily="2" charset="-122"/>
                <a:ea typeface="华文楷体" panose="02010600040101010101" pitchFamily="2" charset="-122"/>
              </a:rPr>
              <a:t>ENTP - </a:t>
            </a:r>
            <a:r>
              <a:rPr lang="zh-CN" altLang="en-US" sz="2400" b="0" i="0" dirty="0">
                <a:solidFill>
                  <a:schemeClr val="bg1"/>
                </a:solidFill>
                <a:effectLst/>
                <a:latin typeface="华文楷体" panose="02010600040101010101" pitchFamily="2" charset="-122"/>
                <a:ea typeface="华文楷体" panose="02010600040101010101" pitchFamily="2" charset="-122"/>
              </a:rPr>
              <a:t>辩论家</a:t>
            </a:r>
          </a:p>
          <a:p>
            <a:pPr algn="l">
              <a:lnSpc>
                <a:spcPts val="2250"/>
              </a:lnSpc>
              <a:spcBef>
                <a:spcPts val="1800"/>
              </a:spcBef>
            </a:pPr>
            <a:r>
              <a:rPr lang="en-US" altLang="zh-CN" sz="2400" b="0" i="0" dirty="0">
                <a:solidFill>
                  <a:schemeClr val="bg1"/>
                </a:solidFill>
                <a:effectLst/>
                <a:latin typeface="华文楷体" panose="02010600040101010101" pitchFamily="2" charset="-122"/>
                <a:ea typeface="华文楷体" panose="02010600040101010101" pitchFamily="2" charset="-122"/>
              </a:rPr>
              <a:t>INFJ - </a:t>
            </a:r>
            <a:r>
              <a:rPr lang="zh-CN" altLang="en-US" sz="2400" b="0" i="0" dirty="0">
                <a:solidFill>
                  <a:schemeClr val="bg1"/>
                </a:solidFill>
                <a:effectLst/>
                <a:latin typeface="华文楷体" panose="02010600040101010101" pitchFamily="2" charset="-122"/>
                <a:ea typeface="华文楷体" panose="02010600040101010101" pitchFamily="2" charset="-122"/>
              </a:rPr>
              <a:t>提倡者   </a:t>
            </a:r>
            <a:r>
              <a:rPr lang="en-US" altLang="zh-CN" sz="2400" dirty="0">
                <a:solidFill>
                  <a:schemeClr val="bg1"/>
                </a:solidFill>
                <a:latin typeface="华文楷体" panose="02010600040101010101" pitchFamily="2" charset="-122"/>
                <a:ea typeface="华文楷体" panose="02010600040101010101" pitchFamily="2" charset="-122"/>
              </a:rPr>
              <a:t> </a:t>
            </a:r>
            <a:r>
              <a:rPr lang="en-US" altLang="zh-CN" sz="2400" b="0" i="0" dirty="0">
                <a:solidFill>
                  <a:schemeClr val="bg1"/>
                </a:solidFill>
                <a:effectLst/>
                <a:latin typeface="华文楷体" panose="02010600040101010101" pitchFamily="2" charset="-122"/>
                <a:ea typeface="华文楷体" panose="02010600040101010101" pitchFamily="2" charset="-122"/>
              </a:rPr>
              <a:t>INFP - </a:t>
            </a:r>
            <a:r>
              <a:rPr lang="zh-CN" altLang="en-US" sz="2400" b="0" i="0" dirty="0">
                <a:solidFill>
                  <a:schemeClr val="bg1"/>
                </a:solidFill>
                <a:effectLst/>
                <a:latin typeface="华文楷体" panose="02010600040101010101" pitchFamily="2" charset="-122"/>
                <a:ea typeface="华文楷体" panose="02010600040101010101" pitchFamily="2" charset="-122"/>
              </a:rPr>
              <a:t>调停者 </a:t>
            </a:r>
            <a:endParaRPr lang="en-US" altLang="zh-CN" sz="2400" dirty="0">
              <a:solidFill>
                <a:schemeClr val="bg1"/>
              </a:solidFill>
              <a:latin typeface="华文楷体" panose="02010600040101010101" pitchFamily="2" charset="-122"/>
              <a:ea typeface="华文楷体" panose="02010600040101010101" pitchFamily="2" charset="-122"/>
            </a:endParaRPr>
          </a:p>
          <a:p>
            <a:pPr algn="l">
              <a:lnSpc>
                <a:spcPts val="2250"/>
              </a:lnSpc>
              <a:spcBef>
                <a:spcPts val="1800"/>
              </a:spcBef>
            </a:pPr>
            <a:r>
              <a:rPr lang="en-US" altLang="zh-CN" sz="2400" b="0" i="0" dirty="0">
                <a:solidFill>
                  <a:schemeClr val="bg1"/>
                </a:solidFill>
                <a:effectLst/>
                <a:latin typeface="华文楷体" panose="02010600040101010101" pitchFamily="2" charset="-122"/>
                <a:ea typeface="华文楷体" panose="02010600040101010101" pitchFamily="2" charset="-122"/>
              </a:rPr>
              <a:t>ENFJ - </a:t>
            </a:r>
            <a:r>
              <a:rPr lang="zh-CN" altLang="en-US" sz="2400" b="0" i="0" dirty="0">
                <a:solidFill>
                  <a:schemeClr val="bg1"/>
                </a:solidFill>
                <a:effectLst/>
                <a:latin typeface="华文楷体" panose="02010600040101010101" pitchFamily="2" charset="-122"/>
                <a:ea typeface="华文楷体" panose="02010600040101010101" pitchFamily="2" charset="-122"/>
              </a:rPr>
              <a:t>主人公  </a:t>
            </a:r>
            <a:r>
              <a:rPr lang="en-US" altLang="zh-CN" sz="2400" dirty="0">
                <a:solidFill>
                  <a:schemeClr val="bg1"/>
                </a:solidFill>
                <a:latin typeface="华文楷体" panose="02010600040101010101" pitchFamily="2" charset="-122"/>
                <a:ea typeface="华文楷体" panose="02010600040101010101" pitchFamily="2" charset="-122"/>
              </a:rPr>
              <a:t> </a:t>
            </a:r>
            <a:r>
              <a:rPr lang="en-US" altLang="zh-CN" sz="2400" b="0" i="0" dirty="0">
                <a:solidFill>
                  <a:schemeClr val="bg1"/>
                </a:solidFill>
                <a:effectLst/>
                <a:latin typeface="华文楷体" panose="02010600040101010101" pitchFamily="2" charset="-122"/>
                <a:ea typeface="华文楷体" panose="02010600040101010101" pitchFamily="2" charset="-122"/>
              </a:rPr>
              <a:t>ENFP - </a:t>
            </a:r>
            <a:r>
              <a:rPr lang="zh-CN" altLang="en-US" sz="2400" b="0" i="0" dirty="0">
                <a:solidFill>
                  <a:schemeClr val="bg1"/>
                </a:solidFill>
                <a:effectLst/>
                <a:latin typeface="华文楷体" panose="02010600040101010101" pitchFamily="2" charset="-122"/>
                <a:ea typeface="华文楷体" panose="02010600040101010101" pitchFamily="2" charset="-122"/>
              </a:rPr>
              <a:t>竞选者</a:t>
            </a:r>
          </a:p>
          <a:p>
            <a:pPr algn="l">
              <a:lnSpc>
                <a:spcPts val="2250"/>
              </a:lnSpc>
              <a:spcBef>
                <a:spcPts val="1800"/>
              </a:spcBef>
            </a:pPr>
            <a:r>
              <a:rPr lang="en-US" altLang="zh-CN" sz="2400" b="0" i="0" dirty="0">
                <a:solidFill>
                  <a:schemeClr val="bg1"/>
                </a:solidFill>
                <a:effectLst/>
                <a:latin typeface="华文楷体" panose="02010600040101010101" pitchFamily="2" charset="-122"/>
                <a:ea typeface="华文楷体" panose="02010600040101010101" pitchFamily="2" charset="-122"/>
              </a:rPr>
              <a:t>ISTJ - </a:t>
            </a:r>
            <a:r>
              <a:rPr lang="zh-CN" altLang="en-US" sz="2400" b="0" i="0" dirty="0">
                <a:solidFill>
                  <a:schemeClr val="bg1"/>
                </a:solidFill>
                <a:effectLst/>
                <a:latin typeface="华文楷体" panose="02010600040101010101" pitchFamily="2" charset="-122"/>
                <a:ea typeface="华文楷体" panose="02010600040101010101" pitchFamily="2" charset="-122"/>
              </a:rPr>
              <a:t>物流师    </a:t>
            </a:r>
            <a:r>
              <a:rPr lang="en-US" altLang="zh-CN" sz="2400" b="0" i="0" dirty="0">
                <a:solidFill>
                  <a:schemeClr val="bg1"/>
                </a:solidFill>
                <a:effectLst/>
                <a:latin typeface="华文楷体" panose="02010600040101010101" pitchFamily="2" charset="-122"/>
                <a:ea typeface="华文楷体" panose="02010600040101010101" pitchFamily="2" charset="-122"/>
              </a:rPr>
              <a:t> ISFJ - </a:t>
            </a:r>
            <a:r>
              <a:rPr lang="zh-CN" altLang="en-US" sz="2400" b="0" i="0" dirty="0">
                <a:solidFill>
                  <a:schemeClr val="bg1"/>
                </a:solidFill>
                <a:effectLst/>
                <a:latin typeface="华文楷体" panose="02010600040101010101" pitchFamily="2" charset="-122"/>
                <a:ea typeface="华文楷体" panose="02010600040101010101" pitchFamily="2" charset="-122"/>
              </a:rPr>
              <a:t>守卫者 </a:t>
            </a:r>
            <a:r>
              <a:rPr lang="en-US" altLang="zh-CN" sz="2400" b="0" i="0" dirty="0">
                <a:solidFill>
                  <a:schemeClr val="bg1"/>
                </a:solidFill>
                <a:effectLst/>
                <a:latin typeface="华文楷体" panose="02010600040101010101" pitchFamily="2" charset="-122"/>
                <a:ea typeface="华文楷体" panose="02010600040101010101" pitchFamily="2" charset="-122"/>
              </a:rPr>
              <a:t> </a:t>
            </a:r>
          </a:p>
          <a:p>
            <a:pPr algn="l">
              <a:lnSpc>
                <a:spcPts val="2250"/>
              </a:lnSpc>
              <a:spcBef>
                <a:spcPts val="1800"/>
              </a:spcBef>
            </a:pPr>
            <a:r>
              <a:rPr lang="en-US" altLang="zh-CN" sz="2400" b="0" i="0" dirty="0">
                <a:solidFill>
                  <a:schemeClr val="bg1"/>
                </a:solidFill>
                <a:effectLst/>
                <a:latin typeface="华文楷体" panose="02010600040101010101" pitchFamily="2" charset="-122"/>
                <a:ea typeface="华文楷体" panose="02010600040101010101" pitchFamily="2" charset="-122"/>
              </a:rPr>
              <a:t>ESTJ -</a:t>
            </a:r>
            <a:r>
              <a:rPr lang="zh-CN" altLang="en-US" sz="2400" b="0" i="0" dirty="0">
                <a:solidFill>
                  <a:schemeClr val="bg1"/>
                </a:solidFill>
                <a:effectLst/>
                <a:latin typeface="华文楷体" panose="02010600040101010101" pitchFamily="2" charset="-122"/>
                <a:ea typeface="华文楷体" panose="02010600040101010101" pitchFamily="2" charset="-122"/>
              </a:rPr>
              <a:t>总经理    </a:t>
            </a:r>
            <a:r>
              <a:rPr lang="en-US" altLang="zh-CN" sz="2400" dirty="0">
                <a:solidFill>
                  <a:schemeClr val="bg1"/>
                </a:solidFill>
                <a:latin typeface="华文楷体" panose="02010600040101010101" pitchFamily="2" charset="-122"/>
                <a:ea typeface="华文楷体" panose="02010600040101010101" pitchFamily="2" charset="-122"/>
              </a:rPr>
              <a:t> </a:t>
            </a:r>
            <a:r>
              <a:rPr lang="en-US" altLang="zh-CN" sz="2400" b="0" i="0" dirty="0">
                <a:solidFill>
                  <a:schemeClr val="bg1"/>
                </a:solidFill>
                <a:effectLst/>
                <a:latin typeface="华文楷体" panose="02010600040101010101" pitchFamily="2" charset="-122"/>
                <a:ea typeface="华文楷体" panose="02010600040101010101" pitchFamily="2" charset="-122"/>
              </a:rPr>
              <a:t>ESFJ - </a:t>
            </a:r>
            <a:r>
              <a:rPr lang="zh-CN" altLang="en-US" sz="2400" b="0" i="0" dirty="0">
                <a:solidFill>
                  <a:schemeClr val="bg1"/>
                </a:solidFill>
                <a:effectLst/>
                <a:latin typeface="华文楷体" panose="02010600040101010101" pitchFamily="2" charset="-122"/>
                <a:ea typeface="华文楷体" panose="02010600040101010101" pitchFamily="2" charset="-122"/>
              </a:rPr>
              <a:t>执政官</a:t>
            </a:r>
          </a:p>
          <a:p>
            <a:pPr algn="l">
              <a:lnSpc>
                <a:spcPts val="2250"/>
              </a:lnSpc>
              <a:spcBef>
                <a:spcPts val="1800"/>
              </a:spcBef>
            </a:pPr>
            <a:r>
              <a:rPr lang="en-US" altLang="zh-CN" sz="2400" b="0" i="0" dirty="0">
                <a:solidFill>
                  <a:schemeClr val="bg1"/>
                </a:solidFill>
                <a:effectLst/>
                <a:latin typeface="华文楷体" panose="02010600040101010101" pitchFamily="2" charset="-122"/>
                <a:ea typeface="华文楷体" panose="02010600040101010101" pitchFamily="2" charset="-122"/>
              </a:rPr>
              <a:t>ISTP - </a:t>
            </a:r>
            <a:r>
              <a:rPr lang="zh-CN" altLang="en-US" sz="2400" b="0" i="0" dirty="0">
                <a:solidFill>
                  <a:schemeClr val="bg1"/>
                </a:solidFill>
                <a:effectLst/>
                <a:latin typeface="华文楷体" panose="02010600040101010101" pitchFamily="2" charset="-122"/>
                <a:ea typeface="华文楷体" panose="02010600040101010101" pitchFamily="2" charset="-122"/>
              </a:rPr>
              <a:t>鉴赏家   </a:t>
            </a:r>
            <a:r>
              <a:rPr lang="en-US" altLang="zh-CN" sz="2400" dirty="0">
                <a:solidFill>
                  <a:schemeClr val="bg1"/>
                </a:solidFill>
                <a:latin typeface="华文楷体" panose="02010600040101010101" pitchFamily="2" charset="-122"/>
                <a:ea typeface="华文楷体" panose="02010600040101010101" pitchFamily="2" charset="-122"/>
              </a:rPr>
              <a:t> </a:t>
            </a:r>
            <a:r>
              <a:rPr lang="en-US" altLang="zh-CN" sz="2400" b="0" i="0" dirty="0">
                <a:solidFill>
                  <a:schemeClr val="bg1"/>
                </a:solidFill>
                <a:effectLst/>
                <a:latin typeface="华文楷体" panose="02010600040101010101" pitchFamily="2" charset="-122"/>
                <a:ea typeface="华文楷体" panose="02010600040101010101" pitchFamily="2" charset="-122"/>
              </a:rPr>
              <a:t>ISFP - </a:t>
            </a:r>
            <a:r>
              <a:rPr lang="zh-CN" altLang="en-US" sz="2400" b="0" i="0" dirty="0">
                <a:solidFill>
                  <a:schemeClr val="bg1"/>
                </a:solidFill>
                <a:effectLst/>
                <a:latin typeface="华文楷体" panose="02010600040101010101" pitchFamily="2" charset="-122"/>
                <a:ea typeface="华文楷体" panose="02010600040101010101" pitchFamily="2" charset="-122"/>
              </a:rPr>
              <a:t>探险家 </a:t>
            </a:r>
            <a:endParaRPr lang="en-US" altLang="zh-CN" sz="2400" dirty="0">
              <a:solidFill>
                <a:schemeClr val="bg1"/>
              </a:solidFill>
              <a:latin typeface="华文楷体" panose="02010600040101010101" pitchFamily="2" charset="-122"/>
              <a:ea typeface="华文楷体" panose="02010600040101010101" pitchFamily="2" charset="-122"/>
            </a:endParaRPr>
          </a:p>
          <a:p>
            <a:pPr algn="l">
              <a:lnSpc>
                <a:spcPts val="2250"/>
              </a:lnSpc>
              <a:spcBef>
                <a:spcPts val="1800"/>
              </a:spcBef>
            </a:pPr>
            <a:r>
              <a:rPr lang="en-US" altLang="zh-CN" sz="2400" b="0" i="0" dirty="0">
                <a:solidFill>
                  <a:schemeClr val="bg1"/>
                </a:solidFill>
                <a:effectLst/>
                <a:latin typeface="华文楷体" panose="02010600040101010101" pitchFamily="2" charset="-122"/>
                <a:ea typeface="华文楷体" panose="02010600040101010101" pitchFamily="2" charset="-122"/>
              </a:rPr>
              <a:t>ESTP - </a:t>
            </a:r>
            <a:r>
              <a:rPr lang="zh-CN" altLang="en-US" sz="2400" b="0" i="0" dirty="0">
                <a:solidFill>
                  <a:schemeClr val="bg1"/>
                </a:solidFill>
                <a:effectLst/>
                <a:latin typeface="华文楷体" panose="02010600040101010101" pitchFamily="2" charset="-122"/>
                <a:ea typeface="华文楷体" panose="02010600040101010101" pitchFamily="2" charset="-122"/>
              </a:rPr>
              <a:t>企业家  </a:t>
            </a:r>
            <a:r>
              <a:rPr lang="en-US" altLang="zh-CN" sz="2400" dirty="0">
                <a:solidFill>
                  <a:schemeClr val="bg1"/>
                </a:solidFill>
                <a:latin typeface="华文楷体" panose="02010600040101010101" pitchFamily="2" charset="-122"/>
                <a:ea typeface="华文楷体" panose="02010600040101010101" pitchFamily="2" charset="-122"/>
              </a:rPr>
              <a:t> </a:t>
            </a:r>
            <a:r>
              <a:rPr lang="en-US" altLang="zh-CN" sz="2400" b="0" i="0" dirty="0">
                <a:solidFill>
                  <a:schemeClr val="bg1"/>
                </a:solidFill>
                <a:effectLst/>
                <a:latin typeface="华文楷体" panose="02010600040101010101" pitchFamily="2" charset="-122"/>
                <a:ea typeface="华文楷体" panose="02010600040101010101" pitchFamily="2" charset="-122"/>
              </a:rPr>
              <a:t>ESFP - </a:t>
            </a:r>
            <a:r>
              <a:rPr lang="zh-CN" altLang="en-US" sz="2400" b="0" i="0" dirty="0">
                <a:solidFill>
                  <a:schemeClr val="bg1"/>
                </a:solidFill>
                <a:effectLst/>
                <a:latin typeface="华文楷体" panose="02010600040101010101" pitchFamily="2" charset="-122"/>
                <a:ea typeface="华文楷体" panose="02010600040101010101" pitchFamily="2" charset="-122"/>
              </a:rPr>
              <a:t>表演者</a:t>
            </a:r>
          </a:p>
        </p:txBody>
      </p:sp>
      <p:sp useBgFill="1">
        <p:nvSpPr>
          <p:cNvPr id="11" name="任意多边形: 形状 10">
            <a:extLst>
              <a:ext uri="{FF2B5EF4-FFF2-40B4-BE49-F238E27FC236}">
                <a16:creationId xmlns:a16="http://schemas.microsoft.com/office/drawing/2014/main" id="{F7C173A5-06F2-0529-8653-22FB7FC14521}"/>
              </a:ext>
            </a:extLst>
          </p:cNvPr>
          <p:cNvSpPr>
            <a:spLocks noChangeAspect="1"/>
          </p:cNvSpPr>
          <p:nvPr/>
        </p:nvSpPr>
        <p:spPr>
          <a:xfrm rot="18897534">
            <a:off x="6225540" y="-1516526"/>
            <a:ext cx="9943239" cy="9941062"/>
          </a:xfrm>
          <a:custGeom>
            <a:avLst/>
            <a:gdLst>
              <a:gd name="connsiteX0" fmla="*/ 3914303 w 5232096"/>
              <a:gd name="connsiteY0" fmla="*/ 2797508 h 5230950"/>
              <a:gd name="connsiteX1" fmla="*/ 5232096 w 5232096"/>
              <a:gd name="connsiteY1" fmla="*/ 2797508 h 5230950"/>
              <a:gd name="connsiteX2" fmla="*/ 5228793 w 5232096"/>
              <a:gd name="connsiteY2" fmla="*/ 2867273 h 5230950"/>
              <a:gd name="connsiteX3" fmla="*/ 2884405 w 5232096"/>
              <a:gd name="connsiteY3" fmla="*/ 5226591 h 5230950"/>
              <a:gd name="connsiteX4" fmla="*/ 2798081 w 5232096"/>
              <a:gd name="connsiteY4" fmla="*/ 5230950 h 5230950"/>
              <a:gd name="connsiteX5" fmla="*/ 2798081 w 5232096"/>
              <a:gd name="connsiteY5" fmla="*/ 3913730 h 5230950"/>
              <a:gd name="connsiteX6" fmla="*/ 2880529 w 5232096"/>
              <a:gd name="connsiteY6" fmla="*/ 3901147 h 5230950"/>
              <a:gd name="connsiteX7" fmla="*/ 3901720 w 5232096"/>
              <a:gd name="connsiteY7" fmla="*/ 2879956 h 5230950"/>
              <a:gd name="connsiteX8" fmla="*/ 0 w 5232096"/>
              <a:gd name="connsiteY8" fmla="*/ 2797508 h 5230950"/>
              <a:gd name="connsiteX9" fmla="*/ 1317793 w 5232096"/>
              <a:gd name="connsiteY9" fmla="*/ 2797508 h 5230950"/>
              <a:gd name="connsiteX10" fmla="*/ 1330376 w 5232096"/>
              <a:gd name="connsiteY10" fmla="*/ 2879956 h 5230950"/>
              <a:gd name="connsiteX11" fmla="*/ 2351567 w 5232096"/>
              <a:gd name="connsiteY11" fmla="*/ 3901147 h 5230950"/>
              <a:gd name="connsiteX12" fmla="*/ 2434015 w 5232096"/>
              <a:gd name="connsiteY12" fmla="*/ 3913730 h 5230950"/>
              <a:gd name="connsiteX13" fmla="*/ 2434015 w 5232096"/>
              <a:gd name="connsiteY13" fmla="*/ 5230950 h 5230950"/>
              <a:gd name="connsiteX14" fmla="*/ 2347691 w 5232096"/>
              <a:gd name="connsiteY14" fmla="*/ 5226591 h 5230950"/>
              <a:gd name="connsiteX15" fmla="*/ 3303 w 5232096"/>
              <a:gd name="connsiteY15" fmla="*/ 2867273 h 5230950"/>
              <a:gd name="connsiteX16" fmla="*/ 2798081 w 5232096"/>
              <a:gd name="connsiteY16" fmla="*/ 0 h 5230950"/>
              <a:gd name="connsiteX17" fmla="*/ 2884405 w 5232096"/>
              <a:gd name="connsiteY17" fmla="*/ 4359 h 5230950"/>
              <a:gd name="connsiteX18" fmla="*/ 5228793 w 5232096"/>
              <a:gd name="connsiteY18" fmla="*/ 2363677 h 5230950"/>
              <a:gd name="connsiteX19" fmla="*/ 5232096 w 5232096"/>
              <a:gd name="connsiteY19" fmla="*/ 2433442 h 5230950"/>
              <a:gd name="connsiteX20" fmla="*/ 3914303 w 5232096"/>
              <a:gd name="connsiteY20" fmla="*/ 2433442 h 5230950"/>
              <a:gd name="connsiteX21" fmla="*/ 3901720 w 5232096"/>
              <a:gd name="connsiteY21" fmla="*/ 2350994 h 5230950"/>
              <a:gd name="connsiteX22" fmla="*/ 2880529 w 5232096"/>
              <a:gd name="connsiteY22" fmla="*/ 1329803 h 5230950"/>
              <a:gd name="connsiteX23" fmla="*/ 2798081 w 5232096"/>
              <a:gd name="connsiteY23" fmla="*/ 1317220 h 5230950"/>
              <a:gd name="connsiteX24" fmla="*/ 2434015 w 5232096"/>
              <a:gd name="connsiteY24" fmla="*/ 0 h 5230950"/>
              <a:gd name="connsiteX25" fmla="*/ 2434015 w 5232096"/>
              <a:gd name="connsiteY25" fmla="*/ 1317220 h 5230950"/>
              <a:gd name="connsiteX26" fmla="*/ 2351567 w 5232096"/>
              <a:gd name="connsiteY26" fmla="*/ 1329803 h 5230950"/>
              <a:gd name="connsiteX27" fmla="*/ 1330376 w 5232096"/>
              <a:gd name="connsiteY27" fmla="*/ 2350994 h 5230950"/>
              <a:gd name="connsiteX28" fmla="*/ 1317793 w 5232096"/>
              <a:gd name="connsiteY28" fmla="*/ 2433442 h 5230950"/>
              <a:gd name="connsiteX29" fmla="*/ 0 w 5232096"/>
              <a:gd name="connsiteY29" fmla="*/ 2433442 h 5230950"/>
              <a:gd name="connsiteX30" fmla="*/ 3303 w 5232096"/>
              <a:gd name="connsiteY30" fmla="*/ 2363677 h 5230950"/>
              <a:gd name="connsiteX31" fmla="*/ 2347691 w 5232096"/>
              <a:gd name="connsiteY31" fmla="*/ 4359 h 5230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232096" h="5230950">
                <a:moveTo>
                  <a:pt x="3914303" y="2797508"/>
                </a:moveTo>
                <a:lnTo>
                  <a:pt x="5232096" y="2797508"/>
                </a:lnTo>
                <a:lnTo>
                  <a:pt x="5228793" y="2867273"/>
                </a:lnTo>
                <a:cubicBezTo>
                  <a:pt x="5110479" y="4110318"/>
                  <a:pt x="4125191" y="5100583"/>
                  <a:pt x="2884405" y="5226591"/>
                </a:cubicBezTo>
                <a:lnTo>
                  <a:pt x="2798081" y="5230950"/>
                </a:lnTo>
                <a:lnTo>
                  <a:pt x="2798081" y="3913730"/>
                </a:lnTo>
                <a:lnTo>
                  <a:pt x="2880529" y="3901147"/>
                </a:lnTo>
                <a:cubicBezTo>
                  <a:pt x="3393108" y="3796258"/>
                  <a:pt x="3796831" y="3392535"/>
                  <a:pt x="3901720" y="2879956"/>
                </a:cubicBezTo>
                <a:close/>
                <a:moveTo>
                  <a:pt x="0" y="2797508"/>
                </a:moveTo>
                <a:lnTo>
                  <a:pt x="1317793" y="2797508"/>
                </a:lnTo>
                <a:lnTo>
                  <a:pt x="1330376" y="2879956"/>
                </a:lnTo>
                <a:cubicBezTo>
                  <a:pt x="1435265" y="3392535"/>
                  <a:pt x="1838988" y="3796258"/>
                  <a:pt x="2351567" y="3901147"/>
                </a:cubicBezTo>
                <a:lnTo>
                  <a:pt x="2434015" y="3913730"/>
                </a:lnTo>
                <a:lnTo>
                  <a:pt x="2434015" y="5230950"/>
                </a:lnTo>
                <a:lnTo>
                  <a:pt x="2347691" y="5226591"/>
                </a:lnTo>
                <a:cubicBezTo>
                  <a:pt x="1106905" y="5100583"/>
                  <a:pt x="121617" y="4110318"/>
                  <a:pt x="3303" y="2867273"/>
                </a:cubicBezTo>
                <a:close/>
                <a:moveTo>
                  <a:pt x="2798081" y="0"/>
                </a:moveTo>
                <a:lnTo>
                  <a:pt x="2884405" y="4359"/>
                </a:lnTo>
                <a:cubicBezTo>
                  <a:pt x="4125191" y="130368"/>
                  <a:pt x="5110479" y="1120633"/>
                  <a:pt x="5228793" y="2363677"/>
                </a:cubicBezTo>
                <a:lnTo>
                  <a:pt x="5232096" y="2433442"/>
                </a:lnTo>
                <a:lnTo>
                  <a:pt x="3914303" y="2433442"/>
                </a:lnTo>
                <a:lnTo>
                  <a:pt x="3901720" y="2350994"/>
                </a:lnTo>
                <a:cubicBezTo>
                  <a:pt x="3796831" y="1838415"/>
                  <a:pt x="3393108" y="1434692"/>
                  <a:pt x="2880529" y="1329803"/>
                </a:cubicBezTo>
                <a:lnTo>
                  <a:pt x="2798081" y="1317220"/>
                </a:lnTo>
                <a:close/>
                <a:moveTo>
                  <a:pt x="2434015" y="0"/>
                </a:moveTo>
                <a:lnTo>
                  <a:pt x="2434015" y="1317220"/>
                </a:lnTo>
                <a:lnTo>
                  <a:pt x="2351567" y="1329803"/>
                </a:lnTo>
                <a:cubicBezTo>
                  <a:pt x="1838988" y="1434692"/>
                  <a:pt x="1435265" y="1838415"/>
                  <a:pt x="1330376" y="2350994"/>
                </a:cubicBezTo>
                <a:lnTo>
                  <a:pt x="1317793" y="2433442"/>
                </a:lnTo>
                <a:lnTo>
                  <a:pt x="0" y="2433442"/>
                </a:lnTo>
                <a:lnTo>
                  <a:pt x="3303" y="2363677"/>
                </a:lnTo>
                <a:cubicBezTo>
                  <a:pt x="121617" y="1120633"/>
                  <a:pt x="1106905" y="130368"/>
                  <a:pt x="2347691" y="4359"/>
                </a:cubicBezTo>
                <a:close/>
              </a:path>
            </a:pathLst>
          </a:custGeom>
          <a:ln>
            <a:noFill/>
          </a:ln>
          <a:effectLst>
            <a:outerShdw blurRad="508000" sx="102000" sy="102000" algn="ctr" rotWithShape="0">
              <a:prstClr val="black">
                <a:alpha val="7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25255453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down)">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7F6398EB-8DC1-6884-1C4A-CDB5EE5647DD}"/>
            </a:ext>
          </a:extLst>
        </p:cNvPr>
        <p:cNvGrpSpPr/>
        <p:nvPr/>
      </p:nvGrpSpPr>
      <p:grpSpPr>
        <a:xfrm>
          <a:off x="0" y="0"/>
          <a:ext cx="0" cy="0"/>
          <a:chOff x="0" y="0"/>
          <a:chExt cx="0" cy="0"/>
        </a:xfrm>
      </p:grpSpPr>
      <p:sp>
        <p:nvSpPr>
          <p:cNvPr id="14" name="矩形 13">
            <a:extLst>
              <a:ext uri="{FF2B5EF4-FFF2-40B4-BE49-F238E27FC236}">
                <a16:creationId xmlns:a16="http://schemas.microsoft.com/office/drawing/2014/main" id="{F8D24C55-CC70-2AB3-1B05-BFF2F9B794F8}"/>
              </a:ext>
            </a:extLst>
          </p:cNvPr>
          <p:cNvSpPr/>
          <p:nvPr/>
        </p:nvSpPr>
        <p:spPr>
          <a:xfrm>
            <a:off x="-174364" y="-992411"/>
            <a:ext cx="12397540" cy="8267088"/>
          </a:xfrm>
          <a:prstGeom prst="rect">
            <a:avLst/>
          </a:prstGeom>
          <a:solidFill>
            <a:schemeClr val="bg1">
              <a:alpha val="83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useBgFill="1">
        <p:nvSpPr>
          <p:cNvPr id="3" name="任意多边形: 形状 2">
            <a:extLst>
              <a:ext uri="{FF2B5EF4-FFF2-40B4-BE49-F238E27FC236}">
                <a16:creationId xmlns:a16="http://schemas.microsoft.com/office/drawing/2014/main" id="{4C1DEF67-04A9-07F7-6AC9-1CDCD9F2BB4B}"/>
              </a:ext>
            </a:extLst>
          </p:cNvPr>
          <p:cNvSpPr/>
          <p:nvPr/>
        </p:nvSpPr>
        <p:spPr>
          <a:xfrm rot="18866189">
            <a:off x="-4909628" y="1551635"/>
            <a:ext cx="12769655" cy="7347378"/>
          </a:xfrm>
          <a:custGeom>
            <a:avLst/>
            <a:gdLst>
              <a:gd name="connsiteX0" fmla="*/ 1666689 w 1667202"/>
              <a:gd name="connsiteY0" fmla="*/ 114598 h 593501"/>
              <a:gd name="connsiteX1" fmla="*/ 1663154 w 1667202"/>
              <a:gd name="connsiteY1" fmla="*/ 111249 h 593501"/>
              <a:gd name="connsiteX2" fmla="*/ 1659620 w 1667202"/>
              <a:gd name="connsiteY2" fmla="*/ 111249 h 593501"/>
              <a:gd name="connsiteX3" fmla="*/ 1656457 w 1667202"/>
              <a:gd name="connsiteY3" fmla="*/ 113854 h 593501"/>
              <a:gd name="connsiteX4" fmla="*/ 1649202 w 1667202"/>
              <a:gd name="connsiteY4" fmla="*/ 114226 h 593501"/>
              <a:gd name="connsiteX5" fmla="*/ 1646039 w 1667202"/>
              <a:gd name="connsiteY5" fmla="*/ 114412 h 593501"/>
              <a:gd name="connsiteX6" fmla="*/ 1642504 w 1667202"/>
              <a:gd name="connsiteY6" fmla="*/ 113667 h 593501"/>
              <a:gd name="connsiteX7" fmla="*/ 1631714 w 1667202"/>
              <a:gd name="connsiteY7" fmla="*/ 113854 h 593501"/>
              <a:gd name="connsiteX8" fmla="*/ 1628552 w 1667202"/>
              <a:gd name="connsiteY8" fmla="*/ 113481 h 593501"/>
              <a:gd name="connsiteX9" fmla="*/ 1629110 w 1667202"/>
              <a:gd name="connsiteY9" fmla="*/ 112365 h 593501"/>
              <a:gd name="connsiteX10" fmla="*/ 1627808 w 1667202"/>
              <a:gd name="connsiteY10" fmla="*/ 111435 h 593501"/>
              <a:gd name="connsiteX11" fmla="*/ 1607530 w 1667202"/>
              <a:gd name="connsiteY11" fmla="*/ 103436 h 593501"/>
              <a:gd name="connsiteX12" fmla="*/ 1605670 w 1667202"/>
              <a:gd name="connsiteY12" fmla="*/ 102877 h 593501"/>
              <a:gd name="connsiteX13" fmla="*/ 1607530 w 1667202"/>
              <a:gd name="connsiteY13" fmla="*/ 101761 h 593501"/>
              <a:gd name="connsiteX14" fmla="*/ 1601205 w 1667202"/>
              <a:gd name="connsiteY14" fmla="*/ 97668 h 593501"/>
              <a:gd name="connsiteX15" fmla="*/ 1600460 w 1667202"/>
              <a:gd name="connsiteY15" fmla="*/ 103994 h 593501"/>
              <a:gd name="connsiteX16" fmla="*/ 1593391 w 1667202"/>
              <a:gd name="connsiteY16" fmla="*/ 104180 h 593501"/>
              <a:gd name="connsiteX17" fmla="*/ 1585392 w 1667202"/>
              <a:gd name="connsiteY17" fmla="*/ 102877 h 593501"/>
              <a:gd name="connsiteX18" fmla="*/ 1581113 w 1667202"/>
              <a:gd name="connsiteY18" fmla="*/ 102691 h 593501"/>
              <a:gd name="connsiteX19" fmla="*/ 1579997 w 1667202"/>
              <a:gd name="connsiteY19" fmla="*/ 103250 h 593501"/>
              <a:gd name="connsiteX20" fmla="*/ 1578880 w 1667202"/>
              <a:gd name="connsiteY20" fmla="*/ 100831 h 593501"/>
              <a:gd name="connsiteX21" fmla="*/ 1579811 w 1667202"/>
              <a:gd name="connsiteY21" fmla="*/ 101017 h 593501"/>
              <a:gd name="connsiteX22" fmla="*/ 1580741 w 1667202"/>
              <a:gd name="connsiteY22" fmla="*/ 100831 h 593501"/>
              <a:gd name="connsiteX23" fmla="*/ 1576090 w 1667202"/>
              <a:gd name="connsiteY23" fmla="*/ 97110 h 593501"/>
              <a:gd name="connsiteX24" fmla="*/ 1575718 w 1667202"/>
              <a:gd name="connsiteY24" fmla="*/ 99901 h 593501"/>
              <a:gd name="connsiteX25" fmla="*/ 1574602 w 1667202"/>
              <a:gd name="connsiteY25" fmla="*/ 100087 h 593501"/>
              <a:gd name="connsiteX26" fmla="*/ 1573299 w 1667202"/>
              <a:gd name="connsiteY26" fmla="*/ 99157 h 593501"/>
              <a:gd name="connsiteX27" fmla="*/ 1561951 w 1667202"/>
              <a:gd name="connsiteY27" fmla="*/ 93762 h 593501"/>
              <a:gd name="connsiteX28" fmla="*/ 1552091 w 1667202"/>
              <a:gd name="connsiteY28" fmla="*/ 93762 h 593501"/>
              <a:gd name="connsiteX29" fmla="*/ 1544464 w 1667202"/>
              <a:gd name="connsiteY29" fmla="*/ 97110 h 593501"/>
              <a:gd name="connsiteX30" fmla="*/ 1542976 w 1667202"/>
              <a:gd name="connsiteY30" fmla="*/ 97296 h 593501"/>
              <a:gd name="connsiteX31" fmla="*/ 1540185 w 1667202"/>
              <a:gd name="connsiteY31" fmla="*/ 94134 h 593501"/>
              <a:gd name="connsiteX32" fmla="*/ 1534976 w 1667202"/>
              <a:gd name="connsiteY32" fmla="*/ 94134 h 593501"/>
              <a:gd name="connsiteX33" fmla="*/ 1523814 w 1667202"/>
              <a:gd name="connsiteY33" fmla="*/ 93576 h 593501"/>
              <a:gd name="connsiteX34" fmla="*/ 1523070 w 1667202"/>
              <a:gd name="connsiteY34" fmla="*/ 95622 h 593501"/>
              <a:gd name="connsiteX35" fmla="*/ 1520279 w 1667202"/>
              <a:gd name="connsiteY35" fmla="*/ 97110 h 593501"/>
              <a:gd name="connsiteX36" fmla="*/ 1516745 w 1667202"/>
              <a:gd name="connsiteY36" fmla="*/ 96924 h 593501"/>
              <a:gd name="connsiteX37" fmla="*/ 1506327 w 1667202"/>
              <a:gd name="connsiteY37" fmla="*/ 93762 h 593501"/>
              <a:gd name="connsiteX38" fmla="*/ 1502978 w 1667202"/>
              <a:gd name="connsiteY38" fmla="*/ 93948 h 593501"/>
              <a:gd name="connsiteX39" fmla="*/ 1503164 w 1667202"/>
              <a:gd name="connsiteY39" fmla="*/ 93948 h 593501"/>
              <a:gd name="connsiteX40" fmla="*/ 1496839 w 1667202"/>
              <a:gd name="connsiteY40" fmla="*/ 99715 h 593501"/>
              <a:gd name="connsiteX41" fmla="*/ 1494234 w 1667202"/>
              <a:gd name="connsiteY41" fmla="*/ 99715 h 593501"/>
              <a:gd name="connsiteX42" fmla="*/ 1472096 w 1667202"/>
              <a:gd name="connsiteY42" fmla="*/ 93576 h 593501"/>
              <a:gd name="connsiteX43" fmla="*/ 1446609 w 1667202"/>
              <a:gd name="connsiteY43" fmla="*/ 90413 h 593501"/>
              <a:gd name="connsiteX44" fmla="*/ 1368103 w 1667202"/>
              <a:gd name="connsiteY44" fmla="*/ 90599 h 593501"/>
              <a:gd name="connsiteX45" fmla="*/ 1362522 w 1667202"/>
              <a:gd name="connsiteY45" fmla="*/ 90599 h 593501"/>
              <a:gd name="connsiteX46" fmla="*/ 1321780 w 1667202"/>
              <a:gd name="connsiteY46" fmla="*/ 90227 h 593501"/>
              <a:gd name="connsiteX47" fmla="*/ 1321594 w 1667202"/>
              <a:gd name="connsiteY47" fmla="*/ 79437 h 593501"/>
              <a:gd name="connsiteX48" fmla="*/ 1321408 w 1667202"/>
              <a:gd name="connsiteY48" fmla="*/ 79623 h 593501"/>
              <a:gd name="connsiteX49" fmla="*/ 1360847 w 1667202"/>
              <a:gd name="connsiteY49" fmla="*/ 74414 h 593501"/>
              <a:gd name="connsiteX50" fmla="*/ 1364010 w 1667202"/>
              <a:gd name="connsiteY50" fmla="*/ 72926 h 593501"/>
              <a:gd name="connsiteX51" fmla="*/ 1376102 w 1667202"/>
              <a:gd name="connsiteY51" fmla="*/ 69949 h 593501"/>
              <a:gd name="connsiteX52" fmla="*/ 1366986 w 1667202"/>
              <a:gd name="connsiteY52" fmla="*/ 68647 h 593501"/>
              <a:gd name="connsiteX53" fmla="*/ 1363824 w 1667202"/>
              <a:gd name="connsiteY53" fmla="*/ 69205 h 593501"/>
              <a:gd name="connsiteX54" fmla="*/ 1356754 w 1667202"/>
              <a:gd name="connsiteY54" fmla="*/ 65856 h 593501"/>
              <a:gd name="connsiteX55" fmla="*/ 1355824 w 1667202"/>
              <a:gd name="connsiteY55" fmla="*/ 64740 h 593501"/>
              <a:gd name="connsiteX56" fmla="*/ 1356568 w 1667202"/>
              <a:gd name="connsiteY56" fmla="*/ 62136 h 593501"/>
              <a:gd name="connsiteX57" fmla="*/ 1356382 w 1667202"/>
              <a:gd name="connsiteY57" fmla="*/ 62136 h 593501"/>
              <a:gd name="connsiteX58" fmla="*/ 1363452 w 1667202"/>
              <a:gd name="connsiteY58" fmla="*/ 58229 h 593501"/>
              <a:gd name="connsiteX59" fmla="*/ 1363080 w 1667202"/>
              <a:gd name="connsiteY59" fmla="*/ 58601 h 593501"/>
              <a:gd name="connsiteX60" fmla="*/ 1361963 w 1667202"/>
              <a:gd name="connsiteY60" fmla="*/ 48927 h 593501"/>
              <a:gd name="connsiteX61" fmla="*/ 1346336 w 1667202"/>
              <a:gd name="connsiteY61" fmla="*/ 48183 h 593501"/>
              <a:gd name="connsiteX62" fmla="*/ 1341686 w 1667202"/>
              <a:gd name="connsiteY62" fmla="*/ 45579 h 593501"/>
              <a:gd name="connsiteX63" fmla="*/ 1335174 w 1667202"/>
              <a:gd name="connsiteY63" fmla="*/ 45207 h 593501"/>
              <a:gd name="connsiteX64" fmla="*/ 1345964 w 1667202"/>
              <a:gd name="connsiteY64" fmla="*/ 44090 h 593501"/>
              <a:gd name="connsiteX65" fmla="*/ 1369033 w 1667202"/>
              <a:gd name="connsiteY65" fmla="*/ 43346 h 593501"/>
              <a:gd name="connsiteX66" fmla="*/ 1370149 w 1667202"/>
              <a:gd name="connsiteY66" fmla="*/ 43160 h 593501"/>
              <a:gd name="connsiteX67" fmla="*/ 1372381 w 1667202"/>
              <a:gd name="connsiteY67" fmla="*/ 44648 h 593501"/>
              <a:gd name="connsiteX68" fmla="*/ 1447540 w 1667202"/>
              <a:gd name="connsiteY68" fmla="*/ 45579 h 593501"/>
              <a:gd name="connsiteX69" fmla="*/ 1481212 w 1667202"/>
              <a:gd name="connsiteY69" fmla="*/ 46509 h 593501"/>
              <a:gd name="connsiteX70" fmla="*/ 1482700 w 1667202"/>
              <a:gd name="connsiteY70" fmla="*/ 45021 h 593501"/>
              <a:gd name="connsiteX71" fmla="*/ 1492746 w 1667202"/>
              <a:gd name="connsiteY71" fmla="*/ 44834 h 593501"/>
              <a:gd name="connsiteX72" fmla="*/ 1506699 w 1667202"/>
              <a:gd name="connsiteY72" fmla="*/ 45207 h 593501"/>
              <a:gd name="connsiteX73" fmla="*/ 1508001 w 1667202"/>
              <a:gd name="connsiteY73" fmla="*/ 47997 h 593501"/>
              <a:gd name="connsiteX74" fmla="*/ 1513024 w 1667202"/>
              <a:gd name="connsiteY74" fmla="*/ 48183 h 593501"/>
              <a:gd name="connsiteX75" fmla="*/ 1520465 w 1667202"/>
              <a:gd name="connsiteY75" fmla="*/ 41672 h 593501"/>
              <a:gd name="connsiteX76" fmla="*/ 1509861 w 1667202"/>
              <a:gd name="connsiteY76" fmla="*/ 42416 h 593501"/>
              <a:gd name="connsiteX77" fmla="*/ 1502978 w 1667202"/>
              <a:gd name="connsiteY77" fmla="*/ 40742 h 593501"/>
              <a:gd name="connsiteX78" fmla="*/ 1496281 w 1667202"/>
              <a:gd name="connsiteY78" fmla="*/ 40928 h 593501"/>
              <a:gd name="connsiteX79" fmla="*/ 1492560 w 1667202"/>
              <a:gd name="connsiteY79" fmla="*/ 40556 h 593501"/>
              <a:gd name="connsiteX80" fmla="*/ 1492188 w 1667202"/>
              <a:gd name="connsiteY80" fmla="*/ 41486 h 593501"/>
              <a:gd name="connsiteX81" fmla="*/ 1492932 w 1667202"/>
              <a:gd name="connsiteY81" fmla="*/ 42230 h 593501"/>
              <a:gd name="connsiteX82" fmla="*/ 1492746 w 1667202"/>
              <a:gd name="connsiteY82" fmla="*/ 44462 h 593501"/>
              <a:gd name="connsiteX83" fmla="*/ 1492932 w 1667202"/>
              <a:gd name="connsiteY83" fmla="*/ 42230 h 593501"/>
              <a:gd name="connsiteX84" fmla="*/ 1482886 w 1667202"/>
              <a:gd name="connsiteY84" fmla="*/ 41858 h 593501"/>
              <a:gd name="connsiteX85" fmla="*/ 1482700 w 1667202"/>
              <a:gd name="connsiteY85" fmla="*/ 41114 h 593501"/>
              <a:gd name="connsiteX86" fmla="*/ 1437866 w 1667202"/>
              <a:gd name="connsiteY86" fmla="*/ 34789 h 593501"/>
              <a:gd name="connsiteX87" fmla="*/ 1433029 w 1667202"/>
              <a:gd name="connsiteY87" fmla="*/ 36649 h 593501"/>
              <a:gd name="connsiteX88" fmla="*/ 1431168 w 1667202"/>
              <a:gd name="connsiteY88" fmla="*/ 36091 h 593501"/>
              <a:gd name="connsiteX89" fmla="*/ 1429308 w 1667202"/>
              <a:gd name="connsiteY89" fmla="*/ 34603 h 593501"/>
              <a:gd name="connsiteX90" fmla="*/ 1420565 w 1667202"/>
              <a:gd name="connsiteY90" fmla="*/ 31068 h 593501"/>
              <a:gd name="connsiteX91" fmla="*/ 1437308 w 1667202"/>
              <a:gd name="connsiteY91" fmla="*/ 30696 h 593501"/>
              <a:gd name="connsiteX92" fmla="*/ 1447168 w 1667202"/>
              <a:gd name="connsiteY92" fmla="*/ 30510 h 593501"/>
              <a:gd name="connsiteX93" fmla="*/ 1454981 w 1667202"/>
              <a:gd name="connsiteY93" fmla="*/ 30510 h 593501"/>
              <a:gd name="connsiteX94" fmla="*/ 1465027 w 1667202"/>
              <a:gd name="connsiteY94" fmla="*/ 27347 h 593501"/>
              <a:gd name="connsiteX95" fmla="*/ 1462422 w 1667202"/>
              <a:gd name="connsiteY95" fmla="*/ 26975 h 593501"/>
              <a:gd name="connsiteX96" fmla="*/ 1461120 w 1667202"/>
              <a:gd name="connsiteY96" fmla="*/ 24185 h 593501"/>
              <a:gd name="connsiteX97" fmla="*/ 1457958 w 1667202"/>
              <a:gd name="connsiteY97" fmla="*/ 23440 h 593501"/>
              <a:gd name="connsiteX98" fmla="*/ 1443819 w 1667202"/>
              <a:gd name="connsiteY98" fmla="*/ 20650 h 593501"/>
              <a:gd name="connsiteX99" fmla="*/ 1436750 w 1667202"/>
              <a:gd name="connsiteY99" fmla="*/ 21208 h 593501"/>
              <a:gd name="connsiteX100" fmla="*/ 1430238 w 1667202"/>
              <a:gd name="connsiteY100" fmla="*/ 20464 h 593501"/>
              <a:gd name="connsiteX101" fmla="*/ 1426704 w 1667202"/>
              <a:gd name="connsiteY101" fmla="*/ 23999 h 593501"/>
              <a:gd name="connsiteX102" fmla="*/ 1399542 w 1667202"/>
              <a:gd name="connsiteY102" fmla="*/ 22138 h 593501"/>
              <a:gd name="connsiteX103" fmla="*/ 1390799 w 1667202"/>
              <a:gd name="connsiteY103" fmla="*/ 21022 h 593501"/>
              <a:gd name="connsiteX104" fmla="*/ 1389311 w 1667202"/>
              <a:gd name="connsiteY104" fmla="*/ 21394 h 593501"/>
              <a:gd name="connsiteX105" fmla="*/ 1388194 w 1667202"/>
              <a:gd name="connsiteY105" fmla="*/ 20278 h 593501"/>
              <a:gd name="connsiteX106" fmla="*/ 1355638 w 1667202"/>
              <a:gd name="connsiteY106" fmla="*/ 15255 h 593501"/>
              <a:gd name="connsiteX107" fmla="*/ 1353778 w 1667202"/>
              <a:gd name="connsiteY107" fmla="*/ 15813 h 593501"/>
              <a:gd name="connsiteX108" fmla="*/ 1351732 w 1667202"/>
              <a:gd name="connsiteY108" fmla="*/ 13767 h 593501"/>
              <a:gd name="connsiteX109" fmla="*/ 1343546 w 1667202"/>
              <a:gd name="connsiteY109" fmla="*/ 13581 h 593501"/>
              <a:gd name="connsiteX110" fmla="*/ 1334988 w 1667202"/>
              <a:gd name="connsiteY110" fmla="*/ 13767 h 593501"/>
              <a:gd name="connsiteX111" fmla="*/ 1328849 w 1667202"/>
              <a:gd name="connsiteY111" fmla="*/ 13209 h 593501"/>
              <a:gd name="connsiteX112" fmla="*/ 1325687 w 1667202"/>
              <a:gd name="connsiteY112" fmla="*/ 13395 h 593501"/>
              <a:gd name="connsiteX113" fmla="*/ 1324756 w 1667202"/>
              <a:gd name="connsiteY113" fmla="*/ 12092 h 593501"/>
              <a:gd name="connsiteX114" fmla="*/ 1297037 w 1667202"/>
              <a:gd name="connsiteY114" fmla="*/ 10232 h 593501"/>
              <a:gd name="connsiteX115" fmla="*/ 1262621 w 1667202"/>
              <a:gd name="connsiteY115" fmla="*/ 9674 h 593501"/>
              <a:gd name="connsiteX116" fmla="*/ 1252203 w 1667202"/>
              <a:gd name="connsiteY116" fmla="*/ 9860 h 593501"/>
              <a:gd name="connsiteX117" fmla="*/ 1241785 w 1667202"/>
              <a:gd name="connsiteY117" fmla="*/ 9860 h 593501"/>
              <a:gd name="connsiteX118" fmla="*/ 1177789 w 1667202"/>
              <a:gd name="connsiteY118" fmla="*/ 7069 h 593501"/>
              <a:gd name="connsiteX119" fmla="*/ 1166440 w 1667202"/>
              <a:gd name="connsiteY119" fmla="*/ 7069 h 593501"/>
              <a:gd name="connsiteX120" fmla="*/ 1160487 w 1667202"/>
              <a:gd name="connsiteY120" fmla="*/ 7069 h 593501"/>
              <a:gd name="connsiteX121" fmla="*/ 1138907 w 1667202"/>
              <a:gd name="connsiteY121" fmla="*/ 7255 h 593501"/>
              <a:gd name="connsiteX122" fmla="*/ 1133326 w 1667202"/>
              <a:gd name="connsiteY122" fmla="*/ 7069 h 593501"/>
              <a:gd name="connsiteX123" fmla="*/ 1133698 w 1667202"/>
              <a:gd name="connsiteY123" fmla="*/ 7255 h 593501"/>
              <a:gd name="connsiteX124" fmla="*/ 1115281 w 1667202"/>
              <a:gd name="connsiteY124" fmla="*/ 5209 h 593501"/>
              <a:gd name="connsiteX125" fmla="*/ 1048122 w 1667202"/>
              <a:gd name="connsiteY125" fmla="*/ 3721 h 593501"/>
              <a:gd name="connsiteX126" fmla="*/ 1038076 w 1667202"/>
              <a:gd name="connsiteY126" fmla="*/ 3535 h 593501"/>
              <a:gd name="connsiteX127" fmla="*/ 966453 w 1667202"/>
              <a:gd name="connsiteY127" fmla="*/ 6511 h 593501"/>
              <a:gd name="connsiteX128" fmla="*/ 962918 w 1667202"/>
              <a:gd name="connsiteY128" fmla="*/ 6325 h 593501"/>
              <a:gd name="connsiteX129" fmla="*/ 938547 w 1667202"/>
              <a:gd name="connsiteY129" fmla="*/ 6511 h 593501"/>
              <a:gd name="connsiteX130" fmla="*/ 905619 w 1667202"/>
              <a:gd name="connsiteY130" fmla="*/ 7069 h 593501"/>
              <a:gd name="connsiteX131" fmla="*/ 879388 w 1667202"/>
              <a:gd name="connsiteY131" fmla="*/ 9860 h 593501"/>
              <a:gd name="connsiteX132" fmla="*/ 868784 w 1667202"/>
              <a:gd name="connsiteY132" fmla="*/ 10046 h 593501"/>
              <a:gd name="connsiteX133" fmla="*/ 844414 w 1667202"/>
              <a:gd name="connsiteY133" fmla="*/ 9860 h 593501"/>
              <a:gd name="connsiteX134" fmla="*/ 837902 w 1667202"/>
              <a:gd name="connsiteY134" fmla="*/ 10418 h 593501"/>
              <a:gd name="connsiteX135" fmla="*/ 827856 w 1667202"/>
              <a:gd name="connsiteY135" fmla="*/ 20464 h 593501"/>
              <a:gd name="connsiteX136" fmla="*/ 829159 w 1667202"/>
              <a:gd name="connsiteY136" fmla="*/ 20092 h 593501"/>
              <a:gd name="connsiteX137" fmla="*/ 830461 w 1667202"/>
              <a:gd name="connsiteY137" fmla="*/ 20650 h 593501"/>
              <a:gd name="connsiteX138" fmla="*/ 830461 w 1667202"/>
              <a:gd name="connsiteY138" fmla="*/ 27533 h 593501"/>
              <a:gd name="connsiteX139" fmla="*/ 828973 w 1667202"/>
              <a:gd name="connsiteY139" fmla="*/ 29394 h 593501"/>
              <a:gd name="connsiteX140" fmla="*/ 826368 w 1667202"/>
              <a:gd name="connsiteY140" fmla="*/ 29394 h 593501"/>
              <a:gd name="connsiteX141" fmla="*/ 809625 w 1667202"/>
              <a:gd name="connsiteY141" fmla="*/ 30696 h 593501"/>
              <a:gd name="connsiteX142" fmla="*/ 807021 w 1667202"/>
              <a:gd name="connsiteY142" fmla="*/ 31440 h 593501"/>
              <a:gd name="connsiteX143" fmla="*/ 785068 w 1667202"/>
              <a:gd name="connsiteY143" fmla="*/ 34417 h 593501"/>
              <a:gd name="connsiteX144" fmla="*/ 724235 w 1667202"/>
              <a:gd name="connsiteY144" fmla="*/ 34975 h 593501"/>
              <a:gd name="connsiteX145" fmla="*/ 676982 w 1667202"/>
              <a:gd name="connsiteY145" fmla="*/ 37765 h 593501"/>
              <a:gd name="connsiteX146" fmla="*/ 663960 w 1667202"/>
              <a:gd name="connsiteY146" fmla="*/ 38509 h 593501"/>
              <a:gd name="connsiteX147" fmla="*/ 652797 w 1667202"/>
              <a:gd name="connsiteY147" fmla="*/ 42788 h 593501"/>
              <a:gd name="connsiteX148" fmla="*/ 661541 w 1667202"/>
              <a:gd name="connsiteY148" fmla="*/ 53578 h 593501"/>
              <a:gd name="connsiteX149" fmla="*/ 663029 w 1667202"/>
              <a:gd name="connsiteY149" fmla="*/ 54322 h 593501"/>
              <a:gd name="connsiteX150" fmla="*/ 663215 w 1667202"/>
              <a:gd name="connsiteY150" fmla="*/ 55252 h 593501"/>
              <a:gd name="connsiteX151" fmla="*/ 665820 w 1667202"/>
              <a:gd name="connsiteY151" fmla="*/ 56555 h 593501"/>
              <a:gd name="connsiteX152" fmla="*/ 663215 w 1667202"/>
              <a:gd name="connsiteY152" fmla="*/ 58973 h 593501"/>
              <a:gd name="connsiteX153" fmla="*/ 663029 w 1667202"/>
              <a:gd name="connsiteY153" fmla="*/ 59717 h 593501"/>
              <a:gd name="connsiteX154" fmla="*/ 660425 w 1667202"/>
              <a:gd name="connsiteY154" fmla="*/ 60461 h 593501"/>
              <a:gd name="connsiteX155" fmla="*/ 653542 w 1667202"/>
              <a:gd name="connsiteY155" fmla="*/ 68647 h 593501"/>
              <a:gd name="connsiteX156" fmla="*/ 653169 w 1667202"/>
              <a:gd name="connsiteY156" fmla="*/ 68275 h 593501"/>
              <a:gd name="connsiteX157" fmla="*/ 642007 w 1667202"/>
              <a:gd name="connsiteY157" fmla="*/ 79437 h 593501"/>
              <a:gd name="connsiteX158" fmla="*/ 639031 w 1667202"/>
              <a:gd name="connsiteY158" fmla="*/ 79809 h 593501"/>
              <a:gd name="connsiteX159" fmla="*/ 606661 w 1667202"/>
              <a:gd name="connsiteY159" fmla="*/ 79809 h 593501"/>
              <a:gd name="connsiteX160" fmla="*/ 603684 w 1667202"/>
              <a:gd name="connsiteY160" fmla="*/ 79437 h 593501"/>
              <a:gd name="connsiteX161" fmla="*/ 592894 w 1667202"/>
              <a:gd name="connsiteY161" fmla="*/ 76274 h 593501"/>
              <a:gd name="connsiteX162" fmla="*/ 593080 w 1667202"/>
              <a:gd name="connsiteY162" fmla="*/ 76460 h 593501"/>
              <a:gd name="connsiteX163" fmla="*/ 589918 w 1667202"/>
              <a:gd name="connsiteY163" fmla="*/ 72554 h 593501"/>
              <a:gd name="connsiteX164" fmla="*/ 589359 w 1667202"/>
              <a:gd name="connsiteY164" fmla="*/ 71252 h 593501"/>
              <a:gd name="connsiteX165" fmla="*/ 590476 w 1667202"/>
              <a:gd name="connsiteY165" fmla="*/ 69019 h 593501"/>
              <a:gd name="connsiteX166" fmla="*/ 595871 w 1667202"/>
              <a:gd name="connsiteY166" fmla="*/ 64740 h 593501"/>
              <a:gd name="connsiteX167" fmla="*/ 599963 w 1667202"/>
              <a:gd name="connsiteY167" fmla="*/ 61764 h 593501"/>
              <a:gd name="connsiteX168" fmla="*/ 599777 w 1667202"/>
              <a:gd name="connsiteY168" fmla="*/ 61950 h 593501"/>
              <a:gd name="connsiteX169" fmla="*/ 586755 w 1667202"/>
              <a:gd name="connsiteY169" fmla="*/ 56183 h 593501"/>
              <a:gd name="connsiteX170" fmla="*/ 587127 w 1667202"/>
              <a:gd name="connsiteY170" fmla="*/ 55811 h 593501"/>
              <a:gd name="connsiteX171" fmla="*/ 582662 w 1667202"/>
              <a:gd name="connsiteY171" fmla="*/ 58601 h 593501"/>
              <a:gd name="connsiteX172" fmla="*/ 575779 w 1667202"/>
              <a:gd name="connsiteY172" fmla="*/ 62508 h 593501"/>
              <a:gd name="connsiteX173" fmla="*/ 575965 w 1667202"/>
              <a:gd name="connsiteY173" fmla="*/ 62322 h 593501"/>
              <a:gd name="connsiteX174" fmla="*/ 568710 w 1667202"/>
              <a:gd name="connsiteY174" fmla="*/ 65670 h 593501"/>
              <a:gd name="connsiteX175" fmla="*/ 568896 w 1667202"/>
              <a:gd name="connsiteY175" fmla="*/ 65670 h 593501"/>
              <a:gd name="connsiteX176" fmla="*/ 558292 w 1667202"/>
              <a:gd name="connsiteY176" fmla="*/ 68647 h 593501"/>
              <a:gd name="connsiteX177" fmla="*/ 530386 w 1667202"/>
              <a:gd name="connsiteY177" fmla="*/ 68647 h 593501"/>
              <a:gd name="connsiteX178" fmla="*/ 526666 w 1667202"/>
              <a:gd name="connsiteY178" fmla="*/ 65856 h 593501"/>
              <a:gd name="connsiteX179" fmla="*/ 523131 w 1667202"/>
              <a:gd name="connsiteY179" fmla="*/ 62322 h 593501"/>
              <a:gd name="connsiteX180" fmla="*/ 516062 w 1667202"/>
              <a:gd name="connsiteY180" fmla="*/ 58601 h 593501"/>
              <a:gd name="connsiteX181" fmla="*/ 500063 w 1667202"/>
              <a:gd name="connsiteY181" fmla="*/ 58787 h 593501"/>
              <a:gd name="connsiteX182" fmla="*/ 488714 w 1667202"/>
              <a:gd name="connsiteY182" fmla="*/ 61578 h 593501"/>
              <a:gd name="connsiteX183" fmla="*/ 485552 w 1667202"/>
              <a:gd name="connsiteY183" fmla="*/ 62136 h 593501"/>
              <a:gd name="connsiteX184" fmla="*/ 471227 w 1667202"/>
              <a:gd name="connsiteY184" fmla="*/ 65298 h 593501"/>
              <a:gd name="connsiteX185" fmla="*/ 468437 w 1667202"/>
              <a:gd name="connsiteY185" fmla="*/ 65670 h 593501"/>
              <a:gd name="connsiteX186" fmla="*/ 450205 w 1667202"/>
              <a:gd name="connsiteY186" fmla="*/ 68647 h 593501"/>
              <a:gd name="connsiteX187" fmla="*/ 446670 w 1667202"/>
              <a:gd name="connsiteY187" fmla="*/ 68647 h 593501"/>
              <a:gd name="connsiteX188" fmla="*/ 442392 w 1667202"/>
              <a:gd name="connsiteY188" fmla="*/ 66042 h 593501"/>
              <a:gd name="connsiteX189" fmla="*/ 434950 w 1667202"/>
              <a:gd name="connsiteY189" fmla="*/ 62322 h 593501"/>
              <a:gd name="connsiteX190" fmla="*/ 432718 w 1667202"/>
              <a:gd name="connsiteY190" fmla="*/ 61764 h 593501"/>
              <a:gd name="connsiteX191" fmla="*/ 418765 w 1667202"/>
              <a:gd name="connsiteY191" fmla="*/ 61578 h 593501"/>
              <a:gd name="connsiteX192" fmla="*/ 416347 w 1667202"/>
              <a:gd name="connsiteY192" fmla="*/ 62322 h 593501"/>
              <a:gd name="connsiteX193" fmla="*/ 408719 w 1667202"/>
              <a:gd name="connsiteY193" fmla="*/ 66042 h 593501"/>
              <a:gd name="connsiteX194" fmla="*/ 401650 w 1667202"/>
              <a:gd name="connsiteY194" fmla="*/ 69577 h 593501"/>
              <a:gd name="connsiteX195" fmla="*/ 394209 w 1667202"/>
              <a:gd name="connsiteY195" fmla="*/ 72368 h 593501"/>
              <a:gd name="connsiteX196" fmla="*/ 393278 w 1667202"/>
              <a:gd name="connsiteY196" fmla="*/ 73298 h 593501"/>
              <a:gd name="connsiteX197" fmla="*/ 391976 w 1667202"/>
              <a:gd name="connsiteY197" fmla="*/ 72926 h 593501"/>
              <a:gd name="connsiteX198" fmla="*/ 376535 w 1667202"/>
              <a:gd name="connsiteY198" fmla="*/ 72740 h 593501"/>
              <a:gd name="connsiteX199" fmla="*/ 356071 w 1667202"/>
              <a:gd name="connsiteY199" fmla="*/ 72554 h 593501"/>
              <a:gd name="connsiteX200" fmla="*/ 349188 w 1667202"/>
              <a:gd name="connsiteY200" fmla="*/ 76460 h 593501"/>
              <a:gd name="connsiteX201" fmla="*/ 349374 w 1667202"/>
              <a:gd name="connsiteY201" fmla="*/ 76274 h 593501"/>
              <a:gd name="connsiteX202" fmla="*/ 342677 w 1667202"/>
              <a:gd name="connsiteY202" fmla="*/ 80181 h 593501"/>
              <a:gd name="connsiteX203" fmla="*/ 338584 w 1667202"/>
              <a:gd name="connsiteY203" fmla="*/ 82414 h 593501"/>
              <a:gd name="connsiteX204" fmla="*/ 335979 w 1667202"/>
              <a:gd name="connsiteY204" fmla="*/ 83158 h 593501"/>
              <a:gd name="connsiteX205" fmla="*/ 324631 w 1667202"/>
              <a:gd name="connsiteY205" fmla="*/ 85948 h 593501"/>
              <a:gd name="connsiteX206" fmla="*/ 301377 w 1667202"/>
              <a:gd name="connsiteY206" fmla="*/ 86692 h 593501"/>
              <a:gd name="connsiteX207" fmla="*/ 296540 w 1667202"/>
              <a:gd name="connsiteY207" fmla="*/ 96180 h 593501"/>
              <a:gd name="connsiteX208" fmla="*/ 296168 w 1667202"/>
              <a:gd name="connsiteY208" fmla="*/ 96552 h 593501"/>
              <a:gd name="connsiteX209" fmla="*/ 289657 w 1667202"/>
              <a:gd name="connsiteY209" fmla="*/ 100273 h 593501"/>
              <a:gd name="connsiteX210" fmla="*/ 279053 w 1667202"/>
              <a:gd name="connsiteY210" fmla="*/ 103622 h 593501"/>
              <a:gd name="connsiteX211" fmla="*/ 276448 w 1667202"/>
              <a:gd name="connsiteY211" fmla="*/ 103994 h 593501"/>
              <a:gd name="connsiteX212" fmla="*/ 261565 w 1667202"/>
              <a:gd name="connsiteY212" fmla="*/ 106970 h 593501"/>
              <a:gd name="connsiteX213" fmla="*/ 256356 w 1667202"/>
              <a:gd name="connsiteY213" fmla="*/ 107528 h 593501"/>
              <a:gd name="connsiteX214" fmla="*/ 244636 w 1667202"/>
              <a:gd name="connsiteY214" fmla="*/ 112365 h 593501"/>
              <a:gd name="connsiteX215" fmla="*/ 245008 w 1667202"/>
              <a:gd name="connsiteY215" fmla="*/ 125388 h 593501"/>
              <a:gd name="connsiteX216" fmla="*/ 238125 w 1667202"/>
              <a:gd name="connsiteY216" fmla="*/ 132271 h 593501"/>
              <a:gd name="connsiteX217" fmla="*/ 233660 w 1667202"/>
              <a:gd name="connsiteY217" fmla="*/ 138410 h 593501"/>
              <a:gd name="connsiteX218" fmla="*/ 230125 w 1667202"/>
              <a:gd name="connsiteY218" fmla="*/ 151991 h 593501"/>
              <a:gd name="connsiteX219" fmla="*/ 227707 w 1667202"/>
              <a:gd name="connsiteY219" fmla="*/ 152735 h 593501"/>
              <a:gd name="connsiteX220" fmla="*/ 216545 w 1667202"/>
              <a:gd name="connsiteY220" fmla="*/ 164083 h 593501"/>
              <a:gd name="connsiteX221" fmla="*/ 216359 w 1667202"/>
              <a:gd name="connsiteY221" fmla="*/ 165385 h 593501"/>
              <a:gd name="connsiteX222" fmla="*/ 230125 w 1667202"/>
              <a:gd name="connsiteY222" fmla="*/ 183617 h 593501"/>
              <a:gd name="connsiteX223" fmla="*/ 230870 w 1667202"/>
              <a:gd name="connsiteY223" fmla="*/ 184733 h 593501"/>
              <a:gd name="connsiteX224" fmla="*/ 229939 w 1667202"/>
              <a:gd name="connsiteY224" fmla="*/ 187151 h 593501"/>
              <a:gd name="connsiteX225" fmla="*/ 229753 w 1667202"/>
              <a:gd name="connsiteY225" fmla="*/ 187151 h 593501"/>
              <a:gd name="connsiteX226" fmla="*/ 231614 w 1667202"/>
              <a:gd name="connsiteY226" fmla="*/ 197197 h 593501"/>
              <a:gd name="connsiteX227" fmla="*/ 240357 w 1667202"/>
              <a:gd name="connsiteY227" fmla="*/ 197941 h 593501"/>
              <a:gd name="connsiteX228" fmla="*/ 247613 w 1667202"/>
              <a:gd name="connsiteY228" fmla="*/ 200546 h 593501"/>
              <a:gd name="connsiteX229" fmla="*/ 253752 w 1667202"/>
              <a:gd name="connsiteY229" fmla="*/ 204825 h 593501"/>
              <a:gd name="connsiteX230" fmla="*/ 253938 w 1667202"/>
              <a:gd name="connsiteY230" fmla="*/ 205197 h 593501"/>
              <a:gd name="connsiteX231" fmla="*/ 255426 w 1667202"/>
              <a:gd name="connsiteY231" fmla="*/ 205941 h 593501"/>
              <a:gd name="connsiteX232" fmla="*/ 254124 w 1667202"/>
              <a:gd name="connsiteY232" fmla="*/ 206871 h 593501"/>
              <a:gd name="connsiteX233" fmla="*/ 251147 w 1667202"/>
              <a:gd name="connsiteY233" fmla="*/ 208173 h 593501"/>
              <a:gd name="connsiteX234" fmla="*/ 250961 w 1667202"/>
              <a:gd name="connsiteY234" fmla="*/ 214871 h 593501"/>
              <a:gd name="connsiteX235" fmla="*/ 250961 w 1667202"/>
              <a:gd name="connsiteY235" fmla="*/ 214685 h 593501"/>
              <a:gd name="connsiteX236" fmla="*/ 254124 w 1667202"/>
              <a:gd name="connsiteY236" fmla="*/ 220638 h 593501"/>
              <a:gd name="connsiteX237" fmla="*/ 255426 w 1667202"/>
              <a:gd name="connsiteY237" fmla="*/ 240543 h 593501"/>
              <a:gd name="connsiteX238" fmla="*/ 257287 w 1667202"/>
              <a:gd name="connsiteY238" fmla="*/ 240543 h 593501"/>
              <a:gd name="connsiteX239" fmla="*/ 257287 w 1667202"/>
              <a:gd name="connsiteY239" fmla="*/ 241288 h 593501"/>
              <a:gd name="connsiteX240" fmla="*/ 255426 w 1667202"/>
              <a:gd name="connsiteY240" fmla="*/ 240729 h 593501"/>
              <a:gd name="connsiteX241" fmla="*/ 252450 w 1667202"/>
              <a:gd name="connsiteY241" fmla="*/ 239799 h 593501"/>
              <a:gd name="connsiteX242" fmla="*/ 243520 w 1667202"/>
              <a:gd name="connsiteY242" fmla="*/ 238311 h 593501"/>
              <a:gd name="connsiteX243" fmla="*/ 219335 w 1667202"/>
              <a:gd name="connsiteY243" fmla="*/ 236823 h 593501"/>
              <a:gd name="connsiteX244" fmla="*/ 219521 w 1667202"/>
              <a:gd name="connsiteY244" fmla="*/ 238683 h 593501"/>
              <a:gd name="connsiteX245" fmla="*/ 222126 w 1667202"/>
              <a:gd name="connsiteY245" fmla="*/ 238683 h 593501"/>
              <a:gd name="connsiteX246" fmla="*/ 186779 w 1667202"/>
              <a:gd name="connsiteY246" fmla="*/ 241846 h 593501"/>
              <a:gd name="connsiteX247" fmla="*/ 191058 w 1667202"/>
              <a:gd name="connsiteY247" fmla="*/ 239799 h 593501"/>
              <a:gd name="connsiteX248" fmla="*/ 179524 w 1667202"/>
              <a:gd name="connsiteY248" fmla="*/ 239799 h 593501"/>
              <a:gd name="connsiteX249" fmla="*/ 178036 w 1667202"/>
              <a:gd name="connsiteY249" fmla="*/ 238497 h 593501"/>
              <a:gd name="connsiteX250" fmla="*/ 171338 w 1667202"/>
              <a:gd name="connsiteY250" fmla="*/ 237567 h 593501"/>
              <a:gd name="connsiteX251" fmla="*/ 167060 w 1667202"/>
              <a:gd name="connsiteY251" fmla="*/ 238869 h 593501"/>
              <a:gd name="connsiteX252" fmla="*/ 154967 w 1667202"/>
              <a:gd name="connsiteY252" fmla="*/ 239613 h 593501"/>
              <a:gd name="connsiteX253" fmla="*/ 139154 w 1667202"/>
              <a:gd name="connsiteY253" fmla="*/ 242776 h 593501"/>
              <a:gd name="connsiteX254" fmla="*/ 138410 w 1667202"/>
              <a:gd name="connsiteY254" fmla="*/ 243520 h 593501"/>
              <a:gd name="connsiteX255" fmla="*/ 137480 w 1667202"/>
              <a:gd name="connsiteY255" fmla="*/ 243148 h 593501"/>
              <a:gd name="connsiteX256" fmla="*/ 146782 w 1667202"/>
              <a:gd name="connsiteY256" fmla="*/ 248915 h 593501"/>
              <a:gd name="connsiteX257" fmla="*/ 146596 w 1667202"/>
              <a:gd name="connsiteY257" fmla="*/ 248729 h 593501"/>
              <a:gd name="connsiteX258" fmla="*/ 148456 w 1667202"/>
              <a:gd name="connsiteY258" fmla="*/ 251334 h 593501"/>
              <a:gd name="connsiteX259" fmla="*/ 150502 w 1667202"/>
              <a:gd name="connsiteY259" fmla="*/ 256170 h 593501"/>
              <a:gd name="connsiteX260" fmla="*/ 156456 w 1667202"/>
              <a:gd name="connsiteY260" fmla="*/ 257287 h 593501"/>
              <a:gd name="connsiteX261" fmla="*/ 158688 w 1667202"/>
              <a:gd name="connsiteY261" fmla="*/ 256729 h 593501"/>
              <a:gd name="connsiteX262" fmla="*/ 160734 w 1667202"/>
              <a:gd name="connsiteY262" fmla="*/ 258589 h 593501"/>
              <a:gd name="connsiteX263" fmla="*/ 160920 w 1667202"/>
              <a:gd name="connsiteY263" fmla="*/ 260077 h 593501"/>
              <a:gd name="connsiteX264" fmla="*/ 159618 w 1667202"/>
              <a:gd name="connsiteY264" fmla="*/ 260263 h 593501"/>
              <a:gd name="connsiteX265" fmla="*/ 139154 w 1667202"/>
              <a:gd name="connsiteY265" fmla="*/ 263240 h 593501"/>
              <a:gd name="connsiteX266" fmla="*/ 135620 w 1667202"/>
              <a:gd name="connsiteY266" fmla="*/ 263426 h 593501"/>
              <a:gd name="connsiteX267" fmla="*/ 128736 w 1667202"/>
              <a:gd name="connsiteY267" fmla="*/ 263240 h 593501"/>
              <a:gd name="connsiteX268" fmla="*/ 112551 w 1667202"/>
              <a:gd name="connsiteY268" fmla="*/ 263798 h 593501"/>
              <a:gd name="connsiteX269" fmla="*/ 76460 w 1667202"/>
              <a:gd name="connsiteY269" fmla="*/ 267147 h 593501"/>
              <a:gd name="connsiteX270" fmla="*/ 76646 w 1667202"/>
              <a:gd name="connsiteY270" fmla="*/ 267147 h 593501"/>
              <a:gd name="connsiteX271" fmla="*/ 68089 w 1667202"/>
              <a:gd name="connsiteY271" fmla="*/ 267333 h 593501"/>
              <a:gd name="connsiteX272" fmla="*/ 63996 w 1667202"/>
              <a:gd name="connsiteY272" fmla="*/ 267333 h 593501"/>
              <a:gd name="connsiteX273" fmla="*/ 58973 w 1667202"/>
              <a:gd name="connsiteY273" fmla="*/ 269937 h 593501"/>
              <a:gd name="connsiteX274" fmla="*/ 55438 w 1667202"/>
              <a:gd name="connsiteY274" fmla="*/ 270123 h 593501"/>
              <a:gd name="connsiteX275" fmla="*/ 41486 w 1667202"/>
              <a:gd name="connsiteY275" fmla="*/ 270123 h 593501"/>
              <a:gd name="connsiteX276" fmla="*/ 35719 w 1667202"/>
              <a:gd name="connsiteY276" fmla="*/ 270681 h 593501"/>
              <a:gd name="connsiteX277" fmla="*/ 34417 w 1667202"/>
              <a:gd name="connsiteY277" fmla="*/ 271797 h 593501"/>
              <a:gd name="connsiteX278" fmla="*/ 34230 w 1667202"/>
              <a:gd name="connsiteY278" fmla="*/ 273100 h 593501"/>
              <a:gd name="connsiteX279" fmla="*/ 58043 w 1667202"/>
              <a:gd name="connsiteY279" fmla="*/ 282587 h 593501"/>
              <a:gd name="connsiteX280" fmla="*/ 69019 w 1667202"/>
              <a:gd name="connsiteY280" fmla="*/ 292075 h 593501"/>
              <a:gd name="connsiteX281" fmla="*/ 65856 w 1667202"/>
              <a:gd name="connsiteY281" fmla="*/ 291703 h 593501"/>
              <a:gd name="connsiteX282" fmla="*/ 65856 w 1667202"/>
              <a:gd name="connsiteY282" fmla="*/ 291517 h 593501"/>
              <a:gd name="connsiteX283" fmla="*/ 51532 w 1667202"/>
              <a:gd name="connsiteY283" fmla="*/ 294680 h 593501"/>
              <a:gd name="connsiteX284" fmla="*/ 50974 w 1667202"/>
              <a:gd name="connsiteY284" fmla="*/ 295796 h 593501"/>
              <a:gd name="connsiteX285" fmla="*/ 51904 w 1667202"/>
              <a:gd name="connsiteY285" fmla="*/ 298028 h 593501"/>
              <a:gd name="connsiteX286" fmla="*/ 72554 w 1667202"/>
              <a:gd name="connsiteY286" fmla="*/ 298028 h 593501"/>
              <a:gd name="connsiteX287" fmla="*/ 73112 w 1667202"/>
              <a:gd name="connsiteY287" fmla="*/ 296168 h 593501"/>
              <a:gd name="connsiteX288" fmla="*/ 77391 w 1667202"/>
              <a:gd name="connsiteY288" fmla="*/ 296354 h 593501"/>
              <a:gd name="connsiteX289" fmla="*/ 189570 w 1667202"/>
              <a:gd name="connsiteY289" fmla="*/ 297842 h 593501"/>
              <a:gd name="connsiteX290" fmla="*/ 201476 w 1667202"/>
              <a:gd name="connsiteY290" fmla="*/ 297656 h 593501"/>
              <a:gd name="connsiteX291" fmla="*/ 201848 w 1667202"/>
              <a:gd name="connsiteY291" fmla="*/ 302121 h 593501"/>
              <a:gd name="connsiteX292" fmla="*/ 197941 w 1667202"/>
              <a:gd name="connsiteY292" fmla="*/ 305098 h 593501"/>
              <a:gd name="connsiteX293" fmla="*/ 206127 w 1667202"/>
              <a:gd name="connsiteY293" fmla="*/ 315144 h 593501"/>
              <a:gd name="connsiteX294" fmla="*/ 222126 w 1667202"/>
              <a:gd name="connsiteY294" fmla="*/ 315702 h 593501"/>
              <a:gd name="connsiteX295" fmla="*/ 284820 w 1667202"/>
              <a:gd name="connsiteY295" fmla="*/ 315702 h 593501"/>
              <a:gd name="connsiteX296" fmla="*/ 302307 w 1667202"/>
              <a:gd name="connsiteY296" fmla="*/ 315702 h 593501"/>
              <a:gd name="connsiteX297" fmla="*/ 309563 w 1667202"/>
              <a:gd name="connsiteY297" fmla="*/ 318678 h 593501"/>
              <a:gd name="connsiteX298" fmla="*/ 317562 w 1667202"/>
              <a:gd name="connsiteY298" fmla="*/ 322027 h 593501"/>
              <a:gd name="connsiteX299" fmla="*/ 326864 w 1667202"/>
              <a:gd name="connsiteY299" fmla="*/ 322771 h 593501"/>
              <a:gd name="connsiteX300" fmla="*/ 344351 w 1667202"/>
              <a:gd name="connsiteY300" fmla="*/ 330212 h 593501"/>
              <a:gd name="connsiteX301" fmla="*/ 344723 w 1667202"/>
              <a:gd name="connsiteY301" fmla="*/ 330398 h 593501"/>
              <a:gd name="connsiteX302" fmla="*/ 344537 w 1667202"/>
              <a:gd name="connsiteY302" fmla="*/ 331143 h 593501"/>
              <a:gd name="connsiteX303" fmla="*/ 340816 w 1667202"/>
              <a:gd name="connsiteY303" fmla="*/ 332631 h 593501"/>
              <a:gd name="connsiteX304" fmla="*/ 269565 w 1667202"/>
              <a:gd name="connsiteY304" fmla="*/ 333003 h 593501"/>
              <a:gd name="connsiteX305" fmla="*/ 222126 w 1667202"/>
              <a:gd name="connsiteY305" fmla="*/ 335980 h 593501"/>
              <a:gd name="connsiteX306" fmla="*/ 222498 w 1667202"/>
              <a:gd name="connsiteY306" fmla="*/ 336910 h 593501"/>
              <a:gd name="connsiteX307" fmla="*/ 212266 w 1667202"/>
              <a:gd name="connsiteY307" fmla="*/ 336538 h 593501"/>
              <a:gd name="connsiteX308" fmla="*/ 220638 w 1667202"/>
              <a:gd name="connsiteY308" fmla="*/ 342491 h 593501"/>
              <a:gd name="connsiteX309" fmla="*/ 222126 w 1667202"/>
              <a:gd name="connsiteY309" fmla="*/ 344723 h 593501"/>
              <a:gd name="connsiteX310" fmla="*/ 223800 w 1667202"/>
              <a:gd name="connsiteY310" fmla="*/ 355885 h 593501"/>
              <a:gd name="connsiteX311" fmla="*/ 224358 w 1667202"/>
              <a:gd name="connsiteY311" fmla="*/ 357188 h 593501"/>
              <a:gd name="connsiteX312" fmla="*/ 228637 w 1667202"/>
              <a:gd name="connsiteY312" fmla="*/ 361094 h 593501"/>
              <a:gd name="connsiteX313" fmla="*/ 224358 w 1667202"/>
              <a:gd name="connsiteY313" fmla="*/ 365001 h 593501"/>
              <a:gd name="connsiteX314" fmla="*/ 221010 w 1667202"/>
              <a:gd name="connsiteY314" fmla="*/ 368722 h 593501"/>
              <a:gd name="connsiteX315" fmla="*/ 208731 w 1667202"/>
              <a:gd name="connsiteY315" fmla="*/ 376721 h 593501"/>
              <a:gd name="connsiteX316" fmla="*/ 181570 w 1667202"/>
              <a:gd name="connsiteY316" fmla="*/ 376907 h 593501"/>
              <a:gd name="connsiteX317" fmla="*/ 180082 w 1667202"/>
              <a:gd name="connsiteY317" fmla="*/ 378582 h 593501"/>
              <a:gd name="connsiteX318" fmla="*/ 176919 w 1667202"/>
              <a:gd name="connsiteY318" fmla="*/ 377651 h 593501"/>
              <a:gd name="connsiteX319" fmla="*/ 173571 w 1667202"/>
              <a:gd name="connsiteY319" fmla="*/ 378396 h 593501"/>
              <a:gd name="connsiteX320" fmla="*/ 178222 w 1667202"/>
              <a:gd name="connsiteY320" fmla="*/ 384721 h 593501"/>
              <a:gd name="connsiteX321" fmla="*/ 184175 w 1667202"/>
              <a:gd name="connsiteY321" fmla="*/ 384721 h 593501"/>
              <a:gd name="connsiteX322" fmla="*/ 183803 w 1667202"/>
              <a:gd name="connsiteY322" fmla="*/ 385837 h 593501"/>
              <a:gd name="connsiteX323" fmla="*/ 188082 w 1667202"/>
              <a:gd name="connsiteY323" fmla="*/ 388255 h 593501"/>
              <a:gd name="connsiteX324" fmla="*/ 194035 w 1667202"/>
              <a:gd name="connsiteY324" fmla="*/ 392534 h 593501"/>
              <a:gd name="connsiteX325" fmla="*/ 194221 w 1667202"/>
              <a:gd name="connsiteY325" fmla="*/ 392720 h 593501"/>
              <a:gd name="connsiteX326" fmla="*/ 191802 w 1667202"/>
              <a:gd name="connsiteY326" fmla="*/ 400162 h 593501"/>
              <a:gd name="connsiteX327" fmla="*/ 187896 w 1667202"/>
              <a:gd name="connsiteY327" fmla="*/ 403696 h 593501"/>
              <a:gd name="connsiteX328" fmla="*/ 188268 w 1667202"/>
              <a:gd name="connsiteY328" fmla="*/ 403324 h 593501"/>
              <a:gd name="connsiteX329" fmla="*/ 192360 w 1667202"/>
              <a:gd name="connsiteY329" fmla="*/ 419881 h 593501"/>
              <a:gd name="connsiteX330" fmla="*/ 201290 w 1667202"/>
              <a:gd name="connsiteY330" fmla="*/ 420440 h 593501"/>
              <a:gd name="connsiteX331" fmla="*/ 239613 w 1667202"/>
              <a:gd name="connsiteY331" fmla="*/ 423788 h 593501"/>
              <a:gd name="connsiteX332" fmla="*/ 243148 w 1667202"/>
              <a:gd name="connsiteY332" fmla="*/ 423974 h 593501"/>
              <a:gd name="connsiteX333" fmla="*/ 247427 w 1667202"/>
              <a:gd name="connsiteY333" fmla="*/ 426765 h 593501"/>
              <a:gd name="connsiteX334" fmla="*/ 243148 w 1667202"/>
              <a:gd name="connsiteY334" fmla="*/ 430485 h 593501"/>
              <a:gd name="connsiteX335" fmla="*/ 208918 w 1667202"/>
              <a:gd name="connsiteY335" fmla="*/ 430857 h 593501"/>
              <a:gd name="connsiteX336" fmla="*/ 207429 w 1667202"/>
              <a:gd name="connsiteY336" fmla="*/ 432532 h 593501"/>
              <a:gd name="connsiteX337" fmla="*/ 198500 w 1667202"/>
              <a:gd name="connsiteY337" fmla="*/ 432532 h 593501"/>
              <a:gd name="connsiteX338" fmla="*/ 196639 w 1667202"/>
              <a:gd name="connsiteY338" fmla="*/ 431230 h 593501"/>
              <a:gd name="connsiteX339" fmla="*/ 153107 w 1667202"/>
              <a:gd name="connsiteY339" fmla="*/ 430857 h 593501"/>
              <a:gd name="connsiteX340" fmla="*/ 146224 w 1667202"/>
              <a:gd name="connsiteY340" fmla="*/ 433834 h 593501"/>
              <a:gd name="connsiteX341" fmla="*/ 113854 w 1667202"/>
              <a:gd name="connsiteY341" fmla="*/ 431043 h 593501"/>
              <a:gd name="connsiteX342" fmla="*/ 103994 w 1667202"/>
              <a:gd name="connsiteY342" fmla="*/ 430113 h 593501"/>
              <a:gd name="connsiteX343" fmla="*/ 91901 w 1667202"/>
              <a:gd name="connsiteY343" fmla="*/ 429183 h 593501"/>
              <a:gd name="connsiteX344" fmla="*/ 89855 w 1667202"/>
              <a:gd name="connsiteY344" fmla="*/ 430485 h 593501"/>
              <a:gd name="connsiteX345" fmla="*/ 86878 w 1667202"/>
              <a:gd name="connsiteY345" fmla="*/ 430113 h 593501"/>
              <a:gd name="connsiteX346" fmla="*/ 76646 w 1667202"/>
              <a:gd name="connsiteY346" fmla="*/ 430857 h 593501"/>
              <a:gd name="connsiteX347" fmla="*/ 72740 w 1667202"/>
              <a:gd name="connsiteY347" fmla="*/ 430671 h 593501"/>
              <a:gd name="connsiteX348" fmla="*/ 69577 w 1667202"/>
              <a:gd name="connsiteY348" fmla="*/ 430671 h 593501"/>
              <a:gd name="connsiteX349" fmla="*/ 65112 w 1667202"/>
              <a:gd name="connsiteY349" fmla="*/ 430857 h 593501"/>
              <a:gd name="connsiteX350" fmla="*/ 63252 w 1667202"/>
              <a:gd name="connsiteY350" fmla="*/ 430857 h 593501"/>
              <a:gd name="connsiteX351" fmla="*/ 59903 w 1667202"/>
              <a:gd name="connsiteY351" fmla="*/ 432160 h 593501"/>
              <a:gd name="connsiteX352" fmla="*/ 58973 w 1667202"/>
              <a:gd name="connsiteY352" fmla="*/ 430485 h 593501"/>
              <a:gd name="connsiteX353" fmla="*/ 41858 w 1667202"/>
              <a:gd name="connsiteY353" fmla="*/ 430671 h 593501"/>
              <a:gd name="connsiteX354" fmla="*/ 45021 w 1667202"/>
              <a:gd name="connsiteY354" fmla="*/ 437555 h 593501"/>
              <a:gd name="connsiteX355" fmla="*/ 52090 w 1667202"/>
              <a:gd name="connsiteY355" fmla="*/ 438113 h 593501"/>
              <a:gd name="connsiteX356" fmla="*/ 55252 w 1667202"/>
              <a:gd name="connsiteY356" fmla="*/ 437741 h 593501"/>
              <a:gd name="connsiteX357" fmla="*/ 57671 w 1667202"/>
              <a:gd name="connsiteY357" fmla="*/ 439229 h 593501"/>
              <a:gd name="connsiteX358" fmla="*/ 81297 w 1667202"/>
              <a:gd name="connsiteY358" fmla="*/ 440717 h 593501"/>
              <a:gd name="connsiteX359" fmla="*/ 86320 w 1667202"/>
              <a:gd name="connsiteY359" fmla="*/ 441089 h 593501"/>
              <a:gd name="connsiteX360" fmla="*/ 87809 w 1667202"/>
              <a:gd name="connsiteY360" fmla="*/ 438299 h 593501"/>
              <a:gd name="connsiteX361" fmla="*/ 88181 w 1667202"/>
              <a:gd name="connsiteY361" fmla="*/ 438299 h 593501"/>
              <a:gd name="connsiteX362" fmla="*/ 90227 w 1667202"/>
              <a:gd name="connsiteY362" fmla="*/ 441089 h 593501"/>
              <a:gd name="connsiteX363" fmla="*/ 95250 w 1667202"/>
              <a:gd name="connsiteY363" fmla="*/ 444252 h 593501"/>
              <a:gd name="connsiteX364" fmla="*/ 95622 w 1667202"/>
              <a:gd name="connsiteY364" fmla="*/ 444252 h 593501"/>
              <a:gd name="connsiteX365" fmla="*/ 125574 w 1667202"/>
              <a:gd name="connsiteY365" fmla="*/ 444252 h 593501"/>
              <a:gd name="connsiteX366" fmla="*/ 125202 w 1667202"/>
              <a:gd name="connsiteY366" fmla="*/ 443880 h 593501"/>
              <a:gd name="connsiteX367" fmla="*/ 145666 w 1667202"/>
              <a:gd name="connsiteY367" fmla="*/ 445368 h 593501"/>
              <a:gd name="connsiteX368" fmla="*/ 145666 w 1667202"/>
              <a:gd name="connsiteY368" fmla="*/ 445554 h 593501"/>
              <a:gd name="connsiteX369" fmla="*/ 144921 w 1667202"/>
              <a:gd name="connsiteY369" fmla="*/ 446484 h 593501"/>
              <a:gd name="connsiteX370" fmla="*/ 146038 w 1667202"/>
              <a:gd name="connsiteY370" fmla="*/ 447973 h 593501"/>
              <a:gd name="connsiteX371" fmla="*/ 166874 w 1667202"/>
              <a:gd name="connsiteY371" fmla="*/ 447787 h 593501"/>
              <a:gd name="connsiteX372" fmla="*/ 167804 w 1667202"/>
              <a:gd name="connsiteY372" fmla="*/ 447043 h 593501"/>
              <a:gd name="connsiteX373" fmla="*/ 189942 w 1667202"/>
              <a:gd name="connsiteY373" fmla="*/ 452066 h 593501"/>
              <a:gd name="connsiteX374" fmla="*/ 191244 w 1667202"/>
              <a:gd name="connsiteY374" fmla="*/ 452251 h 593501"/>
              <a:gd name="connsiteX375" fmla="*/ 191244 w 1667202"/>
              <a:gd name="connsiteY375" fmla="*/ 452624 h 593501"/>
              <a:gd name="connsiteX376" fmla="*/ 188640 w 1667202"/>
              <a:gd name="connsiteY376" fmla="*/ 452066 h 593501"/>
              <a:gd name="connsiteX377" fmla="*/ 137294 w 1667202"/>
              <a:gd name="connsiteY377" fmla="*/ 455228 h 593501"/>
              <a:gd name="connsiteX378" fmla="*/ 134131 w 1667202"/>
              <a:gd name="connsiteY378" fmla="*/ 457088 h 593501"/>
              <a:gd name="connsiteX379" fmla="*/ 128178 w 1667202"/>
              <a:gd name="connsiteY379" fmla="*/ 455228 h 593501"/>
              <a:gd name="connsiteX380" fmla="*/ 125388 w 1667202"/>
              <a:gd name="connsiteY380" fmla="*/ 453554 h 593501"/>
              <a:gd name="connsiteX381" fmla="*/ 117946 w 1667202"/>
              <a:gd name="connsiteY381" fmla="*/ 453554 h 593501"/>
              <a:gd name="connsiteX382" fmla="*/ 114970 w 1667202"/>
              <a:gd name="connsiteY382" fmla="*/ 455042 h 593501"/>
              <a:gd name="connsiteX383" fmla="*/ 107528 w 1667202"/>
              <a:gd name="connsiteY383" fmla="*/ 454670 h 593501"/>
              <a:gd name="connsiteX384" fmla="*/ 104180 w 1667202"/>
              <a:gd name="connsiteY384" fmla="*/ 453740 h 593501"/>
              <a:gd name="connsiteX385" fmla="*/ 97668 w 1667202"/>
              <a:gd name="connsiteY385" fmla="*/ 455414 h 593501"/>
              <a:gd name="connsiteX386" fmla="*/ 104366 w 1667202"/>
              <a:gd name="connsiteY386" fmla="*/ 462297 h 593501"/>
              <a:gd name="connsiteX387" fmla="*/ 127806 w 1667202"/>
              <a:gd name="connsiteY387" fmla="*/ 464530 h 593501"/>
              <a:gd name="connsiteX388" fmla="*/ 126690 w 1667202"/>
              <a:gd name="connsiteY388" fmla="*/ 467878 h 593501"/>
              <a:gd name="connsiteX389" fmla="*/ 132271 w 1667202"/>
              <a:gd name="connsiteY389" fmla="*/ 468623 h 593501"/>
              <a:gd name="connsiteX390" fmla="*/ 138968 w 1667202"/>
              <a:gd name="connsiteY390" fmla="*/ 464158 h 593501"/>
              <a:gd name="connsiteX391" fmla="*/ 139526 w 1667202"/>
              <a:gd name="connsiteY391" fmla="*/ 464530 h 593501"/>
              <a:gd name="connsiteX392" fmla="*/ 147340 w 1667202"/>
              <a:gd name="connsiteY392" fmla="*/ 466018 h 593501"/>
              <a:gd name="connsiteX393" fmla="*/ 165757 w 1667202"/>
              <a:gd name="connsiteY393" fmla="*/ 470297 h 593501"/>
              <a:gd name="connsiteX394" fmla="*/ 170408 w 1667202"/>
              <a:gd name="connsiteY394" fmla="*/ 468064 h 593501"/>
              <a:gd name="connsiteX395" fmla="*/ 173757 w 1667202"/>
              <a:gd name="connsiteY395" fmla="*/ 471971 h 593501"/>
              <a:gd name="connsiteX396" fmla="*/ 173943 w 1667202"/>
              <a:gd name="connsiteY396" fmla="*/ 472157 h 593501"/>
              <a:gd name="connsiteX397" fmla="*/ 184919 w 1667202"/>
              <a:gd name="connsiteY397" fmla="*/ 474762 h 593501"/>
              <a:gd name="connsiteX398" fmla="*/ 184361 w 1667202"/>
              <a:gd name="connsiteY398" fmla="*/ 468995 h 593501"/>
              <a:gd name="connsiteX399" fmla="*/ 186407 w 1667202"/>
              <a:gd name="connsiteY399" fmla="*/ 474576 h 593501"/>
              <a:gd name="connsiteX400" fmla="*/ 206685 w 1667202"/>
              <a:gd name="connsiteY400" fmla="*/ 478482 h 593501"/>
              <a:gd name="connsiteX401" fmla="*/ 207987 w 1667202"/>
              <a:gd name="connsiteY401" fmla="*/ 478110 h 593501"/>
              <a:gd name="connsiteX402" fmla="*/ 209104 w 1667202"/>
              <a:gd name="connsiteY402" fmla="*/ 478854 h 593501"/>
              <a:gd name="connsiteX403" fmla="*/ 216173 w 1667202"/>
              <a:gd name="connsiteY403" fmla="*/ 478854 h 593501"/>
              <a:gd name="connsiteX404" fmla="*/ 216359 w 1667202"/>
              <a:gd name="connsiteY404" fmla="*/ 478854 h 593501"/>
              <a:gd name="connsiteX405" fmla="*/ 227707 w 1667202"/>
              <a:gd name="connsiteY405" fmla="*/ 478482 h 593501"/>
              <a:gd name="connsiteX406" fmla="*/ 230312 w 1667202"/>
              <a:gd name="connsiteY406" fmla="*/ 479599 h 593501"/>
              <a:gd name="connsiteX407" fmla="*/ 255240 w 1667202"/>
              <a:gd name="connsiteY407" fmla="*/ 479413 h 593501"/>
              <a:gd name="connsiteX408" fmla="*/ 257287 w 1667202"/>
              <a:gd name="connsiteY408" fmla="*/ 479599 h 593501"/>
              <a:gd name="connsiteX409" fmla="*/ 269751 w 1667202"/>
              <a:gd name="connsiteY409" fmla="*/ 481831 h 593501"/>
              <a:gd name="connsiteX410" fmla="*/ 270681 w 1667202"/>
              <a:gd name="connsiteY410" fmla="*/ 481831 h 593501"/>
              <a:gd name="connsiteX411" fmla="*/ 290029 w 1667202"/>
              <a:gd name="connsiteY411" fmla="*/ 482017 h 593501"/>
              <a:gd name="connsiteX412" fmla="*/ 291517 w 1667202"/>
              <a:gd name="connsiteY412" fmla="*/ 481645 h 593501"/>
              <a:gd name="connsiteX413" fmla="*/ 292819 w 1667202"/>
              <a:gd name="connsiteY413" fmla="*/ 482575 h 593501"/>
              <a:gd name="connsiteX414" fmla="*/ 299889 w 1667202"/>
              <a:gd name="connsiteY414" fmla="*/ 482389 h 593501"/>
              <a:gd name="connsiteX415" fmla="*/ 300075 w 1667202"/>
              <a:gd name="connsiteY415" fmla="*/ 482389 h 593501"/>
              <a:gd name="connsiteX416" fmla="*/ 305098 w 1667202"/>
              <a:gd name="connsiteY416" fmla="*/ 481831 h 593501"/>
              <a:gd name="connsiteX417" fmla="*/ 310307 w 1667202"/>
              <a:gd name="connsiteY417" fmla="*/ 482203 h 593501"/>
              <a:gd name="connsiteX418" fmla="*/ 320725 w 1667202"/>
              <a:gd name="connsiteY418" fmla="*/ 482389 h 593501"/>
              <a:gd name="connsiteX419" fmla="*/ 338212 w 1667202"/>
              <a:gd name="connsiteY419" fmla="*/ 482761 h 593501"/>
              <a:gd name="connsiteX420" fmla="*/ 345095 w 1667202"/>
              <a:gd name="connsiteY420" fmla="*/ 482575 h 593501"/>
              <a:gd name="connsiteX421" fmla="*/ 350304 w 1667202"/>
              <a:gd name="connsiteY421" fmla="*/ 481831 h 593501"/>
              <a:gd name="connsiteX422" fmla="*/ 360164 w 1667202"/>
              <a:gd name="connsiteY422" fmla="*/ 482017 h 593501"/>
              <a:gd name="connsiteX423" fmla="*/ 369466 w 1667202"/>
              <a:gd name="connsiteY423" fmla="*/ 482575 h 593501"/>
              <a:gd name="connsiteX424" fmla="*/ 383232 w 1667202"/>
              <a:gd name="connsiteY424" fmla="*/ 482761 h 593501"/>
              <a:gd name="connsiteX425" fmla="*/ 397185 w 1667202"/>
              <a:gd name="connsiteY425" fmla="*/ 482575 h 593501"/>
              <a:gd name="connsiteX426" fmla="*/ 407231 w 1667202"/>
              <a:gd name="connsiteY426" fmla="*/ 481831 h 593501"/>
              <a:gd name="connsiteX427" fmla="*/ 411882 w 1667202"/>
              <a:gd name="connsiteY427" fmla="*/ 481645 h 593501"/>
              <a:gd name="connsiteX428" fmla="*/ 411510 w 1667202"/>
              <a:gd name="connsiteY428" fmla="*/ 481459 h 593501"/>
              <a:gd name="connsiteX429" fmla="*/ 442392 w 1667202"/>
              <a:gd name="connsiteY429" fmla="*/ 482389 h 593501"/>
              <a:gd name="connsiteX430" fmla="*/ 445926 w 1667202"/>
              <a:gd name="connsiteY430" fmla="*/ 482575 h 593501"/>
              <a:gd name="connsiteX431" fmla="*/ 480715 w 1667202"/>
              <a:gd name="connsiteY431" fmla="*/ 482947 h 593501"/>
              <a:gd name="connsiteX432" fmla="*/ 484250 w 1667202"/>
              <a:gd name="connsiteY432" fmla="*/ 482761 h 593501"/>
              <a:gd name="connsiteX433" fmla="*/ 505085 w 1667202"/>
              <a:gd name="connsiteY433" fmla="*/ 482947 h 593501"/>
              <a:gd name="connsiteX434" fmla="*/ 528712 w 1667202"/>
              <a:gd name="connsiteY434" fmla="*/ 482389 h 593501"/>
              <a:gd name="connsiteX435" fmla="*/ 538200 w 1667202"/>
              <a:gd name="connsiteY435" fmla="*/ 482203 h 593501"/>
              <a:gd name="connsiteX436" fmla="*/ 550850 w 1667202"/>
              <a:gd name="connsiteY436" fmla="*/ 482017 h 593501"/>
              <a:gd name="connsiteX437" fmla="*/ 553641 w 1667202"/>
              <a:gd name="connsiteY437" fmla="*/ 486110 h 593501"/>
              <a:gd name="connsiteX438" fmla="*/ 551222 w 1667202"/>
              <a:gd name="connsiteY438" fmla="*/ 493365 h 593501"/>
              <a:gd name="connsiteX439" fmla="*/ 538200 w 1667202"/>
              <a:gd name="connsiteY439" fmla="*/ 493365 h 593501"/>
              <a:gd name="connsiteX440" fmla="*/ 501551 w 1667202"/>
              <a:gd name="connsiteY440" fmla="*/ 496156 h 593501"/>
              <a:gd name="connsiteX441" fmla="*/ 475692 w 1667202"/>
              <a:gd name="connsiteY441" fmla="*/ 496714 h 593501"/>
              <a:gd name="connsiteX442" fmla="*/ 431974 w 1667202"/>
              <a:gd name="connsiteY442" fmla="*/ 499690 h 593501"/>
              <a:gd name="connsiteX443" fmla="*/ 402580 w 1667202"/>
              <a:gd name="connsiteY443" fmla="*/ 500249 h 593501"/>
              <a:gd name="connsiteX444" fmla="*/ 355327 w 1667202"/>
              <a:gd name="connsiteY444" fmla="*/ 503039 h 593501"/>
              <a:gd name="connsiteX445" fmla="*/ 311981 w 1667202"/>
              <a:gd name="connsiteY445" fmla="*/ 503597 h 593501"/>
              <a:gd name="connsiteX446" fmla="*/ 291517 w 1667202"/>
              <a:gd name="connsiteY446" fmla="*/ 505086 h 593501"/>
              <a:gd name="connsiteX447" fmla="*/ 215987 w 1667202"/>
              <a:gd name="connsiteY447" fmla="*/ 506388 h 593501"/>
              <a:gd name="connsiteX448" fmla="*/ 202034 w 1667202"/>
              <a:gd name="connsiteY448" fmla="*/ 506574 h 593501"/>
              <a:gd name="connsiteX449" fmla="*/ 147898 w 1667202"/>
              <a:gd name="connsiteY449" fmla="*/ 503783 h 593501"/>
              <a:gd name="connsiteX450" fmla="*/ 101017 w 1667202"/>
              <a:gd name="connsiteY450" fmla="*/ 503225 h 593501"/>
              <a:gd name="connsiteX451" fmla="*/ 36463 w 1667202"/>
              <a:gd name="connsiteY451" fmla="*/ 500435 h 593501"/>
              <a:gd name="connsiteX452" fmla="*/ 21766 w 1667202"/>
              <a:gd name="connsiteY452" fmla="*/ 500435 h 593501"/>
              <a:gd name="connsiteX453" fmla="*/ 13581 w 1667202"/>
              <a:gd name="connsiteY453" fmla="*/ 503783 h 593501"/>
              <a:gd name="connsiteX454" fmla="*/ 0 w 1667202"/>
              <a:gd name="connsiteY454" fmla="*/ 507132 h 593501"/>
              <a:gd name="connsiteX455" fmla="*/ 13395 w 1667202"/>
              <a:gd name="connsiteY455" fmla="*/ 506946 h 593501"/>
              <a:gd name="connsiteX456" fmla="*/ 15813 w 1667202"/>
              <a:gd name="connsiteY456" fmla="*/ 508806 h 593501"/>
              <a:gd name="connsiteX457" fmla="*/ 63438 w 1667202"/>
              <a:gd name="connsiteY457" fmla="*/ 522201 h 593501"/>
              <a:gd name="connsiteX458" fmla="*/ 63810 w 1667202"/>
              <a:gd name="connsiteY458" fmla="*/ 522201 h 593501"/>
              <a:gd name="connsiteX459" fmla="*/ 62880 w 1667202"/>
              <a:gd name="connsiteY459" fmla="*/ 524805 h 593501"/>
              <a:gd name="connsiteX460" fmla="*/ 62136 w 1667202"/>
              <a:gd name="connsiteY460" fmla="*/ 524433 h 593501"/>
              <a:gd name="connsiteX461" fmla="*/ 63438 w 1667202"/>
              <a:gd name="connsiteY461" fmla="*/ 531502 h 593501"/>
              <a:gd name="connsiteX462" fmla="*/ 78879 w 1667202"/>
              <a:gd name="connsiteY462" fmla="*/ 531130 h 593501"/>
              <a:gd name="connsiteX463" fmla="*/ 80739 w 1667202"/>
              <a:gd name="connsiteY463" fmla="*/ 533363 h 593501"/>
              <a:gd name="connsiteX464" fmla="*/ 87437 w 1667202"/>
              <a:gd name="connsiteY464" fmla="*/ 535409 h 593501"/>
              <a:gd name="connsiteX465" fmla="*/ 86320 w 1667202"/>
              <a:gd name="connsiteY465" fmla="*/ 538014 h 593501"/>
              <a:gd name="connsiteX466" fmla="*/ 76833 w 1667202"/>
              <a:gd name="connsiteY466" fmla="*/ 541920 h 593501"/>
              <a:gd name="connsiteX467" fmla="*/ 80367 w 1667202"/>
              <a:gd name="connsiteY467" fmla="*/ 544897 h 593501"/>
              <a:gd name="connsiteX468" fmla="*/ 88739 w 1667202"/>
              <a:gd name="connsiteY468" fmla="*/ 542851 h 593501"/>
              <a:gd name="connsiteX469" fmla="*/ 88739 w 1667202"/>
              <a:gd name="connsiteY469" fmla="*/ 542665 h 593501"/>
              <a:gd name="connsiteX470" fmla="*/ 90599 w 1667202"/>
              <a:gd name="connsiteY470" fmla="*/ 541734 h 593501"/>
              <a:gd name="connsiteX471" fmla="*/ 92273 w 1667202"/>
              <a:gd name="connsiteY471" fmla="*/ 541734 h 593501"/>
              <a:gd name="connsiteX472" fmla="*/ 93948 w 1667202"/>
              <a:gd name="connsiteY472" fmla="*/ 541548 h 593501"/>
              <a:gd name="connsiteX473" fmla="*/ 97855 w 1667202"/>
              <a:gd name="connsiteY473" fmla="*/ 539316 h 593501"/>
              <a:gd name="connsiteX474" fmla="*/ 98041 w 1667202"/>
              <a:gd name="connsiteY474" fmla="*/ 536153 h 593501"/>
              <a:gd name="connsiteX475" fmla="*/ 98785 w 1667202"/>
              <a:gd name="connsiteY475" fmla="*/ 536153 h 593501"/>
              <a:gd name="connsiteX476" fmla="*/ 109203 w 1667202"/>
              <a:gd name="connsiteY476" fmla="*/ 538014 h 593501"/>
              <a:gd name="connsiteX477" fmla="*/ 106784 w 1667202"/>
              <a:gd name="connsiteY477" fmla="*/ 544897 h 593501"/>
              <a:gd name="connsiteX478" fmla="*/ 109017 w 1667202"/>
              <a:gd name="connsiteY478" fmla="*/ 548432 h 593501"/>
              <a:gd name="connsiteX479" fmla="*/ 122969 w 1667202"/>
              <a:gd name="connsiteY479" fmla="*/ 547874 h 593501"/>
              <a:gd name="connsiteX480" fmla="*/ 125760 w 1667202"/>
              <a:gd name="connsiteY480" fmla="*/ 548804 h 593501"/>
              <a:gd name="connsiteX481" fmla="*/ 151991 w 1667202"/>
              <a:gd name="connsiteY481" fmla="*/ 551780 h 593501"/>
              <a:gd name="connsiteX482" fmla="*/ 171152 w 1667202"/>
              <a:gd name="connsiteY482" fmla="*/ 551780 h 593501"/>
              <a:gd name="connsiteX483" fmla="*/ 184919 w 1667202"/>
              <a:gd name="connsiteY483" fmla="*/ 552338 h 593501"/>
              <a:gd name="connsiteX484" fmla="*/ 188454 w 1667202"/>
              <a:gd name="connsiteY484" fmla="*/ 551780 h 593501"/>
              <a:gd name="connsiteX485" fmla="*/ 233846 w 1667202"/>
              <a:gd name="connsiteY485" fmla="*/ 552152 h 593501"/>
              <a:gd name="connsiteX486" fmla="*/ 240916 w 1667202"/>
              <a:gd name="connsiteY486" fmla="*/ 552152 h 593501"/>
              <a:gd name="connsiteX487" fmla="*/ 286122 w 1667202"/>
              <a:gd name="connsiteY487" fmla="*/ 552152 h 593501"/>
              <a:gd name="connsiteX488" fmla="*/ 329468 w 1667202"/>
              <a:gd name="connsiteY488" fmla="*/ 551780 h 593501"/>
              <a:gd name="connsiteX489" fmla="*/ 390674 w 1667202"/>
              <a:gd name="connsiteY489" fmla="*/ 548804 h 593501"/>
              <a:gd name="connsiteX490" fmla="*/ 420067 w 1667202"/>
              <a:gd name="connsiteY490" fmla="*/ 548246 h 593501"/>
              <a:gd name="connsiteX491" fmla="*/ 456902 w 1667202"/>
              <a:gd name="connsiteY491" fmla="*/ 545269 h 593501"/>
              <a:gd name="connsiteX492" fmla="*/ 473459 w 1667202"/>
              <a:gd name="connsiteY492" fmla="*/ 544711 h 593501"/>
              <a:gd name="connsiteX493" fmla="*/ 498760 w 1667202"/>
              <a:gd name="connsiteY493" fmla="*/ 541920 h 593501"/>
              <a:gd name="connsiteX494" fmla="*/ 511783 w 1667202"/>
              <a:gd name="connsiteY494" fmla="*/ 541176 h 593501"/>
              <a:gd name="connsiteX495" fmla="*/ 533549 w 1667202"/>
              <a:gd name="connsiteY495" fmla="*/ 538200 h 593501"/>
              <a:gd name="connsiteX496" fmla="*/ 542665 w 1667202"/>
              <a:gd name="connsiteY496" fmla="*/ 537456 h 593501"/>
              <a:gd name="connsiteX497" fmla="*/ 557919 w 1667202"/>
              <a:gd name="connsiteY497" fmla="*/ 534851 h 593501"/>
              <a:gd name="connsiteX498" fmla="*/ 564431 w 1667202"/>
              <a:gd name="connsiteY498" fmla="*/ 534293 h 593501"/>
              <a:gd name="connsiteX499" fmla="*/ 575407 w 1667202"/>
              <a:gd name="connsiteY499" fmla="*/ 531316 h 593501"/>
              <a:gd name="connsiteX500" fmla="*/ 576709 w 1667202"/>
              <a:gd name="connsiteY500" fmla="*/ 530386 h 593501"/>
              <a:gd name="connsiteX501" fmla="*/ 578383 w 1667202"/>
              <a:gd name="connsiteY501" fmla="*/ 530758 h 593501"/>
              <a:gd name="connsiteX502" fmla="*/ 589359 w 1667202"/>
              <a:gd name="connsiteY502" fmla="*/ 527782 h 593501"/>
              <a:gd name="connsiteX503" fmla="*/ 590848 w 1667202"/>
              <a:gd name="connsiteY503" fmla="*/ 526852 h 593501"/>
              <a:gd name="connsiteX504" fmla="*/ 592522 w 1667202"/>
              <a:gd name="connsiteY504" fmla="*/ 527224 h 593501"/>
              <a:gd name="connsiteX505" fmla="*/ 606847 w 1667202"/>
              <a:gd name="connsiteY505" fmla="*/ 524061 h 593501"/>
              <a:gd name="connsiteX506" fmla="*/ 610381 w 1667202"/>
              <a:gd name="connsiteY506" fmla="*/ 524247 h 593501"/>
              <a:gd name="connsiteX507" fmla="*/ 614288 w 1667202"/>
              <a:gd name="connsiteY507" fmla="*/ 526666 h 593501"/>
              <a:gd name="connsiteX508" fmla="*/ 617823 w 1667202"/>
              <a:gd name="connsiteY508" fmla="*/ 530386 h 593501"/>
              <a:gd name="connsiteX509" fmla="*/ 621357 w 1667202"/>
              <a:gd name="connsiteY509" fmla="*/ 537270 h 593501"/>
              <a:gd name="connsiteX510" fmla="*/ 625078 w 1667202"/>
              <a:gd name="connsiteY510" fmla="*/ 540804 h 593501"/>
              <a:gd name="connsiteX511" fmla="*/ 630101 w 1667202"/>
              <a:gd name="connsiteY511" fmla="*/ 540618 h 593501"/>
              <a:gd name="connsiteX512" fmla="*/ 637915 w 1667202"/>
              <a:gd name="connsiteY512" fmla="*/ 537083 h 593501"/>
              <a:gd name="connsiteX513" fmla="*/ 656518 w 1667202"/>
              <a:gd name="connsiteY513" fmla="*/ 547315 h 593501"/>
              <a:gd name="connsiteX514" fmla="*/ 656146 w 1667202"/>
              <a:gd name="connsiteY514" fmla="*/ 546943 h 593501"/>
              <a:gd name="connsiteX515" fmla="*/ 659495 w 1667202"/>
              <a:gd name="connsiteY515" fmla="*/ 550850 h 593501"/>
              <a:gd name="connsiteX516" fmla="*/ 666006 w 1667202"/>
              <a:gd name="connsiteY516" fmla="*/ 554943 h 593501"/>
              <a:gd name="connsiteX517" fmla="*/ 673819 w 1667202"/>
              <a:gd name="connsiteY517" fmla="*/ 558106 h 593501"/>
              <a:gd name="connsiteX518" fmla="*/ 679586 w 1667202"/>
              <a:gd name="connsiteY518" fmla="*/ 558292 h 593501"/>
              <a:gd name="connsiteX519" fmla="*/ 690190 w 1667202"/>
              <a:gd name="connsiteY519" fmla="*/ 554757 h 593501"/>
              <a:gd name="connsiteX520" fmla="*/ 690004 w 1667202"/>
              <a:gd name="connsiteY520" fmla="*/ 554757 h 593501"/>
              <a:gd name="connsiteX521" fmla="*/ 698562 w 1667202"/>
              <a:gd name="connsiteY521" fmla="*/ 554571 h 593501"/>
              <a:gd name="connsiteX522" fmla="*/ 699864 w 1667202"/>
              <a:gd name="connsiteY522" fmla="*/ 554199 h 593501"/>
              <a:gd name="connsiteX523" fmla="*/ 700794 w 1667202"/>
              <a:gd name="connsiteY523" fmla="*/ 555129 h 593501"/>
              <a:gd name="connsiteX524" fmla="*/ 705073 w 1667202"/>
              <a:gd name="connsiteY524" fmla="*/ 557547 h 593501"/>
              <a:gd name="connsiteX525" fmla="*/ 711771 w 1667202"/>
              <a:gd name="connsiteY525" fmla="*/ 564431 h 593501"/>
              <a:gd name="connsiteX526" fmla="*/ 714933 w 1667202"/>
              <a:gd name="connsiteY526" fmla="*/ 568337 h 593501"/>
              <a:gd name="connsiteX527" fmla="*/ 718096 w 1667202"/>
              <a:gd name="connsiteY527" fmla="*/ 572058 h 593501"/>
              <a:gd name="connsiteX528" fmla="*/ 721816 w 1667202"/>
              <a:gd name="connsiteY528" fmla="*/ 575221 h 593501"/>
              <a:gd name="connsiteX529" fmla="*/ 733537 w 1667202"/>
              <a:gd name="connsiteY529" fmla="*/ 578755 h 593501"/>
              <a:gd name="connsiteX530" fmla="*/ 741908 w 1667202"/>
              <a:gd name="connsiteY530" fmla="*/ 574477 h 593501"/>
              <a:gd name="connsiteX531" fmla="*/ 741908 w 1667202"/>
              <a:gd name="connsiteY531" fmla="*/ 572988 h 593501"/>
              <a:gd name="connsiteX532" fmla="*/ 738001 w 1667202"/>
              <a:gd name="connsiteY532" fmla="*/ 565919 h 593501"/>
              <a:gd name="connsiteX533" fmla="*/ 734839 w 1667202"/>
              <a:gd name="connsiteY533" fmla="*/ 562012 h 593501"/>
              <a:gd name="connsiteX534" fmla="*/ 746931 w 1667202"/>
              <a:gd name="connsiteY534" fmla="*/ 557733 h 593501"/>
              <a:gd name="connsiteX535" fmla="*/ 748233 w 1667202"/>
              <a:gd name="connsiteY535" fmla="*/ 557547 h 593501"/>
              <a:gd name="connsiteX536" fmla="*/ 749164 w 1667202"/>
              <a:gd name="connsiteY536" fmla="*/ 558478 h 593501"/>
              <a:gd name="connsiteX537" fmla="*/ 755675 w 1667202"/>
              <a:gd name="connsiteY537" fmla="*/ 561826 h 593501"/>
              <a:gd name="connsiteX538" fmla="*/ 755861 w 1667202"/>
              <a:gd name="connsiteY538" fmla="*/ 562012 h 593501"/>
              <a:gd name="connsiteX539" fmla="*/ 759954 w 1667202"/>
              <a:gd name="connsiteY539" fmla="*/ 564617 h 593501"/>
              <a:gd name="connsiteX540" fmla="*/ 767581 w 1667202"/>
              <a:gd name="connsiteY540" fmla="*/ 568337 h 593501"/>
              <a:gd name="connsiteX541" fmla="*/ 768883 w 1667202"/>
              <a:gd name="connsiteY541" fmla="*/ 567965 h 593501"/>
              <a:gd name="connsiteX542" fmla="*/ 769814 w 1667202"/>
              <a:gd name="connsiteY542" fmla="*/ 568896 h 593501"/>
              <a:gd name="connsiteX543" fmla="*/ 775395 w 1667202"/>
              <a:gd name="connsiteY543" fmla="*/ 570198 h 593501"/>
              <a:gd name="connsiteX544" fmla="*/ 776325 w 1667202"/>
              <a:gd name="connsiteY544" fmla="*/ 572244 h 593501"/>
              <a:gd name="connsiteX545" fmla="*/ 777069 w 1667202"/>
              <a:gd name="connsiteY545" fmla="*/ 574477 h 593501"/>
              <a:gd name="connsiteX546" fmla="*/ 779859 w 1667202"/>
              <a:gd name="connsiteY546" fmla="*/ 577267 h 593501"/>
              <a:gd name="connsiteX547" fmla="*/ 780045 w 1667202"/>
              <a:gd name="connsiteY547" fmla="*/ 579313 h 593501"/>
              <a:gd name="connsiteX548" fmla="*/ 790277 w 1667202"/>
              <a:gd name="connsiteY548" fmla="*/ 579500 h 593501"/>
              <a:gd name="connsiteX549" fmla="*/ 786929 w 1667202"/>
              <a:gd name="connsiteY549" fmla="*/ 589918 h 593501"/>
              <a:gd name="connsiteX550" fmla="*/ 796975 w 1667202"/>
              <a:gd name="connsiteY550" fmla="*/ 592894 h 593501"/>
              <a:gd name="connsiteX551" fmla="*/ 797347 w 1667202"/>
              <a:gd name="connsiteY551" fmla="*/ 591406 h 593501"/>
              <a:gd name="connsiteX552" fmla="*/ 800695 w 1667202"/>
              <a:gd name="connsiteY552" fmla="*/ 589173 h 593501"/>
              <a:gd name="connsiteX553" fmla="*/ 800881 w 1667202"/>
              <a:gd name="connsiteY553" fmla="*/ 587127 h 593501"/>
              <a:gd name="connsiteX554" fmla="*/ 798091 w 1667202"/>
              <a:gd name="connsiteY554" fmla="*/ 582848 h 593501"/>
              <a:gd name="connsiteX555" fmla="*/ 797719 w 1667202"/>
              <a:gd name="connsiteY555" fmla="*/ 582476 h 593501"/>
              <a:gd name="connsiteX556" fmla="*/ 794370 w 1667202"/>
              <a:gd name="connsiteY556" fmla="*/ 582104 h 593501"/>
              <a:gd name="connsiteX557" fmla="*/ 794370 w 1667202"/>
              <a:gd name="connsiteY557" fmla="*/ 581918 h 593501"/>
              <a:gd name="connsiteX558" fmla="*/ 793998 w 1667202"/>
              <a:gd name="connsiteY558" fmla="*/ 579500 h 593501"/>
              <a:gd name="connsiteX559" fmla="*/ 790649 w 1667202"/>
              <a:gd name="connsiteY559" fmla="*/ 579500 h 593501"/>
              <a:gd name="connsiteX560" fmla="*/ 790463 w 1667202"/>
              <a:gd name="connsiteY560" fmla="*/ 576151 h 593501"/>
              <a:gd name="connsiteX561" fmla="*/ 786557 w 1667202"/>
              <a:gd name="connsiteY561" fmla="*/ 572988 h 593501"/>
              <a:gd name="connsiteX562" fmla="*/ 784324 w 1667202"/>
              <a:gd name="connsiteY562" fmla="*/ 572802 h 593501"/>
              <a:gd name="connsiteX563" fmla="*/ 779859 w 1667202"/>
              <a:gd name="connsiteY563" fmla="*/ 569082 h 593501"/>
              <a:gd name="connsiteX564" fmla="*/ 780045 w 1667202"/>
              <a:gd name="connsiteY564" fmla="*/ 569082 h 593501"/>
              <a:gd name="connsiteX565" fmla="*/ 777627 w 1667202"/>
              <a:gd name="connsiteY565" fmla="*/ 568337 h 593501"/>
              <a:gd name="connsiteX566" fmla="*/ 777999 w 1667202"/>
              <a:gd name="connsiteY566" fmla="*/ 567035 h 593501"/>
              <a:gd name="connsiteX567" fmla="*/ 776511 w 1667202"/>
              <a:gd name="connsiteY567" fmla="*/ 565547 h 593501"/>
              <a:gd name="connsiteX568" fmla="*/ 775767 w 1667202"/>
              <a:gd name="connsiteY568" fmla="*/ 564803 h 593501"/>
              <a:gd name="connsiteX569" fmla="*/ 776325 w 1667202"/>
              <a:gd name="connsiteY569" fmla="*/ 563873 h 593501"/>
              <a:gd name="connsiteX570" fmla="*/ 772790 w 1667202"/>
              <a:gd name="connsiteY570" fmla="*/ 559222 h 593501"/>
              <a:gd name="connsiteX571" fmla="*/ 792510 w 1667202"/>
              <a:gd name="connsiteY571" fmla="*/ 554757 h 593501"/>
              <a:gd name="connsiteX572" fmla="*/ 793440 w 1667202"/>
              <a:gd name="connsiteY572" fmla="*/ 554385 h 593501"/>
              <a:gd name="connsiteX573" fmla="*/ 794184 w 1667202"/>
              <a:gd name="connsiteY573" fmla="*/ 555129 h 593501"/>
              <a:gd name="connsiteX574" fmla="*/ 805904 w 1667202"/>
              <a:gd name="connsiteY574" fmla="*/ 558292 h 593501"/>
              <a:gd name="connsiteX575" fmla="*/ 807207 w 1667202"/>
              <a:gd name="connsiteY575" fmla="*/ 557919 h 593501"/>
              <a:gd name="connsiteX576" fmla="*/ 808137 w 1667202"/>
              <a:gd name="connsiteY576" fmla="*/ 558850 h 593501"/>
              <a:gd name="connsiteX577" fmla="*/ 822461 w 1667202"/>
              <a:gd name="connsiteY577" fmla="*/ 561640 h 593501"/>
              <a:gd name="connsiteX578" fmla="*/ 829159 w 1667202"/>
              <a:gd name="connsiteY578" fmla="*/ 565733 h 593501"/>
              <a:gd name="connsiteX579" fmla="*/ 833065 w 1667202"/>
              <a:gd name="connsiteY579" fmla="*/ 568896 h 593501"/>
              <a:gd name="connsiteX580" fmla="*/ 843111 w 1667202"/>
              <a:gd name="connsiteY580" fmla="*/ 576337 h 593501"/>
              <a:gd name="connsiteX581" fmla="*/ 847018 w 1667202"/>
              <a:gd name="connsiteY581" fmla="*/ 579313 h 593501"/>
              <a:gd name="connsiteX582" fmla="*/ 853715 w 1667202"/>
              <a:gd name="connsiteY582" fmla="*/ 583220 h 593501"/>
              <a:gd name="connsiteX583" fmla="*/ 853529 w 1667202"/>
              <a:gd name="connsiteY583" fmla="*/ 583220 h 593501"/>
              <a:gd name="connsiteX584" fmla="*/ 860785 w 1667202"/>
              <a:gd name="connsiteY584" fmla="*/ 586755 h 593501"/>
              <a:gd name="connsiteX585" fmla="*/ 873807 w 1667202"/>
              <a:gd name="connsiteY585" fmla="*/ 583778 h 593501"/>
              <a:gd name="connsiteX586" fmla="*/ 873993 w 1667202"/>
              <a:gd name="connsiteY586" fmla="*/ 584150 h 593501"/>
              <a:gd name="connsiteX587" fmla="*/ 874179 w 1667202"/>
              <a:gd name="connsiteY587" fmla="*/ 576337 h 593501"/>
              <a:gd name="connsiteX588" fmla="*/ 881249 w 1667202"/>
              <a:gd name="connsiteY588" fmla="*/ 573174 h 593501"/>
              <a:gd name="connsiteX589" fmla="*/ 882551 w 1667202"/>
              <a:gd name="connsiteY589" fmla="*/ 572430 h 593501"/>
              <a:gd name="connsiteX590" fmla="*/ 884039 w 1667202"/>
              <a:gd name="connsiteY590" fmla="*/ 572802 h 593501"/>
              <a:gd name="connsiteX591" fmla="*/ 927757 w 1667202"/>
              <a:gd name="connsiteY591" fmla="*/ 572802 h 593501"/>
              <a:gd name="connsiteX592" fmla="*/ 932036 w 1667202"/>
              <a:gd name="connsiteY592" fmla="*/ 572616 h 593501"/>
              <a:gd name="connsiteX593" fmla="*/ 936501 w 1667202"/>
              <a:gd name="connsiteY593" fmla="*/ 569082 h 593501"/>
              <a:gd name="connsiteX594" fmla="*/ 940408 w 1667202"/>
              <a:gd name="connsiteY594" fmla="*/ 565919 h 593501"/>
              <a:gd name="connsiteX595" fmla="*/ 940222 w 1667202"/>
              <a:gd name="connsiteY595" fmla="*/ 566105 h 593501"/>
              <a:gd name="connsiteX596" fmla="*/ 947291 w 1667202"/>
              <a:gd name="connsiteY596" fmla="*/ 562570 h 593501"/>
              <a:gd name="connsiteX597" fmla="*/ 964778 w 1667202"/>
              <a:gd name="connsiteY597" fmla="*/ 562942 h 593501"/>
              <a:gd name="connsiteX598" fmla="*/ 971662 w 1667202"/>
              <a:gd name="connsiteY598" fmla="*/ 566477 h 593501"/>
              <a:gd name="connsiteX599" fmla="*/ 979475 w 1667202"/>
              <a:gd name="connsiteY599" fmla="*/ 569640 h 593501"/>
              <a:gd name="connsiteX600" fmla="*/ 980963 w 1667202"/>
              <a:gd name="connsiteY600" fmla="*/ 569268 h 593501"/>
              <a:gd name="connsiteX601" fmla="*/ 982266 w 1667202"/>
              <a:gd name="connsiteY601" fmla="*/ 570198 h 593501"/>
              <a:gd name="connsiteX602" fmla="*/ 1003102 w 1667202"/>
              <a:gd name="connsiteY602" fmla="*/ 570198 h 593501"/>
              <a:gd name="connsiteX603" fmla="*/ 1003846 w 1667202"/>
              <a:gd name="connsiteY603" fmla="*/ 569268 h 593501"/>
              <a:gd name="connsiteX604" fmla="*/ 1005148 w 1667202"/>
              <a:gd name="connsiteY604" fmla="*/ 569454 h 593501"/>
              <a:gd name="connsiteX605" fmla="*/ 1009799 w 1667202"/>
              <a:gd name="connsiteY605" fmla="*/ 565733 h 593501"/>
              <a:gd name="connsiteX606" fmla="*/ 1009427 w 1667202"/>
              <a:gd name="connsiteY606" fmla="*/ 566105 h 593501"/>
              <a:gd name="connsiteX607" fmla="*/ 1006264 w 1667202"/>
              <a:gd name="connsiteY607" fmla="*/ 549548 h 593501"/>
              <a:gd name="connsiteX608" fmla="*/ 1003846 w 1667202"/>
              <a:gd name="connsiteY608" fmla="*/ 545455 h 593501"/>
              <a:gd name="connsiteX609" fmla="*/ 1003102 w 1667202"/>
              <a:gd name="connsiteY609" fmla="*/ 542665 h 593501"/>
              <a:gd name="connsiteX610" fmla="*/ 1002544 w 1667202"/>
              <a:gd name="connsiteY610" fmla="*/ 541176 h 593501"/>
              <a:gd name="connsiteX611" fmla="*/ 1003474 w 1667202"/>
              <a:gd name="connsiteY611" fmla="*/ 538572 h 593501"/>
              <a:gd name="connsiteX612" fmla="*/ 1010171 w 1667202"/>
              <a:gd name="connsiteY612" fmla="*/ 534665 h 593501"/>
              <a:gd name="connsiteX613" fmla="*/ 1009985 w 1667202"/>
              <a:gd name="connsiteY613" fmla="*/ 534851 h 593501"/>
              <a:gd name="connsiteX614" fmla="*/ 1017240 w 1667202"/>
              <a:gd name="connsiteY614" fmla="*/ 532061 h 593501"/>
              <a:gd name="connsiteX615" fmla="*/ 1018542 w 1667202"/>
              <a:gd name="connsiteY615" fmla="*/ 531130 h 593501"/>
              <a:gd name="connsiteX616" fmla="*/ 1020031 w 1667202"/>
              <a:gd name="connsiteY616" fmla="*/ 531502 h 593501"/>
              <a:gd name="connsiteX617" fmla="*/ 1031193 w 1667202"/>
              <a:gd name="connsiteY617" fmla="*/ 528526 h 593501"/>
              <a:gd name="connsiteX618" fmla="*/ 1036960 w 1667202"/>
              <a:gd name="connsiteY618" fmla="*/ 527782 h 593501"/>
              <a:gd name="connsiteX619" fmla="*/ 1052215 w 1667202"/>
              <a:gd name="connsiteY619" fmla="*/ 524805 h 593501"/>
              <a:gd name="connsiteX620" fmla="*/ 1053517 w 1667202"/>
              <a:gd name="connsiteY620" fmla="*/ 524061 h 593501"/>
              <a:gd name="connsiteX621" fmla="*/ 1055005 w 1667202"/>
              <a:gd name="connsiteY621" fmla="*/ 524433 h 593501"/>
              <a:gd name="connsiteX622" fmla="*/ 1065981 w 1667202"/>
              <a:gd name="connsiteY622" fmla="*/ 521643 h 593501"/>
              <a:gd name="connsiteX623" fmla="*/ 1067284 w 1667202"/>
              <a:gd name="connsiteY623" fmla="*/ 520712 h 593501"/>
              <a:gd name="connsiteX624" fmla="*/ 1068772 w 1667202"/>
              <a:gd name="connsiteY624" fmla="*/ 520899 h 593501"/>
              <a:gd name="connsiteX625" fmla="*/ 1076400 w 1667202"/>
              <a:gd name="connsiteY625" fmla="*/ 517922 h 593501"/>
              <a:gd name="connsiteX626" fmla="*/ 1077144 w 1667202"/>
              <a:gd name="connsiteY626" fmla="*/ 516806 h 593501"/>
              <a:gd name="connsiteX627" fmla="*/ 1078446 w 1667202"/>
              <a:gd name="connsiteY627" fmla="*/ 516992 h 593501"/>
              <a:gd name="connsiteX628" fmla="*/ 1083469 w 1667202"/>
              <a:gd name="connsiteY628" fmla="*/ 514015 h 593501"/>
              <a:gd name="connsiteX629" fmla="*/ 1090166 w 1667202"/>
              <a:gd name="connsiteY629" fmla="*/ 500249 h 593501"/>
              <a:gd name="connsiteX630" fmla="*/ 1090352 w 1667202"/>
              <a:gd name="connsiteY630" fmla="*/ 500435 h 593501"/>
              <a:gd name="connsiteX631" fmla="*/ 1083097 w 1667202"/>
              <a:gd name="connsiteY631" fmla="*/ 497272 h 593501"/>
              <a:gd name="connsiteX632" fmla="*/ 1076027 w 1667202"/>
              <a:gd name="connsiteY632" fmla="*/ 493551 h 593501"/>
              <a:gd name="connsiteX633" fmla="*/ 1075469 w 1667202"/>
              <a:gd name="connsiteY633" fmla="*/ 492249 h 593501"/>
              <a:gd name="connsiteX634" fmla="*/ 1076400 w 1667202"/>
              <a:gd name="connsiteY634" fmla="*/ 489831 h 593501"/>
              <a:gd name="connsiteX635" fmla="*/ 1111188 w 1667202"/>
              <a:gd name="connsiteY635" fmla="*/ 489831 h 593501"/>
              <a:gd name="connsiteX636" fmla="*/ 1170347 w 1667202"/>
              <a:gd name="connsiteY636" fmla="*/ 489831 h 593501"/>
              <a:gd name="connsiteX637" fmla="*/ 1180021 w 1667202"/>
              <a:gd name="connsiteY637" fmla="*/ 489273 h 593501"/>
              <a:gd name="connsiteX638" fmla="*/ 1189695 w 1667202"/>
              <a:gd name="connsiteY638" fmla="*/ 489273 h 593501"/>
              <a:gd name="connsiteX639" fmla="*/ 1192857 w 1667202"/>
              <a:gd name="connsiteY639" fmla="*/ 489273 h 593501"/>
              <a:gd name="connsiteX640" fmla="*/ 1205136 w 1667202"/>
              <a:gd name="connsiteY640" fmla="*/ 486296 h 593501"/>
              <a:gd name="connsiteX641" fmla="*/ 1215740 w 1667202"/>
              <a:gd name="connsiteY641" fmla="*/ 482947 h 593501"/>
              <a:gd name="connsiteX642" fmla="*/ 1215926 w 1667202"/>
              <a:gd name="connsiteY642" fmla="*/ 482947 h 593501"/>
              <a:gd name="connsiteX643" fmla="*/ 1223739 w 1667202"/>
              <a:gd name="connsiteY643" fmla="*/ 468995 h 593501"/>
              <a:gd name="connsiteX644" fmla="*/ 1222251 w 1667202"/>
              <a:gd name="connsiteY644" fmla="*/ 466762 h 593501"/>
              <a:gd name="connsiteX645" fmla="*/ 1219088 w 1667202"/>
              <a:gd name="connsiteY645" fmla="*/ 461925 h 593501"/>
              <a:gd name="connsiteX646" fmla="*/ 1215368 w 1667202"/>
              <a:gd name="connsiteY646" fmla="*/ 458763 h 593501"/>
              <a:gd name="connsiteX647" fmla="*/ 1214624 w 1667202"/>
              <a:gd name="connsiteY647" fmla="*/ 457460 h 593501"/>
              <a:gd name="connsiteX648" fmla="*/ 1215554 w 1667202"/>
              <a:gd name="connsiteY648" fmla="*/ 455228 h 593501"/>
              <a:gd name="connsiteX649" fmla="*/ 1221507 w 1667202"/>
              <a:gd name="connsiteY649" fmla="*/ 454484 h 593501"/>
              <a:gd name="connsiteX650" fmla="*/ 1236390 w 1667202"/>
              <a:gd name="connsiteY650" fmla="*/ 451507 h 593501"/>
              <a:gd name="connsiteX651" fmla="*/ 1237878 w 1667202"/>
              <a:gd name="connsiteY651" fmla="*/ 450763 h 593501"/>
              <a:gd name="connsiteX652" fmla="*/ 1239552 w 1667202"/>
              <a:gd name="connsiteY652" fmla="*/ 451135 h 593501"/>
              <a:gd name="connsiteX653" fmla="*/ 1253877 w 1667202"/>
              <a:gd name="connsiteY653" fmla="*/ 447973 h 593501"/>
              <a:gd name="connsiteX654" fmla="*/ 1259086 w 1667202"/>
              <a:gd name="connsiteY654" fmla="*/ 447229 h 593501"/>
              <a:gd name="connsiteX655" fmla="*/ 1274713 w 1667202"/>
              <a:gd name="connsiteY655" fmla="*/ 444438 h 593501"/>
              <a:gd name="connsiteX656" fmla="*/ 1283457 w 1667202"/>
              <a:gd name="connsiteY656" fmla="*/ 443694 h 593501"/>
              <a:gd name="connsiteX657" fmla="*/ 1297967 w 1667202"/>
              <a:gd name="connsiteY657" fmla="*/ 442392 h 593501"/>
              <a:gd name="connsiteX658" fmla="*/ 1297595 w 1667202"/>
              <a:gd name="connsiteY658" fmla="*/ 443136 h 593501"/>
              <a:gd name="connsiteX659" fmla="*/ 1298525 w 1667202"/>
              <a:gd name="connsiteY659" fmla="*/ 444438 h 593501"/>
              <a:gd name="connsiteX660" fmla="*/ 1298898 w 1667202"/>
              <a:gd name="connsiteY660" fmla="*/ 444624 h 593501"/>
              <a:gd name="connsiteX661" fmla="*/ 1302432 w 1667202"/>
              <a:gd name="connsiteY661" fmla="*/ 444810 h 593501"/>
              <a:gd name="connsiteX662" fmla="*/ 1313036 w 1667202"/>
              <a:gd name="connsiteY662" fmla="*/ 440531 h 593501"/>
              <a:gd name="connsiteX663" fmla="*/ 1309688 w 1667202"/>
              <a:gd name="connsiteY663" fmla="*/ 436997 h 593501"/>
              <a:gd name="connsiteX664" fmla="*/ 1302246 w 1667202"/>
              <a:gd name="connsiteY664" fmla="*/ 437183 h 593501"/>
              <a:gd name="connsiteX665" fmla="*/ 1302618 w 1667202"/>
              <a:gd name="connsiteY665" fmla="*/ 436439 h 593501"/>
              <a:gd name="connsiteX666" fmla="*/ 1298712 w 1667202"/>
              <a:gd name="connsiteY666" fmla="*/ 433648 h 593501"/>
              <a:gd name="connsiteX667" fmla="*/ 1298898 w 1667202"/>
              <a:gd name="connsiteY667" fmla="*/ 433648 h 593501"/>
              <a:gd name="connsiteX668" fmla="*/ 1298525 w 1667202"/>
              <a:gd name="connsiteY668" fmla="*/ 428811 h 593501"/>
              <a:gd name="connsiteX669" fmla="*/ 1299456 w 1667202"/>
              <a:gd name="connsiteY669" fmla="*/ 426579 h 593501"/>
              <a:gd name="connsiteX670" fmla="*/ 1302060 w 1667202"/>
              <a:gd name="connsiteY670" fmla="*/ 422858 h 593501"/>
              <a:gd name="connsiteX671" fmla="*/ 1306153 w 1667202"/>
              <a:gd name="connsiteY671" fmla="*/ 419323 h 593501"/>
              <a:gd name="connsiteX672" fmla="*/ 1312478 w 1667202"/>
              <a:gd name="connsiteY672" fmla="*/ 419323 h 593501"/>
              <a:gd name="connsiteX673" fmla="*/ 1316199 w 1667202"/>
              <a:gd name="connsiteY673" fmla="*/ 415044 h 593501"/>
              <a:gd name="connsiteX674" fmla="*/ 1316199 w 1667202"/>
              <a:gd name="connsiteY674" fmla="*/ 413742 h 593501"/>
              <a:gd name="connsiteX675" fmla="*/ 1316385 w 1667202"/>
              <a:gd name="connsiteY675" fmla="*/ 409091 h 593501"/>
              <a:gd name="connsiteX676" fmla="*/ 1320106 w 1667202"/>
              <a:gd name="connsiteY676" fmla="*/ 406301 h 593501"/>
              <a:gd name="connsiteX677" fmla="*/ 1325687 w 1667202"/>
              <a:gd name="connsiteY677" fmla="*/ 405371 h 593501"/>
              <a:gd name="connsiteX678" fmla="*/ 1344476 w 1667202"/>
              <a:gd name="connsiteY678" fmla="*/ 402766 h 593501"/>
              <a:gd name="connsiteX679" fmla="*/ 1363638 w 1667202"/>
              <a:gd name="connsiteY679" fmla="*/ 402022 h 593501"/>
              <a:gd name="connsiteX680" fmla="*/ 1372381 w 1667202"/>
              <a:gd name="connsiteY680" fmla="*/ 399417 h 593501"/>
              <a:gd name="connsiteX681" fmla="*/ 1392101 w 1667202"/>
              <a:gd name="connsiteY681" fmla="*/ 398673 h 593501"/>
              <a:gd name="connsiteX682" fmla="*/ 1414053 w 1667202"/>
              <a:gd name="connsiteY682" fmla="*/ 395883 h 593501"/>
              <a:gd name="connsiteX683" fmla="*/ 1423169 w 1667202"/>
              <a:gd name="connsiteY683" fmla="*/ 394953 h 593501"/>
              <a:gd name="connsiteX684" fmla="*/ 1434889 w 1667202"/>
              <a:gd name="connsiteY684" fmla="*/ 392348 h 593501"/>
              <a:gd name="connsiteX685" fmla="*/ 1436378 w 1667202"/>
              <a:gd name="connsiteY685" fmla="*/ 391418 h 593501"/>
              <a:gd name="connsiteX686" fmla="*/ 1438052 w 1667202"/>
              <a:gd name="connsiteY686" fmla="*/ 391790 h 593501"/>
              <a:gd name="connsiteX687" fmla="*/ 1448656 w 1667202"/>
              <a:gd name="connsiteY687" fmla="*/ 387883 h 593501"/>
              <a:gd name="connsiteX688" fmla="*/ 1449028 w 1667202"/>
              <a:gd name="connsiteY688" fmla="*/ 374303 h 593501"/>
              <a:gd name="connsiteX689" fmla="*/ 1448842 w 1667202"/>
              <a:gd name="connsiteY689" fmla="*/ 374117 h 593501"/>
              <a:gd name="connsiteX690" fmla="*/ 1443633 w 1667202"/>
              <a:gd name="connsiteY690" fmla="*/ 371326 h 593501"/>
              <a:gd name="connsiteX691" fmla="*/ 1438238 w 1667202"/>
              <a:gd name="connsiteY691" fmla="*/ 370582 h 593501"/>
              <a:gd name="connsiteX692" fmla="*/ 1419076 w 1667202"/>
              <a:gd name="connsiteY692" fmla="*/ 367791 h 593501"/>
              <a:gd name="connsiteX693" fmla="*/ 1406984 w 1667202"/>
              <a:gd name="connsiteY693" fmla="*/ 367233 h 593501"/>
              <a:gd name="connsiteX694" fmla="*/ 1377404 w 1667202"/>
              <a:gd name="connsiteY694" fmla="*/ 364257 h 593501"/>
              <a:gd name="connsiteX695" fmla="*/ 1365126 w 1667202"/>
              <a:gd name="connsiteY695" fmla="*/ 363513 h 593501"/>
              <a:gd name="connsiteX696" fmla="*/ 1353406 w 1667202"/>
              <a:gd name="connsiteY696" fmla="*/ 360908 h 593501"/>
              <a:gd name="connsiteX697" fmla="*/ 1347639 w 1667202"/>
              <a:gd name="connsiteY697" fmla="*/ 360164 h 593501"/>
              <a:gd name="connsiteX698" fmla="*/ 1321966 w 1667202"/>
              <a:gd name="connsiteY698" fmla="*/ 357560 h 593501"/>
              <a:gd name="connsiteX699" fmla="*/ 1316199 w 1667202"/>
              <a:gd name="connsiteY699" fmla="*/ 357001 h 593501"/>
              <a:gd name="connsiteX700" fmla="*/ 1298153 w 1667202"/>
              <a:gd name="connsiteY700" fmla="*/ 354025 h 593501"/>
              <a:gd name="connsiteX701" fmla="*/ 1268202 w 1667202"/>
              <a:gd name="connsiteY701" fmla="*/ 354025 h 593501"/>
              <a:gd name="connsiteX702" fmla="*/ 1253691 w 1667202"/>
              <a:gd name="connsiteY702" fmla="*/ 357374 h 593501"/>
              <a:gd name="connsiteX703" fmla="*/ 1253877 w 1667202"/>
              <a:gd name="connsiteY703" fmla="*/ 357374 h 593501"/>
              <a:gd name="connsiteX704" fmla="*/ 1243273 w 1667202"/>
              <a:gd name="connsiteY704" fmla="*/ 360536 h 593501"/>
              <a:gd name="connsiteX705" fmla="*/ 1230251 w 1667202"/>
              <a:gd name="connsiteY705" fmla="*/ 361466 h 593501"/>
              <a:gd name="connsiteX706" fmla="*/ 1211275 w 1667202"/>
              <a:gd name="connsiteY706" fmla="*/ 361280 h 593501"/>
              <a:gd name="connsiteX707" fmla="*/ 1198625 w 1667202"/>
              <a:gd name="connsiteY707" fmla="*/ 361466 h 593501"/>
              <a:gd name="connsiteX708" fmla="*/ 1190997 w 1667202"/>
              <a:gd name="connsiteY708" fmla="*/ 360350 h 593501"/>
              <a:gd name="connsiteX709" fmla="*/ 1189137 w 1667202"/>
              <a:gd name="connsiteY709" fmla="*/ 357932 h 593501"/>
              <a:gd name="connsiteX710" fmla="*/ 1190997 w 1667202"/>
              <a:gd name="connsiteY710" fmla="*/ 357560 h 593501"/>
              <a:gd name="connsiteX711" fmla="*/ 1190067 w 1667202"/>
              <a:gd name="connsiteY711" fmla="*/ 353653 h 593501"/>
              <a:gd name="connsiteX712" fmla="*/ 1194346 w 1667202"/>
              <a:gd name="connsiteY712" fmla="*/ 350304 h 593501"/>
              <a:gd name="connsiteX713" fmla="*/ 1195648 w 1667202"/>
              <a:gd name="connsiteY713" fmla="*/ 349374 h 593501"/>
              <a:gd name="connsiteX714" fmla="*/ 1196950 w 1667202"/>
              <a:gd name="connsiteY714" fmla="*/ 349932 h 593501"/>
              <a:gd name="connsiteX715" fmla="*/ 1215182 w 1667202"/>
              <a:gd name="connsiteY715" fmla="*/ 346397 h 593501"/>
              <a:gd name="connsiteX716" fmla="*/ 1214996 w 1667202"/>
              <a:gd name="connsiteY716" fmla="*/ 346584 h 593501"/>
              <a:gd name="connsiteX717" fmla="*/ 1218716 w 1667202"/>
              <a:gd name="connsiteY717" fmla="*/ 343979 h 593501"/>
              <a:gd name="connsiteX718" fmla="*/ 1224297 w 1667202"/>
              <a:gd name="connsiteY718" fmla="*/ 342863 h 593501"/>
              <a:gd name="connsiteX719" fmla="*/ 1232669 w 1667202"/>
              <a:gd name="connsiteY719" fmla="*/ 339700 h 593501"/>
              <a:gd name="connsiteX720" fmla="*/ 1239552 w 1667202"/>
              <a:gd name="connsiteY720" fmla="*/ 335794 h 593501"/>
              <a:gd name="connsiteX721" fmla="*/ 1239366 w 1667202"/>
              <a:gd name="connsiteY721" fmla="*/ 335980 h 593501"/>
              <a:gd name="connsiteX722" fmla="*/ 1246808 w 1667202"/>
              <a:gd name="connsiteY722" fmla="*/ 332631 h 593501"/>
              <a:gd name="connsiteX723" fmla="*/ 1256854 w 1667202"/>
              <a:gd name="connsiteY723" fmla="*/ 327608 h 593501"/>
              <a:gd name="connsiteX724" fmla="*/ 1266527 w 1667202"/>
              <a:gd name="connsiteY724" fmla="*/ 325375 h 593501"/>
              <a:gd name="connsiteX725" fmla="*/ 1274713 w 1667202"/>
              <a:gd name="connsiteY725" fmla="*/ 318864 h 593501"/>
              <a:gd name="connsiteX726" fmla="*/ 1263737 w 1667202"/>
              <a:gd name="connsiteY726" fmla="*/ 315516 h 593501"/>
              <a:gd name="connsiteX727" fmla="*/ 1260760 w 1667202"/>
              <a:gd name="connsiteY727" fmla="*/ 315144 h 593501"/>
              <a:gd name="connsiteX728" fmla="*/ 1241599 w 1667202"/>
              <a:gd name="connsiteY728" fmla="*/ 312167 h 593501"/>
              <a:gd name="connsiteX729" fmla="*/ 1198066 w 1667202"/>
              <a:gd name="connsiteY729" fmla="*/ 311237 h 593501"/>
              <a:gd name="connsiteX730" fmla="*/ 1194160 w 1667202"/>
              <a:gd name="connsiteY730" fmla="*/ 308632 h 593501"/>
              <a:gd name="connsiteX731" fmla="*/ 1190997 w 1667202"/>
              <a:gd name="connsiteY731" fmla="*/ 306400 h 593501"/>
              <a:gd name="connsiteX732" fmla="*/ 1190811 w 1667202"/>
              <a:gd name="connsiteY732" fmla="*/ 305098 h 593501"/>
              <a:gd name="connsiteX733" fmla="*/ 1188579 w 1667202"/>
              <a:gd name="connsiteY733" fmla="*/ 304726 h 593501"/>
              <a:gd name="connsiteX734" fmla="*/ 1193788 w 1667202"/>
              <a:gd name="connsiteY734" fmla="*/ 293377 h 593501"/>
              <a:gd name="connsiteX735" fmla="*/ 1193788 w 1667202"/>
              <a:gd name="connsiteY735" fmla="*/ 287982 h 593501"/>
              <a:gd name="connsiteX736" fmla="*/ 1179649 w 1667202"/>
              <a:gd name="connsiteY736" fmla="*/ 284076 h 593501"/>
              <a:gd name="connsiteX737" fmla="*/ 1159929 w 1667202"/>
              <a:gd name="connsiteY737" fmla="*/ 283332 h 593501"/>
              <a:gd name="connsiteX738" fmla="*/ 1139651 w 1667202"/>
              <a:gd name="connsiteY738" fmla="*/ 279239 h 593501"/>
              <a:gd name="connsiteX739" fmla="*/ 1140954 w 1667202"/>
              <a:gd name="connsiteY739" fmla="*/ 278867 h 593501"/>
              <a:gd name="connsiteX740" fmla="*/ 1144860 w 1667202"/>
              <a:gd name="connsiteY740" fmla="*/ 273844 h 593501"/>
              <a:gd name="connsiteX741" fmla="*/ 1139093 w 1667202"/>
              <a:gd name="connsiteY741" fmla="*/ 272914 h 593501"/>
              <a:gd name="connsiteX742" fmla="*/ 1133512 w 1667202"/>
              <a:gd name="connsiteY742" fmla="*/ 273100 h 593501"/>
              <a:gd name="connsiteX743" fmla="*/ 1139093 w 1667202"/>
              <a:gd name="connsiteY743" fmla="*/ 269937 h 593501"/>
              <a:gd name="connsiteX744" fmla="*/ 1164952 w 1667202"/>
              <a:gd name="connsiteY744" fmla="*/ 269565 h 593501"/>
              <a:gd name="connsiteX745" fmla="*/ 1201787 w 1667202"/>
              <a:gd name="connsiteY745" fmla="*/ 268821 h 593501"/>
              <a:gd name="connsiteX746" fmla="*/ 1206438 w 1667202"/>
              <a:gd name="connsiteY746" fmla="*/ 266402 h 593501"/>
              <a:gd name="connsiteX747" fmla="*/ 1208112 w 1667202"/>
              <a:gd name="connsiteY747" fmla="*/ 266774 h 593501"/>
              <a:gd name="connsiteX748" fmla="*/ 1198439 w 1667202"/>
              <a:gd name="connsiteY748" fmla="*/ 277006 h 593501"/>
              <a:gd name="connsiteX749" fmla="*/ 1198625 w 1667202"/>
              <a:gd name="connsiteY749" fmla="*/ 279425 h 593501"/>
              <a:gd name="connsiteX750" fmla="*/ 1203089 w 1667202"/>
              <a:gd name="connsiteY750" fmla="*/ 283332 h 593501"/>
              <a:gd name="connsiteX751" fmla="*/ 1208856 w 1667202"/>
              <a:gd name="connsiteY751" fmla="*/ 284076 h 593501"/>
              <a:gd name="connsiteX752" fmla="*/ 1229692 w 1667202"/>
              <a:gd name="connsiteY752" fmla="*/ 284076 h 593501"/>
              <a:gd name="connsiteX753" fmla="*/ 1239738 w 1667202"/>
              <a:gd name="connsiteY753" fmla="*/ 283518 h 593501"/>
              <a:gd name="connsiteX754" fmla="*/ 1250528 w 1667202"/>
              <a:gd name="connsiteY754" fmla="*/ 280541 h 593501"/>
              <a:gd name="connsiteX755" fmla="*/ 1251645 w 1667202"/>
              <a:gd name="connsiteY755" fmla="*/ 279611 h 593501"/>
              <a:gd name="connsiteX756" fmla="*/ 1253133 w 1667202"/>
              <a:gd name="connsiteY756" fmla="*/ 279797 h 593501"/>
              <a:gd name="connsiteX757" fmla="*/ 1257598 w 1667202"/>
              <a:gd name="connsiteY757" fmla="*/ 276634 h 593501"/>
              <a:gd name="connsiteX758" fmla="*/ 1253691 w 1667202"/>
              <a:gd name="connsiteY758" fmla="*/ 266402 h 593501"/>
              <a:gd name="connsiteX759" fmla="*/ 1250714 w 1667202"/>
              <a:gd name="connsiteY759" fmla="*/ 265658 h 593501"/>
              <a:gd name="connsiteX760" fmla="*/ 1222623 w 1667202"/>
              <a:gd name="connsiteY760" fmla="*/ 262868 h 593501"/>
              <a:gd name="connsiteX761" fmla="*/ 1218158 w 1667202"/>
              <a:gd name="connsiteY761" fmla="*/ 261938 h 593501"/>
              <a:gd name="connsiteX762" fmla="*/ 1219088 w 1667202"/>
              <a:gd name="connsiteY762" fmla="*/ 255984 h 593501"/>
              <a:gd name="connsiteX763" fmla="*/ 1220019 w 1667202"/>
              <a:gd name="connsiteY763" fmla="*/ 255612 h 593501"/>
              <a:gd name="connsiteX764" fmla="*/ 1221135 w 1667202"/>
              <a:gd name="connsiteY764" fmla="*/ 255612 h 593501"/>
              <a:gd name="connsiteX765" fmla="*/ 1222809 w 1667202"/>
              <a:gd name="connsiteY765" fmla="*/ 255798 h 593501"/>
              <a:gd name="connsiteX766" fmla="*/ 1223553 w 1667202"/>
              <a:gd name="connsiteY766" fmla="*/ 254310 h 593501"/>
              <a:gd name="connsiteX767" fmla="*/ 1224483 w 1667202"/>
              <a:gd name="connsiteY767" fmla="*/ 253938 h 593501"/>
              <a:gd name="connsiteX768" fmla="*/ 1236762 w 1667202"/>
              <a:gd name="connsiteY768" fmla="*/ 252450 h 593501"/>
              <a:gd name="connsiteX769" fmla="*/ 1236390 w 1667202"/>
              <a:gd name="connsiteY769" fmla="*/ 251706 h 593501"/>
              <a:gd name="connsiteX770" fmla="*/ 1244389 w 1667202"/>
              <a:gd name="connsiteY770" fmla="*/ 250403 h 593501"/>
              <a:gd name="connsiteX771" fmla="*/ 1236390 w 1667202"/>
              <a:gd name="connsiteY771" fmla="*/ 251706 h 593501"/>
              <a:gd name="connsiteX772" fmla="*/ 1277876 w 1667202"/>
              <a:gd name="connsiteY772" fmla="*/ 252078 h 593501"/>
              <a:gd name="connsiteX773" fmla="*/ 1265411 w 1667202"/>
              <a:gd name="connsiteY773" fmla="*/ 242962 h 593501"/>
              <a:gd name="connsiteX774" fmla="*/ 1268202 w 1667202"/>
              <a:gd name="connsiteY774" fmla="*/ 242032 h 593501"/>
              <a:gd name="connsiteX775" fmla="*/ 1268388 w 1667202"/>
              <a:gd name="connsiteY775" fmla="*/ 241846 h 593501"/>
              <a:gd name="connsiteX776" fmla="*/ 1271550 w 1667202"/>
              <a:gd name="connsiteY776" fmla="*/ 235521 h 593501"/>
              <a:gd name="connsiteX777" fmla="*/ 1288480 w 1667202"/>
              <a:gd name="connsiteY777" fmla="*/ 234404 h 593501"/>
              <a:gd name="connsiteX778" fmla="*/ 1323640 w 1667202"/>
              <a:gd name="connsiteY778" fmla="*/ 235334 h 593501"/>
              <a:gd name="connsiteX779" fmla="*/ 1325501 w 1667202"/>
              <a:gd name="connsiteY779" fmla="*/ 237567 h 593501"/>
              <a:gd name="connsiteX780" fmla="*/ 1323826 w 1667202"/>
              <a:gd name="connsiteY780" fmla="*/ 239055 h 593501"/>
              <a:gd name="connsiteX781" fmla="*/ 1334058 w 1667202"/>
              <a:gd name="connsiteY781" fmla="*/ 237753 h 593501"/>
              <a:gd name="connsiteX782" fmla="*/ 1332570 w 1667202"/>
              <a:gd name="connsiteY782" fmla="*/ 237195 h 593501"/>
              <a:gd name="connsiteX783" fmla="*/ 1334058 w 1667202"/>
              <a:gd name="connsiteY783" fmla="*/ 234962 h 593501"/>
              <a:gd name="connsiteX784" fmla="*/ 1382427 w 1667202"/>
              <a:gd name="connsiteY784" fmla="*/ 234776 h 593501"/>
              <a:gd name="connsiteX785" fmla="*/ 1383358 w 1667202"/>
              <a:gd name="connsiteY785" fmla="*/ 232172 h 593501"/>
              <a:gd name="connsiteX786" fmla="*/ 1386334 w 1667202"/>
              <a:gd name="connsiteY786" fmla="*/ 231986 h 593501"/>
              <a:gd name="connsiteX787" fmla="*/ 1389683 w 1667202"/>
              <a:gd name="connsiteY787" fmla="*/ 230870 h 593501"/>
              <a:gd name="connsiteX788" fmla="*/ 1426518 w 1667202"/>
              <a:gd name="connsiteY788" fmla="*/ 231428 h 593501"/>
              <a:gd name="connsiteX789" fmla="*/ 1431727 w 1667202"/>
              <a:gd name="connsiteY789" fmla="*/ 227707 h 593501"/>
              <a:gd name="connsiteX790" fmla="*/ 1428378 w 1667202"/>
              <a:gd name="connsiteY790" fmla="*/ 227149 h 593501"/>
              <a:gd name="connsiteX791" fmla="*/ 1389497 w 1667202"/>
              <a:gd name="connsiteY791" fmla="*/ 228451 h 593501"/>
              <a:gd name="connsiteX792" fmla="*/ 1379265 w 1667202"/>
              <a:gd name="connsiteY792" fmla="*/ 227149 h 593501"/>
              <a:gd name="connsiteX793" fmla="*/ 1374056 w 1667202"/>
              <a:gd name="connsiteY793" fmla="*/ 225103 h 593501"/>
              <a:gd name="connsiteX794" fmla="*/ 1369591 w 1667202"/>
              <a:gd name="connsiteY794" fmla="*/ 224172 h 593501"/>
              <a:gd name="connsiteX795" fmla="*/ 1372567 w 1667202"/>
              <a:gd name="connsiteY795" fmla="*/ 220824 h 593501"/>
              <a:gd name="connsiteX796" fmla="*/ 1370149 w 1667202"/>
              <a:gd name="connsiteY796" fmla="*/ 220452 h 593501"/>
              <a:gd name="connsiteX797" fmla="*/ 1368103 w 1667202"/>
              <a:gd name="connsiteY797" fmla="*/ 217847 h 593501"/>
              <a:gd name="connsiteX798" fmla="*/ 1358801 w 1667202"/>
              <a:gd name="connsiteY798" fmla="*/ 217661 h 593501"/>
              <a:gd name="connsiteX799" fmla="*/ 1360847 w 1667202"/>
              <a:gd name="connsiteY799" fmla="*/ 223242 h 593501"/>
              <a:gd name="connsiteX800" fmla="*/ 1352662 w 1667202"/>
              <a:gd name="connsiteY800" fmla="*/ 223614 h 593501"/>
              <a:gd name="connsiteX801" fmla="*/ 1354150 w 1667202"/>
              <a:gd name="connsiteY801" fmla="*/ 218033 h 593501"/>
              <a:gd name="connsiteX802" fmla="*/ 1337593 w 1667202"/>
              <a:gd name="connsiteY802" fmla="*/ 218033 h 593501"/>
              <a:gd name="connsiteX803" fmla="*/ 1333872 w 1667202"/>
              <a:gd name="connsiteY803" fmla="*/ 216731 h 593501"/>
              <a:gd name="connsiteX804" fmla="*/ 1330524 w 1667202"/>
              <a:gd name="connsiteY804" fmla="*/ 216917 h 593501"/>
              <a:gd name="connsiteX805" fmla="*/ 1323454 w 1667202"/>
              <a:gd name="connsiteY805" fmla="*/ 216731 h 593501"/>
              <a:gd name="connsiteX806" fmla="*/ 1319919 w 1667202"/>
              <a:gd name="connsiteY806" fmla="*/ 216545 h 593501"/>
              <a:gd name="connsiteX807" fmla="*/ 1320106 w 1667202"/>
              <a:gd name="connsiteY807" fmla="*/ 217847 h 593501"/>
              <a:gd name="connsiteX808" fmla="*/ 1299828 w 1667202"/>
              <a:gd name="connsiteY808" fmla="*/ 217847 h 593501"/>
              <a:gd name="connsiteX809" fmla="*/ 1294991 w 1667202"/>
              <a:gd name="connsiteY809" fmla="*/ 220638 h 593501"/>
              <a:gd name="connsiteX810" fmla="*/ 1292944 w 1667202"/>
              <a:gd name="connsiteY810" fmla="*/ 220452 h 593501"/>
              <a:gd name="connsiteX811" fmla="*/ 1288666 w 1667202"/>
              <a:gd name="connsiteY811" fmla="*/ 217847 h 593501"/>
              <a:gd name="connsiteX812" fmla="*/ 1281782 w 1667202"/>
              <a:gd name="connsiteY812" fmla="*/ 217475 h 593501"/>
              <a:gd name="connsiteX813" fmla="*/ 1278992 w 1667202"/>
              <a:gd name="connsiteY813" fmla="*/ 220080 h 593501"/>
              <a:gd name="connsiteX814" fmla="*/ 1278434 w 1667202"/>
              <a:gd name="connsiteY814" fmla="*/ 217289 h 593501"/>
              <a:gd name="connsiteX815" fmla="*/ 1269318 w 1667202"/>
              <a:gd name="connsiteY815" fmla="*/ 217289 h 593501"/>
              <a:gd name="connsiteX816" fmla="*/ 1265039 w 1667202"/>
              <a:gd name="connsiteY816" fmla="*/ 215987 h 593501"/>
              <a:gd name="connsiteX817" fmla="*/ 1264109 w 1667202"/>
              <a:gd name="connsiteY817" fmla="*/ 215615 h 593501"/>
              <a:gd name="connsiteX818" fmla="*/ 1264109 w 1667202"/>
              <a:gd name="connsiteY818" fmla="*/ 214313 h 593501"/>
              <a:gd name="connsiteX819" fmla="*/ 1264481 w 1667202"/>
              <a:gd name="connsiteY819" fmla="*/ 210592 h 593501"/>
              <a:gd name="connsiteX820" fmla="*/ 1265039 w 1667202"/>
              <a:gd name="connsiteY820" fmla="*/ 209290 h 593501"/>
              <a:gd name="connsiteX821" fmla="*/ 1270062 w 1667202"/>
              <a:gd name="connsiteY821" fmla="*/ 208731 h 593501"/>
              <a:gd name="connsiteX822" fmla="*/ 1325315 w 1667202"/>
              <a:gd name="connsiteY822" fmla="*/ 208545 h 593501"/>
              <a:gd name="connsiteX823" fmla="*/ 1332198 w 1667202"/>
              <a:gd name="connsiteY823" fmla="*/ 207615 h 593501"/>
              <a:gd name="connsiteX824" fmla="*/ 1379079 w 1667202"/>
              <a:gd name="connsiteY824" fmla="*/ 207615 h 593501"/>
              <a:gd name="connsiteX825" fmla="*/ 1445307 w 1667202"/>
              <a:gd name="connsiteY825" fmla="*/ 206871 h 593501"/>
              <a:gd name="connsiteX826" fmla="*/ 1446795 w 1667202"/>
              <a:gd name="connsiteY826" fmla="*/ 205011 h 593501"/>
              <a:gd name="connsiteX827" fmla="*/ 1448470 w 1667202"/>
              <a:gd name="connsiteY827" fmla="*/ 206127 h 593501"/>
              <a:gd name="connsiteX828" fmla="*/ 1445493 w 1667202"/>
              <a:gd name="connsiteY828" fmla="*/ 206871 h 593501"/>
              <a:gd name="connsiteX829" fmla="*/ 1448842 w 1667202"/>
              <a:gd name="connsiteY829" fmla="*/ 207429 h 593501"/>
              <a:gd name="connsiteX830" fmla="*/ 1490328 w 1667202"/>
              <a:gd name="connsiteY830" fmla="*/ 206127 h 593501"/>
              <a:gd name="connsiteX831" fmla="*/ 1490700 w 1667202"/>
              <a:gd name="connsiteY831" fmla="*/ 200360 h 593501"/>
              <a:gd name="connsiteX832" fmla="*/ 1487351 w 1667202"/>
              <a:gd name="connsiteY832" fmla="*/ 199802 h 593501"/>
              <a:gd name="connsiteX833" fmla="*/ 1485119 w 1667202"/>
              <a:gd name="connsiteY833" fmla="*/ 199988 h 593501"/>
              <a:gd name="connsiteX834" fmla="*/ 1481212 w 1667202"/>
              <a:gd name="connsiteY834" fmla="*/ 199988 h 593501"/>
              <a:gd name="connsiteX835" fmla="*/ 1476933 w 1667202"/>
              <a:gd name="connsiteY835" fmla="*/ 196639 h 593501"/>
              <a:gd name="connsiteX836" fmla="*/ 1473585 w 1667202"/>
              <a:gd name="connsiteY836" fmla="*/ 196639 h 593501"/>
              <a:gd name="connsiteX837" fmla="*/ 1470422 w 1667202"/>
              <a:gd name="connsiteY837" fmla="*/ 199616 h 593501"/>
              <a:gd name="connsiteX838" fmla="*/ 1467445 w 1667202"/>
              <a:gd name="connsiteY838" fmla="*/ 199244 h 593501"/>
              <a:gd name="connsiteX839" fmla="*/ 1463167 w 1667202"/>
              <a:gd name="connsiteY839" fmla="*/ 199430 h 593501"/>
              <a:gd name="connsiteX840" fmla="*/ 1459818 w 1667202"/>
              <a:gd name="connsiteY840" fmla="*/ 199802 h 593501"/>
              <a:gd name="connsiteX841" fmla="*/ 1459260 w 1667202"/>
              <a:gd name="connsiteY841" fmla="*/ 197197 h 593501"/>
              <a:gd name="connsiteX842" fmla="*/ 1443633 w 1667202"/>
              <a:gd name="connsiteY842" fmla="*/ 193477 h 593501"/>
              <a:gd name="connsiteX843" fmla="*/ 1441587 w 1667202"/>
              <a:gd name="connsiteY843" fmla="*/ 193291 h 593501"/>
              <a:gd name="connsiteX844" fmla="*/ 1434889 w 1667202"/>
              <a:gd name="connsiteY844" fmla="*/ 193663 h 593501"/>
              <a:gd name="connsiteX845" fmla="*/ 1431727 w 1667202"/>
              <a:gd name="connsiteY845" fmla="*/ 192918 h 593501"/>
              <a:gd name="connsiteX846" fmla="*/ 1408100 w 1667202"/>
              <a:gd name="connsiteY846" fmla="*/ 192918 h 593501"/>
              <a:gd name="connsiteX847" fmla="*/ 1403449 w 1667202"/>
              <a:gd name="connsiteY847" fmla="*/ 191430 h 593501"/>
              <a:gd name="connsiteX848" fmla="*/ 1370893 w 1667202"/>
              <a:gd name="connsiteY848" fmla="*/ 192360 h 593501"/>
              <a:gd name="connsiteX849" fmla="*/ 1360103 w 1667202"/>
              <a:gd name="connsiteY849" fmla="*/ 189942 h 593501"/>
              <a:gd name="connsiteX850" fmla="*/ 1345964 w 1667202"/>
              <a:gd name="connsiteY850" fmla="*/ 189942 h 593501"/>
              <a:gd name="connsiteX851" fmla="*/ 1339639 w 1667202"/>
              <a:gd name="connsiteY851" fmla="*/ 189942 h 593501"/>
              <a:gd name="connsiteX852" fmla="*/ 1330709 w 1667202"/>
              <a:gd name="connsiteY852" fmla="*/ 189198 h 593501"/>
              <a:gd name="connsiteX853" fmla="*/ 1315455 w 1667202"/>
              <a:gd name="connsiteY853" fmla="*/ 184175 h 593501"/>
              <a:gd name="connsiteX854" fmla="*/ 1323640 w 1667202"/>
              <a:gd name="connsiteY854" fmla="*/ 182501 h 593501"/>
              <a:gd name="connsiteX855" fmla="*/ 1324570 w 1667202"/>
              <a:gd name="connsiteY855" fmla="*/ 181570 h 593501"/>
              <a:gd name="connsiteX856" fmla="*/ 1325873 w 1667202"/>
              <a:gd name="connsiteY856" fmla="*/ 181942 h 593501"/>
              <a:gd name="connsiteX857" fmla="*/ 1333500 w 1667202"/>
              <a:gd name="connsiteY857" fmla="*/ 177850 h 593501"/>
              <a:gd name="connsiteX858" fmla="*/ 1333128 w 1667202"/>
              <a:gd name="connsiteY858" fmla="*/ 178222 h 593501"/>
              <a:gd name="connsiteX859" fmla="*/ 1328849 w 1667202"/>
              <a:gd name="connsiteY859" fmla="*/ 168920 h 593501"/>
              <a:gd name="connsiteX860" fmla="*/ 1274899 w 1667202"/>
              <a:gd name="connsiteY860" fmla="*/ 168176 h 593501"/>
              <a:gd name="connsiteX861" fmla="*/ 1243273 w 1667202"/>
              <a:gd name="connsiteY861" fmla="*/ 165013 h 593501"/>
              <a:gd name="connsiteX862" fmla="*/ 1242157 w 1667202"/>
              <a:gd name="connsiteY862" fmla="*/ 165013 h 593501"/>
              <a:gd name="connsiteX863" fmla="*/ 1242901 w 1667202"/>
              <a:gd name="connsiteY863" fmla="*/ 165013 h 593501"/>
              <a:gd name="connsiteX864" fmla="*/ 1390799 w 1667202"/>
              <a:gd name="connsiteY864" fmla="*/ 163153 h 593501"/>
              <a:gd name="connsiteX865" fmla="*/ 1393217 w 1667202"/>
              <a:gd name="connsiteY865" fmla="*/ 161293 h 593501"/>
              <a:gd name="connsiteX866" fmla="*/ 1421309 w 1667202"/>
              <a:gd name="connsiteY866" fmla="*/ 160920 h 593501"/>
              <a:gd name="connsiteX867" fmla="*/ 1420565 w 1667202"/>
              <a:gd name="connsiteY867" fmla="*/ 161479 h 593501"/>
              <a:gd name="connsiteX868" fmla="*/ 1420937 w 1667202"/>
              <a:gd name="connsiteY868" fmla="*/ 162223 h 593501"/>
              <a:gd name="connsiteX869" fmla="*/ 1452563 w 1667202"/>
              <a:gd name="connsiteY869" fmla="*/ 162037 h 593501"/>
              <a:gd name="connsiteX870" fmla="*/ 1456097 w 1667202"/>
              <a:gd name="connsiteY870" fmla="*/ 160920 h 593501"/>
              <a:gd name="connsiteX871" fmla="*/ 1456469 w 1667202"/>
              <a:gd name="connsiteY871" fmla="*/ 160548 h 593501"/>
              <a:gd name="connsiteX872" fmla="*/ 1457400 w 1667202"/>
              <a:gd name="connsiteY872" fmla="*/ 162595 h 593501"/>
              <a:gd name="connsiteX873" fmla="*/ 1507071 w 1667202"/>
              <a:gd name="connsiteY873" fmla="*/ 162595 h 593501"/>
              <a:gd name="connsiteX874" fmla="*/ 1508931 w 1667202"/>
              <a:gd name="connsiteY874" fmla="*/ 160920 h 593501"/>
              <a:gd name="connsiteX875" fmla="*/ 1512094 w 1667202"/>
              <a:gd name="connsiteY875" fmla="*/ 161851 h 593501"/>
              <a:gd name="connsiteX876" fmla="*/ 1526046 w 1667202"/>
              <a:gd name="connsiteY876" fmla="*/ 161665 h 593501"/>
              <a:gd name="connsiteX877" fmla="*/ 1533116 w 1667202"/>
              <a:gd name="connsiteY877" fmla="*/ 161479 h 593501"/>
              <a:gd name="connsiteX878" fmla="*/ 1533674 w 1667202"/>
              <a:gd name="connsiteY878" fmla="*/ 161106 h 593501"/>
              <a:gd name="connsiteX879" fmla="*/ 1527721 w 1667202"/>
              <a:gd name="connsiteY879" fmla="*/ 156642 h 593501"/>
              <a:gd name="connsiteX880" fmla="*/ 1508745 w 1667202"/>
              <a:gd name="connsiteY880" fmla="*/ 157386 h 593501"/>
              <a:gd name="connsiteX881" fmla="*/ 1497025 w 1667202"/>
              <a:gd name="connsiteY881" fmla="*/ 154595 h 593501"/>
              <a:gd name="connsiteX882" fmla="*/ 1485119 w 1667202"/>
              <a:gd name="connsiteY882" fmla="*/ 154409 h 593501"/>
              <a:gd name="connsiteX883" fmla="*/ 1466143 w 1667202"/>
              <a:gd name="connsiteY883" fmla="*/ 153107 h 593501"/>
              <a:gd name="connsiteX884" fmla="*/ 1461492 w 1667202"/>
              <a:gd name="connsiteY884" fmla="*/ 150875 h 593501"/>
              <a:gd name="connsiteX885" fmla="*/ 1454609 w 1667202"/>
              <a:gd name="connsiteY885" fmla="*/ 150688 h 593501"/>
              <a:gd name="connsiteX886" fmla="*/ 1450330 w 1667202"/>
              <a:gd name="connsiteY886" fmla="*/ 151433 h 593501"/>
              <a:gd name="connsiteX887" fmla="*/ 1440284 w 1667202"/>
              <a:gd name="connsiteY887" fmla="*/ 151061 h 593501"/>
              <a:gd name="connsiteX888" fmla="*/ 1429308 w 1667202"/>
              <a:gd name="connsiteY888" fmla="*/ 151433 h 593501"/>
              <a:gd name="connsiteX889" fmla="*/ 1423541 w 1667202"/>
              <a:gd name="connsiteY889" fmla="*/ 154409 h 593501"/>
              <a:gd name="connsiteX890" fmla="*/ 1422239 w 1667202"/>
              <a:gd name="connsiteY890" fmla="*/ 154409 h 593501"/>
              <a:gd name="connsiteX891" fmla="*/ 1420937 w 1667202"/>
              <a:gd name="connsiteY891" fmla="*/ 152363 h 593501"/>
              <a:gd name="connsiteX892" fmla="*/ 1417588 w 1667202"/>
              <a:gd name="connsiteY892" fmla="*/ 150875 h 593501"/>
              <a:gd name="connsiteX893" fmla="*/ 1426890 w 1667202"/>
              <a:gd name="connsiteY893" fmla="*/ 150502 h 593501"/>
              <a:gd name="connsiteX894" fmla="*/ 1431727 w 1667202"/>
              <a:gd name="connsiteY894" fmla="*/ 149572 h 593501"/>
              <a:gd name="connsiteX895" fmla="*/ 1433215 w 1667202"/>
              <a:gd name="connsiteY895" fmla="*/ 148642 h 593501"/>
              <a:gd name="connsiteX896" fmla="*/ 1436936 w 1667202"/>
              <a:gd name="connsiteY896" fmla="*/ 149572 h 593501"/>
              <a:gd name="connsiteX897" fmla="*/ 1449028 w 1667202"/>
              <a:gd name="connsiteY897" fmla="*/ 147898 h 593501"/>
              <a:gd name="connsiteX898" fmla="*/ 1449772 w 1667202"/>
              <a:gd name="connsiteY898" fmla="*/ 146596 h 593501"/>
              <a:gd name="connsiteX899" fmla="*/ 1453679 w 1667202"/>
              <a:gd name="connsiteY899" fmla="*/ 146596 h 593501"/>
              <a:gd name="connsiteX900" fmla="*/ 1458888 w 1667202"/>
              <a:gd name="connsiteY900" fmla="*/ 148084 h 593501"/>
              <a:gd name="connsiteX901" fmla="*/ 1463167 w 1667202"/>
              <a:gd name="connsiteY901" fmla="*/ 147340 h 593501"/>
              <a:gd name="connsiteX902" fmla="*/ 1474143 w 1667202"/>
              <a:gd name="connsiteY902" fmla="*/ 146224 h 593501"/>
              <a:gd name="connsiteX903" fmla="*/ 1490700 w 1667202"/>
              <a:gd name="connsiteY903" fmla="*/ 145666 h 593501"/>
              <a:gd name="connsiteX904" fmla="*/ 1490886 w 1667202"/>
              <a:gd name="connsiteY904" fmla="*/ 143991 h 593501"/>
              <a:gd name="connsiteX905" fmla="*/ 1488467 w 1667202"/>
              <a:gd name="connsiteY905" fmla="*/ 142503 h 593501"/>
              <a:gd name="connsiteX906" fmla="*/ 1488467 w 1667202"/>
              <a:gd name="connsiteY906" fmla="*/ 141945 h 593501"/>
              <a:gd name="connsiteX907" fmla="*/ 1486793 w 1667202"/>
              <a:gd name="connsiteY907" fmla="*/ 139712 h 593501"/>
              <a:gd name="connsiteX908" fmla="*/ 1484188 w 1667202"/>
              <a:gd name="connsiteY908" fmla="*/ 139340 h 593501"/>
              <a:gd name="connsiteX909" fmla="*/ 1473957 w 1667202"/>
              <a:gd name="connsiteY909" fmla="*/ 135806 h 593501"/>
              <a:gd name="connsiteX910" fmla="*/ 1470236 w 1667202"/>
              <a:gd name="connsiteY910" fmla="*/ 135806 h 593501"/>
              <a:gd name="connsiteX911" fmla="*/ 1459632 w 1667202"/>
              <a:gd name="connsiteY911" fmla="*/ 135806 h 593501"/>
              <a:gd name="connsiteX912" fmla="*/ 1456283 w 1667202"/>
              <a:gd name="connsiteY912" fmla="*/ 135806 h 593501"/>
              <a:gd name="connsiteX913" fmla="*/ 1450330 w 1667202"/>
              <a:gd name="connsiteY913" fmla="*/ 138038 h 593501"/>
              <a:gd name="connsiteX914" fmla="*/ 1450516 w 1667202"/>
              <a:gd name="connsiteY914" fmla="*/ 137480 h 593501"/>
              <a:gd name="connsiteX915" fmla="*/ 1449028 w 1667202"/>
              <a:gd name="connsiteY915" fmla="*/ 135992 h 593501"/>
              <a:gd name="connsiteX916" fmla="*/ 1435261 w 1667202"/>
              <a:gd name="connsiteY916" fmla="*/ 135620 h 593501"/>
              <a:gd name="connsiteX917" fmla="*/ 1422611 w 1667202"/>
              <a:gd name="connsiteY917" fmla="*/ 138038 h 593501"/>
              <a:gd name="connsiteX918" fmla="*/ 1420565 w 1667202"/>
              <a:gd name="connsiteY918" fmla="*/ 136178 h 593501"/>
              <a:gd name="connsiteX919" fmla="*/ 1417960 w 1667202"/>
              <a:gd name="connsiteY919" fmla="*/ 135620 h 593501"/>
              <a:gd name="connsiteX920" fmla="*/ 1411077 w 1667202"/>
              <a:gd name="connsiteY920" fmla="*/ 135248 h 593501"/>
              <a:gd name="connsiteX921" fmla="*/ 1404193 w 1667202"/>
              <a:gd name="connsiteY921" fmla="*/ 135806 h 593501"/>
              <a:gd name="connsiteX922" fmla="*/ 1403263 w 1667202"/>
              <a:gd name="connsiteY922" fmla="*/ 138596 h 593501"/>
              <a:gd name="connsiteX923" fmla="*/ 1400845 w 1667202"/>
              <a:gd name="connsiteY923" fmla="*/ 138782 h 593501"/>
              <a:gd name="connsiteX924" fmla="*/ 1401031 w 1667202"/>
              <a:gd name="connsiteY924" fmla="*/ 138596 h 593501"/>
              <a:gd name="connsiteX925" fmla="*/ 1400659 w 1667202"/>
              <a:gd name="connsiteY925" fmla="*/ 138596 h 593501"/>
              <a:gd name="connsiteX926" fmla="*/ 1400473 w 1667202"/>
              <a:gd name="connsiteY926" fmla="*/ 135806 h 593501"/>
              <a:gd name="connsiteX927" fmla="*/ 1384288 w 1667202"/>
              <a:gd name="connsiteY927" fmla="*/ 136178 h 593501"/>
              <a:gd name="connsiteX928" fmla="*/ 1379265 w 1667202"/>
              <a:gd name="connsiteY928" fmla="*/ 139154 h 593501"/>
              <a:gd name="connsiteX929" fmla="*/ 1374056 w 1667202"/>
              <a:gd name="connsiteY929" fmla="*/ 139154 h 593501"/>
              <a:gd name="connsiteX930" fmla="*/ 1372754 w 1667202"/>
              <a:gd name="connsiteY930" fmla="*/ 135620 h 593501"/>
              <a:gd name="connsiteX931" fmla="*/ 1369033 w 1667202"/>
              <a:gd name="connsiteY931" fmla="*/ 134689 h 593501"/>
              <a:gd name="connsiteX932" fmla="*/ 1366800 w 1667202"/>
              <a:gd name="connsiteY932" fmla="*/ 135248 h 593501"/>
              <a:gd name="connsiteX933" fmla="*/ 1366614 w 1667202"/>
              <a:gd name="connsiteY933" fmla="*/ 135248 h 593501"/>
              <a:gd name="connsiteX934" fmla="*/ 1366800 w 1667202"/>
              <a:gd name="connsiteY934" fmla="*/ 134875 h 593501"/>
              <a:gd name="connsiteX935" fmla="*/ 1365870 w 1667202"/>
              <a:gd name="connsiteY935" fmla="*/ 132271 h 593501"/>
              <a:gd name="connsiteX936" fmla="*/ 1358987 w 1667202"/>
              <a:gd name="connsiteY936" fmla="*/ 132457 h 593501"/>
              <a:gd name="connsiteX937" fmla="*/ 1357871 w 1667202"/>
              <a:gd name="connsiteY937" fmla="*/ 134503 h 593501"/>
              <a:gd name="connsiteX938" fmla="*/ 1357313 w 1667202"/>
              <a:gd name="connsiteY938" fmla="*/ 134317 h 593501"/>
              <a:gd name="connsiteX939" fmla="*/ 1355452 w 1667202"/>
              <a:gd name="connsiteY939" fmla="*/ 134689 h 593501"/>
              <a:gd name="connsiteX940" fmla="*/ 1351359 w 1667202"/>
              <a:gd name="connsiteY940" fmla="*/ 136178 h 593501"/>
              <a:gd name="connsiteX941" fmla="*/ 1351732 w 1667202"/>
              <a:gd name="connsiteY941" fmla="*/ 135620 h 593501"/>
              <a:gd name="connsiteX942" fmla="*/ 1347825 w 1667202"/>
              <a:gd name="connsiteY942" fmla="*/ 132643 h 593501"/>
              <a:gd name="connsiteX943" fmla="*/ 1340569 w 1667202"/>
              <a:gd name="connsiteY943" fmla="*/ 129108 h 593501"/>
              <a:gd name="connsiteX944" fmla="*/ 1334616 w 1667202"/>
              <a:gd name="connsiteY944" fmla="*/ 128922 h 593501"/>
              <a:gd name="connsiteX945" fmla="*/ 1322524 w 1667202"/>
              <a:gd name="connsiteY945" fmla="*/ 131527 h 593501"/>
              <a:gd name="connsiteX946" fmla="*/ 1316943 w 1667202"/>
              <a:gd name="connsiteY946" fmla="*/ 132085 h 593501"/>
              <a:gd name="connsiteX947" fmla="*/ 1313408 w 1667202"/>
              <a:gd name="connsiteY947" fmla="*/ 132085 h 593501"/>
              <a:gd name="connsiteX948" fmla="*/ 1302990 w 1667202"/>
              <a:gd name="connsiteY948" fmla="*/ 132457 h 593501"/>
              <a:gd name="connsiteX949" fmla="*/ 1296107 w 1667202"/>
              <a:gd name="connsiteY949" fmla="*/ 132457 h 593501"/>
              <a:gd name="connsiteX950" fmla="*/ 1292944 w 1667202"/>
              <a:gd name="connsiteY950" fmla="*/ 125202 h 593501"/>
              <a:gd name="connsiteX951" fmla="*/ 1292014 w 1667202"/>
              <a:gd name="connsiteY951" fmla="*/ 122969 h 593501"/>
              <a:gd name="connsiteX952" fmla="*/ 1290898 w 1667202"/>
              <a:gd name="connsiteY952" fmla="*/ 122597 h 593501"/>
              <a:gd name="connsiteX953" fmla="*/ 1290898 w 1667202"/>
              <a:gd name="connsiteY953" fmla="*/ 121853 h 593501"/>
              <a:gd name="connsiteX954" fmla="*/ 1305037 w 1667202"/>
              <a:gd name="connsiteY954" fmla="*/ 116458 h 593501"/>
              <a:gd name="connsiteX955" fmla="*/ 1358057 w 1667202"/>
              <a:gd name="connsiteY955" fmla="*/ 116272 h 593501"/>
              <a:gd name="connsiteX956" fmla="*/ 1359731 w 1667202"/>
              <a:gd name="connsiteY956" fmla="*/ 117760 h 593501"/>
              <a:gd name="connsiteX957" fmla="*/ 1373498 w 1667202"/>
              <a:gd name="connsiteY957" fmla="*/ 117016 h 593501"/>
              <a:gd name="connsiteX958" fmla="*/ 1529767 w 1667202"/>
              <a:gd name="connsiteY958" fmla="*/ 118318 h 593501"/>
              <a:gd name="connsiteX959" fmla="*/ 1633947 w 1667202"/>
              <a:gd name="connsiteY959" fmla="*/ 117574 h 593501"/>
              <a:gd name="connsiteX960" fmla="*/ 1661480 w 1667202"/>
              <a:gd name="connsiteY960" fmla="*/ 117760 h 593501"/>
              <a:gd name="connsiteX961" fmla="*/ 1666689 w 1667202"/>
              <a:gd name="connsiteY961" fmla="*/ 114598 h 593501"/>
              <a:gd name="connsiteX962" fmla="*/ 677540 w 1667202"/>
              <a:gd name="connsiteY962" fmla="*/ 60834 h 593501"/>
              <a:gd name="connsiteX963" fmla="*/ 675866 w 1667202"/>
              <a:gd name="connsiteY963" fmla="*/ 60834 h 593501"/>
              <a:gd name="connsiteX964" fmla="*/ 675494 w 1667202"/>
              <a:gd name="connsiteY964" fmla="*/ 60461 h 593501"/>
              <a:gd name="connsiteX965" fmla="*/ 676424 w 1667202"/>
              <a:gd name="connsiteY965" fmla="*/ 60275 h 593501"/>
              <a:gd name="connsiteX966" fmla="*/ 677726 w 1667202"/>
              <a:gd name="connsiteY966" fmla="*/ 59159 h 593501"/>
              <a:gd name="connsiteX967" fmla="*/ 677540 w 1667202"/>
              <a:gd name="connsiteY967" fmla="*/ 60834 h 593501"/>
              <a:gd name="connsiteX968" fmla="*/ 1127559 w 1667202"/>
              <a:gd name="connsiteY968" fmla="*/ 280913 h 593501"/>
              <a:gd name="connsiteX969" fmla="*/ 1124210 w 1667202"/>
              <a:gd name="connsiteY969" fmla="*/ 281285 h 593501"/>
              <a:gd name="connsiteX970" fmla="*/ 1105049 w 1667202"/>
              <a:gd name="connsiteY970" fmla="*/ 283890 h 593501"/>
              <a:gd name="connsiteX971" fmla="*/ 1108584 w 1667202"/>
              <a:gd name="connsiteY971" fmla="*/ 281471 h 593501"/>
              <a:gd name="connsiteX972" fmla="*/ 1112862 w 1667202"/>
              <a:gd name="connsiteY972" fmla="*/ 279053 h 593501"/>
              <a:gd name="connsiteX973" fmla="*/ 1113420 w 1667202"/>
              <a:gd name="connsiteY973" fmla="*/ 274402 h 593501"/>
              <a:gd name="connsiteX974" fmla="*/ 1108770 w 1667202"/>
              <a:gd name="connsiteY974" fmla="*/ 273100 h 593501"/>
              <a:gd name="connsiteX975" fmla="*/ 1094259 w 1667202"/>
              <a:gd name="connsiteY975" fmla="*/ 272542 h 593501"/>
              <a:gd name="connsiteX976" fmla="*/ 1116211 w 1667202"/>
              <a:gd name="connsiteY976" fmla="*/ 274774 h 593501"/>
              <a:gd name="connsiteX977" fmla="*/ 1128675 w 1667202"/>
              <a:gd name="connsiteY977" fmla="*/ 275890 h 593501"/>
              <a:gd name="connsiteX978" fmla="*/ 1127001 w 1667202"/>
              <a:gd name="connsiteY978" fmla="*/ 278123 h 593501"/>
              <a:gd name="connsiteX979" fmla="*/ 1127559 w 1667202"/>
              <a:gd name="connsiteY979" fmla="*/ 280913 h 593501"/>
              <a:gd name="connsiteX980" fmla="*/ 1202903 w 1667202"/>
              <a:gd name="connsiteY980" fmla="*/ 165943 h 593501"/>
              <a:gd name="connsiteX981" fmla="*/ 1204206 w 1667202"/>
              <a:gd name="connsiteY981" fmla="*/ 166129 h 593501"/>
              <a:gd name="connsiteX982" fmla="*/ 1203462 w 1667202"/>
              <a:gd name="connsiteY982" fmla="*/ 166315 h 593501"/>
              <a:gd name="connsiteX983" fmla="*/ 1202903 w 1667202"/>
              <a:gd name="connsiteY983" fmla="*/ 165943 h 593501"/>
              <a:gd name="connsiteX984" fmla="*/ 1339267 w 1667202"/>
              <a:gd name="connsiteY984" fmla="*/ 224731 h 593501"/>
              <a:gd name="connsiteX985" fmla="*/ 1339453 w 1667202"/>
              <a:gd name="connsiteY985" fmla="*/ 224172 h 593501"/>
              <a:gd name="connsiteX986" fmla="*/ 1342430 w 1667202"/>
              <a:gd name="connsiteY986" fmla="*/ 226777 h 593501"/>
              <a:gd name="connsiteX987" fmla="*/ 1348383 w 1667202"/>
              <a:gd name="connsiteY987" fmla="*/ 226777 h 593501"/>
              <a:gd name="connsiteX988" fmla="*/ 1344662 w 1667202"/>
              <a:gd name="connsiteY988" fmla="*/ 227893 h 593501"/>
              <a:gd name="connsiteX989" fmla="*/ 1343918 w 1667202"/>
              <a:gd name="connsiteY989" fmla="*/ 228637 h 593501"/>
              <a:gd name="connsiteX990" fmla="*/ 1341128 w 1667202"/>
              <a:gd name="connsiteY990" fmla="*/ 228637 h 593501"/>
              <a:gd name="connsiteX991" fmla="*/ 1336663 w 1667202"/>
              <a:gd name="connsiteY991" fmla="*/ 227893 h 593501"/>
              <a:gd name="connsiteX992" fmla="*/ 1339267 w 1667202"/>
              <a:gd name="connsiteY992" fmla="*/ 224731 h 593501"/>
              <a:gd name="connsiteX993" fmla="*/ 1280294 w 1667202"/>
              <a:gd name="connsiteY993" fmla="*/ 222126 h 593501"/>
              <a:gd name="connsiteX994" fmla="*/ 1280108 w 1667202"/>
              <a:gd name="connsiteY994" fmla="*/ 222498 h 593501"/>
              <a:gd name="connsiteX995" fmla="*/ 1279736 w 1667202"/>
              <a:gd name="connsiteY995" fmla="*/ 222126 h 593501"/>
              <a:gd name="connsiteX996" fmla="*/ 1280294 w 1667202"/>
              <a:gd name="connsiteY996" fmla="*/ 222126 h 593501"/>
              <a:gd name="connsiteX997" fmla="*/ 1420192 w 1667202"/>
              <a:gd name="connsiteY997" fmla="*/ 144549 h 593501"/>
              <a:gd name="connsiteX998" fmla="*/ 1421867 w 1667202"/>
              <a:gd name="connsiteY998" fmla="*/ 143061 h 593501"/>
              <a:gd name="connsiteX999" fmla="*/ 1421495 w 1667202"/>
              <a:gd name="connsiteY999" fmla="*/ 144921 h 593501"/>
              <a:gd name="connsiteX1000" fmla="*/ 1421681 w 1667202"/>
              <a:gd name="connsiteY1000" fmla="*/ 145480 h 593501"/>
              <a:gd name="connsiteX1001" fmla="*/ 1420192 w 1667202"/>
              <a:gd name="connsiteY1001" fmla="*/ 144549 h 593501"/>
              <a:gd name="connsiteX1002" fmla="*/ 1407914 w 1667202"/>
              <a:gd name="connsiteY1002" fmla="*/ 149386 h 593501"/>
              <a:gd name="connsiteX1003" fmla="*/ 1409774 w 1667202"/>
              <a:gd name="connsiteY1003" fmla="*/ 151433 h 593501"/>
              <a:gd name="connsiteX1004" fmla="*/ 1408658 w 1667202"/>
              <a:gd name="connsiteY1004" fmla="*/ 151061 h 593501"/>
              <a:gd name="connsiteX1005" fmla="*/ 1405310 w 1667202"/>
              <a:gd name="connsiteY1005" fmla="*/ 150130 h 593501"/>
              <a:gd name="connsiteX1006" fmla="*/ 1407914 w 1667202"/>
              <a:gd name="connsiteY1006" fmla="*/ 149386 h 593501"/>
              <a:gd name="connsiteX1007" fmla="*/ 1404565 w 1667202"/>
              <a:gd name="connsiteY1007" fmla="*/ 142317 h 593501"/>
              <a:gd name="connsiteX1008" fmla="*/ 1404565 w 1667202"/>
              <a:gd name="connsiteY1008" fmla="*/ 142317 h 593501"/>
              <a:gd name="connsiteX1009" fmla="*/ 1403821 w 1667202"/>
              <a:gd name="connsiteY1009" fmla="*/ 143619 h 593501"/>
              <a:gd name="connsiteX1010" fmla="*/ 1404565 w 1667202"/>
              <a:gd name="connsiteY1010" fmla="*/ 142317 h 593501"/>
              <a:gd name="connsiteX1011" fmla="*/ 1403263 w 1667202"/>
              <a:gd name="connsiteY1011" fmla="*/ 143805 h 593501"/>
              <a:gd name="connsiteX1012" fmla="*/ 1402147 w 1667202"/>
              <a:gd name="connsiteY1012" fmla="*/ 142131 h 593501"/>
              <a:gd name="connsiteX1013" fmla="*/ 1403263 w 1667202"/>
              <a:gd name="connsiteY1013" fmla="*/ 143805 h 593501"/>
              <a:gd name="connsiteX1014" fmla="*/ 1370335 w 1667202"/>
              <a:gd name="connsiteY1014" fmla="*/ 151061 h 593501"/>
              <a:gd name="connsiteX1015" fmla="*/ 1369963 w 1667202"/>
              <a:gd name="connsiteY1015" fmla="*/ 151247 h 593501"/>
              <a:gd name="connsiteX1016" fmla="*/ 1369591 w 1667202"/>
              <a:gd name="connsiteY1016" fmla="*/ 151247 h 593501"/>
              <a:gd name="connsiteX1017" fmla="*/ 1370335 w 1667202"/>
              <a:gd name="connsiteY1017" fmla="*/ 151061 h 593501"/>
              <a:gd name="connsiteX1018" fmla="*/ 1363638 w 1667202"/>
              <a:gd name="connsiteY1018" fmla="*/ 149944 h 593501"/>
              <a:gd name="connsiteX1019" fmla="*/ 1363824 w 1667202"/>
              <a:gd name="connsiteY1019" fmla="*/ 149572 h 593501"/>
              <a:gd name="connsiteX1020" fmla="*/ 1366056 w 1667202"/>
              <a:gd name="connsiteY1020" fmla="*/ 150875 h 593501"/>
              <a:gd name="connsiteX1021" fmla="*/ 1353778 w 1667202"/>
              <a:gd name="connsiteY1021" fmla="*/ 151433 h 593501"/>
              <a:gd name="connsiteX1022" fmla="*/ 1363638 w 1667202"/>
              <a:gd name="connsiteY1022" fmla="*/ 149944 h 593501"/>
              <a:gd name="connsiteX1023" fmla="*/ 1349685 w 1667202"/>
              <a:gd name="connsiteY1023" fmla="*/ 151247 h 593501"/>
              <a:gd name="connsiteX1024" fmla="*/ 1342058 w 1667202"/>
              <a:gd name="connsiteY1024" fmla="*/ 150875 h 593501"/>
              <a:gd name="connsiteX1025" fmla="*/ 1349685 w 1667202"/>
              <a:gd name="connsiteY1025" fmla="*/ 151247 h 593501"/>
              <a:gd name="connsiteX1026" fmla="*/ 1286805 w 1667202"/>
              <a:gd name="connsiteY1026" fmla="*/ 143991 h 593501"/>
              <a:gd name="connsiteX1027" fmla="*/ 1282712 w 1667202"/>
              <a:gd name="connsiteY1027" fmla="*/ 143991 h 593501"/>
              <a:gd name="connsiteX1028" fmla="*/ 1288666 w 1667202"/>
              <a:gd name="connsiteY1028" fmla="*/ 141387 h 593501"/>
              <a:gd name="connsiteX1029" fmla="*/ 1286805 w 1667202"/>
              <a:gd name="connsiteY1029" fmla="*/ 143991 h 593501"/>
              <a:gd name="connsiteX1030" fmla="*/ 1302990 w 1667202"/>
              <a:gd name="connsiteY1030" fmla="*/ 43346 h 593501"/>
              <a:gd name="connsiteX1031" fmla="*/ 1300758 w 1667202"/>
              <a:gd name="connsiteY1031" fmla="*/ 43346 h 593501"/>
              <a:gd name="connsiteX1032" fmla="*/ 1300758 w 1667202"/>
              <a:gd name="connsiteY1032" fmla="*/ 43160 h 593501"/>
              <a:gd name="connsiteX1033" fmla="*/ 1303920 w 1667202"/>
              <a:gd name="connsiteY1033" fmla="*/ 43160 h 593501"/>
              <a:gd name="connsiteX1034" fmla="*/ 1317129 w 1667202"/>
              <a:gd name="connsiteY1034" fmla="*/ 43532 h 593501"/>
              <a:gd name="connsiteX1035" fmla="*/ 1327547 w 1667202"/>
              <a:gd name="connsiteY1035" fmla="*/ 45021 h 593501"/>
              <a:gd name="connsiteX1036" fmla="*/ 1315269 w 1667202"/>
              <a:gd name="connsiteY1036" fmla="*/ 43346 h 593501"/>
              <a:gd name="connsiteX1037" fmla="*/ 1302990 w 1667202"/>
              <a:gd name="connsiteY1037" fmla="*/ 43346 h 593501"/>
              <a:gd name="connsiteX1038" fmla="*/ 1478980 w 1667202"/>
              <a:gd name="connsiteY1038" fmla="*/ 108645 h 593501"/>
              <a:gd name="connsiteX1039" fmla="*/ 1478794 w 1667202"/>
              <a:gd name="connsiteY1039" fmla="*/ 107156 h 593501"/>
              <a:gd name="connsiteX1040" fmla="*/ 1479352 w 1667202"/>
              <a:gd name="connsiteY1040" fmla="*/ 107714 h 593501"/>
              <a:gd name="connsiteX1041" fmla="*/ 1478980 w 1667202"/>
              <a:gd name="connsiteY1041" fmla="*/ 108645 h 593501"/>
              <a:gd name="connsiteX1042" fmla="*/ 1494979 w 1667202"/>
              <a:gd name="connsiteY1042" fmla="*/ 111435 h 593501"/>
              <a:gd name="connsiteX1043" fmla="*/ 1493862 w 1667202"/>
              <a:gd name="connsiteY1043" fmla="*/ 110691 h 593501"/>
              <a:gd name="connsiteX1044" fmla="*/ 1496281 w 1667202"/>
              <a:gd name="connsiteY1044" fmla="*/ 110691 h 593501"/>
              <a:gd name="connsiteX1045" fmla="*/ 1494979 w 1667202"/>
              <a:gd name="connsiteY1045" fmla="*/ 111435 h 593501"/>
              <a:gd name="connsiteX1046" fmla="*/ 1605483 w 1667202"/>
              <a:gd name="connsiteY1046" fmla="*/ 109575 h 593501"/>
              <a:gd name="connsiteX1047" fmla="*/ 1605297 w 1667202"/>
              <a:gd name="connsiteY1047" fmla="*/ 109761 h 593501"/>
              <a:gd name="connsiteX1048" fmla="*/ 1604925 w 1667202"/>
              <a:gd name="connsiteY1048" fmla="*/ 109761 h 593501"/>
              <a:gd name="connsiteX1049" fmla="*/ 1603995 w 1667202"/>
              <a:gd name="connsiteY1049" fmla="*/ 109203 h 593501"/>
              <a:gd name="connsiteX1050" fmla="*/ 1602693 w 1667202"/>
              <a:gd name="connsiteY1050" fmla="*/ 108272 h 593501"/>
              <a:gd name="connsiteX1051" fmla="*/ 1603065 w 1667202"/>
              <a:gd name="connsiteY1051" fmla="*/ 107714 h 593501"/>
              <a:gd name="connsiteX1052" fmla="*/ 1604739 w 1667202"/>
              <a:gd name="connsiteY1052" fmla="*/ 109017 h 593501"/>
              <a:gd name="connsiteX1053" fmla="*/ 1605483 w 1667202"/>
              <a:gd name="connsiteY1053" fmla="*/ 109575 h 593501"/>
              <a:gd name="connsiteX1054" fmla="*/ 1627808 w 1667202"/>
              <a:gd name="connsiteY1054" fmla="*/ 115900 h 593501"/>
              <a:gd name="connsiteX1055" fmla="*/ 1627436 w 1667202"/>
              <a:gd name="connsiteY1055" fmla="*/ 115714 h 593501"/>
              <a:gd name="connsiteX1056" fmla="*/ 1627808 w 1667202"/>
              <a:gd name="connsiteY1056" fmla="*/ 115900 h 593501"/>
              <a:gd name="connsiteX1057" fmla="*/ 241102 w 1667202"/>
              <a:gd name="connsiteY1057" fmla="*/ 13581 h 593501"/>
              <a:gd name="connsiteX1058" fmla="*/ 244450 w 1667202"/>
              <a:gd name="connsiteY1058" fmla="*/ 4093 h 593501"/>
              <a:gd name="connsiteX1059" fmla="*/ 240916 w 1667202"/>
              <a:gd name="connsiteY1059" fmla="*/ 0 h 593501"/>
              <a:gd name="connsiteX1060" fmla="*/ 231428 w 1667202"/>
              <a:gd name="connsiteY1060" fmla="*/ 5953 h 593501"/>
              <a:gd name="connsiteX1061" fmla="*/ 241102 w 1667202"/>
              <a:gd name="connsiteY1061" fmla="*/ 13581 h 593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Lst>
            <a:rect l="l" t="t" r="r" b="b"/>
            <a:pathLst>
              <a:path w="1667202" h="593501">
                <a:moveTo>
                  <a:pt x="1666689" y="114598"/>
                </a:moveTo>
                <a:cubicBezTo>
                  <a:pt x="1665387" y="113481"/>
                  <a:pt x="1664085" y="112365"/>
                  <a:pt x="1663154" y="111249"/>
                </a:cubicBezTo>
                <a:lnTo>
                  <a:pt x="1659620" y="111249"/>
                </a:lnTo>
                <a:cubicBezTo>
                  <a:pt x="1658690" y="112365"/>
                  <a:pt x="1657573" y="113295"/>
                  <a:pt x="1656457" y="113854"/>
                </a:cubicBezTo>
                <a:cubicBezTo>
                  <a:pt x="1654039" y="115156"/>
                  <a:pt x="1651620" y="115156"/>
                  <a:pt x="1649202" y="114226"/>
                </a:cubicBezTo>
                <a:cubicBezTo>
                  <a:pt x="1647899" y="113295"/>
                  <a:pt x="1646969" y="113295"/>
                  <a:pt x="1646039" y="114412"/>
                </a:cubicBezTo>
                <a:cubicBezTo>
                  <a:pt x="1645109" y="113481"/>
                  <a:pt x="1643993" y="113295"/>
                  <a:pt x="1642504" y="113667"/>
                </a:cubicBezTo>
                <a:cubicBezTo>
                  <a:pt x="1638970" y="114784"/>
                  <a:pt x="1635249" y="114784"/>
                  <a:pt x="1631714" y="113854"/>
                </a:cubicBezTo>
                <a:cubicBezTo>
                  <a:pt x="1630784" y="113295"/>
                  <a:pt x="1629668" y="113295"/>
                  <a:pt x="1628552" y="113481"/>
                </a:cubicBezTo>
                <a:lnTo>
                  <a:pt x="1629110" y="112365"/>
                </a:lnTo>
                <a:lnTo>
                  <a:pt x="1627808" y="111435"/>
                </a:lnTo>
                <a:cubicBezTo>
                  <a:pt x="1618506" y="114970"/>
                  <a:pt x="1614971" y="104552"/>
                  <a:pt x="1607530" y="103436"/>
                </a:cubicBezTo>
                <a:cubicBezTo>
                  <a:pt x="1606972" y="103063"/>
                  <a:pt x="1606228" y="102877"/>
                  <a:pt x="1605670" y="102877"/>
                </a:cubicBezTo>
                <a:cubicBezTo>
                  <a:pt x="1606228" y="102319"/>
                  <a:pt x="1606786" y="101947"/>
                  <a:pt x="1607530" y="101761"/>
                </a:cubicBezTo>
                <a:cubicBezTo>
                  <a:pt x="1610134" y="93204"/>
                  <a:pt x="1603437" y="98785"/>
                  <a:pt x="1601205" y="97668"/>
                </a:cubicBezTo>
                <a:cubicBezTo>
                  <a:pt x="1601019" y="99715"/>
                  <a:pt x="1600647" y="101947"/>
                  <a:pt x="1600460" y="103994"/>
                </a:cubicBezTo>
                <a:cubicBezTo>
                  <a:pt x="1598042" y="103994"/>
                  <a:pt x="1595810" y="104180"/>
                  <a:pt x="1593391" y="104180"/>
                </a:cubicBezTo>
                <a:cubicBezTo>
                  <a:pt x="1590787" y="103808"/>
                  <a:pt x="1587996" y="103436"/>
                  <a:pt x="1585392" y="102877"/>
                </a:cubicBezTo>
                <a:cubicBezTo>
                  <a:pt x="1583903" y="102691"/>
                  <a:pt x="1582601" y="102691"/>
                  <a:pt x="1581113" y="102691"/>
                </a:cubicBezTo>
                <a:lnTo>
                  <a:pt x="1579997" y="103250"/>
                </a:lnTo>
                <a:cubicBezTo>
                  <a:pt x="1579625" y="102505"/>
                  <a:pt x="1579253" y="101761"/>
                  <a:pt x="1578880" y="100831"/>
                </a:cubicBezTo>
                <a:lnTo>
                  <a:pt x="1579811" y="101017"/>
                </a:lnTo>
                <a:lnTo>
                  <a:pt x="1580741" y="100831"/>
                </a:lnTo>
                <a:cubicBezTo>
                  <a:pt x="1579253" y="99529"/>
                  <a:pt x="1577578" y="98413"/>
                  <a:pt x="1576090" y="97110"/>
                </a:cubicBezTo>
                <a:cubicBezTo>
                  <a:pt x="1575904" y="98041"/>
                  <a:pt x="1575718" y="98971"/>
                  <a:pt x="1575718" y="99901"/>
                </a:cubicBezTo>
                <a:cubicBezTo>
                  <a:pt x="1575346" y="99901"/>
                  <a:pt x="1574974" y="100087"/>
                  <a:pt x="1574602" y="100087"/>
                </a:cubicBezTo>
                <a:cubicBezTo>
                  <a:pt x="1574230" y="99715"/>
                  <a:pt x="1573857" y="99343"/>
                  <a:pt x="1573299" y="99157"/>
                </a:cubicBezTo>
                <a:cubicBezTo>
                  <a:pt x="1570323" y="95808"/>
                  <a:pt x="1565486" y="95994"/>
                  <a:pt x="1561951" y="93762"/>
                </a:cubicBezTo>
                <a:lnTo>
                  <a:pt x="1552091" y="93762"/>
                </a:lnTo>
                <a:cubicBezTo>
                  <a:pt x="1549673" y="95250"/>
                  <a:pt x="1547254" y="96552"/>
                  <a:pt x="1544464" y="97110"/>
                </a:cubicBezTo>
                <a:cubicBezTo>
                  <a:pt x="1543906" y="97110"/>
                  <a:pt x="1543534" y="97296"/>
                  <a:pt x="1542976" y="97296"/>
                </a:cubicBezTo>
                <a:cubicBezTo>
                  <a:pt x="1542045" y="96180"/>
                  <a:pt x="1540743" y="95436"/>
                  <a:pt x="1540185" y="94134"/>
                </a:cubicBezTo>
                <a:lnTo>
                  <a:pt x="1534976" y="94134"/>
                </a:lnTo>
                <a:lnTo>
                  <a:pt x="1523814" y="93576"/>
                </a:lnTo>
                <a:cubicBezTo>
                  <a:pt x="1523256" y="94134"/>
                  <a:pt x="1523070" y="94878"/>
                  <a:pt x="1523070" y="95622"/>
                </a:cubicBezTo>
                <a:cubicBezTo>
                  <a:pt x="1521954" y="95808"/>
                  <a:pt x="1521024" y="96366"/>
                  <a:pt x="1520279" y="97110"/>
                </a:cubicBezTo>
                <a:cubicBezTo>
                  <a:pt x="1519163" y="97110"/>
                  <a:pt x="1517861" y="96924"/>
                  <a:pt x="1516745" y="96924"/>
                </a:cubicBezTo>
                <a:cubicBezTo>
                  <a:pt x="1513768" y="94134"/>
                  <a:pt x="1508931" y="97668"/>
                  <a:pt x="1506327" y="93762"/>
                </a:cubicBezTo>
                <a:cubicBezTo>
                  <a:pt x="1505211" y="92832"/>
                  <a:pt x="1503908" y="92832"/>
                  <a:pt x="1502978" y="93948"/>
                </a:cubicBezTo>
                <a:lnTo>
                  <a:pt x="1503164" y="93948"/>
                </a:lnTo>
                <a:cubicBezTo>
                  <a:pt x="1501118" y="95808"/>
                  <a:pt x="1499071" y="97855"/>
                  <a:pt x="1496839" y="99715"/>
                </a:cubicBezTo>
                <a:lnTo>
                  <a:pt x="1494234" y="99715"/>
                </a:lnTo>
                <a:cubicBezTo>
                  <a:pt x="1487351" y="95994"/>
                  <a:pt x="1481026" y="90227"/>
                  <a:pt x="1472096" y="93576"/>
                </a:cubicBezTo>
                <a:cubicBezTo>
                  <a:pt x="1463911" y="89669"/>
                  <a:pt x="1454795" y="94692"/>
                  <a:pt x="1446609" y="90413"/>
                </a:cubicBezTo>
                <a:cubicBezTo>
                  <a:pt x="1420378" y="91715"/>
                  <a:pt x="1394148" y="91715"/>
                  <a:pt x="1368103" y="90599"/>
                </a:cubicBezTo>
                <a:cubicBezTo>
                  <a:pt x="1366242" y="91715"/>
                  <a:pt x="1364382" y="91529"/>
                  <a:pt x="1362522" y="90599"/>
                </a:cubicBezTo>
                <a:cubicBezTo>
                  <a:pt x="1348941" y="90413"/>
                  <a:pt x="1335360" y="92459"/>
                  <a:pt x="1321780" y="90227"/>
                </a:cubicBezTo>
                <a:cubicBezTo>
                  <a:pt x="1319361" y="86692"/>
                  <a:pt x="1318617" y="83158"/>
                  <a:pt x="1321594" y="79437"/>
                </a:cubicBezTo>
                <a:lnTo>
                  <a:pt x="1321408" y="79623"/>
                </a:lnTo>
                <a:cubicBezTo>
                  <a:pt x="1333500" y="69205"/>
                  <a:pt x="1347825" y="77019"/>
                  <a:pt x="1360847" y="74414"/>
                </a:cubicBezTo>
                <a:cubicBezTo>
                  <a:pt x="1362149" y="74228"/>
                  <a:pt x="1363266" y="73856"/>
                  <a:pt x="1364010" y="72926"/>
                </a:cubicBezTo>
                <a:cubicBezTo>
                  <a:pt x="1368661" y="74414"/>
                  <a:pt x="1372939" y="74414"/>
                  <a:pt x="1376102" y="69949"/>
                </a:cubicBezTo>
                <a:cubicBezTo>
                  <a:pt x="1373126" y="69577"/>
                  <a:pt x="1369963" y="69019"/>
                  <a:pt x="1366986" y="68647"/>
                </a:cubicBezTo>
                <a:cubicBezTo>
                  <a:pt x="1365684" y="67903"/>
                  <a:pt x="1364568" y="68089"/>
                  <a:pt x="1363824" y="69205"/>
                </a:cubicBezTo>
                <a:cubicBezTo>
                  <a:pt x="1361963" y="67345"/>
                  <a:pt x="1358429" y="68089"/>
                  <a:pt x="1356754" y="65856"/>
                </a:cubicBezTo>
                <a:cubicBezTo>
                  <a:pt x="1356568" y="65856"/>
                  <a:pt x="1356196" y="65484"/>
                  <a:pt x="1355824" y="64740"/>
                </a:cubicBezTo>
                <a:cubicBezTo>
                  <a:pt x="1355452" y="63996"/>
                  <a:pt x="1355824" y="63066"/>
                  <a:pt x="1356568" y="62136"/>
                </a:cubicBezTo>
                <a:lnTo>
                  <a:pt x="1356382" y="62136"/>
                </a:lnTo>
                <a:cubicBezTo>
                  <a:pt x="1358429" y="60275"/>
                  <a:pt x="1361963" y="61020"/>
                  <a:pt x="1363452" y="58229"/>
                </a:cubicBezTo>
                <a:lnTo>
                  <a:pt x="1363080" y="58601"/>
                </a:lnTo>
                <a:cubicBezTo>
                  <a:pt x="1366056" y="55066"/>
                  <a:pt x="1367358" y="51532"/>
                  <a:pt x="1361963" y="48927"/>
                </a:cubicBezTo>
                <a:cubicBezTo>
                  <a:pt x="1356754" y="49671"/>
                  <a:pt x="1351359" y="49671"/>
                  <a:pt x="1346336" y="48183"/>
                </a:cubicBezTo>
                <a:cubicBezTo>
                  <a:pt x="1345034" y="47067"/>
                  <a:pt x="1343546" y="46137"/>
                  <a:pt x="1341686" y="45579"/>
                </a:cubicBezTo>
                <a:cubicBezTo>
                  <a:pt x="1339453" y="45207"/>
                  <a:pt x="1337407" y="45207"/>
                  <a:pt x="1335174" y="45207"/>
                </a:cubicBezTo>
                <a:cubicBezTo>
                  <a:pt x="1338709" y="45021"/>
                  <a:pt x="1342430" y="44648"/>
                  <a:pt x="1345964" y="44090"/>
                </a:cubicBezTo>
                <a:cubicBezTo>
                  <a:pt x="1353592" y="42602"/>
                  <a:pt x="1361219" y="43718"/>
                  <a:pt x="1369033" y="43346"/>
                </a:cubicBezTo>
                <a:cubicBezTo>
                  <a:pt x="1369405" y="43346"/>
                  <a:pt x="1369777" y="43346"/>
                  <a:pt x="1370149" y="43160"/>
                </a:cubicBezTo>
                <a:cubicBezTo>
                  <a:pt x="1369963" y="44276"/>
                  <a:pt x="1370707" y="44834"/>
                  <a:pt x="1372381" y="44648"/>
                </a:cubicBezTo>
                <a:cubicBezTo>
                  <a:pt x="1397496" y="43160"/>
                  <a:pt x="1422425" y="42788"/>
                  <a:pt x="1447540" y="45579"/>
                </a:cubicBezTo>
                <a:cubicBezTo>
                  <a:pt x="1458702" y="47997"/>
                  <a:pt x="1469864" y="46509"/>
                  <a:pt x="1481212" y="46509"/>
                </a:cubicBezTo>
                <a:cubicBezTo>
                  <a:pt x="1481770" y="45951"/>
                  <a:pt x="1482328" y="45579"/>
                  <a:pt x="1482700" y="45021"/>
                </a:cubicBezTo>
                <a:cubicBezTo>
                  <a:pt x="1486049" y="45951"/>
                  <a:pt x="1489398" y="46137"/>
                  <a:pt x="1492746" y="44834"/>
                </a:cubicBezTo>
                <a:cubicBezTo>
                  <a:pt x="1497397" y="46323"/>
                  <a:pt x="1502048" y="46137"/>
                  <a:pt x="1506699" y="45207"/>
                </a:cubicBezTo>
                <a:cubicBezTo>
                  <a:pt x="1507071" y="46137"/>
                  <a:pt x="1507629" y="47067"/>
                  <a:pt x="1508001" y="47997"/>
                </a:cubicBezTo>
                <a:cubicBezTo>
                  <a:pt x="1509675" y="47997"/>
                  <a:pt x="1511350" y="48183"/>
                  <a:pt x="1513024" y="48183"/>
                </a:cubicBezTo>
                <a:cubicBezTo>
                  <a:pt x="1515256" y="45765"/>
                  <a:pt x="1520465" y="46509"/>
                  <a:pt x="1520465" y="41672"/>
                </a:cubicBezTo>
                <a:cubicBezTo>
                  <a:pt x="1516931" y="41858"/>
                  <a:pt x="1513396" y="42230"/>
                  <a:pt x="1509861" y="42416"/>
                </a:cubicBezTo>
                <a:cubicBezTo>
                  <a:pt x="1507629" y="41858"/>
                  <a:pt x="1505397" y="41300"/>
                  <a:pt x="1502978" y="40742"/>
                </a:cubicBezTo>
                <a:cubicBezTo>
                  <a:pt x="1500746" y="39812"/>
                  <a:pt x="1498513" y="39812"/>
                  <a:pt x="1496281" y="40928"/>
                </a:cubicBezTo>
                <a:cubicBezTo>
                  <a:pt x="1494979" y="40742"/>
                  <a:pt x="1493676" y="40742"/>
                  <a:pt x="1492560" y="40556"/>
                </a:cubicBezTo>
                <a:lnTo>
                  <a:pt x="1492188" y="41486"/>
                </a:lnTo>
                <a:lnTo>
                  <a:pt x="1492932" y="42230"/>
                </a:lnTo>
                <a:cubicBezTo>
                  <a:pt x="1492932" y="42974"/>
                  <a:pt x="1492746" y="43718"/>
                  <a:pt x="1492746" y="44462"/>
                </a:cubicBezTo>
                <a:cubicBezTo>
                  <a:pt x="1492560" y="43718"/>
                  <a:pt x="1492746" y="42974"/>
                  <a:pt x="1492932" y="42230"/>
                </a:cubicBezTo>
                <a:cubicBezTo>
                  <a:pt x="1489584" y="40556"/>
                  <a:pt x="1486235" y="41114"/>
                  <a:pt x="1482886" y="41858"/>
                </a:cubicBezTo>
                <a:cubicBezTo>
                  <a:pt x="1482886" y="41672"/>
                  <a:pt x="1482700" y="41300"/>
                  <a:pt x="1482700" y="41114"/>
                </a:cubicBezTo>
                <a:cubicBezTo>
                  <a:pt x="1467259" y="42044"/>
                  <a:pt x="1453307" y="32928"/>
                  <a:pt x="1437866" y="34789"/>
                </a:cubicBezTo>
                <a:cubicBezTo>
                  <a:pt x="1436191" y="35905"/>
                  <a:pt x="1434517" y="36649"/>
                  <a:pt x="1433029" y="36649"/>
                </a:cubicBezTo>
                <a:cubicBezTo>
                  <a:pt x="1432471" y="35905"/>
                  <a:pt x="1431913" y="35719"/>
                  <a:pt x="1431168" y="36091"/>
                </a:cubicBezTo>
                <a:cubicBezTo>
                  <a:pt x="1430610" y="35719"/>
                  <a:pt x="1429866" y="35347"/>
                  <a:pt x="1429308" y="34603"/>
                </a:cubicBezTo>
                <a:cubicBezTo>
                  <a:pt x="1426518" y="33114"/>
                  <a:pt x="1423727" y="31812"/>
                  <a:pt x="1420565" y="31068"/>
                </a:cubicBezTo>
                <a:cubicBezTo>
                  <a:pt x="1426146" y="30882"/>
                  <a:pt x="1431727" y="30882"/>
                  <a:pt x="1437308" y="30696"/>
                </a:cubicBezTo>
                <a:cubicBezTo>
                  <a:pt x="1440656" y="31626"/>
                  <a:pt x="1444005" y="31812"/>
                  <a:pt x="1447168" y="30510"/>
                </a:cubicBezTo>
                <a:lnTo>
                  <a:pt x="1454981" y="30510"/>
                </a:lnTo>
                <a:cubicBezTo>
                  <a:pt x="1458516" y="29952"/>
                  <a:pt x="1463539" y="34230"/>
                  <a:pt x="1465027" y="27347"/>
                </a:cubicBezTo>
                <a:cubicBezTo>
                  <a:pt x="1464097" y="27347"/>
                  <a:pt x="1463167" y="27161"/>
                  <a:pt x="1462422" y="26975"/>
                </a:cubicBezTo>
                <a:cubicBezTo>
                  <a:pt x="1462608" y="25859"/>
                  <a:pt x="1462050" y="24743"/>
                  <a:pt x="1461120" y="24185"/>
                </a:cubicBezTo>
                <a:cubicBezTo>
                  <a:pt x="1460004" y="24185"/>
                  <a:pt x="1458888" y="23999"/>
                  <a:pt x="1457958" y="23440"/>
                </a:cubicBezTo>
                <a:cubicBezTo>
                  <a:pt x="1453493" y="21022"/>
                  <a:pt x="1448098" y="23999"/>
                  <a:pt x="1443819" y="20650"/>
                </a:cubicBezTo>
                <a:cubicBezTo>
                  <a:pt x="1441400" y="20836"/>
                  <a:pt x="1439168" y="21022"/>
                  <a:pt x="1436750" y="21208"/>
                </a:cubicBezTo>
                <a:cubicBezTo>
                  <a:pt x="1434517" y="21022"/>
                  <a:pt x="1432471" y="20650"/>
                  <a:pt x="1430238" y="20464"/>
                </a:cubicBezTo>
                <a:cubicBezTo>
                  <a:pt x="1429122" y="21580"/>
                  <a:pt x="1428006" y="22882"/>
                  <a:pt x="1426704" y="23999"/>
                </a:cubicBezTo>
                <a:cubicBezTo>
                  <a:pt x="1417588" y="23068"/>
                  <a:pt x="1408658" y="18417"/>
                  <a:pt x="1399542" y="22138"/>
                </a:cubicBezTo>
                <a:cubicBezTo>
                  <a:pt x="1396752" y="21208"/>
                  <a:pt x="1393403" y="22324"/>
                  <a:pt x="1390799" y="21022"/>
                </a:cubicBezTo>
                <a:lnTo>
                  <a:pt x="1389311" y="21394"/>
                </a:lnTo>
                <a:lnTo>
                  <a:pt x="1388194" y="20278"/>
                </a:lnTo>
                <a:cubicBezTo>
                  <a:pt x="1378521" y="10976"/>
                  <a:pt x="1366428" y="17115"/>
                  <a:pt x="1355638" y="15255"/>
                </a:cubicBezTo>
                <a:cubicBezTo>
                  <a:pt x="1354894" y="15255"/>
                  <a:pt x="1354336" y="15441"/>
                  <a:pt x="1353778" y="15813"/>
                </a:cubicBezTo>
                <a:cubicBezTo>
                  <a:pt x="1353778" y="14697"/>
                  <a:pt x="1353034" y="13953"/>
                  <a:pt x="1351732" y="13767"/>
                </a:cubicBezTo>
                <a:cubicBezTo>
                  <a:pt x="1348941" y="14883"/>
                  <a:pt x="1346150" y="14511"/>
                  <a:pt x="1343546" y="13581"/>
                </a:cubicBezTo>
                <a:cubicBezTo>
                  <a:pt x="1340755" y="15627"/>
                  <a:pt x="1337779" y="15069"/>
                  <a:pt x="1334988" y="13767"/>
                </a:cubicBezTo>
                <a:cubicBezTo>
                  <a:pt x="1332942" y="14511"/>
                  <a:pt x="1330896" y="14697"/>
                  <a:pt x="1328849" y="13209"/>
                </a:cubicBezTo>
                <a:cubicBezTo>
                  <a:pt x="1327547" y="12092"/>
                  <a:pt x="1326431" y="12092"/>
                  <a:pt x="1325687" y="13395"/>
                </a:cubicBezTo>
                <a:cubicBezTo>
                  <a:pt x="1325315" y="13022"/>
                  <a:pt x="1325128" y="12650"/>
                  <a:pt x="1324756" y="12092"/>
                </a:cubicBezTo>
                <a:cubicBezTo>
                  <a:pt x="1315641" y="10232"/>
                  <a:pt x="1305967" y="14139"/>
                  <a:pt x="1297037" y="10232"/>
                </a:cubicBezTo>
                <a:cubicBezTo>
                  <a:pt x="1285503" y="11162"/>
                  <a:pt x="1274155" y="11720"/>
                  <a:pt x="1262621" y="9674"/>
                </a:cubicBezTo>
                <a:cubicBezTo>
                  <a:pt x="1259086" y="8000"/>
                  <a:pt x="1255737" y="7813"/>
                  <a:pt x="1252203" y="9860"/>
                </a:cubicBezTo>
                <a:cubicBezTo>
                  <a:pt x="1248668" y="10976"/>
                  <a:pt x="1245133" y="10976"/>
                  <a:pt x="1241785" y="9860"/>
                </a:cubicBezTo>
                <a:cubicBezTo>
                  <a:pt x="1220577" y="5767"/>
                  <a:pt x="1198997" y="11162"/>
                  <a:pt x="1177789" y="7069"/>
                </a:cubicBezTo>
                <a:lnTo>
                  <a:pt x="1166440" y="7069"/>
                </a:lnTo>
                <a:cubicBezTo>
                  <a:pt x="1164394" y="8000"/>
                  <a:pt x="1162348" y="8000"/>
                  <a:pt x="1160487" y="7069"/>
                </a:cubicBezTo>
                <a:cubicBezTo>
                  <a:pt x="1153232" y="7069"/>
                  <a:pt x="1146163" y="7069"/>
                  <a:pt x="1138907" y="7255"/>
                </a:cubicBezTo>
                <a:cubicBezTo>
                  <a:pt x="1137047" y="7627"/>
                  <a:pt x="1135187" y="8558"/>
                  <a:pt x="1133326" y="7069"/>
                </a:cubicBezTo>
                <a:lnTo>
                  <a:pt x="1133698" y="7255"/>
                </a:lnTo>
                <a:cubicBezTo>
                  <a:pt x="1127931" y="2977"/>
                  <a:pt x="1121420" y="5395"/>
                  <a:pt x="1115281" y="5209"/>
                </a:cubicBezTo>
                <a:cubicBezTo>
                  <a:pt x="1092957" y="4093"/>
                  <a:pt x="1070446" y="6883"/>
                  <a:pt x="1048122" y="3721"/>
                </a:cubicBezTo>
                <a:cubicBezTo>
                  <a:pt x="1044774" y="5581"/>
                  <a:pt x="1041425" y="5767"/>
                  <a:pt x="1038076" y="3535"/>
                </a:cubicBezTo>
                <a:cubicBezTo>
                  <a:pt x="1014264" y="8000"/>
                  <a:pt x="990265" y="2418"/>
                  <a:pt x="966453" y="6511"/>
                </a:cubicBezTo>
                <a:cubicBezTo>
                  <a:pt x="965336" y="6511"/>
                  <a:pt x="964034" y="6511"/>
                  <a:pt x="962918" y="6325"/>
                </a:cubicBezTo>
                <a:cubicBezTo>
                  <a:pt x="954732" y="4465"/>
                  <a:pt x="946733" y="4093"/>
                  <a:pt x="938547" y="6511"/>
                </a:cubicBezTo>
                <a:cubicBezTo>
                  <a:pt x="927571" y="9302"/>
                  <a:pt x="916595" y="7441"/>
                  <a:pt x="905619" y="7069"/>
                </a:cubicBezTo>
                <a:cubicBezTo>
                  <a:pt x="897062" y="10418"/>
                  <a:pt x="887760" y="6697"/>
                  <a:pt x="879388" y="9860"/>
                </a:cubicBezTo>
                <a:cubicBezTo>
                  <a:pt x="875854" y="11348"/>
                  <a:pt x="872319" y="11162"/>
                  <a:pt x="868784" y="10046"/>
                </a:cubicBezTo>
                <a:cubicBezTo>
                  <a:pt x="860785" y="7627"/>
                  <a:pt x="852599" y="8000"/>
                  <a:pt x="844414" y="9860"/>
                </a:cubicBezTo>
                <a:cubicBezTo>
                  <a:pt x="842367" y="10976"/>
                  <a:pt x="840135" y="11162"/>
                  <a:pt x="837902" y="10418"/>
                </a:cubicBezTo>
                <a:cubicBezTo>
                  <a:pt x="835484" y="14883"/>
                  <a:pt x="821531" y="7441"/>
                  <a:pt x="827856" y="20464"/>
                </a:cubicBezTo>
                <a:lnTo>
                  <a:pt x="829159" y="20092"/>
                </a:lnTo>
                <a:lnTo>
                  <a:pt x="830461" y="20650"/>
                </a:lnTo>
                <a:lnTo>
                  <a:pt x="830461" y="27533"/>
                </a:lnTo>
                <a:cubicBezTo>
                  <a:pt x="829531" y="28091"/>
                  <a:pt x="828973" y="28835"/>
                  <a:pt x="828973" y="29394"/>
                </a:cubicBezTo>
                <a:lnTo>
                  <a:pt x="826368" y="29394"/>
                </a:lnTo>
                <a:cubicBezTo>
                  <a:pt x="820787" y="29952"/>
                  <a:pt x="815020" y="28091"/>
                  <a:pt x="809625" y="30696"/>
                </a:cubicBezTo>
                <a:cubicBezTo>
                  <a:pt x="809067" y="31812"/>
                  <a:pt x="808137" y="31998"/>
                  <a:pt x="807021" y="31440"/>
                </a:cubicBezTo>
                <a:cubicBezTo>
                  <a:pt x="800137" y="34975"/>
                  <a:pt x="792138" y="30696"/>
                  <a:pt x="785068" y="34417"/>
                </a:cubicBezTo>
                <a:cubicBezTo>
                  <a:pt x="764791" y="36835"/>
                  <a:pt x="744513" y="37393"/>
                  <a:pt x="724235" y="34975"/>
                </a:cubicBezTo>
                <a:cubicBezTo>
                  <a:pt x="708608" y="39067"/>
                  <a:pt x="692609" y="34044"/>
                  <a:pt x="676982" y="37765"/>
                </a:cubicBezTo>
                <a:cubicBezTo>
                  <a:pt x="672703" y="39253"/>
                  <a:pt x="668424" y="39067"/>
                  <a:pt x="663960" y="38509"/>
                </a:cubicBezTo>
                <a:cubicBezTo>
                  <a:pt x="660611" y="41300"/>
                  <a:pt x="653356" y="37765"/>
                  <a:pt x="652797" y="42788"/>
                </a:cubicBezTo>
                <a:cubicBezTo>
                  <a:pt x="652425" y="47067"/>
                  <a:pt x="658006" y="50416"/>
                  <a:pt x="661541" y="53578"/>
                </a:cubicBezTo>
                <a:cubicBezTo>
                  <a:pt x="662099" y="53764"/>
                  <a:pt x="662657" y="54136"/>
                  <a:pt x="663029" y="54322"/>
                </a:cubicBezTo>
                <a:cubicBezTo>
                  <a:pt x="663029" y="54694"/>
                  <a:pt x="663215" y="55066"/>
                  <a:pt x="663215" y="55252"/>
                </a:cubicBezTo>
                <a:cubicBezTo>
                  <a:pt x="664146" y="55625"/>
                  <a:pt x="665634" y="55997"/>
                  <a:pt x="665820" y="56555"/>
                </a:cubicBezTo>
                <a:cubicBezTo>
                  <a:pt x="666378" y="58601"/>
                  <a:pt x="664332" y="58601"/>
                  <a:pt x="663215" y="58973"/>
                </a:cubicBezTo>
                <a:cubicBezTo>
                  <a:pt x="663215" y="59159"/>
                  <a:pt x="663215" y="59531"/>
                  <a:pt x="663029" y="59717"/>
                </a:cubicBezTo>
                <a:cubicBezTo>
                  <a:pt x="662099" y="59903"/>
                  <a:pt x="661355" y="60089"/>
                  <a:pt x="660425" y="60461"/>
                </a:cubicBezTo>
                <a:cubicBezTo>
                  <a:pt x="650751" y="61764"/>
                  <a:pt x="650565" y="61764"/>
                  <a:pt x="653542" y="68647"/>
                </a:cubicBezTo>
                <a:lnTo>
                  <a:pt x="653169" y="68275"/>
                </a:lnTo>
                <a:cubicBezTo>
                  <a:pt x="658751" y="81297"/>
                  <a:pt x="645914" y="75902"/>
                  <a:pt x="642007" y="79437"/>
                </a:cubicBezTo>
                <a:cubicBezTo>
                  <a:pt x="641077" y="80367"/>
                  <a:pt x="640147" y="80553"/>
                  <a:pt x="639031" y="79809"/>
                </a:cubicBezTo>
                <a:cubicBezTo>
                  <a:pt x="628241" y="82414"/>
                  <a:pt x="617451" y="82414"/>
                  <a:pt x="606661" y="79809"/>
                </a:cubicBezTo>
                <a:cubicBezTo>
                  <a:pt x="605544" y="80553"/>
                  <a:pt x="604614" y="80367"/>
                  <a:pt x="603684" y="79437"/>
                </a:cubicBezTo>
                <a:cubicBezTo>
                  <a:pt x="600522" y="76647"/>
                  <a:pt x="596057" y="79065"/>
                  <a:pt x="592894" y="76274"/>
                </a:cubicBezTo>
                <a:lnTo>
                  <a:pt x="593080" y="76460"/>
                </a:lnTo>
                <a:cubicBezTo>
                  <a:pt x="592336" y="74972"/>
                  <a:pt x="591034" y="73856"/>
                  <a:pt x="589918" y="72554"/>
                </a:cubicBezTo>
                <a:cubicBezTo>
                  <a:pt x="589731" y="72182"/>
                  <a:pt x="589359" y="71624"/>
                  <a:pt x="589359" y="71252"/>
                </a:cubicBezTo>
                <a:cubicBezTo>
                  <a:pt x="589545" y="70507"/>
                  <a:pt x="590104" y="69763"/>
                  <a:pt x="590476" y="69019"/>
                </a:cubicBezTo>
                <a:cubicBezTo>
                  <a:pt x="591592" y="66601"/>
                  <a:pt x="595313" y="67531"/>
                  <a:pt x="595871" y="64740"/>
                </a:cubicBezTo>
                <a:cubicBezTo>
                  <a:pt x="597917" y="64740"/>
                  <a:pt x="598847" y="63252"/>
                  <a:pt x="599963" y="61764"/>
                </a:cubicBezTo>
                <a:lnTo>
                  <a:pt x="599777" y="61950"/>
                </a:lnTo>
                <a:cubicBezTo>
                  <a:pt x="600149" y="52276"/>
                  <a:pt x="598289" y="51346"/>
                  <a:pt x="586755" y="56183"/>
                </a:cubicBezTo>
                <a:lnTo>
                  <a:pt x="587127" y="55811"/>
                </a:lnTo>
                <a:cubicBezTo>
                  <a:pt x="585081" y="55811"/>
                  <a:pt x="583964" y="57299"/>
                  <a:pt x="582662" y="58601"/>
                </a:cubicBezTo>
                <a:cubicBezTo>
                  <a:pt x="580802" y="60647"/>
                  <a:pt x="577453" y="59903"/>
                  <a:pt x="575779" y="62508"/>
                </a:cubicBezTo>
                <a:lnTo>
                  <a:pt x="575965" y="62322"/>
                </a:lnTo>
                <a:cubicBezTo>
                  <a:pt x="573732" y="63810"/>
                  <a:pt x="570570" y="63438"/>
                  <a:pt x="568710" y="65670"/>
                </a:cubicBezTo>
                <a:lnTo>
                  <a:pt x="568896" y="65670"/>
                </a:lnTo>
                <a:cubicBezTo>
                  <a:pt x="565919" y="68647"/>
                  <a:pt x="561454" y="66229"/>
                  <a:pt x="558292" y="68647"/>
                </a:cubicBezTo>
                <a:cubicBezTo>
                  <a:pt x="548990" y="70693"/>
                  <a:pt x="539688" y="71437"/>
                  <a:pt x="530386" y="68647"/>
                </a:cubicBezTo>
                <a:cubicBezTo>
                  <a:pt x="529084" y="67717"/>
                  <a:pt x="527968" y="66787"/>
                  <a:pt x="526666" y="65856"/>
                </a:cubicBezTo>
                <a:cubicBezTo>
                  <a:pt x="525735" y="64368"/>
                  <a:pt x="524619" y="63252"/>
                  <a:pt x="523131" y="62322"/>
                </a:cubicBezTo>
                <a:cubicBezTo>
                  <a:pt x="521457" y="59903"/>
                  <a:pt x="518108" y="60461"/>
                  <a:pt x="516062" y="58601"/>
                </a:cubicBezTo>
                <a:cubicBezTo>
                  <a:pt x="510666" y="58601"/>
                  <a:pt x="505458" y="58787"/>
                  <a:pt x="500063" y="58787"/>
                </a:cubicBezTo>
                <a:cubicBezTo>
                  <a:pt x="496528" y="61020"/>
                  <a:pt x="492063" y="59345"/>
                  <a:pt x="488714" y="61578"/>
                </a:cubicBezTo>
                <a:cubicBezTo>
                  <a:pt x="487784" y="62508"/>
                  <a:pt x="486668" y="62694"/>
                  <a:pt x="485552" y="62136"/>
                </a:cubicBezTo>
                <a:cubicBezTo>
                  <a:pt x="481273" y="65670"/>
                  <a:pt x="475506" y="61950"/>
                  <a:pt x="471227" y="65298"/>
                </a:cubicBezTo>
                <a:cubicBezTo>
                  <a:pt x="470483" y="66229"/>
                  <a:pt x="469553" y="66415"/>
                  <a:pt x="468437" y="65670"/>
                </a:cubicBezTo>
                <a:cubicBezTo>
                  <a:pt x="462855" y="69205"/>
                  <a:pt x="455972" y="65112"/>
                  <a:pt x="450205" y="68647"/>
                </a:cubicBezTo>
                <a:lnTo>
                  <a:pt x="446670" y="68647"/>
                </a:lnTo>
                <a:cubicBezTo>
                  <a:pt x="445368" y="67717"/>
                  <a:pt x="444438" y="66042"/>
                  <a:pt x="442392" y="66042"/>
                </a:cubicBezTo>
                <a:cubicBezTo>
                  <a:pt x="440903" y="62880"/>
                  <a:pt x="437369" y="63624"/>
                  <a:pt x="434950" y="62322"/>
                </a:cubicBezTo>
                <a:cubicBezTo>
                  <a:pt x="434020" y="63066"/>
                  <a:pt x="433276" y="62880"/>
                  <a:pt x="432718" y="61764"/>
                </a:cubicBezTo>
                <a:cubicBezTo>
                  <a:pt x="428067" y="59345"/>
                  <a:pt x="423416" y="59717"/>
                  <a:pt x="418765" y="61578"/>
                </a:cubicBezTo>
                <a:cubicBezTo>
                  <a:pt x="418207" y="62694"/>
                  <a:pt x="417463" y="62880"/>
                  <a:pt x="416347" y="62322"/>
                </a:cubicBezTo>
                <a:cubicBezTo>
                  <a:pt x="413742" y="63624"/>
                  <a:pt x="410394" y="63066"/>
                  <a:pt x="408719" y="66042"/>
                </a:cubicBezTo>
                <a:cubicBezTo>
                  <a:pt x="406301" y="66973"/>
                  <a:pt x="403138" y="66787"/>
                  <a:pt x="401650" y="69577"/>
                </a:cubicBezTo>
                <a:cubicBezTo>
                  <a:pt x="399231" y="70507"/>
                  <a:pt x="396441" y="70507"/>
                  <a:pt x="394209" y="72368"/>
                </a:cubicBezTo>
                <a:lnTo>
                  <a:pt x="393278" y="73298"/>
                </a:lnTo>
                <a:lnTo>
                  <a:pt x="391976" y="72926"/>
                </a:lnTo>
                <a:cubicBezTo>
                  <a:pt x="386767" y="74414"/>
                  <a:pt x="381558" y="75530"/>
                  <a:pt x="376535" y="72740"/>
                </a:cubicBezTo>
                <a:cubicBezTo>
                  <a:pt x="369652" y="69577"/>
                  <a:pt x="362769" y="69763"/>
                  <a:pt x="356071" y="72554"/>
                </a:cubicBezTo>
                <a:cubicBezTo>
                  <a:pt x="354211" y="74600"/>
                  <a:pt x="350676" y="73856"/>
                  <a:pt x="349188" y="76460"/>
                </a:cubicBezTo>
                <a:lnTo>
                  <a:pt x="349374" y="76274"/>
                </a:lnTo>
                <a:cubicBezTo>
                  <a:pt x="347328" y="77949"/>
                  <a:pt x="343979" y="77205"/>
                  <a:pt x="342677" y="80181"/>
                </a:cubicBezTo>
                <a:cubicBezTo>
                  <a:pt x="340816" y="80181"/>
                  <a:pt x="339886" y="81669"/>
                  <a:pt x="338584" y="82414"/>
                </a:cubicBezTo>
                <a:cubicBezTo>
                  <a:pt x="338026" y="83530"/>
                  <a:pt x="337096" y="83716"/>
                  <a:pt x="335979" y="83158"/>
                </a:cubicBezTo>
                <a:cubicBezTo>
                  <a:pt x="332631" y="85576"/>
                  <a:pt x="328166" y="83716"/>
                  <a:pt x="324631" y="85948"/>
                </a:cubicBezTo>
                <a:cubicBezTo>
                  <a:pt x="317004" y="87809"/>
                  <a:pt x="309190" y="86878"/>
                  <a:pt x="301377" y="86692"/>
                </a:cubicBezTo>
                <a:cubicBezTo>
                  <a:pt x="296354" y="88181"/>
                  <a:pt x="300447" y="94134"/>
                  <a:pt x="296540" y="96180"/>
                </a:cubicBezTo>
                <a:lnTo>
                  <a:pt x="296168" y="96552"/>
                </a:lnTo>
                <a:cubicBezTo>
                  <a:pt x="294866" y="99157"/>
                  <a:pt x="291331" y="98227"/>
                  <a:pt x="289657" y="100273"/>
                </a:cubicBezTo>
                <a:cubicBezTo>
                  <a:pt x="286680" y="103436"/>
                  <a:pt x="282029" y="100645"/>
                  <a:pt x="279053" y="103622"/>
                </a:cubicBezTo>
                <a:cubicBezTo>
                  <a:pt x="278309" y="104552"/>
                  <a:pt x="277564" y="104738"/>
                  <a:pt x="276448" y="103994"/>
                </a:cubicBezTo>
                <a:cubicBezTo>
                  <a:pt x="271983" y="106970"/>
                  <a:pt x="266030" y="103808"/>
                  <a:pt x="261565" y="106970"/>
                </a:cubicBezTo>
                <a:cubicBezTo>
                  <a:pt x="259891" y="107156"/>
                  <a:pt x="258031" y="107342"/>
                  <a:pt x="256356" y="107528"/>
                </a:cubicBezTo>
                <a:cubicBezTo>
                  <a:pt x="252822" y="109947"/>
                  <a:pt x="246683" y="106412"/>
                  <a:pt x="244636" y="112365"/>
                </a:cubicBezTo>
                <a:cubicBezTo>
                  <a:pt x="246311" y="116644"/>
                  <a:pt x="246311" y="120923"/>
                  <a:pt x="245008" y="125388"/>
                </a:cubicBezTo>
                <a:cubicBezTo>
                  <a:pt x="242218" y="127062"/>
                  <a:pt x="239799" y="129480"/>
                  <a:pt x="238125" y="132271"/>
                </a:cubicBezTo>
                <a:cubicBezTo>
                  <a:pt x="234962" y="133015"/>
                  <a:pt x="235893" y="136922"/>
                  <a:pt x="233660" y="138410"/>
                </a:cubicBezTo>
                <a:cubicBezTo>
                  <a:pt x="230125" y="142317"/>
                  <a:pt x="234218" y="148270"/>
                  <a:pt x="230125" y="151991"/>
                </a:cubicBezTo>
                <a:cubicBezTo>
                  <a:pt x="229567" y="153107"/>
                  <a:pt x="228823" y="153293"/>
                  <a:pt x="227707" y="152735"/>
                </a:cubicBezTo>
                <a:cubicBezTo>
                  <a:pt x="222126" y="154595"/>
                  <a:pt x="218219" y="158316"/>
                  <a:pt x="216545" y="164083"/>
                </a:cubicBezTo>
                <a:lnTo>
                  <a:pt x="216359" y="165385"/>
                </a:lnTo>
                <a:cubicBezTo>
                  <a:pt x="217847" y="173757"/>
                  <a:pt x="222684" y="179710"/>
                  <a:pt x="230125" y="183617"/>
                </a:cubicBezTo>
                <a:cubicBezTo>
                  <a:pt x="230312" y="183617"/>
                  <a:pt x="230684" y="183989"/>
                  <a:pt x="230870" y="184733"/>
                </a:cubicBezTo>
                <a:cubicBezTo>
                  <a:pt x="231056" y="185477"/>
                  <a:pt x="230870" y="186407"/>
                  <a:pt x="229939" y="187151"/>
                </a:cubicBezTo>
                <a:lnTo>
                  <a:pt x="229753" y="187151"/>
                </a:lnTo>
                <a:cubicBezTo>
                  <a:pt x="224358" y="191616"/>
                  <a:pt x="223986" y="195337"/>
                  <a:pt x="231614" y="197197"/>
                </a:cubicBezTo>
                <a:cubicBezTo>
                  <a:pt x="234590" y="196267"/>
                  <a:pt x="237567" y="196639"/>
                  <a:pt x="240357" y="197941"/>
                </a:cubicBezTo>
                <a:cubicBezTo>
                  <a:pt x="242590" y="199430"/>
                  <a:pt x="245194" y="199244"/>
                  <a:pt x="247613" y="200546"/>
                </a:cubicBezTo>
                <a:cubicBezTo>
                  <a:pt x="248729" y="203150"/>
                  <a:pt x="252450" y="202220"/>
                  <a:pt x="253752" y="204825"/>
                </a:cubicBezTo>
                <a:lnTo>
                  <a:pt x="253938" y="205197"/>
                </a:lnTo>
                <a:lnTo>
                  <a:pt x="255426" y="205941"/>
                </a:lnTo>
                <a:lnTo>
                  <a:pt x="254124" y="206871"/>
                </a:lnTo>
                <a:cubicBezTo>
                  <a:pt x="253194" y="207243"/>
                  <a:pt x="252078" y="207801"/>
                  <a:pt x="251147" y="208173"/>
                </a:cubicBezTo>
                <a:cubicBezTo>
                  <a:pt x="248543" y="210406"/>
                  <a:pt x="248543" y="212638"/>
                  <a:pt x="250961" y="214871"/>
                </a:cubicBezTo>
                <a:lnTo>
                  <a:pt x="250961" y="214685"/>
                </a:lnTo>
                <a:cubicBezTo>
                  <a:pt x="252078" y="216545"/>
                  <a:pt x="252822" y="218777"/>
                  <a:pt x="254124" y="220638"/>
                </a:cubicBezTo>
                <a:cubicBezTo>
                  <a:pt x="262124" y="226777"/>
                  <a:pt x="251333" y="234032"/>
                  <a:pt x="255426" y="240543"/>
                </a:cubicBezTo>
                <a:cubicBezTo>
                  <a:pt x="255612" y="241474"/>
                  <a:pt x="256542" y="240916"/>
                  <a:pt x="257287" y="240543"/>
                </a:cubicBezTo>
                <a:lnTo>
                  <a:pt x="257287" y="241288"/>
                </a:lnTo>
                <a:cubicBezTo>
                  <a:pt x="256729" y="241102"/>
                  <a:pt x="255984" y="240916"/>
                  <a:pt x="255426" y="240729"/>
                </a:cubicBezTo>
                <a:cubicBezTo>
                  <a:pt x="254496" y="240543"/>
                  <a:pt x="253380" y="240171"/>
                  <a:pt x="252450" y="239799"/>
                </a:cubicBezTo>
                <a:cubicBezTo>
                  <a:pt x="249473" y="238683"/>
                  <a:pt x="246497" y="238311"/>
                  <a:pt x="243520" y="238311"/>
                </a:cubicBezTo>
                <a:cubicBezTo>
                  <a:pt x="235521" y="235521"/>
                  <a:pt x="227521" y="235707"/>
                  <a:pt x="219335" y="236823"/>
                </a:cubicBezTo>
                <a:cubicBezTo>
                  <a:pt x="219521" y="237381"/>
                  <a:pt x="219708" y="238125"/>
                  <a:pt x="219521" y="238683"/>
                </a:cubicBezTo>
                <a:lnTo>
                  <a:pt x="222126" y="238683"/>
                </a:lnTo>
                <a:cubicBezTo>
                  <a:pt x="210406" y="239985"/>
                  <a:pt x="198686" y="242776"/>
                  <a:pt x="186779" y="241846"/>
                </a:cubicBezTo>
                <a:cubicBezTo>
                  <a:pt x="188082" y="241474"/>
                  <a:pt x="189570" y="240916"/>
                  <a:pt x="191058" y="239799"/>
                </a:cubicBezTo>
                <a:lnTo>
                  <a:pt x="179524" y="239799"/>
                </a:lnTo>
                <a:cubicBezTo>
                  <a:pt x="178966" y="239427"/>
                  <a:pt x="178408" y="239055"/>
                  <a:pt x="178036" y="238497"/>
                </a:cubicBezTo>
                <a:cubicBezTo>
                  <a:pt x="175989" y="237381"/>
                  <a:pt x="173571" y="237567"/>
                  <a:pt x="171338" y="237567"/>
                </a:cubicBezTo>
                <a:cubicBezTo>
                  <a:pt x="169850" y="237567"/>
                  <a:pt x="168362" y="238125"/>
                  <a:pt x="167060" y="238869"/>
                </a:cubicBezTo>
                <a:cubicBezTo>
                  <a:pt x="163153" y="240543"/>
                  <a:pt x="159060" y="241102"/>
                  <a:pt x="154967" y="239613"/>
                </a:cubicBezTo>
                <a:cubicBezTo>
                  <a:pt x="149944" y="242218"/>
                  <a:pt x="143805" y="239427"/>
                  <a:pt x="139154" y="242776"/>
                </a:cubicBezTo>
                <a:lnTo>
                  <a:pt x="138410" y="243520"/>
                </a:lnTo>
                <a:lnTo>
                  <a:pt x="137480" y="243148"/>
                </a:lnTo>
                <a:cubicBezTo>
                  <a:pt x="136364" y="251892"/>
                  <a:pt x="144735" y="245566"/>
                  <a:pt x="146782" y="248915"/>
                </a:cubicBezTo>
                <a:lnTo>
                  <a:pt x="146596" y="248729"/>
                </a:lnTo>
                <a:cubicBezTo>
                  <a:pt x="146968" y="249845"/>
                  <a:pt x="147526" y="250589"/>
                  <a:pt x="148456" y="251334"/>
                </a:cubicBezTo>
                <a:cubicBezTo>
                  <a:pt x="147712" y="253194"/>
                  <a:pt x="147898" y="254868"/>
                  <a:pt x="150502" y="256170"/>
                </a:cubicBezTo>
                <a:cubicBezTo>
                  <a:pt x="152549" y="255798"/>
                  <a:pt x="154781" y="255798"/>
                  <a:pt x="156456" y="257287"/>
                </a:cubicBezTo>
                <a:lnTo>
                  <a:pt x="158688" y="256729"/>
                </a:lnTo>
                <a:cubicBezTo>
                  <a:pt x="159246" y="257473"/>
                  <a:pt x="159990" y="258031"/>
                  <a:pt x="160734" y="258589"/>
                </a:cubicBezTo>
                <a:cubicBezTo>
                  <a:pt x="160920" y="258589"/>
                  <a:pt x="160920" y="260077"/>
                  <a:pt x="160920" y="260077"/>
                </a:cubicBezTo>
                <a:cubicBezTo>
                  <a:pt x="160920" y="260077"/>
                  <a:pt x="159432" y="260263"/>
                  <a:pt x="159618" y="260263"/>
                </a:cubicBezTo>
                <a:cubicBezTo>
                  <a:pt x="153107" y="263054"/>
                  <a:pt x="145666" y="260077"/>
                  <a:pt x="139154" y="263240"/>
                </a:cubicBezTo>
                <a:cubicBezTo>
                  <a:pt x="138038" y="263240"/>
                  <a:pt x="136736" y="263426"/>
                  <a:pt x="135620" y="263426"/>
                </a:cubicBezTo>
                <a:cubicBezTo>
                  <a:pt x="133387" y="261379"/>
                  <a:pt x="130969" y="261379"/>
                  <a:pt x="128736" y="263240"/>
                </a:cubicBezTo>
                <a:cubicBezTo>
                  <a:pt x="123341" y="264914"/>
                  <a:pt x="117946" y="264542"/>
                  <a:pt x="112551" y="263798"/>
                </a:cubicBezTo>
                <a:cubicBezTo>
                  <a:pt x="100831" y="267891"/>
                  <a:pt x="88181" y="262124"/>
                  <a:pt x="76460" y="267147"/>
                </a:cubicBezTo>
                <a:lnTo>
                  <a:pt x="76646" y="267147"/>
                </a:lnTo>
                <a:cubicBezTo>
                  <a:pt x="73856" y="269565"/>
                  <a:pt x="70879" y="268263"/>
                  <a:pt x="68089" y="267333"/>
                </a:cubicBezTo>
                <a:cubicBezTo>
                  <a:pt x="66787" y="268449"/>
                  <a:pt x="65298" y="268635"/>
                  <a:pt x="63996" y="267333"/>
                </a:cubicBezTo>
                <a:cubicBezTo>
                  <a:pt x="61950" y="267519"/>
                  <a:pt x="60461" y="268821"/>
                  <a:pt x="58973" y="269937"/>
                </a:cubicBezTo>
                <a:cubicBezTo>
                  <a:pt x="57857" y="269937"/>
                  <a:pt x="56555" y="270123"/>
                  <a:pt x="55438" y="270123"/>
                </a:cubicBezTo>
                <a:cubicBezTo>
                  <a:pt x="50788" y="268077"/>
                  <a:pt x="46137" y="268077"/>
                  <a:pt x="41486" y="270123"/>
                </a:cubicBezTo>
                <a:cubicBezTo>
                  <a:pt x="39625" y="271425"/>
                  <a:pt x="37765" y="271425"/>
                  <a:pt x="35719" y="270681"/>
                </a:cubicBezTo>
                <a:cubicBezTo>
                  <a:pt x="35347" y="271053"/>
                  <a:pt x="34789" y="271425"/>
                  <a:pt x="34417" y="271797"/>
                </a:cubicBezTo>
                <a:cubicBezTo>
                  <a:pt x="34230" y="272169"/>
                  <a:pt x="34230" y="273100"/>
                  <a:pt x="34230" y="273100"/>
                </a:cubicBezTo>
                <a:cubicBezTo>
                  <a:pt x="42788" y="274588"/>
                  <a:pt x="48555" y="283890"/>
                  <a:pt x="58043" y="282587"/>
                </a:cubicBezTo>
                <a:cubicBezTo>
                  <a:pt x="66601" y="281471"/>
                  <a:pt x="68275" y="286308"/>
                  <a:pt x="69019" y="292075"/>
                </a:cubicBezTo>
                <a:cubicBezTo>
                  <a:pt x="67903" y="291889"/>
                  <a:pt x="66973" y="291889"/>
                  <a:pt x="65856" y="291703"/>
                </a:cubicBezTo>
                <a:lnTo>
                  <a:pt x="65856" y="291517"/>
                </a:lnTo>
                <a:cubicBezTo>
                  <a:pt x="61578" y="295052"/>
                  <a:pt x="55811" y="291331"/>
                  <a:pt x="51532" y="294680"/>
                </a:cubicBezTo>
                <a:cubicBezTo>
                  <a:pt x="51346" y="294680"/>
                  <a:pt x="51160" y="295052"/>
                  <a:pt x="50974" y="295796"/>
                </a:cubicBezTo>
                <a:cubicBezTo>
                  <a:pt x="50788" y="296540"/>
                  <a:pt x="51160" y="297284"/>
                  <a:pt x="51904" y="298028"/>
                </a:cubicBezTo>
                <a:lnTo>
                  <a:pt x="72554" y="298028"/>
                </a:lnTo>
                <a:cubicBezTo>
                  <a:pt x="72926" y="297470"/>
                  <a:pt x="73112" y="296726"/>
                  <a:pt x="73112" y="296168"/>
                </a:cubicBezTo>
                <a:cubicBezTo>
                  <a:pt x="74600" y="296354"/>
                  <a:pt x="75902" y="296354"/>
                  <a:pt x="77391" y="296354"/>
                </a:cubicBezTo>
                <a:cubicBezTo>
                  <a:pt x="114784" y="297284"/>
                  <a:pt x="152177" y="294494"/>
                  <a:pt x="189570" y="297842"/>
                </a:cubicBezTo>
                <a:cubicBezTo>
                  <a:pt x="193477" y="295796"/>
                  <a:pt x="197569" y="295982"/>
                  <a:pt x="201476" y="297656"/>
                </a:cubicBezTo>
                <a:cubicBezTo>
                  <a:pt x="210964" y="298214"/>
                  <a:pt x="200918" y="300819"/>
                  <a:pt x="201848" y="302121"/>
                </a:cubicBezTo>
                <a:cubicBezTo>
                  <a:pt x="200174" y="302679"/>
                  <a:pt x="199244" y="303981"/>
                  <a:pt x="197941" y="305098"/>
                </a:cubicBezTo>
                <a:cubicBezTo>
                  <a:pt x="192732" y="314958"/>
                  <a:pt x="202406" y="312725"/>
                  <a:pt x="206127" y="315144"/>
                </a:cubicBezTo>
                <a:cubicBezTo>
                  <a:pt x="211522" y="315330"/>
                  <a:pt x="216917" y="315516"/>
                  <a:pt x="222126" y="315702"/>
                </a:cubicBezTo>
                <a:cubicBezTo>
                  <a:pt x="242962" y="318120"/>
                  <a:pt x="263984" y="317934"/>
                  <a:pt x="284820" y="315702"/>
                </a:cubicBezTo>
                <a:cubicBezTo>
                  <a:pt x="290587" y="314399"/>
                  <a:pt x="296540" y="314399"/>
                  <a:pt x="302307" y="315702"/>
                </a:cubicBezTo>
                <a:cubicBezTo>
                  <a:pt x="304354" y="317562"/>
                  <a:pt x="307330" y="317004"/>
                  <a:pt x="309563" y="318678"/>
                </a:cubicBezTo>
                <a:cubicBezTo>
                  <a:pt x="311609" y="321097"/>
                  <a:pt x="314958" y="320911"/>
                  <a:pt x="317562" y="322027"/>
                </a:cubicBezTo>
                <a:cubicBezTo>
                  <a:pt x="320725" y="321097"/>
                  <a:pt x="323887" y="321469"/>
                  <a:pt x="326864" y="322771"/>
                </a:cubicBezTo>
                <a:cubicBezTo>
                  <a:pt x="332259" y="325934"/>
                  <a:pt x="341561" y="320539"/>
                  <a:pt x="344351" y="330212"/>
                </a:cubicBezTo>
                <a:cubicBezTo>
                  <a:pt x="344537" y="330212"/>
                  <a:pt x="344537" y="330212"/>
                  <a:pt x="344723" y="330398"/>
                </a:cubicBezTo>
                <a:cubicBezTo>
                  <a:pt x="344723" y="330584"/>
                  <a:pt x="344723" y="330957"/>
                  <a:pt x="344537" y="331143"/>
                </a:cubicBezTo>
                <a:cubicBezTo>
                  <a:pt x="343049" y="331143"/>
                  <a:pt x="341933" y="331701"/>
                  <a:pt x="340816" y="332631"/>
                </a:cubicBezTo>
                <a:cubicBezTo>
                  <a:pt x="317004" y="333561"/>
                  <a:pt x="293377" y="334677"/>
                  <a:pt x="269565" y="333003"/>
                </a:cubicBezTo>
                <a:cubicBezTo>
                  <a:pt x="253938" y="337096"/>
                  <a:pt x="237753" y="332073"/>
                  <a:pt x="222126" y="335980"/>
                </a:cubicBezTo>
                <a:lnTo>
                  <a:pt x="222498" y="336910"/>
                </a:lnTo>
                <a:cubicBezTo>
                  <a:pt x="219149" y="336724"/>
                  <a:pt x="215615" y="336724"/>
                  <a:pt x="212266" y="336538"/>
                </a:cubicBezTo>
                <a:cubicBezTo>
                  <a:pt x="213568" y="341002"/>
                  <a:pt x="217103" y="341561"/>
                  <a:pt x="220638" y="342491"/>
                </a:cubicBezTo>
                <a:cubicBezTo>
                  <a:pt x="221010" y="343235"/>
                  <a:pt x="221568" y="343979"/>
                  <a:pt x="222126" y="344723"/>
                </a:cubicBezTo>
                <a:cubicBezTo>
                  <a:pt x="222126" y="348630"/>
                  <a:pt x="219894" y="353281"/>
                  <a:pt x="223800" y="355885"/>
                </a:cubicBezTo>
                <a:cubicBezTo>
                  <a:pt x="223986" y="356257"/>
                  <a:pt x="224172" y="356815"/>
                  <a:pt x="224358" y="357188"/>
                </a:cubicBezTo>
                <a:cubicBezTo>
                  <a:pt x="224917" y="359234"/>
                  <a:pt x="228823" y="358304"/>
                  <a:pt x="228637" y="361094"/>
                </a:cubicBezTo>
                <a:cubicBezTo>
                  <a:pt x="225847" y="360722"/>
                  <a:pt x="223614" y="360908"/>
                  <a:pt x="224358" y="365001"/>
                </a:cubicBezTo>
                <a:cubicBezTo>
                  <a:pt x="223056" y="366117"/>
                  <a:pt x="221754" y="367233"/>
                  <a:pt x="221010" y="368722"/>
                </a:cubicBezTo>
                <a:cubicBezTo>
                  <a:pt x="220266" y="376535"/>
                  <a:pt x="214871" y="376721"/>
                  <a:pt x="208731" y="376721"/>
                </a:cubicBezTo>
                <a:cubicBezTo>
                  <a:pt x="199616" y="376535"/>
                  <a:pt x="190500" y="376349"/>
                  <a:pt x="181570" y="376907"/>
                </a:cubicBezTo>
                <a:cubicBezTo>
                  <a:pt x="180826" y="377465"/>
                  <a:pt x="180454" y="378023"/>
                  <a:pt x="180082" y="378582"/>
                </a:cubicBezTo>
                <a:cubicBezTo>
                  <a:pt x="178966" y="378210"/>
                  <a:pt x="177850" y="378023"/>
                  <a:pt x="176919" y="377651"/>
                </a:cubicBezTo>
                <a:cubicBezTo>
                  <a:pt x="175989" y="378396"/>
                  <a:pt x="174873" y="378582"/>
                  <a:pt x="173571" y="378396"/>
                </a:cubicBezTo>
                <a:cubicBezTo>
                  <a:pt x="172827" y="382302"/>
                  <a:pt x="176733" y="382488"/>
                  <a:pt x="178222" y="384721"/>
                </a:cubicBezTo>
                <a:lnTo>
                  <a:pt x="184175" y="384721"/>
                </a:lnTo>
                <a:lnTo>
                  <a:pt x="183803" y="385837"/>
                </a:lnTo>
                <a:cubicBezTo>
                  <a:pt x="185291" y="386395"/>
                  <a:pt x="186221" y="388069"/>
                  <a:pt x="188082" y="388255"/>
                </a:cubicBezTo>
                <a:cubicBezTo>
                  <a:pt x="189012" y="391046"/>
                  <a:pt x="192732" y="390116"/>
                  <a:pt x="194035" y="392534"/>
                </a:cubicBezTo>
                <a:lnTo>
                  <a:pt x="194221" y="392720"/>
                </a:lnTo>
                <a:cubicBezTo>
                  <a:pt x="197011" y="396441"/>
                  <a:pt x="192546" y="397743"/>
                  <a:pt x="191802" y="400162"/>
                </a:cubicBezTo>
                <a:cubicBezTo>
                  <a:pt x="189570" y="400162"/>
                  <a:pt x="188454" y="401650"/>
                  <a:pt x="187896" y="403696"/>
                </a:cubicBezTo>
                <a:lnTo>
                  <a:pt x="188268" y="403324"/>
                </a:lnTo>
                <a:cubicBezTo>
                  <a:pt x="183989" y="410208"/>
                  <a:pt x="183431" y="416161"/>
                  <a:pt x="192360" y="419881"/>
                </a:cubicBezTo>
                <a:cubicBezTo>
                  <a:pt x="195523" y="419137"/>
                  <a:pt x="198500" y="419509"/>
                  <a:pt x="201290" y="420440"/>
                </a:cubicBezTo>
                <a:cubicBezTo>
                  <a:pt x="214126" y="420998"/>
                  <a:pt x="226591" y="425090"/>
                  <a:pt x="239613" y="423788"/>
                </a:cubicBezTo>
                <a:cubicBezTo>
                  <a:pt x="240729" y="423788"/>
                  <a:pt x="242032" y="423788"/>
                  <a:pt x="243148" y="423974"/>
                </a:cubicBezTo>
                <a:cubicBezTo>
                  <a:pt x="244450" y="425090"/>
                  <a:pt x="245938" y="426021"/>
                  <a:pt x="247427" y="426765"/>
                </a:cubicBezTo>
                <a:cubicBezTo>
                  <a:pt x="246125" y="428067"/>
                  <a:pt x="244450" y="429183"/>
                  <a:pt x="243148" y="430485"/>
                </a:cubicBezTo>
                <a:cubicBezTo>
                  <a:pt x="231800" y="432160"/>
                  <a:pt x="220266" y="431230"/>
                  <a:pt x="208918" y="430857"/>
                </a:cubicBezTo>
                <a:cubicBezTo>
                  <a:pt x="207801" y="431230"/>
                  <a:pt x="207429" y="431788"/>
                  <a:pt x="207429" y="432532"/>
                </a:cubicBezTo>
                <a:lnTo>
                  <a:pt x="198500" y="432532"/>
                </a:lnTo>
                <a:cubicBezTo>
                  <a:pt x="198313" y="431788"/>
                  <a:pt x="197755" y="431230"/>
                  <a:pt x="196639" y="431230"/>
                </a:cubicBezTo>
                <a:cubicBezTo>
                  <a:pt x="182128" y="431043"/>
                  <a:pt x="167618" y="431043"/>
                  <a:pt x="153107" y="430857"/>
                </a:cubicBezTo>
                <a:cubicBezTo>
                  <a:pt x="151247" y="432718"/>
                  <a:pt x="148084" y="431974"/>
                  <a:pt x="146224" y="433834"/>
                </a:cubicBezTo>
                <a:cubicBezTo>
                  <a:pt x="135620" y="430299"/>
                  <a:pt x="124458" y="435136"/>
                  <a:pt x="113854" y="431043"/>
                </a:cubicBezTo>
                <a:cubicBezTo>
                  <a:pt x="110505" y="430671"/>
                  <a:pt x="107156" y="430485"/>
                  <a:pt x="103994" y="430113"/>
                </a:cubicBezTo>
                <a:cubicBezTo>
                  <a:pt x="100087" y="428253"/>
                  <a:pt x="95994" y="429183"/>
                  <a:pt x="91901" y="429183"/>
                </a:cubicBezTo>
                <a:cubicBezTo>
                  <a:pt x="91157" y="429369"/>
                  <a:pt x="90413" y="429927"/>
                  <a:pt x="89855" y="430485"/>
                </a:cubicBezTo>
                <a:cubicBezTo>
                  <a:pt x="89111" y="429369"/>
                  <a:pt x="88181" y="429369"/>
                  <a:pt x="86878" y="430113"/>
                </a:cubicBezTo>
                <a:cubicBezTo>
                  <a:pt x="83530" y="430299"/>
                  <a:pt x="79995" y="430671"/>
                  <a:pt x="76646" y="430857"/>
                </a:cubicBezTo>
                <a:cubicBezTo>
                  <a:pt x="75344" y="431974"/>
                  <a:pt x="74042" y="431788"/>
                  <a:pt x="72740" y="430671"/>
                </a:cubicBezTo>
                <a:cubicBezTo>
                  <a:pt x="71624" y="430857"/>
                  <a:pt x="70693" y="430857"/>
                  <a:pt x="69577" y="430671"/>
                </a:cubicBezTo>
                <a:cubicBezTo>
                  <a:pt x="68089" y="432532"/>
                  <a:pt x="66601" y="431788"/>
                  <a:pt x="65112" y="430857"/>
                </a:cubicBezTo>
                <a:cubicBezTo>
                  <a:pt x="64554" y="431416"/>
                  <a:pt x="63996" y="431416"/>
                  <a:pt x="63252" y="430857"/>
                </a:cubicBezTo>
                <a:cubicBezTo>
                  <a:pt x="62136" y="431416"/>
                  <a:pt x="61020" y="431788"/>
                  <a:pt x="59903" y="432160"/>
                </a:cubicBezTo>
                <a:cubicBezTo>
                  <a:pt x="59903" y="431602"/>
                  <a:pt x="59531" y="431043"/>
                  <a:pt x="58973" y="430485"/>
                </a:cubicBezTo>
                <a:cubicBezTo>
                  <a:pt x="53206" y="430485"/>
                  <a:pt x="47625" y="430671"/>
                  <a:pt x="41858" y="430671"/>
                </a:cubicBezTo>
                <a:cubicBezTo>
                  <a:pt x="38695" y="434764"/>
                  <a:pt x="43346" y="435508"/>
                  <a:pt x="45021" y="437555"/>
                </a:cubicBezTo>
                <a:cubicBezTo>
                  <a:pt x="47439" y="437741"/>
                  <a:pt x="49671" y="437927"/>
                  <a:pt x="52090" y="438113"/>
                </a:cubicBezTo>
                <a:cubicBezTo>
                  <a:pt x="53392" y="439043"/>
                  <a:pt x="54508" y="438857"/>
                  <a:pt x="55252" y="437741"/>
                </a:cubicBezTo>
                <a:cubicBezTo>
                  <a:pt x="55811" y="438299"/>
                  <a:pt x="56555" y="438857"/>
                  <a:pt x="57671" y="439229"/>
                </a:cubicBezTo>
                <a:cubicBezTo>
                  <a:pt x="65484" y="439973"/>
                  <a:pt x="73670" y="438113"/>
                  <a:pt x="81297" y="440717"/>
                </a:cubicBezTo>
                <a:cubicBezTo>
                  <a:pt x="82972" y="440903"/>
                  <a:pt x="84646" y="440903"/>
                  <a:pt x="86320" y="441089"/>
                </a:cubicBezTo>
                <a:cubicBezTo>
                  <a:pt x="87250" y="440345"/>
                  <a:pt x="87809" y="439601"/>
                  <a:pt x="87809" y="438299"/>
                </a:cubicBezTo>
                <a:lnTo>
                  <a:pt x="88181" y="438299"/>
                </a:lnTo>
                <a:cubicBezTo>
                  <a:pt x="88739" y="439415"/>
                  <a:pt x="89297" y="440159"/>
                  <a:pt x="90227" y="441089"/>
                </a:cubicBezTo>
                <a:cubicBezTo>
                  <a:pt x="91529" y="442578"/>
                  <a:pt x="93018" y="443880"/>
                  <a:pt x="95250" y="444252"/>
                </a:cubicBezTo>
                <a:lnTo>
                  <a:pt x="95622" y="444252"/>
                </a:lnTo>
                <a:cubicBezTo>
                  <a:pt x="105668" y="442206"/>
                  <a:pt x="115528" y="441834"/>
                  <a:pt x="125574" y="444252"/>
                </a:cubicBezTo>
                <a:lnTo>
                  <a:pt x="125202" y="443880"/>
                </a:lnTo>
                <a:cubicBezTo>
                  <a:pt x="131713" y="448345"/>
                  <a:pt x="138782" y="446484"/>
                  <a:pt x="145666" y="445368"/>
                </a:cubicBezTo>
                <a:lnTo>
                  <a:pt x="145666" y="445554"/>
                </a:lnTo>
                <a:cubicBezTo>
                  <a:pt x="145293" y="445554"/>
                  <a:pt x="145107" y="445926"/>
                  <a:pt x="144921" y="446484"/>
                </a:cubicBezTo>
                <a:cubicBezTo>
                  <a:pt x="144735" y="447043"/>
                  <a:pt x="145107" y="447601"/>
                  <a:pt x="146038" y="447973"/>
                </a:cubicBezTo>
                <a:cubicBezTo>
                  <a:pt x="152921" y="447973"/>
                  <a:pt x="159990" y="447787"/>
                  <a:pt x="166874" y="447787"/>
                </a:cubicBezTo>
                <a:cubicBezTo>
                  <a:pt x="167246" y="447787"/>
                  <a:pt x="167618" y="447601"/>
                  <a:pt x="167804" y="447043"/>
                </a:cubicBezTo>
                <a:cubicBezTo>
                  <a:pt x="174687" y="450763"/>
                  <a:pt x="182314" y="451135"/>
                  <a:pt x="189942" y="452066"/>
                </a:cubicBezTo>
                <a:cubicBezTo>
                  <a:pt x="190314" y="452251"/>
                  <a:pt x="190872" y="452251"/>
                  <a:pt x="191244" y="452251"/>
                </a:cubicBezTo>
                <a:lnTo>
                  <a:pt x="191244" y="452624"/>
                </a:lnTo>
                <a:cubicBezTo>
                  <a:pt x="190314" y="452624"/>
                  <a:pt x="189384" y="452437"/>
                  <a:pt x="188640" y="452066"/>
                </a:cubicBezTo>
                <a:cubicBezTo>
                  <a:pt x="171710" y="457274"/>
                  <a:pt x="154595" y="458205"/>
                  <a:pt x="137294" y="455228"/>
                </a:cubicBezTo>
                <a:cubicBezTo>
                  <a:pt x="135620" y="455228"/>
                  <a:pt x="134503" y="455972"/>
                  <a:pt x="134131" y="457088"/>
                </a:cubicBezTo>
                <a:cubicBezTo>
                  <a:pt x="132271" y="456158"/>
                  <a:pt x="130039" y="456158"/>
                  <a:pt x="128178" y="455228"/>
                </a:cubicBezTo>
                <a:cubicBezTo>
                  <a:pt x="127620" y="454112"/>
                  <a:pt x="126690" y="453554"/>
                  <a:pt x="125388" y="453554"/>
                </a:cubicBezTo>
                <a:cubicBezTo>
                  <a:pt x="122969" y="454484"/>
                  <a:pt x="120365" y="454484"/>
                  <a:pt x="117946" y="453554"/>
                </a:cubicBezTo>
                <a:cubicBezTo>
                  <a:pt x="116644" y="453554"/>
                  <a:pt x="115714" y="453926"/>
                  <a:pt x="114970" y="455042"/>
                </a:cubicBezTo>
                <a:cubicBezTo>
                  <a:pt x="112365" y="456530"/>
                  <a:pt x="109947" y="456716"/>
                  <a:pt x="107528" y="454670"/>
                </a:cubicBezTo>
                <a:cubicBezTo>
                  <a:pt x="106412" y="454298"/>
                  <a:pt x="105296" y="454112"/>
                  <a:pt x="104180" y="453740"/>
                </a:cubicBezTo>
                <a:cubicBezTo>
                  <a:pt x="101575" y="452810"/>
                  <a:pt x="99157" y="452437"/>
                  <a:pt x="97668" y="455414"/>
                </a:cubicBezTo>
                <a:cubicBezTo>
                  <a:pt x="98227" y="459321"/>
                  <a:pt x="100459" y="461553"/>
                  <a:pt x="104366" y="462297"/>
                </a:cubicBezTo>
                <a:cubicBezTo>
                  <a:pt x="112365" y="461181"/>
                  <a:pt x="120365" y="460623"/>
                  <a:pt x="127806" y="464530"/>
                </a:cubicBezTo>
                <a:cubicBezTo>
                  <a:pt x="126318" y="465274"/>
                  <a:pt x="125574" y="466762"/>
                  <a:pt x="126690" y="467878"/>
                </a:cubicBezTo>
                <a:cubicBezTo>
                  <a:pt x="128178" y="469553"/>
                  <a:pt x="130225" y="469367"/>
                  <a:pt x="132271" y="468623"/>
                </a:cubicBezTo>
                <a:cubicBezTo>
                  <a:pt x="135992" y="468809"/>
                  <a:pt x="137852" y="466948"/>
                  <a:pt x="138968" y="464158"/>
                </a:cubicBezTo>
                <a:cubicBezTo>
                  <a:pt x="139154" y="464344"/>
                  <a:pt x="139340" y="464344"/>
                  <a:pt x="139526" y="464530"/>
                </a:cubicBezTo>
                <a:cubicBezTo>
                  <a:pt x="142131" y="465460"/>
                  <a:pt x="144735" y="465832"/>
                  <a:pt x="147340" y="466018"/>
                </a:cubicBezTo>
                <a:cubicBezTo>
                  <a:pt x="151247" y="472715"/>
                  <a:pt x="159618" y="468995"/>
                  <a:pt x="165757" y="470297"/>
                </a:cubicBezTo>
                <a:cubicBezTo>
                  <a:pt x="166874" y="468437"/>
                  <a:pt x="168362" y="467692"/>
                  <a:pt x="170408" y="468064"/>
                </a:cubicBezTo>
                <a:cubicBezTo>
                  <a:pt x="172827" y="468250"/>
                  <a:pt x="172641" y="470669"/>
                  <a:pt x="173757" y="471971"/>
                </a:cubicBezTo>
                <a:lnTo>
                  <a:pt x="173943" y="472157"/>
                </a:lnTo>
                <a:cubicBezTo>
                  <a:pt x="177105" y="475320"/>
                  <a:pt x="179896" y="479599"/>
                  <a:pt x="184919" y="474762"/>
                </a:cubicBezTo>
                <a:cubicBezTo>
                  <a:pt x="185291" y="472715"/>
                  <a:pt x="182687" y="471227"/>
                  <a:pt x="184361" y="468995"/>
                </a:cubicBezTo>
                <a:cubicBezTo>
                  <a:pt x="183245" y="471413"/>
                  <a:pt x="185291" y="472901"/>
                  <a:pt x="186407" y="474576"/>
                </a:cubicBezTo>
                <a:cubicBezTo>
                  <a:pt x="192360" y="479599"/>
                  <a:pt x="200360" y="474948"/>
                  <a:pt x="206685" y="478482"/>
                </a:cubicBezTo>
                <a:lnTo>
                  <a:pt x="207987" y="478110"/>
                </a:lnTo>
                <a:lnTo>
                  <a:pt x="209104" y="478854"/>
                </a:lnTo>
                <a:cubicBezTo>
                  <a:pt x="211336" y="480715"/>
                  <a:pt x="213754" y="480715"/>
                  <a:pt x="216173" y="478854"/>
                </a:cubicBezTo>
                <a:lnTo>
                  <a:pt x="216359" y="478854"/>
                </a:lnTo>
                <a:cubicBezTo>
                  <a:pt x="220080" y="475320"/>
                  <a:pt x="223986" y="477180"/>
                  <a:pt x="227707" y="478482"/>
                </a:cubicBezTo>
                <a:cubicBezTo>
                  <a:pt x="228823" y="478296"/>
                  <a:pt x="229753" y="478669"/>
                  <a:pt x="230312" y="479599"/>
                </a:cubicBezTo>
                <a:cubicBezTo>
                  <a:pt x="238683" y="480343"/>
                  <a:pt x="247055" y="482017"/>
                  <a:pt x="255240" y="479413"/>
                </a:cubicBezTo>
                <a:cubicBezTo>
                  <a:pt x="255984" y="479413"/>
                  <a:pt x="256542" y="479599"/>
                  <a:pt x="257287" y="479599"/>
                </a:cubicBezTo>
                <a:cubicBezTo>
                  <a:pt x="261379" y="481087"/>
                  <a:pt x="265844" y="479785"/>
                  <a:pt x="269751" y="481831"/>
                </a:cubicBezTo>
                <a:lnTo>
                  <a:pt x="270681" y="481831"/>
                </a:lnTo>
                <a:cubicBezTo>
                  <a:pt x="277192" y="479785"/>
                  <a:pt x="283518" y="479413"/>
                  <a:pt x="290029" y="482017"/>
                </a:cubicBezTo>
                <a:lnTo>
                  <a:pt x="291517" y="481645"/>
                </a:lnTo>
                <a:lnTo>
                  <a:pt x="292819" y="482575"/>
                </a:lnTo>
                <a:cubicBezTo>
                  <a:pt x="295238" y="484250"/>
                  <a:pt x="297470" y="484063"/>
                  <a:pt x="299889" y="482389"/>
                </a:cubicBezTo>
                <a:lnTo>
                  <a:pt x="300075" y="482389"/>
                </a:lnTo>
                <a:cubicBezTo>
                  <a:pt x="301563" y="480157"/>
                  <a:pt x="303423" y="481645"/>
                  <a:pt x="305098" y="481831"/>
                </a:cubicBezTo>
                <a:cubicBezTo>
                  <a:pt x="306958" y="480715"/>
                  <a:pt x="308632" y="480901"/>
                  <a:pt x="310307" y="482203"/>
                </a:cubicBezTo>
                <a:cubicBezTo>
                  <a:pt x="313841" y="484808"/>
                  <a:pt x="317190" y="484622"/>
                  <a:pt x="320725" y="482389"/>
                </a:cubicBezTo>
                <a:cubicBezTo>
                  <a:pt x="326492" y="481087"/>
                  <a:pt x="332445" y="480901"/>
                  <a:pt x="338212" y="482761"/>
                </a:cubicBezTo>
                <a:cubicBezTo>
                  <a:pt x="340630" y="484250"/>
                  <a:pt x="342863" y="484250"/>
                  <a:pt x="345095" y="482575"/>
                </a:cubicBezTo>
                <a:cubicBezTo>
                  <a:pt x="346584" y="481273"/>
                  <a:pt x="348444" y="480901"/>
                  <a:pt x="350304" y="481831"/>
                </a:cubicBezTo>
                <a:cubicBezTo>
                  <a:pt x="353653" y="480901"/>
                  <a:pt x="357001" y="479785"/>
                  <a:pt x="360164" y="482017"/>
                </a:cubicBezTo>
                <a:cubicBezTo>
                  <a:pt x="363327" y="481273"/>
                  <a:pt x="366489" y="481459"/>
                  <a:pt x="369466" y="482575"/>
                </a:cubicBezTo>
                <a:cubicBezTo>
                  <a:pt x="374117" y="484622"/>
                  <a:pt x="378768" y="484436"/>
                  <a:pt x="383232" y="482761"/>
                </a:cubicBezTo>
                <a:cubicBezTo>
                  <a:pt x="387883" y="481087"/>
                  <a:pt x="392534" y="481459"/>
                  <a:pt x="397185" y="482575"/>
                </a:cubicBezTo>
                <a:cubicBezTo>
                  <a:pt x="400720" y="484250"/>
                  <a:pt x="404254" y="485180"/>
                  <a:pt x="407231" y="481831"/>
                </a:cubicBezTo>
                <a:cubicBezTo>
                  <a:pt x="408719" y="481087"/>
                  <a:pt x="410394" y="481273"/>
                  <a:pt x="411882" y="481645"/>
                </a:cubicBezTo>
                <a:lnTo>
                  <a:pt x="411510" y="481459"/>
                </a:lnTo>
                <a:cubicBezTo>
                  <a:pt x="421742" y="486110"/>
                  <a:pt x="432160" y="484622"/>
                  <a:pt x="442392" y="482389"/>
                </a:cubicBezTo>
                <a:cubicBezTo>
                  <a:pt x="443508" y="481459"/>
                  <a:pt x="444810" y="481459"/>
                  <a:pt x="445926" y="482575"/>
                </a:cubicBezTo>
                <a:cubicBezTo>
                  <a:pt x="457460" y="485552"/>
                  <a:pt x="469181" y="484994"/>
                  <a:pt x="480715" y="482947"/>
                </a:cubicBezTo>
                <a:cubicBezTo>
                  <a:pt x="481831" y="482947"/>
                  <a:pt x="483133" y="482761"/>
                  <a:pt x="484250" y="482761"/>
                </a:cubicBezTo>
                <a:cubicBezTo>
                  <a:pt x="491133" y="485180"/>
                  <a:pt x="498202" y="484994"/>
                  <a:pt x="505085" y="482947"/>
                </a:cubicBezTo>
                <a:cubicBezTo>
                  <a:pt x="512899" y="481645"/>
                  <a:pt x="520898" y="480343"/>
                  <a:pt x="528712" y="482389"/>
                </a:cubicBezTo>
                <a:cubicBezTo>
                  <a:pt x="531875" y="480157"/>
                  <a:pt x="535037" y="481459"/>
                  <a:pt x="538200" y="482203"/>
                </a:cubicBezTo>
                <a:cubicBezTo>
                  <a:pt x="542479" y="481087"/>
                  <a:pt x="546571" y="480157"/>
                  <a:pt x="550850" y="482017"/>
                </a:cubicBezTo>
                <a:cubicBezTo>
                  <a:pt x="551222" y="483877"/>
                  <a:pt x="552524" y="484994"/>
                  <a:pt x="553641" y="486110"/>
                </a:cubicBezTo>
                <a:cubicBezTo>
                  <a:pt x="555315" y="489459"/>
                  <a:pt x="555873" y="492807"/>
                  <a:pt x="551222" y="493365"/>
                </a:cubicBezTo>
                <a:cubicBezTo>
                  <a:pt x="546943" y="494109"/>
                  <a:pt x="542479" y="495040"/>
                  <a:pt x="538200" y="493365"/>
                </a:cubicBezTo>
                <a:cubicBezTo>
                  <a:pt x="526107" y="497086"/>
                  <a:pt x="513457" y="492621"/>
                  <a:pt x="501551" y="496156"/>
                </a:cubicBezTo>
                <a:cubicBezTo>
                  <a:pt x="492993" y="497644"/>
                  <a:pt x="484250" y="498016"/>
                  <a:pt x="475692" y="496714"/>
                </a:cubicBezTo>
                <a:cubicBezTo>
                  <a:pt x="461367" y="500993"/>
                  <a:pt x="446298" y="495598"/>
                  <a:pt x="431974" y="499690"/>
                </a:cubicBezTo>
                <a:cubicBezTo>
                  <a:pt x="422114" y="500621"/>
                  <a:pt x="412440" y="501737"/>
                  <a:pt x="402580" y="500249"/>
                </a:cubicBezTo>
                <a:cubicBezTo>
                  <a:pt x="386953" y="504155"/>
                  <a:pt x="370954" y="499318"/>
                  <a:pt x="355327" y="503039"/>
                </a:cubicBezTo>
                <a:cubicBezTo>
                  <a:pt x="340816" y="504155"/>
                  <a:pt x="326492" y="505086"/>
                  <a:pt x="311981" y="503597"/>
                </a:cubicBezTo>
                <a:cubicBezTo>
                  <a:pt x="305284" y="506202"/>
                  <a:pt x="298400" y="504899"/>
                  <a:pt x="291517" y="505086"/>
                </a:cubicBezTo>
                <a:cubicBezTo>
                  <a:pt x="266402" y="505830"/>
                  <a:pt x="241102" y="503597"/>
                  <a:pt x="215987" y="506388"/>
                </a:cubicBezTo>
                <a:cubicBezTo>
                  <a:pt x="211336" y="507876"/>
                  <a:pt x="206685" y="507690"/>
                  <a:pt x="202034" y="506574"/>
                </a:cubicBezTo>
                <a:cubicBezTo>
                  <a:pt x="184175" y="502667"/>
                  <a:pt x="165757" y="507690"/>
                  <a:pt x="147898" y="503783"/>
                </a:cubicBezTo>
                <a:cubicBezTo>
                  <a:pt x="132271" y="505458"/>
                  <a:pt x="116644" y="503969"/>
                  <a:pt x="101017" y="503225"/>
                </a:cubicBezTo>
                <a:cubicBezTo>
                  <a:pt x="79623" y="499132"/>
                  <a:pt x="57857" y="504341"/>
                  <a:pt x="36463" y="500435"/>
                </a:cubicBezTo>
                <a:cubicBezTo>
                  <a:pt x="31440" y="501365"/>
                  <a:pt x="26603" y="501365"/>
                  <a:pt x="21766" y="500435"/>
                </a:cubicBezTo>
                <a:cubicBezTo>
                  <a:pt x="19534" y="502295"/>
                  <a:pt x="15627" y="501179"/>
                  <a:pt x="13581" y="503783"/>
                </a:cubicBezTo>
                <a:cubicBezTo>
                  <a:pt x="8744" y="503225"/>
                  <a:pt x="3163" y="500249"/>
                  <a:pt x="0" y="507132"/>
                </a:cubicBezTo>
                <a:cubicBezTo>
                  <a:pt x="4465" y="507132"/>
                  <a:pt x="8930" y="506946"/>
                  <a:pt x="13395" y="506946"/>
                </a:cubicBezTo>
                <a:cubicBezTo>
                  <a:pt x="13953" y="507876"/>
                  <a:pt x="14697" y="508434"/>
                  <a:pt x="15813" y="508806"/>
                </a:cubicBezTo>
                <a:cubicBezTo>
                  <a:pt x="32184" y="511225"/>
                  <a:pt x="46509" y="521643"/>
                  <a:pt x="63438" y="522201"/>
                </a:cubicBezTo>
                <a:lnTo>
                  <a:pt x="63810" y="522201"/>
                </a:lnTo>
                <a:cubicBezTo>
                  <a:pt x="63252" y="522945"/>
                  <a:pt x="62880" y="523689"/>
                  <a:pt x="62880" y="524805"/>
                </a:cubicBezTo>
                <a:lnTo>
                  <a:pt x="62136" y="524433"/>
                </a:lnTo>
                <a:cubicBezTo>
                  <a:pt x="62322" y="526852"/>
                  <a:pt x="56369" y="530758"/>
                  <a:pt x="63438" y="531502"/>
                </a:cubicBezTo>
                <a:cubicBezTo>
                  <a:pt x="68461" y="532061"/>
                  <a:pt x="73670" y="531316"/>
                  <a:pt x="78879" y="531130"/>
                </a:cubicBezTo>
                <a:cubicBezTo>
                  <a:pt x="79251" y="531875"/>
                  <a:pt x="79995" y="532619"/>
                  <a:pt x="80739" y="533363"/>
                </a:cubicBezTo>
                <a:cubicBezTo>
                  <a:pt x="82786" y="534479"/>
                  <a:pt x="85018" y="535223"/>
                  <a:pt x="87437" y="535409"/>
                </a:cubicBezTo>
                <a:cubicBezTo>
                  <a:pt x="87064" y="536339"/>
                  <a:pt x="86692" y="537083"/>
                  <a:pt x="86320" y="538014"/>
                </a:cubicBezTo>
                <a:cubicBezTo>
                  <a:pt x="82786" y="538572"/>
                  <a:pt x="78507" y="537083"/>
                  <a:pt x="76833" y="541920"/>
                </a:cubicBezTo>
                <a:cubicBezTo>
                  <a:pt x="77949" y="542851"/>
                  <a:pt x="79251" y="543781"/>
                  <a:pt x="80367" y="544897"/>
                </a:cubicBezTo>
                <a:cubicBezTo>
                  <a:pt x="84274" y="548990"/>
                  <a:pt x="86692" y="546757"/>
                  <a:pt x="88739" y="542851"/>
                </a:cubicBezTo>
                <a:lnTo>
                  <a:pt x="88739" y="542665"/>
                </a:lnTo>
                <a:cubicBezTo>
                  <a:pt x="89297" y="542479"/>
                  <a:pt x="90041" y="542293"/>
                  <a:pt x="90599" y="541734"/>
                </a:cubicBezTo>
                <a:lnTo>
                  <a:pt x="92273" y="541734"/>
                </a:lnTo>
                <a:lnTo>
                  <a:pt x="93948" y="541548"/>
                </a:lnTo>
                <a:cubicBezTo>
                  <a:pt x="94692" y="539688"/>
                  <a:pt x="95994" y="539316"/>
                  <a:pt x="97855" y="539316"/>
                </a:cubicBezTo>
                <a:cubicBezTo>
                  <a:pt x="97855" y="538200"/>
                  <a:pt x="98041" y="537270"/>
                  <a:pt x="98041" y="536153"/>
                </a:cubicBezTo>
                <a:lnTo>
                  <a:pt x="98785" y="536153"/>
                </a:lnTo>
                <a:cubicBezTo>
                  <a:pt x="102319" y="536712"/>
                  <a:pt x="105668" y="537828"/>
                  <a:pt x="109203" y="538014"/>
                </a:cubicBezTo>
                <a:cubicBezTo>
                  <a:pt x="107900" y="540060"/>
                  <a:pt x="107156" y="542479"/>
                  <a:pt x="106784" y="544897"/>
                </a:cubicBezTo>
                <a:cubicBezTo>
                  <a:pt x="106784" y="546571"/>
                  <a:pt x="107528" y="547688"/>
                  <a:pt x="109017" y="548432"/>
                </a:cubicBezTo>
                <a:cubicBezTo>
                  <a:pt x="113667" y="548432"/>
                  <a:pt x="118318" y="549548"/>
                  <a:pt x="122969" y="547874"/>
                </a:cubicBezTo>
                <a:cubicBezTo>
                  <a:pt x="124085" y="547874"/>
                  <a:pt x="125016" y="548246"/>
                  <a:pt x="125760" y="548804"/>
                </a:cubicBezTo>
                <a:cubicBezTo>
                  <a:pt x="134131" y="552338"/>
                  <a:pt x="143433" y="548246"/>
                  <a:pt x="151991" y="551780"/>
                </a:cubicBezTo>
                <a:cubicBezTo>
                  <a:pt x="158502" y="550106"/>
                  <a:pt x="164827" y="548990"/>
                  <a:pt x="171152" y="551780"/>
                </a:cubicBezTo>
                <a:cubicBezTo>
                  <a:pt x="175617" y="554943"/>
                  <a:pt x="180268" y="554013"/>
                  <a:pt x="184919" y="552338"/>
                </a:cubicBezTo>
                <a:cubicBezTo>
                  <a:pt x="186035" y="552152"/>
                  <a:pt x="187151" y="551966"/>
                  <a:pt x="188454" y="551780"/>
                </a:cubicBezTo>
                <a:cubicBezTo>
                  <a:pt x="203522" y="554943"/>
                  <a:pt x="218591" y="554385"/>
                  <a:pt x="233846" y="552152"/>
                </a:cubicBezTo>
                <a:cubicBezTo>
                  <a:pt x="236265" y="551222"/>
                  <a:pt x="238497" y="551222"/>
                  <a:pt x="240916" y="552152"/>
                </a:cubicBezTo>
                <a:cubicBezTo>
                  <a:pt x="255984" y="554385"/>
                  <a:pt x="271053" y="554571"/>
                  <a:pt x="286122" y="552152"/>
                </a:cubicBezTo>
                <a:cubicBezTo>
                  <a:pt x="300633" y="551222"/>
                  <a:pt x="314958" y="550292"/>
                  <a:pt x="329468" y="551780"/>
                </a:cubicBezTo>
                <a:cubicBezTo>
                  <a:pt x="349746" y="547502"/>
                  <a:pt x="370396" y="552896"/>
                  <a:pt x="390674" y="548804"/>
                </a:cubicBezTo>
                <a:cubicBezTo>
                  <a:pt x="400534" y="547688"/>
                  <a:pt x="410208" y="547129"/>
                  <a:pt x="420067" y="548246"/>
                </a:cubicBezTo>
                <a:cubicBezTo>
                  <a:pt x="432160" y="544153"/>
                  <a:pt x="444810" y="549176"/>
                  <a:pt x="456902" y="545269"/>
                </a:cubicBezTo>
                <a:cubicBezTo>
                  <a:pt x="462297" y="543967"/>
                  <a:pt x="467878" y="543781"/>
                  <a:pt x="473459" y="544711"/>
                </a:cubicBezTo>
                <a:cubicBezTo>
                  <a:pt x="481645" y="540990"/>
                  <a:pt x="490575" y="545269"/>
                  <a:pt x="498760" y="541920"/>
                </a:cubicBezTo>
                <a:cubicBezTo>
                  <a:pt x="503039" y="540432"/>
                  <a:pt x="507504" y="540432"/>
                  <a:pt x="511783" y="541176"/>
                </a:cubicBezTo>
                <a:cubicBezTo>
                  <a:pt x="518666" y="537642"/>
                  <a:pt x="526666" y="541734"/>
                  <a:pt x="533549" y="538200"/>
                </a:cubicBezTo>
                <a:cubicBezTo>
                  <a:pt x="536525" y="536898"/>
                  <a:pt x="539688" y="536712"/>
                  <a:pt x="542665" y="537456"/>
                </a:cubicBezTo>
                <a:cubicBezTo>
                  <a:pt x="547502" y="534851"/>
                  <a:pt x="553083" y="537456"/>
                  <a:pt x="557919" y="534851"/>
                </a:cubicBezTo>
                <a:cubicBezTo>
                  <a:pt x="559966" y="533735"/>
                  <a:pt x="562198" y="533549"/>
                  <a:pt x="564431" y="534293"/>
                </a:cubicBezTo>
                <a:cubicBezTo>
                  <a:pt x="567593" y="531689"/>
                  <a:pt x="572058" y="533735"/>
                  <a:pt x="575407" y="531316"/>
                </a:cubicBezTo>
                <a:lnTo>
                  <a:pt x="576709" y="530386"/>
                </a:lnTo>
                <a:lnTo>
                  <a:pt x="578383" y="530758"/>
                </a:lnTo>
                <a:cubicBezTo>
                  <a:pt x="581546" y="528154"/>
                  <a:pt x="586197" y="530200"/>
                  <a:pt x="589359" y="527782"/>
                </a:cubicBezTo>
                <a:lnTo>
                  <a:pt x="590848" y="526852"/>
                </a:lnTo>
                <a:lnTo>
                  <a:pt x="592522" y="527224"/>
                </a:lnTo>
                <a:cubicBezTo>
                  <a:pt x="596801" y="523689"/>
                  <a:pt x="602568" y="527410"/>
                  <a:pt x="606847" y="524061"/>
                </a:cubicBezTo>
                <a:cubicBezTo>
                  <a:pt x="607963" y="524061"/>
                  <a:pt x="609265" y="524247"/>
                  <a:pt x="610381" y="524247"/>
                </a:cubicBezTo>
                <a:cubicBezTo>
                  <a:pt x="611684" y="525177"/>
                  <a:pt x="612800" y="525921"/>
                  <a:pt x="614288" y="526666"/>
                </a:cubicBezTo>
                <a:cubicBezTo>
                  <a:pt x="615032" y="528340"/>
                  <a:pt x="616148" y="529456"/>
                  <a:pt x="617823" y="530386"/>
                </a:cubicBezTo>
                <a:cubicBezTo>
                  <a:pt x="619311" y="532619"/>
                  <a:pt x="618753" y="535781"/>
                  <a:pt x="621357" y="537270"/>
                </a:cubicBezTo>
                <a:cubicBezTo>
                  <a:pt x="622102" y="538944"/>
                  <a:pt x="623404" y="540060"/>
                  <a:pt x="625078" y="540804"/>
                </a:cubicBezTo>
                <a:cubicBezTo>
                  <a:pt x="626752" y="540804"/>
                  <a:pt x="628427" y="540618"/>
                  <a:pt x="630101" y="540618"/>
                </a:cubicBezTo>
                <a:cubicBezTo>
                  <a:pt x="632706" y="539316"/>
                  <a:pt x="636054" y="539688"/>
                  <a:pt x="637915" y="537083"/>
                </a:cubicBezTo>
                <a:cubicBezTo>
                  <a:pt x="648891" y="531502"/>
                  <a:pt x="653169" y="538572"/>
                  <a:pt x="656518" y="547315"/>
                </a:cubicBezTo>
                <a:lnTo>
                  <a:pt x="656146" y="546943"/>
                </a:lnTo>
                <a:cubicBezTo>
                  <a:pt x="656332" y="549176"/>
                  <a:pt x="657634" y="550292"/>
                  <a:pt x="659495" y="550850"/>
                </a:cubicBezTo>
                <a:cubicBezTo>
                  <a:pt x="660611" y="553641"/>
                  <a:pt x="664146" y="552896"/>
                  <a:pt x="666006" y="554943"/>
                </a:cubicBezTo>
                <a:cubicBezTo>
                  <a:pt x="668238" y="557175"/>
                  <a:pt x="671401" y="556803"/>
                  <a:pt x="673819" y="558106"/>
                </a:cubicBezTo>
                <a:cubicBezTo>
                  <a:pt x="675680" y="558106"/>
                  <a:pt x="677726" y="558292"/>
                  <a:pt x="679586" y="558292"/>
                </a:cubicBezTo>
                <a:cubicBezTo>
                  <a:pt x="682563" y="555129"/>
                  <a:pt x="687400" y="558106"/>
                  <a:pt x="690190" y="554757"/>
                </a:cubicBezTo>
                <a:lnTo>
                  <a:pt x="690004" y="554757"/>
                </a:lnTo>
                <a:cubicBezTo>
                  <a:pt x="692795" y="552338"/>
                  <a:pt x="695586" y="553455"/>
                  <a:pt x="698562" y="554571"/>
                </a:cubicBezTo>
                <a:lnTo>
                  <a:pt x="699864" y="554199"/>
                </a:lnTo>
                <a:lnTo>
                  <a:pt x="700794" y="555129"/>
                </a:lnTo>
                <a:cubicBezTo>
                  <a:pt x="702097" y="556245"/>
                  <a:pt x="703213" y="557547"/>
                  <a:pt x="705073" y="557547"/>
                </a:cubicBezTo>
                <a:cubicBezTo>
                  <a:pt x="706934" y="560338"/>
                  <a:pt x="709166" y="562570"/>
                  <a:pt x="711771" y="564431"/>
                </a:cubicBezTo>
                <a:cubicBezTo>
                  <a:pt x="712143" y="566291"/>
                  <a:pt x="713445" y="567407"/>
                  <a:pt x="714933" y="568337"/>
                </a:cubicBezTo>
                <a:cubicBezTo>
                  <a:pt x="715677" y="569826"/>
                  <a:pt x="716980" y="570942"/>
                  <a:pt x="718096" y="572058"/>
                </a:cubicBezTo>
                <a:cubicBezTo>
                  <a:pt x="719212" y="573360"/>
                  <a:pt x="720328" y="574477"/>
                  <a:pt x="721816" y="575221"/>
                </a:cubicBezTo>
                <a:cubicBezTo>
                  <a:pt x="724979" y="578755"/>
                  <a:pt x="729816" y="576895"/>
                  <a:pt x="733537" y="578755"/>
                </a:cubicBezTo>
                <a:cubicBezTo>
                  <a:pt x="736513" y="577639"/>
                  <a:pt x="740234" y="578197"/>
                  <a:pt x="741908" y="574477"/>
                </a:cubicBezTo>
                <a:lnTo>
                  <a:pt x="741908" y="572988"/>
                </a:lnTo>
                <a:cubicBezTo>
                  <a:pt x="740234" y="570756"/>
                  <a:pt x="741164" y="567035"/>
                  <a:pt x="738001" y="565919"/>
                </a:cubicBezTo>
                <a:cubicBezTo>
                  <a:pt x="737815" y="563873"/>
                  <a:pt x="736513" y="562756"/>
                  <a:pt x="734839" y="562012"/>
                </a:cubicBezTo>
                <a:cubicBezTo>
                  <a:pt x="736885" y="555501"/>
                  <a:pt x="736885" y="555501"/>
                  <a:pt x="746931" y="557733"/>
                </a:cubicBezTo>
                <a:lnTo>
                  <a:pt x="748233" y="557547"/>
                </a:lnTo>
                <a:lnTo>
                  <a:pt x="749164" y="558478"/>
                </a:lnTo>
                <a:cubicBezTo>
                  <a:pt x="751024" y="560152"/>
                  <a:pt x="754187" y="559222"/>
                  <a:pt x="755675" y="561826"/>
                </a:cubicBezTo>
                <a:lnTo>
                  <a:pt x="755861" y="562012"/>
                </a:lnTo>
                <a:cubicBezTo>
                  <a:pt x="757349" y="562756"/>
                  <a:pt x="758279" y="564431"/>
                  <a:pt x="759954" y="564617"/>
                </a:cubicBezTo>
                <a:cubicBezTo>
                  <a:pt x="761628" y="567593"/>
                  <a:pt x="764977" y="567035"/>
                  <a:pt x="767581" y="568337"/>
                </a:cubicBezTo>
                <a:lnTo>
                  <a:pt x="768883" y="567965"/>
                </a:lnTo>
                <a:lnTo>
                  <a:pt x="769814" y="568896"/>
                </a:lnTo>
                <a:cubicBezTo>
                  <a:pt x="771488" y="570384"/>
                  <a:pt x="773534" y="570384"/>
                  <a:pt x="775395" y="570198"/>
                </a:cubicBezTo>
                <a:cubicBezTo>
                  <a:pt x="775395" y="570756"/>
                  <a:pt x="775581" y="571500"/>
                  <a:pt x="776325" y="572244"/>
                </a:cubicBezTo>
                <a:cubicBezTo>
                  <a:pt x="777441" y="572616"/>
                  <a:pt x="777627" y="573360"/>
                  <a:pt x="777069" y="574477"/>
                </a:cubicBezTo>
                <a:cubicBezTo>
                  <a:pt x="777441" y="575965"/>
                  <a:pt x="778371" y="576895"/>
                  <a:pt x="779859" y="577267"/>
                </a:cubicBezTo>
                <a:cubicBezTo>
                  <a:pt x="779859" y="578011"/>
                  <a:pt x="779859" y="578569"/>
                  <a:pt x="780045" y="579313"/>
                </a:cubicBezTo>
                <a:cubicBezTo>
                  <a:pt x="783394" y="579313"/>
                  <a:pt x="786929" y="579500"/>
                  <a:pt x="790277" y="579500"/>
                </a:cubicBezTo>
                <a:cubicBezTo>
                  <a:pt x="789161" y="583034"/>
                  <a:pt x="788045" y="586383"/>
                  <a:pt x="786929" y="589918"/>
                </a:cubicBezTo>
                <a:cubicBezTo>
                  <a:pt x="789905" y="592522"/>
                  <a:pt x="792882" y="594568"/>
                  <a:pt x="796975" y="592894"/>
                </a:cubicBezTo>
                <a:cubicBezTo>
                  <a:pt x="797161" y="592336"/>
                  <a:pt x="797161" y="591778"/>
                  <a:pt x="797347" y="591406"/>
                </a:cubicBezTo>
                <a:cubicBezTo>
                  <a:pt x="798835" y="591406"/>
                  <a:pt x="799951" y="590662"/>
                  <a:pt x="800695" y="589173"/>
                </a:cubicBezTo>
                <a:cubicBezTo>
                  <a:pt x="800323" y="588429"/>
                  <a:pt x="800323" y="587871"/>
                  <a:pt x="800881" y="587127"/>
                </a:cubicBezTo>
                <a:cubicBezTo>
                  <a:pt x="799951" y="585639"/>
                  <a:pt x="798649" y="584522"/>
                  <a:pt x="798091" y="582848"/>
                </a:cubicBezTo>
                <a:lnTo>
                  <a:pt x="797719" y="582476"/>
                </a:lnTo>
                <a:cubicBezTo>
                  <a:pt x="796603" y="581732"/>
                  <a:pt x="795486" y="581546"/>
                  <a:pt x="794370" y="582104"/>
                </a:cubicBezTo>
                <a:lnTo>
                  <a:pt x="794370" y="581918"/>
                </a:lnTo>
                <a:cubicBezTo>
                  <a:pt x="794556" y="580988"/>
                  <a:pt x="794556" y="580244"/>
                  <a:pt x="793998" y="579500"/>
                </a:cubicBezTo>
                <a:lnTo>
                  <a:pt x="790649" y="579500"/>
                </a:lnTo>
                <a:cubicBezTo>
                  <a:pt x="790649" y="578383"/>
                  <a:pt x="790463" y="577267"/>
                  <a:pt x="790463" y="576151"/>
                </a:cubicBezTo>
                <a:cubicBezTo>
                  <a:pt x="788417" y="575965"/>
                  <a:pt x="787115" y="575035"/>
                  <a:pt x="786557" y="572988"/>
                </a:cubicBezTo>
                <a:cubicBezTo>
                  <a:pt x="785813" y="572802"/>
                  <a:pt x="785068" y="572802"/>
                  <a:pt x="784324" y="572802"/>
                </a:cubicBezTo>
                <a:cubicBezTo>
                  <a:pt x="783208" y="571128"/>
                  <a:pt x="781348" y="570198"/>
                  <a:pt x="779859" y="569082"/>
                </a:cubicBezTo>
                <a:lnTo>
                  <a:pt x="780045" y="569082"/>
                </a:lnTo>
                <a:cubicBezTo>
                  <a:pt x="779301" y="568151"/>
                  <a:pt x="778371" y="567965"/>
                  <a:pt x="777627" y="568337"/>
                </a:cubicBezTo>
                <a:cubicBezTo>
                  <a:pt x="777813" y="567965"/>
                  <a:pt x="777999" y="567407"/>
                  <a:pt x="777999" y="567035"/>
                </a:cubicBezTo>
                <a:cubicBezTo>
                  <a:pt x="777441" y="566477"/>
                  <a:pt x="777069" y="565919"/>
                  <a:pt x="776511" y="565547"/>
                </a:cubicBezTo>
                <a:lnTo>
                  <a:pt x="775767" y="564803"/>
                </a:lnTo>
                <a:lnTo>
                  <a:pt x="776325" y="563873"/>
                </a:lnTo>
                <a:cubicBezTo>
                  <a:pt x="776139" y="561454"/>
                  <a:pt x="775022" y="559966"/>
                  <a:pt x="772790" y="559222"/>
                </a:cubicBezTo>
                <a:cubicBezTo>
                  <a:pt x="776697" y="552525"/>
                  <a:pt x="777813" y="552152"/>
                  <a:pt x="792510" y="554757"/>
                </a:cubicBezTo>
                <a:lnTo>
                  <a:pt x="793440" y="554385"/>
                </a:lnTo>
                <a:lnTo>
                  <a:pt x="794184" y="555129"/>
                </a:lnTo>
                <a:cubicBezTo>
                  <a:pt x="797533" y="558292"/>
                  <a:pt x="802370" y="556059"/>
                  <a:pt x="805904" y="558292"/>
                </a:cubicBezTo>
                <a:lnTo>
                  <a:pt x="807207" y="557919"/>
                </a:lnTo>
                <a:lnTo>
                  <a:pt x="808137" y="558850"/>
                </a:lnTo>
                <a:cubicBezTo>
                  <a:pt x="812416" y="562198"/>
                  <a:pt x="817997" y="559222"/>
                  <a:pt x="822461" y="561640"/>
                </a:cubicBezTo>
                <a:cubicBezTo>
                  <a:pt x="823764" y="564431"/>
                  <a:pt x="827298" y="563687"/>
                  <a:pt x="829159" y="565733"/>
                </a:cubicBezTo>
                <a:cubicBezTo>
                  <a:pt x="830275" y="567035"/>
                  <a:pt x="831391" y="568337"/>
                  <a:pt x="833065" y="568896"/>
                </a:cubicBezTo>
                <a:cubicBezTo>
                  <a:pt x="835670" y="572430"/>
                  <a:pt x="839949" y="573546"/>
                  <a:pt x="843111" y="576337"/>
                </a:cubicBezTo>
                <a:cubicBezTo>
                  <a:pt x="844228" y="577453"/>
                  <a:pt x="845344" y="578941"/>
                  <a:pt x="847018" y="579313"/>
                </a:cubicBezTo>
                <a:cubicBezTo>
                  <a:pt x="848320" y="582104"/>
                  <a:pt x="851855" y="581360"/>
                  <a:pt x="853715" y="583220"/>
                </a:cubicBezTo>
                <a:lnTo>
                  <a:pt x="853529" y="583220"/>
                </a:lnTo>
                <a:cubicBezTo>
                  <a:pt x="855390" y="585453"/>
                  <a:pt x="858552" y="584895"/>
                  <a:pt x="860785" y="586755"/>
                </a:cubicBezTo>
                <a:cubicBezTo>
                  <a:pt x="865622" y="588615"/>
                  <a:pt x="871203" y="592894"/>
                  <a:pt x="873807" y="583778"/>
                </a:cubicBezTo>
                <a:lnTo>
                  <a:pt x="873993" y="584150"/>
                </a:lnTo>
                <a:cubicBezTo>
                  <a:pt x="872691" y="581546"/>
                  <a:pt x="872319" y="578941"/>
                  <a:pt x="874179" y="576337"/>
                </a:cubicBezTo>
                <a:cubicBezTo>
                  <a:pt x="876226" y="574663"/>
                  <a:pt x="879388" y="575035"/>
                  <a:pt x="881249" y="573174"/>
                </a:cubicBezTo>
                <a:lnTo>
                  <a:pt x="882551" y="572430"/>
                </a:lnTo>
                <a:lnTo>
                  <a:pt x="884039" y="572802"/>
                </a:lnTo>
                <a:cubicBezTo>
                  <a:pt x="898550" y="570198"/>
                  <a:pt x="913061" y="570570"/>
                  <a:pt x="927757" y="572802"/>
                </a:cubicBezTo>
                <a:cubicBezTo>
                  <a:pt x="929060" y="571686"/>
                  <a:pt x="930548" y="571500"/>
                  <a:pt x="932036" y="572616"/>
                </a:cubicBezTo>
                <a:cubicBezTo>
                  <a:pt x="934269" y="572430"/>
                  <a:pt x="935757" y="571128"/>
                  <a:pt x="936501" y="569082"/>
                </a:cubicBezTo>
                <a:cubicBezTo>
                  <a:pt x="938361" y="568523"/>
                  <a:pt x="939292" y="567407"/>
                  <a:pt x="940408" y="565919"/>
                </a:cubicBezTo>
                <a:lnTo>
                  <a:pt x="940222" y="566105"/>
                </a:lnTo>
                <a:cubicBezTo>
                  <a:pt x="942268" y="564431"/>
                  <a:pt x="945617" y="564989"/>
                  <a:pt x="947291" y="562570"/>
                </a:cubicBezTo>
                <a:cubicBezTo>
                  <a:pt x="953244" y="560710"/>
                  <a:pt x="959011" y="559594"/>
                  <a:pt x="964778" y="562942"/>
                </a:cubicBezTo>
                <a:cubicBezTo>
                  <a:pt x="966639" y="564803"/>
                  <a:pt x="969987" y="564059"/>
                  <a:pt x="971662" y="566477"/>
                </a:cubicBezTo>
                <a:cubicBezTo>
                  <a:pt x="973894" y="568337"/>
                  <a:pt x="977057" y="568151"/>
                  <a:pt x="979475" y="569640"/>
                </a:cubicBezTo>
                <a:lnTo>
                  <a:pt x="980963" y="569268"/>
                </a:lnTo>
                <a:lnTo>
                  <a:pt x="982266" y="570198"/>
                </a:lnTo>
                <a:cubicBezTo>
                  <a:pt x="989149" y="572430"/>
                  <a:pt x="996218" y="572430"/>
                  <a:pt x="1003102" y="570198"/>
                </a:cubicBezTo>
                <a:lnTo>
                  <a:pt x="1003846" y="569268"/>
                </a:lnTo>
                <a:lnTo>
                  <a:pt x="1005148" y="569454"/>
                </a:lnTo>
                <a:cubicBezTo>
                  <a:pt x="1007380" y="569268"/>
                  <a:pt x="1009055" y="567965"/>
                  <a:pt x="1009799" y="565733"/>
                </a:cubicBezTo>
                <a:lnTo>
                  <a:pt x="1009427" y="566105"/>
                </a:lnTo>
                <a:cubicBezTo>
                  <a:pt x="1015008" y="559222"/>
                  <a:pt x="1010171" y="554571"/>
                  <a:pt x="1006264" y="549548"/>
                </a:cubicBezTo>
                <a:cubicBezTo>
                  <a:pt x="1005520" y="548060"/>
                  <a:pt x="1004776" y="546757"/>
                  <a:pt x="1003846" y="545455"/>
                </a:cubicBezTo>
                <a:cubicBezTo>
                  <a:pt x="1002730" y="544711"/>
                  <a:pt x="1002357" y="543781"/>
                  <a:pt x="1003102" y="542665"/>
                </a:cubicBezTo>
                <a:cubicBezTo>
                  <a:pt x="1002916" y="542665"/>
                  <a:pt x="1002730" y="542106"/>
                  <a:pt x="1002544" y="541176"/>
                </a:cubicBezTo>
                <a:cubicBezTo>
                  <a:pt x="1002357" y="540246"/>
                  <a:pt x="1002730" y="539316"/>
                  <a:pt x="1003474" y="538572"/>
                </a:cubicBezTo>
                <a:cubicBezTo>
                  <a:pt x="1005148" y="536339"/>
                  <a:pt x="1008497" y="537083"/>
                  <a:pt x="1010171" y="534665"/>
                </a:cubicBezTo>
                <a:lnTo>
                  <a:pt x="1009985" y="534851"/>
                </a:lnTo>
                <a:cubicBezTo>
                  <a:pt x="1012217" y="533177"/>
                  <a:pt x="1015194" y="533549"/>
                  <a:pt x="1017240" y="532061"/>
                </a:cubicBezTo>
                <a:lnTo>
                  <a:pt x="1018542" y="531130"/>
                </a:lnTo>
                <a:lnTo>
                  <a:pt x="1020031" y="531502"/>
                </a:lnTo>
                <a:cubicBezTo>
                  <a:pt x="1023379" y="529084"/>
                  <a:pt x="1027844" y="531130"/>
                  <a:pt x="1031193" y="528526"/>
                </a:cubicBezTo>
                <a:cubicBezTo>
                  <a:pt x="1033053" y="528340"/>
                  <a:pt x="1035100" y="527968"/>
                  <a:pt x="1036960" y="527782"/>
                </a:cubicBezTo>
                <a:cubicBezTo>
                  <a:pt x="1041611" y="524991"/>
                  <a:pt x="1047564" y="527968"/>
                  <a:pt x="1052215" y="524805"/>
                </a:cubicBezTo>
                <a:lnTo>
                  <a:pt x="1053517" y="524061"/>
                </a:lnTo>
                <a:lnTo>
                  <a:pt x="1055005" y="524433"/>
                </a:lnTo>
                <a:cubicBezTo>
                  <a:pt x="1058168" y="521829"/>
                  <a:pt x="1062633" y="523875"/>
                  <a:pt x="1065981" y="521643"/>
                </a:cubicBezTo>
                <a:lnTo>
                  <a:pt x="1067284" y="520712"/>
                </a:lnTo>
                <a:lnTo>
                  <a:pt x="1068772" y="520899"/>
                </a:lnTo>
                <a:cubicBezTo>
                  <a:pt x="1071004" y="519224"/>
                  <a:pt x="1074167" y="519596"/>
                  <a:pt x="1076400" y="517922"/>
                </a:cubicBezTo>
                <a:lnTo>
                  <a:pt x="1077144" y="516806"/>
                </a:lnTo>
                <a:lnTo>
                  <a:pt x="1078446" y="516992"/>
                </a:lnTo>
                <a:cubicBezTo>
                  <a:pt x="1080678" y="516806"/>
                  <a:pt x="1081981" y="515503"/>
                  <a:pt x="1083469" y="514015"/>
                </a:cubicBezTo>
                <a:cubicBezTo>
                  <a:pt x="1087376" y="510108"/>
                  <a:pt x="1095003" y="508248"/>
                  <a:pt x="1090166" y="500249"/>
                </a:cubicBezTo>
                <a:lnTo>
                  <a:pt x="1090352" y="500435"/>
                </a:lnTo>
                <a:cubicBezTo>
                  <a:pt x="1088492" y="498202"/>
                  <a:pt x="1085515" y="498388"/>
                  <a:pt x="1083097" y="497272"/>
                </a:cubicBezTo>
                <a:cubicBezTo>
                  <a:pt x="1081608" y="494481"/>
                  <a:pt x="1078260" y="495040"/>
                  <a:pt x="1076027" y="493551"/>
                </a:cubicBezTo>
                <a:cubicBezTo>
                  <a:pt x="1075841" y="493551"/>
                  <a:pt x="1075655" y="492993"/>
                  <a:pt x="1075469" y="492249"/>
                </a:cubicBezTo>
                <a:cubicBezTo>
                  <a:pt x="1075283" y="491319"/>
                  <a:pt x="1075655" y="490575"/>
                  <a:pt x="1076400" y="489831"/>
                </a:cubicBezTo>
                <a:cubicBezTo>
                  <a:pt x="1087934" y="488342"/>
                  <a:pt x="1099654" y="488528"/>
                  <a:pt x="1111188" y="489831"/>
                </a:cubicBezTo>
                <a:cubicBezTo>
                  <a:pt x="1130908" y="492249"/>
                  <a:pt x="1150627" y="492063"/>
                  <a:pt x="1170347" y="489831"/>
                </a:cubicBezTo>
                <a:cubicBezTo>
                  <a:pt x="1173510" y="489645"/>
                  <a:pt x="1176672" y="489459"/>
                  <a:pt x="1180021" y="489273"/>
                </a:cubicBezTo>
                <a:cubicBezTo>
                  <a:pt x="1183184" y="487040"/>
                  <a:pt x="1186532" y="488342"/>
                  <a:pt x="1189695" y="489273"/>
                </a:cubicBezTo>
                <a:cubicBezTo>
                  <a:pt x="1190811" y="487784"/>
                  <a:pt x="1191741" y="487784"/>
                  <a:pt x="1192857" y="489273"/>
                </a:cubicBezTo>
                <a:cubicBezTo>
                  <a:pt x="1196764" y="487412"/>
                  <a:pt x="1201415" y="488900"/>
                  <a:pt x="1205136" y="486296"/>
                </a:cubicBezTo>
                <a:cubicBezTo>
                  <a:pt x="1207926" y="483133"/>
                  <a:pt x="1212763" y="485738"/>
                  <a:pt x="1215740" y="482947"/>
                </a:cubicBezTo>
                <a:lnTo>
                  <a:pt x="1215926" y="482947"/>
                </a:lnTo>
                <a:cubicBezTo>
                  <a:pt x="1222437" y="480529"/>
                  <a:pt x="1226158" y="476622"/>
                  <a:pt x="1223739" y="468995"/>
                </a:cubicBezTo>
                <a:cubicBezTo>
                  <a:pt x="1222437" y="468809"/>
                  <a:pt x="1221879" y="468064"/>
                  <a:pt x="1222251" y="466762"/>
                </a:cubicBezTo>
                <a:cubicBezTo>
                  <a:pt x="1221879" y="464716"/>
                  <a:pt x="1220577" y="463228"/>
                  <a:pt x="1219088" y="461925"/>
                </a:cubicBezTo>
                <a:cubicBezTo>
                  <a:pt x="1217972" y="460809"/>
                  <a:pt x="1216856" y="459321"/>
                  <a:pt x="1215368" y="458763"/>
                </a:cubicBezTo>
                <a:cubicBezTo>
                  <a:pt x="1215182" y="458763"/>
                  <a:pt x="1214810" y="458391"/>
                  <a:pt x="1214624" y="457460"/>
                </a:cubicBezTo>
                <a:cubicBezTo>
                  <a:pt x="1214438" y="456716"/>
                  <a:pt x="1214810" y="455972"/>
                  <a:pt x="1215554" y="455228"/>
                </a:cubicBezTo>
                <a:cubicBezTo>
                  <a:pt x="1217600" y="455042"/>
                  <a:pt x="1219460" y="454856"/>
                  <a:pt x="1221507" y="454484"/>
                </a:cubicBezTo>
                <a:cubicBezTo>
                  <a:pt x="1226158" y="451507"/>
                  <a:pt x="1231925" y="454670"/>
                  <a:pt x="1236390" y="451507"/>
                </a:cubicBezTo>
                <a:lnTo>
                  <a:pt x="1237878" y="450763"/>
                </a:lnTo>
                <a:lnTo>
                  <a:pt x="1239552" y="451135"/>
                </a:lnTo>
                <a:cubicBezTo>
                  <a:pt x="1243831" y="447601"/>
                  <a:pt x="1249598" y="451321"/>
                  <a:pt x="1253877" y="447973"/>
                </a:cubicBezTo>
                <a:cubicBezTo>
                  <a:pt x="1255551" y="447787"/>
                  <a:pt x="1257412" y="447601"/>
                  <a:pt x="1259086" y="447229"/>
                </a:cubicBezTo>
                <a:cubicBezTo>
                  <a:pt x="1264109" y="444810"/>
                  <a:pt x="1269876" y="447229"/>
                  <a:pt x="1274713" y="444438"/>
                </a:cubicBezTo>
                <a:cubicBezTo>
                  <a:pt x="1277503" y="443322"/>
                  <a:pt x="1280480" y="442764"/>
                  <a:pt x="1283457" y="443694"/>
                </a:cubicBezTo>
                <a:cubicBezTo>
                  <a:pt x="1288108" y="442020"/>
                  <a:pt x="1293130" y="442392"/>
                  <a:pt x="1297967" y="442392"/>
                </a:cubicBezTo>
                <a:lnTo>
                  <a:pt x="1297595" y="443136"/>
                </a:lnTo>
                <a:lnTo>
                  <a:pt x="1298525" y="444438"/>
                </a:lnTo>
                <a:lnTo>
                  <a:pt x="1298898" y="444624"/>
                </a:lnTo>
                <a:cubicBezTo>
                  <a:pt x="1300014" y="445182"/>
                  <a:pt x="1301130" y="445368"/>
                  <a:pt x="1302432" y="444810"/>
                </a:cubicBezTo>
                <a:cubicBezTo>
                  <a:pt x="1305595" y="442578"/>
                  <a:pt x="1310990" y="445926"/>
                  <a:pt x="1313036" y="440531"/>
                </a:cubicBezTo>
                <a:cubicBezTo>
                  <a:pt x="1311920" y="439415"/>
                  <a:pt x="1310804" y="438299"/>
                  <a:pt x="1309688" y="436997"/>
                </a:cubicBezTo>
                <a:cubicBezTo>
                  <a:pt x="1307269" y="436997"/>
                  <a:pt x="1304851" y="437183"/>
                  <a:pt x="1302246" y="437183"/>
                </a:cubicBezTo>
                <a:lnTo>
                  <a:pt x="1302618" y="436439"/>
                </a:lnTo>
                <a:cubicBezTo>
                  <a:pt x="1301130" y="435694"/>
                  <a:pt x="1299828" y="434764"/>
                  <a:pt x="1298712" y="433648"/>
                </a:cubicBezTo>
                <a:lnTo>
                  <a:pt x="1298898" y="433648"/>
                </a:lnTo>
                <a:cubicBezTo>
                  <a:pt x="1297223" y="432160"/>
                  <a:pt x="1297967" y="430485"/>
                  <a:pt x="1298525" y="428811"/>
                </a:cubicBezTo>
                <a:cubicBezTo>
                  <a:pt x="1297967" y="427695"/>
                  <a:pt x="1298339" y="426951"/>
                  <a:pt x="1299456" y="426579"/>
                </a:cubicBezTo>
                <a:cubicBezTo>
                  <a:pt x="1300386" y="425462"/>
                  <a:pt x="1301130" y="424160"/>
                  <a:pt x="1302060" y="422858"/>
                </a:cubicBezTo>
                <a:cubicBezTo>
                  <a:pt x="1303734" y="421928"/>
                  <a:pt x="1303920" y="419509"/>
                  <a:pt x="1306153" y="419323"/>
                </a:cubicBezTo>
                <a:lnTo>
                  <a:pt x="1312478" y="419323"/>
                </a:lnTo>
                <a:cubicBezTo>
                  <a:pt x="1314338" y="418393"/>
                  <a:pt x="1315641" y="416905"/>
                  <a:pt x="1316199" y="415044"/>
                </a:cubicBezTo>
                <a:lnTo>
                  <a:pt x="1316199" y="413742"/>
                </a:lnTo>
                <a:cubicBezTo>
                  <a:pt x="1315455" y="412068"/>
                  <a:pt x="1315083" y="410580"/>
                  <a:pt x="1316385" y="409091"/>
                </a:cubicBezTo>
                <a:cubicBezTo>
                  <a:pt x="1317687" y="408161"/>
                  <a:pt x="1318803" y="407231"/>
                  <a:pt x="1320106" y="406301"/>
                </a:cubicBezTo>
                <a:cubicBezTo>
                  <a:pt x="1321780" y="404813"/>
                  <a:pt x="1323640" y="404627"/>
                  <a:pt x="1325687" y="405371"/>
                </a:cubicBezTo>
                <a:cubicBezTo>
                  <a:pt x="1331640" y="402580"/>
                  <a:pt x="1338523" y="405557"/>
                  <a:pt x="1344476" y="402766"/>
                </a:cubicBezTo>
                <a:cubicBezTo>
                  <a:pt x="1350801" y="401278"/>
                  <a:pt x="1357127" y="401092"/>
                  <a:pt x="1363638" y="402022"/>
                </a:cubicBezTo>
                <a:cubicBezTo>
                  <a:pt x="1366614" y="401278"/>
                  <a:pt x="1369591" y="400720"/>
                  <a:pt x="1372381" y="399417"/>
                </a:cubicBezTo>
                <a:cubicBezTo>
                  <a:pt x="1378893" y="397743"/>
                  <a:pt x="1385590" y="397929"/>
                  <a:pt x="1392101" y="398673"/>
                </a:cubicBezTo>
                <a:cubicBezTo>
                  <a:pt x="1399171" y="395325"/>
                  <a:pt x="1406984" y="399045"/>
                  <a:pt x="1414053" y="395883"/>
                </a:cubicBezTo>
                <a:cubicBezTo>
                  <a:pt x="1417030" y="394581"/>
                  <a:pt x="1420006" y="394395"/>
                  <a:pt x="1423169" y="394953"/>
                </a:cubicBezTo>
                <a:cubicBezTo>
                  <a:pt x="1426890" y="393092"/>
                  <a:pt x="1431355" y="394395"/>
                  <a:pt x="1434889" y="392348"/>
                </a:cubicBezTo>
                <a:lnTo>
                  <a:pt x="1436378" y="391418"/>
                </a:lnTo>
                <a:lnTo>
                  <a:pt x="1438052" y="391790"/>
                </a:lnTo>
                <a:cubicBezTo>
                  <a:pt x="1441028" y="388814"/>
                  <a:pt x="1446051" y="391790"/>
                  <a:pt x="1448656" y="387883"/>
                </a:cubicBezTo>
                <a:cubicBezTo>
                  <a:pt x="1456283" y="383791"/>
                  <a:pt x="1454981" y="379140"/>
                  <a:pt x="1449028" y="374303"/>
                </a:cubicBezTo>
                <a:lnTo>
                  <a:pt x="1448842" y="374117"/>
                </a:lnTo>
                <a:cubicBezTo>
                  <a:pt x="1447354" y="372814"/>
                  <a:pt x="1445865" y="371512"/>
                  <a:pt x="1443633" y="371326"/>
                </a:cubicBezTo>
                <a:cubicBezTo>
                  <a:pt x="1441773" y="371140"/>
                  <a:pt x="1440098" y="370768"/>
                  <a:pt x="1438238" y="370582"/>
                </a:cubicBezTo>
                <a:cubicBezTo>
                  <a:pt x="1432099" y="367420"/>
                  <a:pt x="1425215" y="370582"/>
                  <a:pt x="1419076" y="367791"/>
                </a:cubicBezTo>
                <a:cubicBezTo>
                  <a:pt x="1414984" y="368722"/>
                  <a:pt x="1410891" y="368350"/>
                  <a:pt x="1406984" y="367233"/>
                </a:cubicBezTo>
                <a:cubicBezTo>
                  <a:pt x="1397310" y="363513"/>
                  <a:pt x="1387078" y="367978"/>
                  <a:pt x="1377404" y="364257"/>
                </a:cubicBezTo>
                <a:cubicBezTo>
                  <a:pt x="1373312" y="365373"/>
                  <a:pt x="1369219" y="365001"/>
                  <a:pt x="1365126" y="363513"/>
                </a:cubicBezTo>
                <a:cubicBezTo>
                  <a:pt x="1361591" y="361280"/>
                  <a:pt x="1357127" y="362769"/>
                  <a:pt x="1353406" y="360908"/>
                </a:cubicBezTo>
                <a:cubicBezTo>
                  <a:pt x="1351359" y="361652"/>
                  <a:pt x="1349499" y="361280"/>
                  <a:pt x="1347639" y="360164"/>
                </a:cubicBezTo>
                <a:cubicBezTo>
                  <a:pt x="1339267" y="356815"/>
                  <a:pt x="1330338" y="360908"/>
                  <a:pt x="1321966" y="357560"/>
                </a:cubicBezTo>
                <a:cubicBezTo>
                  <a:pt x="1320106" y="357374"/>
                  <a:pt x="1318245" y="357188"/>
                  <a:pt x="1316199" y="357001"/>
                </a:cubicBezTo>
                <a:cubicBezTo>
                  <a:pt x="1310618" y="353467"/>
                  <a:pt x="1303734" y="357560"/>
                  <a:pt x="1298153" y="354025"/>
                </a:cubicBezTo>
                <a:lnTo>
                  <a:pt x="1268202" y="354025"/>
                </a:lnTo>
                <a:cubicBezTo>
                  <a:pt x="1263923" y="357374"/>
                  <a:pt x="1257970" y="353653"/>
                  <a:pt x="1253691" y="357374"/>
                </a:cubicBezTo>
                <a:lnTo>
                  <a:pt x="1253877" y="357374"/>
                </a:lnTo>
                <a:cubicBezTo>
                  <a:pt x="1250900" y="360350"/>
                  <a:pt x="1246250" y="357746"/>
                  <a:pt x="1243273" y="360536"/>
                </a:cubicBezTo>
                <a:cubicBezTo>
                  <a:pt x="1239180" y="363141"/>
                  <a:pt x="1234529" y="361280"/>
                  <a:pt x="1230251" y="361466"/>
                </a:cubicBezTo>
                <a:cubicBezTo>
                  <a:pt x="1223925" y="363885"/>
                  <a:pt x="1217600" y="366303"/>
                  <a:pt x="1211275" y="361280"/>
                </a:cubicBezTo>
                <a:cubicBezTo>
                  <a:pt x="1206996" y="361280"/>
                  <a:pt x="1202903" y="361280"/>
                  <a:pt x="1198625" y="361466"/>
                </a:cubicBezTo>
                <a:cubicBezTo>
                  <a:pt x="1196020" y="361094"/>
                  <a:pt x="1193602" y="360722"/>
                  <a:pt x="1190997" y="360350"/>
                </a:cubicBezTo>
                <a:cubicBezTo>
                  <a:pt x="1190439" y="359606"/>
                  <a:pt x="1189881" y="358676"/>
                  <a:pt x="1189137" y="357932"/>
                </a:cubicBezTo>
                <a:cubicBezTo>
                  <a:pt x="1189695" y="357932"/>
                  <a:pt x="1190439" y="357746"/>
                  <a:pt x="1190997" y="357560"/>
                </a:cubicBezTo>
                <a:cubicBezTo>
                  <a:pt x="1191555" y="355885"/>
                  <a:pt x="1190997" y="354769"/>
                  <a:pt x="1190067" y="353653"/>
                </a:cubicBezTo>
                <a:cubicBezTo>
                  <a:pt x="1191741" y="352723"/>
                  <a:pt x="1193230" y="351793"/>
                  <a:pt x="1194346" y="350304"/>
                </a:cubicBezTo>
                <a:lnTo>
                  <a:pt x="1195648" y="349374"/>
                </a:lnTo>
                <a:lnTo>
                  <a:pt x="1196950" y="349932"/>
                </a:lnTo>
                <a:cubicBezTo>
                  <a:pt x="1202531" y="346211"/>
                  <a:pt x="1209787" y="350862"/>
                  <a:pt x="1215182" y="346397"/>
                </a:cubicBezTo>
                <a:lnTo>
                  <a:pt x="1214996" y="346584"/>
                </a:lnTo>
                <a:cubicBezTo>
                  <a:pt x="1216112" y="345653"/>
                  <a:pt x="1217414" y="344723"/>
                  <a:pt x="1218716" y="343979"/>
                </a:cubicBezTo>
                <a:cubicBezTo>
                  <a:pt x="1220391" y="342305"/>
                  <a:pt x="1222251" y="342119"/>
                  <a:pt x="1224297" y="342863"/>
                </a:cubicBezTo>
                <a:cubicBezTo>
                  <a:pt x="1227088" y="341747"/>
                  <a:pt x="1230251" y="341747"/>
                  <a:pt x="1232669" y="339700"/>
                </a:cubicBezTo>
                <a:cubicBezTo>
                  <a:pt x="1234529" y="337654"/>
                  <a:pt x="1237878" y="338398"/>
                  <a:pt x="1239552" y="335794"/>
                </a:cubicBezTo>
                <a:lnTo>
                  <a:pt x="1239366" y="335980"/>
                </a:lnTo>
                <a:cubicBezTo>
                  <a:pt x="1241599" y="334305"/>
                  <a:pt x="1244761" y="334863"/>
                  <a:pt x="1246808" y="332631"/>
                </a:cubicBezTo>
                <a:cubicBezTo>
                  <a:pt x="1249412" y="329282"/>
                  <a:pt x="1255365" y="333189"/>
                  <a:pt x="1256854" y="327608"/>
                </a:cubicBezTo>
                <a:cubicBezTo>
                  <a:pt x="1259272" y="323515"/>
                  <a:pt x="1262993" y="325190"/>
                  <a:pt x="1266527" y="325375"/>
                </a:cubicBezTo>
                <a:cubicBezTo>
                  <a:pt x="1268946" y="322957"/>
                  <a:pt x="1276201" y="326306"/>
                  <a:pt x="1274713" y="318864"/>
                </a:cubicBezTo>
                <a:cubicBezTo>
                  <a:pt x="1271550" y="315888"/>
                  <a:pt x="1266899" y="318306"/>
                  <a:pt x="1263737" y="315516"/>
                </a:cubicBezTo>
                <a:cubicBezTo>
                  <a:pt x="1262621" y="316260"/>
                  <a:pt x="1261690" y="316074"/>
                  <a:pt x="1260760" y="315144"/>
                </a:cubicBezTo>
                <a:cubicBezTo>
                  <a:pt x="1254807" y="311795"/>
                  <a:pt x="1247738" y="315144"/>
                  <a:pt x="1241599" y="312167"/>
                </a:cubicBezTo>
                <a:cubicBezTo>
                  <a:pt x="1227088" y="312353"/>
                  <a:pt x="1212577" y="313283"/>
                  <a:pt x="1198066" y="311237"/>
                </a:cubicBezTo>
                <a:cubicBezTo>
                  <a:pt x="1196764" y="310493"/>
                  <a:pt x="1195648" y="309190"/>
                  <a:pt x="1194160" y="308632"/>
                </a:cubicBezTo>
                <a:cubicBezTo>
                  <a:pt x="1193416" y="307330"/>
                  <a:pt x="1192485" y="306586"/>
                  <a:pt x="1190997" y="306400"/>
                </a:cubicBezTo>
                <a:cubicBezTo>
                  <a:pt x="1190997" y="306028"/>
                  <a:pt x="1190811" y="305470"/>
                  <a:pt x="1190811" y="305098"/>
                </a:cubicBezTo>
                <a:cubicBezTo>
                  <a:pt x="1190067" y="304912"/>
                  <a:pt x="1189323" y="304912"/>
                  <a:pt x="1188579" y="304726"/>
                </a:cubicBezTo>
                <a:cubicBezTo>
                  <a:pt x="1187835" y="299889"/>
                  <a:pt x="1190997" y="296726"/>
                  <a:pt x="1193788" y="293377"/>
                </a:cubicBezTo>
                <a:cubicBezTo>
                  <a:pt x="1196950" y="291517"/>
                  <a:pt x="1196950" y="289843"/>
                  <a:pt x="1193788" y="287982"/>
                </a:cubicBezTo>
                <a:cubicBezTo>
                  <a:pt x="1190253" y="282587"/>
                  <a:pt x="1183742" y="287424"/>
                  <a:pt x="1179649" y="284076"/>
                </a:cubicBezTo>
                <a:cubicBezTo>
                  <a:pt x="1172952" y="284634"/>
                  <a:pt x="1166440" y="284820"/>
                  <a:pt x="1159929" y="283332"/>
                </a:cubicBezTo>
                <a:cubicBezTo>
                  <a:pt x="1153232" y="281471"/>
                  <a:pt x="1146535" y="279983"/>
                  <a:pt x="1139651" y="279239"/>
                </a:cubicBezTo>
                <a:cubicBezTo>
                  <a:pt x="1140023" y="279053"/>
                  <a:pt x="1140396" y="279053"/>
                  <a:pt x="1140954" y="278867"/>
                </a:cubicBezTo>
                <a:cubicBezTo>
                  <a:pt x="1142628" y="278309"/>
                  <a:pt x="1143558" y="275518"/>
                  <a:pt x="1144860" y="273844"/>
                </a:cubicBezTo>
                <a:cubicBezTo>
                  <a:pt x="1143000" y="273472"/>
                  <a:pt x="1141140" y="273286"/>
                  <a:pt x="1139093" y="272914"/>
                </a:cubicBezTo>
                <a:cubicBezTo>
                  <a:pt x="1137419" y="273472"/>
                  <a:pt x="1135373" y="273100"/>
                  <a:pt x="1133512" y="273100"/>
                </a:cubicBezTo>
                <a:cubicBezTo>
                  <a:pt x="1135373" y="272355"/>
                  <a:pt x="1137233" y="271425"/>
                  <a:pt x="1139093" y="269937"/>
                </a:cubicBezTo>
                <a:cubicBezTo>
                  <a:pt x="1147651" y="269193"/>
                  <a:pt x="1156395" y="266774"/>
                  <a:pt x="1164952" y="269565"/>
                </a:cubicBezTo>
                <a:cubicBezTo>
                  <a:pt x="1177230" y="266774"/>
                  <a:pt x="1189509" y="268077"/>
                  <a:pt x="1201787" y="268821"/>
                </a:cubicBezTo>
                <a:cubicBezTo>
                  <a:pt x="1203648" y="268449"/>
                  <a:pt x="1205136" y="267519"/>
                  <a:pt x="1206438" y="266402"/>
                </a:cubicBezTo>
                <a:cubicBezTo>
                  <a:pt x="1206996" y="266588"/>
                  <a:pt x="1207554" y="266774"/>
                  <a:pt x="1208112" y="266774"/>
                </a:cubicBezTo>
                <a:cubicBezTo>
                  <a:pt x="1204020" y="269193"/>
                  <a:pt x="1200299" y="272169"/>
                  <a:pt x="1198439" y="277006"/>
                </a:cubicBezTo>
                <a:cubicBezTo>
                  <a:pt x="1198997" y="277751"/>
                  <a:pt x="1198997" y="278681"/>
                  <a:pt x="1198625" y="279425"/>
                </a:cubicBezTo>
                <a:cubicBezTo>
                  <a:pt x="1199555" y="281471"/>
                  <a:pt x="1200857" y="282774"/>
                  <a:pt x="1203089" y="283332"/>
                </a:cubicBezTo>
                <a:cubicBezTo>
                  <a:pt x="1204950" y="283518"/>
                  <a:pt x="1206996" y="283890"/>
                  <a:pt x="1208856" y="284076"/>
                </a:cubicBezTo>
                <a:cubicBezTo>
                  <a:pt x="1215740" y="286122"/>
                  <a:pt x="1222809" y="286122"/>
                  <a:pt x="1229692" y="284076"/>
                </a:cubicBezTo>
                <a:lnTo>
                  <a:pt x="1239738" y="283518"/>
                </a:lnTo>
                <a:cubicBezTo>
                  <a:pt x="1242901" y="280727"/>
                  <a:pt x="1247366" y="282959"/>
                  <a:pt x="1250528" y="280541"/>
                </a:cubicBezTo>
                <a:lnTo>
                  <a:pt x="1251645" y="279611"/>
                </a:lnTo>
                <a:lnTo>
                  <a:pt x="1253133" y="279797"/>
                </a:lnTo>
                <a:cubicBezTo>
                  <a:pt x="1254993" y="279239"/>
                  <a:pt x="1256295" y="277937"/>
                  <a:pt x="1257598" y="276634"/>
                </a:cubicBezTo>
                <a:cubicBezTo>
                  <a:pt x="1261318" y="271239"/>
                  <a:pt x="1257598" y="268821"/>
                  <a:pt x="1253691" y="266402"/>
                </a:cubicBezTo>
                <a:cubicBezTo>
                  <a:pt x="1252575" y="266960"/>
                  <a:pt x="1251459" y="266588"/>
                  <a:pt x="1250714" y="265658"/>
                </a:cubicBezTo>
                <a:cubicBezTo>
                  <a:pt x="1241599" y="262124"/>
                  <a:pt x="1231739" y="266774"/>
                  <a:pt x="1222623" y="262868"/>
                </a:cubicBezTo>
                <a:cubicBezTo>
                  <a:pt x="1221135" y="261751"/>
                  <a:pt x="1219647" y="261565"/>
                  <a:pt x="1218158" y="261938"/>
                </a:cubicBezTo>
                <a:cubicBezTo>
                  <a:pt x="1218158" y="259891"/>
                  <a:pt x="1217786" y="257659"/>
                  <a:pt x="1219088" y="255984"/>
                </a:cubicBezTo>
                <a:cubicBezTo>
                  <a:pt x="1219460" y="255798"/>
                  <a:pt x="1219647" y="255798"/>
                  <a:pt x="1220019" y="255612"/>
                </a:cubicBezTo>
                <a:lnTo>
                  <a:pt x="1221135" y="255612"/>
                </a:lnTo>
                <a:lnTo>
                  <a:pt x="1222809" y="255798"/>
                </a:lnTo>
                <a:cubicBezTo>
                  <a:pt x="1223181" y="255240"/>
                  <a:pt x="1223367" y="254868"/>
                  <a:pt x="1223553" y="254310"/>
                </a:cubicBezTo>
                <a:cubicBezTo>
                  <a:pt x="1223925" y="254310"/>
                  <a:pt x="1224111" y="254124"/>
                  <a:pt x="1224483" y="253938"/>
                </a:cubicBezTo>
                <a:cubicBezTo>
                  <a:pt x="1228576" y="253380"/>
                  <a:pt x="1232855" y="254682"/>
                  <a:pt x="1236762" y="252450"/>
                </a:cubicBezTo>
                <a:lnTo>
                  <a:pt x="1236390" y="251706"/>
                </a:lnTo>
                <a:cubicBezTo>
                  <a:pt x="1238808" y="250961"/>
                  <a:pt x="1241599" y="250589"/>
                  <a:pt x="1244389" y="250403"/>
                </a:cubicBezTo>
                <a:cubicBezTo>
                  <a:pt x="1241971" y="251334"/>
                  <a:pt x="1239366" y="251706"/>
                  <a:pt x="1236390" y="251706"/>
                </a:cubicBezTo>
                <a:cubicBezTo>
                  <a:pt x="1250156" y="253566"/>
                  <a:pt x="1264109" y="252264"/>
                  <a:pt x="1277876" y="252078"/>
                </a:cubicBezTo>
                <a:cubicBezTo>
                  <a:pt x="1279178" y="241846"/>
                  <a:pt x="1265783" y="250961"/>
                  <a:pt x="1265411" y="242962"/>
                </a:cubicBezTo>
                <a:cubicBezTo>
                  <a:pt x="1266527" y="243148"/>
                  <a:pt x="1267458" y="242962"/>
                  <a:pt x="1268202" y="242032"/>
                </a:cubicBezTo>
                <a:lnTo>
                  <a:pt x="1268388" y="241846"/>
                </a:lnTo>
                <a:cubicBezTo>
                  <a:pt x="1269876" y="239985"/>
                  <a:pt x="1268946" y="237009"/>
                  <a:pt x="1271550" y="235521"/>
                </a:cubicBezTo>
                <a:cubicBezTo>
                  <a:pt x="1277131" y="235148"/>
                  <a:pt x="1282899" y="234776"/>
                  <a:pt x="1288480" y="234404"/>
                </a:cubicBezTo>
                <a:cubicBezTo>
                  <a:pt x="1300200" y="234776"/>
                  <a:pt x="1311920" y="234962"/>
                  <a:pt x="1323640" y="235334"/>
                </a:cubicBezTo>
                <a:cubicBezTo>
                  <a:pt x="1324384" y="235893"/>
                  <a:pt x="1324942" y="236823"/>
                  <a:pt x="1325501" y="237567"/>
                </a:cubicBezTo>
                <a:cubicBezTo>
                  <a:pt x="1324756" y="237567"/>
                  <a:pt x="1324198" y="237939"/>
                  <a:pt x="1323826" y="239055"/>
                </a:cubicBezTo>
                <a:cubicBezTo>
                  <a:pt x="1331268" y="243334"/>
                  <a:pt x="1332942" y="243148"/>
                  <a:pt x="1334058" y="237753"/>
                </a:cubicBezTo>
                <a:cubicBezTo>
                  <a:pt x="1333500" y="237381"/>
                  <a:pt x="1333128" y="237195"/>
                  <a:pt x="1332570" y="237195"/>
                </a:cubicBezTo>
                <a:cubicBezTo>
                  <a:pt x="1332942" y="236451"/>
                  <a:pt x="1333500" y="235707"/>
                  <a:pt x="1334058" y="234962"/>
                </a:cubicBezTo>
                <a:cubicBezTo>
                  <a:pt x="1350243" y="234962"/>
                  <a:pt x="1366242" y="234776"/>
                  <a:pt x="1382427" y="234776"/>
                </a:cubicBezTo>
                <a:cubicBezTo>
                  <a:pt x="1383171" y="233846"/>
                  <a:pt x="1383544" y="232916"/>
                  <a:pt x="1383358" y="232172"/>
                </a:cubicBezTo>
                <a:cubicBezTo>
                  <a:pt x="1384288" y="232916"/>
                  <a:pt x="1385404" y="232916"/>
                  <a:pt x="1386334" y="231986"/>
                </a:cubicBezTo>
                <a:lnTo>
                  <a:pt x="1389683" y="230870"/>
                </a:lnTo>
                <a:cubicBezTo>
                  <a:pt x="1401961" y="231056"/>
                  <a:pt x="1414239" y="231428"/>
                  <a:pt x="1426518" y="231428"/>
                </a:cubicBezTo>
                <a:cubicBezTo>
                  <a:pt x="1428564" y="231428"/>
                  <a:pt x="1432657" y="232730"/>
                  <a:pt x="1431727" y="227707"/>
                </a:cubicBezTo>
                <a:cubicBezTo>
                  <a:pt x="1430796" y="226219"/>
                  <a:pt x="1429680" y="226033"/>
                  <a:pt x="1428378" y="227149"/>
                </a:cubicBezTo>
                <a:cubicBezTo>
                  <a:pt x="1415355" y="227521"/>
                  <a:pt x="1402519" y="228079"/>
                  <a:pt x="1389497" y="228451"/>
                </a:cubicBezTo>
                <a:cubicBezTo>
                  <a:pt x="1386148" y="228079"/>
                  <a:pt x="1382613" y="227707"/>
                  <a:pt x="1379265" y="227149"/>
                </a:cubicBezTo>
                <a:cubicBezTo>
                  <a:pt x="1377590" y="226591"/>
                  <a:pt x="1375730" y="225847"/>
                  <a:pt x="1374056" y="225103"/>
                </a:cubicBezTo>
                <a:cubicBezTo>
                  <a:pt x="1372567" y="224731"/>
                  <a:pt x="1371079" y="224358"/>
                  <a:pt x="1369591" y="224172"/>
                </a:cubicBezTo>
                <a:cubicBezTo>
                  <a:pt x="1371079" y="223986"/>
                  <a:pt x="1372195" y="223242"/>
                  <a:pt x="1372567" y="220824"/>
                </a:cubicBezTo>
                <a:cubicBezTo>
                  <a:pt x="1371823" y="220638"/>
                  <a:pt x="1370893" y="220452"/>
                  <a:pt x="1370149" y="220452"/>
                </a:cubicBezTo>
                <a:cubicBezTo>
                  <a:pt x="1370149" y="219149"/>
                  <a:pt x="1369405" y="218219"/>
                  <a:pt x="1368103" y="217847"/>
                </a:cubicBezTo>
                <a:cubicBezTo>
                  <a:pt x="1364940" y="217847"/>
                  <a:pt x="1361963" y="217661"/>
                  <a:pt x="1358801" y="217661"/>
                </a:cubicBezTo>
                <a:cubicBezTo>
                  <a:pt x="1358615" y="220638"/>
                  <a:pt x="1359359" y="222312"/>
                  <a:pt x="1360847" y="223242"/>
                </a:cubicBezTo>
                <a:cubicBezTo>
                  <a:pt x="1358057" y="223056"/>
                  <a:pt x="1355452" y="223242"/>
                  <a:pt x="1352662" y="223614"/>
                </a:cubicBezTo>
                <a:cubicBezTo>
                  <a:pt x="1353592" y="222684"/>
                  <a:pt x="1354150" y="220824"/>
                  <a:pt x="1354150" y="218033"/>
                </a:cubicBezTo>
                <a:lnTo>
                  <a:pt x="1337593" y="218033"/>
                </a:lnTo>
                <a:cubicBezTo>
                  <a:pt x="1336291" y="217661"/>
                  <a:pt x="1335174" y="217289"/>
                  <a:pt x="1333872" y="216731"/>
                </a:cubicBezTo>
                <a:cubicBezTo>
                  <a:pt x="1332756" y="216173"/>
                  <a:pt x="1331640" y="216173"/>
                  <a:pt x="1330524" y="216917"/>
                </a:cubicBezTo>
                <a:cubicBezTo>
                  <a:pt x="1328105" y="216917"/>
                  <a:pt x="1325687" y="216731"/>
                  <a:pt x="1323454" y="216731"/>
                </a:cubicBezTo>
                <a:cubicBezTo>
                  <a:pt x="1322338" y="216359"/>
                  <a:pt x="1321222" y="216359"/>
                  <a:pt x="1319919" y="216545"/>
                </a:cubicBezTo>
                <a:lnTo>
                  <a:pt x="1320106" y="217847"/>
                </a:lnTo>
                <a:lnTo>
                  <a:pt x="1299828" y="217847"/>
                </a:lnTo>
                <a:cubicBezTo>
                  <a:pt x="1297967" y="218405"/>
                  <a:pt x="1295921" y="218963"/>
                  <a:pt x="1294991" y="220638"/>
                </a:cubicBezTo>
                <a:cubicBezTo>
                  <a:pt x="1294247" y="220452"/>
                  <a:pt x="1293689" y="220266"/>
                  <a:pt x="1292944" y="220452"/>
                </a:cubicBezTo>
                <a:cubicBezTo>
                  <a:pt x="1292200" y="218405"/>
                  <a:pt x="1290712" y="217475"/>
                  <a:pt x="1288666" y="217847"/>
                </a:cubicBezTo>
                <a:cubicBezTo>
                  <a:pt x="1286433" y="217661"/>
                  <a:pt x="1284201" y="217661"/>
                  <a:pt x="1281782" y="217475"/>
                </a:cubicBezTo>
                <a:cubicBezTo>
                  <a:pt x="1280852" y="218405"/>
                  <a:pt x="1279922" y="219149"/>
                  <a:pt x="1278992" y="220080"/>
                </a:cubicBezTo>
                <a:cubicBezTo>
                  <a:pt x="1279178" y="219149"/>
                  <a:pt x="1278806" y="218219"/>
                  <a:pt x="1278434" y="217289"/>
                </a:cubicBezTo>
                <a:lnTo>
                  <a:pt x="1269318" y="217289"/>
                </a:lnTo>
                <a:cubicBezTo>
                  <a:pt x="1267830" y="217103"/>
                  <a:pt x="1266341" y="216731"/>
                  <a:pt x="1265039" y="215987"/>
                </a:cubicBezTo>
                <a:cubicBezTo>
                  <a:pt x="1264667" y="215801"/>
                  <a:pt x="1264481" y="215615"/>
                  <a:pt x="1264109" y="215615"/>
                </a:cubicBezTo>
                <a:lnTo>
                  <a:pt x="1264109" y="214313"/>
                </a:lnTo>
                <a:cubicBezTo>
                  <a:pt x="1259830" y="212638"/>
                  <a:pt x="1262063" y="211708"/>
                  <a:pt x="1264481" y="210592"/>
                </a:cubicBezTo>
                <a:cubicBezTo>
                  <a:pt x="1264667" y="210220"/>
                  <a:pt x="1265039" y="209662"/>
                  <a:pt x="1265039" y="209290"/>
                </a:cubicBezTo>
                <a:cubicBezTo>
                  <a:pt x="1266713" y="208731"/>
                  <a:pt x="1268388" y="208545"/>
                  <a:pt x="1270062" y="208731"/>
                </a:cubicBezTo>
                <a:cubicBezTo>
                  <a:pt x="1288480" y="208731"/>
                  <a:pt x="1306897" y="208918"/>
                  <a:pt x="1325315" y="208545"/>
                </a:cubicBezTo>
                <a:cubicBezTo>
                  <a:pt x="1327547" y="208173"/>
                  <a:pt x="1329779" y="207801"/>
                  <a:pt x="1332198" y="207615"/>
                </a:cubicBezTo>
                <a:cubicBezTo>
                  <a:pt x="1347825" y="210034"/>
                  <a:pt x="1363452" y="208545"/>
                  <a:pt x="1379079" y="207615"/>
                </a:cubicBezTo>
                <a:cubicBezTo>
                  <a:pt x="1401217" y="207429"/>
                  <a:pt x="1423169" y="207057"/>
                  <a:pt x="1445307" y="206871"/>
                </a:cubicBezTo>
                <a:cubicBezTo>
                  <a:pt x="1446051" y="206313"/>
                  <a:pt x="1446609" y="205569"/>
                  <a:pt x="1446795" y="205011"/>
                </a:cubicBezTo>
                <a:lnTo>
                  <a:pt x="1448470" y="206127"/>
                </a:lnTo>
                <a:cubicBezTo>
                  <a:pt x="1447354" y="205755"/>
                  <a:pt x="1446237" y="206127"/>
                  <a:pt x="1445493" y="206871"/>
                </a:cubicBezTo>
                <a:lnTo>
                  <a:pt x="1448842" y="207429"/>
                </a:lnTo>
                <a:cubicBezTo>
                  <a:pt x="1462608" y="207057"/>
                  <a:pt x="1476375" y="206499"/>
                  <a:pt x="1490328" y="206127"/>
                </a:cubicBezTo>
                <a:cubicBezTo>
                  <a:pt x="1492932" y="204267"/>
                  <a:pt x="1492932" y="202406"/>
                  <a:pt x="1490700" y="200360"/>
                </a:cubicBezTo>
                <a:lnTo>
                  <a:pt x="1487351" y="199802"/>
                </a:lnTo>
                <a:cubicBezTo>
                  <a:pt x="1486607" y="199802"/>
                  <a:pt x="1485863" y="199802"/>
                  <a:pt x="1485119" y="199988"/>
                </a:cubicBezTo>
                <a:lnTo>
                  <a:pt x="1481212" y="199988"/>
                </a:lnTo>
                <a:cubicBezTo>
                  <a:pt x="1479538" y="199430"/>
                  <a:pt x="1478049" y="198500"/>
                  <a:pt x="1476933" y="196639"/>
                </a:cubicBezTo>
                <a:lnTo>
                  <a:pt x="1473585" y="196639"/>
                </a:lnTo>
                <a:cubicBezTo>
                  <a:pt x="1472840" y="198127"/>
                  <a:pt x="1471724" y="199058"/>
                  <a:pt x="1470422" y="199616"/>
                </a:cubicBezTo>
                <a:cubicBezTo>
                  <a:pt x="1469492" y="199430"/>
                  <a:pt x="1468562" y="199430"/>
                  <a:pt x="1467445" y="199244"/>
                </a:cubicBezTo>
                <a:cubicBezTo>
                  <a:pt x="1465957" y="198686"/>
                  <a:pt x="1464655" y="198686"/>
                  <a:pt x="1463167" y="199430"/>
                </a:cubicBezTo>
                <a:cubicBezTo>
                  <a:pt x="1462050" y="199802"/>
                  <a:pt x="1460934" y="199988"/>
                  <a:pt x="1459818" y="199802"/>
                </a:cubicBezTo>
                <a:cubicBezTo>
                  <a:pt x="1459446" y="199058"/>
                  <a:pt x="1459260" y="198127"/>
                  <a:pt x="1459260" y="197197"/>
                </a:cubicBezTo>
                <a:cubicBezTo>
                  <a:pt x="1454237" y="193291"/>
                  <a:pt x="1449028" y="191802"/>
                  <a:pt x="1443633" y="193477"/>
                </a:cubicBezTo>
                <a:cubicBezTo>
                  <a:pt x="1442889" y="193291"/>
                  <a:pt x="1442145" y="193291"/>
                  <a:pt x="1441587" y="193291"/>
                </a:cubicBezTo>
                <a:cubicBezTo>
                  <a:pt x="1439354" y="193291"/>
                  <a:pt x="1437122" y="193477"/>
                  <a:pt x="1434889" y="193663"/>
                </a:cubicBezTo>
                <a:cubicBezTo>
                  <a:pt x="1433773" y="193663"/>
                  <a:pt x="1432657" y="193477"/>
                  <a:pt x="1431727" y="192918"/>
                </a:cubicBezTo>
                <a:cubicBezTo>
                  <a:pt x="1423913" y="190686"/>
                  <a:pt x="1415914" y="190314"/>
                  <a:pt x="1408100" y="192918"/>
                </a:cubicBezTo>
                <a:cubicBezTo>
                  <a:pt x="1406426" y="192546"/>
                  <a:pt x="1404938" y="191988"/>
                  <a:pt x="1403449" y="191430"/>
                </a:cubicBezTo>
                <a:cubicBezTo>
                  <a:pt x="1392659" y="192174"/>
                  <a:pt x="1381683" y="189942"/>
                  <a:pt x="1370893" y="192360"/>
                </a:cubicBezTo>
                <a:cubicBezTo>
                  <a:pt x="1367358" y="191430"/>
                  <a:pt x="1363638" y="191058"/>
                  <a:pt x="1360103" y="189942"/>
                </a:cubicBezTo>
                <a:cubicBezTo>
                  <a:pt x="1355452" y="191988"/>
                  <a:pt x="1350615" y="190314"/>
                  <a:pt x="1345964" y="189942"/>
                </a:cubicBezTo>
                <a:cubicBezTo>
                  <a:pt x="1343918" y="190872"/>
                  <a:pt x="1341686" y="190686"/>
                  <a:pt x="1339639" y="189942"/>
                </a:cubicBezTo>
                <a:cubicBezTo>
                  <a:pt x="1336477" y="190872"/>
                  <a:pt x="1333686" y="190500"/>
                  <a:pt x="1330709" y="189198"/>
                </a:cubicBezTo>
                <a:cubicBezTo>
                  <a:pt x="1325501" y="187709"/>
                  <a:pt x="1320478" y="184919"/>
                  <a:pt x="1315455" y="184175"/>
                </a:cubicBezTo>
                <a:cubicBezTo>
                  <a:pt x="1317873" y="183989"/>
                  <a:pt x="1321222" y="185477"/>
                  <a:pt x="1323640" y="182501"/>
                </a:cubicBezTo>
                <a:lnTo>
                  <a:pt x="1324570" y="181570"/>
                </a:lnTo>
                <a:lnTo>
                  <a:pt x="1325873" y="181942"/>
                </a:lnTo>
                <a:cubicBezTo>
                  <a:pt x="1328477" y="180640"/>
                  <a:pt x="1332198" y="181384"/>
                  <a:pt x="1333500" y="177850"/>
                </a:cubicBezTo>
                <a:lnTo>
                  <a:pt x="1333128" y="178222"/>
                </a:lnTo>
                <a:cubicBezTo>
                  <a:pt x="1339081" y="171710"/>
                  <a:pt x="1333314" y="170594"/>
                  <a:pt x="1328849" y="168920"/>
                </a:cubicBezTo>
                <a:cubicBezTo>
                  <a:pt x="1310804" y="169664"/>
                  <a:pt x="1292944" y="169478"/>
                  <a:pt x="1274899" y="168176"/>
                </a:cubicBezTo>
                <a:cubicBezTo>
                  <a:pt x="1265039" y="161106"/>
                  <a:pt x="1253877" y="166501"/>
                  <a:pt x="1243273" y="165013"/>
                </a:cubicBezTo>
                <a:lnTo>
                  <a:pt x="1242157" y="165013"/>
                </a:lnTo>
                <a:lnTo>
                  <a:pt x="1242901" y="165013"/>
                </a:lnTo>
                <a:cubicBezTo>
                  <a:pt x="1292200" y="162409"/>
                  <a:pt x="1341500" y="163525"/>
                  <a:pt x="1390799" y="163153"/>
                </a:cubicBezTo>
                <a:cubicBezTo>
                  <a:pt x="1391915" y="162409"/>
                  <a:pt x="1392845" y="161851"/>
                  <a:pt x="1393217" y="161293"/>
                </a:cubicBezTo>
                <a:cubicBezTo>
                  <a:pt x="1402519" y="162223"/>
                  <a:pt x="1412007" y="162409"/>
                  <a:pt x="1421309" y="160920"/>
                </a:cubicBezTo>
                <a:lnTo>
                  <a:pt x="1420565" y="161479"/>
                </a:lnTo>
                <a:lnTo>
                  <a:pt x="1420937" y="162223"/>
                </a:lnTo>
                <a:cubicBezTo>
                  <a:pt x="1431541" y="160734"/>
                  <a:pt x="1441959" y="161293"/>
                  <a:pt x="1452563" y="162037"/>
                </a:cubicBezTo>
                <a:cubicBezTo>
                  <a:pt x="1454051" y="162967"/>
                  <a:pt x="1455167" y="162595"/>
                  <a:pt x="1456097" y="160920"/>
                </a:cubicBezTo>
                <a:lnTo>
                  <a:pt x="1456469" y="160548"/>
                </a:lnTo>
                <a:cubicBezTo>
                  <a:pt x="1456655" y="161106"/>
                  <a:pt x="1456841" y="161851"/>
                  <a:pt x="1457400" y="162595"/>
                </a:cubicBezTo>
                <a:cubicBezTo>
                  <a:pt x="1473957" y="163153"/>
                  <a:pt x="1490514" y="163153"/>
                  <a:pt x="1507071" y="162595"/>
                </a:cubicBezTo>
                <a:cubicBezTo>
                  <a:pt x="1508001" y="162223"/>
                  <a:pt x="1508559" y="161665"/>
                  <a:pt x="1508931" y="160920"/>
                </a:cubicBezTo>
                <a:cubicBezTo>
                  <a:pt x="1510047" y="161293"/>
                  <a:pt x="1510978" y="161479"/>
                  <a:pt x="1512094" y="161851"/>
                </a:cubicBezTo>
                <a:cubicBezTo>
                  <a:pt x="1516745" y="160548"/>
                  <a:pt x="1521396" y="160734"/>
                  <a:pt x="1526046" y="161665"/>
                </a:cubicBezTo>
                <a:cubicBezTo>
                  <a:pt x="1528465" y="162967"/>
                  <a:pt x="1530697" y="162781"/>
                  <a:pt x="1533116" y="161479"/>
                </a:cubicBezTo>
                <a:lnTo>
                  <a:pt x="1533674" y="161106"/>
                </a:lnTo>
                <a:cubicBezTo>
                  <a:pt x="1533488" y="157386"/>
                  <a:pt x="1530883" y="156456"/>
                  <a:pt x="1527721" y="156642"/>
                </a:cubicBezTo>
                <a:cubicBezTo>
                  <a:pt x="1521396" y="156828"/>
                  <a:pt x="1515070" y="157200"/>
                  <a:pt x="1508745" y="157386"/>
                </a:cubicBezTo>
                <a:cubicBezTo>
                  <a:pt x="1505024" y="155898"/>
                  <a:pt x="1500188" y="158316"/>
                  <a:pt x="1497025" y="154595"/>
                </a:cubicBezTo>
                <a:cubicBezTo>
                  <a:pt x="1493118" y="154595"/>
                  <a:pt x="1489025" y="154409"/>
                  <a:pt x="1485119" y="154409"/>
                </a:cubicBezTo>
                <a:cubicBezTo>
                  <a:pt x="1478794" y="155711"/>
                  <a:pt x="1472468" y="151805"/>
                  <a:pt x="1466143" y="153107"/>
                </a:cubicBezTo>
                <a:cubicBezTo>
                  <a:pt x="1465027" y="151991"/>
                  <a:pt x="1463353" y="151433"/>
                  <a:pt x="1461492" y="150875"/>
                </a:cubicBezTo>
                <a:cubicBezTo>
                  <a:pt x="1459260" y="150502"/>
                  <a:pt x="1457027" y="150316"/>
                  <a:pt x="1454609" y="150688"/>
                </a:cubicBezTo>
                <a:cubicBezTo>
                  <a:pt x="1453121" y="150875"/>
                  <a:pt x="1451818" y="151061"/>
                  <a:pt x="1450330" y="151433"/>
                </a:cubicBezTo>
                <a:cubicBezTo>
                  <a:pt x="1446981" y="152549"/>
                  <a:pt x="1443447" y="151991"/>
                  <a:pt x="1440284" y="151061"/>
                </a:cubicBezTo>
                <a:cubicBezTo>
                  <a:pt x="1436564" y="150316"/>
                  <a:pt x="1433029" y="150316"/>
                  <a:pt x="1429308" y="151433"/>
                </a:cubicBezTo>
                <a:cubicBezTo>
                  <a:pt x="1427262" y="152177"/>
                  <a:pt x="1425215" y="153107"/>
                  <a:pt x="1423541" y="154409"/>
                </a:cubicBezTo>
                <a:lnTo>
                  <a:pt x="1422239" y="154409"/>
                </a:lnTo>
                <a:cubicBezTo>
                  <a:pt x="1422053" y="153665"/>
                  <a:pt x="1421681" y="153107"/>
                  <a:pt x="1420937" y="152363"/>
                </a:cubicBezTo>
                <a:cubicBezTo>
                  <a:pt x="1419820" y="151805"/>
                  <a:pt x="1418704" y="151247"/>
                  <a:pt x="1417588" y="150875"/>
                </a:cubicBezTo>
                <a:cubicBezTo>
                  <a:pt x="1420565" y="151061"/>
                  <a:pt x="1423727" y="150875"/>
                  <a:pt x="1426890" y="150502"/>
                </a:cubicBezTo>
                <a:cubicBezTo>
                  <a:pt x="1428564" y="150316"/>
                  <a:pt x="1430238" y="149944"/>
                  <a:pt x="1431727" y="149572"/>
                </a:cubicBezTo>
                <a:cubicBezTo>
                  <a:pt x="1432285" y="149386"/>
                  <a:pt x="1432657" y="149014"/>
                  <a:pt x="1433215" y="148642"/>
                </a:cubicBezTo>
                <a:cubicBezTo>
                  <a:pt x="1434517" y="149014"/>
                  <a:pt x="1435633" y="149386"/>
                  <a:pt x="1436936" y="149572"/>
                </a:cubicBezTo>
                <a:cubicBezTo>
                  <a:pt x="1441028" y="150130"/>
                  <a:pt x="1445307" y="150502"/>
                  <a:pt x="1449028" y="147898"/>
                </a:cubicBezTo>
                <a:cubicBezTo>
                  <a:pt x="1449400" y="147526"/>
                  <a:pt x="1449772" y="146968"/>
                  <a:pt x="1449772" y="146596"/>
                </a:cubicBezTo>
                <a:lnTo>
                  <a:pt x="1453679" y="146596"/>
                </a:lnTo>
                <a:cubicBezTo>
                  <a:pt x="1455353" y="147154"/>
                  <a:pt x="1457213" y="147712"/>
                  <a:pt x="1458888" y="148084"/>
                </a:cubicBezTo>
                <a:cubicBezTo>
                  <a:pt x="1460376" y="148270"/>
                  <a:pt x="1461864" y="148084"/>
                  <a:pt x="1463167" y="147340"/>
                </a:cubicBezTo>
                <a:cubicBezTo>
                  <a:pt x="1466887" y="146968"/>
                  <a:pt x="1470422" y="146596"/>
                  <a:pt x="1474143" y="146224"/>
                </a:cubicBezTo>
                <a:cubicBezTo>
                  <a:pt x="1479724" y="146596"/>
                  <a:pt x="1485305" y="147898"/>
                  <a:pt x="1490700" y="145666"/>
                </a:cubicBezTo>
                <a:lnTo>
                  <a:pt x="1490886" y="143991"/>
                </a:lnTo>
                <a:cubicBezTo>
                  <a:pt x="1490514" y="142689"/>
                  <a:pt x="1489584" y="142131"/>
                  <a:pt x="1488467" y="142503"/>
                </a:cubicBezTo>
                <a:lnTo>
                  <a:pt x="1488467" y="141945"/>
                </a:lnTo>
                <a:cubicBezTo>
                  <a:pt x="1488467" y="141015"/>
                  <a:pt x="1487909" y="140271"/>
                  <a:pt x="1486793" y="139712"/>
                </a:cubicBezTo>
                <a:cubicBezTo>
                  <a:pt x="1485863" y="139898"/>
                  <a:pt x="1484933" y="139898"/>
                  <a:pt x="1484188" y="139340"/>
                </a:cubicBezTo>
                <a:cubicBezTo>
                  <a:pt x="1481398" y="136178"/>
                  <a:pt x="1476561" y="139340"/>
                  <a:pt x="1473957" y="135806"/>
                </a:cubicBezTo>
                <a:lnTo>
                  <a:pt x="1470236" y="135806"/>
                </a:lnTo>
                <a:cubicBezTo>
                  <a:pt x="1466701" y="138410"/>
                  <a:pt x="1463167" y="138224"/>
                  <a:pt x="1459632" y="135806"/>
                </a:cubicBezTo>
                <a:lnTo>
                  <a:pt x="1456283" y="135806"/>
                </a:lnTo>
                <a:cubicBezTo>
                  <a:pt x="1454795" y="137666"/>
                  <a:pt x="1452377" y="137480"/>
                  <a:pt x="1450330" y="138038"/>
                </a:cubicBezTo>
                <a:cubicBezTo>
                  <a:pt x="1450330" y="137852"/>
                  <a:pt x="1450516" y="137666"/>
                  <a:pt x="1450516" y="137480"/>
                </a:cubicBezTo>
                <a:cubicBezTo>
                  <a:pt x="1450702" y="136736"/>
                  <a:pt x="1450144" y="136178"/>
                  <a:pt x="1449028" y="135992"/>
                </a:cubicBezTo>
                <a:cubicBezTo>
                  <a:pt x="1444377" y="135806"/>
                  <a:pt x="1439912" y="135620"/>
                  <a:pt x="1435261" y="135620"/>
                </a:cubicBezTo>
                <a:cubicBezTo>
                  <a:pt x="1430982" y="136178"/>
                  <a:pt x="1426890" y="137852"/>
                  <a:pt x="1422611" y="138038"/>
                </a:cubicBezTo>
                <a:cubicBezTo>
                  <a:pt x="1422983" y="137294"/>
                  <a:pt x="1422239" y="136550"/>
                  <a:pt x="1420565" y="136178"/>
                </a:cubicBezTo>
                <a:cubicBezTo>
                  <a:pt x="1419634" y="136550"/>
                  <a:pt x="1418704" y="136364"/>
                  <a:pt x="1417960" y="135620"/>
                </a:cubicBezTo>
                <a:cubicBezTo>
                  <a:pt x="1415728" y="133759"/>
                  <a:pt x="1413495" y="133945"/>
                  <a:pt x="1411077" y="135248"/>
                </a:cubicBezTo>
                <a:cubicBezTo>
                  <a:pt x="1408844" y="135434"/>
                  <a:pt x="1406426" y="135620"/>
                  <a:pt x="1404193" y="135806"/>
                </a:cubicBezTo>
                <a:cubicBezTo>
                  <a:pt x="1403635" y="136736"/>
                  <a:pt x="1403263" y="137480"/>
                  <a:pt x="1403263" y="138596"/>
                </a:cubicBezTo>
                <a:cubicBezTo>
                  <a:pt x="1402519" y="138224"/>
                  <a:pt x="1401589" y="138224"/>
                  <a:pt x="1400845" y="138782"/>
                </a:cubicBezTo>
                <a:lnTo>
                  <a:pt x="1401031" y="138596"/>
                </a:lnTo>
                <a:lnTo>
                  <a:pt x="1400659" y="138596"/>
                </a:lnTo>
                <a:cubicBezTo>
                  <a:pt x="1400845" y="137666"/>
                  <a:pt x="1400845" y="136736"/>
                  <a:pt x="1400473" y="135806"/>
                </a:cubicBezTo>
                <a:cubicBezTo>
                  <a:pt x="1395078" y="135992"/>
                  <a:pt x="1389683" y="136178"/>
                  <a:pt x="1384288" y="136178"/>
                </a:cubicBezTo>
                <a:cubicBezTo>
                  <a:pt x="1382241" y="136736"/>
                  <a:pt x="1380381" y="137294"/>
                  <a:pt x="1379265" y="139154"/>
                </a:cubicBezTo>
                <a:lnTo>
                  <a:pt x="1374056" y="139154"/>
                </a:lnTo>
                <a:cubicBezTo>
                  <a:pt x="1374056" y="137852"/>
                  <a:pt x="1373684" y="136736"/>
                  <a:pt x="1372754" y="135620"/>
                </a:cubicBezTo>
                <a:cubicBezTo>
                  <a:pt x="1371637" y="134689"/>
                  <a:pt x="1370521" y="134317"/>
                  <a:pt x="1369033" y="134689"/>
                </a:cubicBezTo>
                <a:lnTo>
                  <a:pt x="1366800" y="135248"/>
                </a:lnTo>
                <a:lnTo>
                  <a:pt x="1366614" y="135248"/>
                </a:lnTo>
                <a:cubicBezTo>
                  <a:pt x="1366614" y="135062"/>
                  <a:pt x="1366614" y="135062"/>
                  <a:pt x="1366800" y="134875"/>
                </a:cubicBezTo>
                <a:cubicBezTo>
                  <a:pt x="1366986" y="133945"/>
                  <a:pt x="1366614" y="133015"/>
                  <a:pt x="1365870" y="132271"/>
                </a:cubicBezTo>
                <a:cubicBezTo>
                  <a:pt x="1363638" y="132271"/>
                  <a:pt x="1361219" y="132271"/>
                  <a:pt x="1358987" y="132457"/>
                </a:cubicBezTo>
                <a:cubicBezTo>
                  <a:pt x="1358243" y="133015"/>
                  <a:pt x="1357871" y="133573"/>
                  <a:pt x="1357871" y="134503"/>
                </a:cubicBezTo>
                <a:cubicBezTo>
                  <a:pt x="1357685" y="134503"/>
                  <a:pt x="1357499" y="134503"/>
                  <a:pt x="1357313" y="134317"/>
                </a:cubicBezTo>
                <a:cubicBezTo>
                  <a:pt x="1356754" y="134503"/>
                  <a:pt x="1356010" y="134689"/>
                  <a:pt x="1355452" y="134689"/>
                </a:cubicBezTo>
                <a:cubicBezTo>
                  <a:pt x="1354150" y="135248"/>
                  <a:pt x="1352662" y="135620"/>
                  <a:pt x="1351359" y="136178"/>
                </a:cubicBezTo>
                <a:lnTo>
                  <a:pt x="1351732" y="135620"/>
                </a:lnTo>
                <a:cubicBezTo>
                  <a:pt x="1350429" y="134689"/>
                  <a:pt x="1349313" y="133387"/>
                  <a:pt x="1347825" y="132643"/>
                </a:cubicBezTo>
                <a:cubicBezTo>
                  <a:pt x="1346150" y="130039"/>
                  <a:pt x="1342802" y="130597"/>
                  <a:pt x="1340569" y="129108"/>
                </a:cubicBezTo>
                <a:cubicBezTo>
                  <a:pt x="1338523" y="129108"/>
                  <a:pt x="1336663" y="129108"/>
                  <a:pt x="1334616" y="128922"/>
                </a:cubicBezTo>
                <a:cubicBezTo>
                  <a:pt x="1331082" y="131713"/>
                  <a:pt x="1326431" y="129853"/>
                  <a:pt x="1322524" y="131527"/>
                </a:cubicBezTo>
                <a:cubicBezTo>
                  <a:pt x="1320664" y="130411"/>
                  <a:pt x="1318803" y="130783"/>
                  <a:pt x="1316943" y="132085"/>
                </a:cubicBezTo>
                <a:lnTo>
                  <a:pt x="1313408" y="132085"/>
                </a:lnTo>
                <a:cubicBezTo>
                  <a:pt x="1309874" y="130225"/>
                  <a:pt x="1306339" y="129667"/>
                  <a:pt x="1302990" y="132457"/>
                </a:cubicBezTo>
                <a:cubicBezTo>
                  <a:pt x="1300758" y="133945"/>
                  <a:pt x="1298339" y="133945"/>
                  <a:pt x="1296107" y="132457"/>
                </a:cubicBezTo>
                <a:cubicBezTo>
                  <a:pt x="1294247" y="130411"/>
                  <a:pt x="1294619" y="127434"/>
                  <a:pt x="1292944" y="125202"/>
                </a:cubicBezTo>
                <a:cubicBezTo>
                  <a:pt x="1292014" y="124644"/>
                  <a:pt x="1291642" y="123899"/>
                  <a:pt x="1292014" y="122969"/>
                </a:cubicBezTo>
                <a:cubicBezTo>
                  <a:pt x="1291642" y="122783"/>
                  <a:pt x="1291270" y="122783"/>
                  <a:pt x="1290898" y="122597"/>
                </a:cubicBezTo>
                <a:lnTo>
                  <a:pt x="1290898" y="121853"/>
                </a:lnTo>
                <a:cubicBezTo>
                  <a:pt x="1292944" y="113295"/>
                  <a:pt x="1300014" y="116644"/>
                  <a:pt x="1305037" y="116458"/>
                </a:cubicBezTo>
                <a:cubicBezTo>
                  <a:pt x="1322710" y="116086"/>
                  <a:pt x="1340383" y="116272"/>
                  <a:pt x="1358057" y="116272"/>
                </a:cubicBezTo>
                <a:cubicBezTo>
                  <a:pt x="1358057" y="117016"/>
                  <a:pt x="1358615" y="117574"/>
                  <a:pt x="1359731" y="117760"/>
                </a:cubicBezTo>
                <a:cubicBezTo>
                  <a:pt x="1364382" y="117574"/>
                  <a:pt x="1369033" y="117016"/>
                  <a:pt x="1373498" y="117016"/>
                </a:cubicBezTo>
                <a:cubicBezTo>
                  <a:pt x="1425587" y="117388"/>
                  <a:pt x="1477677" y="118132"/>
                  <a:pt x="1529767" y="118318"/>
                </a:cubicBezTo>
                <a:cubicBezTo>
                  <a:pt x="1564556" y="118504"/>
                  <a:pt x="1599158" y="119621"/>
                  <a:pt x="1633947" y="117574"/>
                </a:cubicBezTo>
                <a:cubicBezTo>
                  <a:pt x="1643063" y="117574"/>
                  <a:pt x="1652178" y="117760"/>
                  <a:pt x="1661480" y="117760"/>
                </a:cubicBezTo>
                <a:cubicBezTo>
                  <a:pt x="1665015" y="119807"/>
                  <a:pt x="1668549" y="118876"/>
                  <a:pt x="1666689" y="114598"/>
                </a:cubicBezTo>
                <a:close/>
                <a:moveTo>
                  <a:pt x="677540" y="60834"/>
                </a:moveTo>
                <a:lnTo>
                  <a:pt x="675866" y="60834"/>
                </a:lnTo>
                <a:lnTo>
                  <a:pt x="675494" y="60461"/>
                </a:lnTo>
                <a:cubicBezTo>
                  <a:pt x="675866" y="60461"/>
                  <a:pt x="676052" y="60275"/>
                  <a:pt x="676424" y="60275"/>
                </a:cubicBezTo>
                <a:cubicBezTo>
                  <a:pt x="677168" y="60089"/>
                  <a:pt x="677726" y="60089"/>
                  <a:pt x="677726" y="59159"/>
                </a:cubicBezTo>
                <a:cubicBezTo>
                  <a:pt x="677540" y="56741"/>
                  <a:pt x="679400" y="61020"/>
                  <a:pt x="677540" y="60834"/>
                </a:cubicBezTo>
                <a:close/>
                <a:moveTo>
                  <a:pt x="1127559" y="280913"/>
                </a:moveTo>
                <a:cubicBezTo>
                  <a:pt x="1126443" y="281099"/>
                  <a:pt x="1125327" y="281099"/>
                  <a:pt x="1124210" y="281285"/>
                </a:cubicBezTo>
                <a:cubicBezTo>
                  <a:pt x="1117885" y="282587"/>
                  <a:pt x="1111560" y="285564"/>
                  <a:pt x="1105049" y="283890"/>
                </a:cubicBezTo>
                <a:cubicBezTo>
                  <a:pt x="1103933" y="283518"/>
                  <a:pt x="1107467" y="282587"/>
                  <a:pt x="1108584" y="281471"/>
                </a:cubicBezTo>
                <a:cubicBezTo>
                  <a:pt x="1110072" y="280913"/>
                  <a:pt x="1111560" y="280169"/>
                  <a:pt x="1112862" y="279053"/>
                </a:cubicBezTo>
                <a:cubicBezTo>
                  <a:pt x="1113607" y="277564"/>
                  <a:pt x="1113979" y="276076"/>
                  <a:pt x="1113420" y="274402"/>
                </a:cubicBezTo>
                <a:cubicBezTo>
                  <a:pt x="1111932" y="273472"/>
                  <a:pt x="1110444" y="273100"/>
                  <a:pt x="1108770" y="273100"/>
                </a:cubicBezTo>
                <a:cubicBezTo>
                  <a:pt x="1103933" y="272728"/>
                  <a:pt x="1099096" y="273844"/>
                  <a:pt x="1094259" y="272542"/>
                </a:cubicBezTo>
                <a:cubicBezTo>
                  <a:pt x="1101514" y="274216"/>
                  <a:pt x="1109142" y="271239"/>
                  <a:pt x="1116211" y="274774"/>
                </a:cubicBezTo>
                <a:cubicBezTo>
                  <a:pt x="1120490" y="275518"/>
                  <a:pt x="1124583" y="276262"/>
                  <a:pt x="1128675" y="275890"/>
                </a:cubicBezTo>
                <a:cubicBezTo>
                  <a:pt x="1128117" y="276448"/>
                  <a:pt x="1127559" y="277006"/>
                  <a:pt x="1127001" y="278123"/>
                </a:cubicBezTo>
                <a:cubicBezTo>
                  <a:pt x="1126629" y="278867"/>
                  <a:pt x="1127001" y="280541"/>
                  <a:pt x="1127559" y="280913"/>
                </a:cubicBezTo>
                <a:close/>
                <a:moveTo>
                  <a:pt x="1202903" y="165943"/>
                </a:moveTo>
                <a:cubicBezTo>
                  <a:pt x="1203275" y="165943"/>
                  <a:pt x="1203648" y="166129"/>
                  <a:pt x="1204206" y="166129"/>
                </a:cubicBezTo>
                <a:cubicBezTo>
                  <a:pt x="1204020" y="166129"/>
                  <a:pt x="1203648" y="166315"/>
                  <a:pt x="1203462" y="166315"/>
                </a:cubicBezTo>
                <a:cubicBezTo>
                  <a:pt x="1203834" y="167618"/>
                  <a:pt x="1203089" y="166874"/>
                  <a:pt x="1202903" y="165943"/>
                </a:cubicBezTo>
                <a:close/>
                <a:moveTo>
                  <a:pt x="1339267" y="224731"/>
                </a:moveTo>
                <a:cubicBezTo>
                  <a:pt x="1339453" y="224544"/>
                  <a:pt x="1339453" y="224358"/>
                  <a:pt x="1339453" y="224172"/>
                </a:cubicBezTo>
                <a:cubicBezTo>
                  <a:pt x="1340011" y="225289"/>
                  <a:pt x="1340941" y="226219"/>
                  <a:pt x="1342430" y="226777"/>
                </a:cubicBezTo>
                <a:cubicBezTo>
                  <a:pt x="1344104" y="226033"/>
                  <a:pt x="1346336" y="226405"/>
                  <a:pt x="1348383" y="226777"/>
                </a:cubicBezTo>
                <a:cubicBezTo>
                  <a:pt x="1347081" y="227149"/>
                  <a:pt x="1345964" y="227521"/>
                  <a:pt x="1344662" y="227893"/>
                </a:cubicBezTo>
                <a:cubicBezTo>
                  <a:pt x="1344290" y="228079"/>
                  <a:pt x="1344104" y="228265"/>
                  <a:pt x="1343918" y="228637"/>
                </a:cubicBezTo>
                <a:lnTo>
                  <a:pt x="1341128" y="228637"/>
                </a:lnTo>
                <a:cubicBezTo>
                  <a:pt x="1339639" y="227893"/>
                  <a:pt x="1338151" y="227707"/>
                  <a:pt x="1336663" y="227893"/>
                </a:cubicBezTo>
                <a:cubicBezTo>
                  <a:pt x="1337779" y="226777"/>
                  <a:pt x="1338709" y="225847"/>
                  <a:pt x="1339267" y="224731"/>
                </a:cubicBezTo>
                <a:close/>
                <a:moveTo>
                  <a:pt x="1280294" y="222126"/>
                </a:moveTo>
                <a:cubicBezTo>
                  <a:pt x="1280294" y="222312"/>
                  <a:pt x="1280294" y="222312"/>
                  <a:pt x="1280108" y="222498"/>
                </a:cubicBezTo>
                <a:lnTo>
                  <a:pt x="1279736" y="222126"/>
                </a:lnTo>
                <a:lnTo>
                  <a:pt x="1280294" y="222126"/>
                </a:lnTo>
                <a:close/>
                <a:moveTo>
                  <a:pt x="1420192" y="144549"/>
                </a:moveTo>
                <a:cubicBezTo>
                  <a:pt x="1420565" y="143991"/>
                  <a:pt x="1421309" y="143619"/>
                  <a:pt x="1421867" y="143061"/>
                </a:cubicBezTo>
                <a:cubicBezTo>
                  <a:pt x="1421681" y="143619"/>
                  <a:pt x="1421495" y="144177"/>
                  <a:pt x="1421495" y="144921"/>
                </a:cubicBezTo>
                <a:cubicBezTo>
                  <a:pt x="1421495" y="145107"/>
                  <a:pt x="1421681" y="145293"/>
                  <a:pt x="1421681" y="145480"/>
                </a:cubicBezTo>
                <a:cubicBezTo>
                  <a:pt x="1420751" y="145480"/>
                  <a:pt x="1420006" y="144921"/>
                  <a:pt x="1420192" y="144549"/>
                </a:cubicBezTo>
                <a:close/>
                <a:moveTo>
                  <a:pt x="1407914" y="149386"/>
                </a:moveTo>
                <a:cubicBezTo>
                  <a:pt x="1408472" y="150130"/>
                  <a:pt x="1409030" y="150875"/>
                  <a:pt x="1409774" y="151433"/>
                </a:cubicBezTo>
                <a:cubicBezTo>
                  <a:pt x="1409402" y="151247"/>
                  <a:pt x="1409030" y="151247"/>
                  <a:pt x="1408658" y="151061"/>
                </a:cubicBezTo>
                <a:cubicBezTo>
                  <a:pt x="1407542" y="150688"/>
                  <a:pt x="1406426" y="150316"/>
                  <a:pt x="1405310" y="150130"/>
                </a:cubicBezTo>
                <a:cubicBezTo>
                  <a:pt x="1406240" y="149944"/>
                  <a:pt x="1407170" y="149758"/>
                  <a:pt x="1407914" y="149386"/>
                </a:cubicBezTo>
                <a:close/>
                <a:moveTo>
                  <a:pt x="1404565" y="142317"/>
                </a:moveTo>
                <a:cubicBezTo>
                  <a:pt x="1404565" y="142503"/>
                  <a:pt x="1404565" y="142503"/>
                  <a:pt x="1404565" y="142317"/>
                </a:cubicBezTo>
                <a:cubicBezTo>
                  <a:pt x="1404379" y="143061"/>
                  <a:pt x="1404007" y="143433"/>
                  <a:pt x="1403821" y="143619"/>
                </a:cubicBezTo>
                <a:cubicBezTo>
                  <a:pt x="1404007" y="143247"/>
                  <a:pt x="1404379" y="142875"/>
                  <a:pt x="1404565" y="142317"/>
                </a:cubicBezTo>
                <a:close/>
                <a:moveTo>
                  <a:pt x="1403263" y="143805"/>
                </a:moveTo>
                <a:cubicBezTo>
                  <a:pt x="1402891" y="143619"/>
                  <a:pt x="1402519" y="143061"/>
                  <a:pt x="1402147" y="142131"/>
                </a:cubicBezTo>
                <a:lnTo>
                  <a:pt x="1403263" y="143805"/>
                </a:lnTo>
                <a:close/>
                <a:moveTo>
                  <a:pt x="1370335" y="151061"/>
                </a:moveTo>
                <a:cubicBezTo>
                  <a:pt x="1370149" y="151061"/>
                  <a:pt x="1370149" y="151061"/>
                  <a:pt x="1369963" y="151247"/>
                </a:cubicBezTo>
                <a:lnTo>
                  <a:pt x="1369591" y="151247"/>
                </a:lnTo>
                <a:cubicBezTo>
                  <a:pt x="1369777" y="151061"/>
                  <a:pt x="1370149" y="151061"/>
                  <a:pt x="1370335" y="151061"/>
                </a:cubicBezTo>
                <a:close/>
                <a:moveTo>
                  <a:pt x="1363638" y="149944"/>
                </a:moveTo>
                <a:cubicBezTo>
                  <a:pt x="1363638" y="149758"/>
                  <a:pt x="1363638" y="149758"/>
                  <a:pt x="1363824" y="149572"/>
                </a:cubicBezTo>
                <a:cubicBezTo>
                  <a:pt x="1364568" y="150130"/>
                  <a:pt x="1365312" y="150502"/>
                  <a:pt x="1366056" y="150875"/>
                </a:cubicBezTo>
                <a:cubicBezTo>
                  <a:pt x="1361963" y="151247"/>
                  <a:pt x="1357871" y="151433"/>
                  <a:pt x="1353778" y="151433"/>
                </a:cubicBezTo>
                <a:cubicBezTo>
                  <a:pt x="1357127" y="151433"/>
                  <a:pt x="1360475" y="151061"/>
                  <a:pt x="1363638" y="149944"/>
                </a:cubicBezTo>
                <a:close/>
                <a:moveTo>
                  <a:pt x="1349685" y="151247"/>
                </a:moveTo>
                <a:cubicBezTo>
                  <a:pt x="1347081" y="151247"/>
                  <a:pt x="1344662" y="151061"/>
                  <a:pt x="1342058" y="150875"/>
                </a:cubicBezTo>
                <a:cubicBezTo>
                  <a:pt x="1344476" y="151061"/>
                  <a:pt x="1347081" y="151247"/>
                  <a:pt x="1349685" y="151247"/>
                </a:cubicBezTo>
                <a:close/>
                <a:moveTo>
                  <a:pt x="1286805" y="143991"/>
                </a:moveTo>
                <a:cubicBezTo>
                  <a:pt x="1285503" y="144177"/>
                  <a:pt x="1284201" y="144177"/>
                  <a:pt x="1282712" y="143991"/>
                </a:cubicBezTo>
                <a:cubicBezTo>
                  <a:pt x="1285317" y="143061"/>
                  <a:pt x="1287177" y="142317"/>
                  <a:pt x="1288666" y="141387"/>
                </a:cubicBezTo>
                <a:cubicBezTo>
                  <a:pt x="1288293" y="142317"/>
                  <a:pt x="1287549" y="143247"/>
                  <a:pt x="1286805" y="143991"/>
                </a:cubicBezTo>
                <a:close/>
                <a:moveTo>
                  <a:pt x="1302990" y="43346"/>
                </a:moveTo>
                <a:lnTo>
                  <a:pt x="1300758" y="43346"/>
                </a:lnTo>
                <a:lnTo>
                  <a:pt x="1300758" y="43160"/>
                </a:lnTo>
                <a:cubicBezTo>
                  <a:pt x="1301874" y="43160"/>
                  <a:pt x="1302990" y="43346"/>
                  <a:pt x="1303920" y="43160"/>
                </a:cubicBezTo>
                <a:cubicBezTo>
                  <a:pt x="1308199" y="43160"/>
                  <a:pt x="1312664" y="42974"/>
                  <a:pt x="1317129" y="43532"/>
                </a:cubicBezTo>
                <a:cubicBezTo>
                  <a:pt x="1320664" y="44276"/>
                  <a:pt x="1324012" y="44834"/>
                  <a:pt x="1327547" y="45021"/>
                </a:cubicBezTo>
                <a:cubicBezTo>
                  <a:pt x="1323454" y="45021"/>
                  <a:pt x="1319361" y="44648"/>
                  <a:pt x="1315269" y="43346"/>
                </a:cubicBezTo>
                <a:lnTo>
                  <a:pt x="1302990" y="43346"/>
                </a:lnTo>
                <a:close/>
                <a:moveTo>
                  <a:pt x="1478980" y="108645"/>
                </a:moveTo>
                <a:cubicBezTo>
                  <a:pt x="1478980" y="108086"/>
                  <a:pt x="1478794" y="107714"/>
                  <a:pt x="1478794" y="107156"/>
                </a:cubicBezTo>
                <a:lnTo>
                  <a:pt x="1479352" y="107714"/>
                </a:lnTo>
                <a:cubicBezTo>
                  <a:pt x="1479352" y="108086"/>
                  <a:pt x="1479166" y="108272"/>
                  <a:pt x="1478980" y="108645"/>
                </a:cubicBezTo>
                <a:close/>
                <a:moveTo>
                  <a:pt x="1494979" y="111435"/>
                </a:moveTo>
                <a:cubicBezTo>
                  <a:pt x="1494793" y="111621"/>
                  <a:pt x="1494048" y="111063"/>
                  <a:pt x="1493862" y="110691"/>
                </a:cubicBezTo>
                <a:lnTo>
                  <a:pt x="1496281" y="110691"/>
                </a:lnTo>
                <a:cubicBezTo>
                  <a:pt x="1495909" y="110877"/>
                  <a:pt x="1495351" y="111063"/>
                  <a:pt x="1494979" y="111435"/>
                </a:cubicBezTo>
                <a:close/>
                <a:moveTo>
                  <a:pt x="1605483" y="109575"/>
                </a:moveTo>
                <a:cubicBezTo>
                  <a:pt x="1605483" y="109761"/>
                  <a:pt x="1605297" y="109761"/>
                  <a:pt x="1605297" y="109761"/>
                </a:cubicBezTo>
                <a:lnTo>
                  <a:pt x="1604925" y="109761"/>
                </a:lnTo>
                <a:cubicBezTo>
                  <a:pt x="1604739" y="109575"/>
                  <a:pt x="1604553" y="109389"/>
                  <a:pt x="1603995" y="109203"/>
                </a:cubicBezTo>
                <a:cubicBezTo>
                  <a:pt x="1603437" y="109017"/>
                  <a:pt x="1603065" y="108645"/>
                  <a:pt x="1602693" y="108272"/>
                </a:cubicBezTo>
                <a:cubicBezTo>
                  <a:pt x="1602879" y="108086"/>
                  <a:pt x="1602879" y="107900"/>
                  <a:pt x="1603065" y="107714"/>
                </a:cubicBezTo>
                <a:cubicBezTo>
                  <a:pt x="1603437" y="108272"/>
                  <a:pt x="1603995" y="108645"/>
                  <a:pt x="1604739" y="109017"/>
                </a:cubicBezTo>
                <a:cubicBezTo>
                  <a:pt x="1606228" y="107528"/>
                  <a:pt x="1606972" y="108086"/>
                  <a:pt x="1605483" y="109575"/>
                </a:cubicBezTo>
                <a:close/>
                <a:moveTo>
                  <a:pt x="1627808" y="115900"/>
                </a:moveTo>
                <a:cubicBezTo>
                  <a:pt x="1627622" y="115900"/>
                  <a:pt x="1627622" y="115900"/>
                  <a:pt x="1627436" y="115714"/>
                </a:cubicBezTo>
                <a:cubicBezTo>
                  <a:pt x="1627622" y="115714"/>
                  <a:pt x="1627808" y="115714"/>
                  <a:pt x="1627808" y="115900"/>
                </a:cubicBezTo>
                <a:close/>
                <a:moveTo>
                  <a:pt x="241102" y="13581"/>
                </a:moveTo>
                <a:cubicBezTo>
                  <a:pt x="244636" y="11162"/>
                  <a:pt x="248915" y="8930"/>
                  <a:pt x="244450" y="4093"/>
                </a:cubicBezTo>
                <a:cubicBezTo>
                  <a:pt x="244078" y="2046"/>
                  <a:pt x="242590" y="1116"/>
                  <a:pt x="240916" y="0"/>
                </a:cubicBezTo>
                <a:cubicBezTo>
                  <a:pt x="236823" y="372"/>
                  <a:pt x="231800" y="-744"/>
                  <a:pt x="231428" y="5953"/>
                </a:cubicBezTo>
                <a:cubicBezTo>
                  <a:pt x="231056" y="13395"/>
                  <a:pt x="235893" y="13395"/>
                  <a:pt x="241102" y="13581"/>
                </a:cubicBezTo>
                <a:close/>
              </a:path>
            </a:pathLst>
          </a:custGeom>
          <a:ln w="1860" cap="flat">
            <a:noFill/>
            <a:prstDash val="solid"/>
            <a:miter/>
          </a:ln>
        </p:spPr>
        <p:txBody>
          <a:bodyPr rtlCol="0" anchor="ctr"/>
          <a:lstStyle/>
          <a:p>
            <a:endParaRPr lang="zh-CN" altLang="en-US" dirty="0"/>
          </a:p>
        </p:txBody>
      </p:sp>
      <p:sp>
        <p:nvSpPr>
          <p:cNvPr id="15" name="文本框 14">
            <a:extLst>
              <a:ext uri="{FF2B5EF4-FFF2-40B4-BE49-F238E27FC236}">
                <a16:creationId xmlns:a16="http://schemas.microsoft.com/office/drawing/2014/main" id="{4E70B301-A53E-EC6C-3C4D-8BA1BE26417E}"/>
              </a:ext>
            </a:extLst>
          </p:cNvPr>
          <p:cNvSpPr txBox="1"/>
          <p:nvPr/>
        </p:nvSpPr>
        <p:spPr>
          <a:xfrm>
            <a:off x="0" y="0"/>
            <a:ext cx="6930102" cy="1446550"/>
          </a:xfrm>
          <a:prstGeom prst="rect">
            <a:avLst/>
          </a:prstGeom>
          <a:noFill/>
        </p:spPr>
        <p:txBody>
          <a:bodyPr wrap="none" rtlCol="0">
            <a:spAutoFit/>
          </a:bodyPr>
          <a:lstStyle/>
          <a:p>
            <a:r>
              <a:rPr lang="en-US" altLang="zh-CN" sz="8000" dirty="0">
                <a:latin typeface="Segoe UI Black" panose="020B0A02040204020203" pitchFamily="34" charset="0"/>
                <a:ea typeface="Segoe UI Black" panose="020B0A02040204020203" pitchFamily="34" charset="0"/>
              </a:rPr>
              <a:t>MBTI</a:t>
            </a:r>
            <a:r>
              <a:rPr lang="en-US" altLang="zh-CN" sz="8800" dirty="0">
                <a:latin typeface="华文琥珀" panose="02010800040101010101" pitchFamily="2" charset="-122"/>
                <a:ea typeface="华文琥珀" panose="02010800040101010101" pitchFamily="2" charset="-122"/>
              </a:rPr>
              <a:t>  </a:t>
            </a:r>
            <a:r>
              <a:rPr lang="zh-CN" altLang="en-US" sz="5400" dirty="0">
                <a:latin typeface="程荣光刻楷" panose="03000503000000000000" pitchFamily="66" charset="-122"/>
                <a:ea typeface="程荣光刻楷" panose="03000503000000000000" pitchFamily="66" charset="-122"/>
              </a:rPr>
              <a:t>与自我认识</a:t>
            </a:r>
          </a:p>
        </p:txBody>
      </p:sp>
      <p:sp>
        <p:nvSpPr>
          <p:cNvPr id="2" name="文本框 1">
            <a:extLst>
              <a:ext uri="{FF2B5EF4-FFF2-40B4-BE49-F238E27FC236}">
                <a16:creationId xmlns:a16="http://schemas.microsoft.com/office/drawing/2014/main" id="{AA35037E-0DAF-38BA-A92F-A92882F8495E}"/>
              </a:ext>
            </a:extLst>
          </p:cNvPr>
          <p:cNvSpPr txBox="1"/>
          <p:nvPr/>
        </p:nvSpPr>
        <p:spPr>
          <a:xfrm>
            <a:off x="0" y="1727710"/>
            <a:ext cx="4969630" cy="2554545"/>
          </a:xfrm>
          <a:prstGeom prst="rect">
            <a:avLst/>
          </a:prstGeom>
          <a:noFill/>
        </p:spPr>
        <p:txBody>
          <a:bodyPr wrap="none" rtlCol="0">
            <a:spAutoFit/>
          </a:bodyPr>
          <a:lstStyle/>
          <a:p>
            <a:r>
              <a:rPr lang="en-US" altLang="zh-CN" sz="8000" dirty="0">
                <a:latin typeface="华文隶书" panose="02010800040101010101" pitchFamily="2" charset="-122"/>
                <a:ea typeface="华文隶书" panose="02010800040101010101" pitchFamily="2" charset="-122"/>
              </a:rPr>
              <a:t>NKU MBTI</a:t>
            </a:r>
          </a:p>
          <a:p>
            <a:r>
              <a:rPr lang="zh-CN" altLang="en-US" sz="8000" dirty="0">
                <a:latin typeface="华文隶书" panose="02010800040101010101" pitchFamily="2" charset="-122"/>
                <a:ea typeface="华文隶书" panose="02010800040101010101" pitchFamily="2" charset="-122"/>
              </a:rPr>
              <a:t>大访谈</a:t>
            </a:r>
          </a:p>
        </p:txBody>
      </p:sp>
      <p:sp useBgFill="1">
        <p:nvSpPr>
          <p:cNvPr id="4" name="任意多边形: 形状 3">
            <a:extLst>
              <a:ext uri="{FF2B5EF4-FFF2-40B4-BE49-F238E27FC236}">
                <a16:creationId xmlns:a16="http://schemas.microsoft.com/office/drawing/2014/main" id="{E73CECE1-3220-9B7F-7FA9-7316F90D6348}"/>
              </a:ext>
            </a:extLst>
          </p:cNvPr>
          <p:cNvSpPr>
            <a:spLocks noChangeAspect="1"/>
          </p:cNvSpPr>
          <p:nvPr/>
        </p:nvSpPr>
        <p:spPr>
          <a:xfrm rot="2620250">
            <a:off x="6225540" y="-1516526"/>
            <a:ext cx="9943239" cy="9941062"/>
          </a:xfrm>
          <a:custGeom>
            <a:avLst/>
            <a:gdLst>
              <a:gd name="connsiteX0" fmla="*/ 3914303 w 5232096"/>
              <a:gd name="connsiteY0" fmla="*/ 2797508 h 5230950"/>
              <a:gd name="connsiteX1" fmla="*/ 5232096 w 5232096"/>
              <a:gd name="connsiteY1" fmla="*/ 2797508 h 5230950"/>
              <a:gd name="connsiteX2" fmla="*/ 5228793 w 5232096"/>
              <a:gd name="connsiteY2" fmla="*/ 2867273 h 5230950"/>
              <a:gd name="connsiteX3" fmla="*/ 2884405 w 5232096"/>
              <a:gd name="connsiteY3" fmla="*/ 5226591 h 5230950"/>
              <a:gd name="connsiteX4" fmla="*/ 2798081 w 5232096"/>
              <a:gd name="connsiteY4" fmla="*/ 5230950 h 5230950"/>
              <a:gd name="connsiteX5" fmla="*/ 2798081 w 5232096"/>
              <a:gd name="connsiteY5" fmla="*/ 3913730 h 5230950"/>
              <a:gd name="connsiteX6" fmla="*/ 2880529 w 5232096"/>
              <a:gd name="connsiteY6" fmla="*/ 3901147 h 5230950"/>
              <a:gd name="connsiteX7" fmla="*/ 3901720 w 5232096"/>
              <a:gd name="connsiteY7" fmla="*/ 2879956 h 5230950"/>
              <a:gd name="connsiteX8" fmla="*/ 0 w 5232096"/>
              <a:gd name="connsiteY8" fmla="*/ 2797508 h 5230950"/>
              <a:gd name="connsiteX9" fmla="*/ 1317793 w 5232096"/>
              <a:gd name="connsiteY9" fmla="*/ 2797508 h 5230950"/>
              <a:gd name="connsiteX10" fmla="*/ 1330376 w 5232096"/>
              <a:gd name="connsiteY10" fmla="*/ 2879956 h 5230950"/>
              <a:gd name="connsiteX11" fmla="*/ 2351567 w 5232096"/>
              <a:gd name="connsiteY11" fmla="*/ 3901147 h 5230950"/>
              <a:gd name="connsiteX12" fmla="*/ 2434015 w 5232096"/>
              <a:gd name="connsiteY12" fmla="*/ 3913730 h 5230950"/>
              <a:gd name="connsiteX13" fmla="*/ 2434015 w 5232096"/>
              <a:gd name="connsiteY13" fmla="*/ 5230950 h 5230950"/>
              <a:gd name="connsiteX14" fmla="*/ 2347691 w 5232096"/>
              <a:gd name="connsiteY14" fmla="*/ 5226591 h 5230950"/>
              <a:gd name="connsiteX15" fmla="*/ 3303 w 5232096"/>
              <a:gd name="connsiteY15" fmla="*/ 2867273 h 5230950"/>
              <a:gd name="connsiteX16" fmla="*/ 2798081 w 5232096"/>
              <a:gd name="connsiteY16" fmla="*/ 0 h 5230950"/>
              <a:gd name="connsiteX17" fmla="*/ 2884405 w 5232096"/>
              <a:gd name="connsiteY17" fmla="*/ 4359 h 5230950"/>
              <a:gd name="connsiteX18" fmla="*/ 5228793 w 5232096"/>
              <a:gd name="connsiteY18" fmla="*/ 2363677 h 5230950"/>
              <a:gd name="connsiteX19" fmla="*/ 5232096 w 5232096"/>
              <a:gd name="connsiteY19" fmla="*/ 2433442 h 5230950"/>
              <a:gd name="connsiteX20" fmla="*/ 3914303 w 5232096"/>
              <a:gd name="connsiteY20" fmla="*/ 2433442 h 5230950"/>
              <a:gd name="connsiteX21" fmla="*/ 3901720 w 5232096"/>
              <a:gd name="connsiteY21" fmla="*/ 2350994 h 5230950"/>
              <a:gd name="connsiteX22" fmla="*/ 2880529 w 5232096"/>
              <a:gd name="connsiteY22" fmla="*/ 1329803 h 5230950"/>
              <a:gd name="connsiteX23" fmla="*/ 2798081 w 5232096"/>
              <a:gd name="connsiteY23" fmla="*/ 1317220 h 5230950"/>
              <a:gd name="connsiteX24" fmla="*/ 2434015 w 5232096"/>
              <a:gd name="connsiteY24" fmla="*/ 0 h 5230950"/>
              <a:gd name="connsiteX25" fmla="*/ 2434015 w 5232096"/>
              <a:gd name="connsiteY25" fmla="*/ 1317220 h 5230950"/>
              <a:gd name="connsiteX26" fmla="*/ 2351567 w 5232096"/>
              <a:gd name="connsiteY26" fmla="*/ 1329803 h 5230950"/>
              <a:gd name="connsiteX27" fmla="*/ 1330376 w 5232096"/>
              <a:gd name="connsiteY27" fmla="*/ 2350994 h 5230950"/>
              <a:gd name="connsiteX28" fmla="*/ 1317793 w 5232096"/>
              <a:gd name="connsiteY28" fmla="*/ 2433442 h 5230950"/>
              <a:gd name="connsiteX29" fmla="*/ 0 w 5232096"/>
              <a:gd name="connsiteY29" fmla="*/ 2433442 h 5230950"/>
              <a:gd name="connsiteX30" fmla="*/ 3303 w 5232096"/>
              <a:gd name="connsiteY30" fmla="*/ 2363677 h 5230950"/>
              <a:gd name="connsiteX31" fmla="*/ 2347691 w 5232096"/>
              <a:gd name="connsiteY31" fmla="*/ 4359 h 5230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232096" h="5230950">
                <a:moveTo>
                  <a:pt x="3914303" y="2797508"/>
                </a:moveTo>
                <a:lnTo>
                  <a:pt x="5232096" y="2797508"/>
                </a:lnTo>
                <a:lnTo>
                  <a:pt x="5228793" y="2867273"/>
                </a:lnTo>
                <a:cubicBezTo>
                  <a:pt x="5110479" y="4110318"/>
                  <a:pt x="4125191" y="5100583"/>
                  <a:pt x="2884405" y="5226591"/>
                </a:cubicBezTo>
                <a:lnTo>
                  <a:pt x="2798081" y="5230950"/>
                </a:lnTo>
                <a:lnTo>
                  <a:pt x="2798081" y="3913730"/>
                </a:lnTo>
                <a:lnTo>
                  <a:pt x="2880529" y="3901147"/>
                </a:lnTo>
                <a:cubicBezTo>
                  <a:pt x="3393108" y="3796258"/>
                  <a:pt x="3796831" y="3392535"/>
                  <a:pt x="3901720" y="2879956"/>
                </a:cubicBezTo>
                <a:close/>
                <a:moveTo>
                  <a:pt x="0" y="2797508"/>
                </a:moveTo>
                <a:lnTo>
                  <a:pt x="1317793" y="2797508"/>
                </a:lnTo>
                <a:lnTo>
                  <a:pt x="1330376" y="2879956"/>
                </a:lnTo>
                <a:cubicBezTo>
                  <a:pt x="1435265" y="3392535"/>
                  <a:pt x="1838988" y="3796258"/>
                  <a:pt x="2351567" y="3901147"/>
                </a:cubicBezTo>
                <a:lnTo>
                  <a:pt x="2434015" y="3913730"/>
                </a:lnTo>
                <a:lnTo>
                  <a:pt x="2434015" y="5230950"/>
                </a:lnTo>
                <a:lnTo>
                  <a:pt x="2347691" y="5226591"/>
                </a:lnTo>
                <a:cubicBezTo>
                  <a:pt x="1106905" y="5100583"/>
                  <a:pt x="121617" y="4110318"/>
                  <a:pt x="3303" y="2867273"/>
                </a:cubicBezTo>
                <a:close/>
                <a:moveTo>
                  <a:pt x="2798081" y="0"/>
                </a:moveTo>
                <a:lnTo>
                  <a:pt x="2884405" y="4359"/>
                </a:lnTo>
                <a:cubicBezTo>
                  <a:pt x="4125191" y="130368"/>
                  <a:pt x="5110479" y="1120633"/>
                  <a:pt x="5228793" y="2363677"/>
                </a:cubicBezTo>
                <a:lnTo>
                  <a:pt x="5232096" y="2433442"/>
                </a:lnTo>
                <a:lnTo>
                  <a:pt x="3914303" y="2433442"/>
                </a:lnTo>
                <a:lnTo>
                  <a:pt x="3901720" y="2350994"/>
                </a:lnTo>
                <a:cubicBezTo>
                  <a:pt x="3796831" y="1838415"/>
                  <a:pt x="3393108" y="1434692"/>
                  <a:pt x="2880529" y="1329803"/>
                </a:cubicBezTo>
                <a:lnTo>
                  <a:pt x="2798081" y="1317220"/>
                </a:lnTo>
                <a:close/>
                <a:moveTo>
                  <a:pt x="2434015" y="0"/>
                </a:moveTo>
                <a:lnTo>
                  <a:pt x="2434015" y="1317220"/>
                </a:lnTo>
                <a:lnTo>
                  <a:pt x="2351567" y="1329803"/>
                </a:lnTo>
                <a:cubicBezTo>
                  <a:pt x="1838988" y="1434692"/>
                  <a:pt x="1435265" y="1838415"/>
                  <a:pt x="1330376" y="2350994"/>
                </a:cubicBezTo>
                <a:lnTo>
                  <a:pt x="1317793" y="2433442"/>
                </a:lnTo>
                <a:lnTo>
                  <a:pt x="0" y="2433442"/>
                </a:lnTo>
                <a:lnTo>
                  <a:pt x="3303" y="2363677"/>
                </a:lnTo>
                <a:cubicBezTo>
                  <a:pt x="121617" y="1120633"/>
                  <a:pt x="1106905" y="130368"/>
                  <a:pt x="2347691" y="4359"/>
                </a:cubicBezTo>
                <a:close/>
              </a:path>
            </a:pathLst>
          </a:custGeom>
          <a:ln>
            <a:noFill/>
          </a:ln>
          <a:effectLst>
            <a:outerShdw blurRad="508000" sx="102000" sy="102000" algn="ctr" rotWithShape="0">
              <a:prstClr val="black">
                <a:alpha val="7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7541135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2" presetClass="entr" presetSubtype="1" fill="hold" grpId="0" nodeType="afterEffect">
                                  <p:stCondLst>
                                    <p:cond delay="0"/>
                                  </p:stCondLst>
                                  <p:childTnLst>
                                    <p:set>
                                      <p:cBhvr>
                                        <p:cTn id="10" dur="1" fill="hold">
                                          <p:stCondLst>
                                            <p:cond delay="0"/>
                                          </p:stCondLst>
                                        </p:cTn>
                                        <p:tgtEl>
                                          <p:spTgt spid="15"/>
                                        </p:tgtEl>
                                        <p:attrNameLst>
                                          <p:attrName>style.visibility</p:attrName>
                                        </p:attrNameLst>
                                      </p:cBhvr>
                                      <p:to>
                                        <p:strVal val="visible"/>
                                      </p:to>
                                    </p:set>
                                    <p:anim calcmode="lin" valueType="num">
                                      <p:cBhvr additive="base">
                                        <p:cTn id="11" dur="500" fill="hold"/>
                                        <p:tgtEl>
                                          <p:spTgt spid="15"/>
                                        </p:tgtEl>
                                        <p:attrNameLst>
                                          <p:attrName>ppt_x</p:attrName>
                                        </p:attrNameLst>
                                      </p:cBhvr>
                                      <p:tavLst>
                                        <p:tav tm="0">
                                          <p:val>
                                            <p:strVal val="#ppt_x"/>
                                          </p:val>
                                        </p:tav>
                                        <p:tav tm="100000">
                                          <p:val>
                                            <p:strVal val="#ppt_x"/>
                                          </p:val>
                                        </p:tav>
                                      </p:tavLst>
                                    </p:anim>
                                    <p:anim calcmode="lin" valueType="num">
                                      <p:cBhvr additive="base">
                                        <p:cTn id="12" dur="500" fill="hold"/>
                                        <p:tgtEl>
                                          <p:spTgt spid="15"/>
                                        </p:tgtEl>
                                        <p:attrNameLst>
                                          <p:attrName>ppt_y</p:attrName>
                                        </p:attrNameLst>
                                      </p:cBhvr>
                                      <p:tavLst>
                                        <p:tav tm="0">
                                          <p:val>
                                            <p:strVal val="0-#ppt_h/2"/>
                                          </p:val>
                                        </p:tav>
                                        <p:tav tm="100000">
                                          <p:val>
                                            <p:strVal val="#ppt_y"/>
                                          </p:val>
                                        </p:tav>
                                      </p:tavLst>
                                    </p:anim>
                                  </p:childTnLst>
                                </p:cTn>
                              </p:par>
                            </p:childTnLst>
                          </p:cTn>
                        </p:par>
                        <p:par>
                          <p:cTn id="13" fill="hold">
                            <p:stCondLst>
                              <p:cond delay="1000"/>
                            </p:stCondLst>
                            <p:childTnLst>
                              <p:par>
                                <p:cTn id="14" presetID="16" presetClass="entr" presetSubtype="21" fill="hold" grpId="0"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barn(inVertical)">
                                      <p:cBhvr>
                                        <p:cTn id="16"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15" grpId="0"/>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88A418-61D5-C688-2156-F7AFBD577623}"/>
            </a:ext>
          </a:extLst>
        </p:cNvPr>
        <p:cNvGrpSpPr/>
        <p:nvPr/>
      </p:nvGrpSpPr>
      <p:grpSpPr>
        <a:xfrm>
          <a:off x="0" y="0"/>
          <a:ext cx="0" cy="0"/>
          <a:chOff x="0" y="0"/>
          <a:chExt cx="0" cy="0"/>
        </a:xfrm>
      </p:grpSpPr>
      <p:pic>
        <p:nvPicPr>
          <p:cNvPr id="13" name="图片 12">
            <a:extLst>
              <a:ext uri="{FF2B5EF4-FFF2-40B4-BE49-F238E27FC236}">
                <a16:creationId xmlns:a16="http://schemas.microsoft.com/office/drawing/2014/main" id="{48FC6FC5-8B72-9EE7-3D11-8C8493A3F9C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83112" y="-28961"/>
            <a:ext cx="9144000" cy="6858000"/>
          </a:xfrm>
          <a:prstGeom prst="rect">
            <a:avLst/>
          </a:prstGeom>
        </p:spPr>
      </p:pic>
      <p:sp>
        <p:nvSpPr>
          <p:cNvPr id="9" name="不完整圆 8">
            <a:extLst>
              <a:ext uri="{FF2B5EF4-FFF2-40B4-BE49-F238E27FC236}">
                <a16:creationId xmlns:a16="http://schemas.microsoft.com/office/drawing/2014/main" id="{75154F91-ABBC-2EFB-A94D-ED3891363438}"/>
              </a:ext>
            </a:extLst>
          </p:cNvPr>
          <p:cNvSpPr/>
          <p:nvPr/>
        </p:nvSpPr>
        <p:spPr>
          <a:xfrm rot="2506821">
            <a:off x="-1309097" y="-3529541"/>
            <a:ext cx="13859160" cy="13859160"/>
          </a:xfrm>
          <a:prstGeom prst="pie">
            <a:avLst/>
          </a:prstGeom>
          <a:solidFill>
            <a:schemeClr val="accent2">
              <a:lumMod val="60000"/>
              <a:lumOff val="40000"/>
            </a:schemeClr>
          </a:solidFill>
          <a:ln w="889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nvGrpSpPr>
          <p:cNvPr id="28" name="组合 34">
            <a:extLst>
              <a:ext uri="{FF2B5EF4-FFF2-40B4-BE49-F238E27FC236}">
                <a16:creationId xmlns:a16="http://schemas.microsoft.com/office/drawing/2014/main" id="{5EDABC0A-A7DA-EE72-175C-29496C9282E6}"/>
              </a:ext>
            </a:extLst>
          </p:cNvPr>
          <p:cNvGrpSpPr/>
          <p:nvPr/>
        </p:nvGrpSpPr>
        <p:grpSpPr>
          <a:xfrm>
            <a:off x="1166531" y="301839"/>
            <a:ext cx="5911602" cy="832274"/>
            <a:chOff x="2777" y="1669"/>
            <a:chExt cx="6469" cy="907"/>
          </a:xfrm>
        </p:grpSpPr>
        <p:pic>
          <p:nvPicPr>
            <p:cNvPr id="29" name="图片 25">
              <a:extLst>
                <a:ext uri="{FF2B5EF4-FFF2-40B4-BE49-F238E27FC236}">
                  <a16:creationId xmlns:a16="http://schemas.microsoft.com/office/drawing/2014/main" id="{F396BE75-ED4C-D7DF-FF42-929989B27CF8}"/>
                </a:ext>
              </a:extLst>
            </p:cNvPr>
            <p:cNvPicPr>
              <a:picLocks noChangeAspect="1"/>
            </p:cNvPicPr>
            <p:nvPr/>
          </p:nvPicPr>
          <p:blipFill>
            <a:blip r:embed="rId3">
              <a:alphaModFix/>
            </a:blip>
            <a:stretch>
              <a:fillRect/>
            </a:stretch>
          </p:blipFill>
          <p:spPr>
            <a:xfrm>
              <a:off x="2777" y="1669"/>
              <a:ext cx="6469" cy="907"/>
            </a:xfrm>
            <a:prstGeom prst="rect">
              <a:avLst/>
            </a:prstGeom>
          </p:spPr>
        </p:pic>
        <p:pic>
          <p:nvPicPr>
            <p:cNvPr id="30" name="图片 24">
              <a:extLst>
                <a:ext uri="{FF2B5EF4-FFF2-40B4-BE49-F238E27FC236}">
                  <a16:creationId xmlns:a16="http://schemas.microsoft.com/office/drawing/2014/main" id="{FAEBE9DC-834B-46F0-74CC-6F86F13DFFE0}"/>
                </a:ext>
              </a:extLst>
            </p:cNvPr>
            <p:cNvPicPr>
              <a:picLocks noChangeAspect="1"/>
            </p:cNvPicPr>
            <p:nvPr/>
          </p:nvPicPr>
          <p:blipFill>
            <a:blip r:embed="rId4">
              <a:alphaModFix/>
            </a:blip>
            <a:stretch>
              <a:fillRect/>
            </a:stretch>
          </p:blipFill>
          <p:spPr>
            <a:xfrm>
              <a:off x="2867" y="1752"/>
              <a:ext cx="6302" cy="710"/>
            </a:xfrm>
            <a:prstGeom prst="rect">
              <a:avLst/>
            </a:prstGeom>
          </p:spPr>
        </p:pic>
        <p:sp>
          <p:nvSpPr>
            <p:cNvPr id="31" name="文本框 28">
              <a:extLst>
                <a:ext uri="{FF2B5EF4-FFF2-40B4-BE49-F238E27FC236}">
                  <a16:creationId xmlns:a16="http://schemas.microsoft.com/office/drawing/2014/main" id="{9A0B2B9F-3989-B171-DB35-4C01B815D84D}"/>
                </a:ext>
              </a:extLst>
            </p:cNvPr>
            <p:cNvSpPr txBox="1"/>
            <p:nvPr/>
          </p:nvSpPr>
          <p:spPr>
            <a:xfrm>
              <a:off x="2954" y="1753"/>
              <a:ext cx="5841" cy="655"/>
            </a:xfrm>
            <a:prstGeom prst="rect">
              <a:avLst/>
            </a:prstGeom>
            <a:noFill/>
          </p:spPr>
          <p:txBody>
            <a:bodyPr wrap="square" rtlCol="0">
              <a:spAutoFit/>
            </a:bodyPr>
            <a:lstStyle/>
            <a:p>
              <a:pPr>
                <a:lnSpc>
                  <a:spcPct val="110000"/>
                </a:lnSpc>
              </a:pPr>
              <a:r>
                <a:rPr lang="zh-CN" altLang="en-US" sz="1600" dirty="0">
                  <a:latin typeface="宋体" panose="02010600030101010101" pitchFamily="2" charset="-122"/>
                  <a:ea typeface="宋体" panose="02010600030101010101" pitchFamily="2" charset="-122"/>
                </a:rPr>
                <a:t>很高兴你能接受我们的采访，请问你有做MBTI测试吗？如果有，能和我们分享一下你的MBTI吗？</a:t>
              </a:r>
            </a:p>
          </p:txBody>
        </p:sp>
      </p:grpSp>
      <p:grpSp>
        <p:nvGrpSpPr>
          <p:cNvPr id="48" name="组合 47">
            <a:extLst>
              <a:ext uri="{FF2B5EF4-FFF2-40B4-BE49-F238E27FC236}">
                <a16:creationId xmlns:a16="http://schemas.microsoft.com/office/drawing/2014/main" id="{3B05E558-969E-75C6-93B2-D214E864D3AF}"/>
              </a:ext>
            </a:extLst>
          </p:cNvPr>
          <p:cNvGrpSpPr/>
          <p:nvPr/>
        </p:nvGrpSpPr>
        <p:grpSpPr>
          <a:xfrm>
            <a:off x="125231" y="1459577"/>
            <a:ext cx="4966533" cy="1252419"/>
            <a:chOff x="4367107" y="1846580"/>
            <a:chExt cx="6522720" cy="946573"/>
          </a:xfrm>
        </p:grpSpPr>
        <p:pic>
          <p:nvPicPr>
            <p:cNvPr id="32" name="图片 30">
              <a:extLst>
                <a:ext uri="{FF2B5EF4-FFF2-40B4-BE49-F238E27FC236}">
                  <a16:creationId xmlns:a16="http://schemas.microsoft.com/office/drawing/2014/main" id="{5898E2B0-B9F9-7F4F-A64F-6E94DAC55264}"/>
                </a:ext>
              </a:extLst>
            </p:cNvPr>
            <p:cNvPicPr>
              <a:picLocks noChangeAspect="1"/>
            </p:cNvPicPr>
            <p:nvPr/>
          </p:nvPicPr>
          <p:blipFill>
            <a:blip r:embed="rId5">
              <a:alphaModFix/>
            </a:blip>
            <a:stretch>
              <a:fillRect/>
            </a:stretch>
          </p:blipFill>
          <p:spPr>
            <a:xfrm rot="10800000">
              <a:off x="4367107" y="1846580"/>
              <a:ext cx="6522720" cy="946573"/>
            </a:xfrm>
            <a:prstGeom prst="rect">
              <a:avLst/>
            </a:prstGeom>
          </p:spPr>
        </p:pic>
        <p:pic>
          <p:nvPicPr>
            <p:cNvPr id="33" name="图片 29">
              <a:extLst>
                <a:ext uri="{FF2B5EF4-FFF2-40B4-BE49-F238E27FC236}">
                  <a16:creationId xmlns:a16="http://schemas.microsoft.com/office/drawing/2014/main" id="{4A9C73B6-CAE2-53FB-B029-838FF04AAAA0}"/>
                </a:ext>
              </a:extLst>
            </p:cNvPr>
            <p:cNvPicPr>
              <a:picLocks noChangeAspect="1"/>
            </p:cNvPicPr>
            <p:nvPr/>
          </p:nvPicPr>
          <p:blipFill>
            <a:blip r:embed="rId4">
              <a:alphaModFix/>
            </a:blip>
            <a:stretch>
              <a:fillRect/>
            </a:stretch>
          </p:blipFill>
          <p:spPr>
            <a:xfrm>
              <a:off x="4461087" y="1927014"/>
              <a:ext cx="6325447" cy="747607"/>
            </a:xfrm>
            <a:prstGeom prst="rect">
              <a:avLst/>
            </a:prstGeom>
          </p:spPr>
        </p:pic>
        <p:sp>
          <p:nvSpPr>
            <p:cNvPr id="34" name="文本框 31">
              <a:extLst>
                <a:ext uri="{FF2B5EF4-FFF2-40B4-BE49-F238E27FC236}">
                  <a16:creationId xmlns:a16="http://schemas.microsoft.com/office/drawing/2014/main" id="{EEE76767-DAE7-CF33-8158-87B77149C77F}"/>
                </a:ext>
              </a:extLst>
            </p:cNvPr>
            <p:cNvSpPr txBox="1"/>
            <p:nvPr/>
          </p:nvSpPr>
          <p:spPr>
            <a:xfrm>
              <a:off x="4559300" y="1988821"/>
              <a:ext cx="6129020" cy="674151"/>
            </a:xfrm>
            <a:prstGeom prst="rect">
              <a:avLst/>
            </a:prstGeom>
            <a:noFill/>
          </p:spPr>
          <p:txBody>
            <a:bodyPr wrap="square" rtlCol="0">
              <a:spAutoFit/>
            </a:bodyPr>
            <a:lstStyle/>
            <a:p>
              <a:pPr>
                <a:lnSpc>
                  <a:spcPct val="110000"/>
                </a:lnSpc>
              </a:pPr>
              <a:r>
                <a:rPr lang="zh-CN" altLang="en-US" sz="1600" dirty="0">
                  <a:latin typeface="宋体" panose="02010600030101010101" pitchFamily="2" charset="-122"/>
                  <a:ea typeface="宋体" panose="02010600030101010101" pitchFamily="2" charset="-122"/>
                </a:rPr>
                <a:t>虽然我本人不是很感兴趣，但身边的人时不时</a:t>
              </a:r>
              <a:endParaRPr lang="en-US" altLang="zh-CN" sz="1600" dirty="0">
                <a:latin typeface="宋体" panose="02010600030101010101" pitchFamily="2" charset="-122"/>
                <a:ea typeface="宋体" panose="02010600030101010101" pitchFamily="2" charset="-122"/>
              </a:endParaRPr>
            </a:p>
            <a:p>
              <a:pPr>
                <a:lnSpc>
                  <a:spcPct val="110000"/>
                </a:lnSpc>
              </a:pPr>
              <a:r>
                <a:rPr lang="zh-CN" altLang="en-US" sz="1600" dirty="0">
                  <a:latin typeface="宋体" panose="02010600030101010101" pitchFamily="2" charset="-122"/>
                  <a:ea typeface="宋体" panose="02010600030101010101" pitchFamily="2" charset="-122"/>
                </a:rPr>
                <a:t>就会拉我测一下，有时是INTP，有时又是ISFJ，</a:t>
              </a:r>
              <a:r>
                <a:rPr lang="zh-CN" altLang="en-US" sz="1600" dirty="0">
                  <a:solidFill>
                    <a:srgbClr val="FF0000"/>
                  </a:solidFill>
                  <a:latin typeface="宋体" panose="02010600030101010101" pitchFamily="2" charset="-122"/>
                  <a:ea typeface="宋体" panose="02010600030101010101" pitchFamily="2" charset="-122"/>
                </a:rPr>
                <a:t>每</a:t>
              </a:r>
              <a:endParaRPr lang="en-US" altLang="zh-CN" sz="1600" dirty="0">
                <a:solidFill>
                  <a:srgbClr val="FF0000"/>
                </a:solidFill>
                <a:latin typeface="宋体" panose="02010600030101010101" pitchFamily="2" charset="-122"/>
                <a:ea typeface="宋体" panose="02010600030101010101" pitchFamily="2" charset="-122"/>
              </a:endParaRPr>
            </a:p>
            <a:p>
              <a:pPr>
                <a:lnSpc>
                  <a:spcPct val="110000"/>
                </a:lnSpc>
              </a:pPr>
              <a:r>
                <a:rPr lang="zh-CN" altLang="en-US" sz="1600" dirty="0">
                  <a:solidFill>
                    <a:srgbClr val="FF0000"/>
                  </a:solidFill>
                  <a:latin typeface="宋体" panose="02010600030101010101" pitchFamily="2" charset="-122"/>
                  <a:ea typeface="宋体" panose="02010600030101010101" pitchFamily="2" charset="-122"/>
                </a:rPr>
                <a:t>次测出来的结果都不太一样。</a:t>
              </a:r>
            </a:p>
          </p:txBody>
        </p:sp>
      </p:grpSp>
      <p:grpSp>
        <p:nvGrpSpPr>
          <p:cNvPr id="35" name="组合 38">
            <a:extLst>
              <a:ext uri="{FF2B5EF4-FFF2-40B4-BE49-F238E27FC236}">
                <a16:creationId xmlns:a16="http://schemas.microsoft.com/office/drawing/2014/main" id="{F64C9F9B-04E8-14D2-D094-F2EDC4A8D0C9}"/>
              </a:ext>
            </a:extLst>
          </p:cNvPr>
          <p:cNvGrpSpPr/>
          <p:nvPr/>
        </p:nvGrpSpPr>
        <p:grpSpPr>
          <a:xfrm>
            <a:off x="1034508" y="3163781"/>
            <a:ext cx="4348604" cy="765309"/>
            <a:chOff x="2711" y="2036"/>
            <a:chExt cx="4196" cy="907"/>
          </a:xfrm>
        </p:grpSpPr>
        <p:pic>
          <p:nvPicPr>
            <p:cNvPr id="36" name="图片 39">
              <a:extLst>
                <a:ext uri="{FF2B5EF4-FFF2-40B4-BE49-F238E27FC236}">
                  <a16:creationId xmlns:a16="http://schemas.microsoft.com/office/drawing/2014/main" id="{A2C6A418-2DF7-C952-06CC-78B1232D2A09}"/>
                </a:ext>
              </a:extLst>
            </p:cNvPr>
            <p:cNvPicPr>
              <a:picLocks noChangeAspect="1"/>
            </p:cNvPicPr>
            <p:nvPr/>
          </p:nvPicPr>
          <p:blipFill>
            <a:blip r:embed="rId3">
              <a:alphaModFix/>
            </a:blip>
            <a:stretch>
              <a:fillRect/>
            </a:stretch>
          </p:blipFill>
          <p:spPr>
            <a:xfrm>
              <a:off x="2711" y="2036"/>
              <a:ext cx="4196" cy="907"/>
            </a:xfrm>
            <a:prstGeom prst="rect">
              <a:avLst/>
            </a:prstGeom>
          </p:spPr>
        </p:pic>
        <p:pic>
          <p:nvPicPr>
            <p:cNvPr id="37" name="图片 40">
              <a:extLst>
                <a:ext uri="{FF2B5EF4-FFF2-40B4-BE49-F238E27FC236}">
                  <a16:creationId xmlns:a16="http://schemas.microsoft.com/office/drawing/2014/main" id="{D2ED2C66-FC18-85F8-69BC-74BA5177A5B5}"/>
                </a:ext>
              </a:extLst>
            </p:cNvPr>
            <p:cNvPicPr>
              <a:picLocks noChangeAspect="1"/>
            </p:cNvPicPr>
            <p:nvPr/>
          </p:nvPicPr>
          <p:blipFill>
            <a:blip r:embed="rId4">
              <a:alphaModFix/>
            </a:blip>
            <a:stretch>
              <a:fillRect/>
            </a:stretch>
          </p:blipFill>
          <p:spPr>
            <a:xfrm>
              <a:off x="2801" y="2119"/>
              <a:ext cx="4088" cy="710"/>
            </a:xfrm>
            <a:prstGeom prst="rect">
              <a:avLst/>
            </a:prstGeom>
          </p:spPr>
        </p:pic>
        <p:sp>
          <p:nvSpPr>
            <p:cNvPr id="38" name="文本框 41">
              <a:extLst>
                <a:ext uri="{FF2B5EF4-FFF2-40B4-BE49-F238E27FC236}">
                  <a16:creationId xmlns:a16="http://schemas.microsoft.com/office/drawing/2014/main" id="{399ADD0F-649B-4F92-7202-C94991EBEFC7}"/>
                </a:ext>
              </a:extLst>
            </p:cNvPr>
            <p:cNvSpPr txBox="1"/>
            <p:nvPr/>
          </p:nvSpPr>
          <p:spPr>
            <a:xfrm>
              <a:off x="2888" y="2233"/>
              <a:ext cx="3789" cy="401"/>
            </a:xfrm>
            <a:prstGeom prst="rect">
              <a:avLst/>
            </a:prstGeom>
            <a:noFill/>
          </p:spPr>
          <p:txBody>
            <a:bodyPr wrap="square" rtlCol="0">
              <a:spAutoFit/>
            </a:bodyPr>
            <a:lstStyle/>
            <a:p>
              <a:r>
                <a:rPr lang="zh-CN" altLang="en-US" sz="1600" dirty="0">
                  <a:latin typeface="宋体" panose="02010600030101010101" pitchFamily="2" charset="-122"/>
                  <a:ea typeface="宋体" panose="02010600030101010101" pitchFamily="2" charset="-122"/>
                  <a:sym typeface="+mn-ea"/>
                </a:rPr>
                <a:t>你认为为什么会出现这种结果呢？</a:t>
              </a:r>
            </a:p>
          </p:txBody>
        </p:sp>
      </p:grpSp>
      <p:pic>
        <p:nvPicPr>
          <p:cNvPr id="40" name="图片 46">
            <a:extLst>
              <a:ext uri="{FF2B5EF4-FFF2-40B4-BE49-F238E27FC236}">
                <a16:creationId xmlns:a16="http://schemas.microsoft.com/office/drawing/2014/main" id="{A62A7831-701D-977C-82EE-115AB12F7F05}"/>
              </a:ext>
            </a:extLst>
          </p:cNvPr>
          <p:cNvPicPr>
            <a:picLocks noChangeAspect="1"/>
          </p:cNvPicPr>
          <p:nvPr/>
        </p:nvPicPr>
        <p:blipFill>
          <a:blip r:embed="rId6"/>
          <a:stretch>
            <a:fillRect/>
          </a:stretch>
        </p:blipFill>
        <p:spPr>
          <a:xfrm>
            <a:off x="243639" y="221825"/>
            <a:ext cx="817880" cy="1090507"/>
          </a:xfrm>
          <a:prstGeom prst="rect">
            <a:avLst/>
          </a:prstGeom>
        </p:spPr>
      </p:pic>
      <p:grpSp>
        <p:nvGrpSpPr>
          <p:cNvPr id="49" name="组合 48">
            <a:extLst>
              <a:ext uri="{FF2B5EF4-FFF2-40B4-BE49-F238E27FC236}">
                <a16:creationId xmlns:a16="http://schemas.microsoft.com/office/drawing/2014/main" id="{E9CC200A-B8C6-5B96-7D63-5F72801661FB}"/>
              </a:ext>
            </a:extLst>
          </p:cNvPr>
          <p:cNvGrpSpPr/>
          <p:nvPr/>
        </p:nvGrpSpPr>
        <p:grpSpPr>
          <a:xfrm>
            <a:off x="-255181" y="4516532"/>
            <a:ext cx="7705060" cy="2459749"/>
            <a:chOff x="694267" y="3798992"/>
            <a:chExt cx="11380886" cy="1849967"/>
          </a:xfrm>
        </p:grpSpPr>
        <p:pic>
          <p:nvPicPr>
            <p:cNvPr id="39" name="图片 50">
              <a:extLst>
                <a:ext uri="{FF2B5EF4-FFF2-40B4-BE49-F238E27FC236}">
                  <a16:creationId xmlns:a16="http://schemas.microsoft.com/office/drawing/2014/main" id="{898A80AF-4233-0BAE-04FD-A678B9B97456}"/>
                </a:ext>
              </a:extLst>
            </p:cNvPr>
            <p:cNvPicPr>
              <a:picLocks noChangeAspect="1"/>
            </p:cNvPicPr>
            <p:nvPr/>
          </p:nvPicPr>
          <p:blipFill>
            <a:blip r:embed="rId5">
              <a:alphaModFix/>
            </a:blip>
            <a:stretch>
              <a:fillRect/>
            </a:stretch>
          </p:blipFill>
          <p:spPr>
            <a:xfrm rot="10800000">
              <a:off x="694267" y="3798992"/>
              <a:ext cx="10992367" cy="1849967"/>
            </a:xfrm>
            <a:prstGeom prst="rect">
              <a:avLst/>
            </a:prstGeom>
          </p:spPr>
        </p:pic>
        <p:pic>
          <p:nvPicPr>
            <p:cNvPr id="41" name="图片 51">
              <a:extLst>
                <a:ext uri="{FF2B5EF4-FFF2-40B4-BE49-F238E27FC236}">
                  <a16:creationId xmlns:a16="http://schemas.microsoft.com/office/drawing/2014/main" id="{157067F2-B2FB-F229-CAE7-8D3CE4DC4895}"/>
                </a:ext>
              </a:extLst>
            </p:cNvPr>
            <p:cNvPicPr>
              <a:picLocks noChangeAspect="1"/>
            </p:cNvPicPr>
            <p:nvPr/>
          </p:nvPicPr>
          <p:blipFill>
            <a:blip r:embed="rId4">
              <a:alphaModFix/>
            </a:blip>
            <a:stretch>
              <a:fillRect/>
            </a:stretch>
          </p:blipFill>
          <p:spPr>
            <a:xfrm>
              <a:off x="826348" y="3903981"/>
              <a:ext cx="10738233" cy="1641687"/>
            </a:xfrm>
            <a:prstGeom prst="rect">
              <a:avLst/>
            </a:prstGeom>
          </p:spPr>
        </p:pic>
        <p:sp>
          <p:nvSpPr>
            <p:cNvPr id="42" name="文本框 33">
              <a:extLst>
                <a:ext uri="{FF2B5EF4-FFF2-40B4-BE49-F238E27FC236}">
                  <a16:creationId xmlns:a16="http://schemas.microsoft.com/office/drawing/2014/main" id="{04F3FF87-2B69-278E-DE78-8C8FC2BEFD3E}"/>
                </a:ext>
              </a:extLst>
            </p:cNvPr>
            <p:cNvSpPr txBox="1"/>
            <p:nvPr/>
          </p:nvSpPr>
          <p:spPr>
            <a:xfrm>
              <a:off x="694267" y="3909907"/>
              <a:ext cx="11380886" cy="1516380"/>
            </a:xfrm>
            <a:prstGeom prst="rect">
              <a:avLst/>
            </a:prstGeom>
            <a:noFill/>
          </p:spPr>
          <p:txBody>
            <a:bodyPr wrap="square" rtlCol="0">
              <a:noAutofit/>
            </a:bodyPr>
            <a:lstStyle/>
            <a:p>
              <a:pPr>
                <a:lnSpc>
                  <a:spcPct val="120000"/>
                </a:lnSpc>
              </a:pPr>
              <a:r>
                <a:rPr lang="zh-CN" altLang="en-US" sz="1600" b="1" dirty="0">
                  <a:latin typeface="宋体" panose="02010600030101010101" pitchFamily="2" charset="-122"/>
                  <a:ea typeface="宋体" panose="02010600030101010101" pitchFamily="2" charset="-122"/>
                  <a:cs typeface="宋体" panose="02010600030101010101" pitchFamily="2" charset="-122"/>
                </a:rPr>
                <a:t>  首先</a:t>
              </a:r>
              <a:r>
                <a:rPr lang="zh-CN" altLang="en-US" sz="1600" dirty="0">
                  <a:latin typeface="宋体" panose="02010600030101010101" pitchFamily="2" charset="-122"/>
                  <a:ea typeface="宋体" panose="02010600030101010101" pitchFamily="2" charset="-122"/>
                  <a:cs typeface="宋体" panose="02010600030101010101" pitchFamily="2" charset="-122"/>
                </a:rPr>
                <a:t>，</a:t>
              </a:r>
              <a:r>
                <a:rPr lang="zh-CN" altLang="en-US" sz="1600" dirty="0">
                  <a:solidFill>
                    <a:srgbClr val="FF0000"/>
                  </a:solidFill>
                  <a:latin typeface="宋体" panose="02010600030101010101" pitchFamily="2" charset="-122"/>
                  <a:ea typeface="宋体" panose="02010600030101010101" pitchFamily="2" charset="-122"/>
                  <a:cs typeface="宋体" panose="02010600030101010101" pitchFamily="2" charset="-122"/>
                </a:rPr>
                <a:t>人总是会变的</a:t>
              </a:r>
              <a:r>
                <a:rPr lang="zh-CN" altLang="en-US" sz="1600" dirty="0">
                  <a:latin typeface="宋体" panose="02010600030101010101" pitchFamily="2" charset="-122"/>
                  <a:ea typeface="宋体" panose="02010600030101010101" pitchFamily="2" charset="-122"/>
                  <a:cs typeface="宋体" panose="02010600030101010101" pitchFamily="2" charset="-122"/>
                </a:rPr>
                <a:t>，在不同时间基于不同的境遇与心境，面对同一问题也会有不同选择，即使是一时心情的好坏也会影响人的判断，进而导向不同的结果。</a:t>
              </a:r>
              <a:endParaRPr lang="en-US" altLang="zh-CN" sz="1600" dirty="0">
                <a:latin typeface="宋体" panose="02010600030101010101" pitchFamily="2" charset="-122"/>
                <a:ea typeface="宋体" panose="02010600030101010101" pitchFamily="2" charset="-122"/>
                <a:cs typeface="宋体" panose="02010600030101010101" pitchFamily="2" charset="-122"/>
              </a:endParaRPr>
            </a:p>
            <a:p>
              <a:pPr>
                <a:lnSpc>
                  <a:spcPct val="120000"/>
                </a:lnSpc>
              </a:pPr>
              <a:r>
                <a:rPr lang="en-US" altLang="zh-CN" sz="1600" b="1" dirty="0">
                  <a:latin typeface="宋体" panose="02010600030101010101" pitchFamily="2" charset="-122"/>
                  <a:ea typeface="宋体" panose="02010600030101010101" pitchFamily="2" charset="-122"/>
                  <a:cs typeface="宋体" panose="02010600030101010101" pitchFamily="2" charset="-122"/>
                </a:rPr>
                <a:t>  </a:t>
              </a:r>
              <a:r>
                <a:rPr lang="zh-CN" altLang="en-US" sz="1600" b="1" dirty="0">
                  <a:latin typeface="宋体" panose="02010600030101010101" pitchFamily="2" charset="-122"/>
                  <a:ea typeface="宋体" panose="02010600030101010101" pitchFamily="2" charset="-122"/>
                  <a:cs typeface="宋体" panose="02010600030101010101" pitchFamily="2" charset="-122"/>
                </a:rPr>
                <a:t>其次</a:t>
              </a:r>
              <a:r>
                <a:rPr lang="zh-CN" altLang="en-US" sz="1600" dirty="0">
                  <a:latin typeface="宋体" panose="02010600030101010101" pitchFamily="2" charset="-122"/>
                  <a:ea typeface="宋体" panose="02010600030101010101" pitchFamily="2" charset="-122"/>
                  <a:cs typeface="宋体" panose="02010600030101010101" pitchFamily="2" charset="-122"/>
                </a:rPr>
                <a:t>，从51%的N到51%的S其实</a:t>
              </a:r>
              <a:r>
                <a:rPr lang="zh-CN" altLang="en-US" sz="1600" dirty="0">
                  <a:solidFill>
                    <a:srgbClr val="FF0000"/>
                  </a:solidFill>
                  <a:latin typeface="宋体" panose="02010600030101010101" pitchFamily="2" charset="-122"/>
                  <a:ea typeface="宋体" panose="02010600030101010101" pitchFamily="2" charset="-122"/>
                  <a:cs typeface="宋体" panose="02010600030101010101" pitchFamily="2" charset="-122"/>
                </a:rPr>
                <a:t>变化不大</a:t>
              </a:r>
              <a:r>
                <a:rPr lang="zh-CN" altLang="en-US" sz="1600" dirty="0">
                  <a:latin typeface="宋体" panose="02010600030101010101" pitchFamily="2" charset="-122"/>
                  <a:ea typeface="宋体" panose="02010600030101010101" pitchFamily="2" charset="-122"/>
                  <a:cs typeface="宋体" panose="02010600030101010101" pitchFamily="2" charset="-122"/>
                </a:rPr>
                <a:t>，但也会呈现出</a:t>
              </a:r>
              <a:r>
                <a:rPr lang="zh-CN" altLang="en-US" sz="1600" dirty="0">
                  <a:solidFill>
                    <a:srgbClr val="FF0000"/>
                  </a:solidFill>
                  <a:latin typeface="宋体" panose="02010600030101010101" pitchFamily="2" charset="-122"/>
                  <a:ea typeface="宋体" panose="02010600030101010101" pitchFamily="2" charset="-122"/>
                  <a:cs typeface="宋体" panose="02010600030101010101" pitchFamily="2" charset="-122"/>
                </a:rPr>
                <a:t>截然不同</a:t>
              </a:r>
              <a:r>
                <a:rPr lang="zh-CN" altLang="en-US" sz="1600" dirty="0">
                  <a:latin typeface="宋体" panose="02010600030101010101" pitchFamily="2" charset="-122"/>
                  <a:ea typeface="宋体" panose="02010600030101010101" pitchFamily="2" charset="-122"/>
                  <a:cs typeface="宋体" panose="02010600030101010101" pitchFamily="2" charset="-122"/>
                </a:rPr>
                <a:t>的结果。</a:t>
              </a:r>
              <a:endParaRPr lang="en-US" altLang="zh-CN" sz="1600" dirty="0">
                <a:latin typeface="宋体" panose="02010600030101010101" pitchFamily="2" charset="-122"/>
                <a:ea typeface="宋体" panose="02010600030101010101" pitchFamily="2" charset="-122"/>
                <a:cs typeface="宋体" panose="02010600030101010101" pitchFamily="2" charset="-122"/>
              </a:endParaRPr>
            </a:p>
            <a:p>
              <a:pPr>
                <a:lnSpc>
                  <a:spcPct val="120000"/>
                </a:lnSpc>
              </a:pPr>
              <a:r>
                <a:rPr lang="en-US" altLang="zh-CN" sz="1600" b="1" dirty="0">
                  <a:latin typeface="宋体" panose="02010600030101010101" pitchFamily="2" charset="-122"/>
                  <a:ea typeface="宋体" panose="02010600030101010101" pitchFamily="2" charset="-122"/>
                  <a:cs typeface="宋体" panose="02010600030101010101" pitchFamily="2" charset="-122"/>
                </a:rPr>
                <a:t>  </a:t>
              </a:r>
              <a:r>
                <a:rPr lang="zh-CN" altLang="en-US" sz="1600" b="1" dirty="0">
                  <a:latin typeface="宋体" panose="02010600030101010101" pitchFamily="2" charset="-122"/>
                  <a:ea typeface="宋体" panose="02010600030101010101" pitchFamily="2" charset="-122"/>
                  <a:cs typeface="宋体" panose="02010600030101010101" pitchFamily="2" charset="-122"/>
                </a:rPr>
                <a:t>最后</a:t>
              </a:r>
              <a:r>
                <a:rPr lang="zh-CN" altLang="en-US" sz="1600" dirty="0">
                  <a:latin typeface="宋体" panose="02010600030101010101" pitchFamily="2" charset="-122"/>
                  <a:ea typeface="宋体" panose="02010600030101010101" pitchFamily="2" charset="-122"/>
                  <a:cs typeface="宋体" panose="02010600030101010101" pitchFamily="2" charset="-122"/>
                </a:rPr>
                <a:t>，有很多测试题出的不是很好，有的</a:t>
              </a:r>
              <a:r>
                <a:rPr lang="zh-CN" altLang="en-US" sz="1600" dirty="0">
                  <a:solidFill>
                    <a:srgbClr val="FF0000"/>
                  </a:solidFill>
                  <a:latin typeface="宋体" panose="02010600030101010101" pitchFamily="2" charset="-122"/>
                  <a:ea typeface="宋体" panose="02010600030101010101" pitchFamily="2" charset="-122"/>
                  <a:cs typeface="宋体" panose="02010600030101010101" pitchFamily="2" charset="-122"/>
                </a:rPr>
                <a:t>指向性过于明显</a:t>
              </a:r>
              <a:r>
                <a:rPr lang="zh-CN" altLang="en-US" sz="1600" dirty="0">
                  <a:latin typeface="宋体" panose="02010600030101010101" pitchFamily="2" charset="-122"/>
                  <a:ea typeface="宋体" panose="02010600030101010101" pitchFamily="2" charset="-122"/>
                  <a:cs typeface="宋体" panose="02010600030101010101" pitchFamily="2" charset="-122"/>
                </a:rPr>
                <a:t>，会让人倾向于选择自己主观认为更好的一项，而不是更贴合自己的一项；还有的</a:t>
              </a:r>
              <a:r>
                <a:rPr lang="zh-CN" altLang="en-US" sz="1600" dirty="0">
                  <a:solidFill>
                    <a:srgbClr val="FF0000"/>
                  </a:solidFill>
                  <a:latin typeface="宋体" panose="02010600030101010101" pitchFamily="2" charset="-122"/>
                  <a:ea typeface="宋体" panose="02010600030101010101" pitchFamily="2" charset="-122"/>
                  <a:cs typeface="宋体" panose="02010600030101010101" pitchFamily="2" charset="-122"/>
                </a:rPr>
                <a:t>设问过于宽泛</a:t>
              </a:r>
              <a:r>
                <a:rPr lang="zh-CN" altLang="en-US" sz="1600" dirty="0">
                  <a:latin typeface="宋体" panose="02010600030101010101" pitchFamily="2" charset="-122"/>
                  <a:ea typeface="宋体" panose="02010600030101010101" pitchFamily="2" charset="-122"/>
                  <a:cs typeface="宋体" panose="02010600030101010101" pitchFamily="2" charset="-122"/>
                </a:rPr>
                <a:t>缺乏具体情境，而人的选择往往是基于情境的，所设想的情景不一样所做出的选择也会不一样。</a:t>
              </a:r>
            </a:p>
          </p:txBody>
        </p:sp>
      </p:grpSp>
      <p:pic>
        <p:nvPicPr>
          <p:cNvPr id="43" name="图片 52">
            <a:extLst>
              <a:ext uri="{FF2B5EF4-FFF2-40B4-BE49-F238E27FC236}">
                <a16:creationId xmlns:a16="http://schemas.microsoft.com/office/drawing/2014/main" id="{E8A3E382-6F0A-3906-850D-7EF50D20CE08}"/>
              </a:ext>
            </a:extLst>
          </p:cNvPr>
          <p:cNvPicPr>
            <a:picLocks noChangeAspect="1"/>
          </p:cNvPicPr>
          <p:nvPr/>
        </p:nvPicPr>
        <p:blipFill>
          <a:blip r:embed="rId6"/>
          <a:stretch>
            <a:fillRect/>
          </a:stretch>
        </p:blipFill>
        <p:spPr>
          <a:xfrm>
            <a:off x="144645" y="3090204"/>
            <a:ext cx="817880" cy="1090507"/>
          </a:xfrm>
          <a:prstGeom prst="rect">
            <a:avLst/>
          </a:prstGeom>
        </p:spPr>
      </p:pic>
      <p:pic>
        <p:nvPicPr>
          <p:cNvPr id="44" name="图片 3">
            <a:extLst>
              <a:ext uri="{FF2B5EF4-FFF2-40B4-BE49-F238E27FC236}">
                <a16:creationId xmlns:a16="http://schemas.microsoft.com/office/drawing/2014/main" id="{6476CCB7-E6C5-A37B-879C-B36AC8263497}"/>
              </a:ext>
            </a:extLst>
          </p:cNvPr>
          <p:cNvPicPr>
            <a:picLocks noChangeAspect="1"/>
          </p:cNvPicPr>
          <p:nvPr/>
        </p:nvPicPr>
        <p:blipFill>
          <a:blip r:embed="rId7"/>
          <a:stretch>
            <a:fillRect/>
          </a:stretch>
        </p:blipFill>
        <p:spPr>
          <a:xfrm flipH="1">
            <a:off x="5557520" y="1396100"/>
            <a:ext cx="796713" cy="1062567"/>
          </a:xfrm>
          <a:prstGeom prst="rect">
            <a:avLst/>
          </a:prstGeom>
        </p:spPr>
      </p:pic>
      <p:pic>
        <p:nvPicPr>
          <p:cNvPr id="45" name="图片 4">
            <a:extLst>
              <a:ext uri="{FF2B5EF4-FFF2-40B4-BE49-F238E27FC236}">
                <a16:creationId xmlns:a16="http://schemas.microsoft.com/office/drawing/2014/main" id="{2A9A0801-CFF5-B08A-55CE-3EC4A3F444E3}"/>
              </a:ext>
            </a:extLst>
          </p:cNvPr>
          <p:cNvPicPr>
            <a:picLocks noChangeAspect="1"/>
          </p:cNvPicPr>
          <p:nvPr/>
        </p:nvPicPr>
        <p:blipFill>
          <a:blip r:embed="rId7"/>
          <a:stretch>
            <a:fillRect/>
          </a:stretch>
        </p:blipFill>
        <p:spPr>
          <a:xfrm flipH="1">
            <a:off x="7154720" y="5520615"/>
            <a:ext cx="778087" cy="1038860"/>
          </a:xfrm>
          <a:prstGeom prst="rect">
            <a:avLst/>
          </a:prstGeom>
        </p:spPr>
      </p:pic>
    </p:spTree>
    <p:extLst>
      <p:ext uri="{BB962C8B-B14F-4D97-AF65-F5344CB8AC3E}">
        <p14:creationId xmlns:p14="http://schemas.microsoft.com/office/powerpoint/2010/main" val="300346204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animEffect transition="in" filter="wipe(left)">
                                      <p:cBhvr>
                                        <p:cTn id="7" dur="500"/>
                                        <p:tgtEl>
                                          <p:spTgt spid="28"/>
                                        </p:tgtEl>
                                      </p:cBhvr>
                                    </p:animEffect>
                                  </p:childTnLst>
                                </p:cTn>
                              </p:par>
                              <p:par>
                                <p:cTn id="8" presetID="22" presetClass="entr" presetSubtype="8" fill="hold" nodeType="withEffect">
                                  <p:stCondLst>
                                    <p:cond delay="0"/>
                                  </p:stCondLst>
                                  <p:childTnLst>
                                    <p:set>
                                      <p:cBhvr>
                                        <p:cTn id="9" dur="1" fill="hold">
                                          <p:stCondLst>
                                            <p:cond delay="0"/>
                                          </p:stCondLst>
                                        </p:cTn>
                                        <p:tgtEl>
                                          <p:spTgt spid="40"/>
                                        </p:tgtEl>
                                        <p:attrNameLst>
                                          <p:attrName>style.visibility</p:attrName>
                                        </p:attrNameLst>
                                      </p:cBhvr>
                                      <p:to>
                                        <p:strVal val="visible"/>
                                      </p:to>
                                    </p:set>
                                    <p:animEffect transition="in" filter="wipe(left)">
                                      <p:cBhvr>
                                        <p:cTn id="10" dur="500"/>
                                        <p:tgtEl>
                                          <p:spTgt spid="40"/>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wipe(right)">
                                      <p:cBhvr>
                                        <p:cTn id="15" dur="500"/>
                                        <p:tgtEl>
                                          <p:spTgt spid="48"/>
                                        </p:tgtEl>
                                      </p:cBhvr>
                                    </p:animEffect>
                                  </p:childTnLst>
                                </p:cTn>
                              </p:par>
                              <p:par>
                                <p:cTn id="16" presetID="22" presetClass="entr" presetSubtype="2" fill="hold" nodeType="with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wipe(right)">
                                      <p:cBhvr>
                                        <p:cTn id="18" dur="500"/>
                                        <p:tgtEl>
                                          <p:spTgt spid="44"/>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5"/>
                                        </p:tgtEl>
                                        <p:attrNameLst>
                                          <p:attrName>style.visibility</p:attrName>
                                        </p:attrNameLst>
                                      </p:cBhvr>
                                      <p:to>
                                        <p:strVal val="visible"/>
                                      </p:to>
                                    </p:set>
                                    <p:animEffect transition="in" filter="wipe(left)">
                                      <p:cBhvr>
                                        <p:cTn id="23" dur="500"/>
                                        <p:tgtEl>
                                          <p:spTgt spid="35"/>
                                        </p:tgtEl>
                                      </p:cBhvr>
                                    </p:animEffect>
                                  </p:childTnLst>
                                </p:cTn>
                              </p:par>
                              <p:par>
                                <p:cTn id="24" presetID="22" presetClass="entr" presetSubtype="8" fill="hold" nodeType="withEffect">
                                  <p:stCondLst>
                                    <p:cond delay="0"/>
                                  </p:stCondLst>
                                  <p:childTnLst>
                                    <p:set>
                                      <p:cBhvr>
                                        <p:cTn id="25" dur="1" fill="hold">
                                          <p:stCondLst>
                                            <p:cond delay="0"/>
                                          </p:stCondLst>
                                        </p:cTn>
                                        <p:tgtEl>
                                          <p:spTgt spid="43"/>
                                        </p:tgtEl>
                                        <p:attrNameLst>
                                          <p:attrName>style.visibility</p:attrName>
                                        </p:attrNameLst>
                                      </p:cBhvr>
                                      <p:to>
                                        <p:strVal val="visible"/>
                                      </p:to>
                                    </p:set>
                                    <p:animEffect transition="in" filter="wipe(left)">
                                      <p:cBhvr>
                                        <p:cTn id="26" dur="500"/>
                                        <p:tgtEl>
                                          <p:spTgt spid="43"/>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49"/>
                                        </p:tgtEl>
                                        <p:attrNameLst>
                                          <p:attrName>style.visibility</p:attrName>
                                        </p:attrNameLst>
                                      </p:cBhvr>
                                      <p:to>
                                        <p:strVal val="visible"/>
                                      </p:to>
                                    </p:set>
                                    <p:animEffect transition="in" filter="wipe(right)">
                                      <p:cBhvr>
                                        <p:cTn id="31" dur="500"/>
                                        <p:tgtEl>
                                          <p:spTgt spid="49"/>
                                        </p:tgtEl>
                                      </p:cBhvr>
                                    </p:animEffect>
                                  </p:childTnLst>
                                </p:cTn>
                              </p:par>
                              <p:par>
                                <p:cTn id="32" presetID="22" presetClass="entr" presetSubtype="2" fill="hold" nodeType="withEffect">
                                  <p:stCondLst>
                                    <p:cond delay="0"/>
                                  </p:stCondLst>
                                  <p:childTnLst>
                                    <p:set>
                                      <p:cBhvr>
                                        <p:cTn id="33" dur="1" fill="hold">
                                          <p:stCondLst>
                                            <p:cond delay="0"/>
                                          </p:stCondLst>
                                        </p:cTn>
                                        <p:tgtEl>
                                          <p:spTgt spid="45"/>
                                        </p:tgtEl>
                                        <p:attrNameLst>
                                          <p:attrName>style.visibility</p:attrName>
                                        </p:attrNameLst>
                                      </p:cBhvr>
                                      <p:to>
                                        <p:strVal val="visible"/>
                                      </p:to>
                                    </p:set>
                                    <p:animEffect transition="in" filter="wipe(right)">
                                      <p:cBhvr>
                                        <p:cTn id="34"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0C3B6C-7482-7136-661B-61D40EFDFBB7}"/>
            </a:ext>
          </a:extLst>
        </p:cNvPr>
        <p:cNvGrpSpPr/>
        <p:nvPr/>
      </p:nvGrpSpPr>
      <p:grpSpPr>
        <a:xfrm>
          <a:off x="0" y="0"/>
          <a:ext cx="0" cy="0"/>
          <a:chOff x="0" y="0"/>
          <a:chExt cx="0" cy="0"/>
        </a:xfrm>
      </p:grpSpPr>
      <p:pic>
        <p:nvPicPr>
          <p:cNvPr id="13" name="图片 12">
            <a:extLst>
              <a:ext uri="{FF2B5EF4-FFF2-40B4-BE49-F238E27FC236}">
                <a16:creationId xmlns:a16="http://schemas.microsoft.com/office/drawing/2014/main" id="{2F7930DB-B653-FCB3-0526-BF33B84C3F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83112" y="-28961"/>
            <a:ext cx="9144000" cy="6858000"/>
          </a:xfrm>
          <a:prstGeom prst="rect">
            <a:avLst/>
          </a:prstGeom>
        </p:spPr>
      </p:pic>
      <p:sp>
        <p:nvSpPr>
          <p:cNvPr id="3" name="不完整圆 2">
            <a:extLst>
              <a:ext uri="{FF2B5EF4-FFF2-40B4-BE49-F238E27FC236}">
                <a16:creationId xmlns:a16="http://schemas.microsoft.com/office/drawing/2014/main" id="{F11AD4D5-4922-76B8-DE37-C2AB2DA8BF0A}"/>
              </a:ext>
            </a:extLst>
          </p:cNvPr>
          <p:cNvSpPr/>
          <p:nvPr/>
        </p:nvSpPr>
        <p:spPr>
          <a:xfrm rot="2506821">
            <a:off x="-1309097" y="-3529541"/>
            <a:ext cx="13859160" cy="13859160"/>
          </a:xfrm>
          <a:prstGeom prst="pie">
            <a:avLst/>
          </a:prstGeom>
          <a:solidFill>
            <a:schemeClr val="accent2">
              <a:lumMod val="60000"/>
              <a:lumOff val="40000"/>
            </a:schemeClr>
          </a:solidFill>
          <a:ln w="88900">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nvGrpSpPr>
          <p:cNvPr id="28" name="组合 34">
            <a:extLst>
              <a:ext uri="{FF2B5EF4-FFF2-40B4-BE49-F238E27FC236}">
                <a16:creationId xmlns:a16="http://schemas.microsoft.com/office/drawing/2014/main" id="{F6F29B45-EC0B-63B6-7EFD-5016243E3BD7}"/>
              </a:ext>
            </a:extLst>
          </p:cNvPr>
          <p:cNvGrpSpPr/>
          <p:nvPr/>
        </p:nvGrpSpPr>
        <p:grpSpPr>
          <a:xfrm>
            <a:off x="1166531" y="301839"/>
            <a:ext cx="5911602" cy="739561"/>
            <a:chOff x="2777" y="1669"/>
            <a:chExt cx="6469" cy="907"/>
          </a:xfrm>
        </p:grpSpPr>
        <p:pic>
          <p:nvPicPr>
            <p:cNvPr id="29" name="图片 25">
              <a:extLst>
                <a:ext uri="{FF2B5EF4-FFF2-40B4-BE49-F238E27FC236}">
                  <a16:creationId xmlns:a16="http://schemas.microsoft.com/office/drawing/2014/main" id="{4457D312-8A33-1729-BB54-68CE8CE5E8DF}"/>
                </a:ext>
              </a:extLst>
            </p:cNvPr>
            <p:cNvPicPr>
              <a:picLocks noChangeAspect="1"/>
            </p:cNvPicPr>
            <p:nvPr/>
          </p:nvPicPr>
          <p:blipFill>
            <a:blip r:embed="rId3">
              <a:alphaModFix/>
            </a:blip>
            <a:stretch>
              <a:fillRect/>
            </a:stretch>
          </p:blipFill>
          <p:spPr>
            <a:xfrm>
              <a:off x="2777" y="1669"/>
              <a:ext cx="6469" cy="907"/>
            </a:xfrm>
            <a:prstGeom prst="rect">
              <a:avLst/>
            </a:prstGeom>
          </p:spPr>
        </p:pic>
        <p:pic>
          <p:nvPicPr>
            <p:cNvPr id="30" name="图片 24">
              <a:extLst>
                <a:ext uri="{FF2B5EF4-FFF2-40B4-BE49-F238E27FC236}">
                  <a16:creationId xmlns:a16="http://schemas.microsoft.com/office/drawing/2014/main" id="{AEECDE70-EFDD-7A93-9E69-C283E2AE7DE5}"/>
                </a:ext>
              </a:extLst>
            </p:cNvPr>
            <p:cNvPicPr>
              <a:picLocks noChangeAspect="1"/>
            </p:cNvPicPr>
            <p:nvPr/>
          </p:nvPicPr>
          <p:blipFill>
            <a:blip r:embed="rId4">
              <a:alphaModFix/>
            </a:blip>
            <a:stretch>
              <a:fillRect/>
            </a:stretch>
          </p:blipFill>
          <p:spPr>
            <a:xfrm>
              <a:off x="2867" y="1752"/>
              <a:ext cx="6302" cy="710"/>
            </a:xfrm>
            <a:prstGeom prst="rect">
              <a:avLst/>
            </a:prstGeom>
          </p:spPr>
        </p:pic>
        <p:sp>
          <p:nvSpPr>
            <p:cNvPr id="31" name="文本框 28">
              <a:extLst>
                <a:ext uri="{FF2B5EF4-FFF2-40B4-BE49-F238E27FC236}">
                  <a16:creationId xmlns:a16="http://schemas.microsoft.com/office/drawing/2014/main" id="{8E3C068E-A90C-374E-4386-3C9A3EB15EAC}"/>
                </a:ext>
              </a:extLst>
            </p:cNvPr>
            <p:cNvSpPr txBox="1"/>
            <p:nvPr/>
          </p:nvSpPr>
          <p:spPr>
            <a:xfrm>
              <a:off x="2954" y="1753"/>
              <a:ext cx="5841" cy="405"/>
            </a:xfrm>
            <a:prstGeom prst="rect">
              <a:avLst/>
            </a:prstGeom>
            <a:noFill/>
          </p:spPr>
          <p:txBody>
            <a:bodyPr wrap="square" rtlCol="0">
              <a:spAutoFit/>
            </a:bodyPr>
            <a:lstStyle/>
            <a:p>
              <a:pPr>
                <a:lnSpc>
                  <a:spcPct val="110000"/>
                </a:lnSpc>
              </a:pPr>
              <a:r>
                <a:rPr lang="zh-CN" altLang="en-US" sz="1600" dirty="0">
                  <a:latin typeface="宋体" panose="02010600030101010101" pitchFamily="2" charset="-122"/>
                  <a:ea typeface="宋体" panose="02010600030101010101" pitchFamily="2" charset="-122"/>
                </a:rPr>
                <a:t>那是否可以认为你对MBTI持否定态度？</a:t>
              </a:r>
            </a:p>
          </p:txBody>
        </p:sp>
      </p:grpSp>
      <p:grpSp>
        <p:nvGrpSpPr>
          <p:cNvPr id="48" name="组合 47">
            <a:extLst>
              <a:ext uri="{FF2B5EF4-FFF2-40B4-BE49-F238E27FC236}">
                <a16:creationId xmlns:a16="http://schemas.microsoft.com/office/drawing/2014/main" id="{E054BC23-B35C-6CB3-C3AA-A88EFC880D3D}"/>
              </a:ext>
            </a:extLst>
          </p:cNvPr>
          <p:cNvGrpSpPr/>
          <p:nvPr/>
        </p:nvGrpSpPr>
        <p:grpSpPr>
          <a:xfrm>
            <a:off x="63795" y="1243708"/>
            <a:ext cx="5406521" cy="5618180"/>
            <a:chOff x="4367103" y="1846580"/>
            <a:chExt cx="6522720" cy="4370274"/>
          </a:xfrm>
        </p:grpSpPr>
        <p:pic>
          <p:nvPicPr>
            <p:cNvPr id="32" name="图片 30">
              <a:extLst>
                <a:ext uri="{FF2B5EF4-FFF2-40B4-BE49-F238E27FC236}">
                  <a16:creationId xmlns:a16="http://schemas.microsoft.com/office/drawing/2014/main" id="{3A37DEFD-4C54-08F9-CAD3-8045C8D9C395}"/>
                </a:ext>
              </a:extLst>
            </p:cNvPr>
            <p:cNvPicPr>
              <a:picLocks noChangeAspect="1"/>
            </p:cNvPicPr>
            <p:nvPr/>
          </p:nvPicPr>
          <p:blipFill>
            <a:blip r:embed="rId5">
              <a:alphaModFix/>
            </a:blip>
            <a:stretch>
              <a:fillRect/>
            </a:stretch>
          </p:blipFill>
          <p:spPr>
            <a:xfrm rot="10800000">
              <a:off x="4367103" y="1846580"/>
              <a:ext cx="6522720" cy="4253491"/>
            </a:xfrm>
            <a:prstGeom prst="rect">
              <a:avLst/>
            </a:prstGeom>
          </p:spPr>
        </p:pic>
        <p:pic>
          <p:nvPicPr>
            <p:cNvPr id="33" name="图片 29">
              <a:extLst>
                <a:ext uri="{FF2B5EF4-FFF2-40B4-BE49-F238E27FC236}">
                  <a16:creationId xmlns:a16="http://schemas.microsoft.com/office/drawing/2014/main" id="{E30F9CBB-A23E-837E-FF22-9ED9EA9AE3FA}"/>
                </a:ext>
              </a:extLst>
            </p:cNvPr>
            <p:cNvPicPr>
              <a:picLocks noChangeAspect="1"/>
            </p:cNvPicPr>
            <p:nvPr/>
          </p:nvPicPr>
          <p:blipFill>
            <a:blip r:embed="rId4">
              <a:alphaModFix/>
            </a:blip>
            <a:stretch>
              <a:fillRect/>
            </a:stretch>
          </p:blipFill>
          <p:spPr>
            <a:xfrm>
              <a:off x="4461088" y="1927014"/>
              <a:ext cx="6325448" cy="4173057"/>
            </a:xfrm>
            <a:prstGeom prst="rect">
              <a:avLst/>
            </a:prstGeom>
          </p:spPr>
        </p:pic>
        <p:sp>
          <p:nvSpPr>
            <p:cNvPr id="34" name="文本框 31">
              <a:extLst>
                <a:ext uri="{FF2B5EF4-FFF2-40B4-BE49-F238E27FC236}">
                  <a16:creationId xmlns:a16="http://schemas.microsoft.com/office/drawing/2014/main" id="{0E31F106-78A7-7DD2-952D-D6112D7DA5CC}"/>
                </a:ext>
              </a:extLst>
            </p:cNvPr>
            <p:cNvSpPr txBox="1"/>
            <p:nvPr/>
          </p:nvSpPr>
          <p:spPr>
            <a:xfrm>
              <a:off x="4657515" y="1927014"/>
              <a:ext cx="6129020" cy="4289840"/>
            </a:xfrm>
            <a:prstGeom prst="rect">
              <a:avLst/>
            </a:prstGeom>
            <a:noFill/>
          </p:spPr>
          <p:txBody>
            <a:bodyPr wrap="square" rtlCol="0">
              <a:spAutoFit/>
            </a:bodyPr>
            <a:lstStyle/>
            <a:p>
              <a:pPr>
                <a:lnSpc>
                  <a:spcPct val="110000"/>
                </a:lnSpc>
              </a:pPr>
              <a:r>
                <a:rPr lang="zh-CN" altLang="en-US" sz="1600" dirty="0">
                  <a:latin typeface="宋体" panose="02010600030101010101" pitchFamily="2" charset="-122"/>
                  <a:ea typeface="宋体" panose="02010600030101010101" pitchFamily="2" charset="-122"/>
                </a:rPr>
                <a:t>    也算不上否定。毕竟MBTI测试的确具有一定的科学性和准确性。</a:t>
              </a:r>
              <a:endParaRPr lang="en-US" altLang="zh-CN" sz="1600" dirty="0">
                <a:latin typeface="宋体" panose="02010600030101010101" pitchFamily="2" charset="-122"/>
                <a:ea typeface="宋体" panose="02010600030101010101" pitchFamily="2" charset="-122"/>
              </a:endParaRPr>
            </a:p>
            <a:p>
              <a:pPr>
                <a:lnSpc>
                  <a:spcPct val="110000"/>
                </a:lnSpc>
              </a:pPr>
              <a:r>
                <a:rPr lang="zh-CN" altLang="en-US" sz="1600" dirty="0">
                  <a:latin typeface="宋体" panose="02010600030101010101" pitchFamily="2" charset="-122"/>
                  <a:ea typeface="宋体" panose="02010600030101010101" pitchFamily="2" charset="-122"/>
                </a:rPr>
                <a:t>    我的每个测试结果也都能在</a:t>
              </a:r>
              <a:r>
                <a:rPr lang="zh-CN" altLang="en-US" sz="1600" dirty="0">
                  <a:solidFill>
                    <a:srgbClr val="FF0000"/>
                  </a:solidFill>
                  <a:latin typeface="宋体" panose="02010600030101010101" pitchFamily="2" charset="-122"/>
                  <a:ea typeface="宋体" panose="02010600030101010101" pitchFamily="2" charset="-122"/>
                </a:rPr>
                <a:t>一定程度上反映我当时的心境</a:t>
              </a:r>
              <a:r>
                <a:rPr lang="zh-CN" altLang="en-US" sz="1600" dirty="0">
                  <a:latin typeface="宋体" panose="02010600030101010101" pitchFamily="2" charset="-122"/>
                  <a:ea typeface="宋体" panose="02010600030101010101" pitchFamily="2" charset="-122"/>
                </a:rPr>
                <a:t>，我只是认为MBTI有些被过度神化了。与MBTI相似的心理测试还有很多，也各有优劣，</a:t>
              </a:r>
              <a:r>
                <a:rPr lang="zh-CN" altLang="en-US" sz="1600" dirty="0">
                  <a:solidFill>
                    <a:srgbClr val="FF0000"/>
                  </a:solidFill>
                  <a:latin typeface="宋体" panose="02010600030101010101" pitchFamily="2" charset="-122"/>
                  <a:ea typeface="宋体" panose="02010600030101010101" pitchFamily="2" charset="-122"/>
                </a:rPr>
                <a:t>但都不过是对人的笼统分类，精确到个人层面便只能起到参考作用</a:t>
              </a:r>
              <a:r>
                <a:rPr lang="zh-CN" altLang="en-US" sz="1600" dirty="0">
                  <a:latin typeface="宋体" panose="02010600030101010101" pitchFamily="2" charset="-122"/>
                  <a:ea typeface="宋体" panose="02010600030101010101" pitchFamily="2" charset="-122"/>
                </a:rPr>
                <a:t>。用作日常的消遣和社交的话题并无不妥，但单凭MBTI便对一个人的人格盖棺定论何尝不是另一种以貌取人。</a:t>
              </a:r>
              <a:endParaRPr lang="en-US" altLang="zh-CN" sz="1600" dirty="0">
                <a:latin typeface="宋体" panose="02010600030101010101" pitchFamily="2" charset="-122"/>
                <a:ea typeface="宋体" panose="02010600030101010101" pitchFamily="2" charset="-122"/>
              </a:endParaRPr>
            </a:p>
            <a:p>
              <a:pPr>
                <a:lnSpc>
                  <a:spcPct val="110000"/>
                </a:lnSpc>
              </a:pPr>
              <a:r>
                <a:rPr lang="en-US" altLang="zh-CN" sz="1600" dirty="0">
                  <a:latin typeface="宋体" panose="02010600030101010101" pitchFamily="2" charset="-122"/>
                  <a:ea typeface="宋体" panose="02010600030101010101" pitchFamily="2" charset="-122"/>
                </a:rPr>
                <a:t>   </a:t>
              </a:r>
              <a:r>
                <a:rPr lang="zh-CN" altLang="en-US" sz="1600" dirty="0">
                  <a:latin typeface="宋体" panose="02010600030101010101" pitchFamily="2" charset="-122"/>
                  <a:ea typeface="宋体" panose="02010600030101010101" pitchFamily="2" charset="-122"/>
                </a:rPr>
                <a:t>当然我们不可否认MBTI</a:t>
              </a:r>
              <a:r>
                <a:rPr lang="zh-CN" altLang="en-US" sz="1600" dirty="0">
                  <a:solidFill>
                    <a:srgbClr val="FF0000"/>
                  </a:solidFill>
                  <a:latin typeface="宋体" panose="02010600030101010101" pitchFamily="2" charset="-122"/>
                  <a:ea typeface="宋体" panose="02010600030101010101" pitchFamily="2" charset="-122"/>
                </a:rPr>
                <a:t>可以帮助我们获得一个初步的自我认识</a:t>
              </a:r>
              <a:r>
                <a:rPr lang="zh-CN" altLang="en-US" sz="1600" dirty="0">
                  <a:latin typeface="宋体" panose="02010600030101010101" pitchFamily="2" charset="-122"/>
                  <a:ea typeface="宋体" panose="02010600030101010101" pitchFamily="2" charset="-122"/>
                </a:rPr>
                <a:t>，尽管这种认识是笼统、片面、有时效性的MBTI在帮助踏入自我认识的大门的同时还为我们</a:t>
              </a:r>
              <a:r>
                <a:rPr lang="zh-CN" altLang="en-US" sz="1600" dirty="0">
                  <a:solidFill>
                    <a:srgbClr val="FF0000"/>
                  </a:solidFill>
                  <a:latin typeface="宋体" panose="02010600030101010101" pitchFamily="2" charset="-122"/>
                  <a:ea typeface="宋体" panose="02010600030101010101" pitchFamily="2" charset="-122"/>
                </a:rPr>
                <a:t>提供了进一步了解自我的方向</a:t>
              </a:r>
              <a:r>
                <a:rPr lang="zh-CN" altLang="en-US" sz="1600" dirty="0">
                  <a:latin typeface="宋体" panose="02010600030101010101" pitchFamily="2" charset="-122"/>
                  <a:ea typeface="宋体" panose="02010600030101010101" pitchFamily="2" charset="-122"/>
                </a:rPr>
                <a:t>：</a:t>
              </a:r>
              <a:endParaRPr lang="en-US" altLang="zh-CN" sz="1600" dirty="0">
                <a:latin typeface="宋体" panose="02010600030101010101" pitchFamily="2" charset="-122"/>
                <a:ea typeface="宋体" panose="02010600030101010101" pitchFamily="2" charset="-122"/>
              </a:endParaRPr>
            </a:p>
            <a:p>
              <a:pPr>
                <a:lnSpc>
                  <a:spcPct val="110000"/>
                </a:lnSpc>
              </a:pPr>
              <a:r>
                <a:rPr lang="en-US" altLang="zh-CN" sz="1600" dirty="0">
                  <a:latin typeface="宋体" panose="02010600030101010101" pitchFamily="2" charset="-122"/>
                  <a:ea typeface="宋体" panose="02010600030101010101" pitchFamily="2" charset="-122"/>
                </a:rPr>
                <a:t>·</a:t>
              </a:r>
              <a:r>
                <a:rPr lang="zh-CN" altLang="en-US" sz="1600" dirty="0">
                  <a:latin typeface="宋体" panose="02010600030101010101" pitchFamily="2" charset="-122"/>
                  <a:ea typeface="宋体" panose="02010600030101010101" pitchFamily="2" charset="-122"/>
                </a:rPr>
                <a:t>我与测试结果的共通语不同点在哪？</a:t>
              </a:r>
              <a:endParaRPr lang="en-US" altLang="zh-CN" sz="1600" dirty="0">
                <a:latin typeface="宋体" panose="02010600030101010101" pitchFamily="2" charset="-122"/>
                <a:ea typeface="宋体" panose="02010600030101010101" pitchFamily="2" charset="-122"/>
              </a:endParaRPr>
            </a:p>
            <a:p>
              <a:pPr>
                <a:lnSpc>
                  <a:spcPct val="110000"/>
                </a:lnSpc>
              </a:pPr>
              <a:r>
                <a:rPr lang="en-US" altLang="zh-CN" sz="1600" dirty="0">
                  <a:latin typeface="宋体" panose="02010600030101010101" pitchFamily="2" charset="-122"/>
                  <a:ea typeface="宋体" panose="02010600030101010101" pitchFamily="2" charset="-122"/>
                </a:rPr>
                <a:t>·</a:t>
              </a:r>
              <a:r>
                <a:rPr lang="zh-CN" altLang="en-US" sz="1600" dirty="0">
                  <a:latin typeface="宋体" panose="02010600030101010101" pitchFamily="2" charset="-122"/>
                  <a:ea typeface="宋体" panose="02010600030101010101" pitchFamily="2" charset="-122"/>
                </a:rPr>
                <a:t>为什么相同又为什么不同？</a:t>
              </a:r>
              <a:endParaRPr lang="en-US" altLang="zh-CN" sz="1600" dirty="0">
                <a:latin typeface="宋体" panose="02010600030101010101" pitchFamily="2" charset="-122"/>
                <a:ea typeface="宋体" panose="02010600030101010101" pitchFamily="2" charset="-122"/>
              </a:endParaRPr>
            </a:p>
            <a:p>
              <a:pPr>
                <a:lnSpc>
                  <a:spcPct val="110000"/>
                </a:lnSpc>
              </a:pPr>
              <a:r>
                <a:rPr lang="en-US" altLang="zh-CN" sz="1600" dirty="0">
                  <a:latin typeface="宋体" panose="02010600030101010101" pitchFamily="2" charset="-122"/>
                  <a:ea typeface="宋体" panose="02010600030101010101" pitchFamily="2" charset="-122"/>
                </a:rPr>
                <a:t>·</a:t>
              </a:r>
              <a:r>
                <a:rPr lang="zh-CN" altLang="en-US" sz="1600" dirty="0">
                  <a:latin typeface="宋体" panose="02010600030101010101" pitchFamily="2" charset="-122"/>
                  <a:ea typeface="宋体" panose="02010600030101010101" pitchFamily="2" charset="-122"/>
                </a:rPr>
                <a:t>测试时效性的成因是什么？</a:t>
              </a:r>
              <a:endParaRPr lang="en-US" altLang="zh-CN" sz="1600" dirty="0">
                <a:latin typeface="宋体" panose="02010600030101010101" pitchFamily="2" charset="-122"/>
                <a:ea typeface="宋体" panose="02010600030101010101" pitchFamily="2" charset="-122"/>
              </a:endParaRPr>
            </a:p>
            <a:p>
              <a:pPr>
                <a:lnSpc>
                  <a:spcPct val="110000"/>
                </a:lnSpc>
              </a:pPr>
              <a:r>
                <a:rPr lang="zh-CN" altLang="en-US" sz="1600" dirty="0">
                  <a:latin typeface="宋体" panose="02010600030101010101" pitchFamily="2" charset="-122"/>
                  <a:ea typeface="宋体" panose="02010600030101010101" pitchFamily="2" charset="-122"/>
                </a:rPr>
                <a:t>   由MBTI的不足出发，基于自身实际情况进一步深究，便不难得到更进一步的自我认识</a:t>
              </a:r>
              <a:r>
                <a:rPr lang="en-US" altLang="zh-CN" sz="1600" dirty="0">
                  <a:latin typeface="宋体" panose="02010600030101010101" pitchFamily="2" charset="-122"/>
                  <a:ea typeface="宋体" panose="02010600030101010101" pitchFamily="2" charset="-122"/>
                </a:rPr>
                <a:t>.</a:t>
              </a:r>
              <a:r>
                <a:rPr lang="zh-CN" altLang="en-US" sz="1600" dirty="0">
                  <a:latin typeface="宋体" panose="02010600030101010101" pitchFamily="2" charset="-122"/>
                  <a:ea typeface="宋体" panose="02010600030101010101" pitchFamily="2" charset="-122"/>
                </a:rPr>
                <a:t> 人是多样而充满个性的，若是仅凭MBTI便对一个人定了性，留下了刻板的第一印象，恐怕就再难以正确的认识了解他了。</a:t>
              </a:r>
              <a:endParaRPr lang="en-US" altLang="zh-CN" sz="1600" dirty="0">
                <a:latin typeface="宋体" panose="02010600030101010101" pitchFamily="2" charset="-122"/>
                <a:ea typeface="宋体" panose="02010600030101010101" pitchFamily="2" charset="-122"/>
              </a:endParaRPr>
            </a:p>
            <a:p>
              <a:pPr>
                <a:lnSpc>
                  <a:spcPct val="120000"/>
                </a:lnSpc>
              </a:pPr>
              <a:endParaRPr lang="zh-CN" altLang="en-US" sz="1600" dirty="0"/>
            </a:p>
          </p:txBody>
        </p:sp>
      </p:grpSp>
      <p:pic>
        <p:nvPicPr>
          <p:cNvPr id="40" name="图片 46">
            <a:extLst>
              <a:ext uri="{FF2B5EF4-FFF2-40B4-BE49-F238E27FC236}">
                <a16:creationId xmlns:a16="http://schemas.microsoft.com/office/drawing/2014/main" id="{7AF7916B-F462-A82F-B845-5F14A7E0AEFB}"/>
              </a:ext>
            </a:extLst>
          </p:cNvPr>
          <p:cNvPicPr>
            <a:picLocks noChangeAspect="1"/>
          </p:cNvPicPr>
          <p:nvPr/>
        </p:nvPicPr>
        <p:blipFill>
          <a:blip r:embed="rId6"/>
          <a:stretch>
            <a:fillRect/>
          </a:stretch>
        </p:blipFill>
        <p:spPr>
          <a:xfrm>
            <a:off x="288722" y="85524"/>
            <a:ext cx="817880" cy="1090507"/>
          </a:xfrm>
          <a:prstGeom prst="rect">
            <a:avLst/>
          </a:prstGeom>
        </p:spPr>
      </p:pic>
      <p:pic>
        <p:nvPicPr>
          <p:cNvPr id="44" name="图片 3">
            <a:extLst>
              <a:ext uri="{FF2B5EF4-FFF2-40B4-BE49-F238E27FC236}">
                <a16:creationId xmlns:a16="http://schemas.microsoft.com/office/drawing/2014/main" id="{AF6399B1-00BE-0A85-022D-2D33F910AF89}"/>
              </a:ext>
            </a:extLst>
          </p:cNvPr>
          <p:cNvPicPr>
            <a:picLocks noChangeAspect="1"/>
          </p:cNvPicPr>
          <p:nvPr/>
        </p:nvPicPr>
        <p:blipFill>
          <a:blip r:embed="rId7"/>
          <a:stretch>
            <a:fillRect/>
          </a:stretch>
        </p:blipFill>
        <p:spPr>
          <a:xfrm flipH="1">
            <a:off x="5557520" y="1396100"/>
            <a:ext cx="796713" cy="1062567"/>
          </a:xfrm>
          <a:prstGeom prst="rect">
            <a:avLst/>
          </a:prstGeom>
        </p:spPr>
      </p:pic>
    </p:spTree>
    <p:extLst>
      <p:ext uri="{BB962C8B-B14F-4D97-AF65-F5344CB8AC3E}">
        <p14:creationId xmlns:p14="http://schemas.microsoft.com/office/powerpoint/2010/main" val="302413671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500"/>
                                        <p:tgtEl>
                                          <p:spTgt spid="40"/>
                                        </p:tgtEl>
                                      </p:cBhvr>
                                    </p:animEffect>
                                  </p:childTnLst>
                                </p:cTn>
                              </p:par>
                              <p:par>
                                <p:cTn id="8" presetID="22" presetClass="entr" presetSubtype="8"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left)">
                                      <p:cBhvr>
                                        <p:cTn id="10" dur="5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wipe(right)">
                                      <p:cBhvr>
                                        <p:cTn id="15" dur="500"/>
                                        <p:tgtEl>
                                          <p:spTgt spid="44"/>
                                        </p:tgtEl>
                                      </p:cBhvr>
                                    </p:animEffect>
                                  </p:childTnLst>
                                </p:cTn>
                              </p:par>
                              <p:par>
                                <p:cTn id="16" presetID="22" presetClass="entr" presetSubtype="2" fill="hold" nodeType="withEffect">
                                  <p:stCondLst>
                                    <p:cond delay="0"/>
                                  </p:stCondLst>
                                  <p:childTnLst>
                                    <p:set>
                                      <p:cBhvr>
                                        <p:cTn id="17" dur="1" fill="hold">
                                          <p:stCondLst>
                                            <p:cond delay="0"/>
                                          </p:stCondLst>
                                        </p:cTn>
                                        <p:tgtEl>
                                          <p:spTgt spid="48"/>
                                        </p:tgtEl>
                                        <p:attrNameLst>
                                          <p:attrName>style.visibility</p:attrName>
                                        </p:attrNameLst>
                                      </p:cBhvr>
                                      <p:to>
                                        <p:strVal val="visible"/>
                                      </p:to>
                                    </p:set>
                                    <p:animEffect transition="in" filter="wipe(right)">
                                      <p:cBhvr>
                                        <p:cTn id="18"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AE24AC92-FE3C-2CA6-9290-2F281C78B5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692" y="21582"/>
            <a:ext cx="8108354" cy="6858000"/>
          </a:xfrm>
          <a:prstGeom prst="rect">
            <a:avLst/>
          </a:prstGeom>
        </p:spPr>
      </p:pic>
      <p:sp>
        <p:nvSpPr>
          <p:cNvPr id="8" name="不完整圆 7">
            <a:extLst>
              <a:ext uri="{FF2B5EF4-FFF2-40B4-BE49-F238E27FC236}">
                <a16:creationId xmlns:a16="http://schemas.microsoft.com/office/drawing/2014/main" id="{55DFCD81-D51F-4326-35F6-D9F3D46C10B2}"/>
              </a:ext>
            </a:extLst>
          </p:cNvPr>
          <p:cNvSpPr/>
          <p:nvPr/>
        </p:nvSpPr>
        <p:spPr>
          <a:xfrm rot="13093773">
            <a:off x="-833580" y="-3796239"/>
            <a:ext cx="13859160" cy="13859160"/>
          </a:xfrm>
          <a:prstGeom prst="pie">
            <a:avLst/>
          </a:prstGeom>
          <a:solidFill>
            <a:schemeClr val="tx2">
              <a:lumMod val="75000"/>
            </a:schemeClr>
          </a:solidFill>
          <a:ln w="889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pic>
        <p:nvPicPr>
          <p:cNvPr id="9" name="图片 16">
            <a:extLst>
              <a:ext uri="{FF2B5EF4-FFF2-40B4-BE49-F238E27FC236}">
                <a16:creationId xmlns:a16="http://schemas.microsoft.com/office/drawing/2014/main" id="{960D7D5A-89EF-98BC-E53F-759A8E3EBCBA}"/>
              </a:ext>
            </a:extLst>
          </p:cNvPr>
          <p:cNvPicPr>
            <a:picLocks noChangeAspect="1"/>
          </p:cNvPicPr>
          <p:nvPr/>
        </p:nvPicPr>
        <p:blipFill>
          <a:blip r:embed="rId3">
            <a:alphaModFix/>
          </a:blip>
          <a:stretch>
            <a:fillRect/>
          </a:stretch>
        </p:blipFill>
        <p:spPr>
          <a:xfrm>
            <a:off x="8453750" y="6000490"/>
            <a:ext cx="405876" cy="405876"/>
          </a:xfrm>
          <a:prstGeom prst="rect">
            <a:avLst/>
          </a:prstGeom>
        </p:spPr>
      </p:pic>
      <p:pic>
        <p:nvPicPr>
          <p:cNvPr id="10" name="图片 17">
            <a:extLst>
              <a:ext uri="{FF2B5EF4-FFF2-40B4-BE49-F238E27FC236}">
                <a16:creationId xmlns:a16="http://schemas.microsoft.com/office/drawing/2014/main" id="{A51F9541-7860-76FF-D928-77EA54ADFCCF}"/>
              </a:ext>
            </a:extLst>
          </p:cNvPr>
          <p:cNvPicPr>
            <a:picLocks noChangeAspect="1"/>
          </p:cNvPicPr>
          <p:nvPr/>
        </p:nvPicPr>
        <p:blipFill>
          <a:blip r:embed="rId4">
            <a:alphaModFix/>
          </a:blip>
          <a:stretch>
            <a:fillRect/>
          </a:stretch>
        </p:blipFill>
        <p:spPr>
          <a:xfrm>
            <a:off x="10072526" y="6000490"/>
            <a:ext cx="405876" cy="405876"/>
          </a:xfrm>
          <a:prstGeom prst="rect">
            <a:avLst/>
          </a:prstGeom>
        </p:spPr>
      </p:pic>
      <p:grpSp>
        <p:nvGrpSpPr>
          <p:cNvPr id="14" name="组合 34">
            <a:extLst>
              <a:ext uri="{FF2B5EF4-FFF2-40B4-BE49-F238E27FC236}">
                <a16:creationId xmlns:a16="http://schemas.microsoft.com/office/drawing/2014/main" id="{9E973BDE-B857-1A20-7824-BB420ABD97A2}"/>
              </a:ext>
            </a:extLst>
          </p:cNvPr>
          <p:cNvGrpSpPr/>
          <p:nvPr/>
        </p:nvGrpSpPr>
        <p:grpSpPr>
          <a:xfrm>
            <a:off x="4413674" y="-33019"/>
            <a:ext cx="6733540" cy="579120"/>
            <a:chOff x="2777" y="1669"/>
            <a:chExt cx="6469" cy="907"/>
          </a:xfrm>
        </p:grpSpPr>
        <p:pic>
          <p:nvPicPr>
            <p:cNvPr id="15" name="图片 25">
              <a:extLst>
                <a:ext uri="{FF2B5EF4-FFF2-40B4-BE49-F238E27FC236}">
                  <a16:creationId xmlns:a16="http://schemas.microsoft.com/office/drawing/2014/main" id="{C9264AFB-256C-DE01-E13E-F4BCE1B36CE2}"/>
                </a:ext>
              </a:extLst>
            </p:cNvPr>
            <p:cNvPicPr>
              <a:picLocks noChangeAspect="1"/>
            </p:cNvPicPr>
            <p:nvPr/>
          </p:nvPicPr>
          <p:blipFill>
            <a:blip r:embed="rId5">
              <a:alphaModFix/>
            </a:blip>
            <a:stretch>
              <a:fillRect/>
            </a:stretch>
          </p:blipFill>
          <p:spPr>
            <a:xfrm>
              <a:off x="2777" y="1669"/>
              <a:ext cx="6469" cy="907"/>
            </a:xfrm>
            <a:prstGeom prst="rect">
              <a:avLst/>
            </a:prstGeom>
          </p:spPr>
        </p:pic>
        <p:pic>
          <p:nvPicPr>
            <p:cNvPr id="16" name="图片 24">
              <a:extLst>
                <a:ext uri="{FF2B5EF4-FFF2-40B4-BE49-F238E27FC236}">
                  <a16:creationId xmlns:a16="http://schemas.microsoft.com/office/drawing/2014/main" id="{20CFA757-2A94-B09B-9E32-BF73047FE106}"/>
                </a:ext>
              </a:extLst>
            </p:cNvPr>
            <p:cNvPicPr>
              <a:picLocks noChangeAspect="1"/>
            </p:cNvPicPr>
            <p:nvPr/>
          </p:nvPicPr>
          <p:blipFill>
            <a:blip r:embed="rId6">
              <a:alphaModFix/>
            </a:blip>
            <a:stretch>
              <a:fillRect/>
            </a:stretch>
          </p:blipFill>
          <p:spPr>
            <a:xfrm>
              <a:off x="2867" y="1752"/>
              <a:ext cx="6302" cy="710"/>
            </a:xfrm>
            <a:prstGeom prst="rect">
              <a:avLst/>
            </a:prstGeom>
          </p:spPr>
        </p:pic>
        <p:sp>
          <p:nvSpPr>
            <p:cNvPr id="17" name="文本框 28">
              <a:extLst>
                <a:ext uri="{FF2B5EF4-FFF2-40B4-BE49-F238E27FC236}">
                  <a16:creationId xmlns:a16="http://schemas.microsoft.com/office/drawing/2014/main" id="{320D7003-B46F-57AC-212C-0101D0992EF3}"/>
                </a:ext>
              </a:extLst>
            </p:cNvPr>
            <p:cNvSpPr txBox="1"/>
            <p:nvPr/>
          </p:nvSpPr>
          <p:spPr>
            <a:xfrm>
              <a:off x="2954" y="1753"/>
              <a:ext cx="5841" cy="530"/>
            </a:xfrm>
            <a:prstGeom prst="rect">
              <a:avLst/>
            </a:prstGeom>
            <a:noFill/>
          </p:spPr>
          <p:txBody>
            <a:bodyPr wrap="square" rtlCol="0">
              <a:spAutoFit/>
            </a:bodyPr>
            <a:lstStyle/>
            <a:p>
              <a:r>
                <a:rPr lang="zh-CN" altLang="en-US" sz="1600" dirty="0">
                  <a:latin typeface="宋体" panose="02010600030101010101" pitchFamily="2" charset="-122"/>
                  <a:ea typeface="宋体" panose="02010600030101010101" pitchFamily="2" charset="-122"/>
                </a:rPr>
                <a:t>同学你好！请问你有了解过mbti吗？</a:t>
              </a:r>
            </a:p>
          </p:txBody>
        </p:sp>
      </p:grpSp>
      <p:grpSp>
        <p:nvGrpSpPr>
          <p:cNvPr id="3" name="组合 2">
            <a:extLst>
              <a:ext uri="{FF2B5EF4-FFF2-40B4-BE49-F238E27FC236}">
                <a16:creationId xmlns:a16="http://schemas.microsoft.com/office/drawing/2014/main" id="{1DB4295D-C214-D55F-E72E-3E909E928D47}"/>
              </a:ext>
            </a:extLst>
          </p:cNvPr>
          <p:cNvGrpSpPr/>
          <p:nvPr/>
        </p:nvGrpSpPr>
        <p:grpSpPr>
          <a:xfrm>
            <a:off x="4405718" y="879238"/>
            <a:ext cx="6522720" cy="946573"/>
            <a:chOff x="4405718" y="879238"/>
            <a:chExt cx="6522720" cy="946573"/>
          </a:xfrm>
        </p:grpSpPr>
        <p:pic>
          <p:nvPicPr>
            <p:cNvPr id="18" name="图片 30">
              <a:extLst>
                <a:ext uri="{FF2B5EF4-FFF2-40B4-BE49-F238E27FC236}">
                  <a16:creationId xmlns:a16="http://schemas.microsoft.com/office/drawing/2014/main" id="{020839E3-581E-56CA-DA52-606B6889E0B6}"/>
                </a:ext>
              </a:extLst>
            </p:cNvPr>
            <p:cNvPicPr>
              <a:picLocks noChangeAspect="1"/>
            </p:cNvPicPr>
            <p:nvPr/>
          </p:nvPicPr>
          <p:blipFill>
            <a:blip r:embed="rId7">
              <a:alphaModFix/>
            </a:blip>
            <a:stretch>
              <a:fillRect/>
            </a:stretch>
          </p:blipFill>
          <p:spPr>
            <a:xfrm rot="10800000">
              <a:off x="4405718" y="879238"/>
              <a:ext cx="6522720" cy="946573"/>
            </a:xfrm>
            <a:prstGeom prst="rect">
              <a:avLst/>
            </a:prstGeom>
          </p:spPr>
        </p:pic>
        <p:pic>
          <p:nvPicPr>
            <p:cNvPr id="19" name="图片 29">
              <a:extLst>
                <a:ext uri="{FF2B5EF4-FFF2-40B4-BE49-F238E27FC236}">
                  <a16:creationId xmlns:a16="http://schemas.microsoft.com/office/drawing/2014/main" id="{3C7CB868-9EC7-7075-D303-FE0182D8FC30}"/>
                </a:ext>
              </a:extLst>
            </p:cNvPr>
            <p:cNvPicPr>
              <a:picLocks noChangeAspect="1"/>
            </p:cNvPicPr>
            <p:nvPr/>
          </p:nvPicPr>
          <p:blipFill>
            <a:blip r:embed="rId6">
              <a:alphaModFix/>
            </a:blip>
            <a:stretch>
              <a:fillRect/>
            </a:stretch>
          </p:blipFill>
          <p:spPr>
            <a:xfrm>
              <a:off x="4502238" y="975759"/>
              <a:ext cx="6325447" cy="747607"/>
            </a:xfrm>
            <a:prstGeom prst="rect">
              <a:avLst/>
            </a:prstGeom>
          </p:spPr>
        </p:pic>
        <p:sp>
          <p:nvSpPr>
            <p:cNvPr id="20" name="文本框 31">
              <a:extLst>
                <a:ext uri="{FF2B5EF4-FFF2-40B4-BE49-F238E27FC236}">
                  <a16:creationId xmlns:a16="http://schemas.microsoft.com/office/drawing/2014/main" id="{C0C4D006-FC10-A661-E522-5E8E3E571347}"/>
                </a:ext>
              </a:extLst>
            </p:cNvPr>
            <p:cNvSpPr txBox="1"/>
            <p:nvPr/>
          </p:nvSpPr>
          <p:spPr>
            <a:xfrm>
              <a:off x="4597912" y="1023171"/>
              <a:ext cx="6129020" cy="584775"/>
            </a:xfrm>
            <a:prstGeom prst="rect">
              <a:avLst/>
            </a:prstGeom>
            <a:noFill/>
          </p:spPr>
          <p:txBody>
            <a:bodyPr wrap="square" rtlCol="0">
              <a:spAutoFit/>
            </a:bodyPr>
            <a:lstStyle/>
            <a:p>
              <a:r>
                <a:rPr lang="zh-CN" altLang="en-US" sz="1600" dirty="0">
                  <a:latin typeface="宋体" panose="02010600030101010101" pitchFamily="2" charset="-122"/>
                  <a:ea typeface="宋体" panose="02010600030101010101" pitchFamily="2" charset="-122"/>
                </a:rPr>
                <a:t>有的有的！我超喜欢mbti，我应该是朋友里面最了解mbti的人，而且我平常也喜欢看一些mbti有关的帖子。</a:t>
              </a:r>
            </a:p>
          </p:txBody>
        </p:sp>
      </p:grpSp>
      <p:grpSp>
        <p:nvGrpSpPr>
          <p:cNvPr id="21" name="组合 38">
            <a:extLst>
              <a:ext uri="{FF2B5EF4-FFF2-40B4-BE49-F238E27FC236}">
                <a16:creationId xmlns:a16="http://schemas.microsoft.com/office/drawing/2014/main" id="{EC520A9A-C1FF-48D6-41B0-C443838945A8}"/>
              </a:ext>
            </a:extLst>
          </p:cNvPr>
          <p:cNvGrpSpPr/>
          <p:nvPr/>
        </p:nvGrpSpPr>
        <p:grpSpPr>
          <a:xfrm>
            <a:off x="6996832" y="2263392"/>
            <a:ext cx="5195168" cy="765310"/>
            <a:chOff x="2777" y="1669"/>
            <a:chExt cx="6469" cy="907"/>
          </a:xfrm>
        </p:grpSpPr>
        <p:pic>
          <p:nvPicPr>
            <p:cNvPr id="22" name="图片 39">
              <a:extLst>
                <a:ext uri="{FF2B5EF4-FFF2-40B4-BE49-F238E27FC236}">
                  <a16:creationId xmlns:a16="http://schemas.microsoft.com/office/drawing/2014/main" id="{54198BEE-D80A-FF79-9C0F-F17CC43282CF}"/>
                </a:ext>
              </a:extLst>
            </p:cNvPr>
            <p:cNvPicPr>
              <a:picLocks noChangeAspect="1"/>
            </p:cNvPicPr>
            <p:nvPr/>
          </p:nvPicPr>
          <p:blipFill>
            <a:blip r:embed="rId5">
              <a:alphaModFix/>
            </a:blip>
            <a:stretch>
              <a:fillRect/>
            </a:stretch>
          </p:blipFill>
          <p:spPr>
            <a:xfrm>
              <a:off x="2777" y="1669"/>
              <a:ext cx="6469" cy="907"/>
            </a:xfrm>
            <a:prstGeom prst="rect">
              <a:avLst/>
            </a:prstGeom>
          </p:spPr>
        </p:pic>
        <p:pic>
          <p:nvPicPr>
            <p:cNvPr id="23" name="图片 40">
              <a:extLst>
                <a:ext uri="{FF2B5EF4-FFF2-40B4-BE49-F238E27FC236}">
                  <a16:creationId xmlns:a16="http://schemas.microsoft.com/office/drawing/2014/main" id="{3774865F-8160-ED70-86B6-4DE38B516345}"/>
                </a:ext>
              </a:extLst>
            </p:cNvPr>
            <p:cNvPicPr>
              <a:picLocks noChangeAspect="1"/>
            </p:cNvPicPr>
            <p:nvPr/>
          </p:nvPicPr>
          <p:blipFill>
            <a:blip r:embed="rId6">
              <a:alphaModFix/>
            </a:blip>
            <a:stretch>
              <a:fillRect/>
            </a:stretch>
          </p:blipFill>
          <p:spPr>
            <a:xfrm>
              <a:off x="2867" y="1752"/>
              <a:ext cx="6302" cy="710"/>
            </a:xfrm>
            <a:prstGeom prst="rect">
              <a:avLst/>
            </a:prstGeom>
          </p:spPr>
        </p:pic>
        <p:sp>
          <p:nvSpPr>
            <p:cNvPr id="24" name="文本框 41">
              <a:extLst>
                <a:ext uri="{FF2B5EF4-FFF2-40B4-BE49-F238E27FC236}">
                  <a16:creationId xmlns:a16="http://schemas.microsoft.com/office/drawing/2014/main" id="{F8C80E76-E7CC-47A8-2900-9A30D51B7541}"/>
                </a:ext>
              </a:extLst>
            </p:cNvPr>
            <p:cNvSpPr txBox="1"/>
            <p:nvPr/>
          </p:nvSpPr>
          <p:spPr>
            <a:xfrm>
              <a:off x="2880" y="1752"/>
              <a:ext cx="5841" cy="693"/>
            </a:xfrm>
            <a:prstGeom prst="rect">
              <a:avLst/>
            </a:prstGeom>
            <a:noFill/>
          </p:spPr>
          <p:txBody>
            <a:bodyPr wrap="square" rtlCol="0">
              <a:spAutoFit/>
            </a:bodyPr>
            <a:lstStyle/>
            <a:p>
              <a:r>
                <a:rPr lang="zh-CN" altLang="en-US" sz="1600" dirty="0">
                  <a:latin typeface="宋体" panose="02010600030101010101" pitchFamily="2" charset="-122"/>
                  <a:ea typeface="宋体" panose="02010600030101010101" pitchFamily="2" charset="-122"/>
                  <a:sym typeface="+mn-ea"/>
                </a:rPr>
                <a:t>看来您对mbti有很深的认同感，那请问你介意分享一下你认同和喜爱mbti的理由吗？</a:t>
              </a:r>
              <a:endParaRPr lang="zh-CN" altLang="en-US" sz="1600" dirty="0">
                <a:latin typeface="宋体" panose="02010600030101010101" pitchFamily="2" charset="-122"/>
                <a:ea typeface="宋体" panose="02010600030101010101" pitchFamily="2" charset="-122"/>
              </a:endParaRPr>
            </a:p>
          </p:txBody>
        </p:sp>
      </p:grpSp>
      <p:pic>
        <p:nvPicPr>
          <p:cNvPr id="26" name="图片 46">
            <a:extLst>
              <a:ext uri="{FF2B5EF4-FFF2-40B4-BE49-F238E27FC236}">
                <a16:creationId xmlns:a16="http://schemas.microsoft.com/office/drawing/2014/main" id="{4BDE43D2-DD39-A0DA-84FD-93E052AEBD23}"/>
              </a:ext>
            </a:extLst>
          </p:cNvPr>
          <p:cNvPicPr>
            <a:picLocks noChangeAspect="1"/>
          </p:cNvPicPr>
          <p:nvPr/>
        </p:nvPicPr>
        <p:blipFill>
          <a:blip r:embed="rId8"/>
          <a:stretch>
            <a:fillRect/>
          </a:stretch>
        </p:blipFill>
        <p:spPr>
          <a:xfrm>
            <a:off x="3502660" y="-101600"/>
            <a:ext cx="817880" cy="1090507"/>
          </a:xfrm>
          <a:prstGeom prst="rect">
            <a:avLst/>
          </a:prstGeom>
        </p:spPr>
      </p:pic>
      <p:pic>
        <p:nvPicPr>
          <p:cNvPr id="27" name="图片 47">
            <a:extLst>
              <a:ext uri="{FF2B5EF4-FFF2-40B4-BE49-F238E27FC236}">
                <a16:creationId xmlns:a16="http://schemas.microsoft.com/office/drawing/2014/main" id="{ADD6401B-1131-7CB7-74F2-C35BCF70CBEB}"/>
              </a:ext>
            </a:extLst>
          </p:cNvPr>
          <p:cNvPicPr>
            <a:picLocks noChangeAspect="1"/>
          </p:cNvPicPr>
          <p:nvPr/>
        </p:nvPicPr>
        <p:blipFill>
          <a:blip r:embed="rId9"/>
          <a:stretch>
            <a:fillRect/>
          </a:stretch>
        </p:blipFill>
        <p:spPr>
          <a:xfrm>
            <a:off x="11206904" y="825052"/>
            <a:ext cx="786553" cy="1049020"/>
          </a:xfrm>
          <a:prstGeom prst="rect">
            <a:avLst/>
          </a:prstGeom>
        </p:spPr>
      </p:pic>
      <p:grpSp>
        <p:nvGrpSpPr>
          <p:cNvPr id="32" name="组合 31">
            <a:extLst>
              <a:ext uri="{FF2B5EF4-FFF2-40B4-BE49-F238E27FC236}">
                <a16:creationId xmlns:a16="http://schemas.microsoft.com/office/drawing/2014/main" id="{F21D8EA8-61BD-303F-79E4-FD35F7B75C25}"/>
              </a:ext>
            </a:extLst>
          </p:cNvPr>
          <p:cNvGrpSpPr/>
          <p:nvPr/>
        </p:nvGrpSpPr>
        <p:grpSpPr>
          <a:xfrm>
            <a:off x="4320539" y="3440657"/>
            <a:ext cx="7183728" cy="4644894"/>
            <a:chOff x="4830203" y="3888379"/>
            <a:chExt cx="10546550" cy="3290957"/>
          </a:xfrm>
        </p:grpSpPr>
        <p:pic>
          <p:nvPicPr>
            <p:cNvPr id="25" name="图片 50">
              <a:extLst>
                <a:ext uri="{FF2B5EF4-FFF2-40B4-BE49-F238E27FC236}">
                  <a16:creationId xmlns:a16="http://schemas.microsoft.com/office/drawing/2014/main" id="{1735E932-108C-BA5B-14E8-4267F8897D32}"/>
                </a:ext>
              </a:extLst>
            </p:cNvPr>
            <p:cNvPicPr>
              <a:picLocks noChangeAspect="1"/>
            </p:cNvPicPr>
            <p:nvPr/>
          </p:nvPicPr>
          <p:blipFill>
            <a:blip r:embed="rId7">
              <a:alphaModFix/>
            </a:blip>
            <a:stretch>
              <a:fillRect/>
            </a:stretch>
          </p:blipFill>
          <p:spPr>
            <a:xfrm rot="10800000">
              <a:off x="4830203" y="3888379"/>
              <a:ext cx="10523220" cy="2517987"/>
            </a:xfrm>
            <a:prstGeom prst="rect">
              <a:avLst/>
            </a:prstGeom>
          </p:spPr>
        </p:pic>
        <p:pic>
          <p:nvPicPr>
            <p:cNvPr id="28" name="图片 51">
              <a:extLst>
                <a:ext uri="{FF2B5EF4-FFF2-40B4-BE49-F238E27FC236}">
                  <a16:creationId xmlns:a16="http://schemas.microsoft.com/office/drawing/2014/main" id="{213CC7ED-4A00-32A1-4835-19095BACA90F}"/>
                </a:ext>
              </a:extLst>
            </p:cNvPr>
            <p:cNvPicPr>
              <a:picLocks noChangeAspect="1"/>
            </p:cNvPicPr>
            <p:nvPr/>
          </p:nvPicPr>
          <p:blipFill>
            <a:blip r:embed="rId6">
              <a:alphaModFix/>
            </a:blip>
            <a:stretch>
              <a:fillRect/>
            </a:stretch>
          </p:blipFill>
          <p:spPr>
            <a:xfrm>
              <a:off x="4986832" y="4002252"/>
              <a:ext cx="10260753" cy="2202180"/>
            </a:xfrm>
            <a:prstGeom prst="rect">
              <a:avLst/>
            </a:prstGeom>
          </p:spPr>
        </p:pic>
        <p:sp>
          <p:nvSpPr>
            <p:cNvPr id="29" name="文本框 33">
              <a:extLst>
                <a:ext uri="{FF2B5EF4-FFF2-40B4-BE49-F238E27FC236}">
                  <a16:creationId xmlns:a16="http://schemas.microsoft.com/office/drawing/2014/main" id="{C2A6CB0B-F313-1D46-590D-F523740F7566}"/>
                </a:ext>
              </a:extLst>
            </p:cNvPr>
            <p:cNvSpPr txBox="1"/>
            <p:nvPr/>
          </p:nvSpPr>
          <p:spPr>
            <a:xfrm>
              <a:off x="5028248" y="4070170"/>
              <a:ext cx="10348505" cy="3109166"/>
            </a:xfrm>
            <a:prstGeom prst="rect">
              <a:avLst/>
            </a:prstGeom>
            <a:noFill/>
          </p:spPr>
          <p:txBody>
            <a:bodyPr wrap="square" rtlCol="0">
              <a:noAutofit/>
            </a:bodyPr>
            <a:lstStyle/>
            <a:p>
              <a:pPr>
                <a:lnSpc>
                  <a:spcPct val="120000"/>
                </a:lnSpc>
              </a:pPr>
              <a:r>
                <a:rPr lang="zh-CN" altLang="en-US" sz="1600" dirty="0">
                  <a:latin typeface="宋体" panose="02010600030101010101" pitchFamily="2" charset="-122"/>
                  <a:ea typeface="宋体" panose="02010600030101010101" pitchFamily="2" charset="-122"/>
                </a:rPr>
                <a:t>    我是小蝴蝶INFP。</a:t>
              </a:r>
              <a:endParaRPr lang="en-US" altLang="zh-CN" sz="1600" dirty="0">
                <a:latin typeface="宋体" panose="02010600030101010101" pitchFamily="2" charset="-122"/>
                <a:ea typeface="宋体" panose="02010600030101010101" pitchFamily="2" charset="-122"/>
              </a:endParaRPr>
            </a:p>
            <a:p>
              <a:pPr>
                <a:lnSpc>
                  <a:spcPct val="120000"/>
                </a:lnSpc>
              </a:pPr>
              <a:r>
                <a:rPr lang="en-US" altLang="zh-CN" sz="1600" dirty="0">
                  <a:latin typeface="宋体" panose="02010600030101010101" pitchFamily="2" charset="-122"/>
                  <a:ea typeface="宋体" panose="02010600030101010101" pitchFamily="2" charset="-122"/>
                </a:rPr>
                <a:t>    </a:t>
              </a:r>
              <a:r>
                <a:rPr lang="zh-CN" altLang="en-US" sz="1600" dirty="0">
                  <a:latin typeface="宋体" panose="02010600030101010101" pitchFamily="2" charset="-122"/>
                  <a:ea typeface="宋体" panose="02010600030101010101" pitchFamily="2" charset="-122"/>
                </a:rPr>
                <a:t>我测出是INFP之后其实是感觉松了一口气的，就因为我一直想要成为一个外向的人，我也一直以为自己是一个外向的人，但测出来之后发现不是的时候我才意识到原来是这样的，我感觉从那个时候开始我才真正接受自。</a:t>
              </a:r>
              <a:r>
                <a:rPr lang="en-US" altLang="zh-CN" sz="1600" dirty="0">
                  <a:latin typeface="宋体" panose="02010600030101010101" pitchFamily="2" charset="-122"/>
                  <a:ea typeface="宋体" panose="02010600030101010101" pitchFamily="2" charset="-122"/>
                </a:rPr>
                <a:t>----   </a:t>
              </a:r>
              <a:r>
                <a:rPr lang="en-US" altLang="zh-CN" sz="1600" dirty="0">
                  <a:solidFill>
                    <a:srgbClr val="FF0000"/>
                  </a:solidFill>
                  <a:latin typeface="宋体" panose="02010600030101010101" pitchFamily="2" charset="-122"/>
                  <a:ea typeface="宋体" panose="02010600030101010101" pitchFamily="2" charset="-122"/>
                </a:rPr>
                <a:t>M</a:t>
              </a:r>
              <a:r>
                <a:rPr lang="zh-CN" altLang="en-US" sz="1600" dirty="0">
                  <a:solidFill>
                    <a:srgbClr val="FF0000"/>
                  </a:solidFill>
                  <a:latin typeface="宋体" panose="02010600030101010101" pitchFamily="2" charset="-122"/>
                  <a:ea typeface="宋体" panose="02010600030101010101" pitchFamily="2" charset="-122"/>
                </a:rPr>
                <a:t>bti给了我一个能够讨论差异的机会</a:t>
              </a:r>
              <a:r>
                <a:rPr lang="zh-CN" altLang="en-US" sz="1600" dirty="0">
                  <a:latin typeface="宋体" panose="02010600030101010101" pitchFamily="2" charset="-122"/>
                  <a:ea typeface="宋体" panose="02010600030101010101" pitchFamily="2" charset="-122"/>
                </a:rPr>
                <a:t>。我一度很羡慕外向活泼的人，因为这个世界外向的人更讨人喜欢，会有更多的机会。所以每到一个新的环境，我都会装一装e人，试图改变以前的形象。但没办法，一段时间后还是不行，真的太累了！</a:t>
              </a:r>
              <a:r>
                <a:rPr lang="zh-CN" altLang="en-US" sz="1600" dirty="0">
                  <a:solidFill>
                    <a:srgbClr val="FF0000"/>
                  </a:solidFill>
                  <a:latin typeface="宋体" panose="02010600030101010101" pitchFamily="2" charset="-122"/>
                  <a:ea typeface="宋体" panose="02010600030101010101" pitchFamily="2" charset="-122"/>
                </a:rPr>
                <a:t>但有了mbti之后我意识到了性格这东西有些时候真的是天生的，我渐渐也就与自己和解了</a:t>
              </a:r>
              <a:r>
                <a:rPr lang="zh-CN" altLang="en-US" sz="1600" dirty="0">
                  <a:latin typeface="宋体" panose="02010600030101010101" pitchFamily="2" charset="-122"/>
                  <a:ea typeface="宋体" panose="02010600030101010101" pitchFamily="2" charset="-122"/>
                </a:rPr>
                <a:t>。为什么要为了别人喜欢而做自己不喜欢的事情呢？好像有了mbti后，每种性格都是合理的，</a:t>
              </a:r>
              <a:r>
                <a:rPr lang="zh-CN" altLang="en-US" sz="1600" dirty="0">
                  <a:solidFill>
                    <a:srgbClr val="FF0000"/>
                  </a:solidFill>
                  <a:latin typeface="宋体" panose="02010600030101010101" pitchFamily="2" charset="-122"/>
                  <a:ea typeface="宋体" panose="02010600030101010101" pitchFamily="2" charset="-122"/>
                </a:rPr>
                <a:t>更理解自己也更理解他人</a:t>
              </a:r>
              <a:r>
                <a:rPr lang="zh-CN" altLang="en-US" sz="1600" dirty="0">
                  <a:latin typeface="宋体" panose="02010600030101010101" pitchFamily="2" charset="-122"/>
                  <a:ea typeface="宋体" panose="02010600030101010101" pitchFamily="2" charset="-122"/>
                </a:rPr>
                <a:t>。</a:t>
              </a:r>
            </a:p>
          </p:txBody>
        </p:sp>
      </p:grpSp>
      <p:pic>
        <p:nvPicPr>
          <p:cNvPr id="30" name="图片 52">
            <a:extLst>
              <a:ext uri="{FF2B5EF4-FFF2-40B4-BE49-F238E27FC236}">
                <a16:creationId xmlns:a16="http://schemas.microsoft.com/office/drawing/2014/main" id="{AFE9B6DB-EC59-5233-4029-46103FFB6B9A}"/>
              </a:ext>
            </a:extLst>
          </p:cNvPr>
          <p:cNvPicPr>
            <a:picLocks noChangeAspect="1"/>
          </p:cNvPicPr>
          <p:nvPr/>
        </p:nvPicPr>
        <p:blipFill>
          <a:blip r:embed="rId8"/>
          <a:stretch>
            <a:fillRect/>
          </a:stretch>
        </p:blipFill>
        <p:spPr>
          <a:xfrm>
            <a:off x="6096000" y="2082394"/>
            <a:ext cx="817880" cy="1090507"/>
          </a:xfrm>
          <a:prstGeom prst="rect">
            <a:avLst/>
          </a:prstGeom>
        </p:spPr>
      </p:pic>
      <p:pic>
        <p:nvPicPr>
          <p:cNvPr id="31" name="图片 53">
            <a:extLst>
              <a:ext uri="{FF2B5EF4-FFF2-40B4-BE49-F238E27FC236}">
                <a16:creationId xmlns:a16="http://schemas.microsoft.com/office/drawing/2014/main" id="{B8EC28B2-7602-E6F1-7393-F4F70D618D35}"/>
              </a:ext>
            </a:extLst>
          </p:cNvPr>
          <p:cNvPicPr>
            <a:picLocks noChangeAspect="1"/>
          </p:cNvPicPr>
          <p:nvPr/>
        </p:nvPicPr>
        <p:blipFill>
          <a:blip r:embed="rId9"/>
          <a:stretch>
            <a:fillRect/>
          </a:stretch>
        </p:blipFill>
        <p:spPr>
          <a:xfrm>
            <a:off x="11432174" y="3450582"/>
            <a:ext cx="786553" cy="1049020"/>
          </a:xfrm>
          <a:prstGeom prst="rect">
            <a:avLst/>
          </a:prstGeom>
        </p:spPr>
      </p:pic>
    </p:spTree>
    <p:extLst>
      <p:ext uri="{BB962C8B-B14F-4D97-AF65-F5344CB8AC3E}">
        <p14:creationId xmlns:p14="http://schemas.microsoft.com/office/powerpoint/2010/main" val="289233815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par>
                                <p:cTn id="8" presetID="22" presetClass="entr" presetSubtype="8"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right)">
                                      <p:cBhvr>
                                        <p:cTn id="15" dur="500"/>
                                        <p:tgtEl>
                                          <p:spTgt spid="27"/>
                                        </p:tgtEl>
                                      </p:cBhvr>
                                    </p:animEffect>
                                  </p:childTnLst>
                                </p:cTn>
                              </p:par>
                              <p:par>
                                <p:cTn id="16" presetID="22" presetClass="entr" presetSubtype="2" fill="hold" nodeType="with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right)">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30"/>
                                        </p:tgtEl>
                                        <p:attrNameLst>
                                          <p:attrName>style.visibility</p:attrName>
                                        </p:attrNameLst>
                                      </p:cBhvr>
                                      <p:to>
                                        <p:strVal val="visible"/>
                                      </p:to>
                                    </p:set>
                                    <p:animEffect transition="in" filter="wipe(left)">
                                      <p:cBhvr>
                                        <p:cTn id="23" dur="500"/>
                                        <p:tgtEl>
                                          <p:spTgt spid="30"/>
                                        </p:tgtEl>
                                      </p:cBhvr>
                                    </p:animEffect>
                                  </p:childTnLst>
                                </p:cTn>
                              </p:par>
                              <p:par>
                                <p:cTn id="24" presetID="22" presetClass="entr" presetSubtype="8" fill="hold" nodeType="withEffect">
                                  <p:stCondLst>
                                    <p:cond delay="0"/>
                                  </p:stCondLst>
                                  <p:childTnLst>
                                    <p:set>
                                      <p:cBhvr>
                                        <p:cTn id="25" dur="1" fill="hold">
                                          <p:stCondLst>
                                            <p:cond delay="0"/>
                                          </p:stCondLst>
                                        </p:cTn>
                                        <p:tgtEl>
                                          <p:spTgt spid="21"/>
                                        </p:tgtEl>
                                        <p:attrNameLst>
                                          <p:attrName>style.visibility</p:attrName>
                                        </p:attrNameLst>
                                      </p:cBhvr>
                                      <p:to>
                                        <p:strVal val="visible"/>
                                      </p:to>
                                    </p:set>
                                    <p:animEffect transition="in" filter="wipe(left)">
                                      <p:cBhvr>
                                        <p:cTn id="26" dur="500"/>
                                        <p:tgtEl>
                                          <p:spTgt spid="21"/>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31"/>
                                        </p:tgtEl>
                                        <p:attrNameLst>
                                          <p:attrName>style.visibility</p:attrName>
                                        </p:attrNameLst>
                                      </p:cBhvr>
                                      <p:to>
                                        <p:strVal val="visible"/>
                                      </p:to>
                                    </p:set>
                                    <p:animEffect transition="in" filter="wipe(right)">
                                      <p:cBhvr>
                                        <p:cTn id="31" dur="500"/>
                                        <p:tgtEl>
                                          <p:spTgt spid="31"/>
                                        </p:tgtEl>
                                      </p:cBhvr>
                                    </p:animEffect>
                                  </p:childTnLst>
                                </p:cTn>
                              </p:par>
                              <p:par>
                                <p:cTn id="32" presetID="22" presetClass="entr" presetSubtype="2" fill="hold" nodeType="withEffect">
                                  <p:stCondLst>
                                    <p:cond delay="0"/>
                                  </p:stCondLst>
                                  <p:childTnLst>
                                    <p:set>
                                      <p:cBhvr>
                                        <p:cTn id="33" dur="1" fill="hold">
                                          <p:stCondLst>
                                            <p:cond delay="0"/>
                                          </p:stCondLst>
                                        </p:cTn>
                                        <p:tgtEl>
                                          <p:spTgt spid="32"/>
                                        </p:tgtEl>
                                        <p:attrNameLst>
                                          <p:attrName>style.visibility</p:attrName>
                                        </p:attrNameLst>
                                      </p:cBhvr>
                                      <p:to>
                                        <p:strVal val="visible"/>
                                      </p:to>
                                    </p:set>
                                    <p:animEffect transition="in" filter="wipe(right)">
                                      <p:cBhvr>
                                        <p:cTn id="34"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3CE46-3B16-B1E1-A3DC-ADA23A81BF5F}"/>
            </a:ext>
          </a:extLst>
        </p:cNvPr>
        <p:cNvGrpSpPr/>
        <p:nvPr/>
      </p:nvGrpSpPr>
      <p:grpSpPr>
        <a:xfrm>
          <a:off x="0" y="0"/>
          <a:ext cx="0" cy="0"/>
          <a:chOff x="0" y="0"/>
          <a:chExt cx="0" cy="0"/>
        </a:xfrm>
      </p:grpSpPr>
      <p:pic>
        <p:nvPicPr>
          <p:cNvPr id="5" name="图片 4">
            <a:extLst>
              <a:ext uri="{FF2B5EF4-FFF2-40B4-BE49-F238E27FC236}">
                <a16:creationId xmlns:a16="http://schemas.microsoft.com/office/drawing/2014/main" id="{1A98133F-5292-BC7C-CCA6-3B8463FD5D0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71" y="0"/>
            <a:ext cx="8108354" cy="6858000"/>
          </a:xfrm>
          <a:prstGeom prst="rect">
            <a:avLst/>
          </a:prstGeom>
        </p:spPr>
      </p:pic>
      <p:sp>
        <p:nvSpPr>
          <p:cNvPr id="3" name="不完整圆 2">
            <a:extLst>
              <a:ext uri="{FF2B5EF4-FFF2-40B4-BE49-F238E27FC236}">
                <a16:creationId xmlns:a16="http://schemas.microsoft.com/office/drawing/2014/main" id="{B9FCFB97-0493-77EA-BE20-87A607E573F0}"/>
              </a:ext>
            </a:extLst>
          </p:cNvPr>
          <p:cNvSpPr/>
          <p:nvPr/>
        </p:nvSpPr>
        <p:spPr>
          <a:xfrm rot="13093773">
            <a:off x="-833580" y="-3796239"/>
            <a:ext cx="13859160" cy="13859160"/>
          </a:xfrm>
          <a:prstGeom prst="pie">
            <a:avLst/>
          </a:prstGeom>
          <a:solidFill>
            <a:schemeClr val="tx2">
              <a:lumMod val="75000"/>
            </a:schemeClr>
          </a:solidFill>
          <a:ln w="88900">
            <a:solidFill>
              <a:srgbClr val="7030A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pic>
        <p:nvPicPr>
          <p:cNvPr id="9" name="图片 16">
            <a:extLst>
              <a:ext uri="{FF2B5EF4-FFF2-40B4-BE49-F238E27FC236}">
                <a16:creationId xmlns:a16="http://schemas.microsoft.com/office/drawing/2014/main" id="{AFEDF908-783F-A9EB-3D66-F3280C5E465D}"/>
              </a:ext>
            </a:extLst>
          </p:cNvPr>
          <p:cNvPicPr>
            <a:picLocks noChangeAspect="1"/>
          </p:cNvPicPr>
          <p:nvPr/>
        </p:nvPicPr>
        <p:blipFill>
          <a:blip r:embed="rId3">
            <a:alphaModFix/>
          </a:blip>
          <a:stretch>
            <a:fillRect/>
          </a:stretch>
        </p:blipFill>
        <p:spPr>
          <a:xfrm>
            <a:off x="8453750" y="6000490"/>
            <a:ext cx="405876" cy="405876"/>
          </a:xfrm>
          <a:prstGeom prst="rect">
            <a:avLst/>
          </a:prstGeom>
        </p:spPr>
      </p:pic>
      <p:pic>
        <p:nvPicPr>
          <p:cNvPr id="10" name="图片 17">
            <a:extLst>
              <a:ext uri="{FF2B5EF4-FFF2-40B4-BE49-F238E27FC236}">
                <a16:creationId xmlns:a16="http://schemas.microsoft.com/office/drawing/2014/main" id="{5FC10958-4475-DA19-6E0B-FB8DC6EAB9FF}"/>
              </a:ext>
            </a:extLst>
          </p:cNvPr>
          <p:cNvPicPr>
            <a:picLocks noChangeAspect="1"/>
          </p:cNvPicPr>
          <p:nvPr/>
        </p:nvPicPr>
        <p:blipFill>
          <a:blip r:embed="rId4">
            <a:alphaModFix/>
          </a:blip>
          <a:stretch>
            <a:fillRect/>
          </a:stretch>
        </p:blipFill>
        <p:spPr>
          <a:xfrm>
            <a:off x="10072526" y="6000490"/>
            <a:ext cx="405876" cy="405876"/>
          </a:xfrm>
          <a:prstGeom prst="rect">
            <a:avLst/>
          </a:prstGeom>
        </p:spPr>
      </p:pic>
      <p:pic>
        <p:nvPicPr>
          <p:cNvPr id="13" name="图片 20">
            <a:extLst>
              <a:ext uri="{FF2B5EF4-FFF2-40B4-BE49-F238E27FC236}">
                <a16:creationId xmlns:a16="http://schemas.microsoft.com/office/drawing/2014/main" id="{A825B581-4B9C-846D-DA45-44C5B4EC0A08}"/>
              </a:ext>
            </a:extLst>
          </p:cNvPr>
          <p:cNvPicPr>
            <a:picLocks noChangeAspect="1"/>
          </p:cNvPicPr>
          <p:nvPr/>
        </p:nvPicPr>
        <p:blipFill>
          <a:blip r:embed="rId3">
            <a:alphaModFix/>
          </a:blip>
          <a:stretch>
            <a:fillRect/>
          </a:stretch>
        </p:blipFill>
        <p:spPr>
          <a:xfrm>
            <a:off x="14928854" y="6000490"/>
            <a:ext cx="405876" cy="405876"/>
          </a:xfrm>
          <a:prstGeom prst="rect">
            <a:avLst/>
          </a:prstGeom>
        </p:spPr>
      </p:pic>
      <p:grpSp>
        <p:nvGrpSpPr>
          <p:cNvPr id="14" name="组合 34">
            <a:extLst>
              <a:ext uri="{FF2B5EF4-FFF2-40B4-BE49-F238E27FC236}">
                <a16:creationId xmlns:a16="http://schemas.microsoft.com/office/drawing/2014/main" id="{F76DBE09-905F-592F-2864-F521F444312B}"/>
              </a:ext>
            </a:extLst>
          </p:cNvPr>
          <p:cNvGrpSpPr/>
          <p:nvPr/>
        </p:nvGrpSpPr>
        <p:grpSpPr>
          <a:xfrm>
            <a:off x="4413674" y="-33019"/>
            <a:ext cx="6793230" cy="1155277"/>
            <a:chOff x="2777" y="1669"/>
            <a:chExt cx="6469" cy="907"/>
          </a:xfrm>
        </p:grpSpPr>
        <p:pic>
          <p:nvPicPr>
            <p:cNvPr id="15" name="图片 25">
              <a:extLst>
                <a:ext uri="{FF2B5EF4-FFF2-40B4-BE49-F238E27FC236}">
                  <a16:creationId xmlns:a16="http://schemas.microsoft.com/office/drawing/2014/main" id="{DA58C517-E87F-A4AB-1D2C-290E672F0D42}"/>
                </a:ext>
              </a:extLst>
            </p:cNvPr>
            <p:cNvPicPr>
              <a:picLocks noChangeAspect="1"/>
            </p:cNvPicPr>
            <p:nvPr/>
          </p:nvPicPr>
          <p:blipFill>
            <a:blip r:embed="rId5">
              <a:alphaModFix/>
            </a:blip>
            <a:stretch>
              <a:fillRect/>
            </a:stretch>
          </p:blipFill>
          <p:spPr>
            <a:xfrm>
              <a:off x="2777" y="1669"/>
              <a:ext cx="6469" cy="907"/>
            </a:xfrm>
            <a:prstGeom prst="rect">
              <a:avLst/>
            </a:prstGeom>
          </p:spPr>
        </p:pic>
        <p:pic>
          <p:nvPicPr>
            <p:cNvPr id="16" name="图片 24">
              <a:extLst>
                <a:ext uri="{FF2B5EF4-FFF2-40B4-BE49-F238E27FC236}">
                  <a16:creationId xmlns:a16="http://schemas.microsoft.com/office/drawing/2014/main" id="{E8521593-E0E5-06C8-561A-8330DAF3AE87}"/>
                </a:ext>
              </a:extLst>
            </p:cNvPr>
            <p:cNvPicPr>
              <a:picLocks noChangeAspect="1"/>
            </p:cNvPicPr>
            <p:nvPr/>
          </p:nvPicPr>
          <p:blipFill>
            <a:blip r:embed="rId6">
              <a:alphaModFix/>
            </a:blip>
            <a:stretch>
              <a:fillRect/>
            </a:stretch>
          </p:blipFill>
          <p:spPr>
            <a:xfrm>
              <a:off x="2867" y="1752"/>
              <a:ext cx="6302" cy="710"/>
            </a:xfrm>
            <a:prstGeom prst="rect">
              <a:avLst/>
            </a:prstGeom>
          </p:spPr>
        </p:pic>
        <p:sp>
          <p:nvSpPr>
            <p:cNvPr id="17" name="文本框 28">
              <a:extLst>
                <a:ext uri="{FF2B5EF4-FFF2-40B4-BE49-F238E27FC236}">
                  <a16:creationId xmlns:a16="http://schemas.microsoft.com/office/drawing/2014/main" id="{965D0156-09DD-D520-48F3-A60CBC5956BC}"/>
                </a:ext>
              </a:extLst>
            </p:cNvPr>
            <p:cNvSpPr txBox="1"/>
            <p:nvPr/>
          </p:nvSpPr>
          <p:spPr>
            <a:xfrm>
              <a:off x="2954" y="1753"/>
              <a:ext cx="5841" cy="652"/>
            </a:xfrm>
            <a:prstGeom prst="rect">
              <a:avLst/>
            </a:prstGeom>
            <a:noFill/>
          </p:spPr>
          <p:txBody>
            <a:bodyPr wrap="square" rtlCol="0">
              <a:spAutoFit/>
            </a:bodyPr>
            <a:lstStyle/>
            <a:p>
              <a:r>
                <a:rPr lang="zh-CN" altLang="en-US" sz="1600" dirty="0">
                  <a:latin typeface="宋体" panose="02010600030101010101" pitchFamily="2" charset="-122"/>
                  <a:ea typeface="宋体" panose="02010600030101010101" pitchFamily="2" charset="-122"/>
                  <a:sym typeface="+mn-ea"/>
                </a:rPr>
                <a:t>是的，现在确实有越来越多的人了解和接触到mbti，但同时也有很多人认为mbti会限制人的多样化发展。你对mbti的流行持什么态度呢？</a:t>
              </a:r>
              <a:endParaRPr lang="zh-CN" altLang="en-US" sz="1600" dirty="0">
                <a:latin typeface="宋体" panose="02010600030101010101" pitchFamily="2" charset="-122"/>
                <a:ea typeface="宋体" panose="02010600030101010101" pitchFamily="2" charset="-122"/>
              </a:endParaRPr>
            </a:p>
          </p:txBody>
        </p:sp>
      </p:grpSp>
      <p:grpSp>
        <p:nvGrpSpPr>
          <p:cNvPr id="2" name="组合 1">
            <a:extLst>
              <a:ext uri="{FF2B5EF4-FFF2-40B4-BE49-F238E27FC236}">
                <a16:creationId xmlns:a16="http://schemas.microsoft.com/office/drawing/2014/main" id="{7FA1CF23-0593-D611-3B04-AA054681DD40}"/>
              </a:ext>
            </a:extLst>
          </p:cNvPr>
          <p:cNvGrpSpPr/>
          <p:nvPr/>
        </p:nvGrpSpPr>
        <p:grpSpPr>
          <a:xfrm>
            <a:off x="6252632" y="1409985"/>
            <a:ext cx="4954271" cy="4711415"/>
            <a:chOff x="4405718" y="879237"/>
            <a:chExt cx="6522720" cy="5448014"/>
          </a:xfrm>
        </p:grpSpPr>
        <p:pic>
          <p:nvPicPr>
            <p:cNvPr id="18" name="图片 30">
              <a:extLst>
                <a:ext uri="{FF2B5EF4-FFF2-40B4-BE49-F238E27FC236}">
                  <a16:creationId xmlns:a16="http://schemas.microsoft.com/office/drawing/2014/main" id="{68BB6C23-359B-7D85-559E-D696B281868B}"/>
                </a:ext>
              </a:extLst>
            </p:cNvPr>
            <p:cNvPicPr>
              <a:picLocks noChangeAspect="1"/>
            </p:cNvPicPr>
            <p:nvPr/>
          </p:nvPicPr>
          <p:blipFill>
            <a:blip r:embed="rId7">
              <a:alphaModFix/>
            </a:blip>
            <a:stretch>
              <a:fillRect/>
            </a:stretch>
          </p:blipFill>
          <p:spPr>
            <a:xfrm rot="10800000">
              <a:off x="4405718" y="879237"/>
              <a:ext cx="6522720" cy="5448014"/>
            </a:xfrm>
            <a:prstGeom prst="rect">
              <a:avLst/>
            </a:prstGeom>
          </p:spPr>
        </p:pic>
        <p:pic>
          <p:nvPicPr>
            <p:cNvPr id="19" name="图片 29">
              <a:extLst>
                <a:ext uri="{FF2B5EF4-FFF2-40B4-BE49-F238E27FC236}">
                  <a16:creationId xmlns:a16="http://schemas.microsoft.com/office/drawing/2014/main" id="{E3FA400A-F753-C1DE-7633-9D2979EC24A4}"/>
                </a:ext>
              </a:extLst>
            </p:cNvPr>
            <p:cNvPicPr>
              <a:picLocks noChangeAspect="1"/>
            </p:cNvPicPr>
            <p:nvPr/>
          </p:nvPicPr>
          <p:blipFill>
            <a:blip r:embed="rId6">
              <a:alphaModFix/>
            </a:blip>
            <a:stretch>
              <a:fillRect/>
            </a:stretch>
          </p:blipFill>
          <p:spPr>
            <a:xfrm>
              <a:off x="4502238" y="975759"/>
              <a:ext cx="6325447" cy="5164846"/>
            </a:xfrm>
            <a:prstGeom prst="rect">
              <a:avLst/>
            </a:prstGeom>
          </p:spPr>
        </p:pic>
        <p:sp>
          <p:nvSpPr>
            <p:cNvPr id="20" name="文本框 31">
              <a:extLst>
                <a:ext uri="{FF2B5EF4-FFF2-40B4-BE49-F238E27FC236}">
                  <a16:creationId xmlns:a16="http://schemas.microsoft.com/office/drawing/2014/main" id="{2A023545-FC10-3A53-9AB8-939D988D2489}"/>
                </a:ext>
              </a:extLst>
            </p:cNvPr>
            <p:cNvSpPr txBox="1"/>
            <p:nvPr/>
          </p:nvSpPr>
          <p:spPr>
            <a:xfrm>
              <a:off x="4597912" y="1023171"/>
              <a:ext cx="6129020" cy="5279190"/>
            </a:xfrm>
            <a:prstGeom prst="rect">
              <a:avLst/>
            </a:prstGeom>
            <a:noFill/>
          </p:spPr>
          <p:txBody>
            <a:bodyPr wrap="square" rtlCol="0">
              <a:spAutoFit/>
            </a:bodyPr>
            <a:lstStyle/>
            <a:p>
              <a:r>
                <a:rPr lang="zh-CN" altLang="en-US" sz="1600" dirty="0">
                  <a:solidFill>
                    <a:srgbClr val="FF0000"/>
                  </a:solidFill>
                  <a:latin typeface="宋体" panose="02010600030101010101" pitchFamily="2" charset="-122"/>
                  <a:ea typeface="宋体" panose="02010600030101010101" pitchFamily="2" charset="-122"/>
                </a:rPr>
                <a:t>     mbti是一种自我认同的方式</a:t>
              </a:r>
              <a:r>
                <a:rPr lang="zh-CN" altLang="en-US" sz="1600" dirty="0">
                  <a:latin typeface="宋体" panose="02010600030101010101" pitchFamily="2" charset="-122"/>
                  <a:ea typeface="宋体" panose="02010600030101010101" pitchFamily="2" charset="-122"/>
                </a:rPr>
                <a:t>，让大家知道自己的正向功能因此更加自信何乐而不为呢？更何况借助mbti我们也可以</a:t>
              </a:r>
              <a:r>
                <a:rPr lang="zh-CN" altLang="en-US" sz="1600" dirty="0">
                  <a:solidFill>
                    <a:srgbClr val="FF0000"/>
                  </a:solidFill>
                  <a:latin typeface="宋体" panose="02010600030101010101" pitchFamily="2" charset="-122"/>
                  <a:ea typeface="宋体" panose="02010600030101010101" pitchFamily="2" charset="-122"/>
                </a:rPr>
                <a:t>直观地跟人相处</a:t>
              </a:r>
              <a:r>
                <a:rPr lang="zh-CN" altLang="en-US" sz="1600" dirty="0">
                  <a:latin typeface="宋体" panose="02010600030101010101" pitchFamily="2" charset="-122"/>
                  <a:ea typeface="宋体" panose="02010600030101010101" pitchFamily="2" charset="-122"/>
                </a:rPr>
                <a:t>，我之前觉得我和我的一位朋友交往的过程中总是感觉她并不考虑我的感受，感觉她并不在乎我。我了解到mbti后明白了她并不是不在乎我，而是她做为T人的思维方式就是更加直接，更加注重效率的，而我们同样是对方很重要的人。</a:t>
              </a:r>
              <a:endParaRPr lang="en-US" altLang="zh-CN" sz="1600" dirty="0">
                <a:latin typeface="宋体" panose="02010600030101010101" pitchFamily="2" charset="-122"/>
                <a:ea typeface="宋体" panose="02010600030101010101" pitchFamily="2" charset="-122"/>
              </a:endParaRPr>
            </a:p>
            <a:p>
              <a:r>
                <a:rPr lang="en-US" altLang="zh-CN" sz="1600" dirty="0">
                  <a:latin typeface="宋体" panose="02010600030101010101" pitchFamily="2" charset="-122"/>
                  <a:ea typeface="宋体" panose="02010600030101010101" pitchFamily="2" charset="-122"/>
                </a:rPr>
                <a:t>    </a:t>
              </a:r>
              <a:r>
                <a:rPr lang="zh-CN" altLang="en-US" sz="1600" dirty="0">
                  <a:latin typeface="宋体" panose="02010600030101010101" pitchFamily="2" charset="-122"/>
                  <a:ea typeface="宋体" panose="02010600030101010101" pitchFamily="2" charset="-122"/>
                </a:rPr>
                <a:t>对我来说mbti</a:t>
              </a:r>
              <a:r>
                <a:rPr lang="zh-CN" altLang="en-US" sz="1600" dirty="0">
                  <a:solidFill>
                    <a:srgbClr val="FF0000"/>
                  </a:solidFill>
                  <a:latin typeface="宋体" panose="02010600030101010101" pitchFamily="2" charset="-122"/>
                  <a:ea typeface="宋体" panose="02010600030101010101" pitchFamily="2" charset="-122"/>
                </a:rPr>
                <a:t>并不是简单地贴标签和限制发展</a:t>
              </a:r>
              <a:r>
                <a:rPr lang="zh-CN" altLang="en-US" sz="1600" dirty="0">
                  <a:latin typeface="宋体" panose="02010600030101010101" pitchFamily="2" charset="-122"/>
                  <a:ea typeface="宋体" panose="02010600030101010101" pitchFamily="2" charset="-122"/>
                </a:rPr>
                <a:t>，毕竟没有人会因为mbti放弃探索自己的可能性吧。反倒我觉得mbti的出现</a:t>
              </a:r>
              <a:r>
                <a:rPr lang="zh-CN" altLang="en-US" sz="1600" dirty="0">
                  <a:solidFill>
                    <a:srgbClr val="FF0000"/>
                  </a:solidFill>
                  <a:latin typeface="宋体" panose="02010600030101010101" pitchFamily="2" charset="-122"/>
                  <a:ea typeface="宋体" panose="02010600030101010101" pitchFamily="2" charset="-122"/>
                </a:rPr>
                <a:t>让更多不同的性格被看到和接纳了</a:t>
              </a:r>
              <a:r>
                <a:rPr lang="zh-CN" altLang="en-US" sz="1600" dirty="0">
                  <a:latin typeface="宋体" panose="02010600030101010101" pitchFamily="2" charset="-122"/>
                  <a:ea typeface="宋体" panose="02010600030101010101" pitchFamily="2" charset="-122"/>
                </a:rPr>
                <a:t>，内向敏感的我也会找到一个群体，遇见很多相似的人，发现原来有这么多人和我有相似的感受。其实我很感谢mbti的流行，至少它似乎正</a:t>
              </a:r>
              <a:r>
                <a:rPr lang="zh-CN" altLang="en-US" sz="1600" dirty="0">
                  <a:solidFill>
                    <a:srgbClr val="FF0000"/>
                  </a:solidFill>
                  <a:latin typeface="宋体" panose="02010600030101010101" pitchFamily="2" charset="-122"/>
                  <a:ea typeface="宋体" panose="02010600030101010101" pitchFamily="2" charset="-122"/>
                </a:rPr>
                <a:t>让性格的多元性和差异性逐渐成为一种共识</a:t>
              </a:r>
              <a:r>
                <a:rPr lang="zh-CN" altLang="en-US" sz="1600" dirty="0">
                  <a:latin typeface="宋体" panose="02010600030101010101" pitchFamily="2" charset="-122"/>
                  <a:ea typeface="宋体" panose="02010600030101010101" pitchFamily="2" charset="-122"/>
                </a:rPr>
                <a:t>，人可以是这样的，也可以是那样的，只是看待这个世界的角度和方式不同而已，我们都是鲜活的。</a:t>
              </a:r>
            </a:p>
            <a:p>
              <a:endParaRPr lang="zh-CN" altLang="en-US" sz="1867" dirty="0"/>
            </a:p>
          </p:txBody>
        </p:sp>
      </p:grpSp>
      <p:pic>
        <p:nvPicPr>
          <p:cNvPr id="26" name="图片 46">
            <a:extLst>
              <a:ext uri="{FF2B5EF4-FFF2-40B4-BE49-F238E27FC236}">
                <a16:creationId xmlns:a16="http://schemas.microsoft.com/office/drawing/2014/main" id="{225A830F-67D7-57C9-D63C-F0A2D4E76947}"/>
              </a:ext>
            </a:extLst>
          </p:cNvPr>
          <p:cNvPicPr>
            <a:picLocks noChangeAspect="1"/>
          </p:cNvPicPr>
          <p:nvPr/>
        </p:nvPicPr>
        <p:blipFill>
          <a:blip r:embed="rId8"/>
          <a:stretch>
            <a:fillRect/>
          </a:stretch>
        </p:blipFill>
        <p:spPr>
          <a:xfrm>
            <a:off x="3502660" y="-101600"/>
            <a:ext cx="817880" cy="1090507"/>
          </a:xfrm>
          <a:prstGeom prst="rect">
            <a:avLst/>
          </a:prstGeom>
        </p:spPr>
      </p:pic>
      <p:pic>
        <p:nvPicPr>
          <p:cNvPr id="27" name="图片 47">
            <a:extLst>
              <a:ext uri="{FF2B5EF4-FFF2-40B4-BE49-F238E27FC236}">
                <a16:creationId xmlns:a16="http://schemas.microsoft.com/office/drawing/2014/main" id="{4F06A334-0BCA-8172-4B12-9429DEA66EDB}"/>
              </a:ext>
            </a:extLst>
          </p:cNvPr>
          <p:cNvPicPr>
            <a:picLocks noChangeAspect="1"/>
          </p:cNvPicPr>
          <p:nvPr/>
        </p:nvPicPr>
        <p:blipFill>
          <a:blip r:embed="rId9"/>
          <a:stretch>
            <a:fillRect/>
          </a:stretch>
        </p:blipFill>
        <p:spPr>
          <a:xfrm>
            <a:off x="11310625" y="1508994"/>
            <a:ext cx="786553" cy="1049020"/>
          </a:xfrm>
          <a:prstGeom prst="rect">
            <a:avLst/>
          </a:prstGeom>
        </p:spPr>
      </p:pic>
    </p:spTree>
    <p:extLst>
      <p:ext uri="{BB962C8B-B14F-4D97-AF65-F5344CB8AC3E}">
        <p14:creationId xmlns:p14="http://schemas.microsoft.com/office/powerpoint/2010/main" val="2762445267"/>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par>
                                <p:cTn id="8" presetID="22" presetClass="entr" presetSubtype="8" fill="hold"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wipe(left)">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animEffect transition="in" filter="wipe(right)">
                                      <p:cBhvr>
                                        <p:cTn id="15" dur="500"/>
                                        <p:tgtEl>
                                          <p:spTgt spid="27"/>
                                        </p:tgtEl>
                                      </p:cBhvr>
                                    </p:animEffect>
                                  </p:childTnLst>
                                </p:cTn>
                              </p:par>
                              <p:par>
                                <p:cTn id="16" presetID="22" presetClass="entr" presetSubtype="2" fill="hold"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right)">
                                      <p:cBhvr>
                                        <p:cTn id="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74627F-8411-4B2A-2EB5-D175B559C363}"/>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ED4D6D64-A76D-596B-1661-53AAAA878D2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4561" y="0"/>
            <a:ext cx="6705942" cy="9049614"/>
          </a:xfrm>
          <a:prstGeom prst="rect">
            <a:avLst/>
          </a:prstGeom>
        </p:spPr>
      </p:pic>
      <p:sp>
        <p:nvSpPr>
          <p:cNvPr id="9" name="不完整圆 8">
            <a:extLst>
              <a:ext uri="{FF2B5EF4-FFF2-40B4-BE49-F238E27FC236}">
                <a16:creationId xmlns:a16="http://schemas.microsoft.com/office/drawing/2014/main" id="{888532F4-3749-0B43-A741-D0216A9D5AC5}"/>
              </a:ext>
            </a:extLst>
          </p:cNvPr>
          <p:cNvSpPr/>
          <p:nvPr/>
        </p:nvSpPr>
        <p:spPr>
          <a:xfrm rot="2506821">
            <a:off x="-1309097" y="-3529541"/>
            <a:ext cx="13859160" cy="13859160"/>
          </a:xfrm>
          <a:prstGeom prst="pie">
            <a:avLst/>
          </a:prstGeom>
          <a:solidFill>
            <a:schemeClr val="accent6">
              <a:lumMod val="60000"/>
              <a:lumOff val="40000"/>
            </a:schemeClr>
          </a:solidFill>
          <a:ln w="8890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nvGrpSpPr>
          <p:cNvPr id="28" name="组合 34">
            <a:extLst>
              <a:ext uri="{FF2B5EF4-FFF2-40B4-BE49-F238E27FC236}">
                <a16:creationId xmlns:a16="http://schemas.microsoft.com/office/drawing/2014/main" id="{D43C0545-A237-25B9-7F86-AE6E88485D1C}"/>
              </a:ext>
            </a:extLst>
          </p:cNvPr>
          <p:cNvGrpSpPr/>
          <p:nvPr/>
        </p:nvGrpSpPr>
        <p:grpSpPr>
          <a:xfrm>
            <a:off x="1166531" y="301839"/>
            <a:ext cx="5911602" cy="832274"/>
            <a:chOff x="2777" y="1669"/>
            <a:chExt cx="6469" cy="907"/>
          </a:xfrm>
        </p:grpSpPr>
        <p:pic>
          <p:nvPicPr>
            <p:cNvPr id="29" name="图片 25">
              <a:extLst>
                <a:ext uri="{FF2B5EF4-FFF2-40B4-BE49-F238E27FC236}">
                  <a16:creationId xmlns:a16="http://schemas.microsoft.com/office/drawing/2014/main" id="{EA405353-D391-DA7C-CB56-F5797FC3B2BC}"/>
                </a:ext>
              </a:extLst>
            </p:cNvPr>
            <p:cNvPicPr>
              <a:picLocks noChangeAspect="1"/>
            </p:cNvPicPr>
            <p:nvPr/>
          </p:nvPicPr>
          <p:blipFill>
            <a:blip r:embed="rId3">
              <a:alphaModFix/>
            </a:blip>
            <a:stretch>
              <a:fillRect/>
            </a:stretch>
          </p:blipFill>
          <p:spPr>
            <a:xfrm>
              <a:off x="2777" y="1669"/>
              <a:ext cx="6469" cy="907"/>
            </a:xfrm>
            <a:prstGeom prst="rect">
              <a:avLst/>
            </a:prstGeom>
          </p:spPr>
        </p:pic>
        <p:pic>
          <p:nvPicPr>
            <p:cNvPr id="30" name="图片 24">
              <a:extLst>
                <a:ext uri="{FF2B5EF4-FFF2-40B4-BE49-F238E27FC236}">
                  <a16:creationId xmlns:a16="http://schemas.microsoft.com/office/drawing/2014/main" id="{3D650AE0-DFDF-AF3E-8249-0893333212D8}"/>
                </a:ext>
              </a:extLst>
            </p:cNvPr>
            <p:cNvPicPr>
              <a:picLocks noChangeAspect="1"/>
            </p:cNvPicPr>
            <p:nvPr/>
          </p:nvPicPr>
          <p:blipFill>
            <a:blip r:embed="rId4">
              <a:alphaModFix/>
            </a:blip>
            <a:stretch>
              <a:fillRect/>
            </a:stretch>
          </p:blipFill>
          <p:spPr>
            <a:xfrm>
              <a:off x="2867" y="1752"/>
              <a:ext cx="6302" cy="710"/>
            </a:xfrm>
            <a:prstGeom prst="rect">
              <a:avLst/>
            </a:prstGeom>
          </p:spPr>
        </p:pic>
        <p:sp>
          <p:nvSpPr>
            <p:cNvPr id="31" name="文本框 28">
              <a:extLst>
                <a:ext uri="{FF2B5EF4-FFF2-40B4-BE49-F238E27FC236}">
                  <a16:creationId xmlns:a16="http://schemas.microsoft.com/office/drawing/2014/main" id="{D3F94CB4-1367-12B3-BBB7-4CB81CE3BF1A}"/>
                </a:ext>
              </a:extLst>
            </p:cNvPr>
            <p:cNvSpPr txBox="1"/>
            <p:nvPr/>
          </p:nvSpPr>
          <p:spPr>
            <a:xfrm>
              <a:off x="2954" y="1753"/>
              <a:ext cx="5841" cy="637"/>
            </a:xfrm>
            <a:prstGeom prst="rect">
              <a:avLst/>
            </a:prstGeom>
            <a:noFill/>
          </p:spPr>
          <p:txBody>
            <a:bodyPr wrap="square" rtlCol="0">
              <a:spAutoFit/>
            </a:bodyPr>
            <a:lstStyle/>
            <a:p>
              <a:r>
                <a:rPr lang="zh-CN" altLang="en-US" sz="1600" dirty="0">
                  <a:latin typeface="宋体" panose="02010600030101010101" pitchFamily="2" charset="-122"/>
                  <a:ea typeface="宋体" panose="02010600030101010101" pitchFamily="2" charset="-122"/>
                </a:rPr>
                <a:t>同学你好！很高兴您接受我们的采访，请问您对MBTI有了解吗？</a:t>
              </a:r>
            </a:p>
          </p:txBody>
        </p:sp>
      </p:grpSp>
      <p:grpSp>
        <p:nvGrpSpPr>
          <p:cNvPr id="48" name="组合 47">
            <a:extLst>
              <a:ext uri="{FF2B5EF4-FFF2-40B4-BE49-F238E27FC236}">
                <a16:creationId xmlns:a16="http://schemas.microsoft.com/office/drawing/2014/main" id="{3086FB59-EAEC-8587-C598-E924084FE9F1}"/>
              </a:ext>
            </a:extLst>
          </p:cNvPr>
          <p:cNvGrpSpPr/>
          <p:nvPr/>
        </p:nvGrpSpPr>
        <p:grpSpPr>
          <a:xfrm>
            <a:off x="125229" y="1459574"/>
            <a:ext cx="4966533" cy="4420836"/>
            <a:chOff x="4367105" y="1846578"/>
            <a:chExt cx="6522720" cy="3341250"/>
          </a:xfrm>
        </p:grpSpPr>
        <p:pic>
          <p:nvPicPr>
            <p:cNvPr id="32" name="图片 30">
              <a:extLst>
                <a:ext uri="{FF2B5EF4-FFF2-40B4-BE49-F238E27FC236}">
                  <a16:creationId xmlns:a16="http://schemas.microsoft.com/office/drawing/2014/main" id="{F5D5E6E4-7FB4-7A78-41D9-82C088D6DD84}"/>
                </a:ext>
              </a:extLst>
            </p:cNvPr>
            <p:cNvPicPr>
              <a:picLocks noChangeAspect="1"/>
            </p:cNvPicPr>
            <p:nvPr/>
          </p:nvPicPr>
          <p:blipFill>
            <a:blip r:embed="rId5">
              <a:alphaModFix/>
            </a:blip>
            <a:stretch>
              <a:fillRect/>
            </a:stretch>
          </p:blipFill>
          <p:spPr>
            <a:xfrm rot="10800000">
              <a:off x="4367105" y="1846578"/>
              <a:ext cx="6522720" cy="3341250"/>
            </a:xfrm>
            <a:prstGeom prst="rect">
              <a:avLst/>
            </a:prstGeom>
          </p:spPr>
        </p:pic>
        <p:pic>
          <p:nvPicPr>
            <p:cNvPr id="33" name="图片 29">
              <a:extLst>
                <a:ext uri="{FF2B5EF4-FFF2-40B4-BE49-F238E27FC236}">
                  <a16:creationId xmlns:a16="http://schemas.microsoft.com/office/drawing/2014/main" id="{F80E91FB-7DCB-89D6-829F-15B21CB191F7}"/>
                </a:ext>
              </a:extLst>
            </p:cNvPr>
            <p:cNvPicPr>
              <a:picLocks noChangeAspect="1"/>
            </p:cNvPicPr>
            <p:nvPr/>
          </p:nvPicPr>
          <p:blipFill>
            <a:blip r:embed="rId4">
              <a:alphaModFix/>
            </a:blip>
            <a:stretch>
              <a:fillRect/>
            </a:stretch>
          </p:blipFill>
          <p:spPr>
            <a:xfrm>
              <a:off x="4461087" y="1927014"/>
              <a:ext cx="6325447" cy="3137202"/>
            </a:xfrm>
            <a:prstGeom prst="rect">
              <a:avLst/>
            </a:prstGeom>
          </p:spPr>
        </p:pic>
        <p:sp>
          <p:nvSpPr>
            <p:cNvPr id="34" name="文本框 31">
              <a:extLst>
                <a:ext uri="{FF2B5EF4-FFF2-40B4-BE49-F238E27FC236}">
                  <a16:creationId xmlns:a16="http://schemas.microsoft.com/office/drawing/2014/main" id="{237D2BC7-B0A4-15C8-571E-7F09EBC66833}"/>
                </a:ext>
              </a:extLst>
            </p:cNvPr>
            <p:cNvSpPr txBox="1"/>
            <p:nvPr/>
          </p:nvSpPr>
          <p:spPr>
            <a:xfrm>
              <a:off x="4559299" y="1988821"/>
              <a:ext cx="6129020" cy="3130580"/>
            </a:xfrm>
            <a:prstGeom prst="rect">
              <a:avLst/>
            </a:prstGeom>
            <a:noFill/>
          </p:spPr>
          <p:txBody>
            <a:bodyPr wrap="square" rtlCol="0">
              <a:spAutoFit/>
            </a:bodyPr>
            <a:lstStyle/>
            <a:p>
              <a:pPr>
                <a:lnSpc>
                  <a:spcPct val="110000"/>
                </a:lnSpc>
              </a:pPr>
              <a:r>
                <a:rPr lang="zh-CN" altLang="en-US" sz="1600" dirty="0">
                  <a:latin typeface="宋体" panose="02010600030101010101" pitchFamily="2" charset="-122"/>
                  <a:ea typeface="宋体" panose="02010600030101010101" pitchFamily="2" charset="-122"/>
                </a:rPr>
                <a:t>    我并不完全否认MBTI，我认为它可以</a:t>
              </a:r>
              <a:r>
                <a:rPr lang="zh-CN" altLang="en-US" sz="1600" dirty="0">
                  <a:solidFill>
                    <a:srgbClr val="FF0000"/>
                  </a:solidFill>
                  <a:latin typeface="宋体" panose="02010600030101010101" pitchFamily="2" charset="-122"/>
                  <a:ea typeface="宋体" panose="02010600030101010101" pitchFamily="2" charset="-122"/>
                </a:rPr>
                <a:t>作为一个认知自我与外界的参照</a:t>
              </a:r>
              <a:r>
                <a:rPr lang="zh-CN" altLang="en-US" sz="1600" dirty="0">
                  <a:latin typeface="宋体" panose="02010600030101010101" pitchFamily="2" charset="-122"/>
                  <a:ea typeface="宋体" panose="02010600030101010101" pitchFamily="2" charset="-122"/>
                </a:rPr>
                <a:t>，有道理，但并不准确。比如我可能会像传统意义上的INFJ一样，不排斥聚会，但我内心可能更倾向独处，有时候沾染一点完美主义，又因为它而自我内耗，这或许算是较为贴切的方面了。</a:t>
              </a:r>
            </a:p>
            <a:p>
              <a:pPr>
                <a:lnSpc>
                  <a:spcPct val="110000"/>
                </a:lnSpc>
              </a:pPr>
              <a:r>
                <a:rPr lang="zh-CN" altLang="en-US" sz="1600" dirty="0">
                  <a:latin typeface="宋体" panose="02010600030101010101" pitchFamily="2" charset="-122"/>
                  <a:ea typeface="宋体" panose="02010600030101010101" pitchFamily="2" charset="-122"/>
                </a:rPr>
                <a:t>    但是都说INFJ早熟，能很早适应社会规则，我不以为然。我认为我一直在坚守自我，尽管有时显得格格不入。我谈过我的高考很烂，当时老师班主任轮流轰炸我，让我走清美的西方艺术理论，但是我还是选了南开，因为我最后想明白我其实没那么喜欢艺术，我无法把它作为一生的事业去热爱，那我就一定不会因为外界的一些看法而动摇，我很庆幸，我可以说这二十多年我在为内心而活，而不是像个讨好规则和世俗的INFJ</a:t>
              </a:r>
            </a:p>
          </p:txBody>
        </p:sp>
      </p:grpSp>
      <p:pic>
        <p:nvPicPr>
          <p:cNvPr id="40" name="图片 46">
            <a:extLst>
              <a:ext uri="{FF2B5EF4-FFF2-40B4-BE49-F238E27FC236}">
                <a16:creationId xmlns:a16="http://schemas.microsoft.com/office/drawing/2014/main" id="{8F6EC85B-D941-D215-9E6D-9906C8841EDA}"/>
              </a:ext>
            </a:extLst>
          </p:cNvPr>
          <p:cNvPicPr>
            <a:picLocks noChangeAspect="1"/>
          </p:cNvPicPr>
          <p:nvPr/>
        </p:nvPicPr>
        <p:blipFill>
          <a:blip r:embed="rId6"/>
          <a:stretch>
            <a:fillRect/>
          </a:stretch>
        </p:blipFill>
        <p:spPr>
          <a:xfrm>
            <a:off x="243639" y="221825"/>
            <a:ext cx="817880" cy="1090507"/>
          </a:xfrm>
          <a:prstGeom prst="rect">
            <a:avLst/>
          </a:prstGeom>
        </p:spPr>
      </p:pic>
      <p:pic>
        <p:nvPicPr>
          <p:cNvPr id="44" name="图片 3">
            <a:extLst>
              <a:ext uri="{FF2B5EF4-FFF2-40B4-BE49-F238E27FC236}">
                <a16:creationId xmlns:a16="http://schemas.microsoft.com/office/drawing/2014/main" id="{9CB67219-3D47-613B-D419-88C9E5E106EA}"/>
              </a:ext>
            </a:extLst>
          </p:cNvPr>
          <p:cNvPicPr>
            <a:picLocks noChangeAspect="1"/>
          </p:cNvPicPr>
          <p:nvPr/>
        </p:nvPicPr>
        <p:blipFill>
          <a:blip r:embed="rId7"/>
          <a:stretch>
            <a:fillRect/>
          </a:stretch>
        </p:blipFill>
        <p:spPr>
          <a:xfrm flipH="1">
            <a:off x="5557520" y="1396100"/>
            <a:ext cx="796713" cy="1062567"/>
          </a:xfrm>
          <a:prstGeom prst="rect">
            <a:avLst/>
          </a:prstGeom>
        </p:spPr>
      </p:pic>
    </p:spTree>
    <p:extLst>
      <p:ext uri="{BB962C8B-B14F-4D97-AF65-F5344CB8AC3E}">
        <p14:creationId xmlns:p14="http://schemas.microsoft.com/office/powerpoint/2010/main" val="67738078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500"/>
                                        <p:tgtEl>
                                          <p:spTgt spid="40"/>
                                        </p:tgtEl>
                                      </p:cBhvr>
                                    </p:animEffect>
                                  </p:childTnLst>
                                </p:cTn>
                              </p:par>
                              <p:par>
                                <p:cTn id="8" presetID="22" presetClass="entr" presetSubtype="8"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left)">
                                      <p:cBhvr>
                                        <p:cTn id="10" dur="5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48"/>
                                        </p:tgtEl>
                                        <p:attrNameLst>
                                          <p:attrName>style.visibility</p:attrName>
                                        </p:attrNameLst>
                                      </p:cBhvr>
                                      <p:to>
                                        <p:strVal val="visible"/>
                                      </p:to>
                                    </p:set>
                                    <p:animEffect transition="in" filter="wipe(right)">
                                      <p:cBhvr>
                                        <p:cTn id="15" dur="500"/>
                                        <p:tgtEl>
                                          <p:spTgt spid="48"/>
                                        </p:tgtEl>
                                      </p:cBhvr>
                                    </p:animEffect>
                                  </p:childTnLst>
                                </p:cTn>
                              </p:par>
                              <p:par>
                                <p:cTn id="16" presetID="22" presetClass="entr" presetSubtype="2" fill="hold" nodeType="withEffect">
                                  <p:stCondLst>
                                    <p:cond delay="0"/>
                                  </p:stCondLst>
                                  <p:childTnLst>
                                    <p:set>
                                      <p:cBhvr>
                                        <p:cTn id="17" dur="1" fill="hold">
                                          <p:stCondLst>
                                            <p:cond delay="0"/>
                                          </p:stCondLst>
                                        </p:cTn>
                                        <p:tgtEl>
                                          <p:spTgt spid="44"/>
                                        </p:tgtEl>
                                        <p:attrNameLst>
                                          <p:attrName>style.visibility</p:attrName>
                                        </p:attrNameLst>
                                      </p:cBhvr>
                                      <p:to>
                                        <p:strVal val="visible"/>
                                      </p:to>
                                    </p:set>
                                    <p:animEffect transition="in" filter="wipe(right)">
                                      <p:cBhvr>
                                        <p:cTn id="18"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399975-9AD7-DE85-C7E6-6FCCDCFD4927}"/>
            </a:ext>
          </a:extLst>
        </p:cNvPr>
        <p:cNvGrpSpPr/>
        <p:nvPr/>
      </p:nvGrpSpPr>
      <p:grpSpPr>
        <a:xfrm>
          <a:off x="0" y="0"/>
          <a:ext cx="0" cy="0"/>
          <a:chOff x="0" y="0"/>
          <a:chExt cx="0" cy="0"/>
        </a:xfrm>
      </p:grpSpPr>
      <p:pic>
        <p:nvPicPr>
          <p:cNvPr id="3" name="图片 2">
            <a:extLst>
              <a:ext uri="{FF2B5EF4-FFF2-40B4-BE49-F238E27FC236}">
                <a16:creationId xmlns:a16="http://schemas.microsoft.com/office/drawing/2014/main" id="{5A022232-A029-28C3-2A83-B10428FAF0B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604561" y="0"/>
            <a:ext cx="6705942" cy="9049614"/>
          </a:xfrm>
          <a:prstGeom prst="rect">
            <a:avLst/>
          </a:prstGeom>
        </p:spPr>
      </p:pic>
      <p:sp>
        <p:nvSpPr>
          <p:cNvPr id="2" name="不完整圆 1">
            <a:extLst>
              <a:ext uri="{FF2B5EF4-FFF2-40B4-BE49-F238E27FC236}">
                <a16:creationId xmlns:a16="http://schemas.microsoft.com/office/drawing/2014/main" id="{540046C5-7F87-0596-468D-D879FCEE9EB0}"/>
              </a:ext>
            </a:extLst>
          </p:cNvPr>
          <p:cNvSpPr/>
          <p:nvPr/>
        </p:nvSpPr>
        <p:spPr>
          <a:xfrm rot="2506821">
            <a:off x="-1309097" y="-3529541"/>
            <a:ext cx="13859160" cy="13859160"/>
          </a:xfrm>
          <a:prstGeom prst="pie">
            <a:avLst/>
          </a:prstGeom>
          <a:solidFill>
            <a:schemeClr val="accent6">
              <a:lumMod val="60000"/>
              <a:lumOff val="40000"/>
            </a:schemeClr>
          </a:solidFill>
          <a:ln w="88900">
            <a:solidFill>
              <a:schemeClr val="accent4">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grpSp>
        <p:nvGrpSpPr>
          <p:cNvPr id="28" name="组合 34">
            <a:extLst>
              <a:ext uri="{FF2B5EF4-FFF2-40B4-BE49-F238E27FC236}">
                <a16:creationId xmlns:a16="http://schemas.microsoft.com/office/drawing/2014/main" id="{E2ED9459-9B8C-05D0-4033-733966BDBFE5}"/>
              </a:ext>
            </a:extLst>
          </p:cNvPr>
          <p:cNvGrpSpPr/>
          <p:nvPr/>
        </p:nvGrpSpPr>
        <p:grpSpPr>
          <a:xfrm>
            <a:off x="1166531" y="301839"/>
            <a:ext cx="5144328" cy="538457"/>
            <a:chOff x="2777" y="1669"/>
            <a:chExt cx="6469" cy="907"/>
          </a:xfrm>
        </p:grpSpPr>
        <p:pic>
          <p:nvPicPr>
            <p:cNvPr id="29" name="图片 25">
              <a:extLst>
                <a:ext uri="{FF2B5EF4-FFF2-40B4-BE49-F238E27FC236}">
                  <a16:creationId xmlns:a16="http://schemas.microsoft.com/office/drawing/2014/main" id="{2A908EA8-2361-4DAF-2D0A-A3843EC0E79B}"/>
                </a:ext>
              </a:extLst>
            </p:cNvPr>
            <p:cNvPicPr>
              <a:picLocks noChangeAspect="1"/>
            </p:cNvPicPr>
            <p:nvPr/>
          </p:nvPicPr>
          <p:blipFill>
            <a:blip r:embed="rId3">
              <a:alphaModFix/>
            </a:blip>
            <a:stretch>
              <a:fillRect/>
            </a:stretch>
          </p:blipFill>
          <p:spPr>
            <a:xfrm>
              <a:off x="2777" y="1669"/>
              <a:ext cx="6469" cy="907"/>
            </a:xfrm>
            <a:prstGeom prst="rect">
              <a:avLst/>
            </a:prstGeom>
          </p:spPr>
        </p:pic>
        <p:pic>
          <p:nvPicPr>
            <p:cNvPr id="30" name="图片 24">
              <a:extLst>
                <a:ext uri="{FF2B5EF4-FFF2-40B4-BE49-F238E27FC236}">
                  <a16:creationId xmlns:a16="http://schemas.microsoft.com/office/drawing/2014/main" id="{3805B7F2-4F95-213F-0273-68AFB2EE20F8}"/>
                </a:ext>
              </a:extLst>
            </p:cNvPr>
            <p:cNvPicPr>
              <a:picLocks noChangeAspect="1"/>
            </p:cNvPicPr>
            <p:nvPr/>
          </p:nvPicPr>
          <p:blipFill>
            <a:blip r:embed="rId4">
              <a:alphaModFix/>
            </a:blip>
            <a:stretch>
              <a:fillRect/>
            </a:stretch>
          </p:blipFill>
          <p:spPr>
            <a:xfrm>
              <a:off x="2867" y="1752"/>
              <a:ext cx="6302" cy="710"/>
            </a:xfrm>
            <a:prstGeom prst="rect">
              <a:avLst/>
            </a:prstGeom>
          </p:spPr>
        </p:pic>
        <p:sp>
          <p:nvSpPr>
            <p:cNvPr id="31" name="文本框 28">
              <a:extLst>
                <a:ext uri="{FF2B5EF4-FFF2-40B4-BE49-F238E27FC236}">
                  <a16:creationId xmlns:a16="http://schemas.microsoft.com/office/drawing/2014/main" id="{72ADE16D-F7D8-0EF2-E25A-E9FB9C2B7DA2}"/>
                </a:ext>
              </a:extLst>
            </p:cNvPr>
            <p:cNvSpPr txBox="1"/>
            <p:nvPr/>
          </p:nvSpPr>
          <p:spPr>
            <a:xfrm>
              <a:off x="2954" y="1753"/>
              <a:ext cx="5841" cy="570"/>
            </a:xfrm>
            <a:prstGeom prst="rect">
              <a:avLst/>
            </a:prstGeom>
            <a:noFill/>
          </p:spPr>
          <p:txBody>
            <a:bodyPr wrap="square" rtlCol="0">
              <a:spAutoFit/>
            </a:bodyPr>
            <a:lstStyle/>
            <a:p>
              <a:r>
                <a:rPr lang="zh-CN" altLang="en-US" sz="1600" dirty="0">
                  <a:latin typeface="宋体" panose="02010600030101010101" pitchFamily="2" charset="-122"/>
                  <a:ea typeface="宋体" panose="02010600030101010101" pitchFamily="2" charset="-122"/>
                </a:rPr>
                <a:t>既然如此，您是否对MBTI是存疑的呢？</a:t>
              </a:r>
            </a:p>
          </p:txBody>
        </p:sp>
      </p:grpSp>
      <p:grpSp>
        <p:nvGrpSpPr>
          <p:cNvPr id="48" name="组合 47">
            <a:extLst>
              <a:ext uri="{FF2B5EF4-FFF2-40B4-BE49-F238E27FC236}">
                <a16:creationId xmlns:a16="http://schemas.microsoft.com/office/drawing/2014/main" id="{F52118F9-635A-8117-3794-1F95B23E278D}"/>
              </a:ext>
            </a:extLst>
          </p:cNvPr>
          <p:cNvGrpSpPr/>
          <p:nvPr/>
        </p:nvGrpSpPr>
        <p:grpSpPr>
          <a:xfrm>
            <a:off x="125230" y="1459575"/>
            <a:ext cx="4966533" cy="1969423"/>
            <a:chOff x="4367106" y="1846579"/>
            <a:chExt cx="6522720" cy="1488482"/>
          </a:xfrm>
        </p:grpSpPr>
        <p:pic>
          <p:nvPicPr>
            <p:cNvPr id="32" name="图片 30">
              <a:extLst>
                <a:ext uri="{FF2B5EF4-FFF2-40B4-BE49-F238E27FC236}">
                  <a16:creationId xmlns:a16="http://schemas.microsoft.com/office/drawing/2014/main" id="{1220A097-F4E9-AF23-9AB8-3618AF6D344B}"/>
                </a:ext>
              </a:extLst>
            </p:cNvPr>
            <p:cNvPicPr>
              <a:picLocks noChangeAspect="1"/>
            </p:cNvPicPr>
            <p:nvPr/>
          </p:nvPicPr>
          <p:blipFill>
            <a:blip r:embed="rId5">
              <a:alphaModFix/>
            </a:blip>
            <a:stretch>
              <a:fillRect/>
            </a:stretch>
          </p:blipFill>
          <p:spPr>
            <a:xfrm rot="10800000">
              <a:off x="4367106" y="1846579"/>
              <a:ext cx="6522720" cy="1488482"/>
            </a:xfrm>
            <a:prstGeom prst="rect">
              <a:avLst/>
            </a:prstGeom>
          </p:spPr>
        </p:pic>
        <p:pic>
          <p:nvPicPr>
            <p:cNvPr id="33" name="图片 29">
              <a:extLst>
                <a:ext uri="{FF2B5EF4-FFF2-40B4-BE49-F238E27FC236}">
                  <a16:creationId xmlns:a16="http://schemas.microsoft.com/office/drawing/2014/main" id="{11283541-7254-E544-B058-BBCAC268BDED}"/>
                </a:ext>
              </a:extLst>
            </p:cNvPr>
            <p:cNvPicPr>
              <a:picLocks noChangeAspect="1"/>
            </p:cNvPicPr>
            <p:nvPr/>
          </p:nvPicPr>
          <p:blipFill>
            <a:blip r:embed="rId4">
              <a:alphaModFix/>
            </a:blip>
            <a:stretch>
              <a:fillRect/>
            </a:stretch>
          </p:blipFill>
          <p:spPr>
            <a:xfrm>
              <a:off x="4461087" y="1927014"/>
              <a:ext cx="6325447" cy="1363606"/>
            </a:xfrm>
            <a:prstGeom prst="rect">
              <a:avLst/>
            </a:prstGeom>
          </p:spPr>
        </p:pic>
        <p:sp>
          <p:nvSpPr>
            <p:cNvPr id="34" name="文本框 31">
              <a:extLst>
                <a:ext uri="{FF2B5EF4-FFF2-40B4-BE49-F238E27FC236}">
                  <a16:creationId xmlns:a16="http://schemas.microsoft.com/office/drawing/2014/main" id="{1CF9A1D4-1868-2004-48D0-A6C34634BC68}"/>
                </a:ext>
              </a:extLst>
            </p:cNvPr>
            <p:cNvSpPr txBox="1"/>
            <p:nvPr/>
          </p:nvSpPr>
          <p:spPr>
            <a:xfrm>
              <a:off x="4559300" y="1988821"/>
              <a:ext cx="6129020" cy="1288259"/>
            </a:xfrm>
            <a:prstGeom prst="rect">
              <a:avLst/>
            </a:prstGeom>
            <a:noFill/>
          </p:spPr>
          <p:txBody>
            <a:bodyPr wrap="square" rtlCol="0">
              <a:spAutoFit/>
            </a:bodyPr>
            <a:lstStyle/>
            <a:p>
              <a:pPr>
                <a:lnSpc>
                  <a:spcPct val="110000"/>
                </a:lnSpc>
              </a:pPr>
              <a:r>
                <a:rPr lang="zh-CN" altLang="en-US" sz="1600" dirty="0">
                  <a:latin typeface="宋体" panose="02010600030101010101" pitchFamily="2" charset="-122"/>
                  <a:ea typeface="宋体" panose="02010600030101010101" pitchFamily="2" charset="-122"/>
                </a:rPr>
                <a:t>我可能一直对我自身感到好奇，所以其实我很早就有在关注人格测试的相关内容。像MBTI爆火之前，我也读到过荣格的《心理类型》，</a:t>
              </a:r>
              <a:r>
                <a:rPr lang="zh-CN" altLang="en-US" sz="1600" dirty="0">
                  <a:solidFill>
                    <a:srgbClr val="FF0000"/>
                  </a:solidFill>
                  <a:latin typeface="宋体" panose="02010600030101010101" pitchFamily="2" charset="-122"/>
                  <a:ea typeface="宋体" panose="02010600030101010101" pitchFamily="2" charset="-122"/>
                </a:rPr>
                <a:t>我们每个人都总是会喜欢问自己“我是谁”，但我们自己又难以回答，往往只能借助外界各种指标来定位自己</a:t>
              </a:r>
              <a:r>
                <a:rPr lang="zh-CN" altLang="en-US" sz="1600" dirty="0">
                  <a:latin typeface="宋体" panose="02010600030101010101" pitchFamily="2" charset="-122"/>
                  <a:ea typeface="宋体" panose="02010600030101010101" pitchFamily="2" charset="-122"/>
                </a:rPr>
                <a:t>，这很有趣，不是吗</a:t>
              </a:r>
              <a:r>
                <a:rPr lang="zh-CN" altLang="en-US" sz="1600" dirty="0"/>
                <a:t>？</a:t>
              </a:r>
            </a:p>
          </p:txBody>
        </p:sp>
      </p:grpSp>
      <p:grpSp>
        <p:nvGrpSpPr>
          <p:cNvPr id="35" name="组合 38">
            <a:extLst>
              <a:ext uri="{FF2B5EF4-FFF2-40B4-BE49-F238E27FC236}">
                <a16:creationId xmlns:a16="http://schemas.microsoft.com/office/drawing/2014/main" id="{772BB4F3-7AAA-E437-B95D-CF033D4C40F7}"/>
              </a:ext>
            </a:extLst>
          </p:cNvPr>
          <p:cNvGrpSpPr/>
          <p:nvPr/>
        </p:nvGrpSpPr>
        <p:grpSpPr>
          <a:xfrm>
            <a:off x="903202" y="3854078"/>
            <a:ext cx="5168433" cy="673311"/>
            <a:chOff x="2711" y="2036"/>
            <a:chExt cx="4196" cy="907"/>
          </a:xfrm>
        </p:grpSpPr>
        <p:pic>
          <p:nvPicPr>
            <p:cNvPr id="36" name="图片 39">
              <a:extLst>
                <a:ext uri="{FF2B5EF4-FFF2-40B4-BE49-F238E27FC236}">
                  <a16:creationId xmlns:a16="http://schemas.microsoft.com/office/drawing/2014/main" id="{9EE7B2F3-4C77-C6A1-A59E-BF383B566616}"/>
                </a:ext>
              </a:extLst>
            </p:cNvPr>
            <p:cNvPicPr>
              <a:picLocks noChangeAspect="1"/>
            </p:cNvPicPr>
            <p:nvPr/>
          </p:nvPicPr>
          <p:blipFill>
            <a:blip r:embed="rId3">
              <a:alphaModFix/>
            </a:blip>
            <a:stretch>
              <a:fillRect/>
            </a:stretch>
          </p:blipFill>
          <p:spPr>
            <a:xfrm>
              <a:off x="2711" y="2036"/>
              <a:ext cx="4196" cy="907"/>
            </a:xfrm>
            <a:prstGeom prst="rect">
              <a:avLst/>
            </a:prstGeom>
          </p:spPr>
        </p:pic>
        <p:pic>
          <p:nvPicPr>
            <p:cNvPr id="37" name="图片 40">
              <a:extLst>
                <a:ext uri="{FF2B5EF4-FFF2-40B4-BE49-F238E27FC236}">
                  <a16:creationId xmlns:a16="http://schemas.microsoft.com/office/drawing/2014/main" id="{24594825-B588-1188-095B-9B2908F1220E}"/>
                </a:ext>
              </a:extLst>
            </p:cNvPr>
            <p:cNvPicPr>
              <a:picLocks noChangeAspect="1"/>
            </p:cNvPicPr>
            <p:nvPr/>
          </p:nvPicPr>
          <p:blipFill>
            <a:blip r:embed="rId4">
              <a:alphaModFix/>
            </a:blip>
            <a:stretch>
              <a:fillRect/>
            </a:stretch>
          </p:blipFill>
          <p:spPr>
            <a:xfrm>
              <a:off x="2801" y="2119"/>
              <a:ext cx="4088" cy="710"/>
            </a:xfrm>
            <a:prstGeom prst="rect">
              <a:avLst/>
            </a:prstGeom>
          </p:spPr>
        </p:pic>
        <p:sp>
          <p:nvSpPr>
            <p:cNvPr id="38" name="文本框 41">
              <a:extLst>
                <a:ext uri="{FF2B5EF4-FFF2-40B4-BE49-F238E27FC236}">
                  <a16:creationId xmlns:a16="http://schemas.microsoft.com/office/drawing/2014/main" id="{7516AFEE-4F49-2475-3119-B7F19F10B71B}"/>
                </a:ext>
              </a:extLst>
            </p:cNvPr>
            <p:cNvSpPr txBox="1"/>
            <p:nvPr/>
          </p:nvSpPr>
          <p:spPr>
            <a:xfrm>
              <a:off x="2799" y="2047"/>
              <a:ext cx="3789" cy="788"/>
            </a:xfrm>
            <a:prstGeom prst="rect">
              <a:avLst/>
            </a:prstGeom>
            <a:noFill/>
          </p:spPr>
          <p:txBody>
            <a:bodyPr wrap="square" rtlCol="0">
              <a:spAutoFit/>
            </a:bodyPr>
            <a:lstStyle/>
            <a:p>
              <a:r>
                <a:rPr lang="zh-CN" altLang="en-US" sz="1600" dirty="0">
                  <a:latin typeface="宋体" panose="02010600030101010101" pitchFamily="2" charset="-122"/>
                  <a:ea typeface="宋体" panose="02010600030101010101" pitchFamily="2" charset="-122"/>
                  <a:sym typeface="+mn-ea"/>
                </a:rPr>
                <a:t>看来您对人格测试有很深的了解，那么您是如何看待MBTI对于自我认知和社会交往的意义呢？</a:t>
              </a:r>
            </a:p>
          </p:txBody>
        </p:sp>
      </p:grpSp>
      <p:pic>
        <p:nvPicPr>
          <p:cNvPr id="40" name="图片 46">
            <a:extLst>
              <a:ext uri="{FF2B5EF4-FFF2-40B4-BE49-F238E27FC236}">
                <a16:creationId xmlns:a16="http://schemas.microsoft.com/office/drawing/2014/main" id="{922F0179-C79F-B7F8-32D6-DB285DFA915E}"/>
              </a:ext>
            </a:extLst>
          </p:cNvPr>
          <p:cNvPicPr>
            <a:picLocks noChangeAspect="1"/>
          </p:cNvPicPr>
          <p:nvPr/>
        </p:nvPicPr>
        <p:blipFill>
          <a:blip r:embed="rId6"/>
          <a:stretch>
            <a:fillRect/>
          </a:stretch>
        </p:blipFill>
        <p:spPr>
          <a:xfrm>
            <a:off x="243639" y="221825"/>
            <a:ext cx="817880" cy="1090507"/>
          </a:xfrm>
          <a:prstGeom prst="rect">
            <a:avLst/>
          </a:prstGeom>
        </p:spPr>
      </p:pic>
      <p:grpSp>
        <p:nvGrpSpPr>
          <p:cNvPr id="49" name="组合 48">
            <a:extLst>
              <a:ext uri="{FF2B5EF4-FFF2-40B4-BE49-F238E27FC236}">
                <a16:creationId xmlns:a16="http://schemas.microsoft.com/office/drawing/2014/main" id="{465447A0-FFDD-AD39-C3D3-80E9FF2FCB6C}"/>
              </a:ext>
            </a:extLst>
          </p:cNvPr>
          <p:cNvGrpSpPr/>
          <p:nvPr/>
        </p:nvGrpSpPr>
        <p:grpSpPr>
          <a:xfrm>
            <a:off x="133772" y="5210222"/>
            <a:ext cx="6707295" cy="1969423"/>
            <a:chOff x="694267" y="3798992"/>
            <a:chExt cx="10992367" cy="1849967"/>
          </a:xfrm>
        </p:grpSpPr>
        <p:pic>
          <p:nvPicPr>
            <p:cNvPr id="39" name="图片 50">
              <a:extLst>
                <a:ext uri="{FF2B5EF4-FFF2-40B4-BE49-F238E27FC236}">
                  <a16:creationId xmlns:a16="http://schemas.microsoft.com/office/drawing/2014/main" id="{B4C90616-0915-5248-1598-52DF174B5441}"/>
                </a:ext>
              </a:extLst>
            </p:cNvPr>
            <p:cNvPicPr>
              <a:picLocks noChangeAspect="1"/>
            </p:cNvPicPr>
            <p:nvPr/>
          </p:nvPicPr>
          <p:blipFill>
            <a:blip r:embed="rId5">
              <a:alphaModFix/>
            </a:blip>
            <a:stretch>
              <a:fillRect/>
            </a:stretch>
          </p:blipFill>
          <p:spPr>
            <a:xfrm rot="10800000">
              <a:off x="694267" y="3798992"/>
              <a:ext cx="10992367" cy="1849967"/>
            </a:xfrm>
            <a:prstGeom prst="rect">
              <a:avLst/>
            </a:prstGeom>
          </p:spPr>
        </p:pic>
        <p:pic>
          <p:nvPicPr>
            <p:cNvPr id="41" name="图片 51">
              <a:extLst>
                <a:ext uri="{FF2B5EF4-FFF2-40B4-BE49-F238E27FC236}">
                  <a16:creationId xmlns:a16="http://schemas.microsoft.com/office/drawing/2014/main" id="{86BDE4DF-9B59-E850-AF89-90A1B972580A}"/>
                </a:ext>
              </a:extLst>
            </p:cNvPr>
            <p:cNvPicPr>
              <a:picLocks noChangeAspect="1"/>
            </p:cNvPicPr>
            <p:nvPr/>
          </p:nvPicPr>
          <p:blipFill>
            <a:blip r:embed="rId4">
              <a:alphaModFix/>
            </a:blip>
            <a:stretch>
              <a:fillRect/>
            </a:stretch>
          </p:blipFill>
          <p:spPr>
            <a:xfrm>
              <a:off x="826348" y="3903981"/>
              <a:ext cx="10738233" cy="1641687"/>
            </a:xfrm>
            <a:prstGeom prst="rect">
              <a:avLst/>
            </a:prstGeom>
          </p:spPr>
        </p:pic>
        <p:sp>
          <p:nvSpPr>
            <p:cNvPr id="42" name="文本框 33">
              <a:extLst>
                <a:ext uri="{FF2B5EF4-FFF2-40B4-BE49-F238E27FC236}">
                  <a16:creationId xmlns:a16="http://schemas.microsoft.com/office/drawing/2014/main" id="{B6725678-CD44-5C92-897E-B222417FDF71}"/>
                </a:ext>
              </a:extLst>
            </p:cNvPr>
            <p:cNvSpPr txBox="1"/>
            <p:nvPr/>
          </p:nvSpPr>
          <p:spPr>
            <a:xfrm>
              <a:off x="924572" y="3829680"/>
              <a:ext cx="10652722" cy="1311610"/>
            </a:xfrm>
            <a:prstGeom prst="rect">
              <a:avLst/>
            </a:prstGeom>
            <a:noFill/>
          </p:spPr>
          <p:txBody>
            <a:bodyPr wrap="square" rtlCol="0">
              <a:noAutofit/>
            </a:bodyPr>
            <a:lstStyle/>
            <a:p>
              <a:pPr>
                <a:lnSpc>
                  <a:spcPct val="120000"/>
                </a:lnSpc>
              </a:pPr>
              <a:r>
                <a:rPr lang="zh-CN" altLang="en-US" sz="1600" dirty="0">
                  <a:latin typeface="宋体" panose="02010600030101010101" pitchFamily="2" charset="-122"/>
                  <a:ea typeface="宋体" panose="02010600030101010101" pitchFamily="2" charset="-122"/>
                </a:rPr>
                <a:t>    MBTI或许能反映你人格的一部分，</a:t>
              </a:r>
              <a:r>
                <a:rPr lang="zh-CN" altLang="en-US" sz="1600" dirty="0">
                  <a:solidFill>
                    <a:srgbClr val="FF0000"/>
                  </a:solidFill>
                  <a:latin typeface="宋体" panose="02010600030101010101" pitchFamily="2" charset="-122"/>
                  <a:ea typeface="宋体" panose="02010600030101010101" pitchFamily="2" charset="-122"/>
                </a:rPr>
                <a:t>这有助于你认知自我</a:t>
              </a:r>
              <a:r>
                <a:rPr lang="zh-CN" altLang="en-US" sz="1600" dirty="0">
                  <a:latin typeface="宋体" panose="02010600030101010101" pitchFamily="2" charset="-122"/>
                  <a:ea typeface="宋体" panose="02010600030101010101" pitchFamily="2" charset="-122"/>
                </a:rPr>
                <a:t>，但它往往反映的很片面，这就致使你或许会不自觉</a:t>
              </a:r>
              <a:r>
                <a:rPr lang="zh-CN" altLang="en-US" sz="1600" dirty="0">
                  <a:solidFill>
                    <a:srgbClr val="FF0000"/>
                  </a:solidFill>
                  <a:latin typeface="宋体" panose="02010600030101010101" pitchFamily="2" charset="-122"/>
                  <a:ea typeface="宋体" panose="02010600030101010101" pitchFamily="2" charset="-122"/>
                </a:rPr>
                <a:t>走向MBTI为你刻画的人物画像，而不能自由地发现自己，交往他人</a:t>
              </a:r>
              <a:r>
                <a:rPr lang="zh-CN" altLang="en-US" sz="1600" dirty="0">
                  <a:latin typeface="宋体" panose="02010600030101010101" pitchFamily="2" charset="-122"/>
                  <a:ea typeface="宋体" panose="02010600030101010101" pitchFamily="2" charset="-122"/>
                </a:rPr>
                <a:t>。</a:t>
              </a:r>
            </a:p>
            <a:p>
              <a:pPr>
                <a:lnSpc>
                  <a:spcPct val="120000"/>
                </a:lnSpc>
              </a:pPr>
              <a:r>
                <a:rPr lang="zh-CN" altLang="en-US" sz="1600" dirty="0">
                  <a:latin typeface="宋体" panose="02010600030101010101" pitchFamily="2" charset="-122"/>
                  <a:ea typeface="宋体" panose="02010600030101010101" pitchFamily="2" charset="-122"/>
                </a:rPr>
                <a:t>    归根结底吧，MBTI只是一种工具，你可以自由地选择用或者不用，</a:t>
              </a:r>
              <a:r>
                <a:rPr lang="zh-CN" altLang="en-US" sz="1600" dirty="0">
                  <a:solidFill>
                    <a:srgbClr val="FF0000"/>
                  </a:solidFill>
                  <a:latin typeface="宋体" panose="02010600030101010101" pitchFamily="2" charset="-122"/>
                  <a:ea typeface="宋体" panose="02010600030101010101" pitchFamily="2" charset="-122"/>
                </a:rPr>
                <a:t>与其纠结它对人格社交的意义，不如去与真实的人去交流，真实地为自己生活。</a:t>
              </a:r>
            </a:p>
            <a:p>
              <a:pPr>
                <a:lnSpc>
                  <a:spcPct val="120000"/>
                </a:lnSpc>
              </a:pPr>
              <a:endParaRPr lang="zh-CN" altLang="en-US" sz="1600" dirty="0">
                <a:latin typeface="宋体" panose="02010600030101010101" pitchFamily="2" charset="-122"/>
                <a:ea typeface="宋体" panose="02010600030101010101" pitchFamily="2" charset="-122"/>
                <a:cs typeface="宋体" panose="02010600030101010101" pitchFamily="2" charset="-122"/>
              </a:endParaRPr>
            </a:p>
          </p:txBody>
        </p:sp>
      </p:grpSp>
      <p:pic>
        <p:nvPicPr>
          <p:cNvPr id="43" name="图片 52">
            <a:extLst>
              <a:ext uri="{FF2B5EF4-FFF2-40B4-BE49-F238E27FC236}">
                <a16:creationId xmlns:a16="http://schemas.microsoft.com/office/drawing/2014/main" id="{FC1FBDF7-0B6B-1A6C-2438-D94A867B4EC6}"/>
              </a:ext>
            </a:extLst>
          </p:cNvPr>
          <p:cNvPicPr>
            <a:picLocks noChangeAspect="1"/>
          </p:cNvPicPr>
          <p:nvPr/>
        </p:nvPicPr>
        <p:blipFill>
          <a:blip r:embed="rId6"/>
          <a:stretch>
            <a:fillRect/>
          </a:stretch>
        </p:blipFill>
        <p:spPr>
          <a:xfrm>
            <a:off x="0" y="3694636"/>
            <a:ext cx="817880" cy="1090507"/>
          </a:xfrm>
          <a:prstGeom prst="rect">
            <a:avLst/>
          </a:prstGeom>
        </p:spPr>
      </p:pic>
      <p:pic>
        <p:nvPicPr>
          <p:cNvPr id="44" name="图片 3">
            <a:extLst>
              <a:ext uri="{FF2B5EF4-FFF2-40B4-BE49-F238E27FC236}">
                <a16:creationId xmlns:a16="http://schemas.microsoft.com/office/drawing/2014/main" id="{7E40970A-D8B6-7562-B450-AC4349AA9D82}"/>
              </a:ext>
            </a:extLst>
          </p:cNvPr>
          <p:cNvPicPr>
            <a:picLocks noChangeAspect="1"/>
          </p:cNvPicPr>
          <p:nvPr/>
        </p:nvPicPr>
        <p:blipFill>
          <a:blip r:embed="rId7"/>
          <a:stretch>
            <a:fillRect/>
          </a:stretch>
        </p:blipFill>
        <p:spPr>
          <a:xfrm flipH="1">
            <a:off x="5557520" y="1396100"/>
            <a:ext cx="796713" cy="1062567"/>
          </a:xfrm>
          <a:prstGeom prst="rect">
            <a:avLst/>
          </a:prstGeom>
        </p:spPr>
      </p:pic>
      <p:pic>
        <p:nvPicPr>
          <p:cNvPr id="45" name="图片 4">
            <a:extLst>
              <a:ext uri="{FF2B5EF4-FFF2-40B4-BE49-F238E27FC236}">
                <a16:creationId xmlns:a16="http://schemas.microsoft.com/office/drawing/2014/main" id="{43A56D65-2D68-E9A0-6168-C2546B683383}"/>
              </a:ext>
            </a:extLst>
          </p:cNvPr>
          <p:cNvPicPr>
            <a:picLocks noChangeAspect="1"/>
          </p:cNvPicPr>
          <p:nvPr/>
        </p:nvPicPr>
        <p:blipFill>
          <a:blip r:embed="rId7"/>
          <a:stretch>
            <a:fillRect/>
          </a:stretch>
        </p:blipFill>
        <p:spPr>
          <a:xfrm flipH="1">
            <a:off x="6920025" y="5577322"/>
            <a:ext cx="778087" cy="1038860"/>
          </a:xfrm>
          <a:prstGeom prst="rect">
            <a:avLst/>
          </a:prstGeom>
        </p:spPr>
      </p:pic>
    </p:spTree>
    <p:extLst>
      <p:ext uri="{BB962C8B-B14F-4D97-AF65-F5344CB8AC3E}">
        <p14:creationId xmlns:p14="http://schemas.microsoft.com/office/powerpoint/2010/main" val="3044808086"/>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withEffect">
                                  <p:stCondLst>
                                    <p:cond delay="0"/>
                                  </p:stCondLst>
                                  <p:childTnLst>
                                    <p:set>
                                      <p:cBhvr>
                                        <p:cTn id="6" dur="1" fill="hold">
                                          <p:stCondLst>
                                            <p:cond delay="0"/>
                                          </p:stCondLst>
                                        </p:cTn>
                                        <p:tgtEl>
                                          <p:spTgt spid="40"/>
                                        </p:tgtEl>
                                        <p:attrNameLst>
                                          <p:attrName>style.visibility</p:attrName>
                                        </p:attrNameLst>
                                      </p:cBhvr>
                                      <p:to>
                                        <p:strVal val="visible"/>
                                      </p:to>
                                    </p:set>
                                    <p:animEffect transition="in" filter="wipe(left)">
                                      <p:cBhvr>
                                        <p:cTn id="7" dur="500"/>
                                        <p:tgtEl>
                                          <p:spTgt spid="40"/>
                                        </p:tgtEl>
                                      </p:cBhvr>
                                    </p:animEffect>
                                  </p:childTnLst>
                                </p:cTn>
                              </p:par>
                              <p:par>
                                <p:cTn id="8" presetID="22" presetClass="entr" presetSubtype="8" fill="hold"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wipe(left)">
                                      <p:cBhvr>
                                        <p:cTn id="10" dur="500"/>
                                        <p:tgtEl>
                                          <p:spTgt spid="28"/>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fill="hold" nodeType="click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wipe(right)">
                                      <p:cBhvr>
                                        <p:cTn id="15" dur="500"/>
                                        <p:tgtEl>
                                          <p:spTgt spid="44"/>
                                        </p:tgtEl>
                                      </p:cBhvr>
                                    </p:animEffect>
                                  </p:childTnLst>
                                </p:cTn>
                              </p:par>
                              <p:par>
                                <p:cTn id="16" presetID="22" presetClass="entr" presetSubtype="2" fill="hold" nodeType="withEffect">
                                  <p:stCondLst>
                                    <p:cond delay="0"/>
                                  </p:stCondLst>
                                  <p:childTnLst>
                                    <p:set>
                                      <p:cBhvr>
                                        <p:cTn id="17" dur="1" fill="hold">
                                          <p:stCondLst>
                                            <p:cond delay="0"/>
                                          </p:stCondLst>
                                        </p:cTn>
                                        <p:tgtEl>
                                          <p:spTgt spid="48"/>
                                        </p:tgtEl>
                                        <p:attrNameLst>
                                          <p:attrName>style.visibility</p:attrName>
                                        </p:attrNameLst>
                                      </p:cBhvr>
                                      <p:to>
                                        <p:strVal val="visible"/>
                                      </p:to>
                                    </p:set>
                                    <p:animEffect transition="in" filter="wipe(right)">
                                      <p:cBhvr>
                                        <p:cTn id="18" dur="500"/>
                                        <p:tgtEl>
                                          <p:spTgt spid="48"/>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8" fill="hold" nodeType="clickEffect">
                                  <p:stCondLst>
                                    <p:cond delay="0"/>
                                  </p:stCondLst>
                                  <p:childTnLst>
                                    <p:set>
                                      <p:cBhvr>
                                        <p:cTn id="22" dur="1" fill="hold">
                                          <p:stCondLst>
                                            <p:cond delay="0"/>
                                          </p:stCondLst>
                                        </p:cTn>
                                        <p:tgtEl>
                                          <p:spTgt spid="43"/>
                                        </p:tgtEl>
                                        <p:attrNameLst>
                                          <p:attrName>style.visibility</p:attrName>
                                        </p:attrNameLst>
                                      </p:cBhvr>
                                      <p:to>
                                        <p:strVal val="visible"/>
                                      </p:to>
                                    </p:set>
                                    <p:animEffect transition="in" filter="wipe(left)">
                                      <p:cBhvr>
                                        <p:cTn id="23" dur="500"/>
                                        <p:tgtEl>
                                          <p:spTgt spid="43"/>
                                        </p:tgtEl>
                                      </p:cBhvr>
                                    </p:animEffect>
                                  </p:childTnLst>
                                </p:cTn>
                              </p:par>
                              <p:par>
                                <p:cTn id="24" presetID="22" presetClass="entr" presetSubtype="8" fill="hold" nodeType="withEffect">
                                  <p:stCondLst>
                                    <p:cond delay="0"/>
                                  </p:stCondLst>
                                  <p:childTnLst>
                                    <p:set>
                                      <p:cBhvr>
                                        <p:cTn id="25" dur="1" fill="hold">
                                          <p:stCondLst>
                                            <p:cond delay="0"/>
                                          </p:stCondLst>
                                        </p:cTn>
                                        <p:tgtEl>
                                          <p:spTgt spid="35"/>
                                        </p:tgtEl>
                                        <p:attrNameLst>
                                          <p:attrName>style.visibility</p:attrName>
                                        </p:attrNameLst>
                                      </p:cBhvr>
                                      <p:to>
                                        <p:strVal val="visible"/>
                                      </p:to>
                                    </p:set>
                                    <p:animEffect transition="in" filter="wipe(left)">
                                      <p:cBhvr>
                                        <p:cTn id="26" dur="500"/>
                                        <p:tgtEl>
                                          <p:spTgt spid="35"/>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2" fill="hold" nodeType="clickEffect">
                                  <p:stCondLst>
                                    <p:cond delay="0"/>
                                  </p:stCondLst>
                                  <p:childTnLst>
                                    <p:set>
                                      <p:cBhvr>
                                        <p:cTn id="30" dur="1" fill="hold">
                                          <p:stCondLst>
                                            <p:cond delay="0"/>
                                          </p:stCondLst>
                                        </p:cTn>
                                        <p:tgtEl>
                                          <p:spTgt spid="45"/>
                                        </p:tgtEl>
                                        <p:attrNameLst>
                                          <p:attrName>style.visibility</p:attrName>
                                        </p:attrNameLst>
                                      </p:cBhvr>
                                      <p:to>
                                        <p:strVal val="visible"/>
                                      </p:to>
                                    </p:set>
                                    <p:animEffect transition="in" filter="wipe(right)">
                                      <p:cBhvr>
                                        <p:cTn id="31" dur="500"/>
                                        <p:tgtEl>
                                          <p:spTgt spid="45"/>
                                        </p:tgtEl>
                                      </p:cBhvr>
                                    </p:animEffect>
                                  </p:childTnLst>
                                </p:cTn>
                              </p:par>
                              <p:par>
                                <p:cTn id="32" presetID="22" presetClass="entr" presetSubtype="2" fill="hold" nodeType="withEffect">
                                  <p:stCondLst>
                                    <p:cond delay="0"/>
                                  </p:stCondLst>
                                  <p:childTnLst>
                                    <p:set>
                                      <p:cBhvr>
                                        <p:cTn id="33" dur="1" fill="hold">
                                          <p:stCondLst>
                                            <p:cond delay="0"/>
                                          </p:stCondLst>
                                        </p:cTn>
                                        <p:tgtEl>
                                          <p:spTgt spid="49"/>
                                        </p:tgtEl>
                                        <p:attrNameLst>
                                          <p:attrName>style.visibility</p:attrName>
                                        </p:attrNameLst>
                                      </p:cBhvr>
                                      <p:to>
                                        <p:strVal val="visible"/>
                                      </p:to>
                                    </p:set>
                                    <p:animEffect transition="in" filter="wipe(right)">
                                      <p:cBhvr>
                                        <p:cTn id="34"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 r="-1000"/>
          </a:stretch>
        </a:blipFill>
        <a:effectLst/>
      </p:bgPr>
    </p:bg>
    <p:spTree>
      <p:nvGrpSpPr>
        <p:cNvPr id="1" name="">
          <a:extLst>
            <a:ext uri="{FF2B5EF4-FFF2-40B4-BE49-F238E27FC236}">
              <a16:creationId xmlns:a16="http://schemas.microsoft.com/office/drawing/2014/main" id="{5C48A2FA-3479-794C-2C1D-3F054F857805}"/>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F3FE9755-C5BD-0ABE-5DF6-23ED626CE24C}"/>
              </a:ext>
            </a:extLst>
          </p:cNvPr>
          <p:cNvSpPr/>
          <p:nvPr/>
        </p:nvSpPr>
        <p:spPr>
          <a:xfrm>
            <a:off x="0" y="0"/>
            <a:ext cx="12192000" cy="6858000"/>
          </a:xfrm>
          <a:prstGeom prst="rect">
            <a:avLst/>
          </a:prstGeom>
          <a:gradFill>
            <a:gsLst>
              <a:gs pos="0">
                <a:schemeClr val="tx1"/>
              </a:gs>
              <a:gs pos="95402">
                <a:schemeClr val="bg1">
                  <a:alpha val="71000"/>
                </a:schemeClr>
              </a:gs>
              <a:gs pos="66000">
                <a:schemeClr val="bg2">
                  <a:alpha val="60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a16="http://schemas.microsoft.com/office/drawing/2014/main" id="{3BD366F2-3B51-DB06-7D0C-B840480ED609}"/>
              </a:ext>
            </a:extLst>
          </p:cNvPr>
          <p:cNvSpPr txBox="1"/>
          <p:nvPr/>
        </p:nvSpPr>
        <p:spPr>
          <a:xfrm>
            <a:off x="609600" y="1422400"/>
            <a:ext cx="3486852" cy="2554545"/>
          </a:xfrm>
          <a:prstGeom prst="rect">
            <a:avLst/>
          </a:prstGeom>
          <a:noFill/>
        </p:spPr>
        <p:txBody>
          <a:bodyPr wrap="none" rtlCol="0">
            <a:spAutoFit/>
          </a:bodyPr>
          <a:lstStyle/>
          <a:p>
            <a:r>
              <a:rPr lang="en-US" altLang="zh-CN" sz="8000" dirty="0">
                <a:solidFill>
                  <a:schemeClr val="bg1"/>
                </a:solidFill>
                <a:latin typeface="Segoe UI Black" panose="020B0A02040204020203" pitchFamily="34" charset="0"/>
                <a:ea typeface="Segoe UI Black" panose="020B0A02040204020203" pitchFamily="34" charset="0"/>
              </a:rPr>
              <a:t>  MBTI</a:t>
            </a:r>
          </a:p>
          <a:p>
            <a:r>
              <a:rPr lang="zh-CN" altLang="en-US" sz="8000" dirty="0">
                <a:solidFill>
                  <a:schemeClr val="bg1"/>
                </a:solidFill>
                <a:latin typeface="程荣光刻楷" panose="03000503000000000000" pitchFamily="66" charset="-122"/>
                <a:ea typeface="程荣光刻楷" panose="03000503000000000000" pitchFamily="66" charset="-122"/>
              </a:rPr>
              <a:t>   </a:t>
            </a:r>
          </a:p>
        </p:txBody>
      </p:sp>
      <p:sp useBgFill="1">
        <p:nvSpPr>
          <p:cNvPr id="11" name="任意多边形: 形状 10">
            <a:extLst>
              <a:ext uri="{FF2B5EF4-FFF2-40B4-BE49-F238E27FC236}">
                <a16:creationId xmlns:a16="http://schemas.microsoft.com/office/drawing/2014/main" id="{D082877D-B8BE-8231-AB25-13C76A2FBDF8}"/>
              </a:ext>
            </a:extLst>
          </p:cNvPr>
          <p:cNvSpPr>
            <a:spLocks noChangeAspect="1"/>
          </p:cNvSpPr>
          <p:nvPr/>
        </p:nvSpPr>
        <p:spPr>
          <a:xfrm rot="2613231">
            <a:off x="6225540" y="-1516526"/>
            <a:ext cx="9943239" cy="9941062"/>
          </a:xfrm>
          <a:custGeom>
            <a:avLst/>
            <a:gdLst>
              <a:gd name="connsiteX0" fmla="*/ 3914303 w 5232096"/>
              <a:gd name="connsiteY0" fmla="*/ 2797508 h 5230950"/>
              <a:gd name="connsiteX1" fmla="*/ 5232096 w 5232096"/>
              <a:gd name="connsiteY1" fmla="*/ 2797508 h 5230950"/>
              <a:gd name="connsiteX2" fmla="*/ 5228793 w 5232096"/>
              <a:gd name="connsiteY2" fmla="*/ 2867273 h 5230950"/>
              <a:gd name="connsiteX3" fmla="*/ 2884405 w 5232096"/>
              <a:gd name="connsiteY3" fmla="*/ 5226591 h 5230950"/>
              <a:gd name="connsiteX4" fmla="*/ 2798081 w 5232096"/>
              <a:gd name="connsiteY4" fmla="*/ 5230950 h 5230950"/>
              <a:gd name="connsiteX5" fmla="*/ 2798081 w 5232096"/>
              <a:gd name="connsiteY5" fmla="*/ 3913730 h 5230950"/>
              <a:gd name="connsiteX6" fmla="*/ 2880529 w 5232096"/>
              <a:gd name="connsiteY6" fmla="*/ 3901147 h 5230950"/>
              <a:gd name="connsiteX7" fmla="*/ 3901720 w 5232096"/>
              <a:gd name="connsiteY7" fmla="*/ 2879956 h 5230950"/>
              <a:gd name="connsiteX8" fmla="*/ 0 w 5232096"/>
              <a:gd name="connsiteY8" fmla="*/ 2797508 h 5230950"/>
              <a:gd name="connsiteX9" fmla="*/ 1317793 w 5232096"/>
              <a:gd name="connsiteY9" fmla="*/ 2797508 h 5230950"/>
              <a:gd name="connsiteX10" fmla="*/ 1330376 w 5232096"/>
              <a:gd name="connsiteY10" fmla="*/ 2879956 h 5230950"/>
              <a:gd name="connsiteX11" fmla="*/ 2351567 w 5232096"/>
              <a:gd name="connsiteY11" fmla="*/ 3901147 h 5230950"/>
              <a:gd name="connsiteX12" fmla="*/ 2434015 w 5232096"/>
              <a:gd name="connsiteY12" fmla="*/ 3913730 h 5230950"/>
              <a:gd name="connsiteX13" fmla="*/ 2434015 w 5232096"/>
              <a:gd name="connsiteY13" fmla="*/ 5230950 h 5230950"/>
              <a:gd name="connsiteX14" fmla="*/ 2347691 w 5232096"/>
              <a:gd name="connsiteY14" fmla="*/ 5226591 h 5230950"/>
              <a:gd name="connsiteX15" fmla="*/ 3303 w 5232096"/>
              <a:gd name="connsiteY15" fmla="*/ 2867273 h 5230950"/>
              <a:gd name="connsiteX16" fmla="*/ 2798081 w 5232096"/>
              <a:gd name="connsiteY16" fmla="*/ 0 h 5230950"/>
              <a:gd name="connsiteX17" fmla="*/ 2884405 w 5232096"/>
              <a:gd name="connsiteY17" fmla="*/ 4359 h 5230950"/>
              <a:gd name="connsiteX18" fmla="*/ 5228793 w 5232096"/>
              <a:gd name="connsiteY18" fmla="*/ 2363677 h 5230950"/>
              <a:gd name="connsiteX19" fmla="*/ 5232096 w 5232096"/>
              <a:gd name="connsiteY19" fmla="*/ 2433442 h 5230950"/>
              <a:gd name="connsiteX20" fmla="*/ 3914303 w 5232096"/>
              <a:gd name="connsiteY20" fmla="*/ 2433442 h 5230950"/>
              <a:gd name="connsiteX21" fmla="*/ 3901720 w 5232096"/>
              <a:gd name="connsiteY21" fmla="*/ 2350994 h 5230950"/>
              <a:gd name="connsiteX22" fmla="*/ 2880529 w 5232096"/>
              <a:gd name="connsiteY22" fmla="*/ 1329803 h 5230950"/>
              <a:gd name="connsiteX23" fmla="*/ 2798081 w 5232096"/>
              <a:gd name="connsiteY23" fmla="*/ 1317220 h 5230950"/>
              <a:gd name="connsiteX24" fmla="*/ 2434015 w 5232096"/>
              <a:gd name="connsiteY24" fmla="*/ 0 h 5230950"/>
              <a:gd name="connsiteX25" fmla="*/ 2434015 w 5232096"/>
              <a:gd name="connsiteY25" fmla="*/ 1317220 h 5230950"/>
              <a:gd name="connsiteX26" fmla="*/ 2351567 w 5232096"/>
              <a:gd name="connsiteY26" fmla="*/ 1329803 h 5230950"/>
              <a:gd name="connsiteX27" fmla="*/ 1330376 w 5232096"/>
              <a:gd name="connsiteY27" fmla="*/ 2350994 h 5230950"/>
              <a:gd name="connsiteX28" fmla="*/ 1317793 w 5232096"/>
              <a:gd name="connsiteY28" fmla="*/ 2433442 h 5230950"/>
              <a:gd name="connsiteX29" fmla="*/ 0 w 5232096"/>
              <a:gd name="connsiteY29" fmla="*/ 2433442 h 5230950"/>
              <a:gd name="connsiteX30" fmla="*/ 3303 w 5232096"/>
              <a:gd name="connsiteY30" fmla="*/ 2363677 h 5230950"/>
              <a:gd name="connsiteX31" fmla="*/ 2347691 w 5232096"/>
              <a:gd name="connsiteY31" fmla="*/ 4359 h 5230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232096" h="5230950">
                <a:moveTo>
                  <a:pt x="3914303" y="2797508"/>
                </a:moveTo>
                <a:lnTo>
                  <a:pt x="5232096" y="2797508"/>
                </a:lnTo>
                <a:lnTo>
                  <a:pt x="5228793" y="2867273"/>
                </a:lnTo>
                <a:cubicBezTo>
                  <a:pt x="5110479" y="4110318"/>
                  <a:pt x="4125191" y="5100583"/>
                  <a:pt x="2884405" y="5226591"/>
                </a:cubicBezTo>
                <a:lnTo>
                  <a:pt x="2798081" y="5230950"/>
                </a:lnTo>
                <a:lnTo>
                  <a:pt x="2798081" y="3913730"/>
                </a:lnTo>
                <a:lnTo>
                  <a:pt x="2880529" y="3901147"/>
                </a:lnTo>
                <a:cubicBezTo>
                  <a:pt x="3393108" y="3796258"/>
                  <a:pt x="3796831" y="3392535"/>
                  <a:pt x="3901720" y="2879956"/>
                </a:cubicBezTo>
                <a:close/>
                <a:moveTo>
                  <a:pt x="0" y="2797508"/>
                </a:moveTo>
                <a:lnTo>
                  <a:pt x="1317793" y="2797508"/>
                </a:lnTo>
                <a:lnTo>
                  <a:pt x="1330376" y="2879956"/>
                </a:lnTo>
                <a:cubicBezTo>
                  <a:pt x="1435265" y="3392535"/>
                  <a:pt x="1838988" y="3796258"/>
                  <a:pt x="2351567" y="3901147"/>
                </a:cubicBezTo>
                <a:lnTo>
                  <a:pt x="2434015" y="3913730"/>
                </a:lnTo>
                <a:lnTo>
                  <a:pt x="2434015" y="5230950"/>
                </a:lnTo>
                <a:lnTo>
                  <a:pt x="2347691" y="5226591"/>
                </a:lnTo>
                <a:cubicBezTo>
                  <a:pt x="1106905" y="5100583"/>
                  <a:pt x="121617" y="4110318"/>
                  <a:pt x="3303" y="2867273"/>
                </a:cubicBezTo>
                <a:close/>
                <a:moveTo>
                  <a:pt x="2798081" y="0"/>
                </a:moveTo>
                <a:lnTo>
                  <a:pt x="2884405" y="4359"/>
                </a:lnTo>
                <a:cubicBezTo>
                  <a:pt x="4125191" y="130368"/>
                  <a:pt x="5110479" y="1120633"/>
                  <a:pt x="5228793" y="2363677"/>
                </a:cubicBezTo>
                <a:lnTo>
                  <a:pt x="5232096" y="2433442"/>
                </a:lnTo>
                <a:lnTo>
                  <a:pt x="3914303" y="2433442"/>
                </a:lnTo>
                <a:lnTo>
                  <a:pt x="3901720" y="2350994"/>
                </a:lnTo>
                <a:cubicBezTo>
                  <a:pt x="3796831" y="1838415"/>
                  <a:pt x="3393108" y="1434692"/>
                  <a:pt x="2880529" y="1329803"/>
                </a:cubicBezTo>
                <a:lnTo>
                  <a:pt x="2798081" y="1317220"/>
                </a:lnTo>
                <a:close/>
                <a:moveTo>
                  <a:pt x="2434015" y="0"/>
                </a:moveTo>
                <a:lnTo>
                  <a:pt x="2434015" y="1317220"/>
                </a:lnTo>
                <a:lnTo>
                  <a:pt x="2351567" y="1329803"/>
                </a:lnTo>
                <a:cubicBezTo>
                  <a:pt x="1838988" y="1434692"/>
                  <a:pt x="1435265" y="1838415"/>
                  <a:pt x="1330376" y="2350994"/>
                </a:cubicBezTo>
                <a:lnTo>
                  <a:pt x="1317793" y="2433442"/>
                </a:lnTo>
                <a:lnTo>
                  <a:pt x="0" y="2433442"/>
                </a:lnTo>
                <a:lnTo>
                  <a:pt x="3303" y="2363677"/>
                </a:lnTo>
                <a:cubicBezTo>
                  <a:pt x="121617" y="1120633"/>
                  <a:pt x="1106905" y="130368"/>
                  <a:pt x="2347691" y="4359"/>
                </a:cubicBezTo>
                <a:close/>
              </a:path>
            </a:pathLst>
          </a:custGeom>
          <a:ln>
            <a:noFill/>
          </a:ln>
          <a:effectLst>
            <a:outerShdw blurRad="508000" sx="102000" sy="102000" algn="ctr" rotWithShape="0">
              <a:prstClr val="black">
                <a:alpha val="7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4" name="文本框 3">
            <a:extLst>
              <a:ext uri="{FF2B5EF4-FFF2-40B4-BE49-F238E27FC236}">
                <a16:creationId xmlns:a16="http://schemas.microsoft.com/office/drawing/2014/main" id="{F01B3CFB-05FA-8F94-D18F-37DE58F043DB}"/>
              </a:ext>
            </a:extLst>
          </p:cNvPr>
          <p:cNvSpPr txBox="1"/>
          <p:nvPr/>
        </p:nvSpPr>
        <p:spPr>
          <a:xfrm>
            <a:off x="609600" y="1422400"/>
            <a:ext cx="4288353" cy="3785652"/>
          </a:xfrm>
          <a:prstGeom prst="rect">
            <a:avLst/>
          </a:prstGeom>
          <a:noFill/>
        </p:spPr>
        <p:txBody>
          <a:bodyPr wrap="none" rtlCol="0">
            <a:spAutoFit/>
          </a:bodyPr>
          <a:lstStyle/>
          <a:p>
            <a:r>
              <a:rPr lang="en-US" altLang="zh-CN" sz="8000" dirty="0">
                <a:solidFill>
                  <a:schemeClr val="bg1"/>
                </a:solidFill>
                <a:latin typeface="Segoe UI Black" panose="020B0A02040204020203" pitchFamily="34" charset="0"/>
                <a:ea typeface="Segoe UI Black" panose="020B0A02040204020203" pitchFamily="34" charset="0"/>
              </a:rPr>
              <a:t>  </a:t>
            </a:r>
          </a:p>
          <a:p>
            <a:r>
              <a:rPr lang="zh-CN" altLang="en-US" sz="8000" dirty="0">
                <a:solidFill>
                  <a:schemeClr val="bg1"/>
                </a:solidFill>
                <a:latin typeface="程荣光刻楷" panose="03000503000000000000" pitchFamily="66" charset="-122"/>
                <a:ea typeface="程荣光刻楷" panose="03000503000000000000" pitchFamily="66" charset="-122"/>
              </a:rPr>
              <a:t>   与</a:t>
            </a:r>
            <a:endParaRPr lang="en-US" altLang="zh-CN" sz="8000" dirty="0">
              <a:solidFill>
                <a:schemeClr val="bg1"/>
              </a:solidFill>
              <a:latin typeface="程荣光刻楷" panose="03000503000000000000" pitchFamily="66" charset="-122"/>
              <a:ea typeface="程荣光刻楷" panose="03000503000000000000" pitchFamily="66" charset="-122"/>
            </a:endParaRPr>
          </a:p>
          <a:p>
            <a:r>
              <a:rPr lang="zh-CN" altLang="en-US" sz="8000" dirty="0">
                <a:solidFill>
                  <a:schemeClr val="bg1"/>
                </a:solidFill>
                <a:latin typeface="程荣光刻楷" panose="03000503000000000000" pitchFamily="66" charset="-122"/>
                <a:ea typeface="程荣光刻楷" panose="03000503000000000000" pitchFamily="66" charset="-122"/>
              </a:rPr>
              <a:t>认识自我</a:t>
            </a:r>
          </a:p>
        </p:txBody>
      </p:sp>
    </p:spTree>
    <p:extLst>
      <p:ext uri="{BB962C8B-B14F-4D97-AF65-F5344CB8AC3E}">
        <p14:creationId xmlns:p14="http://schemas.microsoft.com/office/powerpoint/2010/main" val="403770007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6" presetClass="entr" presetSubtype="0" fill="hold" grpId="0" nodeType="clickEffect">
                                  <p:stCondLst>
                                    <p:cond delay="0"/>
                                  </p:stCondLst>
                                  <p:iterate type="lt">
                                    <p:tmPct val="10000"/>
                                  </p:iterate>
                                  <p:childTnLst>
                                    <p:set>
                                      <p:cBhvr>
                                        <p:cTn id="6" dur="1" fill="hold">
                                          <p:stCondLst>
                                            <p:cond delay="0"/>
                                          </p:stCondLst>
                                        </p:cTn>
                                        <p:tgtEl>
                                          <p:spTgt spid="15"/>
                                        </p:tgtEl>
                                        <p:attrNameLst>
                                          <p:attrName>style.visibility</p:attrName>
                                        </p:attrNameLst>
                                      </p:cBhvr>
                                      <p:to>
                                        <p:strVal val="visible"/>
                                      </p:to>
                                    </p:set>
                                    <p:anim by="(-#ppt_w*2)" calcmode="lin" valueType="num">
                                      <p:cBhvr rctx="PPT">
                                        <p:cTn id="7" dur="500" autoRev="1" fill="hold">
                                          <p:stCondLst>
                                            <p:cond delay="0"/>
                                          </p:stCondLst>
                                        </p:cTn>
                                        <p:tgtEl>
                                          <p:spTgt spid="15"/>
                                        </p:tgtEl>
                                        <p:attrNameLst>
                                          <p:attrName>ppt_w</p:attrName>
                                        </p:attrNameLst>
                                      </p:cBhvr>
                                    </p:anim>
                                    <p:anim by="(#ppt_w*0.50)" calcmode="lin" valueType="num">
                                      <p:cBhvr>
                                        <p:cTn id="8" dur="500" decel="50000" autoRev="1" fill="hold">
                                          <p:stCondLst>
                                            <p:cond delay="0"/>
                                          </p:stCondLst>
                                        </p:cTn>
                                        <p:tgtEl>
                                          <p:spTgt spid="15"/>
                                        </p:tgtEl>
                                        <p:attrNameLst>
                                          <p:attrName>ppt_x</p:attrName>
                                        </p:attrNameLst>
                                      </p:cBhvr>
                                    </p:anim>
                                    <p:anim from="(-#ppt_h/2)" to="(#ppt_y)" calcmode="lin" valueType="num">
                                      <p:cBhvr>
                                        <p:cTn id="9" dur="1000" fill="hold">
                                          <p:stCondLst>
                                            <p:cond delay="0"/>
                                          </p:stCondLst>
                                        </p:cTn>
                                        <p:tgtEl>
                                          <p:spTgt spid="15"/>
                                        </p:tgtEl>
                                        <p:attrNameLst>
                                          <p:attrName>ppt_y</p:attrName>
                                        </p:attrNameLst>
                                      </p:cBhvr>
                                    </p:anim>
                                    <p:animRot by="21600000">
                                      <p:cBhvr>
                                        <p:cTn id="10" dur="1000" fill="hold">
                                          <p:stCondLst>
                                            <p:cond delay="0"/>
                                          </p:stCondLst>
                                        </p:cTn>
                                        <p:tgtEl>
                                          <p:spTgt spid="15"/>
                                        </p:tgtEl>
                                        <p:attrNameLst>
                                          <p:attrName>r</p:attrName>
                                        </p:attrNameLst>
                                      </p:cBhvr>
                                    </p:animRot>
                                  </p:childTnLst>
                                </p:cTn>
                              </p:par>
                              <p:par>
                                <p:cTn id="11" presetID="41" presetClass="entr" presetSubtype="0" fill="hold" grpId="1" nodeType="withEffect">
                                  <p:stCondLst>
                                    <p:cond delay="0"/>
                                  </p:stCondLst>
                                  <p:iterate type="lt">
                                    <p:tmPct val="10000"/>
                                  </p:iterate>
                                  <p:childTnLst>
                                    <p:set>
                                      <p:cBhvr>
                                        <p:cTn id="12" dur="1" fill="hold">
                                          <p:stCondLst>
                                            <p:cond delay="0"/>
                                          </p:stCondLst>
                                        </p:cTn>
                                        <p:tgtEl>
                                          <p:spTgt spid="4"/>
                                        </p:tgtEl>
                                        <p:attrNameLst>
                                          <p:attrName>style.visibility</p:attrName>
                                        </p:attrNameLst>
                                      </p:cBhvr>
                                      <p:to>
                                        <p:strVal val="visible"/>
                                      </p:to>
                                    </p:set>
                                    <p:anim calcmode="lin" valueType="num">
                                      <p:cBhvr>
                                        <p:cTn id="13" dur="1000" fill="hold"/>
                                        <p:tgtEl>
                                          <p:spTgt spid="4"/>
                                        </p:tgtEl>
                                        <p:attrNameLst>
                                          <p:attrName>ppt_x</p:attrName>
                                        </p:attrNameLst>
                                      </p:cBhvr>
                                      <p:tavLst>
                                        <p:tav tm="0">
                                          <p:val>
                                            <p:strVal val="#ppt_x"/>
                                          </p:val>
                                        </p:tav>
                                        <p:tav tm="50000">
                                          <p:val>
                                            <p:strVal val="#ppt_x+.1"/>
                                          </p:val>
                                        </p:tav>
                                        <p:tav tm="100000">
                                          <p:val>
                                            <p:strVal val="#ppt_x"/>
                                          </p:val>
                                        </p:tav>
                                      </p:tavLst>
                                    </p:anim>
                                    <p:anim calcmode="lin" valueType="num">
                                      <p:cBhvr>
                                        <p:cTn id="14" dur="1000" fill="hold"/>
                                        <p:tgtEl>
                                          <p:spTgt spid="4"/>
                                        </p:tgtEl>
                                        <p:attrNameLst>
                                          <p:attrName>ppt_y</p:attrName>
                                        </p:attrNameLst>
                                      </p:cBhvr>
                                      <p:tavLst>
                                        <p:tav tm="0">
                                          <p:val>
                                            <p:strVal val="#ppt_y"/>
                                          </p:val>
                                        </p:tav>
                                        <p:tav tm="100000">
                                          <p:val>
                                            <p:strVal val="#ppt_y"/>
                                          </p:val>
                                        </p:tav>
                                      </p:tavLst>
                                    </p:anim>
                                    <p:anim calcmode="lin" valueType="num">
                                      <p:cBhvr>
                                        <p:cTn id="15" dur="1000" fill="hold"/>
                                        <p:tgtEl>
                                          <p:spTgt spid="4"/>
                                        </p:tgtEl>
                                        <p:attrNameLst>
                                          <p:attrName>ppt_h</p:attrName>
                                        </p:attrNameLst>
                                      </p:cBhvr>
                                      <p:tavLst>
                                        <p:tav tm="0">
                                          <p:val>
                                            <p:strVal val="#ppt_h/10"/>
                                          </p:val>
                                        </p:tav>
                                        <p:tav tm="50000">
                                          <p:val>
                                            <p:strVal val="#ppt_h+.01"/>
                                          </p:val>
                                        </p:tav>
                                        <p:tav tm="100000">
                                          <p:val>
                                            <p:strVal val="#ppt_h"/>
                                          </p:val>
                                        </p:tav>
                                      </p:tavLst>
                                    </p:anim>
                                    <p:anim calcmode="lin" valueType="num">
                                      <p:cBhvr>
                                        <p:cTn id="16" dur="1000" fill="hold"/>
                                        <p:tgtEl>
                                          <p:spTgt spid="4"/>
                                        </p:tgtEl>
                                        <p:attrNameLst>
                                          <p:attrName>ppt_w</p:attrName>
                                        </p:attrNameLst>
                                      </p:cBhvr>
                                      <p:tavLst>
                                        <p:tav tm="0">
                                          <p:val>
                                            <p:strVal val="#ppt_w/10"/>
                                          </p:val>
                                        </p:tav>
                                        <p:tav tm="50000">
                                          <p:val>
                                            <p:strVal val="#ppt_w+.01"/>
                                          </p:val>
                                        </p:tav>
                                        <p:tav tm="100000">
                                          <p:val>
                                            <p:strVal val="#ppt_w"/>
                                          </p:val>
                                        </p:tav>
                                      </p:tavLst>
                                    </p:anim>
                                    <p:animEffect transition="in" filter="fade">
                                      <p:cBhvr>
                                        <p:cTn id="17" dur="1000" tmFilter="0,0; .5, 1; 1, 1"/>
                                        <p:tgtEl>
                                          <p:spTgt spid="4"/>
                                        </p:tgtEl>
                                      </p:cBhvr>
                                    </p:animEffect>
                                  </p:childTnLst>
                                  <p:subTnLst>
                                    <p:audio>
                                      <p:cMediaNode vol="0">
                                        <p:cTn display="0" masterRel="sameClick">
                                          <p:stCondLst>
                                            <p:cond evt="begin" delay="0">
                                              <p:tn val="11"/>
                                            </p:cond>
                                          </p:stCondLst>
                                          <p:endCondLst>
                                            <p:cond evt="onStopAudio" delay="0">
                                              <p:tgtEl>
                                                <p:sldTgt/>
                                              </p:tgtEl>
                                            </p:cond>
                                          </p:endCondLst>
                                        </p:cTn>
                                        <p:tgtEl>
                                          <p:sndTgt r:embed="rId2" name="type.wav"/>
                                        </p:tgtEl>
                                      </p:cMediaNode>
                                    </p:audio>
                                  </p:subTnLst>
                                </p:cTn>
                              </p:par>
                            </p:childTnLst>
                          </p:cTn>
                        </p:par>
                      </p:childTnLst>
                    </p:cTn>
                  </p:par>
                  <p:par>
                    <p:cTn id="18" fill="hold">
                      <p:stCondLst>
                        <p:cond delay="indefinite"/>
                      </p:stCondLst>
                      <p:childTnLst>
                        <p:par>
                          <p:cTn id="19" fill="hold">
                            <p:stCondLst>
                              <p:cond delay="0"/>
                            </p:stCondLst>
                            <p:childTnLst>
                              <p:par>
                                <p:cTn id="20" presetID="10" presetClass="exit" presetSubtype="0" fill="hold" grpId="2" nodeType="clickEffect">
                                  <p:stCondLst>
                                    <p:cond delay="0"/>
                                  </p:stCondLst>
                                  <p:iterate type="lt">
                                    <p:tmPct val="0"/>
                                  </p:iterate>
                                  <p:childTnLst>
                                    <p:animEffect transition="out" filter="fade">
                                      <p:cBhvr>
                                        <p:cTn id="21" dur="500"/>
                                        <p:tgtEl>
                                          <p:spTgt spid="4"/>
                                        </p:tgtEl>
                                      </p:cBhvr>
                                    </p:animEffect>
                                    <p:set>
                                      <p:cBhvr>
                                        <p:cTn id="22" dur="1" fill="hold">
                                          <p:stCondLst>
                                            <p:cond delay="499"/>
                                          </p:stCondLst>
                                        </p:cTn>
                                        <p:tgtEl>
                                          <p:spTgt spid="4"/>
                                        </p:tgtEl>
                                        <p:attrNameLst>
                                          <p:attrName>style.visibility</p:attrName>
                                        </p:attrNameLst>
                                      </p:cBhvr>
                                      <p:to>
                                        <p:strVal val="hidden"/>
                                      </p:to>
                                    </p:set>
                                  </p:childTnLst>
                                </p:cTn>
                              </p:par>
                              <p:par>
                                <p:cTn id="23" presetID="10" presetClass="exit" presetSubtype="0" fill="hold" grpId="1" nodeType="withEffect">
                                  <p:stCondLst>
                                    <p:cond delay="0"/>
                                  </p:stCondLst>
                                  <p:iterate type="lt">
                                    <p:tmPct val="0"/>
                                  </p:iterate>
                                  <p:childTnLst>
                                    <p:animEffect transition="out" filter="fade">
                                      <p:cBhvr>
                                        <p:cTn id="24" dur="500"/>
                                        <p:tgtEl>
                                          <p:spTgt spid="15"/>
                                        </p:tgtEl>
                                      </p:cBhvr>
                                    </p:animEffect>
                                    <p:set>
                                      <p:cBhvr>
                                        <p:cTn id="25" dur="1" fill="hold">
                                          <p:stCondLst>
                                            <p:cond delay="499"/>
                                          </p:stCondLst>
                                        </p:cTn>
                                        <p:tgtEl>
                                          <p:spTgt spid="1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5" grpId="1"/>
      <p:bldP spid="4" grpId="1"/>
      <p:bldP spid="4" grpId="2"/>
    </p:bldLst>
  </p:timing>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5000" b="-5000"/>
          </a:stretch>
        </a:blipFill>
        <a:effectLst/>
      </p:bgPr>
    </p:bg>
    <p:spTree>
      <p:nvGrpSpPr>
        <p:cNvPr id="1" name="">
          <a:extLst>
            <a:ext uri="{FF2B5EF4-FFF2-40B4-BE49-F238E27FC236}">
              <a16:creationId xmlns:a16="http://schemas.microsoft.com/office/drawing/2014/main" id="{9363F763-8E63-6AE8-B6A1-4B3248C04FF1}"/>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28AD403D-03A7-0070-4F97-FCAA467D1616}"/>
              </a:ext>
            </a:extLst>
          </p:cNvPr>
          <p:cNvSpPr/>
          <p:nvPr/>
        </p:nvSpPr>
        <p:spPr>
          <a:xfrm>
            <a:off x="0" y="0"/>
            <a:ext cx="12192000" cy="6858000"/>
          </a:xfrm>
          <a:prstGeom prst="rect">
            <a:avLst/>
          </a:prstGeom>
          <a:gradFill>
            <a:gsLst>
              <a:gs pos="0">
                <a:schemeClr val="tx1"/>
              </a:gs>
              <a:gs pos="95402">
                <a:schemeClr val="bg1">
                  <a:alpha val="71000"/>
                </a:schemeClr>
              </a:gs>
              <a:gs pos="66000">
                <a:schemeClr val="bg2">
                  <a:alpha val="60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文本框 30">
            <a:extLst>
              <a:ext uri="{FF2B5EF4-FFF2-40B4-BE49-F238E27FC236}">
                <a16:creationId xmlns:a16="http://schemas.microsoft.com/office/drawing/2014/main" id="{9E45C941-32A2-F748-57A0-0726BD390D8C}"/>
              </a:ext>
            </a:extLst>
          </p:cNvPr>
          <p:cNvSpPr txBox="1"/>
          <p:nvPr/>
        </p:nvSpPr>
        <p:spPr>
          <a:xfrm>
            <a:off x="307742" y="1508428"/>
            <a:ext cx="4766732" cy="3970318"/>
          </a:xfrm>
          <a:prstGeom prst="rect">
            <a:avLst/>
          </a:prstGeom>
          <a:noFill/>
        </p:spPr>
        <p:txBody>
          <a:bodyPr wrap="square" rtlCol="0">
            <a:spAutoFit/>
          </a:bodyPr>
          <a:lstStyle/>
          <a:p>
            <a:r>
              <a:rPr lang="zh-CN" altLang="zh-CN" sz="2800" dirty="0">
                <a:solidFill>
                  <a:schemeClr val="bg1"/>
                </a:solidFill>
                <a:latin typeface="华文楷体" panose="02010600040101010101" pitchFamily="2" charset="-122"/>
                <a:ea typeface="华文楷体" panose="02010600040101010101" pitchFamily="2" charset="-122"/>
              </a:rPr>
              <a:t>在采访问答中，同学们对</a:t>
            </a:r>
            <a:r>
              <a:rPr lang="en-US" altLang="zh-CN" sz="2800" dirty="0">
                <a:solidFill>
                  <a:schemeClr val="bg1"/>
                </a:solidFill>
                <a:latin typeface="华文楷体" panose="02010600040101010101" pitchFamily="2" charset="-122"/>
                <a:ea typeface="华文楷体" panose="02010600040101010101" pitchFamily="2" charset="-122"/>
              </a:rPr>
              <a:t> MBTI </a:t>
            </a:r>
            <a:r>
              <a:rPr lang="zh-CN" altLang="zh-CN" sz="2800" dirty="0">
                <a:solidFill>
                  <a:schemeClr val="bg1"/>
                </a:solidFill>
                <a:latin typeface="华文楷体" panose="02010600040101010101" pitchFamily="2" charset="-122"/>
                <a:ea typeface="华文楷体" panose="02010600040101010101" pitchFamily="2" charset="-122"/>
              </a:rPr>
              <a:t>的作用存在不同的看法。一些人认为</a:t>
            </a:r>
            <a:r>
              <a:rPr lang="en-US" altLang="zh-CN" sz="2800" dirty="0">
                <a:solidFill>
                  <a:schemeClr val="bg1"/>
                </a:solidFill>
                <a:latin typeface="华文楷体" panose="02010600040101010101" pitchFamily="2" charset="-122"/>
                <a:ea typeface="华文楷体" panose="02010600040101010101" pitchFamily="2" charset="-122"/>
              </a:rPr>
              <a:t> MBTI </a:t>
            </a:r>
            <a:r>
              <a:rPr lang="zh-CN" altLang="zh-CN" sz="2800" dirty="0">
                <a:solidFill>
                  <a:schemeClr val="bg1"/>
                </a:solidFill>
                <a:latin typeface="华文楷体" panose="02010600040101010101" pitchFamily="2" charset="-122"/>
                <a:ea typeface="华文楷体" panose="02010600040101010101" pitchFamily="2" charset="-122"/>
              </a:rPr>
              <a:t>可以提供一定的自我认知框架，帮助他们了解自己的性格特点和行为倾向；然而，也有人认为</a:t>
            </a:r>
            <a:r>
              <a:rPr lang="en-US" altLang="zh-CN" sz="2800" dirty="0">
                <a:solidFill>
                  <a:schemeClr val="bg1"/>
                </a:solidFill>
                <a:latin typeface="华文楷体" panose="02010600040101010101" pitchFamily="2" charset="-122"/>
                <a:ea typeface="华文楷体" panose="02010600040101010101" pitchFamily="2" charset="-122"/>
              </a:rPr>
              <a:t> MBTI </a:t>
            </a:r>
            <a:r>
              <a:rPr lang="zh-CN" altLang="zh-CN" sz="2800" dirty="0">
                <a:solidFill>
                  <a:schemeClr val="bg1"/>
                </a:solidFill>
                <a:latin typeface="华文楷体" panose="02010600040101010101" pitchFamily="2" charset="-122"/>
                <a:ea typeface="华文楷体" panose="02010600040101010101" pitchFamily="2" charset="-122"/>
              </a:rPr>
              <a:t>的分类可能过于简化，不能完全准确地反映一个人的复杂性。</a:t>
            </a:r>
          </a:p>
        </p:txBody>
      </p:sp>
      <p:sp useBgFill="1">
        <p:nvSpPr>
          <p:cNvPr id="11" name="任意多边形: 形状 10">
            <a:extLst>
              <a:ext uri="{FF2B5EF4-FFF2-40B4-BE49-F238E27FC236}">
                <a16:creationId xmlns:a16="http://schemas.microsoft.com/office/drawing/2014/main" id="{CD3CE1EF-CF3C-E9CA-3A74-DEDA2825C287}"/>
              </a:ext>
            </a:extLst>
          </p:cNvPr>
          <p:cNvSpPr>
            <a:spLocks noChangeAspect="1"/>
          </p:cNvSpPr>
          <p:nvPr/>
        </p:nvSpPr>
        <p:spPr>
          <a:xfrm rot="8036918">
            <a:off x="6225540" y="-1516526"/>
            <a:ext cx="9943239" cy="9941062"/>
          </a:xfrm>
          <a:custGeom>
            <a:avLst/>
            <a:gdLst>
              <a:gd name="connsiteX0" fmla="*/ 3914303 w 5232096"/>
              <a:gd name="connsiteY0" fmla="*/ 2797508 h 5230950"/>
              <a:gd name="connsiteX1" fmla="*/ 5232096 w 5232096"/>
              <a:gd name="connsiteY1" fmla="*/ 2797508 h 5230950"/>
              <a:gd name="connsiteX2" fmla="*/ 5228793 w 5232096"/>
              <a:gd name="connsiteY2" fmla="*/ 2867273 h 5230950"/>
              <a:gd name="connsiteX3" fmla="*/ 2884405 w 5232096"/>
              <a:gd name="connsiteY3" fmla="*/ 5226591 h 5230950"/>
              <a:gd name="connsiteX4" fmla="*/ 2798081 w 5232096"/>
              <a:gd name="connsiteY4" fmla="*/ 5230950 h 5230950"/>
              <a:gd name="connsiteX5" fmla="*/ 2798081 w 5232096"/>
              <a:gd name="connsiteY5" fmla="*/ 3913730 h 5230950"/>
              <a:gd name="connsiteX6" fmla="*/ 2880529 w 5232096"/>
              <a:gd name="connsiteY6" fmla="*/ 3901147 h 5230950"/>
              <a:gd name="connsiteX7" fmla="*/ 3901720 w 5232096"/>
              <a:gd name="connsiteY7" fmla="*/ 2879956 h 5230950"/>
              <a:gd name="connsiteX8" fmla="*/ 0 w 5232096"/>
              <a:gd name="connsiteY8" fmla="*/ 2797508 h 5230950"/>
              <a:gd name="connsiteX9" fmla="*/ 1317793 w 5232096"/>
              <a:gd name="connsiteY9" fmla="*/ 2797508 h 5230950"/>
              <a:gd name="connsiteX10" fmla="*/ 1330376 w 5232096"/>
              <a:gd name="connsiteY10" fmla="*/ 2879956 h 5230950"/>
              <a:gd name="connsiteX11" fmla="*/ 2351567 w 5232096"/>
              <a:gd name="connsiteY11" fmla="*/ 3901147 h 5230950"/>
              <a:gd name="connsiteX12" fmla="*/ 2434015 w 5232096"/>
              <a:gd name="connsiteY12" fmla="*/ 3913730 h 5230950"/>
              <a:gd name="connsiteX13" fmla="*/ 2434015 w 5232096"/>
              <a:gd name="connsiteY13" fmla="*/ 5230950 h 5230950"/>
              <a:gd name="connsiteX14" fmla="*/ 2347691 w 5232096"/>
              <a:gd name="connsiteY14" fmla="*/ 5226591 h 5230950"/>
              <a:gd name="connsiteX15" fmla="*/ 3303 w 5232096"/>
              <a:gd name="connsiteY15" fmla="*/ 2867273 h 5230950"/>
              <a:gd name="connsiteX16" fmla="*/ 2798081 w 5232096"/>
              <a:gd name="connsiteY16" fmla="*/ 0 h 5230950"/>
              <a:gd name="connsiteX17" fmla="*/ 2884405 w 5232096"/>
              <a:gd name="connsiteY17" fmla="*/ 4359 h 5230950"/>
              <a:gd name="connsiteX18" fmla="*/ 5228793 w 5232096"/>
              <a:gd name="connsiteY18" fmla="*/ 2363677 h 5230950"/>
              <a:gd name="connsiteX19" fmla="*/ 5232096 w 5232096"/>
              <a:gd name="connsiteY19" fmla="*/ 2433442 h 5230950"/>
              <a:gd name="connsiteX20" fmla="*/ 3914303 w 5232096"/>
              <a:gd name="connsiteY20" fmla="*/ 2433442 h 5230950"/>
              <a:gd name="connsiteX21" fmla="*/ 3901720 w 5232096"/>
              <a:gd name="connsiteY21" fmla="*/ 2350994 h 5230950"/>
              <a:gd name="connsiteX22" fmla="*/ 2880529 w 5232096"/>
              <a:gd name="connsiteY22" fmla="*/ 1329803 h 5230950"/>
              <a:gd name="connsiteX23" fmla="*/ 2798081 w 5232096"/>
              <a:gd name="connsiteY23" fmla="*/ 1317220 h 5230950"/>
              <a:gd name="connsiteX24" fmla="*/ 2434015 w 5232096"/>
              <a:gd name="connsiteY24" fmla="*/ 0 h 5230950"/>
              <a:gd name="connsiteX25" fmla="*/ 2434015 w 5232096"/>
              <a:gd name="connsiteY25" fmla="*/ 1317220 h 5230950"/>
              <a:gd name="connsiteX26" fmla="*/ 2351567 w 5232096"/>
              <a:gd name="connsiteY26" fmla="*/ 1329803 h 5230950"/>
              <a:gd name="connsiteX27" fmla="*/ 1330376 w 5232096"/>
              <a:gd name="connsiteY27" fmla="*/ 2350994 h 5230950"/>
              <a:gd name="connsiteX28" fmla="*/ 1317793 w 5232096"/>
              <a:gd name="connsiteY28" fmla="*/ 2433442 h 5230950"/>
              <a:gd name="connsiteX29" fmla="*/ 0 w 5232096"/>
              <a:gd name="connsiteY29" fmla="*/ 2433442 h 5230950"/>
              <a:gd name="connsiteX30" fmla="*/ 3303 w 5232096"/>
              <a:gd name="connsiteY30" fmla="*/ 2363677 h 5230950"/>
              <a:gd name="connsiteX31" fmla="*/ 2347691 w 5232096"/>
              <a:gd name="connsiteY31" fmla="*/ 4359 h 5230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232096" h="5230950">
                <a:moveTo>
                  <a:pt x="3914303" y="2797508"/>
                </a:moveTo>
                <a:lnTo>
                  <a:pt x="5232096" y="2797508"/>
                </a:lnTo>
                <a:lnTo>
                  <a:pt x="5228793" y="2867273"/>
                </a:lnTo>
                <a:cubicBezTo>
                  <a:pt x="5110479" y="4110318"/>
                  <a:pt x="4125191" y="5100583"/>
                  <a:pt x="2884405" y="5226591"/>
                </a:cubicBezTo>
                <a:lnTo>
                  <a:pt x="2798081" y="5230950"/>
                </a:lnTo>
                <a:lnTo>
                  <a:pt x="2798081" y="3913730"/>
                </a:lnTo>
                <a:lnTo>
                  <a:pt x="2880529" y="3901147"/>
                </a:lnTo>
                <a:cubicBezTo>
                  <a:pt x="3393108" y="3796258"/>
                  <a:pt x="3796831" y="3392535"/>
                  <a:pt x="3901720" y="2879956"/>
                </a:cubicBezTo>
                <a:close/>
                <a:moveTo>
                  <a:pt x="0" y="2797508"/>
                </a:moveTo>
                <a:lnTo>
                  <a:pt x="1317793" y="2797508"/>
                </a:lnTo>
                <a:lnTo>
                  <a:pt x="1330376" y="2879956"/>
                </a:lnTo>
                <a:cubicBezTo>
                  <a:pt x="1435265" y="3392535"/>
                  <a:pt x="1838988" y="3796258"/>
                  <a:pt x="2351567" y="3901147"/>
                </a:cubicBezTo>
                <a:lnTo>
                  <a:pt x="2434015" y="3913730"/>
                </a:lnTo>
                <a:lnTo>
                  <a:pt x="2434015" y="5230950"/>
                </a:lnTo>
                <a:lnTo>
                  <a:pt x="2347691" y="5226591"/>
                </a:lnTo>
                <a:cubicBezTo>
                  <a:pt x="1106905" y="5100583"/>
                  <a:pt x="121617" y="4110318"/>
                  <a:pt x="3303" y="2867273"/>
                </a:cubicBezTo>
                <a:close/>
                <a:moveTo>
                  <a:pt x="2798081" y="0"/>
                </a:moveTo>
                <a:lnTo>
                  <a:pt x="2884405" y="4359"/>
                </a:lnTo>
                <a:cubicBezTo>
                  <a:pt x="4125191" y="130368"/>
                  <a:pt x="5110479" y="1120633"/>
                  <a:pt x="5228793" y="2363677"/>
                </a:cubicBezTo>
                <a:lnTo>
                  <a:pt x="5232096" y="2433442"/>
                </a:lnTo>
                <a:lnTo>
                  <a:pt x="3914303" y="2433442"/>
                </a:lnTo>
                <a:lnTo>
                  <a:pt x="3901720" y="2350994"/>
                </a:lnTo>
                <a:cubicBezTo>
                  <a:pt x="3796831" y="1838415"/>
                  <a:pt x="3393108" y="1434692"/>
                  <a:pt x="2880529" y="1329803"/>
                </a:cubicBezTo>
                <a:lnTo>
                  <a:pt x="2798081" y="1317220"/>
                </a:lnTo>
                <a:close/>
                <a:moveTo>
                  <a:pt x="2434015" y="0"/>
                </a:moveTo>
                <a:lnTo>
                  <a:pt x="2434015" y="1317220"/>
                </a:lnTo>
                <a:lnTo>
                  <a:pt x="2351567" y="1329803"/>
                </a:lnTo>
                <a:cubicBezTo>
                  <a:pt x="1838988" y="1434692"/>
                  <a:pt x="1435265" y="1838415"/>
                  <a:pt x="1330376" y="2350994"/>
                </a:cubicBezTo>
                <a:lnTo>
                  <a:pt x="1317793" y="2433442"/>
                </a:lnTo>
                <a:lnTo>
                  <a:pt x="0" y="2433442"/>
                </a:lnTo>
                <a:lnTo>
                  <a:pt x="3303" y="2363677"/>
                </a:lnTo>
                <a:cubicBezTo>
                  <a:pt x="121617" y="1120633"/>
                  <a:pt x="1106905" y="130368"/>
                  <a:pt x="2347691" y="4359"/>
                </a:cubicBezTo>
                <a:close/>
              </a:path>
            </a:pathLst>
          </a:custGeom>
          <a:ln>
            <a:noFill/>
          </a:ln>
          <a:effectLst>
            <a:outerShdw blurRad="508000" sx="102000" sy="102000" algn="ctr" rotWithShape="0">
              <a:prstClr val="black">
                <a:alpha val="7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Tree>
    <p:extLst>
      <p:ext uri="{BB962C8B-B14F-4D97-AF65-F5344CB8AC3E}">
        <p14:creationId xmlns:p14="http://schemas.microsoft.com/office/powerpoint/2010/main" val="26212152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fade">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0000" b="-10000"/>
          </a:stretch>
        </a:blipFill>
        <a:effectLst/>
      </p:bgPr>
    </p:bg>
    <p:spTree>
      <p:nvGrpSpPr>
        <p:cNvPr id="1" name="">
          <a:extLst>
            <a:ext uri="{FF2B5EF4-FFF2-40B4-BE49-F238E27FC236}">
              <a16:creationId xmlns:a16="http://schemas.microsoft.com/office/drawing/2014/main" id="{D6995127-B04E-848F-FC1A-53000D81F1DB}"/>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407D7C10-973D-BBC5-6341-7E9DA9C59C34}"/>
              </a:ext>
            </a:extLst>
          </p:cNvPr>
          <p:cNvSpPr/>
          <p:nvPr/>
        </p:nvSpPr>
        <p:spPr>
          <a:xfrm>
            <a:off x="0" y="0"/>
            <a:ext cx="12192000" cy="6858000"/>
          </a:xfrm>
          <a:prstGeom prst="rect">
            <a:avLst/>
          </a:prstGeom>
          <a:gradFill>
            <a:gsLst>
              <a:gs pos="0">
                <a:schemeClr val="tx1"/>
              </a:gs>
              <a:gs pos="95402">
                <a:schemeClr val="bg1">
                  <a:alpha val="71000"/>
                </a:schemeClr>
              </a:gs>
              <a:gs pos="66000">
                <a:schemeClr val="bg2">
                  <a:alpha val="60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11" name="任意多边形: 形状 10">
            <a:extLst>
              <a:ext uri="{FF2B5EF4-FFF2-40B4-BE49-F238E27FC236}">
                <a16:creationId xmlns:a16="http://schemas.microsoft.com/office/drawing/2014/main" id="{BE245C25-6810-FD84-7010-DBA3D3745F69}"/>
              </a:ext>
            </a:extLst>
          </p:cNvPr>
          <p:cNvSpPr>
            <a:spLocks noChangeAspect="1"/>
          </p:cNvSpPr>
          <p:nvPr/>
        </p:nvSpPr>
        <p:spPr>
          <a:xfrm rot="13501896">
            <a:off x="6225540" y="-1516526"/>
            <a:ext cx="9943239" cy="9941062"/>
          </a:xfrm>
          <a:custGeom>
            <a:avLst/>
            <a:gdLst>
              <a:gd name="connsiteX0" fmla="*/ 3914303 w 5232096"/>
              <a:gd name="connsiteY0" fmla="*/ 2797508 h 5230950"/>
              <a:gd name="connsiteX1" fmla="*/ 5232096 w 5232096"/>
              <a:gd name="connsiteY1" fmla="*/ 2797508 h 5230950"/>
              <a:gd name="connsiteX2" fmla="*/ 5228793 w 5232096"/>
              <a:gd name="connsiteY2" fmla="*/ 2867273 h 5230950"/>
              <a:gd name="connsiteX3" fmla="*/ 2884405 w 5232096"/>
              <a:gd name="connsiteY3" fmla="*/ 5226591 h 5230950"/>
              <a:gd name="connsiteX4" fmla="*/ 2798081 w 5232096"/>
              <a:gd name="connsiteY4" fmla="*/ 5230950 h 5230950"/>
              <a:gd name="connsiteX5" fmla="*/ 2798081 w 5232096"/>
              <a:gd name="connsiteY5" fmla="*/ 3913730 h 5230950"/>
              <a:gd name="connsiteX6" fmla="*/ 2880529 w 5232096"/>
              <a:gd name="connsiteY6" fmla="*/ 3901147 h 5230950"/>
              <a:gd name="connsiteX7" fmla="*/ 3901720 w 5232096"/>
              <a:gd name="connsiteY7" fmla="*/ 2879956 h 5230950"/>
              <a:gd name="connsiteX8" fmla="*/ 0 w 5232096"/>
              <a:gd name="connsiteY8" fmla="*/ 2797508 h 5230950"/>
              <a:gd name="connsiteX9" fmla="*/ 1317793 w 5232096"/>
              <a:gd name="connsiteY9" fmla="*/ 2797508 h 5230950"/>
              <a:gd name="connsiteX10" fmla="*/ 1330376 w 5232096"/>
              <a:gd name="connsiteY10" fmla="*/ 2879956 h 5230950"/>
              <a:gd name="connsiteX11" fmla="*/ 2351567 w 5232096"/>
              <a:gd name="connsiteY11" fmla="*/ 3901147 h 5230950"/>
              <a:gd name="connsiteX12" fmla="*/ 2434015 w 5232096"/>
              <a:gd name="connsiteY12" fmla="*/ 3913730 h 5230950"/>
              <a:gd name="connsiteX13" fmla="*/ 2434015 w 5232096"/>
              <a:gd name="connsiteY13" fmla="*/ 5230950 h 5230950"/>
              <a:gd name="connsiteX14" fmla="*/ 2347691 w 5232096"/>
              <a:gd name="connsiteY14" fmla="*/ 5226591 h 5230950"/>
              <a:gd name="connsiteX15" fmla="*/ 3303 w 5232096"/>
              <a:gd name="connsiteY15" fmla="*/ 2867273 h 5230950"/>
              <a:gd name="connsiteX16" fmla="*/ 2798081 w 5232096"/>
              <a:gd name="connsiteY16" fmla="*/ 0 h 5230950"/>
              <a:gd name="connsiteX17" fmla="*/ 2884405 w 5232096"/>
              <a:gd name="connsiteY17" fmla="*/ 4359 h 5230950"/>
              <a:gd name="connsiteX18" fmla="*/ 5228793 w 5232096"/>
              <a:gd name="connsiteY18" fmla="*/ 2363677 h 5230950"/>
              <a:gd name="connsiteX19" fmla="*/ 5232096 w 5232096"/>
              <a:gd name="connsiteY19" fmla="*/ 2433442 h 5230950"/>
              <a:gd name="connsiteX20" fmla="*/ 3914303 w 5232096"/>
              <a:gd name="connsiteY20" fmla="*/ 2433442 h 5230950"/>
              <a:gd name="connsiteX21" fmla="*/ 3901720 w 5232096"/>
              <a:gd name="connsiteY21" fmla="*/ 2350994 h 5230950"/>
              <a:gd name="connsiteX22" fmla="*/ 2880529 w 5232096"/>
              <a:gd name="connsiteY22" fmla="*/ 1329803 h 5230950"/>
              <a:gd name="connsiteX23" fmla="*/ 2798081 w 5232096"/>
              <a:gd name="connsiteY23" fmla="*/ 1317220 h 5230950"/>
              <a:gd name="connsiteX24" fmla="*/ 2434015 w 5232096"/>
              <a:gd name="connsiteY24" fmla="*/ 0 h 5230950"/>
              <a:gd name="connsiteX25" fmla="*/ 2434015 w 5232096"/>
              <a:gd name="connsiteY25" fmla="*/ 1317220 h 5230950"/>
              <a:gd name="connsiteX26" fmla="*/ 2351567 w 5232096"/>
              <a:gd name="connsiteY26" fmla="*/ 1329803 h 5230950"/>
              <a:gd name="connsiteX27" fmla="*/ 1330376 w 5232096"/>
              <a:gd name="connsiteY27" fmla="*/ 2350994 h 5230950"/>
              <a:gd name="connsiteX28" fmla="*/ 1317793 w 5232096"/>
              <a:gd name="connsiteY28" fmla="*/ 2433442 h 5230950"/>
              <a:gd name="connsiteX29" fmla="*/ 0 w 5232096"/>
              <a:gd name="connsiteY29" fmla="*/ 2433442 h 5230950"/>
              <a:gd name="connsiteX30" fmla="*/ 3303 w 5232096"/>
              <a:gd name="connsiteY30" fmla="*/ 2363677 h 5230950"/>
              <a:gd name="connsiteX31" fmla="*/ 2347691 w 5232096"/>
              <a:gd name="connsiteY31" fmla="*/ 4359 h 5230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232096" h="5230950">
                <a:moveTo>
                  <a:pt x="3914303" y="2797508"/>
                </a:moveTo>
                <a:lnTo>
                  <a:pt x="5232096" y="2797508"/>
                </a:lnTo>
                <a:lnTo>
                  <a:pt x="5228793" y="2867273"/>
                </a:lnTo>
                <a:cubicBezTo>
                  <a:pt x="5110479" y="4110318"/>
                  <a:pt x="4125191" y="5100583"/>
                  <a:pt x="2884405" y="5226591"/>
                </a:cubicBezTo>
                <a:lnTo>
                  <a:pt x="2798081" y="5230950"/>
                </a:lnTo>
                <a:lnTo>
                  <a:pt x="2798081" y="3913730"/>
                </a:lnTo>
                <a:lnTo>
                  <a:pt x="2880529" y="3901147"/>
                </a:lnTo>
                <a:cubicBezTo>
                  <a:pt x="3393108" y="3796258"/>
                  <a:pt x="3796831" y="3392535"/>
                  <a:pt x="3901720" y="2879956"/>
                </a:cubicBezTo>
                <a:close/>
                <a:moveTo>
                  <a:pt x="0" y="2797508"/>
                </a:moveTo>
                <a:lnTo>
                  <a:pt x="1317793" y="2797508"/>
                </a:lnTo>
                <a:lnTo>
                  <a:pt x="1330376" y="2879956"/>
                </a:lnTo>
                <a:cubicBezTo>
                  <a:pt x="1435265" y="3392535"/>
                  <a:pt x="1838988" y="3796258"/>
                  <a:pt x="2351567" y="3901147"/>
                </a:cubicBezTo>
                <a:lnTo>
                  <a:pt x="2434015" y="3913730"/>
                </a:lnTo>
                <a:lnTo>
                  <a:pt x="2434015" y="5230950"/>
                </a:lnTo>
                <a:lnTo>
                  <a:pt x="2347691" y="5226591"/>
                </a:lnTo>
                <a:cubicBezTo>
                  <a:pt x="1106905" y="5100583"/>
                  <a:pt x="121617" y="4110318"/>
                  <a:pt x="3303" y="2867273"/>
                </a:cubicBezTo>
                <a:close/>
                <a:moveTo>
                  <a:pt x="2798081" y="0"/>
                </a:moveTo>
                <a:lnTo>
                  <a:pt x="2884405" y="4359"/>
                </a:lnTo>
                <a:cubicBezTo>
                  <a:pt x="4125191" y="130368"/>
                  <a:pt x="5110479" y="1120633"/>
                  <a:pt x="5228793" y="2363677"/>
                </a:cubicBezTo>
                <a:lnTo>
                  <a:pt x="5232096" y="2433442"/>
                </a:lnTo>
                <a:lnTo>
                  <a:pt x="3914303" y="2433442"/>
                </a:lnTo>
                <a:lnTo>
                  <a:pt x="3901720" y="2350994"/>
                </a:lnTo>
                <a:cubicBezTo>
                  <a:pt x="3796831" y="1838415"/>
                  <a:pt x="3393108" y="1434692"/>
                  <a:pt x="2880529" y="1329803"/>
                </a:cubicBezTo>
                <a:lnTo>
                  <a:pt x="2798081" y="1317220"/>
                </a:lnTo>
                <a:close/>
                <a:moveTo>
                  <a:pt x="2434015" y="0"/>
                </a:moveTo>
                <a:lnTo>
                  <a:pt x="2434015" y="1317220"/>
                </a:lnTo>
                <a:lnTo>
                  <a:pt x="2351567" y="1329803"/>
                </a:lnTo>
                <a:cubicBezTo>
                  <a:pt x="1838988" y="1434692"/>
                  <a:pt x="1435265" y="1838415"/>
                  <a:pt x="1330376" y="2350994"/>
                </a:cubicBezTo>
                <a:lnTo>
                  <a:pt x="1317793" y="2433442"/>
                </a:lnTo>
                <a:lnTo>
                  <a:pt x="0" y="2433442"/>
                </a:lnTo>
                <a:lnTo>
                  <a:pt x="3303" y="2363677"/>
                </a:lnTo>
                <a:cubicBezTo>
                  <a:pt x="121617" y="1120633"/>
                  <a:pt x="1106905" y="130368"/>
                  <a:pt x="2347691" y="4359"/>
                </a:cubicBezTo>
                <a:close/>
              </a:path>
            </a:pathLst>
          </a:custGeom>
          <a:ln>
            <a:noFill/>
          </a:ln>
          <a:effectLst>
            <a:outerShdw blurRad="508000" sx="102000" sy="102000" algn="ctr" rotWithShape="0">
              <a:prstClr val="black">
                <a:alpha val="7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文本框 2">
            <a:extLst>
              <a:ext uri="{FF2B5EF4-FFF2-40B4-BE49-F238E27FC236}">
                <a16:creationId xmlns:a16="http://schemas.microsoft.com/office/drawing/2014/main" id="{9686A757-F596-5FAC-EC64-86F2900B82D9}"/>
              </a:ext>
            </a:extLst>
          </p:cNvPr>
          <p:cNvSpPr txBox="1"/>
          <p:nvPr/>
        </p:nvSpPr>
        <p:spPr>
          <a:xfrm>
            <a:off x="259344" y="889843"/>
            <a:ext cx="5318288" cy="5693866"/>
          </a:xfrm>
          <a:prstGeom prst="rect">
            <a:avLst/>
          </a:prstGeom>
          <a:noFill/>
        </p:spPr>
        <p:txBody>
          <a:bodyPr wrap="square" rtlCol="0">
            <a:spAutoFit/>
          </a:bodyPr>
          <a:lstStyle/>
          <a:p>
            <a:r>
              <a:rPr lang="zh-CN" altLang="zh-CN" sz="2800" dirty="0">
                <a:solidFill>
                  <a:schemeClr val="bg1"/>
                </a:solidFill>
                <a:latin typeface="华文楷体" panose="02010600040101010101" pitchFamily="2" charset="-122"/>
                <a:ea typeface="华文楷体" panose="02010600040101010101" pitchFamily="2" charset="-122"/>
              </a:rPr>
              <a:t>事实上，</a:t>
            </a:r>
            <a:r>
              <a:rPr lang="en-US" altLang="zh-CN" sz="2800" dirty="0">
                <a:solidFill>
                  <a:schemeClr val="bg1"/>
                </a:solidFill>
                <a:latin typeface="华文楷体" panose="02010600040101010101" pitchFamily="2" charset="-122"/>
                <a:ea typeface="华文楷体" panose="02010600040101010101" pitchFamily="2" charset="-122"/>
              </a:rPr>
              <a:t> MBTI</a:t>
            </a:r>
            <a:r>
              <a:rPr lang="zh-CN" altLang="zh-CN" sz="2800" dirty="0">
                <a:solidFill>
                  <a:schemeClr val="bg1"/>
                </a:solidFill>
                <a:latin typeface="华文楷体" panose="02010600040101010101" pitchFamily="2" charset="-122"/>
                <a:ea typeface="华文楷体" panose="02010600040101010101" pitchFamily="2" charset="-122"/>
              </a:rPr>
              <a:t>只是认识自我的方式中的一种，可与其他更深层次的方法结合使用，由浅入深的完善我们的自我认识。</a:t>
            </a:r>
            <a:endParaRPr lang="en-US" altLang="zh-CN" sz="2800" dirty="0">
              <a:solidFill>
                <a:schemeClr val="bg1"/>
              </a:solidFill>
              <a:latin typeface="华文楷体" panose="02010600040101010101" pitchFamily="2" charset="-122"/>
              <a:ea typeface="华文楷体" panose="02010600040101010101" pitchFamily="2" charset="-122"/>
            </a:endParaRPr>
          </a:p>
          <a:p>
            <a:r>
              <a:rPr lang="zh-CN" altLang="zh-CN" sz="4000" b="1" u="sng" dirty="0">
                <a:solidFill>
                  <a:schemeClr val="bg1"/>
                </a:solidFill>
                <a:latin typeface="华文楷体" panose="02010600040101010101" pitchFamily="2" charset="-122"/>
                <a:ea typeface="华文楷体" panose="02010600040101010101" pitchFamily="2" charset="-122"/>
              </a:rPr>
              <a:t>正如马克思所说“人是一切社会关系的总和”，进一步的自我认识应是在与社会的交互中、在身体力行的实践中逐步实现的。</a:t>
            </a:r>
          </a:p>
        </p:txBody>
      </p:sp>
    </p:spTree>
    <p:extLst>
      <p:ext uri="{BB962C8B-B14F-4D97-AF65-F5344CB8AC3E}">
        <p14:creationId xmlns:p14="http://schemas.microsoft.com/office/powerpoint/2010/main" val="12703875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000" r="-1000"/>
          </a:stretch>
        </a:blipFill>
        <a:effectLst/>
      </p:bgPr>
    </p:bg>
    <p:spTree>
      <p:nvGrpSpPr>
        <p:cNvPr id="1" name="">
          <a:extLst>
            <a:ext uri="{FF2B5EF4-FFF2-40B4-BE49-F238E27FC236}">
              <a16:creationId xmlns:a16="http://schemas.microsoft.com/office/drawing/2014/main" id="{69D30F0A-833C-AAFB-CE5E-50BD639E8CE6}"/>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1008F5DF-FA7E-F1A7-C989-996DDDA3B935}"/>
              </a:ext>
            </a:extLst>
          </p:cNvPr>
          <p:cNvSpPr/>
          <p:nvPr/>
        </p:nvSpPr>
        <p:spPr>
          <a:xfrm>
            <a:off x="0" y="0"/>
            <a:ext cx="12192000" cy="6858000"/>
          </a:xfrm>
          <a:prstGeom prst="rect">
            <a:avLst/>
          </a:prstGeom>
          <a:gradFill>
            <a:gsLst>
              <a:gs pos="0">
                <a:schemeClr val="tx1"/>
              </a:gs>
              <a:gs pos="95402">
                <a:schemeClr val="bg1">
                  <a:alpha val="71000"/>
                </a:schemeClr>
              </a:gs>
              <a:gs pos="66000">
                <a:schemeClr val="bg2">
                  <a:alpha val="60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11" name="任意多边形: 形状 10">
            <a:extLst>
              <a:ext uri="{FF2B5EF4-FFF2-40B4-BE49-F238E27FC236}">
                <a16:creationId xmlns:a16="http://schemas.microsoft.com/office/drawing/2014/main" id="{59783DE4-5516-2208-A77D-73C1AE63FCB2}"/>
              </a:ext>
            </a:extLst>
          </p:cNvPr>
          <p:cNvSpPr>
            <a:spLocks noChangeAspect="1"/>
          </p:cNvSpPr>
          <p:nvPr/>
        </p:nvSpPr>
        <p:spPr>
          <a:xfrm rot="18816628">
            <a:off x="6225540" y="-1516526"/>
            <a:ext cx="9943239" cy="9941062"/>
          </a:xfrm>
          <a:custGeom>
            <a:avLst/>
            <a:gdLst>
              <a:gd name="connsiteX0" fmla="*/ 3914303 w 5232096"/>
              <a:gd name="connsiteY0" fmla="*/ 2797508 h 5230950"/>
              <a:gd name="connsiteX1" fmla="*/ 5232096 w 5232096"/>
              <a:gd name="connsiteY1" fmla="*/ 2797508 h 5230950"/>
              <a:gd name="connsiteX2" fmla="*/ 5228793 w 5232096"/>
              <a:gd name="connsiteY2" fmla="*/ 2867273 h 5230950"/>
              <a:gd name="connsiteX3" fmla="*/ 2884405 w 5232096"/>
              <a:gd name="connsiteY3" fmla="*/ 5226591 h 5230950"/>
              <a:gd name="connsiteX4" fmla="*/ 2798081 w 5232096"/>
              <a:gd name="connsiteY4" fmla="*/ 5230950 h 5230950"/>
              <a:gd name="connsiteX5" fmla="*/ 2798081 w 5232096"/>
              <a:gd name="connsiteY5" fmla="*/ 3913730 h 5230950"/>
              <a:gd name="connsiteX6" fmla="*/ 2880529 w 5232096"/>
              <a:gd name="connsiteY6" fmla="*/ 3901147 h 5230950"/>
              <a:gd name="connsiteX7" fmla="*/ 3901720 w 5232096"/>
              <a:gd name="connsiteY7" fmla="*/ 2879956 h 5230950"/>
              <a:gd name="connsiteX8" fmla="*/ 0 w 5232096"/>
              <a:gd name="connsiteY8" fmla="*/ 2797508 h 5230950"/>
              <a:gd name="connsiteX9" fmla="*/ 1317793 w 5232096"/>
              <a:gd name="connsiteY9" fmla="*/ 2797508 h 5230950"/>
              <a:gd name="connsiteX10" fmla="*/ 1330376 w 5232096"/>
              <a:gd name="connsiteY10" fmla="*/ 2879956 h 5230950"/>
              <a:gd name="connsiteX11" fmla="*/ 2351567 w 5232096"/>
              <a:gd name="connsiteY11" fmla="*/ 3901147 h 5230950"/>
              <a:gd name="connsiteX12" fmla="*/ 2434015 w 5232096"/>
              <a:gd name="connsiteY12" fmla="*/ 3913730 h 5230950"/>
              <a:gd name="connsiteX13" fmla="*/ 2434015 w 5232096"/>
              <a:gd name="connsiteY13" fmla="*/ 5230950 h 5230950"/>
              <a:gd name="connsiteX14" fmla="*/ 2347691 w 5232096"/>
              <a:gd name="connsiteY14" fmla="*/ 5226591 h 5230950"/>
              <a:gd name="connsiteX15" fmla="*/ 3303 w 5232096"/>
              <a:gd name="connsiteY15" fmla="*/ 2867273 h 5230950"/>
              <a:gd name="connsiteX16" fmla="*/ 2798081 w 5232096"/>
              <a:gd name="connsiteY16" fmla="*/ 0 h 5230950"/>
              <a:gd name="connsiteX17" fmla="*/ 2884405 w 5232096"/>
              <a:gd name="connsiteY17" fmla="*/ 4359 h 5230950"/>
              <a:gd name="connsiteX18" fmla="*/ 5228793 w 5232096"/>
              <a:gd name="connsiteY18" fmla="*/ 2363677 h 5230950"/>
              <a:gd name="connsiteX19" fmla="*/ 5232096 w 5232096"/>
              <a:gd name="connsiteY19" fmla="*/ 2433442 h 5230950"/>
              <a:gd name="connsiteX20" fmla="*/ 3914303 w 5232096"/>
              <a:gd name="connsiteY20" fmla="*/ 2433442 h 5230950"/>
              <a:gd name="connsiteX21" fmla="*/ 3901720 w 5232096"/>
              <a:gd name="connsiteY21" fmla="*/ 2350994 h 5230950"/>
              <a:gd name="connsiteX22" fmla="*/ 2880529 w 5232096"/>
              <a:gd name="connsiteY22" fmla="*/ 1329803 h 5230950"/>
              <a:gd name="connsiteX23" fmla="*/ 2798081 w 5232096"/>
              <a:gd name="connsiteY23" fmla="*/ 1317220 h 5230950"/>
              <a:gd name="connsiteX24" fmla="*/ 2434015 w 5232096"/>
              <a:gd name="connsiteY24" fmla="*/ 0 h 5230950"/>
              <a:gd name="connsiteX25" fmla="*/ 2434015 w 5232096"/>
              <a:gd name="connsiteY25" fmla="*/ 1317220 h 5230950"/>
              <a:gd name="connsiteX26" fmla="*/ 2351567 w 5232096"/>
              <a:gd name="connsiteY26" fmla="*/ 1329803 h 5230950"/>
              <a:gd name="connsiteX27" fmla="*/ 1330376 w 5232096"/>
              <a:gd name="connsiteY27" fmla="*/ 2350994 h 5230950"/>
              <a:gd name="connsiteX28" fmla="*/ 1317793 w 5232096"/>
              <a:gd name="connsiteY28" fmla="*/ 2433442 h 5230950"/>
              <a:gd name="connsiteX29" fmla="*/ 0 w 5232096"/>
              <a:gd name="connsiteY29" fmla="*/ 2433442 h 5230950"/>
              <a:gd name="connsiteX30" fmla="*/ 3303 w 5232096"/>
              <a:gd name="connsiteY30" fmla="*/ 2363677 h 5230950"/>
              <a:gd name="connsiteX31" fmla="*/ 2347691 w 5232096"/>
              <a:gd name="connsiteY31" fmla="*/ 4359 h 5230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232096" h="5230950">
                <a:moveTo>
                  <a:pt x="3914303" y="2797508"/>
                </a:moveTo>
                <a:lnTo>
                  <a:pt x="5232096" y="2797508"/>
                </a:lnTo>
                <a:lnTo>
                  <a:pt x="5228793" y="2867273"/>
                </a:lnTo>
                <a:cubicBezTo>
                  <a:pt x="5110479" y="4110318"/>
                  <a:pt x="4125191" y="5100583"/>
                  <a:pt x="2884405" y="5226591"/>
                </a:cubicBezTo>
                <a:lnTo>
                  <a:pt x="2798081" y="5230950"/>
                </a:lnTo>
                <a:lnTo>
                  <a:pt x="2798081" y="3913730"/>
                </a:lnTo>
                <a:lnTo>
                  <a:pt x="2880529" y="3901147"/>
                </a:lnTo>
                <a:cubicBezTo>
                  <a:pt x="3393108" y="3796258"/>
                  <a:pt x="3796831" y="3392535"/>
                  <a:pt x="3901720" y="2879956"/>
                </a:cubicBezTo>
                <a:close/>
                <a:moveTo>
                  <a:pt x="0" y="2797508"/>
                </a:moveTo>
                <a:lnTo>
                  <a:pt x="1317793" y="2797508"/>
                </a:lnTo>
                <a:lnTo>
                  <a:pt x="1330376" y="2879956"/>
                </a:lnTo>
                <a:cubicBezTo>
                  <a:pt x="1435265" y="3392535"/>
                  <a:pt x="1838988" y="3796258"/>
                  <a:pt x="2351567" y="3901147"/>
                </a:cubicBezTo>
                <a:lnTo>
                  <a:pt x="2434015" y="3913730"/>
                </a:lnTo>
                <a:lnTo>
                  <a:pt x="2434015" y="5230950"/>
                </a:lnTo>
                <a:lnTo>
                  <a:pt x="2347691" y="5226591"/>
                </a:lnTo>
                <a:cubicBezTo>
                  <a:pt x="1106905" y="5100583"/>
                  <a:pt x="121617" y="4110318"/>
                  <a:pt x="3303" y="2867273"/>
                </a:cubicBezTo>
                <a:close/>
                <a:moveTo>
                  <a:pt x="2798081" y="0"/>
                </a:moveTo>
                <a:lnTo>
                  <a:pt x="2884405" y="4359"/>
                </a:lnTo>
                <a:cubicBezTo>
                  <a:pt x="4125191" y="130368"/>
                  <a:pt x="5110479" y="1120633"/>
                  <a:pt x="5228793" y="2363677"/>
                </a:cubicBezTo>
                <a:lnTo>
                  <a:pt x="5232096" y="2433442"/>
                </a:lnTo>
                <a:lnTo>
                  <a:pt x="3914303" y="2433442"/>
                </a:lnTo>
                <a:lnTo>
                  <a:pt x="3901720" y="2350994"/>
                </a:lnTo>
                <a:cubicBezTo>
                  <a:pt x="3796831" y="1838415"/>
                  <a:pt x="3393108" y="1434692"/>
                  <a:pt x="2880529" y="1329803"/>
                </a:cubicBezTo>
                <a:lnTo>
                  <a:pt x="2798081" y="1317220"/>
                </a:lnTo>
                <a:close/>
                <a:moveTo>
                  <a:pt x="2434015" y="0"/>
                </a:moveTo>
                <a:lnTo>
                  <a:pt x="2434015" y="1317220"/>
                </a:lnTo>
                <a:lnTo>
                  <a:pt x="2351567" y="1329803"/>
                </a:lnTo>
                <a:cubicBezTo>
                  <a:pt x="1838988" y="1434692"/>
                  <a:pt x="1435265" y="1838415"/>
                  <a:pt x="1330376" y="2350994"/>
                </a:cubicBezTo>
                <a:lnTo>
                  <a:pt x="1317793" y="2433442"/>
                </a:lnTo>
                <a:lnTo>
                  <a:pt x="0" y="2433442"/>
                </a:lnTo>
                <a:lnTo>
                  <a:pt x="3303" y="2363677"/>
                </a:lnTo>
                <a:cubicBezTo>
                  <a:pt x="121617" y="1120633"/>
                  <a:pt x="1106905" y="130368"/>
                  <a:pt x="2347691" y="4359"/>
                </a:cubicBezTo>
                <a:close/>
              </a:path>
            </a:pathLst>
          </a:custGeom>
          <a:ln>
            <a:noFill/>
          </a:ln>
          <a:effectLst>
            <a:outerShdw blurRad="508000" sx="102000" sy="102000" algn="ctr" rotWithShape="0">
              <a:prstClr val="black">
                <a:alpha val="7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文本框 2">
            <a:extLst>
              <a:ext uri="{FF2B5EF4-FFF2-40B4-BE49-F238E27FC236}">
                <a16:creationId xmlns:a16="http://schemas.microsoft.com/office/drawing/2014/main" id="{BF9A0C2A-2AE1-0662-50B9-97BE3E3B767E}"/>
              </a:ext>
            </a:extLst>
          </p:cNvPr>
          <p:cNvSpPr txBox="1"/>
          <p:nvPr/>
        </p:nvSpPr>
        <p:spPr>
          <a:xfrm>
            <a:off x="259344" y="1012954"/>
            <a:ext cx="5318288" cy="5447645"/>
          </a:xfrm>
          <a:prstGeom prst="rect">
            <a:avLst/>
          </a:prstGeom>
          <a:noFill/>
        </p:spPr>
        <p:txBody>
          <a:bodyPr wrap="square" rtlCol="0">
            <a:spAutoFit/>
          </a:bodyPr>
          <a:lstStyle/>
          <a:p>
            <a:r>
              <a:rPr lang="zh-CN" altLang="zh-CN" sz="2800" dirty="0">
                <a:solidFill>
                  <a:schemeClr val="bg1"/>
                </a:solidFill>
                <a:latin typeface="华文楷体" panose="02010600040101010101" pitchFamily="2" charset="-122"/>
                <a:ea typeface="华文楷体" panose="02010600040101010101" pitchFamily="2" charset="-122"/>
              </a:rPr>
              <a:t>我们可以通过多种途径进行自我探索，包括</a:t>
            </a:r>
            <a:endParaRPr lang="en-US" altLang="zh-CN" sz="2800" dirty="0">
              <a:solidFill>
                <a:schemeClr val="bg1"/>
              </a:solidFill>
              <a:latin typeface="华文楷体" panose="02010600040101010101" pitchFamily="2" charset="-122"/>
              <a:ea typeface="华文楷体" panose="02010600040101010101" pitchFamily="2" charset="-122"/>
            </a:endParaRPr>
          </a:p>
          <a:p>
            <a:r>
              <a:rPr lang="zh-CN" altLang="zh-CN" sz="4000" b="1" u="sng" dirty="0">
                <a:solidFill>
                  <a:schemeClr val="bg1"/>
                </a:solidFill>
                <a:latin typeface="华文楷体" panose="02010600040101010101" pitchFamily="2" charset="-122"/>
                <a:ea typeface="华文楷体" panose="02010600040101010101" pitchFamily="2" charset="-122"/>
              </a:rPr>
              <a:t>反思自己的经历、观察自己在不同情境中的反应、与他人进行真诚的交流并从他们的反馈中学习，以及不断尝试新的事物和挑战，以发现自己的潜力和兴趣。</a:t>
            </a:r>
          </a:p>
        </p:txBody>
      </p:sp>
    </p:spTree>
    <p:extLst>
      <p:ext uri="{BB962C8B-B14F-4D97-AF65-F5344CB8AC3E}">
        <p14:creationId xmlns:p14="http://schemas.microsoft.com/office/powerpoint/2010/main" val="17012202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3000" b="-13000"/>
          </a:stretch>
        </a:blipFill>
        <a:effectLst/>
      </p:bgPr>
    </p:bg>
    <p:spTree>
      <p:nvGrpSpPr>
        <p:cNvPr id="1" name="">
          <a:extLst>
            <a:ext uri="{FF2B5EF4-FFF2-40B4-BE49-F238E27FC236}">
              <a16:creationId xmlns:a16="http://schemas.microsoft.com/office/drawing/2014/main" id="{1F02E91C-30DE-6202-DE75-A6EA216C1D48}"/>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8AA9B5D6-6527-E572-9805-0A50B3B49E2C}"/>
              </a:ext>
            </a:extLst>
          </p:cNvPr>
          <p:cNvSpPr/>
          <p:nvPr/>
        </p:nvSpPr>
        <p:spPr>
          <a:xfrm>
            <a:off x="0" y="0"/>
            <a:ext cx="12192000" cy="6858000"/>
          </a:xfrm>
          <a:prstGeom prst="rect">
            <a:avLst/>
          </a:prstGeom>
          <a:gradFill>
            <a:gsLst>
              <a:gs pos="0">
                <a:schemeClr val="tx1"/>
              </a:gs>
              <a:gs pos="95402">
                <a:schemeClr val="bg1">
                  <a:alpha val="71000"/>
                </a:schemeClr>
              </a:gs>
              <a:gs pos="66000">
                <a:schemeClr val="bg2">
                  <a:alpha val="60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11" name="任意多边形: 形状 10">
            <a:extLst>
              <a:ext uri="{FF2B5EF4-FFF2-40B4-BE49-F238E27FC236}">
                <a16:creationId xmlns:a16="http://schemas.microsoft.com/office/drawing/2014/main" id="{21625A05-3D52-EC71-DB42-98A0FDD9C8A7}"/>
              </a:ext>
            </a:extLst>
          </p:cNvPr>
          <p:cNvSpPr>
            <a:spLocks noChangeAspect="1"/>
          </p:cNvSpPr>
          <p:nvPr/>
        </p:nvSpPr>
        <p:spPr>
          <a:xfrm rot="2613231">
            <a:off x="6225540" y="-1516526"/>
            <a:ext cx="9943239" cy="9941062"/>
          </a:xfrm>
          <a:custGeom>
            <a:avLst/>
            <a:gdLst>
              <a:gd name="connsiteX0" fmla="*/ 3914303 w 5232096"/>
              <a:gd name="connsiteY0" fmla="*/ 2797508 h 5230950"/>
              <a:gd name="connsiteX1" fmla="*/ 5232096 w 5232096"/>
              <a:gd name="connsiteY1" fmla="*/ 2797508 h 5230950"/>
              <a:gd name="connsiteX2" fmla="*/ 5228793 w 5232096"/>
              <a:gd name="connsiteY2" fmla="*/ 2867273 h 5230950"/>
              <a:gd name="connsiteX3" fmla="*/ 2884405 w 5232096"/>
              <a:gd name="connsiteY3" fmla="*/ 5226591 h 5230950"/>
              <a:gd name="connsiteX4" fmla="*/ 2798081 w 5232096"/>
              <a:gd name="connsiteY4" fmla="*/ 5230950 h 5230950"/>
              <a:gd name="connsiteX5" fmla="*/ 2798081 w 5232096"/>
              <a:gd name="connsiteY5" fmla="*/ 3913730 h 5230950"/>
              <a:gd name="connsiteX6" fmla="*/ 2880529 w 5232096"/>
              <a:gd name="connsiteY6" fmla="*/ 3901147 h 5230950"/>
              <a:gd name="connsiteX7" fmla="*/ 3901720 w 5232096"/>
              <a:gd name="connsiteY7" fmla="*/ 2879956 h 5230950"/>
              <a:gd name="connsiteX8" fmla="*/ 0 w 5232096"/>
              <a:gd name="connsiteY8" fmla="*/ 2797508 h 5230950"/>
              <a:gd name="connsiteX9" fmla="*/ 1317793 w 5232096"/>
              <a:gd name="connsiteY9" fmla="*/ 2797508 h 5230950"/>
              <a:gd name="connsiteX10" fmla="*/ 1330376 w 5232096"/>
              <a:gd name="connsiteY10" fmla="*/ 2879956 h 5230950"/>
              <a:gd name="connsiteX11" fmla="*/ 2351567 w 5232096"/>
              <a:gd name="connsiteY11" fmla="*/ 3901147 h 5230950"/>
              <a:gd name="connsiteX12" fmla="*/ 2434015 w 5232096"/>
              <a:gd name="connsiteY12" fmla="*/ 3913730 h 5230950"/>
              <a:gd name="connsiteX13" fmla="*/ 2434015 w 5232096"/>
              <a:gd name="connsiteY13" fmla="*/ 5230950 h 5230950"/>
              <a:gd name="connsiteX14" fmla="*/ 2347691 w 5232096"/>
              <a:gd name="connsiteY14" fmla="*/ 5226591 h 5230950"/>
              <a:gd name="connsiteX15" fmla="*/ 3303 w 5232096"/>
              <a:gd name="connsiteY15" fmla="*/ 2867273 h 5230950"/>
              <a:gd name="connsiteX16" fmla="*/ 2798081 w 5232096"/>
              <a:gd name="connsiteY16" fmla="*/ 0 h 5230950"/>
              <a:gd name="connsiteX17" fmla="*/ 2884405 w 5232096"/>
              <a:gd name="connsiteY17" fmla="*/ 4359 h 5230950"/>
              <a:gd name="connsiteX18" fmla="*/ 5228793 w 5232096"/>
              <a:gd name="connsiteY18" fmla="*/ 2363677 h 5230950"/>
              <a:gd name="connsiteX19" fmla="*/ 5232096 w 5232096"/>
              <a:gd name="connsiteY19" fmla="*/ 2433442 h 5230950"/>
              <a:gd name="connsiteX20" fmla="*/ 3914303 w 5232096"/>
              <a:gd name="connsiteY20" fmla="*/ 2433442 h 5230950"/>
              <a:gd name="connsiteX21" fmla="*/ 3901720 w 5232096"/>
              <a:gd name="connsiteY21" fmla="*/ 2350994 h 5230950"/>
              <a:gd name="connsiteX22" fmla="*/ 2880529 w 5232096"/>
              <a:gd name="connsiteY22" fmla="*/ 1329803 h 5230950"/>
              <a:gd name="connsiteX23" fmla="*/ 2798081 w 5232096"/>
              <a:gd name="connsiteY23" fmla="*/ 1317220 h 5230950"/>
              <a:gd name="connsiteX24" fmla="*/ 2434015 w 5232096"/>
              <a:gd name="connsiteY24" fmla="*/ 0 h 5230950"/>
              <a:gd name="connsiteX25" fmla="*/ 2434015 w 5232096"/>
              <a:gd name="connsiteY25" fmla="*/ 1317220 h 5230950"/>
              <a:gd name="connsiteX26" fmla="*/ 2351567 w 5232096"/>
              <a:gd name="connsiteY26" fmla="*/ 1329803 h 5230950"/>
              <a:gd name="connsiteX27" fmla="*/ 1330376 w 5232096"/>
              <a:gd name="connsiteY27" fmla="*/ 2350994 h 5230950"/>
              <a:gd name="connsiteX28" fmla="*/ 1317793 w 5232096"/>
              <a:gd name="connsiteY28" fmla="*/ 2433442 h 5230950"/>
              <a:gd name="connsiteX29" fmla="*/ 0 w 5232096"/>
              <a:gd name="connsiteY29" fmla="*/ 2433442 h 5230950"/>
              <a:gd name="connsiteX30" fmla="*/ 3303 w 5232096"/>
              <a:gd name="connsiteY30" fmla="*/ 2363677 h 5230950"/>
              <a:gd name="connsiteX31" fmla="*/ 2347691 w 5232096"/>
              <a:gd name="connsiteY31" fmla="*/ 4359 h 5230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232096" h="5230950">
                <a:moveTo>
                  <a:pt x="3914303" y="2797508"/>
                </a:moveTo>
                <a:lnTo>
                  <a:pt x="5232096" y="2797508"/>
                </a:lnTo>
                <a:lnTo>
                  <a:pt x="5228793" y="2867273"/>
                </a:lnTo>
                <a:cubicBezTo>
                  <a:pt x="5110479" y="4110318"/>
                  <a:pt x="4125191" y="5100583"/>
                  <a:pt x="2884405" y="5226591"/>
                </a:cubicBezTo>
                <a:lnTo>
                  <a:pt x="2798081" y="5230950"/>
                </a:lnTo>
                <a:lnTo>
                  <a:pt x="2798081" y="3913730"/>
                </a:lnTo>
                <a:lnTo>
                  <a:pt x="2880529" y="3901147"/>
                </a:lnTo>
                <a:cubicBezTo>
                  <a:pt x="3393108" y="3796258"/>
                  <a:pt x="3796831" y="3392535"/>
                  <a:pt x="3901720" y="2879956"/>
                </a:cubicBezTo>
                <a:close/>
                <a:moveTo>
                  <a:pt x="0" y="2797508"/>
                </a:moveTo>
                <a:lnTo>
                  <a:pt x="1317793" y="2797508"/>
                </a:lnTo>
                <a:lnTo>
                  <a:pt x="1330376" y="2879956"/>
                </a:lnTo>
                <a:cubicBezTo>
                  <a:pt x="1435265" y="3392535"/>
                  <a:pt x="1838988" y="3796258"/>
                  <a:pt x="2351567" y="3901147"/>
                </a:cubicBezTo>
                <a:lnTo>
                  <a:pt x="2434015" y="3913730"/>
                </a:lnTo>
                <a:lnTo>
                  <a:pt x="2434015" y="5230950"/>
                </a:lnTo>
                <a:lnTo>
                  <a:pt x="2347691" y="5226591"/>
                </a:lnTo>
                <a:cubicBezTo>
                  <a:pt x="1106905" y="5100583"/>
                  <a:pt x="121617" y="4110318"/>
                  <a:pt x="3303" y="2867273"/>
                </a:cubicBezTo>
                <a:close/>
                <a:moveTo>
                  <a:pt x="2798081" y="0"/>
                </a:moveTo>
                <a:lnTo>
                  <a:pt x="2884405" y="4359"/>
                </a:lnTo>
                <a:cubicBezTo>
                  <a:pt x="4125191" y="130368"/>
                  <a:pt x="5110479" y="1120633"/>
                  <a:pt x="5228793" y="2363677"/>
                </a:cubicBezTo>
                <a:lnTo>
                  <a:pt x="5232096" y="2433442"/>
                </a:lnTo>
                <a:lnTo>
                  <a:pt x="3914303" y="2433442"/>
                </a:lnTo>
                <a:lnTo>
                  <a:pt x="3901720" y="2350994"/>
                </a:lnTo>
                <a:cubicBezTo>
                  <a:pt x="3796831" y="1838415"/>
                  <a:pt x="3393108" y="1434692"/>
                  <a:pt x="2880529" y="1329803"/>
                </a:cubicBezTo>
                <a:lnTo>
                  <a:pt x="2798081" y="1317220"/>
                </a:lnTo>
                <a:close/>
                <a:moveTo>
                  <a:pt x="2434015" y="0"/>
                </a:moveTo>
                <a:lnTo>
                  <a:pt x="2434015" y="1317220"/>
                </a:lnTo>
                <a:lnTo>
                  <a:pt x="2351567" y="1329803"/>
                </a:lnTo>
                <a:cubicBezTo>
                  <a:pt x="1838988" y="1434692"/>
                  <a:pt x="1435265" y="1838415"/>
                  <a:pt x="1330376" y="2350994"/>
                </a:cubicBezTo>
                <a:lnTo>
                  <a:pt x="1317793" y="2433442"/>
                </a:lnTo>
                <a:lnTo>
                  <a:pt x="0" y="2433442"/>
                </a:lnTo>
                <a:lnTo>
                  <a:pt x="3303" y="2363677"/>
                </a:lnTo>
                <a:cubicBezTo>
                  <a:pt x="121617" y="1120633"/>
                  <a:pt x="1106905" y="130368"/>
                  <a:pt x="2347691" y="4359"/>
                </a:cubicBezTo>
                <a:close/>
              </a:path>
            </a:pathLst>
          </a:custGeom>
          <a:ln>
            <a:noFill/>
          </a:ln>
          <a:effectLst>
            <a:outerShdw blurRad="508000" sx="102000" sy="102000" algn="ctr" rotWithShape="0">
              <a:prstClr val="black">
                <a:alpha val="7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文本框 2">
            <a:extLst>
              <a:ext uri="{FF2B5EF4-FFF2-40B4-BE49-F238E27FC236}">
                <a16:creationId xmlns:a16="http://schemas.microsoft.com/office/drawing/2014/main" id="{A9D31C08-B3C8-B1FE-6103-C7AA350DC5F3}"/>
              </a:ext>
            </a:extLst>
          </p:cNvPr>
          <p:cNvSpPr txBox="1"/>
          <p:nvPr/>
        </p:nvSpPr>
        <p:spPr>
          <a:xfrm>
            <a:off x="168113" y="1320730"/>
            <a:ext cx="5927887" cy="4031873"/>
          </a:xfrm>
          <a:prstGeom prst="rect">
            <a:avLst/>
          </a:prstGeom>
          <a:noFill/>
        </p:spPr>
        <p:txBody>
          <a:bodyPr wrap="square" rtlCol="0">
            <a:spAutoFit/>
          </a:bodyPr>
          <a:lstStyle/>
          <a:p>
            <a:r>
              <a:rPr lang="zh-CN" altLang="zh-CN" sz="2800" dirty="0">
                <a:solidFill>
                  <a:schemeClr val="bg1"/>
                </a:solidFill>
                <a:latin typeface="华文楷体" panose="02010600040101010101" pitchFamily="2" charset="-122"/>
                <a:ea typeface="华文楷体" panose="02010600040101010101" pitchFamily="2" charset="-122"/>
              </a:rPr>
              <a:t>认识自我是一个持续的过程，具有极其重要的意义。对个人而言，清晰地</a:t>
            </a:r>
            <a:r>
              <a:rPr lang="zh-CN" altLang="zh-CN" sz="4000" b="1" u="sng" dirty="0">
                <a:solidFill>
                  <a:schemeClr val="bg1"/>
                </a:solidFill>
                <a:latin typeface="华文楷体" panose="02010600040101010101" pitchFamily="2" charset="-122"/>
                <a:ea typeface="华文楷体" panose="02010600040101010101" pitchFamily="2" charset="-122"/>
              </a:rPr>
              <a:t>认识自我能够助力精准定位人生目标</a:t>
            </a:r>
            <a:r>
              <a:rPr lang="zh-CN" altLang="zh-CN" sz="2800" dirty="0">
                <a:solidFill>
                  <a:schemeClr val="bg1"/>
                </a:solidFill>
                <a:latin typeface="华文楷体" panose="02010600040101010101" pitchFamily="2" charset="-122"/>
                <a:ea typeface="华文楷体" panose="02010600040101010101" pitchFamily="2" charset="-122"/>
              </a:rPr>
              <a:t>，在面对众多选择时做出契合自身的决策，</a:t>
            </a:r>
            <a:r>
              <a:rPr lang="zh-CN" altLang="zh-CN" sz="4000" b="1" u="sng" dirty="0">
                <a:solidFill>
                  <a:schemeClr val="bg1"/>
                </a:solidFill>
                <a:latin typeface="华文楷体" panose="02010600040101010101" pitchFamily="2" charset="-122"/>
                <a:ea typeface="华文楷体" panose="02010600040101010101" pitchFamily="2" charset="-122"/>
              </a:rPr>
              <a:t>避免盲目跟从，从而更高效地实现个人价值。</a:t>
            </a:r>
            <a:endParaRPr lang="zh-CN" altLang="zh-CN" sz="2800" b="1" dirty="0">
              <a:solidFill>
                <a:schemeClr val="bg1"/>
              </a:solidFill>
              <a:latin typeface="华文楷体" panose="02010600040101010101" pitchFamily="2" charset="-122"/>
              <a:ea typeface="华文楷体" panose="02010600040101010101" pitchFamily="2" charset="-122"/>
            </a:endParaRPr>
          </a:p>
        </p:txBody>
      </p:sp>
    </p:spTree>
    <p:extLst>
      <p:ext uri="{BB962C8B-B14F-4D97-AF65-F5344CB8AC3E}">
        <p14:creationId xmlns:p14="http://schemas.microsoft.com/office/powerpoint/2010/main" val="202260155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17000" b="-17000"/>
          </a:stretch>
        </a:blipFill>
        <a:effectLst/>
      </p:bgPr>
    </p:bg>
    <p:spTree>
      <p:nvGrpSpPr>
        <p:cNvPr id="1" name="">
          <a:extLst>
            <a:ext uri="{FF2B5EF4-FFF2-40B4-BE49-F238E27FC236}">
              <a16:creationId xmlns:a16="http://schemas.microsoft.com/office/drawing/2014/main" id="{5D0A23A4-3E87-7CA9-2B10-8DA97961D2D7}"/>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C98DD9FB-5905-F1EC-4F41-4C84F4C9B399}"/>
              </a:ext>
            </a:extLst>
          </p:cNvPr>
          <p:cNvSpPr/>
          <p:nvPr/>
        </p:nvSpPr>
        <p:spPr>
          <a:xfrm>
            <a:off x="0" y="0"/>
            <a:ext cx="12192000" cy="6858000"/>
          </a:xfrm>
          <a:prstGeom prst="rect">
            <a:avLst/>
          </a:prstGeom>
          <a:gradFill>
            <a:gsLst>
              <a:gs pos="0">
                <a:schemeClr val="tx1"/>
              </a:gs>
              <a:gs pos="95402">
                <a:schemeClr val="bg1">
                  <a:alpha val="71000"/>
                </a:schemeClr>
              </a:gs>
              <a:gs pos="66000">
                <a:schemeClr val="bg2">
                  <a:alpha val="60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11" name="任意多边形: 形状 10">
            <a:extLst>
              <a:ext uri="{FF2B5EF4-FFF2-40B4-BE49-F238E27FC236}">
                <a16:creationId xmlns:a16="http://schemas.microsoft.com/office/drawing/2014/main" id="{F8F8E4DD-4F98-6862-A5C7-BA223D94444B}"/>
              </a:ext>
            </a:extLst>
          </p:cNvPr>
          <p:cNvSpPr>
            <a:spLocks noChangeAspect="1"/>
          </p:cNvSpPr>
          <p:nvPr/>
        </p:nvSpPr>
        <p:spPr>
          <a:xfrm rot="8120421">
            <a:off x="6225540" y="-1516526"/>
            <a:ext cx="9943239" cy="9941062"/>
          </a:xfrm>
          <a:custGeom>
            <a:avLst/>
            <a:gdLst>
              <a:gd name="connsiteX0" fmla="*/ 3914303 w 5232096"/>
              <a:gd name="connsiteY0" fmla="*/ 2797508 h 5230950"/>
              <a:gd name="connsiteX1" fmla="*/ 5232096 w 5232096"/>
              <a:gd name="connsiteY1" fmla="*/ 2797508 h 5230950"/>
              <a:gd name="connsiteX2" fmla="*/ 5228793 w 5232096"/>
              <a:gd name="connsiteY2" fmla="*/ 2867273 h 5230950"/>
              <a:gd name="connsiteX3" fmla="*/ 2884405 w 5232096"/>
              <a:gd name="connsiteY3" fmla="*/ 5226591 h 5230950"/>
              <a:gd name="connsiteX4" fmla="*/ 2798081 w 5232096"/>
              <a:gd name="connsiteY4" fmla="*/ 5230950 h 5230950"/>
              <a:gd name="connsiteX5" fmla="*/ 2798081 w 5232096"/>
              <a:gd name="connsiteY5" fmla="*/ 3913730 h 5230950"/>
              <a:gd name="connsiteX6" fmla="*/ 2880529 w 5232096"/>
              <a:gd name="connsiteY6" fmla="*/ 3901147 h 5230950"/>
              <a:gd name="connsiteX7" fmla="*/ 3901720 w 5232096"/>
              <a:gd name="connsiteY7" fmla="*/ 2879956 h 5230950"/>
              <a:gd name="connsiteX8" fmla="*/ 0 w 5232096"/>
              <a:gd name="connsiteY8" fmla="*/ 2797508 h 5230950"/>
              <a:gd name="connsiteX9" fmla="*/ 1317793 w 5232096"/>
              <a:gd name="connsiteY9" fmla="*/ 2797508 h 5230950"/>
              <a:gd name="connsiteX10" fmla="*/ 1330376 w 5232096"/>
              <a:gd name="connsiteY10" fmla="*/ 2879956 h 5230950"/>
              <a:gd name="connsiteX11" fmla="*/ 2351567 w 5232096"/>
              <a:gd name="connsiteY11" fmla="*/ 3901147 h 5230950"/>
              <a:gd name="connsiteX12" fmla="*/ 2434015 w 5232096"/>
              <a:gd name="connsiteY12" fmla="*/ 3913730 h 5230950"/>
              <a:gd name="connsiteX13" fmla="*/ 2434015 w 5232096"/>
              <a:gd name="connsiteY13" fmla="*/ 5230950 h 5230950"/>
              <a:gd name="connsiteX14" fmla="*/ 2347691 w 5232096"/>
              <a:gd name="connsiteY14" fmla="*/ 5226591 h 5230950"/>
              <a:gd name="connsiteX15" fmla="*/ 3303 w 5232096"/>
              <a:gd name="connsiteY15" fmla="*/ 2867273 h 5230950"/>
              <a:gd name="connsiteX16" fmla="*/ 2798081 w 5232096"/>
              <a:gd name="connsiteY16" fmla="*/ 0 h 5230950"/>
              <a:gd name="connsiteX17" fmla="*/ 2884405 w 5232096"/>
              <a:gd name="connsiteY17" fmla="*/ 4359 h 5230950"/>
              <a:gd name="connsiteX18" fmla="*/ 5228793 w 5232096"/>
              <a:gd name="connsiteY18" fmla="*/ 2363677 h 5230950"/>
              <a:gd name="connsiteX19" fmla="*/ 5232096 w 5232096"/>
              <a:gd name="connsiteY19" fmla="*/ 2433442 h 5230950"/>
              <a:gd name="connsiteX20" fmla="*/ 3914303 w 5232096"/>
              <a:gd name="connsiteY20" fmla="*/ 2433442 h 5230950"/>
              <a:gd name="connsiteX21" fmla="*/ 3901720 w 5232096"/>
              <a:gd name="connsiteY21" fmla="*/ 2350994 h 5230950"/>
              <a:gd name="connsiteX22" fmla="*/ 2880529 w 5232096"/>
              <a:gd name="connsiteY22" fmla="*/ 1329803 h 5230950"/>
              <a:gd name="connsiteX23" fmla="*/ 2798081 w 5232096"/>
              <a:gd name="connsiteY23" fmla="*/ 1317220 h 5230950"/>
              <a:gd name="connsiteX24" fmla="*/ 2434015 w 5232096"/>
              <a:gd name="connsiteY24" fmla="*/ 0 h 5230950"/>
              <a:gd name="connsiteX25" fmla="*/ 2434015 w 5232096"/>
              <a:gd name="connsiteY25" fmla="*/ 1317220 h 5230950"/>
              <a:gd name="connsiteX26" fmla="*/ 2351567 w 5232096"/>
              <a:gd name="connsiteY26" fmla="*/ 1329803 h 5230950"/>
              <a:gd name="connsiteX27" fmla="*/ 1330376 w 5232096"/>
              <a:gd name="connsiteY27" fmla="*/ 2350994 h 5230950"/>
              <a:gd name="connsiteX28" fmla="*/ 1317793 w 5232096"/>
              <a:gd name="connsiteY28" fmla="*/ 2433442 h 5230950"/>
              <a:gd name="connsiteX29" fmla="*/ 0 w 5232096"/>
              <a:gd name="connsiteY29" fmla="*/ 2433442 h 5230950"/>
              <a:gd name="connsiteX30" fmla="*/ 3303 w 5232096"/>
              <a:gd name="connsiteY30" fmla="*/ 2363677 h 5230950"/>
              <a:gd name="connsiteX31" fmla="*/ 2347691 w 5232096"/>
              <a:gd name="connsiteY31" fmla="*/ 4359 h 5230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232096" h="5230950">
                <a:moveTo>
                  <a:pt x="3914303" y="2797508"/>
                </a:moveTo>
                <a:lnTo>
                  <a:pt x="5232096" y="2797508"/>
                </a:lnTo>
                <a:lnTo>
                  <a:pt x="5228793" y="2867273"/>
                </a:lnTo>
                <a:cubicBezTo>
                  <a:pt x="5110479" y="4110318"/>
                  <a:pt x="4125191" y="5100583"/>
                  <a:pt x="2884405" y="5226591"/>
                </a:cubicBezTo>
                <a:lnTo>
                  <a:pt x="2798081" y="5230950"/>
                </a:lnTo>
                <a:lnTo>
                  <a:pt x="2798081" y="3913730"/>
                </a:lnTo>
                <a:lnTo>
                  <a:pt x="2880529" y="3901147"/>
                </a:lnTo>
                <a:cubicBezTo>
                  <a:pt x="3393108" y="3796258"/>
                  <a:pt x="3796831" y="3392535"/>
                  <a:pt x="3901720" y="2879956"/>
                </a:cubicBezTo>
                <a:close/>
                <a:moveTo>
                  <a:pt x="0" y="2797508"/>
                </a:moveTo>
                <a:lnTo>
                  <a:pt x="1317793" y="2797508"/>
                </a:lnTo>
                <a:lnTo>
                  <a:pt x="1330376" y="2879956"/>
                </a:lnTo>
                <a:cubicBezTo>
                  <a:pt x="1435265" y="3392535"/>
                  <a:pt x="1838988" y="3796258"/>
                  <a:pt x="2351567" y="3901147"/>
                </a:cubicBezTo>
                <a:lnTo>
                  <a:pt x="2434015" y="3913730"/>
                </a:lnTo>
                <a:lnTo>
                  <a:pt x="2434015" y="5230950"/>
                </a:lnTo>
                <a:lnTo>
                  <a:pt x="2347691" y="5226591"/>
                </a:lnTo>
                <a:cubicBezTo>
                  <a:pt x="1106905" y="5100583"/>
                  <a:pt x="121617" y="4110318"/>
                  <a:pt x="3303" y="2867273"/>
                </a:cubicBezTo>
                <a:close/>
                <a:moveTo>
                  <a:pt x="2798081" y="0"/>
                </a:moveTo>
                <a:lnTo>
                  <a:pt x="2884405" y="4359"/>
                </a:lnTo>
                <a:cubicBezTo>
                  <a:pt x="4125191" y="130368"/>
                  <a:pt x="5110479" y="1120633"/>
                  <a:pt x="5228793" y="2363677"/>
                </a:cubicBezTo>
                <a:lnTo>
                  <a:pt x="5232096" y="2433442"/>
                </a:lnTo>
                <a:lnTo>
                  <a:pt x="3914303" y="2433442"/>
                </a:lnTo>
                <a:lnTo>
                  <a:pt x="3901720" y="2350994"/>
                </a:lnTo>
                <a:cubicBezTo>
                  <a:pt x="3796831" y="1838415"/>
                  <a:pt x="3393108" y="1434692"/>
                  <a:pt x="2880529" y="1329803"/>
                </a:cubicBezTo>
                <a:lnTo>
                  <a:pt x="2798081" y="1317220"/>
                </a:lnTo>
                <a:close/>
                <a:moveTo>
                  <a:pt x="2434015" y="0"/>
                </a:moveTo>
                <a:lnTo>
                  <a:pt x="2434015" y="1317220"/>
                </a:lnTo>
                <a:lnTo>
                  <a:pt x="2351567" y="1329803"/>
                </a:lnTo>
                <a:cubicBezTo>
                  <a:pt x="1838988" y="1434692"/>
                  <a:pt x="1435265" y="1838415"/>
                  <a:pt x="1330376" y="2350994"/>
                </a:cubicBezTo>
                <a:lnTo>
                  <a:pt x="1317793" y="2433442"/>
                </a:lnTo>
                <a:lnTo>
                  <a:pt x="0" y="2433442"/>
                </a:lnTo>
                <a:lnTo>
                  <a:pt x="3303" y="2363677"/>
                </a:lnTo>
                <a:cubicBezTo>
                  <a:pt x="121617" y="1120633"/>
                  <a:pt x="1106905" y="130368"/>
                  <a:pt x="2347691" y="4359"/>
                </a:cubicBezTo>
                <a:close/>
              </a:path>
            </a:pathLst>
          </a:custGeom>
          <a:ln>
            <a:noFill/>
          </a:ln>
          <a:effectLst>
            <a:outerShdw blurRad="508000" sx="102000" sy="102000" algn="ctr" rotWithShape="0">
              <a:prstClr val="black">
                <a:alpha val="7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文本框 2">
            <a:extLst>
              <a:ext uri="{FF2B5EF4-FFF2-40B4-BE49-F238E27FC236}">
                <a16:creationId xmlns:a16="http://schemas.microsoft.com/office/drawing/2014/main" id="{31F94AF5-3B1A-A673-D48C-084B70DDC294}"/>
              </a:ext>
            </a:extLst>
          </p:cNvPr>
          <p:cNvSpPr txBox="1"/>
          <p:nvPr/>
        </p:nvSpPr>
        <p:spPr>
          <a:xfrm>
            <a:off x="168113" y="1690062"/>
            <a:ext cx="5927887" cy="3908762"/>
          </a:xfrm>
          <a:prstGeom prst="rect">
            <a:avLst/>
          </a:prstGeom>
          <a:noFill/>
        </p:spPr>
        <p:txBody>
          <a:bodyPr wrap="square" rtlCol="0">
            <a:spAutoFit/>
          </a:bodyPr>
          <a:lstStyle/>
          <a:p>
            <a:r>
              <a:rPr lang="zh-CN" altLang="zh-CN" sz="2800" dirty="0">
                <a:solidFill>
                  <a:schemeClr val="bg1"/>
                </a:solidFill>
                <a:latin typeface="华文楷体" panose="02010600040101010101" pitchFamily="2" charset="-122"/>
                <a:ea typeface="华文楷体" panose="02010600040101010101" pitchFamily="2" charset="-122"/>
              </a:rPr>
              <a:t>从社会层面来看，当个体都能深入认识自我时，</a:t>
            </a:r>
            <a:r>
              <a:rPr lang="zh-CN" altLang="zh-CN" sz="4000" b="1" u="sng" dirty="0">
                <a:solidFill>
                  <a:schemeClr val="bg1"/>
                </a:solidFill>
                <a:latin typeface="华文楷体" panose="02010600040101010101" pitchFamily="2" charset="-122"/>
                <a:ea typeface="华文楷体" panose="02010600040101010101" pitchFamily="2" charset="-122"/>
              </a:rPr>
              <a:t>整个社会的人力资源配置将更为合理</a:t>
            </a:r>
            <a:r>
              <a:rPr lang="zh-CN" altLang="zh-CN" sz="2800" dirty="0">
                <a:solidFill>
                  <a:schemeClr val="bg1"/>
                </a:solidFill>
                <a:latin typeface="华文楷体" panose="02010600040101010101" pitchFamily="2" charset="-122"/>
                <a:ea typeface="华文楷体" panose="02010600040101010101" pitchFamily="2" charset="-122"/>
              </a:rPr>
              <a:t>，人际沟通与协作也会更加顺畅和谐。只有真正认识自己，我们才能在人生的道路上更加自信地前行，充分发挥自己的优势，克服困难，实现自己的人生价值。</a:t>
            </a:r>
          </a:p>
        </p:txBody>
      </p:sp>
    </p:spTree>
    <p:extLst>
      <p:ext uri="{BB962C8B-B14F-4D97-AF65-F5344CB8AC3E}">
        <p14:creationId xmlns:p14="http://schemas.microsoft.com/office/powerpoint/2010/main" val="123956371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t="-6000" b="-6000"/>
          </a:stretch>
        </a:blipFill>
        <a:effectLst/>
      </p:bgPr>
    </p:bg>
    <p:spTree>
      <p:nvGrpSpPr>
        <p:cNvPr id="1" name="">
          <a:extLst>
            <a:ext uri="{FF2B5EF4-FFF2-40B4-BE49-F238E27FC236}">
              <a16:creationId xmlns:a16="http://schemas.microsoft.com/office/drawing/2014/main" id="{08D51FB7-57B9-A188-23B2-FDF5248745A8}"/>
            </a:ext>
          </a:extLst>
        </p:cNvPr>
        <p:cNvGrpSpPr/>
        <p:nvPr/>
      </p:nvGrpSpPr>
      <p:grpSpPr>
        <a:xfrm>
          <a:off x="0" y="0"/>
          <a:ext cx="0" cy="0"/>
          <a:chOff x="0" y="0"/>
          <a:chExt cx="0" cy="0"/>
        </a:xfrm>
      </p:grpSpPr>
      <p:sp>
        <p:nvSpPr>
          <p:cNvPr id="2" name="矩形 1">
            <a:extLst>
              <a:ext uri="{FF2B5EF4-FFF2-40B4-BE49-F238E27FC236}">
                <a16:creationId xmlns:a16="http://schemas.microsoft.com/office/drawing/2014/main" id="{032EAEC6-DFA0-798A-BAAC-C181815A0CC9}"/>
              </a:ext>
            </a:extLst>
          </p:cNvPr>
          <p:cNvSpPr/>
          <p:nvPr/>
        </p:nvSpPr>
        <p:spPr>
          <a:xfrm>
            <a:off x="0" y="0"/>
            <a:ext cx="12192000" cy="6858000"/>
          </a:xfrm>
          <a:prstGeom prst="rect">
            <a:avLst/>
          </a:prstGeom>
          <a:gradFill>
            <a:gsLst>
              <a:gs pos="0">
                <a:schemeClr val="tx1"/>
              </a:gs>
              <a:gs pos="95402">
                <a:schemeClr val="bg1">
                  <a:alpha val="71000"/>
                </a:schemeClr>
              </a:gs>
              <a:gs pos="66000">
                <a:schemeClr val="bg2">
                  <a:alpha val="60000"/>
                </a:schemeClr>
              </a:gs>
            </a:gsLst>
            <a:lin ang="0" scaled="0"/>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useBgFill="1">
        <p:nvSpPr>
          <p:cNvPr id="11" name="任意多边形: 形状 10">
            <a:extLst>
              <a:ext uri="{FF2B5EF4-FFF2-40B4-BE49-F238E27FC236}">
                <a16:creationId xmlns:a16="http://schemas.microsoft.com/office/drawing/2014/main" id="{49AD255F-A9B6-9FDF-F73C-F0E7A84F3383}"/>
              </a:ext>
            </a:extLst>
          </p:cNvPr>
          <p:cNvSpPr>
            <a:spLocks noChangeAspect="1"/>
          </p:cNvSpPr>
          <p:nvPr/>
        </p:nvSpPr>
        <p:spPr>
          <a:xfrm rot="13459254">
            <a:off x="6225540" y="-1516526"/>
            <a:ext cx="9943239" cy="9941062"/>
          </a:xfrm>
          <a:custGeom>
            <a:avLst/>
            <a:gdLst>
              <a:gd name="connsiteX0" fmla="*/ 3914303 w 5232096"/>
              <a:gd name="connsiteY0" fmla="*/ 2797508 h 5230950"/>
              <a:gd name="connsiteX1" fmla="*/ 5232096 w 5232096"/>
              <a:gd name="connsiteY1" fmla="*/ 2797508 h 5230950"/>
              <a:gd name="connsiteX2" fmla="*/ 5228793 w 5232096"/>
              <a:gd name="connsiteY2" fmla="*/ 2867273 h 5230950"/>
              <a:gd name="connsiteX3" fmla="*/ 2884405 w 5232096"/>
              <a:gd name="connsiteY3" fmla="*/ 5226591 h 5230950"/>
              <a:gd name="connsiteX4" fmla="*/ 2798081 w 5232096"/>
              <a:gd name="connsiteY4" fmla="*/ 5230950 h 5230950"/>
              <a:gd name="connsiteX5" fmla="*/ 2798081 w 5232096"/>
              <a:gd name="connsiteY5" fmla="*/ 3913730 h 5230950"/>
              <a:gd name="connsiteX6" fmla="*/ 2880529 w 5232096"/>
              <a:gd name="connsiteY6" fmla="*/ 3901147 h 5230950"/>
              <a:gd name="connsiteX7" fmla="*/ 3901720 w 5232096"/>
              <a:gd name="connsiteY7" fmla="*/ 2879956 h 5230950"/>
              <a:gd name="connsiteX8" fmla="*/ 0 w 5232096"/>
              <a:gd name="connsiteY8" fmla="*/ 2797508 h 5230950"/>
              <a:gd name="connsiteX9" fmla="*/ 1317793 w 5232096"/>
              <a:gd name="connsiteY9" fmla="*/ 2797508 h 5230950"/>
              <a:gd name="connsiteX10" fmla="*/ 1330376 w 5232096"/>
              <a:gd name="connsiteY10" fmla="*/ 2879956 h 5230950"/>
              <a:gd name="connsiteX11" fmla="*/ 2351567 w 5232096"/>
              <a:gd name="connsiteY11" fmla="*/ 3901147 h 5230950"/>
              <a:gd name="connsiteX12" fmla="*/ 2434015 w 5232096"/>
              <a:gd name="connsiteY12" fmla="*/ 3913730 h 5230950"/>
              <a:gd name="connsiteX13" fmla="*/ 2434015 w 5232096"/>
              <a:gd name="connsiteY13" fmla="*/ 5230950 h 5230950"/>
              <a:gd name="connsiteX14" fmla="*/ 2347691 w 5232096"/>
              <a:gd name="connsiteY14" fmla="*/ 5226591 h 5230950"/>
              <a:gd name="connsiteX15" fmla="*/ 3303 w 5232096"/>
              <a:gd name="connsiteY15" fmla="*/ 2867273 h 5230950"/>
              <a:gd name="connsiteX16" fmla="*/ 2798081 w 5232096"/>
              <a:gd name="connsiteY16" fmla="*/ 0 h 5230950"/>
              <a:gd name="connsiteX17" fmla="*/ 2884405 w 5232096"/>
              <a:gd name="connsiteY17" fmla="*/ 4359 h 5230950"/>
              <a:gd name="connsiteX18" fmla="*/ 5228793 w 5232096"/>
              <a:gd name="connsiteY18" fmla="*/ 2363677 h 5230950"/>
              <a:gd name="connsiteX19" fmla="*/ 5232096 w 5232096"/>
              <a:gd name="connsiteY19" fmla="*/ 2433442 h 5230950"/>
              <a:gd name="connsiteX20" fmla="*/ 3914303 w 5232096"/>
              <a:gd name="connsiteY20" fmla="*/ 2433442 h 5230950"/>
              <a:gd name="connsiteX21" fmla="*/ 3901720 w 5232096"/>
              <a:gd name="connsiteY21" fmla="*/ 2350994 h 5230950"/>
              <a:gd name="connsiteX22" fmla="*/ 2880529 w 5232096"/>
              <a:gd name="connsiteY22" fmla="*/ 1329803 h 5230950"/>
              <a:gd name="connsiteX23" fmla="*/ 2798081 w 5232096"/>
              <a:gd name="connsiteY23" fmla="*/ 1317220 h 5230950"/>
              <a:gd name="connsiteX24" fmla="*/ 2434015 w 5232096"/>
              <a:gd name="connsiteY24" fmla="*/ 0 h 5230950"/>
              <a:gd name="connsiteX25" fmla="*/ 2434015 w 5232096"/>
              <a:gd name="connsiteY25" fmla="*/ 1317220 h 5230950"/>
              <a:gd name="connsiteX26" fmla="*/ 2351567 w 5232096"/>
              <a:gd name="connsiteY26" fmla="*/ 1329803 h 5230950"/>
              <a:gd name="connsiteX27" fmla="*/ 1330376 w 5232096"/>
              <a:gd name="connsiteY27" fmla="*/ 2350994 h 5230950"/>
              <a:gd name="connsiteX28" fmla="*/ 1317793 w 5232096"/>
              <a:gd name="connsiteY28" fmla="*/ 2433442 h 5230950"/>
              <a:gd name="connsiteX29" fmla="*/ 0 w 5232096"/>
              <a:gd name="connsiteY29" fmla="*/ 2433442 h 5230950"/>
              <a:gd name="connsiteX30" fmla="*/ 3303 w 5232096"/>
              <a:gd name="connsiteY30" fmla="*/ 2363677 h 5230950"/>
              <a:gd name="connsiteX31" fmla="*/ 2347691 w 5232096"/>
              <a:gd name="connsiteY31" fmla="*/ 4359 h 5230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5232096" h="5230950">
                <a:moveTo>
                  <a:pt x="3914303" y="2797508"/>
                </a:moveTo>
                <a:lnTo>
                  <a:pt x="5232096" y="2797508"/>
                </a:lnTo>
                <a:lnTo>
                  <a:pt x="5228793" y="2867273"/>
                </a:lnTo>
                <a:cubicBezTo>
                  <a:pt x="5110479" y="4110318"/>
                  <a:pt x="4125191" y="5100583"/>
                  <a:pt x="2884405" y="5226591"/>
                </a:cubicBezTo>
                <a:lnTo>
                  <a:pt x="2798081" y="5230950"/>
                </a:lnTo>
                <a:lnTo>
                  <a:pt x="2798081" y="3913730"/>
                </a:lnTo>
                <a:lnTo>
                  <a:pt x="2880529" y="3901147"/>
                </a:lnTo>
                <a:cubicBezTo>
                  <a:pt x="3393108" y="3796258"/>
                  <a:pt x="3796831" y="3392535"/>
                  <a:pt x="3901720" y="2879956"/>
                </a:cubicBezTo>
                <a:close/>
                <a:moveTo>
                  <a:pt x="0" y="2797508"/>
                </a:moveTo>
                <a:lnTo>
                  <a:pt x="1317793" y="2797508"/>
                </a:lnTo>
                <a:lnTo>
                  <a:pt x="1330376" y="2879956"/>
                </a:lnTo>
                <a:cubicBezTo>
                  <a:pt x="1435265" y="3392535"/>
                  <a:pt x="1838988" y="3796258"/>
                  <a:pt x="2351567" y="3901147"/>
                </a:cubicBezTo>
                <a:lnTo>
                  <a:pt x="2434015" y="3913730"/>
                </a:lnTo>
                <a:lnTo>
                  <a:pt x="2434015" y="5230950"/>
                </a:lnTo>
                <a:lnTo>
                  <a:pt x="2347691" y="5226591"/>
                </a:lnTo>
                <a:cubicBezTo>
                  <a:pt x="1106905" y="5100583"/>
                  <a:pt x="121617" y="4110318"/>
                  <a:pt x="3303" y="2867273"/>
                </a:cubicBezTo>
                <a:close/>
                <a:moveTo>
                  <a:pt x="2798081" y="0"/>
                </a:moveTo>
                <a:lnTo>
                  <a:pt x="2884405" y="4359"/>
                </a:lnTo>
                <a:cubicBezTo>
                  <a:pt x="4125191" y="130368"/>
                  <a:pt x="5110479" y="1120633"/>
                  <a:pt x="5228793" y="2363677"/>
                </a:cubicBezTo>
                <a:lnTo>
                  <a:pt x="5232096" y="2433442"/>
                </a:lnTo>
                <a:lnTo>
                  <a:pt x="3914303" y="2433442"/>
                </a:lnTo>
                <a:lnTo>
                  <a:pt x="3901720" y="2350994"/>
                </a:lnTo>
                <a:cubicBezTo>
                  <a:pt x="3796831" y="1838415"/>
                  <a:pt x="3393108" y="1434692"/>
                  <a:pt x="2880529" y="1329803"/>
                </a:cubicBezTo>
                <a:lnTo>
                  <a:pt x="2798081" y="1317220"/>
                </a:lnTo>
                <a:close/>
                <a:moveTo>
                  <a:pt x="2434015" y="0"/>
                </a:moveTo>
                <a:lnTo>
                  <a:pt x="2434015" y="1317220"/>
                </a:lnTo>
                <a:lnTo>
                  <a:pt x="2351567" y="1329803"/>
                </a:lnTo>
                <a:cubicBezTo>
                  <a:pt x="1838988" y="1434692"/>
                  <a:pt x="1435265" y="1838415"/>
                  <a:pt x="1330376" y="2350994"/>
                </a:cubicBezTo>
                <a:lnTo>
                  <a:pt x="1317793" y="2433442"/>
                </a:lnTo>
                <a:lnTo>
                  <a:pt x="0" y="2433442"/>
                </a:lnTo>
                <a:lnTo>
                  <a:pt x="3303" y="2363677"/>
                </a:lnTo>
                <a:cubicBezTo>
                  <a:pt x="121617" y="1120633"/>
                  <a:pt x="1106905" y="130368"/>
                  <a:pt x="2347691" y="4359"/>
                </a:cubicBezTo>
                <a:close/>
              </a:path>
            </a:pathLst>
          </a:custGeom>
          <a:ln>
            <a:noFill/>
          </a:ln>
          <a:effectLst>
            <a:outerShdw blurRad="508000" sx="102000" sy="102000" algn="ctr" rotWithShape="0">
              <a:prstClr val="black">
                <a:alpha val="7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3" name="文本框 2">
            <a:extLst>
              <a:ext uri="{FF2B5EF4-FFF2-40B4-BE49-F238E27FC236}">
                <a16:creationId xmlns:a16="http://schemas.microsoft.com/office/drawing/2014/main" id="{B3BF9CF4-8D57-D40D-0615-4C7F2B356DE9}"/>
              </a:ext>
            </a:extLst>
          </p:cNvPr>
          <p:cNvSpPr txBox="1"/>
          <p:nvPr/>
        </p:nvSpPr>
        <p:spPr>
          <a:xfrm>
            <a:off x="168113" y="2090172"/>
            <a:ext cx="5927887" cy="2677656"/>
          </a:xfrm>
          <a:prstGeom prst="rect">
            <a:avLst/>
          </a:prstGeom>
          <a:noFill/>
        </p:spPr>
        <p:txBody>
          <a:bodyPr wrap="square" rtlCol="0">
            <a:spAutoFit/>
          </a:bodyPr>
          <a:lstStyle/>
          <a:p>
            <a:r>
              <a:rPr lang="zh-CN" altLang="zh-CN" sz="2800" dirty="0">
                <a:solidFill>
                  <a:schemeClr val="bg1"/>
                </a:solidFill>
                <a:latin typeface="华文楷体" panose="02010600040101010101" pitchFamily="2" charset="-122"/>
                <a:ea typeface="华文楷体" panose="02010600040101010101" pitchFamily="2" charset="-122"/>
              </a:rPr>
              <a:t>总之，虽然</a:t>
            </a:r>
            <a:r>
              <a:rPr lang="en-US" altLang="zh-CN" sz="2800" dirty="0">
                <a:solidFill>
                  <a:schemeClr val="bg1"/>
                </a:solidFill>
                <a:latin typeface="华文楷体" panose="02010600040101010101" pitchFamily="2" charset="-122"/>
                <a:ea typeface="华文楷体" panose="02010600040101010101" pitchFamily="2" charset="-122"/>
              </a:rPr>
              <a:t> MBTI </a:t>
            </a:r>
            <a:r>
              <a:rPr lang="zh-CN" altLang="zh-CN" sz="2800" dirty="0">
                <a:solidFill>
                  <a:schemeClr val="bg1"/>
                </a:solidFill>
                <a:latin typeface="华文楷体" panose="02010600040101010101" pitchFamily="2" charset="-122"/>
                <a:ea typeface="华文楷体" panose="02010600040101010101" pitchFamily="2" charset="-122"/>
              </a:rPr>
              <a:t>可以作为一种参考，但我们应该积极投身社会实践，在与社会的交互中通过多种方式来全面、深入地认识自我，不断探索和发现自己的内在世界，以实现更好的自我发展。</a:t>
            </a:r>
          </a:p>
        </p:txBody>
      </p:sp>
    </p:spTree>
    <p:extLst>
      <p:ext uri="{BB962C8B-B14F-4D97-AF65-F5344CB8AC3E}">
        <p14:creationId xmlns:p14="http://schemas.microsoft.com/office/powerpoint/2010/main" val="12450871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373</TotalTime>
  <Words>2422</Words>
  <Application>Microsoft Office PowerPoint</Application>
  <PresentationFormat>宽屏</PresentationFormat>
  <Paragraphs>112</Paragraphs>
  <Slides>21</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21</vt:i4>
      </vt:variant>
    </vt:vector>
  </HeadingPairs>
  <TitlesOfParts>
    <vt:vector size="33" baseType="lpstr">
      <vt:lpstr>华文楷体</vt:lpstr>
      <vt:lpstr>华文隶书</vt:lpstr>
      <vt:lpstr>Courier New</vt:lpstr>
      <vt:lpstr>等线</vt:lpstr>
      <vt:lpstr>等线 Light</vt:lpstr>
      <vt:lpstr>Arial</vt:lpstr>
      <vt:lpstr>程荣光刻楷</vt:lpstr>
      <vt:lpstr>Calibri</vt:lpstr>
      <vt:lpstr>Segoe UI Black</vt:lpstr>
      <vt:lpstr>宋体</vt:lpstr>
      <vt:lpstr>华文琥珀</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h13625633873@outlook.com</dc:creator>
  <cp:lastModifiedBy>h13625633873@outlook.com</cp:lastModifiedBy>
  <cp:revision>10</cp:revision>
  <dcterms:created xsi:type="dcterms:W3CDTF">2024-12-04T11:09:29Z</dcterms:created>
  <dcterms:modified xsi:type="dcterms:W3CDTF">2024-12-08T16:00:58Z</dcterms:modified>
</cp:coreProperties>
</file>