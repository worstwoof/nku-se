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3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5" r:id="rId3"/>
    <p:sldMasterId id="2147483712" r:id="rId4"/>
    <p:sldMasterId id="2147483724" r:id="rId5"/>
  </p:sldMasterIdLst>
  <p:notesMasterIdLst>
    <p:notesMasterId r:id="rId13"/>
  </p:notesMasterIdLst>
  <p:sldIdLst>
    <p:sldId id="256" r:id="rId6"/>
    <p:sldId id="275" r:id="rId7"/>
    <p:sldId id="318" r:id="rId8"/>
    <p:sldId id="315" r:id="rId9"/>
    <p:sldId id="316" r:id="rId10"/>
    <p:sldId id="686" r:id="rId11"/>
    <p:sldId id="31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2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60" y="5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644AE-90EF-4889-BEC4-C6B6F608F837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F6F41-E28E-44A5-871C-FE448A8C65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29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6F41-E28E-44A5-871C-FE448A8C650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305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EA14CF-D010-4763-BC0F-7A0B9CB72F1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1271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5D0C05-D1F4-4D23-BDF0-C1C9ABA03E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774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BAC7-4604-55CB-FEC6-82DC17694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4812D5C-04E9-FB7A-3D30-49AA04DDE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370046-9268-B731-C115-2514485DE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8115D-7739-3D31-54ED-318F90167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5D0C05-D1F4-4D23-BDF0-C1C9ABA03E3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457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98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F6F41-E28E-44A5-871C-FE448A8C650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0655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DAABE-F32C-C902-6100-CC3CD1FF1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E87CFC0-4C8D-8419-817A-6D123CC2C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E01405-C9A4-CB6B-D1A9-51F90164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7C1B0-A167-DA2C-35F9-EC5E48215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30BAD9-A777-4D6B-8619-75388882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187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7C3CE-172D-CB90-3777-5ECDC12F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C56B85-ED66-458E-E34E-38108B41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F2D86-F1E7-102D-E11B-BD529836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9131C-5A24-0392-7124-D7FE1FC8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44A799-8B37-2025-B2F6-0B643898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09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22F67-FADF-E846-1348-6B37A032A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C08652-044B-4483-1026-D96F763D0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2EEF7-25B4-1A53-8481-C905BF85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914AC-2C8E-ED95-7511-1325DAEC8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26657-8F32-1DC1-6E04-263FED22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304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BC1D4-0ED7-C944-DBB6-FB8B27D1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5D9A0-A7B4-7BE7-0DCD-BA7E679B4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85574F-6A21-9014-76BC-1CCFCEA92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115207-3315-A1CE-4EBE-B7FA6246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34A927-9844-1F88-65CF-76D4681A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3981D0-84A8-776E-6C1F-5F8C1DD6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4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E6134-5E78-E5D0-0EE1-0954CF00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8A0F75-6D2F-68F1-4FCA-0C9A3E44C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0FBB6E-FBB3-F804-C930-0AC56FBF7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F96385-2653-8081-74D1-6E718356C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64FE921-88B6-27BC-9900-69D10DE23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EE915FD-DDC7-E2C0-4EDB-5CACFC19F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D33189-7AC8-B9DE-1367-388C8BA3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5B3CE3-FA8D-F65B-9F7F-E2ADC00D3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75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7CB47-646D-D6E2-4853-8FA226B4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EA7512-A160-AF64-1F4D-3C5121517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CC7FB5-69FC-990F-C32C-A605D3E05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AD0C62-EDB6-401A-0980-FD0D9F5D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78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294EE-A9C1-E4FD-DC79-877B983F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2F9F24-F1C4-CCAF-7F06-75963655C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A108B4-BB09-CED8-B609-29901D9C2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6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F762E-EDF2-DB97-8E11-B7C0A1FF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F90534-F4D8-370C-0013-69F379414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E39264-C4F5-DA4A-99B4-53C4EB95F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D88724-F0DB-7E5B-CF5A-7E319451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017BDD-1F5A-7D5A-3B33-FB5AEC5BA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85E8FB-C8CE-32CA-7C99-19BCB811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40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54951-91BF-8F87-99C2-2CCD7D567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C74098-DEE9-3EA6-A7CC-0366FDB054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8A11FB-69EE-DBB3-FEA2-52D21DBDF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664A08-8FCB-C5B1-5907-69D23978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88CE89-E0F6-5D46-0FEB-A2B90807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78AEFE-662D-401A-5A8E-99900E73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5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265A1B-1408-9868-B619-169FDB09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58508F-F819-BFD1-367E-D0E756E9A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278ABC-4149-4994-7505-83E5766E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D83507-75F2-79E1-0023-8EF681736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CFDB5A-7DD2-178C-244E-90598377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10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3747CA-8DF8-0095-6499-DB1EED1900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908AA7-AE3F-470D-989E-EA1E945B27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9576BA-5F71-F614-6BE3-206459374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896E60-ACF7-8E07-C37B-AD33584F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6DA7C7-57F2-DA9A-0539-D9B3957E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990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072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0396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039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1759951" y="0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3370540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661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35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11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  <a:prstGeom prst="rect">
            <a:avLst/>
          </a:prstGeo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0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71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110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87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27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21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28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6A9BE82D-BE47-49DE-8AA6-951A8F6B4152}" type="datetimeFigureOut">
              <a:rPr lang="zh-CN" altLang="en-US" smtClean="0">
                <a:solidFill>
                  <a:prstClr val="black"/>
                </a:solidFill>
              </a:rPr>
              <a:pPr/>
              <a:t>2025/9/8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022D3A-80DD-4654-A118-ED731BEB6F13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43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036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57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47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15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51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21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01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63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208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905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475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46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89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42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00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231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570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093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47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321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708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14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74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750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1915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5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05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671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031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34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906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82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264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616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 flip="none" rotWithShape="1">
          <a:gsLst>
            <a:gs pos="100000">
              <a:schemeClr val="tx2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6" descr="000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" y="1"/>
            <a:ext cx="12192000" cy="669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43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21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25204" y="-27384"/>
            <a:ext cx="952587" cy="81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2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95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64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open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56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53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505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1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51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771547"/>
      </p:ext>
    </p:extLst>
  </p:cSld>
  <p:clrMapOvr>
    <a:masterClrMapping/>
  </p:clrMapOvr>
  <p:transition advClick="0" advTm="3000">
    <p:wheel spokes="3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90"/>
          <a:stretch>
            <a:fillRect/>
          </a:stretch>
        </p:blipFill>
        <p:spPr bwMode="auto">
          <a:xfrm rot="10800000">
            <a:off x="-22290" y="0"/>
            <a:ext cx="12214286" cy="980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84428945"/>
      </p:ext>
    </p:extLst>
  </p:cSld>
  <p:clrMapOvr>
    <a:masterClrMapping/>
  </p:clrMapOvr>
  <p:transition advClick="0" advTm="3000">
    <p:wheel spokes="3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237" y="4406901"/>
            <a:ext cx="10362327" cy="1362075"/>
          </a:xfrm>
        </p:spPr>
        <p:txBody>
          <a:bodyPr anchor="t"/>
          <a:lstStyle>
            <a:lvl1pPr algn="l">
              <a:defRPr sz="3998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237" y="2906713"/>
            <a:ext cx="10362327" cy="1500187"/>
          </a:xfrm>
        </p:spPr>
        <p:txBody>
          <a:bodyPr anchor="b"/>
          <a:lstStyle>
            <a:lvl1pPr marL="0" indent="0">
              <a:buNone/>
              <a:defRPr sz="1999"/>
            </a:lvl1pPr>
            <a:lvl2pPr marL="457017" indent="0">
              <a:buNone/>
              <a:defRPr sz="1799"/>
            </a:lvl2pPr>
            <a:lvl3pPr marL="914034" indent="0">
              <a:buNone/>
              <a:defRPr sz="1599"/>
            </a:lvl3pPr>
            <a:lvl4pPr marL="1371051" indent="0">
              <a:buNone/>
              <a:defRPr sz="1399"/>
            </a:lvl4pPr>
            <a:lvl5pPr marL="1828068" indent="0">
              <a:buNone/>
              <a:defRPr sz="1399"/>
            </a:lvl5pPr>
            <a:lvl6pPr marL="2285086" indent="0">
              <a:buNone/>
              <a:defRPr sz="1399"/>
            </a:lvl6pPr>
            <a:lvl7pPr marL="2742103" indent="0">
              <a:buNone/>
              <a:defRPr sz="1399"/>
            </a:lvl7pPr>
            <a:lvl8pPr marL="3199120" indent="0">
              <a:buNone/>
              <a:defRPr sz="1399"/>
            </a:lvl8pPr>
            <a:lvl9pPr marL="3656137" indent="0">
              <a:buNone/>
              <a:defRPr sz="139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3488128"/>
      </p:ext>
    </p:extLst>
  </p:cSld>
  <p:clrMapOvr>
    <a:masterClrMapping/>
  </p:clrMapOvr>
  <p:transition advClick="0" advTm="3000">
    <p:wheel spokes="3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362" y="1600201"/>
            <a:ext cx="5409675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1378" y="1600201"/>
            <a:ext cx="5411261" cy="4525963"/>
          </a:xfrm>
        </p:spPr>
        <p:txBody>
          <a:bodyPr/>
          <a:lstStyle>
            <a:lvl1pPr>
              <a:defRPr sz="2799"/>
            </a:lvl1pPr>
            <a:lvl2pPr>
              <a:defRPr sz="2399"/>
            </a:lvl2pPr>
            <a:lvl3pPr>
              <a:defRPr sz="1999"/>
            </a:lvl3pPr>
            <a:lvl4pPr>
              <a:defRPr sz="1799"/>
            </a:lvl4pPr>
            <a:lvl5pPr>
              <a:defRPr sz="1799"/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8497450"/>
      </p:ext>
    </p:extLst>
  </p:cSld>
  <p:clrMapOvr>
    <a:masterClrMapping/>
  </p:clrMapOvr>
  <p:transition advClick="0" advTm="3000">
    <p:wheel spokes="3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4638"/>
            <a:ext cx="1097327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363" y="1535113"/>
            <a:ext cx="5387458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363" y="2174875"/>
            <a:ext cx="5387458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593" y="1535113"/>
            <a:ext cx="5389045" cy="63976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17" indent="0">
              <a:buNone/>
              <a:defRPr sz="1999" b="1"/>
            </a:lvl2pPr>
            <a:lvl3pPr marL="914034" indent="0">
              <a:buNone/>
              <a:defRPr sz="1799" b="1"/>
            </a:lvl3pPr>
            <a:lvl4pPr marL="1371051" indent="0">
              <a:buNone/>
              <a:defRPr sz="1599" b="1"/>
            </a:lvl4pPr>
            <a:lvl5pPr marL="1828068" indent="0">
              <a:buNone/>
              <a:defRPr sz="1599" b="1"/>
            </a:lvl5pPr>
            <a:lvl6pPr marL="2285086" indent="0">
              <a:buNone/>
              <a:defRPr sz="1599" b="1"/>
            </a:lvl6pPr>
            <a:lvl7pPr marL="2742103" indent="0">
              <a:buNone/>
              <a:defRPr sz="1599" b="1"/>
            </a:lvl7pPr>
            <a:lvl8pPr marL="3199120" indent="0">
              <a:buNone/>
              <a:defRPr sz="1599" b="1"/>
            </a:lvl8pPr>
            <a:lvl9pPr marL="3656137" indent="0">
              <a:buNone/>
              <a:defRPr sz="159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593" y="2174875"/>
            <a:ext cx="5389045" cy="3951288"/>
          </a:xfrm>
        </p:spPr>
        <p:txBody>
          <a:bodyPr/>
          <a:lstStyle>
            <a:lvl1pPr>
              <a:defRPr sz="2399"/>
            </a:lvl1pPr>
            <a:lvl2pPr>
              <a:defRPr sz="1999"/>
            </a:lvl2pPr>
            <a:lvl3pPr>
              <a:defRPr sz="1799"/>
            </a:lvl3pPr>
            <a:lvl4pPr>
              <a:defRPr sz="1599"/>
            </a:lvl4pPr>
            <a:lvl5pPr>
              <a:defRPr sz="1599"/>
            </a:lvl5pPr>
            <a:lvl6pPr>
              <a:defRPr sz="1599"/>
            </a:lvl6pPr>
            <a:lvl7pPr>
              <a:defRPr sz="1599"/>
            </a:lvl7pPr>
            <a:lvl8pPr>
              <a:defRPr sz="1599"/>
            </a:lvl8pPr>
            <a:lvl9pPr>
              <a:defRPr sz="15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75993343"/>
      </p:ext>
    </p:extLst>
  </p:cSld>
  <p:clrMapOvr>
    <a:masterClrMapping/>
  </p:clrMapOvr>
  <p:transition advClick="0" advTm="3000">
    <p:wheel spokes="3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01824252"/>
      </p:ext>
    </p:extLst>
  </p:cSld>
  <p:clrMapOvr>
    <a:masterClrMapping/>
  </p:clrMapOvr>
  <p:transition advClick="0" advTm="3000">
    <p:wheel spokes="3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139300"/>
      </p:ext>
    </p:extLst>
  </p:cSld>
  <p:clrMapOvr>
    <a:masterClrMapping/>
  </p:clrMapOvr>
  <p:transition advClick="0" advTm="3000">
    <p:wheel spokes="3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362" y="273050"/>
            <a:ext cx="4011633" cy="1162050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988" y="273051"/>
            <a:ext cx="6815650" cy="5853113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362" y="1435101"/>
            <a:ext cx="4011633" cy="4691063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65434508"/>
      </p:ext>
    </p:extLst>
  </p:cSld>
  <p:clrMapOvr>
    <a:masterClrMapping/>
  </p:clrMapOvr>
  <p:transition advClick="0" advTm="3000">
    <p:wheel spokes="3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842" y="4800600"/>
            <a:ext cx="7315517" cy="566738"/>
          </a:xfrm>
        </p:spPr>
        <p:txBody>
          <a:bodyPr anchor="b"/>
          <a:lstStyle>
            <a:lvl1pPr algn="l">
              <a:defRPr sz="1999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842" y="612775"/>
            <a:ext cx="7315517" cy="4114800"/>
          </a:xfrm>
        </p:spPr>
        <p:txBody>
          <a:bodyPr/>
          <a:lstStyle>
            <a:lvl1pPr marL="0" indent="0">
              <a:buNone/>
              <a:defRPr sz="3199"/>
            </a:lvl1pPr>
            <a:lvl2pPr marL="457017" indent="0">
              <a:buNone/>
              <a:defRPr sz="2799"/>
            </a:lvl2pPr>
            <a:lvl3pPr marL="914034" indent="0">
              <a:buNone/>
              <a:defRPr sz="2399"/>
            </a:lvl3pPr>
            <a:lvl4pPr marL="1371051" indent="0">
              <a:buNone/>
              <a:defRPr sz="1999"/>
            </a:lvl4pPr>
            <a:lvl5pPr marL="1828068" indent="0">
              <a:buNone/>
              <a:defRPr sz="1999"/>
            </a:lvl5pPr>
            <a:lvl6pPr marL="2285086" indent="0">
              <a:buNone/>
              <a:defRPr sz="1999"/>
            </a:lvl6pPr>
            <a:lvl7pPr marL="2742103" indent="0">
              <a:buNone/>
              <a:defRPr sz="1999"/>
            </a:lvl7pPr>
            <a:lvl8pPr marL="3199120" indent="0">
              <a:buNone/>
              <a:defRPr sz="1999"/>
            </a:lvl8pPr>
            <a:lvl9pPr marL="3656137" indent="0">
              <a:buNone/>
              <a:defRPr sz="1999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842" y="5367338"/>
            <a:ext cx="7315517" cy="804862"/>
          </a:xfrm>
        </p:spPr>
        <p:txBody>
          <a:bodyPr/>
          <a:lstStyle>
            <a:lvl1pPr marL="0" indent="0">
              <a:buNone/>
              <a:defRPr sz="1399"/>
            </a:lvl1pPr>
            <a:lvl2pPr marL="457017" indent="0">
              <a:buNone/>
              <a:defRPr sz="1200"/>
            </a:lvl2pPr>
            <a:lvl3pPr marL="914034" indent="0">
              <a:buNone/>
              <a:defRPr sz="1000"/>
            </a:lvl3pPr>
            <a:lvl4pPr marL="1371051" indent="0">
              <a:buNone/>
              <a:defRPr sz="900"/>
            </a:lvl4pPr>
            <a:lvl5pPr marL="1828068" indent="0">
              <a:buNone/>
              <a:defRPr sz="900"/>
            </a:lvl5pPr>
            <a:lvl6pPr marL="2285086" indent="0">
              <a:buNone/>
              <a:defRPr sz="900"/>
            </a:lvl6pPr>
            <a:lvl7pPr marL="2742103" indent="0">
              <a:buNone/>
              <a:defRPr sz="900"/>
            </a:lvl7pPr>
            <a:lvl8pPr marL="3199120" indent="0">
              <a:buNone/>
              <a:defRPr sz="900"/>
            </a:lvl8pPr>
            <a:lvl9pPr marL="3656137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6897943"/>
      </p:ext>
    </p:extLst>
  </p:cSld>
  <p:clrMapOvr>
    <a:masterClrMapping/>
  </p:clrMapOvr>
  <p:transition advClick="0" advTm="3000">
    <p:wheel spokes="3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42053367"/>
      </p:ext>
    </p:extLst>
  </p:cSld>
  <p:clrMapOvr>
    <a:masterClrMapping/>
  </p:clrMapOvr>
  <p:transition advClick="0" advTm="3000">
    <p:wheel spokes="3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509" y="908050"/>
            <a:ext cx="2742129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362" y="908050"/>
            <a:ext cx="8078807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4017866"/>
      </p:ext>
    </p:extLst>
  </p:cSld>
  <p:clrMapOvr>
    <a:masterClrMapping/>
  </p:clrMapOvr>
  <p:transition advClick="0" advTm="3000">
    <p:wheel spokes="3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7.xml"/><Relationship Id="rId47" Type="http://schemas.openxmlformats.org/officeDocument/2006/relationships/theme" Target="../theme/theme3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4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60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4" Type="http://schemas.openxmlformats.org/officeDocument/2006/relationships/slideLayout" Target="../slideLayouts/slideLayout59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8.xml"/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35.xml"/><Relationship Id="rId41" Type="http://schemas.openxmlformats.org/officeDocument/2006/relationships/slideLayout" Target="../slideLayouts/slideLayout5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BDFE333-90BF-9929-A277-5A083452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A493CB-8645-8366-785C-26827CEF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10583B-1D8D-DA8D-0AAD-734600126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9A5BB-32E1-4559-8AF6-071A4C036B83}" type="datetimeFigureOut">
              <a:rPr lang="zh-CN" altLang="en-US" smtClean="0"/>
              <a:t>2025/9/8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12A42C-B649-2755-6D5E-980B182F2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794C2F-C03D-9828-7365-C521F9B4C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CA9BD-1A9D-4A26-A00A-61D0FB7DB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2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87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4729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  <p:sldLayoutId id="2147483703" r:id="rId38"/>
    <p:sldLayoutId id="2147483704" r:id="rId39"/>
    <p:sldLayoutId id="2147483705" r:id="rId40"/>
    <p:sldLayoutId id="2147483706" r:id="rId41"/>
    <p:sldLayoutId id="2147483707" r:id="rId42"/>
    <p:sldLayoutId id="2147483708" r:id="rId43"/>
    <p:sldLayoutId id="2147483709" r:id="rId44"/>
    <p:sldLayoutId id="2147483710" r:id="rId45"/>
    <p:sldLayoutId id="2147483711" r:id="rId46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phere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CD9F9-72C8-4589-8A77-E0EAAC1A944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2025/9/8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3447A-3CB4-4631-B405-5E14F97A7A6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2682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362" y="908050"/>
            <a:ext cx="10973276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362" y="1600201"/>
            <a:ext cx="1097327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734503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advClick="0" advTm="3000">
    <p:wheel spokes="3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399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017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034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051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068" algn="l" rtl="0" fontAlgn="base">
        <a:spcBef>
          <a:spcPct val="0"/>
        </a:spcBef>
        <a:spcAft>
          <a:spcPct val="0"/>
        </a:spcAft>
        <a:defRPr sz="2399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763" indent="-342763" algn="l" rtl="0" eaLnBrk="0" fontAlgn="base" hangingPunct="0">
        <a:spcBef>
          <a:spcPct val="20000"/>
        </a:spcBef>
        <a:spcAft>
          <a:spcPct val="0"/>
        </a:spcAft>
        <a:buChar char="•"/>
        <a:defRPr sz="1999">
          <a:solidFill>
            <a:schemeClr val="accent1"/>
          </a:solidFill>
          <a:latin typeface="+mn-lt"/>
          <a:ea typeface="+mn-ea"/>
          <a:cs typeface="+mn-cs"/>
        </a:defRPr>
      </a:lvl1pPr>
      <a:lvl2pPr marL="742653" indent="-285636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accent1"/>
          </a:solidFill>
          <a:latin typeface="+mn-lt"/>
          <a:ea typeface="仿宋_GB2312" panose="02010609030101010101" pitchFamily="49" charset="-122"/>
        </a:defRPr>
      </a:lvl2pPr>
      <a:lvl3pPr marL="1142543" indent="-228509" algn="l" rtl="0" eaLnBrk="0" fontAlgn="base" hangingPunct="0">
        <a:spcBef>
          <a:spcPct val="20000"/>
        </a:spcBef>
        <a:spcAft>
          <a:spcPct val="0"/>
        </a:spcAft>
        <a:buChar char="•"/>
        <a:defRPr sz="2399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599560" indent="-228509" algn="l" rtl="0" eaLnBrk="0" fontAlgn="base" hangingPunct="0">
        <a:spcBef>
          <a:spcPct val="20000"/>
        </a:spcBef>
        <a:spcAft>
          <a:spcPct val="0"/>
        </a:spcAft>
        <a:buChar char="–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6577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3594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0611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7628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4646" indent="-228509" algn="l" rtl="0" eaLnBrk="0" fontAlgn="base" hangingPunct="0">
        <a:spcBef>
          <a:spcPct val="20000"/>
        </a:spcBef>
        <a:spcAft>
          <a:spcPct val="0"/>
        </a:spcAft>
        <a:buChar char="»"/>
        <a:defRPr sz="1999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3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7.png"/><Relationship Id="rId2" Type="http://schemas.openxmlformats.org/officeDocument/2006/relationships/tags" Target="../tags/tag2.xml"/><Relationship Id="rId16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5.png"/><Relationship Id="rId10" Type="http://schemas.openxmlformats.org/officeDocument/2006/relationships/tags" Target="../tags/tag10.xml"/><Relationship Id="rId19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1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B07CDC4-50D6-D154-7949-B46260E69B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934"/>
          <a:stretch>
            <a:fillRect/>
          </a:stretch>
        </p:blipFill>
        <p:spPr>
          <a:xfrm>
            <a:off x="3047" y="176782"/>
            <a:ext cx="2445185" cy="6858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6AB7E8C-6950-D4F8-DC15-F74EE34F9F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2396160" y="0"/>
            <a:ext cx="9795840" cy="734971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42D9AB4-2C11-9553-ACA8-64D3A7CC2514}"/>
              </a:ext>
            </a:extLst>
          </p:cNvPr>
          <p:cNvSpPr/>
          <p:nvPr/>
        </p:nvSpPr>
        <p:spPr>
          <a:xfrm>
            <a:off x="2396160" y="0"/>
            <a:ext cx="10614095" cy="7034782"/>
          </a:xfrm>
          <a:prstGeom prst="rect">
            <a:avLst/>
          </a:prstGeom>
          <a:solidFill>
            <a:schemeClr val="bg2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FC601DE-36DA-F7E1-21B5-7B6CAA3E9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808062" cy="651027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CA7F39-B9D1-F99A-694B-E2A68DC01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459" y="0"/>
            <a:ext cx="981541" cy="9754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DE52BC-CD78-6B18-E320-B988626D35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882" y="6406874"/>
            <a:ext cx="3804234" cy="5486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4F31C8-8E49-1646-B3EF-68C7DF3738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048" y="1645"/>
            <a:ext cx="890093" cy="89009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18EF6EB-4DA5-E116-9B4C-D6FEA3A199A5}"/>
              </a:ext>
            </a:extLst>
          </p:cNvPr>
          <p:cNvSpPr txBox="1"/>
          <p:nvPr/>
        </p:nvSpPr>
        <p:spPr bwMode="white">
          <a:xfrm>
            <a:off x="2259243" y="921948"/>
            <a:ext cx="983846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0" dirty="0">
                <a:gradFill>
                  <a:gsLst>
                    <a:gs pos="0">
                      <a:srgbClr val="8A0000"/>
                    </a:gs>
                    <a:gs pos="100000">
                      <a:srgbClr val="FF0000"/>
                    </a:gs>
                    <a:gs pos="100000">
                      <a:srgbClr val="404040">
                        <a:lumMod val="45000"/>
                        <a:lumOff val="55000"/>
                      </a:srgbClr>
                    </a:gs>
                    <a:gs pos="100000">
                      <a:srgbClr val="404040">
                        <a:lumMod val="30000"/>
                        <a:lumOff val="70000"/>
                      </a:srgb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北疆乳香传薪火</a:t>
            </a:r>
            <a:endParaRPr lang="en-US" altLang="zh-CN" sz="10000" dirty="0">
              <a:gradFill>
                <a:gsLst>
                  <a:gs pos="0">
                    <a:srgbClr val="8A0000"/>
                  </a:gs>
                  <a:gs pos="100000">
                    <a:srgbClr val="FF0000"/>
                  </a:gs>
                  <a:gs pos="100000">
                    <a:srgbClr val="404040">
                      <a:lumMod val="45000"/>
                      <a:lumOff val="55000"/>
                    </a:srgbClr>
                  </a:gs>
                  <a:gs pos="100000">
                    <a:srgbClr val="404040">
                      <a:lumMod val="30000"/>
                      <a:lumOff val="70000"/>
                    </a:srgb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4800" dirty="0">
                <a:gradFill>
                  <a:gsLst>
                    <a:gs pos="0">
                      <a:srgbClr val="8A0000"/>
                    </a:gs>
                    <a:gs pos="100000">
                      <a:srgbClr val="FF0000"/>
                    </a:gs>
                    <a:gs pos="100000">
                      <a:srgbClr val="404040">
                        <a:lumMod val="45000"/>
                        <a:lumOff val="55000"/>
                      </a:srgbClr>
                    </a:gs>
                    <a:gs pos="100000">
                      <a:srgbClr val="404040">
                        <a:lumMod val="30000"/>
                        <a:lumOff val="70000"/>
                      </a:srgb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——</a:t>
            </a:r>
            <a:r>
              <a:rPr lang="zh-CN" altLang="en-US" sz="4800" dirty="0">
                <a:gradFill>
                  <a:gsLst>
                    <a:gs pos="0">
                      <a:srgbClr val="8A0000"/>
                    </a:gs>
                    <a:gs pos="100000">
                      <a:srgbClr val="FF0000"/>
                    </a:gs>
                    <a:gs pos="100000">
                      <a:srgbClr val="404040">
                        <a:lumMod val="45000"/>
                        <a:lumOff val="55000"/>
                      </a:srgbClr>
                    </a:gs>
                    <a:gs pos="100000">
                      <a:srgbClr val="404040">
                        <a:lumMod val="30000"/>
                        <a:lumOff val="70000"/>
                      </a:srgb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现代化乳业调研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7614EC-FD43-D138-4796-A35C3905AB1A}"/>
              </a:ext>
            </a:extLst>
          </p:cNvPr>
          <p:cNvSpPr txBox="1"/>
          <p:nvPr/>
        </p:nvSpPr>
        <p:spPr>
          <a:xfrm>
            <a:off x="6581105" y="4404575"/>
            <a:ext cx="54606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实践时间：</a:t>
            </a:r>
            <a:r>
              <a:rPr lang="en-US" altLang="zh-CN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2025.06.26-2025.07.05</a:t>
            </a:r>
          </a:p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团队成员：</a:t>
            </a:r>
            <a:r>
              <a:rPr lang="zh-CN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黄子豪 林子媛 张天译 </a:t>
            </a:r>
            <a:endParaRPr lang="en-US" altLang="zh-CN" sz="20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r>
              <a:rPr lang="en-US" altLang="zh-CN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                     </a:t>
            </a:r>
            <a:r>
              <a:rPr lang="zh-CN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吕旭婧 李善东 李雨杭</a:t>
            </a:r>
          </a:p>
          <a:p>
            <a:r>
              <a:rPr lang="zh-CN" alt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指导教师：</a:t>
            </a:r>
            <a:r>
              <a:rPr lang="zh-CN" alt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隶书" panose="02010800040101010101" pitchFamily="2" charset="-122"/>
                <a:ea typeface="华文隶书" panose="02010800040101010101" pitchFamily="2" charset="-122"/>
              </a:rPr>
              <a:t>何昆鹏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96F41F-60C4-22D9-A064-681B94F0DD8D}"/>
              </a:ext>
            </a:extLst>
          </p:cNvPr>
          <p:cNvSpPr/>
          <p:nvPr/>
        </p:nvSpPr>
        <p:spPr>
          <a:xfrm>
            <a:off x="3498442" y="3674855"/>
            <a:ext cx="7360067" cy="484267"/>
          </a:xfrm>
          <a:prstGeom prst="rect">
            <a:avLst/>
          </a:prstGeom>
          <a:gradFill flip="none" rotWithShape="1">
            <a:gsLst>
              <a:gs pos="0">
                <a:srgbClr val="471306">
                  <a:alpha val="0"/>
                </a:srgbClr>
              </a:gs>
              <a:gs pos="53000">
                <a:srgbClr val="690108"/>
              </a:gs>
              <a:gs pos="100000">
                <a:srgbClr val="471306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0" lang="en-US" altLang="zh-CN" sz="2400" b="0" i="0" u="none" strike="noStrike" kern="1200" cap="none" spc="600" normalizeH="0" baseline="0" noProof="0" dirty="0">
                <a:ln>
                  <a:noFill/>
                </a:ln>
                <a:solidFill>
                  <a:srgbClr val="FCF2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srgbClr val="FCF2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乳业匠心</a:t>
            </a:r>
            <a:r>
              <a:rPr kumimoji="0" lang="en-US" altLang="zh-CN" sz="2400" b="0" i="0" u="none" strike="noStrike" kern="1200" cap="none" spc="600" normalizeH="0" baseline="0" noProof="0" dirty="0">
                <a:ln>
                  <a:noFill/>
                </a:ln>
                <a:solidFill>
                  <a:srgbClr val="FCF2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2400" spc="600" dirty="0">
                <a:solidFill>
                  <a:srgbClr val="FCF2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实践团结项</a:t>
            </a:r>
            <a:r>
              <a:rPr kumimoji="0" lang="zh-CN" altLang="en-US" sz="2400" b="0" i="0" u="none" strike="noStrike" kern="1200" cap="none" spc="600" normalizeH="0" baseline="0" noProof="0" dirty="0">
                <a:ln>
                  <a:noFill/>
                </a:ln>
                <a:solidFill>
                  <a:srgbClr val="FCF2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汇报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CC62AEF-E9E1-C497-BF8C-3D4A625D395A}"/>
              </a:ext>
            </a:extLst>
          </p:cNvPr>
          <p:cNvSpPr txBox="1"/>
          <p:nvPr/>
        </p:nvSpPr>
        <p:spPr>
          <a:xfrm>
            <a:off x="9294830" y="5605167"/>
            <a:ext cx="2631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spc="600" dirty="0" err="1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汇报人</a:t>
            </a:r>
            <a:r>
              <a:rPr lang="en-US" altLang="zh-CN" sz="2000" spc="600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</a:t>
            </a:r>
            <a:r>
              <a:rPr lang="zh-CN" altLang="en-US" sz="2000" spc="600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林子媛</a:t>
            </a:r>
            <a:endParaRPr lang="en-US" altLang="zh-CN" sz="2000" spc="600" dirty="0">
              <a:solidFill>
                <a:srgbClr val="F1E2A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91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50000">
              <a:srgbClr val="FEEDCA"/>
            </a:gs>
            <a:gs pos="100000">
              <a:schemeClr val="bg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98564B72-5746-637B-564E-053083907E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47" y="0"/>
            <a:ext cx="12185905" cy="6858000"/>
          </a:xfrm>
          <a:prstGeom prst="rect">
            <a:avLst/>
          </a:prstGeom>
        </p:spPr>
      </p:pic>
      <p:grpSp>
        <p:nvGrpSpPr>
          <p:cNvPr id="23" name="组合 22"/>
          <p:cNvGrpSpPr/>
          <p:nvPr>
            <p:custDataLst>
              <p:tags r:id="rId1"/>
            </p:custDataLst>
          </p:nvPr>
        </p:nvGrpSpPr>
        <p:grpSpPr>
          <a:xfrm>
            <a:off x="367313" y="1734168"/>
            <a:ext cx="2903308" cy="1007301"/>
            <a:chOff x="1685028" y="2559352"/>
            <a:chExt cx="2903308" cy="1007301"/>
          </a:xfrm>
        </p:grpSpPr>
        <p:grpSp>
          <p:nvGrpSpPr>
            <p:cNvPr id="6" name="组合 5"/>
            <p:cNvGrpSpPr/>
            <p:nvPr/>
          </p:nvGrpSpPr>
          <p:grpSpPr>
            <a:xfrm>
              <a:off x="1685028" y="2559352"/>
              <a:ext cx="1007301" cy="1007301"/>
              <a:chOff x="4581205" y="3123572"/>
              <a:chExt cx="1355651" cy="1355651"/>
            </a:xfrm>
          </p:grpSpPr>
          <p:sp>
            <p:nvSpPr>
              <p:cNvPr id="11" name="矩形: 单圆角 10"/>
              <p:cNvSpPr/>
              <p:nvPr>
                <p:custDataLst>
                  <p:tags r:id="rId11"/>
                </p:custDataLst>
              </p:nvPr>
            </p:nvSpPr>
            <p:spPr>
              <a:xfrm rot="16200000">
                <a:off x="4581205" y="3123572"/>
                <a:ext cx="1355651" cy="1355651"/>
              </a:xfrm>
              <a:prstGeom prst="round1Rect">
                <a:avLst>
                  <a:gd name="adj" fmla="val 50000"/>
                </a:avLst>
              </a:prstGeom>
              <a:gradFill flip="none" rotWithShape="1">
                <a:gsLst>
                  <a:gs pos="35000">
                    <a:srgbClr val="C00000"/>
                  </a:gs>
                  <a:gs pos="0">
                    <a:srgbClr val="D33D19"/>
                  </a:gs>
                  <a:gs pos="100000">
                    <a:srgbClr val="690108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DF2BA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Heavy" panose="02020900000000000000" pitchFamily="18" charset="-122"/>
                  <a:cs typeface="Arial Black" panose="020B0A04020102020204" pitchFamily="34" charset="0"/>
                </a:endParaRPr>
              </a:p>
            </p:txBody>
          </p:sp>
          <p:sp>
            <p:nvSpPr>
              <p:cNvPr id="3" name="椭圆 2"/>
              <p:cNvSpPr/>
              <p:nvPr>
                <p:custDataLst>
                  <p:tags r:id="rId12"/>
                </p:custDataLst>
              </p:nvPr>
            </p:nvSpPr>
            <p:spPr>
              <a:xfrm>
                <a:off x="4650754" y="3193121"/>
                <a:ext cx="1286102" cy="12861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DF2BA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宋体 Heavy" panose="02020900000000000000" pitchFamily="18" charset="-122"/>
                    <a:cs typeface="Arial Black" panose="020B0A04020102020204" pitchFamily="34" charset="0"/>
                  </a:rPr>
                  <a:t>01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DF2BA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Heavy" panose="02020900000000000000" pitchFamily="18" charset="-122"/>
                  <a:cs typeface="Arial Black" panose="020B0A04020102020204" pitchFamily="34" charset="0"/>
                </a:endParaRPr>
              </a:p>
            </p:txBody>
          </p:sp>
        </p:grpSp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 flipH="1">
              <a:off x="2692329" y="2641617"/>
              <a:ext cx="1896007" cy="842770"/>
            </a:xfrm>
            <a:prstGeom prst="rect">
              <a:avLst/>
            </a:prstGeom>
            <a:noFill/>
            <a:ln w="19050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0122" tIns="120122" rIns="120122" bIns="120122" rtlCol="0" anchor="ctr" anchorCtr="0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1017270">
                <a:defRPr sz="1800">
                  <a:solidFill>
                    <a:prstClr val="white">
                      <a:alpha val="100000"/>
                    </a:prstClr>
                  </a:solidFill>
                  <a:latin typeface="Aptos"/>
                  <a:ea typeface="等线" panose="02010600030101010101" charset="-122"/>
                  <a:cs typeface="+mn-cs"/>
                </a:defRPr>
              </a:pPr>
              <a:r>
                <a:rPr lang="zh-CN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“过去”</a:t>
              </a:r>
              <a:endPara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Arial Black" panose="020B0A04020102020204"/>
              </a:endParaRPr>
            </a:p>
            <a:p>
              <a:pPr lvl="0" algn="just" defTabSz="1017270">
                <a:defRPr sz="1800">
                  <a:solidFill>
                    <a:prstClr val="white">
                      <a:alpha val="100000"/>
                    </a:prstClr>
                  </a:solidFill>
                  <a:latin typeface="Aptos"/>
                  <a:ea typeface="等线" panose="02010600030101010101" charset="-122"/>
                  <a:cs typeface="+mn-cs"/>
                </a:defRPr>
              </a:pPr>
              <a:r>
                <a:rPr lang="en-US" altLang="zh-C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     —</a:t>
              </a:r>
              <a:r>
                <a:rPr lang="zh-CN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铭记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Arial Black" panose="020B0A04020102020204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2"/>
            </p:custDataLst>
          </p:nvPr>
        </p:nvGrpSpPr>
        <p:grpSpPr>
          <a:xfrm>
            <a:off x="6081533" y="4091281"/>
            <a:ext cx="2782597" cy="1007302"/>
            <a:chOff x="2379558" y="3915003"/>
            <a:chExt cx="2782597" cy="1007302"/>
          </a:xfrm>
        </p:grpSpPr>
        <p:grpSp>
          <p:nvGrpSpPr>
            <p:cNvPr id="5" name="组合 4"/>
            <p:cNvGrpSpPr/>
            <p:nvPr/>
          </p:nvGrpSpPr>
          <p:grpSpPr>
            <a:xfrm>
              <a:off x="4154853" y="3915003"/>
              <a:ext cx="1007302" cy="1007302"/>
              <a:chOff x="6255145" y="3123572"/>
              <a:chExt cx="1355651" cy="1355651"/>
            </a:xfrm>
          </p:grpSpPr>
          <p:sp>
            <p:nvSpPr>
              <p:cNvPr id="10" name="矩形: 单圆角 9"/>
              <p:cNvSpPr/>
              <p:nvPr>
                <p:custDataLst>
                  <p:tags r:id="rId8"/>
                </p:custDataLst>
              </p:nvPr>
            </p:nvSpPr>
            <p:spPr>
              <a:xfrm rot="5400000">
                <a:off x="6255145" y="3123572"/>
                <a:ext cx="1355651" cy="1355651"/>
              </a:xfrm>
              <a:prstGeom prst="round1Rect">
                <a:avLst>
                  <a:gd name="adj" fmla="val 50000"/>
                </a:avLst>
              </a:prstGeom>
              <a:gradFill flip="none" rotWithShape="1">
                <a:gsLst>
                  <a:gs pos="35000">
                    <a:srgbClr val="C00000"/>
                  </a:gs>
                  <a:gs pos="0">
                    <a:srgbClr val="D33D19"/>
                  </a:gs>
                  <a:gs pos="100000">
                    <a:srgbClr val="690108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DF2BA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Heavy" panose="02020900000000000000" pitchFamily="18" charset="-122"/>
                  <a:cs typeface="Arial Black" panose="020B0A04020102020204" pitchFamily="34" charset="0"/>
                </a:endParaRPr>
              </a:p>
            </p:txBody>
          </p:sp>
          <p:sp>
            <p:nvSpPr>
              <p:cNvPr id="4" name="椭圆 3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5145" y="3193121"/>
                <a:ext cx="1286102" cy="12861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DF2BA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宋体 Heavy" panose="02020900000000000000" pitchFamily="18" charset="-122"/>
                    <a:cs typeface="Arial Black" panose="020B0A04020102020204" pitchFamily="34" charset="0"/>
                  </a:rPr>
                  <a:t>02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DF2BA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Heavy" panose="02020900000000000000" pitchFamily="18" charset="-122"/>
                  <a:cs typeface="Arial Black" panose="020B0A04020102020204" pitchFamily="34" charset="0"/>
                </a:endParaRPr>
              </a:p>
            </p:txBody>
          </p:sp>
        </p:grpSp>
        <p:sp>
          <p:nvSpPr>
            <p:cNvPr id="20" name="矩形 19"/>
            <p:cNvSpPr/>
            <p:nvPr>
              <p:custDataLst>
                <p:tags r:id="rId7"/>
              </p:custDataLst>
            </p:nvPr>
          </p:nvSpPr>
          <p:spPr>
            <a:xfrm flipH="1">
              <a:off x="2379558" y="3990034"/>
              <a:ext cx="1814176" cy="769502"/>
            </a:xfrm>
            <a:prstGeom prst="rect">
              <a:avLst/>
            </a:prstGeom>
            <a:noFill/>
            <a:ln w="19050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0122" tIns="120122" rIns="120122" bIns="120122" rtlCol="0" anchor="ctr" anchorCtr="0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1017270">
                <a:defRPr sz="1800">
                  <a:solidFill>
                    <a:prstClr val="white">
                      <a:alpha val="100000"/>
                    </a:prstClr>
                  </a:solidFill>
                  <a:latin typeface="Aptos"/>
                  <a:ea typeface="等线" panose="02010600030101010101" charset="-122"/>
                  <a:cs typeface="+mn-cs"/>
                </a:defRPr>
              </a:pPr>
              <a:r>
                <a:rPr lang="zh-CN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“现在”</a:t>
              </a:r>
              <a:endParaRPr lang="en-US" altLang="zh-C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charset="-122"/>
                <a:ea typeface="华文中宋" panose="02010600040101010101" charset="-122"/>
                <a:cs typeface="Arial Black" panose="020B0A04020102020204"/>
              </a:endParaRPr>
            </a:p>
            <a:p>
              <a:pPr lvl="0" defTabSz="1017270">
                <a:defRPr sz="1800">
                  <a:solidFill>
                    <a:prstClr val="white">
                      <a:alpha val="100000"/>
                    </a:prstClr>
                  </a:solidFill>
                  <a:latin typeface="Aptos"/>
                  <a:ea typeface="等线" panose="02010600030101010101" charset="-122"/>
                  <a:cs typeface="+mn-cs"/>
                </a:defRPr>
              </a:pPr>
              <a:r>
                <a:rPr lang="en-US" altLang="zh-C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      —</a:t>
              </a:r>
              <a:r>
                <a:rPr lang="zh-CN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见证</a:t>
              </a:r>
            </a:p>
          </p:txBody>
        </p:sp>
      </p:grpSp>
      <p:grpSp>
        <p:nvGrpSpPr>
          <p:cNvPr id="24" name="组合 23"/>
          <p:cNvGrpSpPr/>
          <p:nvPr>
            <p:custDataLst>
              <p:tags r:id="rId3"/>
            </p:custDataLst>
          </p:nvPr>
        </p:nvGrpSpPr>
        <p:grpSpPr>
          <a:xfrm>
            <a:off x="6234493" y="1760006"/>
            <a:ext cx="2711541" cy="1007301"/>
            <a:chOff x="1685028" y="2559352"/>
            <a:chExt cx="2711541" cy="1007301"/>
          </a:xfrm>
        </p:grpSpPr>
        <p:grpSp>
          <p:nvGrpSpPr>
            <p:cNvPr id="25" name="组合 24"/>
            <p:cNvGrpSpPr/>
            <p:nvPr/>
          </p:nvGrpSpPr>
          <p:grpSpPr>
            <a:xfrm>
              <a:off x="1685028" y="2559352"/>
              <a:ext cx="1007301" cy="1007301"/>
              <a:chOff x="4581205" y="3123572"/>
              <a:chExt cx="1355651" cy="1355651"/>
            </a:xfrm>
          </p:grpSpPr>
          <p:sp>
            <p:nvSpPr>
              <p:cNvPr id="39" name="矩形: 单圆角 10"/>
              <p:cNvSpPr/>
              <p:nvPr>
                <p:custDataLst>
                  <p:tags r:id="rId5"/>
                </p:custDataLst>
              </p:nvPr>
            </p:nvSpPr>
            <p:spPr>
              <a:xfrm rot="16200000">
                <a:off x="4581205" y="3123572"/>
                <a:ext cx="1355651" cy="1355651"/>
              </a:xfrm>
              <a:prstGeom prst="round1Rect">
                <a:avLst>
                  <a:gd name="adj" fmla="val 50000"/>
                </a:avLst>
              </a:prstGeom>
              <a:gradFill flip="none" rotWithShape="1">
                <a:gsLst>
                  <a:gs pos="35000">
                    <a:srgbClr val="C00000"/>
                  </a:gs>
                  <a:gs pos="0">
                    <a:srgbClr val="D33D19"/>
                  </a:gs>
                  <a:gs pos="100000">
                    <a:srgbClr val="690108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DF2BA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Heavy" panose="02020900000000000000" pitchFamily="18" charset="-122"/>
                  <a:cs typeface="Arial Black" panose="020B0A04020102020204" pitchFamily="34" charset="0"/>
                </a:endParaRPr>
              </a:p>
            </p:txBody>
          </p:sp>
          <p:sp>
            <p:nvSpPr>
              <p:cNvPr id="40" name="椭圆 39"/>
              <p:cNvSpPr/>
              <p:nvPr>
                <p:custDataLst>
                  <p:tags r:id="rId6"/>
                </p:custDataLst>
              </p:nvPr>
            </p:nvSpPr>
            <p:spPr>
              <a:xfrm>
                <a:off x="4650754" y="3193121"/>
                <a:ext cx="1286102" cy="1286102"/>
              </a:xfrm>
              <a:prstGeom prst="ellipse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DF2BA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思源宋体 Heavy" panose="02020900000000000000" pitchFamily="18" charset="-122"/>
                    <a:cs typeface="Arial Black" panose="020B0A04020102020204" pitchFamily="34" charset="0"/>
                  </a:rPr>
                  <a:t>03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DF2BA"/>
                  </a:solidFill>
                  <a:effectLst/>
                  <a:uLnTx/>
                  <a:uFillTx/>
                  <a:latin typeface="Arial Black" panose="020B0A04020102020204" pitchFamily="34" charset="0"/>
                  <a:ea typeface="思源宋体 Heavy" panose="02020900000000000000" pitchFamily="18" charset="-122"/>
                  <a:cs typeface="Arial Black" panose="020B0A04020102020204" pitchFamily="34" charset="0"/>
                </a:endParaRPr>
              </a:p>
            </p:txBody>
          </p:sp>
        </p:grpSp>
        <p:sp>
          <p:nvSpPr>
            <p:cNvPr id="37" name="矩形 36"/>
            <p:cNvSpPr/>
            <p:nvPr>
              <p:custDataLst>
                <p:tags r:id="rId4"/>
              </p:custDataLst>
            </p:nvPr>
          </p:nvSpPr>
          <p:spPr>
            <a:xfrm flipH="1">
              <a:off x="2645498" y="2629210"/>
              <a:ext cx="1751071" cy="867583"/>
            </a:xfrm>
            <a:prstGeom prst="rect">
              <a:avLst/>
            </a:prstGeom>
            <a:noFill/>
            <a:ln w="19050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20122" tIns="120122" rIns="120122" bIns="120122" rtlCol="0" anchor="ctr" anchorCtr="0">
              <a:no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40080" indent="-18288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82700" indent="-3683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925955" indent="-55435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568575" indent="-739775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1017270">
                <a:defRPr sz="1800">
                  <a:solidFill>
                    <a:prstClr val="white">
                      <a:alpha val="100000"/>
                    </a:prstClr>
                  </a:solidFill>
                  <a:latin typeface="Aptos"/>
                  <a:ea typeface="等线" panose="02010600030101010101" charset="-122"/>
                  <a:cs typeface="+mn-cs"/>
                </a:defRPr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“未来”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Arial Black" panose="020B0A04020102020204"/>
              </a:endParaRPr>
            </a:p>
            <a:p>
              <a:pPr lvl="0" defTabSz="1017270">
                <a:defRPr sz="1800">
                  <a:solidFill>
                    <a:prstClr val="white">
                      <a:alpha val="100000"/>
                    </a:prstClr>
                  </a:solidFill>
                  <a:latin typeface="Aptos"/>
                  <a:ea typeface="等线" panose="02010600030101010101" charset="-122"/>
                  <a:cs typeface="+mn-cs"/>
                </a:defRPr>
              </a:pPr>
              <a:r>
                <a:rPr lang="en-US" altLang="zh-C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      —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华文中宋" panose="02010600040101010101" charset="-122"/>
                  <a:ea typeface="华文中宋" panose="02010600040101010101" charset="-122"/>
                  <a:cs typeface="Arial Black" panose="020B0A04020102020204"/>
                </a:rPr>
                <a:t>思考</a:t>
              </a: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343028" y="317437"/>
            <a:ext cx="8605019" cy="539115"/>
          </a:xfrm>
          <a:prstGeom prst="rect">
            <a:avLst/>
          </a:prstGeom>
          <a:noFill/>
        </p:spPr>
        <p:txBody>
          <a:bodyPr vert="horz"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阿里巴巴普惠体 B" panose="00020600040101010101" pitchFamily="18" charset="-122"/>
              </a:rPr>
              <a:t>实践主线</a:t>
            </a: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阿里巴巴普惠体 B" panose="00020600040101010101" pitchFamily="18" charset="-122"/>
              </a:rPr>
              <a:t>：</a:t>
            </a:r>
            <a:r>
              <a:rPr kumimoji="0" lang="zh-CN" altLang="en-US" sz="3200" b="1" i="0" u="none" strike="noStrike" kern="1200" cap="none" spc="300" normalizeH="0" baseline="0" noProof="0" dirty="0">
                <a:ln>
                  <a:noFill/>
                </a:ln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anose="02010600040101010101" charset="-122"/>
                <a:ea typeface="华文中宋" panose="02010600040101010101" charset="-122"/>
                <a:cs typeface="阿里巴巴普惠体 B" panose="00020600040101010101" pitchFamily="18" charset="-122"/>
              </a:rPr>
              <a:t>鉴往知来，“智”行合一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01C7B4A-A013-9177-4320-A82E2192EB5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9962" b="25947"/>
          <a:stretch>
            <a:fillRect/>
          </a:stretch>
        </p:blipFill>
        <p:spPr>
          <a:xfrm>
            <a:off x="3200752" y="1148526"/>
            <a:ext cx="2842872" cy="22622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8744D9E-02AF-BAAC-777A-F34036824C6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955" y="3702758"/>
            <a:ext cx="3032436" cy="227432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4A79E36-5DA8-C849-EB71-874143666835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8279" r="4169"/>
          <a:stretch>
            <a:fillRect/>
          </a:stretch>
        </p:blipFill>
        <p:spPr>
          <a:xfrm>
            <a:off x="8999841" y="1148525"/>
            <a:ext cx="2842872" cy="2094629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AC51C0AA-1E0B-D4F1-16EE-BC918AB78663}"/>
              </a:ext>
            </a:extLst>
          </p:cNvPr>
          <p:cNvSpPr txBox="1"/>
          <p:nvPr/>
        </p:nvSpPr>
        <p:spPr>
          <a:xfrm>
            <a:off x="1374614" y="2772056"/>
            <a:ext cx="1815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革命历程、民族交融、多元一体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5B32920-C9BE-CFBE-8B04-B77D9613B8A1}"/>
              </a:ext>
            </a:extLst>
          </p:cNvPr>
          <p:cNvSpPr txBox="1"/>
          <p:nvPr/>
        </p:nvSpPr>
        <p:spPr>
          <a:xfrm>
            <a:off x="7211733" y="2754391"/>
            <a:ext cx="1815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绿色发展、问题与方案、产业融合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990925-444D-68A7-DF7F-B9F931033E37}"/>
              </a:ext>
            </a:extLst>
          </p:cNvPr>
          <p:cNvSpPr txBox="1"/>
          <p:nvPr/>
        </p:nvSpPr>
        <p:spPr>
          <a:xfrm>
            <a:off x="6120414" y="4959167"/>
            <a:ext cx="1815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现代智造、</a:t>
            </a:r>
            <a:r>
              <a:rPr lang="en-US" altLang="zh-CN" sz="16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zh-CN" altLang="en-US" sz="16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赋能、科技报国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025169D-1D1E-2573-3679-DB4A68142C5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29" y="76561"/>
            <a:ext cx="890093" cy="89009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0F64A51-A139-A033-A5BA-1B634BC01D4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49274" y="6291278"/>
            <a:ext cx="3804234" cy="548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890466" y="1327774"/>
            <a:ext cx="398253" cy="461665"/>
            <a:chOff x="4417853" y="1071925"/>
            <a:chExt cx="298690" cy="346248"/>
          </a:xfrm>
        </p:grpSpPr>
        <p:sp>
          <p:nvSpPr>
            <p:cNvPr id="3" name="椭圆 2"/>
            <p:cNvSpPr/>
            <p:nvPr/>
          </p:nvSpPr>
          <p:spPr>
            <a:xfrm>
              <a:off x="4417853" y="1095705"/>
              <a:ext cx="298690" cy="298690"/>
            </a:xfrm>
            <a:prstGeom prst="ellipse">
              <a:avLst/>
            </a:prstGeom>
            <a:solidFill>
              <a:srgbClr val="E2000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4439634" y="1071925"/>
              <a:ext cx="255119" cy="346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en-US" altLang="zh-CN" sz="2400" dirty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rPr>
                <a:t>1</a:t>
              </a:r>
              <a:endParaRPr lang="zh-CN" altLang="en-US" sz="2400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890466" y="5498519"/>
            <a:ext cx="398253" cy="461665"/>
            <a:chOff x="4417853" y="1079409"/>
            <a:chExt cx="298690" cy="346248"/>
          </a:xfrm>
        </p:grpSpPr>
        <p:sp>
          <p:nvSpPr>
            <p:cNvPr id="6" name="椭圆 5"/>
            <p:cNvSpPr/>
            <p:nvPr/>
          </p:nvSpPr>
          <p:spPr>
            <a:xfrm>
              <a:off x="4417853" y="1095705"/>
              <a:ext cx="298690" cy="298691"/>
            </a:xfrm>
            <a:prstGeom prst="ellipse">
              <a:avLst/>
            </a:prstGeom>
            <a:solidFill>
              <a:srgbClr val="E2000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zh-CN" alt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439634" y="1079409"/>
              <a:ext cx="255119" cy="3462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en-US" altLang="zh-CN" sz="2400" dirty="0">
                  <a:solidFill>
                    <a:prstClr val="white"/>
                  </a:solidFill>
                  <a:latin typeface="Calibri"/>
                  <a:ea typeface="宋体" panose="02010600030101010101" pitchFamily="2" charset="-122"/>
                </a:rPr>
                <a:t>2</a:t>
              </a:r>
              <a:endParaRPr lang="zh-CN" altLang="en-US" sz="2400" dirty="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397149" y="1327773"/>
            <a:ext cx="4306821" cy="461665"/>
            <a:chOff x="1835696" y="1071923"/>
            <a:chExt cx="2442281" cy="346249"/>
          </a:xfrm>
        </p:grpSpPr>
        <p:sp>
          <p:nvSpPr>
            <p:cNvPr id="9" name="矩形 8"/>
            <p:cNvSpPr/>
            <p:nvPr/>
          </p:nvSpPr>
          <p:spPr>
            <a:xfrm>
              <a:off x="1835696" y="1095705"/>
              <a:ext cx="2442281" cy="298690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zh-CN" altLang="en-US" sz="24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934654" y="1071923"/>
              <a:ext cx="2331407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zh-CN" altLang="en-US" sz="2400" dirty="0">
                  <a:solidFill>
                    <a:srgbClr val="F1E2AD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内蒙古博物院</a:t>
              </a:r>
              <a:r>
                <a:rPr lang="en-US" altLang="zh-CN" sz="2400" dirty="0">
                  <a:solidFill>
                    <a:srgbClr val="F1E2AD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&amp;</a:t>
              </a:r>
              <a:r>
                <a:rPr lang="zh-CN" altLang="en-US" sz="2400" dirty="0">
                  <a:solidFill>
                    <a:srgbClr val="F1E2AD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公主府博物馆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492243" y="5501132"/>
            <a:ext cx="3256375" cy="461665"/>
            <a:chOff x="1835696" y="1081371"/>
            <a:chExt cx="2442281" cy="346249"/>
          </a:xfrm>
        </p:grpSpPr>
        <p:sp>
          <p:nvSpPr>
            <p:cNvPr id="12" name="矩形 11"/>
            <p:cNvSpPr/>
            <p:nvPr/>
          </p:nvSpPr>
          <p:spPr>
            <a:xfrm>
              <a:off x="1835696" y="1095705"/>
              <a:ext cx="2442281" cy="298690"/>
            </a:xfrm>
            <a:prstGeom prst="rect">
              <a:avLst/>
            </a:prstGeom>
            <a:solidFill>
              <a:srgbClr val="E2000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70"/>
              <a:endParaRPr lang="zh-CN" altLang="en-US" sz="240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2142" y="1081371"/>
              <a:ext cx="1523494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1219170"/>
              <a:r>
                <a:rPr lang="zh-CN" altLang="en-US" sz="2400" dirty="0">
                  <a:solidFill>
                    <a:srgbClr val="F1E2AD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光辉革命历程</a:t>
              </a:r>
            </a:p>
          </p:txBody>
        </p:sp>
      </p:grpSp>
      <p:sp>
        <p:nvSpPr>
          <p:cNvPr id="16" name="矩形 15"/>
          <p:cNvSpPr/>
          <p:nvPr/>
        </p:nvSpPr>
        <p:spPr>
          <a:xfrm>
            <a:off x="6900092" y="1522198"/>
            <a:ext cx="3454523" cy="777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</a:pP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华夏民族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命运共同体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defTabSz="1219170">
              <a:lnSpc>
                <a:spcPct val="130000"/>
              </a:lnSpc>
            </a:pPr>
            <a:r>
              <a:rPr lang="en-US" altLang="zh-C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   ——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内蒙古的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光辉革命历史</a:t>
            </a:r>
            <a:endParaRPr lang="en-US" altLang="zh-CN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640206" y="4814132"/>
            <a:ext cx="4042751" cy="77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中华文明多元一体​​格局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的生动体现、​​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文化互鉴​​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、​​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民族交融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​​的历史见证。</a:t>
            </a:r>
            <a:endParaRPr lang="en-US" altLang="zh-C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F26D788-EDC1-32EE-E1C9-263FFE96F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565453" cy="707197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61D0063-B8E8-1F27-D83B-53B3017BE1A8}"/>
              </a:ext>
            </a:extLst>
          </p:cNvPr>
          <p:cNvSpPr txBox="1"/>
          <p:nvPr/>
        </p:nvSpPr>
        <p:spPr>
          <a:xfrm>
            <a:off x="207004" y="1"/>
            <a:ext cx="9417963" cy="707886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1219170"/>
            <a:r>
              <a:rPr lang="zh-CN" altLang="en-US" sz="4000" b="1" dirty="0">
                <a:solidFill>
                  <a:srgbClr val="F1E2AD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历史的厚度</a:t>
            </a:r>
            <a:r>
              <a:rPr lang="en-US" altLang="zh-CN" sz="4000" b="1" dirty="0">
                <a:solidFill>
                  <a:srgbClr val="F1E2AD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——</a:t>
            </a:r>
            <a:r>
              <a:rPr lang="zh-CN" altLang="en-US" sz="4000" b="1" dirty="0">
                <a:solidFill>
                  <a:srgbClr val="F1E2AD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青史鉴兴替，丹心照古今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FD657ED-2AD5-212C-2399-1FBAA31EA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591" y="1821146"/>
            <a:ext cx="4548010" cy="302997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B90BEF1-182E-9F78-B3EF-731962BAA9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9045" y="2318767"/>
            <a:ext cx="4433552" cy="295570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5A48D2F-6422-9220-453C-F8DD401670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2575" y="0"/>
            <a:ext cx="929425" cy="8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1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3.33333E-6 L 8.33333E-7 0.32778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38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8.33333E-7 -0.27848 L 8.33333E-7 0.0493 " pathEditMode="relative" rAng="0" ptsTypes="AA">
                                      <p:cBhvr>
                                        <p:cTn id="14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38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0B7575E3-CE6F-F771-7074-6113B1EF55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4563584" y="0"/>
            <a:ext cx="7628416" cy="71786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矩形 1"/>
          <p:cNvSpPr/>
          <p:nvPr/>
        </p:nvSpPr>
        <p:spPr>
          <a:xfrm>
            <a:off x="-1" y="1"/>
            <a:ext cx="9562563" cy="707886"/>
          </a:xfrm>
          <a:prstGeom prst="rect">
            <a:avLst/>
          </a:pr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 defTabSz="1219170"/>
            <a:endParaRPr lang="zh-CN" altLang="en-US" sz="240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7004" y="1"/>
            <a:ext cx="9417963" cy="64633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defTabSz="1219170"/>
            <a:r>
              <a:rPr lang="zh-CN" altLang="en-US" sz="3600" b="1" dirty="0">
                <a:solidFill>
                  <a:srgbClr val="F1E2AD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科技的力度</a:t>
            </a:r>
            <a:r>
              <a:rPr lang="en-US" altLang="zh-CN" sz="3600" b="1" dirty="0">
                <a:solidFill>
                  <a:srgbClr val="F1E2AD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——</a:t>
            </a:r>
            <a:r>
              <a:rPr lang="zh-CN" altLang="en-US" sz="3600" b="1" dirty="0">
                <a:solidFill>
                  <a:srgbClr val="F1E2AD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智联生产全链，数创制造新局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A3CA11-5958-1CD5-0680-5EFF7F24D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0572" y="6345891"/>
            <a:ext cx="3590855" cy="5121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BCEF312-E725-B7EB-05B5-6843C89D1D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2575" y="0"/>
            <a:ext cx="929425" cy="89009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467BC1F-A4E8-FBCC-2B2A-F32EA5816E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004" y="1255605"/>
            <a:ext cx="6924443" cy="434678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BBFD21D-3050-FCF5-C9D1-7EDA4FFFE2E8}"/>
              </a:ext>
            </a:extLst>
          </p:cNvPr>
          <p:cNvGrpSpPr/>
          <p:nvPr/>
        </p:nvGrpSpPr>
        <p:grpSpPr>
          <a:xfrm>
            <a:off x="7302926" y="2485450"/>
            <a:ext cx="4295839" cy="2374985"/>
            <a:chOff x="7302926" y="2485450"/>
            <a:chExt cx="4295839" cy="2374985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26483AC-3623-7FAC-B38C-9D247CCBB277}"/>
                </a:ext>
              </a:extLst>
            </p:cNvPr>
            <p:cNvSpPr/>
            <p:nvPr/>
          </p:nvSpPr>
          <p:spPr>
            <a:xfrm>
              <a:off x="7302926" y="2485450"/>
              <a:ext cx="4295839" cy="2374985"/>
            </a:xfrm>
            <a:prstGeom prst="roundRect">
              <a:avLst/>
            </a:prstGeom>
            <a:solidFill>
              <a:schemeClr val="tx2">
                <a:lumMod val="60000"/>
                <a:lumOff val="40000"/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E077088-DFC7-1139-3D55-9BB859FD0F9B}"/>
                </a:ext>
              </a:extLst>
            </p:cNvPr>
            <p:cNvSpPr txBox="1"/>
            <p:nvPr/>
          </p:nvSpPr>
          <p:spPr>
            <a:xfrm>
              <a:off x="7458459" y="2642523"/>
              <a:ext cx="4029568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伊利健康谷：</a:t>
              </a:r>
              <a:r>
                <a:rPr lang="zh-CN" altLang="en-US" sz="24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​​ ​​</a:t>
              </a:r>
              <a:endParaRPr lang="en-US" altLang="zh-C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r>
                <a:rPr lang="zh-CN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现代制造业​​的科技魅力、​​</a:t>
              </a:r>
              <a:r>
                <a:rPr lang="en-US" altLang="zh-C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AI​​</a:t>
              </a:r>
              <a:r>
                <a:rPr lang="zh-CN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楷体" panose="02010600040101010101" pitchFamily="2" charset="-122"/>
                  <a:ea typeface="华文楷体" panose="02010600040101010101" pitchFamily="2" charset="-122"/>
                </a:rPr>
                <a:t>与全产业链的​​完美融合​​、智能化、无人化、​​科技报国​​的企业实践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70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289C9-5338-54B6-C798-2A23A0A4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D957CE-E028-3040-FE0D-818E22231BDA}"/>
              </a:ext>
            </a:extLst>
          </p:cNvPr>
          <p:cNvSpPr/>
          <p:nvPr/>
        </p:nvSpPr>
        <p:spPr>
          <a:xfrm>
            <a:off x="-1" y="1"/>
            <a:ext cx="9562563" cy="707886"/>
          </a:xfrm>
          <a:prstGeom prst="rect">
            <a:avLst/>
          </a:prstGeom>
          <a:solidFill>
            <a:srgbClr val="E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56D3E3-4145-9400-B23E-B5EB1DEBD0DF}"/>
              </a:ext>
            </a:extLst>
          </p:cNvPr>
          <p:cNvSpPr txBox="1"/>
          <p:nvPr/>
        </p:nvSpPr>
        <p:spPr>
          <a:xfrm>
            <a:off x="207004" y="1"/>
            <a:ext cx="9212778" cy="769441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1E2AD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草原的维度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rgbClr val="F1E2AD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——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1E2AD"/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cs typeface="+mn-cs"/>
              </a:rPr>
              <a:t>绿色根基与智能发展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78623A-6E80-4B28-0D11-36EDD0181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572" y="6345891"/>
            <a:ext cx="3590855" cy="51210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24F703-7980-1E66-B57D-F4A4BDFF0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2575" y="0"/>
            <a:ext cx="929425" cy="8900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24021EC-C90D-4A8B-A4E4-8CBC4908E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538" y="1150507"/>
            <a:ext cx="6628634" cy="46898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70ACDCB-460B-39C7-1A64-D5725605874E}"/>
              </a:ext>
            </a:extLst>
          </p:cNvPr>
          <p:cNvSpPr txBox="1"/>
          <p:nvPr/>
        </p:nvSpPr>
        <p:spPr>
          <a:xfrm>
            <a:off x="7547778" y="1484000"/>
            <a:ext cx="40295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调研发现：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​​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草原生态是乳业之基，但可能存在</a:t>
            </a:r>
            <a:r>
              <a:rPr lang="zh-CN" altLang="zh-CN" sz="2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技术创新与研发投入压力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zh-CN" altLang="zh-CN" sz="2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供需失衡，原奶价格持续低迷</a:t>
            </a:r>
            <a:r>
              <a:rPr lang="zh-CN" altLang="en-US" sz="2000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等问题。</a:t>
            </a:r>
            <a:endParaRPr lang="en-US" altLang="zh-CN" sz="2000" b="1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可行性建议：</a:t>
            </a:r>
            <a:endParaRPr lang="en-US" altLang="zh-C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加强全产业链协同与合作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积极开拓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端市场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打造透明可追溯体系，增强消费者信任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以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AI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赋能精准运营</a:t>
            </a:r>
          </a:p>
        </p:txBody>
      </p:sp>
    </p:spTree>
    <p:extLst>
      <p:ext uri="{BB962C8B-B14F-4D97-AF65-F5344CB8AC3E}">
        <p14:creationId xmlns:p14="http://schemas.microsoft.com/office/powerpoint/2010/main" val="311650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/>
          <p:cNvSpPr/>
          <p:nvPr/>
        </p:nvSpPr>
        <p:spPr bwMode="auto">
          <a:xfrm>
            <a:off x="2416568" y="3704772"/>
            <a:ext cx="1350434" cy="945781"/>
          </a:xfrm>
          <a:custGeom>
            <a:avLst/>
            <a:gdLst>
              <a:gd name="T0" fmla="*/ 0 w 1432"/>
              <a:gd name="T1" fmla="*/ 290 h 1002"/>
              <a:gd name="T2" fmla="*/ 1432 w 1432"/>
              <a:gd name="T3" fmla="*/ 0 h 1002"/>
              <a:gd name="T4" fmla="*/ 1245 w 1432"/>
              <a:gd name="T5" fmla="*/ 793 h 1002"/>
              <a:gd name="T6" fmla="*/ 275 w 1432"/>
              <a:gd name="T7" fmla="*/ 1002 h 1002"/>
              <a:gd name="T8" fmla="*/ 0 w 1432"/>
              <a:gd name="T9" fmla="*/ 290 h 10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32" h="1002">
                <a:moveTo>
                  <a:pt x="0" y="290"/>
                </a:moveTo>
                <a:lnTo>
                  <a:pt x="1432" y="0"/>
                </a:lnTo>
                <a:lnTo>
                  <a:pt x="1245" y="793"/>
                </a:lnTo>
                <a:lnTo>
                  <a:pt x="275" y="1002"/>
                </a:lnTo>
                <a:lnTo>
                  <a:pt x="0" y="2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Oval 7"/>
          <p:cNvSpPr>
            <a:spLocks noChangeArrowheads="1"/>
          </p:cNvSpPr>
          <p:nvPr/>
        </p:nvSpPr>
        <p:spPr bwMode="auto">
          <a:xfrm>
            <a:off x="1193084" y="2516199"/>
            <a:ext cx="2205763" cy="2205763"/>
          </a:xfrm>
          <a:prstGeom prst="ellipse">
            <a:avLst/>
          </a:prstGeom>
          <a:solidFill>
            <a:schemeClr val="tx1">
              <a:lumMod val="75000"/>
            </a:schemeClr>
          </a:solidFill>
          <a:ln w="571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04" tIns="45702" rIns="91404" bIns="45702" numCol="1" rtlCol="0" anchor="t" anchorCtr="0" compatLnSpc="1"/>
          <a:lstStyle/>
          <a:p>
            <a:pPr defTabSz="914034" fontAlgn="base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Freeform 8"/>
          <p:cNvSpPr/>
          <p:nvPr/>
        </p:nvSpPr>
        <p:spPr bwMode="auto">
          <a:xfrm>
            <a:off x="584007" y="3539166"/>
            <a:ext cx="3371638" cy="830997"/>
          </a:xfrm>
          <a:custGeom>
            <a:avLst/>
            <a:gdLst>
              <a:gd name="T0" fmla="*/ 0 w 3337"/>
              <a:gd name="T1" fmla="*/ 0 h 760"/>
              <a:gd name="T2" fmla="*/ 3337 w 3337"/>
              <a:gd name="T3" fmla="*/ 0 h 760"/>
              <a:gd name="T4" fmla="*/ 3150 w 3337"/>
              <a:gd name="T5" fmla="*/ 760 h 760"/>
              <a:gd name="T6" fmla="*/ 275 w 3337"/>
              <a:gd name="T7" fmla="*/ 760 h 760"/>
              <a:gd name="T8" fmla="*/ 0 w 3337"/>
              <a:gd name="T9" fmla="*/ 0 h 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37" h="760">
                <a:moveTo>
                  <a:pt x="0" y="0"/>
                </a:moveTo>
                <a:lnTo>
                  <a:pt x="3337" y="0"/>
                </a:lnTo>
                <a:lnTo>
                  <a:pt x="3150" y="760"/>
                </a:lnTo>
                <a:lnTo>
                  <a:pt x="275" y="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Freeform 9"/>
          <p:cNvSpPr/>
          <p:nvPr/>
        </p:nvSpPr>
        <p:spPr bwMode="auto">
          <a:xfrm>
            <a:off x="4724895" y="1269603"/>
            <a:ext cx="3452475" cy="591907"/>
          </a:xfrm>
          <a:custGeom>
            <a:avLst/>
            <a:gdLst>
              <a:gd name="T0" fmla="*/ 0 w 2601"/>
              <a:gd name="T1" fmla="*/ 118 h 627"/>
              <a:gd name="T2" fmla="*/ 2601 w 2601"/>
              <a:gd name="T3" fmla="*/ 0 h 627"/>
              <a:gd name="T4" fmla="*/ 2601 w 2601"/>
              <a:gd name="T5" fmla="*/ 517 h 627"/>
              <a:gd name="T6" fmla="*/ 189 w 2601"/>
              <a:gd name="T7" fmla="*/ 627 h 627"/>
              <a:gd name="T8" fmla="*/ 0 w 2601"/>
              <a:gd name="T9" fmla="*/ 118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1" h="627">
                <a:moveTo>
                  <a:pt x="0" y="118"/>
                </a:moveTo>
                <a:lnTo>
                  <a:pt x="2601" y="0"/>
                </a:lnTo>
                <a:lnTo>
                  <a:pt x="2601" y="517"/>
                </a:lnTo>
                <a:lnTo>
                  <a:pt x="189" y="627"/>
                </a:lnTo>
                <a:lnTo>
                  <a:pt x="0" y="11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" name="Freeform 10"/>
          <p:cNvSpPr/>
          <p:nvPr/>
        </p:nvSpPr>
        <p:spPr bwMode="auto">
          <a:xfrm>
            <a:off x="4532881" y="1269604"/>
            <a:ext cx="3722515" cy="487173"/>
          </a:xfrm>
          <a:custGeom>
            <a:avLst/>
            <a:gdLst>
              <a:gd name="T0" fmla="*/ 0 w 2805"/>
              <a:gd name="T1" fmla="*/ 0 h 517"/>
              <a:gd name="T2" fmla="*/ 2805 w 2805"/>
              <a:gd name="T3" fmla="*/ 0 h 517"/>
              <a:gd name="T4" fmla="*/ 2805 w 2805"/>
              <a:gd name="T5" fmla="*/ 517 h 517"/>
              <a:gd name="T6" fmla="*/ 204 w 2805"/>
              <a:gd name="T7" fmla="*/ 517 h 517"/>
              <a:gd name="T8" fmla="*/ 0 w 2805"/>
              <a:gd name="T9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05" h="517">
                <a:moveTo>
                  <a:pt x="0" y="0"/>
                </a:moveTo>
                <a:lnTo>
                  <a:pt x="2805" y="0"/>
                </a:lnTo>
                <a:lnTo>
                  <a:pt x="2805" y="517"/>
                </a:lnTo>
                <a:lnTo>
                  <a:pt x="204" y="5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Freeform 11"/>
          <p:cNvSpPr/>
          <p:nvPr/>
        </p:nvSpPr>
        <p:spPr bwMode="auto">
          <a:xfrm>
            <a:off x="4724895" y="2974156"/>
            <a:ext cx="3452475" cy="590319"/>
          </a:xfrm>
          <a:custGeom>
            <a:avLst/>
            <a:gdLst>
              <a:gd name="T0" fmla="*/ 0 w 2601"/>
              <a:gd name="T1" fmla="*/ 118 h 626"/>
              <a:gd name="T2" fmla="*/ 2601 w 2601"/>
              <a:gd name="T3" fmla="*/ 0 h 626"/>
              <a:gd name="T4" fmla="*/ 2601 w 2601"/>
              <a:gd name="T5" fmla="*/ 517 h 626"/>
              <a:gd name="T6" fmla="*/ 189 w 2601"/>
              <a:gd name="T7" fmla="*/ 626 h 626"/>
              <a:gd name="T8" fmla="*/ 0 w 2601"/>
              <a:gd name="T9" fmla="*/ 118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1" h="626">
                <a:moveTo>
                  <a:pt x="0" y="118"/>
                </a:moveTo>
                <a:lnTo>
                  <a:pt x="2601" y="0"/>
                </a:lnTo>
                <a:lnTo>
                  <a:pt x="2601" y="517"/>
                </a:lnTo>
                <a:lnTo>
                  <a:pt x="189" y="626"/>
                </a:lnTo>
                <a:lnTo>
                  <a:pt x="0" y="118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Freeform 12"/>
          <p:cNvSpPr/>
          <p:nvPr/>
        </p:nvSpPr>
        <p:spPr bwMode="auto">
          <a:xfrm>
            <a:off x="4532881" y="2974156"/>
            <a:ext cx="3722515" cy="487173"/>
          </a:xfrm>
          <a:custGeom>
            <a:avLst/>
            <a:gdLst>
              <a:gd name="T0" fmla="*/ 0 w 2805"/>
              <a:gd name="T1" fmla="*/ 0 h 517"/>
              <a:gd name="T2" fmla="*/ 2805 w 2805"/>
              <a:gd name="T3" fmla="*/ 0 h 517"/>
              <a:gd name="T4" fmla="*/ 2805 w 2805"/>
              <a:gd name="T5" fmla="*/ 517 h 517"/>
              <a:gd name="T6" fmla="*/ 204 w 2805"/>
              <a:gd name="T7" fmla="*/ 517 h 517"/>
              <a:gd name="T8" fmla="*/ 0 w 2805"/>
              <a:gd name="T9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05" h="517">
                <a:moveTo>
                  <a:pt x="0" y="0"/>
                </a:moveTo>
                <a:lnTo>
                  <a:pt x="2805" y="0"/>
                </a:lnTo>
                <a:lnTo>
                  <a:pt x="2805" y="517"/>
                </a:lnTo>
                <a:lnTo>
                  <a:pt x="204" y="5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Freeform 13"/>
          <p:cNvSpPr/>
          <p:nvPr/>
        </p:nvSpPr>
        <p:spPr bwMode="auto">
          <a:xfrm>
            <a:off x="4724895" y="4761433"/>
            <a:ext cx="3452475" cy="591907"/>
          </a:xfrm>
          <a:custGeom>
            <a:avLst/>
            <a:gdLst>
              <a:gd name="T0" fmla="*/ 0 w 2601"/>
              <a:gd name="T1" fmla="*/ 119 h 627"/>
              <a:gd name="T2" fmla="*/ 2601 w 2601"/>
              <a:gd name="T3" fmla="*/ 0 h 627"/>
              <a:gd name="T4" fmla="*/ 2601 w 2601"/>
              <a:gd name="T5" fmla="*/ 517 h 627"/>
              <a:gd name="T6" fmla="*/ 189 w 2601"/>
              <a:gd name="T7" fmla="*/ 627 h 627"/>
              <a:gd name="T8" fmla="*/ 0 w 2601"/>
              <a:gd name="T9" fmla="*/ 119 h 6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1" h="627">
                <a:moveTo>
                  <a:pt x="0" y="119"/>
                </a:moveTo>
                <a:lnTo>
                  <a:pt x="2601" y="0"/>
                </a:lnTo>
                <a:lnTo>
                  <a:pt x="2601" y="517"/>
                </a:lnTo>
                <a:lnTo>
                  <a:pt x="189" y="627"/>
                </a:lnTo>
                <a:lnTo>
                  <a:pt x="0" y="1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Freeform 14"/>
          <p:cNvSpPr/>
          <p:nvPr/>
        </p:nvSpPr>
        <p:spPr bwMode="auto">
          <a:xfrm>
            <a:off x="4532881" y="4761434"/>
            <a:ext cx="3722515" cy="487173"/>
          </a:xfrm>
          <a:custGeom>
            <a:avLst/>
            <a:gdLst>
              <a:gd name="T0" fmla="*/ 0 w 2805"/>
              <a:gd name="T1" fmla="*/ 0 h 517"/>
              <a:gd name="T2" fmla="*/ 2805 w 2805"/>
              <a:gd name="T3" fmla="*/ 0 h 517"/>
              <a:gd name="T4" fmla="*/ 2805 w 2805"/>
              <a:gd name="T5" fmla="*/ 517 h 517"/>
              <a:gd name="T6" fmla="*/ 204 w 2805"/>
              <a:gd name="T7" fmla="*/ 517 h 517"/>
              <a:gd name="T8" fmla="*/ 0 w 2805"/>
              <a:gd name="T9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05" h="517">
                <a:moveTo>
                  <a:pt x="0" y="0"/>
                </a:moveTo>
                <a:lnTo>
                  <a:pt x="2805" y="0"/>
                </a:lnTo>
                <a:lnTo>
                  <a:pt x="2805" y="517"/>
                </a:lnTo>
                <a:lnTo>
                  <a:pt x="204" y="5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799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TextBox 13"/>
          <p:cNvSpPr txBox="1"/>
          <p:nvPr/>
        </p:nvSpPr>
        <p:spPr>
          <a:xfrm>
            <a:off x="1706180" y="2782669"/>
            <a:ext cx="1127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600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总结</a:t>
            </a:r>
          </a:p>
        </p:txBody>
      </p:sp>
      <p:sp>
        <p:nvSpPr>
          <p:cNvPr id="34" name="TextBox 14"/>
          <p:cNvSpPr txBox="1"/>
          <p:nvPr/>
        </p:nvSpPr>
        <p:spPr>
          <a:xfrm>
            <a:off x="656659" y="3649483"/>
            <a:ext cx="32786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 eaLnBrk="1">
              <a:defRPr sz="2000" b="1">
                <a:latin typeface="+mn-ea"/>
                <a:ea typeface="+mn-ea"/>
              </a:defRPr>
            </a:lvl1pPr>
          </a:lstStyle>
          <a:p>
            <a:pPr defTabSz="914034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融合与创新的北疆启示</a:t>
            </a:r>
            <a:endParaRPr lang="zh-CN" altLang="en-US" dirty="0">
              <a:solidFill>
                <a:srgbClr val="F1E2A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5" name="TextBox 20"/>
          <p:cNvSpPr txBox="1"/>
          <p:nvPr/>
        </p:nvSpPr>
        <p:spPr>
          <a:xfrm>
            <a:off x="4892782" y="1320308"/>
            <a:ext cx="24416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历史与未来的融合</a:t>
            </a:r>
            <a:endParaRPr lang="zh-CN" altLang="en-US" sz="2199" dirty="0">
              <a:solidFill>
                <a:srgbClr val="F1E2A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6" name="TextBox 21"/>
          <p:cNvSpPr txBox="1"/>
          <p:nvPr/>
        </p:nvSpPr>
        <p:spPr>
          <a:xfrm>
            <a:off x="4892781" y="2998608"/>
            <a:ext cx="2441694" cy="430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99" b="1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科技与产业的融合</a:t>
            </a:r>
          </a:p>
        </p:txBody>
      </p:sp>
      <p:sp>
        <p:nvSpPr>
          <p:cNvPr id="37" name="TextBox 22"/>
          <p:cNvSpPr txBox="1"/>
          <p:nvPr/>
        </p:nvSpPr>
        <p:spPr>
          <a:xfrm>
            <a:off x="4892781" y="4795062"/>
            <a:ext cx="2441694" cy="4307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2"/>
                </a:solidFill>
                <a:latin typeface="+mn-ea"/>
                <a:ea typeface="+mn-ea"/>
              </a:defRPr>
            </a:lvl1pPr>
          </a:lstStyle>
          <a:p>
            <a:pPr defTabSz="91403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199" b="1" dirty="0">
                <a:solidFill>
                  <a:srgbClr val="F1E2A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民族与自然的融合</a:t>
            </a:r>
          </a:p>
        </p:txBody>
      </p:sp>
      <p:sp>
        <p:nvSpPr>
          <p:cNvPr id="38" name="TextBox 23"/>
          <p:cNvSpPr txBox="1"/>
          <p:nvPr/>
        </p:nvSpPr>
        <p:spPr>
          <a:xfrm>
            <a:off x="4512443" y="1861511"/>
            <a:ext cx="6694129" cy="646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 eaLnBrk="1"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defTabSz="914034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799" dirty="0">
                <a:solidFill>
                  <a:srgbClr val="404040"/>
                </a:solidFill>
              </a:rPr>
              <a:t>深厚文化是科技创新的底气。将优秀的内蒙古悠久民族历史传递下去，让它们在新时代焕发出新的生机与活力。</a:t>
            </a:r>
            <a:endParaRPr lang="zh-CN" altLang="en-US" sz="1799" dirty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24"/>
          <p:cNvSpPr txBox="1"/>
          <p:nvPr/>
        </p:nvSpPr>
        <p:spPr>
          <a:xfrm>
            <a:off x="4512443" y="3566294"/>
            <a:ext cx="6694129" cy="92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 eaLnBrk="1">
              <a:defRPr sz="18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defTabSz="914034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799" dirty="0">
                <a:solidFill>
                  <a:srgbClr val="404040"/>
                </a:solidFill>
              </a:rPr>
              <a:t>AI</a:t>
            </a:r>
            <a:r>
              <a:rPr lang="zh-CN" altLang="en-US" sz="1799" dirty="0">
                <a:solidFill>
                  <a:srgbClr val="404040"/>
                </a:solidFill>
              </a:rPr>
              <a:t>智造是振兴实体经济的关键。坚定学好专业知识、投身实业报国的决心。将把所见所闻转化为学习动力，努力成为推动中国制造向中国智造转变的新生力量。</a:t>
            </a:r>
            <a:endParaRPr lang="zh-CN" altLang="en-US" sz="1799" dirty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40" name="TextBox 26"/>
          <p:cNvSpPr txBox="1"/>
          <p:nvPr/>
        </p:nvSpPr>
        <p:spPr>
          <a:xfrm>
            <a:off x="4512443" y="5418118"/>
            <a:ext cx="6694129" cy="369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 eaLnBrk="1">
              <a:defRPr sz="2000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defTabSz="914034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799" dirty="0">
                <a:solidFill>
                  <a:srgbClr val="404040"/>
                </a:solidFill>
              </a:rPr>
              <a:t>绿色发展是中华民族永续发展的根本。</a:t>
            </a:r>
            <a:endParaRPr lang="zh-CN" altLang="en-US" sz="1799" dirty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9BB6222-7C00-1120-066D-D160375E5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905" y="43648"/>
            <a:ext cx="985428" cy="946530"/>
          </a:xfrm>
          <a:prstGeom prst="rect">
            <a:avLst/>
          </a:prstGeom>
        </p:spPr>
      </p:pic>
    </p:spTree>
  </p:cSld>
  <p:clrMapOvr>
    <a:masterClrMapping/>
  </p:clrMapOvr>
  <p:transition advClick="0" advTm="3000">
    <p:wheel spokes="3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300"/>
                            </p:stCondLst>
                            <p:childTnLst>
                              <p:par>
                                <p:cTn id="3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6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1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400"/>
                            </p:stCondLst>
                            <p:childTnLst>
                              <p:par>
                                <p:cTn id="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900"/>
                            </p:stCondLst>
                            <p:childTnLst>
                              <p:par>
                                <p:cTn id="5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7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800"/>
                            </p:stCondLst>
                            <p:childTnLst>
                              <p:par>
                                <p:cTn id="8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9" grpId="0" animBg="1"/>
      <p:bldP spid="30" grpId="0" animBg="1"/>
      <p:bldP spid="31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A4217A0-75E0-D7B7-6D0F-198514851B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5949" cy="76174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F30C93D-0696-41BA-A252-D9446F5F0A45}"/>
              </a:ext>
            </a:extLst>
          </p:cNvPr>
          <p:cNvSpPr txBox="1"/>
          <p:nvPr/>
        </p:nvSpPr>
        <p:spPr>
          <a:xfrm>
            <a:off x="3160150" y="3515932"/>
            <a:ext cx="58856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感谢各位老师的耐心聆听</a:t>
            </a: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特别感谢指导老师何昆鹏的悉心指导  </a:t>
            </a:r>
          </a:p>
          <a:p>
            <a:pPr algn="ctr"/>
            <a:r>
              <a:rPr lang="zh-CN" altLang="en-US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感谢所有队员的共同努力与付出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82E453-DC5E-EEFB-BCD0-395B2E2BD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572" y="6345891"/>
            <a:ext cx="3590855" cy="5121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A22DD17-76DD-EA9B-6F4A-56B5048157B8}"/>
              </a:ext>
            </a:extLst>
          </p:cNvPr>
          <p:cNvSpPr txBox="1"/>
          <p:nvPr/>
        </p:nvSpPr>
        <p:spPr bwMode="white">
          <a:xfrm>
            <a:off x="3410789" y="1173086"/>
            <a:ext cx="53843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0000" dirty="0">
                <a:gradFill>
                  <a:gsLst>
                    <a:gs pos="0">
                      <a:srgbClr val="8A0000"/>
                    </a:gs>
                    <a:gs pos="100000">
                      <a:srgbClr val="FF0000"/>
                    </a:gs>
                    <a:gs pos="100000">
                      <a:srgbClr val="404040">
                        <a:lumMod val="45000"/>
                        <a:lumOff val="55000"/>
                      </a:srgbClr>
                    </a:gs>
                    <a:gs pos="100000">
                      <a:srgbClr val="404040">
                        <a:lumMod val="30000"/>
                        <a:lumOff val="70000"/>
                      </a:srgbClr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charset="-122"/>
                <a:ea typeface="华文行楷" panose="02010800040101010101" charset="-122"/>
              </a:rPr>
              <a:t>谢谢观看</a:t>
            </a:r>
            <a:endParaRPr lang="zh-CN" altLang="en-US" sz="4800" dirty="0">
              <a:gradFill>
                <a:gsLst>
                  <a:gs pos="0">
                    <a:srgbClr val="8A0000"/>
                  </a:gs>
                  <a:gs pos="100000">
                    <a:srgbClr val="FF0000"/>
                  </a:gs>
                  <a:gs pos="100000">
                    <a:srgbClr val="404040">
                      <a:lumMod val="45000"/>
                      <a:lumOff val="55000"/>
                    </a:srgbClr>
                  </a:gs>
                  <a:gs pos="100000">
                    <a:srgbClr val="404040">
                      <a:lumMod val="30000"/>
                      <a:lumOff val="70000"/>
                    </a:srgbClr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行楷" panose="02010800040101010101" charset="-122"/>
              <a:ea typeface="华文行楷" panose="02010800040101010101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6A73064-A2E6-866E-A218-D86DF9566E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3" y="22538"/>
            <a:ext cx="926672" cy="8900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327F12-8DAB-8FD1-69E9-AAF69A53A4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459" y="0"/>
            <a:ext cx="981541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7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8.5555905511811,&quot;left&quot;:75.68669291338583,&quot;top&quot;:135.59181102362203,&quot;width&quot;:787.7650393700789}"/>
</p:tagLst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主题​​">
  <a:themeElements>
    <a:clrScheme name="我的主题色">
      <a:dk1>
        <a:sysClr val="windowText" lastClr="000000"/>
      </a:dk1>
      <a:lt1>
        <a:sysClr val="window" lastClr="FFFFFF"/>
      </a:lt1>
      <a:dk2>
        <a:srgbClr val="E6325C"/>
      </a:dk2>
      <a:lt2>
        <a:srgbClr val="E6325C"/>
      </a:lt2>
      <a:accent1>
        <a:srgbClr val="A3CD39"/>
      </a:accent1>
      <a:accent2>
        <a:srgbClr val="A3CD39"/>
      </a:accent2>
      <a:accent3>
        <a:srgbClr val="4EC0A5"/>
      </a:accent3>
      <a:accent4>
        <a:srgbClr val="4EC0A5"/>
      </a:accent4>
      <a:accent5>
        <a:srgbClr val="E4BE33"/>
      </a:accent5>
      <a:accent6>
        <a:srgbClr val="E4BE33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blipFill dpi="0" rotWithShape="1">
          <a:blip xmlns:r="http://schemas.openxmlformats.org/officeDocument/2006/relationships" r:embed="rId1"/>
          <a:srcRect/>
          <a:stretch>
            <a:fillRect l="-2000" r="-2000"/>
          </a:stretch>
        </a:blipFill>
        <a:ln>
          <a:noFill/>
        </a:ln>
      </a:spPr>
      <a:bodyPr lIns="68562" tIns="34281" rIns="68562" bIns="34281"/>
      <a:lstStyle>
        <a:defPPr marL="0" marR="0" indent="0" defTabSz="91440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7DA7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raClrSchemeLst/>
</a:theme>
</file>

<file path=ppt/theme/theme5.xml><?xml version="1.0" encoding="utf-8"?>
<a:theme xmlns:a="http://schemas.openxmlformats.org/drawingml/2006/main" name="1_默认设计模板">
  <a:themeElements>
    <a:clrScheme name="123">
      <a:dk1>
        <a:srgbClr val="C00000"/>
      </a:dk1>
      <a:lt1>
        <a:srgbClr val="5A5A5A"/>
      </a:lt1>
      <a:dk2>
        <a:srgbClr val="7F7F7F"/>
      </a:dk2>
      <a:lt2>
        <a:srgbClr val="FFFFFF"/>
      </a:lt2>
      <a:accent1>
        <a:srgbClr val="404040"/>
      </a:accent1>
      <a:accent2>
        <a:srgbClr val="C00000"/>
      </a:accent2>
      <a:accent3>
        <a:srgbClr val="FFFFFF"/>
      </a:accent3>
      <a:accent4>
        <a:srgbClr val="D9D9D9"/>
      </a:accent4>
      <a:accent5>
        <a:srgbClr val="C00000"/>
      </a:accent5>
      <a:accent6>
        <a:srgbClr val="4D4948"/>
      </a:accent6>
      <a:hlink>
        <a:srgbClr val="7F7F7F"/>
      </a:hlink>
      <a:folHlink>
        <a:srgbClr val="D9D9D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426</Words>
  <Application>Microsoft Office PowerPoint</Application>
  <PresentationFormat>宽屏</PresentationFormat>
  <Paragraphs>58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等线</vt:lpstr>
      <vt:lpstr>等线 Light</vt:lpstr>
      <vt:lpstr>华文楷体</vt:lpstr>
      <vt:lpstr>华文隶书</vt:lpstr>
      <vt:lpstr>华文行楷</vt:lpstr>
      <vt:lpstr>华文中宋</vt:lpstr>
      <vt:lpstr>楷体</vt:lpstr>
      <vt:lpstr>隶书</vt:lpstr>
      <vt:lpstr>微软雅黑</vt:lpstr>
      <vt:lpstr>Arial</vt:lpstr>
      <vt:lpstr>Arial Black</vt:lpstr>
      <vt:lpstr>Calibri</vt:lpstr>
      <vt:lpstr>Office 主题​​</vt:lpstr>
      <vt:lpstr>第一PPT，www.1ppt.com</vt:lpstr>
      <vt:lpstr>1_Office 主题​​</vt:lpstr>
      <vt:lpstr>2_Office 主题​​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tianyi zhang</dc:creator>
  <cp:lastModifiedBy>H13625633873@outlook.com</cp:lastModifiedBy>
  <cp:revision>2</cp:revision>
  <dcterms:created xsi:type="dcterms:W3CDTF">2025-09-07T05:45:45Z</dcterms:created>
  <dcterms:modified xsi:type="dcterms:W3CDTF">2025-09-08T10:34:49Z</dcterms:modified>
</cp:coreProperties>
</file>