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tags/tag3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9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0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3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14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omments/comment4.xml" ContentType="application/vnd.openxmlformats-officedocument.presentationml.comment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2"/>
    <p:sldMasterId id="2147483669" r:id="rId3"/>
  </p:sldMasterIdLst>
  <p:notesMasterIdLst>
    <p:notesMasterId r:id="rId23"/>
  </p:notesMasterIdLst>
  <p:handoutMasterIdLst>
    <p:handoutMasterId r:id="rId24"/>
  </p:handoutMasterIdLst>
  <p:sldIdLst>
    <p:sldId id="401" r:id="rId4"/>
    <p:sldId id="416" r:id="rId5"/>
    <p:sldId id="334" r:id="rId6"/>
    <p:sldId id="410" r:id="rId7"/>
    <p:sldId id="390" r:id="rId8"/>
    <p:sldId id="393" r:id="rId9"/>
    <p:sldId id="403" r:id="rId10"/>
    <p:sldId id="394" r:id="rId11"/>
    <p:sldId id="413" r:id="rId12"/>
    <p:sldId id="405" r:id="rId13"/>
    <p:sldId id="378" r:id="rId14"/>
    <p:sldId id="409" r:id="rId15"/>
    <p:sldId id="384" r:id="rId16"/>
    <p:sldId id="395" r:id="rId17"/>
    <p:sldId id="414" r:id="rId18"/>
    <p:sldId id="396" r:id="rId19"/>
    <p:sldId id="415" r:id="rId20"/>
    <p:sldId id="417" r:id="rId21"/>
    <p:sldId id="397" r:id="rId22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7" userDrawn="1">
          <p15:clr>
            <a:srgbClr val="A4A3A4"/>
          </p15:clr>
        </p15:guide>
        <p15:guide id="2" pos="387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8615900558199" initials="8" lastIdx="0" clrIdx="0"/>
  <p:cmAuthor id="2" name="唐小涯" initials="authorId_1684251707" lastIdx="2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2E8"/>
    <a:srgbClr val="FBE6C9"/>
    <a:srgbClr val="6B1554"/>
    <a:srgbClr val="973E8C"/>
    <a:srgbClr val="7030A0"/>
    <a:srgbClr val="BD259E"/>
    <a:srgbClr val="8E5DB4"/>
    <a:srgbClr val="A57FC3"/>
    <a:srgbClr val="A37CC2"/>
    <a:srgbClr val="7E0C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963" autoAdjust="0"/>
  </p:normalViewPr>
  <p:slideViewPr>
    <p:cSldViewPr snapToGrid="0" showGuides="1">
      <p:cViewPr>
        <p:scale>
          <a:sx n="75" d="100"/>
          <a:sy n="75" d="100"/>
        </p:scale>
        <p:origin x="1192" y="676"/>
      </p:cViewPr>
      <p:guideLst>
        <p:guide orient="horz" pos="2367"/>
        <p:guide pos="38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4-13T22:44:17.145" idx="19">
    <p:pos x="10" y="5"/>
    <p:text>研究意义，我国社会现状</p:text>
  </p:cm>
  <p:cm authorId="2" dt="2026-04-13T22:59:19.344" idx="20">
    <p:pos x="166" y="166"/>
    <p:text>红头文件</p:text>
  </p:cm>
  <p:cm authorId="2" dt="2026-04-13T23:01:13.461" idx="21">
    <p:pos x="322" y="322"/>
    <p:text>左文本右图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4-13T23:38:46.622" idx="15">
    <p:pos x="10" y="10"/>
    <p:text>ppt版流程图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4-13T23:42:22.759" idx="22">
    <p:pos x="10" y="10"/>
    <p:text>标题大点</p:text>
  </p:cm>
  <p:cm authorId="2" dt="2026-04-13T23:44:44.163" idx="23">
    <p:pos x="282" y="897"/>
    <p:text>上头太空了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4-16T19:39:29.699" idx="25">
    <p:pos x="10" y="10"/>
    <p:text>现有基础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76D6-055B-45E1-A07F-40AF9915DBEF}" type="datetime1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5F64-BFC4-4590-A3B4-6A8E5499F5A4}" type="datetime1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568D8-79F4-46BC-90CE-49E11C42A0D9}" type="datetime1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25B4-6830-40BE-A5C5-D0009D62CE3B}" type="datetime1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7ECB5-DF12-4F03-B25B-CC38BA2A35A7}" type="datetime1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A149-A363-431E-B2E9-9DD43A6A5442}" type="datetime1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5C69-CD13-4645-994F-4DA991B20B4C}" type="datetime1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0B33-C4D1-4774-A4A7-56335ECBF981}" type="datetime1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AD8D1-C647-4D2D-889F-D9046B63B25C}" type="datetime1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76D6-055B-45E1-A07F-40AF9915DBEF}" type="datetime1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5F64-BFC4-4590-A3B4-6A8E5499F5A4}" type="datetime1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568D8-79F4-46BC-90CE-49E11C42A0D9}" type="datetime1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25B4-6830-40BE-A5C5-D0009D62CE3B}" type="datetime1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7ECB5-DF12-4F03-B25B-CC38BA2A35A7}" type="datetime1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A149-A363-431E-B2E9-9DD43A6A5442}" type="datetime1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5C69-CD13-4645-994F-4DA991B20B4C}" type="datetime1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0B33-C4D1-4774-A4A7-56335ECBF981}" type="datetime1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AD8D1-C647-4D2D-889F-D9046B63B25C}" type="datetime1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5680" y="0"/>
            <a:ext cx="12197680" cy="906087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5680" y="895070"/>
            <a:ext cx="12197679" cy="508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形 1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9547" y="220738"/>
            <a:ext cx="1760604" cy="488292"/>
          </a:xfrm>
          <a:prstGeom prst="rect">
            <a:avLst/>
          </a:prstGeom>
        </p:spPr>
      </p:pic>
    </p:spTree>
  </p:cSld>
  <p:clrMapOvr>
    <a:masterClrMapping/>
  </p:clrMapOvr>
  <p:transition spd="slow" advTm="3000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5680" y="0"/>
            <a:ext cx="12197680" cy="906087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5680" y="895070"/>
            <a:ext cx="12197679" cy="508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形 1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9547" y="220738"/>
            <a:ext cx="1760604" cy="488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3A0A-3D11-482B-A135-9D73F071DBC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278C-4D8B-423D-8D92-FD0087A1B2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3A0A-3D11-482B-A135-9D73F071DBC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278C-4D8B-423D-8D92-FD0087A1B2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3A0A-3D11-482B-A135-9D73F071DBC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278C-4D8B-423D-8D92-FD0087A1B2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3A0A-3D11-482B-A135-9D73F071DBC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278C-4D8B-423D-8D92-FD0087A1B2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3A0A-3D11-482B-A135-9D73F071DBC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278C-4D8B-423D-8D92-FD0087A1B2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3A0A-3D11-482B-A135-9D73F071DBC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278C-4D8B-423D-8D92-FD0087A1B2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3A0A-3D11-482B-A135-9D73F071DBC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278C-4D8B-423D-8D92-FD0087A1B2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3A0A-3D11-482B-A135-9D73F071DBC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278C-4D8B-423D-8D92-FD0087A1B2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3A0A-3D11-482B-A135-9D73F071DBC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278C-4D8B-423D-8D92-FD0087A1B2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3A0A-3D11-482B-A135-9D73F071DBC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278C-4D8B-423D-8D92-FD0087A1B2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9830-9399-4348-B48B-DE7CC3D5F97F}" type="datetime1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slow" advTm="3000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9830-9399-4348-B48B-DE7CC3D5F97F}" type="datetime1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transition spd="slow" advTm="3000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93A0A-3D11-482B-A135-9D73F071DBC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5278C-4D8B-423D-8D92-FD0087A1B25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22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18" Type="http://schemas.openxmlformats.org/officeDocument/2006/relationships/tags" Target="../tags/tag24.xml"/><Relationship Id="rId26" Type="http://schemas.openxmlformats.org/officeDocument/2006/relationships/slideLayout" Target="../slideLayouts/slideLayout22.xml"/><Relationship Id="rId3" Type="http://schemas.openxmlformats.org/officeDocument/2006/relationships/tags" Target="../tags/tag9.xml"/><Relationship Id="rId21" Type="http://schemas.openxmlformats.org/officeDocument/2006/relationships/tags" Target="../tags/tag27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17" Type="http://schemas.openxmlformats.org/officeDocument/2006/relationships/tags" Target="../tags/tag23.xml"/><Relationship Id="rId25" Type="http://schemas.openxmlformats.org/officeDocument/2006/relationships/tags" Target="../tags/tag31.xml"/><Relationship Id="rId2" Type="http://schemas.openxmlformats.org/officeDocument/2006/relationships/tags" Target="../tags/tag8.xml"/><Relationship Id="rId16" Type="http://schemas.openxmlformats.org/officeDocument/2006/relationships/tags" Target="../tags/tag22.xml"/><Relationship Id="rId20" Type="http://schemas.openxmlformats.org/officeDocument/2006/relationships/tags" Target="../tags/tag26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24" Type="http://schemas.openxmlformats.org/officeDocument/2006/relationships/tags" Target="../tags/tag30.xml"/><Relationship Id="rId5" Type="http://schemas.openxmlformats.org/officeDocument/2006/relationships/tags" Target="../tags/tag11.xml"/><Relationship Id="rId15" Type="http://schemas.openxmlformats.org/officeDocument/2006/relationships/tags" Target="../tags/tag21.xml"/><Relationship Id="rId23" Type="http://schemas.openxmlformats.org/officeDocument/2006/relationships/tags" Target="../tags/tag29.xml"/><Relationship Id="rId10" Type="http://schemas.openxmlformats.org/officeDocument/2006/relationships/tags" Target="../tags/tag16.xml"/><Relationship Id="rId19" Type="http://schemas.openxmlformats.org/officeDocument/2006/relationships/tags" Target="../tags/tag25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tags" Target="../tags/tag20.xml"/><Relationship Id="rId22" Type="http://schemas.openxmlformats.org/officeDocument/2006/relationships/tags" Target="../tags/tag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comments" Target="../comments/commen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microsoft.com/office/2007/relationships/hdphoto" Target="../media/hdphoto1.wdp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tags" Target="../tags/tag45.xml"/><Relationship Id="rId18" Type="http://schemas.openxmlformats.org/officeDocument/2006/relationships/tags" Target="../tags/tag50.xml"/><Relationship Id="rId26" Type="http://schemas.openxmlformats.org/officeDocument/2006/relationships/image" Target="../media/image15.GIF"/><Relationship Id="rId3" Type="http://schemas.openxmlformats.org/officeDocument/2006/relationships/tags" Target="../tags/tag35.xml"/><Relationship Id="rId21" Type="http://schemas.openxmlformats.org/officeDocument/2006/relationships/slideLayout" Target="../slideLayouts/slideLayout15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17" Type="http://schemas.openxmlformats.org/officeDocument/2006/relationships/tags" Target="../tags/tag49.xml"/><Relationship Id="rId25" Type="http://schemas.openxmlformats.org/officeDocument/2006/relationships/image" Target="../media/image14.jpeg"/><Relationship Id="rId2" Type="http://schemas.openxmlformats.org/officeDocument/2006/relationships/tags" Target="../tags/tag34.xml"/><Relationship Id="rId16" Type="http://schemas.openxmlformats.org/officeDocument/2006/relationships/tags" Target="../tags/tag48.xml"/><Relationship Id="rId20" Type="http://schemas.openxmlformats.org/officeDocument/2006/relationships/tags" Target="../tags/tag52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24" Type="http://schemas.openxmlformats.org/officeDocument/2006/relationships/image" Target="../media/image5.png"/><Relationship Id="rId5" Type="http://schemas.openxmlformats.org/officeDocument/2006/relationships/tags" Target="../tags/tag37.xml"/><Relationship Id="rId15" Type="http://schemas.openxmlformats.org/officeDocument/2006/relationships/tags" Target="../tags/tag47.xml"/><Relationship Id="rId23" Type="http://schemas.openxmlformats.org/officeDocument/2006/relationships/image" Target="../media/image6.png"/><Relationship Id="rId10" Type="http://schemas.openxmlformats.org/officeDocument/2006/relationships/tags" Target="../tags/tag42.xml"/><Relationship Id="rId19" Type="http://schemas.openxmlformats.org/officeDocument/2006/relationships/tags" Target="../tags/tag51.xml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tags" Target="../tags/tag46.xml"/><Relationship Id="rId2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image" Target="../media/image16.pn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image" Target="../media/image5.png"/><Relationship Id="rId5" Type="http://schemas.openxmlformats.org/officeDocument/2006/relationships/tags" Target="../tags/tag57.xml"/><Relationship Id="rId10" Type="http://schemas.openxmlformats.org/officeDocument/2006/relationships/image" Target="../media/image6.png"/><Relationship Id="rId4" Type="http://schemas.openxmlformats.org/officeDocument/2006/relationships/tags" Target="../tags/tag56.xml"/><Relationship Id="rId9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../media/image17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image" Target="../media/image5.png"/><Relationship Id="rId5" Type="http://schemas.openxmlformats.org/officeDocument/2006/relationships/tags" Target="../tags/tag64.xml"/><Relationship Id="rId10" Type="http://schemas.openxmlformats.org/officeDocument/2006/relationships/image" Target="../media/image6.png"/><Relationship Id="rId4" Type="http://schemas.openxmlformats.org/officeDocument/2006/relationships/tags" Target="../tags/tag63.xml"/><Relationship Id="rId9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comments" Target="../comments/commen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79.xml"/><Relationship Id="rId18" Type="http://schemas.openxmlformats.org/officeDocument/2006/relationships/tags" Target="../tags/tag84.xml"/><Relationship Id="rId26" Type="http://schemas.openxmlformats.org/officeDocument/2006/relationships/tags" Target="../tags/tag92.xml"/><Relationship Id="rId3" Type="http://schemas.openxmlformats.org/officeDocument/2006/relationships/tags" Target="../tags/tag69.xml"/><Relationship Id="rId21" Type="http://schemas.openxmlformats.org/officeDocument/2006/relationships/tags" Target="../tags/tag87.xml"/><Relationship Id="rId34" Type="http://schemas.openxmlformats.org/officeDocument/2006/relationships/image" Target="../media/image20.svg"/><Relationship Id="rId7" Type="http://schemas.openxmlformats.org/officeDocument/2006/relationships/tags" Target="../tags/tag73.xml"/><Relationship Id="rId12" Type="http://schemas.openxmlformats.org/officeDocument/2006/relationships/tags" Target="../tags/tag78.xml"/><Relationship Id="rId17" Type="http://schemas.openxmlformats.org/officeDocument/2006/relationships/tags" Target="../tags/tag83.xml"/><Relationship Id="rId25" Type="http://schemas.openxmlformats.org/officeDocument/2006/relationships/tags" Target="../tags/tag91.xml"/><Relationship Id="rId33" Type="http://schemas.openxmlformats.org/officeDocument/2006/relationships/image" Target="../media/image5.png"/><Relationship Id="rId2" Type="http://schemas.openxmlformats.org/officeDocument/2006/relationships/tags" Target="../tags/tag68.xml"/><Relationship Id="rId16" Type="http://schemas.openxmlformats.org/officeDocument/2006/relationships/tags" Target="../tags/tag82.xml"/><Relationship Id="rId20" Type="http://schemas.openxmlformats.org/officeDocument/2006/relationships/tags" Target="../tags/tag86.xml"/><Relationship Id="rId29" Type="http://schemas.openxmlformats.org/officeDocument/2006/relationships/tags" Target="../tags/tag95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24" Type="http://schemas.openxmlformats.org/officeDocument/2006/relationships/tags" Target="../tags/tag90.xml"/><Relationship Id="rId32" Type="http://schemas.openxmlformats.org/officeDocument/2006/relationships/image" Target="../media/image6.png"/><Relationship Id="rId5" Type="http://schemas.openxmlformats.org/officeDocument/2006/relationships/tags" Target="../tags/tag71.xml"/><Relationship Id="rId15" Type="http://schemas.openxmlformats.org/officeDocument/2006/relationships/tags" Target="../tags/tag81.xml"/><Relationship Id="rId23" Type="http://schemas.openxmlformats.org/officeDocument/2006/relationships/tags" Target="../tags/tag89.xml"/><Relationship Id="rId28" Type="http://schemas.openxmlformats.org/officeDocument/2006/relationships/tags" Target="../tags/tag94.xml"/><Relationship Id="rId36" Type="http://schemas.openxmlformats.org/officeDocument/2006/relationships/comments" Target="../comments/comment3.xml"/><Relationship Id="rId10" Type="http://schemas.openxmlformats.org/officeDocument/2006/relationships/tags" Target="../tags/tag76.xml"/><Relationship Id="rId19" Type="http://schemas.openxmlformats.org/officeDocument/2006/relationships/tags" Target="../tags/tag85.xml"/><Relationship Id="rId31" Type="http://schemas.openxmlformats.org/officeDocument/2006/relationships/notesSlide" Target="../notesSlides/notesSlide14.xml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tags" Target="../tags/tag80.xml"/><Relationship Id="rId22" Type="http://schemas.openxmlformats.org/officeDocument/2006/relationships/tags" Target="../tags/tag88.xml"/><Relationship Id="rId27" Type="http://schemas.openxmlformats.org/officeDocument/2006/relationships/tags" Target="../tags/tag93.xml"/><Relationship Id="rId30" Type="http://schemas.openxmlformats.org/officeDocument/2006/relationships/slideLayout" Target="../slideLayouts/slideLayout15.xml"/><Relationship Id="rId35" Type="http://schemas.openxmlformats.org/officeDocument/2006/relationships/image" Target="../media/image21.svg"/><Relationship Id="rId8" Type="http://schemas.openxmlformats.org/officeDocument/2006/relationships/tags" Target="../tags/tag7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5" Type="http://schemas.openxmlformats.org/officeDocument/2006/relationships/comments" Target="../comments/comment4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3" Type="http://schemas.openxmlformats.org/officeDocument/2006/relationships/tags" Target="../tags/tag98.xml"/><Relationship Id="rId7" Type="http://schemas.openxmlformats.org/officeDocument/2006/relationships/slideLayout" Target="../slideLayouts/slideLayout12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10" Type="http://schemas.openxmlformats.org/officeDocument/2006/relationships/image" Target="../media/image5.png"/><Relationship Id="rId4" Type="http://schemas.openxmlformats.org/officeDocument/2006/relationships/tags" Target="../tags/tag99.xm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541344"/>
            <a:ext cx="12192001" cy="4316656"/>
          </a:xfrm>
          <a:prstGeom prst="rect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34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Gemini_Generated_Image_ivlfe3ivlfe3ivl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-1473200"/>
            <a:ext cx="12192000" cy="680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</p:pic>
      <p:sp>
        <p:nvSpPr>
          <p:cNvPr id="5" name="矩形 4"/>
          <p:cNvSpPr/>
          <p:nvPr/>
        </p:nvSpPr>
        <p:spPr>
          <a:xfrm>
            <a:off x="0" y="-635"/>
            <a:ext cx="12192635" cy="6680200"/>
          </a:xfrm>
          <a:prstGeom prst="rect">
            <a:avLst/>
          </a:prstGeom>
          <a:gradFill>
            <a:gsLst>
              <a:gs pos="55000">
                <a:schemeClr val="bg1"/>
              </a:gs>
              <a:gs pos="0">
                <a:schemeClr val="bg1">
                  <a:alpha val="37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27"/>
          <p:cNvSpPr/>
          <p:nvPr/>
        </p:nvSpPr>
        <p:spPr>
          <a:xfrm flipH="1">
            <a:off x="0" y="5558286"/>
            <a:ext cx="12191998" cy="1299715"/>
          </a:xfrm>
          <a:custGeom>
            <a:avLst/>
            <a:gdLst>
              <a:gd name="connsiteX0" fmla="*/ 12191998 w 12191998"/>
              <a:gd name="connsiteY0" fmla="*/ 0 h 1962150"/>
              <a:gd name="connsiteX1" fmla="*/ 11604185 w 12191998"/>
              <a:gd name="connsiteY1" fmla="*/ 35967 h 1962150"/>
              <a:gd name="connsiteX2" fmla="*/ 6239084 w 12191998"/>
              <a:gd name="connsiteY2" fmla="*/ 1349919 h 1962150"/>
              <a:gd name="connsiteX3" fmla="*/ 6095999 w 12191998"/>
              <a:gd name="connsiteY3" fmla="*/ 1423822 h 1962150"/>
              <a:gd name="connsiteX4" fmla="*/ 5952914 w 12191998"/>
              <a:gd name="connsiteY4" fmla="*/ 1349919 h 1962150"/>
              <a:gd name="connsiteX5" fmla="*/ 587814 w 12191998"/>
              <a:gd name="connsiteY5" fmla="*/ 35967 h 1962150"/>
              <a:gd name="connsiteX6" fmla="*/ 0 w 12191998"/>
              <a:gd name="connsiteY6" fmla="*/ 0 h 1962150"/>
              <a:gd name="connsiteX7" fmla="*/ 0 w 12191998"/>
              <a:gd name="connsiteY7" fmla="*/ 1962150 h 1962150"/>
              <a:gd name="connsiteX8" fmla="*/ 5240681 w 12191998"/>
              <a:gd name="connsiteY8" fmla="*/ 1962150 h 1962150"/>
              <a:gd name="connsiteX9" fmla="*/ 6951318 w 12191998"/>
              <a:gd name="connsiteY9" fmla="*/ 1962150 h 1962150"/>
              <a:gd name="connsiteX10" fmla="*/ 6951318 w 12191998"/>
              <a:gd name="connsiteY10" fmla="*/ 1962150 h 1962150"/>
              <a:gd name="connsiteX11" fmla="*/ 12191998 w 12191998"/>
              <a:gd name="connsiteY11" fmla="*/ 1962150 h 196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8" h="1962150">
                <a:moveTo>
                  <a:pt x="12191998" y="0"/>
                </a:moveTo>
                <a:lnTo>
                  <a:pt x="11604185" y="35967"/>
                </a:lnTo>
                <a:cubicBezTo>
                  <a:pt x="9450440" y="212660"/>
                  <a:pt x="7568268" y="688252"/>
                  <a:pt x="6239084" y="1349919"/>
                </a:cubicBezTo>
                <a:lnTo>
                  <a:pt x="6095999" y="1423822"/>
                </a:lnTo>
                <a:lnTo>
                  <a:pt x="5952914" y="1349919"/>
                </a:lnTo>
                <a:cubicBezTo>
                  <a:pt x="4623731" y="688252"/>
                  <a:pt x="2741558" y="212660"/>
                  <a:pt x="587814" y="35967"/>
                </a:cubicBezTo>
                <a:lnTo>
                  <a:pt x="0" y="0"/>
                </a:lnTo>
                <a:lnTo>
                  <a:pt x="0" y="1962150"/>
                </a:lnTo>
                <a:lnTo>
                  <a:pt x="5240681" y="1962150"/>
                </a:lnTo>
                <a:lnTo>
                  <a:pt x="6951318" y="1962150"/>
                </a:lnTo>
                <a:lnTo>
                  <a:pt x="6951318" y="1962150"/>
                </a:lnTo>
                <a:lnTo>
                  <a:pt x="12191998" y="19621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31"/>
          <p:cNvSpPr/>
          <p:nvPr/>
        </p:nvSpPr>
        <p:spPr>
          <a:xfrm>
            <a:off x="0" y="5658680"/>
            <a:ext cx="5171564" cy="1199321"/>
          </a:xfrm>
          <a:custGeom>
            <a:avLst/>
            <a:gdLst>
              <a:gd name="connsiteX0" fmla="*/ 0 w 5171564"/>
              <a:gd name="connsiteY0" fmla="*/ 0 h 1414897"/>
              <a:gd name="connsiteX1" fmla="*/ 459152 w 5171564"/>
              <a:gd name="connsiteY1" fmla="*/ 29428 h 1414897"/>
              <a:gd name="connsiteX2" fmla="*/ 5108561 w 5171564"/>
              <a:gd name="connsiteY2" fmla="*/ 1371939 h 1414897"/>
              <a:gd name="connsiteX3" fmla="*/ 5171564 w 5171564"/>
              <a:gd name="connsiteY3" fmla="*/ 1414897 h 1414897"/>
              <a:gd name="connsiteX4" fmla="*/ 0 w 5171564"/>
              <a:gd name="connsiteY4" fmla="*/ 1414897 h 1414897"/>
              <a:gd name="connsiteX5" fmla="*/ 0 w 5171564"/>
              <a:gd name="connsiteY5" fmla="*/ 0 h 1414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71564" h="1414897">
                <a:moveTo>
                  <a:pt x="0" y="0"/>
                </a:moveTo>
                <a:lnTo>
                  <a:pt x="459152" y="29428"/>
                </a:lnTo>
                <a:cubicBezTo>
                  <a:pt x="2407113" y="196821"/>
                  <a:pt x="4070666" y="692093"/>
                  <a:pt x="5108561" y="1371939"/>
                </a:cubicBezTo>
                <a:lnTo>
                  <a:pt x="5171564" y="1414897"/>
                </a:lnTo>
                <a:lnTo>
                  <a:pt x="0" y="141489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80000"/>
                </a:schemeClr>
              </a:gs>
              <a:gs pos="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: 形状 30"/>
          <p:cNvSpPr/>
          <p:nvPr/>
        </p:nvSpPr>
        <p:spPr>
          <a:xfrm>
            <a:off x="7020435" y="5658680"/>
            <a:ext cx="5171563" cy="1199321"/>
          </a:xfrm>
          <a:custGeom>
            <a:avLst/>
            <a:gdLst>
              <a:gd name="connsiteX0" fmla="*/ 5171563 w 5171563"/>
              <a:gd name="connsiteY0" fmla="*/ 0 h 1414897"/>
              <a:gd name="connsiteX1" fmla="*/ 5171563 w 5171563"/>
              <a:gd name="connsiteY1" fmla="*/ 1414897 h 1414897"/>
              <a:gd name="connsiteX2" fmla="*/ 0 w 5171563"/>
              <a:gd name="connsiteY2" fmla="*/ 1414897 h 1414897"/>
              <a:gd name="connsiteX3" fmla="*/ 63002 w 5171563"/>
              <a:gd name="connsiteY3" fmla="*/ 1371939 h 1414897"/>
              <a:gd name="connsiteX4" fmla="*/ 4712411 w 5171563"/>
              <a:gd name="connsiteY4" fmla="*/ 29428 h 1414897"/>
              <a:gd name="connsiteX5" fmla="*/ 5171563 w 5171563"/>
              <a:gd name="connsiteY5" fmla="*/ 0 h 1414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71563" h="1414897">
                <a:moveTo>
                  <a:pt x="5171563" y="0"/>
                </a:moveTo>
                <a:lnTo>
                  <a:pt x="5171563" y="1414897"/>
                </a:lnTo>
                <a:lnTo>
                  <a:pt x="0" y="1414897"/>
                </a:lnTo>
                <a:lnTo>
                  <a:pt x="63002" y="1371939"/>
                </a:lnTo>
                <a:cubicBezTo>
                  <a:pt x="1100898" y="692093"/>
                  <a:pt x="2764451" y="196821"/>
                  <a:pt x="4712411" y="29428"/>
                </a:cubicBezTo>
                <a:lnTo>
                  <a:pt x="5171563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80000"/>
                </a:schemeClr>
              </a:gs>
              <a:gs pos="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75688" y="1977549"/>
            <a:ext cx="10506306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Design and Implementation of an Intelligent Dietary Health Analysis System Based on AI Glasses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800735" y="3197225"/>
            <a:ext cx="1059053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3600" b="1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基于AI眼镜的食品健康智能分析系统设计与实现</a:t>
            </a:r>
          </a:p>
          <a:p>
            <a:pPr algn="ctr"/>
            <a:endParaRPr lang="zh-CN" altLang="en-US" sz="36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0480675" y="0"/>
            <a:ext cx="1175385" cy="12954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771265" y="4815840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汇报人：唐小涯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5090250" y="4815840"/>
            <a:ext cx="6805233" cy="1902460"/>
            <a:chOff x="5521772" y="5040329"/>
            <a:chExt cx="6805300" cy="1902460"/>
          </a:xfrm>
          <a:noFill/>
        </p:grpSpPr>
        <p:sp>
          <p:nvSpPr>
            <p:cNvPr id="15" name="文本框 14"/>
            <p:cNvSpPr txBox="1"/>
            <p:nvPr>
              <p:custDataLst>
                <p:tags r:id="rId3"/>
              </p:custDataLst>
            </p:nvPr>
          </p:nvSpPr>
          <p:spPr>
            <a:xfrm>
              <a:off x="9952784" y="6636084"/>
              <a:ext cx="2374288" cy="30670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汇报时间：</a:t>
              </a:r>
              <a:r>
                <a:rPr lang="en-US" altLang="zh-CN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2026</a:t>
              </a:r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lang="en-US" altLang="zh-CN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4</a:t>
              </a:r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r>
                <a:rPr lang="en-US" altLang="zh-CN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23</a:t>
              </a:r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日</a:t>
              </a:r>
            </a:p>
          </p:txBody>
        </p:sp>
        <p:sp>
          <p:nvSpPr>
            <p:cNvPr id="16" name="文本框 15"/>
            <p:cNvSpPr txBox="1"/>
            <p:nvPr>
              <p:custDataLst>
                <p:tags r:id="rId4"/>
              </p:custDataLst>
            </p:nvPr>
          </p:nvSpPr>
          <p:spPr>
            <a:xfrm>
              <a:off x="5521772" y="5598494"/>
              <a:ext cx="20116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指导老师：郭春乐</a:t>
              </a:r>
            </a:p>
          </p:txBody>
        </p:sp>
        <p:sp>
          <p:nvSpPr>
            <p:cNvPr id="17" name="文本框 16"/>
            <p:cNvSpPr txBox="1"/>
            <p:nvPr>
              <p:custDataLst>
                <p:tags r:id="rId5"/>
              </p:custDataLst>
            </p:nvPr>
          </p:nvSpPr>
          <p:spPr>
            <a:xfrm>
              <a:off x="6483716" y="5040329"/>
              <a:ext cx="3858933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组员：赵宇哲</a:t>
              </a:r>
              <a:r>
                <a:rPr lang="en-US" altLang="zh-CN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黄子豪</a:t>
              </a:r>
              <a:r>
                <a:rPr lang="en-US" altLang="zh-CN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张天译</a:t>
              </a:r>
              <a:r>
                <a:rPr lang="en-US" altLang="zh-CN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钟</a:t>
              </a:r>
              <a:r>
                <a:rPr lang="en-US" altLang="zh-CN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zh-CN" altLang="en-US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澈</a:t>
              </a: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5844540" y="4836795"/>
            <a:ext cx="0" cy="35941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owerpoint template design by DAJU_PPT正版来源小红书大橘PPT微信DAJU_PPT请勿抄袭搬运！盗版必究！-2"/>
          <p:cNvSpPr/>
          <p:nvPr>
            <p:custDataLst>
              <p:tags r:id="rId1"/>
            </p:custDataLst>
          </p:nvPr>
        </p:nvSpPr>
        <p:spPr bwMode="auto">
          <a:xfrm>
            <a:off x="3273425" y="4764405"/>
            <a:ext cx="461876" cy="461645"/>
          </a:xfrm>
          <a:custGeom>
            <a:avLst/>
            <a:gdLst>
              <a:gd name="connsiteX0" fmla="*/ 191956 w 568764"/>
              <a:gd name="connsiteY0" fmla="*/ 212385 h 568764"/>
              <a:gd name="connsiteX1" fmla="*/ 177874 w 568764"/>
              <a:gd name="connsiteY1" fmla="*/ 225909 h 568764"/>
              <a:gd name="connsiteX2" fmla="*/ 177874 w 568764"/>
              <a:gd name="connsiteY2" fmla="*/ 288761 h 568764"/>
              <a:gd name="connsiteX3" fmla="*/ 267484 w 568764"/>
              <a:gd name="connsiteY3" fmla="*/ 393344 h 568764"/>
              <a:gd name="connsiteX4" fmla="*/ 267484 w 568764"/>
              <a:gd name="connsiteY4" fmla="*/ 438681 h 568764"/>
              <a:gd name="connsiteX5" fmla="*/ 203989 w 568764"/>
              <a:gd name="connsiteY5" fmla="*/ 456712 h 568764"/>
              <a:gd name="connsiteX6" fmla="*/ 365287 w 568764"/>
              <a:gd name="connsiteY6" fmla="*/ 456712 h 568764"/>
              <a:gd name="connsiteX7" fmla="*/ 300768 w 568764"/>
              <a:gd name="connsiteY7" fmla="*/ 438165 h 568764"/>
              <a:gd name="connsiteX8" fmla="*/ 300768 w 568764"/>
              <a:gd name="connsiteY8" fmla="*/ 393344 h 568764"/>
              <a:gd name="connsiteX9" fmla="*/ 391402 w 568764"/>
              <a:gd name="connsiteY9" fmla="*/ 288761 h 568764"/>
              <a:gd name="connsiteX10" fmla="*/ 391402 w 568764"/>
              <a:gd name="connsiteY10" fmla="*/ 225909 h 568764"/>
              <a:gd name="connsiteX11" fmla="*/ 362727 w 568764"/>
              <a:gd name="connsiteY11" fmla="*/ 225909 h 568764"/>
              <a:gd name="connsiteX12" fmla="*/ 362727 w 568764"/>
              <a:gd name="connsiteY12" fmla="*/ 288761 h 568764"/>
              <a:gd name="connsiteX13" fmla="*/ 286430 w 568764"/>
              <a:gd name="connsiteY13" fmla="*/ 365524 h 568764"/>
              <a:gd name="connsiteX14" fmla="*/ 284894 w 568764"/>
              <a:gd name="connsiteY14" fmla="*/ 365524 h 568764"/>
              <a:gd name="connsiteX15" fmla="*/ 284382 w 568764"/>
              <a:gd name="connsiteY15" fmla="*/ 365524 h 568764"/>
              <a:gd name="connsiteX16" fmla="*/ 283870 w 568764"/>
              <a:gd name="connsiteY16" fmla="*/ 365524 h 568764"/>
              <a:gd name="connsiteX17" fmla="*/ 282334 w 568764"/>
              <a:gd name="connsiteY17" fmla="*/ 365524 h 568764"/>
              <a:gd name="connsiteX18" fmla="*/ 206037 w 568764"/>
              <a:gd name="connsiteY18" fmla="*/ 288761 h 568764"/>
              <a:gd name="connsiteX19" fmla="*/ 206037 w 568764"/>
              <a:gd name="connsiteY19" fmla="*/ 225909 h 568764"/>
              <a:gd name="connsiteX20" fmla="*/ 191956 w 568764"/>
              <a:gd name="connsiteY20" fmla="*/ 212385 h 568764"/>
              <a:gd name="connsiteX21" fmla="*/ 283358 w 568764"/>
              <a:gd name="connsiteY21" fmla="*/ 112052 h 568764"/>
              <a:gd name="connsiteX22" fmla="*/ 232664 w 568764"/>
              <a:gd name="connsiteY22" fmla="*/ 163571 h 568764"/>
              <a:gd name="connsiteX23" fmla="*/ 232664 w 568764"/>
              <a:gd name="connsiteY23" fmla="*/ 287731 h 568764"/>
              <a:gd name="connsiteX24" fmla="*/ 283358 w 568764"/>
              <a:gd name="connsiteY24" fmla="*/ 338734 h 568764"/>
              <a:gd name="connsiteX25" fmla="*/ 284382 w 568764"/>
              <a:gd name="connsiteY25" fmla="*/ 338734 h 568764"/>
              <a:gd name="connsiteX26" fmla="*/ 285406 w 568764"/>
              <a:gd name="connsiteY26" fmla="*/ 338734 h 568764"/>
              <a:gd name="connsiteX27" fmla="*/ 336612 w 568764"/>
              <a:gd name="connsiteY27" fmla="*/ 287731 h 568764"/>
              <a:gd name="connsiteX28" fmla="*/ 336612 w 568764"/>
              <a:gd name="connsiteY28" fmla="*/ 163571 h 568764"/>
              <a:gd name="connsiteX29" fmla="*/ 285406 w 568764"/>
              <a:gd name="connsiteY29" fmla="*/ 112052 h 568764"/>
              <a:gd name="connsiteX30" fmla="*/ 284382 w 568764"/>
              <a:gd name="connsiteY30" fmla="*/ 112052 h 568764"/>
              <a:gd name="connsiteX31" fmla="*/ 283358 w 568764"/>
              <a:gd name="connsiteY31" fmla="*/ 112052 h 568764"/>
              <a:gd name="connsiteX32" fmla="*/ 284382 w 568764"/>
              <a:gd name="connsiteY32" fmla="*/ 0 h 568764"/>
              <a:gd name="connsiteX33" fmla="*/ 568764 w 568764"/>
              <a:gd name="connsiteY33" fmla="*/ 284382 h 568764"/>
              <a:gd name="connsiteX34" fmla="*/ 284382 w 568764"/>
              <a:gd name="connsiteY34" fmla="*/ 568764 h 568764"/>
              <a:gd name="connsiteX35" fmla="*/ 0 w 568764"/>
              <a:gd name="connsiteY35" fmla="*/ 284382 h 568764"/>
              <a:gd name="connsiteX36" fmla="*/ 284382 w 568764"/>
              <a:gd name="connsiteY36" fmla="*/ 0 h 56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68764" h="568764">
                <a:moveTo>
                  <a:pt x="191956" y="212385"/>
                </a:moveTo>
                <a:cubicBezTo>
                  <a:pt x="184915" y="212385"/>
                  <a:pt x="177874" y="216893"/>
                  <a:pt x="177874" y="225909"/>
                </a:cubicBezTo>
                <a:cubicBezTo>
                  <a:pt x="177874" y="234152"/>
                  <a:pt x="177874" y="288761"/>
                  <a:pt x="177874" y="288761"/>
                </a:cubicBezTo>
                <a:cubicBezTo>
                  <a:pt x="177874" y="341826"/>
                  <a:pt x="216791" y="386132"/>
                  <a:pt x="267484" y="393344"/>
                </a:cubicBezTo>
                <a:lnTo>
                  <a:pt x="267484" y="438681"/>
                </a:lnTo>
                <a:lnTo>
                  <a:pt x="203989" y="456712"/>
                </a:lnTo>
                <a:lnTo>
                  <a:pt x="365287" y="456712"/>
                </a:lnTo>
                <a:lnTo>
                  <a:pt x="300768" y="438165"/>
                </a:lnTo>
                <a:lnTo>
                  <a:pt x="300768" y="393344"/>
                </a:lnTo>
                <a:cubicBezTo>
                  <a:pt x="351974" y="386132"/>
                  <a:pt x="391402" y="341826"/>
                  <a:pt x="391402" y="288761"/>
                </a:cubicBezTo>
                <a:lnTo>
                  <a:pt x="391402" y="225909"/>
                </a:lnTo>
                <a:cubicBezTo>
                  <a:pt x="391402" y="207877"/>
                  <a:pt x="362727" y="207877"/>
                  <a:pt x="362727" y="225909"/>
                </a:cubicBezTo>
                <a:lnTo>
                  <a:pt x="362727" y="288761"/>
                </a:lnTo>
                <a:cubicBezTo>
                  <a:pt x="362727" y="331007"/>
                  <a:pt x="328419" y="365524"/>
                  <a:pt x="286430" y="365524"/>
                </a:cubicBezTo>
                <a:cubicBezTo>
                  <a:pt x="285918" y="365524"/>
                  <a:pt x="285406" y="365524"/>
                  <a:pt x="284894" y="365524"/>
                </a:cubicBezTo>
                <a:lnTo>
                  <a:pt x="284382" y="365524"/>
                </a:lnTo>
                <a:lnTo>
                  <a:pt x="283870" y="365524"/>
                </a:lnTo>
                <a:cubicBezTo>
                  <a:pt x="283358" y="365524"/>
                  <a:pt x="282846" y="365524"/>
                  <a:pt x="282334" y="365524"/>
                </a:cubicBezTo>
                <a:cubicBezTo>
                  <a:pt x="240345" y="365524"/>
                  <a:pt x="206037" y="331007"/>
                  <a:pt x="206037" y="288761"/>
                </a:cubicBezTo>
                <a:lnTo>
                  <a:pt x="206037" y="225909"/>
                </a:lnTo>
                <a:cubicBezTo>
                  <a:pt x="206037" y="216893"/>
                  <a:pt x="198997" y="212385"/>
                  <a:pt x="191956" y="212385"/>
                </a:cubicBezTo>
                <a:close/>
                <a:moveTo>
                  <a:pt x="283358" y="112052"/>
                </a:moveTo>
                <a:cubicBezTo>
                  <a:pt x="255195" y="112052"/>
                  <a:pt x="232664" y="135236"/>
                  <a:pt x="232664" y="163571"/>
                </a:cubicBezTo>
                <a:lnTo>
                  <a:pt x="232664" y="287731"/>
                </a:lnTo>
                <a:cubicBezTo>
                  <a:pt x="232664" y="316066"/>
                  <a:pt x="255195" y="338734"/>
                  <a:pt x="283358" y="338734"/>
                </a:cubicBezTo>
                <a:cubicBezTo>
                  <a:pt x="283870" y="338734"/>
                  <a:pt x="283870" y="338734"/>
                  <a:pt x="284382" y="338734"/>
                </a:cubicBezTo>
                <a:cubicBezTo>
                  <a:pt x="284894" y="338734"/>
                  <a:pt x="284894" y="338734"/>
                  <a:pt x="285406" y="338734"/>
                </a:cubicBezTo>
                <a:cubicBezTo>
                  <a:pt x="313569" y="338734"/>
                  <a:pt x="336612" y="316066"/>
                  <a:pt x="336612" y="287731"/>
                </a:cubicBezTo>
                <a:lnTo>
                  <a:pt x="336612" y="163571"/>
                </a:lnTo>
                <a:cubicBezTo>
                  <a:pt x="336612" y="135236"/>
                  <a:pt x="313569" y="112052"/>
                  <a:pt x="285406" y="112052"/>
                </a:cubicBezTo>
                <a:cubicBezTo>
                  <a:pt x="284894" y="112052"/>
                  <a:pt x="284894" y="112052"/>
                  <a:pt x="284382" y="112052"/>
                </a:cubicBezTo>
                <a:cubicBezTo>
                  <a:pt x="284382" y="112052"/>
                  <a:pt x="283870" y="112052"/>
                  <a:pt x="283358" y="112052"/>
                </a:cubicBezTo>
                <a:close/>
                <a:moveTo>
                  <a:pt x="284382" y="0"/>
                </a:moveTo>
                <a:cubicBezTo>
                  <a:pt x="441442" y="0"/>
                  <a:pt x="568764" y="127322"/>
                  <a:pt x="568764" y="284382"/>
                </a:cubicBezTo>
                <a:cubicBezTo>
                  <a:pt x="568764" y="441442"/>
                  <a:pt x="441442" y="568764"/>
                  <a:pt x="284382" y="568764"/>
                </a:cubicBezTo>
                <a:cubicBezTo>
                  <a:pt x="127322" y="568764"/>
                  <a:pt x="0" y="441442"/>
                  <a:pt x="0" y="284382"/>
                </a:cubicBezTo>
                <a:cubicBezTo>
                  <a:pt x="0" y="127322"/>
                  <a:pt x="127322" y="0"/>
                  <a:pt x="284382" y="0"/>
                </a:cubicBezTo>
                <a:close/>
              </a:path>
            </a:pathLst>
          </a:custGeom>
          <a:solidFill>
            <a:srgbClr val="6B1554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noAutofit/>
          </a:bodyPr>
          <a:lstStyle/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powerpoint template design by DAJU_PPT正版来源小红书大橘PPT微信DAJU_PPT请勿抄袭搬运！盗版必究！-4"/>
          <p:cNvSpPr/>
          <p:nvPr>
            <p:custDataLst>
              <p:tags r:id="rId2"/>
            </p:custDataLst>
          </p:nvPr>
        </p:nvSpPr>
        <p:spPr bwMode="auto">
          <a:xfrm>
            <a:off x="4626610" y="5326380"/>
            <a:ext cx="463550" cy="463550"/>
          </a:xfrm>
          <a:custGeom>
            <a:avLst/>
            <a:gdLst>
              <a:gd name="connsiteX0" fmla="*/ 296237 w 570470"/>
              <a:gd name="connsiteY0" fmla="*/ 332744 h 570470"/>
              <a:gd name="connsiteX1" fmla="*/ 296237 w 570470"/>
              <a:gd name="connsiteY1" fmla="*/ 358155 h 570470"/>
              <a:gd name="connsiteX2" fmla="*/ 321542 w 570470"/>
              <a:gd name="connsiteY2" fmla="*/ 358155 h 570470"/>
              <a:gd name="connsiteX3" fmla="*/ 298438 w 570470"/>
              <a:gd name="connsiteY3" fmla="*/ 439914 h 570470"/>
              <a:gd name="connsiteX4" fmla="*/ 328143 w 570470"/>
              <a:gd name="connsiteY4" fmla="*/ 439914 h 570470"/>
              <a:gd name="connsiteX5" fmla="*/ 351248 w 570470"/>
              <a:gd name="connsiteY5" fmla="*/ 358155 h 570470"/>
              <a:gd name="connsiteX6" fmla="*/ 380953 w 570470"/>
              <a:gd name="connsiteY6" fmla="*/ 358155 h 570470"/>
              <a:gd name="connsiteX7" fmla="*/ 404058 w 570470"/>
              <a:gd name="connsiteY7" fmla="*/ 439914 h 570470"/>
              <a:gd name="connsiteX8" fmla="*/ 430234 w 570470"/>
              <a:gd name="connsiteY8" fmla="*/ 439914 h 570470"/>
              <a:gd name="connsiteX9" fmla="*/ 433198 w 570470"/>
              <a:gd name="connsiteY9" fmla="*/ 437915 h 570470"/>
              <a:gd name="connsiteX10" fmla="*/ 410659 w 570470"/>
              <a:gd name="connsiteY10" fmla="*/ 358155 h 570470"/>
              <a:gd name="connsiteX11" fmla="*/ 431563 w 570470"/>
              <a:gd name="connsiteY11" fmla="*/ 358155 h 570470"/>
              <a:gd name="connsiteX12" fmla="*/ 431563 w 570470"/>
              <a:gd name="connsiteY12" fmla="*/ 332744 h 570470"/>
              <a:gd name="connsiteX13" fmla="*/ 295137 w 570470"/>
              <a:gd name="connsiteY13" fmla="*/ 181380 h 570470"/>
              <a:gd name="connsiteX14" fmla="*/ 427162 w 570470"/>
              <a:gd name="connsiteY14" fmla="*/ 181380 h 570470"/>
              <a:gd name="connsiteX15" fmla="*/ 431563 w 570470"/>
              <a:gd name="connsiteY15" fmla="*/ 183589 h 570470"/>
              <a:gd name="connsiteX16" fmla="*/ 432663 w 570470"/>
              <a:gd name="connsiteY16" fmla="*/ 188009 h 570470"/>
              <a:gd name="connsiteX17" fmla="*/ 432663 w 570470"/>
              <a:gd name="connsiteY17" fmla="*/ 297389 h 570470"/>
              <a:gd name="connsiteX18" fmla="*/ 431563 w 570470"/>
              <a:gd name="connsiteY18" fmla="*/ 301808 h 570470"/>
              <a:gd name="connsiteX19" fmla="*/ 427162 w 570470"/>
              <a:gd name="connsiteY19" fmla="*/ 302913 h 570470"/>
              <a:gd name="connsiteX20" fmla="*/ 295137 w 570470"/>
              <a:gd name="connsiteY20" fmla="*/ 302913 h 570470"/>
              <a:gd name="connsiteX21" fmla="*/ 291836 w 570470"/>
              <a:gd name="connsiteY21" fmla="*/ 301808 h 570470"/>
              <a:gd name="connsiteX22" fmla="*/ 289636 w 570470"/>
              <a:gd name="connsiteY22" fmla="*/ 297389 h 570470"/>
              <a:gd name="connsiteX23" fmla="*/ 289636 w 570470"/>
              <a:gd name="connsiteY23" fmla="*/ 249880 h 570470"/>
              <a:gd name="connsiteX24" fmla="*/ 367751 w 570470"/>
              <a:gd name="connsiteY24" fmla="*/ 233307 h 570470"/>
              <a:gd name="connsiteX25" fmla="*/ 367751 w 570470"/>
              <a:gd name="connsiteY25" fmla="*/ 231098 h 570470"/>
              <a:gd name="connsiteX26" fmla="*/ 289636 w 570470"/>
              <a:gd name="connsiteY26" fmla="*/ 241041 h 570470"/>
              <a:gd name="connsiteX27" fmla="*/ 289636 w 570470"/>
              <a:gd name="connsiteY27" fmla="*/ 188009 h 570470"/>
              <a:gd name="connsiteX28" fmla="*/ 291836 w 570470"/>
              <a:gd name="connsiteY28" fmla="*/ 183589 h 570470"/>
              <a:gd name="connsiteX29" fmla="*/ 295137 w 570470"/>
              <a:gd name="connsiteY29" fmla="*/ 181380 h 570470"/>
              <a:gd name="connsiteX30" fmla="*/ 295137 w 570470"/>
              <a:gd name="connsiteY30" fmla="*/ 158178 h 570470"/>
              <a:gd name="connsiteX31" fmla="*/ 275333 w 570470"/>
              <a:gd name="connsiteY31" fmla="*/ 167016 h 570470"/>
              <a:gd name="connsiteX32" fmla="*/ 266532 w 570470"/>
              <a:gd name="connsiteY32" fmla="*/ 188009 h 570470"/>
              <a:gd name="connsiteX33" fmla="*/ 266532 w 570470"/>
              <a:gd name="connsiteY33" fmla="*/ 244356 h 570470"/>
              <a:gd name="connsiteX34" fmla="*/ 257730 w 570470"/>
              <a:gd name="connsiteY34" fmla="*/ 245461 h 570470"/>
              <a:gd name="connsiteX35" fmla="*/ 257730 w 570470"/>
              <a:gd name="connsiteY35" fmla="*/ 235517 h 570470"/>
              <a:gd name="connsiteX36" fmla="*/ 231325 w 570470"/>
              <a:gd name="connsiteY36" fmla="*/ 235517 h 570470"/>
              <a:gd name="connsiteX37" fmla="*/ 203820 w 570470"/>
              <a:gd name="connsiteY37" fmla="*/ 218944 h 570470"/>
              <a:gd name="connsiteX38" fmla="*/ 137807 w 570470"/>
              <a:gd name="connsiteY38" fmla="*/ 218944 h 570470"/>
              <a:gd name="connsiteX39" fmla="*/ 112503 w 570470"/>
              <a:gd name="connsiteY39" fmla="*/ 243251 h 570470"/>
              <a:gd name="connsiteX40" fmla="*/ 112503 w 570470"/>
              <a:gd name="connsiteY40" fmla="*/ 320590 h 570470"/>
              <a:gd name="connsiteX41" fmla="*/ 137807 w 570470"/>
              <a:gd name="connsiteY41" fmla="*/ 320590 h 570470"/>
              <a:gd name="connsiteX42" fmla="*/ 137807 w 570470"/>
              <a:gd name="connsiteY42" fmla="*/ 264243 h 570470"/>
              <a:gd name="connsiteX43" fmla="*/ 142208 w 570470"/>
              <a:gd name="connsiteY43" fmla="*/ 264243 h 570470"/>
              <a:gd name="connsiteX44" fmla="*/ 142208 w 570470"/>
              <a:gd name="connsiteY44" fmla="*/ 320590 h 570470"/>
              <a:gd name="connsiteX45" fmla="*/ 142208 w 570470"/>
              <a:gd name="connsiteY45" fmla="*/ 334953 h 570470"/>
              <a:gd name="connsiteX46" fmla="*/ 142208 w 570470"/>
              <a:gd name="connsiteY46" fmla="*/ 438809 h 570470"/>
              <a:gd name="connsiteX47" fmla="*/ 169713 w 570470"/>
              <a:gd name="connsiteY47" fmla="*/ 438809 h 570470"/>
              <a:gd name="connsiteX48" fmla="*/ 169713 w 570470"/>
              <a:gd name="connsiteY48" fmla="*/ 352631 h 570470"/>
              <a:gd name="connsiteX49" fmla="*/ 176315 w 570470"/>
              <a:gd name="connsiteY49" fmla="*/ 352631 h 570470"/>
              <a:gd name="connsiteX50" fmla="*/ 176315 w 570470"/>
              <a:gd name="connsiteY50" fmla="*/ 438809 h 570470"/>
              <a:gd name="connsiteX51" fmla="*/ 203820 w 570470"/>
              <a:gd name="connsiteY51" fmla="*/ 438809 h 570470"/>
              <a:gd name="connsiteX52" fmla="*/ 203820 w 570470"/>
              <a:gd name="connsiteY52" fmla="*/ 423341 h 570470"/>
              <a:gd name="connsiteX53" fmla="*/ 203820 w 570470"/>
              <a:gd name="connsiteY53" fmla="*/ 334953 h 570470"/>
              <a:gd name="connsiteX54" fmla="*/ 203820 w 570470"/>
              <a:gd name="connsiteY54" fmla="*/ 320590 h 570470"/>
              <a:gd name="connsiteX55" fmla="*/ 203820 w 570470"/>
              <a:gd name="connsiteY55" fmla="*/ 264243 h 570470"/>
              <a:gd name="connsiteX56" fmla="*/ 203820 w 570470"/>
              <a:gd name="connsiteY56" fmla="*/ 247670 h 570470"/>
              <a:gd name="connsiteX57" fmla="*/ 231325 w 570470"/>
              <a:gd name="connsiteY57" fmla="*/ 264243 h 570470"/>
              <a:gd name="connsiteX58" fmla="*/ 257730 w 570470"/>
              <a:gd name="connsiteY58" fmla="*/ 264243 h 570470"/>
              <a:gd name="connsiteX59" fmla="*/ 257730 w 570470"/>
              <a:gd name="connsiteY59" fmla="*/ 256509 h 570470"/>
              <a:gd name="connsiteX60" fmla="*/ 266532 w 570470"/>
              <a:gd name="connsiteY60" fmla="*/ 255404 h 570470"/>
              <a:gd name="connsiteX61" fmla="*/ 266532 w 570470"/>
              <a:gd name="connsiteY61" fmla="*/ 297389 h 570470"/>
              <a:gd name="connsiteX62" fmla="*/ 275333 w 570470"/>
              <a:gd name="connsiteY62" fmla="*/ 317276 h 570470"/>
              <a:gd name="connsiteX63" fmla="*/ 275333 w 570470"/>
              <a:gd name="connsiteY63" fmla="*/ 318381 h 570470"/>
              <a:gd name="connsiteX64" fmla="*/ 295137 w 570470"/>
              <a:gd name="connsiteY64" fmla="*/ 326115 h 570470"/>
              <a:gd name="connsiteX65" fmla="*/ 427162 w 570470"/>
              <a:gd name="connsiteY65" fmla="*/ 326115 h 570470"/>
              <a:gd name="connsiteX66" fmla="*/ 448066 w 570470"/>
              <a:gd name="connsiteY66" fmla="*/ 317276 h 570470"/>
              <a:gd name="connsiteX67" fmla="*/ 448066 w 570470"/>
              <a:gd name="connsiteY67" fmla="*/ 318381 h 570470"/>
              <a:gd name="connsiteX68" fmla="*/ 455768 w 570470"/>
              <a:gd name="connsiteY68" fmla="*/ 297389 h 570470"/>
              <a:gd name="connsiteX69" fmla="*/ 455768 w 570470"/>
              <a:gd name="connsiteY69" fmla="*/ 188009 h 570470"/>
              <a:gd name="connsiteX70" fmla="*/ 448066 w 570470"/>
              <a:gd name="connsiteY70" fmla="*/ 167016 h 570470"/>
              <a:gd name="connsiteX71" fmla="*/ 427162 w 570470"/>
              <a:gd name="connsiteY71" fmla="*/ 158178 h 570470"/>
              <a:gd name="connsiteX72" fmla="*/ 173014 w 570470"/>
              <a:gd name="connsiteY72" fmla="*/ 134976 h 570470"/>
              <a:gd name="connsiteX73" fmla="*/ 134507 w 570470"/>
              <a:gd name="connsiteY73" fmla="*/ 174750 h 570470"/>
              <a:gd name="connsiteX74" fmla="*/ 173014 w 570470"/>
              <a:gd name="connsiteY74" fmla="*/ 213420 h 570470"/>
              <a:gd name="connsiteX75" fmla="*/ 212621 w 570470"/>
              <a:gd name="connsiteY75" fmla="*/ 174750 h 570470"/>
              <a:gd name="connsiteX76" fmla="*/ 173014 w 570470"/>
              <a:gd name="connsiteY76" fmla="*/ 134976 h 570470"/>
              <a:gd name="connsiteX77" fmla="*/ 285235 w 570470"/>
              <a:gd name="connsiteY77" fmla="*/ 0 h 570470"/>
              <a:gd name="connsiteX78" fmla="*/ 570470 w 570470"/>
              <a:gd name="connsiteY78" fmla="*/ 285235 h 570470"/>
              <a:gd name="connsiteX79" fmla="*/ 285235 w 570470"/>
              <a:gd name="connsiteY79" fmla="*/ 570470 h 570470"/>
              <a:gd name="connsiteX80" fmla="*/ 0 w 570470"/>
              <a:gd name="connsiteY80" fmla="*/ 285235 h 570470"/>
              <a:gd name="connsiteX81" fmla="*/ 285235 w 570470"/>
              <a:gd name="connsiteY81" fmla="*/ 0 h 570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570470" h="570470">
                <a:moveTo>
                  <a:pt x="296237" y="332744"/>
                </a:moveTo>
                <a:lnTo>
                  <a:pt x="296237" y="358155"/>
                </a:lnTo>
                <a:lnTo>
                  <a:pt x="321542" y="358155"/>
                </a:lnTo>
                <a:lnTo>
                  <a:pt x="298438" y="439914"/>
                </a:lnTo>
                <a:lnTo>
                  <a:pt x="328143" y="439914"/>
                </a:lnTo>
                <a:lnTo>
                  <a:pt x="351248" y="358155"/>
                </a:lnTo>
                <a:lnTo>
                  <a:pt x="380953" y="358155"/>
                </a:lnTo>
                <a:lnTo>
                  <a:pt x="404058" y="439914"/>
                </a:lnTo>
                <a:lnTo>
                  <a:pt x="430234" y="439914"/>
                </a:lnTo>
                <a:lnTo>
                  <a:pt x="433198" y="437915"/>
                </a:lnTo>
                <a:lnTo>
                  <a:pt x="410659" y="358155"/>
                </a:lnTo>
                <a:lnTo>
                  <a:pt x="431563" y="358155"/>
                </a:lnTo>
                <a:lnTo>
                  <a:pt x="431563" y="332744"/>
                </a:lnTo>
                <a:close/>
                <a:moveTo>
                  <a:pt x="295137" y="181380"/>
                </a:moveTo>
                <a:lnTo>
                  <a:pt x="427162" y="181380"/>
                </a:lnTo>
                <a:cubicBezTo>
                  <a:pt x="428262" y="181380"/>
                  <a:pt x="430463" y="182484"/>
                  <a:pt x="431563" y="183589"/>
                </a:cubicBezTo>
                <a:cubicBezTo>
                  <a:pt x="432663" y="184694"/>
                  <a:pt x="432663" y="185799"/>
                  <a:pt x="432663" y="188009"/>
                </a:cubicBezTo>
                <a:lnTo>
                  <a:pt x="432663" y="297389"/>
                </a:lnTo>
                <a:cubicBezTo>
                  <a:pt x="432663" y="298493"/>
                  <a:pt x="432663" y="300703"/>
                  <a:pt x="431563" y="301808"/>
                </a:cubicBezTo>
                <a:cubicBezTo>
                  <a:pt x="430463" y="302913"/>
                  <a:pt x="428262" y="302913"/>
                  <a:pt x="427162" y="302913"/>
                </a:cubicBezTo>
                <a:lnTo>
                  <a:pt x="295137" y="302913"/>
                </a:lnTo>
                <a:cubicBezTo>
                  <a:pt x="294037" y="302913"/>
                  <a:pt x="292937" y="302913"/>
                  <a:pt x="291836" y="301808"/>
                </a:cubicBezTo>
                <a:cubicBezTo>
                  <a:pt x="290736" y="300703"/>
                  <a:pt x="289636" y="298493"/>
                  <a:pt x="289636" y="297389"/>
                </a:cubicBezTo>
                <a:lnTo>
                  <a:pt x="289636" y="249880"/>
                </a:lnTo>
                <a:lnTo>
                  <a:pt x="367751" y="233307"/>
                </a:lnTo>
                <a:lnTo>
                  <a:pt x="367751" y="231098"/>
                </a:lnTo>
                <a:lnTo>
                  <a:pt x="289636" y="241041"/>
                </a:lnTo>
                <a:lnTo>
                  <a:pt x="289636" y="188009"/>
                </a:lnTo>
                <a:cubicBezTo>
                  <a:pt x="289636" y="185799"/>
                  <a:pt x="290736" y="184694"/>
                  <a:pt x="291836" y="183589"/>
                </a:cubicBezTo>
                <a:cubicBezTo>
                  <a:pt x="292937" y="182484"/>
                  <a:pt x="294037" y="181380"/>
                  <a:pt x="295137" y="181380"/>
                </a:cubicBezTo>
                <a:close/>
                <a:moveTo>
                  <a:pt x="295137" y="158178"/>
                </a:moveTo>
                <a:cubicBezTo>
                  <a:pt x="287436" y="158178"/>
                  <a:pt x="279734" y="161492"/>
                  <a:pt x="275333" y="167016"/>
                </a:cubicBezTo>
                <a:cubicBezTo>
                  <a:pt x="269832" y="172541"/>
                  <a:pt x="266532" y="179170"/>
                  <a:pt x="266532" y="188009"/>
                </a:cubicBezTo>
                <a:lnTo>
                  <a:pt x="266532" y="244356"/>
                </a:lnTo>
                <a:lnTo>
                  <a:pt x="257730" y="245461"/>
                </a:lnTo>
                <a:lnTo>
                  <a:pt x="257730" y="235517"/>
                </a:lnTo>
                <a:lnTo>
                  <a:pt x="231325" y="235517"/>
                </a:lnTo>
                <a:lnTo>
                  <a:pt x="203820" y="218944"/>
                </a:lnTo>
                <a:lnTo>
                  <a:pt x="137807" y="218944"/>
                </a:lnTo>
                <a:cubicBezTo>
                  <a:pt x="123505" y="218944"/>
                  <a:pt x="112503" y="229993"/>
                  <a:pt x="112503" y="243251"/>
                </a:cubicBezTo>
                <a:lnTo>
                  <a:pt x="112503" y="320590"/>
                </a:lnTo>
                <a:lnTo>
                  <a:pt x="137807" y="320590"/>
                </a:lnTo>
                <a:lnTo>
                  <a:pt x="137807" y="264243"/>
                </a:lnTo>
                <a:lnTo>
                  <a:pt x="142208" y="264243"/>
                </a:lnTo>
                <a:lnTo>
                  <a:pt x="142208" y="320590"/>
                </a:lnTo>
                <a:lnTo>
                  <a:pt x="142208" y="334953"/>
                </a:lnTo>
                <a:lnTo>
                  <a:pt x="142208" y="438809"/>
                </a:lnTo>
                <a:lnTo>
                  <a:pt x="169713" y="438809"/>
                </a:lnTo>
                <a:lnTo>
                  <a:pt x="169713" y="352631"/>
                </a:lnTo>
                <a:lnTo>
                  <a:pt x="176315" y="352631"/>
                </a:lnTo>
                <a:lnTo>
                  <a:pt x="176315" y="438809"/>
                </a:lnTo>
                <a:lnTo>
                  <a:pt x="203820" y="438809"/>
                </a:lnTo>
                <a:lnTo>
                  <a:pt x="203820" y="423341"/>
                </a:lnTo>
                <a:lnTo>
                  <a:pt x="203820" y="334953"/>
                </a:lnTo>
                <a:lnTo>
                  <a:pt x="203820" y="320590"/>
                </a:lnTo>
                <a:lnTo>
                  <a:pt x="203820" y="264243"/>
                </a:lnTo>
                <a:lnTo>
                  <a:pt x="203820" y="247670"/>
                </a:lnTo>
                <a:lnTo>
                  <a:pt x="231325" y="264243"/>
                </a:lnTo>
                <a:lnTo>
                  <a:pt x="257730" y="264243"/>
                </a:lnTo>
                <a:lnTo>
                  <a:pt x="257730" y="256509"/>
                </a:lnTo>
                <a:lnTo>
                  <a:pt x="266532" y="255404"/>
                </a:lnTo>
                <a:lnTo>
                  <a:pt x="266532" y="297389"/>
                </a:lnTo>
                <a:cubicBezTo>
                  <a:pt x="266532" y="305123"/>
                  <a:pt x="269832" y="312856"/>
                  <a:pt x="275333" y="317276"/>
                </a:cubicBezTo>
                <a:lnTo>
                  <a:pt x="275333" y="318381"/>
                </a:lnTo>
                <a:cubicBezTo>
                  <a:pt x="280834" y="322800"/>
                  <a:pt x="287436" y="326115"/>
                  <a:pt x="295137" y="326115"/>
                </a:cubicBezTo>
                <a:lnTo>
                  <a:pt x="427162" y="326115"/>
                </a:lnTo>
                <a:cubicBezTo>
                  <a:pt x="434864" y="326115"/>
                  <a:pt x="442565" y="322800"/>
                  <a:pt x="448066" y="317276"/>
                </a:cubicBezTo>
                <a:lnTo>
                  <a:pt x="448066" y="318381"/>
                </a:lnTo>
                <a:cubicBezTo>
                  <a:pt x="452467" y="312856"/>
                  <a:pt x="455768" y="305123"/>
                  <a:pt x="455768" y="297389"/>
                </a:cubicBezTo>
                <a:lnTo>
                  <a:pt x="455768" y="188009"/>
                </a:lnTo>
                <a:cubicBezTo>
                  <a:pt x="455768" y="179170"/>
                  <a:pt x="452467" y="172541"/>
                  <a:pt x="448066" y="167016"/>
                </a:cubicBezTo>
                <a:cubicBezTo>
                  <a:pt x="442565" y="161492"/>
                  <a:pt x="434864" y="158178"/>
                  <a:pt x="427162" y="158178"/>
                </a:cubicBezTo>
                <a:close/>
                <a:moveTo>
                  <a:pt x="173014" y="134976"/>
                </a:moveTo>
                <a:cubicBezTo>
                  <a:pt x="152110" y="134976"/>
                  <a:pt x="134507" y="152653"/>
                  <a:pt x="134507" y="174750"/>
                </a:cubicBezTo>
                <a:cubicBezTo>
                  <a:pt x="134507" y="195743"/>
                  <a:pt x="152110" y="213420"/>
                  <a:pt x="173014" y="213420"/>
                </a:cubicBezTo>
                <a:cubicBezTo>
                  <a:pt x="195018" y="213420"/>
                  <a:pt x="212621" y="195743"/>
                  <a:pt x="212621" y="174750"/>
                </a:cubicBezTo>
                <a:cubicBezTo>
                  <a:pt x="212621" y="152653"/>
                  <a:pt x="195018" y="134976"/>
                  <a:pt x="173014" y="134976"/>
                </a:cubicBezTo>
                <a:close/>
                <a:moveTo>
                  <a:pt x="285235" y="0"/>
                </a:moveTo>
                <a:cubicBezTo>
                  <a:pt x="442766" y="0"/>
                  <a:pt x="570470" y="127704"/>
                  <a:pt x="570470" y="285235"/>
                </a:cubicBezTo>
                <a:cubicBezTo>
                  <a:pt x="570470" y="442766"/>
                  <a:pt x="442766" y="570470"/>
                  <a:pt x="285235" y="570470"/>
                </a:cubicBezTo>
                <a:cubicBezTo>
                  <a:pt x="127704" y="570470"/>
                  <a:pt x="0" y="442766"/>
                  <a:pt x="0" y="285235"/>
                </a:cubicBezTo>
                <a:cubicBezTo>
                  <a:pt x="0" y="127704"/>
                  <a:pt x="127704" y="0"/>
                  <a:pt x="285235" y="0"/>
                </a:cubicBezTo>
                <a:close/>
              </a:path>
            </a:pathLst>
          </a:custGeom>
          <a:solidFill>
            <a:srgbClr val="6B1554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noAutofit/>
          </a:bodyPr>
          <a:lstStyle/>
          <a:p>
            <a:endParaRPr lang="zh-CN" altLang="en-US" sz="280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NAPPT-20251"/>
          <p:cNvSpPr/>
          <p:nvPr/>
        </p:nvSpPr>
        <p:spPr>
          <a:xfrm>
            <a:off x="-13062" y="-2"/>
            <a:ext cx="12192000" cy="3017522"/>
          </a:xfrm>
          <a:custGeom>
            <a:avLst/>
            <a:gdLst>
              <a:gd name="connsiteX0" fmla="*/ 0 w 12192000"/>
              <a:gd name="connsiteY0" fmla="*/ 0 h 3017522"/>
              <a:gd name="connsiteX1" fmla="*/ 1848299 w 12192000"/>
              <a:gd name="connsiteY1" fmla="*/ 0 h 3017522"/>
              <a:gd name="connsiteX2" fmla="*/ 10469974 w 12192000"/>
              <a:gd name="connsiteY2" fmla="*/ 0 h 3017522"/>
              <a:gd name="connsiteX3" fmla="*/ 12192000 w 12192000"/>
              <a:gd name="connsiteY3" fmla="*/ 0 h 3017522"/>
              <a:gd name="connsiteX4" fmla="*/ 12192000 w 12192000"/>
              <a:gd name="connsiteY4" fmla="*/ 676266 h 3017522"/>
              <a:gd name="connsiteX5" fmla="*/ 12099057 w 12192000"/>
              <a:gd name="connsiteY5" fmla="*/ 612976 h 3017522"/>
              <a:gd name="connsiteX6" fmla="*/ 11416307 w 12192000"/>
              <a:gd name="connsiteY6" fmla="*/ 284738 h 3017522"/>
              <a:gd name="connsiteX7" fmla="*/ 12099057 w 12192000"/>
              <a:gd name="connsiteY7" fmla="*/ 612976 h 3017522"/>
              <a:gd name="connsiteX8" fmla="*/ 12192000 w 12192000"/>
              <a:gd name="connsiteY8" fmla="*/ 676266 h 3017522"/>
              <a:gd name="connsiteX9" fmla="*/ 12192000 w 12192000"/>
              <a:gd name="connsiteY9" fmla="*/ 1897120 h 3017522"/>
              <a:gd name="connsiteX10" fmla="*/ 12099057 w 12192000"/>
              <a:gd name="connsiteY10" fmla="*/ 1960410 h 3017522"/>
              <a:gd name="connsiteX11" fmla="*/ 11969959 w 12192000"/>
              <a:gd name="connsiteY11" fmla="*/ 2037079 h 3017522"/>
              <a:gd name="connsiteX12" fmla="*/ 11868899 w 12192000"/>
              <a:gd name="connsiteY12" fmla="*/ 2090057 h 3017522"/>
              <a:gd name="connsiteX13" fmla="*/ 11827596 w 12192000"/>
              <a:gd name="connsiteY13" fmla="*/ 2111709 h 3017522"/>
              <a:gd name="connsiteX14" fmla="*/ 6159136 w 12192000"/>
              <a:gd name="connsiteY14" fmla="*/ 3017522 h 3017522"/>
              <a:gd name="connsiteX15" fmla="*/ 490676 w 12192000"/>
              <a:gd name="connsiteY15" fmla="*/ 2111709 h 3017522"/>
              <a:gd name="connsiteX16" fmla="*/ 449373 w 12192000"/>
              <a:gd name="connsiteY16" fmla="*/ 2090057 h 3017522"/>
              <a:gd name="connsiteX17" fmla="*/ 449373 w 12192000"/>
              <a:gd name="connsiteY17" fmla="*/ 2090057 h 3017522"/>
              <a:gd name="connsiteX18" fmla="*/ 348314 w 12192000"/>
              <a:gd name="connsiteY18" fmla="*/ 2037079 h 3017522"/>
              <a:gd name="connsiteX19" fmla="*/ 2439 w 12192000"/>
              <a:gd name="connsiteY19" fmla="*/ 1801388 h 3017522"/>
              <a:gd name="connsiteX20" fmla="*/ 0 w 12192000"/>
              <a:gd name="connsiteY20" fmla="*/ 1799082 h 3017522"/>
              <a:gd name="connsiteX21" fmla="*/ 0 w 12192000"/>
              <a:gd name="connsiteY21" fmla="*/ 774304 h 3017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2000" h="3017522">
                <a:moveTo>
                  <a:pt x="0" y="0"/>
                </a:moveTo>
                <a:lnTo>
                  <a:pt x="1848299" y="0"/>
                </a:lnTo>
                <a:lnTo>
                  <a:pt x="10469974" y="0"/>
                </a:lnTo>
                <a:lnTo>
                  <a:pt x="12192000" y="0"/>
                </a:lnTo>
                <a:lnTo>
                  <a:pt x="12192000" y="676266"/>
                </a:lnTo>
                <a:lnTo>
                  <a:pt x="12099057" y="612976"/>
                </a:lnTo>
                <a:cubicBezTo>
                  <a:pt x="11915562" y="496498"/>
                  <a:pt x="11685929" y="386534"/>
                  <a:pt x="11416307" y="284738"/>
                </a:cubicBezTo>
                <a:cubicBezTo>
                  <a:pt x="11685929" y="386534"/>
                  <a:pt x="11915562" y="496498"/>
                  <a:pt x="12099057" y="612976"/>
                </a:cubicBezTo>
                <a:lnTo>
                  <a:pt x="12192000" y="676266"/>
                </a:lnTo>
                <a:lnTo>
                  <a:pt x="12192000" y="1897120"/>
                </a:lnTo>
                <a:lnTo>
                  <a:pt x="12099057" y="1960410"/>
                </a:lnTo>
                <a:cubicBezTo>
                  <a:pt x="12058280" y="1986294"/>
                  <a:pt x="12015225" y="2011856"/>
                  <a:pt x="11969959" y="2037079"/>
                </a:cubicBezTo>
                <a:lnTo>
                  <a:pt x="11868899" y="2090057"/>
                </a:lnTo>
                <a:lnTo>
                  <a:pt x="11827596" y="2111709"/>
                </a:lnTo>
                <a:cubicBezTo>
                  <a:pt x="10735947" y="2651252"/>
                  <a:pt x="8606853" y="3017522"/>
                  <a:pt x="6159136" y="3017522"/>
                </a:cubicBezTo>
                <a:cubicBezTo>
                  <a:pt x="3711420" y="3017522"/>
                  <a:pt x="1582325" y="2651252"/>
                  <a:pt x="490676" y="2111709"/>
                </a:cubicBezTo>
                <a:lnTo>
                  <a:pt x="449373" y="2090057"/>
                </a:lnTo>
                <a:lnTo>
                  <a:pt x="449373" y="2090057"/>
                </a:lnTo>
                <a:lnTo>
                  <a:pt x="348314" y="2037079"/>
                </a:lnTo>
                <a:cubicBezTo>
                  <a:pt x="212515" y="1961411"/>
                  <a:pt x="96616" y="1882685"/>
                  <a:pt x="2439" y="1801388"/>
                </a:cubicBezTo>
                <a:lnTo>
                  <a:pt x="0" y="1799082"/>
                </a:lnTo>
                <a:lnTo>
                  <a:pt x="0" y="774304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72000"/>
                </a:schemeClr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7" name="DNAPPT-20252"/>
          <p:cNvSpPr/>
          <p:nvPr/>
        </p:nvSpPr>
        <p:spPr>
          <a:xfrm>
            <a:off x="-13063" y="1799081"/>
            <a:ext cx="12192000" cy="1322943"/>
          </a:xfrm>
          <a:custGeom>
            <a:avLst/>
            <a:gdLst>
              <a:gd name="connsiteX0" fmla="*/ 0 w 12192000"/>
              <a:gd name="connsiteY0" fmla="*/ 0 h 1322943"/>
              <a:gd name="connsiteX1" fmla="*/ 2439 w 12192000"/>
              <a:gd name="connsiteY1" fmla="*/ 2306 h 1322943"/>
              <a:gd name="connsiteX2" fmla="*/ 184388 w 12192000"/>
              <a:gd name="connsiteY2" fmla="*/ 126292 h 1322943"/>
              <a:gd name="connsiteX3" fmla="*/ 530877 w 12192000"/>
              <a:gd name="connsiteY3" fmla="*/ 291258 h 1322943"/>
              <a:gd name="connsiteX4" fmla="*/ 6093823 w 12192000"/>
              <a:gd name="connsiteY4" fmla="*/ 1100874 h 1322943"/>
              <a:gd name="connsiteX5" fmla="*/ 12116591 w 12192000"/>
              <a:gd name="connsiteY5" fmla="*/ 72334 h 1322943"/>
              <a:gd name="connsiteX6" fmla="*/ 12192000 w 12192000"/>
              <a:gd name="connsiteY6" fmla="*/ 27006 h 1322943"/>
              <a:gd name="connsiteX7" fmla="*/ 12192000 w 12192000"/>
              <a:gd name="connsiteY7" fmla="*/ 98038 h 1322943"/>
              <a:gd name="connsiteX8" fmla="*/ 12192000 w 12192000"/>
              <a:gd name="connsiteY8" fmla="*/ 290975 h 1322943"/>
              <a:gd name="connsiteX9" fmla="*/ 12192000 w 12192000"/>
              <a:gd name="connsiteY9" fmla="*/ 364385 h 1322943"/>
              <a:gd name="connsiteX10" fmla="*/ 12175789 w 12192000"/>
              <a:gd name="connsiteY10" fmla="*/ 372694 h 1322943"/>
              <a:gd name="connsiteX11" fmla="*/ 6093824 w 12192000"/>
              <a:gd name="connsiteY11" fmla="*/ 1322943 h 1322943"/>
              <a:gd name="connsiteX12" fmla="*/ 178407 w 12192000"/>
              <a:gd name="connsiteY12" fmla="*/ 448732 h 1322943"/>
              <a:gd name="connsiteX13" fmla="*/ 13062 w 12192000"/>
              <a:gd name="connsiteY13" fmla="*/ 373243 h 1322943"/>
              <a:gd name="connsiteX14" fmla="*/ 13062 w 12192000"/>
              <a:gd name="connsiteY14" fmla="*/ 290975 h 1322943"/>
              <a:gd name="connsiteX15" fmla="*/ 0 w 12192000"/>
              <a:gd name="connsiteY15" fmla="*/ 290975 h 1322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1322943">
                <a:moveTo>
                  <a:pt x="0" y="0"/>
                </a:moveTo>
                <a:lnTo>
                  <a:pt x="2439" y="2306"/>
                </a:lnTo>
                <a:lnTo>
                  <a:pt x="184388" y="126292"/>
                </a:lnTo>
                <a:lnTo>
                  <a:pt x="530877" y="291258"/>
                </a:lnTo>
                <a:cubicBezTo>
                  <a:pt x="1728627" y="779341"/>
                  <a:pt x="3773050" y="1100874"/>
                  <a:pt x="6093823" y="1100874"/>
                </a:cubicBezTo>
                <a:cubicBezTo>
                  <a:pt x="8746136" y="1100874"/>
                  <a:pt x="11037500" y="680912"/>
                  <a:pt x="12116591" y="72334"/>
                </a:cubicBezTo>
                <a:lnTo>
                  <a:pt x="12192000" y="27006"/>
                </a:lnTo>
                <a:lnTo>
                  <a:pt x="12192000" y="98038"/>
                </a:lnTo>
                <a:lnTo>
                  <a:pt x="12192000" y="290975"/>
                </a:lnTo>
                <a:lnTo>
                  <a:pt x="12192000" y="364385"/>
                </a:lnTo>
                <a:lnTo>
                  <a:pt x="12175789" y="372694"/>
                </a:lnTo>
                <a:cubicBezTo>
                  <a:pt x="11004506" y="938705"/>
                  <a:pt x="8720097" y="1322943"/>
                  <a:pt x="6093824" y="1322943"/>
                </a:cubicBezTo>
                <a:cubicBezTo>
                  <a:pt x="3586927" y="1322943"/>
                  <a:pt x="1391522" y="972842"/>
                  <a:pt x="178407" y="448732"/>
                </a:cubicBezTo>
                <a:lnTo>
                  <a:pt x="13062" y="373243"/>
                </a:lnTo>
                <a:lnTo>
                  <a:pt x="13062" y="290975"/>
                </a:lnTo>
                <a:lnTo>
                  <a:pt x="0" y="290975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/>
              </a:gs>
              <a:gs pos="48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48" name="DNAPPT-20253"/>
          <p:cNvCxnSpPr/>
          <p:nvPr>
            <p:custDataLst>
              <p:tags r:id="rId1"/>
            </p:custDataLst>
          </p:nvPr>
        </p:nvCxnSpPr>
        <p:spPr>
          <a:xfrm>
            <a:off x="829333" y="3618412"/>
            <a:ext cx="0" cy="2717074"/>
          </a:xfrm>
          <a:prstGeom prst="line">
            <a:avLst/>
          </a:prstGeom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/>
                </a:gs>
                <a:gs pos="56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DNAPPT-20254"/>
          <p:cNvCxnSpPr/>
          <p:nvPr>
            <p:custDataLst>
              <p:tags r:id="rId2"/>
            </p:custDataLst>
          </p:nvPr>
        </p:nvCxnSpPr>
        <p:spPr>
          <a:xfrm>
            <a:off x="2922657" y="3618412"/>
            <a:ext cx="0" cy="2717074"/>
          </a:xfrm>
          <a:prstGeom prst="line">
            <a:avLst/>
          </a:prstGeom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/>
                </a:gs>
                <a:gs pos="56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DNAPPT-20255"/>
          <p:cNvCxnSpPr/>
          <p:nvPr>
            <p:custDataLst>
              <p:tags r:id="rId3"/>
            </p:custDataLst>
          </p:nvPr>
        </p:nvCxnSpPr>
        <p:spPr>
          <a:xfrm>
            <a:off x="5048860" y="3618412"/>
            <a:ext cx="0" cy="2717074"/>
          </a:xfrm>
          <a:prstGeom prst="line">
            <a:avLst/>
          </a:prstGeom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/>
                </a:gs>
                <a:gs pos="56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DNAPPT-20256"/>
          <p:cNvCxnSpPr/>
          <p:nvPr>
            <p:custDataLst>
              <p:tags r:id="rId4"/>
            </p:custDataLst>
          </p:nvPr>
        </p:nvCxnSpPr>
        <p:spPr>
          <a:xfrm>
            <a:off x="7229861" y="3618412"/>
            <a:ext cx="0" cy="2717074"/>
          </a:xfrm>
          <a:prstGeom prst="line">
            <a:avLst/>
          </a:prstGeom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/>
                </a:gs>
                <a:gs pos="56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DNAPPT-20257"/>
          <p:cNvCxnSpPr/>
          <p:nvPr>
            <p:custDataLst>
              <p:tags r:id="rId5"/>
            </p:custDataLst>
          </p:nvPr>
        </p:nvCxnSpPr>
        <p:spPr>
          <a:xfrm>
            <a:off x="9367024" y="3618412"/>
            <a:ext cx="0" cy="2717074"/>
          </a:xfrm>
          <a:prstGeom prst="line">
            <a:avLst/>
          </a:prstGeom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/>
                </a:gs>
                <a:gs pos="56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DNAPPT-20258"/>
          <p:cNvCxnSpPr/>
          <p:nvPr>
            <p:custDataLst>
              <p:tags r:id="rId6"/>
            </p:custDataLst>
          </p:nvPr>
        </p:nvCxnSpPr>
        <p:spPr>
          <a:xfrm>
            <a:off x="3889548" y="4624695"/>
            <a:ext cx="215491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DNAPPT-202510"/>
          <p:cNvSpPr txBox="1"/>
          <p:nvPr>
            <p:custDataLst>
              <p:tags r:id="rId7"/>
            </p:custDataLst>
          </p:nvPr>
        </p:nvSpPr>
        <p:spPr>
          <a:xfrm>
            <a:off x="3060589" y="4774800"/>
            <a:ext cx="1873408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研究目标</a:t>
            </a:r>
          </a:p>
        </p:txBody>
      </p:sp>
      <p:sp>
        <p:nvSpPr>
          <p:cNvPr id="56" name="DNAPPT-202511"/>
          <p:cNvSpPr txBox="1"/>
          <p:nvPr>
            <p:custDataLst>
              <p:tags r:id="rId8"/>
            </p:custDataLst>
          </p:nvPr>
        </p:nvSpPr>
        <p:spPr>
          <a:xfrm>
            <a:off x="3049629" y="3540245"/>
            <a:ext cx="1873408" cy="825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600" b="1">
                <a:latin typeface="微软雅黑" panose="020B0503020204020204" charset="-122"/>
                <a:ea typeface="微软雅黑" panose="020B0503020204020204" charset="-122"/>
              </a:rPr>
              <a:t>02</a:t>
            </a:r>
          </a:p>
        </p:txBody>
      </p:sp>
      <p:cxnSp>
        <p:nvCxnSpPr>
          <p:cNvPr id="57" name="DNAPPT-202512"/>
          <p:cNvCxnSpPr/>
          <p:nvPr>
            <p:custDataLst>
              <p:tags r:id="rId9"/>
            </p:custDataLst>
          </p:nvPr>
        </p:nvCxnSpPr>
        <p:spPr>
          <a:xfrm>
            <a:off x="1752386" y="4624695"/>
            <a:ext cx="215491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DNAPPT-202514"/>
          <p:cNvSpPr txBox="1"/>
          <p:nvPr>
            <p:custDataLst>
              <p:tags r:id="rId10"/>
            </p:custDataLst>
          </p:nvPr>
        </p:nvSpPr>
        <p:spPr>
          <a:xfrm>
            <a:off x="923427" y="4774800"/>
            <a:ext cx="1873408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研究背景</a:t>
            </a:r>
          </a:p>
        </p:txBody>
      </p:sp>
      <p:sp>
        <p:nvSpPr>
          <p:cNvPr id="60" name="DNAPPT-202515"/>
          <p:cNvSpPr txBox="1"/>
          <p:nvPr>
            <p:custDataLst>
              <p:tags r:id="rId11"/>
            </p:custDataLst>
          </p:nvPr>
        </p:nvSpPr>
        <p:spPr>
          <a:xfrm>
            <a:off x="912467" y="3540245"/>
            <a:ext cx="1873408" cy="825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600" b="1">
                <a:latin typeface="微软雅黑" panose="020B0503020204020204" charset="-122"/>
                <a:ea typeface="微软雅黑" panose="020B0503020204020204" charset="-122"/>
              </a:rPr>
              <a:t>01</a:t>
            </a:r>
          </a:p>
        </p:txBody>
      </p:sp>
      <p:cxnSp>
        <p:nvCxnSpPr>
          <p:cNvPr id="61" name="DNAPPT-202516"/>
          <p:cNvCxnSpPr/>
          <p:nvPr>
            <p:custDataLst>
              <p:tags r:id="rId12"/>
            </p:custDataLst>
          </p:nvPr>
        </p:nvCxnSpPr>
        <p:spPr>
          <a:xfrm>
            <a:off x="6037671" y="4624695"/>
            <a:ext cx="215491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DNAPPT-202518"/>
          <p:cNvSpPr txBox="1"/>
          <p:nvPr>
            <p:custDataLst>
              <p:tags r:id="rId13"/>
            </p:custDataLst>
          </p:nvPr>
        </p:nvSpPr>
        <p:spPr>
          <a:xfrm>
            <a:off x="5208712" y="4774800"/>
            <a:ext cx="1873408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技术路线</a:t>
            </a:r>
          </a:p>
        </p:txBody>
      </p:sp>
      <p:sp>
        <p:nvSpPr>
          <p:cNvPr id="64" name="DNAPPT-202519"/>
          <p:cNvSpPr txBox="1"/>
          <p:nvPr>
            <p:custDataLst>
              <p:tags r:id="rId14"/>
            </p:custDataLst>
          </p:nvPr>
        </p:nvSpPr>
        <p:spPr>
          <a:xfrm>
            <a:off x="5197752" y="3540245"/>
            <a:ext cx="1873408" cy="825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600" b="1">
                <a:latin typeface="微软雅黑" panose="020B0503020204020204" charset="-122"/>
                <a:ea typeface="微软雅黑" panose="020B0503020204020204" charset="-122"/>
              </a:rPr>
              <a:t>03</a:t>
            </a:r>
          </a:p>
        </p:txBody>
      </p:sp>
      <p:cxnSp>
        <p:nvCxnSpPr>
          <p:cNvPr id="65" name="DNAPPT-202520"/>
          <p:cNvCxnSpPr/>
          <p:nvPr>
            <p:custDataLst>
              <p:tags r:id="rId15"/>
            </p:custDataLst>
          </p:nvPr>
        </p:nvCxnSpPr>
        <p:spPr>
          <a:xfrm>
            <a:off x="8152913" y="4624695"/>
            <a:ext cx="215491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DNAPPT-202522"/>
          <p:cNvSpPr txBox="1"/>
          <p:nvPr>
            <p:custDataLst>
              <p:tags r:id="rId16"/>
            </p:custDataLst>
          </p:nvPr>
        </p:nvSpPr>
        <p:spPr>
          <a:xfrm>
            <a:off x="7323954" y="4774800"/>
            <a:ext cx="1873408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项目创新点</a:t>
            </a:r>
          </a:p>
        </p:txBody>
      </p:sp>
      <p:sp>
        <p:nvSpPr>
          <p:cNvPr id="68" name="DNAPPT-202523"/>
          <p:cNvSpPr txBox="1"/>
          <p:nvPr>
            <p:custDataLst>
              <p:tags r:id="rId17"/>
            </p:custDataLst>
          </p:nvPr>
        </p:nvSpPr>
        <p:spPr>
          <a:xfrm>
            <a:off x="7312994" y="3540245"/>
            <a:ext cx="1873408" cy="825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600" b="1">
                <a:latin typeface="微软雅黑" panose="020B0503020204020204" charset="-122"/>
                <a:ea typeface="微软雅黑" panose="020B0503020204020204" charset="-122"/>
              </a:rPr>
              <a:t>04</a:t>
            </a:r>
          </a:p>
        </p:txBody>
      </p:sp>
      <p:sp>
        <p:nvSpPr>
          <p:cNvPr id="69" name="DNAPPT-202524"/>
          <p:cNvSpPr txBox="1"/>
          <p:nvPr/>
        </p:nvSpPr>
        <p:spPr>
          <a:xfrm>
            <a:off x="4966491" y="383759"/>
            <a:ext cx="2232891" cy="131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6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  录</a:t>
            </a:r>
            <a:endParaRPr lang="en-US" altLang="zh-CN" sz="6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DNAPPT-202525"/>
          <p:cNvSpPr txBox="1"/>
          <p:nvPr/>
        </p:nvSpPr>
        <p:spPr>
          <a:xfrm>
            <a:off x="3492052" y="2025120"/>
            <a:ext cx="4969302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Contents OF Programme</a:t>
            </a:r>
          </a:p>
        </p:txBody>
      </p:sp>
      <p:cxnSp>
        <p:nvCxnSpPr>
          <p:cNvPr id="71" name="DNAPPT-202526"/>
          <p:cNvCxnSpPr/>
          <p:nvPr/>
        </p:nvCxnSpPr>
        <p:spPr>
          <a:xfrm>
            <a:off x="3240351" y="1913053"/>
            <a:ext cx="561550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DNAPPT-20257"/>
          <p:cNvCxnSpPr/>
          <p:nvPr/>
        </p:nvCxnSpPr>
        <p:spPr>
          <a:xfrm>
            <a:off x="11552663" y="3618412"/>
            <a:ext cx="0" cy="2717074"/>
          </a:xfrm>
          <a:prstGeom prst="line">
            <a:avLst/>
          </a:prstGeom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/>
                </a:gs>
                <a:gs pos="56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DNAPPT-202520"/>
          <p:cNvCxnSpPr/>
          <p:nvPr>
            <p:custDataLst>
              <p:tags r:id="rId18"/>
            </p:custDataLst>
          </p:nvPr>
        </p:nvCxnSpPr>
        <p:spPr>
          <a:xfrm>
            <a:off x="10338552" y="4624695"/>
            <a:ext cx="215491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NAPPT-202522"/>
          <p:cNvSpPr txBox="1"/>
          <p:nvPr>
            <p:custDataLst>
              <p:tags r:id="rId19"/>
            </p:custDataLst>
          </p:nvPr>
        </p:nvSpPr>
        <p:spPr>
          <a:xfrm>
            <a:off x="9509593" y="4774800"/>
            <a:ext cx="1873408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进度安排</a:t>
            </a:r>
          </a:p>
        </p:txBody>
      </p:sp>
      <p:sp>
        <p:nvSpPr>
          <p:cNvPr id="7" name="DNAPPT-202523"/>
          <p:cNvSpPr txBox="1"/>
          <p:nvPr>
            <p:custDataLst>
              <p:tags r:id="rId20"/>
            </p:custDataLst>
          </p:nvPr>
        </p:nvSpPr>
        <p:spPr>
          <a:xfrm>
            <a:off x="9498633" y="3540245"/>
            <a:ext cx="1873408" cy="825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600" b="1">
                <a:latin typeface="微软雅黑" panose="020B0503020204020204" charset="-122"/>
                <a:ea typeface="微软雅黑" panose="020B0503020204020204" charset="-122"/>
              </a:rPr>
              <a:t>05</a:t>
            </a:r>
          </a:p>
        </p:txBody>
      </p:sp>
      <p:sp>
        <p:nvSpPr>
          <p:cNvPr id="14" name="DNAPPT-202510"/>
          <p:cNvSpPr txBox="1"/>
          <p:nvPr>
            <p:custDataLst>
              <p:tags r:id="rId21"/>
            </p:custDataLst>
          </p:nvPr>
        </p:nvSpPr>
        <p:spPr>
          <a:xfrm>
            <a:off x="3060589" y="5421571"/>
            <a:ext cx="1873408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</a:rPr>
              <a:t>Research Objectives</a:t>
            </a:r>
          </a:p>
        </p:txBody>
      </p:sp>
      <p:sp>
        <p:nvSpPr>
          <p:cNvPr id="15" name="DNAPPT-202514"/>
          <p:cNvSpPr txBox="1"/>
          <p:nvPr>
            <p:custDataLst>
              <p:tags r:id="rId22"/>
            </p:custDataLst>
          </p:nvPr>
        </p:nvSpPr>
        <p:spPr>
          <a:xfrm>
            <a:off x="923427" y="5421571"/>
            <a:ext cx="1873408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Background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DNAPPT-202518"/>
          <p:cNvSpPr txBox="1"/>
          <p:nvPr>
            <p:custDataLst>
              <p:tags r:id="rId23"/>
            </p:custDataLst>
          </p:nvPr>
        </p:nvSpPr>
        <p:spPr>
          <a:xfrm>
            <a:off x="5208712" y="5421571"/>
            <a:ext cx="1873408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</a:rPr>
              <a:t>Technical Route</a:t>
            </a:r>
          </a:p>
        </p:txBody>
      </p:sp>
      <p:sp>
        <p:nvSpPr>
          <p:cNvPr id="17" name="DNAPPT-202522"/>
          <p:cNvSpPr txBox="1"/>
          <p:nvPr>
            <p:custDataLst>
              <p:tags r:id="rId24"/>
            </p:custDataLst>
          </p:nvPr>
        </p:nvSpPr>
        <p:spPr>
          <a:xfrm>
            <a:off x="7323954" y="5421571"/>
            <a:ext cx="1873408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</a:rPr>
              <a:t>Innovative Points</a:t>
            </a:r>
          </a:p>
        </p:txBody>
      </p:sp>
      <p:sp>
        <p:nvSpPr>
          <p:cNvPr id="18" name="DNAPPT-202522"/>
          <p:cNvSpPr txBox="1"/>
          <p:nvPr>
            <p:custDataLst>
              <p:tags r:id="rId25"/>
            </p:custDataLst>
          </p:nvPr>
        </p:nvSpPr>
        <p:spPr>
          <a:xfrm>
            <a:off x="9509593" y="5421571"/>
            <a:ext cx="1873408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</a:rPr>
              <a:t>Progress Schedule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35" y="2221865"/>
            <a:ext cx="12192635" cy="2449830"/>
          </a:xfrm>
          <a:prstGeom prst="rect">
            <a:avLst/>
          </a:prstGeom>
          <a:gradFill>
            <a:gsLst>
              <a:gs pos="100000">
                <a:srgbClr val="6B1553">
                  <a:alpha val="80000"/>
                </a:srgbClr>
              </a:gs>
              <a:gs pos="0">
                <a:srgbClr val="6B1553"/>
              </a:gs>
            </a:gsLst>
            <a:lin ang="5400000" scaled="1"/>
          </a:gradFill>
          <a:ln>
            <a:noFill/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井井ppt"/>
          <p:cNvSpPr txBox="1"/>
          <p:nvPr/>
        </p:nvSpPr>
        <p:spPr>
          <a:xfrm>
            <a:off x="5259874" y="1384035"/>
            <a:ext cx="1672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7E0C6E"/>
                </a:solidFill>
                <a:cs typeface="+mn-ea"/>
                <a:sym typeface="+mn-lt"/>
              </a:rPr>
              <a:t>Part.01</a:t>
            </a:r>
          </a:p>
        </p:txBody>
      </p:sp>
      <p:grpSp>
        <p:nvGrpSpPr>
          <p:cNvPr id="23" name="井井ppt"/>
          <p:cNvGrpSpPr/>
          <p:nvPr/>
        </p:nvGrpSpPr>
        <p:grpSpPr>
          <a:xfrm>
            <a:off x="3327401" y="2763244"/>
            <a:ext cx="5537198" cy="1331333"/>
            <a:chOff x="3327401" y="2861512"/>
            <a:chExt cx="5537198" cy="1331333"/>
          </a:xfrm>
        </p:grpSpPr>
        <p:sp>
          <p:nvSpPr>
            <p:cNvPr id="9" name="powerpoint template design by DAJU_PPT正版来源小红书大橘PPT微信DAJU_PPT请勿抄袭搬运！盗版必究！-1"/>
            <p:cNvSpPr txBox="1"/>
            <p:nvPr/>
          </p:nvSpPr>
          <p:spPr>
            <a:xfrm>
              <a:off x="3327401" y="2861512"/>
              <a:ext cx="5537198" cy="830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5400" b="1" spc="600" dirty="0">
                  <a:solidFill>
                    <a:schemeClr val="bg1"/>
                  </a:solidFill>
                  <a:cs typeface="+mn-ea"/>
                  <a:sym typeface="+mn-lt"/>
                </a:rPr>
                <a:t>研究背景与现状</a:t>
              </a:r>
            </a:p>
          </p:txBody>
        </p:sp>
        <p:sp>
          <p:nvSpPr>
            <p:cNvPr id="22" name="powerpoint template design by DAJU_PPT正版来源小红书大橘PPT微信DAJU_PPT请勿抄袭搬运！盗版必究！-2"/>
            <p:cNvSpPr txBox="1"/>
            <p:nvPr/>
          </p:nvSpPr>
          <p:spPr>
            <a:xfrm>
              <a:off x="3327401" y="3977580"/>
              <a:ext cx="5537198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spc="300" dirty="0">
                  <a:solidFill>
                    <a:schemeClr val="bg1"/>
                  </a:solidFill>
                  <a:cs typeface="+mn-ea"/>
                  <a:sym typeface="+mn-lt"/>
                </a:rPr>
                <a:t>Research Background and Current Situation</a:t>
              </a:r>
            </a:p>
          </p:txBody>
        </p:sp>
        <p:cxnSp>
          <p:nvCxnSpPr>
            <p:cNvPr id="4" name="powerpoint template design by DAJU_PPT正版来源小红书大橘PPT微信DAJU_PPT请勿抄袭搬运！盗版必究！-3"/>
            <p:cNvCxnSpPr/>
            <p:nvPr/>
          </p:nvCxnSpPr>
          <p:spPr>
            <a:xfrm>
              <a:off x="3622089" y="3843484"/>
              <a:ext cx="4860000" cy="0"/>
            </a:xfrm>
            <a:prstGeom prst="line">
              <a:avLst/>
            </a:prstGeom>
            <a:ln>
              <a:solidFill>
                <a:schemeClr val="bg1">
                  <a:alpha val="7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480675" y="0"/>
            <a:ext cx="1175385" cy="1295400"/>
          </a:xfrm>
          <a:prstGeom prst="rect">
            <a:avLst/>
          </a:prstGeom>
        </p:spPr>
      </p:pic>
      <p:pic>
        <p:nvPicPr>
          <p:cNvPr id="31" name="图片 30" descr="校徽透明背景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" y="70485"/>
            <a:ext cx="2190750" cy="828675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井井ppt"/>
          <p:cNvCxnSpPr/>
          <p:nvPr/>
        </p:nvCxnSpPr>
        <p:spPr>
          <a:xfrm>
            <a:off x="425752" y="138279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井井ppt"/>
          <p:cNvSpPr txBox="1"/>
          <p:nvPr/>
        </p:nvSpPr>
        <p:spPr>
          <a:xfrm>
            <a:off x="425320" y="962918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 dirty="0">
                <a:solidFill>
                  <a:srgbClr val="7E0C6E"/>
                </a:solidFill>
                <a:latin typeface="+mj-ea"/>
                <a:ea typeface="+mj-ea"/>
                <a:cs typeface="+mn-ea"/>
                <a:sym typeface="+mn-lt"/>
              </a:rPr>
              <a:t>1.1 </a:t>
            </a:r>
            <a:r>
              <a:rPr lang="zh-CN" altLang="en-US" sz="2000" b="1" dirty="0">
                <a:solidFill>
                  <a:srgbClr val="7E0C6E"/>
                </a:solidFill>
                <a:latin typeface="+mj-ea"/>
                <a:ea typeface="+mj-ea"/>
                <a:cs typeface="+mn-ea"/>
                <a:sym typeface="+mn-lt"/>
              </a:rPr>
              <a:t>研究背景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1846" t="20405" r="1846"/>
          <a:stretch>
            <a:fillRect/>
          </a:stretch>
        </p:blipFill>
        <p:spPr>
          <a:xfrm>
            <a:off x="0" y="1"/>
            <a:ext cx="12192000" cy="944689"/>
          </a:xfrm>
          <a:custGeom>
            <a:avLst/>
            <a:gdLst>
              <a:gd name="connsiteX0" fmla="*/ 0 w 12192000"/>
              <a:gd name="connsiteY0" fmla="*/ 0 h 944689"/>
              <a:gd name="connsiteX1" fmla="*/ 12192000 w 12192000"/>
              <a:gd name="connsiteY1" fmla="*/ 0 h 944689"/>
              <a:gd name="connsiteX2" fmla="*/ 12192000 w 12192000"/>
              <a:gd name="connsiteY2" fmla="*/ 944689 h 944689"/>
              <a:gd name="connsiteX3" fmla="*/ 0 w 12192000"/>
              <a:gd name="connsiteY3" fmla="*/ 944689 h 94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44689">
                <a:moveTo>
                  <a:pt x="0" y="0"/>
                </a:moveTo>
                <a:lnTo>
                  <a:pt x="12192000" y="0"/>
                </a:lnTo>
                <a:lnTo>
                  <a:pt x="12192000" y="944689"/>
                </a:lnTo>
                <a:lnTo>
                  <a:pt x="0" y="944689"/>
                </a:lnTo>
                <a:close/>
              </a:path>
            </a:pathLst>
          </a:custGeom>
        </p:spPr>
      </p:pic>
      <p:cxnSp>
        <p:nvCxnSpPr>
          <p:cNvPr id="4" name="直接连接符 3"/>
          <p:cNvCxnSpPr/>
          <p:nvPr/>
        </p:nvCxnSpPr>
        <p:spPr>
          <a:xfrm>
            <a:off x="8445634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020510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68616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4</a:t>
            </a:fld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0" y="0"/>
            <a:ext cx="12192000" cy="792000"/>
            <a:chOff x="0" y="0"/>
            <a:chExt cx="19200" cy="1247"/>
          </a:xfrm>
        </p:grpSpPr>
        <p:sp>
          <p:nvSpPr>
            <p:cNvPr id="3" name="矩形 4"/>
            <p:cNvSpPr/>
            <p:nvPr/>
          </p:nvSpPr>
          <p:spPr>
            <a:xfrm>
              <a:off x="0" y="0"/>
              <a:ext cx="19200" cy="1247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sz="2880" dirty="0">
                <a:cs typeface="+mn-ea"/>
                <a:sym typeface="+mn-lt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4988" y="0"/>
              <a:ext cx="2771" cy="1247"/>
            </a:xfrm>
            <a:prstGeom prst="rect">
              <a:avLst/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sz="24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980" y="293"/>
              <a:ext cx="2787" cy="634"/>
            </a:xfrm>
            <a:prstGeom prst="rect">
              <a:avLst/>
            </a:prstGeom>
            <a:noFill/>
          </p:spPr>
          <p:txBody>
            <a:bodyPr wrap="square" lIns="0" tIns="48000" rIns="0" bIns="48000" rtlCol="0" anchor="ctr" anchorCtr="0">
              <a:spAutoFit/>
            </a:bodyPr>
            <a:lstStyle>
              <a:defPPr>
                <a:defRPr lang="zh-CN"/>
              </a:defPPr>
              <a:lvl1pPr algn="ctr">
                <a:defRPr sz="1600" b="1">
                  <a:solidFill>
                    <a:schemeClr val="bg1"/>
                  </a:solidFill>
                  <a:cs typeface="+mn-ea"/>
                </a:defRPr>
              </a:lvl1pPr>
            </a:lstStyle>
            <a:p>
              <a:r>
                <a:rPr lang="zh-CN" altLang="en-US" sz="2000" dirty="0">
                  <a:sym typeface="+mn-lt"/>
                </a:rPr>
                <a:t>研究背景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51" y="342"/>
              <a:ext cx="2787" cy="537"/>
            </a:xfrm>
            <a:prstGeom prst="rect">
              <a:avLst/>
            </a:prstGeom>
            <a:noFill/>
          </p:spPr>
          <p:txBody>
            <a:bodyPr wrap="square" lIns="0" tIns="48000" rIns="0" bIns="48000" rtlCol="0" anchor="ctr" anchorCtr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研究目标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22" y="342"/>
              <a:ext cx="2787" cy="537"/>
            </a:xfrm>
            <a:prstGeom prst="rect">
              <a:avLst/>
            </a:prstGeom>
            <a:noFill/>
          </p:spPr>
          <p:txBody>
            <a:bodyPr wrap="square" lIns="0" tIns="48000" rIns="0" bIns="48000" rtlCol="0" anchor="ctr" anchorCtr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技术路线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92" y="342"/>
              <a:ext cx="2787" cy="537"/>
            </a:xfrm>
            <a:prstGeom prst="rect">
              <a:avLst/>
            </a:prstGeom>
            <a:noFill/>
          </p:spPr>
          <p:txBody>
            <a:bodyPr wrap="square" lIns="0" tIns="48000" rIns="0" bIns="48000" rtlCol="0" anchor="ctr" anchorCtr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项目创新点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063" y="342"/>
              <a:ext cx="2787" cy="537"/>
            </a:xfrm>
            <a:prstGeom prst="rect">
              <a:avLst/>
            </a:prstGeom>
            <a:noFill/>
          </p:spPr>
          <p:txBody>
            <a:bodyPr wrap="square" lIns="0" tIns="48000" rIns="0" bIns="48000" rtlCol="0" anchor="ctr" anchorCtr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进度安排</a:t>
              </a:r>
            </a:p>
          </p:txBody>
        </p:sp>
      </p:grpSp>
      <p:pic>
        <p:nvPicPr>
          <p:cNvPr id="31" name="图片 30" descr="校徽透明背景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" y="-36830"/>
            <a:ext cx="2190750" cy="828675"/>
          </a:xfrm>
          <a:prstGeom prst="rect">
            <a:avLst/>
          </a:prstGeom>
        </p:spPr>
      </p:pic>
      <p:grpSp>
        <p:nvGrpSpPr>
          <p:cNvPr id="49" name="组合 48"/>
          <p:cNvGrpSpPr/>
          <p:nvPr/>
        </p:nvGrpSpPr>
        <p:grpSpPr>
          <a:xfrm>
            <a:off x="847759" y="1560830"/>
            <a:ext cx="10205733" cy="4710430"/>
            <a:chOff x="881" y="1856"/>
            <a:chExt cx="17361" cy="8090"/>
          </a:xfrm>
        </p:grpSpPr>
        <p:sp>
          <p:nvSpPr>
            <p:cNvPr id="37" name="矩形 36"/>
            <p:cNvSpPr/>
            <p:nvPr/>
          </p:nvSpPr>
          <p:spPr>
            <a:xfrm>
              <a:off x="976" y="2652"/>
              <a:ext cx="8277" cy="3356"/>
            </a:xfrm>
            <a:prstGeom prst="rect">
              <a:avLst/>
            </a:prstGeom>
            <a:gradFill flip="none" rotWithShape="1">
              <a:gsLst>
                <a:gs pos="100000">
                  <a:srgbClr val="FFFFFF"/>
                </a:gs>
                <a:gs pos="0">
                  <a:srgbClr val="FFFFFF">
                    <a:lumMod val="95000"/>
                  </a:srgbClr>
                </a:gs>
              </a:gsLst>
              <a:lin ang="5400000" scaled="1"/>
              <a:tileRect/>
            </a:gradFill>
            <a:ln>
              <a:gradFill>
                <a:gsLst>
                  <a:gs pos="0">
                    <a:srgbClr val="6B1553"/>
                  </a:gs>
                  <a:gs pos="100000">
                    <a:srgbClr val="EFCDEB">
                      <a:alpha val="0"/>
                    </a:srgbClr>
                  </a:gs>
                </a:gsLst>
                <a:lin ang="5400000" scaled="1"/>
              </a:gradFill>
            </a:ln>
            <a:effectLst>
              <a:outerShdw blurRad="381000" dist="38100" dir="16200000" rotWithShape="0">
                <a:srgbClr val="A6B3C6">
                  <a:alpha val="10000"/>
                </a:srgbClr>
              </a:outerShdw>
            </a:effectLst>
          </p:spPr>
          <p:style>
            <a:lnRef idx="2">
              <a:srgbClr val="6B1553">
                <a:shade val="50000"/>
              </a:srgbClr>
            </a:lnRef>
            <a:fillRef idx="1">
              <a:srgbClr val="6B1553"/>
            </a:fillRef>
            <a:effectRef idx="0">
              <a:srgbClr val="6B1553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3195">
                <a:solidFill>
                  <a:srgbClr val="FFFFFF"/>
                </a:solidFill>
                <a:latin typeface="Calibri" panose="020F0502020204030204" pitchFamily="34" charset="0"/>
                <a:ea typeface="等线" panose="02010600030101010101" charset="-122"/>
              </a:endParaRPr>
            </a:p>
          </p:txBody>
        </p:sp>
        <p:sp>
          <p:nvSpPr>
            <p:cNvPr id="33" name="矩形 3"/>
            <p:cNvSpPr/>
            <p:nvPr/>
          </p:nvSpPr>
          <p:spPr>
            <a:xfrm>
              <a:off x="882" y="1942"/>
              <a:ext cx="8370" cy="770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60000">
                  <a:srgbClr val="6B1553"/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2">
              <a:srgbClr val="6B1553">
                <a:shade val="15000"/>
              </a:srgbClr>
            </a:lnRef>
            <a:fillRef idx="1">
              <a:srgbClr val="6B1553"/>
            </a:fillRef>
            <a:effectRef idx="0">
              <a:srgbClr val="6B1553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sz="1795">
                <a:solidFill>
                  <a:srgbClr val="FFFFFF"/>
                </a:solidFill>
                <a:ea typeface="MiSans Medium" panose="00000600000000000000" pitchFamily="2" charset="-122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982" y="6562"/>
              <a:ext cx="8277" cy="3356"/>
            </a:xfrm>
            <a:prstGeom prst="rect">
              <a:avLst/>
            </a:prstGeom>
            <a:gradFill flip="none" rotWithShape="1">
              <a:gsLst>
                <a:gs pos="100000">
                  <a:srgbClr val="FFFFFF"/>
                </a:gs>
                <a:gs pos="0">
                  <a:srgbClr val="FFFFFF">
                    <a:lumMod val="95000"/>
                  </a:srgbClr>
                </a:gs>
              </a:gsLst>
              <a:lin ang="5400000" scaled="1"/>
              <a:tileRect/>
            </a:gradFill>
            <a:ln>
              <a:gradFill>
                <a:gsLst>
                  <a:gs pos="0">
                    <a:srgbClr val="6B1553"/>
                  </a:gs>
                  <a:gs pos="100000">
                    <a:srgbClr val="EFCDEB">
                      <a:alpha val="0"/>
                    </a:srgbClr>
                  </a:gs>
                </a:gsLst>
                <a:lin ang="5400000" scaled="1"/>
              </a:gradFill>
            </a:ln>
            <a:effectLst>
              <a:outerShdw blurRad="381000" dist="38100" dir="16200000" rotWithShape="0">
                <a:srgbClr val="A6B3C6">
                  <a:alpha val="10000"/>
                </a:srgbClr>
              </a:outerShdw>
            </a:effectLst>
          </p:spPr>
          <p:style>
            <a:lnRef idx="2">
              <a:srgbClr val="6B1553">
                <a:shade val="50000"/>
              </a:srgbClr>
            </a:lnRef>
            <a:fillRef idx="1">
              <a:srgbClr val="6B1553"/>
            </a:fillRef>
            <a:effectRef idx="0">
              <a:srgbClr val="6B1553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3195">
                <a:solidFill>
                  <a:srgbClr val="FFFFFF"/>
                </a:solidFill>
                <a:latin typeface="Calibri" panose="020F0502020204030204" pitchFamily="34" charset="0"/>
                <a:ea typeface="等线" panose="02010600030101010101" charset="-122"/>
              </a:endParaRPr>
            </a:p>
          </p:txBody>
        </p:sp>
        <p:sp>
          <p:nvSpPr>
            <p:cNvPr id="38" name="矩形 3"/>
            <p:cNvSpPr/>
            <p:nvPr/>
          </p:nvSpPr>
          <p:spPr>
            <a:xfrm>
              <a:off x="881" y="5852"/>
              <a:ext cx="8370" cy="770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60000">
                  <a:srgbClr val="6B1553"/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2">
              <a:srgbClr val="6B1553">
                <a:shade val="15000"/>
              </a:srgbClr>
            </a:lnRef>
            <a:fillRef idx="1">
              <a:srgbClr val="6B1553"/>
            </a:fillRef>
            <a:effectRef idx="0">
              <a:srgbClr val="6B1553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sz="1795">
                <a:solidFill>
                  <a:srgbClr val="FFFFFF"/>
                </a:solidFill>
                <a:ea typeface="MiSans Medium" panose="00000600000000000000" pitchFamily="2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364" y="2740"/>
              <a:ext cx="7462" cy="2807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l">
                <a:lnSpc>
                  <a:spcPct val="150000"/>
                </a:lnSpc>
                <a:spcAft>
                  <a:spcPts val="600"/>
                </a:spcAft>
              </a:pPr>
              <a:r>
                <a:rPr lang="zh-CN" altLang="en-US" sz="1400"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面向</a:t>
              </a:r>
              <a:r>
                <a:rPr lang="en-US" altLang="zh-CN" sz="1400"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“</a:t>
              </a:r>
              <a:r>
                <a:rPr lang="zh-CN" altLang="en-US" sz="1400"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十五五</a:t>
              </a:r>
              <a:r>
                <a:rPr lang="en-US" altLang="zh-CN" sz="1400"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”</a:t>
              </a:r>
              <a:r>
                <a:rPr lang="zh-CN" altLang="en-US" sz="1400"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时期健康中国建设要求，居民健康管理正从</a:t>
              </a:r>
              <a:r>
                <a:rPr lang="en-US" altLang="zh-CN" sz="1400"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“</a:t>
              </a:r>
              <a:r>
                <a:rPr lang="zh-CN" altLang="en-US" sz="1400"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被动就医</a:t>
              </a:r>
              <a:r>
                <a:rPr lang="en-US" altLang="zh-CN" sz="1400"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”</a:t>
              </a:r>
              <a:r>
                <a:rPr lang="zh-CN" altLang="en-US" sz="1400"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走向</a:t>
              </a:r>
              <a:r>
                <a:rPr lang="en-US" altLang="zh-CN" sz="1400"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“</a:t>
              </a:r>
              <a:r>
                <a:rPr lang="zh-CN" altLang="en-US" sz="1400" b="1">
                  <a:solidFill>
                    <a:srgbClr val="6B1554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主动预防、持续监测、数智干预</a:t>
              </a:r>
              <a:r>
                <a:rPr lang="en-US" altLang="zh-CN" sz="1400"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”</a:t>
              </a:r>
              <a:r>
                <a:rPr lang="zh-CN" altLang="en-US" sz="1400"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。针对当前饮食管理中记录负担重、依从性差、难以长期坚持等问题，有必要探索基于人工智能技术的连续化、便捷化健康管理方案。</a:t>
              </a:r>
            </a:p>
            <a:p>
              <a:pPr algn="l">
                <a:lnSpc>
                  <a:spcPct val="150000"/>
                </a:lnSpc>
                <a:spcAft>
                  <a:spcPts val="600"/>
                </a:spcAft>
              </a:pPr>
              <a:endParaRPr lang="zh-CN" altLang="en-US" sz="140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l">
                <a:lnSpc>
                  <a:spcPct val="150000"/>
                </a:lnSpc>
                <a:spcAft>
                  <a:spcPts val="600"/>
                </a:spcAft>
              </a:pPr>
              <a:endParaRPr lang="zh-CN" altLang="en-US" sz="140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l">
                <a:lnSpc>
                  <a:spcPct val="150000"/>
                </a:lnSpc>
                <a:spcAft>
                  <a:spcPts val="600"/>
                </a:spcAft>
              </a:pPr>
              <a:endParaRPr lang="zh-CN" altLang="en-US" sz="140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l">
                <a:lnSpc>
                  <a:spcPct val="150000"/>
                </a:lnSpc>
                <a:spcAft>
                  <a:spcPts val="600"/>
                </a:spcAft>
              </a:pPr>
              <a:endParaRPr lang="zh-CN" altLang="en-US" sz="140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l">
                <a:lnSpc>
                  <a:spcPct val="150000"/>
                </a:lnSpc>
                <a:spcAft>
                  <a:spcPts val="600"/>
                </a:spcAft>
              </a:pPr>
              <a:endParaRPr lang="zh-CN" altLang="en-US" sz="140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l">
                <a:lnSpc>
                  <a:spcPct val="150000"/>
                </a:lnSpc>
                <a:spcAft>
                  <a:spcPts val="600"/>
                </a:spcAft>
              </a:pPr>
              <a:endParaRPr lang="zh-CN" altLang="en-US" sz="140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l">
                <a:lnSpc>
                  <a:spcPct val="150000"/>
                </a:lnSpc>
                <a:spcAft>
                  <a:spcPts val="600"/>
                </a:spcAft>
              </a:pPr>
              <a:endParaRPr lang="zh-CN" altLang="en-US" sz="140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l">
                <a:lnSpc>
                  <a:spcPct val="150000"/>
                </a:lnSpc>
                <a:spcAft>
                  <a:spcPts val="600"/>
                </a:spcAft>
              </a:pPr>
              <a:endParaRPr lang="zh-CN" altLang="en-US" sz="1400" i="0"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224" y="6775"/>
              <a:ext cx="7747" cy="23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  <a:spcAft>
                  <a:spcPts val="600"/>
                </a:spcAft>
              </a:pPr>
              <a:r>
                <a:rPr lang="en-US" altLang="zh-CN" sz="1400" i="0">
                  <a:effectLst/>
                  <a:latin typeface="微软雅黑" panose="020B0503020204020204" charset="-122"/>
                  <a:ea typeface="微软雅黑" panose="020B0503020204020204" charset="-122"/>
                </a:rPr>
                <a:t>AI</a:t>
              </a:r>
              <a:r>
                <a:rPr lang="zh-CN" altLang="en-US" sz="1400" i="0">
                  <a:effectLst/>
                  <a:latin typeface="微软雅黑" panose="020B0503020204020204" charset="-122"/>
                  <a:ea typeface="微软雅黑" panose="020B0503020204020204" charset="-122"/>
                </a:rPr>
                <a:t>眼镜作为新一代智能终端，具备</a:t>
              </a:r>
              <a:r>
                <a:rPr lang="zh-CN" altLang="en-US" sz="1400" b="1" i="0">
                  <a:solidFill>
                    <a:srgbClr val="6B1554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实时采集反馈</a:t>
              </a:r>
              <a:r>
                <a:rPr lang="zh-CN" altLang="en-US" sz="1400" i="0">
                  <a:effectLst/>
                  <a:latin typeface="微软雅黑" panose="020B0503020204020204" charset="-122"/>
                  <a:ea typeface="微软雅黑" panose="020B0503020204020204" charset="-122"/>
                </a:rPr>
                <a:t>等优势。将其应用于健康管理领域，有助于提升饮食记录的连续性、客观性与智能化水平，为居民健康干预、个性化营养分析及智慧健康服务提供新的技术路径。</a:t>
              </a:r>
            </a:p>
          </p:txBody>
        </p:sp>
        <p:sp>
          <p:nvSpPr>
            <p:cNvPr id="46" name="矩形 45"/>
            <p:cNvSpPr/>
            <p:nvPr/>
          </p:nvSpPr>
          <p:spPr>
            <a:xfrm>
              <a:off x="10634" y="1856"/>
              <a:ext cx="7608" cy="8090"/>
            </a:xfrm>
            <a:prstGeom prst="rect">
              <a:avLst/>
            </a:prstGeom>
            <a:gradFill flip="none" rotWithShape="1">
              <a:gsLst>
                <a:gs pos="100000">
                  <a:srgbClr val="FFFFFF"/>
                </a:gs>
                <a:gs pos="0">
                  <a:srgbClr val="FFFFFF">
                    <a:lumMod val="95000"/>
                  </a:srgbClr>
                </a:gs>
              </a:gsLst>
              <a:lin ang="5400000" scaled="1"/>
              <a:tileRect/>
            </a:gradFill>
            <a:ln>
              <a:gradFill>
                <a:gsLst>
                  <a:gs pos="0">
                    <a:srgbClr val="6B1553"/>
                  </a:gs>
                  <a:gs pos="100000">
                    <a:srgbClr val="EFCDEB">
                      <a:alpha val="0"/>
                    </a:srgbClr>
                  </a:gs>
                </a:gsLst>
                <a:lin ang="5400000" scaled="1"/>
              </a:gradFill>
            </a:ln>
            <a:effectLst>
              <a:outerShdw blurRad="381000" dist="38100" dir="16200000" rotWithShape="0">
                <a:srgbClr val="A6B3C6">
                  <a:alpha val="10000"/>
                </a:srgbClr>
              </a:outerShdw>
            </a:effectLst>
          </p:spPr>
          <p:style>
            <a:lnRef idx="2">
              <a:srgbClr val="6B1553">
                <a:shade val="50000"/>
              </a:srgbClr>
            </a:lnRef>
            <a:fillRef idx="1">
              <a:srgbClr val="6B1553"/>
            </a:fillRef>
            <a:effectRef idx="0">
              <a:srgbClr val="6B1553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3195">
                <a:solidFill>
                  <a:srgbClr val="FFFFFF"/>
                </a:solidFill>
                <a:latin typeface="Calibri" panose="020F0502020204030204" pitchFamily="34" charset="0"/>
                <a:ea typeface="等线" panose="02010600030101010101" charset="-122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203" y="5928"/>
              <a:ext cx="6363" cy="5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zh-CN" altLang="en-US" sz="16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二、研究意义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053" y="2054"/>
              <a:ext cx="8317" cy="5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zh-CN" altLang="en-US" sz="16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一、</a:t>
              </a:r>
              <a:r>
                <a:rPr lang="zh-CN" altLang="en-US" sz="16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应用需求</a:t>
              </a:r>
              <a:endPara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rcRect l="1512" r="1412" b="8373"/>
          <a:stretch>
            <a:fillRect/>
          </a:stretch>
        </p:blipFill>
        <p:spPr>
          <a:xfrm>
            <a:off x="6456680" y="1560830"/>
            <a:ext cx="4597400" cy="22244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6680" y="3785235"/>
            <a:ext cx="4598035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井井ppt"/>
          <p:cNvCxnSpPr/>
          <p:nvPr/>
        </p:nvCxnSpPr>
        <p:spPr>
          <a:xfrm>
            <a:off x="425752" y="141327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井井ppt"/>
          <p:cNvSpPr txBox="1"/>
          <p:nvPr/>
        </p:nvSpPr>
        <p:spPr>
          <a:xfrm>
            <a:off x="425320" y="947678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 dirty="0">
                <a:solidFill>
                  <a:srgbClr val="7E0C6E"/>
                </a:solidFill>
                <a:latin typeface="+mj-ea"/>
                <a:ea typeface="+mj-ea"/>
                <a:cs typeface="+mn-ea"/>
                <a:sym typeface="+mn-lt"/>
              </a:rPr>
              <a:t>1.2 </a:t>
            </a:r>
            <a:r>
              <a:rPr lang="zh-CN" altLang="en-US" sz="2000" b="1" dirty="0">
                <a:solidFill>
                  <a:srgbClr val="7E0C6E"/>
                </a:solidFill>
                <a:latin typeface="+mj-ea"/>
                <a:ea typeface="+mj-ea"/>
                <a:cs typeface="+mn-ea"/>
                <a:sym typeface="+mn-lt"/>
              </a:rPr>
              <a:t>研究现状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rcRect l="1846" t="20405" r="1846"/>
          <a:stretch>
            <a:fillRect/>
          </a:stretch>
        </p:blipFill>
        <p:spPr>
          <a:xfrm>
            <a:off x="0" y="1"/>
            <a:ext cx="12192000" cy="944689"/>
          </a:xfrm>
          <a:custGeom>
            <a:avLst/>
            <a:gdLst>
              <a:gd name="connsiteX0" fmla="*/ 0 w 12192000"/>
              <a:gd name="connsiteY0" fmla="*/ 0 h 944689"/>
              <a:gd name="connsiteX1" fmla="*/ 12192000 w 12192000"/>
              <a:gd name="connsiteY1" fmla="*/ 0 h 944689"/>
              <a:gd name="connsiteX2" fmla="*/ 12192000 w 12192000"/>
              <a:gd name="connsiteY2" fmla="*/ 944689 h 944689"/>
              <a:gd name="connsiteX3" fmla="*/ 0 w 12192000"/>
              <a:gd name="connsiteY3" fmla="*/ 944689 h 94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44689">
                <a:moveTo>
                  <a:pt x="0" y="0"/>
                </a:moveTo>
                <a:lnTo>
                  <a:pt x="12192000" y="0"/>
                </a:lnTo>
                <a:lnTo>
                  <a:pt x="12192000" y="944689"/>
                </a:lnTo>
                <a:lnTo>
                  <a:pt x="0" y="944689"/>
                </a:lnTo>
                <a:close/>
              </a:path>
            </a:pathLst>
          </a:custGeom>
        </p:spPr>
      </p:pic>
      <p:cxnSp>
        <p:nvCxnSpPr>
          <p:cNvPr id="4" name="直接连接符 3"/>
          <p:cNvCxnSpPr/>
          <p:nvPr/>
        </p:nvCxnSpPr>
        <p:spPr>
          <a:xfrm>
            <a:off x="8445634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020510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68616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5</a:t>
            </a:fld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0" y="0"/>
            <a:ext cx="12192000" cy="792000"/>
            <a:chOff x="0" y="0"/>
            <a:chExt cx="19200" cy="1247"/>
          </a:xfrm>
        </p:grpSpPr>
        <p:sp>
          <p:nvSpPr>
            <p:cNvPr id="3" name="矩形 4"/>
            <p:cNvSpPr/>
            <p:nvPr/>
          </p:nvSpPr>
          <p:spPr>
            <a:xfrm>
              <a:off x="0" y="0"/>
              <a:ext cx="19200" cy="1247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sz="2880" dirty="0">
                <a:cs typeface="+mn-ea"/>
                <a:sym typeface="+mn-lt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4988" y="0"/>
              <a:ext cx="2771" cy="1247"/>
            </a:xfrm>
            <a:prstGeom prst="rect">
              <a:avLst/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sz="24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980" y="293"/>
              <a:ext cx="2787" cy="634"/>
            </a:xfrm>
            <a:prstGeom prst="rect">
              <a:avLst/>
            </a:prstGeom>
            <a:noFill/>
          </p:spPr>
          <p:txBody>
            <a:bodyPr wrap="square" lIns="0" tIns="48000" rIns="0" bIns="48000" rtlCol="0" anchor="ctr" anchorCtr="0">
              <a:spAutoFit/>
            </a:bodyPr>
            <a:lstStyle>
              <a:defPPr>
                <a:defRPr lang="zh-CN"/>
              </a:defPPr>
              <a:lvl1pPr algn="ctr">
                <a:defRPr sz="1600" b="1">
                  <a:solidFill>
                    <a:schemeClr val="bg1"/>
                  </a:solidFill>
                  <a:cs typeface="+mn-ea"/>
                </a:defRPr>
              </a:lvl1pPr>
            </a:lstStyle>
            <a:p>
              <a:r>
                <a:rPr lang="zh-CN" altLang="en-US" sz="2000" dirty="0">
                  <a:sym typeface="+mn-lt"/>
                </a:rPr>
                <a:t>研究背景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51" y="342"/>
              <a:ext cx="2787" cy="537"/>
            </a:xfrm>
            <a:prstGeom prst="rect">
              <a:avLst/>
            </a:prstGeom>
            <a:noFill/>
          </p:spPr>
          <p:txBody>
            <a:bodyPr wrap="square" lIns="0" tIns="48000" rIns="0" bIns="48000" rtlCol="0" anchor="ctr" anchorCtr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研究目标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22" y="342"/>
              <a:ext cx="2787" cy="537"/>
            </a:xfrm>
            <a:prstGeom prst="rect">
              <a:avLst/>
            </a:prstGeom>
            <a:noFill/>
          </p:spPr>
          <p:txBody>
            <a:bodyPr wrap="square" lIns="0" tIns="48000" rIns="0" bIns="48000" rtlCol="0" anchor="ctr" anchorCtr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技术路线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92" y="342"/>
              <a:ext cx="2787" cy="537"/>
            </a:xfrm>
            <a:prstGeom prst="rect">
              <a:avLst/>
            </a:prstGeom>
            <a:noFill/>
          </p:spPr>
          <p:txBody>
            <a:bodyPr wrap="square" lIns="0" tIns="48000" rIns="0" bIns="48000" rtlCol="0" anchor="ctr" anchorCtr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项目创新点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063" y="342"/>
              <a:ext cx="2787" cy="537"/>
            </a:xfrm>
            <a:prstGeom prst="rect">
              <a:avLst/>
            </a:prstGeom>
            <a:noFill/>
          </p:spPr>
          <p:txBody>
            <a:bodyPr wrap="square" lIns="0" tIns="48000" rIns="0" bIns="48000" rtlCol="0" anchor="ctr" anchorCtr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进度安排</a:t>
              </a:r>
            </a:p>
          </p:txBody>
        </p:sp>
      </p:grpSp>
      <p:pic>
        <p:nvPicPr>
          <p:cNvPr id="31" name="图片 30" descr="校徽透明背景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10" y="-36830"/>
            <a:ext cx="2190750" cy="828675"/>
          </a:xfrm>
          <a:prstGeom prst="rect">
            <a:avLst/>
          </a:prstGeom>
        </p:spPr>
      </p:pic>
      <p:sp>
        <p:nvSpPr>
          <p:cNvPr id="49" name="1234"/>
          <p:cNvSpPr/>
          <p:nvPr/>
        </p:nvSpPr>
        <p:spPr>
          <a:xfrm>
            <a:off x="6214321" y="-404055"/>
            <a:ext cx="5928466" cy="6072767"/>
          </a:xfrm>
          <a:prstGeom prst="parallelogram">
            <a:avLst>
              <a:gd name="adj" fmla="val 20823"/>
            </a:avLst>
          </a:prstGeom>
          <a:gradFill>
            <a:gsLst>
              <a:gs pos="100000">
                <a:srgbClr val="6B1553">
                  <a:alpha val="32000"/>
                </a:srgbClr>
              </a:gs>
              <a:gs pos="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rgbClr val="6B1553">
              <a:shade val="50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等线" panose="02010600030101010101" charset="-122"/>
              <a:sym typeface="Calibri" panose="020F0502020204030204" pitchFamily="34" charset="0"/>
            </a:endParaRPr>
          </a:p>
        </p:txBody>
      </p:sp>
      <p:sp>
        <p:nvSpPr>
          <p:cNvPr id="50" name="12312"/>
          <p:cNvSpPr/>
          <p:nvPr/>
        </p:nvSpPr>
        <p:spPr>
          <a:xfrm>
            <a:off x="7062262" y="5804422"/>
            <a:ext cx="308594" cy="515952"/>
          </a:xfrm>
          <a:prstGeom prst="parallelogram">
            <a:avLst>
              <a:gd name="adj" fmla="val 33461"/>
            </a:avLst>
          </a:prstGeom>
          <a:gradFill>
            <a:gsLst>
              <a:gs pos="0">
                <a:srgbClr val="6B1553">
                  <a:alpha val="0"/>
                </a:srgbClr>
              </a:gs>
              <a:gs pos="100000">
                <a:srgbClr val="6B1553">
                  <a:alpha val="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rgbClr val="6B1553">
              <a:shade val="50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等线" panose="02010600030101010101" charset="-122"/>
              <a:sym typeface="Calibri" panose="020F0502020204030204" pitchFamily="34" charset="0"/>
            </a:endParaRPr>
          </a:p>
        </p:txBody>
      </p:sp>
      <p:sp>
        <p:nvSpPr>
          <p:cNvPr id="51" name="1235"/>
          <p:cNvSpPr/>
          <p:nvPr/>
        </p:nvSpPr>
        <p:spPr>
          <a:xfrm flipH="1" flipV="1">
            <a:off x="34707" y="2010678"/>
            <a:ext cx="5928466" cy="6072767"/>
          </a:xfrm>
          <a:prstGeom prst="parallelogram">
            <a:avLst>
              <a:gd name="adj" fmla="val 20823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6B1553">
                  <a:alpha val="2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rgbClr val="6B1553">
              <a:shade val="50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等线" panose="02010600030101010101" charset="-122"/>
              <a:sym typeface="Calibri" panose="020F0502020204030204" pitchFamily="34" charset="0"/>
            </a:endParaRPr>
          </a:p>
        </p:txBody>
      </p:sp>
      <p:sp>
        <p:nvSpPr>
          <p:cNvPr id="52" name="12313"/>
          <p:cNvSpPr/>
          <p:nvPr/>
        </p:nvSpPr>
        <p:spPr>
          <a:xfrm flipH="1" flipV="1">
            <a:off x="-182867" y="1808479"/>
            <a:ext cx="5928466" cy="6072767"/>
          </a:xfrm>
          <a:prstGeom prst="parallelogram">
            <a:avLst>
              <a:gd name="adj" fmla="val 20823"/>
            </a:avLst>
          </a:prstGeom>
          <a:noFill/>
          <a:ln w="19050"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6B1553"/>
                </a:gs>
              </a:gsLst>
              <a:lin ang="5400000" scaled="1"/>
            </a:gradFill>
          </a:ln>
        </p:spPr>
        <p:style>
          <a:lnRef idx="2">
            <a:srgbClr val="6B1553">
              <a:shade val="50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等线" panose="02010600030101010101" charset="-122"/>
              <a:sym typeface="Calibri" panose="020F0502020204030204" pitchFamily="34" charset="0"/>
            </a:endParaRPr>
          </a:p>
        </p:txBody>
      </p:sp>
      <p:sp>
        <p:nvSpPr>
          <p:cNvPr id="53" name="12314"/>
          <p:cNvSpPr/>
          <p:nvPr/>
        </p:nvSpPr>
        <p:spPr>
          <a:xfrm>
            <a:off x="6415934" y="-269832"/>
            <a:ext cx="5928466" cy="6072767"/>
          </a:xfrm>
          <a:prstGeom prst="parallelogram">
            <a:avLst>
              <a:gd name="adj" fmla="val 20823"/>
            </a:avLst>
          </a:prstGeom>
          <a:noFill/>
          <a:ln w="19050">
            <a:gradFill>
              <a:gsLst>
                <a:gs pos="21000">
                  <a:srgbClr val="FFFFFF">
                    <a:alpha val="0"/>
                  </a:srgbClr>
                </a:gs>
                <a:gs pos="100000">
                  <a:srgbClr val="6B1553"/>
                </a:gs>
              </a:gsLst>
              <a:lin ang="5400000" scaled="1"/>
            </a:gradFill>
          </a:ln>
        </p:spPr>
        <p:style>
          <a:lnRef idx="2">
            <a:srgbClr val="6B1553">
              <a:shade val="50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等线" panose="02010600030101010101" charset="-122"/>
              <a:sym typeface="Calibri" panose="020F0502020204030204" pitchFamily="34" charset="0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5107305" y="2889250"/>
            <a:ext cx="1955165" cy="1899285"/>
            <a:chOff x="5268277" y="2907792"/>
            <a:chExt cx="1688271" cy="1899465"/>
          </a:xfrm>
        </p:grpSpPr>
        <p:sp>
          <p:nvSpPr>
            <p:cNvPr id="55" name="椭圆 54"/>
            <p:cNvSpPr/>
            <p:nvPr>
              <p:custDataLst>
                <p:tags r:id="rId1"/>
              </p:custDataLst>
            </p:nvPr>
          </p:nvSpPr>
          <p:spPr>
            <a:xfrm>
              <a:off x="5268277" y="2907792"/>
              <a:ext cx="1688271" cy="1899465"/>
            </a:xfrm>
            <a:prstGeom prst="ellipse">
              <a:avLst/>
            </a:prstGeom>
            <a:gradFill>
              <a:gsLst>
                <a:gs pos="100000">
                  <a:srgbClr val="6B1553"/>
                </a:gs>
                <a:gs pos="0">
                  <a:srgbClr val="003F88">
                    <a:alpha val="73000"/>
                  </a:srgb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rgbClr val="6B1553">
                <a:shade val="15000"/>
              </a:srgbClr>
            </a:lnRef>
            <a:fillRef idx="1">
              <a:srgbClr val="6B1553"/>
            </a:fillRef>
            <a:effectRef idx="0">
              <a:srgbClr val="6B1553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5398554" y="3277156"/>
              <a:ext cx="1364809" cy="1159620"/>
            </a:xfrm>
            <a:prstGeom prst="rect">
              <a:avLst/>
            </a:prstGeom>
            <a:noFill/>
            <a:effectLst/>
          </p:spPr>
          <p:txBody>
            <a:bodyPr wrap="square" lIns="52231" tIns="26115" rIns="52231" bIns="26115" rtlCol="0">
              <a:spAutoFit/>
            </a:bodyPr>
            <a:lstStyle/>
            <a:p>
              <a:pPr algn="ctr"/>
              <a:r>
                <a:rPr lang="en-US" altLang="zh-CN" sz="7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VS</a:t>
              </a:r>
              <a:endParaRPr lang="zh-CN" altLang="en-US" sz="7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7" name="平行四边形 56"/>
          <p:cNvSpPr/>
          <p:nvPr/>
        </p:nvSpPr>
        <p:spPr>
          <a:xfrm>
            <a:off x="1931035" y="1532890"/>
            <a:ext cx="2985770" cy="601980"/>
          </a:xfrm>
          <a:prstGeom prst="parallelogram">
            <a:avLst/>
          </a:prstGeom>
          <a:ln>
            <a:noFill/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pitchFamily="34" charset="0"/>
              <a:ea typeface="等线" panose="02010600030101010101" charset="-122"/>
            </a:endParaRPr>
          </a:p>
        </p:txBody>
      </p:sp>
      <p:sp>
        <p:nvSpPr>
          <p:cNvPr id="58" name="平行四边形 57"/>
          <p:cNvSpPr/>
          <p:nvPr/>
        </p:nvSpPr>
        <p:spPr>
          <a:xfrm>
            <a:off x="7158142" y="5430966"/>
            <a:ext cx="2985728" cy="634655"/>
          </a:xfrm>
          <a:prstGeom prst="parallelogram">
            <a:avLst/>
          </a:prstGeom>
          <a:ln>
            <a:noFill/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pitchFamily="34" charset="0"/>
              <a:ea typeface="等线" panose="02010600030101010101" charset="-122"/>
            </a:endParaRPr>
          </a:p>
        </p:txBody>
      </p:sp>
      <p:sp>
        <p:nvSpPr>
          <p:cNvPr id="59" name="12323"/>
          <p:cNvSpPr/>
          <p:nvPr/>
        </p:nvSpPr>
        <p:spPr>
          <a:xfrm>
            <a:off x="2494280" y="1663065"/>
            <a:ext cx="1847215" cy="368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Calibri" panose="020F0502020204030204" pitchFamily="34" charset="0"/>
              </a:rPr>
              <a:t>现有应用</a:t>
            </a:r>
          </a:p>
        </p:txBody>
      </p:sp>
      <p:sp>
        <p:nvSpPr>
          <p:cNvPr id="60" name="12325"/>
          <p:cNvSpPr/>
          <p:nvPr/>
        </p:nvSpPr>
        <p:spPr>
          <a:xfrm>
            <a:off x="7798117" y="5580434"/>
            <a:ext cx="1677263" cy="368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dist">
              <a:defRPr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技术现状</a:t>
            </a:r>
          </a:p>
        </p:txBody>
      </p:sp>
      <p:cxnSp>
        <p:nvCxnSpPr>
          <p:cNvPr id="61" name="直接连接符 60"/>
          <p:cNvCxnSpPr/>
          <p:nvPr/>
        </p:nvCxnSpPr>
        <p:spPr>
          <a:xfrm>
            <a:off x="792418" y="5802935"/>
            <a:ext cx="3716612" cy="0"/>
          </a:xfrm>
          <a:prstGeom prst="line">
            <a:avLst/>
          </a:prstGeom>
        </p:spPr>
        <p:style>
          <a:lnRef idx="1">
            <a:srgbClr val="6B1553"/>
          </a:lnRef>
          <a:fillRef idx="0">
            <a:srgbClr val="6B1553"/>
          </a:fillRef>
          <a:effectRef idx="0">
            <a:srgbClr val="6B1553"/>
          </a:effectRef>
          <a:fontRef idx="minor">
            <a:srgbClr val="000000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7617074" y="1757976"/>
            <a:ext cx="3716612" cy="0"/>
          </a:xfrm>
          <a:prstGeom prst="line">
            <a:avLst/>
          </a:prstGeom>
        </p:spPr>
        <p:style>
          <a:lnRef idx="1">
            <a:srgbClr val="6B1553"/>
          </a:lnRef>
          <a:fillRef idx="0">
            <a:srgbClr val="6B1553"/>
          </a:fillRef>
          <a:effectRef idx="0">
            <a:srgbClr val="6B1553"/>
          </a:effectRef>
          <a:fontRef idx="minor">
            <a:srgbClr val="000000"/>
          </a:fontRef>
        </p:style>
      </p:cxnSp>
      <p:sp>
        <p:nvSpPr>
          <p:cNvPr id="63" name="文本框 62"/>
          <p:cNvSpPr txBox="1"/>
          <p:nvPr/>
        </p:nvSpPr>
        <p:spPr>
          <a:xfrm>
            <a:off x="7221855" y="2254885"/>
            <a:ext cx="4206875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1400" b="1">
                <a:solidFill>
                  <a:srgbClr val="6B1554"/>
                </a:solidFill>
                <a:latin typeface="+mn-ea"/>
                <a:cs typeface="+mn-ea"/>
                <a:sym typeface="+mn-ea"/>
              </a:rPr>
              <a:t>Nutrition5k </a:t>
            </a:r>
            <a:r>
              <a:rPr lang="zh-CN" altLang="en-US" sz="140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数据集为复杂菜品热量、宏量营养素预测提供支撑。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400" b="1">
                <a:solidFill>
                  <a:srgbClr val="6B1554"/>
                </a:solidFill>
                <a:latin typeface="+mn-ea"/>
                <a:ea typeface="微软雅黑" panose="020B0503020204020204" charset="-122"/>
                <a:cs typeface="+mn-ea"/>
                <a:sym typeface="+mn-ea"/>
              </a:rPr>
              <a:t>单目份量估计、</a:t>
            </a:r>
            <a:r>
              <a:rPr lang="en-US" altLang="zh-CN" sz="1400" b="1">
                <a:solidFill>
                  <a:srgbClr val="6B1554"/>
                </a:solidFill>
                <a:latin typeface="+mn-ea"/>
                <a:ea typeface="微软雅黑" panose="020B0503020204020204" charset="-122"/>
                <a:cs typeface="+mn-ea"/>
                <a:sym typeface="+mn-ea"/>
              </a:rPr>
              <a:t>EgoDiet </a:t>
            </a:r>
            <a:r>
              <a:rPr lang="zh-CN" altLang="en-US" sz="1400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  <a:sym typeface="+mn-ea"/>
              </a:rPr>
              <a:t>等第一视角研究，为可穿戴饮食感知奠定基础。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7435800" y="1808755"/>
            <a:ext cx="4048096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关键技术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949325" y="4540250"/>
            <a:ext cx="415226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1400">
                <a:latin typeface="+mn-ea"/>
                <a:cs typeface="+mn-ea"/>
                <a:sym typeface="+mn-lt"/>
              </a:rPr>
              <a:t>代表性的有国外的MyFitnessPal、国内的薄荷健康</a:t>
            </a:r>
          </a:p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400">
                <a:latin typeface="+mn-ea"/>
                <a:cs typeface="+mn-ea"/>
                <a:sym typeface="+mn-ea"/>
              </a:rPr>
              <a:t>以“手机App + 手动拍摄”为主</a:t>
            </a:r>
            <a:endParaRPr lang="zh-CN" altLang="en-US" sz="1400">
              <a:latin typeface="+mn-ea"/>
              <a:cs typeface="+mn-ea"/>
            </a:endParaRPr>
          </a:p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400" b="1">
                <a:solidFill>
                  <a:srgbClr val="6B1554"/>
                </a:solidFill>
                <a:latin typeface="+mn-ea"/>
                <a:cs typeface="+mn-ea"/>
                <a:sym typeface="+mn-ea"/>
              </a:rPr>
              <a:t>无法实时自动感知、记录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969645" y="4110355"/>
            <a:ext cx="205930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sym typeface="+mn-lt"/>
              </a:rPr>
              <a:t>健康应用APP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7" name="直接连接符 66"/>
          <p:cNvCxnSpPr/>
          <p:nvPr/>
        </p:nvCxnSpPr>
        <p:spPr>
          <a:xfrm>
            <a:off x="1197491" y="3985933"/>
            <a:ext cx="3311539" cy="0"/>
          </a:xfrm>
          <a:prstGeom prst="line">
            <a:avLst/>
          </a:prstGeom>
          <a:ln>
            <a:solidFill>
              <a:srgbClr val="FFFFFF">
                <a:lumMod val="75000"/>
              </a:srgbClr>
            </a:solidFill>
          </a:ln>
        </p:spPr>
        <p:style>
          <a:lnRef idx="1">
            <a:srgbClr val="6B1553"/>
          </a:lnRef>
          <a:fillRef idx="0">
            <a:srgbClr val="6B1553"/>
          </a:fillRef>
          <a:effectRef idx="0">
            <a:srgbClr val="6B1553"/>
          </a:effectRef>
          <a:fontRef idx="minor">
            <a:srgbClr val="000000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7393479" y="3619242"/>
            <a:ext cx="3311539" cy="0"/>
          </a:xfrm>
          <a:prstGeom prst="line">
            <a:avLst/>
          </a:prstGeom>
          <a:ln>
            <a:solidFill>
              <a:srgbClr val="FFFFFF">
                <a:lumMod val="75000"/>
              </a:srgbClr>
            </a:solidFill>
          </a:ln>
        </p:spPr>
        <p:style>
          <a:lnRef idx="1">
            <a:srgbClr val="6B1553"/>
          </a:lnRef>
          <a:fillRef idx="0">
            <a:srgbClr val="6B1553"/>
          </a:fillRef>
          <a:effectRef idx="0">
            <a:srgbClr val="6B1553"/>
          </a:effectRef>
          <a:fontRef idx="minor">
            <a:srgbClr val="000000"/>
          </a:fontRef>
        </p:style>
      </p:cxnSp>
      <p:sp>
        <p:nvSpPr>
          <p:cNvPr id="30" name="文本框 29"/>
          <p:cNvSpPr txBox="1"/>
          <p:nvPr/>
        </p:nvSpPr>
        <p:spPr>
          <a:xfrm>
            <a:off x="1197610" y="2730500"/>
            <a:ext cx="420687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400">
                <a:latin typeface="+mn-ea"/>
                <a:cs typeface="+mn-ea"/>
                <a:sym typeface="+mn-lt"/>
              </a:rPr>
              <a:t>如Meta Ray-Ban、雷鸟、小米、夸克等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400">
                <a:latin typeface="+mn-ea"/>
                <a:cs typeface="+mn-ea"/>
                <a:sym typeface="+mn-ea"/>
              </a:rPr>
              <a:t>以拍摄、语音、翻译、导航等通用功能为主</a:t>
            </a:r>
            <a:endParaRPr lang="zh-CN" altLang="en-US" sz="1400">
              <a:latin typeface="+mn-ea"/>
              <a:cs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400" b="1">
                <a:solidFill>
                  <a:srgbClr val="6B1554"/>
                </a:solidFill>
                <a:latin typeface="+mn-ea"/>
                <a:cs typeface="+mn-ea"/>
                <a:sym typeface="+mn-ea"/>
              </a:rPr>
              <a:t>缺少面向食品健康管理的专用闭环产品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453465" y="2255160"/>
            <a:ext cx="4048096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主流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眼镜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7158305" y="3619775"/>
            <a:ext cx="4048096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共性不足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7091680" y="4044950"/>
            <a:ext cx="4206875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400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  <a:sym typeface="+mn-ea"/>
              </a:rPr>
              <a:t>现有方法多依赖受控场景，面对</a:t>
            </a:r>
            <a:r>
              <a:rPr lang="zh-CN" altLang="en-US" sz="1400" b="1">
                <a:solidFill>
                  <a:srgbClr val="6B1554"/>
                </a:solidFill>
                <a:latin typeface="+mn-ea"/>
                <a:ea typeface="微软雅黑" panose="020B0503020204020204" charset="-122"/>
                <a:cs typeface="+mn-ea"/>
                <a:sym typeface="+mn-ea"/>
              </a:rPr>
              <a:t>中式混合菜</a:t>
            </a:r>
            <a:r>
              <a:rPr lang="zh-CN" altLang="en-US" sz="1400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  <a:sym typeface="+mn-ea"/>
              </a:rPr>
              <a:t>、遮挡、弱光等真实环境鲁棒性不足。</a:t>
            </a:r>
            <a:endParaRPr lang="zh-CN" altLang="en-US" sz="1400" b="1">
              <a:solidFill>
                <a:srgbClr val="6B1554"/>
              </a:solidFill>
              <a:latin typeface="+mn-ea"/>
              <a:ea typeface="微软雅黑" panose="020B0503020204020204" charset="-122"/>
              <a:cs typeface="+mn-ea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400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  <a:sym typeface="+mn-ea"/>
              </a:rPr>
              <a:t>现有</a:t>
            </a:r>
            <a:r>
              <a:rPr lang="en-US" altLang="zh-CN" sz="1400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  <a:sym typeface="+mn-ea"/>
              </a:rPr>
              <a:t> App </a:t>
            </a:r>
            <a:r>
              <a:rPr lang="zh-CN" altLang="en-US" sz="1400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  <a:sym typeface="+mn-ea"/>
              </a:rPr>
              <a:t>与</a:t>
            </a:r>
            <a:r>
              <a:rPr lang="en-US" altLang="zh-CN" sz="1400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  <a:sym typeface="+mn-ea"/>
              </a:rPr>
              <a:t> AI </a:t>
            </a:r>
            <a:r>
              <a:rPr lang="zh-CN" altLang="en-US" sz="1400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  <a:sym typeface="+mn-ea"/>
              </a:rPr>
              <a:t>眼镜尚未形成</a:t>
            </a:r>
            <a:r>
              <a:rPr lang="en-US" altLang="zh-CN" sz="1400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  <a:sym typeface="+mn-ea"/>
              </a:rPr>
              <a:t>“</a:t>
            </a:r>
            <a:r>
              <a:rPr lang="zh-CN" altLang="en-US" sz="1400" b="1">
                <a:solidFill>
                  <a:srgbClr val="6B1554"/>
                </a:solidFill>
                <a:latin typeface="+mn-ea"/>
                <a:ea typeface="微软雅黑" panose="020B0503020204020204" charset="-122"/>
                <a:cs typeface="+mn-ea"/>
                <a:sym typeface="+mn-ea"/>
              </a:rPr>
              <a:t>采集</a:t>
            </a:r>
            <a:r>
              <a:rPr lang="en-US" altLang="zh-CN" sz="1400" b="1">
                <a:solidFill>
                  <a:srgbClr val="6B1554"/>
                </a:solidFill>
                <a:latin typeface="+mn-ea"/>
                <a:ea typeface="微软雅黑" panose="020B0503020204020204" charset="-122"/>
                <a:cs typeface="+mn-ea"/>
                <a:sym typeface="+mn-ea"/>
              </a:rPr>
              <a:t>—</a:t>
            </a:r>
            <a:r>
              <a:rPr lang="zh-CN" altLang="en-US" sz="1400" b="1">
                <a:solidFill>
                  <a:srgbClr val="6B1554"/>
                </a:solidFill>
                <a:latin typeface="+mn-ea"/>
                <a:ea typeface="微软雅黑" panose="020B0503020204020204" charset="-122"/>
                <a:cs typeface="+mn-ea"/>
                <a:sym typeface="+mn-ea"/>
              </a:rPr>
              <a:t>识别</a:t>
            </a:r>
            <a:r>
              <a:rPr lang="en-US" altLang="zh-CN" sz="1400" b="1">
                <a:solidFill>
                  <a:srgbClr val="6B1554"/>
                </a:solidFill>
                <a:latin typeface="+mn-ea"/>
                <a:ea typeface="微软雅黑" panose="020B0503020204020204" charset="-122"/>
                <a:cs typeface="+mn-ea"/>
                <a:sym typeface="+mn-ea"/>
              </a:rPr>
              <a:t>—</a:t>
            </a:r>
            <a:r>
              <a:rPr lang="zh-CN" altLang="en-US" sz="1400" b="1">
                <a:solidFill>
                  <a:srgbClr val="6B1554"/>
                </a:solidFill>
                <a:latin typeface="+mn-ea"/>
                <a:ea typeface="微软雅黑" panose="020B0503020204020204" charset="-122"/>
                <a:cs typeface="+mn-ea"/>
                <a:sym typeface="+mn-ea"/>
              </a:rPr>
              <a:t>评估</a:t>
            </a:r>
            <a:r>
              <a:rPr lang="en-US" altLang="zh-CN" sz="1400" b="1">
                <a:solidFill>
                  <a:srgbClr val="6B1554"/>
                </a:solidFill>
                <a:latin typeface="+mn-ea"/>
                <a:ea typeface="微软雅黑" panose="020B0503020204020204" charset="-122"/>
                <a:cs typeface="+mn-ea"/>
                <a:sym typeface="+mn-ea"/>
              </a:rPr>
              <a:t>—</a:t>
            </a:r>
            <a:r>
              <a:rPr lang="zh-CN" altLang="en-US" sz="1400" b="1">
                <a:solidFill>
                  <a:srgbClr val="6B1554"/>
                </a:solidFill>
                <a:latin typeface="+mn-ea"/>
                <a:ea typeface="微软雅黑" panose="020B0503020204020204" charset="-122"/>
                <a:cs typeface="+mn-ea"/>
                <a:sym typeface="+mn-ea"/>
              </a:rPr>
              <a:t>建议</a:t>
            </a:r>
            <a:r>
              <a:rPr lang="en-US" altLang="zh-CN" sz="1400" b="1">
                <a:solidFill>
                  <a:srgbClr val="6B1554"/>
                </a:solidFill>
                <a:latin typeface="+mn-ea"/>
                <a:ea typeface="微软雅黑" panose="020B0503020204020204" charset="-122"/>
                <a:cs typeface="+mn-ea"/>
                <a:sym typeface="+mn-ea"/>
              </a:rPr>
              <a:t>”</a:t>
            </a:r>
            <a:r>
              <a:rPr lang="zh-CN" altLang="en-US" sz="1400" b="1">
                <a:solidFill>
                  <a:srgbClr val="6B1554"/>
                </a:solidFill>
                <a:latin typeface="+mn-ea"/>
                <a:ea typeface="微软雅黑" panose="020B0503020204020204" charset="-122"/>
                <a:cs typeface="+mn-ea"/>
                <a:sym typeface="+mn-ea"/>
              </a:rPr>
              <a:t>的健康管理闭环</a:t>
            </a:r>
            <a:r>
              <a:rPr lang="zh-CN" altLang="en-US" sz="1400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  <a:sym typeface="+mn-ea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35" y="2221865"/>
            <a:ext cx="12192635" cy="2449830"/>
          </a:xfrm>
          <a:prstGeom prst="rect">
            <a:avLst/>
          </a:prstGeom>
          <a:gradFill>
            <a:gsLst>
              <a:gs pos="100000">
                <a:srgbClr val="6B1553">
                  <a:alpha val="80000"/>
                </a:srgbClr>
              </a:gs>
              <a:gs pos="0">
                <a:srgbClr val="6B1553"/>
              </a:gs>
            </a:gsLst>
            <a:lin ang="5400000" scaled="1"/>
          </a:gradFill>
          <a:ln>
            <a:noFill/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井井ppt"/>
          <p:cNvSpPr txBox="1"/>
          <p:nvPr/>
        </p:nvSpPr>
        <p:spPr>
          <a:xfrm>
            <a:off x="5259874" y="1384035"/>
            <a:ext cx="1656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7E0C6E"/>
                </a:solidFill>
                <a:cs typeface="+mn-ea"/>
                <a:sym typeface="+mn-lt"/>
              </a:rPr>
              <a:t>Part.02</a:t>
            </a:r>
          </a:p>
        </p:txBody>
      </p:sp>
      <p:grpSp>
        <p:nvGrpSpPr>
          <p:cNvPr id="23" name="井井ppt"/>
          <p:cNvGrpSpPr/>
          <p:nvPr/>
        </p:nvGrpSpPr>
        <p:grpSpPr>
          <a:xfrm>
            <a:off x="3327401" y="2763244"/>
            <a:ext cx="5537198" cy="1331333"/>
            <a:chOff x="3327401" y="2861512"/>
            <a:chExt cx="5537198" cy="1331333"/>
          </a:xfrm>
        </p:grpSpPr>
        <p:sp>
          <p:nvSpPr>
            <p:cNvPr id="9" name="powerpoint template design by DAJU_PPT正版来源小红书大橘PPT微信DAJU_PPT请勿抄袭搬运！盗版必究！-1"/>
            <p:cNvSpPr txBox="1"/>
            <p:nvPr/>
          </p:nvSpPr>
          <p:spPr>
            <a:xfrm>
              <a:off x="3327401" y="2861512"/>
              <a:ext cx="5537198" cy="830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5400" b="1" spc="600" dirty="0">
                  <a:solidFill>
                    <a:schemeClr val="bg1"/>
                  </a:solidFill>
                  <a:cs typeface="+mn-ea"/>
                  <a:sym typeface="+mn-lt"/>
                </a:rPr>
                <a:t>研究目标</a:t>
              </a:r>
            </a:p>
          </p:txBody>
        </p:sp>
        <p:sp>
          <p:nvSpPr>
            <p:cNvPr id="22" name="powerpoint template design by DAJU_PPT正版来源小红书大橘PPT微信DAJU_PPT请勿抄袭搬运！盗版必究！-2"/>
            <p:cNvSpPr txBox="1"/>
            <p:nvPr/>
          </p:nvSpPr>
          <p:spPr>
            <a:xfrm>
              <a:off x="3327401" y="3977580"/>
              <a:ext cx="5537198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spc="300" dirty="0">
                  <a:solidFill>
                    <a:schemeClr val="bg1"/>
                  </a:solidFill>
                  <a:cs typeface="+mn-ea"/>
                  <a:sym typeface="+mn-lt"/>
                </a:rPr>
                <a:t>Research Objectives</a:t>
              </a:r>
            </a:p>
          </p:txBody>
        </p:sp>
        <p:cxnSp>
          <p:nvCxnSpPr>
            <p:cNvPr id="4" name="powerpoint template design by DAJU_PPT正版来源小红书大橘PPT微信DAJU_PPT请勿抄袭搬运！盗版必究！-3"/>
            <p:cNvCxnSpPr/>
            <p:nvPr/>
          </p:nvCxnSpPr>
          <p:spPr>
            <a:xfrm>
              <a:off x="3622089" y="3843484"/>
              <a:ext cx="4860000" cy="0"/>
            </a:xfrm>
            <a:prstGeom prst="line">
              <a:avLst/>
            </a:prstGeom>
            <a:ln>
              <a:solidFill>
                <a:schemeClr val="bg1">
                  <a:alpha val="7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480675" y="0"/>
            <a:ext cx="1175385" cy="1295400"/>
          </a:xfrm>
          <a:prstGeom prst="rect">
            <a:avLst/>
          </a:prstGeom>
        </p:spPr>
      </p:pic>
      <p:pic>
        <p:nvPicPr>
          <p:cNvPr id="31" name="图片 30" descr="校徽透明背景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" y="70485"/>
            <a:ext cx="2190750" cy="828675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1846" t="20405" r="1846"/>
          <a:stretch>
            <a:fillRect/>
          </a:stretch>
        </p:blipFill>
        <p:spPr>
          <a:xfrm>
            <a:off x="0" y="1"/>
            <a:ext cx="12192000" cy="944689"/>
          </a:xfrm>
          <a:custGeom>
            <a:avLst/>
            <a:gdLst>
              <a:gd name="connsiteX0" fmla="*/ 0 w 12192000"/>
              <a:gd name="connsiteY0" fmla="*/ 0 h 944689"/>
              <a:gd name="connsiteX1" fmla="*/ 12192000 w 12192000"/>
              <a:gd name="connsiteY1" fmla="*/ 0 h 944689"/>
              <a:gd name="connsiteX2" fmla="*/ 12192000 w 12192000"/>
              <a:gd name="connsiteY2" fmla="*/ 944689 h 944689"/>
              <a:gd name="connsiteX3" fmla="*/ 0 w 12192000"/>
              <a:gd name="connsiteY3" fmla="*/ 944689 h 94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44689">
                <a:moveTo>
                  <a:pt x="0" y="0"/>
                </a:moveTo>
                <a:lnTo>
                  <a:pt x="12192000" y="0"/>
                </a:lnTo>
                <a:lnTo>
                  <a:pt x="12192000" y="944689"/>
                </a:lnTo>
                <a:lnTo>
                  <a:pt x="0" y="944689"/>
                </a:lnTo>
                <a:close/>
              </a:path>
            </a:pathLst>
          </a:custGeom>
        </p:spPr>
      </p:pic>
      <p:sp>
        <p:nvSpPr>
          <p:cNvPr id="3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zh-CN" altLang="en-US" sz="2880" dirty="0"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8445634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926686" y="0"/>
            <a:ext cx="1759474" cy="792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zh-CN" altLang="en-US" sz="2400" b="1">
              <a:solidFill>
                <a:srgbClr val="6B1554"/>
              </a:solidFill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020510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62234" y="216985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研究背景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21708" y="186189"/>
            <a:ext cx="1769430" cy="402590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cs typeface="+mn-ea"/>
              </a:defRPr>
            </a:lvl1pPr>
          </a:lstStyle>
          <a:p>
            <a:r>
              <a:rPr lang="zh-CN" altLang="en-US" sz="2000" dirty="0">
                <a:sym typeface="+mn-lt"/>
              </a:rPr>
              <a:t>研究目标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81182" y="216985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技术路线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40656" y="216986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项目创新点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00131" y="216985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进度安排</a:t>
            </a:r>
          </a:p>
        </p:txBody>
      </p:sp>
      <p:pic>
        <p:nvPicPr>
          <p:cNvPr id="13" name="图片 12" descr="校徽透明背景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" y="-36830"/>
            <a:ext cx="2190750" cy="828675"/>
          </a:xfrm>
          <a:prstGeom prst="rect">
            <a:avLst/>
          </a:prstGeom>
        </p:spPr>
      </p:pic>
      <p:sp>
        <p:nvSpPr>
          <p:cNvPr id="34" name="灯片编号占位符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7</a:t>
            </a:fld>
            <a:endParaRPr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382270" y="1113155"/>
            <a:ext cx="11412220" cy="1171575"/>
            <a:chOff x="602" y="1753"/>
            <a:chExt cx="17972" cy="2194"/>
          </a:xfrm>
        </p:grpSpPr>
        <p:sp>
          <p:nvSpPr>
            <p:cNvPr id="12" name="矩形:"/>
            <p:cNvSpPr/>
            <p:nvPr/>
          </p:nvSpPr>
          <p:spPr>
            <a:xfrm>
              <a:off x="602" y="1753"/>
              <a:ext cx="17973" cy="2195"/>
            </a:xfrm>
            <a:prstGeom prst="snip2SameRect">
              <a:avLst>
                <a:gd name="adj1" fmla="val 0"/>
                <a:gd name="adj2" fmla="val 0"/>
              </a:avLst>
            </a:prstGeom>
            <a:solidFill>
              <a:srgbClr val="FFFFFF">
                <a:lumMod val="95000"/>
              </a:srgbClr>
            </a:solidFill>
            <a:ln>
              <a:solidFill>
                <a:srgbClr val="44546A">
                  <a:lumMod val="40000"/>
                  <a:lumOff val="60000"/>
                </a:srgbClr>
              </a:solidFill>
            </a:ln>
          </p:spPr>
          <p:style>
            <a:lnRef idx="2">
              <a:srgbClr val="6B1553">
                <a:shade val="15000"/>
              </a:srgbClr>
            </a:lnRef>
            <a:fillRef idx="1">
              <a:srgbClr val="6B1553"/>
            </a:fillRef>
            <a:effectRef idx="0">
              <a:srgbClr val="6B1553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矩形:"/>
            <p:cNvSpPr/>
            <p:nvPr/>
          </p:nvSpPr>
          <p:spPr>
            <a:xfrm>
              <a:off x="602" y="1753"/>
              <a:ext cx="214" cy="2195"/>
            </a:xfrm>
            <a:prstGeom prst="snip2SameRect">
              <a:avLst>
                <a:gd name="adj1" fmla="val 0"/>
                <a:gd name="adj2" fmla="val 0"/>
              </a:avLst>
            </a:prstGeom>
            <a:solidFill>
              <a:srgbClr val="6B1553"/>
            </a:solidFill>
            <a:ln>
              <a:noFill/>
            </a:ln>
          </p:spPr>
          <p:style>
            <a:lnRef idx="2">
              <a:srgbClr val="6B1553">
                <a:shade val="15000"/>
              </a:srgbClr>
            </a:lnRef>
            <a:fillRef idx="1">
              <a:srgbClr val="6B1553"/>
            </a:fillRef>
            <a:effectRef idx="0">
              <a:srgbClr val="6B1553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774940" y="1325540"/>
            <a:ext cx="10898396" cy="819785"/>
          </a:xfrm>
          <a:prstGeom prst="rect">
            <a:avLst/>
          </a:prstGeom>
          <a:noFill/>
          <a:effectLst/>
        </p:spPr>
        <p:txBody>
          <a:bodyPr wrap="square" lIns="82525" tIns="41262" rIns="82525" bIns="41262">
            <a:spAutoFit/>
          </a:bodyPr>
          <a:lstStyle/>
          <a:p>
            <a:pPr indent="0" algn="just">
              <a:spcAft>
                <a:spcPts val="1200"/>
              </a:spcAft>
              <a:buFont typeface="Calibri Light" panose="020F0302020204030204" charset="0"/>
              <a:buNone/>
            </a:pPr>
            <a:r>
              <a:rPr lang="zh-CN" altLang="en-US" sz="2400" b="1">
                <a:solidFill>
                  <a:srgbClr val="6B1554"/>
                </a:solidFill>
                <a:latin typeface="微软雅黑" panose="020B0503020204020204" charset="-122"/>
                <a:ea typeface="微软雅黑" panose="020B0503020204020204" charset="-122"/>
                <a:sym typeface="思源宋体 CN Heavy" panose="02020900000000000000" pitchFamily="18" charset="-122"/>
              </a:rPr>
              <a:t>研究目标</a:t>
            </a:r>
            <a:r>
              <a:rPr lang="zh-CN" altLang="en-US" sz="24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思源宋体 CN Heavy" panose="02020900000000000000" pitchFamily="18" charset="-122"/>
              </a:rPr>
              <a:t>：依托</a:t>
            </a:r>
            <a:r>
              <a:rPr lang="en-US" altLang="zh-CN" sz="24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思源宋体 CN Heavy" panose="02020900000000000000" pitchFamily="18" charset="-122"/>
              </a:rPr>
              <a:t>AI</a:t>
            </a:r>
            <a:r>
              <a:rPr lang="zh-CN" altLang="en-US" sz="24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思源宋体 CN Heavy" panose="02020900000000000000" pitchFamily="18" charset="-122"/>
              </a:rPr>
              <a:t>眼镜实现低干扰饮食信息采集，提升食品信息智能解析能力，构建个性化的智能饮食管理闭环。</a:t>
            </a:r>
          </a:p>
        </p:txBody>
      </p:sp>
      <p:sp>
        <p:nvSpPr>
          <p:cNvPr id="19" name="箭头: 五边形 4"/>
          <p:cNvSpPr/>
          <p:nvPr/>
        </p:nvSpPr>
        <p:spPr>
          <a:xfrm>
            <a:off x="382542" y="2722835"/>
            <a:ext cx="3943602" cy="644674"/>
          </a:xfrm>
          <a:prstGeom prst="homePlate">
            <a:avLst/>
          </a:prstGeom>
          <a:gradFill flip="none" rotWithShape="1">
            <a:gsLst>
              <a:gs pos="100000">
                <a:srgbClr val="FFFFFF"/>
              </a:gs>
              <a:gs pos="0">
                <a:srgbClr val="6B1553">
                  <a:alpha val="20000"/>
                </a:srgbClr>
              </a:gs>
            </a:gsLst>
            <a:lin ang="0" scaled="0"/>
            <a:tileRect/>
          </a:gradFill>
          <a:ln w="19050">
            <a:solidFill>
              <a:srgbClr val="FFFFFF">
                <a:lumMod val="75000"/>
              </a:srgbClr>
            </a:solidFill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等线" panose="02010600030101010101" charset="-122"/>
            </a:endParaRPr>
          </a:p>
        </p:txBody>
      </p:sp>
      <p:sp>
        <p:nvSpPr>
          <p:cNvPr id="20" name="箭头: V 形 5"/>
          <p:cNvSpPr/>
          <p:nvPr/>
        </p:nvSpPr>
        <p:spPr>
          <a:xfrm>
            <a:off x="4326142" y="2722835"/>
            <a:ext cx="3943602" cy="644674"/>
          </a:xfrm>
          <a:prstGeom prst="chevron">
            <a:avLst/>
          </a:prstGeom>
          <a:gradFill flip="none" rotWithShape="1">
            <a:gsLst>
              <a:gs pos="100000">
                <a:srgbClr val="FFFFFF"/>
              </a:gs>
              <a:gs pos="0">
                <a:srgbClr val="6B1553">
                  <a:alpha val="20000"/>
                </a:srgbClr>
              </a:gs>
            </a:gsLst>
            <a:lin ang="0" scaled="0"/>
            <a:tileRect/>
          </a:gradFill>
          <a:ln w="19050">
            <a:solidFill>
              <a:srgbClr val="FFFFFF">
                <a:lumMod val="75000"/>
              </a:srgbClr>
            </a:solidFill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等线" panose="02010600030101010101" charset="-122"/>
            </a:endParaRPr>
          </a:p>
        </p:txBody>
      </p:sp>
      <p:sp>
        <p:nvSpPr>
          <p:cNvPr id="21" name="任意多边形: 形状 6"/>
          <p:cNvSpPr/>
          <p:nvPr/>
        </p:nvSpPr>
        <p:spPr>
          <a:xfrm>
            <a:off x="8269744" y="2722835"/>
            <a:ext cx="3543642" cy="644674"/>
          </a:xfrm>
          <a:custGeom>
            <a:avLst/>
            <a:gdLst>
              <a:gd name="connsiteX0" fmla="*/ 0 w 2787442"/>
              <a:gd name="connsiteY0" fmla="*/ 0 h 598767"/>
              <a:gd name="connsiteX1" fmla="*/ 468729 w 2787442"/>
              <a:gd name="connsiteY1" fmla="*/ 0 h 598767"/>
              <a:gd name="connsiteX2" fmla="*/ 2466589 w 2787442"/>
              <a:gd name="connsiteY2" fmla="*/ 0 h 598767"/>
              <a:gd name="connsiteX3" fmla="*/ 2787442 w 2787442"/>
              <a:gd name="connsiteY3" fmla="*/ 0 h 598767"/>
              <a:gd name="connsiteX4" fmla="*/ 2787442 w 2787442"/>
              <a:gd name="connsiteY4" fmla="*/ 299384 h 598767"/>
              <a:gd name="connsiteX5" fmla="*/ 2787442 w 2787442"/>
              <a:gd name="connsiteY5" fmla="*/ 598767 h 598767"/>
              <a:gd name="connsiteX6" fmla="*/ 2466589 w 2787442"/>
              <a:gd name="connsiteY6" fmla="*/ 598767 h 598767"/>
              <a:gd name="connsiteX7" fmla="*/ 468729 w 2787442"/>
              <a:gd name="connsiteY7" fmla="*/ 598767 h 598767"/>
              <a:gd name="connsiteX8" fmla="*/ 0 w 2787442"/>
              <a:gd name="connsiteY8" fmla="*/ 598767 h 598767"/>
              <a:gd name="connsiteX9" fmla="*/ 299384 w 2787442"/>
              <a:gd name="connsiteY9" fmla="*/ 299384 h 59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87442" h="598767">
                <a:moveTo>
                  <a:pt x="0" y="0"/>
                </a:moveTo>
                <a:lnTo>
                  <a:pt x="468729" y="0"/>
                </a:lnTo>
                <a:lnTo>
                  <a:pt x="2466589" y="0"/>
                </a:lnTo>
                <a:lnTo>
                  <a:pt x="2787442" y="0"/>
                </a:lnTo>
                <a:lnTo>
                  <a:pt x="2787442" y="299384"/>
                </a:lnTo>
                <a:lnTo>
                  <a:pt x="2787442" y="598767"/>
                </a:lnTo>
                <a:lnTo>
                  <a:pt x="2466589" y="598767"/>
                </a:lnTo>
                <a:lnTo>
                  <a:pt x="468729" y="598767"/>
                </a:lnTo>
                <a:lnTo>
                  <a:pt x="0" y="598767"/>
                </a:lnTo>
                <a:lnTo>
                  <a:pt x="299384" y="299384"/>
                </a:lnTo>
                <a:close/>
              </a:path>
            </a:pathLst>
          </a:custGeom>
          <a:gradFill flip="none" rotWithShape="1">
            <a:gsLst>
              <a:gs pos="100000">
                <a:srgbClr val="FFFFFF"/>
              </a:gs>
              <a:gs pos="0">
                <a:srgbClr val="6B1553">
                  <a:alpha val="20000"/>
                </a:srgbClr>
              </a:gs>
            </a:gsLst>
            <a:lin ang="0" scaled="0"/>
            <a:tileRect/>
          </a:gradFill>
          <a:ln w="19050">
            <a:solidFill>
              <a:srgbClr val="FFFFFF">
                <a:lumMod val="75000"/>
              </a:srgbClr>
            </a:solidFill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等线" panose="02010600030101010101" charset="-122"/>
            </a:endParaRPr>
          </a:p>
        </p:txBody>
      </p:sp>
      <p:sp>
        <p:nvSpPr>
          <p:cNvPr id="22" name="矩形:"/>
          <p:cNvSpPr/>
          <p:nvPr/>
        </p:nvSpPr>
        <p:spPr>
          <a:xfrm>
            <a:off x="382541" y="3367509"/>
            <a:ext cx="3516348" cy="3210066"/>
          </a:xfrm>
          <a:prstGeom prst="snip2SameRect">
            <a:avLst>
              <a:gd name="adj1" fmla="val 0"/>
              <a:gd name="adj2" fmla="val 0"/>
            </a:avLst>
          </a:prstGeom>
          <a:ln w="19050">
            <a:solidFill>
              <a:srgbClr val="FFFFFF">
                <a:lumMod val="65000"/>
              </a:srgbClr>
            </a:solidFill>
          </a:ln>
        </p:spPr>
        <p:style>
          <a:lnRef idx="2">
            <a:srgbClr val="000000"/>
          </a:lnRef>
          <a:fillRef idx="1">
            <a:srgbClr val="FFFFFF"/>
          </a:fillRef>
          <a:effectRef idx="0">
            <a:srgbClr val="000000"/>
          </a:effectRef>
          <a:fontRef idx="minor">
            <a:srgbClr val="000000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:"/>
          <p:cNvSpPr/>
          <p:nvPr/>
        </p:nvSpPr>
        <p:spPr>
          <a:xfrm>
            <a:off x="382541" y="6515264"/>
            <a:ext cx="3516348" cy="62311"/>
          </a:xfrm>
          <a:prstGeom prst="snip2SameRect">
            <a:avLst>
              <a:gd name="adj1" fmla="val 0"/>
              <a:gd name="adj2" fmla="val 0"/>
            </a:avLst>
          </a:prstGeom>
          <a:gradFill flip="none" rotWithShape="1">
            <a:gsLst>
              <a:gs pos="100000">
                <a:srgbClr val="6B1553">
                  <a:lumMod val="100000"/>
                </a:srgbClr>
              </a:gs>
              <a:gs pos="73000">
                <a:srgbClr val="6B1553">
                  <a:lumMod val="95000"/>
                  <a:lumOff val="5000"/>
                </a:srgbClr>
              </a:gs>
              <a:gs pos="35000">
                <a:srgbClr val="6B1553">
                  <a:lumMod val="90000"/>
                  <a:lumOff val="1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:"/>
          <p:cNvSpPr/>
          <p:nvPr/>
        </p:nvSpPr>
        <p:spPr>
          <a:xfrm>
            <a:off x="4326143" y="3367509"/>
            <a:ext cx="3516348" cy="3210066"/>
          </a:xfrm>
          <a:prstGeom prst="snip2SameRect">
            <a:avLst>
              <a:gd name="adj1" fmla="val 0"/>
              <a:gd name="adj2" fmla="val 0"/>
            </a:avLst>
          </a:prstGeom>
          <a:ln w="19050">
            <a:solidFill>
              <a:srgbClr val="FFFFFF">
                <a:lumMod val="65000"/>
              </a:srgbClr>
            </a:solidFill>
          </a:ln>
        </p:spPr>
        <p:style>
          <a:lnRef idx="2">
            <a:srgbClr val="000000"/>
          </a:lnRef>
          <a:fillRef idx="1">
            <a:srgbClr val="FFFFFF"/>
          </a:fillRef>
          <a:effectRef idx="0">
            <a:srgbClr val="000000"/>
          </a:effectRef>
          <a:fontRef idx="minor">
            <a:srgbClr val="000000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矩形:"/>
          <p:cNvSpPr/>
          <p:nvPr/>
        </p:nvSpPr>
        <p:spPr>
          <a:xfrm>
            <a:off x="4326143" y="6515264"/>
            <a:ext cx="3516348" cy="62311"/>
          </a:xfrm>
          <a:prstGeom prst="snip2SameRect">
            <a:avLst>
              <a:gd name="adj1" fmla="val 0"/>
              <a:gd name="adj2" fmla="val 0"/>
            </a:avLst>
          </a:prstGeom>
          <a:gradFill flip="none" rotWithShape="1">
            <a:gsLst>
              <a:gs pos="100000">
                <a:srgbClr val="6B1553">
                  <a:lumMod val="100000"/>
                </a:srgbClr>
              </a:gs>
              <a:gs pos="73000">
                <a:srgbClr val="6B1553">
                  <a:lumMod val="95000"/>
                  <a:lumOff val="5000"/>
                </a:srgbClr>
              </a:gs>
              <a:gs pos="35000">
                <a:srgbClr val="6B1553">
                  <a:lumMod val="90000"/>
                  <a:lumOff val="1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:"/>
          <p:cNvSpPr/>
          <p:nvPr/>
        </p:nvSpPr>
        <p:spPr>
          <a:xfrm>
            <a:off x="8269744" y="3367509"/>
            <a:ext cx="3553287" cy="3210066"/>
          </a:xfrm>
          <a:prstGeom prst="snip2SameRect">
            <a:avLst>
              <a:gd name="adj1" fmla="val 0"/>
              <a:gd name="adj2" fmla="val 0"/>
            </a:avLst>
          </a:prstGeom>
          <a:ln w="19050">
            <a:solidFill>
              <a:srgbClr val="FFFFFF">
                <a:lumMod val="65000"/>
              </a:srgbClr>
            </a:solidFill>
          </a:ln>
        </p:spPr>
        <p:style>
          <a:lnRef idx="2">
            <a:srgbClr val="000000"/>
          </a:lnRef>
          <a:fillRef idx="1">
            <a:srgbClr val="FFFFFF"/>
          </a:fillRef>
          <a:effectRef idx="0">
            <a:srgbClr val="000000"/>
          </a:effectRef>
          <a:fontRef idx="minor">
            <a:srgbClr val="000000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:"/>
          <p:cNvSpPr/>
          <p:nvPr/>
        </p:nvSpPr>
        <p:spPr>
          <a:xfrm>
            <a:off x="8269744" y="6515264"/>
            <a:ext cx="3553287" cy="62311"/>
          </a:xfrm>
          <a:prstGeom prst="snip2SameRect">
            <a:avLst>
              <a:gd name="adj1" fmla="val 0"/>
              <a:gd name="adj2" fmla="val 0"/>
            </a:avLst>
          </a:prstGeom>
          <a:gradFill flip="none" rotWithShape="1">
            <a:gsLst>
              <a:gs pos="100000">
                <a:srgbClr val="6B1553">
                  <a:lumMod val="100000"/>
                </a:srgbClr>
              </a:gs>
              <a:gs pos="73000">
                <a:srgbClr val="6B1553">
                  <a:lumMod val="95000"/>
                  <a:lumOff val="5000"/>
                </a:srgbClr>
              </a:gs>
              <a:gs pos="35000">
                <a:srgbClr val="6B1553">
                  <a:lumMod val="90000"/>
                  <a:lumOff val="1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33158" y="2867696"/>
            <a:ext cx="2324693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5900" algn="ctr"/>
            <a:r>
              <a:rPr lang="zh-CN" altLang="en-US" sz="2000" b="1">
                <a:solidFill>
                  <a:srgbClr val="6B1553"/>
                </a:solidFill>
                <a:latin typeface="微软雅黑" panose="020B0503020204020204" charset="-122"/>
                <a:ea typeface="微软雅黑" panose="020B0503020204020204" charset="-122"/>
              </a:rPr>
              <a:t>信息采集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4921970" y="2867696"/>
            <a:ext cx="2324693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5900" algn="ctr"/>
            <a:r>
              <a:rPr lang="zh-CN" altLang="en-US" sz="2000" b="1">
                <a:solidFill>
                  <a:srgbClr val="6B1553"/>
                </a:solidFill>
                <a:latin typeface="微软雅黑" panose="020B0503020204020204" charset="-122"/>
                <a:ea typeface="微软雅黑" panose="020B0503020204020204" charset="-122"/>
              </a:rPr>
              <a:t>智能解析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8726659" y="2867696"/>
            <a:ext cx="2324693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5900" algn="ctr"/>
            <a:r>
              <a:rPr lang="zh-CN" altLang="en-US" sz="2000" b="1">
                <a:solidFill>
                  <a:srgbClr val="6B1553"/>
                </a:solidFill>
                <a:latin typeface="微软雅黑" panose="020B0503020204020204" charset="-122"/>
                <a:ea typeface="微软雅黑" panose="020B0503020204020204" charset="-122"/>
              </a:rPr>
              <a:t>反馈闭环</a:t>
            </a:r>
          </a:p>
        </p:txBody>
      </p:sp>
      <p:sp>
        <p:nvSpPr>
          <p:cNvPr id="40" name="DNAPPT-202516"/>
          <p:cNvSpPr txBox="1"/>
          <p:nvPr/>
        </p:nvSpPr>
        <p:spPr>
          <a:xfrm>
            <a:off x="563245" y="3505835"/>
            <a:ext cx="3234055" cy="13823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zh-CN" altLang="en-US" sz="1600" dirty="0">
                <a:solidFill>
                  <a:srgbClr val="000000"/>
                </a:solidFill>
                <a:latin typeface="+mn-ea"/>
                <a:cs typeface="+mn-ea"/>
                <a:sym typeface="Noto Sans" panose="020B0502040504020204"/>
              </a:rPr>
              <a:t>依托</a:t>
            </a:r>
            <a:r>
              <a:rPr lang="zh-CN" altLang="en-US" sz="1600" b="1" dirty="0">
                <a:solidFill>
                  <a:srgbClr val="6B1554"/>
                </a:solidFill>
                <a:latin typeface="+mn-ea"/>
                <a:cs typeface="+mn-ea"/>
                <a:sym typeface="Noto Sans" panose="020B0502040504020204"/>
              </a:rPr>
              <a:t>AI 眼镜第一视角感知能力</a:t>
            </a:r>
            <a:r>
              <a:rPr lang="zh-CN" altLang="en-US" sz="1600" dirty="0">
                <a:solidFill>
                  <a:srgbClr val="000000"/>
                </a:solidFill>
                <a:latin typeface="+mn-ea"/>
                <a:cs typeface="+mn-ea"/>
                <a:sym typeface="Noto Sans" panose="020B0502040504020204"/>
              </a:rPr>
              <a:t>，构建更自然、便捷的饮食场景图像采集方式，</a:t>
            </a:r>
            <a:r>
              <a:rPr lang="zh-CN" altLang="en-US" sz="1600" b="1" dirty="0">
                <a:solidFill>
                  <a:srgbClr val="6B1554"/>
                </a:solidFill>
                <a:latin typeface="+mn-ea"/>
                <a:cs typeface="+mn-ea"/>
                <a:sym typeface="Noto Sans" panose="020B0502040504020204"/>
              </a:rPr>
              <a:t>降低用户手动记录负担</a:t>
            </a:r>
            <a:r>
              <a:rPr lang="zh-CN" altLang="en-US" sz="1600" dirty="0">
                <a:solidFill>
                  <a:srgbClr val="000000"/>
                </a:solidFill>
                <a:latin typeface="+mn-ea"/>
                <a:cs typeface="+mn-ea"/>
                <a:sym typeface="Noto Sans" panose="020B0502040504020204"/>
              </a:rPr>
              <a:t>。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DNAPPT-202516"/>
          <p:cNvSpPr txBox="1"/>
          <p:nvPr/>
        </p:nvSpPr>
        <p:spPr>
          <a:xfrm>
            <a:off x="4467225" y="3438525"/>
            <a:ext cx="3351530" cy="16694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zh-CN" altLang="en-US" sz="1600" dirty="0">
                <a:solidFill>
                  <a:srgbClr val="000000"/>
                </a:solidFill>
                <a:latin typeface="+mn-ea"/>
                <a:cs typeface="+mn-ea"/>
                <a:sym typeface="Noto Sans" panose="020B0502040504020204"/>
              </a:rPr>
              <a:t>融合</a:t>
            </a:r>
            <a:r>
              <a:rPr lang="zh-CN" altLang="en-US" sz="1600" b="1" dirty="0">
                <a:solidFill>
                  <a:srgbClr val="6B1554"/>
                </a:solidFill>
                <a:latin typeface="+mn-ea"/>
                <a:cs typeface="+mn-ea"/>
                <a:sym typeface="Noto Sans" panose="020B0502040504020204"/>
              </a:rPr>
              <a:t>食物识别、份量估计、OCR 配料解析与营养计算</a:t>
            </a:r>
            <a:r>
              <a:rPr lang="zh-CN" altLang="en-US" sz="1600" dirty="0">
                <a:solidFill>
                  <a:srgbClr val="000000"/>
                </a:solidFill>
                <a:latin typeface="+mn-ea"/>
                <a:cs typeface="+mn-ea"/>
                <a:sym typeface="Noto Sans" panose="020B0502040504020204"/>
              </a:rPr>
              <a:t>，实现对食品种类、成分和营养信息的智能化分析。</a:t>
            </a:r>
            <a:endParaRPr lang="zh-CN" altLang="en-US" sz="1600" dirty="0">
              <a:solidFill>
                <a:srgbClr val="000000"/>
              </a:solidFill>
              <a:latin typeface="+mn-ea"/>
              <a:cs typeface="+mn-ea"/>
            </a:endParaRPr>
          </a:p>
        </p:txBody>
      </p:sp>
      <p:sp>
        <p:nvSpPr>
          <p:cNvPr id="45" name="DNAPPT-202516"/>
          <p:cNvSpPr txBox="1"/>
          <p:nvPr/>
        </p:nvSpPr>
        <p:spPr>
          <a:xfrm>
            <a:off x="8386445" y="3438525"/>
            <a:ext cx="3348355" cy="17106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zh-CN" altLang="en-US" sz="1600" dirty="0">
                <a:solidFill>
                  <a:srgbClr val="000000"/>
                </a:solidFill>
                <a:latin typeface="+mn-ea"/>
                <a:cs typeface="+mn-ea"/>
                <a:sym typeface="Noto Sans" panose="020B0502040504020204"/>
              </a:rPr>
              <a:t>结合用户健康档案、规则引擎与大模型生成能力形成</a:t>
            </a:r>
            <a:r>
              <a:rPr lang="zh-CN" altLang="en-US" sz="1600" b="1" dirty="0">
                <a:solidFill>
                  <a:srgbClr val="6B1554"/>
                </a:solidFill>
                <a:latin typeface="+mn-ea"/>
                <a:cs typeface="+mn-ea"/>
                <a:sym typeface="Noto Sans" panose="020B0502040504020204"/>
              </a:rPr>
              <a:t>“感知—识别—分析—反馈”</a:t>
            </a:r>
            <a:r>
              <a:rPr lang="zh-CN" altLang="en-US" sz="1600" dirty="0">
                <a:solidFill>
                  <a:srgbClr val="000000"/>
                </a:solidFill>
                <a:latin typeface="+mn-ea"/>
                <a:cs typeface="+mn-ea"/>
                <a:sym typeface="Noto Sans" panose="020B0502040504020204"/>
              </a:rPr>
              <a:t>的智能饮食管理闭环。</a:t>
            </a:r>
            <a:endParaRPr lang="zh-CN" altLang="en-US" sz="1600" dirty="0">
              <a:solidFill>
                <a:srgbClr val="000000"/>
              </a:solidFill>
              <a:latin typeface="+mn-ea"/>
              <a:cs typeface="+mn-ea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4732655" y="4769485"/>
            <a:ext cx="2702560" cy="1558290"/>
            <a:chOff x="7259" y="7521"/>
            <a:chExt cx="4686" cy="2630"/>
          </a:xfrm>
        </p:grpSpPr>
        <p:pic>
          <p:nvPicPr>
            <p:cNvPr id="53" name="图片 5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59" y="7521"/>
              <a:ext cx="4686" cy="2616"/>
            </a:xfrm>
            <a:prstGeom prst="rect">
              <a:avLst/>
            </a:prstGeom>
          </p:spPr>
        </p:pic>
        <p:sp>
          <p:nvSpPr>
            <p:cNvPr id="55" name="矩形 54"/>
            <p:cNvSpPr/>
            <p:nvPr/>
          </p:nvSpPr>
          <p:spPr>
            <a:xfrm>
              <a:off x="7260" y="7521"/>
              <a:ext cx="4670" cy="2630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8603615" y="4742180"/>
            <a:ext cx="2867660" cy="1564640"/>
            <a:chOff x="13732" y="7491"/>
            <a:chExt cx="4658" cy="2440"/>
          </a:xfrm>
        </p:grpSpPr>
        <p:pic>
          <p:nvPicPr>
            <p:cNvPr id="52" name="图片 51" descr="6.UI设计(压缩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743" y="7491"/>
              <a:ext cx="4647" cy="2440"/>
            </a:xfrm>
            <a:prstGeom prst="rect">
              <a:avLst/>
            </a:prstGeom>
          </p:spPr>
        </p:pic>
        <p:sp>
          <p:nvSpPr>
            <p:cNvPr id="59" name="矩形 58"/>
            <p:cNvSpPr/>
            <p:nvPr/>
          </p:nvSpPr>
          <p:spPr>
            <a:xfrm>
              <a:off x="13732" y="7491"/>
              <a:ext cx="4658" cy="2440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5" name="矩形 64"/>
          <p:cNvSpPr/>
          <p:nvPr/>
        </p:nvSpPr>
        <p:spPr>
          <a:xfrm>
            <a:off x="775335" y="4786630"/>
            <a:ext cx="2693035" cy="155829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6" name="图片 65" descr="Gemini_Generated_Image_68k82d68k82d68k8"/>
          <p:cNvPicPr>
            <a:picLocks noChangeAspect="1"/>
          </p:cNvPicPr>
          <p:nvPr/>
        </p:nvPicPr>
        <p:blipFill>
          <a:blip r:embed="rId7"/>
          <a:srcRect r="14413"/>
          <a:stretch>
            <a:fillRect/>
          </a:stretch>
        </p:blipFill>
        <p:spPr>
          <a:xfrm>
            <a:off x="781685" y="4794885"/>
            <a:ext cx="2679700" cy="15506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35" y="2221865"/>
            <a:ext cx="12192635" cy="2449830"/>
          </a:xfrm>
          <a:prstGeom prst="rect">
            <a:avLst/>
          </a:prstGeom>
          <a:gradFill>
            <a:gsLst>
              <a:gs pos="100000">
                <a:srgbClr val="6B1553">
                  <a:alpha val="80000"/>
                </a:srgbClr>
              </a:gs>
              <a:gs pos="0">
                <a:srgbClr val="6B1553"/>
              </a:gs>
            </a:gsLst>
            <a:lin ang="5400000" scaled="1"/>
          </a:gradFill>
          <a:ln>
            <a:noFill/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井井ppt"/>
          <p:cNvSpPr txBox="1"/>
          <p:nvPr/>
        </p:nvSpPr>
        <p:spPr>
          <a:xfrm>
            <a:off x="5259874" y="1384035"/>
            <a:ext cx="1656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7E0C6E"/>
                </a:solidFill>
                <a:cs typeface="+mn-ea"/>
                <a:sym typeface="+mn-lt"/>
              </a:rPr>
              <a:t>Part.03</a:t>
            </a:r>
          </a:p>
        </p:txBody>
      </p:sp>
      <p:grpSp>
        <p:nvGrpSpPr>
          <p:cNvPr id="23" name="井井ppt"/>
          <p:cNvGrpSpPr/>
          <p:nvPr/>
        </p:nvGrpSpPr>
        <p:grpSpPr>
          <a:xfrm>
            <a:off x="3327401" y="2763244"/>
            <a:ext cx="5537198" cy="1331333"/>
            <a:chOff x="3327401" y="2861512"/>
            <a:chExt cx="5537198" cy="1331333"/>
          </a:xfrm>
        </p:grpSpPr>
        <p:sp>
          <p:nvSpPr>
            <p:cNvPr id="9" name="powerpoint template design by DAJU_PPT正版来源小红书大橘PPT微信DAJU_PPT请勿抄袭搬运！盗版必究！-1"/>
            <p:cNvSpPr txBox="1"/>
            <p:nvPr/>
          </p:nvSpPr>
          <p:spPr>
            <a:xfrm>
              <a:off x="3327401" y="2861512"/>
              <a:ext cx="5537198" cy="830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5400" b="1" spc="600" dirty="0">
                  <a:solidFill>
                    <a:schemeClr val="bg1"/>
                  </a:solidFill>
                  <a:cs typeface="+mn-ea"/>
                  <a:sym typeface="+mn-lt"/>
                </a:rPr>
                <a:t>技术路线</a:t>
              </a:r>
            </a:p>
          </p:txBody>
        </p:sp>
        <p:sp>
          <p:nvSpPr>
            <p:cNvPr id="22" name="powerpoint template design by DAJU_PPT正版来源小红书大橘PPT微信DAJU_PPT请勿抄袭搬运！盗版必究！-2"/>
            <p:cNvSpPr txBox="1"/>
            <p:nvPr/>
          </p:nvSpPr>
          <p:spPr>
            <a:xfrm>
              <a:off x="3327401" y="3977580"/>
              <a:ext cx="5537198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spc="300" dirty="0">
                  <a:solidFill>
                    <a:schemeClr val="bg1"/>
                  </a:solidFill>
                  <a:cs typeface="+mn-ea"/>
                  <a:sym typeface="+mn-lt"/>
                </a:rPr>
                <a:t>Research Ideas And Methods</a:t>
              </a:r>
            </a:p>
          </p:txBody>
        </p:sp>
        <p:cxnSp>
          <p:nvCxnSpPr>
            <p:cNvPr id="4" name="powerpoint template design by DAJU_PPT正版来源小红书大橘PPT微信DAJU_PPT请勿抄袭搬运！盗版必究！-3"/>
            <p:cNvCxnSpPr/>
            <p:nvPr/>
          </p:nvCxnSpPr>
          <p:spPr>
            <a:xfrm>
              <a:off x="3622089" y="3843484"/>
              <a:ext cx="4860000" cy="0"/>
            </a:xfrm>
            <a:prstGeom prst="line">
              <a:avLst/>
            </a:prstGeom>
            <a:ln>
              <a:solidFill>
                <a:schemeClr val="bg1">
                  <a:alpha val="7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480675" y="0"/>
            <a:ext cx="1175385" cy="1295400"/>
          </a:xfrm>
          <a:prstGeom prst="rect">
            <a:avLst/>
          </a:prstGeom>
        </p:spPr>
      </p:pic>
      <p:pic>
        <p:nvPicPr>
          <p:cNvPr id="31" name="图片 30" descr="校徽透明背景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" y="70485"/>
            <a:ext cx="2190750" cy="828675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井井ppt"/>
          <p:cNvCxnSpPr/>
          <p:nvPr/>
        </p:nvCxnSpPr>
        <p:spPr>
          <a:xfrm flipV="1">
            <a:off x="66977" y="1292620"/>
            <a:ext cx="1966595" cy="63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井井ppt"/>
          <p:cNvSpPr txBox="1"/>
          <p:nvPr/>
        </p:nvSpPr>
        <p:spPr>
          <a:xfrm>
            <a:off x="215900" y="873125"/>
            <a:ext cx="1931670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accent1"/>
                </a:solidFill>
                <a:latin typeface="+mj-ea"/>
                <a:ea typeface="+mj-ea"/>
                <a:cs typeface="+mn-ea"/>
              </a:defRPr>
            </a:lvl1pPr>
          </a:lstStyle>
          <a:p>
            <a:r>
              <a:rPr lang="en-US" altLang="zh-CN" dirty="0">
                <a:solidFill>
                  <a:srgbClr val="7E0C6E"/>
                </a:solidFill>
                <a:sym typeface="+mn-lt"/>
              </a:rPr>
              <a:t>3.1 </a:t>
            </a:r>
            <a:r>
              <a:rPr lang="zh-CN" altLang="en-US" dirty="0">
                <a:solidFill>
                  <a:srgbClr val="7E0C6E"/>
                </a:solidFill>
                <a:sym typeface="+mn-lt"/>
              </a:rPr>
              <a:t>总体框架</a:t>
            </a:r>
          </a:p>
        </p:txBody>
      </p:sp>
      <p:cxnSp>
        <p:nvCxnSpPr>
          <p:cNvPr id="16" name="井井ppt"/>
          <p:cNvCxnSpPr/>
          <p:nvPr/>
        </p:nvCxnSpPr>
        <p:spPr>
          <a:xfrm>
            <a:off x="49336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l="1846" t="20405" r="1846"/>
          <a:stretch>
            <a:fillRect/>
          </a:stretch>
        </p:blipFill>
        <p:spPr>
          <a:xfrm>
            <a:off x="0" y="1"/>
            <a:ext cx="12192000" cy="944689"/>
          </a:xfrm>
          <a:custGeom>
            <a:avLst/>
            <a:gdLst>
              <a:gd name="connsiteX0" fmla="*/ 0 w 12192000"/>
              <a:gd name="connsiteY0" fmla="*/ 0 h 944689"/>
              <a:gd name="connsiteX1" fmla="*/ 12192000 w 12192000"/>
              <a:gd name="connsiteY1" fmla="*/ 0 h 944689"/>
              <a:gd name="connsiteX2" fmla="*/ 12192000 w 12192000"/>
              <a:gd name="connsiteY2" fmla="*/ 944689 h 944689"/>
              <a:gd name="connsiteX3" fmla="*/ 0 w 12192000"/>
              <a:gd name="connsiteY3" fmla="*/ 944689 h 94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44689">
                <a:moveTo>
                  <a:pt x="0" y="0"/>
                </a:moveTo>
                <a:lnTo>
                  <a:pt x="12192000" y="0"/>
                </a:lnTo>
                <a:lnTo>
                  <a:pt x="12192000" y="944689"/>
                </a:lnTo>
                <a:lnTo>
                  <a:pt x="0" y="944689"/>
                </a:lnTo>
                <a:close/>
              </a:path>
            </a:pathLst>
          </a:custGeom>
        </p:spPr>
      </p:pic>
      <p:sp>
        <p:nvSpPr>
          <p:cNvPr id="4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zh-CN" altLang="en-US" sz="2880" dirty="0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86160" y="0"/>
            <a:ext cx="1759474" cy="792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zh-CN" alt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020510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62234" y="216985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研究背景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21708" y="216986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研究目标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81182" y="186188"/>
            <a:ext cx="1769430" cy="402590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cs typeface="+mn-ea"/>
              </a:defRPr>
            </a:lvl1pPr>
          </a:lstStyle>
          <a:p>
            <a:pPr algn="ctr"/>
            <a:r>
              <a:rPr lang="zh-CN" altLang="en-US" sz="2000" dirty="0">
                <a:solidFill>
                  <a:schemeClr val="bg1"/>
                </a:solidFill>
                <a:sym typeface="+mn-lt"/>
              </a:rPr>
              <a:t>技术路线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40656" y="216986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项目创新点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00131" y="216985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进度安排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492668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校徽透明背景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" y="-36830"/>
            <a:ext cx="2190750" cy="82867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9</a:t>
            </a:fld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-180808" y="2409673"/>
            <a:ext cx="3254511" cy="2657491"/>
            <a:chOff x="539629" y="2576196"/>
            <a:chExt cx="3254511" cy="2657491"/>
          </a:xfrm>
        </p:grpSpPr>
        <p:grpSp>
          <p:nvGrpSpPr>
            <p:cNvPr id="15" name="组合 14"/>
            <p:cNvGrpSpPr/>
            <p:nvPr/>
          </p:nvGrpSpPr>
          <p:grpSpPr>
            <a:xfrm>
              <a:off x="539629" y="2653145"/>
              <a:ext cx="3180183" cy="2207491"/>
              <a:chOff x="529652" y="2244436"/>
              <a:chExt cx="3180183" cy="2207491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960582" y="2244436"/>
                <a:ext cx="2207491" cy="2207491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1046248">
                <a:off x="529652" y="2316468"/>
                <a:ext cx="3180183" cy="1734645"/>
              </a:xfrm>
              <a:prstGeom prst="rect">
                <a:avLst/>
              </a:prstGeom>
            </p:spPr>
          </p:pic>
        </p:grpSp>
        <p:sp>
          <p:nvSpPr>
            <p:cNvPr id="17" name="左箭头 98"/>
            <p:cNvSpPr/>
            <p:nvPr/>
          </p:nvSpPr>
          <p:spPr>
            <a:xfrm rot="2700000">
              <a:off x="3227161" y="4773753"/>
              <a:ext cx="571898" cy="347969"/>
            </a:xfrm>
            <a:prstGeom prst="leftArrow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8" name="左箭头 98"/>
            <p:cNvSpPr/>
            <p:nvPr/>
          </p:nvSpPr>
          <p:spPr>
            <a:xfrm rot="10800000">
              <a:off x="3222242" y="2576196"/>
              <a:ext cx="571898" cy="347969"/>
            </a:xfrm>
            <a:prstGeom prst="leftArrow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2087" y="1288572"/>
            <a:ext cx="8632407" cy="5194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井井ppt"/>
          <p:cNvSpPr txBox="1"/>
          <p:nvPr/>
        </p:nvSpPr>
        <p:spPr>
          <a:xfrm>
            <a:off x="367665" y="873125"/>
            <a:ext cx="2372360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accent1"/>
                </a:solidFill>
                <a:latin typeface="+mj-ea"/>
                <a:ea typeface="+mj-ea"/>
                <a:cs typeface="+mn-ea"/>
              </a:defRPr>
            </a:lvl1pPr>
          </a:lstStyle>
          <a:p>
            <a:r>
              <a:rPr lang="en-US" altLang="zh-CN" dirty="0">
                <a:solidFill>
                  <a:srgbClr val="7E0C6E"/>
                </a:solidFill>
                <a:sym typeface="+mn-lt"/>
              </a:rPr>
              <a:t>3.2 </a:t>
            </a:r>
            <a:r>
              <a:rPr lang="zh-CN" altLang="en-US" dirty="0">
                <a:solidFill>
                  <a:srgbClr val="7E0C6E"/>
                </a:solidFill>
                <a:sym typeface="+mn-lt"/>
              </a:rPr>
              <a:t>图像采集</a:t>
            </a:r>
          </a:p>
        </p:txBody>
      </p:sp>
      <p:cxnSp>
        <p:nvCxnSpPr>
          <p:cNvPr id="16" name="井井ppt"/>
          <p:cNvCxnSpPr/>
          <p:nvPr/>
        </p:nvCxnSpPr>
        <p:spPr>
          <a:xfrm>
            <a:off x="49336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3"/>
          <a:srcRect l="1846" t="20405" r="1846"/>
          <a:stretch>
            <a:fillRect/>
          </a:stretch>
        </p:blipFill>
        <p:spPr>
          <a:xfrm>
            <a:off x="0" y="1"/>
            <a:ext cx="12192000" cy="944689"/>
          </a:xfrm>
          <a:custGeom>
            <a:avLst/>
            <a:gdLst>
              <a:gd name="connsiteX0" fmla="*/ 0 w 12192000"/>
              <a:gd name="connsiteY0" fmla="*/ 0 h 944689"/>
              <a:gd name="connsiteX1" fmla="*/ 12192000 w 12192000"/>
              <a:gd name="connsiteY1" fmla="*/ 0 h 944689"/>
              <a:gd name="connsiteX2" fmla="*/ 12192000 w 12192000"/>
              <a:gd name="connsiteY2" fmla="*/ 944689 h 944689"/>
              <a:gd name="connsiteX3" fmla="*/ 0 w 12192000"/>
              <a:gd name="connsiteY3" fmla="*/ 944689 h 94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44689">
                <a:moveTo>
                  <a:pt x="0" y="0"/>
                </a:moveTo>
                <a:lnTo>
                  <a:pt x="12192000" y="0"/>
                </a:lnTo>
                <a:lnTo>
                  <a:pt x="12192000" y="944689"/>
                </a:lnTo>
                <a:lnTo>
                  <a:pt x="0" y="944689"/>
                </a:lnTo>
                <a:close/>
              </a:path>
            </a:pathLst>
          </a:custGeom>
        </p:spPr>
      </p:pic>
      <p:sp>
        <p:nvSpPr>
          <p:cNvPr id="4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zh-CN" altLang="en-US" sz="2880" dirty="0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86160" y="0"/>
            <a:ext cx="1759474" cy="792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zh-CN" alt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020510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62234" y="216985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研究背景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21708" y="216986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研究目标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81182" y="186188"/>
            <a:ext cx="1769430" cy="402590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cs typeface="+mn-ea"/>
              </a:defRPr>
            </a:lvl1pPr>
          </a:lstStyle>
          <a:p>
            <a:pPr algn="ctr"/>
            <a:r>
              <a:rPr lang="zh-CN" altLang="en-US" sz="2000" dirty="0">
                <a:solidFill>
                  <a:schemeClr val="bg1"/>
                </a:solidFill>
                <a:sym typeface="+mn-lt"/>
              </a:rPr>
              <a:t>技术路线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40656" y="216986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项目创新点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00131" y="216985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进度安排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492668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校徽透明背景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9910" y="-36830"/>
            <a:ext cx="2190750" cy="828675"/>
          </a:xfrm>
          <a:prstGeom prst="rect">
            <a:avLst/>
          </a:prstGeom>
        </p:spPr>
      </p:pic>
      <p:cxnSp>
        <p:nvCxnSpPr>
          <p:cNvPr id="28" name="井井ppt"/>
          <p:cNvCxnSpPr/>
          <p:nvPr/>
        </p:nvCxnSpPr>
        <p:spPr>
          <a:xfrm>
            <a:off x="66977" y="1293255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组合 101"/>
          <p:cNvGrpSpPr/>
          <p:nvPr>
            <p:custDataLst>
              <p:tags r:id="rId1"/>
            </p:custDataLst>
          </p:nvPr>
        </p:nvGrpSpPr>
        <p:grpSpPr>
          <a:xfrm>
            <a:off x="924947" y="1458647"/>
            <a:ext cx="6991274" cy="626363"/>
            <a:chOff x="5930" y="2496"/>
            <a:chExt cx="12710" cy="986"/>
          </a:xfrm>
        </p:grpSpPr>
        <p:sp>
          <p:nvSpPr>
            <p:cNvPr id="99" name="矩形 3"/>
            <p:cNvSpPr/>
            <p:nvPr>
              <p:custDataLst>
                <p:tags r:id="rId18"/>
              </p:custDataLst>
            </p:nvPr>
          </p:nvSpPr>
          <p:spPr>
            <a:xfrm>
              <a:off x="5964" y="2496"/>
              <a:ext cx="12676" cy="975"/>
            </a:xfrm>
            <a:prstGeom prst="rect">
              <a:avLst/>
            </a:prstGeom>
            <a:gradFill>
              <a:gsLst>
                <a:gs pos="10000">
                  <a:srgbClr val="2363A8">
                    <a:alpha val="15000"/>
                  </a:srgbClr>
                </a:gs>
                <a:gs pos="98786">
                  <a:srgbClr val="2C56A2">
                    <a:alpha val="0"/>
                  </a:srgbClr>
                </a:gs>
              </a:gsLst>
              <a:lin ang="10872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02AE06">
                      <a:alpha val="20889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0" name="文本框 99" descr="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"/>
            <p:cNvSpPr txBox="1"/>
            <p:nvPr>
              <p:custDataLst>
                <p:tags r:id="rId19"/>
              </p:custDataLst>
            </p:nvPr>
          </p:nvSpPr>
          <p:spPr>
            <a:xfrm>
              <a:off x="6441" y="2678"/>
              <a:ext cx="836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8330">
                <a:defRPr/>
              </a:pPr>
              <a:r>
                <a:rPr lang="zh-CN" altLang="en-US" sz="2000" b="1">
                  <a:solidFill>
                    <a:srgbClr val="6B1554"/>
                  </a:solidFill>
                  <a:latin typeface="微软雅黑" panose="020B0503020204020204" charset="-122"/>
                  <a:ea typeface="微软雅黑" panose="020B0503020204020204" charset="-122"/>
                </a:rPr>
                <a:t>双触发图像获取机制</a:t>
              </a:r>
            </a:p>
          </p:txBody>
        </p:sp>
        <p:sp>
          <p:nvSpPr>
            <p:cNvPr id="101" name="矩形"/>
            <p:cNvSpPr/>
            <p:nvPr>
              <p:custDataLst>
                <p:tags r:id="rId20"/>
              </p:custDataLst>
            </p:nvPr>
          </p:nvSpPr>
          <p:spPr>
            <a:xfrm>
              <a:off x="5930" y="2507"/>
              <a:ext cx="177" cy="975"/>
            </a:xfrm>
            <a:prstGeom prst="rect">
              <a:avLst/>
            </a:prstGeom>
            <a:solidFill>
              <a:srgbClr val="6B1554"/>
            </a:solidFill>
            <a:ln w="12700">
              <a:miter lim="400000"/>
            </a:ln>
          </p:spPr>
          <p:txBody>
            <a:bodyPr tIns="91439" bIns="91439" anchor="ctr"/>
            <a:lstStyle/>
            <a:p>
              <a:pPr defTabSz="1828800">
                <a:defRPr sz="3600"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03" name="组合 102"/>
          <p:cNvGrpSpPr/>
          <p:nvPr>
            <p:custDataLst>
              <p:tags r:id="rId2"/>
            </p:custDataLst>
          </p:nvPr>
        </p:nvGrpSpPr>
        <p:grpSpPr>
          <a:xfrm>
            <a:off x="906532" y="3204897"/>
            <a:ext cx="6991274" cy="626363"/>
            <a:chOff x="5930" y="2496"/>
            <a:chExt cx="12710" cy="986"/>
          </a:xfrm>
        </p:grpSpPr>
        <p:sp>
          <p:nvSpPr>
            <p:cNvPr id="104" name="矩形 3"/>
            <p:cNvSpPr/>
            <p:nvPr>
              <p:custDataLst>
                <p:tags r:id="rId15"/>
              </p:custDataLst>
            </p:nvPr>
          </p:nvSpPr>
          <p:spPr>
            <a:xfrm>
              <a:off x="5964" y="2496"/>
              <a:ext cx="12676" cy="975"/>
            </a:xfrm>
            <a:prstGeom prst="rect">
              <a:avLst/>
            </a:prstGeom>
            <a:gradFill>
              <a:gsLst>
                <a:gs pos="10000">
                  <a:srgbClr val="2363A8">
                    <a:alpha val="15000"/>
                  </a:srgbClr>
                </a:gs>
                <a:gs pos="98786">
                  <a:srgbClr val="2C56A2">
                    <a:alpha val="0"/>
                  </a:srgbClr>
                </a:gs>
              </a:gsLst>
              <a:lin ang="10872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02AE06">
                      <a:alpha val="20889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5" name="文本框 104" descr="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"/>
            <p:cNvSpPr txBox="1"/>
            <p:nvPr>
              <p:custDataLst>
                <p:tags r:id="rId16"/>
              </p:custDataLst>
            </p:nvPr>
          </p:nvSpPr>
          <p:spPr>
            <a:xfrm>
              <a:off x="6441" y="2678"/>
              <a:ext cx="836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8330">
                <a:defRPr/>
              </a:pPr>
              <a:r>
                <a:rPr lang="zh-CN" altLang="en-US" sz="2000" b="1">
                  <a:solidFill>
                    <a:srgbClr val="6B1554"/>
                  </a:solidFill>
                  <a:latin typeface="微软雅黑" panose="020B0503020204020204" charset="-122"/>
                  <a:ea typeface="微软雅黑" panose="020B0503020204020204" charset="-122"/>
                </a:rPr>
                <a:t>场景感知与任务分流</a:t>
              </a:r>
            </a:p>
          </p:txBody>
        </p:sp>
        <p:sp>
          <p:nvSpPr>
            <p:cNvPr id="106" name="矩形"/>
            <p:cNvSpPr/>
            <p:nvPr>
              <p:custDataLst>
                <p:tags r:id="rId17"/>
              </p:custDataLst>
            </p:nvPr>
          </p:nvSpPr>
          <p:spPr>
            <a:xfrm>
              <a:off x="5930" y="2507"/>
              <a:ext cx="177" cy="975"/>
            </a:xfrm>
            <a:prstGeom prst="rect">
              <a:avLst/>
            </a:prstGeom>
            <a:solidFill>
              <a:srgbClr val="6B1554"/>
            </a:solidFill>
            <a:ln w="12700">
              <a:miter lim="400000"/>
            </a:ln>
          </p:spPr>
          <p:txBody>
            <a:bodyPr tIns="91439" bIns="91439" anchor="ctr"/>
            <a:lstStyle/>
            <a:p>
              <a:pPr defTabSz="1828800">
                <a:defRPr sz="3600"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07" name="组合 106"/>
          <p:cNvGrpSpPr/>
          <p:nvPr>
            <p:custDataLst>
              <p:tags r:id="rId3"/>
            </p:custDataLst>
          </p:nvPr>
        </p:nvGrpSpPr>
        <p:grpSpPr>
          <a:xfrm>
            <a:off x="888117" y="5014647"/>
            <a:ext cx="6991274" cy="626363"/>
            <a:chOff x="5930" y="2496"/>
            <a:chExt cx="12710" cy="986"/>
          </a:xfrm>
        </p:grpSpPr>
        <p:sp>
          <p:nvSpPr>
            <p:cNvPr id="108" name="矩形 3"/>
            <p:cNvSpPr/>
            <p:nvPr>
              <p:custDataLst>
                <p:tags r:id="rId12"/>
              </p:custDataLst>
            </p:nvPr>
          </p:nvSpPr>
          <p:spPr>
            <a:xfrm>
              <a:off x="5964" y="2496"/>
              <a:ext cx="12676" cy="975"/>
            </a:xfrm>
            <a:prstGeom prst="rect">
              <a:avLst/>
            </a:prstGeom>
            <a:gradFill>
              <a:gsLst>
                <a:gs pos="10000">
                  <a:srgbClr val="2363A8">
                    <a:alpha val="15000"/>
                  </a:srgbClr>
                </a:gs>
                <a:gs pos="98786">
                  <a:srgbClr val="2C56A2">
                    <a:alpha val="0"/>
                  </a:srgbClr>
                </a:gs>
              </a:gsLst>
              <a:lin ang="10872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02AE06">
                      <a:alpha val="20889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9" name="文本框 108" descr="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"/>
            <p:cNvSpPr txBox="1"/>
            <p:nvPr>
              <p:custDataLst>
                <p:tags r:id="rId13"/>
              </p:custDataLst>
            </p:nvPr>
          </p:nvSpPr>
          <p:spPr>
            <a:xfrm>
              <a:off x="6441" y="2678"/>
              <a:ext cx="836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608330">
                <a:buClrTx/>
                <a:buSzTx/>
                <a:buFontTx/>
                <a:defRPr/>
              </a:pPr>
              <a:r>
                <a:rPr lang="zh-CN" altLang="en-US" sz="2000" b="1">
                  <a:solidFill>
                    <a:srgbClr val="6B1554"/>
                  </a:solidFill>
                  <a:latin typeface="微软雅黑" panose="020B0503020204020204" charset="-122"/>
                  <a:ea typeface="微软雅黑" panose="020B0503020204020204" charset="-122"/>
                </a:rPr>
                <a:t>图像预处理与质量筛选</a:t>
              </a:r>
            </a:p>
          </p:txBody>
        </p:sp>
        <p:sp>
          <p:nvSpPr>
            <p:cNvPr id="110" name="矩形"/>
            <p:cNvSpPr/>
            <p:nvPr>
              <p:custDataLst>
                <p:tags r:id="rId14"/>
              </p:custDataLst>
            </p:nvPr>
          </p:nvSpPr>
          <p:spPr>
            <a:xfrm>
              <a:off x="5930" y="2507"/>
              <a:ext cx="177" cy="975"/>
            </a:xfrm>
            <a:prstGeom prst="rect">
              <a:avLst/>
            </a:prstGeom>
            <a:solidFill>
              <a:srgbClr val="6B1554"/>
            </a:solidFill>
            <a:ln w="12700">
              <a:miter lim="400000"/>
            </a:ln>
          </p:spPr>
          <p:txBody>
            <a:bodyPr tIns="91439" bIns="91439" anchor="ctr"/>
            <a:lstStyle/>
            <a:p>
              <a:pPr defTabSz="1828800">
                <a:defRPr sz="3600"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5" name="文本框 114"/>
          <p:cNvSpPr txBox="1"/>
          <p:nvPr>
            <p:custDataLst>
              <p:tags r:id="rId4"/>
            </p:custDataLst>
          </p:nvPr>
        </p:nvSpPr>
        <p:spPr>
          <a:xfrm>
            <a:off x="1003935" y="2190115"/>
            <a:ext cx="657161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/>
              <a:t>构建 </a:t>
            </a:r>
            <a:r>
              <a:rPr lang="zh-CN" altLang="en-US" sz="1600" b="1">
                <a:solidFill>
                  <a:srgbClr val="6B1554"/>
                </a:solidFill>
              </a:rPr>
              <a:t>“自动抽帧 </a:t>
            </a:r>
            <a:r>
              <a:rPr lang="en-US" altLang="zh-CN" sz="1600" b="1">
                <a:solidFill>
                  <a:srgbClr val="6B1554"/>
                </a:solidFill>
              </a:rPr>
              <a:t>+ </a:t>
            </a:r>
            <a:r>
              <a:rPr lang="zh-CN" altLang="en-US" sz="1600" b="1">
                <a:solidFill>
                  <a:srgbClr val="6B1554"/>
                </a:solidFill>
              </a:rPr>
              <a:t>手势触发”</a:t>
            </a:r>
            <a:r>
              <a:rPr lang="zh-CN" altLang="en-US" sz="1600"/>
              <a:t> 的双触发机制：一方面按固定时间间隔自动抽帧，另一方面利用 </a:t>
            </a:r>
            <a:r>
              <a:rPr lang="zh-CN" altLang="en-US" sz="1600" b="1">
                <a:solidFill>
                  <a:srgbClr val="6B1554"/>
                </a:solidFill>
              </a:rPr>
              <a:t>MediaPipe Hands</a:t>
            </a:r>
            <a:r>
              <a:rPr lang="en-US" altLang="zh-CN" sz="1600"/>
              <a:t> </a:t>
            </a:r>
            <a:r>
              <a:rPr lang="zh-CN" altLang="en-US" sz="1600"/>
              <a:t>识别手势进行主动拍摄，从而兼顾无感知记录与用户主动控制。</a:t>
            </a:r>
          </a:p>
        </p:txBody>
      </p:sp>
      <p:sp>
        <p:nvSpPr>
          <p:cNvPr id="116" name="文本框 115"/>
          <p:cNvSpPr txBox="1"/>
          <p:nvPr>
            <p:custDataLst>
              <p:tags r:id="rId5"/>
            </p:custDataLst>
          </p:nvPr>
        </p:nvSpPr>
        <p:spPr>
          <a:xfrm>
            <a:off x="1054735" y="3992245"/>
            <a:ext cx="652081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/>
              <a:t>结合 </a:t>
            </a:r>
            <a:r>
              <a:rPr lang="zh-CN" altLang="en-US" sz="1600" b="1">
                <a:solidFill>
                  <a:srgbClr val="6B1554"/>
                </a:solidFill>
              </a:rPr>
              <a:t>YOLO目标检测</a:t>
            </a:r>
            <a:r>
              <a:rPr lang="zh-CN" altLang="en-US" sz="1600"/>
              <a:t> 对候选帧进行场景过滤，仅保留包含食物、餐盘、杯子等目标的有效图像；同时通过</a:t>
            </a:r>
            <a:r>
              <a:rPr lang="en-US" altLang="zh-CN" sz="1600"/>
              <a:t> </a:t>
            </a:r>
            <a:r>
              <a:rPr lang="zh-CN" altLang="en-US" sz="1600" b="1">
                <a:solidFill>
                  <a:srgbClr val="6B1554"/>
                </a:solidFill>
              </a:rPr>
              <a:t>类型标签 + 云端兜底判别</a:t>
            </a:r>
            <a:r>
              <a:rPr lang="en-US" altLang="zh-CN" sz="1600" b="1">
                <a:solidFill>
                  <a:srgbClr val="6B1554"/>
                </a:solidFill>
              </a:rPr>
              <a:t> </a:t>
            </a:r>
            <a:r>
              <a:rPr lang="zh-CN" altLang="en-US" sz="1600"/>
              <a:t>，区分日常饮食识别与包装 </a:t>
            </a:r>
            <a:r>
              <a:rPr lang="en-US" altLang="zh-CN" sz="1600"/>
              <a:t>OCR </a:t>
            </a:r>
            <a:r>
              <a:rPr lang="zh-CN" altLang="en-US" sz="1600"/>
              <a:t>识别两类任务，避免混淆。</a:t>
            </a:r>
          </a:p>
        </p:txBody>
      </p:sp>
      <p:sp>
        <p:nvSpPr>
          <p:cNvPr id="117" name="文本框 116"/>
          <p:cNvSpPr txBox="1"/>
          <p:nvPr>
            <p:custDataLst>
              <p:tags r:id="rId6"/>
            </p:custDataLst>
          </p:nvPr>
        </p:nvSpPr>
        <p:spPr>
          <a:xfrm>
            <a:off x="1117600" y="5794375"/>
            <a:ext cx="645731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/>
              <a:t>统一图像尺寸，基于</a:t>
            </a:r>
            <a:r>
              <a:rPr lang="zh-CN" altLang="en-US" sz="1600" b="1">
                <a:solidFill>
                  <a:srgbClr val="6B1554"/>
                </a:solidFill>
              </a:rPr>
              <a:t>拉普拉斯方差评估清晰度</a:t>
            </a:r>
            <a:r>
              <a:rPr lang="zh-CN" altLang="en-US" sz="1600"/>
              <a:t>，通过计算</a:t>
            </a:r>
            <a:r>
              <a:rPr lang="zh-CN" altLang="en-US" sz="1600" b="1">
                <a:solidFill>
                  <a:srgbClr val="6B1554"/>
                </a:solidFill>
              </a:rPr>
              <a:t>灰度均值</a:t>
            </a:r>
            <a:r>
              <a:rPr lang="zh-CN" altLang="en-US" sz="1600"/>
              <a:t>检测</a:t>
            </a:r>
            <a:r>
              <a:rPr lang="zh-CN" altLang="en-US" sz="1600" b="1">
                <a:solidFill>
                  <a:srgbClr val="6B1554"/>
                </a:solidFill>
              </a:rPr>
              <a:t>亮度与对比度</a:t>
            </a:r>
            <a:r>
              <a:rPr lang="zh-CN" altLang="en-US" sz="1600"/>
              <a:t>，并利用 </a:t>
            </a:r>
            <a:r>
              <a:rPr lang="zh-CN" altLang="en-US" sz="1600" b="1">
                <a:solidFill>
                  <a:srgbClr val="6B1554"/>
                </a:solidFill>
              </a:rPr>
              <a:t>SSIM</a:t>
            </a:r>
            <a:r>
              <a:rPr lang="en-US" altLang="zh-CN" sz="1600"/>
              <a:t> </a:t>
            </a:r>
            <a:r>
              <a:rPr lang="zh-CN" altLang="en-US" sz="1600"/>
              <a:t>进行</a:t>
            </a:r>
            <a:r>
              <a:rPr lang="zh-CN" altLang="en-US" sz="1600" b="1">
                <a:solidFill>
                  <a:srgbClr val="6B1554"/>
                </a:solidFill>
              </a:rPr>
              <a:t>相似度去重</a:t>
            </a:r>
            <a:r>
              <a:rPr lang="en-US" altLang="zh-CN" sz="1600" b="1">
                <a:solidFill>
                  <a:srgbClr val="6B1554"/>
                </a:solidFill>
              </a:rPr>
              <a:t> </a:t>
            </a:r>
            <a:r>
              <a:rPr lang="zh-CN" altLang="en-US" sz="1600"/>
              <a:t>，减少模糊、过暗、过亮及重复图像进入后续识别流程。</a:t>
            </a:r>
          </a:p>
        </p:txBody>
      </p:sp>
      <p:sp>
        <p:nvSpPr>
          <p:cNvPr id="120" name="任意形状 41"/>
          <p:cNvSpPr/>
          <p:nvPr>
            <p:custDataLst>
              <p:tags r:id="rId7"/>
            </p:custDataLst>
          </p:nvPr>
        </p:nvSpPr>
        <p:spPr>
          <a:xfrm>
            <a:off x="438150" y="1582652"/>
            <a:ext cx="411479" cy="411479"/>
          </a:xfrm>
          <a:custGeom>
            <a:avLst/>
            <a:gdLst>
              <a:gd name="connsiteX0" fmla="*/ 411480 w 411479"/>
              <a:gd name="connsiteY0" fmla="*/ 205740 h 411479"/>
              <a:gd name="connsiteX1" fmla="*/ 205740 w 411479"/>
              <a:gd name="connsiteY1" fmla="*/ 411480 h 411479"/>
              <a:gd name="connsiteX2" fmla="*/ 0 w 411479"/>
              <a:gd name="connsiteY2" fmla="*/ 205740 h 411479"/>
              <a:gd name="connsiteX3" fmla="*/ 205740 w 411479"/>
              <a:gd name="connsiteY3" fmla="*/ 0 h 411479"/>
              <a:gd name="connsiteX4" fmla="*/ 411480 w 411479"/>
              <a:gd name="connsiteY4" fmla="*/ 205740 h 41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1479" h="411479">
                <a:moveTo>
                  <a:pt x="411480" y="205740"/>
                </a:moveTo>
                <a:cubicBezTo>
                  <a:pt x="411480" y="319367"/>
                  <a:pt x="319367" y="411480"/>
                  <a:pt x="205740" y="411480"/>
                </a:cubicBezTo>
                <a:cubicBezTo>
                  <a:pt x="92113" y="411480"/>
                  <a:pt x="0" y="319367"/>
                  <a:pt x="0" y="205740"/>
                </a:cubicBezTo>
                <a:cubicBezTo>
                  <a:pt x="0" y="92113"/>
                  <a:pt x="92113" y="0"/>
                  <a:pt x="205740" y="0"/>
                </a:cubicBezTo>
                <a:cubicBezTo>
                  <a:pt x="319367" y="0"/>
                  <a:pt x="411480" y="92113"/>
                  <a:pt x="411480" y="205740"/>
                </a:cubicBezTo>
                <a:close/>
              </a:path>
            </a:pathLst>
          </a:custGeom>
          <a:solidFill>
            <a:srgbClr val="6B1554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Alibaba PuHuiTi B" pitchFamily="18" charset="-122"/>
              </a:rPr>
              <a:t>1</a:t>
            </a:r>
            <a:endParaRPr lang="zh-CN" altLang="en-US" b="1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Alibaba PuHuiTi B" pitchFamily="18" charset="-122"/>
            </a:endParaRPr>
          </a:p>
        </p:txBody>
      </p:sp>
      <p:sp>
        <p:nvSpPr>
          <p:cNvPr id="122" name="任意形状 39"/>
          <p:cNvSpPr/>
          <p:nvPr>
            <p:custDataLst>
              <p:tags r:id="rId8"/>
            </p:custDataLst>
          </p:nvPr>
        </p:nvSpPr>
        <p:spPr>
          <a:xfrm>
            <a:off x="438150" y="3307947"/>
            <a:ext cx="411480" cy="411479"/>
          </a:xfrm>
          <a:custGeom>
            <a:avLst/>
            <a:gdLst>
              <a:gd name="connsiteX0" fmla="*/ 411480 w 411480"/>
              <a:gd name="connsiteY0" fmla="*/ 205740 h 411479"/>
              <a:gd name="connsiteX1" fmla="*/ 205740 w 411480"/>
              <a:gd name="connsiteY1" fmla="*/ 411480 h 411479"/>
              <a:gd name="connsiteX2" fmla="*/ 0 w 411480"/>
              <a:gd name="connsiteY2" fmla="*/ 205740 h 411479"/>
              <a:gd name="connsiteX3" fmla="*/ 205740 w 411480"/>
              <a:gd name="connsiteY3" fmla="*/ 0 h 411479"/>
              <a:gd name="connsiteX4" fmla="*/ 411480 w 411480"/>
              <a:gd name="connsiteY4" fmla="*/ 205740 h 41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1480" h="411479">
                <a:moveTo>
                  <a:pt x="411480" y="205740"/>
                </a:moveTo>
                <a:cubicBezTo>
                  <a:pt x="411480" y="319367"/>
                  <a:pt x="319367" y="411480"/>
                  <a:pt x="205740" y="411480"/>
                </a:cubicBezTo>
                <a:cubicBezTo>
                  <a:pt x="92113" y="411480"/>
                  <a:pt x="0" y="319367"/>
                  <a:pt x="0" y="205740"/>
                </a:cubicBezTo>
                <a:cubicBezTo>
                  <a:pt x="0" y="92113"/>
                  <a:pt x="92113" y="0"/>
                  <a:pt x="205740" y="0"/>
                </a:cubicBezTo>
                <a:cubicBezTo>
                  <a:pt x="319367" y="0"/>
                  <a:pt x="411480" y="92113"/>
                  <a:pt x="411480" y="205740"/>
                </a:cubicBezTo>
                <a:close/>
              </a:path>
            </a:pathLst>
          </a:custGeom>
          <a:solidFill>
            <a:srgbClr val="6B1554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Alibaba PuHuiTi B" pitchFamily="18" charset="-122"/>
              </a:rPr>
              <a:t>2</a:t>
            </a:r>
            <a:endParaRPr lang="zh-CN" altLang="en-US" b="1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Alibaba PuHuiTi B" pitchFamily="18" charset="-122"/>
            </a:endParaRPr>
          </a:p>
        </p:txBody>
      </p:sp>
      <p:sp>
        <p:nvSpPr>
          <p:cNvPr id="125" name="任意形状 42"/>
          <p:cNvSpPr/>
          <p:nvPr>
            <p:custDataLst>
              <p:tags r:id="rId9"/>
            </p:custDataLst>
          </p:nvPr>
        </p:nvSpPr>
        <p:spPr>
          <a:xfrm>
            <a:off x="438150" y="5130397"/>
            <a:ext cx="411479" cy="411479"/>
          </a:xfrm>
          <a:custGeom>
            <a:avLst/>
            <a:gdLst>
              <a:gd name="connsiteX0" fmla="*/ 411480 w 411479"/>
              <a:gd name="connsiteY0" fmla="*/ 205740 h 411479"/>
              <a:gd name="connsiteX1" fmla="*/ 205740 w 411479"/>
              <a:gd name="connsiteY1" fmla="*/ 411480 h 411479"/>
              <a:gd name="connsiteX2" fmla="*/ 0 w 411479"/>
              <a:gd name="connsiteY2" fmla="*/ 205740 h 411479"/>
              <a:gd name="connsiteX3" fmla="*/ 205740 w 411479"/>
              <a:gd name="connsiteY3" fmla="*/ 0 h 411479"/>
              <a:gd name="connsiteX4" fmla="*/ 411480 w 411479"/>
              <a:gd name="connsiteY4" fmla="*/ 205740 h 41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1479" h="411479">
                <a:moveTo>
                  <a:pt x="411480" y="205740"/>
                </a:moveTo>
                <a:cubicBezTo>
                  <a:pt x="411480" y="319367"/>
                  <a:pt x="319367" y="411480"/>
                  <a:pt x="205740" y="411480"/>
                </a:cubicBezTo>
                <a:cubicBezTo>
                  <a:pt x="92113" y="411480"/>
                  <a:pt x="0" y="319367"/>
                  <a:pt x="0" y="205740"/>
                </a:cubicBezTo>
                <a:cubicBezTo>
                  <a:pt x="0" y="92113"/>
                  <a:pt x="92113" y="0"/>
                  <a:pt x="205740" y="0"/>
                </a:cubicBezTo>
                <a:cubicBezTo>
                  <a:pt x="319367" y="0"/>
                  <a:pt x="411480" y="92113"/>
                  <a:pt x="411480" y="205740"/>
                </a:cubicBezTo>
                <a:close/>
              </a:path>
            </a:pathLst>
          </a:custGeom>
          <a:solidFill>
            <a:srgbClr val="6B1554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Alibaba PuHuiTi B" pitchFamily="18" charset="-122"/>
              </a:rPr>
              <a:t>3</a:t>
            </a:r>
            <a:endParaRPr lang="zh-CN" altLang="en-US" b="1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Alibaba PuHuiTi B" pitchFamily="18" charset="-122"/>
            </a:endParaRPr>
          </a:p>
        </p:txBody>
      </p: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7948295" y="1491615"/>
            <a:ext cx="3637280" cy="2500630"/>
          </a:xfrm>
          <a:prstGeom prst="rect">
            <a:avLst/>
          </a:prstGeom>
          <a:gradFill flip="none" rotWithShape="1">
            <a:gsLst>
              <a:gs pos="100000">
                <a:srgbClr val="FFFFFF"/>
              </a:gs>
              <a:gs pos="0">
                <a:srgbClr val="FFFFFF">
                  <a:lumMod val="95000"/>
                </a:srgbClr>
              </a:gs>
            </a:gsLst>
            <a:lin ang="5400000" scaled="1"/>
            <a:tileRect/>
          </a:gradFill>
          <a:ln>
            <a:gradFill>
              <a:gsLst>
                <a:gs pos="0">
                  <a:srgbClr val="6B1553"/>
                </a:gs>
                <a:gs pos="100000">
                  <a:srgbClr val="EFCDEB">
                    <a:alpha val="0"/>
                  </a:srgbClr>
                </a:gs>
              </a:gsLst>
              <a:lin ang="5400000" scaled="1"/>
            </a:gradFill>
          </a:ln>
          <a:effectLst>
            <a:outerShdw blurRad="381000" dist="38100" dir="16200000" rotWithShape="0">
              <a:srgbClr val="A6B3C6">
                <a:alpha val="10000"/>
              </a:srgbClr>
            </a:outerShdw>
          </a:effectLst>
        </p:spPr>
        <p:style>
          <a:lnRef idx="2">
            <a:srgbClr val="6B1553">
              <a:shade val="50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sz="3195">
              <a:solidFill>
                <a:srgbClr val="FFFFFF"/>
              </a:solidFill>
              <a:latin typeface="Calibri" panose="020F0502020204030204" pitchFamily="34" charset="0"/>
              <a:ea typeface="等线" panose="02010600030101010101" charset="-122"/>
            </a:endParaRPr>
          </a:p>
        </p:txBody>
      </p:sp>
      <p:sp>
        <p:nvSpPr>
          <p:cNvPr id="15" name="矩形 14"/>
          <p:cNvSpPr/>
          <p:nvPr>
            <p:custDataLst>
              <p:tags r:id="rId11"/>
            </p:custDataLst>
          </p:nvPr>
        </p:nvSpPr>
        <p:spPr>
          <a:xfrm>
            <a:off x="7952740" y="3830955"/>
            <a:ext cx="3637915" cy="2500630"/>
          </a:xfrm>
          <a:prstGeom prst="rect">
            <a:avLst/>
          </a:prstGeom>
          <a:gradFill flip="none" rotWithShape="1">
            <a:gsLst>
              <a:gs pos="100000">
                <a:srgbClr val="FFFFFF"/>
              </a:gs>
              <a:gs pos="0">
                <a:srgbClr val="FFFFFF">
                  <a:lumMod val="95000"/>
                </a:srgbClr>
              </a:gs>
            </a:gsLst>
            <a:lin ang="5400000" scaled="1"/>
            <a:tileRect/>
          </a:gradFill>
          <a:ln>
            <a:gradFill>
              <a:gsLst>
                <a:gs pos="0">
                  <a:srgbClr val="6B1553"/>
                </a:gs>
                <a:gs pos="100000">
                  <a:srgbClr val="EFCDEB">
                    <a:alpha val="0"/>
                  </a:srgbClr>
                </a:gs>
              </a:gsLst>
              <a:lin ang="5400000" scaled="1"/>
            </a:gradFill>
          </a:ln>
          <a:effectLst>
            <a:outerShdw blurRad="381000" dist="38100" dir="16200000" rotWithShape="0">
              <a:srgbClr val="A6B3C6">
                <a:alpha val="10000"/>
              </a:srgbClr>
            </a:outerShdw>
          </a:effectLst>
        </p:spPr>
        <p:style>
          <a:lnRef idx="2">
            <a:srgbClr val="6B1553">
              <a:shade val="50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sz="3195">
              <a:solidFill>
                <a:srgbClr val="FFFFFF"/>
              </a:solidFill>
              <a:latin typeface="Calibri" panose="020F0502020204030204" pitchFamily="34" charset="0"/>
              <a:ea typeface="等线" panose="02010600030101010101" charset="-122"/>
            </a:endParaRPr>
          </a:p>
        </p:txBody>
      </p:sp>
      <p:pic>
        <p:nvPicPr>
          <p:cNvPr id="17" name="图片 16" descr="food_detection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093075" y="3992245"/>
            <a:ext cx="3366770" cy="2339340"/>
          </a:xfrm>
          <a:prstGeom prst="rect">
            <a:avLst/>
          </a:prstGeom>
        </p:spPr>
      </p:pic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20" name="图片 19" descr="手势识别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3075" y="1642745"/>
            <a:ext cx="3394710" cy="20205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/>
    </mc:Choice>
    <mc:Fallback xmlns="">
      <p:transition spd="med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井井ppt"/>
          <p:cNvSpPr txBox="1"/>
          <p:nvPr/>
        </p:nvSpPr>
        <p:spPr>
          <a:xfrm>
            <a:off x="270510" y="923925"/>
            <a:ext cx="3437890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accent1"/>
                </a:solidFill>
                <a:latin typeface="+mj-ea"/>
                <a:ea typeface="+mj-ea"/>
                <a:cs typeface="+mn-ea"/>
              </a:defRPr>
            </a:lvl1pPr>
          </a:lstStyle>
          <a:p>
            <a:r>
              <a:rPr lang="en-US" altLang="zh-CN" dirty="0">
                <a:solidFill>
                  <a:srgbClr val="7E0C6E"/>
                </a:solidFill>
                <a:sym typeface="+mn-lt"/>
              </a:rPr>
              <a:t>3.3 </a:t>
            </a:r>
            <a:r>
              <a:rPr lang="zh-CN" altLang="en-US" dirty="0">
                <a:solidFill>
                  <a:srgbClr val="7E0C6E"/>
                </a:solidFill>
                <a:sym typeface="+mn-lt"/>
              </a:rPr>
              <a:t>食品识别与份量估计</a:t>
            </a:r>
          </a:p>
        </p:txBody>
      </p:sp>
      <p:cxnSp>
        <p:nvCxnSpPr>
          <p:cNvPr id="16" name="井井ppt"/>
          <p:cNvCxnSpPr/>
          <p:nvPr/>
        </p:nvCxnSpPr>
        <p:spPr>
          <a:xfrm>
            <a:off x="49336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rcRect l="1846" t="20405" r="1846"/>
          <a:stretch>
            <a:fillRect/>
          </a:stretch>
        </p:blipFill>
        <p:spPr>
          <a:xfrm>
            <a:off x="0" y="1"/>
            <a:ext cx="12192000" cy="944689"/>
          </a:xfrm>
          <a:custGeom>
            <a:avLst/>
            <a:gdLst>
              <a:gd name="connsiteX0" fmla="*/ 0 w 12192000"/>
              <a:gd name="connsiteY0" fmla="*/ 0 h 944689"/>
              <a:gd name="connsiteX1" fmla="*/ 12192000 w 12192000"/>
              <a:gd name="connsiteY1" fmla="*/ 0 h 944689"/>
              <a:gd name="connsiteX2" fmla="*/ 12192000 w 12192000"/>
              <a:gd name="connsiteY2" fmla="*/ 944689 h 944689"/>
              <a:gd name="connsiteX3" fmla="*/ 0 w 12192000"/>
              <a:gd name="connsiteY3" fmla="*/ 944689 h 94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44689">
                <a:moveTo>
                  <a:pt x="0" y="0"/>
                </a:moveTo>
                <a:lnTo>
                  <a:pt x="12192000" y="0"/>
                </a:lnTo>
                <a:lnTo>
                  <a:pt x="12192000" y="944689"/>
                </a:lnTo>
                <a:lnTo>
                  <a:pt x="0" y="944689"/>
                </a:lnTo>
                <a:close/>
              </a:path>
            </a:pathLst>
          </a:custGeom>
        </p:spPr>
      </p:pic>
      <p:sp>
        <p:nvSpPr>
          <p:cNvPr id="4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zh-CN" altLang="en-US" sz="2880" dirty="0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86160" y="0"/>
            <a:ext cx="1759474" cy="792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zh-CN" alt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020510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62234" y="216985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研究背景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21708" y="216986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研究目标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81182" y="186188"/>
            <a:ext cx="1769430" cy="402590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cs typeface="+mn-ea"/>
              </a:defRPr>
            </a:lvl1pPr>
          </a:lstStyle>
          <a:p>
            <a:pPr algn="ctr"/>
            <a:r>
              <a:rPr lang="zh-CN" altLang="en-US" sz="2000" dirty="0">
                <a:solidFill>
                  <a:schemeClr val="bg1"/>
                </a:solidFill>
                <a:sym typeface="+mn-lt"/>
              </a:rPr>
              <a:t>技术路线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40656" y="216986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项目创新点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00131" y="216985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进度安排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492668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校徽透明背景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9910" y="-36830"/>
            <a:ext cx="2190750" cy="828675"/>
          </a:xfrm>
          <a:prstGeom prst="rect">
            <a:avLst/>
          </a:prstGeom>
        </p:spPr>
      </p:pic>
      <p:cxnSp>
        <p:nvCxnSpPr>
          <p:cNvPr id="28" name="井井ppt"/>
          <p:cNvCxnSpPr/>
          <p:nvPr/>
        </p:nvCxnSpPr>
        <p:spPr>
          <a:xfrm>
            <a:off x="66977" y="1318020"/>
            <a:ext cx="239903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34010"/>
          </a:xfrm>
        </p:spPr>
        <p:txBody>
          <a:bodyPr/>
          <a:lstStyle/>
          <a:p>
            <a:fld id="{A8537B7A-7510-410A-AA53-45D600DA0276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29" name="矩形 3"/>
          <p:cNvSpPr/>
          <p:nvPr/>
        </p:nvSpPr>
        <p:spPr>
          <a:xfrm>
            <a:off x="521970" y="1454150"/>
            <a:ext cx="5407025" cy="447040"/>
          </a:xfrm>
          <a:prstGeom prst="rect">
            <a:avLst/>
          </a:prstGeom>
          <a:gradFill>
            <a:gsLst>
              <a:gs pos="0">
                <a:srgbClr val="6B1553">
                  <a:alpha val="10000"/>
                </a:srgbClr>
              </a:gs>
              <a:gs pos="100000">
                <a:srgbClr val="FFFFFF"/>
              </a:gs>
            </a:gsLst>
            <a:lin ang="0" scaled="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02AE06">
                    <a:alpha val="20889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00405" y="1460500"/>
            <a:ext cx="3487420" cy="393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rgbClr val="000000">
                    <a:lumMod val="95000"/>
                    <a:lumOff val="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提升复杂饮食识别与估算能力</a:t>
            </a:r>
          </a:p>
        </p:txBody>
      </p:sp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521970" y="2501265"/>
            <a:ext cx="5615940" cy="3702050"/>
          </a:xfrm>
          <a:prstGeom prst="rect">
            <a:avLst/>
          </a:prstGeom>
          <a:solidFill>
            <a:srgbClr val="FFFFFF"/>
          </a:solidFill>
          <a:ln w="12700">
            <a:solidFill>
              <a:srgbClr val="6B1553"/>
            </a:solidFill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pitchFamily="34" charset="0"/>
              <a:ea typeface="等线" panose="02010600030101010101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21970" y="2038985"/>
            <a:ext cx="5629910" cy="461010"/>
          </a:xfrm>
          <a:prstGeom prst="rect">
            <a:avLst/>
          </a:prstGeom>
          <a:solidFill>
            <a:srgbClr val="6B1553"/>
          </a:solidFill>
          <a:ln>
            <a:noFill/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pitchFamily="34" charset="0"/>
              <a:ea typeface="等线" panose="02010600030101010101" charset="-122"/>
            </a:endParaRPr>
          </a:p>
        </p:txBody>
      </p:sp>
      <p:sp>
        <p:nvSpPr>
          <p:cNvPr id="18" name="梯形 4"/>
          <p:cNvSpPr/>
          <p:nvPr/>
        </p:nvSpPr>
        <p:spPr>
          <a:xfrm rot="16200000">
            <a:off x="4041140" y="3650615"/>
            <a:ext cx="4680585" cy="458470"/>
          </a:xfrm>
          <a:custGeom>
            <a:avLst/>
            <a:gdLst>
              <a:gd name="connsiteX0" fmla="*/ 0 w 4837678"/>
              <a:gd name="connsiteY0" fmla="*/ 458700 h 458700"/>
              <a:gd name="connsiteX1" fmla="*/ 161095 w 4837678"/>
              <a:gd name="connsiteY1" fmla="*/ 0 h 458700"/>
              <a:gd name="connsiteX2" fmla="*/ 4676583 w 4837678"/>
              <a:gd name="connsiteY2" fmla="*/ 0 h 458700"/>
              <a:gd name="connsiteX3" fmla="*/ 4837678 w 4837678"/>
              <a:gd name="connsiteY3" fmla="*/ 458700 h 458700"/>
              <a:gd name="connsiteX4" fmla="*/ 0 w 4837678"/>
              <a:gd name="connsiteY4" fmla="*/ 458700 h 458700"/>
              <a:gd name="connsiteX0-1" fmla="*/ 0 w 5031642"/>
              <a:gd name="connsiteY0-2" fmla="*/ 458700 h 458700"/>
              <a:gd name="connsiteX1-3" fmla="*/ 161095 w 5031642"/>
              <a:gd name="connsiteY1-4" fmla="*/ 0 h 458700"/>
              <a:gd name="connsiteX2-5" fmla="*/ 4676583 w 5031642"/>
              <a:gd name="connsiteY2-6" fmla="*/ 0 h 458700"/>
              <a:gd name="connsiteX3-7" fmla="*/ 5031642 w 5031642"/>
              <a:gd name="connsiteY3-8" fmla="*/ 458700 h 458700"/>
              <a:gd name="connsiteX4-9" fmla="*/ 0 w 5031642"/>
              <a:gd name="connsiteY4-10" fmla="*/ 458700 h 458700"/>
              <a:gd name="connsiteX0-11" fmla="*/ 0 w 5128624"/>
              <a:gd name="connsiteY0-12" fmla="*/ 458700 h 458700"/>
              <a:gd name="connsiteX1-13" fmla="*/ 161095 w 5128624"/>
              <a:gd name="connsiteY1-14" fmla="*/ 0 h 458700"/>
              <a:gd name="connsiteX2-15" fmla="*/ 4676583 w 5128624"/>
              <a:gd name="connsiteY2-16" fmla="*/ 0 h 458700"/>
              <a:gd name="connsiteX3-17" fmla="*/ 5128624 w 5128624"/>
              <a:gd name="connsiteY3-18" fmla="*/ 458700 h 458700"/>
              <a:gd name="connsiteX4-19" fmla="*/ 0 w 5128624"/>
              <a:gd name="connsiteY4-20" fmla="*/ 458700 h 458700"/>
              <a:gd name="connsiteX0-21" fmla="*/ 0 w 5128624"/>
              <a:gd name="connsiteY0-22" fmla="*/ 458700 h 458700"/>
              <a:gd name="connsiteX1-23" fmla="*/ 36404 w 5128624"/>
              <a:gd name="connsiteY1-24" fmla="*/ 0 h 458700"/>
              <a:gd name="connsiteX2-25" fmla="*/ 4676583 w 5128624"/>
              <a:gd name="connsiteY2-26" fmla="*/ 0 h 458700"/>
              <a:gd name="connsiteX3-27" fmla="*/ 5128624 w 5128624"/>
              <a:gd name="connsiteY3-28" fmla="*/ 458700 h 458700"/>
              <a:gd name="connsiteX4-29" fmla="*/ 0 w 5128624"/>
              <a:gd name="connsiteY4-30" fmla="*/ 458700 h 458700"/>
              <a:gd name="connsiteX0-31" fmla="*/ 0 w 5128624"/>
              <a:gd name="connsiteY0-32" fmla="*/ 458700 h 458700"/>
              <a:gd name="connsiteX1-33" fmla="*/ 36404 w 5128624"/>
              <a:gd name="connsiteY1-34" fmla="*/ 0 h 458700"/>
              <a:gd name="connsiteX2-35" fmla="*/ 4593456 w 5128624"/>
              <a:gd name="connsiteY2-36" fmla="*/ 0 h 458700"/>
              <a:gd name="connsiteX3-37" fmla="*/ 5128624 w 5128624"/>
              <a:gd name="connsiteY3-38" fmla="*/ 458700 h 458700"/>
              <a:gd name="connsiteX4-39" fmla="*/ 0 w 5128624"/>
              <a:gd name="connsiteY4-40" fmla="*/ 458700 h 4587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128624" h="458700">
                <a:moveTo>
                  <a:pt x="0" y="458700"/>
                </a:moveTo>
                <a:lnTo>
                  <a:pt x="36404" y="0"/>
                </a:lnTo>
                <a:lnTo>
                  <a:pt x="4593456" y="0"/>
                </a:lnTo>
                <a:lnTo>
                  <a:pt x="5128624" y="458700"/>
                </a:lnTo>
                <a:lnTo>
                  <a:pt x="0" y="458700"/>
                </a:lnTo>
                <a:close/>
              </a:path>
            </a:pathLst>
          </a:custGeom>
          <a:gradFill flip="none" rotWithShape="1">
            <a:gsLst>
              <a:gs pos="100000">
                <a:srgbClr val="6B1553">
                  <a:alpha val="62000"/>
                </a:srgbClr>
              </a:gs>
              <a:gs pos="0">
                <a:srgbClr val="6B1553">
                  <a:alpha val="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6B1553">
              <a:shade val="50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FFFFFF"/>
              </a:solidFill>
              <a:latin typeface="Calibri" panose="020F0502020204030204" pitchFamily="34" charset="0"/>
              <a:ea typeface="等线" panose="02010600030101010101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610350" y="1541145"/>
            <a:ext cx="4981575" cy="466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6B1553"/>
            </a:solidFill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pitchFamily="34" charset="0"/>
              <a:ea typeface="等线" panose="0201060003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764540" y="2564765"/>
            <a:ext cx="2160905" cy="3486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b="1">
                <a:solidFill>
                  <a:srgbClr val="6B1553"/>
                </a:solidFill>
                <a:latin typeface="微软雅黑" panose="020B0503020204020204" charset="-122"/>
                <a:ea typeface="微软雅黑" panose="020B0503020204020204" charset="-122"/>
              </a:rPr>
              <a:t>多模态零样本识别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00405" y="2083435"/>
            <a:ext cx="5660390" cy="363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面向真实饮食场景的结构化解析方案</a:t>
            </a:r>
          </a:p>
        </p:txBody>
      </p:sp>
      <p:sp>
        <p:nvSpPr>
          <p:cNvPr id="22" name="文本框 21"/>
          <p:cNvSpPr txBox="1"/>
          <p:nvPr>
            <p:custDataLst>
              <p:tags r:id="rId3"/>
            </p:custDataLst>
          </p:nvPr>
        </p:nvSpPr>
        <p:spPr>
          <a:xfrm>
            <a:off x="764540" y="3810000"/>
            <a:ext cx="2834005" cy="3486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b="1">
                <a:solidFill>
                  <a:srgbClr val="6B1553"/>
                </a:solidFill>
                <a:latin typeface="微软雅黑" panose="020B0503020204020204" charset="-122"/>
                <a:ea typeface="微软雅黑" panose="020B0503020204020204" charset="-122"/>
              </a:rPr>
              <a:t>双模态补偿份量估计</a:t>
            </a:r>
          </a:p>
        </p:txBody>
      </p:sp>
      <p:sp>
        <p:nvSpPr>
          <p:cNvPr id="23" name="文本框 22"/>
          <p:cNvSpPr txBox="1"/>
          <p:nvPr>
            <p:custDataLst>
              <p:tags r:id="rId4"/>
            </p:custDataLst>
          </p:nvPr>
        </p:nvSpPr>
        <p:spPr>
          <a:xfrm>
            <a:off x="774700" y="5085715"/>
            <a:ext cx="2691765" cy="3486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b="1">
                <a:solidFill>
                  <a:srgbClr val="6B1553"/>
                </a:solidFill>
                <a:latin typeface="微软雅黑" panose="020B0503020204020204" charset="-122"/>
                <a:ea typeface="微软雅黑" panose="020B0503020204020204" charset="-122"/>
              </a:rPr>
              <a:t>结构化解析与校验</a:t>
            </a:r>
          </a:p>
        </p:txBody>
      </p:sp>
      <p:sp>
        <p:nvSpPr>
          <p:cNvPr id="24" name="文本框 23"/>
          <p:cNvSpPr txBox="1"/>
          <p:nvPr>
            <p:custDataLst>
              <p:tags r:id="rId5"/>
            </p:custDataLst>
          </p:nvPr>
        </p:nvSpPr>
        <p:spPr>
          <a:xfrm>
            <a:off x="764540" y="2908935"/>
            <a:ext cx="5124450" cy="8496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针对中餐复杂混合食物的识别难题，系统采用</a:t>
            </a:r>
            <a:r>
              <a:rPr lang="zh-CN" altLang="en-US" sz="1400" b="1">
                <a:solidFill>
                  <a:srgbClr val="6B1554"/>
                </a:solidFill>
                <a:latin typeface="微软雅黑" panose="020B0503020204020204" charset="-122"/>
                <a:ea typeface="微软雅黑" panose="020B0503020204020204" charset="-122"/>
              </a:rPr>
              <a:t>端侧轻量感知</a:t>
            </a:r>
            <a:r>
              <a:rPr lang="en-US" altLang="zh-CN" sz="1400" b="1">
                <a:solidFill>
                  <a:srgbClr val="6B1554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altLang="en-US" sz="1400" b="1">
                <a:solidFill>
                  <a:srgbClr val="6B1554"/>
                </a:solidFill>
                <a:latin typeface="微软雅黑" panose="020B0503020204020204" charset="-122"/>
                <a:ea typeface="微软雅黑" panose="020B0503020204020204" charset="-122"/>
              </a:rPr>
              <a:t>云端微调多模态大模型协同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的架构，实现复杂食物的零样本精细识别与食材解析。</a:t>
            </a:r>
          </a:p>
        </p:txBody>
      </p:sp>
      <p:sp>
        <p:nvSpPr>
          <p:cNvPr id="27" name="文本框 26"/>
          <p:cNvSpPr txBox="1"/>
          <p:nvPr>
            <p:custDataLst>
              <p:tags r:id="rId6"/>
            </p:custDataLst>
          </p:nvPr>
        </p:nvSpPr>
        <p:spPr>
          <a:xfrm>
            <a:off x="764540" y="4151630"/>
            <a:ext cx="5124450" cy="8877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针对单目视觉深度信息缺失的问题，系统采用</a:t>
            </a:r>
            <a:r>
              <a:rPr lang="zh-CN" altLang="en-US" sz="1400" b="1">
                <a:solidFill>
                  <a:srgbClr val="6B1554"/>
                </a:solidFill>
                <a:latin typeface="微软雅黑" panose="020B0503020204020204" charset="-122"/>
                <a:ea typeface="微软雅黑" panose="020B0503020204020204" charset="-122"/>
              </a:rPr>
              <a:t>参照物锚定</a:t>
            </a:r>
            <a:r>
              <a:rPr lang="en-US" altLang="zh-CN" sz="1400" b="1">
                <a:solidFill>
                  <a:srgbClr val="6B1554"/>
                </a:solidFill>
                <a:latin typeface="微软雅黑" panose="020B0503020204020204" charset="-122"/>
                <a:ea typeface="微软雅黑" panose="020B0503020204020204" charset="-122"/>
              </a:rPr>
              <a:t> + MediaPipe 3D </a:t>
            </a:r>
            <a:r>
              <a:rPr lang="zh-CN" altLang="en-US" sz="1400" b="1">
                <a:solidFill>
                  <a:srgbClr val="6B1554"/>
                </a:solidFill>
                <a:latin typeface="微软雅黑" panose="020B0503020204020204" charset="-122"/>
                <a:ea typeface="微软雅黑" panose="020B0503020204020204" charset="-122"/>
              </a:rPr>
              <a:t>手部关键点补偿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的双模态策略，实现复杂饮食场景下的食物份量估算。</a:t>
            </a:r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774700" y="5399405"/>
            <a:ext cx="5124450" cy="571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将识别结果解析为结构化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 JSON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数据；当置信度较低或估算异常时，触发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 Agent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发起语音核实，由用户确认或修正结果。</a:t>
            </a:r>
          </a:p>
        </p:txBody>
      </p:sp>
      <p:sp>
        <p:nvSpPr>
          <p:cNvPr id="30" name="矩形"/>
          <p:cNvSpPr/>
          <p:nvPr/>
        </p:nvSpPr>
        <p:spPr>
          <a:xfrm>
            <a:off x="519430" y="1443355"/>
            <a:ext cx="107950" cy="461010"/>
          </a:xfrm>
          <a:prstGeom prst="rect">
            <a:avLst/>
          </a:prstGeom>
          <a:solidFill>
            <a:srgbClr val="6B1553"/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defRPr sz="3600"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7" name="图片 106">
            <a:extLst>
              <a:ext uri="{FF2B5EF4-FFF2-40B4-BE49-F238E27FC236}">
                <a16:creationId xmlns:a16="http://schemas.microsoft.com/office/drawing/2014/main" id="{2ECA1F18-B834-63C0-4194-BB8E0BF2493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033" y="1524952"/>
            <a:ext cx="4981576" cy="466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/>
    </mc:Choice>
    <mc:Fallback xmlns="">
      <p:transition spd="med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井井ppt"/>
          <p:cNvSpPr txBox="1"/>
          <p:nvPr/>
        </p:nvSpPr>
        <p:spPr>
          <a:xfrm>
            <a:off x="270510" y="923925"/>
            <a:ext cx="3437890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accent1"/>
                </a:solidFill>
                <a:latin typeface="+mj-ea"/>
                <a:ea typeface="+mj-ea"/>
                <a:cs typeface="+mn-ea"/>
              </a:defRPr>
            </a:lvl1pPr>
          </a:lstStyle>
          <a:p>
            <a:r>
              <a:rPr lang="en-US" altLang="zh-CN" dirty="0">
                <a:solidFill>
                  <a:srgbClr val="7E0C6E"/>
                </a:solidFill>
                <a:sym typeface="+mn-lt"/>
              </a:rPr>
              <a:t>3.4 </a:t>
            </a:r>
            <a:r>
              <a:rPr lang="zh-CN" altLang="en-US" dirty="0">
                <a:solidFill>
                  <a:srgbClr val="7E0C6E"/>
                </a:solidFill>
                <a:sym typeface="+mn-lt"/>
              </a:rPr>
              <a:t>文本识别与风险预警</a:t>
            </a:r>
          </a:p>
        </p:txBody>
      </p:sp>
      <p:cxnSp>
        <p:nvCxnSpPr>
          <p:cNvPr id="16" name="井井ppt"/>
          <p:cNvCxnSpPr/>
          <p:nvPr/>
        </p:nvCxnSpPr>
        <p:spPr>
          <a:xfrm>
            <a:off x="49336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rcRect l="1846" t="20405" r="1846"/>
          <a:stretch>
            <a:fillRect/>
          </a:stretch>
        </p:blipFill>
        <p:spPr>
          <a:xfrm>
            <a:off x="0" y="1"/>
            <a:ext cx="12192000" cy="944689"/>
          </a:xfrm>
          <a:custGeom>
            <a:avLst/>
            <a:gdLst>
              <a:gd name="connsiteX0" fmla="*/ 0 w 12192000"/>
              <a:gd name="connsiteY0" fmla="*/ 0 h 944689"/>
              <a:gd name="connsiteX1" fmla="*/ 12192000 w 12192000"/>
              <a:gd name="connsiteY1" fmla="*/ 0 h 944689"/>
              <a:gd name="connsiteX2" fmla="*/ 12192000 w 12192000"/>
              <a:gd name="connsiteY2" fmla="*/ 944689 h 944689"/>
              <a:gd name="connsiteX3" fmla="*/ 0 w 12192000"/>
              <a:gd name="connsiteY3" fmla="*/ 944689 h 94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44689">
                <a:moveTo>
                  <a:pt x="0" y="0"/>
                </a:moveTo>
                <a:lnTo>
                  <a:pt x="12192000" y="0"/>
                </a:lnTo>
                <a:lnTo>
                  <a:pt x="12192000" y="944689"/>
                </a:lnTo>
                <a:lnTo>
                  <a:pt x="0" y="944689"/>
                </a:lnTo>
                <a:close/>
              </a:path>
            </a:pathLst>
          </a:custGeom>
        </p:spPr>
      </p:pic>
      <p:sp>
        <p:nvSpPr>
          <p:cNvPr id="4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zh-CN" altLang="en-US" sz="2880" dirty="0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86160" y="0"/>
            <a:ext cx="1759474" cy="792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zh-CN" alt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020510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62234" y="216985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研究背景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21708" y="216986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研究目标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81182" y="186188"/>
            <a:ext cx="1769430" cy="402590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cs typeface="+mn-ea"/>
              </a:defRPr>
            </a:lvl1pPr>
          </a:lstStyle>
          <a:p>
            <a:pPr algn="ctr"/>
            <a:r>
              <a:rPr lang="zh-CN" altLang="en-US" sz="2000" dirty="0">
                <a:solidFill>
                  <a:schemeClr val="bg1"/>
                </a:solidFill>
                <a:sym typeface="+mn-lt"/>
              </a:rPr>
              <a:t>技术路线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40656" y="216986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项目创新点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00131" y="216985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进度安排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492668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校徽透明背景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9910" y="-36830"/>
            <a:ext cx="2190750" cy="828675"/>
          </a:xfrm>
          <a:prstGeom prst="rect">
            <a:avLst/>
          </a:prstGeom>
        </p:spPr>
      </p:pic>
      <p:cxnSp>
        <p:nvCxnSpPr>
          <p:cNvPr id="28" name="井井ppt"/>
          <p:cNvCxnSpPr/>
          <p:nvPr/>
        </p:nvCxnSpPr>
        <p:spPr>
          <a:xfrm>
            <a:off x="66977" y="1318020"/>
            <a:ext cx="239903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34010"/>
          </a:xfrm>
        </p:spPr>
        <p:txBody>
          <a:bodyPr/>
          <a:lstStyle/>
          <a:p>
            <a:fld id="{A8537B7A-7510-410A-AA53-45D600DA0276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29" name="矩形 3"/>
          <p:cNvSpPr/>
          <p:nvPr/>
        </p:nvSpPr>
        <p:spPr>
          <a:xfrm>
            <a:off x="521970" y="1454150"/>
            <a:ext cx="5407025" cy="447040"/>
          </a:xfrm>
          <a:prstGeom prst="rect">
            <a:avLst/>
          </a:prstGeom>
          <a:gradFill>
            <a:gsLst>
              <a:gs pos="0">
                <a:srgbClr val="6B1553">
                  <a:alpha val="10000"/>
                </a:srgbClr>
              </a:gs>
              <a:gs pos="100000">
                <a:srgbClr val="FFFFFF"/>
              </a:gs>
            </a:gsLst>
            <a:lin ang="0" scaled="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02AE06">
                    <a:alpha val="20889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00405" y="1460500"/>
            <a:ext cx="3315970" cy="393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rgbClr val="000000">
                    <a:lumMod val="95000"/>
                    <a:lumOff val="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提升食品包装信息解析能力</a:t>
            </a:r>
          </a:p>
        </p:txBody>
      </p:sp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521970" y="2501265"/>
            <a:ext cx="5615940" cy="3702050"/>
          </a:xfrm>
          <a:prstGeom prst="rect">
            <a:avLst/>
          </a:prstGeom>
          <a:solidFill>
            <a:srgbClr val="FFFFFF"/>
          </a:solidFill>
          <a:ln w="12700">
            <a:solidFill>
              <a:srgbClr val="6B1553"/>
            </a:solidFill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pitchFamily="34" charset="0"/>
              <a:ea typeface="等线" panose="02010600030101010101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21970" y="2038985"/>
            <a:ext cx="5629910" cy="461010"/>
          </a:xfrm>
          <a:prstGeom prst="rect">
            <a:avLst/>
          </a:prstGeom>
          <a:solidFill>
            <a:srgbClr val="6B1553"/>
          </a:solidFill>
          <a:ln>
            <a:noFill/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pitchFamily="34" charset="0"/>
              <a:ea typeface="等线" panose="02010600030101010101" charset="-122"/>
            </a:endParaRPr>
          </a:p>
        </p:txBody>
      </p:sp>
      <p:sp>
        <p:nvSpPr>
          <p:cNvPr id="18" name="梯形 4"/>
          <p:cNvSpPr/>
          <p:nvPr/>
        </p:nvSpPr>
        <p:spPr>
          <a:xfrm rot="16200000">
            <a:off x="4041140" y="3650615"/>
            <a:ext cx="4680585" cy="458470"/>
          </a:xfrm>
          <a:custGeom>
            <a:avLst/>
            <a:gdLst>
              <a:gd name="connsiteX0" fmla="*/ 0 w 4837678"/>
              <a:gd name="connsiteY0" fmla="*/ 458700 h 458700"/>
              <a:gd name="connsiteX1" fmla="*/ 161095 w 4837678"/>
              <a:gd name="connsiteY1" fmla="*/ 0 h 458700"/>
              <a:gd name="connsiteX2" fmla="*/ 4676583 w 4837678"/>
              <a:gd name="connsiteY2" fmla="*/ 0 h 458700"/>
              <a:gd name="connsiteX3" fmla="*/ 4837678 w 4837678"/>
              <a:gd name="connsiteY3" fmla="*/ 458700 h 458700"/>
              <a:gd name="connsiteX4" fmla="*/ 0 w 4837678"/>
              <a:gd name="connsiteY4" fmla="*/ 458700 h 458700"/>
              <a:gd name="connsiteX0-1" fmla="*/ 0 w 5031642"/>
              <a:gd name="connsiteY0-2" fmla="*/ 458700 h 458700"/>
              <a:gd name="connsiteX1-3" fmla="*/ 161095 w 5031642"/>
              <a:gd name="connsiteY1-4" fmla="*/ 0 h 458700"/>
              <a:gd name="connsiteX2-5" fmla="*/ 4676583 w 5031642"/>
              <a:gd name="connsiteY2-6" fmla="*/ 0 h 458700"/>
              <a:gd name="connsiteX3-7" fmla="*/ 5031642 w 5031642"/>
              <a:gd name="connsiteY3-8" fmla="*/ 458700 h 458700"/>
              <a:gd name="connsiteX4-9" fmla="*/ 0 w 5031642"/>
              <a:gd name="connsiteY4-10" fmla="*/ 458700 h 458700"/>
              <a:gd name="connsiteX0-11" fmla="*/ 0 w 5128624"/>
              <a:gd name="connsiteY0-12" fmla="*/ 458700 h 458700"/>
              <a:gd name="connsiteX1-13" fmla="*/ 161095 w 5128624"/>
              <a:gd name="connsiteY1-14" fmla="*/ 0 h 458700"/>
              <a:gd name="connsiteX2-15" fmla="*/ 4676583 w 5128624"/>
              <a:gd name="connsiteY2-16" fmla="*/ 0 h 458700"/>
              <a:gd name="connsiteX3-17" fmla="*/ 5128624 w 5128624"/>
              <a:gd name="connsiteY3-18" fmla="*/ 458700 h 458700"/>
              <a:gd name="connsiteX4-19" fmla="*/ 0 w 5128624"/>
              <a:gd name="connsiteY4-20" fmla="*/ 458700 h 458700"/>
              <a:gd name="connsiteX0-21" fmla="*/ 0 w 5128624"/>
              <a:gd name="connsiteY0-22" fmla="*/ 458700 h 458700"/>
              <a:gd name="connsiteX1-23" fmla="*/ 36404 w 5128624"/>
              <a:gd name="connsiteY1-24" fmla="*/ 0 h 458700"/>
              <a:gd name="connsiteX2-25" fmla="*/ 4676583 w 5128624"/>
              <a:gd name="connsiteY2-26" fmla="*/ 0 h 458700"/>
              <a:gd name="connsiteX3-27" fmla="*/ 5128624 w 5128624"/>
              <a:gd name="connsiteY3-28" fmla="*/ 458700 h 458700"/>
              <a:gd name="connsiteX4-29" fmla="*/ 0 w 5128624"/>
              <a:gd name="connsiteY4-30" fmla="*/ 458700 h 458700"/>
              <a:gd name="connsiteX0-31" fmla="*/ 0 w 5128624"/>
              <a:gd name="connsiteY0-32" fmla="*/ 458700 h 458700"/>
              <a:gd name="connsiteX1-33" fmla="*/ 36404 w 5128624"/>
              <a:gd name="connsiteY1-34" fmla="*/ 0 h 458700"/>
              <a:gd name="connsiteX2-35" fmla="*/ 4593456 w 5128624"/>
              <a:gd name="connsiteY2-36" fmla="*/ 0 h 458700"/>
              <a:gd name="connsiteX3-37" fmla="*/ 5128624 w 5128624"/>
              <a:gd name="connsiteY3-38" fmla="*/ 458700 h 458700"/>
              <a:gd name="connsiteX4-39" fmla="*/ 0 w 5128624"/>
              <a:gd name="connsiteY4-40" fmla="*/ 458700 h 4587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128624" h="458700">
                <a:moveTo>
                  <a:pt x="0" y="458700"/>
                </a:moveTo>
                <a:lnTo>
                  <a:pt x="36404" y="0"/>
                </a:lnTo>
                <a:lnTo>
                  <a:pt x="4593456" y="0"/>
                </a:lnTo>
                <a:lnTo>
                  <a:pt x="5128624" y="458700"/>
                </a:lnTo>
                <a:lnTo>
                  <a:pt x="0" y="458700"/>
                </a:lnTo>
                <a:close/>
              </a:path>
            </a:pathLst>
          </a:custGeom>
          <a:gradFill flip="none" rotWithShape="1">
            <a:gsLst>
              <a:gs pos="100000">
                <a:srgbClr val="6B1553">
                  <a:alpha val="62000"/>
                </a:srgbClr>
              </a:gs>
              <a:gs pos="0">
                <a:srgbClr val="6B1553">
                  <a:alpha val="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6B1553">
              <a:shade val="50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FFFFFF"/>
              </a:solidFill>
              <a:latin typeface="Calibri" panose="020F0502020204030204" pitchFamily="34" charset="0"/>
              <a:ea typeface="等线" panose="02010600030101010101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610350" y="1548765"/>
            <a:ext cx="4981575" cy="4655185"/>
          </a:xfrm>
          <a:prstGeom prst="rect">
            <a:avLst/>
          </a:prstGeom>
          <a:solidFill>
            <a:srgbClr val="FFFFFF"/>
          </a:solidFill>
          <a:ln w="12700">
            <a:solidFill>
              <a:srgbClr val="6B1553"/>
            </a:solidFill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pitchFamily="34" charset="0"/>
              <a:ea typeface="等线" panose="0201060003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774700" y="2610485"/>
            <a:ext cx="2160905" cy="3486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>
                <a:solidFill>
                  <a:srgbClr val="6B1553"/>
                </a:solidFill>
                <a:latin typeface="微软雅黑" panose="020B0503020204020204" charset="-122"/>
                <a:ea typeface="微软雅黑" panose="020B0503020204020204" charset="-122"/>
              </a:rPr>
              <a:t>云端</a:t>
            </a:r>
            <a:r>
              <a:rPr lang="en-US" altLang="zh-CN" sz="1600" b="1">
                <a:solidFill>
                  <a:srgbClr val="6B1553"/>
                </a:solidFill>
                <a:latin typeface="微软雅黑" panose="020B0503020204020204" charset="-122"/>
                <a:ea typeface="微软雅黑" panose="020B0503020204020204" charset="-122"/>
              </a:rPr>
              <a:t> OCR </a:t>
            </a:r>
            <a:r>
              <a:rPr lang="zh-CN" altLang="en-US" sz="1600" b="1">
                <a:solidFill>
                  <a:srgbClr val="6B1553"/>
                </a:solidFill>
                <a:latin typeface="微软雅黑" panose="020B0503020204020204" charset="-122"/>
                <a:ea typeface="微软雅黑" panose="020B0503020204020204" charset="-122"/>
              </a:rPr>
              <a:t>文本识别：</a:t>
            </a:r>
            <a:endParaRPr lang="en-US" altLang="zh-CN" sz="1600">
              <a:solidFill>
                <a:srgbClr val="6B155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0405" y="2083435"/>
            <a:ext cx="5660390" cy="363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面向个性化饮食安全的风险预警方案</a:t>
            </a:r>
          </a:p>
        </p:txBody>
      </p:sp>
      <p:sp>
        <p:nvSpPr>
          <p:cNvPr id="22" name="文本框 21"/>
          <p:cNvSpPr txBox="1"/>
          <p:nvPr>
            <p:custDataLst>
              <p:tags r:id="rId3"/>
            </p:custDataLst>
          </p:nvPr>
        </p:nvSpPr>
        <p:spPr>
          <a:xfrm>
            <a:off x="764540" y="3759200"/>
            <a:ext cx="2449195" cy="3486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>
                <a:solidFill>
                  <a:srgbClr val="6B1553"/>
                </a:solidFill>
                <a:latin typeface="微软雅黑" panose="020B0503020204020204" charset="-122"/>
                <a:ea typeface="微软雅黑" panose="020B0503020204020204" charset="-122"/>
              </a:rPr>
              <a:t>任务区分与结构化解析：</a:t>
            </a:r>
            <a:endParaRPr lang="en-US" altLang="zh-CN" sz="1600">
              <a:solidFill>
                <a:srgbClr val="6B155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4"/>
            </p:custDataLst>
          </p:nvPr>
        </p:nvSpPr>
        <p:spPr>
          <a:xfrm>
            <a:off x="764540" y="4975225"/>
            <a:ext cx="2691765" cy="3486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>
                <a:solidFill>
                  <a:srgbClr val="6B1553"/>
                </a:solidFill>
                <a:latin typeface="微软雅黑" panose="020B0503020204020204" charset="-122"/>
                <a:ea typeface="微软雅黑" panose="020B0503020204020204" charset="-122"/>
              </a:rPr>
              <a:t>动态健康风险量化计算：</a:t>
            </a:r>
            <a:endParaRPr lang="en-US" altLang="zh-CN" sz="1600">
              <a:solidFill>
                <a:srgbClr val="6B155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5"/>
            </p:custDataLst>
          </p:nvPr>
        </p:nvSpPr>
        <p:spPr>
          <a:xfrm>
            <a:off x="764540" y="3037205"/>
            <a:ext cx="5124450" cy="571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眼镜端拍摄并上传图像，云端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 OCR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完成配料表和营养成分表识别，并通过</a:t>
            </a:r>
            <a:r>
              <a:rPr lang="zh-CN" altLang="en-US" sz="1400" b="1">
                <a:solidFill>
                  <a:srgbClr val="6B1554"/>
                </a:solidFill>
                <a:latin typeface="微软雅黑" panose="020B0503020204020204" charset="-122"/>
                <a:ea typeface="微软雅黑" panose="020B0503020204020204" charset="-122"/>
              </a:rPr>
              <a:t>去反光、去畸变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提升复杂包装场景下的识别效果。</a:t>
            </a:r>
          </a:p>
        </p:txBody>
      </p:sp>
      <p:sp>
        <p:nvSpPr>
          <p:cNvPr id="27" name="文本框 26"/>
          <p:cNvSpPr txBox="1"/>
          <p:nvPr>
            <p:custDataLst>
              <p:tags r:id="rId6"/>
            </p:custDataLst>
          </p:nvPr>
        </p:nvSpPr>
        <p:spPr>
          <a:xfrm>
            <a:off x="764540" y="4151630"/>
            <a:ext cx="5124450" cy="571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根据图像类型将其分流到食物识别或包装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 OCR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管线，再利用大模型提取配料与营养信息，输出结构化结果。</a:t>
            </a:r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774700" y="5399405"/>
            <a:ext cx="5124450" cy="571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结合用户过敏史和健康档案，对成分与营养指标进行匹配和计算，分级触发个性化风险预警。</a:t>
            </a:r>
          </a:p>
        </p:txBody>
      </p:sp>
      <p:sp>
        <p:nvSpPr>
          <p:cNvPr id="30" name="矩形"/>
          <p:cNvSpPr/>
          <p:nvPr/>
        </p:nvSpPr>
        <p:spPr>
          <a:xfrm>
            <a:off x="519430" y="1443355"/>
            <a:ext cx="107950" cy="461010"/>
          </a:xfrm>
          <a:prstGeom prst="rect">
            <a:avLst/>
          </a:prstGeom>
          <a:solidFill>
            <a:srgbClr val="6B1553"/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defRPr sz="3600"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1" name="图片 30" descr="OCR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49085" y="1586230"/>
            <a:ext cx="4928235" cy="4591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井井ppt"/>
          <p:cNvSpPr txBox="1"/>
          <p:nvPr/>
        </p:nvSpPr>
        <p:spPr>
          <a:xfrm>
            <a:off x="262255" y="987425"/>
            <a:ext cx="4265295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accent1"/>
                </a:solidFill>
                <a:latin typeface="+mj-ea"/>
                <a:ea typeface="+mj-ea"/>
                <a:cs typeface="+mn-ea"/>
              </a:defRPr>
            </a:lvl1pPr>
          </a:lstStyle>
          <a:p>
            <a:r>
              <a:rPr lang="en-US" altLang="zh-CN" dirty="0">
                <a:solidFill>
                  <a:srgbClr val="7E0C6E"/>
                </a:solidFill>
                <a:sym typeface="+mn-lt"/>
              </a:rPr>
              <a:t>3.5 </a:t>
            </a:r>
            <a:r>
              <a:rPr lang="zh-CN" altLang="en-US" dirty="0">
                <a:solidFill>
                  <a:srgbClr val="7E0C6E"/>
                </a:solidFill>
                <a:sym typeface="+mn-lt"/>
              </a:rPr>
              <a:t>动态营养分析与个性化健康反馈</a:t>
            </a:r>
          </a:p>
        </p:txBody>
      </p:sp>
      <p:cxnSp>
        <p:nvCxnSpPr>
          <p:cNvPr id="16" name="井井ppt"/>
          <p:cNvCxnSpPr/>
          <p:nvPr/>
        </p:nvCxnSpPr>
        <p:spPr>
          <a:xfrm>
            <a:off x="49336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l="1846" t="20405" r="1846"/>
          <a:stretch>
            <a:fillRect/>
          </a:stretch>
        </p:blipFill>
        <p:spPr>
          <a:xfrm>
            <a:off x="0" y="1"/>
            <a:ext cx="12192000" cy="944689"/>
          </a:xfrm>
          <a:custGeom>
            <a:avLst/>
            <a:gdLst>
              <a:gd name="connsiteX0" fmla="*/ 0 w 12192000"/>
              <a:gd name="connsiteY0" fmla="*/ 0 h 944689"/>
              <a:gd name="connsiteX1" fmla="*/ 12192000 w 12192000"/>
              <a:gd name="connsiteY1" fmla="*/ 0 h 944689"/>
              <a:gd name="connsiteX2" fmla="*/ 12192000 w 12192000"/>
              <a:gd name="connsiteY2" fmla="*/ 944689 h 944689"/>
              <a:gd name="connsiteX3" fmla="*/ 0 w 12192000"/>
              <a:gd name="connsiteY3" fmla="*/ 944689 h 94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44689">
                <a:moveTo>
                  <a:pt x="0" y="0"/>
                </a:moveTo>
                <a:lnTo>
                  <a:pt x="12192000" y="0"/>
                </a:lnTo>
                <a:lnTo>
                  <a:pt x="12192000" y="944689"/>
                </a:lnTo>
                <a:lnTo>
                  <a:pt x="0" y="944689"/>
                </a:lnTo>
                <a:close/>
              </a:path>
            </a:pathLst>
          </a:custGeom>
        </p:spPr>
      </p:pic>
      <p:sp>
        <p:nvSpPr>
          <p:cNvPr id="4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zh-CN" altLang="en-US" sz="2880" dirty="0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86160" y="0"/>
            <a:ext cx="1759474" cy="792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zh-CN" alt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020510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62234" y="216985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研究背景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21708" y="216986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研究目标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81182" y="186188"/>
            <a:ext cx="1769430" cy="402590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cs typeface="+mn-ea"/>
              </a:defRPr>
            </a:lvl1pPr>
          </a:lstStyle>
          <a:p>
            <a:pPr algn="ctr"/>
            <a:r>
              <a:rPr lang="zh-CN" altLang="en-US" sz="2000" dirty="0">
                <a:solidFill>
                  <a:schemeClr val="bg1"/>
                </a:solidFill>
                <a:sym typeface="+mn-lt"/>
              </a:rPr>
              <a:t>技术路线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40656" y="216986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项目创新点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00131" y="216985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进度安排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492668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校徽透明背景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" y="-36830"/>
            <a:ext cx="2190750" cy="828675"/>
          </a:xfrm>
          <a:prstGeom prst="rect">
            <a:avLst/>
          </a:prstGeom>
        </p:spPr>
      </p:pic>
      <p:cxnSp>
        <p:nvCxnSpPr>
          <p:cNvPr id="28" name="井井ppt"/>
          <p:cNvCxnSpPr/>
          <p:nvPr/>
        </p:nvCxnSpPr>
        <p:spPr>
          <a:xfrm flipV="1">
            <a:off x="66977" y="1403745"/>
            <a:ext cx="4219575" cy="38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41350" y="1680210"/>
            <a:ext cx="7879080" cy="4675505"/>
          </a:xfrm>
          <a:prstGeom prst="rect">
            <a:avLst/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623425" y="1016000"/>
            <a:ext cx="1386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APP</a:t>
            </a:r>
            <a:r>
              <a:rPr lang="zh-CN" altLang="en-US" sz="2000"/>
              <a:t>展示</a:t>
            </a:r>
          </a:p>
        </p:txBody>
      </p:sp>
      <p:pic>
        <p:nvPicPr>
          <p:cNvPr id="37" name="图片 36" descr="45部分流程图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866900"/>
            <a:ext cx="7640955" cy="4364990"/>
          </a:xfrm>
          <a:prstGeom prst="rect">
            <a:avLst/>
          </a:prstGeom>
        </p:spPr>
      </p:pic>
      <p:sp>
        <p:nvSpPr>
          <p:cNvPr id="41" name="圆角矩形 40"/>
          <p:cNvSpPr/>
          <p:nvPr/>
        </p:nvSpPr>
        <p:spPr>
          <a:xfrm>
            <a:off x="8957310" y="1485900"/>
            <a:ext cx="2482850" cy="4845050"/>
          </a:xfrm>
          <a:prstGeom prst="roundRect">
            <a:avLst>
              <a:gd name="adj" fmla="val 6025"/>
            </a:avLst>
          </a:prstGeom>
          <a:blipFill rotWithShape="1">
            <a:blip r:embed="rId6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/>
    </mc:Choice>
    <mc:Fallback xmlns="">
      <p:transition spd="med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35" y="2221865"/>
            <a:ext cx="12192635" cy="2449830"/>
          </a:xfrm>
          <a:prstGeom prst="rect">
            <a:avLst/>
          </a:prstGeom>
          <a:gradFill>
            <a:gsLst>
              <a:gs pos="100000">
                <a:srgbClr val="6B1553">
                  <a:alpha val="80000"/>
                </a:srgbClr>
              </a:gs>
              <a:gs pos="0">
                <a:srgbClr val="6B1553"/>
              </a:gs>
            </a:gsLst>
            <a:lin ang="5400000" scaled="1"/>
          </a:gradFill>
          <a:ln>
            <a:noFill/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井井ppt"/>
          <p:cNvSpPr txBox="1"/>
          <p:nvPr/>
        </p:nvSpPr>
        <p:spPr>
          <a:xfrm>
            <a:off x="5259874" y="1384035"/>
            <a:ext cx="1656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7E0C6E"/>
                </a:solidFill>
                <a:cs typeface="+mn-ea"/>
                <a:sym typeface="+mn-lt"/>
              </a:rPr>
              <a:t>Part.04</a:t>
            </a:r>
          </a:p>
        </p:txBody>
      </p:sp>
      <p:grpSp>
        <p:nvGrpSpPr>
          <p:cNvPr id="23" name="井井ppt"/>
          <p:cNvGrpSpPr/>
          <p:nvPr/>
        </p:nvGrpSpPr>
        <p:grpSpPr>
          <a:xfrm>
            <a:off x="3327401" y="2763244"/>
            <a:ext cx="5537198" cy="1331333"/>
            <a:chOff x="3327401" y="2861512"/>
            <a:chExt cx="5537198" cy="1331333"/>
          </a:xfrm>
        </p:grpSpPr>
        <p:sp>
          <p:nvSpPr>
            <p:cNvPr id="9" name="powerpoint template design by DAJU_PPT正版来源小红书大橘PPT微信DAJU_PPT请勿抄袭搬运！盗版必究！-1"/>
            <p:cNvSpPr txBox="1"/>
            <p:nvPr/>
          </p:nvSpPr>
          <p:spPr>
            <a:xfrm>
              <a:off x="3327401" y="2861512"/>
              <a:ext cx="5537198" cy="830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5400" b="1" spc="600" dirty="0">
                  <a:solidFill>
                    <a:schemeClr val="bg1"/>
                  </a:solidFill>
                  <a:cs typeface="+mn-ea"/>
                  <a:sym typeface="+mn-lt"/>
                </a:rPr>
                <a:t>项目创新点</a:t>
              </a:r>
            </a:p>
          </p:txBody>
        </p:sp>
        <p:sp>
          <p:nvSpPr>
            <p:cNvPr id="22" name="powerpoint template design by DAJU_PPT正版来源小红书大橘PPT微信DAJU_PPT请勿抄袭搬运！盗版必究！-2"/>
            <p:cNvSpPr txBox="1"/>
            <p:nvPr/>
          </p:nvSpPr>
          <p:spPr>
            <a:xfrm>
              <a:off x="3327401" y="3977580"/>
              <a:ext cx="5537198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spc="300" dirty="0">
                  <a:solidFill>
                    <a:schemeClr val="bg1"/>
                  </a:solidFill>
                  <a:cs typeface="+mn-ea"/>
                  <a:sym typeface="+mn-lt"/>
                </a:rPr>
                <a:t>Research Ideas And Methods</a:t>
              </a:r>
            </a:p>
          </p:txBody>
        </p:sp>
        <p:cxnSp>
          <p:nvCxnSpPr>
            <p:cNvPr id="4" name="powerpoint template design by DAJU_PPT正版来源小红书大橘PPT微信DAJU_PPT请勿抄袭搬运！盗版必究！-3"/>
            <p:cNvCxnSpPr/>
            <p:nvPr/>
          </p:nvCxnSpPr>
          <p:spPr>
            <a:xfrm>
              <a:off x="3622089" y="3843484"/>
              <a:ext cx="4860000" cy="0"/>
            </a:xfrm>
            <a:prstGeom prst="line">
              <a:avLst/>
            </a:prstGeom>
            <a:ln>
              <a:solidFill>
                <a:schemeClr val="bg1">
                  <a:alpha val="7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480675" y="0"/>
            <a:ext cx="1175385" cy="1295400"/>
          </a:xfrm>
          <a:prstGeom prst="rect">
            <a:avLst/>
          </a:prstGeom>
        </p:spPr>
      </p:pic>
      <p:pic>
        <p:nvPicPr>
          <p:cNvPr id="31" name="图片 30" descr="校徽透明背景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" y="70485"/>
            <a:ext cx="2190750" cy="828675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形状 57"/>
          <p:cNvSpPr/>
          <p:nvPr/>
        </p:nvSpPr>
        <p:spPr>
          <a:xfrm rot="18825897" flipV="1">
            <a:off x="1284444" y="538530"/>
            <a:ext cx="9887733" cy="5761582"/>
          </a:xfrm>
          <a:prstGeom prst="swooshArrow">
            <a:avLst>
              <a:gd name="adj1" fmla="val 25000"/>
              <a:gd name="adj2" fmla="val 41855"/>
            </a:avLst>
          </a:prstGeom>
          <a:gradFill>
            <a:gsLst>
              <a:gs pos="13000">
                <a:srgbClr val="FFE697"/>
              </a:gs>
              <a:gs pos="64000">
                <a:srgbClr val="FFBA0D"/>
              </a:gs>
            </a:gsLst>
            <a:lin ang="1800000" scaled="0"/>
          </a:gra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cxnSp>
        <p:nvCxnSpPr>
          <p:cNvPr id="16" name="井井ppt"/>
          <p:cNvCxnSpPr/>
          <p:nvPr/>
        </p:nvCxnSpPr>
        <p:spPr>
          <a:xfrm>
            <a:off x="49336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32"/>
          <a:srcRect l="1846" t="20405" r="1846"/>
          <a:stretch>
            <a:fillRect/>
          </a:stretch>
        </p:blipFill>
        <p:spPr>
          <a:xfrm>
            <a:off x="0" y="1"/>
            <a:ext cx="12192000" cy="944689"/>
          </a:xfrm>
          <a:custGeom>
            <a:avLst/>
            <a:gdLst>
              <a:gd name="connsiteX0" fmla="*/ 0 w 12192000"/>
              <a:gd name="connsiteY0" fmla="*/ 0 h 944689"/>
              <a:gd name="connsiteX1" fmla="*/ 12192000 w 12192000"/>
              <a:gd name="connsiteY1" fmla="*/ 0 h 944689"/>
              <a:gd name="connsiteX2" fmla="*/ 12192000 w 12192000"/>
              <a:gd name="connsiteY2" fmla="*/ 944689 h 944689"/>
              <a:gd name="connsiteX3" fmla="*/ 0 w 12192000"/>
              <a:gd name="connsiteY3" fmla="*/ 944689 h 94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44689">
                <a:moveTo>
                  <a:pt x="0" y="0"/>
                </a:moveTo>
                <a:lnTo>
                  <a:pt x="12192000" y="0"/>
                </a:lnTo>
                <a:lnTo>
                  <a:pt x="12192000" y="944689"/>
                </a:lnTo>
                <a:lnTo>
                  <a:pt x="0" y="944689"/>
                </a:lnTo>
                <a:close/>
              </a:path>
            </a:pathLst>
          </a:custGeom>
        </p:spPr>
      </p:pic>
      <p:sp>
        <p:nvSpPr>
          <p:cNvPr id="4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zh-CN" altLang="en-US" sz="2880" dirty="0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440665" y="0"/>
            <a:ext cx="1759474" cy="792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zh-CN" alt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>
            <p:custDataLst>
              <p:tags r:id="rId1"/>
            </p:custDataLst>
          </p:nvPr>
        </p:nvCxnSpPr>
        <p:spPr>
          <a:xfrm>
            <a:off x="6706893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62234" y="216985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研究背景</a:t>
            </a:r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4921708" y="216986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研究目标</a:t>
            </a:r>
          </a:p>
        </p:txBody>
      </p:sp>
      <p:sp>
        <p:nvSpPr>
          <p:cNvPr id="9" name="TextBox 9"/>
          <p:cNvSpPr txBox="1"/>
          <p:nvPr>
            <p:custDataLst>
              <p:tags r:id="rId3"/>
            </p:custDataLst>
          </p:nvPr>
        </p:nvSpPr>
        <p:spPr>
          <a:xfrm>
            <a:off x="6893560" y="217170"/>
            <a:ext cx="142875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cs typeface="+mn-ea"/>
              </a:defRPr>
            </a:lvl1pPr>
          </a:lstStyle>
          <a:p>
            <a:pPr algn="ctr"/>
            <a:r>
              <a:rPr lang="zh-CN" altLang="en-US" sz="1600" b="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技术路线</a:t>
            </a:r>
          </a:p>
        </p:txBody>
      </p:sp>
      <p:sp>
        <p:nvSpPr>
          <p:cNvPr id="10" name="TextBox 10"/>
          <p:cNvSpPr txBox="1"/>
          <p:nvPr>
            <p:custDataLst>
              <p:tags r:id="rId4"/>
            </p:custDataLst>
          </p:nvPr>
        </p:nvSpPr>
        <p:spPr>
          <a:xfrm>
            <a:off x="8514715" y="186055"/>
            <a:ext cx="1603375" cy="402590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cs typeface="+mn-ea"/>
                <a:sym typeface="+mn-lt"/>
              </a:rPr>
              <a:t>项目创新点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TextBox 11"/>
          <p:cNvSpPr txBox="1"/>
          <p:nvPr>
            <p:custDataLst>
              <p:tags r:id="rId5"/>
            </p:custDataLst>
          </p:nvPr>
        </p:nvSpPr>
        <p:spPr>
          <a:xfrm>
            <a:off x="10326370" y="217170"/>
            <a:ext cx="1603375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进度安排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492668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校徽透明背景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49910" y="-36830"/>
            <a:ext cx="2190750" cy="82867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15</a:t>
            </a:fld>
            <a:endParaRPr lang="zh-CN" altLang="en-US"/>
          </a:p>
        </p:txBody>
      </p:sp>
      <p:grpSp>
        <p:nvGrpSpPr>
          <p:cNvPr id="51" name="组合 50"/>
          <p:cNvGrpSpPr/>
          <p:nvPr/>
        </p:nvGrpSpPr>
        <p:grpSpPr>
          <a:xfrm>
            <a:off x="8422063" y="2608733"/>
            <a:ext cx="3306387" cy="4249266"/>
            <a:chOff x="8422063" y="2608733"/>
            <a:chExt cx="3306387" cy="4249266"/>
          </a:xfrm>
        </p:grpSpPr>
        <p:sp>
          <p:nvSpPr>
            <p:cNvPr id="31" name="任意形状 45"/>
            <p:cNvSpPr/>
            <p:nvPr>
              <p:custDataLst>
                <p:tags r:id="rId27"/>
              </p:custDataLst>
            </p:nvPr>
          </p:nvSpPr>
          <p:spPr>
            <a:xfrm>
              <a:off x="11213903" y="2608733"/>
              <a:ext cx="514547" cy="4249265"/>
            </a:xfrm>
            <a:custGeom>
              <a:avLst/>
              <a:gdLst>
                <a:gd name="connsiteX0" fmla="*/ 462280 w 462280"/>
                <a:gd name="connsiteY0" fmla="*/ 0 h 3690620"/>
                <a:gd name="connsiteX1" fmla="*/ 0 w 462280"/>
                <a:gd name="connsiteY1" fmla="*/ 267970 h 3690620"/>
                <a:gd name="connsiteX2" fmla="*/ 0 w 462280"/>
                <a:gd name="connsiteY2" fmla="*/ 3690620 h 3690620"/>
                <a:gd name="connsiteX3" fmla="*/ 462280 w 462280"/>
                <a:gd name="connsiteY3" fmla="*/ 3690620 h 3690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2280" h="3690620">
                  <a:moveTo>
                    <a:pt x="462280" y="0"/>
                  </a:moveTo>
                  <a:lnTo>
                    <a:pt x="0" y="267970"/>
                  </a:lnTo>
                  <a:lnTo>
                    <a:pt x="0" y="3690620"/>
                  </a:lnTo>
                  <a:lnTo>
                    <a:pt x="462280" y="3690620"/>
                  </a:lnTo>
                  <a:close/>
                </a:path>
              </a:pathLst>
            </a:custGeom>
            <a:solidFill>
              <a:srgbClr val="E7E6E6">
                <a:lumMod val="90000"/>
                <a:alpha val="85000"/>
              </a:srgb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任意形状 48"/>
            <p:cNvSpPr/>
            <p:nvPr>
              <p:custDataLst>
                <p:tags r:id="rId28"/>
              </p:custDataLst>
            </p:nvPr>
          </p:nvSpPr>
          <p:spPr>
            <a:xfrm>
              <a:off x="8422063" y="2876705"/>
              <a:ext cx="2791841" cy="3981294"/>
            </a:xfrm>
            <a:custGeom>
              <a:avLst/>
              <a:gdLst>
                <a:gd name="connsiteX0" fmla="*/ 0 w 2508250"/>
                <a:gd name="connsiteY0" fmla="*/ 0 h 3422650"/>
                <a:gd name="connsiteX1" fmla="*/ 2508250 w 2508250"/>
                <a:gd name="connsiteY1" fmla="*/ 0 h 3422650"/>
                <a:gd name="connsiteX2" fmla="*/ 2508250 w 2508250"/>
                <a:gd name="connsiteY2" fmla="*/ 3422650 h 3422650"/>
                <a:gd name="connsiteX3" fmla="*/ 0 w 2508250"/>
                <a:gd name="connsiteY3" fmla="*/ 3422650 h 3422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8250" h="3422650">
                  <a:moveTo>
                    <a:pt x="0" y="0"/>
                  </a:moveTo>
                  <a:lnTo>
                    <a:pt x="2508250" y="0"/>
                  </a:lnTo>
                  <a:lnTo>
                    <a:pt x="2508250" y="3422650"/>
                  </a:lnTo>
                  <a:lnTo>
                    <a:pt x="0" y="3422650"/>
                  </a:lnTo>
                  <a:close/>
                </a:path>
              </a:pathLst>
            </a:custGeom>
            <a:solidFill>
              <a:srgbClr val="E7E6E6">
                <a:alpha val="85000"/>
              </a:srgb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文本框 37"/>
            <p:cNvSpPr txBox="1"/>
            <p:nvPr>
              <p:custDataLst>
                <p:tags r:id="rId29"/>
              </p:custDataLst>
            </p:nvPr>
          </p:nvSpPr>
          <p:spPr>
            <a:xfrm>
              <a:off x="8572351" y="3270477"/>
              <a:ext cx="2514600" cy="2609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spcAft>
                  <a:spcPts val="1000"/>
                </a:spcAft>
                <a:buFont typeface="Wingdings" panose="05000000000000000000" charset="0"/>
                <a:buChar char="Ø"/>
              </a:pPr>
              <a:r>
                <a:rPr kumimoji="1" lang="zh-CN" altLang="en-US" sz="1400" dirty="0">
                  <a:latin typeface="微软雅黑" panose="020B0503020204020204" charset="-122"/>
                  <a:ea typeface="微软雅黑" panose="020B0503020204020204" charset="-122"/>
                </a:rPr>
                <a:t>结合用户健康画像、规则引擎与实时语音反馈</a:t>
              </a:r>
            </a:p>
            <a:p>
              <a:pPr marL="285750" indent="-285750" algn="just">
                <a:lnSpc>
                  <a:spcPct val="150000"/>
                </a:lnSpc>
                <a:spcAft>
                  <a:spcPts val="1000"/>
                </a:spcAft>
                <a:buFont typeface="Wingdings" panose="05000000000000000000" charset="0"/>
                <a:buChar char="Ø"/>
              </a:pPr>
              <a:r>
                <a:rPr kumimoji="1" lang="zh-CN" altLang="en-US" sz="1400" dirty="0">
                  <a:latin typeface="微软雅黑" panose="020B0503020204020204" charset="-122"/>
                  <a:ea typeface="微软雅黑" panose="020B0503020204020204" charset="-122"/>
                </a:rPr>
                <a:t>构建“端侧轻感知—云端强推理—终端即时预警”的闭环机制</a:t>
              </a:r>
            </a:p>
            <a:p>
              <a:pPr marL="285750" indent="-285750" algn="just">
                <a:lnSpc>
                  <a:spcPct val="150000"/>
                </a:lnSpc>
                <a:spcAft>
                  <a:spcPts val="1000"/>
                </a:spcAft>
                <a:buFont typeface="Wingdings" panose="05000000000000000000" charset="0"/>
                <a:buChar char="Ø"/>
              </a:pPr>
              <a:r>
                <a:rPr kumimoji="1" lang="zh-CN" altLang="en-US" sz="1400" dirty="0">
                  <a:latin typeface="微软雅黑" panose="020B0503020204020204" charset="-122"/>
                  <a:ea typeface="微软雅黑" panose="020B0503020204020204" charset="-122"/>
                </a:rPr>
                <a:t>实现从被动记录到主动健康管理的转变。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4442806" y="2969415"/>
            <a:ext cx="3306388" cy="3888584"/>
            <a:chOff x="4442806" y="2969415"/>
            <a:chExt cx="3306388" cy="3888584"/>
          </a:xfrm>
        </p:grpSpPr>
        <p:sp>
          <p:nvSpPr>
            <p:cNvPr id="25" name="任意形状 38"/>
            <p:cNvSpPr/>
            <p:nvPr>
              <p:custDataLst>
                <p:tags r:id="rId24"/>
              </p:custDataLst>
            </p:nvPr>
          </p:nvSpPr>
          <p:spPr>
            <a:xfrm>
              <a:off x="4442806" y="3237384"/>
              <a:ext cx="2791841" cy="3620615"/>
            </a:xfrm>
            <a:custGeom>
              <a:avLst/>
              <a:gdLst>
                <a:gd name="connsiteX0" fmla="*/ 0 w 2508250"/>
                <a:gd name="connsiteY0" fmla="*/ 0 h 3061970"/>
                <a:gd name="connsiteX1" fmla="*/ 2508250 w 2508250"/>
                <a:gd name="connsiteY1" fmla="*/ 0 h 3061970"/>
                <a:gd name="connsiteX2" fmla="*/ 2508250 w 2508250"/>
                <a:gd name="connsiteY2" fmla="*/ 3061970 h 3061970"/>
                <a:gd name="connsiteX3" fmla="*/ 0 w 2508250"/>
                <a:gd name="connsiteY3" fmla="*/ 3061970 h 3061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8250" h="3061970">
                  <a:moveTo>
                    <a:pt x="0" y="0"/>
                  </a:moveTo>
                  <a:lnTo>
                    <a:pt x="2508250" y="0"/>
                  </a:lnTo>
                  <a:lnTo>
                    <a:pt x="2508250" y="3061970"/>
                  </a:lnTo>
                  <a:lnTo>
                    <a:pt x="0" y="3061970"/>
                  </a:lnTo>
                  <a:close/>
                </a:path>
              </a:pathLst>
            </a:custGeom>
            <a:solidFill>
              <a:srgbClr val="E7E6E6">
                <a:alpha val="85000"/>
              </a:srgb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任意形状 41"/>
            <p:cNvSpPr/>
            <p:nvPr>
              <p:custDataLst>
                <p:tags r:id="rId25"/>
              </p:custDataLst>
            </p:nvPr>
          </p:nvSpPr>
          <p:spPr>
            <a:xfrm>
              <a:off x="7234647" y="2969415"/>
              <a:ext cx="514547" cy="3888584"/>
            </a:xfrm>
            <a:custGeom>
              <a:avLst/>
              <a:gdLst>
                <a:gd name="connsiteX0" fmla="*/ 462280 w 462280"/>
                <a:gd name="connsiteY0" fmla="*/ 0 h 3329939"/>
                <a:gd name="connsiteX1" fmla="*/ 0 w 462280"/>
                <a:gd name="connsiteY1" fmla="*/ 267970 h 3329939"/>
                <a:gd name="connsiteX2" fmla="*/ 0 w 462280"/>
                <a:gd name="connsiteY2" fmla="*/ 3329940 h 3329939"/>
                <a:gd name="connsiteX3" fmla="*/ 462280 w 462280"/>
                <a:gd name="connsiteY3" fmla="*/ 3329940 h 332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2280" h="3329939">
                  <a:moveTo>
                    <a:pt x="462280" y="0"/>
                  </a:moveTo>
                  <a:lnTo>
                    <a:pt x="0" y="267970"/>
                  </a:lnTo>
                  <a:lnTo>
                    <a:pt x="0" y="3329940"/>
                  </a:lnTo>
                  <a:lnTo>
                    <a:pt x="462280" y="3329940"/>
                  </a:lnTo>
                  <a:close/>
                </a:path>
              </a:pathLst>
            </a:custGeom>
            <a:solidFill>
              <a:srgbClr val="E7E6E6">
                <a:lumMod val="90000"/>
                <a:alpha val="85000"/>
              </a:srgb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文本框 36"/>
            <p:cNvSpPr txBox="1"/>
            <p:nvPr>
              <p:custDataLst>
                <p:tags r:id="rId26"/>
              </p:custDataLst>
            </p:nvPr>
          </p:nvSpPr>
          <p:spPr>
            <a:xfrm>
              <a:off x="4470986" y="3716175"/>
              <a:ext cx="2589530" cy="2481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spcAft>
                  <a:spcPts val="1000"/>
                </a:spcAft>
                <a:buFont typeface="Wingdings" panose="05000000000000000000" charset="0"/>
                <a:buChar char="Ø"/>
              </a:pPr>
              <a:r>
                <a:rPr kumimoji="1" lang="zh-CN" altLang="en-US" sz="1400" dirty="0">
                  <a:latin typeface="微软雅黑" panose="020B0503020204020204" charset="-122"/>
                  <a:ea typeface="微软雅黑" panose="020B0503020204020204" charset="-122"/>
                </a:rPr>
                <a:t>利用多模态大模型实现复杂饮食场景下的零样本食品识别、配料解析与营养语义重建</a:t>
              </a:r>
            </a:p>
            <a:p>
              <a:pPr marL="285750" indent="-285750" algn="just">
                <a:lnSpc>
                  <a:spcPct val="150000"/>
                </a:lnSpc>
                <a:spcAft>
                  <a:spcPts val="1000"/>
                </a:spcAft>
                <a:buFont typeface="Wingdings" panose="05000000000000000000" charset="0"/>
                <a:buChar char="Ø"/>
              </a:pPr>
              <a:r>
                <a:rPr kumimoji="1" lang="zh-CN" altLang="en-US" sz="1400" dirty="0">
                  <a:latin typeface="微软雅黑" panose="020B0503020204020204" charset="-122"/>
                  <a:ea typeface="微软雅黑" panose="020B0503020204020204" charset="-122"/>
                </a:rPr>
                <a:t>打通“图像识别—文本解析—营养理解”的全链路分析</a:t>
              </a:r>
              <a:r>
                <a:rPr lang="zh-CN" altLang="en-US" sz="1000" dirty="0">
                  <a:effectLst/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。</a:t>
              </a:r>
            </a:p>
          </p:txBody>
        </p:sp>
      </p:grpSp>
      <p:sp>
        <p:nvSpPr>
          <p:cNvPr id="20" name="任意形状 31"/>
          <p:cNvSpPr/>
          <p:nvPr>
            <p:custDataLst>
              <p:tags r:id="rId6"/>
            </p:custDataLst>
          </p:nvPr>
        </p:nvSpPr>
        <p:spPr>
          <a:xfrm>
            <a:off x="463550" y="3716175"/>
            <a:ext cx="2791841" cy="3141824"/>
          </a:xfrm>
          <a:custGeom>
            <a:avLst/>
            <a:gdLst>
              <a:gd name="connsiteX0" fmla="*/ 0 w 2508250"/>
              <a:gd name="connsiteY0" fmla="*/ 0 h 2583179"/>
              <a:gd name="connsiteX1" fmla="*/ 2508250 w 2508250"/>
              <a:gd name="connsiteY1" fmla="*/ 0 h 2583179"/>
              <a:gd name="connsiteX2" fmla="*/ 2508250 w 2508250"/>
              <a:gd name="connsiteY2" fmla="*/ 2583180 h 2583179"/>
              <a:gd name="connsiteX3" fmla="*/ 0 w 2508250"/>
              <a:gd name="connsiteY3" fmla="*/ 2583180 h 2583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8250" h="2583179">
                <a:moveTo>
                  <a:pt x="0" y="0"/>
                </a:moveTo>
                <a:lnTo>
                  <a:pt x="2508250" y="0"/>
                </a:lnTo>
                <a:lnTo>
                  <a:pt x="2508250" y="2583180"/>
                </a:lnTo>
                <a:lnTo>
                  <a:pt x="0" y="2583180"/>
                </a:lnTo>
                <a:close/>
              </a:path>
            </a:pathLst>
          </a:custGeom>
          <a:solidFill>
            <a:srgbClr val="E7E6E6">
              <a:alpha val="85000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任意形状 34"/>
          <p:cNvSpPr/>
          <p:nvPr>
            <p:custDataLst>
              <p:tags r:id="rId7"/>
            </p:custDataLst>
          </p:nvPr>
        </p:nvSpPr>
        <p:spPr>
          <a:xfrm>
            <a:off x="3255391" y="3446933"/>
            <a:ext cx="513132" cy="3422649"/>
          </a:xfrm>
          <a:custGeom>
            <a:avLst/>
            <a:gdLst>
              <a:gd name="connsiteX0" fmla="*/ 461010 w 461009"/>
              <a:gd name="connsiteY0" fmla="*/ 0 h 2852420"/>
              <a:gd name="connsiteX1" fmla="*/ 0 w 461009"/>
              <a:gd name="connsiteY1" fmla="*/ 269240 h 2852420"/>
              <a:gd name="connsiteX2" fmla="*/ 0 w 461009"/>
              <a:gd name="connsiteY2" fmla="*/ 2852420 h 2852420"/>
              <a:gd name="connsiteX3" fmla="*/ 461010 w 461009"/>
              <a:gd name="connsiteY3" fmla="*/ 2852420 h 2852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1009" h="2852420">
                <a:moveTo>
                  <a:pt x="461010" y="0"/>
                </a:moveTo>
                <a:lnTo>
                  <a:pt x="0" y="269240"/>
                </a:lnTo>
                <a:lnTo>
                  <a:pt x="0" y="2852420"/>
                </a:lnTo>
                <a:lnTo>
                  <a:pt x="461010" y="2852420"/>
                </a:lnTo>
                <a:close/>
              </a:path>
            </a:pathLst>
          </a:custGeom>
          <a:solidFill>
            <a:srgbClr val="E7E6E6">
              <a:lumMod val="90000"/>
              <a:alpha val="85000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8"/>
            </p:custDataLst>
          </p:nvPr>
        </p:nvSpPr>
        <p:spPr>
          <a:xfrm>
            <a:off x="549910" y="4160843"/>
            <a:ext cx="251396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80000"/>
              <a:buFont typeface="Wingdings" panose="05000000000000000000" charset="0"/>
              <a:buChar char="Ø"/>
            </a:pPr>
            <a:r>
              <a:rPr kumimoji="1"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突破传统</a:t>
            </a:r>
            <a:r>
              <a:rPr kumimoji="1"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kumimoji="1"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手机拍照</a:t>
            </a:r>
            <a:r>
              <a:rPr kumimoji="1"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kumimoji="1"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手动记录</a:t>
            </a:r>
            <a:r>
              <a:rPr kumimoji="1"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kumimoji="1"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模式</a:t>
            </a:r>
          </a:p>
          <a:p>
            <a:pPr marL="285750" indent="-285750">
              <a:lnSpc>
                <a:spcPct val="150000"/>
              </a:lnSpc>
              <a:buSzPct val="80000"/>
              <a:buFont typeface="Wingdings" panose="05000000000000000000" charset="0"/>
              <a:buChar char="Ø"/>
            </a:pPr>
            <a:r>
              <a:rPr kumimoji="1"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采用</a:t>
            </a:r>
            <a:r>
              <a:rPr kumimoji="1"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kumimoji="1"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自动抽帧</a:t>
            </a:r>
            <a:r>
              <a:rPr kumimoji="1"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kumimoji="1"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手势触发</a:t>
            </a:r>
            <a:r>
              <a:rPr kumimoji="1"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kumimoji="1"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的采集机制</a:t>
            </a:r>
          </a:p>
          <a:p>
            <a:pPr marL="285750" indent="-285750">
              <a:lnSpc>
                <a:spcPct val="150000"/>
              </a:lnSpc>
              <a:buSzPct val="80000"/>
              <a:buFont typeface="Wingdings" panose="05000000000000000000" charset="0"/>
              <a:buChar char="Ø"/>
            </a:pPr>
            <a:r>
              <a:rPr kumimoji="1"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实现更自然、低干扰的饮食信息获取。</a:t>
            </a:r>
          </a:p>
        </p:txBody>
      </p:sp>
      <p:grpSp>
        <p:nvGrpSpPr>
          <p:cNvPr id="44" name="组合 43"/>
          <p:cNvGrpSpPr/>
          <p:nvPr/>
        </p:nvGrpSpPr>
        <p:grpSpPr>
          <a:xfrm>
            <a:off x="474265" y="3041246"/>
            <a:ext cx="3304973" cy="1080617"/>
            <a:chOff x="463550" y="2876704"/>
            <a:chExt cx="3304973" cy="1080617"/>
          </a:xfrm>
        </p:grpSpPr>
        <p:sp>
          <p:nvSpPr>
            <p:cNvPr id="21" name="任意形状 32"/>
            <p:cNvSpPr/>
            <p:nvPr>
              <p:custDataLst>
                <p:tags r:id="rId21"/>
              </p:custDataLst>
            </p:nvPr>
          </p:nvSpPr>
          <p:spPr>
            <a:xfrm>
              <a:off x="463550" y="2876704"/>
              <a:ext cx="3304973" cy="453391"/>
            </a:xfrm>
            <a:custGeom>
              <a:avLst/>
              <a:gdLst>
                <a:gd name="connsiteX0" fmla="*/ 0 w 2969259"/>
                <a:gd name="connsiteY0" fmla="*/ 269240 h 269240"/>
                <a:gd name="connsiteX1" fmla="*/ 544830 w 2969259"/>
                <a:gd name="connsiteY1" fmla="*/ 0 h 269240"/>
                <a:gd name="connsiteX2" fmla="*/ 2969260 w 2969259"/>
                <a:gd name="connsiteY2" fmla="*/ 0 h 269240"/>
                <a:gd name="connsiteX3" fmla="*/ 2508250 w 2969259"/>
                <a:gd name="connsiteY3" fmla="*/ 269240 h 269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9259" h="269240">
                  <a:moveTo>
                    <a:pt x="0" y="269240"/>
                  </a:moveTo>
                  <a:lnTo>
                    <a:pt x="544830" y="0"/>
                  </a:lnTo>
                  <a:lnTo>
                    <a:pt x="2969260" y="0"/>
                  </a:lnTo>
                  <a:lnTo>
                    <a:pt x="2508250" y="269240"/>
                  </a:lnTo>
                  <a:close/>
                </a:path>
              </a:pathLst>
            </a:custGeom>
            <a:solidFill>
              <a:srgbClr val="EFCDEB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任意形状 33"/>
            <p:cNvSpPr/>
            <p:nvPr>
              <p:custDataLst>
                <p:tags r:id="rId22"/>
              </p:custDataLst>
            </p:nvPr>
          </p:nvSpPr>
          <p:spPr>
            <a:xfrm>
              <a:off x="3255391" y="2876705"/>
              <a:ext cx="513132" cy="1080616"/>
            </a:xfrm>
            <a:custGeom>
              <a:avLst/>
              <a:gdLst>
                <a:gd name="connsiteX0" fmla="*/ 0 w 461009"/>
                <a:gd name="connsiteY0" fmla="*/ 269240 h 655320"/>
                <a:gd name="connsiteX1" fmla="*/ 461010 w 461009"/>
                <a:gd name="connsiteY1" fmla="*/ 0 h 655320"/>
                <a:gd name="connsiteX2" fmla="*/ 461010 w 461009"/>
                <a:gd name="connsiteY2" fmla="*/ 386080 h 655320"/>
                <a:gd name="connsiteX3" fmla="*/ 0 w 461009"/>
                <a:gd name="connsiteY3" fmla="*/ 655320 h 65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1009" h="655320">
                  <a:moveTo>
                    <a:pt x="0" y="269240"/>
                  </a:moveTo>
                  <a:lnTo>
                    <a:pt x="461010" y="0"/>
                  </a:lnTo>
                  <a:lnTo>
                    <a:pt x="461010" y="386080"/>
                  </a:lnTo>
                  <a:lnTo>
                    <a:pt x="0" y="655320"/>
                  </a:lnTo>
                  <a:close/>
                </a:path>
              </a:pathLst>
            </a:custGeom>
            <a:solidFill>
              <a:srgbClr val="6B1553">
                <a:lumMod val="75000"/>
              </a:srgb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任意形状 30"/>
            <p:cNvSpPr/>
            <p:nvPr>
              <p:custDataLst>
                <p:tags r:id="rId23"/>
              </p:custDataLst>
            </p:nvPr>
          </p:nvSpPr>
          <p:spPr>
            <a:xfrm>
              <a:off x="463550" y="3329940"/>
              <a:ext cx="2792095" cy="627380"/>
            </a:xfrm>
            <a:custGeom>
              <a:avLst/>
              <a:gdLst>
                <a:gd name="connsiteX0" fmla="*/ 0 w 2508250"/>
                <a:gd name="connsiteY0" fmla="*/ 0 h 386079"/>
                <a:gd name="connsiteX1" fmla="*/ 2508250 w 2508250"/>
                <a:gd name="connsiteY1" fmla="*/ 0 h 386079"/>
                <a:gd name="connsiteX2" fmla="*/ 2508250 w 2508250"/>
                <a:gd name="connsiteY2" fmla="*/ 386080 h 386079"/>
                <a:gd name="connsiteX3" fmla="*/ 0 w 2508250"/>
                <a:gd name="connsiteY3" fmla="*/ 386080 h 386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8250" h="386079">
                  <a:moveTo>
                    <a:pt x="0" y="0"/>
                  </a:moveTo>
                  <a:lnTo>
                    <a:pt x="2508250" y="0"/>
                  </a:lnTo>
                  <a:lnTo>
                    <a:pt x="2508250" y="386080"/>
                  </a:lnTo>
                  <a:lnTo>
                    <a:pt x="0" y="386080"/>
                  </a:lnTo>
                  <a:close/>
                </a:path>
              </a:pathLst>
            </a:custGeom>
            <a:solidFill>
              <a:srgbClr val="6B155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FFFF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Alibaba PuHuiTi" pitchFamily="18" charset="-122"/>
                  <a:sym typeface="+mn-ea"/>
                </a:rPr>
                <a:t>1</a:t>
              </a:r>
              <a:r>
                <a:rPr lang="zh-CN" altLang="en-US" b="1" dirty="0">
                  <a:solidFill>
                    <a:srgbClr val="FFFFFF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Alibaba PuHuiTi" pitchFamily="18" charset="-122"/>
                  <a:sym typeface="+mn-ea"/>
                </a:rPr>
                <a:t> </a:t>
              </a:r>
              <a:r>
                <a:rPr lang="en-US" altLang="zh-CN" b="1" dirty="0">
                  <a:solidFill>
                    <a:srgbClr val="FFFFFF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Alibaba PuHuiTi" pitchFamily="18" charset="-122"/>
                  <a:sym typeface="+mn-ea"/>
                </a:rPr>
                <a:t>|</a:t>
              </a:r>
              <a:r>
                <a:rPr lang="zh-CN" altLang="en-US" b="1" dirty="0">
                  <a:solidFill>
                    <a:srgbClr val="FFFFFF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Alibaba PuHuiTi" pitchFamily="18" charset="-122"/>
                  <a:sym typeface="+mn-ea"/>
                </a:rPr>
                <a:t> 无感知采集</a:t>
              </a:r>
              <a:endParaRPr lang="zh-CN" altLang="en-US" b="1" dirty="0">
                <a:solidFill>
                  <a:srgbClr val="FFFFF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Alibaba PuHuiTi" pitchFamily="18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1621442" y="2131905"/>
            <a:ext cx="990600" cy="990600"/>
            <a:chOff x="1687027" y="1737464"/>
            <a:chExt cx="990600" cy="990600"/>
          </a:xfrm>
        </p:grpSpPr>
        <p:sp>
          <p:nvSpPr>
            <p:cNvPr id="15" name="任意形状 35"/>
            <p:cNvSpPr/>
            <p:nvPr>
              <p:custDataLst>
                <p:tags r:id="rId19"/>
              </p:custDataLst>
            </p:nvPr>
          </p:nvSpPr>
          <p:spPr>
            <a:xfrm>
              <a:off x="1687027" y="1737464"/>
              <a:ext cx="990600" cy="990600"/>
            </a:xfrm>
            <a:custGeom>
              <a:avLst/>
              <a:gdLst>
                <a:gd name="connsiteX0" fmla="*/ 990600 w 990600"/>
                <a:gd name="connsiteY0" fmla="*/ 495300 h 990600"/>
                <a:gd name="connsiteX1" fmla="*/ 495300 w 990600"/>
                <a:gd name="connsiteY1" fmla="*/ 990600 h 990600"/>
                <a:gd name="connsiteX2" fmla="*/ 0 w 990600"/>
                <a:gd name="connsiteY2" fmla="*/ 495300 h 990600"/>
                <a:gd name="connsiteX3" fmla="*/ 495300 w 990600"/>
                <a:gd name="connsiteY3" fmla="*/ 0 h 990600"/>
                <a:gd name="connsiteX4" fmla="*/ 990600 w 990600"/>
                <a:gd name="connsiteY4" fmla="*/ 495300 h 99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00" h="990600">
                  <a:moveTo>
                    <a:pt x="990600" y="495300"/>
                  </a:moveTo>
                  <a:cubicBezTo>
                    <a:pt x="990600" y="768847"/>
                    <a:pt x="768847" y="990600"/>
                    <a:pt x="495300" y="990600"/>
                  </a:cubicBezTo>
                  <a:cubicBezTo>
                    <a:pt x="221753" y="990600"/>
                    <a:pt x="0" y="768847"/>
                    <a:pt x="0" y="495300"/>
                  </a:cubicBezTo>
                  <a:cubicBezTo>
                    <a:pt x="0" y="221753"/>
                    <a:pt x="221753" y="0"/>
                    <a:pt x="495300" y="0"/>
                  </a:cubicBezTo>
                  <a:cubicBezTo>
                    <a:pt x="768847" y="0"/>
                    <a:pt x="990600" y="221753"/>
                    <a:pt x="990600" y="495300"/>
                  </a:cubicBezTo>
                  <a:close/>
                </a:path>
              </a:pathLst>
            </a:custGeom>
            <a:solidFill>
              <a:srgbClr val="6B155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45" name="图片 44" descr="24gf-camera3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1891030" y="1962150"/>
              <a:ext cx="602615" cy="520700"/>
            </a:xfrm>
            <a:prstGeom prst="rect">
              <a:avLst/>
            </a:prstGeom>
          </p:spPr>
        </p:pic>
      </p:grpSp>
      <p:grpSp>
        <p:nvGrpSpPr>
          <p:cNvPr id="43" name="组合 42"/>
          <p:cNvGrpSpPr/>
          <p:nvPr/>
        </p:nvGrpSpPr>
        <p:grpSpPr>
          <a:xfrm>
            <a:off x="4452107" y="2582705"/>
            <a:ext cx="3304973" cy="1080617"/>
            <a:chOff x="4444221" y="2342192"/>
            <a:chExt cx="3304973" cy="1080617"/>
          </a:xfrm>
        </p:grpSpPr>
        <p:sp>
          <p:nvSpPr>
            <p:cNvPr id="14" name="任意形状 32"/>
            <p:cNvSpPr/>
            <p:nvPr>
              <p:custDataLst>
                <p:tags r:id="rId16"/>
              </p:custDataLst>
            </p:nvPr>
          </p:nvSpPr>
          <p:spPr>
            <a:xfrm>
              <a:off x="4444221" y="2342192"/>
              <a:ext cx="3304973" cy="453391"/>
            </a:xfrm>
            <a:custGeom>
              <a:avLst/>
              <a:gdLst>
                <a:gd name="connsiteX0" fmla="*/ 0 w 2969259"/>
                <a:gd name="connsiteY0" fmla="*/ 269240 h 269240"/>
                <a:gd name="connsiteX1" fmla="*/ 544830 w 2969259"/>
                <a:gd name="connsiteY1" fmla="*/ 0 h 269240"/>
                <a:gd name="connsiteX2" fmla="*/ 2969260 w 2969259"/>
                <a:gd name="connsiteY2" fmla="*/ 0 h 269240"/>
                <a:gd name="connsiteX3" fmla="*/ 2508250 w 2969259"/>
                <a:gd name="connsiteY3" fmla="*/ 269240 h 269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9259" h="269240">
                  <a:moveTo>
                    <a:pt x="0" y="269240"/>
                  </a:moveTo>
                  <a:lnTo>
                    <a:pt x="544830" y="0"/>
                  </a:lnTo>
                  <a:lnTo>
                    <a:pt x="2969260" y="0"/>
                  </a:lnTo>
                  <a:lnTo>
                    <a:pt x="2508250" y="269240"/>
                  </a:lnTo>
                  <a:close/>
                </a:path>
              </a:pathLst>
            </a:custGeom>
            <a:solidFill>
              <a:srgbClr val="EFCDEB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任意形状 33"/>
            <p:cNvSpPr/>
            <p:nvPr>
              <p:custDataLst>
                <p:tags r:id="rId17"/>
              </p:custDataLst>
            </p:nvPr>
          </p:nvSpPr>
          <p:spPr>
            <a:xfrm>
              <a:off x="7236062" y="2342193"/>
              <a:ext cx="513132" cy="1080616"/>
            </a:xfrm>
            <a:custGeom>
              <a:avLst/>
              <a:gdLst>
                <a:gd name="connsiteX0" fmla="*/ 0 w 461009"/>
                <a:gd name="connsiteY0" fmla="*/ 269240 h 655320"/>
                <a:gd name="connsiteX1" fmla="*/ 461010 w 461009"/>
                <a:gd name="connsiteY1" fmla="*/ 0 h 655320"/>
                <a:gd name="connsiteX2" fmla="*/ 461010 w 461009"/>
                <a:gd name="connsiteY2" fmla="*/ 386080 h 655320"/>
                <a:gd name="connsiteX3" fmla="*/ 0 w 461009"/>
                <a:gd name="connsiteY3" fmla="*/ 655320 h 65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1009" h="655320">
                  <a:moveTo>
                    <a:pt x="0" y="269240"/>
                  </a:moveTo>
                  <a:lnTo>
                    <a:pt x="461010" y="0"/>
                  </a:lnTo>
                  <a:lnTo>
                    <a:pt x="461010" y="386080"/>
                  </a:lnTo>
                  <a:lnTo>
                    <a:pt x="0" y="655320"/>
                  </a:lnTo>
                  <a:close/>
                </a:path>
              </a:pathLst>
            </a:custGeom>
            <a:solidFill>
              <a:srgbClr val="6B1553">
                <a:lumMod val="75000"/>
              </a:srgb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任意形状 30"/>
            <p:cNvSpPr/>
            <p:nvPr>
              <p:custDataLst>
                <p:tags r:id="rId18"/>
              </p:custDataLst>
            </p:nvPr>
          </p:nvSpPr>
          <p:spPr>
            <a:xfrm>
              <a:off x="4444221" y="2795428"/>
              <a:ext cx="2792095" cy="627380"/>
            </a:xfrm>
            <a:custGeom>
              <a:avLst/>
              <a:gdLst>
                <a:gd name="connsiteX0" fmla="*/ 0 w 2508250"/>
                <a:gd name="connsiteY0" fmla="*/ 0 h 386079"/>
                <a:gd name="connsiteX1" fmla="*/ 2508250 w 2508250"/>
                <a:gd name="connsiteY1" fmla="*/ 0 h 386079"/>
                <a:gd name="connsiteX2" fmla="*/ 2508250 w 2508250"/>
                <a:gd name="connsiteY2" fmla="*/ 386080 h 386079"/>
                <a:gd name="connsiteX3" fmla="*/ 0 w 2508250"/>
                <a:gd name="connsiteY3" fmla="*/ 386080 h 386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8250" h="386079">
                  <a:moveTo>
                    <a:pt x="0" y="0"/>
                  </a:moveTo>
                  <a:lnTo>
                    <a:pt x="2508250" y="0"/>
                  </a:lnTo>
                  <a:lnTo>
                    <a:pt x="2508250" y="386080"/>
                  </a:lnTo>
                  <a:lnTo>
                    <a:pt x="0" y="386080"/>
                  </a:lnTo>
                  <a:close/>
                </a:path>
              </a:pathLst>
            </a:custGeom>
            <a:solidFill>
              <a:srgbClr val="6B155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FFFF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2</a:t>
              </a:r>
              <a:r>
                <a:rPr lang="zh-CN" altLang="en-US" b="1" dirty="0">
                  <a:solidFill>
                    <a:srgbClr val="FFFFFF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 </a:t>
              </a:r>
              <a:r>
                <a:rPr lang="en-US" altLang="zh-CN" b="1" dirty="0">
                  <a:solidFill>
                    <a:srgbClr val="FFFFFF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|</a:t>
              </a:r>
              <a:r>
                <a:rPr lang="zh-CN" altLang="en-US" b="1" dirty="0">
                  <a:solidFill>
                    <a:srgbClr val="FFFFFF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 智能化理解</a:t>
              </a:r>
              <a:endParaRPr lang="zh-CN" altLang="en-US" b="1" dirty="0">
                <a:solidFill>
                  <a:srgbClr val="FFFFF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sp>
        <p:nvSpPr>
          <p:cNvPr id="36" name="任意形状 32"/>
          <p:cNvSpPr/>
          <p:nvPr>
            <p:custDataLst>
              <p:tags r:id="rId9"/>
            </p:custDataLst>
          </p:nvPr>
        </p:nvSpPr>
        <p:spPr>
          <a:xfrm>
            <a:off x="8423477" y="2098347"/>
            <a:ext cx="3304973" cy="453391"/>
          </a:xfrm>
          <a:custGeom>
            <a:avLst/>
            <a:gdLst>
              <a:gd name="connsiteX0" fmla="*/ 0 w 2969259"/>
              <a:gd name="connsiteY0" fmla="*/ 269240 h 269240"/>
              <a:gd name="connsiteX1" fmla="*/ 544830 w 2969259"/>
              <a:gd name="connsiteY1" fmla="*/ 0 h 269240"/>
              <a:gd name="connsiteX2" fmla="*/ 2969260 w 2969259"/>
              <a:gd name="connsiteY2" fmla="*/ 0 h 269240"/>
              <a:gd name="connsiteX3" fmla="*/ 2508250 w 2969259"/>
              <a:gd name="connsiteY3" fmla="*/ 269240 h 269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9259" h="269240">
                <a:moveTo>
                  <a:pt x="0" y="269240"/>
                </a:moveTo>
                <a:lnTo>
                  <a:pt x="544830" y="0"/>
                </a:lnTo>
                <a:lnTo>
                  <a:pt x="2969260" y="0"/>
                </a:lnTo>
                <a:lnTo>
                  <a:pt x="2508250" y="269240"/>
                </a:lnTo>
                <a:close/>
              </a:path>
            </a:pathLst>
          </a:custGeom>
          <a:solidFill>
            <a:srgbClr val="EFCDEB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任意形状 33"/>
          <p:cNvSpPr/>
          <p:nvPr>
            <p:custDataLst>
              <p:tags r:id="rId10"/>
            </p:custDataLst>
          </p:nvPr>
        </p:nvSpPr>
        <p:spPr>
          <a:xfrm>
            <a:off x="11215318" y="2098348"/>
            <a:ext cx="513132" cy="1080616"/>
          </a:xfrm>
          <a:custGeom>
            <a:avLst/>
            <a:gdLst>
              <a:gd name="connsiteX0" fmla="*/ 0 w 461009"/>
              <a:gd name="connsiteY0" fmla="*/ 269240 h 655320"/>
              <a:gd name="connsiteX1" fmla="*/ 461010 w 461009"/>
              <a:gd name="connsiteY1" fmla="*/ 0 h 655320"/>
              <a:gd name="connsiteX2" fmla="*/ 461010 w 461009"/>
              <a:gd name="connsiteY2" fmla="*/ 386080 h 655320"/>
              <a:gd name="connsiteX3" fmla="*/ 0 w 461009"/>
              <a:gd name="connsiteY3" fmla="*/ 655320 h 655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1009" h="655320">
                <a:moveTo>
                  <a:pt x="0" y="269240"/>
                </a:moveTo>
                <a:lnTo>
                  <a:pt x="461010" y="0"/>
                </a:lnTo>
                <a:lnTo>
                  <a:pt x="461010" y="386080"/>
                </a:lnTo>
                <a:lnTo>
                  <a:pt x="0" y="655320"/>
                </a:lnTo>
                <a:close/>
              </a:path>
            </a:pathLst>
          </a:custGeom>
          <a:solidFill>
            <a:srgbClr val="6B1553">
              <a:lumMod val="75000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形状 30"/>
          <p:cNvSpPr/>
          <p:nvPr>
            <p:custDataLst>
              <p:tags r:id="rId11"/>
            </p:custDataLst>
          </p:nvPr>
        </p:nvSpPr>
        <p:spPr>
          <a:xfrm>
            <a:off x="8423477" y="2551583"/>
            <a:ext cx="2792095" cy="627380"/>
          </a:xfrm>
          <a:custGeom>
            <a:avLst/>
            <a:gdLst>
              <a:gd name="connsiteX0" fmla="*/ 0 w 2508250"/>
              <a:gd name="connsiteY0" fmla="*/ 0 h 386079"/>
              <a:gd name="connsiteX1" fmla="*/ 2508250 w 2508250"/>
              <a:gd name="connsiteY1" fmla="*/ 0 h 386079"/>
              <a:gd name="connsiteX2" fmla="*/ 2508250 w 2508250"/>
              <a:gd name="connsiteY2" fmla="*/ 386080 h 386079"/>
              <a:gd name="connsiteX3" fmla="*/ 0 w 2508250"/>
              <a:gd name="connsiteY3" fmla="*/ 386080 h 386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8250" h="386079">
                <a:moveTo>
                  <a:pt x="0" y="0"/>
                </a:moveTo>
                <a:lnTo>
                  <a:pt x="2508250" y="0"/>
                </a:lnTo>
                <a:lnTo>
                  <a:pt x="2508250" y="386080"/>
                </a:lnTo>
                <a:lnTo>
                  <a:pt x="0" y="386080"/>
                </a:lnTo>
                <a:close/>
              </a:path>
            </a:pathLst>
          </a:custGeom>
          <a:solidFill>
            <a:srgbClr val="6B155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3 | </a:t>
            </a:r>
            <a:r>
              <a:rPr lang="zh-CN" altLang="en-US" b="1" dirty="0">
                <a:solidFill>
                  <a:srgbClr val="FFFFF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闭环式干预</a:t>
            </a:r>
            <a:endParaRPr lang="zh-CN" altLang="en-US" b="1" dirty="0">
              <a:solidFill>
                <a:srgbClr val="FFFFFF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5600699" y="1693065"/>
            <a:ext cx="990600" cy="990600"/>
            <a:chOff x="5692823" y="1332385"/>
            <a:chExt cx="990600" cy="990600"/>
          </a:xfrm>
        </p:grpSpPr>
        <p:sp>
          <p:nvSpPr>
            <p:cNvPr id="17" name="任意形状 42"/>
            <p:cNvSpPr/>
            <p:nvPr>
              <p:custDataLst>
                <p:tags r:id="rId14"/>
              </p:custDataLst>
            </p:nvPr>
          </p:nvSpPr>
          <p:spPr>
            <a:xfrm>
              <a:off x="5692823" y="1332385"/>
              <a:ext cx="990600" cy="990600"/>
            </a:xfrm>
            <a:custGeom>
              <a:avLst/>
              <a:gdLst>
                <a:gd name="connsiteX0" fmla="*/ 990600 w 990600"/>
                <a:gd name="connsiteY0" fmla="*/ 495300 h 990600"/>
                <a:gd name="connsiteX1" fmla="*/ 495300 w 990600"/>
                <a:gd name="connsiteY1" fmla="*/ 990600 h 990600"/>
                <a:gd name="connsiteX2" fmla="*/ 0 w 990600"/>
                <a:gd name="connsiteY2" fmla="*/ 495300 h 990600"/>
                <a:gd name="connsiteX3" fmla="*/ 495300 w 990600"/>
                <a:gd name="connsiteY3" fmla="*/ 0 h 990600"/>
                <a:gd name="connsiteX4" fmla="*/ 990600 w 990600"/>
                <a:gd name="connsiteY4" fmla="*/ 495300 h 99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00" h="990600">
                  <a:moveTo>
                    <a:pt x="990600" y="495300"/>
                  </a:moveTo>
                  <a:cubicBezTo>
                    <a:pt x="990600" y="768847"/>
                    <a:pt x="768847" y="990600"/>
                    <a:pt x="495300" y="990600"/>
                  </a:cubicBezTo>
                  <a:cubicBezTo>
                    <a:pt x="221754" y="990600"/>
                    <a:pt x="0" y="768847"/>
                    <a:pt x="0" y="495300"/>
                  </a:cubicBezTo>
                  <a:cubicBezTo>
                    <a:pt x="0" y="221753"/>
                    <a:pt x="221754" y="0"/>
                    <a:pt x="495300" y="0"/>
                  </a:cubicBezTo>
                  <a:cubicBezTo>
                    <a:pt x="768847" y="0"/>
                    <a:pt x="990600" y="221753"/>
                    <a:pt x="990600" y="495300"/>
                  </a:cubicBezTo>
                  <a:close/>
                </a:path>
              </a:pathLst>
            </a:custGeom>
            <a:solidFill>
              <a:srgbClr val="6B155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47" name="图片 46" descr="AI大模型-copy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5857875" y="1485265"/>
              <a:ext cx="667385" cy="667385"/>
            </a:xfrm>
            <a:prstGeom prst="rect">
              <a:avLst/>
            </a:prstGeom>
          </p:spPr>
        </p:pic>
      </p:grpSp>
      <p:grpSp>
        <p:nvGrpSpPr>
          <p:cNvPr id="57" name="组合 56"/>
          <p:cNvGrpSpPr/>
          <p:nvPr/>
        </p:nvGrpSpPr>
        <p:grpSpPr>
          <a:xfrm>
            <a:off x="9579956" y="1354782"/>
            <a:ext cx="990600" cy="990600"/>
            <a:chOff x="9621436" y="1026174"/>
            <a:chExt cx="990600" cy="990600"/>
          </a:xfrm>
        </p:grpSpPr>
        <p:sp>
          <p:nvSpPr>
            <p:cNvPr id="18" name="任意形状 50"/>
            <p:cNvSpPr/>
            <p:nvPr>
              <p:custDataLst>
                <p:tags r:id="rId12"/>
              </p:custDataLst>
            </p:nvPr>
          </p:nvSpPr>
          <p:spPr>
            <a:xfrm>
              <a:off x="9621436" y="1026174"/>
              <a:ext cx="990600" cy="990600"/>
            </a:xfrm>
            <a:custGeom>
              <a:avLst/>
              <a:gdLst>
                <a:gd name="connsiteX0" fmla="*/ 990600 w 990600"/>
                <a:gd name="connsiteY0" fmla="*/ 495300 h 990600"/>
                <a:gd name="connsiteX1" fmla="*/ 495300 w 990600"/>
                <a:gd name="connsiteY1" fmla="*/ 990600 h 990600"/>
                <a:gd name="connsiteX2" fmla="*/ 0 w 990600"/>
                <a:gd name="connsiteY2" fmla="*/ 495300 h 990600"/>
                <a:gd name="connsiteX3" fmla="*/ 495300 w 990600"/>
                <a:gd name="connsiteY3" fmla="*/ 0 h 990600"/>
                <a:gd name="connsiteX4" fmla="*/ 990600 w 990600"/>
                <a:gd name="connsiteY4" fmla="*/ 495300 h 99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00" h="990600">
                  <a:moveTo>
                    <a:pt x="990600" y="495300"/>
                  </a:moveTo>
                  <a:cubicBezTo>
                    <a:pt x="990600" y="768847"/>
                    <a:pt x="768847" y="990600"/>
                    <a:pt x="495300" y="990600"/>
                  </a:cubicBezTo>
                  <a:cubicBezTo>
                    <a:pt x="221753" y="990600"/>
                    <a:pt x="0" y="768847"/>
                    <a:pt x="0" y="495300"/>
                  </a:cubicBezTo>
                  <a:cubicBezTo>
                    <a:pt x="0" y="221753"/>
                    <a:pt x="221753" y="0"/>
                    <a:pt x="495300" y="0"/>
                  </a:cubicBezTo>
                  <a:cubicBezTo>
                    <a:pt x="768847" y="0"/>
                    <a:pt x="990600" y="221753"/>
                    <a:pt x="990600" y="495300"/>
                  </a:cubicBezTo>
                  <a:close/>
                </a:path>
              </a:pathLst>
            </a:custGeom>
            <a:solidFill>
              <a:srgbClr val="6B155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Freeform 113"/>
            <p:cNvSpPr>
              <a:spLocks noChangeAspect="1"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9881297" y="1277371"/>
              <a:ext cx="464481" cy="468000"/>
            </a:xfrm>
            <a:custGeom>
              <a:avLst/>
              <a:gdLst>
                <a:gd name="T0" fmla="*/ 582 w 1165"/>
                <a:gd name="T1" fmla="*/ 1057 h 1173"/>
                <a:gd name="T2" fmla="*/ 989 w 1165"/>
                <a:gd name="T3" fmla="*/ 647 h 1173"/>
                <a:gd name="T4" fmla="*/ 582 w 1165"/>
                <a:gd name="T5" fmla="*/ 241 h 1173"/>
                <a:gd name="T6" fmla="*/ 174 w 1165"/>
                <a:gd name="T7" fmla="*/ 647 h 1173"/>
                <a:gd name="T8" fmla="*/ 582 w 1165"/>
                <a:gd name="T9" fmla="*/ 1057 h 1173"/>
                <a:gd name="T10" fmla="*/ 582 w 1165"/>
                <a:gd name="T11" fmla="*/ 123 h 1173"/>
                <a:gd name="T12" fmla="*/ 1106 w 1165"/>
                <a:gd name="T13" fmla="*/ 647 h 1173"/>
                <a:gd name="T14" fmla="*/ 582 w 1165"/>
                <a:gd name="T15" fmla="*/ 1172 h 1173"/>
                <a:gd name="T16" fmla="*/ 57 w 1165"/>
                <a:gd name="T17" fmla="*/ 647 h 1173"/>
                <a:gd name="T18" fmla="*/ 582 w 1165"/>
                <a:gd name="T19" fmla="*/ 123 h 1173"/>
                <a:gd name="T20" fmla="*/ 612 w 1165"/>
                <a:gd name="T21" fmla="*/ 358 h 1173"/>
                <a:gd name="T22" fmla="*/ 612 w 1165"/>
                <a:gd name="T23" fmla="*/ 664 h 1173"/>
                <a:gd name="T24" fmla="*/ 844 w 1165"/>
                <a:gd name="T25" fmla="*/ 800 h 1173"/>
                <a:gd name="T26" fmla="*/ 800 w 1165"/>
                <a:gd name="T27" fmla="*/ 871 h 1173"/>
                <a:gd name="T28" fmla="*/ 524 w 1165"/>
                <a:gd name="T29" fmla="*/ 707 h 1173"/>
                <a:gd name="T30" fmla="*/ 524 w 1165"/>
                <a:gd name="T31" fmla="*/ 358 h 1173"/>
                <a:gd name="T32" fmla="*/ 612 w 1165"/>
                <a:gd name="T33" fmla="*/ 358 h 1173"/>
                <a:gd name="T34" fmla="*/ 341 w 1165"/>
                <a:gd name="T35" fmla="*/ 88 h 1173"/>
                <a:gd name="T36" fmla="*/ 73 w 1165"/>
                <a:gd name="T37" fmla="*/ 312 h 1173"/>
                <a:gd name="T38" fmla="*/ 0 w 1165"/>
                <a:gd name="T39" fmla="*/ 225 h 1173"/>
                <a:gd name="T40" fmla="*/ 267 w 1165"/>
                <a:gd name="T41" fmla="*/ 0 h 1173"/>
                <a:gd name="T42" fmla="*/ 341 w 1165"/>
                <a:gd name="T43" fmla="*/ 88 h 1173"/>
                <a:gd name="T44" fmla="*/ 1164 w 1165"/>
                <a:gd name="T45" fmla="*/ 225 h 1173"/>
                <a:gd name="T46" fmla="*/ 1090 w 1165"/>
                <a:gd name="T47" fmla="*/ 315 h 1173"/>
                <a:gd name="T48" fmla="*/ 822 w 1165"/>
                <a:gd name="T49" fmla="*/ 88 h 1173"/>
                <a:gd name="T50" fmla="*/ 896 w 1165"/>
                <a:gd name="T51" fmla="*/ 1 h 1173"/>
                <a:gd name="T52" fmla="*/ 1164 w 1165"/>
                <a:gd name="T53" fmla="*/ 225 h 1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65" h="1173">
                  <a:moveTo>
                    <a:pt x="582" y="1057"/>
                  </a:moveTo>
                  <a:cubicBezTo>
                    <a:pt x="808" y="1057"/>
                    <a:pt x="989" y="874"/>
                    <a:pt x="989" y="647"/>
                  </a:cubicBezTo>
                  <a:cubicBezTo>
                    <a:pt x="989" y="421"/>
                    <a:pt x="809" y="241"/>
                    <a:pt x="582" y="241"/>
                  </a:cubicBezTo>
                  <a:cubicBezTo>
                    <a:pt x="356" y="241"/>
                    <a:pt x="174" y="421"/>
                    <a:pt x="174" y="647"/>
                  </a:cubicBezTo>
                  <a:cubicBezTo>
                    <a:pt x="174" y="874"/>
                    <a:pt x="355" y="1057"/>
                    <a:pt x="582" y="1057"/>
                  </a:cubicBezTo>
                  <a:close/>
                  <a:moveTo>
                    <a:pt x="582" y="123"/>
                  </a:moveTo>
                  <a:cubicBezTo>
                    <a:pt x="871" y="123"/>
                    <a:pt x="1106" y="358"/>
                    <a:pt x="1106" y="647"/>
                  </a:cubicBezTo>
                  <a:cubicBezTo>
                    <a:pt x="1106" y="937"/>
                    <a:pt x="872" y="1172"/>
                    <a:pt x="582" y="1172"/>
                  </a:cubicBezTo>
                  <a:cubicBezTo>
                    <a:pt x="293" y="1172"/>
                    <a:pt x="57" y="937"/>
                    <a:pt x="57" y="647"/>
                  </a:cubicBezTo>
                  <a:cubicBezTo>
                    <a:pt x="57" y="358"/>
                    <a:pt x="292" y="123"/>
                    <a:pt x="582" y="123"/>
                  </a:cubicBezTo>
                  <a:close/>
                  <a:moveTo>
                    <a:pt x="612" y="358"/>
                  </a:moveTo>
                  <a:lnTo>
                    <a:pt x="612" y="664"/>
                  </a:lnTo>
                  <a:lnTo>
                    <a:pt x="844" y="800"/>
                  </a:lnTo>
                  <a:lnTo>
                    <a:pt x="800" y="871"/>
                  </a:lnTo>
                  <a:lnTo>
                    <a:pt x="524" y="707"/>
                  </a:lnTo>
                  <a:lnTo>
                    <a:pt x="524" y="358"/>
                  </a:lnTo>
                  <a:lnTo>
                    <a:pt x="612" y="358"/>
                  </a:lnTo>
                  <a:close/>
                  <a:moveTo>
                    <a:pt x="341" y="88"/>
                  </a:moveTo>
                  <a:lnTo>
                    <a:pt x="73" y="312"/>
                  </a:lnTo>
                  <a:lnTo>
                    <a:pt x="0" y="225"/>
                  </a:lnTo>
                  <a:lnTo>
                    <a:pt x="267" y="0"/>
                  </a:lnTo>
                  <a:lnTo>
                    <a:pt x="341" y="88"/>
                  </a:lnTo>
                  <a:close/>
                  <a:moveTo>
                    <a:pt x="1164" y="225"/>
                  </a:moveTo>
                  <a:lnTo>
                    <a:pt x="1090" y="315"/>
                  </a:lnTo>
                  <a:lnTo>
                    <a:pt x="822" y="88"/>
                  </a:lnTo>
                  <a:lnTo>
                    <a:pt x="896" y="1"/>
                  </a:lnTo>
                  <a:lnTo>
                    <a:pt x="1164" y="2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en-GB"/>
              </a:defPPr>
              <a:lvl1pPr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charset="0"/>
                <a:defRPr kern="1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charset="0"/>
                <a:defRPr kern="1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charset="0"/>
                <a:defRPr kern="1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charset="0"/>
                <a:defRPr kern="1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charset="0"/>
                <a:defRPr kern="1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286000" algn="l" defTabSz="457200" rtl="0" eaLnBrk="1" latinLnBrk="0" hangingPunct="1">
                <a:defRPr kern="1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743200" algn="l" defTabSz="457200" rtl="0" eaLnBrk="1" latinLnBrk="0" hangingPunct="1">
                <a:defRPr kern="1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200400" algn="l" defTabSz="457200" rtl="0" eaLnBrk="1" latinLnBrk="0" hangingPunct="1">
                <a:defRPr kern="1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657600" algn="l" defTabSz="457200" rtl="0" eaLnBrk="1" latinLnBrk="0" hangingPunct="1">
                <a:defRPr kern="1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407670" y="101600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6B155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基于AI眼镜的食品健康智能分析系统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35" y="2221865"/>
            <a:ext cx="12192635" cy="2449830"/>
          </a:xfrm>
          <a:prstGeom prst="rect">
            <a:avLst/>
          </a:prstGeom>
          <a:gradFill>
            <a:gsLst>
              <a:gs pos="100000">
                <a:srgbClr val="6B1553">
                  <a:alpha val="80000"/>
                </a:srgbClr>
              </a:gs>
              <a:gs pos="0">
                <a:srgbClr val="6B1553"/>
              </a:gs>
            </a:gsLst>
            <a:lin ang="5400000" scaled="1"/>
          </a:gradFill>
          <a:ln>
            <a:noFill/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井井ppt"/>
          <p:cNvSpPr txBox="1"/>
          <p:nvPr/>
        </p:nvSpPr>
        <p:spPr>
          <a:xfrm>
            <a:off x="5259874" y="1384035"/>
            <a:ext cx="1656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7E0C6E"/>
                </a:solidFill>
                <a:cs typeface="+mn-ea"/>
                <a:sym typeface="+mn-lt"/>
              </a:rPr>
              <a:t>Part.05</a:t>
            </a:r>
          </a:p>
        </p:txBody>
      </p:sp>
      <p:grpSp>
        <p:nvGrpSpPr>
          <p:cNvPr id="23" name="井井ppt"/>
          <p:cNvGrpSpPr/>
          <p:nvPr/>
        </p:nvGrpSpPr>
        <p:grpSpPr>
          <a:xfrm>
            <a:off x="3327401" y="2763244"/>
            <a:ext cx="5537198" cy="1331333"/>
            <a:chOff x="3327401" y="2861512"/>
            <a:chExt cx="5537198" cy="1331333"/>
          </a:xfrm>
        </p:grpSpPr>
        <p:sp>
          <p:nvSpPr>
            <p:cNvPr id="9" name="powerpoint template design by DAJU_PPT正版来源小红书大橘PPT微信DAJU_PPT请勿抄袭搬运！盗版必究！-1"/>
            <p:cNvSpPr txBox="1"/>
            <p:nvPr/>
          </p:nvSpPr>
          <p:spPr>
            <a:xfrm>
              <a:off x="3327401" y="2861512"/>
              <a:ext cx="5537198" cy="830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5400" b="1" spc="600" dirty="0">
                  <a:solidFill>
                    <a:schemeClr val="bg1"/>
                  </a:solidFill>
                  <a:cs typeface="+mn-ea"/>
                  <a:sym typeface="+mn-lt"/>
                </a:rPr>
                <a:t>项目进度安排</a:t>
              </a:r>
            </a:p>
          </p:txBody>
        </p:sp>
        <p:sp>
          <p:nvSpPr>
            <p:cNvPr id="22" name="powerpoint template design by DAJU_PPT正版来源小红书大橘PPT微信DAJU_PPT请勿抄袭搬运！盗版必究！-2"/>
            <p:cNvSpPr txBox="1"/>
            <p:nvPr/>
          </p:nvSpPr>
          <p:spPr>
            <a:xfrm>
              <a:off x="3327401" y="3977580"/>
              <a:ext cx="5537198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spc="300" dirty="0">
                  <a:solidFill>
                    <a:schemeClr val="bg1"/>
                  </a:solidFill>
                  <a:cs typeface="+mn-ea"/>
                  <a:sym typeface="+mn-lt"/>
                </a:rPr>
                <a:t>Research Ideas And Methods</a:t>
              </a:r>
            </a:p>
          </p:txBody>
        </p:sp>
        <p:cxnSp>
          <p:nvCxnSpPr>
            <p:cNvPr id="4" name="powerpoint template design by DAJU_PPT正版来源小红书大橘PPT微信DAJU_PPT请勿抄袭搬运！盗版必究！-3"/>
            <p:cNvCxnSpPr/>
            <p:nvPr/>
          </p:nvCxnSpPr>
          <p:spPr>
            <a:xfrm>
              <a:off x="3622089" y="3843484"/>
              <a:ext cx="4860000" cy="0"/>
            </a:xfrm>
            <a:prstGeom prst="line">
              <a:avLst/>
            </a:prstGeom>
            <a:ln>
              <a:solidFill>
                <a:schemeClr val="bg1">
                  <a:alpha val="7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480675" y="0"/>
            <a:ext cx="1175385" cy="1295400"/>
          </a:xfrm>
          <a:prstGeom prst="rect">
            <a:avLst/>
          </a:prstGeom>
        </p:spPr>
      </p:pic>
      <p:pic>
        <p:nvPicPr>
          <p:cNvPr id="31" name="图片 30" descr="校徽透明背景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" y="70485"/>
            <a:ext cx="2190750" cy="828675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井井ppt"/>
          <p:cNvCxnSpPr/>
          <p:nvPr/>
        </p:nvCxnSpPr>
        <p:spPr>
          <a:xfrm>
            <a:off x="49336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l="1846" t="20405" r="1846"/>
          <a:stretch>
            <a:fillRect/>
          </a:stretch>
        </p:blipFill>
        <p:spPr>
          <a:xfrm>
            <a:off x="0" y="1"/>
            <a:ext cx="12192000" cy="944689"/>
          </a:xfrm>
          <a:custGeom>
            <a:avLst/>
            <a:gdLst>
              <a:gd name="connsiteX0" fmla="*/ 0 w 12192000"/>
              <a:gd name="connsiteY0" fmla="*/ 0 h 944689"/>
              <a:gd name="connsiteX1" fmla="*/ 12192000 w 12192000"/>
              <a:gd name="connsiteY1" fmla="*/ 0 h 944689"/>
              <a:gd name="connsiteX2" fmla="*/ 12192000 w 12192000"/>
              <a:gd name="connsiteY2" fmla="*/ 944689 h 944689"/>
              <a:gd name="connsiteX3" fmla="*/ 0 w 12192000"/>
              <a:gd name="connsiteY3" fmla="*/ 944689 h 94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44689">
                <a:moveTo>
                  <a:pt x="0" y="0"/>
                </a:moveTo>
                <a:lnTo>
                  <a:pt x="12192000" y="0"/>
                </a:lnTo>
                <a:lnTo>
                  <a:pt x="12192000" y="944689"/>
                </a:lnTo>
                <a:lnTo>
                  <a:pt x="0" y="944689"/>
                </a:lnTo>
                <a:close/>
              </a:path>
            </a:pathLst>
          </a:custGeom>
        </p:spPr>
      </p:pic>
      <p:sp>
        <p:nvSpPr>
          <p:cNvPr id="4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zh-CN" altLang="en-US" sz="2880" dirty="0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273275" y="0"/>
            <a:ext cx="1759474" cy="792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zh-CN" alt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62234" y="216985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研究背景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21708" y="216986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研究目标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81182" y="216985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cs typeface="+mn-ea"/>
              </a:defRPr>
            </a:lvl1pPr>
          </a:lstStyle>
          <a:p>
            <a:pPr algn="ctr"/>
            <a:r>
              <a:rPr lang="zh-CN" altLang="en-US" sz="1600" b="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技术路线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40420" y="217170"/>
            <a:ext cx="1768475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项目创新点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75900" y="186055"/>
            <a:ext cx="1553845" cy="402590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cs typeface="+mn-ea"/>
                <a:sym typeface="+mn-lt"/>
              </a:rPr>
              <a:t>进度安排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492668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校徽透明背景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" y="-36830"/>
            <a:ext cx="2190750" cy="82867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17</a:t>
            </a:fld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66907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845474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DNAPPT-20252"/>
          <p:cNvCxnSpPr/>
          <p:nvPr/>
        </p:nvCxnSpPr>
        <p:spPr>
          <a:xfrm>
            <a:off x="1422686" y="3131267"/>
            <a:ext cx="6350" cy="744220"/>
          </a:xfrm>
          <a:prstGeom prst="line">
            <a:avLst/>
          </a:prstGeom>
          <a:ln w="38100"/>
        </p:spPr>
        <p:style>
          <a:lnRef idx="1">
            <a:srgbClr val="6B1553"/>
          </a:lnRef>
          <a:fillRef idx="0">
            <a:srgbClr val="6B1553"/>
          </a:fillRef>
          <a:effectRef idx="0">
            <a:srgbClr val="6B1553"/>
          </a:effectRef>
          <a:fontRef idx="minor">
            <a:srgbClr val="000000"/>
          </a:fontRef>
        </p:style>
      </p:cxnSp>
      <p:cxnSp>
        <p:nvCxnSpPr>
          <p:cNvPr id="20" name="DNAPPT-20255"/>
          <p:cNvCxnSpPr/>
          <p:nvPr/>
        </p:nvCxnSpPr>
        <p:spPr>
          <a:xfrm>
            <a:off x="6288576" y="3110054"/>
            <a:ext cx="0" cy="856806"/>
          </a:xfrm>
          <a:prstGeom prst="line">
            <a:avLst/>
          </a:prstGeom>
          <a:ln w="38100"/>
        </p:spPr>
        <p:style>
          <a:lnRef idx="1">
            <a:srgbClr val="6B1553"/>
          </a:lnRef>
          <a:fillRef idx="0">
            <a:srgbClr val="6B1553"/>
          </a:fillRef>
          <a:effectRef idx="0">
            <a:srgbClr val="6B1553"/>
          </a:effectRef>
          <a:fontRef idx="minor">
            <a:srgbClr val="000000"/>
          </a:fontRef>
        </p:style>
      </p:cxnSp>
      <p:cxnSp>
        <p:nvCxnSpPr>
          <p:cNvPr id="24" name="DNAPPT-20256"/>
          <p:cNvCxnSpPr>
            <a:stCxn id="38" idx="4"/>
          </p:cNvCxnSpPr>
          <p:nvPr/>
        </p:nvCxnSpPr>
        <p:spPr>
          <a:xfrm>
            <a:off x="8312046" y="2581632"/>
            <a:ext cx="0" cy="1254125"/>
          </a:xfrm>
          <a:prstGeom prst="line">
            <a:avLst/>
          </a:prstGeom>
          <a:ln w="38100"/>
        </p:spPr>
        <p:style>
          <a:lnRef idx="1">
            <a:srgbClr val="6B1553"/>
          </a:lnRef>
          <a:fillRef idx="0">
            <a:srgbClr val="6B1553"/>
          </a:fillRef>
          <a:effectRef idx="0">
            <a:srgbClr val="6B1553"/>
          </a:effectRef>
          <a:fontRef idx="minor">
            <a:srgbClr val="000000"/>
          </a:fontRef>
        </p:style>
      </p:cxnSp>
      <p:cxnSp>
        <p:nvCxnSpPr>
          <p:cNvPr id="21" name="DNAPPT-20258"/>
          <p:cNvCxnSpPr/>
          <p:nvPr/>
        </p:nvCxnSpPr>
        <p:spPr>
          <a:xfrm>
            <a:off x="10534443" y="3067980"/>
            <a:ext cx="6350" cy="899160"/>
          </a:xfrm>
          <a:prstGeom prst="line">
            <a:avLst/>
          </a:prstGeom>
          <a:ln w="38100"/>
        </p:spPr>
        <p:style>
          <a:lnRef idx="1">
            <a:srgbClr val="6B1553"/>
          </a:lnRef>
          <a:fillRef idx="0">
            <a:srgbClr val="6B1553"/>
          </a:fillRef>
          <a:effectRef idx="0">
            <a:srgbClr val="6B1553"/>
          </a:effectRef>
          <a:fontRef idx="minor">
            <a:srgbClr val="000000"/>
          </a:fontRef>
        </p:style>
      </p:cxnSp>
      <p:grpSp>
        <p:nvGrpSpPr>
          <p:cNvPr id="22" name="DNAPPT-202510"/>
          <p:cNvGrpSpPr/>
          <p:nvPr/>
        </p:nvGrpSpPr>
        <p:grpSpPr>
          <a:xfrm>
            <a:off x="323105" y="3568654"/>
            <a:ext cx="11520000" cy="875071"/>
            <a:chOff x="342155" y="3113309"/>
            <a:chExt cx="11520000" cy="875071"/>
          </a:xfrm>
        </p:grpSpPr>
        <p:sp>
          <p:nvSpPr>
            <p:cNvPr id="23" name="DNAPPT-20254"/>
            <p:cNvSpPr/>
            <p:nvPr/>
          </p:nvSpPr>
          <p:spPr>
            <a:xfrm>
              <a:off x="342155" y="3113309"/>
              <a:ext cx="11520000" cy="875071"/>
            </a:xfrm>
            <a:prstGeom prst="rightArrow">
              <a:avLst/>
            </a:prstGeom>
            <a:gradFill>
              <a:gsLst>
                <a:gs pos="100000">
                  <a:srgbClr val="6B1553"/>
                </a:gs>
                <a:gs pos="0">
                  <a:srgbClr val="6B1553">
                    <a:alpha val="7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rgbClr val="6B1553">
                <a:shade val="15000"/>
              </a:srgbClr>
            </a:lnRef>
            <a:fillRef idx="1">
              <a:srgbClr val="6B1553"/>
            </a:fillRef>
            <a:effectRef idx="0">
              <a:srgbClr val="6B1553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等线" panose="02010600030101010101" charset="-122"/>
              </a:endParaRPr>
            </a:p>
          </p:txBody>
        </p:sp>
        <p:sp>
          <p:nvSpPr>
            <p:cNvPr id="25" name="DNAPPT-20255"/>
            <p:cNvSpPr/>
            <p:nvPr/>
          </p:nvSpPr>
          <p:spPr>
            <a:xfrm>
              <a:off x="2753032" y="3264310"/>
              <a:ext cx="45719" cy="5997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6B1553">
                <a:shade val="15000"/>
              </a:srgbClr>
            </a:lnRef>
            <a:fillRef idx="1">
              <a:srgbClr val="6B1553"/>
            </a:fillRef>
            <a:effectRef idx="0">
              <a:srgbClr val="6B1553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等线" panose="02010600030101010101" charset="-122"/>
              </a:endParaRPr>
            </a:p>
          </p:txBody>
        </p:sp>
        <p:sp>
          <p:nvSpPr>
            <p:cNvPr id="27" name="DNAPPT-20256"/>
            <p:cNvSpPr/>
            <p:nvPr/>
          </p:nvSpPr>
          <p:spPr>
            <a:xfrm>
              <a:off x="5024284" y="3264310"/>
              <a:ext cx="45719" cy="5997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6B1553">
                <a:shade val="15000"/>
              </a:srgbClr>
            </a:lnRef>
            <a:fillRef idx="1">
              <a:srgbClr val="6B1553"/>
            </a:fillRef>
            <a:effectRef idx="0">
              <a:srgbClr val="6B1553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等线" panose="02010600030101010101" charset="-122"/>
              </a:endParaRPr>
            </a:p>
          </p:txBody>
        </p:sp>
        <p:sp>
          <p:nvSpPr>
            <p:cNvPr id="29" name="DNAPPT-20257"/>
            <p:cNvSpPr/>
            <p:nvPr/>
          </p:nvSpPr>
          <p:spPr>
            <a:xfrm>
              <a:off x="7295536" y="3264310"/>
              <a:ext cx="45719" cy="5997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6B1553">
                <a:shade val="15000"/>
              </a:srgbClr>
            </a:lnRef>
            <a:fillRef idx="1">
              <a:srgbClr val="6B1553"/>
            </a:fillRef>
            <a:effectRef idx="0">
              <a:srgbClr val="6B1553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等线" panose="02010600030101010101" charset="-122"/>
              </a:endParaRPr>
            </a:p>
          </p:txBody>
        </p:sp>
        <p:sp>
          <p:nvSpPr>
            <p:cNvPr id="30" name="DNAPPT-20258"/>
            <p:cNvSpPr/>
            <p:nvPr/>
          </p:nvSpPr>
          <p:spPr>
            <a:xfrm>
              <a:off x="9566787" y="3264310"/>
              <a:ext cx="45719" cy="5997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6B1553">
                <a:shade val="15000"/>
              </a:srgbClr>
            </a:lnRef>
            <a:fillRef idx="1">
              <a:srgbClr val="6B1553"/>
            </a:fillRef>
            <a:effectRef idx="0">
              <a:srgbClr val="6B1553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等线" panose="02010600030101010101" charset="-122"/>
              </a:endParaRPr>
            </a:p>
          </p:txBody>
        </p:sp>
      </p:grpSp>
      <p:sp>
        <p:nvSpPr>
          <p:cNvPr id="32" name="DNAPPT-202512"/>
          <p:cNvSpPr/>
          <p:nvPr/>
        </p:nvSpPr>
        <p:spPr>
          <a:xfrm>
            <a:off x="1358526" y="2993203"/>
            <a:ext cx="150919" cy="150919"/>
          </a:xfrm>
          <a:prstGeom prst="ellipse">
            <a:avLst/>
          </a:prstGeom>
          <a:ln>
            <a:noFill/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pitchFamily="34" charset="0"/>
              <a:ea typeface="等线" panose="02010600030101010101" charset="-122"/>
            </a:endParaRPr>
          </a:p>
        </p:txBody>
      </p:sp>
      <p:cxnSp>
        <p:nvCxnSpPr>
          <p:cNvPr id="19" name="DNAPPT-20254"/>
          <p:cNvCxnSpPr/>
          <p:nvPr/>
        </p:nvCxnSpPr>
        <p:spPr>
          <a:xfrm>
            <a:off x="3801110" y="2541270"/>
            <a:ext cx="0" cy="1268730"/>
          </a:xfrm>
          <a:prstGeom prst="line">
            <a:avLst/>
          </a:prstGeom>
          <a:ln w="38100"/>
        </p:spPr>
        <p:style>
          <a:lnRef idx="1">
            <a:srgbClr val="6B1553"/>
          </a:lnRef>
          <a:fillRef idx="0">
            <a:srgbClr val="6B1553"/>
          </a:fillRef>
          <a:effectRef idx="0">
            <a:srgbClr val="6B1553"/>
          </a:effectRef>
          <a:fontRef idx="minor">
            <a:srgbClr val="000000"/>
          </a:fontRef>
        </p:style>
      </p:cxnSp>
      <p:sp>
        <p:nvSpPr>
          <p:cNvPr id="36" name="DNAPPT-202515"/>
          <p:cNvSpPr/>
          <p:nvPr/>
        </p:nvSpPr>
        <p:spPr>
          <a:xfrm>
            <a:off x="6208580" y="2993389"/>
            <a:ext cx="150919" cy="150919"/>
          </a:xfrm>
          <a:prstGeom prst="ellipse">
            <a:avLst/>
          </a:prstGeom>
          <a:ln>
            <a:noFill/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pitchFamily="34" charset="0"/>
              <a:ea typeface="等线" panose="02010600030101010101" charset="-122"/>
            </a:endParaRPr>
          </a:p>
        </p:txBody>
      </p:sp>
      <p:sp>
        <p:nvSpPr>
          <p:cNvPr id="38" name="DNAPPT-202517"/>
          <p:cNvSpPr/>
          <p:nvPr/>
        </p:nvSpPr>
        <p:spPr>
          <a:xfrm>
            <a:off x="8236852" y="2430689"/>
            <a:ext cx="150919" cy="150919"/>
          </a:xfrm>
          <a:prstGeom prst="ellipse">
            <a:avLst/>
          </a:prstGeom>
          <a:ln>
            <a:noFill/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pitchFamily="34" charset="0"/>
              <a:ea typeface="等线" panose="02010600030101010101" charset="-122"/>
            </a:endParaRPr>
          </a:p>
        </p:txBody>
      </p:sp>
      <p:sp>
        <p:nvSpPr>
          <p:cNvPr id="40" name="DNAPPT-202519"/>
          <p:cNvSpPr/>
          <p:nvPr/>
        </p:nvSpPr>
        <p:spPr>
          <a:xfrm>
            <a:off x="10465333" y="2970295"/>
            <a:ext cx="150919" cy="150919"/>
          </a:xfrm>
          <a:prstGeom prst="ellipse">
            <a:avLst/>
          </a:prstGeom>
          <a:ln>
            <a:noFill/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pitchFamily="34" charset="0"/>
              <a:ea typeface="等线" panose="02010600030101010101" charset="-122"/>
            </a:endParaRPr>
          </a:p>
        </p:txBody>
      </p:sp>
      <p:cxnSp>
        <p:nvCxnSpPr>
          <p:cNvPr id="41" name="DNAPPT-202520"/>
          <p:cNvCxnSpPr/>
          <p:nvPr/>
        </p:nvCxnSpPr>
        <p:spPr>
          <a:xfrm>
            <a:off x="334913" y="4535732"/>
            <a:ext cx="6931741" cy="0"/>
          </a:xfrm>
          <a:prstGeom prst="line">
            <a:avLst/>
          </a:prstGeom>
          <a:ln w="38100"/>
        </p:spPr>
        <p:style>
          <a:lnRef idx="1">
            <a:srgbClr val="6B1553"/>
          </a:lnRef>
          <a:fillRef idx="0">
            <a:srgbClr val="6B1553"/>
          </a:fillRef>
          <a:effectRef idx="0">
            <a:srgbClr val="6B1553"/>
          </a:effectRef>
          <a:fontRef idx="minor">
            <a:srgbClr val="000000"/>
          </a:fontRef>
        </p:style>
      </p:cxnSp>
      <p:cxnSp>
        <p:nvCxnSpPr>
          <p:cNvPr id="42" name="DNAPPT-202521"/>
          <p:cNvCxnSpPr/>
          <p:nvPr/>
        </p:nvCxnSpPr>
        <p:spPr>
          <a:xfrm>
            <a:off x="7246990" y="4319422"/>
            <a:ext cx="0" cy="216310"/>
          </a:xfrm>
          <a:prstGeom prst="line">
            <a:avLst/>
          </a:prstGeom>
          <a:ln w="38100"/>
        </p:spPr>
        <p:style>
          <a:lnRef idx="1">
            <a:srgbClr val="6B1553"/>
          </a:lnRef>
          <a:fillRef idx="0">
            <a:srgbClr val="6B1553"/>
          </a:fillRef>
          <a:effectRef idx="0">
            <a:srgbClr val="6B1553"/>
          </a:effectRef>
          <a:fontRef idx="minor">
            <a:srgbClr val="000000"/>
          </a:fontRef>
        </p:style>
      </p:cxnSp>
      <p:cxnSp>
        <p:nvCxnSpPr>
          <p:cNvPr id="44" name="DNAPPT-202522"/>
          <p:cNvCxnSpPr/>
          <p:nvPr/>
        </p:nvCxnSpPr>
        <p:spPr>
          <a:xfrm>
            <a:off x="354577" y="4309590"/>
            <a:ext cx="0" cy="226142"/>
          </a:xfrm>
          <a:prstGeom prst="line">
            <a:avLst/>
          </a:prstGeom>
          <a:ln w="38100"/>
        </p:spPr>
        <p:style>
          <a:lnRef idx="1">
            <a:srgbClr val="6B1553"/>
          </a:lnRef>
          <a:fillRef idx="0">
            <a:srgbClr val="6B1553"/>
          </a:fillRef>
          <a:effectRef idx="0">
            <a:srgbClr val="6B1553"/>
          </a:effectRef>
          <a:fontRef idx="minor">
            <a:srgbClr val="000000"/>
          </a:fontRef>
        </p:style>
      </p:cxnSp>
      <p:cxnSp>
        <p:nvCxnSpPr>
          <p:cNvPr id="49" name="DNAPPT-202523"/>
          <p:cNvCxnSpPr/>
          <p:nvPr/>
        </p:nvCxnSpPr>
        <p:spPr>
          <a:xfrm>
            <a:off x="7451742" y="4535732"/>
            <a:ext cx="4396744" cy="0"/>
          </a:xfrm>
          <a:prstGeom prst="line">
            <a:avLst/>
          </a:prstGeom>
          <a:ln w="38100"/>
        </p:spPr>
        <p:style>
          <a:lnRef idx="1">
            <a:srgbClr val="6B1553"/>
          </a:lnRef>
          <a:fillRef idx="0">
            <a:srgbClr val="6B1553"/>
          </a:fillRef>
          <a:effectRef idx="0">
            <a:srgbClr val="6B1553"/>
          </a:effectRef>
          <a:fontRef idx="minor">
            <a:srgbClr val="000000"/>
          </a:fontRef>
        </p:style>
      </p:cxnSp>
      <p:cxnSp>
        <p:nvCxnSpPr>
          <p:cNvPr id="51" name="DNAPPT-202524"/>
          <p:cNvCxnSpPr/>
          <p:nvPr/>
        </p:nvCxnSpPr>
        <p:spPr>
          <a:xfrm>
            <a:off x="7463300" y="4309590"/>
            <a:ext cx="0" cy="226142"/>
          </a:xfrm>
          <a:prstGeom prst="line">
            <a:avLst/>
          </a:prstGeom>
          <a:ln w="38100"/>
        </p:spPr>
        <p:style>
          <a:lnRef idx="1">
            <a:srgbClr val="6B1553"/>
          </a:lnRef>
          <a:fillRef idx="0">
            <a:srgbClr val="6B1553"/>
          </a:fillRef>
          <a:effectRef idx="0">
            <a:srgbClr val="6B1553"/>
          </a:effectRef>
          <a:fontRef idx="minor">
            <a:srgbClr val="000000"/>
          </a:fontRef>
        </p:style>
      </p:cxnSp>
      <p:cxnSp>
        <p:nvCxnSpPr>
          <p:cNvPr id="52" name="DNAPPT-202525"/>
          <p:cNvCxnSpPr/>
          <p:nvPr/>
        </p:nvCxnSpPr>
        <p:spPr>
          <a:xfrm>
            <a:off x="11848487" y="4309590"/>
            <a:ext cx="0" cy="226142"/>
          </a:xfrm>
          <a:prstGeom prst="line">
            <a:avLst/>
          </a:prstGeom>
          <a:ln w="38100"/>
        </p:spPr>
        <p:style>
          <a:lnRef idx="1">
            <a:srgbClr val="6B1553"/>
          </a:lnRef>
          <a:fillRef idx="0">
            <a:srgbClr val="6B1553"/>
          </a:fillRef>
          <a:effectRef idx="0">
            <a:srgbClr val="6B1553"/>
          </a:effectRef>
          <a:fontRef idx="minor">
            <a:srgbClr val="000000"/>
          </a:fontRef>
        </p:style>
      </p:cxnSp>
      <p:cxnSp>
        <p:nvCxnSpPr>
          <p:cNvPr id="53" name="DNAPPT-202526"/>
          <p:cNvCxnSpPr/>
          <p:nvPr/>
        </p:nvCxnSpPr>
        <p:spPr>
          <a:xfrm>
            <a:off x="7300511" y="4889693"/>
            <a:ext cx="0" cy="1376516"/>
          </a:xfrm>
          <a:prstGeom prst="line">
            <a:avLst/>
          </a:prstGeom>
          <a:ln w="38100"/>
        </p:spPr>
        <p:style>
          <a:lnRef idx="1">
            <a:srgbClr val="6B1553"/>
          </a:lnRef>
          <a:fillRef idx="0">
            <a:srgbClr val="6B1553"/>
          </a:fillRef>
          <a:effectRef idx="0">
            <a:srgbClr val="6B1553"/>
          </a:effectRef>
          <a:fontRef idx="minor">
            <a:srgbClr val="000000"/>
          </a:fontRef>
        </p:style>
      </p:cxnSp>
      <p:sp>
        <p:nvSpPr>
          <p:cNvPr id="56" name="DNAPPT-202527"/>
          <p:cNvSpPr txBox="1"/>
          <p:nvPr/>
        </p:nvSpPr>
        <p:spPr>
          <a:xfrm>
            <a:off x="614680" y="2048510"/>
            <a:ext cx="17487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了解行业趋势和竞争对手，进行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技术调研和用户反馈收集</a:t>
            </a:r>
            <a:endParaRPr 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DNAPPT-202528"/>
          <p:cNvSpPr txBox="1"/>
          <p:nvPr/>
        </p:nvSpPr>
        <p:spPr>
          <a:xfrm>
            <a:off x="1491734" y="4807500"/>
            <a:ext cx="548215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关键技术研发与系统原型实现</a:t>
            </a:r>
          </a:p>
        </p:txBody>
      </p:sp>
      <p:sp>
        <p:nvSpPr>
          <p:cNvPr id="58" name="DNAPPT-202529"/>
          <p:cNvSpPr txBox="1"/>
          <p:nvPr/>
        </p:nvSpPr>
        <p:spPr>
          <a:xfrm>
            <a:off x="8431530" y="4807585"/>
            <a:ext cx="28327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系统集成优化与成果输出</a:t>
            </a:r>
          </a:p>
        </p:txBody>
      </p:sp>
      <p:sp>
        <p:nvSpPr>
          <p:cNvPr id="59" name="DNAPPT-202530"/>
          <p:cNvSpPr txBox="1"/>
          <p:nvPr/>
        </p:nvSpPr>
        <p:spPr>
          <a:xfrm>
            <a:off x="691686" y="5234644"/>
            <a:ext cx="6218194" cy="852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Calibri Light" panose="020F0302020204030204" charset="0"/>
              <a:buAutoNum type="arabicPeriod"/>
            </a:pPr>
            <a:r>
              <a:rPr lang="en-US" altLang="zh-CN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2026 </a:t>
            </a:r>
            <a:r>
              <a:rPr lang="zh-CN" altLang="en-US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altLang="zh-CN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altLang="en-US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月末：完成项目选题、需求分析、竞品调研与文献阅读，明确技术路线；</a:t>
            </a:r>
          </a:p>
          <a:p>
            <a:pPr marL="228600" indent="-228600">
              <a:lnSpc>
                <a:spcPct val="150000"/>
              </a:lnSpc>
              <a:buFont typeface="Calibri Light" panose="020F0302020204030204" charset="0"/>
              <a:buAutoNum type="arabicPeriod"/>
            </a:pPr>
            <a:r>
              <a:rPr lang="en-US" altLang="zh-CN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2026 </a:t>
            </a:r>
            <a:r>
              <a:rPr lang="zh-CN" altLang="en-US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altLang="zh-CN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altLang="en-US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月末：完成系统方案设计、申请书撰写及立项答辩准备。</a:t>
            </a:r>
          </a:p>
          <a:p>
            <a:pPr marL="228600" indent="-228600">
              <a:lnSpc>
                <a:spcPct val="150000"/>
              </a:lnSpc>
              <a:buFont typeface="Calibri Light" panose="020F0302020204030204" charset="0"/>
              <a:buAutoNum type="arabicPeriod"/>
            </a:pPr>
            <a:r>
              <a:rPr lang="en-US" altLang="zh-CN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2026 </a:t>
            </a:r>
            <a:r>
              <a:rPr lang="zh-CN" altLang="en-US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altLang="zh-CN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altLang="en-US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月末：完成核心模块开发、单元测试与初步联调，形成系统原型。</a:t>
            </a:r>
          </a:p>
        </p:txBody>
      </p:sp>
      <p:sp>
        <p:nvSpPr>
          <p:cNvPr id="61" name="DNAPPT-202532"/>
          <p:cNvSpPr txBox="1"/>
          <p:nvPr/>
        </p:nvSpPr>
        <p:spPr>
          <a:xfrm>
            <a:off x="2733675" y="1316355"/>
            <a:ext cx="2087245" cy="10490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完成系统技术路线与总体架构设计，撰写并完善项目申请书，完成立项答辩准备。</a:t>
            </a:r>
          </a:p>
        </p:txBody>
      </p:sp>
      <p:sp>
        <p:nvSpPr>
          <p:cNvPr id="64" name="DNAPPT-202533"/>
          <p:cNvSpPr txBox="1"/>
          <p:nvPr/>
        </p:nvSpPr>
        <p:spPr>
          <a:xfrm>
            <a:off x="5193665" y="1610995"/>
            <a:ext cx="1945005" cy="130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完成饮食场景感知、食品识别与份量估计、OCR 配料解析、营养计算等核心模块开发，形成系统原型。</a:t>
            </a:r>
          </a:p>
        </p:txBody>
      </p:sp>
      <p:sp>
        <p:nvSpPr>
          <p:cNvPr id="65" name="DNAPPT-202534"/>
          <p:cNvSpPr txBox="1"/>
          <p:nvPr/>
        </p:nvSpPr>
        <p:spPr>
          <a:xfrm>
            <a:off x="7452360" y="1108710"/>
            <a:ext cx="1958340" cy="13220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完成各模块联调与闭环集成，实现个性化风险预警与语音反馈，并开展多场景测试和性能优化。</a:t>
            </a:r>
          </a:p>
        </p:txBody>
      </p:sp>
      <p:sp>
        <p:nvSpPr>
          <p:cNvPr id="67" name="DNAPPT-202536"/>
          <p:cNvSpPr txBox="1"/>
          <p:nvPr/>
        </p:nvSpPr>
        <p:spPr>
          <a:xfrm>
            <a:off x="9547860" y="1621155"/>
            <a:ext cx="1945005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持续优化系统稳定性与用户体验，完成结题报告、技术文档、项目展示答辩，并争取论文或竞赛成果。</a:t>
            </a:r>
          </a:p>
        </p:txBody>
      </p:sp>
      <p:sp>
        <p:nvSpPr>
          <p:cNvPr id="71" name="DNAPPT-202538"/>
          <p:cNvSpPr txBox="1"/>
          <p:nvPr/>
        </p:nvSpPr>
        <p:spPr>
          <a:xfrm>
            <a:off x="692150" y="3813175"/>
            <a:ext cx="145415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前期调研阶段</a:t>
            </a:r>
          </a:p>
        </p:txBody>
      </p:sp>
      <p:sp>
        <p:nvSpPr>
          <p:cNvPr id="72" name="DNAPPT-202539"/>
          <p:cNvSpPr txBox="1"/>
          <p:nvPr/>
        </p:nvSpPr>
        <p:spPr>
          <a:xfrm>
            <a:off x="3054985" y="3813175"/>
            <a:ext cx="165671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方案设计与立项阶段</a:t>
            </a:r>
          </a:p>
        </p:txBody>
      </p:sp>
      <p:sp>
        <p:nvSpPr>
          <p:cNvPr id="73" name="DNAPPT-202540"/>
          <p:cNvSpPr txBox="1"/>
          <p:nvPr/>
        </p:nvSpPr>
        <p:spPr>
          <a:xfrm>
            <a:off x="5355590" y="3813175"/>
            <a:ext cx="16205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核心模块开发阶段</a:t>
            </a:r>
          </a:p>
        </p:txBody>
      </p:sp>
      <p:sp>
        <p:nvSpPr>
          <p:cNvPr id="74" name="DNAPPT-202541"/>
          <p:cNvSpPr txBox="1"/>
          <p:nvPr/>
        </p:nvSpPr>
        <p:spPr>
          <a:xfrm>
            <a:off x="7548245" y="3813175"/>
            <a:ext cx="177165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系统集成与优化阶段</a:t>
            </a:r>
          </a:p>
        </p:txBody>
      </p:sp>
      <p:sp>
        <p:nvSpPr>
          <p:cNvPr id="75" name="DNAPPT-202542"/>
          <p:cNvSpPr txBox="1"/>
          <p:nvPr/>
        </p:nvSpPr>
        <p:spPr>
          <a:xfrm>
            <a:off x="9972675" y="3813175"/>
            <a:ext cx="11760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成果产出阶段</a:t>
            </a:r>
          </a:p>
        </p:txBody>
      </p:sp>
      <p:sp>
        <p:nvSpPr>
          <p:cNvPr id="76" name="DNAPPT-202543"/>
          <p:cNvSpPr/>
          <p:nvPr/>
        </p:nvSpPr>
        <p:spPr>
          <a:xfrm>
            <a:off x="1006938" y="4743201"/>
            <a:ext cx="421808" cy="421808"/>
          </a:xfrm>
          <a:prstGeom prst="ellipse">
            <a:avLst/>
          </a:prstGeom>
          <a:ln>
            <a:noFill/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DNAPPT-202544"/>
          <p:cNvSpPr/>
          <p:nvPr/>
        </p:nvSpPr>
        <p:spPr>
          <a:xfrm>
            <a:off x="8046364" y="4743201"/>
            <a:ext cx="421808" cy="421808"/>
          </a:xfrm>
          <a:prstGeom prst="ellipse">
            <a:avLst/>
          </a:prstGeom>
          <a:ln>
            <a:noFill/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DNAPPT-202530"/>
          <p:cNvSpPr txBox="1"/>
          <p:nvPr/>
        </p:nvSpPr>
        <p:spPr>
          <a:xfrm>
            <a:off x="7374890" y="5165090"/>
            <a:ext cx="4638675" cy="11518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28600" indent="-228600">
              <a:lnSpc>
                <a:spcPct val="150000"/>
              </a:lnSpc>
              <a:buFont typeface="Calibri Light" panose="020F0302020204030204" charset="0"/>
              <a:buAutoNum type="arabicPeriod"/>
            </a:pPr>
            <a:r>
              <a:rPr lang="en-US" altLang="zh-CN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2027 </a:t>
            </a:r>
            <a:r>
              <a:rPr lang="zh-CN" altLang="en-US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altLang="zh-CN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altLang="en-US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月末：完成系统集成、健康分析模块开发及闭环流程搭建；</a:t>
            </a:r>
            <a:endParaRPr lang="en-US" altLang="zh-CN" sz="1100" b="0" i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indent="-228600">
              <a:lnSpc>
                <a:spcPct val="150000"/>
              </a:lnSpc>
              <a:buFont typeface="Calibri Light" panose="020F0302020204030204" charset="0"/>
              <a:buAutoNum type="arabicPeriod"/>
            </a:pPr>
            <a:r>
              <a:rPr lang="en-US" altLang="zh-CN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2027 </a:t>
            </a:r>
            <a:r>
              <a:rPr lang="zh-CN" altLang="en-US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altLang="zh-CN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altLang="en-US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月末：完成复杂场景测试与系统优化，提升识别准确率、响应速度与稳定性；</a:t>
            </a:r>
          </a:p>
          <a:p>
            <a:pPr marL="228600" indent="-228600">
              <a:lnSpc>
                <a:spcPct val="150000"/>
              </a:lnSpc>
              <a:buFont typeface="Calibri Light" panose="020F0302020204030204" charset="0"/>
              <a:buAutoNum type="arabicPeriod"/>
            </a:pPr>
            <a:r>
              <a:rPr lang="en-US" altLang="zh-CN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2027 </a:t>
            </a:r>
            <a:r>
              <a:rPr lang="zh-CN" altLang="en-US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altLang="zh-CN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altLang="en-US" sz="1100" b="0" i="0">
                <a:effectLst/>
                <a:latin typeface="微软雅黑" panose="020B0503020204020204" charset="-122"/>
                <a:ea typeface="微软雅黑" panose="020B0503020204020204" charset="-122"/>
              </a:rPr>
              <a:t>月末：完成结题报告、成果整理与项目展示答辩，形成可演示的系统原型。</a:t>
            </a:r>
          </a:p>
        </p:txBody>
      </p:sp>
      <p:sp>
        <p:nvSpPr>
          <p:cNvPr id="46" name="DNAPPT-202512"/>
          <p:cNvSpPr/>
          <p:nvPr/>
        </p:nvSpPr>
        <p:spPr>
          <a:xfrm>
            <a:off x="3725806" y="2389953"/>
            <a:ext cx="150919" cy="150919"/>
          </a:xfrm>
          <a:prstGeom prst="ellipse">
            <a:avLst/>
          </a:prstGeom>
          <a:ln>
            <a:noFill/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pitchFamily="34" charset="0"/>
              <a:ea typeface="等线" panose="02010600030101010101" charset="-122"/>
            </a:endParaRPr>
          </a:p>
        </p:txBody>
      </p:sp>
      <p:sp>
        <p:nvSpPr>
          <p:cNvPr id="35" name="井井ppt"/>
          <p:cNvSpPr txBox="1"/>
          <p:nvPr/>
        </p:nvSpPr>
        <p:spPr>
          <a:xfrm>
            <a:off x="367665" y="873125"/>
            <a:ext cx="1835150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accent1"/>
                </a:solidFill>
                <a:latin typeface="+mj-ea"/>
                <a:ea typeface="+mj-ea"/>
                <a:cs typeface="+mn-ea"/>
              </a:defRPr>
            </a:lvl1pPr>
          </a:lstStyle>
          <a:p>
            <a:r>
              <a:rPr lang="en-US" altLang="zh-CN" dirty="0">
                <a:solidFill>
                  <a:srgbClr val="7E0C6E"/>
                </a:solidFill>
                <a:sym typeface="+mn-lt"/>
              </a:rPr>
              <a:t>5.1 </a:t>
            </a:r>
            <a:r>
              <a:rPr lang="zh-CN" altLang="en-US" dirty="0">
                <a:solidFill>
                  <a:srgbClr val="7E0C6E"/>
                </a:solidFill>
                <a:sym typeface="+mn-lt"/>
              </a:rPr>
              <a:t>项目进度</a:t>
            </a:r>
          </a:p>
        </p:txBody>
      </p:sp>
      <p:cxnSp>
        <p:nvCxnSpPr>
          <p:cNvPr id="28" name="井井ppt"/>
          <p:cNvCxnSpPr/>
          <p:nvPr/>
        </p:nvCxnSpPr>
        <p:spPr>
          <a:xfrm>
            <a:off x="66977" y="1293255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/>
    </mc:Choice>
    <mc:Fallback xmlns="">
      <p:transition spd="med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井井ppt"/>
          <p:cNvCxnSpPr/>
          <p:nvPr/>
        </p:nvCxnSpPr>
        <p:spPr>
          <a:xfrm>
            <a:off x="49336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l="1846" t="20405" r="1846"/>
          <a:stretch>
            <a:fillRect/>
          </a:stretch>
        </p:blipFill>
        <p:spPr>
          <a:xfrm>
            <a:off x="0" y="1"/>
            <a:ext cx="12192000" cy="944689"/>
          </a:xfrm>
          <a:custGeom>
            <a:avLst/>
            <a:gdLst>
              <a:gd name="connsiteX0" fmla="*/ 0 w 12192000"/>
              <a:gd name="connsiteY0" fmla="*/ 0 h 944689"/>
              <a:gd name="connsiteX1" fmla="*/ 12192000 w 12192000"/>
              <a:gd name="connsiteY1" fmla="*/ 0 h 944689"/>
              <a:gd name="connsiteX2" fmla="*/ 12192000 w 12192000"/>
              <a:gd name="connsiteY2" fmla="*/ 944689 h 944689"/>
              <a:gd name="connsiteX3" fmla="*/ 0 w 12192000"/>
              <a:gd name="connsiteY3" fmla="*/ 944689 h 94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44689">
                <a:moveTo>
                  <a:pt x="0" y="0"/>
                </a:moveTo>
                <a:lnTo>
                  <a:pt x="12192000" y="0"/>
                </a:lnTo>
                <a:lnTo>
                  <a:pt x="12192000" y="944689"/>
                </a:lnTo>
                <a:lnTo>
                  <a:pt x="0" y="944689"/>
                </a:lnTo>
                <a:close/>
              </a:path>
            </a:pathLst>
          </a:custGeom>
        </p:spPr>
      </p:pic>
      <p:sp>
        <p:nvSpPr>
          <p:cNvPr id="4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zh-CN" altLang="en-US" sz="2880" dirty="0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273275" y="0"/>
            <a:ext cx="1759474" cy="792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zh-CN" alt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62234" y="216985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研究背景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21708" y="216986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研究目标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81182" y="216985"/>
            <a:ext cx="1769430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cs typeface="+mn-ea"/>
              </a:defRPr>
            </a:lvl1pPr>
          </a:lstStyle>
          <a:p>
            <a:pPr algn="ctr"/>
            <a:r>
              <a:rPr lang="zh-CN" altLang="en-US" sz="1600" b="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技术路线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40420" y="217170"/>
            <a:ext cx="1768475" cy="340995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项目创新点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75900" y="186055"/>
            <a:ext cx="1553845" cy="402590"/>
          </a:xfrm>
          <a:prstGeom prst="rect">
            <a:avLst/>
          </a:prstGeom>
          <a:noFill/>
        </p:spPr>
        <p:txBody>
          <a:bodyPr wrap="square" lIns="0" tIns="48000" rIns="0" bIns="48000" rtlCol="0" anchor="ctr" anchorCtr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cs typeface="+mn-ea"/>
                <a:sym typeface="+mn-lt"/>
              </a:rPr>
              <a:t>进度安排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492668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校徽透明背景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" y="-36830"/>
            <a:ext cx="2190750" cy="82867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18</a:t>
            </a:fld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669071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8454746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井井ppt"/>
          <p:cNvSpPr txBox="1"/>
          <p:nvPr/>
        </p:nvSpPr>
        <p:spPr>
          <a:xfrm>
            <a:off x="367665" y="873125"/>
            <a:ext cx="1835150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accent1"/>
                </a:solidFill>
                <a:latin typeface="+mj-ea"/>
                <a:ea typeface="+mj-ea"/>
                <a:cs typeface="+mn-ea"/>
              </a:defRPr>
            </a:lvl1pPr>
          </a:lstStyle>
          <a:p>
            <a:r>
              <a:rPr lang="en-US" altLang="zh-CN" dirty="0">
                <a:solidFill>
                  <a:srgbClr val="7E0C6E"/>
                </a:solidFill>
                <a:sym typeface="+mn-lt"/>
              </a:rPr>
              <a:t>5.2 </a:t>
            </a:r>
            <a:r>
              <a:rPr lang="zh-CN" altLang="en-US" dirty="0">
                <a:solidFill>
                  <a:srgbClr val="7E0C6E"/>
                </a:solidFill>
                <a:sym typeface="+mn-lt"/>
              </a:rPr>
              <a:t>已有基础</a:t>
            </a:r>
          </a:p>
        </p:txBody>
      </p:sp>
      <p:cxnSp>
        <p:nvCxnSpPr>
          <p:cNvPr id="17" name="井井ppt"/>
          <p:cNvCxnSpPr/>
          <p:nvPr/>
        </p:nvCxnSpPr>
        <p:spPr>
          <a:xfrm>
            <a:off x="66977" y="1293255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/>
    </mc:Choice>
    <mc:Fallback xmlns="">
      <p:transition spd="med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35" y="2221865"/>
            <a:ext cx="12192635" cy="2449830"/>
          </a:xfrm>
          <a:prstGeom prst="rect">
            <a:avLst/>
          </a:prstGeom>
          <a:gradFill>
            <a:gsLst>
              <a:gs pos="100000">
                <a:srgbClr val="6B1553">
                  <a:alpha val="80000"/>
                </a:srgbClr>
              </a:gs>
              <a:gs pos="0">
                <a:srgbClr val="6B1553"/>
              </a:gs>
            </a:gsLst>
            <a:lin ang="5400000" scaled="1"/>
          </a:gradFill>
          <a:ln>
            <a:noFill/>
          </a:ln>
        </p:spPr>
        <p:style>
          <a:lnRef idx="2">
            <a:srgbClr val="6B1553">
              <a:shade val="15000"/>
            </a:srgbClr>
          </a:lnRef>
          <a:fillRef idx="1">
            <a:srgbClr val="6B1553"/>
          </a:fillRef>
          <a:effectRef idx="0">
            <a:srgbClr val="6B1553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3" name="井井ppt"/>
          <p:cNvGrpSpPr/>
          <p:nvPr/>
        </p:nvGrpSpPr>
        <p:grpSpPr>
          <a:xfrm>
            <a:off x="2853691" y="2754989"/>
            <a:ext cx="6484620" cy="1339588"/>
            <a:chOff x="2853691" y="2853257"/>
            <a:chExt cx="6484620" cy="1339588"/>
          </a:xfrm>
        </p:grpSpPr>
        <p:sp>
          <p:nvSpPr>
            <p:cNvPr id="9" name="powerpoint template design by DAJU_PPT正版来源小红书大橘PPT微信DAJU_PPT请勿抄袭搬运！盗版必究！-1"/>
            <p:cNvSpPr txBox="1"/>
            <p:nvPr/>
          </p:nvSpPr>
          <p:spPr>
            <a:xfrm>
              <a:off x="2853691" y="2853257"/>
              <a:ext cx="6484620" cy="830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5400" b="1" spc="600" dirty="0">
                  <a:solidFill>
                    <a:schemeClr val="bg1"/>
                  </a:solidFill>
                  <a:cs typeface="+mn-ea"/>
                  <a:sym typeface="+mn-lt"/>
                </a:rPr>
                <a:t>恳请各位老师指正</a:t>
              </a:r>
            </a:p>
          </p:txBody>
        </p:sp>
        <p:sp>
          <p:nvSpPr>
            <p:cNvPr id="22" name="powerpoint template design by DAJU_PPT正版来源小红书大橘PPT微信DAJU_PPT请勿抄袭搬运！盗版必究！-2"/>
            <p:cNvSpPr txBox="1"/>
            <p:nvPr/>
          </p:nvSpPr>
          <p:spPr>
            <a:xfrm>
              <a:off x="3327401" y="3977580"/>
              <a:ext cx="5537198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spc="300" dirty="0">
                  <a:solidFill>
                    <a:schemeClr val="bg1"/>
                  </a:solidFill>
                  <a:cs typeface="+mn-ea"/>
                  <a:sym typeface="+mn-lt"/>
                </a:rPr>
                <a:t>Thanks for listening</a:t>
              </a:r>
            </a:p>
          </p:txBody>
        </p:sp>
        <p:cxnSp>
          <p:nvCxnSpPr>
            <p:cNvPr id="4" name="powerpoint template design by DAJU_PPT正版来源小红书大橘PPT微信DAJU_PPT请勿抄袭搬运！盗版必究！-3"/>
            <p:cNvCxnSpPr/>
            <p:nvPr/>
          </p:nvCxnSpPr>
          <p:spPr>
            <a:xfrm>
              <a:off x="3622089" y="3843484"/>
              <a:ext cx="4860000" cy="0"/>
            </a:xfrm>
            <a:prstGeom prst="line">
              <a:avLst/>
            </a:prstGeom>
            <a:ln>
              <a:solidFill>
                <a:schemeClr val="bg1">
                  <a:alpha val="7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0480675" y="0"/>
            <a:ext cx="1175385" cy="1295400"/>
          </a:xfrm>
          <a:prstGeom prst="rect">
            <a:avLst/>
          </a:prstGeom>
        </p:spPr>
      </p:pic>
      <p:pic>
        <p:nvPicPr>
          <p:cNvPr id="31" name="图片 30" descr="校徽透明背景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910" y="70485"/>
            <a:ext cx="2190750" cy="828675"/>
          </a:xfrm>
          <a:prstGeom prst="rect">
            <a:avLst/>
          </a:prstGeom>
        </p:spPr>
      </p:pic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3086735" y="5142230"/>
            <a:ext cx="2870200" cy="461645"/>
            <a:chOff x="3532426" y="5614035"/>
            <a:chExt cx="2870175" cy="461872"/>
          </a:xfrm>
        </p:grpSpPr>
        <p:sp>
          <p:nvSpPr>
            <p:cNvPr id="13" name="powerpoint template design by DAJU_PPT正版来源小红书大橘PPT微信DAJU_PPT请勿抄袭搬运！盗版必究！-1"/>
            <p:cNvSpPr txBox="1"/>
            <p:nvPr>
              <p:custDataLst>
                <p:tags r:id="rId5"/>
              </p:custDataLst>
            </p:nvPr>
          </p:nvSpPr>
          <p:spPr>
            <a:xfrm>
              <a:off x="4071536" y="5645165"/>
              <a:ext cx="2331065" cy="397705"/>
            </a:xfrm>
            <a:prstGeom prst="rect">
              <a:avLst/>
            </a:prstGeom>
            <a:noFill/>
          </p:spPr>
          <p:txBody>
            <a:bodyPr wrap="square" lIns="91416" tIns="45708" rIns="91416" bIns="45708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chemeClr val="accent2"/>
                  </a:solidFill>
                  <a:latin typeface="+mn-ea"/>
                  <a:ea typeface="+mn-ea"/>
                </a:defRPr>
              </a:lvl1pPr>
            </a:lstStyle>
            <a:p>
              <a:r>
                <a:rPr lang="zh-CN" altLang="en-US" b="1" dirty="0">
                  <a:solidFill>
                    <a:srgbClr val="404040"/>
                  </a:solidFill>
                  <a:latin typeface="+mn-lt"/>
                  <a:cs typeface="+mn-ea"/>
                  <a:sym typeface="+mn-lt"/>
                </a:rPr>
                <a:t>答辩人</a:t>
              </a:r>
              <a:r>
                <a:rPr lang="zh-CN" altLang="en-US" dirty="0">
                  <a:solidFill>
                    <a:srgbClr val="404040"/>
                  </a:solidFill>
                  <a:latin typeface="+mn-lt"/>
                  <a:cs typeface="+mn-ea"/>
                  <a:sym typeface="+mn-lt"/>
                </a:rPr>
                <a:t>：唐小涯</a:t>
              </a:r>
            </a:p>
          </p:txBody>
        </p:sp>
        <p:sp>
          <p:nvSpPr>
            <p:cNvPr id="12" name="powerpoint template design by DAJU_PPT正版来源小红书大橘PPT微信DAJU_PPT请勿抄袭搬运！盗版必究！-2"/>
            <p:cNvSpPr/>
            <p:nvPr>
              <p:custDataLst>
                <p:tags r:id="rId6"/>
              </p:custDataLst>
            </p:nvPr>
          </p:nvSpPr>
          <p:spPr bwMode="auto">
            <a:xfrm>
              <a:off x="3532426" y="5614035"/>
              <a:ext cx="461872" cy="461872"/>
            </a:xfrm>
            <a:custGeom>
              <a:avLst/>
              <a:gdLst>
                <a:gd name="connsiteX0" fmla="*/ 191956 w 568764"/>
                <a:gd name="connsiteY0" fmla="*/ 212385 h 568764"/>
                <a:gd name="connsiteX1" fmla="*/ 177874 w 568764"/>
                <a:gd name="connsiteY1" fmla="*/ 225909 h 568764"/>
                <a:gd name="connsiteX2" fmla="*/ 177874 w 568764"/>
                <a:gd name="connsiteY2" fmla="*/ 288761 h 568764"/>
                <a:gd name="connsiteX3" fmla="*/ 267484 w 568764"/>
                <a:gd name="connsiteY3" fmla="*/ 393344 h 568764"/>
                <a:gd name="connsiteX4" fmla="*/ 267484 w 568764"/>
                <a:gd name="connsiteY4" fmla="*/ 438681 h 568764"/>
                <a:gd name="connsiteX5" fmla="*/ 203989 w 568764"/>
                <a:gd name="connsiteY5" fmla="*/ 456712 h 568764"/>
                <a:gd name="connsiteX6" fmla="*/ 365287 w 568764"/>
                <a:gd name="connsiteY6" fmla="*/ 456712 h 568764"/>
                <a:gd name="connsiteX7" fmla="*/ 300768 w 568764"/>
                <a:gd name="connsiteY7" fmla="*/ 438165 h 568764"/>
                <a:gd name="connsiteX8" fmla="*/ 300768 w 568764"/>
                <a:gd name="connsiteY8" fmla="*/ 393344 h 568764"/>
                <a:gd name="connsiteX9" fmla="*/ 391402 w 568764"/>
                <a:gd name="connsiteY9" fmla="*/ 288761 h 568764"/>
                <a:gd name="connsiteX10" fmla="*/ 391402 w 568764"/>
                <a:gd name="connsiteY10" fmla="*/ 225909 h 568764"/>
                <a:gd name="connsiteX11" fmla="*/ 362727 w 568764"/>
                <a:gd name="connsiteY11" fmla="*/ 225909 h 568764"/>
                <a:gd name="connsiteX12" fmla="*/ 362727 w 568764"/>
                <a:gd name="connsiteY12" fmla="*/ 288761 h 568764"/>
                <a:gd name="connsiteX13" fmla="*/ 286430 w 568764"/>
                <a:gd name="connsiteY13" fmla="*/ 365524 h 568764"/>
                <a:gd name="connsiteX14" fmla="*/ 284894 w 568764"/>
                <a:gd name="connsiteY14" fmla="*/ 365524 h 568764"/>
                <a:gd name="connsiteX15" fmla="*/ 284382 w 568764"/>
                <a:gd name="connsiteY15" fmla="*/ 365524 h 568764"/>
                <a:gd name="connsiteX16" fmla="*/ 283870 w 568764"/>
                <a:gd name="connsiteY16" fmla="*/ 365524 h 568764"/>
                <a:gd name="connsiteX17" fmla="*/ 282334 w 568764"/>
                <a:gd name="connsiteY17" fmla="*/ 365524 h 568764"/>
                <a:gd name="connsiteX18" fmla="*/ 206037 w 568764"/>
                <a:gd name="connsiteY18" fmla="*/ 288761 h 568764"/>
                <a:gd name="connsiteX19" fmla="*/ 206037 w 568764"/>
                <a:gd name="connsiteY19" fmla="*/ 225909 h 568764"/>
                <a:gd name="connsiteX20" fmla="*/ 191956 w 568764"/>
                <a:gd name="connsiteY20" fmla="*/ 212385 h 568764"/>
                <a:gd name="connsiteX21" fmla="*/ 283358 w 568764"/>
                <a:gd name="connsiteY21" fmla="*/ 112052 h 568764"/>
                <a:gd name="connsiteX22" fmla="*/ 232664 w 568764"/>
                <a:gd name="connsiteY22" fmla="*/ 163571 h 568764"/>
                <a:gd name="connsiteX23" fmla="*/ 232664 w 568764"/>
                <a:gd name="connsiteY23" fmla="*/ 287731 h 568764"/>
                <a:gd name="connsiteX24" fmla="*/ 283358 w 568764"/>
                <a:gd name="connsiteY24" fmla="*/ 338734 h 568764"/>
                <a:gd name="connsiteX25" fmla="*/ 284382 w 568764"/>
                <a:gd name="connsiteY25" fmla="*/ 338734 h 568764"/>
                <a:gd name="connsiteX26" fmla="*/ 285406 w 568764"/>
                <a:gd name="connsiteY26" fmla="*/ 338734 h 568764"/>
                <a:gd name="connsiteX27" fmla="*/ 336612 w 568764"/>
                <a:gd name="connsiteY27" fmla="*/ 287731 h 568764"/>
                <a:gd name="connsiteX28" fmla="*/ 336612 w 568764"/>
                <a:gd name="connsiteY28" fmla="*/ 163571 h 568764"/>
                <a:gd name="connsiteX29" fmla="*/ 285406 w 568764"/>
                <a:gd name="connsiteY29" fmla="*/ 112052 h 568764"/>
                <a:gd name="connsiteX30" fmla="*/ 284382 w 568764"/>
                <a:gd name="connsiteY30" fmla="*/ 112052 h 568764"/>
                <a:gd name="connsiteX31" fmla="*/ 283358 w 568764"/>
                <a:gd name="connsiteY31" fmla="*/ 112052 h 568764"/>
                <a:gd name="connsiteX32" fmla="*/ 284382 w 568764"/>
                <a:gd name="connsiteY32" fmla="*/ 0 h 568764"/>
                <a:gd name="connsiteX33" fmla="*/ 568764 w 568764"/>
                <a:gd name="connsiteY33" fmla="*/ 284382 h 568764"/>
                <a:gd name="connsiteX34" fmla="*/ 284382 w 568764"/>
                <a:gd name="connsiteY34" fmla="*/ 568764 h 568764"/>
                <a:gd name="connsiteX35" fmla="*/ 0 w 568764"/>
                <a:gd name="connsiteY35" fmla="*/ 284382 h 568764"/>
                <a:gd name="connsiteX36" fmla="*/ 284382 w 568764"/>
                <a:gd name="connsiteY36" fmla="*/ 0 h 56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568764" h="568764">
                  <a:moveTo>
                    <a:pt x="191956" y="212385"/>
                  </a:moveTo>
                  <a:cubicBezTo>
                    <a:pt x="184915" y="212385"/>
                    <a:pt x="177874" y="216893"/>
                    <a:pt x="177874" y="225909"/>
                  </a:cubicBezTo>
                  <a:cubicBezTo>
                    <a:pt x="177874" y="234152"/>
                    <a:pt x="177874" y="288761"/>
                    <a:pt x="177874" y="288761"/>
                  </a:cubicBezTo>
                  <a:cubicBezTo>
                    <a:pt x="177874" y="341826"/>
                    <a:pt x="216791" y="386132"/>
                    <a:pt x="267484" y="393344"/>
                  </a:cubicBezTo>
                  <a:lnTo>
                    <a:pt x="267484" y="438681"/>
                  </a:lnTo>
                  <a:lnTo>
                    <a:pt x="203989" y="456712"/>
                  </a:lnTo>
                  <a:lnTo>
                    <a:pt x="365287" y="456712"/>
                  </a:lnTo>
                  <a:lnTo>
                    <a:pt x="300768" y="438165"/>
                  </a:lnTo>
                  <a:lnTo>
                    <a:pt x="300768" y="393344"/>
                  </a:lnTo>
                  <a:cubicBezTo>
                    <a:pt x="351974" y="386132"/>
                    <a:pt x="391402" y="341826"/>
                    <a:pt x="391402" y="288761"/>
                  </a:cubicBezTo>
                  <a:lnTo>
                    <a:pt x="391402" y="225909"/>
                  </a:lnTo>
                  <a:cubicBezTo>
                    <a:pt x="391402" y="207877"/>
                    <a:pt x="362727" y="207877"/>
                    <a:pt x="362727" y="225909"/>
                  </a:cubicBezTo>
                  <a:lnTo>
                    <a:pt x="362727" y="288761"/>
                  </a:lnTo>
                  <a:cubicBezTo>
                    <a:pt x="362727" y="331007"/>
                    <a:pt x="328419" y="365524"/>
                    <a:pt x="286430" y="365524"/>
                  </a:cubicBezTo>
                  <a:cubicBezTo>
                    <a:pt x="285918" y="365524"/>
                    <a:pt x="285406" y="365524"/>
                    <a:pt x="284894" y="365524"/>
                  </a:cubicBezTo>
                  <a:lnTo>
                    <a:pt x="284382" y="365524"/>
                  </a:lnTo>
                  <a:lnTo>
                    <a:pt x="283870" y="365524"/>
                  </a:lnTo>
                  <a:cubicBezTo>
                    <a:pt x="283358" y="365524"/>
                    <a:pt x="282846" y="365524"/>
                    <a:pt x="282334" y="365524"/>
                  </a:cubicBezTo>
                  <a:cubicBezTo>
                    <a:pt x="240345" y="365524"/>
                    <a:pt x="206037" y="331007"/>
                    <a:pt x="206037" y="288761"/>
                  </a:cubicBezTo>
                  <a:lnTo>
                    <a:pt x="206037" y="225909"/>
                  </a:lnTo>
                  <a:cubicBezTo>
                    <a:pt x="206037" y="216893"/>
                    <a:pt x="198997" y="212385"/>
                    <a:pt x="191956" y="212385"/>
                  </a:cubicBezTo>
                  <a:close/>
                  <a:moveTo>
                    <a:pt x="283358" y="112052"/>
                  </a:moveTo>
                  <a:cubicBezTo>
                    <a:pt x="255195" y="112052"/>
                    <a:pt x="232664" y="135236"/>
                    <a:pt x="232664" y="163571"/>
                  </a:cubicBezTo>
                  <a:lnTo>
                    <a:pt x="232664" y="287731"/>
                  </a:lnTo>
                  <a:cubicBezTo>
                    <a:pt x="232664" y="316066"/>
                    <a:pt x="255195" y="338734"/>
                    <a:pt x="283358" y="338734"/>
                  </a:cubicBezTo>
                  <a:cubicBezTo>
                    <a:pt x="283870" y="338734"/>
                    <a:pt x="283870" y="338734"/>
                    <a:pt x="284382" y="338734"/>
                  </a:cubicBezTo>
                  <a:cubicBezTo>
                    <a:pt x="284894" y="338734"/>
                    <a:pt x="284894" y="338734"/>
                    <a:pt x="285406" y="338734"/>
                  </a:cubicBezTo>
                  <a:cubicBezTo>
                    <a:pt x="313569" y="338734"/>
                    <a:pt x="336612" y="316066"/>
                    <a:pt x="336612" y="287731"/>
                  </a:cubicBezTo>
                  <a:lnTo>
                    <a:pt x="336612" y="163571"/>
                  </a:lnTo>
                  <a:cubicBezTo>
                    <a:pt x="336612" y="135236"/>
                    <a:pt x="313569" y="112052"/>
                    <a:pt x="285406" y="112052"/>
                  </a:cubicBezTo>
                  <a:cubicBezTo>
                    <a:pt x="284894" y="112052"/>
                    <a:pt x="284894" y="112052"/>
                    <a:pt x="284382" y="112052"/>
                  </a:cubicBezTo>
                  <a:cubicBezTo>
                    <a:pt x="284382" y="112052"/>
                    <a:pt x="283870" y="112052"/>
                    <a:pt x="283358" y="112052"/>
                  </a:cubicBezTo>
                  <a:close/>
                  <a:moveTo>
                    <a:pt x="284382" y="0"/>
                  </a:moveTo>
                  <a:cubicBezTo>
                    <a:pt x="441442" y="0"/>
                    <a:pt x="568764" y="127322"/>
                    <a:pt x="568764" y="284382"/>
                  </a:cubicBezTo>
                  <a:cubicBezTo>
                    <a:pt x="568764" y="441442"/>
                    <a:pt x="441442" y="568764"/>
                    <a:pt x="284382" y="568764"/>
                  </a:cubicBezTo>
                  <a:cubicBezTo>
                    <a:pt x="127322" y="568764"/>
                    <a:pt x="0" y="441442"/>
                    <a:pt x="0" y="284382"/>
                  </a:cubicBezTo>
                  <a:cubicBezTo>
                    <a:pt x="0" y="127322"/>
                    <a:pt x="127322" y="0"/>
                    <a:pt x="284382" y="0"/>
                  </a:cubicBezTo>
                  <a:close/>
                </a:path>
              </a:pathLst>
            </a:custGeom>
            <a:solidFill>
              <a:srgbClr val="6B1554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>
              <a:noAutofit/>
            </a:bodyPr>
            <a:lstStyle/>
            <a:p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4" name="powerpoint template design by DAJU_PPT正版来源小红书大橘PPT微信DAJU_PPT请勿抄袭搬运！盗版必究！-3"/>
          <p:cNvSpPr txBox="1"/>
          <p:nvPr>
            <p:custDataLst>
              <p:tags r:id="rId2"/>
            </p:custDataLst>
          </p:nvPr>
        </p:nvSpPr>
        <p:spPr>
          <a:xfrm>
            <a:off x="7113905" y="5173345"/>
            <a:ext cx="2213610" cy="397510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/>
          <a:p>
            <a:r>
              <a:rPr lang="zh-CN" altLang="en-US" sz="2000" b="1" dirty="0">
                <a:solidFill>
                  <a:srgbClr val="404040"/>
                </a:solidFill>
                <a:cs typeface="+mn-ea"/>
                <a:sym typeface="+mn-lt"/>
              </a:rPr>
              <a:t>指导老师</a:t>
            </a:r>
            <a:r>
              <a:rPr lang="zh-CN" altLang="en-US" sz="2000" dirty="0">
                <a:solidFill>
                  <a:srgbClr val="404040"/>
                </a:solidFill>
                <a:cs typeface="+mn-ea"/>
                <a:sym typeface="+mn-lt"/>
              </a:rPr>
              <a:t>：郭春乐</a:t>
            </a:r>
          </a:p>
        </p:txBody>
      </p:sp>
      <p:sp>
        <p:nvSpPr>
          <p:cNvPr id="17" name="powerpoint template design by DAJU_PPT正版来源小红书大橘PPT微信DAJU_PPT请勿抄袭搬运！盗版必究！-4"/>
          <p:cNvSpPr/>
          <p:nvPr>
            <p:custDataLst>
              <p:tags r:id="rId3"/>
            </p:custDataLst>
          </p:nvPr>
        </p:nvSpPr>
        <p:spPr bwMode="auto">
          <a:xfrm>
            <a:off x="6522085" y="5141595"/>
            <a:ext cx="463550" cy="463550"/>
          </a:xfrm>
          <a:custGeom>
            <a:avLst/>
            <a:gdLst>
              <a:gd name="connsiteX0" fmla="*/ 296237 w 570470"/>
              <a:gd name="connsiteY0" fmla="*/ 332744 h 570470"/>
              <a:gd name="connsiteX1" fmla="*/ 296237 w 570470"/>
              <a:gd name="connsiteY1" fmla="*/ 358155 h 570470"/>
              <a:gd name="connsiteX2" fmla="*/ 321542 w 570470"/>
              <a:gd name="connsiteY2" fmla="*/ 358155 h 570470"/>
              <a:gd name="connsiteX3" fmla="*/ 298438 w 570470"/>
              <a:gd name="connsiteY3" fmla="*/ 439914 h 570470"/>
              <a:gd name="connsiteX4" fmla="*/ 328143 w 570470"/>
              <a:gd name="connsiteY4" fmla="*/ 439914 h 570470"/>
              <a:gd name="connsiteX5" fmla="*/ 351248 w 570470"/>
              <a:gd name="connsiteY5" fmla="*/ 358155 h 570470"/>
              <a:gd name="connsiteX6" fmla="*/ 380953 w 570470"/>
              <a:gd name="connsiteY6" fmla="*/ 358155 h 570470"/>
              <a:gd name="connsiteX7" fmla="*/ 404058 w 570470"/>
              <a:gd name="connsiteY7" fmla="*/ 439914 h 570470"/>
              <a:gd name="connsiteX8" fmla="*/ 430234 w 570470"/>
              <a:gd name="connsiteY8" fmla="*/ 439914 h 570470"/>
              <a:gd name="connsiteX9" fmla="*/ 433198 w 570470"/>
              <a:gd name="connsiteY9" fmla="*/ 437915 h 570470"/>
              <a:gd name="connsiteX10" fmla="*/ 410659 w 570470"/>
              <a:gd name="connsiteY10" fmla="*/ 358155 h 570470"/>
              <a:gd name="connsiteX11" fmla="*/ 431563 w 570470"/>
              <a:gd name="connsiteY11" fmla="*/ 358155 h 570470"/>
              <a:gd name="connsiteX12" fmla="*/ 431563 w 570470"/>
              <a:gd name="connsiteY12" fmla="*/ 332744 h 570470"/>
              <a:gd name="connsiteX13" fmla="*/ 295137 w 570470"/>
              <a:gd name="connsiteY13" fmla="*/ 181380 h 570470"/>
              <a:gd name="connsiteX14" fmla="*/ 427162 w 570470"/>
              <a:gd name="connsiteY14" fmla="*/ 181380 h 570470"/>
              <a:gd name="connsiteX15" fmla="*/ 431563 w 570470"/>
              <a:gd name="connsiteY15" fmla="*/ 183589 h 570470"/>
              <a:gd name="connsiteX16" fmla="*/ 432663 w 570470"/>
              <a:gd name="connsiteY16" fmla="*/ 188009 h 570470"/>
              <a:gd name="connsiteX17" fmla="*/ 432663 w 570470"/>
              <a:gd name="connsiteY17" fmla="*/ 297389 h 570470"/>
              <a:gd name="connsiteX18" fmla="*/ 431563 w 570470"/>
              <a:gd name="connsiteY18" fmla="*/ 301808 h 570470"/>
              <a:gd name="connsiteX19" fmla="*/ 427162 w 570470"/>
              <a:gd name="connsiteY19" fmla="*/ 302913 h 570470"/>
              <a:gd name="connsiteX20" fmla="*/ 295137 w 570470"/>
              <a:gd name="connsiteY20" fmla="*/ 302913 h 570470"/>
              <a:gd name="connsiteX21" fmla="*/ 291836 w 570470"/>
              <a:gd name="connsiteY21" fmla="*/ 301808 h 570470"/>
              <a:gd name="connsiteX22" fmla="*/ 289636 w 570470"/>
              <a:gd name="connsiteY22" fmla="*/ 297389 h 570470"/>
              <a:gd name="connsiteX23" fmla="*/ 289636 w 570470"/>
              <a:gd name="connsiteY23" fmla="*/ 249880 h 570470"/>
              <a:gd name="connsiteX24" fmla="*/ 367751 w 570470"/>
              <a:gd name="connsiteY24" fmla="*/ 233307 h 570470"/>
              <a:gd name="connsiteX25" fmla="*/ 367751 w 570470"/>
              <a:gd name="connsiteY25" fmla="*/ 231098 h 570470"/>
              <a:gd name="connsiteX26" fmla="*/ 289636 w 570470"/>
              <a:gd name="connsiteY26" fmla="*/ 241041 h 570470"/>
              <a:gd name="connsiteX27" fmla="*/ 289636 w 570470"/>
              <a:gd name="connsiteY27" fmla="*/ 188009 h 570470"/>
              <a:gd name="connsiteX28" fmla="*/ 291836 w 570470"/>
              <a:gd name="connsiteY28" fmla="*/ 183589 h 570470"/>
              <a:gd name="connsiteX29" fmla="*/ 295137 w 570470"/>
              <a:gd name="connsiteY29" fmla="*/ 181380 h 570470"/>
              <a:gd name="connsiteX30" fmla="*/ 295137 w 570470"/>
              <a:gd name="connsiteY30" fmla="*/ 158178 h 570470"/>
              <a:gd name="connsiteX31" fmla="*/ 275333 w 570470"/>
              <a:gd name="connsiteY31" fmla="*/ 167016 h 570470"/>
              <a:gd name="connsiteX32" fmla="*/ 266532 w 570470"/>
              <a:gd name="connsiteY32" fmla="*/ 188009 h 570470"/>
              <a:gd name="connsiteX33" fmla="*/ 266532 w 570470"/>
              <a:gd name="connsiteY33" fmla="*/ 244356 h 570470"/>
              <a:gd name="connsiteX34" fmla="*/ 257730 w 570470"/>
              <a:gd name="connsiteY34" fmla="*/ 245461 h 570470"/>
              <a:gd name="connsiteX35" fmla="*/ 257730 w 570470"/>
              <a:gd name="connsiteY35" fmla="*/ 235517 h 570470"/>
              <a:gd name="connsiteX36" fmla="*/ 231325 w 570470"/>
              <a:gd name="connsiteY36" fmla="*/ 235517 h 570470"/>
              <a:gd name="connsiteX37" fmla="*/ 203820 w 570470"/>
              <a:gd name="connsiteY37" fmla="*/ 218944 h 570470"/>
              <a:gd name="connsiteX38" fmla="*/ 137807 w 570470"/>
              <a:gd name="connsiteY38" fmla="*/ 218944 h 570470"/>
              <a:gd name="connsiteX39" fmla="*/ 112503 w 570470"/>
              <a:gd name="connsiteY39" fmla="*/ 243251 h 570470"/>
              <a:gd name="connsiteX40" fmla="*/ 112503 w 570470"/>
              <a:gd name="connsiteY40" fmla="*/ 320590 h 570470"/>
              <a:gd name="connsiteX41" fmla="*/ 137807 w 570470"/>
              <a:gd name="connsiteY41" fmla="*/ 320590 h 570470"/>
              <a:gd name="connsiteX42" fmla="*/ 137807 w 570470"/>
              <a:gd name="connsiteY42" fmla="*/ 264243 h 570470"/>
              <a:gd name="connsiteX43" fmla="*/ 142208 w 570470"/>
              <a:gd name="connsiteY43" fmla="*/ 264243 h 570470"/>
              <a:gd name="connsiteX44" fmla="*/ 142208 w 570470"/>
              <a:gd name="connsiteY44" fmla="*/ 320590 h 570470"/>
              <a:gd name="connsiteX45" fmla="*/ 142208 w 570470"/>
              <a:gd name="connsiteY45" fmla="*/ 334953 h 570470"/>
              <a:gd name="connsiteX46" fmla="*/ 142208 w 570470"/>
              <a:gd name="connsiteY46" fmla="*/ 438809 h 570470"/>
              <a:gd name="connsiteX47" fmla="*/ 169713 w 570470"/>
              <a:gd name="connsiteY47" fmla="*/ 438809 h 570470"/>
              <a:gd name="connsiteX48" fmla="*/ 169713 w 570470"/>
              <a:gd name="connsiteY48" fmla="*/ 352631 h 570470"/>
              <a:gd name="connsiteX49" fmla="*/ 176315 w 570470"/>
              <a:gd name="connsiteY49" fmla="*/ 352631 h 570470"/>
              <a:gd name="connsiteX50" fmla="*/ 176315 w 570470"/>
              <a:gd name="connsiteY50" fmla="*/ 438809 h 570470"/>
              <a:gd name="connsiteX51" fmla="*/ 203820 w 570470"/>
              <a:gd name="connsiteY51" fmla="*/ 438809 h 570470"/>
              <a:gd name="connsiteX52" fmla="*/ 203820 w 570470"/>
              <a:gd name="connsiteY52" fmla="*/ 423341 h 570470"/>
              <a:gd name="connsiteX53" fmla="*/ 203820 w 570470"/>
              <a:gd name="connsiteY53" fmla="*/ 334953 h 570470"/>
              <a:gd name="connsiteX54" fmla="*/ 203820 w 570470"/>
              <a:gd name="connsiteY54" fmla="*/ 320590 h 570470"/>
              <a:gd name="connsiteX55" fmla="*/ 203820 w 570470"/>
              <a:gd name="connsiteY55" fmla="*/ 264243 h 570470"/>
              <a:gd name="connsiteX56" fmla="*/ 203820 w 570470"/>
              <a:gd name="connsiteY56" fmla="*/ 247670 h 570470"/>
              <a:gd name="connsiteX57" fmla="*/ 231325 w 570470"/>
              <a:gd name="connsiteY57" fmla="*/ 264243 h 570470"/>
              <a:gd name="connsiteX58" fmla="*/ 257730 w 570470"/>
              <a:gd name="connsiteY58" fmla="*/ 264243 h 570470"/>
              <a:gd name="connsiteX59" fmla="*/ 257730 w 570470"/>
              <a:gd name="connsiteY59" fmla="*/ 256509 h 570470"/>
              <a:gd name="connsiteX60" fmla="*/ 266532 w 570470"/>
              <a:gd name="connsiteY60" fmla="*/ 255404 h 570470"/>
              <a:gd name="connsiteX61" fmla="*/ 266532 w 570470"/>
              <a:gd name="connsiteY61" fmla="*/ 297389 h 570470"/>
              <a:gd name="connsiteX62" fmla="*/ 275333 w 570470"/>
              <a:gd name="connsiteY62" fmla="*/ 317276 h 570470"/>
              <a:gd name="connsiteX63" fmla="*/ 275333 w 570470"/>
              <a:gd name="connsiteY63" fmla="*/ 318381 h 570470"/>
              <a:gd name="connsiteX64" fmla="*/ 295137 w 570470"/>
              <a:gd name="connsiteY64" fmla="*/ 326115 h 570470"/>
              <a:gd name="connsiteX65" fmla="*/ 427162 w 570470"/>
              <a:gd name="connsiteY65" fmla="*/ 326115 h 570470"/>
              <a:gd name="connsiteX66" fmla="*/ 448066 w 570470"/>
              <a:gd name="connsiteY66" fmla="*/ 317276 h 570470"/>
              <a:gd name="connsiteX67" fmla="*/ 448066 w 570470"/>
              <a:gd name="connsiteY67" fmla="*/ 318381 h 570470"/>
              <a:gd name="connsiteX68" fmla="*/ 455768 w 570470"/>
              <a:gd name="connsiteY68" fmla="*/ 297389 h 570470"/>
              <a:gd name="connsiteX69" fmla="*/ 455768 w 570470"/>
              <a:gd name="connsiteY69" fmla="*/ 188009 h 570470"/>
              <a:gd name="connsiteX70" fmla="*/ 448066 w 570470"/>
              <a:gd name="connsiteY70" fmla="*/ 167016 h 570470"/>
              <a:gd name="connsiteX71" fmla="*/ 427162 w 570470"/>
              <a:gd name="connsiteY71" fmla="*/ 158178 h 570470"/>
              <a:gd name="connsiteX72" fmla="*/ 173014 w 570470"/>
              <a:gd name="connsiteY72" fmla="*/ 134976 h 570470"/>
              <a:gd name="connsiteX73" fmla="*/ 134507 w 570470"/>
              <a:gd name="connsiteY73" fmla="*/ 174750 h 570470"/>
              <a:gd name="connsiteX74" fmla="*/ 173014 w 570470"/>
              <a:gd name="connsiteY74" fmla="*/ 213420 h 570470"/>
              <a:gd name="connsiteX75" fmla="*/ 212621 w 570470"/>
              <a:gd name="connsiteY75" fmla="*/ 174750 h 570470"/>
              <a:gd name="connsiteX76" fmla="*/ 173014 w 570470"/>
              <a:gd name="connsiteY76" fmla="*/ 134976 h 570470"/>
              <a:gd name="connsiteX77" fmla="*/ 285235 w 570470"/>
              <a:gd name="connsiteY77" fmla="*/ 0 h 570470"/>
              <a:gd name="connsiteX78" fmla="*/ 570470 w 570470"/>
              <a:gd name="connsiteY78" fmla="*/ 285235 h 570470"/>
              <a:gd name="connsiteX79" fmla="*/ 285235 w 570470"/>
              <a:gd name="connsiteY79" fmla="*/ 570470 h 570470"/>
              <a:gd name="connsiteX80" fmla="*/ 0 w 570470"/>
              <a:gd name="connsiteY80" fmla="*/ 285235 h 570470"/>
              <a:gd name="connsiteX81" fmla="*/ 285235 w 570470"/>
              <a:gd name="connsiteY81" fmla="*/ 0 h 570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570470" h="570470">
                <a:moveTo>
                  <a:pt x="296237" y="332744"/>
                </a:moveTo>
                <a:lnTo>
                  <a:pt x="296237" y="358155"/>
                </a:lnTo>
                <a:lnTo>
                  <a:pt x="321542" y="358155"/>
                </a:lnTo>
                <a:lnTo>
                  <a:pt x="298438" y="439914"/>
                </a:lnTo>
                <a:lnTo>
                  <a:pt x="328143" y="439914"/>
                </a:lnTo>
                <a:lnTo>
                  <a:pt x="351248" y="358155"/>
                </a:lnTo>
                <a:lnTo>
                  <a:pt x="380953" y="358155"/>
                </a:lnTo>
                <a:lnTo>
                  <a:pt x="404058" y="439914"/>
                </a:lnTo>
                <a:lnTo>
                  <a:pt x="430234" y="439914"/>
                </a:lnTo>
                <a:lnTo>
                  <a:pt x="433198" y="437915"/>
                </a:lnTo>
                <a:lnTo>
                  <a:pt x="410659" y="358155"/>
                </a:lnTo>
                <a:lnTo>
                  <a:pt x="431563" y="358155"/>
                </a:lnTo>
                <a:lnTo>
                  <a:pt x="431563" y="332744"/>
                </a:lnTo>
                <a:close/>
                <a:moveTo>
                  <a:pt x="295137" y="181380"/>
                </a:moveTo>
                <a:lnTo>
                  <a:pt x="427162" y="181380"/>
                </a:lnTo>
                <a:cubicBezTo>
                  <a:pt x="428262" y="181380"/>
                  <a:pt x="430463" y="182484"/>
                  <a:pt x="431563" y="183589"/>
                </a:cubicBezTo>
                <a:cubicBezTo>
                  <a:pt x="432663" y="184694"/>
                  <a:pt x="432663" y="185799"/>
                  <a:pt x="432663" y="188009"/>
                </a:cubicBezTo>
                <a:lnTo>
                  <a:pt x="432663" y="297389"/>
                </a:lnTo>
                <a:cubicBezTo>
                  <a:pt x="432663" y="298493"/>
                  <a:pt x="432663" y="300703"/>
                  <a:pt x="431563" y="301808"/>
                </a:cubicBezTo>
                <a:cubicBezTo>
                  <a:pt x="430463" y="302913"/>
                  <a:pt x="428262" y="302913"/>
                  <a:pt x="427162" y="302913"/>
                </a:cubicBezTo>
                <a:lnTo>
                  <a:pt x="295137" y="302913"/>
                </a:lnTo>
                <a:cubicBezTo>
                  <a:pt x="294037" y="302913"/>
                  <a:pt x="292937" y="302913"/>
                  <a:pt x="291836" y="301808"/>
                </a:cubicBezTo>
                <a:cubicBezTo>
                  <a:pt x="290736" y="300703"/>
                  <a:pt x="289636" y="298493"/>
                  <a:pt x="289636" y="297389"/>
                </a:cubicBezTo>
                <a:lnTo>
                  <a:pt x="289636" y="249880"/>
                </a:lnTo>
                <a:lnTo>
                  <a:pt x="367751" y="233307"/>
                </a:lnTo>
                <a:lnTo>
                  <a:pt x="367751" y="231098"/>
                </a:lnTo>
                <a:lnTo>
                  <a:pt x="289636" y="241041"/>
                </a:lnTo>
                <a:lnTo>
                  <a:pt x="289636" y="188009"/>
                </a:lnTo>
                <a:cubicBezTo>
                  <a:pt x="289636" y="185799"/>
                  <a:pt x="290736" y="184694"/>
                  <a:pt x="291836" y="183589"/>
                </a:cubicBezTo>
                <a:cubicBezTo>
                  <a:pt x="292937" y="182484"/>
                  <a:pt x="294037" y="181380"/>
                  <a:pt x="295137" y="181380"/>
                </a:cubicBezTo>
                <a:close/>
                <a:moveTo>
                  <a:pt x="295137" y="158178"/>
                </a:moveTo>
                <a:cubicBezTo>
                  <a:pt x="287436" y="158178"/>
                  <a:pt x="279734" y="161492"/>
                  <a:pt x="275333" y="167016"/>
                </a:cubicBezTo>
                <a:cubicBezTo>
                  <a:pt x="269832" y="172541"/>
                  <a:pt x="266532" y="179170"/>
                  <a:pt x="266532" y="188009"/>
                </a:cubicBezTo>
                <a:lnTo>
                  <a:pt x="266532" y="244356"/>
                </a:lnTo>
                <a:lnTo>
                  <a:pt x="257730" y="245461"/>
                </a:lnTo>
                <a:lnTo>
                  <a:pt x="257730" y="235517"/>
                </a:lnTo>
                <a:lnTo>
                  <a:pt x="231325" y="235517"/>
                </a:lnTo>
                <a:lnTo>
                  <a:pt x="203820" y="218944"/>
                </a:lnTo>
                <a:lnTo>
                  <a:pt x="137807" y="218944"/>
                </a:lnTo>
                <a:cubicBezTo>
                  <a:pt x="123505" y="218944"/>
                  <a:pt x="112503" y="229993"/>
                  <a:pt x="112503" y="243251"/>
                </a:cubicBezTo>
                <a:lnTo>
                  <a:pt x="112503" y="320590"/>
                </a:lnTo>
                <a:lnTo>
                  <a:pt x="137807" y="320590"/>
                </a:lnTo>
                <a:lnTo>
                  <a:pt x="137807" y="264243"/>
                </a:lnTo>
                <a:lnTo>
                  <a:pt x="142208" y="264243"/>
                </a:lnTo>
                <a:lnTo>
                  <a:pt x="142208" y="320590"/>
                </a:lnTo>
                <a:lnTo>
                  <a:pt x="142208" y="334953"/>
                </a:lnTo>
                <a:lnTo>
                  <a:pt x="142208" y="438809"/>
                </a:lnTo>
                <a:lnTo>
                  <a:pt x="169713" y="438809"/>
                </a:lnTo>
                <a:lnTo>
                  <a:pt x="169713" y="352631"/>
                </a:lnTo>
                <a:lnTo>
                  <a:pt x="176315" y="352631"/>
                </a:lnTo>
                <a:lnTo>
                  <a:pt x="176315" y="438809"/>
                </a:lnTo>
                <a:lnTo>
                  <a:pt x="203820" y="438809"/>
                </a:lnTo>
                <a:lnTo>
                  <a:pt x="203820" y="423341"/>
                </a:lnTo>
                <a:lnTo>
                  <a:pt x="203820" y="334953"/>
                </a:lnTo>
                <a:lnTo>
                  <a:pt x="203820" y="320590"/>
                </a:lnTo>
                <a:lnTo>
                  <a:pt x="203820" y="264243"/>
                </a:lnTo>
                <a:lnTo>
                  <a:pt x="203820" y="247670"/>
                </a:lnTo>
                <a:lnTo>
                  <a:pt x="231325" y="264243"/>
                </a:lnTo>
                <a:lnTo>
                  <a:pt x="257730" y="264243"/>
                </a:lnTo>
                <a:lnTo>
                  <a:pt x="257730" y="256509"/>
                </a:lnTo>
                <a:lnTo>
                  <a:pt x="266532" y="255404"/>
                </a:lnTo>
                <a:lnTo>
                  <a:pt x="266532" y="297389"/>
                </a:lnTo>
                <a:cubicBezTo>
                  <a:pt x="266532" y="305123"/>
                  <a:pt x="269832" y="312856"/>
                  <a:pt x="275333" y="317276"/>
                </a:cubicBezTo>
                <a:lnTo>
                  <a:pt x="275333" y="318381"/>
                </a:lnTo>
                <a:cubicBezTo>
                  <a:pt x="280834" y="322800"/>
                  <a:pt x="287436" y="326115"/>
                  <a:pt x="295137" y="326115"/>
                </a:cubicBezTo>
                <a:lnTo>
                  <a:pt x="427162" y="326115"/>
                </a:lnTo>
                <a:cubicBezTo>
                  <a:pt x="434864" y="326115"/>
                  <a:pt x="442565" y="322800"/>
                  <a:pt x="448066" y="317276"/>
                </a:cubicBezTo>
                <a:lnTo>
                  <a:pt x="448066" y="318381"/>
                </a:lnTo>
                <a:cubicBezTo>
                  <a:pt x="452467" y="312856"/>
                  <a:pt x="455768" y="305123"/>
                  <a:pt x="455768" y="297389"/>
                </a:cubicBezTo>
                <a:lnTo>
                  <a:pt x="455768" y="188009"/>
                </a:lnTo>
                <a:cubicBezTo>
                  <a:pt x="455768" y="179170"/>
                  <a:pt x="452467" y="172541"/>
                  <a:pt x="448066" y="167016"/>
                </a:cubicBezTo>
                <a:cubicBezTo>
                  <a:pt x="442565" y="161492"/>
                  <a:pt x="434864" y="158178"/>
                  <a:pt x="427162" y="158178"/>
                </a:cubicBezTo>
                <a:close/>
                <a:moveTo>
                  <a:pt x="173014" y="134976"/>
                </a:moveTo>
                <a:cubicBezTo>
                  <a:pt x="152110" y="134976"/>
                  <a:pt x="134507" y="152653"/>
                  <a:pt x="134507" y="174750"/>
                </a:cubicBezTo>
                <a:cubicBezTo>
                  <a:pt x="134507" y="195743"/>
                  <a:pt x="152110" y="213420"/>
                  <a:pt x="173014" y="213420"/>
                </a:cubicBezTo>
                <a:cubicBezTo>
                  <a:pt x="195018" y="213420"/>
                  <a:pt x="212621" y="195743"/>
                  <a:pt x="212621" y="174750"/>
                </a:cubicBezTo>
                <a:cubicBezTo>
                  <a:pt x="212621" y="152653"/>
                  <a:pt x="195018" y="134976"/>
                  <a:pt x="173014" y="134976"/>
                </a:cubicBezTo>
                <a:close/>
                <a:moveTo>
                  <a:pt x="285235" y="0"/>
                </a:moveTo>
                <a:cubicBezTo>
                  <a:pt x="442766" y="0"/>
                  <a:pt x="570470" y="127704"/>
                  <a:pt x="570470" y="285235"/>
                </a:cubicBezTo>
                <a:cubicBezTo>
                  <a:pt x="570470" y="442766"/>
                  <a:pt x="442766" y="570470"/>
                  <a:pt x="285235" y="570470"/>
                </a:cubicBezTo>
                <a:cubicBezTo>
                  <a:pt x="127704" y="570470"/>
                  <a:pt x="0" y="442766"/>
                  <a:pt x="0" y="285235"/>
                </a:cubicBezTo>
                <a:cubicBezTo>
                  <a:pt x="0" y="127704"/>
                  <a:pt x="127704" y="0"/>
                  <a:pt x="285235" y="0"/>
                </a:cubicBezTo>
                <a:close/>
              </a:path>
            </a:pathLst>
          </a:custGeom>
          <a:solidFill>
            <a:srgbClr val="6B1554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noAutofit/>
          </a:bodyPr>
          <a:lstStyle/>
          <a:p>
            <a:endParaRPr lang="zh-CN" altLang="en-US" sz="28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powerpoint template design by DAJU_PPT正版来源小红书大橘PPT微信DAJU_PPT请勿抄袭搬运！盗版必究！"/>
          <p:cNvSpPr txBox="1"/>
          <p:nvPr/>
        </p:nvSpPr>
        <p:spPr>
          <a:xfrm>
            <a:off x="3472543" y="6121126"/>
            <a:ext cx="52469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cs typeface="+mn-ea"/>
                <a:sym typeface="+mn-lt"/>
              </a:rPr>
              <a:t>答辩时间：</a:t>
            </a:r>
            <a:r>
              <a:rPr lang="en-US" altLang="zh-CN" dirty="0">
                <a:cs typeface="+mn-ea"/>
                <a:sym typeface="+mn-lt"/>
              </a:rPr>
              <a:t>2026</a:t>
            </a:r>
            <a:r>
              <a:rPr lang="zh-CN" altLang="en-US" dirty="0">
                <a:cs typeface="+mn-ea"/>
                <a:sym typeface="+mn-lt"/>
              </a:rPr>
              <a:t>年</a:t>
            </a:r>
            <a:r>
              <a:rPr lang="en-US" altLang="zh-CN" dirty="0">
                <a:cs typeface="+mn-ea"/>
                <a:sym typeface="+mn-lt"/>
              </a:rPr>
              <a:t>4</a:t>
            </a:r>
            <a:r>
              <a:rPr lang="zh-CN" altLang="en-US" dirty="0">
                <a:cs typeface="+mn-ea"/>
                <a:sym typeface="+mn-lt"/>
              </a:rPr>
              <a:t>月</a:t>
            </a:r>
            <a:r>
              <a:rPr lang="en-US" altLang="zh-CN" dirty="0">
                <a:cs typeface="+mn-ea"/>
                <a:sym typeface="+mn-lt"/>
              </a:rPr>
              <a:t>23</a:t>
            </a:r>
            <a:r>
              <a:rPr lang="zh-CN" altLang="en-US" dirty="0">
                <a:cs typeface="+mn-ea"/>
                <a:sym typeface="+mn-lt"/>
              </a:rPr>
              <a:t>日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3627755" y="5671820"/>
            <a:ext cx="4488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404040"/>
                </a:solidFill>
                <a:cs typeface="+mn-ea"/>
              </a:rPr>
              <a:t>组员</a:t>
            </a:r>
            <a:r>
              <a:rPr lang="zh-CN" altLang="en-US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000" dirty="0">
                <a:solidFill>
                  <a:srgbClr val="404040"/>
                </a:solidFill>
                <a:cs typeface="+mn-ea"/>
              </a:rPr>
              <a:t>赵宇哲 </a:t>
            </a:r>
            <a:r>
              <a:rPr lang="en-US" altLang="zh-CN" sz="2000" dirty="0">
                <a:solidFill>
                  <a:srgbClr val="404040"/>
                </a:solidFill>
                <a:cs typeface="+mn-ea"/>
              </a:rPr>
              <a:t>  </a:t>
            </a:r>
            <a:r>
              <a:rPr lang="zh-CN" altLang="en-US" sz="2000" dirty="0">
                <a:solidFill>
                  <a:srgbClr val="404040"/>
                </a:solidFill>
                <a:cs typeface="+mn-ea"/>
              </a:rPr>
              <a:t>黄子豪 </a:t>
            </a:r>
            <a:r>
              <a:rPr lang="en-US" altLang="zh-CN" sz="2000" dirty="0">
                <a:solidFill>
                  <a:srgbClr val="404040"/>
                </a:solidFill>
                <a:cs typeface="+mn-ea"/>
              </a:rPr>
              <a:t>  </a:t>
            </a:r>
            <a:r>
              <a:rPr lang="zh-CN" altLang="en-US" sz="2000" dirty="0">
                <a:solidFill>
                  <a:srgbClr val="404040"/>
                </a:solidFill>
                <a:cs typeface="+mn-ea"/>
              </a:rPr>
              <a:t>张天译</a:t>
            </a:r>
            <a:r>
              <a:rPr lang="en-US" altLang="zh-CN" sz="2000" dirty="0">
                <a:solidFill>
                  <a:srgbClr val="404040"/>
                </a:solidFill>
                <a:cs typeface="+mn-ea"/>
              </a:rPr>
              <a:t>  </a:t>
            </a:r>
            <a:r>
              <a:rPr lang="zh-CN" altLang="en-US" sz="2000" dirty="0">
                <a:solidFill>
                  <a:srgbClr val="404040"/>
                </a:solidFill>
                <a:cs typeface="+mn-ea"/>
              </a:rPr>
              <a:t> 钟</a:t>
            </a:r>
            <a:r>
              <a:rPr lang="en-US" altLang="zh-CN" sz="2000" dirty="0">
                <a:solidFill>
                  <a:srgbClr val="404040"/>
                </a:solidFill>
                <a:cs typeface="+mn-ea"/>
              </a:rPr>
              <a:t>  </a:t>
            </a:r>
            <a:r>
              <a:rPr lang="zh-CN" altLang="en-US" sz="2000" dirty="0">
                <a:solidFill>
                  <a:srgbClr val="404040"/>
                </a:solidFill>
                <a:cs typeface="+mn-ea"/>
              </a:rPr>
              <a:t>澈</a:t>
            </a:r>
            <a:endParaRPr lang="zh-CN" altLang="en-US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8F71E22A-A127-440C-9009-65AE8CB2A96D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ONLINEFOLDERID" val="0"/>
  <p:tag name="ISPRINGONLINEFOLDERPATH" val="内容列表"/>
  <p:tag name="ISPRINGCLOUDFOLDERID" val="0"/>
  <p:tag name="ISPRINGCLOUDFOLDERPATH" val="资源库"/>
  <p:tag name="ISPRING_PLAYERS_CUSTOMIZATION" val="UEsDBBQAAgAIAMK7pkoOaiROYgQAAAURAAAdAAAAdW5pdmVyc2FsL2NvbW1vbl9tZXNzYWdlcy5sbmetWG1v2zYQ/l6g/4EQUGADtrQd0KIYEge0xNhEZMmV6DjZMAiMxNhEKDHVi9vs037Nfth+yY6UncR9gaQkgG2YlO+54909d0cfHn/JFdqIspK6OHLeHrxxkChSnclideQs2MmvHxxU1bzIuNKFOHIK7aDj0csXh4oXq4avBHx/+QKhw1xUFSyrkVndr5HMjpz5OHHD2RwHF4kfTsJkTCfOyNX5DS9uka9X+qff3n/48vbd+58PX2/l+sDEM+z7+0DIIr170wMoYFHoJ4BG/CQg58wZmc9hcuGC+TQgzmj7ZZj0PCJnzsh8dsotoogELIl96pGExkkQMusLnzDiOaML3aA13whUa7SR4jOq1wLiWMtSoErJzD5INWwUjehS5oUzTIMkIjGLqMtoGDijWJfl7S8Wljf1WpegrkKZrPilEpnVCRljn9+UogLVvIaMQvCq1xJ+qXMui4NO1RFe0mCSsDD044QE3m7HGZEiQ17JjZqBKBGOSQQAJa9E+QjZxGaZFUdYqWEIUzqZ+vBmxoSpXK0VvOuhdswJxGAuii4pyBESQXbF8TKMPOM0UIU4uuFV9VmX2V5+PAxUFzAN3BBS0GUPwJnB2AFDjCXUjbIUad0FNiNxjCckGYfnkMjAu3CIRHgKdDsdInFBYqAIibtkAnxGJ9gkvKHYLv93/Eq5SWd1i3iagpxx30bqpoId41JggWVadTBMTUw+LiBsFPs/oHGLCt61q5XcCLCjzETZqQgqi0s8k0UfF/SP5ARTn3gJpJUXLhNmS57RmPNbVOga8WzDi1SgS5HyBnL9Fp5lMrPPTJyt/k+N/BvxeltVXm0LUuCR81dD7dmrYd8xq6nAproW+U3dpdo4bGv+Y6wwOf1DE/oc/XH6Y5cEOKLh80Smknmj2qr75PjcWTY0Rp1GPNFT/aP13JbEbW0dUyhYY6n7SxDopqZ/QANU/aVocAKK5m2JhhpOi6sBOoNwCxBo9FiMM3DVngln4MIB8ksyjimD2WgpLitZd44dlo1tgL4f2hTmPCVqcU/GS3GlYcJRgm/a6QO6kI10Z0AfDDd7rYJR5oPJAQCu2uQBSCVzsD/rgbmYkZ0H2gK/d5KlblRmyavktS3y4NsmF9+OTVelzu2u4tUuedsmc/wUK9rDRa3S+YD2f8e/3vF5QL/HRykmOHKniYsDl5hB33BV9RQCChhX+CxOfDw24sCFnNfpGprplW6KrCdQO6t75AQD2PbMseBluv7vn397YnxlSbuLtru/DwIBYpsqSO7A/gx0Laq/ukAYHu/L2UUfqe3dZifX86rDKGThs9wheNtacp3D1kG3XkjybdAwY9idzoAHsU173ZQwug1BmOHoFGqZncKd0YyX11AImdZqEIp1tUnAepj2++tlUytZiCGyT2sl5sCMzhPsefauDeRTMr1ue2YGN4p0e+lWcOnuC+ZOcQB19is8kcl6IKBtTbsqBERv1/c033zbqe5Wlf3D4vD1g/8v/gdQSwMEFAACAAgAwrumSgh+CyMpAwAAhgwAACcAAAB1bml2ZXJzYWwvZmxhc2hfcHVibGlzaGluZ19zZXR0aW5ncy54bWzVV91u2jAUvucpLE+9LGk7unYooaoKaNVaQIVt7VVlYkOsOnYW21B6tafZg+1JdhwDBbXr0h+kTQgRn5/v/J+Y8Og2FWjCcs2VjPBudQcjJmNFuRxH+MugvX2IkTZEUiKUZBGWCqOjRiXM7FBwnfSZMSCqEcBIXc9MhBNjsnoQTKfTKtdZ7rhKWAP4uhqrNMhyppk0LA8yQWbwY2YZ03iOUAIAvqmSc7VGpYJQ6JHOFbWCIU7Bc8ldUES0BdEJDrzYkMQ341xZSU+UUDnKx8MIvzs8dp+FjIdq8pRJlxPdAKIjmzqhlDsviOjzO4YSxscJuHtQw2jKqUkivFdzKCAdPEQpsH3oxKGcKMiBNHP4lBlCiSH+6O0Zdmv0guBJdCZJyuMBcJCLP8LNwfWnq17r4uy08/l60O2eDU573olCJ1jHCYN1QyE4pGwes6WdkBhD4gT8Bp0REZqFwSppITZScs05d0ZDJSD3hRa0UTpktENStlKN/g2XbZDcxWgEgYhZhI9zTgRG3BDB46WytkNtuCmq3l6VRIAF7cnQeR/fm/fZiROSa7bq1oKjXc7jxjdlBUUzZZHgNwwZhSB+m8JTwtBqcdAoV2lBhfYxSAsOFiecTRk9KnI6B/yToSswkVrQhF7NBDPewnfL79CQjVQOuIxMoLOBzrXHrz4LOCNa34OShY9b/bPTZuv6tNNsXW65AAmdEBk/ExwKztLMbASfzJBUZqEH6YiJ1awoCuW04JWJrfryMmieWuHL/NbFWIHeYEk2Y+U5hfmrB6XNJmRSDKIbrgIaRpBDSTwmMGJYF1xaVhYwJhIpKWaIxLDWtBvrCVdWA8UPsIfWL/fQ6yMui9MYVhtYzCnLS0Hu7O69r+1/ODj8WK8Gv3783H5Sab7we4I4c37jnzy58pdr/+E2DAO3pR9f2ia3/+bO7l20vpbJa6d1OShV0la/FFy3jFT3cxmpC/+S6a28YEq5AEtp7IcM1pLgKTeMvmWLvaBNXvVu9z22mTbZYMyvGY3/JmR/Wl4T1+6FYfDoxdVxUi55ColwK3F5223s13bgpvkoq1IBtPX/Do3Kb1BLAwQUAAIACADCu6ZKa+E74LwCAABaCgAAIQAAAHVuaXZlcnNhbC9mbGFzaF9za2luX3NldHRpbmdzLnhtbJVWbU/bMBD+vl9Rdd8Jey2TTCUonYTEBhqI705yTaw6dmQ7Zf338yux26TNckLCd8/jO98bILklbPlhNkMFp1w8g1KEVdJogm5Gyut53inF2UXBmQKmLhgXDabz5cef9kOZRZ5j8R2IqZwNLqB3s7DfFIr38W1hZIxQ8KbFbP/AK36R42JbCd6x8mxo9b4FQQnbauTlj8VqPeqAEqnuFTRJTOsrI9MorQApwYT0fW3kLIviHGjwdGm/iZze1enXH9B2RBJlaTefjIzRWlxBmuSrGyPjeKZvT6uyMHKaoOCv0tAvn42MQineg0gvv/tqZJTB2679nx5pBa9MQlPO6SK+cyjHpR4/E9WlkbME8yDj6GwVfHrsW+8ikP81nntkxlVw+mTyerAQTNFzCkslOkBZODmbrPnbY6f0fMByg6nUgFjVg5500E+4k+GaVNfj/sAbYWUE8ooe8cpp18DKxRsBU32PX61u7aqI43vXRQEK2HllFGGv7JG/dVqPkJGyRz5TUsIjo/sj+KHFcUKJb7Ev5unsayswrI8hX+EUrMbTgxlcGbn2ioBpeAlLsw70ssaKcPZCGjDFQ5k1uciyo9AQwztSWcYvg8v39k0SZQcG33DD7YUUURSGus6Gqnd1HLk5pj3pa5o2pfvT0D/RnWdKb/LrOVYKF3WjXyvnM8/To6KdzLNhhk8OiHu24RHH+h4jNVhsQbxwTqe6YVyBnHo9dwM2BkdZlAOUDScZ+UuGss+6Jgex1kUjEJon1TlcTaqa6h/1SuANymD0ZRmxOqqq9X0Mk/fmjBS+BQCLog4N4A7O0nRUEQo7CAsgUtgXjz0NSd2jY+12ox5go+I94TUHHRkBopb0+6JvlRiXGgYIrzquYYazTGh7hXNpn5bMf1jF/RglyznsNNN8sXun8M2U3KztxznUSvM/5T9QSwMEFAACAAgAwrumSiqWD2f+AgAAlwsAACYAAAB1bml2ZXJzYWwvaHRtbF9wdWJsaXNoaW5nX3NldHRpbmdzLnhtbM2Wb08aMRjA3/Mpmi6+lFPnpiN3GCMYiU6IsE1fmXItXGOvvbU98Hy1T7MPtk+yp1dAiI6dRpaFEOjTPr/nX/u04dF9KtCEacOVjPBufQcjJmNFuRxH+MvgdPsQI2OJpEQoySIsFUZHzVqY5UPBTdJn1sJSgwAjTSOzEU6szRpBMJ1O69xk2s0qkVvgm3qs0iDTzDBpmQ4yQQr4sUXGDJ4RKgDgmyo5U2vWagiFnvRZ0VwwxCl4LrkLiogzmwoc+FVDEt+NtcolPVFCaaTHwwi/Ozx2n/kaT2rxlEmXEtMEoRPbBqGUOyeI6PMHhhLGxwl4e7CP0ZRTm0R4b99RYHXwlFKyfeTEUU4UpEDaGT5lllBiiR96e5bdWzMXeBEtJEl5PIAZ5MKPcGtwe3bTa19ddC7Pbwfd7sWg0/NOlDrBKicMVg2F4JDKdcwWdkJiLYkT8Bt0RkQYFgbLovmykZIrzrkxGioBqS+1MBqBp6KI8LHmRGDELRE8XsxaosfMnnIBMTjd3fpIWvwI9PHGCdGGLRuazxiXxbj5TeWCokLlSPA7hqxCEFGewr+EoeV0o5FWaSkVxFhkBKcMTTibMnpUZmkG/JOhGzCR5qAJmy8TzHoL33P+gIZspDRwGZnAVgU5N55ffxE4I8Y8Qsncx63+RafVvu1cttrXWy5AQidExi+EQwlZmtmN8EmBpLJzPUhHTHLDyqJQTsu5KrHVX18Gw9Nc+DK/dTGW0BssyWasvKQwf/WgstmETMqD6A5XiYYjyKEkngkTMRx3LnNWFRgTiZQUBSIxNCrjjvWEq9yAxB9gjzav99DrIy7L0RhuDrCoKdOVkDu7e+/3P3w8OPzUqAe/fvzcXqs0a+E9QZw538NP1jbxRSN/2g3DwPXO59uw1fm/6sK9q/bXKpm6bF8PKhWp3a+E61ZZ1T2vsurKXxu9pSujkgvQZsb+2ECjETzlltG33DSvKPz6+9dvizcq/AajWLt9/98g/Gjx3Fp5X4XBsw/AGshXH9PN2m9QSwMEFAACAAgAwrumSjv7U0+dAQAAJAYAAB8AAAB1bml2ZXJzYWwvaHRtbF9za2luX3NldHRpbmdzLmpzjZRNb4MwDIbv/RUou05V99ltt2rtpEk9TFpv0w6BuhQ1xFEIrKzqfx9OvwiEtfGFvDx6HRviTS+oFotY8BJs7LPdf7h7qwFpRudw7eqiQ09JZ0pDBtJwk6CcJSmIRAJrkMXB4ShvT4TPn0nrHZafIplDVvNjSG8WXGR1XHkstEfLPFrh0X482tqX+NepbF/VrqJat8PcGJT9CKWpWtWXqFNuGXb1Zle9wAaMBegz6IJH4JgO7eoiT44PQ4o6F2GquCynGGM/5NEq1pjLeVf+ZalAVx98tQMGz8PXiWMnksy8G0ibiSdPFN0k/VQZ7PM+Tii8sOAhiJrvwK5/UMe4XVCDLpIsMQd6dENRpxWPodWlpxGFi8nKq9XNIUWbM7A2O+LulsIhBC9Bt6zG9xQOiCpXF3xApTGmjrTQds+PqEA+T2S8Tz2g8HJ0WLLt6t6pUHv8MXOuEDau0NJ3+9KuyXHBtTfem5s10k59aYVPlD4RPYmVDyyOonMc0xwktP8KGDeGR8u0mg/VbKz6wPUK9AxRVOf/PjNam6l62z9QSwMEFAACAAgAwrumSj08L9HBAAAA5QEAABoAAAB1bml2ZXJzYWwvaTE4bl9wcmVzZXRzLnhtbJ2RsQrCMBCG9z5FuN3EbqUkdRPcHHSWmqYaaS8ll1of35SKdJGAQyD/8X0/JCd3r75jT+PJOlSQ8y0wg9o1Fm8Kzqf9pgBGocam7hwaBeiA7apM2rzAozdkArFYgaTgHsJQCjFNE7c0+NhArhtDLCauXS/i6R2K2RTDosLilvYv+zODKssYk9fRduGAVbzHtCCMvFYwOxeN3GLrQPwCGpMATKrBUAJofQJ4DAnAjytAiu+b56RHCvGjYpBitZ4qewNQSwMEFAACAAgAwrumSg4UM7x8AAAAfQAAABwAAAB1bml2ZXJzYWwvbG9jYWxfc2V0dGluZ3MueG1ss7GvyM1RKEstKs7Mz7NVMtQzUFJIzUvOT8nMS7dVCg1x07VQUiguScxLSczJz0u1VcrLV1Kwt+OyyclPTswJTi0pASosVijISaxMLQpJzQUySlL9EnOBKp/tmfJ8ya5n09qfr9ivoJGcX1CpqaCr4As0Oi0zNUVJ344LAFBLAwQUAAIACABElFdHI7RO+/sCAACwCAAAFAAAAHVuaXZlcnNhbC9wbGF5ZXIueG1srVXfT9swEH4u0v6HyO/YLR0DqgTEkNAexoTUse2tMombeE3izHYI5a/f2c7vpWxIe2iVnO/77nz33cW/es5S74lJxUUeoAWeI4/loYh4Hgfo4evt8Tm6unx35Bcp3TPp8ShAZc4NgKbIi5gKJS80gO+pTgLUM2BgRl4huZBc74H7FLjbSCdL9O5oBi65ClCidbEipKoqzBUg8liJtDQkCociI4VkiuWaSeLSQF6DXem/o+GXiZzofcFUD1notweuSVqOZ8UHJNUSCxmTk/l8QX7cfV6HCcvoMc+VpnnIkAeVnNlSPtJwdyeiMmXK2Ga+S3LNtDZJWNvM1yu+OM89JcMAOYdNxpSiMVM4zWNEHJZMgP1tSlVS86gBreFVO17zWr+Ned80brZzpHMuyseUqwSO+pDOOgn0yTCqn9nrWgU9NAq6NUzIk+xXySWL7Ou3VozzBXIBW8XZPLGqQjiAp1saaiH3NwADFdUdxG3TsGsatqCWA7fR1x0Fam67ZVSXkjWlmvlPPGLiC5WSGllcalkyn4yMNZYMwT5xV66b1DXET3SWnv5Db4zfqDU/1WudsYD/0ZhPQNTWhOcRe77l4KNZBjXVDIptbFgXKTYxu5xU+Zj1dD0wuRzrpsBFPE1lzGAMI6op6ezkEJRJqsAlLOUI2zs4CE54nKTw05MM49ODNBmVu0mG3sFBcCrC3QS0NbdlJOM6jsTUKsgnE+vED0ulRcZfrDwHe0avrA5fG7nm6Lrg7cHZ/I9RHMRoBnOLJlaXeertq+bw3sypVp3PpnCWgVphHpguC+fVzEJZjHwitqVlqm/6OTX7sAcd5Tw1HdNc30HvolrzF+ZVPDJfusXS1CRhRjMB+nC+7DFAP2G7DMJb06GIW5E3dcCY2Df3byvabPm6da7rhzrsQw2fOKscxs3UR1BHLEWZR6Me4qL7iKgUdtq1ZNRL2RZutDgBkYoiQO/hob7zxelFd+WzxUWDtXndu8Aulzes9DrhTkGk1nV7Eb/eDfD4G1BLAwQUAAIACADCu6ZKrQ33vhkJAAALJQAAKQAAAHVuaXZlcnNhbC9za2luX2N1c3RvbWl6YXRpb25fc2V0dGluZ3MueG1stVrrbuO4Ff7fpyAcLLAFivgiXwuPCl3oRBhH9lqaZKZFYSg2EwuRRVeiPZOFf/RfX6DoExSL/mkfYFGg71Kgu32MHlKSLSmyI81MzUkwOuR3zuG5knKG4ZPra9uQ0bX7vcNc6luEMdd/DOVfIDRcUI8G04CEhAlCloR8Z03e1P7z9x/++48fG80aCpnjL51g+ab24HghqUWQBIRcmLjfMkb9ywX1GfHZpU+DtePV0M7xtsBqJD61+utAuiNBBdiDsyB5YT2dj1dRGUkDjY9CzIKuN47/PKaP9PLeWTw9BnTrLw9Iqc1HIXL1vCGB5/pPZTbkuSEzGFkXKCf1+CiB2oD7QnLUrYv5OA/0nHvilTZ7DpYXWB65c0OXpZBqm49C5MZ5JEWWPyMMHAYyiryF+TiDYeQTO6zGKh/Fqz3nmQRV1aKb7aZiEG0C+sitXARrDfg4D/Oos4S8P2D6Gh/nMXxzXFyZPWUMprf4SNYN66miIupOPV94IkZ3rr+kHw3/gcbApOBofDaUGyhSAPV7Sl/vwxPESgv12riF+0jHHQ3mBpI+kDSY01tNbVjPsYj4BmQBRaaY67CemX0JMPyQBMzwl+STLGVXp6eyO7gKwPywLpS7bT72idS93uYDtZudXgfvW4okSV2kdfSm3tj3eoOe0kS40e40pL3ab0ktCTU7neagu2/2Wh0JnkaDLnBp40EXtXvtdkvft3AL0EhRVL2l7XvSoNlUQBruD7T9aKT2Gg3UbDaltr7vdKWR2kCwWgIeitTnBpR0SZW6e0VVmn0JjbSROmrvsY67Wgf1W7jbaOzbqio1GkfjHneXNteRWno7iTlfYVjogsLZY7Rlg2u42AYBLLbJGqKcEXTvhMQU/e6nf/7557/++NNf/vTz3/6Fvl3QzfMvo0gGDG+kCeTQMTPUQ2rw5ikX8BrWxUwmg9JNuWRLlS+i+Il3VwYpinsFXLqpyhc98SkLi2VBTMM4BzrRVsuoeeyr8kVj0NPwWUEFjVW+wH0+ysOSRidfRD21FDLVWkFR8amAO4p83SInmqt8oTT5OAfNd1f5oq/wcR6Ta6+gY4+P10GiXcgXEi8BrbPLXzRY+SIqmWdR+Q5bxnpFLbaMo1/0WNCwwUcp0KHJlvFSbDaxfz23MH7M15LhGqSAc9PFJSYJllN1rk1upor5YT6eXE3mqnFVk7UoKxFPy29b3f6nZqcLlSvGleRk3SjjcZYXEsw6jXK8THs2Gc+BIR7PTfzersn8d2Xo5J09Nkxck+P/VGYwneHbmsx/l4G+m82wac+tsaHjuWHNzYkt7DLGNtZr8ge6RStnRxCjaOeSj4itCILy7AYEhZ67FBO8ZLv+lpSQp09uFMOcz7BlzwzNNiZmTbZoEDz/SnB2tmwFwbNyQrR0Q+feI0shFkJEzPPyAtLF3RDBP7ZyYSVdO65/WUb6TLkzzKu5PZmMrTk29YRSk7G/RHrgcEnVGc0UC8+ARwBtOfg8+FxEn+CAFM+rzOTauLoew4/NFbl2H1ce/LDP0GaKwSVT4pcAQuDgGUSdZd1NZjq3IQhEDto4YfiRBstM0KRdV4K3YWoTCE3NTvG3OZuENzje9RcQOmTBSvC7wZalXOG5OnkPMQ65OakImryFlHxbEfQBW5BD2CoBM5Vb40rhGcHTMEmQJAcXDo937xk5iwXguDV3Lt2GQOEWhjQR2RheVpZk4e/egSMNZXwi2yPGYGzx9OjuCKgSLKHNlZAFZUjDOo+u794Zv52PFGOM9TmEmz65m9uiSnKha+cZ+ZQhZ7lz/AWcb8nC2UImPMPc0l2KOe55ocIftu73yGFx/fkmLl2mjt9/8xkqZQpegWZwXgZhcEzZsNekc7PFO/hMRXisn9SijAE+WwVLw6YyMyZfx0Whu956UZX+Go46KFfVWa/q8eX2Ku+2/4MyVlSCVQMqmurSSiAMnZi3HGieXiWgYY5A3DSq51Dw+S21EgNzEvMwKfoCNrdguYwit2DRaizusGoZNhy27sg9v32UAItcjbxW7G9+R/QIXNIPqXpPHiiclzzi7KKDDPQu4f4yXk4dlTKtxTbsMShuAs/HKKiAq+eu+R2qHNt3NzgxRdQNMvu5o1tvKbLbc59ERwA7b9fk5TnsIaBrQfWcMInrqCn95gsVibY4i+ROqx0gDgla2lep/Pwij1lYmWnXc00xNcxvFDyfvfI4yA5uk7FtzceKyjlAmqwdtlhBF37g97zyvKIbgY5HCvCLN28RJ1is/v3HH8qzyekTUVFM/XVVPpD8vGriA7/fmZSR8Pcl+NiKmoWKh5LA+EKVQMvfr2wDAvSrXFmcqC2t6Zq/4iolGlIgdqNi24p2fQNZYomkoNsAzoIVmdwos7dQ+MRZvybfOMETFE6bUq8qI2F5Hpussg7HK+6Wea5PKsK/uBPxzdvGdK7ourj7Q4567uIpar9LuMDEr/mQRx+r8NOuFROqc44lWbqsOk/R3JKqBSUhej4WhF1hrzsQji9UPAdqOMu8n/FZQL0pf7P18lUuLOAv4iCMZRbwK33ylF4RrujH2Hey+HJ1WE+T8kunoMOUHxZjlllafvWM584yzTem5BfeUg/6ghZtJ8U6S8+jNE0Vb37TAg60F5rDNSueSql+JObXm+QTe7E+Rcyvt3hPmcC97qVO+ak0NHkdpzpBml7Gd7CG+KJKxWuSp+warsGYv5YNUxuJCdmVa7oksuiNtrsmcTpzWlrh+gmNh/7h+HLDMffPYtsh/9ohM3EM3/r5+B0yl3nkdHCLfUAKpk0tnosyIF5TlALR1wd5Y0RUxJ435E0NLiLOYsUrfVhDMY83NW7O43eSRbhNUs94OUshoz9jOAtdi3ouynklkT6v4tVE0SjZz4OG9Rd2GtbPeWgYsz3tQH+7vicBhhhwocrFHsoS08tXyauwW3EizeFOzKYZsBXw9uGOlGRCipAJLHGsSrIlekjPw9mSuR7ZkaRUpQgp45zf/zCE7Dgf3AobkweWDu+YUjkL4lp3jMVsDUzRT6LEjSwtJDdTMemYcx+K3RdUq6T5HHUsaEdJmebhnq7QlOW8Xi8QBWtPWX9YT7dZqFEvvmXN0wAK/E7+vdP/AFBLAwQUAAIACADCu6ZKiMVOUf4OAADYGQAAFwAAAHVuaXZlcnNhbC91bml2ZXJzYWwucG5n7VlpV1NX245atbVV2lpAgZAqWhxBUURAiANDtQJGQlGGpDhUiYQIGIZgiLaPRURIFSsFxCh5gQwYBkMCgRALD6YWgcbkJEAMqSgICSEgGQjJgefg8/6A99v7xQ/7OmufddZ9XWvve1/3fdbOOxYeunKF0woYDLby8LdBx2GwxQA0vv94GfSmuDgbDj0WpR0PPQjj9LiMQZOPzh0IOwCD1VM/tSUsheafXPz2ZBoM5rBxYSw6fHzDJAy2Fn846AA6E6NTEfJPD4PiFEQk4ordk5alBOPdgwQ06vOYh9ccVlQMfm5/58XSfocDyhfH7W25D67fWH/juMONGsqvnG0OgoOb8Qpkt97cPdGISWu9ffidb395CRmeuXOXu7uvb8mbN+Vbz3n5bPtGKpoz1nY2p711QFBsU0Mddsi4e75pkHxONuLy5B8Nt5CgQdp57VNHD8V05dgRNAU0KrqWhjhC2l3QV+NXxkt/Y3AkY5J2GOzJCe9LYV0Mziut5CA0I9Eoc5ZKBuf1oZBPoa9zW14NdeZ3rIbBrnS/PEYz7fRbBIP13WQsg1359QN8gA/wAT7AB/gAH+ADfID/T/h7JTbHMjzUfg1qXJ8UJs+MlBEc5i29FKh3hefhYLCP/w+gcwEIbZaRIcOYNH854vLFFLMqA+ErmgVqHSICLW+GaimgdnJ2CSxJm+/ZdsIGRcekP2UgCwVY25BjlxbDGg5R7j2uBG3TvVhf/WgD9WfBRCOcjj+q+wqwZ9O3ktD4tOpFsDWWN0URDubBbH2ddyEbJ5DwTFsYVM3XGg4uG9cSomxhP6ILJo7Rt2bcAdgNEt7/TLRO97yyManIucypxzRw3H+aMl2m3pYsNMorBTUxyYLPpjWEaUfs5am/bKJ5UL88xxHMIo1Zsom0NWCP1qZrmHtXLIorEeFUkWX3KDQz31fdyXKvdYrKHP4tmjdggV/THtPfBooAFzc//BlmiLiHhkTGIeqwANJ4wiUghNrSMQjU3lJJLIUtzR0kLSOQ4zN+L/cqen/Uncv6bLXz/UBjNRJMZNKii1OkYT7b34qmnjp3PWGNjhUnYIix6svT3dHJ07NtOXbEGNBjokXfNmwLdc06kzgxHRH1MvwtcFZGZntUtzdvf5ysKrs3j1OpTRYPeZW/iH4RvkUT+pZ2KICpKLKeFz7JkeX3FznJhus61o2scdnLwokCB0bir2vg6Hvo3XgnwN5XCmP9w3ySiIwelaWCXs/ZOedAPEbNr6tRJ5Zht8RoLxSM8PYPDtvYso9Tl05eygm+iPwpbiq2ixObQcaaabM5gKX2KajDteZH0TvpRJ/QV353yEiLfJPtPX1LEF08dDjlBLp3iqNG7VEktFeQlm+P2VOgkVx/g+6kMgZr9/ykzEl249mXS9WofGkgK8OXgqyNPrDP71+vnzoT9k2m5Y9FaTl6KwNDnMvB9IshsnFnHPcMd2JkU1zugOJmjw9fIrhqgYs7MHziCTTtzS3N8SXr0lxi3FlLyoKIneH5DVFbSFt+2dITUr2LukKV+Dsvi75pohjerTTZhGPvug2BUebyBpwKbDgLWKxZVoEoT/NdCCpef8Q2qxC5lnq0MCGCLOAVxl1ntzqUY2Z45OqUPuvehw8o4eQXO9V/JYsWs3bAl2ou9Uta8b1q2cP97JA8Mxywtv43GvjiO8/tIVLE3GSuftt/A8L5Ef7K3xhtZ4o6rPLmH1FCHLfql3+sFrsAw99Xp3WamGDjpsulKyb8TOmqhMXPq5P16S6pTP0FTPCEoS5vNovkcpk0V7XKOupZHW3ODczc2nbBEqVNRvqwe7BqxTuIGc4jMMTpncMLiX72mNxMH5Y3l6JU+mJSWjDxS9lZbvIPgXqheXCyPuPLPA1hI+XjnO4Kkl+jxRgkj0CQDZL3MqA1/M5/gshqr+7BPpSGrLZ+ETwSTW+xb7EvqZxrqlv6o3CGqY7aHomNrZPrmcIdA8M2N+Isq+6Rdf81Qnz4tTQydlrxqEUOFJZBe8hOocTyCQxHsaNHXJON0bY7jC64e9K+ofslKv4hZeR5yatE74KR3i+AtHFFiHbZSMoLpO409GO+1bL7cxR877YjW5K2XAmpBmyByaWShufVQ48XNxkoTxSrnjEsxsYCr+gmk6gY34ts8Gj6rnxQLqH61cYs5GqjaXrUFv16jodTH4s4SiOb+odDDaemevz129zSnP6uFZoG3hlu6KPoTWkhRMQsaEsXVk2X+VYIqgTwqi78aWitXA8HyV+TWRSF0EQAExt7N5P/regFvYQDYr5e+U463Qj2VZm+APD+Vh1OIYwXjeElbCkta6Rk2AzqotWKVj+8Snen1fkEzeQlgK9yY109WTPgIzvdVOU3flr1Z++lDS05nPIfKfc3sJTfZjLL8f6fVVblNJvSrH6/BREf8blMTFJNS5h87SPnPyvLH+NwCX2mPCnTlGVf3nhUee5m1UAu4J/kDZr4ooC6iT1XJKGj37zXcyF2oFWeiR9kKSuq/IT3l+BYOlyxhFe/1MLarBPHC1DoJY/X6Jxnr9Toq6t9jEFepbjdfNMn+OYNLDtlFt/IpSkVzHi6QD03l/eDgvzyvGr/j4YZldyQomq/6HRbZyAlqEyfNCZ1X0CarSJM56Uw0B+DRw4sH60yrQW8G//E2gOgpWrAi6jkKlMv9Q1+U9xYMCtMsqodgr135EvaHqbPeAOMSQMXo0TxEoGPJwLpJACirCBxtxOVMl2D7vrxXTE+v5a8lgbiSnnfIQlfUbbfjk1ydQAqTQiwrVEXGvs74TQNFa+ovzbngYq3/lk6YLorCSQWdQ3IebRl61mKvdmm8Xe/ywaRc1PUVw0Xhc4654HwiTpxSjnGX8W7PB8k8eeghEey2RmOdOKSkvihFFaV3x16ez33kHfVupPYsoG3gAxzhs+4H96YFBvhzD2fe4XbsT69v3Z8F0vJQ4/X3tCMycIJs8rTwKcF6Sfp0nRi31zOEbRdq1Eem0+bt73NR4CjofktEwLtFSVBRE7RyDanrFx9GE0tdLvnERkegzbj3lTe3xDqtsNtQYK0OsIOQVCuCWucT6TqckR9pwTtLdRXPM8a8kGy2pB7qxHDOjvwEJGruxDdfw6tMBvX03lEv/Xqu2P8+qMdzcIdzETg28uituYk6/L8CtLQlBiBfWrosEO22oYjAkx9p7v+4TQFZky8nPT6h7R7wId7606UW28kXnzS/x/JmPWmhldEQPJrI63XNaQGPP2o9BD2e3h+ILQRWdPdPrlUPl7G5cTPzrBvjTnIgTX4kgEEwMWheYn1A6vAE2b+Vu24P+uCEsfSxkYq1aaumheCuh4lL2O3k+jZWfyFskX961n+xPHndpSZjrN7zesC3nVh51LXKkJqXt1eSIpJvN/4s4dwn+jIzpnzJRtYWgEX9atDHV5TfOF/Zb3AXJHJ2gWqHPpwqHZZqtG3ky5+WYWLUXhIZy6oIuv7MMcIToCO/q1SJvpa/bSNLphvroIch1d9LVNbW4pD+Mab6qAU8UCw3Vme7L0cydtQyPj276uNzP1ZhuybUarnnu48Zq4sxuZkWW7c17OU5wx9fTIW+ZBynVwR5W8rVedOsE4vLmLc17jxaOp0k9TS3VYhMCiYqmTvgrtw6KwCFJlzwMieKKkgfW0nNnucv+iaA0Bn2unS+0LDdK0tTU4old29o3TSbmBMlz4K+R3pJmmXID6DCJlzMvgMEYzGfp9LthmgviF8L9I6/jjfEZOZMGaGfP2qVBNuAvUUStZnJqte1Ltz0iCN8Jxoer1qGS7Xh5SUhAPaHrpuxbNu/T7bjBS6Tut0vaVQliGFPufQxaSdKOkoN2ravBaotNPuKbjr/Mj591BhWgDpJb7iFEGVsEYX/3jMVqoYUeTUg/u84ZcY4IluAuVNUz45yHjeX9lqan8A7jtezddb8VCRPlsaxdd6pIPRw4ptLOVKL2HCrDNbViCjEaJzg4nwv3bCKzkPJn4e1/HVmKcZoud4voo3o9LnZPzgW8gRzBf+dBsMJjLFKYgedhXxQPxIoaZBk8dQexpNcIAYG1YtSYXOxXT/xg1UNsSfQuzD1/d452vYujoGhzL2UpxacIRaMQ5EYwPq4gqSFQjvwrvDo0yrftOmfgK6WGAbq3+OZ1nKbjaMu7H4jb0M16XEMPpZKHNG0uZslnIqKjB51afPtBtZ2sxZiYlwBI2FWpUFw+jYlA0aFXbb3FlUR5RwAMojplEWS+n+ZqfqnoExQSgePN+/UNO7pxK/Fl9ltBn4AcaDOC5Y9iVQDCA2m2izqNysVutEizqvwY8noGoQ8zPiLnfhWKpLWAWpkW0P5BW5Aso10PKrXWjxZFmeRjefPXSd0VZTONw2P2e1+ygNvvhFLpGcGkQhWf6wy6nL1DCrV/3LObSYgdleoIFaZMJMX5k0AZFy6SvOIbBzZvRy2hF1xUd7oqljRTlr/jS6Asb2RK5KuaBo653Z662Ju5FT/17ddejAXwbuctfMH1K6tvM/e11AP4yuvRtCPIxUE8vD1KX+KxQP27MvzTXL8nMlpKsgI+Lnvc8SyAGhxIBz4++mstxiQ4mzlgLFwYDPQ5ReUTSYF/wRpnKVPfNQiMbOUbuL4+saCBqkw+fi3sUbxT/RxZ17cPPHaHpfkss3mp1x4j2Fcl8ipFj3wGzcwO1CboClultmNB2BBz0s1/+g15i0uXjrHl6hJvUlpt7FtKLGF/Jxrzta0cbCgwImdZB9SxhZHb7Sczknw9jz9730tcFr4sNPFWuP+WslZ3VbQDenr9O+fJ1a1PEsXOP+8DnIUYejhLW3HpAZjjDlvrX3/TOSfU+BRTTbGQvTlXxUMWoIML98bIse6YWekzbYk2dRbnL3jTu2MnzI9RjP8Yi/0hXpMtNN3q76SLRPGrX9OV6BKvc7+qCieUgQiKtlosZX6JwkruV2sL0WXF2yDC7uPq+U+25WCrv8qWXXK5xgsM8BaKxegC8XQJAwNS+lzFvVr/IWLhagQoH0DDZGY8necTAY7ETtMkYxCoTOeu95bxgsiekkiCFBVRWwc/TEuHh8tnBToYt7f1ORHAlfcUoGETxl/cYuEZU75M8vCVwMHO0N/uUcFAl2ODg8iHPwh5/+A1BLAwQUAAIACADCu6ZK5sSYNVwAAABqAAAAGwAAAHVuaXZlcnNhbC91bml2ZXJzYWwucG5nLnhtbC2MSwqAIBQA90F3kHcA84NpoHmZJIV+WKjdPpFmN7MYbcu+oeTiHc7DAMUE7Nx3+oouBZdRqY1iSRqA3qaj+DWH5fEGJKGYcSmVqM27sPrHgGACT0xxrhQMdfkBUEsBAgAAFAACAAgAwrumSg5qJE5iBAAABREAAB0AAAAAAAAAAQAAAAAAAAAAAHVuaXZlcnNhbC9jb21tb25fbWVzc2FnZXMubG5nUEsBAgAAFAACAAgAwrumSgh+CyMpAwAAhgwAACcAAAAAAAAAAQAAAAAAnQQAAHVuaXZlcnNhbC9mbGFzaF9wdWJsaXNoaW5nX3NldHRpbmdzLnhtbFBLAQIAABQAAgAIAMK7pkpr4TvgvAIAAFoKAAAhAAAAAAAAAAEAAAAAAAsIAAB1bml2ZXJzYWwvZmxhc2hfc2tpbl9zZXR0aW5ncy54bWxQSwECAAAUAAIACADCu6ZKKpYPZ/4CAACXCwAAJgAAAAAAAAABAAAAAAAGCwAAdW5pdmVyc2FsL2h0bWxfcHVibGlzaGluZ19zZXR0aW5ncy54bWxQSwECAAAUAAIACADCu6ZKO/tTT50BAAAkBgAAHwAAAAAAAAABAAAAAABIDgAAdW5pdmVyc2FsL2h0bWxfc2tpbl9zZXR0aW5ncy5qc1BLAQIAABQAAgAIAMK7pko9PC/RwQAAAOUBAAAaAAAAAAAAAAEAAAAAACIQAAB1bml2ZXJzYWwvaTE4bl9wcmVzZXRzLnhtbFBLAQIAABQAAgAIAMK7pkoOFDO8fAAAAH0AAAAcAAAAAAAAAAEAAAAAABsRAAB1bml2ZXJzYWwvbG9jYWxfc2V0dGluZ3MueG1sUEsBAgAAFAACAAgARJRXRyO0Tvv7AgAAsAgAABQAAAAAAAAAAQAAAAAA0REAAHVuaXZlcnNhbC9wbGF5ZXIueG1sUEsBAgAAFAACAAgAwrumSq0N974ZCQAACyUAACkAAAAAAAAAAQAAAAAA/hQAAHVuaXZlcnNhbC9za2luX2N1c3RvbWl6YXRpb25fc2V0dGluZ3MueG1sUEsBAgAAFAACAAgAwrumSojFTlH+DgAA2BkAABcAAAAAAAAAAAAAAAAAXh4AAHVuaXZlcnNhbC91bml2ZXJzYWwucG5nUEsBAgAAFAACAAgAwrumSubEmDVcAAAAagAAABsAAAAAAAAAAQAAAAAAkS0AAHVuaXZlcnNhbC91bml2ZXJzYWwucG5nLnhtbFBLBQYAAAAACwALAEkDAAAmLgAAAAA="/>
  <p:tag name="ISPRING_PRESENTATION_TITLE" val="蓝色简约毕业论文答辩PPT模板"/>
  <p:tag name="RESOURCE_RECORD_KEY" val="{&quot;71&quot;:[76235679926],&quot;8&quot;:[20472196]}"/>
  <p:tag name="COMMONDATA" val="eyJoZGlkIjoiZmY5NDEzM2Y2MTcxMDhlYTZkNDE0MjFlOGQ4MjM2Nj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.05,&quot;left&quot;:243.05,&quot;top&quot;:404.85,&quot;width&quot;:70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.05,&quot;left&quot;:243.05,&quot;top&quot;:404.85,&quot;width&quot;:70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1.82299212598427,&quot;left&quot;:228.59196850393695,&quot;top&quot;:378.82118110236235,&quot;width&quot;:569.069921259842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1.82299212598427,&quot;left&quot;:228.59196850393695,&quot;top&quot;:378.82118110236235,&quot;width&quot;:569.069921259842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1.82299212598427,&quot;left&quot;:228.59196850393695,&quot;top&quot;:378.82118110236235,&quot;width&quot;:569.069921259842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25905511811024,&quot;left&quot;:65.30181102362204,&quot;top&quot;:278.7594488188976,&quot;width&quot;:830.997480314960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DOWSIZE" val="98"/>
  <p:tag name="TEXTSHADOWSIZE" val="10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745905511811,&quot;left&quot;:34.5,&quot;top&quot;:94.10409448818898,&quot;width&quot;:837.324488188976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745905511811,&quot;left&quot;:34.5,&quot;top&quot;:94.10409448818898,&quot;width&quot;:837.324488188976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745905511811,&quot;left&quot;:34.5,&quot;top&quot;:94.10409448818898,&quot;width&quot;:837.324488188976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745905511811,&quot;left&quot;:34.5,&quot;top&quot;:94.10409448818898,&quot;width&quot;:837.324488188976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745905511811,&quot;left&quot;:34.5,&quot;top&quot;:94.10409448818898,&quot;width&quot;:837.324488188976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745905511811,&quot;left&quot;:34.5,&quot;top&quot;:94.10409448818898,&quot;width&quot;:837.324488188976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745905511811,&quot;left&quot;:34.5,&quot;top&quot;:94.10409448818898,&quot;width&quot;:837.324488188976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745905511811,&quot;left&quot;:34.5,&quot;top&quot;:94.10409448818898,&quot;width&quot;:837.3244881889765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745905511811,&quot;left&quot;:34.5,&quot;top&quot;:94.10409448818898,&quot;width&quot;:837.3244881889765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4114173228348,&quot;left&quot;:48.81086614173228,&quot;top&quot;:97.10574803149606,&quot;width&quot;:904.783307086614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4114173228348,&quot;left&quot;:48.81086614173228,&quot;top&quot;:97.10574803149606,&quot;width&quot;:904.783307086614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745905511811,&quot;left&quot;:34.5,&quot;top&quot;:94.10409448818898,&quot;width&quot;:837.3244881889765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745905511811,&quot;left&quot;:34.5,&quot;top&quot;:94.10409448818898,&quot;width&quot;:837.3244881889765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745905511811,&quot;left&quot;:34.5,&quot;top&quot;:94.10409448818898,&quot;width&quot;:837.3244881889765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745905511811,&quot;left&quot;:34.5,&quot;top&quot;:94.10409448818898,&quot;width&quot;:837.3244881889765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745905511811,&quot;left&quot;:34.5,&quot;top&quot;:94.10409448818898,&quot;width&quot;:837.3244881889765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745905511811,&quot;left&quot;:34.5,&quot;top&quot;:94.10409448818898,&quot;width&quot;:837.3244881889765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745905511811,&quot;left&quot;:34.5,&quot;top&quot;:94.10409448818898,&quot;width&quot;:837.3244881889765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745905511811,&quot;left&quot;:34.5,&quot;top&quot;:94.10409448818898,&quot;width&quot;:837.3244881889765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745905511811,&quot;left&quot;:34.5,&quot;top&quot;:94.10409448818898,&quot;width&quot;:837.3244881889765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95,&quot;left&quot;:41.1,&quot;top&quot;:196.95,&quot;width&quot;:442.2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95,&quot;left&quot;:41.1,&quot;top&quot;:196.95,&quot;width&quot;:442.2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95,&quot;left&quot;:41.1,&quot;top&quot;:196.95,&quot;width&quot;:442.2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95,&quot;left&quot;:41.1,&quot;top&quot;:196.95,&quot;width&quot;:442.2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95,&quot;left&quot;:41.1,&quot;top&quot;:196.95,&quot;width&quot;:442.2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95,&quot;left&quot;:41.1,&quot;top&quot;:196.95,&quot;width&quot;:442.2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95,&quot;left&quot;:41.1,&quot;top&quot;:196.95,&quot;width&quot;:442.2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95,&quot;left&quot;:41.1,&quot;top&quot;:196.95,&quot;width&quot;:442.2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95,&quot;left&quot;:41.1,&quot;top&quot;:196.95,&quot;width&quot;:442.2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95,&quot;left&quot;:41.1,&quot;top&quot;:196.95,&quot;width&quot;:442.2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95,&quot;left&quot;:41.1,&quot;top&quot;:196.95,&quot;width&quot;:442.2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95,&quot;left&quot;:41.1,&quot;top&quot;:196.95,&quot;width&quot;:442.2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95,&quot;left&quot;:41.1,&quot;top&quot;:196.95,&quot;width&quot;:442.2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95,&quot;left&quot;:41.1,&quot;top&quot;:196.95,&quot;width&quot;:442.2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.15,&quot;left&quot;:387.53606299212595,&quot;top&quot;:14.660472440944881,&quot;width&quot;:554.9490551181102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.15,&quot;left&quot;:387.53606299212595,&quot;top&quot;:14.660472440944881,&quot;width&quot;:554.9490551181102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.15,&quot;left&quot;:387.53606299212595,&quot;top&quot;:14.660472440944881,&quot;width&quot;:554.9490551181102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.15,&quot;left&quot;:387.53606299212595,&quot;top&quot;:14.660472440944881,&quot;width&quot;:554.9490551181102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.15,&quot;left&quot;:387.53606299212595,&quot;top&quot;:14.660472440944881,&quot;width&quot;:554.9490551181102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6.6122047244095,&quot;left&quot;:36.5,&quot;top&quot;:66.4,&quot;width&quot;:898.3387401574803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.05,&quot;left&quot;:243.05,&quot;top&quot;:404.85,&quot;width&quot;:706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.05,&quot;left&quot;:243.05,&quot;top&quot;:404.85,&quot;width&quot;:706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.05,&quot;left&quot;:243.05,&quot;top&quot;:404.85,&quot;width&quot;:706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1.82299212598427,&quot;left&quot;:228.59196850393695,&quot;top&quot;:378.82118110236235,&quot;width&quot;:569.0699212598425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.05,&quot;left&quot;:243.05,&quot;top&quot;:404.85,&quot;width&quot;:706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.05,&quot;left&quot;:243.05,&quot;top&quot;:404.85,&quot;width&quot;:706}"/>
</p:tagLst>
</file>

<file path=ppt/theme/theme1.xml><?xml version="1.0" encoding="utf-8"?>
<a:theme xmlns:a="http://schemas.openxmlformats.org/drawingml/2006/main" name="Office 主题​​">
  <a:themeElements>
    <a:clrScheme name="海岸线蓝+雾霾蓝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6739C"/>
      </a:accent1>
      <a:accent2>
        <a:srgbClr val="9EAEC4"/>
      </a:accent2>
      <a:accent3>
        <a:srgbClr val="56739C"/>
      </a:accent3>
      <a:accent4>
        <a:srgbClr val="9EAEC4"/>
      </a:accent4>
      <a:accent5>
        <a:srgbClr val="56739C"/>
      </a:accent5>
      <a:accent6>
        <a:srgbClr val="9EAEC4"/>
      </a:accent6>
      <a:hlink>
        <a:srgbClr val="DF213B"/>
      </a:hlink>
      <a:folHlink>
        <a:srgbClr val="954F72"/>
      </a:folHlink>
    </a:clrScheme>
    <a:fontScheme name="bvvqntr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172228"/>
      </a:dk2>
      <a:lt2>
        <a:srgbClr val="F6F8F9"/>
      </a:lt2>
      <a:accent1>
        <a:srgbClr val="2B4663"/>
      </a:accent1>
      <a:accent2>
        <a:srgbClr val="5C7885"/>
      </a:accent2>
      <a:accent3>
        <a:srgbClr val="94ACBC"/>
      </a:accent3>
      <a:accent4>
        <a:srgbClr val="B9CAE1"/>
      </a:accent4>
      <a:accent5>
        <a:srgbClr val="97ABBD"/>
      </a:accent5>
      <a:accent6>
        <a:srgbClr val="3B606F"/>
      </a:accent6>
      <a:hlink>
        <a:srgbClr val="5FCBFB"/>
      </a:hlink>
      <a:folHlink>
        <a:srgbClr val="B759BC"/>
      </a:folHlink>
    </a:clrScheme>
    <a:fontScheme name="bvvqntr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B1553"/>
      </a:accent1>
      <a:accent2>
        <a:srgbClr val="EFCDEB"/>
      </a:accent2>
      <a:accent3>
        <a:srgbClr val="F7E7F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1561</Words>
  <Application>Microsoft Office PowerPoint</Application>
  <PresentationFormat>宽屏</PresentationFormat>
  <Paragraphs>234</Paragraphs>
  <Slides>19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MiSans Medium</vt:lpstr>
      <vt:lpstr>等线</vt:lpstr>
      <vt:lpstr>思源宋体 CN Heavy</vt:lpstr>
      <vt:lpstr>微软雅黑</vt:lpstr>
      <vt:lpstr>Arial</vt:lpstr>
      <vt:lpstr>Calibri</vt:lpstr>
      <vt:lpstr>Calibri Light</vt:lpstr>
      <vt:lpstr>Wingdings</vt:lpstr>
      <vt:lpstr>Office 主题​​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蓝色简约毕业论文答辩PPT模板</dc:title>
  <dc:creator>邓亮</dc:creator>
  <cp:lastModifiedBy>子豪 黄</cp:lastModifiedBy>
  <cp:revision>34</cp:revision>
  <dcterms:created xsi:type="dcterms:W3CDTF">2016-11-24T09:20:00Z</dcterms:created>
  <dcterms:modified xsi:type="dcterms:W3CDTF">2026-04-17T08:32:55Z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A61DBF54A01E49CAB2F738686616B085_13</vt:lpwstr>
  </property>
  <property fmtid="{D5CDD505-2E9C-101B-9397-08002B2CF9AE}" pid="3" name="KSOProductBuildVer">
    <vt:lpwstr>2052-12.1.0.23125</vt:lpwstr>
  </property>
</Properties>
</file>