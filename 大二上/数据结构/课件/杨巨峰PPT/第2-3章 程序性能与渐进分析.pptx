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6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7.xml" ContentType="application/vnd.openxmlformats-officedocument.theme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theme/theme8.xml" ContentType="application/vnd.openxmlformats-officedocument.theme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6987" r:id="rId1"/>
    <p:sldMasterId id="2147483711" r:id="rId2"/>
    <p:sldMasterId id="2147483723" r:id="rId3"/>
    <p:sldMasterId id="2147483735" r:id="rId4"/>
    <p:sldMasterId id="2147483747" r:id="rId5"/>
    <p:sldMasterId id="2147483759" r:id="rId6"/>
    <p:sldMasterId id="2147483771" r:id="rId7"/>
    <p:sldMasterId id="2147484635" r:id="rId8"/>
    <p:sldMasterId id="2147484975" r:id="rId9"/>
  </p:sldMasterIdLst>
  <p:notesMasterIdLst>
    <p:notesMasterId r:id="rId94"/>
  </p:notesMasterIdLst>
  <p:handoutMasterIdLst>
    <p:handoutMasterId r:id="rId95"/>
  </p:handoutMasterIdLst>
  <p:sldIdLst>
    <p:sldId id="256" r:id="rId10"/>
    <p:sldId id="315" r:id="rId11"/>
    <p:sldId id="316" r:id="rId12"/>
    <p:sldId id="317" r:id="rId13"/>
    <p:sldId id="318" r:id="rId14"/>
    <p:sldId id="319" r:id="rId15"/>
    <p:sldId id="257" r:id="rId16"/>
    <p:sldId id="327" r:id="rId17"/>
    <p:sldId id="323" r:id="rId18"/>
    <p:sldId id="328" r:id="rId19"/>
    <p:sldId id="329" r:id="rId20"/>
    <p:sldId id="330" r:id="rId21"/>
    <p:sldId id="331" r:id="rId22"/>
    <p:sldId id="332" r:id="rId23"/>
    <p:sldId id="333" r:id="rId24"/>
    <p:sldId id="334" r:id="rId25"/>
    <p:sldId id="335" r:id="rId26"/>
    <p:sldId id="336" r:id="rId27"/>
    <p:sldId id="320" r:id="rId28"/>
    <p:sldId id="324" r:id="rId29"/>
    <p:sldId id="337" r:id="rId30"/>
    <p:sldId id="338" r:id="rId31"/>
    <p:sldId id="339" r:id="rId32"/>
    <p:sldId id="340" r:id="rId33"/>
    <p:sldId id="341" r:id="rId34"/>
    <p:sldId id="342" r:id="rId35"/>
    <p:sldId id="360" r:id="rId36"/>
    <p:sldId id="361" r:id="rId37"/>
    <p:sldId id="363" r:id="rId38"/>
    <p:sldId id="362" r:id="rId39"/>
    <p:sldId id="343" r:id="rId40"/>
    <p:sldId id="344" r:id="rId41"/>
    <p:sldId id="364" r:id="rId42"/>
    <p:sldId id="345" r:id="rId43"/>
    <p:sldId id="366" r:id="rId44"/>
    <p:sldId id="367" r:id="rId45"/>
    <p:sldId id="346" r:id="rId46"/>
    <p:sldId id="347" r:id="rId47"/>
    <p:sldId id="365" r:id="rId48"/>
    <p:sldId id="348" r:id="rId49"/>
    <p:sldId id="368" r:id="rId50"/>
    <p:sldId id="349" r:id="rId51"/>
    <p:sldId id="350" r:id="rId52"/>
    <p:sldId id="369" r:id="rId53"/>
    <p:sldId id="370" r:id="rId54"/>
    <p:sldId id="351" r:id="rId55"/>
    <p:sldId id="371" r:id="rId56"/>
    <p:sldId id="352" r:id="rId57"/>
    <p:sldId id="353" r:id="rId58"/>
    <p:sldId id="321" r:id="rId59"/>
    <p:sldId id="378" r:id="rId60"/>
    <p:sldId id="390" r:id="rId61"/>
    <p:sldId id="379" r:id="rId62"/>
    <p:sldId id="380" r:id="rId63"/>
    <p:sldId id="381" r:id="rId64"/>
    <p:sldId id="382" r:id="rId65"/>
    <p:sldId id="383" r:id="rId66"/>
    <p:sldId id="384" r:id="rId67"/>
    <p:sldId id="385" r:id="rId68"/>
    <p:sldId id="386" r:id="rId69"/>
    <p:sldId id="387" r:id="rId70"/>
    <p:sldId id="325" r:id="rId71"/>
    <p:sldId id="391" r:id="rId72"/>
    <p:sldId id="392" r:id="rId73"/>
    <p:sldId id="393" r:id="rId74"/>
    <p:sldId id="394" r:id="rId75"/>
    <p:sldId id="395" r:id="rId76"/>
    <p:sldId id="400" r:id="rId77"/>
    <p:sldId id="396" r:id="rId78"/>
    <p:sldId id="397" r:id="rId79"/>
    <p:sldId id="398" r:id="rId80"/>
    <p:sldId id="399" r:id="rId81"/>
    <p:sldId id="322" r:id="rId82"/>
    <p:sldId id="401" r:id="rId83"/>
    <p:sldId id="402" r:id="rId84"/>
    <p:sldId id="403" r:id="rId85"/>
    <p:sldId id="326" r:id="rId86"/>
    <p:sldId id="405" r:id="rId87"/>
    <p:sldId id="404" r:id="rId88"/>
    <p:sldId id="406" r:id="rId89"/>
    <p:sldId id="407" r:id="rId90"/>
    <p:sldId id="290" r:id="rId91"/>
    <p:sldId id="291" r:id="rId92"/>
    <p:sldId id="267" r:id="rId93"/>
  </p:sldIdLst>
  <p:sldSz cx="9144000" cy="6858000" type="screen4x3"/>
  <p:notesSz cx="7099300" cy="1023461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6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FF0000"/>
    <a:srgbClr val="F8F8F8"/>
    <a:srgbClr val="FFFFFF"/>
    <a:srgbClr val="003300"/>
    <a:srgbClr val="008000"/>
    <a:srgbClr val="009900"/>
    <a:srgbClr val="DEF1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71" autoAdjust="0"/>
    <p:restoredTop sz="91125" autoAdjust="0"/>
  </p:normalViewPr>
  <p:slideViewPr>
    <p:cSldViewPr>
      <p:cViewPr varScale="1">
        <p:scale>
          <a:sx n="94" d="100"/>
          <a:sy n="94" d="100"/>
        </p:scale>
        <p:origin x="1384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734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-3348" y="-108"/>
      </p:cViewPr>
      <p:guideLst>
        <p:guide orient="horz" pos="3224"/>
        <p:guide pos="2236"/>
      </p:guideLst>
    </p:cSldViewPr>
  </p:notesViewPr>
  <p:gridSpacing cx="180023" cy="180023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7.xml"/><Relationship Id="rId21" Type="http://schemas.openxmlformats.org/officeDocument/2006/relationships/slide" Target="slides/slide12.xml"/><Relationship Id="rId42" Type="http://schemas.openxmlformats.org/officeDocument/2006/relationships/slide" Target="slides/slide33.xml"/><Relationship Id="rId47" Type="http://schemas.openxmlformats.org/officeDocument/2006/relationships/slide" Target="slides/slide38.xml"/><Relationship Id="rId63" Type="http://schemas.openxmlformats.org/officeDocument/2006/relationships/slide" Target="slides/slide54.xml"/><Relationship Id="rId68" Type="http://schemas.openxmlformats.org/officeDocument/2006/relationships/slide" Target="slides/slide59.xml"/><Relationship Id="rId84" Type="http://schemas.openxmlformats.org/officeDocument/2006/relationships/slide" Target="slides/slide75.xml"/><Relationship Id="rId89" Type="http://schemas.openxmlformats.org/officeDocument/2006/relationships/slide" Target="slides/slide80.xml"/><Relationship Id="rId16" Type="http://schemas.openxmlformats.org/officeDocument/2006/relationships/slide" Target="slides/slide7.xml"/><Relationship Id="rId11" Type="http://schemas.openxmlformats.org/officeDocument/2006/relationships/slide" Target="slides/slide2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53" Type="http://schemas.openxmlformats.org/officeDocument/2006/relationships/slide" Target="slides/slide44.xml"/><Relationship Id="rId58" Type="http://schemas.openxmlformats.org/officeDocument/2006/relationships/slide" Target="slides/slide49.xml"/><Relationship Id="rId74" Type="http://schemas.openxmlformats.org/officeDocument/2006/relationships/slide" Target="slides/slide65.xml"/><Relationship Id="rId79" Type="http://schemas.openxmlformats.org/officeDocument/2006/relationships/slide" Target="slides/slide70.xml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81.xml"/><Relationship Id="rId95" Type="http://schemas.openxmlformats.org/officeDocument/2006/relationships/handoutMaster" Target="handoutMasters/handoutMaster1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43" Type="http://schemas.openxmlformats.org/officeDocument/2006/relationships/slide" Target="slides/slide34.xml"/><Relationship Id="rId48" Type="http://schemas.openxmlformats.org/officeDocument/2006/relationships/slide" Target="slides/slide39.xml"/><Relationship Id="rId64" Type="http://schemas.openxmlformats.org/officeDocument/2006/relationships/slide" Target="slides/slide55.xml"/><Relationship Id="rId69" Type="http://schemas.openxmlformats.org/officeDocument/2006/relationships/slide" Target="slides/slide60.xml"/><Relationship Id="rId80" Type="http://schemas.openxmlformats.org/officeDocument/2006/relationships/slide" Target="slides/slide71.xml"/><Relationship Id="rId85" Type="http://schemas.openxmlformats.org/officeDocument/2006/relationships/slide" Target="slides/slide76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openxmlformats.org/officeDocument/2006/relationships/slide" Target="slides/slide37.xml"/><Relationship Id="rId59" Type="http://schemas.openxmlformats.org/officeDocument/2006/relationships/slide" Target="slides/slide50.xml"/><Relationship Id="rId67" Type="http://schemas.openxmlformats.org/officeDocument/2006/relationships/slide" Target="slides/slide58.xml"/><Relationship Id="rId20" Type="http://schemas.openxmlformats.org/officeDocument/2006/relationships/slide" Target="slides/slide11.xml"/><Relationship Id="rId41" Type="http://schemas.openxmlformats.org/officeDocument/2006/relationships/slide" Target="slides/slide32.xml"/><Relationship Id="rId54" Type="http://schemas.openxmlformats.org/officeDocument/2006/relationships/slide" Target="slides/slide45.xml"/><Relationship Id="rId62" Type="http://schemas.openxmlformats.org/officeDocument/2006/relationships/slide" Target="slides/slide53.xml"/><Relationship Id="rId70" Type="http://schemas.openxmlformats.org/officeDocument/2006/relationships/slide" Target="slides/slide61.xml"/><Relationship Id="rId75" Type="http://schemas.openxmlformats.org/officeDocument/2006/relationships/slide" Target="slides/slide66.xml"/><Relationship Id="rId83" Type="http://schemas.openxmlformats.org/officeDocument/2006/relationships/slide" Target="slides/slide74.xml"/><Relationship Id="rId88" Type="http://schemas.openxmlformats.org/officeDocument/2006/relationships/slide" Target="slides/slide79.xml"/><Relationship Id="rId91" Type="http://schemas.openxmlformats.org/officeDocument/2006/relationships/slide" Target="slides/slide82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49" Type="http://schemas.openxmlformats.org/officeDocument/2006/relationships/slide" Target="slides/slide40.xml"/><Relationship Id="rId57" Type="http://schemas.openxmlformats.org/officeDocument/2006/relationships/slide" Target="slides/slide48.xml"/><Relationship Id="rId10" Type="http://schemas.openxmlformats.org/officeDocument/2006/relationships/slide" Target="slides/slide1.xml"/><Relationship Id="rId31" Type="http://schemas.openxmlformats.org/officeDocument/2006/relationships/slide" Target="slides/slide22.xml"/><Relationship Id="rId44" Type="http://schemas.openxmlformats.org/officeDocument/2006/relationships/slide" Target="slides/slide35.xml"/><Relationship Id="rId52" Type="http://schemas.openxmlformats.org/officeDocument/2006/relationships/slide" Target="slides/slide43.xml"/><Relationship Id="rId60" Type="http://schemas.openxmlformats.org/officeDocument/2006/relationships/slide" Target="slides/slide51.xml"/><Relationship Id="rId65" Type="http://schemas.openxmlformats.org/officeDocument/2006/relationships/slide" Target="slides/slide56.xml"/><Relationship Id="rId73" Type="http://schemas.openxmlformats.org/officeDocument/2006/relationships/slide" Target="slides/slide64.xml"/><Relationship Id="rId78" Type="http://schemas.openxmlformats.org/officeDocument/2006/relationships/slide" Target="slides/slide69.xml"/><Relationship Id="rId81" Type="http://schemas.openxmlformats.org/officeDocument/2006/relationships/slide" Target="slides/slide72.xml"/><Relationship Id="rId86" Type="http://schemas.openxmlformats.org/officeDocument/2006/relationships/slide" Target="slides/slide77.xml"/><Relationship Id="rId94" Type="http://schemas.openxmlformats.org/officeDocument/2006/relationships/notesMaster" Target="notesMasters/notesMaster1.xml"/><Relationship Id="rId9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39" Type="http://schemas.openxmlformats.org/officeDocument/2006/relationships/slide" Target="slides/slide30.xml"/><Relationship Id="rId34" Type="http://schemas.openxmlformats.org/officeDocument/2006/relationships/slide" Target="slides/slide25.xml"/><Relationship Id="rId50" Type="http://schemas.openxmlformats.org/officeDocument/2006/relationships/slide" Target="slides/slide41.xml"/><Relationship Id="rId55" Type="http://schemas.openxmlformats.org/officeDocument/2006/relationships/slide" Target="slides/slide46.xml"/><Relationship Id="rId76" Type="http://schemas.openxmlformats.org/officeDocument/2006/relationships/slide" Target="slides/slide67.xml"/><Relationship Id="rId97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2.xml"/><Relationship Id="rId92" Type="http://schemas.openxmlformats.org/officeDocument/2006/relationships/slide" Target="slides/slide83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0.xml"/><Relationship Id="rId24" Type="http://schemas.openxmlformats.org/officeDocument/2006/relationships/slide" Target="slides/slide15.xml"/><Relationship Id="rId40" Type="http://schemas.openxmlformats.org/officeDocument/2006/relationships/slide" Target="slides/slide31.xml"/><Relationship Id="rId45" Type="http://schemas.openxmlformats.org/officeDocument/2006/relationships/slide" Target="slides/slide36.xml"/><Relationship Id="rId66" Type="http://schemas.openxmlformats.org/officeDocument/2006/relationships/slide" Target="slides/slide57.xml"/><Relationship Id="rId87" Type="http://schemas.openxmlformats.org/officeDocument/2006/relationships/slide" Target="slides/slide78.xml"/><Relationship Id="rId61" Type="http://schemas.openxmlformats.org/officeDocument/2006/relationships/slide" Target="slides/slide52.xml"/><Relationship Id="rId82" Type="http://schemas.openxmlformats.org/officeDocument/2006/relationships/slide" Target="slides/slide73.xml"/><Relationship Id="rId19" Type="http://schemas.openxmlformats.org/officeDocument/2006/relationships/slide" Target="slides/slide10.xml"/><Relationship Id="rId14" Type="http://schemas.openxmlformats.org/officeDocument/2006/relationships/slide" Target="slides/slide5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56" Type="http://schemas.openxmlformats.org/officeDocument/2006/relationships/slide" Target="slides/slide47.xml"/><Relationship Id="rId77" Type="http://schemas.openxmlformats.org/officeDocument/2006/relationships/slide" Target="slides/slide68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2.xml"/><Relationship Id="rId72" Type="http://schemas.openxmlformats.org/officeDocument/2006/relationships/slide" Target="slides/slide63.xml"/><Relationship Id="rId93" Type="http://schemas.openxmlformats.org/officeDocument/2006/relationships/slide" Target="slides/slide84.xml"/><Relationship Id="rId98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 smtClean="0"/>
            </a:lvl1pPr>
          </a:lstStyle>
          <a:p>
            <a:pPr>
              <a:defRPr/>
            </a:pPr>
            <a:fld id="{5D40EB9B-A15C-4362-8B12-7BD5027DB2E9}" type="datetimeFigureOut">
              <a:rPr lang="zh-CN" altLang="en-US"/>
              <a:pPr>
                <a:defRPr/>
              </a:pPr>
              <a:t>2023/10/15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 smtClean="0"/>
            </a:lvl1pPr>
          </a:lstStyle>
          <a:p>
            <a:pPr>
              <a:defRPr/>
            </a:pPr>
            <a:fld id="{9D29CFF0-B2DC-41EE-842C-82C2AB06F89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03596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294" y="0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75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930" y="4861441"/>
            <a:ext cx="5679440" cy="4605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106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294" y="9721106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A11917C0-2B8F-4500-8896-8888F9625232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3130363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4"/>
          <p:cNvSpPr>
            <a:spLocks noChangeShapeType="1"/>
          </p:cNvSpPr>
          <p:nvPr/>
        </p:nvSpPr>
        <p:spPr bwMode="auto">
          <a:xfrm>
            <a:off x="355600" y="4321175"/>
            <a:ext cx="8410575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4B4B4B"/>
              </a:solidFill>
              <a:ea typeface="宋体" charset="-122"/>
            </a:endParaRPr>
          </a:p>
        </p:txBody>
      </p:sp>
      <p:pic>
        <p:nvPicPr>
          <p:cNvPr id="5" name="Picture 2" descr="C:\Documents and Settings\Yang Jufeng\桌面\11\主楼总理像\17.jpg"/>
          <p:cNvPicPr preferRelativeResize="0">
            <a:picLocks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77825" y="307975"/>
            <a:ext cx="8370888" cy="290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组合 9"/>
          <p:cNvGrpSpPr>
            <a:grpSpLocks/>
          </p:cNvGrpSpPr>
          <p:nvPr userDrawn="1"/>
        </p:nvGrpSpPr>
        <p:grpSpPr bwMode="auto">
          <a:xfrm>
            <a:off x="5437188" y="5876925"/>
            <a:ext cx="3311525" cy="720725"/>
            <a:chOff x="5436776" y="5877352"/>
            <a:chExt cx="3311688" cy="720000"/>
          </a:xfrm>
        </p:grpSpPr>
        <p:pic>
          <p:nvPicPr>
            <p:cNvPr id="7" name="Picture 3" descr="badge-logon"/>
            <p:cNvPicPr>
              <a:picLocks noChangeAspect="1" noChangeArrowheads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901291" y="5877352"/>
              <a:ext cx="720000" cy="720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TextBox 7"/>
            <p:cNvSpPr txBox="1"/>
            <p:nvPr userDrawn="1"/>
          </p:nvSpPr>
          <p:spPr>
            <a:xfrm>
              <a:off x="5436776" y="6093035"/>
              <a:ext cx="3311688" cy="339383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r">
                <a:defRPr/>
              </a:pPr>
              <a:r>
                <a:rPr lang="zh-CN" altLang="en-US" sz="1600" dirty="0">
                  <a:latin typeface="Arial" pitchFamily="34" charset="0"/>
                </a:rPr>
                <a:t>计算机学院</a:t>
              </a:r>
            </a:p>
          </p:txBody>
        </p:sp>
      </p:grpSp>
      <p:sp>
        <p:nvSpPr>
          <p:cNvPr id="389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61950" y="3448050"/>
            <a:ext cx="8382000" cy="81915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61950" y="4435475"/>
            <a:ext cx="8382000" cy="1279525"/>
          </a:xfrm>
        </p:spPr>
        <p:txBody>
          <a:bodyPr rIns="0"/>
          <a:lstStyle>
            <a:lvl1pPr marL="0" indent="0">
              <a:lnSpc>
                <a:spcPct val="90000"/>
              </a:lnSpc>
              <a:spcBef>
                <a:spcPct val="0"/>
              </a:spcBef>
              <a:buFontTx/>
              <a:buNone/>
              <a:defRPr sz="1800"/>
            </a:lvl1pPr>
          </a:lstStyle>
          <a:p>
            <a:r>
              <a:rPr lang="zh-CN" altLang="en-US"/>
              <a:t>单击此处编辑母版副标题样式</a:t>
            </a:r>
            <a:endParaRPr lang="en-US" altLang="zh-CN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50385A-8107-49AC-805E-3203B60D9A4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ED8B21-3AF6-467A-A018-5F33FAEB968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7575" y="1525588"/>
            <a:ext cx="3608388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8363" y="1525588"/>
            <a:ext cx="3608387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A096EB-4204-4D56-AE40-85216BC3BE7E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6200ED-8688-4B5A-90A3-1D24F7BD3CAF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98C086-7885-479B-82EC-F01ABC574B5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05279D-3B79-403F-9607-ED1A7E8151BC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2FF0C4-9956-4E51-9B4B-6F719F796BA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F7AE67-8A3F-47E7-9EE2-0A21C2515C43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5A8C27-058F-401E-9BD5-E8805B842B89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5250" y="506413"/>
            <a:ext cx="1841500" cy="558958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7575" y="506413"/>
            <a:ext cx="5375275" cy="558958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4EA34B-6E23-4708-9793-F121A7470A9E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6022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xfrm>
            <a:off x="2082800" y="6524625"/>
            <a:ext cx="2130425" cy="457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B4B4B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537C1B-D651-453A-98E2-8C5A3A2876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pic>
        <p:nvPicPr>
          <p:cNvPr id="4" name="Picture 5" descr="hc_DividerBG_purpl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white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11" descr="hc_Divider_Trans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black">
          <a:xfrm>
            <a:off x="384175" y="6324600"/>
            <a:ext cx="1630363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7191" name="Rectangle 7"/>
          <p:cNvSpPr>
            <a:spLocks noGrp="1" noChangeArrowheads="1"/>
          </p:cNvSpPr>
          <p:nvPr>
            <p:ph type="ctrTitle"/>
          </p:nvPr>
        </p:nvSpPr>
        <p:spPr>
          <a:xfrm>
            <a:off x="898525" y="1538288"/>
            <a:ext cx="7388225" cy="4035425"/>
          </a:xfrm>
        </p:spPr>
        <p:txBody>
          <a:bodyPr anchor="t"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CFBA9F-4A61-4E1D-AD95-CBBB77615895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71A809-10F7-48D4-A2F8-03AF4EACB3C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8525" y="1528763"/>
            <a:ext cx="3617913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8838" y="1528763"/>
            <a:ext cx="3617912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E7A7DE-7DE6-41F8-9DA4-FEA012673A4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86EEE9-0879-402A-85B2-96BD25B0346F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8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1D659D-5939-4D8B-8099-A2505CC4AC45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6C78FB-DFC0-42BB-9E55-9E3EFFE94BB5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24A744-C368-4F54-816A-600D599DB06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E7432F-8AB4-42CC-A98B-E7431E21C32B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D6F578-43E8-4A88-87BC-BBD90704BA3B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0488" y="519113"/>
            <a:ext cx="1846262" cy="55800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98525" y="519113"/>
            <a:ext cx="5389563" cy="55800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72D103-8F09-4696-B550-142A9973B01A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61950" y="311150"/>
            <a:ext cx="8420100" cy="1665288"/>
          </a:xfrm>
        </p:spPr>
        <p:txBody>
          <a:bodyPr/>
          <a:lstStyle>
            <a:lvl1pPr>
              <a:lnSpc>
                <a:spcPct val="90000"/>
              </a:lnSpc>
              <a:defRPr sz="41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61950" y="2390775"/>
            <a:ext cx="8382000" cy="1152525"/>
          </a:xfrm>
        </p:spPr>
        <p:txBody>
          <a:bodyPr rIns="0"/>
          <a:lstStyle>
            <a:lvl1pPr marL="0" indent="0">
              <a:lnSpc>
                <a:spcPct val="90000"/>
              </a:lnSpc>
              <a:spcBef>
                <a:spcPct val="0"/>
              </a:spcBef>
              <a:buFontTx/>
              <a:buNone/>
              <a:defRPr sz="2000"/>
            </a:lvl1pPr>
          </a:lstStyle>
          <a:p>
            <a:r>
              <a:rPr lang="zh-CN" altLang="en-US"/>
              <a:t>单击此处编辑母版副标题样式</a:t>
            </a:r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" name="Rectangle 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pic>
          <p:nvPicPr>
            <p:cNvPr id="5" name="Picture 4" descr="TR_SlideLogo_BW600"/>
            <p:cNvPicPr>
              <a:picLocks noChangeAspect="1" noChangeArrowheads="1"/>
            </p:cNvPicPr>
            <p:nvPr userDrawn="1"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</p:pic>
      </p:grpSp>
      <p:pic>
        <p:nvPicPr>
          <p:cNvPr id="6" name="Picture 5" descr="hc_DividerGraphBG_purpl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ltGray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9238" name="Rectangle 6"/>
          <p:cNvSpPr>
            <a:spLocks noGrp="1" noChangeArrowheads="1"/>
          </p:cNvSpPr>
          <p:nvPr>
            <p:ph type="ctrTitle"/>
          </p:nvPr>
        </p:nvSpPr>
        <p:spPr>
          <a:xfrm>
            <a:off x="898525" y="1538288"/>
            <a:ext cx="7388225" cy="4035425"/>
          </a:xfrm>
        </p:spPr>
        <p:txBody>
          <a:bodyPr anchor="t"/>
          <a:lstStyle>
            <a:lvl1pPr>
              <a:lnSpc>
                <a:spcPct val="90000"/>
              </a:lnSpc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BA518F-EBD1-4DFF-8008-F6FECA522CB0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446480-C3D9-4B2D-B920-28EBA376E588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8525" y="1528763"/>
            <a:ext cx="3617913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8838" y="1528763"/>
            <a:ext cx="3617912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52C099-5A7B-4FEC-A336-E1DF9A0E938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F9F9AA-CCE8-402C-A4F5-CFE7388D7C6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691759-AA34-45B5-995E-65C3994A94F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820CAC-8209-45A7-8E73-3C035DF5059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2EAD41-9A6C-4CBB-84B1-1C69A05C1F4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0BD64A-BC35-4B27-88FD-DEBFCC304895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4A4DF1-29B4-4F42-9813-9DE8A9520BFE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0488" y="519113"/>
            <a:ext cx="1846262" cy="55800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98525" y="519113"/>
            <a:ext cx="5389563" cy="55800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257C37-BE3A-4258-AD1F-82EACAA5C8AB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hc_DividerBG_Wgrey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white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6" descr="hc_Divider_Trans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black">
          <a:xfrm>
            <a:off x="384175" y="6324600"/>
            <a:ext cx="1630363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1287" name="Rectangle 7"/>
          <p:cNvSpPr>
            <a:spLocks noGrp="1" noChangeArrowheads="1"/>
          </p:cNvSpPr>
          <p:nvPr>
            <p:ph type="ctrTitle"/>
          </p:nvPr>
        </p:nvSpPr>
        <p:spPr>
          <a:xfrm>
            <a:off x="898525" y="1538288"/>
            <a:ext cx="7388225" cy="4035425"/>
          </a:xfrm>
        </p:spPr>
        <p:txBody>
          <a:bodyPr anchor="t"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E91DDB-01D2-44C6-BEF1-439EE4CA7ACC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1A2CB9-CDFE-4512-B813-0D8CBF30C188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8525" y="1528763"/>
            <a:ext cx="3617913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8838" y="1528763"/>
            <a:ext cx="3617912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5DAC5D-7A86-4401-B904-0898EFCDD8AF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369E6F-0821-4539-8DC6-A2E1B12B478B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8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7AC2C5-8D5A-4F9F-A7FA-0578B173B0E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DA5F42-7A4F-43B4-9C36-153B5EB4AE6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3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FC24D-E03A-4D52-AE96-539C4FC6BBA5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627410-6782-494D-8B50-3CDF6B8969D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793161-3E99-4AF6-B37A-2EB66587458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0488" y="519113"/>
            <a:ext cx="1846262" cy="55800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98525" y="519113"/>
            <a:ext cx="5389563" cy="55800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29DAA2-7B10-4E06-8999-0DBC663E4C10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" name="Rectangle 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pic>
          <p:nvPicPr>
            <p:cNvPr id="5" name="Picture 4" descr="TR_SlideLogo_BW600"/>
            <p:cNvPicPr>
              <a:picLocks noChangeAspect="1" noChangeArrowheads="1"/>
            </p:cNvPicPr>
            <p:nvPr userDrawn="1"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</p:pic>
      </p:grpSp>
      <p:pic>
        <p:nvPicPr>
          <p:cNvPr id="6" name="Picture 9" descr="hc_DividerGraphBG_Wgrey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ltGray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3334" name="Rectangle 6"/>
          <p:cNvSpPr>
            <a:spLocks noGrp="1" noChangeArrowheads="1"/>
          </p:cNvSpPr>
          <p:nvPr>
            <p:ph type="ctrTitle"/>
          </p:nvPr>
        </p:nvSpPr>
        <p:spPr>
          <a:xfrm>
            <a:off x="898525" y="1679575"/>
            <a:ext cx="7388225" cy="4035425"/>
          </a:xfrm>
        </p:spPr>
        <p:txBody>
          <a:bodyPr anchor="t"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8B2D6E-FF39-4ACB-9F87-2C97ABF648E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888093-BD71-4C57-B081-8AFDC6B70EA3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8525" y="1528763"/>
            <a:ext cx="3617913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8838" y="1528763"/>
            <a:ext cx="3617912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37F6F5-A31A-407A-96A6-04385BB043A2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0F8E37-39B5-42CE-B30D-5807D18270EF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8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10EEB6-8AD9-478C-9703-5DDC48618892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AF7773-925A-42C1-9BF9-2EEF1D2C73CE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3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1916CE-1A43-43E6-97AE-73460BEE358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4B02E9-1EC4-40B8-8AEB-522B297FE925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BBA8EE-F877-4004-9036-F60D99867EE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0488" y="493713"/>
            <a:ext cx="1846262" cy="56054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98525" y="493713"/>
            <a:ext cx="5389563" cy="56054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2C922B-4497-4B8F-ABFC-7CF8E87E1E5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hc_DividerBG_Cgrey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hidden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6" descr="hc_Divider_Trans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black">
          <a:xfrm>
            <a:off x="384175" y="6324600"/>
            <a:ext cx="1630363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5383" name="Rectangle 7"/>
          <p:cNvSpPr>
            <a:spLocks noGrp="1" noChangeArrowheads="1"/>
          </p:cNvSpPr>
          <p:nvPr>
            <p:ph type="ctrTitle"/>
          </p:nvPr>
        </p:nvSpPr>
        <p:spPr>
          <a:xfrm>
            <a:off x="898525" y="1538288"/>
            <a:ext cx="7388225" cy="4035425"/>
          </a:xfrm>
        </p:spPr>
        <p:txBody>
          <a:bodyPr anchor="t"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D35676-6F62-4539-83DA-975D3D089EF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B37963-AB90-478E-BAD5-AE3F28B03962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8525" y="1516063"/>
            <a:ext cx="3617913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8838" y="1516063"/>
            <a:ext cx="3617912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AF4E8E-9714-4CAC-B23C-58573CE0896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AA2853-8171-4A9D-93F2-8228DCC5A01C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8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900F9B-5395-4BAF-8B14-E987FEE5658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F18397-510F-44ED-A258-3E61BB7B800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EA3451-C6C7-441D-A590-5079DEAAB09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AF3A68-F665-4047-BFC4-D1A845DDF1AC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C322CE-0F24-4D57-9E1C-E36C0DEE526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0488" y="487363"/>
            <a:ext cx="1846262" cy="5599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98525" y="487363"/>
            <a:ext cx="5389563" cy="5599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99E878-C828-4CD9-B36D-8EDC68E0576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" name="Rectangle 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pic>
          <p:nvPicPr>
            <p:cNvPr id="5" name="Picture 4" descr="TR_SlideLogo_BW600"/>
            <p:cNvPicPr>
              <a:picLocks noChangeAspect="1" noChangeArrowheads="1"/>
            </p:cNvPicPr>
            <p:nvPr userDrawn="1"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</p:pic>
      </p:grpSp>
      <p:pic>
        <p:nvPicPr>
          <p:cNvPr id="6" name="Picture 9" descr="hc_DividerGraphBG_Cgrey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ltGray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7430" name="Rectangle 6"/>
          <p:cNvSpPr>
            <a:spLocks noGrp="1" noChangeArrowheads="1"/>
          </p:cNvSpPr>
          <p:nvPr>
            <p:ph type="ctrTitle"/>
          </p:nvPr>
        </p:nvSpPr>
        <p:spPr>
          <a:xfrm>
            <a:off x="898525" y="1538288"/>
            <a:ext cx="7388225" cy="4035425"/>
          </a:xfrm>
        </p:spPr>
        <p:txBody>
          <a:bodyPr anchor="t"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1C6CCA-A211-49AF-B6D4-846AAED10012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0F2457-B953-4572-B6D4-538A0E46B87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8525" y="1528763"/>
            <a:ext cx="3617913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8838" y="1528763"/>
            <a:ext cx="3617912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2FEAEB-6964-4877-BCED-3928B1684151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451791-32AE-4F5A-A01E-A810FA18DDB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8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D7F6EB-5651-4AA1-AB76-06D7FAB7D0CE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9C7139-69A5-46A1-A85F-2B49553975D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3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4C8991-870F-487F-BB68-685EC40CF702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4CC62C-D429-42A3-831D-08AB6370A9FC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D87AE3-63DA-4C6A-9877-6E426A9D4D1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0488" y="500063"/>
            <a:ext cx="1846262" cy="5599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98525" y="500063"/>
            <a:ext cx="5389563" cy="5599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622A83-B5F6-4A29-8AB1-E42221D0CD0F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5" descr="hc_DividerGraphBG_blu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ltGray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5237" name="Rectangle 5"/>
          <p:cNvSpPr>
            <a:spLocks noGrp="1" noChangeArrowheads="1"/>
          </p:cNvSpPr>
          <p:nvPr>
            <p:ph type="ctrTitle"/>
          </p:nvPr>
        </p:nvSpPr>
        <p:spPr>
          <a:xfrm>
            <a:off x="898525" y="1538288"/>
            <a:ext cx="7388225" cy="4035425"/>
          </a:xfrm>
        </p:spPr>
        <p:txBody>
          <a:bodyPr anchor="t"/>
          <a:lstStyle>
            <a:lvl1pPr>
              <a:lnSpc>
                <a:spcPct val="90000"/>
              </a:lnSpc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90C437-51E6-4061-A871-6A2B9753363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50518B-803A-4BCD-8F1B-EA943CFC2CF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8525" y="1528763"/>
            <a:ext cx="3617913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8838" y="1528763"/>
            <a:ext cx="3617912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73A449-3B3D-49A5-8BDF-D4ED29DD3A68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5D7C7C-3393-4054-960D-DB4DD07DD5B8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628DE1-9F57-429A-ABF7-8BABD78EF6F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C4E3C6-ECC6-48D7-A781-FC8881329185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3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54B4CE-99B2-428B-89BF-52310C4AAFBB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46B1C2-9FC8-42C9-9447-426DCB89C1B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2F5093-7CEA-4B34-8EA4-6E27F14A7A5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0488" y="519113"/>
            <a:ext cx="1846262" cy="55800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98525" y="519113"/>
            <a:ext cx="5389563" cy="55800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913C57-9933-4B8F-9F55-94E7FAB72C2C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1" descr="hc_DividerBG_blu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white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23" descr="hc_Divider_Trans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black">
          <a:xfrm>
            <a:off x="384175" y="6324600"/>
            <a:ext cx="1630363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98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898525" y="1538288"/>
            <a:ext cx="7388225" cy="4035425"/>
          </a:xfrm>
        </p:spPr>
        <p:txBody>
          <a:bodyPr anchor="t"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7A9048-0A5D-4FC0-B082-A66AF5D9413F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7821F0-7C43-46AB-AAFF-C0FA1A8EDC3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8525" y="1528763"/>
            <a:ext cx="3617913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8838" y="1528763"/>
            <a:ext cx="3617912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E33AC6-E476-45B3-A0A1-27C29C29F0DF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2E0326-7EB9-4FA9-ADE1-22BEA179A6F1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8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5170A1-5C19-4C3F-8963-9FE0B099B12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D474B1-48A7-41D4-82AD-436DB77448F5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3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CE4558-5273-4345-B26F-6AFBD3358F42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341D17-7167-4278-B7CC-59E73A3FEF2A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66B4F5-C43D-49EA-9B81-8AC247C46D5C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0488" y="512763"/>
            <a:ext cx="1846262" cy="55864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98525" y="512763"/>
            <a:ext cx="5389563" cy="55864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8CC521-0794-494A-991A-49EB2D8451DC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5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7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5" Type="http://schemas.openxmlformats.org/officeDocument/2006/relationships/image" Target="../media/image6.png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image" Target="../media/image9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Relationship Id="rId14" Type="http://schemas.openxmlformats.org/officeDocument/2006/relationships/image" Target="../media/image10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image" Target="../media/image11.png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4" Type="http://schemas.openxmlformats.org/officeDocument/2006/relationships/image" Target="../media/image6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Relationship Id="rId14" Type="http://schemas.openxmlformats.org/officeDocument/2006/relationships/image" Target="../media/image12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7.xml"/><Relationship Id="rId13" Type="http://schemas.openxmlformats.org/officeDocument/2006/relationships/image" Target="../media/image13.jpeg"/><Relationship Id="rId3" Type="http://schemas.openxmlformats.org/officeDocument/2006/relationships/slideLayout" Target="../slideLayouts/slideLayout82.xml"/><Relationship Id="rId7" Type="http://schemas.openxmlformats.org/officeDocument/2006/relationships/slideLayout" Target="../slideLayouts/slideLayout86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1.xml"/><Relationship Id="rId1" Type="http://schemas.openxmlformats.org/officeDocument/2006/relationships/slideLayout" Target="../slideLayouts/slideLayout80.xml"/><Relationship Id="rId6" Type="http://schemas.openxmlformats.org/officeDocument/2006/relationships/slideLayout" Target="../slideLayouts/slideLayout85.xml"/><Relationship Id="rId11" Type="http://schemas.openxmlformats.org/officeDocument/2006/relationships/slideLayout" Target="../slideLayouts/slideLayout90.xml"/><Relationship Id="rId5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89.xml"/><Relationship Id="rId4" Type="http://schemas.openxmlformats.org/officeDocument/2006/relationships/slideLayout" Target="../slideLayouts/slideLayout83.xml"/><Relationship Id="rId9" Type="http://schemas.openxmlformats.org/officeDocument/2006/relationships/slideLayout" Target="../slideLayouts/slideLayout8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8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93.xml"/><Relationship Id="rId7" Type="http://schemas.openxmlformats.org/officeDocument/2006/relationships/slideLayout" Target="../slideLayouts/slideLayout97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2.xml"/><Relationship Id="rId1" Type="http://schemas.openxmlformats.org/officeDocument/2006/relationships/slideLayout" Target="../slideLayouts/slideLayout91.xml"/><Relationship Id="rId6" Type="http://schemas.openxmlformats.org/officeDocument/2006/relationships/slideLayout" Target="../slideLayouts/slideLayout96.xml"/><Relationship Id="rId11" Type="http://schemas.openxmlformats.org/officeDocument/2006/relationships/slideLayout" Target="../slideLayouts/slideLayout101.xml"/><Relationship Id="rId5" Type="http://schemas.openxmlformats.org/officeDocument/2006/relationships/slideLayout" Target="../slideLayouts/slideLayout95.xml"/><Relationship Id="rId15" Type="http://schemas.openxmlformats.org/officeDocument/2006/relationships/image" Target="../media/image6.png"/><Relationship Id="rId10" Type="http://schemas.openxmlformats.org/officeDocument/2006/relationships/slideLayout" Target="../slideLayouts/slideLayout100.xml"/><Relationship Id="rId4" Type="http://schemas.openxmlformats.org/officeDocument/2006/relationships/slideLayout" Target="../slideLayouts/slideLayout94.xml"/><Relationship Id="rId9" Type="http://schemas.openxmlformats.org/officeDocument/2006/relationships/slideLayout" Target="../slideLayouts/slideLayout99.xml"/><Relationship Id="rId14" Type="http://schemas.openxmlformats.org/officeDocument/2006/relationships/image" Target="../media/image1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09" name="Text Box 21"/>
          <p:cNvSpPr txBox="1">
            <a:spLocks noChangeArrowheads="1"/>
          </p:cNvSpPr>
          <p:nvPr/>
        </p:nvSpPr>
        <p:spPr bwMode="auto">
          <a:xfrm>
            <a:off x="336550" y="1530350"/>
            <a:ext cx="2162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228600" indent="-228600">
              <a:buClr>
                <a:srgbClr val="FF8000"/>
              </a:buClr>
              <a:buFontTx/>
              <a:buChar char="•"/>
              <a:defRPr/>
            </a:pPr>
            <a:endParaRPr lang="zh-CN" altLang="zh-CN">
              <a:solidFill>
                <a:srgbClr val="4B4B4B"/>
              </a:solidFill>
              <a:ea typeface="宋体" charset="-122"/>
            </a:endParaRPr>
          </a:p>
        </p:txBody>
      </p:sp>
      <p:sp>
        <p:nvSpPr>
          <p:cNvPr id="3789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94450"/>
            <a:ext cx="5172075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solidFill>
                  <a:srgbClr val="FFFFFF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89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980363" y="6394450"/>
            <a:ext cx="901700" cy="26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solidFill>
                  <a:srgbClr val="4B4B4B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529DB386-1DBF-470A-B234-66285FCBBE4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8197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917575" y="506413"/>
            <a:ext cx="7369175" cy="836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8198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7575" y="1525588"/>
            <a:ext cx="7369175" cy="4570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18288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37907" name="Line 19"/>
          <p:cNvSpPr>
            <a:spLocks noChangeShapeType="1"/>
          </p:cNvSpPr>
          <p:nvPr/>
        </p:nvSpPr>
        <p:spPr bwMode="auto">
          <a:xfrm>
            <a:off x="917575" y="1365250"/>
            <a:ext cx="7369175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4B4B4B"/>
              </a:solidFill>
              <a:ea typeface="宋体" charset="-122"/>
            </a:endParaRPr>
          </a:p>
        </p:txBody>
      </p:sp>
      <p:grpSp>
        <p:nvGrpSpPr>
          <p:cNvPr id="8200" name="组合 15"/>
          <p:cNvGrpSpPr>
            <a:grpSpLocks/>
          </p:cNvGrpSpPr>
          <p:nvPr userDrawn="1"/>
        </p:nvGrpSpPr>
        <p:grpSpPr bwMode="auto">
          <a:xfrm>
            <a:off x="395288" y="6200775"/>
            <a:ext cx="2921000" cy="541338"/>
            <a:chOff x="4716016" y="5877352"/>
            <a:chExt cx="2920266" cy="540000"/>
          </a:xfrm>
        </p:grpSpPr>
        <p:pic>
          <p:nvPicPr>
            <p:cNvPr id="8201" name="Picture 3" descr="badge-logon"/>
            <p:cNvPicPr>
              <a:picLocks noChangeAspect="1" noChangeArrowheads="1"/>
            </p:cNvPicPr>
            <p:nvPr userDrawn="1"/>
          </p:nvPicPr>
          <p:blipFill>
            <a:blip r:embed="rId14"/>
            <a:srcRect/>
            <a:stretch>
              <a:fillRect/>
            </a:stretch>
          </p:blipFill>
          <p:spPr bwMode="auto">
            <a:xfrm>
              <a:off x="4716016" y="5877352"/>
              <a:ext cx="540000" cy="540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" name="TextBox 17"/>
            <p:cNvSpPr txBox="1"/>
            <p:nvPr userDrawn="1"/>
          </p:nvSpPr>
          <p:spPr>
            <a:xfrm>
              <a:off x="5292133" y="5970783"/>
              <a:ext cx="2344149" cy="33730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z="1600" dirty="0">
                  <a:latin typeface="Arial" pitchFamily="34" charset="0"/>
                </a:rPr>
                <a:t>计算机学院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94269" r:id="rId1"/>
    <p:sldLayoutId id="2147494179" r:id="rId2"/>
    <p:sldLayoutId id="2147494180" r:id="rId3"/>
    <p:sldLayoutId id="2147494181" r:id="rId4"/>
    <p:sldLayoutId id="2147494182" r:id="rId5"/>
    <p:sldLayoutId id="2147494183" r:id="rId6"/>
    <p:sldLayoutId id="2147494184" r:id="rId7"/>
    <p:sldLayoutId id="2147494185" r:id="rId8"/>
    <p:sldLayoutId id="2147494186" r:id="rId9"/>
    <p:sldLayoutId id="2147494187" r:id="rId10"/>
    <p:sldLayoutId id="2147494188" r:id="rId11"/>
    <p:sldLayoutId id="2147494270" r:id="rId12"/>
  </p:sldLayoutIdLst>
  <p:transition/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黑体" pitchFamily="49" charset="-122"/>
          <a:ea typeface="黑体" pitchFamily="49" charset="-122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lr>
          <a:schemeClr val="tx2"/>
        </a:buClr>
        <a:buChar char="•"/>
        <a:defRPr sz="2800" b="1">
          <a:solidFill>
            <a:schemeClr val="tx1"/>
          </a:solidFill>
          <a:latin typeface="黑体" pitchFamily="49" charset="-122"/>
          <a:ea typeface="黑体" pitchFamily="49" charset="-122"/>
          <a:cs typeface="+mn-cs"/>
        </a:defRPr>
      </a:lvl1pPr>
      <a:lvl2pPr marL="628650" indent="-285750" algn="l" rtl="0" eaLnBrk="0" fontAlgn="base" hangingPunct="0"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24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marL="914400" indent="-171450" algn="l" rtl="0" eaLnBrk="0" fontAlgn="base" hangingPunct="0">
        <a:spcBef>
          <a:spcPct val="25000"/>
        </a:spcBef>
        <a:spcAft>
          <a:spcPct val="0"/>
        </a:spcAft>
        <a:buClr>
          <a:schemeClr val="tx2"/>
        </a:buClr>
        <a:buChar char="•"/>
        <a:defRPr sz="20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marL="12573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–"/>
        <a:defRPr sz="16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marL="1485900" indent="-1143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14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1943100" indent="-1143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•"/>
        <a:defRPr sz="1400">
          <a:solidFill>
            <a:schemeClr val="tx1"/>
          </a:solidFill>
          <a:latin typeface="+mn-lt"/>
        </a:defRPr>
      </a:lvl6pPr>
      <a:lvl7pPr marL="2400300" indent="-1143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•"/>
        <a:defRPr sz="1400">
          <a:solidFill>
            <a:schemeClr val="tx1"/>
          </a:solidFill>
          <a:latin typeface="+mn-lt"/>
        </a:defRPr>
      </a:lvl7pPr>
      <a:lvl8pPr marL="2857500" indent="-1143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•"/>
        <a:defRPr sz="1400">
          <a:solidFill>
            <a:schemeClr val="tx1"/>
          </a:solidFill>
          <a:latin typeface="+mn-lt"/>
        </a:defRPr>
      </a:lvl8pPr>
      <a:lvl9pPr marL="3314700" indent="-1143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B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2"/>
          <p:cNvGrpSpPr>
            <a:grpSpLocks/>
          </p:cNvGrpSpPr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76163" name="Rectangle 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pic>
          <p:nvPicPr>
            <p:cNvPr id="9227" name="Picture 4" descr="TR_SlideLogo_BW600"/>
            <p:cNvPicPr>
              <a:picLocks noChangeAspect="1" noChangeArrowheads="1"/>
            </p:cNvPicPr>
            <p:nvPr userDrawn="1"/>
          </p:nvPicPr>
          <p:blipFill>
            <a:blip r:embed="rId14"/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</p:pic>
      </p:grpSp>
      <p:pic>
        <p:nvPicPr>
          <p:cNvPr id="9219" name="Picture 5" descr="hc_DividerBG_purple"/>
          <p:cNvPicPr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white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0" name="Picture 6" descr="hc_Divider_TransLogo"/>
          <p:cNvPicPr>
            <a:picLocks noChangeAspect="1" noChangeArrowheads="1"/>
          </p:cNvPicPr>
          <p:nvPr/>
        </p:nvPicPr>
        <p:blipFill>
          <a:blip r:embed="rId16"/>
          <a:srcRect/>
          <a:stretch>
            <a:fillRect/>
          </a:stretch>
        </p:blipFill>
        <p:spPr bwMode="black">
          <a:xfrm>
            <a:off x="384175" y="6324600"/>
            <a:ext cx="1630363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6169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24863" y="6394450"/>
            <a:ext cx="4572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A169108A-B13C-46DD-B108-ADB1B8A4841A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76171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94450"/>
            <a:ext cx="5172075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3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898525" y="519113"/>
            <a:ext cx="7388225" cy="811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9224" name="Rectangle 1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8525" y="1528763"/>
            <a:ext cx="7388225" cy="4570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18288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76175" name="Line 15"/>
          <p:cNvSpPr>
            <a:spLocks noChangeShapeType="1"/>
          </p:cNvSpPr>
          <p:nvPr/>
        </p:nvSpPr>
        <p:spPr bwMode="auto">
          <a:xfrm>
            <a:off x="898525" y="1368425"/>
            <a:ext cx="7388225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94271" r:id="rId1"/>
    <p:sldLayoutId id="2147494189" r:id="rId2"/>
    <p:sldLayoutId id="2147494190" r:id="rId3"/>
    <p:sldLayoutId id="2147494191" r:id="rId4"/>
    <p:sldLayoutId id="2147494192" r:id="rId5"/>
    <p:sldLayoutId id="2147494193" r:id="rId6"/>
    <p:sldLayoutId id="2147494194" r:id="rId7"/>
    <p:sldLayoutId id="2147494195" r:id="rId8"/>
    <p:sldLayoutId id="2147494196" r:id="rId9"/>
    <p:sldLayoutId id="2147494197" r:id="rId10"/>
    <p:sldLayoutId id="2147494198" r:id="rId11"/>
    <p:sldLayoutId id="2147494272" r:id="rId12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228600" indent="-228600" algn="l" defTabSz="800100" rtl="0" eaLnBrk="0" fontAlgn="base" hangingPunct="0">
        <a:spcBef>
          <a:spcPct val="5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28650" indent="-285750" algn="l" defTabSz="800100" rtl="0" eaLnBrk="0" fontAlgn="base" hangingPunct="0">
        <a:spcBef>
          <a:spcPct val="3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971550" indent="-228600" algn="l" defTabSz="800100" rtl="0" eaLnBrk="0" fontAlgn="base" hangingPunct="0">
        <a:spcBef>
          <a:spcPct val="25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314450" indent="-228600" algn="l" defTabSz="800100" rtl="0" eaLnBrk="0" fontAlgn="base" hangingPunct="0">
        <a:spcBef>
          <a:spcPct val="25000"/>
        </a:spcBef>
        <a:spcAft>
          <a:spcPct val="0"/>
        </a:spcAft>
        <a:buFont typeface="Arial" charset="0"/>
        <a:buChar char="–"/>
        <a:defRPr sz="1600">
          <a:solidFill>
            <a:schemeClr val="tx1"/>
          </a:solidFill>
          <a:latin typeface="+mn-lt"/>
        </a:defRPr>
      </a:lvl4pPr>
      <a:lvl5pPr marL="1600200" indent="-171450" algn="l" defTabSz="800100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2057400" indent="-171450" algn="l" defTabSz="800100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514600" indent="-171450" algn="l" defTabSz="800100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2971800" indent="-171450" algn="l" defTabSz="800100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429000" indent="-171450" algn="l" defTabSz="800100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B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2"/>
          <p:cNvGrpSpPr>
            <a:grpSpLocks/>
          </p:cNvGrpSpPr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78211" name="Rectangle 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pic>
          <p:nvPicPr>
            <p:cNvPr id="10250" name="Picture 4" descr="TR_SlideLogo_BW600"/>
            <p:cNvPicPr>
              <a:picLocks noChangeAspect="1" noChangeArrowheads="1"/>
            </p:cNvPicPr>
            <p:nvPr userDrawn="1"/>
          </p:nvPicPr>
          <p:blipFill>
            <a:blip r:embed="rId13"/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0243" name="Picture 5" descr="hc_DividerGraphBG_purple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ltGray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8216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24863" y="6400800"/>
            <a:ext cx="4572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E5AC26DE-6B31-4A4E-86C5-EB42A21EF802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78218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5172075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46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898525" y="519113"/>
            <a:ext cx="7388225" cy="804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47" name="Rectangle 1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8525" y="1528763"/>
            <a:ext cx="7388225" cy="4570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18288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78221" name="Line 13"/>
          <p:cNvSpPr>
            <a:spLocks noChangeShapeType="1"/>
          </p:cNvSpPr>
          <p:nvPr/>
        </p:nvSpPr>
        <p:spPr bwMode="auto">
          <a:xfrm>
            <a:off x="896938" y="1368425"/>
            <a:ext cx="7348537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94273" r:id="rId1"/>
    <p:sldLayoutId id="2147494199" r:id="rId2"/>
    <p:sldLayoutId id="2147494200" r:id="rId3"/>
    <p:sldLayoutId id="2147494201" r:id="rId4"/>
    <p:sldLayoutId id="2147494202" r:id="rId5"/>
    <p:sldLayoutId id="2147494203" r:id="rId6"/>
    <p:sldLayoutId id="2147494204" r:id="rId7"/>
    <p:sldLayoutId id="2147494205" r:id="rId8"/>
    <p:sldLayoutId id="2147494206" r:id="rId9"/>
    <p:sldLayoutId id="2147494207" r:id="rId10"/>
    <p:sldLayoutId id="2147494208" r:id="rId11"/>
  </p:sldLayoutIdLst>
  <p:hf hdr="0" ftr="0" dt="0"/>
  <p:txStyles>
    <p:titleStyle>
      <a:lvl1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228600" algn="l" rtl="0" eaLnBrk="0" fontAlgn="base" hangingPunct="0">
        <a:spcBef>
          <a:spcPct val="3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857250" indent="-171450" algn="l" rtl="0" eaLnBrk="0" fontAlgn="base" hangingPunct="0">
        <a:spcBef>
          <a:spcPct val="25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14300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>
          <a:solidFill>
            <a:schemeClr val="tx1"/>
          </a:solidFill>
          <a:latin typeface="+mn-lt"/>
        </a:defRPr>
      </a:lvl4pPr>
      <a:lvl5pPr marL="14859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19431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4003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28575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3147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B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oup 2"/>
          <p:cNvGrpSpPr>
            <a:grpSpLocks/>
          </p:cNvGrpSpPr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80259" name="Rectangle 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pic>
          <p:nvPicPr>
            <p:cNvPr id="11275" name="Picture 4" descr="TR_SlideLogo_BW600"/>
            <p:cNvPicPr>
              <a:picLocks noChangeAspect="1" noChangeArrowheads="1"/>
            </p:cNvPicPr>
            <p:nvPr userDrawn="1"/>
          </p:nvPicPr>
          <p:blipFill>
            <a:blip r:embed="rId13"/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1267" name="Picture 12" descr="hc_DividerBG_Wgrey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white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026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24863" y="6394450"/>
            <a:ext cx="4572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3ACA4D55-8C36-41A7-8638-AAEF5FAD8D63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1126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898525" y="519113"/>
            <a:ext cx="7388225" cy="817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127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8525" y="1528763"/>
            <a:ext cx="7388225" cy="45704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18288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80272" name="Line 16"/>
          <p:cNvSpPr>
            <a:spLocks noChangeShapeType="1"/>
          </p:cNvSpPr>
          <p:nvPr/>
        </p:nvSpPr>
        <p:spPr bwMode="auto">
          <a:xfrm flipV="1">
            <a:off x="898525" y="1368425"/>
            <a:ext cx="7388225" cy="3175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pic>
        <p:nvPicPr>
          <p:cNvPr id="11272" name="Picture 6" descr="hc_Divider_TransLogo"/>
          <p:cNvPicPr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black">
          <a:xfrm>
            <a:off x="384175" y="6324600"/>
            <a:ext cx="1630363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0279" name="Rectangle 2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97625"/>
            <a:ext cx="5172075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94274" r:id="rId1"/>
    <p:sldLayoutId id="2147494209" r:id="rId2"/>
    <p:sldLayoutId id="2147494210" r:id="rId3"/>
    <p:sldLayoutId id="2147494211" r:id="rId4"/>
    <p:sldLayoutId id="2147494212" r:id="rId5"/>
    <p:sldLayoutId id="2147494213" r:id="rId6"/>
    <p:sldLayoutId id="2147494214" r:id="rId7"/>
    <p:sldLayoutId id="2147494215" r:id="rId8"/>
    <p:sldLayoutId id="2147494216" r:id="rId9"/>
    <p:sldLayoutId id="2147494217" r:id="rId10"/>
    <p:sldLayoutId id="2147494218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228600" algn="l" rtl="0" eaLnBrk="0" fontAlgn="base" hangingPunct="0">
        <a:spcBef>
          <a:spcPct val="3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857250" indent="-171450" algn="l" rtl="0" eaLnBrk="0" fontAlgn="base" hangingPunct="0">
        <a:spcBef>
          <a:spcPct val="25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14300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>
          <a:solidFill>
            <a:schemeClr val="tx1"/>
          </a:solidFill>
          <a:latin typeface="+mn-lt"/>
        </a:defRPr>
      </a:lvl4pPr>
      <a:lvl5pPr marL="14859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19431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4003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28575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3147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B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2"/>
          <p:cNvGrpSpPr>
            <a:grpSpLocks/>
          </p:cNvGrpSpPr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82307" name="Rectangle 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pic>
          <p:nvPicPr>
            <p:cNvPr id="12298" name="Picture 4" descr="TR_SlideLogo_BW600"/>
            <p:cNvPicPr>
              <a:picLocks noChangeAspect="1" noChangeArrowheads="1"/>
            </p:cNvPicPr>
            <p:nvPr userDrawn="1"/>
          </p:nvPicPr>
          <p:blipFill>
            <a:blip r:embed="rId13"/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2291" name="Picture 11" descr="hc_DividerGraphBG_Wgrey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ltGray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23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24863" y="6400800"/>
            <a:ext cx="4572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3A3B46E2-58A8-4A8E-990E-9CDC32561E61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12293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898525" y="493713"/>
            <a:ext cx="7388225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2294" name="Rectangle 1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8525" y="1528763"/>
            <a:ext cx="7388225" cy="45704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18288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82318" name="Line 14"/>
          <p:cNvSpPr>
            <a:spLocks noChangeShapeType="1"/>
          </p:cNvSpPr>
          <p:nvPr/>
        </p:nvSpPr>
        <p:spPr bwMode="auto">
          <a:xfrm>
            <a:off x="898525" y="1368425"/>
            <a:ext cx="7388225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sp>
        <p:nvSpPr>
          <p:cNvPr id="482319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94450"/>
            <a:ext cx="5172075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94275" r:id="rId1"/>
    <p:sldLayoutId id="2147494219" r:id="rId2"/>
    <p:sldLayoutId id="2147494220" r:id="rId3"/>
    <p:sldLayoutId id="2147494221" r:id="rId4"/>
    <p:sldLayoutId id="2147494222" r:id="rId5"/>
    <p:sldLayoutId id="2147494223" r:id="rId6"/>
    <p:sldLayoutId id="2147494224" r:id="rId7"/>
    <p:sldLayoutId id="2147494225" r:id="rId8"/>
    <p:sldLayoutId id="2147494226" r:id="rId9"/>
    <p:sldLayoutId id="2147494227" r:id="rId10"/>
    <p:sldLayoutId id="2147494228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228600" algn="l" rtl="0" eaLnBrk="0" fontAlgn="base" hangingPunct="0">
        <a:spcBef>
          <a:spcPct val="3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857250" indent="-171450" algn="l" rtl="0" eaLnBrk="0" fontAlgn="base" hangingPunct="0">
        <a:spcBef>
          <a:spcPct val="25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14300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>
          <a:solidFill>
            <a:schemeClr val="tx1"/>
          </a:solidFill>
          <a:latin typeface="+mn-lt"/>
        </a:defRPr>
      </a:lvl4pPr>
      <a:lvl5pPr marL="14859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19431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4003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28575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3147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B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12" descr="hc_DividerBG_Cgrey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hidden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5" name="Picture 6" descr="hc_Divider_TransLogo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black">
          <a:xfrm>
            <a:off x="384175" y="6324600"/>
            <a:ext cx="1630363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4361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24863" y="6394450"/>
            <a:ext cx="4572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2B3576CA-0CB9-46D6-84C3-2BDF9A9C958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84363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94450"/>
            <a:ext cx="5172075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8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898525" y="487363"/>
            <a:ext cx="7388225" cy="842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3319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8525" y="1516063"/>
            <a:ext cx="7388225" cy="45704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18288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84368" name="Line 16"/>
          <p:cNvSpPr>
            <a:spLocks noChangeShapeType="1"/>
          </p:cNvSpPr>
          <p:nvPr/>
        </p:nvSpPr>
        <p:spPr bwMode="auto">
          <a:xfrm>
            <a:off x="898525" y="1368425"/>
            <a:ext cx="7388225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94276" r:id="rId1"/>
    <p:sldLayoutId id="2147494229" r:id="rId2"/>
    <p:sldLayoutId id="2147494230" r:id="rId3"/>
    <p:sldLayoutId id="2147494231" r:id="rId4"/>
    <p:sldLayoutId id="2147494232" r:id="rId5"/>
    <p:sldLayoutId id="2147494233" r:id="rId6"/>
    <p:sldLayoutId id="2147494234" r:id="rId7"/>
    <p:sldLayoutId id="2147494235" r:id="rId8"/>
    <p:sldLayoutId id="2147494236" r:id="rId9"/>
    <p:sldLayoutId id="2147494237" r:id="rId10"/>
    <p:sldLayoutId id="2147494238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228600" algn="l" rtl="0" eaLnBrk="0" fontAlgn="base" hangingPunct="0">
        <a:spcBef>
          <a:spcPct val="3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857250" indent="-171450" algn="l" rtl="0" eaLnBrk="0" fontAlgn="base" hangingPunct="0">
        <a:spcBef>
          <a:spcPct val="25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14300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>
          <a:solidFill>
            <a:schemeClr val="tx1"/>
          </a:solidFill>
          <a:latin typeface="+mn-lt"/>
        </a:defRPr>
      </a:lvl4pPr>
      <a:lvl5pPr marL="14859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19431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4003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28575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3147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B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Group 2"/>
          <p:cNvGrpSpPr>
            <a:grpSpLocks/>
          </p:cNvGrpSpPr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86403" name="Rectangle 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pic>
          <p:nvPicPr>
            <p:cNvPr id="14346" name="Picture 4" descr="TR_SlideLogo_BW600"/>
            <p:cNvPicPr>
              <a:picLocks noChangeAspect="1" noChangeArrowheads="1"/>
            </p:cNvPicPr>
            <p:nvPr userDrawn="1"/>
          </p:nvPicPr>
          <p:blipFill>
            <a:blip r:embed="rId13"/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4339" name="Picture 11" descr="hc_DividerGraphBG_Cgrey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ltGray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640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24863" y="6400800"/>
            <a:ext cx="4572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27EC004B-640A-4AFB-A7CC-31D336E3043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14341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898525" y="500063"/>
            <a:ext cx="7388225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4342" name="Rectangle 1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8525" y="1528763"/>
            <a:ext cx="7388225" cy="45704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18288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86414" name="Line 14"/>
          <p:cNvSpPr>
            <a:spLocks noChangeShapeType="1"/>
          </p:cNvSpPr>
          <p:nvPr/>
        </p:nvSpPr>
        <p:spPr bwMode="auto">
          <a:xfrm>
            <a:off x="896938" y="1368425"/>
            <a:ext cx="7348537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sp>
        <p:nvSpPr>
          <p:cNvPr id="486415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97625"/>
            <a:ext cx="5172075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94277" r:id="rId1"/>
    <p:sldLayoutId id="2147494239" r:id="rId2"/>
    <p:sldLayoutId id="2147494240" r:id="rId3"/>
    <p:sldLayoutId id="2147494241" r:id="rId4"/>
    <p:sldLayoutId id="2147494242" r:id="rId5"/>
    <p:sldLayoutId id="2147494243" r:id="rId6"/>
    <p:sldLayoutId id="2147494244" r:id="rId7"/>
    <p:sldLayoutId id="2147494245" r:id="rId8"/>
    <p:sldLayoutId id="2147494246" r:id="rId9"/>
    <p:sldLayoutId id="2147494247" r:id="rId10"/>
    <p:sldLayoutId id="2147494248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228600" algn="l" rtl="0" eaLnBrk="0" fontAlgn="base" hangingPunct="0">
        <a:spcBef>
          <a:spcPct val="3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857250" indent="-171450" algn="l" rtl="0" eaLnBrk="0" fontAlgn="base" hangingPunct="0">
        <a:spcBef>
          <a:spcPct val="25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14300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>
          <a:solidFill>
            <a:schemeClr val="tx1"/>
          </a:solidFill>
          <a:latin typeface="+mn-lt"/>
        </a:defRPr>
      </a:lvl4pPr>
      <a:lvl5pPr marL="14859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19431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4003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28575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3147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B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16" descr="hc_DividerGraphBG_blue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ltGray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4217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24863" y="6400800"/>
            <a:ext cx="4572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solidFill>
                  <a:srgbClr val="FFFFFF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40532C0E-76B8-4922-9974-84869AD132C0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94221" name="Rectangle 1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5172075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solidFill>
                  <a:srgbClr val="FFFFFF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365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898525" y="519113"/>
            <a:ext cx="7388225" cy="79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5366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8525" y="1528763"/>
            <a:ext cx="7388225" cy="4570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18288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94227" name="Line 19"/>
          <p:cNvSpPr>
            <a:spLocks noChangeShapeType="1"/>
          </p:cNvSpPr>
          <p:nvPr/>
        </p:nvSpPr>
        <p:spPr bwMode="auto">
          <a:xfrm>
            <a:off x="898525" y="1368425"/>
            <a:ext cx="7388225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FFFFFF"/>
              </a:solidFill>
              <a:ea typeface="宋体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94278" r:id="rId1"/>
    <p:sldLayoutId id="2147494249" r:id="rId2"/>
    <p:sldLayoutId id="2147494250" r:id="rId3"/>
    <p:sldLayoutId id="2147494251" r:id="rId4"/>
    <p:sldLayoutId id="2147494252" r:id="rId5"/>
    <p:sldLayoutId id="2147494253" r:id="rId6"/>
    <p:sldLayoutId id="2147494254" r:id="rId7"/>
    <p:sldLayoutId id="2147494255" r:id="rId8"/>
    <p:sldLayoutId id="2147494256" r:id="rId9"/>
    <p:sldLayoutId id="2147494257" r:id="rId10"/>
    <p:sldLayoutId id="2147494258" r:id="rId11"/>
  </p:sldLayoutIdLst>
  <p:hf hdr="0" ftr="0" dt="0"/>
  <p:txStyles>
    <p:titleStyle>
      <a:lvl1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28650" indent="-285750" algn="l" rtl="0" eaLnBrk="0" fontAlgn="base" hangingPunct="0">
        <a:spcBef>
          <a:spcPct val="3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971550" indent="-228600" algn="l" rtl="0" eaLnBrk="0" fontAlgn="base" hangingPunct="0">
        <a:spcBef>
          <a:spcPct val="25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25730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>
          <a:solidFill>
            <a:schemeClr val="tx1"/>
          </a:solidFill>
          <a:latin typeface="+mn-lt"/>
        </a:defRPr>
      </a:lvl4pPr>
      <a:lvl5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400">
          <a:solidFill>
            <a:schemeClr val="tx1"/>
          </a:solidFill>
          <a:latin typeface="+mn-lt"/>
        </a:defRPr>
      </a:lvl5pPr>
      <a:lvl6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400">
          <a:solidFill>
            <a:schemeClr val="tx1"/>
          </a:solidFill>
          <a:latin typeface="+mn-lt"/>
        </a:defRPr>
      </a:lvl6pPr>
      <a:lvl7pPr marL="25146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400">
          <a:solidFill>
            <a:schemeClr val="tx1"/>
          </a:solidFill>
          <a:latin typeface="+mn-lt"/>
        </a:defRPr>
      </a:lvl7pPr>
      <a:lvl8pPr marL="29718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400">
          <a:solidFill>
            <a:schemeClr val="tx1"/>
          </a:solidFill>
          <a:latin typeface="+mn-lt"/>
        </a:defRPr>
      </a:lvl8pPr>
      <a:lvl9pPr marL="3429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B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Group 18"/>
          <p:cNvGrpSpPr>
            <a:grpSpLocks/>
          </p:cNvGrpSpPr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0973" name="Rectangle 1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FFFFFF"/>
                </a:solidFill>
                <a:ea typeface="宋体" charset="-122"/>
              </a:endParaRPr>
            </a:p>
          </p:txBody>
        </p:sp>
        <p:pic>
          <p:nvPicPr>
            <p:cNvPr id="16395" name="Picture 10" descr="TR_SlideLogo_BW600"/>
            <p:cNvPicPr>
              <a:picLocks noChangeAspect="1" noChangeArrowheads="1"/>
            </p:cNvPicPr>
            <p:nvPr userDrawn="1"/>
          </p:nvPicPr>
          <p:blipFill>
            <a:blip r:embed="rId13"/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6387" name="Picture 22" descr="hc_DividerBG_blue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white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88" name="Picture 17" descr="hc_Divider_TransLogo"/>
          <p:cNvPicPr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black">
          <a:xfrm>
            <a:off x="384175" y="6324600"/>
            <a:ext cx="1630363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8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898525" y="512763"/>
            <a:ext cx="7388225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639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8525" y="1528763"/>
            <a:ext cx="7388225" cy="4570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18288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096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24863" y="6394450"/>
            <a:ext cx="4572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solidFill>
                  <a:srgbClr val="FFFFFF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D313BF95-F057-4D70-BA5F-7600FBDCA86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0980" name="Rectangle 2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94450"/>
            <a:ext cx="5172075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solidFill>
                  <a:srgbClr val="FFFFFF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86" name="Line 26"/>
          <p:cNvSpPr>
            <a:spLocks noChangeShapeType="1"/>
          </p:cNvSpPr>
          <p:nvPr/>
        </p:nvSpPr>
        <p:spPr bwMode="auto">
          <a:xfrm>
            <a:off x="898525" y="1368425"/>
            <a:ext cx="7388225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FFFFFF"/>
              </a:solidFill>
              <a:ea typeface="宋体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94279" r:id="rId1"/>
    <p:sldLayoutId id="2147494259" r:id="rId2"/>
    <p:sldLayoutId id="2147494260" r:id="rId3"/>
    <p:sldLayoutId id="2147494261" r:id="rId4"/>
    <p:sldLayoutId id="2147494262" r:id="rId5"/>
    <p:sldLayoutId id="2147494263" r:id="rId6"/>
    <p:sldLayoutId id="2147494264" r:id="rId7"/>
    <p:sldLayoutId id="2147494265" r:id="rId8"/>
    <p:sldLayoutId id="2147494266" r:id="rId9"/>
    <p:sldLayoutId id="2147494267" r:id="rId10"/>
    <p:sldLayoutId id="2147494268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28650" indent="-285750" algn="l" rtl="0" eaLnBrk="0" fontAlgn="base" hangingPunct="0">
        <a:spcBef>
          <a:spcPct val="3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971550" indent="-228600" algn="l" rtl="0" eaLnBrk="0" fontAlgn="base" hangingPunct="0">
        <a:spcBef>
          <a:spcPct val="25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314450" indent="-228600" algn="l" rtl="0" eaLnBrk="0" fontAlgn="base" hangingPunct="0">
        <a:spcBef>
          <a:spcPct val="25000"/>
        </a:spcBef>
        <a:spcAft>
          <a:spcPct val="0"/>
        </a:spcAft>
        <a:buFont typeface="Arial" charset="0"/>
        <a:buChar char="–"/>
        <a:defRPr sz="1600">
          <a:solidFill>
            <a:schemeClr val="tx1"/>
          </a:solidFill>
          <a:latin typeface="+mn-lt"/>
        </a:defRPr>
      </a:lvl4pPr>
      <a:lvl5pPr marL="1600200" indent="-17145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2057400" indent="-17145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514600" indent="-17145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2971800" indent="-17145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429000" indent="-17145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7" Type="http://schemas.openxmlformats.org/officeDocument/2006/relationships/image" Target="../media/image35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34.wmf"/><Relationship Id="rId4" Type="http://schemas.openxmlformats.org/officeDocument/2006/relationships/oleObject" Target="../embeddings/oleObject7.bin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>
                <a:ea typeface="宋体" pitchFamily="2" charset="-122"/>
              </a:rPr>
              <a:t>第</a:t>
            </a:r>
            <a:r>
              <a:rPr lang="en-US" altLang="zh-CN">
                <a:ea typeface="宋体" pitchFamily="2" charset="-122"/>
              </a:rPr>
              <a:t>2-3</a:t>
            </a:r>
            <a:r>
              <a:rPr lang="zh-CN" altLang="en-US">
                <a:ea typeface="宋体" pitchFamily="2" charset="-122"/>
              </a:rPr>
              <a:t>章  程序性能与渐进分析</a:t>
            </a:r>
          </a:p>
        </p:txBody>
      </p:sp>
      <p:sp>
        <p:nvSpPr>
          <p:cNvPr id="28675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----</a:t>
            </a:r>
            <a:r>
              <a:rPr lang="zh-CN" altLang="en-US">
                <a:ea typeface="宋体" pitchFamily="2" charset="-122"/>
              </a:rPr>
              <a:t>精打细算：于微小处论得失</a:t>
            </a:r>
          </a:p>
        </p:txBody>
      </p:sp>
      <p:sp>
        <p:nvSpPr>
          <p:cNvPr id="28676" name="AutoShape 5" descr="https://wx.qq.com/cgi-bin/mmwebwx-bin/webwxgetmsgimg?&amp;MsgID=1733771251479778165&amp;skey=%40crypt_f84fdbfd_aa9b3f8a55afdf7884fc67b45b60eafc"/>
          <p:cNvSpPr>
            <a:spLocks noChangeAspect="1" noChangeArrowheads="1"/>
          </p:cNvSpPr>
          <p:nvPr/>
        </p:nvSpPr>
        <p:spPr bwMode="auto">
          <a:xfrm>
            <a:off x="63500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677" name="AutoShape 7" descr="https://wx.qq.com/cgi-bin/mmwebwx-bin/webwxgetmsgimg?&amp;MsgID=1733771251479778165&amp;skey=%40crypt_f84fdbfd_aa9b3f8a55afdf7884fc67b45b60eafc"/>
          <p:cNvSpPr>
            <a:spLocks noChangeAspect="1" noChangeArrowheads="1"/>
          </p:cNvSpPr>
          <p:nvPr/>
        </p:nvSpPr>
        <p:spPr bwMode="auto">
          <a:xfrm>
            <a:off x="63500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回顾</a:t>
            </a:r>
          </a:p>
        </p:txBody>
      </p:sp>
      <p:sp>
        <p:nvSpPr>
          <p:cNvPr id="2969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拷贝构造函数</a:t>
            </a:r>
            <a:endParaRPr lang="en-US" altLang="zh-CN"/>
          </a:p>
          <a:p>
            <a:pPr lvl="1"/>
            <a:r>
              <a:rPr lang="en-US" altLang="zh-CN"/>
              <a:t>&lt;</a:t>
            </a:r>
            <a:r>
              <a:rPr lang="zh-CN" altLang="en-US"/>
              <a:t>类名</a:t>
            </a:r>
            <a:r>
              <a:rPr lang="en-US" altLang="zh-CN"/>
              <a:t>&gt; (</a:t>
            </a:r>
            <a:r>
              <a:rPr lang="zh-CN" altLang="en-US"/>
              <a:t>类名 </a:t>
            </a:r>
            <a:r>
              <a:rPr lang="en-US" altLang="zh-CN"/>
              <a:t>&amp;);</a:t>
            </a:r>
          </a:p>
          <a:p>
            <a:r>
              <a:rPr lang="zh-CN" altLang="en-US"/>
              <a:t>递归函数</a:t>
            </a:r>
            <a:endParaRPr lang="en-US" altLang="zh-CN"/>
          </a:p>
          <a:p>
            <a:pPr lvl="1"/>
            <a:r>
              <a:rPr lang="zh-CN" altLang="en-US"/>
              <a:t>寻找“递归规律”和“终止状态”</a:t>
            </a:r>
            <a:endParaRPr lang="en-US" altLang="zh-CN"/>
          </a:p>
          <a:p>
            <a:r>
              <a:rPr lang="zh-CN" altLang="en-US"/>
              <a:t>程序测试</a:t>
            </a:r>
            <a:endParaRPr lang="en-US" altLang="zh-CN"/>
          </a:p>
          <a:p>
            <a:pPr lvl="1"/>
            <a:r>
              <a:rPr lang="zh-CN" altLang="en-US"/>
              <a:t>黑盒测试：从输入输出和程序功能出发</a:t>
            </a:r>
            <a:endParaRPr lang="en-US" altLang="zh-CN"/>
          </a:p>
          <a:p>
            <a:pPr lvl="2"/>
            <a:r>
              <a:rPr lang="zh-CN" altLang="en-US"/>
              <a:t>等价类划分</a:t>
            </a:r>
            <a:endParaRPr lang="en-US" altLang="zh-CN"/>
          </a:p>
          <a:p>
            <a:pPr lvl="1"/>
            <a:r>
              <a:rPr lang="zh-CN" altLang="en-US"/>
              <a:t>白盒测试：从代码出发</a:t>
            </a:r>
            <a:endParaRPr lang="en-US" altLang="zh-CN"/>
          </a:p>
          <a:p>
            <a:pPr lvl="2"/>
            <a:r>
              <a:rPr lang="zh-CN" altLang="en-US"/>
              <a:t>语句覆盖、分支覆盖、从句覆盖、执行路径覆盖</a:t>
            </a:r>
          </a:p>
        </p:txBody>
      </p:sp>
      <p:sp>
        <p:nvSpPr>
          <p:cNvPr id="2970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8E9116C-086A-431D-8586-EC1F24ACC9AF}" type="slidenum">
              <a:rPr lang="en-US" altLang="en-US" smtClean="0">
                <a:ea typeface="宋体" pitchFamily="2" charset="-122"/>
              </a:rPr>
              <a:pPr/>
              <a:t>2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程序测试示例</a:t>
            </a:r>
          </a:p>
        </p:txBody>
      </p:sp>
      <p:sp>
        <p:nvSpPr>
          <p:cNvPr id="3072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题目：一个程序读入</a:t>
            </a:r>
            <a:r>
              <a:rPr lang="en-US" altLang="zh-CN"/>
              <a:t>3</a:t>
            </a:r>
            <a:r>
              <a:rPr lang="zh-CN" altLang="en-US"/>
              <a:t>个整数作为三角形的</a:t>
            </a:r>
            <a:r>
              <a:rPr lang="en-US" altLang="zh-CN"/>
              <a:t>3</a:t>
            </a:r>
            <a:r>
              <a:rPr lang="zh-CN" altLang="en-US"/>
              <a:t>条边，请输出信息，说明这个三角形是等边三角形？还是一般三角形？</a:t>
            </a:r>
            <a:endParaRPr lang="en-US" altLang="zh-CN"/>
          </a:p>
          <a:p>
            <a:r>
              <a:rPr lang="zh-CN" altLang="en-US"/>
              <a:t>如果别人写了一段程序完成上述题目，要求你来检查是否正确 </a:t>
            </a:r>
            <a:r>
              <a:rPr lang="en-US" altLang="zh-CN"/>
              <a:t>… …</a:t>
            </a:r>
            <a:r>
              <a:rPr lang="zh-CN" altLang="en-US"/>
              <a:t> 此时，</a:t>
            </a:r>
            <a:endParaRPr lang="en-US" altLang="zh-CN"/>
          </a:p>
          <a:p>
            <a:pPr lvl="1"/>
            <a:r>
              <a:rPr lang="zh-CN" altLang="en-US"/>
              <a:t>你不了解他的实现细节，只能</a:t>
            </a:r>
            <a:r>
              <a:rPr lang="zh-CN" altLang="en-US">
                <a:solidFill>
                  <a:srgbClr val="FF0000"/>
                </a:solidFill>
              </a:rPr>
              <a:t>黑盒测试</a:t>
            </a:r>
            <a:endParaRPr lang="en-US" altLang="zh-CN">
              <a:solidFill>
                <a:srgbClr val="FF0000"/>
              </a:solidFill>
            </a:endParaRPr>
          </a:p>
          <a:p>
            <a:pPr lvl="1"/>
            <a:r>
              <a:rPr lang="zh-CN" altLang="en-US"/>
              <a:t>显然可能的类别应有</a:t>
            </a:r>
            <a:r>
              <a:rPr lang="en-US" altLang="zh-CN"/>
              <a:t>3</a:t>
            </a:r>
            <a:r>
              <a:rPr lang="zh-CN" altLang="en-US"/>
              <a:t>个：等边三角形、一般三角形、不是三角形</a:t>
            </a:r>
            <a:endParaRPr lang="en-US" altLang="zh-CN"/>
          </a:p>
          <a:p>
            <a:pPr lvl="1"/>
            <a:r>
              <a:rPr lang="zh-CN" altLang="en-US"/>
              <a:t>因此你至少要设计</a:t>
            </a:r>
            <a:r>
              <a:rPr lang="en-US" altLang="zh-CN"/>
              <a:t>3</a:t>
            </a:r>
            <a:r>
              <a:rPr lang="zh-CN" altLang="en-US"/>
              <a:t>个测试用例：</a:t>
            </a:r>
            <a:r>
              <a:rPr lang="en-US" altLang="zh-CN"/>
              <a:t>(2,2,2),(3,4,5),(1,2,9)</a:t>
            </a:r>
            <a:endParaRPr lang="zh-CN" altLang="en-US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5F9DE7D-1D7A-48FD-BDCE-172556F346CD}" type="slidenum">
              <a:rPr lang="en-US" altLang="en-US" smtClean="0">
                <a:ea typeface="宋体" pitchFamily="2" charset="-122"/>
              </a:rPr>
              <a:pPr/>
              <a:t>3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程序测试示例</a:t>
            </a:r>
          </a:p>
        </p:txBody>
      </p:sp>
      <p:sp>
        <p:nvSpPr>
          <p:cNvPr id="3174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如果你自己写程序解决了上述题目，想检查一下是否存在错误 </a:t>
            </a:r>
            <a:r>
              <a:rPr lang="en-US" altLang="zh-CN"/>
              <a:t>… … </a:t>
            </a:r>
            <a:r>
              <a:rPr lang="zh-CN" altLang="en-US"/>
              <a:t>此时，</a:t>
            </a:r>
            <a:endParaRPr lang="en-US" altLang="zh-CN"/>
          </a:p>
          <a:p>
            <a:pPr lvl="1"/>
            <a:r>
              <a:rPr lang="zh-CN" altLang="en-US"/>
              <a:t>你了解实现细节，可以</a:t>
            </a:r>
            <a:r>
              <a:rPr lang="zh-CN" altLang="en-US">
                <a:solidFill>
                  <a:srgbClr val="FF0000"/>
                </a:solidFill>
              </a:rPr>
              <a:t>黑盒测试</a:t>
            </a:r>
            <a:r>
              <a:rPr lang="zh-CN" altLang="en-US"/>
              <a:t>或</a:t>
            </a:r>
            <a:r>
              <a:rPr lang="zh-CN" altLang="en-US">
                <a:solidFill>
                  <a:srgbClr val="FF0000"/>
                </a:solidFill>
              </a:rPr>
              <a:t>白盒测试</a:t>
            </a:r>
            <a:endParaRPr lang="en-US" altLang="zh-CN">
              <a:solidFill>
                <a:srgbClr val="FF0000"/>
              </a:solidFill>
            </a:endParaRPr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最好先绘制流程图</a:t>
            </a:r>
            <a:endParaRPr lang="en-US" altLang="zh-CN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altLang="zh-CN" sz="1600"/>
              <a:t>L1</a:t>
            </a:r>
            <a:r>
              <a:rPr lang="zh-CN" altLang="en-US" sz="1600"/>
              <a:t>：</a:t>
            </a:r>
            <a:r>
              <a:rPr lang="en-US" altLang="zh-CN" sz="1600"/>
              <a:t>  int a,b,c;	cin&gt;&gt;a&gt;&gt;b&gt;&gt;c;</a:t>
            </a:r>
          </a:p>
          <a:p>
            <a:pPr>
              <a:buFontTx/>
              <a:buNone/>
            </a:pPr>
            <a:r>
              <a:rPr lang="en-US" altLang="zh-CN" sz="1600"/>
              <a:t>L2</a:t>
            </a:r>
            <a:r>
              <a:rPr lang="zh-CN" altLang="en-US" sz="1600"/>
              <a:t>：  </a:t>
            </a:r>
            <a:r>
              <a:rPr lang="en-US" altLang="zh-CN" sz="1600"/>
              <a:t>if(a&lt;=0||b&lt;=0||c&lt;=0||a+b&lt;=c||a+c&lt;=b||b+c&lt;=a)</a:t>
            </a:r>
          </a:p>
          <a:p>
            <a:pPr>
              <a:buFontTx/>
              <a:buNone/>
            </a:pPr>
            <a:r>
              <a:rPr lang="en-US" altLang="zh-CN" sz="1600"/>
              <a:t>L3:    	cout&lt;&lt;"</a:t>
            </a:r>
            <a:r>
              <a:rPr lang="zh-CN" altLang="en-US" sz="1600"/>
              <a:t>不是三角形</a:t>
            </a:r>
            <a:r>
              <a:rPr lang="en-US" altLang="zh-CN" sz="1600"/>
              <a:t>“;</a:t>
            </a:r>
          </a:p>
          <a:p>
            <a:pPr>
              <a:buFontTx/>
              <a:buNone/>
            </a:pPr>
            <a:r>
              <a:rPr lang="en-US" altLang="zh-CN" sz="1600"/>
              <a:t>L4</a:t>
            </a:r>
            <a:r>
              <a:rPr lang="zh-CN" altLang="en-US" sz="1600"/>
              <a:t>：   </a:t>
            </a:r>
            <a:r>
              <a:rPr lang="en-US" altLang="zh-CN" sz="1600"/>
              <a:t>else if(a==b&amp;&amp;b==c)</a:t>
            </a:r>
          </a:p>
          <a:p>
            <a:pPr>
              <a:buFontTx/>
              <a:buNone/>
            </a:pPr>
            <a:r>
              <a:rPr lang="en-US" altLang="zh-CN" sz="1600"/>
              <a:t>L5</a:t>
            </a:r>
            <a:r>
              <a:rPr lang="zh-CN" altLang="en-US" sz="1600"/>
              <a:t>：</a:t>
            </a:r>
            <a:r>
              <a:rPr lang="en-US" altLang="zh-CN" sz="1600"/>
              <a:t>	cout&lt;&lt;"</a:t>
            </a:r>
            <a:r>
              <a:rPr lang="zh-CN" altLang="en-US" sz="1600"/>
              <a:t>等边三角形</a:t>
            </a:r>
            <a:r>
              <a:rPr lang="en-US" altLang="zh-CN" sz="1600"/>
              <a:t>";</a:t>
            </a:r>
          </a:p>
          <a:p>
            <a:pPr>
              <a:buFontTx/>
              <a:buNone/>
            </a:pPr>
            <a:r>
              <a:rPr lang="en-US" altLang="zh-CN" sz="1600"/>
              <a:t>L6</a:t>
            </a:r>
            <a:r>
              <a:rPr lang="zh-CN" altLang="en-US" sz="1600"/>
              <a:t>：   </a:t>
            </a:r>
            <a:r>
              <a:rPr lang="en-US" altLang="zh-CN" sz="1600"/>
              <a:t>else</a:t>
            </a:r>
          </a:p>
          <a:p>
            <a:pPr>
              <a:buFontTx/>
              <a:buNone/>
            </a:pPr>
            <a:r>
              <a:rPr lang="en-US" altLang="zh-CN" sz="1600"/>
              <a:t>L7</a:t>
            </a:r>
            <a:r>
              <a:rPr lang="zh-CN" altLang="en-US" sz="1600"/>
              <a:t>：</a:t>
            </a:r>
            <a:r>
              <a:rPr lang="en-US" altLang="zh-CN" sz="1600"/>
              <a:t>	cout&lt;&lt;"</a:t>
            </a:r>
            <a:r>
              <a:rPr lang="zh-CN" altLang="en-US" sz="1600"/>
              <a:t>一般三角形</a:t>
            </a:r>
            <a:r>
              <a:rPr lang="en-US" altLang="zh-CN" sz="1600"/>
              <a:t>“;</a:t>
            </a:r>
            <a:endParaRPr lang="zh-CN" altLang="en-US" sz="1600">
              <a:solidFill>
                <a:srgbClr val="FF0000"/>
              </a:solidFill>
            </a:endParaRPr>
          </a:p>
        </p:txBody>
      </p:sp>
      <p:sp>
        <p:nvSpPr>
          <p:cNvPr id="3174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88069DC-27FE-4B53-81AF-A8AF2E2C15A4}" type="slidenum">
              <a:rPr lang="en-US" altLang="en-US" smtClean="0">
                <a:ea typeface="宋体" pitchFamily="2" charset="-122"/>
              </a:rPr>
              <a:pPr/>
              <a:t>4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程序测试用例</a:t>
            </a:r>
          </a:p>
        </p:txBody>
      </p:sp>
      <p:sp>
        <p:nvSpPr>
          <p:cNvPr id="32771" name="内容占位符 2"/>
          <p:cNvSpPr>
            <a:spLocks noGrp="1"/>
          </p:cNvSpPr>
          <p:nvPr>
            <p:ph idx="1"/>
          </p:nvPr>
        </p:nvSpPr>
        <p:spPr>
          <a:xfrm>
            <a:off x="790575" y="1525588"/>
            <a:ext cx="7369175" cy="4570412"/>
          </a:xfrm>
        </p:spPr>
        <p:txBody>
          <a:bodyPr/>
          <a:lstStyle/>
          <a:p>
            <a:r>
              <a:rPr lang="zh-CN" altLang="en-US"/>
              <a:t>本例共</a:t>
            </a:r>
            <a:r>
              <a:rPr lang="en-US" altLang="zh-CN"/>
              <a:t>7</a:t>
            </a:r>
            <a:r>
              <a:rPr lang="zh-CN" altLang="en-US"/>
              <a:t>条语句、</a:t>
            </a:r>
            <a:endParaRPr lang="en-US" altLang="zh-CN"/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zh-CN"/>
              <a:t>2</a:t>
            </a:r>
            <a:r>
              <a:rPr lang="zh-CN" altLang="en-US"/>
              <a:t>个分支、</a:t>
            </a:r>
            <a:r>
              <a:rPr lang="en-US" altLang="zh-CN"/>
              <a:t>3</a:t>
            </a:r>
            <a:r>
              <a:rPr lang="zh-CN" altLang="en-US"/>
              <a:t>条执行路径</a:t>
            </a:r>
            <a:endParaRPr lang="en-US" altLang="zh-CN"/>
          </a:p>
          <a:p>
            <a:pPr>
              <a:spcBef>
                <a:spcPts val="600"/>
              </a:spcBef>
            </a:pPr>
            <a:r>
              <a:rPr lang="zh-CN" altLang="en-US"/>
              <a:t>以下用例可同时</a:t>
            </a:r>
            <a:endParaRPr lang="en-US" altLang="zh-CN"/>
          </a:p>
          <a:p>
            <a:pPr>
              <a:spcBef>
                <a:spcPts val="600"/>
              </a:spcBef>
              <a:buFontTx/>
              <a:buNone/>
            </a:pPr>
            <a:r>
              <a:rPr lang="zh-CN" altLang="en-US"/>
              <a:t>满足语句覆盖</a:t>
            </a:r>
            <a:endParaRPr lang="en-US" altLang="zh-CN"/>
          </a:p>
          <a:p>
            <a:pPr>
              <a:spcBef>
                <a:spcPts val="600"/>
              </a:spcBef>
              <a:buFontTx/>
              <a:buNone/>
            </a:pPr>
            <a:r>
              <a:rPr lang="zh-CN" altLang="en-US"/>
              <a:t>分支覆盖和执行路径覆盖</a:t>
            </a:r>
            <a:endParaRPr lang="en-US" altLang="zh-CN"/>
          </a:p>
          <a:p>
            <a:pPr lvl="1">
              <a:spcBef>
                <a:spcPts val="600"/>
              </a:spcBef>
              <a:buFont typeface="Arial" charset="0"/>
              <a:buNone/>
            </a:pPr>
            <a:endParaRPr lang="en-US" altLang="zh-CN"/>
          </a:p>
        </p:txBody>
      </p:sp>
      <p:sp>
        <p:nvSpPr>
          <p:cNvPr id="3277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BDBF469-656D-4A46-A2BF-A8AB0ECC35C0}" type="slidenum">
              <a:rPr lang="en-US" altLang="en-US" smtClean="0">
                <a:ea typeface="宋体" pitchFamily="2" charset="-122"/>
              </a:rPr>
              <a:pPr/>
              <a:t>5</a:t>
            </a:fld>
            <a:endParaRPr lang="en-US" altLang="en-US">
              <a:ea typeface="宋体" pitchFamily="2" charset="-122"/>
            </a:endParaRPr>
          </a:p>
        </p:txBody>
      </p:sp>
      <p:grpSp>
        <p:nvGrpSpPr>
          <p:cNvPr id="32773" name="组合 73"/>
          <p:cNvGrpSpPr>
            <a:grpSpLocks/>
          </p:cNvGrpSpPr>
          <p:nvPr/>
        </p:nvGrpSpPr>
        <p:grpSpPr bwMode="auto">
          <a:xfrm>
            <a:off x="3136900" y="200025"/>
            <a:ext cx="5753100" cy="3946525"/>
            <a:chOff x="2592603" y="379404"/>
            <a:chExt cx="5752674" cy="3946536"/>
          </a:xfrm>
        </p:grpSpPr>
        <p:sp>
          <p:nvSpPr>
            <p:cNvPr id="5" name="矩形 4"/>
            <p:cNvSpPr/>
            <p:nvPr/>
          </p:nvSpPr>
          <p:spPr bwMode="auto">
            <a:xfrm>
              <a:off x="4392695" y="917569"/>
              <a:ext cx="1439756" cy="360363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182880" bIns="0" anchor="ctr"/>
            <a:lstStyle/>
            <a:p>
              <a:pPr algn="ctr">
                <a:spcBef>
                  <a:spcPct val="50000"/>
                </a:spcBef>
                <a:defRPr/>
              </a:pPr>
              <a:endParaRPr lang="zh-CN" altLang="en-US" sz="1500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流程图: 决策 5"/>
            <p:cNvSpPr/>
            <p:nvPr/>
          </p:nvSpPr>
          <p:spPr bwMode="auto">
            <a:xfrm>
              <a:off x="2598953" y="1455732"/>
              <a:ext cx="5039940" cy="720727"/>
            </a:xfrm>
            <a:prstGeom prst="flowChartDecision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182880" bIns="0" anchor="ctr"/>
            <a:lstStyle/>
            <a:p>
              <a:pPr algn="r">
                <a:spcBef>
                  <a:spcPct val="50000"/>
                </a:spcBef>
                <a:defRPr/>
              </a:pPr>
              <a:endParaRPr lang="zh-CN" alt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椭圆 6"/>
            <p:cNvSpPr/>
            <p:nvPr/>
          </p:nvSpPr>
          <p:spPr bwMode="auto">
            <a:xfrm>
              <a:off x="4751443" y="379404"/>
              <a:ext cx="720672" cy="35877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182880" bIns="0" anchor="ctr"/>
            <a:lstStyle/>
            <a:p>
              <a:pPr algn="r">
                <a:spcBef>
                  <a:spcPct val="50000"/>
                </a:spcBef>
                <a:defRPr/>
              </a:pPr>
              <a:endParaRPr lang="zh-CN" altLang="en-US" sz="1500" b="1" dirty="0">
                <a:solidFill>
                  <a:schemeClr val="tx1"/>
                </a:solidFill>
              </a:endParaRPr>
            </a:p>
          </p:txBody>
        </p:sp>
        <p:sp>
          <p:nvSpPr>
            <p:cNvPr id="9" name="流程图: 决策 8"/>
            <p:cNvSpPr/>
            <p:nvPr/>
          </p:nvSpPr>
          <p:spPr bwMode="auto">
            <a:xfrm>
              <a:off x="4930818" y="2532060"/>
              <a:ext cx="2519175" cy="358776"/>
            </a:xfrm>
            <a:prstGeom prst="flowChartDecision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182880" bIns="0" anchor="ctr"/>
            <a:lstStyle/>
            <a:p>
              <a:pPr algn="r">
                <a:spcBef>
                  <a:spcPct val="50000"/>
                </a:spcBef>
                <a:defRPr/>
              </a:pPr>
              <a:endParaRPr lang="zh-CN" altLang="en-US" sz="20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0" name="直接箭头连接符 11"/>
            <p:cNvCxnSpPr>
              <a:cxnSpLocks noChangeShapeType="1"/>
              <a:stCxn id="5" idx="2"/>
              <a:endCxn id="6" idx="0"/>
            </p:cNvCxnSpPr>
            <p:nvPr/>
          </p:nvCxnSpPr>
          <p:spPr bwMode="auto">
            <a:xfrm rot="16200000" flipH="1">
              <a:off x="5026848" y="1364450"/>
              <a:ext cx="177800" cy="4763"/>
            </a:xfrm>
            <a:prstGeom prst="straightConnector1">
              <a:avLst/>
            </a:prstGeom>
            <a:ln>
              <a:headEnd/>
              <a:tailEnd type="arrow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sp>
          <p:nvSpPr>
            <p:cNvPr id="11" name="矩形 10"/>
            <p:cNvSpPr/>
            <p:nvPr/>
          </p:nvSpPr>
          <p:spPr bwMode="auto">
            <a:xfrm>
              <a:off x="2592603" y="3429001"/>
              <a:ext cx="1800092" cy="358776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182880" bIns="0" anchor="ctr"/>
            <a:lstStyle/>
            <a:p>
              <a:pPr algn="ctr">
                <a:spcBef>
                  <a:spcPct val="50000"/>
                </a:spcBef>
                <a:defRPr/>
              </a:pPr>
              <a:endParaRPr lang="zh-CN" altLang="en-US" sz="2400" b="1" baseline="-25000" dirty="0">
                <a:solidFill>
                  <a:schemeClr val="tx1"/>
                </a:solidFill>
              </a:endParaRPr>
            </a:p>
          </p:txBody>
        </p:sp>
        <p:cxnSp>
          <p:nvCxnSpPr>
            <p:cNvPr id="12" name="曲线连接符 14"/>
            <p:cNvCxnSpPr>
              <a:cxnSpLocks noChangeShapeType="1"/>
              <a:stCxn id="6" idx="2"/>
              <a:endCxn id="11" idx="0"/>
            </p:cNvCxnSpPr>
            <p:nvPr/>
          </p:nvCxnSpPr>
          <p:spPr bwMode="auto">
            <a:xfrm rot="5400000">
              <a:off x="3679118" y="1989990"/>
              <a:ext cx="1252541" cy="1625480"/>
            </a:xfrm>
            <a:prstGeom prst="curvedConnector3">
              <a:avLst>
                <a:gd name="adj1" fmla="val 50000"/>
              </a:avLst>
            </a:prstGeom>
            <a:ln>
              <a:headEnd/>
              <a:tailEnd type="arrow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13" name="形状 16"/>
            <p:cNvCxnSpPr>
              <a:cxnSpLocks noChangeShapeType="1"/>
              <a:stCxn id="57" idx="2"/>
              <a:endCxn id="64" idx="1"/>
            </p:cNvCxnSpPr>
            <p:nvPr/>
          </p:nvCxnSpPr>
          <p:spPr bwMode="auto">
            <a:xfrm rot="16200000" flipH="1">
              <a:off x="4113301" y="3132200"/>
              <a:ext cx="376238" cy="1617542"/>
            </a:xfrm>
            <a:prstGeom prst="curvedConnector2">
              <a:avLst/>
            </a:prstGeom>
            <a:ln>
              <a:headEnd/>
              <a:tailEnd type="arrow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14" name="直接箭头连接符 18"/>
            <p:cNvCxnSpPr>
              <a:cxnSpLocks noChangeShapeType="1"/>
              <a:stCxn id="7" idx="4"/>
              <a:endCxn id="5" idx="0"/>
            </p:cNvCxnSpPr>
            <p:nvPr/>
          </p:nvCxnSpPr>
          <p:spPr bwMode="auto">
            <a:xfrm rot="16200000" flipH="1">
              <a:off x="5022879" y="827080"/>
              <a:ext cx="179389" cy="1587"/>
            </a:xfrm>
            <a:prstGeom prst="straightConnector1">
              <a:avLst/>
            </a:prstGeom>
            <a:ln>
              <a:headEnd/>
              <a:tailEnd type="arrow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sp>
          <p:nvSpPr>
            <p:cNvPr id="15" name="TextBox 19"/>
            <p:cNvSpPr txBox="1">
              <a:spLocks noChangeArrowheads="1"/>
            </p:cNvSpPr>
            <p:nvPr/>
          </p:nvSpPr>
          <p:spPr bwMode="auto">
            <a:xfrm>
              <a:off x="4033946" y="2532060"/>
              <a:ext cx="358748" cy="369889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b="1" dirty="0"/>
                <a:t>Y</a:t>
              </a:r>
              <a:endParaRPr lang="zh-CN" altLang="en-US" b="1" dirty="0"/>
            </a:p>
          </p:txBody>
        </p:sp>
        <p:cxnSp>
          <p:nvCxnSpPr>
            <p:cNvPr id="16" name="曲线连接符 20"/>
            <p:cNvCxnSpPr>
              <a:cxnSpLocks noChangeShapeType="1"/>
              <a:stCxn id="6" idx="2"/>
              <a:endCxn id="9" idx="0"/>
            </p:cNvCxnSpPr>
            <p:nvPr/>
          </p:nvCxnSpPr>
          <p:spPr bwMode="auto">
            <a:xfrm rot="16200000" flipH="1">
              <a:off x="5476864" y="1817724"/>
              <a:ext cx="355601" cy="1073071"/>
            </a:xfrm>
            <a:prstGeom prst="curvedConnector3">
              <a:avLst>
                <a:gd name="adj1" fmla="val 50000"/>
              </a:avLst>
            </a:prstGeom>
            <a:ln>
              <a:headEnd/>
              <a:tailEnd type="arrow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sp>
          <p:nvSpPr>
            <p:cNvPr id="17" name="TextBox 24"/>
            <p:cNvSpPr txBox="1">
              <a:spLocks noChangeArrowheads="1"/>
            </p:cNvSpPr>
            <p:nvPr/>
          </p:nvSpPr>
          <p:spPr bwMode="auto">
            <a:xfrm>
              <a:off x="5648315" y="2173284"/>
              <a:ext cx="358748" cy="369889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b="1" dirty="0"/>
                <a:t>N</a:t>
              </a:r>
              <a:endParaRPr lang="zh-CN" altLang="en-US" b="1" dirty="0"/>
            </a:p>
          </p:txBody>
        </p:sp>
        <p:cxnSp>
          <p:nvCxnSpPr>
            <p:cNvPr id="20" name="曲线连接符 27"/>
            <p:cNvCxnSpPr>
              <a:cxnSpLocks noChangeShapeType="1"/>
              <a:stCxn id="9" idx="2"/>
              <a:endCxn id="62" idx="0"/>
            </p:cNvCxnSpPr>
            <p:nvPr/>
          </p:nvCxnSpPr>
          <p:spPr bwMode="auto">
            <a:xfrm rot="16200000" flipH="1">
              <a:off x="6549133" y="2532902"/>
              <a:ext cx="538165" cy="1254032"/>
            </a:xfrm>
            <a:prstGeom prst="curvedConnector3">
              <a:avLst>
                <a:gd name="adj1" fmla="val 50000"/>
              </a:avLst>
            </a:prstGeom>
            <a:ln>
              <a:headEnd/>
              <a:tailEnd type="arrow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21" name="曲线连接符 30"/>
            <p:cNvCxnSpPr>
              <a:cxnSpLocks noChangeShapeType="1"/>
              <a:stCxn id="9" idx="2"/>
              <a:endCxn id="60" idx="0"/>
            </p:cNvCxnSpPr>
            <p:nvPr/>
          </p:nvCxnSpPr>
          <p:spPr bwMode="auto">
            <a:xfrm rot="5400000">
              <a:off x="5559400" y="2797202"/>
              <a:ext cx="538165" cy="725434"/>
            </a:xfrm>
            <a:prstGeom prst="curvedConnector3">
              <a:avLst>
                <a:gd name="adj1" fmla="val 50000"/>
              </a:avLst>
            </a:prstGeom>
            <a:ln>
              <a:headEnd/>
              <a:tailEnd type="arrow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sp>
          <p:nvSpPr>
            <p:cNvPr id="22" name="TextBox 33"/>
            <p:cNvSpPr txBox="1">
              <a:spLocks noChangeArrowheads="1"/>
            </p:cNvSpPr>
            <p:nvPr/>
          </p:nvSpPr>
          <p:spPr bwMode="auto">
            <a:xfrm>
              <a:off x="5827688" y="2890836"/>
              <a:ext cx="358748" cy="369889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b="1" dirty="0"/>
                <a:t>Y</a:t>
              </a:r>
              <a:endParaRPr lang="zh-CN" altLang="en-US" b="1" dirty="0"/>
            </a:p>
          </p:txBody>
        </p:sp>
        <p:sp>
          <p:nvSpPr>
            <p:cNvPr id="23" name="TextBox 34"/>
            <p:cNvSpPr txBox="1">
              <a:spLocks noChangeArrowheads="1"/>
            </p:cNvSpPr>
            <p:nvPr/>
          </p:nvSpPr>
          <p:spPr bwMode="auto">
            <a:xfrm>
              <a:off x="6903934" y="2890836"/>
              <a:ext cx="358748" cy="369889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b="1" dirty="0"/>
                <a:t>N</a:t>
              </a:r>
              <a:endParaRPr lang="zh-CN" altLang="en-US" b="1" dirty="0"/>
            </a:p>
          </p:txBody>
        </p:sp>
        <p:cxnSp>
          <p:nvCxnSpPr>
            <p:cNvPr id="24" name="曲线连接符 35"/>
            <p:cNvCxnSpPr>
              <a:cxnSpLocks noChangeShapeType="1"/>
              <a:stCxn id="59" idx="2"/>
              <a:endCxn id="64" idx="0"/>
            </p:cNvCxnSpPr>
            <p:nvPr/>
          </p:nvCxnSpPr>
          <p:spPr bwMode="auto">
            <a:xfrm rot="16200000" flipH="1">
              <a:off x="5378453" y="3875089"/>
              <a:ext cx="179387" cy="4763"/>
            </a:xfrm>
            <a:prstGeom prst="curvedConnector3">
              <a:avLst>
                <a:gd name="adj1" fmla="val 50000"/>
              </a:avLst>
            </a:prstGeom>
            <a:ln>
              <a:headEnd/>
              <a:tailEnd type="arrow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25" name="曲线连接符 38"/>
            <p:cNvCxnSpPr>
              <a:cxnSpLocks noChangeShapeType="1"/>
              <a:stCxn id="62" idx="2"/>
              <a:endCxn id="64" idx="3"/>
            </p:cNvCxnSpPr>
            <p:nvPr/>
          </p:nvCxnSpPr>
          <p:spPr bwMode="auto">
            <a:xfrm rot="5400000">
              <a:off x="6449928" y="3133787"/>
              <a:ext cx="376238" cy="1614368"/>
            </a:xfrm>
            <a:prstGeom prst="curvedConnector2">
              <a:avLst/>
            </a:prstGeom>
            <a:ln>
              <a:headEnd/>
              <a:tailEnd type="arrow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4751443" y="379404"/>
              <a:ext cx="720672" cy="323851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sz="1500" b="1" dirty="0"/>
                <a:t>start</a:t>
              </a:r>
              <a:endParaRPr lang="zh-CN" altLang="en-US" sz="1500" b="1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392695" y="917569"/>
              <a:ext cx="1439756" cy="323851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sz="1500" b="1" dirty="0">
                  <a:solidFill>
                    <a:srgbClr val="FF0000"/>
                  </a:solidFill>
                </a:rPr>
                <a:t>L1</a:t>
              </a:r>
              <a:r>
                <a:rPr lang="zh-CN" altLang="en-US" sz="1500" b="1" dirty="0"/>
                <a:t>：</a:t>
              </a:r>
              <a:r>
                <a:rPr lang="en-US" altLang="zh-CN" sz="1500" b="1" dirty="0" err="1"/>
                <a:t>cin</a:t>
              </a:r>
              <a:endParaRPr lang="zh-CN" altLang="en-US" sz="1500" b="1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957701" y="1635121"/>
              <a:ext cx="4319268" cy="323851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sz="1500" b="1" dirty="0">
                  <a:solidFill>
                    <a:srgbClr val="FF0000"/>
                  </a:solidFill>
                </a:rPr>
                <a:t>L2</a:t>
              </a:r>
              <a:r>
                <a:rPr lang="zh-CN" altLang="en-US" sz="1500" b="1" dirty="0"/>
                <a:t>：</a:t>
              </a:r>
              <a:r>
                <a:rPr lang="en-US" altLang="zh-CN" sz="1400" b="1" dirty="0"/>
                <a:t> a&lt;=0||b&lt;=0||c&lt;=0||</a:t>
              </a:r>
              <a:r>
                <a:rPr lang="en-US" altLang="zh-CN" sz="1400" b="1" dirty="0" err="1"/>
                <a:t>a+b</a:t>
              </a:r>
              <a:r>
                <a:rPr lang="en-US" altLang="zh-CN" sz="1400" b="1" dirty="0"/>
                <a:t>&lt;=c||</a:t>
              </a:r>
              <a:r>
                <a:rPr lang="en-US" altLang="zh-CN" sz="1400" b="1" dirty="0" err="1"/>
                <a:t>a+c</a:t>
              </a:r>
              <a:r>
                <a:rPr lang="en-US" altLang="zh-CN" sz="1400" b="1" dirty="0"/>
                <a:t>&lt;=b||</a:t>
              </a:r>
              <a:r>
                <a:rPr lang="en-US" altLang="zh-CN" sz="1400" b="1" dirty="0" err="1"/>
                <a:t>b+c</a:t>
              </a:r>
              <a:r>
                <a:rPr lang="en-US" altLang="zh-CN" sz="1400" b="1" dirty="0"/>
                <a:t>&lt;=a?</a:t>
              </a:r>
              <a:endParaRPr lang="zh-CN" altLang="en-US" sz="1500" b="1" dirty="0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592603" y="3429001"/>
              <a:ext cx="1800092" cy="323851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sz="1500" b="1" dirty="0">
                  <a:solidFill>
                    <a:srgbClr val="FF0000"/>
                  </a:solidFill>
                </a:rPr>
                <a:t>L3</a:t>
              </a:r>
              <a:r>
                <a:rPr lang="zh-CN" altLang="en-US" sz="1500" b="1" dirty="0"/>
                <a:t>：不是三角形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5283217" y="2532060"/>
              <a:ext cx="1800092" cy="323851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sz="1500" b="1" dirty="0">
                  <a:solidFill>
                    <a:srgbClr val="FF0000"/>
                  </a:solidFill>
                </a:rPr>
                <a:t>L4</a:t>
              </a:r>
              <a:r>
                <a:rPr lang="zh-CN" altLang="en-US" sz="1500" b="1" dirty="0"/>
                <a:t>：</a:t>
              </a:r>
              <a:r>
                <a:rPr lang="en-US" altLang="zh-CN" sz="1500" b="1" dirty="0"/>
                <a:t>a==b&amp;&amp;b==c?</a:t>
              </a:r>
              <a:endParaRPr lang="zh-CN" altLang="en-US" sz="1500" b="1" dirty="0"/>
            </a:p>
          </p:txBody>
        </p:sp>
        <p:sp>
          <p:nvSpPr>
            <p:cNvPr id="59" name="矩形 58"/>
            <p:cNvSpPr/>
            <p:nvPr/>
          </p:nvSpPr>
          <p:spPr bwMode="auto">
            <a:xfrm>
              <a:off x="4565720" y="3429001"/>
              <a:ext cx="1800092" cy="358776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182880" bIns="0" anchor="ctr"/>
            <a:lstStyle/>
            <a:p>
              <a:pPr algn="ctr">
                <a:spcBef>
                  <a:spcPct val="50000"/>
                </a:spcBef>
                <a:defRPr/>
              </a:pPr>
              <a:endParaRPr lang="zh-CN" altLang="en-US" sz="2400" b="1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4565720" y="3429001"/>
              <a:ext cx="1800092" cy="323851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sz="1500" b="1" dirty="0">
                  <a:solidFill>
                    <a:srgbClr val="FF0000"/>
                  </a:solidFill>
                </a:rPr>
                <a:t>L5</a:t>
              </a:r>
              <a:r>
                <a:rPr lang="zh-CN" altLang="en-US" sz="1500" b="1" dirty="0"/>
                <a:t>：等边三角形</a:t>
              </a:r>
            </a:p>
          </p:txBody>
        </p:sp>
        <p:sp>
          <p:nvSpPr>
            <p:cNvPr id="61" name="矩形 60"/>
            <p:cNvSpPr/>
            <p:nvPr/>
          </p:nvSpPr>
          <p:spPr bwMode="auto">
            <a:xfrm>
              <a:off x="6545185" y="3429001"/>
              <a:ext cx="1800092" cy="358776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182880" bIns="0" anchor="ctr"/>
            <a:lstStyle/>
            <a:p>
              <a:pPr algn="ctr">
                <a:spcBef>
                  <a:spcPct val="50000"/>
                </a:spcBef>
                <a:defRPr/>
              </a:pPr>
              <a:endParaRPr lang="zh-CN" altLang="en-US" sz="2400" b="1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6545185" y="3429001"/>
              <a:ext cx="1800092" cy="323851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sz="1500" b="1" dirty="0">
                  <a:solidFill>
                    <a:srgbClr val="FF0000"/>
                  </a:solidFill>
                </a:rPr>
                <a:t>L6/7</a:t>
              </a:r>
              <a:r>
                <a:rPr lang="zh-CN" altLang="en-US" sz="1500" b="1" dirty="0"/>
                <a:t>：一般三角形</a:t>
              </a:r>
            </a:p>
          </p:txBody>
        </p:sp>
        <p:sp>
          <p:nvSpPr>
            <p:cNvPr id="63" name="椭圆 62"/>
            <p:cNvSpPr/>
            <p:nvPr/>
          </p:nvSpPr>
          <p:spPr bwMode="auto">
            <a:xfrm>
              <a:off x="5110192" y="3967164"/>
              <a:ext cx="720672" cy="35877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182880" bIns="0" anchor="ctr"/>
            <a:lstStyle/>
            <a:p>
              <a:pPr algn="r">
                <a:spcBef>
                  <a:spcPct val="50000"/>
                </a:spcBef>
                <a:defRPr/>
              </a:pPr>
              <a:endParaRPr lang="zh-CN" altLang="en-US" sz="1500" b="1" dirty="0">
                <a:solidFill>
                  <a:schemeClr val="tx1"/>
                </a:solidFill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5110192" y="3967164"/>
              <a:ext cx="720672" cy="323851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sz="1500" b="1" dirty="0"/>
                <a:t>end</a:t>
              </a:r>
              <a:endParaRPr lang="zh-CN" altLang="en-US" sz="1500" b="1" dirty="0"/>
            </a:p>
          </p:txBody>
        </p:sp>
      </p:grpSp>
      <p:graphicFrame>
        <p:nvGraphicFramePr>
          <p:cNvPr id="75" name="表格 74"/>
          <p:cNvGraphicFramePr>
            <a:graphicFrameLocks noGrp="1"/>
          </p:cNvGraphicFramePr>
          <p:nvPr/>
        </p:nvGraphicFramePr>
        <p:xfrm>
          <a:off x="804863" y="4325938"/>
          <a:ext cx="807246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6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5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26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51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732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用例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覆盖的语句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覆盖的分支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覆盖的路径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覆盖的从句（</a:t>
                      </a:r>
                      <a:r>
                        <a:rPr lang="en-US" altLang="zh-CN" dirty="0"/>
                        <a:t>C1~C8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(1,2,9)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1/2/3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L2(True)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1,2,3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FFFTFFFF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(2,2,2)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1/2/4/5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L2(</a:t>
                      </a:r>
                      <a:r>
                        <a:rPr lang="en-US" altLang="zh-CN" dirty="0" err="1"/>
                        <a:t>Flase</a:t>
                      </a:r>
                      <a:r>
                        <a:rPr lang="en-US" altLang="zh-CN" dirty="0"/>
                        <a:t>),L4(True)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1,2,4,5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FFFFFFTT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(3,4,5)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1/2/4/6/7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L2(</a:t>
                      </a:r>
                      <a:r>
                        <a:rPr lang="en-US" altLang="zh-CN" dirty="0" err="1"/>
                        <a:t>Flase</a:t>
                      </a:r>
                      <a:r>
                        <a:rPr lang="en-US" altLang="zh-CN" dirty="0"/>
                        <a:t>),L4(</a:t>
                      </a:r>
                      <a:r>
                        <a:rPr lang="en-US" altLang="zh-CN" dirty="0" err="1"/>
                        <a:t>Flase</a:t>
                      </a:r>
                      <a:r>
                        <a:rPr lang="en-US" altLang="zh-CN" dirty="0"/>
                        <a:t>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1,2,4,6,7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FFFFFFFF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测试过程</a:t>
            </a:r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1"/>
          </p:nvPr>
        </p:nvGraphicFramePr>
        <p:xfrm>
          <a:off x="917575" y="1525588"/>
          <a:ext cx="736917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3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3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3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38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38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用例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预期结果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实际结果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是否一致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问题分析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(1,2,9)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不是三角形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【</a:t>
                      </a:r>
                      <a:r>
                        <a:rPr lang="zh-CN" altLang="en-US"/>
                        <a:t>待填</a:t>
                      </a:r>
                      <a:r>
                        <a:rPr lang="en-US" altLang="zh-CN"/>
                        <a:t>】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【</a:t>
                      </a:r>
                      <a:r>
                        <a:rPr lang="zh-CN" altLang="en-US"/>
                        <a:t>待填</a:t>
                      </a:r>
                      <a:r>
                        <a:rPr lang="en-US" altLang="zh-CN"/>
                        <a:t>】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【</a:t>
                      </a:r>
                      <a:r>
                        <a:rPr lang="zh-CN" altLang="en-US"/>
                        <a:t>待填</a:t>
                      </a:r>
                      <a:r>
                        <a:rPr lang="en-US" altLang="zh-CN"/>
                        <a:t>】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(2,2,2)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等边三角形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【</a:t>
                      </a:r>
                      <a:r>
                        <a:rPr lang="zh-CN" altLang="en-US"/>
                        <a:t>待填</a:t>
                      </a:r>
                      <a:r>
                        <a:rPr lang="en-US" altLang="zh-CN"/>
                        <a:t>】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【</a:t>
                      </a:r>
                      <a:r>
                        <a:rPr lang="zh-CN" altLang="en-US"/>
                        <a:t>待填</a:t>
                      </a:r>
                      <a:r>
                        <a:rPr lang="en-US" altLang="zh-CN"/>
                        <a:t>】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【</a:t>
                      </a:r>
                      <a:r>
                        <a:rPr lang="zh-CN" altLang="en-US"/>
                        <a:t>待填</a:t>
                      </a:r>
                      <a:r>
                        <a:rPr lang="en-US" altLang="zh-CN"/>
                        <a:t>】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(3,4,5)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一般三角形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【</a:t>
                      </a:r>
                      <a:r>
                        <a:rPr lang="zh-CN" altLang="en-US"/>
                        <a:t>待填</a:t>
                      </a:r>
                      <a:r>
                        <a:rPr lang="en-US" altLang="zh-CN"/>
                        <a:t>】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【</a:t>
                      </a:r>
                      <a:r>
                        <a:rPr lang="zh-CN" altLang="en-US"/>
                        <a:t>待填</a:t>
                      </a:r>
                      <a:r>
                        <a:rPr lang="en-US" altLang="zh-CN"/>
                        <a:t>】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【</a:t>
                      </a:r>
                      <a:r>
                        <a:rPr lang="zh-CN" altLang="en-US" dirty="0"/>
                        <a:t>待填</a:t>
                      </a:r>
                      <a:r>
                        <a:rPr lang="en-US" altLang="zh-CN" dirty="0"/>
                        <a:t>】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3827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8FF5F814-3839-406E-98B0-57885D48C90B}" type="slidenum">
              <a:rPr lang="en-US" altLang="en-US" smtClean="0">
                <a:ea typeface="宋体" pitchFamily="2" charset="-122"/>
              </a:rPr>
              <a:pPr/>
              <a:t>6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33828" name="TextBox 5"/>
          <p:cNvSpPr txBox="1">
            <a:spLocks noChangeArrowheads="1"/>
          </p:cNvSpPr>
          <p:nvPr/>
        </p:nvSpPr>
        <p:spPr bwMode="auto">
          <a:xfrm>
            <a:off x="984250" y="3429000"/>
            <a:ext cx="7354888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/>
              <a:t>如果对应某条输入的预期结果与实际结果不一致，则说明程序有错，需要进一步分析。</a:t>
            </a:r>
            <a:endParaRPr lang="en-US" altLang="zh-CN"/>
          </a:p>
          <a:p>
            <a:r>
              <a:rPr lang="zh-CN" altLang="en-US"/>
              <a:t>所谓程序测试，就是</a:t>
            </a:r>
            <a:r>
              <a:rPr lang="zh-CN" altLang="en-US">
                <a:solidFill>
                  <a:srgbClr val="FF0000"/>
                </a:solidFill>
              </a:rPr>
              <a:t>设计上述表格</a:t>
            </a:r>
            <a:r>
              <a:rPr lang="en-US" altLang="zh-CN">
                <a:solidFill>
                  <a:srgbClr val="FF0000"/>
                </a:solidFill>
                <a:sym typeface="Wingdings" pitchFamily="2" charset="2"/>
              </a:rPr>
              <a:t></a:t>
            </a:r>
            <a:r>
              <a:rPr lang="zh-CN" altLang="en-US">
                <a:solidFill>
                  <a:srgbClr val="FF0000"/>
                </a:solidFill>
                <a:sym typeface="Wingdings" pitchFamily="2" charset="2"/>
              </a:rPr>
              <a:t>执行程序</a:t>
            </a:r>
            <a:r>
              <a:rPr lang="en-US" altLang="zh-CN">
                <a:solidFill>
                  <a:srgbClr val="FF0000"/>
                </a:solidFill>
                <a:sym typeface="Wingdings" pitchFamily="2" charset="2"/>
              </a:rPr>
              <a:t></a:t>
            </a:r>
            <a:r>
              <a:rPr lang="zh-CN" altLang="en-US">
                <a:solidFill>
                  <a:srgbClr val="FF0000"/>
                </a:solidFill>
                <a:sym typeface="Wingdings" pitchFamily="2" charset="2"/>
              </a:rPr>
              <a:t>填充结果</a:t>
            </a:r>
            <a:r>
              <a:rPr lang="en-US" altLang="zh-CN">
                <a:solidFill>
                  <a:srgbClr val="FF0000"/>
                </a:solidFill>
                <a:sym typeface="Wingdings" pitchFamily="2" charset="2"/>
              </a:rPr>
              <a:t></a:t>
            </a:r>
            <a:r>
              <a:rPr lang="zh-CN" altLang="en-US">
                <a:solidFill>
                  <a:srgbClr val="FF0000"/>
                </a:solidFill>
                <a:sym typeface="Wingdings" pitchFamily="2" charset="2"/>
              </a:rPr>
              <a:t>分析</a:t>
            </a:r>
            <a:r>
              <a:rPr lang="zh-CN" altLang="en-US">
                <a:sym typeface="Wingdings" pitchFamily="2" charset="2"/>
              </a:rPr>
              <a:t>的过程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主要内容</a:t>
            </a:r>
          </a:p>
        </p:txBody>
      </p:sp>
      <p:sp>
        <p:nvSpPr>
          <p:cNvPr id="3481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solidFill>
                  <a:srgbClr val="FF0000"/>
                </a:solidFill>
              </a:rPr>
              <a:t>空间复杂性</a:t>
            </a:r>
            <a:endParaRPr lang="en-US" altLang="zh-CN">
              <a:solidFill>
                <a:srgbClr val="FF0000"/>
              </a:solidFill>
            </a:endParaRPr>
          </a:p>
          <a:p>
            <a:r>
              <a:rPr lang="zh-CN" altLang="en-US"/>
              <a:t>时间复杂性</a:t>
            </a:r>
            <a:endParaRPr lang="en-US" altLang="zh-CN"/>
          </a:p>
          <a:p>
            <a:pPr lvl="1"/>
            <a:r>
              <a:rPr lang="zh-CN" altLang="en-US"/>
              <a:t>指标（计数对象）</a:t>
            </a:r>
            <a:endParaRPr lang="en-US" altLang="zh-CN"/>
          </a:p>
          <a:p>
            <a:pPr lvl="1"/>
            <a:r>
              <a:rPr lang="zh-CN" altLang="en-US"/>
              <a:t>渐进符号（</a:t>
            </a:r>
            <a:r>
              <a:rPr lang="en-US" altLang="zh-CN"/>
              <a:t>Ο</a:t>
            </a:r>
            <a:r>
              <a:rPr lang="zh-CN" altLang="en-US"/>
              <a:t>、</a:t>
            </a:r>
            <a:r>
              <a:rPr lang="en-US" altLang="zh-CN"/>
              <a:t>Ω</a:t>
            </a:r>
            <a:r>
              <a:rPr lang="zh-CN" altLang="en-US"/>
              <a:t>、</a:t>
            </a:r>
            <a:r>
              <a:rPr lang="en-US" altLang="zh-CN"/>
              <a:t>Θ</a:t>
            </a:r>
            <a:r>
              <a:rPr lang="zh-CN" altLang="en-US"/>
              <a:t>、</a:t>
            </a:r>
            <a:r>
              <a:rPr lang="en-US" altLang="zh-CN"/>
              <a:t>ο</a:t>
            </a:r>
            <a:r>
              <a:rPr lang="zh-CN" altLang="en-US"/>
              <a:t>）</a:t>
            </a:r>
            <a:endParaRPr lang="en-US" altLang="zh-CN"/>
          </a:p>
          <a:p>
            <a:r>
              <a:rPr lang="zh-CN" altLang="en-US"/>
              <a:t>性能测量</a:t>
            </a:r>
          </a:p>
        </p:txBody>
      </p:sp>
      <p:sp>
        <p:nvSpPr>
          <p:cNvPr id="3482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74657CA-037A-4218-ACC9-ADFB429DB87D}" type="slidenum">
              <a:rPr lang="en-US" altLang="en-US" smtClean="0">
                <a:ea typeface="宋体" pitchFamily="2" charset="-122"/>
              </a:rPr>
              <a:pPr/>
              <a:t>7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提出问题：如何评价算法？</a:t>
            </a:r>
          </a:p>
        </p:txBody>
      </p:sp>
      <p:sp>
        <p:nvSpPr>
          <p:cNvPr id="3584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假设有</a:t>
            </a:r>
            <a:r>
              <a:rPr lang="en-US" altLang="zh-CN"/>
              <a:t>4</a:t>
            </a:r>
            <a:r>
              <a:rPr lang="zh-CN" altLang="en-US"/>
              <a:t>间寝室（</a:t>
            </a:r>
            <a:r>
              <a:rPr lang="en-US" altLang="zh-CN"/>
              <a:t>A/B/C/D</a:t>
            </a:r>
            <a:r>
              <a:rPr lang="zh-CN" altLang="en-US"/>
              <a:t>），如果要将</a:t>
            </a:r>
            <a:r>
              <a:rPr lang="en-US" altLang="zh-CN"/>
              <a:t>A</a:t>
            </a:r>
            <a:r>
              <a:rPr lang="zh-CN" altLang="en-US"/>
              <a:t>寝室的物品搬到</a:t>
            </a:r>
            <a:r>
              <a:rPr lang="en-US" altLang="zh-CN"/>
              <a:t>B</a:t>
            </a:r>
            <a:r>
              <a:rPr lang="zh-CN" altLang="en-US"/>
              <a:t>寝室，</a:t>
            </a:r>
            <a:r>
              <a:rPr lang="en-US" altLang="zh-CN"/>
              <a:t>B</a:t>
            </a:r>
            <a:r>
              <a:rPr lang="zh-CN" altLang="en-US"/>
              <a:t>寝室的物品搬到</a:t>
            </a:r>
            <a:r>
              <a:rPr lang="en-US" altLang="zh-CN"/>
              <a:t>C</a:t>
            </a:r>
            <a:r>
              <a:rPr lang="zh-CN" altLang="en-US"/>
              <a:t>寝室，</a:t>
            </a:r>
            <a:r>
              <a:rPr lang="en-US" altLang="zh-CN"/>
              <a:t>C</a:t>
            </a:r>
            <a:r>
              <a:rPr lang="zh-CN" altLang="en-US"/>
              <a:t>寝室的物品搬到</a:t>
            </a:r>
            <a:r>
              <a:rPr lang="en-US" altLang="zh-CN"/>
              <a:t>D</a:t>
            </a:r>
            <a:r>
              <a:rPr lang="zh-CN" altLang="en-US"/>
              <a:t>寝室，</a:t>
            </a:r>
            <a:r>
              <a:rPr lang="en-US" altLang="zh-CN"/>
              <a:t>D</a:t>
            </a:r>
            <a:r>
              <a:rPr lang="zh-CN" altLang="en-US"/>
              <a:t>寝室的物品搬到</a:t>
            </a:r>
            <a:r>
              <a:rPr lang="en-US" altLang="zh-CN"/>
              <a:t>A</a:t>
            </a:r>
            <a:r>
              <a:rPr lang="zh-CN" altLang="en-US"/>
              <a:t>寝室，且规定只有当某间寝室为空时才能往进搬东西，物品从一间寝室搬到另一间寝室的时间为</a:t>
            </a:r>
            <a:r>
              <a:rPr lang="en-US" altLang="zh-CN"/>
              <a:t>T</a:t>
            </a:r>
            <a:r>
              <a:rPr lang="zh-CN" altLang="en-US"/>
              <a:t>。请描述完成上述任务的算法，并评价其算法优劣。</a:t>
            </a:r>
          </a:p>
        </p:txBody>
      </p:sp>
      <p:sp>
        <p:nvSpPr>
          <p:cNvPr id="3584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5D295FC7-D007-49A1-B10A-5A956B510805}" type="slidenum">
              <a:rPr lang="en-US" altLang="en-US" smtClean="0">
                <a:ea typeface="宋体" pitchFamily="2" charset="-122"/>
              </a:rPr>
              <a:pPr/>
              <a:t>8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5" name="圆角矩形 4"/>
          <p:cNvSpPr/>
          <p:nvPr/>
        </p:nvSpPr>
        <p:spPr bwMode="auto">
          <a:xfrm>
            <a:off x="1701800" y="4864100"/>
            <a:ext cx="896938" cy="89693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rgbClr val="FF0000"/>
                </a:solidFill>
              </a:rPr>
              <a:t>A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6" name="圆角矩形 5"/>
          <p:cNvSpPr/>
          <p:nvPr/>
        </p:nvSpPr>
        <p:spPr bwMode="auto">
          <a:xfrm>
            <a:off x="2598738" y="4864100"/>
            <a:ext cx="896937" cy="89693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rgbClr val="FF0000"/>
                </a:solidFill>
              </a:rPr>
              <a:t>B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7" name="圆角矩形 6"/>
          <p:cNvSpPr/>
          <p:nvPr/>
        </p:nvSpPr>
        <p:spPr bwMode="auto">
          <a:xfrm>
            <a:off x="3495675" y="4864100"/>
            <a:ext cx="896938" cy="89693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rgbClr val="FF0000"/>
                </a:solidFill>
              </a:rPr>
              <a:t>C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8" name="圆角矩形 7"/>
          <p:cNvSpPr/>
          <p:nvPr/>
        </p:nvSpPr>
        <p:spPr bwMode="auto">
          <a:xfrm>
            <a:off x="4392613" y="4864100"/>
            <a:ext cx="896937" cy="89693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rgbClr val="FF0000"/>
                </a:solidFill>
              </a:rPr>
              <a:t>D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方案一：占用尽量少的额外空间</a:t>
            </a:r>
          </a:p>
        </p:txBody>
      </p:sp>
      <p:sp>
        <p:nvSpPr>
          <p:cNvPr id="36867" name="内容占位符 2"/>
          <p:cNvSpPr>
            <a:spLocks noGrp="1"/>
          </p:cNvSpPr>
          <p:nvPr>
            <p:ph idx="1"/>
          </p:nvPr>
        </p:nvSpPr>
        <p:spPr>
          <a:xfrm>
            <a:off x="917575" y="4146550"/>
            <a:ext cx="7369175" cy="1949450"/>
          </a:xfrm>
        </p:spPr>
        <p:txBody>
          <a:bodyPr/>
          <a:lstStyle/>
          <a:p>
            <a:r>
              <a:rPr lang="zh-CN" altLang="en-US"/>
              <a:t>占用额外空间</a:t>
            </a:r>
            <a:r>
              <a:rPr lang="en-US" altLang="zh-CN"/>
              <a:t>1</a:t>
            </a:r>
          </a:p>
          <a:p>
            <a:r>
              <a:rPr lang="zh-CN" altLang="en-US"/>
              <a:t>消耗时间</a:t>
            </a:r>
            <a:r>
              <a:rPr lang="en-US" altLang="zh-CN"/>
              <a:t>5T</a:t>
            </a:r>
            <a:endParaRPr lang="zh-CN" altLang="en-US"/>
          </a:p>
        </p:txBody>
      </p:sp>
      <p:sp>
        <p:nvSpPr>
          <p:cNvPr id="3686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1DCEEF8-4F4A-4535-83AF-75A332B9D512}" type="slidenum">
              <a:rPr lang="en-US" altLang="en-US" smtClean="0">
                <a:ea typeface="宋体" pitchFamily="2" charset="-122"/>
              </a:rPr>
              <a:pPr/>
              <a:t>9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5" name="圆角矩形 4"/>
          <p:cNvSpPr/>
          <p:nvPr/>
        </p:nvSpPr>
        <p:spPr bwMode="auto">
          <a:xfrm>
            <a:off x="1343025" y="2173288"/>
            <a:ext cx="896938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rgbClr val="FF0000"/>
                </a:solidFill>
              </a:rPr>
              <a:t>A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6" name="圆角矩形 5"/>
          <p:cNvSpPr/>
          <p:nvPr/>
        </p:nvSpPr>
        <p:spPr bwMode="auto">
          <a:xfrm>
            <a:off x="2239963" y="2173288"/>
            <a:ext cx="896937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rgbClr val="FF0000"/>
                </a:solidFill>
              </a:rPr>
              <a:t>B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7" name="圆角矩形 6"/>
          <p:cNvSpPr/>
          <p:nvPr/>
        </p:nvSpPr>
        <p:spPr bwMode="auto">
          <a:xfrm>
            <a:off x="3136900" y="2173288"/>
            <a:ext cx="896938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rgbClr val="FF0000"/>
                </a:solidFill>
              </a:rPr>
              <a:t>C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8" name="圆角矩形 7"/>
          <p:cNvSpPr/>
          <p:nvPr/>
        </p:nvSpPr>
        <p:spPr bwMode="auto">
          <a:xfrm>
            <a:off x="4033838" y="2173288"/>
            <a:ext cx="896937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rgbClr val="FF0000"/>
                </a:solidFill>
              </a:rPr>
              <a:t>D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9" name="圆角矩形 8"/>
          <p:cNvSpPr/>
          <p:nvPr/>
        </p:nvSpPr>
        <p:spPr bwMode="auto">
          <a:xfrm>
            <a:off x="6007100" y="2173288"/>
            <a:ext cx="896938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r>
              <a:rPr lang="zh-CN" altLang="en-US" sz="1600" dirty="0">
                <a:solidFill>
                  <a:srgbClr val="FF0000"/>
                </a:solidFill>
              </a:rPr>
              <a:t>周转房</a:t>
            </a:r>
          </a:p>
        </p:txBody>
      </p:sp>
      <p:cxnSp>
        <p:nvCxnSpPr>
          <p:cNvPr id="36874" name="曲线连接符 10"/>
          <p:cNvCxnSpPr>
            <a:cxnSpLocks noChangeShapeType="1"/>
            <a:stCxn id="8" idx="0"/>
            <a:endCxn id="9" idx="0"/>
          </p:cNvCxnSpPr>
          <p:nvPr/>
        </p:nvCxnSpPr>
        <p:spPr bwMode="auto">
          <a:xfrm rot="5400000" flipH="1" flipV="1">
            <a:off x="5468938" y="1185862"/>
            <a:ext cx="1588" cy="1973263"/>
          </a:xfrm>
          <a:prstGeom prst="curvedConnector3">
            <a:avLst>
              <a:gd name="adj1" fmla="val 14395468"/>
            </a:avLst>
          </a:prstGeom>
          <a:noFill/>
          <a:ln w="9525" algn="ctr">
            <a:solidFill>
              <a:schemeClr val="accent1"/>
            </a:solidFill>
            <a:round/>
            <a:headEnd/>
            <a:tailEnd type="triangle" w="med" len="med"/>
          </a:ln>
        </p:spPr>
      </p:cxnSp>
      <p:cxnSp>
        <p:nvCxnSpPr>
          <p:cNvPr id="36875" name="曲线连接符 12"/>
          <p:cNvCxnSpPr>
            <a:cxnSpLocks noChangeShapeType="1"/>
            <a:stCxn id="7" idx="2"/>
            <a:endCxn id="8" idx="2"/>
          </p:cNvCxnSpPr>
          <p:nvPr/>
        </p:nvCxnSpPr>
        <p:spPr bwMode="auto">
          <a:xfrm rot="16200000" flipH="1">
            <a:off x="4033838" y="2620963"/>
            <a:ext cx="1587" cy="896937"/>
          </a:xfrm>
          <a:prstGeom prst="curvedConnector3">
            <a:avLst>
              <a:gd name="adj1" fmla="val 14395468"/>
            </a:avLst>
          </a:prstGeom>
          <a:noFill/>
          <a:ln w="9525" algn="ctr">
            <a:solidFill>
              <a:schemeClr val="accent1"/>
            </a:solidFill>
            <a:round/>
            <a:headEnd/>
            <a:tailEnd type="triangle" w="med" len="med"/>
          </a:ln>
        </p:spPr>
      </p:cxnSp>
      <p:cxnSp>
        <p:nvCxnSpPr>
          <p:cNvPr id="36876" name="曲线连接符 15"/>
          <p:cNvCxnSpPr>
            <a:cxnSpLocks noChangeShapeType="1"/>
            <a:stCxn id="6" idx="2"/>
            <a:endCxn id="7" idx="2"/>
          </p:cNvCxnSpPr>
          <p:nvPr/>
        </p:nvCxnSpPr>
        <p:spPr bwMode="auto">
          <a:xfrm rot="16200000" flipH="1">
            <a:off x="3136900" y="2620963"/>
            <a:ext cx="1587" cy="896938"/>
          </a:xfrm>
          <a:prstGeom prst="curvedConnector3">
            <a:avLst>
              <a:gd name="adj1" fmla="val 14395468"/>
            </a:avLst>
          </a:prstGeom>
          <a:noFill/>
          <a:ln w="9525" algn="ctr">
            <a:solidFill>
              <a:schemeClr val="accent1"/>
            </a:solidFill>
            <a:round/>
            <a:headEnd/>
            <a:tailEnd type="triangle" w="med" len="med"/>
          </a:ln>
        </p:spPr>
      </p:cxnSp>
      <p:cxnSp>
        <p:nvCxnSpPr>
          <p:cNvPr id="36877" name="曲线连接符 18"/>
          <p:cNvCxnSpPr>
            <a:cxnSpLocks noChangeShapeType="1"/>
            <a:stCxn id="5" idx="2"/>
            <a:endCxn id="6" idx="2"/>
          </p:cNvCxnSpPr>
          <p:nvPr/>
        </p:nvCxnSpPr>
        <p:spPr bwMode="auto">
          <a:xfrm rot="16200000" flipH="1">
            <a:off x="2239963" y="2620963"/>
            <a:ext cx="1587" cy="896937"/>
          </a:xfrm>
          <a:prstGeom prst="curvedConnector3">
            <a:avLst>
              <a:gd name="adj1" fmla="val 14395468"/>
            </a:avLst>
          </a:prstGeom>
          <a:noFill/>
          <a:ln w="9525" algn="ctr">
            <a:solidFill>
              <a:schemeClr val="accent1"/>
            </a:solidFill>
            <a:round/>
            <a:headEnd/>
            <a:tailEnd type="triangle" w="med" len="med"/>
          </a:ln>
        </p:spPr>
      </p:cxnSp>
      <p:cxnSp>
        <p:nvCxnSpPr>
          <p:cNvPr id="36878" name="曲线连接符 21"/>
          <p:cNvCxnSpPr>
            <a:cxnSpLocks noChangeShapeType="1"/>
            <a:stCxn id="9" idx="2"/>
            <a:endCxn id="5" idx="2"/>
          </p:cNvCxnSpPr>
          <p:nvPr/>
        </p:nvCxnSpPr>
        <p:spPr bwMode="auto">
          <a:xfrm rot="5400000">
            <a:off x="4123532" y="737394"/>
            <a:ext cx="1587" cy="4664075"/>
          </a:xfrm>
          <a:prstGeom prst="curvedConnector3">
            <a:avLst>
              <a:gd name="adj1" fmla="val 33143079"/>
            </a:avLst>
          </a:prstGeom>
          <a:noFill/>
          <a:ln w="9525" algn="ctr">
            <a:solidFill>
              <a:schemeClr val="accent1"/>
            </a:solidFill>
            <a:round/>
            <a:headEnd/>
            <a:tailEnd type="triangle" w="med" len="med"/>
          </a:ln>
        </p:spPr>
      </p:cxnSp>
      <p:sp>
        <p:nvSpPr>
          <p:cNvPr id="36879" name="TextBox 25"/>
          <p:cNvSpPr txBox="1">
            <a:spLocks noChangeArrowheads="1"/>
          </p:cNvSpPr>
          <p:nvPr/>
        </p:nvSpPr>
        <p:spPr bwMode="auto">
          <a:xfrm>
            <a:off x="5289550" y="1635125"/>
            <a:ext cx="538163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600" b="1"/>
              <a:t>1T</a:t>
            </a:r>
            <a:endParaRPr lang="zh-CN" altLang="en-US" sz="1600" b="1"/>
          </a:p>
        </p:txBody>
      </p:sp>
      <p:sp>
        <p:nvSpPr>
          <p:cNvPr id="36880" name="TextBox 26"/>
          <p:cNvSpPr txBox="1">
            <a:spLocks noChangeArrowheads="1"/>
          </p:cNvSpPr>
          <p:nvPr/>
        </p:nvSpPr>
        <p:spPr bwMode="auto">
          <a:xfrm>
            <a:off x="3854450" y="3090863"/>
            <a:ext cx="538163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600" b="1"/>
              <a:t>2T</a:t>
            </a:r>
            <a:endParaRPr lang="zh-CN" altLang="en-US" sz="1600" b="1"/>
          </a:p>
        </p:txBody>
      </p:sp>
      <p:sp>
        <p:nvSpPr>
          <p:cNvPr id="36881" name="TextBox 27"/>
          <p:cNvSpPr txBox="1">
            <a:spLocks noChangeArrowheads="1"/>
          </p:cNvSpPr>
          <p:nvPr/>
        </p:nvSpPr>
        <p:spPr bwMode="auto">
          <a:xfrm>
            <a:off x="2957513" y="3090863"/>
            <a:ext cx="538162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600" b="1"/>
              <a:t>3T</a:t>
            </a:r>
            <a:endParaRPr lang="zh-CN" altLang="en-US" sz="1600" b="1"/>
          </a:p>
        </p:txBody>
      </p:sp>
      <p:sp>
        <p:nvSpPr>
          <p:cNvPr id="36882" name="TextBox 28"/>
          <p:cNvSpPr txBox="1">
            <a:spLocks noChangeArrowheads="1"/>
          </p:cNvSpPr>
          <p:nvPr/>
        </p:nvSpPr>
        <p:spPr bwMode="auto">
          <a:xfrm>
            <a:off x="2060575" y="3090863"/>
            <a:ext cx="538163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600" b="1"/>
              <a:t>4T</a:t>
            </a:r>
            <a:endParaRPr lang="zh-CN" altLang="en-US" sz="1600" b="1"/>
          </a:p>
        </p:txBody>
      </p:sp>
      <p:sp>
        <p:nvSpPr>
          <p:cNvPr id="36883" name="TextBox 29"/>
          <p:cNvSpPr txBox="1">
            <a:spLocks noChangeArrowheads="1"/>
          </p:cNvSpPr>
          <p:nvPr/>
        </p:nvSpPr>
        <p:spPr bwMode="auto">
          <a:xfrm>
            <a:off x="4006850" y="3449638"/>
            <a:ext cx="538163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600" b="1"/>
              <a:t>5T</a:t>
            </a:r>
            <a:endParaRPr lang="zh-CN" altLang="en-US" sz="1600" b="1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方案二：在最短时间内完成</a:t>
            </a:r>
          </a:p>
        </p:txBody>
      </p:sp>
      <p:sp>
        <p:nvSpPr>
          <p:cNvPr id="37891" name="内容占位符 2"/>
          <p:cNvSpPr>
            <a:spLocks noGrp="1"/>
          </p:cNvSpPr>
          <p:nvPr>
            <p:ph idx="1"/>
          </p:nvPr>
        </p:nvSpPr>
        <p:spPr>
          <a:xfrm>
            <a:off x="917575" y="4146550"/>
            <a:ext cx="7369175" cy="1949450"/>
          </a:xfrm>
        </p:spPr>
        <p:txBody>
          <a:bodyPr/>
          <a:lstStyle/>
          <a:p>
            <a:r>
              <a:rPr lang="zh-CN" altLang="en-US"/>
              <a:t>占用额外空间</a:t>
            </a:r>
            <a:r>
              <a:rPr lang="en-US" altLang="zh-CN"/>
              <a:t>4</a:t>
            </a:r>
          </a:p>
          <a:p>
            <a:r>
              <a:rPr lang="zh-CN" altLang="en-US"/>
              <a:t>消耗时间</a:t>
            </a:r>
            <a:r>
              <a:rPr lang="en-US" altLang="zh-CN"/>
              <a:t>2T</a:t>
            </a:r>
            <a:endParaRPr lang="zh-CN" altLang="en-US"/>
          </a:p>
          <a:p>
            <a:endParaRPr lang="zh-CN" altLang="en-US"/>
          </a:p>
        </p:txBody>
      </p:sp>
      <p:sp>
        <p:nvSpPr>
          <p:cNvPr id="3789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287BACDD-850B-4485-A70D-C8079FEA0771}" type="slidenum">
              <a:rPr lang="en-US" altLang="en-US" smtClean="0">
                <a:ea typeface="宋体" pitchFamily="2" charset="-122"/>
              </a:rPr>
              <a:pPr/>
              <a:t>10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5" name="圆角矩形 4"/>
          <p:cNvSpPr/>
          <p:nvPr/>
        </p:nvSpPr>
        <p:spPr bwMode="auto">
          <a:xfrm>
            <a:off x="446088" y="2173288"/>
            <a:ext cx="896937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rgbClr val="FF0000"/>
                </a:solidFill>
              </a:rPr>
              <a:t>A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6" name="圆角矩形 5"/>
          <p:cNvSpPr/>
          <p:nvPr/>
        </p:nvSpPr>
        <p:spPr bwMode="auto">
          <a:xfrm>
            <a:off x="1343025" y="2173288"/>
            <a:ext cx="896938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rgbClr val="FF0000"/>
                </a:solidFill>
              </a:rPr>
              <a:t>B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7" name="圆角矩形 6"/>
          <p:cNvSpPr/>
          <p:nvPr/>
        </p:nvSpPr>
        <p:spPr bwMode="auto">
          <a:xfrm>
            <a:off x="2239963" y="2173288"/>
            <a:ext cx="896937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rgbClr val="FF0000"/>
                </a:solidFill>
              </a:rPr>
              <a:t>C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8" name="圆角矩形 7"/>
          <p:cNvSpPr/>
          <p:nvPr/>
        </p:nvSpPr>
        <p:spPr bwMode="auto">
          <a:xfrm>
            <a:off x="3136900" y="2173288"/>
            <a:ext cx="896938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rgbClr val="FF0000"/>
                </a:solidFill>
              </a:rPr>
              <a:t>D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9" name="圆角矩形 8"/>
          <p:cNvSpPr/>
          <p:nvPr/>
        </p:nvSpPr>
        <p:spPr bwMode="auto">
          <a:xfrm>
            <a:off x="5110163" y="2173288"/>
            <a:ext cx="896937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r>
              <a:rPr lang="zh-CN" altLang="en-US" sz="1600" dirty="0">
                <a:solidFill>
                  <a:srgbClr val="FF0000"/>
                </a:solidFill>
              </a:rPr>
              <a:t>周转房</a:t>
            </a:r>
          </a:p>
        </p:txBody>
      </p:sp>
      <p:cxnSp>
        <p:nvCxnSpPr>
          <p:cNvPr id="37898" name="曲线连接符 9"/>
          <p:cNvCxnSpPr>
            <a:cxnSpLocks noChangeShapeType="1"/>
            <a:stCxn id="5" idx="0"/>
            <a:endCxn id="9" idx="0"/>
          </p:cNvCxnSpPr>
          <p:nvPr/>
        </p:nvCxnSpPr>
        <p:spPr bwMode="auto">
          <a:xfrm rot="5400000" flipH="1" flipV="1">
            <a:off x="3226594" y="-159544"/>
            <a:ext cx="1588" cy="4664075"/>
          </a:xfrm>
          <a:prstGeom prst="curvedConnector3">
            <a:avLst>
              <a:gd name="adj1" fmla="val 14395468"/>
            </a:avLst>
          </a:prstGeom>
          <a:noFill/>
          <a:ln w="9525" algn="ctr">
            <a:solidFill>
              <a:schemeClr val="accent1"/>
            </a:solidFill>
            <a:round/>
            <a:headEnd/>
            <a:tailEnd type="triangle" w="med" len="med"/>
          </a:ln>
        </p:spPr>
      </p:cxnSp>
      <p:cxnSp>
        <p:nvCxnSpPr>
          <p:cNvPr id="37899" name="曲线连接符 13"/>
          <p:cNvCxnSpPr>
            <a:cxnSpLocks noChangeShapeType="1"/>
            <a:stCxn id="9" idx="2"/>
            <a:endCxn id="6" idx="2"/>
          </p:cNvCxnSpPr>
          <p:nvPr/>
        </p:nvCxnSpPr>
        <p:spPr bwMode="auto">
          <a:xfrm rot="5400000">
            <a:off x="3675063" y="1185863"/>
            <a:ext cx="1587" cy="3767137"/>
          </a:xfrm>
          <a:prstGeom prst="curvedConnector3">
            <a:avLst>
              <a:gd name="adj1" fmla="val 14395468"/>
            </a:avLst>
          </a:prstGeom>
          <a:noFill/>
          <a:ln w="9525" algn="ctr">
            <a:solidFill>
              <a:schemeClr val="accent1"/>
            </a:solidFill>
            <a:round/>
            <a:headEnd/>
            <a:tailEnd type="triangle" w="med" len="med"/>
          </a:ln>
        </p:spPr>
      </p:cxnSp>
      <p:sp>
        <p:nvSpPr>
          <p:cNvPr id="37900" name="TextBox 14"/>
          <p:cNvSpPr txBox="1">
            <a:spLocks noChangeArrowheads="1"/>
          </p:cNvSpPr>
          <p:nvPr/>
        </p:nvSpPr>
        <p:spPr bwMode="auto">
          <a:xfrm>
            <a:off x="4392613" y="1635125"/>
            <a:ext cx="5381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600" b="1"/>
              <a:t>1T</a:t>
            </a:r>
            <a:endParaRPr lang="zh-CN" altLang="en-US" sz="1600" b="1"/>
          </a:p>
        </p:txBody>
      </p:sp>
      <p:sp>
        <p:nvSpPr>
          <p:cNvPr id="37901" name="TextBox 18"/>
          <p:cNvSpPr txBox="1">
            <a:spLocks noChangeArrowheads="1"/>
          </p:cNvSpPr>
          <p:nvPr/>
        </p:nvSpPr>
        <p:spPr bwMode="auto">
          <a:xfrm>
            <a:off x="4392613" y="3449638"/>
            <a:ext cx="538162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600" b="1"/>
              <a:t>2T</a:t>
            </a:r>
            <a:endParaRPr lang="zh-CN" altLang="en-US" sz="1600" b="1"/>
          </a:p>
        </p:txBody>
      </p:sp>
      <p:sp>
        <p:nvSpPr>
          <p:cNvPr id="20" name="圆角矩形 19"/>
          <p:cNvSpPr/>
          <p:nvPr/>
        </p:nvSpPr>
        <p:spPr bwMode="auto">
          <a:xfrm>
            <a:off x="6007100" y="2173288"/>
            <a:ext cx="896938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r>
              <a:rPr lang="zh-CN" altLang="en-US" sz="1600" dirty="0">
                <a:solidFill>
                  <a:srgbClr val="FF0000"/>
                </a:solidFill>
              </a:rPr>
              <a:t>周转房</a:t>
            </a:r>
          </a:p>
        </p:txBody>
      </p:sp>
      <p:sp>
        <p:nvSpPr>
          <p:cNvPr id="21" name="圆角矩形 20"/>
          <p:cNvSpPr/>
          <p:nvPr/>
        </p:nvSpPr>
        <p:spPr bwMode="auto">
          <a:xfrm>
            <a:off x="6904038" y="2173288"/>
            <a:ext cx="896937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r>
              <a:rPr lang="zh-CN" altLang="en-US" sz="1600" dirty="0">
                <a:solidFill>
                  <a:srgbClr val="FF0000"/>
                </a:solidFill>
              </a:rPr>
              <a:t>周转房</a:t>
            </a:r>
          </a:p>
        </p:txBody>
      </p:sp>
      <p:sp>
        <p:nvSpPr>
          <p:cNvPr id="22" name="圆角矩形 21"/>
          <p:cNvSpPr/>
          <p:nvPr/>
        </p:nvSpPr>
        <p:spPr bwMode="auto">
          <a:xfrm>
            <a:off x="7800975" y="2173288"/>
            <a:ext cx="896938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r>
              <a:rPr lang="zh-CN" altLang="en-US" sz="1600" dirty="0">
                <a:solidFill>
                  <a:srgbClr val="FF0000"/>
                </a:solidFill>
              </a:rPr>
              <a:t>周转房</a:t>
            </a:r>
          </a:p>
        </p:txBody>
      </p:sp>
      <p:cxnSp>
        <p:nvCxnSpPr>
          <p:cNvPr id="37905" name="曲线连接符 23"/>
          <p:cNvCxnSpPr>
            <a:cxnSpLocks noChangeShapeType="1"/>
            <a:stCxn id="6" idx="0"/>
            <a:endCxn id="20" idx="0"/>
          </p:cNvCxnSpPr>
          <p:nvPr/>
        </p:nvCxnSpPr>
        <p:spPr bwMode="auto">
          <a:xfrm rot="5400000" flipH="1" flipV="1">
            <a:off x="4123532" y="-159544"/>
            <a:ext cx="1588" cy="4664075"/>
          </a:xfrm>
          <a:prstGeom prst="curvedConnector3">
            <a:avLst>
              <a:gd name="adj1" fmla="val 14395468"/>
            </a:avLst>
          </a:prstGeom>
          <a:noFill/>
          <a:ln w="9525" algn="ctr">
            <a:solidFill>
              <a:schemeClr val="accent1"/>
            </a:solidFill>
            <a:round/>
            <a:headEnd/>
            <a:tailEnd type="triangle" w="med" len="med"/>
          </a:ln>
        </p:spPr>
      </p:cxnSp>
      <p:cxnSp>
        <p:nvCxnSpPr>
          <p:cNvPr id="37906" name="曲线连接符 26"/>
          <p:cNvCxnSpPr>
            <a:cxnSpLocks noChangeShapeType="1"/>
            <a:stCxn id="7" idx="0"/>
            <a:endCxn id="21" idx="0"/>
          </p:cNvCxnSpPr>
          <p:nvPr/>
        </p:nvCxnSpPr>
        <p:spPr bwMode="auto">
          <a:xfrm rot="5400000" flipH="1" flipV="1">
            <a:off x="5020469" y="-159544"/>
            <a:ext cx="1588" cy="4664075"/>
          </a:xfrm>
          <a:prstGeom prst="curvedConnector3">
            <a:avLst>
              <a:gd name="adj1" fmla="val 14395468"/>
            </a:avLst>
          </a:prstGeom>
          <a:noFill/>
          <a:ln w="9525" algn="ctr">
            <a:solidFill>
              <a:schemeClr val="accent1"/>
            </a:solidFill>
            <a:round/>
            <a:headEnd/>
            <a:tailEnd type="triangle" w="med" len="med"/>
          </a:ln>
        </p:spPr>
      </p:cxnSp>
      <p:cxnSp>
        <p:nvCxnSpPr>
          <p:cNvPr id="37907" name="曲线连接符 29"/>
          <p:cNvCxnSpPr>
            <a:cxnSpLocks noChangeShapeType="1"/>
            <a:stCxn id="8" idx="0"/>
            <a:endCxn id="22" idx="0"/>
          </p:cNvCxnSpPr>
          <p:nvPr/>
        </p:nvCxnSpPr>
        <p:spPr bwMode="auto">
          <a:xfrm rot="5400000" flipH="1" flipV="1">
            <a:off x="5917407" y="-159544"/>
            <a:ext cx="1588" cy="4664075"/>
          </a:xfrm>
          <a:prstGeom prst="curvedConnector3">
            <a:avLst>
              <a:gd name="adj1" fmla="val 14395468"/>
            </a:avLst>
          </a:prstGeom>
          <a:noFill/>
          <a:ln w="9525" algn="ctr">
            <a:solidFill>
              <a:schemeClr val="accent1"/>
            </a:solidFill>
            <a:round/>
            <a:headEnd/>
            <a:tailEnd type="triangle" w="med" len="med"/>
          </a:ln>
        </p:spPr>
      </p:cxnSp>
      <p:cxnSp>
        <p:nvCxnSpPr>
          <p:cNvPr id="37908" name="曲线连接符 33"/>
          <p:cNvCxnSpPr>
            <a:cxnSpLocks noChangeShapeType="1"/>
            <a:stCxn id="20" idx="2"/>
            <a:endCxn id="7" idx="2"/>
          </p:cNvCxnSpPr>
          <p:nvPr/>
        </p:nvCxnSpPr>
        <p:spPr bwMode="auto">
          <a:xfrm rot="5400000">
            <a:off x="4572000" y="1185863"/>
            <a:ext cx="1587" cy="3767138"/>
          </a:xfrm>
          <a:prstGeom prst="curvedConnector3">
            <a:avLst>
              <a:gd name="adj1" fmla="val 14395468"/>
            </a:avLst>
          </a:prstGeom>
          <a:noFill/>
          <a:ln w="9525" algn="ctr">
            <a:solidFill>
              <a:schemeClr val="accent1"/>
            </a:solidFill>
            <a:round/>
            <a:headEnd/>
            <a:tailEnd type="triangle" w="med" len="med"/>
          </a:ln>
        </p:spPr>
      </p:cxnSp>
      <p:cxnSp>
        <p:nvCxnSpPr>
          <p:cNvPr id="37909" name="曲线连接符 36"/>
          <p:cNvCxnSpPr>
            <a:cxnSpLocks noChangeShapeType="1"/>
            <a:stCxn id="21" idx="2"/>
            <a:endCxn id="8" idx="2"/>
          </p:cNvCxnSpPr>
          <p:nvPr/>
        </p:nvCxnSpPr>
        <p:spPr bwMode="auto">
          <a:xfrm rot="5400000">
            <a:off x="5468938" y="1185863"/>
            <a:ext cx="1587" cy="3767137"/>
          </a:xfrm>
          <a:prstGeom prst="curvedConnector3">
            <a:avLst>
              <a:gd name="adj1" fmla="val 14395468"/>
            </a:avLst>
          </a:prstGeom>
          <a:noFill/>
          <a:ln w="9525" algn="ctr">
            <a:solidFill>
              <a:schemeClr val="accent1"/>
            </a:solidFill>
            <a:round/>
            <a:headEnd/>
            <a:tailEnd type="triangle" w="med" len="med"/>
          </a:ln>
        </p:spPr>
      </p:cxnSp>
      <p:cxnSp>
        <p:nvCxnSpPr>
          <p:cNvPr id="37910" name="曲线连接符 39"/>
          <p:cNvCxnSpPr>
            <a:cxnSpLocks noChangeShapeType="1"/>
            <a:stCxn id="22" idx="2"/>
            <a:endCxn id="5" idx="2"/>
          </p:cNvCxnSpPr>
          <p:nvPr/>
        </p:nvCxnSpPr>
        <p:spPr bwMode="auto">
          <a:xfrm rot="5400000">
            <a:off x="4572000" y="-608012"/>
            <a:ext cx="1587" cy="7354888"/>
          </a:xfrm>
          <a:prstGeom prst="curvedConnector3">
            <a:avLst>
              <a:gd name="adj1" fmla="val 22430167"/>
            </a:avLst>
          </a:prstGeom>
          <a:noFill/>
          <a:ln w="9525" algn="ctr">
            <a:solidFill>
              <a:schemeClr val="accent1"/>
            </a:solidFill>
            <a:round/>
            <a:headEnd/>
            <a:tailEnd type="triangle" w="med" len="med"/>
          </a:ln>
        </p:spPr>
      </p:cxn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结论</a:t>
            </a:r>
          </a:p>
        </p:txBody>
      </p:sp>
      <p:sp>
        <p:nvSpPr>
          <p:cNvPr id="3891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评价程序性能</a:t>
            </a:r>
            <a:endParaRPr lang="en-US" altLang="zh-CN"/>
          </a:p>
          <a:p>
            <a:pPr lvl="1"/>
            <a:r>
              <a:rPr lang="zh-CN" altLang="en-US"/>
              <a:t>分析或测量程序的时空开销</a:t>
            </a:r>
            <a:endParaRPr lang="en-US" altLang="zh-CN"/>
          </a:p>
          <a:p>
            <a:r>
              <a:rPr lang="zh-CN" altLang="en-US"/>
              <a:t>选择算法</a:t>
            </a:r>
            <a:endParaRPr lang="en-US" altLang="zh-CN"/>
          </a:p>
          <a:p>
            <a:pPr lvl="1"/>
            <a:r>
              <a:rPr lang="zh-CN" altLang="en-US"/>
              <a:t>针对某一具体问题，在其不同解决方案之间进行空间和时间的权衡</a:t>
            </a:r>
          </a:p>
        </p:txBody>
      </p:sp>
      <p:sp>
        <p:nvSpPr>
          <p:cNvPr id="3891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BFAF301-D23A-475F-97A2-9DCB685B83DF}" type="slidenum">
              <a:rPr lang="en-US" altLang="en-US" smtClean="0">
                <a:ea typeface="宋体" pitchFamily="2" charset="-122"/>
              </a:rPr>
              <a:pPr/>
              <a:t>11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影响程序性能评价的因素</a:t>
            </a:r>
          </a:p>
        </p:txBody>
      </p:sp>
      <p:sp>
        <p:nvSpPr>
          <p:cNvPr id="3993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计算机</a:t>
            </a:r>
            <a:endParaRPr lang="en-US" altLang="zh-CN"/>
          </a:p>
          <a:p>
            <a:r>
              <a:rPr lang="zh-CN" altLang="en-US"/>
              <a:t>编译器及其选项</a:t>
            </a:r>
            <a:endParaRPr lang="en-US" altLang="zh-CN"/>
          </a:p>
          <a:p>
            <a:r>
              <a:rPr lang="zh-CN" altLang="en-US"/>
              <a:t>问题规模（问题实例长度）</a:t>
            </a:r>
            <a:endParaRPr lang="en-US" altLang="zh-CN"/>
          </a:p>
          <a:p>
            <a:r>
              <a:rPr lang="zh-CN" altLang="en-US"/>
              <a:t>具体输入</a:t>
            </a:r>
            <a:endParaRPr lang="en-US" altLang="zh-CN"/>
          </a:p>
          <a:p>
            <a:r>
              <a:rPr lang="zh-CN" altLang="en-US"/>
              <a:t>代码本身（数据结构及算法）</a:t>
            </a:r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D2A5A9C-428D-4804-9E28-E28646914A5E}" type="slidenum">
              <a:rPr lang="en-US" altLang="en-US" smtClean="0">
                <a:ea typeface="宋体" pitchFamily="2" charset="-122"/>
              </a:rPr>
              <a:pPr/>
              <a:t>12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39941" name="右大括号 5"/>
          <p:cNvSpPr>
            <a:spLocks/>
          </p:cNvSpPr>
          <p:nvPr/>
        </p:nvSpPr>
        <p:spPr bwMode="auto">
          <a:xfrm>
            <a:off x="5648325" y="1455738"/>
            <a:ext cx="358775" cy="1076325"/>
          </a:xfrm>
          <a:prstGeom prst="rightBrace">
            <a:avLst>
              <a:gd name="adj1" fmla="val 8333"/>
              <a:gd name="adj2" fmla="val 50000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lIns="0" tIns="0" rIns="182880" bIns="0"/>
          <a:lstStyle/>
          <a:p>
            <a:pPr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39942" name="右大括号 6"/>
          <p:cNvSpPr>
            <a:spLocks/>
          </p:cNvSpPr>
          <p:nvPr/>
        </p:nvSpPr>
        <p:spPr bwMode="auto">
          <a:xfrm>
            <a:off x="5648325" y="2890838"/>
            <a:ext cx="358775" cy="1614487"/>
          </a:xfrm>
          <a:prstGeom prst="rightBrace">
            <a:avLst>
              <a:gd name="adj1" fmla="val 8333"/>
              <a:gd name="adj2" fmla="val 50000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lIns="0" tIns="0" rIns="182880" bIns="0"/>
          <a:lstStyle/>
          <a:p>
            <a:pPr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39943" name="TextBox 7"/>
          <p:cNvSpPr txBox="1">
            <a:spLocks noChangeArrowheads="1"/>
          </p:cNvSpPr>
          <p:nvPr/>
        </p:nvSpPr>
        <p:spPr bwMode="auto">
          <a:xfrm>
            <a:off x="6186488" y="1814513"/>
            <a:ext cx="197326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/>
              <a:t>暂不考虑</a:t>
            </a:r>
          </a:p>
        </p:txBody>
      </p:sp>
      <p:sp>
        <p:nvSpPr>
          <p:cNvPr id="39944" name="TextBox 8"/>
          <p:cNvSpPr txBox="1">
            <a:spLocks noChangeArrowheads="1"/>
          </p:cNvSpPr>
          <p:nvPr/>
        </p:nvSpPr>
        <p:spPr bwMode="auto">
          <a:xfrm>
            <a:off x="6186488" y="3429000"/>
            <a:ext cx="197326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/>
              <a:t>重点考虑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空间复杂性</a:t>
            </a:r>
          </a:p>
        </p:txBody>
      </p:sp>
      <p:sp>
        <p:nvSpPr>
          <p:cNvPr id="4096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程序所需空间</a:t>
            </a:r>
            <a:endParaRPr lang="en-US" altLang="zh-CN"/>
          </a:p>
          <a:p>
            <a:pPr lvl="1"/>
            <a:r>
              <a:rPr lang="zh-CN" altLang="en-US"/>
              <a:t>指令空间</a:t>
            </a:r>
            <a:endParaRPr lang="en-US" altLang="zh-CN"/>
          </a:p>
          <a:p>
            <a:pPr lvl="2"/>
            <a:r>
              <a:rPr lang="zh-CN" altLang="en-US"/>
              <a:t>存储编译后的指令所需的空间</a:t>
            </a:r>
            <a:endParaRPr lang="en-US" altLang="zh-CN"/>
          </a:p>
          <a:p>
            <a:pPr lvl="2"/>
            <a:r>
              <a:rPr lang="zh-CN" altLang="en-US"/>
              <a:t>与目标机器、编译器及选项有关</a:t>
            </a:r>
            <a:endParaRPr lang="en-US" altLang="zh-CN"/>
          </a:p>
          <a:p>
            <a:pPr lvl="2"/>
            <a:r>
              <a:rPr lang="zh-CN" altLang="en-US"/>
              <a:t>不在本课程研究范围之内</a:t>
            </a:r>
            <a:endParaRPr lang="en-US" altLang="zh-CN"/>
          </a:p>
          <a:p>
            <a:pPr lvl="1"/>
            <a:r>
              <a:rPr lang="zh-CN" altLang="en-US"/>
              <a:t>数据空间</a:t>
            </a:r>
            <a:endParaRPr lang="en-US" altLang="zh-CN"/>
          </a:p>
          <a:p>
            <a:pPr lvl="2"/>
            <a:r>
              <a:rPr lang="zh-CN" altLang="en-US"/>
              <a:t>存储常量、简单变量、复合变量及动态分配的空间</a:t>
            </a:r>
            <a:endParaRPr lang="en-US" altLang="zh-CN"/>
          </a:p>
          <a:p>
            <a:pPr lvl="1"/>
            <a:r>
              <a:rPr lang="zh-CN" altLang="en-US"/>
              <a:t>环境栈空间</a:t>
            </a:r>
            <a:endParaRPr lang="en-US" altLang="zh-CN"/>
          </a:p>
          <a:p>
            <a:pPr lvl="2"/>
            <a:r>
              <a:rPr lang="zh-CN" altLang="en-US"/>
              <a:t>发生函数调用时所需的空间</a:t>
            </a:r>
          </a:p>
        </p:txBody>
      </p:sp>
      <p:sp>
        <p:nvSpPr>
          <p:cNvPr id="4096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624C408-2FD0-4D7E-B144-33F1907BCB29}" type="slidenum">
              <a:rPr lang="en-US" altLang="en-US" smtClean="0">
                <a:ea typeface="宋体" pitchFamily="2" charset="-122"/>
              </a:rPr>
              <a:pPr/>
              <a:t>13</a:t>
            </a:fld>
            <a:endParaRPr lang="en-US" altLang="en-US">
              <a:ea typeface="宋体" pitchFamily="2" charset="-122"/>
            </a:endParaRPr>
          </a:p>
        </p:txBody>
      </p:sp>
      <p:pic>
        <p:nvPicPr>
          <p:cNvPr id="40965" name="Picture 2" descr="C:\Program Files (x86)\Microsoft Office\MEDIA\CAGCAT10\j0252349.wm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57513" y="3608388"/>
            <a:ext cx="912812" cy="55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66" name="Picture 2" descr="C:\Program Files (x86)\Microsoft Office\MEDIA\CAGCAT10\j0252349.wm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00413" y="4505325"/>
            <a:ext cx="912812" cy="55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数据空间：</a:t>
            </a:r>
            <a:r>
              <a:rPr lang="en-US" altLang="zh-CN"/>
              <a:t>VC++</a:t>
            </a:r>
            <a:r>
              <a:rPr lang="zh-CN" altLang="en-US"/>
              <a:t>中变量所占空间</a:t>
            </a:r>
          </a:p>
        </p:txBody>
      </p:sp>
      <p:sp>
        <p:nvSpPr>
          <p:cNvPr id="41987" name="内容占位符 2"/>
          <p:cNvSpPr>
            <a:spLocks noGrp="1"/>
          </p:cNvSpPr>
          <p:nvPr>
            <p:ph idx="1"/>
          </p:nvPr>
        </p:nvSpPr>
        <p:spPr>
          <a:xfrm>
            <a:off x="917575" y="4684713"/>
            <a:ext cx="7369175" cy="1411287"/>
          </a:xfrm>
        </p:spPr>
        <p:txBody>
          <a:bodyPr/>
          <a:lstStyle/>
          <a:p>
            <a:r>
              <a:rPr lang="en-US" altLang="zh-CN"/>
              <a:t>double a[100];  </a:t>
            </a:r>
            <a:r>
              <a:rPr lang="en-US" altLang="zh-CN">
                <a:sym typeface="Wingdings" pitchFamily="2" charset="2"/>
              </a:rPr>
              <a:t>800</a:t>
            </a:r>
            <a:r>
              <a:rPr lang="zh-CN" altLang="en-US">
                <a:sym typeface="Wingdings" pitchFamily="2" charset="2"/>
              </a:rPr>
              <a:t>字节</a:t>
            </a:r>
            <a:endParaRPr lang="en-US" altLang="zh-CN">
              <a:sym typeface="Wingdings" pitchFamily="2" charset="2"/>
            </a:endParaRPr>
          </a:p>
          <a:p>
            <a:r>
              <a:rPr lang="en-US" altLang="zh-CN">
                <a:sym typeface="Wingdings" pitchFamily="2" charset="2"/>
              </a:rPr>
              <a:t>int maze[r][c]; 4*r*c</a:t>
            </a:r>
            <a:r>
              <a:rPr lang="zh-CN" altLang="en-US">
                <a:sym typeface="Wingdings" pitchFamily="2" charset="2"/>
              </a:rPr>
              <a:t>字节</a:t>
            </a:r>
            <a:endParaRPr lang="zh-CN" altLang="en-US"/>
          </a:p>
        </p:txBody>
      </p:sp>
      <p:sp>
        <p:nvSpPr>
          <p:cNvPr id="4198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E4D2A106-E9A3-46AD-89F9-47FF3A46DB2C}" type="slidenum">
              <a:rPr lang="en-US" altLang="en-US" smtClean="0">
                <a:ea typeface="宋体" pitchFamily="2" charset="-122"/>
              </a:rPr>
              <a:pPr/>
              <a:t>14</a:t>
            </a:fld>
            <a:endParaRPr lang="en-US" altLang="en-US">
              <a:ea typeface="宋体" pitchFamily="2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984250" y="1397000"/>
          <a:ext cx="60960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类型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占用字节数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char, unsigned char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short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int</a:t>
                      </a:r>
                      <a:r>
                        <a:rPr lang="en-US" altLang="zh-CN" dirty="0"/>
                        <a:t>,</a:t>
                      </a:r>
                      <a:r>
                        <a:rPr lang="en-US" altLang="zh-CN" baseline="0" dirty="0"/>
                        <a:t> unsigned </a:t>
                      </a:r>
                      <a:r>
                        <a:rPr lang="en-US" altLang="zh-CN" baseline="0" dirty="0" err="1"/>
                        <a:t>int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long, unsigned long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float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double, long double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pointer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2018" name="TextBox 5"/>
          <p:cNvSpPr txBox="1">
            <a:spLocks noChangeArrowheads="1"/>
          </p:cNvSpPr>
          <p:nvPr/>
        </p:nvSpPr>
        <p:spPr bwMode="auto">
          <a:xfrm>
            <a:off x="7442200" y="1635125"/>
            <a:ext cx="1255713" cy="2532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</a:rPr>
              <a:t>完成书中练习时可以参照图</a:t>
            </a:r>
            <a:r>
              <a:rPr lang="en-US" altLang="zh-CN">
                <a:solidFill>
                  <a:srgbClr val="FF0000"/>
                </a:solidFill>
              </a:rPr>
              <a:t>2-2</a:t>
            </a:r>
            <a:r>
              <a:rPr lang="zh-CN" altLang="en-US">
                <a:solidFill>
                  <a:srgbClr val="FF0000"/>
                </a:solidFill>
              </a:rPr>
              <a:t>也可以参照左表，注明即可。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程序空间分析</a:t>
            </a:r>
          </a:p>
        </p:txBody>
      </p:sp>
      <p:sp>
        <p:nvSpPr>
          <p:cNvPr id="4301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程序空间分为固定部分和可变部分</a:t>
            </a:r>
            <a:endParaRPr lang="en-US" altLang="zh-CN"/>
          </a:p>
          <a:p>
            <a:r>
              <a:rPr lang="zh-CN" altLang="en-US"/>
              <a:t>其中可变部分是指随问题规模变化的空间</a:t>
            </a:r>
            <a:endParaRPr lang="en-US" altLang="zh-CN"/>
          </a:p>
          <a:p>
            <a:pPr lvl="1"/>
            <a:r>
              <a:rPr lang="zh-CN" altLang="en-US"/>
              <a:t>复合变量所需的空间</a:t>
            </a:r>
            <a:endParaRPr lang="en-US" altLang="zh-CN"/>
          </a:p>
          <a:p>
            <a:pPr lvl="1"/>
            <a:r>
              <a:rPr lang="zh-CN" altLang="en-US"/>
              <a:t>动态分配的空间</a:t>
            </a:r>
            <a:endParaRPr lang="en-US" altLang="zh-CN"/>
          </a:p>
          <a:p>
            <a:pPr lvl="1"/>
            <a:r>
              <a:rPr lang="zh-CN" altLang="en-US"/>
              <a:t>递归栈所需的空间</a:t>
            </a:r>
            <a:endParaRPr lang="en-US" altLang="zh-CN"/>
          </a:p>
          <a:p>
            <a:pPr lvl="1"/>
            <a:endParaRPr lang="en-US" altLang="zh-CN"/>
          </a:p>
          <a:p>
            <a:pPr>
              <a:buFontTx/>
              <a:buNone/>
            </a:pPr>
            <a:r>
              <a:rPr lang="en-US" altLang="zh-CN"/>
              <a:t>   </a:t>
            </a:r>
            <a:r>
              <a:rPr lang="en-US" altLang="zh-CN" i="1"/>
              <a:t>S(P) </a:t>
            </a:r>
            <a:r>
              <a:rPr lang="en-US" altLang="zh-CN"/>
              <a:t>= </a:t>
            </a:r>
            <a:r>
              <a:rPr lang="en-US" altLang="zh-CN" i="1"/>
              <a:t>c </a:t>
            </a:r>
            <a:r>
              <a:rPr lang="en-US" altLang="zh-CN"/>
              <a:t>+ </a:t>
            </a:r>
            <a:r>
              <a:rPr lang="en-US" altLang="zh-CN" i="1"/>
              <a:t>S</a:t>
            </a:r>
            <a:r>
              <a:rPr lang="en-US" altLang="zh-CN" i="1" baseline="-25000"/>
              <a:t>p</a:t>
            </a:r>
            <a:r>
              <a:rPr lang="en-US" altLang="zh-CN"/>
              <a:t>(</a:t>
            </a:r>
            <a:r>
              <a:rPr lang="zh-CN" altLang="en-US"/>
              <a:t>实例特征</a:t>
            </a:r>
            <a:r>
              <a:rPr lang="en-US" altLang="zh-CN"/>
              <a:t>)</a:t>
            </a:r>
            <a:endParaRPr lang="zh-CN" altLang="en-US"/>
          </a:p>
        </p:txBody>
      </p:sp>
      <p:sp>
        <p:nvSpPr>
          <p:cNvPr id="4301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F451570-AD06-44BC-B3B3-C0EBA957E6F1}" type="slidenum">
              <a:rPr lang="en-US" altLang="en-US" smtClean="0">
                <a:ea typeface="宋体" pitchFamily="2" charset="-122"/>
              </a:rPr>
              <a:pPr/>
              <a:t>15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空间复杂性分析例</a:t>
            </a:r>
            <a:r>
              <a:rPr lang="en-US" altLang="zh-CN"/>
              <a:t>1:</a:t>
            </a:r>
            <a:r>
              <a:rPr lang="zh-CN" altLang="en-US"/>
              <a:t>累加</a:t>
            </a:r>
          </a:p>
        </p:txBody>
      </p:sp>
      <p:sp>
        <p:nvSpPr>
          <p:cNvPr id="44035" name="内容占位符 2"/>
          <p:cNvSpPr>
            <a:spLocks noGrp="1"/>
          </p:cNvSpPr>
          <p:nvPr>
            <p:ph idx="1"/>
          </p:nvPr>
        </p:nvSpPr>
        <p:spPr>
          <a:xfrm>
            <a:off x="917575" y="1525588"/>
            <a:ext cx="3295650" cy="4570412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000"/>
              <a:t>template&lt;class T&gt;</a:t>
            </a:r>
          </a:p>
          <a:p>
            <a:pPr>
              <a:buFontTx/>
              <a:buNone/>
            </a:pPr>
            <a:r>
              <a:rPr lang="en-US" altLang="zh-CN" sz="2000"/>
              <a:t>T Sum(T a[], int n)</a:t>
            </a:r>
          </a:p>
          <a:p>
            <a:pPr>
              <a:buFontTx/>
              <a:buNone/>
            </a:pPr>
            <a:r>
              <a:rPr lang="en-US" altLang="zh-CN" sz="2000"/>
              <a:t>{</a:t>
            </a:r>
          </a:p>
          <a:p>
            <a:pPr>
              <a:buFontTx/>
              <a:buNone/>
            </a:pPr>
            <a:r>
              <a:rPr lang="en-US" altLang="zh-CN" sz="2000"/>
              <a:t>  T tsum=0;</a:t>
            </a:r>
          </a:p>
          <a:p>
            <a:pPr>
              <a:buFontTx/>
              <a:buNone/>
            </a:pPr>
            <a:r>
              <a:rPr lang="en-US" altLang="zh-CN" sz="2000"/>
              <a:t>  for(int i=0;i&lt;n;i++)</a:t>
            </a:r>
          </a:p>
          <a:p>
            <a:pPr>
              <a:buFontTx/>
              <a:buNone/>
            </a:pPr>
            <a:r>
              <a:rPr lang="en-US" altLang="zh-CN" sz="2000"/>
              <a:t>    tsum+=a[i];</a:t>
            </a:r>
          </a:p>
          <a:p>
            <a:pPr>
              <a:buFontTx/>
              <a:buNone/>
            </a:pPr>
            <a:r>
              <a:rPr lang="en-US" altLang="zh-CN" sz="2000"/>
              <a:t>  return tsum;</a:t>
            </a:r>
          </a:p>
          <a:p>
            <a:pPr>
              <a:buFontTx/>
              <a:buNone/>
            </a:pPr>
            <a:r>
              <a:rPr lang="en-US" altLang="zh-CN" sz="2000"/>
              <a:t>}</a:t>
            </a:r>
          </a:p>
          <a:p>
            <a:pPr>
              <a:buFontTx/>
              <a:buNone/>
            </a:pPr>
            <a:r>
              <a:rPr lang="zh-CN" altLang="en-US" sz="2000">
                <a:solidFill>
                  <a:srgbClr val="FF0000"/>
                </a:solidFill>
              </a:rPr>
              <a:t>消耗空间与</a:t>
            </a:r>
            <a:r>
              <a:rPr lang="en-US" altLang="zh-CN" sz="2000">
                <a:solidFill>
                  <a:srgbClr val="FF0000"/>
                </a:solidFill>
              </a:rPr>
              <a:t>n</a:t>
            </a:r>
            <a:r>
              <a:rPr lang="zh-CN" altLang="en-US" sz="2000">
                <a:solidFill>
                  <a:srgbClr val="FF0000"/>
                </a:solidFill>
              </a:rPr>
              <a:t>无关</a:t>
            </a:r>
            <a:endParaRPr lang="en-US" altLang="zh-CN" sz="200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altLang="zh-CN" sz="2000" i="1">
                <a:solidFill>
                  <a:srgbClr val="FF0000"/>
                </a:solidFill>
              </a:rPr>
              <a:t>S</a:t>
            </a:r>
            <a:r>
              <a:rPr lang="en-US" altLang="zh-CN" sz="2000" i="1" baseline="-25000">
                <a:solidFill>
                  <a:srgbClr val="FF0000"/>
                </a:solidFill>
              </a:rPr>
              <a:t>Sum</a:t>
            </a:r>
            <a:r>
              <a:rPr lang="en-US" altLang="zh-CN" sz="2000" i="1">
                <a:solidFill>
                  <a:srgbClr val="FF0000"/>
                </a:solidFill>
              </a:rPr>
              <a:t>(n)</a:t>
            </a:r>
            <a:r>
              <a:rPr lang="en-US" altLang="zh-CN" sz="2000">
                <a:solidFill>
                  <a:srgbClr val="FF0000"/>
                </a:solidFill>
              </a:rPr>
              <a:t>=0</a:t>
            </a:r>
            <a:endParaRPr lang="zh-CN" altLang="en-US" sz="2000">
              <a:solidFill>
                <a:srgbClr val="FF0000"/>
              </a:solidFill>
            </a:endParaRPr>
          </a:p>
        </p:txBody>
      </p:sp>
      <p:sp>
        <p:nvSpPr>
          <p:cNvPr id="4403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DB9F781-F5F7-4CD9-B276-525960A72033}" type="slidenum">
              <a:rPr lang="en-US" altLang="en-US" smtClean="0">
                <a:ea typeface="宋体" pitchFamily="2" charset="-122"/>
              </a:rPr>
              <a:pPr/>
              <a:t>16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4325938" y="1549400"/>
            <a:ext cx="4730750" cy="457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182880" bIns="0"/>
          <a:lstStyle/>
          <a:p>
            <a:pPr marL="228600" indent="-228600" eaLnBrk="0" hangingPunct="0">
              <a:spcBef>
                <a:spcPct val="50000"/>
              </a:spcBef>
              <a:buClr>
                <a:schemeClr val="tx2"/>
              </a:buClr>
              <a:defRPr/>
            </a:pPr>
            <a:r>
              <a:rPr lang="en-US" altLang="zh-CN" sz="2000" b="1" kern="0" dirty="0">
                <a:latin typeface="黑体" pitchFamily="49" charset="-122"/>
                <a:ea typeface="黑体" pitchFamily="49" charset="-122"/>
              </a:rPr>
              <a:t>template&lt;class T&gt;</a:t>
            </a:r>
          </a:p>
          <a:p>
            <a:pPr marL="228600" indent="-228600" eaLnBrk="0" hangingPunct="0">
              <a:spcBef>
                <a:spcPct val="50000"/>
              </a:spcBef>
              <a:buClr>
                <a:schemeClr val="tx2"/>
              </a:buClr>
              <a:defRPr/>
            </a:pPr>
            <a:r>
              <a:rPr lang="en-US" altLang="zh-CN" sz="2000" b="1" kern="0" dirty="0">
                <a:latin typeface="黑体" pitchFamily="49" charset="-122"/>
                <a:ea typeface="黑体" pitchFamily="49" charset="-122"/>
              </a:rPr>
              <a:t>T </a:t>
            </a:r>
            <a:r>
              <a:rPr lang="en-US" altLang="zh-CN" sz="2000" b="1" kern="0" dirty="0" err="1">
                <a:latin typeface="黑体" pitchFamily="49" charset="-122"/>
                <a:ea typeface="黑体" pitchFamily="49" charset="-122"/>
              </a:rPr>
              <a:t>Rsum</a:t>
            </a:r>
            <a:r>
              <a:rPr lang="en-US" altLang="zh-CN" sz="2000" b="1" kern="0" dirty="0">
                <a:latin typeface="黑体" pitchFamily="49" charset="-122"/>
                <a:ea typeface="黑体" pitchFamily="49" charset="-122"/>
              </a:rPr>
              <a:t>(T a[], </a:t>
            </a:r>
            <a:r>
              <a:rPr lang="en-US" altLang="zh-CN" sz="2000" b="1" kern="0" dirty="0" err="1">
                <a:latin typeface="黑体" pitchFamily="49" charset="-122"/>
                <a:ea typeface="黑体" pitchFamily="49" charset="-122"/>
              </a:rPr>
              <a:t>int</a:t>
            </a:r>
            <a:r>
              <a:rPr lang="en-US" altLang="zh-CN" sz="2000" b="1" kern="0" dirty="0">
                <a:latin typeface="黑体" pitchFamily="49" charset="-122"/>
                <a:ea typeface="黑体" pitchFamily="49" charset="-122"/>
              </a:rPr>
              <a:t> n)</a:t>
            </a:r>
          </a:p>
          <a:p>
            <a:pPr marL="228600" indent="-228600" eaLnBrk="0" hangingPunct="0">
              <a:spcBef>
                <a:spcPct val="50000"/>
              </a:spcBef>
              <a:buClr>
                <a:schemeClr val="tx2"/>
              </a:buClr>
              <a:defRPr/>
            </a:pPr>
            <a:r>
              <a:rPr lang="en-US" altLang="zh-CN" sz="2000" b="1" kern="0" dirty="0">
                <a:latin typeface="黑体" pitchFamily="49" charset="-122"/>
                <a:ea typeface="黑体" pitchFamily="49" charset="-122"/>
              </a:rPr>
              <a:t>{</a:t>
            </a:r>
          </a:p>
          <a:p>
            <a:pPr marL="228600" indent="-228600" eaLnBrk="0" hangingPunct="0">
              <a:spcBef>
                <a:spcPct val="50000"/>
              </a:spcBef>
              <a:buClr>
                <a:schemeClr val="tx2"/>
              </a:buClr>
              <a:defRPr/>
            </a:pPr>
            <a:r>
              <a:rPr lang="en-US" altLang="zh-CN" sz="2000" b="1" kern="0" dirty="0">
                <a:latin typeface="黑体" pitchFamily="49" charset="-122"/>
                <a:ea typeface="黑体" pitchFamily="49" charset="-122"/>
              </a:rPr>
              <a:t>  if(n&gt;0)</a:t>
            </a:r>
          </a:p>
          <a:p>
            <a:pPr marL="228600" indent="-228600" eaLnBrk="0" hangingPunct="0">
              <a:spcBef>
                <a:spcPct val="50000"/>
              </a:spcBef>
              <a:buClr>
                <a:schemeClr val="tx2"/>
              </a:buClr>
              <a:defRPr/>
            </a:pPr>
            <a:r>
              <a:rPr lang="en-US" altLang="zh-CN" sz="2000" b="1" kern="0" dirty="0">
                <a:latin typeface="黑体" pitchFamily="49" charset="-122"/>
                <a:ea typeface="黑体" pitchFamily="49" charset="-122"/>
              </a:rPr>
              <a:t>    return </a:t>
            </a:r>
            <a:r>
              <a:rPr lang="en-US" altLang="zh-CN" sz="2000" b="1" kern="0" dirty="0" err="1">
                <a:latin typeface="黑体" pitchFamily="49" charset="-122"/>
                <a:ea typeface="黑体" pitchFamily="49" charset="-122"/>
              </a:rPr>
              <a:t>Rsum</a:t>
            </a:r>
            <a:r>
              <a:rPr lang="en-US" altLang="zh-CN" sz="2000" b="1" kern="0" dirty="0">
                <a:latin typeface="黑体" pitchFamily="49" charset="-122"/>
                <a:ea typeface="黑体" pitchFamily="49" charset="-122"/>
              </a:rPr>
              <a:t>(a,n-1)+a[n-1];</a:t>
            </a:r>
          </a:p>
          <a:p>
            <a:pPr marL="228600" indent="-228600" eaLnBrk="0" hangingPunct="0">
              <a:spcBef>
                <a:spcPct val="50000"/>
              </a:spcBef>
              <a:buClr>
                <a:schemeClr val="tx2"/>
              </a:buClr>
              <a:defRPr/>
            </a:pPr>
            <a:r>
              <a:rPr lang="en-US" altLang="zh-CN" sz="2000" b="1" kern="0" dirty="0">
                <a:latin typeface="黑体" pitchFamily="49" charset="-122"/>
                <a:ea typeface="黑体" pitchFamily="49" charset="-122"/>
              </a:rPr>
              <a:t>  return 0;</a:t>
            </a:r>
          </a:p>
          <a:p>
            <a:pPr marL="228600" indent="-228600" eaLnBrk="0" hangingPunct="0">
              <a:spcBef>
                <a:spcPct val="50000"/>
              </a:spcBef>
              <a:buClr>
                <a:schemeClr val="tx2"/>
              </a:buClr>
              <a:defRPr/>
            </a:pPr>
            <a:r>
              <a:rPr lang="en-US" altLang="zh-CN" sz="2000" b="1" kern="0" dirty="0">
                <a:latin typeface="黑体" pitchFamily="49" charset="-122"/>
                <a:ea typeface="黑体" pitchFamily="49" charset="-122"/>
              </a:rPr>
              <a:t>}</a:t>
            </a:r>
          </a:p>
          <a:p>
            <a:pPr marL="228600" indent="-228600" eaLnBrk="0" hangingPunct="0">
              <a:spcBef>
                <a:spcPct val="50000"/>
              </a:spcBef>
              <a:buClr>
                <a:schemeClr val="tx2"/>
              </a:buClr>
              <a:defRPr/>
            </a:pPr>
            <a:endParaRPr lang="en-US" altLang="zh-CN" sz="2000" b="1" kern="0" dirty="0">
              <a:latin typeface="黑体" pitchFamily="49" charset="-122"/>
              <a:ea typeface="黑体" pitchFamily="49" charset="-122"/>
            </a:endParaRPr>
          </a:p>
          <a:p>
            <a:pPr marL="228600" indent="-228600" eaLnBrk="0" hangingPunct="0">
              <a:spcBef>
                <a:spcPct val="50000"/>
              </a:spcBef>
              <a:buClr>
                <a:schemeClr val="tx2"/>
              </a:buClr>
              <a:defRPr/>
            </a:pPr>
            <a:r>
              <a:rPr lang="zh-CN" altLang="en-US" sz="2000" b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消耗空间</a:t>
            </a:r>
            <a:r>
              <a:rPr lang="en-US" altLang="zh-CN" sz="2000" b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(</a:t>
            </a:r>
            <a:r>
              <a:rPr lang="zh-CN" altLang="en-US" sz="2000" b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递归栈空间</a:t>
            </a:r>
            <a:r>
              <a:rPr lang="en-US" altLang="zh-CN" sz="2000" b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)</a:t>
            </a:r>
            <a:r>
              <a:rPr lang="zh-CN" altLang="en-US" sz="2000" b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与</a:t>
            </a:r>
            <a:r>
              <a:rPr lang="en-US" altLang="zh-CN" sz="2000" b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n</a:t>
            </a:r>
            <a:r>
              <a:rPr lang="zh-CN" altLang="en-US" sz="2000" b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有关</a:t>
            </a:r>
            <a:endParaRPr lang="en-US" altLang="zh-CN" sz="2000" b="1" kern="0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  <a:p>
            <a:pPr marL="228600" indent="-228600" eaLnBrk="0" hangingPunct="0">
              <a:spcBef>
                <a:spcPct val="50000"/>
              </a:spcBef>
              <a:buClr>
                <a:schemeClr val="tx2"/>
              </a:buClr>
              <a:defRPr/>
            </a:pPr>
            <a:r>
              <a:rPr lang="en-US" altLang="zh-CN" sz="2000" b="1" i="1" kern="0" dirty="0" err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S</a:t>
            </a:r>
            <a:r>
              <a:rPr lang="en-US" altLang="zh-CN" sz="2000" b="1" i="1" kern="0" baseline="-25000" dirty="0" err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Rsum</a:t>
            </a:r>
            <a:r>
              <a:rPr lang="en-US" altLang="zh-CN" sz="2000" b="1" i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(n)</a:t>
            </a:r>
            <a:r>
              <a:rPr lang="en-US" altLang="zh-CN" sz="2000" b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=</a:t>
            </a:r>
            <a:r>
              <a:rPr lang="zh-CN" altLang="en-US" sz="2000" b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（</a:t>
            </a:r>
            <a:r>
              <a:rPr lang="en-US" altLang="zh-CN" sz="2000" b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4+4+4</a:t>
            </a:r>
            <a:r>
              <a:rPr lang="zh-CN" altLang="en-US" sz="2000" b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）</a:t>
            </a:r>
            <a:r>
              <a:rPr lang="en-US" altLang="zh-CN" sz="2000" b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*</a:t>
            </a:r>
            <a:r>
              <a:rPr lang="zh-CN" altLang="en-US" sz="2000" b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（</a:t>
            </a:r>
            <a:r>
              <a:rPr lang="en-US" altLang="zh-CN" sz="2000" b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n+1</a:t>
            </a:r>
            <a:r>
              <a:rPr lang="zh-CN" altLang="en-US" sz="2000" b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）</a:t>
            </a:r>
          </a:p>
        </p:txBody>
      </p:sp>
      <p:sp>
        <p:nvSpPr>
          <p:cNvPr id="6" name="矩形 5"/>
          <p:cNvSpPr/>
          <p:nvPr/>
        </p:nvSpPr>
        <p:spPr>
          <a:xfrm>
            <a:off x="2957508" y="6119820"/>
            <a:ext cx="3175870" cy="553998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en-US" altLang="zh-CN" sz="3000" b="1" i="1" dirty="0" err="1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</a:t>
            </a:r>
            <a:r>
              <a:rPr lang="en-US" altLang="zh-CN" sz="3000" b="1" i="1" baseline="-25000" dirty="0" err="1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Sum</a:t>
            </a:r>
            <a:r>
              <a:rPr lang="en-US" altLang="zh-CN" sz="3000" b="1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(n)</a:t>
            </a:r>
            <a:r>
              <a:rPr lang="en-US" altLang="zh-CN" sz="30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&lt;</a:t>
            </a:r>
            <a:r>
              <a:rPr lang="en-US" altLang="zh-CN" sz="3000" b="1" i="1" dirty="0" err="1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</a:t>
            </a:r>
            <a:r>
              <a:rPr lang="en-US" altLang="zh-CN" sz="3000" b="1" i="1" baseline="-25000" dirty="0" err="1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Rsum</a:t>
            </a:r>
            <a:r>
              <a:rPr lang="en-US" altLang="zh-CN" sz="3000" b="1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(n)</a:t>
            </a:r>
            <a:endParaRPr lang="zh-CN" altLang="en-US" sz="3000" b="1" i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空间复杂性分析例</a:t>
            </a:r>
            <a:r>
              <a:rPr lang="en-US" altLang="zh-CN"/>
              <a:t>2</a:t>
            </a:r>
            <a:r>
              <a:rPr lang="zh-CN" altLang="en-US"/>
              <a:t>：阶乘</a:t>
            </a:r>
          </a:p>
        </p:txBody>
      </p:sp>
      <p:sp>
        <p:nvSpPr>
          <p:cNvPr id="45059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D80612A-7EB9-43CD-BDDD-89BF9A59BC76}" type="slidenum">
              <a:rPr lang="en-US" altLang="en-US" smtClean="0">
                <a:ea typeface="宋体" pitchFamily="2" charset="-122"/>
              </a:rPr>
              <a:pPr/>
              <a:t>17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45060" name="内容占位符 2"/>
          <p:cNvSpPr>
            <a:spLocks noGrp="1"/>
          </p:cNvSpPr>
          <p:nvPr>
            <p:ph idx="1"/>
          </p:nvPr>
        </p:nvSpPr>
        <p:spPr>
          <a:xfrm>
            <a:off x="917575" y="1525588"/>
            <a:ext cx="3833813" cy="4570412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000"/>
              <a:t>int Lfac(int n)</a:t>
            </a:r>
          </a:p>
          <a:p>
            <a:pPr>
              <a:buFontTx/>
              <a:buNone/>
            </a:pPr>
            <a:r>
              <a:rPr lang="en-US" altLang="zh-CN" sz="2000"/>
              <a:t>{</a:t>
            </a:r>
          </a:p>
          <a:p>
            <a:pPr>
              <a:buFontTx/>
              <a:buNone/>
            </a:pPr>
            <a:r>
              <a:rPr lang="en-US" altLang="zh-CN" sz="2000"/>
              <a:t>  int fac=1;</a:t>
            </a:r>
          </a:p>
          <a:p>
            <a:pPr>
              <a:buFontTx/>
              <a:buNone/>
            </a:pPr>
            <a:r>
              <a:rPr lang="en-US" altLang="zh-CN" sz="2000"/>
              <a:t>  for(int i=1;n&gt;1&amp;&amp;i&lt;=n;i++)</a:t>
            </a:r>
          </a:p>
          <a:p>
            <a:pPr>
              <a:buFontTx/>
              <a:buNone/>
            </a:pPr>
            <a:r>
              <a:rPr lang="en-US" altLang="zh-CN" sz="2000"/>
              <a:t>    fac*=i;</a:t>
            </a:r>
          </a:p>
          <a:p>
            <a:pPr>
              <a:buFontTx/>
              <a:buNone/>
            </a:pPr>
            <a:r>
              <a:rPr lang="en-US" altLang="zh-CN" sz="2000"/>
              <a:t>  return fac;</a:t>
            </a:r>
          </a:p>
          <a:p>
            <a:pPr>
              <a:buFontTx/>
              <a:buNone/>
            </a:pPr>
            <a:r>
              <a:rPr lang="en-US" altLang="zh-CN" sz="2000"/>
              <a:t>}</a:t>
            </a:r>
          </a:p>
          <a:p>
            <a:pPr>
              <a:buFontTx/>
              <a:buNone/>
            </a:pPr>
            <a:endParaRPr lang="en-US" altLang="zh-CN" sz="2000"/>
          </a:p>
          <a:p>
            <a:pPr>
              <a:buFontTx/>
              <a:buNone/>
            </a:pPr>
            <a:r>
              <a:rPr lang="zh-CN" altLang="en-US" sz="2000">
                <a:solidFill>
                  <a:srgbClr val="FF0000"/>
                </a:solidFill>
              </a:rPr>
              <a:t>消耗空间与</a:t>
            </a:r>
            <a:r>
              <a:rPr lang="en-US" altLang="zh-CN" sz="2000">
                <a:solidFill>
                  <a:srgbClr val="FF0000"/>
                </a:solidFill>
              </a:rPr>
              <a:t>n</a:t>
            </a:r>
            <a:r>
              <a:rPr lang="zh-CN" altLang="en-US" sz="2000">
                <a:solidFill>
                  <a:srgbClr val="FF0000"/>
                </a:solidFill>
              </a:rPr>
              <a:t>无关</a:t>
            </a:r>
            <a:endParaRPr lang="en-US" altLang="zh-CN" sz="200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altLang="zh-CN" sz="2000" i="1">
                <a:solidFill>
                  <a:srgbClr val="FF0000"/>
                </a:solidFill>
              </a:rPr>
              <a:t>S</a:t>
            </a:r>
            <a:r>
              <a:rPr lang="en-US" altLang="zh-CN" sz="2000" i="1" baseline="-25000">
                <a:solidFill>
                  <a:srgbClr val="FF0000"/>
                </a:solidFill>
              </a:rPr>
              <a:t>Lfac</a:t>
            </a:r>
            <a:r>
              <a:rPr lang="en-US" altLang="zh-CN" sz="2000" i="1">
                <a:solidFill>
                  <a:srgbClr val="FF0000"/>
                </a:solidFill>
              </a:rPr>
              <a:t>(n)</a:t>
            </a:r>
            <a:r>
              <a:rPr lang="en-US" altLang="zh-CN" sz="2000">
                <a:solidFill>
                  <a:srgbClr val="FF0000"/>
                </a:solidFill>
              </a:rPr>
              <a:t>=0</a:t>
            </a:r>
            <a:endParaRPr lang="zh-CN" altLang="en-US" sz="2000">
              <a:solidFill>
                <a:srgbClr val="FF0000"/>
              </a:solidFill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4930775" y="1549400"/>
            <a:ext cx="4125913" cy="457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182880" bIns="0"/>
          <a:lstStyle/>
          <a:p>
            <a:pPr marL="228600" indent="-228600" eaLnBrk="0" hangingPunct="0">
              <a:spcBef>
                <a:spcPct val="50000"/>
              </a:spcBef>
              <a:buClr>
                <a:schemeClr val="tx2"/>
              </a:buClr>
              <a:defRPr/>
            </a:pPr>
            <a:r>
              <a:rPr lang="en-US" altLang="zh-CN" sz="2000" b="1" kern="0" dirty="0" err="1">
                <a:latin typeface="黑体" pitchFamily="49" charset="-122"/>
                <a:ea typeface="黑体" pitchFamily="49" charset="-122"/>
              </a:rPr>
              <a:t>int</a:t>
            </a:r>
            <a:r>
              <a:rPr lang="en-US" altLang="zh-CN" sz="2000" b="1" kern="0" dirty="0">
                <a:latin typeface="黑体" pitchFamily="49" charset="-122"/>
                <a:ea typeface="黑体" pitchFamily="49" charset="-122"/>
              </a:rPr>
              <a:t> </a:t>
            </a:r>
            <a:r>
              <a:rPr lang="en-US" altLang="zh-CN" sz="2000" b="1" kern="0" dirty="0" err="1">
                <a:latin typeface="黑体" pitchFamily="49" charset="-122"/>
                <a:ea typeface="黑体" pitchFamily="49" charset="-122"/>
              </a:rPr>
              <a:t>Fac</a:t>
            </a:r>
            <a:r>
              <a:rPr lang="en-US" altLang="zh-CN" sz="2000" b="1" kern="0" dirty="0">
                <a:latin typeface="黑体" pitchFamily="49" charset="-122"/>
                <a:ea typeface="黑体" pitchFamily="49" charset="-122"/>
              </a:rPr>
              <a:t>(</a:t>
            </a:r>
            <a:r>
              <a:rPr lang="en-US" altLang="zh-CN" sz="2000" b="1" kern="0" dirty="0" err="1">
                <a:latin typeface="黑体" pitchFamily="49" charset="-122"/>
                <a:ea typeface="黑体" pitchFamily="49" charset="-122"/>
              </a:rPr>
              <a:t>int</a:t>
            </a:r>
            <a:r>
              <a:rPr lang="en-US" altLang="zh-CN" sz="2000" b="1" kern="0" dirty="0">
                <a:latin typeface="黑体" pitchFamily="49" charset="-122"/>
                <a:ea typeface="黑体" pitchFamily="49" charset="-122"/>
              </a:rPr>
              <a:t> n)</a:t>
            </a:r>
          </a:p>
          <a:p>
            <a:pPr marL="228600" indent="-228600" eaLnBrk="0" hangingPunct="0">
              <a:spcBef>
                <a:spcPct val="50000"/>
              </a:spcBef>
              <a:buClr>
                <a:schemeClr val="tx2"/>
              </a:buClr>
              <a:defRPr/>
            </a:pPr>
            <a:r>
              <a:rPr lang="en-US" altLang="zh-CN" sz="2000" b="1" kern="0" dirty="0">
                <a:latin typeface="黑体" pitchFamily="49" charset="-122"/>
                <a:ea typeface="黑体" pitchFamily="49" charset="-122"/>
              </a:rPr>
              <a:t>{</a:t>
            </a:r>
          </a:p>
          <a:p>
            <a:pPr marL="228600" indent="-228600" eaLnBrk="0" hangingPunct="0">
              <a:spcBef>
                <a:spcPct val="50000"/>
              </a:spcBef>
              <a:buClr>
                <a:schemeClr val="tx2"/>
              </a:buClr>
              <a:defRPr/>
            </a:pPr>
            <a:r>
              <a:rPr lang="en-US" altLang="zh-CN" sz="2000" b="1" kern="0" dirty="0">
                <a:latin typeface="黑体" pitchFamily="49" charset="-122"/>
                <a:ea typeface="黑体" pitchFamily="49" charset="-122"/>
              </a:rPr>
              <a:t>  if(n&lt;=1)</a:t>
            </a:r>
          </a:p>
          <a:p>
            <a:pPr marL="228600" indent="-228600" eaLnBrk="0" hangingPunct="0">
              <a:spcBef>
                <a:spcPct val="50000"/>
              </a:spcBef>
              <a:buClr>
                <a:schemeClr val="tx2"/>
              </a:buClr>
              <a:defRPr/>
            </a:pPr>
            <a:r>
              <a:rPr lang="en-US" altLang="zh-CN" sz="2000" b="1" kern="0" dirty="0">
                <a:latin typeface="黑体" pitchFamily="49" charset="-122"/>
                <a:ea typeface="黑体" pitchFamily="49" charset="-122"/>
              </a:rPr>
              <a:t>    return 1;</a:t>
            </a:r>
          </a:p>
          <a:p>
            <a:pPr marL="228600" indent="-228600" eaLnBrk="0" hangingPunct="0">
              <a:spcBef>
                <a:spcPct val="50000"/>
              </a:spcBef>
              <a:buClr>
                <a:schemeClr val="tx2"/>
              </a:buClr>
              <a:defRPr/>
            </a:pPr>
            <a:r>
              <a:rPr lang="en-US" altLang="zh-CN" sz="2000" b="1" kern="0" dirty="0">
                <a:latin typeface="黑体" pitchFamily="49" charset="-122"/>
                <a:ea typeface="黑体" pitchFamily="49" charset="-122"/>
              </a:rPr>
              <a:t>  else</a:t>
            </a:r>
          </a:p>
          <a:p>
            <a:pPr marL="228600" indent="-228600" eaLnBrk="0" hangingPunct="0">
              <a:spcBef>
                <a:spcPct val="50000"/>
              </a:spcBef>
              <a:buClr>
                <a:schemeClr val="tx2"/>
              </a:buClr>
              <a:defRPr/>
            </a:pPr>
            <a:r>
              <a:rPr lang="en-US" altLang="zh-CN" sz="2000" b="1" kern="0" dirty="0">
                <a:latin typeface="黑体" pitchFamily="49" charset="-122"/>
                <a:ea typeface="黑体" pitchFamily="49" charset="-122"/>
              </a:rPr>
              <a:t>    return n*</a:t>
            </a:r>
            <a:r>
              <a:rPr lang="en-US" altLang="zh-CN" sz="2000" b="1" kern="0" dirty="0" err="1">
                <a:latin typeface="黑体" pitchFamily="49" charset="-122"/>
                <a:ea typeface="黑体" pitchFamily="49" charset="-122"/>
              </a:rPr>
              <a:t>Fac</a:t>
            </a:r>
            <a:r>
              <a:rPr lang="en-US" altLang="zh-CN" sz="2000" b="1" kern="0" dirty="0">
                <a:latin typeface="黑体" pitchFamily="49" charset="-122"/>
                <a:ea typeface="黑体" pitchFamily="49" charset="-122"/>
              </a:rPr>
              <a:t>(n-1);</a:t>
            </a:r>
          </a:p>
          <a:p>
            <a:pPr marL="228600" indent="-228600" eaLnBrk="0" hangingPunct="0">
              <a:spcBef>
                <a:spcPct val="50000"/>
              </a:spcBef>
              <a:buClr>
                <a:schemeClr val="tx2"/>
              </a:buClr>
              <a:defRPr/>
            </a:pPr>
            <a:r>
              <a:rPr lang="en-US" altLang="zh-CN" sz="2000" b="1" kern="0" dirty="0">
                <a:latin typeface="黑体" pitchFamily="49" charset="-122"/>
                <a:ea typeface="黑体" pitchFamily="49" charset="-122"/>
              </a:rPr>
              <a:t>}</a:t>
            </a:r>
          </a:p>
          <a:p>
            <a:pPr marL="228600" indent="-228600" eaLnBrk="0" hangingPunct="0">
              <a:spcBef>
                <a:spcPct val="50000"/>
              </a:spcBef>
              <a:buClr>
                <a:schemeClr val="tx2"/>
              </a:buClr>
              <a:defRPr/>
            </a:pPr>
            <a:endParaRPr lang="en-US" altLang="zh-CN" sz="2000" b="1" kern="0" dirty="0">
              <a:latin typeface="黑体" pitchFamily="49" charset="-122"/>
              <a:ea typeface="黑体" pitchFamily="49" charset="-122"/>
            </a:endParaRPr>
          </a:p>
          <a:p>
            <a:pPr marL="228600" indent="-228600" eaLnBrk="0" hangingPunct="0">
              <a:spcBef>
                <a:spcPct val="50000"/>
              </a:spcBef>
              <a:buClr>
                <a:schemeClr val="tx2"/>
              </a:buClr>
              <a:defRPr/>
            </a:pPr>
            <a:r>
              <a:rPr lang="zh-CN" altLang="en-US" sz="2000" b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消耗空间</a:t>
            </a:r>
            <a:r>
              <a:rPr lang="en-US" altLang="zh-CN" sz="2000" b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(</a:t>
            </a:r>
            <a:r>
              <a:rPr lang="zh-CN" altLang="en-US" sz="2000" b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递归栈空间</a:t>
            </a:r>
            <a:r>
              <a:rPr lang="en-US" altLang="zh-CN" sz="2000" b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)</a:t>
            </a:r>
            <a:r>
              <a:rPr lang="zh-CN" altLang="en-US" sz="2000" b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与</a:t>
            </a:r>
            <a:r>
              <a:rPr lang="en-US" altLang="zh-CN" sz="2000" b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n</a:t>
            </a:r>
            <a:r>
              <a:rPr lang="zh-CN" altLang="en-US" sz="2000" b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有关</a:t>
            </a:r>
            <a:endParaRPr lang="en-US" altLang="zh-CN" sz="2000" b="1" kern="0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  <a:p>
            <a:pPr marL="228600" indent="-228600" eaLnBrk="0" hangingPunct="0">
              <a:spcBef>
                <a:spcPct val="50000"/>
              </a:spcBef>
              <a:buClr>
                <a:schemeClr val="tx2"/>
              </a:buClr>
              <a:defRPr/>
            </a:pPr>
            <a:r>
              <a:rPr lang="en-US" altLang="zh-CN" sz="2000" b="1" i="1" kern="0" dirty="0" err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S</a:t>
            </a:r>
            <a:r>
              <a:rPr lang="en-US" altLang="zh-CN" sz="2000" b="1" i="1" kern="0" baseline="-25000" dirty="0" err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Fac</a:t>
            </a:r>
            <a:r>
              <a:rPr lang="en-US" altLang="zh-CN" sz="2000" b="1" i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(n)</a:t>
            </a:r>
            <a:r>
              <a:rPr lang="en-US" altLang="zh-CN" sz="2000" b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=</a:t>
            </a:r>
            <a:r>
              <a:rPr lang="zh-CN" altLang="en-US" sz="2000" b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（</a:t>
            </a:r>
            <a:r>
              <a:rPr lang="en-US" altLang="zh-CN" sz="2000" b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4+4</a:t>
            </a:r>
            <a:r>
              <a:rPr lang="zh-CN" altLang="en-US" sz="2000" b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）</a:t>
            </a:r>
            <a:r>
              <a:rPr lang="en-US" altLang="zh-CN" sz="2000" b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*max{n,1}</a:t>
            </a:r>
            <a:endParaRPr lang="zh-CN" altLang="en-US" sz="2000" b="1" kern="0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957508" y="6119820"/>
            <a:ext cx="2876107" cy="553998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en-US" altLang="zh-CN" sz="3000" b="1" i="1" dirty="0" err="1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</a:t>
            </a:r>
            <a:r>
              <a:rPr lang="en-US" altLang="zh-CN" sz="3000" b="1" i="1" baseline="-25000" dirty="0" err="1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Lfac</a:t>
            </a:r>
            <a:r>
              <a:rPr lang="en-US" altLang="zh-CN" sz="3000" b="1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(n)</a:t>
            </a:r>
            <a:r>
              <a:rPr lang="en-US" altLang="zh-CN" sz="30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&lt;</a:t>
            </a:r>
            <a:r>
              <a:rPr lang="en-US" altLang="zh-CN" sz="3000" b="1" i="1" dirty="0" err="1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</a:t>
            </a:r>
            <a:r>
              <a:rPr lang="en-US" altLang="zh-CN" sz="3000" b="1" i="1" baseline="-25000" dirty="0" err="1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Fac</a:t>
            </a:r>
            <a:r>
              <a:rPr lang="en-US" altLang="zh-CN" sz="3000" b="1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(n)</a:t>
            </a:r>
            <a:endParaRPr lang="zh-CN" altLang="en-US" sz="3000" b="1" i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小结</a:t>
            </a:r>
          </a:p>
        </p:txBody>
      </p:sp>
      <p:sp>
        <p:nvSpPr>
          <p:cNvPr id="4608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一个程序的空间开销包括</a:t>
            </a:r>
            <a:endParaRPr lang="en-US" altLang="zh-CN"/>
          </a:p>
          <a:p>
            <a:pPr lvl="1"/>
            <a:r>
              <a:rPr lang="zh-CN" altLang="en-US"/>
              <a:t>生成代码指令后所占的空间</a:t>
            </a:r>
            <a:endParaRPr lang="en-US" altLang="zh-CN"/>
          </a:p>
          <a:p>
            <a:pPr lvl="1"/>
            <a:r>
              <a:rPr lang="zh-CN" altLang="en-US"/>
              <a:t>简单变量、常量所占的空间</a:t>
            </a:r>
            <a:endParaRPr lang="en-US" altLang="zh-CN"/>
          </a:p>
          <a:p>
            <a:pPr lvl="1"/>
            <a:r>
              <a:rPr lang="zh-CN" altLang="en-US"/>
              <a:t>复合变量所占的空间</a:t>
            </a:r>
            <a:endParaRPr lang="en-US" altLang="zh-CN"/>
          </a:p>
          <a:p>
            <a:pPr lvl="1"/>
            <a:r>
              <a:rPr lang="zh-CN" altLang="en-US"/>
              <a:t>动态分配的空间</a:t>
            </a:r>
            <a:endParaRPr lang="en-US" altLang="zh-CN"/>
          </a:p>
          <a:p>
            <a:pPr lvl="1"/>
            <a:r>
              <a:rPr lang="zh-CN" altLang="en-US"/>
              <a:t>递归栈空间</a:t>
            </a:r>
          </a:p>
        </p:txBody>
      </p:sp>
      <p:sp>
        <p:nvSpPr>
          <p:cNvPr id="4608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2A83E88D-913E-42BA-9270-04083772D23D}" type="slidenum">
              <a:rPr lang="en-US" altLang="en-US" smtClean="0">
                <a:ea typeface="宋体" pitchFamily="2" charset="-122"/>
              </a:rPr>
              <a:pPr/>
              <a:t>18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5" name="圆角矩形 4"/>
          <p:cNvSpPr>
            <a:spLocks noChangeArrowheads="1"/>
          </p:cNvSpPr>
          <p:nvPr/>
        </p:nvSpPr>
        <p:spPr bwMode="auto">
          <a:xfrm>
            <a:off x="804863" y="2890838"/>
            <a:ext cx="5740400" cy="1614487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lIns="0" tIns="0" rIns="182880" bIns="0"/>
          <a:lstStyle/>
          <a:p>
            <a:pPr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6724650" y="3429000"/>
            <a:ext cx="1793875" cy="89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6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重点考查可变部分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主要内容</a:t>
            </a:r>
          </a:p>
        </p:txBody>
      </p:sp>
      <p:sp>
        <p:nvSpPr>
          <p:cNvPr id="4710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空间复杂性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时间复杂性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指标（计数对象）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渐进符号（</a:t>
            </a:r>
            <a:r>
              <a:rPr lang="en-US" altLang="zh-CN" dirty="0"/>
              <a:t>Ο</a:t>
            </a:r>
            <a:r>
              <a:rPr lang="zh-CN" altLang="en-US" dirty="0"/>
              <a:t>、</a:t>
            </a:r>
            <a:r>
              <a:rPr lang="en-US" altLang="zh-CN" dirty="0"/>
              <a:t>Ω</a:t>
            </a:r>
            <a:r>
              <a:rPr lang="zh-CN" altLang="en-US" dirty="0"/>
              <a:t>、</a:t>
            </a:r>
            <a:r>
              <a:rPr lang="en-US" altLang="zh-CN" dirty="0"/>
              <a:t>Θ</a:t>
            </a:r>
            <a:r>
              <a:rPr lang="zh-CN" altLang="en-US" dirty="0"/>
              <a:t>、</a:t>
            </a:r>
            <a:r>
              <a:rPr lang="en-US" altLang="zh-CN" dirty="0"/>
              <a:t>ο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性能测量</a:t>
            </a:r>
          </a:p>
        </p:txBody>
      </p:sp>
      <p:sp>
        <p:nvSpPr>
          <p:cNvPr id="4710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2036020D-B5CC-4A44-91B0-F8DF0DCD9245}" type="slidenum">
              <a:rPr lang="en-US" altLang="en-US" smtClean="0">
                <a:ea typeface="宋体" pitchFamily="2" charset="-122"/>
              </a:rPr>
              <a:pPr/>
              <a:t>19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时空分析对比</a:t>
            </a:r>
          </a:p>
        </p:txBody>
      </p:sp>
      <p:sp>
        <p:nvSpPr>
          <p:cNvPr id="4813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空间复杂性</a:t>
            </a:r>
            <a:endParaRPr lang="en-US" altLang="zh-CN"/>
          </a:p>
          <a:p>
            <a:pPr>
              <a:buFontTx/>
              <a:buNone/>
            </a:pPr>
            <a:r>
              <a:rPr lang="en-US" altLang="zh-CN" i="1"/>
              <a:t>  S(P) </a:t>
            </a:r>
            <a:r>
              <a:rPr lang="en-US" altLang="zh-CN"/>
              <a:t>= </a:t>
            </a:r>
            <a:r>
              <a:rPr lang="en-US" altLang="zh-CN" i="1"/>
              <a:t>c </a:t>
            </a:r>
            <a:r>
              <a:rPr lang="en-US" altLang="zh-CN"/>
              <a:t>+ </a:t>
            </a:r>
            <a:r>
              <a:rPr lang="en-US" altLang="zh-CN" i="1"/>
              <a:t>S</a:t>
            </a:r>
            <a:r>
              <a:rPr lang="en-US" altLang="zh-CN" i="1" baseline="-25000"/>
              <a:t>p</a:t>
            </a:r>
            <a:r>
              <a:rPr lang="en-US" altLang="zh-CN"/>
              <a:t>(</a:t>
            </a:r>
            <a:r>
              <a:rPr lang="zh-CN" altLang="en-US"/>
              <a:t>实例特征</a:t>
            </a:r>
            <a:r>
              <a:rPr lang="en-US" altLang="zh-CN"/>
              <a:t>)</a:t>
            </a:r>
          </a:p>
          <a:p>
            <a:endParaRPr lang="en-US" altLang="zh-CN"/>
          </a:p>
          <a:p>
            <a:r>
              <a:rPr lang="zh-CN" altLang="en-US"/>
              <a:t>时间复杂性</a:t>
            </a:r>
            <a:endParaRPr lang="en-US" altLang="zh-CN"/>
          </a:p>
          <a:p>
            <a:pPr>
              <a:buFontTx/>
              <a:buNone/>
            </a:pPr>
            <a:r>
              <a:rPr lang="en-US" altLang="zh-CN" i="1"/>
              <a:t>  T(P) </a:t>
            </a:r>
            <a:r>
              <a:rPr lang="en-US" altLang="zh-CN"/>
              <a:t>= </a:t>
            </a:r>
            <a:r>
              <a:rPr lang="en-US" altLang="zh-CN" i="1"/>
              <a:t>c </a:t>
            </a:r>
            <a:r>
              <a:rPr lang="en-US" altLang="zh-CN"/>
              <a:t>+ </a:t>
            </a:r>
            <a:r>
              <a:rPr lang="en-US" altLang="zh-CN" i="1"/>
              <a:t>t</a:t>
            </a:r>
            <a:r>
              <a:rPr lang="en-US" altLang="zh-CN" i="1" baseline="-25000"/>
              <a:t>p</a:t>
            </a:r>
            <a:r>
              <a:rPr lang="en-US" altLang="zh-CN"/>
              <a:t>(</a:t>
            </a:r>
            <a:r>
              <a:rPr lang="zh-CN" altLang="en-US"/>
              <a:t>实例特征</a:t>
            </a:r>
            <a:r>
              <a:rPr lang="en-US" altLang="zh-CN"/>
              <a:t>)</a:t>
            </a:r>
            <a:endParaRPr lang="zh-CN" altLang="en-US"/>
          </a:p>
          <a:p>
            <a:pPr>
              <a:buFontTx/>
              <a:buNone/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C6385B9-7823-435C-B044-DBA10EDE9BB3}" type="slidenum">
              <a:rPr lang="en-US" altLang="en-US" smtClean="0">
                <a:ea typeface="宋体" pitchFamily="2" charset="-122"/>
              </a:rPr>
              <a:pPr/>
              <a:t>20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5" name="圆角矩形 4"/>
          <p:cNvSpPr>
            <a:spLocks noChangeArrowheads="1"/>
          </p:cNvSpPr>
          <p:nvPr/>
        </p:nvSpPr>
        <p:spPr bwMode="auto">
          <a:xfrm>
            <a:off x="2419350" y="1993900"/>
            <a:ext cx="431800" cy="2690813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lIns="0" tIns="0" rIns="182880" bIns="0"/>
          <a:lstStyle/>
          <a:p>
            <a:pPr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060575" y="4864100"/>
            <a:ext cx="896938" cy="89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6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不变</a:t>
            </a:r>
            <a:endParaRPr lang="en-US" altLang="zh-CN" sz="2600" b="1">
              <a:solidFill>
                <a:srgbClr val="FF0000"/>
              </a:solidFill>
              <a:latin typeface="楷体" pitchFamily="49" charset="-122"/>
              <a:ea typeface="楷体" pitchFamily="49" charset="-122"/>
            </a:endParaRPr>
          </a:p>
          <a:p>
            <a:r>
              <a:rPr lang="zh-CN" altLang="en-US" sz="26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部分</a:t>
            </a:r>
          </a:p>
        </p:txBody>
      </p:sp>
      <p:sp>
        <p:nvSpPr>
          <p:cNvPr id="7" name="圆角矩形 6"/>
          <p:cNvSpPr>
            <a:spLocks noChangeArrowheads="1"/>
          </p:cNvSpPr>
          <p:nvPr/>
        </p:nvSpPr>
        <p:spPr bwMode="auto">
          <a:xfrm>
            <a:off x="3136900" y="1993900"/>
            <a:ext cx="539750" cy="2690813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lIns="0" tIns="0" rIns="182880" bIns="0"/>
          <a:lstStyle/>
          <a:p>
            <a:pPr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3136900" y="4864100"/>
            <a:ext cx="896938" cy="89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6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可变</a:t>
            </a:r>
            <a:endParaRPr lang="en-US" altLang="zh-CN" sz="2600" b="1">
              <a:solidFill>
                <a:srgbClr val="FF0000"/>
              </a:solidFill>
              <a:latin typeface="楷体" pitchFamily="49" charset="-122"/>
              <a:ea typeface="楷体" pitchFamily="49" charset="-122"/>
            </a:endParaRPr>
          </a:p>
          <a:p>
            <a:r>
              <a:rPr lang="zh-CN" altLang="en-US" sz="26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部分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应该摒弃的指标</a:t>
            </a:r>
          </a:p>
        </p:txBody>
      </p:sp>
      <p:sp>
        <p:nvSpPr>
          <p:cNvPr id="4915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代码的实际执行时间</a:t>
            </a:r>
            <a:endParaRPr lang="en-US" altLang="zh-CN"/>
          </a:p>
          <a:p>
            <a:r>
              <a:rPr lang="zh-CN" altLang="en-US"/>
              <a:t>运行过程中循环的次数</a:t>
            </a:r>
            <a:endParaRPr lang="en-US" altLang="zh-CN"/>
          </a:p>
          <a:p>
            <a:r>
              <a:rPr lang="zh-CN" altLang="en-US"/>
              <a:t>代码行数（</a:t>
            </a:r>
            <a:r>
              <a:rPr lang="en-US" altLang="zh-CN"/>
              <a:t>LOC</a:t>
            </a:r>
            <a:r>
              <a:rPr lang="zh-CN" altLang="en-US"/>
              <a:t>）</a:t>
            </a:r>
          </a:p>
        </p:txBody>
      </p:sp>
      <p:sp>
        <p:nvSpPr>
          <p:cNvPr id="4915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44CC18E-1BEA-42DF-AF52-9D9C16AF4398}" type="slidenum">
              <a:rPr lang="en-US" altLang="en-US" smtClean="0">
                <a:ea typeface="宋体" pitchFamily="2" charset="-122"/>
              </a:rPr>
              <a:pPr/>
              <a:t>21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522404" y="4146552"/>
            <a:ext cx="5206875" cy="553998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zh-CN" altLang="en-US" sz="3000" b="1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这些指标无法反映算法本质！</a:t>
            </a: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应该采用的指标</a:t>
            </a:r>
          </a:p>
        </p:txBody>
      </p:sp>
      <p:sp>
        <p:nvSpPr>
          <p:cNvPr id="5222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操作计数（基本操作数）</a:t>
            </a:r>
            <a:endParaRPr lang="en-US" altLang="zh-CN" dirty="0"/>
          </a:p>
          <a:p>
            <a:pPr lvl="1">
              <a:defRPr/>
            </a:pPr>
            <a:r>
              <a:rPr lang="zh-CN" altLang="en-US" dirty="0">
                <a:solidFill>
                  <a:srgbClr val="FF0000"/>
                </a:solidFill>
              </a:rPr>
              <a:t>程序运行中起主要作用且花费最多时间的操作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zh-CN" altLang="en-US" dirty="0"/>
              <a:t>排序问题中的比较操作、交换操作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矩阵乘法中的数乘操作</a:t>
            </a:r>
            <a:endParaRPr lang="en-US" altLang="zh-CN" dirty="0"/>
          </a:p>
          <a:p>
            <a:pPr>
              <a:defRPr/>
            </a:pPr>
            <a:r>
              <a:rPr lang="zh-CN" altLang="en-US" dirty="0">
                <a:solidFill>
                  <a:schemeClr val="tx1">
                    <a:lumMod val="20000"/>
                    <a:lumOff val="80000"/>
                  </a:schemeClr>
                </a:solidFill>
              </a:rPr>
              <a:t>执行步数</a:t>
            </a:r>
            <a:endParaRPr lang="en-US" altLang="zh-CN" dirty="0">
              <a:solidFill>
                <a:schemeClr val="tx1">
                  <a:lumMod val="20000"/>
                  <a:lumOff val="80000"/>
                </a:schemeClr>
              </a:solidFill>
            </a:endParaRPr>
          </a:p>
          <a:p>
            <a:pPr lvl="1">
              <a:defRPr/>
            </a:pPr>
            <a:r>
              <a:rPr lang="zh-CN" altLang="en-US" dirty="0">
                <a:solidFill>
                  <a:schemeClr val="tx1">
                    <a:lumMod val="20000"/>
                    <a:lumOff val="80000"/>
                  </a:schemeClr>
                </a:solidFill>
              </a:rPr>
              <a:t>程序运行中一个语法意义上的片段</a:t>
            </a:r>
            <a:endParaRPr lang="en-US" altLang="zh-CN" dirty="0">
              <a:solidFill>
                <a:schemeClr val="tx1">
                  <a:lumMod val="20000"/>
                  <a:lumOff val="80000"/>
                </a:schemeClr>
              </a:solidFill>
            </a:endParaRPr>
          </a:p>
          <a:p>
            <a:pPr lvl="1">
              <a:defRPr/>
            </a:pPr>
            <a:r>
              <a:rPr lang="zh-CN" altLang="en-US" dirty="0">
                <a:solidFill>
                  <a:schemeClr val="tx1">
                    <a:lumMod val="20000"/>
                    <a:lumOff val="80000"/>
                  </a:schemeClr>
                </a:solidFill>
              </a:rPr>
              <a:t>可能比操作计数更加准确</a:t>
            </a:r>
          </a:p>
        </p:txBody>
      </p:sp>
      <p:sp>
        <p:nvSpPr>
          <p:cNvPr id="5018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ED3A702-1733-420A-AF5D-9FF06E3CC205}" type="slidenum">
              <a:rPr lang="en-US" altLang="en-US" smtClean="0">
                <a:ea typeface="宋体" pitchFamily="2" charset="-122"/>
              </a:rPr>
              <a:pPr/>
              <a:t>22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操作计数分析示例：多项式求值</a:t>
            </a:r>
          </a:p>
        </p:txBody>
      </p:sp>
      <p:sp>
        <p:nvSpPr>
          <p:cNvPr id="102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E4FCBBF-0F74-49C6-B066-5E01CEDF9BF5}" type="slidenum">
              <a:rPr lang="en-US" altLang="en-US" smtClean="0">
                <a:ea typeface="宋体" pitchFamily="2" charset="-122"/>
              </a:rPr>
              <a:pPr/>
              <a:t>23</a:t>
            </a:fld>
            <a:endParaRPr lang="en-US" altLang="en-US">
              <a:ea typeface="宋体" pitchFamily="2" charset="-122"/>
            </a:endParaRPr>
          </a:p>
        </p:txBody>
      </p:sp>
      <p:graphicFrame>
        <p:nvGraphicFramePr>
          <p:cNvPr id="1026" name="内容占位符 4"/>
          <p:cNvGraphicFramePr>
            <a:graphicFrameLocks noGrp="1" noChangeAspect="1"/>
          </p:cNvGraphicFramePr>
          <p:nvPr>
            <p:ph idx="1"/>
          </p:nvPr>
        </p:nvGraphicFramePr>
        <p:xfrm>
          <a:off x="984250" y="1455738"/>
          <a:ext cx="480695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76440" imgH="431640" progId="Equation.3">
                  <p:embed/>
                </p:oleObj>
              </mc:Choice>
              <mc:Fallback>
                <p:oleObj name="Equation" r:id="rId2" imgW="2476440" imgH="431640" progId="Equation.3">
                  <p:embed/>
                  <p:pic>
                    <p:nvPicPr>
                      <p:cNvPr id="0" name="内容占位符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4250" y="1455738"/>
                        <a:ext cx="480695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" name="TextBox 5"/>
          <p:cNvSpPr txBox="1">
            <a:spLocks noChangeArrowheads="1"/>
          </p:cNvSpPr>
          <p:nvPr/>
        </p:nvSpPr>
        <p:spPr bwMode="auto">
          <a:xfrm>
            <a:off x="804863" y="2352675"/>
            <a:ext cx="4484687" cy="341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/>
              <a:t>鲁莽算法</a:t>
            </a:r>
            <a:endParaRPr lang="en-US" altLang="zh-CN"/>
          </a:p>
          <a:p>
            <a:r>
              <a:rPr lang="en-US" altLang="zh-CN"/>
              <a:t>template&lt;class T&gt;</a:t>
            </a:r>
          </a:p>
          <a:p>
            <a:r>
              <a:rPr lang="en-US" altLang="zh-CN"/>
              <a:t>T PolyEval(T coeff[], int n, const T&amp; x)</a:t>
            </a:r>
          </a:p>
          <a:p>
            <a:r>
              <a:rPr lang="en-US" altLang="zh-CN"/>
              <a:t>{</a:t>
            </a:r>
          </a:p>
          <a:p>
            <a:r>
              <a:rPr lang="en-US" altLang="zh-CN"/>
              <a:t>    T y=1, value=coeff[0];</a:t>
            </a:r>
          </a:p>
          <a:p>
            <a:r>
              <a:rPr lang="en-US" altLang="zh-CN"/>
              <a:t>    for(int i=1;i&lt;=n;i++)</a:t>
            </a:r>
          </a:p>
          <a:p>
            <a:r>
              <a:rPr lang="en-US" altLang="zh-CN"/>
              <a:t>    {</a:t>
            </a:r>
          </a:p>
          <a:p>
            <a:r>
              <a:rPr lang="en-US" altLang="zh-CN"/>
              <a:t>        y*=x;</a:t>
            </a:r>
          </a:p>
          <a:p>
            <a:r>
              <a:rPr lang="en-US" altLang="zh-CN"/>
              <a:t>        value+=y*coeff[i];</a:t>
            </a:r>
          </a:p>
          <a:p>
            <a:r>
              <a:rPr lang="en-US" altLang="zh-CN"/>
              <a:t>    }</a:t>
            </a:r>
          </a:p>
          <a:p>
            <a:r>
              <a:rPr lang="en-US" altLang="zh-CN"/>
              <a:t>    return value;</a:t>
            </a:r>
          </a:p>
          <a:p>
            <a:r>
              <a:rPr lang="en-US" altLang="zh-CN"/>
              <a:t>}</a:t>
            </a:r>
            <a:endParaRPr lang="zh-CN" altLang="en-US"/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110163" y="2352675"/>
            <a:ext cx="3767137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认定加法和乘法是关键操作，</a:t>
            </a:r>
            <a:endParaRPr lang="en-US" altLang="zh-CN" sz="2000" b="1">
              <a:solidFill>
                <a:srgbClr val="FF0000"/>
              </a:solidFill>
              <a:latin typeface="楷体" pitchFamily="49" charset="-122"/>
              <a:ea typeface="楷体" pitchFamily="49" charset="-122"/>
            </a:endParaRPr>
          </a:p>
          <a:p>
            <a:r>
              <a:rPr lang="zh-CN" altLang="en-US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该算法的关键操作有多少次呢？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5110163" y="3028950"/>
            <a:ext cx="376713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对于问题规模</a:t>
            </a:r>
            <a:r>
              <a:rPr lang="en-US" altLang="zh-CN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来说 </a:t>
            </a:r>
            <a:r>
              <a:rPr lang="en-US" altLang="zh-CN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… …</a:t>
            </a:r>
            <a:endParaRPr lang="zh-CN" altLang="en-US" sz="2000" b="1">
              <a:solidFill>
                <a:srgbClr val="FF0000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9" name="圆角矩形 8"/>
          <p:cNvSpPr>
            <a:spLocks noChangeArrowheads="1"/>
          </p:cNvSpPr>
          <p:nvPr/>
        </p:nvSpPr>
        <p:spPr bwMode="auto">
          <a:xfrm>
            <a:off x="804863" y="3787775"/>
            <a:ext cx="2592387" cy="287338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lIns="0" tIns="0" rIns="182880" bIns="0"/>
          <a:lstStyle/>
          <a:p>
            <a:pPr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033838" y="3746500"/>
            <a:ext cx="2870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累计将循环</a:t>
            </a:r>
            <a:r>
              <a:rPr lang="en-US" altLang="zh-CN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次</a:t>
            </a:r>
          </a:p>
        </p:txBody>
      </p:sp>
      <p:sp>
        <p:nvSpPr>
          <p:cNvPr id="1034" name="右大括号 13"/>
          <p:cNvSpPr>
            <a:spLocks/>
          </p:cNvSpPr>
          <p:nvPr/>
        </p:nvSpPr>
        <p:spPr bwMode="auto">
          <a:xfrm>
            <a:off x="3854450" y="4325938"/>
            <a:ext cx="358775" cy="538162"/>
          </a:xfrm>
          <a:prstGeom prst="rightBrace">
            <a:avLst>
              <a:gd name="adj1" fmla="val 8333"/>
              <a:gd name="adj2" fmla="val 50000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lIns="0" tIns="0" rIns="182880" bIns="0"/>
          <a:lstStyle/>
          <a:p>
            <a:pPr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4392613" y="4325938"/>
            <a:ext cx="448468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每次循环做</a:t>
            </a:r>
            <a:r>
              <a:rPr lang="en-US" altLang="zh-CN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2</a:t>
            </a:r>
            <a:r>
              <a:rPr lang="zh-CN" altLang="en-US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个乘法和</a:t>
            </a:r>
            <a:r>
              <a:rPr lang="en-US" altLang="zh-CN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个加法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nimBg="1"/>
      <p:bldP spid="10" grpId="0"/>
      <p:bldP spid="1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多项式求值优化</a:t>
            </a:r>
          </a:p>
        </p:txBody>
      </p:sp>
      <p:sp>
        <p:nvSpPr>
          <p:cNvPr id="205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957EF4E-7B6A-466F-BD4A-6A5774BB945B}" type="slidenum">
              <a:rPr lang="en-US" altLang="en-US" smtClean="0">
                <a:ea typeface="宋体" pitchFamily="2" charset="-122"/>
              </a:rPr>
              <a:pPr/>
              <a:t>24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2053" name="TextBox 4"/>
          <p:cNvSpPr txBox="1">
            <a:spLocks noChangeArrowheads="1"/>
          </p:cNvSpPr>
          <p:nvPr/>
        </p:nvSpPr>
        <p:spPr bwMode="auto">
          <a:xfrm>
            <a:off x="804863" y="2979738"/>
            <a:ext cx="4484687" cy="314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Horner</a:t>
            </a:r>
            <a:r>
              <a:rPr lang="zh-CN" altLang="en-US"/>
              <a:t>算法</a:t>
            </a:r>
            <a:endParaRPr lang="en-US" altLang="zh-CN"/>
          </a:p>
          <a:p>
            <a:r>
              <a:rPr lang="en-US" altLang="zh-CN"/>
              <a:t>template&lt;class T&gt;</a:t>
            </a:r>
          </a:p>
          <a:p>
            <a:r>
              <a:rPr lang="en-US" altLang="zh-CN"/>
              <a:t>T Horner(T coeff[], int n, const T&amp; x)</a:t>
            </a:r>
          </a:p>
          <a:p>
            <a:r>
              <a:rPr lang="en-US" altLang="zh-CN"/>
              <a:t>{</a:t>
            </a:r>
          </a:p>
          <a:p>
            <a:r>
              <a:rPr lang="en-US" altLang="zh-CN"/>
              <a:t>    T value=coeff[n];</a:t>
            </a:r>
          </a:p>
          <a:p>
            <a:r>
              <a:rPr lang="en-US" altLang="zh-CN"/>
              <a:t>    for(int i=1;i&lt;=n;i++)</a:t>
            </a:r>
          </a:p>
          <a:p>
            <a:r>
              <a:rPr lang="en-US" altLang="zh-CN"/>
              <a:t>    {</a:t>
            </a:r>
          </a:p>
          <a:p>
            <a:r>
              <a:rPr lang="en-US" altLang="zh-CN"/>
              <a:t>        value = value * x + coeff[n-i];</a:t>
            </a:r>
          </a:p>
          <a:p>
            <a:r>
              <a:rPr lang="en-US" altLang="zh-CN"/>
              <a:t>    }</a:t>
            </a:r>
          </a:p>
          <a:p>
            <a:r>
              <a:rPr lang="en-US" altLang="zh-CN"/>
              <a:t>    return value;</a:t>
            </a:r>
          </a:p>
          <a:p>
            <a:r>
              <a:rPr lang="en-US" altLang="zh-CN"/>
              <a:t>}</a:t>
            </a:r>
            <a:endParaRPr lang="zh-CN" altLang="en-US"/>
          </a:p>
        </p:txBody>
      </p:sp>
      <p:graphicFrame>
        <p:nvGraphicFramePr>
          <p:cNvPr id="2050" name="内容占位符 4"/>
          <p:cNvGraphicFramePr>
            <a:graphicFrameLocks noChangeAspect="1"/>
          </p:cNvGraphicFramePr>
          <p:nvPr/>
        </p:nvGraphicFramePr>
        <p:xfrm>
          <a:off x="985838" y="1428750"/>
          <a:ext cx="7173912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95400" imgH="660240" progId="Equation.3">
                  <p:embed/>
                </p:oleObj>
              </mc:Choice>
              <mc:Fallback>
                <p:oleObj name="Equation" r:id="rId2" imgW="3695400" imgH="660240" progId="Equation.3">
                  <p:embed/>
                  <p:pic>
                    <p:nvPicPr>
                      <p:cNvPr id="0" name="内容占位符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5838" y="1428750"/>
                        <a:ext cx="7173912" cy="1282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110163" y="3608388"/>
            <a:ext cx="376713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对于问题规模</a:t>
            </a:r>
            <a:r>
              <a:rPr lang="en-US" altLang="zh-CN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来说 </a:t>
            </a:r>
            <a:r>
              <a:rPr lang="en-US" altLang="zh-CN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… …</a:t>
            </a:r>
            <a:endParaRPr lang="zh-CN" altLang="en-US" sz="2000" b="1">
              <a:solidFill>
                <a:srgbClr val="FF0000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8" name="圆角矩形 7"/>
          <p:cNvSpPr>
            <a:spLocks noChangeArrowheads="1"/>
          </p:cNvSpPr>
          <p:nvPr/>
        </p:nvSpPr>
        <p:spPr bwMode="auto">
          <a:xfrm>
            <a:off x="804863" y="4367213"/>
            <a:ext cx="2592387" cy="287337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lIns="0" tIns="0" rIns="182880" bIns="0"/>
          <a:lstStyle/>
          <a:p>
            <a:pPr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4033838" y="4325938"/>
            <a:ext cx="2870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累计将循环</a:t>
            </a:r>
            <a:r>
              <a:rPr lang="en-US" altLang="zh-CN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次</a:t>
            </a:r>
          </a:p>
        </p:txBody>
      </p:sp>
      <p:sp>
        <p:nvSpPr>
          <p:cNvPr id="2057" name="右大括号 9"/>
          <p:cNvSpPr>
            <a:spLocks/>
          </p:cNvSpPr>
          <p:nvPr/>
        </p:nvSpPr>
        <p:spPr bwMode="auto">
          <a:xfrm>
            <a:off x="4572000" y="4905375"/>
            <a:ext cx="358775" cy="317500"/>
          </a:xfrm>
          <a:prstGeom prst="rightBrace">
            <a:avLst>
              <a:gd name="adj1" fmla="val 8333"/>
              <a:gd name="adj2" fmla="val 50000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lIns="0" tIns="0" rIns="182880" bIns="0"/>
          <a:lstStyle/>
          <a:p>
            <a:pPr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5110163" y="4864100"/>
            <a:ext cx="376713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每次循环做</a:t>
            </a:r>
            <a:r>
              <a:rPr lang="en-US" altLang="zh-CN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个乘法和</a:t>
            </a:r>
            <a:r>
              <a:rPr lang="en-US" altLang="zh-CN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个加法</a:t>
            </a:r>
          </a:p>
        </p:txBody>
      </p:sp>
      <p:sp>
        <p:nvSpPr>
          <p:cNvPr id="12" name="矩形 11"/>
          <p:cNvSpPr/>
          <p:nvPr/>
        </p:nvSpPr>
        <p:spPr>
          <a:xfrm>
            <a:off x="3136896" y="5581656"/>
            <a:ext cx="4535216" cy="1015663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zh-CN" altLang="en-US" sz="3000" b="1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结论：</a:t>
            </a:r>
            <a:r>
              <a:rPr lang="en-US" altLang="zh-CN" sz="3000" b="1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Horner</a:t>
            </a:r>
            <a:r>
              <a:rPr lang="zh-CN" altLang="en-US" sz="3000" b="1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算法更快！</a:t>
            </a:r>
            <a:endParaRPr lang="en-US" altLang="zh-CN" sz="3000" b="1" i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  <a:p>
            <a:pPr algn="ctr">
              <a:defRPr/>
            </a:pPr>
            <a:r>
              <a:rPr lang="zh-CN" altLang="en-US" sz="3000" b="1" i="1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因为其关键操作数</a:t>
            </a:r>
            <a:r>
              <a:rPr lang="zh-CN" altLang="en-US" sz="3000" b="1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更少！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/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H1.</a:t>
            </a:r>
            <a:r>
              <a:rPr lang="zh-CN" altLang="en-US"/>
              <a:t>四种排序算法及其操作分析</a:t>
            </a:r>
          </a:p>
        </p:txBody>
      </p:sp>
      <p:sp>
        <p:nvSpPr>
          <p:cNvPr id="5120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计数排序</a:t>
            </a:r>
            <a:endParaRPr lang="en-US" altLang="zh-CN"/>
          </a:p>
          <a:p>
            <a:r>
              <a:rPr lang="zh-CN" altLang="en-US"/>
              <a:t>选择排序</a:t>
            </a:r>
            <a:endParaRPr lang="en-US" altLang="zh-CN"/>
          </a:p>
          <a:p>
            <a:r>
              <a:rPr lang="zh-CN" altLang="en-US"/>
              <a:t>冒泡排序</a:t>
            </a:r>
            <a:endParaRPr lang="en-US" altLang="zh-CN"/>
          </a:p>
          <a:p>
            <a:r>
              <a:rPr lang="zh-CN" altLang="en-US"/>
              <a:t>插入排序</a:t>
            </a:r>
            <a:endParaRPr lang="en-US" altLang="zh-CN"/>
          </a:p>
          <a:p>
            <a:r>
              <a:rPr lang="zh-CN" altLang="en-US">
                <a:solidFill>
                  <a:srgbClr val="FF0000"/>
                </a:solidFill>
              </a:rPr>
              <a:t>讲解</a:t>
            </a:r>
            <a:r>
              <a:rPr lang="zh-CN" altLang="en-US"/>
              <a:t>：思想</a:t>
            </a:r>
            <a:r>
              <a:rPr lang="en-US" altLang="zh-CN">
                <a:sym typeface="Wingdings" pitchFamily="2" charset="2"/>
              </a:rPr>
              <a:t></a:t>
            </a:r>
            <a:r>
              <a:rPr lang="zh-CN" altLang="en-US">
                <a:sym typeface="Wingdings" pitchFamily="2" charset="2"/>
              </a:rPr>
              <a:t>示例</a:t>
            </a:r>
            <a:r>
              <a:rPr lang="en-US" altLang="zh-CN">
                <a:sym typeface="Wingdings" pitchFamily="2" charset="2"/>
              </a:rPr>
              <a:t></a:t>
            </a:r>
            <a:r>
              <a:rPr lang="zh-CN" altLang="en-US">
                <a:sym typeface="Wingdings" pitchFamily="2" charset="2"/>
              </a:rPr>
              <a:t>代码</a:t>
            </a:r>
            <a:r>
              <a:rPr lang="en-US" altLang="zh-CN">
                <a:sym typeface="Wingdings" pitchFamily="2" charset="2"/>
              </a:rPr>
              <a:t></a:t>
            </a:r>
            <a:r>
              <a:rPr lang="zh-CN" altLang="en-US">
                <a:sym typeface="Wingdings" pitchFamily="2" charset="2"/>
              </a:rPr>
              <a:t>分析</a:t>
            </a:r>
            <a:endParaRPr lang="en-US" altLang="zh-CN">
              <a:sym typeface="Wingdings" pitchFamily="2" charset="2"/>
            </a:endParaRPr>
          </a:p>
          <a:p>
            <a:r>
              <a:rPr lang="zh-CN" altLang="en-US">
                <a:solidFill>
                  <a:srgbClr val="FF0000"/>
                </a:solidFill>
                <a:sym typeface="Wingdings" pitchFamily="2" charset="2"/>
              </a:rPr>
              <a:t>共识</a:t>
            </a:r>
            <a:r>
              <a:rPr lang="zh-CN" altLang="en-US">
                <a:sym typeface="Wingdings" pitchFamily="2" charset="2"/>
              </a:rPr>
              <a:t>：所谓排序是指将一组无序元素按照从小到大的次序重新排列的过程，其关键操作是</a:t>
            </a:r>
            <a:r>
              <a:rPr lang="zh-CN" altLang="en-US">
                <a:solidFill>
                  <a:srgbClr val="0000CC"/>
                </a:solidFill>
                <a:sym typeface="Wingdings" pitchFamily="2" charset="2"/>
              </a:rPr>
              <a:t>元素的比较</a:t>
            </a:r>
            <a:endParaRPr lang="zh-CN" altLang="en-US">
              <a:solidFill>
                <a:srgbClr val="0000CC"/>
              </a:solidFill>
            </a:endParaRPr>
          </a:p>
        </p:txBody>
      </p:sp>
      <p:sp>
        <p:nvSpPr>
          <p:cNvPr id="5120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418B7EA-406E-4C0C-BEBD-BD1D90756359}" type="slidenum">
              <a:rPr lang="en-US" altLang="en-US" smtClean="0">
                <a:ea typeface="宋体" pitchFamily="2" charset="-122"/>
              </a:rPr>
              <a:pPr/>
              <a:t>25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计数排序：思想</a:t>
            </a:r>
          </a:p>
        </p:txBody>
      </p:sp>
      <p:sp>
        <p:nvSpPr>
          <p:cNvPr id="5222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先求得元素在序列中的名次，具体过程是</a:t>
            </a:r>
            <a:endParaRPr lang="en-US" altLang="zh-CN"/>
          </a:p>
          <a:p>
            <a:pPr lvl="1"/>
            <a:r>
              <a:rPr lang="zh-CN" altLang="en-US"/>
              <a:t>对于每一个元素，将它与其左边的所有元素比较</a:t>
            </a:r>
            <a:endParaRPr lang="en-US" altLang="zh-CN"/>
          </a:p>
          <a:p>
            <a:pPr lvl="1"/>
            <a:r>
              <a:rPr lang="zh-CN" altLang="en-US"/>
              <a:t>谁大，谁的名次就加</a:t>
            </a:r>
            <a:r>
              <a:rPr lang="en-US" altLang="zh-CN"/>
              <a:t>1</a:t>
            </a:r>
          </a:p>
          <a:p>
            <a:pPr lvl="1"/>
            <a:r>
              <a:rPr lang="zh-CN" altLang="en-US"/>
              <a:t>直至结束</a:t>
            </a:r>
            <a:endParaRPr lang="en-US" altLang="zh-CN"/>
          </a:p>
          <a:p>
            <a:r>
              <a:rPr lang="zh-CN" altLang="en-US"/>
              <a:t>然后将元素调整到与其名次对应的位置上</a:t>
            </a:r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20E36FE-9C0A-48E1-AC65-BE0897D299C8}" type="slidenum">
              <a:rPr lang="en-US" altLang="en-US" smtClean="0">
                <a:ea typeface="宋体" pitchFamily="2" charset="-122"/>
              </a:rPr>
              <a:pPr/>
              <a:t>26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计数排序：示例</a:t>
            </a:r>
          </a:p>
        </p:txBody>
      </p:sp>
      <p:sp>
        <p:nvSpPr>
          <p:cNvPr id="5325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325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A52D10C3-0018-4AF1-BC2E-561A19E35DD7}" type="slidenum">
              <a:rPr lang="en-US" altLang="en-US" smtClean="0">
                <a:ea typeface="宋体" pitchFamily="2" charset="-122"/>
              </a:rPr>
              <a:pPr/>
              <a:t>27</a:t>
            </a:fld>
            <a:endParaRPr lang="en-US" altLang="en-US">
              <a:ea typeface="宋体" pitchFamily="2" charset="-122"/>
            </a:endParaRPr>
          </a:p>
        </p:txBody>
      </p:sp>
      <p:pic>
        <p:nvPicPr>
          <p:cNvPr id="53253" name="Picture 6" descr="rank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1828800"/>
            <a:ext cx="6626225" cy="291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计数排序：代码和分析</a:t>
            </a:r>
          </a:p>
        </p:txBody>
      </p:sp>
      <p:sp>
        <p:nvSpPr>
          <p:cNvPr id="54275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B1DF138-62CA-4AA4-91A3-A0FD6A2456C8}" type="slidenum">
              <a:rPr lang="en-US" altLang="en-US" smtClean="0">
                <a:ea typeface="宋体" pitchFamily="2" charset="-122"/>
              </a:rPr>
              <a:pPr/>
              <a:t>28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54276" name="内容占位符 2"/>
          <p:cNvSpPr>
            <a:spLocks noGrp="1"/>
          </p:cNvSpPr>
          <p:nvPr>
            <p:ph idx="1"/>
          </p:nvPr>
        </p:nvSpPr>
        <p:spPr>
          <a:xfrm>
            <a:off x="625475" y="1525588"/>
            <a:ext cx="3767138" cy="4570412"/>
          </a:xfrm>
        </p:spPr>
        <p:txBody>
          <a:bodyPr/>
          <a:lstStyle/>
          <a:p>
            <a:pPr eaLnBrk="1" hangingPunct="1">
              <a:buClrTx/>
              <a:buFontTx/>
              <a:buNone/>
            </a:pPr>
            <a:r>
              <a:rPr lang="en-US" altLang="zh-CN" sz="1800" dirty="0">
                <a:latin typeface="Tahoma" pitchFamily="34" charset="0"/>
              </a:rPr>
              <a:t>template&lt;class T&gt;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1800" dirty="0">
                <a:latin typeface="Tahoma" pitchFamily="34" charset="0"/>
              </a:rPr>
              <a:t>void Rank(T a[], int </a:t>
            </a:r>
            <a:r>
              <a:rPr lang="en-US" altLang="zh-CN" sz="1800" dirty="0" err="1">
                <a:latin typeface="Tahoma" pitchFamily="34" charset="0"/>
              </a:rPr>
              <a:t>n,int</a:t>
            </a:r>
            <a:r>
              <a:rPr lang="en-US" altLang="zh-CN" sz="1800" dirty="0">
                <a:latin typeface="Tahoma" pitchFamily="34" charset="0"/>
              </a:rPr>
              <a:t> r[]){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1800" dirty="0">
                <a:latin typeface="Tahoma" pitchFamily="34" charset="0"/>
              </a:rPr>
              <a:t>   for(int </a:t>
            </a:r>
            <a:r>
              <a:rPr lang="en-US" altLang="zh-CN" sz="1800" dirty="0" err="1">
                <a:latin typeface="Tahoma" pitchFamily="34" charset="0"/>
              </a:rPr>
              <a:t>i</a:t>
            </a:r>
            <a:r>
              <a:rPr lang="en-US" altLang="zh-CN" sz="1800" dirty="0">
                <a:latin typeface="Tahoma" pitchFamily="34" charset="0"/>
              </a:rPr>
              <a:t>=1; </a:t>
            </a:r>
            <a:r>
              <a:rPr lang="en-US" altLang="zh-CN" sz="1800" dirty="0" err="1">
                <a:latin typeface="Tahoma" pitchFamily="34" charset="0"/>
              </a:rPr>
              <a:t>i</a:t>
            </a:r>
            <a:r>
              <a:rPr lang="en-US" altLang="zh-CN" sz="1800" dirty="0">
                <a:latin typeface="Tahoma" pitchFamily="34" charset="0"/>
              </a:rPr>
              <a:t>&lt;n; </a:t>
            </a:r>
            <a:r>
              <a:rPr lang="en-US" altLang="zh-CN" sz="1800" dirty="0" err="1">
                <a:latin typeface="Tahoma" pitchFamily="34" charset="0"/>
              </a:rPr>
              <a:t>i</a:t>
            </a:r>
            <a:r>
              <a:rPr lang="en-US" altLang="zh-CN" sz="1800" dirty="0">
                <a:latin typeface="Tahoma" pitchFamily="34" charset="0"/>
              </a:rPr>
              <a:t>++)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1800" dirty="0">
                <a:latin typeface="Tahoma" pitchFamily="34" charset="0"/>
              </a:rPr>
              <a:t>      r[</a:t>
            </a:r>
            <a:r>
              <a:rPr lang="en-US" altLang="zh-CN" sz="1800" dirty="0" err="1">
                <a:latin typeface="Tahoma" pitchFamily="34" charset="0"/>
              </a:rPr>
              <a:t>i</a:t>
            </a:r>
            <a:r>
              <a:rPr lang="en-US" altLang="zh-CN" sz="1800" dirty="0">
                <a:latin typeface="Tahoma" pitchFamily="34" charset="0"/>
              </a:rPr>
              <a:t>]=0;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1800" dirty="0">
                <a:latin typeface="Tahoma" pitchFamily="34" charset="0"/>
              </a:rPr>
              <a:t>   for (int </a:t>
            </a:r>
            <a:r>
              <a:rPr lang="en-US" altLang="zh-CN" sz="1800" dirty="0" err="1">
                <a:latin typeface="Tahoma" pitchFamily="34" charset="0"/>
              </a:rPr>
              <a:t>i</a:t>
            </a:r>
            <a:r>
              <a:rPr lang="en-US" altLang="zh-CN" sz="1800" dirty="0">
                <a:latin typeface="Tahoma" pitchFamily="34" charset="0"/>
              </a:rPr>
              <a:t> = 1; </a:t>
            </a:r>
            <a:r>
              <a:rPr lang="en-US" altLang="zh-CN" sz="1800" dirty="0" err="1">
                <a:latin typeface="Tahoma" pitchFamily="34" charset="0"/>
              </a:rPr>
              <a:t>i</a:t>
            </a:r>
            <a:r>
              <a:rPr lang="en-US" altLang="zh-CN" sz="1800" dirty="0">
                <a:latin typeface="Tahoma" pitchFamily="34" charset="0"/>
              </a:rPr>
              <a:t> &lt; n; </a:t>
            </a:r>
            <a:r>
              <a:rPr lang="en-US" altLang="zh-CN" sz="1800" dirty="0" err="1">
                <a:latin typeface="Tahoma" pitchFamily="34" charset="0"/>
              </a:rPr>
              <a:t>i</a:t>
            </a:r>
            <a:r>
              <a:rPr lang="en-US" altLang="zh-CN" sz="1800" dirty="0">
                <a:latin typeface="Tahoma" pitchFamily="34" charset="0"/>
              </a:rPr>
              <a:t>++)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1800" dirty="0">
                <a:latin typeface="Tahoma" pitchFamily="34" charset="0"/>
              </a:rPr>
              <a:t>      for(int j=0; j&lt;</a:t>
            </a:r>
            <a:r>
              <a:rPr lang="en-US" altLang="zh-CN" sz="1800" dirty="0" err="1">
                <a:latin typeface="Tahoma" pitchFamily="34" charset="0"/>
              </a:rPr>
              <a:t>i</a:t>
            </a:r>
            <a:r>
              <a:rPr lang="en-US" altLang="zh-CN" sz="1800" dirty="0">
                <a:latin typeface="Tahoma" pitchFamily="34" charset="0"/>
              </a:rPr>
              <a:t>; </a:t>
            </a:r>
            <a:r>
              <a:rPr lang="en-US" altLang="zh-CN" sz="1800" dirty="0" err="1">
                <a:latin typeface="Tahoma" pitchFamily="34" charset="0"/>
              </a:rPr>
              <a:t>j++</a:t>
            </a:r>
            <a:r>
              <a:rPr lang="en-US" altLang="zh-CN" sz="1800" dirty="0">
                <a:latin typeface="Tahoma" pitchFamily="34" charset="0"/>
              </a:rPr>
              <a:t>)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1800" dirty="0">
                <a:latin typeface="Tahoma" pitchFamily="34" charset="0"/>
              </a:rPr>
              <a:t>         if (a[j] &lt;= a[</a:t>
            </a:r>
            <a:r>
              <a:rPr lang="en-US" altLang="zh-CN" sz="1800" dirty="0" err="1">
                <a:latin typeface="Tahoma" pitchFamily="34" charset="0"/>
              </a:rPr>
              <a:t>i</a:t>
            </a:r>
            <a:r>
              <a:rPr lang="en-US" altLang="zh-CN" sz="1800" dirty="0">
                <a:latin typeface="Tahoma" pitchFamily="34" charset="0"/>
              </a:rPr>
              <a:t>])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1800" dirty="0">
                <a:latin typeface="Tahoma" pitchFamily="34" charset="0"/>
              </a:rPr>
              <a:t>            r[</a:t>
            </a:r>
            <a:r>
              <a:rPr lang="en-US" altLang="zh-CN" sz="1800" dirty="0" err="1">
                <a:latin typeface="Tahoma" pitchFamily="34" charset="0"/>
              </a:rPr>
              <a:t>i</a:t>
            </a:r>
            <a:r>
              <a:rPr lang="en-US" altLang="zh-CN" sz="1800" dirty="0">
                <a:latin typeface="Tahoma" pitchFamily="34" charset="0"/>
              </a:rPr>
              <a:t>]++;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1800" dirty="0">
                <a:latin typeface="Tahoma" pitchFamily="34" charset="0"/>
              </a:rPr>
              <a:t>         else r[j]++;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1800" dirty="0">
                <a:latin typeface="Tahoma" pitchFamily="34" charset="0"/>
              </a:rPr>
              <a:t>}</a:t>
            </a:r>
          </a:p>
          <a:p>
            <a:pPr>
              <a:buFontTx/>
              <a:buNone/>
            </a:pPr>
            <a:endParaRPr lang="zh-CN" altLang="en-US" sz="1800" dirty="0"/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4505325" y="1549400"/>
            <a:ext cx="4371975" cy="457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182880" bIns="0"/>
          <a:lstStyle/>
          <a:p>
            <a:pPr marL="228600" indent="-228600">
              <a:spcBef>
                <a:spcPct val="50000"/>
              </a:spcBef>
              <a:defRPr/>
            </a:pP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template&lt;class T&gt;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void Rearrange(T a[], 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 n, 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 r[]){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   T *u=new T[n+1];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   for(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 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=0; 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&lt;n; 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++)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      u[r[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]]=a[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];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   for(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 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=0; 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&lt;n; 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++)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      a[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]=u[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];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   delete []u;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}</a:t>
            </a:r>
          </a:p>
          <a:p>
            <a:pPr marL="228600" indent="-228600" eaLnBrk="0" hangingPunct="0">
              <a:spcBef>
                <a:spcPct val="50000"/>
              </a:spcBef>
              <a:buClr>
                <a:schemeClr val="tx2"/>
              </a:buClr>
              <a:defRPr/>
            </a:pPr>
            <a:endParaRPr lang="zh-CN" altLang="en-US" b="1" kern="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4278" name="圆角矩形 7"/>
          <p:cNvSpPr>
            <a:spLocks noChangeArrowheads="1"/>
          </p:cNvSpPr>
          <p:nvPr/>
        </p:nvSpPr>
        <p:spPr bwMode="auto">
          <a:xfrm>
            <a:off x="804863" y="3070225"/>
            <a:ext cx="3408362" cy="896938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lIns="0" tIns="0" rIns="182880" bIns="0"/>
          <a:lstStyle/>
          <a:p>
            <a:pPr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54279" name="TextBox 8"/>
          <p:cNvSpPr txBox="1">
            <a:spLocks noChangeArrowheads="1"/>
          </p:cNvSpPr>
          <p:nvPr/>
        </p:nvSpPr>
        <p:spPr bwMode="auto">
          <a:xfrm>
            <a:off x="266700" y="5581650"/>
            <a:ext cx="2870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循环</a:t>
            </a:r>
            <a:r>
              <a:rPr lang="en-US" altLang="zh-CN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n(n-1)/2</a:t>
            </a:r>
            <a:r>
              <a:rPr lang="zh-CN" altLang="en-US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次</a:t>
            </a:r>
          </a:p>
        </p:txBody>
      </p:sp>
      <p:sp>
        <p:nvSpPr>
          <p:cNvPr id="12" name="矩形 11"/>
          <p:cNvSpPr/>
          <p:nvPr/>
        </p:nvSpPr>
        <p:spPr>
          <a:xfrm>
            <a:off x="3136896" y="5402268"/>
            <a:ext cx="5655715" cy="1015663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zh-CN" altLang="en-US" sz="3000" b="1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结论：比较次数</a:t>
            </a:r>
            <a:r>
              <a:rPr lang="en-US" altLang="zh-CN" sz="3000" b="1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(n-1)n/2</a:t>
            </a:r>
          </a:p>
          <a:p>
            <a:pPr algn="ctr">
              <a:defRPr/>
            </a:pPr>
            <a:r>
              <a:rPr lang="zh-CN" altLang="en-US" sz="3000" b="1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移动次数</a:t>
            </a:r>
            <a:r>
              <a:rPr lang="en-US" altLang="zh-CN" sz="3000" b="1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2n</a:t>
            </a:r>
            <a:r>
              <a:rPr lang="zh-CN" altLang="en-US" sz="3000" b="1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，占用了额外空间！</a:t>
            </a: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计数排序改进思想</a:t>
            </a:r>
          </a:p>
        </p:txBody>
      </p:sp>
      <p:sp>
        <p:nvSpPr>
          <p:cNvPr id="55299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E6B222F-B680-4E14-AA28-51CBB5CA30DB}" type="slidenum">
              <a:rPr lang="en-US" altLang="en-US" smtClean="0">
                <a:ea typeface="宋体" pitchFamily="2" charset="-122"/>
              </a:rPr>
              <a:pPr/>
              <a:t>29</a:t>
            </a:fld>
            <a:endParaRPr lang="en-US" altLang="en-US">
              <a:ea typeface="宋体" pitchFamily="2" charset="-122"/>
            </a:endParaRPr>
          </a:p>
        </p:txBody>
      </p:sp>
      <p:pic>
        <p:nvPicPr>
          <p:cNvPr id="55300" name="Picture 5" descr="rank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2600" y="1296988"/>
            <a:ext cx="5308600" cy="1446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7" descr="rank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52600" y="1296988"/>
            <a:ext cx="5308600" cy="1446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8" descr="rank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52600" y="1296988"/>
            <a:ext cx="5308600" cy="1446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9" descr="rank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752600" y="1296988"/>
            <a:ext cx="5308600" cy="1446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0" descr="rank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752600" y="1296988"/>
            <a:ext cx="5308600" cy="1446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1" descr="rank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752600" y="1296988"/>
            <a:ext cx="5308600" cy="1446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5306" name="Rectangle 12"/>
          <p:cNvSpPr>
            <a:spLocks noChangeArrowheads="1"/>
          </p:cNvSpPr>
          <p:nvPr/>
        </p:nvSpPr>
        <p:spPr bwMode="auto">
          <a:xfrm>
            <a:off x="1066800" y="2743200"/>
            <a:ext cx="777240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itchFamily="2" charset="2"/>
              <a:buChar char="m"/>
            </a:pPr>
            <a:r>
              <a:rPr lang="en-US" altLang="zh-CN" sz="2800" dirty="0">
                <a:latin typeface="Times New Roman" pitchFamily="18" charset="0"/>
              </a:rPr>
              <a:t>r[</a:t>
            </a:r>
            <a:r>
              <a:rPr lang="en-US" altLang="zh-CN" sz="2800" dirty="0" err="1">
                <a:latin typeface="Times New Roman" pitchFamily="18" charset="0"/>
              </a:rPr>
              <a:t>i</a:t>
            </a:r>
            <a:r>
              <a:rPr lang="en-US" altLang="zh-CN" sz="2800" dirty="0">
                <a:latin typeface="Times New Roman" pitchFamily="18" charset="0"/>
              </a:rPr>
              <a:t>] == </a:t>
            </a:r>
            <a:r>
              <a:rPr lang="en-US" altLang="zh-CN" sz="2800" dirty="0" err="1">
                <a:latin typeface="Times New Roman" pitchFamily="18" charset="0"/>
              </a:rPr>
              <a:t>i</a:t>
            </a:r>
            <a:r>
              <a:rPr lang="zh-CN" altLang="en-US" sz="2800" dirty="0">
                <a:latin typeface="Times New Roman" pitchFamily="18" charset="0"/>
              </a:rPr>
              <a:t>？</a:t>
            </a:r>
          </a:p>
          <a:p>
            <a:pPr marL="742950" lvl="1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itchFamily="2" charset="2"/>
              <a:buChar char="q"/>
            </a:pPr>
            <a:r>
              <a:rPr lang="en-US" altLang="zh-CN" dirty="0">
                <a:solidFill>
                  <a:srgbClr val="3333CC"/>
                </a:solidFill>
                <a:latin typeface="Times New Roman" pitchFamily="18" charset="0"/>
              </a:rPr>
              <a:t>Y</a:t>
            </a:r>
            <a:r>
              <a:rPr lang="zh-CN" altLang="en-US" dirty="0">
                <a:solidFill>
                  <a:srgbClr val="3333CC"/>
                </a:solidFill>
                <a:latin typeface="Times New Roman" pitchFamily="18" charset="0"/>
              </a:rPr>
              <a:t>：很好，</a:t>
            </a:r>
            <a:r>
              <a:rPr lang="en-US" altLang="zh-CN" dirty="0">
                <a:solidFill>
                  <a:srgbClr val="3333CC"/>
                </a:solidFill>
                <a:latin typeface="Times New Roman" pitchFamily="18" charset="0"/>
              </a:rPr>
              <a:t>a[</a:t>
            </a:r>
            <a:r>
              <a:rPr lang="en-US" altLang="zh-CN" dirty="0" err="1">
                <a:solidFill>
                  <a:srgbClr val="3333CC"/>
                </a:solidFill>
                <a:latin typeface="Times New Roman" pitchFamily="18" charset="0"/>
              </a:rPr>
              <a:t>i</a:t>
            </a:r>
            <a:r>
              <a:rPr lang="en-US" altLang="zh-CN" dirty="0">
                <a:solidFill>
                  <a:srgbClr val="3333CC"/>
                </a:solidFill>
                <a:latin typeface="Times New Roman" pitchFamily="18" charset="0"/>
              </a:rPr>
              <a:t>]</a:t>
            </a:r>
            <a:r>
              <a:rPr lang="zh-CN" altLang="en-US" dirty="0">
                <a:solidFill>
                  <a:srgbClr val="3333CC"/>
                </a:solidFill>
                <a:latin typeface="Times New Roman" pitchFamily="18" charset="0"/>
              </a:rPr>
              <a:t>就应该是第</a:t>
            </a:r>
            <a:r>
              <a:rPr lang="en-US" altLang="zh-CN" dirty="0" err="1">
                <a:solidFill>
                  <a:srgbClr val="3333CC"/>
                </a:solidFill>
                <a:latin typeface="Times New Roman" pitchFamily="18" charset="0"/>
              </a:rPr>
              <a:t>i</a:t>
            </a:r>
            <a:r>
              <a:rPr lang="zh-CN" altLang="en-US" dirty="0">
                <a:solidFill>
                  <a:srgbClr val="3333CC"/>
                </a:solidFill>
                <a:latin typeface="Times New Roman" pitchFamily="18" charset="0"/>
              </a:rPr>
              <a:t>个，它已经在正确位置上了，什么也不用做，继续考虑</a:t>
            </a:r>
            <a:r>
              <a:rPr lang="en-US" altLang="zh-CN" dirty="0">
                <a:solidFill>
                  <a:srgbClr val="3333CC"/>
                </a:solidFill>
                <a:latin typeface="Times New Roman" pitchFamily="18" charset="0"/>
              </a:rPr>
              <a:t>a[i+1]</a:t>
            </a:r>
          </a:p>
          <a:p>
            <a:pPr marL="742950" lvl="1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itchFamily="2" charset="2"/>
              <a:buChar char="q"/>
            </a:pPr>
            <a:r>
              <a:rPr lang="en-US" altLang="zh-CN" dirty="0">
                <a:solidFill>
                  <a:srgbClr val="3333CC"/>
                </a:solidFill>
                <a:latin typeface="Times New Roman" pitchFamily="18" charset="0"/>
              </a:rPr>
              <a:t>N</a:t>
            </a:r>
            <a:r>
              <a:rPr lang="zh-CN" altLang="en-US" dirty="0">
                <a:solidFill>
                  <a:srgbClr val="3333CC"/>
                </a:solidFill>
                <a:latin typeface="Times New Roman" pitchFamily="18" charset="0"/>
              </a:rPr>
              <a:t>：</a:t>
            </a:r>
            <a:r>
              <a:rPr lang="en-US" altLang="zh-CN" dirty="0">
                <a:solidFill>
                  <a:srgbClr val="3333CC"/>
                </a:solidFill>
                <a:latin typeface="Times New Roman" pitchFamily="18" charset="0"/>
              </a:rPr>
              <a:t>a[</a:t>
            </a:r>
            <a:r>
              <a:rPr lang="en-US" altLang="zh-CN" dirty="0" err="1">
                <a:solidFill>
                  <a:srgbClr val="3333CC"/>
                </a:solidFill>
                <a:latin typeface="Times New Roman" pitchFamily="18" charset="0"/>
              </a:rPr>
              <a:t>i</a:t>
            </a:r>
            <a:r>
              <a:rPr lang="en-US" altLang="zh-CN" dirty="0">
                <a:solidFill>
                  <a:srgbClr val="3333CC"/>
                </a:solidFill>
                <a:latin typeface="Times New Roman" pitchFamily="18" charset="0"/>
              </a:rPr>
              <a:t>]</a:t>
            </a:r>
            <a:r>
              <a:rPr lang="zh-CN" altLang="en-US" dirty="0">
                <a:solidFill>
                  <a:srgbClr val="3333CC"/>
                </a:solidFill>
                <a:latin typeface="Times New Roman" pitchFamily="18" charset="0"/>
              </a:rPr>
              <a:t>的位置不对，怎么办？</a:t>
            </a:r>
          </a:p>
          <a:p>
            <a:pPr marL="1143000" lvl="2" indent="-228600">
              <a:spcBef>
                <a:spcPct val="20000"/>
              </a:spcBef>
              <a:buClr>
                <a:srgbClr val="FF3300"/>
              </a:buClr>
              <a:buFont typeface="Wingdings" pitchFamily="2" charset="2"/>
              <a:buChar char="Ø"/>
            </a:pPr>
            <a:r>
              <a:rPr lang="zh-CN" altLang="en-US" sz="2000" dirty="0">
                <a:solidFill>
                  <a:srgbClr val="FF3300"/>
                </a:solidFill>
                <a:latin typeface="Times New Roman" pitchFamily="18" charset="0"/>
              </a:rPr>
              <a:t>谁应该在第</a:t>
            </a:r>
            <a:r>
              <a:rPr lang="en-US" altLang="zh-CN" sz="2000" dirty="0" err="1">
                <a:solidFill>
                  <a:srgbClr val="FF3300"/>
                </a:solidFill>
                <a:latin typeface="Times New Roman" pitchFamily="18" charset="0"/>
              </a:rPr>
              <a:t>i</a:t>
            </a:r>
            <a:r>
              <a:rPr lang="zh-CN" altLang="en-US" sz="2000" dirty="0">
                <a:solidFill>
                  <a:srgbClr val="FF3300"/>
                </a:solidFill>
                <a:latin typeface="Times New Roman" pitchFamily="18" charset="0"/>
              </a:rPr>
              <a:t>位我们不知道</a:t>
            </a:r>
          </a:p>
          <a:p>
            <a:pPr marL="1143000" lvl="2" indent="-228600">
              <a:spcBef>
                <a:spcPct val="20000"/>
              </a:spcBef>
              <a:buClr>
                <a:srgbClr val="FF3300"/>
              </a:buClr>
              <a:buFont typeface="Wingdings" pitchFamily="2" charset="2"/>
              <a:buChar char="Ø"/>
            </a:pPr>
            <a:r>
              <a:rPr lang="zh-CN" altLang="en-US" sz="2000" dirty="0">
                <a:solidFill>
                  <a:srgbClr val="FF3300"/>
                </a:solidFill>
                <a:latin typeface="Times New Roman" pitchFamily="18" charset="0"/>
              </a:rPr>
              <a:t>但，我们知道</a:t>
            </a:r>
            <a:r>
              <a:rPr lang="en-US" altLang="zh-CN" sz="2000" dirty="0">
                <a:solidFill>
                  <a:srgbClr val="FF3300"/>
                </a:solidFill>
                <a:latin typeface="Times New Roman" pitchFamily="18" charset="0"/>
              </a:rPr>
              <a:t>a[</a:t>
            </a:r>
            <a:r>
              <a:rPr lang="en-US" altLang="zh-CN" sz="2000" dirty="0" err="1">
                <a:solidFill>
                  <a:srgbClr val="FF3300"/>
                </a:solidFill>
                <a:latin typeface="Times New Roman" pitchFamily="18" charset="0"/>
              </a:rPr>
              <a:t>i</a:t>
            </a:r>
            <a:r>
              <a:rPr lang="en-US" altLang="zh-CN" sz="2000" dirty="0">
                <a:solidFill>
                  <a:srgbClr val="FF3300"/>
                </a:solidFill>
                <a:latin typeface="Times New Roman" pitchFamily="18" charset="0"/>
              </a:rPr>
              <a:t>]</a:t>
            </a:r>
            <a:r>
              <a:rPr lang="zh-CN" altLang="en-US" sz="2000" dirty="0">
                <a:solidFill>
                  <a:srgbClr val="FF3300"/>
                </a:solidFill>
                <a:latin typeface="Times New Roman" pitchFamily="18" charset="0"/>
              </a:rPr>
              <a:t>应该在哪</a:t>
            </a:r>
            <a:r>
              <a:rPr lang="en-US" altLang="zh-CN" sz="2000" dirty="0">
                <a:solidFill>
                  <a:srgbClr val="FF3300"/>
                </a:solidFill>
                <a:latin typeface="Times New Roman" pitchFamily="18" charset="0"/>
              </a:rPr>
              <a:t>——r[</a:t>
            </a:r>
            <a:r>
              <a:rPr lang="en-US" altLang="zh-CN" sz="2000" dirty="0" err="1">
                <a:solidFill>
                  <a:srgbClr val="FF3300"/>
                </a:solidFill>
                <a:latin typeface="Times New Roman" pitchFamily="18" charset="0"/>
              </a:rPr>
              <a:t>i</a:t>
            </a:r>
            <a:r>
              <a:rPr lang="en-US" altLang="zh-CN" sz="2000" dirty="0">
                <a:solidFill>
                  <a:srgbClr val="FF3300"/>
                </a:solidFill>
                <a:latin typeface="Times New Roman" pitchFamily="18" charset="0"/>
              </a:rPr>
              <a:t>]</a:t>
            </a:r>
            <a:r>
              <a:rPr lang="zh-CN" altLang="en-US" sz="2000" dirty="0">
                <a:solidFill>
                  <a:srgbClr val="FF3300"/>
                </a:solidFill>
                <a:latin typeface="Times New Roman" pitchFamily="18" charset="0"/>
              </a:rPr>
              <a:t>，将它与</a:t>
            </a:r>
            <a:r>
              <a:rPr lang="en-US" altLang="zh-CN" sz="2000" dirty="0">
                <a:solidFill>
                  <a:srgbClr val="FF3300"/>
                </a:solidFill>
                <a:latin typeface="Times New Roman" pitchFamily="18" charset="0"/>
              </a:rPr>
              <a:t>a[r[</a:t>
            </a:r>
            <a:r>
              <a:rPr lang="en-US" altLang="zh-CN" sz="2000" dirty="0" err="1">
                <a:solidFill>
                  <a:srgbClr val="FF3300"/>
                </a:solidFill>
                <a:latin typeface="Times New Roman" pitchFamily="18" charset="0"/>
              </a:rPr>
              <a:t>i</a:t>
            </a:r>
            <a:r>
              <a:rPr lang="en-US" altLang="zh-CN" sz="2000" dirty="0">
                <a:solidFill>
                  <a:srgbClr val="FF3300"/>
                </a:solidFill>
                <a:latin typeface="Times New Roman" pitchFamily="18" charset="0"/>
              </a:rPr>
              <a:t>]] </a:t>
            </a:r>
            <a:r>
              <a:rPr lang="zh-CN" altLang="en-US" sz="2000" dirty="0">
                <a:solidFill>
                  <a:srgbClr val="FF3300"/>
                </a:solidFill>
                <a:latin typeface="Times New Roman" pitchFamily="18" charset="0"/>
              </a:rPr>
              <a:t>交换，</a:t>
            </a:r>
            <a:r>
              <a:rPr lang="en-US" altLang="zh-CN" sz="2000" dirty="0">
                <a:solidFill>
                  <a:srgbClr val="FF3300"/>
                </a:solidFill>
                <a:latin typeface="Times New Roman" pitchFamily="18" charset="0"/>
              </a:rPr>
              <a:t>a[</a:t>
            </a:r>
            <a:r>
              <a:rPr lang="en-US" altLang="zh-CN" sz="2000" dirty="0" err="1">
                <a:solidFill>
                  <a:srgbClr val="FF3300"/>
                </a:solidFill>
                <a:latin typeface="Times New Roman" pitchFamily="18" charset="0"/>
              </a:rPr>
              <a:t>i</a:t>
            </a:r>
            <a:r>
              <a:rPr lang="en-US" altLang="zh-CN" sz="2000" dirty="0">
                <a:solidFill>
                  <a:srgbClr val="FF3300"/>
                </a:solidFill>
                <a:latin typeface="Times New Roman" pitchFamily="18" charset="0"/>
              </a:rPr>
              <a:t>]</a:t>
            </a:r>
            <a:r>
              <a:rPr lang="zh-CN" altLang="en-US" sz="2000" dirty="0">
                <a:solidFill>
                  <a:srgbClr val="FF3300"/>
                </a:solidFill>
                <a:latin typeface="Times New Roman" pitchFamily="18" charset="0"/>
              </a:rPr>
              <a:t>即到达正确位置，新交换来的应该在第</a:t>
            </a:r>
            <a:r>
              <a:rPr lang="en-US" altLang="zh-CN" sz="2000" dirty="0" err="1">
                <a:solidFill>
                  <a:srgbClr val="FF3300"/>
                </a:solidFill>
                <a:latin typeface="Times New Roman" pitchFamily="18" charset="0"/>
              </a:rPr>
              <a:t>i</a:t>
            </a:r>
            <a:r>
              <a:rPr lang="zh-CN" altLang="en-US" sz="2000" dirty="0">
                <a:solidFill>
                  <a:srgbClr val="FF3300"/>
                </a:solidFill>
                <a:latin typeface="Times New Roman" pitchFamily="18" charset="0"/>
              </a:rPr>
              <a:t>位吗？继续</a:t>
            </a:r>
          </a:p>
        </p:txBody>
      </p:sp>
      <p:sp>
        <p:nvSpPr>
          <p:cNvPr id="55307" name="Freeform 13"/>
          <p:cNvSpPr>
            <a:spLocks/>
          </p:cNvSpPr>
          <p:nvPr/>
        </p:nvSpPr>
        <p:spPr bwMode="ltGray">
          <a:xfrm>
            <a:off x="296863" y="2867025"/>
            <a:ext cx="7529512" cy="3003550"/>
          </a:xfrm>
          <a:custGeom>
            <a:avLst/>
            <a:gdLst>
              <a:gd name="T0" fmla="*/ 2147483647 w 4743"/>
              <a:gd name="T1" fmla="*/ 2147483647 h 1892"/>
              <a:gd name="T2" fmla="*/ 2147483647 w 4743"/>
              <a:gd name="T3" fmla="*/ 2147483647 h 1892"/>
              <a:gd name="T4" fmla="*/ 2147483647 w 4743"/>
              <a:gd name="T5" fmla="*/ 2147483647 h 1892"/>
              <a:gd name="T6" fmla="*/ 2147483647 w 4743"/>
              <a:gd name="T7" fmla="*/ 2147483647 h 1892"/>
              <a:gd name="T8" fmla="*/ 2147483647 w 4743"/>
              <a:gd name="T9" fmla="*/ 2147483647 h 18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743"/>
              <a:gd name="T16" fmla="*/ 0 h 1892"/>
              <a:gd name="T17" fmla="*/ 4743 w 4743"/>
              <a:gd name="T18" fmla="*/ 1892 h 18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743" h="1892">
                <a:moveTo>
                  <a:pt x="4696" y="1615"/>
                </a:moveTo>
                <a:cubicBezTo>
                  <a:pt x="4591" y="1649"/>
                  <a:pt x="4743" y="1815"/>
                  <a:pt x="4067" y="1818"/>
                </a:cubicBezTo>
                <a:cubicBezTo>
                  <a:pt x="3391" y="1821"/>
                  <a:pt x="1274" y="1892"/>
                  <a:pt x="637" y="1632"/>
                </a:cubicBezTo>
                <a:cubicBezTo>
                  <a:pt x="0" y="1372"/>
                  <a:pt x="267" y="516"/>
                  <a:pt x="245" y="258"/>
                </a:cubicBezTo>
                <a:cubicBezTo>
                  <a:pt x="223" y="0"/>
                  <a:pt x="450" y="119"/>
                  <a:pt x="504" y="82"/>
                </a:cubicBezTo>
              </a:path>
            </a:pathLst>
          </a:cu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改进计数排序</a:t>
            </a:r>
          </a:p>
        </p:txBody>
      </p:sp>
      <p:sp>
        <p:nvSpPr>
          <p:cNvPr id="56323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3ACAAAD-68DD-417C-8A39-E693BDC9B288}" type="slidenum">
              <a:rPr lang="en-US" altLang="en-US" smtClean="0">
                <a:ea typeface="宋体" pitchFamily="2" charset="-122"/>
              </a:rPr>
              <a:pPr/>
              <a:t>30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266700" y="1549400"/>
            <a:ext cx="4371975" cy="457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182880" bIns="0"/>
          <a:lstStyle/>
          <a:p>
            <a:pPr marL="228600" indent="-228600">
              <a:spcBef>
                <a:spcPct val="50000"/>
              </a:spcBef>
              <a:defRPr/>
            </a:pP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template&lt;class T&gt;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void Rearrange(T a[], 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 n, 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 r[]){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   T *u=new T[n+1];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   for(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 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=0; 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&lt;n; 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++)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      u[r[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]]=a[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];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   for(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 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=0; 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&lt;n; 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++)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      a[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]=u[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];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   delete []u;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}</a:t>
            </a:r>
          </a:p>
          <a:p>
            <a:pPr marL="228600" indent="-228600" eaLnBrk="0" hangingPunct="0">
              <a:spcBef>
                <a:spcPct val="50000"/>
              </a:spcBef>
              <a:buClr>
                <a:schemeClr val="tx2"/>
              </a:buClr>
              <a:defRPr/>
            </a:pPr>
            <a:endParaRPr lang="zh-CN" altLang="en-US" b="1" kern="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4684713" y="1549400"/>
            <a:ext cx="4371975" cy="457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182880" bIns="0"/>
          <a:lstStyle/>
          <a:p>
            <a:pPr marL="228600" indent="-228600">
              <a:spcBef>
                <a:spcPct val="50000"/>
              </a:spcBef>
              <a:defRPr/>
            </a:pP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template&lt;class T&gt;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void Rearrange(T a[], 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 n, 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 r[]){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   for(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 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=0; 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&lt;n; 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++)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      while(r[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]!=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){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          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 t=r[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];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          Swap(a[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],a[t]);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          Swap(r[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],r[t]);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}</a:t>
            </a:r>
          </a:p>
          <a:p>
            <a:pPr marL="228600" indent="-228600" eaLnBrk="0" hangingPunct="0">
              <a:spcBef>
                <a:spcPct val="50000"/>
              </a:spcBef>
              <a:buClr>
                <a:schemeClr val="tx2"/>
              </a:buClr>
              <a:defRPr/>
            </a:pPr>
            <a:endParaRPr lang="zh-CN" altLang="en-US" b="1" kern="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778120" y="5222880"/>
            <a:ext cx="4434227" cy="1015663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zh-CN" altLang="en-US" sz="3000" b="1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结论：移动次数可能增加</a:t>
            </a:r>
            <a:endParaRPr lang="en-US" altLang="zh-CN" sz="3000" b="1" i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  <a:p>
            <a:pPr algn="ctr">
              <a:defRPr/>
            </a:pPr>
            <a:r>
              <a:rPr lang="zh-CN" altLang="en-US" sz="3000" b="1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占用空间减少！</a:t>
            </a: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选择排序：思想</a:t>
            </a:r>
          </a:p>
        </p:txBody>
      </p:sp>
      <p:sp>
        <p:nvSpPr>
          <p:cNvPr id="3076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首先找出最小（大）元素，把它移动到</a:t>
            </a:r>
            <a:r>
              <a:rPr lang="en-US" altLang="zh-CN"/>
              <a:t>a[0] (a[n-1])</a:t>
            </a:r>
            <a:r>
              <a:rPr lang="zh-CN" altLang="en-US"/>
              <a:t>；</a:t>
            </a:r>
            <a:endParaRPr lang="en-US" altLang="zh-CN"/>
          </a:p>
          <a:p>
            <a:r>
              <a:rPr lang="zh-CN" altLang="en-US"/>
              <a:t>然后在余下的</a:t>
            </a:r>
            <a:r>
              <a:rPr lang="en-US" altLang="zh-CN"/>
              <a:t>n-1</a:t>
            </a:r>
            <a:r>
              <a:rPr lang="zh-CN" altLang="en-US"/>
              <a:t>个元素中寻找最小（大）的元素并把它移动到</a:t>
            </a:r>
            <a:r>
              <a:rPr lang="en-US" altLang="zh-CN"/>
              <a:t>a[1](a[n-2])</a:t>
            </a:r>
            <a:r>
              <a:rPr lang="zh-CN" altLang="en-US"/>
              <a:t>；</a:t>
            </a:r>
            <a:endParaRPr lang="en-US" altLang="zh-CN"/>
          </a:p>
          <a:p>
            <a:r>
              <a:rPr lang="zh-CN" altLang="en-US"/>
              <a:t>如此进行下去，直至全部排完。</a:t>
            </a:r>
          </a:p>
        </p:txBody>
      </p:sp>
      <p:sp>
        <p:nvSpPr>
          <p:cNvPr id="3077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2CFB816-E3BC-4CCC-BDB7-1AD3326C8759}" type="slidenum">
              <a:rPr lang="en-US" altLang="en-US" smtClean="0">
                <a:ea typeface="宋体" pitchFamily="2" charset="-122"/>
              </a:rPr>
              <a:pPr/>
              <a:t>31</a:t>
            </a:fld>
            <a:endParaRPr lang="en-US" altLang="en-US">
              <a:ea typeface="宋体" pitchFamily="2" charset="-122"/>
            </a:endParaRPr>
          </a:p>
        </p:txBody>
      </p:sp>
      <p:graphicFrame>
        <p:nvGraphicFramePr>
          <p:cNvPr id="3074" name="Object 5"/>
          <p:cNvGraphicFramePr>
            <a:graphicFrameLocks noChangeAspect="1"/>
          </p:cNvGraphicFramePr>
          <p:nvPr/>
        </p:nvGraphicFramePr>
        <p:xfrm>
          <a:off x="1838325" y="5043488"/>
          <a:ext cx="5235575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71520" imgH="228600" progId="Equation.3">
                  <p:embed/>
                </p:oleObj>
              </mc:Choice>
              <mc:Fallback>
                <p:oleObj name="Equation" r:id="rId2" imgW="217152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8325" y="5043488"/>
                        <a:ext cx="5235575" cy="550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078" name="直接连接符 5"/>
          <p:cNvCxnSpPr>
            <a:cxnSpLocks noChangeShapeType="1"/>
          </p:cNvCxnSpPr>
          <p:nvPr/>
        </p:nvCxnSpPr>
        <p:spPr bwMode="auto">
          <a:xfrm flipV="1">
            <a:off x="4598988" y="5911850"/>
            <a:ext cx="787400" cy="0"/>
          </a:xfrm>
          <a:prstGeom prst="lin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3079" name="直接箭头连接符 6"/>
          <p:cNvCxnSpPr>
            <a:cxnSpLocks noChangeShapeType="1"/>
          </p:cNvCxnSpPr>
          <p:nvPr/>
        </p:nvCxnSpPr>
        <p:spPr bwMode="auto">
          <a:xfrm rot="5400000" flipH="1" flipV="1">
            <a:off x="4454526" y="5775325"/>
            <a:ext cx="298450" cy="9525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</p:spPr>
      </p:cxnSp>
      <p:cxnSp>
        <p:nvCxnSpPr>
          <p:cNvPr id="3080" name="直接箭头连接符 7"/>
          <p:cNvCxnSpPr>
            <a:cxnSpLocks noChangeShapeType="1"/>
          </p:cNvCxnSpPr>
          <p:nvPr/>
        </p:nvCxnSpPr>
        <p:spPr bwMode="auto">
          <a:xfrm rot="5400000" flipH="1" flipV="1">
            <a:off x="5231607" y="5774531"/>
            <a:ext cx="298450" cy="7937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</p:spPr>
      </p:cxn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选择排序：示例</a:t>
            </a:r>
          </a:p>
        </p:txBody>
      </p:sp>
      <p:sp>
        <p:nvSpPr>
          <p:cNvPr id="57347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C823A81-57CC-443E-8DDF-51BAD9C044EB}" type="slidenum">
              <a:rPr lang="en-US" altLang="en-US" smtClean="0">
                <a:ea typeface="宋体" pitchFamily="2" charset="-122"/>
              </a:rPr>
              <a:pPr/>
              <a:t>32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57348" name="TextBox 4"/>
          <p:cNvSpPr txBox="1">
            <a:spLocks noChangeArrowheads="1"/>
          </p:cNvSpPr>
          <p:nvPr/>
        </p:nvSpPr>
        <p:spPr bwMode="auto">
          <a:xfrm>
            <a:off x="1163638" y="1635125"/>
            <a:ext cx="6816725" cy="310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</a:rPr>
              <a:t>| 89    45    68    90    29    34    </a:t>
            </a:r>
            <a:r>
              <a:rPr lang="en-US" altLang="zh-CN" sz="2800">
                <a:solidFill>
                  <a:srgbClr val="FF0000"/>
                </a:solidFill>
              </a:rPr>
              <a:t>17</a:t>
            </a:r>
          </a:p>
          <a:p>
            <a:r>
              <a:rPr lang="en-US" altLang="zh-CN" sz="2800">
                <a:solidFill>
                  <a:srgbClr val="000000"/>
                </a:solidFill>
              </a:rPr>
              <a:t>  17 |  45    68    90    </a:t>
            </a:r>
            <a:r>
              <a:rPr lang="en-US" altLang="zh-CN" sz="2800">
                <a:solidFill>
                  <a:srgbClr val="FF0000"/>
                </a:solidFill>
              </a:rPr>
              <a:t>29</a:t>
            </a:r>
            <a:r>
              <a:rPr lang="en-US" altLang="zh-CN" sz="2800">
                <a:solidFill>
                  <a:srgbClr val="000000"/>
                </a:solidFill>
              </a:rPr>
              <a:t>    34    89</a:t>
            </a:r>
          </a:p>
          <a:p>
            <a:r>
              <a:rPr lang="en-US" altLang="zh-CN" sz="2800">
                <a:solidFill>
                  <a:srgbClr val="000000"/>
                </a:solidFill>
              </a:rPr>
              <a:t>  17    29 |  68    90    45    </a:t>
            </a:r>
            <a:r>
              <a:rPr lang="en-US" altLang="zh-CN" sz="2800">
                <a:solidFill>
                  <a:srgbClr val="FF0000"/>
                </a:solidFill>
              </a:rPr>
              <a:t>34</a:t>
            </a:r>
            <a:r>
              <a:rPr lang="en-US" altLang="zh-CN" sz="2800">
                <a:solidFill>
                  <a:srgbClr val="000000"/>
                </a:solidFill>
              </a:rPr>
              <a:t>    89</a:t>
            </a:r>
          </a:p>
          <a:p>
            <a:r>
              <a:rPr lang="en-US" altLang="zh-CN" sz="2800">
                <a:solidFill>
                  <a:srgbClr val="000000"/>
                </a:solidFill>
              </a:rPr>
              <a:t>  17    29    34 |  90    </a:t>
            </a:r>
            <a:r>
              <a:rPr lang="en-US" altLang="zh-CN" sz="2800">
                <a:solidFill>
                  <a:srgbClr val="FF0000"/>
                </a:solidFill>
              </a:rPr>
              <a:t>45</a:t>
            </a:r>
            <a:r>
              <a:rPr lang="en-US" altLang="zh-CN" sz="2800">
                <a:solidFill>
                  <a:srgbClr val="000000"/>
                </a:solidFill>
              </a:rPr>
              <a:t>    68    89</a:t>
            </a:r>
          </a:p>
          <a:p>
            <a:r>
              <a:rPr lang="en-US" altLang="zh-CN" sz="2800">
                <a:solidFill>
                  <a:srgbClr val="000000"/>
                </a:solidFill>
              </a:rPr>
              <a:t>  17    29    34    45 |  90    </a:t>
            </a:r>
            <a:r>
              <a:rPr lang="en-US" altLang="zh-CN" sz="2800">
                <a:solidFill>
                  <a:srgbClr val="FF0000"/>
                </a:solidFill>
              </a:rPr>
              <a:t>68</a:t>
            </a:r>
            <a:r>
              <a:rPr lang="en-US" altLang="zh-CN" sz="2800">
                <a:solidFill>
                  <a:srgbClr val="000000"/>
                </a:solidFill>
              </a:rPr>
              <a:t>    89</a:t>
            </a:r>
          </a:p>
          <a:p>
            <a:r>
              <a:rPr lang="en-US" altLang="zh-CN" sz="2800">
                <a:solidFill>
                  <a:srgbClr val="000000"/>
                </a:solidFill>
              </a:rPr>
              <a:t>  17    29    34    45    68 |  90    </a:t>
            </a:r>
            <a:r>
              <a:rPr lang="en-US" altLang="zh-CN" sz="2800">
                <a:solidFill>
                  <a:srgbClr val="FF0000"/>
                </a:solidFill>
              </a:rPr>
              <a:t>89</a:t>
            </a:r>
          </a:p>
          <a:p>
            <a:r>
              <a:rPr lang="en-US" altLang="zh-CN" sz="2800">
                <a:solidFill>
                  <a:srgbClr val="000000"/>
                </a:solidFill>
              </a:rPr>
              <a:t>  17    29    34    45    68    89 |  90</a:t>
            </a:r>
            <a:endParaRPr lang="zh-CN" altLang="en-US" sz="2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选择排序：示例</a:t>
            </a:r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58371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6573882-1D8B-4813-A4E5-8F7C603E8FC6}" type="slidenum">
              <a:rPr lang="en-US" altLang="en-US" smtClean="0">
                <a:ea typeface="宋体" pitchFamily="2" charset="-122"/>
              </a:rPr>
              <a:pPr/>
              <a:t>33</a:t>
            </a:fld>
            <a:endParaRPr lang="en-US" altLang="en-US">
              <a:ea typeface="宋体" pitchFamily="2" charset="-122"/>
            </a:endParaRPr>
          </a:p>
        </p:txBody>
      </p:sp>
      <p:pic>
        <p:nvPicPr>
          <p:cNvPr id="58372" name="Picture 6" descr="8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917575" y="2111375"/>
            <a:ext cx="7369175" cy="3398838"/>
          </a:xfrm>
          <a:noFill/>
        </p:spPr>
      </p:pic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选择排序：代码和分析</a:t>
            </a:r>
          </a:p>
        </p:txBody>
      </p:sp>
      <p:sp>
        <p:nvSpPr>
          <p:cNvPr id="59395" name="内容占位符 2"/>
          <p:cNvSpPr>
            <a:spLocks noGrp="1"/>
          </p:cNvSpPr>
          <p:nvPr>
            <p:ph idx="1"/>
          </p:nvPr>
        </p:nvSpPr>
        <p:spPr>
          <a:xfrm>
            <a:off x="917575" y="1525588"/>
            <a:ext cx="3475038" cy="4570412"/>
          </a:xfrm>
        </p:spPr>
        <p:txBody>
          <a:bodyPr/>
          <a:lstStyle/>
          <a:p>
            <a:pPr eaLnBrk="1" hangingPunct="1">
              <a:buClrTx/>
              <a:buFontTx/>
              <a:buNone/>
            </a:pPr>
            <a:r>
              <a:rPr lang="en-US" altLang="zh-CN" sz="2000">
                <a:latin typeface="Tahoma" pitchFamily="34" charset="0"/>
              </a:rPr>
              <a:t>template&lt;class T&gt;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>
                <a:latin typeface="Tahoma" pitchFamily="34" charset="0"/>
              </a:rPr>
              <a:t>int Max(T a[], int n)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>
                <a:latin typeface="Tahoma" pitchFamily="34" charset="0"/>
              </a:rPr>
              <a:t>{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>
                <a:latin typeface="Tahoma" pitchFamily="34" charset="0"/>
              </a:rPr>
              <a:t>   int pos = 0;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>
                <a:latin typeface="Tahoma" pitchFamily="34" charset="0"/>
              </a:rPr>
              <a:t>   for (int i = 1; i &lt; n; i++)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>
                <a:latin typeface="Tahoma" pitchFamily="34" charset="0"/>
              </a:rPr>
              <a:t>      if (a[pos] &lt; a[i])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>
                <a:latin typeface="Tahoma" pitchFamily="34" charset="0"/>
              </a:rPr>
              <a:t>         pos = i;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>
                <a:latin typeface="Tahoma" pitchFamily="34" charset="0"/>
              </a:rPr>
              <a:t>   return pos;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>
                <a:latin typeface="Tahoma" pitchFamily="34" charset="0"/>
              </a:rPr>
              <a:t>}</a:t>
            </a:r>
          </a:p>
          <a:p>
            <a:pPr>
              <a:buFontTx/>
              <a:buNone/>
            </a:pPr>
            <a:endParaRPr lang="zh-CN" altLang="en-US" sz="2000"/>
          </a:p>
        </p:txBody>
      </p:sp>
      <p:sp>
        <p:nvSpPr>
          <p:cNvPr id="593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75DD3F5-3DC8-4C35-98CB-415DD9755980}" type="slidenum">
              <a:rPr lang="en-US" altLang="en-US" smtClean="0">
                <a:ea typeface="宋体" pitchFamily="2" charset="-122"/>
              </a:rPr>
              <a:pPr/>
              <a:t>34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4505325" y="1549400"/>
            <a:ext cx="4371975" cy="457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182880" bIns="0"/>
          <a:lstStyle/>
          <a:p>
            <a:pPr marL="228600" indent="-228600">
              <a:spcBef>
                <a:spcPct val="5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template&lt;class T&gt;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SelectSort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(T a[],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n)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{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for (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size=n; size&gt;1; size--)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{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  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j=Max(a, size);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   Swap(a[j], a[size-1]);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}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}</a:t>
            </a:r>
          </a:p>
          <a:p>
            <a:pPr marL="228600" indent="-228600" eaLnBrk="0" hangingPunct="0">
              <a:spcBef>
                <a:spcPct val="50000"/>
              </a:spcBef>
              <a:buClr>
                <a:schemeClr val="tx2"/>
              </a:buClr>
              <a:defRPr/>
            </a:pPr>
            <a:endParaRPr lang="zh-CN" altLang="en-US" sz="2000" b="1" kern="0" dirty="0">
              <a:latin typeface="黑体" pitchFamily="49" charset="-122"/>
              <a:ea typeface="黑体" pitchFamily="49" charset="-122"/>
            </a:endParaRPr>
          </a:p>
        </p:txBody>
      </p:sp>
      <p:cxnSp>
        <p:nvCxnSpPr>
          <p:cNvPr id="59398" name="直接箭头连接符 6"/>
          <p:cNvCxnSpPr>
            <a:cxnSpLocks noChangeShapeType="1"/>
          </p:cNvCxnSpPr>
          <p:nvPr/>
        </p:nvCxnSpPr>
        <p:spPr bwMode="auto">
          <a:xfrm rot="16200000" flipH="1">
            <a:off x="3226594" y="2442369"/>
            <a:ext cx="1793875" cy="1255713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 type="arrow" w="med" len="med"/>
            <a:tailEnd type="arrow" w="med" len="med"/>
          </a:ln>
        </p:spPr>
      </p:cxnSp>
      <p:sp>
        <p:nvSpPr>
          <p:cNvPr id="59399" name="圆角矩形 8"/>
          <p:cNvSpPr>
            <a:spLocks noChangeArrowheads="1"/>
          </p:cNvSpPr>
          <p:nvPr/>
        </p:nvSpPr>
        <p:spPr bwMode="auto">
          <a:xfrm>
            <a:off x="984250" y="3429000"/>
            <a:ext cx="3408363" cy="287338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lIns="0" tIns="0" rIns="182880" bIns="0"/>
          <a:lstStyle/>
          <a:p>
            <a:pPr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59400" name="TextBox 9"/>
          <p:cNvSpPr txBox="1">
            <a:spLocks noChangeArrowheads="1"/>
          </p:cNvSpPr>
          <p:nvPr/>
        </p:nvSpPr>
        <p:spPr bwMode="auto">
          <a:xfrm>
            <a:off x="87313" y="3608388"/>
            <a:ext cx="2870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循环</a:t>
            </a:r>
            <a:r>
              <a:rPr lang="en-US" altLang="zh-CN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n-1</a:t>
            </a:r>
            <a:r>
              <a:rPr lang="zh-CN" altLang="en-US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次</a:t>
            </a:r>
          </a:p>
        </p:txBody>
      </p:sp>
      <p:sp>
        <p:nvSpPr>
          <p:cNvPr id="59401" name="圆角矩形 10"/>
          <p:cNvSpPr>
            <a:spLocks noChangeArrowheads="1"/>
          </p:cNvSpPr>
          <p:nvPr/>
        </p:nvSpPr>
        <p:spPr bwMode="auto">
          <a:xfrm>
            <a:off x="4930775" y="4325938"/>
            <a:ext cx="3049588" cy="287337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lIns="0" tIns="0" rIns="182880" bIns="0"/>
          <a:lstStyle/>
          <a:p>
            <a:pPr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13" name="矩形 12"/>
          <p:cNvSpPr/>
          <p:nvPr/>
        </p:nvSpPr>
        <p:spPr>
          <a:xfrm>
            <a:off x="3136896" y="5581656"/>
            <a:ext cx="4278735" cy="1015663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zh-CN" altLang="en-US" sz="3000" b="1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结论：比较次数</a:t>
            </a:r>
            <a:r>
              <a:rPr lang="en-US" altLang="zh-CN" sz="3000" b="1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(n-1)n/2</a:t>
            </a:r>
          </a:p>
          <a:p>
            <a:pPr algn="ctr">
              <a:defRPr/>
            </a:pPr>
            <a:r>
              <a:rPr lang="zh-CN" altLang="en-US" sz="3000" b="1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移动次数</a:t>
            </a:r>
            <a:r>
              <a:rPr lang="en-US" altLang="zh-CN" sz="3000" b="1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3(n-1)</a:t>
            </a:r>
            <a:endParaRPr lang="zh-CN" altLang="en-US" sz="3000" b="1" i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选择排序：改进思想</a:t>
            </a:r>
          </a:p>
        </p:txBody>
      </p:sp>
      <p:sp>
        <p:nvSpPr>
          <p:cNvPr id="60419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7D3CBCD-62CC-467B-9B3B-933DC535619E}" type="slidenum">
              <a:rPr lang="en-US" altLang="en-US" smtClean="0">
                <a:ea typeface="宋体" pitchFamily="2" charset="-122"/>
              </a:rPr>
              <a:pPr/>
              <a:t>35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60420" name="TextBox 4"/>
          <p:cNvSpPr txBox="1">
            <a:spLocks noChangeArrowheads="1"/>
          </p:cNvSpPr>
          <p:nvPr/>
        </p:nvSpPr>
        <p:spPr bwMode="auto">
          <a:xfrm>
            <a:off x="1163638" y="1635125"/>
            <a:ext cx="6816725" cy="354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800">
                <a:solidFill>
                  <a:srgbClr val="000000"/>
                </a:solidFill>
              </a:rPr>
              <a:t>一般情况</a:t>
            </a:r>
            <a:endParaRPr lang="en-US" altLang="zh-CN" sz="2800">
              <a:solidFill>
                <a:srgbClr val="000000"/>
              </a:solidFill>
            </a:endParaRPr>
          </a:p>
          <a:p>
            <a:r>
              <a:rPr lang="en-US" altLang="zh-CN" sz="2800">
                <a:solidFill>
                  <a:srgbClr val="000000"/>
                </a:solidFill>
              </a:rPr>
              <a:t>| 89    45    68    90    29    34    </a:t>
            </a:r>
            <a:r>
              <a:rPr lang="en-US" altLang="zh-CN" sz="2800"/>
              <a:t>17</a:t>
            </a:r>
          </a:p>
          <a:p>
            <a:endParaRPr lang="en-US" altLang="zh-CN" sz="2800">
              <a:solidFill>
                <a:srgbClr val="000000"/>
              </a:solidFill>
            </a:endParaRPr>
          </a:p>
          <a:p>
            <a:r>
              <a:rPr lang="zh-CN" altLang="en-US" sz="2800">
                <a:solidFill>
                  <a:srgbClr val="000000"/>
                </a:solidFill>
              </a:rPr>
              <a:t>次优情况</a:t>
            </a:r>
            <a:endParaRPr lang="en-US" altLang="zh-CN" sz="2800">
              <a:solidFill>
                <a:srgbClr val="000000"/>
              </a:solidFill>
            </a:endParaRPr>
          </a:p>
          <a:p>
            <a:r>
              <a:rPr lang="en-US" altLang="zh-CN" sz="2800">
                <a:solidFill>
                  <a:srgbClr val="000000"/>
                </a:solidFill>
              </a:rPr>
              <a:t>| 90    29    34    45    68    89    17</a:t>
            </a:r>
            <a:endParaRPr lang="zh-CN" altLang="en-US" sz="2800">
              <a:solidFill>
                <a:srgbClr val="000000"/>
              </a:solidFill>
            </a:endParaRPr>
          </a:p>
          <a:p>
            <a:endParaRPr lang="en-US" altLang="zh-CN" sz="2800">
              <a:solidFill>
                <a:srgbClr val="000000"/>
              </a:solidFill>
            </a:endParaRPr>
          </a:p>
          <a:p>
            <a:r>
              <a:rPr lang="zh-CN" altLang="en-US" sz="2800">
                <a:solidFill>
                  <a:srgbClr val="000000"/>
                </a:solidFill>
              </a:rPr>
              <a:t>最优情况</a:t>
            </a:r>
            <a:r>
              <a:rPr lang="en-US" altLang="zh-CN" sz="2800">
                <a:solidFill>
                  <a:srgbClr val="000000"/>
                </a:solidFill>
              </a:rPr>
              <a:t>  </a:t>
            </a:r>
            <a:endParaRPr lang="en-US" altLang="zh-CN" sz="2800">
              <a:solidFill>
                <a:srgbClr val="FF0000"/>
              </a:solidFill>
            </a:endParaRPr>
          </a:p>
          <a:p>
            <a:r>
              <a:rPr lang="en-US" altLang="zh-CN" sz="2800">
                <a:solidFill>
                  <a:srgbClr val="000000"/>
                </a:solidFill>
              </a:rPr>
              <a:t>| 17    29    34    45    68    89    90</a:t>
            </a:r>
            <a:endParaRPr lang="zh-CN" altLang="en-US" sz="2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改进选择排序</a:t>
            </a:r>
          </a:p>
        </p:txBody>
      </p:sp>
      <p:sp>
        <p:nvSpPr>
          <p:cNvPr id="61443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8A13D53-BEB2-48F0-8EAF-8850FDC40ED4}" type="slidenum">
              <a:rPr lang="en-US" altLang="en-US" smtClean="0">
                <a:ea typeface="宋体" pitchFamily="2" charset="-122"/>
              </a:rPr>
              <a:pPr/>
              <a:t>36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762000" y="1371600"/>
            <a:ext cx="8193088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182880" bIns="0"/>
          <a:lstStyle/>
          <a:p>
            <a:pPr marL="228600" indent="-22860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template&lt;class T&gt;</a:t>
            </a:r>
          </a:p>
          <a:p>
            <a:pPr marL="228600" indent="-22860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void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SelectionSort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(T a[],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n)</a:t>
            </a:r>
          </a:p>
          <a:p>
            <a:pPr marL="228600" indent="-22860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{</a:t>
            </a:r>
          </a:p>
          <a:p>
            <a:pPr marL="228600" indent="-22860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bool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sorted = false;</a:t>
            </a:r>
          </a:p>
          <a:p>
            <a:pPr marL="228600" indent="-22860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for (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size = n; !sorted &amp;&amp; (size &gt; 1); size--) {</a:t>
            </a:r>
          </a:p>
          <a:p>
            <a:pPr marL="228600" indent="-22860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  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pos = 0;</a:t>
            </a:r>
          </a:p>
          <a:p>
            <a:pPr marL="228600" indent="-22860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   sorted = true;</a:t>
            </a:r>
          </a:p>
          <a:p>
            <a:pPr marL="228600" indent="-228600">
              <a:lnSpc>
                <a:spcPct val="90000"/>
              </a:lnSpc>
              <a:spcBef>
                <a:spcPct val="10000"/>
              </a:spcBef>
              <a:defRPr/>
            </a:pPr>
            <a:endParaRPr lang="en-US" altLang="zh-CN" sz="2000" b="1" kern="0" dirty="0">
              <a:latin typeface="Tahoma" pitchFamily="34" charset="0"/>
              <a:ea typeface="黑体" pitchFamily="49" charset="-122"/>
            </a:endParaRPr>
          </a:p>
          <a:p>
            <a:pPr marL="228600" indent="-22860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   for (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= 1;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&lt; size;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++)</a:t>
            </a:r>
          </a:p>
          <a:p>
            <a:pPr marL="228600" indent="-22860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      if (a[pos] &lt;= a[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]) pos =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;</a:t>
            </a:r>
          </a:p>
          <a:p>
            <a:pPr marL="228600" indent="-22860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      else sorted = false; </a:t>
            </a:r>
          </a:p>
          <a:p>
            <a:pPr marL="228600" indent="-22860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   Swap(a[pos], a[size - 1]);</a:t>
            </a:r>
          </a:p>
          <a:p>
            <a:pPr marL="228600" indent="-22860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   }</a:t>
            </a:r>
          </a:p>
          <a:p>
            <a:pPr marL="228600" indent="-22860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}</a:t>
            </a:r>
            <a:endParaRPr lang="en-US" altLang="zh-CN" sz="2800" b="1" kern="0" dirty="0"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4495800" y="3048000"/>
            <a:ext cx="4114800" cy="1112838"/>
            <a:chOff x="2832" y="1920"/>
            <a:chExt cx="2592" cy="701"/>
          </a:xfrm>
        </p:grpSpPr>
        <p:sp>
          <p:nvSpPr>
            <p:cNvPr id="61448" name="Text Box 5"/>
            <p:cNvSpPr txBox="1">
              <a:spLocks noChangeArrowheads="1"/>
            </p:cNvSpPr>
            <p:nvPr/>
          </p:nvSpPr>
          <p:spPr bwMode="ltGray">
            <a:xfrm>
              <a:off x="2832" y="2160"/>
              <a:ext cx="2592" cy="4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10000"/>
                </a:spcBef>
              </a:pPr>
              <a:r>
                <a:rPr lang="zh-CN" altLang="en-US" sz="2000">
                  <a:solidFill>
                    <a:srgbClr val="FF0000"/>
                  </a:solidFill>
                </a:rPr>
                <a:t>最好情况：只执行一次，</a:t>
              </a:r>
              <a:r>
                <a:rPr lang="en-US" altLang="zh-CN" sz="2000">
                  <a:solidFill>
                    <a:srgbClr val="FF0000"/>
                  </a:solidFill>
                </a:rPr>
                <a:t>n-1</a:t>
              </a:r>
              <a:r>
                <a:rPr lang="zh-CN" altLang="en-US" sz="2000">
                  <a:solidFill>
                    <a:srgbClr val="FF0000"/>
                  </a:solidFill>
                </a:rPr>
                <a:t>次比较</a:t>
              </a:r>
            </a:p>
            <a:p>
              <a:pPr>
                <a:spcBef>
                  <a:spcPct val="10000"/>
                </a:spcBef>
              </a:pPr>
              <a:r>
                <a:rPr lang="zh-CN" altLang="en-US" sz="2000">
                  <a:solidFill>
                    <a:srgbClr val="FF0000"/>
                  </a:solidFill>
                </a:rPr>
                <a:t>最坏情况与原来版本一样</a:t>
              </a:r>
            </a:p>
          </p:txBody>
        </p:sp>
        <p:sp>
          <p:nvSpPr>
            <p:cNvPr id="61449" name="Line 6"/>
            <p:cNvSpPr>
              <a:spLocks noChangeShapeType="1"/>
            </p:cNvSpPr>
            <p:nvPr/>
          </p:nvSpPr>
          <p:spPr bwMode="ltGray">
            <a:xfrm>
              <a:off x="3360" y="1920"/>
              <a:ext cx="336" cy="336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1446" name="Text Box 8"/>
          <p:cNvSpPr txBox="1">
            <a:spLocks noChangeArrowheads="1"/>
          </p:cNvSpPr>
          <p:nvPr/>
        </p:nvSpPr>
        <p:spPr bwMode="ltGray">
          <a:xfrm>
            <a:off x="4419600" y="4800600"/>
            <a:ext cx="41148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zh-CN" altLang="en-US" sz="2000">
                <a:solidFill>
                  <a:srgbClr val="FF0000"/>
                </a:solidFill>
              </a:rPr>
              <a:t>数组有序，此语句不会被执行</a:t>
            </a:r>
            <a:r>
              <a:rPr lang="en-US" altLang="zh-CN" sz="2000">
                <a:solidFill>
                  <a:srgbClr val="FF0000"/>
                </a:solidFill>
              </a:rPr>
              <a:t>——</a:t>
            </a:r>
            <a:r>
              <a:rPr lang="zh-CN" altLang="en-US" sz="2000">
                <a:solidFill>
                  <a:srgbClr val="FF0000"/>
                </a:solidFill>
              </a:rPr>
              <a:t>永远执行</a:t>
            </a:r>
            <a:r>
              <a:rPr lang="en-US" altLang="zh-CN" sz="2000">
                <a:solidFill>
                  <a:srgbClr val="FF0000"/>
                </a:solidFill>
              </a:rPr>
              <a:t>true</a:t>
            </a:r>
            <a:r>
              <a:rPr lang="zh-CN" altLang="en-US" sz="2000">
                <a:solidFill>
                  <a:srgbClr val="FF0000"/>
                </a:solidFill>
              </a:rPr>
              <a:t>分支</a:t>
            </a:r>
            <a:r>
              <a:rPr lang="en-US" altLang="zh-CN" sz="2000">
                <a:solidFill>
                  <a:srgbClr val="FF0000"/>
                </a:solidFill>
              </a:rPr>
              <a:t>——a[0]&lt;=a[1]&lt;=…&lt;=a[n-1]</a:t>
            </a:r>
          </a:p>
        </p:txBody>
      </p:sp>
      <p:sp>
        <p:nvSpPr>
          <p:cNvPr id="61447" name="Line 9"/>
          <p:cNvSpPr>
            <a:spLocks noChangeShapeType="1"/>
          </p:cNvSpPr>
          <p:nvPr/>
        </p:nvSpPr>
        <p:spPr bwMode="ltGray">
          <a:xfrm>
            <a:off x="3733800" y="4572000"/>
            <a:ext cx="1219200" cy="228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冒泡排序：思想</a:t>
            </a:r>
          </a:p>
        </p:txBody>
      </p:sp>
      <p:sp>
        <p:nvSpPr>
          <p:cNvPr id="4100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首先</a:t>
            </a:r>
            <a:r>
              <a:rPr lang="zh-CN" altLang="en-US">
                <a:solidFill>
                  <a:srgbClr val="FF0000"/>
                </a:solidFill>
              </a:rPr>
              <a:t>冒出</a:t>
            </a:r>
            <a:r>
              <a:rPr lang="zh-CN" altLang="en-US"/>
              <a:t>最小（大）元素，具体过程是：</a:t>
            </a:r>
            <a:endParaRPr lang="en-US" altLang="zh-CN"/>
          </a:p>
          <a:p>
            <a:pPr lvl="1"/>
            <a:r>
              <a:rPr lang="zh-CN" altLang="en-US"/>
              <a:t>对相邻元素进行比较，如果左边的元素大于右边的元素，则交换</a:t>
            </a:r>
            <a:endParaRPr lang="en-US" altLang="zh-CN"/>
          </a:p>
          <a:p>
            <a:r>
              <a:rPr lang="zh-CN" altLang="en-US"/>
              <a:t>然后在余下的</a:t>
            </a:r>
            <a:r>
              <a:rPr lang="en-US" altLang="zh-CN"/>
              <a:t>n-1</a:t>
            </a:r>
            <a:r>
              <a:rPr lang="zh-CN" altLang="en-US"/>
              <a:t>个元素中</a:t>
            </a:r>
            <a:r>
              <a:rPr lang="zh-CN" altLang="en-US">
                <a:solidFill>
                  <a:srgbClr val="FF0000"/>
                </a:solidFill>
              </a:rPr>
              <a:t>冒出</a:t>
            </a:r>
            <a:r>
              <a:rPr lang="zh-CN" altLang="en-US"/>
              <a:t>最小（大）的元素；</a:t>
            </a:r>
            <a:endParaRPr lang="en-US" altLang="zh-CN"/>
          </a:p>
          <a:p>
            <a:r>
              <a:rPr lang="zh-CN" altLang="en-US"/>
              <a:t>如此进行下去，直至全部排完。</a:t>
            </a:r>
          </a:p>
          <a:p>
            <a:endParaRPr lang="zh-CN" altLang="en-US"/>
          </a:p>
        </p:txBody>
      </p:sp>
      <p:sp>
        <p:nvSpPr>
          <p:cNvPr id="4101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F1175E9-874A-4FB4-91E6-631E9DA461BA}" type="slidenum">
              <a:rPr lang="en-US" altLang="en-US" smtClean="0">
                <a:ea typeface="宋体" pitchFamily="2" charset="-122"/>
              </a:rPr>
              <a:pPr/>
              <a:t>37</a:t>
            </a:fld>
            <a:endParaRPr lang="en-US" altLang="en-US">
              <a:ea typeface="宋体" pitchFamily="2" charset="-122"/>
            </a:endParaRPr>
          </a:p>
        </p:txBody>
      </p:sp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1455738" y="5043488"/>
          <a:ext cx="6000750" cy="795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89040" imgH="330120" progId="Equation.3">
                  <p:embed/>
                </p:oleObj>
              </mc:Choice>
              <mc:Fallback>
                <p:oleObj name="Equation" r:id="rId2" imgW="2489040" imgH="33012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5738" y="5043488"/>
                        <a:ext cx="6000750" cy="795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冒泡排序：示例</a:t>
            </a:r>
          </a:p>
        </p:txBody>
      </p:sp>
      <p:sp>
        <p:nvSpPr>
          <p:cNvPr id="62467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A0DFDBB3-C334-40BD-8C32-8848D1D315CC}" type="slidenum">
              <a:rPr lang="en-US" altLang="en-US" smtClean="0">
                <a:ea typeface="宋体" pitchFamily="2" charset="-122"/>
              </a:rPr>
              <a:pPr/>
              <a:t>38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22413" y="1455738"/>
            <a:ext cx="6457950" cy="51704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200" dirty="0">
                <a:solidFill>
                  <a:srgbClr val="000000"/>
                </a:solidFill>
                <a:ea typeface="宋体" charset="-122"/>
              </a:rPr>
              <a:t>89    45    68    90    29    </a:t>
            </a:r>
            <a:r>
              <a:rPr lang="en-US" altLang="zh-CN" sz="2200" dirty="0">
                <a:solidFill>
                  <a:srgbClr val="FF0000"/>
                </a:solidFill>
                <a:ea typeface="宋体" charset="-122"/>
              </a:rPr>
              <a:t>34    17</a:t>
            </a:r>
          </a:p>
          <a:p>
            <a:pPr>
              <a:defRPr/>
            </a:pPr>
            <a:r>
              <a:rPr lang="en-US" altLang="zh-CN" sz="2200" dirty="0">
                <a:solidFill>
                  <a:srgbClr val="000000"/>
                </a:solidFill>
                <a:ea typeface="宋体" charset="-122"/>
              </a:rPr>
              <a:t>89    45    68    90    </a:t>
            </a:r>
            <a:r>
              <a:rPr lang="en-US" altLang="zh-CN" sz="2200" dirty="0">
                <a:solidFill>
                  <a:srgbClr val="FF0000"/>
                </a:solidFill>
                <a:ea typeface="宋体" charset="-122"/>
              </a:rPr>
              <a:t>29    17    </a:t>
            </a:r>
            <a:r>
              <a:rPr lang="en-US" altLang="zh-CN" sz="2200" dirty="0">
                <a:solidFill>
                  <a:srgbClr val="000000"/>
                </a:solidFill>
                <a:ea typeface="宋体" charset="-122"/>
              </a:rPr>
              <a:t>34</a:t>
            </a:r>
          </a:p>
          <a:p>
            <a:pPr>
              <a:defRPr/>
            </a:pPr>
            <a:r>
              <a:rPr lang="en-US" altLang="zh-CN" sz="2200" dirty="0">
                <a:solidFill>
                  <a:srgbClr val="000000"/>
                </a:solidFill>
                <a:ea typeface="宋体" charset="-122"/>
              </a:rPr>
              <a:t>89    45    68    </a:t>
            </a:r>
            <a:r>
              <a:rPr lang="en-US" altLang="zh-CN" sz="2200" dirty="0">
                <a:solidFill>
                  <a:srgbClr val="FF0000"/>
                </a:solidFill>
                <a:ea typeface="宋体" charset="-122"/>
              </a:rPr>
              <a:t>90    17    </a:t>
            </a:r>
            <a:r>
              <a:rPr lang="en-US" altLang="zh-CN" sz="2200" dirty="0">
                <a:solidFill>
                  <a:srgbClr val="000000"/>
                </a:solidFill>
                <a:ea typeface="宋体" charset="-122"/>
              </a:rPr>
              <a:t>29    34</a:t>
            </a:r>
          </a:p>
          <a:p>
            <a:pPr marL="457200" indent="-457200">
              <a:buFontTx/>
              <a:buAutoNum type="arabicPlain" startAt="89"/>
              <a:defRPr/>
            </a:pPr>
            <a:r>
              <a:rPr lang="en-US" altLang="zh-CN" sz="2200" dirty="0">
                <a:solidFill>
                  <a:srgbClr val="000000"/>
                </a:solidFill>
                <a:ea typeface="宋体" charset="-122"/>
              </a:rPr>
              <a:t>45    </a:t>
            </a:r>
            <a:r>
              <a:rPr lang="en-US" altLang="zh-CN" sz="2200" dirty="0">
                <a:solidFill>
                  <a:srgbClr val="FF0000"/>
                </a:solidFill>
                <a:ea typeface="宋体" charset="-122"/>
              </a:rPr>
              <a:t>68    17    </a:t>
            </a:r>
            <a:r>
              <a:rPr lang="en-US" altLang="zh-CN" sz="2200" dirty="0">
                <a:solidFill>
                  <a:srgbClr val="000000"/>
                </a:solidFill>
                <a:ea typeface="宋体" charset="-122"/>
              </a:rPr>
              <a:t>90    29    34</a:t>
            </a:r>
          </a:p>
          <a:p>
            <a:pPr marL="457200" indent="-457200">
              <a:defRPr/>
            </a:pPr>
            <a:r>
              <a:rPr lang="en-US" altLang="zh-CN" sz="2200" dirty="0">
                <a:solidFill>
                  <a:srgbClr val="000000"/>
                </a:solidFill>
                <a:ea typeface="宋体" charset="-122"/>
              </a:rPr>
              <a:t>89    </a:t>
            </a:r>
            <a:r>
              <a:rPr lang="en-US" altLang="zh-CN" sz="2200" dirty="0">
                <a:solidFill>
                  <a:srgbClr val="FF0000"/>
                </a:solidFill>
                <a:ea typeface="宋体" charset="-122"/>
              </a:rPr>
              <a:t>45    17    </a:t>
            </a:r>
            <a:r>
              <a:rPr lang="en-US" altLang="zh-CN" sz="2200" dirty="0">
                <a:solidFill>
                  <a:srgbClr val="000000"/>
                </a:solidFill>
                <a:ea typeface="宋体" charset="-122"/>
              </a:rPr>
              <a:t>68    90    29    34</a:t>
            </a:r>
          </a:p>
          <a:p>
            <a:pPr marL="457200" indent="-457200">
              <a:defRPr/>
            </a:pPr>
            <a:r>
              <a:rPr lang="en-US" altLang="zh-CN" sz="2200" dirty="0">
                <a:solidFill>
                  <a:srgbClr val="FF0000"/>
                </a:solidFill>
                <a:ea typeface="宋体" charset="-122"/>
              </a:rPr>
              <a:t>89    17    </a:t>
            </a:r>
            <a:r>
              <a:rPr lang="en-US" altLang="zh-CN" sz="2200" dirty="0">
                <a:solidFill>
                  <a:srgbClr val="000000"/>
                </a:solidFill>
                <a:ea typeface="宋体" charset="-122"/>
              </a:rPr>
              <a:t>45    68    90    29    34</a:t>
            </a:r>
          </a:p>
          <a:p>
            <a:pPr marL="457200" indent="-457200">
              <a:defRPr/>
            </a:pPr>
            <a:r>
              <a:rPr lang="en-US" altLang="zh-CN" sz="2200" dirty="0">
                <a:solidFill>
                  <a:srgbClr val="000000"/>
                </a:solidFill>
                <a:ea typeface="宋体" charset="-122"/>
              </a:rPr>
              <a:t>17 |  89    45    68    90    29    34</a:t>
            </a:r>
          </a:p>
          <a:p>
            <a:pPr marL="457200" indent="-457200">
              <a:defRPr/>
            </a:pPr>
            <a:endParaRPr lang="en-US" altLang="zh-CN" sz="2200" dirty="0">
              <a:solidFill>
                <a:srgbClr val="000000"/>
              </a:solidFill>
              <a:ea typeface="宋体" charset="-122"/>
            </a:endParaRPr>
          </a:p>
          <a:p>
            <a:pPr marL="457200" indent="-457200">
              <a:defRPr/>
            </a:pPr>
            <a:r>
              <a:rPr lang="en-US" altLang="zh-CN" sz="2200" dirty="0">
                <a:solidFill>
                  <a:srgbClr val="000000"/>
                </a:solidFill>
                <a:ea typeface="宋体" charset="-122"/>
              </a:rPr>
              <a:t>17 |  89    45    68    </a:t>
            </a:r>
            <a:r>
              <a:rPr lang="en-US" altLang="zh-CN" sz="2200" dirty="0">
                <a:solidFill>
                  <a:srgbClr val="FF0000"/>
                </a:solidFill>
                <a:ea typeface="宋体" charset="-122"/>
              </a:rPr>
              <a:t>90    29    34</a:t>
            </a:r>
          </a:p>
          <a:p>
            <a:pPr marL="457200" indent="-457200">
              <a:defRPr/>
            </a:pPr>
            <a:r>
              <a:rPr lang="en-US" altLang="zh-CN" sz="2200" dirty="0">
                <a:solidFill>
                  <a:srgbClr val="000000"/>
                </a:solidFill>
                <a:ea typeface="宋体" charset="-122"/>
              </a:rPr>
              <a:t>17 |  89    45    </a:t>
            </a:r>
            <a:r>
              <a:rPr lang="en-US" altLang="zh-CN" sz="2200" dirty="0">
                <a:solidFill>
                  <a:srgbClr val="FF0000"/>
                </a:solidFill>
                <a:ea typeface="宋体" charset="-122"/>
              </a:rPr>
              <a:t>68    29    </a:t>
            </a:r>
            <a:r>
              <a:rPr lang="en-US" altLang="zh-CN" sz="2200" dirty="0">
                <a:solidFill>
                  <a:srgbClr val="000000"/>
                </a:solidFill>
                <a:ea typeface="宋体" charset="-122"/>
              </a:rPr>
              <a:t>90    34</a:t>
            </a:r>
          </a:p>
          <a:p>
            <a:pPr marL="457200" indent="-457200">
              <a:defRPr/>
            </a:pPr>
            <a:r>
              <a:rPr lang="en-US" altLang="zh-CN" sz="2200" dirty="0">
                <a:solidFill>
                  <a:srgbClr val="000000"/>
                </a:solidFill>
                <a:ea typeface="宋体" charset="-122"/>
              </a:rPr>
              <a:t>17 |  89    </a:t>
            </a:r>
            <a:r>
              <a:rPr lang="en-US" altLang="zh-CN" sz="2200" dirty="0">
                <a:solidFill>
                  <a:srgbClr val="FF0000"/>
                </a:solidFill>
                <a:ea typeface="宋体" charset="-122"/>
              </a:rPr>
              <a:t>45    29    </a:t>
            </a:r>
            <a:r>
              <a:rPr lang="en-US" altLang="zh-CN" sz="2200" dirty="0">
                <a:solidFill>
                  <a:srgbClr val="000000"/>
                </a:solidFill>
                <a:ea typeface="宋体" charset="-122"/>
              </a:rPr>
              <a:t>68    90    34</a:t>
            </a:r>
          </a:p>
          <a:p>
            <a:pPr marL="457200" indent="-457200">
              <a:defRPr/>
            </a:pPr>
            <a:r>
              <a:rPr lang="en-US" altLang="zh-CN" sz="2200" dirty="0">
                <a:solidFill>
                  <a:srgbClr val="000000"/>
                </a:solidFill>
                <a:ea typeface="宋体" charset="-122"/>
              </a:rPr>
              <a:t>17 |  </a:t>
            </a:r>
            <a:r>
              <a:rPr lang="en-US" altLang="zh-CN" sz="2200" dirty="0">
                <a:solidFill>
                  <a:srgbClr val="FF0000"/>
                </a:solidFill>
                <a:ea typeface="宋体" charset="-122"/>
              </a:rPr>
              <a:t>89    29    </a:t>
            </a:r>
            <a:r>
              <a:rPr lang="en-US" altLang="zh-CN" sz="2200" dirty="0">
                <a:solidFill>
                  <a:srgbClr val="000000"/>
                </a:solidFill>
                <a:ea typeface="宋体" charset="-122"/>
              </a:rPr>
              <a:t>45    68    90    34</a:t>
            </a:r>
          </a:p>
          <a:p>
            <a:pPr marL="457200" indent="-457200">
              <a:defRPr/>
            </a:pPr>
            <a:r>
              <a:rPr lang="en-US" altLang="zh-CN" sz="2200" dirty="0">
                <a:solidFill>
                  <a:srgbClr val="000000"/>
                </a:solidFill>
                <a:ea typeface="宋体" charset="-122"/>
              </a:rPr>
              <a:t>17    29 |  89    45    68    90    34</a:t>
            </a:r>
          </a:p>
          <a:p>
            <a:pPr marL="457200" indent="-457200">
              <a:defRPr/>
            </a:pPr>
            <a:endParaRPr lang="en-US" altLang="zh-CN" sz="2200" dirty="0">
              <a:solidFill>
                <a:srgbClr val="000000"/>
              </a:solidFill>
              <a:ea typeface="宋体" charset="-122"/>
            </a:endParaRPr>
          </a:p>
          <a:p>
            <a:pPr marL="457200" indent="-457200" algn="ctr">
              <a:defRPr/>
            </a:pPr>
            <a:r>
              <a:rPr lang="en-US" altLang="zh-CN" sz="2200" dirty="0">
                <a:solidFill>
                  <a:srgbClr val="000000"/>
                </a:solidFill>
                <a:ea typeface="宋体" charset="-122"/>
              </a:rPr>
              <a:t>……</a:t>
            </a:r>
            <a:endParaRPr lang="zh-CN" altLang="en-US" sz="2200" dirty="0">
              <a:solidFill>
                <a:srgbClr val="000000"/>
              </a:solidFill>
              <a:ea typeface="宋体" charset="-122"/>
            </a:endParaRP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冒泡排序：示例</a:t>
            </a:r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63491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29ABD06-8427-4356-A3C9-18D616C9F98C}" type="slidenum">
              <a:rPr lang="en-US" altLang="en-US" smtClean="0">
                <a:ea typeface="宋体" pitchFamily="2" charset="-122"/>
              </a:rPr>
              <a:pPr/>
              <a:t>39</a:t>
            </a:fld>
            <a:endParaRPr lang="en-US" altLang="en-US">
              <a:ea typeface="宋体" pitchFamily="2" charset="-122"/>
            </a:endParaRPr>
          </a:p>
        </p:txBody>
      </p:sp>
      <p:pic>
        <p:nvPicPr>
          <p:cNvPr id="63492" name="Picture 6" descr="bubble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259013" y="1525588"/>
            <a:ext cx="4686300" cy="4570412"/>
          </a:xfrm>
          <a:noFill/>
        </p:spPr>
      </p:pic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冒泡排序：代码和分析</a:t>
            </a:r>
          </a:p>
        </p:txBody>
      </p:sp>
      <p:sp>
        <p:nvSpPr>
          <p:cNvPr id="64515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C1980DF-51EE-4F60-9D89-3D27C380A179}" type="slidenum">
              <a:rPr lang="en-US" altLang="en-US" smtClean="0">
                <a:ea typeface="宋体" pitchFamily="2" charset="-122"/>
              </a:rPr>
              <a:pPr/>
              <a:t>40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64516" name="内容占位符 2"/>
          <p:cNvSpPr>
            <a:spLocks noGrp="1"/>
          </p:cNvSpPr>
          <p:nvPr>
            <p:ph idx="1"/>
          </p:nvPr>
        </p:nvSpPr>
        <p:spPr>
          <a:xfrm>
            <a:off x="917575" y="1525588"/>
            <a:ext cx="3475038" cy="4570412"/>
          </a:xfrm>
        </p:spPr>
        <p:txBody>
          <a:bodyPr/>
          <a:lstStyle/>
          <a:p>
            <a:pPr eaLnBrk="1" hangingPunct="1">
              <a:buClrTx/>
              <a:buFontTx/>
              <a:buNone/>
            </a:pPr>
            <a:r>
              <a:rPr lang="en-US" altLang="zh-CN" sz="2000">
                <a:latin typeface="Tahoma" pitchFamily="34" charset="0"/>
              </a:rPr>
              <a:t>template&lt;class T&gt;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>
                <a:latin typeface="Tahoma" pitchFamily="34" charset="0"/>
              </a:rPr>
              <a:t>void Bubble(T a[], int n)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>
                <a:latin typeface="Tahoma" pitchFamily="34" charset="0"/>
              </a:rPr>
              <a:t>{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>
                <a:latin typeface="Tahoma" pitchFamily="34" charset="0"/>
              </a:rPr>
              <a:t>   for (int i=0; i &lt;n-1; i++)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>
                <a:latin typeface="Tahoma" pitchFamily="34" charset="0"/>
              </a:rPr>
              <a:t>      if (a[i+1] &lt; a[i])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>
                <a:latin typeface="Tahoma" pitchFamily="34" charset="0"/>
              </a:rPr>
              <a:t>         Swap(a[i],a[i+1]);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>
                <a:latin typeface="Tahoma" pitchFamily="34" charset="0"/>
              </a:rPr>
              <a:t>}</a:t>
            </a:r>
          </a:p>
          <a:p>
            <a:pPr>
              <a:buFontTx/>
              <a:buNone/>
            </a:pPr>
            <a:endParaRPr lang="zh-CN" altLang="en-US" sz="2000"/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4505325" y="1549400"/>
            <a:ext cx="4371975" cy="457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182880" bIns="0"/>
          <a:lstStyle/>
          <a:p>
            <a:pPr marL="228600" indent="-228600">
              <a:spcBef>
                <a:spcPct val="5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template&lt;class T&gt;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void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BubbleSort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(T a[],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n)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{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for (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size=n; size&gt;1; size--)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{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   Bubble(a, size);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 }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}</a:t>
            </a:r>
          </a:p>
          <a:p>
            <a:pPr marL="228600" indent="-228600" eaLnBrk="0" hangingPunct="0">
              <a:spcBef>
                <a:spcPct val="50000"/>
              </a:spcBef>
              <a:buClr>
                <a:schemeClr val="tx2"/>
              </a:buClr>
              <a:defRPr/>
            </a:pPr>
            <a:endParaRPr lang="zh-CN" altLang="en-US" sz="2000" b="1" kern="0" dirty="0">
              <a:latin typeface="黑体" pitchFamily="49" charset="-122"/>
              <a:ea typeface="黑体" pitchFamily="49" charset="-122"/>
            </a:endParaRPr>
          </a:p>
        </p:txBody>
      </p:sp>
      <p:cxnSp>
        <p:nvCxnSpPr>
          <p:cNvPr id="64518" name="直接箭头连接符 6"/>
          <p:cNvCxnSpPr>
            <a:cxnSpLocks noChangeShapeType="1"/>
          </p:cNvCxnSpPr>
          <p:nvPr/>
        </p:nvCxnSpPr>
        <p:spPr bwMode="auto">
          <a:xfrm rot="16200000" flipH="1">
            <a:off x="3226594" y="2442369"/>
            <a:ext cx="1793875" cy="1255713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 type="arrow" w="med" len="med"/>
            <a:tailEnd type="arrow" w="med" len="med"/>
          </a:ln>
        </p:spPr>
      </p:cxnSp>
      <p:sp>
        <p:nvSpPr>
          <p:cNvPr id="64519" name="圆角矩形 7"/>
          <p:cNvSpPr>
            <a:spLocks noChangeArrowheads="1"/>
          </p:cNvSpPr>
          <p:nvPr/>
        </p:nvSpPr>
        <p:spPr bwMode="auto">
          <a:xfrm>
            <a:off x="984250" y="2890838"/>
            <a:ext cx="3408363" cy="287337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lIns="0" tIns="0" rIns="182880" bIns="0"/>
          <a:lstStyle/>
          <a:p>
            <a:pPr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64520" name="TextBox 8"/>
          <p:cNvSpPr txBox="1">
            <a:spLocks noChangeArrowheads="1"/>
          </p:cNvSpPr>
          <p:nvPr/>
        </p:nvSpPr>
        <p:spPr bwMode="auto">
          <a:xfrm>
            <a:off x="0" y="3249613"/>
            <a:ext cx="2870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循环</a:t>
            </a:r>
            <a:r>
              <a:rPr lang="en-US" altLang="zh-CN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n-1</a:t>
            </a:r>
            <a:r>
              <a:rPr lang="zh-CN" altLang="en-US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次</a:t>
            </a:r>
          </a:p>
        </p:txBody>
      </p:sp>
      <p:sp>
        <p:nvSpPr>
          <p:cNvPr id="12" name="矩形 11"/>
          <p:cNvSpPr/>
          <p:nvPr/>
        </p:nvSpPr>
        <p:spPr>
          <a:xfrm>
            <a:off x="1701792" y="5043492"/>
            <a:ext cx="6752169" cy="1015663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zh-CN" altLang="en-US" sz="3000" b="1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结论：比较次数</a:t>
            </a:r>
            <a:r>
              <a:rPr lang="en-US" altLang="zh-CN" sz="3000" b="1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(n-1)n/2</a:t>
            </a:r>
          </a:p>
          <a:p>
            <a:pPr algn="ctr">
              <a:defRPr/>
            </a:pPr>
            <a:r>
              <a:rPr lang="zh-CN" altLang="en-US" sz="3000" b="1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移动次数不确定，但应该比选择排序多</a:t>
            </a: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改进冒泡排序</a:t>
            </a:r>
          </a:p>
        </p:txBody>
      </p:sp>
      <p:sp>
        <p:nvSpPr>
          <p:cNvPr id="65539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3B8D746-09D5-4DCA-87F3-89393C592970}" type="slidenum">
              <a:rPr lang="en-US" altLang="en-US" smtClean="0">
                <a:ea typeface="宋体" pitchFamily="2" charset="-122"/>
              </a:rPr>
              <a:pPr/>
              <a:t>41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46088" y="1371600"/>
            <a:ext cx="3890962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182880" bIns="0"/>
          <a:lstStyle/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template&lt;class T&gt;</a:t>
            </a:r>
          </a:p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bool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Bubble(T a[],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n)</a:t>
            </a:r>
          </a:p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{</a:t>
            </a:r>
          </a:p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bool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swapped = false;</a:t>
            </a:r>
          </a:p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for (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= 0;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&lt; n - 1;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++)</a:t>
            </a:r>
          </a:p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   if (a[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] &gt; a[i+1]) {</a:t>
            </a:r>
          </a:p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      Swap(a[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], a[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+ 1]);</a:t>
            </a:r>
          </a:p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      swapped = true; </a:t>
            </a:r>
          </a:p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      }</a:t>
            </a:r>
          </a:p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return swapped;</a:t>
            </a:r>
          </a:p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}</a:t>
            </a:r>
          </a:p>
        </p:txBody>
      </p:sp>
      <p:sp>
        <p:nvSpPr>
          <p:cNvPr id="65541" name="Text Box 8"/>
          <p:cNvSpPr txBox="1">
            <a:spLocks noChangeArrowheads="1"/>
          </p:cNvSpPr>
          <p:nvPr/>
        </p:nvSpPr>
        <p:spPr bwMode="ltGray">
          <a:xfrm>
            <a:off x="3646488" y="4419600"/>
            <a:ext cx="332105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zh-CN" altLang="en-US" sz="2000">
                <a:solidFill>
                  <a:srgbClr val="FF0000"/>
                </a:solidFill>
              </a:rPr>
              <a:t>进行了相邻数据交换</a:t>
            </a:r>
          </a:p>
          <a:p>
            <a:pPr>
              <a:spcBef>
                <a:spcPct val="10000"/>
              </a:spcBef>
            </a:pPr>
            <a:r>
              <a:rPr lang="zh-CN" altLang="en-US" sz="2000">
                <a:solidFill>
                  <a:srgbClr val="FF0000"/>
                </a:solidFill>
              </a:rPr>
              <a:t>如果这趟扫描没有交换呢？</a:t>
            </a:r>
          </a:p>
          <a:p>
            <a:pPr>
              <a:spcBef>
                <a:spcPct val="10000"/>
              </a:spcBef>
            </a:pPr>
            <a:r>
              <a:rPr lang="zh-CN" altLang="en-US" sz="2000">
                <a:solidFill>
                  <a:srgbClr val="FF0000"/>
                </a:solidFill>
              </a:rPr>
              <a:t>所有</a:t>
            </a:r>
            <a:r>
              <a:rPr lang="en-US" altLang="zh-CN" sz="2000">
                <a:solidFill>
                  <a:srgbClr val="FF0000"/>
                </a:solidFill>
              </a:rPr>
              <a:t>a[i]&lt;=a[i+1]——</a:t>
            </a:r>
            <a:r>
              <a:rPr lang="zh-CN" altLang="en-US" sz="2000">
                <a:solidFill>
                  <a:srgbClr val="FF0000"/>
                </a:solidFill>
              </a:rPr>
              <a:t>有序</a:t>
            </a:r>
          </a:p>
        </p:txBody>
      </p:sp>
      <p:sp>
        <p:nvSpPr>
          <p:cNvPr id="65542" name="Line 9"/>
          <p:cNvSpPr>
            <a:spLocks noChangeShapeType="1"/>
          </p:cNvSpPr>
          <p:nvPr/>
        </p:nvSpPr>
        <p:spPr bwMode="ltGray">
          <a:xfrm>
            <a:off x="2808288" y="4038600"/>
            <a:ext cx="1066800" cy="457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4930775" y="1371600"/>
            <a:ext cx="4024313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182880" bIns="0"/>
          <a:lstStyle/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template&lt;class T&gt;</a:t>
            </a:r>
          </a:p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void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BubbleSort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(T a[],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n)</a:t>
            </a:r>
          </a:p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{</a:t>
            </a:r>
          </a:p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for (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= n;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&gt; 1 &amp;&amp; Bubble(a,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);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--);</a:t>
            </a:r>
          </a:p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}</a:t>
            </a:r>
            <a:endParaRPr lang="en-US" altLang="zh-CN" sz="2800" b="1" kern="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ltGray">
          <a:xfrm>
            <a:off x="4495800" y="3249613"/>
            <a:ext cx="4202113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zh-CN" altLang="en-US" sz="2000">
                <a:solidFill>
                  <a:srgbClr val="FF0000"/>
                </a:solidFill>
              </a:rPr>
              <a:t>最好情况</a:t>
            </a:r>
            <a:r>
              <a:rPr lang="en-US" altLang="zh-CN" sz="2000">
                <a:solidFill>
                  <a:srgbClr val="FF0000"/>
                </a:solidFill>
              </a:rPr>
              <a:t>Bubble</a:t>
            </a:r>
            <a:r>
              <a:rPr lang="zh-CN" altLang="en-US" sz="2000">
                <a:solidFill>
                  <a:srgbClr val="FF0000"/>
                </a:solidFill>
              </a:rPr>
              <a:t>只执行一次，</a:t>
            </a:r>
            <a:r>
              <a:rPr lang="en-US" altLang="zh-CN" sz="2000">
                <a:solidFill>
                  <a:srgbClr val="FF0000"/>
                </a:solidFill>
              </a:rPr>
              <a:t>n-1</a:t>
            </a:r>
            <a:r>
              <a:rPr lang="zh-CN" altLang="en-US" sz="2000">
                <a:solidFill>
                  <a:srgbClr val="FF0000"/>
                </a:solidFill>
              </a:rPr>
              <a:t>次比较；最坏情况与原来版本一样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插入排序：思想</a:t>
            </a:r>
          </a:p>
        </p:txBody>
      </p:sp>
      <p:sp>
        <p:nvSpPr>
          <p:cNvPr id="5124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从无序部分取一元素插入到有序部分的正确位置上，类似于玩家整理手中的扑克牌</a:t>
            </a:r>
            <a:endParaRPr lang="en-US" altLang="zh-CN"/>
          </a:p>
          <a:p>
            <a:r>
              <a:rPr lang="zh-CN" altLang="en-US"/>
              <a:t>把</a:t>
            </a:r>
            <a:r>
              <a:rPr lang="en-US" altLang="zh-CN"/>
              <a:t>L[i+1]</a:t>
            </a:r>
            <a:r>
              <a:rPr lang="zh-CN" altLang="en-US"/>
              <a:t>插入到</a:t>
            </a:r>
            <a:r>
              <a:rPr lang="en-US" altLang="zh-CN"/>
              <a:t>L[1…i]</a:t>
            </a:r>
            <a:r>
              <a:rPr lang="zh-CN" altLang="en-US"/>
              <a:t>中的正确位置，</a:t>
            </a:r>
            <a:r>
              <a:rPr lang="en-US" altLang="zh-CN"/>
              <a:t>i++</a:t>
            </a:r>
          </a:p>
          <a:p>
            <a:r>
              <a:rPr lang="zh-CN" altLang="en-US"/>
              <a:t>直至全部插完停止</a:t>
            </a:r>
            <a:endParaRPr lang="en-US" altLang="zh-CN"/>
          </a:p>
          <a:p>
            <a:endParaRPr lang="zh-CN" altLang="en-US"/>
          </a:p>
        </p:txBody>
      </p:sp>
      <p:sp>
        <p:nvSpPr>
          <p:cNvPr id="5125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5E077A6-1EF3-416A-8ECC-43375BEF4CE5}" type="slidenum">
              <a:rPr lang="en-US" altLang="en-US" smtClean="0">
                <a:ea typeface="宋体" pitchFamily="2" charset="-122"/>
              </a:rPr>
              <a:pPr/>
              <a:t>42</a:t>
            </a:fld>
            <a:endParaRPr lang="en-US" altLang="en-US">
              <a:ea typeface="宋体" pitchFamily="2" charset="-122"/>
            </a:endParaRPr>
          </a:p>
        </p:txBody>
      </p:sp>
      <p:graphicFrame>
        <p:nvGraphicFramePr>
          <p:cNvPr id="5122" name="Object 2"/>
          <p:cNvGraphicFramePr>
            <a:graphicFrameLocks noChangeAspect="1"/>
          </p:cNvGraphicFramePr>
          <p:nvPr/>
        </p:nvGraphicFramePr>
        <p:xfrm>
          <a:off x="1808163" y="4800600"/>
          <a:ext cx="529590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97080" imgH="241200" progId="Equation.3">
                  <p:embed/>
                </p:oleObj>
              </mc:Choice>
              <mc:Fallback>
                <p:oleObj name="Equation" r:id="rId2" imgW="2197080" imgH="241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8163" y="4800600"/>
                        <a:ext cx="5295900" cy="581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126" name="肘形连接符 5"/>
          <p:cNvCxnSpPr>
            <a:cxnSpLocks noChangeShapeType="1"/>
          </p:cNvCxnSpPr>
          <p:nvPr/>
        </p:nvCxnSpPr>
        <p:spPr bwMode="auto">
          <a:xfrm>
            <a:off x="3557588" y="4505325"/>
            <a:ext cx="2327275" cy="334963"/>
          </a:xfrm>
          <a:prstGeom prst="bentConnector3">
            <a:avLst>
              <a:gd name="adj1" fmla="val 99417"/>
            </a:avLst>
          </a:prstGeom>
          <a:noFill/>
          <a:ln w="9525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5127" name="直接箭头连接符 6"/>
          <p:cNvCxnSpPr>
            <a:cxnSpLocks noChangeShapeType="1"/>
          </p:cNvCxnSpPr>
          <p:nvPr/>
        </p:nvCxnSpPr>
        <p:spPr bwMode="auto">
          <a:xfrm rot="16200000" flipH="1">
            <a:off x="3427413" y="4654550"/>
            <a:ext cx="288925" cy="9525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</p:spPr>
      </p:cxn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插入排序：示例</a:t>
            </a:r>
          </a:p>
        </p:txBody>
      </p:sp>
      <p:sp>
        <p:nvSpPr>
          <p:cNvPr id="66563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8588915-76F3-416A-8D97-197C9E72BE39}" type="slidenum">
              <a:rPr lang="en-US" altLang="en-US" smtClean="0">
                <a:ea typeface="宋体" pitchFamily="2" charset="-122"/>
              </a:rPr>
              <a:pPr/>
              <a:t>43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84240" y="1455732"/>
            <a:ext cx="7534296" cy="415498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dirty="0">
                <a:solidFill>
                  <a:srgbClr val="000000"/>
                </a:solidFill>
                <a:ea typeface="宋体" charset="-122"/>
              </a:rPr>
              <a:t>89  |  </a:t>
            </a:r>
            <a:r>
              <a:rPr lang="en-US" altLang="zh-CN" sz="2400" dirty="0">
                <a:solidFill>
                  <a:srgbClr val="FF0000"/>
                </a:solidFill>
                <a:ea typeface="宋体" charset="-122"/>
              </a:rPr>
              <a:t>45 </a:t>
            </a:r>
            <a:r>
              <a:rPr lang="en-US" altLang="zh-CN" sz="2400" dirty="0">
                <a:solidFill>
                  <a:srgbClr val="000000"/>
                </a:solidFill>
                <a:ea typeface="宋体" charset="-122"/>
              </a:rPr>
              <a:t>    68     90     29     34     17</a:t>
            </a:r>
          </a:p>
          <a:p>
            <a:pPr>
              <a:defRPr/>
            </a:pPr>
            <a:r>
              <a:rPr lang="en-US" altLang="zh-CN" sz="2400" dirty="0">
                <a:solidFill>
                  <a:srgbClr val="000000"/>
                </a:solidFill>
                <a:ea typeface="宋体" charset="-122"/>
              </a:rPr>
              <a:t>45     89  |  </a:t>
            </a:r>
            <a:r>
              <a:rPr lang="en-US" altLang="zh-CN" sz="2400" dirty="0">
                <a:solidFill>
                  <a:srgbClr val="FF0000"/>
                </a:solidFill>
                <a:ea typeface="宋体" charset="-122"/>
              </a:rPr>
              <a:t>68  </a:t>
            </a:r>
            <a:r>
              <a:rPr lang="en-US" altLang="zh-CN" sz="2400" dirty="0">
                <a:solidFill>
                  <a:srgbClr val="000000"/>
                </a:solidFill>
                <a:ea typeface="宋体" charset="-122"/>
              </a:rPr>
              <a:t>   90     29     34     17</a:t>
            </a:r>
          </a:p>
          <a:p>
            <a:pPr>
              <a:defRPr/>
            </a:pPr>
            <a:r>
              <a:rPr lang="en-US" altLang="zh-CN" sz="2400" dirty="0">
                <a:solidFill>
                  <a:srgbClr val="000000"/>
                </a:solidFill>
                <a:ea typeface="宋体" charset="-122"/>
              </a:rPr>
              <a:t>45     68     89  |  </a:t>
            </a:r>
            <a:r>
              <a:rPr lang="en-US" altLang="zh-CN" sz="2400" dirty="0">
                <a:solidFill>
                  <a:srgbClr val="FF0000"/>
                </a:solidFill>
                <a:ea typeface="宋体" charset="-122"/>
              </a:rPr>
              <a:t>90  </a:t>
            </a:r>
            <a:r>
              <a:rPr lang="en-US" altLang="zh-CN" sz="2400" dirty="0">
                <a:solidFill>
                  <a:srgbClr val="000000"/>
                </a:solidFill>
                <a:ea typeface="宋体" charset="-122"/>
              </a:rPr>
              <a:t>   29     34     17</a:t>
            </a:r>
          </a:p>
          <a:p>
            <a:pPr>
              <a:defRPr/>
            </a:pPr>
            <a:r>
              <a:rPr lang="en-US" altLang="zh-CN" sz="2400" dirty="0">
                <a:solidFill>
                  <a:srgbClr val="000000"/>
                </a:solidFill>
                <a:ea typeface="宋体" charset="-122"/>
              </a:rPr>
              <a:t>45     68     89     90  |  </a:t>
            </a:r>
            <a:r>
              <a:rPr lang="en-US" altLang="zh-CN" sz="2400" dirty="0">
                <a:solidFill>
                  <a:srgbClr val="FF0000"/>
                </a:solidFill>
                <a:ea typeface="宋体" charset="-122"/>
              </a:rPr>
              <a:t>29 </a:t>
            </a:r>
            <a:r>
              <a:rPr lang="en-US" altLang="zh-CN" sz="2400" dirty="0">
                <a:solidFill>
                  <a:srgbClr val="000000"/>
                </a:solidFill>
                <a:ea typeface="宋体" charset="-122"/>
              </a:rPr>
              <a:t>    34     17</a:t>
            </a:r>
          </a:p>
          <a:p>
            <a:pPr>
              <a:defRPr/>
            </a:pPr>
            <a:r>
              <a:rPr lang="en-US" altLang="zh-CN" sz="2400" dirty="0">
                <a:solidFill>
                  <a:srgbClr val="000000"/>
                </a:solidFill>
                <a:ea typeface="宋体" charset="-122"/>
              </a:rPr>
              <a:t>45     68     89     </a:t>
            </a:r>
            <a:r>
              <a:rPr lang="en-US" altLang="zh-CN" sz="2400" strike="dblStrike" dirty="0">
                <a:solidFill>
                  <a:srgbClr val="000000"/>
                </a:solidFill>
                <a:ea typeface="宋体" charset="-122"/>
              </a:rPr>
              <a:t>90 </a:t>
            </a:r>
            <a:r>
              <a:rPr lang="en-US" altLang="zh-CN" sz="2400" dirty="0">
                <a:solidFill>
                  <a:srgbClr val="000000"/>
                </a:solidFill>
                <a:ea typeface="宋体" charset="-122"/>
              </a:rPr>
              <a:t>    90     34     17</a:t>
            </a:r>
          </a:p>
          <a:p>
            <a:pPr>
              <a:defRPr/>
            </a:pPr>
            <a:r>
              <a:rPr lang="en-US" altLang="zh-CN" sz="2400" dirty="0">
                <a:solidFill>
                  <a:srgbClr val="000000"/>
                </a:solidFill>
                <a:ea typeface="宋体" charset="-122"/>
              </a:rPr>
              <a:t>45     68     </a:t>
            </a:r>
            <a:r>
              <a:rPr lang="en-US" altLang="zh-CN" sz="2400" strike="dblStrike" dirty="0">
                <a:solidFill>
                  <a:srgbClr val="000000"/>
                </a:solidFill>
                <a:ea typeface="宋体" charset="-122"/>
              </a:rPr>
              <a:t>89</a:t>
            </a:r>
            <a:r>
              <a:rPr lang="en-US" altLang="zh-CN" sz="2400" dirty="0">
                <a:solidFill>
                  <a:srgbClr val="000000"/>
                </a:solidFill>
                <a:ea typeface="宋体" charset="-122"/>
              </a:rPr>
              <a:t>     89     90     34     17</a:t>
            </a:r>
          </a:p>
          <a:p>
            <a:pPr>
              <a:defRPr/>
            </a:pPr>
            <a:r>
              <a:rPr lang="en-US" altLang="zh-CN" sz="2400" dirty="0">
                <a:solidFill>
                  <a:srgbClr val="000000"/>
                </a:solidFill>
                <a:ea typeface="宋体" charset="-122"/>
              </a:rPr>
              <a:t>45     </a:t>
            </a:r>
            <a:r>
              <a:rPr lang="en-US" altLang="zh-CN" sz="2400" strike="dblStrike" dirty="0">
                <a:solidFill>
                  <a:srgbClr val="000000"/>
                </a:solidFill>
                <a:ea typeface="宋体" charset="-122"/>
              </a:rPr>
              <a:t>68</a:t>
            </a:r>
            <a:r>
              <a:rPr lang="en-US" altLang="zh-CN" sz="2400" strike="sngStrike" dirty="0">
                <a:solidFill>
                  <a:srgbClr val="000000"/>
                </a:solidFill>
                <a:ea typeface="宋体" charset="-122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ea typeface="宋体" charset="-122"/>
              </a:rPr>
              <a:t>    68     89     90     34     17</a:t>
            </a:r>
          </a:p>
          <a:p>
            <a:pPr>
              <a:defRPr/>
            </a:pPr>
            <a:r>
              <a:rPr lang="en-US" altLang="zh-CN" sz="2400" strike="dblStrike" dirty="0">
                <a:solidFill>
                  <a:srgbClr val="000000"/>
                </a:solidFill>
                <a:ea typeface="宋体" charset="-122"/>
              </a:rPr>
              <a:t>45 </a:t>
            </a:r>
            <a:r>
              <a:rPr lang="en-US" altLang="zh-CN" sz="2400" dirty="0">
                <a:solidFill>
                  <a:srgbClr val="000000"/>
                </a:solidFill>
                <a:ea typeface="宋体" charset="-122"/>
              </a:rPr>
              <a:t>    45     68     89     90     34     17</a:t>
            </a:r>
          </a:p>
          <a:p>
            <a:pPr>
              <a:defRPr/>
            </a:pPr>
            <a:r>
              <a:rPr lang="en-US" altLang="zh-CN" sz="2400" dirty="0">
                <a:solidFill>
                  <a:srgbClr val="000000"/>
                </a:solidFill>
                <a:ea typeface="宋体" charset="-122"/>
              </a:rPr>
              <a:t>29     45     68     89     90  |  </a:t>
            </a:r>
            <a:r>
              <a:rPr lang="en-US" altLang="zh-CN" sz="2400" dirty="0">
                <a:solidFill>
                  <a:srgbClr val="FF0000"/>
                </a:solidFill>
                <a:ea typeface="宋体" charset="-122"/>
              </a:rPr>
              <a:t>34 </a:t>
            </a:r>
            <a:r>
              <a:rPr lang="en-US" altLang="zh-CN" sz="2400" dirty="0">
                <a:solidFill>
                  <a:srgbClr val="000000"/>
                </a:solidFill>
                <a:ea typeface="宋体" charset="-122"/>
              </a:rPr>
              <a:t>    17</a:t>
            </a:r>
          </a:p>
          <a:p>
            <a:pPr>
              <a:defRPr/>
            </a:pPr>
            <a:r>
              <a:rPr lang="en-US" altLang="zh-CN" sz="2400" dirty="0">
                <a:solidFill>
                  <a:srgbClr val="000000"/>
                </a:solidFill>
                <a:ea typeface="宋体" charset="-122"/>
              </a:rPr>
              <a:t>29     34     45     68     89     90  |  </a:t>
            </a:r>
            <a:r>
              <a:rPr lang="en-US" altLang="zh-CN" sz="2400" dirty="0">
                <a:solidFill>
                  <a:srgbClr val="FF0000"/>
                </a:solidFill>
                <a:ea typeface="宋体" charset="-122"/>
              </a:rPr>
              <a:t>17</a:t>
            </a:r>
          </a:p>
          <a:p>
            <a:pPr>
              <a:defRPr/>
            </a:pPr>
            <a:r>
              <a:rPr lang="en-US" altLang="zh-CN" sz="2400" dirty="0">
                <a:solidFill>
                  <a:srgbClr val="000000"/>
                </a:solidFill>
                <a:ea typeface="宋体" charset="-122"/>
              </a:rPr>
              <a:t>17     29     34     45     68     89     90</a:t>
            </a:r>
            <a:endParaRPr lang="zh-CN" altLang="en-US" sz="2400" dirty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66565" name="圆角矩形 4"/>
          <p:cNvSpPr>
            <a:spLocks noChangeArrowheads="1"/>
          </p:cNvSpPr>
          <p:nvPr/>
        </p:nvSpPr>
        <p:spPr bwMode="auto">
          <a:xfrm>
            <a:off x="804863" y="2532063"/>
            <a:ext cx="5381625" cy="1793875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0000CC"/>
            </a:solidFill>
            <a:round/>
            <a:headEnd/>
            <a:tailEnd/>
          </a:ln>
        </p:spPr>
        <p:txBody>
          <a:bodyPr lIns="0" tIns="0" rIns="182880" bIns="0"/>
          <a:lstStyle/>
          <a:p>
            <a:pPr>
              <a:spcBef>
                <a:spcPct val="50000"/>
              </a:spcBef>
            </a:pPr>
            <a:endParaRPr lang="zh-CN" altLang="en-US" sz="2400"/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插入排序示例</a:t>
            </a:r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67587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E15D81B-AFF6-46FA-82B8-5EF574FCD9D1}" type="slidenum">
              <a:rPr lang="en-US" altLang="en-US" smtClean="0">
                <a:ea typeface="宋体" pitchFamily="2" charset="-122"/>
              </a:rPr>
              <a:pPr/>
              <a:t>44</a:t>
            </a:fld>
            <a:endParaRPr lang="en-US" altLang="en-US">
              <a:ea typeface="宋体" pitchFamily="2" charset="-122"/>
            </a:endParaRPr>
          </a:p>
        </p:txBody>
      </p:sp>
      <p:pic>
        <p:nvPicPr>
          <p:cNvPr id="67588" name="Picture 3" descr="80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382713" y="1957388"/>
            <a:ext cx="6438900" cy="3705225"/>
          </a:xfrm>
          <a:noFill/>
        </p:spPr>
      </p:pic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插入排序示例</a:t>
            </a:r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68611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BAB0983-313D-4D72-9F42-FCBED45148F2}" type="slidenum">
              <a:rPr lang="en-US" altLang="en-US" smtClean="0">
                <a:ea typeface="宋体" pitchFamily="2" charset="-122"/>
              </a:rPr>
              <a:pPr/>
              <a:t>45</a:t>
            </a:fld>
            <a:endParaRPr lang="en-US" altLang="en-US">
              <a:ea typeface="宋体" pitchFamily="2" charset="-122"/>
            </a:endParaRPr>
          </a:p>
        </p:txBody>
      </p:sp>
      <p:pic>
        <p:nvPicPr>
          <p:cNvPr id="68612" name="Picture 6" descr="81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917575" y="1635125"/>
            <a:ext cx="7369175" cy="3509963"/>
          </a:xfrm>
          <a:noFill/>
        </p:spPr>
      </p:pic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插入排序：代码和分析</a:t>
            </a:r>
          </a:p>
        </p:txBody>
      </p:sp>
      <p:sp>
        <p:nvSpPr>
          <p:cNvPr id="69635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22ED573B-C9AE-4F98-86A3-75F76E390627}" type="slidenum">
              <a:rPr lang="en-US" altLang="en-US" smtClean="0">
                <a:ea typeface="宋体" pitchFamily="2" charset="-122"/>
              </a:rPr>
              <a:pPr/>
              <a:t>46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46088" y="1371600"/>
            <a:ext cx="5003800" cy="3133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182880" bIns="0"/>
          <a:lstStyle/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template&lt;class T&gt;</a:t>
            </a:r>
          </a:p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void Insert(T a[],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n, const T&amp; x)</a:t>
            </a:r>
          </a:p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{</a:t>
            </a:r>
          </a:p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;</a:t>
            </a:r>
          </a:p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for (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= n-1;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&gt;= 0 &amp;&amp; x &lt; a[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];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--)</a:t>
            </a:r>
          </a:p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   a[i+1] = a[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];</a:t>
            </a:r>
          </a:p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a[i+1] = x;</a:t>
            </a:r>
          </a:p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}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46088" y="3967163"/>
            <a:ext cx="5381625" cy="271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182880" bIns="0"/>
          <a:lstStyle/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template&lt;class T&gt;</a:t>
            </a:r>
          </a:p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void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InsertionSort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(T a[],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n)</a:t>
            </a:r>
          </a:p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{</a:t>
            </a:r>
          </a:p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for (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= 1;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&lt; n;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++) {</a:t>
            </a:r>
          </a:p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   T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t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= a[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];</a:t>
            </a:r>
          </a:p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   Insert(a,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, t);</a:t>
            </a:r>
          </a:p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   }</a:t>
            </a:r>
          </a:p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}</a:t>
            </a:r>
            <a:endParaRPr lang="en-US" altLang="zh-CN" sz="2800" b="1" kern="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9638" name="Text Box 4"/>
          <p:cNvSpPr txBox="1">
            <a:spLocks noChangeArrowheads="1"/>
          </p:cNvSpPr>
          <p:nvPr/>
        </p:nvSpPr>
        <p:spPr bwMode="ltGray">
          <a:xfrm>
            <a:off x="4572000" y="3967163"/>
            <a:ext cx="3756025" cy="1754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en-US" altLang="zh-CN" sz="2000">
                <a:solidFill>
                  <a:srgbClr val="FF0000"/>
                </a:solidFill>
              </a:rPr>
              <a:t>1</a:t>
            </a:r>
            <a:r>
              <a:rPr lang="zh-CN" altLang="en-US" sz="2000">
                <a:solidFill>
                  <a:srgbClr val="FF0000"/>
                </a:solidFill>
              </a:rPr>
              <a:t>个元素：自然有序</a:t>
            </a:r>
          </a:p>
          <a:p>
            <a:pPr>
              <a:spcBef>
                <a:spcPct val="10000"/>
              </a:spcBef>
            </a:pPr>
            <a:r>
              <a:rPr lang="en-US" altLang="zh-CN" sz="2000">
                <a:solidFill>
                  <a:srgbClr val="FF0000"/>
                </a:solidFill>
              </a:rPr>
              <a:t>Insert(a, 1, t)</a:t>
            </a:r>
            <a:r>
              <a:rPr lang="zh-CN" altLang="en-US" sz="2000">
                <a:solidFill>
                  <a:srgbClr val="FF0000"/>
                </a:solidFill>
              </a:rPr>
              <a:t>：</a:t>
            </a:r>
            <a:r>
              <a:rPr lang="en-US" altLang="zh-CN" sz="2000">
                <a:solidFill>
                  <a:srgbClr val="FF0000"/>
                </a:solidFill>
              </a:rPr>
              <a:t>2</a:t>
            </a:r>
            <a:r>
              <a:rPr lang="zh-CN" altLang="en-US" sz="2000">
                <a:solidFill>
                  <a:srgbClr val="FF0000"/>
                </a:solidFill>
              </a:rPr>
              <a:t>个有序</a:t>
            </a:r>
          </a:p>
          <a:p>
            <a:pPr>
              <a:spcBef>
                <a:spcPct val="10000"/>
              </a:spcBef>
            </a:pPr>
            <a:r>
              <a:rPr lang="en-US" altLang="zh-CN" sz="2000">
                <a:solidFill>
                  <a:srgbClr val="FF0000"/>
                </a:solidFill>
              </a:rPr>
              <a:t>Insert(a, 2, t)</a:t>
            </a:r>
            <a:r>
              <a:rPr lang="zh-CN" altLang="en-US" sz="2000">
                <a:solidFill>
                  <a:srgbClr val="FF0000"/>
                </a:solidFill>
              </a:rPr>
              <a:t>：</a:t>
            </a:r>
            <a:r>
              <a:rPr lang="en-US" altLang="zh-CN" sz="2000">
                <a:solidFill>
                  <a:srgbClr val="FF0000"/>
                </a:solidFill>
              </a:rPr>
              <a:t>3</a:t>
            </a:r>
            <a:r>
              <a:rPr lang="zh-CN" altLang="en-US" sz="2000">
                <a:solidFill>
                  <a:srgbClr val="FF0000"/>
                </a:solidFill>
              </a:rPr>
              <a:t>个有序</a:t>
            </a:r>
          </a:p>
          <a:p>
            <a:pPr>
              <a:spcBef>
                <a:spcPct val="10000"/>
              </a:spcBef>
            </a:pPr>
            <a:r>
              <a:rPr lang="en-US" altLang="zh-CN" sz="2000">
                <a:solidFill>
                  <a:srgbClr val="FF0000"/>
                </a:solidFill>
              </a:rPr>
              <a:t>…</a:t>
            </a:r>
          </a:p>
          <a:p>
            <a:pPr>
              <a:spcBef>
                <a:spcPct val="10000"/>
              </a:spcBef>
            </a:pPr>
            <a:r>
              <a:rPr lang="en-US" altLang="zh-CN" sz="2000">
                <a:solidFill>
                  <a:srgbClr val="FF0000"/>
                </a:solidFill>
              </a:rPr>
              <a:t>Insert(a, n-1, t)</a:t>
            </a:r>
            <a:r>
              <a:rPr lang="zh-CN" altLang="en-US" sz="2000">
                <a:solidFill>
                  <a:srgbClr val="FF0000"/>
                </a:solidFill>
              </a:rPr>
              <a:t>：数组完全排序</a:t>
            </a:r>
          </a:p>
        </p:txBody>
      </p:sp>
      <p:sp>
        <p:nvSpPr>
          <p:cNvPr id="69639" name="Text Box 4"/>
          <p:cNvSpPr txBox="1">
            <a:spLocks noChangeArrowheads="1"/>
          </p:cNvSpPr>
          <p:nvPr/>
        </p:nvSpPr>
        <p:spPr bwMode="ltGray">
          <a:xfrm>
            <a:off x="5289550" y="1455738"/>
            <a:ext cx="3505200" cy="2370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rgbClr val="FF3300"/>
              </a:buClr>
              <a:buSzPct val="75000"/>
              <a:buFont typeface="Wingdings" pitchFamily="2" charset="2"/>
              <a:buNone/>
            </a:pPr>
            <a:r>
              <a:rPr lang="zh-CN" altLang="en-US" sz="2000">
                <a:solidFill>
                  <a:srgbClr val="FF0000"/>
                </a:solidFill>
                <a:latin typeface="Times New Roman" pitchFamily="18" charset="0"/>
              </a:rPr>
              <a:t>插入数组末尾，</a:t>
            </a:r>
            <a:r>
              <a:rPr lang="en-US" altLang="zh-CN" sz="2000">
                <a:solidFill>
                  <a:srgbClr val="FF0000"/>
                </a:solidFill>
                <a:latin typeface="Times New Roman" pitchFamily="18" charset="0"/>
              </a:rPr>
              <a:t>1</a:t>
            </a:r>
            <a:r>
              <a:rPr lang="zh-CN" altLang="en-US" sz="2000">
                <a:solidFill>
                  <a:srgbClr val="FF0000"/>
                </a:solidFill>
                <a:latin typeface="Times New Roman" pitchFamily="18" charset="0"/>
              </a:rPr>
              <a:t>次比较，最好情况</a:t>
            </a:r>
          </a:p>
          <a:p>
            <a:pPr>
              <a:spcBef>
                <a:spcPct val="20000"/>
              </a:spcBef>
              <a:buClr>
                <a:srgbClr val="FF3300"/>
              </a:buClr>
              <a:buSzPct val="75000"/>
              <a:buFont typeface="Wingdings" pitchFamily="2" charset="2"/>
              <a:buNone/>
            </a:pPr>
            <a:r>
              <a:rPr lang="zh-CN" altLang="en-US" sz="2000">
                <a:solidFill>
                  <a:srgbClr val="FF0000"/>
                </a:solidFill>
                <a:latin typeface="Times New Roman" pitchFamily="18" charset="0"/>
              </a:rPr>
              <a:t>插入第一个元素之前或之后，</a:t>
            </a:r>
            <a:r>
              <a:rPr lang="en-US" altLang="zh-CN" sz="2000">
                <a:solidFill>
                  <a:srgbClr val="FF0000"/>
                </a:solidFill>
                <a:latin typeface="Times New Roman" pitchFamily="18" charset="0"/>
              </a:rPr>
              <a:t>n</a:t>
            </a:r>
            <a:r>
              <a:rPr lang="zh-CN" altLang="en-US" sz="2000">
                <a:solidFill>
                  <a:srgbClr val="FF0000"/>
                </a:solidFill>
                <a:latin typeface="Times New Roman" pitchFamily="18" charset="0"/>
              </a:rPr>
              <a:t>次比较，最坏情况</a:t>
            </a:r>
          </a:p>
          <a:p>
            <a:pPr>
              <a:spcBef>
                <a:spcPct val="20000"/>
              </a:spcBef>
              <a:buClr>
                <a:srgbClr val="FF3300"/>
              </a:buClr>
              <a:buSzPct val="75000"/>
              <a:buFont typeface="Wingdings" pitchFamily="2" charset="2"/>
              <a:buNone/>
            </a:pPr>
            <a:r>
              <a:rPr lang="zh-CN" altLang="en-US" sz="2000">
                <a:solidFill>
                  <a:srgbClr val="FF0000"/>
                </a:solidFill>
                <a:latin typeface="Times New Roman" pitchFamily="18" charset="0"/>
              </a:rPr>
              <a:t>平均比较次数</a:t>
            </a:r>
            <a:br>
              <a:rPr lang="zh-CN" altLang="en-US" sz="2000">
                <a:solidFill>
                  <a:srgbClr val="FF0000"/>
                </a:solidFill>
                <a:latin typeface="Times New Roman" pitchFamily="18" charset="0"/>
              </a:rPr>
            </a:br>
            <a:r>
              <a:rPr lang="en-US" altLang="zh-CN" sz="2000">
                <a:solidFill>
                  <a:srgbClr val="FF0000"/>
                </a:solidFill>
                <a:latin typeface="Times New Roman" pitchFamily="18" charset="0"/>
              </a:rPr>
              <a:t>(1+2+…+n+n)/(n+1) = n/2 + n/(n+1)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3369963" y="5581656"/>
            <a:ext cx="4360488" cy="1015663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zh-CN" altLang="en-US" sz="3000" b="1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结论：比较次数约为</a:t>
            </a:r>
            <a:r>
              <a:rPr lang="en-US" altLang="zh-CN" sz="3000" b="1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n</a:t>
            </a:r>
            <a:r>
              <a:rPr lang="en-US" altLang="zh-CN" sz="3000" b="1" i="1" baseline="3000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2</a:t>
            </a:r>
            <a:r>
              <a:rPr lang="en-US" altLang="zh-CN" sz="3000" b="1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/4</a:t>
            </a:r>
          </a:p>
          <a:p>
            <a:pPr algn="ctr">
              <a:defRPr/>
            </a:pPr>
            <a:r>
              <a:rPr lang="zh-CN" altLang="en-US" sz="3000" b="1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优于选择排序</a:t>
            </a:r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补充：稳定（</a:t>
            </a:r>
            <a:r>
              <a:rPr lang="en-US" altLang="zh-CN">
                <a:solidFill>
                  <a:schemeClr val="hlink"/>
                </a:solidFill>
              </a:rPr>
              <a:t>stable</a:t>
            </a:r>
            <a:r>
              <a:rPr lang="zh-CN" altLang="en-US"/>
              <a:t>）排序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序列</a:t>
            </a:r>
            <a:r>
              <a:rPr lang="en-US" altLang="zh-CN"/>
              <a:t>a</a:t>
            </a:r>
            <a:r>
              <a:rPr lang="en-US" altLang="zh-CN" baseline="-25000"/>
              <a:t>1</a:t>
            </a:r>
            <a:r>
              <a:rPr lang="zh-CN" altLang="en-US"/>
              <a:t>、</a:t>
            </a:r>
            <a:r>
              <a:rPr lang="en-US" altLang="zh-CN"/>
              <a:t>a</a:t>
            </a:r>
            <a:r>
              <a:rPr lang="en-US" altLang="zh-CN" baseline="-25000"/>
              <a:t>2</a:t>
            </a:r>
            <a:r>
              <a:rPr lang="zh-CN" altLang="en-US"/>
              <a:t>、</a:t>
            </a:r>
            <a:r>
              <a:rPr lang="en-US" altLang="zh-CN"/>
              <a:t>…</a:t>
            </a:r>
            <a:r>
              <a:rPr lang="zh-CN" altLang="en-US"/>
              <a:t>、</a:t>
            </a:r>
            <a:r>
              <a:rPr lang="en-US" altLang="zh-CN"/>
              <a:t>a</a:t>
            </a:r>
            <a:r>
              <a:rPr lang="en-US" altLang="zh-CN" baseline="-25000"/>
              <a:t>n</a:t>
            </a:r>
            <a:r>
              <a:rPr lang="zh-CN" altLang="en-US"/>
              <a:t>进行排序</a:t>
            </a:r>
          </a:p>
          <a:p>
            <a:pPr eaLnBrk="1" hangingPunct="1"/>
            <a:r>
              <a:rPr lang="zh-CN" altLang="en-US"/>
              <a:t>对任意的</a:t>
            </a:r>
            <a:r>
              <a:rPr lang="en-US" altLang="zh-CN"/>
              <a:t>i&lt;j</a:t>
            </a:r>
            <a:r>
              <a:rPr lang="zh-CN" altLang="en-US"/>
              <a:t>，</a:t>
            </a:r>
            <a:r>
              <a:rPr lang="en-US" altLang="zh-CN"/>
              <a:t>a</a:t>
            </a:r>
            <a:r>
              <a:rPr lang="en-US" altLang="zh-CN" baseline="-25000"/>
              <a:t>i</a:t>
            </a:r>
            <a:r>
              <a:rPr lang="en-US" altLang="zh-CN"/>
              <a:t>=a</a:t>
            </a:r>
            <a:r>
              <a:rPr lang="en-US" altLang="zh-CN" baseline="-25000"/>
              <a:t>j</a:t>
            </a:r>
            <a:r>
              <a:rPr lang="zh-CN" altLang="en-US"/>
              <a:t>，</a:t>
            </a:r>
            <a:br>
              <a:rPr lang="zh-CN" altLang="en-US"/>
            </a:br>
            <a:r>
              <a:rPr lang="zh-CN" altLang="en-US"/>
              <a:t>若排序后</a:t>
            </a:r>
            <a:r>
              <a:rPr lang="en-US" altLang="zh-CN"/>
              <a:t>a</a:t>
            </a:r>
            <a:r>
              <a:rPr lang="en-US" altLang="zh-CN" baseline="-25000"/>
              <a:t>i</a:t>
            </a:r>
            <a:r>
              <a:rPr lang="zh-CN" altLang="en-US"/>
              <a:t>、</a:t>
            </a:r>
            <a:r>
              <a:rPr lang="en-US" altLang="zh-CN"/>
              <a:t>a</a:t>
            </a:r>
            <a:r>
              <a:rPr lang="en-US" altLang="zh-CN" baseline="-25000"/>
              <a:t>j</a:t>
            </a:r>
            <a:r>
              <a:rPr lang="zh-CN" altLang="en-US"/>
              <a:t>的位置</a:t>
            </a:r>
            <a:r>
              <a:rPr lang="en-US" altLang="zh-CN"/>
              <a:t>i’</a:t>
            </a:r>
            <a:r>
              <a:rPr lang="zh-CN" altLang="en-US"/>
              <a:t>、</a:t>
            </a:r>
            <a:r>
              <a:rPr lang="en-US" altLang="zh-CN"/>
              <a:t>j’</a:t>
            </a:r>
            <a:r>
              <a:rPr lang="zh-CN" altLang="en-US"/>
              <a:t>一定满足</a:t>
            </a:r>
            <a:r>
              <a:rPr lang="en-US" altLang="zh-CN"/>
              <a:t>i’&lt;j’</a:t>
            </a:r>
            <a:r>
              <a:rPr lang="zh-CN" altLang="en-US"/>
              <a:t>，则称该排序算法为稳定的</a:t>
            </a:r>
          </a:p>
          <a:p>
            <a:pPr eaLnBrk="1" hangingPunct="1"/>
            <a:r>
              <a:rPr lang="zh-CN" altLang="en-US"/>
              <a:t>否则，为不稳定的</a:t>
            </a:r>
          </a:p>
        </p:txBody>
      </p:sp>
      <p:sp>
        <p:nvSpPr>
          <p:cNvPr id="70660" name="Text Box 4"/>
          <p:cNvSpPr txBox="1">
            <a:spLocks noChangeArrowheads="1"/>
          </p:cNvSpPr>
          <p:nvPr/>
        </p:nvSpPr>
        <p:spPr bwMode="ltGray">
          <a:xfrm>
            <a:off x="1619250" y="4114800"/>
            <a:ext cx="5848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en-US" altLang="zh-CN">
                <a:solidFill>
                  <a:schemeClr val="hlink"/>
                </a:solidFill>
              </a:rPr>
              <a:t>………… 26 ……….. </a:t>
            </a:r>
            <a:r>
              <a:rPr lang="en-US" altLang="zh-CN">
                <a:solidFill>
                  <a:srgbClr val="996633"/>
                </a:solidFill>
              </a:rPr>
              <a:t>26</a:t>
            </a:r>
            <a:r>
              <a:rPr lang="en-US" altLang="zh-CN">
                <a:solidFill>
                  <a:schemeClr val="hlink"/>
                </a:solidFill>
              </a:rPr>
              <a:t> ………… </a:t>
            </a:r>
            <a:r>
              <a:rPr lang="en-US" altLang="zh-CN">
                <a:solidFill>
                  <a:srgbClr val="0000FF"/>
                </a:solidFill>
              </a:rPr>
              <a:t>26</a:t>
            </a:r>
            <a:r>
              <a:rPr lang="en-US" altLang="zh-CN">
                <a:solidFill>
                  <a:schemeClr val="hlink"/>
                </a:solidFill>
              </a:rPr>
              <a:t>………</a:t>
            </a:r>
          </a:p>
        </p:txBody>
      </p:sp>
      <p:sp>
        <p:nvSpPr>
          <p:cNvPr id="70661" name="Text Box 6"/>
          <p:cNvSpPr txBox="1">
            <a:spLocks noChangeArrowheads="1"/>
          </p:cNvSpPr>
          <p:nvPr/>
        </p:nvSpPr>
        <p:spPr bwMode="ltGray">
          <a:xfrm>
            <a:off x="1692275" y="4632325"/>
            <a:ext cx="57753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en-US" altLang="zh-CN">
                <a:solidFill>
                  <a:schemeClr val="hlink"/>
                </a:solidFill>
              </a:rPr>
              <a:t>……………… 26 </a:t>
            </a:r>
            <a:r>
              <a:rPr lang="en-US" altLang="zh-CN">
                <a:solidFill>
                  <a:srgbClr val="996633"/>
                </a:solidFill>
              </a:rPr>
              <a:t>26</a:t>
            </a:r>
            <a:r>
              <a:rPr lang="en-US" altLang="zh-CN">
                <a:solidFill>
                  <a:schemeClr val="hlink"/>
                </a:solidFill>
              </a:rPr>
              <a:t> </a:t>
            </a:r>
            <a:r>
              <a:rPr lang="en-US" altLang="zh-CN">
                <a:solidFill>
                  <a:srgbClr val="0000FF"/>
                </a:solidFill>
              </a:rPr>
              <a:t>26</a:t>
            </a:r>
            <a:r>
              <a:rPr lang="en-US" altLang="zh-CN">
                <a:solidFill>
                  <a:schemeClr val="hlink"/>
                </a:solidFill>
              </a:rPr>
              <a:t> ……………………….</a:t>
            </a:r>
          </a:p>
        </p:txBody>
      </p:sp>
      <p:sp>
        <p:nvSpPr>
          <p:cNvPr id="70662" name="Rectangle 7"/>
          <p:cNvSpPr>
            <a:spLocks noChangeArrowheads="1"/>
          </p:cNvSpPr>
          <p:nvPr/>
        </p:nvSpPr>
        <p:spPr bwMode="ltGray">
          <a:xfrm>
            <a:off x="395288" y="4941888"/>
            <a:ext cx="877887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稳定的</a:t>
            </a:r>
          </a:p>
        </p:txBody>
      </p:sp>
      <p:sp>
        <p:nvSpPr>
          <p:cNvPr id="70663" name="Line 8"/>
          <p:cNvSpPr>
            <a:spLocks noChangeShapeType="1"/>
          </p:cNvSpPr>
          <p:nvPr/>
        </p:nvSpPr>
        <p:spPr bwMode="ltGray">
          <a:xfrm flipV="1">
            <a:off x="1403350" y="5013325"/>
            <a:ext cx="865188" cy="22383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64" name="Text Box 9"/>
          <p:cNvSpPr txBox="1">
            <a:spLocks noChangeArrowheads="1"/>
          </p:cNvSpPr>
          <p:nvPr/>
        </p:nvSpPr>
        <p:spPr bwMode="ltGray">
          <a:xfrm>
            <a:off x="1692275" y="5276850"/>
            <a:ext cx="57753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en-US" altLang="zh-CN">
                <a:solidFill>
                  <a:schemeClr val="hlink"/>
                </a:solidFill>
              </a:rPr>
              <a:t>……………… 26 </a:t>
            </a:r>
            <a:r>
              <a:rPr lang="en-US" altLang="zh-CN">
                <a:solidFill>
                  <a:srgbClr val="0000FF"/>
                </a:solidFill>
              </a:rPr>
              <a:t>26</a:t>
            </a:r>
            <a:r>
              <a:rPr lang="en-US" altLang="zh-CN"/>
              <a:t> </a:t>
            </a:r>
            <a:r>
              <a:rPr lang="en-US" altLang="zh-CN">
                <a:solidFill>
                  <a:srgbClr val="996633"/>
                </a:solidFill>
              </a:rPr>
              <a:t>26</a:t>
            </a:r>
            <a:r>
              <a:rPr lang="en-US" altLang="zh-CN">
                <a:solidFill>
                  <a:schemeClr val="hlink"/>
                </a:solidFill>
              </a:rPr>
              <a:t> ……………………….</a:t>
            </a:r>
          </a:p>
        </p:txBody>
      </p:sp>
      <p:sp>
        <p:nvSpPr>
          <p:cNvPr id="70665" name="Rectangle 10"/>
          <p:cNvSpPr>
            <a:spLocks noChangeArrowheads="1"/>
          </p:cNvSpPr>
          <p:nvPr/>
        </p:nvSpPr>
        <p:spPr bwMode="ltGray">
          <a:xfrm>
            <a:off x="107950" y="5805488"/>
            <a:ext cx="16573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不稳定的</a:t>
            </a:r>
          </a:p>
        </p:txBody>
      </p:sp>
      <p:sp>
        <p:nvSpPr>
          <p:cNvPr id="70666" name="Line 11"/>
          <p:cNvSpPr>
            <a:spLocks noChangeShapeType="1"/>
          </p:cNvSpPr>
          <p:nvPr/>
        </p:nvSpPr>
        <p:spPr bwMode="ltGray">
          <a:xfrm flipV="1">
            <a:off x="1547813" y="5661025"/>
            <a:ext cx="863600" cy="43973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H1</a:t>
            </a:r>
            <a:r>
              <a:rPr lang="zh-CN" altLang="en-US"/>
              <a:t>小结</a:t>
            </a:r>
          </a:p>
        </p:txBody>
      </p:sp>
      <p:sp>
        <p:nvSpPr>
          <p:cNvPr id="7168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四种排序算法思想</a:t>
            </a:r>
            <a:endParaRPr lang="en-US" altLang="zh-CN"/>
          </a:p>
          <a:p>
            <a:pPr lvl="1"/>
            <a:r>
              <a:rPr lang="zh-CN" altLang="en-US"/>
              <a:t>计数排序</a:t>
            </a:r>
            <a:endParaRPr lang="en-US" altLang="zh-CN"/>
          </a:p>
          <a:p>
            <a:pPr lvl="1"/>
            <a:r>
              <a:rPr lang="zh-CN" altLang="en-US"/>
              <a:t>选择排序</a:t>
            </a:r>
            <a:endParaRPr lang="en-US" altLang="zh-CN"/>
          </a:p>
          <a:p>
            <a:pPr lvl="1"/>
            <a:r>
              <a:rPr lang="zh-CN" altLang="en-US"/>
              <a:t>冒泡排序</a:t>
            </a:r>
            <a:endParaRPr lang="en-US" altLang="zh-CN"/>
          </a:p>
          <a:p>
            <a:pPr lvl="1"/>
            <a:r>
              <a:rPr lang="zh-CN" altLang="en-US"/>
              <a:t>插入排序</a:t>
            </a:r>
            <a:endParaRPr lang="en-US" altLang="zh-CN"/>
          </a:p>
          <a:p>
            <a:r>
              <a:rPr lang="zh-CN" altLang="en-US"/>
              <a:t>以比较作为基本操作，如何评价算法优劣？</a:t>
            </a:r>
            <a:endParaRPr lang="en-US" altLang="zh-CN"/>
          </a:p>
          <a:p>
            <a:pPr lvl="1"/>
            <a:r>
              <a:rPr lang="zh-CN" altLang="en-US"/>
              <a:t>与问题规模有关</a:t>
            </a:r>
            <a:endParaRPr lang="en-US" altLang="zh-CN"/>
          </a:p>
          <a:p>
            <a:pPr lvl="1"/>
            <a:r>
              <a:rPr lang="zh-CN" altLang="en-US"/>
              <a:t>与具体输入有关（最优情况、</a:t>
            </a:r>
            <a:r>
              <a:rPr lang="zh-CN" altLang="en-US">
                <a:solidFill>
                  <a:srgbClr val="FF0000"/>
                </a:solidFill>
              </a:rPr>
              <a:t>最差情况</a:t>
            </a:r>
            <a:r>
              <a:rPr lang="zh-CN" altLang="en-US"/>
              <a:t>）</a:t>
            </a:r>
          </a:p>
        </p:txBody>
      </p:sp>
      <p:sp>
        <p:nvSpPr>
          <p:cNvPr id="7168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213EAD1-3A06-46CC-9065-731842374478}" type="slidenum">
              <a:rPr lang="en-US" altLang="en-US" smtClean="0">
                <a:ea typeface="宋体" pitchFamily="2" charset="-122"/>
              </a:rPr>
              <a:pPr/>
              <a:t>48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H1</a:t>
            </a:r>
            <a:r>
              <a:rPr lang="zh-CN" altLang="en-US"/>
              <a:t>小结（续）</a:t>
            </a:r>
          </a:p>
        </p:txBody>
      </p:sp>
      <p:sp>
        <p:nvSpPr>
          <p:cNvPr id="6150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CN" sz="2000"/>
              <a:t>for(int i=0;i&lt;n;i++)</a:t>
            </a:r>
          </a:p>
          <a:p>
            <a:pPr>
              <a:buFontTx/>
              <a:buNone/>
            </a:pPr>
            <a:endParaRPr lang="en-US" altLang="zh-CN" sz="2000"/>
          </a:p>
          <a:p>
            <a:pPr>
              <a:buFontTx/>
              <a:buNone/>
            </a:pPr>
            <a:r>
              <a:rPr lang="en-US" altLang="zh-CN" sz="2000"/>
              <a:t>for(int i=0;i&lt;n;i++)</a:t>
            </a:r>
          </a:p>
          <a:p>
            <a:pPr>
              <a:buFontTx/>
              <a:buNone/>
            </a:pPr>
            <a:r>
              <a:rPr lang="en-US" altLang="zh-CN" sz="2000"/>
              <a:t>   for(int j=0;j&lt;n;j++)</a:t>
            </a:r>
          </a:p>
          <a:p>
            <a:pPr>
              <a:buFontTx/>
              <a:buNone/>
            </a:pPr>
            <a:endParaRPr lang="en-US" altLang="zh-CN" sz="2000"/>
          </a:p>
          <a:p>
            <a:pPr>
              <a:buFontTx/>
              <a:buNone/>
            </a:pPr>
            <a:r>
              <a:rPr lang="en-US" altLang="zh-CN" sz="2000"/>
              <a:t>for(int i=0;i&lt;n;i++)</a:t>
            </a:r>
          </a:p>
          <a:p>
            <a:pPr>
              <a:buFontTx/>
              <a:buNone/>
            </a:pPr>
            <a:r>
              <a:rPr lang="en-US" altLang="zh-CN" sz="2000"/>
              <a:t>   for(int j=0;j&lt;i;j++)</a:t>
            </a:r>
          </a:p>
        </p:txBody>
      </p:sp>
      <p:sp>
        <p:nvSpPr>
          <p:cNvPr id="6151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27E80E9-A5A4-4357-9D20-6C689E6E6D54}" type="slidenum">
              <a:rPr lang="en-US" altLang="en-US" smtClean="0">
                <a:ea typeface="宋体" pitchFamily="2" charset="-122"/>
              </a:rPr>
              <a:pPr/>
              <a:t>49</a:t>
            </a:fld>
            <a:endParaRPr lang="en-US" altLang="en-US">
              <a:ea typeface="宋体" pitchFamily="2" charset="-122"/>
            </a:endParaRPr>
          </a:p>
        </p:txBody>
      </p:sp>
      <p:graphicFrame>
        <p:nvGraphicFramePr>
          <p:cNvPr id="6146" name="Object 2"/>
          <p:cNvGraphicFramePr>
            <a:graphicFrameLocks noChangeAspect="1"/>
          </p:cNvGraphicFramePr>
          <p:nvPr/>
        </p:nvGraphicFramePr>
        <p:xfrm>
          <a:off x="4392613" y="1635125"/>
          <a:ext cx="2343150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09400" imgH="431640" progId="Equation.3">
                  <p:embed/>
                </p:oleObj>
              </mc:Choice>
              <mc:Fallback>
                <p:oleObj name="Equation" r:id="rId2" imgW="1409400" imgH="4316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2613" y="1635125"/>
                        <a:ext cx="2343150" cy="717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" name="Object 3"/>
          <p:cNvGraphicFramePr>
            <a:graphicFrameLocks noChangeAspect="1"/>
          </p:cNvGraphicFramePr>
          <p:nvPr/>
        </p:nvGraphicFramePr>
        <p:xfrm>
          <a:off x="4392613" y="2890838"/>
          <a:ext cx="2332037" cy="88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68200" imgH="444240" progId="Equation.3">
                  <p:embed/>
                </p:oleObj>
              </mc:Choice>
              <mc:Fallback>
                <p:oleObj name="Equation" r:id="rId4" imgW="1168200" imgH="4442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2613" y="2890838"/>
                        <a:ext cx="2332037" cy="887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" name="Object 4"/>
          <p:cNvGraphicFramePr>
            <a:graphicFrameLocks noChangeAspect="1"/>
          </p:cNvGraphicFramePr>
          <p:nvPr/>
        </p:nvGraphicFramePr>
        <p:xfrm>
          <a:off x="3425825" y="4864100"/>
          <a:ext cx="5451475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30240" imgH="444240" progId="Equation.3">
                  <p:embed/>
                </p:oleObj>
              </mc:Choice>
              <mc:Fallback>
                <p:oleObj name="Equation" r:id="rId6" imgW="2730240" imgH="4442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5825" y="4864100"/>
                        <a:ext cx="5451475" cy="887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主要内容</a:t>
            </a:r>
          </a:p>
        </p:txBody>
      </p:sp>
      <p:sp>
        <p:nvSpPr>
          <p:cNvPr id="7270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空间复杂性</a:t>
            </a:r>
            <a:endParaRPr lang="en-US" altLang="zh-CN"/>
          </a:p>
          <a:p>
            <a:r>
              <a:rPr lang="zh-CN" altLang="en-US">
                <a:solidFill>
                  <a:srgbClr val="FF0000"/>
                </a:solidFill>
              </a:rPr>
              <a:t>时间复杂性</a:t>
            </a:r>
            <a:endParaRPr lang="en-US" altLang="zh-CN">
              <a:solidFill>
                <a:srgbClr val="FF0000"/>
              </a:solidFill>
            </a:endParaRPr>
          </a:p>
          <a:p>
            <a:pPr lvl="1"/>
            <a:r>
              <a:rPr lang="zh-CN" altLang="en-US"/>
              <a:t>指标（计数对象）</a:t>
            </a:r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渐进符号（</a:t>
            </a:r>
            <a:r>
              <a:rPr lang="en-US" altLang="zh-CN">
                <a:solidFill>
                  <a:srgbClr val="FF0000"/>
                </a:solidFill>
              </a:rPr>
              <a:t>Ο</a:t>
            </a:r>
            <a:r>
              <a:rPr lang="zh-CN" altLang="en-US">
                <a:solidFill>
                  <a:srgbClr val="FF0000"/>
                </a:solidFill>
              </a:rPr>
              <a:t>、</a:t>
            </a:r>
            <a:r>
              <a:rPr lang="en-US" altLang="zh-CN">
                <a:solidFill>
                  <a:srgbClr val="FF0000"/>
                </a:solidFill>
              </a:rPr>
              <a:t>Ω</a:t>
            </a:r>
            <a:r>
              <a:rPr lang="zh-CN" altLang="en-US">
                <a:solidFill>
                  <a:srgbClr val="FF0000"/>
                </a:solidFill>
              </a:rPr>
              <a:t>、</a:t>
            </a:r>
            <a:r>
              <a:rPr lang="en-US" altLang="zh-CN">
                <a:solidFill>
                  <a:srgbClr val="FF0000"/>
                </a:solidFill>
              </a:rPr>
              <a:t>Θ</a:t>
            </a:r>
            <a:r>
              <a:rPr lang="zh-CN" altLang="en-US">
                <a:solidFill>
                  <a:srgbClr val="FF0000"/>
                </a:solidFill>
              </a:rPr>
              <a:t>、</a:t>
            </a:r>
            <a:r>
              <a:rPr lang="en-US" altLang="zh-CN">
                <a:solidFill>
                  <a:srgbClr val="FF0000"/>
                </a:solidFill>
              </a:rPr>
              <a:t>ο</a:t>
            </a:r>
            <a:r>
              <a:rPr lang="zh-CN" altLang="en-US">
                <a:solidFill>
                  <a:srgbClr val="FF0000"/>
                </a:solidFill>
              </a:rPr>
              <a:t>）</a:t>
            </a:r>
            <a:endParaRPr lang="en-US" altLang="zh-CN">
              <a:solidFill>
                <a:srgbClr val="FF0000"/>
              </a:solidFill>
            </a:endParaRPr>
          </a:p>
          <a:p>
            <a:r>
              <a:rPr lang="zh-CN" altLang="en-US"/>
              <a:t>性能测量</a:t>
            </a:r>
          </a:p>
        </p:txBody>
      </p:sp>
      <p:sp>
        <p:nvSpPr>
          <p:cNvPr id="7270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DE0689D-2BF5-49D1-9A70-006110A0AE1D}" type="slidenum">
              <a:rPr lang="en-US" altLang="en-US" smtClean="0">
                <a:ea typeface="宋体" pitchFamily="2" charset="-122"/>
              </a:rPr>
              <a:pPr/>
              <a:t>50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问题提出</a:t>
            </a:r>
            <a:endParaRPr lang="en-US" altLang="zh-CN"/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371600"/>
            <a:ext cx="8040688" cy="5105400"/>
          </a:xfrm>
        </p:spPr>
        <p:txBody>
          <a:bodyPr/>
          <a:lstStyle/>
          <a:p>
            <a:pPr eaLnBrk="1" hangingPunct="1"/>
            <a:r>
              <a:rPr lang="zh-CN" altLang="en-US"/>
              <a:t>操作计数和执行步数的作用？</a:t>
            </a:r>
          </a:p>
          <a:p>
            <a:pPr lvl="1" eaLnBrk="1" hangingPunct="1"/>
            <a:r>
              <a:rPr lang="zh-CN" altLang="en-US"/>
              <a:t>比较两个功能相同的程序的时间复杂性</a:t>
            </a:r>
            <a:r>
              <a:rPr lang="en-US" altLang="zh-CN">
                <a:solidFill>
                  <a:srgbClr val="FF0000"/>
                </a:solidFill>
              </a:rPr>
              <a:t>【</a:t>
            </a:r>
            <a:r>
              <a:rPr lang="zh-CN" altLang="en-US">
                <a:solidFill>
                  <a:srgbClr val="FF0000"/>
                </a:solidFill>
              </a:rPr>
              <a:t>横向</a:t>
            </a:r>
            <a:r>
              <a:rPr lang="en-US" altLang="zh-CN">
                <a:solidFill>
                  <a:srgbClr val="FF0000"/>
                </a:solidFill>
              </a:rPr>
              <a:t>】</a:t>
            </a:r>
            <a:endParaRPr lang="zh-CN" altLang="en-US">
              <a:solidFill>
                <a:srgbClr val="FF0000"/>
              </a:solidFill>
            </a:endParaRPr>
          </a:p>
          <a:p>
            <a:pPr lvl="1" eaLnBrk="1" hangingPunct="1"/>
            <a:r>
              <a:rPr lang="zh-CN" altLang="en-US"/>
              <a:t>预测随实例规模的变化，程序运行时间的变化</a:t>
            </a:r>
            <a:r>
              <a:rPr lang="en-US" altLang="zh-CN">
                <a:solidFill>
                  <a:srgbClr val="FF0000"/>
                </a:solidFill>
              </a:rPr>
              <a:t>【</a:t>
            </a:r>
            <a:r>
              <a:rPr lang="zh-CN" altLang="en-US">
                <a:solidFill>
                  <a:srgbClr val="FF0000"/>
                </a:solidFill>
              </a:rPr>
              <a:t>纵向</a:t>
            </a:r>
            <a:r>
              <a:rPr lang="en-US" altLang="zh-CN">
                <a:solidFill>
                  <a:srgbClr val="FF0000"/>
                </a:solidFill>
              </a:rPr>
              <a:t>】</a:t>
            </a:r>
            <a:endParaRPr lang="zh-CN" altLang="en-US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/>
              <a:t>执行步试图比“关键操作”更精确</a:t>
            </a:r>
          </a:p>
          <a:p>
            <a:pPr eaLnBrk="1" hangingPunct="1"/>
            <a:r>
              <a:rPr lang="zh-CN" altLang="en-US"/>
              <a:t>“更精确”是没有必要的</a:t>
            </a:r>
          </a:p>
          <a:p>
            <a:pPr lvl="1" eaLnBrk="1" hangingPunct="1"/>
            <a:r>
              <a:rPr lang="zh-CN" altLang="en-US"/>
              <a:t>两个程序时间复杂性：</a:t>
            </a:r>
            <a:r>
              <a:rPr lang="en-US" altLang="zh-CN"/>
              <a:t>c</a:t>
            </a:r>
            <a:r>
              <a:rPr lang="en-US" altLang="zh-CN" baseline="-25000"/>
              <a:t>1</a:t>
            </a:r>
            <a:r>
              <a:rPr lang="en-US" altLang="zh-CN"/>
              <a:t>n</a:t>
            </a:r>
            <a:r>
              <a:rPr lang="en-US" altLang="zh-CN" baseline="30000"/>
              <a:t>2</a:t>
            </a:r>
            <a:r>
              <a:rPr lang="en-US" altLang="zh-CN"/>
              <a:t>+c</a:t>
            </a:r>
            <a:r>
              <a:rPr lang="en-US" altLang="zh-CN" baseline="-25000"/>
              <a:t>2</a:t>
            </a:r>
            <a:r>
              <a:rPr lang="en-US" altLang="zh-CN"/>
              <a:t>n</a:t>
            </a:r>
            <a:r>
              <a:rPr lang="zh-CN" altLang="en-US"/>
              <a:t>和</a:t>
            </a:r>
            <a:r>
              <a:rPr lang="en-US" altLang="zh-CN"/>
              <a:t>c</a:t>
            </a:r>
            <a:r>
              <a:rPr lang="en-US" altLang="zh-CN" baseline="-25000"/>
              <a:t>3</a:t>
            </a:r>
            <a:r>
              <a:rPr lang="en-US" altLang="zh-CN"/>
              <a:t>n</a:t>
            </a:r>
          </a:p>
          <a:p>
            <a:pPr lvl="1" eaLnBrk="1" hangingPunct="1"/>
            <a:r>
              <a:rPr lang="zh-CN" altLang="en-US"/>
              <a:t>总存在一个点，当</a:t>
            </a:r>
            <a:r>
              <a:rPr lang="en-US" altLang="zh-CN"/>
              <a:t>n</a:t>
            </a:r>
            <a:r>
              <a:rPr lang="zh-CN" altLang="en-US"/>
              <a:t>超过此值，后者更快</a:t>
            </a:r>
          </a:p>
          <a:p>
            <a:pPr lvl="1" eaLnBrk="1" hangingPunct="1"/>
            <a:r>
              <a:rPr lang="zh-CN" altLang="en-US"/>
              <a:t>“渐进”：大实例特征（趋向无穷）下，程序时间复杂性函数的“变化”情况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复杂度的渐进性质</a:t>
            </a:r>
          </a:p>
        </p:txBody>
      </p:sp>
      <p:sp>
        <p:nvSpPr>
          <p:cNvPr id="7475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如果解决问题</a:t>
            </a:r>
            <a:r>
              <a:rPr lang="en-US" altLang="zh-CN"/>
              <a:t>P</a:t>
            </a:r>
            <a:r>
              <a:rPr lang="zh-CN" altLang="en-US"/>
              <a:t>的程序</a:t>
            </a:r>
            <a:r>
              <a:rPr lang="en-US" altLang="zh-CN"/>
              <a:t>A</a:t>
            </a:r>
            <a:r>
              <a:rPr lang="zh-CN" altLang="en-US"/>
              <a:t>和程序</a:t>
            </a:r>
            <a:r>
              <a:rPr lang="en-US" altLang="zh-CN"/>
              <a:t>B</a:t>
            </a:r>
            <a:r>
              <a:rPr lang="zh-CN" altLang="en-US"/>
              <a:t>，其时间复杂度分别是</a:t>
            </a:r>
            <a:r>
              <a:rPr lang="en-US" altLang="zh-CN"/>
              <a:t>T</a:t>
            </a:r>
            <a:r>
              <a:rPr lang="en-US" altLang="zh-CN" baseline="-25000"/>
              <a:t>A</a:t>
            </a:r>
            <a:r>
              <a:rPr lang="en-US" altLang="zh-CN"/>
              <a:t>(n)</a:t>
            </a:r>
            <a:r>
              <a:rPr lang="zh-CN" altLang="en-US"/>
              <a:t>和</a:t>
            </a:r>
            <a:r>
              <a:rPr lang="en-US" altLang="zh-CN"/>
              <a:t>T</a:t>
            </a:r>
            <a:r>
              <a:rPr lang="en-US" altLang="zh-CN" baseline="-25000"/>
              <a:t>B</a:t>
            </a:r>
            <a:r>
              <a:rPr lang="en-US" altLang="zh-CN"/>
              <a:t>(n)</a:t>
            </a:r>
            <a:r>
              <a:rPr lang="zh-CN" altLang="en-US"/>
              <a:t>，则判断</a:t>
            </a:r>
            <a:r>
              <a:rPr lang="en-US" altLang="zh-CN"/>
              <a:t>A</a:t>
            </a:r>
            <a:r>
              <a:rPr lang="zh-CN" altLang="en-US"/>
              <a:t>、</a:t>
            </a:r>
            <a:r>
              <a:rPr lang="en-US" altLang="zh-CN"/>
              <a:t>B</a:t>
            </a:r>
            <a:r>
              <a:rPr lang="zh-CN" altLang="en-US"/>
              <a:t>性能优劣的标准是查看在</a:t>
            </a:r>
            <a:r>
              <a:rPr lang="en-US" altLang="zh-CN"/>
              <a:t>n</a:t>
            </a:r>
            <a:r>
              <a:rPr lang="zh-CN" altLang="en-US"/>
              <a:t>足够大时</a:t>
            </a:r>
            <a:r>
              <a:rPr lang="en-US" altLang="zh-CN"/>
              <a:t>T</a:t>
            </a:r>
            <a:r>
              <a:rPr lang="en-US" altLang="zh-CN" baseline="-25000"/>
              <a:t>A</a:t>
            </a:r>
            <a:r>
              <a:rPr lang="en-US" altLang="zh-CN"/>
              <a:t>(n)</a:t>
            </a:r>
            <a:r>
              <a:rPr lang="zh-CN" altLang="en-US"/>
              <a:t>和</a:t>
            </a:r>
            <a:r>
              <a:rPr lang="en-US" altLang="zh-CN"/>
              <a:t>T</a:t>
            </a:r>
            <a:r>
              <a:rPr lang="en-US" altLang="zh-CN" baseline="-25000"/>
              <a:t>B</a:t>
            </a:r>
            <a:r>
              <a:rPr lang="en-US" altLang="zh-CN"/>
              <a:t>(n)</a:t>
            </a:r>
            <a:r>
              <a:rPr lang="zh-CN" altLang="en-US"/>
              <a:t>的大小关系</a:t>
            </a:r>
          </a:p>
        </p:txBody>
      </p:sp>
      <p:sp>
        <p:nvSpPr>
          <p:cNvPr id="74756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3124200" y="6394450"/>
            <a:ext cx="5172075" cy="231775"/>
          </a:xfrm>
          <a:noFill/>
        </p:spPr>
        <p:txBody>
          <a:bodyPr lIns="0" rIns="0"/>
          <a:lstStyle/>
          <a:p>
            <a:r>
              <a:rPr lang="zh-CN" altLang="en-US">
                <a:solidFill>
                  <a:srgbClr val="FFFFFF"/>
                </a:solidFill>
                <a:ea typeface="宋体" pitchFamily="2" charset="-122"/>
              </a:rPr>
              <a:t>第</a:t>
            </a:r>
            <a:fld id="{C476D2F7-2F7B-469C-BECA-DD45FCBF4A57}" type="slidenum">
              <a:rPr lang="zh-CN" altLang="en-US" smtClean="0">
                <a:solidFill>
                  <a:srgbClr val="FFFFFF"/>
                </a:solidFill>
                <a:ea typeface="宋体" pitchFamily="2" charset="-122"/>
              </a:rPr>
              <a:pPr/>
              <a:t>52</a:t>
            </a:fld>
            <a:r>
              <a:rPr lang="zh-CN" altLang="en-US">
                <a:solidFill>
                  <a:srgbClr val="FFFFFF"/>
                </a:solidFill>
                <a:ea typeface="宋体" pitchFamily="2" charset="-122"/>
              </a:rPr>
              <a:t>页</a:t>
            </a:r>
          </a:p>
        </p:txBody>
      </p:sp>
      <p:sp>
        <p:nvSpPr>
          <p:cNvPr id="74757" name="页脚占位符 4"/>
          <p:cNvSpPr>
            <a:spLocks noGrp="1"/>
          </p:cNvSpPr>
          <p:nvPr>
            <p:ph type="ftr" sz="quarter" idx="10"/>
          </p:nvPr>
        </p:nvSpPr>
        <p:spPr>
          <a:xfrm>
            <a:off x="4424363" y="6400800"/>
            <a:ext cx="4460875" cy="268288"/>
          </a:xfrm>
          <a:noFill/>
        </p:spPr>
        <p:txBody>
          <a:bodyPr/>
          <a:lstStyle/>
          <a:p>
            <a:r>
              <a:rPr lang="zh-CN" altLang="en-US">
                <a:ea typeface="宋体" pitchFamily="2" charset="-122"/>
              </a:rPr>
              <a:t>南开大学信息技术科学学院</a:t>
            </a:r>
            <a:endParaRPr lang="en-US" altLang="ko-KR">
              <a:ea typeface="宋体" pitchFamily="2" charset="-122"/>
            </a:endParaRPr>
          </a:p>
        </p:txBody>
      </p:sp>
      <p:pic>
        <p:nvPicPr>
          <p:cNvPr id="747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95675" y="3070225"/>
            <a:ext cx="3646488" cy="3284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H2.</a:t>
            </a:r>
            <a:r>
              <a:rPr lang="zh-CN" altLang="en-US"/>
              <a:t>大写</a:t>
            </a:r>
            <a:r>
              <a:rPr lang="en-US" altLang="zh-CN">
                <a:solidFill>
                  <a:srgbClr val="FF0000"/>
                </a:solidFill>
              </a:rPr>
              <a:t>Ο</a:t>
            </a:r>
            <a:r>
              <a:rPr lang="zh-CN" altLang="en-US"/>
              <a:t>符号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函数上界</a:t>
            </a:r>
          </a:p>
          <a:p>
            <a:pPr eaLnBrk="1" hangingPunct="1"/>
            <a:r>
              <a:rPr lang="zh-CN" altLang="en-US">
                <a:solidFill>
                  <a:schemeClr val="hlink"/>
                </a:solidFill>
              </a:rPr>
              <a:t>定义：</a:t>
            </a:r>
            <a:br>
              <a:rPr lang="zh-CN" altLang="en-US"/>
            </a:br>
            <a:r>
              <a:rPr lang="en-US" altLang="zh-CN">
                <a:solidFill>
                  <a:schemeClr val="accent2"/>
                </a:solidFill>
              </a:rPr>
              <a:t>f(n)=O(g(n))</a:t>
            </a:r>
            <a:r>
              <a:rPr lang="zh-CN" altLang="en-US">
                <a:solidFill>
                  <a:schemeClr val="accent2"/>
                </a:solidFill>
              </a:rPr>
              <a:t>，当且仅当存在正常数</a:t>
            </a:r>
            <a:r>
              <a:rPr lang="en-US" altLang="zh-CN">
                <a:solidFill>
                  <a:schemeClr val="accent2"/>
                </a:solidFill>
              </a:rPr>
              <a:t>c</a:t>
            </a:r>
            <a:r>
              <a:rPr lang="zh-CN" altLang="en-US">
                <a:solidFill>
                  <a:schemeClr val="accent2"/>
                </a:solidFill>
              </a:rPr>
              <a:t>和</a:t>
            </a:r>
            <a:r>
              <a:rPr lang="en-US" altLang="zh-CN">
                <a:solidFill>
                  <a:schemeClr val="accent2"/>
                </a:solidFill>
              </a:rPr>
              <a:t>n</a:t>
            </a:r>
            <a:r>
              <a:rPr lang="en-US" altLang="zh-CN" baseline="-25000">
                <a:solidFill>
                  <a:schemeClr val="accent2"/>
                </a:solidFill>
              </a:rPr>
              <a:t>0</a:t>
            </a:r>
            <a:r>
              <a:rPr lang="zh-CN" altLang="en-US">
                <a:solidFill>
                  <a:schemeClr val="accent2"/>
                </a:solidFill>
              </a:rPr>
              <a:t>，使得对所有</a:t>
            </a:r>
            <a:r>
              <a:rPr lang="en-US" altLang="zh-CN" i="1">
                <a:solidFill>
                  <a:schemeClr val="accent2"/>
                </a:solidFill>
              </a:rPr>
              <a:t>n</a:t>
            </a:r>
            <a:r>
              <a:rPr lang="en-US" altLang="zh-CN">
                <a:solidFill>
                  <a:schemeClr val="accent2"/>
                </a:solidFill>
              </a:rPr>
              <a:t>≥</a:t>
            </a:r>
            <a:r>
              <a:rPr lang="en-US" altLang="zh-CN" i="1">
                <a:solidFill>
                  <a:schemeClr val="accent2"/>
                </a:solidFill>
              </a:rPr>
              <a:t>n</a:t>
            </a:r>
            <a:r>
              <a:rPr lang="en-US" altLang="zh-CN" baseline="-25000">
                <a:solidFill>
                  <a:schemeClr val="accent2"/>
                </a:solidFill>
              </a:rPr>
              <a:t>0</a:t>
            </a:r>
            <a:r>
              <a:rPr lang="en-US" altLang="zh-CN">
                <a:solidFill>
                  <a:schemeClr val="accent2"/>
                </a:solidFill>
              </a:rPr>
              <a:t> , </a:t>
            </a:r>
            <a:r>
              <a:rPr lang="zh-CN" altLang="en-US">
                <a:solidFill>
                  <a:schemeClr val="accent2"/>
                </a:solidFill>
              </a:rPr>
              <a:t>有</a:t>
            </a:r>
            <a:r>
              <a:rPr lang="en-US" altLang="zh-CN" i="1">
                <a:solidFill>
                  <a:schemeClr val="accent2"/>
                </a:solidFill>
              </a:rPr>
              <a:t>f</a:t>
            </a:r>
            <a:r>
              <a:rPr lang="en-US" altLang="zh-CN">
                <a:solidFill>
                  <a:schemeClr val="accent2"/>
                </a:solidFill>
              </a:rPr>
              <a:t>(</a:t>
            </a:r>
            <a:r>
              <a:rPr lang="en-US" altLang="zh-CN" i="1">
                <a:solidFill>
                  <a:schemeClr val="accent2"/>
                </a:solidFill>
              </a:rPr>
              <a:t>n</a:t>
            </a:r>
            <a:r>
              <a:rPr lang="en-US" altLang="zh-CN">
                <a:solidFill>
                  <a:schemeClr val="accent2"/>
                </a:solidFill>
              </a:rPr>
              <a:t>)≤</a:t>
            </a:r>
            <a:r>
              <a:rPr lang="en-US" altLang="zh-CN" i="1">
                <a:solidFill>
                  <a:schemeClr val="accent2"/>
                </a:solidFill>
              </a:rPr>
              <a:t>cg</a:t>
            </a:r>
            <a:r>
              <a:rPr lang="en-US" altLang="zh-CN">
                <a:solidFill>
                  <a:schemeClr val="accent2"/>
                </a:solidFill>
              </a:rPr>
              <a:t>(</a:t>
            </a:r>
            <a:r>
              <a:rPr lang="en-US" altLang="zh-CN" i="1">
                <a:solidFill>
                  <a:schemeClr val="accent2"/>
                </a:solidFill>
              </a:rPr>
              <a:t>n</a:t>
            </a:r>
            <a:r>
              <a:rPr lang="en-US" altLang="zh-CN">
                <a:solidFill>
                  <a:schemeClr val="accent2"/>
                </a:solidFill>
              </a:rPr>
              <a:t>)</a:t>
            </a:r>
          </a:p>
          <a:p>
            <a:pPr eaLnBrk="1" hangingPunct="1"/>
            <a:r>
              <a:rPr lang="en-US" altLang="zh-CN" i="1"/>
              <a:t>f</a:t>
            </a:r>
            <a:r>
              <a:rPr lang="zh-CN" altLang="en-US"/>
              <a:t>至多是</a:t>
            </a:r>
            <a:r>
              <a:rPr lang="en-US" altLang="zh-CN" i="1"/>
              <a:t>g</a:t>
            </a:r>
            <a:r>
              <a:rPr lang="zh-CN" altLang="en-US"/>
              <a:t>的</a:t>
            </a:r>
            <a:r>
              <a:rPr lang="en-US" altLang="zh-CN" i="1"/>
              <a:t>c</a:t>
            </a:r>
            <a:r>
              <a:rPr lang="zh-CN" altLang="en-US"/>
              <a:t>倍，对足够大的</a:t>
            </a:r>
            <a:r>
              <a:rPr lang="en-US" altLang="zh-CN" i="1"/>
              <a:t>n</a:t>
            </a:r>
            <a:r>
              <a:rPr lang="zh-CN" altLang="en-US"/>
              <a:t>，</a:t>
            </a:r>
            <a:r>
              <a:rPr lang="en-US" altLang="zh-CN" i="1"/>
              <a:t>g </a:t>
            </a:r>
            <a:r>
              <a:rPr lang="zh-CN" altLang="en-US"/>
              <a:t>是</a:t>
            </a:r>
            <a:r>
              <a:rPr lang="en-US" altLang="zh-CN" i="1"/>
              <a:t>f </a:t>
            </a:r>
            <a:r>
              <a:rPr lang="zh-CN" altLang="en-US"/>
              <a:t>的上界（不考虑常数因子</a:t>
            </a:r>
            <a:r>
              <a:rPr lang="en-US" altLang="zh-CN" i="1"/>
              <a:t>c</a:t>
            </a:r>
            <a:r>
              <a:rPr lang="zh-CN" altLang="en-US"/>
              <a:t>）</a:t>
            </a:r>
          </a:p>
          <a:p>
            <a:pPr eaLnBrk="1" hangingPunct="1"/>
            <a:r>
              <a:rPr lang="en-US" altLang="zh-CN" i="1"/>
              <a:t>g</a:t>
            </a:r>
            <a:r>
              <a:rPr lang="zh-CN" altLang="en-US"/>
              <a:t>取简单函数</a:t>
            </a:r>
            <a:r>
              <a:rPr lang="en-US" altLang="zh-CN"/>
              <a:t>——</a:t>
            </a:r>
            <a:r>
              <a:rPr lang="zh-CN" altLang="en-US"/>
              <a:t>容易研究</a:t>
            </a:r>
            <a:r>
              <a:rPr lang="en-US" altLang="zh-CN" i="1"/>
              <a:t>f</a:t>
            </a:r>
            <a:r>
              <a:rPr lang="zh-CN" altLang="en-US"/>
              <a:t>的上界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常用做</a:t>
            </a:r>
            <a:r>
              <a:rPr lang="en-US" altLang="zh-CN"/>
              <a:t>g</a:t>
            </a:r>
            <a:r>
              <a:rPr lang="zh-CN" altLang="en-US"/>
              <a:t>的简单函数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5181600"/>
            <a:ext cx="7772400" cy="12954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/>
              <a:t>对数没有给出对数基，因为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/>
              <a:t>log</a:t>
            </a:r>
            <a:r>
              <a:rPr lang="en-US" altLang="zh-CN" baseline="-25000"/>
              <a:t>a</a:t>
            </a:r>
            <a:r>
              <a:rPr lang="en-US" altLang="zh-CN"/>
              <a:t>n=log</a:t>
            </a:r>
            <a:r>
              <a:rPr lang="en-US" altLang="zh-CN" baseline="-25000"/>
              <a:t>b</a:t>
            </a:r>
            <a:r>
              <a:rPr lang="en-US" altLang="zh-CN"/>
              <a:t>n/log</a:t>
            </a:r>
            <a:r>
              <a:rPr lang="en-US" altLang="zh-CN" baseline="-25000"/>
              <a:t>b</a:t>
            </a:r>
            <a:r>
              <a:rPr lang="en-US" altLang="zh-CN"/>
              <a:t>a</a:t>
            </a:r>
            <a:r>
              <a:rPr lang="zh-CN" altLang="en-US"/>
              <a:t>，仅常数不同，相差</a:t>
            </a:r>
            <a:r>
              <a:rPr lang="en-US" altLang="zh-CN"/>
              <a:t>log</a:t>
            </a:r>
            <a:r>
              <a:rPr lang="en-US" altLang="zh-CN" baseline="-25000"/>
              <a:t>b</a:t>
            </a:r>
            <a:r>
              <a:rPr lang="en-US" altLang="zh-CN"/>
              <a:t>a</a:t>
            </a:r>
            <a:r>
              <a:rPr lang="zh-CN" altLang="en-US"/>
              <a:t>倍</a:t>
            </a:r>
          </a:p>
        </p:txBody>
      </p:sp>
      <p:graphicFrame>
        <p:nvGraphicFramePr>
          <p:cNvPr id="631885" name="Group 77"/>
          <p:cNvGraphicFramePr>
            <a:graphicFrameLocks noGrp="1"/>
          </p:cNvGraphicFramePr>
          <p:nvPr/>
        </p:nvGraphicFramePr>
        <p:xfrm>
          <a:off x="984250" y="1397000"/>
          <a:ext cx="6096000" cy="3573145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7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函数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名称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常数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logn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对数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线性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 logn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</a:t>
                      </a: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个</a:t>
                      </a:r>
                      <a:r>
                        <a:rPr kumimoji="1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logn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</a:t>
                      </a:r>
                      <a:r>
                        <a:rPr kumimoji="1" lang="en-US" altLang="zh-CN" sz="20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平方</a:t>
                      </a:r>
                      <a:endParaRPr kumimoji="1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86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</a:t>
                      </a:r>
                      <a:r>
                        <a:rPr kumimoji="1" lang="en-US" altLang="zh-CN" sz="20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立方</a:t>
                      </a:r>
                      <a:endParaRPr kumimoji="1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r>
                        <a:rPr kumimoji="1" lang="en-US" altLang="zh-CN" sz="20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</a:t>
                      </a:r>
                      <a:endParaRPr kumimoji="1" lang="en-US" altLang="zh-CN" sz="20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指数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! 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阶乘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76837" name="直接箭头连接符 5"/>
          <p:cNvCxnSpPr>
            <a:cxnSpLocks noChangeShapeType="1"/>
          </p:cNvCxnSpPr>
          <p:nvPr/>
        </p:nvCxnSpPr>
        <p:spPr bwMode="auto">
          <a:xfrm rot="5400000">
            <a:off x="5648326" y="3429000"/>
            <a:ext cx="3230562" cy="1587"/>
          </a:xfrm>
          <a:prstGeom prst="straightConnector1">
            <a:avLst/>
          </a:prstGeom>
          <a:noFill/>
          <a:ln w="57150" algn="ctr">
            <a:solidFill>
              <a:srgbClr val="FF0000"/>
            </a:solidFill>
            <a:round/>
            <a:headEnd/>
            <a:tailEnd type="arrow" w="med" len="med"/>
          </a:ln>
        </p:spPr>
      </p:cxnSp>
      <p:sp>
        <p:nvSpPr>
          <p:cNvPr id="76838" name="TextBox 6"/>
          <p:cNvSpPr txBox="1">
            <a:spLocks noChangeArrowheads="1"/>
          </p:cNvSpPr>
          <p:nvPr/>
        </p:nvSpPr>
        <p:spPr bwMode="auto">
          <a:xfrm>
            <a:off x="7442200" y="1803400"/>
            <a:ext cx="125571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/>
              <a:t>快、简单</a:t>
            </a:r>
          </a:p>
        </p:txBody>
      </p:sp>
      <p:sp>
        <p:nvSpPr>
          <p:cNvPr id="76839" name="TextBox 7"/>
          <p:cNvSpPr txBox="1">
            <a:spLocks noChangeArrowheads="1"/>
          </p:cNvSpPr>
          <p:nvPr/>
        </p:nvSpPr>
        <p:spPr bwMode="auto">
          <a:xfrm>
            <a:off x="7442200" y="4673600"/>
            <a:ext cx="125571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/>
              <a:t>慢、复杂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大</a:t>
            </a:r>
            <a:r>
              <a:rPr lang="en-US" altLang="zh-CN"/>
              <a:t>O</a:t>
            </a:r>
            <a:r>
              <a:rPr lang="zh-CN" altLang="en-US"/>
              <a:t>符号例子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9200" y="1371600"/>
            <a:ext cx="7735888" cy="4724400"/>
          </a:xfrm>
        </p:spPr>
        <p:txBody>
          <a:bodyPr/>
          <a:lstStyle/>
          <a:p>
            <a:pPr eaLnBrk="1" hangingPunct="1"/>
            <a:r>
              <a:rPr lang="zh-CN" altLang="en-US"/>
              <a:t>线性函数</a:t>
            </a:r>
          </a:p>
          <a:p>
            <a:pPr eaLnBrk="1" hangingPunct="1"/>
            <a:r>
              <a:rPr lang="en-US" altLang="zh-CN" i="1"/>
              <a:t>f 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)=3</a:t>
            </a:r>
            <a:r>
              <a:rPr lang="en-US" altLang="zh-CN" i="1"/>
              <a:t>n</a:t>
            </a:r>
            <a:r>
              <a:rPr lang="en-US" altLang="zh-CN"/>
              <a:t>+2</a:t>
            </a:r>
          </a:p>
          <a:p>
            <a:pPr lvl="1" eaLnBrk="1" hangingPunct="1"/>
            <a:r>
              <a:rPr lang="en-US" altLang="zh-CN" i="1"/>
              <a:t>n</a:t>
            </a:r>
            <a:r>
              <a:rPr lang="en-US" altLang="zh-CN"/>
              <a:t>≥2</a:t>
            </a:r>
            <a:r>
              <a:rPr lang="zh-CN" altLang="en-US"/>
              <a:t>时，</a:t>
            </a:r>
            <a:r>
              <a:rPr lang="en-US" altLang="zh-CN"/>
              <a:t>3</a:t>
            </a:r>
            <a:r>
              <a:rPr lang="en-US" altLang="zh-CN" i="1"/>
              <a:t>n</a:t>
            </a:r>
            <a:r>
              <a:rPr lang="en-US" altLang="zh-CN"/>
              <a:t>+2≤3</a:t>
            </a:r>
            <a:r>
              <a:rPr lang="en-US" altLang="zh-CN" i="1"/>
              <a:t>n</a:t>
            </a:r>
            <a:r>
              <a:rPr lang="en-US" altLang="zh-CN"/>
              <a:t>+</a:t>
            </a:r>
            <a:r>
              <a:rPr lang="en-US" altLang="zh-CN" i="1"/>
              <a:t>n</a:t>
            </a:r>
            <a:r>
              <a:rPr lang="zh-CN" altLang="en-US"/>
              <a:t>＝</a:t>
            </a:r>
            <a:r>
              <a:rPr lang="en-US" altLang="zh-CN"/>
              <a:t>4</a:t>
            </a:r>
            <a:r>
              <a:rPr lang="en-US" altLang="zh-CN" i="1"/>
              <a:t>n</a:t>
            </a:r>
            <a:r>
              <a:rPr lang="zh-CN" altLang="en-US"/>
              <a:t>，</a:t>
            </a:r>
            <a:r>
              <a:rPr lang="en-US" altLang="zh-CN" i="1"/>
              <a:t>f 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</a:t>
            </a:r>
            <a:r>
              <a:rPr lang="en-US" altLang="zh-CN">
                <a:solidFill>
                  <a:srgbClr val="FF0000"/>
                </a:solidFill>
              </a:rPr>
              <a:t>=</a:t>
            </a:r>
            <a:r>
              <a:rPr lang="en-US" altLang="zh-CN"/>
              <a:t>O(</a:t>
            </a:r>
            <a:r>
              <a:rPr lang="en-US" altLang="zh-CN" i="1"/>
              <a:t>n</a:t>
            </a:r>
            <a:r>
              <a:rPr lang="en-US" altLang="zh-CN"/>
              <a:t>) </a:t>
            </a:r>
          </a:p>
          <a:p>
            <a:pPr lvl="1" eaLnBrk="1" hangingPunct="1"/>
            <a:r>
              <a:rPr lang="en-US" altLang="zh-CN" i="1"/>
              <a:t>n</a:t>
            </a:r>
            <a:r>
              <a:rPr lang="en-US" altLang="zh-CN"/>
              <a:t>&gt;0</a:t>
            </a:r>
            <a:r>
              <a:rPr lang="zh-CN" altLang="en-US"/>
              <a:t>时，</a:t>
            </a:r>
            <a:r>
              <a:rPr lang="en-US" altLang="zh-CN"/>
              <a:t>3</a:t>
            </a:r>
            <a:r>
              <a:rPr lang="en-US" altLang="zh-CN" i="1"/>
              <a:t>n</a:t>
            </a:r>
            <a:r>
              <a:rPr lang="en-US" altLang="zh-CN"/>
              <a:t>+2≤10</a:t>
            </a:r>
            <a:r>
              <a:rPr lang="en-US" altLang="zh-CN" i="1"/>
              <a:t>n</a:t>
            </a:r>
            <a:r>
              <a:rPr lang="zh-CN" altLang="en-US"/>
              <a:t>；</a:t>
            </a:r>
            <a:r>
              <a:rPr lang="en-US" altLang="zh-CN" i="1"/>
              <a:t>n</a:t>
            </a:r>
            <a:r>
              <a:rPr lang="en-US" altLang="zh-CN"/>
              <a:t>≥1</a:t>
            </a:r>
            <a:r>
              <a:rPr lang="zh-CN" altLang="en-US"/>
              <a:t>，</a:t>
            </a:r>
            <a:r>
              <a:rPr lang="en-US" altLang="zh-CN"/>
              <a:t>3</a:t>
            </a:r>
            <a:r>
              <a:rPr lang="en-US" altLang="zh-CN" i="1"/>
              <a:t>n</a:t>
            </a:r>
            <a:r>
              <a:rPr lang="en-US" altLang="zh-CN"/>
              <a:t>+2≤3</a:t>
            </a:r>
            <a:r>
              <a:rPr lang="en-US" altLang="zh-CN" i="1"/>
              <a:t>n</a:t>
            </a:r>
            <a:r>
              <a:rPr lang="en-US" altLang="zh-CN"/>
              <a:t>+2</a:t>
            </a:r>
            <a:r>
              <a:rPr lang="en-US" altLang="zh-CN" i="1"/>
              <a:t>n</a:t>
            </a:r>
            <a:r>
              <a:rPr lang="en-US" altLang="zh-CN"/>
              <a:t>=5</a:t>
            </a:r>
            <a:r>
              <a:rPr lang="en-US" altLang="zh-CN" i="1"/>
              <a:t>n</a:t>
            </a:r>
            <a:r>
              <a:rPr lang="en-US" altLang="zh-CN"/>
              <a:t>——</a:t>
            </a:r>
            <a:br>
              <a:rPr lang="en-US" altLang="zh-CN"/>
            </a:br>
            <a:r>
              <a:rPr lang="zh-CN" altLang="en-US"/>
              <a:t>结论不变，可见</a:t>
            </a:r>
            <a:r>
              <a:rPr lang="en-US" altLang="zh-CN" i="1"/>
              <a:t>c</a:t>
            </a:r>
            <a:r>
              <a:rPr lang="zh-CN" altLang="en-US"/>
              <a:t>和</a:t>
            </a:r>
            <a:r>
              <a:rPr lang="en-US" altLang="zh-CN" i="1"/>
              <a:t>n</a:t>
            </a:r>
            <a:r>
              <a:rPr lang="en-US" altLang="zh-CN" baseline="-25000"/>
              <a:t>0</a:t>
            </a:r>
            <a:r>
              <a:rPr lang="en-US" altLang="zh-CN"/>
              <a:t> </a:t>
            </a:r>
            <a:r>
              <a:rPr lang="zh-CN" altLang="en-US"/>
              <a:t>并不重要</a:t>
            </a:r>
          </a:p>
          <a:p>
            <a:pPr eaLnBrk="1" hangingPunct="1"/>
            <a:r>
              <a:rPr lang="en-US" altLang="zh-CN" i="1"/>
              <a:t>f 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)=3</a:t>
            </a:r>
            <a:r>
              <a:rPr lang="en-US" altLang="zh-CN" i="1"/>
              <a:t>n</a:t>
            </a:r>
            <a:r>
              <a:rPr lang="en-US" altLang="zh-CN"/>
              <a:t>+3</a:t>
            </a:r>
            <a:r>
              <a:rPr lang="zh-CN" altLang="en-US"/>
              <a:t>：</a:t>
            </a:r>
            <a:r>
              <a:rPr lang="en-US" altLang="zh-CN" i="1"/>
              <a:t>n</a:t>
            </a:r>
            <a:r>
              <a:rPr lang="en-US" altLang="zh-CN"/>
              <a:t>≥3</a:t>
            </a:r>
            <a:r>
              <a:rPr lang="zh-CN" altLang="en-US"/>
              <a:t>时，</a:t>
            </a:r>
            <a:r>
              <a:rPr lang="en-US" altLang="zh-CN"/>
              <a:t>3</a:t>
            </a:r>
            <a:r>
              <a:rPr lang="en-US" altLang="zh-CN" i="1"/>
              <a:t>n</a:t>
            </a:r>
            <a:r>
              <a:rPr lang="en-US" altLang="zh-CN"/>
              <a:t>+ 3≤3</a:t>
            </a:r>
            <a:r>
              <a:rPr lang="en-US" altLang="zh-CN" i="1"/>
              <a:t>n</a:t>
            </a:r>
            <a:r>
              <a:rPr lang="en-US" altLang="zh-CN"/>
              <a:t>+</a:t>
            </a:r>
            <a:r>
              <a:rPr lang="en-US" altLang="zh-CN" i="1"/>
              <a:t>n</a:t>
            </a:r>
            <a:r>
              <a:rPr lang="en-US" altLang="zh-CN"/>
              <a:t>=4</a:t>
            </a:r>
            <a:r>
              <a:rPr lang="en-US" altLang="zh-CN" i="1"/>
              <a:t>n</a:t>
            </a:r>
          </a:p>
          <a:p>
            <a:pPr eaLnBrk="1" hangingPunct="1"/>
            <a:r>
              <a:rPr lang="en-US" altLang="zh-CN" i="1"/>
              <a:t>f 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)=100</a:t>
            </a:r>
            <a:r>
              <a:rPr lang="en-US" altLang="zh-CN" i="1"/>
              <a:t>n</a:t>
            </a:r>
            <a:r>
              <a:rPr lang="en-US" altLang="zh-CN"/>
              <a:t>+6</a:t>
            </a:r>
            <a:r>
              <a:rPr lang="zh-CN" altLang="en-US"/>
              <a:t>：</a:t>
            </a:r>
            <a:r>
              <a:rPr lang="en-US" altLang="zh-CN" i="1"/>
              <a:t>n</a:t>
            </a:r>
            <a:r>
              <a:rPr lang="en-US" altLang="zh-CN"/>
              <a:t>≥6</a:t>
            </a:r>
            <a:r>
              <a:rPr lang="zh-CN" altLang="en-US"/>
              <a:t>时，</a:t>
            </a:r>
            <a:r>
              <a:rPr lang="en-US" altLang="zh-CN"/>
              <a:t>100</a:t>
            </a:r>
            <a:r>
              <a:rPr lang="en-US" altLang="zh-CN" i="1"/>
              <a:t>n</a:t>
            </a:r>
            <a:r>
              <a:rPr lang="en-US" altLang="zh-CN"/>
              <a:t>+6≤100</a:t>
            </a:r>
            <a:r>
              <a:rPr lang="en-US" altLang="zh-CN" i="1"/>
              <a:t>n</a:t>
            </a:r>
            <a:r>
              <a:rPr lang="en-US" altLang="zh-CN"/>
              <a:t>+</a:t>
            </a:r>
            <a:r>
              <a:rPr lang="en-US" altLang="zh-CN" i="1"/>
              <a:t>n</a:t>
            </a:r>
            <a:r>
              <a:rPr lang="en-US" altLang="zh-CN"/>
              <a:t>=101</a:t>
            </a:r>
            <a:r>
              <a:rPr lang="en-US" altLang="zh-CN" i="1"/>
              <a:t>n</a:t>
            </a:r>
          </a:p>
        </p:txBody>
      </p:sp>
      <p:grpSp>
        <p:nvGrpSpPr>
          <p:cNvPr id="77828" name="组合 5"/>
          <p:cNvGrpSpPr>
            <a:grpSpLocks/>
          </p:cNvGrpSpPr>
          <p:nvPr/>
        </p:nvGrpSpPr>
        <p:grpSpPr bwMode="auto">
          <a:xfrm>
            <a:off x="4392613" y="558800"/>
            <a:ext cx="4125912" cy="1435100"/>
            <a:chOff x="4392612" y="558792"/>
            <a:chExt cx="4125924" cy="1435104"/>
          </a:xfrm>
        </p:grpSpPr>
        <p:sp>
          <p:nvSpPr>
            <p:cNvPr id="4" name="竖卷形 3"/>
            <p:cNvSpPr/>
            <p:nvPr/>
          </p:nvSpPr>
          <p:spPr bwMode="auto">
            <a:xfrm>
              <a:off x="4392612" y="558792"/>
              <a:ext cx="4125924" cy="1435104"/>
            </a:xfrm>
            <a:prstGeom prst="verticalScroll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77830" name="圆角矩形 4"/>
            <p:cNvSpPr>
              <a:spLocks noChangeArrowheads="1"/>
            </p:cNvSpPr>
            <p:nvPr/>
          </p:nvSpPr>
          <p:spPr bwMode="auto">
            <a:xfrm>
              <a:off x="4572000" y="738180"/>
              <a:ext cx="3767148" cy="1255716"/>
            </a:xfrm>
            <a:prstGeom prst="roundRect">
              <a:avLst>
                <a:gd name="adj" fmla="val 16667"/>
              </a:avLst>
            </a:prstGeom>
            <a:noFill/>
            <a:ln w="9525" algn="ctr">
              <a:noFill/>
              <a:round/>
              <a:headEnd/>
              <a:tailEnd/>
            </a:ln>
          </p:spPr>
          <p:txBody>
            <a:bodyPr lIns="0" tIns="0" rIns="182880" bIns="0"/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f(n)=O(g(n)),</a:t>
              </a:r>
              <a:r>
                <a:rPr lang="zh-CN" altLang="en-US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当且仅当存在正常数</a:t>
              </a:r>
              <a:r>
                <a:rPr lang="en-US" altLang="zh-CN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c</a:t>
              </a:r>
              <a:r>
                <a:rPr lang="zh-CN" altLang="en-US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和</a:t>
              </a:r>
              <a:r>
                <a:rPr lang="en-US" altLang="zh-CN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n</a:t>
              </a:r>
              <a:r>
                <a:rPr lang="en-US" altLang="zh-CN" sz="2400" baseline="-250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0,</a:t>
              </a:r>
              <a:r>
                <a:rPr lang="zh-CN" altLang="en-US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使得对所有</a:t>
              </a:r>
              <a:r>
                <a:rPr lang="en-US" altLang="zh-CN" sz="2400" i="1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n</a:t>
              </a:r>
              <a:r>
                <a:rPr lang="en-US" altLang="zh-CN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≥</a:t>
              </a:r>
              <a:r>
                <a:rPr lang="en-US" altLang="zh-CN" sz="2400" i="1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n</a:t>
              </a:r>
              <a:r>
                <a:rPr lang="en-US" altLang="zh-CN" sz="2400" baseline="-250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0</a:t>
              </a:r>
              <a:r>
                <a:rPr lang="en-US" altLang="zh-CN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, </a:t>
              </a:r>
              <a:r>
                <a:rPr lang="zh-CN" altLang="en-US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有</a:t>
              </a:r>
              <a:r>
                <a:rPr lang="en-US" altLang="zh-CN" sz="2400" i="1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f</a:t>
              </a:r>
              <a:r>
                <a:rPr lang="en-US" altLang="zh-CN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(</a:t>
              </a:r>
              <a:r>
                <a:rPr lang="en-US" altLang="zh-CN" sz="2400" i="1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n</a:t>
              </a:r>
              <a:r>
                <a:rPr lang="en-US" altLang="zh-CN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)≤</a:t>
              </a:r>
              <a:r>
                <a:rPr lang="en-US" altLang="zh-CN" sz="2400" i="1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cg</a:t>
              </a:r>
              <a:r>
                <a:rPr lang="en-US" altLang="zh-CN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(</a:t>
              </a:r>
              <a:r>
                <a:rPr lang="en-US" altLang="zh-CN" sz="2400" i="1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n</a:t>
              </a:r>
              <a:r>
                <a:rPr lang="en-US" altLang="zh-CN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)</a:t>
              </a:r>
              <a:endParaRPr lang="zh-CN" altLang="en-US" sz="2400"/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大</a:t>
            </a:r>
            <a:r>
              <a:rPr lang="en-US" altLang="zh-CN"/>
              <a:t>O</a:t>
            </a:r>
            <a:r>
              <a:rPr lang="zh-CN" altLang="en-US"/>
              <a:t>符号例子（续）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平方函数</a:t>
            </a:r>
          </a:p>
          <a:p>
            <a:pPr lvl="1" eaLnBrk="1" hangingPunct="1"/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)=10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+4</a:t>
            </a:r>
            <a:r>
              <a:rPr lang="en-US" altLang="zh-CN" i="1"/>
              <a:t>n</a:t>
            </a:r>
            <a:r>
              <a:rPr lang="en-US" altLang="zh-CN"/>
              <a:t>+2</a:t>
            </a:r>
            <a:br>
              <a:rPr lang="en-US" altLang="zh-CN"/>
            </a:br>
            <a:r>
              <a:rPr lang="en-US" altLang="zh-CN" i="1"/>
              <a:t>n</a:t>
            </a:r>
            <a:r>
              <a:rPr lang="en-US" altLang="zh-CN"/>
              <a:t>≥2</a:t>
            </a:r>
            <a:r>
              <a:rPr lang="zh-CN" altLang="en-US"/>
              <a:t>时</a:t>
            </a:r>
            <a:r>
              <a:rPr lang="en-US" altLang="zh-CN"/>
              <a:t>, </a:t>
            </a: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)≤10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+5</a:t>
            </a:r>
            <a:r>
              <a:rPr lang="en-US" altLang="zh-CN" i="1"/>
              <a:t>n</a:t>
            </a:r>
            <a:br>
              <a:rPr lang="en-US" altLang="zh-CN" i="1"/>
            </a:br>
            <a:r>
              <a:rPr lang="zh-CN" altLang="en-US"/>
              <a:t>当</a:t>
            </a:r>
            <a:r>
              <a:rPr lang="en-US" altLang="zh-CN" i="1"/>
              <a:t>n</a:t>
            </a:r>
            <a:r>
              <a:rPr lang="en-US" altLang="zh-CN"/>
              <a:t>≥5</a:t>
            </a:r>
            <a:r>
              <a:rPr lang="zh-CN" altLang="en-US"/>
              <a:t>时，</a:t>
            </a:r>
            <a:r>
              <a:rPr lang="en-US" altLang="zh-CN"/>
              <a:t>5</a:t>
            </a:r>
            <a:r>
              <a:rPr lang="en-US" altLang="zh-CN" i="1"/>
              <a:t>n</a:t>
            </a:r>
            <a:r>
              <a:rPr lang="en-US" altLang="zh-CN"/>
              <a:t>≤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 </a:t>
            </a:r>
            <a:r>
              <a:rPr lang="zh-CN" altLang="en-US"/>
              <a:t>，因此</a:t>
            </a:r>
            <a:r>
              <a:rPr lang="en-US" altLang="zh-CN" i="1"/>
              <a:t>n</a:t>
            </a:r>
            <a:r>
              <a:rPr lang="en-US" altLang="zh-CN"/>
              <a:t>≥</a:t>
            </a:r>
            <a:r>
              <a:rPr lang="en-US" altLang="zh-CN" i="1"/>
              <a:t>n</a:t>
            </a:r>
            <a:r>
              <a:rPr lang="en-US" altLang="zh-CN" baseline="-25000"/>
              <a:t>0</a:t>
            </a:r>
            <a:r>
              <a:rPr lang="en-US" altLang="zh-CN"/>
              <a:t>=5</a:t>
            </a:r>
            <a:r>
              <a:rPr lang="zh-CN" altLang="en-US"/>
              <a:t>时，</a:t>
            </a:r>
            <a:br>
              <a:rPr lang="zh-CN" altLang="en-US"/>
            </a:br>
            <a:r>
              <a:rPr lang="en-US" altLang="zh-CN" i="1"/>
              <a:t>f 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)≤10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+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=11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zh-CN" altLang="en-US"/>
              <a:t>，所以</a:t>
            </a: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)=O(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)</a:t>
            </a:r>
          </a:p>
          <a:p>
            <a:pPr lvl="1" eaLnBrk="1" hangingPunct="1"/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)=1000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+100</a:t>
            </a:r>
            <a:r>
              <a:rPr lang="en-US" altLang="zh-CN" i="1"/>
              <a:t>n</a:t>
            </a:r>
            <a:r>
              <a:rPr lang="en-US" altLang="zh-CN"/>
              <a:t>-6</a:t>
            </a:r>
            <a:br>
              <a:rPr lang="en-US" altLang="zh-CN"/>
            </a:br>
            <a:r>
              <a:rPr lang="zh-CN" altLang="en-US"/>
              <a:t>对于所有</a:t>
            </a:r>
            <a:r>
              <a:rPr lang="en-US" altLang="zh-CN" i="1"/>
              <a:t>n</a:t>
            </a:r>
            <a:r>
              <a:rPr lang="zh-CN" altLang="en-US"/>
              <a:t>有</a:t>
            </a: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)≤1000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+100</a:t>
            </a:r>
            <a:r>
              <a:rPr lang="en-US" altLang="zh-CN" i="1"/>
              <a:t>n</a:t>
            </a:r>
            <a:r>
              <a:rPr lang="zh-CN" altLang="en-US"/>
              <a:t>，</a:t>
            </a:r>
            <a:br>
              <a:rPr lang="zh-CN" altLang="en-US"/>
            </a:br>
            <a:r>
              <a:rPr lang="zh-CN" altLang="en-US"/>
              <a:t>对于</a:t>
            </a:r>
            <a:r>
              <a:rPr lang="en-US" altLang="zh-CN" i="1"/>
              <a:t>n</a:t>
            </a:r>
            <a:r>
              <a:rPr lang="en-US" altLang="zh-CN"/>
              <a:t>≥100, </a:t>
            </a:r>
            <a:r>
              <a:rPr lang="zh-CN" altLang="en-US"/>
              <a:t>有</a:t>
            </a:r>
            <a:r>
              <a:rPr lang="en-US" altLang="zh-CN"/>
              <a:t>100</a:t>
            </a:r>
            <a:r>
              <a:rPr lang="en-US" altLang="zh-CN" i="1"/>
              <a:t>n</a:t>
            </a:r>
            <a:r>
              <a:rPr lang="en-US" altLang="zh-CN"/>
              <a:t>≤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zh-CN" altLang="en-US"/>
              <a:t>，</a:t>
            </a:r>
            <a:br>
              <a:rPr lang="zh-CN" altLang="en-US"/>
            </a:br>
            <a:r>
              <a:rPr lang="zh-CN" altLang="en-US"/>
              <a:t>因此对于</a:t>
            </a:r>
            <a:r>
              <a:rPr lang="en-US" altLang="zh-CN" i="1"/>
              <a:t>n</a:t>
            </a:r>
            <a:r>
              <a:rPr lang="en-US" altLang="zh-CN"/>
              <a:t>≥</a:t>
            </a:r>
            <a:r>
              <a:rPr lang="en-US" altLang="zh-CN" i="1"/>
              <a:t>n</a:t>
            </a:r>
            <a:r>
              <a:rPr lang="en-US" altLang="zh-CN" baseline="-25000"/>
              <a:t>0 </a:t>
            </a:r>
            <a:r>
              <a:rPr lang="en-US" altLang="zh-CN"/>
              <a:t>=100</a:t>
            </a:r>
            <a:r>
              <a:rPr lang="zh-CN" altLang="en-US"/>
              <a:t>，有</a:t>
            </a:r>
            <a:r>
              <a:rPr lang="en-US" altLang="zh-CN" i="1"/>
              <a:t>f 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)&lt;1001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zh-CN" altLang="en-US"/>
              <a:t>，</a:t>
            </a:r>
            <a:br>
              <a:rPr lang="zh-CN" altLang="en-US"/>
            </a:br>
            <a:r>
              <a:rPr lang="zh-CN" altLang="en-US"/>
              <a:t>所以</a:t>
            </a: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)=O(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)</a:t>
            </a:r>
          </a:p>
        </p:txBody>
      </p:sp>
      <p:grpSp>
        <p:nvGrpSpPr>
          <p:cNvPr id="78852" name="组合 3"/>
          <p:cNvGrpSpPr>
            <a:grpSpLocks/>
          </p:cNvGrpSpPr>
          <p:nvPr/>
        </p:nvGrpSpPr>
        <p:grpSpPr bwMode="auto">
          <a:xfrm>
            <a:off x="4751388" y="558800"/>
            <a:ext cx="4125912" cy="1435100"/>
            <a:chOff x="4392612" y="558792"/>
            <a:chExt cx="4125924" cy="1435104"/>
          </a:xfrm>
        </p:grpSpPr>
        <p:sp>
          <p:nvSpPr>
            <p:cNvPr id="5" name="竖卷形 4"/>
            <p:cNvSpPr/>
            <p:nvPr/>
          </p:nvSpPr>
          <p:spPr bwMode="auto">
            <a:xfrm>
              <a:off x="4392612" y="558792"/>
              <a:ext cx="4125924" cy="1435104"/>
            </a:xfrm>
            <a:prstGeom prst="verticalScroll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78854" name="圆角矩形 5"/>
            <p:cNvSpPr>
              <a:spLocks noChangeArrowheads="1"/>
            </p:cNvSpPr>
            <p:nvPr/>
          </p:nvSpPr>
          <p:spPr bwMode="auto">
            <a:xfrm>
              <a:off x="4572000" y="738180"/>
              <a:ext cx="3767148" cy="1255716"/>
            </a:xfrm>
            <a:prstGeom prst="roundRect">
              <a:avLst>
                <a:gd name="adj" fmla="val 16667"/>
              </a:avLst>
            </a:prstGeom>
            <a:noFill/>
            <a:ln w="9525" algn="ctr">
              <a:noFill/>
              <a:round/>
              <a:headEnd/>
              <a:tailEnd/>
            </a:ln>
          </p:spPr>
          <p:txBody>
            <a:bodyPr lIns="0" tIns="0" rIns="182880" bIns="0"/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f(n)=O(g(n)),</a:t>
              </a:r>
              <a:r>
                <a:rPr lang="zh-CN" altLang="en-US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当且仅当存在正常数</a:t>
              </a:r>
              <a:r>
                <a:rPr lang="en-US" altLang="zh-CN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c</a:t>
              </a:r>
              <a:r>
                <a:rPr lang="zh-CN" altLang="en-US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和</a:t>
              </a:r>
              <a:r>
                <a:rPr lang="en-US" altLang="zh-CN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n</a:t>
              </a:r>
              <a:r>
                <a:rPr lang="en-US" altLang="zh-CN" sz="2400" baseline="-250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0,</a:t>
              </a:r>
              <a:r>
                <a:rPr lang="zh-CN" altLang="en-US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使得对所有</a:t>
              </a:r>
              <a:r>
                <a:rPr lang="en-US" altLang="zh-CN" sz="2400" i="1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n</a:t>
              </a:r>
              <a:r>
                <a:rPr lang="en-US" altLang="zh-CN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≥</a:t>
              </a:r>
              <a:r>
                <a:rPr lang="en-US" altLang="zh-CN" sz="2400" i="1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n</a:t>
              </a:r>
              <a:r>
                <a:rPr lang="en-US" altLang="zh-CN" sz="2400" baseline="-250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0</a:t>
              </a:r>
              <a:r>
                <a:rPr lang="en-US" altLang="zh-CN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, </a:t>
              </a:r>
              <a:r>
                <a:rPr lang="zh-CN" altLang="en-US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有</a:t>
              </a:r>
              <a:r>
                <a:rPr lang="en-US" altLang="zh-CN" sz="2400" i="1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f</a:t>
              </a:r>
              <a:r>
                <a:rPr lang="en-US" altLang="zh-CN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(</a:t>
              </a:r>
              <a:r>
                <a:rPr lang="en-US" altLang="zh-CN" sz="2400" i="1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n</a:t>
              </a:r>
              <a:r>
                <a:rPr lang="en-US" altLang="zh-CN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)≤</a:t>
              </a:r>
              <a:r>
                <a:rPr lang="en-US" altLang="zh-CN" sz="2400" i="1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cg</a:t>
              </a:r>
              <a:r>
                <a:rPr lang="en-US" altLang="zh-CN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(</a:t>
              </a:r>
              <a:r>
                <a:rPr lang="en-US" altLang="zh-CN" sz="2400" i="1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n</a:t>
              </a:r>
              <a:r>
                <a:rPr lang="en-US" altLang="zh-CN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)</a:t>
              </a:r>
              <a:endParaRPr lang="zh-CN" altLang="en-US" sz="2400"/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大</a:t>
            </a:r>
            <a:r>
              <a:rPr lang="en-US" altLang="zh-CN"/>
              <a:t>O</a:t>
            </a:r>
            <a:r>
              <a:rPr lang="zh-CN" altLang="en-US"/>
              <a:t>符号例子（续）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指数函数</a:t>
            </a:r>
          </a:p>
          <a:p>
            <a:pPr lvl="1" eaLnBrk="1" hangingPunct="1"/>
            <a:r>
              <a:rPr lang="en-US" altLang="zh-CN" i="1"/>
              <a:t>f 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)=6*2</a:t>
            </a:r>
            <a:r>
              <a:rPr lang="en-US" altLang="zh-CN" i="1" baseline="30000"/>
              <a:t>n</a:t>
            </a:r>
            <a:r>
              <a:rPr lang="en-US" altLang="zh-CN"/>
              <a:t>+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br>
              <a:rPr lang="en-US" altLang="zh-CN" baseline="30000"/>
            </a:br>
            <a:r>
              <a:rPr lang="en-US" altLang="zh-CN" i="1"/>
              <a:t>n</a:t>
            </a:r>
            <a:r>
              <a:rPr lang="en-US" altLang="zh-CN"/>
              <a:t>≥4</a:t>
            </a:r>
            <a:r>
              <a:rPr lang="zh-CN" altLang="en-US"/>
              <a:t>时，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 ≤2</a:t>
            </a:r>
            <a:r>
              <a:rPr lang="en-US" altLang="zh-CN" i="1" baseline="30000"/>
              <a:t>n</a:t>
            </a:r>
            <a:r>
              <a:rPr lang="zh-CN" altLang="en-US"/>
              <a:t>，</a:t>
            </a:r>
            <a:br>
              <a:rPr lang="zh-CN" altLang="en-US"/>
            </a:br>
            <a:r>
              <a:rPr lang="zh-CN" altLang="en-US"/>
              <a:t>所以对于</a:t>
            </a:r>
            <a:r>
              <a:rPr lang="en-US" altLang="zh-CN" i="1"/>
              <a:t>n</a:t>
            </a:r>
            <a:r>
              <a:rPr lang="en-US" altLang="zh-CN"/>
              <a:t>≥4</a:t>
            </a:r>
            <a:r>
              <a:rPr lang="zh-CN" altLang="en-US"/>
              <a:t>，</a:t>
            </a: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)≤6*2</a:t>
            </a:r>
            <a:r>
              <a:rPr lang="en-US" altLang="zh-CN" i="1" baseline="30000"/>
              <a:t>n</a:t>
            </a:r>
            <a:r>
              <a:rPr lang="en-US" altLang="zh-CN"/>
              <a:t>+2</a:t>
            </a:r>
            <a:r>
              <a:rPr lang="en-US" altLang="zh-CN" i="1" baseline="30000"/>
              <a:t>n</a:t>
            </a:r>
            <a:r>
              <a:rPr lang="en-US" altLang="zh-CN"/>
              <a:t>=7*2</a:t>
            </a:r>
            <a:r>
              <a:rPr lang="en-US" altLang="zh-CN" i="1" baseline="30000"/>
              <a:t>n</a:t>
            </a:r>
            <a:r>
              <a:rPr lang="zh-CN" altLang="en-US" i="1"/>
              <a:t>，</a:t>
            </a:r>
            <a:br>
              <a:rPr lang="zh-CN" altLang="en-US" i="1"/>
            </a:br>
            <a:r>
              <a:rPr lang="zh-CN" altLang="en-US"/>
              <a:t>因此</a:t>
            </a:r>
            <a:r>
              <a:rPr lang="en-US" altLang="zh-CN"/>
              <a:t>6*2</a:t>
            </a:r>
            <a:r>
              <a:rPr lang="en-US" altLang="zh-CN" i="1" baseline="30000"/>
              <a:t>n</a:t>
            </a:r>
            <a:r>
              <a:rPr lang="en-US" altLang="zh-CN"/>
              <a:t>+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=O(2</a:t>
            </a:r>
            <a:r>
              <a:rPr lang="en-US" altLang="zh-CN" i="1" baseline="30000"/>
              <a:t>n</a:t>
            </a:r>
            <a:r>
              <a:rPr lang="en-US" altLang="zh-CN"/>
              <a:t>)</a:t>
            </a:r>
          </a:p>
          <a:p>
            <a:pPr eaLnBrk="1" hangingPunct="1"/>
            <a:r>
              <a:rPr lang="zh-CN" altLang="en-US"/>
              <a:t>常数函数</a:t>
            </a:r>
          </a:p>
          <a:p>
            <a:pPr lvl="1" eaLnBrk="1" hangingPunct="1"/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)=9</a:t>
            </a:r>
            <a:r>
              <a:rPr lang="zh-CN" altLang="en-US"/>
              <a:t>或</a:t>
            </a: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)=2033</a:t>
            </a:r>
            <a:r>
              <a:rPr lang="zh-CN" altLang="en-US"/>
              <a:t>，</a:t>
            </a:r>
            <a:r>
              <a:rPr lang="en-US" altLang="zh-CN" i="1"/>
              <a:t>f 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)=O (1)</a:t>
            </a:r>
            <a:r>
              <a:rPr lang="zh-CN" altLang="en-US"/>
              <a:t>，证明很简单：</a:t>
            </a:r>
            <a:br>
              <a:rPr lang="zh-CN" altLang="en-US"/>
            </a:b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)=9≤9*1</a:t>
            </a:r>
            <a:r>
              <a:rPr lang="zh-CN" altLang="en-US"/>
              <a:t>，</a:t>
            </a:r>
            <a:r>
              <a:rPr lang="en-US" altLang="zh-CN" i="1"/>
              <a:t>c</a:t>
            </a:r>
            <a:r>
              <a:rPr lang="en-US" altLang="zh-CN"/>
              <a:t>=9</a:t>
            </a:r>
            <a:r>
              <a:rPr lang="zh-CN" altLang="en-US"/>
              <a:t>、</a:t>
            </a:r>
            <a:r>
              <a:rPr lang="en-US" altLang="zh-CN" i="1"/>
              <a:t>n</a:t>
            </a:r>
            <a:r>
              <a:rPr lang="en-US" altLang="zh-CN" baseline="-25000"/>
              <a:t>0</a:t>
            </a:r>
            <a:r>
              <a:rPr lang="en-US" altLang="zh-CN"/>
              <a:t>=0</a:t>
            </a:r>
            <a:br>
              <a:rPr lang="en-US" altLang="zh-CN"/>
            </a:br>
            <a:r>
              <a:rPr lang="en-US" altLang="zh-CN" i="1"/>
              <a:t>f 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)=2033≤2033*1</a:t>
            </a:r>
            <a:r>
              <a:rPr lang="zh-CN" altLang="en-US"/>
              <a:t>，</a:t>
            </a:r>
            <a:r>
              <a:rPr lang="en-US" altLang="zh-CN" i="1"/>
              <a:t>c</a:t>
            </a:r>
            <a:r>
              <a:rPr lang="en-US" altLang="zh-CN"/>
              <a:t>=2033</a:t>
            </a:r>
            <a:r>
              <a:rPr lang="zh-CN" altLang="en-US"/>
              <a:t>、</a:t>
            </a:r>
            <a:r>
              <a:rPr lang="en-US" altLang="zh-CN" i="1"/>
              <a:t>n</a:t>
            </a:r>
            <a:r>
              <a:rPr lang="en-US" altLang="zh-CN" baseline="-25000"/>
              <a:t>0</a:t>
            </a:r>
            <a:r>
              <a:rPr lang="en-US" altLang="zh-CN"/>
              <a:t>=0</a:t>
            </a:r>
          </a:p>
        </p:txBody>
      </p:sp>
      <p:grpSp>
        <p:nvGrpSpPr>
          <p:cNvPr id="79876" name="组合 3"/>
          <p:cNvGrpSpPr>
            <a:grpSpLocks/>
          </p:cNvGrpSpPr>
          <p:nvPr/>
        </p:nvGrpSpPr>
        <p:grpSpPr bwMode="auto">
          <a:xfrm>
            <a:off x="4751388" y="558800"/>
            <a:ext cx="4125912" cy="1435100"/>
            <a:chOff x="4392612" y="558792"/>
            <a:chExt cx="4125924" cy="1435104"/>
          </a:xfrm>
        </p:grpSpPr>
        <p:sp>
          <p:nvSpPr>
            <p:cNvPr id="5" name="竖卷形 4"/>
            <p:cNvSpPr/>
            <p:nvPr/>
          </p:nvSpPr>
          <p:spPr bwMode="auto">
            <a:xfrm>
              <a:off x="4392612" y="558792"/>
              <a:ext cx="4125924" cy="1435104"/>
            </a:xfrm>
            <a:prstGeom prst="verticalScroll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79878" name="圆角矩形 5"/>
            <p:cNvSpPr>
              <a:spLocks noChangeArrowheads="1"/>
            </p:cNvSpPr>
            <p:nvPr/>
          </p:nvSpPr>
          <p:spPr bwMode="auto">
            <a:xfrm>
              <a:off x="4572000" y="738180"/>
              <a:ext cx="3767148" cy="1255716"/>
            </a:xfrm>
            <a:prstGeom prst="roundRect">
              <a:avLst>
                <a:gd name="adj" fmla="val 16667"/>
              </a:avLst>
            </a:prstGeom>
            <a:noFill/>
            <a:ln w="9525" algn="ctr">
              <a:noFill/>
              <a:round/>
              <a:headEnd/>
              <a:tailEnd/>
            </a:ln>
          </p:spPr>
          <p:txBody>
            <a:bodyPr lIns="0" tIns="0" rIns="182880" bIns="0"/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f(n)=O(g(n)),</a:t>
              </a:r>
              <a:r>
                <a:rPr lang="zh-CN" altLang="en-US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当且仅当存在正常数</a:t>
              </a:r>
              <a:r>
                <a:rPr lang="en-US" altLang="zh-CN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c</a:t>
              </a:r>
              <a:r>
                <a:rPr lang="zh-CN" altLang="en-US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和</a:t>
              </a:r>
              <a:r>
                <a:rPr lang="en-US" altLang="zh-CN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n</a:t>
              </a:r>
              <a:r>
                <a:rPr lang="en-US" altLang="zh-CN" sz="2400" baseline="-250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0,</a:t>
              </a:r>
              <a:r>
                <a:rPr lang="zh-CN" altLang="en-US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使得对所有</a:t>
              </a:r>
              <a:r>
                <a:rPr lang="en-US" altLang="zh-CN" sz="2400" i="1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n</a:t>
              </a:r>
              <a:r>
                <a:rPr lang="en-US" altLang="zh-CN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≥</a:t>
              </a:r>
              <a:r>
                <a:rPr lang="en-US" altLang="zh-CN" sz="2400" i="1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n</a:t>
              </a:r>
              <a:r>
                <a:rPr lang="en-US" altLang="zh-CN" sz="2400" baseline="-250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0</a:t>
              </a:r>
              <a:r>
                <a:rPr lang="en-US" altLang="zh-CN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, </a:t>
              </a:r>
              <a:r>
                <a:rPr lang="zh-CN" altLang="en-US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有</a:t>
              </a:r>
              <a:r>
                <a:rPr lang="en-US" altLang="zh-CN" sz="2400" i="1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f</a:t>
              </a:r>
              <a:r>
                <a:rPr lang="en-US" altLang="zh-CN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(</a:t>
              </a:r>
              <a:r>
                <a:rPr lang="en-US" altLang="zh-CN" sz="2400" i="1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n</a:t>
              </a:r>
              <a:r>
                <a:rPr lang="en-US" altLang="zh-CN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)≤</a:t>
              </a:r>
              <a:r>
                <a:rPr lang="en-US" altLang="zh-CN" sz="2400" i="1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cg</a:t>
              </a:r>
              <a:r>
                <a:rPr lang="en-US" altLang="zh-CN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(</a:t>
              </a:r>
              <a:r>
                <a:rPr lang="en-US" altLang="zh-CN" sz="2400" i="1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n</a:t>
              </a:r>
              <a:r>
                <a:rPr lang="en-US" altLang="zh-CN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)</a:t>
              </a:r>
              <a:endParaRPr lang="zh-CN" altLang="en-US" sz="2400"/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大</a:t>
            </a:r>
            <a:r>
              <a:rPr lang="en-US" altLang="zh-CN"/>
              <a:t>O</a:t>
            </a:r>
            <a:r>
              <a:rPr lang="zh-CN" altLang="en-US"/>
              <a:t>符号例子（续）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松散界限</a:t>
            </a:r>
          </a:p>
          <a:p>
            <a:pPr lvl="1" eaLnBrk="1" hangingPunct="1"/>
            <a:r>
              <a:rPr lang="zh-CN" altLang="en-US"/>
              <a:t>当</a:t>
            </a:r>
            <a:r>
              <a:rPr lang="en-US" altLang="zh-CN" i="1"/>
              <a:t>n</a:t>
            </a:r>
            <a:r>
              <a:rPr lang="en-US" altLang="zh-CN"/>
              <a:t>≥2</a:t>
            </a:r>
            <a:r>
              <a:rPr lang="zh-CN" altLang="en-US"/>
              <a:t>时，</a:t>
            </a:r>
            <a:r>
              <a:rPr lang="en-US" altLang="zh-CN"/>
              <a:t>3</a:t>
            </a:r>
            <a:r>
              <a:rPr lang="en-US" altLang="zh-CN" i="1"/>
              <a:t>n</a:t>
            </a:r>
            <a:r>
              <a:rPr lang="en-US" altLang="zh-CN"/>
              <a:t>+3≤3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>
                <a:sym typeface="Wingdings" pitchFamily="2" charset="2"/>
              </a:rPr>
              <a:t></a:t>
            </a:r>
            <a:r>
              <a:rPr lang="en-US" altLang="zh-CN"/>
              <a:t>3</a:t>
            </a:r>
            <a:r>
              <a:rPr lang="en-US" altLang="zh-CN" i="1"/>
              <a:t>n</a:t>
            </a:r>
            <a:r>
              <a:rPr lang="en-US" altLang="zh-CN"/>
              <a:t>+3=O(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)</a:t>
            </a:r>
            <a:r>
              <a:rPr lang="zh-CN" altLang="en-US"/>
              <a:t>，不是最小上界</a:t>
            </a:r>
          </a:p>
          <a:p>
            <a:pPr lvl="1" eaLnBrk="1" hangingPunct="1"/>
            <a:r>
              <a:rPr lang="zh-CN" altLang="en-US"/>
              <a:t>当</a:t>
            </a:r>
            <a:r>
              <a:rPr lang="en-US" altLang="zh-CN" i="1"/>
              <a:t>n</a:t>
            </a:r>
            <a:r>
              <a:rPr lang="en-US" altLang="zh-CN"/>
              <a:t>≥2</a:t>
            </a:r>
            <a:r>
              <a:rPr lang="zh-CN" altLang="en-US"/>
              <a:t>时，</a:t>
            </a:r>
            <a:r>
              <a:rPr lang="en-US" altLang="zh-CN"/>
              <a:t>10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+4</a:t>
            </a:r>
            <a:r>
              <a:rPr lang="en-US" altLang="zh-CN" i="1"/>
              <a:t>n</a:t>
            </a:r>
            <a:r>
              <a:rPr lang="en-US" altLang="zh-CN"/>
              <a:t>+2≤10</a:t>
            </a:r>
            <a:r>
              <a:rPr lang="en-US" altLang="zh-CN" i="1"/>
              <a:t>n</a:t>
            </a:r>
            <a:r>
              <a:rPr lang="en-US" altLang="zh-CN" baseline="30000"/>
              <a:t>4</a:t>
            </a:r>
            <a:r>
              <a:rPr lang="en-US" altLang="zh-CN">
                <a:sym typeface="Wingdings" pitchFamily="2" charset="2"/>
              </a:rPr>
              <a:t></a:t>
            </a:r>
            <a:r>
              <a:rPr lang="en-US" altLang="zh-CN"/>
              <a:t>10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+4</a:t>
            </a:r>
            <a:r>
              <a:rPr lang="en-US" altLang="zh-CN" i="1"/>
              <a:t>n</a:t>
            </a:r>
            <a:r>
              <a:rPr lang="en-US" altLang="zh-CN"/>
              <a:t>+2=O(</a:t>
            </a:r>
            <a:r>
              <a:rPr lang="en-US" altLang="zh-CN" i="1"/>
              <a:t>n</a:t>
            </a:r>
            <a:r>
              <a:rPr lang="en-US" altLang="zh-CN" baseline="30000"/>
              <a:t>4</a:t>
            </a:r>
            <a:r>
              <a:rPr lang="en-US" altLang="zh-CN"/>
              <a:t>) </a:t>
            </a:r>
          </a:p>
          <a:p>
            <a:pPr lvl="1" eaLnBrk="1" hangingPunct="1"/>
            <a:r>
              <a:rPr lang="en-US" altLang="zh-CN"/>
              <a:t>6</a:t>
            </a:r>
            <a:r>
              <a:rPr lang="en-US" altLang="zh-CN" i="1"/>
              <a:t>n</a:t>
            </a:r>
            <a:r>
              <a:rPr lang="en-US" altLang="zh-CN"/>
              <a:t>2</a:t>
            </a:r>
            <a:r>
              <a:rPr lang="en-US" altLang="zh-CN" i="1" baseline="30000"/>
              <a:t>n</a:t>
            </a:r>
            <a:r>
              <a:rPr lang="en-US" altLang="zh-CN"/>
              <a:t>+20=O(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2</a:t>
            </a:r>
            <a:r>
              <a:rPr lang="en-US" altLang="zh-CN" i="1" baseline="30000"/>
              <a:t>n</a:t>
            </a:r>
            <a:r>
              <a:rPr lang="en-US" altLang="zh-CN"/>
              <a:t>)</a:t>
            </a:r>
            <a:r>
              <a:rPr lang="zh-CN" altLang="en-US"/>
              <a:t>，更小上界</a:t>
            </a:r>
            <a:r>
              <a:rPr lang="en-US" altLang="zh-CN" i="1"/>
              <a:t>n</a:t>
            </a:r>
            <a:r>
              <a:rPr lang="en-US" altLang="zh-CN"/>
              <a:t>2</a:t>
            </a:r>
            <a:r>
              <a:rPr lang="en-US" altLang="zh-CN" i="1" baseline="30000"/>
              <a:t>n</a:t>
            </a:r>
            <a:endParaRPr lang="en-US" altLang="zh-CN"/>
          </a:p>
          <a:p>
            <a:pPr eaLnBrk="1" hangingPunct="1"/>
            <a:r>
              <a:rPr lang="zh-CN" altLang="en-US"/>
              <a:t>逐步用更低阶的函数替换高阶函数，直到找到最小上界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错误界限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</a:t>
            </a:r>
            <a:r>
              <a:rPr lang="en-US" altLang="zh-CN" i="1"/>
              <a:t>n</a:t>
            </a:r>
            <a:r>
              <a:rPr lang="en-US" altLang="zh-CN"/>
              <a:t>+2≠O(1)</a:t>
            </a:r>
            <a:r>
              <a:rPr lang="zh-CN" altLang="en-US"/>
              <a:t>，反证法：</a:t>
            </a:r>
          </a:p>
          <a:p>
            <a:pPr lvl="1" eaLnBrk="1" hangingPunct="1"/>
            <a:r>
              <a:rPr lang="zh-CN" altLang="en-US"/>
              <a:t>假定存在</a:t>
            </a:r>
            <a:r>
              <a:rPr lang="en-US" altLang="zh-CN" i="1"/>
              <a:t>c</a:t>
            </a:r>
            <a:r>
              <a:rPr lang="zh-CN" altLang="en-US"/>
              <a:t>及</a:t>
            </a:r>
            <a:r>
              <a:rPr lang="en-US" altLang="zh-CN" i="1"/>
              <a:t>n</a:t>
            </a:r>
            <a:r>
              <a:rPr lang="en-US" altLang="zh-CN" baseline="-25000"/>
              <a:t>0</a:t>
            </a:r>
            <a:r>
              <a:rPr lang="zh-CN" altLang="en-US"/>
              <a:t>，使得对所有的</a:t>
            </a:r>
            <a:r>
              <a:rPr lang="en-US" altLang="zh-CN" i="1"/>
              <a:t>n</a:t>
            </a:r>
            <a:r>
              <a:rPr lang="en-US" altLang="zh-CN"/>
              <a:t>≥</a:t>
            </a:r>
            <a:r>
              <a:rPr lang="en-US" altLang="zh-CN" i="1"/>
              <a:t>n</a:t>
            </a:r>
            <a:r>
              <a:rPr lang="en-US" altLang="zh-CN" baseline="-25000"/>
              <a:t>0</a:t>
            </a:r>
            <a:r>
              <a:rPr lang="zh-CN" altLang="en-US"/>
              <a:t>，</a:t>
            </a:r>
            <a:br>
              <a:rPr lang="zh-CN" altLang="en-US"/>
            </a:br>
            <a:r>
              <a:rPr lang="zh-CN" altLang="en-US"/>
              <a:t>有</a:t>
            </a:r>
            <a:r>
              <a:rPr lang="en-US" altLang="zh-CN"/>
              <a:t>3</a:t>
            </a:r>
            <a:r>
              <a:rPr lang="en-US" altLang="zh-CN" i="1"/>
              <a:t>n</a:t>
            </a:r>
            <a:r>
              <a:rPr lang="en-US" altLang="zh-CN"/>
              <a:t>+2≤</a:t>
            </a:r>
            <a:r>
              <a:rPr lang="en-US" altLang="zh-CN" i="1"/>
              <a:t>c</a:t>
            </a:r>
            <a:r>
              <a:rPr lang="en-US" altLang="zh-CN">
                <a:sym typeface="Wingdings" pitchFamily="2" charset="2"/>
              </a:rPr>
              <a:t></a:t>
            </a:r>
            <a:r>
              <a:rPr lang="en-US" altLang="zh-CN" i="1"/>
              <a:t>n</a:t>
            </a:r>
            <a:r>
              <a:rPr lang="en-US" altLang="zh-CN"/>
              <a:t>≤(</a:t>
            </a:r>
            <a:r>
              <a:rPr lang="en-US" altLang="zh-CN" i="1"/>
              <a:t>c</a:t>
            </a:r>
            <a:r>
              <a:rPr lang="en-US" altLang="zh-CN"/>
              <a:t>-2)/3</a:t>
            </a:r>
            <a:r>
              <a:rPr lang="zh-CN" altLang="en-US"/>
              <a:t>，</a:t>
            </a:r>
            <a:br>
              <a:rPr lang="zh-CN" altLang="en-US"/>
            </a:br>
            <a:r>
              <a:rPr lang="zh-CN" altLang="en-US"/>
              <a:t>因此取</a:t>
            </a:r>
            <a:r>
              <a:rPr lang="en-US" altLang="zh-CN" i="1"/>
              <a:t>n</a:t>
            </a:r>
            <a:r>
              <a:rPr lang="en-US" altLang="zh-CN"/>
              <a:t>&gt;max{</a:t>
            </a:r>
            <a:r>
              <a:rPr lang="en-US" altLang="zh-CN" i="1"/>
              <a:t>n</a:t>
            </a:r>
            <a:r>
              <a:rPr lang="en-US" altLang="zh-CN" baseline="-25000"/>
              <a:t>0</a:t>
            </a:r>
            <a:r>
              <a:rPr lang="en-US" altLang="zh-CN"/>
              <a:t>, (</a:t>
            </a:r>
            <a:r>
              <a:rPr lang="en-US" altLang="zh-CN" i="1"/>
              <a:t>c</a:t>
            </a:r>
            <a:r>
              <a:rPr lang="en-US" altLang="zh-CN"/>
              <a:t>-2)/3}</a:t>
            </a:r>
            <a:r>
              <a:rPr lang="zh-CN" altLang="en-US"/>
              <a:t>，矛盾！</a:t>
            </a:r>
          </a:p>
          <a:p>
            <a:pPr eaLnBrk="1" hangingPunct="1"/>
            <a:r>
              <a:rPr lang="en-US" altLang="zh-CN"/>
              <a:t>10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+4</a:t>
            </a:r>
            <a:r>
              <a:rPr lang="en-US" altLang="zh-CN" i="1"/>
              <a:t>n</a:t>
            </a:r>
            <a:r>
              <a:rPr lang="en-US" altLang="zh-CN"/>
              <a:t>+2≠O(</a:t>
            </a:r>
            <a:r>
              <a:rPr lang="en-US" altLang="zh-CN" i="1"/>
              <a:t>n</a:t>
            </a:r>
            <a:r>
              <a:rPr lang="en-US" altLang="zh-CN"/>
              <a:t>)</a:t>
            </a:r>
          </a:p>
          <a:p>
            <a:pPr lvl="1" eaLnBrk="1" hangingPunct="1"/>
            <a:r>
              <a:rPr lang="zh-CN" altLang="en-US"/>
              <a:t>假定存在</a:t>
            </a:r>
            <a:r>
              <a:rPr lang="en-US" altLang="zh-CN" i="1"/>
              <a:t>c</a:t>
            </a:r>
            <a:r>
              <a:rPr lang="zh-CN" altLang="en-US"/>
              <a:t>和</a:t>
            </a:r>
            <a:r>
              <a:rPr lang="en-US" altLang="zh-CN" i="1"/>
              <a:t>n</a:t>
            </a:r>
            <a:r>
              <a:rPr lang="en-US" altLang="zh-CN" baseline="-25000"/>
              <a:t>0</a:t>
            </a:r>
            <a:r>
              <a:rPr lang="en-US" altLang="zh-CN"/>
              <a:t>,</a:t>
            </a:r>
            <a:r>
              <a:rPr lang="zh-CN" altLang="en-US"/>
              <a:t>使得对于所有的</a:t>
            </a:r>
            <a:r>
              <a:rPr lang="en-US" altLang="zh-CN" i="1"/>
              <a:t>n</a:t>
            </a:r>
            <a:r>
              <a:rPr lang="en-US" altLang="zh-CN"/>
              <a:t>≥</a:t>
            </a:r>
            <a:r>
              <a:rPr lang="en-US" altLang="zh-CN" i="1"/>
              <a:t>n</a:t>
            </a:r>
            <a:r>
              <a:rPr lang="en-US" altLang="zh-CN" baseline="-25000"/>
              <a:t>0</a:t>
            </a:r>
            <a:r>
              <a:rPr lang="zh-CN" altLang="en-US"/>
              <a:t>，</a:t>
            </a:r>
            <a:br>
              <a:rPr lang="zh-CN" altLang="en-US"/>
            </a:br>
            <a:r>
              <a:rPr lang="zh-CN" altLang="en-US"/>
              <a:t>有</a:t>
            </a:r>
            <a:r>
              <a:rPr lang="en-US" altLang="zh-CN"/>
              <a:t>10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+4</a:t>
            </a:r>
            <a:r>
              <a:rPr lang="en-US" altLang="zh-CN" i="1"/>
              <a:t>n</a:t>
            </a:r>
            <a:r>
              <a:rPr lang="en-US" altLang="zh-CN"/>
              <a:t>+2≤</a:t>
            </a:r>
            <a:r>
              <a:rPr lang="en-US" altLang="zh-CN" i="1"/>
              <a:t>cn</a:t>
            </a:r>
            <a:r>
              <a:rPr lang="en-US" altLang="zh-CN">
                <a:sym typeface="Wingdings" pitchFamily="2" charset="2"/>
              </a:rPr>
              <a:t></a:t>
            </a:r>
            <a:r>
              <a:rPr lang="en-US" altLang="zh-CN"/>
              <a:t>10</a:t>
            </a:r>
            <a:r>
              <a:rPr lang="en-US" altLang="zh-CN" i="1"/>
              <a:t>n</a:t>
            </a:r>
            <a:r>
              <a:rPr lang="en-US" altLang="zh-CN"/>
              <a:t>+4+2/</a:t>
            </a:r>
            <a:r>
              <a:rPr lang="en-US" altLang="zh-CN" i="1"/>
              <a:t>n</a:t>
            </a:r>
            <a:r>
              <a:rPr lang="en-US" altLang="zh-CN"/>
              <a:t>≤</a:t>
            </a:r>
            <a:r>
              <a:rPr lang="en-US" altLang="zh-CN" i="1"/>
              <a:t>c</a:t>
            </a:r>
            <a:br>
              <a:rPr lang="en-US" altLang="zh-CN" i="1"/>
            </a:br>
            <a:r>
              <a:rPr lang="zh-CN" altLang="en-US"/>
              <a:t>取</a:t>
            </a:r>
            <a:r>
              <a:rPr lang="en-US" altLang="zh-CN" i="1"/>
              <a:t>n</a:t>
            </a:r>
            <a:r>
              <a:rPr lang="en-US" altLang="zh-CN"/>
              <a:t>&gt;max{</a:t>
            </a:r>
            <a:r>
              <a:rPr lang="en-US" altLang="zh-CN" i="1"/>
              <a:t>n</a:t>
            </a:r>
            <a:r>
              <a:rPr lang="en-US" altLang="zh-CN" baseline="-25000"/>
              <a:t>0</a:t>
            </a:r>
            <a:r>
              <a:rPr lang="en-US" altLang="zh-CN"/>
              <a:t>,(</a:t>
            </a:r>
            <a:r>
              <a:rPr lang="en-US" altLang="zh-CN" i="1"/>
              <a:t>c</a:t>
            </a:r>
            <a:r>
              <a:rPr lang="en-US" altLang="zh-CN"/>
              <a:t>-4)/10}</a:t>
            </a:r>
            <a:r>
              <a:rPr lang="zh-CN" altLang="en-US"/>
              <a:t>，矛盾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错误界限（续）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)=3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2</a:t>
            </a:r>
            <a:r>
              <a:rPr lang="en-US" altLang="zh-CN" i="1" baseline="30000"/>
              <a:t>n</a:t>
            </a:r>
            <a:r>
              <a:rPr lang="en-US" altLang="zh-CN"/>
              <a:t>+4</a:t>
            </a:r>
            <a:r>
              <a:rPr lang="en-US" altLang="zh-CN" i="1"/>
              <a:t>n</a:t>
            </a:r>
            <a:r>
              <a:rPr lang="en-US" altLang="zh-CN"/>
              <a:t>2</a:t>
            </a:r>
            <a:r>
              <a:rPr lang="en-US" altLang="zh-CN" i="1" baseline="30000"/>
              <a:t>n</a:t>
            </a:r>
            <a:r>
              <a:rPr lang="en-US" altLang="zh-CN"/>
              <a:t>+8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≠O(2</a:t>
            </a:r>
            <a:r>
              <a:rPr lang="en-US" altLang="zh-CN" i="1" baseline="30000"/>
              <a:t>n</a:t>
            </a:r>
            <a:r>
              <a:rPr lang="en-US" altLang="zh-CN"/>
              <a:t>)</a:t>
            </a:r>
          </a:p>
          <a:p>
            <a:pPr lvl="1" eaLnBrk="1" hangingPunct="1"/>
            <a:r>
              <a:rPr lang="zh-CN" altLang="en-US"/>
              <a:t>假定存在</a:t>
            </a:r>
            <a:r>
              <a:rPr lang="en-US" altLang="zh-CN" i="1"/>
              <a:t>c</a:t>
            </a:r>
            <a:r>
              <a:rPr lang="en-US" altLang="zh-CN"/>
              <a:t>&gt;0</a:t>
            </a:r>
            <a:r>
              <a:rPr lang="zh-CN" altLang="en-US"/>
              <a:t>和</a:t>
            </a:r>
            <a:r>
              <a:rPr lang="en-US" altLang="zh-CN" i="1"/>
              <a:t>n</a:t>
            </a:r>
            <a:r>
              <a:rPr lang="en-US" altLang="zh-CN" baseline="-25000"/>
              <a:t>0</a:t>
            </a:r>
            <a:r>
              <a:rPr lang="zh-CN" altLang="en-US"/>
              <a:t>，使得对于所有的</a:t>
            </a:r>
            <a:r>
              <a:rPr lang="en-US" altLang="zh-CN" i="1"/>
              <a:t>n</a:t>
            </a:r>
            <a:r>
              <a:rPr lang="en-US" altLang="zh-CN"/>
              <a:t>≥</a:t>
            </a:r>
            <a:r>
              <a:rPr lang="en-US" altLang="zh-CN" i="1"/>
              <a:t>n</a:t>
            </a:r>
            <a:r>
              <a:rPr lang="en-US" altLang="zh-CN" baseline="-25000"/>
              <a:t>0</a:t>
            </a:r>
            <a:r>
              <a:rPr lang="zh-CN" altLang="en-US"/>
              <a:t>，</a:t>
            </a:r>
            <a:br>
              <a:rPr lang="zh-CN" altLang="en-US"/>
            </a:br>
            <a:r>
              <a:rPr lang="zh-CN" altLang="en-US"/>
              <a:t>有</a:t>
            </a: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)≤</a:t>
            </a:r>
            <a:r>
              <a:rPr lang="en-US" altLang="zh-CN" i="1"/>
              <a:t>c</a:t>
            </a:r>
            <a:r>
              <a:rPr lang="en-US" altLang="zh-CN"/>
              <a:t>*2</a:t>
            </a:r>
            <a:r>
              <a:rPr lang="en-US" altLang="zh-CN" i="1" baseline="30000"/>
              <a:t>n</a:t>
            </a:r>
            <a:r>
              <a:rPr lang="en-US" altLang="zh-CN">
                <a:sym typeface="Wingdings" pitchFamily="2" charset="2"/>
              </a:rPr>
              <a:t></a:t>
            </a:r>
            <a:r>
              <a:rPr lang="en-US" altLang="zh-CN"/>
              <a:t>3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+4</a:t>
            </a:r>
            <a:r>
              <a:rPr lang="en-US" altLang="zh-CN" i="1"/>
              <a:t>n</a:t>
            </a:r>
            <a:r>
              <a:rPr lang="en-US" altLang="zh-CN"/>
              <a:t>+8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/2</a:t>
            </a:r>
            <a:r>
              <a:rPr lang="en-US" altLang="zh-CN" i="1" baseline="30000"/>
              <a:t>n</a:t>
            </a:r>
            <a:r>
              <a:rPr lang="en-US" altLang="zh-CN"/>
              <a:t>≤</a:t>
            </a:r>
            <a:r>
              <a:rPr lang="en-US" altLang="zh-CN" i="1"/>
              <a:t>c</a:t>
            </a:r>
            <a:r>
              <a:rPr lang="zh-CN" altLang="en-US" i="1"/>
              <a:t>，</a:t>
            </a:r>
            <a:br>
              <a:rPr lang="zh-CN" altLang="en-US" i="1"/>
            </a:br>
            <a:r>
              <a:rPr lang="zh-CN" altLang="en-US"/>
              <a:t>左边随着</a:t>
            </a:r>
            <a:r>
              <a:rPr lang="en-US" altLang="zh-CN" i="1"/>
              <a:t>n</a:t>
            </a:r>
            <a:r>
              <a:rPr lang="zh-CN" altLang="en-US"/>
              <a:t>的增长而增大，右边是常数</a:t>
            </a:r>
            <a:br>
              <a:rPr lang="zh-CN" altLang="en-US"/>
            </a:br>
            <a:r>
              <a:rPr lang="zh-CN" altLang="en-US"/>
              <a:t>取一个“足够大”的</a:t>
            </a:r>
            <a:r>
              <a:rPr lang="en-US" altLang="zh-CN"/>
              <a:t>n</a:t>
            </a:r>
            <a:r>
              <a:rPr lang="zh-CN" altLang="en-US"/>
              <a:t>，不等式不成立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多项式的阶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定理</a:t>
            </a:r>
            <a:r>
              <a:rPr lang="en-US" altLang="zh-CN">
                <a:solidFill>
                  <a:srgbClr val="FF0000"/>
                </a:solidFill>
              </a:rPr>
              <a:t>2-1</a:t>
            </a:r>
            <a:r>
              <a:rPr lang="zh-CN" altLang="en-US">
                <a:solidFill>
                  <a:srgbClr val="FF0000"/>
                </a:solidFill>
              </a:rPr>
              <a:t>：如果</a:t>
            </a:r>
            <a:r>
              <a:rPr lang="en-US" altLang="zh-CN" i="1">
                <a:solidFill>
                  <a:srgbClr val="FF0000"/>
                </a:solidFill>
              </a:rPr>
              <a:t>f</a:t>
            </a:r>
            <a:r>
              <a:rPr lang="en-US" altLang="zh-CN">
                <a:solidFill>
                  <a:srgbClr val="FF0000"/>
                </a:solidFill>
              </a:rPr>
              <a:t>(</a:t>
            </a:r>
            <a:r>
              <a:rPr lang="en-US" altLang="zh-CN" i="1">
                <a:solidFill>
                  <a:srgbClr val="FF0000"/>
                </a:solidFill>
              </a:rPr>
              <a:t>n</a:t>
            </a:r>
            <a:r>
              <a:rPr lang="en-US" altLang="zh-CN">
                <a:solidFill>
                  <a:srgbClr val="FF0000"/>
                </a:solidFill>
              </a:rPr>
              <a:t>)=</a:t>
            </a:r>
            <a:r>
              <a:rPr lang="en-US" altLang="zh-CN" i="1">
                <a:solidFill>
                  <a:srgbClr val="FF0000"/>
                </a:solidFill>
              </a:rPr>
              <a:t>a</a:t>
            </a:r>
            <a:r>
              <a:rPr lang="en-US" altLang="zh-CN" i="1" baseline="-25000">
                <a:solidFill>
                  <a:srgbClr val="FF0000"/>
                </a:solidFill>
              </a:rPr>
              <a:t>m</a:t>
            </a:r>
            <a:r>
              <a:rPr lang="en-US" altLang="zh-CN" i="1">
                <a:solidFill>
                  <a:srgbClr val="FF0000"/>
                </a:solidFill>
              </a:rPr>
              <a:t>n</a:t>
            </a:r>
            <a:r>
              <a:rPr lang="en-US" altLang="zh-CN" i="1" baseline="30000">
                <a:solidFill>
                  <a:srgbClr val="FF0000"/>
                </a:solidFill>
              </a:rPr>
              <a:t>m</a:t>
            </a:r>
            <a:r>
              <a:rPr lang="en-US" altLang="zh-CN">
                <a:solidFill>
                  <a:srgbClr val="FF0000"/>
                </a:solidFill>
              </a:rPr>
              <a:t>+…+</a:t>
            </a:r>
            <a:r>
              <a:rPr lang="en-US" altLang="zh-CN" i="1">
                <a:solidFill>
                  <a:srgbClr val="FF0000"/>
                </a:solidFill>
              </a:rPr>
              <a:t>a</a:t>
            </a:r>
            <a:r>
              <a:rPr lang="en-US" altLang="zh-CN" baseline="-25000">
                <a:solidFill>
                  <a:srgbClr val="FF0000"/>
                </a:solidFill>
              </a:rPr>
              <a:t>1</a:t>
            </a:r>
            <a:r>
              <a:rPr lang="en-US" altLang="zh-CN" i="1">
                <a:solidFill>
                  <a:srgbClr val="FF0000"/>
                </a:solidFill>
              </a:rPr>
              <a:t>n</a:t>
            </a:r>
            <a:r>
              <a:rPr lang="en-US" altLang="zh-CN">
                <a:solidFill>
                  <a:srgbClr val="FF0000"/>
                </a:solidFill>
              </a:rPr>
              <a:t>+</a:t>
            </a:r>
            <a:r>
              <a:rPr lang="en-US" altLang="zh-CN" i="1">
                <a:solidFill>
                  <a:srgbClr val="FF0000"/>
                </a:solidFill>
              </a:rPr>
              <a:t>a</a:t>
            </a:r>
            <a:r>
              <a:rPr lang="en-US" altLang="zh-CN" baseline="-25000">
                <a:solidFill>
                  <a:srgbClr val="FF0000"/>
                </a:solidFill>
              </a:rPr>
              <a:t>0</a:t>
            </a:r>
            <a:r>
              <a:rPr lang="zh-CN" altLang="en-US">
                <a:solidFill>
                  <a:srgbClr val="FF0000"/>
                </a:solidFill>
              </a:rPr>
              <a:t>且</a:t>
            </a:r>
            <a:r>
              <a:rPr lang="en-US" altLang="zh-CN" i="1">
                <a:solidFill>
                  <a:srgbClr val="FF0000"/>
                </a:solidFill>
              </a:rPr>
              <a:t>a</a:t>
            </a:r>
            <a:r>
              <a:rPr lang="en-US" altLang="zh-CN" i="1" baseline="-25000">
                <a:solidFill>
                  <a:srgbClr val="FF0000"/>
                </a:solidFill>
              </a:rPr>
              <a:t>m</a:t>
            </a:r>
            <a:r>
              <a:rPr lang="en-US" altLang="zh-CN">
                <a:solidFill>
                  <a:srgbClr val="FF0000"/>
                </a:solidFill>
              </a:rPr>
              <a:t>&gt;0</a:t>
            </a:r>
            <a:r>
              <a:rPr lang="zh-CN" altLang="en-US">
                <a:solidFill>
                  <a:srgbClr val="FF0000"/>
                </a:solidFill>
              </a:rPr>
              <a:t>，则</a:t>
            </a:r>
            <a:r>
              <a:rPr lang="en-US" altLang="zh-CN" i="1">
                <a:solidFill>
                  <a:srgbClr val="FF0000"/>
                </a:solidFill>
              </a:rPr>
              <a:t>f</a:t>
            </a:r>
            <a:r>
              <a:rPr lang="en-US" altLang="zh-CN">
                <a:solidFill>
                  <a:srgbClr val="FF0000"/>
                </a:solidFill>
              </a:rPr>
              <a:t>(</a:t>
            </a:r>
            <a:r>
              <a:rPr lang="en-US" altLang="zh-CN" i="1">
                <a:solidFill>
                  <a:srgbClr val="FF0000"/>
                </a:solidFill>
              </a:rPr>
              <a:t>n</a:t>
            </a:r>
            <a:r>
              <a:rPr lang="en-US" altLang="zh-CN">
                <a:solidFill>
                  <a:srgbClr val="FF0000"/>
                </a:solidFill>
              </a:rPr>
              <a:t>)=O(</a:t>
            </a:r>
            <a:r>
              <a:rPr lang="en-US" altLang="zh-CN" i="1">
                <a:solidFill>
                  <a:srgbClr val="FF0000"/>
                </a:solidFill>
              </a:rPr>
              <a:t>n</a:t>
            </a:r>
            <a:r>
              <a:rPr lang="en-US" altLang="zh-CN" i="1" baseline="30000">
                <a:solidFill>
                  <a:srgbClr val="FF0000"/>
                </a:solidFill>
              </a:rPr>
              <a:t>m</a:t>
            </a:r>
            <a:r>
              <a:rPr lang="en-US" altLang="zh-CN">
                <a:solidFill>
                  <a:srgbClr val="FF0000"/>
                </a:solidFill>
              </a:rPr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/>
              <a:t>证明：</a:t>
            </a:r>
          </a:p>
        </p:txBody>
      </p:sp>
      <p:graphicFrame>
        <p:nvGraphicFramePr>
          <p:cNvPr id="7170" name="Object 4"/>
          <p:cNvGraphicFramePr>
            <a:graphicFrameLocks noChangeAspect="1"/>
          </p:cNvGraphicFramePr>
          <p:nvPr/>
        </p:nvGraphicFramePr>
        <p:xfrm>
          <a:off x="2819400" y="2667000"/>
          <a:ext cx="2898775" cy="371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31560" imgH="1574640" progId="Equation.3">
                  <p:embed/>
                </p:oleObj>
              </mc:Choice>
              <mc:Fallback>
                <p:oleObj name="Equation" r:id="rId2" imgW="1231560" imgH="1574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2667000"/>
                        <a:ext cx="2898775" cy="3711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大</a:t>
            </a:r>
            <a:r>
              <a:rPr lang="en-US" altLang="zh-CN"/>
              <a:t>O</a:t>
            </a:r>
            <a:r>
              <a:rPr lang="zh-CN" altLang="en-US"/>
              <a:t>原理图示</a:t>
            </a:r>
          </a:p>
        </p:txBody>
      </p:sp>
      <p:sp>
        <p:nvSpPr>
          <p:cNvPr id="83971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20411D8-3B59-435D-A701-10C6E26AB480}" type="slidenum">
              <a:rPr lang="en-US" altLang="en-US" smtClean="0">
                <a:ea typeface="宋体" pitchFamily="2" charset="-122"/>
              </a:rPr>
              <a:pPr/>
              <a:t>62</a:t>
            </a:fld>
            <a:endParaRPr lang="en-US" altLang="en-US">
              <a:ea typeface="宋体" pitchFamily="2" charset="-122"/>
            </a:endParaRPr>
          </a:p>
        </p:txBody>
      </p:sp>
      <p:pic>
        <p:nvPicPr>
          <p:cNvPr id="8397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239963" y="1514475"/>
            <a:ext cx="4664075" cy="4533900"/>
          </a:xfrm>
        </p:spPr>
      </p:pic>
    </p:spTree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H2</a:t>
            </a:r>
            <a:r>
              <a:rPr lang="zh-CN" altLang="en-US"/>
              <a:t>小结</a:t>
            </a:r>
          </a:p>
        </p:txBody>
      </p:sp>
      <p:sp>
        <p:nvSpPr>
          <p:cNvPr id="849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关于大</a:t>
            </a:r>
            <a:r>
              <a:rPr lang="en-US" altLang="zh-CN"/>
              <a:t>O</a:t>
            </a:r>
            <a:r>
              <a:rPr lang="zh-CN" altLang="en-US"/>
              <a:t>符号有如下认识</a:t>
            </a:r>
            <a:endParaRPr lang="en-US" altLang="zh-CN"/>
          </a:p>
          <a:p>
            <a:pPr lvl="1"/>
            <a:r>
              <a:rPr lang="zh-CN" altLang="en-US"/>
              <a:t>时间复杂度的“</a:t>
            </a:r>
            <a:r>
              <a:rPr lang="zh-CN" altLang="en-US">
                <a:solidFill>
                  <a:srgbClr val="FF0000"/>
                </a:solidFill>
              </a:rPr>
              <a:t>级别</a:t>
            </a:r>
            <a:r>
              <a:rPr lang="zh-CN" altLang="en-US"/>
              <a:t>”比“具体量”更重要！</a:t>
            </a:r>
            <a:endParaRPr lang="en-US" altLang="zh-CN"/>
          </a:p>
          <a:p>
            <a:pPr lvl="1"/>
            <a:r>
              <a:rPr lang="zh-CN" altLang="en-US"/>
              <a:t>确定时间消耗是什么级别，而非具体多少</a:t>
            </a:r>
            <a:endParaRPr lang="en-US" altLang="zh-CN"/>
          </a:p>
          <a:p>
            <a:pPr lvl="1"/>
            <a:r>
              <a:rPr lang="zh-CN" altLang="en-US"/>
              <a:t>是问题规模的函数</a:t>
            </a:r>
            <a:endParaRPr lang="en-US" altLang="zh-CN"/>
          </a:p>
          <a:p>
            <a:pPr lvl="1"/>
            <a:r>
              <a:rPr lang="zh-CN" altLang="en-US"/>
              <a:t>根据渐进性质，考虑问题足够大的情况</a:t>
            </a:r>
          </a:p>
          <a:p>
            <a:pPr lvl="1"/>
            <a:r>
              <a:rPr lang="zh-CN" altLang="en-US"/>
              <a:t>本质上是最差情况，这一点符合工业界需求</a:t>
            </a:r>
            <a:endParaRPr lang="en-US" altLang="zh-CN"/>
          </a:p>
        </p:txBody>
      </p:sp>
      <p:sp>
        <p:nvSpPr>
          <p:cNvPr id="849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4211781-8035-48CD-8181-6DA18AC4584D}" type="slidenum">
              <a:rPr lang="en-US" altLang="en-US" smtClean="0">
                <a:ea typeface="宋体" pitchFamily="2" charset="-122"/>
              </a:rPr>
              <a:pPr/>
              <a:t>63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cs typeface="Times New Roman" pitchFamily="18" charset="0"/>
              </a:rPr>
              <a:t>Ω</a:t>
            </a:r>
            <a:r>
              <a:rPr lang="zh-CN" altLang="en-US"/>
              <a:t>符号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函数下界</a:t>
            </a:r>
          </a:p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定义：</a:t>
            </a:r>
            <a:br>
              <a:rPr lang="zh-CN" altLang="en-US">
                <a:solidFill>
                  <a:srgbClr val="FF0000"/>
                </a:solidFill>
              </a:rPr>
            </a:br>
            <a:r>
              <a:rPr lang="en-US" altLang="zh-CN">
                <a:solidFill>
                  <a:srgbClr val="FF0000"/>
                </a:solidFill>
              </a:rPr>
              <a:t>f(n)= </a:t>
            </a:r>
            <a:r>
              <a:rPr lang="en-US" altLang="zh-CN">
                <a:solidFill>
                  <a:srgbClr val="FF0000"/>
                </a:solidFill>
                <a:cs typeface="Times New Roman" pitchFamily="18" charset="0"/>
              </a:rPr>
              <a:t>Ω</a:t>
            </a:r>
            <a:r>
              <a:rPr lang="en-US" altLang="zh-CN">
                <a:solidFill>
                  <a:srgbClr val="FF0000"/>
                </a:solidFill>
              </a:rPr>
              <a:t>(g(n))</a:t>
            </a:r>
            <a:r>
              <a:rPr lang="zh-CN" altLang="en-US">
                <a:solidFill>
                  <a:srgbClr val="FF0000"/>
                </a:solidFill>
              </a:rPr>
              <a:t>，当且仅当存在正常数</a:t>
            </a:r>
            <a:r>
              <a:rPr lang="en-US" altLang="zh-CN">
                <a:solidFill>
                  <a:srgbClr val="FF0000"/>
                </a:solidFill>
              </a:rPr>
              <a:t>c</a:t>
            </a:r>
            <a:r>
              <a:rPr lang="zh-CN" altLang="en-US">
                <a:solidFill>
                  <a:srgbClr val="FF0000"/>
                </a:solidFill>
              </a:rPr>
              <a:t>和</a:t>
            </a:r>
            <a:r>
              <a:rPr lang="en-US" altLang="zh-CN">
                <a:solidFill>
                  <a:srgbClr val="FF0000"/>
                </a:solidFill>
              </a:rPr>
              <a:t>n</a:t>
            </a:r>
            <a:r>
              <a:rPr lang="en-US" altLang="zh-CN" baseline="-25000">
                <a:solidFill>
                  <a:srgbClr val="FF0000"/>
                </a:solidFill>
              </a:rPr>
              <a:t>0</a:t>
            </a:r>
            <a:r>
              <a:rPr lang="zh-CN" altLang="en-US">
                <a:solidFill>
                  <a:srgbClr val="FF0000"/>
                </a:solidFill>
              </a:rPr>
              <a:t>，使得对所有</a:t>
            </a:r>
            <a:r>
              <a:rPr lang="en-US" altLang="zh-CN" i="1">
                <a:solidFill>
                  <a:srgbClr val="FF0000"/>
                </a:solidFill>
              </a:rPr>
              <a:t>n</a:t>
            </a:r>
            <a:r>
              <a:rPr lang="en-US" altLang="zh-CN">
                <a:solidFill>
                  <a:srgbClr val="FF0000"/>
                </a:solidFill>
              </a:rPr>
              <a:t>≥</a:t>
            </a:r>
            <a:r>
              <a:rPr lang="en-US" altLang="zh-CN" i="1">
                <a:solidFill>
                  <a:srgbClr val="FF0000"/>
                </a:solidFill>
              </a:rPr>
              <a:t>n</a:t>
            </a:r>
            <a:r>
              <a:rPr lang="en-US" altLang="zh-CN" baseline="-25000">
                <a:solidFill>
                  <a:srgbClr val="FF0000"/>
                </a:solidFill>
              </a:rPr>
              <a:t>0</a:t>
            </a:r>
            <a:r>
              <a:rPr lang="en-US" altLang="zh-CN">
                <a:solidFill>
                  <a:srgbClr val="FF0000"/>
                </a:solidFill>
              </a:rPr>
              <a:t> , </a:t>
            </a:r>
            <a:r>
              <a:rPr lang="zh-CN" altLang="en-US">
                <a:solidFill>
                  <a:srgbClr val="FF0000"/>
                </a:solidFill>
              </a:rPr>
              <a:t>有</a:t>
            </a:r>
            <a:r>
              <a:rPr lang="en-US" altLang="zh-CN" i="1">
                <a:solidFill>
                  <a:srgbClr val="FF0000"/>
                </a:solidFill>
              </a:rPr>
              <a:t>f </a:t>
            </a:r>
            <a:r>
              <a:rPr lang="en-US" altLang="zh-CN">
                <a:solidFill>
                  <a:srgbClr val="FF0000"/>
                </a:solidFill>
              </a:rPr>
              <a:t>(</a:t>
            </a:r>
            <a:r>
              <a:rPr lang="en-US" altLang="zh-CN" i="1">
                <a:solidFill>
                  <a:srgbClr val="FF0000"/>
                </a:solidFill>
              </a:rPr>
              <a:t>n</a:t>
            </a:r>
            <a:r>
              <a:rPr lang="en-US" altLang="zh-CN">
                <a:solidFill>
                  <a:srgbClr val="FF0000"/>
                </a:solidFill>
              </a:rPr>
              <a:t>)≥</a:t>
            </a:r>
            <a:r>
              <a:rPr lang="en-US" altLang="zh-CN" i="1">
                <a:solidFill>
                  <a:srgbClr val="FF0000"/>
                </a:solidFill>
              </a:rPr>
              <a:t>c g</a:t>
            </a:r>
            <a:r>
              <a:rPr lang="en-US" altLang="zh-CN">
                <a:solidFill>
                  <a:srgbClr val="FF0000"/>
                </a:solidFill>
              </a:rPr>
              <a:t>(</a:t>
            </a:r>
            <a:r>
              <a:rPr lang="en-US" altLang="zh-CN" i="1">
                <a:solidFill>
                  <a:srgbClr val="FF0000"/>
                </a:solidFill>
              </a:rPr>
              <a:t>n</a:t>
            </a:r>
            <a:r>
              <a:rPr lang="en-US" altLang="zh-CN">
                <a:solidFill>
                  <a:srgbClr val="FF0000"/>
                </a:solidFill>
              </a:rPr>
              <a:t>)</a:t>
            </a:r>
          </a:p>
          <a:p>
            <a:pPr eaLnBrk="1" hangingPunct="1"/>
            <a:r>
              <a:rPr lang="en-US" altLang="zh-CN" i="1"/>
              <a:t>f</a:t>
            </a:r>
            <a:r>
              <a:rPr lang="zh-CN" altLang="en-US"/>
              <a:t>至少是</a:t>
            </a:r>
            <a:r>
              <a:rPr lang="en-US" altLang="zh-CN" i="1"/>
              <a:t>g</a:t>
            </a:r>
            <a:r>
              <a:rPr lang="zh-CN" altLang="en-US"/>
              <a:t>的</a:t>
            </a:r>
            <a:r>
              <a:rPr lang="en-US" altLang="zh-CN" i="1"/>
              <a:t>c</a:t>
            </a:r>
            <a:r>
              <a:rPr lang="zh-CN" altLang="en-US"/>
              <a:t>倍，对足够大的</a:t>
            </a:r>
            <a:r>
              <a:rPr lang="en-US" altLang="zh-CN" i="1"/>
              <a:t>n</a:t>
            </a:r>
            <a:r>
              <a:rPr lang="zh-CN" altLang="en-US"/>
              <a:t>，</a:t>
            </a:r>
            <a:r>
              <a:rPr lang="en-US" altLang="zh-CN" i="1"/>
              <a:t>g</a:t>
            </a:r>
            <a:r>
              <a:rPr lang="zh-CN" altLang="en-US"/>
              <a:t>是</a:t>
            </a:r>
            <a:r>
              <a:rPr lang="en-US" altLang="zh-CN" i="1"/>
              <a:t>f</a:t>
            </a:r>
            <a:r>
              <a:rPr lang="zh-CN" altLang="en-US"/>
              <a:t>的一个下界</a:t>
            </a:r>
            <a:endParaRPr lang="zh-CN" altLang="en-US" i="1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cs typeface="Times New Roman" pitchFamily="18" charset="0"/>
              </a:rPr>
              <a:t>Ω</a:t>
            </a:r>
            <a:r>
              <a:rPr lang="zh-CN" altLang="en-US"/>
              <a:t>符号例子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/>
            <a:r>
              <a:rPr lang="zh-CN" altLang="en-US"/>
              <a:t>线性函数</a:t>
            </a:r>
          </a:p>
          <a:p>
            <a:pPr lvl="1" eaLnBrk="1" hangingPunct="1"/>
            <a:r>
              <a:rPr lang="zh-CN" altLang="en-US"/>
              <a:t>对于所有的</a:t>
            </a:r>
            <a:r>
              <a:rPr lang="en-US" altLang="zh-CN" i="1"/>
              <a:t>n</a:t>
            </a:r>
            <a:r>
              <a:rPr lang="zh-CN" altLang="en-US"/>
              <a:t>，有</a:t>
            </a: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)=3</a:t>
            </a:r>
            <a:r>
              <a:rPr lang="en-US" altLang="zh-CN" i="1"/>
              <a:t>n</a:t>
            </a:r>
            <a:r>
              <a:rPr lang="en-US" altLang="zh-CN"/>
              <a:t>+2&gt;3</a:t>
            </a:r>
            <a:r>
              <a:rPr lang="en-US" altLang="zh-CN" i="1"/>
              <a:t>n</a:t>
            </a:r>
            <a:r>
              <a:rPr lang="en-US" altLang="zh-CN">
                <a:sym typeface="Wingdings" pitchFamily="2" charset="2"/>
              </a:rPr>
              <a:t></a:t>
            </a: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)=Ω(</a:t>
            </a:r>
            <a:r>
              <a:rPr lang="en-US" altLang="zh-CN" i="1"/>
              <a:t>n</a:t>
            </a:r>
            <a:r>
              <a:rPr lang="en-US" altLang="zh-CN"/>
              <a:t>)</a:t>
            </a:r>
          </a:p>
          <a:p>
            <a:pPr lvl="1" eaLnBrk="1" hangingPunct="1"/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)=3</a:t>
            </a:r>
            <a:r>
              <a:rPr lang="en-US" altLang="zh-CN" i="1"/>
              <a:t>n</a:t>
            </a:r>
            <a:r>
              <a:rPr lang="en-US" altLang="zh-CN"/>
              <a:t>+3&gt;3</a:t>
            </a:r>
            <a:r>
              <a:rPr lang="en-US" altLang="zh-CN" i="1"/>
              <a:t>n</a:t>
            </a:r>
            <a:r>
              <a:rPr lang="en-US" altLang="zh-CN">
                <a:sym typeface="Wingdings" pitchFamily="2" charset="2"/>
              </a:rPr>
              <a:t></a:t>
            </a: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)=Ω(</a:t>
            </a:r>
            <a:r>
              <a:rPr lang="en-US" altLang="zh-CN" i="1"/>
              <a:t>n</a:t>
            </a:r>
            <a:r>
              <a:rPr lang="en-US" altLang="zh-CN"/>
              <a:t>)</a:t>
            </a:r>
          </a:p>
          <a:p>
            <a:pPr lvl="1" eaLnBrk="1" hangingPunct="1"/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)=100</a:t>
            </a:r>
            <a:r>
              <a:rPr lang="en-US" altLang="zh-CN" i="1"/>
              <a:t>n</a:t>
            </a:r>
            <a:r>
              <a:rPr lang="en-US" altLang="zh-CN"/>
              <a:t>+6&gt;100</a:t>
            </a:r>
            <a:r>
              <a:rPr lang="en-US" altLang="zh-CN" i="1"/>
              <a:t>n</a:t>
            </a:r>
            <a:r>
              <a:rPr lang="zh-CN" altLang="en-US"/>
              <a:t>，所以</a:t>
            </a:r>
            <a:r>
              <a:rPr lang="en-US" altLang="zh-CN"/>
              <a:t>100</a:t>
            </a:r>
            <a:r>
              <a:rPr lang="en-US" altLang="zh-CN" i="1"/>
              <a:t>n</a:t>
            </a:r>
            <a:r>
              <a:rPr lang="en-US" altLang="zh-CN"/>
              <a:t>+6=Ω(</a:t>
            </a:r>
            <a:r>
              <a:rPr lang="en-US" altLang="zh-CN" i="1"/>
              <a:t>n</a:t>
            </a:r>
            <a:r>
              <a:rPr lang="en-US" altLang="zh-CN"/>
              <a:t>) </a:t>
            </a:r>
          </a:p>
          <a:p>
            <a:pPr eaLnBrk="1" hangingPunct="1"/>
            <a:r>
              <a:rPr lang="zh-CN" altLang="en-US"/>
              <a:t>平方函数</a:t>
            </a:r>
          </a:p>
          <a:p>
            <a:pPr lvl="1" eaLnBrk="1" hangingPunct="1"/>
            <a:r>
              <a:rPr lang="zh-CN" altLang="en-US"/>
              <a:t>对所有</a:t>
            </a:r>
            <a:r>
              <a:rPr lang="en-US" altLang="zh-CN" i="1"/>
              <a:t>n</a:t>
            </a:r>
            <a:r>
              <a:rPr lang="en-US" altLang="zh-CN"/>
              <a:t>≥0</a:t>
            </a:r>
            <a:r>
              <a:rPr lang="zh-CN" altLang="en-US"/>
              <a:t>，</a:t>
            </a: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)=10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+4</a:t>
            </a:r>
            <a:r>
              <a:rPr lang="en-US" altLang="zh-CN" i="1"/>
              <a:t>n</a:t>
            </a:r>
            <a:r>
              <a:rPr lang="en-US" altLang="zh-CN"/>
              <a:t>+2&gt;10</a:t>
            </a:r>
            <a:r>
              <a:rPr lang="en-US" altLang="zh-CN" i="1"/>
              <a:t>n</a:t>
            </a:r>
            <a:r>
              <a:rPr lang="en-US" altLang="zh-CN" baseline="30000"/>
              <a:t>2 </a:t>
            </a:r>
            <a:r>
              <a:rPr lang="en-US" altLang="zh-CN">
                <a:sym typeface="Wingdings" pitchFamily="2" charset="2"/>
              </a:rPr>
              <a:t></a:t>
            </a:r>
            <a:r>
              <a:rPr lang="en-US" altLang="zh-CN"/>
              <a:t> </a:t>
            </a: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)=Ω(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)</a:t>
            </a:r>
          </a:p>
          <a:p>
            <a:pPr lvl="1" eaLnBrk="1" hangingPunct="1"/>
            <a:r>
              <a:rPr lang="en-US" altLang="zh-CN"/>
              <a:t>1000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+100</a:t>
            </a:r>
            <a:r>
              <a:rPr lang="en-US" altLang="zh-CN" i="1"/>
              <a:t>n</a:t>
            </a:r>
            <a:r>
              <a:rPr lang="en-US" altLang="zh-CN"/>
              <a:t>-6=Ω(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)</a:t>
            </a:r>
          </a:p>
          <a:p>
            <a:pPr eaLnBrk="1" hangingPunct="1"/>
            <a:r>
              <a:rPr lang="zh-CN" altLang="en-US"/>
              <a:t>指数函数</a:t>
            </a:r>
          </a:p>
          <a:p>
            <a:pPr lvl="1" eaLnBrk="1" hangingPunct="1"/>
            <a:r>
              <a:rPr lang="en-US" altLang="zh-CN"/>
              <a:t>6*2</a:t>
            </a:r>
            <a:r>
              <a:rPr lang="en-US" altLang="zh-CN" i="1" baseline="30000"/>
              <a:t>n</a:t>
            </a:r>
            <a:r>
              <a:rPr lang="en-US" altLang="zh-CN"/>
              <a:t>+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&gt;6*2</a:t>
            </a:r>
            <a:r>
              <a:rPr lang="en-US" altLang="zh-CN" i="1" baseline="30000"/>
              <a:t>n </a:t>
            </a:r>
            <a:r>
              <a:rPr lang="en-US" altLang="zh-CN">
                <a:sym typeface="Wingdings" pitchFamily="2" charset="2"/>
              </a:rPr>
              <a:t></a:t>
            </a:r>
            <a:r>
              <a:rPr lang="en-US" altLang="zh-CN"/>
              <a:t>6*2</a:t>
            </a:r>
            <a:r>
              <a:rPr lang="en-US" altLang="zh-CN" i="1" baseline="30000"/>
              <a:t>n</a:t>
            </a:r>
            <a:r>
              <a:rPr lang="en-US" altLang="zh-CN"/>
              <a:t>+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=Ω(2</a:t>
            </a:r>
            <a:r>
              <a:rPr lang="en-US" altLang="zh-CN" i="1" baseline="30000"/>
              <a:t>n</a:t>
            </a:r>
            <a:r>
              <a:rPr lang="en-US" altLang="zh-CN"/>
              <a:t>)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cs typeface="Times New Roman" pitchFamily="18" charset="0"/>
              </a:rPr>
              <a:t>Ω</a:t>
            </a:r>
            <a:r>
              <a:rPr lang="zh-CN" altLang="en-US"/>
              <a:t>符号例子（续）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/>
            <a:r>
              <a:rPr lang="zh-CN" altLang="en-US"/>
              <a:t>非最大下界</a:t>
            </a:r>
          </a:p>
          <a:p>
            <a:pPr lvl="1" eaLnBrk="1" hangingPunct="1"/>
            <a:r>
              <a:rPr lang="en-US" altLang="zh-CN"/>
              <a:t>3</a:t>
            </a:r>
            <a:r>
              <a:rPr lang="en-US" altLang="zh-CN" i="1"/>
              <a:t>n</a:t>
            </a:r>
            <a:r>
              <a:rPr lang="en-US" altLang="zh-CN"/>
              <a:t>+3=Ω(1)</a:t>
            </a:r>
            <a:r>
              <a:rPr lang="zh-CN" altLang="en-US"/>
              <a:t>，</a:t>
            </a:r>
            <a:r>
              <a:rPr lang="en-US" altLang="zh-CN"/>
              <a:t>10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+4</a:t>
            </a:r>
            <a:r>
              <a:rPr lang="en-US" altLang="zh-CN" i="1"/>
              <a:t>n</a:t>
            </a:r>
            <a:r>
              <a:rPr lang="en-US" altLang="zh-CN"/>
              <a:t>+2=Ω(</a:t>
            </a:r>
            <a:r>
              <a:rPr lang="en-US" altLang="zh-CN" i="1"/>
              <a:t>n</a:t>
            </a:r>
            <a:r>
              <a:rPr lang="en-US" altLang="zh-CN"/>
              <a:t>)</a:t>
            </a:r>
            <a:r>
              <a:rPr lang="zh-CN" altLang="en-US"/>
              <a:t>，</a:t>
            </a:r>
            <a:br>
              <a:rPr lang="zh-CN" altLang="en-US"/>
            </a:br>
            <a:r>
              <a:rPr lang="en-US" altLang="zh-CN"/>
              <a:t>10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+4</a:t>
            </a:r>
            <a:r>
              <a:rPr lang="en-US" altLang="zh-CN" i="1"/>
              <a:t>n</a:t>
            </a:r>
            <a:r>
              <a:rPr lang="en-US" altLang="zh-CN"/>
              <a:t>+2=Ω(1)</a:t>
            </a:r>
            <a:r>
              <a:rPr lang="zh-CN" altLang="en-US"/>
              <a:t>，</a:t>
            </a:r>
            <a:r>
              <a:rPr lang="en-US" altLang="zh-CN"/>
              <a:t>6*2</a:t>
            </a:r>
            <a:r>
              <a:rPr lang="en-US" altLang="zh-CN" i="1" baseline="30000"/>
              <a:t>n</a:t>
            </a:r>
            <a:r>
              <a:rPr lang="en-US" altLang="zh-CN"/>
              <a:t>+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=Ω(</a:t>
            </a:r>
            <a:r>
              <a:rPr lang="en-US" altLang="zh-CN" i="1"/>
              <a:t>n</a:t>
            </a:r>
            <a:r>
              <a:rPr lang="en-US" altLang="zh-CN" baseline="30000"/>
              <a:t>100</a:t>
            </a:r>
            <a:r>
              <a:rPr lang="en-US" altLang="zh-CN"/>
              <a:t>)</a:t>
            </a:r>
          </a:p>
          <a:p>
            <a:pPr lvl="1" eaLnBrk="1" hangingPunct="1"/>
            <a:r>
              <a:rPr lang="en-US" altLang="zh-CN"/>
              <a:t>6*2</a:t>
            </a:r>
            <a:r>
              <a:rPr lang="en-US" altLang="zh-CN" i="1" baseline="30000"/>
              <a:t>n</a:t>
            </a:r>
            <a:r>
              <a:rPr lang="en-US" altLang="zh-CN"/>
              <a:t>+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=Ω(</a:t>
            </a:r>
            <a:r>
              <a:rPr lang="en-US" altLang="zh-CN" i="1"/>
              <a:t>n</a:t>
            </a:r>
            <a:r>
              <a:rPr lang="en-US" altLang="zh-CN" baseline="30000"/>
              <a:t>50.2</a:t>
            </a:r>
            <a:r>
              <a:rPr lang="en-US" altLang="zh-CN"/>
              <a:t>)</a:t>
            </a:r>
            <a:r>
              <a:rPr lang="zh-CN" altLang="en-US"/>
              <a:t>，</a:t>
            </a:r>
            <a:r>
              <a:rPr lang="en-US" altLang="zh-CN"/>
              <a:t>6*2</a:t>
            </a:r>
            <a:r>
              <a:rPr lang="en-US" altLang="zh-CN" i="1" baseline="30000"/>
              <a:t>n</a:t>
            </a:r>
            <a:r>
              <a:rPr lang="en-US" altLang="zh-CN"/>
              <a:t>+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=Ω(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)</a:t>
            </a:r>
            <a:r>
              <a:rPr lang="zh-CN" altLang="en-US"/>
              <a:t>，</a:t>
            </a:r>
            <a:br>
              <a:rPr lang="zh-CN" altLang="en-US"/>
            </a:br>
            <a:r>
              <a:rPr lang="en-US" altLang="zh-CN"/>
              <a:t>6*2</a:t>
            </a:r>
            <a:r>
              <a:rPr lang="en-US" altLang="zh-CN" i="1" baseline="30000"/>
              <a:t>n</a:t>
            </a:r>
            <a:r>
              <a:rPr lang="en-US" altLang="zh-CN"/>
              <a:t>+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=Ω(</a:t>
            </a:r>
            <a:r>
              <a:rPr lang="en-US" altLang="zh-CN" i="1"/>
              <a:t>n</a:t>
            </a:r>
            <a:r>
              <a:rPr lang="en-US" altLang="zh-CN"/>
              <a:t>)</a:t>
            </a:r>
            <a:r>
              <a:rPr lang="zh-CN" altLang="en-US"/>
              <a:t>和</a:t>
            </a:r>
            <a:r>
              <a:rPr lang="en-US" altLang="zh-CN"/>
              <a:t>6*2</a:t>
            </a:r>
            <a:r>
              <a:rPr lang="en-US" altLang="zh-CN" i="1" baseline="30000"/>
              <a:t>n</a:t>
            </a:r>
            <a:r>
              <a:rPr lang="en-US" altLang="zh-CN"/>
              <a:t>+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=Ω(1)</a:t>
            </a:r>
          </a:p>
          <a:p>
            <a:pPr eaLnBrk="1" hangingPunct="1"/>
            <a:r>
              <a:rPr lang="en-US" altLang="zh-CN"/>
              <a:t>3</a:t>
            </a:r>
            <a:r>
              <a:rPr lang="en-US" altLang="zh-CN" i="1"/>
              <a:t>n</a:t>
            </a:r>
            <a:r>
              <a:rPr lang="en-US" altLang="zh-CN"/>
              <a:t>+2≠Ω(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)</a:t>
            </a:r>
          </a:p>
          <a:p>
            <a:pPr lvl="1" eaLnBrk="1" hangingPunct="1"/>
            <a:r>
              <a:rPr lang="zh-CN" altLang="en-US"/>
              <a:t>假定</a:t>
            </a:r>
            <a:r>
              <a:rPr lang="en-US" altLang="zh-CN"/>
              <a:t>3</a:t>
            </a:r>
            <a:r>
              <a:rPr lang="en-US" altLang="zh-CN" i="1"/>
              <a:t>n</a:t>
            </a:r>
            <a:r>
              <a:rPr lang="en-US" altLang="zh-CN"/>
              <a:t>+2=Ω(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)</a:t>
            </a:r>
            <a:r>
              <a:rPr lang="en-US" altLang="zh-CN">
                <a:sym typeface="Wingdings" pitchFamily="2" charset="2"/>
              </a:rPr>
              <a:t></a:t>
            </a:r>
            <a:r>
              <a:rPr lang="zh-CN" altLang="en-US"/>
              <a:t>存在正数</a:t>
            </a:r>
            <a:r>
              <a:rPr lang="en-US" altLang="zh-CN" i="1"/>
              <a:t>c</a:t>
            </a:r>
            <a:r>
              <a:rPr lang="zh-CN" altLang="en-US"/>
              <a:t>和</a:t>
            </a:r>
            <a:r>
              <a:rPr lang="en-US" altLang="zh-CN" i="1"/>
              <a:t>n</a:t>
            </a:r>
            <a:r>
              <a:rPr lang="en-US" altLang="zh-CN" baseline="-25000"/>
              <a:t>0</a:t>
            </a:r>
            <a:r>
              <a:rPr lang="zh-CN" altLang="en-US"/>
              <a:t>，使得对所有</a:t>
            </a:r>
            <a:r>
              <a:rPr lang="en-US" altLang="zh-CN" i="1"/>
              <a:t>n</a:t>
            </a:r>
            <a:r>
              <a:rPr lang="en-US" altLang="zh-CN"/>
              <a:t>≥</a:t>
            </a:r>
            <a:r>
              <a:rPr lang="en-US" altLang="zh-CN" i="1"/>
              <a:t>n</a:t>
            </a:r>
            <a:r>
              <a:rPr lang="en-US" altLang="zh-CN" baseline="-25000"/>
              <a:t>0</a:t>
            </a:r>
            <a:r>
              <a:rPr lang="zh-CN" altLang="en-US"/>
              <a:t>，有</a:t>
            </a:r>
            <a:r>
              <a:rPr lang="en-US" altLang="zh-CN"/>
              <a:t>3</a:t>
            </a:r>
            <a:r>
              <a:rPr lang="en-US" altLang="zh-CN" i="1"/>
              <a:t>n</a:t>
            </a:r>
            <a:r>
              <a:rPr lang="en-US" altLang="zh-CN"/>
              <a:t>+2≥</a:t>
            </a:r>
            <a:r>
              <a:rPr lang="en-US" altLang="zh-CN" i="1"/>
              <a:t>cn</a:t>
            </a:r>
            <a:r>
              <a:rPr lang="en-US" altLang="zh-CN" baseline="30000"/>
              <a:t>2</a:t>
            </a:r>
            <a:r>
              <a:rPr lang="en-US" altLang="zh-CN">
                <a:sym typeface="Wingdings" pitchFamily="2" charset="2"/>
              </a:rPr>
              <a:t></a:t>
            </a:r>
            <a:r>
              <a:rPr lang="en-US" altLang="zh-CN" i="1"/>
              <a:t>cn</a:t>
            </a:r>
            <a:r>
              <a:rPr lang="en-US" altLang="zh-CN" baseline="30000"/>
              <a:t>2</a:t>
            </a:r>
            <a:r>
              <a:rPr lang="en-US" altLang="zh-CN"/>
              <a:t>/(3</a:t>
            </a:r>
            <a:r>
              <a:rPr lang="en-US" altLang="zh-CN" i="1"/>
              <a:t>n</a:t>
            </a:r>
            <a:r>
              <a:rPr lang="en-US" altLang="zh-CN"/>
              <a:t>+2)≤1</a:t>
            </a:r>
            <a:r>
              <a:rPr lang="zh-CN" altLang="en-US"/>
              <a:t>，左边随</a:t>
            </a:r>
            <a:r>
              <a:rPr lang="en-US" altLang="zh-CN"/>
              <a:t>n</a:t>
            </a:r>
            <a:r>
              <a:rPr lang="zh-CN" altLang="en-US"/>
              <a:t>的增大而变得无限大，右边常数，</a:t>
            </a:r>
            <a:br>
              <a:rPr lang="zh-CN" altLang="en-US"/>
            </a:br>
            <a:r>
              <a:rPr lang="zh-CN" altLang="en-US"/>
              <a:t>不等式变为不成立</a:t>
            </a:r>
          </a:p>
          <a:p>
            <a:pPr eaLnBrk="1" hangingPunct="1"/>
            <a:endParaRPr lang="en-US" altLang="zh-CN" i="1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关于</a:t>
            </a:r>
            <a:r>
              <a:rPr lang="en-US" altLang="zh-CN">
                <a:cs typeface="Times New Roman" pitchFamily="18" charset="0"/>
              </a:rPr>
              <a:t>Ω</a:t>
            </a:r>
            <a:r>
              <a:rPr lang="zh-CN" altLang="en-US"/>
              <a:t>的多项式定理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定理</a:t>
            </a:r>
            <a:r>
              <a:rPr lang="en-US" altLang="zh-CN">
                <a:solidFill>
                  <a:srgbClr val="FF0000"/>
                </a:solidFill>
              </a:rPr>
              <a:t>2-3</a:t>
            </a:r>
            <a:r>
              <a:rPr lang="zh-CN" altLang="en-US">
                <a:solidFill>
                  <a:srgbClr val="FF0000"/>
                </a:solidFill>
              </a:rPr>
              <a:t>：如果</a:t>
            </a:r>
            <a:r>
              <a:rPr lang="en-US" altLang="zh-CN" i="1">
                <a:solidFill>
                  <a:srgbClr val="FF0000"/>
                </a:solidFill>
              </a:rPr>
              <a:t>f</a:t>
            </a:r>
            <a:r>
              <a:rPr lang="en-US" altLang="zh-CN">
                <a:solidFill>
                  <a:srgbClr val="FF0000"/>
                </a:solidFill>
              </a:rPr>
              <a:t>(</a:t>
            </a:r>
            <a:r>
              <a:rPr lang="en-US" altLang="zh-CN" i="1">
                <a:solidFill>
                  <a:srgbClr val="FF0000"/>
                </a:solidFill>
              </a:rPr>
              <a:t>n</a:t>
            </a:r>
            <a:r>
              <a:rPr lang="en-US" altLang="zh-CN">
                <a:solidFill>
                  <a:srgbClr val="FF0000"/>
                </a:solidFill>
              </a:rPr>
              <a:t>)=</a:t>
            </a:r>
            <a:r>
              <a:rPr lang="en-US" altLang="zh-CN" i="1">
                <a:solidFill>
                  <a:srgbClr val="FF0000"/>
                </a:solidFill>
              </a:rPr>
              <a:t>a</a:t>
            </a:r>
            <a:r>
              <a:rPr lang="en-US" altLang="zh-CN" i="1" baseline="-25000">
                <a:solidFill>
                  <a:srgbClr val="FF0000"/>
                </a:solidFill>
              </a:rPr>
              <a:t>m</a:t>
            </a:r>
            <a:r>
              <a:rPr lang="en-US" altLang="zh-CN" i="1">
                <a:solidFill>
                  <a:srgbClr val="FF0000"/>
                </a:solidFill>
              </a:rPr>
              <a:t>n</a:t>
            </a:r>
            <a:r>
              <a:rPr lang="en-US" altLang="zh-CN" i="1" baseline="30000">
                <a:solidFill>
                  <a:srgbClr val="FF0000"/>
                </a:solidFill>
              </a:rPr>
              <a:t>m</a:t>
            </a:r>
            <a:r>
              <a:rPr lang="en-US" altLang="zh-CN">
                <a:solidFill>
                  <a:srgbClr val="FF0000"/>
                </a:solidFill>
              </a:rPr>
              <a:t>+…+</a:t>
            </a:r>
            <a:r>
              <a:rPr lang="en-US" altLang="zh-CN" i="1">
                <a:solidFill>
                  <a:srgbClr val="FF0000"/>
                </a:solidFill>
              </a:rPr>
              <a:t>a</a:t>
            </a:r>
            <a:r>
              <a:rPr lang="en-US" altLang="zh-CN" baseline="-25000">
                <a:solidFill>
                  <a:srgbClr val="FF0000"/>
                </a:solidFill>
              </a:rPr>
              <a:t>1</a:t>
            </a:r>
            <a:r>
              <a:rPr lang="en-US" altLang="zh-CN" i="1">
                <a:solidFill>
                  <a:srgbClr val="FF0000"/>
                </a:solidFill>
              </a:rPr>
              <a:t>n</a:t>
            </a:r>
            <a:r>
              <a:rPr lang="en-US" altLang="zh-CN">
                <a:solidFill>
                  <a:srgbClr val="FF0000"/>
                </a:solidFill>
              </a:rPr>
              <a:t>+</a:t>
            </a:r>
            <a:r>
              <a:rPr lang="en-US" altLang="zh-CN" i="1">
                <a:solidFill>
                  <a:srgbClr val="FF0000"/>
                </a:solidFill>
              </a:rPr>
              <a:t>a</a:t>
            </a:r>
            <a:r>
              <a:rPr lang="en-US" altLang="zh-CN" baseline="-25000">
                <a:solidFill>
                  <a:srgbClr val="FF0000"/>
                </a:solidFill>
              </a:rPr>
              <a:t>0</a:t>
            </a:r>
            <a:r>
              <a:rPr lang="zh-CN" altLang="en-US">
                <a:solidFill>
                  <a:srgbClr val="FF0000"/>
                </a:solidFill>
              </a:rPr>
              <a:t>且</a:t>
            </a:r>
            <a:r>
              <a:rPr lang="en-US" altLang="zh-CN" i="1">
                <a:solidFill>
                  <a:srgbClr val="FF0000"/>
                </a:solidFill>
              </a:rPr>
              <a:t>a</a:t>
            </a:r>
            <a:r>
              <a:rPr lang="en-US" altLang="zh-CN" i="1" baseline="-25000">
                <a:solidFill>
                  <a:srgbClr val="FF0000"/>
                </a:solidFill>
              </a:rPr>
              <a:t>m</a:t>
            </a:r>
            <a:r>
              <a:rPr lang="en-US" altLang="zh-CN">
                <a:solidFill>
                  <a:srgbClr val="FF0000"/>
                </a:solidFill>
              </a:rPr>
              <a:t>&gt;0</a:t>
            </a:r>
            <a:r>
              <a:rPr lang="zh-CN" altLang="en-US">
                <a:solidFill>
                  <a:srgbClr val="FF0000"/>
                </a:solidFill>
              </a:rPr>
              <a:t>，则</a:t>
            </a:r>
            <a:r>
              <a:rPr lang="en-US" altLang="zh-CN" i="1">
                <a:solidFill>
                  <a:srgbClr val="FF0000"/>
                </a:solidFill>
              </a:rPr>
              <a:t>f</a:t>
            </a:r>
            <a:r>
              <a:rPr lang="en-US" altLang="zh-CN">
                <a:solidFill>
                  <a:srgbClr val="FF0000"/>
                </a:solidFill>
              </a:rPr>
              <a:t>(</a:t>
            </a:r>
            <a:r>
              <a:rPr lang="en-US" altLang="zh-CN" i="1">
                <a:solidFill>
                  <a:srgbClr val="FF0000"/>
                </a:solidFill>
              </a:rPr>
              <a:t>n</a:t>
            </a:r>
            <a:r>
              <a:rPr lang="en-US" altLang="zh-CN">
                <a:solidFill>
                  <a:srgbClr val="FF0000"/>
                </a:solidFill>
              </a:rPr>
              <a:t>)=</a:t>
            </a:r>
            <a:r>
              <a:rPr lang="en-US" altLang="zh-CN">
                <a:solidFill>
                  <a:srgbClr val="FF0000"/>
                </a:solidFill>
                <a:cs typeface="Times New Roman" pitchFamily="18" charset="0"/>
              </a:rPr>
              <a:t>Ω</a:t>
            </a:r>
            <a:r>
              <a:rPr lang="en-US" altLang="zh-CN">
                <a:solidFill>
                  <a:srgbClr val="FF0000"/>
                </a:solidFill>
              </a:rPr>
              <a:t>(</a:t>
            </a:r>
            <a:r>
              <a:rPr lang="en-US" altLang="zh-CN" i="1">
                <a:solidFill>
                  <a:srgbClr val="FF0000"/>
                </a:solidFill>
              </a:rPr>
              <a:t>n</a:t>
            </a:r>
            <a:r>
              <a:rPr lang="en-US" altLang="zh-CN" i="1" baseline="30000">
                <a:solidFill>
                  <a:srgbClr val="FF0000"/>
                </a:solidFill>
              </a:rPr>
              <a:t>m</a:t>
            </a:r>
            <a:r>
              <a:rPr lang="en-US" altLang="zh-CN">
                <a:solidFill>
                  <a:srgbClr val="FF0000"/>
                </a:solidFill>
              </a:rPr>
              <a:t>)</a:t>
            </a:r>
          </a:p>
          <a:p>
            <a:pPr eaLnBrk="1" hangingPunct="1"/>
            <a:r>
              <a:rPr lang="zh-CN" altLang="en-US"/>
              <a:t>例：</a:t>
            </a:r>
            <a:r>
              <a:rPr lang="en-US" altLang="zh-CN"/>
              <a:t>3</a:t>
            </a:r>
            <a:r>
              <a:rPr lang="en-US" altLang="zh-CN" i="1"/>
              <a:t>n</a:t>
            </a:r>
            <a:r>
              <a:rPr lang="en-US" altLang="zh-CN"/>
              <a:t>+2=Ω(</a:t>
            </a:r>
            <a:r>
              <a:rPr lang="en-US" altLang="zh-CN" i="1"/>
              <a:t>n</a:t>
            </a:r>
            <a:r>
              <a:rPr lang="en-US" altLang="zh-CN"/>
              <a:t>)</a:t>
            </a:r>
            <a:r>
              <a:rPr lang="zh-CN" altLang="en-US"/>
              <a:t>，</a:t>
            </a:r>
            <a:r>
              <a:rPr lang="en-US" altLang="zh-CN"/>
              <a:t>10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+4</a:t>
            </a:r>
            <a:r>
              <a:rPr lang="en-US" altLang="zh-CN" i="1"/>
              <a:t>n</a:t>
            </a:r>
            <a:r>
              <a:rPr lang="en-US" altLang="zh-CN"/>
              <a:t>+2=Ω(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)</a:t>
            </a:r>
            <a:r>
              <a:rPr lang="zh-CN" altLang="en-US"/>
              <a:t>，</a:t>
            </a:r>
            <a:r>
              <a:rPr lang="en-US" altLang="zh-CN"/>
              <a:t>100</a:t>
            </a:r>
            <a:r>
              <a:rPr lang="en-US" altLang="zh-CN" i="1"/>
              <a:t>n</a:t>
            </a:r>
            <a:r>
              <a:rPr lang="en-US" altLang="zh-CN" baseline="30000"/>
              <a:t>4</a:t>
            </a:r>
            <a:r>
              <a:rPr lang="en-US" altLang="zh-CN"/>
              <a:t>+3500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+82</a:t>
            </a:r>
            <a:r>
              <a:rPr lang="en-US" altLang="zh-CN" i="1"/>
              <a:t>n</a:t>
            </a:r>
            <a:r>
              <a:rPr lang="en-US" altLang="zh-CN"/>
              <a:t>+8=Ω(</a:t>
            </a:r>
            <a:r>
              <a:rPr lang="en-US" altLang="zh-CN" i="1"/>
              <a:t>n</a:t>
            </a:r>
            <a:r>
              <a:rPr lang="en-US" altLang="zh-CN" baseline="30000"/>
              <a:t>4</a:t>
            </a:r>
            <a:r>
              <a:rPr lang="en-US" altLang="zh-CN"/>
              <a:t>)</a:t>
            </a:r>
          </a:p>
          <a:p>
            <a:pPr eaLnBrk="1" hangingPunct="1"/>
            <a:endParaRPr lang="en-US" altLang="zh-CN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cs typeface="Times New Roman" pitchFamily="18" charset="0"/>
              </a:rPr>
              <a:t>Ω</a:t>
            </a:r>
            <a:r>
              <a:rPr lang="zh-CN" altLang="en-US"/>
              <a:t>原理图示</a:t>
            </a:r>
          </a:p>
        </p:txBody>
      </p:sp>
      <p:sp>
        <p:nvSpPr>
          <p:cNvPr id="90115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5D79A0B-57B9-4708-A47D-F04AFBCAAF92}" type="slidenum">
              <a:rPr lang="en-US" altLang="en-US" smtClean="0">
                <a:ea typeface="宋体" pitchFamily="2" charset="-122"/>
              </a:rPr>
              <a:pPr/>
              <a:t>68</a:t>
            </a:fld>
            <a:endParaRPr lang="en-US" altLang="en-US">
              <a:ea typeface="宋体" pitchFamily="2" charset="-122"/>
            </a:endParaRPr>
          </a:p>
        </p:txBody>
      </p:sp>
      <p:pic>
        <p:nvPicPr>
          <p:cNvPr id="9011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630488" y="1814513"/>
            <a:ext cx="4452937" cy="4508500"/>
          </a:xfrm>
        </p:spPr>
      </p:pic>
    </p:spTree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cs typeface="Times New Roman" pitchFamily="18" charset="0"/>
              </a:rPr>
              <a:t>Θ</a:t>
            </a:r>
            <a:r>
              <a:rPr lang="zh-CN" altLang="en-US" dirty="0"/>
              <a:t>符号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同一个</a:t>
            </a:r>
            <a:r>
              <a:rPr lang="en-US" altLang="zh-CN"/>
              <a:t>g</a:t>
            </a:r>
            <a:r>
              <a:rPr lang="zh-CN" altLang="en-US"/>
              <a:t>既作为</a:t>
            </a:r>
            <a:r>
              <a:rPr lang="en-US" altLang="zh-CN"/>
              <a:t>f</a:t>
            </a:r>
            <a:r>
              <a:rPr lang="zh-CN" altLang="en-US"/>
              <a:t>的上界，又作为下界</a:t>
            </a:r>
          </a:p>
          <a:p>
            <a:pPr eaLnBrk="1" hangingPunct="1"/>
            <a:r>
              <a:rPr lang="zh-CN" altLang="en-US">
                <a:solidFill>
                  <a:schemeClr val="hlink"/>
                </a:solidFill>
              </a:rPr>
              <a:t>定义：</a:t>
            </a:r>
            <a:br>
              <a:rPr lang="zh-CN" altLang="en-US"/>
            </a:br>
            <a:r>
              <a:rPr lang="en-US" altLang="zh-CN">
                <a:solidFill>
                  <a:schemeClr val="accent2"/>
                </a:solidFill>
              </a:rPr>
              <a:t>f(n)=</a:t>
            </a:r>
            <a:r>
              <a:rPr lang="en-US" altLang="zh-CN">
                <a:solidFill>
                  <a:schemeClr val="accent2"/>
                </a:solidFill>
                <a:cs typeface="Times New Roman" pitchFamily="18" charset="0"/>
              </a:rPr>
              <a:t>Θ</a:t>
            </a:r>
            <a:r>
              <a:rPr lang="en-US" altLang="zh-CN">
                <a:solidFill>
                  <a:schemeClr val="accent2"/>
                </a:solidFill>
              </a:rPr>
              <a:t>(g(n))</a:t>
            </a:r>
            <a:r>
              <a:rPr lang="zh-CN" altLang="en-US">
                <a:solidFill>
                  <a:schemeClr val="accent2"/>
                </a:solidFill>
              </a:rPr>
              <a:t>，当且仅当存在正常数</a:t>
            </a:r>
            <a:r>
              <a:rPr lang="en-US" altLang="zh-CN">
                <a:solidFill>
                  <a:schemeClr val="accent2"/>
                </a:solidFill>
              </a:rPr>
              <a:t>c</a:t>
            </a:r>
            <a:r>
              <a:rPr lang="en-US" altLang="zh-CN" baseline="-25000">
                <a:solidFill>
                  <a:schemeClr val="accent2"/>
                </a:solidFill>
              </a:rPr>
              <a:t>1</a:t>
            </a:r>
            <a:r>
              <a:rPr lang="zh-CN" altLang="en-US">
                <a:solidFill>
                  <a:schemeClr val="accent2"/>
                </a:solidFill>
              </a:rPr>
              <a:t>、</a:t>
            </a:r>
            <a:r>
              <a:rPr lang="en-US" altLang="zh-CN">
                <a:solidFill>
                  <a:schemeClr val="accent2"/>
                </a:solidFill>
              </a:rPr>
              <a:t>c</a:t>
            </a:r>
            <a:r>
              <a:rPr lang="en-US" altLang="zh-CN" baseline="-25000">
                <a:solidFill>
                  <a:schemeClr val="accent2"/>
                </a:solidFill>
              </a:rPr>
              <a:t>2</a:t>
            </a:r>
            <a:r>
              <a:rPr lang="zh-CN" altLang="en-US">
                <a:solidFill>
                  <a:schemeClr val="accent2"/>
                </a:solidFill>
              </a:rPr>
              <a:t>和</a:t>
            </a:r>
            <a:r>
              <a:rPr lang="en-US" altLang="zh-CN">
                <a:solidFill>
                  <a:schemeClr val="accent2"/>
                </a:solidFill>
              </a:rPr>
              <a:t>n</a:t>
            </a:r>
            <a:r>
              <a:rPr lang="en-US" altLang="zh-CN" baseline="-25000">
                <a:solidFill>
                  <a:schemeClr val="accent2"/>
                </a:solidFill>
              </a:rPr>
              <a:t>0</a:t>
            </a:r>
            <a:r>
              <a:rPr lang="zh-CN" altLang="en-US">
                <a:solidFill>
                  <a:schemeClr val="accent2"/>
                </a:solidFill>
              </a:rPr>
              <a:t>，使得对所有</a:t>
            </a:r>
            <a:r>
              <a:rPr lang="en-US" altLang="zh-CN" i="1">
                <a:solidFill>
                  <a:schemeClr val="accent2"/>
                </a:solidFill>
              </a:rPr>
              <a:t>n</a:t>
            </a:r>
            <a:r>
              <a:rPr lang="en-US" altLang="zh-CN">
                <a:solidFill>
                  <a:schemeClr val="accent2"/>
                </a:solidFill>
              </a:rPr>
              <a:t>≥</a:t>
            </a:r>
            <a:r>
              <a:rPr lang="en-US" altLang="zh-CN" i="1">
                <a:solidFill>
                  <a:schemeClr val="accent2"/>
                </a:solidFill>
              </a:rPr>
              <a:t>n</a:t>
            </a:r>
            <a:r>
              <a:rPr lang="en-US" altLang="zh-CN" baseline="-25000">
                <a:solidFill>
                  <a:schemeClr val="accent2"/>
                </a:solidFill>
              </a:rPr>
              <a:t>0</a:t>
            </a:r>
            <a:r>
              <a:rPr lang="en-US" altLang="zh-CN">
                <a:solidFill>
                  <a:schemeClr val="accent2"/>
                </a:solidFill>
              </a:rPr>
              <a:t> , </a:t>
            </a:r>
            <a:r>
              <a:rPr lang="zh-CN" altLang="en-US">
                <a:solidFill>
                  <a:schemeClr val="accent2"/>
                </a:solidFill>
              </a:rPr>
              <a:t>有</a:t>
            </a:r>
            <a:br>
              <a:rPr lang="zh-CN" altLang="en-US">
                <a:solidFill>
                  <a:schemeClr val="accent2"/>
                </a:solidFill>
              </a:rPr>
            </a:br>
            <a:r>
              <a:rPr lang="en-US" altLang="zh-CN" i="1">
                <a:solidFill>
                  <a:schemeClr val="accent2"/>
                </a:solidFill>
              </a:rPr>
              <a:t>c</a:t>
            </a:r>
            <a:r>
              <a:rPr lang="en-US" altLang="zh-CN" i="1" baseline="-25000">
                <a:solidFill>
                  <a:schemeClr val="accent2"/>
                </a:solidFill>
              </a:rPr>
              <a:t>1</a:t>
            </a:r>
            <a:r>
              <a:rPr lang="en-US" altLang="zh-CN" i="1">
                <a:solidFill>
                  <a:schemeClr val="accent2"/>
                </a:solidFill>
              </a:rPr>
              <a:t>g(n)</a:t>
            </a:r>
            <a:r>
              <a:rPr lang="en-US" altLang="zh-CN">
                <a:solidFill>
                  <a:schemeClr val="accent2"/>
                </a:solidFill>
              </a:rPr>
              <a:t>≤</a:t>
            </a:r>
            <a:r>
              <a:rPr lang="en-US" altLang="zh-CN" i="1">
                <a:solidFill>
                  <a:schemeClr val="accent2"/>
                </a:solidFill>
              </a:rPr>
              <a:t>f </a:t>
            </a:r>
            <a:r>
              <a:rPr lang="en-US" altLang="zh-CN">
                <a:solidFill>
                  <a:schemeClr val="accent2"/>
                </a:solidFill>
              </a:rPr>
              <a:t>(</a:t>
            </a:r>
            <a:r>
              <a:rPr lang="en-US" altLang="zh-CN" i="1">
                <a:solidFill>
                  <a:schemeClr val="accent2"/>
                </a:solidFill>
              </a:rPr>
              <a:t>n</a:t>
            </a:r>
            <a:r>
              <a:rPr lang="en-US" altLang="zh-CN">
                <a:solidFill>
                  <a:schemeClr val="accent2"/>
                </a:solidFill>
              </a:rPr>
              <a:t>)≤</a:t>
            </a:r>
            <a:r>
              <a:rPr lang="en-US" altLang="zh-CN" i="1">
                <a:solidFill>
                  <a:schemeClr val="accent2"/>
                </a:solidFill>
              </a:rPr>
              <a:t>c</a:t>
            </a:r>
            <a:r>
              <a:rPr lang="en-US" altLang="zh-CN" i="1" baseline="-25000">
                <a:solidFill>
                  <a:schemeClr val="accent2"/>
                </a:solidFill>
              </a:rPr>
              <a:t>2</a:t>
            </a:r>
            <a:r>
              <a:rPr lang="en-US" altLang="zh-CN" i="1">
                <a:solidFill>
                  <a:schemeClr val="accent2"/>
                </a:solidFill>
              </a:rPr>
              <a:t>g</a:t>
            </a:r>
            <a:r>
              <a:rPr lang="en-US" altLang="zh-CN">
                <a:solidFill>
                  <a:schemeClr val="accent2"/>
                </a:solidFill>
              </a:rPr>
              <a:t>(</a:t>
            </a:r>
            <a:r>
              <a:rPr lang="en-US" altLang="zh-CN" i="1">
                <a:solidFill>
                  <a:schemeClr val="accent2"/>
                </a:solidFill>
              </a:rPr>
              <a:t>n</a:t>
            </a:r>
            <a:r>
              <a:rPr lang="en-US" altLang="zh-CN">
                <a:solidFill>
                  <a:schemeClr val="accent2"/>
                </a:solidFill>
              </a:rPr>
              <a:t>)</a:t>
            </a:r>
          </a:p>
          <a:p>
            <a:pPr eaLnBrk="1" hangingPunct="1"/>
            <a:r>
              <a:rPr lang="en-US" altLang="zh-CN" i="1"/>
              <a:t>f</a:t>
            </a:r>
            <a:r>
              <a:rPr lang="zh-CN" altLang="en-US"/>
              <a:t>介于</a:t>
            </a:r>
            <a:r>
              <a:rPr lang="en-US" altLang="zh-CN" i="1"/>
              <a:t>g</a:t>
            </a:r>
            <a:r>
              <a:rPr lang="zh-CN" altLang="en-US"/>
              <a:t>的</a:t>
            </a:r>
            <a:r>
              <a:rPr lang="en-US" altLang="zh-CN" i="1"/>
              <a:t>c</a:t>
            </a:r>
            <a:r>
              <a:rPr lang="en-US" altLang="zh-CN" i="1" baseline="-25000"/>
              <a:t>1</a:t>
            </a:r>
            <a:r>
              <a:rPr lang="zh-CN" altLang="en-US"/>
              <a:t>倍和</a:t>
            </a:r>
            <a:r>
              <a:rPr lang="en-US" altLang="zh-CN" i="1"/>
              <a:t>c</a:t>
            </a:r>
            <a:r>
              <a:rPr lang="en-US" altLang="zh-CN" i="1" baseline="-25000"/>
              <a:t>2</a:t>
            </a:r>
            <a:r>
              <a:rPr lang="zh-CN" altLang="en-US"/>
              <a:t>倍之间，对足够大的</a:t>
            </a:r>
            <a:r>
              <a:rPr lang="en-US" altLang="zh-CN" i="1"/>
              <a:t>n</a:t>
            </a:r>
            <a:r>
              <a:rPr lang="zh-CN" altLang="en-US"/>
              <a:t>，</a:t>
            </a:r>
            <a:r>
              <a:rPr lang="en-US" altLang="zh-CN" i="1"/>
              <a:t>g</a:t>
            </a:r>
            <a:r>
              <a:rPr lang="zh-CN" altLang="en-US"/>
              <a:t>既是</a:t>
            </a:r>
            <a:r>
              <a:rPr lang="en-US" altLang="zh-CN" i="1"/>
              <a:t>f</a:t>
            </a:r>
            <a:r>
              <a:rPr lang="zh-CN" altLang="en-US"/>
              <a:t>的上界也是下界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cs typeface="Times New Roman" pitchFamily="18" charset="0"/>
              </a:rPr>
              <a:t>Θ</a:t>
            </a:r>
            <a:r>
              <a:rPr lang="zh-CN" altLang="en-US"/>
              <a:t>符号例子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/>
              <a:t>从前例可知：</a:t>
            </a:r>
            <a:r>
              <a:rPr lang="en-US" altLang="zh-CN"/>
              <a:t>3n+2=</a:t>
            </a:r>
            <a:r>
              <a:rPr lang="en-US" altLang="zh-CN">
                <a:cs typeface="Times New Roman" pitchFamily="18" charset="0"/>
              </a:rPr>
              <a:t>Θ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</a:t>
            </a:r>
            <a:r>
              <a:rPr lang="zh-CN" altLang="en-US">
                <a:latin typeface="仿宋_GB2312" pitchFamily="49" charset="-122"/>
                <a:ea typeface="仿宋_GB2312" pitchFamily="49" charset="-122"/>
              </a:rPr>
              <a:t>，</a:t>
            </a:r>
            <a:r>
              <a:rPr lang="en-US" altLang="zh-CN"/>
              <a:t>3</a:t>
            </a:r>
            <a:r>
              <a:rPr lang="en-US" altLang="zh-CN" i="1"/>
              <a:t>n</a:t>
            </a:r>
            <a:r>
              <a:rPr lang="en-US" altLang="zh-CN"/>
              <a:t>+3= </a:t>
            </a:r>
            <a:r>
              <a:rPr lang="en-US" altLang="zh-CN">
                <a:cs typeface="Times New Roman" pitchFamily="18" charset="0"/>
              </a:rPr>
              <a:t>Θ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</a:t>
            </a:r>
            <a:r>
              <a:rPr lang="zh-CN" altLang="en-US"/>
              <a:t>，</a:t>
            </a:r>
            <a:r>
              <a:rPr lang="en-US" altLang="zh-CN"/>
              <a:t>100</a:t>
            </a:r>
            <a:r>
              <a:rPr lang="en-US" altLang="zh-CN" i="1"/>
              <a:t>n</a:t>
            </a:r>
            <a:r>
              <a:rPr lang="en-US" altLang="zh-CN"/>
              <a:t>+6= </a:t>
            </a:r>
            <a:r>
              <a:rPr lang="en-US" altLang="zh-CN">
                <a:cs typeface="Times New Roman" pitchFamily="18" charset="0"/>
              </a:rPr>
              <a:t>Θ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</a:t>
            </a:r>
            <a:r>
              <a:rPr lang="zh-CN" altLang="en-US"/>
              <a:t>，</a:t>
            </a:r>
            <a:r>
              <a:rPr lang="en-US" altLang="zh-CN"/>
              <a:t>10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+4</a:t>
            </a:r>
            <a:r>
              <a:rPr lang="en-US" altLang="zh-CN" i="1"/>
              <a:t>n</a:t>
            </a:r>
            <a:r>
              <a:rPr lang="en-US" altLang="zh-CN"/>
              <a:t>+2= </a:t>
            </a:r>
            <a:r>
              <a:rPr lang="en-US" altLang="zh-CN">
                <a:cs typeface="Times New Roman" pitchFamily="18" charset="0"/>
              </a:rPr>
              <a:t>Θ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)</a:t>
            </a:r>
            <a:r>
              <a:rPr lang="zh-CN" altLang="en-US"/>
              <a:t>，</a:t>
            </a:r>
            <a:r>
              <a:rPr lang="en-US" altLang="zh-CN"/>
              <a:t>1000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+100</a:t>
            </a:r>
            <a:r>
              <a:rPr lang="en-US" altLang="zh-CN" i="1"/>
              <a:t>n</a:t>
            </a:r>
            <a:r>
              <a:rPr lang="en-US" altLang="zh-CN">
                <a:latin typeface="仿宋_GB2312" pitchFamily="49" charset="-122"/>
                <a:ea typeface="仿宋_GB2312" pitchFamily="49" charset="-122"/>
              </a:rPr>
              <a:t>-</a:t>
            </a:r>
            <a:r>
              <a:rPr lang="en-US" altLang="zh-CN"/>
              <a:t>6=</a:t>
            </a:r>
            <a:r>
              <a:rPr lang="en-US" altLang="zh-CN">
                <a:cs typeface="Times New Roman" pitchFamily="18" charset="0"/>
              </a:rPr>
              <a:t>Θ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)</a:t>
            </a:r>
            <a:r>
              <a:rPr lang="zh-CN" altLang="en-US"/>
              <a:t>，</a:t>
            </a:r>
            <a:r>
              <a:rPr lang="en-US" altLang="zh-CN"/>
              <a:t>6*2</a:t>
            </a:r>
            <a:r>
              <a:rPr lang="en-US" altLang="zh-CN" i="1" baseline="30000"/>
              <a:t>n</a:t>
            </a:r>
            <a:r>
              <a:rPr lang="en-US" altLang="zh-CN"/>
              <a:t>+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=</a:t>
            </a:r>
            <a:r>
              <a:rPr lang="en-US" altLang="zh-CN">
                <a:cs typeface="Times New Roman" pitchFamily="18" charset="0"/>
              </a:rPr>
              <a:t>Θ</a:t>
            </a:r>
            <a:r>
              <a:rPr lang="en-US" altLang="zh-CN"/>
              <a:t>(2</a:t>
            </a:r>
            <a:r>
              <a:rPr lang="en-US" altLang="zh-CN" i="1" baseline="30000"/>
              <a:t>n</a:t>
            </a:r>
            <a:r>
              <a:rPr lang="en-US" altLang="zh-CN"/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/>
              <a:t>对</a:t>
            </a:r>
            <a:r>
              <a:rPr lang="en-US" altLang="zh-CN" i="1"/>
              <a:t>n</a:t>
            </a:r>
            <a:r>
              <a:rPr lang="en-US" altLang="zh-CN"/>
              <a:t>≥16</a:t>
            </a:r>
            <a:r>
              <a:rPr lang="zh-CN" altLang="en-US"/>
              <a:t>，</a:t>
            </a:r>
            <a:r>
              <a:rPr lang="en-US" altLang="zh-CN" i="1"/>
              <a:t>log</a:t>
            </a:r>
            <a:r>
              <a:rPr lang="en-US" altLang="zh-CN" baseline="-25000"/>
              <a:t>2</a:t>
            </a:r>
            <a:r>
              <a:rPr lang="en-US" altLang="zh-CN" i="1"/>
              <a:t>n</a:t>
            </a:r>
            <a:r>
              <a:rPr lang="zh-CN" altLang="en-US"/>
              <a:t>＜</a:t>
            </a:r>
            <a:r>
              <a:rPr lang="en-US" altLang="zh-CN"/>
              <a:t>10*</a:t>
            </a:r>
            <a:r>
              <a:rPr lang="en-US" altLang="zh-CN" i="1"/>
              <a:t>log</a:t>
            </a:r>
            <a:r>
              <a:rPr lang="en-US" altLang="zh-CN" baseline="-25000"/>
              <a:t>2</a:t>
            </a:r>
            <a:r>
              <a:rPr lang="en-US" altLang="zh-CN" i="1"/>
              <a:t>n</a:t>
            </a:r>
            <a:r>
              <a:rPr lang="en-US" altLang="zh-CN"/>
              <a:t>+4≤11*log</a:t>
            </a:r>
            <a:r>
              <a:rPr lang="en-US" altLang="zh-CN" baseline="-25000"/>
              <a:t>2</a:t>
            </a:r>
            <a:r>
              <a:rPr lang="en-US" altLang="zh-CN" i="1"/>
              <a:t>n </a:t>
            </a:r>
            <a:r>
              <a:rPr lang="en-US" altLang="zh-CN">
                <a:sym typeface="Wingdings" pitchFamily="2" charset="2"/>
              </a:rPr>
              <a:t></a:t>
            </a:r>
            <a:r>
              <a:rPr lang="en-US" altLang="zh-CN"/>
              <a:t>10*</a:t>
            </a:r>
            <a:r>
              <a:rPr lang="en-US" altLang="zh-CN" i="1"/>
              <a:t>log</a:t>
            </a:r>
            <a:r>
              <a:rPr lang="en-US" altLang="zh-CN" baseline="-25000"/>
              <a:t>2</a:t>
            </a:r>
            <a:r>
              <a:rPr lang="en-US" altLang="zh-CN" i="1"/>
              <a:t>n</a:t>
            </a:r>
            <a:r>
              <a:rPr lang="en-US" altLang="zh-CN"/>
              <a:t>+4= </a:t>
            </a:r>
            <a:r>
              <a:rPr lang="en-US" altLang="zh-CN">
                <a:cs typeface="Times New Roman" pitchFamily="18" charset="0"/>
              </a:rPr>
              <a:t>Θ</a:t>
            </a:r>
            <a:r>
              <a:rPr lang="en-US" altLang="zh-CN"/>
              <a:t>(</a:t>
            </a:r>
            <a:r>
              <a:rPr lang="en-US" altLang="zh-CN" i="1"/>
              <a:t>logn</a:t>
            </a:r>
            <a:r>
              <a:rPr lang="en-US" altLang="zh-CN"/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/>
              <a:t>3</a:t>
            </a:r>
            <a:r>
              <a:rPr lang="en-US" altLang="zh-CN" i="1"/>
              <a:t>n</a:t>
            </a:r>
            <a:r>
              <a:rPr lang="en-US" altLang="zh-CN"/>
              <a:t>+2≠ </a:t>
            </a:r>
            <a:r>
              <a:rPr lang="en-US" altLang="zh-CN">
                <a:cs typeface="Times New Roman" pitchFamily="18" charset="0"/>
              </a:rPr>
              <a:t>Θ</a:t>
            </a:r>
            <a:r>
              <a:rPr lang="en-US" altLang="zh-CN"/>
              <a:t>(1)</a:t>
            </a:r>
            <a:r>
              <a:rPr lang="zh-CN" altLang="en-US"/>
              <a:t>，</a:t>
            </a:r>
            <a:r>
              <a:rPr lang="en-US" altLang="zh-CN"/>
              <a:t>3</a:t>
            </a:r>
            <a:r>
              <a:rPr lang="en-US" altLang="zh-CN" i="1"/>
              <a:t>n</a:t>
            </a:r>
            <a:r>
              <a:rPr lang="en-US" altLang="zh-CN"/>
              <a:t>+3≠</a:t>
            </a:r>
            <a:r>
              <a:rPr lang="en-US" altLang="zh-CN">
                <a:cs typeface="Times New Roman" pitchFamily="18" charset="0"/>
              </a:rPr>
              <a:t>Θ</a:t>
            </a:r>
            <a:r>
              <a:rPr lang="en-US" altLang="zh-CN"/>
              <a:t>(1)</a:t>
            </a:r>
            <a:r>
              <a:rPr lang="zh-CN" altLang="en-US"/>
              <a:t>，</a:t>
            </a:r>
            <a:r>
              <a:rPr lang="en-US" altLang="zh-CN"/>
              <a:t>100</a:t>
            </a:r>
            <a:r>
              <a:rPr lang="en-US" altLang="zh-CN" i="1"/>
              <a:t>n</a:t>
            </a:r>
            <a:r>
              <a:rPr lang="en-US" altLang="zh-CN"/>
              <a:t>+6≠ </a:t>
            </a:r>
            <a:r>
              <a:rPr lang="en-US" altLang="zh-CN">
                <a:cs typeface="Times New Roman" pitchFamily="18" charset="0"/>
              </a:rPr>
              <a:t>Θ</a:t>
            </a:r>
            <a:r>
              <a:rPr lang="en-US" altLang="zh-CN"/>
              <a:t>(1)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/>
              <a:t>3</a:t>
            </a:r>
            <a:r>
              <a:rPr lang="en-US" altLang="zh-CN" i="1"/>
              <a:t>n</a:t>
            </a:r>
            <a:r>
              <a:rPr lang="en-US" altLang="zh-CN"/>
              <a:t>+3≠ </a:t>
            </a:r>
            <a:r>
              <a:rPr lang="en-US" altLang="zh-CN">
                <a:cs typeface="Times New Roman" pitchFamily="18" charset="0"/>
              </a:rPr>
              <a:t>Θ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/>
              <a:t>10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+4</a:t>
            </a:r>
            <a:r>
              <a:rPr lang="en-US" altLang="zh-CN" i="1"/>
              <a:t>n</a:t>
            </a:r>
            <a:r>
              <a:rPr lang="en-US" altLang="zh-CN"/>
              <a:t>+2≠ </a:t>
            </a:r>
            <a:r>
              <a:rPr lang="en-US" altLang="zh-CN">
                <a:cs typeface="Times New Roman" pitchFamily="18" charset="0"/>
              </a:rPr>
              <a:t>Θ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</a:t>
            </a:r>
            <a:r>
              <a:rPr lang="zh-CN" altLang="en-US"/>
              <a:t>，</a:t>
            </a:r>
            <a:r>
              <a:rPr lang="en-US" altLang="zh-CN"/>
              <a:t>10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+4</a:t>
            </a:r>
            <a:r>
              <a:rPr lang="en-US" altLang="zh-CN" i="1"/>
              <a:t>n</a:t>
            </a:r>
            <a:r>
              <a:rPr lang="en-US" altLang="zh-CN"/>
              <a:t>+2≠ </a:t>
            </a:r>
            <a:r>
              <a:rPr lang="en-US" altLang="zh-CN">
                <a:cs typeface="Times New Roman" pitchFamily="18" charset="0"/>
              </a:rPr>
              <a:t>Θ</a:t>
            </a:r>
            <a:r>
              <a:rPr lang="en-US" altLang="zh-CN"/>
              <a:t>(1)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/>
              <a:t>6*2</a:t>
            </a:r>
            <a:r>
              <a:rPr lang="en-US" altLang="zh-CN" i="1" baseline="30000"/>
              <a:t>n</a:t>
            </a:r>
            <a:r>
              <a:rPr lang="en-US" altLang="zh-CN"/>
              <a:t>+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≠ </a:t>
            </a:r>
            <a:r>
              <a:rPr lang="en-US" altLang="zh-CN">
                <a:cs typeface="Times New Roman" pitchFamily="18" charset="0"/>
              </a:rPr>
              <a:t>Θ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)</a:t>
            </a:r>
            <a:r>
              <a:rPr lang="zh-CN" altLang="en-US"/>
              <a:t>，</a:t>
            </a:r>
            <a:r>
              <a:rPr lang="en-US" altLang="zh-CN"/>
              <a:t>6*2</a:t>
            </a:r>
            <a:r>
              <a:rPr lang="en-US" altLang="zh-CN" i="1" baseline="30000"/>
              <a:t>n</a:t>
            </a:r>
            <a:r>
              <a:rPr lang="en-US" altLang="zh-CN"/>
              <a:t>+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≠ </a:t>
            </a:r>
            <a:r>
              <a:rPr lang="en-US" altLang="zh-CN">
                <a:cs typeface="Times New Roman" pitchFamily="18" charset="0"/>
              </a:rPr>
              <a:t>Θ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 baseline="30000"/>
              <a:t>100</a:t>
            </a:r>
            <a:r>
              <a:rPr lang="en-US" altLang="zh-CN"/>
              <a:t>)</a:t>
            </a:r>
            <a:r>
              <a:rPr lang="zh-CN" altLang="en-US"/>
              <a:t>，</a:t>
            </a:r>
            <a:br>
              <a:rPr lang="zh-CN" altLang="en-US"/>
            </a:br>
            <a:r>
              <a:rPr lang="en-US" altLang="zh-CN"/>
              <a:t>6*2</a:t>
            </a:r>
            <a:r>
              <a:rPr lang="en-US" altLang="zh-CN" i="1" baseline="30000"/>
              <a:t>n</a:t>
            </a:r>
            <a:r>
              <a:rPr lang="en-US" altLang="zh-CN"/>
              <a:t>+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≠ </a:t>
            </a:r>
            <a:r>
              <a:rPr lang="en-US" altLang="zh-CN">
                <a:cs typeface="Times New Roman" pitchFamily="18" charset="0"/>
              </a:rPr>
              <a:t>Θ</a:t>
            </a:r>
            <a:r>
              <a:rPr lang="en-US" altLang="zh-CN"/>
              <a:t>(1)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ChangeArrowheads="1"/>
          </p:cNvSpPr>
          <p:nvPr/>
        </p:nvSpPr>
        <p:spPr bwMode="auto">
          <a:xfrm>
            <a:off x="804863" y="200025"/>
            <a:ext cx="7793037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>
              <a:lnSpc>
                <a:spcPct val="90000"/>
              </a:lnSpc>
            </a:pPr>
            <a:r>
              <a:rPr lang="zh-CN" altLang="en-US" sz="4000" b="1">
                <a:latin typeface="黑体" pitchFamily="49" charset="-122"/>
                <a:ea typeface="黑体" pitchFamily="49" charset="-122"/>
                <a:cs typeface="Times New Roman" pitchFamily="18" charset="0"/>
              </a:rPr>
              <a:t>关于</a:t>
            </a:r>
            <a:r>
              <a:rPr lang="en-US" altLang="zh-CN" sz="4000" b="1">
                <a:latin typeface="黑体" pitchFamily="49" charset="-122"/>
                <a:ea typeface="黑体" pitchFamily="49" charset="-122"/>
                <a:cs typeface="Times New Roman" pitchFamily="18" charset="0"/>
              </a:rPr>
              <a:t>Θ</a:t>
            </a:r>
            <a:r>
              <a:rPr lang="zh-CN" altLang="en-US" sz="4000" b="1">
                <a:latin typeface="黑体" pitchFamily="49" charset="-122"/>
                <a:ea typeface="黑体" pitchFamily="49" charset="-122"/>
                <a:cs typeface="Times New Roman" pitchFamily="18" charset="0"/>
              </a:rPr>
              <a:t>的多项式定理</a:t>
            </a:r>
          </a:p>
        </p:txBody>
      </p:sp>
      <p:sp>
        <p:nvSpPr>
          <p:cNvPr id="93187" name="Rectangle 3"/>
          <p:cNvSpPr>
            <a:spLocks noChangeArrowheads="1"/>
          </p:cNvSpPr>
          <p:nvPr/>
        </p:nvSpPr>
        <p:spPr bwMode="auto">
          <a:xfrm>
            <a:off x="1182688" y="1371600"/>
            <a:ext cx="77724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itchFamily="2" charset="2"/>
              <a:buChar char="m"/>
            </a:pPr>
            <a:r>
              <a:rPr lang="zh-CN" altLang="en-US" sz="3200" b="1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定理</a:t>
            </a:r>
            <a:r>
              <a:rPr lang="en-US" altLang="zh-CN" sz="3200" b="1">
                <a:solidFill>
                  <a:srgbClr val="FF0000"/>
                </a:solidFill>
                <a:latin typeface="Times New Roman" pitchFamily="18" charset="0"/>
              </a:rPr>
              <a:t>2-5</a:t>
            </a:r>
            <a:r>
              <a:rPr lang="zh-CN" altLang="en-US" sz="3200" b="1">
                <a:solidFill>
                  <a:srgbClr val="FF0000"/>
                </a:solidFill>
                <a:latin typeface="Times New Roman" pitchFamily="18" charset="0"/>
              </a:rPr>
              <a:t>：</a:t>
            </a:r>
            <a:r>
              <a:rPr lang="zh-CN" altLang="en-US" sz="3200">
                <a:solidFill>
                  <a:srgbClr val="FF0000"/>
                </a:solidFill>
                <a:latin typeface="Times New Roman" pitchFamily="18" charset="0"/>
              </a:rPr>
              <a:t>如果</a:t>
            </a:r>
            <a:r>
              <a:rPr lang="en-US" altLang="zh-CN" sz="3200" i="1">
                <a:solidFill>
                  <a:srgbClr val="FF0000"/>
                </a:solidFill>
                <a:latin typeface="Times New Roman" pitchFamily="18" charset="0"/>
              </a:rPr>
              <a:t>f</a:t>
            </a:r>
            <a:r>
              <a:rPr lang="en-US" altLang="zh-CN" sz="3200">
                <a:solidFill>
                  <a:srgbClr val="FF0000"/>
                </a:solidFill>
                <a:latin typeface="Times New Roman" pitchFamily="18" charset="0"/>
              </a:rPr>
              <a:t>(</a:t>
            </a:r>
            <a:r>
              <a:rPr lang="en-US" altLang="zh-CN" sz="3200" i="1">
                <a:solidFill>
                  <a:srgbClr val="FF0000"/>
                </a:solidFill>
                <a:latin typeface="Times New Roman" pitchFamily="18" charset="0"/>
              </a:rPr>
              <a:t>n</a:t>
            </a:r>
            <a:r>
              <a:rPr lang="en-US" altLang="zh-CN" sz="3200">
                <a:solidFill>
                  <a:srgbClr val="FF0000"/>
                </a:solidFill>
                <a:latin typeface="Times New Roman" pitchFamily="18" charset="0"/>
              </a:rPr>
              <a:t>)=</a:t>
            </a:r>
            <a:r>
              <a:rPr lang="en-US" altLang="zh-CN" sz="3200" i="1">
                <a:solidFill>
                  <a:srgbClr val="FF0000"/>
                </a:solidFill>
                <a:latin typeface="Times New Roman" pitchFamily="18" charset="0"/>
              </a:rPr>
              <a:t>a</a:t>
            </a:r>
            <a:r>
              <a:rPr lang="en-US" altLang="zh-CN" sz="3200" i="1" baseline="-25000">
                <a:solidFill>
                  <a:srgbClr val="FF0000"/>
                </a:solidFill>
                <a:latin typeface="Times New Roman" pitchFamily="18" charset="0"/>
              </a:rPr>
              <a:t>m</a:t>
            </a:r>
            <a:r>
              <a:rPr lang="en-US" altLang="zh-CN" sz="3200" i="1">
                <a:solidFill>
                  <a:srgbClr val="FF0000"/>
                </a:solidFill>
                <a:latin typeface="Times New Roman" pitchFamily="18" charset="0"/>
              </a:rPr>
              <a:t>n</a:t>
            </a:r>
            <a:r>
              <a:rPr lang="en-US" altLang="zh-CN" sz="3200" i="1" baseline="30000">
                <a:solidFill>
                  <a:srgbClr val="FF0000"/>
                </a:solidFill>
                <a:latin typeface="Times New Roman" pitchFamily="18" charset="0"/>
              </a:rPr>
              <a:t>m</a:t>
            </a:r>
            <a:r>
              <a:rPr lang="en-US" altLang="zh-CN" sz="3200">
                <a:solidFill>
                  <a:srgbClr val="FF0000"/>
                </a:solidFill>
                <a:latin typeface="Times New Roman" pitchFamily="18" charset="0"/>
              </a:rPr>
              <a:t>+…+</a:t>
            </a:r>
            <a:r>
              <a:rPr lang="en-US" altLang="zh-CN" sz="3200" i="1">
                <a:solidFill>
                  <a:srgbClr val="FF0000"/>
                </a:solidFill>
                <a:latin typeface="Times New Roman" pitchFamily="18" charset="0"/>
              </a:rPr>
              <a:t>a</a:t>
            </a:r>
            <a:r>
              <a:rPr lang="en-US" altLang="zh-CN" sz="3200" baseline="-25000">
                <a:solidFill>
                  <a:srgbClr val="FF0000"/>
                </a:solidFill>
                <a:latin typeface="Times New Roman" pitchFamily="18" charset="0"/>
              </a:rPr>
              <a:t>1</a:t>
            </a:r>
            <a:r>
              <a:rPr lang="en-US" altLang="zh-CN" sz="3200" i="1">
                <a:solidFill>
                  <a:srgbClr val="FF0000"/>
                </a:solidFill>
                <a:latin typeface="Times New Roman" pitchFamily="18" charset="0"/>
              </a:rPr>
              <a:t>n</a:t>
            </a:r>
            <a:r>
              <a:rPr lang="en-US" altLang="zh-CN" sz="3200">
                <a:solidFill>
                  <a:srgbClr val="FF0000"/>
                </a:solidFill>
                <a:latin typeface="Times New Roman" pitchFamily="18" charset="0"/>
              </a:rPr>
              <a:t>+</a:t>
            </a:r>
            <a:r>
              <a:rPr lang="en-US" altLang="zh-CN" sz="3200" i="1">
                <a:solidFill>
                  <a:srgbClr val="FF0000"/>
                </a:solidFill>
                <a:latin typeface="Times New Roman" pitchFamily="18" charset="0"/>
              </a:rPr>
              <a:t>a</a:t>
            </a:r>
            <a:r>
              <a:rPr lang="en-US" altLang="zh-CN" sz="3200" baseline="-25000">
                <a:solidFill>
                  <a:srgbClr val="FF0000"/>
                </a:solidFill>
                <a:latin typeface="Times New Roman" pitchFamily="18" charset="0"/>
              </a:rPr>
              <a:t>0</a:t>
            </a:r>
            <a:r>
              <a:rPr lang="zh-CN" altLang="en-US" sz="3200">
                <a:solidFill>
                  <a:srgbClr val="FF0000"/>
                </a:solidFill>
                <a:latin typeface="Times New Roman" pitchFamily="18" charset="0"/>
              </a:rPr>
              <a:t>且</a:t>
            </a:r>
            <a:r>
              <a:rPr lang="en-US" altLang="zh-CN" sz="3200" i="1">
                <a:solidFill>
                  <a:srgbClr val="FF0000"/>
                </a:solidFill>
                <a:latin typeface="Times New Roman" pitchFamily="18" charset="0"/>
              </a:rPr>
              <a:t>a</a:t>
            </a:r>
            <a:r>
              <a:rPr lang="en-US" altLang="zh-CN" sz="3200" i="1" baseline="-25000">
                <a:solidFill>
                  <a:srgbClr val="FF0000"/>
                </a:solidFill>
                <a:latin typeface="Times New Roman" pitchFamily="18" charset="0"/>
              </a:rPr>
              <a:t>m</a:t>
            </a:r>
            <a:r>
              <a:rPr lang="en-US" altLang="zh-CN" sz="3200">
                <a:solidFill>
                  <a:srgbClr val="FF0000"/>
                </a:solidFill>
                <a:latin typeface="Times New Roman" pitchFamily="18" charset="0"/>
              </a:rPr>
              <a:t>&gt;0</a:t>
            </a:r>
            <a:r>
              <a:rPr lang="zh-CN" altLang="en-US" sz="3200">
                <a:solidFill>
                  <a:srgbClr val="FF0000"/>
                </a:solidFill>
                <a:latin typeface="Times New Roman" pitchFamily="18" charset="0"/>
              </a:rPr>
              <a:t>，则</a:t>
            </a:r>
            <a:r>
              <a:rPr lang="en-US" altLang="zh-CN" sz="3200" i="1">
                <a:solidFill>
                  <a:srgbClr val="FF0000"/>
                </a:solidFill>
                <a:latin typeface="Times New Roman" pitchFamily="18" charset="0"/>
              </a:rPr>
              <a:t>f</a:t>
            </a:r>
            <a:r>
              <a:rPr lang="en-US" altLang="zh-CN" sz="3200">
                <a:solidFill>
                  <a:srgbClr val="FF0000"/>
                </a:solidFill>
                <a:latin typeface="Times New Roman" pitchFamily="18" charset="0"/>
              </a:rPr>
              <a:t>(</a:t>
            </a:r>
            <a:r>
              <a:rPr lang="en-US" altLang="zh-CN" sz="3200" i="1">
                <a:solidFill>
                  <a:srgbClr val="FF0000"/>
                </a:solidFill>
                <a:latin typeface="Times New Roman" pitchFamily="18" charset="0"/>
              </a:rPr>
              <a:t>n</a:t>
            </a:r>
            <a:r>
              <a:rPr lang="en-US" altLang="zh-CN" sz="3200">
                <a:solidFill>
                  <a:srgbClr val="FF0000"/>
                </a:solidFill>
                <a:latin typeface="Times New Roman" pitchFamily="18" charset="0"/>
              </a:rPr>
              <a:t>)= </a:t>
            </a:r>
            <a:r>
              <a:rPr lang="en-US" altLang="zh-CN" sz="32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Θ</a:t>
            </a:r>
            <a:r>
              <a:rPr lang="en-US" altLang="zh-CN" sz="3200">
                <a:solidFill>
                  <a:srgbClr val="FF0000"/>
                </a:solidFill>
                <a:latin typeface="Times New Roman" pitchFamily="18" charset="0"/>
              </a:rPr>
              <a:t>(</a:t>
            </a:r>
            <a:r>
              <a:rPr lang="en-US" altLang="zh-CN" sz="3200" i="1">
                <a:solidFill>
                  <a:srgbClr val="FF0000"/>
                </a:solidFill>
                <a:latin typeface="Times New Roman" pitchFamily="18" charset="0"/>
              </a:rPr>
              <a:t>n</a:t>
            </a:r>
            <a:r>
              <a:rPr lang="en-US" altLang="zh-CN" sz="3200" i="1" baseline="30000">
                <a:solidFill>
                  <a:srgbClr val="FF0000"/>
                </a:solidFill>
                <a:latin typeface="Times New Roman" pitchFamily="18" charset="0"/>
              </a:rPr>
              <a:t>m</a:t>
            </a:r>
            <a:r>
              <a:rPr lang="en-US" altLang="zh-CN" sz="3200">
                <a:solidFill>
                  <a:srgbClr val="FF0000"/>
                </a:solidFill>
                <a:latin typeface="Times New Roman" pitchFamily="18" charset="0"/>
              </a:rPr>
              <a:t>)</a:t>
            </a:r>
          </a:p>
          <a:p>
            <a: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itchFamily="2" charset="2"/>
              <a:buChar char="m"/>
            </a:pPr>
            <a:r>
              <a:rPr lang="zh-CN" altLang="en-US" sz="3200">
                <a:latin typeface="Times New Roman" pitchFamily="18" charset="0"/>
              </a:rPr>
              <a:t>例：</a:t>
            </a:r>
            <a:r>
              <a:rPr lang="en-US" altLang="zh-CN" sz="3200">
                <a:latin typeface="Times New Roman" pitchFamily="18" charset="0"/>
              </a:rPr>
              <a:t>3</a:t>
            </a:r>
            <a:r>
              <a:rPr lang="en-US" altLang="zh-CN" sz="3200" i="1">
                <a:latin typeface="Times New Roman" pitchFamily="18" charset="0"/>
              </a:rPr>
              <a:t>n</a:t>
            </a:r>
            <a:r>
              <a:rPr lang="en-US" altLang="zh-CN" sz="3200">
                <a:latin typeface="Times New Roman" pitchFamily="18" charset="0"/>
              </a:rPr>
              <a:t>+2= </a:t>
            </a:r>
            <a:r>
              <a:rPr lang="en-US" altLang="zh-CN" sz="3200">
                <a:latin typeface="Times New Roman" pitchFamily="18" charset="0"/>
                <a:cs typeface="Times New Roman" pitchFamily="18" charset="0"/>
              </a:rPr>
              <a:t>Θ</a:t>
            </a:r>
            <a:r>
              <a:rPr lang="en-US" altLang="zh-CN" sz="3200">
                <a:latin typeface="Times New Roman" pitchFamily="18" charset="0"/>
              </a:rPr>
              <a:t>(</a:t>
            </a:r>
            <a:r>
              <a:rPr lang="en-US" altLang="zh-CN" sz="3200" i="1">
                <a:latin typeface="Times New Roman" pitchFamily="18" charset="0"/>
              </a:rPr>
              <a:t>n</a:t>
            </a:r>
            <a:r>
              <a:rPr lang="en-US" altLang="zh-CN" sz="3200">
                <a:latin typeface="Times New Roman" pitchFamily="18" charset="0"/>
              </a:rPr>
              <a:t>)</a:t>
            </a:r>
            <a:r>
              <a:rPr lang="zh-CN" altLang="en-US" sz="3200">
                <a:latin typeface="Times New Roman" pitchFamily="18" charset="0"/>
              </a:rPr>
              <a:t>，</a:t>
            </a:r>
            <a:r>
              <a:rPr lang="en-US" altLang="zh-CN" sz="3200">
                <a:latin typeface="Times New Roman" pitchFamily="18" charset="0"/>
              </a:rPr>
              <a:t>10</a:t>
            </a:r>
            <a:r>
              <a:rPr lang="en-US" altLang="zh-CN" sz="3200" i="1">
                <a:latin typeface="Times New Roman" pitchFamily="18" charset="0"/>
              </a:rPr>
              <a:t>n</a:t>
            </a:r>
            <a:r>
              <a:rPr lang="en-US" altLang="zh-CN" sz="3200" baseline="30000">
                <a:latin typeface="Times New Roman" pitchFamily="18" charset="0"/>
              </a:rPr>
              <a:t>2</a:t>
            </a:r>
            <a:r>
              <a:rPr lang="en-US" altLang="zh-CN" sz="3200">
                <a:latin typeface="Times New Roman" pitchFamily="18" charset="0"/>
              </a:rPr>
              <a:t>+4</a:t>
            </a:r>
            <a:r>
              <a:rPr lang="en-US" altLang="zh-CN" sz="3200" i="1">
                <a:latin typeface="Times New Roman" pitchFamily="18" charset="0"/>
              </a:rPr>
              <a:t>n</a:t>
            </a:r>
            <a:r>
              <a:rPr lang="en-US" altLang="zh-CN" sz="3200">
                <a:latin typeface="Times New Roman" pitchFamily="18" charset="0"/>
              </a:rPr>
              <a:t>+2= </a:t>
            </a:r>
            <a:r>
              <a:rPr lang="en-US" altLang="zh-CN" sz="3200">
                <a:latin typeface="Times New Roman" pitchFamily="18" charset="0"/>
                <a:cs typeface="Times New Roman" pitchFamily="18" charset="0"/>
              </a:rPr>
              <a:t>Θ</a:t>
            </a:r>
            <a:r>
              <a:rPr lang="en-US" altLang="zh-CN" sz="3200">
                <a:latin typeface="Times New Roman" pitchFamily="18" charset="0"/>
              </a:rPr>
              <a:t>(</a:t>
            </a:r>
            <a:r>
              <a:rPr lang="en-US" altLang="zh-CN" sz="3200" i="1">
                <a:latin typeface="Times New Roman" pitchFamily="18" charset="0"/>
              </a:rPr>
              <a:t>n</a:t>
            </a:r>
            <a:r>
              <a:rPr lang="en-US" altLang="zh-CN" sz="3200" baseline="30000">
                <a:latin typeface="Times New Roman" pitchFamily="18" charset="0"/>
              </a:rPr>
              <a:t>2</a:t>
            </a:r>
            <a:r>
              <a:rPr lang="en-US" altLang="zh-CN" sz="3200">
                <a:latin typeface="Times New Roman" pitchFamily="18" charset="0"/>
              </a:rPr>
              <a:t>)</a:t>
            </a:r>
            <a:r>
              <a:rPr lang="zh-CN" altLang="en-US" sz="3200">
                <a:latin typeface="Times New Roman" pitchFamily="18" charset="0"/>
              </a:rPr>
              <a:t>，</a:t>
            </a:r>
            <a:r>
              <a:rPr lang="en-US" altLang="zh-CN" sz="3200">
                <a:latin typeface="Times New Roman" pitchFamily="18" charset="0"/>
              </a:rPr>
              <a:t>100</a:t>
            </a:r>
            <a:r>
              <a:rPr lang="en-US" altLang="zh-CN" sz="3200" i="1">
                <a:latin typeface="Times New Roman" pitchFamily="18" charset="0"/>
              </a:rPr>
              <a:t>n</a:t>
            </a:r>
            <a:r>
              <a:rPr lang="en-US" altLang="zh-CN" sz="3200" baseline="30000">
                <a:latin typeface="Times New Roman" pitchFamily="18" charset="0"/>
              </a:rPr>
              <a:t>4</a:t>
            </a:r>
            <a:r>
              <a:rPr lang="en-US" altLang="zh-CN" sz="3200">
                <a:latin typeface="Times New Roman" pitchFamily="18" charset="0"/>
              </a:rPr>
              <a:t>+3500</a:t>
            </a:r>
            <a:r>
              <a:rPr lang="en-US" altLang="zh-CN" sz="3200" i="1">
                <a:latin typeface="Times New Roman" pitchFamily="18" charset="0"/>
              </a:rPr>
              <a:t>n</a:t>
            </a:r>
            <a:r>
              <a:rPr lang="en-US" altLang="zh-CN" sz="3200" baseline="30000">
                <a:latin typeface="Times New Roman" pitchFamily="18" charset="0"/>
              </a:rPr>
              <a:t>2</a:t>
            </a:r>
            <a:r>
              <a:rPr lang="en-US" altLang="zh-CN" sz="3200">
                <a:latin typeface="Times New Roman" pitchFamily="18" charset="0"/>
              </a:rPr>
              <a:t>+82</a:t>
            </a:r>
            <a:r>
              <a:rPr lang="en-US" altLang="zh-CN" sz="3200" i="1">
                <a:latin typeface="Times New Roman" pitchFamily="18" charset="0"/>
              </a:rPr>
              <a:t>n</a:t>
            </a:r>
            <a:r>
              <a:rPr lang="en-US" altLang="zh-CN" sz="3200">
                <a:latin typeface="Times New Roman" pitchFamily="18" charset="0"/>
              </a:rPr>
              <a:t>+8= </a:t>
            </a:r>
            <a:r>
              <a:rPr lang="en-US" altLang="zh-CN" sz="3200">
                <a:latin typeface="Times New Roman" pitchFamily="18" charset="0"/>
                <a:cs typeface="Times New Roman" pitchFamily="18" charset="0"/>
              </a:rPr>
              <a:t>Θ</a:t>
            </a:r>
            <a:r>
              <a:rPr lang="en-US" altLang="zh-CN" sz="3200">
                <a:latin typeface="Times New Roman" pitchFamily="18" charset="0"/>
              </a:rPr>
              <a:t>(</a:t>
            </a:r>
            <a:r>
              <a:rPr lang="en-US" altLang="zh-CN" sz="3200" i="1">
                <a:latin typeface="Times New Roman" pitchFamily="18" charset="0"/>
              </a:rPr>
              <a:t>n</a:t>
            </a:r>
            <a:r>
              <a:rPr lang="en-US" altLang="zh-CN" sz="3200" baseline="30000">
                <a:latin typeface="Times New Roman" pitchFamily="18" charset="0"/>
              </a:rPr>
              <a:t>4</a:t>
            </a:r>
            <a:r>
              <a:rPr lang="en-US" altLang="zh-CN" sz="3200">
                <a:latin typeface="Times New Roman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小写</a:t>
            </a:r>
            <a:r>
              <a:rPr lang="en-US" altLang="zh-CN"/>
              <a:t>o</a:t>
            </a:r>
            <a:r>
              <a:rPr lang="zh-CN" altLang="en-US"/>
              <a:t>符号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chemeClr val="hlink"/>
                </a:solidFill>
              </a:rPr>
              <a:t>定义：</a:t>
            </a:r>
            <a:br>
              <a:rPr lang="zh-CN" altLang="en-US"/>
            </a:br>
            <a:r>
              <a:rPr lang="en-US" altLang="zh-CN">
                <a:solidFill>
                  <a:schemeClr val="accent2"/>
                </a:solidFill>
              </a:rPr>
              <a:t>f(n)=o(g(n))</a:t>
            </a:r>
            <a:r>
              <a:rPr lang="zh-CN" altLang="en-US">
                <a:solidFill>
                  <a:schemeClr val="accent2"/>
                </a:solidFill>
              </a:rPr>
              <a:t>，当且仅当</a:t>
            </a:r>
            <a:r>
              <a:rPr lang="en-US" altLang="zh-CN">
                <a:solidFill>
                  <a:schemeClr val="accent2"/>
                </a:solidFill>
              </a:rPr>
              <a:t>f(n)=O(g(n))</a:t>
            </a:r>
            <a:r>
              <a:rPr lang="zh-CN" altLang="en-US">
                <a:solidFill>
                  <a:schemeClr val="accent2"/>
                </a:solidFill>
              </a:rPr>
              <a:t>，且</a:t>
            </a:r>
            <a:r>
              <a:rPr lang="en-US" altLang="zh-CN">
                <a:solidFill>
                  <a:schemeClr val="accent2"/>
                </a:solidFill>
              </a:rPr>
              <a:t>f(n)</a:t>
            </a:r>
            <a:r>
              <a:rPr lang="en-US" altLang="zh-CN">
                <a:solidFill>
                  <a:schemeClr val="accent2"/>
                </a:solidFill>
                <a:ea typeface="Arial Unicode MS" pitchFamily="34" charset="-122"/>
                <a:cs typeface="Arial Unicode MS" pitchFamily="34" charset="-122"/>
              </a:rPr>
              <a:t>≠</a:t>
            </a:r>
            <a:r>
              <a:rPr lang="en-US" altLang="zh-CN">
                <a:solidFill>
                  <a:schemeClr val="accent2"/>
                </a:solidFill>
                <a:cs typeface="Times New Roman" pitchFamily="18" charset="0"/>
              </a:rPr>
              <a:t>Ω</a:t>
            </a:r>
            <a:r>
              <a:rPr lang="en-US" altLang="zh-CN">
                <a:solidFill>
                  <a:schemeClr val="accent2"/>
                </a:solidFill>
              </a:rPr>
              <a:t>(g(n))</a:t>
            </a:r>
          </a:p>
          <a:p>
            <a:pPr eaLnBrk="1" hangingPunct="1"/>
            <a:r>
              <a:rPr lang="en-US" altLang="zh-CN">
                <a:solidFill>
                  <a:srgbClr val="000000"/>
                </a:solidFill>
              </a:rPr>
              <a:t>3</a:t>
            </a:r>
            <a:r>
              <a:rPr lang="en-US" altLang="zh-CN" i="1">
                <a:solidFill>
                  <a:srgbClr val="000000"/>
                </a:solidFill>
              </a:rPr>
              <a:t>n</a:t>
            </a:r>
            <a:r>
              <a:rPr lang="en-US" altLang="zh-CN">
                <a:solidFill>
                  <a:srgbClr val="000000"/>
                </a:solidFill>
              </a:rPr>
              <a:t>+2=O(</a:t>
            </a:r>
            <a:r>
              <a:rPr lang="en-US" altLang="zh-CN" i="1">
                <a:solidFill>
                  <a:srgbClr val="000000"/>
                </a:solidFill>
              </a:rPr>
              <a:t>n</a:t>
            </a:r>
            <a:r>
              <a:rPr lang="en-US" altLang="zh-CN" baseline="30000">
                <a:solidFill>
                  <a:srgbClr val="000000"/>
                </a:solidFill>
              </a:rPr>
              <a:t>2</a:t>
            </a:r>
            <a:r>
              <a:rPr lang="en-US" altLang="zh-CN">
                <a:solidFill>
                  <a:srgbClr val="000000"/>
                </a:solidFill>
              </a:rPr>
              <a:t>)</a:t>
            </a:r>
            <a:r>
              <a:rPr lang="zh-CN" altLang="en-US">
                <a:solidFill>
                  <a:srgbClr val="000000"/>
                </a:solidFill>
              </a:rPr>
              <a:t>且</a:t>
            </a:r>
            <a:r>
              <a:rPr lang="en-US" altLang="zh-CN">
                <a:solidFill>
                  <a:srgbClr val="000000"/>
                </a:solidFill>
              </a:rPr>
              <a:t>3</a:t>
            </a:r>
            <a:r>
              <a:rPr lang="en-US" altLang="zh-CN" i="1">
                <a:solidFill>
                  <a:srgbClr val="000000"/>
                </a:solidFill>
              </a:rPr>
              <a:t>n</a:t>
            </a:r>
            <a:r>
              <a:rPr lang="en-US" altLang="zh-CN">
                <a:solidFill>
                  <a:srgbClr val="000000"/>
                </a:solidFill>
              </a:rPr>
              <a:t>+2≠Ω(</a:t>
            </a:r>
            <a:r>
              <a:rPr lang="en-US" altLang="zh-CN" i="1">
                <a:solidFill>
                  <a:srgbClr val="000000"/>
                </a:solidFill>
              </a:rPr>
              <a:t>n</a:t>
            </a:r>
            <a:r>
              <a:rPr lang="en-US" altLang="zh-CN" baseline="30000">
                <a:solidFill>
                  <a:srgbClr val="000000"/>
                </a:solidFill>
              </a:rPr>
              <a:t>2</a:t>
            </a:r>
            <a:r>
              <a:rPr lang="en-US" altLang="zh-CN">
                <a:solidFill>
                  <a:srgbClr val="000000"/>
                </a:solidFill>
              </a:rPr>
              <a:t>)</a:t>
            </a:r>
            <a:r>
              <a:rPr lang="en-US" altLang="zh-CN">
                <a:solidFill>
                  <a:srgbClr val="000000"/>
                </a:solidFill>
                <a:sym typeface="Wingdings" pitchFamily="2" charset="2"/>
              </a:rPr>
              <a:t></a:t>
            </a:r>
            <a:r>
              <a:rPr lang="en-US" altLang="zh-CN">
                <a:solidFill>
                  <a:srgbClr val="000000"/>
                </a:solidFill>
              </a:rPr>
              <a:t>3</a:t>
            </a:r>
            <a:r>
              <a:rPr lang="en-US" altLang="zh-CN" i="1">
                <a:solidFill>
                  <a:srgbClr val="000000"/>
                </a:solidFill>
              </a:rPr>
              <a:t>n</a:t>
            </a:r>
            <a:r>
              <a:rPr lang="en-US" altLang="zh-CN">
                <a:solidFill>
                  <a:srgbClr val="000000"/>
                </a:solidFill>
              </a:rPr>
              <a:t>+2=o(</a:t>
            </a:r>
            <a:r>
              <a:rPr lang="en-US" altLang="zh-CN" i="1">
                <a:solidFill>
                  <a:srgbClr val="000000"/>
                </a:solidFill>
              </a:rPr>
              <a:t>n</a:t>
            </a:r>
            <a:r>
              <a:rPr lang="en-US" altLang="zh-CN" baseline="30000">
                <a:solidFill>
                  <a:srgbClr val="000000"/>
                </a:solidFill>
              </a:rPr>
              <a:t>2</a:t>
            </a:r>
            <a:r>
              <a:rPr lang="en-US" altLang="zh-CN">
                <a:solidFill>
                  <a:srgbClr val="000000"/>
                </a:solidFill>
              </a:rPr>
              <a:t>)</a:t>
            </a:r>
            <a:r>
              <a:rPr lang="zh-CN" altLang="en-US">
                <a:solidFill>
                  <a:srgbClr val="000000"/>
                </a:solidFill>
              </a:rPr>
              <a:t>但</a:t>
            </a:r>
            <a:r>
              <a:rPr lang="en-US" altLang="zh-CN">
                <a:solidFill>
                  <a:srgbClr val="000000"/>
                </a:solidFill>
              </a:rPr>
              <a:t>3</a:t>
            </a:r>
            <a:r>
              <a:rPr lang="en-US" altLang="zh-CN" i="1">
                <a:solidFill>
                  <a:srgbClr val="000000"/>
                </a:solidFill>
              </a:rPr>
              <a:t>n</a:t>
            </a:r>
            <a:r>
              <a:rPr lang="en-US" altLang="zh-CN">
                <a:solidFill>
                  <a:srgbClr val="000000"/>
                </a:solidFill>
              </a:rPr>
              <a:t>+2≠o(</a:t>
            </a:r>
            <a:r>
              <a:rPr lang="en-US" altLang="zh-CN" i="1">
                <a:solidFill>
                  <a:srgbClr val="000000"/>
                </a:solidFill>
              </a:rPr>
              <a:t>n</a:t>
            </a:r>
            <a:r>
              <a:rPr lang="en-US" altLang="zh-CN">
                <a:solidFill>
                  <a:srgbClr val="000000"/>
                </a:solidFill>
              </a:rPr>
              <a:t>)</a:t>
            </a:r>
          </a:p>
          <a:p>
            <a:pPr eaLnBrk="1" hangingPunct="1"/>
            <a:r>
              <a:rPr lang="en-US" altLang="zh-CN">
                <a:solidFill>
                  <a:srgbClr val="000000"/>
                </a:solidFill>
              </a:rPr>
              <a:t>10</a:t>
            </a:r>
            <a:r>
              <a:rPr lang="en-US" altLang="zh-CN" i="1">
                <a:solidFill>
                  <a:srgbClr val="000000"/>
                </a:solidFill>
              </a:rPr>
              <a:t>n</a:t>
            </a:r>
            <a:r>
              <a:rPr lang="en-US" altLang="zh-CN" baseline="30000">
                <a:solidFill>
                  <a:srgbClr val="000000"/>
                </a:solidFill>
              </a:rPr>
              <a:t>2</a:t>
            </a:r>
            <a:r>
              <a:rPr lang="en-US" altLang="zh-CN">
                <a:solidFill>
                  <a:srgbClr val="000000"/>
                </a:solidFill>
              </a:rPr>
              <a:t>+4</a:t>
            </a:r>
            <a:r>
              <a:rPr lang="en-US" altLang="zh-CN" i="1">
                <a:solidFill>
                  <a:srgbClr val="000000"/>
                </a:solidFill>
              </a:rPr>
              <a:t>n</a:t>
            </a:r>
            <a:r>
              <a:rPr lang="en-US" altLang="zh-CN">
                <a:solidFill>
                  <a:srgbClr val="000000"/>
                </a:solidFill>
              </a:rPr>
              <a:t>+2=o(</a:t>
            </a:r>
            <a:r>
              <a:rPr lang="en-US" altLang="zh-CN" i="1">
                <a:solidFill>
                  <a:srgbClr val="000000"/>
                </a:solidFill>
              </a:rPr>
              <a:t>n</a:t>
            </a:r>
            <a:r>
              <a:rPr lang="en-US" altLang="zh-CN" baseline="30000">
                <a:solidFill>
                  <a:srgbClr val="000000"/>
                </a:solidFill>
              </a:rPr>
              <a:t>3</a:t>
            </a:r>
            <a:r>
              <a:rPr lang="en-US" altLang="zh-CN">
                <a:solidFill>
                  <a:srgbClr val="000000"/>
                </a:solidFill>
              </a:rPr>
              <a:t>)</a:t>
            </a:r>
            <a:r>
              <a:rPr lang="zh-CN" altLang="en-US">
                <a:solidFill>
                  <a:srgbClr val="000000"/>
                </a:solidFill>
              </a:rPr>
              <a:t>，但</a:t>
            </a:r>
            <a:r>
              <a:rPr lang="en-US" altLang="zh-CN">
                <a:solidFill>
                  <a:srgbClr val="000000"/>
                </a:solidFill>
              </a:rPr>
              <a:t>10</a:t>
            </a:r>
            <a:r>
              <a:rPr lang="en-US" altLang="zh-CN" i="1">
                <a:solidFill>
                  <a:srgbClr val="000000"/>
                </a:solidFill>
              </a:rPr>
              <a:t>n</a:t>
            </a:r>
            <a:r>
              <a:rPr lang="en-US" altLang="zh-CN" baseline="30000">
                <a:solidFill>
                  <a:srgbClr val="000000"/>
                </a:solidFill>
              </a:rPr>
              <a:t>2</a:t>
            </a:r>
            <a:r>
              <a:rPr lang="en-US" altLang="zh-CN">
                <a:solidFill>
                  <a:srgbClr val="000000"/>
                </a:solidFill>
              </a:rPr>
              <a:t>+4</a:t>
            </a:r>
            <a:r>
              <a:rPr lang="en-US" altLang="zh-CN" i="1">
                <a:solidFill>
                  <a:srgbClr val="000000"/>
                </a:solidFill>
              </a:rPr>
              <a:t>n</a:t>
            </a:r>
            <a:r>
              <a:rPr lang="en-US" altLang="zh-CN">
                <a:solidFill>
                  <a:srgbClr val="000000"/>
                </a:solidFill>
              </a:rPr>
              <a:t>+2≠o(</a:t>
            </a:r>
            <a:r>
              <a:rPr lang="en-US" altLang="zh-CN" i="1">
                <a:solidFill>
                  <a:srgbClr val="000000"/>
                </a:solidFill>
              </a:rPr>
              <a:t>n</a:t>
            </a:r>
            <a:r>
              <a:rPr lang="en-US" altLang="zh-CN" baseline="30000">
                <a:solidFill>
                  <a:srgbClr val="000000"/>
                </a:solidFill>
              </a:rPr>
              <a:t>2</a:t>
            </a:r>
            <a:r>
              <a:rPr lang="en-US" altLang="zh-CN">
                <a:solidFill>
                  <a:srgbClr val="000000"/>
                </a:solidFill>
              </a:rPr>
              <a:t>)</a:t>
            </a:r>
            <a:endParaRPr lang="en-US" altLang="zh-CN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主要内容</a:t>
            </a:r>
          </a:p>
        </p:txBody>
      </p:sp>
      <p:sp>
        <p:nvSpPr>
          <p:cNvPr id="9523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空间复杂性</a:t>
            </a:r>
            <a:endParaRPr lang="en-US" altLang="zh-CN"/>
          </a:p>
          <a:p>
            <a:r>
              <a:rPr lang="zh-CN" altLang="en-US"/>
              <a:t>时间复杂性</a:t>
            </a:r>
            <a:endParaRPr lang="en-US" altLang="zh-CN"/>
          </a:p>
          <a:p>
            <a:pPr lvl="1"/>
            <a:r>
              <a:rPr lang="zh-CN" altLang="en-US"/>
              <a:t>指标（计数对象）</a:t>
            </a:r>
            <a:endParaRPr lang="en-US" altLang="zh-CN"/>
          </a:p>
          <a:p>
            <a:pPr lvl="1"/>
            <a:r>
              <a:rPr lang="zh-CN" altLang="en-US"/>
              <a:t>渐进符号（</a:t>
            </a:r>
            <a:r>
              <a:rPr lang="en-US" altLang="zh-CN"/>
              <a:t>Ο</a:t>
            </a:r>
            <a:r>
              <a:rPr lang="zh-CN" altLang="en-US"/>
              <a:t>、</a:t>
            </a:r>
            <a:r>
              <a:rPr lang="en-US" altLang="zh-CN"/>
              <a:t>Ω</a:t>
            </a:r>
            <a:r>
              <a:rPr lang="zh-CN" altLang="en-US"/>
              <a:t>、</a:t>
            </a:r>
            <a:r>
              <a:rPr lang="en-US" altLang="zh-CN"/>
              <a:t>Θ</a:t>
            </a:r>
            <a:r>
              <a:rPr lang="zh-CN" altLang="en-US"/>
              <a:t>、</a:t>
            </a:r>
            <a:r>
              <a:rPr lang="en-US" altLang="zh-CN"/>
              <a:t>ο</a:t>
            </a:r>
            <a:r>
              <a:rPr lang="zh-CN" altLang="en-US"/>
              <a:t>）</a:t>
            </a:r>
            <a:endParaRPr lang="en-US" altLang="zh-CN"/>
          </a:p>
          <a:p>
            <a:r>
              <a:rPr lang="zh-CN" altLang="en-US">
                <a:solidFill>
                  <a:srgbClr val="FF0000"/>
                </a:solidFill>
              </a:rPr>
              <a:t>性能测量</a:t>
            </a:r>
          </a:p>
        </p:txBody>
      </p:sp>
      <p:sp>
        <p:nvSpPr>
          <p:cNvPr id="9523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DAAC3F2-059B-4E20-872D-B1FFA06A7D99}" type="slidenum">
              <a:rPr lang="en-US" altLang="en-US" smtClean="0">
                <a:ea typeface="宋体" pitchFamily="2" charset="-122"/>
              </a:rPr>
              <a:pPr/>
              <a:t>73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实际复杂性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334000"/>
          </a:xfrm>
        </p:spPr>
        <p:txBody>
          <a:bodyPr/>
          <a:lstStyle/>
          <a:p>
            <a:pPr eaLnBrk="1" hangingPunct="1"/>
            <a:r>
              <a:rPr lang="zh-CN" altLang="en-US"/>
              <a:t>利用渐进复杂性</a:t>
            </a:r>
          </a:p>
          <a:p>
            <a:pPr lvl="1" eaLnBrk="1" hangingPunct="1"/>
            <a:r>
              <a:rPr lang="zh-CN" altLang="en-US"/>
              <a:t>比较：两个解决相同问题的程序，其时间随问题规模变化而变化情况</a:t>
            </a:r>
          </a:p>
          <a:p>
            <a:pPr eaLnBrk="1" hangingPunct="1"/>
            <a:r>
              <a:rPr lang="en-US" altLang="zh-CN"/>
              <a:t>P</a:t>
            </a:r>
            <a:r>
              <a:rPr lang="zh-CN" altLang="en-US"/>
              <a:t>：</a:t>
            </a:r>
            <a:r>
              <a:rPr lang="en-US" altLang="zh-CN">
                <a:cs typeface="Times New Roman" pitchFamily="18" charset="0"/>
              </a:rPr>
              <a:t>Θ</a:t>
            </a:r>
            <a:r>
              <a:rPr lang="en-US" altLang="zh-CN"/>
              <a:t>(n)</a:t>
            </a:r>
            <a:r>
              <a:rPr lang="zh-CN" altLang="en-US"/>
              <a:t>，</a:t>
            </a:r>
            <a:r>
              <a:rPr lang="en-US" altLang="zh-CN"/>
              <a:t>Q</a:t>
            </a:r>
            <a:r>
              <a:rPr lang="zh-CN" altLang="en-US"/>
              <a:t>：</a:t>
            </a:r>
            <a:r>
              <a:rPr lang="en-US" altLang="zh-CN">
                <a:cs typeface="Times New Roman" pitchFamily="18" charset="0"/>
              </a:rPr>
              <a:t>Θ</a:t>
            </a:r>
            <a:r>
              <a:rPr lang="en-US" altLang="zh-CN"/>
              <a:t>(n</a:t>
            </a:r>
            <a:r>
              <a:rPr lang="en-US" altLang="zh-CN" baseline="30000"/>
              <a:t>2</a:t>
            </a:r>
            <a:r>
              <a:rPr lang="en-US" altLang="zh-CN"/>
              <a:t>)</a:t>
            </a:r>
            <a:r>
              <a:rPr lang="en-US" altLang="zh-CN">
                <a:sym typeface="Wingdings" pitchFamily="2" charset="2"/>
              </a:rPr>
              <a:t></a:t>
            </a:r>
            <a:r>
              <a:rPr lang="en-US" altLang="zh-CN"/>
              <a:t>n</a:t>
            </a:r>
            <a:r>
              <a:rPr lang="zh-CN" altLang="en-US"/>
              <a:t>足够大，</a:t>
            </a:r>
            <a:r>
              <a:rPr lang="en-US" altLang="zh-CN"/>
              <a:t>P</a:t>
            </a:r>
            <a:r>
              <a:rPr lang="zh-CN" altLang="en-US"/>
              <a:t>快</a:t>
            </a:r>
          </a:p>
          <a:p>
            <a:pPr eaLnBrk="1" hangingPunct="1"/>
            <a:r>
              <a:rPr lang="zh-CN" altLang="en-US"/>
              <a:t>“足够大”</a:t>
            </a:r>
            <a:r>
              <a:rPr lang="en-US" altLang="zh-CN"/>
              <a:t>——</a:t>
            </a:r>
            <a:r>
              <a:rPr lang="zh-CN" altLang="en-US"/>
              <a:t>应考虑问题实际规模，</a:t>
            </a:r>
            <a:br>
              <a:rPr lang="zh-CN" altLang="en-US"/>
            </a:br>
            <a:r>
              <a:rPr lang="en-US" altLang="zh-CN"/>
              <a:t>10</a:t>
            </a:r>
            <a:r>
              <a:rPr lang="en-US" altLang="zh-CN" baseline="30000"/>
              <a:t>6</a:t>
            </a:r>
            <a:r>
              <a:rPr lang="en-US" altLang="zh-CN"/>
              <a:t>n</a:t>
            </a:r>
            <a:r>
              <a:rPr lang="zh-CN" altLang="en-US"/>
              <a:t>实际中几乎总是比</a:t>
            </a:r>
            <a:r>
              <a:rPr lang="en-US" altLang="zh-CN"/>
              <a:t>n</a:t>
            </a:r>
            <a:r>
              <a:rPr lang="en-US" altLang="zh-CN" baseline="30000"/>
              <a:t>2</a:t>
            </a:r>
            <a:r>
              <a:rPr lang="zh-CN" altLang="en-US"/>
              <a:t>慢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各种函数的渐进变化表</a:t>
            </a:r>
          </a:p>
        </p:txBody>
      </p:sp>
      <p:pic>
        <p:nvPicPr>
          <p:cNvPr id="97283" name="Picture 4" descr="asymptotic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1828800"/>
            <a:ext cx="8820150" cy="288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各种函数的渐进曲线图</a:t>
            </a:r>
          </a:p>
        </p:txBody>
      </p:sp>
      <p:pic>
        <p:nvPicPr>
          <p:cNvPr id="98307" name="Picture 4" descr="asymptotic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28800" y="1295400"/>
            <a:ext cx="5805488" cy="5503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实际性能测量：</a:t>
            </a:r>
            <a:r>
              <a:rPr lang="en-US" altLang="zh-CN" sz="3600">
                <a:solidFill>
                  <a:srgbClr val="FF0000"/>
                </a:solidFill>
              </a:rPr>
              <a:t>Insert VS Bubble</a:t>
            </a:r>
            <a:endParaRPr lang="zh-CN" altLang="en-US" sz="3600">
              <a:solidFill>
                <a:srgbClr val="FF0000"/>
              </a:solidFill>
            </a:endParaRPr>
          </a:p>
        </p:txBody>
      </p:sp>
      <p:sp>
        <p:nvSpPr>
          <p:cNvPr id="9933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机器环境</a:t>
            </a:r>
            <a:endParaRPr lang="en-US" altLang="zh-CN"/>
          </a:p>
          <a:p>
            <a:pPr lvl="1"/>
            <a:r>
              <a:rPr lang="en-US" altLang="zh-CN"/>
              <a:t>HP P6-1095</a:t>
            </a:r>
          </a:p>
          <a:p>
            <a:pPr lvl="1"/>
            <a:r>
              <a:rPr lang="en-US" altLang="zh-CN"/>
              <a:t>CPU</a:t>
            </a:r>
            <a:r>
              <a:rPr lang="zh-CN" altLang="en-US"/>
              <a:t>：</a:t>
            </a:r>
            <a:r>
              <a:rPr lang="en-US" altLang="zh-CN"/>
              <a:t>3G * 2</a:t>
            </a:r>
          </a:p>
          <a:p>
            <a:pPr lvl="1"/>
            <a:r>
              <a:rPr lang="en-US" altLang="zh-CN"/>
              <a:t>RAM</a:t>
            </a:r>
            <a:r>
              <a:rPr lang="zh-CN" altLang="en-US"/>
              <a:t>：</a:t>
            </a:r>
            <a:r>
              <a:rPr lang="en-US" altLang="zh-CN"/>
              <a:t>4G</a:t>
            </a:r>
          </a:p>
          <a:p>
            <a:r>
              <a:rPr lang="zh-CN" altLang="en-US"/>
              <a:t>实验</a:t>
            </a:r>
            <a:r>
              <a:rPr lang="en-US" altLang="zh-CN"/>
              <a:t>1</a:t>
            </a:r>
            <a:r>
              <a:rPr lang="zh-CN" altLang="en-US"/>
              <a:t>：逆序数列，</a:t>
            </a:r>
            <a:r>
              <a:rPr lang="en-US" altLang="zh-CN"/>
              <a:t>1</a:t>
            </a:r>
            <a:r>
              <a:rPr lang="zh-CN" altLang="en-US"/>
              <a:t>组</a:t>
            </a:r>
            <a:endParaRPr lang="en-US" altLang="zh-CN"/>
          </a:p>
          <a:p>
            <a:r>
              <a:rPr lang="zh-CN" altLang="en-US"/>
              <a:t>实验</a:t>
            </a:r>
            <a:r>
              <a:rPr lang="en-US" altLang="zh-CN"/>
              <a:t>2</a:t>
            </a:r>
            <a:r>
              <a:rPr lang="zh-CN" altLang="en-US"/>
              <a:t>：逆序数列，多组</a:t>
            </a:r>
          </a:p>
        </p:txBody>
      </p:sp>
      <p:sp>
        <p:nvSpPr>
          <p:cNvPr id="9933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819B3EFB-5831-4BBE-AD9F-A1139633FEA6}" type="slidenum">
              <a:rPr lang="en-US" altLang="en-US" smtClean="0">
                <a:ea typeface="宋体" pitchFamily="2" charset="-122"/>
              </a:rPr>
              <a:pPr/>
              <a:t>77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实验</a:t>
            </a:r>
            <a:r>
              <a:rPr lang="en-US" altLang="zh-CN"/>
              <a:t>1</a:t>
            </a:r>
            <a:r>
              <a:rPr lang="zh-CN" altLang="en-US"/>
              <a:t>：一组逆序数列</a:t>
            </a:r>
          </a:p>
        </p:txBody>
      </p:sp>
      <p:sp>
        <p:nvSpPr>
          <p:cNvPr id="100355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92DC52B-144A-4161-BA1D-9D8E2D3FC765}" type="slidenum">
              <a:rPr lang="en-US" altLang="en-US" smtClean="0">
                <a:ea typeface="宋体" pitchFamily="2" charset="-122"/>
              </a:rPr>
              <a:pPr/>
              <a:t>78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182688" y="1371600"/>
            <a:ext cx="77724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182880" bIns="0"/>
          <a:lstStyle/>
          <a:p>
            <a:pPr marL="228600" indent="-22860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zh-CN" sz="2000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void main(void)</a:t>
            </a:r>
          </a:p>
          <a:p>
            <a:pPr marL="228600" indent="-22860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zh-CN" sz="2000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{</a:t>
            </a:r>
          </a:p>
          <a:p>
            <a:pPr marL="228600" indent="-22860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zh-CN" sz="2000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  </a:t>
            </a:r>
            <a:r>
              <a:rPr lang="en-US" altLang="zh-CN" sz="2000" b="1" kern="0" dirty="0" err="1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sz="2000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a[10000], step = 500;</a:t>
            </a:r>
          </a:p>
          <a:p>
            <a:pPr marL="228600" indent="-22860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zh-CN" sz="2000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  </a:t>
            </a:r>
            <a:r>
              <a:rPr lang="en-US" altLang="zh-CN" sz="2000" b="1" kern="0" dirty="0" err="1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clock_t</a:t>
            </a:r>
            <a:r>
              <a:rPr lang="en-US" altLang="zh-CN" sz="2000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start, finish;</a:t>
            </a:r>
          </a:p>
          <a:p>
            <a:pPr marL="228600" indent="-22860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zh-CN" sz="2000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  for (</a:t>
            </a:r>
            <a:r>
              <a:rPr lang="en-US" altLang="zh-CN" sz="2000" b="1" kern="0" dirty="0" err="1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sz="2000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n = 0; n &lt;= 10000; n += step) {</a:t>
            </a:r>
          </a:p>
          <a:p>
            <a:pPr marL="228600" indent="-22860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zh-CN" sz="2000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     </a:t>
            </a:r>
            <a:r>
              <a:rPr lang="en-US" altLang="zh-CN" sz="2000" b="1" kern="0" dirty="0">
                <a:solidFill>
                  <a:srgbClr val="008000"/>
                </a:solidFill>
                <a:latin typeface="Tahoma" pitchFamily="34" charset="0"/>
                <a:ea typeface="黑体" pitchFamily="49" charset="-122"/>
              </a:rPr>
              <a:t>// get time for size n</a:t>
            </a:r>
          </a:p>
          <a:p>
            <a:pPr marL="228600" indent="-22860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zh-CN" sz="2000" b="1" kern="0" dirty="0">
                <a:solidFill>
                  <a:srgbClr val="008000"/>
                </a:solidFill>
                <a:latin typeface="Tahoma" pitchFamily="34" charset="0"/>
                <a:ea typeface="黑体" pitchFamily="49" charset="-122"/>
              </a:rPr>
              <a:t>      </a:t>
            </a:r>
            <a:r>
              <a:rPr lang="en-US" altLang="zh-CN" sz="2000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for (</a:t>
            </a:r>
            <a:r>
              <a:rPr lang="en-US" altLang="zh-CN" sz="2000" b="1" kern="0" dirty="0" err="1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sz="2000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</a:t>
            </a:r>
            <a:r>
              <a:rPr lang="en-US" altLang="zh-CN" sz="2000" b="1" kern="0" dirty="0" err="1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= 0; </a:t>
            </a:r>
            <a:r>
              <a:rPr lang="en-US" altLang="zh-CN" sz="2000" b="1" kern="0" dirty="0" err="1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&lt; n; </a:t>
            </a:r>
            <a:r>
              <a:rPr lang="en-US" altLang="zh-CN" sz="2000" b="1" kern="0" dirty="0" err="1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++)</a:t>
            </a:r>
          </a:p>
          <a:p>
            <a:pPr marL="228600" indent="-22860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zh-CN" sz="2000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        a[</a:t>
            </a:r>
            <a:r>
              <a:rPr lang="en-US" altLang="zh-CN" sz="2000" b="1" kern="0" dirty="0" err="1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] = n - </a:t>
            </a:r>
            <a:r>
              <a:rPr lang="en-US" altLang="zh-CN" sz="2000" b="1" kern="0" dirty="0" err="1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; </a:t>
            </a:r>
            <a:r>
              <a:rPr lang="en-US" altLang="zh-CN" sz="2000" b="1" kern="0" dirty="0">
                <a:solidFill>
                  <a:srgbClr val="008000"/>
                </a:solidFill>
                <a:latin typeface="Tahoma" pitchFamily="34" charset="0"/>
                <a:ea typeface="黑体" pitchFamily="49" charset="-122"/>
              </a:rPr>
              <a:t>// initialize</a:t>
            </a:r>
          </a:p>
          <a:p>
            <a:pPr marL="228600" indent="-22860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zh-CN" sz="2000" b="1" kern="0" dirty="0">
                <a:solidFill>
                  <a:srgbClr val="008000"/>
                </a:solidFill>
                <a:latin typeface="Tahoma" pitchFamily="34" charset="0"/>
                <a:ea typeface="黑体" pitchFamily="49" charset="-122"/>
              </a:rPr>
              <a:t>      </a:t>
            </a:r>
            <a:r>
              <a:rPr lang="en-US" altLang="zh-CN" sz="2000" b="1" kern="0" dirty="0">
                <a:solidFill>
                  <a:schemeClr val="hlink"/>
                </a:solidFill>
                <a:latin typeface="Tahoma" pitchFamily="34" charset="0"/>
                <a:ea typeface="黑体" pitchFamily="49" charset="-122"/>
              </a:rPr>
              <a:t>start = clock( );</a:t>
            </a:r>
          </a:p>
          <a:p>
            <a:pPr marL="228600" indent="-22860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zh-CN" sz="2000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     </a:t>
            </a:r>
            <a:r>
              <a:rPr lang="en-US" altLang="zh-CN" sz="2000" b="1" kern="0" dirty="0" err="1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InsertionSort</a:t>
            </a:r>
            <a:r>
              <a:rPr lang="en-US" altLang="zh-CN" sz="2000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(a, n);</a:t>
            </a:r>
          </a:p>
          <a:p>
            <a:pPr marL="228600" indent="-22860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zh-CN" sz="2000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     </a:t>
            </a:r>
            <a:r>
              <a:rPr lang="en-US" altLang="zh-CN" sz="2000" b="1" kern="0" dirty="0">
                <a:solidFill>
                  <a:schemeClr val="hlink"/>
                </a:solidFill>
                <a:latin typeface="Tahoma" pitchFamily="34" charset="0"/>
                <a:ea typeface="黑体" pitchFamily="49" charset="-122"/>
              </a:rPr>
              <a:t>finish = clock( );</a:t>
            </a:r>
          </a:p>
          <a:p>
            <a:pPr marL="228600" indent="-22860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zh-CN" sz="2000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     </a:t>
            </a:r>
            <a:r>
              <a:rPr lang="en-US" altLang="zh-CN" sz="2000" b="1" kern="0" dirty="0" err="1">
                <a:solidFill>
                  <a:schemeClr val="hlink"/>
                </a:solidFill>
                <a:latin typeface="Tahoma" pitchFamily="34" charset="0"/>
                <a:ea typeface="黑体" pitchFamily="49" charset="-122"/>
              </a:rPr>
              <a:t>cout</a:t>
            </a:r>
            <a:r>
              <a:rPr lang="en-US" altLang="zh-CN" sz="2000" b="1" kern="0" dirty="0">
                <a:solidFill>
                  <a:schemeClr val="hlink"/>
                </a:solidFill>
                <a:latin typeface="Tahoma" pitchFamily="34" charset="0"/>
                <a:ea typeface="黑体" pitchFamily="49" charset="-122"/>
              </a:rPr>
              <a:t> &lt;&lt; n &lt;&lt; ' ' &lt;&lt; (finish - start) / float(CLOCKS_PER_SEC) &lt;&lt; </a:t>
            </a:r>
            <a:r>
              <a:rPr lang="en-US" altLang="zh-CN" sz="2000" b="1" kern="0" dirty="0" err="1">
                <a:solidFill>
                  <a:schemeClr val="hlink"/>
                </a:solidFill>
                <a:latin typeface="Tahoma" pitchFamily="34" charset="0"/>
                <a:ea typeface="黑体" pitchFamily="49" charset="-122"/>
              </a:rPr>
              <a:t>endl</a:t>
            </a:r>
            <a:r>
              <a:rPr lang="en-US" altLang="zh-CN" sz="2000" b="1" kern="0" dirty="0">
                <a:solidFill>
                  <a:schemeClr val="hlink"/>
                </a:solidFill>
                <a:latin typeface="Tahoma" pitchFamily="34" charset="0"/>
                <a:ea typeface="黑体" pitchFamily="49" charset="-122"/>
              </a:rPr>
              <a:t>;</a:t>
            </a:r>
          </a:p>
          <a:p>
            <a:pPr marL="228600" indent="-22860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zh-CN" sz="2000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     if (n == 1000) step = 1000;</a:t>
            </a:r>
          </a:p>
          <a:p>
            <a:pPr marL="228600" indent="-22860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zh-CN" sz="2000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     }</a:t>
            </a:r>
          </a:p>
          <a:p>
            <a:pPr marL="228600" indent="-22860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zh-CN" sz="2000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  }</a:t>
            </a:r>
          </a:p>
        </p:txBody>
      </p:sp>
    </p:spTree>
  </p:cSld>
  <p:clrMapOvr>
    <a:masterClrMapping/>
  </p:clrMapOvr>
  <p:transition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实验</a:t>
            </a:r>
            <a:r>
              <a:rPr lang="en-US" altLang="zh-CN"/>
              <a:t>1:</a:t>
            </a:r>
            <a:r>
              <a:rPr lang="zh-CN" altLang="en-US"/>
              <a:t>一组逆序数列</a:t>
            </a:r>
          </a:p>
        </p:txBody>
      </p:sp>
      <p:sp>
        <p:nvSpPr>
          <p:cNvPr id="101379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A514E431-6806-4E96-AB9C-04F065ACF70E}" type="slidenum">
              <a:rPr lang="en-US" altLang="en-US" smtClean="0">
                <a:ea typeface="宋体" pitchFamily="2" charset="-122"/>
              </a:rPr>
              <a:pPr/>
              <a:t>79</a:t>
            </a:fld>
            <a:endParaRPr lang="en-US" altLang="en-US">
              <a:ea typeface="宋体" pitchFamily="2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524000" y="1397000"/>
          <a:ext cx="6096000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规模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Insert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Bubble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0.016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0.016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0.062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3000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0.110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4000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0.031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0.202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5000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0.031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0.312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6000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0.047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0.468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7000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0.062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0.640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8000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0.078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0.826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9000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0.094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1.046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0.125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1.279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实验</a:t>
            </a:r>
            <a:r>
              <a:rPr lang="en-US" altLang="zh-CN"/>
              <a:t>2</a:t>
            </a:r>
            <a:r>
              <a:rPr lang="zh-CN" altLang="en-US"/>
              <a:t>：多组逆序数据</a:t>
            </a:r>
          </a:p>
        </p:txBody>
      </p:sp>
      <p:sp>
        <p:nvSpPr>
          <p:cNvPr id="102403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1E212CD-FB44-4DB9-B8F1-8A087EF8C963}" type="slidenum">
              <a:rPr lang="en-US" altLang="en-US" smtClean="0">
                <a:ea typeface="宋体" pitchFamily="2" charset="-122"/>
              </a:rPr>
              <a:pPr/>
              <a:t>80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182688" y="1371600"/>
            <a:ext cx="77724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182880" bIns="0"/>
          <a:lstStyle/>
          <a:p>
            <a:pPr marL="228600" indent="-228600">
              <a:lnSpc>
                <a:spcPct val="90000"/>
              </a:lnSpc>
              <a:defRPr/>
            </a:pPr>
            <a:r>
              <a:rPr lang="en-US" altLang="zh-CN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void main(void)</a:t>
            </a:r>
          </a:p>
          <a:p>
            <a:pPr marL="228600" indent="-228600">
              <a:lnSpc>
                <a:spcPct val="90000"/>
              </a:lnSpc>
              <a:defRPr/>
            </a:pPr>
            <a:r>
              <a:rPr lang="en-US" altLang="zh-CN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{</a:t>
            </a:r>
          </a:p>
          <a:p>
            <a:pPr marL="228600" indent="-228600">
              <a:lnSpc>
                <a:spcPct val="90000"/>
              </a:lnSpc>
              <a:defRPr/>
            </a:pPr>
            <a:r>
              <a:rPr lang="en-US" altLang="zh-CN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  </a:t>
            </a:r>
            <a:r>
              <a:rPr lang="en-US" altLang="zh-CN" b="1" kern="0" dirty="0" err="1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a[10000], n, </a:t>
            </a:r>
            <a:r>
              <a:rPr lang="en-US" altLang="zh-CN" b="1" kern="0" dirty="0" err="1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, step = 500;</a:t>
            </a:r>
          </a:p>
          <a:p>
            <a:pPr marL="228600" indent="-228600">
              <a:lnSpc>
                <a:spcPct val="90000"/>
              </a:lnSpc>
              <a:defRPr/>
            </a:pPr>
            <a:r>
              <a:rPr lang="en-US" altLang="zh-CN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  long counter;</a:t>
            </a:r>
          </a:p>
          <a:p>
            <a:pPr marL="228600" indent="-228600">
              <a:lnSpc>
                <a:spcPct val="90000"/>
              </a:lnSpc>
              <a:defRPr/>
            </a:pPr>
            <a:r>
              <a:rPr lang="en-US" altLang="zh-CN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  float seconds;</a:t>
            </a:r>
          </a:p>
          <a:p>
            <a:pPr marL="228600" indent="-228600">
              <a:lnSpc>
                <a:spcPct val="90000"/>
              </a:lnSpc>
              <a:defRPr/>
            </a:pPr>
            <a:r>
              <a:rPr lang="en-US" altLang="zh-CN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  </a:t>
            </a:r>
            <a:r>
              <a:rPr lang="en-US" altLang="zh-CN" b="1" kern="0" dirty="0" err="1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clock_t</a:t>
            </a:r>
            <a:r>
              <a:rPr lang="en-US" altLang="zh-CN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start, finish;</a:t>
            </a:r>
          </a:p>
          <a:p>
            <a:pPr marL="228600" indent="-228600">
              <a:lnSpc>
                <a:spcPct val="90000"/>
              </a:lnSpc>
              <a:defRPr/>
            </a:pPr>
            <a:r>
              <a:rPr lang="en-US" altLang="zh-CN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  for (n = 0; n &lt;= 10000; n += step) {</a:t>
            </a:r>
          </a:p>
          <a:p>
            <a:pPr marL="228600" indent="-228600">
              <a:lnSpc>
                <a:spcPct val="90000"/>
              </a:lnSpc>
              <a:defRPr/>
            </a:pPr>
            <a:r>
              <a:rPr lang="en-US" altLang="zh-CN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     </a:t>
            </a:r>
            <a:r>
              <a:rPr lang="en-US" altLang="zh-CN" b="1" kern="0" dirty="0">
                <a:solidFill>
                  <a:srgbClr val="008000"/>
                </a:solidFill>
                <a:latin typeface="Tahoma" pitchFamily="34" charset="0"/>
                <a:ea typeface="黑体" pitchFamily="49" charset="-122"/>
              </a:rPr>
              <a:t>// get time for size n</a:t>
            </a:r>
          </a:p>
          <a:p>
            <a:pPr marL="228600" indent="-228600">
              <a:lnSpc>
                <a:spcPct val="90000"/>
              </a:lnSpc>
              <a:defRPr/>
            </a:pPr>
            <a:r>
              <a:rPr lang="en-US" altLang="zh-CN" b="1" kern="0" dirty="0">
                <a:solidFill>
                  <a:schemeClr val="hlink"/>
                </a:solidFill>
                <a:latin typeface="Tahoma" pitchFamily="34" charset="0"/>
                <a:ea typeface="黑体" pitchFamily="49" charset="-122"/>
              </a:rPr>
              <a:t>      start = clock( ); counter = 0;</a:t>
            </a:r>
          </a:p>
          <a:p>
            <a:pPr marL="228600" indent="-228600">
              <a:lnSpc>
                <a:spcPct val="90000"/>
              </a:lnSpc>
              <a:defRPr/>
            </a:pPr>
            <a:r>
              <a:rPr lang="en-US" altLang="zh-CN" b="1" kern="0" dirty="0">
                <a:solidFill>
                  <a:srgbClr val="008000"/>
                </a:solidFill>
                <a:latin typeface="Tahoma" pitchFamily="34" charset="0"/>
                <a:ea typeface="黑体" pitchFamily="49" charset="-122"/>
              </a:rPr>
              <a:t>      </a:t>
            </a:r>
            <a:r>
              <a:rPr lang="en-US" altLang="zh-CN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while (</a:t>
            </a:r>
            <a:r>
              <a:rPr lang="en-US" altLang="zh-CN" b="1" kern="0" dirty="0">
                <a:solidFill>
                  <a:schemeClr val="hlink"/>
                </a:solidFill>
                <a:latin typeface="Tahoma" pitchFamily="34" charset="0"/>
                <a:ea typeface="黑体" pitchFamily="49" charset="-122"/>
              </a:rPr>
              <a:t>clock( ) - start &lt; 100</a:t>
            </a:r>
            <a:r>
              <a:rPr lang="en-US" altLang="zh-CN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) {</a:t>
            </a:r>
          </a:p>
          <a:p>
            <a:pPr marL="228600" indent="-228600">
              <a:lnSpc>
                <a:spcPct val="90000"/>
              </a:lnSpc>
              <a:defRPr/>
            </a:pPr>
            <a:r>
              <a:rPr lang="en-US" altLang="zh-CN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        counter++;</a:t>
            </a:r>
          </a:p>
          <a:p>
            <a:pPr marL="228600" indent="-228600">
              <a:lnSpc>
                <a:spcPct val="90000"/>
              </a:lnSpc>
              <a:defRPr/>
            </a:pPr>
            <a:r>
              <a:rPr lang="en-US" altLang="zh-CN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        for (</a:t>
            </a:r>
            <a:r>
              <a:rPr lang="en-US" altLang="zh-CN" b="1" kern="0" dirty="0" err="1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= 0; </a:t>
            </a:r>
            <a:r>
              <a:rPr lang="en-US" altLang="zh-CN" b="1" kern="0" dirty="0" err="1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&lt; n; </a:t>
            </a:r>
            <a:r>
              <a:rPr lang="en-US" altLang="zh-CN" b="1" kern="0" dirty="0" err="1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++)</a:t>
            </a:r>
          </a:p>
          <a:p>
            <a:pPr marL="228600" indent="-228600">
              <a:lnSpc>
                <a:spcPct val="90000"/>
              </a:lnSpc>
              <a:defRPr/>
            </a:pPr>
            <a:r>
              <a:rPr lang="en-US" altLang="zh-CN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           a[</a:t>
            </a:r>
            <a:r>
              <a:rPr lang="en-US" altLang="zh-CN" b="1" kern="0" dirty="0" err="1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] = n - </a:t>
            </a:r>
            <a:r>
              <a:rPr lang="en-US" altLang="zh-CN" b="1" kern="0" dirty="0" err="1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; </a:t>
            </a:r>
            <a:r>
              <a:rPr lang="en-US" altLang="zh-CN" b="1" kern="0" dirty="0">
                <a:solidFill>
                  <a:srgbClr val="008000"/>
                </a:solidFill>
                <a:latin typeface="Tahoma" pitchFamily="34" charset="0"/>
                <a:ea typeface="黑体" pitchFamily="49" charset="-122"/>
              </a:rPr>
              <a:t>// initialize</a:t>
            </a:r>
          </a:p>
          <a:p>
            <a:pPr marL="228600" indent="-228600">
              <a:lnSpc>
                <a:spcPct val="90000"/>
              </a:lnSpc>
              <a:defRPr/>
            </a:pPr>
            <a:r>
              <a:rPr lang="en-US" altLang="zh-CN" b="1" kern="0" dirty="0">
                <a:solidFill>
                  <a:srgbClr val="008000"/>
                </a:solidFill>
                <a:latin typeface="Tahoma" pitchFamily="34" charset="0"/>
                <a:ea typeface="黑体" pitchFamily="49" charset="-122"/>
              </a:rPr>
              <a:t>         </a:t>
            </a:r>
            <a:r>
              <a:rPr lang="en-US" altLang="zh-CN" b="1" kern="0" dirty="0" err="1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InsertionSort</a:t>
            </a:r>
            <a:r>
              <a:rPr lang="en-US" altLang="zh-CN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(a, n);</a:t>
            </a:r>
          </a:p>
          <a:p>
            <a:pPr marL="228600" indent="-228600">
              <a:lnSpc>
                <a:spcPct val="90000"/>
              </a:lnSpc>
              <a:defRPr/>
            </a:pPr>
            <a:r>
              <a:rPr lang="en-US" altLang="zh-CN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        }</a:t>
            </a:r>
          </a:p>
          <a:p>
            <a:pPr marL="228600" indent="-228600">
              <a:lnSpc>
                <a:spcPct val="90000"/>
              </a:lnSpc>
              <a:defRPr/>
            </a:pPr>
            <a:r>
              <a:rPr lang="en-US" altLang="zh-CN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     </a:t>
            </a:r>
            <a:r>
              <a:rPr lang="en-US" altLang="zh-CN" b="1" kern="0" dirty="0">
                <a:solidFill>
                  <a:schemeClr val="hlink"/>
                </a:solidFill>
                <a:latin typeface="Tahoma" pitchFamily="34" charset="0"/>
                <a:ea typeface="黑体" pitchFamily="49" charset="-122"/>
              </a:rPr>
              <a:t>finish = clock( );</a:t>
            </a:r>
          </a:p>
          <a:p>
            <a:pPr marL="228600" indent="-228600">
              <a:lnSpc>
                <a:spcPct val="90000"/>
              </a:lnSpc>
              <a:defRPr/>
            </a:pPr>
            <a:r>
              <a:rPr lang="en-US" altLang="zh-CN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     </a:t>
            </a:r>
            <a:r>
              <a:rPr lang="en-US" altLang="zh-CN" b="1" kern="0" dirty="0">
                <a:solidFill>
                  <a:schemeClr val="hlink"/>
                </a:solidFill>
                <a:latin typeface="Tahoma" pitchFamily="34" charset="0"/>
                <a:ea typeface="黑体" pitchFamily="49" charset="-122"/>
              </a:rPr>
              <a:t>seconds = (finish - start) / float(CLOCKS_PER_SEC);</a:t>
            </a:r>
          </a:p>
          <a:p>
            <a:pPr marL="228600" indent="-228600">
              <a:lnSpc>
                <a:spcPct val="90000"/>
              </a:lnSpc>
              <a:defRPr/>
            </a:pPr>
            <a:r>
              <a:rPr lang="en-US" altLang="zh-CN" b="1" kern="0" dirty="0">
                <a:solidFill>
                  <a:schemeClr val="hlink"/>
                </a:solidFill>
                <a:latin typeface="Tahoma" pitchFamily="34" charset="0"/>
                <a:ea typeface="黑体" pitchFamily="49" charset="-122"/>
              </a:rPr>
              <a:t>      </a:t>
            </a:r>
            <a:r>
              <a:rPr lang="en-US" altLang="zh-CN" b="1" kern="0" dirty="0" err="1">
                <a:solidFill>
                  <a:schemeClr val="hlink"/>
                </a:solidFill>
                <a:latin typeface="Tahoma" pitchFamily="34" charset="0"/>
                <a:ea typeface="黑体" pitchFamily="49" charset="-122"/>
              </a:rPr>
              <a:t>cout</a:t>
            </a:r>
            <a:r>
              <a:rPr lang="en-US" altLang="zh-CN" b="1" kern="0" dirty="0">
                <a:solidFill>
                  <a:schemeClr val="hlink"/>
                </a:solidFill>
                <a:latin typeface="Tahoma" pitchFamily="34" charset="0"/>
                <a:ea typeface="黑体" pitchFamily="49" charset="-122"/>
              </a:rPr>
              <a:t> &lt;&lt; n &lt;&lt; ' ' &lt;&lt; counter &lt;&lt; ' ' &lt;&lt; seconds</a:t>
            </a:r>
          </a:p>
          <a:p>
            <a:pPr marL="228600" indent="-228600">
              <a:lnSpc>
                <a:spcPct val="90000"/>
              </a:lnSpc>
              <a:defRPr/>
            </a:pPr>
            <a:r>
              <a:rPr lang="en-US" altLang="zh-CN" b="1" kern="0" dirty="0">
                <a:solidFill>
                  <a:schemeClr val="hlink"/>
                </a:solidFill>
                <a:latin typeface="Tahoma" pitchFamily="34" charset="0"/>
                <a:ea typeface="黑体" pitchFamily="49" charset="-122"/>
              </a:rPr>
              <a:t>           &lt;&lt; ' ' &lt;&lt; seconds / counter &lt;&lt; </a:t>
            </a:r>
            <a:r>
              <a:rPr lang="en-US" altLang="zh-CN" b="1" kern="0" dirty="0" err="1">
                <a:solidFill>
                  <a:schemeClr val="hlink"/>
                </a:solidFill>
                <a:latin typeface="Tahoma" pitchFamily="34" charset="0"/>
                <a:ea typeface="黑体" pitchFamily="49" charset="-122"/>
              </a:rPr>
              <a:t>endl</a:t>
            </a:r>
            <a:r>
              <a:rPr lang="en-US" altLang="zh-CN" b="1" kern="0" dirty="0">
                <a:solidFill>
                  <a:schemeClr val="hlink"/>
                </a:solidFill>
                <a:latin typeface="Tahoma" pitchFamily="34" charset="0"/>
                <a:ea typeface="黑体" pitchFamily="49" charset="-122"/>
              </a:rPr>
              <a:t>;</a:t>
            </a:r>
          </a:p>
          <a:p>
            <a:pPr marL="228600" indent="-228600">
              <a:lnSpc>
                <a:spcPct val="90000"/>
              </a:lnSpc>
              <a:defRPr/>
            </a:pPr>
            <a:r>
              <a:rPr lang="en-US" altLang="zh-CN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     if (n == 1000) step = 1000;}</a:t>
            </a:r>
          </a:p>
          <a:p>
            <a:pPr marL="228600" indent="-22860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zh-CN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}</a:t>
            </a:r>
          </a:p>
        </p:txBody>
      </p:sp>
    </p:spTree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实验</a:t>
            </a:r>
            <a:r>
              <a:rPr lang="en-US" altLang="zh-CN"/>
              <a:t>2:</a:t>
            </a:r>
            <a:r>
              <a:rPr lang="zh-CN" altLang="en-US"/>
              <a:t>多组逆序数列</a:t>
            </a:r>
          </a:p>
        </p:txBody>
      </p:sp>
      <p:sp>
        <p:nvSpPr>
          <p:cNvPr id="103427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0BDB485-37A2-482A-93D4-406C6652F0ED}" type="slidenum">
              <a:rPr lang="en-US" altLang="en-US" smtClean="0">
                <a:ea typeface="宋体" pitchFamily="2" charset="-122"/>
              </a:rPr>
              <a:pPr/>
              <a:t>81</a:t>
            </a:fld>
            <a:endParaRPr lang="en-US" altLang="en-US">
              <a:ea typeface="宋体" pitchFamily="2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524000" y="1397000"/>
          <a:ext cx="6096000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规模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Insert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Bubble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0.0000000654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0.0000000950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0.000326347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0.00320588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0.00128235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0.013625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0.00495455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0.052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3000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0.011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0.109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4000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0.0206667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0.219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5000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0.03125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0.327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6000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0.047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0.453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7000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0.062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0.624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8000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0.078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0.812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9000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0.1015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1.03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0.125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1.295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本节课我们学习了：</a:t>
            </a:r>
          </a:p>
        </p:txBody>
      </p:sp>
      <p:sp>
        <p:nvSpPr>
          <p:cNvPr id="10445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评判程序性能的两个标准</a:t>
            </a:r>
            <a:endParaRPr lang="en-US" altLang="zh-CN"/>
          </a:p>
          <a:p>
            <a:pPr lvl="1"/>
            <a:r>
              <a:rPr lang="zh-CN" altLang="en-US"/>
              <a:t>空间复杂性</a:t>
            </a:r>
            <a:endParaRPr lang="en-US" altLang="zh-CN"/>
          </a:p>
          <a:p>
            <a:pPr lvl="1"/>
            <a:r>
              <a:rPr lang="zh-CN" altLang="en-US"/>
              <a:t>时间复杂性</a:t>
            </a:r>
            <a:endParaRPr lang="en-US" altLang="zh-CN"/>
          </a:p>
          <a:p>
            <a:pPr lvl="2"/>
            <a:r>
              <a:rPr lang="zh-CN" altLang="en-US"/>
              <a:t>分析法</a:t>
            </a:r>
            <a:r>
              <a:rPr lang="en-US" altLang="zh-CN"/>
              <a:t>【</a:t>
            </a:r>
            <a:r>
              <a:rPr lang="zh-CN" altLang="en-US">
                <a:solidFill>
                  <a:srgbClr val="FF0000"/>
                </a:solidFill>
              </a:rPr>
              <a:t>接下来会频繁用到</a:t>
            </a:r>
            <a:r>
              <a:rPr lang="en-US" altLang="zh-CN"/>
              <a:t>】</a:t>
            </a:r>
          </a:p>
          <a:p>
            <a:pPr lvl="2"/>
            <a:r>
              <a:rPr lang="zh-CN" altLang="en-US"/>
              <a:t>实验法</a:t>
            </a:r>
            <a:endParaRPr lang="en-US" altLang="zh-CN"/>
          </a:p>
          <a:p>
            <a:pPr lvl="2"/>
            <a:endParaRPr lang="en-US" altLang="zh-CN"/>
          </a:p>
          <a:p>
            <a:r>
              <a:rPr lang="zh-CN" altLang="en-US"/>
              <a:t>掌握了四种比较简单的排序算法</a:t>
            </a:r>
          </a:p>
        </p:txBody>
      </p:sp>
      <p:sp>
        <p:nvSpPr>
          <p:cNvPr id="10445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0FEE1CC-88A9-4923-9012-4D4AB4F2F1BA}" type="slidenum">
              <a:rPr lang="en-US" altLang="en-US" smtClean="0">
                <a:ea typeface="宋体" pitchFamily="2" charset="-122"/>
              </a:rPr>
              <a:pPr/>
              <a:t>82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思考</a:t>
            </a:r>
          </a:p>
        </p:txBody>
      </p:sp>
      <p:sp>
        <p:nvSpPr>
          <p:cNvPr id="10547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能否通过实验，全面对比四种排序算法的优劣？实验结果与分析结果一致吗？</a:t>
            </a:r>
            <a:endParaRPr lang="en-US" altLang="zh-CN"/>
          </a:p>
          <a:p>
            <a:r>
              <a:rPr lang="zh-CN" altLang="en-US"/>
              <a:t>如果你在写完某个程序后发现运行特别慢，必须加以改进，该如何做？</a:t>
            </a:r>
          </a:p>
        </p:txBody>
      </p:sp>
      <p:sp>
        <p:nvSpPr>
          <p:cNvPr id="10547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8595008-D5A2-4B4C-A5DF-4AD86CBF7BE9}" type="slidenum">
              <a:rPr lang="en-US" altLang="en-US" smtClean="0">
                <a:ea typeface="宋体" pitchFamily="2" charset="-122"/>
              </a:rPr>
              <a:pPr/>
              <a:t>83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AD2C426-BC5E-4BFB-BD26-1630FCBADFE5}" type="slidenum">
              <a:rPr lang="en-US" altLang="en-US" smtClean="0">
                <a:ea typeface="宋体" pitchFamily="2" charset="-122"/>
              </a:rPr>
              <a:pPr/>
              <a:t>84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957508" y="2173284"/>
            <a:ext cx="2967480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5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本章结束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1_TEST_tr_present_080326_v1">
  <a:themeElements>
    <a:clrScheme name="TEST_tr_present_080326_v1 1">
      <a:dk1>
        <a:srgbClr val="4B4B4B"/>
      </a:dk1>
      <a:lt1>
        <a:srgbClr val="FFFFFF"/>
      </a:lt1>
      <a:dk2>
        <a:srgbClr val="FF8000"/>
      </a:dk2>
      <a:lt2>
        <a:srgbClr val="A0968C"/>
      </a:lt2>
      <a:accent1>
        <a:srgbClr val="005A84"/>
      </a:accent1>
      <a:accent2>
        <a:srgbClr val="6234A4"/>
      </a:accent2>
      <a:accent3>
        <a:srgbClr val="FFFFFF"/>
      </a:accent3>
      <a:accent4>
        <a:srgbClr val="3F3F3F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TEST_tr_present_080326_v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TEST_tr_present_080326_v1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_tr_present_080326_v1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_tr_present_080326_v1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_tr_present_080326_v1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_tr_present_080326_v1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Default Design">
  <a:themeElements>
    <a:clrScheme name="4_Default Design 5">
      <a:dk1>
        <a:srgbClr val="A0968C"/>
      </a:dk1>
      <a:lt1>
        <a:srgbClr val="FFFFFF"/>
      </a:lt1>
      <a:dk2>
        <a:srgbClr val="5F5F5F"/>
      </a:dk2>
      <a:lt2>
        <a:srgbClr val="FFFFFF"/>
      </a:lt2>
      <a:accent1>
        <a:srgbClr val="005A84"/>
      </a:accent1>
      <a:accent2>
        <a:srgbClr val="6234A4"/>
      </a:accent2>
      <a:accent3>
        <a:srgbClr val="B6B6B6"/>
      </a:accent3>
      <a:accent4>
        <a:srgbClr val="DADADA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4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4_Default Design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5_Default Design">
  <a:themeElements>
    <a:clrScheme name="5_Default Design 5">
      <a:dk1>
        <a:srgbClr val="A0968C"/>
      </a:dk1>
      <a:lt1>
        <a:srgbClr val="FFFFFF"/>
      </a:lt1>
      <a:dk2>
        <a:srgbClr val="5F5F5F"/>
      </a:dk2>
      <a:lt2>
        <a:srgbClr val="FFFFFF"/>
      </a:lt2>
      <a:accent1>
        <a:srgbClr val="005A84"/>
      </a:accent1>
      <a:accent2>
        <a:srgbClr val="6234A4"/>
      </a:accent2>
      <a:accent3>
        <a:srgbClr val="B6B6B6"/>
      </a:accent3>
      <a:accent4>
        <a:srgbClr val="DADADA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5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5_Default Design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Default Design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Default Design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Default Design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Default Design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6_Default Design">
  <a:themeElements>
    <a:clrScheme name="6_Default Design 5">
      <a:dk1>
        <a:srgbClr val="A0968C"/>
      </a:dk1>
      <a:lt1>
        <a:srgbClr val="FFFFFF"/>
      </a:lt1>
      <a:dk2>
        <a:srgbClr val="5F5F5F"/>
      </a:dk2>
      <a:lt2>
        <a:srgbClr val="FFFFFF"/>
      </a:lt2>
      <a:accent1>
        <a:srgbClr val="005A84"/>
      </a:accent1>
      <a:accent2>
        <a:srgbClr val="6234A4"/>
      </a:accent2>
      <a:accent3>
        <a:srgbClr val="B6B6B6"/>
      </a:accent3>
      <a:accent4>
        <a:srgbClr val="DADADA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6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6_Default Design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Default Design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Default Design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Default Design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Default Design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7_Default Design">
  <a:themeElements>
    <a:clrScheme name="7_Default Design 5">
      <a:dk1>
        <a:srgbClr val="A0968C"/>
      </a:dk1>
      <a:lt1>
        <a:srgbClr val="FFFFFF"/>
      </a:lt1>
      <a:dk2>
        <a:srgbClr val="5F5F5F"/>
      </a:dk2>
      <a:lt2>
        <a:srgbClr val="FFFFFF"/>
      </a:lt2>
      <a:accent1>
        <a:srgbClr val="005A84"/>
      </a:accent1>
      <a:accent2>
        <a:srgbClr val="6234A4"/>
      </a:accent2>
      <a:accent3>
        <a:srgbClr val="B6B6B6"/>
      </a:accent3>
      <a:accent4>
        <a:srgbClr val="DADADA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7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7_Default Design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Default Design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Default Design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Default Design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Default Design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8_Default Design">
  <a:themeElements>
    <a:clrScheme name="8_Default Design 5">
      <a:dk1>
        <a:srgbClr val="A0968C"/>
      </a:dk1>
      <a:lt1>
        <a:srgbClr val="FFFFFF"/>
      </a:lt1>
      <a:dk2>
        <a:srgbClr val="5F5F5F"/>
      </a:dk2>
      <a:lt2>
        <a:srgbClr val="FFFFFF"/>
      </a:lt2>
      <a:accent1>
        <a:srgbClr val="005A84"/>
      </a:accent1>
      <a:accent2>
        <a:srgbClr val="6234A4"/>
      </a:accent2>
      <a:accent3>
        <a:srgbClr val="B6B6B6"/>
      </a:accent3>
      <a:accent4>
        <a:srgbClr val="DADADA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8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8_Default Design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Default Design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Default Design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Default Design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Default Design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9_Default Design">
  <a:themeElements>
    <a:clrScheme name="9_Default Design 5">
      <a:dk1>
        <a:srgbClr val="A0968C"/>
      </a:dk1>
      <a:lt1>
        <a:srgbClr val="FFFFFF"/>
      </a:lt1>
      <a:dk2>
        <a:srgbClr val="5F5F5F"/>
      </a:dk2>
      <a:lt2>
        <a:srgbClr val="FFFFFF"/>
      </a:lt2>
      <a:accent1>
        <a:srgbClr val="005A84"/>
      </a:accent1>
      <a:accent2>
        <a:srgbClr val="6234A4"/>
      </a:accent2>
      <a:accent3>
        <a:srgbClr val="B6B6B6"/>
      </a:accent3>
      <a:accent4>
        <a:srgbClr val="DADADA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9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9_Default Design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Default Design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Default Design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Default Design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Default Design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11_Default Design">
  <a:themeElements>
    <a:clrScheme name="3_Default Design 5">
      <a:dk1>
        <a:srgbClr val="A0968C"/>
      </a:dk1>
      <a:lt1>
        <a:srgbClr val="FFFFFF"/>
      </a:lt1>
      <a:dk2>
        <a:srgbClr val="5F5F5F"/>
      </a:dk2>
      <a:lt2>
        <a:srgbClr val="FFFFFF"/>
      </a:lt2>
      <a:accent1>
        <a:srgbClr val="005A84"/>
      </a:accent1>
      <a:accent2>
        <a:srgbClr val="6234A4"/>
      </a:accent2>
      <a:accent3>
        <a:srgbClr val="B6B6B6"/>
      </a:accent3>
      <a:accent4>
        <a:srgbClr val="DADADA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3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3_Default Design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12_Default Design">
  <a:themeElements>
    <a:clrScheme name="1_Default Design 5">
      <a:dk1>
        <a:srgbClr val="A0968C"/>
      </a:dk1>
      <a:lt1>
        <a:srgbClr val="FFFFFF"/>
      </a:lt1>
      <a:dk2>
        <a:srgbClr val="5F5F5F"/>
      </a:dk2>
      <a:lt2>
        <a:srgbClr val="FFFFFF"/>
      </a:lt2>
      <a:accent1>
        <a:srgbClr val="005A84"/>
      </a:accent1>
      <a:accent2>
        <a:srgbClr val="6234A4"/>
      </a:accent2>
      <a:accent3>
        <a:srgbClr val="B6B6B6"/>
      </a:accent3>
      <a:accent4>
        <a:srgbClr val="DADADA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1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Default Design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">
    <a:dk1>
      <a:srgbClr val="4B4B4B"/>
    </a:dk1>
    <a:lt1>
      <a:srgbClr val="FFFFFF"/>
    </a:lt1>
    <a:dk2>
      <a:srgbClr val="FF8000"/>
    </a:dk2>
    <a:lt2>
      <a:srgbClr val="766C62"/>
    </a:lt2>
    <a:accent1>
      <a:srgbClr val="FF8000"/>
    </a:accent1>
    <a:accent2>
      <a:srgbClr val="FF9100"/>
    </a:accent2>
    <a:accent3>
      <a:srgbClr val="FFFFFF"/>
    </a:accent3>
    <a:accent4>
      <a:srgbClr val="3F3F3F"/>
    </a:accent4>
    <a:accent5>
      <a:srgbClr val="FFC0AA"/>
    </a:accent5>
    <a:accent6>
      <a:srgbClr val="E78300"/>
    </a:accent6>
    <a:hlink>
      <a:srgbClr val="FFB400"/>
    </a:hlink>
    <a:folHlink>
      <a:srgbClr val="A0968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TS-Templates-Green</Template>
  <TotalTime>17798</TotalTime>
  <Words>6253</Words>
  <Application>Microsoft Office PowerPoint</Application>
  <PresentationFormat>全屏显示(4:3)</PresentationFormat>
  <Paragraphs>896</Paragraphs>
  <Slides>84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9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84</vt:i4>
      </vt:variant>
    </vt:vector>
  </HeadingPairs>
  <TitlesOfParts>
    <vt:vector size="101" baseType="lpstr">
      <vt:lpstr>仿宋_GB2312</vt:lpstr>
      <vt:lpstr>楷体</vt:lpstr>
      <vt:lpstr>黑体</vt:lpstr>
      <vt:lpstr>Arial</vt:lpstr>
      <vt:lpstr>Tahoma</vt:lpstr>
      <vt:lpstr>Times New Roman</vt:lpstr>
      <vt:lpstr>Wingdings</vt:lpstr>
      <vt:lpstr>1_TEST_tr_present_080326_v1</vt:lpstr>
      <vt:lpstr>4_Default Design</vt:lpstr>
      <vt:lpstr>5_Default Design</vt:lpstr>
      <vt:lpstr>6_Default Design</vt:lpstr>
      <vt:lpstr>7_Default Design</vt:lpstr>
      <vt:lpstr>8_Default Design</vt:lpstr>
      <vt:lpstr>9_Default Design</vt:lpstr>
      <vt:lpstr>11_Default Design</vt:lpstr>
      <vt:lpstr>12_Default Design</vt:lpstr>
      <vt:lpstr>Equation</vt:lpstr>
      <vt:lpstr>第2-3章  程序性能与渐进分析</vt:lpstr>
      <vt:lpstr>回顾</vt:lpstr>
      <vt:lpstr>程序测试示例</vt:lpstr>
      <vt:lpstr>程序测试示例</vt:lpstr>
      <vt:lpstr>程序测试用例</vt:lpstr>
      <vt:lpstr>测试过程</vt:lpstr>
      <vt:lpstr>主要内容</vt:lpstr>
      <vt:lpstr>提出问题：如何评价算法？</vt:lpstr>
      <vt:lpstr>方案一：占用尽量少的额外空间</vt:lpstr>
      <vt:lpstr>方案二：在最短时间内完成</vt:lpstr>
      <vt:lpstr>结论</vt:lpstr>
      <vt:lpstr>影响程序性能评价的因素</vt:lpstr>
      <vt:lpstr>空间复杂性</vt:lpstr>
      <vt:lpstr>数据空间：VC++中变量所占空间</vt:lpstr>
      <vt:lpstr>程序空间分析</vt:lpstr>
      <vt:lpstr>空间复杂性分析例1:累加</vt:lpstr>
      <vt:lpstr>空间复杂性分析例2：阶乘</vt:lpstr>
      <vt:lpstr>小结</vt:lpstr>
      <vt:lpstr>主要内容</vt:lpstr>
      <vt:lpstr>时空分析对比</vt:lpstr>
      <vt:lpstr>应该摒弃的指标</vt:lpstr>
      <vt:lpstr>应该采用的指标</vt:lpstr>
      <vt:lpstr>操作计数分析示例：多项式求值</vt:lpstr>
      <vt:lpstr>多项式求值优化</vt:lpstr>
      <vt:lpstr>H1.四种排序算法及其操作分析</vt:lpstr>
      <vt:lpstr>计数排序：思想</vt:lpstr>
      <vt:lpstr>计数排序：示例</vt:lpstr>
      <vt:lpstr>计数排序：代码和分析</vt:lpstr>
      <vt:lpstr>计数排序改进思想</vt:lpstr>
      <vt:lpstr>改进计数排序</vt:lpstr>
      <vt:lpstr>选择排序：思想</vt:lpstr>
      <vt:lpstr>选择排序：示例</vt:lpstr>
      <vt:lpstr>选择排序：示例2</vt:lpstr>
      <vt:lpstr>选择排序：代码和分析</vt:lpstr>
      <vt:lpstr>选择排序：改进思想</vt:lpstr>
      <vt:lpstr>改进选择排序</vt:lpstr>
      <vt:lpstr>冒泡排序：思想</vt:lpstr>
      <vt:lpstr>冒泡排序：示例</vt:lpstr>
      <vt:lpstr>冒泡排序：示例2</vt:lpstr>
      <vt:lpstr>冒泡排序：代码和分析</vt:lpstr>
      <vt:lpstr>改进冒泡排序</vt:lpstr>
      <vt:lpstr>插入排序：思想</vt:lpstr>
      <vt:lpstr>插入排序：示例</vt:lpstr>
      <vt:lpstr>插入排序示例2</vt:lpstr>
      <vt:lpstr>插入排序示例2</vt:lpstr>
      <vt:lpstr>插入排序：代码和分析</vt:lpstr>
      <vt:lpstr>补充：稳定（stable）排序</vt:lpstr>
      <vt:lpstr>H1小结</vt:lpstr>
      <vt:lpstr>H1小结（续）</vt:lpstr>
      <vt:lpstr>主要内容</vt:lpstr>
      <vt:lpstr>问题提出</vt:lpstr>
      <vt:lpstr>复杂度的渐进性质</vt:lpstr>
      <vt:lpstr>H2.大写Ο符号</vt:lpstr>
      <vt:lpstr>常用做g的简单函数</vt:lpstr>
      <vt:lpstr>大O符号例子</vt:lpstr>
      <vt:lpstr>大O符号例子（续）</vt:lpstr>
      <vt:lpstr>大O符号例子（续）</vt:lpstr>
      <vt:lpstr>大O符号例子（续）</vt:lpstr>
      <vt:lpstr>错误界限</vt:lpstr>
      <vt:lpstr>错误界限（续）</vt:lpstr>
      <vt:lpstr>多项式的阶</vt:lpstr>
      <vt:lpstr>大O原理图示</vt:lpstr>
      <vt:lpstr>H2小结</vt:lpstr>
      <vt:lpstr>Ω符号</vt:lpstr>
      <vt:lpstr>Ω符号例子</vt:lpstr>
      <vt:lpstr>Ω符号例子（续）</vt:lpstr>
      <vt:lpstr>关于Ω的多项式定理</vt:lpstr>
      <vt:lpstr>Ω原理图示</vt:lpstr>
      <vt:lpstr>Θ符号</vt:lpstr>
      <vt:lpstr>Θ符号例子</vt:lpstr>
      <vt:lpstr>PowerPoint 演示文稿</vt:lpstr>
      <vt:lpstr>小写o符号</vt:lpstr>
      <vt:lpstr>主要内容</vt:lpstr>
      <vt:lpstr>实际复杂性</vt:lpstr>
      <vt:lpstr>各种函数的渐进变化表</vt:lpstr>
      <vt:lpstr>各种函数的渐进曲线图</vt:lpstr>
      <vt:lpstr>实际性能测量：Insert VS Bubble</vt:lpstr>
      <vt:lpstr>实验1：一组逆序数列</vt:lpstr>
      <vt:lpstr>实验1:一组逆序数列</vt:lpstr>
      <vt:lpstr>实验2：多组逆序数据</vt:lpstr>
      <vt:lpstr>实验2:多组逆序数列</vt:lpstr>
      <vt:lpstr>本节课我们学习了：</vt:lpstr>
      <vt:lpstr>思考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杨巨峰</dc:creator>
  <cp:lastModifiedBy>皓喆 陆</cp:lastModifiedBy>
  <cp:revision>1072</cp:revision>
  <cp:lastPrinted>2022-09-27T04:20:19Z</cp:lastPrinted>
  <dcterms:created xsi:type="dcterms:W3CDTF">2008-01-10T01:45:22Z</dcterms:created>
  <dcterms:modified xsi:type="dcterms:W3CDTF">2023-10-15T08:49:28Z</dcterms:modified>
</cp:coreProperties>
</file>