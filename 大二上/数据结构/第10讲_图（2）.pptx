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60"/>
  </p:handoutMasterIdLst>
  <p:sldIdLst>
    <p:sldId id="1103" r:id="rId4"/>
    <p:sldId id="1377" r:id="rId5"/>
    <p:sldId id="1366" r:id="rId6"/>
    <p:sldId id="1501" r:id="rId7"/>
    <p:sldId id="1378" r:id="rId9"/>
    <p:sldId id="1662" r:id="rId10"/>
    <p:sldId id="1379" r:id="rId11"/>
    <p:sldId id="1502" r:id="rId12"/>
    <p:sldId id="1503" r:id="rId13"/>
    <p:sldId id="1381" r:id="rId14"/>
    <p:sldId id="1380" r:id="rId15"/>
    <p:sldId id="1382" r:id="rId16"/>
    <p:sldId id="1383" r:id="rId17"/>
    <p:sldId id="1624" r:id="rId18"/>
    <p:sldId id="1623" r:id="rId19"/>
    <p:sldId id="1744" r:id="rId20"/>
    <p:sldId id="1388" r:id="rId21"/>
    <p:sldId id="1389" r:id="rId22"/>
    <p:sldId id="1390" r:id="rId23"/>
    <p:sldId id="1391" r:id="rId24"/>
    <p:sldId id="1392" r:id="rId25"/>
    <p:sldId id="1658" r:id="rId26"/>
    <p:sldId id="1504" r:id="rId27"/>
    <p:sldId id="1711" r:id="rId28"/>
    <p:sldId id="1661" r:id="rId29"/>
    <p:sldId id="1393" r:id="rId30"/>
    <p:sldId id="1599" r:id="rId31"/>
    <p:sldId id="1394" r:id="rId32"/>
    <p:sldId id="1395" r:id="rId33"/>
    <p:sldId id="1396" r:id="rId34"/>
    <p:sldId id="1601" r:id="rId35"/>
    <p:sldId id="1397" r:id="rId36"/>
    <p:sldId id="1398" r:id="rId37"/>
    <p:sldId id="1399" r:id="rId38"/>
    <p:sldId id="1400" r:id="rId39"/>
    <p:sldId id="1401" r:id="rId40"/>
    <p:sldId id="1402" r:id="rId41"/>
    <p:sldId id="1464" r:id="rId42"/>
    <p:sldId id="1465" r:id="rId43"/>
    <p:sldId id="1466" r:id="rId44"/>
    <p:sldId id="1467" r:id="rId45"/>
    <p:sldId id="1468" r:id="rId46"/>
    <p:sldId id="1403" r:id="rId47"/>
    <p:sldId id="1404" r:id="rId48"/>
    <p:sldId id="1405" r:id="rId49"/>
    <p:sldId id="1406" r:id="rId50"/>
    <p:sldId id="1659" r:id="rId51"/>
    <p:sldId id="1660" r:id="rId52"/>
    <p:sldId id="1505" r:id="rId53"/>
    <p:sldId id="1506" r:id="rId54"/>
    <p:sldId id="1603" r:id="rId55"/>
    <p:sldId id="1667" r:id="rId56"/>
    <p:sldId id="1663" r:id="rId57"/>
    <p:sldId id="1665" r:id="rId58"/>
    <p:sldId id="645" r:id="rId59"/>
  </p:sldIdLst>
  <p:sldSz cx="9144000" cy="6858000" type="screen4x3"/>
  <p:notesSz cx="7099300" cy="10234295"/>
  <p:custDataLst>
    <p:tags r:id="rId64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4436"/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12"/>
        <p:guide pos="28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4" Type="http://schemas.openxmlformats.org/officeDocument/2006/relationships/tags" Target="tags/tag225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681038" y="4721225"/>
            <a:ext cx="5449887" cy="44719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442450"/>
            <a:ext cx="2951163" cy="49688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8" Type="http://schemas.openxmlformats.org/officeDocument/2006/relationships/notesSlide" Target="../notesSlides/notesSlide6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96.xml"/><Relationship Id="rId35" Type="http://schemas.openxmlformats.org/officeDocument/2006/relationships/tags" Target="../tags/tag95.xml"/><Relationship Id="rId34" Type="http://schemas.openxmlformats.org/officeDocument/2006/relationships/tags" Target="../tags/tag94.xml"/><Relationship Id="rId33" Type="http://schemas.openxmlformats.org/officeDocument/2006/relationships/tags" Target="../tags/tag93.xml"/><Relationship Id="rId32" Type="http://schemas.openxmlformats.org/officeDocument/2006/relationships/tags" Target="../tags/tag92.xml"/><Relationship Id="rId31" Type="http://schemas.openxmlformats.org/officeDocument/2006/relationships/tags" Target="../tags/tag91.xml"/><Relationship Id="rId30" Type="http://schemas.openxmlformats.org/officeDocument/2006/relationships/tags" Target="../tags/tag90.xml"/><Relationship Id="rId3" Type="http://schemas.openxmlformats.org/officeDocument/2006/relationships/tags" Target="../tags/tag63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tags" Target="../tags/tag87.xml"/><Relationship Id="rId26" Type="http://schemas.openxmlformats.org/officeDocument/2006/relationships/tags" Target="../tags/tag86.xml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tags" Target="../tags/tag82.xml"/><Relationship Id="rId21" Type="http://schemas.openxmlformats.org/officeDocument/2006/relationships/tags" Target="../tags/tag81.xml"/><Relationship Id="rId20" Type="http://schemas.openxmlformats.org/officeDocument/2006/relationships/tags" Target="../tags/tag80.xml"/><Relationship Id="rId2" Type="http://schemas.openxmlformats.org/officeDocument/2006/relationships/tags" Target="../tags/tag6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5" Type="http://schemas.openxmlformats.org/officeDocument/2006/relationships/slideLayout" Target="../slideLayouts/slideLayout7.xml"/><Relationship Id="rId54" Type="http://schemas.openxmlformats.org/officeDocument/2006/relationships/tags" Target="../tags/tag156.xml"/><Relationship Id="rId53" Type="http://schemas.openxmlformats.org/officeDocument/2006/relationships/image" Target="../media/image8.png"/><Relationship Id="rId52" Type="http://schemas.openxmlformats.org/officeDocument/2006/relationships/tags" Target="../tags/tag155.xml"/><Relationship Id="rId51" Type="http://schemas.openxmlformats.org/officeDocument/2006/relationships/tags" Target="../tags/tag154.xml"/><Relationship Id="rId50" Type="http://schemas.openxmlformats.org/officeDocument/2006/relationships/tags" Target="../tags/tag153.xml"/><Relationship Id="rId5" Type="http://schemas.openxmlformats.org/officeDocument/2006/relationships/tags" Target="../tags/tag108.xml"/><Relationship Id="rId49" Type="http://schemas.openxmlformats.org/officeDocument/2006/relationships/tags" Target="../tags/tag152.xml"/><Relationship Id="rId48" Type="http://schemas.openxmlformats.org/officeDocument/2006/relationships/tags" Target="../tags/tag151.xml"/><Relationship Id="rId47" Type="http://schemas.openxmlformats.org/officeDocument/2006/relationships/tags" Target="../tags/tag150.xml"/><Relationship Id="rId46" Type="http://schemas.openxmlformats.org/officeDocument/2006/relationships/tags" Target="../tags/tag149.xml"/><Relationship Id="rId45" Type="http://schemas.openxmlformats.org/officeDocument/2006/relationships/tags" Target="../tags/tag148.xml"/><Relationship Id="rId44" Type="http://schemas.openxmlformats.org/officeDocument/2006/relationships/tags" Target="../tags/tag147.xml"/><Relationship Id="rId43" Type="http://schemas.openxmlformats.org/officeDocument/2006/relationships/tags" Target="../tags/tag146.xml"/><Relationship Id="rId42" Type="http://schemas.openxmlformats.org/officeDocument/2006/relationships/tags" Target="../tags/tag145.xml"/><Relationship Id="rId41" Type="http://schemas.openxmlformats.org/officeDocument/2006/relationships/tags" Target="../tags/tag144.xml"/><Relationship Id="rId40" Type="http://schemas.openxmlformats.org/officeDocument/2006/relationships/tags" Target="../tags/tag143.xml"/><Relationship Id="rId4" Type="http://schemas.openxmlformats.org/officeDocument/2006/relationships/tags" Target="../tags/tag107.xml"/><Relationship Id="rId39" Type="http://schemas.openxmlformats.org/officeDocument/2006/relationships/tags" Target="../tags/tag142.xml"/><Relationship Id="rId38" Type="http://schemas.openxmlformats.org/officeDocument/2006/relationships/tags" Target="../tags/tag141.xml"/><Relationship Id="rId37" Type="http://schemas.openxmlformats.org/officeDocument/2006/relationships/tags" Target="../tags/tag140.xml"/><Relationship Id="rId36" Type="http://schemas.openxmlformats.org/officeDocument/2006/relationships/tags" Target="../tags/tag139.xml"/><Relationship Id="rId35" Type="http://schemas.openxmlformats.org/officeDocument/2006/relationships/tags" Target="../tags/tag138.xml"/><Relationship Id="rId34" Type="http://schemas.openxmlformats.org/officeDocument/2006/relationships/tags" Target="../tags/tag137.xml"/><Relationship Id="rId33" Type="http://schemas.openxmlformats.org/officeDocument/2006/relationships/tags" Target="../tags/tag136.xml"/><Relationship Id="rId32" Type="http://schemas.openxmlformats.org/officeDocument/2006/relationships/tags" Target="../tags/tag135.xml"/><Relationship Id="rId31" Type="http://schemas.openxmlformats.org/officeDocument/2006/relationships/tags" Target="../tags/tag134.xml"/><Relationship Id="rId30" Type="http://schemas.openxmlformats.org/officeDocument/2006/relationships/tags" Target="../tags/tag133.xml"/><Relationship Id="rId3" Type="http://schemas.openxmlformats.org/officeDocument/2006/relationships/tags" Target="../tags/tag106.xml"/><Relationship Id="rId29" Type="http://schemas.openxmlformats.org/officeDocument/2006/relationships/tags" Target="../tags/tag132.xml"/><Relationship Id="rId28" Type="http://schemas.openxmlformats.org/officeDocument/2006/relationships/tags" Target="../tags/tag131.xml"/><Relationship Id="rId27" Type="http://schemas.openxmlformats.org/officeDocument/2006/relationships/tags" Target="../tags/tag130.xml"/><Relationship Id="rId26" Type="http://schemas.openxmlformats.org/officeDocument/2006/relationships/tags" Target="../tags/tag129.xml"/><Relationship Id="rId25" Type="http://schemas.openxmlformats.org/officeDocument/2006/relationships/tags" Target="../tags/tag128.xml"/><Relationship Id="rId24" Type="http://schemas.openxmlformats.org/officeDocument/2006/relationships/tags" Target="../tags/tag127.xml"/><Relationship Id="rId23" Type="http://schemas.openxmlformats.org/officeDocument/2006/relationships/tags" Target="../tags/tag126.xml"/><Relationship Id="rId22" Type="http://schemas.openxmlformats.org/officeDocument/2006/relationships/tags" Target="../tags/tag125.xml"/><Relationship Id="rId21" Type="http://schemas.openxmlformats.org/officeDocument/2006/relationships/tags" Target="../tags/tag124.xml"/><Relationship Id="rId20" Type="http://schemas.openxmlformats.org/officeDocument/2006/relationships/tags" Target="../tags/tag123.xml"/><Relationship Id="rId2" Type="http://schemas.openxmlformats.org/officeDocument/2006/relationships/tags" Target="../tags/tag105.xml"/><Relationship Id="rId19" Type="http://schemas.openxmlformats.org/officeDocument/2006/relationships/tags" Target="../tags/tag122.xml"/><Relationship Id="rId18" Type="http://schemas.openxmlformats.org/officeDocument/2006/relationships/tags" Target="../tags/tag121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5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7.xml"/><Relationship Id="rId2" Type="http://schemas.openxmlformats.org/officeDocument/2006/relationships/image" Target="../media/image9.png"/><Relationship Id="rId1" Type="http://schemas.openxmlformats.org/officeDocument/2006/relationships/tags" Target="../tags/tag166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1.xml"/><Relationship Id="rId2" Type="http://schemas.openxmlformats.org/officeDocument/2006/relationships/image" Target="../media/image10.png"/><Relationship Id="rId1" Type="http://schemas.openxmlformats.org/officeDocument/2006/relationships/tags" Target="../tags/tag180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0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5.xml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3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tags" Target="../tags/tag221.xml"/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23.xml"/><Relationship Id="rId1" Type="http://schemas.openxmlformats.org/officeDocument/2006/relationships/tags" Target="../tags/tag2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讲  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图（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  <p:sp>
        <p:nvSpPr>
          <p:cNvPr id="2" name="副标题 1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最短路径算法</a:t>
            </a:r>
            <a:endParaRPr lang="en-US" altLang="zh-CN" smtClean="0">
              <a:solidFill>
                <a:schemeClr val="tx1"/>
              </a:solidFill>
            </a:endParaRPr>
          </a:p>
          <a:p>
            <a:pPr lvl="1"/>
            <a:r>
              <a:rPr lang="zh-CN" altLang="en-US" smtClean="0">
                <a:sym typeface="+mn-ea"/>
              </a:rPr>
              <a:t>Dijkstra算法</a:t>
            </a:r>
            <a:endParaRPr lang="en-US" altLang="zh-CN" smtClean="0">
              <a:solidFill>
                <a:schemeClr val="tx1"/>
              </a:solidFill>
            </a:endParaRPr>
          </a:p>
          <a:p>
            <a:pPr lvl="1"/>
            <a:r>
              <a:rPr lang="en-US" altLang="zh-CN" smtClean="0">
                <a:solidFill>
                  <a:schemeClr val="tx1"/>
                </a:solidFill>
              </a:rPr>
              <a:t>Floyd</a:t>
            </a:r>
            <a:r>
              <a:rPr lang="zh-CN" altLang="en-US" smtClean="0">
                <a:solidFill>
                  <a:schemeClr val="tx1"/>
                </a:solidFill>
              </a:rPr>
              <a:t>算法</a:t>
            </a:r>
            <a:endParaRPr lang="zh-CN" altLang="en-US" smtClean="0">
              <a:solidFill>
                <a:schemeClr val="tx1"/>
              </a:solidFill>
            </a:endParaRPr>
          </a:p>
          <a:p>
            <a:pPr lvl="1"/>
            <a:r>
              <a:rPr lang="en-US" altLang="zh-CN" smtClean="0">
                <a:solidFill>
                  <a:schemeClr val="tx1"/>
                </a:solidFill>
              </a:rPr>
              <a:t>Bellman</a:t>
            </a:r>
            <a:r>
              <a:rPr lang="zh-CN" altLang="en-US" smtClean="0">
                <a:solidFill>
                  <a:schemeClr val="tx1"/>
                </a:solidFill>
              </a:rPr>
              <a:t>算法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最短路径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8946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18770"/>
            <a:ext cx="4347845" cy="93916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问题描述</a:t>
            </a:r>
            <a:endParaRPr lang="zh-CN" altLang="en-US" smtClean="0">
              <a:sym typeface="+mn-ea"/>
            </a:endParaRPr>
          </a:p>
        </p:txBody>
      </p:sp>
      <p:sp>
        <p:nvSpPr>
          <p:cNvPr id="9789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给定：连通有向图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及其中的顶点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b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找到：从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的最短路径及其长度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旅游者：最经济的出行路线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路由器：最快地将数据包传送到目标位置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路径规划：多边形环境中的自主机器人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9" name="Picture 5" descr="shortest-path-e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7198" y="2045970"/>
            <a:ext cx="3238500" cy="2344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Picture 6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0" y="4131310"/>
            <a:ext cx="2731135" cy="2045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最短路径问题</a:t>
            </a:r>
            <a:endParaRPr lang="zh-CN" altLang="en-US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无权图的最短路径问题</a:t>
            </a:r>
            <a:endParaRPr lang="en-US" altLang="zh-CN" smtClean="0"/>
          </a:p>
          <a:p>
            <a:pPr lvl="1"/>
            <a:r>
              <a:rPr lang="zh-CN" altLang="en-US" smtClean="0"/>
              <a:t>比较简单，即两点之间边数最少的路径</a:t>
            </a:r>
            <a:r>
              <a:rPr lang="en-US" altLang="zh-CN" smtClean="0"/>
              <a:t>(BFS)</a:t>
            </a:r>
            <a:endParaRPr lang="en-US" altLang="zh-CN" smtClean="0"/>
          </a:p>
          <a:p>
            <a:r>
              <a:rPr lang="zh-CN" altLang="en-US" smtClean="0">
                <a:solidFill>
                  <a:srgbClr val="0000CC"/>
                </a:solidFill>
              </a:rPr>
              <a:t>有向带权图</a:t>
            </a:r>
            <a:r>
              <a:rPr lang="zh-CN" altLang="en-US" smtClean="0"/>
              <a:t>的最短路径问题</a:t>
            </a:r>
            <a:endParaRPr lang="en-US" altLang="zh-CN" smtClean="0"/>
          </a:p>
          <a:p>
            <a:pPr lvl="1"/>
            <a:r>
              <a:rPr lang="zh-CN" altLang="en-US" smtClean="0"/>
              <a:t>可理解为两地间交通费用最少问题</a:t>
            </a:r>
            <a:endParaRPr lang="en-US" altLang="zh-CN" smtClean="0"/>
          </a:p>
          <a:p>
            <a:pPr lvl="1"/>
            <a:r>
              <a:rPr lang="zh-CN" altLang="en-US" smtClean="0"/>
              <a:t>分为单源最短路径、每对点最短路径两类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单源最短</a:t>
            </a:r>
            <a:r>
              <a:rPr lang="zh-CN" altLang="en-US"/>
              <a:t>路径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贪婪策略的</a:t>
            </a:r>
            <a:r>
              <a:rPr lang="en-US" altLang="zh-CN"/>
              <a:t>Dijkstra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单源最短路径</a:t>
            </a:r>
            <a:endParaRPr lang="zh-CN" altLang="en-US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有向图</a:t>
            </a:r>
            <a:r>
              <a:rPr lang="en-US" altLang="zh-CN" smtClean="0"/>
              <a:t>G</a:t>
            </a:r>
            <a:r>
              <a:rPr lang="zh-CN" altLang="en-US" smtClean="0"/>
              <a:t>，每条边都有</a:t>
            </a:r>
            <a:r>
              <a:rPr lang="zh-CN" altLang="en-US" u="wavyDbl" smtClean="0">
                <a:solidFill>
                  <a:srgbClr val="FF0000"/>
                </a:solidFill>
                <a:uFillTx/>
              </a:rPr>
              <a:t>非负权重</a:t>
            </a:r>
            <a:r>
              <a:rPr lang="zh-CN" altLang="en-US" smtClean="0"/>
              <a:t>（耗费）</a:t>
            </a:r>
            <a:endParaRPr lang="zh-CN" altLang="en-US" smtClean="0"/>
          </a:p>
          <a:p>
            <a:r>
              <a:rPr lang="zh-CN" altLang="en-US" smtClean="0"/>
              <a:t>路径长度</a:t>
            </a:r>
            <a:r>
              <a:rPr lang="en-US" altLang="zh-CN" smtClean="0"/>
              <a:t>——</a:t>
            </a:r>
            <a:r>
              <a:rPr lang="zh-CN" altLang="en-US" smtClean="0"/>
              <a:t>路径中边的权重之和</a:t>
            </a:r>
            <a:endParaRPr lang="zh-CN" altLang="en-US" smtClean="0"/>
          </a:p>
          <a:p>
            <a:r>
              <a:rPr lang="zh-CN" altLang="en-US" smtClean="0"/>
              <a:t>单源最短路径：给定源顶点</a:t>
            </a:r>
            <a:r>
              <a:rPr lang="en-US" altLang="zh-CN" smtClean="0"/>
              <a:t>s</a:t>
            </a:r>
            <a:r>
              <a:rPr lang="zh-CN" altLang="en-US" smtClean="0"/>
              <a:t>，求它到其他任意顶点（目的顶点）的最短路径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6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E. W. Dijkstra</a:t>
            </a:r>
            <a:endParaRPr lang="zh-CN" altLang="en-US" smtClean="0">
              <a:sym typeface="+mn-ea"/>
            </a:endParaRPr>
          </a:p>
        </p:txBody>
      </p:sp>
      <p:sp>
        <p:nvSpPr>
          <p:cNvPr id="962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Turing Award, 1972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6" name="Picture 5" descr="dijkstr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13" y="2308225"/>
            <a:ext cx="3136900" cy="3136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Picture 7" descr="Edsger_Wybe_Dijkstr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044700"/>
            <a:ext cx="2508250" cy="3689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36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连通图中，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到每个顶点都有（至少）一条最短路径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就同一起点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而言，任何最短路径的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，也是一条最短路径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就同一起点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而言，所有最短路径的并，不含回路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53709" name="Oval 13"/>
          <p:cNvSpPr>
            <a:spLocks noChangeArrowheads="1"/>
          </p:cNvSpPr>
          <p:nvPr/>
        </p:nvSpPr>
        <p:spPr bwMode="auto">
          <a:xfrm>
            <a:off x="468313" y="494188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3710" name="Oval 14"/>
          <p:cNvSpPr>
            <a:spLocks noChangeArrowheads="1"/>
          </p:cNvSpPr>
          <p:nvPr/>
        </p:nvSpPr>
        <p:spPr bwMode="auto">
          <a:xfrm flipH="1">
            <a:off x="1577975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1" name="Oval 15"/>
          <p:cNvSpPr>
            <a:spLocks noChangeArrowheads="1"/>
          </p:cNvSpPr>
          <p:nvPr/>
        </p:nvSpPr>
        <p:spPr bwMode="auto">
          <a:xfrm flipH="1">
            <a:off x="262890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2" name="Oval 16"/>
          <p:cNvSpPr>
            <a:spLocks noChangeArrowheads="1"/>
          </p:cNvSpPr>
          <p:nvPr/>
        </p:nvSpPr>
        <p:spPr bwMode="auto">
          <a:xfrm flipH="1">
            <a:off x="478790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3" name="Oval 17"/>
          <p:cNvSpPr>
            <a:spLocks noChangeArrowheads="1"/>
          </p:cNvSpPr>
          <p:nvPr/>
        </p:nvSpPr>
        <p:spPr bwMode="auto">
          <a:xfrm flipH="1">
            <a:off x="5868988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4" name="Oval 18"/>
          <p:cNvSpPr>
            <a:spLocks noChangeArrowheads="1"/>
          </p:cNvSpPr>
          <p:nvPr/>
        </p:nvSpPr>
        <p:spPr bwMode="auto">
          <a:xfrm flipH="1">
            <a:off x="7308850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3715" name="Oval 19"/>
          <p:cNvSpPr>
            <a:spLocks noChangeArrowheads="1"/>
          </p:cNvSpPr>
          <p:nvPr/>
        </p:nvSpPr>
        <p:spPr bwMode="auto">
          <a:xfrm flipH="1">
            <a:off x="8389938" y="49418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 useBgFill="1">
        <p:nvSpPr>
          <p:cNvPr id="1053716" name="Oval 20"/>
          <p:cNvSpPr/>
          <p:nvPr/>
        </p:nvSpPr>
        <p:spPr>
          <a:xfrm>
            <a:off x="4427538" y="60213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endParaRPr lang="en-US" altLang="zh-CN" sz="18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53717" name="AutoShape 21"/>
          <p:cNvSpPr/>
          <p:nvPr/>
        </p:nvSpPr>
        <p:spPr>
          <a:xfrm rot="16200000">
            <a:off x="4427538" y="1965325"/>
            <a:ext cx="288925" cy="7921625"/>
          </a:xfrm>
          <a:prstGeom prst="leftBrace">
            <a:avLst>
              <a:gd name="adj1" fmla="val 228479"/>
              <a:gd name="adj2" fmla="val 50000"/>
            </a:avLst>
          </a:prstGeom>
          <a:noFill/>
          <a:ln w="28575" cap="flat" cmpd="sng">
            <a:solidFill>
              <a:srgbClr val="272727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18000" rIns="0" bIns="18000" anchor="ctr"/>
          <a:p>
            <a:endParaRPr lang="zh-CN" altLang="en-US" dirty="0">
              <a:latin typeface="Calibri" panose="020F0502020204030204" charset="0"/>
            </a:endParaRPr>
          </a:p>
        </p:txBody>
      </p:sp>
      <p:sp useBgFill="1">
        <p:nvSpPr>
          <p:cNvPr id="1053718" name="Oval 22"/>
          <p:cNvSpPr/>
          <p:nvPr/>
        </p:nvSpPr>
        <p:spPr>
          <a:xfrm>
            <a:off x="2628900" y="55419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endParaRPr lang="en-US" altLang="zh-CN" sz="18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53719" name="AutoShape 23"/>
          <p:cNvSpPr/>
          <p:nvPr/>
        </p:nvSpPr>
        <p:spPr>
          <a:xfrm rot="16200000">
            <a:off x="2627313" y="3286125"/>
            <a:ext cx="288925" cy="4321175"/>
          </a:xfrm>
          <a:prstGeom prst="leftBrace">
            <a:avLst>
              <a:gd name="adj1" fmla="val 124633"/>
              <a:gd name="adj2" fmla="val 50000"/>
            </a:avLst>
          </a:prstGeom>
          <a:noFill/>
          <a:ln w="28575" cap="flat" cmpd="sng">
            <a:solidFill>
              <a:srgbClr val="272727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18000" rIns="0" bIns="18000" anchor="ctr"/>
          <a:p>
            <a:endParaRPr lang="zh-CN" altLang="en-US" dirty="0">
              <a:latin typeface="Calibri" panose="020F0502020204030204" charset="0"/>
            </a:endParaRPr>
          </a:p>
        </p:txBody>
      </p:sp>
      <p:cxnSp>
        <p:nvCxnSpPr>
          <p:cNvPr id="1053720" name="AutoShape 24"/>
          <p:cNvCxnSpPr>
            <a:stCxn id="1053709" idx="0"/>
            <a:endCxn id="1053712" idx="0"/>
          </p:cNvCxnSpPr>
          <p:nvPr/>
        </p:nvCxnSpPr>
        <p:spPr>
          <a:xfrm rot="5400000" flipV="1">
            <a:off x="2771775" y="2768600"/>
            <a:ext cx="1588" cy="4319588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3721" name="Oval 25"/>
          <p:cNvSpPr/>
          <p:nvPr/>
        </p:nvSpPr>
        <p:spPr>
          <a:xfrm>
            <a:off x="1908175" y="4367213"/>
            <a:ext cx="1727200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: || </a:t>
            </a:r>
            <a:r>
              <a:rPr lang="zh-CN" altLang="en-US" sz="1800" b="1" dirty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1800" b="1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||</a:t>
            </a:r>
            <a:endParaRPr lang="en-US" altLang="zh-CN" sz="1800" b="1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1053722" name="AutoShape 26"/>
          <p:cNvCxnSpPr>
            <a:stCxn id="1053710" idx="6"/>
            <a:endCxn id="1053709" idx="6"/>
          </p:cNvCxnSpPr>
          <p:nvPr/>
        </p:nvCxnSpPr>
        <p:spPr>
          <a:xfrm rot="10800000">
            <a:off x="769938" y="5086350"/>
            <a:ext cx="7953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3" name="AutoShape 27"/>
          <p:cNvCxnSpPr>
            <a:stCxn id="1053711" idx="6"/>
            <a:endCxn id="1053710" idx="2"/>
          </p:cNvCxnSpPr>
          <p:nvPr/>
        </p:nvCxnSpPr>
        <p:spPr>
          <a:xfrm rot="10800000">
            <a:off x="1881188" y="5086350"/>
            <a:ext cx="73501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4" name="AutoShape 28"/>
          <p:cNvCxnSpPr>
            <a:stCxn id="1053712" idx="6"/>
            <a:endCxn id="1053711" idx="2"/>
          </p:cNvCxnSpPr>
          <p:nvPr/>
        </p:nvCxnSpPr>
        <p:spPr>
          <a:xfrm rot="10800000">
            <a:off x="2932113" y="5086350"/>
            <a:ext cx="18430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1053725" name="AutoShape 29"/>
          <p:cNvCxnSpPr>
            <a:stCxn id="1053713" idx="6"/>
            <a:endCxn id="1053712" idx="2"/>
          </p:cNvCxnSpPr>
          <p:nvPr/>
        </p:nvCxnSpPr>
        <p:spPr>
          <a:xfrm rot="10800000">
            <a:off x="5091113" y="5086350"/>
            <a:ext cx="7651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6" name="AutoShape 30"/>
          <p:cNvCxnSpPr>
            <a:stCxn id="1053715" idx="6"/>
            <a:endCxn id="1053714" idx="2"/>
          </p:cNvCxnSpPr>
          <p:nvPr/>
        </p:nvCxnSpPr>
        <p:spPr>
          <a:xfrm rot="10800000">
            <a:off x="7612063" y="5086350"/>
            <a:ext cx="7651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cxnSp>
        <p:nvCxnSpPr>
          <p:cNvPr id="1053727" name="AutoShape 31"/>
          <p:cNvCxnSpPr>
            <a:stCxn id="1053714" idx="6"/>
            <a:endCxn id="1053713" idx="2"/>
          </p:cNvCxnSpPr>
          <p:nvPr/>
        </p:nvCxnSpPr>
        <p:spPr>
          <a:xfrm rot="10800000">
            <a:off x="6172200" y="5086350"/>
            <a:ext cx="112395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>
                <a:sym typeface="+mn-ea"/>
              </a:rPr>
              <a:t>单源最短路径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53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053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0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3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53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53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53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53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53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53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53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3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53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53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53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37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6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10537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053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300" fill="hold"/>
                                        <p:tgtEl>
                                          <p:spTgt spid="1053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7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0537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1053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8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537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53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300" fill="hold"/>
                                        <p:tgtEl>
                                          <p:spTgt spid="1053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19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10537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300" fill="hold"/>
                                        <p:tgtEl>
                                          <p:spTgt spid="1053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900"/>
                                        <p:tgtEl>
                                          <p:spTgt spid="105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0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10537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1053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900"/>
                                        <p:tgtEl>
                                          <p:spTgt spid="105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1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10537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900"/>
                                        <p:tgtEl>
                                          <p:spTgt spid="105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053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900"/>
                                        <p:tgtEl>
                                          <p:spTgt spid="105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3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053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50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900"/>
                                        <p:tgtEl>
                                          <p:spTgt spid="105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4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0537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900"/>
                                        <p:tgtEl>
                                          <p:spTgt spid="105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537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900"/>
                                        <p:tgtEl>
                                          <p:spTgt spid="105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6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10537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900"/>
                                        <p:tgtEl>
                                          <p:spTgt spid="105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3727"/>
                  </p:tgtEl>
                </p:cond>
              </p:nextCondLst>
            </p:seq>
          </p:childTnLst>
        </p:cTn>
      </p:par>
    </p:tnLst>
    <p:bldLst>
      <p:bldP spid="1053709" grpId="0" bldLvl="0" animBg="1"/>
      <p:bldP spid="1053709" grpId="1" bldLvl="0" animBg="1"/>
      <p:bldP spid="1053709" grpId="2" bldLvl="0" animBg="1"/>
      <p:bldP spid="1053710" grpId="0" bldLvl="0" animBg="1"/>
      <p:bldP spid="1053711" grpId="0" bldLvl="0" animBg="1"/>
      <p:bldP spid="1053712" grpId="0" bldLvl="0" animBg="1"/>
      <p:bldP spid="1053713" grpId="0" bldLvl="0" animBg="1"/>
      <p:bldP spid="1053714" grpId="0" bldLvl="0" animBg="1"/>
      <p:bldP spid="1053715" grpId="0" bldLvl="0" animBg="1"/>
      <p:bldP spid="1053716" grpId="0" animBg="1"/>
      <p:bldP spid="1053716" grpId="1" animBg="1"/>
      <p:bldP spid="1053718" grpId="0" animBg="1"/>
      <p:bldP spid="1053718" grpId="1" animBg="1"/>
      <p:bldP spid="1053721" grpId="0" animBg="1"/>
      <p:bldP spid="105372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Dijkstra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S</a:t>
            </a:r>
            <a:r>
              <a:rPr lang="zh-CN" altLang="en-US" smtClean="0"/>
              <a:t>：“已求出最短路径顶点集合”，初始为</a:t>
            </a:r>
            <a:r>
              <a:rPr lang="en-US" altLang="zh-CN" smtClean="0"/>
              <a:t>{s}</a:t>
            </a:r>
            <a:endParaRPr lang="en-US" altLang="zh-CN" smtClean="0"/>
          </a:p>
          <a:p>
            <a:r>
              <a:rPr lang="en-US" altLang="zh-CN" smtClean="0"/>
              <a:t>L=V - S</a:t>
            </a:r>
            <a:endParaRPr lang="en-US" altLang="zh-CN" smtClean="0"/>
          </a:p>
          <a:p>
            <a:r>
              <a:rPr lang="zh-CN" altLang="en-US" smtClean="0"/>
              <a:t>每个步骤从</a:t>
            </a:r>
            <a:r>
              <a:rPr lang="en-US" altLang="zh-CN" smtClean="0"/>
              <a:t>L</a:t>
            </a:r>
            <a:r>
              <a:rPr lang="zh-CN" altLang="en-US" smtClean="0"/>
              <a:t>选取一个顶点</a:t>
            </a:r>
            <a:r>
              <a:rPr lang="en-US" altLang="zh-CN" smtClean="0"/>
              <a:t>v</a:t>
            </a:r>
            <a:r>
              <a:rPr lang="zh-CN" altLang="en-US" smtClean="0"/>
              <a:t>加入</a:t>
            </a:r>
            <a:r>
              <a:rPr lang="en-US" altLang="zh-CN" smtClean="0"/>
              <a:t>S</a:t>
            </a:r>
            <a:endParaRPr lang="en-US" altLang="zh-CN" smtClean="0"/>
          </a:p>
          <a:p>
            <a:r>
              <a:rPr lang="zh-CN" altLang="en-US" smtClean="0"/>
              <a:t>贪心准则：</a:t>
            </a:r>
            <a:r>
              <a:rPr lang="en-US" altLang="zh-CN" smtClean="0"/>
              <a:t>v</a:t>
            </a:r>
            <a:r>
              <a:rPr lang="zh-CN" altLang="en-US" smtClean="0"/>
              <a:t>是</a:t>
            </a:r>
            <a:r>
              <a:rPr lang="en-US" altLang="zh-CN" smtClean="0"/>
              <a:t>L</a:t>
            </a:r>
            <a:r>
              <a:rPr lang="zh-CN" altLang="en-US" smtClean="0"/>
              <a:t>中距</a:t>
            </a:r>
            <a:r>
              <a:rPr lang="en-US" altLang="zh-CN" smtClean="0"/>
              <a:t>s</a:t>
            </a:r>
            <a:r>
              <a:rPr lang="zh-CN" altLang="en-US" smtClean="0"/>
              <a:t>距离最短者</a:t>
            </a:r>
            <a:endParaRPr lang="zh-CN" altLang="en-US" smtClean="0"/>
          </a:p>
          <a:p>
            <a:r>
              <a:rPr lang="zh-CN" altLang="en-US" smtClean="0"/>
              <a:t>新最短路径</a:t>
            </a:r>
            <a:r>
              <a:rPr lang="en-US" altLang="zh-CN" smtClean="0">
                <a:sym typeface="Wingdings" panose="05000000000000000000" pitchFamily="2" charset="2"/>
              </a:rPr>
              <a:t>=</a:t>
            </a:r>
            <a:r>
              <a:rPr lang="zh-CN" altLang="en-US" smtClean="0">
                <a:sym typeface="Wingdings" panose="05000000000000000000" pitchFamily="2" charset="2"/>
              </a:rPr>
              <a:t>已有最短路径</a:t>
            </a:r>
            <a:r>
              <a:rPr lang="en-US" altLang="zh-CN" smtClean="0">
                <a:sym typeface="Wingdings" panose="05000000000000000000" pitchFamily="2" charset="2"/>
              </a:rPr>
              <a:t>+</a:t>
            </a:r>
            <a:r>
              <a:rPr lang="zh-CN" altLang="en-US" smtClean="0">
                <a:sym typeface="Wingdings" panose="05000000000000000000" pitchFamily="2" charset="2"/>
              </a:rPr>
              <a:t>一条边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zh-CN" altLang="en-US" smtClean="0">
                <a:sym typeface="Wingdings" panose="05000000000000000000" pitchFamily="2" charset="2"/>
              </a:rPr>
              <a:t>每个顶点无需保存其完整路径，保存路径中它的前一顶点即可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单源最短路径例（</a:t>
            </a:r>
            <a:r>
              <a:rPr lang="en-US" altLang="zh-CN" smtClean="0"/>
              <a:t>1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mtClean="0"/>
          </a:p>
        </p:txBody>
      </p:sp>
      <p:pic>
        <p:nvPicPr>
          <p:cNvPr id="25604" name="Picture 4" descr="short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75" y="2023745"/>
            <a:ext cx="703897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实现</a:t>
            </a:r>
            <a:endParaRPr lang="zh-CN" altLang="en-US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数组</a:t>
            </a:r>
            <a:r>
              <a:rPr lang="en-US" altLang="zh-CN" smtClean="0"/>
              <a:t>p</a:t>
            </a:r>
            <a:r>
              <a:rPr lang="zh-CN" altLang="en-US" smtClean="0"/>
              <a:t>：保存路径（上例：</a:t>
            </a:r>
            <a:r>
              <a:rPr lang="en-US" altLang="zh-CN" smtClean="0"/>
              <a:t>[0, 1, 1, 3, 4]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/>
            <a:r>
              <a:rPr lang="en-US" altLang="zh-CN" smtClean="0"/>
              <a:t>p[i]</a:t>
            </a:r>
            <a:r>
              <a:rPr lang="zh-CN" altLang="en-US" smtClean="0"/>
              <a:t>：最短路径中顶点</a:t>
            </a:r>
            <a:r>
              <a:rPr lang="en-US" altLang="zh-CN" smtClean="0"/>
              <a:t>i</a:t>
            </a:r>
            <a:r>
              <a:rPr lang="zh-CN" altLang="en-US" smtClean="0"/>
              <a:t>的前驱顶点</a:t>
            </a:r>
            <a:endParaRPr lang="zh-CN" altLang="en-US" smtClean="0"/>
          </a:p>
          <a:p>
            <a:pPr lvl="1"/>
            <a:r>
              <a:rPr lang="zh-CN" altLang="en-US" smtClean="0"/>
              <a:t>从终点开始，逆向即可获取路径</a:t>
            </a:r>
            <a:endParaRPr lang="zh-CN" altLang="en-US" smtClean="0"/>
          </a:p>
          <a:p>
            <a:r>
              <a:rPr lang="zh-CN" altLang="en-US" smtClean="0"/>
              <a:t>数组</a:t>
            </a:r>
            <a:r>
              <a:rPr lang="en-US" altLang="zh-CN" smtClean="0"/>
              <a:t>d</a:t>
            </a:r>
            <a:r>
              <a:rPr lang="zh-CN" altLang="en-US" smtClean="0"/>
              <a:t>：当前最短路径长度</a:t>
            </a:r>
            <a:endParaRPr lang="zh-CN" altLang="en-US" smtClean="0"/>
          </a:p>
          <a:p>
            <a:pPr lvl="1"/>
            <a:r>
              <a:rPr lang="en-US" altLang="zh-CN" smtClean="0"/>
              <a:t>i</a:t>
            </a:r>
            <a:r>
              <a:rPr lang="zh-CN" altLang="en-US" smtClean="0"/>
              <a:t>在</a:t>
            </a:r>
            <a:r>
              <a:rPr lang="en-US" altLang="zh-CN" smtClean="0"/>
              <a:t>S</a:t>
            </a:r>
            <a:r>
              <a:rPr lang="zh-CN" altLang="en-US" smtClean="0"/>
              <a:t>中，</a:t>
            </a:r>
            <a:r>
              <a:rPr lang="en-US" altLang="zh-CN" smtClean="0"/>
              <a:t>d[i]</a:t>
            </a:r>
            <a:r>
              <a:rPr lang="zh-CN" altLang="en-US" smtClean="0"/>
              <a:t>：</a:t>
            </a:r>
            <a:r>
              <a:rPr lang="en-US" altLang="zh-CN" smtClean="0"/>
              <a:t>s</a:t>
            </a:r>
            <a:r>
              <a:rPr lang="en-US" altLang="zh-CN" smtClean="0">
                <a:sym typeface="Wingdings" panose="05000000000000000000" pitchFamily="2" charset="2"/>
              </a:rPr>
              <a:t>i</a:t>
            </a:r>
            <a:r>
              <a:rPr lang="zh-CN" altLang="en-US" smtClean="0">
                <a:sym typeface="Wingdings" panose="05000000000000000000" pitchFamily="2" charset="2"/>
              </a:rPr>
              <a:t>的真正最短路径长度（最终结果）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i</a:t>
            </a:r>
            <a:r>
              <a:rPr lang="zh-CN" altLang="en-US" smtClean="0">
                <a:sym typeface="Wingdings" panose="05000000000000000000" pitchFamily="2" charset="2"/>
              </a:rPr>
              <a:t>在</a:t>
            </a:r>
            <a:r>
              <a:rPr lang="en-US" altLang="zh-CN" smtClean="0">
                <a:sym typeface="Wingdings" panose="05000000000000000000" pitchFamily="2" charset="2"/>
              </a:rPr>
              <a:t>L</a:t>
            </a:r>
            <a:r>
              <a:rPr lang="zh-CN" altLang="en-US" smtClean="0">
                <a:sym typeface="Wingdings" panose="05000000000000000000" pitchFamily="2" charset="2"/>
              </a:rPr>
              <a:t>中，</a:t>
            </a:r>
            <a:r>
              <a:rPr lang="en-US" altLang="zh-CN" smtClean="0">
                <a:sym typeface="Wingdings" panose="05000000000000000000" pitchFamily="2" charset="2"/>
              </a:rPr>
              <a:t>d[i]</a:t>
            </a:r>
            <a:r>
              <a:rPr lang="zh-CN" altLang="en-US" smtClean="0">
                <a:sym typeface="Wingdings" panose="05000000000000000000" pitchFamily="2" charset="2"/>
              </a:rPr>
              <a:t>：当前最短路径长度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en-US" altLang="zh-CN" smtClean="0">
                <a:sym typeface="Wingdings" panose="05000000000000000000" pitchFamily="2" charset="2"/>
              </a:rPr>
              <a:t>sj(</a:t>
            </a:r>
            <a:r>
              <a:rPr lang="en-US" altLang="zh-CN" smtClean="0">
                <a:latin typeface="宋体" panose="02010600030101010101" pitchFamily="2" charset="-122"/>
                <a:sym typeface="Wingdings" panose="05000000000000000000" pitchFamily="2" charset="2"/>
              </a:rPr>
              <a:t>∈</a:t>
            </a:r>
            <a:r>
              <a:rPr lang="en-US" altLang="zh-CN" smtClean="0">
                <a:sym typeface="Wingdings" panose="05000000000000000000" pitchFamily="2" charset="2"/>
              </a:rPr>
              <a:t>S)i</a:t>
            </a:r>
            <a:r>
              <a:rPr lang="zh-CN" altLang="en-US" smtClean="0">
                <a:sym typeface="Wingdings" panose="05000000000000000000" pitchFamily="2" charset="2"/>
              </a:rPr>
              <a:t>的路径长度（最短者）：</a:t>
            </a:r>
            <a:r>
              <a:rPr lang="en-US" altLang="zh-CN" smtClean="0">
                <a:sym typeface="Wingdings" panose="05000000000000000000" pitchFamily="2" charset="2"/>
              </a:rPr>
              <a:t>d[j]+a[j][i] 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zh-CN" altLang="en-US" smtClean="0">
                <a:sym typeface="Wingdings" panose="05000000000000000000" pitchFamily="2" charset="2"/>
              </a:rPr>
              <a:t>从</a:t>
            </a:r>
            <a:r>
              <a:rPr lang="en-US" altLang="zh-CN" smtClean="0">
                <a:sym typeface="Wingdings" panose="05000000000000000000" pitchFamily="2" charset="2"/>
              </a:rPr>
              <a:t>L</a:t>
            </a:r>
            <a:r>
              <a:rPr lang="zh-CN" altLang="en-US" smtClean="0">
                <a:sym typeface="Wingdings" panose="05000000000000000000" pitchFamily="2" charset="2"/>
              </a:rPr>
              <a:t>中选择</a:t>
            </a:r>
            <a:r>
              <a:rPr lang="en-US" altLang="zh-CN" smtClean="0">
                <a:sym typeface="Wingdings" panose="05000000000000000000" pitchFamily="2" charset="2"/>
              </a:rPr>
              <a:t>v</a:t>
            </a:r>
            <a:r>
              <a:rPr lang="zh-CN" altLang="en-US" smtClean="0">
                <a:sym typeface="Wingdings" panose="05000000000000000000" pitchFamily="2" charset="2"/>
              </a:rPr>
              <a:t>加入</a:t>
            </a:r>
            <a:r>
              <a:rPr lang="en-US" altLang="zh-CN" smtClean="0">
                <a:sym typeface="Wingdings" panose="05000000000000000000" pitchFamily="2" charset="2"/>
              </a:rPr>
              <a:t>S</a:t>
            </a:r>
            <a:r>
              <a:rPr lang="zh-CN" altLang="en-US" smtClean="0">
                <a:sym typeface="Wingdings" panose="05000000000000000000" pitchFamily="2" charset="2"/>
              </a:rPr>
              <a:t>后，</a:t>
            </a:r>
            <a:r>
              <a:rPr lang="en-US" altLang="zh-CN" smtClean="0">
                <a:sym typeface="Wingdings" panose="05000000000000000000" pitchFamily="2" charset="2"/>
              </a:rPr>
              <a:t>S</a:t>
            </a:r>
            <a:r>
              <a:rPr lang="zh-CN" altLang="en-US" smtClean="0">
                <a:sym typeface="Wingdings" panose="05000000000000000000" pitchFamily="2" charset="2"/>
              </a:rPr>
              <a:t>发生变化，</a:t>
            </a:r>
            <a:r>
              <a:rPr lang="en-US" altLang="zh-CN" smtClean="0">
                <a:sym typeface="Wingdings" panose="05000000000000000000" pitchFamily="2" charset="2"/>
              </a:rPr>
              <a:t>L</a:t>
            </a:r>
            <a:r>
              <a:rPr lang="zh-CN" altLang="en-US" smtClean="0">
                <a:sym typeface="Wingdings" panose="05000000000000000000" pitchFamily="2" charset="2"/>
              </a:rPr>
              <a:t>中的</a:t>
            </a:r>
            <a:r>
              <a:rPr lang="en-US" altLang="zh-CN" smtClean="0">
                <a:sym typeface="Wingdings" panose="05000000000000000000" pitchFamily="2" charset="2"/>
              </a:rPr>
              <a:t>d[i]</a:t>
            </a:r>
            <a:r>
              <a:rPr lang="zh-CN" altLang="en-US" smtClean="0">
                <a:sym typeface="Wingdings" panose="05000000000000000000" pitchFamily="2" charset="2"/>
              </a:rPr>
              <a:t>可能变得更小，应进行更新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运算实例：解题形式</a:t>
            </a:r>
            <a:r>
              <a:rPr lang="en-US" altLang="zh-CN" smtClean="0"/>
              <a:t>1</a:t>
            </a:r>
            <a:endParaRPr lang="zh-CN" altLang="en-US" smtClean="0"/>
          </a:p>
        </p:txBody>
      </p:sp>
      <p:pic>
        <p:nvPicPr>
          <p:cNvPr id="28675" name="Picture 4" descr="short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3468688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4549" name="Text Box 5"/>
          <p:cNvSpPr txBox="1">
            <a:spLocks noChangeArrowheads="1"/>
          </p:cNvSpPr>
          <p:nvPr/>
        </p:nvSpPr>
        <p:spPr bwMode="ltGray">
          <a:xfrm>
            <a:off x="6280150" y="1219200"/>
            <a:ext cx="2730500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4,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dirty="0">
                <a:solidFill>
                  <a:srgbClr val="0000CC"/>
                </a:solidFill>
                <a:latin typeface="宋体" panose="02010600030101010101" pitchFamily="2" charset="-122"/>
              </a:rPr>
              <a:t>∞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8}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p={0, 1, 1, 0, 1}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1644550" name="Text Box 6"/>
          <p:cNvSpPr txBox="1">
            <a:spLocks noChangeArrowheads="1"/>
          </p:cNvSpPr>
          <p:nvPr/>
        </p:nvSpPr>
        <p:spPr bwMode="ltGray">
          <a:xfrm>
            <a:off x="6280150" y="2205038"/>
            <a:ext cx="2432050" cy="1016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4,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8} 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1}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1644551" name="Text Box 7"/>
          <p:cNvSpPr txBox="1">
            <a:spLocks noChangeArrowheads="1"/>
          </p:cNvSpPr>
          <p:nvPr/>
        </p:nvSpPr>
        <p:spPr bwMode="ltGray">
          <a:xfrm>
            <a:off x="6280150" y="3200400"/>
            <a:ext cx="2252663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} 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4}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44552" name="Text Box 8"/>
          <p:cNvSpPr txBox="1">
            <a:spLocks noChangeArrowheads="1"/>
          </p:cNvSpPr>
          <p:nvPr/>
        </p:nvSpPr>
        <p:spPr bwMode="ltGray">
          <a:xfrm>
            <a:off x="6280150" y="4298950"/>
            <a:ext cx="2252663" cy="1014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      1  2  3  4   5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d={0,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000" b="1" u="sng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6</a:t>
            </a: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</a:rPr>
              <a:t>} </a:t>
            </a:r>
            <a:b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zh-CN" sz="2000" dirty="0">
                <a:solidFill>
                  <a:srgbClr val="0000CC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p={0, 1, 1, 3, 4}</a:t>
            </a:r>
            <a:endParaRPr lang="en-US" altLang="zh-CN" sz="2000" dirty="0">
              <a:solidFill>
                <a:srgbClr val="0000CC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644553" name="Text Box 9"/>
          <p:cNvSpPr txBox="1">
            <a:spLocks noChangeArrowheads="1"/>
          </p:cNvSpPr>
          <p:nvPr/>
        </p:nvSpPr>
        <p:spPr bwMode="ltGray">
          <a:xfrm>
            <a:off x="6280150" y="5426075"/>
            <a:ext cx="2071688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rgbClr val="0000CC"/>
                </a:solidFill>
              </a:rPr>
              <a:t>      1  2  3  4   5</a:t>
            </a:r>
            <a:br>
              <a:rPr lang="en-US" altLang="zh-CN" sz="2000">
                <a:solidFill>
                  <a:srgbClr val="0000CC"/>
                </a:solidFill>
              </a:rPr>
            </a:br>
            <a:r>
              <a:rPr lang="en-US" altLang="zh-CN" sz="2000">
                <a:solidFill>
                  <a:srgbClr val="0000CC"/>
                </a:solidFill>
              </a:rPr>
              <a:t>d={0, 4, 2, 3, 6} </a:t>
            </a:r>
            <a:br>
              <a:rPr lang="en-US" altLang="zh-CN" sz="2000">
                <a:solidFill>
                  <a:srgbClr val="0000CC"/>
                </a:solidFill>
              </a:rPr>
            </a:br>
            <a:r>
              <a:rPr lang="en-US" altLang="zh-CN" sz="2000">
                <a:solidFill>
                  <a:srgbClr val="0000CC"/>
                </a:solidFill>
                <a:sym typeface="Wingdings" panose="05000000000000000000" pitchFamily="2" charset="2"/>
              </a:rPr>
              <a:t>p={0, 1, 1, 3, 4}</a:t>
            </a:r>
            <a:endParaRPr lang="en-US" altLang="zh-CN" sz="2000">
              <a:solidFill>
                <a:srgbClr val="0000CC"/>
              </a:solidFill>
              <a:sym typeface="Wingdings" panose="05000000000000000000" pitchFamily="2" charset="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51275" y="1628775"/>
            <a:ext cx="2341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S={1}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51275" y="2519363"/>
            <a:ext cx="234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851275" y="3600450"/>
            <a:ext cx="23415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34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851275" y="4679950"/>
            <a:ext cx="2341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4, 2}, 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2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851275" y="5768975"/>
            <a:ext cx="23415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S={1, 3, 4, 2, 5}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en-US" altLang="zh-CN" b="1">
                <a:solidFill>
                  <a:srgbClr val="FF0000"/>
                </a:solidFill>
                <a:sym typeface="Wingdings" panose="05000000000000000000" pitchFamily="2" charset="2"/>
              </a:rPr>
              <a:t>345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4549" grpId="0" autoUpdateAnimBg="0"/>
      <p:bldP spid="1644550" grpId="0" autoUpdateAnimBg="0"/>
      <p:bldP spid="1644551" grpId="0" autoUpdateAnimBg="0"/>
      <p:bldP spid="1644552" grpId="0" autoUpdateAnimBg="0"/>
      <p:bldP spid="1644553" grpId="0" autoUpdateAnimBg="0"/>
      <p:bldP spid="10" grpId="0"/>
      <p:bldP spid="11" grpId="0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356236"/>
            <a:ext cx="7886700" cy="989542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单源最短路径例（</a:t>
            </a:r>
            <a:r>
              <a:rPr lang="en-US" altLang="zh-CN" smtClean="0">
                <a:sym typeface="+mn-ea"/>
              </a:rPr>
              <a:t>2</a:t>
            </a:r>
            <a:r>
              <a:rPr lang="zh-CN" altLang="en-US" smtClean="0">
                <a:sym typeface="+mn-ea"/>
              </a:rPr>
              <a:t>）</a:t>
            </a:r>
            <a:endParaRPr lang="en-US" altLang="zh-CN" smtClean="0">
              <a:sym typeface="+mn-ea"/>
            </a:endParaRPr>
          </a:p>
        </p:txBody>
      </p:sp>
      <p:sp>
        <p:nvSpPr>
          <p:cNvPr id="1054743" name="Oval 23"/>
          <p:cNvSpPr>
            <a:spLocks noChangeArrowheads="1"/>
          </p:cNvSpPr>
          <p:nvPr/>
        </p:nvSpPr>
        <p:spPr bwMode="auto">
          <a:xfrm>
            <a:off x="827088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2266950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5" name="Oval 25"/>
          <p:cNvSpPr>
            <a:spLocks noChangeArrowheads="1"/>
          </p:cNvSpPr>
          <p:nvPr/>
        </p:nvSpPr>
        <p:spPr bwMode="auto">
          <a:xfrm flipH="1">
            <a:off x="3692525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827088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252663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8" name="Oval 28"/>
          <p:cNvSpPr>
            <a:spLocks noChangeArrowheads="1"/>
          </p:cNvSpPr>
          <p:nvPr/>
        </p:nvSpPr>
        <p:spPr bwMode="auto">
          <a:xfrm flipH="1">
            <a:off x="3676650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9" name="Oval 29"/>
          <p:cNvSpPr>
            <a:spLocks noChangeArrowheads="1"/>
          </p:cNvSpPr>
          <p:nvPr/>
        </p:nvSpPr>
        <p:spPr bwMode="auto">
          <a:xfrm flipH="1">
            <a:off x="827088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0" name="Oval 30"/>
          <p:cNvSpPr>
            <a:spLocks noChangeArrowheads="1"/>
          </p:cNvSpPr>
          <p:nvPr/>
        </p:nvSpPr>
        <p:spPr bwMode="auto">
          <a:xfrm flipH="1">
            <a:off x="3708400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59" name="AutoShape 39"/>
          <p:cNvCxnSpPr>
            <a:stCxn id="1054743" idx="2"/>
            <a:endCxn id="1054749" idx="6"/>
          </p:cNvCxnSpPr>
          <p:nvPr/>
        </p:nvCxnSpPr>
        <p:spPr>
          <a:xfrm rot="10800000" flipH="1" flipV="1">
            <a:off x="812800" y="2709863"/>
            <a:ext cx="1588" cy="2879725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0" name="Oval 40"/>
          <p:cNvSpPr/>
          <p:nvPr/>
        </p:nvSpPr>
        <p:spPr>
          <a:xfrm>
            <a:off x="4667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3" name="AutoShape 43"/>
          <p:cNvCxnSpPr>
            <a:stCxn id="1054743" idx="4"/>
            <a:endCxn id="1054746" idx="0"/>
          </p:cNvCxnSpPr>
          <p:nvPr/>
        </p:nvCxnSpPr>
        <p:spPr>
          <a:xfrm rot="5400000">
            <a:off x="409575" y="3429000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4" name="Oval 44"/>
          <p:cNvSpPr/>
          <p:nvPr/>
        </p:nvSpPr>
        <p:spPr>
          <a:xfrm>
            <a:off x="827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7" name="AutoShape 47"/>
          <p:cNvCxnSpPr>
            <a:stCxn id="1054746" idx="4"/>
            <a:endCxn id="1054749" idx="0"/>
          </p:cNvCxnSpPr>
          <p:nvPr/>
        </p:nvCxnSpPr>
        <p:spPr>
          <a:xfrm rot="5400000">
            <a:off x="409575" y="486886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8" name="Oval 48"/>
          <p:cNvSpPr/>
          <p:nvPr/>
        </p:nvSpPr>
        <p:spPr>
          <a:xfrm>
            <a:off x="827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9" name="AutoShape 49"/>
          <p:cNvCxnSpPr>
            <a:stCxn id="1054748" idx="4"/>
            <a:endCxn id="1054750" idx="0"/>
          </p:cNvCxnSpPr>
          <p:nvPr/>
        </p:nvCxnSpPr>
        <p:spPr>
          <a:xfrm rot="16200000" flipH="1">
            <a:off x="3275013" y="485298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0" name="Oval 50"/>
          <p:cNvSpPr/>
          <p:nvPr/>
        </p:nvSpPr>
        <p:spPr>
          <a:xfrm>
            <a:off x="3706813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1" name="AutoShape 51"/>
          <p:cNvCxnSpPr>
            <a:stCxn id="1054747" idx="3"/>
            <a:endCxn id="1054750" idx="7"/>
          </p:cNvCxnSpPr>
          <p:nvPr/>
        </p:nvCxnSpPr>
        <p:spPr>
          <a:xfrm>
            <a:off x="2498725" y="4265613"/>
            <a:ext cx="12525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2" name="Oval 52"/>
          <p:cNvSpPr/>
          <p:nvPr/>
        </p:nvSpPr>
        <p:spPr>
          <a:xfrm>
            <a:off x="2986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3" name="AutoShape 53"/>
          <p:cNvCxnSpPr>
            <a:stCxn id="1054745" idx="5"/>
            <a:endCxn id="1054747" idx="1"/>
          </p:cNvCxnSpPr>
          <p:nvPr/>
        </p:nvCxnSpPr>
        <p:spPr>
          <a:xfrm rot="5400000">
            <a:off x="2513013" y="2809875"/>
            <a:ext cx="1206500" cy="1236663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4" name="Oval 54"/>
          <p:cNvSpPr/>
          <p:nvPr/>
        </p:nvSpPr>
        <p:spPr>
          <a:xfrm>
            <a:off x="2986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5" name="AutoShape 55"/>
          <p:cNvCxnSpPr>
            <a:stCxn id="1054746" idx="1"/>
            <a:endCxn id="1054745" idx="5"/>
          </p:cNvCxnSpPr>
          <p:nvPr/>
        </p:nvCxnSpPr>
        <p:spPr>
          <a:xfrm flipV="1">
            <a:off x="1073150" y="2825750"/>
            <a:ext cx="26622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6" name="Oval 56"/>
          <p:cNvSpPr/>
          <p:nvPr/>
        </p:nvSpPr>
        <p:spPr>
          <a:xfrm>
            <a:off x="2266950" y="3286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130300" y="414972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5462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3" name="AutoShape 63"/>
          <p:cNvCxnSpPr>
            <a:stCxn id="1054749" idx="1"/>
            <a:endCxn id="1054747" idx="5"/>
          </p:cNvCxnSpPr>
          <p:nvPr/>
        </p:nvCxnSpPr>
        <p:spPr>
          <a:xfrm flipV="1">
            <a:off x="1073150" y="426561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4" name="Oval 64"/>
          <p:cNvSpPr/>
          <p:nvPr/>
        </p:nvSpPr>
        <p:spPr>
          <a:xfrm>
            <a:off x="1546225" y="4725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5" name="AutoShape 65"/>
          <p:cNvCxnSpPr>
            <a:stCxn id="1054748" idx="0"/>
            <a:endCxn id="1054745" idx="4"/>
          </p:cNvCxnSpPr>
          <p:nvPr/>
        </p:nvCxnSpPr>
        <p:spPr>
          <a:xfrm flipV="1">
            <a:off x="3821113" y="286861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6" name="Oval 66"/>
          <p:cNvSpPr/>
          <p:nvPr/>
        </p:nvSpPr>
        <p:spPr>
          <a:xfrm>
            <a:off x="3706813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7" name="AutoShape 67"/>
          <p:cNvCxnSpPr>
            <a:stCxn id="1054749" idx="2"/>
            <a:endCxn id="1054750" idx="6"/>
          </p:cNvCxnSpPr>
          <p:nvPr/>
        </p:nvCxnSpPr>
        <p:spPr>
          <a:xfrm>
            <a:off x="1130300" y="558958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8" name="Oval 68"/>
          <p:cNvSpPr/>
          <p:nvPr/>
        </p:nvSpPr>
        <p:spPr>
          <a:xfrm>
            <a:off x="2266950" y="5445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9" name="AutoShape 69"/>
          <p:cNvCxnSpPr>
            <a:stCxn id="1054744" idx="2"/>
            <a:endCxn id="1054745" idx="6"/>
          </p:cNvCxnSpPr>
          <p:nvPr/>
        </p:nvCxnSpPr>
        <p:spPr>
          <a:xfrm>
            <a:off x="2570163" y="270986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0" name="Oval 70"/>
          <p:cNvSpPr/>
          <p:nvPr/>
        </p:nvSpPr>
        <p:spPr>
          <a:xfrm>
            <a:off x="2970213" y="25654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1" name="AutoShape 71"/>
          <p:cNvCxnSpPr>
            <a:stCxn id="1054743" idx="6"/>
            <a:endCxn id="1054744" idx="6"/>
          </p:cNvCxnSpPr>
          <p:nvPr/>
        </p:nvCxnSpPr>
        <p:spPr>
          <a:xfrm>
            <a:off x="1128713" y="2709863"/>
            <a:ext cx="11255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2" name="Oval 72"/>
          <p:cNvSpPr/>
          <p:nvPr/>
        </p:nvSpPr>
        <p:spPr>
          <a:xfrm>
            <a:off x="1546225" y="256540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3" name="AutoShape 73"/>
          <p:cNvCxnSpPr>
            <a:stCxn id="1054747" idx="2"/>
            <a:endCxn id="1054748" idx="6"/>
          </p:cNvCxnSpPr>
          <p:nvPr/>
        </p:nvCxnSpPr>
        <p:spPr>
          <a:xfrm>
            <a:off x="2555875" y="4149725"/>
            <a:ext cx="11080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4" name="Oval 74"/>
          <p:cNvSpPr/>
          <p:nvPr/>
        </p:nvSpPr>
        <p:spPr>
          <a:xfrm>
            <a:off x="298767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1" name="AutoShape 3"/>
          <p:cNvSpPr/>
          <p:nvPr>
            <p:custDataLst>
              <p:tags r:id="rId1"/>
            </p:custDataLst>
          </p:nvPr>
        </p:nvSpPr>
        <p:spPr>
          <a:xfrm>
            <a:off x="607631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683323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721169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8" name="AutoShape 8"/>
          <p:cNvSpPr/>
          <p:nvPr/>
        </p:nvSpPr>
        <p:spPr>
          <a:xfrm>
            <a:off x="796861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9" name="AutoShape 9"/>
          <p:cNvSpPr/>
          <p:nvPr/>
        </p:nvSpPr>
        <p:spPr>
          <a:xfrm>
            <a:off x="834707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3" name="AutoShape 14"/>
          <p:cNvSpPr/>
          <p:nvPr/>
        </p:nvSpPr>
        <p:spPr>
          <a:xfrm>
            <a:off x="5703491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0" name="AutoShape 7"/>
          <p:cNvSpPr/>
          <p:nvPr/>
        </p:nvSpPr>
        <p:spPr>
          <a:xfrm>
            <a:off x="759396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843145" y="3273425"/>
            <a:ext cx="728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dis[n]</a:t>
            </a:r>
            <a:endParaRPr lang="en-US">
              <a:sym typeface="+mn-ea"/>
            </a:endParaRPr>
          </a:p>
        </p:txBody>
      </p:sp>
      <p:sp>
        <p:nvSpPr>
          <p:cNvPr id="69" name="AutoShape 9"/>
          <p:cNvSpPr/>
          <p:nvPr/>
        </p:nvSpPr>
        <p:spPr>
          <a:xfrm>
            <a:off x="834707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0" name="AutoShape 14"/>
          <p:cNvSpPr/>
          <p:nvPr/>
        </p:nvSpPr>
        <p:spPr>
          <a:xfrm>
            <a:off x="5703491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843145" y="3619500"/>
            <a:ext cx="767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pre[n]</a:t>
            </a:r>
            <a:endParaRPr lang="en-US">
              <a:sym typeface="+mn-ea"/>
            </a:endParaRPr>
          </a:p>
        </p:txBody>
      </p:sp>
      <p:sp>
        <p:nvSpPr>
          <p:cNvPr id="76" name="AutoShape 3"/>
          <p:cNvSpPr/>
          <p:nvPr>
            <p:custDataLst>
              <p:tags r:id="rId2"/>
            </p:custDataLst>
          </p:nvPr>
        </p:nvSpPr>
        <p:spPr>
          <a:xfrm>
            <a:off x="607631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7" name="AutoShape 5"/>
          <p:cNvSpPr/>
          <p:nvPr/>
        </p:nvSpPr>
        <p:spPr>
          <a:xfrm>
            <a:off x="683323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84" name="AutoShape 6"/>
          <p:cNvSpPr/>
          <p:nvPr/>
        </p:nvSpPr>
        <p:spPr>
          <a:xfrm>
            <a:off x="720661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645477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88" name="AutoShape 7"/>
          <p:cNvSpPr/>
          <p:nvPr/>
        </p:nvSpPr>
        <p:spPr>
          <a:xfrm>
            <a:off x="759015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1" name="AutoShape 4"/>
          <p:cNvSpPr/>
          <p:nvPr/>
        </p:nvSpPr>
        <p:spPr>
          <a:xfrm>
            <a:off x="645477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" name="AutoShape 8"/>
          <p:cNvSpPr/>
          <p:nvPr/>
        </p:nvSpPr>
        <p:spPr>
          <a:xfrm>
            <a:off x="796861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F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AutoShape 9"/>
          <p:cNvSpPr/>
          <p:nvPr/>
        </p:nvSpPr>
        <p:spPr>
          <a:xfrm>
            <a:off x="834707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G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AutoShape 14"/>
          <p:cNvSpPr/>
          <p:nvPr/>
        </p:nvSpPr>
        <p:spPr>
          <a:xfrm>
            <a:off x="5703491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S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AutoShape 3"/>
          <p:cNvSpPr/>
          <p:nvPr>
            <p:custDataLst>
              <p:tags r:id="rId3"/>
            </p:custDataLst>
          </p:nvPr>
        </p:nvSpPr>
        <p:spPr>
          <a:xfrm>
            <a:off x="607631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683323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AutoShape 6"/>
          <p:cNvSpPr/>
          <p:nvPr/>
        </p:nvSpPr>
        <p:spPr>
          <a:xfrm>
            <a:off x="720661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D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AutoShape 7"/>
          <p:cNvSpPr/>
          <p:nvPr/>
        </p:nvSpPr>
        <p:spPr>
          <a:xfrm>
            <a:off x="759015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E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6454775" y="2962275"/>
            <a:ext cx="323850" cy="323850"/>
          </a:xfrm>
          <a:prstGeom prst="roundRect">
            <a:avLst>
              <a:gd name="adj" fmla="val 16667"/>
            </a:avLst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4D4D4D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B</a:t>
            </a:r>
            <a:endParaRPr lang="en-US" altLang="zh-CN" sz="15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3"/>
          <p:cNvSpPr/>
          <p:nvPr/>
        </p:nvSpPr>
        <p:spPr>
          <a:xfrm>
            <a:off x="607631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83323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2" name="AutoShape 8"/>
          <p:cNvSpPr/>
          <p:nvPr/>
        </p:nvSpPr>
        <p:spPr>
          <a:xfrm>
            <a:off x="796861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3" name="AutoShape 9"/>
          <p:cNvSpPr/>
          <p:nvPr/>
        </p:nvSpPr>
        <p:spPr>
          <a:xfrm>
            <a:off x="834707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4" name="AutoShape 3"/>
          <p:cNvSpPr/>
          <p:nvPr/>
        </p:nvSpPr>
        <p:spPr>
          <a:xfrm>
            <a:off x="607631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S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683323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S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6" name="AutoShape 4"/>
          <p:cNvSpPr/>
          <p:nvPr/>
        </p:nvSpPr>
        <p:spPr>
          <a:xfrm>
            <a:off x="645477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7" name="AutoShape 4"/>
          <p:cNvSpPr/>
          <p:nvPr/>
        </p:nvSpPr>
        <p:spPr>
          <a:xfrm>
            <a:off x="6454775" y="36544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8" name="AutoShape 8"/>
          <p:cNvSpPr/>
          <p:nvPr/>
        </p:nvSpPr>
        <p:spPr>
          <a:xfrm>
            <a:off x="7593965" y="1723390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tx1">
              <a:lumMod val="50000"/>
              <a:lumOff val="50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9" name="AutoShape 6"/>
          <p:cNvSpPr/>
          <p:nvPr/>
        </p:nvSpPr>
        <p:spPr>
          <a:xfrm>
            <a:off x="7211695" y="33197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44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0" name="AutoShape 4"/>
          <p:cNvSpPr/>
          <p:nvPr/>
        </p:nvSpPr>
        <p:spPr>
          <a:xfrm>
            <a:off x="6454775" y="33445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1" name="AutoShape 6"/>
          <p:cNvSpPr/>
          <p:nvPr/>
        </p:nvSpPr>
        <p:spPr>
          <a:xfrm>
            <a:off x="721169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2" name="AutoShape 4"/>
          <p:cNvSpPr/>
          <p:nvPr/>
        </p:nvSpPr>
        <p:spPr>
          <a:xfrm>
            <a:off x="6459855" y="36544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3" name="AutoShape 6"/>
          <p:cNvSpPr/>
          <p:nvPr/>
        </p:nvSpPr>
        <p:spPr>
          <a:xfrm>
            <a:off x="721169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4" name="AutoShape 9"/>
          <p:cNvSpPr/>
          <p:nvPr/>
        </p:nvSpPr>
        <p:spPr>
          <a:xfrm>
            <a:off x="8347075" y="33305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55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5" name="AutoShape 6"/>
          <p:cNvSpPr/>
          <p:nvPr/>
        </p:nvSpPr>
        <p:spPr>
          <a:xfrm>
            <a:off x="7211695" y="33445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34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6" name="AutoShape 7"/>
          <p:cNvSpPr/>
          <p:nvPr/>
        </p:nvSpPr>
        <p:spPr>
          <a:xfrm>
            <a:off x="7593965" y="33178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45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7" name="AutoShape 7"/>
          <p:cNvSpPr/>
          <p:nvPr/>
        </p:nvSpPr>
        <p:spPr>
          <a:xfrm>
            <a:off x="759396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D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8" name="AutoShape 9"/>
          <p:cNvSpPr/>
          <p:nvPr/>
        </p:nvSpPr>
        <p:spPr>
          <a:xfrm>
            <a:off x="834707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F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9" name="AutoShape 9"/>
          <p:cNvSpPr/>
          <p:nvPr/>
        </p:nvSpPr>
        <p:spPr>
          <a:xfrm>
            <a:off x="721169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F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0" name="AutoShape 8"/>
          <p:cNvSpPr/>
          <p:nvPr/>
        </p:nvSpPr>
        <p:spPr>
          <a:xfrm>
            <a:off x="7968615" y="36601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68" name="AutoShape 8"/>
          <p:cNvSpPr/>
          <p:nvPr/>
        </p:nvSpPr>
        <p:spPr>
          <a:xfrm>
            <a:off x="796861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S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1" name="AutoShape 9"/>
          <p:cNvSpPr/>
          <p:nvPr/>
        </p:nvSpPr>
        <p:spPr>
          <a:xfrm>
            <a:off x="7211695" y="36683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B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2" name="AutoShape 9"/>
          <p:cNvSpPr/>
          <p:nvPr/>
        </p:nvSpPr>
        <p:spPr>
          <a:xfrm>
            <a:off x="8347075" y="33305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50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8347075" y="36601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D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20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2" dur="20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20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4" dur="20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35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20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3" dur="20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35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0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20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2" dur="20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5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35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20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6" dur="20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4" dur="5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4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7" dur="5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0" dur="5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5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20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1" dur="20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  <p:bldP spid="16" grpId="1" bldLvl="0" animBg="1"/>
      <p:bldP spid="12" grpId="1" bldLvl="0" animBg="1"/>
      <p:bldP spid="11" grpId="1" bldLvl="0" animBg="1"/>
      <p:bldP spid="12" grpId="2" bldLvl="0" animBg="1"/>
      <p:bldP spid="18" grpId="0" bldLvl="0" animBg="1"/>
      <p:bldP spid="18" grpId="1" bldLvl="0" animBg="1"/>
      <p:bldP spid="20" grpId="0" bldLvl="0" animBg="1"/>
      <p:bldP spid="19" grpId="0" bldLvl="0" animBg="1"/>
      <p:bldP spid="22" grpId="0" bldLvl="0" animBg="1"/>
      <p:bldP spid="21" grpId="0" bldLvl="0" animBg="1"/>
      <p:bldP spid="20" grpId="1" bldLvl="0" animBg="1"/>
      <p:bldP spid="19" grpId="1" bldLvl="0" animBg="1"/>
      <p:bldP spid="12" grpId="3" bldLvl="0" animBg="1"/>
      <p:bldP spid="23" grpId="0" bldLvl="0" animBg="1"/>
      <p:bldP spid="24" grpId="0" bldLvl="0" animBg="1"/>
      <p:bldP spid="20" grpId="2" bldLvl="0" animBg="1"/>
      <p:bldP spid="23" grpId="1" bldLvl="0" animBg="1"/>
      <p:bldP spid="24" grpId="1" bldLvl="0" animBg="1"/>
      <p:bldP spid="25" grpId="0" bldLvl="0" animBg="1"/>
      <p:bldP spid="25" grpId="1" bldLvl="0" animBg="1"/>
      <p:bldP spid="68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1" grpId="0" bldLvl="0" animBg="1"/>
      <p:bldP spid="32" grpId="0" bldLvl="0" animBg="1"/>
      <p:bldP spid="33" grpId="0" bldLvl="0" animBg="1"/>
      <p:bldP spid="18" grpId="2" animBg="1"/>
      <p:bldP spid="1054743" grpId="0" animBg="1"/>
      <p:bldP spid="1054744" grpId="0" animBg="1"/>
      <p:bldP spid="1054745" grpId="0" animBg="1"/>
      <p:bldP spid="1054746" grpId="0" animBg="1"/>
      <p:bldP spid="1054747" grpId="0" animBg="1"/>
      <p:bldP spid="1054748" grpId="0" animBg="1"/>
      <p:bldP spid="1054749" grpId="0" animBg="1"/>
      <p:bldP spid="1054750" grpId="0" animBg="1"/>
      <p:bldP spid="1054760" grpId="0"/>
      <p:bldP spid="1054764" grpId="0"/>
      <p:bldP spid="1054768" grpId="0"/>
      <p:bldP spid="1054770" grpId="0"/>
      <p:bldP spid="1054772" grpId="0"/>
      <p:bldP spid="1054774" grpId="0"/>
      <p:bldP spid="1054776" grpId="0"/>
      <p:bldP spid="1054780" grpId="0"/>
      <p:bldP spid="1054784" grpId="0"/>
      <p:bldP spid="1054786" grpId="0"/>
      <p:bldP spid="1054788" grpId="0"/>
      <p:bldP spid="1054790" grpId="0"/>
      <p:bldP spid="1054792" grpId="0"/>
      <p:bldP spid="1054794" grpId="0"/>
      <p:bldP spid="1054743" grpId="1" animBg="1"/>
      <p:bldP spid="1054746" grpId="1" animBg="1"/>
      <p:bldP spid="1054749" grpId="1" animBg="1"/>
      <p:bldP spid="1054744" grpId="1" animBg="1"/>
      <p:bldP spid="1054747" grpId="1" animBg="1"/>
      <p:bldP spid="1054748" grpId="1" animBg="1"/>
      <p:bldP spid="1054745" grpId="1" animBg="1"/>
      <p:bldP spid="1054750" grpId="1" animBg="1"/>
      <p:bldP spid="1054760" grpId="1"/>
      <p:bldP spid="1054764" grpId="1"/>
      <p:bldP spid="1054792" grpId="1"/>
      <p:bldP spid="1054790" grpId="1"/>
      <p:bldP spid="1054774" grpId="1"/>
      <p:bldP spid="1054786" grpId="1"/>
      <p:bldP spid="1054770" grpId="1"/>
      <p:bldP spid="1054794" grpId="1"/>
      <p:bldP spid="1054780" grpId="1"/>
      <p:bldP spid="1054784" grpId="1"/>
      <p:bldP spid="1054772" grpId="1"/>
      <p:bldP spid="1054788" grpId="1"/>
      <p:bldP spid="1054768" grpId="1"/>
      <p:bldP spid="105477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单源最短路径例（</a:t>
            </a:r>
            <a:r>
              <a:rPr lang="en-US" altLang="zh-CN" smtClean="0">
                <a:sym typeface="+mn-ea"/>
              </a:rPr>
              <a:t>2</a:t>
            </a:r>
            <a:r>
              <a:rPr lang="zh-CN" altLang="en-US" smtClean="0">
                <a:sym typeface="+mn-ea"/>
              </a:rPr>
              <a:t>）</a:t>
            </a:r>
            <a:endParaRPr lang="en-US" altLang="zh-CN" smtClean="0">
              <a:sym typeface="+mn-ea"/>
            </a:endParaRPr>
          </a:p>
        </p:txBody>
      </p:sp>
      <p:sp>
        <p:nvSpPr>
          <p:cNvPr id="1054743" name="Oval 23"/>
          <p:cNvSpPr>
            <a:spLocks noChangeArrowheads="1"/>
          </p:cNvSpPr>
          <p:nvPr/>
        </p:nvSpPr>
        <p:spPr bwMode="auto">
          <a:xfrm>
            <a:off x="2847023" y="19126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4286885" y="19126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5" name="Oval 25"/>
          <p:cNvSpPr>
            <a:spLocks noChangeArrowheads="1"/>
          </p:cNvSpPr>
          <p:nvPr/>
        </p:nvSpPr>
        <p:spPr bwMode="auto">
          <a:xfrm flipH="1">
            <a:off x="5712460" y="191262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2847023" y="33524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4272598" y="33524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8" name="Oval 28"/>
          <p:cNvSpPr>
            <a:spLocks noChangeArrowheads="1"/>
          </p:cNvSpPr>
          <p:nvPr/>
        </p:nvSpPr>
        <p:spPr bwMode="auto">
          <a:xfrm flipH="1">
            <a:off x="5696585" y="33524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9" name="Oval 29"/>
          <p:cNvSpPr>
            <a:spLocks noChangeArrowheads="1"/>
          </p:cNvSpPr>
          <p:nvPr/>
        </p:nvSpPr>
        <p:spPr bwMode="auto">
          <a:xfrm flipH="1">
            <a:off x="2847023" y="47923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0" name="Oval 30"/>
          <p:cNvSpPr>
            <a:spLocks noChangeArrowheads="1"/>
          </p:cNvSpPr>
          <p:nvPr/>
        </p:nvSpPr>
        <p:spPr bwMode="auto">
          <a:xfrm flipH="1">
            <a:off x="5728335" y="479234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59" name="AutoShape 39"/>
          <p:cNvCxnSpPr>
            <a:stCxn id="1054743" idx="2"/>
            <a:endCxn id="1054749" idx="6"/>
          </p:cNvCxnSpPr>
          <p:nvPr/>
        </p:nvCxnSpPr>
        <p:spPr>
          <a:xfrm rot="10800000" flipH="1" flipV="1">
            <a:off x="2832735" y="2057083"/>
            <a:ext cx="1588" cy="2879725"/>
          </a:xfrm>
          <a:prstGeom prst="curvedConnector3">
            <a:avLst>
              <a:gd name="adj1" fmla="val -1350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0" name="Oval 40"/>
          <p:cNvSpPr/>
          <p:nvPr/>
        </p:nvSpPr>
        <p:spPr>
          <a:xfrm>
            <a:off x="2486660" y="33524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3" name="AutoShape 43"/>
          <p:cNvCxnSpPr>
            <a:stCxn id="1054743" idx="4"/>
            <a:endCxn id="1054746" idx="0"/>
          </p:cNvCxnSpPr>
          <p:nvPr/>
        </p:nvCxnSpPr>
        <p:spPr>
          <a:xfrm rot="5400000">
            <a:off x="2429510" y="2776220"/>
            <a:ext cx="11223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4" name="Oval 44"/>
          <p:cNvSpPr/>
          <p:nvPr/>
        </p:nvSpPr>
        <p:spPr>
          <a:xfrm>
            <a:off x="2847023" y="263334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7" name="AutoShape 47"/>
          <p:cNvCxnSpPr>
            <a:stCxn id="1054746" idx="4"/>
            <a:endCxn id="1054749" idx="0"/>
          </p:cNvCxnSpPr>
          <p:nvPr/>
        </p:nvCxnSpPr>
        <p:spPr>
          <a:xfrm rot="5400000">
            <a:off x="2429510" y="421608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8" name="Oval 48"/>
          <p:cNvSpPr/>
          <p:nvPr/>
        </p:nvSpPr>
        <p:spPr>
          <a:xfrm>
            <a:off x="2847023" y="407320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9" name="AutoShape 49"/>
          <p:cNvCxnSpPr>
            <a:stCxn id="1054748" idx="4"/>
            <a:endCxn id="1054750" idx="0"/>
          </p:cNvCxnSpPr>
          <p:nvPr/>
        </p:nvCxnSpPr>
        <p:spPr>
          <a:xfrm rot="16200000" flipH="1">
            <a:off x="5294948" y="420020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0" name="Oval 50"/>
          <p:cNvSpPr/>
          <p:nvPr/>
        </p:nvSpPr>
        <p:spPr>
          <a:xfrm>
            <a:off x="5726748" y="407320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1" name="AutoShape 51"/>
          <p:cNvCxnSpPr>
            <a:stCxn id="1054747" idx="3"/>
            <a:endCxn id="1054750" idx="7"/>
          </p:cNvCxnSpPr>
          <p:nvPr/>
        </p:nvCxnSpPr>
        <p:spPr>
          <a:xfrm>
            <a:off x="4518660" y="3612833"/>
            <a:ext cx="12525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2" name="Oval 52"/>
          <p:cNvSpPr/>
          <p:nvPr/>
        </p:nvSpPr>
        <p:spPr>
          <a:xfrm>
            <a:off x="5006023" y="407320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3" name="AutoShape 53"/>
          <p:cNvCxnSpPr>
            <a:stCxn id="1054745" idx="5"/>
            <a:endCxn id="1054747" idx="1"/>
          </p:cNvCxnSpPr>
          <p:nvPr/>
        </p:nvCxnSpPr>
        <p:spPr>
          <a:xfrm rot="5400000">
            <a:off x="4532948" y="2157095"/>
            <a:ext cx="1206500" cy="1236663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4" name="Oval 54"/>
          <p:cNvSpPr/>
          <p:nvPr/>
        </p:nvSpPr>
        <p:spPr>
          <a:xfrm>
            <a:off x="5006023" y="263334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5" name="AutoShape 55"/>
          <p:cNvCxnSpPr>
            <a:stCxn id="1054746" idx="1"/>
            <a:endCxn id="1054745" idx="5"/>
          </p:cNvCxnSpPr>
          <p:nvPr/>
        </p:nvCxnSpPr>
        <p:spPr>
          <a:xfrm flipV="1">
            <a:off x="3093085" y="2172970"/>
            <a:ext cx="26622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6" name="Oval 56"/>
          <p:cNvSpPr/>
          <p:nvPr/>
        </p:nvSpPr>
        <p:spPr>
          <a:xfrm>
            <a:off x="4286885" y="263334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3150235" y="349694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3566160" y="33524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3" name="AutoShape 63"/>
          <p:cNvCxnSpPr>
            <a:stCxn id="1054749" idx="1"/>
            <a:endCxn id="1054747" idx="5"/>
          </p:cNvCxnSpPr>
          <p:nvPr/>
        </p:nvCxnSpPr>
        <p:spPr>
          <a:xfrm flipV="1">
            <a:off x="3093085" y="361283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4" name="Oval 64"/>
          <p:cNvSpPr/>
          <p:nvPr/>
        </p:nvSpPr>
        <p:spPr>
          <a:xfrm>
            <a:off x="3566160" y="40732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5" name="AutoShape 65"/>
          <p:cNvCxnSpPr>
            <a:stCxn id="1054748" idx="0"/>
            <a:endCxn id="1054745" idx="4"/>
          </p:cNvCxnSpPr>
          <p:nvPr/>
        </p:nvCxnSpPr>
        <p:spPr>
          <a:xfrm flipV="1">
            <a:off x="5841048" y="221583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6" name="Oval 66"/>
          <p:cNvSpPr/>
          <p:nvPr/>
        </p:nvSpPr>
        <p:spPr>
          <a:xfrm>
            <a:off x="5726748" y="263334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7" name="AutoShape 67"/>
          <p:cNvCxnSpPr>
            <a:stCxn id="1054749" idx="2"/>
            <a:endCxn id="1054750" idx="6"/>
          </p:cNvCxnSpPr>
          <p:nvPr/>
        </p:nvCxnSpPr>
        <p:spPr>
          <a:xfrm>
            <a:off x="3150235" y="493680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8" name="Oval 68"/>
          <p:cNvSpPr/>
          <p:nvPr/>
        </p:nvSpPr>
        <p:spPr>
          <a:xfrm>
            <a:off x="4286885" y="479234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9" name="AutoShape 69"/>
          <p:cNvCxnSpPr>
            <a:stCxn id="1054744" idx="2"/>
            <a:endCxn id="1054745" idx="6"/>
          </p:cNvCxnSpPr>
          <p:nvPr/>
        </p:nvCxnSpPr>
        <p:spPr>
          <a:xfrm>
            <a:off x="4590098" y="205708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0" name="Oval 70"/>
          <p:cNvSpPr/>
          <p:nvPr/>
        </p:nvSpPr>
        <p:spPr>
          <a:xfrm>
            <a:off x="4990148" y="191262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1" name="AutoShape 71"/>
          <p:cNvCxnSpPr>
            <a:stCxn id="1054743" idx="6"/>
            <a:endCxn id="1054744" idx="6"/>
          </p:cNvCxnSpPr>
          <p:nvPr/>
        </p:nvCxnSpPr>
        <p:spPr>
          <a:xfrm>
            <a:off x="3148648" y="2057083"/>
            <a:ext cx="112553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2" name="Oval 72"/>
          <p:cNvSpPr/>
          <p:nvPr/>
        </p:nvSpPr>
        <p:spPr>
          <a:xfrm>
            <a:off x="3566160" y="191262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3" name="AutoShape 73"/>
          <p:cNvCxnSpPr>
            <a:stCxn id="1054747" idx="2"/>
            <a:endCxn id="1054748" idx="6"/>
          </p:cNvCxnSpPr>
          <p:nvPr/>
        </p:nvCxnSpPr>
        <p:spPr>
          <a:xfrm>
            <a:off x="4575810" y="3496945"/>
            <a:ext cx="1108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4" name="Oval 74"/>
          <p:cNvSpPr/>
          <p:nvPr/>
        </p:nvSpPr>
        <p:spPr>
          <a:xfrm>
            <a:off x="5007610" y="33524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54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4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54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4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54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4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54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9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54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0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54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54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54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54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54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54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0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54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1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54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2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54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3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54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4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54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54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54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1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3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54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3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4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54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00"/>
                            </p:stCondLst>
                            <p:childTnLst>
                              <p:par>
                                <p:cTn id="3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5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54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7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6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54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9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7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54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54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500"/>
                            </p:stCondLst>
                            <p:childTnLst>
                              <p:par>
                                <p:cTn id="3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9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54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500"/>
                            </p:stCondLst>
                            <p:childTnLst>
                              <p:par>
                                <p:cTn id="3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5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0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547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500"/>
                            </p:stCondLst>
                            <p:childTnLst>
                              <p:par>
                                <p:cTn id="3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547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500"/>
                            </p:stCondLst>
                            <p:childTnLst>
                              <p:par>
                                <p:cTn id="4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547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00"/>
                            </p:stCondLst>
                            <p:childTnLst>
                              <p:par>
                                <p:cTn id="4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1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547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00"/>
                            </p:stCondLst>
                            <p:childTnLst>
                              <p:par>
                                <p:cTn id="4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3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4"/>
                  </p:tgtEl>
                </p:cond>
              </p:nextCondLst>
            </p:seq>
          </p:childTnLst>
        </p:cTn>
      </p:par>
    </p:tnLst>
    <p:bldLst>
      <p:bldP spid="1054743" grpId="0" bldLvl="0" animBg="1"/>
      <p:bldP spid="1054743" grpId="1" bldLvl="0" animBg="1"/>
      <p:bldP spid="1054743" grpId="2" bldLvl="0" animBg="1"/>
      <p:bldP spid="1054744" grpId="0" bldLvl="0" animBg="1"/>
      <p:bldP spid="1054745" grpId="0" bldLvl="0" animBg="1"/>
      <p:bldP spid="1054746" grpId="0" bldLvl="0" animBg="1"/>
      <p:bldP spid="1054747" grpId="0" bldLvl="0" animBg="1"/>
      <p:bldP spid="1054748" grpId="0" bldLvl="0" animBg="1"/>
      <p:bldP spid="1054749" grpId="0" bldLvl="0" animBg="1"/>
      <p:bldP spid="1054750" grpId="0" bldLvl="0" animBg="1"/>
      <p:bldP spid="1054760" grpId="0" animBg="1"/>
      <p:bldP spid="1054760" grpId="1" animBg="1"/>
      <p:bldP spid="1054764" grpId="0" animBg="1"/>
      <p:bldP spid="1054764" grpId="1" animBg="1"/>
      <p:bldP spid="1054768" grpId="0" animBg="1"/>
      <p:bldP spid="1054768" grpId="1" animBg="1"/>
      <p:bldP spid="1054770" grpId="0" animBg="1"/>
      <p:bldP spid="1054770" grpId="1" animBg="1"/>
      <p:bldP spid="1054772" grpId="0" animBg="1"/>
      <p:bldP spid="1054772" grpId="1" animBg="1"/>
      <p:bldP spid="1054774" grpId="0" animBg="1"/>
      <p:bldP spid="1054774" grpId="1" animBg="1"/>
      <p:bldP spid="1054776" grpId="0" animBg="1"/>
      <p:bldP spid="1054776" grpId="1" animBg="1"/>
      <p:bldP spid="1054780" grpId="0" animBg="1"/>
      <p:bldP spid="1054780" grpId="1" animBg="1"/>
      <p:bldP spid="1054784" grpId="0" animBg="1"/>
      <p:bldP spid="1054784" grpId="1" animBg="1"/>
      <p:bldP spid="1054786" grpId="0" animBg="1"/>
      <p:bldP spid="1054786" grpId="1" animBg="1"/>
      <p:bldP spid="1054788" grpId="0" animBg="1"/>
      <p:bldP spid="1054788" grpId="1" animBg="1"/>
      <p:bldP spid="1054790" grpId="0" animBg="1"/>
      <p:bldP spid="1054790" grpId="1" animBg="1"/>
      <p:bldP spid="1054792" grpId="0" animBg="1"/>
      <p:bldP spid="1054792" grpId="1" animBg="1"/>
      <p:bldP spid="1054794" grpId="0" animBg="1"/>
      <p:bldP spid="105479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单源最短路径例（</a:t>
            </a:r>
            <a:r>
              <a:rPr lang="en-US" altLang="zh-CN" smtClean="0">
                <a:sym typeface="+mn-ea"/>
              </a:rPr>
              <a:t>3</a:t>
            </a:r>
            <a:r>
              <a:rPr lang="zh-CN" altLang="en-US" smtClean="0">
                <a:sym typeface="+mn-ea"/>
              </a:rPr>
              <a:t>）</a:t>
            </a:r>
            <a:r>
              <a:rPr lang="en-US" altLang="zh-CN" smtClean="0">
                <a:sym typeface="+mn-ea"/>
              </a:rPr>
              <a:t>-</a:t>
            </a:r>
            <a:r>
              <a:rPr lang="zh-CN" altLang="en-US" smtClean="0">
                <a:sym typeface="+mn-ea"/>
              </a:rPr>
              <a:t>负权边</a:t>
            </a:r>
            <a:endParaRPr lang="zh-CN" altLang="en-US" smtClean="0">
              <a:sym typeface="+mn-ea"/>
            </a:endParaRPr>
          </a:p>
        </p:txBody>
      </p:sp>
      <p:sp>
        <p:nvSpPr>
          <p:cNvPr id="2" name="Oval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26093" y="253746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Oval 2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flipH="1">
            <a:off x="4465955" y="25374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val 2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H="1">
            <a:off x="5891530" y="253746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Oval 2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flipH="1">
            <a:off x="3026093" y="397732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Oval 2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flipH="1">
            <a:off x="4451668" y="397732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Oval 2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flipH="1">
            <a:off x="5875655" y="397732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Oval 2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flipH="1">
            <a:off x="3026093" y="54171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Oval 3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flipH="1">
            <a:off x="5907405" y="541718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" name="AutoShape 39"/>
          <p:cNvCxnSpPr>
            <a:stCxn id="2" idx="2"/>
            <a:endCxn id="8" idx="6"/>
          </p:cNvCxnSpPr>
          <p:nvPr>
            <p:custDataLst>
              <p:tags r:id="rId9"/>
            </p:custDataLst>
          </p:nvPr>
        </p:nvCxnSpPr>
        <p:spPr>
          <a:xfrm rot="10800000" flipH="1" flipV="1">
            <a:off x="3011805" y="2681923"/>
            <a:ext cx="1588" cy="2879725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11" name="Oval 40"/>
          <p:cNvSpPr/>
          <p:nvPr>
            <p:custDataLst>
              <p:tags r:id="rId10"/>
            </p:custDataLst>
          </p:nvPr>
        </p:nvSpPr>
        <p:spPr>
          <a:xfrm>
            <a:off x="2665730" y="397732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2" name="AutoShape 43"/>
          <p:cNvCxnSpPr>
            <a:stCxn id="2" idx="4"/>
            <a:endCxn id="5" idx="0"/>
          </p:cNvCxnSpPr>
          <p:nvPr>
            <p:custDataLst>
              <p:tags r:id="rId11"/>
            </p:custDataLst>
          </p:nvPr>
        </p:nvCxnSpPr>
        <p:spPr>
          <a:xfrm rot="5400000">
            <a:off x="2608580" y="3401060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13" name="Oval 44"/>
          <p:cNvSpPr/>
          <p:nvPr>
            <p:custDataLst>
              <p:tags r:id="rId12"/>
            </p:custDataLst>
          </p:nvPr>
        </p:nvSpPr>
        <p:spPr>
          <a:xfrm>
            <a:off x="3026093" y="325818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4" name="AutoShape 47"/>
          <p:cNvCxnSpPr>
            <a:stCxn id="5" idx="4"/>
            <a:endCxn id="8" idx="0"/>
          </p:cNvCxnSpPr>
          <p:nvPr>
            <p:custDataLst>
              <p:tags r:id="rId13"/>
            </p:custDataLst>
          </p:nvPr>
        </p:nvCxnSpPr>
        <p:spPr>
          <a:xfrm rot="5400000">
            <a:off x="2608580" y="484092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5" name="Oval 48"/>
          <p:cNvSpPr/>
          <p:nvPr>
            <p:custDataLst>
              <p:tags r:id="rId14"/>
            </p:custDataLst>
          </p:nvPr>
        </p:nvSpPr>
        <p:spPr>
          <a:xfrm>
            <a:off x="3026093" y="469804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6" name="AutoShape 49"/>
          <p:cNvCxnSpPr>
            <a:stCxn id="7" idx="4"/>
            <a:endCxn id="9" idx="0"/>
          </p:cNvCxnSpPr>
          <p:nvPr>
            <p:custDataLst>
              <p:tags r:id="rId15"/>
            </p:custDataLst>
          </p:nvPr>
        </p:nvCxnSpPr>
        <p:spPr>
          <a:xfrm rot="16200000" flipH="1">
            <a:off x="5474018" y="482504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17" name="Oval 50"/>
          <p:cNvSpPr/>
          <p:nvPr>
            <p:custDataLst>
              <p:tags r:id="rId16"/>
            </p:custDataLst>
          </p:nvPr>
        </p:nvSpPr>
        <p:spPr>
          <a:xfrm>
            <a:off x="5905818" y="469804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8" name="AutoShape 51"/>
          <p:cNvCxnSpPr>
            <a:stCxn id="6" idx="3"/>
            <a:endCxn id="9" idx="7"/>
          </p:cNvCxnSpPr>
          <p:nvPr>
            <p:custDataLst>
              <p:tags r:id="rId17"/>
            </p:custDataLst>
          </p:nvPr>
        </p:nvCxnSpPr>
        <p:spPr>
          <a:xfrm>
            <a:off x="4697730" y="4237673"/>
            <a:ext cx="12525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19" name="Oval 52"/>
          <p:cNvSpPr/>
          <p:nvPr>
            <p:custDataLst>
              <p:tags r:id="rId18"/>
            </p:custDataLst>
          </p:nvPr>
        </p:nvSpPr>
        <p:spPr>
          <a:xfrm>
            <a:off x="5185093" y="469804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0" name="AutoShape 53"/>
          <p:cNvCxnSpPr>
            <a:stCxn id="4" idx="5"/>
            <a:endCxn id="6" idx="1"/>
          </p:cNvCxnSpPr>
          <p:nvPr>
            <p:custDataLst>
              <p:tags r:id="rId19"/>
            </p:custDataLst>
          </p:nvPr>
        </p:nvCxnSpPr>
        <p:spPr>
          <a:xfrm rot="5400000">
            <a:off x="4712018" y="2781935"/>
            <a:ext cx="1206500" cy="1236663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1" name="Oval 54"/>
          <p:cNvSpPr/>
          <p:nvPr>
            <p:custDataLst>
              <p:tags r:id="rId20"/>
            </p:custDataLst>
          </p:nvPr>
        </p:nvSpPr>
        <p:spPr>
          <a:xfrm>
            <a:off x="5185093" y="325818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2" name="AutoShape 55"/>
          <p:cNvCxnSpPr>
            <a:stCxn id="5" idx="1"/>
            <a:endCxn id="4" idx="5"/>
          </p:cNvCxnSpPr>
          <p:nvPr>
            <p:custDataLst>
              <p:tags r:id="rId21"/>
            </p:custDataLst>
          </p:nvPr>
        </p:nvCxnSpPr>
        <p:spPr>
          <a:xfrm flipV="1">
            <a:off x="3272155" y="2797810"/>
            <a:ext cx="26622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3" name="Oval 56"/>
          <p:cNvSpPr/>
          <p:nvPr>
            <p:custDataLst>
              <p:tags r:id="rId22"/>
            </p:custDataLst>
          </p:nvPr>
        </p:nvSpPr>
        <p:spPr>
          <a:xfrm>
            <a:off x="4465955" y="325818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-18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4" name="AutoShape 59"/>
          <p:cNvCxnSpPr>
            <a:stCxn id="5" idx="2"/>
            <a:endCxn id="6" idx="6"/>
          </p:cNvCxnSpPr>
          <p:nvPr>
            <p:custDataLst>
              <p:tags r:id="rId23"/>
            </p:custDataLst>
          </p:nvPr>
        </p:nvCxnSpPr>
        <p:spPr>
          <a:xfrm>
            <a:off x="3329305" y="412178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5" name="Oval 60"/>
          <p:cNvSpPr/>
          <p:nvPr>
            <p:custDataLst>
              <p:tags r:id="rId24"/>
            </p:custDataLst>
          </p:nvPr>
        </p:nvSpPr>
        <p:spPr>
          <a:xfrm>
            <a:off x="3745230" y="397732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6" name="AutoShape 63"/>
          <p:cNvCxnSpPr>
            <a:stCxn id="8" idx="1"/>
            <a:endCxn id="6" idx="5"/>
          </p:cNvCxnSpPr>
          <p:nvPr>
            <p:custDataLst>
              <p:tags r:id="rId25"/>
            </p:custDataLst>
          </p:nvPr>
        </p:nvCxnSpPr>
        <p:spPr>
          <a:xfrm flipV="1">
            <a:off x="3272155" y="423767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7" name="Oval 64"/>
          <p:cNvSpPr/>
          <p:nvPr>
            <p:custDataLst>
              <p:tags r:id="rId26"/>
            </p:custDataLst>
          </p:nvPr>
        </p:nvSpPr>
        <p:spPr>
          <a:xfrm>
            <a:off x="3745230" y="46980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28" name="AutoShape 65"/>
          <p:cNvCxnSpPr>
            <a:stCxn id="7" idx="0"/>
            <a:endCxn id="4" idx="4"/>
          </p:cNvCxnSpPr>
          <p:nvPr>
            <p:custDataLst>
              <p:tags r:id="rId27"/>
            </p:custDataLst>
          </p:nvPr>
        </p:nvCxnSpPr>
        <p:spPr>
          <a:xfrm flipV="1">
            <a:off x="6020118" y="284067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29" name="Oval 66"/>
          <p:cNvSpPr/>
          <p:nvPr>
            <p:custDataLst>
              <p:tags r:id="rId28"/>
            </p:custDataLst>
          </p:nvPr>
        </p:nvSpPr>
        <p:spPr>
          <a:xfrm>
            <a:off x="5905818" y="325818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0" name="AutoShape 67"/>
          <p:cNvCxnSpPr>
            <a:stCxn id="8" idx="2"/>
            <a:endCxn id="9" idx="6"/>
          </p:cNvCxnSpPr>
          <p:nvPr>
            <p:custDataLst>
              <p:tags r:id="rId29"/>
            </p:custDataLst>
          </p:nvPr>
        </p:nvCxnSpPr>
        <p:spPr>
          <a:xfrm>
            <a:off x="3329305" y="556164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31" name="Oval 68"/>
          <p:cNvSpPr/>
          <p:nvPr>
            <p:custDataLst>
              <p:tags r:id="rId30"/>
            </p:custDataLst>
          </p:nvPr>
        </p:nvSpPr>
        <p:spPr>
          <a:xfrm>
            <a:off x="4465955" y="541718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2" name="AutoShape 69"/>
          <p:cNvCxnSpPr>
            <a:stCxn id="3" idx="2"/>
            <a:endCxn id="4" idx="6"/>
          </p:cNvCxnSpPr>
          <p:nvPr>
            <p:custDataLst>
              <p:tags r:id="rId31"/>
            </p:custDataLst>
          </p:nvPr>
        </p:nvCxnSpPr>
        <p:spPr>
          <a:xfrm>
            <a:off x="4769168" y="268192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33" name="Oval 70"/>
          <p:cNvSpPr/>
          <p:nvPr>
            <p:custDataLst>
              <p:tags r:id="rId32"/>
            </p:custDataLst>
          </p:nvPr>
        </p:nvSpPr>
        <p:spPr>
          <a:xfrm>
            <a:off x="5169218" y="253746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4" name="AutoShape 71"/>
          <p:cNvCxnSpPr>
            <a:stCxn id="2" idx="6"/>
            <a:endCxn id="3" idx="6"/>
          </p:cNvCxnSpPr>
          <p:nvPr>
            <p:custDataLst>
              <p:tags r:id="rId33"/>
            </p:custDataLst>
          </p:nvPr>
        </p:nvCxnSpPr>
        <p:spPr>
          <a:xfrm>
            <a:off x="3327718" y="2681923"/>
            <a:ext cx="11255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35" name="Oval 72"/>
          <p:cNvSpPr/>
          <p:nvPr>
            <p:custDataLst>
              <p:tags r:id="rId34"/>
            </p:custDataLst>
          </p:nvPr>
        </p:nvSpPr>
        <p:spPr>
          <a:xfrm>
            <a:off x="3745230" y="253746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6" name="AutoShape 73"/>
          <p:cNvCxnSpPr>
            <a:stCxn id="6" idx="2"/>
            <a:endCxn id="7" idx="6"/>
          </p:cNvCxnSpPr>
          <p:nvPr>
            <p:custDataLst>
              <p:tags r:id="rId35"/>
            </p:custDataLst>
          </p:nvPr>
        </p:nvCxnSpPr>
        <p:spPr>
          <a:xfrm>
            <a:off x="4754880" y="4121785"/>
            <a:ext cx="11080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37" name="Oval 74"/>
          <p:cNvSpPr/>
          <p:nvPr>
            <p:custDataLst>
              <p:tags r:id="rId36"/>
            </p:custDataLst>
          </p:nvPr>
        </p:nvSpPr>
        <p:spPr>
          <a:xfrm>
            <a:off x="5186680" y="397732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1" grpId="0"/>
      <p:bldP spid="13" grpId="0"/>
      <p:bldP spid="15" grpId="0"/>
      <p:bldP spid="17" grpId="0"/>
      <p:bldP spid="19" grpId="0"/>
      <p:bldP spid="21" grpId="0"/>
      <p:bldP spid="23" grpId="0"/>
      <p:bldP spid="25" grpId="0"/>
      <p:bldP spid="27" grpId="0"/>
      <p:bldP spid="29" grpId="0"/>
      <p:bldP spid="31" grpId="0"/>
      <p:bldP spid="33" grpId="0"/>
      <p:bldP spid="35" grpId="0"/>
      <p:bldP spid="37" grpId="0"/>
      <p:bldP spid="2" grpId="1" bldLvl="0" animBg="1"/>
      <p:bldP spid="5" grpId="1" bldLvl="0" animBg="1"/>
      <p:bldP spid="8" grpId="1" bldLvl="0" animBg="1"/>
      <p:bldP spid="3" grpId="1" bldLvl="0" animBg="1"/>
      <p:bldP spid="6" grpId="1" bldLvl="0" animBg="1"/>
      <p:bldP spid="7" grpId="1" bldLvl="0" animBg="1"/>
      <p:bldP spid="4" grpId="1" bldLvl="0" animBg="1"/>
      <p:bldP spid="9" grpId="1" bldLvl="0" animBg="1"/>
      <p:bldP spid="11" grpId="1"/>
      <p:bldP spid="13" grpId="1"/>
      <p:bldP spid="35" grpId="1"/>
      <p:bldP spid="33" grpId="1"/>
      <p:bldP spid="21" grpId="1"/>
      <p:bldP spid="29" grpId="1"/>
      <p:bldP spid="17" grpId="1"/>
      <p:bldP spid="37" grpId="1"/>
      <p:bldP spid="25" grpId="1"/>
      <p:bldP spid="27" grpId="1"/>
      <p:bldP spid="19" grpId="1"/>
      <p:bldP spid="31" grpId="1"/>
      <p:bldP spid="15" grpId="1"/>
      <p:bldP spid="2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Dijkstra</a:t>
            </a:r>
            <a:r>
              <a:rPr lang="zh-CN" altLang="en-US" smtClean="0"/>
              <a:t>算法伪代码</a:t>
            </a:r>
            <a:endParaRPr lang="zh-CN" altLang="en-U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 smtClean="0"/>
              <a:t>初始化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</a:t>
            </a:r>
            <a:r>
              <a:rPr lang="en-US" altLang="zh-CN" sz="2400" i="1" smtClean="0"/>
              <a:t>a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s</a:t>
            </a:r>
            <a:r>
              <a:rPr lang="en-US" altLang="zh-CN" sz="2400" smtClean="0"/>
              <a:t>][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</a:t>
            </a:r>
            <a:r>
              <a:rPr lang="zh-CN" altLang="en-US" sz="2400" smtClean="0"/>
              <a:t>（</a:t>
            </a:r>
            <a:r>
              <a:rPr lang="en-US" altLang="zh-CN" sz="2400" smtClean="0"/>
              <a:t>1≤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≤</a:t>
            </a:r>
            <a:r>
              <a:rPr lang="en-US" altLang="zh-CN" sz="2400" i="1" smtClean="0"/>
              <a:t>n</a:t>
            </a:r>
            <a:r>
              <a:rPr lang="zh-CN" altLang="en-US" sz="2400" smtClean="0"/>
              <a:t>）</a:t>
            </a:r>
            <a:br>
              <a:rPr lang="zh-CN" altLang="en-US" sz="2400" smtClean="0"/>
            </a:br>
            <a:r>
              <a:rPr lang="zh-CN" altLang="en-US" sz="2400" smtClean="0"/>
              <a:t>对于邻接于</a:t>
            </a:r>
            <a:r>
              <a:rPr lang="en-US" altLang="zh-CN" sz="2400" i="1" smtClean="0"/>
              <a:t>s</a:t>
            </a:r>
            <a:r>
              <a:rPr lang="zh-CN" altLang="en-US" sz="2400" smtClean="0"/>
              <a:t>的所有顶点</a:t>
            </a:r>
            <a:r>
              <a:rPr lang="en-US" altLang="zh-CN" sz="2400" i="1" smtClean="0"/>
              <a:t>i</a:t>
            </a:r>
            <a:r>
              <a:rPr lang="zh-CN" altLang="en-US" sz="2400" smtClean="0"/>
              <a:t>，置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</a:t>
            </a:r>
            <a:r>
              <a:rPr lang="en-US" altLang="zh-CN" sz="2400" i="1" smtClean="0"/>
              <a:t>s</a:t>
            </a:r>
            <a:r>
              <a:rPr lang="zh-CN" altLang="en-US" sz="2400" smtClean="0"/>
              <a:t>，对于其余的顶点置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]=0</a:t>
            </a:r>
            <a:br>
              <a:rPr lang="en-US" altLang="zh-CN" sz="2400" smtClean="0"/>
            </a:br>
            <a:r>
              <a:rPr lang="zh-CN" altLang="en-US" sz="2400" smtClean="0"/>
              <a:t>对于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</a:t>
            </a:r>
            <a:r>
              <a:rPr lang="en-US" altLang="zh-CN" sz="2400" smtClean="0">
                <a:ea typeface="Arial Unicode MS" panose="020B0604020202020204" charset="-122"/>
                <a:cs typeface="Arial Unicode MS" panose="020B0604020202020204" charset="-122"/>
              </a:rPr>
              <a:t>≠</a:t>
            </a:r>
            <a:r>
              <a:rPr lang="en-US" altLang="zh-CN" sz="2400" smtClean="0"/>
              <a:t>0</a:t>
            </a:r>
            <a:r>
              <a:rPr lang="zh-CN" altLang="en-US" sz="2400" smtClean="0"/>
              <a:t>的所有顶点建立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表</a:t>
            </a:r>
            <a:endParaRPr lang="zh-CN" altLang="en-US" sz="2400" smtClean="0"/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 smtClean="0"/>
              <a:t>若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为空，终止，否则转至</a:t>
            </a:r>
            <a:r>
              <a:rPr lang="en-US" altLang="zh-CN" sz="2400" smtClean="0"/>
              <a:t>3)</a:t>
            </a:r>
            <a:endParaRPr lang="en-US" altLang="zh-CN" sz="2400" smtClean="0"/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 smtClean="0"/>
              <a:t>从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中删除</a:t>
            </a:r>
            <a:r>
              <a:rPr lang="en-US" altLang="zh-CN" sz="2400" i="1" smtClean="0"/>
              <a:t>d</a:t>
            </a:r>
            <a:r>
              <a:rPr lang="zh-CN" altLang="en-US" sz="2400" smtClean="0"/>
              <a:t>值最小的顶点</a:t>
            </a:r>
            <a:endParaRPr lang="zh-CN" altLang="en-US" sz="2400" smtClean="0"/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z="2400" smtClean="0"/>
              <a:t>对于与</a:t>
            </a:r>
            <a:r>
              <a:rPr lang="en-US" altLang="zh-CN" sz="2400" i="1" smtClean="0"/>
              <a:t>i</a:t>
            </a:r>
            <a:r>
              <a:rPr lang="zh-CN" altLang="en-US" sz="2400" smtClean="0"/>
              <a:t>邻接的所有还未到达的顶点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，更新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</a:t>
            </a:r>
            <a:r>
              <a:rPr lang="zh-CN" altLang="en-US" sz="2400" smtClean="0"/>
              <a:t>值为</a:t>
            </a:r>
            <a:r>
              <a:rPr lang="en-US" altLang="zh-CN" sz="2400" i="1" smtClean="0"/>
              <a:t>min</a:t>
            </a:r>
            <a:r>
              <a:rPr lang="en-US" altLang="zh-CN" sz="2400" smtClean="0"/>
              <a:t>{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], 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]+</a:t>
            </a:r>
            <a:r>
              <a:rPr lang="en-US" altLang="zh-CN" sz="2400" i="1" smtClean="0"/>
              <a:t>a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i</a:t>
            </a:r>
            <a:r>
              <a:rPr lang="en-US" altLang="zh-CN" sz="2400" smtClean="0"/>
              <a:t>][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]}</a:t>
            </a:r>
            <a:br>
              <a:rPr lang="en-US" altLang="zh-CN" sz="2400" smtClean="0"/>
            </a:br>
            <a:r>
              <a:rPr lang="zh-CN" altLang="en-US" sz="2400" smtClean="0"/>
              <a:t>若</a:t>
            </a:r>
            <a:r>
              <a:rPr lang="en-US" altLang="zh-CN" sz="2400" i="1" smtClean="0"/>
              <a:t>d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</a:t>
            </a:r>
            <a:r>
              <a:rPr lang="zh-CN" altLang="en-US" sz="2400" smtClean="0"/>
              <a:t>发生了变化且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还未在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中，则置</a:t>
            </a:r>
            <a:r>
              <a:rPr lang="en-US" altLang="zh-CN" sz="2400" i="1" smtClean="0"/>
              <a:t>p</a:t>
            </a:r>
            <a:r>
              <a:rPr lang="en-US" altLang="zh-CN" sz="2400" smtClean="0"/>
              <a:t>[</a:t>
            </a:r>
            <a:r>
              <a:rPr lang="en-US" altLang="zh-CN" sz="2400" i="1" smtClean="0"/>
              <a:t>j</a:t>
            </a:r>
            <a:r>
              <a:rPr lang="en-US" altLang="zh-CN" sz="2400" smtClean="0"/>
              <a:t>]=i</a:t>
            </a:r>
            <a:r>
              <a:rPr lang="zh-CN" altLang="en-US" sz="2400" smtClean="0"/>
              <a:t>，并将</a:t>
            </a:r>
            <a:r>
              <a:rPr lang="en-US" altLang="zh-CN" sz="2400" i="1" smtClean="0"/>
              <a:t>j</a:t>
            </a:r>
            <a:r>
              <a:rPr lang="zh-CN" altLang="en-US" sz="2400" smtClean="0"/>
              <a:t>加入</a:t>
            </a:r>
            <a:r>
              <a:rPr lang="en-US" altLang="zh-CN" sz="2400" i="1" smtClean="0"/>
              <a:t>L</a:t>
            </a:r>
            <a:r>
              <a:rPr lang="zh-CN" altLang="en-US" sz="2400" smtClean="0"/>
              <a:t>，转至</a:t>
            </a:r>
            <a:r>
              <a:rPr lang="en-US" altLang="zh-CN" sz="2400" smtClean="0"/>
              <a:t>2</a:t>
            </a:r>
            <a:endParaRPr lang="en-US" altLang="zh-CN" sz="24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AdjacencyWDigraph&lt;T&gt;::ShortestPaths(int s,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 T d[], int p[])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Shortest paths from vertex s, return shortest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// distances in d and predecessor info in p.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(s &lt; 1 || s &gt; n) throw OutOfBounds();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Chain&lt;int&gt; L;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list of reachable vertices for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     // which paths have yet to be found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ChainIterator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&lt;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int&gt; I;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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  <a:endParaRPr lang="zh-CN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initialize d, p, and L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(int i = 1; i &lt;= n; i++){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d[i] = a[s][i];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if (d[i] == NoEdge) p[i] = 0;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else {p[i] = s; 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L.Insert(0,i);}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  <a:endParaRPr lang="zh-CN" alt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update d and p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while (!L.IsEmpty()) 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more paths exist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// find vertex *v in L with least d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*v = I.Initialize(L);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int *w = I.Next();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while (w)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if (d[*w] &lt; d[*v]) v = w;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w = I.Next();}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无序链表实现（续）</a:t>
            </a:r>
            <a:endParaRPr lang="zh-CN" altLang="en-US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int i = *v;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L.Delete(*v);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for (int j = 1; j &lt;= n; j++)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if (a[i][j] != NoEdge &amp;&amp; (!p[j] ||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	             d[j] &gt; d[i] + a[i][j]))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d[j] = d[i] + a[i][j];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(!p[j]) L.Insert(0,j);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p[j] = i;}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mtClean="0">
                <a:sym typeface="+mn-ea"/>
              </a:rPr>
              <a:t>Dijkstra</a:t>
            </a:r>
            <a:r>
              <a:rPr lang="zh-CN" altLang="en-US" smtClean="0">
                <a:sym typeface="+mn-ea"/>
              </a:rPr>
              <a:t>算法时间</a:t>
            </a:r>
            <a:r>
              <a:rPr lang="zh-CN" altLang="en-US" smtClean="0">
                <a:sym typeface="+mn-ea"/>
              </a:rPr>
              <a:t>复杂度</a:t>
            </a:r>
            <a:endParaRPr lang="zh-CN" altLang="en-US" smtClean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90345"/>
            <a:ext cx="7886700" cy="5173345"/>
          </a:xfrm>
        </p:spPr>
        <p:txBody>
          <a:bodyPr>
            <a:normAutofit lnSpcReduction="20000"/>
          </a:bodyPr>
          <a:p>
            <a:r>
              <a:rPr lang="zh-CN" altLang="en-US"/>
              <a:t>算法的时间复杂度与图的存储结构和实现中使用不同结构</a:t>
            </a:r>
            <a:r>
              <a:rPr lang="zh-CN" altLang="en-US"/>
              <a:t>相关</a:t>
            </a:r>
            <a:endParaRPr lang="zh-CN" altLang="en-US"/>
          </a:p>
          <a:p>
            <a:pPr lvl="1"/>
            <a:r>
              <a:rPr lang="zh-CN" altLang="en-US"/>
              <a:t>关键步骤</a:t>
            </a:r>
            <a:r>
              <a:rPr lang="en-US" altLang="zh-CN"/>
              <a:t>1</a:t>
            </a:r>
            <a:r>
              <a:rPr lang="zh-CN" altLang="en-US"/>
              <a:t>：确定下一个最短路径的顶点之后，更新通过该顶点到其他顶点的路径</a:t>
            </a:r>
            <a:r>
              <a:rPr lang="zh-CN" altLang="en-US"/>
              <a:t>长度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关键步骤</a:t>
            </a:r>
            <a:r>
              <a:rPr lang="en-US" altLang="zh-CN"/>
              <a:t>2</a:t>
            </a:r>
            <a:r>
              <a:rPr lang="zh-CN" altLang="en-US"/>
              <a:t>：获取最短</a:t>
            </a:r>
            <a:r>
              <a:rPr lang="zh-CN" altLang="en-US"/>
              <a:t>路径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时间复杂度为：</a:t>
            </a:r>
            <a:r>
              <a:rPr lang="en-US" altLang="zh-CN"/>
              <a:t>O(n</a:t>
            </a:r>
            <a:r>
              <a:rPr lang="en-US" altLang="zh-CN" baseline="30000"/>
              <a:t>2</a:t>
            </a:r>
            <a:r>
              <a:rPr lang="en-US" altLang="zh-CN"/>
              <a:t>)~O(e+elogn)</a:t>
            </a:r>
            <a:endParaRPr lang="zh-CN" altLang="en-US"/>
          </a:p>
          <a:p>
            <a:pPr marL="685800" lvl="2" indent="0">
              <a:buNone/>
            </a:pPr>
            <a:endParaRPr lang="zh-CN" altLang="en-US"/>
          </a:p>
          <a:p>
            <a:pPr lvl="1"/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946910" y="2922905"/>
          <a:ext cx="5387340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0170"/>
                <a:gridCol w="1948815"/>
                <a:gridCol w="2078355"/>
              </a:tblGrid>
              <a:tr h="2755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图</a:t>
                      </a:r>
                      <a:r>
                        <a:rPr lang="zh-CN" altLang="en-US"/>
                        <a:t>结构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每次更新最短路径</a:t>
                      </a:r>
                      <a:r>
                        <a:rPr lang="zh-CN" altLang="en-US"/>
                        <a:t>长度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全部更新路径</a:t>
                      </a:r>
                      <a:r>
                        <a:rPr lang="zh-CN" altLang="en-US"/>
                        <a:t>操作</a:t>
                      </a:r>
                      <a:endParaRPr lang="zh-CN" altLang="en-US"/>
                    </a:p>
                  </a:txBody>
                  <a:tcPr/>
                </a:tc>
              </a:tr>
              <a:tr h="2914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邻接</a:t>
                      </a:r>
                      <a:r>
                        <a:rPr lang="zh-CN" altLang="en-US"/>
                        <a:t>矩阵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</a:t>
                      </a:r>
                      <a:r>
                        <a:rPr lang="en-US" altLang="zh-CN"/>
                        <a:t>n)</a:t>
                      </a:r>
                      <a:endParaRPr lang="en-US" altLang="zh-CN"/>
                    </a:p>
                  </a:txBody>
                  <a:tcPr/>
                </a:tc>
              </a:tr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邻接</a:t>
                      </a:r>
                      <a:r>
                        <a:rPr lang="zh-CN" altLang="en-US"/>
                        <a:t>链表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O(d</a:t>
                      </a:r>
                      <a:r>
                        <a:rPr lang="en-US" altLang="zh-CN" sz="1350" baseline="-25000">
                          <a:sym typeface="+mn-ea"/>
                        </a:rPr>
                        <a:t>i </a:t>
                      </a:r>
                      <a:r>
                        <a:rPr lang="en-US" altLang="zh-CN" baseline="-25000"/>
                        <a:t>out</a:t>
                      </a:r>
                      <a:r>
                        <a:rPr lang="en-US" altLang="zh-CN"/>
                        <a:t>)  </a:t>
                      </a:r>
                      <a:r>
                        <a:rPr lang="zh-CN" altLang="en-US"/>
                        <a:t>顶点</a:t>
                      </a:r>
                      <a:r>
                        <a:rPr lang="zh-CN" altLang="en-US"/>
                        <a:t>出度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O(e)  </a:t>
                      </a:r>
                      <a:r>
                        <a:rPr lang="zh-CN" altLang="en-US"/>
                        <a:t>边个数</a:t>
                      </a:r>
                      <a:r>
                        <a:rPr lang="en-US" altLang="zh-CN"/>
                        <a:t>(</a:t>
                      </a:r>
                      <a:r>
                        <a:rPr lang="zh-CN" altLang="en-US"/>
                        <a:t>邻接链表节点个数</a:t>
                      </a:r>
                      <a:r>
                        <a:rPr lang="en-US" altLang="zh-CN"/>
                        <a:t>)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1946910" y="4363085"/>
          <a:ext cx="5455920" cy="949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640"/>
                <a:gridCol w="1818640"/>
                <a:gridCol w="1818640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最短路径保存</a:t>
                      </a:r>
                      <a:r>
                        <a:rPr lang="zh-CN" altLang="en-US"/>
                        <a:t>结构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获取最短</a:t>
                      </a:r>
                      <a:r>
                        <a:rPr lang="zh-CN" altLang="en-US"/>
                        <a:t>路径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全部更新路径</a:t>
                      </a:r>
                      <a:r>
                        <a:rPr lang="zh-CN" altLang="en-US"/>
                        <a:t>操作</a:t>
                      </a:r>
                      <a:endParaRPr lang="zh-CN" altLang="en-US"/>
                    </a:p>
                  </a:txBody>
                  <a:tcPr/>
                </a:tc>
              </a:tr>
              <a:tr h="3244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顺序</a:t>
                      </a:r>
                      <a:r>
                        <a:rPr lang="zh-CN" altLang="en-US"/>
                        <a:t>数组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</a:t>
                      </a:r>
                      <a:r>
                        <a:rPr lang="en-US" altLang="zh-CN"/>
                        <a:t>n)</a:t>
                      </a:r>
                      <a:endParaRPr lang="en-US" altLang="zh-CN"/>
                    </a:p>
                  </a:txBody>
                  <a:tcPr/>
                </a:tc>
              </a:tr>
              <a:tr h="3276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最小堆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</a:t>
                      </a:r>
                      <a:r>
                        <a:rPr lang="en-US" altLang="zh-CN" sz="1350">
                          <a:sym typeface="+mn-ea"/>
                        </a:rPr>
                        <a:t>d</a:t>
                      </a:r>
                      <a:r>
                        <a:rPr lang="en-US" altLang="zh-CN" sz="1350" baseline="-25000">
                          <a:sym typeface="+mn-ea"/>
                        </a:rPr>
                        <a:t>i </a:t>
                      </a:r>
                      <a:r>
                        <a:rPr lang="en-US" altLang="zh-CN" sz="1350" baseline="-25000">
                          <a:sym typeface="+mn-ea"/>
                        </a:rPr>
                        <a:t>out</a:t>
                      </a:r>
                      <a:r>
                        <a:rPr lang="en-US" altLang="zh-CN"/>
                        <a:t>log(n)) 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O(e*log(n))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22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smtClean="0">
                <a:sym typeface="+mn-ea"/>
              </a:rPr>
              <a:t>SPT</a:t>
            </a:r>
            <a:r>
              <a:rPr lang="en-US" altLang="zh-CN" smtClean="0">
                <a:sym typeface="+mn-ea"/>
              </a:rPr>
              <a:t>-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shortest path tree</a:t>
            </a:r>
            <a:endParaRPr lang="en-US" altLang="zh-CN" smtClean="0">
              <a:sym typeface="+mn-ea"/>
            </a:endParaRPr>
          </a:p>
        </p:txBody>
      </p:sp>
      <p:sp>
        <p:nvSpPr>
          <p:cNvPr id="10547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所有最短路径的并，构成一棵树（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shortest path tree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54743" name="Oval 23"/>
          <p:cNvSpPr>
            <a:spLocks noChangeArrowheads="1"/>
          </p:cNvSpPr>
          <p:nvPr/>
        </p:nvSpPr>
        <p:spPr bwMode="auto">
          <a:xfrm>
            <a:off x="827088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44" name="Oval 24"/>
          <p:cNvSpPr>
            <a:spLocks noChangeArrowheads="1"/>
          </p:cNvSpPr>
          <p:nvPr/>
        </p:nvSpPr>
        <p:spPr bwMode="auto">
          <a:xfrm flipH="1">
            <a:off x="2266950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5" name="Oval 25"/>
          <p:cNvSpPr>
            <a:spLocks noChangeArrowheads="1"/>
          </p:cNvSpPr>
          <p:nvPr/>
        </p:nvSpPr>
        <p:spPr bwMode="auto">
          <a:xfrm flipH="1">
            <a:off x="3692525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827088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252663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8" name="Oval 28"/>
          <p:cNvSpPr>
            <a:spLocks noChangeArrowheads="1"/>
          </p:cNvSpPr>
          <p:nvPr/>
        </p:nvSpPr>
        <p:spPr bwMode="auto">
          <a:xfrm flipH="1">
            <a:off x="3676650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9" name="Oval 29"/>
          <p:cNvSpPr>
            <a:spLocks noChangeArrowheads="1"/>
          </p:cNvSpPr>
          <p:nvPr/>
        </p:nvSpPr>
        <p:spPr bwMode="auto">
          <a:xfrm flipH="1">
            <a:off x="827088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0" name="Oval 30"/>
          <p:cNvSpPr>
            <a:spLocks noChangeArrowheads="1"/>
          </p:cNvSpPr>
          <p:nvPr/>
        </p:nvSpPr>
        <p:spPr bwMode="auto">
          <a:xfrm flipH="1">
            <a:off x="3708400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1" name="Oval 31"/>
          <p:cNvSpPr>
            <a:spLocks noChangeArrowheads="1"/>
          </p:cNvSpPr>
          <p:nvPr/>
        </p:nvSpPr>
        <p:spPr bwMode="auto">
          <a:xfrm>
            <a:off x="5148263" y="25654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054752" name="Oval 32"/>
          <p:cNvSpPr>
            <a:spLocks noChangeArrowheads="1"/>
          </p:cNvSpPr>
          <p:nvPr/>
        </p:nvSpPr>
        <p:spPr bwMode="auto">
          <a:xfrm flipH="1">
            <a:off x="6588125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A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3" name="Oval 33"/>
          <p:cNvSpPr>
            <a:spLocks noChangeArrowheads="1"/>
          </p:cNvSpPr>
          <p:nvPr/>
        </p:nvSpPr>
        <p:spPr bwMode="auto">
          <a:xfrm flipH="1">
            <a:off x="8013700" y="256540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B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4" name="Oval 34"/>
          <p:cNvSpPr>
            <a:spLocks noChangeArrowheads="1"/>
          </p:cNvSpPr>
          <p:nvPr/>
        </p:nvSpPr>
        <p:spPr bwMode="auto">
          <a:xfrm flipH="1">
            <a:off x="5148263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C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5" name="Oval 35"/>
          <p:cNvSpPr>
            <a:spLocks noChangeArrowheads="1"/>
          </p:cNvSpPr>
          <p:nvPr/>
        </p:nvSpPr>
        <p:spPr bwMode="auto">
          <a:xfrm flipH="1">
            <a:off x="6573838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D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6" name="Oval 36"/>
          <p:cNvSpPr>
            <a:spLocks noChangeArrowheads="1"/>
          </p:cNvSpPr>
          <p:nvPr/>
        </p:nvSpPr>
        <p:spPr bwMode="auto">
          <a:xfrm flipH="1">
            <a:off x="7997825" y="40052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E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7" name="Oval 37"/>
          <p:cNvSpPr>
            <a:spLocks noChangeArrowheads="1"/>
          </p:cNvSpPr>
          <p:nvPr/>
        </p:nvSpPr>
        <p:spPr bwMode="auto">
          <a:xfrm flipH="1">
            <a:off x="5148263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F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58" name="Oval 38"/>
          <p:cNvSpPr>
            <a:spLocks noChangeArrowheads="1"/>
          </p:cNvSpPr>
          <p:nvPr/>
        </p:nvSpPr>
        <p:spPr bwMode="auto">
          <a:xfrm flipH="1">
            <a:off x="8027988" y="544512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G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59" name="AutoShape 39"/>
          <p:cNvCxnSpPr>
            <a:stCxn id="1054743" idx="2"/>
            <a:endCxn id="1054749" idx="6"/>
          </p:cNvCxnSpPr>
          <p:nvPr/>
        </p:nvCxnSpPr>
        <p:spPr>
          <a:xfrm rot="10800000" flipH="1" flipV="1">
            <a:off x="812800" y="2709863"/>
            <a:ext cx="1588" cy="2879725"/>
          </a:xfrm>
          <a:prstGeom prst="curvedConnector3">
            <a:avLst>
              <a:gd name="adj1" fmla="val -1350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0" name="Oval 40"/>
          <p:cNvSpPr/>
          <p:nvPr/>
        </p:nvSpPr>
        <p:spPr>
          <a:xfrm>
            <a:off x="4667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1" name="AutoShape 41"/>
          <p:cNvCxnSpPr>
            <a:stCxn id="1054751" idx="2"/>
            <a:endCxn id="1054757" idx="6"/>
          </p:cNvCxnSpPr>
          <p:nvPr/>
        </p:nvCxnSpPr>
        <p:spPr>
          <a:xfrm rot="10800000" flipH="1" flipV="1">
            <a:off x="5133975" y="2709863"/>
            <a:ext cx="1588" cy="2879725"/>
          </a:xfrm>
          <a:prstGeom prst="curvedConnector3">
            <a:avLst>
              <a:gd name="adj1" fmla="val -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2" name="Oval 42"/>
          <p:cNvSpPr/>
          <p:nvPr/>
        </p:nvSpPr>
        <p:spPr>
          <a:xfrm>
            <a:off x="4786313" y="400526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3" name="AutoShape 43"/>
          <p:cNvCxnSpPr>
            <a:stCxn id="1054743" idx="4"/>
            <a:endCxn id="1054746" idx="0"/>
          </p:cNvCxnSpPr>
          <p:nvPr/>
        </p:nvCxnSpPr>
        <p:spPr>
          <a:xfrm rot="5400000">
            <a:off x="409575" y="3429000"/>
            <a:ext cx="11223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4" name="Oval 44"/>
          <p:cNvSpPr/>
          <p:nvPr/>
        </p:nvSpPr>
        <p:spPr>
          <a:xfrm>
            <a:off x="827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5" name="AutoShape 45"/>
          <p:cNvCxnSpPr>
            <a:stCxn id="1054751" idx="4"/>
            <a:endCxn id="1054754" idx="0"/>
          </p:cNvCxnSpPr>
          <p:nvPr/>
        </p:nvCxnSpPr>
        <p:spPr>
          <a:xfrm rot="5400000">
            <a:off x="4730750" y="3429000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6" name="Oval 46"/>
          <p:cNvSpPr/>
          <p:nvPr/>
        </p:nvSpPr>
        <p:spPr>
          <a:xfrm>
            <a:off x="5146675" y="3286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7" name="AutoShape 47"/>
          <p:cNvCxnSpPr>
            <a:stCxn id="1054746" idx="4"/>
            <a:endCxn id="1054749" idx="0"/>
          </p:cNvCxnSpPr>
          <p:nvPr/>
        </p:nvCxnSpPr>
        <p:spPr>
          <a:xfrm rot="5400000">
            <a:off x="409575" y="4868863"/>
            <a:ext cx="11223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68" name="Oval 48"/>
          <p:cNvSpPr/>
          <p:nvPr/>
        </p:nvSpPr>
        <p:spPr>
          <a:xfrm>
            <a:off x="827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69" name="AutoShape 49"/>
          <p:cNvCxnSpPr>
            <a:stCxn id="1054748" idx="4"/>
            <a:endCxn id="1054750" idx="0"/>
          </p:cNvCxnSpPr>
          <p:nvPr/>
        </p:nvCxnSpPr>
        <p:spPr>
          <a:xfrm rot="16200000" flipH="1">
            <a:off x="3275013" y="4852988"/>
            <a:ext cx="1122362" cy="31750"/>
          </a:xfrm>
          <a:prstGeom prst="curvedConnector3">
            <a:avLst>
              <a:gd name="adj1" fmla="val 4993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0" name="Oval 50"/>
          <p:cNvSpPr/>
          <p:nvPr/>
        </p:nvSpPr>
        <p:spPr>
          <a:xfrm>
            <a:off x="3706813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1" name="AutoShape 51"/>
          <p:cNvCxnSpPr>
            <a:stCxn id="1054747" idx="3"/>
            <a:endCxn id="1054750" idx="7"/>
          </p:cNvCxnSpPr>
          <p:nvPr/>
        </p:nvCxnSpPr>
        <p:spPr>
          <a:xfrm>
            <a:off x="2498725" y="4265613"/>
            <a:ext cx="12525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2" name="Oval 52"/>
          <p:cNvSpPr/>
          <p:nvPr/>
        </p:nvSpPr>
        <p:spPr>
          <a:xfrm>
            <a:off x="2986088" y="4725988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3" name="AutoShape 53"/>
          <p:cNvCxnSpPr>
            <a:stCxn id="1054745" idx="5"/>
            <a:endCxn id="1054747" idx="1"/>
          </p:cNvCxnSpPr>
          <p:nvPr/>
        </p:nvCxnSpPr>
        <p:spPr>
          <a:xfrm rot="5400000">
            <a:off x="2513013" y="2809875"/>
            <a:ext cx="1206500" cy="1236663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4" name="Oval 54"/>
          <p:cNvSpPr/>
          <p:nvPr/>
        </p:nvSpPr>
        <p:spPr>
          <a:xfrm>
            <a:off x="298608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5" name="AutoShape 55"/>
          <p:cNvCxnSpPr>
            <a:stCxn id="1054746" idx="1"/>
            <a:endCxn id="1054745" idx="5"/>
          </p:cNvCxnSpPr>
          <p:nvPr/>
        </p:nvCxnSpPr>
        <p:spPr>
          <a:xfrm flipV="1">
            <a:off x="1073150" y="2825750"/>
            <a:ext cx="2662238" cy="12065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6" name="Oval 56"/>
          <p:cNvSpPr/>
          <p:nvPr/>
        </p:nvSpPr>
        <p:spPr>
          <a:xfrm>
            <a:off x="2266950" y="3286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7" name="AutoShape 57"/>
          <p:cNvCxnSpPr>
            <a:stCxn id="1054754" idx="1"/>
            <a:endCxn id="1054753" idx="5"/>
          </p:cNvCxnSpPr>
          <p:nvPr/>
        </p:nvCxnSpPr>
        <p:spPr>
          <a:xfrm flipV="1">
            <a:off x="5394325" y="2825750"/>
            <a:ext cx="2662238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78" name="Oval 58"/>
          <p:cNvSpPr/>
          <p:nvPr/>
        </p:nvSpPr>
        <p:spPr>
          <a:xfrm>
            <a:off x="6586538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130300" y="4149725"/>
            <a:ext cx="1109663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54622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1" name="AutoShape 61"/>
          <p:cNvCxnSpPr>
            <a:stCxn id="1054755" idx="2"/>
            <a:endCxn id="1054756" idx="6"/>
          </p:cNvCxnSpPr>
          <p:nvPr/>
        </p:nvCxnSpPr>
        <p:spPr>
          <a:xfrm>
            <a:off x="6877050" y="4149725"/>
            <a:ext cx="11080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2" name="Oval 62"/>
          <p:cNvSpPr/>
          <p:nvPr/>
        </p:nvSpPr>
        <p:spPr>
          <a:xfrm>
            <a:off x="7307263" y="400685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3" name="AutoShape 63"/>
          <p:cNvCxnSpPr>
            <a:stCxn id="1054749" idx="1"/>
            <a:endCxn id="1054747" idx="5"/>
          </p:cNvCxnSpPr>
          <p:nvPr/>
        </p:nvCxnSpPr>
        <p:spPr>
          <a:xfrm flipV="1">
            <a:off x="1073150" y="4265613"/>
            <a:ext cx="1222375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4" name="Oval 64"/>
          <p:cNvSpPr/>
          <p:nvPr/>
        </p:nvSpPr>
        <p:spPr>
          <a:xfrm>
            <a:off x="1546225" y="4725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5" name="AutoShape 65"/>
          <p:cNvCxnSpPr>
            <a:stCxn id="1054748" idx="0"/>
            <a:endCxn id="1054745" idx="4"/>
          </p:cNvCxnSpPr>
          <p:nvPr/>
        </p:nvCxnSpPr>
        <p:spPr>
          <a:xfrm flipV="1">
            <a:off x="3821113" y="2868613"/>
            <a:ext cx="15875" cy="112236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6" name="Oval 66"/>
          <p:cNvSpPr/>
          <p:nvPr/>
        </p:nvSpPr>
        <p:spPr>
          <a:xfrm>
            <a:off x="3706813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7" name="AutoShape 67"/>
          <p:cNvCxnSpPr>
            <a:stCxn id="1054749" idx="2"/>
            <a:endCxn id="1054750" idx="6"/>
          </p:cNvCxnSpPr>
          <p:nvPr/>
        </p:nvCxnSpPr>
        <p:spPr>
          <a:xfrm>
            <a:off x="1130300" y="5589588"/>
            <a:ext cx="25654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88" name="Oval 68"/>
          <p:cNvSpPr/>
          <p:nvPr/>
        </p:nvSpPr>
        <p:spPr>
          <a:xfrm>
            <a:off x="2266950" y="544512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89" name="AutoShape 69"/>
          <p:cNvCxnSpPr>
            <a:stCxn id="1054744" idx="2"/>
            <a:endCxn id="1054745" idx="6"/>
          </p:cNvCxnSpPr>
          <p:nvPr/>
        </p:nvCxnSpPr>
        <p:spPr>
          <a:xfrm>
            <a:off x="2570163" y="2709863"/>
            <a:ext cx="1109662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0" name="Oval 70"/>
          <p:cNvSpPr/>
          <p:nvPr/>
        </p:nvSpPr>
        <p:spPr>
          <a:xfrm>
            <a:off x="2970213" y="25654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25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1" name="AutoShape 71"/>
          <p:cNvCxnSpPr>
            <a:stCxn id="1054743" idx="6"/>
            <a:endCxn id="1054744" idx="6"/>
          </p:cNvCxnSpPr>
          <p:nvPr/>
        </p:nvCxnSpPr>
        <p:spPr>
          <a:xfrm>
            <a:off x="1128713" y="2709863"/>
            <a:ext cx="112553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2" name="Oval 72"/>
          <p:cNvSpPr/>
          <p:nvPr/>
        </p:nvSpPr>
        <p:spPr>
          <a:xfrm>
            <a:off x="1546225" y="256540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3" name="AutoShape 73"/>
          <p:cNvCxnSpPr>
            <a:stCxn id="1054747" idx="2"/>
            <a:endCxn id="1054748" idx="6"/>
          </p:cNvCxnSpPr>
          <p:nvPr/>
        </p:nvCxnSpPr>
        <p:spPr>
          <a:xfrm>
            <a:off x="2555875" y="4149725"/>
            <a:ext cx="1108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4" name="Oval 74"/>
          <p:cNvSpPr/>
          <p:nvPr/>
        </p:nvSpPr>
        <p:spPr>
          <a:xfrm>
            <a:off x="2987675" y="400526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5" name="AutoShape 75"/>
          <p:cNvCxnSpPr>
            <a:stCxn id="1054751" idx="6"/>
            <a:endCxn id="1054752" idx="6"/>
          </p:cNvCxnSpPr>
          <p:nvPr/>
        </p:nvCxnSpPr>
        <p:spPr>
          <a:xfrm>
            <a:off x="5449888" y="2709863"/>
            <a:ext cx="112553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6" name="Oval 76"/>
          <p:cNvSpPr/>
          <p:nvPr/>
        </p:nvSpPr>
        <p:spPr>
          <a:xfrm>
            <a:off x="5853113" y="256540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7" name="AutoShape 77"/>
          <p:cNvCxnSpPr>
            <a:stCxn id="1054753" idx="5"/>
            <a:endCxn id="1054755" idx="1"/>
          </p:cNvCxnSpPr>
          <p:nvPr/>
        </p:nvCxnSpPr>
        <p:spPr>
          <a:xfrm rot="5400000">
            <a:off x="6834188" y="2809875"/>
            <a:ext cx="1206500" cy="1236663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798" name="Oval 78"/>
          <p:cNvSpPr/>
          <p:nvPr/>
        </p:nvSpPr>
        <p:spPr>
          <a:xfrm>
            <a:off x="7307263" y="328612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054799" name="AutoShape 79"/>
          <p:cNvCxnSpPr>
            <a:stCxn id="1054755" idx="3"/>
            <a:endCxn id="1054758" idx="7"/>
          </p:cNvCxnSpPr>
          <p:nvPr/>
        </p:nvCxnSpPr>
        <p:spPr>
          <a:xfrm>
            <a:off x="6819900" y="4265613"/>
            <a:ext cx="1250950" cy="12065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54800" name="Oval 80"/>
          <p:cNvSpPr/>
          <p:nvPr/>
        </p:nvSpPr>
        <p:spPr>
          <a:xfrm>
            <a:off x="7289800" y="4725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54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54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54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54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54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54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54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54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54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54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54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054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54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54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54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54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54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547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54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54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54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54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54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54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54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54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54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"/>
                            </p:stCondLst>
                            <p:childTnLst>
                              <p:par>
                                <p:cTn id="20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5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54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054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900"/>
                                        <p:tgtEl>
                                          <p:spTgt spid="105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54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054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500"/>
                            </p:stCondLst>
                            <p:childTnLst>
                              <p:par>
                                <p:cTn id="2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900"/>
                                        <p:tgtEl>
                                          <p:spTgt spid="105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54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054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00"/>
                            </p:stCondLst>
                            <p:childTnLst>
                              <p:par>
                                <p:cTn id="2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900"/>
                                        <p:tgtEl>
                                          <p:spTgt spid="105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2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54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54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054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500"/>
                            </p:stCondLst>
                            <p:childTnLst>
                              <p:par>
                                <p:cTn id="2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900"/>
                                        <p:tgtEl>
                                          <p:spTgt spid="105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4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54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054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500"/>
                            </p:stCondLst>
                            <p:childTnLst>
                              <p:par>
                                <p:cTn id="2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7" dur="900"/>
                                        <p:tgtEl>
                                          <p:spTgt spid="105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54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054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9" dur="900"/>
                                        <p:tgtEl>
                                          <p:spTgt spid="105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6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54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500"/>
                            </p:stCondLst>
                            <p:childTnLst>
                              <p:par>
                                <p:cTn id="2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7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54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054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3" dur="900"/>
                                        <p:tgtEl>
                                          <p:spTgt spid="105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54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500"/>
                            </p:stCondLst>
                            <p:childTnLst>
                              <p:par>
                                <p:cTn id="3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5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6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54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054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7" dur="9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0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54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9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1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54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054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500"/>
                            </p:stCondLst>
                            <p:childTnLst>
                              <p:par>
                                <p:cTn id="3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1" dur="900"/>
                                        <p:tgtEl>
                                          <p:spTgt spid="105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54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500"/>
                            </p:stCondLst>
                            <p:childTnLst>
                              <p:par>
                                <p:cTn id="3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3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54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054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500"/>
                            </p:stCondLst>
                            <p:childTnLst>
                              <p:par>
                                <p:cTn id="3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5" dur="900"/>
                                        <p:tgtEl>
                                          <p:spTgt spid="105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54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500"/>
                            </p:stCondLst>
                            <p:childTnLst>
                              <p:par>
                                <p:cTn id="3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54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054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500"/>
                            </p:stCondLst>
                            <p:childTnLst>
                              <p:par>
                                <p:cTn id="4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900"/>
                                        <p:tgtEl>
                                          <p:spTgt spid="105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54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054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500"/>
                            </p:stCondLst>
                            <p:childTnLst>
                              <p:par>
                                <p:cTn id="4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1" dur="900"/>
                                        <p:tgtEl>
                                          <p:spTgt spid="105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54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054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500"/>
                            </p:stCondLst>
                            <p:childTnLst>
                              <p:par>
                                <p:cTn id="4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3" dur="900"/>
                                        <p:tgtEl>
                                          <p:spTgt spid="1054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500"/>
                            </p:stCondLst>
                            <p:childTnLst>
                              <p:par>
                                <p:cTn id="4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5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500"/>
                            </p:stCondLst>
                            <p:childTnLst>
                              <p:par>
                                <p:cTn id="4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7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547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054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500"/>
                            </p:stCondLst>
                            <p:childTnLst>
                              <p:par>
                                <p:cTn id="4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9" dur="900"/>
                                        <p:tgtEl>
                                          <p:spTgt spid="105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547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054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500"/>
                            </p:stCondLst>
                            <p:childTnLst>
                              <p:par>
                                <p:cTn id="4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1" dur="900"/>
                                        <p:tgtEl>
                                          <p:spTgt spid="1054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54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500"/>
                            </p:stCondLst>
                            <p:childTnLst>
                              <p:par>
                                <p:cTn id="4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3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54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054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fill="hold">
                            <p:stCondLst>
                              <p:cond delay="500"/>
                            </p:stCondLst>
                            <p:childTnLst>
                              <p:par>
                                <p:cTn id="5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5" dur="900"/>
                                        <p:tgtEl>
                                          <p:spTgt spid="10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4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054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500"/>
                            </p:stCondLst>
                            <p:childTnLst>
                              <p:par>
                                <p:cTn id="5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7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5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54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054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500"/>
                            </p:stCondLst>
                            <p:childTnLst>
                              <p:par>
                                <p:cTn id="5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9" dur="900"/>
                                        <p:tgtEl>
                                          <p:spTgt spid="10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6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054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500"/>
                            </p:stCondLst>
                            <p:childTnLst>
                              <p:par>
                                <p:cTn id="5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1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7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54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0547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500"/>
                            </p:stCondLst>
                            <p:childTnLst>
                              <p:par>
                                <p:cTn id="5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3" dur="900"/>
                                        <p:tgtEl>
                                          <p:spTgt spid="105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8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54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2" fill="hold">
                            <p:stCondLst>
                              <p:cond delay="500"/>
                            </p:stCondLst>
                            <p:childTnLst>
                              <p:par>
                                <p:cTn id="5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5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54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054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500"/>
                            </p:stCondLst>
                            <p:childTnLst>
                              <p:par>
                                <p:cTn id="5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7" dur="900"/>
                                        <p:tgtEl>
                                          <p:spTgt spid="105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547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500"/>
                            </p:stCondLst>
                            <p:childTnLst>
                              <p:par>
                                <p:cTn id="5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9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547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054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500"/>
                            </p:stCondLst>
                            <p:childTnLst>
                              <p:par>
                                <p:cTn id="5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1" dur="900"/>
                                        <p:tgtEl>
                                          <p:spTgt spid="105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547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0" fill="hold">
                            <p:stCondLst>
                              <p:cond delay="500"/>
                            </p:stCondLst>
                            <p:childTnLst>
                              <p:par>
                                <p:cTn id="6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3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3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547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054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2" fill="hold">
                            <p:stCondLst>
                              <p:cond delay="500"/>
                            </p:stCondLst>
                            <p:childTnLst>
                              <p:par>
                                <p:cTn id="6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5" dur="900"/>
                                        <p:tgtEl>
                                          <p:spTgt spid="105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4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547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054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500"/>
                            </p:stCondLst>
                            <p:childTnLst>
                              <p:par>
                                <p:cTn id="6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7" dur="900"/>
                                        <p:tgtEl>
                                          <p:spTgt spid="105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5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547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054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6" fill="hold">
                            <p:stCondLst>
                              <p:cond delay="500"/>
                            </p:stCondLst>
                            <p:childTnLst>
                              <p:par>
                                <p:cTn id="6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9" dur="900"/>
                                        <p:tgtEl>
                                          <p:spTgt spid="1054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6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547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054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8" fill="hold">
                            <p:stCondLst>
                              <p:cond delay="500"/>
                            </p:stCondLst>
                            <p:childTnLst>
                              <p:par>
                                <p:cTn id="6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1" dur="900"/>
                                        <p:tgtEl>
                                          <p:spTgt spid="105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7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547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054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0" fill="hold">
                            <p:stCondLst>
                              <p:cond delay="500"/>
                            </p:stCondLst>
                            <p:childTnLst>
                              <p:par>
                                <p:cTn id="6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3" dur="900"/>
                                        <p:tgtEl>
                                          <p:spTgt spid="1054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8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547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054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2" fill="hold">
                            <p:stCondLst>
                              <p:cond delay="500"/>
                            </p:stCondLst>
                            <p:childTnLst>
                              <p:par>
                                <p:cTn id="6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5" dur="900"/>
                                        <p:tgtEl>
                                          <p:spTgt spid="105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99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548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054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4" fill="hold">
                            <p:stCondLst>
                              <p:cond delay="500"/>
                            </p:stCondLst>
                            <p:childTnLst>
                              <p:par>
                                <p:cTn id="6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7" dur="900"/>
                                        <p:tgtEl>
                                          <p:spTgt spid="1054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800"/>
                  </p:tgtEl>
                </p:cond>
              </p:nextCondLst>
            </p:seq>
          </p:childTnLst>
        </p:cTn>
      </p:par>
    </p:tnLst>
    <p:bldLst>
      <p:bldP spid="1054743" grpId="0" bldLvl="0" animBg="1"/>
      <p:bldP spid="1054743" grpId="1" bldLvl="0" animBg="1"/>
      <p:bldP spid="1054743" grpId="2" bldLvl="0" animBg="1"/>
      <p:bldP spid="1054744" grpId="0" bldLvl="0" animBg="1"/>
      <p:bldP spid="1054745" grpId="0" bldLvl="0" animBg="1"/>
      <p:bldP spid="1054746" grpId="0" bldLvl="0" animBg="1"/>
      <p:bldP spid="1054747" grpId="0" bldLvl="0" animBg="1"/>
      <p:bldP spid="1054748" grpId="0" bldLvl="0" animBg="1"/>
      <p:bldP spid="1054749" grpId="0" bldLvl="0" animBg="1"/>
      <p:bldP spid="1054750" grpId="0" bldLvl="0" animBg="1"/>
      <p:bldP spid="1054751" grpId="0" bldLvl="0" animBg="1"/>
      <p:bldP spid="1054751" grpId="1" bldLvl="0" animBg="1"/>
      <p:bldP spid="1054751" grpId="2" bldLvl="0" animBg="1"/>
      <p:bldP spid="1054752" grpId="0" bldLvl="0" animBg="1"/>
      <p:bldP spid="1054753" grpId="0" bldLvl="0" animBg="1"/>
      <p:bldP spid="1054754" grpId="0" bldLvl="0" animBg="1"/>
      <p:bldP spid="1054755" grpId="0" bldLvl="0" animBg="1"/>
      <p:bldP spid="1054756" grpId="0" bldLvl="0" animBg="1"/>
      <p:bldP spid="1054757" grpId="0" bldLvl="0" animBg="1"/>
      <p:bldP spid="1054758" grpId="0" bldLvl="0" animBg="1"/>
      <p:bldP spid="1054760" grpId="0" animBg="1"/>
      <p:bldP spid="1054760" grpId="1" animBg="1"/>
      <p:bldP spid="1054762" grpId="0" animBg="1"/>
      <p:bldP spid="1054762" grpId="1" animBg="1"/>
      <p:bldP spid="1054764" grpId="0" animBg="1"/>
      <p:bldP spid="1054764" grpId="1" animBg="1"/>
      <p:bldP spid="1054766" grpId="0" animBg="1"/>
      <p:bldP spid="1054766" grpId="1" animBg="1"/>
      <p:bldP spid="1054768" grpId="0" animBg="1"/>
      <p:bldP spid="1054768" grpId="1" animBg="1"/>
      <p:bldP spid="1054770" grpId="0" animBg="1"/>
      <p:bldP spid="1054770" grpId="1" animBg="1"/>
      <p:bldP spid="1054772" grpId="0" animBg="1"/>
      <p:bldP spid="1054772" grpId="1" animBg="1"/>
      <p:bldP spid="1054774" grpId="0" animBg="1"/>
      <p:bldP spid="1054774" grpId="1" animBg="1"/>
      <p:bldP spid="1054776" grpId="0" animBg="1"/>
      <p:bldP spid="1054776" grpId="1" animBg="1"/>
      <p:bldP spid="1054778" grpId="0" animBg="1"/>
      <p:bldP spid="1054778" grpId="1" animBg="1"/>
      <p:bldP spid="1054780" grpId="0" animBg="1"/>
      <p:bldP spid="1054780" grpId="1" animBg="1"/>
      <p:bldP spid="1054782" grpId="0" animBg="1"/>
      <p:bldP spid="1054782" grpId="1" animBg="1"/>
      <p:bldP spid="1054784" grpId="0" animBg="1"/>
      <p:bldP spid="1054784" grpId="1" animBg="1"/>
      <p:bldP spid="1054786" grpId="0" animBg="1"/>
      <p:bldP spid="1054786" grpId="1" animBg="1"/>
      <p:bldP spid="1054788" grpId="0" animBg="1"/>
      <p:bldP spid="1054788" grpId="1" animBg="1"/>
      <p:bldP spid="1054790" grpId="0" animBg="1"/>
      <p:bldP spid="1054790" grpId="1" animBg="1"/>
      <p:bldP spid="1054792" grpId="0" animBg="1"/>
      <p:bldP spid="1054792" grpId="1" animBg="1"/>
      <p:bldP spid="1054794" grpId="0" animBg="1"/>
      <p:bldP spid="1054794" grpId="1" animBg="1"/>
      <p:bldP spid="1054796" grpId="0" animBg="1"/>
      <p:bldP spid="1054796" grpId="1" animBg="1"/>
      <p:bldP spid="1054798" grpId="0" animBg="1"/>
      <p:bldP spid="1054798" grpId="1" animBg="1"/>
      <p:bldP spid="1054800" grpId="0" animBg="1"/>
      <p:bldP spid="105480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04215" y="91186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Dijkstra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296670" y="3924935"/>
            <a:ext cx="719582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如果图存在唯一一个权重为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-w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的负权边，那么可以每个边的权重均加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，把所有边权重都变为非负值，再使用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Dijkstra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算法计算即可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296670" y="4700270"/>
            <a:ext cx="7082155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此图使用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Dijkstra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算法计算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到其他顶点最短路径的先后顺序为：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B,E,G,F,C,A,S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296670" y="5475605"/>
            <a:ext cx="719582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Dijkstra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算法每次得到的一个最短路径一定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不短于上个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有效最短路径。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314450" y="3012202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Dijkstra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算法不可计算带有负权边的图的最短路径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82295" y="3206512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82295" y="398184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82295" y="4757182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82295" y="553251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62550" y="697865"/>
            <a:ext cx="2548890" cy="2361565"/>
            <a:chOff x="3916" y="3012"/>
            <a:chExt cx="5557" cy="4989"/>
          </a:xfrm>
        </p:grpSpPr>
        <p:sp>
          <p:nvSpPr>
            <p:cNvPr id="1054743" name="Oval 2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84" y="3012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>
              <a:noAutofit/>
            </a:bodyPr>
            <a:p>
              <a:pPr lvl="0" algn="ctr" fontAlgn="base">
                <a:buClrTx/>
                <a:buSzTx/>
                <a:buFontTx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S</a:t>
              </a:r>
              <a:endPara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054744" name="Oval 2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6751" y="3012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A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5" name="Oval 2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8996" y="3012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B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6" name="Oval 2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 flipH="1">
              <a:off x="4484" y="5280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C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7" name="Oval 2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6729" y="5280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D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8" name="Oval 28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8971" y="5280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E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49" name="Oval 29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4484" y="7547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F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4750" name="Oval 30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9021" y="7547"/>
              <a:ext cx="453" cy="455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noProof="0" smtClean="0">
                  <a:ln>
                    <a:noFill/>
                  </a:ln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楷体_GB2312" pitchFamily="49" charset="-122"/>
                  <a:cs typeface="Times New Roman" panose="02020603050405020304" pitchFamily="18" charset="0"/>
                  <a:sym typeface="+mn-ea"/>
                </a:rPr>
                <a:t>G</a:t>
              </a:r>
              <a:endPara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54759" name="AutoShape 39"/>
            <p:cNvCxnSpPr>
              <a:stCxn id="1054743" idx="2"/>
              <a:endCxn id="1054749" idx="6"/>
            </p:cNvCxnSpPr>
            <p:nvPr>
              <p:custDataLst>
                <p:tags r:id="rId19"/>
              </p:custDataLst>
            </p:nvPr>
          </p:nvCxnSpPr>
          <p:spPr>
            <a:xfrm rot="10800000" flipH="1" flipV="1">
              <a:off x="4461" y="3240"/>
              <a:ext cx="3" cy="4535"/>
            </a:xfrm>
            <a:prstGeom prst="curvedConnector3">
              <a:avLst>
                <a:gd name="adj1" fmla="val -13500000"/>
              </a:avLst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60" name="Oval 40"/>
            <p:cNvSpPr/>
            <p:nvPr>
              <p:custDataLst>
                <p:tags r:id="rId20"/>
              </p:custDataLst>
            </p:nvPr>
          </p:nvSpPr>
          <p:spPr>
            <a:xfrm>
              <a:off x="3916" y="5280"/>
              <a:ext cx="453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15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63" name="AutoShape 43"/>
            <p:cNvCxnSpPr>
              <a:stCxn id="1054743" idx="4"/>
              <a:endCxn id="1054746" idx="0"/>
            </p:cNvCxnSpPr>
            <p:nvPr>
              <p:custDataLst>
                <p:tags r:id="rId21"/>
              </p:custDataLst>
            </p:nvPr>
          </p:nvCxnSpPr>
          <p:spPr>
            <a:xfrm rot="5400000">
              <a:off x="3826" y="4372"/>
              <a:ext cx="1768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64" name="Oval 44"/>
            <p:cNvSpPr/>
            <p:nvPr>
              <p:custDataLst>
                <p:tags r:id="rId22"/>
              </p:custDataLst>
            </p:nvPr>
          </p:nvSpPr>
          <p:spPr>
            <a:xfrm>
              <a:off x="4484" y="4147"/>
              <a:ext cx="452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11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67" name="AutoShape 47"/>
            <p:cNvCxnSpPr>
              <a:stCxn id="1054746" idx="4"/>
              <a:endCxn id="1054749" idx="0"/>
            </p:cNvCxnSpPr>
            <p:nvPr>
              <p:custDataLst>
                <p:tags r:id="rId23"/>
              </p:custDataLst>
            </p:nvPr>
          </p:nvCxnSpPr>
          <p:spPr>
            <a:xfrm rot="5400000">
              <a:off x="3826" y="6640"/>
              <a:ext cx="1768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68" name="Oval 48"/>
            <p:cNvSpPr/>
            <p:nvPr>
              <p:custDataLst>
                <p:tags r:id="rId24"/>
              </p:custDataLst>
            </p:nvPr>
          </p:nvSpPr>
          <p:spPr>
            <a:xfrm>
              <a:off x="4484" y="6415"/>
              <a:ext cx="452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69" name="AutoShape 49"/>
            <p:cNvCxnSpPr>
              <a:stCxn id="1054748" idx="4"/>
              <a:endCxn id="1054750" idx="0"/>
            </p:cNvCxnSpPr>
            <p:nvPr>
              <p:custDataLst>
                <p:tags r:id="rId25"/>
              </p:custDataLst>
            </p:nvPr>
          </p:nvCxnSpPr>
          <p:spPr>
            <a:xfrm rot="16200000" flipH="1">
              <a:off x="8339" y="6615"/>
              <a:ext cx="1767" cy="50"/>
            </a:xfrm>
            <a:prstGeom prst="curvedConnector3">
              <a:avLst>
                <a:gd name="adj1" fmla="val 49931"/>
              </a:avLst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70" name="Oval 50"/>
            <p:cNvSpPr/>
            <p:nvPr>
              <p:custDataLst>
                <p:tags r:id="rId26"/>
              </p:custDataLst>
            </p:nvPr>
          </p:nvSpPr>
          <p:spPr>
            <a:xfrm>
              <a:off x="9019" y="6415"/>
              <a:ext cx="452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71" name="AutoShape 51"/>
            <p:cNvCxnSpPr>
              <a:stCxn id="1054747" idx="3"/>
              <a:endCxn id="1054750" idx="7"/>
            </p:cNvCxnSpPr>
            <p:nvPr>
              <p:custDataLst>
                <p:tags r:id="rId27"/>
              </p:custDataLst>
            </p:nvPr>
          </p:nvCxnSpPr>
          <p:spPr>
            <a:xfrm>
              <a:off x="7116" y="5690"/>
              <a:ext cx="1973" cy="190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72" name="Oval 52"/>
            <p:cNvSpPr/>
            <p:nvPr>
              <p:custDataLst>
                <p:tags r:id="rId28"/>
              </p:custDataLst>
            </p:nvPr>
          </p:nvSpPr>
          <p:spPr>
            <a:xfrm>
              <a:off x="7884" y="6415"/>
              <a:ext cx="452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16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73" name="AutoShape 53"/>
            <p:cNvCxnSpPr>
              <a:stCxn id="1054745" idx="5"/>
              <a:endCxn id="1054747" idx="1"/>
            </p:cNvCxnSpPr>
            <p:nvPr>
              <p:custDataLst>
                <p:tags r:id="rId29"/>
              </p:custDataLst>
            </p:nvPr>
          </p:nvCxnSpPr>
          <p:spPr>
            <a:xfrm rot="5400000">
              <a:off x="7139" y="3397"/>
              <a:ext cx="1900" cy="1948"/>
            </a:xfrm>
            <a:prstGeom prst="curvedConnector3">
              <a:avLst>
                <a:gd name="adj1" fmla="val 50000"/>
              </a:avLst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74" name="Oval 54"/>
            <p:cNvSpPr/>
            <p:nvPr>
              <p:custDataLst>
                <p:tags r:id="rId30"/>
              </p:custDataLst>
            </p:nvPr>
          </p:nvSpPr>
          <p:spPr>
            <a:xfrm>
              <a:off x="7884" y="4147"/>
              <a:ext cx="452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75" name="AutoShape 55"/>
            <p:cNvCxnSpPr>
              <a:stCxn id="1054746" idx="1"/>
              <a:endCxn id="1054745" idx="5"/>
            </p:cNvCxnSpPr>
            <p:nvPr>
              <p:custDataLst>
                <p:tags r:id="rId31"/>
              </p:custDataLst>
            </p:nvPr>
          </p:nvCxnSpPr>
          <p:spPr>
            <a:xfrm flipV="1">
              <a:off x="4871" y="3422"/>
              <a:ext cx="4193" cy="190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76" name="Oval 56"/>
            <p:cNvSpPr/>
            <p:nvPr>
              <p:custDataLst>
                <p:tags r:id="rId32"/>
              </p:custDataLst>
            </p:nvPr>
          </p:nvSpPr>
          <p:spPr>
            <a:xfrm>
              <a:off x="6751" y="4147"/>
              <a:ext cx="453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18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79" name="AutoShape 59"/>
            <p:cNvCxnSpPr>
              <a:stCxn id="1054746" idx="2"/>
              <a:endCxn id="1054747" idx="6"/>
            </p:cNvCxnSpPr>
            <p:nvPr>
              <p:custDataLst>
                <p:tags r:id="rId33"/>
              </p:custDataLst>
            </p:nvPr>
          </p:nvCxnSpPr>
          <p:spPr>
            <a:xfrm>
              <a:off x="4961" y="5507"/>
              <a:ext cx="1748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80" name="Oval 60"/>
            <p:cNvSpPr/>
            <p:nvPr>
              <p:custDataLst>
                <p:tags r:id="rId34"/>
              </p:custDataLst>
            </p:nvPr>
          </p:nvSpPr>
          <p:spPr>
            <a:xfrm>
              <a:off x="5616" y="5280"/>
              <a:ext cx="453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30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83" name="AutoShape 63"/>
            <p:cNvCxnSpPr>
              <a:stCxn id="1054749" idx="1"/>
              <a:endCxn id="1054747" idx="5"/>
            </p:cNvCxnSpPr>
            <p:nvPr>
              <p:custDataLst>
                <p:tags r:id="rId35"/>
              </p:custDataLst>
            </p:nvPr>
          </p:nvCxnSpPr>
          <p:spPr>
            <a:xfrm flipV="1">
              <a:off x="4871" y="5690"/>
              <a:ext cx="1925" cy="190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84" name="Oval 64"/>
            <p:cNvSpPr/>
            <p:nvPr>
              <p:custDataLst>
                <p:tags r:id="rId36"/>
              </p:custDataLst>
            </p:nvPr>
          </p:nvSpPr>
          <p:spPr>
            <a:xfrm>
              <a:off x="5616" y="6415"/>
              <a:ext cx="453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19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85" name="AutoShape 65"/>
            <p:cNvCxnSpPr>
              <a:stCxn id="1054748" idx="0"/>
              <a:endCxn id="1054745" idx="4"/>
            </p:cNvCxnSpPr>
            <p:nvPr>
              <p:custDataLst>
                <p:tags r:id="rId37"/>
              </p:custDataLst>
            </p:nvPr>
          </p:nvCxnSpPr>
          <p:spPr>
            <a:xfrm flipV="1">
              <a:off x="9199" y="3490"/>
              <a:ext cx="25" cy="1767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86" name="Oval 66"/>
            <p:cNvSpPr/>
            <p:nvPr>
              <p:custDataLst>
                <p:tags r:id="rId38"/>
              </p:custDataLst>
            </p:nvPr>
          </p:nvSpPr>
          <p:spPr>
            <a:xfrm>
              <a:off x="9019" y="4147"/>
              <a:ext cx="452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6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87" name="AutoShape 67"/>
            <p:cNvCxnSpPr>
              <a:stCxn id="1054749" idx="2"/>
              <a:endCxn id="1054750" idx="6"/>
            </p:cNvCxnSpPr>
            <p:nvPr>
              <p:custDataLst>
                <p:tags r:id="rId39"/>
              </p:custDataLst>
            </p:nvPr>
          </p:nvCxnSpPr>
          <p:spPr>
            <a:xfrm>
              <a:off x="4961" y="7775"/>
              <a:ext cx="4040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88" name="Oval 68"/>
            <p:cNvSpPr/>
            <p:nvPr>
              <p:custDataLst>
                <p:tags r:id="rId40"/>
              </p:custDataLst>
            </p:nvPr>
          </p:nvSpPr>
          <p:spPr>
            <a:xfrm>
              <a:off x="6751" y="7547"/>
              <a:ext cx="453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40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89" name="AutoShape 69"/>
            <p:cNvCxnSpPr>
              <a:stCxn id="1054744" idx="2"/>
              <a:endCxn id="1054745" idx="6"/>
            </p:cNvCxnSpPr>
            <p:nvPr>
              <p:custDataLst>
                <p:tags r:id="rId41"/>
              </p:custDataLst>
            </p:nvPr>
          </p:nvCxnSpPr>
          <p:spPr>
            <a:xfrm>
              <a:off x="7229" y="3240"/>
              <a:ext cx="1747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90" name="Oval 70"/>
            <p:cNvSpPr/>
            <p:nvPr>
              <p:custDataLst>
                <p:tags r:id="rId42"/>
              </p:custDataLst>
            </p:nvPr>
          </p:nvSpPr>
          <p:spPr>
            <a:xfrm>
              <a:off x="7859" y="3012"/>
              <a:ext cx="452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25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91" name="AutoShape 71"/>
            <p:cNvCxnSpPr>
              <a:stCxn id="1054743" idx="6"/>
              <a:endCxn id="1054744" idx="6"/>
            </p:cNvCxnSpPr>
            <p:nvPr>
              <p:custDataLst>
                <p:tags r:id="rId43"/>
              </p:custDataLst>
            </p:nvPr>
          </p:nvCxnSpPr>
          <p:spPr>
            <a:xfrm>
              <a:off x="4959" y="3240"/>
              <a:ext cx="1772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92" name="Oval 72"/>
            <p:cNvSpPr/>
            <p:nvPr>
              <p:custDataLst>
                <p:tags r:id="rId44"/>
              </p:custDataLst>
            </p:nvPr>
          </p:nvSpPr>
          <p:spPr>
            <a:xfrm>
              <a:off x="5616" y="3012"/>
              <a:ext cx="453" cy="453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cxnSp>
          <p:nvCxnSpPr>
            <p:cNvPr id="1054793" name="AutoShape 73"/>
            <p:cNvCxnSpPr>
              <a:stCxn id="1054747" idx="2"/>
              <a:endCxn id="1054748" idx="6"/>
            </p:cNvCxnSpPr>
            <p:nvPr>
              <p:custDataLst>
                <p:tags r:id="rId45"/>
              </p:custDataLst>
            </p:nvPr>
          </p:nvCxnSpPr>
          <p:spPr>
            <a:xfrm>
              <a:off x="7206" y="5507"/>
              <a:ext cx="1745" cy="0"/>
            </a:xfrm>
            <a:prstGeom prst="straightConnector1">
              <a:avLst/>
            </a:prstGeom>
            <a:ln w="57150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cxnSp>
        <p:sp useBgFill="1">
          <p:nvSpPr>
            <p:cNvPr id="1054794" name="Oval 74"/>
            <p:cNvSpPr/>
            <p:nvPr>
              <p:custDataLst>
                <p:tags r:id="rId46"/>
              </p:custDataLst>
            </p:nvPr>
          </p:nvSpPr>
          <p:spPr>
            <a:xfrm>
              <a:off x="7886" y="5280"/>
              <a:ext cx="453" cy="452"/>
            </a:xfrm>
            <a:prstGeom prst="ellipse">
              <a:avLst/>
            </a:prstGeom>
            <a:ln w="19050">
              <a:noFill/>
            </a:ln>
          </p:spPr>
          <p:txBody>
            <a:bodyPr wrap="none" lIns="0" tIns="0" rIns="0" bIns="0" anchor="ctr" anchorCtr="1"/>
            <a:p>
              <a:r>
                <a:rPr lang="en-US" altLang="zh-CN" sz="1600" dirty="0">
                  <a:solidFill>
                    <a:schemeClr val="tx1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11</a:t>
              </a:r>
              <a:endPara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47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48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49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50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ipText"/>
            <p:cNvSpPr txBox="1"/>
            <p:nvPr>
              <p:custDataLst>
                <p:tags r:id="rId51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4820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5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多源最短</a:t>
            </a:r>
            <a:r>
              <a:rPr lang="zh-CN" altLang="en-US"/>
              <a:t>路径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动态规划的</a:t>
            </a:r>
            <a:r>
              <a:rPr lang="en-US" altLang="zh-CN"/>
              <a:t>Floyd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每一对点的最短路径</a:t>
            </a:r>
            <a:endParaRPr lang="zh-CN" altLang="en-US" smtClean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所有点对间的最短路径，</a:t>
            </a:r>
            <a:r>
              <a:rPr lang="en-US" altLang="zh-CN" smtClean="0">
                <a:solidFill>
                  <a:schemeClr val="hlink"/>
                </a:solidFill>
              </a:rPr>
              <a:t>all-pairs shortest-paths problem</a:t>
            </a:r>
            <a:r>
              <a:rPr lang="zh-CN" altLang="en-US" smtClean="0"/>
              <a:t>，</a:t>
            </a:r>
            <a:r>
              <a:rPr lang="en-US" altLang="zh-CN" smtClean="0"/>
              <a:t>n(n-1)</a:t>
            </a:r>
            <a:r>
              <a:rPr lang="zh-CN" altLang="en-US" smtClean="0"/>
              <a:t>条</a:t>
            </a:r>
            <a:endParaRPr lang="zh-CN" altLang="en-US" smtClean="0"/>
          </a:p>
          <a:p>
            <a:r>
              <a:rPr lang="zh-CN" altLang="en-US" smtClean="0"/>
              <a:t>简单算法：每个顶点执行单源最短路径算法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368108" y="430561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793683" y="430561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655445" y="445071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087245" y="43056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793048" y="36502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613535" y="3795395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059305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226878" y="36502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088640" y="379539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520440" y="36502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226878" y="43062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088640" y="445135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520440" y="43062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653088" y="4303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514850" y="44488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946650" y="43037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80066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613535" y="4552315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094230" y="493998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936875" y="4594860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792730" y="481901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22687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653088" y="522700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975158" y="36636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514215" y="3795395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898515" y="3808730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898515" y="3910330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514215" y="53721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088005" y="53721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046095" y="4552950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472305" y="4550410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939665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6292850" y="39525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6292850" y="44510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5022215" y="52289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4960620" y="47380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3629025" y="46942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3520440" y="52689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039110" y="3896995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629025" y="39785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054746" grpId="0" bldLvl="0" animBg="1"/>
      <p:bldP spid="1054747" grpId="0" bldLvl="0" animBg="1"/>
      <p:bldP spid="1054780" grpId="0" animBg="1"/>
      <p:bldP spid="1054780" grpId="1" animBg="1"/>
      <p:bldP spid="4" grpId="0" bldLvl="0" animBg="1"/>
      <p:bldP spid="6" grpId="0" animBg="1"/>
      <p:bldP spid="6" grpId="1" animBg="1"/>
      <p:bldP spid="7" grpId="0" bldLvl="0" animBg="1"/>
      <p:bldP spid="9" grpId="0" animBg="1"/>
      <p:bldP spid="9" grpId="1" animBg="1"/>
      <p:bldP spid="10" grpId="0" bldLvl="0" animBg="1"/>
      <p:bldP spid="12" grpId="0" animBg="1"/>
      <p:bldP spid="12" grpId="1" animBg="1"/>
      <p:bldP spid="13" grpId="0" bldLvl="0" animBg="1"/>
      <p:bldP spid="15" grpId="0" animBg="1"/>
      <p:bldP spid="15" grpId="1" animBg="1"/>
      <p:bldP spid="16" grpId="0" bldLvl="0" animBg="1"/>
      <p:bldP spid="18" grpId="0" animBg="1"/>
      <p:bldP spid="18" grpId="1" animBg="1"/>
      <p:bldP spid="20" grpId="0" animBg="1"/>
      <p:bldP spid="20" grpId="1" animBg="1"/>
      <p:bldP spid="21" grpId="0" bldLvl="0" animBg="1"/>
      <p:bldP spid="22" grpId="0" bldLvl="0" animBg="1"/>
      <p:bldP spid="23" grpId="0" bldLvl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9" grpId="0" animBg="1"/>
      <p:bldP spid="3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2167573" y="28965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3593148" y="289655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2454910" y="304165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886710" y="28965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3592513" y="22412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2413000" y="2385695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858770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5026343" y="224123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888105" y="238633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4319905" y="22412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5026343" y="289718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888105" y="304228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4319905" y="28971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6452553" y="2894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5314315" y="3039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746115" y="2894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360013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2413000" y="314325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893695" y="35309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736340" y="318579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3592195" y="340995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502634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6452553" y="381793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774623" y="225456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5313680" y="2385695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697980" y="2399030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697980" y="2501265"/>
            <a:ext cx="1118235" cy="13589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5313680" y="39624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887470" y="3962400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845560" y="3143885"/>
            <a:ext cx="1222375" cy="7162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5271770" y="3141345"/>
            <a:ext cx="1222375" cy="71882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739130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7092315" y="254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7092315" y="30419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5821680" y="38198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5760085" y="3328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4428490" y="32851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4319905" y="38598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838575" y="2487930"/>
            <a:ext cx="1229360" cy="4508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4428490" y="25695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054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54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4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54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7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054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054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900"/>
                                        <p:tgtEl>
                                          <p:spTgt spid="10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4780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5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2" fill="hold">
                      <p:stCondLst>
                        <p:cond delay="0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5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7" fill="hold">
                      <p:stCondLst>
                        <p:cond delay="0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80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1" fill="hold">
                      <p:stCondLst>
                        <p:cond delay="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1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054746" grpId="0" bldLvl="0" animBg="1"/>
      <p:bldP spid="1054747" grpId="0" bldLvl="0" animBg="1"/>
      <p:bldP spid="1054780" grpId="0" animBg="1"/>
      <p:bldP spid="1054780" grpId="1" animBg="1"/>
      <p:bldP spid="4" grpId="0" bldLvl="0" animBg="1"/>
      <p:bldP spid="6" grpId="0" animBg="1"/>
      <p:bldP spid="6" grpId="1" animBg="1"/>
      <p:bldP spid="7" grpId="0" bldLvl="0" animBg="1"/>
      <p:bldP spid="9" grpId="0" animBg="1"/>
      <p:bldP spid="9" grpId="1" animBg="1"/>
      <p:bldP spid="10" grpId="0" bldLvl="0" animBg="1"/>
      <p:bldP spid="12" grpId="0" animBg="1"/>
      <p:bldP spid="12" grpId="1" animBg="1"/>
      <p:bldP spid="13" grpId="0" bldLvl="0" animBg="1"/>
      <p:bldP spid="15" grpId="0" animBg="1"/>
      <p:bldP spid="15" grpId="1" animBg="1"/>
      <p:bldP spid="16" grpId="0" bldLvl="0" animBg="1"/>
      <p:bldP spid="18" grpId="0" animBg="1"/>
      <p:bldP spid="18" grpId="1" animBg="1"/>
      <p:bldP spid="20" grpId="0" animBg="1"/>
      <p:bldP spid="20" grpId="1" animBg="1"/>
      <p:bldP spid="21" grpId="0" bldLvl="0" animBg="1"/>
      <p:bldP spid="22" grpId="0" bldLvl="0" animBg="1"/>
      <p:bldP spid="23" grpId="0" bldLvl="0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9" grpId="0" animBg="1"/>
      <p:bldP spid="3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顶点编号为</a:t>
            </a:r>
            <a:r>
              <a:rPr lang="en-US" altLang="zh-CN" smtClean="0"/>
              <a:t>1</a:t>
            </a:r>
            <a:r>
              <a:rPr lang="zh-CN" altLang="en-US" smtClean="0"/>
              <a:t>～</a:t>
            </a:r>
            <a:r>
              <a:rPr lang="en-US" altLang="zh-CN" smtClean="0"/>
              <a:t>n</a:t>
            </a:r>
            <a:endParaRPr lang="en-US" altLang="zh-CN" smtClean="0"/>
          </a:p>
          <a:p>
            <a:r>
              <a:rPr lang="en-US" altLang="zh-CN" smtClean="0"/>
              <a:t>c(i,j,k)</a:t>
            </a:r>
            <a:r>
              <a:rPr lang="zh-CN" altLang="en-US" smtClean="0"/>
              <a:t>：</a:t>
            </a:r>
            <a:r>
              <a:rPr lang="en-US" altLang="zh-CN" smtClean="0"/>
              <a:t>i</a:t>
            </a:r>
            <a:r>
              <a:rPr lang="en-US" altLang="zh-CN" smtClean="0">
                <a:sym typeface="Wingdings" panose="05000000000000000000" pitchFamily="2" charset="2"/>
              </a:rPr>
              <a:t>j</a:t>
            </a:r>
            <a:r>
              <a:rPr lang="zh-CN" altLang="en-US" smtClean="0">
                <a:sym typeface="Wingdings" panose="05000000000000000000" pitchFamily="2" charset="2"/>
              </a:rPr>
              <a:t>的“最短路径”长度</a:t>
            </a:r>
            <a:r>
              <a:rPr lang="en-US" altLang="zh-CN" smtClean="0">
                <a:sym typeface="Wingdings" panose="05000000000000000000" pitchFamily="2" charset="2"/>
              </a:rPr>
              <a:t>——</a:t>
            </a:r>
            <a:r>
              <a:rPr lang="zh-CN" altLang="en-US" smtClean="0">
                <a:sym typeface="Wingdings" panose="05000000000000000000" pitchFamily="2" charset="2"/>
              </a:rPr>
              <a:t>加了限制条件，路径中顶点的最大编号为</a:t>
            </a:r>
            <a:r>
              <a:rPr lang="en-US" altLang="zh-CN" smtClean="0">
                <a:sym typeface="Wingdings" panose="05000000000000000000" pitchFamily="2" charset="2"/>
              </a:rPr>
              <a:t>k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zh-CN" altLang="en-US" smtClean="0"/>
              <a:t>存在边</a:t>
            </a:r>
            <a:r>
              <a:rPr lang="en-US" altLang="zh-CN" smtClean="0"/>
              <a:t>&lt;i, j&gt;</a:t>
            </a:r>
            <a:r>
              <a:rPr lang="en-US" altLang="zh-CN" smtClean="0">
                <a:sym typeface="Wingdings" panose="05000000000000000000" pitchFamily="2" charset="2"/>
              </a:rPr>
              <a:t>c(i, j, 0)=&lt;i, j&gt;</a:t>
            </a:r>
            <a:r>
              <a:rPr lang="zh-CN" altLang="en-US" smtClean="0">
                <a:sym typeface="Wingdings" panose="05000000000000000000" pitchFamily="2" charset="2"/>
              </a:rPr>
              <a:t>的长度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zh-CN" altLang="en-US" smtClean="0">
                <a:sym typeface="Wingdings" panose="05000000000000000000" pitchFamily="2" charset="2"/>
              </a:rPr>
              <a:t>不存在边</a:t>
            </a:r>
            <a:r>
              <a:rPr lang="en-US" altLang="zh-CN" smtClean="0">
                <a:sym typeface="Wingdings" panose="05000000000000000000" pitchFamily="2" charset="2"/>
              </a:rPr>
              <a:t>&lt;i, j&gt;c(i, j, 0)=+</a:t>
            </a:r>
            <a:r>
              <a:rPr lang="en-US" altLang="zh-CN" smtClean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Wingdings" panose="05000000000000000000" pitchFamily="2" charset="2"/>
              </a:rPr>
              <a:t>∞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c(i, i, 0)=0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c(i, j, n)——</a:t>
            </a:r>
            <a:r>
              <a:rPr lang="zh-CN" altLang="en-US" smtClean="0">
                <a:sym typeface="Wingdings" panose="05000000000000000000" pitchFamily="2" charset="2"/>
              </a:rPr>
              <a:t>最短路径长度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ym typeface="Wingdings" panose="05000000000000000000" pitchFamily="2" charset="2"/>
              </a:rPr>
              <a:t>考虑图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k=0, 1, 2, 3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c(1, 3, k)= +</a:t>
            </a:r>
            <a:r>
              <a:rPr lang="en-US" altLang="zh-CN" sz="2400" smtClean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Wingdings" panose="05000000000000000000" pitchFamily="2" charset="2"/>
              </a:rPr>
              <a:t>∞</a:t>
            </a:r>
            <a:r>
              <a:rPr lang="en-US" altLang="zh-CN" smtClean="0">
                <a:sym typeface="Wingdings" panose="05000000000000000000" pitchFamily="2" charset="2"/>
              </a:rPr>
              <a:t> </a:t>
            </a:r>
            <a:r>
              <a:rPr lang="zh-CN" altLang="en-US" smtClean="0">
                <a:sym typeface="Wingdings" panose="05000000000000000000" pitchFamily="2" charset="2"/>
              </a:rPr>
              <a:t>；</a:t>
            </a:r>
            <a:r>
              <a:rPr lang="en-US" altLang="zh-CN" smtClean="0">
                <a:sym typeface="Wingdings" panose="05000000000000000000" pitchFamily="2" charset="2"/>
              </a:rPr>
              <a:t>c(1, 3, 4)=28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k=5, 6, 7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c(1, 3, k)=10</a:t>
            </a:r>
            <a:r>
              <a:rPr lang="zh-CN" altLang="en-US" smtClean="0">
                <a:sym typeface="Wingdings" panose="05000000000000000000" pitchFamily="2" charset="2"/>
              </a:rPr>
              <a:t>；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k=8, 9, 10</a:t>
            </a:r>
            <a:r>
              <a:rPr lang="zh-CN" altLang="en-US" smtClean="0">
                <a:sym typeface="Wingdings" panose="05000000000000000000" pitchFamily="2" charset="2"/>
              </a:rPr>
              <a:t>，</a:t>
            </a:r>
            <a:r>
              <a:rPr lang="en-US" altLang="zh-CN" smtClean="0">
                <a:sym typeface="Wingdings" panose="05000000000000000000" pitchFamily="2" charset="2"/>
              </a:rPr>
              <a:t>c(1, 3, k)=9——</a:t>
            </a:r>
            <a:r>
              <a:rPr lang="zh-CN" altLang="en-US" smtClean="0">
                <a:sym typeface="Wingdings" panose="05000000000000000000" pitchFamily="2" charset="2"/>
              </a:rPr>
              <a:t>最短路径</a:t>
            </a:r>
            <a:endParaRPr lang="zh-CN" altLang="en-US" smtClean="0">
              <a:sym typeface="Wingdings" panose="05000000000000000000" pitchFamily="2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471613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897188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758950" y="4563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190750" y="44180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896553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717040" y="39077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16281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330383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192145" y="39077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623945" y="37626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330383" y="4418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192145" y="4563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623945" y="4418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756593" y="441610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618355" y="45612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050155" y="44161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90417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717040" y="46647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197735" y="50523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040380" y="47072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896235" y="49314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33038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756593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078663" y="377602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617720" y="39077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002020" y="39211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002020" y="40227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61772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19151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149600" y="46653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575810" y="46628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04317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639635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6396355" y="4563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5125720" y="53413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5064125" y="48504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3732530" y="4806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3623945" y="53813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142615" y="40093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732530" y="4090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1054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如何计算</a:t>
            </a:r>
            <a:r>
              <a:rPr lang="en-US" altLang="zh-CN" smtClean="0"/>
              <a:t>c(i, j, k)</a:t>
            </a:r>
            <a:endParaRPr lang="en-US" altLang="zh-CN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顶点最大编号不超过</a:t>
            </a:r>
            <a:r>
              <a:rPr lang="en-US" altLang="zh-CN" smtClean="0"/>
              <a:t>k</a:t>
            </a:r>
            <a:r>
              <a:rPr lang="zh-CN" altLang="en-US" smtClean="0"/>
              <a:t>，两种情况</a:t>
            </a:r>
            <a:endParaRPr lang="zh-CN" altLang="en-US" smtClean="0"/>
          </a:p>
          <a:p>
            <a:pPr lvl="1"/>
            <a:r>
              <a:rPr lang="zh-CN" altLang="en-US" smtClean="0"/>
              <a:t>路径不包含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j, k-1)</a:t>
            </a:r>
            <a:endParaRPr lang="en-US" altLang="zh-CN" smtClean="0"/>
          </a:p>
          <a:p>
            <a:pPr lvl="1"/>
            <a:r>
              <a:rPr lang="zh-CN" altLang="en-US" smtClean="0"/>
              <a:t>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k, k-1) + c(k, j, k-1)</a:t>
            </a:r>
            <a:endParaRPr lang="en-US" altLang="zh-CN" smtClean="0"/>
          </a:p>
          <a:p>
            <a:pPr lvl="1"/>
            <a:r>
              <a:rPr lang="en-US" altLang="zh-CN" smtClean="0">
                <a:sym typeface="Wingdings" panose="05000000000000000000" pitchFamily="2" charset="2"/>
              </a:rPr>
              <a:t>c(i,j,k)=min{c(i,j,k-1), </a:t>
            </a:r>
            <a:r>
              <a:rPr lang="en-US" altLang="zh-CN" smtClean="0"/>
              <a:t>c(i,k,k-1)+c(k,j,k-1)}</a:t>
            </a:r>
            <a:endParaRPr lang="en-US" altLang="zh-CN" smtClean="0"/>
          </a:p>
          <a:p>
            <a:r>
              <a:rPr lang="zh-CN" altLang="en-US" smtClean="0"/>
              <a:t>递归算法，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(n2</a:t>
            </a:r>
            <a:r>
              <a:rPr lang="en-US" altLang="zh-CN" baseline="30000" smtClean="0"/>
              <a:t>n</a:t>
            </a:r>
            <a:r>
              <a:rPr lang="en-US" altLang="zh-CN" smtClean="0"/>
              <a:t>)</a:t>
            </a:r>
            <a:endParaRPr lang="en-US" altLang="zh-CN" smtClean="0"/>
          </a:p>
          <a:p>
            <a:r>
              <a:rPr lang="zh-CN" altLang="en-US" smtClean="0"/>
              <a:t>迭代计算</a:t>
            </a:r>
            <a:r>
              <a:rPr lang="zh-CN" altLang="en-US" smtClean="0">
                <a:sym typeface="Wingdings" panose="05000000000000000000" pitchFamily="2" charset="2"/>
              </a:rPr>
              <a:t></a:t>
            </a:r>
            <a:r>
              <a:rPr lang="en-US" altLang="zh-CN" smtClean="0">
                <a:latin typeface="Symbol" panose="05050102010706020507" pitchFamily="18" charset="2"/>
              </a:rPr>
              <a:t>Q</a:t>
            </a:r>
            <a:r>
              <a:rPr lang="en-US" altLang="zh-CN" smtClean="0"/>
              <a:t>(n</a:t>
            </a:r>
            <a:r>
              <a:rPr lang="en-US" altLang="zh-CN" baseline="30000" smtClean="0"/>
              <a:t>3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如何计算</a:t>
            </a:r>
            <a:r>
              <a:rPr lang="en-US" altLang="zh-CN" smtClean="0"/>
              <a:t>c(i, j, k)</a:t>
            </a:r>
            <a:endParaRPr lang="en-US" altLang="zh-CN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325668"/>
            <a:ext cx="7886700" cy="4686830"/>
          </a:xfrm>
        </p:spPr>
        <p:txBody>
          <a:bodyPr/>
          <a:lstStyle/>
          <a:p>
            <a:pPr lvl="1"/>
            <a:r>
              <a:rPr lang="zh-CN" altLang="en-US" smtClean="0"/>
              <a:t>路径不包含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j, k-1)</a:t>
            </a:r>
            <a:endParaRPr lang="en-US" altLang="zh-CN" smtClean="0"/>
          </a:p>
          <a:p>
            <a:pPr lvl="1"/>
            <a:r>
              <a:rPr lang="zh-CN" altLang="en-US" smtClean="0"/>
              <a:t>包含</a:t>
            </a:r>
            <a:r>
              <a:rPr lang="en-US" altLang="zh-CN" smtClean="0"/>
              <a:t>k</a:t>
            </a:r>
            <a:r>
              <a:rPr lang="zh-CN" altLang="en-US" smtClean="0"/>
              <a:t>，</a:t>
            </a:r>
            <a:r>
              <a:rPr lang="en-US" altLang="zh-CN" smtClean="0"/>
              <a:t>c(i, j, k)=c(i, k, k-1) + c(k, j, k-1)</a:t>
            </a:r>
            <a:endParaRPr lang="en-US" altLang="zh-CN" smtClean="0"/>
          </a:p>
          <a:p>
            <a:pPr marL="342900" lvl="1" indent="0">
              <a:buNone/>
            </a:pPr>
            <a:r>
              <a:rPr lang="en-US" altLang="zh-CN" smtClean="0">
                <a:sym typeface="Wingdings" panose="05000000000000000000" pitchFamily="2" charset="2"/>
              </a:rPr>
              <a:t>	c(i,j,k)=min{c(i,j,k-1), </a:t>
            </a:r>
            <a:r>
              <a:rPr lang="en-US" altLang="zh-CN" smtClean="0"/>
              <a:t>c(i,k,k-1)+c(k,j,k-1)}</a:t>
            </a:r>
            <a:endParaRPr lang="en-US" altLang="zh-CN" smtClean="0"/>
          </a:p>
          <a:p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1471613" y="493807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897188" y="493807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1758950" y="509143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2190750" y="49380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896553" y="4282758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1717040" y="443611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2162810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4330383" y="428275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3192145" y="4436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3623945" y="428275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4330383" y="49387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3192145" y="509206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3623945" y="49387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5756593" y="493617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4618355" y="508952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5050155" y="49361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904173" y="5859463"/>
            <a:ext cx="287338" cy="288925"/>
          </a:xfrm>
          <a:prstGeom prst="ellipse">
            <a:avLst/>
          </a:prstGeom>
          <a:solidFill>
            <a:srgbClr val="FF000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1717040" y="519303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2197735" y="557244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3040380" y="523557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896235" y="5451475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4330383" y="58594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5756593" y="58594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7078663" y="42960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4617720" y="443611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6002020" y="444944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6002020" y="455104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4617720" y="601281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3191510" y="601281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3149600" y="519366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4575810" y="519112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5043170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6396355" y="458501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6396355" y="50834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5125720" y="58613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5064125" y="53705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3732530" y="532669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3623945" y="590137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3142615" y="453771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3732530" y="46110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9655" y="2605723"/>
          <a:ext cx="5322570" cy="792480"/>
        </p:xfrm>
        <a:graphic>
          <a:graphicData uri="http://schemas.openxmlformats.org/drawingml/2006/table">
            <a:tbl>
              <a:tblPr/>
              <a:tblGrid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  <a:gridCol w="483870"/>
              </a:tblGrid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28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 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49655" y="3484880"/>
            <a:ext cx="6659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mtClean="0">
                <a:sym typeface="+mn-ea"/>
              </a:rPr>
              <a:t>包含</a:t>
            </a:r>
            <a:r>
              <a:rPr lang="en-US" altLang="zh-CN" smtClean="0">
                <a:sym typeface="+mn-ea"/>
              </a:rPr>
              <a:t>5</a:t>
            </a:r>
            <a:r>
              <a:rPr lang="zh-CN" altLang="en-US" smtClean="0">
                <a:sym typeface="+mn-ea"/>
              </a:rPr>
              <a:t>：</a:t>
            </a:r>
            <a:r>
              <a:rPr lang="en-US" altLang="zh-CN" smtClean="0">
                <a:sym typeface="+mn-ea"/>
              </a:rPr>
              <a:t>c(1, 3, 5)=c(1,5,4)+c(5,3,4)</a:t>
            </a:r>
            <a:r>
              <a:rPr lang="zh-CN" altLang="en-US" smtClean="0">
                <a:sym typeface="+mn-ea"/>
              </a:rPr>
              <a:t>；</a:t>
            </a:r>
            <a:r>
              <a:rPr lang="en-US" altLang="zh-CN" smtClean="0">
                <a:sym typeface="+mn-ea"/>
              </a:rPr>
              <a:t>c(1, 8, 5)=c(1,5,4)+c(5,8,4)</a:t>
            </a:r>
            <a:endParaRPr lang="zh-CN" altLang="en-US" smtClean="0"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49655" y="3853180"/>
            <a:ext cx="71805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mtClean="0">
                <a:sym typeface="+mn-ea"/>
              </a:rPr>
              <a:t>不包含</a:t>
            </a:r>
            <a:r>
              <a:rPr lang="en-US" altLang="zh-CN" smtClean="0">
                <a:sym typeface="+mn-ea"/>
              </a:rPr>
              <a:t>5</a:t>
            </a:r>
            <a:r>
              <a:rPr lang="zh-CN" altLang="en-US" smtClean="0">
                <a:sym typeface="+mn-ea"/>
              </a:rPr>
              <a:t>：</a:t>
            </a:r>
            <a:r>
              <a:rPr lang="en-US" altLang="zh-CN" smtClean="0">
                <a:sym typeface="+mn-ea"/>
              </a:rPr>
              <a:t>c(1, 2, 5)&lt;c(1,5,4)+c(5,2,4)</a:t>
            </a:r>
            <a:r>
              <a:rPr lang="zh-CN" altLang="en-US" smtClean="0">
                <a:sym typeface="+mn-ea"/>
              </a:rPr>
              <a:t>；</a:t>
            </a:r>
            <a:r>
              <a:rPr lang="en-US" altLang="zh-CN" smtClean="0">
                <a:sym typeface="+mn-ea"/>
              </a:rPr>
              <a:t>c(1, 4, 5)&lt;c(1,5,4)+c(5,4,4) </a:t>
            </a:r>
            <a:r>
              <a:rPr lang="zh-CN" altLang="en-US" smtClean="0">
                <a:sym typeface="+mn-ea"/>
              </a:rPr>
              <a:t>等</a:t>
            </a:r>
            <a:endParaRPr lang="zh-CN" altLang="en-US" smtClean="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迭代计算伪代码</a:t>
            </a:r>
            <a:endParaRPr lang="zh-CN" altLang="en-US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寻找最短路径的长度</a:t>
            </a:r>
            <a:endParaRPr lang="zh-CN" altLang="en-US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初始化</a:t>
            </a:r>
            <a:r>
              <a:rPr lang="en-US" altLang="zh-CN" sz="2000" smtClean="0"/>
              <a:t>c</a:t>
            </a:r>
            <a:r>
              <a:rPr lang="zh-CN" altLang="en-US" sz="2000" smtClean="0"/>
              <a:t>（</a:t>
            </a:r>
            <a:r>
              <a:rPr lang="en-US" altLang="zh-CN" sz="2000" i="1" smtClean="0"/>
              <a:t>i</a:t>
            </a:r>
            <a:r>
              <a:rPr lang="zh-CN" altLang="en-US" sz="2000" smtClean="0"/>
              <a:t>，</a:t>
            </a:r>
            <a:r>
              <a:rPr lang="en-US" altLang="zh-CN" sz="2000" i="1" smtClean="0"/>
              <a:t>j</a:t>
            </a:r>
            <a:r>
              <a:rPr lang="zh-CN" altLang="en-US" sz="2000" smtClean="0"/>
              <a:t>，</a:t>
            </a:r>
            <a:r>
              <a:rPr lang="en-US" altLang="zh-CN" sz="2000" smtClean="0"/>
              <a:t>1</a:t>
            </a:r>
            <a:r>
              <a:rPr lang="zh-CN" altLang="en-US" sz="2000" smtClean="0"/>
              <a:t>）</a:t>
            </a:r>
            <a:endParaRPr lang="zh-CN" altLang="en-US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for  (int i=1</a:t>
            </a:r>
            <a:r>
              <a:rPr lang="zh-CN" altLang="en-US" sz="2000" smtClean="0"/>
              <a:t>； </a:t>
            </a:r>
            <a:r>
              <a:rPr lang="en-US" altLang="zh-CN" sz="2000" smtClean="0"/>
              <a:t>i &lt; = n ; i ++)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for (int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=1;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&lt;=n;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++)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   c( 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0) = a (i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); // a </a:t>
            </a:r>
            <a:r>
              <a:rPr lang="zh-CN" altLang="en-US" sz="2000" smtClean="0"/>
              <a:t>是长度邻接矩阵</a:t>
            </a:r>
            <a:endParaRPr lang="zh-CN" altLang="en-US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/ /</a:t>
            </a:r>
            <a:r>
              <a:rPr lang="zh-CN" altLang="en-US" sz="2000" smtClean="0"/>
              <a:t>计算</a:t>
            </a:r>
            <a:r>
              <a:rPr lang="en-US" altLang="zh-CN" sz="2000" smtClean="0"/>
              <a:t>c ( i ,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) ( 0 &lt; k &lt; = n 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for(int k=1;k&lt;=n;k++)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for (int i=1;i&lt;=n;i++)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   for (int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= 1 ;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&lt; = n ;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+ + 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if (c(i,k,k-1)+c(k,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 &lt; c 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- 1))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   c(i,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k) = c(i, k, k - 1) + c(k,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 ;</a:t>
            </a:r>
            <a:endParaRPr lang="en-US" altLang="zh-CN" sz="2000" smtClean="0"/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smtClean="0"/>
              <a:t>		else c(i,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k) = c (i, </a:t>
            </a:r>
            <a:r>
              <a:rPr lang="en-US" altLang="zh-CN" sz="2000" i="1" smtClean="0"/>
              <a:t>j</a:t>
            </a:r>
            <a:r>
              <a:rPr lang="en-US" altLang="zh-CN" sz="2000" smtClean="0"/>
              <a:t>, k - 1);</a:t>
            </a:r>
            <a:endParaRPr lang="en-US" altLang="zh-CN" sz="2000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</a:t>
            </a:r>
            <a:endParaRPr lang="zh-CN" altLang="en-US" smtClean="0"/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95800" y="19510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75" name="Text Box 65"/>
          <p:cNvSpPr txBox="1">
            <a:spLocks noChangeArrowheads="1"/>
          </p:cNvSpPr>
          <p:nvPr/>
        </p:nvSpPr>
        <p:spPr bwMode="ltGray">
          <a:xfrm>
            <a:off x="4495800" y="1447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44076" name="Picture 66" descr="floyd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3768725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3571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099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5100" name="Text Box 45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c(i,j,1)=min(c(i,j,0), c(i,1,0)+c(1,j,0))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3614" name="Group 4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141" name="Text Box 86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66700" y="2889250"/>
            <a:ext cx="3767138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6352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419100" y="2165350"/>
            <a:ext cx="3767138" cy="25193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4595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23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c(i,j,2)=min(c(i,j,1), c(i,2,1)+c(2,j,1))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4678" name="Group 8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65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66700" y="324961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 rot="16200000">
            <a:off x="98107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419100" y="2024063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5619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7148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c(i,j,3)=min(c(i,j,2), c(i,3,2)+c(3,j,2))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5703" name="Group 8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89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3786188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1697037" y="3252788"/>
            <a:ext cx="251936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6643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71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8172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c(i,j,4)=min(c(i,j,3), c(i,4,3)+c(4,j,3))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6685" name="Group 4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959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213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C4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414496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235200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</a:t>
            </a:r>
            <a:endParaRPr lang="zh-CN" altLang="en-US" smtClean="0"/>
          </a:p>
        </p:txBody>
      </p:sp>
      <p:graphicFrame>
        <p:nvGraphicFramePr>
          <p:cNvPr id="1772613" name="Group 6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95800" y="19510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075" name="Text Box 65"/>
          <p:cNvSpPr txBox="1">
            <a:spLocks noChangeArrowheads="1"/>
          </p:cNvSpPr>
          <p:nvPr/>
        </p:nvSpPr>
        <p:spPr bwMode="ltGray">
          <a:xfrm>
            <a:off x="4495800" y="1447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44076" name="Picture 66" descr="C:/Users/18711/AppData/Local/Temp/kaimatting/20201123123330/output_aiMatting_20201123123521.pngoutput_aiMatting_2020112312352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8130" y="2085340"/>
            <a:ext cx="3768725" cy="1931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3571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099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C0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5100" name="Text Box 45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c(i,j,1)=min(c(i,j,0), c(i,1,0)+c(1,j,0))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3614" name="Group 4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79315" y="197961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141" name="Text Box 86"/>
          <p:cNvSpPr txBox="1">
            <a:spLocks noChangeArrowheads="1"/>
          </p:cNvSpPr>
          <p:nvPr/>
        </p:nvSpPr>
        <p:spPr bwMode="ltGray">
          <a:xfrm>
            <a:off x="8054975" y="214185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266700" y="2889250"/>
            <a:ext cx="3767138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6352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 bwMode="auto">
          <a:xfrm>
            <a:off x="419100" y="2165350"/>
            <a:ext cx="3767138" cy="25193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79315" y="43513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054975" y="4586605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key1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4595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23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c(i,j,2)=min(c(i,j,1), c(i,2,1)+c(2,j,1))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4678" name="Group 8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14545" y="189388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165" name="Text Box 85"/>
          <p:cNvSpPr txBox="1">
            <a:spLocks noChangeArrowheads="1"/>
          </p:cNvSpPr>
          <p:nvPr/>
        </p:nvSpPr>
        <p:spPr bwMode="ltGray">
          <a:xfrm>
            <a:off x="8049895" y="1894205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66700" y="324961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 rot="16200000">
            <a:off x="981075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>
            <a:off x="419100" y="2024063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614545" y="434879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049895" y="473964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key2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5619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smtClean="0">
                          <a:ln>
                            <a:noFill/>
                          </a:ln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∞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∞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ltGray">
          <a:xfrm>
            <a:off x="6096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7148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c(i,j,3)=min(c(i,j,2), c(i,3,2)+c(3,j,2))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5703" name="Group 8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836160" y="189388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89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3786188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1697037" y="3252788"/>
            <a:ext cx="2519363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836160" y="433800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268970" y="468503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key3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Floyd</a:t>
            </a:r>
            <a:r>
              <a:rPr lang="zh-CN" altLang="en-US" smtClean="0"/>
              <a:t>算法例（续）</a:t>
            </a:r>
            <a:endParaRPr lang="zh-CN" altLang="en-US" smtClean="0"/>
          </a:p>
        </p:txBody>
      </p:sp>
      <p:graphicFrame>
        <p:nvGraphicFramePr>
          <p:cNvPr id="1776643" name="Group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2141538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171" name="Text Box 43"/>
          <p:cNvSpPr txBox="1">
            <a:spLocks noChangeArrowheads="1"/>
          </p:cNvSpPr>
          <p:nvPr/>
        </p:nvSpPr>
        <p:spPr bwMode="ltGray">
          <a:xfrm>
            <a:off x="609600" y="1524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8172" name="Text Box 44"/>
          <p:cNvSpPr txBox="1">
            <a:spLocks noChangeArrowheads="1"/>
          </p:cNvSpPr>
          <p:nvPr/>
        </p:nvSpPr>
        <p:spPr bwMode="ltGray">
          <a:xfrm>
            <a:off x="1905000" y="1524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c(i,j,4)=min(c(i,j,3), c(i,4,3)+c(4,j,3))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1776685" name="Group 4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914900" y="186023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213" name="Text Box 85"/>
          <p:cNvSpPr txBox="1">
            <a:spLocks noChangeArrowheads="1"/>
          </p:cNvSpPr>
          <p:nvPr/>
        </p:nvSpPr>
        <p:spPr bwMode="ltGray">
          <a:xfrm>
            <a:off x="8153400" y="16383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C4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419100" y="2097088"/>
            <a:ext cx="3767138" cy="25193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 bwMode="auto">
          <a:xfrm>
            <a:off x="266700" y="4144963"/>
            <a:ext cx="376713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 bwMode="auto">
          <a:xfrm rot="16200000">
            <a:off x="2235200" y="3252788"/>
            <a:ext cx="2519363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3" name="Group 4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914900" y="4250373"/>
          <a:ext cx="3238500" cy="22860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7700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 Box 86"/>
          <p:cNvSpPr txBox="1">
            <a:spLocks noChangeArrowheads="1"/>
          </p:cNvSpPr>
          <p:nvPr/>
        </p:nvSpPr>
        <p:spPr bwMode="ltGray">
          <a:xfrm>
            <a:off x="8268970" y="468503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key3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</a:t>
            </a:r>
            <a:endParaRPr lang="zh-CN" altLang="en-US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AdjacencyWDigraph&lt;T&gt;::AllPairs(T **c, int **kay)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All pairs shortest paths.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// Compute c[i][j] and kay[i][j] for all i and j.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initialize c[i][j] = c(i,j,0)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(int i = 1; i &lt;= n; i++)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for (int j = 1; j &lt;= n; j++)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c[i][j] = a[i][j];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kay[i][j] = 0;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for (i = 1; i &lt;= n; i++)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c[i][i] = 0;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  <a:endParaRPr lang="zh-CN" altLang="en-US" smtClean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compute c[i][j] = c(i,j,k)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(int k = 1; k &lt;= n; k++)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for (int i = 1; i &lt;= n; i++)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for (int j = 1; j &lt;= n; j++)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T t1 = c[i][k];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T t2 = c[k][j];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T t3 = c[i][j];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if (t1 != NoEdge &amp;&amp; t2 != NoEdge &amp;&amp;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(t3 == NoEdge || t1 + t2 &lt; t3))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c[i][j] = t1 + t2;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kay[i][j] = k;}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  <a:endParaRPr lang="zh-CN" altLang="en-US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void outputPath(int **kay, int i, int j)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smtClean="0">
                <a:solidFill>
                  <a:srgbClr val="008000"/>
                </a:solidFill>
                <a:latin typeface="Tahoma" panose="020B0604030504040204" pitchFamily="34" charset="0"/>
              </a:rPr>
              <a:t>// Actual code to output i to j path.</a:t>
            </a:r>
            <a:endParaRPr lang="en-US" altLang="zh-CN" sz="24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if (i == j) return;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   if (kay[i][j] == 0) cout &lt;&lt; j &lt;&lt; ' ';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   else {outputPath(kay, i, kay[i][j]);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         outputPath(kay, kay[i][j], j);}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最终代码（续）</a:t>
            </a:r>
            <a:endParaRPr lang="zh-CN" altLang="en-US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OutputPath(T **c, int **kay, T NoEdge,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int i, int j)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Output shortest path from i to j.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(c[i][j] == NoEdge) {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cout &lt;&lt; "There is no path from " &lt;&lt; i &lt;&lt; " to "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&lt;&lt; j &lt;&lt; endl;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return;}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cout &lt;&lt; "The path is" &lt;&lt; endl;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cout &lt;&lt; i &lt;&lt; ' ';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outputPath(kay,i,j);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cout &lt;&lt; endl;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Floyd</a:t>
            </a:r>
            <a:r>
              <a:rPr lang="zh-CN" altLang="en-US"/>
              <a:t>算法</a:t>
            </a:r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时间复杂度</a:t>
            </a:r>
            <a:r>
              <a:rPr lang="en-US" altLang="zh-CN"/>
              <a:t>O(n</a:t>
            </a:r>
            <a:r>
              <a:rPr lang="en-US" altLang="zh-CN" baseline="30000"/>
              <a:t>3</a:t>
            </a:r>
            <a:r>
              <a:rPr lang="en-US" altLang="zh-CN"/>
              <a:t>)</a:t>
            </a:r>
            <a:r>
              <a:rPr lang="zh-CN" altLang="en-US"/>
              <a:t>，不适合顶点个数过多的</a:t>
            </a:r>
            <a:r>
              <a:rPr lang="zh-CN" altLang="en-US"/>
              <a:t>图</a:t>
            </a:r>
            <a:endParaRPr lang="zh-CN" altLang="en-US"/>
          </a:p>
          <a:p>
            <a:r>
              <a:rPr lang="zh-CN" altLang="en-US"/>
              <a:t>邻接矩阵存储</a:t>
            </a:r>
            <a:r>
              <a:rPr lang="zh-CN" altLang="en-US"/>
              <a:t>更适合</a:t>
            </a:r>
            <a:endParaRPr lang="zh-CN" altLang="en-US"/>
          </a:p>
          <a:p>
            <a:r>
              <a:rPr lang="zh-CN" altLang="en-US"/>
              <a:t>稠密图和稀疏图运算时间复杂度</a:t>
            </a:r>
            <a:r>
              <a:rPr lang="zh-CN" altLang="en-US"/>
              <a:t>一致</a:t>
            </a:r>
            <a:endParaRPr lang="zh-CN" altLang="en-US"/>
          </a:p>
          <a:p>
            <a:r>
              <a:rPr lang="zh-CN" altLang="en-US"/>
              <a:t>可以检测负权回路：任意</a:t>
            </a:r>
            <a:r>
              <a:rPr lang="zh-CN" altLang="en-US"/>
              <a:t>时刻对角线值</a:t>
            </a:r>
            <a:r>
              <a:rPr lang="en-US" altLang="zh-CN"/>
              <a:t>&lt;0</a:t>
            </a:r>
            <a:endParaRPr lang="en-US" altLang="zh-CN"/>
          </a:p>
          <a:p>
            <a:r>
              <a:rPr lang="zh-CN" altLang="en-US"/>
              <a:t>中间结果不能保证最优，</a:t>
            </a:r>
            <a:r>
              <a:rPr lang="en-US" altLang="zh-CN"/>
              <a:t>Dijkstra</a:t>
            </a:r>
            <a:r>
              <a:rPr lang="zh-CN" altLang="en-US"/>
              <a:t>算法每次一定能到的一个</a:t>
            </a:r>
            <a:r>
              <a:rPr lang="zh-CN" altLang="en-US"/>
              <a:t>最短路径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其他最短路径计算</a:t>
            </a:r>
            <a:r>
              <a:rPr lang="zh-CN" altLang="en-US"/>
              <a:t>方法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/>
              <a:t>单源最短路径</a:t>
            </a:r>
            <a:r>
              <a:rPr lang="en-US" altLang="zh-CN"/>
              <a:t>-Bellman-Ford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可以检验负权回路</a:t>
            </a:r>
            <a:endParaRPr lang="zh-CN" altLang="en-US"/>
          </a:p>
          <a:p>
            <a:r>
              <a:rPr lang="zh-CN" altLang="en-US"/>
              <a:t>思路：</a:t>
            </a:r>
            <a:endParaRPr lang="zh-CN" altLang="en-US"/>
          </a:p>
          <a:p>
            <a:pPr lvl="1"/>
            <a:r>
              <a:rPr lang="zh-CN" altLang="en-US"/>
              <a:t>对每个</a:t>
            </a:r>
            <a:r>
              <a:rPr lang="en-US" altLang="zh-CN"/>
              <a:t>S-V</a:t>
            </a:r>
            <a:r>
              <a:rPr lang="zh-CN" altLang="en-US"/>
              <a:t>尝试加入全部边。如果可以缩短距离，则认为该边为最短路径候选。</a:t>
            </a:r>
            <a:endParaRPr lang="zh-CN" altLang="en-US"/>
          </a:p>
          <a:p>
            <a:pPr lvl="1"/>
            <a:r>
              <a:rPr lang="zh-CN" altLang="en-US"/>
              <a:t>每个最短路径最多有</a:t>
            </a:r>
            <a:r>
              <a:rPr lang="en-US" altLang="zh-CN"/>
              <a:t>n-1</a:t>
            </a:r>
            <a:r>
              <a:rPr lang="zh-CN" altLang="en-US"/>
              <a:t>条边。所以最多尝试</a:t>
            </a:r>
            <a:r>
              <a:rPr lang="en-US" altLang="zh-CN"/>
              <a:t>n-1</a:t>
            </a:r>
            <a:r>
              <a:rPr lang="zh-CN" altLang="en-US"/>
              <a:t>次即可以。</a:t>
            </a:r>
            <a:endParaRPr lang="zh-CN" altLang="en-US"/>
          </a:p>
          <a:p>
            <a:pPr lvl="1"/>
            <a:r>
              <a:rPr lang="zh-CN" altLang="en-US"/>
              <a:t>如果第</a:t>
            </a:r>
            <a:r>
              <a:rPr lang="en-US" altLang="zh-CN"/>
              <a:t>n</a:t>
            </a:r>
            <a:r>
              <a:rPr lang="zh-CN" altLang="en-US"/>
              <a:t>次仍然会减少权值，则说明存在负权回路。</a:t>
            </a:r>
            <a:endParaRPr lang="zh-CN" altLang="en-US"/>
          </a:p>
          <a:p>
            <a:pPr lvl="1"/>
            <a:r>
              <a:rPr lang="zh-CN" altLang="en-US"/>
              <a:t>早停机制：全部的边均加入一次，未有任何路径缩短，则</a:t>
            </a:r>
            <a:r>
              <a:rPr lang="zh-CN" altLang="en-US"/>
              <a:t>停止。</a:t>
            </a:r>
            <a:endParaRPr lang="zh-CN" altLang="en-US"/>
          </a:p>
          <a:p>
            <a:pPr lvl="1"/>
            <a:endParaRPr lang="zh-CN" altLang="en-US"/>
          </a:p>
          <a:p>
            <a:r>
              <a:rPr lang="zh-CN" altLang="en-US"/>
              <a:t>优化：Shortest Path Faster Algorithm</a:t>
            </a:r>
            <a:r>
              <a:rPr lang="en-US" altLang="zh-CN"/>
              <a:t>-SPFA</a:t>
            </a:r>
            <a:endParaRPr lang="en-US" altLang="zh-CN"/>
          </a:p>
          <a:p>
            <a:pPr lvl="1"/>
            <a:r>
              <a:rPr lang="zh-CN" altLang="en-US" sz="2000"/>
              <a:t>使用队列，快速检测是否已经得到最短路径，及时跳出循环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关键代码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777875" y="1943100"/>
            <a:ext cx="7588250" cy="46158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bool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Bellman_Ford()  {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nodenum; ++i)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//初始化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dis[i] = (i == original ? 0 : MAX);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nodenum - 1; ++i)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j = 1; j &lt;= edgenum; ++j)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(dis[edge[j].v] &gt; dis[edge[j].u] + edge[j].cost) </a:t>
            </a:r>
            <a:b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        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//尝试加入边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dis[edge[j].v] = dis[edge[j].u] + edge[j].cost;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pre[edge[j].v] = edge[j].u;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bool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 = 1; </a:t>
            </a:r>
            <a:r>
              <a:rPr lang="zh-CN" sz="1400" b="0">
                <a:solidFill>
                  <a:srgbClr val="008200"/>
                </a:solidFill>
                <a:ea typeface="宋体" panose="02010600030101010101" pitchFamily="2" charset="-122"/>
              </a:rPr>
              <a:t>//判断是否含有负权回路  ，再次加入一次边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for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sz="1400" b="1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int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 = 1; i &lt;= edgenum; ++i)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if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(dis[edge[i].v] &gt; dis[edge[i].u] + edge[i].cost)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{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 = 0;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break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;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}  </a:t>
            </a:r>
            <a:r>
              <a:rPr lang="en-US" sz="14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        </a:t>
            </a:r>
            <a:r>
              <a:rPr lang="en-US" sz="1400" b="1">
                <a:solidFill>
                  <a:srgbClr val="006699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return</a:t>
            </a:r>
            <a:r>
              <a:rPr lang="en-US" sz="1200" b="0">
                <a:solidFill>
                  <a:srgbClr val="333333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sz="1400" b="0">
                <a:solidFill>
                  <a:srgbClr val="000000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flag;  }</a:t>
            </a:r>
            <a:endParaRPr lang="en-US" altLang="en-US" sz="1400" b="0">
              <a:solidFill>
                <a:srgbClr val="000000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Bellman-Ford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621348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046923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900430" y="4563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340485" y="44180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04628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858520" y="39077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131254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348011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2333625" y="39077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2773680" y="37626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3480118" y="4418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2333625" y="4563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2773680" y="4418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4906328" y="441610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3759835" y="45612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199890" y="44161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05390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858520" y="46647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1347470" y="50523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181860" y="47072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045970" y="49314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348011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490632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228398" y="377602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3759200" y="39077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143500" y="39211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143500" y="40227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375920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233299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2291080" y="46653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3717290" y="46628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19290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554609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5546090" y="4563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4275455" y="53413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4213860" y="48504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2882265" y="4806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2773680" y="53813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2284095" y="40093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2882265" y="4090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6" name="AutoShape 3"/>
          <p:cNvSpPr/>
          <p:nvPr/>
        </p:nvSpPr>
        <p:spPr>
          <a:xfrm>
            <a:off x="185483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AutoShape 4"/>
          <p:cNvSpPr/>
          <p:nvPr/>
        </p:nvSpPr>
        <p:spPr>
          <a:xfrm>
            <a:off x="223329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0" name="AutoShape 5"/>
          <p:cNvSpPr/>
          <p:nvPr/>
        </p:nvSpPr>
        <p:spPr>
          <a:xfrm>
            <a:off x="26117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AutoShape 6"/>
          <p:cNvSpPr/>
          <p:nvPr/>
        </p:nvSpPr>
        <p:spPr>
          <a:xfrm>
            <a:off x="298958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AutoShape 7"/>
          <p:cNvSpPr/>
          <p:nvPr/>
        </p:nvSpPr>
        <p:spPr>
          <a:xfrm>
            <a:off x="336804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374650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AutoShape 9"/>
          <p:cNvSpPr/>
          <p:nvPr/>
        </p:nvSpPr>
        <p:spPr>
          <a:xfrm>
            <a:off x="41230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AutoShape 14"/>
          <p:cNvSpPr/>
          <p:nvPr/>
        </p:nvSpPr>
        <p:spPr>
          <a:xfrm>
            <a:off x="5213350" y="213169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AutoShape 9"/>
          <p:cNvSpPr/>
          <p:nvPr/>
        </p:nvSpPr>
        <p:spPr>
          <a:xfrm>
            <a:off x="449326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AutoShape 3"/>
          <p:cNvSpPr/>
          <p:nvPr>
            <p:custDataLst>
              <p:tags r:id="rId1"/>
            </p:custDataLst>
          </p:nvPr>
        </p:nvSpPr>
        <p:spPr>
          <a:xfrm>
            <a:off x="22066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334200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7"/>
          <p:cNvSpPr/>
          <p:nvPr/>
        </p:nvSpPr>
        <p:spPr>
          <a:xfrm>
            <a:off x="372046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AutoShape 9"/>
          <p:cNvSpPr/>
          <p:nvPr/>
        </p:nvSpPr>
        <p:spPr>
          <a:xfrm>
            <a:off x="44773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AutoShape 14"/>
          <p:cNvSpPr/>
          <p:nvPr/>
        </p:nvSpPr>
        <p:spPr>
          <a:xfrm>
            <a:off x="1833801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kumimoji="1" lang="en-US" altLang="zh-CN" sz="1500" b="1" dirty="0" smtClean="0">
              <a:ln>
                <a:noFill/>
              </a:ln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7" name="AutoShape 9"/>
          <p:cNvSpPr/>
          <p:nvPr/>
        </p:nvSpPr>
        <p:spPr>
          <a:xfrm>
            <a:off x="485489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9"/>
          <p:cNvSpPr/>
          <p:nvPr/>
        </p:nvSpPr>
        <p:spPr>
          <a:xfrm>
            <a:off x="485521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9"/>
          <p:cNvSpPr/>
          <p:nvPr/>
        </p:nvSpPr>
        <p:spPr>
          <a:xfrm>
            <a:off x="521303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7"/>
          <p:cNvSpPr/>
          <p:nvPr/>
        </p:nvSpPr>
        <p:spPr>
          <a:xfrm>
            <a:off x="372427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3560" y="2375535"/>
            <a:ext cx="728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dis[n]</a:t>
            </a:r>
            <a:endParaRPr lang="en-US">
              <a:sym typeface="+mn-ea"/>
            </a:endParaRPr>
          </a:p>
        </p:txBody>
      </p:sp>
      <p:sp>
        <p:nvSpPr>
          <p:cNvPr id="62" name="AutoShape 9"/>
          <p:cNvSpPr/>
          <p:nvPr/>
        </p:nvSpPr>
        <p:spPr>
          <a:xfrm>
            <a:off x="4458335" y="23907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AutoShape 3"/>
          <p:cNvSpPr/>
          <p:nvPr>
            <p:custDataLst>
              <p:tags r:id="rId2"/>
            </p:custDataLst>
          </p:nvPr>
        </p:nvSpPr>
        <p:spPr>
          <a:xfrm>
            <a:off x="22066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AutoShape 4"/>
          <p:cNvSpPr/>
          <p:nvPr/>
        </p:nvSpPr>
        <p:spPr>
          <a:xfrm>
            <a:off x="258508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AutoShape 5"/>
          <p:cNvSpPr/>
          <p:nvPr/>
        </p:nvSpPr>
        <p:spPr>
          <a:xfrm>
            <a:off x="296354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6" name="AutoShape 6"/>
          <p:cNvSpPr/>
          <p:nvPr/>
        </p:nvSpPr>
        <p:spPr>
          <a:xfrm>
            <a:off x="334200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AutoShape 7"/>
          <p:cNvSpPr/>
          <p:nvPr/>
        </p:nvSpPr>
        <p:spPr>
          <a:xfrm>
            <a:off x="372046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AutoShape 8"/>
          <p:cNvSpPr/>
          <p:nvPr/>
        </p:nvSpPr>
        <p:spPr>
          <a:xfrm>
            <a:off x="40989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9" name="AutoShape 9"/>
          <p:cNvSpPr/>
          <p:nvPr/>
        </p:nvSpPr>
        <p:spPr>
          <a:xfrm>
            <a:off x="447738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0" name="AutoShape 14"/>
          <p:cNvSpPr/>
          <p:nvPr/>
        </p:nvSpPr>
        <p:spPr>
          <a:xfrm>
            <a:off x="1833801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AutoShape 9"/>
          <p:cNvSpPr/>
          <p:nvPr/>
        </p:nvSpPr>
        <p:spPr>
          <a:xfrm>
            <a:off x="4854893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2" name="AutoShape 9"/>
          <p:cNvSpPr/>
          <p:nvPr/>
        </p:nvSpPr>
        <p:spPr>
          <a:xfrm>
            <a:off x="5213033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3" name="AutoShape 7"/>
          <p:cNvSpPr/>
          <p:nvPr/>
        </p:nvSpPr>
        <p:spPr>
          <a:xfrm>
            <a:off x="3724275" y="27336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43560" y="2721610"/>
            <a:ext cx="767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pre[n]</a:t>
            </a:r>
            <a:endParaRPr lang="en-US">
              <a:sym typeface="+mn-ea"/>
            </a:endParaRPr>
          </a:p>
        </p:txBody>
      </p:sp>
      <p:sp>
        <p:nvSpPr>
          <p:cNvPr id="75" name="AutoShape 9"/>
          <p:cNvSpPr/>
          <p:nvPr/>
        </p:nvSpPr>
        <p:spPr>
          <a:xfrm>
            <a:off x="4458335" y="27368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6" name="AutoShape 3"/>
          <p:cNvSpPr/>
          <p:nvPr>
            <p:custDataLst>
              <p:tags r:id="rId3"/>
            </p:custDataLst>
          </p:nvPr>
        </p:nvSpPr>
        <p:spPr>
          <a:xfrm>
            <a:off x="2206625" y="2741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7" name="AutoShape 5"/>
          <p:cNvSpPr/>
          <p:nvPr/>
        </p:nvSpPr>
        <p:spPr>
          <a:xfrm>
            <a:off x="2963545" y="27381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8" name="AutoShape 3"/>
          <p:cNvSpPr/>
          <p:nvPr>
            <p:custDataLst>
              <p:tags r:id="rId4"/>
            </p:custDataLst>
          </p:nvPr>
        </p:nvSpPr>
        <p:spPr>
          <a:xfrm>
            <a:off x="220662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79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80" name="Group 69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6918960" y="1521143"/>
          <a:ext cx="1943100" cy="4777105"/>
        </p:xfrm>
        <a:graphic>
          <a:graphicData uri="http://schemas.openxmlformats.org/drawingml/2006/table">
            <a:tbl>
              <a:tblPr/>
              <a:tblGrid>
                <a:gridCol w="485775"/>
                <a:gridCol w="468630"/>
                <a:gridCol w="467995"/>
                <a:gridCol w="520700"/>
              </a:tblGrid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index</a:t>
                      </a:r>
                      <a:endParaRPr kumimoji="1" lang="en-US" altLang="zh-CN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385"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anchor="ctr" anchorCtr="0" horzOverflow="overflow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1" name="右箭头 80"/>
          <p:cNvSpPr/>
          <p:nvPr/>
        </p:nvSpPr>
        <p:spPr>
          <a:xfrm>
            <a:off x="6516370" y="2451735"/>
            <a:ext cx="343535" cy="1631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2054225" y="1660525"/>
            <a:ext cx="3307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dis[s,v]&gt;dis[s,u]+edge[u,v].cost</a:t>
            </a:r>
            <a:endParaRPr lang="en-US">
              <a:sym typeface="+mn-ea"/>
            </a:endParaRPr>
          </a:p>
        </p:txBody>
      </p:sp>
      <p:sp>
        <p:nvSpPr>
          <p:cNvPr id="83" name="AutoShape 6"/>
          <p:cNvSpPr/>
          <p:nvPr/>
        </p:nvSpPr>
        <p:spPr>
          <a:xfrm>
            <a:off x="333692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4" name="AutoShape 6"/>
          <p:cNvSpPr/>
          <p:nvPr/>
        </p:nvSpPr>
        <p:spPr>
          <a:xfrm>
            <a:off x="3336925" y="2741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AutoShape 4"/>
          <p:cNvSpPr/>
          <p:nvPr/>
        </p:nvSpPr>
        <p:spPr>
          <a:xfrm>
            <a:off x="2585085" y="27495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2585085" y="24060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7" name="AutoShape 7"/>
          <p:cNvSpPr/>
          <p:nvPr/>
        </p:nvSpPr>
        <p:spPr>
          <a:xfrm>
            <a:off x="372046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AutoShape 7"/>
          <p:cNvSpPr/>
          <p:nvPr/>
        </p:nvSpPr>
        <p:spPr>
          <a:xfrm>
            <a:off x="3720465" y="27336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0" name="AutoShape 8"/>
          <p:cNvSpPr/>
          <p:nvPr/>
        </p:nvSpPr>
        <p:spPr>
          <a:xfrm>
            <a:off x="409892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" name="AutoShape 4"/>
          <p:cNvSpPr/>
          <p:nvPr/>
        </p:nvSpPr>
        <p:spPr>
          <a:xfrm>
            <a:off x="2585085" y="27565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" name="AutoShape 4"/>
          <p:cNvSpPr/>
          <p:nvPr/>
        </p:nvSpPr>
        <p:spPr>
          <a:xfrm>
            <a:off x="2585085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3" name="AutoShape 8"/>
          <p:cNvSpPr/>
          <p:nvPr/>
        </p:nvSpPr>
        <p:spPr>
          <a:xfrm>
            <a:off x="445833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AutoShape 8"/>
          <p:cNvSpPr/>
          <p:nvPr/>
        </p:nvSpPr>
        <p:spPr>
          <a:xfrm>
            <a:off x="4458335" y="27438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5" name="AutoShape 7"/>
          <p:cNvSpPr/>
          <p:nvPr/>
        </p:nvSpPr>
        <p:spPr>
          <a:xfrm>
            <a:off x="3698875" y="2399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" name="AutoShape 7"/>
          <p:cNvSpPr/>
          <p:nvPr/>
        </p:nvSpPr>
        <p:spPr>
          <a:xfrm>
            <a:off x="3698875" y="274510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7" name="AutoShape 8"/>
          <p:cNvSpPr/>
          <p:nvPr/>
        </p:nvSpPr>
        <p:spPr>
          <a:xfrm>
            <a:off x="5213350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8" name="AutoShape 8"/>
          <p:cNvSpPr/>
          <p:nvPr/>
        </p:nvSpPr>
        <p:spPr>
          <a:xfrm>
            <a:off x="5213350" y="27590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9" name="AutoShape 8"/>
          <p:cNvSpPr/>
          <p:nvPr/>
        </p:nvSpPr>
        <p:spPr>
          <a:xfrm>
            <a:off x="4855210" y="24098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0" name="AutoShape 8"/>
          <p:cNvSpPr/>
          <p:nvPr/>
        </p:nvSpPr>
        <p:spPr>
          <a:xfrm>
            <a:off x="4855210" y="27559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3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250" autoRev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0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50" autoRev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00694 0.070556 " pathEditMode="relative" rAng="0" ptsTypes="">
                                      <p:cBhvr>
                                        <p:cTn id="5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4 0.073055 L -0.000694 0.124444 " pathEditMode="relative" rAng="0" ptsTypes="">
                                      <p:cBhvr>
                                        <p:cTn id="6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667 0.123148 L -0.000694 0.164537 " pathEditMode="relative" ptsTypes="">
                                      <p:cBhvr>
                                        <p:cTn id="7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736 0.163241 L 0.000208 0.200833 " pathEditMode="relative" rAng="0" ptsTypes="">
                                      <p:cBhvr>
                                        <p:cTn id="8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4 0.199630 L -0.001667 0.238426 " pathEditMode="relative" ptsTypes="">
                                      <p:cBhvr>
                                        <p:cTn id="9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235926 L -0.001667 0.279815 " pathEditMode="relative" ptsTypes="">
                                      <p:cBhvr>
                                        <p:cTn id="10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279815 L -0.002569 0.326204 " pathEditMode="relative" ptsTypes="">
                                      <p:cBhvr>
                                        <p:cTn id="106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70 0.326204 L -0.002570 0.370000 " pathEditMode="relative" rAng="0" ptsTypes="">
                                      <p:cBhvr>
                                        <p:cTn id="11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0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368796 L -0.002569 0.407593 " pathEditMode="relative" ptsTypes="">
                                      <p:cBhvr>
                                        <p:cTn id="12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0" presetClass="path" presetSubtype="0" accel="50000" decel="5000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407593 L -0.003542 0.446481 " pathEditMode="relative" ptsTypes="">
                                      <p:cBhvr>
                                        <p:cTn id="130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0" presetClass="path" presetSubtype="0" accel="50000" decel="5000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569 0.445185 L -0.002569 0.496574 " pathEditMode="relative" ptsTypes="">
                                      <p:cBhvr>
                                        <p:cTn id="134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ldLvl="0" animBg="1"/>
      <p:bldP spid="77" grpId="0" bldLvl="0" animBg="1"/>
      <p:bldP spid="78" grpId="0" animBg="1"/>
      <p:bldP spid="79" grpId="0" animBg="1"/>
      <p:bldP spid="44" grpId="0" animBg="1"/>
      <p:bldP spid="81" grpId="0" animBg="1"/>
      <p:bldP spid="83" grpId="0" bldLvl="0" animBg="1"/>
      <p:bldP spid="84" grpId="0" animBg="1"/>
      <p:bldP spid="83" grpId="1" bldLvl="0" animBg="1"/>
      <p:bldP spid="81" grpId="1" animBg="1"/>
      <p:bldP spid="86" grpId="0" animBg="1"/>
      <p:bldP spid="85" grpId="0" bldLvl="0" animBg="1"/>
      <p:bldP spid="81" grpId="2" animBg="1"/>
      <p:bldP spid="87" grpId="0" animBg="1"/>
      <p:bldP spid="88" grpId="0" animBg="1"/>
      <p:bldP spid="81" grpId="3" animBg="1"/>
      <p:bldP spid="89" grpId="0" animBg="1"/>
      <p:bldP spid="90" grpId="0" animBg="1"/>
      <p:bldP spid="81" grpId="4" animBg="1"/>
      <p:bldP spid="92" grpId="0" bldLvl="0" animBg="1"/>
      <p:bldP spid="91" grpId="0" bldLvl="0" animBg="1"/>
      <p:bldP spid="93" grpId="0" bldLvl="0" animBg="1"/>
      <p:bldP spid="94" grpId="0" bldLvl="0" animBg="1"/>
      <p:bldP spid="81" grpId="5" animBg="1"/>
      <p:bldP spid="81" grpId="6" animBg="1"/>
      <p:bldP spid="81" grpId="7" animBg="1"/>
      <p:bldP spid="81" grpId="8" animBg="1"/>
      <p:bldP spid="95" grpId="0" bldLvl="0" animBg="1"/>
      <p:bldP spid="96" grpId="0" bldLvl="0" animBg="1"/>
      <p:bldP spid="81" grpId="9" animBg="1"/>
      <p:bldP spid="97" grpId="0" bldLvl="0" animBg="1"/>
      <p:bldP spid="98" grpId="0" bldLvl="0" animBg="1"/>
      <p:bldP spid="81" grpId="10" animBg="1"/>
      <p:bldP spid="81" grpId="11" animBg="1"/>
      <p:bldP spid="99" grpId="0" bldLvl="0" animBg="1"/>
      <p:bldP spid="100" grpId="0" bldLvl="0" animBg="1"/>
      <p:bldP spid="83" grpId="2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Bellman-Ford</a:t>
            </a:r>
            <a:r>
              <a:rPr lang="zh-CN" altLang="en-US"/>
              <a:t>算法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时间</a:t>
            </a:r>
            <a:r>
              <a:rPr lang="zh-CN" altLang="en-US"/>
              <a:t>复杂度</a:t>
            </a:r>
            <a:endParaRPr lang="zh-CN" altLang="en-US"/>
          </a:p>
          <a:p>
            <a:pPr lvl="1"/>
            <a:r>
              <a:rPr lang="zh-CN" altLang="en-US"/>
              <a:t>最差时间复杂度</a:t>
            </a:r>
            <a:r>
              <a:rPr lang="en-US" altLang="zh-CN"/>
              <a:t>O(n*e)</a:t>
            </a:r>
            <a:endParaRPr lang="en-US" altLang="zh-CN"/>
          </a:p>
          <a:p>
            <a:pPr lvl="2"/>
            <a:r>
              <a:rPr lang="zh-CN" altLang="en-US"/>
              <a:t>最短路径的边个数为</a:t>
            </a:r>
            <a:r>
              <a:rPr lang="en-US" altLang="zh-CN"/>
              <a:t>(n-1)</a:t>
            </a:r>
            <a:r>
              <a:rPr lang="zh-CN" altLang="en-US"/>
              <a:t>，且每次都是最后一个有效边可以缩短路径需要尝试</a:t>
            </a:r>
            <a:r>
              <a:rPr lang="en-US" altLang="zh-CN"/>
              <a:t>n*e</a:t>
            </a:r>
            <a:r>
              <a:rPr lang="zh-CN" altLang="en-US"/>
              <a:t>次，才能完成计算。如果为稠密图则时间复杂度为</a:t>
            </a:r>
            <a:r>
              <a:rPr lang="en-US" altLang="zh-CN"/>
              <a:t>n^3</a:t>
            </a:r>
            <a:endParaRPr lang="en-US" altLang="zh-CN"/>
          </a:p>
          <a:p>
            <a:pPr lvl="1"/>
            <a:r>
              <a:rPr lang="zh-CN" altLang="en-US"/>
              <a:t>最好时间复杂度为</a:t>
            </a:r>
            <a:r>
              <a:rPr lang="en-US" altLang="zh-CN"/>
              <a:t>O(e)</a:t>
            </a:r>
            <a:endParaRPr lang="en-US" altLang="zh-CN"/>
          </a:p>
          <a:p>
            <a:pPr lvl="2"/>
            <a:r>
              <a:rPr lang="zh-CN" altLang="en-US"/>
              <a:t>恰好每次都能形成一个最短</a:t>
            </a:r>
            <a:r>
              <a:rPr lang="zh-CN" altLang="en-US"/>
              <a:t>路径</a:t>
            </a:r>
            <a:endParaRPr lang="zh-CN" altLang="en-US"/>
          </a:p>
          <a:p>
            <a:pPr lvl="1"/>
            <a:r>
              <a:rPr lang="zh-CN" altLang="en-US" sz="2000"/>
              <a:t>通常时间复杂度为</a:t>
            </a:r>
            <a:r>
              <a:rPr lang="en-US" altLang="zh-CN" sz="2000"/>
              <a:t>O(k*e) k</a:t>
            </a:r>
            <a:r>
              <a:rPr lang="zh-CN" altLang="en-US" sz="2000"/>
              <a:t>大致为</a:t>
            </a:r>
            <a:r>
              <a:rPr lang="en-US" altLang="zh-CN" sz="2000"/>
              <a:t>4</a:t>
            </a:r>
            <a:endParaRPr lang="en-US" altLang="zh-CN" sz="2000"/>
          </a:p>
          <a:p>
            <a:pPr lvl="0"/>
            <a:r>
              <a:rPr lang="zh-CN" altLang="en-US" sz="2400"/>
              <a:t>可以处理及避免</a:t>
            </a:r>
            <a:r>
              <a:rPr lang="zh-CN" altLang="en-US" sz="2400"/>
              <a:t>的</a:t>
            </a:r>
            <a:r>
              <a:rPr lang="zh-CN" altLang="en-US" sz="2400"/>
              <a:t>情形</a:t>
            </a:r>
            <a:endParaRPr lang="zh-CN" altLang="en-US" sz="2400"/>
          </a:p>
          <a:p>
            <a:pPr lvl="1"/>
            <a:r>
              <a:rPr lang="zh-CN" altLang="en-US" sz="2000"/>
              <a:t>可以处理负权回路</a:t>
            </a:r>
            <a:endParaRPr lang="zh-CN" altLang="en-US" sz="2000"/>
          </a:p>
          <a:p>
            <a:pPr lvl="1"/>
            <a:r>
              <a:rPr lang="zh-CN" altLang="en-US" sz="2000"/>
              <a:t>无法避免最差时间复杂度，对复杂度有要求且不存在负权边则使用</a:t>
            </a:r>
            <a:r>
              <a:rPr lang="en-US" altLang="zh-CN" sz="2000"/>
              <a:t>Dijkstra</a:t>
            </a:r>
            <a:r>
              <a:rPr lang="zh-CN" altLang="en-US" sz="2000"/>
              <a:t>算法</a:t>
            </a:r>
            <a:endParaRPr lang="zh-CN" altLang="en-US" sz="2000"/>
          </a:p>
          <a:p>
            <a:pPr lvl="0"/>
            <a:r>
              <a:rPr lang="zh-CN" altLang="en-US" sz="2400"/>
              <a:t>进一步优化</a:t>
            </a:r>
            <a:r>
              <a:rPr lang="en-US" altLang="zh-CN" sz="2400"/>
              <a:t>-SPFA	</a:t>
            </a:r>
            <a:endParaRPr lang="en-US" altLang="zh-CN" sz="2400"/>
          </a:p>
          <a:p>
            <a:pPr lvl="0"/>
            <a:endParaRPr lang="zh-CN" altLang="en-US"/>
          </a:p>
          <a:p>
            <a:pPr lvl="0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Shortest Path Faster Algorithm</a:t>
            </a:r>
            <a:r>
              <a:rPr lang="en-US" altLang="zh-CN">
                <a:sym typeface="+mn-ea"/>
              </a:rPr>
              <a:t>-SPFA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算法，未有任何选边</a:t>
            </a:r>
            <a:r>
              <a:rPr lang="zh-CN" altLang="en-US">
                <a:sym typeface="+mn-ea"/>
              </a:rPr>
              <a:t>策略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选边策略：上一步成功松弛的顶点入队，作为优先选边</a:t>
            </a:r>
            <a:r>
              <a:rPr lang="zh-CN" altLang="en-US">
                <a:sym typeface="+mn-ea"/>
              </a:rPr>
              <a:t>依据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最差时间复杂度和</a:t>
            </a:r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一样</a:t>
            </a:r>
            <a:r>
              <a:rPr lang="en-US" altLang="zh-CN">
                <a:sym typeface="+mn-ea"/>
              </a:rPr>
              <a:t>O(n*e)</a:t>
            </a:r>
            <a:r>
              <a:rPr lang="zh-CN" altLang="en-US">
                <a:sym typeface="+mn-ea"/>
              </a:rPr>
              <a:t>，可能比</a:t>
            </a:r>
            <a:r>
              <a:rPr lang="en-US" altLang="zh-CN">
                <a:sym typeface="+mn-ea"/>
              </a:rPr>
              <a:t>Bellman-Ford</a:t>
            </a:r>
            <a:r>
              <a:rPr lang="zh-CN" altLang="en-US">
                <a:sym typeface="+mn-ea"/>
              </a:rPr>
              <a:t>早退出</a:t>
            </a:r>
            <a:r>
              <a:rPr lang="zh-CN" altLang="en-US">
                <a:sym typeface="+mn-ea"/>
              </a:rPr>
              <a:t>循环</a:t>
            </a:r>
            <a:endParaRPr lang="zh-CN" altLang="en-US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SPFA</a:t>
            </a:r>
            <a:endParaRPr lang="zh-CN" altLang="en-US" smtClean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54746" name="Oval 26"/>
          <p:cNvSpPr>
            <a:spLocks noChangeArrowheads="1"/>
          </p:cNvSpPr>
          <p:nvPr/>
        </p:nvSpPr>
        <p:spPr bwMode="auto">
          <a:xfrm flipH="1">
            <a:off x="621348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54747" name="Oval 27"/>
          <p:cNvSpPr>
            <a:spLocks noChangeArrowheads="1"/>
          </p:cNvSpPr>
          <p:nvPr/>
        </p:nvSpPr>
        <p:spPr bwMode="auto">
          <a:xfrm flipH="1">
            <a:off x="2046923" y="441801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3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054779" name="AutoShape 59"/>
          <p:cNvCxnSpPr>
            <a:stCxn id="1054746" idx="2"/>
            <a:endCxn id="1054747" idx="6"/>
          </p:cNvCxnSpPr>
          <p:nvPr/>
        </p:nvCxnSpPr>
        <p:spPr>
          <a:xfrm>
            <a:off x="900430" y="456311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054780" name="Oval 60"/>
          <p:cNvSpPr/>
          <p:nvPr/>
        </p:nvSpPr>
        <p:spPr>
          <a:xfrm>
            <a:off x="1340485" y="44180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" name="Oval 27"/>
          <p:cNvSpPr>
            <a:spLocks noChangeArrowheads="1"/>
          </p:cNvSpPr>
          <p:nvPr/>
        </p:nvSpPr>
        <p:spPr bwMode="auto">
          <a:xfrm flipH="1">
            <a:off x="204628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2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AutoShape 59"/>
          <p:cNvCxnSpPr>
            <a:stCxn id="1054746" idx="1"/>
            <a:endCxn id="4" idx="6"/>
          </p:cNvCxnSpPr>
          <p:nvPr/>
        </p:nvCxnSpPr>
        <p:spPr>
          <a:xfrm flipV="1">
            <a:off x="858520" y="3907790"/>
            <a:ext cx="1179195" cy="5530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6" name="Oval 60"/>
          <p:cNvSpPr/>
          <p:nvPr/>
        </p:nvSpPr>
        <p:spPr>
          <a:xfrm>
            <a:off x="131254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7" name="Oval 27"/>
          <p:cNvSpPr>
            <a:spLocks noChangeArrowheads="1"/>
          </p:cNvSpPr>
          <p:nvPr/>
        </p:nvSpPr>
        <p:spPr bwMode="auto">
          <a:xfrm flipH="1">
            <a:off x="3480118" y="376269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5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8" name="AutoShape 59"/>
          <p:cNvCxnSpPr>
            <a:endCxn id="7" idx="6"/>
          </p:cNvCxnSpPr>
          <p:nvPr/>
        </p:nvCxnSpPr>
        <p:spPr>
          <a:xfrm>
            <a:off x="2333625" y="3907790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9" name="Oval 60"/>
          <p:cNvSpPr/>
          <p:nvPr/>
        </p:nvSpPr>
        <p:spPr>
          <a:xfrm>
            <a:off x="2773680" y="37626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Oval 27"/>
          <p:cNvSpPr>
            <a:spLocks noChangeArrowheads="1"/>
          </p:cNvSpPr>
          <p:nvPr/>
        </p:nvSpPr>
        <p:spPr bwMode="auto">
          <a:xfrm flipH="1">
            <a:off x="3480118" y="441864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6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" name="AutoShape 59"/>
          <p:cNvCxnSpPr>
            <a:endCxn id="10" idx="6"/>
          </p:cNvCxnSpPr>
          <p:nvPr/>
        </p:nvCxnSpPr>
        <p:spPr>
          <a:xfrm>
            <a:off x="2333625" y="456374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2" name="Oval 60"/>
          <p:cNvSpPr/>
          <p:nvPr/>
        </p:nvSpPr>
        <p:spPr>
          <a:xfrm>
            <a:off x="2773680" y="44186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3" name="Oval 27"/>
          <p:cNvSpPr>
            <a:spLocks noChangeArrowheads="1"/>
          </p:cNvSpPr>
          <p:nvPr/>
        </p:nvSpPr>
        <p:spPr bwMode="auto">
          <a:xfrm flipH="1">
            <a:off x="4906328" y="441610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8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4" name="AutoShape 59"/>
          <p:cNvCxnSpPr>
            <a:endCxn id="13" idx="6"/>
          </p:cNvCxnSpPr>
          <p:nvPr/>
        </p:nvCxnSpPr>
        <p:spPr>
          <a:xfrm>
            <a:off x="3759835" y="4561205"/>
            <a:ext cx="113792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cxnSp>
      <p:sp useBgFill="1">
        <p:nvSpPr>
          <p:cNvPr id="15" name="Oval 60"/>
          <p:cNvSpPr/>
          <p:nvPr/>
        </p:nvSpPr>
        <p:spPr>
          <a:xfrm>
            <a:off x="4199890" y="44161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6" name="Oval 27"/>
          <p:cNvSpPr>
            <a:spLocks noChangeArrowheads="1"/>
          </p:cNvSpPr>
          <p:nvPr/>
        </p:nvSpPr>
        <p:spPr bwMode="auto">
          <a:xfrm flipH="1">
            <a:off x="205390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4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AutoShape 59"/>
          <p:cNvCxnSpPr>
            <a:stCxn id="1054746" idx="3"/>
            <a:endCxn id="16" idx="6"/>
          </p:cNvCxnSpPr>
          <p:nvPr/>
        </p:nvCxnSpPr>
        <p:spPr>
          <a:xfrm>
            <a:off x="858520" y="4664710"/>
            <a:ext cx="1186815" cy="8197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8" name="Oval 60"/>
          <p:cNvSpPr/>
          <p:nvPr/>
        </p:nvSpPr>
        <p:spPr>
          <a:xfrm>
            <a:off x="1347470" y="505237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20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>
            <a:stCxn id="16" idx="0"/>
            <a:endCxn id="1054747" idx="4"/>
          </p:cNvCxnSpPr>
          <p:nvPr/>
        </p:nvCxnSpPr>
        <p:spPr>
          <a:xfrm flipH="1" flipV="1">
            <a:off x="2181860" y="4707255"/>
            <a:ext cx="6985" cy="63246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20" name="Oval 60"/>
          <p:cNvSpPr/>
          <p:nvPr/>
        </p:nvSpPr>
        <p:spPr>
          <a:xfrm>
            <a:off x="2045970" y="4931410"/>
            <a:ext cx="287655" cy="287020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 flipH="1">
            <a:off x="348011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7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Oval 27"/>
          <p:cNvSpPr>
            <a:spLocks noChangeArrowheads="1"/>
          </p:cNvSpPr>
          <p:nvPr/>
        </p:nvSpPr>
        <p:spPr bwMode="auto">
          <a:xfrm flipH="1">
            <a:off x="4906328" y="533939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9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Oval 27"/>
          <p:cNvSpPr>
            <a:spLocks noChangeArrowheads="1"/>
          </p:cNvSpPr>
          <p:nvPr/>
        </p:nvSpPr>
        <p:spPr bwMode="auto">
          <a:xfrm flipH="1">
            <a:off x="6228398" y="3776028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10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>
            <a:stCxn id="7" idx="2"/>
            <a:endCxn id="13" idx="7"/>
          </p:cNvCxnSpPr>
          <p:nvPr/>
        </p:nvCxnSpPr>
        <p:spPr>
          <a:xfrm>
            <a:off x="3759200" y="3907790"/>
            <a:ext cx="1180465" cy="55118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5" name="直接箭头连接符 24"/>
          <p:cNvCxnSpPr>
            <a:stCxn id="13" idx="1"/>
            <a:endCxn id="23" idx="6"/>
          </p:cNvCxnSpPr>
          <p:nvPr/>
        </p:nvCxnSpPr>
        <p:spPr>
          <a:xfrm flipV="1">
            <a:off x="5143500" y="3921125"/>
            <a:ext cx="1076325" cy="53784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6" name="直接箭头连接符 25"/>
          <p:cNvCxnSpPr>
            <a:stCxn id="23" idx="5"/>
            <a:endCxn id="22" idx="1"/>
          </p:cNvCxnSpPr>
          <p:nvPr/>
        </p:nvCxnSpPr>
        <p:spPr>
          <a:xfrm flipH="1">
            <a:off x="5143500" y="4022725"/>
            <a:ext cx="1118235" cy="135953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7" name="直接箭头连接符 26"/>
          <p:cNvCxnSpPr>
            <a:stCxn id="22" idx="6"/>
            <a:endCxn id="21" idx="2"/>
          </p:cNvCxnSpPr>
          <p:nvPr/>
        </p:nvCxnSpPr>
        <p:spPr>
          <a:xfrm flipH="1">
            <a:off x="375920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直接箭头连接符 27"/>
          <p:cNvCxnSpPr>
            <a:stCxn id="16" idx="2"/>
            <a:endCxn id="21" idx="6"/>
          </p:cNvCxnSpPr>
          <p:nvPr/>
        </p:nvCxnSpPr>
        <p:spPr>
          <a:xfrm>
            <a:off x="2332990" y="5484495"/>
            <a:ext cx="113855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直接箭头连接符 28"/>
          <p:cNvCxnSpPr>
            <a:stCxn id="16" idx="1"/>
            <a:endCxn id="10" idx="5"/>
          </p:cNvCxnSpPr>
          <p:nvPr/>
        </p:nvCxnSpPr>
        <p:spPr>
          <a:xfrm flipV="1">
            <a:off x="2291080" y="4665345"/>
            <a:ext cx="1222375" cy="71691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直接箭头连接符 29"/>
          <p:cNvCxnSpPr>
            <a:stCxn id="21" idx="1"/>
            <a:endCxn id="13" idx="5"/>
          </p:cNvCxnSpPr>
          <p:nvPr/>
        </p:nvCxnSpPr>
        <p:spPr>
          <a:xfrm flipV="1">
            <a:off x="3717290" y="4662805"/>
            <a:ext cx="1222375" cy="71945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1" name="Oval 60"/>
          <p:cNvSpPr/>
          <p:nvPr/>
        </p:nvSpPr>
        <p:spPr>
          <a:xfrm>
            <a:off x="4192905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2" name="Oval 60"/>
          <p:cNvSpPr/>
          <p:nvPr/>
        </p:nvSpPr>
        <p:spPr>
          <a:xfrm>
            <a:off x="5546090" y="406495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3" name="Oval 60"/>
          <p:cNvSpPr/>
          <p:nvPr/>
        </p:nvSpPr>
        <p:spPr>
          <a:xfrm>
            <a:off x="5546090" y="456342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4" name="Oval 60"/>
          <p:cNvSpPr/>
          <p:nvPr/>
        </p:nvSpPr>
        <p:spPr>
          <a:xfrm>
            <a:off x="4275455" y="534130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5" name="Oval 60"/>
          <p:cNvSpPr/>
          <p:nvPr/>
        </p:nvSpPr>
        <p:spPr>
          <a:xfrm>
            <a:off x="4213860" y="485044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6" name="Oval 60"/>
          <p:cNvSpPr/>
          <p:nvPr/>
        </p:nvSpPr>
        <p:spPr>
          <a:xfrm>
            <a:off x="2882265" y="480663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 useBgFill="1">
        <p:nvSpPr>
          <p:cNvPr id="37" name="Oval 60"/>
          <p:cNvSpPr/>
          <p:nvPr/>
        </p:nvSpPr>
        <p:spPr>
          <a:xfrm>
            <a:off x="2773680" y="538130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38" name="直接箭头连接符 37"/>
          <p:cNvCxnSpPr>
            <a:stCxn id="7" idx="5"/>
            <a:endCxn id="1054747" idx="1"/>
          </p:cNvCxnSpPr>
          <p:nvPr/>
        </p:nvCxnSpPr>
        <p:spPr>
          <a:xfrm flipH="1">
            <a:off x="2284095" y="4009390"/>
            <a:ext cx="1229360" cy="45148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39" name="Oval 60"/>
          <p:cNvSpPr/>
          <p:nvPr/>
        </p:nvSpPr>
        <p:spPr>
          <a:xfrm>
            <a:off x="2882265" y="409098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46" name="AutoShape 3"/>
          <p:cNvSpPr/>
          <p:nvPr/>
        </p:nvSpPr>
        <p:spPr>
          <a:xfrm>
            <a:off x="185483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AutoShape 4"/>
          <p:cNvSpPr/>
          <p:nvPr/>
        </p:nvSpPr>
        <p:spPr>
          <a:xfrm>
            <a:off x="223329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0" name="AutoShape 5"/>
          <p:cNvSpPr/>
          <p:nvPr/>
        </p:nvSpPr>
        <p:spPr>
          <a:xfrm>
            <a:off x="26117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1" name="AutoShape 6"/>
          <p:cNvSpPr/>
          <p:nvPr/>
        </p:nvSpPr>
        <p:spPr>
          <a:xfrm>
            <a:off x="298958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AutoShape 7"/>
          <p:cNvSpPr/>
          <p:nvPr/>
        </p:nvSpPr>
        <p:spPr>
          <a:xfrm>
            <a:off x="336804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374650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4" name="AutoShape 9"/>
          <p:cNvSpPr/>
          <p:nvPr/>
        </p:nvSpPr>
        <p:spPr>
          <a:xfrm>
            <a:off x="4123055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AutoShape 14"/>
          <p:cNvSpPr/>
          <p:nvPr/>
        </p:nvSpPr>
        <p:spPr>
          <a:xfrm>
            <a:off x="5213350" y="213169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10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AutoShape 9"/>
          <p:cNvSpPr/>
          <p:nvPr/>
        </p:nvSpPr>
        <p:spPr>
          <a:xfrm>
            <a:off x="449326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AutoShape 3"/>
          <p:cNvSpPr/>
          <p:nvPr>
            <p:custDataLst>
              <p:tags r:id="rId1"/>
            </p:custDataLst>
          </p:nvPr>
        </p:nvSpPr>
        <p:spPr>
          <a:xfrm>
            <a:off x="22066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AutoShape 5"/>
          <p:cNvSpPr/>
          <p:nvPr/>
        </p:nvSpPr>
        <p:spPr>
          <a:xfrm>
            <a:off x="29635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AutoShape 6"/>
          <p:cNvSpPr/>
          <p:nvPr/>
        </p:nvSpPr>
        <p:spPr>
          <a:xfrm>
            <a:off x="334200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5" name="AutoShape 7"/>
          <p:cNvSpPr/>
          <p:nvPr/>
        </p:nvSpPr>
        <p:spPr>
          <a:xfrm>
            <a:off x="372046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AutoShape 8"/>
          <p:cNvSpPr/>
          <p:nvPr/>
        </p:nvSpPr>
        <p:spPr>
          <a:xfrm>
            <a:off x="409892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9" name="AutoShape 9"/>
          <p:cNvSpPr/>
          <p:nvPr/>
        </p:nvSpPr>
        <p:spPr>
          <a:xfrm>
            <a:off x="44773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AutoShape 14"/>
          <p:cNvSpPr/>
          <p:nvPr/>
        </p:nvSpPr>
        <p:spPr>
          <a:xfrm>
            <a:off x="1833801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endParaRPr kumimoji="1" lang="en-US" altLang="zh-CN" sz="1500" b="1" dirty="0" smtClean="0">
              <a:ln>
                <a:noFill/>
              </a:ln>
              <a:solidFill>
                <a:schemeClr val="bg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7" name="AutoShape 9"/>
          <p:cNvSpPr/>
          <p:nvPr/>
        </p:nvSpPr>
        <p:spPr>
          <a:xfrm>
            <a:off x="485489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8" name="AutoShape 9"/>
          <p:cNvSpPr/>
          <p:nvPr/>
        </p:nvSpPr>
        <p:spPr>
          <a:xfrm>
            <a:off x="4855210" y="2127885"/>
            <a:ext cx="323850" cy="323850"/>
          </a:xfrm>
          <a:prstGeom prst="roundRect">
            <a:avLst>
              <a:gd name="adj" fmla="val 16667"/>
            </a:avLst>
          </a:prstGeom>
          <a:noFill/>
          <a:ln>
            <a:noFill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p>
            <a:pPr algn="ctr"/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9</a:t>
            </a:r>
            <a:endParaRPr lang="en-US" altLang="zh-CN" sz="900" b="1" dirty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AutoShape 9"/>
          <p:cNvSpPr/>
          <p:nvPr/>
        </p:nvSpPr>
        <p:spPr>
          <a:xfrm>
            <a:off x="5213033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AutoShape 7"/>
          <p:cNvSpPr/>
          <p:nvPr/>
        </p:nvSpPr>
        <p:spPr>
          <a:xfrm>
            <a:off x="3724275" y="23876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43560" y="2375535"/>
            <a:ext cx="7289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dis[n]</a:t>
            </a:r>
            <a:endParaRPr lang="en-US">
              <a:sym typeface="+mn-ea"/>
            </a:endParaRPr>
          </a:p>
        </p:txBody>
      </p:sp>
      <p:sp>
        <p:nvSpPr>
          <p:cNvPr id="62" name="AutoShape 9"/>
          <p:cNvSpPr/>
          <p:nvPr/>
        </p:nvSpPr>
        <p:spPr>
          <a:xfrm>
            <a:off x="4458335" y="23907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∞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6185" name="AutoShape 66"/>
          <p:cNvSpPr/>
          <p:nvPr>
            <p:custDataLst>
              <p:tags r:id="rId2"/>
            </p:custDataLst>
          </p:nvPr>
        </p:nvSpPr>
        <p:spPr>
          <a:xfrm flipV="1">
            <a:off x="1513840" y="1521460"/>
            <a:ext cx="4789170" cy="4546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92169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18884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1" name="AutoShape 5"/>
          <p:cNvSpPr/>
          <p:nvPr/>
        </p:nvSpPr>
        <p:spPr>
          <a:xfrm>
            <a:off x="2963545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Oval 105"/>
          <p:cNvSpPr>
            <a:spLocks noChangeArrowheads="1"/>
          </p:cNvSpPr>
          <p:nvPr/>
        </p:nvSpPr>
        <p:spPr bwMode="auto">
          <a:xfrm>
            <a:off x="592105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Oval 105"/>
          <p:cNvSpPr>
            <a:spLocks noChangeArrowheads="1"/>
          </p:cNvSpPr>
          <p:nvPr/>
        </p:nvSpPr>
        <p:spPr bwMode="auto">
          <a:xfrm>
            <a:off x="554513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AutoShape 6"/>
          <p:cNvSpPr/>
          <p:nvPr/>
        </p:nvSpPr>
        <p:spPr>
          <a:xfrm>
            <a:off x="3313430" y="239077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5" name="Oval 105"/>
          <p:cNvSpPr>
            <a:spLocks noChangeArrowheads="1"/>
          </p:cNvSpPr>
          <p:nvPr/>
        </p:nvSpPr>
        <p:spPr bwMode="auto">
          <a:xfrm>
            <a:off x="5148263" y="162750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AutoShape 4"/>
          <p:cNvSpPr/>
          <p:nvPr/>
        </p:nvSpPr>
        <p:spPr>
          <a:xfrm>
            <a:off x="258508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717290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8" name="AutoShape 8"/>
          <p:cNvSpPr/>
          <p:nvPr/>
        </p:nvSpPr>
        <p:spPr>
          <a:xfrm>
            <a:off x="4098925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24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9" name="Oval 105"/>
          <p:cNvSpPr>
            <a:spLocks noChangeArrowheads="1"/>
          </p:cNvSpPr>
          <p:nvPr/>
        </p:nvSpPr>
        <p:spPr bwMode="auto">
          <a:xfrm>
            <a:off x="4823778" y="162750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Oval 105"/>
          <p:cNvSpPr>
            <a:spLocks noChangeArrowheads="1"/>
          </p:cNvSpPr>
          <p:nvPr/>
        </p:nvSpPr>
        <p:spPr bwMode="auto">
          <a:xfrm>
            <a:off x="446246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" name="Oval 105"/>
          <p:cNvSpPr>
            <a:spLocks noChangeArrowheads="1"/>
          </p:cNvSpPr>
          <p:nvPr/>
        </p:nvSpPr>
        <p:spPr bwMode="auto">
          <a:xfrm>
            <a:off x="409098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AutoShape 9"/>
          <p:cNvSpPr/>
          <p:nvPr/>
        </p:nvSpPr>
        <p:spPr>
          <a:xfrm>
            <a:off x="4458335" y="23977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3" name="AutoShape 4"/>
          <p:cNvSpPr/>
          <p:nvPr>
            <p:custDataLst>
              <p:tags r:id="rId3"/>
            </p:custDataLst>
          </p:nvPr>
        </p:nvSpPr>
        <p:spPr>
          <a:xfrm>
            <a:off x="2585085" y="24199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4" name="Oval 105"/>
          <p:cNvSpPr>
            <a:spLocks noChangeArrowheads="1"/>
          </p:cNvSpPr>
          <p:nvPr/>
        </p:nvSpPr>
        <p:spPr bwMode="auto">
          <a:xfrm>
            <a:off x="375570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5" name="Oval 105"/>
          <p:cNvSpPr>
            <a:spLocks noChangeArrowheads="1"/>
          </p:cNvSpPr>
          <p:nvPr/>
        </p:nvSpPr>
        <p:spPr bwMode="auto">
          <a:xfrm>
            <a:off x="337089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AutoShape 9"/>
          <p:cNvSpPr/>
          <p:nvPr>
            <p:custDataLst>
              <p:tags r:id="rId4"/>
            </p:custDataLst>
          </p:nvPr>
        </p:nvSpPr>
        <p:spPr>
          <a:xfrm>
            <a:off x="5213350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7" name="AutoShape 9"/>
          <p:cNvSpPr/>
          <p:nvPr>
            <p:custDataLst>
              <p:tags r:id="rId5"/>
            </p:custDataLst>
          </p:nvPr>
        </p:nvSpPr>
        <p:spPr>
          <a:xfrm>
            <a:off x="3717290" y="2413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8" name="Oval 105"/>
          <p:cNvSpPr>
            <a:spLocks noChangeArrowheads="1"/>
          </p:cNvSpPr>
          <p:nvPr/>
        </p:nvSpPr>
        <p:spPr bwMode="auto">
          <a:xfrm>
            <a:off x="301974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Oval 105"/>
          <p:cNvSpPr>
            <a:spLocks noChangeArrowheads="1"/>
          </p:cNvSpPr>
          <p:nvPr/>
        </p:nvSpPr>
        <p:spPr bwMode="auto">
          <a:xfrm>
            <a:off x="261715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AutoShape 9"/>
          <p:cNvSpPr/>
          <p:nvPr>
            <p:custDataLst>
              <p:tags r:id="rId6"/>
            </p:custDataLst>
          </p:nvPr>
        </p:nvSpPr>
        <p:spPr>
          <a:xfrm>
            <a:off x="2585085" y="24199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1" name="Oval 105"/>
          <p:cNvSpPr>
            <a:spLocks noChangeArrowheads="1"/>
          </p:cNvSpPr>
          <p:nvPr/>
        </p:nvSpPr>
        <p:spPr bwMode="auto">
          <a:xfrm>
            <a:off x="2254568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AutoShape 9"/>
          <p:cNvSpPr/>
          <p:nvPr>
            <p:custDataLst>
              <p:tags r:id="rId7"/>
            </p:custDataLst>
          </p:nvPr>
        </p:nvSpPr>
        <p:spPr>
          <a:xfrm>
            <a:off x="4855210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3" name="Oval 105"/>
          <p:cNvSpPr>
            <a:spLocks noChangeArrowheads="1"/>
          </p:cNvSpPr>
          <p:nvPr/>
        </p:nvSpPr>
        <p:spPr bwMode="auto">
          <a:xfrm>
            <a:off x="189833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AutoShape 8"/>
          <p:cNvSpPr/>
          <p:nvPr>
            <p:custDataLst>
              <p:tags r:id="rId8"/>
            </p:custDataLst>
          </p:nvPr>
        </p:nvSpPr>
        <p:spPr>
          <a:xfrm>
            <a:off x="4070350" y="240474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ctr"/>
            <a:r>
              <a:rPr kumimoji="1" lang="en-US" altLang="zh-CN" sz="1500" b="1" smtClean="0">
                <a:ln>
                  <a:noFill/>
                </a:ln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5" name="Oval 10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603693" y="161226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929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8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4" dur="1000" fill="hold"/>
                                        <p:tgtEl>
                                          <p:spTgt spid="105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20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9" dur="2000" fill="hold"/>
                                        <p:tgtEl>
                                          <p:spTgt spid="1054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3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6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0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1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9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2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0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3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1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35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a4436"/>
                                      </p:to>
                                    </p:animClr>
                                    <p:set>
                                      <p:cBhvr>
                                        <p:cTn id="31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2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29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7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9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</p:childTnLst>
        </p:cTn>
      </p:par>
    </p:tnLst>
    <p:bldLst>
      <p:bldP spid="6185" grpId="0" bldLvl="0" animBg="1"/>
      <p:bldP spid="929897" grpId="0" bldLvl="0" animBg="1"/>
      <p:bldP spid="929897" grpId="1" bldLvl="0" animBg="1"/>
      <p:bldP spid="4" grpId="0" animBg="1"/>
      <p:bldP spid="16" grpId="0" animBg="1"/>
      <p:bldP spid="929897" grpId="2" bldLvl="0" animBg="1"/>
      <p:bldP spid="102" grpId="0" bldLvl="0" animBg="1"/>
      <p:bldP spid="102" grpId="2" bldLvl="0" animBg="1"/>
      <p:bldP spid="103" grpId="0" bldLvl="0" animBg="1"/>
      <p:bldP spid="103" grpId="2" bldLvl="0" animBg="1"/>
      <p:bldP spid="3" grpId="0" animBg="1"/>
      <p:bldP spid="101" grpId="0" animBg="1"/>
      <p:bldP spid="102" grpId="3" bldLvl="0" animBg="1"/>
      <p:bldP spid="104" grpId="0" animBg="1"/>
      <p:bldP spid="105" grpId="0" bldLvl="0" animBg="1"/>
      <p:bldP spid="105" grpId="2" bldLvl="0" animBg="1"/>
      <p:bldP spid="103" grpId="3" bldLvl="0" animBg="1"/>
      <p:bldP spid="103" grpId="4" bldLvl="0" animBg="1"/>
      <p:bldP spid="109" grpId="0" bldLvl="0" animBg="1"/>
      <p:bldP spid="109" grpId="2" bldLvl="0" animBg="1"/>
      <p:bldP spid="110" grpId="0" bldLvl="0" animBg="1"/>
      <p:bldP spid="110" grpId="2" bldLvl="0" animBg="1"/>
      <p:bldP spid="111" grpId="0" bldLvl="0" animBg="1"/>
      <p:bldP spid="111" grpId="2" bldLvl="0" animBg="1"/>
      <p:bldP spid="106" grpId="0" animBg="1"/>
      <p:bldP spid="107" grpId="0" animBg="1"/>
      <p:bldP spid="108" grpId="0" animBg="1"/>
      <p:bldP spid="7" grpId="0" animBg="1"/>
      <p:bldP spid="105" grpId="3" bldLvl="0" animBg="1"/>
      <p:bldP spid="113" grpId="0" bldLvl="0" animBg="1"/>
      <p:bldP spid="114" grpId="0" bldLvl="0" animBg="1"/>
      <p:bldP spid="114" grpId="2" bldLvl="0" animBg="1"/>
      <p:bldP spid="115" grpId="0" bldLvl="0" animBg="1"/>
      <p:bldP spid="115" grpId="2" bldLvl="0" animBg="1"/>
      <p:bldP spid="112" grpId="0" animBg="1"/>
      <p:bldP spid="109" grpId="3" bldLvl="0" animBg="1"/>
      <p:bldP spid="109" grpId="4" bldLvl="0" animBg="1"/>
      <p:bldP spid="1054747" grpId="0" animBg="1"/>
      <p:bldP spid="110" grpId="3" bldLvl="0" animBg="1"/>
      <p:bldP spid="110" grpId="4" bldLvl="0" animBg="1"/>
      <p:bldP spid="10" grpId="0" animBg="1"/>
      <p:bldP spid="111" grpId="3" bldLvl="0" animBg="1"/>
      <p:bldP spid="111" grpId="4" bldLvl="0" animBg="1"/>
      <p:bldP spid="21" grpId="0" animBg="1"/>
      <p:bldP spid="21" grpId="1" animBg="1"/>
      <p:bldP spid="114" grpId="3" bldLvl="0" animBg="1"/>
      <p:bldP spid="114" grpId="4" bldLvl="0" animBg="1"/>
      <p:bldP spid="115" grpId="3" bldLvl="0" animBg="1"/>
      <p:bldP spid="115" grpId="4" bldLvl="0" animBg="1"/>
      <p:bldP spid="13" grpId="0" animBg="1"/>
      <p:bldP spid="116" grpId="0" bldLvl="0" animBg="1"/>
      <p:bldP spid="117" grpId="0" bldLvl="0" animBg="1"/>
      <p:bldP spid="118" grpId="0" bldLvl="0" animBg="1"/>
      <p:bldP spid="118" grpId="2" bldLvl="0" animBg="1"/>
      <p:bldP spid="119" grpId="0" bldLvl="0" animBg="1"/>
      <p:bldP spid="119" grpId="2" bldLvl="0" animBg="1"/>
      <p:bldP spid="118" grpId="3" bldLvl="0" animBg="1"/>
      <p:bldP spid="118" grpId="4" bldLvl="0" animBg="1"/>
      <p:bldP spid="120" grpId="0" bldLvl="0" animBg="1"/>
      <p:bldP spid="121" grpId="0" bldLvl="0" animBg="1"/>
      <p:bldP spid="121" grpId="2" bldLvl="0" animBg="1"/>
      <p:bldP spid="119" grpId="3" bldLvl="0" animBg="1"/>
      <p:bldP spid="119" grpId="4" bldLvl="0" animBg="1"/>
      <p:bldP spid="23" grpId="0" animBg="1"/>
      <p:bldP spid="122" grpId="0" bldLvl="0" animBg="1"/>
      <p:bldP spid="123" grpId="0" bldLvl="0" animBg="1"/>
      <p:bldP spid="123" grpId="2" bldLvl="0" animBg="1"/>
      <p:bldP spid="121" grpId="3" bldLvl="0" animBg="1"/>
      <p:bldP spid="121" grpId="4" bldLvl="0" animBg="1"/>
      <p:bldP spid="123" grpId="3" bldLvl="0" animBg="1"/>
      <p:bldP spid="123" grpId="4" bldLvl="0" animBg="1"/>
      <p:bldP spid="22" grpId="0" animBg="1"/>
      <p:bldP spid="124" grpId="0" bldLvl="0" animBg="1"/>
      <p:bldP spid="125" grpId="0" bldLvl="0" animBg="1"/>
      <p:bldP spid="125" grpId="2" bldLvl="0" animBg="1"/>
      <p:bldP spid="125" grpId="3" bldLvl="0" animBg="1"/>
      <p:bldP spid="125" grpId="4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59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0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p="http://schemas.openxmlformats.org/presentationml/2006/main">
  <p:tag name="KSO_WM_UNIT_TABLE_BEAUTIFY" val="smartTable{ad65b87d-3cc9-4a12-896b-88fabba7a4a1}"/>
  <p:tag name="TABLE_ENDDRAG_ORIGIN_RECT" val="423*110"/>
  <p:tag name="TABLE_ENDDRAG_RECT" val="108*223*423*110"/>
</p:tagLst>
</file>

<file path=ppt/tags/tag103.xml><?xml version="1.0" encoding="utf-8"?>
<p:tagLst xmlns:p="http://schemas.openxmlformats.org/presentationml/2006/main">
  <p:tag name="KSO_WM_UNIT_TABLE_BEAUTIFY" val="smartTable{9d8d8393-ffb7-424a-b35c-78db60540153}"/>
  <p:tag name="TABLE_ENDDRAG_ORIGIN_RECT" val="429*69"/>
  <p:tag name="TABLE_ENDDRAG_RECT" val="147*416*429*69"/>
  <p:tag name="KSO_WM_BEAUTIFY_FLAG" val=""/>
</p:tagLst>
</file>

<file path=ppt/tags/tag104.xml><?xml version="1.0" encoding="utf-8"?>
<p:tagLst xmlns:p="http://schemas.openxmlformats.org/presentationml/2006/main">
  <p:tag name="RAINPROBLEM" val="ProblemBody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0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13.xml><?xml version="1.0" encoding="utf-8"?>
<p:tagLst xmlns:p="http://schemas.openxmlformats.org/presentationml/2006/main">
  <p:tag name="RAINPROBLEM" val="ProblemSubmit"/>
  <p:tag name="RAINPROBLEMTYPE" val="MultipleChoiceMA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RAINPROBLEMTYPE" val="ProblemTypeMarker"/>
</p:tagLst>
</file>

<file path=ppt/tags/tag151.xml><?xml version="1.0" encoding="utf-8"?>
<p:tagLst xmlns:p="http://schemas.openxmlformats.org/presentationml/2006/main">
  <p:tag name="RAINPROBLEMTYPE" val="ProblemTypeMarker"/>
</p:tagLst>
</file>

<file path=ppt/tags/tag152.xml><?xml version="1.0" encoding="utf-8"?>
<p:tagLst xmlns:p="http://schemas.openxmlformats.org/presentationml/2006/main">
  <p:tag name="RAINPROBLEMTYPE" val="ProblemTypeMarker"/>
</p:tagLst>
</file>

<file path=ppt/tags/tag153.xml><?xml version="1.0" encoding="utf-8"?>
<p:tagLst xmlns:p="http://schemas.openxmlformats.org/presentationml/2006/main">
  <p:tag name="RAINPROBLEMTYPE" val="ProblemTypeMarker"/>
</p:tagLst>
</file>

<file path=ppt/tags/tag154.xml><?xml version="1.0" encoding="utf-8"?>
<p:tagLst xmlns:p="http://schemas.openxmlformats.org/presentationml/2006/main">
  <p:tag name="RAINPROBLEMTYPE" val="ProblemTypeMarker"/>
</p:tagLst>
</file>

<file path=ppt/tags/tag155.xml><?xml version="1.0" encoding="utf-8"?>
<p:tagLst xmlns:p="http://schemas.openxmlformats.org/presentationml/2006/main">
  <p:tag name="RAINPROBLEM" val="ProblemSetting"/>
  <p:tag name="RAINPROBLEMTYPE" val="MultipleChoiceMA"/>
</p:tagLst>
</file>

<file path=ppt/tags/tag156.xml><?xml version="1.0" encoding="utf-8"?>
<p:tagLst xmlns:p="http://schemas.openxmlformats.org/presentationml/2006/main">
  <p:tag name="RAINPROBLEM" val="MultipleChoiceMA"/>
  <p:tag name="PROBLEMSCORE" val="1.0"/>
  <p:tag name="RAINPROBLEMTYPE" val="MultipleChoiceMA"/>
  <p:tag name="PROBLEMSCORE_HALF" val="0.0"/>
</p:tagLst>
</file>

<file path=ppt/tags/tag15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3.xml><?xml version="1.0" encoding="utf-8"?>
<p:tagLst xmlns:p="http://schemas.openxmlformats.org/presentationml/2006/main">
  <p:tag name="KSO_WM_UNIT_TABLE_BEAUTIFY" val="smartTable{59fe7bdc-2cd0-4a90-867d-383fac97d7ca}"/>
  <p:tag name="TABLE_ENDDRAG_ORIGIN_RECT" val="419*57"/>
  <p:tag name="TABLE_ENDDRAG_RECT" val="82*228*419*57"/>
</p:tagLst>
</file>

<file path=ppt/tags/tag1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6.xml><?xml version="1.0" encoding="utf-8"?>
<p:tagLst xmlns:p="http://schemas.openxmlformats.org/presentationml/2006/main">
  <p:tag name="KSO_WM_UNIT_TABLE_BEAUTIFY" val="smartTable{c9d243b7-4734-4d0c-ae65-7934a2ccaf2a}"/>
</p:tagLst>
</file>

<file path=ppt/tags/tag1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68.xml><?xml version="1.0" encoding="utf-8"?>
<p:tagLst xmlns:p="http://schemas.openxmlformats.org/presentationml/2006/main">
  <p:tag name="KSO_WM_UNIT_TABLE_BEAUTIFY" val="smartTable{7b470eef-05af-4ec7-9036-5464d86ae832}"/>
</p:tagLst>
</file>

<file path=ppt/tags/tag169.xml><?xml version="1.0" encoding="utf-8"?>
<p:tagLst xmlns:p="http://schemas.openxmlformats.org/presentationml/2006/main">
  <p:tag name="KSO_WM_UNIT_TABLE_BEAUTIFY" val="smartTable{fe552f6c-966e-4da2-93e2-a264d881cf77}"/>
</p:tagLst>
</file>

<file path=ppt/tags/tag1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1.xml><?xml version="1.0" encoding="utf-8"?>
<p:tagLst xmlns:p="http://schemas.openxmlformats.org/presentationml/2006/main">
  <p:tag name="KSO_WM_UNIT_TABLE_BEAUTIFY" val="smartTable{a3db69d3-ff8c-48f9-8530-98424484c251}"/>
</p:tagLst>
</file>

<file path=ppt/tags/tag172.xml><?xml version="1.0" encoding="utf-8"?>
<p:tagLst xmlns:p="http://schemas.openxmlformats.org/presentationml/2006/main">
  <p:tag name="KSO_WM_UNIT_TABLE_BEAUTIFY" val="smartTable{7c316a8b-307f-4b4f-9221-e8267ba12ab4}"/>
</p:tagLst>
</file>

<file path=ppt/tags/tag1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4.xml><?xml version="1.0" encoding="utf-8"?>
<p:tagLst xmlns:p="http://schemas.openxmlformats.org/presentationml/2006/main">
  <p:tag name="KSO_WM_UNIT_TABLE_BEAUTIFY" val="smartTable{fb428664-b3e3-4e14-a2ee-8b3cad43c48c}"/>
</p:tagLst>
</file>

<file path=ppt/tags/tag175.xml><?xml version="1.0" encoding="utf-8"?>
<p:tagLst xmlns:p="http://schemas.openxmlformats.org/presentationml/2006/main">
  <p:tag name="KSO_WM_UNIT_TABLE_BEAUTIFY" val="smartTable{473d9b03-687d-4820-8dd2-629638ff85f2}"/>
</p:tagLst>
</file>

<file path=ppt/tags/tag17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77.xml><?xml version="1.0" encoding="utf-8"?>
<p:tagLst xmlns:p="http://schemas.openxmlformats.org/presentationml/2006/main">
  <p:tag name="KSO_WM_UNIT_TABLE_BEAUTIFY" val="smartTable{c8e0d013-e94c-4314-972d-b303fe477cf1}"/>
</p:tagLst>
</file>

<file path=ppt/tags/tag178.xml><?xml version="1.0" encoding="utf-8"?>
<p:tagLst xmlns:p="http://schemas.openxmlformats.org/presentationml/2006/main">
  <p:tag name="KSO_WM_UNIT_TABLE_BEAUTIFY" val="smartTable{11788b54-5c85-4215-be40-e33392460006}"/>
</p:tagLst>
</file>

<file path=ppt/tags/tag17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80.xml><?xml version="1.0" encoding="utf-8"?>
<p:tagLst xmlns:p="http://schemas.openxmlformats.org/presentationml/2006/main">
  <p:tag name="KSO_WM_UNIT_TABLE_BEAUTIFY" val="smartTable{a730ff88-1613-42ac-832e-fbf93eca13a0}"/>
</p:tagLst>
</file>

<file path=ppt/tags/tag1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82.xml><?xml version="1.0" encoding="utf-8"?>
<p:tagLst xmlns:p="http://schemas.openxmlformats.org/presentationml/2006/main">
  <p:tag name="KSO_WM_UNIT_TABLE_BEAUTIFY" val="smartTable{5a0e417c-77b7-401d-9649-3ec4ffdcb4f2}"/>
</p:tagLst>
</file>

<file path=ppt/tags/tag183.xml><?xml version="1.0" encoding="utf-8"?>
<p:tagLst xmlns:p="http://schemas.openxmlformats.org/presentationml/2006/main">
  <p:tag name="KSO_WM_UNIT_TABLE_BEAUTIFY" val="smartTable{c7be213e-55a0-48c7-802b-e76bf972fcee}"/>
</p:tagLst>
</file>

<file path=ppt/tags/tag184.xml><?xml version="1.0" encoding="utf-8"?>
<p:tagLst xmlns:p="http://schemas.openxmlformats.org/presentationml/2006/main">
  <p:tag name="KSO_WM_UNIT_TABLE_BEAUTIFY" val="smartTable{1e9df731-049e-49a7-be4e-ce763198b454}"/>
</p:tagLst>
</file>

<file path=ppt/tags/tag18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86.xml><?xml version="1.0" encoding="utf-8"?>
<p:tagLst xmlns:p="http://schemas.openxmlformats.org/presentationml/2006/main">
  <p:tag name="KSO_WM_UNIT_TABLE_BEAUTIFY" val="smartTable{823a2d7e-7b85-4ecb-8b0c-16a78d07c0ff}"/>
</p:tagLst>
</file>

<file path=ppt/tags/tag187.xml><?xml version="1.0" encoding="utf-8"?>
<p:tagLst xmlns:p="http://schemas.openxmlformats.org/presentationml/2006/main">
  <p:tag name="KSO_WM_UNIT_TABLE_BEAUTIFY" val="smartTable{04e13f58-e498-4c15-937d-0850b6d86cb9}"/>
</p:tagLst>
</file>

<file path=ppt/tags/tag188.xml><?xml version="1.0" encoding="utf-8"?>
<p:tagLst xmlns:p="http://schemas.openxmlformats.org/presentationml/2006/main">
  <p:tag name="KSO_WM_UNIT_TABLE_BEAUTIFY" val="smartTable{9c890b6b-6150-40bd-ab6a-8b4fe8577712}"/>
</p:tagLst>
</file>

<file path=ppt/tags/tag18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90.xml><?xml version="1.0" encoding="utf-8"?>
<p:tagLst xmlns:p="http://schemas.openxmlformats.org/presentationml/2006/main">
  <p:tag name="KSO_WM_UNIT_TABLE_BEAUTIFY" val="smartTable{a2c223c8-ff45-4f20-85ad-9b08264ff87f}"/>
</p:tagLst>
</file>

<file path=ppt/tags/tag191.xml><?xml version="1.0" encoding="utf-8"?>
<p:tagLst xmlns:p="http://schemas.openxmlformats.org/presentationml/2006/main">
  <p:tag name="KSO_WM_UNIT_TABLE_BEAUTIFY" val="smartTable{560cd95f-5781-47ed-b521-930d1d445363}"/>
</p:tagLst>
</file>

<file path=ppt/tags/tag192.xml><?xml version="1.0" encoding="utf-8"?>
<p:tagLst xmlns:p="http://schemas.openxmlformats.org/presentationml/2006/main">
  <p:tag name="KSO_WM_UNIT_TABLE_BEAUTIFY" val="smartTable{1332914d-1460-40e2-899d-d4818b29b18c}"/>
</p:tagLst>
</file>

<file path=ppt/tags/tag19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94.xml><?xml version="1.0" encoding="utf-8"?>
<p:tagLst xmlns:p="http://schemas.openxmlformats.org/presentationml/2006/main">
  <p:tag name="KSO_WM_UNIT_TABLE_BEAUTIFY" val="smartTable{373241ce-c11b-461b-8af4-3f502e83ed59}"/>
</p:tagLst>
</file>

<file path=ppt/tags/tag195.xml><?xml version="1.0" encoding="utf-8"?>
<p:tagLst xmlns:p="http://schemas.openxmlformats.org/presentationml/2006/main">
  <p:tag name="KSO_WM_UNIT_TABLE_BEAUTIFY" val="smartTable{89b27683-c734-42eb-b84e-77b9c9c1ee39}"/>
</p:tagLst>
</file>

<file path=ppt/tags/tag196.xml><?xml version="1.0" encoding="utf-8"?>
<p:tagLst xmlns:p="http://schemas.openxmlformats.org/presentationml/2006/main">
  <p:tag name="KSO_WM_UNIT_TABLE_BEAUTIFY" val="smartTable{1eb7e11f-f293-4704-a8e4-0cdaf6fdb6d4}"/>
</p:tagLst>
</file>

<file path=ppt/tags/tag19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0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0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0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06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07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08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09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10.xml><?xml version="1.0" encoding="utf-8"?>
<p:tagLst xmlns:p="http://schemas.openxmlformats.org/presentationml/2006/main">
  <p:tag name="KSO_WM_UNIT_TABLE_BEAUTIFY" val="smartTable{c9d243b7-4734-4d0c-ae65-7934a2ccaf2a}"/>
  <p:tag name="TABLE_ENDDRAG_ORIGIN_RECT" val="153*301"/>
  <p:tag name="TABLE_ENDDRAG_RECT" val="557*88*153*301"/>
</p:tagLst>
</file>

<file path=ppt/tags/tag21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1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1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14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2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25.xml><?xml version="1.0" encoding="utf-8"?>
<p:tagLst xmlns:p="http://schemas.openxmlformats.org/presentationml/2006/main">
  <p:tag name="KSO_WPP_MARK_KEY" val="039345ef-93a6-4423-9aba-2ddb598f91dc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8583</Words>
  <Application>WPS 演示</Application>
  <PresentationFormat>全屏显示(4:3)</PresentationFormat>
  <Paragraphs>2684</Paragraphs>
  <Slides>55</Slides>
  <Notes>84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72" baseType="lpstr">
      <vt:lpstr>Arial</vt:lpstr>
      <vt:lpstr>宋体</vt:lpstr>
      <vt:lpstr>Wingdings</vt:lpstr>
      <vt:lpstr>Microsoft YaHei UI</vt:lpstr>
      <vt:lpstr>微软雅黑</vt:lpstr>
      <vt:lpstr>Times New Roman</vt:lpstr>
      <vt:lpstr>Consolas</vt:lpstr>
      <vt:lpstr>黑体</vt:lpstr>
      <vt:lpstr>楷体_GB2312</vt:lpstr>
      <vt:lpstr>新宋体</vt:lpstr>
      <vt:lpstr>Symbol</vt:lpstr>
      <vt:lpstr>Calibri</vt:lpstr>
      <vt:lpstr>Arial Unicode MS</vt:lpstr>
      <vt:lpstr>Arial Unicode MS</vt:lpstr>
      <vt:lpstr>Tahoma</vt:lpstr>
      <vt:lpstr>basetag20163155_docer802382.通用教学课件</vt:lpstr>
      <vt:lpstr>1_Office 主题​​</vt:lpstr>
      <vt:lpstr>第11讲  图（2）</vt:lpstr>
      <vt:lpstr>主要内容</vt:lpstr>
      <vt:lpstr>最短路径</vt:lpstr>
      <vt:lpstr>问题描述</vt:lpstr>
      <vt:lpstr>最短路径问题</vt:lpstr>
      <vt:lpstr>单源最短路径</vt:lpstr>
      <vt:lpstr>单源最短路径</vt:lpstr>
      <vt:lpstr>E. W. Dijkstra</vt:lpstr>
      <vt:lpstr>单源最短路径</vt:lpstr>
      <vt:lpstr>Dijkstra算法</vt:lpstr>
      <vt:lpstr>单源最短路径例（1）</vt:lpstr>
      <vt:lpstr>实现</vt:lpstr>
      <vt:lpstr>运算实例：解题形式1</vt:lpstr>
      <vt:lpstr>单源最短路径例（2）</vt:lpstr>
      <vt:lpstr>单源最短路径例（2）</vt:lpstr>
      <vt:lpstr>单源最短路径例（2）</vt:lpstr>
      <vt:lpstr>Dijkstra算法伪代码</vt:lpstr>
      <vt:lpstr>无序链表实现</vt:lpstr>
      <vt:lpstr>无序链表实现（续）</vt:lpstr>
      <vt:lpstr>无序链表实现（续）</vt:lpstr>
      <vt:lpstr>无序链表实现（续）</vt:lpstr>
      <vt:lpstr>Dijkstra算法时间复杂度</vt:lpstr>
      <vt:lpstr>SPT-shortest path tree</vt:lpstr>
      <vt:lpstr>PowerPoint 演示文稿</vt:lpstr>
      <vt:lpstr>多源最短路径</vt:lpstr>
      <vt:lpstr>每一对点的最短路径</vt:lpstr>
      <vt:lpstr>PowerPoint 演示文稿</vt:lpstr>
      <vt:lpstr>Floyd算法</vt:lpstr>
      <vt:lpstr>Floyd算法</vt:lpstr>
      <vt:lpstr>如何计算c(i, j, k)</vt:lpstr>
      <vt:lpstr>如何计算c(i, j, k)</vt:lpstr>
      <vt:lpstr>迭代计算伪代码</vt:lpstr>
      <vt:lpstr>Floyd算法例</vt:lpstr>
      <vt:lpstr>Floyd算法例（续）</vt:lpstr>
      <vt:lpstr>Floyd算法例（续）</vt:lpstr>
      <vt:lpstr>Floyd算法例（续）</vt:lpstr>
      <vt:lpstr>Floyd算法例（续）</vt:lpstr>
      <vt:lpstr>Floyd算法例</vt:lpstr>
      <vt:lpstr>Floyd算法例（续）</vt:lpstr>
      <vt:lpstr>Floyd算法例（续）</vt:lpstr>
      <vt:lpstr>Floyd算法例（续）</vt:lpstr>
      <vt:lpstr>Floyd算法例（续）</vt:lpstr>
      <vt:lpstr>最终代码</vt:lpstr>
      <vt:lpstr>最终代码（续）</vt:lpstr>
      <vt:lpstr>最终代码（续）</vt:lpstr>
      <vt:lpstr>最终代码（续）</vt:lpstr>
      <vt:lpstr>Floyd算法总结</vt:lpstr>
      <vt:lpstr>其他最短路径计算方法</vt:lpstr>
      <vt:lpstr>单源最短路径-Bellman-Ford算法</vt:lpstr>
      <vt:lpstr>Bellman-Ford算法</vt:lpstr>
      <vt:lpstr>Bellman-Ford</vt:lpstr>
      <vt:lpstr>Bellman-Ford算法分析</vt:lpstr>
      <vt:lpstr>Shortest Path Faster Algorithm-SPFA</vt:lpstr>
      <vt:lpstr>SPFA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136</cp:revision>
  <cp:lastPrinted>2017-09-11T08:45:00Z</cp:lastPrinted>
  <dcterms:created xsi:type="dcterms:W3CDTF">2017-09-04T08:16:00Z</dcterms:created>
  <dcterms:modified xsi:type="dcterms:W3CDTF">2024-12-03T07:35:17Z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97CF4AE2314444A3916A9098D4212607</vt:lpwstr>
  </property>
</Properties>
</file>