
<file path=[Content_Types].xml><?xml version="1.0" encoding="utf-8"?>
<Types xmlns="http://schemas.openxmlformats.org/package/2006/content-types">
  <Default Extension="GIF" ContentType="image/gif"/>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tags/tag2.xml" ContentType="application/vnd.openxmlformats-officedocument.presentationml.tags+xml"/>
  <Override PartName="/ppt/notesSlides/notesSlide27.xml" ContentType="application/vnd.openxmlformats-officedocument.presentationml.notesSlide+xml"/>
  <Override PartName="/ppt/tags/tag3.xml" ContentType="application/vnd.openxmlformats-officedocument.presentationml.tags+xml"/>
  <Override PartName="/ppt/notesSlides/notesSlide28.xml" ContentType="application/vnd.openxmlformats-officedocument.presentationml.notesSlide+xml"/>
  <Override PartName="/ppt/tags/tag4.xml" ContentType="application/vnd.openxmlformats-officedocument.presentationml.tags+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0"/>
  </p:notesMasterIdLst>
  <p:sldIdLst>
    <p:sldId id="256" r:id="rId2"/>
    <p:sldId id="411" r:id="rId3"/>
    <p:sldId id="310" r:id="rId4"/>
    <p:sldId id="311" r:id="rId5"/>
    <p:sldId id="312" r:id="rId6"/>
    <p:sldId id="264" r:id="rId7"/>
    <p:sldId id="350" r:id="rId8"/>
    <p:sldId id="351" r:id="rId9"/>
    <p:sldId id="352" r:id="rId10"/>
    <p:sldId id="353" r:id="rId11"/>
    <p:sldId id="354" r:id="rId12"/>
    <p:sldId id="376" r:id="rId13"/>
    <p:sldId id="378" r:id="rId14"/>
    <p:sldId id="379" r:id="rId15"/>
    <p:sldId id="313" r:id="rId16"/>
    <p:sldId id="355" r:id="rId17"/>
    <p:sldId id="322" r:id="rId18"/>
    <p:sldId id="356" r:id="rId19"/>
    <p:sldId id="357" r:id="rId20"/>
    <p:sldId id="358" r:id="rId21"/>
    <p:sldId id="359" r:id="rId22"/>
    <p:sldId id="361" r:id="rId23"/>
    <p:sldId id="360" r:id="rId24"/>
    <p:sldId id="314" r:id="rId25"/>
    <p:sldId id="409" r:id="rId26"/>
    <p:sldId id="338" r:id="rId27"/>
    <p:sldId id="363" r:id="rId28"/>
    <p:sldId id="364" r:id="rId29"/>
    <p:sldId id="365" r:id="rId30"/>
    <p:sldId id="366" r:id="rId31"/>
    <p:sldId id="367" r:id="rId32"/>
    <p:sldId id="315" r:id="rId33"/>
    <p:sldId id="344" r:id="rId34"/>
    <p:sldId id="410" r:id="rId35"/>
    <p:sldId id="369" r:id="rId36"/>
    <p:sldId id="374" r:id="rId37"/>
    <p:sldId id="375" r:id="rId38"/>
    <p:sldId id="349" r:id="rId39"/>
  </p:sldIdLst>
  <p:sldSz cx="12192000" cy="6858000"/>
  <p:notesSz cx="6858000" cy="9144000"/>
  <p:custDataLst>
    <p:tags r:id="rId4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1"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E9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153" autoAdjust="0"/>
    <p:restoredTop sz="95594" autoAdjust="0"/>
  </p:normalViewPr>
  <p:slideViewPr>
    <p:cSldViewPr snapToGrid="0" showGuides="1">
      <p:cViewPr varScale="1">
        <p:scale>
          <a:sx n="94" d="100"/>
          <a:sy n="94" d="100"/>
        </p:scale>
        <p:origin x="684" y="64"/>
      </p:cViewPr>
      <p:guideLst>
        <p:guide orient="horz" pos="2131"/>
        <p:guide pos="3840"/>
      </p:guideLst>
    </p:cSldViewPr>
  </p:slideViewPr>
  <p:notesTextViewPr>
    <p:cViewPr>
      <p:scale>
        <a:sx n="1" d="1"/>
        <a:sy n="1" d="1"/>
      </p:scale>
      <p:origin x="0" y="0"/>
    </p:cViewPr>
  </p:notesTextViewPr>
  <p:sorterViewPr>
    <p:cViewPr>
      <p:scale>
        <a:sx n="139" d="100"/>
        <a:sy n="139"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85CE5F-2384-4ECA-A1A3-47861EA0C823}" type="datetimeFigureOut">
              <a:rPr lang="zh-CN" altLang="en-US" smtClean="0"/>
              <a:t>2023/10/28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2CD896-5BB0-47EA-A9FD-AA08636F55D3}"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A2CD896-5BB0-47EA-A9FD-AA08636F55D3}"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A2CD896-5BB0-47EA-A9FD-AA08636F55D3}" type="slidenum">
              <a:rPr lang="zh-CN" altLang="en-US" smtClean="0"/>
              <a:t>3</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A2CD896-5BB0-47EA-A9FD-AA08636F55D3}" type="slidenum">
              <a:rPr lang="zh-CN" altLang="en-US" smtClean="0"/>
              <a:t>4</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A2CD896-5BB0-47EA-A9FD-AA08636F55D3}" type="slidenum">
              <a:rPr lang="zh-CN" altLang="en-US" smtClean="0"/>
              <a:t>5</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F56E22E-BD2F-4CC6-B6B8-732D02813C51}" type="slidenum">
              <a:rPr lang="zh-CN" altLang="en-US" smtClean="0">
                <a:solidFill>
                  <a:prstClr val="black"/>
                </a:solidFill>
              </a:rPr>
              <a:t>6</a:t>
            </a:fld>
            <a:endParaRPr lang="zh-CN" altLang="en-US">
              <a:solidFill>
                <a:prstClr val="black"/>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F56E22E-BD2F-4CC6-B6B8-732D02813C51}" type="slidenum">
              <a:rPr lang="zh-CN" altLang="en-US" smtClean="0">
                <a:solidFill>
                  <a:prstClr val="black"/>
                </a:solidFill>
              </a:rPr>
              <a:t>7</a:t>
            </a:fld>
            <a:endParaRPr lang="zh-CN" altLang="en-US">
              <a:solidFill>
                <a:prstClr val="black"/>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F56E22E-BD2F-4CC6-B6B8-732D02813C51}" type="slidenum">
              <a:rPr lang="zh-CN" altLang="en-US" smtClean="0">
                <a:solidFill>
                  <a:prstClr val="black"/>
                </a:solidFill>
              </a:rPr>
              <a:t>8</a:t>
            </a:fld>
            <a:endParaRPr lang="zh-CN" altLang="en-US">
              <a:solidFill>
                <a:prstClr val="black"/>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F56E22E-BD2F-4CC6-B6B8-732D02813C51}" type="slidenum">
              <a:rPr lang="zh-CN" altLang="en-US" smtClean="0">
                <a:solidFill>
                  <a:prstClr val="black"/>
                </a:solidFill>
              </a:rPr>
              <a:t>9</a:t>
            </a:fld>
            <a:endParaRPr lang="zh-CN" altLang="en-US">
              <a:solidFill>
                <a:prstClr val="black"/>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F56E22E-BD2F-4CC6-B6B8-732D02813C51}" type="slidenum">
              <a:rPr lang="zh-CN" altLang="en-US" smtClean="0">
                <a:solidFill>
                  <a:prstClr val="black"/>
                </a:solidFill>
              </a:rPr>
              <a:t>10</a:t>
            </a:fld>
            <a:endParaRPr lang="zh-CN" altLang="en-US">
              <a:solidFill>
                <a:prstClr val="black"/>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F56E22E-BD2F-4CC6-B6B8-732D02813C51}" type="slidenum">
              <a:rPr lang="zh-CN" altLang="en-US" smtClean="0">
                <a:solidFill>
                  <a:prstClr val="black"/>
                </a:solidFill>
              </a:rPr>
              <a:t>11</a:t>
            </a:fld>
            <a:endParaRPr lang="zh-CN" altLang="en-US">
              <a:solidFill>
                <a:prstClr val="black"/>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F56E22E-BD2F-4CC6-B6B8-732D02813C51}" type="slidenum">
              <a:rPr lang="zh-CN" altLang="en-US" smtClean="0">
                <a:solidFill>
                  <a:prstClr val="black"/>
                </a:solidFill>
              </a:rPr>
              <a:t>12</a:t>
            </a:fld>
            <a:endParaRPr lang="zh-CN" altLang="en-US">
              <a:solidFill>
                <a:prstClr val="black"/>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F56E22E-BD2F-4CC6-B6B8-732D02813C51}" type="slidenum">
              <a:rPr lang="zh-CN" altLang="en-US" smtClean="0">
                <a:solidFill>
                  <a:prstClr val="black"/>
                </a:solidFill>
              </a:rPr>
              <a:t>13</a:t>
            </a:fld>
            <a:endParaRPr lang="zh-CN" altLang="en-US">
              <a:solidFill>
                <a:prstClr val="black"/>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F56E22E-BD2F-4CC6-B6B8-732D02813C51}" type="slidenum">
              <a:rPr lang="zh-CN" altLang="en-US" smtClean="0">
                <a:solidFill>
                  <a:prstClr val="black"/>
                </a:solidFill>
              </a:rPr>
              <a:t>14</a:t>
            </a:fld>
            <a:endParaRPr lang="zh-CN" altLang="en-US">
              <a:solidFill>
                <a:prstClr val="black"/>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A2CD896-5BB0-47EA-A9FD-AA08636F55D3}" type="slidenum">
              <a:rPr lang="zh-CN" altLang="en-US" smtClean="0"/>
              <a:t>15</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F56E22E-BD2F-4CC6-B6B8-732D02813C51}" type="slidenum">
              <a:rPr lang="zh-CN" altLang="en-US" smtClean="0">
                <a:solidFill>
                  <a:prstClr val="black"/>
                </a:solidFill>
              </a:rPr>
              <a:t>16</a:t>
            </a:fld>
            <a:endParaRPr lang="zh-CN" altLang="en-US">
              <a:solidFill>
                <a:prstClr val="black"/>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F56E22E-BD2F-4CC6-B6B8-732D02813C51}" type="slidenum">
              <a:rPr lang="zh-CN" altLang="en-US" smtClean="0">
                <a:solidFill>
                  <a:prstClr val="black"/>
                </a:solidFill>
              </a:rPr>
              <a:t>17</a:t>
            </a:fld>
            <a:endParaRPr lang="zh-CN" altLang="en-US">
              <a:solidFill>
                <a:prstClr val="black"/>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F56E22E-BD2F-4CC6-B6B8-732D02813C51}" type="slidenum">
              <a:rPr lang="zh-CN" altLang="en-US" smtClean="0">
                <a:solidFill>
                  <a:prstClr val="black"/>
                </a:solidFill>
              </a:rPr>
              <a:t>18</a:t>
            </a:fld>
            <a:endParaRPr lang="zh-CN" altLang="en-US">
              <a:solidFill>
                <a:prstClr val="black"/>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F56E22E-BD2F-4CC6-B6B8-732D02813C51}" type="slidenum">
              <a:rPr lang="zh-CN" altLang="en-US" smtClean="0">
                <a:solidFill>
                  <a:prstClr val="black"/>
                </a:solidFill>
              </a:rPr>
              <a:t>19</a:t>
            </a:fld>
            <a:endParaRPr lang="zh-CN" altLang="en-US">
              <a:solidFill>
                <a:prstClr val="black"/>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F56E22E-BD2F-4CC6-B6B8-732D02813C51}" type="slidenum">
              <a:rPr lang="zh-CN" altLang="en-US" smtClean="0">
                <a:solidFill>
                  <a:prstClr val="black"/>
                </a:solidFill>
              </a:rPr>
              <a:t>20</a:t>
            </a:fld>
            <a:endParaRPr lang="zh-CN" altLang="en-US">
              <a:solidFill>
                <a:prstClr val="black"/>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F56E22E-BD2F-4CC6-B6B8-732D02813C51}" type="slidenum">
              <a:rPr lang="zh-CN" altLang="en-US" smtClean="0">
                <a:solidFill>
                  <a:prstClr val="black"/>
                </a:solidFill>
              </a:rPr>
              <a:t>21</a:t>
            </a:fld>
            <a:endParaRPr lang="zh-CN" altLang="en-US">
              <a:solidFill>
                <a:prstClr val="black"/>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F56E22E-BD2F-4CC6-B6B8-732D02813C51}" type="slidenum">
              <a:rPr lang="zh-CN" altLang="en-US" smtClean="0">
                <a:solidFill>
                  <a:prstClr val="black"/>
                </a:solidFill>
              </a:rPr>
              <a:t>22</a:t>
            </a:fld>
            <a:endParaRPr lang="zh-CN" altLang="en-US">
              <a:solidFill>
                <a:prstClr val="black"/>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F56E22E-BD2F-4CC6-B6B8-732D02813C51}" type="slidenum">
              <a:rPr lang="zh-CN" altLang="en-US" smtClean="0">
                <a:solidFill>
                  <a:prstClr val="black"/>
                </a:solidFill>
              </a:rPr>
              <a:t>23</a:t>
            </a:fld>
            <a:endParaRPr lang="zh-CN" altLang="en-US">
              <a:solidFill>
                <a:prstClr val="black"/>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A2CD896-5BB0-47EA-A9FD-AA08636F55D3}" type="slidenum">
              <a:rPr lang="zh-CN" altLang="en-US" smtClean="0"/>
              <a:t>24</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F56E22E-BD2F-4CC6-B6B8-732D02813C51}" type="slidenum">
              <a:rPr lang="zh-CN" altLang="en-US" smtClean="0">
                <a:solidFill>
                  <a:prstClr val="black"/>
                </a:solidFill>
              </a:rPr>
              <a:t>25</a:t>
            </a:fld>
            <a:endParaRPr lang="zh-CN" altLang="en-US">
              <a:solidFill>
                <a:prstClr val="black"/>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F56E22E-BD2F-4CC6-B6B8-732D02813C51}" type="slidenum">
              <a:rPr lang="zh-CN" altLang="en-US" smtClean="0">
                <a:solidFill>
                  <a:prstClr val="black"/>
                </a:solidFill>
              </a:rPr>
              <a:t>26</a:t>
            </a:fld>
            <a:endParaRPr lang="zh-CN" altLang="en-US">
              <a:solidFill>
                <a:prstClr val="black"/>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F56E22E-BD2F-4CC6-B6B8-732D02813C51}" type="slidenum">
              <a:rPr lang="zh-CN" altLang="en-US" smtClean="0">
                <a:solidFill>
                  <a:prstClr val="black"/>
                </a:solidFill>
              </a:rPr>
              <a:t>27</a:t>
            </a:fld>
            <a:endParaRPr lang="zh-CN" altLang="en-US">
              <a:solidFill>
                <a:prstClr val="black"/>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F56E22E-BD2F-4CC6-B6B8-732D02813C51}" type="slidenum">
              <a:rPr lang="zh-CN" altLang="en-US" smtClean="0">
                <a:solidFill>
                  <a:prstClr val="black"/>
                </a:solidFill>
              </a:rPr>
              <a:t>28</a:t>
            </a:fld>
            <a:endParaRPr lang="zh-CN" altLang="en-US">
              <a:solidFill>
                <a:prstClr val="black"/>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F56E22E-BD2F-4CC6-B6B8-732D02813C51}" type="slidenum">
              <a:rPr lang="zh-CN" altLang="en-US" smtClean="0">
                <a:solidFill>
                  <a:prstClr val="black"/>
                </a:solidFill>
              </a:rPr>
              <a:t>29</a:t>
            </a:fld>
            <a:endParaRPr lang="zh-CN" altLang="en-US">
              <a:solidFill>
                <a:prstClr val="black"/>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F56E22E-BD2F-4CC6-B6B8-732D02813C51}" type="slidenum">
              <a:rPr lang="zh-CN" altLang="en-US" smtClean="0">
                <a:solidFill>
                  <a:prstClr val="black"/>
                </a:solidFill>
              </a:rPr>
              <a:t>30</a:t>
            </a:fld>
            <a:endParaRPr lang="zh-CN" altLang="en-US">
              <a:solidFill>
                <a:prstClr val="black"/>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F56E22E-BD2F-4CC6-B6B8-732D02813C51}" type="slidenum">
              <a:rPr lang="zh-CN" altLang="en-US" smtClean="0">
                <a:solidFill>
                  <a:prstClr val="black"/>
                </a:solidFill>
              </a:rPr>
              <a:t>31</a:t>
            </a:fld>
            <a:endParaRPr lang="zh-CN" altLang="en-US">
              <a:solidFill>
                <a:prstClr val="black"/>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A2CD896-5BB0-47EA-A9FD-AA08636F55D3}" type="slidenum">
              <a:rPr lang="zh-CN" altLang="en-US" smtClean="0"/>
              <a:t>32</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F56E22E-BD2F-4CC6-B6B8-732D02813C51}" type="slidenum">
              <a:rPr lang="zh-CN" altLang="en-US" smtClean="0">
                <a:solidFill>
                  <a:prstClr val="black"/>
                </a:solidFill>
              </a:rPr>
              <a:t>33</a:t>
            </a:fld>
            <a:endParaRPr lang="zh-CN" altLang="en-US">
              <a:solidFill>
                <a:prstClr val="black"/>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F56E22E-BD2F-4CC6-B6B8-732D02813C51}" type="slidenum">
              <a:rPr lang="zh-CN" altLang="en-US" smtClean="0">
                <a:solidFill>
                  <a:prstClr val="black"/>
                </a:solidFill>
              </a:rPr>
              <a:t>34</a:t>
            </a:fld>
            <a:endParaRPr lang="zh-CN" altLang="en-US">
              <a:solidFill>
                <a:prstClr val="black"/>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F56E22E-BD2F-4CC6-B6B8-732D02813C51}" type="slidenum">
              <a:rPr lang="zh-CN" altLang="en-US" smtClean="0">
                <a:solidFill>
                  <a:prstClr val="black"/>
                </a:solidFill>
              </a:rPr>
              <a:t>35</a:t>
            </a:fld>
            <a:endParaRPr lang="zh-CN" altLang="en-US">
              <a:solidFill>
                <a:prstClr val="black"/>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A2CD896-5BB0-47EA-A9FD-AA08636F55D3}"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36</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F56E22E-BD2F-4CC6-B6B8-732D02813C51}" type="slidenum">
              <a:rPr lang="zh-CN" altLang="en-US" smtClean="0">
                <a:solidFill>
                  <a:prstClr val="black"/>
                </a:solidFill>
              </a:rPr>
              <a:t>37</a:t>
            </a:fld>
            <a:endParaRPr lang="zh-CN" altLang="en-US">
              <a:solidFill>
                <a:prstClr val="black"/>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A2CD896-5BB0-47EA-A9FD-AA08636F55D3}" type="slidenum">
              <a:rPr lang="zh-CN" altLang="en-US" smtClean="0"/>
              <a:t>38</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节标题">
    <p:bg>
      <p:bgPr>
        <a:blipFill rotWithShape="1">
          <a:blip r:embed="rId2"/>
          <a:stretch>
            <a:fillRect t="-3000" b="-3000"/>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10" advTm="0"/>
    </mc:Choice>
    <mc:Fallback xmlns="">
      <p:transition advTm="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22516C88-1DBC-4A6F-B7E7-3EF051E8B715}" type="datetimeFigureOut">
              <a:rPr lang="zh-CN" altLang="en-US" smtClean="0"/>
              <a:t>2023/10/28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FBB8A7E-8CFB-4EE6-B02F-58142BF95AC5}"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advTm="0"/>
    </mc:Choice>
    <mc:Fallback xmlns="">
      <p:transition advTm="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22516C88-1DBC-4A6F-B7E7-3EF051E8B715}" type="datetimeFigureOut">
              <a:rPr lang="zh-CN" altLang="en-US" smtClean="0"/>
              <a:t>2023/10/28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FBB8A7E-8CFB-4EE6-B02F-58142BF95AC5}"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advTm="0"/>
    </mc:Choice>
    <mc:Fallback xmlns="">
      <p:transition advTm="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22516C88-1DBC-4A6F-B7E7-3EF051E8B715}" type="datetimeFigureOut">
              <a:rPr lang="zh-CN" altLang="en-US" smtClean="0"/>
              <a:t>2023/10/28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FBB8A7E-8CFB-4EE6-B02F-58142BF95AC5}"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advTm="0"/>
    </mc:Choice>
    <mc:Fallback xmlns="">
      <p:transition advTm="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22516C88-1DBC-4A6F-B7E7-3EF051E8B715}" type="datetimeFigureOut">
              <a:rPr lang="zh-CN" altLang="en-US" smtClean="0"/>
              <a:t>2023/10/28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FBB8A7E-8CFB-4EE6-B02F-58142BF95AC5}"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advTm="0"/>
    </mc:Choice>
    <mc:Fallback xmlns="">
      <p:transition advTm="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550D784D-74CC-49A9-95D7-F9265270368D}" type="datetimeFigureOut">
              <a:rPr lang="zh-CN" altLang="en-US" smtClean="0"/>
              <a:t>2023/10/28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0B9CE88-B01A-4C96-939E-9A9613C2A59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advTm="0"/>
    </mc:Choice>
    <mc:Fallback xmlns="">
      <p:transition advTm="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50D784D-74CC-49A9-95D7-F9265270368D}" type="datetimeFigureOut">
              <a:rPr lang="zh-CN" altLang="en-US" smtClean="0"/>
              <a:t>2023/10/28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0B9CE88-B01A-4C96-939E-9A9613C2A59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advTm="0"/>
    </mc:Choice>
    <mc:Fallback xmlns="">
      <p:transition advTm="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50D784D-74CC-49A9-95D7-F9265270368D}" type="datetimeFigureOut">
              <a:rPr lang="zh-CN" altLang="en-US" smtClean="0"/>
              <a:t>2023/10/28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0B9CE88-B01A-4C96-939E-9A9613C2A59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advTm="0"/>
    </mc:Choice>
    <mc:Fallback xmlns="">
      <p:transition advTm="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50D784D-74CC-49A9-95D7-F9265270368D}" type="datetimeFigureOut">
              <a:rPr lang="zh-CN" altLang="en-US" smtClean="0"/>
              <a:t>2023/10/28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0B9CE88-B01A-4C96-939E-9A9613C2A59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advTm="0"/>
    </mc:Choice>
    <mc:Fallback xmlns="">
      <p:transition advTm="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50D784D-74CC-49A9-95D7-F9265270368D}" type="datetimeFigureOut">
              <a:rPr lang="zh-CN" altLang="en-US" smtClean="0"/>
              <a:t>2023/10/28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0B9CE88-B01A-4C96-939E-9A9613C2A59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advTm="0"/>
    </mc:Choice>
    <mc:Fallback xmlns="">
      <p:transition advTm="0"/>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550D784D-74CC-49A9-95D7-F9265270368D}" type="datetimeFigureOut">
              <a:rPr lang="zh-CN" altLang="en-US" smtClean="0"/>
              <a:t>2023/10/28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0B9CE88-B01A-4C96-939E-9A9613C2A59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advTm="0"/>
    </mc:Choice>
    <mc:Fallback xmlns="">
      <p:transition advTm="0"/>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550D784D-74CC-49A9-95D7-F9265270368D}" type="datetimeFigureOut">
              <a:rPr lang="zh-CN" altLang="en-US" smtClean="0"/>
              <a:t>2023/10/28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0B9CE88-B01A-4C96-939E-9A9613C2A59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advTm="0"/>
    </mc:Choice>
    <mc:Fallback xmlns="">
      <p:transition advTm="0"/>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10" advTm="0"/>
    </mc:Choice>
    <mc:Fallback xmlns="">
      <p:transition advTm="0"/>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节标题">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10" advTm="0"/>
    </mc:Choice>
    <mc:Fallback xmlns="">
      <p:transition advTm="0"/>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10" advTm="0"/>
    </mc:Choice>
    <mc:Fallback xmlns="">
      <p:transition advTm="0"/>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10" advTm="0"/>
    </mc:Choice>
    <mc:Fallback xmlns="">
      <p:transition advTm="0"/>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2516C88-1DBC-4A6F-B7E7-3EF051E8B715}" type="datetimeFigureOut">
              <a:rPr lang="zh-CN" altLang="en-US" smtClean="0"/>
              <a:t>2023/10/28</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BB8A7E-8CFB-4EE6-B02F-58142BF95AC5}"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mc:AlternateContent xmlns:mc="http://schemas.openxmlformats.org/markup-compatibility/2006" xmlns:p14="http://schemas.microsoft.com/office/powerpoint/2010/main">
    <mc:Choice Requires="p14">
      <p:transition p14:dur="10" advTm="0"/>
    </mc:Choice>
    <mc:Fallback xmlns="">
      <p:transition advTm="0"/>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3.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3.xml"/><Relationship Id="rId5" Type="http://schemas.openxmlformats.org/officeDocument/2006/relationships/image" Target="../media/image7.jpe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3.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3.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4.xml"/><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4.xml"/><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4.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4.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4.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4.xml"/><Relationship Id="rId5" Type="http://schemas.openxmlformats.org/officeDocument/2006/relationships/image" Target="../media/image20.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3.xml"/><Relationship Id="rId5" Type="http://schemas.openxmlformats.org/officeDocument/2006/relationships/image" Target="../media/image4.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14.xml"/><Relationship Id="rId4" Type="http://schemas.openxmlformats.org/officeDocument/2006/relationships/image" Target="../media/image21.jpeg"/></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14.xml"/><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14.xml"/><Relationship Id="rId5" Type="http://schemas.openxmlformats.org/officeDocument/2006/relationships/image" Target="../media/image24.png"/><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14.xml"/><Relationship Id="rId5" Type="http://schemas.openxmlformats.org/officeDocument/2006/relationships/image" Target="../media/image26.png"/><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14.xml"/><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14.xml"/><Relationship Id="rId4" Type="http://schemas.openxmlformats.org/officeDocument/2006/relationships/image" Target="../media/image28.png"/></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14.xml"/><Relationship Id="rId5" Type="http://schemas.openxmlformats.org/officeDocument/2006/relationships/image" Target="../media/image30.png"/><Relationship Id="rId4" Type="http://schemas.openxmlformats.org/officeDocument/2006/relationships/image" Target="../media/image29.png"/></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14.xml"/><Relationship Id="rId5" Type="http://schemas.openxmlformats.org/officeDocument/2006/relationships/image" Target="../media/image32.png"/><Relationship Id="rId4" Type="http://schemas.openxmlformats.org/officeDocument/2006/relationships/image" Target="../media/image31.png"/></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3.xml"/><Relationship Id="rId1" Type="http://schemas.openxmlformats.org/officeDocument/2006/relationships/slideLayout" Target="../slideLayouts/slideLayout13.xml"/><Relationship Id="rId5" Type="http://schemas.openxmlformats.org/officeDocument/2006/relationships/image" Target="../media/image4.pn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4.xml"/><Relationship Id="rId1" Type="http://schemas.openxmlformats.org/officeDocument/2006/relationships/slideLayout" Target="../slideLayouts/slideLayout14.xml"/><Relationship Id="rId4" Type="http://schemas.openxmlformats.org/officeDocument/2006/relationships/image" Target="../media/image33.jpeg"/></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5.xml"/><Relationship Id="rId1" Type="http://schemas.openxmlformats.org/officeDocument/2006/relationships/slideLayout" Target="../slideLayouts/slideLayout14.xml"/><Relationship Id="rId4" Type="http://schemas.openxmlformats.org/officeDocument/2006/relationships/image" Target="../media/image34.jpeg"/></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14.xml"/><Relationship Id="rId5" Type="http://schemas.openxmlformats.org/officeDocument/2006/relationships/image" Target="../media/image36.jpeg"/><Relationship Id="rId4" Type="http://schemas.openxmlformats.org/officeDocument/2006/relationships/image" Target="../media/image35.jpe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4.xml"/><Relationship Id="rId1" Type="http://schemas.openxmlformats.org/officeDocument/2006/relationships/tags" Target="../tags/tag2.xml"/><Relationship Id="rId4" Type="http://schemas.openxmlformats.org/officeDocument/2006/relationships/image" Target="../media/image6.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4.xml"/><Relationship Id="rId1" Type="http://schemas.openxmlformats.org/officeDocument/2006/relationships/tags" Target="../tags/tag3.xml"/><Relationship Id="rId5" Type="http://schemas.openxmlformats.org/officeDocument/2006/relationships/image" Target="../media/image37.GIF"/><Relationship Id="rId4" Type="http://schemas.openxmlformats.org/officeDocument/2006/relationships/image" Target="../media/image6.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4.xml"/><Relationship Id="rId1" Type="http://schemas.openxmlformats.org/officeDocument/2006/relationships/tags" Target="../tags/tag4.xml"/><Relationship Id="rId6" Type="http://schemas.openxmlformats.org/officeDocument/2006/relationships/image" Target="../media/image39.jpeg"/><Relationship Id="rId5" Type="http://schemas.openxmlformats.org/officeDocument/2006/relationships/image" Target="../media/image38.jpeg"/><Relationship Id="rId4" Type="http://schemas.openxmlformats.org/officeDocument/2006/relationships/image" Target="../media/image6.png"/></Relationships>
</file>

<file path=ppt/slides/_rels/slide3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0.xml"/><Relationship Id="rId1" Type="http://schemas.openxmlformats.org/officeDocument/2006/relationships/slideLayout" Target="../slideLayouts/slideLayout14.xml"/><Relationship Id="rId5" Type="http://schemas.openxmlformats.org/officeDocument/2006/relationships/image" Target="../media/image41.jpeg"/><Relationship Id="rId4" Type="http://schemas.openxmlformats.org/officeDocument/2006/relationships/image" Target="../media/image40.jpeg"/></Relationships>
</file>

<file path=ppt/slides/_rels/slide3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1.xml"/><Relationship Id="rId1" Type="http://schemas.openxmlformats.org/officeDocument/2006/relationships/slideLayout" Target="../slideLayouts/slideLayout13.xml"/><Relationship Id="rId5" Type="http://schemas.openxmlformats.org/officeDocument/2006/relationships/image" Target="../media/image4.png"/><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2.xml"/><Relationship Id="rId1" Type="http://schemas.openxmlformats.org/officeDocument/2006/relationships/slideLayout" Target="../slideLayouts/slideLayout14.xml"/><Relationship Id="rId4" Type="http://schemas.openxmlformats.org/officeDocument/2006/relationships/image" Target="../media/image42.jpeg"/></Relationships>
</file>

<file path=ppt/slides/_rels/slide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3.xml"/><Relationship Id="rId1" Type="http://schemas.openxmlformats.org/officeDocument/2006/relationships/slideLayout" Target="../slideLayouts/slideLayout14.xml"/><Relationship Id="rId4" Type="http://schemas.openxmlformats.org/officeDocument/2006/relationships/image" Target="../media/image43.jpeg"/></Relationships>
</file>

<file path=ppt/slides/_rels/slide3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4.xml"/><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5.xml"/><Relationship Id="rId1" Type="http://schemas.openxmlformats.org/officeDocument/2006/relationships/slideLayout" Target="../slideLayouts/slideLayout13.xml"/><Relationship Id="rId5" Type="http://schemas.openxmlformats.org/officeDocument/2006/relationships/image" Target="../media/image4.png"/><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6.xml"/><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13.xml"/><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图片 36"/>
          <p:cNvPicPr>
            <a:picLocks noChangeAspect="1"/>
          </p:cNvPicPr>
          <p:nvPr/>
        </p:nvPicPr>
        <p:blipFill>
          <a:blip r:embed="rId3" cstate="screen"/>
          <a:stretch>
            <a:fillRect/>
          </a:stretch>
        </p:blipFill>
        <p:spPr>
          <a:xfrm>
            <a:off x="7003723" y="2745633"/>
            <a:ext cx="5184990" cy="4147992"/>
          </a:xfrm>
          <a:prstGeom prst="rect">
            <a:avLst/>
          </a:prstGeom>
        </p:spPr>
      </p:pic>
      <p:pic>
        <p:nvPicPr>
          <p:cNvPr id="35" name="图片 34"/>
          <p:cNvPicPr>
            <a:picLocks noChangeAspect="1"/>
          </p:cNvPicPr>
          <p:nvPr/>
        </p:nvPicPr>
        <p:blipFill>
          <a:blip r:embed="rId4" cstate="screen"/>
          <a:stretch>
            <a:fillRect/>
          </a:stretch>
        </p:blipFill>
        <p:spPr>
          <a:xfrm>
            <a:off x="0" y="4049960"/>
            <a:ext cx="4460240" cy="2788989"/>
          </a:xfrm>
          <a:prstGeom prst="rect">
            <a:avLst/>
          </a:prstGeom>
        </p:spPr>
      </p:pic>
      <p:sp>
        <p:nvSpPr>
          <p:cNvPr id="30" name="矩形 29"/>
          <p:cNvSpPr/>
          <p:nvPr/>
        </p:nvSpPr>
        <p:spPr>
          <a:xfrm>
            <a:off x="502163" y="2190080"/>
            <a:ext cx="11187678" cy="1107996"/>
          </a:xfrm>
          <a:prstGeom prst="rect">
            <a:avLst/>
          </a:prstGeom>
        </p:spPr>
        <p:txBody>
          <a:bodyPr wrap="none">
            <a:spAutoFit/>
          </a:bodyPr>
          <a:lstStyle/>
          <a:p>
            <a:pPr algn="ctr"/>
            <a:r>
              <a:rPr lang="zh-CN" altLang="en-US" sz="6600" b="1" dirty="0">
                <a:solidFill>
                  <a:srgbClr val="C00000"/>
                </a:solidFill>
                <a:latin typeface="华文中宋" panose="02010600040101010101" pitchFamily="2" charset="-122"/>
                <a:ea typeface="华文中宋" panose="02010600040101010101" pitchFamily="2" charset="-122"/>
                <a:cs typeface="+mn-ea"/>
                <a:sym typeface="+mn-lt"/>
              </a:rPr>
              <a:t>中国近现代史上的“南开人”</a:t>
            </a:r>
          </a:p>
        </p:txBody>
      </p:sp>
      <p:sp>
        <p:nvSpPr>
          <p:cNvPr id="31" name="矩形 30"/>
          <p:cNvSpPr/>
          <p:nvPr/>
        </p:nvSpPr>
        <p:spPr>
          <a:xfrm>
            <a:off x="2966333" y="3853208"/>
            <a:ext cx="6186309" cy="584775"/>
          </a:xfrm>
          <a:prstGeom prst="rect">
            <a:avLst/>
          </a:prstGeom>
        </p:spPr>
        <p:txBody>
          <a:bodyPr wrap="none">
            <a:spAutoFit/>
          </a:bodyPr>
          <a:lstStyle/>
          <a:p>
            <a:pPr algn="ctr"/>
            <a:r>
              <a:rPr lang="en-US" altLang="zh-CN" sz="3200" b="1" dirty="0">
                <a:solidFill>
                  <a:srgbClr val="C00000"/>
                </a:solidFill>
                <a:latin typeface="字体视界-NEW魏碑体" panose="02010601030101010101" pitchFamily="2" charset="-122"/>
                <a:ea typeface="字体视界-NEW魏碑体" panose="02010601030101010101" pitchFamily="2" charset="-122"/>
                <a:cs typeface="+mn-ea"/>
                <a:sym typeface="+mn-lt"/>
              </a:rPr>
              <a:t>—— </a:t>
            </a:r>
            <a:r>
              <a:rPr lang="zh-CN" altLang="en-US" sz="3200" b="1" dirty="0">
                <a:solidFill>
                  <a:srgbClr val="C00000"/>
                </a:solidFill>
                <a:latin typeface="字体视界-NEW魏碑体" panose="02010601030101010101" pitchFamily="2" charset="-122"/>
                <a:ea typeface="字体视界-NEW魏碑体" panose="02010601030101010101" pitchFamily="2" charset="-122"/>
                <a:cs typeface="+mn-ea"/>
                <a:sym typeface="+mn-lt"/>
              </a:rPr>
              <a:t>周恩来：我是爱南开的</a:t>
            </a:r>
            <a:r>
              <a:rPr lang="en-US" altLang="zh-CN" sz="3200" b="1" dirty="0">
                <a:solidFill>
                  <a:srgbClr val="C00000"/>
                </a:solidFill>
                <a:latin typeface="字体视界-NEW魏碑体" panose="02010601030101010101" pitchFamily="2" charset="-122"/>
                <a:ea typeface="字体视界-NEW魏碑体" panose="02010601030101010101" pitchFamily="2" charset="-122"/>
                <a:cs typeface="+mn-ea"/>
                <a:sym typeface="+mn-lt"/>
              </a:rPr>
              <a:t>——</a:t>
            </a:r>
            <a:endParaRPr lang="zh-CN" altLang="en-US" sz="3200" b="1" dirty="0">
              <a:solidFill>
                <a:srgbClr val="C00000"/>
              </a:solidFill>
              <a:latin typeface="字体视界-NEW魏碑体" panose="02010601030101010101" pitchFamily="2" charset="-122"/>
              <a:ea typeface="字体视界-NEW魏碑体" panose="02010601030101010101" pitchFamily="2" charset="-122"/>
              <a:cs typeface="+mn-ea"/>
              <a:sym typeface="+mn-lt"/>
            </a:endParaRPr>
          </a:p>
        </p:txBody>
      </p:sp>
      <p:pic>
        <p:nvPicPr>
          <p:cNvPr id="33" name="图片 32"/>
          <p:cNvPicPr>
            <a:picLocks noChangeAspect="1"/>
          </p:cNvPicPr>
          <p:nvPr/>
        </p:nvPicPr>
        <p:blipFill>
          <a:blip r:embed="rId5"/>
          <a:stretch>
            <a:fillRect/>
          </a:stretch>
        </p:blipFill>
        <p:spPr>
          <a:xfrm>
            <a:off x="8167468" y="552220"/>
            <a:ext cx="2857500" cy="1190625"/>
          </a:xfrm>
          <a:prstGeom prst="rect">
            <a:avLst/>
          </a:prstGeom>
        </p:spPr>
      </p:pic>
      <p:sp>
        <p:nvSpPr>
          <p:cNvPr id="38" name="矩形 37"/>
          <p:cNvSpPr/>
          <p:nvPr/>
        </p:nvSpPr>
        <p:spPr>
          <a:xfrm>
            <a:off x="4389709" y="4709056"/>
            <a:ext cx="3241593" cy="1200329"/>
          </a:xfrm>
          <a:prstGeom prst="rect">
            <a:avLst/>
          </a:prstGeom>
        </p:spPr>
        <p:txBody>
          <a:bodyPr wrap="none">
            <a:spAutoFit/>
          </a:bodyPr>
          <a:lstStyle/>
          <a:p>
            <a:pPr algn="ctr"/>
            <a:r>
              <a:rPr lang="zh-CN" altLang="en-US" b="1" dirty="0">
                <a:latin typeface="字体视界-NEW魏碑体" panose="02010601030101010101" pitchFamily="2" charset="-122"/>
                <a:ea typeface="字体视界-NEW魏碑体" panose="02010601030101010101" pitchFamily="2" charset="-122"/>
                <a:cs typeface="+mn-ea"/>
                <a:sym typeface="+mn-lt"/>
              </a:rPr>
              <a:t>资料收集：陆皓喆、温馨  </a:t>
            </a:r>
            <a:endParaRPr lang="en-US" altLang="zh-CN" b="1" dirty="0">
              <a:latin typeface="字体视界-NEW魏碑体" panose="02010601030101010101" pitchFamily="2" charset="-122"/>
              <a:ea typeface="字体视界-NEW魏碑体" panose="02010601030101010101" pitchFamily="2" charset="-122"/>
              <a:cs typeface="+mn-ea"/>
              <a:sym typeface="+mn-lt"/>
            </a:endParaRPr>
          </a:p>
          <a:p>
            <a:pPr algn="ctr"/>
            <a:r>
              <a:rPr lang="en-US" altLang="zh-CN" b="1" dirty="0">
                <a:latin typeface="字体视界-NEW魏碑体" panose="02010601030101010101" pitchFamily="2" charset="-122"/>
                <a:ea typeface="字体视界-NEW魏碑体" panose="02010601030101010101" pitchFamily="2" charset="-122"/>
                <a:cs typeface="+mn-ea"/>
                <a:sym typeface="+mn-lt"/>
              </a:rPr>
              <a:t>PPT</a:t>
            </a:r>
            <a:r>
              <a:rPr lang="zh-CN" altLang="en-US" b="1" dirty="0">
                <a:latin typeface="字体视界-NEW魏碑体" panose="02010601030101010101" pitchFamily="2" charset="-122"/>
                <a:ea typeface="字体视界-NEW魏碑体" panose="02010601030101010101" pitchFamily="2" charset="-122"/>
                <a:cs typeface="+mn-ea"/>
                <a:sym typeface="+mn-lt"/>
              </a:rPr>
              <a:t>制作：陆皓喆、温馨</a:t>
            </a:r>
            <a:endParaRPr lang="en-US" altLang="zh-CN" b="1" dirty="0">
              <a:latin typeface="字体视界-NEW魏碑体" panose="02010601030101010101" pitchFamily="2" charset="-122"/>
              <a:ea typeface="字体视界-NEW魏碑体" panose="02010601030101010101" pitchFamily="2" charset="-122"/>
              <a:cs typeface="+mn-ea"/>
              <a:sym typeface="+mn-lt"/>
            </a:endParaRPr>
          </a:p>
          <a:p>
            <a:pPr algn="ctr"/>
            <a:r>
              <a:rPr lang="zh-CN" altLang="en-US" b="1" dirty="0">
                <a:latin typeface="字体视界-NEW魏碑体" panose="02010601030101010101" pitchFamily="2" charset="-122"/>
                <a:ea typeface="字体视界-NEW魏碑体" panose="02010601030101010101" pitchFamily="2" charset="-122"/>
                <a:cs typeface="+mn-ea"/>
                <a:sym typeface="+mn-lt"/>
              </a:rPr>
              <a:t>    汇报人：陆皓喆、温馨     </a:t>
            </a:r>
            <a:endParaRPr lang="en-US" altLang="zh-CN" b="1" dirty="0">
              <a:latin typeface="字体视界-NEW魏碑体" panose="02010601030101010101" pitchFamily="2" charset="-122"/>
              <a:ea typeface="字体视界-NEW魏碑体" panose="02010601030101010101" pitchFamily="2" charset="-122"/>
              <a:cs typeface="+mn-ea"/>
              <a:sym typeface="+mn-lt"/>
            </a:endParaRPr>
          </a:p>
          <a:p>
            <a:pPr algn="ctr"/>
            <a:r>
              <a:rPr lang="zh-CN" altLang="en-US" b="1" dirty="0">
                <a:latin typeface="字体视界-NEW魏碑体" panose="02010601030101010101" pitchFamily="2" charset="-122"/>
                <a:ea typeface="字体视界-NEW魏碑体" panose="02010601030101010101" pitchFamily="2" charset="-122"/>
                <a:cs typeface="+mn-ea"/>
                <a:sym typeface="+mn-lt"/>
              </a:rPr>
              <a:t> 汇报时间：</a:t>
            </a:r>
            <a:r>
              <a:rPr lang="en-US" altLang="zh-CN" b="1" dirty="0">
                <a:latin typeface="字体视界-NEW魏碑体" panose="02010601030101010101" pitchFamily="2" charset="-122"/>
                <a:ea typeface="字体视界-NEW魏碑体" panose="02010601030101010101" pitchFamily="2" charset="-122"/>
                <a:cs typeface="+mn-ea"/>
                <a:sym typeface="+mn-lt"/>
              </a:rPr>
              <a:t>2023</a:t>
            </a:r>
            <a:r>
              <a:rPr lang="zh-CN" altLang="en-US" b="1" dirty="0">
                <a:latin typeface="字体视界-NEW魏碑体" panose="02010601030101010101" pitchFamily="2" charset="-122"/>
                <a:ea typeface="字体视界-NEW魏碑体" panose="02010601030101010101" pitchFamily="2" charset="-122"/>
                <a:cs typeface="+mn-ea"/>
                <a:sym typeface="+mn-lt"/>
              </a:rPr>
              <a:t>年</a:t>
            </a:r>
            <a:r>
              <a:rPr lang="en-US" altLang="zh-CN" b="1" dirty="0">
                <a:latin typeface="字体视界-NEW魏碑体" panose="02010601030101010101" pitchFamily="2" charset="-122"/>
                <a:ea typeface="字体视界-NEW魏碑体" panose="02010601030101010101" pitchFamily="2" charset="-122"/>
                <a:cs typeface="+mn-ea"/>
                <a:sym typeface="+mn-lt"/>
              </a:rPr>
              <a:t>10</a:t>
            </a:r>
            <a:r>
              <a:rPr lang="zh-CN" altLang="en-US" b="1" dirty="0">
                <a:latin typeface="字体视界-NEW魏碑体" panose="02010601030101010101" pitchFamily="2" charset="-122"/>
                <a:ea typeface="字体视界-NEW魏碑体" panose="02010601030101010101" pitchFamily="2" charset="-122"/>
                <a:cs typeface="+mn-ea"/>
                <a:sym typeface="+mn-lt"/>
              </a:rPr>
              <a:t>月</a:t>
            </a:r>
            <a:r>
              <a:rPr lang="en-US" altLang="zh-CN" b="1" dirty="0">
                <a:latin typeface="字体视界-NEW魏碑体" panose="02010601030101010101" pitchFamily="2" charset="-122"/>
                <a:ea typeface="字体视界-NEW魏碑体" panose="02010601030101010101" pitchFamily="2" charset="-122"/>
                <a:cs typeface="+mn-ea"/>
                <a:sym typeface="+mn-lt"/>
              </a:rPr>
              <a:t>31</a:t>
            </a:r>
            <a:r>
              <a:rPr lang="zh-CN" altLang="en-US" b="1" dirty="0">
                <a:latin typeface="字体视界-NEW魏碑体" panose="02010601030101010101" pitchFamily="2" charset="-122"/>
                <a:ea typeface="字体视界-NEW魏碑体" panose="02010601030101010101" pitchFamily="2" charset="-122"/>
                <a:cs typeface="+mn-ea"/>
                <a:sym typeface="+mn-lt"/>
              </a:rPr>
              <a:t>日</a:t>
            </a:r>
          </a:p>
        </p:txBody>
      </p:sp>
      <p:pic>
        <p:nvPicPr>
          <p:cNvPr id="40" name="图片 39"/>
          <p:cNvPicPr>
            <a:picLocks noChangeAspect="1"/>
          </p:cNvPicPr>
          <p:nvPr/>
        </p:nvPicPr>
        <p:blipFill>
          <a:blip r:embed="rId5"/>
          <a:stretch>
            <a:fillRect/>
          </a:stretch>
        </p:blipFill>
        <p:spPr>
          <a:xfrm rot="20902340" flipH="1">
            <a:off x="1320789" y="1151521"/>
            <a:ext cx="2100539" cy="87522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wipe(left)">
                                      <p:cBhvr>
                                        <p:cTn id="7" dur="500"/>
                                        <p:tgtEl>
                                          <p:spTgt spid="35"/>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37"/>
                                        </p:tgtEl>
                                        <p:attrNameLst>
                                          <p:attrName>style.visibility</p:attrName>
                                        </p:attrNameLst>
                                      </p:cBhvr>
                                      <p:to>
                                        <p:strVal val="visible"/>
                                      </p:to>
                                    </p:set>
                                    <p:animEffect transition="in" filter="wipe(down)">
                                      <p:cBhvr>
                                        <p:cTn id="11" dur="500"/>
                                        <p:tgtEl>
                                          <p:spTgt spid="37"/>
                                        </p:tgtEl>
                                      </p:cBhvr>
                                    </p:animEffect>
                                  </p:childTnLst>
                                </p:cTn>
                              </p:par>
                            </p:childTnLst>
                          </p:cTn>
                        </p:par>
                        <p:par>
                          <p:cTn id="12" fill="hold">
                            <p:stCondLst>
                              <p:cond delay="1000"/>
                            </p:stCondLst>
                            <p:childTnLst>
                              <p:par>
                                <p:cTn id="13" presetID="53" presetClass="entr" presetSubtype="16" fill="hold" grpId="0" nodeType="afterEffect">
                                  <p:stCondLst>
                                    <p:cond delay="0"/>
                                  </p:stCondLst>
                                  <p:childTnLst>
                                    <p:set>
                                      <p:cBhvr>
                                        <p:cTn id="14" dur="1" fill="hold">
                                          <p:stCondLst>
                                            <p:cond delay="0"/>
                                          </p:stCondLst>
                                        </p:cTn>
                                        <p:tgtEl>
                                          <p:spTgt spid="30"/>
                                        </p:tgtEl>
                                        <p:attrNameLst>
                                          <p:attrName>style.visibility</p:attrName>
                                        </p:attrNameLst>
                                      </p:cBhvr>
                                      <p:to>
                                        <p:strVal val="visible"/>
                                      </p:to>
                                    </p:set>
                                    <p:anim calcmode="lin" valueType="num">
                                      <p:cBhvr>
                                        <p:cTn id="15" dur="1000" fill="hold"/>
                                        <p:tgtEl>
                                          <p:spTgt spid="30"/>
                                        </p:tgtEl>
                                        <p:attrNameLst>
                                          <p:attrName>ppt_w</p:attrName>
                                        </p:attrNameLst>
                                      </p:cBhvr>
                                      <p:tavLst>
                                        <p:tav tm="0">
                                          <p:val>
                                            <p:fltVal val="0"/>
                                          </p:val>
                                        </p:tav>
                                        <p:tav tm="100000">
                                          <p:val>
                                            <p:strVal val="#ppt_w"/>
                                          </p:val>
                                        </p:tav>
                                      </p:tavLst>
                                    </p:anim>
                                    <p:anim calcmode="lin" valueType="num">
                                      <p:cBhvr>
                                        <p:cTn id="16" dur="1000" fill="hold"/>
                                        <p:tgtEl>
                                          <p:spTgt spid="30"/>
                                        </p:tgtEl>
                                        <p:attrNameLst>
                                          <p:attrName>ppt_h</p:attrName>
                                        </p:attrNameLst>
                                      </p:cBhvr>
                                      <p:tavLst>
                                        <p:tav tm="0">
                                          <p:val>
                                            <p:fltVal val="0"/>
                                          </p:val>
                                        </p:tav>
                                        <p:tav tm="100000">
                                          <p:val>
                                            <p:strVal val="#ppt_h"/>
                                          </p:val>
                                        </p:tav>
                                      </p:tavLst>
                                    </p:anim>
                                    <p:animEffect transition="in" filter="fade">
                                      <p:cBhvr>
                                        <p:cTn id="17" dur="1000"/>
                                        <p:tgtEl>
                                          <p:spTgt spid="30"/>
                                        </p:tgtEl>
                                      </p:cBhvr>
                                    </p:animEffect>
                                  </p:childTnLst>
                                </p:cTn>
                              </p:par>
                              <p:par>
                                <p:cTn id="18" presetID="35" presetClass="path" presetSubtype="0" accel="50000" decel="50000" fill="hold" grpId="1" nodeType="withEffect">
                                  <p:stCondLst>
                                    <p:cond delay="0"/>
                                  </p:stCondLst>
                                  <p:childTnLst>
                                    <p:animMotion origin="layout" path="M 0 1.48148E-6 L -0.41185 1.48148E-6 " pathEditMode="relative" rAng="0" ptsTypes="AA">
                                      <p:cBhvr>
                                        <p:cTn id="19" dur="2000" spd="-100000" fill="hold"/>
                                        <p:tgtEl>
                                          <p:spTgt spid="30"/>
                                        </p:tgtEl>
                                        <p:attrNameLst>
                                          <p:attrName>ppt_x</p:attrName>
                                          <p:attrName>ppt_y</p:attrName>
                                        </p:attrNameLst>
                                      </p:cBhvr>
                                      <p:rCtr x="-20599" y="0"/>
                                    </p:animMotion>
                                  </p:childTnLst>
                                </p:cTn>
                              </p:par>
                              <p:par>
                                <p:cTn id="20" presetID="53" presetClass="entr" presetSubtype="16" fill="hold" grpId="0" nodeType="withEffect">
                                  <p:stCondLst>
                                    <p:cond delay="0"/>
                                  </p:stCondLst>
                                  <p:childTnLst>
                                    <p:set>
                                      <p:cBhvr>
                                        <p:cTn id="21" dur="1" fill="hold">
                                          <p:stCondLst>
                                            <p:cond delay="0"/>
                                          </p:stCondLst>
                                        </p:cTn>
                                        <p:tgtEl>
                                          <p:spTgt spid="31"/>
                                        </p:tgtEl>
                                        <p:attrNameLst>
                                          <p:attrName>style.visibility</p:attrName>
                                        </p:attrNameLst>
                                      </p:cBhvr>
                                      <p:to>
                                        <p:strVal val="visible"/>
                                      </p:to>
                                    </p:set>
                                    <p:anim calcmode="lin" valueType="num">
                                      <p:cBhvr>
                                        <p:cTn id="22" dur="1000" fill="hold"/>
                                        <p:tgtEl>
                                          <p:spTgt spid="31"/>
                                        </p:tgtEl>
                                        <p:attrNameLst>
                                          <p:attrName>ppt_w</p:attrName>
                                        </p:attrNameLst>
                                      </p:cBhvr>
                                      <p:tavLst>
                                        <p:tav tm="0">
                                          <p:val>
                                            <p:fltVal val="0"/>
                                          </p:val>
                                        </p:tav>
                                        <p:tav tm="100000">
                                          <p:val>
                                            <p:strVal val="#ppt_w"/>
                                          </p:val>
                                        </p:tav>
                                      </p:tavLst>
                                    </p:anim>
                                    <p:anim calcmode="lin" valueType="num">
                                      <p:cBhvr>
                                        <p:cTn id="23" dur="1000" fill="hold"/>
                                        <p:tgtEl>
                                          <p:spTgt spid="31"/>
                                        </p:tgtEl>
                                        <p:attrNameLst>
                                          <p:attrName>ppt_h</p:attrName>
                                        </p:attrNameLst>
                                      </p:cBhvr>
                                      <p:tavLst>
                                        <p:tav tm="0">
                                          <p:val>
                                            <p:fltVal val="0"/>
                                          </p:val>
                                        </p:tav>
                                        <p:tav tm="100000">
                                          <p:val>
                                            <p:strVal val="#ppt_h"/>
                                          </p:val>
                                        </p:tav>
                                      </p:tavLst>
                                    </p:anim>
                                    <p:animEffect transition="in" filter="fade">
                                      <p:cBhvr>
                                        <p:cTn id="24" dur="1000"/>
                                        <p:tgtEl>
                                          <p:spTgt spid="31"/>
                                        </p:tgtEl>
                                      </p:cBhvr>
                                    </p:animEffect>
                                  </p:childTnLst>
                                </p:cTn>
                              </p:par>
                              <p:par>
                                <p:cTn id="25" presetID="35" presetClass="path" presetSubtype="0" accel="50000" decel="50000" fill="hold" grpId="1" nodeType="withEffect">
                                  <p:stCondLst>
                                    <p:cond delay="0"/>
                                  </p:stCondLst>
                                  <p:childTnLst>
                                    <p:animMotion origin="layout" path="M 4.79167E-6 1.85185E-6 L 0.31575 1.85185E-6 " pathEditMode="relative" rAng="0" ptsTypes="AA">
                                      <p:cBhvr>
                                        <p:cTn id="26" dur="2000" spd="-100000" fill="hold"/>
                                        <p:tgtEl>
                                          <p:spTgt spid="31"/>
                                        </p:tgtEl>
                                        <p:attrNameLst>
                                          <p:attrName>ppt_x</p:attrName>
                                          <p:attrName>ppt_y</p:attrName>
                                        </p:attrNameLst>
                                      </p:cBhvr>
                                      <p:rCtr x="15781" y="0"/>
                                    </p:animMotion>
                                  </p:childTnLst>
                                </p:cTn>
                              </p:par>
                            </p:childTnLst>
                          </p:cTn>
                        </p:par>
                        <p:par>
                          <p:cTn id="27" fill="hold">
                            <p:stCondLst>
                              <p:cond delay="2000"/>
                            </p:stCondLst>
                            <p:childTnLst>
                              <p:par>
                                <p:cTn id="28" presetID="53" presetClass="entr" presetSubtype="16" fill="hold" nodeType="afterEffect">
                                  <p:stCondLst>
                                    <p:cond delay="0"/>
                                  </p:stCondLst>
                                  <p:childTnLst>
                                    <p:set>
                                      <p:cBhvr>
                                        <p:cTn id="29" dur="1" fill="hold">
                                          <p:stCondLst>
                                            <p:cond delay="0"/>
                                          </p:stCondLst>
                                        </p:cTn>
                                        <p:tgtEl>
                                          <p:spTgt spid="33"/>
                                        </p:tgtEl>
                                        <p:attrNameLst>
                                          <p:attrName>style.visibility</p:attrName>
                                        </p:attrNameLst>
                                      </p:cBhvr>
                                      <p:to>
                                        <p:strVal val="visible"/>
                                      </p:to>
                                    </p:set>
                                    <p:anim calcmode="lin" valueType="num">
                                      <p:cBhvr>
                                        <p:cTn id="30" dur="1000" fill="hold"/>
                                        <p:tgtEl>
                                          <p:spTgt spid="33"/>
                                        </p:tgtEl>
                                        <p:attrNameLst>
                                          <p:attrName>ppt_w</p:attrName>
                                        </p:attrNameLst>
                                      </p:cBhvr>
                                      <p:tavLst>
                                        <p:tav tm="0">
                                          <p:val>
                                            <p:fltVal val="0"/>
                                          </p:val>
                                        </p:tav>
                                        <p:tav tm="100000">
                                          <p:val>
                                            <p:strVal val="#ppt_w"/>
                                          </p:val>
                                        </p:tav>
                                      </p:tavLst>
                                    </p:anim>
                                    <p:anim calcmode="lin" valueType="num">
                                      <p:cBhvr>
                                        <p:cTn id="31" dur="1000" fill="hold"/>
                                        <p:tgtEl>
                                          <p:spTgt spid="33"/>
                                        </p:tgtEl>
                                        <p:attrNameLst>
                                          <p:attrName>ppt_h</p:attrName>
                                        </p:attrNameLst>
                                      </p:cBhvr>
                                      <p:tavLst>
                                        <p:tav tm="0">
                                          <p:val>
                                            <p:fltVal val="0"/>
                                          </p:val>
                                        </p:tav>
                                        <p:tav tm="100000">
                                          <p:val>
                                            <p:strVal val="#ppt_h"/>
                                          </p:val>
                                        </p:tav>
                                      </p:tavLst>
                                    </p:anim>
                                    <p:animEffect transition="in" filter="fade">
                                      <p:cBhvr>
                                        <p:cTn id="32" dur="1000"/>
                                        <p:tgtEl>
                                          <p:spTgt spid="33"/>
                                        </p:tgtEl>
                                      </p:cBhvr>
                                    </p:animEffect>
                                  </p:childTnLst>
                                </p:cTn>
                              </p:par>
                              <p:par>
                                <p:cTn id="33" presetID="35" presetClass="path" presetSubtype="0" accel="50000" decel="50000" fill="hold" nodeType="withEffect">
                                  <p:stCondLst>
                                    <p:cond delay="0"/>
                                  </p:stCondLst>
                                  <p:childTnLst>
                                    <p:animMotion origin="layout" path="M 6.25E-7 -1.11111E-6 L 0.31575 -1.11111E-6 " pathEditMode="relative" rAng="0" ptsTypes="AA">
                                      <p:cBhvr>
                                        <p:cTn id="34" dur="2000" spd="-100000" fill="hold"/>
                                        <p:tgtEl>
                                          <p:spTgt spid="33"/>
                                        </p:tgtEl>
                                        <p:attrNameLst>
                                          <p:attrName>ppt_x</p:attrName>
                                          <p:attrName>ppt_y</p:attrName>
                                        </p:attrNameLst>
                                      </p:cBhvr>
                                      <p:rCtr x="15781" y="0"/>
                                    </p:animMotion>
                                  </p:childTnLst>
                                </p:cTn>
                              </p:par>
                              <p:par>
                                <p:cTn id="35" presetID="53" presetClass="entr" presetSubtype="16" fill="hold" grpId="0" nodeType="withEffect">
                                  <p:stCondLst>
                                    <p:cond delay="0"/>
                                  </p:stCondLst>
                                  <p:childTnLst>
                                    <p:set>
                                      <p:cBhvr>
                                        <p:cTn id="36" dur="1" fill="hold">
                                          <p:stCondLst>
                                            <p:cond delay="0"/>
                                          </p:stCondLst>
                                        </p:cTn>
                                        <p:tgtEl>
                                          <p:spTgt spid="38"/>
                                        </p:tgtEl>
                                        <p:attrNameLst>
                                          <p:attrName>style.visibility</p:attrName>
                                        </p:attrNameLst>
                                      </p:cBhvr>
                                      <p:to>
                                        <p:strVal val="visible"/>
                                      </p:to>
                                    </p:set>
                                    <p:anim calcmode="lin" valueType="num">
                                      <p:cBhvr>
                                        <p:cTn id="37" dur="1000" fill="hold"/>
                                        <p:tgtEl>
                                          <p:spTgt spid="38"/>
                                        </p:tgtEl>
                                        <p:attrNameLst>
                                          <p:attrName>ppt_w</p:attrName>
                                        </p:attrNameLst>
                                      </p:cBhvr>
                                      <p:tavLst>
                                        <p:tav tm="0">
                                          <p:val>
                                            <p:fltVal val="0"/>
                                          </p:val>
                                        </p:tav>
                                        <p:tav tm="100000">
                                          <p:val>
                                            <p:strVal val="#ppt_w"/>
                                          </p:val>
                                        </p:tav>
                                      </p:tavLst>
                                    </p:anim>
                                    <p:anim calcmode="lin" valueType="num">
                                      <p:cBhvr>
                                        <p:cTn id="38" dur="1000" fill="hold"/>
                                        <p:tgtEl>
                                          <p:spTgt spid="38"/>
                                        </p:tgtEl>
                                        <p:attrNameLst>
                                          <p:attrName>ppt_h</p:attrName>
                                        </p:attrNameLst>
                                      </p:cBhvr>
                                      <p:tavLst>
                                        <p:tav tm="0">
                                          <p:val>
                                            <p:fltVal val="0"/>
                                          </p:val>
                                        </p:tav>
                                        <p:tav tm="100000">
                                          <p:val>
                                            <p:strVal val="#ppt_h"/>
                                          </p:val>
                                        </p:tav>
                                      </p:tavLst>
                                    </p:anim>
                                    <p:animEffect transition="in" filter="fade">
                                      <p:cBhvr>
                                        <p:cTn id="39" dur="1000"/>
                                        <p:tgtEl>
                                          <p:spTgt spid="38"/>
                                        </p:tgtEl>
                                      </p:cBhvr>
                                    </p:animEffect>
                                  </p:childTnLst>
                                </p:cTn>
                              </p:par>
                              <p:par>
                                <p:cTn id="40" presetID="35" presetClass="path" presetSubtype="0" accel="50000" decel="50000" fill="hold" grpId="1" nodeType="withEffect">
                                  <p:stCondLst>
                                    <p:cond delay="0"/>
                                  </p:stCondLst>
                                  <p:childTnLst>
                                    <p:animMotion origin="layout" path="M 4.79167E-6 -2.59259E-6 L 0.31575 -2.59259E-6 " pathEditMode="relative" rAng="0" ptsTypes="AA">
                                      <p:cBhvr>
                                        <p:cTn id="41" dur="2000" spd="-100000" fill="hold"/>
                                        <p:tgtEl>
                                          <p:spTgt spid="38"/>
                                        </p:tgtEl>
                                        <p:attrNameLst>
                                          <p:attrName>ppt_x</p:attrName>
                                          <p:attrName>ppt_y</p:attrName>
                                        </p:attrNameLst>
                                      </p:cBhvr>
                                      <p:rCtr x="15781" y="0"/>
                                    </p:animMotion>
                                  </p:childTnLst>
                                </p:cTn>
                              </p:par>
                            </p:childTnLst>
                          </p:cTn>
                        </p:par>
                        <p:par>
                          <p:cTn id="42" fill="hold">
                            <p:stCondLst>
                              <p:cond delay="3000"/>
                            </p:stCondLst>
                            <p:childTnLst>
                              <p:par>
                                <p:cTn id="43" presetID="53" presetClass="entr" presetSubtype="16" fill="hold" nodeType="afterEffect">
                                  <p:stCondLst>
                                    <p:cond delay="0"/>
                                  </p:stCondLst>
                                  <p:childTnLst>
                                    <p:set>
                                      <p:cBhvr>
                                        <p:cTn id="44" dur="1" fill="hold">
                                          <p:stCondLst>
                                            <p:cond delay="0"/>
                                          </p:stCondLst>
                                        </p:cTn>
                                        <p:tgtEl>
                                          <p:spTgt spid="40"/>
                                        </p:tgtEl>
                                        <p:attrNameLst>
                                          <p:attrName>style.visibility</p:attrName>
                                        </p:attrNameLst>
                                      </p:cBhvr>
                                      <p:to>
                                        <p:strVal val="visible"/>
                                      </p:to>
                                    </p:set>
                                    <p:anim calcmode="lin" valueType="num">
                                      <p:cBhvr>
                                        <p:cTn id="45" dur="1000" fill="hold"/>
                                        <p:tgtEl>
                                          <p:spTgt spid="40"/>
                                        </p:tgtEl>
                                        <p:attrNameLst>
                                          <p:attrName>ppt_w</p:attrName>
                                        </p:attrNameLst>
                                      </p:cBhvr>
                                      <p:tavLst>
                                        <p:tav tm="0">
                                          <p:val>
                                            <p:fltVal val="0"/>
                                          </p:val>
                                        </p:tav>
                                        <p:tav tm="100000">
                                          <p:val>
                                            <p:strVal val="#ppt_w"/>
                                          </p:val>
                                        </p:tav>
                                      </p:tavLst>
                                    </p:anim>
                                    <p:anim calcmode="lin" valueType="num">
                                      <p:cBhvr>
                                        <p:cTn id="46" dur="1000" fill="hold"/>
                                        <p:tgtEl>
                                          <p:spTgt spid="40"/>
                                        </p:tgtEl>
                                        <p:attrNameLst>
                                          <p:attrName>ppt_h</p:attrName>
                                        </p:attrNameLst>
                                      </p:cBhvr>
                                      <p:tavLst>
                                        <p:tav tm="0">
                                          <p:val>
                                            <p:fltVal val="0"/>
                                          </p:val>
                                        </p:tav>
                                        <p:tav tm="100000">
                                          <p:val>
                                            <p:strVal val="#ppt_h"/>
                                          </p:val>
                                        </p:tav>
                                      </p:tavLst>
                                    </p:anim>
                                    <p:animEffect transition="in" filter="fade">
                                      <p:cBhvr>
                                        <p:cTn id="47" dur="1000"/>
                                        <p:tgtEl>
                                          <p:spTgt spid="40"/>
                                        </p:tgtEl>
                                      </p:cBhvr>
                                    </p:animEffect>
                                  </p:childTnLst>
                                </p:cTn>
                              </p:par>
                              <p:par>
                                <p:cTn id="48" presetID="35" presetClass="path" presetSubtype="0" accel="50000" decel="50000" fill="hold" nodeType="withEffect">
                                  <p:stCondLst>
                                    <p:cond delay="0"/>
                                  </p:stCondLst>
                                  <p:childTnLst>
                                    <p:animMotion origin="layout" path="M -1.04167E-6 -2.96296E-6 L 0.31576 -2.96296E-6 " pathEditMode="relative" rAng="0" ptsTypes="AA">
                                      <p:cBhvr>
                                        <p:cTn id="49" dur="2000" spd="-100000" fill="hold"/>
                                        <p:tgtEl>
                                          <p:spTgt spid="40"/>
                                        </p:tgtEl>
                                        <p:attrNameLst>
                                          <p:attrName>ppt_x</p:attrName>
                                          <p:attrName>ppt_y</p:attrName>
                                        </p:attrNameLst>
                                      </p:cBhvr>
                                      <p:rCtr x="15781"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0" grpId="1"/>
      <p:bldP spid="31" grpId="0"/>
      <p:bldP spid="31" grpId="1"/>
      <p:bldP spid="38" grpId="0"/>
      <p:bldP spid="38"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4938586B-7B39-31F0-2892-8D409BED5E1B}"/>
              </a:ext>
            </a:extLst>
          </p:cNvPr>
          <p:cNvCxnSpPr/>
          <p:nvPr/>
        </p:nvCxnSpPr>
        <p:spPr>
          <a:xfrm>
            <a:off x="1871530" y="1578897"/>
            <a:ext cx="8872619" cy="0"/>
          </a:xfrm>
          <a:prstGeom prst="line">
            <a:avLst/>
          </a:prstGeom>
          <a:ln>
            <a:solidFill>
              <a:srgbClr val="D30013"/>
            </a:solidFill>
            <a:headEnd type="none"/>
            <a:tailEnd type="none"/>
          </a:ln>
        </p:spPr>
        <p:style>
          <a:lnRef idx="1">
            <a:schemeClr val="accent1"/>
          </a:lnRef>
          <a:fillRef idx="0">
            <a:schemeClr val="accent1"/>
          </a:fillRef>
          <a:effectRef idx="0">
            <a:schemeClr val="accent1"/>
          </a:effectRef>
          <a:fontRef idx="minor">
            <a:schemeClr val="tx1"/>
          </a:fontRef>
        </p:style>
      </p:cxnSp>
      <p:grpSp>
        <p:nvGrpSpPr>
          <p:cNvPr id="3" name="组合 2">
            <a:extLst>
              <a:ext uri="{FF2B5EF4-FFF2-40B4-BE49-F238E27FC236}">
                <a16:creationId xmlns:a16="http://schemas.microsoft.com/office/drawing/2014/main" id="{45B38B5E-5FE4-5B8C-53CF-628258FD6513}"/>
              </a:ext>
            </a:extLst>
          </p:cNvPr>
          <p:cNvGrpSpPr/>
          <p:nvPr/>
        </p:nvGrpSpPr>
        <p:grpSpPr>
          <a:xfrm>
            <a:off x="1719145" y="666782"/>
            <a:ext cx="3233859" cy="830997"/>
            <a:chOff x="5169025" y="988171"/>
            <a:chExt cx="3352600" cy="861508"/>
          </a:xfrm>
        </p:grpSpPr>
        <p:sp>
          <p:nvSpPr>
            <p:cNvPr id="4" name="矩形 3">
              <a:extLst>
                <a:ext uri="{FF2B5EF4-FFF2-40B4-BE49-F238E27FC236}">
                  <a16:creationId xmlns:a16="http://schemas.microsoft.com/office/drawing/2014/main" id="{6D708D2B-CD81-3E03-70A6-3BF30F53BA88}"/>
                </a:ext>
              </a:extLst>
            </p:cNvPr>
            <p:cNvSpPr/>
            <p:nvPr/>
          </p:nvSpPr>
          <p:spPr>
            <a:xfrm>
              <a:off x="5169025" y="988171"/>
              <a:ext cx="1467756" cy="861508"/>
            </a:xfrm>
            <a:prstGeom prst="rect">
              <a:avLst/>
            </a:prstGeom>
          </p:spPr>
          <p:txBody>
            <a:bodyPr wrap="none">
              <a:spAutoFit/>
            </a:bodyPr>
            <a:lstStyle/>
            <a:p>
              <a:r>
                <a:rPr lang="zh-CN" altLang="en-US" sz="4800" b="1" dirty="0">
                  <a:solidFill>
                    <a:srgbClr val="D30013"/>
                  </a:solidFill>
                  <a:latin typeface="字体视界-NEW魏碑体" panose="02010601030101010101" pitchFamily="2" charset="-122"/>
                  <a:ea typeface="字体视界-NEW魏碑体" panose="02010601030101010101" pitchFamily="2" charset="-122"/>
                  <a:cs typeface="方正苏新诗柳楷简体-yolan" panose="02000000000000000000" pitchFamily="2" charset="-122"/>
                </a:rPr>
                <a:t>视频</a:t>
              </a:r>
            </a:p>
          </p:txBody>
        </p:sp>
        <p:sp>
          <p:nvSpPr>
            <p:cNvPr id="5" name="矩形 4">
              <a:extLst>
                <a:ext uri="{FF2B5EF4-FFF2-40B4-BE49-F238E27FC236}">
                  <a16:creationId xmlns:a16="http://schemas.microsoft.com/office/drawing/2014/main" id="{2277AB11-C657-7096-D20D-B32E02592979}"/>
                </a:ext>
              </a:extLst>
            </p:cNvPr>
            <p:cNvSpPr/>
            <p:nvPr/>
          </p:nvSpPr>
          <p:spPr>
            <a:xfrm>
              <a:off x="6565281" y="1093876"/>
              <a:ext cx="1956344" cy="670062"/>
            </a:xfrm>
            <a:prstGeom prst="rect">
              <a:avLst/>
            </a:prstGeom>
          </p:spPr>
          <p:txBody>
            <a:bodyPr wrap="none">
              <a:spAutoFit/>
            </a:bodyPr>
            <a:lstStyle/>
            <a:p>
              <a:r>
                <a:rPr lang="en-US" altLang="zh-CN" sz="3600" dirty="0">
                  <a:solidFill>
                    <a:srgbClr val="D30013"/>
                  </a:solidFill>
                  <a:latin typeface="字体视界-NEW魏碑体" panose="02010601030101010101" pitchFamily="2" charset="-122"/>
                  <a:ea typeface="字体视界-NEW魏碑体" panose="02010601030101010101" pitchFamily="2" charset="-122"/>
                  <a:cs typeface="方正苏新诗柳楷简体-yolan" panose="02000000000000000000" pitchFamily="2" charset="-122"/>
                </a:rPr>
                <a:t>  VIDEO</a:t>
              </a:r>
              <a:endParaRPr lang="zh-CN" altLang="en-US" sz="3600" dirty="0">
                <a:solidFill>
                  <a:srgbClr val="D30013"/>
                </a:solidFill>
                <a:latin typeface="字体视界-NEW魏碑体" panose="02010601030101010101" pitchFamily="2" charset="-122"/>
                <a:ea typeface="字体视界-NEW魏碑体" panose="02010601030101010101" pitchFamily="2" charset="-122"/>
                <a:cs typeface="方正苏新诗柳楷简体-yolan" panose="02000000000000000000" pitchFamily="2" charset="-122"/>
              </a:endParaRPr>
            </a:p>
          </p:txBody>
        </p:sp>
      </p:grpSp>
      <p:pic>
        <p:nvPicPr>
          <p:cNvPr id="6" name="图片 5">
            <a:extLst>
              <a:ext uri="{FF2B5EF4-FFF2-40B4-BE49-F238E27FC236}">
                <a16:creationId xmlns:a16="http://schemas.microsoft.com/office/drawing/2014/main" id="{E8BF2332-D582-FC91-2098-49BF377A12DF}"/>
              </a:ext>
            </a:extLst>
          </p:cNvPr>
          <p:cNvPicPr>
            <a:picLocks noChangeAspect="1"/>
          </p:cNvPicPr>
          <p:nvPr/>
        </p:nvPicPr>
        <p:blipFill>
          <a:blip r:embed="rId4"/>
          <a:stretch>
            <a:fillRect/>
          </a:stretch>
        </p:blipFill>
        <p:spPr>
          <a:xfrm>
            <a:off x="8451948" y="250032"/>
            <a:ext cx="2857500" cy="1190625"/>
          </a:xfrm>
          <a:prstGeom prst="rect">
            <a:avLst/>
          </a:prstGeom>
        </p:spPr>
      </p:pic>
      <p:pic>
        <p:nvPicPr>
          <p:cNvPr id="7" name="周恩来介绍">
            <a:hlinkClick r:id="" action="ppaction://media"/>
            <a:extLst>
              <a:ext uri="{FF2B5EF4-FFF2-40B4-BE49-F238E27FC236}">
                <a16:creationId xmlns:a16="http://schemas.microsoft.com/office/drawing/2014/main" id="{535D7BB0-24FD-5093-CD55-60884EC501B5}"/>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871530" y="1750219"/>
            <a:ext cx="8636000" cy="4857749"/>
          </a:xfrm>
          <a:prstGeom prst="rect">
            <a:avLst/>
          </a:prstGeom>
        </p:spPr>
      </p:pic>
    </p:spTree>
    <p:extLst>
      <p:ext uri="{BB962C8B-B14F-4D97-AF65-F5344CB8AC3E}">
        <p14:creationId xmlns:p14="http://schemas.microsoft.com/office/powerpoint/2010/main" val="3310330138"/>
      </p:ext>
    </p:extLst>
  </p:cSld>
  <p:clrMapOvr>
    <a:masterClrMapping/>
  </p:clrMapOvr>
  <mc:AlternateContent xmlns:mc="http://schemas.openxmlformats.org/markup-compatibility/2006" xmlns:p14="http://schemas.microsoft.com/office/powerpoint/2010/main">
    <mc:Choice Requires="p14">
      <p:transition p14:dur="10" advTm="0"/>
    </mc:Choice>
    <mc:Fallback xmlns="">
      <p:transition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750"/>
                                        <p:tgtEl>
                                          <p:spTgt spid="3"/>
                                        </p:tgtEl>
                                      </p:cBhvr>
                                    </p:animEffect>
                                  </p:childTnLst>
                                </p:cTn>
                              </p:par>
                            </p:childTnLst>
                          </p:cTn>
                        </p:par>
                        <p:par>
                          <p:cTn id="8" fill="hold">
                            <p:stCondLst>
                              <p:cond delay="750"/>
                            </p:stCondLst>
                            <p:childTnLst>
                              <p:par>
                                <p:cTn id="9" presetID="22" presetClass="entr" presetSubtype="8"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par>
                          <p:cTn id="12" fill="hold">
                            <p:stCondLst>
                              <p:cond delay="1250"/>
                            </p:stCondLst>
                            <p:childTnLst>
                              <p:par>
                                <p:cTn id="13" presetID="53" presetClass="entr" presetSubtype="16"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p:cTn id="15" dur="1000" fill="hold"/>
                                        <p:tgtEl>
                                          <p:spTgt spid="6"/>
                                        </p:tgtEl>
                                        <p:attrNameLst>
                                          <p:attrName>ppt_w</p:attrName>
                                        </p:attrNameLst>
                                      </p:cBhvr>
                                      <p:tavLst>
                                        <p:tav tm="0">
                                          <p:val>
                                            <p:fltVal val="0"/>
                                          </p:val>
                                        </p:tav>
                                        <p:tav tm="100000">
                                          <p:val>
                                            <p:strVal val="#ppt_w"/>
                                          </p:val>
                                        </p:tav>
                                      </p:tavLst>
                                    </p:anim>
                                    <p:anim calcmode="lin" valueType="num">
                                      <p:cBhvr>
                                        <p:cTn id="16" dur="1000" fill="hold"/>
                                        <p:tgtEl>
                                          <p:spTgt spid="6"/>
                                        </p:tgtEl>
                                        <p:attrNameLst>
                                          <p:attrName>ppt_h</p:attrName>
                                        </p:attrNameLst>
                                      </p:cBhvr>
                                      <p:tavLst>
                                        <p:tav tm="0">
                                          <p:val>
                                            <p:fltVal val="0"/>
                                          </p:val>
                                        </p:tav>
                                        <p:tav tm="100000">
                                          <p:val>
                                            <p:strVal val="#ppt_h"/>
                                          </p:val>
                                        </p:tav>
                                      </p:tavLst>
                                    </p:anim>
                                    <p:animEffect transition="in" filter="fade">
                                      <p:cBhvr>
                                        <p:cTn id="17" dur="1000"/>
                                        <p:tgtEl>
                                          <p:spTgt spid="6"/>
                                        </p:tgtEl>
                                      </p:cBhvr>
                                    </p:animEffect>
                                  </p:childTnLst>
                                </p:cTn>
                              </p:par>
                              <p:par>
                                <p:cTn id="18" presetID="35" presetClass="path" presetSubtype="0" accel="50000" decel="50000" fill="hold" nodeType="withEffect">
                                  <p:stCondLst>
                                    <p:cond delay="0"/>
                                  </p:stCondLst>
                                  <p:childTnLst>
                                    <p:animMotion origin="layout" path="M 2.08333E-6 -1.11111E-6 L 0.31575 -1.11111E-6 " pathEditMode="relative" rAng="0" ptsTypes="AA">
                                      <p:cBhvr>
                                        <p:cTn id="19" dur="2000" spd="-100000" fill="hold"/>
                                        <p:tgtEl>
                                          <p:spTgt spid="6"/>
                                        </p:tgtEl>
                                        <p:attrNameLst>
                                          <p:attrName>ppt_x</p:attrName>
                                          <p:attrName>ppt_y</p:attrName>
                                        </p:attrNameLst>
                                      </p:cBhvr>
                                      <p:rCtr x="15781" y="0"/>
                                    </p:animMotion>
                                  </p:childTnLst>
                                </p:cTn>
                              </p:par>
                            </p:childTnLst>
                          </p:cTn>
                        </p:par>
                      </p:childTnLst>
                    </p:cTn>
                  </p:par>
                  <p:par>
                    <p:cTn id="20" fill="hold">
                      <p:stCondLst>
                        <p:cond delay="indefinite"/>
                      </p:stCondLst>
                      <p:childTnLst>
                        <p:par>
                          <p:cTn id="21" fill="hold">
                            <p:stCondLst>
                              <p:cond delay="0"/>
                            </p:stCondLst>
                            <p:childTnLst>
                              <p:par>
                                <p:cTn id="22" presetID="1" presetClass="mediacall" presetSubtype="0" fill="hold" nodeType="clickEffect">
                                  <p:stCondLst>
                                    <p:cond delay="0"/>
                                  </p:stCondLst>
                                  <p:childTnLst>
                                    <p:cmd type="call" cmd="playFrom(0.0)">
                                      <p:cBhvr>
                                        <p:cTn id="23" dur="138205"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24" fill="hold" display="0">
                  <p:stCondLst>
                    <p:cond delay="indefinite"/>
                  </p:stCondLst>
                </p:cTn>
                <p:tgtEl>
                  <p:spTgt spid="7"/>
                </p:tgtEl>
              </p:cMediaNode>
            </p:video>
            <p:seq concurrent="1" nextAc="seek">
              <p:cTn id="25" restart="whenNotActive" fill="hold" evtFilter="cancelBubble" nodeType="interactiveSeq">
                <p:stCondLst>
                  <p:cond evt="onClick" delay="0">
                    <p:tgtEl>
                      <p:spTgt spid="7"/>
                    </p:tgtEl>
                  </p:cond>
                </p:stCondLst>
                <p:endSync evt="end" delay="0">
                  <p:rtn val="all"/>
                </p:endSync>
                <p:childTnLst>
                  <p:par>
                    <p:cTn id="26" fill="hold">
                      <p:stCondLst>
                        <p:cond delay="0"/>
                      </p:stCondLst>
                      <p:childTnLst>
                        <p:par>
                          <p:cTn id="27" fill="hold">
                            <p:stCondLst>
                              <p:cond delay="0"/>
                            </p:stCondLst>
                            <p:childTnLst>
                              <p:par>
                                <p:cTn id="28" presetID="2" presetClass="mediacall" presetSubtype="0" fill="hold" nodeType="clickEffect">
                                  <p:stCondLst>
                                    <p:cond delay="0"/>
                                  </p:stCondLst>
                                  <p:childTnLst>
                                    <p:cmd type="call" cmd="togglePause">
                                      <p:cBhvr>
                                        <p:cTn id="29"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3"/>
          <a:stretch>
            <a:fillRect/>
          </a:stretch>
        </p:blipFill>
        <p:spPr>
          <a:xfrm>
            <a:off x="566737" y="5026146"/>
            <a:ext cx="11058525" cy="1819275"/>
          </a:xfrm>
          <a:prstGeom prst="rect">
            <a:avLst/>
          </a:prstGeom>
        </p:spPr>
      </p:pic>
      <p:pic>
        <p:nvPicPr>
          <p:cNvPr id="11" name="图片 10"/>
          <p:cNvPicPr>
            <a:picLocks noChangeAspect="1"/>
          </p:cNvPicPr>
          <p:nvPr/>
        </p:nvPicPr>
        <p:blipFill>
          <a:blip r:embed="rId4"/>
          <a:stretch>
            <a:fillRect/>
          </a:stretch>
        </p:blipFill>
        <p:spPr>
          <a:xfrm flipH="1">
            <a:off x="470171" y="4749667"/>
            <a:ext cx="2036340" cy="848475"/>
          </a:xfrm>
          <a:prstGeom prst="rect">
            <a:avLst/>
          </a:prstGeom>
        </p:spPr>
      </p:pic>
      <p:cxnSp>
        <p:nvCxnSpPr>
          <p:cNvPr id="12" name="直接连接符 11"/>
          <p:cNvCxnSpPr/>
          <p:nvPr/>
        </p:nvCxnSpPr>
        <p:spPr>
          <a:xfrm>
            <a:off x="2034090" y="1924337"/>
            <a:ext cx="8872619" cy="0"/>
          </a:xfrm>
          <a:prstGeom prst="line">
            <a:avLst/>
          </a:prstGeom>
          <a:ln>
            <a:solidFill>
              <a:srgbClr val="D30013"/>
            </a:solidFill>
            <a:headEnd type="none"/>
            <a:tailEnd type="none"/>
          </a:ln>
        </p:spPr>
        <p:style>
          <a:lnRef idx="1">
            <a:schemeClr val="accent1"/>
          </a:lnRef>
          <a:fillRef idx="0">
            <a:schemeClr val="accent1"/>
          </a:fillRef>
          <a:effectRef idx="0">
            <a:schemeClr val="accent1"/>
          </a:effectRef>
          <a:fontRef idx="minor">
            <a:schemeClr val="tx1"/>
          </a:fontRef>
        </p:style>
      </p:cxnSp>
      <p:grpSp>
        <p:nvGrpSpPr>
          <p:cNvPr id="13" name="组合 12"/>
          <p:cNvGrpSpPr/>
          <p:nvPr/>
        </p:nvGrpSpPr>
        <p:grpSpPr>
          <a:xfrm>
            <a:off x="1881709" y="1012222"/>
            <a:ext cx="3724379" cy="830997"/>
            <a:chOff x="5169025" y="988171"/>
            <a:chExt cx="3861129" cy="861508"/>
          </a:xfrm>
        </p:grpSpPr>
        <p:sp>
          <p:nvSpPr>
            <p:cNvPr id="14" name="矩形 13"/>
            <p:cNvSpPr/>
            <p:nvPr/>
          </p:nvSpPr>
          <p:spPr>
            <a:xfrm>
              <a:off x="5169025" y="988171"/>
              <a:ext cx="1467756" cy="861508"/>
            </a:xfrm>
            <a:prstGeom prst="rect">
              <a:avLst/>
            </a:prstGeom>
          </p:spPr>
          <p:txBody>
            <a:bodyPr wrap="none">
              <a:spAutoFit/>
            </a:bodyPr>
            <a:lstStyle/>
            <a:p>
              <a:r>
                <a:rPr lang="zh-CN" altLang="en-US" sz="4800" b="1" dirty="0">
                  <a:solidFill>
                    <a:srgbClr val="D30013"/>
                  </a:solidFill>
                  <a:latin typeface="字体视界-NEW魏碑体" panose="02010601030101010101" pitchFamily="2" charset="-122"/>
                  <a:ea typeface="字体视界-NEW魏碑体" panose="02010601030101010101" pitchFamily="2" charset="-122"/>
                  <a:cs typeface="方正苏新诗柳楷简体-yolan" panose="02000000000000000000" pitchFamily="2" charset="-122"/>
                </a:rPr>
                <a:t>前言</a:t>
              </a:r>
            </a:p>
          </p:txBody>
        </p:sp>
        <p:sp>
          <p:nvSpPr>
            <p:cNvPr id="15" name="矩形 14"/>
            <p:cNvSpPr/>
            <p:nvPr/>
          </p:nvSpPr>
          <p:spPr>
            <a:xfrm>
              <a:off x="6565281" y="1093876"/>
              <a:ext cx="2464873" cy="670062"/>
            </a:xfrm>
            <a:prstGeom prst="rect">
              <a:avLst/>
            </a:prstGeom>
          </p:spPr>
          <p:txBody>
            <a:bodyPr wrap="none">
              <a:spAutoFit/>
            </a:bodyPr>
            <a:lstStyle/>
            <a:p>
              <a:r>
                <a:rPr lang="en-US" altLang="zh-CN" sz="3600" dirty="0">
                  <a:solidFill>
                    <a:srgbClr val="D30013"/>
                  </a:solidFill>
                  <a:latin typeface="字体视界-NEW魏碑体" panose="02010601030101010101" pitchFamily="2" charset="-122"/>
                  <a:ea typeface="字体视界-NEW魏碑体" panose="02010601030101010101" pitchFamily="2" charset="-122"/>
                  <a:cs typeface="方正苏新诗柳楷简体-yolan" panose="02000000000000000000" pitchFamily="2" charset="-122"/>
                </a:rPr>
                <a:t>QIAN YAN</a:t>
              </a:r>
              <a:endParaRPr lang="zh-CN" altLang="en-US" sz="3600" dirty="0">
                <a:solidFill>
                  <a:srgbClr val="D30013"/>
                </a:solidFill>
                <a:latin typeface="字体视界-NEW魏碑体" panose="02010601030101010101" pitchFamily="2" charset="-122"/>
                <a:ea typeface="字体视界-NEW魏碑体" panose="02010601030101010101" pitchFamily="2" charset="-122"/>
                <a:cs typeface="方正苏新诗柳楷简体-yolan" panose="02000000000000000000" pitchFamily="2" charset="-122"/>
              </a:endParaRPr>
            </a:p>
          </p:txBody>
        </p:sp>
      </p:grpSp>
      <p:sp>
        <p:nvSpPr>
          <p:cNvPr id="16" name="矩形 15"/>
          <p:cNvSpPr/>
          <p:nvPr/>
        </p:nvSpPr>
        <p:spPr>
          <a:xfrm>
            <a:off x="5606088" y="2062576"/>
            <a:ext cx="6300931" cy="3147400"/>
          </a:xfrm>
          <a:prstGeom prst="rect">
            <a:avLst/>
          </a:prstGeom>
        </p:spPr>
        <p:txBody>
          <a:bodyPr wrap="square">
            <a:spAutoFit/>
          </a:bodyPr>
          <a:lstStyle/>
          <a:p>
            <a:r>
              <a:rPr lang="zh-CN" altLang="en-US" b="1" dirty="0">
                <a:latin typeface="宋体" panose="02010600030101010101" pitchFamily="2" charset="-122"/>
                <a:ea typeface="宋体" panose="02010600030101010101" pitchFamily="2" charset="-122"/>
              </a:rPr>
              <a:t>    周恩来（</a:t>
            </a:r>
            <a:r>
              <a:rPr lang="en-US" altLang="zh-CN" b="1" dirty="0">
                <a:latin typeface="宋体" panose="02010600030101010101" pitchFamily="2" charset="-122"/>
                <a:ea typeface="宋体" panose="02010600030101010101" pitchFamily="2" charset="-122"/>
              </a:rPr>
              <a:t>1898</a:t>
            </a:r>
            <a:r>
              <a:rPr lang="zh-CN" altLang="en-US" b="1" dirty="0">
                <a:latin typeface="宋体" panose="02010600030101010101" pitchFamily="2" charset="-122"/>
                <a:ea typeface="宋体" panose="02010600030101010101" pitchFamily="2" charset="-122"/>
              </a:rPr>
              <a:t>年</a:t>
            </a:r>
            <a:r>
              <a:rPr lang="en-US" altLang="zh-CN" b="1" dirty="0">
                <a:latin typeface="宋体" panose="02010600030101010101" pitchFamily="2" charset="-122"/>
                <a:ea typeface="宋体" panose="02010600030101010101" pitchFamily="2" charset="-122"/>
              </a:rPr>
              <a:t>3</a:t>
            </a:r>
            <a:r>
              <a:rPr lang="zh-CN" altLang="en-US" b="1" dirty="0">
                <a:latin typeface="宋体" panose="02010600030101010101" pitchFamily="2" charset="-122"/>
                <a:ea typeface="宋体" panose="02010600030101010101" pitchFamily="2" charset="-122"/>
              </a:rPr>
              <a:t>月</a:t>
            </a:r>
            <a:r>
              <a:rPr lang="en-US" altLang="zh-CN" b="1" dirty="0">
                <a:latin typeface="宋体" panose="02010600030101010101" pitchFamily="2" charset="-122"/>
                <a:ea typeface="宋体" panose="02010600030101010101" pitchFamily="2" charset="-122"/>
              </a:rPr>
              <a:t>5</a:t>
            </a:r>
            <a:r>
              <a:rPr lang="zh-CN" altLang="en-US" b="1" dirty="0">
                <a:latin typeface="宋体" panose="02010600030101010101" pitchFamily="2" charset="-122"/>
                <a:ea typeface="宋体" panose="02010600030101010101" pitchFamily="2" charset="-122"/>
              </a:rPr>
              <a:t>日</a:t>
            </a:r>
            <a:r>
              <a:rPr lang="en-US" altLang="zh-CN" b="1" dirty="0">
                <a:latin typeface="宋体" panose="02010600030101010101" pitchFamily="2" charset="-122"/>
                <a:ea typeface="宋体" panose="02010600030101010101" pitchFamily="2" charset="-122"/>
              </a:rPr>
              <a:t>—1976</a:t>
            </a:r>
            <a:r>
              <a:rPr lang="zh-CN" altLang="en-US" b="1" dirty="0">
                <a:latin typeface="宋体" panose="02010600030101010101" pitchFamily="2" charset="-122"/>
                <a:ea typeface="宋体" panose="02010600030101010101" pitchFamily="2" charset="-122"/>
              </a:rPr>
              <a:t>年</a:t>
            </a:r>
            <a:r>
              <a:rPr lang="en-US" altLang="zh-CN" b="1" dirty="0">
                <a:latin typeface="宋体" panose="02010600030101010101" pitchFamily="2" charset="-122"/>
                <a:ea typeface="宋体" panose="02010600030101010101" pitchFamily="2" charset="-122"/>
              </a:rPr>
              <a:t>1</a:t>
            </a:r>
            <a:r>
              <a:rPr lang="zh-CN" altLang="en-US" b="1" dirty="0">
                <a:latin typeface="宋体" panose="02010600030101010101" pitchFamily="2" charset="-122"/>
                <a:ea typeface="宋体" panose="02010600030101010101" pitchFamily="2" charset="-122"/>
              </a:rPr>
              <a:t>月</a:t>
            </a:r>
            <a:r>
              <a:rPr lang="en-US" altLang="zh-CN" b="1" dirty="0">
                <a:latin typeface="宋体" panose="02010600030101010101" pitchFamily="2" charset="-122"/>
                <a:ea typeface="宋体" panose="02010600030101010101" pitchFamily="2" charset="-122"/>
              </a:rPr>
              <a:t>8</a:t>
            </a:r>
            <a:r>
              <a:rPr lang="zh-CN" altLang="en-US" b="1" dirty="0">
                <a:latin typeface="宋体" panose="02010600030101010101" pitchFamily="2" charset="-122"/>
                <a:ea typeface="宋体" panose="02010600030101010101" pitchFamily="2" charset="-122"/>
              </a:rPr>
              <a:t>日），字翔宇，曾用名飞飞、伍豪、少山、冠生等</a:t>
            </a:r>
            <a:r>
              <a:rPr lang="zh-CN" altLang="en-US" b="1" baseline="30000" dirty="0">
                <a:latin typeface="宋体" panose="02010600030101010101" pitchFamily="2" charset="-122"/>
                <a:ea typeface="宋体" panose="02010600030101010101" pitchFamily="2" charset="-122"/>
              </a:rPr>
              <a:t> </a:t>
            </a:r>
            <a:r>
              <a:rPr lang="zh-CN" altLang="en-US" b="1" dirty="0">
                <a:latin typeface="宋体" panose="02010600030101010101" pitchFamily="2" charset="-122"/>
                <a:ea typeface="宋体" panose="02010600030101010101" pitchFamily="2" charset="-122"/>
              </a:rPr>
              <a:t>，原籍浙江绍兴，</a:t>
            </a:r>
            <a:r>
              <a:rPr lang="en-US" altLang="zh-CN" b="1" dirty="0">
                <a:latin typeface="宋体" panose="02010600030101010101" pitchFamily="2" charset="-122"/>
                <a:ea typeface="宋体" panose="02010600030101010101" pitchFamily="2" charset="-122"/>
              </a:rPr>
              <a:t>1898</a:t>
            </a:r>
            <a:r>
              <a:rPr lang="zh-CN" altLang="en-US" b="1" dirty="0">
                <a:latin typeface="宋体" panose="02010600030101010101" pitchFamily="2" charset="-122"/>
                <a:ea typeface="宋体" panose="02010600030101010101" pitchFamily="2" charset="-122"/>
              </a:rPr>
              <a:t>年</a:t>
            </a:r>
            <a:r>
              <a:rPr lang="en-US" altLang="zh-CN" b="1" dirty="0">
                <a:latin typeface="宋体" panose="02010600030101010101" pitchFamily="2" charset="-122"/>
                <a:ea typeface="宋体" panose="02010600030101010101" pitchFamily="2" charset="-122"/>
              </a:rPr>
              <a:t>3</a:t>
            </a:r>
            <a:r>
              <a:rPr lang="zh-CN" altLang="en-US" b="1" dirty="0">
                <a:latin typeface="宋体" panose="02010600030101010101" pitchFamily="2" charset="-122"/>
                <a:ea typeface="宋体" panose="02010600030101010101" pitchFamily="2" charset="-122"/>
              </a:rPr>
              <a:t>月</a:t>
            </a:r>
            <a:r>
              <a:rPr lang="en-US" altLang="zh-CN" b="1" dirty="0">
                <a:latin typeface="宋体" panose="02010600030101010101" pitchFamily="2" charset="-122"/>
                <a:ea typeface="宋体" panose="02010600030101010101" pitchFamily="2" charset="-122"/>
              </a:rPr>
              <a:t>5</a:t>
            </a:r>
            <a:r>
              <a:rPr lang="zh-CN" altLang="en-US" b="1" dirty="0">
                <a:latin typeface="宋体" panose="02010600030101010101" pitchFamily="2" charset="-122"/>
                <a:ea typeface="宋体" panose="02010600030101010101" pitchFamily="2" charset="-122"/>
              </a:rPr>
              <a:t>日生于江苏淮安。</a:t>
            </a:r>
            <a:r>
              <a:rPr lang="en-US" altLang="zh-CN" b="1" dirty="0">
                <a:latin typeface="宋体" panose="02010600030101010101" pitchFamily="2" charset="-122"/>
                <a:ea typeface="宋体" panose="02010600030101010101" pitchFamily="2" charset="-122"/>
              </a:rPr>
              <a:t>1921</a:t>
            </a:r>
            <a:r>
              <a:rPr lang="zh-CN" altLang="en-US" b="1" dirty="0">
                <a:latin typeface="宋体" panose="02010600030101010101" pitchFamily="2" charset="-122"/>
                <a:ea typeface="宋体" panose="02010600030101010101" pitchFamily="2" charset="-122"/>
              </a:rPr>
              <a:t>年加入中国共产党，是伟大的马克思主义者，伟大的无产阶级革命家、政治家、军事家、外交家，党和国家主要领导人之一，中国人民解放军主要创建人之一，中华人民共和国的开国元勋，是以毛泽东同志为核心的党的第一代中央领导集体的重要成员。</a:t>
            </a:r>
          </a:p>
          <a:p>
            <a:r>
              <a:rPr lang="en-US" altLang="zh-CN" b="1" dirty="0">
                <a:latin typeface="宋体" panose="02010600030101010101" pitchFamily="2" charset="-122"/>
                <a:ea typeface="宋体" panose="02010600030101010101" pitchFamily="2" charset="-122"/>
              </a:rPr>
              <a:t>    1976</a:t>
            </a:r>
            <a:r>
              <a:rPr lang="zh-CN" altLang="en-US" b="1" dirty="0">
                <a:latin typeface="宋体" panose="02010600030101010101" pitchFamily="2" charset="-122"/>
                <a:ea typeface="宋体" panose="02010600030101010101" pitchFamily="2" charset="-122"/>
              </a:rPr>
              <a:t>年</a:t>
            </a:r>
            <a:r>
              <a:rPr lang="en-US" altLang="zh-CN" b="1" dirty="0">
                <a:latin typeface="宋体" panose="02010600030101010101" pitchFamily="2" charset="-122"/>
                <a:ea typeface="宋体" panose="02010600030101010101" pitchFamily="2" charset="-122"/>
              </a:rPr>
              <a:t>1</a:t>
            </a:r>
            <a:r>
              <a:rPr lang="zh-CN" altLang="en-US" b="1" dirty="0">
                <a:latin typeface="宋体" panose="02010600030101010101" pitchFamily="2" charset="-122"/>
                <a:ea typeface="宋体" panose="02010600030101010101" pitchFamily="2" charset="-122"/>
              </a:rPr>
              <a:t>月</a:t>
            </a:r>
            <a:r>
              <a:rPr lang="en-US" altLang="zh-CN" b="1" dirty="0">
                <a:latin typeface="宋体" panose="02010600030101010101" pitchFamily="2" charset="-122"/>
                <a:ea typeface="宋体" panose="02010600030101010101" pitchFamily="2" charset="-122"/>
              </a:rPr>
              <a:t>8</a:t>
            </a:r>
            <a:r>
              <a:rPr lang="zh-CN" altLang="en-US" b="1" dirty="0">
                <a:latin typeface="宋体" panose="02010600030101010101" pitchFamily="2" charset="-122"/>
                <a:ea typeface="宋体" panose="02010600030101010101" pitchFamily="2" charset="-122"/>
              </a:rPr>
              <a:t>日在北京逝世。他的逝世受到极广泛的悼念。由于他一贯勤奋工作，严于律己，关心群众，被称为“人民的好总理”。他的主要著作收入</a:t>
            </a:r>
            <a:r>
              <a:rPr lang="en-US" altLang="zh-CN" b="1" dirty="0">
                <a:latin typeface="宋体" panose="02010600030101010101" pitchFamily="2" charset="-122"/>
                <a:ea typeface="宋体" panose="02010600030101010101" pitchFamily="2" charset="-122"/>
              </a:rPr>
              <a:t>《</a:t>
            </a:r>
            <a:r>
              <a:rPr lang="zh-CN" altLang="en-US" b="1" dirty="0">
                <a:latin typeface="宋体" panose="02010600030101010101" pitchFamily="2" charset="-122"/>
                <a:ea typeface="宋体" panose="02010600030101010101" pitchFamily="2" charset="-122"/>
              </a:rPr>
              <a:t>周恩来选集</a:t>
            </a:r>
            <a:r>
              <a:rPr lang="en-US" altLang="zh-CN" b="1" dirty="0">
                <a:latin typeface="宋体" panose="02010600030101010101" pitchFamily="2" charset="-122"/>
                <a:ea typeface="宋体" panose="02010600030101010101" pitchFamily="2" charset="-122"/>
              </a:rPr>
              <a:t>》</a:t>
            </a:r>
            <a:r>
              <a:rPr lang="zh-CN" altLang="en-US" b="1" dirty="0">
                <a:latin typeface="宋体" panose="02010600030101010101" pitchFamily="2" charset="-122"/>
                <a:ea typeface="宋体" panose="02010600030101010101" pitchFamily="2" charset="-122"/>
              </a:rPr>
              <a:t>。</a:t>
            </a:r>
          </a:p>
          <a:p>
            <a:pPr>
              <a:lnSpc>
                <a:spcPct val="150000"/>
              </a:lnSpc>
              <a:buClr>
                <a:srgbClr val="C00000"/>
              </a:buClr>
              <a:defRPr/>
            </a:pPr>
            <a:endParaRPr lang="zh-CN" altLang="en-US" sz="1400" dirty="0">
              <a:latin typeface="字体视界-NEW魏碑体" panose="02010601030101010101" pitchFamily="2" charset="-122"/>
              <a:ea typeface="字体视界-NEW魏碑体" panose="02010601030101010101" pitchFamily="2" charset="-122"/>
            </a:endParaRPr>
          </a:p>
        </p:txBody>
      </p:sp>
      <p:sp>
        <p:nvSpPr>
          <p:cNvPr id="17" name="矩形 16"/>
          <p:cNvSpPr/>
          <p:nvPr/>
        </p:nvSpPr>
        <p:spPr>
          <a:xfrm flipH="1">
            <a:off x="4939377" y="1970188"/>
            <a:ext cx="666711" cy="2405980"/>
          </a:xfrm>
          <a:prstGeom prst="rect">
            <a:avLst/>
          </a:prstGeom>
        </p:spPr>
        <p:txBody>
          <a:bodyPr wrap="square">
            <a:spAutoFit/>
          </a:bodyPr>
          <a:lstStyle/>
          <a:p>
            <a:pPr marL="0" marR="0" lvl="0" indent="0" algn="l" defTabSz="914400" rtl="0" eaLnBrk="1" fontAlgn="base" latinLnBrk="0" hangingPunct="1">
              <a:lnSpc>
                <a:spcPct val="120000"/>
              </a:lnSpc>
              <a:spcBef>
                <a:spcPts val="0"/>
              </a:spcBef>
              <a:spcAft>
                <a:spcPts val="0"/>
              </a:spcAft>
              <a:buClrTx/>
              <a:buSzTx/>
              <a:buFontTx/>
              <a:buNone/>
              <a:defRPr/>
            </a:pPr>
            <a:r>
              <a:rPr lang="zh-CN" altLang="en-US" sz="3200" b="1" dirty="0">
                <a:solidFill>
                  <a:srgbClr val="C00000"/>
                </a:solidFill>
                <a:latin typeface="字体视界-NEW魏碑体" panose="02010601030101010101" pitchFamily="2" charset="-122"/>
                <a:ea typeface="字体视界-NEW魏碑体" panose="02010601030101010101" pitchFamily="2" charset="-122"/>
                <a:sym typeface="Arial" panose="020B0604020202020204" pitchFamily="34" charset="0"/>
              </a:rPr>
              <a:t>人物介绍</a:t>
            </a:r>
            <a:endParaRPr kumimoji="0" lang="zh-CN" altLang="en-US" sz="3200" b="1" i="0" u="none" strike="noStrike" kern="1200" cap="none" spc="0" normalizeH="0" baseline="0" noProof="0" dirty="0">
              <a:ln>
                <a:noFill/>
              </a:ln>
              <a:solidFill>
                <a:prstClr val="white"/>
              </a:solidFill>
              <a:effectLst/>
              <a:uLnTx/>
              <a:uFillTx/>
              <a:latin typeface="字体视界-NEW魏碑体" panose="02010601030101010101" pitchFamily="2" charset="-122"/>
              <a:ea typeface="字体视界-NEW魏碑体" panose="02010601030101010101" pitchFamily="2" charset="-122"/>
              <a:sym typeface="Arial" panose="020B0604020202020204" pitchFamily="34" charset="0"/>
            </a:endParaRPr>
          </a:p>
        </p:txBody>
      </p:sp>
      <p:pic>
        <p:nvPicPr>
          <p:cNvPr id="18" name="图片 17"/>
          <p:cNvPicPr>
            <a:picLocks noChangeAspect="1"/>
          </p:cNvPicPr>
          <p:nvPr/>
        </p:nvPicPr>
        <p:blipFill>
          <a:blip r:embed="rId4"/>
          <a:stretch>
            <a:fillRect/>
          </a:stretch>
        </p:blipFill>
        <p:spPr>
          <a:xfrm>
            <a:off x="8614508" y="595472"/>
            <a:ext cx="2857500" cy="1190625"/>
          </a:xfrm>
          <a:prstGeom prst="rect">
            <a:avLst/>
          </a:prstGeom>
        </p:spPr>
      </p:pic>
      <p:pic>
        <p:nvPicPr>
          <p:cNvPr id="3" name="图片 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66737" y="2119442"/>
            <a:ext cx="3702787" cy="2435121"/>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 presetClass="entr" presetSubtype="8" fill="hold" nodeType="after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0-#ppt_w/2"/>
                                          </p:val>
                                        </p:tav>
                                        <p:tav tm="100000">
                                          <p:val>
                                            <p:strVal val="#ppt_x"/>
                                          </p:val>
                                        </p:tav>
                                      </p:tavLst>
                                    </p:anim>
                                    <p:anim calcmode="lin" valueType="num">
                                      <p:cBhvr additive="base">
                                        <p:cTn id="14" dur="500" fill="hold"/>
                                        <p:tgtEl>
                                          <p:spTgt spid="11"/>
                                        </p:tgtEl>
                                        <p:attrNameLst>
                                          <p:attrName>ppt_y</p:attrName>
                                        </p:attrNameLst>
                                      </p:cBhvr>
                                      <p:tavLst>
                                        <p:tav tm="0">
                                          <p:val>
                                            <p:strVal val="#ppt_y"/>
                                          </p:val>
                                        </p:tav>
                                        <p:tav tm="100000">
                                          <p:val>
                                            <p:strVal val="#ppt_y"/>
                                          </p:val>
                                        </p:tav>
                                      </p:tavLst>
                                    </p:anim>
                                  </p:childTnLst>
                                </p:cTn>
                              </p:par>
                            </p:childTnLst>
                          </p:cTn>
                        </p:par>
                        <p:par>
                          <p:cTn id="15" fill="hold">
                            <p:stCondLst>
                              <p:cond delay="1500"/>
                            </p:stCondLst>
                            <p:childTnLst>
                              <p:par>
                                <p:cTn id="16" presetID="22" presetClass="entr" presetSubtype="8" fill="hold" nodeType="after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750"/>
                                        <p:tgtEl>
                                          <p:spTgt spid="13"/>
                                        </p:tgtEl>
                                      </p:cBhvr>
                                    </p:animEffect>
                                  </p:childTnLst>
                                </p:cTn>
                              </p:par>
                            </p:childTnLst>
                          </p:cTn>
                        </p:par>
                        <p:par>
                          <p:cTn id="19" fill="hold">
                            <p:stCondLst>
                              <p:cond delay="2500"/>
                            </p:stCondLst>
                            <p:childTnLst>
                              <p:par>
                                <p:cTn id="20" presetID="22" presetClass="entr" presetSubtype="8" fill="hold"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left)">
                                      <p:cBhvr>
                                        <p:cTn id="22" dur="500"/>
                                        <p:tgtEl>
                                          <p:spTgt spid="12"/>
                                        </p:tgtEl>
                                      </p:cBhvr>
                                    </p:animEffect>
                                  </p:childTnLst>
                                </p:cTn>
                              </p:par>
                            </p:childTnLst>
                          </p:cTn>
                        </p:par>
                        <p:par>
                          <p:cTn id="23" fill="hold">
                            <p:stCondLst>
                              <p:cond delay="3000"/>
                            </p:stCondLst>
                            <p:childTnLst>
                              <p:par>
                                <p:cTn id="24" presetID="53" presetClass="entr" presetSubtype="16" fill="hold" nodeType="afterEffect">
                                  <p:stCondLst>
                                    <p:cond delay="0"/>
                                  </p:stCondLst>
                                  <p:iterate type="lt">
                                    <p:tmPct val="10000"/>
                                  </p:iterate>
                                  <p:childTnLst>
                                    <p:set>
                                      <p:cBhvr>
                                        <p:cTn id="25" dur="1" fill="hold">
                                          <p:stCondLst>
                                            <p:cond delay="0"/>
                                          </p:stCondLst>
                                        </p:cTn>
                                        <p:tgtEl>
                                          <p:spTgt spid="17">
                                            <p:txEl>
                                              <p:pRg st="0" end="0"/>
                                            </p:txEl>
                                          </p:spTgt>
                                        </p:tgtEl>
                                        <p:attrNameLst>
                                          <p:attrName>style.visibility</p:attrName>
                                        </p:attrNameLst>
                                      </p:cBhvr>
                                      <p:to>
                                        <p:strVal val="visible"/>
                                      </p:to>
                                    </p:set>
                                    <p:anim calcmode="lin" valueType="num">
                                      <p:cBhvr>
                                        <p:cTn id="26" dur="200" fill="hold"/>
                                        <p:tgtEl>
                                          <p:spTgt spid="17">
                                            <p:txEl>
                                              <p:pRg st="0" end="0"/>
                                            </p:txEl>
                                          </p:spTgt>
                                        </p:tgtEl>
                                        <p:attrNameLst>
                                          <p:attrName>ppt_w</p:attrName>
                                        </p:attrNameLst>
                                      </p:cBhvr>
                                      <p:tavLst>
                                        <p:tav tm="0">
                                          <p:val>
                                            <p:fltVal val="0"/>
                                          </p:val>
                                        </p:tav>
                                        <p:tav tm="100000">
                                          <p:val>
                                            <p:strVal val="#ppt_w"/>
                                          </p:val>
                                        </p:tav>
                                      </p:tavLst>
                                    </p:anim>
                                    <p:anim calcmode="lin" valueType="num">
                                      <p:cBhvr>
                                        <p:cTn id="27" dur="200" fill="hold"/>
                                        <p:tgtEl>
                                          <p:spTgt spid="17">
                                            <p:txEl>
                                              <p:pRg st="0" end="0"/>
                                            </p:txEl>
                                          </p:spTgt>
                                        </p:tgtEl>
                                        <p:attrNameLst>
                                          <p:attrName>ppt_h</p:attrName>
                                        </p:attrNameLst>
                                      </p:cBhvr>
                                      <p:tavLst>
                                        <p:tav tm="0">
                                          <p:val>
                                            <p:fltVal val="0"/>
                                          </p:val>
                                        </p:tav>
                                        <p:tav tm="100000">
                                          <p:val>
                                            <p:strVal val="#ppt_h"/>
                                          </p:val>
                                        </p:tav>
                                      </p:tavLst>
                                    </p:anim>
                                    <p:animEffect transition="in" filter="fade">
                                      <p:cBhvr>
                                        <p:cTn id="28" dur="200"/>
                                        <p:tgtEl>
                                          <p:spTgt spid="17">
                                            <p:txEl>
                                              <p:pRg st="0" end="0"/>
                                            </p:txEl>
                                          </p:spTgt>
                                        </p:tgtEl>
                                      </p:cBhvr>
                                    </p:animEffect>
                                  </p:childTnLst>
                                </p:cTn>
                              </p:par>
                            </p:childTnLst>
                          </p:cTn>
                        </p:par>
                        <p:par>
                          <p:cTn id="29" fill="hold">
                            <p:stCondLst>
                              <p:cond delay="3009"/>
                            </p:stCondLst>
                            <p:childTnLst>
                              <p:par>
                                <p:cTn id="30" presetID="42" presetClass="entr" presetSubtype="0" fill="hold" grpId="0" nodeType="afterEffect">
                                  <p:stCondLst>
                                    <p:cond delay="0"/>
                                  </p:stCondLst>
                                  <p:iterate type="lt">
                                    <p:tmPct val="1554"/>
                                  </p:iterate>
                                  <p:childTnLst>
                                    <p:set>
                                      <p:cBhvr>
                                        <p:cTn id="31" dur="1" fill="hold">
                                          <p:stCondLst>
                                            <p:cond delay="0"/>
                                          </p:stCondLst>
                                        </p:cTn>
                                        <p:tgtEl>
                                          <p:spTgt spid="16"/>
                                        </p:tgtEl>
                                        <p:attrNameLst>
                                          <p:attrName>style.visibility</p:attrName>
                                        </p:attrNameLst>
                                      </p:cBhvr>
                                      <p:to>
                                        <p:strVal val="visible"/>
                                      </p:to>
                                    </p:set>
                                    <p:animEffect transition="in" filter="fade">
                                      <p:cBhvr>
                                        <p:cTn id="32" dur="1000"/>
                                        <p:tgtEl>
                                          <p:spTgt spid="16"/>
                                        </p:tgtEl>
                                      </p:cBhvr>
                                    </p:animEffect>
                                    <p:anim calcmode="lin" valueType="num">
                                      <p:cBhvr>
                                        <p:cTn id="33" dur="1000" fill="hold"/>
                                        <p:tgtEl>
                                          <p:spTgt spid="16"/>
                                        </p:tgtEl>
                                        <p:attrNameLst>
                                          <p:attrName>ppt_x</p:attrName>
                                        </p:attrNameLst>
                                      </p:cBhvr>
                                      <p:tavLst>
                                        <p:tav tm="0">
                                          <p:val>
                                            <p:strVal val="#ppt_x"/>
                                          </p:val>
                                        </p:tav>
                                        <p:tav tm="100000">
                                          <p:val>
                                            <p:strVal val="#ppt_x"/>
                                          </p:val>
                                        </p:tav>
                                      </p:tavLst>
                                    </p:anim>
                                    <p:anim calcmode="lin" valueType="num">
                                      <p:cBhvr>
                                        <p:cTn id="34" dur="1000" fill="hold"/>
                                        <p:tgtEl>
                                          <p:spTgt spid="16"/>
                                        </p:tgtEl>
                                        <p:attrNameLst>
                                          <p:attrName>ppt_y</p:attrName>
                                        </p:attrNameLst>
                                      </p:cBhvr>
                                      <p:tavLst>
                                        <p:tav tm="0">
                                          <p:val>
                                            <p:strVal val="#ppt_y+.1"/>
                                          </p:val>
                                        </p:tav>
                                        <p:tav tm="100000">
                                          <p:val>
                                            <p:strVal val="#ppt_y"/>
                                          </p:val>
                                        </p:tav>
                                      </p:tavLst>
                                    </p:anim>
                                  </p:childTnLst>
                                </p:cTn>
                              </p:par>
                            </p:childTnLst>
                          </p:cTn>
                        </p:par>
                        <p:par>
                          <p:cTn id="35" fill="hold">
                            <p:stCondLst>
                              <p:cond delay="8159"/>
                            </p:stCondLst>
                            <p:childTnLst>
                              <p:par>
                                <p:cTn id="36" presetID="53" presetClass="entr" presetSubtype="16" fill="hold" nodeType="afterEffect">
                                  <p:stCondLst>
                                    <p:cond delay="0"/>
                                  </p:stCondLst>
                                  <p:childTnLst>
                                    <p:set>
                                      <p:cBhvr>
                                        <p:cTn id="37" dur="1" fill="hold">
                                          <p:stCondLst>
                                            <p:cond delay="0"/>
                                          </p:stCondLst>
                                        </p:cTn>
                                        <p:tgtEl>
                                          <p:spTgt spid="18"/>
                                        </p:tgtEl>
                                        <p:attrNameLst>
                                          <p:attrName>style.visibility</p:attrName>
                                        </p:attrNameLst>
                                      </p:cBhvr>
                                      <p:to>
                                        <p:strVal val="visible"/>
                                      </p:to>
                                    </p:set>
                                    <p:anim calcmode="lin" valueType="num">
                                      <p:cBhvr>
                                        <p:cTn id="38" dur="1000" fill="hold"/>
                                        <p:tgtEl>
                                          <p:spTgt spid="18"/>
                                        </p:tgtEl>
                                        <p:attrNameLst>
                                          <p:attrName>ppt_w</p:attrName>
                                        </p:attrNameLst>
                                      </p:cBhvr>
                                      <p:tavLst>
                                        <p:tav tm="0">
                                          <p:val>
                                            <p:fltVal val="0"/>
                                          </p:val>
                                        </p:tav>
                                        <p:tav tm="100000">
                                          <p:val>
                                            <p:strVal val="#ppt_w"/>
                                          </p:val>
                                        </p:tav>
                                      </p:tavLst>
                                    </p:anim>
                                    <p:anim calcmode="lin" valueType="num">
                                      <p:cBhvr>
                                        <p:cTn id="39" dur="1000" fill="hold"/>
                                        <p:tgtEl>
                                          <p:spTgt spid="18"/>
                                        </p:tgtEl>
                                        <p:attrNameLst>
                                          <p:attrName>ppt_h</p:attrName>
                                        </p:attrNameLst>
                                      </p:cBhvr>
                                      <p:tavLst>
                                        <p:tav tm="0">
                                          <p:val>
                                            <p:fltVal val="0"/>
                                          </p:val>
                                        </p:tav>
                                        <p:tav tm="100000">
                                          <p:val>
                                            <p:strVal val="#ppt_h"/>
                                          </p:val>
                                        </p:tav>
                                      </p:tavLst>
                                    </p:anim>
                                    <p:animEffect transition="in" filter="fade">
                                      <p:cBhvr>
                                        <p:cTn id="40" dur="1000"/>
                                        <p:tgtEl>
                                          <p:spTgt spid="18"/>
                                        </p:tgtEl>
                                      </p:cBhvr>
                                    </p:animEffect>
                                  </p:childTnLst>
                                </p:cTn>
                              </p:par>
                              <p:par>
                                <p:cTn id="41" presetID="35" presetClass="path" presetSubtype="0" accel="50000" decel="50000" fill="hold" nodeType="withEffect">
                                  <p:stCondLst>
                                    <p:cond delay="0"/>
                                  </p:stCondLst>
                                  <p:childTnLst>
                                    <p:animMotion origin="layout" path="M 2.08333E-6 -1.11111E-6 L 0.31575 -1.11111E-6 " pathEditMode="relative" rAng="0" ptsTypes="AA">
                                      <p:cBhvr>
                                        <p:cTn id="42" dur="2000" spd="-100000" fill="hold"/>
                                        <p:tgtEl>
                                          <p:spTgt spid="18"/>
                                        </p:tgtEl>
                                        <p:attrNameLst>
                                          <p:attrName>ppt_x</p:attrName>
                                          <p:attrName>ppt_y</p:attrName>
                                        </p:attrNameLst>
                                      </p:cBhvr>
                                      <p:rCtr x="15781"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3" cstate="screen"/>
          <a:stretch>
            <a:fillRect/>
          </a:stretch>
        </p:blipFill>
        <p:spPr>
          <a:xfrm>
            <a:off x="5382578" y="5737759"/>
            <a:ext cx="6809422" cy="1120241"/>
          </a:xfrm>
          <a:prstGeom prst="rect">
            <a:avLst/>
          </a:prstGeom>
        </p:spPr>
      </p:pic>
      <p:pic>
        <p:nvPicPr>
          <p:cNvPr id="19" name="图片 18"/>
          <p:cNvPicPr>
            <a:picLocks noChangeAspect="1"/>
          </p:cNvPicPr>
          <p:nvPr/>
        </p:nvPicPr>
        <p:blipFill>
          <a:blip r:embed="rId4" cstate="screen"/>
          <a:stretch>
            <a:fillRect/>
          </a:stretch>
        </p:blipFill>
        <p:spPr>
          <a:xfrm>
            <a:off x="0" y="4049960"/>
            <a:ext cx="4460240" cy="2788989"/>
          </a:xfrm>
          <a:prstGeom prst="rect">
            <a:avLst/>
          </a:prstGeom>
        </p:spPr>
      </p:pic>
      <p:sp>
        <p:nvSpPr>
          <p:cNvPr id="39" name="TextBox 15"/>
          <p:cNvSpPr txBox="1"/>
          <p:nvPr/>
        </p:nvSpPr>
        <p:spPr>
          <a:xfrm>
            <a:off x="2003170" y="2808040"/>
            <a:ext cx="2457070" cy="769441"/>
          </a:xfrm>
          <a:prstGeom prst="rect">
            <a:avLst/>
          </a:prstGeom>
          <a:noFill/>
        </p:spPr>
        <p:txBody>
          <a:bodyPr wrap="square" rtlCol="0">
            <a:spAutoFit/>
          </a:bodyPr>
          <a:lstStyle/>
          <a:p>
            <a:pPr marL="0" marR="0" lvl="0" indent="0" algn="ctr" defTabSz="12192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0" normalizeH="0" baseline="0" noProof="0" dirty="0">
                <a:ln>
                  <a:noFill/>
                </a:ln>
                <a:solidFill>
                  <a:srgbClr val="C00000"/>
                </a:solidFill>
                <a:effectLst/>
                <a:uLnTx/>
                <a:uFillTx/>
                <a:latin typeface="字体视界-NEW魏碑体" panose="02010601030101010101" pitchFamily="2" charset="-122"/>
                <a:ea typeface="字体视界-NEW魏碑体" panose="02010601030101010101" pitchFamily="2" charset="-122"/>
              </a:rPr>
              <a:t>目 录</a:t>
            </a:r>
          </a:p>
        </p:txBody>
      </p:sp>
      <p:sp>
        <p:nvSpPr>
          <p:cNvPr id="40" name="TextBox 20"/>
          <p:cNvSpPr txBox="1"/>
          <p:nvPr/>
        </p:nvSpPr>
        <p:spPr>
          <a:xfrm>
            <a:off x="1671009" y="3483444"/>
            <a:ext cx="3225562" cy="369332"/>
          </a:xfrm>
          <a:prstGeom prst="rect">
            <a:avLst/>
          </a:prstGeom>
          <a:noFill/>
        </p:spPr>
        <p:txBody>
          <a:bodyPr wrap="square" rtlCol="0" anchor="ctr">
            <a:spAutoFit/>
          </a:bodyPr>
          <a:lstStyle/>
          <a:p>
            <a:pPr marL="0" marR="0" lvl="0" indent="0" algn="ctr" defTabSz="12192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600" normalizeH="0" baseline="0" noProof="0" dirty="0">
                <a:ln>
                  <a:noFill/>
                </a:ln>
                <a:solidFill>
                  <a:srgbClr val="C00000"/>
                </a:solidFill>
                <a:effectLst/>
                <a:uLnTx/>
                <a:uFillTx/>
                <a:latin typeface="字体视界-NEW魏碑体" panose="02010601030101010101" pitchFamily="2" charset="-122"/>
                <a:ea typeface="字体视界-NEW魏碑体" panose="02010601030101010101" pitchFamily="2" charset="-122"/>
              </a:rPr>
              <a:t>CONTENTS</a:t>
            </a:r>
            <a:endParaRPr kumimoji="0" lang="zh-CN" altLang="en-US" sz="1800" b="0" i="0" u="none" strike="noStrike" kern="1200" cap="none" spc="600" normalizeH="0" baseline="0" noProof="0" dirty="0">
              <a:ln>
                <a:noFill/>
              </a:ln>
              <a:solidFill>
                <a:srgbClr val="C00000"/>
              </a:solidFill>
              <a:effectLst/>
              <a:uLnTx/>
              <a:uFillTx/>
              <a:latin typeface="字体视界-NEW魏碑体" panose="02010601030101010101" pitchFamily="2" charset="-122"/>
              <a:ea typeface="字体视界-NEW魏碑体" panose="02010601030101010101" pitchFamily="2" charset="-122"/>
            </a:endParaRPr>
          </a:p>
        </p:txBody>
      </p:sp>
      <p:grpSp>
        <p:nvGrpSpPr>
          <p:cNvPr id="41" name="组合 40"/>
          <p:cNvGrpSpPr/>
          <p:nvPr/>
        </p:nvGrpSpPr>
        <p:grpSpPr>
          <a:xfrm>
            <a:off x="4597471" y="1546321"/>
            <a:ext cx="5776881" cy="453090"/>
            <a:chOff x="4946493" y="1597309"/>
            <a:chExt cx="5776881" cy="453090"/>
          </a:xfrm>
        </p:grpSpPr>
        <p:grpSp>
          <p:nvGrpSpPr>
            <p:cNvPr id="42" name="组合 41"/>
            <p:cNvGrpSpPr/>
            <p:nvPr/>
          </p:nvGrpSpPr>
          <p:grpSpPr>
            <a:xfrm>
              <a:off x="4946493" y="1597309"/>
              <a:ext cx="5776881" cy="453090"/>
              <a:chOff x="1363751" y="2406894"/>
              <a:chExt cx="5563001" cy="453090"/>
            </a:xfrm>
          </p:grpSpPr>
          <p:sp>
            <p:nvSpPr>
              <p:cNvPr id="44" name="TextBox 35"/>
              <p:cNvSpPr txBox="1"/>
              <p:nvPr/>
            </p:nvSpPr>
            <p:spPr>
              <a:xfrm rot="16200000">
                <a:off x="3910391" y="-111448"/>
                <a:ext cx="448412" cy="5485096"/>
              </a:xfrm>
              <a:prstGeom prst="rect">
                <a:avLst/>
              </a:prstGeom>
              <a:noFill/>
              <a:ln w="9525" cap="flat" cmpd="sng" algn="ctr">
                <a:solidFill>
                  <a:srgbClr val="C00000"/>
                </a:solidFill>
                <a:prstDash val="solid"/>
                <a:miter lim="800000"/>
              </a:ln>
              <a:effectLst>
                <a:innerShdw blurRad="127000" dist="88900" dir="18900000">
                  <a:prstClr val="black">
                    <a:alpha val="38000"/>
                  </a:prstClr>
                </a:innerShdw>
              </a:effectLst>
            </p:spPr>
            <p:txBody>
              <a:bodyPr vert="eaVert" lIns="0" tIns="0" rIns="0" bIns="360000" anchor="ctr"/>
              <a:lstStyle>
                <a:defPPr>
                  <a:defRPr lang="zh-CN"/>
                </a:defPPr>
                <a:lvl1pPr algn="ctr">
                  <a:defRPr sz="3200" kern="0">
                    <a:solidFill>
                      <a:prstClr val="white"/>
                    </a:solidFill>
                    <a:latin typeface="Calibri" panose="020F0502020204030204"/>
                    <a:ea typeface="宋体" panose="02010600030101010101" pitchFamily="2" charset="-122"/>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1219200" eaLnBrk="1" fontAlgn="auto" latinLnBrk="0" hangingPunct="1">
                  <a:lnSpc>
                    <a:spcPct val="100000"/>
                  </a:lnSpc>
                  <a:spcBef>
                    <a:spcPts val="0"/>
                  </a:spcBef>
                  <a:spcAft>
                    <a:spcPts val="0"/>
                  </a:spcAft>
                  <a:buClrTx/>
                  <a:buSzTx/>
                  <a:buFontTx/>
                  <a:buNone/>
                  <a:defRPr/>
                </a:pPr>
                <a:r>
                  <a:rPr kumimoji="0" lang="zh-CN" altLang="en-US" b="0" i="0" u="none" strike="noStrike" kern="0" cap="none" spc="0" normalizeH="0" baseline="0" noProof="0" dirty="0">
                    <a:ln>
                      <a:noFill/>
                    </a:ln>
                    <a:solidFill>
                      <a:srgbClr val="C00000"/>
                    </a:solidFill>
                    <a:effectLst/>
                    <a:uLnTx/>
                    <a:uFillTx/>
                    <a:latin typeface="字体视界-NEW魏碑体" panose="02010601030101010101" pitchFamily="2" charset="-122"/>
                    <a:ea typeface="字体视界-NEW魏碑体" panose="02010601030101010101" pitchFamily="2" charset="-122"/>
                  </a:rPr>
                  <a:t> </a:t>
                </a:r>
              </a:p>
            </p:txBody>
          </p:sp>
          <p:grpSp>
            <p:nvGrpSpPr>
              <p:cNvPr id="45" name="组合 44"/>
              <p:cNvGrpSpPr/>
              <p:nvPr/>
            </p:nvGrpSpPr>
            <p:grpSpPr>
              <a:xfrm rot="16200000">
                <a:off x="3971555" y="-151581"/>
                <a:ext cx="347394" cy="5563001"/>
                <a:chOff x="1861559" y="2468597"/>
                <a:chExt cx="1872217" cy="5563001"/>
              </a:xfrm>
            </p:grpSpPr>
            <p:sp>
              <p:nvSpPr>
                <p:cNvPr id="47" name="圆角矩形 10"/>
                <p:cNvSpPr/>
                <p:nvPr/>
              </p:nvSpPr>
              <p:spPr>
                <a:xfrm>
                  <a:off x="1861559" y="2468597"/>
                  <a:ext cx="1872217" cy="77469"/>
                </a:xfrm>
                <a:prstGeom prst="roundRect">
                  <a:avLst>
                    <a:gd name="adj" fmla="val 50000"/>
                  </a:avLst>
                </a:prstGeom>
                <a:solidFill>
                  <a:srgbClr val="C00000"/>
                </a:solidFill>
                <a:ln w="25400" cap="flat" cmpd="sng" algn="ctr">
                  <a:no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a:ln>
                      <a:noFill/>
                    </a:ln>
                    <a:solidFill>
                      <a:prstClr val="white"/>
                    </a:solidFill>
                    <a:effectLst/>
                    <a:uLnTx/>
                    <a:uFillTx/>
                    <a:latin typeface="字体视界-NEW魏碑体" panose="02010601030101010101" pitchFamily="2" charset="-122"/>
                    <a:ea typeface="字体视界-NEW魏碑体" panose="02010601030101010101" pitchFamily="2" charset="-122"/>
                  </a:endParaRPr>
                </a:p>
              </p:txBody>
            </p:sp>
            <p:sp>
              <p:nvSpPr>
                <p:cNvPr id="48" name="圆角矩形 11"/>
                <p:cNvSpPr/>
                <p:nvPr/>
              </p:nvSpPr>
              <p:spPr>
                <a:xfrm>
                  <a:off x="1861575" y="7954129"/>
                  <a:ext cx="1872201" cy="77469"/>
                </a:xfrm>
                <a:prstGeom prst="roundRect">
                  <a:avLst>
                    <a:gd name="adj" fmla="val 50000"/>
                  </a:avLst>
                </a:prstGeom>
                <a:solidFill>
                  <a:srgbClr val="C00000"/>
                </a:solidFill>
                <a:ln w="25400" cap="flat" cmpd="sng" algn="ctr">
                  <a:no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a:ln>
                      <a:noFill/>
                    </a:ln>
                    <a:solidFill>
                      <a:prstClr val="white"/>
                    </a:solidFill>
                    <a:effectLst/>
                    <a:uLnTx/>
                    <a:uFillTx/>
                    <a:latin typeface="字体视界-NEW魏碑体" panose="02010601030101010101" pitchFamily="2" charset="-122"/>
                    <a:ea typeface="字体视界-NEW魏碑体" panose="02010601030101010101" pitchFamily="2" charset="-122"/>
                  </a:endParaRPr>
                </a:p>
              </p:txBody>
            </p:sp>
          </p:grpSp>
          <p:sp>
            <p:nvSpPr>
              <p:cNvPr id="46" name="TextBox 20"/>
              <p:cNvSpPr txBox="1"/>
              <p:nvPr/>
            </p:nvSpPr>
            <p:spPr>
              <a:xfrm>
                <a:off x="1615191" y="2410404"/>
                <a:ext cx="625157" cy="449580"/>
              </a:xfrm>
              <a:prstGeom prst="rect">
                <a:avLst/>
              </a:prstGeom>
              <a:solidFill>
                <a:srgbClr val="C00000"/>
              </a:solidFill>
            </p:spPr>
            <p:txBody>
              <a:bodyPr wrap="none" lIns="0" tIns="0" rIns="0" bIns="0" rtlCol="0" anchor="ctr">
                <a:no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2400" b="1" i="0" u="none" strike="noStrike" kern="0" cap="none" spc="0" normalizeH="0" baseline="0" noProof="0" dirty="0">
                    <a:ln>
                      <a:noFill/>
                    </a:ln>
                    <a:solidFill>
                      <a:srgbClr val="F6F2EA"/>
                    </a:solidFill>
                    <a:effectLst/>
                    <a:uLnTx/>
                    <a:uFillTx/>
                    <a:latin typeface="字体视界-NEW魏碑体" panose="02010601030101010101" pitchFamily="2" charset="-122"/>
                    <a:ea typeface="字体视界-NEW魏碑体" panose="02010601030101010101" pitchFamily="2" charset="-122"/>
                  </a:rPr>
                  <a:t>01</a:t>
                </a:r>
                <a:endParaRPr kumimoji="0" lang="zh-CN" altLang="en-US" sz="2400" b="1" i="0" u="none" strike="noStrike" kern="0" cap="none" spc="0" normalizeH="0" baseline="0" noProof="0" dirty="0">
                  <a:ln>
                    <a:noFill/>
                  </a:ln>
                  <a:solidFill>
                    <a:srgbClr val="F6F2EA"/>
                  </a:solidFill>
                  <a:effectLst/>
                  <a:uLnTx/>
                  <a:uFillTx/>
                  <a:latin typeface="字体视界-NEW魏碑体" panose="02010601030101010101" pitchFamily="2" charset="-122"/>
                  <a:ea typeface="字体视界-NEW魏碑体" panose="02010601030101010101" pitchFamily="2" charset="-122"/>
                </a:endParaRPr>
              </a:p>
            </p:txBody>
          </p:sp>
        </p:grpSp>
        <p:sp>
          <p:nvSpPr>
            <p:cNvPr id="43" name="文本框 21"/>
            <p:cNvSpPr txBox="1">
              <a:spLocks noChangeArrowheads="1"/>
            </p:cNvSpPr>
            <p:nvPr/>
          </p:nvSpPr>
          <p:spPr bwMode="auto">
            <a:xfrm>
              <a:off x="5905284" y="1645429"/>
              <a:ext cx="457814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a:r>
                <a:rPr lang="zh-CN" altLang="en-US" sz="2000" b="1" dirty="0">
                  <a:solidFill>
                    <a:srgbClr val="C00000"/>
                  </a:solidFill>
                  <a:latin typeface="字体视界-NEW魏碑体" panose="02010601030101010101" pitchFamily="2" charset="-122"/>
                  <a:ea typeface="字体视界-NEW魏碑体" panose="02010601030101010101" pitchFamily="2" charset="-122"/>
                </a:rPr>
                <a:t>周恩来总理的简要生平</a:t>
              </a:r>
            </a:p>
          </p:txBody>
        </p:sp>
      </p:grpSp>
      <p:grpSp>
        <p:nvGrpSpPr>
          <p:cNvPr id="49" name="组合 48"/>
          <p:cNvGrpSpPr/>
          <p:nvPr/>
        </p:nvGrpSpPr>
        <p:grpSpPr>
          <a:xfrm>
            <a:off x="4586406" y="2371685"/>
            <a:ext cx="5776881" cy="453090"/>
            <a:chOff x="4946493" y="1597309"/>
            <a:chExt cx="5776881" cy="453090"/>
          </a:xfrm>
        </p:grpSpPr>
        <p:grpSp>
          <p:nvGrpSpPr>
            <p:cNvPr id="50" name="组合 49"/>
            <p:cNvGrpSpPr/>
            <p:nvPr/>
          </p:nvGrpSpPr>
          <p:grpSpPr>
            <a:xfrm>
              <a:off x="4946493" y="1597309"/>
              <a:ext cx="5776881" cy="453090"/>
              <a:chOff x="1363751" y="2406894"/>
              <a:chExt cx="5563001" cy="453090"/>
            </a:xfrm>
          </p:grpSpPr>
          <p:sp>
            <p:nvSpPr>
              <p:cNvPr id="52" name="TextBox 35"/>
              <p:cNvSpPr txBox="1"/>
              <p:nvPr/>
            </p:nvSpPr>
            <p:spPr>
              <a:xfrm rot="16200000">
                <a:off x="3910391" y="-111448"/>
                <a:ext cx="448412" cy="5485096"/>
              </a:xfrm>
              <a:prstGeom prst="rect">
                <a:avLst/>
              </a:prstGeom>
              <a:noFill/>
              <a:ln w="9525" cap="flat" cmpd="sng" algn="ctr">
                <a:solidFill>
                  <a:srgbClr val="C00000"/>
                </a:solidFill>
                <a:prstDash val="solid"/>
                <a:miter lim="800000"/>
              </a:ln>
              <a:effectLst>
                <a:innerShdw blurRad="127000" dist="88900" dir="18900000">
                  <a:prstClr val="black">
                    <a:alpha val="38000"/>
                  </a:prstClr>
                </a:innerShdw>
              </a:effectLst>
            </p:spPr>
            <p:txBody>
              <a:bodyPr vert="eaVert" lIns="0" tIns="0" rIns="0" bIns="360000" anchor="ctr"/>
              <a:lstStyle>
                <a:defPPr>
                  <a:defRPr lang="zh-CN"/>
                </a:defPPr>
                <a:lvl1pPr algn="ctr">
                  <a:defRPr sz="3200" kern="0">
                    <a:solidFill>
                      <a:prstClr val="white"/>
                    </a:solidFill>
                    <a:latin typeface="Calibri" panose="020F0502020204030204"/>
                    <a:ea typeface="宋体" panose="02010600030101010101" pitchFamily="2" charset="-122"/>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1219200" eaLnBrk="1" fontAlgn="auto" latinLnBrk="0" hangingPunct="1">
                  <a:lnSpc>
                    <a:spcPct val="100000"/>
                  </a:lnSpc>
                  <a:spcBef>
                    <a:spcPts val="0"/>
                  </a:spcBef>
                  <a:spcAft>
                    <a:spcPts val="0"/>
                  </a:spcAft>
                  <a:buClrTx/>
                  <a:buSzTx/>
                  <a:buFontTx/>
                  <a:buNone/>
                  <a:defRPr/>
                </a:pPr>
                <a:r>
                  <a:rPr kumimoji="0" lang="zh-CN" altLang="en-US" b="0" i="0" u="none" strike="noStrike" kern="0" cap="none" spc="0" normalizeH="0" baseline="0" noProof="0" dirty="0">
                    <a:ln>
                      <a:noFill/>
                    </a:ln>
                    <a:solidFill>
                      <a:srgbClr val="C00000"/>
                    </a:solidFill>
                    <a:effectLst/>
                    <a:uLnTx/>
                    <a:uFillTx/>
                    <a:latin typeface="字体视界-NEW魏碑体" panose="02010601030101010101" pitchFamily="2" charset="-122"/>
                    <a:ea typeface="字体视界-NEW魏碑体" panose="02010601030101010101" pitchFamily="2" charset="-122"/>
                  </a:rPr>
                  <a:t> </a:t>
                </a:r>
              </a:p>
            </p:txBody>
          </p:sp>
          <p:grpSp>
            <p:nvGrpSpPr>
              <p:cNvPr id="53" name="组合 52"/>
              <p:cNvGrpSpPr/>
              <p:nvPr/>
            </p:nvGrpSpPr>
            <p:grpSpPr>
              <a:xfrm rot="16200000">
                <a:off x="3971555" y="-151581"/>
                <a:ext cx="347394" cy="5563001"/>
                <a:chOff x="1861559" y="2468597"/>
                <a:chExt cx="1872217" cy="5563001"/>
              </a:xfrm>
            </p:grpSpPr>
            <p:sp>
              <p:nvSpPr>
                <p:cNvPr id="55" name="圆角矩形 10"/>
                <p:cNvSpPr/>
                <p:nvPr/>
              </p:nvSpPr>
              <p:spPr>
                <a:xfrm>
                  <a:off x="1861559" y="2468597"/>
                  <a:ext cx="1872217" cy="77469"/>
                </a:xfrm>
                <a:prstGeom prst="roundRect">
                  <a:avLst>
                    <a:gd name="adj" fmla="val 50000"/>
                  </a:avLst>
                </a:prstGeom>
                <a:solidFill>
                  <a:srgbClr val="C00000"/>
                </a:solidFill>
                <a:ln w="25400" cap="flat" cmpd="sng" algn="ctr">
                  <a:no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a:ln>
                      <a:noFill/>
                    </a:ln>
                    <a:solidFill>
                      <a:prstClr val="white"/>
                    </a:solidFill>
                    <a:effectLst/>
                    <a:uLnTx/>
                    <a:uFillTx/>
                    <a:latin typeface="字体视界-NEW魏碑体" panose="02010601030101010101" pitchFamily="2" charset="-122"/>
                    <a:ea typeface="字体视界-NEW魏碑体" panose="02010601030101010101" pitchFamily="2" charset="-122"/>
                  </a:endParaRPr>
                </a:p>
              </p:txBody>
            </p:sp>
            <p:sp>
              <p:nvSpPr>
                <p:cNvPr id="56" name="圆角矩形 11"/>
                <p:cNvSpPr/>
                <p:nvPr/>
              </p:nvSpPr>
              <p:spPr>
                <a:xfrm>
                  <a:off x="1861575" y="7954129"/>
                  <a:ext cx="1872201" cy="77469"/>
                </a:xfrm>
                <a:prstGeom prst="roundRect">
                  <a:avLst>
                    <a:gd name="adj" fmla="val 50000"/>
                  </a:avLst>
                </a:prstGeom>
                <a:solidFill>
                  <a:srgbClr val="C00000"/>
                </a:solidFill>
                <a:ln w="25400" cap="flat" cmpd="sng" algn="ctr">
                  <a:no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a:ln>
                      <a:noFill/>
                    </a:ln>
                    <a:solidFill>
                      <a:prstClr val="white"/>
                    </a:solidFill>
                    <a:effectLst/>
                    <a:uLnTx/>
                    <a:uFillTx/>
                    <a:latin typeface="字体视界-NEW魏碑体" panose="02010601030101010101" pitchFamily="2" charset="-122"/>
                    <a:ea typeface="字体视界-NEW魏碑体" panose="02010601030101010101" pitchFamily="2" charset="-122"/>
                  </a:endParaRPr>
                </a:p>
              </p:txBody>
            </p:sp>
          </p:grpSp>
          <p:sp>
            <p:nvSpPr>
              <p:cNvPr id="54" name="TextBox 20"/>
              <p:cNvSpPr txBox="1"/>
              <p:nvPr/>
            </p:nvSpPr>
            <p:spPr>
              <a:xfrm>
                <a:off x="1615191" y="2410404"/>
                <a:ext cx="625157" cy="449580"/>
              </a:xfrm>
              <a:prstGeom prst="rect">
                <a:avLst/>
              </a:prstGeom>
              <a:solidFill>
                <a:srgbClr val="C00000"/>
              </a:solidFill>
            </p:spPr>
            <p:txBody>
              <a:bodyPr wrap="none" lIns="0" tIns="0" rIns="0" bIns="0" rtlCol="0" anchor="ctr">
                <a:no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2400" b="1" i="0" u="none" strike="noStrike" kern="0" cap="none" spc="0" normalizeH="0" baseline="0" noProof="0">
                    <a:ln>
                      <a:noFill/>
                    </a:ln>
                    <a:solidFill>
                      <a:srgbClr val="F6F2EA"/>
                    </a:solidFill>
                    <a:effectLst/>
                    <a:uLnTx/>
                    <a:uFillTx/>
                    <a:latin typeface="字体视界-NEW魏碑体" panose="02010601030101010101" pitchFamily="2" charset="-122"/>
                    <a:ea typeface="字体视界-NEW魏碑体" panose="02010601030101010101" pitchFamily="2" charset="-122"/>
                  </a:rPr>
                  <a:t>02</a:t>
                </a:r>
                <a:endParaRPr kumimoji="0" lang="zh-CN" altLang="en-US" sz="2400" b="1" i="0" u="none" strike="noStrike" kern="0" cap="none" spc="0" normalizeH="0" baseline="0" noProof="0" dirty="0">
                  <a:ln>
                    <a:noFill/>
                  </a:ln>
                  <a:solidFill>
                    <a:srgbClr val="F6F2EA"/>
                  </a:solidFill>
                  <a:effectLst/>
                  <a:uLnTx/>
                  <a:uFillTx/>
                  <a:latin typeface="字体视界-NEW魏碑体" panose="02010601030101010101" pitchFamily="2" charset="-122"/>
                  <a:ea typeface="字体视界-NEW魏碑体" panose="02010601030101010101" pitchFamily="2" charset="-122"/>
                </a:endParaRPr>
              </a:p>
            </p:txBody>
          </p:sp>
        </p:grpSp>
        <p:sp>
          <p:nvSpPr>
            <p:cNvPr id="51" name="文本框 21"/>
            <p:cNvSpPr txBox="1">
              <a:spLocks noChangeArrowheads="1"/>
            </p:cNvSpPr>
            <p:nvPr/>
          </p:nvSpPr>
          <p:spPr bwMode="auto">
            <a:xfrm>
              <a:off x="5905284" y="1645429"/>
              <a:ext cx="457814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a:r>
                <a:rPr lang="zh-CN" altLang="en-US" sz="2000" b="1" dirty="0">
                  <a:solidFill>
                    <a:srgbClr val="C00000"/>
                  </a:solidFill>
                  <a:latin typeface="字体视界-NEW魏碑体" panose="02010601030101010101" pitchFamily="2" charset="-122"/>
                  <a:ea typeface="字体视界-NEW魏碑体" panose="02010601030101010101" pitchFamily="2" charset="-122"/>
                </a:rPr>
                <a:t>周恩来总理与南开大学</a:t>
              </a:r>
            </a:p>
          </p:txBody>
        </p:sp>
      </p:grpSp>
      <p:grpSp>
        <p:nvGrpSpPr>
          <p:cNvPr id="57" name="组合 56"/>
          <p:cNvGrpSpPr/>
          <p:nvPr/>
        </p:nvGrpSpPr>
        <p:grpSpPr>
          <a:xfrm>
            <a:off x="4597471" y="3245178"/>
            <a:ext cx="5776881" cy="453090"/>
            <a:chOff x="4946493" y="1597309"/>
            <a:chExt cx="5776881" cy="453090"/>
          </a:xfrm>
        </p:grpSpPr>
        <p:grpSp>
          <p:nvGrpSpPr>
            <p:cNvPr id="58" name="组合 57"/>
            <p:cNvGrpSpPr/>
            <p:nvPr/>
          </p:nvGrpSpPr>
          <p:grpSpPr>
            <a:xfrm>
              <a:off x="4946493" y="1597309"/>
              <a:ext cx="5776881" cy="453090"/>
              <a:chOff x="1363751" y="2406894"/>
              <a:chExt cx="5563001" cy="453090"/>
            </a:xfrm>
          </p:grpSpPr>
          <p:sp>
            <p:nvSpPr>
              <p:cNvPr id="60" name="TextBox 35"/>
              <p:cNvSpPr txBox="1"/>
              <p:nvPr/>
            </p:nvSpPr>
            <p:spPr>
              <a:xfrm rot="16200000">
                <a:off x="3910391" y="-111448"/>
                <a:ext cx="448412" cy="5485096"/>
              </a:xfrm>
              <a:prstGeom prst="rect">
                <a:avLst/>
              </a:prstGeom>
              <a:noFill/>
              <a:ln w="9525" cap="flat" cmpd="sng" algn="ctr">
                <a:solidFill>
                  <a:srgbClr val="C00000"/>
                </a:solidFill>
                <a:prstDash val="solid"/>
                <a:miter lim="800000"/>
              </a:ln>
              <a:effectLst>
                <a:innerShdw blurRad="127000" dist="88900" dir="18900000">
                  <a:prstClr val="black">
                    <a:alpha val="38000"/>
                  </a:prstClr>
                </a:innerShdw>
              </a:effectLst>
            </p:spPr>
            <p:txBody>
              <a:bodyPr vert="eaVert" lIns="0" tIns="0" rIns="0" bIns="360000" anchor="ctr"/>
              <a:lstStyle>
                <a:defPPr>
                  <a:defRPr lang="zh-CN"/>
                </a:defPPr>
                <a:lvl1pPr algn="ctr">
                  <a:defRPr sz="3200" kern="0">
                    <a:solidFill>
                      <a:prstClr val="white"/>
                    </a:solidFill>
                    <a:latin typeface="Calibri" panose="020F0502020204030204"/>
                    <a:ea typeface="宋体" panose="02010600030101010101" pitchFamily="2" charset="-122"/>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1219200" eaLnBrk="1" fontAlgn="auto" latinLnBrk="0" hangingPunct="1">
                  <a:lnSpc>
                    <a:spcPct val="100000"/>
                  </a:lnSpc>
                  <a:spcBef>
                    <a:spcPts val="0"/>
                  </a:spcBef>
                  <a:spcAft>
                    <a:spcPts val="0"/>
                  </a:spcAft>
                  <a:buClrTx/>
                  <a:buSzTx/>
                  <a:buFontTx/>
                  <a:buNone/>
                  <a:defRPr/>
                </a:pPr>
                <a:r>
                  <a:rPr kumimoji="0" lang="zh-CN" altLang="en-US" b="0" i="0" u="none" strike="noStrike" kern="0" cap="none" spc="0" normalizeH="0" baseline="0" noProof="0" dirty="0">
                    <a:ln>
                      <a:noFill/>
                    </a:ln>
                    <a:solidFill>
                      <a:srgbClr val="C00000"/>
                    </a:solidFill>
                    <a:effectLst/>
                    <a:uLnTx/>
                    <a:uFillTx/>
                    <a:latin typeface="字体视界-NEW魏碑体" panose="02010601030101010101" pitchFamily="2" charset="-122"/>
                    <a:ea typeface="字体视界-NEW魏碑体" panose="02010601030101010101" pitchFamily="2" charset="-122"/>
                  </a:rPr>
                  <a:t> </a:t>
                </a:r>
              </a:p>
            </p:txBody>
          </p:sp>
          <p:grpSp>
            <p:nvGrpSpPr>
              <p:cNvPr id="61" name="组合 60"/>
              <p:cNvGrpSpPr/>
              <p:nvPr/>
            </p:nvGrpSpPr>
            <p:grpSpPr>
              <a:xfrm rot="16200000">
                <a:off x="3971555" y="-151581"/>
                <a:ext cx="347394" cy="5563001"/>
                <a:chOff x="1861559" y="2468597"/>
                <a:chExt cx="1872217" cy="5563001"/>
              </a:xfrm>
            </p:grpSpPr>
            <p:sp>
              <p:nvSpPr>
                <p:cNvPr id="63" name="圆角矩形 10"/>
                <p:cNvSpPr/>
                <p:nvPr/>
              </p:nvSpPr>
              <p:spPr>
                <a:xfrm>
                  <a:off x="1861559" y="2468597"/>
                  <a:ext cx="1872217" cy="77469"/>
                </a:xfrm>
                <a:prstGeom prst="roundRect">
                  <a:avLst>
                    <a:gd name="adj" fmla="val 50000"/>
                  </a:avLst>
                </a:prstGeom>
                <a:solidFill>
                  <a:srgbClr val="C00000"/>
                </a:solidFill>
                <a:ln w="25400" cap="flat" cmpd="sng" algn="ctr">
                  <a:no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a:ln>
                      <a:noFill/>
                    </a:ln>
                    <a:solidFill>
                      <a:prstClr val="white"/>
                    </a:solidFill>
                    <a:effectLst/>
                    <a:uLnTx/>
                    <a:uFillTx/>
                    <a:latin typeface="字体视界-NEW魏碑体" panose="02010601030101010101" pitchFamily="2" charset="-122"/>
                    <a:ea typeface="字体视界-NEW魏碑体" panose="02010601030101010101" pitchFamily="2" charset="-122"/>
                  </a:endParaRPr>
                </a:p>
              </p:txBody>
            </p:sp>
            <p:sp>
              <p:nvSpPr>
                <p:cNvPr id="64" name="圆角矩形 11"/>
                <p:cNvSpPr/>
                <p:nvPr/>
              </p:nvSpPr>
              <p:spPr>
                <a:xfrm>
                  <a:off x="1861575" y="7954129"/>
                  <a:ext cx="1872201" cy="77469"/>
                </a:xfrm>
                <a:prstGeom prst="roundRect">
                  <a:avLst>
                    <a:gd name="adj" fmla="val 50000"/>
                  </a:avLst>
                </a:prstGeom>
                <a:solidFill>
                  <a:srgbClr val="C00000"/>
                </a:solidFill>
                <a:ln w="25400" cap="flat" cmpd="sng" algn="ctr">
                  <a:no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a:ln>
                      <a:noFill/>
                    </a:ln>
                    <a:solidFill>
                      <a:prstClr val="white"/>
                    </a:solidFill>
                    <a:effectLst/>
                    <a:uLnTx/>
                    <a:uFillTx/>
                    <a:latin typeface="字体视界-NEW魏碑体" panose="02010601030101010101" pitchFamily="2" charset="-122"/>
                    <a:ea typeface="字体视界-NEW魏碑体" panose="02010601030101010101" pitchFamily="2" charset="-122"/>
                  </a:endParaRPr>
                </a:p>
              </p:txBody>
            </p:sp>
          </p:grpSp>
          <p:sp>
            <p:nvSpPr>
              <p:cNvPr id="62" name="TextBox 20"/>
              <p:cNvSpPr txBox="1"/>
              <p:nvPr/>
            </p:nvSpPr>
            <p:spPr>
              <a:xfrm>
                <a:off x="1615191" y="2410404"/>
                <a:ext cx="625157" cy="449580"/>
              </a:xfrm>
              <a:prstGeom prst="rect">
                <a:avLst/>
              </a:prstGeom>
              <a:solidFill>
                <a:srgbClr val="C00000"/>
              </a:solidFill>
            </p:spPr>
            <p:txBody>
              <a:bodyPr wrap="none" lIns="0" tIns="0" rIns="0" bIns="0" rtlCol="0" anchor="ctr">
                <a:no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2400" b="1" i="0" u="none" strike="noStrike" kern="0" cap="none" spc="0" normalizeH="0" baseline="0" noProof="0">
                    <a:ln>
                      <a:noFill/>
                    </a:ln>
                    <a:solidFill>
                      <a:srgbClr val="F6F2EA"/>
                    </a:solidFill>
                    <a:effectLst/>
                    <a:uLnTx/>
                    <a:uFillTx/>
                    <a:latin typeface="字体视界-NEW魏碑体" panose="02010601030101010101" pitchFamily="2" charset="-122"/>
                    <a:ea typeface="字体视界-NEW魏碑体" panose="02010601030101010101" pitchFamily="2" charset="-122"/>
                  </a:rPr>
                  <a:t>03</a:t>
                </a:r>
                <a:endParaRPr kumimoji="0" lang="zh-CN" altLang="en-US" sz="2400" b="1" i="0" u="none" strike="noStrike" kern="0" cap="none" spc="0" normalizeH="0" baseline="0" noProof="0" dirty="0">
                  <a:ln>
                    <a:noFill/>
                  </a:ln>
                  <a:solidFill>
                    <a:srgbClr val="F6F2EA"/>
                  </a:solidFill>
                  <a:effectLst/>
                  <a:uLnTx/>
                  <a:uFillTx/>
                  <a:latin typeface="字体视界-NEW魏碑体" panose="02010601030101010101" pitchFamily="2" charset="-122"/>
                  <a:ea typeface="字体视界-NEW魏碑体" panose="02010601030101010101" pitchFamily="2" charset="-122"/>
                </a:endParaRPr>
              </a:p>
            </p:txBody>
          </p:sp>
        </p:grpSp>
        <p:sp>
          <p:nvSpPr>
            <p:cNvPr id="59" name="文本框 21"/>
            <p:cNvSpPr txBox="1">
              <a:spLocks noChangeArrowheads="1"/>
            </p:cNvSpPr>
            <p:nvPr/>
          </p:nvSpPr>
          <p:spPr bwMode="auto">
            <a:xfrm>
              <a:off x="5905284" y="1645429"/>
              <a:ext cx="457814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a:r>
                <a:rPr lang="zh-CN" altLang="en-US" sz="2000" b="1" dirty="0">
                  <a:solidFill>
                    <a:srgbClr val="C00000"/>
                  </a:solidFill>
                  <a:latin typeface="字体视界-NEW魏碑体" panose="02010601030101010101" pitchFamily="2" charset="-122"/>
                  <a:ea typeface="字体视界-NEW魏碑体" panose="02010601030101010101" pitchFamily="2" charset="-122"/>
                </a:rPr>
                <a:t>周恩来总理与中国社会</a:t>
              </a:r>
            </a:p>
          </p:txBody>
        </p:sp>
      </p:grpSp>
      <p:grpSp>
        <p:nvGrpSpPr>
          <p:cNvPr id="65" name="组合 64"/>
          <p:cNvGrpSpPr/>
          <p:nvPr/>
        </p:nvGrpSpPr>
        <p:grpSpPr>
          <a:xfrm>
            <a:off x="4597471" y="4065865"/>
            <a:ext cx="5776881" cy="453090"/>
            <a:chOff x="4946493" y="1597309"/>
            <a:chExt cx="5776881" cy="453090"/>
          </a:xfrm>
        </p:grpSpPr>
        <p:grpSp>
          <p:nvGrpSpPr>
            <p:cNvPr id="66" name="组合 65"/>
            <p:cNvGrpSpPr/>
            <p:nvPr/>
          </p:nvGrpSpPr>
          <p:grpSpPr>
            <a:xfrm>
              <a:off x="4946493" y="1597309"/>
              <a:ext cx="5776881" cy="453090"/>
              <a:chOff x="1363751" y="2406894"/>
              <a:chExt cx="5563001" cy="453090"/>
            </a:xfrm>
          </p:grpSpPr>
          <p:sp>
            <p:nvSpPr>
              <p:cNvPr id="68" name="TextBox 35"/>
              <p:cNvSpPr txBox="1"/>
              <p:nvPr/>
            </p:nvSpPr>
            <p:spPr>
              <a:xfrm rot="16200000">
                <a:off x="3910391" y="-111448"/>
                <a:ext cx="448412" cy="5485096"/>
              </a:xfrm>
              <a:prstGeom prst="rect">
                <a:avLst/>
              </a:prstGeom>
              <a:noFill/>
              <a:ln w="9525" cap="flat" cmpd="sng" algn="ctr">
                <a:solidFill>
                  <a:srgbClr val="C00000"/>
                </a:solidFill>
                <a:prstDash val="solid"/>
                <a:miter lim="800000"/>
              </a:ln>
              <a:effectLst>
                <a:innerShdw blurRad="127000" dist="88900" dir="18900000">
                  <a:prstClr val="black">
                    <a:alpha val="38000"/>
                  </a:prstClr>
                </a:innerShdw>
              </a:effectLst>
            </p:spPr>
            <p:txBody>
              <a:bodyPr vert="eaVert" lIns="0" tIns="0" rIns="0" bIns="360000" anchor="ctr"/>
              <a:lstStyle>
                <a:defPPr>
                  <a:defRPr lang="zh-CN"/>
                </a:defPPr>
                <a:lvl1pPr algn="ctr">
                  <a:defRPr sz="3200" kern="0">
                    <a:solidFill>
                      <a:prstClr val="white"/>
                    </a:solidFill>
                    <a:latin typeface="Calibri" panose="020F0502020204030204"/>
                    <a:ea typeface="宋体" panose="02010600030101010101" pitchFamily="2" charset="-122"/>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1219200" eaLnBrk="1" fontAlgn="auto" latinLnBrk="0" hangingPunct="1">
                  <a:lnSpc>
                    <a:spcPct val="100000"/>
                  </a:lnSpc>
                  <a:spcBef>
                    <a:spcPts val="0"/>
                  </a:spcBef>
                  <a:spcAft>
                    <a:spcPts val="0"/>
                  </a:spcAft>
                  <a:buClrTx/>
                  <a:buSzTx/>
                  <a:buFontTx/>
                  <a:buNone/>
                  <a:defRPr/>
                </a:pPr>
                <a:r>
                  <a:rPr kumimoji="0" lang="zh-CN" altLang="en-US" b="0" i="0" u="none" strike="noStrike" kern="0" cap="none" spc="0" normalizeH="0" baseline="0" noProof="0" dirty="0">
                    <a:ln>
                      <a:noFill/>
                    </a:ln>
                    <a:solidFill>
                      <a:srgbClr val="C00000"/>
                    </a:solidFill>
                    <a:effectLst/>
                    <a:uLnTx/>
                    <a:uFillTx/>
                    <a:latin typeface="字体视界-NEW魏碑体" panose="02010601030101010101" pitchFamily="2" charset="-122"/>
                    <a:ea typeface="字体视界-NEW魏碑体" panose="02010601030101010101" pitchFamily="2" charset="-122"/>
                  </a:rPr>
                  <a:t> </a:t>
                </a:r>
              </a:p>
            </p:txBody>
          </p:sp>
          <p:grpSp>
            <p:nvGrpSpPr>
              <p:cNvPr id="69" name="组合 68"/>
              <p:cNvGrpSpPr/>
              <p:nvPr/>
            </p:nvGrpSpPr>
            <p:grpSpPr>
              <a:xfrm rot="16200000">
                <a:off x="3971555" y="-151581"/>
                <a:ext cx="347394" cy="5563001"/>
                <a:chOff x="1861559" y="2468597"/>
                <a:chExt cx="1872217" cy="5563001"/>
              </a:xfrm>
            </p:grpSpPr>
            <p:sp>
              <p:nvSpPr>
                <p:cNvPr id="71" name="圆角矩形 10"/>
                <p:cNvSpPr/>
                <p:nvPr/>
              </p:nvSpPr>
              <p:spPr>
                <a:xfrm>
                  <a:off x="1861559" y="2468597"/>
                  <a:ext cx="1872217" cy="77469"/>
                </a:xfrm>
                <a:prstGeom prst="roundRect">
                  <a:avLst>
                    <a:gd name="adj" fmla="val 50000"/>
                  </a:avLst>
                </a:prstGeom>
                <a:solidFill>
                  <a:srgbClr val="C00000"/>
                </a:solidFill>
                <a:ln w="25400" cap="flat" cmpd="sng" algn="ctr">
                  <a:no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a:ln>
                      <a:noFill/>
                    </a:ln>
                    <a:solidFill>
                      <a:prstClr val="white"/>
                    </a:solidFill>
                    <a:effectLst/>
                    <a:uLnTx/>
                    <a:uFillTx/>
                    <a:latin typeface="字体视界-NEW魏碑体" panose="02010601030101010101" pitchFamily="2" charset="-122"/>
                    <a:ea typeface="字体视界-NEW魏碑体" panose="02010601030101010101" pitchFamily="2" charset="-122"/>
                  </a:endParaRPr>
                </a:p>
              </p:txBody>
            </p:sp>
            <p:sp>
              <p:nvSpPr>
                <p:cNvPr id="72" name="圆角矩形 11"/>
                <p:cNvSpPr/>
                <p:nvPr/>
              </p:nvSpPr>
              <p:spPr>
                <a:xfrm>
                  <a:off x="1861575" y="7954129"/>
                  <a:ext cx="1872201" cy="77469"/>
                </a:xfrm>
                <a:prstGeom prst="roundRect">
                  <a:avLst>
                    <a:gd name="adj" fmla="val 50000"/>
                  </a:avLst>
                </a:prstGeom>
                <a:solidFill>
                  <a:srgbClr val="C00000"/>
                </a:solidFill>
                <a:ln w="25400" cap="flat" cmpd="sng" algn="ctr">
                  <a:no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a:ln>
                      <a:noFill/>
                    </a:ln>
                    <a:solidFill>
                      <a:prstClr val="white"/>
                    </a:solidFill>
                    <a:effectLst/>
                    <a:uLnTx/>
                    <a:uFillTx/>
                    <a:latin typeface="字体视界-NEW魏碑体" panose="02010601030101010101" pitchFamily="2" charset="-122"/>
                    <a:ea typeface="字体视界-NEW魏碑体" panose="02010601030101010101" pitchFamily="2" charset="-122"/>
                  </a:endParaRPr>
                </a:p>
              </p:txBody>
            </p:sp>
          </p:grpSp>
          <p:sp>
            <p:nvSpPr>
              <p:cNvPr id="70" name="TextBox 20"/>
              <p:cNvSpPr txBox="1"/>
              <p:nvPr/>
            </p:nvSpPr>
            <p:spPr>
              <a:xfrm>
                <a:off x="1615191" y="2410404"/>
                <a:ext cx="625157" cy="449580"/>
              </a:xfrm>
              <a:prstGeom prst="rect">
                <a:avLst/>
              </a:prstGeom>
              <a:solidFill>
                <a:srgbClr val="C00000"/>
              </a:solidFill>
            </p:spPr>
            <p:txBody>
              <a:bodyPr wrap="none" lIns="0" tIns="0" rIns="0" bIns="0" rtlCol="0" anchor="ctr">
                <a:no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2400" b="1" i="0" u="none" strike="noStrike" kern="0" cap="none" spc="0" normalizeH="0" baseline="0" noProof="0" dirty="0">
                    <a:ln>
                      <a:noFill/>
                    </a:ln>
                    <a:solidFill>
                      <a:srgbClr val="F6F2EA"/>
                    </a:solidFill>
                    <a:effectLst/>
                    <a:uLnTx/>
                    <a:uFillTx/>
                    <a:latin typeface="字体视界-NEW魏碑体" panose="02010601030101010101" pitchFamily="2" charset="-122"/>
                    <a:ea typeface="字体视界-NEW魏碑体" panose="02010601030101010101" pitchFamily="2" charset="-122"/>
                  </a:rPr>
                  <a:t>04</a:t>
                </a:r>
                <a:endParaRPr kumimoji="0" lang="zh-CN" altLang="en-US" sz="2400" b="1" i="0" u="none" strike="noStrike" kern="0" cap="none" spc="0" normalizeH="0" baseline="0" noProof="0" dirty="0">
                  <a:ln>
                    <a:noFill/>
                  </a:ln>
                  <a:solidFill>
                    <a:srgbClr val="F6F2EA"/>
                  </a:solidFill>
                  <a:effectLst/>
                  <a:uLnTx/>
                  <a:uFillTx/>
                  <a:latin typeface="字体视界-NEW魏碑体" panose="02010601030101010101" pitchFamily="2" charset="-122"/>
                  <a:ea typeface="字体视界-NEW魏碑体" panose="02010601030101010101" pitchFamily="2" charset="-122"/>
                </a:endParaRPr>
              </a:p>
            </p:txBody>
          </p:sp>
        </p:grpSp>
        <p:sp>
          <p:nvSpPr>
            <p:cNvPr id="67" name="文本框 21"/>
            <p:cNvSpPr txBox="1">
              <a:spLocks noChangeArrowheads="1"/>
            </p:cNvSpPr>
            <p:nvPr/>
          </p:nvSpPr>
          <p:spPr bwMode="auto">
            <a:xfrm>
              <a:off x="5905284" y="1645429"/>
              <a:ext cx="457814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a:r>
                <a:rPr lang="zh-CN" altLang="en-US" sz="2000" b="1" dirty="0">
                  <a:solidFill>
                    <a:srgbClr val="C00000"/>
                  </a:solidFill>
                  <a:latin typeface="字体视界-NEW魏碑体" panose="02010601030101010101" pitchFamily="2" charset="-122"/>
                  <a:ea typeface="字体视界-NEW魏碑体" panose="02010601030101010101" pitchFamily="2" charset="-122"/>
                </a:rPr>
                <a:t>思考与体会</a:t>
              </a:r>
            </a:p>
          </p:txBody>
        </p:sp>
      </p:grpSp>
      <p:pic>
        <p:nvPicPr>
          <p:cNvPr id="74" name="图片 73"/>
          <p:cNvPicPr>
            <a:picLocks noChangeAspect="1"/>
          </p:cNvPicPr>
          <p:nvPr/>
        </p:nvPicPr>
        <p:blipFill>
          <a:blip r:embed="rId5"/>
          <a:stretch>
            <a:fillRect/>
          </a:stretch>
        </p:blipFill>
        <p:spPr>
          <a:xfrm rot="20902340" flipH="1">
            <a:off x="686735" y="622930"/>
            <a:ext cx="3143832" cy="1309931"/>
          </a:xfrm>
          <a:prstGeom prst="rect">
            <a:avLst/>
          </a:prstGeom>
        </p:spPr>
      </p:pic>
      <p:grpSp>
        <p:nvGrpSpPr>
          <p:cNvPr id="2" name="组合 1"/>
          <p:cNvGrpSpPr/>
          <p:nvPr/>
        </p:nvGrpSpPr>
        <p:grpSpPr>
          <a:xfrm>
            <a:off x="4586406" y="4818329"/>
            <a:ext cx="5776881" cy="453090"/>
            <a:chOff x="4946493" y="1597309"/>
            <a:chExt cx="5776881" cy="453090"/>
          </a:xfrm>
        </p:grpSpPr>
        <p:grpSp>
          <p:nvGrpSpPr>
            <p:cNvPr id="3" name="组合 2"/>
            <p:cNvGrpSpPr/>
            <p:nvPr/>
          </p:nvGrpSpPr>
          <p:grpSpPr>
            <a:xfrm>
              <a:off x="4946493" y="1597309"/>
              <a:ext cx="5776881" cy="453090"/>
              <a:chOff x="1363751" y="2406894"/>
              <a:chExt cx="5563001" cy="453090"/>
            </a:xfrm>
          </p:grpSpPr>
          <p:sp>
            <p:nvSpPr>
              <p:cNvPr id="5" name="TextBox 35"/>
              <p:cNvSpPr txBox="1"/>
              <p:nvPr/>
            </p:nvSpPr>
            <p:spPr>
              <a:xfrm rot="16200000">
                <a:off x="3910391" y="-111448"/>
                <a:ext cx="448412" cy="5485096"/>
              </a:xfrm>
              <a:prstGeom prst="rect">
                <a:avLst/>
              </a:prstGeom>
              <a:noFill/>
              <a:ln w="9525" cap="flat" cmpd="sng" algn="ctr">
                <a:solidFill>
                  <a:srgbClr val="C00000"/>
                </a:solidFill>
                <a:prstDash val="solid"/>
                <a:miter lim="800000"/>
              </a:ln>
              <a:effectLst>
                <a:innerShdw blurRad="127000" dist="88900" dir="18900000">
                  <a:prstClr val="black">
                    <a:alpha val="38000"/>
                  </a:prstClr>
                </a:innerShdw>
              </a:effectLst>
            </p:spPr>
            <p:txBody>
              <a:bodyPr vert="eaVert" lIns="0" tIns="0" rIns="0" bIns="360000" anchor="ctr"/>
              <a:lstStyle>
                <a:defPPr>
                  <a:defRPr lang="zh-CN"/>
                </a:defPPr>
                <a:lvl1pPr algn="ctr">
                  <a:defRPr sz="3200" kern="0">
                    <a:solidFill>
                      <a:prstClr val="white"/>
                    </a:solidFill>
                    <a:latin typeface="Calibri" panose="020F0502020204030204"/>
                    <a:ea typeface="宋体" panose="02010600030101010101" pitchFamily="2" charset="-122"/>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1219200" eaLnBrk="1" fontAlgn="auto" latinLnBrk="0" hangingPunct="1">
                  <a:lnSpc>
                    <a:spcPct val="100000"/>
                  </a:lnSpc>
                  <a:spcBef>
                    <a:spcPts val="0"/>
                  </a:spcBef>
                  <a:spcAft>
                    <a:spcPts val="0"/>
                  </a:spcAft>
                  <a:buClrTx/>
                  <a:buSzTx/>
                  <a:buFontTx/>
                  <a:buNone/>
                  <a:defRPr/>
                </a:pPr>
                <a:r>
                  <a:rPr kumimoji="0" lang="zh-CN" altLang="en-US" b="0" i="0" u="none" strike="noStrike" kern="0" cap="none" spc="0" normalizeH="0" baseline="0" noProof="0" dirty="0">
                    <a:ln>
                      <a:noFill/>
                    </a:ln>
                    <a:solidFill>
                      <a:srgbClr val="C00000"/>
                    </a:solidFill>
                    <a:effectLst/>
                    <a:uLnTx/>
                    <a:uFillTx/>
                    <a:latin typeface="字体视界-NEW魏碑体" panose="02010601030101010101" pitchFamily="2" charset="-122"/>
                    <a:ea typeface="字体视界-NEW魏碑体" panose="02010601030101010101" pitchFamily="2" charset="-122"/>
                  </a:rPr>
                  <a:t> </a:t>
                </a:r>
              </a:p>
            </p:txBody>
          </p:sp>
          <p:grpSp>
            <p:nvGrpSpPr>
              <p:cNvPr id="6" name="组合 5"/>
              <p:cNvGrpSpPr/>
              <p:nvPr/>
            </p:nvGrpSpPr>
            <p:grpSpPr>
              <a:xfrm rot="16200000">
                <a:off x="3971555" y="-151581"/>
                <a:ext cx="347394" cy="5563001"/>
                <a:chOff x="1861559" y="2468597"/>
                <a:chExt cx="1872217" cy="5563001"/>
              </a:xfrm>
            </p:grpSpPr>
            <p:sp>
              <p:nvSpPr>
                <p:cNvPr id="8" name="圆角矩形 10"/>
                <p:cNvSpPr/>
                <p:nvPr/>
              </p:nvSpPr>
              <p:spPr>
                <a:xfrm>
                  <a:off x="1861559" y="2468597"/>
                  <a:ext cx="1872217" cy="77469"/>
                </a:xfrm>
                <a:prstGeom prst="roundRect">
                  <a:avLst>
                    <a:gd name="adj" fmla="val 50000"/>
                  </a:avLst>
                </a:prstGeom>
                <a:solidFill>
                  <a:srgbClr val="C00000"/>
                </a:solidFill>
                <a:ln w="25400" cap="flat" cmpd="sng" algn="ctr">
                  <a:no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a:ln>
                      <a:noFill/>
                    </a:ln>
                    <a:solidFill>
                      <a:prstClr val="white"/>
                    </a:solidFill>
                    <a:effectLst/>
                    <a:uLnTx/>
                    <a:uFillTx/>
                    <a:latin typeface="字体视界-NEW魏碑体" panose="02010601030101010101" pitchFamily="2" charset="-122"/>
                    <a:ea typeface="字体视界-NEW魏碑体" panose="02010601030101010101" pitchFamily="2" charset="-122"/>
                  </a:endParaRPr>
                </a:p>
              </p:txBody>
            </p:sp>
            <p:sp>
              <p:nvSpPr>
                <p:cNvPr id="9" name="圆角矩形 11"/>
                <p:cNvSpPr/>
                <p:nvPr/>
              </p:nvSpPr>
              <p:spPr>
                <a:xfrm>
                  <a:off x="1861575" y="7954129"/>
                  <a:ext cx="1872201" cy="77469"/>
                </a:xfrm>
                <a:prstGeom prst="roundRect">
                  <a:avLst>
                    <a:gd name="adj" fmla="val 50000"/>
                  </a:avLst>
                </a:prstGeom>
                <a:solidFill>
                  <a:srgbClr val="C00000"/>
                </a:solidFill>
                <a:ln w="25400" cap="flat" cmpd="sng" algn="ctr">
                  <a:no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a:ln>
                      <a:noFill/>
                    </a:ln>
                    <a:solidFill>
                      <a:prstClr val="white"/>
                    </a:solidFill>
                    <a:effectLst/>
                    <a:uLnTx/>
                    <a:uFillTx/>
                    <a:latin typeface="字体视界-NEW魏碑体" panose="02010601030101010101" pitchFamily="2" charset="-122"/>
                    <a:ea typeface="字体视界-NEW魏碑体" panose="02010601030101010101" pitchFamily="2" charset="-122"/>
                  </a:endParaRPr>
                </a:p>
              </p:txBody>
            </p:sp>
          </p:grpSp>
          <p:sp>
            <p:nvSpPr>
              <p:cNvPr id="7" name="TextBox 20"/>
              <p:cNvSpPr txBox="1"/>
              <p:nvPr/>
            </p:nvSpPr>
            <p:spPr>
              <a:xfrm>
                <a:off x="1615191" y="2410404"/>
                <a:ext cx="625157" cy="449580"/>
              </a:xfrm>
              <a:prstGeom prst="rect">
                <a:avLst/>
              </a:prstGeom>
              <a:solidFill>
                <a:srgbClr val="C00000"/>
              </a:solidFill>
            </p:spPr>
            <p:txBody>
              <a:bodyPr wrap="none" lIns="0" tIns="0" rIns="0" bIns="0" rtlCol="0" anchor="ctr">
                <a:no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2400" b="1" i="0" u="none" strike="noStrike" kern="0" cap="none" spc="0" normalizeH="0" baseline="0" noProof="0" dirty="0">
                    <a:ln>
                      <a:noFill/>
                    </a:ln>
                    <a:solidFill>
                      <a:srgbClr val="F6F2EA"/>
                    </a:solidFill>
                    <a:effectLst/>
                    <a:uLnTx/>
                    <a:uFillTx/>
                    <a:latin typeface="字体视界-NEW魏碑体" panose="02010601030101010101" pitchFamily="2" charset="-122"/>
                    <a:ea typeface="字体视界-NEW魏碑体" panose="02010601030101010101" pitchFamily="2" charset="-122"/>
                  </a:rPr>
                  <a:t>05</a:t>
                </a:r>
                <a:endParaRPr kumimoji="0" lang="zh-CN" altLang="en-US" sz="2400" b="1" i="0" u="none" strike="noStrike" kern="0" cap="none" spc="0" normalizeH="0" baseline="0" noProof="0" dirty="0">
                  <a:ln>
                    <a:noFill/>
                  </a:ln>
                  <a:solidFill>
                    <a:srgbClr val="F6F2EA"/>
                  </a:solidFill>
                  <a:effectLst/>
                  <a:uLnTx/>
                  <a:uFillTx/>
                  <a:latin typeface="字体视界-NEW魏碑体" panose="02010601030101010101" pitchFamily="2" charset="-122"/>
                  <a:ea typeface="字体视界-NEW魏碑体" panose="02010601030101010101" pitchFamily="2" charset="-122"/>
                </a:endParaRPr>
              </a:p>
            </p:txBody>
          </p:sp>
        </p:grpSp>
        <p:sp>
          <p:nvSpPr>
            <p:cNvPr id="4" name="文本框 21"/>
            <p:cNvSpPr txBox="1">
              <a:spLocks noChangeArrowheads="1"/>
            </p:cNvSpPr>
            <p:nvPr/>
          </p:nvSpPr>
          <p:spPr bwMode="auto">
            <a:xfrm>
              <a:off x="5905284" y="1645429"/>
              <a:ext cx="457814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a:r>
                <a:rPr lang="zh-CN" altLang="en-US" sz="2000" b="1" dirty="0">
                  <a:solidFill>
                    <a:srgbClr val="C00000"/>
                  </a:solidFill>
                  <a:latin typeface="字体视界-NEW魏碑体" panose="02010601030101010101" pitchFamily="2" charset="-122"/>
                  <a:ea typeface="字体视界-NEW魏碑体" panose="02010601030101010101" pitchFamily="2" charset="-122"/>
                </a:rPr>
                <a:t>主要参考文献</a:t>
              </a:r>
            </a:p>
          </p:txBody>
        </p:sp>
      </p:gr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nodeType="after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wipe(left)">
                                      <p:cBhvr>
                                        <p:cTn id="13" dur="500"/>
                                        <p:tgtEl>
                                          <p:spTgt spid="19"/>
                                        </p:tgtEl>
                                      </p:cBhvr>
                                    </p:animEffect>
                                  </p:childTnLst>
                                </p:cTn>
                              </p:par>
                            </p:childTnLst>
                          </p:cTn>
                        </p:par>
                        <p:par>
                          <p:cTn id="14" fill="hold">
                            <p:stCondLst>
                              <p:cond delay="1500"/>
                            </p:stCondLst>
                            <p:childTnLst>
                              <p:par>
                                <p:cTn id="15" presetID="16" presetClass="entr" presetSubtype="21" fill="hold" grpId="0" nodeType="afterEffect">
                                  <p:stCondLst>
                                    <p:cond delay="0"/>
                                  </p:stCondLst>
                                  <p:childTnLst>
                                    <p:set>
                                      <p:cBhvr>
                                        <p:cTn id="16" dur="1" fill="hold">
                                          <p:stCondLst>
                                            <p:cond delay="0"/>
                                          </p:stCondLst>
                                        </p:cTn>
                                        <p:tgtEl>
                                          <p:spTgt spid="39"/>
                                        </p:tgtEl>
                                        <p:attrNameLst>
                                          <p:attrName>style.visibility</p:attrName>
                                        </p:attrNameLst>
                                      </p:cBhvr>
                                      <p:to>
                                        <p:strVal val="visible"/>
                                      </p:to>
                                    </p:set>
                                    <p:animEffect transition="in" filter="barn(inVertical)">
                                      <p:cBhvr>
                                        <p:cTn id="17" dur="500"/>
                                        <p:tgtEl>
                                          <p:spTgt spid="39"/>
                                        </p:tgtEl>
                                      </p:cBhvr>
                                    </p:animEffect>
                                  </p:childTnLst>
                                </p:cTn>
                              </p:par>
                              <p:par>
                                <p:cTn id="18" presetID="16" presetClass="entr" presetSubtype="21" fill="hold" grpId="0" nodeType="withEffect">
                                  <p:stCondLst>
                                    <p:cond delay="0"/>
                                  </p:stCondLst>
                                  <p:childTnLst>
                                    <p:set>
                                      <p:cBhvr>
                                        <p:cTn id="19" dur="1" fill="hold">
                                          <p:stCondLst>
                                            <p:cond delay="0"/>
                                          </p:stCondLst>
                                        </p:cTn>
                                        <p:tgtEl>
                                          <p:spTgt spid="40"/>
                                        </p:tgtEl>
                                        <p:attrNameLst>
                                          <p:attrName>style.visibility</p:attrName>
                                        </p:attrNameLst>
                                      </p:cBhvr>
                                      <p:to>
                                        <p:strVal val="visible"/>
                                      </p:to>
                                    </p:set>
                                    <p:animEffect transition="in" filter="barn(inVertical)">
                                      <p:cBhvr>
                                        <p:cTn id="20" dur="500"/>
                                        <p:tgtEl>
                                          <p:spTgt spid="40"/>
                                        </p:tgtEl>
                                      </p:cBhvr>
                                    </p:animEffect>
                                  </p:childTnLst>
                                </p:cTn>
                              </p:par>
                            </p:childTnLst>
                          </p:cTn>
                        </p:par>
                        <p:par>
                          <p:cTn id="21" fill="hold">
                            <p:stCondLst>
                              <p:cond delay="2000"/>
                            </p:stCondLst>
                            <p:childTnLst>
                              <p:par>
                                <p:cTn id="22" presetID="2" presetClass="entr" presetSubtype="2" fill="hold" nodeType="afterEffect">
                                  <p:stCondLst>
                                    <p:cond delay="0"/>
                                  </p:stCondLst>
                                  <p:childTnLst>
                                    <p:set>
                                      <p:cBhvr>
                                        <p:cTn id="23" dur="1" fill="hold">
                                          <p:stCondLst>
                                            <p:cond delay="0"/>
                                          </p:stCondLst>
                                        </p:cTn>
                                        <p:tgtEl>
                                          <p:spTgt spid="41"/>
                                        </p:tgtEl>
                                        <p:attrNameLst>
                                          <p:attrName>style.visibility</p:attrName>
                                        </p:attrNameLst>
                                      </p:cBhvr>
                                      <p:to>
                                        <p:strVal val="visible"/>
                                      </p:to>
                                    </p:set>
                                    <p:anim calcmode="lin" valueType="num">
                                      <p:cBhvr additive="base">
                                        <p:cTn id="24" dur="500" fill="hold"/>
                                        <p:tgtEl>
                                          <p:spTgt spid="41"/>
                                        </p:tgtEl>
                                        <p:attrNameLst>
                                          <p:attrName>ppt_x</p:attrName>
                                        </p:attrNameLst>
                                      </p:cBhvr>
                                      <p:tavLst>
                                        <p:tav tm="0">
                                          <p:val>
                                            <p:strVal val="1+#ppt_w/2"/>
                                          </p:val>
                                        </p:tav>
                                        <p:tav tm="100000">
                                          <p:val>
                                            <p:strVal val="#ppt_x"/>
                                          </p:val>
                                        </p:tav>
                                      </p:tavLst>
                                    </p:anim>
                                    <p:anim calcmode="lin" valueType="num">
                                      <p:cBhvr additive="base">
                                        <p:cTn id="25" dur="500" fill="hold"/>
                                        <p:tgtEl>
                                          <p:spTgt spid="41"/>
                                        </p:tgtEl>
                                        <p:attrNameLst>
                                          <p:attrName>ppt_y</p:attrName>
                                        </p:attrNameLst>
                                      </p:cBhvr>
                                      <p:tavLst>
                                        <p:tav tm="0">
                                          <p:val>
                                            <p:strVal val="#ppt_y"/>
                                          </p:val>
                                        </p:tav>
                                        <p:tav tm="100000">
                                          <p:val>
                                            <p:strVal val="#ppt_y"/>
                                          </p:val>
                                        </p:tav>
                                      </p:tavLst>
                                    </p:anim>
                                  </p:childTnLst>
                                </p:cTn>
                              </p:par>
                            </p:childTnLst>
                          </p:cTn>
                        </p:par>
                        <p:par>
                          <p:cTn id="26" fill="hold">
                            <p:stCondLst>
                              <p:cond delay="2500"/>
                            </p:stCondLst>
                            <p:childTnLst>
                              <p:par>
                                <p:cTn id="27" presetID="2" presetClass="entr" presetSubtype="2" fill="hold" nodeType="afterEffect">
                                  <p:stCondLst>
                                    <p:cond delay="0"/>
                                  </p:stCondLst>
                                  <p:childTnLst>
                                    <p:set>
                                      <p:cBhvr>
                                        <p:cTn id="28" dur="1" fill="hold">
                                          <p:stCondLst>
                                            <p:cond delay="0"/>
                                          </p:stCondLst>
                                        </p:cTn>
                                        <p:tgtEl>
                                          <p:spTgt spid="49"/>
                                        </p:tgtEl>
                                        <p:attrNameLst>
                                          <p:attrName>style.visibility</p:attrName>
                                        </p:attrNameLst>
                                      </p:cBhvr>
                                      <p:to>
                                        <p:strVal val="visible"/>
                                      </p:to>
                                    </p:set>
                                    <p:anim calcmode="lin" valueType="num">
                                      <p:cBhvr additive="base">
                                        <p:cTn id="29" dur="500" fill="hold"/>
                                        <p:tgtEl>
                                          <p:spTgt spid="49"/>
                                        </p:tgtEl>
                                        <p:attrNameLst>
                                          <p:attrName>ppt_x</p:attrName>
                                        </p:attrNameLst>
                                      </p:cBhvr>
                                      <p:tavLst>
                                        <p:tav tm="0">
                                          <p:val>
                                            <p:strVal val="1+#ppt_w/2"/>
                                          </p:val>
                                        </p:tav>
                                        <p:tav tm="100000">
                                          <p:val>
                                            <p:strVal val="#ppt_x"/>
                                          </p:val>
                                        </p:tav>
                                      </p:tavLst>
                                    </p:anim>
                                    <p:anim calcmode="lin" valueType="num">
                                      <p:cBhvr additive="base">
                                        <p:cTn id="30" dur="500" fill="hold"/>
                                        <p:tgtEl>
                                          <p:spTgt spid="49"/>
                                        </p:tgtEl>
                                        <p:attrNameLst>
                                          <p:attrName>ppt_y</p:attrName>
                                        </p:attrNameLst>
                                      </p:cBhvr>
                                      <p:tavLst>
                                        <p:tav tm="0">
                                          <p:val>
                                            <p:strVal val="#ppt_y"/>
                                          </p:val>
                                        </p:tav>
                                        <p:tav tm="100000">
                                          <p:val>
                                            <p:strVal val="#ppt_y"/>
                                          </p:val>
                                        </p:tav>
                                      </p:tavLst>
                                    </p:anim>
                                  </p:childTnLst>
                                </p:cTn>
                              </p:par>
                            </p:childTnLst>
                          </p:cTn>
                        </p:par>
                        <p:par>
                          <p:cTn id="31" fill="hold">
                            <p:stCondLst>
                              <p:cond delay="3000"/>
                            </p:stCondLst>
                            <p:childTnLst>
                              <p:par>
                                <p:cTn id="32" presetID="2" presetClass="entr" presetSubtype="2" fill="hold" nodeType="afterEffect">
                                  <p:stCondLst>
                                    <p:cond delay="0"/>
                                  </p:stCondLst>
                                  <p:childTnLst>
                                    <p:set>
                                      <p:cBhvr>
                                        <p:cTn id="33" dur="1" fill="hold">
                                          <p:stCondLst>
                                            <p:cond delay="0"/>
                                          </p:stCondLst>
                                        </p:cTn>
                                        <p:tgtEl>
                                          <p:spTgt spid="57"/>
                                        </p:tgtEl>
                                        <p:attrNameLst>
                                          <p:attrName>style.visibility</p:attrName>
                                        </p:attrNameLst>
                                      </p:cBhvr>
                                      <p:to>
                                        <p:strVal val="visible"/>
                                      </p:to>
                                    </p:set>
                                    <p:anim calcmode="lin" valueType="num">
                                      <p:cBhvr additive="base">
                                        <p:cTn id="34" dur="500" fill="hold"/>
                                        <p:tgtEl>
                                          <p:spTgt spid="57"/>
                                        </p:tgtEl>
                                        <p:attrNameLst>
                                          <p:attrName>ppt_x</p:attrName>
                                        </p:attrNameLst>
                                      </p:cBhvr>
                                      <p:tavLst>
                                        <p:tav tm="0">
                                          <p:val>
                                            <p:strVal val="1+#ppt_w/2"/>
                                          </p:val>
                                        </p:tav>
                                        <p:tav tm="100000">
                                          <p:val>
                                            <p:strVal val="#ppt_x"/>
                                          </p:val>
                                        </p:tav>
                                      </p:tavLst>
                                    </p:anim>
                                    <p:anim calcmode="lin" valueType="num">
                                      <p:cBhvr additive="base">
                                        <p:cTn id="35" dur="500" fill="hold"/>
                                        <p:tgtEl>
                                          <p:spTgt spid="57"/>
                                        </p:tgtEl>
                                        <p:attrNameLst>
                                          <p:attrName>ppt_y</p:attrName>
                                        </p:attrNameLst>
                                      </p:cBhvr>
                                      <p:tavLst>
                                        <p:tav tm="0">
                                          <p:val>
                                            <p:strVal val="#ppt_y"/>
                                          </p:val>
                                        </p:tav>
                                        <p:tav tm="100000">
                                          <p:val>
                                            <p:strVal val="#ppt_y"/>
                                          </p:val>
                                        </p:tav>
                                      </p:tavLst>
                                    </p:anim>
                                  </p:childTnLst>
                                </p:cTn>
                              </p:par>
                            </p:childTnLst>
                          </p:cTn>
                        </p:par>
                        <p:par>
                          <p:cTn id="36" fill="hold">
                            <p:stCondLst>
                              <p:cond delay="3500"/>
                            </p:stCondLst>
                            <p:childTnLst>
                              <p:par>
                                <p:cTn id="37" presetID="2" presetClass="entr" presetSubtype="2" fill="hold" nodeType="afterEffect">
                                  <p:stCondLst>
                                    <p:cond delay="0"/>
                                  </p:stCondLst>
                                  <p:childTnLst>
                                    <p:set>
                                      <p:cBhvr>
                                        <p:cTn id="38" dur="1" fill="hold">
                                          <p:stCondLst>
                                            <p:cond delay="0"/>
                                          </p:stCondLst>
                                        </p:cTn>
                                        <p:tgtEl>
                                          <p:spTgt spid="65"/>
                                        </p:tgtEl>
                                        <p:attrNameLst>
                                          <p:attrName>style.visibility</p:attrName>
                                        </p:attrNameLst>
                                      </p:cBhvr>
                                      <p:to>
                                        <p:strVal val="visible"/>
                                      </p:to>
                                    </p:set>
                                    <p:anim calcmode="lin" valueType="num">
                                      <p:cBhvr additive="base">
                                        <p:cTn id="39" dur="500" fill="hold"/>
                                        <p:tgtEl>
                                          <p:spTgt spid="65"/>
                                        </p:tgtEl>
                                        <p:attrNameLst>
                                          <p:attrName>ppt_x</p:attrName>
                                        </p:attrNameLst>
                                      </p:cBhvr>
                                      <p:tavLst>
                                        <p:tav tm="0">
                                          <p:val>
                                            <p:strVal val="1+#ppt_w/2"/>
                                          </p:val>
                                        </p:tav>
                                        <p:tav tm="100000">
                                          <p:val>
                                            <p:strVal val="#ppt_x"/>
                                          </p:val>
                                        </p:tav>
                                      </p:tavLst>
                                    </p:anim>
                                    <p:anim calcmode="lin" valueType="num">
                                      <p:cBhvr additive="base">
                                        <p:cTn id="40" dur="500" fill="hold"/>
                                        <p:tgtEl>
                                          <p:spTgt spid="65"/>
                                        </p:tgtEl>
                                        <p:attrNameLst>
                                          <p:attrName>ppt_y</p:attrName>
                                        </p:attrNameLst>
                                      </p:cBhvr>
                                      <p:tavLst>
                                        <p:tav tm="0">
                                          <p:val>
                                            <p:strVal val="#ppt_y"/>
                                          </p:val>
                                        </p:tav>
                                        <p:tav tm="100000">
                                          <p:val>
                                            <p:strVal val="#ppt_y"/>
                                          </p:val>
                                        </p:tav>
                                      </p:tavLst>
                                    </p:anim>
                                  </p:childTnLst>
                                </p:cTn>
                              </p:par>
                            </p:childTnLst>
                          </p:cTn>
                        </p:par>
                        <p:par>
                          <p:cTn id="41" fill="hold">
                            <p:stCondLst>
                              <p:cond delay="4000"/>
                            </p:stCondLst>
                            <p:childTnLst>
                              <p:par>
                                <p:cTn id="42" presetID="53" presetClass="entr" presetSubtype="16" fill="hold" nodeType="afterEffect">
                                  <p:stCondLst>
                                    <p:cond delay="0"/>
                                  </p:stCondLst>
                                  <p:childTnLst>
                                    <p:set>
                                      <p:cBhvr>
                                        <p:cTn id="43" dur="1" fill="hold">
                                          <p:stCondLst>
                                            <p:cond delay="0"/>
                                          </p:stCondLst>
                                        </p:cTn>
                                        <p:tgtEl>
                                          <p:spTgt spid="74"/>
                                        </p:tgtEl>
                                        <p:attrNameLst>
                                          <p:attrName>style.visibility</p:attrName>
                                        </p:attrNameLst>
                                      </p:cBhvr>
                                      <p:to>
                                        <p:strVal val="visible"/>
                                      </p:to>
                                    </p:set>
                                    <p:anim calcmode="lin" valueType="num">
                                      <p:cBhvr>
                                        <p:cTn id="44" dur="1000" fill="hold"/>
                                        <p:tgtEl>
                                          <p:spTgt spid="74"/>
                                        </p:tgtEl>
                                        <p:attrNameLst>
                                          <p:attrName>ppt_w</p:attrName>
                                        </p:attrNameLst>
                                      </p:cBhvr>
                                      <p:tavLst>
                                        <p:tav tm="0">
                                          <p:val>
                                            <p:fltVal val="0"/>
                                          </p:val>
                                        </p:tav>
                                        <p:tav tm="100000">
                                          <p:val>
                                            <p:strVal val="#ppt_w"/>
                                          </p:val>
                                        </p:tav>
                                      </p:tavLst>
                                    </p:anim>
                                    <p:anim calcmode="lin" valueType="num">
                                      <p:cBhvr>
                                        <p:cTn id="45" dur="1000" fill="hold"/>
                                        <p:tgtEl>
                                          <p:spTgt spid="74"/>
                                        </p:tgtEl>
                                        <p:attrNameLst>
                                          <p:attrName>ppt_h</p:attrName>
                                        </p:attrNameLst>
                                      </p:cBhvr>
                                      <p:tavLst>
                                        <p:tav tm="0">
                                          <p:val>
                                            <p:fltVal val="0"/>
                                          </p:val>
                                        </p:tav>
                                        <p:tav tm="100000">
                                          <p:val>
                                            <p:strVal val="#ppt_h"/>
                                          </p:val>
                                        </p:tav>
                                      </p:tavLst>
                                    </p:anim>
                                    <p:animEffect transition="in" filter="fade">
                                      <p:cBhvr>
                                        <p:cTn id="46" dur="1000"/>
                                        <p:tgtEl>
                                          <p:spTgt spid="74"/>
                                        </p:tgtEl>
                                      </p:cBhvr>
                                    </p:animEffect>
                                  </p:childTnLst>
                                </p:cTn>
                              </p:par>
                              <p:par>
                                <p:cTn id="47" presetID="35" presetClass="path" presetSubtype="0" accel="50000" decel="50000" fill="hold" nodeType="withEffect">
                                  <p:stCondLst>
                                    <p:cond delay="0"/>
                                  </p:stCondLst>
                                  <p:childTnLst>
                                    <p:animMotion origin="layout" path="M 3.54167E-6 -2.59259E-6 L 0.31575 -2.59259E-6 " pathEditMode="relative" rAng="0" ptsTypes="AA">
                                      <p:cBhvr>
                                        <p:cTn id="48" dur="2000" spd="-100000" fill="hold"/>
                                        <p:tgtEl>
                                          <p:spTgt spid="74"/>
                                        </p:tgtEl>
                                        <p:attrNameLst>
                                          <p:attrName>ppt_x</p:attrName>
                                          <p:attrName>ppt_y</p:attrName>
                                        </p:attrNameLst>
                                      </p:cBhvr>
                                      <p:rCtr x="15781" y="0"/>
                                    </p:animMotion>
                                  </p:childTnLst>
                                </p:cTn>
                              </p:par>
                            </p:childTnLst>
                          </p:cTn>
                        </p:par>
                        <p:par>
                          <p:cTn id="49" fill="hold">
                            <p:stCondLst>
                              <p:cond delay="5000"/>
                            </p:stCondLst>
                            <p:childTnLst>
                              <p:par>
                                <p:cTn id="50" presetID="2" presetClass="entr" presetSubtype="2" fill="hold" nodeType="afterEffect">
                                  <p:stCondLst>
                                    <p:cond delay="0"/>
                                  </p:stCondLst>
                                  <p:childTnLst>
                                    <p:set>
                                      <p:cBhvr>
                                        <p:cTn id="51" dur="1" fill="hold">
                                          <p:stCondLst>
                                            <p:cond delay="0"/>
                                          </p:stCondLst>
                                        </p:cTn>
                                        <p:tgtEl>
                                          <p:spTgt spid="2"/>
                                        </p:tgtEl>
                                        <p:attrNameLst>
                                          <p:attrName>style.visibility</p:attrName>
                                        </p:attrNameLst>
                                      </p:cBhvr>
                                      <p:to>
                                        <p:strVal val="visible"/>
                                      </p:to>
                                    </p:set>
                                    <p:anim calcmode="lin" valueType="num">
                                      <p:cBhvr additive="base">
                                        <p:cTn id="52" dur="500" fill="hold"/>
                                        <p:tgtEl>
                                          <p:spTgt spid="2"/>
                                        </p:tgtEl>
                                        <p:attrNameLst>
                                          <p:attrName>ppt_x</p:attrName>
                                        </p:attrNameLst>
                                      </p:cBhvr>
                                      <p:tavLst>
                                        <p:tav tm="0">
                                          <p:val>
                                            <p:strVal val="1+#ppt_w/2"/>
                                          </p:val>
                                        </p:tav>
                                        <p:tav tm="100000">
                                          <p:val>
                                            <p:strVal val="#ppt_x"/>
                                          </p:val>
                                        </p:tav>
                                      </p:tavLst>
                                    </p:anim>
                                    <p:anim calcmode="lin" valueType="num">
                                      <p:cBhvr additive="base">
                                        <p:cTn id="53"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4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3" cstate="screen"/>
          <a:stretch>
            <a:fillRect/>
          </a:stretch>
        </p:blipFill>
        <p:spPr>
          <a:xfrm>
            <a:off x="5382578" y="5737759"/>
            <a:ext cx="6809422" cy="1120241"/>
          </a:xfrm>
          <a:prstGeom prst="rect">
            <a:avLst/>
          </a:prstGeom>
        </p:spPr>
      </p:pic>
      <p:pic>
        <p:nvPicPr>
          <p:cNvPr id="19" name="图片 18"/>
          <p:cNvPicPr>
            <a:picLocks noChangeAspect="1"/>
          </p:cNvPicPr>
          <p:nvPr/>
        </p:nvPicPr>
        <p:blipFill>
          <a:blip r:embed="rId4" cstate="screen"/>
          <a:stretch>
            <a:fillRect/>
          </a:stretch>
        </p:blipFill>
        <p:spPr>
          <a:xfrm>
            <a:off x="0" y="4049960"/>
            <a:ext cx="4460240" cy="2788989"/>
          </a:xfrm>
          <a:prstGeom prst="rect">
            <a:avLst/>
          </a:prstGeom>
        </p:spPr>
      </p:pic>
      <p:pic>
        <p:nvPicPr>
          <p:cNvPr id="74" name="图片 73"/>
          <p:cNvPicPr>
            <a:picLocks noChangeAspect="1"/>
          </p:cNvPicPr>
          <p:nvPr/>
        </p:nvPicPr>
        <p:blipFill>
          <a:blip r:embed="rId5"/>
          <a:stretch>
            <a:fillRect/>
          </a:stretch>
        </p:blipFill>
        <p:spPr>
          <a:xfrm rot="20902340" flipH="1">
            <a:off x="686735" y="622930"/>
            <a:ext cx="3143832" cy="1309931"/>
          </a:xfrm>
          <a:prstGeom prst="rect">
            <a:avLst/>
          </a:prstGeom>
        </p:spPr>
      </p:pic>
      <p:sp>
        <p:nvSpPr>
          <p:cNvPr id="75" name="文本框 74"/>
          <p:cNvSpPr txBox="1"/>
          <p:nvPr/>
        </p:nvSpPr>
        <p:spPr>
          <a:xfrm>
            <a:off x="4229947" y="1942771"/>
            <a:ext cx="3877985" cy="1200329"/>
          </a:xfrm>
          <a:prstGeom prst="rect">
            <a:avLst/>
          </a:prstGeom>
          <a:noFill/>
        </p:spPr>
        <p:txBody>
          <a:bodyPr wrap="none" rtlCol="0">
            <a:spAutoFit/>
          </a:bodyPr>
          <a:lstStyle/>
          <a:p>
            <a:r>
              <a:rPr lang="zh-CN" altLang="en-US" sz="7200" b="1" dirty="0">
                <a:solidFill>
                  <a:srgbClr val="C00000"/>
                </a:solidFill>
                <a:latin typeface="字体视界-NEW魏碑体" panose="02010601030101010101" pitchFamily="2" charset="-122"/>
                <a:ea typeface="字体视界-NEW魏碑体" panose="02010601030101010101" pitchFamily="2" charset="-122"/>
                <a:cs typeface="+mn-ea"/>
                <a:sym typeface="+mn-lt"/>
              </a:rPr>
              <a:t>第一部分</a:t>
            </a:r>
          </a:p>
        </p:txBody>
      </p:sp>
      <p:sp>
        <p:nvSpPr>
          <p:cNvPr id="78" name="文本框 77"/>
          <p:cNvSpPr txBox="1"/>
          <p:nvPr/>
        </p:nvSpPr>
        <p:spPr>
          <a:xfrm>
            <a:off x="2161006" y="3393756"/>
            <a:ext cx="7879081" cy="1015663"/>
          </a:xfrm>
          <a:prstGeom prst="rect">
            <a:avLst/>
          </a:prstGeom>
          <a:noFill/>
        </p:spPr>
        <p:txBody>
          <a:bodyPr wrap="none" rtlCol="0">
            <a:spAutoFit/>
          </a:bodyPr>
          <a:lstStyle/>
          <a:p>
            <a:pPr algn="ctr"/>
            <a:r>
              <a:rPr lang="zh-CN" altLang="en-US" sz="6000" b="1" dirty="0">
                <a:solidFill>
                  <a:srgbClr val="C00000"/>
                </a:solidFill>
                <a:latin typeface="字体视界-NEW魏碑体" panose="02010601030101010101" pitchFamily="2" charset="-122"/>
                <a:ea typeface="字体视界-NEW魏碑体" panose="02010601030101010101" pitchFamily="2" charset="-122"/>
              </a:rPr>
              <a:t>周恩来总理的简要生平</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nodeType="after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wipe(left)">
                                      <p:cBhvr>
                                        <p:cTn id="13" dur="500"/>
                                        <p:tgtEl>
                                          <p:spTgt spid="19"/>
                                        </p:tgtEl>
                                      </p:cBhvr>
                                    </p:animEffect>
                                  </p:childTnLst>
                                </p:cTn>
                              </p:par>
                            </p:childTnLst>
                          </p:cTn>
                        </p:par>
                        <p:par>
                          <p:cTn id="14" fill="hold">
                            <p:stCondLst>
                              <p:cond delay="1500"/>
                            </p:stCondLst>
                            <p:childTnLst>
                              <p:par>
                                <p:cTn id="15" presetID="53" presetClass="entr" presetSubtype="16" fill="hold" nodeType="afterEffect">
                                  <p:stCondLst>
                                    <p:cond delay="0"/>
                                  </p:stCondLst>
                                  <p:childTnLst>
                                    <p:set>
                                      <p:cBhvr>
                                        <p:cTn id="16" dur="1" fill="hold">
                                          <p:stCondLst>
                                            <p:cond delay="0"/>
                                          </p:stCondLst>
                                        </p:cTn>
                                        <p:tgtEl>
                                          <p:spTgt spid="74"/>
                                        </p:tgtEl>
                                        <p:attrNameLst>
                                          <p:attrName>style.visibility</p:attrName>
                                        </p:attrNameLst>
                                      </p:cBhvr>
                                      <p:to>
                                        <p:strVal val="visible"/>
                                      </p:to>
                                    </p:set>
                                    <p:anim calcmode="lin" valueType="num">
                                      <p:cBhvr>
                                        <p:cTn id="17" dur="1000" fill="hold"/>
                                        <p:tgtEl>
                                          <p:spTgt spid="74"/>
                                        </p:tgtEl>
                                        <p:attrNameLst>
                                          <p:attrName>ppt_w</p:attrName>
                                        </p:attrNameLst>
                                      </p:cBhvr>
                                      <p:tavLst>
                                        <p:tav tm="0">
                                          <p:val>
                                            <p:fltVal val="0"/>
                                          </p:val>
                                        </p:tav>
                                        <p:tav tm="100000">
                                          <p:val>
                                            <p:strVal val="#ppt_w"/>
                                          </p:val>
                                        </p:tav>
                                      </p:tavLst>
                                    </p:anim>
                                    <p:anim calcmode="lin" valueType="num">
                                      <p:cBhvr>
                                        <p:cTn id="18" dur="1000" fill="hold"/>
                                        <p:tgtEl>
                                          <p:spTgt spid="74"/>
                                        </p:tgtEl>
                                        <p:attrNameLst>
                                          <p:attrName>ppt_h</p:attrName>
                                        </p:attrNameLst>
                                      </p:cBhvr>
                                      <p:tavLst>
                                        <p:tav tm="0">
                                          <p:val>
                                            <p:fltVal val="0"/>
                                          </p:val>
                                        </p:tav>
                                        <p:tav tm="100000">
                                          <p:val>
                                            <p:strVal val="#ppt_h"/>
                                          </p:val>
                                        </p:tav>
                                      </p:tavLst>
                                    </p:anim>
                                    <p:animEffect transition="in" filter="fade">
                                      <p:cBhvr>
                                        <p:cTn id="19" dur="1000"/>
                                        <p:tgtEl>
                                          <p:spTgt spid="74"/>
                                        </p:tgtEl>
                                      </p:cBhvr>
                                    </p:animEffect>
                                  </p:childTnLst>
                                </p:cTn>
                              </p:par>
                              <p:par>
                                <p:cTn id="20" presetID="35" presetClass="path" presetSubtype="0" accel="50000" decel="50000" fill="hold" nodeType="withEffect">
                                  <p:stCondLst>
                                    <p:cond delay="0"/>
                                  </p:stCondLst>
                                  <p:childTnLst>
                                    <p:animMotion origin="layout" path="M 3.54167E-6 -2.59259E-6 L 0.31575 -2.59259E-6 " pathEditMode="relative" rAng="0" ptsTypes="AA">
                                      <p:cBhvr>
                                        <p:cTn id="21" dur="2000" spd="-100000" fill="hold"/>
                                        <p:tgtEl>
                                          <p:spTgt spid="74"/>
                                        </p:tgtEl>
                                        <p:attrNameLst>
                                          <p:attrName>ppt_x</p:attrName>
                                          <p:attrName>ppt_y</p:attrName>
                                        </p:attrNameLst>
                                      </p:cBhvr>
                                      <p:rCtr x="15781" y="0"/>
                                    </p:animMotion>
                                  </p:childTnLst>
                                </p:cTn>
                              </p:par>
                              <p:par>
                                <p:cTn id="22" presetID="53" presetClass="entr" presetSubtype="16" fill="hold" grpId="0" nodeType="withEffect">
                                  <p:stCondLst>
                                    <p:cond delay="400"/>
                                  </p:stCondLst>
                                  <p:childTnLst>
                                    <p:set>
                                      <p:cBhvr>
                                        <p:cTn id="23" dur="1" fill="hold">
                                          <p:stCondLst>
                                            <p:cond delay="0"/>
                                          </p:stCondLst>
                                        </p:cTn>
                                        <p:tgtEl>
                                          <p:spTgt spid="75"/>
                                        </p:tgtEl>
                                        <p:attrNameLst>
                                          <p:attrName>style.visibility</p:attrName>
                                        </p:attrNameLst>
                                      </p:cBhvr>
                                      <p:to>
                                        <p:strVal val="visible"/>
                                      </p:to>
                                    </p:set>
                                    <p:anim calcmode="lin" valueType="num">
                                      <p:cBhvr>
                                        <p:cTn id="24" dur="250" fill="hold"/>
                                        <p:tgtEl>
                                          <p:spTgt spid="75"/>
                                        </p:tgtEl>
                                        <p:attrNameLst>
                                          <p:attrName>ppt_w</p:attrName>
                                        </p:attrNameLst>
                                      </p:cBhvr>
                                      <p:tavLst>
                                        <p:tav tm="0">
                                          <p:val>
                                            <p:fltVal val="0"/>
                                          </p:val>
                                        </p:tav>
                                        <p:tav tm="100000">
                                          <p:val>
                                            <p:strVal val="#ppt_w"/>
                                          </p:val>
                                        </p:tav>
                                      </p:tavLst>
                                    </p:anim>
                                    <p:anim calcmode="lin" valueType="num">
                                      <p:cBhvr>
                                        <p:cTn id="25" dur="250" fill="hold"/>
                                        <p:tgtEl>
                                          <p:spTgt spid="75"/>
                                        </p:tgtEl>
                                        <p:attrNameLst>
                                          <p:attrName>ppt_h</p:attrName>
                                        </p:attrNameLst>
                                      </p:cBhvr>
                                      <p:tavLst>
                                        <p:tav tm="0">
                                          <p:val>
                                            <p:fltVal val="0"/>
                                          </p:val>
                                        </p:tav>
                                        <p:tav tm="100000">
                                          <p:val>
                                            <p:strVal val="#ppt_h"/>
                                          </p:val>
                                        </p:tav>
                                      </p:tavLst>
                                    </p:anim>
                                    <p:animEffect transition="in" filter="fade">
                                      <p:cBhvr>
                                        <p:cTn id="26" dur="250"/>
                                        <p:tgtEl>
                                          <p:spTgt spid="75"/>
                                        </p:tgtEl>
                                      </p:cBhvr>
                                    </p:animEffect>
                                  </p:childTnLst>
                                </p:cTn>
                              </p:par>
                              <p:par>
                                <p:cTn id="27" presetID="6" presetClass="emph" presetSubtype="0" decel="100000" fill="hold" grpId="1" nodeType="withEffect">
                                  <p:stCondLst>
                                    <p:cond delay="600"/>
                                  </p:stCondLst>
                                  <p:childTnLst>
                                    <p:animScale>
                                      <p:cBhvr>
                                        <p:cTn id="28" dur="250" fill="hold"/>
                                        <p:tgtEl>
                                          <p:spTgt spid="75"/>
                                        </p:tgtEl>
                                      </p:cBhvr>
                                      <p:by x="120000" y="120000"/>
                                    </p:animScale>
                                  </p:childTnLst>
                                </p:cTn>
                              </p:par>
                              <p:par>
                                <p:cTn id="29" presetID="6" presetClass="emph" presetSubtype="0" decel="100000" fill="hold" grpId="2" nodeType="withEffect">
                                  <p:stCondLst>
                                    <p:cond delay="800"/>
                                  </p:stCondLst>
                                  <p:childTnLst>
                                    <p:animScale>
                                      <p:cBhvr>
                                        <p:cTn id="30" dur="250" fill="hold"/>
                                        <p:tgtEl>
                                          <p:spTgt spid="75"/>
                                        </p:tgtEl>
                                      </p:cBhvr>
                                      <p:by x="83000" y="83000"/>
                                    </p:animScale>
                                  </p:childTnLst>
                                </p:cTn>
                              </p:par>
                              <p:par>
                                <p:cTn id="31" presetID="53" presetClass="entr" presetSubtype="16" fill="hold" grpId="0" nodeType="withEffect">
                                  <p:stCondLst>
                                    <p:cond delay="400"/>
                                  </p:stCondLst>
                                  <p:childTnLst>
                                    <p:set>
                                      <p:cBhvr>
                                        <p:cTn id="32" dur="1" fill="hold">
                                          <p:stCondLst>
                                            <p:cond delay="0"/>
                                          </p:stCondLst>
                                        </p:cTn>
                                        <p:tgtEl>
                                          <p:spTgt spid="78"/>
                                        </p:tgtEl>
                                        <p:attrNameLst>
                                          <p:attrName>style.visibility</p:attrName>
                                        </p:attrNameLst>
                                      </p:cBhvr>
                                      <p:to>
                                        <p:strVal val="visible"/>
                                      </p:to>
                                    </p:set>
                                    <p:anim calcmode="lin" valueType="num">
                                      <p:cBhvr>
                                        <p:cTn id="33" dur="250" fill="hold"/>
                                        <p:tgtEl>
                                          <p:spTgt spid="78"/>
                                        </p:tgtEl>
                                        <p:attrNameLst>
                                          <p:attrName>ppt_w</p:attrName>
                                        </p:attrNameLst>
                                      </p:cBhvr>
                                      <p:tavLst>
                                        <p:tav tm="0">
                                          <p:val>
                                            <p:fltVal val="0"/>
                                          </p:val>
                                        </p:tav>
                                        <p:tav tm="100000">
                                          <p:val>
                                            <p:strVal val="#ppt_w"/>
                                          </p:val>
                                        </p:tav>
                                      </p:tavLst>
                                    </p:anim>
                                    <p:anim calcmode="lin" valueType="num">
                                      <p:cBhvr>
                                        <p:cTn id="34" dur="250" fill="hold"/>
                                        <p:tgtEl>
                                          <p:spTgt spid="78"/>
                                        </p:tgtEl>
                                        <p:attrNameLst>
                                          <p:attrName>ppt_h</p:attrName>
                                        </p:attrNameLst>
                                      </p:cBhvr>
                                      <p:tavLst>
                                        <p:tav tm="0">
                                          <p:val>
                                            <p:fltVal val="0"/>
                                          </p:val>
                                        </p:tav>
                                        <p:tav tm="100000">
                                          <p:val>
                                            <p:strVal val="#ppt_h"/>
                                          </p:val>
                                        </p:tav>
                                      </p:tavLst>
                                    </p:anim>
                                    <p:animEffect transition="in" filter="fade">
                                      <p:cBhvr>
                                        <p:cTn id="35" dur="250"/>
                                        <p:tgtEl>
                                          <p:spTgt spid="78"/>
                                        </p:tgtEl>
                                      </p:cBhvr>
                                    </p:animEffect>
                                  </p:childTnLst>
                                </p:cTn>
                              </p:par>
                              <p:par>
                                <p:cTn id="36" presetID="6" presetClass="emph" presetSubtype="0" decel="100000" fill="hold" grpId="1" nodeType="withEffect">
                                  <p:stCondLst>
                                    <p:cond delay="600"/>
                                  </p:stCondLst>
                                  <p:childTnLst>
                                    <p:animScale>
                                      <p:cBhvr>
                                        <p:cTn id="37" dur="250" fill="hold"/>
                                        <p:tgtEl>
                                          <p:spTgt spid="78"/>
                                        </p:tgtEl>
                                      </p:cBhvr>
                                      <p:by x="120000" y="120000"/>
                                    </p:animScale>
                                  </p:childTnLst>
                                </p:cTn>
                              </p:par>
                              <p:par>
                                <p:cTn id="38" presetID="6" presetClass="emph" presetSubtype="0" decel="100000" fill="hold" grpId="2" nodeType="withEffect">
                                  <p:stCondLst>
                                    <p:cond delay="800"/>
                                  </p:stCondLst>
                                  <p:childTnLst>
                                    <p:animScale>
                                      <p:cBhvr>
                                        <p:cTn id="39" dur="250" fill="hold"/>
                                        <p:tgtEl>
                                          <p:spTgt spid="78"/>
                                        </p:tgtEl>
                                      </p:cBhvr>
                                      <p:by x="83000" y="83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 grpId="0"/>
      <p:bldP spid="75" grpId="1"/>
      <p:bldP spid="75" grpId="2"/>
      <p:bldP spid="78" grpId="0"/>
      <p:bldP spid="78" grpId="1"/>
      <p:bldP spid="78" grpId="2"/>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图片 24"/>
          <p:cNvPicPr>
            <a:picLocks noChangeAspect="1"/>
          </p:cNvPicPr>
          <p:nvPr/>
        </p:nvPicPr>
        <p:blipFill>
          <a:blip r:embed="rId3" cstate="screen"/>
          <a:stretch>
            <a:fillRect/>
          </a:stretch>
        </p:blipFill>
        <p:spPr>
          <a:xfrm>
            <a:off x="8088923" y="246423"/>
            <a:ext cx="4103077" cy="675011"/>
          </a:xfrm>
          <a:prstGeom prst="rect">
            <a:avLst/>
          </a:prstGeom>
        </p:spPr>
      </p:pic>
      <p:cxnSp>
        <p:nvCxnSpPr>
          <p:cNvPr id="26" name="直接连接符 25"/>
          <p:cNvCxnSpPr/>
          <p:nvPr/>
        </p:nvCxnSpPr>
        <p:spPr>
          <a:xfrm>
            <a:off x="0" y="921434"/>
            <a:ext cx="121920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7" name="矩形 26"/>
          <p:cNvSpPr/>
          <p:nvPr/>
        </p:nvSpPr>
        <p:spPr>
          <a:xfrm>
            <a:off x="1060287" y="353095"/>
            <a:ext cx="5262188" cy="461665"/>
          </a:xfrm>
          <a:prstGeom prst="rect">
            <a:avLst/>
          </a:prstGeom>
        </p:spPr>
        <p:txBody>
          <a:bodyPr wrap="square">
            <a:spAutoFit/>
          </a:bodyPr>
          <a:lstStyle/>
          <a:p>
            <a:r>
              <a:rPr lang="zh-CN" altLang="en-US" sz="2400" b="1" dirty="0">
                <a:solidFill>
                  <a:schemeClr val="accent1"/>
                </a:solidFill>
                <a:latin typeface="字体视界-NEW魏碑体" panose="02010601030101010101" pitchFamily="2" charset="-122"/>
                <a:ea typeface="字体视界-NEW魏碑体" panose="02010601030101010101" pitchFamily="2" charset="-122"/>
                <a:cs typeface="+mn-ea"/>
                <a:sym typeface="+mn-lt"/>
              </a:rPr>
              <a:t>第一部分：</a:t>
            </a:r>
            <a:r>
              <a:rPr lang="zh-CN" altLang="en-US" sz="2400" b="1" dirty="0">
                <a:solidFill>
                  <a:srgbClr val="C00000"/>
                </a:solidFill>
                <a:latin typeface="字体视界-NEW魏碑体" panose="02010601030101010101" pitchFamily="2" charset="-122"/>
                <a:ea typeface="字体视界-NEW魏碑体" panose="02010601030101010101" pitchFamily="2" charset="-122"/>
              </a:rPr>
              <a:t>周恩来总理的简要生平</a:t>
            </a:r>
          </a:p>
        </p:txBody>
      </p:sp>
      <p:sp>
        <p:nvSpPr>
          <p:cNvPr id="2" name="椭圆 1"/>
          <p:cNvSpPr/>
          <p:nvPr/>
        </p:nvSpPr>
        <p:spPr>
          <a:xfrm>
            <a:off x="907627" y="1584960"/>
            <a:ext cx="2289386" cy="778933"/>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zh-CN" altLang="en-US"/>
          </a:p>
        </p:txBody>
      </p:sp>
      <p:sp>
        <p:nvSpPr>
          <p:cNvPr id="3" name="文本框 2"/>
          <p:cNvSpPr txBox="1"/>
          <p:nvPr/>
        </p:nvSpPr>
        <p:spPr>
          <a:xfrm>
            <a:off x="1645919" y="1743593"/>
            <a:ext cx="1551094" cy="461665"/>
          </a:xfrm>
          <a:prstGeom prst="rect">
            <a:avLst/>
          </a:prstGeom>
          <a:noFill/>
        </p:spPr>
        <p:txBody>
          <a:bodyPr wrap="square" rtlCol="0">
            <a:spAutoFit/>
          </a:bodyPr>
          <a:lstStyle/>
          <a:p>
            <a:r>
              <a:rPr lang="zh-CN" altLang="en-US" sz="2400" b="1" dirty="0"/>
              <a:t>求索</a:t>
            </a:r>
          </a:p>
        </p:txBody>
      </p:sp>
      <p:cxnSp>
        <p:nvCxnSpPr>
          <p:cNvPr id="5" name="直接箭头连接符 4"/>
          <p:cNvCxnSpPr>
            <a:stCxn id="3" idx="3"/>
          </p:cNvCxnSpPr>
          <p:nvPr/>
        </p:nvCxnSpPr>
        <p:spPr>
          <a:xfrm flipV="1">
            <a:off x="3197013" y="1974425"/>
            <a:ext cx="887307"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椭圆 6"/>
          <p:cNvSpPr/>
          <p:nvPr/>
        </p:nvSpPr>
        <p:spPr>
          <a:xfrm>
            <a:off x="4141893" y="1584958"/>
            <a:ext cx="2289386" cy="778933"/>
          </a:xfrm>
          <a:prstGeom prst="ellipse">
            <a:avLst/>
          </a:prstGeom>
          <a:solidFill>
            <a:schemeClr val="accent6"/>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zh-CN" altLang="en-US"/>
          </a:p>
        </p:txBody>
      </p:sp>
      <p:sp>
        <p:nvSpPr>
          <p:cNvPr id="8" name="文本框 7"/>
          <p:cNvSpPr txBox="1"/>
          <p:nvPr/>
        </p:nvSpPr>
        <p:spPr>
          <a:xfrm>
            <a:off x="4903892" y="1743593"/>
            <a:ext cx="1551094" cy="461665"/>
          </a:xfrm>
          <a:prstGeom prst="rect">
            <a:avLst/>
          </a:prstGeom>
          <a:noFill/>
        </p:spPr>
        <p:txBody>
          <a:bodyPr wrap="square" rtlCol="0">
            <a:spAutoFit/>
          </a:bodyPr>
          <a:lstStyle/>
          <a:p>
            <a:r>
              <a:rPr lang="zh-CN" altLang="en-US" sz="2400" b="1" dirty="0"/>
              <a:t>奋斗</a:t>
            </a:r>
          </a:p>
        </p:txBody>
      </p:sp>
      <p:cxnSp>
        <p:nvCxnSpPr>
          <p:cNvPr id="9" name="直接箭头连接符 8"/>
          <p:cNvCxnSpPr/>
          <p:nvPr/>
        </p:nvCxnSpPr>
        <p:spPr>
          <a:xfrm flipV="1">
            <a:off x="6488852" y="1974424"/>
            <a:ext cx="887307"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椭圆 10"/>
          <p:cNvSpPr/>
          <p:nvPr/>
        </p:nvSpPr>
        <p:spPr>
          <a:xfrm>
            <a:off x="7538720" y="1584957"/>
            <a:ext cx="2289386" cy="778933"/>
          </a:xfrm>
          <a:prstGeom prst="ellipse">
            <a:avLst/>
          </a:prstGeom>
          <a:solidFill>
            <a:srgbClr val="00B0F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zh-CN" altLang="en-US"/>
          </a:p>
        </p:txBody>
      </p:sp>
      <p:sp>
        <p:nvSpPr>
          <p:cNvPr id="12" name="文本框 11"/>
          <p:cNvSpPr txBox="1"/>
          <p:nvPr/>
        </p:nvSpPr>
        <p:spPr>
          <a:xfrm>
            <a:off x="8277012" y="1743590"/>
            <a:ext cx="1551094" cy="461665"/>
          </a:xfrm>
          <a:prstGeom prst="rect">
            <a:avLst/>
          </a:prstGeom>
          <a:noFill/>
        </p:spPr>
        <p:txBody>
          <a:bodyPr wrap="square" rtlCol="0">
            <a:spAutoFit/>
          </a:bodyPr>
          <a:lstStyle/>
          <a:p>
            <a:r>
              <a:rPr lang="zh-CN" altLang="en-US" sz="2400" b="1" dirty="0"/>
              <a:t>开国</a:t>
            </a:r>
          </a:p>
        </p:txBody>
      </p:sp>
      <p:sp>
        <p:nvSpPr>
          <p:cNvPr id="13" name="矩形 12"/>
          <p:cNvSpPr/>
          <p:nvPr/>
        </p:nvSpPr>
        <p:spPr>
          <a:xfrm>
            <a:off x="636693" y="3000587"/>
            <a:ext cx="2729654" cy="3163141"/>
          </a:xfrm>
          <a:prstGeom prst="rect">
            <a:avLst/>
          </a:prstGeom>
          <a:solidFill>
            <a:srgbClr val="FFC000"/>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14" name="文本框 13"/>
          <p:cNvSpPr txBox="1"/>
          <p:nvPr/>
        </p:nvSpPr>
        <p:spPr>
          <a:xfrm>
            <a:off x="758613" y="3159222"/>
            <a:ext cx="2357120" cy="1631216"/>
          </a:xfrm>
          <a:prstGeom prst="rect">
            <a:avLst/>
          </a:prstGeom>
          <a:noFill/>
        </p:spPr>
        <p:txBody>
          <a:bodyPr wrap="square" rtlCol="0">
            <a:spAutoFit/>
          </a:bodyPr>
          <a:lstStyle/>
          <a:p>
            <a:pPr algn="ctr"/>
            <a:r>
              <a:rPr lang="en-US" altLang="zh-CN" sz="2000" b="1" dirty="0"/>
              <a:t>1.</a:t>
            </a:r>
            <a:r>
              <a:rPr lang="zh-CN" altLang="en-US" sz="2000" b="1" dirty="0"/>
              <a:t>多次收养</a:t>
            </a:r>
            <a:endParaRPr lang="en-US" altLang="zh-CN" sz="2000" b="1" dirty="0"/>
          </a:p>
          <a:p>
            <a:pPr algn="ctr"/>
            <a:r>
              <a:rPr lang="en-US" altLang="zh-CN" sz="2000" b="1" dirty="0"/>
              <a:t>2.</a:t>
            </a:r>
            <a:r>
              <a:rPr lang="zh-CN" altLang="en-US" sz="2000" b="1" dirty="0"/>
              <a:t>就学津门</a:t>
            </a:r>
            <a:endParaRPr lang="en-US" altLang="zh-CN" sz="2000" b="1" dirty="0"/>
          </a:p>
          <a:p>
            <a:pPr algn="ctr"/>
            <a:r>
              <a:rPr lang="en-US" altLang="zh-CN" sz="2000" b="1" dirty="0"/>
              <a:t>3.</a:t>
            </a:r>
            <a:r>
              <a:rPr lang="zh-CN" altLang="en-US" sz="2000" b="1" dirty="0"/>
              <a:t>东渡日本</a:t>
            </a:r>
            <a:endParaRPr lang="en-US" altLang="zh-CN" sz="2000" b="1" dirty="0"/>
          </a:p>
          <a:p>
            <a:pPr algn="ctr"/>
            <a:r>
              <a:rPr lang="en-US" altLang="zh-CN" sz="2000" b="1" dirty="0"/>
              <a:t>4.</a:t>
            </a:r>
            <a:r>
              <a:rPr lang="zh-CN" altLang="en-US" sz="2000" b="1" dirty="0"/>
              <a:t>身陷囹圄</a:t>
            </a:r>
            <a:endParaRPr lang="en-US" altLang="zh-CN" sz="2000" b="1" dirty="0"/>
          </a:p>
          <a:p>
            <a:pPr algn="ctr"/>
            <a:r>
              <a:rPr lang="en-US" altLang="zh-CN" sz="2000" b="1" dirty="0"/>
              <a:t>5.</a:t>
            </a:r>
            <a:r>
              <a:rPr lang="zh-CN" altLang="en-US" sz="2000" b="1" dirty="0"/>
              <a:t>留学法国</a:t>
            </a:r>
          </a:p>
        </p:txBody>
      </p:sp>
      <p:sp>
        <p:nvSpPr>
          <p:cNvPr id="15" name="矩形 14"/>
          <p:cNvSpPr/>
          <p:nvPr/>
        </p:nvSpPr>
        <p:spPr>
          <a:xfrm>
            <a:off x="7376159" y="3000586"/>
            <a:ext cx="2729654" cy="3163141"/>
          </a:xfrm>
          <a:prstGeom prst="rect">
            <a:avLst/>
          </a:prstGeom>
          <a:solidFill>
            <a:srgbClr val="00B0F0"/>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16" name="矩形 15"/>
          <p:cNvSpPr/>
          <p:nvPr/>
        </p:nvSpPr>
        <p:spPr>
          <a:xfrm>
            <a:off x="3921759" y="3010208"/>
            <a:ext cx="2729654" cy="3163141"/>
          </a:xfrm>
          <a:prstGeom prst="rect">
            <a:avLst/>
          </a:prstGeom>
          <a:solidFill>
            <a:srgbClr val="00B050"/>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17" name="文本框 16"/>
          <p:cNvSpPr txBox="1"/>
          <p:nvPr/>
        </p:nvSpPr>
        <p:spPr>
          <a:xfrm>
            <a:off x="4074159" y="3159222"/>
            <a:ext cx="2357120" cy="2246769"/>
          </a:xfrm>
          <a:prstGeom prst="rect">
            <a:avLst/>
          </a:prstGeom>
          <a:noFill/>
        </p:spPr>
        <p:txBody>
          <a:bodyPr wrap="square" rtlCol="0">
            <a:spAutoFit/>
          </a:bodyPr>
          <a:lstStyle/>
          <a:p>
            <a:pPr algn="ctr"/>
            <a:r>
              <a:rPr lang="en-US" altLang="zh-CN" sz="2000" b="1" dirty="0"/>
              <a:t>1.</a:t>
            </a:r>
            <a:r>
              <a:rPr lang="zh-CN" altLang="en-US" sz="2000" b="1" dirty="0"/>
              <a:t> 革命婚姻</a:t>
            </a:r>
            <a:endParaRPr lang="en-US" altLang="zh-CN" sz="2000" b="1" dirty="0"/>
          </a:p>
          <a:p>
            <a:pPr algn="ctr"/>
            <a:r>
              <a:rPr lang="en-US" altLang="zh-CN" sz="2000" b="1" dirty="0"/>
              <a:t>2.</a:t>
            </a:r>
            <a:r>
              <a:rPr lang="zh-CN" altLang="en-US" sz="2000" b="1" dirty="0"/>
              <a:t>占领上海</a:t>
            </a:r>
            <a:endParaRPr lang="en-US" altLang="zh-CN" sz="2000" b="1" dirty="0"/>
          </a:p>
          <a:p>
            <a:pPr algn="ctr"/>
            <a:r>
              <a:rPr lang="en-US" altLang="zh-CN" sz="2000" b="1" dirty="0"/>
              <a:t>3.</a:t>
            </a:r>
            <a:r>
              <a:rPr lang="zh-CN" altLang="en-US" sz="2000" b="1" dirty="0"/>
              <a:t>南昌起义</a:t>
            </a:r>
            <a:endParaRPr lang="en-US" altLang="zh-CN" sz="2000" b="1" dirty="0"/>
          </a:p>
          <a:p>
            <a:pPr algn="ctr"/>
            <a:r>
              <a:rPr lang="en-US" altLang="zh-CN" sz="2000" b="1" dirty="0"/>
              <a:t>4.</a:t>
            </a:r>
            <a:r>
              <a:rPr lang="zh-CN" altLang="en-US" sz="2000" b="1" dirty="0"/>
              <a:t>重获信任</a:t>
            </a:r>
            <a:endParaRPr lang="en-US" altLang="zh-CN" sz="2000" b="1" dirty="0"/>
          </a:p>
          <a:p>
            <a:pPr algn="ctr"/>
            <a:r>
              <a:rPr lang="en-US" altLang="zh-CN" sz="2000" b="1" dirty="0"/>
              <a:t>5.</a:t>
            </a:r>
            <a:r>
              <a:rPr lang="zh-CN" altLang="en-US" sz="2000" b="1" dirty="0"/>
              <a:t>技高一筹</a:t>
            </a:r>
            <a:endParaRPr lang="en-US" altLang="zh-CN" sz="2000" b="1" dirty="0"/>
          </a:p>
          <a:p>
            <a:pPr algn="ctr"/>
            <a:r>
              <a:rPr lang="en-US" altLang="zh-CN" sz="2000" b="1" dirty="0"/>
              <a:t>6.</a:t>
            </a:r>
            <a:r>
              <a:rPr lang="zh-CN" altLang="en-US" sz="2000" b="1" dirty="0"/>
              <a:t>长征路上</a:t>
            </a:r>
            <a:endParaRPr lang="en-US" altLang="zh-CN" sz="2000" b="1" dirty="0"/>
          </a:p>
          <a:p>
            <a:pPr algn="ctr"/>
            <a:r>
              <a:rPr lang="en-US" altLang="zh-CN" sz="2000" b="1" dirty="0"/>
              <a:t>7.</a:t>
            </a:r>
            <a:r>
              <a:rPr lang="zh-CN" altLang="en-US" sz="2000" b="1" dirty="0"/>
              <a:t>获得胜利</a:t>
            </a:r>
          </a:p>
        </p:txBody>
      </p:sp>
      <p:sp>
        <p:nvSpPr>
          <p:cNvPr id="18" name="文本框 17"/>
          <p:cNvSpPr txBox="1"/>
          <p:nvPr/>
        </p:nvSpPr>
        <p:spPr>
          <a:xfrm>
            <a:off x="7714826" y="3159221"/>
            <a:ext cx="2052320" cy="1015663"/>
          </a:xfrm>
          <a:prstGeom prst="rect">
            <a:avLst/>
          </a:prstGeom>
          <a:noFill/>
        </p:spPr>
        <p:txBody>
          <a:bodyPr wrap="square" rtlCol="0">
            <a:spAutoFit/>
          </a:bodyPr>
          <a:lstStyle/>
          <a:p>
            <a:pPr algn="ctr"/>
            <a:r>
              <a:rPr lang="en-US" altLang="zh-CN" sz="2000" b="1" dirty="0"/>
              <a:t>1.</a:t>
            </a:r>
            <a:r>
              <a:rPr lang="zh-CN" altLang="en-US" sz="2000" b="1" dirty="0"/>
              <a:t>担任总理</a:t>
            </a:r>
            <a:endParaRPr lang="en-US" altLang="zh-CN" sz="2000" b="1" dirty="0"/>
          </a:p>
          <a:p>
            <a:pPr algn="ctr"/>
            <a:r>
              <a:rPr lang="en-US" altLang="zh-CN" sz="2000" b="1" dirty="0"/>
              <a:t>2.</a:t>
            </a:r>
            <a:r>
              <a:rPr lang="zh-CN" altLang="en-US" sz="2000" b="1" dirty="0"/>
              <a:t>文革时期</a:t>
            </a:r>
            <a:endParaRPr lang="en-US" altLang="zh-CN" sz="2000" b="1" dirty="0"/>
          </a:p>
          <a:p>
            <a:pPr algn="ctr"/>
            <a:endParaRPr lang="zh-CN" altLang="en-US" sz="2000" b="1" dirty="0"/>
          </a:p>
        </p:txBody>
      </p:sp>
      <p:cxnSp>
        <p:nvCxnSpPr>
          <p:cNvPr id="20" name="直接箭头连接符 19"/>
          <p:cNvCxnSpPr>
            <a:stCxn id="2" idx="4"/>
            <a:endCxn id="13" idx="0"/>
          </p:cNvCxnSpPr>
          <p:nvPr/>
        </p:nvCxnSpPr>
        <p:spPr>
          <a:xfrm flipH="1">
            <a:off x="2038773" y="2363893"/>
            <a:ext cx="13547" cy="5621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a:stCxn id="7" idx="4"/>
          </p:cNvCxnSpPr>
          <p:nvPr/>
        </p:nvCxnSpPr>
        <p:spPr>
          <a:xfrm>
            <a:off x="5286586" y="2363891"/>
            <a:ext cx="64347" cy="5621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a:stCxn id="11" idx="4"/>
            <a:endCxn id="15" idx="0"/>
          </p:cNvCxnSpPr>
          <p:nvPr/>
        </p:nvCxnSpPr>
        <p:spPr>
          <a:xfrm>
            <a:off x="8683413" y="2363890"/>
            <a:ext cx="57573" cy="6366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p:cTn id="7" dur="500" fill="hold"/>
                                        <p:tgtEl>
                                          <p:spTgt spid="25"/>
                                        </p:tgtEl>
                                        <p:attrNameLst>
                                          <p:attrName>ppt_w</p:attrName>
                                        </p:attrNameLst>
                                      </p:cBhvr>
                                      <p:tavLst>
                                        <p:tav tm="0">
                                          <p:val>
                                            <p:fltVal val="0"/>
                                          </p:val>
                                        </p:tav>
                                        <p:tav tm="100000">
                                          <p:val>
                                            <p:strVal val="#ppt_w"/>
                                          </p:val>
                                        </p:tav>
                                      </p:tavLst>
                                    </p:anim>
                                    <p:anim calcmode="lin" valueType="num">
                                      <p:cBhvr>
                                        <p:cTn id="8" dur="500" fill="hold"/>
                                        <p:tgtEl>
                                          <p:spTgt spid="25"/>
                                        </p:tgtEl>
                                        <p:attrNameLst>
                                          <p:attrName>ppt_h</p:attrName>
                                        </p:attrNameLst>
                                      </p:cBhvr>
                                      <p:tavLst>
                                        <p:tav tm="0">
                                          <p:val>
                                            <p:fltVal val="0"/>
                                          </p:val>
                                        </p:tav>
                                        <p:tav tm="100000">
                                          <p:val>
                                            <p:strVal val="#ppt_h"/>
                                          </p:val>
                                        </p:tav>
                                      </p:tavLst>
                                    </p:anim>
                                    <p:animEffect transition="in" filter="fade">
                                      <p:cBhvr>
                                        <p:cTn id="9" dur="500"/>
                                        <p:tgtEl>
                                          <p:spTgt spid="25"/>
                                        </p:tgtEl>
                                      </p:cBhvr>
                                    </p:animEffect>
                                  </p:childTnLst>
                                </p:cTn>
                              </p:par>
                              <p:par>
                                <p:cTn id="10" presetID="35" presetClass="path" presetSubtype="0" accel="50000" decel="50000" fill="hold" nodeType="withEffect">
                                  <p:stCondLst>
                                    <p:cond delay="0"/>
                                  </p:stCondLst>
                                  <p:childTnLst>
                                    <p:animMotion origin="layout" path="M -6.25E-7 -3.7037E-6 L 0.18997 -3.7037E-6 " pathEditMode="relative" rAng="0" ptsTypes="AA">
                                      <p:cBhvr>
                                        <p:cTn id="11" dur="1000" spd="-100000" fill="hold"/>
                                        <p:tgtEl>
                                          <p:spTgt spid="25"/>
                                        </p:tgtEl>
                                        <p:attrNameLst>
                                          <p:attrName>ppt_x</p:attrName>
                                          <p:attrName>ppt_y</p:attrName>
                                        </p:attrNameLst>
                                      </p:cBhvr>
                                      <p:rCtr x="9492" y="0"/>
                                    </p:animMotion>
                                  </p:childTnLst>
                                </p:cTn>
                              </p:par>
                              <p:par>
                                <p:cTn id="12" presetID="53" presetClass="entr" presetSubtype="16" fill="hold" nodeType="withEffect">
                                  <p:stCondLst>
                                    <p:cond delay="0"/>
                                  </p:stCondLst>
                                  <p:childTnLst>
                                    <p:set>
                                      <p:cBhvr>
                                        <p:cTn id="13" dur="1" fill="hold">
                                          <p:stCondLst>
                                            <p:cond delay="0"/>
                                          </p:stCondLst>
                                        </p:cTn>
                                        <p:tgtEl>
                                          <p:spTgt spid="26"/>
                                        </p:tgtEl>
                                        <p:attrNameLst>
                                          <p:attrName>style.visibility</p:attrName>
                                        </p:attrNameLst>
                                      </p:cBhvr>
                                      <p:to>
                                        <p:strVal val="visible"/>
                                      </p:to>
                                    </p:set>
                                    <p:anim calcmode="lin" valueType="num">
                                      <p:cBhvr>
                                        <p:cTn id="14" dur="500" fill="hold"/>
                                        <p:tgtEl>
                                          <p:spTgt spid="26"/>
                                        </p:tgtEl>
                                        <p:attrNameLst>
                                          <p:attrName>ppt_w</p:attrName>
                                        </p:attrNameLst>
                                      </p:cBhvr>
                                      <p:tavLst>
                                        <p:tav tm="0">
                                          <p:val>
                                            <p:fltVal val="0"/>
                                          </p:val>
                                        </p:tav>
                                        <p:tav tm="100000">
                                          <p:val>
                                            <p:strVal val="#ppt_w"/>
                                          </p:val>
                                        </p:tav>
                                      </p:tavLst>
                                    </p:anim>
                                    <p:anim calcmode="lin" valueType="num">
                                      <p:cBhvr>
                                        <p:cTn id="15" dur="500" fill="hold"/>
                                        <p:tgtEl>
                                          <p:spTgt spid="26"/>
                                        </p:tgtEl>
                                        <p:attrNameLst>
                                          <p:attrName>ppt_h</p:attrName>
                                        </p:attrNameLst>
                                      </p:cBhvr>
                                      <p:tavLst>
                                        <p:tav tm="0">
                                          <p:val>
                                            <p:fltVal val="0"/>
                                          </p:val>
                                        </p:tav>
                                        <p:tav tm="100000">
                                          <p:val>
                                            <p:strVal val="#ppt_h"/>
                                          </p:val>
                                        </p:tav>
                                      </p:tavLst>
                                    </p:anim>
                                    <p:animEffect transition="in" filter="fade">
                                      <p:cBhvr>
                                        <p:cTn id="16" dur="500"/>
                                        <p:tgtEl>
                                          <p:spTgt spid="26"/>
                                        </p:tgtEl>
                                      </p:cBhvr>
                                    </p:animEffect>
                                  </p:childTnLst>
                                </p:cTn>
                              </p:par>
                              <p:par>
                                <p:cTn id="17" presetID="35" presetClass="path" presetSubtype="0" accel="50000" decel="50000" fill="hold" nodeType="withEffect">
                                  <p:stCondLst>
                                    <p:cond delay="0"/>
                                  </p:stCondLst>
                                  <p:childTnLst>
                                    <p:animMotion origin="layout" path="M 0 -3.7037E-6 L -0.41185 -3.7037E-6 " pathEditMode="relative" rAng="0" ptsTypes="AA">
                                      <p:cBhvr>
                                        <p:cTn id="18" dur="1000" spd="-100000" fill="hold"/>
                                        <p:tgtEl>
                                          <p:spTgt spid="26"/>
                                        </p:tgtEl>
                                        <p:attrNameLst>
                                          <p:attrName>ppt_x</p:attrName>
                                          <p:attrName>ppt_y</p:attrName>
                                        </p:attrNameLst>
                                      </p:cBhvr>
                                      <p:rCtr x="-20599" y="0"/>
                                    </p:animMotion>
                                  </p:childTnLst>
                                </p:cTn>
                              </p:par>
                            </p:childTnLst>
                          </p:cTn>
                        </p:par>
                        <p:par>
                          <p:cTn id="19" fill="hold">
                            <p:stCondLst>
                              <p:cond delay="500"/>
                            </p:stCondLst>
                            <p:childTnLst>
                              <p:par>
                                <p:cTn id="20" presetID="53" presetClass="entr" presetSubtype="16" fill="hold" grpId="0" nodeType="afterEffect">
                                  <p:stCondLst>
                                    <p:cond delay="0"/>
                                  </p:stCondLst>
                                  <p:childTnLst>
                                    <p:set>
                                      <p:cBhvr>
                                        <p:cTn id="21" dur="1" fill="hold">
                                          <p:stCondLst>
                                            <p:cond delay="0"/>
                                          </p:stCondLst>
                                        </p:cTn>
                                        <p:tgtEl>
                                          <p:spTgt spid="27"/>
                                        </p:tgtEl>
                                        <p:attrNameLst>
                                          <p:attrName>style.visibility</p:attrName>
                                        </p:attrNameLst>
                                      </p:cBhvr>
                                      <p:to>
                                        <p:strVal val="visible"/>
                                      </p:to>
                                    </p:set>
                                    <p:anim calcmode="lin" valueType="num">
                                      <p:cBhvr>
                                        <p:cTn id="22" dur="500" fill="hold"/>
                                        <p:tgtEl>
                                          <p:spTgt spid="27"/>
                                        </p:tgtEl>
                                        <p:attrNameLst>
                                          <p:attrName>ppt_w</p:attrName>
                                        </p:attrNameLst>
                                      </p:cBhvr>
                                      <p:tavLst>
                                        <p:tav tm="0">
                                          <p:val>
                                            <p:fltVal val="0"/>
                                          </p:val>
                                        </p:tav>
                                        <p:tav tm="100000">
                                          <p:val>
                                            <p:strVal val="#ppt_w"/>
                                          </p:val>
                                        </p:tav>
                                      </p:tavLst>
                                    </p:anim>
                                    <p:anim calcmode="lin" valueType="num">
                                      <p:cBhvr>
                                        <p:cTn id="23" dur="500" fill="hold"/>
                                        <p:tgtEl>
                                          <p:spTgt spid="27"/>
                                        </p:tgtEl>
                                        <p:attrNameLst>
                                          <p:attrName>ppt_h</p:attrName>
                                        </p:attrNameLst>
                                      </p:cBhvr>
                                      <p:tavLst>
                                        <p:tav tm="0">
                                          <p:val>
                                            <p:fltVal val="0"/>
                                          </p:val>
                                        </p:tav>
                                        <p:tav tm="100000">
                                          <p:val>
                                            <p:strVal val="#ppt_h"/>
                                          </p:val>
                                        </p:tav>
                                      </p:tavLst>
                                    </p:anim>
                                    <p:animEffect transition="in" filter="fade">
                                      <p:cBhvr>
                                        <p:cTn id="24" dur="500"/>
                                        <p:tgtEl>
                                          <p:spTgt spid="27"/>
                                        </p:tgtEl>
                                      </p:cBhvr>
                                    </p:animEffect>
                                  </p:childTnLst>
                                </p:cTn>
                              </p:par>
                              <p:par>
                                <p:cTn id="25" presetID="35" presetClass="path" presetSubtype="0" accel="50000" decel="50000" fill="hold" grpId="1" nodeType="withEffect">
                                  <p:stCondLst>
                                    <p:cond delay="0"/>
                                  </p:stCondLst>
                                  <p:childTnLst>
                                    <p:animMotion origin="layout" path="M -4.375E-6 -3.7037E-6 L -0.30273 -3.7037E-6 " pathEditMode="relative" rAng="0" ptsTypes="AA">
                                      <p:cBhvr>
                                        <p:cTn id="26" dur="1000" spd="-100000" fill="hold"/>
                                        <p:tgtEl>
                                          <p:spTgt spid="27"/>
                                        </p:tgtEl>
                                        <p:attrNameLst>
                                          <p:attrName>ppt_x</p:attrName>
                                          <p:attrName>ppt_y</p:attrName>
                                        </p:attrNameLst>
                                      </p:cBhvr>
                                      <p:rCtr x="-1514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7" grpI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图片 24"/>
          <p:cNvPicPr>
            <a:picLocks noChangeAspect="1"/>
          </p:cNvPicPr>
          <p:nvPr/>
        </p:nvPicPr>
        <p:blipFill>
          <a:blip r:embed="rId3" cstate="screen"/>
          <a:stretch>
            <a:fillRect/>
          </a:stretch>
        </p:blipFill>
        <p:spPr>
          <a:xfrm>
            <a:off x="8088923" y="246423"/>
            <a:ext cx="4103077" cy="675011"/>
          </a:xfrm>
          <a:prstGeom prst="rect">
            <a:avLst/>
          </a:prstGeom>
        </p:spPr>
      </p:pic>
      <p:cxnSp>
        <p:nvCxnSpPr>
          <p:cNvPr id="26" name="直接连接符 25"/>
          <p:cNvCxnSpPr/>
          <p:nvPr/>
        </p:nvCxnSpPr>
        <p:spPr>
          <a:xfrm>
            <a:off x="0" y="921434"/>
            <a:ext cx="121920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7" name="矩形 26"/>
          <p:cNvSpPr/>
          <p:nvPr/>
        </p:nvSpPr>
        <p:spPr>
          <a:xfrm>
            <a:off x="1060287" y="353095"/>
            <a:ext cx="5262188" cy="461665"/>
          </a:xfrm>
          <a:prstGeom prst="rect">
            <a:avLst/>
          </a:prstGeom>
        </p:spPr>
        <p:txBody>
          <a:bodyPr wrap="square">
            <a:spAutoFit/>
          </a:bodyPr>
          <a:lstStyle/>
          <a:p>
            <a:r>
              <a:rPr lang="zh-CN" altLang="en-US" sz="2400" b="1" dirty="0">
                <a:solidFill>
                  <a:schemeClr val="accent1"/>
                </a:solidFill>
                <a:latin typeface="字体视界-NEW魏碑体" panose="02010601030101010101" pitchFamily="2" charset="-122"/>
                <a:ea typeface="字体视界-NEW魏碑体" panose="02010601030101010101" pitchFamily="2" charset="-122"/>
                <a:cs typeface="+mn-ea"/>
                <a:sym typeface="+mn-lt"/>
              </a:rPr>
              <a:t>第一部分：</a:t>
            </a:r>
            <a:r>
              <a:rPr lang="zh-CN" altLang="en-US" sz="2400" b="1" dirty="0">
                <a:solidFill>
                  <a:srgbClr val="C00000"/>
                </a:solidFill>
                <a:latin typeface="字体视界-NEW魏碑体" panose="02010601030101010101" pitchFamily="2" charset="-122"/>
                <a:ea typeface="字体视界-NEW魏碑体" panose="02010601030101010101" pitchFamily="2" charset="-122"/>
              </a:rPr>
              <a:t>周恩来总理的简要生平</a:t>
            </a:r>
          </a:p>
        </p:txBody>
      </p:sp>
      <p:sp>
        <p:nvSpPr>
          <p:cNvPr id="2" name="文本框 1"/>
          <p:cNvSpPr txBox="1"/>
          <p:nvPr/>
        </p:nvSpPr>
        <p:spPr>
          <a:xfrm>
            <a:off x="636693" y="1212427"/>
            <a:ext cx="1950720" cy="584775"/>
          </a:xfrm>
          <a:prstGeom prst="rect">
            <a:avLst/>
          </a:prstGeom>
          <a:noFill/>
        </p:spPr>
        <p:txBody>
          <a:bodyPr wrap="square" rtlCol="0">
            <a:spAutoFit/>
          </a:bodyPr>
          <a:lstStyle/>
          <a:p>
            <a:r>
              <a:rPr lang="zh-CN" altLang="en-US" sz="3200" b="1" dirty="0"/>
              <a:t>求索</a:t>
            </a:r>
          </a:p>
        </p:txBody>
      </p:sp>
      <p:sp>
        <p:nvSpPr>
          <p:cNvPr id="3" name="文本框 2"/>
          <p:cNvSpPr txBox="1"/>
          <p:nvPr/>
        </p:nvSpPr>
        <p:spPr>
          <a:xfrm>
            <a:off x="742634" y="1872751"/>
            <a:ext cx="7168619" cy="6370975"/>
          </a:xfrm>
          <a:prstGeom prst="rect">
            <a:avLst/>
          </a:prstGeom>
          <a:noFill/>
        </p:spPr>
        <p:txBody>
          <a:bodyPr wrap="square" rtlCol="0">
            <a:spAutoFit/>
          </a:bodyPr>
          <a:lstStyle/>
          <a:p>
            <a:r>
              <a:rPr lang="en-US" altLang="zh-CN" sz="2400" b="1" dirty="0"/>
              <a:t>1.</a:t>
            </a:r>
            <a:r>
              <a:rPr lang="zh-CN" altLang="en-US" sz="2400" b="1" dirty="0"/>
              <a:t>多次收养（</a:t>
            </a:r>
            <a:r>
              <a:rPr lang="en-US" altLang="zh-CN" sz="2400" b="1" dirty="0"/>
              <a:t>1898-1913</a:t>
            </a:r>
            <a:r>
              <a:rPr lang="zh-CN" altLang="en-US" sz="2400" b="1" dirty="0"/>
              <a:t>）</a:t>
            </a:r>
            <a:endParaRPr lang="en-US" altLang="zh-CN" sz="2400" b="1" dirty="0"/>
          </a:p>
          <a:p>
            <a:endParaRPr lang="en-US" altLang="zh-CN" sz="2400" b="1" dirty="0"/>
          </a:p>
          <a:p>
            <a:pPr algn="l" fontAlgn="base"/>
            <a:r>
              <a:rPr lang="zh-CN" altLang="en-US" b="1" i="0" dirty="0">
                <a:solidFill>
                  <a:srgbClr val="585858"/>
                </a:solidFill>
                <a:effectLst/>
                <a:latin typeface="微软雅黑" panose="020B0503020204020204" pitchFamily="34" charset="-122"/>
                <a:ea typeface="微软雅黑" panose="020B0503020204020204" pitchFamily="34" charset="-122"/>
              </a:rPr>
              <a:t>       周恩来</a:t>
            </a:r>
            <a:r>
              <a:rPr lang="en-US" altLang="zh-CN" b="1" i="0" dirty="0">
                <a:solidFill>
                  <a:srgbClr val="585858"/>
                </a:solidFill>
                <a:effectLst/>
                <a:latin typeface="微软雅黑" panose="020B0503020204020204" pitchFamily="34" charset="-122"/>
                <a:ea typeface="微软雅黑" panose="020B0503020204020204" pitchFamily="34" charset="-122"/>
              </a:rPr>
              <a:t>1898</a:t>
            </a:r>
            <a:r>
              <a:rPr lang="zh-CN" altLang="en-US" b="1" i="0" dirty="0">
                <a:solidFill>
                  <a:srgbClr val="585858"/>
                </a:solidFill>
                <a:effectLst/>
                <a:latin typeface="微软雅黑" panose="020B0503020204020204" pitchFamily="34" charset="-122"/>
                <a:ea typeface="微软雅黑" panose="020B0503020204020204" pitchFamily="34" charset="-122"/>
              </a:rPr>
              <a:t>年</a:t>
            </a:r>
            <a:r>
              <a:rPr lang="en-US" altLang="zh-CN" b="1" i="0" dirty="0">
                <a:solidFill>
                  <a:srgbClr val="585858"/>
                </a:solidFill>
                <a:effectLst/>
                <a:latin typeface="微软雅黑" panose="020B0503020204020204" pitchFamily="34" charset="-122"/>
                <a:ea typeface="微软雅黑" panose="020B0503020204020204" pitchFamily="34" charset="-122"/>
              </a:rPr>
              <a:t>3</a:t>
            </a:r>
            <a:r>
              <a:rPr lang="zh-CN" altLang="en-US" b="1" i="0" dirty="0">
                <a:solidFill>
                  <a:srgbClr val="585858"/>
                </a:solidFill>
                <a:effectLst/>
                <a:latin typeface="微软雅黑" panose="020B0503020204020204" pitchFamily="34" charset="-122"/>
                <a:ea typeface="微软雅黑" panose="020B0503020204020204" pitchFamily="34" charset="-122"/>
              </a:rPr>
              <a:t>月</a:t>
            </a:r>
            <a:r>
              <a:rPr lang="en-US" altLang="zh-CN" b="1" i="0" dirty="0">
                <a:solidFill>
                  <a:srgbClr val="585858"/>
                </a:solidFill>
                <a:effectLst/>
                <a:latin typeface="微软雅黑" panose="020B0503020204020204" pitchFamily="34" charset="-122"/>
                <a:ea typeface="微软雅黑" panose="020B0503020204020204" pitchFamily="34" charset="-122"/>
              </a:rPr>
              <a:t>5</a:t>
            </a:r>
            <a:r>
              <a:rPr lang="zh-CN" altLang="en-US" b="1" i="0" dirty="0">
                <a:solidFill>
                  <a:srgbClr val="585858"/>
                </a:solidFill>
                <a:effectLst/>
                <a:latin typeface="微软雅黑" panose="020B0503020204020204" pitchFamily="34" charset="-122"/>
                <a:ea typeface="微软雅黑" panose="020B0503020204020204" pitchFamily="34" charset="-122"/>
              </a:rPr>
              <a:t>日生于江苏淮安，望子成龙的父母给他取名“大鸾”，字翔宇，希望他可以像大鸟一样翱翔天空。读私塾的时候，改名为周恩来。</a:t>
            </a:r>
          </a:p>
          <a:p>
            <a:pPr algn="l" fontAlgn="base"/>
            <a:r>
              <a:rPr lang="zh-CN" altLang="en-US" b="1" i="0" dirty="0">
                <a:solidFill>
                  <a:srgbClr val="585858"/>
                </a:solidFill>
                <a:effectLst/>
                <a:latin typeface="微软雅黑" panose="020B0503020204020204" pitchFamily="34" charset="-122"/>
                <a:ea typeface="微软雅黑" panose="020B0503020204020204" pitchFamily="34" charset="-122"/>
              </a:rPr>
              <a:t>　　从父辈开始，周恩来家道中落。他曾回忆说：“我从小就懂得生活艰难。父亲常外出，我</a:t>
            </a:r>
            <a:r>
              <a:rPr lang="en-US" altLang="zh-CN" b="1" i="0" dirty="0">
                <a:solidFill>
                  <a:srgbClr val="585858"/>
                </a:solidFill>
                <a:effectLst/>
                <a:latin typeface="微软雅黑" panose="020B0503020204020204" pitchFamily="34" charset="-122"/>
                <a:ea typeface="微软雅黑" panose="020B0503020204020204" pitchFamily="34" charset="-122"/>
              </a:rPr>
              <a:t>10</a:t>
            </a:r>
            <a:r>
              <a:rPr lang="zh-CN" altLang="en-US" b="1" i="0" dirty="0">
                <a:solidFill>
                  <a:srgbClr val="585858"/>
                </a:solidFill>
                <a:effectLst/>
                <a:latin typeface="微软雅黑" panose="020B0503020204020204" pitchFamily="34" charset="-122"/>
                <a:ea typeface="微软雅黑" panose="020B0503020204020204" pitchFamily="34" charset="-122"/>
              </a:rPr>
              <a:t>岁、</a:t>
            </a:r>
            <a:r>
              <a:rPr lang="en-US" altLang="zh-CN" b="1" i="0" dirty="0">
                <a:solidFill>
                  <a:srgbClr val="585858"/>
                </a:solidFill>
                <a:effectLst/>
                <a:latin typeface="微软雅黑" panose="020B0503020204020204" pitchFamily="34" charset="-122"/>
                <a:ea typeface="微软雅黑" panose="020B0503020204020204" pitchFamily="34" charset="-122"/>
              </a:rPr>
              <a:t>11</a:t>
            </a:r>
            <a:r>
              <a:rPr lang="zh-CN" altLang="en-US" b="1" i="0" dirty="0">
                <a:solidFill>
                  <a:srgbClr val="585858"/>
                </a:solidFill>
                <a:effectLst/>
                <a:latin typeface="微软雅黑" panose="020B0503020204020204" pitchFamily="34" charset="-122"/>
                <a:ea typeface="微软雅黑" panose="020B0503020204020204" pitchFamily="34" charset="-122"/>
              </a:rPr>
              <a:t>岁即开始当家，照管家里柴米油盐，外出应酬，在这方面，给了我一些锻炼。”周恩来在故乡度过了</a:t>
            </a:r>
            <a:r>
              <a:rPr lang="en-US" altLang="zh-CN" b="1" i="0" dirty="0">
                <a:solidFill>
                  <a:srgbClr val="585858"/>
                </a:solidFill>
                <a:effectLst/>
                <a:latin typeface="微软雅黑" panose="020B0503020204020204" pitchFamily="34" charset="-122"/>
                <a:ea typeface="微软雅黑" panose="020B0503020204020204" pitchFamily="34" charset="-122"/>
              </a:rPr>
              <a:t>12</a:t>
            </a:r>
            <a:r>
              <a:rPr lang="zh-CN" altLang="en-US" b="1" i="0" dirty="0">
                <a:solidFill>
                  <a:srgbClr val="585858"/>
                </a:solidFill>
                <a:effectLst/>
                <a:latin typeface="微软雅黑" panose="020B0503020204020204" pitchFamily="34" charset="-122"/>
                <a:ea typeface="微软雅黑" panose="020B0503020204020204" pitchFamily="34" charset="-122"/>
              </a:rPr>
              <a:t>个春秋。</a:t>
            </a:r>
            <a:endParaRPr lang="en-US" altLang="zh-CN" b="1" i="0" dirty="0">
              <a:solidFill>
                <a:srgbClr val="585858"/>
              </a:solidFill>
              <a:effectLst/>
              <a:latin typeface="微软雅黑" panose="020B0503020204020204" pitchFamily="34" charset="-122"/>
              <a:ea typeface="微软雅黑" panose="020B0503020204020204" pitchFamily="34" charset="-122"/>
            </a:endParaRPr>
          </a:p>
          <a:p>
            <a:pPr algn="l" fontAlgn="base"/>
            <a:r>
              <a:rPr lang="en-US" altLang="zh-CN" b="1" dirty="0">
                <a:solidFill>
                  <a:srgbClr val="585858"/>
                </a:solidFill>
                <a:latin typeface="微软雅黑" panose="020B0503020204020204" pitchFamily="34" charset="-122"/>
                <a:ea typeface="微软雅黑" panose="020B0503020204020204" pitchFamily="34" charset="-122"/>
              </a:rPr>
              <a:t>       </a:t>
            </a:r>
            <a:r>
              <a:rPr lang="en-US" altLang="zh-CN" b="1" i="0" dirty="0">
                <a:solidFill>
                  <a:srgbClr val="585858"/>
                </a:solidFill>
                <a:effectLst/>
                <a:latin typeface="微软雅黑" panose="020B0503020204020204" pitchFamily="34" charset="-122"/>
                <a:ea typeface="微软雅黑" panose="020B0503020204020204" pitchFamily="34" charset="-122"/>
              </a:rPr>
              <a:t>1910</a:t>
            </a:r>
            <a:r>
              <a:rPr lang="zh-CN" altLang="en-US" b="1" i="0" dirty="0">
                <a:solidFill>
                  <a:srgbClr val="585858"/>
                </a:solidFill>
                <a:effectLst/>
                <a:latin typeface="微软雅黑" panose="020B0503020204020204" pitchFamily="34" charset="-122"/>
                <a:ea typeface="微软雅黑" panose="020B0503020204020204" pitchFamily="34" charset="-122"/>
              </a:rPr>
              <a:t>年，</a:t>
            </a:r>
            <a:r>
              <a:rPr lang="en-US" altLang="zh-CN" b="1" i="0" dirty="0">
                <a:solidFill>
                  <a:srgbClr val="585858"/>
                </a:solidFill>
                <a:effectLst/>
                <a:latin typeface="微软雅黑" panose="020B0503020204020204" pitchFamily="34" charset="-122"/>
                <a:ea typeface="微软雅黑" panose="020B0503020204020204" pitchFamily="34" charset="-122"/>
              </a:rPr>
              <a:t>12</a:t>
            </a:r>
            <a:r>
              <a:rPr lang="zh-CN" altLang="en-US" b="1" i="0" dirty="0">
                <a:solidFill>
                  <a:srgbClr val="585858"/>
                </a:solidFill>
                <a:effectLst/>
                <a:latin typeface="微软雅黑" panose="020B0503020204020204" pitchFamily="34" charset="-122"/>
                <a:ea typeface="微软雅黑" panose="020B0503020204020204" pitchFamily="34" charset="-122"/>
              </a:rPr>
              <a:t>岁的周恩来离开淮安，赴东北伯父处读书。从此，他再没有回去过。</a:t>
            </a:r>
            <a:endParaRPr lang="en-US" altLang="zh-CN" b="1" i="0" dirty="0">
              <a:solidFill>
                <a:srgbClr val="585858"/>
              </a:solidFill>
              <a:effectLst/>
              <a:latin typeface="微软雅黑" panose="020B0503020204020204" pitchFamily="34" charset="-122"/>
              <a:ea typeface="微软雅黑" panose="020B0503020204020204" pitchFamily="34" charset="-122"/>
            </a:endParaRPr>
          </a:p>
          <a:p>
            <a:pPr algn="l" fontAlgn="base"/>
            <a:r>
              <a:rPr lang="zh-CN" altLang="en-US" b="1" i="0" dirty="0">
                <a:solidFill>
                  <a:srgbClr val="585858"/>
                </a:solidFill>
                <a:effectLst/>
                <a:latin typeface="微软雅黑" panose="020B0503020204020204" pitchFamily="34" charset="-122"/>
                <a:ea typeface="微软雅黑" panose="020B0503020204020204" pitchFamily="34" charset="-122"/>
              </a:rPr>
              <a:t>       少年周恩来曾就读于奉天东关模范学堂，在这里度过了高小读书生活。这期间，他接触进步教师，阅读爱国书报，为日后救国救民奠定了丰厚的基础。</a:t>
            </a:r>
          </a:p>
          <a:p>
            <a:pPr algn="l" fontAlgn="base"/>
            <a:r>
              <a:rPr lang="zh-CN" altLang="en-US" b="1" i="0" dirty="0">
                <a:solidFill>
                  <a:srgbClr val="585858"/>
                </a:solidFill>
                <a:effectLst/>
                <a:latin typeface="微软雅黑" panose="020B0503020204020204" pitchFamily="34" charset="-122"/>
                <a:ea typeface="微软雅黑" panose="020B0503020204020204" pitchFamily="34" charset="-122"/>
              </a:rPr>
              <a:t>　　在一次修身课上，老师向同学们提出了“为什么而读书”的问题，</a:t>
            </a:r>
            <a:r>
              <a:rPr lang="en-US" altLang="zh-CN" b="1" i="0" dirty="0">
                <a:solidFill>
                  <a:srgbClr val="585858"/>
                </a:solidFill>
                <a:effectLst/>
                <a:latin typeface="微软雅黑" panose="020B0503020204020204" pitchFamily="34" charset="-122"/>
                <a:ea typeface="微软雅黑" panose="020B0503020204020204" pitchFamily="34" charset="-122"/>
              </a:rPr>
              <a:t>13</a:t>
            </a:r>
            <a:r>
              <a:rPr lang="zh-CN" altLang="en-US" b="1" i="0" dirty="0">
                <a:solidFill>
                  <a:srgbClr val="585858"/>
                </a:solidFill>
                <a:effectLst/>
                <a:latin typeface="微软雅黑" panose="020B0503020204020204" pitchFamily="34" charset="-122"/>
                <a:ea typeface="微软雅黑" panose="020B0503020204020204" pitchFamily="34" charset="-122"/>
              </a:rPr>
              <a:t>岁的周恩来清晰而坚定地回答道：“为中华之崛起而读书！”</a:t>
            </a:r>
          </a:p>
          <a:p>
            <a:pPr algn="l" fontAlgn="base"/>
            <a:endParaRPr lang="zh-CN" altLang="en-US" sz="2000" b="1" i="0" dirty="0">
              <a:solidFill>
                <a:srgbClr val="585858"/>
              </a:solidFill>
              <a:effectLst/>
              <a:latin typeface="微软雅黑" panose="020B0503020204020204" pitchFamily="34" charset="-122"/>
              <a:ea typeface="微软雅黑" panose="020B0503020204020204" pitchFamily="34" charset="-122"/>
            </a:endParaRPr>
          </a:p>
          <a:p>
            <a:endParaRPr lang="en-US" altLang="zh-CN" sz="2000" dirty="0"/>
          </a:p>
          <a:p>
            <a:endParaRPr lang="en-US" altLang="zh-CN" sz="2400" b="1" dirty="0"/>
          </a:p>
          <a:p>
            <a:endParaRPr lang="en-US" altLang="zh-CN" sz="2400" b="1" dirty="0"/>
          </a:p>
          <a:p>
            <a:endParaRPr lang="zh-CN" altLang="en-US" sz="2000" dirty="0"/>
          </a:p>
        </p:txBody>
      </p:sp>
      <p:pic>
        <p:nvPicPr>
          <p:cNvPr id="5" name="图片 4"/>
          <p:cNvPicPr>
            <a:picLocks noChangeAspect="1"/>
          </p:cNvPicPr>
          <p:nvPr/>
        </p:nvPicPr>
        <p:blipFill>
          <a:blip r:embed="rId4"/>
          <a:stretch>
            <a:fillRect/>
          </a:stretch>
        </p:blipFill>
        <p:spPr>
          <a:xfrm>
            <a:off x="8192891" y="3852604"/>
            <a:ext cx="3751009" cy="2670919"/>
          </a:xfrm>
          <a:prstGeom prst="rect">
            <a:avLst/>
          </a:prstGeom>
        </p:spPr>
      </p:pic>
      <p:pic>
        <p:nvPicPr>
          <p:cNvPr id="7" name="图片 6"/>
          <p:cNvPicPr>
            <a:picLocks noChangeAspect="1"/>
          </p:cNvPicPr>
          <p:nvPr/>
        </p:nvPicPr>
        <p:blipFill>
          <a:blip r:embed="rId5"/>
          <a:stretch>
            <a:fillRect/>
          </a:stretch>
        </p:blipFill>
        <p:spPr>
          <a:xfrm>
            <a:off x="8174605" y="1028108"/>
            <a:ext cx="3769295" cy="2512863"/>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p:cTn id="7" dur="500" fill="hold"/>
                                        <p:tgtEl>
                                          <p:spTgt spid="25"/>
                                        </p:tgtEl>
                                        <p:attrNameLst>
                                          <p:attrName>ppt_w</p:attrName>
                                        </p:attrNameLst>
                                      </p:cBhvr>
                                      <p:tavLst>
                                        <p:tav tm="0">
                                          <p:val>
                                            <p:fltVal val="0"/>
                                          </p:val>
                                        </p:tav>
                                        <p:tav tm="100000">
                                          <p:val>
                                            <p:strVal val="#ppt_w"/>
                                          </p:val>
                                        </p:tav>
                                      </p:tavLst>
                                    </p:anim>
                                    <p:anim calcmode="lin" valueType="num">
                                      <p:cBhvr>
                                        <p:cTn id="8" dur="500" fill="hold"/>
                                        <p:tgtEl>
                                          <p:spTgt spid="25"/>
                                        </p:tgtEl>
                                        <p:attrNameLst>
                                          <p:attrName>ppt_h</p:attrName>
                                        </p:attrNameLst>
                                      </p:cBhvr>
                                      <p:tavLst>
                                        <p:tav tm="0">
                                          <p:val>
                                            <p:fltVal val="0"/>
                                          </p:val>
                                        </p:tav>
                                        <p:tav tm="100000">
                                          <p:val>
                                            <p:strVal val="#ppt_h"/>
                                          </p:val>
                                        </p:tav>
                                      </p:tavLst>
                                    </p:anim>
                                    <p:animEffect transition="in" filter="fade">
                                      <p:cBhvr>
                                        <p:cTn id="9" dur="500"/>
                                        <p:tgtEl>
                                          <p:spTgt spid="25"/>
                                        </p:tgtEl>
                                      </p:cBhvr>
                                    </p:animEffect>
                                  </p:childTnLst>
                                </p:cTn>
                              </p:par>
                              <p:par>
                                <p:cTn id="10" presetID="35" presetClass="path" presetSubtype="0" accel="50000" decel="50000" fill="hold" nodeType="withEffect">
                                  <p:stCondLst>
                                    <p:cond delay="0"/>
                                  </p:stCondLst>
                                  <p:childTnLst>
                                    <p:animMotion origin="layout" path="M -6.25E-7 -3.7037E-6 L 0.18997 -3.7037E-6 " pathEditMode="relative" rAng="0" ptsTypes="AA">
                                      <p:cBhvr>
                                        <p:cTn id="11" dur="1000" spd="-100000" fill="hold"/>
                                        <p:tgtEl>
                                          <p:spTgt spid="25"/>
                                        </p:tgtEl>
                                        <p:attrNameLst>
                                          <p:attrName>ppt_x</p:attrName>
                                          <p:attrName>ppt_y</p:attrName>
                                        </p:attrNameLst>
                                      </p:cBhvr>
                                      <p:rCtr x="9492" y="0"/>
                                    </p:animMotion>
                                  </p:childTnLst>
                                </p:cTn>
                              </p:par>
                              <p:par>
                                <p:cTn id="12" presetID="53" presetClass="entr" presetSubtype="16" fill="hold" nodeType="withEffect">
                                  <p:stCondLst>
                                    <p:cond delay="0"/>
                                  </p:stCondLst>
                                  <p:childTnLst>
                                    <p:set>
                                      <p:cBhvr>
                                        <p:cTn id="13" dur="1" fill="hold">
                                          <p:stCondLst>
                                            <p:cond delay="0"/>
                                          </p:stCondLst>
                                        </p:cTn>
                                        <p:tgtEl>
                                          <p:spTgt spid="26"/>
                                        </p:tgtEl>
                                        <p:attrNameLst>
                                          <p:attrName>style.visibility</p:attrName>
                                        </p:attrNameLst>
                                      </p:cBhvr>
                                      <p:to>
                                        <p:strVal val="visible"/>
                                      </p:to>
                                    </p:set>
                                    <p:anim calcmode="lin" valueType="num">
                                      <p:cBhvr>
                                        <p:cTn id="14" dur="500" fill="hold"/>
                                        <p:tgtEl>
                                          <p:spTgt spid="26"/>
                                        </p:tgtEl>
                                        <p:attrNameLst>
                                          <p:attrName>ppt_w</p:attrName>
                                        </p:attrNameLst>
                                      </p:cBhvr>
                                      <p:tavLst>
                                        <p:tav tm="0">
                                          <p:val>
                                            <p:fltVal val="0"/>
                                          </p:val>
                                        </p:tav>
                                        <p:tav tm="100000">
                                          <p:val>
                                            <p:strVal val="#ppt_w"/>
                                          </p:val>
                                        </p:tav>
                                      </p:tavLst>
                                    </p:anim>
                                    <p:anim calcmode="lin" valueType="num">
                                      <p:cBhvr>
                                        <p:cTn id="15" dur="500" fill="hold"/>
                                        <p:tgtEl>
                                          <p:spTgt spid="26"/>
                                        </p:tgtEl>
                                        <p:attrNameLst>
                                          <p:attrName>ppt_h</p:attrName>
                                        </p:attrNameLst>
                                      </p:cBhvr>
                                      <p:tavLst>
                                        <p:tav tm="0">
                                          <p:val>
                                            <p:fltVal val="0"/>
                                          </p:val>
                                        </p:tav>
                                        <p:tav tm="100000">
                                          <p:val>
                                            <p:strVal val="#ppt_h"/>
                                          </p:val>
                                        </p:tav>
                                      </p:tavLst>
                                    </p:anim>
                                    <p:animEffect transition="in" filter="fade">
                                      <p:cBhvr>
                                        <p:cTn id="16" dur="500"/>
                                        <p:tgtEl>
                                          <p:spTgt spid="26"/>
                                        </p:tgtEl>
                                      </p:cBhvr>
                                    </p:animEffect>
                                  </p:childTnLst>
                                </p:cTn>
                              </p:par>
                              <p:par>
                                <p:cTn id="17" presetID="35" presetClass="path" presetSubtype="0" accel="50000" decel="50000" fill="hold" nodeType="withEffect">
                                  <p:stCondLst>
                                    <p:cond delay="0"/>
                                  </p:stCondLst>
                                  <p:childTnLst>
                                    <p:animMotion origin="layout" path="M 0 -3.7037E-6 L -0.41185 -3.7037E-6 " pathEditMode="relative" rAng="0" ptsTypes="AA">
                                      <p:cBhvr>
                                        <p:cTn id="18" dur="1000" spd="-100000" fill="hold"/>
                                        <p:tgtEl>
                                          <p:spTgt spid="26"/>
                                        </p:tgtEl>
                                        <p:attrNameLst>
                                          <p:attrName>ppt_x</p:attrName>
                                          <p:attrName>ppt_y</p:attrName>
                                        </p:attrNameLst>
                                      </p:cBhvr>
                                      <p:rCtr x="-20599" y="0"/>
                                    </p:animMotion>
                                  </p:childTnLst>
                                </p:cTn>
                              </p:par>
                            </p:childTnLst>
                          </p:cTn>
                        </p:par>
                        <p:par>
                          <p:cTn id="19" fill="hold">
                            <p:stCondLst>
                              <p:cond delay="500"/>
                            </p:stCondLst>
                            <p:childTnLst>
                              <p:par>
                                <p:cTn id="20" presetID="53" presetClass="entr" presetSubtype="16" fill="hold" grpId="0" nodeType="afterEffect">
                                  <p:stCondLst>
                                    <p:cond delay="0"/>
                                  </p:stCondLst>
                                  <p:childTnLst>
                                    <p:set>
                                      <p:cBhvr>
                                        <p:cTn id="21" dur="1" fill="hold">
                                          <p:stCondLst>
                                            <p:cond delay="0"/>
                                          </p:stCondLst>
                                        </p:cTn>
                                        <p:tgtEl>
                                          <p:spTgt spid="27"/>
                                        </p:tgtEl>
                                        <p:attrNameLst>
                                          <p:attrName>style.visibility</p:attrName>
                                        </p:attrNameLst>
                                      </p:cBhvr>
                                      <p:to>
                                        <p:strVal val="visible"/>
                                      </p:to>
                                    </p:set>
                                    <p:anim calcmode="lin" valueType="num">
                                      <p:cBhvr>
                                        <p:cTn id="22" dur="500" fill="hold"/>
                                        <p:tgtEl>
                                          <p:spTgt spid="27"/>
                                        </p:tgtEl>
                                        <p:attrNameLst>
                                          <p:attrName>ppt_w</p:attrName>
                                        </p:attrNameLst>
                                      </p:cBhvr>
                                      <p:tavLst>
                                        <p:tav tm="0">
                                          <p:val>
                                            <p:fltVal val="0"/>
                                          </p:val>
                                        </p:tav>
                                        <p:tav tm="100000">
                                          <p:val>
                                            <p:strVal val="#ppt_w"/>
                                          </p:val>
                                        </p:tav>
                                      </p:tavLst>
                                    </p:anim>
                                    <p:anim calcmode="lin" valueType="num">
                                      <p:cBhvr>
                                        <p:cTn id="23" dur="500" fill="hold"/>
                                        <p:tgtEl>
                                          <p:spTgt spid="27"/>
                                        </p:tgtEl>
                                        <p:attrNameLst>
                                          <p:attrName>ppt_h</p:attrName>
                                        </p:attrNameLst>
                                      </p:cBhvr>
                                      <p:tavLst>
                                        <p:tav tm="0">
                                          <p:val>
                                            <p:fltVal val="0"/>
                                          </p:val>
                                        </p:tav>
                                        <p:tav tm="100000">
                                          <p:val>
                                            <p:strVal val="#ppt_h"/>
                                          </p:val>
                                        </p:tav>
                                      </p:tavLst>
                                    </p:anim>
                                    <p:animEffect transition="in" filter="fade">
                                      <p:cBhvr>
                                        <p:cTn id="24" dur="500"/>
                                        <p:tgtEl>
                                          <p:spTgt spid="27"/>
                                        </p:tgtEl>
                                      </p:cBhvr>
                                    </p:animEffect>
                                  </p:childTnLst>
                                </p:cTn>
                              </p:par>
                              <p:par>
                                <p:cTn id="25" presetID="35" presetClass="path" presetSubtype="0" accel="50000" decel="50000" fill="hold" grpId="1" nodeType="withEffect">
                                  <p:stCondLst>
                                    <p:cond delay="0"/>
                                  </p:stCondLst>
                                  <p:childTnLst>
                                    <p:animMotion origin="layout" path="M -4.375E-6 -3.7037E-6 L -0.30273 -3.7037E-6 " pathEditMode="relative" rAng="0" ptsTypes="AA">
                                      <p:cBhvr>
                                        <p:cTn id="26" dur="1000" spd="-100000" fill="hold"/>
                                        <p:tgtEl>
                                          <p:spTgt spid="27"/>
                                        </p:tgtEl>
                                        <p:attrNameLst>
                                          <p:attrName>ppt_x</p:attrName>
                                          <p:attrName>ppt_y</p:attrName>
                                        </p:attrNameLst>
                                      </p:cBhvr>
                                      <p:rCtr x="-1514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7" grpId="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图片 24"/>
          <p:cNvPicPr>
            <a:picLocks noChangeAspect="1"/>
          </p:cNvPicPr>
          <p:nvPr/>
        </p:nvPicPr>
        <p:blipFill>
          <a:blip r:embed="rId3" cstate="screen"/>
          <a:stretch>
            <a:fillRect/>
          </a:stretch>
        </p:blipFill>
        <p:spPr>
          <a:xfrm>
            <a:off x="8088923" y="246423"/>
            <a:ext cx="4103077" cy="675011"/>
          </a:xfrm>
          <a:prstGeom prst="rect">
            <a:avLst/>
          </a:prstGeom>
        </p:spPr>
      </p:pic>
      <p:cxnSp>
        <p:nvCxnSpPr>
          <p:cNvPr id="26" name="直接连接符 25"/>
          <p:cNvCxnSpPr/>
          <p:nvPr/>
        </p:nvCxnSpPr>
        <p:spPr>
          <a:xfrm>
            <a:off x="0" y="921434"/>
            <a:ext cx="121920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7" name="矩形 26"/>
          <p:cNvSpPr/>
          <p:nvPr/>
        </p:nvSpPr>
        <p:spPr>
          <a:xfrm>
            <a:off x="1060287" y="353095"/>
            <a:ext cx="5262188" cy="461665"/>
          </a:xfrm>
          <a:prstGeom prst="rect">
            <a:avLst/>
          </a:prstGeom>
        </p:spPr>
        <p:txBody>
          <a:bodyPr wrap="square">
            <a:spAutoFit/>
          </a:bodyPr>
          <a:lstStyle/>
          <a:p>
            <a:r>
              <a:rPr lang="zh-CN" altLang="en-US" sz="2400" b="1" dirty="0">
                <a:solidFill>
                  <a:schemeClr val="accent1"/>
                </a:solidFill>
                <a:latin typeface="字体视界-NEW魏碑体" panose="02010601030101010101" pitchFamily="2" charset="-122"/>
                <a:ea typeface="字体视界-NEW魏碑体" panose="02010601030101010101" pitchFamily="2" charset="-122"/>
                <a:cs typeface="+mn-ea"/>
                <a:sym typeface="+mn-lt"/>
              </a:rPr>
              <a:t>第一部分：</a:t>
            </a:r>
            <a:r>
              <a:rPr lang="zh-CN" altLang="en-US" sz="2400" b="1" dirty="0">
                <a:solidFill>
                  <a:srgbClr val="C00000"/>
                </a:solidFill>
                <a:latin typeface="字体视界-NEW魏碑体" panose="02010601030101010101" pitchFamily="2" charset="-122"/>
                <a:ea typeface="字体视界-NEW魏碑体" panose="02010601030101010101" pitchFamily="2" charset="-122"/>
              </a:rPr>
              <a:t>周恩来总理的简要生平</a:t>
            </a:r>
          </a:p>
        </p:txBody>
      </p:sp>
      <p:sp>
        <p:nvSpPr>
          <p:cNvPr id="5" name="文本框 4"/>
          <p:cNvSpPr txBox="1"/>
          <p:nvPr/>
        </p:nvSpPr>
        <p:spPr>
          <a:xfrm>
            <a:off x="639995" y="1218838"/>
            <a:ext cx="6102772" cy="3046988"/>
          </a:xfrm>
          <a:prstGeom prst="rect">
            <a:avLst/>
          </a:prstGeom>
          <a:noFill/>
        </p:spPr>
        <p:txBody>
          <a:bodyPr wrap="square">
            <a:spAutoFit/>
          </a:bodyPr>
          <a:lstStyle/>
          <a:p>
            <a:r>
              <a:rPr lang="en-US" altLang="zh-CN" sz="2400" b="1" dirty="0"/>
              <a:t>2.</a:t>
            </a:r>
            <a:r>
              <a:rPr lang="zh-CN" altLang="en-US" sz="2400" b="1" dirty="0"/>
              <a:t>就学津门（</a:t>
            </a:r>
            <a:r>
              <a:rPr lang="en-US" altLang="zh-CN" sz="2400" b="1" dirty="0"/>
              <a:t>1913-1917</a:t>
            </a:r>
            <a:r>
              <a:rPr lang="zh-CN" altLang="en-US" sz="2400" b="1" dirty="0"/>
              <a:t>）</a:t>
            </a:r>
            <a:endParaRPr lang="en-US" altLang="zh-CN" sz="2400" b="1" dirty="0"/>
          </a:p>
          <a:p>
            <a:pPr algn="l" fontAlgn="base"/>
            <a:r>
              <a:rPr lang="en-US" altLang="zh-CN" b="1" i="0" dirty="0">
                <a:solidFill>
                  <a:srgbClr val="585858"/>
                </a:solidFill>
                <a:effectLst/>
                <a:latin typeface="微软雅黑" panose="020B0503020204020204" pitchFamily="34" charset="-122"/>
                <a:ea typeface="微软雅黑" panose="020B0503020204020204" pitchFamily="34" charset="-122"/>
              </a:rPr>
              <a:t>       1913</a:t>
            </a:r>
            <a:r>
              <a:rPr lang="zh-CN" altLang="en-US" b="1" i="0" dirty="0">
                <a:solidFill>
                  <a:srgbClr val="585858"/>
                </a:solidFill>
                <a:effectLst/>
                <a:latin typeface="微软雅黑" panose="020B0503020204020204" pitchFamily="34" charset="-122"/>
                <a:ea typeface="微软雅黑" panose="020B0503020204020204" pitchFamily="34" charset="-122"/>
              </a:rPr>
              <a:t>年，</a:t>
            </a:r>
            <a:r>
              <a:rPr lang="en-US" altLang="zh-CN" b="1" i="0" dirty="0">
                <a:solidFill>
                  <a:srgbClr val="585858"/>
                </a:solidFill>
                <a:effectLst/>
                <a:latin typeface="微软雅黑" panose="020B0503020204020204" pitchFamily="34" charset="-122"/>
                <a:ea typeface="微软雅黑" panose="020B0503020204020204" pitchFamily="34" charset="-122"/>
              </a:rPr>
              <a:t>15</a:t>
            </a:r>
            <a:r>
              <a:rPr lang="zh-CN" altLang="en-US" b="1" i="0" dirty="0">
                <a:solidFill>
                  <a:srgbClr val="585858"/>
                </a:solidFill>
                <a:effectLst/>
                <a:latin typeface="微软雅黑" panose="020B0503020204020204" pitchFamily="34" charset="-122"/>
                <a:ea typeface="微软雅黑" panose="020B0503020204020204" pitchFamily="34" charset="-122"/>
              </a:rPr>
              <a:t>岁的周恩来进入天津南开学校读书，在这里度过了</a:t>
            </a:r>
            <a:r>
              <a:rPr lang="en-US" altLang="zh-CN" b="1" i="0" dirty="0">
                <a:solidFill>
                  <a:srgbClr val="585858"/>
                </a:solidFill>
                <a:effectLst/>
                <a:latin typeface="微软雅黑" panose="020B0503020204020204" pitchFamily="34" charset="-122"/>
                <a:ea typeface="微软雅黑" panose="020B0503020204020204" pitchFamily="34" charset="-122"/>
              </a:rPr>
              <a:t>4</a:t>
            </a:r>
            <a:r>
              <a:rPr lang="zh-CN" altLang="en-US" b="1" i="0" dirty="0">
                <a:solidFill>
                  <a:srgbClr val="585858"/>
                </a:solidFill>
                <a:effectLst/>
                <a:latin typeface="微软雅黑" panose="020B0503020204020204" pitchFamily="34" charset="-122"/>
                <a:ea typeface="微软雅黑" panose="020B0503020204020204" pitchFamily="34" charset="-122"/>
              </a:rPr>
              <a:t>年学习生活。周恩来在南开学校学习认真勤奋，成绩优异，在同学中享有很高声望。他还经常利用业余时间研究革命理论，与同学们共同商讨国家大事，组织同学进行革命活动。</a:t>
            </a:r>
          </a:p>
          <a:p>
            <a:pPr algn="l" fontAlgn="base"/>
            <a:r>
              <a:rPr lang="zh-CN" altLang="en-US" b="1" i="0" dirty="0">
                <a:solidFill>
                  <a:srgbClr val="585858"/>
                </a:solidFill>
                <a:effectLst/>
                <a:latin typeface="微软雅黑" panose="020B0503020204020204" pitchFamily="34" charset="-122"/>
                <a:ea typeface="微软雅黑" panose="020B0503020204020204" pitchFamily="34" charset="-122"/>
              </a:rPr>
              <a:t>　　周恩来是南开学校新剧团的重要成员，他主张戏剧要改革，要普及，要有助于“开民智，进民德”，还积极参加编写和演出了不少话剧。</a:t>
            </a:r>
          </a:p>
          <a:p>
            <a:endParaRPr lang="en-US" altLang="zh-CN" sz="2400" b="1" dirty="0"/>
          </a:p>
        </p:txBody>
      </p:sp>
      <p:pic>
        <p:nvPicPr>
          <p:cNvPr id="7" name="图片 6"/>
          <p:cNvPicPr>
            <a:picLocks noChangeAspect="1"/>
          </p:cNvPicPr>
          <p:nvPr/>
        </p:nvPicPr>
        <p:blipFill>
          <a:blip r:embed="rId4"/>
          <a:stretch>
            <a:fillRect/>
          </a:stretch>
        </p:blipFill>
        <p:spPr>
          <a:xfrm>
            <a:off x="1175089" y="3978329"/>
            <a:ext cx="4494192" cy="2648497"/>
          </a:xfrm>
          <a:prstGeom prst="rect">
            <a:avLst/>
          </a:prstGeom>
        </p:spPr>
      </p:pic>
      <p:pic>
        <p:nvPicPr>
          <p:cNvPr id="9" name="图片 8"/>
          <p:cNvPicPr>
            <a:picLocks noChangeAspect="1"/>
          </p:cNvPicPr>
          <p:nvPr/>
        </p:nvPicPr>
        <p:blipFill>
          <a:blip r:embed="rId5"/>
          <a:stretch>
            <a:fillRect/>
          </a:stretch>
        </p:blipFill>
        <p:spPr>
          <a:xfrm>
            <a:off x="7110845" y="1323866"/>
            <a:ext cx="4476972" cy="5056613"/>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p:cTn id="7" dur="500" fill="hold"/>
                                        <p:tgtEl>
                                          <p:spTgt spid="25"/>
                                        </p:tgtEl>
                                        <p:attrNameLst>
                                          <p:attrName>ppt_w</p:attrName>
                                        </p:attrNameLst>
                                      </p:cBhvr>
                                      <p:tavLst>
                                        <p:tav tm="0">
                                          <p:val>
                                            <p:fltVal val="0"/>
                                          </p:val>
                                        </p:tav>
                                        <p:tav tm="100000">
                                          <p:val>
                                            <p:strVal val="#ppt_w"/>
                                          </p:val>
                                        </p:tav>
                                      </p:tavLst>
                                    </p:anim>
                                    <p:anim calcmode="lin" valueType="num">
                                      <p:cBhvr>
                                        <p:cTn id="8" dur="500" fill="hold"/>
                                        <p:tgtEl>
                                          <p:spTgt spid="25"/>
                                        </p:tgtEl>
                                        <p:attrNameLst>
                                          <p:attrName>ppt_h</p:attrName>
                                        </p:attrNameLst>
                                      </p:cBhvr>
                                      <p:tavLst>
                                        <p:tav tm="0">
                                          <p:val>
                                            <p:fltVal val="0"/>
                                          </p:val>
                                        </p:tav>
                                        <p:tav tm="100000">
                                          <p:val>
                                            <p:strVal val="#ppt_h"/>
                                          </p:val>
                                        </p:tav>
                                      </p:tavLst>
                                    </p:anim>
                                    <p:animEffect transition="in" filter="fade">
                                      <p:cBhvr>
                                        <p:cTn id="9" dur="500"/>
                                        <p:tgtEl>
                                          <p:spTgt spid="25"/>
                                        </p:tgtEl>
                                      </p:cBhvr>
                                    </p:animEffect>
                                  </p:childTnLst>
                                </p:cTn>
                              </p:par>
                              <p:par>
                                <p:cTn id="10" presetID="35" presetClass="path" presetSubtype="0" accel="50000" decel="50000" fill="hold" nodeType="withEffect">
                                  <p:stCondLst>
                                    <p:cond delay="0"/>
                                  </p:stCondLst>
                                  <p:childTnLst>
                                    <p:animMotion origin="layout" path="M -6.25E-7 -3.7037E-6 L 0.18997 -3.7037E-6 " pathEditMode="relative" rAng="0" ptsTypes="AA">
                                      <p:cBhvr>
                                        <p:cTn id="11" dur="1000" spd="-100000" fill="hold"/>
                                        <p:tgtEl>
                                          <p:spTgt spid="25"/>
                                        </p:tgtEl>
                                        <p:attrNameLst>
                                          <p:attrName>ppt_x</p:attrName>
                                          <p:attrName>ppt_y</p:attrName>
                                        </p:attrNameLst>
                                      </p:cBhvr>
                                      <p:rCtr x="9492" y="0"/>
                                    </p:animMotion>
                                  </p:childTnLst>
                                </p:cTn>
                              </p:par>
                              <p:par>
                                <p:cTn id="12" presetID="53" presetClass="entr" presetSubtype="16" fill="hold" nodeType="withEffect">
                                  <p:stCondLst>
                                    <p:cond delay="0"/>
                                  </p:stCondLst>
                                  <p:childTnLst>
                                    <p:set>
                                      <p:cBhvr>
                                        <p:cTn id="13" dur="1" fill="hold">
                                          <p:stCondLst>
                                            <p:cond delay="0"/>
                                          </p:stCondLst>
                                        </p:cTn>
                                        <p:tgtEl>
                                          <p:spTgt spid="26"/>
                                        </p:tgtEl>
                                        <p:attrNameLst>
                                          <p:attrName>style.visibility</p:attrName>
                                        </p:attrNameLst>
                                      </p:cBhvr>
                                      <p:to>
                                        <p:strVal val="visible"/>
                                      </p:to>
                                    </p:set>
                                    <p:anim calcmode="lin" valueType="num">
                                      <p:cBhvr>
                                        <p:cTn id="14" dur="500" fill="hold"/>
                                        <p:tgtEl>
                                          <p:spTgt spid="26"/>
                                        </p:tgtEl>
                                        <p:attrNameLst>
                                          <p:attrName>ppt_w</p:attrName>
                                        </p:attrNameLst>
                                      </p:cBhvr>
                                      <p:tavLst>
                                        <p:tav tm="0">
                                          <p:val>
                                            <p:fltVal val="0"/>
                                          </p:val>
                                        </p:tav>
                                        <p:tav tm="100000">
                                          <p:val>
                                            <p:strVal val="#ppt_w"/>
                                          </p:val>
                                        </p:tav>
                                      </p:tavLst>
                                    </p:anim>
                                    <p:anim calcmode="lin" valueType="num">
                                      <p:cBhvr>
                                        <p:cTn id="15" dur="500" fill="hold"/>
                                        <p:tgtEl>
                                          <p:spTgt spid="26"/>
                                        </p:tgtEl>
                                        <p:attrNameLst>
                                          <p:attrName>ppt_h</p:attrName>
                                        </p:attrNameLst>
                                      </p:cBhvr>
                                      <p:tavLst>
                                        <p:tav tm="0">
                                          <p:val>
                                            <p:fltVal val="0"/>
                                          </p:val>
                                        </p:tav>
                                        <p:tav tm="100000">
                                          <p:val>
                                            <p:strVal val="#ppt_h"/>
                                          </p:val>
                                        </p:tav>
                                      </p:tavLst>
                                    </p:anim>
                                    <p:animEffect transition="in" filter="fade">
                                      <p:cBhvr>
                                        <p:cTn id="16" dur="500"/>
                                        <p:tgtEl>
                                          <p:spTgt spid="26"/>
                                        </p:tgtEl>
                                      </p:cBhvr>
                                    </p:animEffect>
                                  </p:childTnLst>
                                </p:cTn>
                              </p:par>
                              <p:par>
                                <p:cTn id="17" presetID="35" presetClass="path" presetSubtype="0" accel="50000" decel="50000" fill="hold" nodeType="withEffect">
                                  <p:stCondLst>
                                    <p:cond delay="0"/>
                                  </p:stCondLst>
                                  <p:childTnLst>
                                    <p:animMotion origin="layout" path="M 0 -3.7037E-6 L -0.41185 -3.7037E-6 " pathEditMode="relative" rAng="0" ptsTypes="AA">
                                      <p:cBhvr>
                                        <p:cTn id="18" dur="1000" spd="-100000" fill="hold"/>
                                        <p:tgtEl>
                                          <p:spTgt spid="26"/>
                                        </p:tgtEl>
                                        <p:attrNameLst>
                                          <p:attrName>ppt_x</p:attrName>
                                          <p:attrName>ppt_y</p:attrName>
                                        </p:attrNameLst>
                                      </p:cBhvr>
                                      <p:rCtr x="-20599" y="0"/>
                                    </p:animMotion>
                                  </p:childTnLst>
                                </p:cTn>
                              </p:par>
                            </p:childTnLst>
                          </p:cTn>
                        </p:par>
                        <p:par>
                          <p:cTn id="19" fill="hold">
                            <p:stCondLst>
                              <p:cond delay="500"/>
                            </p:stCondLst>
                            <p:childTnLst>
                              <p:par>
                                <p:cTn id="20" presetID="53" presetClass="entr" presetSubtype="16" fill="hold" grpId="0" nodeType="afterEffect">
                                  <p:stCondLst>
                                    <p:cond delay="0"/>
                                  </p:stCondLst>
                                  <p:childTnLst>
                                    <p:set>
                                      <p:cBhvr>
                                        <p:cTn id="21" dur="1" fill="hold">
                                          <p:stCondLst>
                                            <p:cond delay="0"/>
                                          </p:stCondLst>
                                        </p:cTn>
                                        <p:tgtEl>
                                          <p:spTgt spid="27"/>
                                        </p:tgtEl>
                                        <p:attrNameLst>
                                          <p:attrName>style.visibility</p:attrName>
                                        </p:attrNameLst>
                                      </p:cBhvr>
                                      <p:to>
                                        <p:strVal val="visible"/>
                                      </p:to>
                                    </p:set>
                                    <p:anim calcmode="lin" valueType="num">
                                      <p:cBhvr>
                                        <p:cTn id="22" dur="500" fill="hold"/>
                                        <p:tgtEl>
                                          <p:spTgt spid="27"/>
                                        </p:tgtEl>
                                        <p:attrNameLst>
                                          <p:attrName>ppt_w</p:attrName>
                                        </p:attrNameLst>
                                      </p:cBhvr>
                                      <p:tavLst>
                                        <p:tav tm="0">
                                          <p:val>
                                            <p:fltVal val="0"/>
                                          </p:val>
                                        </p:tav>
                                        <p:tav tm="100000">
                                          <p:val>
                                            <p:strVal val="#ppt_w"/>
                                          </p:val>
                                        </p:tav>
                                      </p:tavLst>
                                    </p:anim>
                                    <p:anim calcmode="lin" valueType="num">
                                      <p:cBhvr>
                                        <p:cTn id="23" dur="500" fill="hold"/>
                                        <p:tgtEl>
                                          <p:spTgt spid="27"/>
                                        </p:tgtEl>
                                        <p:attrNameLst>
                                          <p:attrName>ppt_h</p:attrName>
                                        </p:attrNameLst>
                                      </p:cBhvr>
                                      <p:tavLst>
                                        <p:tav tm="0">
                                          <p:val>
                                            <p:fltVal val="0"/>
                                          </p:val>
                                        </p:tav>
                                        <p:tav tm="100000">
                                          <p:val>
                                            <p:strVal val="#ppt_h"/>
                                          </p:val>
                                        </p:tav>
                                      </p:tavLst>
                                    </p:anim>
                                    <p:animEffect transition="in" filter="fade">
                                      <p:cBhvr>
                                        <p:cTn id="24" dur="500"/>
                                        <p:tgtEl>
                                          <p:spTgt spid="27"/>
                                        </p:tgtEl>
                                      </p:cBhvr>
                                    </p:animEffect>
                                  </p:childTnLst>
                                </p:cTn>
                              </p:par>
                              <p:par>
                                <p:cTn id="25" presetID="35" presetClass="path" presetSubtype="0" accel="50000" decel="50000" fill="hold" grpId="1" nodeType="withEffect">
                                  <p:stCondLst>
                                    <p:cond delay="0"/>
                                  </p:stCondLst>
                                  <p:childTnLst>
                                    <p:animMotion origin="layout" path="M -4.375E-6 -3.7037E-6 L -0.30273 -3.7037E-6 " pathEditMode="relative" rAng="0" ptsTypes="AA">
                                      <p:cBhvr>
                                        <p:cTn id="26" dur="1000" spd="-100000" fill="hold"/>
                                        <p:tgtEl>
                                          <p:spTgt spid="27"/>
                                        </p:tgtEl>
                                        <p:attrNameLst>
                                          <p:attrName>ppt_x</p:attrName>
                                          <p:attrName>ppt_y</p:attrName>
                                        </p:attrNameLst>
                                      </p:cBhvr>
                                      <p:rCtr x="-1514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7" grpId="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图片 24"/>
          <p:cNvPicPr>
            <a:picLocks noChangeAspect="1"/>
          </p:cNvPicPr>
          <p:nvPr/>
        </p:nvPicPr>
        <p:blipFill>
          <a:blip r:embed="rId3" cstate="screen"/>
          <a:stretch>
            <a:fillRect/>
          </a:stretch>
        </p:blipFill>
        <p:spPr>
          <a:xfrm>
            <a:off x="8088923" y="246423"/>
            <a:ext cx="4103077" cy="675011"/>
          </a:xfrm>
          <a:prstGeom prst="rect">
            <a:avLst/>
          </a:prstGeom>
        </p:spPr>
      </p:pic>
      <p:cxnSp>
        <p:nvCxnSpPr>
          <p:cNvPr id="26" name="直接连接符 25"/>
          <p:cNvCxnSpPr/>
          <p:nvPr/>
        </p:nvCxnSpPr>
        <p:spPr>
          <a:xfrm>
            <a:off x="0" y="921434"/>
            <a:ext cx="121920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7" name="矩形 26"/>
          <p:cNvSpPr/>
          <p:nvPr/>
        </p:nvSpPr>
        <p:spPr>
          <a:xfrm>
            <a:off x="1060287" y="353095"/>
            <a:ext cx="5262188" cy="461665"/>
          </a:xfrm>
          <a:prstGeom prst="rect">
            <a:avLst/>
          </a:prstGeom>
        </p:spPr>
        <p:txBody>
          <a:bodyPr wrap="square">
            <a:spAutoFit/>
          </a:bodyPr>
          <a:lstStyle/>
          <a:p>
            <a:r>
              <a:rPr lang="zh-CN" altLang="en-US" sz="2400" b="1" dirty="0">
                <a:solidFill>
                  <a:schemeClr val="accent1"/>
                </a:solidFill>
                <a:latin typeface="字体视界-NEW魏碑体" panose="02010601030101010101" pitchFamily="2" charset="-122"/>
                <a:ea typeface="字体视界-NEW魏碑体" panose="02010601030101010101" pitchFamily="2" charset="-122"/>
                <a:cs typeface="+mn-ea"/>
                <a:sym typeface="+mn-lt"/>
              </a:rPr>
              <a:t>第一部分：</a:t>
            </a:r>
            <a:r>
              <a:rPr lang="zh-CN" altLang="en-US" sz="2400" b="1" dirty="0">
                <a:solidFill>
                  <a:srgbClr val="C00000"/>
                </a:solidFill>
                <a:latin typeface="字体视界-NEW魏碑体" panose="02010601030101010101" pitchFamily="2" charset="-122"/>
                <a:ea typeface="字体视界-NEW魏碑体" panose="02010601030101010101" pitchFamily="2" charset="-122"/>
              </a:rPr>
              <a:t>周恩来总理的简要生平</a:t>
            </a:r>
          </a:p>
        </p:txBody>
      </p:sp>
      <p:sp>
        <p:nvSpPr>
          <p:cNvPr id="3" name="文本框 2"/>
          <p:cNvSpPr txBox="1"/>
          <p:nvPr/>
        </p:nvSpPr>
        <p:spPr>
          <a:xfrm>
            <a:off x="639995" y="1134781"/>
            <a:ext cx="5919457" cy="470898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cs typeface="+mn-cs"/>
              </a:rPr>
              <a:t>3.</a:t>
            </a: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cs typeface="+mn-cs"/>
              </a:rPr>
              <a:t>东渡日本（</a:t>
            </a:r>
            <a:r>
              <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cs typeface="+mn-cs"/>
              </a:rPr>
              <a:t>1917-1919</a:t>
            </a: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cs typeface="+mn-cs"/>
              </a:rPr>
              <a:t>）</a:t>
            </a:r>
            <a:endPar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cs typeface="+mn-cs"/>
            </a:endParaRPr>
          </a:p>
          <a:p>
            <a:pPr algn="l" fontAlgn="base"/>
            <a:r>
              <a:rPr lang="en-US" altLang="zh-CN" b="1" i="0" dirty="0">
                <a:solidFill>
                  <a:srgbClr val="585858"/>
                </a:solidFill>
                <a:effectLst/>
                <a:latin typeface="微软雅黑" panose="020B0503020204020204" pitchFamily="34" charset="-122"/>
                <a:ea typeface="微软雅黑" panose="020B0503020204020204" pitchFamily="34" charset="-122"/>
              </a:rPr>
              <a:t>       1917</a:t>
            </a:r>
            <a:r>
              <a:rPr lang="zh-CN" altLang="en-US" b="1" i="0" dirty="0">
                <a:solidFill>
                  <a:srgbClr val="585858"/>
                </a:solidFill>
                <a:effectLst/>
                <a:latin typeface="微软雅黑" panose="020B0503020204020204" pitchFamily="34" charset="-122"/>
                <a:ea typeface="微软雅黑" panose="020B0503020204020204" pitchFamily="34" charset="-122"/>
              </a:rPr>
              <a:t>年，</a:t>
            </a:r>
            <a:r>
              <a:rPr lang="en-US" altLang="zh-CN" b="1" i="0" dirty="0">
                <a:solidFill>
                  <a:srgbClr val="585858"/>
                </a:solidFill>
                <a:effectLst/>
                <a:latin typeface="微软雅黑" panose="020B0503020204020204" pitchFamily="34" charset="-122"/>
                <a:ea typeface="微软雅黑" panose="020B0503020204020204" pitchFamily="34" charset="-122"/>
              </a:rPr>
              <a:t>19</a:t>
            </a:r>
            <a:r>
              <a:rPr lang="zh-CN" altLang="en-US" b="1" i="0" dirty="0">
                <a:solidFill>
                  <a:srgbClr val="585858"/>
                </a:solidFill>
                <a:effectLst/>
                <a:latin typeface="微软雅黑" panose="020B0503020204020204" pitchFamily="34" charset="-122"/>
                <a:ea typeface="微软雅黑" panose="020B0503020204020204" pitchFamily="34" charset="-122"/>
              </a:rPr>
              <a:t>岁的周恩来留学日本，寻求革命真理。临行前，他写下了这首诗：</a:t>
            </a:r>
          </a:p>
          <a:p>
            <a:pPr algn="ctr" fontAlgn="base"/>
            <a:r>
              <a:rPr lang="zh-CN" altLang="en-US" b="1" i="0" dirty="0">
                <a:solidFill>
                  <a:srgbClr val="585858"/>
                </a:solidFill>
                <a:effectLst/>
                <a:latin typeface="微软雅黑" panose="020B0503020204020204" pitchFamily="34" charset="-122"/>
                <a:ea typeface="微软雅黑" panose="020B0503020204020204" pitchFamily="34" charset="-122"/>
              </a:rPr>
              <a:t>　　</a:t>
            </a:r>
            <a:r>
              <a:rPr lang="zh-CN" altLang="en-US" b="1" i="0" dirty="0">
                <a:effectLst/>
                <a:latin typeface="微软雅黑" panose="020B0503020204020204" pitchFamily="34" charset="-122"/>
                <a:ea typeface="微软雅黑" panose="020B0503020204020204" pitchFamily="34" charset="-122"/>
              </a:rPr>
              <a:t>大江歌罢掉头东，</a:t>
            </a:r>
          </a:p>
          <a:p>
            <a:pPr algn="ctr" fontAlgn="base"/>
            <a:r>
              <a:rPr lang="zh-CN" altLang="en-US" b="1" i="0" dirty="0">
                <a:effectLst/>
                <a:latin typeface="微软雅黑" panose="020B0503020204020204" pitchFamily="34" charset="-122"/>
                <a:ea typeface="微软雅黑" panose="020B0503020204020204" pitchFamily="34" charset="-122"/>
              </a:rPr>
              <a:t>　　邃密群科济世穷。</a:t>
            </a:r>
          </a:p>
          <a:p>
            <a:pPr algn="ctr" fontAlgn="base"/>
            <a:r>
              <a:rPr lang="zh-CN" altLang="en-US" b="1" i="0" dirty="0">
                <a:effectLst/>
                <a:latin typeface="微软雅黑" panose="020B0503020204020204" pitchFamily="34" charset="-122"/>
                <a:ea typeface="微软雅黑" panose="020B0503020204020204" pitchFamily="34" charset="-122"/>
              </a:rPr>
              <a:t>　　面壁十年图破壁，</a:t>
            </a:r>
          </a:p>
          <a:p>
            <a:pPr algn="ctr" fontAlgn="base"/>
            <a:r>
              <a:rPr lang="zh-CN" altLang="en-US" b="1" i="0" dirty="0">
                <a:effectLst/>
                <a:latin typeface="微软雅黑" panose="020B0503020204020204" pitchFamily="34" charset="-122"/>
                <a:ea typeface="微软雅黑" panose="020B0503020204020204" pitchFamily="34" charset="-122"/>
              </a:rPr>
              <a:t>　　难酬蹈海亦英雄。</a:t>
            </a:r>
          </a:p>
          <a:p>
            <a:pPr algn="l" fontAlgn="base"/>
            <a:r>
              <a:rPr lang="zh-CN" altLang="en-US" b="1" i="0" dirty="0">
                <a:solidFill>
                  <a:srgbClr val="585858"/>
                </a:solidFill>
                <a:effectLst/>
                <a:latin typeface="微软雅黑" panose="020B0503020204020204" pitchFamily="34" charset="-122"/>
                <a:ea typeface="微软雅黑" panose="020B0503020204020204" pitchFamily="34" charset="-122"/>
              </a:rPr>
              <a:t>　　在日本，周恩来虽然相继参加东京高等师范和东京第一高等学校的招生考试未果，但他了解了日本的社会情况，接触了马克思主义思潮，开始向一个马克思主义者转变。</a:t>
            </a:r>
          </a:p>
          <a:p>
            <a:pPr algn="l" fontAlgn="base"/>
            <a:r>
              <a:rPr lang="zh-CN" altLang="en-US" b="1" i="0" dirty="0">
                <a:solidFill>
                  <a:srgbClr val="585858"/>
                </a:solidFill>
                <a:effectLst/>
                <a:latin typeface="微软雅黑" panose="020B0503020204020204" pitchFamily="34" charset="-122"/>
                <a:ea typeface="微软雅黑" panose="020B0503020204020204" pitchFamily="34" charset="-122"/>
              </a:rPr>
              <a:t>　　</a:t>
            </a:r>
            <a:r>
              <a:rPr lang="en-US" altLang="zh-CN" b="1" i="0" dirty="0">
                <a:solidFill>
                  <a:srgbClr val="585858"/>
                </a:solidFill>
                <a:effectLst/>
                <a:latin typeface="微软雅黑" panose="020B0503020204020204" pitchFamily="34" charset="-122"/>
                <a:ea typeface="微软雅黑" panose="020B0503020204020204" pitchFamily="34" charset="-122"/>
              </a:rPr>
              <a:t>1919</a:t>
            </a:r>
            <a:r>
              <a:rPr lang="zh-CN" altLang="en-US" b="1" i="0" dirty="0">
                <a:solidFill>
                  <a:srgbClr val="585858"/>
                </a:solidFill>
                <a:effectLst/>
                <a:latin typeface="微软雅黑" panose="020B0503020204020204" pitchFamily="34" charset="-122"/>
                <a:ea typeface="微软雅黑" panose="020B0503020204020204" pitchFamily="34" charset="-122"/>
              </a:rPr>
              <a:t>年，周恩来毅然决定，不再滞留日本，而“返国图他兴”。</a:t>
            </a:r>
            <a:endParaRPr lang="en-US" altLang="zh-CN" b="1" i="0" dirty="0">
              <a:solidFill>
                <a:srgbClr val="585858"/>
              </a:solidFill>
              <a:effectLst/>
              <a:latin typeface="微软雅黑" panose="020B0503020204020204" pitchFamily="34" charset="-122"/>
              <a:ea typeface="微软雅黑" panose="020B0503020204020204" pitchFamily="34" charset="-122"/>
            </a:endParaRPr>
          </a:p>
          <a:p>
            <a:pPr algn="l" fontAlgn="base"/>
            <a:r>
              <a:rPr lang="en-US" altLang="zh-CN" b="1" dirty="0">
                <a:solidFill>
                  <a:srgbClr val="585858"/>
                </a:solidFill>
                <a:latin typeface="微软雅黑" panose="020B0503020204020204" pitchFamily="34" charset="-122"/>
                <a:ea typeface="微软雅黑" panose="020B0503020204020204" pitchFamily="34" charset="-122"/>
              </a:rPr>
              <a:t>       </a:t>
            </a:r>
            <a:r>
              <a:rPr lang="zh-CN" altLang="en-US" b="1" i="0" dirty="0">
                <a:solidFill>
                  <a:srgbClr val="585858"/>
                </a:solidFill>
                <a:effectLst/>
                <a:latin typeface="微软雅黑" panose="020B0503020204020204" pitchFamily="34" charset="-122"/>
                <a:ea typeface="微软雅黑" panose="020B0503020204020204" pitchFamily="34" charset="-122"/>
              </a:rPr>
              <a:t>他回国后进入</a:t>
            </a:r>
            <a:r>
              <a:rPr lang="zh-CN" altLang="en-US" b="1" i="0" dirty="0">
                <a:effectLst/>
                <a:latin typeface="微软雅黑" panose="020B0503020204020204" pitchFamily="34" charset="-122"/>
                <a:ea typeface="微软雅黑" panose="020B0503020204020204" pitchFamily="34" charset="-122"/>
              </a:rPr>
              <a:t>天津南开大学</a:t>
            </a:r>
            <a:r>
              <a:rPr lang="zh-CN" altLang="en-US" b="1" i="0" dirty="0">
                <a:solidFill>
                  <a:srgbClr val="585858"/>
                </a:solidFill>
                <a:effectLst/>
                <a:latin typeface="微软雅黑" panose="020B0503020204020204" pitchFamily="34" charset="-122"/>
                <a:ea typeface="微软雅黑" panose="020B0503020204020204" pitchFamily="34" charset="-122"/>
              </a:rPr>
              <a:t>学习，投身于五四运动。在五四运动中，周恩来还结识了当时在北洋直隶第一女子师范学校读书的邓颖超。那一年，邓颖超只有</a:t>
            </a:r>
            <a:r>
              <a:rPr lang="en-US" altLang="zh-CN" b="1" i="0" dirty="0">
                <a:solidFill>
                  <a:srgbClr val="585858"/>
                </a:solidFill>
                <a:effectLst/>
                <a:latin typeface="微软雅黑" panose="020B0503020204020204" pitchFamily="34" charset="-122"/>
                <a:ea typeface="微软雅黑" panose="020B0503020204020204" pitchFamily="34" charset="-122"/>
              </a:rPr>
              <a:t>15</a:t>
            </a:r>
            <a:r>
              <a:rPr lang="zh-CN" altLang="en-US" b="1" i="0" dirty="0">
                <a:solidFill>
                  <a:srgbClr val="585858"/>
                </a:solidFill>
                <a:effectLst/>
                <a:latin typeface="微软雅黑" panose="020B0503020204020204" pitchFamily="34" charset="-122"/>
                <a:ea typeface="微软雅黑" panose="020B0503020204020204" pitchFamily="34" charset="-122"/>
              </a:rPr>
              <a:t>岁。</a:t>
            </a:r>
          </a:p>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cs typeface="+mn-cs"/>
            </a:endParaRPr>
          </a:p>
        </p:txBody>
      </p:sp>
      <p:pic>
        <p:nvPicPr>
          <p:cNvPr id="5" name="图片 4"/>
          <p:cNvPicPr>
            <a:picLocks noChangeAspect="1"/>
          </p:cNvPicPr>
          <p:nvPr/>
        </p:nvPicPr>
        <p:blipFill>
          <a:blip r:embed="rId4"/>
          <a:stretch>
            <a:fillRect/>
          </a:stretch>
        </p:blipFill>
        <p:spPr>
          <a:xfrm>
            <a:off x="6807200" y="1134781"/>
            <a:ext cx="4951307" cy="3108309"/>
          </a:xfrm>
          <a:prstGeom prst="rect">
            <a:avLst/>
          </a:prstGeom>
        </p:spPr>
      </p:pic>
      <p:pic>
        <p:nvPicPr>
          <p:cNvPr id="7" name="图片 6"/>
          <p:cNvPicPr>
            <a:picLocks noChangeAspect="1"/>
          </p:cNvPicPr>
          <p:nvPr/>
        </p:nvPicPr>
        <p:blipFill>
          <a:blip r:embed="rId5"/>
          <a:stretch>
            <a:fillRect/>
          </a:stretch>
        </p:blipFill>
        <p:spPr>
          <a:xfrm>
            <a:off x="9999462" y="4257354"/>
            <a:ext cx="1711631" cy="2354223"/>
          </a:xfrm>
          <a:prstGeom prst="rect">
            <a:avLst/>
          </a:prstGeom>
        </p:spPr>
      </p:pic>
      <p:pic>
        <p:nvPicPr>
          <p:cNvPr id="9" name="图片 8"/>
          <p:cNvPicPr>
            <a:picLocks noChangeAspect="1"/>
          </p:cNvPicPr>
          <p:nvPr/>
        </p:nvPicPr>
        <p:blipFill>
          <a:blip r:embed="rId6"/>
          <a:stretch>
            <a:fillRect/>
          </a:stretch>
        </p:blipFill>
        <p:spPr>
          <a:xfrm>
            <a:off x="6692053" y="4456436"/>
            <a:ext cx="3174808" cy="1901689"/>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p:cTn id="7" dur="500" fill="hold"/>
                                        <p:tgtEl>
                                          <p:spTgt spid="25"/>
                                        </p:tgtEl>
                                        <p:attrNameLst>
                                          <p:attrName>ppt_w</p:attrName>
                                        </p:attrNameLst>
                                      </p:cBhvr>
                                      <p:tavLst>
                                        <p:tav tm="0">
                                          <p:val>
                                            <p:fltVal val="0"/>
                                          </p:val>
                                        </p:tav>
                                        <p:tav tm="100000">
                                          <p:val>
                                            <p:strVal val="#ppt_w"/>
                                          </p:val>
                                        </p:tav>
                                      </p:tavLst>
                                    </p:anim>
                                    <p:anim calcmode="lin" valueType="num">
                                      <p:cBhvr>
                                        <p:cTn id="8" dur="500" fill="hold"/>
                                        <p:tgtEl>
                                          <p:spTgt spid="25"/>
                                        </p:tgtEl>
                                        <p:attrNameLst>
                                          <p:attrName>ppt_h</p:attrName>
                                        </p:attrNameLst>
                                      </p:cBhvr>
                                      <p:tavLst>
                                        <p:tav tm="0">
                                          <p:val>
                                            <p:fltVal val="0"/>
                                          </p:val>
                                        </p:tav>
                                        <p:tav tm="100000">
                                          <p:val>
                                            <p:strVal val="#ppt_h"/>
                                          </p:val>
                                        </p:tav>
                                      </p:tavLst>
                                    </p:anim>
                                    <p:animEffect transition="in" filter="fade">
                                      <p:cBhvr>
                                        <p:cTn id="9" dur="500"/>
                                        <p:tgtEl>
                                          <p:spTgt spid="25"/>
                                        </p:tgtEl>
                                      </p:cBhvr>
                                    </p:animEffect>
                                  </p:childTnLst>
                                </p:cTn>
                              </p:par>
                              <p:par>
                                <p:cTn id="10" presetID="35" presetClass="path" presetSubtype="0" accel="50000" decel="50000" fill="hold" nodeType="withEffect">
                                  <p:stCondLst>
                                    <p:cond delay="0"/>
                                  </p:stCondLst>
                                  <p:childTnLst>
                                    <p:animMotion origin="layout" path="M -6.25E-7 -3.7037E-6 L 0.18997 -3.7037E-6 " pathEditMode="relative" rAng="0" ptsTypes="AA">
                                      <p:cBhvr>
                                        <p:cTn id="11" dur="1000" spd="-100000" fill="hold"/>
                                        <p:tgtEl>
                                          <p:spTgt spid="25"/>
                                        </p:tgtEl>
                                        <p:attrNameLst>
                                          <p:attrName>ppt_x</p:attrName>
                                          <p:attrName>ppt_y</p:attrName>
                                        </p:attrNameLst>
                                      </p:cBhvr>
                                      <p:rCtr x="9492" y="0"/>
                                    </p:animMotion>
                                  </p:childTnLst>
                                </p:cTn>
                              </p:par>
                              <p:par>
                                <p:cTn id="12" presetID="53" presetClass="entr" presetSubtype="16" fill="hold" nodeType="withEffect">
                                  <p:stCondLst>
                                    <p:cond delay="0"/>
                                  </p:stCondLst>
                                  <p:childTnLst>
                                    <p:set>
                                      <p:cBhvr>
                                        <p:cTn id="13" dur="1" fill="hold">
                                          <p:stCondLst>
                                            <p:cond delay="0"/>
                                          </p:stCondLst>
                                        </p:cTn>
                                        <p:tgtEl>
                                          <p:spTgt spid="26"/>
                                        </p:tgtEl>
                                        <p:attrNameLst>
                                          <p:attrName>style.visibility</p:attrName>
                                        </p:attrNameLst>
                                      </p:cBhvr>
                                      <p:to>
                                        <p:strVal val="visible"/>
                                      </p:to>
                                    </p:set>
                                    <p:anim calcmode="lin" valueType="num">
                                      <p:cBhvr>
                                        <p:cTn id="14" dur="500" fill="hold"/>
                                        <p:tgtEl>
                                          <p:spTgt spid="26"/>
                                        </p:tgtEl>
                                        <p:attrNameLst>
                                          <p:attrName>ppt_w</p:attrName>
                                        </p:attrNameLst>
                                      </p:cBhvr>
                                      <p:tavLst>
                                        <p:tav tm="0">
                                          <p:val>
                                            <p:fltVal val="0"/>
                                          </p:val>
                                        </p:tav>
                                        <p:tav tm="100000">
                                          <p:val>
                                            <p:strVal val="#ppt_w"/>
                                          </p:val>
                                        </p:tav>
                                      </p:tavLst>
                                    </p:anim>
                                    <p:anim calcmode="lin" valueType="num">
                                      <p:cBhvr>
                                        <p:cTn id="15" dur="500" fill="hold"/>
                                        <p:tgtEl>
                                          <p:spTgt spid="26"/>
                                        </p:tgtEl>
                                        <p:attrNameLst>
                                          <p:attrName>ppt_h</p:attrName>
                                        </p:attrNameLst>
                                      </p:cBhvr>
                                      <p:tavLst>
                                        <p:tav tm="0">
                                          <p:val>
                                            <p:fltVal val="0"/>
                                          </p:val>
                                        </p:tav>
                                        <p:tav tm="100000">
                                          <p:val>
                                            <p:strVal val="#ppt_h"/>
                                          </p:val>
                                        </p:tav>
                                      </p:tavLst>
                                    </p:anim>
                                    <p:animEffect transition="in" filter="fade">
                                      <p:cBhvr>
                                        <p:cTn id="16" dur="500"/>
                                        <p:tgtEl>
                                          <p:spTgt spid="26"/>
                                        </p:tgtEl>
                                      </p:cBhvr>
                                    </p:animEffect>
                                  </p:childTnLst>
                                </p:cTn>
                              </p:par>
                              <p:par>
                                <p:cTn id="17" presetID="35" presetClass="path" presetSubtype="0" accel="50000" decel="50000" fill="hold" nodeType="withEffect">
                                  <p:stCondLst>
                                    <p:cond delay="0"/>
                                  </p:stCondLst>
                                  <p:childTnLst>
                                    <p:animMotion origin="layout" path="M 0 -3.7037E-6 L -0.41185 -3.7037E-6 " pathEditMode="relative" rAng="0" ptsTypes="AA">
                                      <p:cBhvr>
                                        <p:cTn id="18" dur="1000" spd="-100000" fill="hold"/>
                                        <p:tgtEl>
                                          <p:spTgt spid="26"/>
                                        </p:tgtEl>
                                        <p:attrNameLst>
                                          <p:attrName>ppt_x</p:attrName>
                                          <p:attrName>ppt_y</p:attrName>
                                        </p:attrNameLst>
                                      </p:cBhvr>
                                      <p:rCtr x="-20599" y="0"/>
                                    </p:animMotion>
                                  </p:childTnLst>
                                </p:cTn>
                              </p:par>
                            </p:childTnLst>
                          </p:cTn>
                        </p:par>
                        <p:par>
                          <p:cTn id="19" fill="hold">
                            <p:stCondLst>
                              <p:cond delay="500"/>
                            </p:stCondLst>
                            <p:childTnLst>
                              <p:par>
                                <p:cTn id="20" presetID="53" presetClass="entr" presetSubtype="16" fill="hold" grpId="0" nodeType="afterEffect">
                                  <p:stCondLst>
                                    <p:cond delay="0"/>
                                  </p:stCondLst>
                                  <p:childTnLst>
                                    <p:set>
                                      <p:cBhvr>
                                        <p:cTn id="21" dur="1" fill="hold">
                                          <p:stCondLst>
                                            <p:cond delay="0"/>
                                          </p:stCondLst>
                                        </p:cTn>
                                        <p:tgtEl>
                                          <p:spTgt spid="27"/>
                                        </p:tgtEl>
                                        <p:attrNameLst>
                                          <p:attrName>style.visibility</p:attrName>
                                        </p:attrNameLst>
                                      </p:cBhvr>
                                      <p:to>
                                        <p:strVal val="visible"/>
                                      </p:to>
                                    </p:set>
                                    <p:anim calcmode="lin" valueType="num">
                                      <p:cBhvr>
                                        <p:cTn id="22" dur="500" fill="hold"/>
                                        <p:tgtEl>
                                          <p:spTgt spid="27"/>
                                        </p:tgtEl>
                                        <p:attrNameLst>
                                          <p:attrName>ppt_w</p:attrName>
                                        </p:attrNameLst>
                                      </p:cBhvr>
                                      <p:tavLst>
                                        <p:tav tm="0">
                                          <p:val>
                                            <p:fltVal val="0"/>
                                          </p:val>
                                        </p:tav>
                                        <p:tav tm="100000">
                                          <p:val>
                                            <p:strVal val="#ppt_w"/>
                                          </p:val>
                                        </p:tav>
                                      </p:tavLst>
                                    </p:anim>
                                    <p:anim calcmode="lin" valueType="num">
                                      <p:cBhvr>
                                        <p:cTn id="23" dur="500" fill="hold"/>
                                        <p:tgtEl>
                                          <p:spTgt spid="27"/>
                                        </p:tgtEl>
                                        <p:attrNameLst>
                                          <p:attrName>ppt_h</p:attrName>
                                        </p:attrNameLst>
                                      </p:cBhvr>
                                      <p:tavLst>
                                        <p:tav tm="0">
                                          <p:val>
                                            <p:fltVal val="0"/>
                                          </p:val>
                                        </p:tav>
                                        <p:tav tm="100000">
                                          <p:val>
                                            <p:strVal val="#ppt_h"/>
                                          </p:val>
                                        </p:tav>
                                      </p:tavLst>
                                    </p:anim>
                                    <p:animEffect transition="in" filter="fade">
                                      <p:cBhvr>
                                        <p:cTn id="24" dur="500"/>
                                        <p:tgtEl>
                                          <p:spTgt spid="27"/>
                                        </p:tgtEl>
                                      </p:cBhvr>
                                    </p:animEffect>
                                  </p:childTnLst>
                                </p:cTn>
                              </p:par>
                              <p:par>
                                <p:cTn id="25" presetID="35" presetClass="path" presetSubtype="0" accel="50000" decel="50000" fill="hold" grpId="1" nodeType="withEffect">
                                  <p:stCondLst>
                                    <p:cond delay="0"/>
                                  </p:stCondLst>
                                  <p:childTnLst>
                                    <p:animMotion origin="layout" path="M -4.375E-6 -3.7037E-6 L -0.30273 -3.7037E-6 " pathEditMode="relative" rAng="0" ptsTypes="AA">
                                      <p:cBhvr>
                                        <p:cTn id="26" dur="1000" spd="-100000" fill="hold"/>
                                        <p:tgtEl>
                                          <p:spTgt spid="27"/>
                                        </p:tgtEl>
                                        <p:attrNameLst>
                                          <p:attrName>ppt_x</p:attrName>
                                          <p:attrName>ppt_y</p:attrName>
                                        </p:attrNameLst>
                                      </p:cBhvr>
                                      <p:rCtr x="-1514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7" grpId="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图片 24"/>
          <p:cNvPicPr>
            <a:picLocks noChangeAspect="1"/>
          </p:cNvPicPr>
          <p:nvPr/>
        </p:nvPicPr>
        <p:blipFill>
          <a:blip r:embed="rId3" cstate="screen"/>
          <a:stretch>
            <a:fillRect/>
          </a:stretch>
        </p:blipFill>
        <p:spPr>
          <a:xfrm>
            <a:off x="8088923" y="246423"/>
            <a:ext cx="4103077" cy="675011"/>
          </a:xfrm>
          <a:prstGeom prst="rect">
            <a:avLst/>
          </a:prstGeom>
        </p:spPr>
      </p:pic>
      <p:cxnSp>
        <p:nvCxnSpPr>
          <p:cNvPr id="26" name="直接连接符 25"/>
          <p:cNvCxnSpPr/>
          <p:nvPr/>
        </p:nvCxnSpPr>
        <p:spPr>
          <a:xfrm>
            <a:off x="0" y="921434"/>
            <a:ext cx="121920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7" name="矩形 26"/>
          <p:cNvSpPr/>
          <p:nvPr/>
        </p:nvSpPr>
        <p:spPr>
          <a:xfrm>
            <a:off x="1060287" y="353095"/>
            <a:ext cx="5262188" cy="461665"/>
          </a:xfrm>
          <a:prstGeom prst="rect">
            <a:avLst/>
          </a:prstGeom>
        </p:spPr>
        <p:txBody>
          <a:bodyPr wrap="square">
            <a:spAutoFit/>
          </a:bodyPr>
          <a:lstStyle/>
          <a:p>
            <a:r>
              <a:rPr lang="zh-CN" altLang="en-US" sz="2400" b="1" dirty="0">
                <a:solidFill>
                  <a:schemeClr val="accent1"/>
                </a:solidFill>
                <a:latin typeface="字体视界-NEW魏碑体" panose="02010601030101010101" pitchFamily="2" charset="-122"/>
                <a:ea typeface="字体视界-NEW魏碑体" panose="02010601030101010101" pitchFamily="2" charset="-122"/>
                <a:cs typeface="+mn-ea"/>
                <a:sym typeface="+mn-lt"/>
              </a:rPr>
              <a:t>第一部分：</a:t>
            </a:r>
            <a:r>
              <a:rPr lang="zh-CN" altLang="en-US" sz="2400" b="1" dirty="0">
                <a:solidFill>
                  <a:srgbClr val="C00000"/>
                </a:solidFill>
                <a:latin typeface="字体视界-NEW魏碑体" panose="02010601030101010101" pitchFamily="2" charset="-122"/>
                <a:ea typeface="字体视界-NEW魏碑体" panose="02010601030101010101" pitchFamily="2" charset="-122"/>
              </a:rPr>
              <a:t>周恩来总理的简要生平</a:t>
            </a:r>
          </a:p>
        </p:txBody>
      </p:sp>
      <p:sp>
        <p:nvSpPr>
          <p:cNvPr id="3" name="文本框 2"/>
          <p:cNvSpPr txBox="1"/>
          <p:nvPr/>
        </p:nvSpPr>
        <p:spPr>
          <a:xfrm>
            <a:off x="470747" y="1180947"/>
            <a:ext cx="6102772" cy="544764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cs typeface="+mn-cs"/>
              </a:rPr>
              <a:t>4.</a:t>
            </a: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cs typeface="+mn-cs"/>
              </a:rPr>
              <a:t>身陷囹圄（</a:t>
            </a:r>
            <a:r>
              <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cs typeface="+mn-cs"/>
              </a:rPr>
              <a:t>1919-1920</a:t>
            </a: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cs typeface="+mn-cs"/>
              </a:rPr>
              <a:t>）</a:t>
            </a:r>
            <a:endPar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b="1" i="0" u="none" strike="noStrike" kern="1200" cap="none" spc="0" normalizeH="0" baseline="0" noProof="0" dirty="0">
                <a:ln>
                  <a:noFill/>
                </a:ln>
                <a:solidFill>
                  <a:schemeClr val="tx1">
                    <a:lumMod val="65000"/>
                    <a:lumOff val="35000"/>
                  </a:schemeClr>
                </a:solidFill>
                <a:effectLst/>
                <a:uLnTx/>
                <a:uFillTx/>
                <a:latin typeface="微软雅黑" panose="020B0503020204020204" pitchFamily="34" charset="-122"/>
                <a:cs typeface="+mn-cs"/>
              </a:rPr>
              <a:t>       </a:t>
            </a:r>
            <a:endParaRPr kumimoji="0" lang="en-US" altLang="zh-CN" b="1" i="0" u="none" strike="noStrike" kern="1200" cap="none" spc="0" normalizeH="0" baseline="0" noProof="0" dirty="0">
              <a:ln>
                <a:noFill/>
              </a:ln>
              <a:solidFill>
                <a:schemeClr val="tx1">
                  <a:lumMod val="65000"/>
                  <a:lumOff val="35000"/>
                </a:schemeClr>
              </a:solidFill>
              <a:effectLst/>
              <a:uLnTx/>
              <a:uFillTx/>
              <a:latin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b="1" dirty="0">
                <a:solidFill>
                  <a:schemeClr val="tx1">
                    <a:lumMod val="65000"/>
                    <a:lumOff val="35000"/>
                  </a:schemeClr>
                </a:solidFill>
                <a:latin typeface="微软雅黑" panose="020B0503020204020204" pitchFamily="34" charset="-122"/>
              </a:rPr>
              <a:t>       </a:t>
            </a:r>
            <a:r>
              <a:rPr kumimoji="0" lang="zh-CN" altLang="en-US" b="1" i="0" u="none" strike="noStrike" kern="1200" cap="none" spc="0" normalizeH="0" baseline="0" noProof="0" dirty="0">
                <a:ln>
                  <a:noFill/>
                </a:ln>
                <a:solidFill>
                  <a:schemeClr val="tx1">
                    <a:lumMod val="65000"/>
                    <a:lumOff val="35000"/>
                  </a:schemeClr>
                </a:solidFill>
                <a:effectLst/>
                <a:uLnTx/>
                <a:uFillTx/>
                <a:latin typeface="微软雅黑" panose="020B0503020204020204" pitchFamily="34" charset="-122"/>
                <a:cs typeface="+mn-cs"/>
              </a:rPr>
              <a:t>“五四运动”时期，先是周恩来举办的</a:t>
            </a:r>
            <a:r>
              <a:rPr kumimoji="0" lang="en-US" altLang="zh-CN" b="1" i="0" u="none" strike="noStrike" kern="1200" cap="none" spc="0" normalizeH="0" baseline="0" noProof="0" dirty="0">
                <a:ln>
                  <a:noFill/>
                </a:ln>
                <a:solidFill>
                  <a:schemeClr val="tx1">
                    <a:lumMod val="65000"/>
                    <a:lumOff val="35000"/>
                  </a:schemeClr>
                </a:solidFill>
                <a:effectLst/>
                <a:uLnTx/>
                <a:uFillTx/>
                <a:latin typeface="微软雅黑" panose="020B0503020204020204" pitchFamily="34" charset="-122"/>
                <a:cs typeface="+mn-cs"/>
              </a:rPr>
              <a:t>《</a:t>
            </a:r>
            <a:r>
              <a:rPr kumimoji="0" lang="zh-CN" altLang="en-US" b="1" i="0" u="none" strike="noStrike" kern="1200" cap="none" spc="0" normalizeH="0" baseline="0" noProof="0" dirty="0">
                <a:ln>
                  <a:noFill/>
                </a:ln>
                <a:solidFill>
                  <a:schemeClr val="tx1">
                    <a:lumMod val="65000"/>
                    <a:lumOff val="35000"/>
                  </a:schemeClr>
                </a:solidFill>
                <a:effectLst/>
                <a:uLnTx/>
                <a:uFillTx/>
                <a:latin typeface="微软雅黑" panose="020B0503020204020204" pitchFamily="34" charset="-122"/>
                <a:cs typeface="+mn-cs"/>
              </a:rPr>
              <a:t>天津学生联合公报</a:t>
            </a:r>
            <a:r>
              <a:rPr kumimoji="0" lang="en-US" altLang="zh-CN" b="1" i="0" u="none" strike="noStrike" kern="1200" cap="none" spc="0" normalizeH="0" baseline="0" noProof="0" dirty="0">
                <a:ln>
                  <a:noFill/>
                </a:ln>
                <a:solidFill>
                  <a:schemeClr val="tx1">
                    <a:lumMod val="65000"/>
                    <a:lumOff val="35000"/>
                  </a:schemeClr>
                </a:solidFill>
                <a:effectLst/>
                <a:uLnTx/>
                <a:uFillTx/>
                <a:latin typeface="微软雅黑" panose="020B0503020204020204" pitchFamily="34" charset="-122"/>
                <a:cs typeface="+mn-cs"/>
              </a:rPr>
              <a:t>》</a:t>
            </a:r>
            <a:r>
              <a:rPr kumimoji="0" lang="zh-CN" altLang="en-US" b="1" i="0" u="none" strike="noStrike" kern="1200" cap="none" spc="0" normalizeH="0" baseline="0" noProof="0" dirty="0">
                <a:ln>
                  <a:noFill/>
                </a:ln>
                <a:solidFill>
                  <a:schemeClr val="tx1">
                    <a:lumMod val="65000"/>
                    <a:lumOff val="35000"/>
                  </a:schemeClr>
                </a:solidFill>
                <a:effectLst/>
                <a:uLnTx/>
                <a:uFillTx/>
                <a:latin typeface="微软雅黑" panose="020B0503020204020204" pitchFamily="34" charset="-122"/>
                <a:cs typeface="+mn-cs"/>
              </a:rPr>
              <a:t>遭到禁止；后来，他又在一次示威中被逮捕入狱。严酷的现实却令周恩来深刻地体会到：今后的救国道路，只有深入劳工群众，依靠劳动阶级，采取共同行动，才能挽救中国的危亡，改造旧的中国。</a:t>
            </a:r>
            <a:endParaRPr kumimoji="0" lang="en-US" altLang="zh-CN" b="1" i="0" u="none" strike="noStrike" kern="1200" cap="none" spc="0" normalizeH="0" baseline="0" noProof="0" dirty="0">
              <a:ln>
                <a:noFill/>
              </a:ln>
              <a:solidFill>
                <a:schemeClr val="tx1">
                  <a:lumMod val="65000"/>
                  <a:lumOff val="35000"/>
                </a:schemeClr>
              </a:solidFill>
              <a:effectLst/>
              <a:uLnTx/>
              <a:uFillTx/>
              <a:latin typeface="微软雅黑" panose="020B0503020204020204" pitchFamily="34" charset="-122"/>
              <a:cs typeface="+mn-cs"/>
            </a:endParaRPr>
          </a:p>
          <a:p>
            <a:pPr algn="l"/>
            <a:r>
              <a:rPr lang="en-US" altLang="zh-CN" b="1" i="0" dirty="0">
                <a:solidFill>
                  <a:srgbClr val="666666"/>
                </a:solidFill>
                <a:effectLst/>
                <a:latin typeface="Helvetica" panose="020B0604020202020204" pitchFamily="34" charset="0"/>
              </a:rPr>
              <a:t>       1920</a:t>
            </a:r>
            <a:r>
              <a:rPr lang="zh-CN" altLang="en-US" b="1" i="0" dirty="0">
                <a:solidFill>
                  <a:srgbClr val="666666"/>
                </a:solidFill>
                <a:effectLst/>
                <a:latin typeface="Helvetica" panose="020B0604020202020204" pitchFamily="34" charset="0"/>
              </a:rPr>
              <a:t>年秋，在觉悟社举行的年会上，周建议李大钊指导召开一个由北京和天津各组织参加的联合会议。他说：“大家一致认为，今后的救国道路，只有深入劳工群众，依靠劳动阶级，并把五四运动后在全国各地产生的大小进步团体联合起来，采取共同行动，才能挽救中国的危亡，改造旧的中国。”这是他和觉悟社的许多成员乘船赴法之前开展的最后一项政治活动。</a:t>
            </a:r>
          </a:p>
          <a:p>
            <a:pPr algn="l"/>
            <a:r>
              <a:rPr lang="zh-CN" altLang="en-US" b="1" i="0" dirty="0">
                <a:solidFill>
                  <a:srgbClr val="666666"/>
                </a:solidFill>
                <a:effectLst/>
                <a:latin typeface="Helvetica" panose="020B0604020202020204" pitchFamily="34" charset="0"/>
              </a:rPr>
              <a:t>       在李愚如给周的信中，她写道：“你应该出国，在这得到欢乐，坐在大树下面等待将会一事无成。”周当然没有坐在大树下等待。他几乎难以抑制自己的急切之心情，像中国的学者们所说的那样</a:t>
            </a:r>
            <a:r>
              <a:rPr lang="en-US" altLang="zh-CN" b="1" i="0" dirty="0">
                <a:solidFill>
                  <a:schemeClr val="tx2"/>
                </a:solidFill>
                <a:effectLst/>
                <a:latin typeface="Helvetica" panose="020B0604020202020204" pitchFamily="34" charset="0"/>
              </a:rPr>
              <a:t>—“</a:t>
            </a:r>
            <a:r>
              <a:rPr lang="zh-CN" altLang="en-US" b="1" i="0" dirty="0">
                <a:solidFill>
                  <a:schemeClr val="tx2"/>
                </a:solidFill>
                <a:effectLst/>
                <a:latin typeface="Helvetica" panose="020B0604020202020204" pitchFamily="34" charset="0"/>
              </a:rPr>
              <a:t>去喝洋墨水”</a:t>
            </a:r>
            <a:r>
              <a:rPr lang="zh-CN" altLang="en-US" b="1" i="0" dirty="0">
                <a:solidFill>
                  <a:srgbClr val="666666"/>
                </a:solidFill>
                <a:effectLst/>
                <a:latin typeface="Helvetica" panose="020B0604020202020204" pitchFamily="34" charset="0"/>
              </a:rPr>
              <a:t>。</a:t>
            </a:r>
          </a:p>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b="1" i="0" u="none" strike="noStrike" kern="1200" cap="none" spc="0" normalizeH="0" baseline="0" noProof="0" dirty="0">
              <a:ln>
                <a:noFill/>
              </a:ln>
              <a:solidFill>
                <a:schemeClr val="tx1">
                  <a:lumMod val="65000"/>
                  <a:lumOff val="35000"/>
                </a:schemeClr>
              </a:solidFill>
              <a:effectLst/>
              <a:uLnTx/>
              <a:uFillTx/>
              <a:latin typeface="微软雅黑" panose="020B0503020204020204" pitchFamily="34" charset="-122"/>
              <a:cs typeface="+mn-cs"/>
            </a:endParaRPr>
          </a:p>
        </p:txBody>
      </p:sp>
      <p:pic>
        <p:nvPicPr>
          <p:cNvPr id="5" name="图片 4"/>
          <p:cNvPicPr>
            <a:picLocks noChangeAspect="1"/>
          </p:cNvPicPr>
          <p:nvPr/>
        </p:nvPicPr>
        <p:blipFill>
          <a:blip r:embed="rId4"/>
          <a:stretch>
            <a:fillRect/>
          </a:stretch>
        </p:blipFill>
        <p:spPr>
          <a:xfrm>
            <a:off x="6573519" y="1596445"/>
            <a:ext cx="5262880" cy="481870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p:cTn id="7" dur="500" fill="hold"/>
                                        <p:tgtEl>
                                          <p:spTgt spid="25"/>
                                        </p:tgtEl>
                                        <p:attrNameLst>
                                          <p:attrName>ppt_w</p:attrName>
                                        </p:attrNameLst>
                                      </p:cBhvr>
                                      <p:tavLst>
                                        <p:tav tm="0">
                                          <p:val>
                                            <p:fltVal val="0"/>
                                          </p:val>
                                        </p:tav>
                                        <p:tav tm="100000">
                                          <p:val>
                                            <p:strVal val="#ppt_w"/>
                                          </p:val>
                                        </p:tav>
                                      </p:tavLst>
                                    </p:anim>
                                    <p:anim calcmode="lin" valueType="num">
                                      <p:cBhvr>
                                        <p:cTn id="8" dur="500" fill="hold"/>
                                        <p:tgtEl>
                                          <p:spTgt spid="25"/>
                                        </p:tgtEl>
                                        <p:attrNameLst>
                                          <p:attrName>ppt_h</p:attrName>
                                        </p:attrNameLst>
                                      </p:cBhvr>
                                      <p:tavLst>
                                        <p:tav tm="0">
                                          <p:val>
                                            <p:fltVal val="0"/>
                                          </p:val>
                                        </p:tav>
                                        <p:tav tm="100000">
                                          <p:val>
                                            <p:strVal val="#ppt_h"/>
                                          </p:val>
                                        </p:tav>
                                      </p:tavLst>
                                    </p:anim>
                                    <p:animEffect transition="in" filter="fade">
                                      <p:cBhvr>
                                        <p:cTn id="9" dur="500"/>
                                        <p:tgtEl>
                                          <p:spTgt spid="25"/>
                                        </p:tgtEl>
                                      </p:cBhvr>
                                    </p:animEffect>
                                  </p:childTnLst>
                                </p:cTn>
                              </p:par>
                              <p:par>
                                <p:cTn id="10" presetID="35" presetClass="path" presetSubtype="0" accel="50000" decel="50000" fill="hold" nodeType="withEffect">
                                  <p:stCondLst>
                                    <p:cond delay="0"/>
                                  </p:stCondLst>
                                  <p:childTnLst>
                                    <p:animMotion origin="layout" path="M -6.25E-7 -3.7037E-6 L 0.18997 -3.7037E-6 " pathEditMode="relative" rAng="0" ptsTypes="AA">
                                      <p:cBhvr>
                                        <p:cTn id="11" dur="1000" spd="-100000" fill="hold"/>
                                        <p:tgtEl>
                                          <p:spTgt spid="25"/>
                                        </p:tgtEl>
                                        <p:attrNameLst>
                                          <p:attrName>ppt_x</p:attrName>
                                          <p:attrName>ppt_y</p:attrName>
                                        </p:attrNameLst>
                                      </p:cBhvr>
                                      <p:rCtr x="9492" y="0"/>
                                    </p:animMotion>
                                  </p:childTnLst>
                                </p:cTn>
                              </p:par>
                              <p:par>
                                <p:cTn id="12" presetID="53" presetClass="entr" presetSubtype="16" fill="hold" nodeType="withEffect">
                                  <p:stCondLst>
                                    <p:cond delay="0"/>
                                  </p:stCondLst>
                                  <p:childTnLst>
                                    <p:set>
                                      <p:cBhvr>
                                        <p:cTn id="13" dur="1" fill="hold">
                                          <p:stCondLst>
                                            <p:cond delay="0"/>
                                          </p:stCondLst>
                                        </p:cTn>
                                        <p:tgtEl>
                                          <p:spTgt spid="26"/>
                                        </p:tgtEl>
                                        <p:attrNameLst>
                                          <p:attrName>style.visibility</p:attrName>
                                        </p:attrNameLst>
                                      </p:cBhvr>
                                      <p:to>
                                        <p:strVal val="visible"/>
                                      </p:to>
                                    </p:set>
                                    <p:anim calcmode="lin" valueType="num">
                                      <p:cBhvr>
                                        <p:cTn id="14" dur="500" fill="hold"/>
                                        <p:tgtEl>
                                          <p:spTgt spid="26"/>
                                        </p:tgtEl>
                                        <p:attrNameLst>
                                          <p:attrName>ppt_w</p:attrName>
                                        </p:attrNameLst>
                                      </p:cBhvr>
                                      <p:tavLst>
                                        <p:tav tm="0">
                                          <p:val>
                                            <p:fltVal val="0"/>
                                          </p:val>
                                        </p:tav>
                                        <p:tav tm="100000">
                                          <p:val>
                                            <p:strVal val="#ppt_w"/>
                                          </p:val>
                                        </p:tav>
                                      </p:tavLst>
                                    </p:anim>
                                    <p:anim calcmode="lin" valueType="num">
                                      <p:cBhvr>
                                        <p:cTn id="15" dur="500" fill="hold"/>
                                        <p:tgtEl>
                                          <p:spTgt spid="26"/>
                                        </p:tgtEl>
                                        <p:attrNameLst>
                                          <p:attrName>ppt_h</p:attrName>
                                        </p:attrNameLst>
                                      </p:cBhvr>
                                      <p:tavLst>
                                        <p:tav tm="0">
                                          <p:val>
                                            <p:fltVal val="0"/>
                                          </p:val>
                                        </p:tav>
                                        <p:tav tm="100000">
                                          <p:val>
                                            <p:strVal val="#ppt_h"/>
                                          </p:val>
                                        </p:tav>
                                      </p:tavLst>
                                    </p:anim>
                                    <p:animEffect transition="in" filter="fade">
                                      <p:cBhvr>
                                        <p:cTn id="16" dur="500"/>
                                        <p:tgtEl>
                                          <p:spTgt spid="26"/>
                                        </p:tgtEl>
                                      </p:cBhvr>
                                    </p:animEffect>
                                  </p:childTnLst>
                                </p:cTn>
                              </p:par>
                              <p:par>
                                <p:cTn id="17" presetID="35" presetClass="path" presetSubtype="0" accel="50000" decel="50000" fill="hold" nodeType="withEffect">
                                  <p:stCondLst>
                                    <p:cond delay="0"/>
                                  </p:stCondLst>
                                  <p:childTnLst>
                                    <p:animMotion origin="layout" path="M 0 -3.7037E-6 L -0.41185 -3.7037E-6 " pathEditMode="relative" rAng="0" ptsTypes="AA">
                                      <p:cBhvr>
                                        <p:cTn id="18" dur="1000" spd="-100000" fill="hold"/>
                                        <p:tgtEl>
                                          <p:spTgt spid="26"/>
                                        </p:tgtEl>
                                        <p:attrNameLst>
                                          <p:attrName>ppt_x</p:attrName>
                                          <p:attrName>ppt_y</p:attrName>
                                        </p:attrNameLst>
                                      </p:cBhvr>
                                      <p:rCtr x="-20599" y="0"/>
                                    </p:animMotion>
                                  </p:childTnLst>
                                </p:cTn>
                              </p:par>
                            </p:childTnLst>
                          </p:cTn>
                        </p:par>
                        <p:par>
                          <p:cTn id="19" fill="hold">
                            <p:stCondLst>
                              <p:cond delay="500"/>
                            </p:stCondLst>
                            <p:childTnLst>
                              <p:par>
                                <p:cTn id="20" presetID="53" presetClass="entr" presetSubtype="16" fill="hold" grpId="0" nodeType="afterEffect">
                                  <p:stCondLst>
                                    <p:cond delay="0"/>
                                  </p:stCondLst>
                                  <p:childTnLst>
                                    <p:set>
                                      <p:cBhvr>
                                        <p:cTn id="21" dur="1" fill="hold">
                                          <p:stCondLst>
                                            <p:cond delay="0"/>
                                          </p:stCondLst>
                                        </p:cTn>
                                        <p:tgtEl>
                                          <p:spTgt spid="27"/>
                                        </p:tgtEl>
                                        <p:attrNameLst>
                                          <p:attrName>style.visibility</p:attrName>
                                        </p:attrNameLst>
                                      </p:cBhvr>
                                      <p:to>
                                        <p:strVal val="visible"/>
                                      </p:to>
                                    </p:set>
                                    <p:anim calcmode="lin" valueType="num">
                                      <p:cBhvr>
                                        <p:cTn id="22" dur="500" fill="hold"/>
                                        <p:tgtEl>
                                          <p:spTgt spid="27"/>
                                        </p:tgtEl>
                                        <p:attrNameLst>
                                          <p:attrName>ppt_w</p:attrName>
                                        </p:attrNameLst>
                                      </p:cBhvr>
                                      <p:tavLst>
                                        <p:tav tm="0">
                                          <p:val>
                                            <p:fltVal val="0"/>
                                          </p:val>
                                        </p:tav>
                                        <p:tav tm="100000">
                                          <p:val>
                                            <p:strVal val="#ppt_w"/>
                                          </p:val>
                                        </p:tav>
                                      </p:tavLst>
                                    </p:anim>
                                    <p:anim calcmode="lin" valueType="num">
                                      <p:cBhvr>
                                        <p:cTn id="23" dur="500" fill="hold"/>
                                        <p:tgtEl>
                                          <p:spTgt spid="27"/>
                                        </p:tgtEl>
                                        <p:attrNameLst>
                                          <p:attrName>ppt_h</p:attrName>
                                        </p:attrNameLst>
                                      </p:cBhvr>
                                      <p:tavLst>
                                        <p:tav tm="0">
                                          <p:val>
                                            <p:fltVal val="0"/>
                                          </p:val>
                                        </p:tav>
                                        <p:tav tm="100000">
                                          <p:val>
                                            <p:strVal val="#ppt_h"/>
                                          </p:val>
                                        </p:tav>
                                      </p:tavLst>
                                    </p:anim>
                                    <p:animEffect transition="in" filter="fade">
                                      <p:cBhvr>
                                        <p:cTn id="24" dur="500"/>
                                        <p:tgtEl>
                                          <p:spTgt spid="27"/>
                                        </p:tgtEl>
                                      </p:cBhvr>
                                    </p:animEffect>
                                  </p:childTnLst>
                                </p:cTn>
                              </p:par>
                              <p:par>
                                <p:cTn id="25" presetID="35" presetClass="path" presetSubtype="0" accel="50000" decel="50000" fill="hold" grpId="1" nodeType="withEffect">
                                  <p:stCondLst>
                                    <p:cond delay="0"/>
                                  </p:stCondLst>
                                  <p:childTnLst>
                                    <p:animMotion origin="layout" path="M -4.375E-6 -3.7037E-6 L -0.30273 -3.7037E-6 " pathEditMode="relative" rAng="0" ptsTypes="AA">
                                      <p:cBhvr>
                                        <p:cTn id="26" dur="1000" spd="-100000" fill="hold"/>
                                        <p:tgtEl>
                                          <p:spTgt spid="27"/>
                                        </p:tgtEl>
                                        <p:attrNameLst>
                                          <p:attrName>ppt_x</p:attrName>
                                          <p:attrName>ppt_y</p:attrName>
                                        </p:attrNameLst>
                                      </p:cBhvr>
                                      <p:rCtr x="-1514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7" grpId="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图片 24"/>
          <p:cNvPicPr>
            <a:picLocks noChangeAspect="1"/>
          </p:cNvPicPr>
          <p:nvPr/>
        </p:nvPicPr>
        <p:blipFill>
          <a:blip r:embed="rId3" cstate="screen"/>
          <a:stretch>
            <a:fillRect/>
          </a:stretch>
        </p:blipFill>
        <p:spPr>
          <a:xfrm>
            <a:off x="8088923" y="246423"/>
            <a:ext cx="4103077" cy="675011"/>
          </a:xfrm>
          <a:prstGeom prst="rect">
            <a:avLst/>
          </a:prstGeom>
        </p:spPr>
      </p:pic>
      <p:cxnSp>
        <p:nvCxnSpPr>
          <p:cNvPr id="26" name="直接连接符 25"/>
          <p:cNvCxnSpPr/>
          <p:nvPr/>
        </p:nvCxnSpPr>
        <p:spPr>
          <a:xfrm>
            <a:off x="0" y="921434"/>
            <a:ext cx="121920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7" name="矩形 26"/>
          <p:cNvSpPr/>
          <p:nvPr/>
        </p:nvSpPr>
        <p:spPr>
          <a:xfrm>
            <a:off x="1060287" y="353095"/>
            <a:ext cx="5262188" cy="461665"/>
          </a:xfrm>
          <a:prstGeom prst="rect">
            <a:avLst/>
          </a:prstGeom>
        </p:spPr>
        <p:txBody>
          <a:bodyPr wrap="square">
            <a:spAutoFit/>
          </a:bodyPr>
          <a:lstStyle/>
          <a:p>
            <a:r>
              <a:rPr lang="zh-CN" altLang="en-US" sz="2400" b="1" dirty="0">
                <a:solidFill>
                  <a:schemeClr val="accent1"/>
                </a:solidFill>
                <a:latin typeface="字体视界-NEW魏碑体" panose="02010601030101010101" pitchFamily="2" charset="-122"/>
                <a:ea typeface="字体视界-NEW魏碑体" panose="02010601030101010101" pitchFamily="2" charset="-122"/>
                <a:cs typeface="+mn-ea"/>
                <a:sym typeface="+mn-lt"/>
              </a:rPr>
              <a:t>第一部分：</a:t>
            </a:r>
            <a:r>
              <a:rPr lang="zh-CN" altLang="en-US" sz="2400" b="1" dirty="0">
                <a:solidFill>
                  <a:srgbClr val="C00000"/>
                </a:solidFill>
                <a:latin typeface="字体视界-NEW魏碑体" panose="02010601030101010101" pitchFamily="2" charset="-122"/>
                <a:ea typeface="字体视界-NEW魏碑体" panose="02010601030101010101" pitchFamily="2" charset="-122"/>
              </a:rPr>
              <a:t>周恩来总理的简要生平</a:t>
            </a:r>
          </a:p>
        </p:txBody>
      </p:sp>
      <p:sp>
        <p:nvSpPr>
          <p:cNvPr id="3" name="文本框 2"/>
          <p:cNvSpPr txBox="1"/>
          <p:nvPr/>
        </p:nvSpPr>
        <p:spPr>
          <a:xfrm>
            <a:off x="511387" y="1134781"/>
            <a:ext cx="6634480" cy="32316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cs typeface="+mn-cs"/>
              </a:rPr>
              <a:t>5.</a:t>
            </a: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cs typeface="+mn-cs"/>
              </a:rPr>
              <a:t>留学法国（</a:t>
            </a:r>
            <a:r>
              <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cs typeface="+mn-cs"/>
              </a:rPr>
              <a:t>1920-1924</a:t>
            </a: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cs typeface="+mn-cs"/>
              </a:rPr>
              <a:t>）</a:t>
            </a:r>
            <a:endPar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cs typeface="+mn-cs"/>
            </a:endParaRPr>
          </a:p>
          <a:p>
            <a:pPr algn="l" fontAlgn="base"/>
            <a:r>
              <a:rPr lang="en-US" altLang="zh-CN" b="1" i="0" dirty="0">
                <a:solidFill>
                  <a:srgbClr val="585858"/>
                </a:solidFill>
                <a:effectLst/>
                <a:latin typeface="微软雅黑" panose="020B0503020204020204" pitchFamily="34" charset="-122"/>
                <a:ea typeface="微软雅黑" panose="020B0503020204020204" pitchFamily="34" charset="-122"/>
              </a:rPr>
              <a:t>       1920</a:t>
            </a:r>
            <a:r>
              <a:rPr lang="zh-CN" altLang="en-US" b="1" i="0" dirty="0">
                <a:solidFill>
                  <a:srgbClr val="585858"/>
                </a:solidFill>
                <a:effectLst/>
                <a:latin typeface="微软雅黑" panose="020B0503020204020204" pitchFamily="34" charset="-122"/>
                <a:ea typeface="微软雅黑" panose="020B0503020204020204" pitchFamily="34" charset="-122"/>
              </a:rPr>
              <a:t>年</a:t>
            </a:r>
            <a:r>
              <a:rPr lang="en-US" altLang="zh-CN" b="1" i="0" dirty="0">
                <a:solidFill>
                  <a:srgbClr val="585858"/>
                </a:solidFill>
                <a:effectLst/>
                <a:latin typeface="微软雅黑" panose="020B0503020204020204" pitchFamily="34" charset="-122"/>
                <a:ea typeface="微软雅黑" panose="020B0503020204020204" pitchFamily="34" charset="-122"/>
              </a:rPr>
              <a:t>11</a:t>
            </a:r>
            <a:r>
              <a:rPr lang="zh-CN" altLang="en-US" b="1" i="0" dirty="0">
                <a:solidFill>
                  <a:srgbClr val="585858"/>
                </a:solidFill>
                <a:effectLst/>
                <a:latin typeface="微软雅黑" panose="020B0503020204020204" pitchFamily="34" charset="-122"/>
                <a:ea typeface="微软雅黑" panose="020B0503020204020204" pitchFamily="34" charset="-122"/>
              </a:rPr>
              <a:t>月</a:t>
            </a:r>
            <a:r>
              <a:rPr lang="en-US" altLang="zh-CN" b="1" i="0" dirty="0">
                <a:solidFill>
                  <a:srgbClr val="585858"/>
                </a:solidFill>
                <a:effectLst/>
                <a:latin typeface="微软雅黑" panose="020B0503020204020204" pitchFamily="34" charset="-122"/>
                <a:ea typeface="微软雅黑" panose="020B0503020204020204" pitchFamily="34" charset="-122"/>
              </a:rPr>
              <a:t>11</a:t>
            </a:r>
            <a:r>
              <a:rPr lang="zh-CN" altLang="en-US" b="1" i="0" dirty="0">
                <a:solidFill>
                  <a:srgbClr val="585858"/>
                </a:solidFill>
                <a:effectLst/>
                <a:latin typeface="微软雅黑" panose="020B0503020204020204" pitchFamily="34" charset="-122"/>
                <a:ea typeface="微软雅黑" panose="020B0503020204020204" pitchFamily="34" charset="-122"/>
              </a:rPr>
              <a:t>日，从日本归国不久的周恩来在上海乘法国邮轮“波尔多”号踏上了去法国勤工俭学的旅途。正是在法国，他开始走上一条职业革命家的道路，在这里，他参加了巴黎共产主义小组，成为中国共产党的创建人之一。</a:t>
            </a:r>
          </a:p>
          <a:p>
            <a:pPr algn="l" fontAlgn="base"/>
            <a:r>
              <a:rPr lang="zh-CN" altLang="en-US" b="1" i="0" dirty="0">
                <a:solidFill>
                  <a:srgbClr val="585858"/>
                </a:solidFill>
                <a:effectLst/>
                <a:latin typeface="微软雅黑" panose="020B0503020204020204" pitchFamily="34" charset="-122"/>
                <a:ea typeface="微软雅黑" panose="020B0503020204020204" pitchFamily="34" charset="-122"/>
              </a:rPr>
              <a:t>　　当时，在他的身边聚集着一批中国共产党的早期骨干，包括蔡和森、李维汉、向警予，还有后来新中国的四位副总理，他们是陈毅、李富春、聂荣臻和邓小平。</a:t>
            </a:r>
            <a:endParaRPr lang="en-US" altLang="zh-CN" sz="2400" b="1" dirty="0">
              <a:solidFill>
                <a:prstClr val="black"/>
              </a:solidFill>
              <a:latin typeface="微软雅黑" panose="020B0503020204020204" pitchFamily="34" charset="-122"/>
              <a:ea typeface="微软雅黑" panose="020B0503020204020204" pitchFamily="34" charset="-122"/>
            </a:endParaRPr>
          </a:p>
          <a:p>
            <a:pPr algn="l" fontAlgn="base"/>
            <a:r>
              <a:rPr lang="en-US" altLang="zh-CN" b="1" i="0" dirty="0">
                <a:solidFill>
                  <a:srgbClr val="585858"/>
                </a:solidFill>
                <a:effectLst/>
                <a:latin typeface="微软雅黑" panose="020B0503020204020204" pitchFamily="34" charset="-122"/>
                <a:ea typeface="微软雅黑" panose="020B0503020204020204" pitchFamily="34" charset="-122"/>
              </a:rPr>
              <a:t>       1924</a:t>
            </a:r>
            <a:r>
              <a:rPr lang="zh-CN" altLang="en-US" b="1" i="0" dirty="0">
                <a:solidFill>
                  <a:srgbClr val="585858"/>
                </a:solidFill>
                <a:effectLst/>
                <a:latin typeface="微软雅黑" panose="020B0503020204020204" pitchFamily="34" charset="-122"/>
                <a:ea typeface="微软雅黑" panose="020B0503020204020204" pitchFamily="34" charset="-122"/>
              </a:rPr>
              <a:t>年，周恩来和中国社会主义青年团旅欧之部的部分成员在巴黎的合影。前排左四为周恩来，左六为李富春，左一为聂荣臻，后排右三为邓小平。</a:t>
            </a:r>
          </a:p>
        </p:txBody>
      </p:sp>
      <p:pic>
        <p:nvPicPr>
          <p:cNvPr id="5" name="图片 4"/>
          <p:cNvPicPr>
            <a:picLocks noChangeAspect="1"/>
          </p:cNvPicPr>
          <p:nvPr/>
        </p:nvPicPr>
        <p:blipFill>
          <a:blip r:embed="rId4"/>
          <a:stretch>
            <a:fillRect/>
          </a:stretch>
        </p:blipFill>
        <p:spPr>
          <a:xfrm>
            <a:off x="511387" y="4442424"/>
            <a:ext cx="3190164" cy="2208987"/>
          </a:xfrm>
          <a:prstGeom prst="rect">
            <a:avLst/>
          </a:prstGeom>
        </p:spPr>
      </p:pic>
      <p:pic>
        <p:nvPicPr>
          <p:cNvPr id="7" name="图片 6"/>
          <p:cNvPicPr>
            <a:picLocks noChangeAspect="1"/>
          </p:cNvPicPr>
          <p:nvPr/>
        </p:nvPicPr>
        <p:blipFill>
          <a:blip r:embed="rId5"/>
          <a:stretch>
            <a:fillRect/>
          </a:stretch>
        </p:blipFill>
        <p:spPr>
          <a:xfrm>
            <a:off x="7497351" y="984540"/>
            <a:ext cx="4183262" cy="5721374"/>
          </a:xfrm>
          <a:prstGeom prst="rect">
            <a:avLst/>
          </a:prstGeom>
        </p:spPr>
      </p:pic>
      <p:pic>
        <p:nvPicPr>
          <p:cNvPr id="9" name="图片 8"/>
          <p:cNvPicPr>
            <a:picLocks noChangeAspect="1"/>
          </p:cNvPicPr>
          <p:nvPr/>
        </p:nvPicPr>
        <p:blipFill>
          <a:blip r:embed="rId6"/>
          <a:stretch>
            <a:fillRect/>
          </a:stretch>
        </p:blipFill>
        <p:spPr>
          <a:xfrm>
            <a:off x="4053035" y="4232408"/>
            <a:ext cx="2873069" cy="2419003"/>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p:cTn id="7" dur="500" fill="hold"/>
                                        <p:tgtEl>
                                          <p:spTgt spid="25"/>
                                        </p:tgtEl>
                                        <p:attrNameLst>
                                          <p:attrName>ppt_w</p:attrName>
                                        </p:attrNameLst>
                                      </p:cBhvr>
                                      <p:tavLst>
                                        <p:tav tm="0">
                                          <p:val>
                                            <p:fltVal val="0"/>
                                          </p:val>
                                        </p:tav>
                                        <p:tav tm="100000">
                                          <p:val>
                                            <p:strVal val="#ppt_w"/>
                                          </p:val>
                                        </p:tav>
                                      </p:tavLst>
                                    </p:anim>
                                    <p:anim calcmode="lin" valueType="num">
                                      <p:cBhvr>
                                        <p:cTn id="8" dur="500" fill="hold"/>
                                        <p:tgtEl>
                                          <p:spTgt spid="25"/>
                                        </p:tgtEl>
                                        <p:attrNameLst>
                                          <p:attrName>ppt_h</p:attrName>
                                        </p:attrNameLst>
                                      </p:cBhvr>
                                      <p:tavLst>
                                        <p:tav tm="0">
                                          <p:val>
                                            <p:fltVal val="0"/>
                                          </p:val>
                                        </p:tav>
                                        <p:tav tm="100000">
                                          <p:val>
                                            <p:strVal val="#ppt_h"/>
                                          </p:val>
                                        </p:tav>
                                      </p:tavLst>
                                    </p:anim>
                                    <p:animEffect transition="in" filter="fade">
                                      <p:cBhvr>
                                        <p:cTn id="9" dur="500"/>
                                        <p:tgtEl>
                                          <p:spTgt spid="25"/>
                                        </p:tgtEl>
                                      </p:cBhvr>
                                    </p:animEffect>
                                  </p:childTnLst>
                                </p:cTn>
                              </p:par>
                              <p:par>
                                <p:cTn id="10" presetID="35" presetClass="path" presetSubtype="0" accel="50000" decel="50000" fill="hold" nodeType="withEffect">
                                  <p:stCondLst>
                                    <p:cond delay="0"/>
                                  </p:stCondLst>
                                  <p:childTnLst>
                                    <p:animMotion origin="layout" path="M -6.25E-7 -3.7037E-6 L 0.18997 -3.7037E-6 " pathEditMode="relative" rAng="0" ptsTypes="AA">
                                      <p:cBhvr>
                                        <p:cTn id="11" dur="1000" spd="-100000" fill="hold"/>
                                        <p:tgtEl>
                                          <p:spTgt spid="25"/>
                                        </p:tgtEl>
                                        <p:attrNameLst>
                                          <p:attrName>ppt_x</p:attrName>
                                          <p:attrName>ppt_y</p:attrName>
                                        </p:attrNameLst>
                                      </p:cBhvr>
                                      <p:rCtr x="9492" y="0"/>
                                    </p:animMotion>
                                  </p:childTnLst>
                                </p:cTn>
                              </p:par>
                              <p:par>
                                <p:cTn id="12" presetID="53" presetClass="entr" presetSubtype="16" fill="hold" nodeType="withEffect">
                                  <p:stCondLst>
                                    <p:cond delay="0"/>
                                  </p:stCondLst>
                                  <p:childTnLst>
                                    <p:set>
                                      <p:cBhvr>
                                        <p:cTn id="13" dur="1" fill="hold">
                                          <p:stCondLst>
                                            <p:cond delay="0"/>
                                          </p:stCondLst>
                                        </p:cTn>
                                        <p:tgtEl>
                                          <p:spTgt spid="26"/>
                                        </p:tgtEl>
                                        <p:attrNameLst>
                                          <p:attrName>style.visibility</p:attrName>
                                        </p:attrNameLst>
                                      </p:cBhvr>
                                      <p:to>
                                        <p:strVal val="visible"/>
                                      </p:to>
                                    </p:set>
                                    <p:anim calcmode="lin" valueType="num">
                                      <p:cBhvr>
                                        <p:cTn id="14" dur="500" fill="hold"/>
                                        <p:tgtEl>
                                          <p:spTgt spid="26"/>
                                        </p:tgtEl>
                                        <p:attrNameLst>
                                          <p:attrName>ppt_w</p:attrName>
                                        </p:attrNameLst>
                                      </p:cBhvr>
                                      <p:tavLst>
                                        <p:tav tm="0">
                                          <p:val>
                                            <p:fltVal val="0"/>
                                          </p:val>
                                        </p:tav>
                                        <p:tav tm="100000">
                                          <p:val>
                                            <p:strVal val="#ppt_w"/>
                                          </p:val>
                                        </p:tav>
                                      </p:tavLst>
                                    </p:anim>
                                    <p:anim calcmode="lin" valueType="num">
                                      <p:cBhvr>
                                        <p:cTn id="15" dur="500" fill="hold"/>
                                        <p:tgtEl>
                                          <p:spTgt spid="26"/>
                                        </p:tgtEl>
                                        <p:attrNameLst>
                                          <p:attrName>ppt_h</p:attrName>
                                        </p:attrNameLst>
                                      </p:cBhvr>
                                      <p:tavLst>
                                        <p:tav tm="0">
                                          <p:val>
                                            <p:fltVal val="0"/>
                                          </p:val>
                                        </p:tav>
                                        <p:tav tm="100000">
                                          <p:val>
                                            <p:strVal val="#ppt_h"/>
                                          </p:val>
                                        </p:tav>
                                      </p:tavLst>
                                    </p:anim>
                                    <p:animEffect transition="in" filter="fade">
                                      <p:cBhvr>
                                        <p:cTn id="16" dur="500"/>
                                        <p:tgtEl>
                                          <p:spTgt spid="26"/>
                                        </p:tgtEl>
                                      </p:cBhvr>
                                    </p:animEffect>
                                  </p:childTnLst>
                                </p:cTn>
                              </p:par>
                              <p:par>
                                <p:cTn id="17" presetID="35" presetClass="path" presetSubtype="0" accel="50000" decel="50000" fill="hold" nodeType="withEffect">
                                  <p:stCondLst>
                                    <p:cond delay="0"/>
                                  </p:stCondLst>
                                  <p:childTnLst>
                                    <p:animMotion origin="layout" path="M 0 -3.7037E-6 L -0.41185 -3.7037E-6 " pathEditMode="relative" rAng="0" ptsTypes="AA">
                                      <p:cBhvr>
                                        <p:cTn id="18" dur="1000" spd="-100000" fill="hold"/>
                                        <p:tgtEl>
                                          <p:spTgt spid="26"/>
                                        </p:tgtEl>
                                        <p:attrNameLst>
                                          <p:attrName>ppt_x</p:attrName>
                                          <p:attrName>ppt_y</p:attrName>
                                        </p:attrNameLst>
                                      </p:cBhvr>
                                      <p:rCtr x="-20599" y="0"/>
                                    </p:animMotion>
                                  </p:childTnLst>
                                </p:cTn>
                              </p:par>
                            </p:childTnLst>
                          </p:cTn>
                        </p:par>
                        <p:par>
                          <p:cTn id="19" fill="hold">
                            <p:stCondLst>
                              <p:cond delay="500"/>
                            </p:stCondLst>
                            <p:childTnLst>
                              <p:par>
                                <p:cTn id="20" presetID="53" presetClass="entr" presetSubtype="16" fill="hold" grpId="0" nodeType="afterEffect">
                                  <p:stCondLst>
                                    <p:cond delay="0"/>
                                  </p:stCondLst>
                                  <p:childTnLst>
                                    <p:set>
                                      <p:cBhvr>
                                        <p:cTn id="21" dur="1" fill="hold">
                                          <p:stCondLst>
                                            <p:cond delay="0"/>
                                          </p:stCondLst>
                                        </p:cTn>
                                        <p:tgtEl>
                                          <p:spTgt spid="27"/>
                                        </p:tgtEl>
                                        <p:attrNameLst>
                                          <p:attrName>style.visibility</p:attrName>
                                        </p:attrNameLst>
                                      </p:cBhvr>
                                      <p:to>
                                        <p:strVal val="visible"/>
                                      </p:to>
                                    </p:set>
                                    <p:anim calcmode="lin" valueType="num">
                                      <p:cBhvr>
                                        <p:cTn id="22" dur="500" fill="hold"/>
                                        <p:tgtEl>
                                          <p:spTgt spid="27"/>
                                        </p:tgtEl>
                                        <p:attrNameLst>
                                          <p:attrName>ppt_w</p:attrName>
                                        </p:attrNameLst>
                                      </p:cBhvr>
                                      <p:tavLst>
                                        <p:tav tm="0">
                                          <p:val>
                                            <p:fltVal val="0"/>
                                          </p:val>
                                        </p:tav>
                                        <p:tav tm="100000">
                                          <p:val>
                                            <p:strVal val="#ppt_w"/>
                                          </p:val>
                                        </p:tav>
                                      </p:tavLst>
                                    </p:anim>
                                    <p:anim calcmode="lin" valueType="num">
                                      <p:cBhvr>
                                        <p:cTn id="23" dur="500" fill="hold"/>
                                        <p:tgtEl>
                                          <p:spTgt spid="27"/>
                                        </p:tgtEl>
                                        <p:attrNameLst>
                                          <p:attrName>ppt_h</p:attrName>
                                        </p:attrNameLst>
                                      </p:cBhvr>
                                      <p:tavLst>
                                        <p:tav tm="0">
                                          <p:val>
                                            <p:fltVal val="0"/>
                                          </p:val>
                                        </p:tav>
                                        <p:tav tm="100000">
                                          <p:val>
                                            <p:strVal val="#ppt_h"/>
                                          </p:val>
                                        </p:tav>
                                      </p:tavLst>
                                    </p:anim>
                                    <p:animEffect transition="in" filter="fade">
                                      <p:cBhvr>
                                        <p:cTn id="24" dur="500"/>
                                        <p:tgtEl>
                                          <p:spTgt spid="27"/>
                                        </p:tgtEl>
                                      </p:cBhvr>
                                    </p:animEffect>
                                  </p:childTnLst>
                                </p:cTn>
                              </p:par>
                              <p:par>
                                <p:cTn id="25" presetID="35" presetClass="path" presetSubtype="0" accel="50000" decel="50000" fill="hold" grpId="1" nodeType="withEffect">
                                  <p:stCondLst>
                                    <p:cond delay="0"/>
                                  </p:stCondLst>
                                  <p:childTnLst>
                                    <p:animMotion origin="layout" path="M -4.375E-6 -3.7037E-6 L -0.30273 -3.7037E-6 " pathEditMode="relative" rAng="0" ptsTypes="AA">
                                      <p:cBhvr>
                                        <p:cTn id="26" dur="1000" spd="-100000" fill="hold"/>
                                        <p:tgtEl>
                                          <p:spTgt spid="27"/>
                                        </p:tgtEl>
                                        <p:attrNameLst>
                                          <p:attrName>ppt_x</p:attrName>
                                          <p:attrName>ppt_y</p:attrName>
                                        </p:attrNameLst>
                                      </p:cBhvr>
                                      <p:rCtr x="-1514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7" grpId="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图片 24"/>
          <p:cNvPicPr>
            <a:picLocks noChangeAspect="1"/>
          </p:cNvPicPr>
          <p:nvPr/>
        </p:nvPicPr>
        <p:blipFill>
          <a:blip r:embed="rId3" cstate="screen"/>
          <a:stretch>
            <a:fillRect/>
          </a:stretch>
        </p:blipFill>
        <p:spPr>
          <a:xfrm>
            <a:off x="8088923" y="246423"/>
            <a:ext cx="4103077" cy="675011"/>
          </a:xfrm>
          <a:prstGeom prst="rect">
            <a:avLst/>
          </a:prstGeom>
        </p:spPr>
      </p:pic>
      <p:cxnSp>
        <p:nvCxnSpPr>
          <p:cNvPr id="26" name="直接连接符 25"/>
          <p:cNvCxnSpPr/>
          <p:nvPr/>
        </p:nvCxnSpPr>
        <p:spPr>
          <a:xfrm>
            <a:off x="0" y="921434"/>
            <a:ext cx="121920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7" name="矩形 26"/>
          <p:cNvSpPr/>
          <p:nvPr/>
        </p:nvSpPr>
        <p:spPr>
          <a:xfrm>
            <a:off x="1060287" y="353095"/>
            <a:ext cx="5262188" cy="461665"/>
          </a:xfrm>
          <a:prstGeom prst="rect">
            <a:avLst/>
          </a:prstGeom>
        </p:spPr>
        <p:txBody>
          <a:bodyPr wrap="square">
            <a:spAutoFit/>
          </a:bodyPr>
          <a:lstStyle/>
          <a:p>
            <a:r>
              <a:rPr lang="zh-CN" altLang="en-US" sz="2400" b="1" dirty="0">
                <a:solidFill>
                  <a:schemeClr val="accent1"/>
                </a:solidFill>
                <a:latin typeface="字体视界-NEW魏碑体" panose="02010601030101010101" pitchFamily="2" charset="-122"/>
                <a:ea typeface="字体视界-NEW魏碑体" panose="02010601030101010101" pitchFamily="2" charset="-122"/>
                <a:cs typeface="+mn-ea"/>
                <a:sym typeface="+mn-lt"/>
              </a:rPr>
              <a:t>第一部分：</a:t>
            </a:r>
            <a:r>
              <a:rPr lang="zh-CN" altLang="en-US" sz="2400" b="1" dirty="0">
                <a:solidFill>
                  <a:srgbClr val="C00000"/>
                </a:solidFill>
                <a:latin typeface="字体视界-NEW魏碑体" panose="02010601030101010101" pitchFamily="2" charset="-122"/>
                <a:ea typeface="字体视界-NEW魏碑体" panose="02010601030101010101" pitchFamily="2" charset="-122"/>
              </a:rPr>
              <a:t>周恩来总理的简要生平</a:t>
            </a:r>
          </a:p>
        </p:txBody>
      </p:sp>
      <p:sp>
        <p:nvSpPr>
          <p:cNvPr id="2" name="文本框 1"/>
          <p:cNvSpPr txBox="1"/>
          <p:nvPr/>
        </p:nvSpPr>
        <p:spPr>
          <a:xfrm>
            <a:off x="602826" y="1212427"/>
            <a:ext cx="4646756" cy="6617196"/>
          </a:xfrm>
          <a:prstGeom prst="rect">
            <a:avLst/>
          </a:prstGeom>
          <a:noFill/>
        </p:spPr>
        <p:txBody>
          <a:bodyPr wrap="square" rtlCol="0">
            <a:spAutoFit/>
          </a:bodyPr>
          <a:lstStyle/>
          <a:p>
            <a:r>
              <a:rPr lang="zh-CN" altLang="en-US" sz="3200" b="1" dirty="0"/>
              <a:t>奋斗</a:t>
            </a:r>
            <a:endParaRPr lang="en-US" altLang="zh-CN" sz="3200" b="1" dirty="0"/>
          </a:p>
          <a:p>
            <a:pPr marL="457200" indent="-457200">
              <a:buAutoNum type="arabicPeriod"/>
            </a:pPr>
            <a:r>
              <a:rPr lang="zh-CN" altLang="en-US" sz="2400" b="1" dirty="0"/>
              <a:t>革命婚姻（</a:t>
            </a:r>
            <a:r>
              <a:rPr lang="en-US" altLang="zh-CN" sz="2400" b="1" dirty="0"/>
              <a:t>1924-1925</a:t>
            </a:r>
            <a:r>
              <a:rPr lang="zh-CN" altLang="en-US" sz="2400" b="1" dirty="0"/>
              <a:t>）</a:t>
            </a:r>
            <a:endParaRPr lang="en-US" altLang="zh-CN" sz="2400" b="1" dirty="0"/>
          </a:p>
          <a:p>
            <a:pPr algn="l"/>
            <a:r>
              <a:rPr lang="en-US" altLang="zh-CN" b="1" i="0" dirty="0">
                <a:solidFill>
                  <a:srgbClr val="666666"/>
                </a:solidFill>
                <a:effectLst/>
                <a:latin typeface="Helvetica" panose="020B0604020202020204" pitchFamily="34" charset="0"/>
              </a:rPr>
              <a:t>       1919</a:t>
            </a:r>
            <a:r>
              <a:rPr lang="zh-CN" altLang="en-US" b="1" i="0" dirty="0">
                <a:solidFill>
                  <a:srgbClr val="666666"/>
                </a:solidFill>
                <a:effectLst/>
                <a:latin typeface="Helvetica" panose="020B0604020202020204" pitchFamily="34" charset="0"/>
              </a:rPr>
              <a:t>年秋，觉悟社成立了。这里正是两个未来的情人初次相遇的地方。</a:t>
            </a:r>
            <a:endParaRPr lang="en-US" altLang="zh-CN" b="1" i="0" dirty="0">
              <a:solidFill>
                <a:srgbClr val="666666"/>
              </a:solidFill>
              <a:effectLst/>
              <a:latin typeface="Helvetica" panose="020B0604020202020204" pitchFamily="34" charset="0"/>
            </a:endParaRPr>
          </a:p>
          <a:p>
            <a:pPr algn="l"/>
            <a:r>
              <a:rPr lang="zh-CN" altLang="en-US" b="1" i="0" dirty="0">
                <a:solidFill>
                  <a:srgbClr val="666666"/>
                </a:solidFill>
                <a:effectLst/>
                <a:latin typeface="Helvetica" panose="020B0604020202020204" pitchFamily="34" charset="0"/>
              </a:rPr>
              <a:t>       同年</a:t>
            </a:r>
            <a:r>
              <a:rPr lang="en-US" altLang="zh-CN" b="1" i="0" dirty="0">
                <a:solidFill>
                  <a:srgbClr val="666666"/>
                </a:solidFill>
                <a:effectLst/>
                <a:latin typeface="Helvetica" panose="020B0604020202020204" pitchFamily="34" charset="0"/>
              </a:rPr>
              <a:t>10</a:t>
            </a:r>
            <a:r>
              <a:rPr lang="zh-CN" altLang="en-US" b="1" i="0" dirty="0">
                <a:solidFill>
                  <a:srgbClr val="666666"/>
                </a:solidFill>
                <a:effectLst/>
                <a:latin typeface="Helvetica" panose="020B0604020202020204" pitchFamily="34" charset="0"/>
              </a:rPr>
              <a:t>月，在天津，这对情人再次站到了斗争的前头。</a:t>
            </a:r>
            <a:endParaRPr lang="en-US" altLang="zh-CN" b="1" dirty="0">
              <a:solidFill>
                <a:srgbClr val="666666"/>
              </a:solidFill>
              <a:latin typeface="Helvetica" panose="020B0604020202020204" pitchFamily="34" charset="0"/>
            </a:endParaRPr>
          </a:p>
          <a:p>
            <a:pPr algn="l"/>
            <a:r>
              <a:rPr lang="zh-CN" altLang="en-US" b="1" i="0" dirty="0">
                <a:solidFill>
                  <a:srgbClr val="666666"/>
                </a:solidFill>
                <a:effectLst/>
                <a:latin typeface="Helvetica" panose="020B0604020202020204" pitchFamily="34" charset="0"/>
              </a:rPr>
              <a:t>       据说，是邓先爱上周恩来的。</a:t>
            </a:r>
            <a:r>
              <a:rPr lang="en-US" altLang="zh-CN" b="1" i="0" dirty="0">
                <a:solidFill>
                  <a:srgbClr val="666666"/>
                </a:solidFill>
                <a:effectLst/>
                <a:latin typeface="Helvetica" panose="020B0604020202020204" pitchFamily="34" charset="0"/>
              </a:rPr>
              <a:t>1925</a:t>
            </a:r>
            <a:r>
              <a:rPr lang="zh-CN" altLang="en-US" b="1" i="0" dirty="0">
                <a:solidFill>
                  <a:srgbClr val="666666"/>
                </a:solidFill>
                <a:effectLst/>
                <a:latin typeface="Helvetica" panose="020B0604020202020204" pitchFamily="34" charset="0"/>
              </a:rPr>
              <a:t>年</a:t>
            </a:r>
            <a:r>
              <a:rPr lang="en-US" altLang="zh-CN" b="1" i="0" dirty="0">
                <a:solidFill>
                  <a:srgbClr val="666666"/>
                </a:solidFill>
                <a:effectLst/>
                <a:latin typeface="Helvetica" panose="020B0604020202020204" pitchFamily="34" charset="0"/>
              </a:rPr>
              <a:t>8</a:t>
            </a:r>
            <a:r>
              <a:rPr lang="zh-CN" altLang="en-US" b="1" i="0" dirty="0">
                <a:solidFill>
                  <a:srgbClr val="666666"/>
                </a:solidFill>
                <a:effectLst/>
                <a:latin typeface="Helvetica" panose="020B0604020202020204" pitchFamily="34" charset="0"/>
              </a:rPr>
              <a:t>月</a:t>
            </a:r>
            <a:r>
              <a:rPr lang="en-US" altLang="zh-CN" b="1" i="0" dirty="0">
                <a:solidFill>
                  <a:srgbClr val="666666"/>
                </a:solidFill>
                <a:effectLst/>
                <a:latin typeface="Helvetica" panose="020B0604020202020204" pitchFamily="34" charset="0"/>
              </a:rPr>
              <a:t>8</a:t>
            </a:r>
            <a:r>
              <a:rPr lang="zh-CN" altLang="en-US" b="1" i="0" dirty="0">
                <a:solidFill>
                  <a:srgbClr val="666666"/>
                </a:solidFill>
                <a:effectLst/>
                <a:latin typeface="Helvetica" panose="020B0604020202020204" pitchFamily="34" charset="0"/>
              </a:rPr>
              <a:t>日，两人在广州结婚。</a:t>
            </a:r>
            <a:endParaRPr lang="en-US" altLang="zh-CN" b="1" i="0" dirty="0">
              <a:solidFill>
                <a:srgbClr val="666666"/>
              </a:solidFill>
              <a:effectLst/>
              <a:latin typeface="Helvetica" panose="020B0604020202020204" pitchFamily="34" charset="0"/>
            </a:endParaRPr>
          </a:p>
          <a:p>
            <a:r>
              <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cs typeface="+mn-cs"/>
              </a:rPr>
              <a:t>2.</a:t>
            </a: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cs typeface="+mn-cs"/>
              </a:rPr>
              <a:t>占领上海（</a:t>
            </a:r>
            <a:r>
              <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cs typeface="+mn-cs"/>
              </a:rPr>
              <a:t>1925-1927</a:t>
            </a: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cs typeface="+mn-cs"/>
              </a:rPr>
              <a:t>）</a:t>
            </a:r>
            <a:endPar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cs typeface="+mn-cs"/>
            </a:endParaRPr>
          </a:p>
          <a:p>
            <a:r>
              <a:rPr lang="zh-CN" altLang="en-US" b="1" i="0" dirty="0">
                <a:solidFill>
                  <a:schemeClr val="tx1">
                    <a:lumMod val="65000"/>
                    <a:lumOff val="35000"/>
                  </a:schemeClr>
                </a:solidFill>
                <a:effectLst/>
                <a:latin typeface="微软雅黑" panose="020B0503020204020204" pitchFamily="34" charset="-122"/>
                <a:ea typeface="微软雅黑" panose="020B0503020204020204" pitchFamily="34" charset="-122"/>
              </a:rPr>
              <a:t>       周恩来等人带领上海工人，获得了第三次武装起义的胜利，是大革命时期中国工人运动的一个壮举，也是北伐战争时期工人运动发展的最高峰。</a:t>
            </a:r>
            <a:endParaRPr lang="en-US" altLang="zh-CN" b="1" i="0" dirty="0">
              <a:solidFill>
                <a:schemeClr val="tx1">
                  <a:lumMod val="65000"/>
                  <a:lumOff val="35000"/>
                </a:schemeClr>
              </a:solidFill>
              <a:effectLst/>
              <a:latin typeface="微软雅黑" panose="020B0503020204020204" pitchFamily="34" charset="-122"/>
              <a:ea typeface="微软雅黑" panose="020B0503020204020204" pitchFamily="34" charset="-122"/>
            </a:endParaRPr>
          </a:p>
          <a:p>
            <a:pPr marL="0" marR="0" lvl="0" indent="0"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cs typeface="+mn-cs"/>
              </a:rPr>
              <a:t>3.</a:t>
            </a: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cs typeface="+mn-cs"/>
              </a:rPr>
              <a:t>南昌起义（</a:t>
            </a:r>
            <a:r>
              <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cs typeface="+mn-cs"/>
              </a:rPr>
              <a:t>1927</a:t>
            </a: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cs typeface="+mn-cs"/>
              </a:rPr>
              <a:t>）</a:t>
            </a:r>
            <a:endPar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cs typeface="+mn-cs"/>
            </a:endParaRPr>
          </a:p>
          <a:p>
            <a:pPr marL="0" marR="0" lvl="0" indent="0" defTabSz="914400" rtl="0" eaLnBrk="1" fontAlgn="auto" latinLnBrk="0" hangingPunct="1">
              <a:lnSpc>
                <a:spcPct val="100000"/>
              </a:lnSpc>
              <a:spcBef>
                <a:spcPts val="0"/>
              </a:spcBef>
              <a:spcAft>
                <a:spcPts val="0"/>
              </a:spcAft>
              <a:buClrTx/>
              <a:buSzTx/>
              <a:buFontTx/>
              <a:buNone/>
              <a:defRPr/>
            </a:pPr>
            <a:r>
              <a:rPr lang="en-US" altLang="zh-CN" b="1" i="0" dirty="0">
                <a:solidFill>
                  <a:schemeClr val="tx1">
                    <a:lumMod val="65000"/>
                    <a:lumOff val="35000"/>
                  </a:schemeClr>
                </a:solidFill>
                <a:effectLst/>
                <a:latin typeface="PingFang-SC-Regular"/>
              </a:rPr>
              <a:t>         1927</a:t>
            </a:r>
            <a:r>
              <a:rPr lang="zh-CN" altLang="en-US" b="1" i="0" dirty="0">
                <a:solidFill>
                  <a:schemeClr val="tx1">
                    <a:lumMod val="65000"/>
                    <a:lumOff val="35000"/>
                  </a:schemeClr>
                </a:solidFill>
                <a:effectLst/>
                <a:latin typeface="PingFang-SC-Regular"/>
              </a:rPr>
              <a:t>年</a:t>
            </a:r>
            <a:r>
              <a:rPr lang="en-US" altLang="zh-CN" b="1" i="0" dirty="0">
                <a:solidFill>
                  <a:schemeClr val="tx1">
                    <a:lumMod val="65000"/>
                    <a:lumOff val="35000"/>
                  </a:schemeClr>
                </a:solidFill>
                <a:effectLst/>
                <a:latin typeface="PingFang-SC-Regular"/>
              </a:rPr>
              <a:t>8</a:t>
            </a:r>
            <a:r>
              <a:rPr lang="zh-CN" altLang="en-US" b="1" i="0" dirty="0">
                <a:solidFill>
                  <a:schemeClr val="tx1">
                    <a:lumMod val="65000"/>
                    <a:lumOff val="35000"/>
                  </a:schemeClr>
                </a:solidFill>
                <a:effectLst/>
                <a:latin typeface="PingFang-SC-Regular"/>
              </a:rPr>
              <a:t>月</a:t>
            </a:r>
            <a:r>
              <a:rPr lang="en-US" altLang="zh-CN" b="1" i="0" dirty="0">
                <a:solidFill>
                  <a:schemeClr val="tx1">
                    <a:lumMod val="65000"/>
                    <a:lumOff val="35000"/>
                  </a:schemeClr>
                </a:solidFill>
                <a:effectLst/>
                <a:latin typeface="PingFang-SC-Regular"/>
              </a:rPr>
              <a:t>1</a:t>
            </a:r>
            <a:r>
              <a:rPr lang="zh-CN" altLang="en-US" b="1" i="0" dirty="0">
                <a:solidFill>
                  <a:schemeClr val="tx1">
                    <a:lumMod val="65000"/>
                    <a:lumOff val="35000"/>
                  </a:schemeClr>
                </a:solidFill>
                <a:effectLst/>
                <a:latin typeface="PingFang-SC-Regular"/>
              </a:rPr>
              <a:t>日，中国共产党领导部分国民革命军在江西省南昌市举行的武装起义。</a:t>
            </a:r>
            <a:br>
              <a:rPr lang="zh-CN" altLang="en-US" b="1" dirty="0">
                <a:solidFill>
                  <a:schemeClr val="tx1">
                    <a:lumMod val="65000"/>
                    <a:lumOff val="35000"/>
                  </a:schemeClr>
                </a:solidFill>
              </a:rPr>
            </a:br>
            <a:r>
              <a:rPr lang="zh-CN" altLang="en-US" b="1" dirty="0">
                <a:solidFill>
                  <a:schemeClr val="tx1">
                    <a:lumMod val="65000"/>
                    <a:lumOff val="35000"/>
                  </a:schemeClr>
                </a:solidFill>
              </a:rPr>
              <a:t>       </a:t>
            </a:r>
            <a:r>
              <a:rPr lang="zh-CN" altLang="en-US" b="1" i="0" dirty="0">
                <a:solidFill>
                  <a:schemeClr val="tx1">
                    <a:lumMod val="65000"/>
                    <a:lumOff val="35000"/>
                  </a:schemeClr>
                </a:solidFill>
                <a:effectLst/>
                <a:latin typeface="PingFang-SC-Regular"/>
              </a:rPr>
              <a:t>起义由周恩来、贺龙、李立三、叶挺、朱德、刘伯承、谭平山领导。</a:t>
            </a:r>
            <a:endParaRPr lang="en-US" altLang="zh-CN" b="1" i="0" dirty="0">
              <a:solidFill>
                <a:schemeClr val="tx1">
                  <a:lumMod val="65000"/>
                  <a:lumOff val="35000"/>
                </a:schemeClr>
              </a:solidFill>
              <a:effectLst/>
              <a:latin typeface="PingFang-SC-Regular"/>
            </a:endParaRPr>
          </a:p>
          <a:p>
            <a:endParaRPr lang="zh-CN" altLang="en-US" b="1" i="0" dirty="0">
              <a:solidFill>
                <a:schemeClr val="tx1">
                  <a:lumMod val="65000"/>
                  <a:lumOff val="35000"/>
                </a:schemeClr>
              </a:solidFill>
              <a:effectLst/>
              <a:latin typeface="微软雅黑" panose="020B0503020204020204" pitchFamily="34" charset="-122"/>
              <a:ea typeface="微软雅黑" panose="020B0503020204020204" pitchFamily="34" charset="-122"/>
            </a:endParaRPr>
          </a:p>
          <a:p>
            <a:pPr algn="l"/>
            <a:endParaRPr lang="en-US" altLang="zh-CN" b="1" dirty="0"/>
          </a:p>
          <a:p>
            <a:endParaRPr lang="zh-CN" altLang="en-US" sz="3200" b="1" dirty="0"/>
          </a:p>
        </p:txBody>
      </p:sp>
      <p:pic>
        <p:nvPicPr>
          <p:cNvPr id="9" name="图片 8"/>
          <p:cNvPicPr>
            <a:picLocks noChangeAspect="1"/>
          </p:cNvPicPr>
          <p:nvPr/>
        </p:nvPicPr>
        <p:blipFill>
          <a:blip r:embed="rId4"/>
          <a:stretch>
            <a:fillRect/>
          </a:stretch>
        </p:blipFill>
        <p:spPr>
          <a:xfrm>
            <a:off x="5572095" y="1158239"/>
            <a:ext cx="3110800" cy="4185921"/>
          </a:xfrm>
          <a:prstGeom prst="rect">
            <a:avLst/>
          </a:prstGeom>
        </p:spPr>
      </p:pic>
      <p:pic>
        <p:nvPicPr>
          <p:cNvPr id="3" name="图片 2"/>
          <p:cNvPicPr>
            <a:picLocks noChangeAspect="1"/>
          </p:cNvPicPr>
          <p:nvPr/>
        </p:nvPicPr>
        <p:blipFill>
          <a:blip r:embed="rId5"/>
          <a:stretch>
            <a:fillRect/>
          </a:stretch>
        </p:blipFill>
        <p:spPr>
          <a:xfrm>
            <a:off x="9005408" y="1212425"/>
            <a:ext cx="2882918" cy="4050454"/>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p:cTn id="7" dur="500" fill="hold"/>
                                        <p:tgtEl>
                                          <p:spTgt spid="25"/>
                                        </p:tgtEl>
                                        <p:attrNameLst>
                                          <p:attrName>ppt_w</p:attrName>
                                        </p:attrNameLst>
                                      </p:cBhvr>
                                      <p:tavLst>
                                        <p:tav tm="0">
                                          <p:val>
                                            <p:fltVal val="0"/>
                                          </p:val>
                                        </p:tav>
                                        <p:tav tm="100000">
                                          <p:val>
                                            <p:strVal val="#ppt_w"/>
                                          </p:val>
                                        </p:tav>
                                      </p:tavLst>
                                    </p:anim>
                                    <p:anim calcmode="lin" valueType="num">
                                      <p:cBhvr>
                                        <p:cTn id="8" dur="500" fill="hold"/>
                                        <p:tgtEl>
                                          <p:spTgt spid="25"/>
                                        </p:tgtEl>
                                        <p:attrNameLst>
                                          <p:attrName>ppt_h</p:attrName>
                                        </p:attrNameLst>
                                      </p:cBhvr>
                                      <p:tavLst>
                                        <p:tav tm="0">
                                          <p:val>
                                            <p:fltVal val="0"/>
                                          </p:val>
                                        </p:tav>
                                        <p:tav tm="100000">
                                          <p:val>
                                            <p:strVal val="#ppt_h"/>
                                          </p:val>
                                        </p:tav>
                                      </p:tavLst>
                                    </p:anim>
                                    <p:animEffect transition="in" filter="fade">
                                      <p:cBhvr>
                                        <p:cTn id="9" dur="500"/>
                                        <p:tgtEl>
                                          <p:spTgt spid="25"/>
                                        </p:tgtEl>
                                      </p:cBhvr>
                                    </p:animEffect>
                                  </p:childTnLst>
                                </p:cTn>
                              </p:par>
                              <p:par>
                                <p:cTn id="10" presetID="35" presetClass="path" presetSubtype="0" accel="50000" decel="50000" fill="hold" nodeType="withEffect">
                                  <p:stCondLst>
                                    <p:cond delay="0"/>
                                  </p:stCondLst>
                                  <p:childTnLst>
                                    <p:animMotion origin="layout" path="M -6.25E-7 -3.7037E-6 L 0.18997 -3.7037E-6 " pathEditMode="relative" rAng="0" ptsTypes="AA">
                                      <p:cBhvr>
                                        <p:cTn id="11" dur="1000" spd="-100000" fill="hold"/>
                                        <p:tgtEl>
                                          <p:spTgt spid="25"/>
                                        </p:tgtEl>
                                        <p:attrNameLst>
                                          <p:attrName>ppt_x</p:attrName>
                                          <p:attrName>ppt_y</p:attrName>
                                        </p:attrNameLst>
                                      </p:cBhvr>
                                      <p:rCtr x="9492" y="0"/>
                                    </p:animMotion>
                                  </p:childTnLst>
                                </p:cTn>
                              </p:par>
                              <p:par>
                                <p:cTn id="12" presetID="53" presetClass="entr" presetSubtype="16" fill="hold" nodeType="withEffect">
                                  <p:stCondLst>
                                    <p:cond delay="0"/>
                                  </p:stCondLst>
                                  <p:childTnLst>
                                    <p:set>
                                      <p:cBhvr>
                                        <p:cTn id="13" dur="1" fill="hold">
                                          <p:stCondLst>
                                            <p:cond delay="0"/>
                                          </p:stCondLst>
                                        </p:cTn>
                                        <p:tgtEl>
                                          <p:spTgt spid="26"/>
                                        </p:tgtEl>
                                        <p:attrNameLst>
                                          <p:attrName>style.visibility</p:attrName>
                                        </p:attrNameLst>
                                      </p:cBhvr>
                                      <p:to>
                                        <p:strVal val="visible"/>
                                      </p:to>
                                    </p:set>
                                    <p:anim calcmode="lin" valueType="num">
                                      <p:cBhvr>
                                        <p:cTn id="14" dur="500" fill="hold"/>
                                        <p:tgtEl>
                                          <p:spTgt spid="26"/>
                                        </p:tgtEl>
                                        <p:attrNameLst>
                                          <p:attrName>ppt_w</p:attrName>
                                        </p:attrNameLst>
                                      </p:cBhvr>
                                      <p:tavLst>
                                        <p:tav tm="0">
                                          <p:val>
                                            <p:fltVal val="0"/>
                                          </p:val>
                                        </p:tav>
                                        <p:tav tm="100000">
                                          <p:val>
                                            <p:strVal val="#ppt_w"/>
                                          </p:val>
                                        </p:tav>
                                      </p:tavLst>
                                    </p:anim>
                                    <p:anim calcmode="lin" valueType="num">
                                      <p:cBhvr>
                                        <p:cTn id="15" dur="500" fill="hold"/>
                                        <p:tgtEl>
                                          <p:spTgt spid="26"/>
                                        </p:tgtEl>
                                        <p:attrNameLst>
                                          <p:attrName>ppt_h</p:attrName>
                                        </p:attrNameLst>
                                      </p:cBhvr>
                                      <p:tavLst>
                                        <p:tav tm="0">
                                          <p:val>
                                            <p:fltVal val="0"/>
                                          </p:val>
                                        </p:tav>
                                        <p:tav tm="100000">
                                          <p:val>
                                            <p:strVal val="#ppt_h"/>
                                          </p:val>
                                        </p:tav>
                                      </p:tavLst>
                                    </p:anim>
                                    <p:animEffect transition="in" filter="fade">
                                      <p:cBhvr>
                                        <p:cTn id="16" dur="500"/>
                                        <p:tgtEl>
                                          <p:spTgt spid="26"/>
                                        </p:tgtEl>
                                      </p:cBhvr>
                                    </p:animEffect>
                                  </p:childTnLst>
                                </p:cTn>
                              </p:par>
                              <p:par>
                                <p:cTn id="17" presetID="35" presetClass="path" presetSubtype="0" accel="50000" decel="50000" fill="hold" nodeType="withEffect">
                                  <p:stCondLst>
                                    <p:cond delay="0"/>
                                  </p:stCondLst>
                                  <p:childTnLst>
                                    <p:animMotion origin="layout" path="M 0 -3.7037E-6 L -0.41185 -3.7037E-6 " pathEditMode="relative" rAng="0" ptsTypes="AA">
                                      <p:cBhvr>
                                        <p:cTn id="18" dur="1000" spd="-100000" fill="hold"/>
                                        <p:tgtEl>
                                          <p:spTgt spid="26"/>
                                        </p:tgtEl>
                                        <p:attrNameLst>
                                          <p:attrName>ppt_x</p:attrName>
                                          <p:attrName>ppt_y</p:attrName>
                                        </p:attrNameLst>
                                      </p:cBhvr>
                                      <p:rCtr x="-20599" y="0"/>
                                    </p:animMotion>
                                  </p:childTnLst>
                                </p:cTn>
                              </p:par>
                            </p:childTnLst>
                          </p:cTn>
                        </p:par>
                        <p:par>
                          <p:cTn id="19" fill="hold">
                            <p:stCondLst>
                              <p:cond delay="500"/>
                            </p:stCondLst>
                            <p:childTnLst>
                              <p:par>
                                <p:cTn id="20" presetID="53" presetClass="entr" presetSubtype="16" fill="hold" grpId="0" nodeType="afterEffect">
                                  <p:stCondLst>
                                    <p:cond delay="0"/>
                                  </p:stCondLst>
                                  <p:childTnLst>
                                    <p:set>
                                      <p:cBhvr>
                                        <p:cTn id="21" dur="1" fill="hold">
                                          <p:stCondLst>
                                            <p:cond delay="0"/>
                                          </p:stCondLst>
                                        </p:cTn>
                                        <p:tgtEl>
                                          <p:spTgt spid="27"/>
                                        </p:tgtEl>
                                        <p:attrNameLst>
                                          <p:attrName>style.visibility</p:attrName>
                                        </p:attrNameLst>
                                      </p:cBhvr>
                                      <p:to>
                                        <p:strVal val="visible"/>
                                      </p:to>
                                    </p:set>
                                    <p:anim calcmode="lin" valueType="num">
                                      <p:cBhvr>
                                        <p:cTn id="22" dur="500" fill="hold"/>
                                        <p:tgtEl>
                                          <p:spTgt spid="27"/>
                                        </p:tgtEl>
                                        <p:attrNameLst>
                                          <p:attrName>ppt_w</p:attrName>
                                        </p:attrNameLst>
                                      </p:cBhvr>
                                      <p:tavLst>
                                        <p:tav tm="0">
                                          <p:val>
                                            <p:fltVal val="0"/>
                                          </p:val>
                                        </p:tav>
                                        <p:tav tm="100000">
                                          <p:val>
                                            <p:strVal val="#ppt_w"/>
                                          </p:val>
                                        </p:tav>
                                      </p:tavLst>
                                    </p:anim>
                                    <p:anim calcmode="lin" valueType="num">
                                      <p:cBhvr>
                                        <p:cTn id="23" dur="500" fill="hold"/>
                                        <p:tgtEl>
                                          <p:spTgt spid="27"/>
                                        </p:tgtEl>
                                        <p:attrNameLst>
                                          <p:attrName>ppt_h</p:attrName>
                                        </p:attrNameLst>
                                      </p:cBhvr>
                                      <p:tavLst>
                                        <p:tav tm="0">
                                          <p:val>
                                            <p:fltVal val="0"/>
                                          </p:val>
                                        </p:tav>
                                        <p:tav tm="100000">
                                          <p:val>
                                            <p:strVal val="#ppt_h"/>
                                          </p:val>
                                        </p:tav>
                                      </p:tavLst>
                                    </p:anim>
                                    <p:animEffect transition="in" filter="fade">
                                      <p:cBhvr>
                                        <p:cTn id="24" dur="500"/>
                                        <p:tgtEl>
                                          <p:spTgt spid="27"/>
                                        </p:tgtEl>
                                      </p:cBhvr>
                                    </p:animEffect>
                                  </p:childTnLst>
                                </p:cTn>
                              </p:par>
                              <p:par>
                                <p:cTn id="25" presetID="35" presetClass="path" presetSubtype="0" accel="50000" decel="50000" fill="hold" grpId="1" nodeType="withEffect">
                                  <p:stCondLst>
                                    <p:cond delay="0"/>
                                  </p:stCondLst>
                                  <p:childTnLst>
                                    <p:animMotion origin="layout" path="M -4.375E-6 -3.7037E-6 L -0.30273 -3.7037E-6 " pathEditMode="relative" rAng="0" ptsTypes="AA">
                                      <p:cBhvr>
                                        <p:cTn id="26" dur="1000" spd="-100000" fill="hold"/>
                                        <p:tgtEl>
                                          <p:spTgt spid="27"/>
                                        </p:tgtEl>
                                        <p:attrNameLst>
                                          <p:attrName>ppt_x</p:attrName>
                                          <p:attrName>ppt_y</p:attrName>
                                        </p:attrNameLst>
                                      </p:cBhvr>
                                      <p:rCtr x="-1514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7" grpId="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图片 24"/>
          <p:cNvPicPr>
            <a:picLocks noChangeAspect="1"/>
          </p:cNvPicPr>
          <p:nvPr/>
        </p:nvPicPr>
        <p:blipFill>
          <a:blip r:embed="rId3" cstate="screen"/>
          <a:stretch>
            <a:fillRect/>
          </a:stretch>
        </p:blipFill>
        <p:spPr>
          <a:xfrm>
            <a:off x="8088923" y="246423"/>
            <a:ext cx="4103077" cy="675011"/>
          </a:xfrm>
          <a:prstGeom prst="rect">
            <a:avLst/>
          </a:prstGeom>
        </p:spPr>
      </p:pic>
      <p:cxnSp>
        <p:nvCxnSpPr>
          <p:cNvPr id="26" name="直接连接符 25"/>
          <p:cNvCxnSpPr/>
          <p:nvPr/>
        </p:nvCxnSpPr>
        <p:spPr>
          <a:xfrm>
            <a:off x="0" y="921434"/>
            <a:ext cx="121920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7" name="矩形 26"/>
          <p:cNvSpPr/>
          <p:nvPr/>
        </p:nvSpPr>
        <p:spPr>
          <a:xfrm>
            <a:off x="1060287" y="353095"/>
            <a:ext cx="5262188" cy="461665"/>
          </a:xfrm>
          <a:prstGeom prst="rect">
            <a:avLst/>
          </a:prstGeom>
        </p:spPr>
        <p:txBody>
          <a:bodyPr wrap="square">
            <a:spAutoFit/>
          </a:bodyPr>
          <a:lstStyle/>
          <a:p>
            <a:r>
              <a:rPr lang="zh-CN" altLang="en-US" sz="2400" b="1" dirty="0">
                <a:solidFill>
                  <a:schemeClr val="accent1"/>
                </a:solidFill>
                <a:latin typeface="字体视界-NEW魏碑体" panose="02010601030101010101" pitchFamily="2" charset="-122"/>
                <a:ea typeface="字体视界-NEW魏碑体" panose="02010601030101010101" pitchFamily="2" charset="-122"/>
                <a:cs typeface="+mn-ea"/>
                <a:sym typeface="+mn-lt"/>
              </a:rPr>
              <a:t>第一部分：</a:t>
            </a:r>
            <a:r>
              <a:rPr lang="zh-CN" altLang="en-US" sz="2400" b="1" dirty="0">
                <a:solidFill>
                  <a:srgbClr val="C00000"/>
                </a:solidFill>
                <a:latin typeface="字体视界-NEW魏碑体" panose="02010601030101010101" pitchFamily="2" charset="-122"/>
                <a:ea typeface="字体视界-NEW魏碑体" panose="02010601030101010101" pitchFamily="2" charset="-122"/>
              </a:rPr>
              <a:t>周恩来总理的简要生平</a:t>
            </a:r>
          </a:p>
        </p:txBody>
      </p:sp>
      <p:sp>
        <p:nvSpPr>
          <p:cNvPr id="3" name="文本框 2"/>
          <p:cNvSpPr txBox="1"/>
          <p:nvPr/>
        </p:nvSpPr>
        <p:spPr>
          <a:xfrm>
            <a:off x="387645" y="1134781"/>
            <a:ext cx="11628248" cy="8032968"/>
          </a:xfrm>
          <a:prstGeom prst="rect">
            <a:avLst/>
          </a:prstGeom>
          <a:noFill/>
        </p:spPr>
        <p:txBody>
          <a:bodyPr wrap="square">
            <a:spAutoFit/>
          </a:bodyPr>
          <a:lstStyle/>
          <a:p>
            <a:pPr>
              <a:defRPr/>
            </a:pPr>
            <a:r>
              <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cs typeface="+mn-cs"/>
              </a:rPr>
              <a:t>4.</a:t>
            </a: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cs typeface="+mn-cs"/>
              </a:rPr>
              <a:t>重获信任（</a:t>
            </a:r>
            <a:r>
              <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cs typeface="+mn-cs"/>
              </a:rPr>
              <a:t>1928-1930</a:t>
            </a: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cs typeface="+mn-cs"/>
              </a:rPr>
              <a:t>）</a:t>
            </a:r>
            <a:endPar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cs typeface="+mn-cs"/>
            </a:endParaRPr>
          </a:p>
          <a:p>
            <a:r>
              <a:rPr lang="zh-CN" altLang="en-US" b="1" dirty="0">
                <a:effectLst/>
              </a:rPr>
              <a:t>       </a:t>
            </a:r>
            <a:r>
              <a:rPr lang="zh-CN" altLang="en-US" b="1" dirty="0">
                <a:solidFill>
                  <a:schemeClr val="tx1">
                    <a:lumMod val="65000"/>
                    <a:lumOff val="35000"/>
                  </a:schemeClr>
                </a:solidFill>
                <a:effectLst/>
              </a:rPr>
              <a:t>莫斯科的热烈欢迎使周心旷神怡。有位同志回忆说：“斯大林对他极为欣赏，赞扬了他在解决军事问题和情报工作方面不断取得的成绩，高度评价了他的能力和政治眼光。”他同负责中国事务的新的克里姆林宫负责人帕费尔</a:t>
            </a:r>
            <a:r>
              <a:rPr lang="en-US" altLang="zh-CN" b="1" dirty="0">
                <a:solidFill>
                  <a:schemeClr val="tx1">
                    <a:lumMod val="65000"/>
                    <a:lumOff val="35000"/>
                  </a:schemeClr>
                </a:solidFill>
                <a:effectLst/>
              </a:rPr>
              <a:t>·</a:t>
            </a:r>
            <a:r>
              <a:rPr lang="zh-CN" altLang="en-US" b="1" dirty="0">
                <a:solidFill>
                  <a:schemeClr val="tx1">
                    <a:lumMod val="65000"/>
                    <a:lumOff val="35000"/>
                  </a:schemeClr>
                </a:solidFill>
                <a:effectLst/>
              </a:rPr>
              <a:t>米夫也相处得很融洽。</a:t>
            </a:r>
          </a:p>
          <a:p>
            <a:r>
              <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cs typeface="+mn-cs"/>
              </a:rPr>
              <a:t>5.</a:t>
            </a: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cs typeface="+mn-cs"/>
              </a:rPr>
              <a:t>技高一筹（</a:t>
            </a:r>
            <a:r>
              <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cs typeface="+mn-cs"/>
              </a:rPr>
              <a:t>1931-1934</a:t>
            </a: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cs typeface="+mn-cs"/>
              </a:rPr>
              <a:t>）</a:t>
            </a:r>
            <a:endPar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cs typeface="+mn-cs"/>
            </a:endParaRPr>
          </a:p>
          <a:p>
            <a:pPr algn="l" fontAlgn="base"/>
            <a:r>
              <a:rPr lang="zh-CN" altLang="en-US" b="1" i="0" dirty="0">
                <a:solidFill>
                  <a:srgbClr val="585858"/>
                </a:solidFill>
                <a:effectLst/>
                <a:latin typeface="微软雅黑" panose="020B0503020204020204" pitchFamily="34" charset="-122"/>
                <a:ea typeface="微软雅黑" panose="020B0503020204020204" pitchFamily="34" charset="-122"/>
              </a:rPr>
              <a:t>       南昌起义失败后，周恩来转移到香港。他后来又返回上海，担任中央政治局常务委员，后任中央组织部长，开始从事长达</a:t>
            </a:r>
            <a:r>
              <a:rPr lang="en-US" altLang="zh-CN" b="1" i="0" dirty="0">
                <a:solidFill>
                  <a:srgbClr val="585858"/>
                </a:solidFill>
                <a:effectLst/>
                <a:latin typeface="微软雅黑" panose="020B0503020204020204" pitchFamily="34" charset="-122"/>
                <a:ea typeface="微软雅黑" panose="020B0503020204020204" pitchFamily="34" charset="-122"/>
              </a:rPr>
              <a:t>4</a:t>
            </a:r>
            <a:r>
              <a:rPr lang="zh-CN" altLang="en-US" b="1" i="0" dirty="0">
                <a:solidFill>
                  <a:srgbClr val="585858"/>
                </a:solidFill>
                <a:effectLst/>
                <a:latin typeface="微软雅黑" panose="020B0503020204020204" pitchFamily="34" charset="-122"/>
                <a:ea typeface="微软雅黑" panose="020B0503020204020204" pitchFamily="34" charset="-122"/>
              </a:rPr>
              <a:t>年的地下工作。在上海，他因战果显赫而荣获“伍豪之剑”</a:t>
            </a:r>
            <a:r>
              <a:rPr lang="en-US" altLang="zh-CN" b="1" i="0" dirty="0">
                <a:solidFill>
                  <a:srgbClr val="585858"/>
                </a:solidFill>
                <a:effectLst/>
                <a:latin typeface="微软雅黑" panose="020B0503020204020204" pitchFamily="34" charset="-122"/>
                <a:ea typeface="微软雅黑" panose="020B0503020204020204" pitchFamily="34" charset="-122"/>
              </a:rPr>
              <a:t>(</a:t>
            </a:r>
            <a:r>
              <a:rPr lang="zh-CN" altLang="en-US" b="1" i="0" dirty="0">
                <a:solidFill>
                  <a:srgbClr val="585858"/>
                </a:solidFill>
                <a:effectLst/>
                <a:latin typeface="微软雅黑" panose="020B0503020204020204" pitchFamily="34" charset="-122"/>
                <a:ea typeface="微软雅黑" panose="020B0503020204020204" pitchFamily="34" charset="-122"/>
              </a:rPr>
              <a:t>周恩来曾化名伍豪）的美誉。</a:t>
            </a:r>
          </a:p>
          <a:p>
            <a:pPr algn="l" fontAlgn="base"/>
            <a:r>
              <a:rPr lang="zh-CN" altLang="en-US" b="1" i="0" dirty="0">
                <a:solidFill>
                  <a:srgbClr val="585858"/>
                </a:solidFill>
                <a:effectLst/>
                <a:latin typeface="微软雅黑" panose="020B0503020204020204" pitchFamily="34" charset="-122"/>
                <a:ea typeface="微软雅黑" panose="020B0503020204020204" pitchFamily="34" charset="-122"/>
              </a:rPr>
              <a:t>　　</a:t>
            </a:r>
            <a:r>
              <a:rPr lang="en-US" altLang="zh-CN" b="1" i="0" dirty="0">
                <a:solidFill>
                  <a:srgbClr val="585858"/>
                </a:solidFill>
                <a:effectLst/>
                <a:latin typeface="微软雅黑" panose="020B0503020204020204" pitchFamily="34" charset="-122"/>
                <a:ea typeface="微软雅黑" panose="020B0503020204020204" pitchFamily="34" charset="-122"/>
              </a:rPr>
              <a:t>1931</a:t>
            </a:r>
            <a:r>
              <a:rPr lang="zh-CN" altLang="en-US" b="1" i="0" dirty="0">
                <a:solidFill>
                  <a:srgbClr val="585858"/>
                </a:solidFill>
                <a:effectLst/>
                <a:latin typeface="微软雅黑" panose="020B0503020204020204" pitchFamily="34" charset="-122"/>
                <a:ea typeface="微软雅黑" panose="020B0503020204020204" pitchFamily="34" charset="-122"/>
              </a:rPr>
              <a:t>年，</a:t>
            </a:r>
            <a:r>
              <a:rPr lang="en-US" altLang="zh-CN" b="1" i="0" dirty="0">
                <a:solidFill>
                  <a:srgbClr val="585858"/>
                </a:solidFill>
                <a:effectLst/>
                <a:latin typeface="微软雅黑" panose="020B0503020204020204" pitchFamily="34" charset="-122"/>
                <a:ea typeface="微软雅黑" panose="020B0503020204020204" pitchFamily="34" charset="-122"/>
              </a:rPr>
              <a:t>33</a:t>
            </a:r>
            <a:r>
              <a:rPr lang="zh-CN" altLang="en-US" b="1" i="0" dirty="0">
                <a:solidFill>
                  <a:srgbClr val="585858"/>
                </a:solidFill>
                <a:effectLst/>
                <a:latin typeface="微软雅黑" panose="020B0503020204020204" pitchFamily="34" charset="-122"/>
                <a:ea typeface="微软雅黑" panose="020B0503020204020204" pitchFamily="34" charset="-122"/>
              </a:rPr>
              <a:t>岁的周恩来进入江西中央苏区，任中共苏区中央局书记。</a:t>
            </a:r>
            <a:endParaRPr lang="en-US" altLang="zh-CN" b="1" i="0" dirty="0">
              <a:solidFill>
                <a:srgbClr val="585858"/>
              </a:solidFill>
              <a:effectLst/>
              <a:latin typeface="微软雅黑" panose="020B0503020204020204" pitchFamily="34" charset="-122"/>
              <a:ea typeface="微软雅黑" panose="020B0503020204020204" pitchFamily="34" charset="-122"/>
            </a:endParaRPr>
          </a:p>
          <a:p>
            <a:pPr fontAlgn="base"/>
            <a:r>
              <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cs typeface="+mn-cs"/>
              </a:rPr>
              <a:t>6.</a:t>
            </a: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cs typeface="+mn-cs"/>
              </a:rPr>
              <a:t>长征路上（</a:t>
            </a:r>
            <a:r>
              <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cs typeface="+mn-cs"/>
              </a:rPr>
              <a:t>1934-1936</a:t>
            </a: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cs typeface="+mn-cs"/>
              </a:rPr>
              <a:t>）</a:t>
            </a:r>
            <a:endParaRPr lang="zh-CN" altLang="en-US" b="1" i="0" dirty="0">
              <a:solidFill>
                <a:srgbClr val="585858"/>
              </a:solidFill>
              <a:effectLst/>
              <a:latin typeface="微软雅黑" panose="020B0503020204020204" pitchFamily="34" charset="-122"/>
              <a:ea typeface="微软雅黑" panose="020B0503020204020204" pitchFamily="34" charset="-122"/>
            </a:endParaRPr>
          </a:p>
          <a:p>
            <a:pPr algn="l" fontAlgn="base"/>
            <a:r>
              <a:rPr lang="zh-CN" altLang="en-US" b="1" i="0" dirty="0">
                <a:solidFill>
                  <a:srgbClr val="585858"/>
                </a:solidFill>
                <a:effectLst/>
                <a:latin typeface="微软雅黑" panose="020B0503020204020204" pitchFamily="34" charset="-122"/>
                <a:ea typeface="微软雅黑" panose="020B0503020204020204" pitchFamily="34" charset="-122"/>
              </a:rPr>
              <a:t>　　</a:t>
            </a:r>
            <a:r>
              <a:rPr lang="en-US" altLang="zh-CN" b="1" i="0" dirty="0">
                <a:solidFill>
                  <a:srgbClr val="585858"/>
                </a:solidFill>
                <a:effectLst/>
                <a:latin typeface="微软雅黑" panose="020B0503020204020204" pitchFamily="34" charset="-122"/>
                <a:ea typeface="微软雅黑" panose="020B0503020204020204" pitchFamily="34" charset="-122"/>
              </a:rPr>
              <a:t>1935</a:t>
            </a:r>
            <a:r>
              <a:rPr lang="zh-CN" altLang="en-US" b="1" i="0" dirty="0">
                <a:solidFill>
                  <a:srgbClr val="585858"/>
                </a:solidFill>
                <a:effectLst/>
                <a:latin typeface="微软雅黑" panose="020B0503020204020204" pitchFamily="34" charset="-122"/>
                <a:ea typeface="微软雅黑" panose="020B0503020204020204" pitchFamily="34" charset="-122"/>
              </a:rPr>
              <a:t>年</a:t>
            </a:r>
            <a:r>
              <a:rPr lang="en-US" altLang="zh-CN" b="1" i="0" dirty="0">
                <a:solidFill>
                  <a:srgbClr val="585858"/>
                </a:solidFill>
                <a:effectLst/>
                <a:latin typeface="微软雅黑" panose="020B0503020204020204" pitchFamily="34" charset="-122"/>
                <a:ea typeface="微软雅黑" panose="020B0503020204020204" pitchFamily="34" charset="-122"/>
              </a:rPr>
              <a:t>1</a:t>
            </a:r>
            <a:r>
              <a:rPr lang="zh-CN" altLang="en-US" b="1" i="0" dirty="0">
                <a:solidFill>
                  <a:srgbClr val="585858"/>
                </a:solidFill>
                <a:effectLst/>
                <a:latin typeface="微软雅黑" panose="020B0503020204020204" pitchFamily="34" charset="-122"/>
                <a:ea typeface="微软雅黑" panose="020B0503020204020204" pitchFamily="34" charset="-122"/>
              </a:rPr>
              <a:t>月在遵义会议上，周恩来坚决支持毛泽东的正确路线，为确立毛泽东在全党的领导地位起到十分重要的作用。</a:t>
            </a:r>
          </a:p>
          <a:p>
            <a:pPr algn="l" fontAlgn="base"/>
            <a:r>
              <a:rPr lang="zh-CN" altLang="en-US" b="1" i="0" dirty="0">
                <a:solidFill>
                  <a:srgbClr val="585858"/>
                </a:solidFill>
                <a:effectLst/>
                <a:latin typeface="微软雅黑" panose="020B0503020204020204" pitchFamily="34" charset="-122"/>
                <a:ea typeface="微软雅黑" panose="020B0503020204020204" pitchFamily="34" charset="-122"/>
              </a:rPr>
              <a:t>　　</a:t>
            </a:r>
            <a:r>
              <a:rPr lang="en-US" altLang="zh-CN" b="1" i="0" dirty="0">
                <a:solidFill>
                  <a:srgbClr val="585858"/>
                </a:solidFill>
                <a:effectLst/>
                <a:latin typeface="微软雅黑" panose="020B0503020204020204" pitchFamily="34" charset="-122"/>
                <a:ea typeface="微软雅黑" panose="020B0503020204020204" pitchFamily="34" charset="-122"/>
              </a:rPr>
              <a:t>1936</a:t>
            </a:r>
            <a:r>
              <a:rPr lang="zh-CN" altLang="en-US" b="1" i="0" dirty="0">
                <a:solidFill>
                  <a:srgbClr val="585858"/>
                </a:solidFill>
                <a:effectLst/>
                <a:latin typeface="微软雅黑" panose="020B0503020204020204" pitchFamily="34" charset="-122"/>
                <a:ea typeface="微软雅黑" panose="020B0503020204020204" pitchFamily="34" charset="-122"/>
              </a:rPr>
              <a:t>年</a:t>
            </a:r>
            <a:r>
              <a:rPr lang="en-US" altLang="zh-CN" b="1" i="0" dirty="0">
                <a:solidFill>
                  <a:srgbClr val="585858"/>
                </a:solidFill>
                <a:effectLst/>
                <a:latin typeface="微软雅黑" panose="020B0503020204020204" pitchFamily="34" charset="-122"/>
                <a:ea typeface="微软雅黑" panose="020B0503020204020204" pitchFamily="34" charset="-122"/>
              </a:rPr>
              <a:t>12</a:t>
            </a:r>
            <a:r>
              <a:rPr lang="zh-CN" altLang="en-US" b="1" i="0" dirty="0">
                <a:solidFill>
                  <a:srgbClr val="585858"/>
                </a:solidFill>
                <a:effectLst/>
                <a:latin typeface="微软雅黑" panose="020B0503020204020204" pitchFamily="34" charset="-122"/>
                <a:ea typeface="微软雅黑" panose="020B0503020204020204" pitchFamily="34" charset="-122"/>
              </a:rPr>
              <a:t>月，周恩来任中共全权代表去西安同被逮捕的蒋介石进行谈判，和平解决了西安事变。此前，周恩来曾在延安与张学良进行秘密会谈。</a:t>
            </a:r>
            <a:endParaRPr lang="en-US" altLang="zh-CN" b="1" i="0" dirty="0">
              <a:solidFill>
                <a:srgbClr val="585858"/>
              </a:solidFill>
              <a:effectLst/>
              <a:latin typeface="微软雅黑" panose="020B0503020204020204" pitchFamily="34" charset="-122"/>
              <a:ea typeface="微软雅黑" panose="020B0503020204020204" pitchFamily="34" charset="-122"/>
            </a:endParaRPr>
          </a:p>
          <a:p>
            <a:pPr fontAlgn="base"/>
            <a:r>
              <a:rPr lang="en-US" altLang="zh-CN" sz="2400" b="1" dirty="0">
                <a:solidFill>
                  <a:prstClr val="black"/>
                </a:solidFill>
                <a:latin typeface="微软雅黑" panose="020B0503020204020204" pitchFamily="34" charset="-122"/>
              </a:rPr>
              <a:t>7</a:t>
            </a:r>
            <a:r>
              <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cs typeface="+mn-cs"/>
              </a:rPr>
              <a:t>.</a:t>
            </a: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cs typeface="+mn-cs"/>
              </a:rPr>
              <a:t>获得胜利（</a:t>
            </a:r>
            <a:r>
              <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cs typeface="+mn-cs"/>
              </a:rPr>
              <a:t>1936-1949</a:t>
            </a: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cs typeface="+mn-cs"/>
              </a:rPr>
              <a:t>）</a:t>
            </a:r>
          </a:p>
          <a:p>
            <a:pPr algn="l" fontAlgn="base"/>
            <a:r>
              <a:rPr lang="zh-CN" altLang="en-US" b="0" i="0" dirty="0">
                <a:solidFill>
                  <a:srgbClr val="585858"/>
                </a:solidFill>
                <a:effectLst/>
                <a:latin typeface="微软雅黑" panose="020B0503020204020204" pitchFamily="34" charset="-122"/>
                <a:ea typeface="微软雅黑" panose="020B0503020204020204" pitchFamily="34" charset="-122"/>
              </a:rPr>
              <a:t>       </a:t>
            </a:r>
            <a:r>
              <a:rPr lang="zh-CN" altLang="en-US" b="1" i="0" dirty="0">
                <a:solidFill>
                  <a:srgbClr val="585858"/>
                </a:solidFill>
                <a:effectLst/>
                <a:latin typeface="微软雅黑" panose="020B0503020204020204" pitchFamily="34" charset="-122"/>
                <a:ea typeface="微软雅黑" panose="020B0503020204020204" pitchFamily="34" charset="-122"/>
              </a:rPr>
              <a:t>在八年抗战和抗战胜利后的一段时期内，周恩来长期在驻国民党政府所在地武汉、重庆进行党的工作和统一战线工作。这一时期，周恩来是中国共产党连接外部世界的桥梁，也是国内外各界人士了解共产党的人格化象征。</a:t>
            </a:r>
          </a:p>
          <a:p>
            <a:pPr algn="l" fontAlgn="base"/>
            <a:r>
              <a:rPr lang="zh-CN" altLang="en-US" b="1" i="0" dirty="0">
                <a:solidFill>
                  <a:srgbClr val="585858"/>
                </a:solidFill>
                <a:effectLst/>
                <a:latin typeface="微软雅黑" panose="020B0503020204020204" pitchFamily="34" charset="-122"/>
                <a:ea typeface="微软雅黑" panose="020B0503020204020204" pitchFamily="34" charset="-122"/>
              </a:rPr>
              <a:t>　　</a:t>
            </a:r>
            <a:r>
              <a:rPr lang="en-US" altLang="zh-CN" b="1" i="0" dirty="0">
                <a:solidFill>
                  <a:srgbClr val="585858"/>
                </a:solidFill>
                <a:effectLst/>
                <a:latin typeface="微软雅黑" panose="020B0503020204020204" pitchFamily="34" charset="-122"/>
                <a:ea typeface="微软雅黑" panose="020B0503020204020204" pitchFamily="34" charset="-122"/>
              </a:rPr>
              <a:t>1945</a:t>
            </a:r>
            <a:r>
              <a:rPr lang="zh-CN" altLang="en-US" b="1" i="0" dirty="0">
                <a:solidFill>
                  <a:srgbClr val="585858"/>
                </a:solidFill>
                <a:effectLst/>
                <a:latin typeface="微软雅黑" panose="020B0503020204020204" pitchFamily="34" charset="-122"/>
                <a:ea typeface="微软雅黑" panose="020B0503020204020204" pitchFamily="34" charset="-122"/>
              </a:rPr>
              <a:t>年抗日战争胜利后，周恩来和毛泽东前往重庆，同国民党进行谈判斗争。</a:t>
            </a:r>
            <a:r>
              <a:rPr lang="en-US" altLang="zh-CN" b="1" i="0" dirty="0">
                <a:solidFill>
                  <a:srgbClr val="585858"/>
                </a:solidFill>
                <a:effectLst/>
                <a:latin typeface="微软雅黑" panose="020B0503020204020204" pitchFamily="34" charset="-122"/>
                <a:ea typeface="微软雅黑" panose="020B0503020204020204" pitchFamily="34" charset="-122"/>
              </a:rPr>
              <a:t>《</a:t>
            </a:r>
            <a:r>
              <a:rPr lang="zh-CN" altLang="en-US" b="1" i="0" dirty="0">
                <a:solidFill>
                  <a:srgbClr val="585858"/>
                </a:solidFill>
                <a:effectLst/>
                <a:latin typeface="微软雅黑" panose="020B0503020204020204" pitchFamily="34" charset="-122"/>
                <a:ea typeface="微软雅黑" panose="020B0503020204020204" pitchFamily="34" charset="-122"/>
              </a:rPr>
              <a:t>双十协定</a:t>
            </a:r>
            <a:r>
              <a:rPr lang="en-US" altLang="zh-CN" b="1" i="0" dirty="0">
                <a:solidFill>
                  <a:srgbClr val="585858"/>
                </a:solidFill>
                <a:effectLst/>
                <a:latin typeface="微软雅黑" panose="020B0503020204020204" pitchFamily="34" charset="-122"/>
                <a:ea typeface="微软雅黑" panose="020B0503020204020204" pitchFamily="34" charset="-122"/>
              </a:rPr>
              <a:t>》</a:t>
            </a:r>
            <a:r>
              <a:rPr lang="zh-CN" altLang="en-US" b="1" i="0" dirty="0">
                <a:solidFill>
                  <a:srgbClr val="585858"/>
                </a:solidFill>
                <a:effectLst/>
                <a:latin typeface="微软雅黑" panose="020B0503020204020204" pitchFamily="34" charset="-122"/>
                <a:ea typeface="微软雅黑" panose="020B0503020204020204" pitchFamily="34" charset="-122"/>
              </a:rPr>
              <a:t>签订后，周恩来率中共代表团留在重庆和南京。</a:t>
            </a:r>
            <a:endParaRPr lang="en-US" altLang="zh-CN" b="1" i="0" dirty="0">
              <a:solidFill>
                <a:srgbClr val="585858"/>
              </a:solidFill>
              <a:effectLst/>
              <a:latin typeface="微软雅黑" panose="020B0503020204020204" pitchFamily="34" charset="-122"/>
              <a:ea typeface="微软雅黑" panose="020B0503020204020204" pitchFamily="34" charset="-122"/>
            </a:endParaRPr>
          </a:p>
          <a:p>
            <a:pPr algn="l" fontAlgn="base"/>
            <a:r>
              <a:rPr lang="en-US" altLang="zh-CN" b="1" dirty="0">
                <a:solidFill>
                  <a:srgbClr val="585858"/>
                </a:solidFill>
                <a:latin typeface="微软雅黑" panose="020B0503020204020204" pitchFamily="34" charset="-122"/>
                <a:ea typeface="微软雅黑" panose="020B0503020204020204" pitchFamily="34" charset="-122"/>
              </a:rPr>
              <a:t>       1949</a:t>
            </a:r>
            <a:r>
              <a:rPr lang="zh-CN" altLang="en-US" b="1" dirty="0">
                <a:solidFill>
                  <a:srgbClr val="585858"/>
                </a:solidFill>
                <a:latin typeface="微软雅黑" panose="020B0503020204020204" pitchFamily="34" charset="-122"/>
                <a:ea typeface="微软雅黑" panose="020B0503020204020204" pitchFamily="34" charset="-122"/>
              </a:rPr>
              <a:t>年，新中国成立。</a:t>
            </a:r>
            <a:endParaRPr lang="zh-CN" altLang="en-US" b="1" i="0" dirty="0">
              <a:solidFill>
                <a:srgbClr val="585858"/>
              </a:solidFill>
              <a:effectLst/>
              <a:latin typeface="微软雅黑" panose="020B0503020204020204" pitchFamily="34" charset="-122"/>
              <a:ea typeface="微软雅黑" panose="020B0503020204020204" pitchFamily="34" charset="-122"/>
            </a:endParaRPr>
          </a:p>
          <a:p>
            <a:pPr algn="l" fontAlgn="base"/>
            <a:endParaRPr lang="zh-CN" altLang="en-US" b="1" i="0" dirty="0">
              <a:solidFill>
                <a:srgbClr val="585858"/>
              </a:solidFill>
              <a:effectLst/>
              <a:latin typeface="微软雅黑" panose="020B0503020204020204" pitchFamily="34" charset="-122"/>
              <a:ea typeface="微软雅黑" panose="020B0503020204020204" pitchFamily="34" charset="-122"/>
            </a:endParaRPr>
          </a:p>
          <a:p>
            <a:pPr fontAlgn="base"/>
            <a:endPar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cs typeface="+mn-cs"/>
            </a:endParaRPr>
          </a:p>
          <a:p>
            <a:pPr fontAlgn="base"/>
            <a:endPar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cs typeface="+mn-cs"/>
            </a:endParaRPr>
          </a:p>
          <a:p>
            <a:pPr algn="l" fontAlgn="base"/>
            <a:endParaRPr lang="zh-CN" altLang="en-US" b="1" i="0" dirty="0">
              <a:solidFill>
                <a:srgbClr val="585858"/>
              </a:solidFill>
              <a:effectLst/>
              <a:latin typeface="微软雅黑" panose="020B0503020204020204" pitchFamily="34" charset="-122"/>
              <a:ea typeface="微软雅黑" panose="020B0503020204020204" pitchFamily="34" charset="-122"/>
            </a:endParaRPr>
          </a:p>
          <a:p>
            <a:pPr algn="l" fontAlgn="base"/>
            <a:r>
              <a:rPr lang="zh-CN" altLang="en-US" sz="2400" b="0" i="0" dirty="0">
                <a:solidFill>
                  <a:srgbClr val="585858"/>
                </a:solidFill>
                <a:effectLst/>
                <a:latin typeface="微软雅黑" panose="020B0503020204020204" pitchFamily="34" charset="-122"/>
                <a:ea typeface="微软雅黑" panose="020B0503020204020204" pitchFamily="34" charset="-122"/>
              </a:rPr>
              <a:t>　　</a:t>
            </a:r>
            <a:br>
              <a:rPr lang="zh-CN" altLang="en-US" sz="2400" dirty="0">
                <a:effectLst/>
              </a:rPr>
            </a:br>
            <a:endPar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cs typeface="+mn-cs"/>
            </a:endParaRPr>
          </a:p>
          <a:p>
            <a:pPr marL="0" marR="0" lvl="0" indent="0" defTabSz="914400" rtl="0" eaLnBrk="1" fontAlgn="auto" latinLnBrk="0" hangingPunct="1">
              <a:lnSpc>
                <a:spcPct val="100000"/>
              </a:lnSpc>
              <a:spcBef>
                <a:spcPts val="0"/>
              </a:spcBef>
              <a:spcAft>
                <a:spcPts val="0"/>
              </a:spcAft>
              <a:buClrTx/>
              <a:buSzTx/>
              <a:buFontTx/>
              <a:buNone/>
              <a:defRPr/>
            </a:pPr>
            <a:endParaRPr kumimoji="0" lang="en-US" altLang="zh-CN" b="1" i="0" u="none" strike="noStrike" kern="1200" cap="none" spc="0" normalizeH="0" baseline="0" noProof="0" dirty="0">
              <a:ln>
                <a:noFill/>
              </a:ln>
              <a:solidFill>
                <a:schemeClr val="tx1">
                  <a:lumMod val="65000"/>
                  <a:lumOff val="35000"/>
                </a:schemeClr>
              </a:solidFill>
              <a:effectLst/>
              <a:uLnTx/>
              <a:uFillTx/>
              <a:latin typeface="微软雅黑" panose="020B0503020204020204" pitchFamily="34" charset="-122"/>
              <a:cs typeface="+mn-cs"/>
            </a:endParaRPr>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p:cTn id="7" dur="500" fill="hold"/>
                                        <p:tgtEl>
                                          <p:spTgt spid="25"/>
                                        </p:tgtEl>
                                        <p:attrNameLst>
                                          <p:attrName>ppt_w</p:attrName>
                                        </p:attrNameLst>
                                      </p:cBhvr>
                                      <p:tavLst>
                                        <p:tav tm="0">
                                          <p:val>
                                            <p:fltVal val="0"/>
                                          </p:val>
                                        </p:tav>
                                        <p:tav tm="100000">
                                          <p:val>
                                            <p:strVal val="#ppt_w"/>
                                          </p:val>
                                        </p:tav>
                                      </p:tavLst>
                                    </p:anim>
                                    <p:anim calcmode="lin" valueType="num">
                                      <p:cBhvr>
                                        <p:cTn id="8" dur="500" fill="hold"/>
                                        <p:tgtEl>
                                          <p:spTgt spid="25"/>
                                        </p:tgtEl>
                                        <p:attrNameLst>
                                          <p:attrName>ppt_h</p:attrName>
                                        </p:attrNameLst>
                                      </p:cBhvr>
                                      <p:tavLst>
                                        <p:tav tm="0">
                                          <p:val>
                                            <p:fltVal val="0"/>
                                          </p:val>
                                        </p:tav>
                                        <p:tav tm="100000">
                                          <p:val>
                                            <p:strVal val="#ppt_h"/>
                                          </p:val>
                                        </p:tav>
                                      </p:tavLst>
                                    </p:anim>
                                    <p:animEffect transition="in" filter="fade">
                                      <p:cBhvr>
                                        <p:cTn id="9" dur="500"/>
                                        <p:tgtEl>
                                          <p:spTgt spid="25"/>
                                        </p:tgtEl>
                                      </p:cBhvr>
                                    </p:animEffect>
                                  </p:childTnLst>
                                </p:cTn>
                              </p:par>
                              <p:par>
                                <p:cTn id="10" presetID="35" presetClass="path" presetSubtype="0" accel="50000" decel="50000" fill="hold" nodeType="withEffect">
                                  <p:stCondLst>
                                    <p:cond delay="0"/>
                                  </p:stCondLst>
                                  <p:childTnLst>
                                    <p:animMotion origin="layout" path="M -6.25E-7 -3.7037E-6 L 0.18997 -3.7037E-6 " pathEditMode="relative" rAng="0" ptsTypes="AA">
                                      <p:cBhvr>
                                        <p:cTn id="11" dur="1000" spd="-100000" fill="hold"/>
                                        <p:tgtEl>
                                          <p:spTgt spid="25"/>
                                        </p:tgtEl>
                                        <p:attrNameLst>
                                          <p:attrName>ppt_x</p:attrName>
                                          <p:attrName>ppt_y</p:attrName>
                                        </p:attrNameLst>
                                      </p:cBhvr>
                                      <p:rCtr x="9492" y="0"/>
                                    </p:animMotion>
                                  </p:childTnLst>
                                </p:cTn>
                              </p:par>
                              <p:par>
                                <p:cTn id="12" presetID="53" presetClass="entr" presetSubtype="16" fill="hold" nodeType="withEffect">
                                  <p:stCondLst>
                                    <p:cond delay="0"/>
                                  </p:stCondLst>
                                  <p:childTnLst>
                                    <p:set>
                                      <p:cBhvr>
                                        <p:cTn id="13" dur="1" fill="hold">
                                          <p:stCondLst>
                                            <p:cond delay="0"/>
                                          </p:stCondLst>
                                        </p:cTn>
                                        <p:tgtEl>
                                          <p:spTgt spid="26"/>
                                        </p:tgtEl>
                                        <p:attrNameLst>
                                          <p:attrName>style.visibility</p:attrName>
                                        </p:attrNameLst>
                                      </p:cBhvr>
                                      <p:to>
                                        <p:strVal val="visible"/>
                                      </p:to>
                                    </p:set>
                                    <p:anim calcmode="lin" valueType="num">
                                      <p:cBhvr>
                                        <p:cTn id="14" dur="500" fill="hold"/>
                                        <p:tgtEl>
                                          <p:spTgt spid="26"/>
                                        </p:tgtEl>
                                        <p:attrNameLst>
                                          <p:attrName>ppt_w</p:attrName>
                                        </p:attrNameLst>
                                      </p:cBhvr>
                                      <p:tavLst>
                                        <p:tav tm="0">
                                          <p:val>
                                            <p:fltVal val="0"/>
                                          </p:val>
                                        </p:tav>
                                        <p:tav tm="100000">
                                          <p:val>
                                            <p:strVal val="#ppt_w"/>
                                          </p:val>
                                        </p:tav>
                                      </p:tavLst>
                                    </p:anim>
                                    <p:anim calcmode="lin" valueType="num">
                                      <p:cBhvr>
                                        <p:cTn id="15" dur="500" fill="hold"/>
                                        <p:tgtEl>
                                          <p:spTgt spid="26"/>
                                        </p:tgtEl>
                                        <p:attrNameLst>
                                          <p:attrName>ppt_h</p:attrName>
                                        </p:attrNameLst>
                                      </p:cBhvr>
                                      <p:tavLst>
                                        <p:tav tm="0">
                                          <p:val>
                                            <p:fltVal val="0"/>
                                          </p:val>
                                        </p:tav>
                                        <p:tav tm="100000">
                                          <p:val>
                                            <p:strVal val="#ppt_h"/>
                                          </p:val>
                                        </p:tav>
                                      </p:tavLst>
                                    </p:anim>
                                    <p:animEffect transition="in" filter="fade">
                                      <p:cBhvr>
                                        <p:cTn id="16" dur="500"/>
                                        <p:tgtEl>
                                          <p:spTgt spid="26"/>
                                        </p:tgtEl>
                                      </p:cBhvr>
                                    </p:animEffect>
                                  </p:childTnLst>
                                </p:cTn>
                              </p:par>
                              <p:par>
                                <p:cTn id="17" presetID="35" presetClass="path" presetSubtype="0" accel="50000" decel="50000" fill="hold" nodeType="withEffect">
                                  <p:stCondLst>
                                    <p:cond delay="0"/>
                                  </p:stCondLst>
                                  <p:childTnLst>
                                    <p:animMotion origin="layout" path="M 0 -3.7037E-6 L -0.41185 -3.7037E-6 " pathEditMode="relative" rAng="0" ptsTypes="AA">
                                      <p:cBhvr>
                                        <p:cTn id="18" dur="1000" spd="-100000" fill="hold"/>
                                        <p:tgtEl>
                                          <p:spTgt spid="26"/>
                                        </p:tgtEl>
                                        <p:attrNameLst>
                                          <p:attrName>ppt_x</p:attrName>
                                          <p:attrName>ppt_y</p:attrName>
                                        </p:attrNameLst>
                                      </p:cBhvr>
                                      <p:rCtr x="-20599" y="0"/>
                                    </p:animMotion>
                                  </p:childTnLst>
                                </p:cTn>
                              </p:par>
                            </p:childTnLst>
                          </p:cTn>
                        </p:par>
                        <p:par>
                          <p:cTn id="19" fill="hold">
                            <p:stCondLst>
                              <p:cond delay="500"/>
                            </p:stCondLst>
                            <p:childTnLst>
                              <p:par>
                                <p:cTn id="20" presetID="53" presetClass="entr" presetSubtype="16" fill="hold" grpId="0" nodeType="afterEffect">
                                  <p:stCondLst>
                                    <p:cond delay="0"/>
                                  </p:stCondLst>
                                  <p:childTnLst>
                                    <p:set>
                                      <p:cBhvr>
                                        <p:cTn id="21" dur="1" fill="hold">
                                          <p:stCondLst>
                                            <p:cond delay="0"/>
                                          </p:stCondLst>
                                        </p:cTn>
                                        <p:tgtEl>
                                          <p:spTgt spid="27"/>
                                        </p:tgtEl>
                                        <p:attrNameLst>
                                          <p:attrName>style.visibility</p:attrName>
                                        </p:attrNameLst>
                                      </p:cBhvr>
                                      <p:to>
                                        <p:strVal val="visible"/>
                                      </p:to>
                                    </p:set>
                                    <p:anim calcmode="lin" valueType="num">
                                      <p:cBhvr>
                                        <p:cTn id="22" dur="500" fill="hold"/>
                                        <p:tgtEl>
                                          <p:spTgt spid="27"/>
                                        </p:tgtEl>
                                        <p:attrNameLst>
                                          <p:attrName>ppt_w</p:attrName>
                                        </p:attrNameLst>
                                      </p:cBhvr>
                                      <p:tavLst>
                                        <p:tav tm="0">
                                          <p:val>
                                            <p:fltVal val="0"/>
                                          </p:val>
                                        </p:tav>
                                        <p:tav tm="100000">
                                          <p:val>
                                            <p:strVal val="#ppt_w"/>
                                          </p:val>
                                        </p:tav>
                                      </p:tavLst>
                                    </p:anim>
                                    <p:anim calcmode="lin" valueType="num">
                                      <p:cBhvr>
                                        <p:cTn id="23" dur="500" fill="hold"/>
                                        <p:tgtEl>
                                          <p:spTgt spid="27"/>
                                        </p:tgtEl>
                                        <p:attrNameLst>
                                          <p:attrName>ppt_h</p:attrName>
                                        </p:attrNameLst>
                                      </p:cBhvr>
                                      <p:tavLst>
                                        <p:tav tm="0">
                                          <p:val>
                                            <p:fltVal val="0"/>
                                          </p:val>
                                        </p:tav>
                                        <p:tav tm="100000">
                                          <p:val>
                                            <p:strVal val="#ppt_h"/>
                                          </p:val>
                                        </p:tav>
                                      </p:tavLst>
                                    </p:anim>
                                    <p:animEffect transition="in" filter="fade">
                                      <p:cBhvr>
                                        <p:cTn id="24" dur="500"/>
                                        <p:tgtEl>
                                          <p:spTgt spid="27"/>
                                        </p:tgtEl>
                                      </p:cBhvr>
                                    </p:animEffect>
                                  </p:childTnLst>
                                </p:cTn>
                              </p:par>
                              <p:par>
                                <p:cTn id="25" presetID="35" presetClass="path" presetSubtype="0" accel="50000" decel="50000" fill="hold" grpId="1" nodeType="withEffect">
                                  <p:stCondLst>
                                    <p:cond delay="0"/>
                                  </p:stCondLst>
                                  <p:childTnLst>
                                    <p:animMotion origin="layout" path="M -4.375E-6 -3.7037E-6 L -0.30273 -3.7037E-6 " pathEditMode="relative" rAng="0" ptsTypes="AA">
                                      <p:cBhvr>
                                        <p:cTn id="26" dur="1000" spd="-100000" fill="hold"/>
                                        <p:tgtEl>
                                          <p:spTgt spid="27"/>
                                        </p:tgtEl>
                                        <p:attrNameLst>
                                          <p:attrName>ppt_x</p:attrName>
                                          <p:attrName>ppt_y</p:attrName>
                                        </p:attrNameLst>
                                      </p:cBhvr>
                                      <p:rCtr x="-1514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7" grpId="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图片 24"/>
          <p:cNvPicPr>
            <a:picLocks noChangeAspect="1"/>
          </p:cNvPicPr>
          <p:nvPr/>
        </p:nvPicPr>
        <p:blipFill>
          <a:blip r:embed="rId3" cstate="screen"/>
          <a:stretch>
            <a:fillRect/>
          </a:stretch>
        </p:blipFill>
        <p:spPr>
          <a:xfrm>
            <a:off x="8088923" y="246423"/>
            <a:ext cx="4103077" cy="675011"/>
          </a:xfrm>
          <a:prstGeom prst="rect">
            <a:avLst/>
          </a:prstGeom>
        </p:spPr>
      </p:pic>
      <p:cxnSp>
        <p:nvCxnSpPr>
          <p:cNvPr id="26" name="直接连接符 25"/>
          <p:cNvCxnSpPr/>
          <p:nvPr/>
        </p:nvCxnSpPr>
        <p:spPr>
          <a:xfrm>
            <a:off x="0" y="921434"/>
            <a:ext cx="121920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7" name="矩形 26"/>
          <p:cNvSpPr/>
          <p:nvPr/>
        </p:nvSpPr>
        <p:spPr>
          <a:xfrm>
            <a:off x="1060287" y="353095"/>
            <a:ext cx="5262188" cy="461665"/>
          </a:xfrm>
          <a:prstGeom prst="rect">
            <a:avLst/>
          </a:prstGeom>
        </p:spPr>
        <p:txBody>
          <a:bodyPr wrap="square">
            <a:spAutoFit/>
          </a:bodyPr>
          <a:lstStyle/>
          <a:p>
            <a:r>
              <a:rPr lang="zh-CN" altLang="en-US" sz="2400" b="1" dirty="0">
                <a:solidFill>
                  <a:schemeClr val="accent1"/>
                </a:solidFill>
                <a:latin typeface="字体视界-NEW魏碑体" panose="02010601030101010101" pitchFamily="2" charset="-122"/>
                <a:ea typeface="字体视界-NEW魏碑体" panose="02010601030101010101" pitchFamily="2" charset="-122"/>
                <a:cs typeface="+mn-ea"/>
                <a:sym typeface="+mn-lt"/>
              </a:rPr>
              <a:t>第一部分：</a:t>
            </a:r>
            <a:r>
              <a:rPr lang="zh-CN" altLang="en-US" sz="2400" b="1" dirty="0">
                <a:solidFill>
                  <a:srgbClr val="C00000"/>
                </a:solidFill>
                <a:latin typeface="字体视界-NEW魏碑体" panose="02010601030101010101" pitchFamily="2" charset="-122"/>
                <a:ea typeface="字体视界-NEW魏碑体" panose="02010601030101010101" pitchFamily="2" charset="-122"/>
              </a:rPr>
              <a:t>周恩来总理的简要生平</a:t>
            </a:r>
          </a:p>
        </p:txBody>
      </p:sp>
      <p:sp>
        <p:nvSpPr>
          <p:cNvPr id="2" name="文本框 1"/>
          <p:cNvSpPr txBox="1"/>
          <p:nvPr/>
        </p:nvSpPr>
        <p:spPr>
          <a:xfrm>
            <a:off x="589278" y="1192107"/>
            <a:ext cx="10749281" cy="5016758"/>
          </a:xfrm>
          <a:prstGeom prst="rect">
            <a:avLst/>
          </a:prstGeom>
          <a:noFill/>
        </p:spPr>
        <p:txBody>
          <a:bodyPr wrap="square" rtlCol="0">
            <a:spAutoFit/>
          </a:bodyPr>
          <a:lstStyle/>
          <a:p>
            <a:r>
              <a:rPr lang="zh-CN" altLang="en-US" sz="3200" b="1" dirty="0"/>
              <a:t>开国</a:t>
            </a:r>
            <a:endParaRPr lang="en-US" altLang="zh-CN" sz="3200" b="1" dirty="0"/>
          </a:p>
          <a:p>
            <a:r>
              <a:rPr lang="en-US" altLang="zh-CN" sz="2400" b="1" dirty="0"/>
              <a:t>1.</a:t>
            </a:r>
            <a:r>
              <a:rPr lang="zh-CN" altLang="en-US" sz="2400" b="1" dirty="0"/>
              <a:t>担任总理（</a:t>
            </a:r>
            <a:r>
              <a:rPr lang="en-US" altLang="zh-CN" sz="2400" b="1" dirty="0"/>
              <a:t>1949-1966</a:t>
            </a:r>
            <a:r>
              <a:rPr lang="zh-CN" altLang="en-US" sz="2400" b="1" dirty="0"/>
              <a:t>）</a:t>
            </a:r>
            <a:endParaRPr lang="en-US" altLang="zh-CN" sz="2400" b="1" dirty="0"/>
          </a:p>
          <a:p>
            <a:pPr algn="l" fontAlgn="base"/>
            <a:r>
              <a:rPr lang="zh-CN" altLang="en-US" b="1" dirty="0">
                <a:solidFill>
                  <a:srgbClr val="585858"/>
                </a:solidFill>
                <a:effectLst/>
                <a:latin typeface="微软雅黑" panose="020B0503020204020204" pitchFamily="34" charset="-122"/>
                <a:ea typeface="微软雅黑" panose="020B0503020204020204" pitchFamily="34" charset="-122"/>
              </a:rPr>
              <a:t>       新中国成立后，作为与党内外联系广、朋友多、人缘好、威望高的领导人，周恩来组织各党派、民主人士创建人民政协。他亲自起草的</a:t>
            </a:r>
            <a:r>
              <a:rPr lang="en-US" altLang="zh-CN" b="1" dirty="0">
                <a:solidFill>
                  <a:srgbClr val="585858"/>
                </a:solidFill>
                <a:effectLst/>
                <a:latin typeface="微软雅黑" panose="020B0503020204020204" pitchFamily="34" charset="-122"/>
                <a:ea typeface="微软雅黑" panose="020B0503020204020204" pitchFamily="34" charset="-122"/>
              </a:rPr>
              <a:t>《</a:t>
            </a:r>
            <a:r>
              <a:rPr lang="zh-CN" altLang="en-US" b="1" dirty="0">
                <a:solidFill>
                  <a:srgbClr val="585858"/>
                </a:solidFill>
                <a:effectLst/>
                <a:latin typeface="微软雅黑" panose="020B0503020204020204" pitchFamily="34" charset="-122"/>
                <a:ea typeface="微软雅黑" panose="020B0503020204020204" pitchFamily="34" charset="-122"/>
              </a:rPr>
              <a:t>共同纲领</a:t>
            </a:r>
            <a:r>
              <a:rPr lang="en-US" altLang="zh-CN" b="1" dirty="0">
                <a:solidFill>
                  <a:srgbClr val="585858"/>
                </a:solidFill>
                <a:effectLst/>
                <a:latin typeface="微软雅黑" panose="020B0503020204020204" pitchFamily="34" charset="-122"/>
                <a:ea typeface="微软雅黑" panose="020B0503020204020204" pitchFamily="34" charset="-122"/>
              </a:rPr>
              <a:t>》</a:t>
            </a:r>
            <a:r>
              <a:rPr lang="zh-CN" altLang="en-US" b="1" dirty="0">
                <a:solidFill>
                  <a:srgbClr val="585858"/>
                </a:solidFill>
                <a:effectLst/>
                <a:latin typeface="微软雅黑" panose="020B0503020204020204" pitchFamily="34" charset="-122"/>
                <a:ea typeface="微软雅黑" panose="020B0503020204020204" pitchFamily="34" charset="-122"/>
              </a:rPr>
              <a:t>规定了新中国的国家性质和人民的基本权利与义务。</a:t>
            </a:r>
          </a:p>
          <a:p>
            <a:pPr algn="l" fontAlgn="base"/>
            <a:r>
              <a:rPr lang="zh-CN" altLang="en-US" b="1" dirty="0">
                <a:solidFill>
                  <a:srgbClr val="585858"/>
                </a:solidFill>
                <a:effectLst/>
                <a:latin typeface="微软雅黑" panose="020B0503020204020204" pitchFamily="34" charset="-122"/>
                <a:ea typeface="微软雅黑" panose="020B0503020204020204" pitchFamily="34" charset="-122"/>
              </a:rPr>
              <a:t>　　他日理万机，亲自主持制订和实施的几个五年计划，使国民经济顺利地得到恢复和发展。</a:t>
            </a:r>
          </a:p>
          <a:p>
            <a:pPr algn="l" fontAlgn="base"/>
            <a:r>
              <a:rPr lang="zh-CN" altLang="en-US" b="1" dirty="0">
                <a:solidFill>
                  <a:srgbClr val="585858"/>
                </a:solidFill>
                <a:effectLst/>
                <a:latin typeface="微软雅黑" panose="020B0503020204020204" pitchFamily="34" charset="-122"/>
                <a:ea typeface="微软雅黑" panose="020B0503020204020204" pitchFamily="34" charset="-122"/>
              </a:rPr>
              <a:t>　　在外交上，他倡导了著名的和平共处五项原则。新中国正是高举和平共处五项原则的旗帜开始在国际政治舞台上发挥重大作用，而周恩来也因此成为举世闻名的卓越政治家和外交家。</a:t>
            </a:r>
          </a:p>
          <a:p>
            <a:endParaRPr lang="en-US" altLang="zh-CN" sz="2400" b="1" dirty="0"/>
          </a:p>
          <a:p>
            <a:r>
              <a:rPr lang="en-US" altLang="zh-CN" sz="2400" b="1" dirty="0"/>
              <a:t>2.</a:t>
            </a:r>
            <a:r>
              <a:rPr lang="zh-CN" altLang="en-US" sz="2400" b="1" dirty="0"/>
              <a:t>文革时期（</a:t>
            </a:r>
            <a:r>
              <a:rPr lang="en-US" altLang="zh-CN" sz="2400" b="1" dirty="0"/>
              <a:t>1966-1976</a:t>
            </a:r>
            <a:r>
              <a:rPr lang="zh-CN" altLang="en-US" sz="2400" b="1" dirty="0"/>
              <a:t>）</a:t>
            </a:r>
            <a:endParaRPr lang="en-US" altLang="zh-CN" sz="2400" b="1" dirty="0"/>
          </a:p>
          <a:p>
            <a:pPr algn="l" fontAlgn="base"/>
            <a:r>
              <a:rPr lang="zh-CN" altLang="en-US" b="1" i="0" dirty="0">
                <a:solidFill>
                  <a:srgbClr val="585858"/>
                </a:solidFill>
                <a:effectLst/>
                <a:latin typeface="微软雅黑" panose="020B0503020204020204" pitchFamily="34" charset="-122"/>
                <a:ea typeface="微软雅黑" panose="020B0503020204020204" pitchFamily="34" charset="-122"/>
              </a:rPr>
              <a:t>       文化大革命”期间，周恩来的处境非常困难。为尽量减少“文化大革命”所造成的损失，勉力维持国民经济建设，他鞠躬尽瘁，呕心沥血。</a:t>
            </a:r>
          </a:p>
          <a:p>
            <a:pPr algn="l" fontAlgn="base"/>
            <a:r>
              <a:rPr lang="zh-CN" altLang="en-US" b="1" i="0" dirty="0">
                <a:solidFill>
                  <a:srgbClr val="585858"/>
                </a:solidFill>
                <a:effectLst/>
                <a:latin typeface="微软雅黑" panose="020B0503020204020204" pitchFamily="34" charset="-122"/>
                <a:ea typeface="微软雅黑" panose="020B0503020204020204" pitchFamily="34" charset="-122"/>
              </a:rPr>
              <a:t>　　他保护了大批领导干部和民主人士，为恢复和落实党和国家的政策作出坚持不懈的努力。</a:t>
            </a:r>
          </a:p>
          <a:p>
            <a:pPr algn="l" fontAlgn="base"/>
            <a:r>
              <a:rPr lang="zh-CN" altLang="en-US" b="1" i="0" dirty="0">
                <a:solidFill>
                  <a:srgbClr val="585858"/>
                </a:solidFill>
                <a:effectLst/>
                <a:latin typeface="微软雅黑" panose="020B0503020204020204" pitchFamily="34" charset="-122"/>
                <a:ea typeface="微软雅黑" panose="020B0503020204020204" pitchFamily="34" charset="-122"/>
              </a:rPr>
              <a:t>　　</a:t>
            </a:r>
            <a:r>
              <a:rPr lang="en-US" altLang="zh-CN" b="1" i="0" dirty="0">
                <a:solidFill>
                  <a:srgbClr val="585858"/>
                </a:solidFill>
                <a:effectLst/>
                <a:latin typeface="微软雅黑" panose="020B0503020204020204" pitchFamily="34" charset="-122"/>
                <a:ea typeface="微软雅黑" panose="020B0503020204020204" pitchFamily="34" charset="-122"/>
              </a:rPr>
              <a:t>1972</a:t>
            </a:r>
            <a:r>
              <a:rPr lang="zh-CN" altLang="en-US" b="1" i="0" dirty="0">
                <a:solidFill>
                  <a:srgbClr val="585858"/>
                </a:solidFill>
                <a:effectLst/>
                <a:latin typeface="微软雅黑" panose="020B0503020204020204" pitchFamily="34" charset="-122"/>
                <a:ea typeface="微软雅黑" panose="020B0503020204020204" pitchFamily="34" charset="-122"/>
              </a:rPr>
              <a:t>年周恩来被诊断出患有膀胱癌后，仍然坚持工作。在</a:t>
            </a:r>
            <a:r>
              <a:rPr lang="en-US" altLang="zh-CN" b="1" i="0" dirty="0">
                <a:solidFill>
                  <a:srgbClr val="585858"/>
                </a:solidFill>
                <a:effectLst/>
                <a:latin typeface="微软雅黑" panose="020B0503020204020204" pitchFamily="34" charset="-122"/>
                <a:ea typeface="微软雅黑" panose="020B0503020204020204" pitchFamily="34" charset="-122"/>
              </a:rPr>
              <a:t>1975</a:t>
            </a:r>
            <a:r>
              <a:rPr lang="zh-CN" altLang="en-US" b="1" i="0" dirty="0">
                <a:solidFill>
                  <a:srgbClr val="585858"/>
                </a:solidFill>
                <a:effectLst/>
                <a:latin typeface="微软雅黑" panose="020B0503020204020204" pitchFamily="34" charset="-122"/>
                <a:ea typeface="微软雅黑" panose="020B0503020204020204" pitchFamily="34" charset="-122"/>
              </a:rPr>
              <a:t>年的第四届全国人民代表大会第一次会议上，他抱病作</a:t>
            </a:r>
            <a:r>
              <a:rPr lang="en-US" altLang="zh-CN" b="1" i="0" dirty="0">
                <a:solidFill>
                  <a:srgbClr val="585858"/>
                </a:solidFill>
                <a:effectLst/>
                <a:latin typeface="微软雅黑" panose="020B0503020204020204" pitchFamily="34" charset="-122"/>
                <a:ea typeface="微软雅黑" panose="020B0503020204020204" pitchFamily="34" charset="-122"/>
              </a:rPr>
              <a:t>《</a:t>
            </a:r>
            <a:r>
              <a:rPr lang="zh-CN" altLang="en-US" b="1" i="0" dirty="0">
                <a:solidFill>
                  <a:srgbClr val="585858"/>
                </a:solidFill>
                <a:effectLst/>
                <a:latin typeface="微软雅黑" panose="020B0503020204020204" pitchFamily="34" charset="-122"/>
                <a:ea typeface="微软雅黑" panose="020B0503020204020204" pitchFamily="34" charset="-122"/>
              </a:rPr>
              <a:t>政府工作报告</a:t>
            </a:r>
            <a:r>
              <a:rPr lang="en-US" altLang="zh-CN" b="1" i="0" dirty="0">
                <a:solidFill>
                  <a:srgbClr val="585858"/>
                </a:solidFill>
                <a:effectLst/>
                <a:latin typeface="微软雅黑" panose="020B0503020204020204" pitchFamily="34" charset="-122"/>
                <a:ea typeface="微软雅黑" panose="020B0503020204020204" pitchFamily="34" charset="-122"/>
              </a:rPr>
              <a:t>》</a:t>
            </a:r>
            <a:r>
              <a:rPr lang="zh-CN" altLang="en-US" b="1" i="0" dirty="0">
                <a:solidFill>
                  <a:srgbClr val="585858"/>
                </a:solidFill>
                <a:effectLst/>
                <a:latin typeface="微软雅黑" panose="020B0503020204020204" pitchFamily="34" charset="-122"/>
                <a:ea typeface="微软雅黑" panose="020B0503020204020204" pitchFamily="34" charset="-122"/>
              </a:rPr>
              <a:t>，代表中国共产党重新提出在中国实现工业、农业、国防和科学技术现代化的目标，鼓舞了人民战胜困难的信心。</a:t>
            </a:r>
          </a:p>
          <a:p>
            <a:pPr algn="l" fontAlgn="base"/>
            <a:r>
              <a:rPr lang="zh-CN" altLang="en-US" b="1" i="0" dirty="0">
                <a:solidFill>
                  <a:srgbClr val="585858"/>
                </a:solidFill>
                <a:effectLst/>
                <a:latin typeface="微软雅黑" panose="020B0503020204020204" pitchFamily="34" charset="-122"/>
                <a:ea typeface="微软雅黑" panose="020B0503020204020204" pitchFamily="34" charset="-122"/>
              </a:rPr>
              <a:t>　　</a:t>
            </a:r>
            <a:r>
              <a:rPr lang="en-US" altLang="zh-CN" b="1" i="0" dirty="0">
                <a:solidFill>
                  <a:srgbClr val="585858"/>
                </a:solidFill>
                <a:effectLst/>
                <a:latin typeface="微软雅黑" panose="020B0503020204020204" pitchFamily="34" charset="-122"/>
                <a:ea typeface="微软雅黑" panose="020B0503020204020204" pitchFamily="34" charset="-122"/>
              </a:rPr>
              <a:t>1976</a:t>
            </a:r>
            <a:r>
              <a:rPr lang="zh-CN" altLang="en-US" b="1" i="0" dirty="0">
                <a:solidFill>
                  <a:srgbClr val="585858"/>
                </a:solidFill>
                <a:effectLst/>
                <a:latin typeface="微软雅黑" panose="020B0503020204020204" pitchFamily="34" charset="-122"/>
                <a:ea typeface="微软雅黑" panose="020B0503020204020204" pitchFamily="34" charset="-122"/>
              </a:rPr>
              <a:t>年</a:t>
            </a:r>
            <a:r>
              <a:rPr lang="en-US" altLang="zh-CN" b="1" i="0" dirty="0">
                <a:solidFill>
                  <a:srgbClr val="585858"/>
                </a:solidFill>
                <a:effectLst/>
                <a:latin typeface="微软雅黑" panose="020B0503020204020204" pitchFamily="34" charset="-122"/>
                <a:ea typeface="微软雅黑" panose="020B0503020204020204" pitchFamily="34" charset="-122"/>
              </a:rPr>
              <a:t>1</a:t>
            </a:r>
            <a:r>
              <a:rPr lang="zh-CN" altLang="en-US" b="1" i="0" dirty="0">
                <a:solidFill>
                  <a:srgbClr val="585858"/>
                </a:solidFill>
                <a:effectLst/>
                <a:latin typeface="微软雅黑" panose="020B0503020204020204" pitchFamily="34" charset="-122"/>
                <a:ea typeface="微软雅黑" panose="020B0503020204020204" pitchFamily="34" charset="-122"/>
              </a:rPr>
              <a:t>月</a:t>
            </a:r>
            <a:r>
              <a:rPr lang="en-US" altLang="zh-CN" b="1" i="0" dirty="0">
                <a:solidFill>
                  <a:srgbClr val="585858"/>
                </a:solidFill>
                <a:effectLst/>
                <a:latin typeface="微软雅黑" panose="020B0503020204020204" pitchFamily="34" charset="-122"/>
                <a:ea typeface="微软雅黑" panose="020B0503020204020204" pitchFamily="34" charset="-122"/>
              </a:rPr>
              <a:t>8</a:t>
            </a:r>
            <a:r>
              <a:rPr lang="zh-CN" altLang="en-US" b="1" i="0" dirty="0">
                <a:solidFill>
                  <a:srgbClr val="585858"/>
                </a:solidFill>
                <a:effectLst/>
                <a:latin typeface="微软雅黑" panose="020B0503020204020204" pitchFamily="34" charset="-122"/>
                <a:ea typeface="微软雅黑" panose="020B0503020204020204" pitchFamily="34" charset="-122"/>
              </a:rPr>
              <a:t>日，周总理在北京逝世。</a:t>
            </a:r>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p:cTn id="7" dur="500" fill="hold"/>
                                        <p:tgtEl>
                                          <p:spTgt spid="25"/>
                                        </p:tgtEl>
                                        <p:attrNameLst>
                                          <p:attrName>ppt_w</p:attrName>
                                        </p:attrNameLst>
                                      </p:cBhvr>
                                      <p:tavLst>
                                        <p:tav tm="0">
                                          <p:val>
                                            <p:fltVal val="0"/>
                                          </p:val>
                                        </p:tav>
                                        <p:tav tm="100000">
                                          <p:val>
                                            <p:strVal val="#ppt_w"/>
                                          </p:val>
                                        </p:tav>
                                      </p:tavLst>
                                    </p:anim>
                                    <p:anim calcmode="lin" valueType="num">
                                      <p:cBhvr>
                                        <p:cTn id="8" dur="500" fill="hold"/>
                                        <p:tgtEl>
                                          <p:spTgt spid="25"/>
                                        </p:tgtEl>
                                        <p:attrNameLst>
                                          <p:attrName>ppt_h</p:attrName>
                                        </p:attrNameLst>
                                      </p:cBhvr>
                                      <p:tavLst>
                                        <p:tav tm="0">
                                          <p:val>
                                            <p:fltVal val="0"/>
                                          </p:val>
                                        </p:tav>
                                        <p:tav tm="100000">
                                          <p:val>
                                            <p:strVal val="#ppt_h"/>
                                          </p:val>
                                        </p:tav>
                                      </p:tavLst>
                                    </p:anim>
                                    <p:animEffect transition="in" filter="fade">
                                      <p:cBhvr>
                                        <p:cTn id="9" dur="500"/>
                                        <p:tgtEl>
                                          <p:spTgt spid="25"/>
                                        </p:tgtEl>
                                      </p:cBhvr>
                                    </p:animEffect>
                                  </p:childTnLst>
                                </p:cTn>
                              </p:par>
                              <p:par>
                                <p:cTn id="10" presetID="35" presetClass="path" presetSubtype="0" accel="50000" decel="50000" fill="hold" nodeType="withEffect">
                                  <p:stCondLst>
                                    <p:cond delay="0"/>
                                  </p:stCondLst>
                                  <p:childTnLst>
                                    <p:animMotion origin="layout" path="M -6.25E-7 -3.7037E-6 L 0.18997 -3.7037E-6 " pathEditMode="relative" rAng="0" ptsTypes="AA">
                                      <p:cBhvr>
                                        <p:cTn id="11" dur="1000" spd="-100000" fill="hold"/>
                                        <p:tgtEl>
                                          <p:spTgt spid="25"/>
                                        </p:tgtEl>
                                        <p:attrNameLst>
                                          <p:attrName>ppt_x</p:attrName>
                                          <p:attrName>ppt_y</p:attrName>
                                        </p:attrNameLst>
                                      </p:cBhvr>
                                      <p:rCtr x="9492" y="0"/>
                                    </p:animMotion>
                                  </p:childTnLst>
                                </p:cTn>
                              </p:par>
                              <p:par>
                                <p:cTn id="12" presetID="53" presetClass="entr" presetSubtype="16" fill="hold" nodeType="withEffect">
                                  <p:stCondLst>
                                    <p:cond delay="0"/>
                                  </p:stCondLst>
                                  <p:childTnLst>
                                    <p:set>
                                      <p:cBhvr>
                                        <p:cTn id="13" dur="1" fill="hold">
                                          <p:stCondLst>
                                            <p:cond delay="0"/>
                                          </p:stCondLst>
                                        </p:cTn>
                                        <p:tgtEl>
                                          <p:spTgt spid="26"/>
                                        </p:tgtEl>
                                        <p:attrNameLst>
                                          <p:attrName>style.visibility</p:attrName>
                                        </p:attrNameLst>
                                      </p:cBhvr>
                                      <p:to>
                                        <p:strVal val="visible"/>
                                      </p:to>
                                    </p:set>
                                    <p:anim calcmode="lin" valueType="num">
                                      <p:cBhvr>
                                        <p:cTn id="14" dur="500" fill="hold"/>
                                        <p:tgtEl>
                                          <p:spTgt spid="26"/>
                                        </p:tgtEl>
                                        <p:attrNameLst>
                                          <p:attrName>ppt_w</p:attrName>
                                        </p:attrNameLst>
                                      </p:cBhvr>
                                      <p:tavLst>
                                        <p:tav tm="0">
                                          <p:val>
                                            <p:fltVal val="0"/>
                                          </p:val>
                                        </p:tav>
                                        <p:tav tm="100000">
                                          <p:val>
                                            <p:strVal val="#ppt_w"/>
                                          </p:val>
                                        </p:tav>
                                      </p:tavLst>
                                    </p:anim>
                                    <p:anim calcmode="lin" valueType="num">
                                      <p:cBhvr>
                                        <p:cTn id="15" dur="500" fill="hold"/>
                                        <p:tgtEl>
                                          <p:spTgt spid="26"/>
                                        </p:tgtEl>
                                        <p:attrNameLst>
                                          <p:attrName>ppt_h</p:attrName>
                                        </p:attrNameLst>
                                      </p:cBhvr>
                                      <p:tavLst>
                                        <p:tav tm="0">
                                          <p:val>
                                            <p:fltVal val="0"/>
                                          </p:val>
                                        </p:tav>
                                        <p:tav tm="100000">
                                          <p:val>
                                            <p:strVal val="#ppt_h"/>
                                          </p:val>
                                        </p:tav>
                                      </p:tavLst>
                                    </p:anim>
                                    <p:animEffect transition="in" filter="fade">
                                      <p:cBhvr>
                                        <p:cTn id="16" dur="500"/>
                                        <p:tgtEl>
                                          <p:spTgt spid="26"/>
                                        </p:tgtEl>
                                      </p:cBhvr>
                                    </p:animEffect>
                                  </p:childTnLst>
                                </p:cTn>
                              </p:par>
                              <p:par>
                                <p:cTn id="17" presetID="35" presetClass="path" presetSubtype="0" accel="50000" decel="50000" fill="hold" nodeType="withEffect">
                                  <p:stCondLst>
                                    <p:cond delay="0"/>
                                  </p:stCondLst>
                                  <p:childTnLst>
                                    <p:animMotion origin="layout" path="M 0 -3.7037E-6 L -0.41185 -3.7037E-6 " pathEditMode="relative" rAng="0" ptsTypes="AA">
                                      <p:cBhvr>
                                        <p:cTn id="18" dur="1000" spd="-100000" fill="hold"/>
                                        <p:tgtEl>
                                          <p:spTgt spid="26"/>
                                        </p:tgtEl>
                                        <p:attrNameLst>
                                          <p:attrName>ppt_x</p:attrName>
                                          <p:attrName>ppt_y</p:attrName>
                                        </p:attrNameLst>
                                      </p:cBhvr>
                                      <p:rCtr x="-20599" y="0"/>
                                    </p:animMotion>
                                  </p:childTnLst>
                                </p:cTn>
                              </p:par>
                            </p:childTnLst>
                          </p:cTn>
                        </p:par>
                        <p:par>
                          <p:cTn id="19" fill="hold">
                            <p:stCondLst>
                              <p:cond delay="500"/>
                            </p:stCondLst>
                            <p:childTnLst>
                              <p:par>
                                <p:cTn id="20" presetID="53" presetClass="entr" presetSubtype="16" fill="hold" grpId="0" nodeType="afterEffect">
                                  <p:stCondLst>
                                    <p:cond delay="0"/>
                                  </p:stCondLst>
                                  <p:childTnLst>
                                    <p:set>
                                      <p:cBhvr>
                                        <p:cTn id="21" dur="1" fill="hold">
                                          <p:stCondLst>
                                            <p:cond delay="0"/>
                                          </p:stCondLst>
                                        </p:cTn>
                                        <p:tgtEl>
                                          <p:spTgt spid="27"/>
                                        </p:tgtEl>
                                        <p:attrNameLst>
                                          <p:attrName>style.visibility</p:attrName>
                                        </p:attrNameLst>
                                      </p:cBhvr>
                                      <p:to>
                                        <p:strVal val="visible"/>
                                      </p:to>
                                    </p:set>
                                    <p:anim calcmode="lin" valueType="num">
                                      <p:cBhvr>
                                        <p:cTn id="22" dur="500" fill="hold"/>
                                        <p:tgtEl>
                                          <p:spTgt spid="27"/>
                                        </p:tgtEl>
                                        <p:attrNameLst>
                                          <p:attrName>ppt_w</p:attrName>
                                        </p:attrNameLst>
                                      </p:cBhvr>
                                      <p:tavLst>
                                        <p:tav tm="0">
                                          <p:val>
                                            <p:fltVal val="0"/>
                                          </p:val>
                                        </p:tav>
                                        <p:tav tm="100000">
                                          <p:val>
                                            <p:strVal val="#ppt_w"/>
                                          </p:val>
                                        </p:tav>
                                      </p:tavLst>
                                    </p:anim>
                                    <p:anim calcmode="lin" valueType="num">
                                      <p:cBhvr>
                                        <p:cTn id="23" dur="500" fill="hold"/>
                                        <p:tgtEl>
                                          <p:spTgt spid="27"/>
                                        </p:tgtEl>
                                        <p:attrNameLst>
                                          <p:attrName>ppt_h</p:attrName>
                                        </p:attrNameLst>
                                      </p:cBhvr>
                                      <p:tavLst>
                                        <p:tav tm="0">
                                          <p:val>
                                            <p:fltVal val="0"/>
                                          </p:val>
                                        </p:tav>
                                        <p:tav tm="100000">
                                          <p:val>
                                            <p:strVal val="#ppt_h"/>
                                          </p:val>
                                        </p:tav>
                                      </p:tavLst>
                                    </p:anim>
                                    <p:animEffect transition="in" filter="fade">
                                      <p:cBhvr>
                                        <p:cTn id="24" dur="500"/>
                                        <p:tgtEl>
                                          <p:spTgt spid="27"/>
                                        </p:tgtEl>
                                      </p:cBhvr>
                                    </p:animEffect>
                                  </p:childTnLst>
                                </p:cTn>
                              </p:par>
                              <p:par>
                                <p:cTn id="25" presetID="35" presetClass="path" presetSubtype="0" accel="50000" decel="50000" fill="hold" grpId="1" nodeType="withEffect">
                                  <p:stCondLst>
                                    <p:cond delay="0"/>
                                  </p:stCondLst>
                                  <p:childTnLst>
                                    <p:animMotion origin="layout" path="M -4.375E-6 -3.7037E-6 L -0.30273 -3.7037E-6 " pathEditMode="relative" rAng="0" ptsTypes="AA">
                                      <p:cBhvr>
                                        <p:cTn id="26" dur="1000" spd="-100000" fill="hold"/>
                                        <p:tgtEl>
                                          <p:spTgt spid="27"/>
                                        </p:tgtEl>
                                        <p:attrNameLst>
                                          <p:attrName>ppt_x</p:attrName>
                                          <p:attrName>ppt_y</p:attrName>
                                        </p:attrNameLst>
                                      </p:cBhvr>
                                      <p:rCtr x="-1514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7" grpId="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3" cstate="screen"/>
          <a:stretch>
            <a:fillRect/>
          </a:stretch>
        </p:blipFill>
        <p:spPr>
          <a:xfrm>
            <a:off x="5382578" y="5737759"/>
            <a:ext cx="6809422" cy="1120241"/>
          </a:xfrm>
          <a:prstGeom prst="rect">
            <a:avLst/>
          </a:prstGeom>
        </p:spPr>
      </p:pic>
      <p:pic>
        <p:nvPicPr>
          <p:cNvPr id="19" name="图片 18"/>
          <p:cNvPicPr>
            <a:picLocks noChangeAspect="1"/>
          </p:cNvPicPr>
          <p:nvPr/>
        </p:nvPicPr>
        <p:blipFill>
          <a:blip r:embed="rId4" cstate="screen"/>
          <a:stretch>
            <a:fillRect/>
          </a:stretch>
        </p:blipFill>
        <p:spPr>
          <a:xfrm>
            <a:off x="0" y="4049960"/>
            <a:ext cx="4460240" cy="2788989"/>
          </a:xfrm>
          <a:prstGeom prst="rect">
            <a:avLst/>
          </a:prstGeom>
        </p:spPr>
      </p:pic>
      <p:pic>
        <p:nvPicPr>
          <p:cNvPr id="74" name="图片 73"/>
          <p:cNvPicPr>
            <a:picLocks noChangeAspect="1"/>
          </p:cNvPicPr>
          <p:nvPr/>
        </p:nvPicPr>
        <p:blipFill>
          <a:blip r:embed="rId5"/>
          <a:stretch>
            <a:fillRect/>
          </a:stretch>
        </p:blipFill>
        <p:spPr>
          <a:xfrm rot="20902340" flipH="1">
            <a:off x="686735" y="622930"/>
            <a:ext cx="3143832" cy="1309931"/>
          </a:xfrm>
          <a:prstGeom prst="rect">
            <a:avLst/>
          </a:prstGeom>
        </p:spPr>
      </p:pic>
      <p:sp>
        <p:nvSpPr>
          <p:cNvPr id="75" name="文本框 74"/>
          <p:cNvSpPr txBox="1"/>
          <p:nvPr/>
        </p:nvSpPr>
        <p:spPr>
          <a:xfrm>
            <a:off x="4290907" y="1942771"/>
            <a:ext cx="3877985" cy="1200329"/>
          </a:xfrm>
          <a:prstGeom prst="rect">
            <a:avLst/>
          </a:prstGeom>
          <a:noFill/>
        </p:spPr>
        <p:txBody>
          <a:bodyPr wrap="none" rtlCol="0">
            <a:spAutoFit/>
          </a:bodyPr>
          <a:lstStyle/>
          <a:p>
            <a:r>
              <a:rPr lang="zh-CN" altLang="en-US" sz="7200" b="1" dirty="0">
                <a:solidFill>
                  <a:srgbClr val="C00000"/>
                </a:solidFill>
                <a:latin typeface="字体视界-NEW魏碑体" panose="02010601030101010101" pitchFamily="2" charset="-122"/>
                <a:ea typeface="字体视界-NEW魏碑体" panose="02010601030101010101" pitchFamily="2" charset="-122"/>
                <a:cs typeface="+mn-ea"/>
                <a:sym typeface="+mn-lt"/>
              </a:rPr>
              <a:t>第二部分</a:t>
            </a:r>
          </a:p>
        </p:txBody>
      </p:sp>
      <p:sp>
        <p:nvSpPr>
          <p:cNvPr id="78" name="文本框 77"/>
          <p:cNvSpPr txBox="1"/>
          <p:nvPr/>
        </p:nvSpPr>
        <p:spPr>
          <a:xfrm>
            <a:off x="2161006" y="3393756"/>
            <a:ext cx="7879081" cy="1015663"/>
          </a:xfrm>
          <a:prstGeom prst="rect">
            <a:avLst/>
          </a:prstGeom>
          <a:noFill/>
        </p:spPr>
        <p:txBody>
          <a:bodyPr wrap="none" rtlCol="0">
            <a:spAutoFit/>
          </a:bodyPr>
          <a:lstStyle/>
          <a:p>
            <a:pPr algn="ctr"/>
            <a:r>
              <a:rPr lang="zh-CN" altLang="en-US" sz="6000" b="1" dirty="0">
                <a:solidFill>
                  <a:srgbClr val="C00000"/>
                </a:solidFill>
                <a:latin typeface="字体视界-NEW魏碑体" panose="02010601030101010101" pitchFamily="2" charset="-122"/>
                <a:ea typeface="字体视界-NEW魏碑体" panose="02010601030101010101" pitchFamily="2" charset="-122"/>
              </a:rPr>
              <a:t>周恩来总理与南开大学</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nodeType="after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wipe(left)">
                                      <p:cBhvr>
                                        <p:cTn id="13" dur="500"/>
                                        <p:tgtEl>
                                          <p:spTgt spid="19"/>
                                        </p:tgtEl>
                                      </p:cBhvr>
                                    </p:animEffect>
                                  </p:childTnLst>
                                </p:cTn>
                              </p:par>
                            </p:childTnLst>
                          </p:cTn>
                        </p:par>
                        <p:par>
                          <p:cTn id="14" fill="hold">
                            <p:stCondLst>
                              <p:cond delay="1500"/>
                            </p:stCondLst>
                            <p:childTnLst>
                              <p:par>
                                <p:cTn id="15" presetID="53" presetClass="entr" presetSubtype="16" fill="hold" nodeType="afterEffect">
                                  <p:stCondLst>
                                    <p:cond delay="0"/>
                                  </p:stCondLst>
                                  <p:childTnLst>
                                    <p:set>
                                      <p:cBhvr>
                                        <p:cTn id="16" dur="1" fill="hold">
                                          <p:stCondLst>
                                            <p:cond delay="0"/>
                                          </p:stCondLst>
                                        </p:cTn>
                                        <p:tgtEl>
                                          <p:spTgt spid="74"/>
                                        </p:tgtEl>
                                        <p:attrNameLst>
                                          <p:attrName>style.visibility</p:attrName>
                                        </p:attrNameLst>
                                      </p:cBhvr>
                                      <p:to>
                                        <p:strVal val="visible"/>
                                      </p:to>
                                    </p:set>
                                    <p:anim calcmode="lin" valueType="num">
                                      <p:cBhvr>
                                        <p:cTn id="17" dur="1000" fill="hold"/>
                                        <p:tgtEl>
                                          <p:spTgt spid="74"/>
                                        </p:tgtEl>
                                        <p:attrNameLst>
                                          <p:attrName>ppt_w</p:attrName>
                                        </p:attrNameLst>
                                      </p:cBhvr>
                                      <p:tavLst>
                                        <p:tav tm="0">
                                          <p:val>
                                            <p:fltVal val="0"/>
                                          </p:val>
                                        </p:tav>
                                        <p:tav tm="100000">
                                          <p:val>
                                            <p:strVal val="#ppt_w"/>
                                          </p:val>
                                        </p:tav>
                                      </p:tavLst>
                                    </p:anim>
                                    <p:anim calcmode="lin" valueType="num">
                                      <p:cBhvr>
                                        <p:cTn id="18" dur="1000" fill="hold"/>
                                        <p:tgtEl>
                                          <p:spTgt spid="74"/>
                                        </p:tgtEl>
                                        <p:attrNameLst>
                                          <p:attrName>ppt_h</p:attrName>
                                        </p:attrNameLst>
                                      </p:cBhvr>
                                      <p:tavLst>
                                        <p:tav tm="0">
                                          <p:val>
                                            <p:fltVal val="0"/>
                                          </p:val>
                                        </p:tav>
                                        <p:tav tm="100000">
                                          <p:val>
                                            <p:strVal val="#ppt_h"/>
                                          </p:val>
                                        </p:tav>
                                      </p:tavLst>
                                    </p:anim>
                                    <p:animEffect transition="in" filter="fade">
                                      <p:cBhvr>
                                        <p:cTn id="19" dur="1000"/>
                                        <p:tgtEl>
                                          <p:spTgt spid="74"/>
                                        </p:tgtEl>
                                      </p:cBhvr>
                                    </p:animEffect>
                                  </p:childTnLst>
                                </p:cTn>
                              </p:par>
                              <p:par>
                                <p:cTn id="20" presetID="35" presetClass="path" presetSubtype="0" accel="50000" decel="50000" fill="hold" nodeType="withEffect">
                                  <p:stCondLst>
                                    <p:cond delay="0"/>
                                  </p:stCondLst>
                                  <p:childTnLst>
                                    <p:animMotion origin="layout" path="M 3.54167E-6 -2.59259E-6 L 0.31575 -2.59259E-6 " pathEditMode="relative" rAng="0" ptsTypes="AA">
                                      <p:cBhvr>
                                        <p:cTn id="21" dur="2000" spd="-100000" fill="hold"/>
                                        <p:tgtEl>
                                          <p:spTgt spid="74"/>
                                        </p:tgtEl>
                                        <p:attrNameLst>
                                          <p:attrName>ppt_x</p:attrName>
                                          <p:attrName>ppt_y</p:attrName>
                                        </p:attrNameLst>
                                      </p:cBhvr>
                                      <p:rCtr x="15781" y="0"/>
                                    </p:animMotion>
                                  </p:childTnLst>
                                </p:cTn>
                              </p:par>
                              <p:par>
                                <p:cTn id="22" presetID="53" presetClass="entr" presetSubtype="16" fill="hold" grpId="0" nodeType="withEffect">
                                  <p:stCondLst>
                                    <p:cond delay="400"/>
                                  </p:stCondLst>
                                  <p:childTnLst>
                                    <p:set>
                                      <p:cBhvr>
                                        <p:cTn id="23" dur="1" fill="hold">
                                          <p:stCondLst>
                                            <p:cond delay="0"/>
                                          </p:stCondLst>
                                        </p:cTn>
                                        <p:tgtEl>
                                          <p:spTgt spid="75"/>
                                        </p:tgtEl>
                                        <p:attrNameLst>
                                          <p:attrName>style.visibility</p:attrName>
                                        </p:attrNameLst>
                                      </p:cBhvr>
                                      <p:to>
                                        <p:strVal val="visible"/>
                                      </p:to>
                                    </p:set>
                                    <p:anim calcmode="lin" valueType="num">
                                      <p:cBhvr>
                                        <p:cTn id="24" dur="250" fill="hold"/>
                                        <p:tgtEl>
                                          <p:spTgt spid="75"/>
                                        </p:tgtEl>
                                        <p:attrNameLst>
                                          <p:attrName>ppt_w</p:attrName>
                                        </p:attrNameLst>
                                      </p:cBhvr>
                                      <p:tavLst>
                                        <p:tav tm="0">
                                          <p:val>
                                            <p:fltVal val="0"/>
                                          </p:val>
                                        </p:tav>
                                        <p:tav tm="100000">
                                          <p:val>
                                            <p:strVal val="#ppt_w"/>
                                          </p:val>
                                        </p:tav>
                                      </p:tavLst>
                                    </p:anim>
                                    <p:anim calcmode="lin" valueType="num">
                                      <p:cBhvr>
                                        <p:cTn id="25" dur="250" fill="hold"/>
                                        <p:tgtEl>
                                          <p:spTgt spid="75"/>
                                        </p:tgtEl>
                                        <p:attrNameLst>
                                          <p:attrName>ppt_h</p:attrName>
                                        </p:attrNameLst>
                                      </p:cBhvr>
                                      <p:tavLst>
                                        <p:tav tm="0">
                                          <p:val>
                                            <p:fltVal val="0"/>
                                          </p:val>
                                        </p:tav>
                                        <p:tav tm="100000">
                                          <p:val>
                                            <p:strVal val="#ppt_h"/>
                                          </p:val>
                                        </p:tav>
                                      </p:tavLst>
                                    </p:anim>
                                    <p:animEffect transition="in" filter="fade">
                                      <p:cBhvr>
                                        <p:cTn id="26" dur="250"/>
                                        <p:tgtEl>
                                          <p:spTgt spid="75"/>
                                        </p:tgtEl>
                                      </p:cBhvr>
                                    </p:animEffect>
                                  </p:childTnLst>
                                </p:cTn>
                              </p:par>
                              <p:par>
                                <p:cTn id="27" presetID="6" presetClass="emph" presetSubtype="0" decel="100000" fill="hold" grpId="1" nodeType="withEffect">
                                  <p:stCondLst>
                                    <p:cond delay="600"/>
                                  </p:stCondLst>
                                  <p:childTnLst>
                                    <p:animScale>
                                      <p:cBhvr>
                                        <p:cTn id="28" dur="250" fill="hold"/>
                                        <p:tgtEl>
                                          <p:spTgt spid="75"/>
                                        </p:tgtEl>
                                      </p:cBhvr>
                                      <p:by x="120000" y="120000"/>
                                    </p:animScale>
                                  </p:childTnLst>
                                </p:cTn>
                              </p:par>
                              <p:par>
                                <p:cTn id="29" presetID="6" presetClass="emph" presetSubtype="0" decel="100000" fill="hold" grpId="2" nodeType="withEffect">
                                  <p:stCondLst>
                                    <p:cond delay="800"/>
                                  </p:stCondLst>
                                  <p:childTnLst>
                                    <p:animScale>
                                      <p:cBhvr>
                                        <p:cTn id="30" dur="250" fill="hold"/>
                                        <p:tgtEl>
                                          <p:spTgt spid="75"/>
                                        </p:tgtEl>
                                      </p:cBhvr>
                                      <p:by x="83000" y="83000"/>
                                    </p:animScale>
                                  </p:childTnLst>
                                </p:cTn>
                              </p:par>
                              <p:par>
                                <p:cTn id="31" presetID="53" presetClass="entr" presetSubtype="16" fill="hold" grpId="0" nodeType="withEffect">
                                  <p:stCondLst>
                                    <p:cond delay="400"/>
                                  </p:stCondLst>
                                  <p:childTnLst>
                                    <p:set>
                                      <p:cBhvr>
                                        <p:cTn id="32" dur="1" fill="hold">
                                          <p:stCondLst>
                                            <p:cond delay="0"/>
                                          </p:stCondLst>
                                        </p:cTn>
                                        <p:tgtEl>
                                          <p:spTgt spid="78"/>
                                        </p:tgtEl>
                                        <p:attrNameLst>
                                          <p:attrName>style.visibility</p:attrName>
                                        </p:attrNameLst>
                                      </p:cBhvr>
                                      <p:to>
                                        <p:strVal val="visible"/>
                                      </p:to>
                                    </p:set>
                                    <p:anim calcmode="lin" valueType="num">
                                      <p:cBhvr>
                                        <p:cTn id="33" dur="250" fill="hold"/>
                                        <p:tgtEl>
                                          <p:spTgt spid="78"/>
                                        </p:tgtEl>
                                        <p:attrNameLst>
                                          <p:attrName>ppt_w</p:attrName>
                                        </p:attrNameLst>
                                      </p:cBhvr>
                                      <p:tavLst>
                                        <p:tav tm="0">
                                          <p:val>
                                            <p:fltVal val="0"/>
                                          </p:val>
                                        </p:tav>
                                        <p:tav tm="100000">
                                          <p:val>
                                            <p:strVal val="#ppt_w"/>
                                          </p:val>
                                        </p:tav>
                                      </p:tavLst>
                                    </p:anim>
                                    <p:anim calcmode="lin" valueType="num">
                                      <p:cBhvr>
                                        <p:cTn id="34" dur="250" fill="hold"/>
                                        <p:tgtEl>
                                          <p:spTgt spid="78"/>
                                        </p:tgtEl>
                                        <p:attrNameLst>
                                          <p:attrName>ppt_h</p:attrName>
                                        </p:attrNameLst>
                                      </p:cBhvr>
                                      <p:tavLst>
                                        <p:tav tm="0">
                                          <p:val>
                                            <p:fltVal val="0"/>
                                          </p:val>
                                        </p:tav>
                                        <p:tav tm="100000">
                                          <p:val>
                                            <p:strVal val="#ppt_h"/>
                                          </p:val>
                                        </p:tav>
                                      </p:tavLst>
                                    </p:anim>
                                    <p:animEffect transition="in" filter="fade">
                                      <p:cBhvr>
                                        <p:cTn id="35" dur="250"/>
                                        <p:tgtEl>
                                          <p:spTgt spid="78"/>
                                        </p:tgtEl>
                                      </p:cBhvr>
                                    </p:animEffect>
                                  </p:childTnLst>
                                </p:cTn>
                              </p:par>
                              <p:par>
                                <p:cTn id="36" presetID="6" presetClass="emph" presetSubtype="0" decel="100000" fill="hold" grpId="1" nodeType="withEffect">
                                  <p:stCondLst>
                                    <p:cond delay="600"/>
                                  </p:stCondLst>
                                  <p:childTnLst>
                                    <p:animScale>
                                      <p:cBhvr>
                                        <p:cTn id="37" dur="250" fill="hold"/>
                                        <p:tgtEl>
                                          <p:spTgt spid="78"/>
                                        </p:tgtEl>
                                      </p:cBhvr>
                                      <p:by x="120000" y="120000"/>
                                    </p:animScale>
                                  </p:childTnLst>
                                </p:cTn>
                              </p:par>
                              <p:par>
                                <p:cTn id="38" presetID="6" presetClass="emph" presetSubtype="0" decel="100000" fill="hold" grpId="2" nodeType="withEffect">
                                  <p:stCondLst>
                                    <p:cond delay="800"/>
                                  </p:stCondLst>
                                  <p:childTnLst>
                                    <p:animScale>
                                      <p:cBhvr>
                                        <p:cTn id="39" dur="250" fill="hold"/>
                                        <p:tgtEl>
                                          <p:spTgt spid="78"/>
                                        </p:tgtEl>
                                      </p:cBhvr>
                                      <p:by x="83000" y="83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 grpId="0"/>
      <p:bldP spid="75" grpId="1"/>
      <p:bldP spid="75" grpId="2"/>
      <p:bldP spid="78" grpId="0"/>
      <p:bldP spid="78" grpId="1"/>
      <p:bldP spid="78" grpId="2"/>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图片 24"/>
          <p:cNvPicPr>
            <a:picLocks noChangeAspect="1"/>
          </p:cNvPicPr>
          <p:nvPr/>
        </p:nvPicPr>
        <p:blipFill>
          <a:blip r:embed="rId3" cstate="screen"/>
          <a:stretch>
            <a:fillRect/>
          </a:stretch>
        </p:blipFill>
        <p:spPr>
          <a:xfrm>
            <a:off x="8088923" y="246423"/>
            <a:ext cx="4103077" cy="675011"/>
          </a:xfrm>
          <a:prstGeom prst="rect">
            <a:avLst/>
          </a:prstGeom>
        </p:spPr>
      </p:pic>
      <p:cxnSp>
        <p:nvCxnSpPr>
          <p:cNvPr id="26" name="直接连接符 25"/>
          <p:cNvCxnSpPr/>
          <p:nvPr/>
        </p:nvCxnSpPr>
        <p:spPr>
          <a:xfrm>
            <a:off x="0" y="921434"/>
            <a:ext cx="121920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7" name="矩形 26"/>
          <p:cNvSpPr/>
          <p:nvPr/>
        </p:nvSpPr>
        <p:spPr>
          <a:xfrm>
            <a:off x="1060287" y="353095"/>
            <a:ext cx="5262188" cy="461665"/>
          </a:xfrm>
          <a:prstGeom prst="rect">
            <a:avLst/>
          </a:prstGeom>
        </p:spPr>
        <p:txBody>
          <a:bodyPr wrap="square">
            <a:spAutoFit/>
          </a:bodyPr>
          <a:lstStyle/>
          <a:p>
            <a:r>
              <a:rPr lang="zh-CN" altLang="en-US" sz="2400" b="1" dirty="0">
                <a:solidFill>
                  <a:schemeClr val="accent1"/>
                </a:solidFill>
                <a:latin typeface="字体视界-NEW魏碑体" panose="02010601030101010101" pitchFamily="2" charset="-122"/>
                <a:ea typeface="字体视界-NEW魏碑体" panose="02010601030101010101" pitchFamily="2" charset="-122"/>
                <a:cs typeface="+mn-ea"/>
                <a:sym typeface="+mn-lt"/>
              </a:rPr>
              <a:t>第二部分：</a:t>
            </a:r>
            <a:r>
              <a:rPr lang="zh-CN" altLang="en-US" sz="2400" b="1" dirty="0">
                <a:solidFill>
                  <a:srgbClr val="C00000"/>
                </a:solidFill>
                <a:latin typeface="字体视界-NEW魏碑体" panose="02010601030101010101" pitchFamily="2" charset="-122"/>
                <a:ea typeface="字体视界-NEW魏碑体" panose="02010601030101010101" pitchFamily="2" charset="-122"/>
              </a:rPr>
              <a:t>周恩来总理与南开大学</a:t>
            </a:r>
          </a:p>
        </p:txBody>
      </p:sp>
      <p:sp>
        <p:nvSpPr>
          <p:cNvPr id="2" name="文本框 1">
            <a:extLst>
              <a:ext uri="{FF2B5EF4-FFF2-40B4-BE49-F238E27FC236}">
                <a16:creationId xmlns:a16="http://schemas.microsoft.com/office/drawing/2014/main" id="{E5E30E82-4804-D852-7448-B01CDE6B0EAC}"/>
              </a:ext>
            </a:extLst>
          </p:cNvPr>
          <p:cNvSpPr txBox="1"/>
          <p:nvPr/>
        </p:nvSpPr>
        <p:spPr>
          <a:xfrm>
            <a:off x="806026" y="1171787"/>
            <a:ext cx="6285653" cy="5016758"/>
          </a:xfrm>
          <a:prstGeom prst="rect">
            <a:avLst/>
          </a:prstGeom>
          <a:noFill/>
        </p:spPr>
        <p:txBody>
          <a:bodyPr wrap="square" rtlCol="0">
            <a:spAutoFit/>
          </a:bodyPr>
          <a:lstStyle/>
          <a:p>
            <a:r>
              <a:rPr lang="en-US" altLang="zh-CN" sz="3200" b="1" dirty="0"/>
              <a:t>Part 1    </a:t>
            </a:r>
            <a:r>
              <a:rPr lang="zh-CN" altLang="en-US" sz="3200" b="1" dirty="0"/>
              <a:t>入学津门，发奋念书</a:t>
            </a:r>
            <a:r>
              <a:rPr lang="en-US" altLang="zh-CN" sz="3200" b="1" dirty="0"/>
              <a:t> </a:t>
            </a:r>
          </a:p>
          <a:p>
            <a:endParaRPr lang="en-US" altLang="zh-CN" sz="3200" b="1" dirty="0"/>
          </a:p>
          <a:p>
            <a:endParaRPr lang="en-US" altLang="zh-CN" sz="3200" b="1" dirty="0"/>
          </a:p>
          <a:p>
            <a:r>
              <a:rPr lang="en-US" altLang="zh-CN" sz="3200" b="1" dirty="0"/>
              <a:t>Part 2    </a:t>
            </a:r>
            <a:r>
              <a:rPr lang="zh-CN" altLang="en-US" sz="3200" b="1" dirty="0"/>
              <a:t>对学校建设作出的贡献</a:t>
            </a:r>
            <a:endParaRPr lang="en-US" altLang="zh-CN" sz="3200" b="1" dirty="0"/>
          </a:p>
          <a:p>
            <a:endParaRPr lang="en-US" altLang="zh-CN" sz="3200" b="1" dirty="0"/>
          </a:p>
          <a:p>
            <a:endParaRPr lang="en-US" altLang="zh-CN" sz="3200" b="1" dirty="0"/>
          </a:p>
          <a:p>
            <a:r>
              <a:rPr lang="en-US" altLang="zh-CN" sz="3200" b="1" dirty="0"/>
              <a:t>Part 3    </a:t>
            </a:r>
            <a:r>
              <a:rPr lang="zh-CN" altLang="en-US" sz="3200" b="1" dirty="0"/>
              <a:t>对学科发展作出的贡献</a:t>
            </a:r>
            <a:endParaRPr lang="en-US" altLang="zh-CN" sz="3200" b="1" dirty="0"/>
          </a:p>
          <a:p>
            <a:endParaRPr lang="en-US" altLang="zh-CN" sz="3200" b="1" dirty="0"/>
          </a:p>
          <a:p>
            <a:endParaRPr lang="en-US" altLang="zh-CN" sz="3200" b="1" dirty="0"/>
          </a:p>
          <a:p>
            <a:r>
              <a:rPr lang="en-US" altLang="zh-CN" sz="3200" b="1" dirty="0"/>
              <a:t>Part 4    </a:t>
            </a:r>
            <a:r>
              <a:rPr lang="zh-CN" altLang="en-US" sz="3200" b="1" dirty="0"/>
              <a:t>周总理与南开</a:t>
            </a:r>
            <a:endParaRPr lang="zh-CN" altLang="en-US" dirty="0"/>
          </a:p>
        </p:txBody>
      </p:sp>
      <p:pic>
        <p:nvPicPr>
          <p:cNvPr id="1026" name="Picture 2" descr="人民画报-爱国铸魂 百年树人">
            <a:extLst>
              <a:ext uri="{FF2B5EF4-FFF2-40B4-BE49-F238E27FC236}">
                <a16:creationId xmlns:a16="http://schemas.microsoft.com/office/drawing/2014/main" id="{4B2F0FE9-C73D-7DF7-DEA5-79AA816930B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00870" y="1106081"/>
            <a:ext cx="3665088" cy="550549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p:cTn id="7" dur="500" fill="hold"/>
                                        <p:tgtEl>
                                          <p:spTgt spid="25"/>
                                        </p:tgtEl>
                                        <p:attrNameLst>
                                          <p:attrName>ppt_w</p:attrName>
                                        </p:attrNameLst>
                                      </p:cBhvr>
                                      <p:tavLst>
                                        <p:tav tm="0">
                                          <p:val>
                                            <p:fltVal val="0"/>
                                          </p:val>
                                        </p:tav>
                                        <p:tav tm="100000">
                                          <p:val>
                                            <p:strVal val="#ppt_w"/>
                                          </p:val>
                                        </p:tav>
                                      </p:tavLst>
                                    </p:anim>
                                    <p:anim calcmode="lin" valueType="num">
                                      <p:cBhvr>
                                        <p:cTn id="8" dur="500" fill="hold"/>
                                        <p:tgtEl>
                                          <p:spTgt spid="25"/>
                                        </p:tgtEl>
                                        <p:attrNameLst>
                                          <p:attrName>ppt_h</p:attrName>
                                        </p:attrNameLst>
                                      </p:cBhvr>
                                      <p:tavLst>
                                        <p:tav tm="0">
                                          <p:val>
                                            <p:fltVal val="0"/>
                                          </p:val>
                                        </p:tav>
                                        <p:tav tm="100000">
                                          <p:val>
                                            <p:strVal val="#ppt_h"/>
                                          </p:val>
                                        </p:tav>
                                      </p:tavLst>
                                    </p:anim>
                                    <p:animEffect transition="in" filter="fade">
                                      <p:cBhvr>
                                        <p:cTn id="9" dur="500"/>
                                        <p:tgtEl>
                                          <p:spTgt spid="25"/>
                                        </p:tgtEl>
                                      </p:cBhvr>
                                    </p:animEffect>
                                  </p:childTnLst>
                                </p:cTn>
                              </p:par>
                              <p:par>
                                <p:cTn id="10" presetID="35" presetClass="path" presetSubtype="0" accel="50000" decel="50000" fill="hold" nodeType="withEffect">
                                  <p:stCondLst>
                                    <p:cond delay="0"/>
                                  </p:stCondLst>
                                  <p:childTnLst>
                                    <p:animMotion origin="layout" path="M -6.25E-7 -3.7037E-6 L 0.18997 -3.7037E-6 " pathEditMode="relative" rAng="0" ptsTypes="AA">
                                      <p:cBhvr>
                                        <p:cTn id="11" dur="1000" spd="-100000" fill="hold"/>
                                        <p:tgtEl>
                                          <p:spTgt spid="25"/>
                                        </p:tgtEl>
                                        <p:attrNameLst>
                                          <p:attrName>ppt_x</p:attrName>
                                          <p:attrName>ppt_y</p:attrName>
                                        </p:attrNameLst>
                                      </p:cBhvr>
                                      <p:rCtr x="9492" y="0"/>
                                    </p:animMotion>
                                  </p:childTnLst>
                                </p:cTn>
                              </p:par>
                              <p:par>
                                <p:cTn id="12" presetID="53" presetClass="entr" presetSubtype="16" fill="hold" nodeType="withEffect">
                                  <p:stCondLst>
                                    <p:cond delay="0"/>
                                  </p:stCondLst>
                                  <p:childTnLst>
                                    <p:set>
                                      <p:cBhvr>
                                        <p:cTn id="13" dur="1" fill="hold">
                                          <p:stCondLst>
                                            <p:cond delay="0"/>
                                          </p:stCondLst>
                                        </p:cTn>
                                        <p:tgtEl>
                                          <p:spTgt spid="26"/>
                                        </p:tgtEl>
                                        <p:attrNameLst>
                                          <p:attrName>style.visibility</p:attrName>
                                        </p:attrNameLst>
                                      </p:cBhvr>
                                      <p:to>
                                        <p:strVal val="visible"/>
                                      </p:to>
                                    </p:set>
                                    <p:anim calcmode="lin" valueType="num">
                                      <p:cBhvr>
                                        <p:cTn id="14" dur="500" fill="hold"/>
                                        <p:tgtEl>
                                          <p:spTgt spid="26"/>
                                        </p:tgtEl>
                                        <p:attrNameLst>
                                          <p:attrName>ppt_w</p:attrName>
                                        </p:attrNameLst>
                                      </p:cBhvr>
                                      <p:tavLst>
                                        <p:tav tm="0">
                                          <p:val>
                                            <p:fltVal val="0"/>
                                          </p:val>
                                        </p:tav>
                                        <p:tav tm="100000">
                                          <p:val>
                                            <p:strVal val="#ppt_w"/>
                                          </p:val>
                                        </p:tav>
                                      </p:tavLst>
                                    </p:anim>
                                    <p:anim calcmode="lin" valueType="num">
                                      <p:cBhvr>
                                        <p:cTn id="15" dur="500" fill="hold"/>
                                        <p:tgtEl>
                                          <p:spTgt spid="26"/>
                                        </p:tgtEl>
                                        <p:attrNameLst>
                                          <p:attrName>ppt_h</p:attrName>
                                        </p:attrNameLst>
                                      </p:cBhvr>
                                      <p:tavLst>
                                        <p:tav tm="0">
                                          <p:val>
                                            <p:fltVal val="0"/>
                                          </p:val>
                                        </p:tav>
                                        <p:tav tm="100000">
                                          <p:val>
                                            <p:strVal val="#ppt_h"/>
                                          </p:val>
                                        </p:tav>
                                      </p:tavLst>
                                    </p:anim>
                                    <p:animEffect transition="in" filter="fade">
                                      <p:cBhvr>
                                        <p:cTn id="16" dur="500"/>
                                        <p:tgtEl>
                                          <p:spTgt spid="26"/>
                                        </p:tgtEl>
                                      </p:cBhvr>
                                    </p:animEffect>
                                  </p:childTnLst>
                                </p:cTn>
                              </p:par>
                              <p:par>
                                <p:cTn id="17" presetID="35" presetClass="path" presetSubtype="0" accel="50000" decel="50000" fill="hold" nodeType="withEffect">
                                  <p:stCondLst>
                                    <p:cond delay="0"/>
                                  </p:stCondLst>
                                  <p:childTnLst>
                                    <p:animMotion origin="layout" path="M 0 -3.7037E-6 L -0.41185 -3.7037E-6 " pathEditMode="relative" rAng="0" ptsTypes="AA">
                                      <p:cBhvr>
                                        <p:cTn id="18" dur="1000" spd="-100000" fill="hold"/>
                                        <p:tgtEl>
                                          <p:spTgt spid="26"/>
                                        </p:tgtEl>
                                        <p:attrNameLst>
                                          <p:attrName>ppt_x</p:attrName>
                                          <p:attrName>ppt_y</p:attrName>
                                        </p:attrNameLst>
                                      </p:cBhvr>
                                      <p:rCtr x="-20599" y="0"/>
                                    </p:animMotion>
                                  </p:childTnLst>
                                </p:cTn>
                              </p:par>
                            </p:childTnLst>
                          </p:cTn>
                        </p:par>
                        <p:par>
                          <p:cTn id="19" fill="hold">
                            <p:stCondLst>
                              <p:cond delay="500"/>
                            </p:stCondLst>
                            <p:childTnLst>
                              <p:par>
                                <p:cTn id="20" presetID="53" presetClass="entr" presetSubtype="16" fill="hold" grpId="0" nodeType="afterEffect">
                                  <p:stCondLst>
                                    <p:cond delay="0"/>
                                  </p:stCondLst>
                                  <p:childTnLst>
                                    <p:set>
                                      <p:cBhvr>
                                        <p:cTn id="21" dur="1" fill="hold">
                                          <p:stCondLst>
                                            <p:cond delay="0"/>
                                          </p:stCondLst>
                                        </p:cTn>
                                        <p:tgtEl>
                                          <p:spTgt spid="27"/>
                                        </p:tgtEl>
                                        <p:attrNameLst>
                                          <p:attrName>style.visibility</p:attrName>
                                        </p:attrNameLst>
                                      </p:cBhvr>
                                      <p:to>
                                        <p:strVal val="visible"/>
                                      </p:to>
                                    </p:set>
                                    <p:anim calcmode="lin" valueType="num">
                                      <p:cBhvr>
                                        <p:cTn id="22" dur="500" fill="hold"/>
                                        <p:tgtEl>
                                          <p:spTgt spid="27"/>
                                        </p:tgtEl>
                                        <p:attrNameLst>
                                          <p:attrName>ppt_w</p:attrName>
                                        </p:attrNameLst>
                                      </p:cBhvr>
                                      <p:tavLst>
                                        <p:tav tm="0">
                                          <p:val>
                                            <p:fltVal val="0"/>
                                          </p:val>
                                        </p:tav>
                                        <p:tav tm="100000">
                                          <p:val>
                                            <p:strVal val="#ppt_w"/>
                                          </p:val>
                                        </p:tav>
                                      </p:tavLst>
                                    </p:anim>
                                    <p:anim calcmode="lin" valueType="num">
                                      <p:cBhvr>
                                        <p:cTn id="23" dur="500" fill="hold"/>
                                        <p:tgtEl>
                                          <p:spTgt spid="27"/>
                                        </p:tgtEl>
                                        <p:attrNameLst>
                                          <p:attrName>ppt_h</p:attrName>
                                        </p:attrNameLst>
                                      </p:cBhvr>
                                      <p:tavLst>
                                        <p:tav tm="0">
                                          <p:val>
                                            <p:fltVal val="0"/>
                                          </p:val>
                                        </p:tav>
                                        <p:tav tm="100000">
                                          <p:val>
                                            <p:strVal val="#ppt_h"/>
                                          </p:val>
                                        </p:tav>
                                      </p:tavLst>
                                    </p:anim>
                                    <p:animEffect transition="in" filter="fade">
                                      <p:cBhvr>
                                        <p:cTn id="24" dur="500"/>
                                        <p:tgtEl>
                                          <p:spTgt spid="27"/>
                                        </p:tgtEl>
                                      </p:cBhvr>
                                    </p:animEffect>
                                  </p:childTnLst>
                                </p:cTn>
                              </p:par>
                              <p:par>
                                <p:cTn id="25" presetID="35" presetClass="path" presetSubtype="0" accel="50000" decel="50000" fill="hold" grpId="1" nodeType="withEffect">
                                  <p:stCondLst>
                                    <p:cond delay="0"/>
                                  </p:stCondLst>
                                  <p:childTnLst>
                                    <p:animMotion origin="layout" path="M -4.375E-6 -3.7037E-6 L -0.30273 -3.7037E-6 " pathEditMode="relative" rAng="0" ptsTypes="AA">
                                      <p:cBhvr>
                                        <p:cTn id="26" dur="1000" spd="-100000" fill="hold"/>
                                        <p:tgtEl>
                                          <p:spTgt spid="27"/>
                                        </p:tgtEl>
                                        <p:attrNameLst>
                                          <p:attrName>ppt_x</p:attrName>
                                          <p:attrName>ppt_y</p:attrName>
                                        </p:attrNameLst>
                                      </p:cBhvr>
                                      <p:rCtr x="-1514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7" grpId="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图片 24"/>
          <p:cNvPicPr>
            <a:picLocks noChangeAspect="1"/>
          </p:cNvPicPr>
          <p:nvPr/>
        </p:nvPicPr>
        <p:blipFill>
          <a:blip r:embed="rId3" cstate="screen"/>
          <a:stretch>
            <a:fillRect/>
          </a:stretch>
        </p:blipFill>
        <p:spPr>
          <a:xfrm>
            <a:off x="8088923" y="246423"/>
            <a:ext cx="4103077" cy="675011"/>
          </a:xfrm>
          <a:prstGeom prst="rect">
            <a:avLst/>
          </a:prstGeom>
        </p:spPr>
      </p:pic>
      <p:cxnSp>
        <p:nvCxnSpPr>
          <p:cNvPr id="26" name="直接连接符 25"/>
          <p:cNvCxnSpPr/>
          <p:nvPr/>
        </p:nvCxnSpPr>
        <p:spPr>
          <a:xfrm>
            <a:off x="0" y="921434"/>
            <a:ext cx="121920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7" name="矩形 26"/>
          <p:cNvSpPr/>
          <p:nvPr/>
        </p:nvSpPr>
        <p:spPr>
          <a:xfrm>
            <a:off x="1060287" y="353095"/>
            <a:ext cx="5262188" cy="461665"/>
          </a:xfrm>
          <a:prstGeom prst="rect">
            <a:avLst/>
          </a:prstGeom>
        </p:spPr>
        <p:txBody>
          <a:bodyPr wrap="square">
            <a:spAutoFit/>
          </a:bodyPr>
          <a:lstStyle/>
          <a:p>
            <a:r>
              <a:rPr lang="zh-CN" altLang="en-US" sz="2400" b="1" dirty="0">
                <a:solidFill>
                  <a:schemeClr val="accent1"/>
                </a:solidFill>
                <a:latin typeface="字体视界-NEW魏碑体" panose="02010601030101010101" pitchFamily="2" charset="-122"/>
                <a:ea typeface="字体视界-NEW魏碑体" panose="02010601030101010101" pitchFamily="2" charset="-122"/>
                <a:cs typeface="+mn-ea"/>
                <a:sym typeface="+mn-lt"/>
              </a:rPr>
              <a:t>第二部分：</a:t>
            </a:r>
            <a:r>
              <a:rPr lang="zh-CN" altLang="en-US" sz="2400" b="1" dirty="0">
                <a:solidFill>
                  <a:srgbClr val="C00000"/>
                </a:solidFill>
                <a:latin typeface="字体视界-NEW魏碑体" panose="02010601030101010101" pitchFamily="2" charset="-122"/>
                <a:ea typeface="字体视界-NEW魏碑体" panose="02010601030101010101" pitchFamily="2" charset="-122"/>
              </a:rPr>
              <a:t>周恩来总理与南开大学</a:t>
            </a:r>
          </a:p>
        </p:txBody>
      </p:sp>
      <p:sp>
        <p:nvSpPr>
          <p:cNvPr id="3" name="文本框 2">
            <a:extLst>
              <a:ext uri="{FF2B5EF4-FFF2-40B4-BE49-F238E27FC236}">
                <a16:creationId xmlns:a16="http://schemas.microsoft.com/office/drawing/2014/main" id="{EF1CC91E-10EA-1B53-1684-0FA0B46667D0}"/>
              </a:ext>
            </a:extLst>
          </p:cNvPr>
          <p:cNvSpPr txBox="1"/>
          <p:nvPr/>
        </p:nvSpPr>
        <p:spPr>
          <a:xfrm>
            <a:off x="639996" y="1182992"/>
            <a:ext cx="4399364" cy="4185761"/>
          </a:xfrm>
          <a:prstGeom prst="rect">
            <a:avLst/>
          </a:prstGeom>
          <a:noFill/>
        </p:spPr>
        <p:txBody>
          <a:bodyPr wrap="square">
            <a:spAutoFit/>
          </a:bodyPr>
          <a:lstStyle/>
          <a:p>
            <a:pPr algn="ctr"/>
            <a:r>
              <a:rPr lang="zh-CN" altLang="en-US" sz="3200" b="1" i="0" u="none" strike="noStrike" dirty="0">
                <a:effectLst/>
                <a:latin typeface="微软雅黑" panose="020B0503020204020204" pitchFamily="34" charset="-122"/>
                <a:ea typeface="微软雅黑" panose="020B0503020204020204" pitchFamily="34" charset="-122"/>
              </a:rPr>
              <a:t>入学津门，发奋念书</a:t>
            </a:r>
            <a:endParaRPr lang="en-US" altLang="zh-CN" sz="3200" b="1" i="0" u="none" strike="noStrike" dirty="0">
              <a:effectLst/>
              <a:latin typeface="微软雅黑" panose="020B0503020204020204" pitchFamily="34" charset="-122"/>
              <a:ea typeface="微软雅黑" panose="020B0503020204020204" pitchFamily="34" charset="-122"/>
            </a:endParaRPr>
          </a:p>
          <a:p>
            <a:pPr algn="l"/>
            <a:r>
              <a:rPr lang="zh-CN" altLang="en-US" b="1" i="0" u="none" strike="noStrike" dirty="0">
                <a:solidFill>
                  <a:srgbClr val="565656"/>
                </a:solidFill>
                <a:effectLst/>
                <a:latin typeface="微软雅黑" panose="020B0503020204020204" pitchFamily="34" charset="-122"/>
                <a:ea typeface="微软雅黑" panose="020B0503020204020204" pitchFamily="34" charset="-122"/>
              </a:rPr>
              <a:t>    </a:t>
            </a:r>
            <a:endParaRPr lang="en-US" altLang="zh-CN" b="1" i="0" u="none" strike="noStrike" dirty="0">
              <a:solidFill>
                <a:srgbClr val="565656"/>
              </a:solidFill>
              <a:effectLst/>
              <a:latin typeface="微软雅黑" panose="020B0503020204020204" pitchFamily="34" charset="-122"/>
              <a:ea typeface="微软雅黑" panose="020B0503020204020204" pitchFamily="34" charset="-122"/>
            </a:endParaRPr>
          </a:p>
          <a:p>
            <a:pPr algn="l"/>
            <a:r>
              <a:rPr lang="en-US" altLang="zh-CN" b="1" dirty="0">
                <a:solidFill>
                  <a:srgbClr val="565656"/>
                </a:solidFill>
                <a:latin typeface="微软雅黑" panose="020B0503020204020204" pitchFamily="34" charset="-122"/>
                <a:ea typeface="微软雅黑" panose="020B0503020204020204" pitchFamily="34" charset="-122"/>
              </a:rPr>
              <a:t>   </a:t>
            </a:r>
            <a:r>
              <a:rPr lang="zh-CN" altLang="en-US" b="1" i="0" u="none" strike="noStrike" dirty="0">
                <a:solidFill>
                  <a:srgbClr val="565656"/>
                </a:solidFill>
                <a:effectLst/>
                <a:latin typeface="微软雅黑" panose="020B0503020204020204" pitchFamily="34" charset="-122"/>
                <a:ea typeface="微软雅黑" panose="020B0503020204020204" pitchFamily="34" charset="-122"/>
              </a:rPr>
              <a:t>   周恩来青年时代在天津先后就读于南开中学和南开大学。</a:t>
            </a:r>
            <a:r>
              <a:rPr lang="en-US" altLang="zh-CN" b="1" i="0" u="none" strike="noStrike" dirty="0">
                <a:solidFill>
                  <a:srgbClr val="565656"/>
                </a:solidFill>
                <a:effectLst/>
                <a:latin typeface="微软雅黑" panose="020B0503020204020204" pitchFamily="34" charset="-122"/>
                <a:ea typeface="微软雅黑" panose="020B0503020204020204" pitchFamily="34" charset="-122"/>
              </a:rPr>
              <a:t>1919</a:t>
            </a:r>
            <a:r>
              <a:rPr lang="zh-CN" altLang="en-US" b="1" i="0" u="none" strike="noStrike" dirty="0">
                <a:solidFill>
                  <a:srgbClr val="565656"/>
                </a:solidFill>
                <a:effectLst/>
                <a:latin typeface="微软雅黑" panose="020B0503020204020204" pitchFamily="34" charset="-122"/>
                <a:ea typeface="微软雅黑" panose="020B0503020204020204" pitchFamily="34" charset="-122"/>
              </a:rPr>
              <a:t>年</a:t>
            </a:r>
            <a:r>
              <a:rPr lang="en-US" altLang="zh-CN" b="1" i="0" u="none" strike="noStrike" dirty="0">
                <a:solidFill>
                  <a:srgbClr val="565656"/>
                </a:solidFill>
                <a:effectLst/>
                <a:latin typeface="微软雅黑" panose="020B0503020204020204" pitchFamily="34" charset="-122"/>
                <a:ea typeface="微软雅黑" panose="020B0503020204020204" pitchFamily="34" charset="-122"/>
              </a:rPr>
              <a:t>9</a:t>
            </a:r>
            <a:r>
              <a:rPr lang="zh-CN" altLang="en-US" b="1" i="0" u="none" strike="noStrike" dirty="0">
                <a:solidFill>
                  <a:srgbClr val="565656"/>
                </a:solidFill>
                <a:effectLst/>
                <a:latin typeface="微软雅黑" panose="020B0503020204020204" pitchFamily="34" charset="-122"/>
                <a:ea typeface="微软雅黑" panose="020B0503020204020204" pitchFamily="34" charset="-122"/>
              </a:rPr>
              <a:t>月</a:t>
            </a:r>
            <a:r>
              <a:rPr lang="en-US" altLang="zh-CN" b="1" i="0" u="none" strike="noStrike" dirty="0">
                <a:solidFill>
                  <a:srgbClr val="565656"/>
                </a:solidFill>
                <a:effectLst/>
                <a:latin typeface="微软雅黑" panose="020B0503020204020204" pitchFamily="34" charset="-122"/>
                <a:ea typeface="微软雅黑" panose="020B0503020204020204" pitchFamily="34" charset="-122"/>
              </a:rPr>
              <a:t>25</a:t>
            </a:r>
            <a:r>
              <a:rPr lang="zh-CN" altLang="en-US" b="1" i="0" u="none" strike="noStrike" dirty="0">
                <a:solidFill>
                  <a:srgbClr val="565656"/>
                </a:solidFill>
                <a:effectLst/>
                <a:latin typeface="微软雅黑" panose="020B0503020204020204" pitchFamily="34" charset="-122"/>
                <a:ea typeface="微软雅黑" panose="020B0503020204020204" pitchFamily="34" charset="-122"/>
              </a:rPr>
              <a:t>日，南开学校大学部开学，共招学生</a:t>
            </a:r>
            <a:r>
              <a:rPr lang="en-US" altLang="zh-CN" b="1" i="0" u="none" strike="noStrike" dirty="0">
                <a:solidFill>
                  <a:srgbClr val="565656"/>
                </a:solidFill>
                <a:effectLst/>
                <a:latin typeface="微软雅黑" panose="020B0503020204020204" pitchFamily="34" charset="-122"/>
                <a:ea typeface="微软雅黑" panose="020B0503020204020204" pitchFamily="34" charset="-122"/>
              </a:rPr>
              <a:t>96</a:t>
            </a:r>
            <a:r>
              <a:rPr lang="zh-CN" altLang="en-US" b="1" i="0" u="none" strike="noStrike" dirty="0">
                <a:solidFill>
                  <a:srgbClr val="565656"/>
                </a:solidFill>
                <a:effectLst/>
                <a:latin typeface="微软雅黑" panose="020B0503020204020204" pitchFamily="34" charset="-122"/>
                <a:ea typeface="微软雅黑" panose="020B0503020204020204" pitchFamily="34" charset="-122"/>
              </a:rPr>
              <a:t>人。周恩来经严修、张伯苓批准免试入文科学习。后大学部决定改名为南开大学，周恩来成为</a:t>
            </a:r>
            <a:r>
              <a:rPr lang="zh-CN" altLang="en-US" b="1" i="0" u="none" strike="noStrike" dirty="0">
                <a:effectLst/>
                <a:latin typeface="微软雅黑" panose="020B0503020204020204" pitchFamily="34" charset="-122"/>
                <a:ea typeface="微软雅黑" panose="020B0503020204020204" pitchFamily="34" charset="-122"/>
              </a:rPr>
              <a:t>南开大学第一期学生</a:t>
            </a:r>
            <a:r>
              <a:rPr lang="zh-CN" altLang="en-US" b="1" i="0" u="none" strike="noStrike" dirty="0">
                <a:solidFill>
                  <a:srgbClr val="565656"/>
                </a:solidFill>
                <a:effectLst/>
                <a:latin typeface="微软雅黑" panose="020B0503020204020204" pitchFamily="34" charset="-122"/>
                <a:ea typeface="微软雅黑" panose="020B0503020204020204" pitchFamily="34" charset="-122"/>
              </a:rPr>
              <a:t>，学号</a:t>
            </a:r>
            <a:r>
              <a:rPr lang="en-US" altLang="zh-CN" b="1" i="0" u="none" strike="noStrike" dirty="0">
                <a:solidFill>
                  <a:srgbClr val="565656"/>
                </a:solidFill>
                <a:effectLst/>
                <a:latin typeface="微软雅黑" panose="020B0503020204020204" pitchFamily="34" charset="-122"/>
                <a:ea typeface="微软雅黑" panose="020B0503020204020204" pitchFamily="34" charset="-122"/>
              </a:rPr>
              <a:t>62</a:t>
            </a:r>
            <a:r>
              <a:rPr lang="zh-CN" altLang="en-US" b="1" i="0" u="none" strike="noStrike" dirty="0">
                <a:solidFill>
                  <a:srgbClr val="565656"/>
                </a:solidFill>
                <a:effectLst/>
                <a:latin typeface="微软雅黑" panose="020B0503020204020204" pitchFamily="34" charset="-122"/>
                <a:ea typeface="微软雅黑" panose="020B0503020204020204" pitchFamily="34" charset="-122"/>
              </a:rPr>
              <a:t>。</a:t>
            </a:r>
          </a:p>
          <a:p>
            <a:pPr algn="l"/>
            <a:r>
              <a:rPr lang="zh-CN" altLang="en-US" b="1" i="0" u="none" strike="noStrike" dirty="0">
                <a:solidFill>
                  <a:srgbClr val="565656"/>
                </a:solidFill>
                <a:effectLst/>
                <a:latin typeface="微软雅黑" panose="020B0503020204020204" pitchFamily="34" charset="-122"/>
                <a:ea typeface="微软雅黑" panose="020B0503020204020204" pitchFamily="34" charset="-122"/>
              </a:rPr>
              <a:t>　　至今，南开大学档案馆里仍然珍藏着当年周恩来的入学登记表和开学纪念合影。</a:t>
            </a:r>
            <a:endParaRPr lang="en-US" altLang="zh-CN" b="1" i="0" u="none" strike="noStrike" dirty="0">
              <a:solidFill>
                <a:srgbClr val="565656"/>
              </a:solidFill>
              <a:effectLst/>
              <a:latin typeface="微软雅黑" panose="020B0503020204020204" pitchFamily="34" charset="-122"/>
              <a:ea typeface="微软雅黑" panose="020B0503020204020204" pitchFamily="34" charset="-122"/>
            </a:endParaRPr>
          </a:p>
          <a:p>
            <a:pPr algn="l"/>
            <a:r>
              <a:rPr lang="en-US" altLang="zh-CN" b="1" dirty="0">
                <a:solidFill>
                  <a:srgbClr val="565656"/>
                </a:solidFill>
                <a:latin typeface="微软雅黑" panose="020B0503020204020204" pitchFamily="34" charset="-122"/>
                <a:ea typeface="微软雅黑" panose="020B0503020204020204" pitchFamily="34" charset="-122"/>
              </a:rPr>
              <a:t>       </a:t>
            </a:r>
            <a:r>
              <a:rPr lang="zh-CN" altLang="en-US" b="1" i="0" u="none" strike="noStrike" dirty="0">
                <a:solidFill>
                  <a:srgbClr val="565656"/>
                </a:solidFill>
                <a:effectLst/>
                <a:latin typeface="微软雅黑" panose="020B0503020204020204" pitchFamily="34" charset="-122"/>
                <a:ea typeface="微软雅黑" panose="020B0503020204020204" pitchFamily="34" charset="-122"/>
              </a:rPr>
              <a:t>在担任总理的</a:t>
            </a:r>
            <a:r>
              <a:rPr lang="en-US" altLang="zh-CN" b="1" i="0" u="none" strike="noStrike" dirty="0">
                <a:solidFill>
                  <a:srgbClr val="565656"/>
                </a:solidFill>
                <a:effectLst/>
                <a:latin typeface="微软雅黑" panose="020B0503020204020204" pitchFamily="34" charset="-122"/>
                <a:ea typeface="微软雅黑" panose="020B0503020204020204" pitchFamily="34" charset="-122"/>
              </a:rPr>
              <a:t>26</a:t>
            </a:r>
            <a:r>
              <a:rPr lang="zh-CN" altLang="en-US" b="1" i="0" u="none" strike="noStrike" dirty="0">
                <a:solidFill>
                  <a:srgbClr val="565656"/>
                </a:solidFill>
                <a:effectLst/>
                <a:latin typeface="微软雅黑" panose="020B0503020204020204" pitchFamily="34" charset="-122"/>
                <a:ea typeface="微软雅黑" panose="020B0503020204020204" pitchFamily="34" charset="-122"/>
              </a:rPr>
              <a:t>年间，周恩来</a:t>
            </a:r>
            <a:r>
              <a:rPr lang="en-US" altLang="zh-CN" b="1" i="0" u="none" strike="noStrike" dirty="0">
                <a:solidFill>
                  <a:srgbClr val="565656"/>
                </a:solidFill>
                <a:effectLst/>
                <a:latin typeface="微软雅黑" panose="020B0503020204020204" pitchFamily="34" charset="-122"/>
                <a:ea typeface="微软雅黑" panose="020B0503020204020204" pitchFamily="34" charset="-122"/>
              </a:rPr>
              <a:t>3</a:t>
            </a:r>
            <a:r>
              <a:rPr lang="zh-CN" altLang="en-US" b="1" i="0" u="none" strike="noStrike" dirty="0">
                <a:solidFill>
                  <a:srgbClr val="565656"/>
                </a:solidFill>
                <a:effectLst/>
                <a:latin typeface="微软雅黑" panose="020B0503020204020204" pitchFamily="34" charset="-122"/>
                <a:ea typeface="微软雅黑" panose="020B0503020204020204" pitchFamily="34" charset="-122"/>
              </a:rPr>
              <a:t>次回到母校南开大学，了解学校工作，与师生亲切交谈，给南开人留下了温暖而深刻的印象。</a:t>
            </a:r>
          </a:p>
        </p:txBody>
      </p:sp>
      <p:pic>
        <p:nvPicPr>
          <p:cNvPr id="5" name="图片 4">
            <a:extLst>
              <a:ext uri="{FF2B5EF4-FFF2-40B4-BE49-F238E27FC236}">
                <a16:creationId xmlns:a16="http://schemas.microsoft.com/office/drawing/2014/main" id="{D6C5313D-656D-A3D4-7291-DDA4FF0179C1}"/>
              </a:ext>
            </a:extLst>
          </p:cNvPr>
          <p:cNvPicPr>
            <a:picLocks noChangeAspect="1"/>
          </p:cNvPicPr>
          <p:nvPr/>
        </p:nvPicPr>
        <p:blipFill>
          <a:blip r:embed="rId4"/>
          <a:stretch>
            <a:fillRect/>
          </a:stretch>
        </p:blipFill>
        <p:spPr>
          <a:xfrm>
            <a:off x="5134187" y="1318786"/>
            <a:ext cx="6807054" cy="4321557"/>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p:cTn id="7" dur="500" fill="hold"/>
                                        <p:tgtEl>
                                          <p:spTgt spid="25"/>
                                        </p:tgtEl>
                                        <p:attrNameLst>
                                          <p:attrName>ppt_w</p:attrName>
                                        </p:attrNameLst>
                                      </p:cBhvr>
                                      <p:tavLst>
                                        <p:tav tm="0">
                                          <p:val>
                                            <p:fltVal val="0"/>
                                          </p:val>
                                        </p:tav>
                                        <p:tav tm="100000">
                                          <p:val>
                                            <p:strVal val="#ppt_w"/>
                                          </p:val>
                                        </p:tav>
                                      </p:tavLst>
                                    </p:anim>
                                    <p:anim calcmode="lin" valueType="num">
                                      <p:cBhvr>
                                        <p:cTn id="8" dur="500" fill="hold"/>
                                        <p:tgtEl>
                                          <p:spTgt spid="25"/>
                                        </p:tgtEl>
                                        <p:attrNameLst>
                                          <p:attrName>ppt_h</p:attrName>
                                        </p:attrNameLst>
                                      </p:cBhvr>
                                      <p:tavLst>
                                        <p:tav tm="0">
                                          <p:val>
                                            <p:fltVal val="0"/>
                                          </p:val>
                                        </p:tav>
                                        <p:tav tm="100000">
                                          <p:val>
                                            <p:strVal val="#ppt_h"/>
                                          </p:val>
                                        </p:tav>
                                      </p:tavLst>
                                    </p:anim>
                                    <p:animEffect transition="in" filter="fade">
                                      <p:cBhvr>
                                        <p:cTn id="9" dur="500"/>
                                        <p:tgtEl>
                                          <p:spTgt spid="25"/>
                                        </p:tgtEl>
                                      </p:cBhvr>
                                    </p:animEffect>
                                  </p:childTnLst>
                                </p:cTn>
                              </p:par>
                              <p:par>
                                <p:cTn id="10" presetID="35" presetClass="path" presetSubtype="0" accel="50000" decel="50000" fill="hold" nodeType="withEffect">
                                  <p:stCondLst>
                                    <p:cond delay="0"/>
                                  </p:stCondLst>
                                  <p:childTnLst>
                                    <p:animMotion origin="layout" path="M -6.25E-7 -3.7037E-6 L 0.18997 -3.7037E-6 " pathEditMode="relative" rAng="0" ptsTypes="AA">
                                      <p:cBhvr>
                                        <p:cTn id="11" dur="1000" spd="-100000" fill="hold"/>
                                        <p:tgtEl>
                                          <p:spTgt spid="25"/>
                                        </p:tgtEl>
                                        <p:attrNameLst>
                                          <p:attrName>ppt_x</p:attrName>
                                          <p:attrName>ppt_y</p:attrName>
                                        </p:attrNameLst>
                                      </p:cBhvr>
                                      <p:rCtr x="9492" y="0"/>
                                    </p:animMotion>
                                  </p:childTnLst>
                                </p:cTn>
                              </p:par>
                              <p:par>
                                <p:cTn id="12" presetID="53" presetClass="entr" presetSubtype="16" fill="hold" nodeType="withEffect">
                                  <p:stCondLst>
                                    <p:cond delay="0"/>
                                  </p:stCondLst>
                                  <p:childTnLst>
                                    <p:set>
                                      <p:cBhvr>
                                        <p:cTn id="13" dur="1" fill="hold">
                                          <p:stCondLst>
                                            <p:cond delay="0"/>
                                          </p:stCondLst>
                                        </p:cTn>
                                        <p:tgtEl>
                                          <p:spTgt spid="26"/>
                                        </p:tgtEl>
                                        <p:attrNameLst>
                                          <p:attrName>style.visibility</p:attrName>
                                        </p:attrNameLst>
                                      </p:cBhvr>
                                      <p:to>
                                        <p:strVal val="visible"/>
                                      </p:to>
                                    </p:set>
                                    <p:anim calcmode="lin" valueType="num">
                                      <p:cBhvr>
                                        <p:cTn id="14" dur="500" fill="hold"/>
                                        <p:tgtEl>
                                          <p:spTgt spid="26"/>
                                        </p:tgtEl>
                                        <p:attrNameLst>
                                          <p:attrName>ppt_w</p:attrName>
                                        </p:attrNameLst>
                                      </p:cBhvr>
                                      <p:tavLst>
                                        <p:tav tm="0">
                                          <p:val>
                                            <p:fltVal val="0"/>
                                          </p:val>
                                        </p:tav>
                                        <p:tav tm="100000">
                                          <p:val>
                                            <p:strVal val="#ppt_w"/>
                                          </p:val>
                                        </p:tav>
                                      </p:tavLst>
                                    </p:anim>
                                    <p:anim calcmode="lin" valueType="num">
                                      <p:cBhvr>
                                        <p:cTn id="15" dur="500" fill="hold"/>
                                        <p:tgtEl>
                                          <p:spTgt spid="26"/>
                                        </p:tgtEl>
                                        <p:attrNameLst>
                                          <p:attrName>ppt_h</p:attrName>
                                        </p:attrNameLst>
                                      </p:cBhvr>
                                      <p:tavLst>
                                        <p:tav tm="0">
                                          <p:val>
                                            <p:fltVal val="0"/>
                                          </p:val>
                                        </p:tav>
                                        <p:tav tm="100000">
                                          <p:val>
                                            <p:strVal val="#ppt_h"/>
                                          </p:val>
                                        </p:tav>
                                      </p:tavLst>
                                    </p:anim>
                                    <p:animEffect transition="in" filter="fade">
                                      <p:cBhvr>
                                        <p:cTn id="16" dur="500"/>
                                        <p:tgtEl>
                                          <p:spTgt spid="26"/>
                                        </p:tgtEl>
                                      </p:cBhvr>
                                    </p:animEffect>
                                  </p:childTnLst>
                                </p:cTn>
                              </p:par>
                              <p:par>
                                <p:cTn id="17" presetID="35" presetClass="path" presetSubtype="0" accel="50000" decel="50000" fill="hold" nodeType="withEffect">
                                  <p:stCondLst>
                                    <p:cond delay="0"/>
                                  </p:stCondLst>
                                  <p:childTnLst>
                                    <p:animMotion origin="layout" path="M 0 -3.7037E-6 L -0.41185 -3.7037E-6 " pathEditMode="relative" rAng="0" ptsTypes="AA">
                                      <p:cBhvr>
                                        <p:cTn id="18" dur="1000" spd="-100000" fill="hold"/>
                                        <p:tgtEl>
                                          <p:spTgt spid="26"/>
                                        </p:tgtEl>
                                        <p:attrNameLst>
                                          <p:attrName>ppt_x</p:attrName>
                                          <p:attrName>ppt_y</p:attrName>
                                        </p:attrNameLst>
                                      </p:cBhvr>
                                      <p:rCtr x="-20599" y="0"/>
                                    </p:animMotion>
                                  </p:childTnLst>
                                </p:cTn>
                              </p:par>
                            </p:childTnLst>
                          </p:cTn>
                        </p:par>
                        <p:par>
                          <p:cTn id="19" fill="hold">
                            <p:stCondLst>
                              <p:cond delay="500"/>
                            </p:stCondLst>
                            <p:childTnLst>
                              <p:par>
                                <p:cTn id="20" presetID="53" presetClass="entr" presetSubtype="16" fill="hold" grpId="0" nodeType="afterEffect">
                                  <p:stCondLst>
                                    <p:cond delay="0"/>
                                  </p:stCondLst>
                                  <p:childTnLst>
                                    <p:set>
                                      <p:cBhvr>
                                        <p:cTn id="21" dur="1" fill="hold">
                                          <p:stCondLst>
                                            <p:cond delay="0"/>
                                          </p:stCondLst>
                                        </p:cTn>
                                        <p:tgtEl>
                                          <p:spTgt spid="27"/>
                                        </p:tgtEl>
                                        <p:attrNameLst>
                                          <p:attrName>style.visibility</p:attrName>
                                        </p:attrNameLst>
                                      </p:cBhvr>
                                      <p:to>
                                        <p:strVal val="visible"/>
                                      </p:to>
                                    </p:set>
                                    <p:anim calcmode="lin" valueType="num">
                                      <p:cBhvr>
                                        <p:cTn id="22" dur="500" fill="hold"/>
                                        <p:tgtEl>
                                          <p:spTgt spid="27"/>
                                        </p:tgtEl>
                                        <p:attrNameLst>
                                          <p:attrName>ppt_w</p:attrName>
                                        </p:attrNameLst>
                                      </p:cBhvr>
                                      <p:tavLst>
                                        <p:tav tm="0">
                                          <p:val>
                                            <p:fltVal val="0"/>
                                          </p:val>
                                        </p:tav>
                                        <p:tav tm="100000">
                                          <p:val>
                                            <p:strVal val="#ppt_w"/>
                                          </p:val>
                                        </p:tav>
                                      </p:tavLst>
                                    </p:anim>
                                    <p:anim calcmode="lin" valueType="num">
                                      <p:cBhvr>
                                        <p:cTn id="23" dur="500" fill="hold"/>
                                        <p:tgtEl>
                                          <p:spTgt spid="27"/>
                                        </p:tgtEl>
                                        <p:attrNameLst>
                                          <p:attrName>ppt_h</p:attrName>
                                        </p:attrNameLst>
                                      </p:cBhvr>
                                      <p:tavLst>
                                        <p:tav tm="0">
                                          <p:val>
                                            <p:fltVal val="0"/>
                                          </p:val>
                                        </p:tav>
                                        <p:tav tm="100000">
                                          <p:val>
                                            <p:strVal val="#ppt_h"/>
                                          </p:val>
                                        </p:tav>
                                      </p:tavLst>
                                    </p:anim>
                                    <p:animEffect transition="in" filter="fade">
                                      <p:cBhvr>
                                        <p:cTn id="24" dur="500"/>
                                        <p:tgtEl>
                                          <p:spTgt spid="27"/>
                                        </p:tgtEl>
                                      </p:cBhvr>
                                    </p:animEffect>
                                  </p:childTnLst>
                                </p:cTn>
                              </p:par>
                              <p:par>
                                <p:cTn id="25" presetID="35" presetClass="path" presetSubtype="0" accel="50000" decel="50000" fill="hold" grpId="1" nodeType="withEffect">
                                  <p:stCondLst>
                                    <p:cond delay="0"/>
                                  </p:stCondLst>
                                  <p:childTnLst>
                                    <p:animMotion origin="layout" path="M -4.375E-6 -3.7037E-6 L -0.30273 -3.7037E-6 " pathEditMode="relative" rAng="0" ptsTypes="AA">
                                      <p:cBhvr>
                                        <p:cTn id="26" dur="1000" spd="-100000" fill="hold"/>
                                        <p:tgtEl>
                                          <p:spTgt spid="27"/>
                                        </p:tgtEl>
                                        <p:attrNameLst>
                                          <p:attrName>ppt_x</p:attrName>
                                          <p:attrName>ppt_y</p:attrName>
                                        </p:attrNameLst>
                                      </p:cBhvr>
                                      <p:rCtr x="-1514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7" grpId="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图片 24"/>
          <p:cNvPicPr>
            <a:picLocks noChangeAspect="1"/>
          </p:cNvPicPr>
          <p:nvPr/>
        </p:nvPicPr>
        <p:blipFill>
          <a:blip r:embed="rId3" cstate="screen"/>
          <a:stretch>
            <a:fillRect/>
          </a:stretch>
        </p:blipFill>
        <p:spPr>
          <a:xfrm>
            <a:off x="8088923" y="246423"/>
            <a:ext cx="4103077" cy="675011"/>
          </a:xfrm>
          <a:prstGeom prst="rect">
            <a:avLst/>
          </a:prstGeom>
        </p:spPr>
      </p:pic>
      <p:cxnSp>
        <p:nvCxnSpPr>
          <p:cNvPr id="26" name="直接连接符 25"/>
          <p:cNvCxnSpPr/>
          <p:nvPr/>
        </p:nvCxnSpPr>
        <p:spPr>
          <a:xfrm>
            <a:off x="0" y="921434"/>
            <a:ext cx="121920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7" name="矩形 26"/>
          <p:cNvSpPr/>
          <p:nvPr/>
        </p:nvSpPr>
        <p:spPr>
          <a:xfrm>
            <a:off x="1060287" y="353095"/>
            <a:ext cx="5262188" cy="461665"/>
          </a:xfrm>
          <a:prstGeom prst="rect">
            <a:avLst/>
          </a:prstGeom>
        </p:spPr>
        <p:txBody>
          <a:bodyPr wrap="square">
            <a:spAutoFit/>
          </a:bodyPr>
          <a:lstStyle/>
          <a:p>
            <a:r>
              <a:rPr lang="zh-CN" altLang="en-US" sz="2400" b="1" dirty="0">
                <a:solidFill>
                  <a:schemeClr val="accent1"/>
                </a:solidFill>
                <a:latin typeface="字体视界-NEW魏碑体" panose="02010601030101010101" pitchFamily="2" charset="-122"/>
                <a:ea typeface="字体视界-NEW魏碑体" panose="02010601030101010101" pitchFamily="2" charset="-122"/>
                <a:cs typeface="+mn-ea"/>
                <a:sym typeface="+mn-lt"/>
              </a:rPr>
              <a:t>第二部分：</a:t>
            </a:r>
            <a:r>
              <a:rPr lang="zh-CN" altLang="en-US" sz="2400" b="1" dirty="0">
                <a:solidFill>
                  <a:srgbClr val="C00000"/>
                </a:solidFill>
                <a:latin typeface="字体视界-NEW魏碑体" panose="02010601030101010101" pitchFamily="2" charset="-122"/>
                <a:ea typeface="字体视界-NEW魏碑体" panose="02010601030101010101" pitchFamily="2" charset="-122"/>
              </a:rPr>
              <a:t>周恩来总理与南开大学</a:t>
            </a:r>
          </a:p>
        </p:txBody>
      </p:sp>
      <p:sp>
        <p:nvSpPr>
          <p:cNvPr id="5" name="文本框 4">
            <a:extLst>
              <a:ext uri="{FF2B5EF4-FFF2-40B4-BE49-F238E27FC236}">
                <a16:creationId xmlns:a16="http://schemas.microsoft.com/office/drawing/2014/main" id="{676AFD20-6064-D756-1135-B47819ABAA97}"/>
              </a:ext>
            </a:extLst>
          </p:cNvPr>
          <p:cNvSpPr txBox="1"/>
          <p:nvPr/>
        </p:nvSpPr>
        <p:spPr>
          <a:xfrm>
            <a:off x="518161" y="1197383"/>
            <a:ext cx="6102772" cy="2616101"/>
          </a:xfrm>
          <a:prstGeom prst="rect">
            <a:avLst/>
          </a:prstGeom>
          <a:noFill/>
        </p:spPr>
        <p:txBody>
          <a:bodyPr wrap="square">
            <a:spAutoFit/>
          </a:bodyPr>
          <a:lstStyle/>
          <a:p>
            <a:r>
              <a:rPr kumimoji="0" lang="zh-CN" altLang="en-US" sz="3200" b="1" i="0" u="none" strike="noStrike" kern="1200" cap="none" spc="0" normalizeH="0" baseline="0" noProof="0" dirty="0">
                <a:ln>
                  <a:noFill/>
                </a:ln>
                <a:solidFill>
                  <a:prstClr val="black"/>
                </a:solidFill>
                <a:effectLst/>
                <a:uLnTx/>
                <a:uFillTx/>
                <a:latin typeface="Microsoft YaHei"/>
                <a:cs typeface="+mn-cs"/>
              </a:rPr>
              <a:t>对学校建设作出的贡献</a:t>
            </a:r>
            <a:endParaRPr kumimoji="0" lang="en-US" altLang="zh-CN" sz="3200" b="1" i="0" u="none" strike="noStrike" kern="1200" cap="none" spc="0" normalizeH="0" baseline="0" noProof="0" dirty="0">
              <a:ln>
                <a:noFill/>
              </a:ln>
              <a:solidFill>
                <a:prstClr val="black"/>
              </a:solidFill>
              <a:effectLst/>
              <a:uLnTx/>
              <a:uFillTx/>
              <a:latin typeface="Microsoft YaHei"/>
              <a:cs typeface="+mn-cs"/>
            </a:endParaRPr>
          </a:p>
          <a:p>
            <a:endParaRPr lang="en-US" altLang="zh-CN" b="0" i="0" dirty="0">
              <a:solidFill>
                <a:srgbClr val="666666"/>
              </a:solidFill>
              <a:effectLst/>
              <a:latin typeface="Microsoft YaHei" panose="020B0503020204020204" pitchFamily="34" charset="-122"/>
              <a:ea typeface="Microsoft YaHei" panose="020B0503020204020204" pitchFamily="34" charset="-122"/>
            </a:endParaRPr>
          </a:p>
          <a:p>
            <a:r>
              <a:rPr lang="zh-CN" altLang="en-US" sz="2400" b="1" i="0" dirty="0">
                <a:effectLst/>
                <a:latin typeface="Microsoft YaHei" panose="020B0503020204020204" pitchFamily="34" charset="-122"/>
                <a:ea typeface="Microsoft YaHei" panose="020B0503020204020204" pitchFamily="34" charset="-122"/>
              </a:rPr>
              <a:t>促使南开大学成立觉悟社：</a:t>
            </a:r>
            <a:endParaRPr lang="en-US" altLang="zh-CN" sz="2400" b="1" i="0" dirty="0">
              <a:effectLst/>
              <a:latin typeface="Microsoft YaHei" panose="020B0503020204020204" pitchFamily="34" charset="-122"/>
              <a:ea typeface="Microsoft YaHei" panose="020B0503020204020204" pitchFamily="34" charset="-122"/>
            </a:endParaRPr>
          </a:p>
          <a:p>
            <a:r>
              <a:rPr lang="en-US" altLang="zh-CN" b="1" i="0" dirty="0">
                <a:solidFill>
                  <a:srgbClr val="666666"/>
                </a:solidFill>
                <a:effectLst/>
                <a:latin typeface="Microsoft YaHei" panose="020B0503020204020204" pitchFamily="34" charset="-122"/>
                <a:ea typeface="Microsoft YaHei" panose="020B0503020204020204" pitchFamily="34" charset="-122"/>
              </a:rPr>
              <a:t>1919</a:t>
            </a:r>
            <a:r>
              <a:rPr lang="zh-CN" altLang="en-US" b="1" i="0" dirty="0">
                <a:solidFill>
                  <a:srgbClr val="666666"/>
                </a:solidFill>
                <a:effectLst/>
                <a:latin typeface="Microsoft YaHei" panose="020B0503020204020204" pitchFamily="34" charset="-122"/>
                <a:ea typeface="Microsoft YaHei" panose="020B0503020204020204" pitchFamily="34" charset="-122"/>
              </a:rPr>
              <a:t>年</a:t>
            </a:r>
            <a:r>
              <a:rPr lang="en-US" altLang="zh-CN" b="1" i="0" dirty="0">
                <a:solidFill>
                  <a:srgbClr val="666666"/>
                </a:solidFill>
                <a:effectLst/>
                <a:latin typeface="Microsoft YaHei" panose="020B0503020204020204" pitchFamily="34" charset="-122"/>
                <a:ea typeface="Microsoft YaHei" panose="020B0503020204020204" pitchFamily="34" charset="-122"/>
              </a:rPr>
              <a:t>9</a:t>
            </a:r>
            <a:r>
              <a:rPr lang="zh-CN" altLang="en-US" b="1" i="0" dirty="0">
                <a:solidFill>
                  <a:srgbClr val="666666"/>
                </a:solidFill>
                <a:effectLst/>
                <a:latin typeface="Microsoft YaHei" panose="020B0503020204020204" pitchFamily="34" charset="-122"/>
                <a:ea typeface="Microsoft YaHei" panose="020B0503020204020204" pitchFamily="34" charset="-122"/>
              </a:rPr>
              <a:t>月</a:t>
            </a:r>
            <a:r>
              <a:rPr lang="en-US" altLang="zh-CN" b="1" i="0" dirty="0">
                <a:solidFill>
                  <a:srgbClr val="666666"/>
                </a:solidFill>
                <a:effectLst/>
                <a:latin typeface="Microsoft YaHei" panose="020B0503020204020204" pitchFamily="34" charset="-122"/>
                <a:ea typeface="Microsoft YaHei" panose="020B0503020204020204" pitchFamily="34" charset="-122"/>
              </a:rPr>
              <a:t>16</a:t>
            </a:r>
            <a:r>
              <a:rPr lang="zh-CN" altLang="en-US" b="1" i="0" dirty="0">
                <a:solidFill>
                  <a:srgbClr val="666666"/>
                </a:solidFill>
                <a:effectLst/>
                <a:latin typeface="Microsoft YaHei" panose="020B0503020204020204" pitchFamily="34" charset="-122"/>
                <a:ea typeface="Microsoft YaHei" panose="020B0503020204020204" pitchFamily="34" charset="-122"/>
              </a:rPr>
              <a:t>日，在周恩来主持下，由天津学生运动骨干组成的觉悟社成立。首批社员有周恩来、邓颖超等二十人，男女各半。觉悟社成立后即成为天津学生爱国运动的领导核心。这是觉悟社部分成员的合影。</a:t>
            </a:r>
            <a:endParaRPr lang="en-US" altLang="zh-CN" dirty="0">
              <a:solidFill>
                <a:srgbClr val="666666"/>
              </a:solidFill>
              <a:latin typeface="Microsoft YaHei" panose="020B0503020204020204" pitchFamily="34" charset="-122"/>
              <a:ea typeface="Microsoft YaHei" panose="020B0503020204020204" pitchFamily="34" charset="-122"/>
            </a:endParaRPr>
          </a:p>
          <a:p>
            <a:endParaRPr lang="zh-CN" altLang="en-US" dirty="0"/>
          </a:p>
        </p:txBody>
      </p:sp>
      <p:pic>
        <p:nvPicPr>
          <p:cNvPr id="7" name="图片 6">
            <a:extLst>
              <a:ext uri="{FF2B5EF4-FFF2-40B4-BE49-F238E27FC236}">
                <a16:creationId xmlns:a16="http://schemas.microsoft.com/office/drawing/2014/main" id="{EF36D3B4-5CF9-106F-4E01-0099E9850B91}"/>
              </a:ext>
            </a:extLst>
          </p:cNvPr>
          <p:cNvPicPr>
            <a:picLocks noChangeAspect="1"/>
          </p:cNvPicPr>
          <p:nvPr/>
        </p:nvPicPr>
        <p:blipFill>
          <a:blip r:embed="rId4"/>
          <a:stretch>
            <a:fillRect/>
          </a:stretch>
        </p:blipFill>
        <p:spPr>
          <a:xfrm>
            <a:off x="610981" y="3721151"/>
            <a:ext cx="5917131" cy="2054315"/>
          </a:xfrm>
          <a:prstGeom prst="rect">
            <a:avLst/>
          </a:prstGeom>
        </p:spPr>
      </p:pic>
      <p:sp>
        <p:nvSpPr>
          <p:cNvPr id="8" name="文本框 7">
            <a:extLst>
              <a:ext uri="{FF2B5EF4-FFF2-40B4-BE49-F238E27FC236}">
                <a16:creationId xmlns:a16="http://schemas.microsoft.com/office/drawing/2014/main" id="{54EE7667-24F0-8EB0-3E4A-7B63975CAEDE}"/>
              </a:ext>
            </a:extLst>
          </p:cNvPr>
          <p:cNvSpPr txBox="1"/>
          <p:nvPr/>
        </p:nvSpPr>
        <p:spPr>
          <a:xfrm>
            <a:off x="7112001" y="3749255"/>
            <a:ext cx="4572000" cy="2862322"/>
          </a:xfrm>
          <a:prstGeom prst="rect">
            <a:avLst/>
          </a:prstGeom>
          <a:noFill/>
        </p:spPr>
        <p:txBody>
          <a:bodyPr wrap="square" rtlCol="0">
            <a:spAutoFit/>
          </a:bodyPr>
          <a:lstStyle/>
          <a:p>
            <a:r>
              <a:rPr lang="zh-CN" altLang="en-US" b="1" dirty="0"/>
              <a:t>设立翔宇剧社：</a:t>
            </a:r>
            <a:r>
              <a:rPr lang="zh-CN" altLang="en-US" b="0" i="0" dirty="0">
                <a:solidFill>
                  <a:srgbClr val="000000"/>
                </a:solidFill>
                <a:effectLst/>
                <a:latin typeface="-apple-system-font"/>
              </a:rPr>
              <a:t> </a:t>
            </a:r>
            <a:endParaRPr lang="en-US" altLang="zh-CN" b="0" i="0" dirty="0">
              <a:solidFill>
                <a:srgbClr val="000000"/>
              </a:solidFill>
              <a:effectLst/>
              <a:latin typeface="-apple-system-font"/>
            </a:endParaRPr>
          </a:p>
          <a:p>
            <a:r>
              <a:rPr lang="en-US" altLang="zh-CN" dirty="0">
                <a:solidFill>
                  <a:srgbClr val="000000"/>
                </a:solidFill>
                <a:latin typeface="-apple-system-font"/>
              </a:rPr>
              <a:t>        </a:t>
            </a:r>
            <a:r>
              <a:rPr lang="en-US" altLang="zh-CN" b="1" i="0" dirty="0">
                <a:solidFill>
                  <a:schemeClr val="tx1">
                    <a:lumMod val="65000"/>
                    <a:lumOff val="35000"/>
                  </a:schemeClr>
                </a:solidFill>
                <a:effectLst/>
                <a:latin typeface="-apple-system-font"/>
              </a:rPr>
              <a:t>1998</a:t>
            </a:r>
            <a:r>
              <a:rPr lang="zh-CN" altLang="en-US" b="1" i="0" dirty="0">
                <a:solidFill>
                  <a:schemeClr val="tx1">
                    <a:lumMod val="65000"/>
                    <a:lumOff val="35000"/>
                  </a:schemeClr>
                </a:solidFill>
                <a:effectLst/>
                <a:latin typeface="-apple-system-font"/>
              </a:rPr>
              <a:t>年，为纪念伟大的校友周恩来总理诞辰一百周年，翔宇剧社成立。剧社成立之初即定义为面向全校的学生话剧爱好者团体，现已成长为南开大学最具影响力的话剧社团，并多次获得南开大学“十佳社团”“五四评优红旗团支部标兵”等荣誉称号。成立二十三年来，翔宇剧社始终秉承“普及话剧艺术，服务校园生活”的原则，目前剧社已经形成了戏剧节、表演课、读本会等品牌活动。</a:t>
            </a:r>
            <a:endParaRPr lang="en-US" altLang="zh-CN" b="1" dirty="0">
              <a:solidFill>
                <a:schemeClr val="tx1">
                  <a:lumMod val="65000"/>
                  <a:lumOff val="35000"/>
                </a:schemeClr>
              </a:solidFill>
            </a:endParaRPr>
          </a:p>
        </p:txBody>
      </p:sp>
      <p:pic>
        <p:nvPicPr>
          <p:cNvPr id="10" name="图片 9">
            <a:extLst>
              <a:ext uri="{FF2B5EF4-FFF2-40B4-BE49-F238E27FC236}">
                <a16:creationId xmlns:a16="http://schemas.microsoft.com/office/drawing/2014/main" id="{5BF6BECB-AE52-B048-DCE3-F51EBCF28F7B}"/>
              </a:ext>
            </a:extLst>
          </p:cNvPr>
          <p:cNvPicPr>
            <a:picLocks noChangeAspect="1"/>
          </p:cNvPicPr>
          <p:nvPr/>
        </p:nvPicPr>
        <p:blipFill>
          <a:blip r:embed="rId5"/>
          <a:stretch>
            <a:fillRect/>
          </a:stretch>
        </p:blipFill>
        <p:spPr>
          <a:xfrm>
            <a:off x="7287821" y="1028108"/>
            <a:ext cx="3901726" cy="2667163"/>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p:cTn id="7" dur="500" fill="hold"/>
                                        <p:tgtEl>
                                          <p:spTgt spid="25"/>
                                        </p:tgtEl>
                                        <p:attrNameLst>
                                          <p:attrName>ppt_w</p:attrName>
                                        </p:attrNameLst>
                                      </p:cBhvr>
                                      <p:tavLst>
                                        <p:tav tm="0">
                                          <p:val>
                                            <p:fltVal val="0"/>
                                          </p:val>
                                        </p:tav>
                                        <p:tav tm="100000">
                                          <p:val>
                                            <p:strVal val="#ppt_w"/>
                                          </p:val>
                                        </p:tav>
                                      </p:tavLst>
                                    </p:anim>
                                    <p:anim calcmode="lin" valueType="num">
                                      <p:cBhvr>
                                        <p:cTn id="8" dur="500" fill="hold"/>
                                        <p:tgtEl>
                                          <p:spTgt spid="25"/>
                                        </p:tgtEl>
                                        <p:attrNameLst>
                                          <p:attrName>ppt_h</p:attrName>
                                        </p:attrNameLst>
                                      </p:cBhvr>
                                      <p:tavLst>
                                        <p:tav tm="0">
                                          <p:val>
                                            <p:fltVal val="0"/>
                                          </p:val>
                                        </p:tav>
                                        <p:tav tm="100000">
                                          <p:val>
                                            <p:strVal val="#ppt_h"/>
                                          </p:val>
                                        </p:tav>
                                      </p:tavLst>
                                    </p:anim>
                                    <p:animEffect transition="in" filter="fade">
                                      <p:cBhvr>
                                        <p:cTn id="9" dur="500"/>
                                        <p:tgtEl>
                                          <p:spTgt spid="25"/>
                                        </p:tgtEl>
                                      </p:cBhvr>
                                    </p:animEffect>
                                  </p:childTnLst>
                                </p:cTn>
                              </p:par>
                              <p:par>
                                <p:cTn id="10" presetID="35" presetClass="path" presetSubtype="0" accel="50000" decel="50000" fill="hold" nodeType="withEffect">
                                  <p:stCondLst>
                                    <p:cond delay="0"/>
                                  </p:stCondLst>
                                  <p:childTnLst>
                                    <p:animMotion origin="layout" path="M -6.25E-7 -3.7037E-6 L 0.18997 -3.7037E-6 " pathEditMode="relative" rAng="0" ptsTypes="AA">
                                      <p:cBhvr>
                                        <p:cTn id="11" dur="1000" spd="-100000" fill="hold"/>
                                        <p:tgtEl>
                                          <p:spTgt spid="25"/>
                                        </p:tgtEl>
                                        <p:attrNameLst>
                                          <p:attrName>ppt_x</p:attrName>
                                          <p:attrName>ppt_y</p:attrName>
                                        </p:attrNameLst>
                                      </p:cBhvr>
                                      <p:rCtr x="9492" y="0"/>
                                    </p:animMotion>
                                  </p:childTnLst>
                                </p:cTn>
                              </p:par>
                              <p:par>
                                <p:cTn id="12" presetID="53" presetClass="entr" presetSubtype="16" fill="hold" nodeType="withEffect">
                                  <p:stCondLst>
                                    <p:cond delay="0"/>
                                  </p:stCondLst>
                                  <p:childTnLst>
                                    <p:set>
                                      <p:cBhvr>
                                        <p:cTn id="13" dur="1" fill="hold">
                                          <p:stCondLst>
                                            <p:cond delay="0"/>
                                          </p:stCondLst>
                                        </p:cTn>
                                        <p:tgtEl>
                                          <p:spTgt spid="26"/>
                                        </p:tgtEl>
                                        <p:attrNameLst>
                                          <p:attrName>style.visibility</p:attrName>
                                        </p:attrNameLst>
                                      </p:cBhvr>
                                      <p:to>
                                        <p:strVal val="visible"/>
                                      </p:to>
                                    </p:set>
                                    <p:anim calcmode="lin" valueType="num">
                                      <p:cBhvr>
                                        <p:cTn id="14" dur="500" fill="hold"/>
                                        <p:tgtEl>
                                          <p:spTgt spid="26"/>
                                        </p:tgtEl>
                                        <p:attrNameLst>
                                          <p:attrName>ppt_w</p:attrName>
                                        </p:attrNameLst>
                                      </p:cBhvr>
                                      <p:tavLst>
                                        <p:tav tm="0">
                                          <p:val>
                                            <p:fltVal val="0"/>
                                          </p:val>
                                        </p:tav>
                                        <p:tav tm="100000">
                                          <p:val>
                                            <p:strVal val="#ppt_w"/>
                                          </p:val>
                                        </p:tav>
                                      </p:tavLst>
                                    </p:anim>
                                    <p:anim calcmode="lin" valueType="num">
                                      <p:cBhvr>
                                        <p:cTn id="15" dur="500" fill="hold"/>
                                        <p:tgtEl>
                                          <p:spTgt spid="26"/>
                                        </p:tgtEl>
                                        <p:attrNameLst>
                                          <p:attrName>ppt_h</p:attrName>
                                        </p:attrNameLst>
                                      </p:cBhvr>
                                      <p:tavLst>
                                        <p:tav tm="0">
                                          <p:val>
                                            <p:fltVal val="0"/>
                                          </p:val>
                                        </p:tav>
                                        <p:tav tm="100000">
                                          <p:val>
                                            <p:strVal val="#ppt_h"/>
                                          </p:val>
                                        </p:tav>
                                      </p:tavLst>
                                    </p:anim>
                                    <p:animEffect transition="in" filter="fade">
                                      <p:cBhvr>
                                        <p:cTn id="16" dur="500"/>
                                        <p:tgtEl>
                                          <p:spTgt spid="26"/>
                                        </p:tgtEl>
                                      </p:cBhvr>
                                    </p:animEffect>
                                  </p:childTnLst>
                                </p:cTn>
                              </p:par>
                              <p:par>
                                <p:cTn id="17" presetID="35" presetClass="path" presetSubtype="0" accel="50000" decel="50000" fill="hold" nodeType="withEffect">
                                  <p:stCondLst>
                                    <p:cond delay="0"/>
                                  </p:stCondLst>
                                  <p:childTnLst>
                                    <p:animMotion origin="layout" path="M 0 -3.7037E-6 L -0.41185 -3.7037E-6 " pathEditMode="relative" rAng="0" ptsTypes="AA">
                                      <p:cBhvr>
                                        <p:cTn id="18" dur="1000" spd="-100000" fill="hold"/>
                                        <p:tgtEl>
                                          <p:spTgt spid="26"/>
                                        </p:tgtEl>
                                        <p:attrNameLst>
                                          <p:attrName>ppt_x</p:attrName>
                                          <p:attrName>ppt_y</p:attrName>
                                        </p:attrNameLst>
                                      </p:cBhvr>
                                      <p:rCtr x="-20599" y="0"/>
                                    </p:animMotion>
                                  </p:childTnLst>
                                </p:cTn>
                              </p:par>
                            </p:childTnLst>
                          </p:cTn>
                        </p:par>
                        <p:par>
                          <p:cTn id="19" fill="hold">
                            <p:stCondLst>
                              <p:cond delay="500"/>
                            </p:stCondLst>
                            <p:childTnLst>
                              <p:par>
                                <p:cTn id="20" presetID="53" presetClass="entr" presetSubtype="16" fill="hold" grpId="0" nodeType="afterEffect">
                                  <p:stCondLst>
                                    <p:cond delay="0"/>
                                  </p:stCondLst>
                                  <p:childTnLst>
                                    <p:set>
                                      <p:cBhvr>
                                        <p:cTn id="21" dur="1" fill="hold">
                                          <p:stCondLst>
                                            <p:cond delay="0"/>
                                          </p:stCondLst>
                                        </p:cTn>
                                        <p:tgtEl>
                                          <p:spTgt spid="27"/>
                                        </p:tgtEl>
                                        <p:attrNameLst>
                                          <p:attrName>style.visibility</p:attrName>
                                        </p:attrNameLst>
                                      </p:cBhvr>
                                      <p:to>
                                        <p:strVal val="visible"/>
                                      </p:to>
                                    </p:set>
                                    <p:anim calcmode="lin" valueType="num">
                                      <p:cBhvr>
                                        <p:cTn id="22" dur="500" fill="hold"/>
                                        <p:tgtEl>
                                          <p:spTgt spid="27"/>
                                        </p:tgtEl>
                                        <p:attrNameLst>
                                          <p:attrName>ppt_w</p:attrName>
                                        </p:attrNameLst>
                                      </p:cBhvr>
                                      <p:tavLst>
                                        <p:tav tm="0">
                                          <p:val>
                                            <p:fltVal val="0"/>
                                          </p:val>
                                        </p:tav>
                                        <p:tav tm="100000">
                                          <p:val>
                                            <p:strVal val="#ppt_w"/>
                                          </p:val>
                                        </p:tav>
                                      </p:tavLst>
                                    </p:anim>
                                    <p:anim calcmode="lin" valueType="num">
                                      <p:cBhvr>
                                        <p:cTn id="23" dur="500" fill="hold"/>
                                        <p:tgtEl>
                                          <p:spTgt spid="27"/>
                                        </p:tgtEl>
                                        <p:attrNameLst>
                                          <p:attrName>ppt_h</p:attrName>
                                        </p:attrNameLst>
                                      </p:cBhvr>
                                      <p:tavLst>
                                        <p:tav tm="0">
                                          <p:val>
                                            <p:fltVal val="0"/>
                                          </p:val>
                                        </p:tav>
                                        <p:tav tm="100000">
                                          <p:val>
                                            <p:strVal val="#ppt_h"/>
                                          </p:val>
                                        </p:tav>
                                      </p:tavLst>
                                    </p:anim>
                                    <p:animEffect transition="in" filter="fade">
                                      <p:cBhvr>
                                        <p:cTn id="24" dur="500"/>
                                        <p:tgtEl>
                                          <p:spTgt spid="27"/>
                                        </p:tgtEl>
                                      </p:cBhvr>
                                    </p:animEffect>
                                  </p:childTnLst>
                                </p:cTn>
                              </p:par>
                              <p:par>
                                <p:cTn id="25" presetID="35" presetClass="path" presetSubtype="0" accel="50000" decel="50000" fill="hold" grpId="1" nodeType="withEffect">
                                  <p:stCondLst>
                                    <p:cond delay="0"/>
                                  </p:stCondLst>
                                  <p:childTnLst>
                                    <p:animMotion origin="layout" path="M -4.375E-6 -3.7037E-6 L -0.30273 -3.7037E-6 " pathEditMode="relative" rAng="0" ptsTypes="AA">
                                      <p:cBhvr>
                                        <p:cTn id="26" dur="1000" spd="-100000" fill="hold"/>
                                        <p:tgtEl>
                                          <p:spTgt spid="27"/>
                                        </p:tgtEl>
                                        <p:attrNameLst>
                                          <p:attrName>ppt_x</p:attrName>
                                          <p:attrName>ppt_y</p:attrName>
                                        </p:attrNameLst>
                                      </p:cBhvr>
                                      <p:rCtr x="-1514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7" grpId="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图片 24"/>
          <p:cNvPicPr>
            <a:picLocks noChangeAspect="1"/>
          </p:cNvPicPr>
          <p:nvPr/>
        </p:nvPicPr>
        <p:blipFill>
          <a:blip r:embed="rId3" cstate="screen"/>
          <a:stretch>
            <a:fillRect/>
          </a:stretch>
        </p:blipFill>
        <p:spPr>
          <a:xfrm>
            <a:off x="8088923" y="246423"/>
            <a:ext cx="4103077" cy="675011"/>
          </a:xfrm>
          <a:prstGeom prst="rect">
            <a:avLst/>
          </a:prstGeom>
        </p:spPr>
      </p:pic>
      <p:cxnSp>
        <p:nvCxnSpPr>
          <p:cNvPr id="26" name="直接连接符 25"/>
          <p:cNvCxnSpPr/>
          <p:nvPr/>
        </p:nvCxnSpPr>
        <p:spPr>
          <a:xfrm>
            <a:off x="0" y="921434"/>
            <a:ext cx="121920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7" name="矩形 26"/>
          <p:cNvSpPr/>
          <p:nvPr/>
        </p:nvSpPr>
        <p:spPr>
          <a:xfrm>
            <a:off x="1060287" y="353095"/>
            <a:ext cx="5262188" cy="461665"/>
          </a:xfrm>
          <a:prstGeom prst="rect">
            <a:avLst/>
          </a:prstGeom>
        </p:spPr>
        <p:txBody>
          <a:bodyPr wrap="square">
            <a:spAutoFit/>
          </a:bodyPr>
          <a:lstStyle/>
          <a:p>
            <a:r>
              <a:rPr lang="zh-CN" altLang="en-US" sz="2400" b="1" dirty="0">
                <a:solidFill>
                  <a:schemeClr val="accent1"/>
                </a:solidFill>
                <a:latin typeface="字体视界-NEW魏碑体" panose="02010601030101010101" pitchFamily="2" charset="-122"/>
                <a:ea typeface="字体视界-NEW魏碑体" panose="02010601030101010101" pitchFamily="2" charset="-122"/>
                <a:cs typeface="+mn-ea"/>
                <a:sym typeface="+mn-lt"/>
              </a:rPr>
              <a:t>第二部分：</a:t>
            </a:r>
            <a:r>
              <a:rPr lang="zh-CN" altLang="en-US" sz="2400" b="1" dirty="0">
                <a:solidFill>
                  <a:srgbClr val="C00000"/>
                </a:solidFill>
                <a:latin typeface="字体视界-NEW魏碑体" panose="02010601030101010101" pitchFamily="2" charset="-122"/>
                <a:ea typeface="字体视界-NEW魏碑体" panose="02010601030101010101" pitchFamily="2" charset="-122"/>
              </a:rPr>
              <a:t>周恩来总理与南开大学</a:t>
            </a:r>
          </a:p>
        </p:txBody>
      </p:sp>
      <p:sp>
        <p:nvSpPr>
          <p:cNvPr id="2" name="文本框 1">
            <a:extLst>
              <a:ext uri="{FF2B5EF4-FFF2-40B4-BE49-F238E27FC236}">
                <a16:creationId xmlns:a16="http://schemas.microsoft.com/office/drawing/2014/main" id="{418D93CE-14E9-D04D-E364-15A6A2FC4918}"/>
              </a:ext>
            </a:extLst>
          </p:cNvPr>
          <p:cNvSpPr txBox="1"/>
          <p:nvPr/>
        </p:nvSpPr>
        <p:spPr>
          <a:xfrm>
            <a:off x="596052" y="1300480"/>
            <a:ext cx="10173548" cy="1569660"/>
          </a:xfrm>
          <a:prstGeom prst="rect">
            <a:avLst/>
          </a:prstGeom>
          <a:noFill/>
        </p:spPr>
        <p:txBody>
          <a:bodyPr wrap="square" rtlCol="0">
            <a:spAutoFit/>
          </a:bodyPr>
          <a:lstStyle/>
          <a:p>
            <a:r>
              <a:rPr lang="zh-CN" altLang="en-US" sz="2400" b="1" dirty="0"/>
              <a:t>设立周恩来班、周恩来奖学金：</a:t>
            </a:r>
            <a:endParaRPr lang="en-US" altLang="zh-CN" sz="2400" b="1" dirty="0"/>
          </a:p>
          <a:p>
            <a:r>
              <a:rPr lang="zh-CN" altLang="en-US" b="1" i="0" dirty="0">
                <a:solidFill>
                  <a:srgbClr val="565656"/>
                </a:solidFill>
                <a:effectLst/>
                <a:latin typeface="微软雅黑" panose="020B0503020204020204" pitchFamily="34" charset="-122"/>
                <a:ea typeface="微软雅黑" panose="020B0503020204020204" pitchFamily="34" charset="-122"/>
              </a:rPr>
              <a:t>      </a:t>
            </a:r>
            <a:endParaRPr lang="en-US" altLang="zh-CN" b="1" i="0" dirty="0">
              <a:solidFill>
                <a:srgbClr val="565656"/>
              </a:solidFill>
              <a:effectLst/>
              <a:latin typeface="微软雅黑" panose="020B0503020204020204" pitchFamily="34" charset="-122"/>
              <a:ea typeface="微软雅黑" panose="020B0503020204020204" pitchFamily="34" charset="-122"/>
            </a:endParaRPr>
          </a:p>
          <a:p>
            <a:r>
              <a:rPr lang="en-US" altLang="zh-CN" b="1" dirty="0">
                <a:solidFill>
                  <a:srgbClr val="565656"/>
                </a:solidFill>
                <a:latin typeface="微软雅黑" panose="020B0503020204020204" pitchFamily="34" charset="-122"/>
                <a:ea typeface="微软雅黑" panose="020B0503020204020204" pitchFamily="34" charset="-122"/>
              </a:rPr>
              <a:t>     </a:t>
            </a:r>
            <a:r>
              <a:rPr lang="zh-CN" altLang="en-US" b="1" i="0" dirty="0">
                <a:solidFill>
                  <a:srgbClr val="565656"/>
                </a:solidFill>
                <a:effectLst/>
                <a:latin typeface="微软雅黑" panose="020B0503020204020204" pitchFamily="34" charset="-122"/>
                <a:ea typeface="微软雅黑" panose="020B0503020204020204" pitchFamily="34" charset="-122"/>
              </a:rPr>
              <a:t>  据了解，南开大学始终重视周恩来精神的研究、学习、传承、践行。</a:t>
            </a:r>
            <a:r>
              <a:rPr lang="en-US" altLang="zh-CN" b="1" i="0" dirty="0">
                <a:solidFill>
                  <a:srgbClr val="565656"/>
                </a:solidFill>
                <a:effectLst/>
                <a:latin typeface="微软雅黑" panose="020B0503020204020204" pitchFamily="34" charset="-122"/>
                <a:ea typeface="微软雅黑" panose="020B0503020204020204" pitchFamily="34" charset="-122"/>
              </a:rPr>
              <a:t>1979</a:t>
            </a:r>
            <a:r>
              <a:rPr lang="zh-CN" altLang="en-US" b="1" i="0" dirty="0">
                <a:solidFill>
                  <a:srgbClr val="565656"/>
                </a:solidFill>
                <a:effectLst/>
                <a:latin typeface="微软雅黑" panose="020B0503020204020204" pitchFamily="34" charset="-122"/>
                <a:ea typeface="微软雅黑" panose="020B0503020204020204" pitchFamily="34" charset="-122"/>
              </a:rPr>
              <a:t>年</a:t>
            </a:r>
            <a:r>
              <a:rPr lang="en-US" altLang="zh-CN" b="1" i="0" dirty="0">
                <a:solidFill>
                  <a:srgbClr val="565656"/>
                </a:solidFill>
                <a:effectLst/>
                <a:latin typeface="微软雅黑" panose="020B0503020204020204" pitchFamily="34" charset="-122"/>
                <a:ea typeface="微软雅黑" panose="020B0503020204020204" pitchFamily="34" charset="-122"/>
              </a:rPr>
              <a:t>3</a:t>
            </a:r>
            <a:r>
              <a:rPr lang="zh-CN" altLang="en-US" b="1" i="0" dirty="0">
                <a:solidFill>
                  <a:srgbClr val="565656"/>
                </a:solidFill>
                <a:effectLst/>
                <a:latin typeface="微软雅黑" panose="020B0503020204020204" pitchFamily="34" charset="-122"/>
                <a:ea typeface="微软雅黑" panose="020B0503020204020204" pitchFamily="34" charset="-122"/>
              </a:rPr>
              <a:t>月，南开大学周恩来研究室正式成立，成为国内第一家专门从事周恩来研究的科研机构。进入</a:t>
            </a:r>
            <a:r>
              <a:rPr lang="en-US" altLang="zh-CN" b="1" i="0" dirty="0">
                <a:solidFill>
                  <a:srgbClr val="565656"/>
                </a:solidFill>
                <a:effectLst/>
                <a:latin typeface="微软雅黑" panose="020B0503020204020204" pitchFamily="34" charset="-122"/>
                <a:ea typeface="微软雅黑" panose="020B0503020204020204" pitchFamily="34" charset="-122"/>
              </a:rPr>
              <a:t>21</a:t>
            </a:r>
            <a:r>
              <a:rPr lang="zh-CN" altLang="en-US" b="1" i="0" dirty="0">
                <a:solidFill>
                  <a:srgbClr val="565656"/>
                </a:solidFill>
                <a:effectLst/>
                <a:latin typeface="微软雅黑" panose="020B0503020204020204" pitchFamily="34" charset="-122"/>
                <a:ea typeface="微软雅黑" panose="020B0503020204020204" pitchFamily="34" charset="-122"/>
              </a:rPr>
              <a:t>世纪，南开大学相继设立了“周恩来班”和“周恩来奖学金”，作为南开集体和个人的最高荣誉。</a:t>
            </a:r>
            <a:endParaRPr lang="zh-CN" altLang="en-US" b="1" dirty="0"/>
          </a:p>
        </p:txBody>
      </p:sp>
      <p:pic>
        <p:nvPicPr>
          <p:cNvPr id="4" name="图片 3">
            <a:extLst>
              <a:ext uri="{FF2B5EF4-FFF2-40B4-BE49-F238E27FC236}">
                <a16:creationId xmlns:a16="http://schemas.microsoft.com/office/drawing/2014/main" id="{95C9AE2C-09A3-A404-DB38-B790037EA9EE}"/>
              </a:ext>
            </a:extLst>
          </p:cNvPr>
          <p:cNvPicPr>
            <a:picLocks noChangeAspect="1"/>
          </p:cNvPicPr>
          <p:nvPr/>
        </p:nvPicPr>
        <p:blipFill>
          <a:blip r:embed="rId4"/>
          <a:stretch>
            <a:fillRect/>
          </a:stretch>
        </p:blipFill>
        <p:spPr>
          <a:xfrm>
            <a:off x="421783" y="2924366"/>
            <a:ext cx="7379257" cy="1276333"/>
          </a:xfrm>
          <a:prstGeom prst="rect">
            <a:avLst/>
          </a:prstGeom>
        </p:spPr>
      </p:pic>
      <p:pic>
        <p:nvPicPr>
          <p:cNvPr id="6" name="图片 5">
            <a:extLst>
              <a:ext uri="{FF2B5EF4-FFF2-40B4-BE49-F238E27FC236}">
                <a16:creationId xmlns:a16="http://schemas.microsoft.com/office/drawing/2014/main" id="{5C951CEC-69D3-144D-AAC6-C5B82312A1F3}"/>
              </a:ext>
            </a:extLst>
          </p:cNvPr>
          <p:cNvPicPr>
            <a:picLocks noChangeAspect="1"/>
          </p:cNvPicPr>
          <p:nvPr/>
        </p:nvPicPr>
        <p:blipFill>
          <a:blip r:embed="rId5"/>
          <a:stretch>
            <a:fillRect/>
          </a:stretch>
        </p:blipFill>
        <p:spPr>
          <a:xfrm>
            <a:off x="421783" y="4153286"/>
            <a:ext cx="6394779" cy="1117657"/>
          </a:xfrm>
          <a:prstGeom prst="rect">
            <a:avLst/>
          </a:prstGeom>
        </p:spPr>
      </p:pic>
      <p:sp>
        <p:nvSpPr>
          <p:cNvPr id="8" name="文本框 7">
            <a:extLst>
              <a:ext uri="{FF2B5EF4-FFF2-40B4-BE49-F238E27FC236}">
                <a16:creationId xmlns:a16="http://schemas.microsoft.com/office/drawing/2014/main" id="{EBBD80DA-1C0A-6EB5-1F04-A28FDDDC48E3}"/>
              </a:ext>
            </a:extLst>
          </p:cNvPr>
          <p:cNvSpPr txBox="1"/>
          <p:nvPr/>
        </p:nvSpPr>
        <p:spPr>
          <a:xfrm>
            <a:off x="639995" y="5484968"/>
            <a:ext cx="9526778" cy="707886"/>
          </a:xfrm>
          <a:prstGeom prst="rect">
            <a:avLst/>
          </a:prstGeom>
          <a:noFill/>
        </p:spPr>
        <p:txBody>
          <a:bodyPr wrap="square">
            <a:spAutoFit/>
          </a:bodyPr>
          <a:lstStyle/>
          <a:p>
            <a:r>
              <a:rPr lang="zh-CN" altLang="en-US" sz="2000" b="1" i="0" dirty="0">
                <a:solidFill>
                  <a:srgbClr val="565656"/>
                </a:solidFill>
                <a:effectLst/>
                <a:latin typeface="微软雅黑" panose="020B0503020204020204" pitchFamily="34" charset="-122"/>
                <a:ea typeface="微软雅黑" panose="020B0503020204020204" pitchFamily="34" charset="-122"/>
              </a:rPr>
              <a:t>      </a:t>
            </a:r>
            <a:r>
              <a:rPr lang="zh-CN" altLang="en-US" sz="2000" b="1" i="0" dirty="0">
                <a:effectLst/>
                <a:latin typeface="微软雅黑" panose="020B0503020204020204" pitchFamily="34" charset="-122"/>
                <a:ea typeface="微软雅黑" panose="020B0503020204020204" pitchFamily="34" charset="-122"/>
              </a:rPr>
              <a:t>近年来南开大学还举办了多次周恩来国际学术研讨会，组织开展主题展览、专题社会实践等活动，纪念周总理诞辰，传扬恩来精神。</a:t>
            </a:r>
            <a:endParaRPr lang="zh-CN" altLang="en-US" sz="2000" b="1"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p:cTn id="7" dur="500" fill="hold"/>
                                        <p:tgtEl>
                                          <p:spTgt spid="25"/>
                                        </p:tgtEl>
                                        <p:attrNameLst>
                                          <p:attrName>ppt_w</p:attrName>
                                        </p:attrNameLst>
                                      </p:cBhvr>
                                      <p:tavLst>
                                        <p:tav tm="0">
                                          <p:val>
                                            <p:fltVal val="0"/>
                                          </p:val>
                                        </p:tav>
                                        <p:tav tm="100000">
                                          <p:val>
                                            <p:strVal val="#ppt_w"/>
                                          </p:val>
                                        </p:tav>
                                      </p:tavLst>
                                    </p:anim>
                                    <p:anim calcmode="lin" valueType="num">
                                      <p:cBhvr>
                                        <p:cTn id="8" dur="500" fill="hold"/>
                                        <p:tgtEl>
                                          <p:spTgt spid="25"/>
                                        </p:tgtEl>
                                        <p:attrNameLst>
                                          <p:attrName>ppt_h</p:attrName>
                                        </p:attrNameLst>
                                      </p:cBhvr>
                                      <p:tavLst>
                                        <p:tav tm="0">
                                          <p:val>
                                            <p:fltVal val="0"/>
                                          </p:val>
                                        </p:tav>
                                        <p:tav tm="100000">
                                          <p:val>
                                            <p:strVal val="#ppt_h"/>
                                          </p:val>
                                        </p:tav>
                                      </p:tavLst>
                                    </p:anim>
                                    <p:animEffect transition="in" filter="fade">
                                      <p:cBhvr>
                                        <p:cTn id="9" dur="500"/>
                                        <p:tgtEl>
                                          <p:spTgt spid="25"/>
                                        </p:tgtEl>
                                      </p:cBhvr>
                                    </p:animEffect>
                                  </p:childTnLst>
                                </p:cTn>
                              </p:par>
                              <p:par>
                                <p:cTn id="10" presetID="35" presetClass="path" presetSubtype="0" accel="50000" decel="50000" fill="hold" nodeType="withEffect">
                                  <p:stCondLst>
                                    <p:cond delay="0"/>
                                  </p:stCondLst>
                                  <p:childTnLst>
                                    <p:animMotion origin="layout" path="M -6.25E-7 -3.7037E-6 L 0.18997 -3.7037E-6 " pathEditMode="relative" rAng="0" ptsTypes="AA">
                                      <p:cBhvr>
                                        <p:cTn id="11" dur="1000" spd="-100000" fill="hold"/>
                                        <p:tgtEl>
                                          <p:spTgt spid="25"/>
                                        </p:tgtEl>
                                        <p:attrNameLst>
                                          <p:attrName>ppt_x</p:attrName>
                                          <p:attrName>ppt_y</p:attrName>
                                        </p:attrNameLst>
                                      </p:cBhvr>
                                      <p:rCtr x="9492" y="0"/>
                                    </p:animMotion>
                                  </p:childTnLst>
                                </p:cTn>
                              </p:par>
                              <p:par>
                                <p:cTn id="12" presetID="53" presetClass="entr" presetSubtype="16" fill="hold" nodeType="withEffect">
                                  <p:stCondLst>
                                    <p:cond delay="0"/>
                                  </p:stCondLst>
                                  <p:childTnLst>
                                    <p:set>
                                      <p:cBhvr>
                                        <p:cTn id="13" dur="1" fill="hold">
                                          <p:stCondLst>
                                            <p:cond delay="0"/>
                                          </p:stCondLst>
                                        </p:cTn>
                                        <p:tgtEl>
                                          <p:spTgt spid="26"/>
                                        </p:tgtEl>
                                        <p:attrNameLst>
                                          <p:attrName>style.visibility</p:attrName>
                                        </p:attrNameLst>
                                      </p:cBhvr>
                                      <p:to>
                                        <p:strVal val="visible"/>
                                      </p:to>
                                    </p:set>
                                    <p:anim calcmode="lin" valueType="num">
                                      <p:cBhvr>
                                        <p:cTn id="14" dur="500" fill="hold"/>
                                        <p:tgtEl>
                                          <p:spTgt spid="26"/>
                                        </p:tgtEl>
                                        <p:attrNameLst>
                                          <p:attrName>ppt_w</p:attrName>
                                        </p:attrNameLst>
                                      </p:cBhvr>
                                      <p:tavLst>
                                        <p:tav tm="0">
                                          <p:val>
                                            <p:fltVal val="0"/>
                                          </p:val>
                                        </p:tav>
                                        <p:tav tm="100000">
                                          <p:val>
                                            <p:strVal val="#ppt_w"/>
                                          </p:val>
                                        </p:tav>
                                      </p:tavLst>
                                    </p:anim>
                                    <p:anim calcmode="lin" valueType="num">
                                      <p:cBhvr>
                                        <p:cTn id="15" dur="500" fill="hold"/>
                                        <p:tgtEl>
                                          <p:spTgt spid="26"/>
                                        </p:tgtEl>
                                        <p:attrNameLst>
                                          <p:attrName>ppt_h</p:attrName>
                                        </p:attrNameLst>
                                      </p:cBhvr>
                                      <p:tavLst>
                                        <p:tav tm="0">
                                          <p:val>
                                            <p:fltVal val="0"/>
                                          </p:val>
                                        </p:tav>
                                        <p:tav tm="100000">
                                          <p:val>
                                            <p:strVal val="#ppt_h"/>
                                          </p:val>
                                        </p:tav>
                                      </p:tavLst>
                                    </p:anim>
                                    <p:animEffect transition="in" filter="fade">
                                      <p:cBhvr>
                                        <p:cTn id="16" dur="500"/>
                                        <p:tgtEl>
                                          <p:spTgt spid="26"/>
                                        </p:tgtEl>
                                      </p:cBhvr>
                                    </p:animEffect>
                                  </p:childTnLst>
                                </p:cTn>
                              </p:par>
                              <p:par>
                                <p:cTn id="17" presetID="35" presetClass="path" presetSubtype="0" accel="50000" decel="50000" fill="hold" nodeType="withEffect">
                                  <p:stCondLst>
                                    <p:cond delay="0"/>
                                  </p:stCondLst>
                                  <p:childTnLst>
                                    <p:animMotion origin="layout" path="M 0 -3.7037E-6 L -0.41185 -3.7037E-6 " pathEditMode="relative" rAng="0" ptsTypes="AA">
                                      <p:cBhvr>
                                        <p:cTn id="18" dur="1000" spd="-100000" fill="hold"/>
                                        <p:tgtEl>
                                          <p:spTgt spid="26"/>
                                        </p:tgtEl>
                                        <p:attrNameLst>
                                          <p:attrName>ppt_x</p:attrName>
                                          <p:attrName>ppt_y</p:attrName>
                                        </p:attrNameLst>
                                      </p:cBhvr>
                                      <p:rCtr x="-20599" y="0"/>
                                    </p:animMotion>
                                  </p:childTnLst>
                                </p:cTn>
                              </p:par>
                            </p:childTnLst>
                          </p:cTn>
                        </p:par>
                        <p:par>
                          <p:cTn id="19" fill="hold">
                            <p:stCondLst>
                              <p:cond delay="500"/>
                            </p:stCondLst>
                            <p:childTnLst>
                              <p:par>
                                <p:cTn id="20" presetID="53" presetClass="entr" presetSubtype="16" fill="hold" grpId="0" nodeType="afterEffect">
                                  <p:stCondLst>
                                    <p:cond delay="0"/>
                                  </p:stCondLst>
                                  <p:childTnLst>
                                    <p:set>
                                      <p:cBhvr>
                                        <p:cTn id="21" dur="1" fill="hold">
                                          <p:stCondLst>
                                            <p:cond delay="0"/>
                                          </p:stCondLst>
                                        </p:cTn>
                                        <p:tgtEl>
                                          <p:spTgt spid="27"/>
                                        </p:tgtEl>
                                        <p:attrNameLst>
                                          <p:attrName>style.visibility</p:attrName>
                                        </p:attrNameLst>
                                      </p:cBhvr>
                                      <p:to>
                                        <p:strVal val="visible"/>
                                      </p:to>
                                    </p:set>
                                    <p:anim calcmode="lin" valueType="num">
                                      <p:cBhvr>
                                        <p:cTn id="22" dur="500" fill="hold"/>
                                        <p:tgtEl>
                                          <p:spTgt spid="27"/>
                                        </p:tgtEl>
                                        <p:attrNameLst>
                                          <p:attrName>ppt_w</p:attrName>
                                        </p:attrNameLst>
                                      </p:cBhvr>
                                      <p:tavLst>
                                        <p:tav tm="0">
                                          <p:val>
                                            <p:fltVal val="0"/>
                                          </p:val>
                                        </p:tav>
                                        <p:tav tm="100000">
                                          <p:val>
                                            <p:strVal val="#ppt_w"/>
                                          </p:val>
                                        </p:tav>
                                      </p:tavLst>
                                    </p:anim>
                                    <p:anim calcmode="lin" valueType="num">
                                      <p:cBhvr>
                                        <p:cTn id="23" dur="500" fill="hold"/>
                                        <p:tgtEl>
                                          <p:spTgt spid="27"/>
                                        </p:tgtEl>
                                        <p:attrNameLst>
                                          <p:attrName>ppt_h</p:attrName>
                                        </p:attrNameLst>
                                      </p:cBhvr>
                                      <p:tavLst>
                                        <p:tav tm="0">
                                          <p:val>
                                            <p:fltVal val="0"/>
                                          </p:val>
                                        </p:tav>
                                        <p:tav tm="100000">
                                          <p:val>
                                            <p:strVal val="#ppt_h"/>
                                          </p:val>
                                        </p:tav>
                                      </p:tavLst>
                                    </p:anim>
                                    <p:animEffect transition="in" filter="fade">
                                      <p:cBhvr>
                                        <p:cTn id="24" dur="500"/>
                                        <p:tgtEl>
                                          <p:spTgt spid="27"/>
                                        </p:tgtEl>
                                      </p:cBhvr>
                                    </p:animEffect>
                                  </p:childTnLst>
                                </p:cTn>
                              </p:par>
                              <p:par>
                                <p:cTn id="25" presetID="35" presetClass="path" presetSubtype="0" accel="50000" decel="50000" fill="hold" grpId="1" nodeType="withEffect">
                                  <p:stCondLst>
                                    <p:cond delay="0"/>
                                  </p:stCondLst>
                                  <p:childTnLst>
                                    <p:animMotion origin="layout" path="M -4.375E-6 -3.7037E-6 L -0.30273 -3.7037E-6 " pathEditMode="relative" rAng="0" ptsTypes="AA">
                                      <p:cBhvr>
                                        <p:cTn id="26" dur="1000" spd="-100000" fill="hold"/>
                                        <p:tgtEl>
                                          <p:spTgt spid="27"/>
                                        </p:tgtEl>
                                        <p:attrNameLst>
                                          <p:attrName>ppt_x</p:attrName>
                                          <p:attrName>ppt_y</p:attrName>
                                        </p:attrNameLst>
                                      </p:cBhvr>
                                      <p:rCtr x="-1514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7" grpId="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图片 24"/>
          <p:cNvPicPr>
            <a:picLocks noChangeAspect="1"/>
          </p:cNvPicPr>
          <p:nvPr/>
        </p:nvPicPr>
        <p:blipFill>
          <a:blip r:embed="rId3" cstate="screen"/>
          <a:stretch>
            <a:fillRect/>
          </a:stretch>
        </p:blipFill>
        <p:spPr>
          <a:xfrm>
            <a:off x="8088923" y="246423"/>
            <a:ext cx="4103077" cy="675011"/>
          </a:xfrm>
          <a:prstGeom prst="rect">
            <a:avLst/>
          </a:prstGeom>
        </p:spPr>
      </p:pic>
      <p:cxnSp>
        <p:nvCxnSpPr>
          <p:cNvPr id="26" name="直接连接符 25"/>
          <p:cNvCxnSpPr/>
          <p:nvPr/>
        </p:nvCxnSpPr>
        <p:spPr>
          <a:xfrm>
            <a:off x="0" y="921434"/>
            <a:ext cx="121920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7" name="矩形 26"/>
          <p:cNvSpPr/>
          <p:nvPr/>
        </p:nvSpPr>
        <p:spPr>
          <a:xfrm>
            <a:off x="1060287" y="353095"/>
            <a:ext cx="5262188" cy="461665"/>
          </a:xfrm>
          <a:prstGeom prst="rect">
            <a:avLst/>
          </a:prstGeom>
        </p:spPr>
        <p:txBody>
          <a:bodyPr wrap="square">
            <a:spAutoFit/>
          </a:bodyPr>
          <a:lstStyle/>
          <a:p>
            <a:r>
              <a:rPr lang="zh-CN" altLang="en-US" sz="2400" b="1" dirty="0">
                <a:solidFill>
                  <a:schemeClr val="accent1"/>
                </a:solidFill>
                <a:latin typeface="字体视界-NEW魏碑体" panose="02010601030101010101" pitchFamily="2" charset="-122"/>
                <a:ea typeface="字体视界-NEW魏碑体" panose="02010601030101010101" pitchFamily="2" charset="-122"/>
                <a:cs typeface="+mn-ea"/>
                <a:sym typeface="+mn-lt"/>
              </a:rPr>
              <a:t>第二部分：</a:t>
            </a:r>
            <a:r>
              <a:rPr lang="zh-CN" altLang="en-US" sz="2400" b="1" dirty="0">
                <a:solidFill>
                  <a:srgbClr val="C00000"/>
                </a:solidFill>
                <a:latin typeface="字体视界-NEW魏碑体" panose="02010601030101010101" pitchFamily="2" charset="-122"/>
                <a:ea typeface="字体视界-NEW魏碑体" panose="02010601030101010101" pitchFamily="2" charset="-122"/>
              </a:rPr>
              <a:t>周恩来总理与南开大学</a:t>
            </a:r>
          </a:p>
        </p:txBody>
      </p:sp>
      <p:pic>
        <p:nvPicPr>
          <p:cNvPr id="3" name="图片 2">
            <a:extLst>
              <a:ext uri="{FF2B5EF4-FFF2-40B4-BE49-F238E27FC236}">
                <a16:creationId xmlns:a16="http://schemas.microsoft.com/office/drawing/2014/main" id="{12A30FC7-4A05-8AD8-38CE-66BB97A71850}"/>
              </a:ext>
            </a:extLst>
          </p:cNvPr>
          <p:cNvPicPr>
            <a:picLocks noChangeAspect="1"/>
          </p:cNvPicPr>
          <p:nvPr/>
        </p:nvPicPr>
        <p:blipFill>
          <a:blip r:embed="rId4"/>
          <a:stretch>
            <a:fillRect/>
          </a:stretch>
        </p:blipFill>
        <p:spPr>
          <a:xfrm>
            <a:off x="288768" y="3587602"/>
            <a:ext cx="8862604" cy="2630318"/>
          </a:xfrm>
          <a:prstGeom prst="rect">
            <a:avLst/>
          </a:prstGeom>
        </p:spPr>
      </p:pic>
      <p:sp>
        <p:nvSpPr>
          <p:cNvPr id="5" name="文本框 4">
            <a:extLst>
              <a:ext uri="{FF2B5EF4-FFF2-40B4-BE49-F238E27FC236}">
                <a16:creationId xmlns:a16="http://schemas.microsoft.com/office/drawing/2014/main" id="{7DB38F09-908E-59FF-6061-34A9EAEDA1DE}"/>
              </a:ext>
            </a:extLst>
          </p:cNvPr>
          <p:cNvSpPr txBox="1"/>
          <p:nvPr/>
        </p:nvSpPr>
        <p:spPr>
          <a:xfrm>
            <a:off x="403915" y="1028108"/>
            <a:ext cx="8299818" cy="2308324"/>
          </a:xfrm>
          <a:prstGeom prst="rect">
            <a:avLst/>
          </a:prstGeom>
          <a:noFill/>
        </p:spPr>
        <p:txBody>
          <a:bodyPr wrap="square">
            <a:spAutoFit/>
          </a:bodyPr>
          <a:lstStyle/>
          <a:p>
            <a:pPr algn="just"/>
            <a:r>
              <a:rPr lang="zh-CN" altLang="en-US" b="1" i="0" dirty="0">
                <a:effectLst/>
                <a:latin typeface="system-ui"/>
              </a:rPr>
              <a:t>         南开大学周恩来政府管理学院</a:t>
            </a:r>
            <a:r>
              <a:rPr lang="zh-CN" altLang="en-US" b="0" i="0" dirty="0">
                <a:effectLst/>
                <a:latin typeface="system-ui"/>
              </a:rPr>
              <a:t>（</a:t>
            </a:r>
            <a:r>
              <a:rPr lang="en-US" altLang="zh-CN" b="0" i="0" dirty="0">
                <a:effectLst/>
                <a:latin typeface="system-ui"/>
              </a:rPr>
              <a:t>Zhou Enlai School of Government</a:t>
            </a:r>
            <a:r>
              <a:rPr lang="zh-CN" altLang="en-US" b="0" i="0" dirty="0">
                <a:effectLst/>
                <a:latin typeface="system-ui"/>
              </a:rPr>
              <a:t>，中文简称“政府学院”，英文简称“</a:t>
            </a:r>
            <a:r>
              <a:rPr lang="en-US" altLang="zh-CN" b="0" i="0" dirty="0">
                <a:effectLst/>
                <a:latin typeface="system-ui"/>
              </a:rPr>
              <a:t>ZSG”</a:t>
            </a:r>
            <a:r>
              <a:rPr lang="zh-CN" altLang="en-US" b="0" i="0" dirty="0">
                <a:effectLst/>
                <a:latin typeface="system-ui"/>
              </a:rPr>
              <a:t>）成立于</a:t>
            </a:r>
            <a:r>
              <a:rPr lang="en-US" altLang="zh-CN" b="0" i="0" dirty="0">
                <a:effectLst/>
                <a:latin typeface="system-ui"/>
              </a:rPr>
              <a:t>2004</a:t>
            </a:r>
            <a:r>
              <a:rPr lang="zh-CN" altLang="en-US" b="0" i="0" dirty="0">
                <a:effectLst/>
                <a:latin typeface="system-ui"/>
              </a:rPr>
              <a:t>年</a:t>
            </a:r>
            <a:r>
              <a:rPr lang="en-US" altLang="zh-CN" b="0" i="0" dirty="0">
                <a:effectLst/>
                <a:latin typeface="system-ui"/>
              </a:rPr>
              <a:t>5</a:t>
            </a:r>
            <a:r>
              <a:rPr lang="zh-CN" altLang="en-US" b="0" i="0" dirty="0">
                <a:effectLst/>
                <a:latin typeface="system-ui"/>
              </a:rPr>
              <a:t>月，是目前</a:t>
            </a:r>
            <a:r>
              <a:rPr lang="zh-CN" altLang="en-US" b="1" i="0" dirty="0">
                <a:effectLst/>
                <a:latin typeface="system-ui"/>
              </a:rPr>
              <a:t>中国大学唯一以政治家名字命名的综合性专业学院</a:t>
            </a:r>
            <a:r>
              <a:rPr lang="zh-CN" altLang="en-US" b="0" i="0" dirty="0">
                <a:effectLst/>
                <a:latin typeface="system-ui"/>
              </a:rPr>
              <a:t>。</a:t>
            </a:r>
          </a:p>
          <a:p>
            <a:pPr algn="just"/>
            <a:r>
              <a:rPr lang="zh-CN" altLang="en-US" dirty="0">
                <a:latin typeface="system-ui"/>
              </a:rPr>
              <a:t>         </a:t>
            </a:r>
            <a:r>
              <a:rPr lang="zh-CN" altLang="en-US" b="0" i="0" dirty="0">
                <a:effectLst/>
                <a:latin typeface="system-ui"/>
              </a:rPr>
              <a:t>秉承“知中国，服务中国”的办学传统，学院始终着眼世界学术发展前沿，面向国家重大战略需求，不断创新学科发展理念和人才培养模式，致力于建设世界知名、国内领先的开放性、研究型、国际化政府管理学院，成为中国</a:t>
            </a:r>
            <a:r>
              <a:rPr lang="zh-CN" altLang="en-US" b="1" i="0" dirty="0">
                <a:effectLst/>
                <a:latin typeface="system-ui"/>
              </a:rPr>
              <a:t>政治学、社会学和公共管理高层次创新人才培养、高水平科学研究和高质量社会服务的重要阵地。</a:t>
            </a:r>
            <a:endParaRPr lang="zh-CN" altLang="en-US" b="0" i="0" dirty="0">
              <a:effectLst/>
              <a:latin typeface="system-ui"/>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p:cTn id="7" dur="500" fill="hold"/>
                                        <p:tgtEl>
                                          <p:spTgt spid="25"/>
                                        </p:tgtEl>
                                        <p:attrNameLst>
                                          <p:attrName>ppt_w</p:attrName>
                                        </p:attrNameLst>
                                      </p:cBhvr>
                                      <p:tavLst>
                                        <p:tav tm="0">
                                          <p:val>
                                            <p:fltVal val="0"/>
                                          </p:val>
                                        </p:tav>
                                        <p:tav tm="100000">
                                          <p:val>
                                            <p:strVal val="#ppt_w"/>
                                          </p:val>
                                        </p:tav>
                                      </p:tavLst>
                                    </p:anim>
                                    <p:anim calcmode="lin" valueType="num">
                                      <p:cBhvr>
                                        <p:cTn id="8" dur="500" fill="hold"/>
                                        <p:tgtEl>
                                          <p:spTgt spid="25"/>
                                        </p:tgtEl>
                                        <p:attrNameLst>
                                          <p:attrName>ppt_h</p:attrName>
                                        </p:attrNameLst>
                                      </p:cBhvr>
                                      <p:tavLst>
                                        <p:tav tm="0">
                                          <p:val>
                                            <p:fltVal val="0"/>
                                          </p:val>
                                        </p:tav>
                                        <p:tav tm="100000">
                                          <p:val>
                                            <p:strVal val="#ppt_h"/>
                                          </p:val>
                                        </p:tav>
                                      </p:tavLst>
                                    </p:anim>
                                    <p:animEffect transition="in" filter="fade">
                                      <p:cBhvr>
                                        <p:cTn id="9" dur="500"/>
                                        <p:tgtEl>
                                          <p:spTgt spid="25"/>
                                        </p:tgtEl>
                                      </p:cBhvr>
                                    </p:animEffect>
                                  </p:childTnLst>
                                </p:cTn>
                              </p:par>
                              <p:par>
                                <p:cTn id="10" presetID="35" presetClass="path" presetSubtype="0" accel="50000" decel="50000" fill="hold" nodeType="withEffect">
                                  <p:stCondLst>
                                    <p:cond delay="0"/>
                                  </p:stCondLst>
                                  <p:childTnLst>
                                    <p:animMotion origin="layout" path="M -6.25E-7 -3.7037E-6 L 0.18997 -3.7037E-6 " pathEditMode="relative" rAng="0" ptsTypes="AA">
                                      <p:cBhvr>
                                        <p:cTn id="11" dur="1000" spd="-100000" fill="hold"/>
                                        <p:tgtEl>
                                          <p:spTgt spid="25"/>
                                        </p:tgtEl>
                                        <p:attrNameLst>
                                          <p:attrName>ppt_x</p:attrName>
                                          <p:attrName>ppt_y</p:attrName>
                                        </p:attrNameLst>
                                      </p:cBhvr>
                                      <p:rCtr x="9492" y="0"/>
                                    </p:animMotion>
                                  </p:childTnLst>
                                </p:cTn>
                              </p:par>
                              <p:par>
                                <p:cTn id="12" presetID="53" presetClass="entr" presetSubtype="16" fill="hold" nodeType="withEffect">
                                  <p:stCondLst>
                                    <p:cond delay="0"/>
                                  </p:stCondLst>
                                  <p:childTnLst>
                                    <p:set>
                                      <p:cBhvr>
                                        <p:cTn id="13" dur="1" fill="hold">
                                          <p:stCondLst>
                                            <p:cond delay="0"/>
                                          </p:stCondLst>
                                        </p:cTn>
                                        <p:tgtEl>
                                          <p:spTgt spid="26"/>
                                        </p:tgtEl>
                                        <p:attrNameLst>
                                          <p:attrName>style.visibility</p:attrName>
                                        </p:attrNameLst>
                                      </p:cBhvr>
                                      <p:to>
                                        <p:strVal val="visible"/>
                                      </p:to>
                                    </p:set>
                                    <p:anim calcmode="lin" valueType="num">
                                      <p:cBhvr>
                                        <p:cTn id="14" dur="500" fill="hold"/>
                                        <p:tgtEl>
                                          <p:spTgt spid="26"/>
                                        </p:tgtEl>
                                        <p:attrNameLst>
                                          <p:attrName>ppt_w</p:attrName>
                                        </p:attrNameLst>
                                      </p:cBhvr>
                                      <p:tavLst>
                                        <p:tav tm="0">
                                          <p:val>
                                            <p:fltVal val="0"/>
                                          </p:val>
                                        </p:tav>
                                        <p:tav tm="100000">
                                          <p:val>
                                            <p:strVal val="#ppt_w"/>
                                          </p:val>
                                        </p:tav>
                                      </p:tavLst>
                                    </p:anim>
                                    <p:anim calcmode="lin" valueType="num">
                                      <p:cBhvr>
                                        <p:cTn id="15" dur="500" fill="hold"/>
                                        <p:tgtEl>
                                          <p:spTgt spid="26"/>
                                        </p:tgtEl>
                                        <p:attrNameLst>
                                          <p:attrName>ppt_h</p:attrName>
                                        </p:attrNameLst>
                                      </p:cBhvr>
                                      <p:tavLst>
                                        <p:tav tm="0">
                                          <p:val>
                                            <p:fltVal val="0"/>
                                          </p:val>
                                        </p:tav>
                                        <p:tav tm="100000">
                                          <p:val>
                                            <p:strVal val="#ppt_h"/>
                                          </p:val>
                                        </p:tav>
                                      </p:tavLst>
                                    </p:anim>
                                    <p:animEffect transition="in" filter="fade">
                                      <p:cBhvr>
                                        <p:cTn id="16" dur="500"/>
                                        <p:tgtEl>
                                          <p:spTgt spid="26"/>
                                        </p:tgtEl>
                                      </p:cBhvr>
                                    </p:animEffect>
                                  </p:childTnLst>
                                </p:cTn>
                              </p:par>
                              <p:par>
                                <p:cTn id="17" presetID="35" presetClass="path" presetSubtype="0" accel="50000" decel="50000" fill="hold" nodeType="withEffect">
                                  <p:stCondLst>
                                    <p:cond delay="0"/>
                                  </p:stCondLst>
                                  <p:childTnLst>
                                    <p:animMotion origin="layout" path="M 0 -3.7037E-6 L -0.41185 -3.7037E-6 " pathEditMode="relative" rAng="0" ptsTypes="AA">
                                      <p:cBhvr>
                                        <p:cTn id="18" dur="1000" spd="-100000" fill="hold"/>
                                        <p:tgtEl>
                                          <p:spTgt spid="26"/>
                                        </p:tgtEl>
                                        <p:attrNameLst>
                                          <p:attrName>ppt_x</p:attrName>
                                          <p:attrName>ppt_y</p:attrName>
                                        </p:attrNameLst>
                                      </p:cBhvr>
                                      <p:rCtr x="-20599" y="0"/>
                                    </p:animMotion>
                                  </p:childTnLst>
                                </p:cTn>
                              </p:par>
                            </p:childTnLst>
                          </p:cTn>
                        </p:par>
                        <p:par>
                          <p:cTn id="19" fill="hold">
                            <p:stCondLst>
                              <p:cond delay="500"/>
                            </p:stCondLst>
                            <p:childTnLst>
                              <p:par>
                                <p:cTn id="20" presetID="53" presetClass="entr" presetSubtype="16" fill="hold" grpId="0" nodeType="afterEffect">
                                  <p:stCondLst>
                                    <p:cond delay="0"/>
                                  </p:stCondLst>
                                  <p:childTnLst>
                                    <p:set>
                                      <p:cBhvr>
                                        <p:cTn id="21" dur="1" fill="hold">
                                          <p:stCondLst>
                                            <p:cond delay="0"/>
                                          </p:stCondLst>
                                        </p:cTn>
                                        <p:tgtEl>
                                          <p:spTgt spid="27"/>
                                        </p:tgtEl>
                                        <p:attrNameLst>
                                          <p:attrName>style.visibility</p:attrName>
                                        </p:attrNameLst>
                                      </p:cBhvr>
                                      <p:to>
                                        <p:strVal val="visible"/>
                                      </p:to>
                                    </p:set>
                                    <p:anim calcmode="lin" valueType="num">
                                      <p:cBhvr>
                                        <p:cTn id="22" dur="500" fill="hold"/>
                                        <p:tgtEl>
                                          <p:spTgt spid="27"/>
                                        </p:tgtEl>
                                        <p:attrNameLst>
                                          <p:attrName>ppt_w</p:attrName>
                                        </p:attrNameLst>
                                      </p:cBhvr>
                                      <p:tavLst>
                                        <p:tav tm="0">
                                          <p:val>
                                            <p:fltVal val="0"/>
                                          </p:val>
                                        </p:tav>
                                        <p:tav tm="100000">
                                          <p:val>
                                            <p:strVal val="#ppt_w"/>
                                          </p:val>
                                        </p:tav>
                                      </p:tavLst>
                                    </p:anim>
                                    <p:anim calcmode="lin" valueType="num">
                                      <p:cBhvr>
                                        <p:cTn id="23" dur="500" fill="hold"/>
                                        <p:tgtEl>
                                          <p:spTgt spid="27"/>
                                        </p:tgtEl>
                                        <p:attrNameLst>
                                          <p:attrName>ppt_h</p:attrName>
                                        </p:attrNameLst>
                                      </p:cBhvr>
                                      <p:tavLst>
                                        <p:tav tm="0">
                                          <p:val>
                                            <p:fltVal val="0"/>
                                          </p:val>
                                        </p:tav>
                                        <p:tav tm="100000">
                                          <p:val>
                                            <p:strVal val="#ppt_h"/>
                                          </p:val>
                                        </p:tav>
                                      </p:tavLst>
                                    </p:anim>
                                    <p:animEffect transition="in" filter="fade">
                                      <p:cBhvr>
                                        <p:cTn id="24" dur="500"/>
                                        <p:tgtEl>
                                          <p:spTgt spid="27"/>
                                        </p:tgtEl>
                                      </p:cBhvr>
                                    </p:animEffect>
                                  </p:childTnLst>
                                </p:cTn>
                              </p:par>
                              <p:par>
                                <p:cTn id="25" presetID="35" presetClass="path" presetSubtype="0" accel="50000" decel="50000" fill="hold" grpId="1" nodeType="withEffect">
                                  <p:stCondLst>
                                    <p:cond delay="0"/>
                                  </p:stCondLst>
                                  <p:childTnLst>
                                    <p:animMotion origin="layout" path="M -4.375E-6 -3.7037E-6 L -0.30273 -3.7037E-6 " pathEditMode="relative" rAng="0" ptsTypes="AA">
                                      <p:cBhvr>
                                        <p:cTn id="26" dur="1000" spd="-100000" fill="hold"/>
                                        <p:tgtEl>
                                          <p:spTgt spid="27"/>
                                        </p:tgtEl>
                                        <p:attrNameLst>
                                          <p:attrName>ppt_x</p:attrName>
                                          <p:attrName>ppt_y</p:attrName>
                                        </p:attrNameLst>
                                      </p:cBhvr>
                                      <p:rCtr x="-1514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7" grpId="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图片 24"/>
          <p:cNvPicPr>
            <a:picLocks noChangeAspect="1"/>
          </p:cNvPicPr>
          <p:nvPr/>
        </p:nvPicPr>
        <p:blipFill>
          <a:blip r:embed="rId3" cstate="screen"/>
          <a:stretch>
            <a:fillRect/>
          </a:stretch>
        </p:blipFill>
        <p:spPr>
          <a:xfrm>
            <a:off x="8088923" y="246423"/>
            <a:ext cx="4103077" cy="675011"/>
          </a:xfrm>
          <a:prstGeom prst="rect">
            <a:avLst/>
          </a:prstGeom>
        </p:spPr>
      </p:pic>
      <p:cxnSp>
        <p:nvCxnSpPr>
          <p:cNvPr id="26" name="直接连接符 25"/>
          <p:cNvCxnSpPr/>
          <p:nvPr/>
        </p:nvCxnSpPr>
        <p:spPr>
          <a:xfrm>
            <a:off x="0" y="921434"/>
            <a:ext cx="121920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7" name="矩形 26"/>
          <p:cNvSpPr/>
          <p:nvPr/>
        </p:nvSpPr>
        <p:spPr>
          <a:xfrm>
            <a:off x="1060287" y="353095"/>
            <a:ext cx="5262188" cy="461665"/>
          </a:xfrm>
          <a:prstGeom prst="rect">
            <a:avLst/>
          </a:prstGeom>
        </p:spPr>
        <p:txBody>
          <a:bodyPr wrap="square">
            <a:spAutoFit/>
          </a:bodyPr>
          <a:lstStyle/>
          <a:p>
            <a:r>
              <a:rPr lang="zh-CN" altLang="en-US" sz="2400" b="1" dirty="0">
                <a:solidFill>
                  <a:schemeClr val="accent1"/>
                </a:solidFill>
                <a:latin typeface="字体视界-NEW魏碑体" panose="02010601030101010101" pitchFamily="2" charset="-122"/>
                <a:ea typeface="字体视界-NEW魏碑体" panose="02010601030101010101" pitchFamily="2" charset="-122"/>
                <a:cs typeface="+mn-ea"/>
                <a:sym typeface="+mn-lt"/>
              </a:rPr>
              <a:t>第二部分：</a:t>
            </a:r>
            <a:r>
              <a:rPr lang="zh-CN" altLang="en-US" sz="2400" b="1" dirty="0">
                <a:solidFill>
                  <a:srgbClr val="C00000"/>
                </a:solidFill>
                <a:latin typeface="字体视界-NEW魏碑体" panose="02010601030101010101" pitchFamily="2" charset="-122"/>
                <a:ea typeface="字体视界-NEW魏碑体" panose="02010601030101010101" pitchFamily="2" charset="-122"/>
              </a:rPr>
              <a:t>周恩来总理与南开大学</a:t>
            </a:r>
          </a:p>
        </p:txBody>
      </p:sp>
      <p:sp>
        <p:nvSpPr>
          <p:cNvPr id="5" name="文本框 4">
            <a:extLst>
              <a:ext uri="{FF2B5EF4-FFF2-40B4-BE49-F238E27FC236}">
                <a16:creationId xmlns:a16="http://schemas.microsoft.com/office/drawing/2014/main" id="{41BF70D1-2D62-E70F-9417-2A89E71AC849}"/>
              </a:ext>
            </a:extLst>
          </p:cNvPr>
          <p:cNvSpPr txBox="1"/>
          <p:nvPr/>
        </p:nvSpPr>
        <p:spPr>
          <a:xfrm>
            <a:off x="985520" y="1197383"/>
            <a:ext cx="6102772" cy="861774"/>
          </a:xfrm>
          <a:prstGeom prst="rect">
            <a:avLst/>
          </a:prstGeom>
          <a:noFill/>
        </p:spPr>
        <p:txBody>
          <a:bodyPr wrap="square">
            <a:spAutoFit/>
          </a:bodyPr>
          <a:lstStyle/>
          <a:p>
            <a:r>
              <a:rPr kumimoji="0" lang="zh-CN" altLang="en-US" sz="3200" b="1" i="0" u="none" strike="noStrike" kern="1200" cap="none" spc="0" normalizeH="0" baseline="0" noProof="0" dirty="0">
                <a:ln>
                  <a:noFill/>
                </a:ln>
                <a:solidFill>
                  <a:prstClr val="black"/>
                </a:solidFill>
                <a:effectLst/>
                <a:uLnTx/>
                <a:uFillTx/>
                <a:latin typeface="Microsoft YaHei"/>
                <a:cs typeface="+mn-cs"/>
              </a:rPr>
              <a:t>对学科发展作出的贡献</a:t>
            </a:r>
            <a:endParaRPr kumimoji="0" lang="en-US" altLang="zh-CN" sz="3200" b="1" i="0" u="none" strike="noStrike" kern="1200" cap="none" spc="0" normalizeH="0" baseline="0" noProof="0" dirty="0">
              <a:ln>
                <a:noFill/>
              </a:ln>
              <a:solidFill>
                <a:prstClr val="black"/>
              </a:solidFill>
              <a:effectLst/>
              <a:uLnTx/>
              <a:uFillTx/>
              <a:latin typeface="Microsoft YaHei"/>
              <a:cs typeface="+mn-cs"/>
            </a:endParaRPr>
          </a:p>
          <a:p>
            <a:endParaRPr lang="zh-CN" altLang="en-US" dirty="0"/>
          </a:p>
        </p:txBody>
      </p:sp>
      <p:pic>
        <p:nvPicPr>
          <p:cNvPr id="6" name="图片 5">
            <a:extLst>
              <a:ext uri="{FF2B5EF4-FFF2-40B4-BE49-F238E27FC236}">
                <a16:creationId xmlns:a16="http://schemas.microsoft.com/office/drawing/2014/main" id="{F6CCAE1A-19A7-AF3F-CFA4-53B27A00B37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69557" y="1028109"/>
            <a:ext cx="5734345" cy="3863988"/>
          </a:xfrm>
          <a:prstGeom prst="rect">
            <a:avLst/>
          </a:prstGeom>
        </p:spPr>
      </p:pic>
      <p:sp>
        <p:nvSpPr>
          <p:cNvPr id="7" name="文本框 6">
            <a:extLst>
              <a:ext uri="{FF2B5EF4-FFF2-40B4-BE49-F238E27FC236}">
                <a16:creationId xmlns:a16="http://schemas.microsoft.com/office/drawing/2014/main" id="{54C3E450-4570-3BE8-C843-2595BB04C79E}"/>
              </a:ext>
            </a:extLst>
          </p:cNvPr>
          <p:cNvSpPr txBox="1"/>
          <p:nvPr/>
        </p:nvSpPr>
        <p:spPr>
          <a:xfrm>
            <a:off x="6644142" y="5120640"/>
            <a:ext cx="4971627" cy="646331"/>
          </a:xfrm>
          <a:prstGeom prst="rect">
            <a:avLst/>
          </a:prstGeom>
          <a:noFill/>
        </p:spPr>
        <p:txBody>
          <a:bodyPr wrap="square" rtlCol="0">
            <a:spAutoFit/>
          </a:bodyPr>
          <a:lstStyle/>
          <a:p>
            <a:r>
              <a:rPr lang="zh-CN" altLang="en-US" b="1" dirty="0"/>
              <a:t>       周恩来政府管理学院有教授专门研究周恩来专题研究，使政治学的研究多元化。</a:t>
            </a:r>
          </a:p>
        </p:txBody>
      </p:sp>
      <p:sp>
        <p:nvSpPr>
          <p:cNvPr id="9" name="文本框 8">
            <a:extLst>
              <a:ext uri="{FF2B5EF4-FFF2-40B4-BE49-F238E27FC236}">
                <a16:creationId xmlns:a16="http://schemas.microsoft.com/office/drawing/2014/main" id="{ACD03BBD-C8C1-96AD-D1C4-CB0E2DE1F358}"/>
              </a:ext>
            </a:extLst>
          </p:cNvPr>
          <p:cNvSpPr txBox="1"/>
          <p:nvPr/>
        </p:nvSpPr>
        <p:spPr>
          <a:xfrm>
            <a:off x="450427" y="1816450"/>
            <a:ext cx="5819130" cy="4524315"/>
          </a:xfrm>
          <a:prstGeom prst="rect">
            <a:avLst/>
          </a:prstGeom>
          <a:noFill/>
        </p:spPr>
        <p:txBody>
          <a:bodyPr wrap="square">
            <a:spAutoFit/>
          </a:bodyPr>
          <a:lstStyle/>
          <a:p>
            <a:pPr algn="l">
              <a:buFont typeface="+mj-lt"/>
              <a:buAutoNum type="arabicPeriod"/>
            </a:pPr>
            <a:r>
              <a:rPr lang="zh-CN" altLang="en-US" b="1" i="0" dirty="0">
                <a:solidFill>
                  <a:srgbClr val="002060"/>
                </a:solidFill>
                <a:effectLst/>
                <a:latin typeface="PingFang-SC-Regular"/>
              </a:rPr>
              <a:t>推动学科建设：周恩来曾多次强调学科建设的重要性，并亲自指导南开大学的学科建设工作。他倡导“博采众长，融会贯通”的办学理念，鼓励南开大学在学科建设上要注重交叉融合，形成特色和优势。</a:t>
            </a:r>
          </a:p>
          <a:p>
            <a:pPr algn="l">
              <a:buFont typeface="+mj-lt"/>
              <a:buAutoNum type="arabicPeriod"/>
            </a:pPr>
            <a:r>
              <a:rPr lang="zh-CN" altLang="en-US" b="1" i="0" dirty="0">
                <a:solidFill>
                  <a:srgbClr val="002060"/>
                </a:solidFill>
                <a:effectLst/>
                <a:latin typeface="PingFang-SC-Regular"/>
              </a:rPr>
              <a:t>培养人才：周恩来十分重视人才培养，他曾多次强调要注重培养学生的创新精神和实践能力，并亲自为学生授课。他注重学生的全面发展，倡导开展各种课外活动，提高学生的综合素质。</a:t>
            </a:r>
          </a:p>
          <a:p>
            <a:pPr algn="l">
              <a:buFont typeface="+mj-lt"/>
              <a:buAutoNum type="arabicPeriod"/>
            </a:pPr>
            <a:r>
              <a:rPr lang="zh-CN" altLang="en-US" b="1" i="0" dirty="0">
                <a:solidFill>
                  <a:srgbClr val="002060"/>
                </a:solidFill>
                <a:effectLst/>
                <a:latin typeface="PingFang-SC-Regular"/>
              </a:rPr>
              <a:t>推动科学研究：周恩来积极推动南开大学的科学研究工作，鼓励教师开展科学研究，推动学科发展。他曾多次强调科学研究对于推动学科发展的重要性，并亲自指导教师们开展科研工作。</a:t>
            </a:r>
          </a:p>
          <a:p>
            <a:pPr algn="l">
              <a:buFont typeface="+mj-lt"/>
              <a:buAutoNum type="arabicPeriod"/>
            </a:pPr>
            <a:r>
              <a:rPr lang="zh-CN" altLang="en-US" b="1" i="0" dirty="0">
                <a:solidFill>
                  <a:srgbClr val="002060"/>
                </a:solidFill>
                <a:effectLst/>
                <a:latin typeface="PingFang-SC-Regular"/>
              </a:rPr>
              <a:t>推动对外交流：周恩来积极推动南开大学的对外交流工作，鼓励教师开展国际合作，推动学科发展。他曾多次强调对外交流对于促进学科国际化的重要性。</a:t>
            </a:r>
            <a:br>
              <a:rPr lang="zh-CN" altLang="en-US" b="1" i="0" dirty="0">
                <a:solidFill>
                  <a:srgbClr val="002060"/>
                </a:solidFill>
                <a:effectLst/>
                <a:latin typeface="PingFang-SC-Regular"/>
              </a:rPr>
            </a:br>
            <a:endParaRPr lang="zh-CN" altLang="en-US" b="1" i="0" dirty="0">
              <a:solidFill>
                <a:srgbClr val="002060"/>
              </a:solidFill>
              <a:effectLst/>
              <a:latin typeface="PingFang-SC-Regular"/>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p:cTn id="7" dur="500" fill="hold"/>
                                        <p:tgtEl>
                                          <p:spTgt spid="25"/>
                                        </p:tgtEl>
                                        <p:attrNameLst>
                                          <p:attrName>ppt_w</p:attrName>
                                        </p:attrNameLst>
                                      </p:cBhvr>
                                      <p:tavLst>
                                        <p:tav tm="0">
                                          <p:val>
                                            <p:fltVal val="0"/>
                                          </p:val>
                                        </p:tav>
                                        <p:tav tm="100000">
                                          <p:val>
                                            <p:strVal val="#ppt_w"/>
                                          </p:val>
                                        </p:tav>
                                      </p:tavLst>
                                    </p:anim>
                                    <p:anim calcmode="lin" valueType="num">
                                      <p:cBhvr>
                                        <p:cTn id="8" dur="500" fill="hold"/>
                                        <p:tgtEl>
                                          <p:spTgt spid="25"/>
                                        </p:tgtEl>
                                        <p:attrNameLst>
                                          <p:attrName>ppt_h</p:attrName>
                                        </p:attrNameLst>
                                      </p:cBhvr>
                                      <p:tavLst>
                                        <p:tav tm="0">
                                          <p:val>
                                            <p:fltVal val="0"/>
                                          </p:val>
                                        </p:tav>
                                        <p:tav tm="100000">
                                          <p:val>
                                            <p:strVal val="#ppt_h"/>
                                          </p:val>
                                        </p:tav>
                                      </p:tavLst>
                                    </p:anim>
                                    <p:animEffect transition="in" filter="fade">
                                      <p:cBhvr>
                                        <p:cTn id="9" dur="500"/>
                                        <p:tgtEl>
                                          <p:spTgt spid="25"/>
                                        </p:tgtEl>
                                      </p:cBhvr>
                                    </p:animEffect>
                                  </p:childTnLst>
                                </p:cTn>
                              </p:par>
                              <p:par>
                                <p:cTn id="10" presetID="35" presetClass="path" presetSubtype="0" accel="50000" decel="50000" fill="hold" nodeType="withEffect">
                                  <p:stCondLst>
                                    <p:cond delay="0"/>
                                  </p:stCondLst>
                                  <p:childTnLst>
                                    <p:animMotion origin="layout" path="M -6.25E-7 -3.7037E-6 L 0.18997 -3.7037E-6 " pathEditMode="relative" rAng="0" ptsTypes="AA">
                                      <p:cBhvr>
                                        <p:cTn id="11" dur="1000" spd="-100000" fill="hold"/>
                                        <p:tgtEl>
                                          <p:spTgt spid="25"/>
                                        </p:tgtEl>
                                        <p:attrNameLst>
                                          <p:attrName>ppt_x</p:attrName>
                                          <p:attrName>ppt_y</p:attrName>
                                        </p:attrNameLst>
                                      </p:cBhvr>
                                      <p:rCtr x="9492" y="0"/>
                                    </p:animMotion>
                                  </p:childTnLst>
                                </p:cTn>
                              </p:par>
                              <p:par>
                                <p:cTn id="12" presetID="53" presetClass="entr" presetSubtype="16" fill="hold" nodeType="withEffect">
                                  <p:stCondLst>
                                    <p:cond delay="0"/>
                                  </p:stCondLst>
                                  <p:childTnLst>
                                    <p:set>
                                      <p:cBhvr>
                                        <p:cTn id="13" dur="1" fill="hold">
                                          <p:stCondLst>
                                            <p:cond delay="0"/>
                                          </p:stCondLst>
                                        </p:cTn>
                                        <p:tgtEl>
                                          <p:spTgt spid="26"/>
                                        </p:tgtEl>
                                        <p:attrNameLst>
                                          <p:attrName>style.visibility</p:attrName>
                                        </p:attrNameLst>
                                      </p:cBhvr>
                                      <p:to>
                                        <p:strVal val="visible"/>
                                      </p:to>
                                    </p:set>
                                    <p:anim calcmode="lin" valueType="num">
                                      <p:cBhvr>
                                        <p:cTn id="14" dur="500" fill="hold"/>
                                        <p:tgtEl>
                                          <p:spTgt spid="26"/>
                                        </p:tgtEl>
                                        <p:attrNameLst>
                                          <p:attrName>ppt_w</p:attrName>
                                        </p:attrNameLst>
                                      </p:cBhvr>
                                      <p:tavLst>
                                        <p:tav tm="0">
                                          <p:val>
                                            <p:fltVal val="0"/>
                                          </p:val>
                                        </p:tav>
                                        <p:tav tm="100000">
                                          <p:val>
                                            <p:strVal val="#ppt_w"/>
                                          </p:val>
                                        </p:tav>
                                      </p:tavLst>
                                    </p:anim>
                                    <p:anim calcmode="lin" valueType="num">
                                      <p:cBhvr>
                                        <p:cTn id="15" dur="500" fill="hold"/>
                                        <p:tgtEl>
                                          <p:spTgt spid="26"/>
                                        </p:tgtEl>
                                        <p:attrNameLst>
                                          <p:attrName>ppt_h</p:attrName>
                                        </p:attrNameLst>
                                      </p:cBhvr>
                                      <p:tavLst>
                                        <p:tav tm="0">
                                          <p:val>
                                            <p:fltVal val="0"/>
                                          </p:val>
                                        </p:tav>
                                        <p:tav tm="100000">
                                          <p:val>
                                            <p:strVal val="#ppt_h"/>
                                          </p:val>
                                        </p:tav>
                                      </p:tavLst>
                                    </p:anim>
                                    <p:animEffect transition="in" filter="fade">
                                      <p:cBhvr>
                                        <p:cTn id="16" dur="500"/>
                                        <p:tgtEl>
                                          <p:spTgt spid="26"/>
                                        </p:tgtEl>
                                      </p:cBhvr>
                                    </p:animEffect>
                                  </p:childTnLst>
                                </p:cTn>
                              </p:par>
                              <p:par>
                                <p:cTn id="17" presetID="35" presetClass="path" presetSubtype="0" accel="50000" decel="50000" fill="hold" nodeType="withEffect">
                                  <p:stCondLst>
                                    <p:cond delay="0"/>
                                  </p:stCondLst>
                                  <p:childTnLst>
                                    <p:animMotion origin="layout" path="M 0 -3.7037E-6 L -0.41185 -3.7037E-6 " pathEditMode="relative" rAng="0" ptsTypes="AA">
                                      <p:cBhvr>
                                        <p:cTn id="18" dur="1000" spd="-100000" fill="hold"/>
                                        <p:tgtEl>
                                          <p:spTgt spid="26"/>
                                        </p:tgtEl>
                                        <p:attrNameLst>
                                          <p:attrName>ppt_x</p:attrName>
                                          <p:attrName>ppt_y</p:attrName>
                                        </p:attrNameLst>
                                      </p:cBhvr>
                                      <p:rCtr x="-20599" y="0"/>
                                    </p:animMotion>
                                  </p:childTnLst>
                                </p:cTn>
                              </p:par>
                            </p:childTnLst>
                          </p:cTn>
                        </p:par>
                        <p:par>
                          <p:cTn id="19" fill="hold">
                            <p:stCondLst>
                              <p:cond delay="500"/>
                            </p:stCondLst>
                            <p:childTnLst>
                              <p:par>
                                <p:cTn id="20" presetID="53" presetClass="entr" presetSubtype="16" fill="hold" grpId="0" nodeType="afterEffect">
                                  <p:stCondLst>
                                    <p:cond delay="0"/>
                                  </p:stCondLst>
                                  <p:childTnLst>
                                    <p:set>
                                      <p:cBhvr>
                                        <p:cTn id="21" dur="1" fill="hold">
                                          <p:stCondLst>
                                            <p:cond delay="0"/>
                                          </p:stCondLst>
                                        </p:cTn>
                                        <p:tgtEl>
                                          <p:spTgt spid="27"/>
                                        </p:tgtEl>
                                        <p:attrNameLst>
                                          <p:attrName>style.visibility</p:attrName>
                                        </p:attrNameLst>
                                      </p:cBhvr>
                                      <p:to>
                                        <p:strVal val="visible"/>
                                      </p:to>
                                    </p:set>
                                    <p:anim calcmode="lin" valueType="num">
                                      <p:cBhvr>
                                        <p:cTn id="22" dur="500" fill="hold"/>
                                        <p:tgtEl>
                                          <p:spTgt spid="27"/>
                                        </p:tgtEl>
                                        <p:attrNameLst>
                                          <p:attrName>ppt_w</p:attrName>
                                        </p:attrNameLst>
                                      </p:cBhvr>
                                      <p:tavLst>
                                        <p:tav tm="0">
                                          <p:val>
                                            <p:fltVal val="0"/>
                                          </p:val>
                                        </p:tav>
                                        <p:tav tm="100000">
                                          <p:val>
                                            <p:strVal val="#ppt_w"/>
                                          </p:val>
                                        </p:tav>
                                      </p:tavLst>
                                    </p:anim>
                                    <p:anim calcmode="lin" valueType="num">
                                      <p:cBhvr>
                                        <p:cTn id="23" dur="500" fill="hold"/>
                                        <p:tgtEl>
                                          <p:spTgt spid="27"/>
                                        </p:tgtEl>
                                        <p:attrNameLst>
                                          <p:attrName>ppt_h</p:attrName>
                                        </p:attrNameLst>
                                      </p:cBhvr>
                                      <p:tavLst>
                                        <p:tav tm="0">
                                          <p:val>
                                            <p:fltVal val="0"/>
                                          </p:val>
                                        </p:tav>
                                        <p:tav tm="100000">
                                          <p:val>
                                            <p:strVal val="#ppt_h"/>
                                          </p:val>
                                        </p:tav>
                                      </p:tavLst>
                                    </p:anim>
                                    <p:animEffect transition="in" filter="fade">
                                      <p:cBhvr>
                                        <p:cTn id="24" dur="500"/>
                                        <p:tgtEl>
                                          <p:spTgt spid="27"/>
                                        </p:tgtEl>
                                      </p:cBhvr>
                                    </p:animEffect>
                                  </p:childTnLst>
                                </p:cTn>
                              </p:par>
                              <p:par>
                                <p:cTn id="25" presetID="35" presetClass="path" presetSubtype="0" accel="50000" decel="50000" fill="hold" grpId="1" nodeType="withEffect">
                                  <p:stCondLst>
                                    <p:cond delay="0"/>
                                  </p:stCondLst>
                                  <p:childTnLst>
                                    <p:animMotion origin="layout" path="M -4.375E-6 -3.7037E-6 L -0.30273 -3.7037E-6 " pathEditMode="relative" rAng="0" ptsTypes="AA">
                                      <p:cBhvr>
                                        <p:cTn id="26" dur="1000" spd="-100000" fill="hold"/>
                                        <p:tgtEl>
                                          <p:spTgt spid="27"/>
                                        </p:tgtEl>
                                        <p:attrNameLst>
                                          <p:attrName>ppt_x</p:attrName>
                                          <p:attrName>ppt_y</p:attrName>
                                        </p:attrNameLst>
                                      </p:cBhvr>
                                      <p:rCtr x="-1514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7" grpId="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图片 24"/>
          <p:cNvPicPr>
            <a:picLocks noChangeAspect="1"/>
          </p:cNvPicPr>
          <p:nvPr/>
        </p:nvPicPr>
        <p:blipFill>
          <a:blip r:embed="rId3" cstate="screen"/>
          <a:stretch>
            <a:fillRect/>
          </a:stretch>
        </p:blipFill>
        <p:spPr>
          <a:xfrm>
            <a:off x="8088923" y="246423"/>
            <a:ext cx="4103077" cy="675011"/>
          </a:xfrm>
          <a:prstGeom prst="rect">
            <a:avLst/>
          </a:prstGeom>
        </p:spPr>
      </p:pic>
      <p:cxnSp>
        <p:nvCxnSpPr>
          <p:cNvPr id="26" name="直接连接符 25"/>
          <p:cNvCxnSpPr/>
          <p:nvPr/>
        </p:nvCxnSpPr>
        <p:spPr>
          <a:xfrm>
            <a:off x="0" y="921434"/>
            <a:ext cx="121920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7" name="矩形 26"/>
          <p:cNvSpPr/>
          <p:nvPr/>
        </p:nvSpPr>
        <p:spPr>
          <a:xfrm>
            <a:off x="1060287" y="353095"/>
            <a:ext cx="5262188" cy="461665"/>
          </a:xfrm>
          <a:prstGeom prst="rect">
            <a:avLst/>
          </a:prstGeom>
        </p:spPr>
        <p:txBody>
          <a:bodyPr wrap="square">
            <a:spAutoFit/>
          </a:bodyPr>
          <a:lstStyle/>
          <a:p>
            <a:r>
              <a:rPr lang="zh-CN" altLang="en-US" sz="2400" b="1" dirty="0">
                <a:solidFill>
                  <a:schemeClr val="accent1"/>
                </a:solidFill>
                <a:latin typeface="字体视界-NEW魏碑体" panose="02010601030101010101" pitchFamily="2" charset="-122"/>
                <a:ea typeface="字体视界-NEW魏碑体" panose="02010601030101010101" pitchFamily="2" charset="-122"/>
                <a:cs typeface="+mn-ea"/>
                <a:sym typeface="+mn-lt"/>
              </a:rPr>
              <a:t>第二部分：</a:t>
            </a:r>
            <a:r>
              <a:rPr lang="zh-CN" altLang="en-US" sz="2400" b="1" dirty="0">
                <a:solidFill>
                  <a:srgbClr val="C00000"/>
                </a:solidFill>
                <a:latin typeface="字体视界-NEW魏碑体" panose="02010601030101010101" pitchFamily="2" charset="-122"/>
                <a:ea typeface="字体视界-NEW魏碑体" panose="02010601030101010101" pitchFamily="2" charset="-122"/>
              </a:rPr>
              <a:t>周恩来总理与南开大学</a:t>
            </a:r>
          </a:p>
        </p:txBody>
      </p:sp>
      <p:pic>
        <p:nvPicPr>
          <p:cNvPr id="3" name="图片 2">
            <a:extLst>
              <a:ext uri="{FF2B5EF4-FFF2-40B4-BE49-F238E27FC236}">
                <a16:creationId xmlns:a16="http://schemas.microsoft.com/office/drawing/2014/main" id="{506D87D4-1516-BD00-591F-36F6ECB8CD1F}"/>
              </a:ext>
            </a:extLst>
          </p:cNvPr>
          <p:cNvPicPr>
            <a:picLocks noChangeAspect="1"/>
          </p:cNvPicPr>
          <p:nvPr/>
        </p:nvPicPr>
        <p:blipFill>
          <a:blip r:embed="rId4"/>
          <a:stretch>
            <a:fillRect/>
          </a:stretch>
        </p:blipFill>
        <p:spPr>
          <a:xfrm>
            <a:off x="514475" y="1707101"/>
            <a:ext cx="10474770" cy="2153529"/>
          </a:xfrm>
          <a:prstGeom prst="rect">
            <a:avLst/>
          </a:prstGeom>
        </p:spPr>
      </p:pic>
      <p:sp>
        <p:nvSpPr>
          <p:cNvPr id="4" name="文本框 3">
            <a:extLst>
              <a:ext uri="{FF2B5EF4-FFF2-40B4-BE49-F238E27FC236}">
                <a16:creationId xmlns:a16="http://schemas.microsoft.com/office/drawing/2014/main" id="{BEEC1F0F-FBCE-E587-B0FE-6EEBFC1D2DEF}"/>
              </a:ext>
            </a:extLst>
          </p:cNvPr>
          <p:cNvSpPr txBox="1"/>
          <p:nvPr/>
        </p:nvSpPr>
        <p:spPr>
          <a:xfrm>
            <a:off x="568960" y="1225973"/>
            <a:ext cx="5913120" cy="400110"/>
          </a:xfrm>
          <a:prstGeom prst="rect">
            <a:avLst/>
          </a:prstGeom>
          <a:noFill/>
        </p:spPr>
        <p:txBody>
          <a:bodyPr wrap="square" rtlCol="0">
            <a:spAutoFit/>
          </a:bodyPr>
          <a:lstStyle/>
          <a:p>
            <a:r>
              <a:rPr lang="zh-CN" altLang="en-US" sz="2000" b="1" dirty="0"/>
              <a:t>关怀南开大学化学学科，建设元素有机化学研究所</a:t>
            </a:r>
          </a:p>
        </p:txBody>
      </p:sp>
      <p:pic>
        <p:nvPicPr>
          <p:cNvPr id="6" name="图片 5">
            <a:extLst>
              <a:ext uri="{FF2B5EF4-FFF2-40B4-BE49-F238E27FC236}">
                <a16:creationId xmlns:a16="http://schemas.microsoft.com/office/drawing/2014/main" id="{2F73B270-6B9F-9D61-55D4-EF0AA4B6F244}"/>
              </a:ext>
            </a:extLst>
          </p:cNvPr>
          <p:cNvPicPr>
            <a:picLocks noChangeAspect="1"/>
          </p:cNvPicPr>
          <p:nvPr/>
        </p:nvPicPr>
        <p:blipFill>
          <a:blip r:embed="rId5"/>
          <a:stretch>
            <a:fillRect/>
          </a:stretch>
        </p:blipFill>
        <p:spPr>
          <a:xfrm>
            <a:off x="514476" y="4492675"/>
            <a:ext cx="10474770" cy="2189280"/>
          </a:xfrm>
          <a:prstGeom prst="rect">
            <a:avLst/>
          </a:prstGeom>
        </p:spPr>
      </p:pic>
      <p:sp>
        <p:nvSpPr>
          <p:cNvPr id="7" name="文本框 6">
            <a:extLst>
              <a:ext uri="{FF2B5EF4-FFF2-40B4-BE49-F238E27FC236}">
                <a16:creationId xmlns:a16="http://schemas.microsoft.com/office/drawing/2014/main" id="{1C51C052-A9D4-C648-AB2E-75694AC7AC58}"/>
              </a:ext>
            </a:extLst>
          </p:cNvPr>
          <p:cNvSpPr txBox="1"/>
          <p:nvPr/>
        </p:nvSpPr>
        <p:spPr>
          <a:xfrm>
            <a:off x="670560" y="3969173"/>
            <a:ext cx="5987627" cy="400110"/>
          </a:xfrm>
          <a:prstGeom prst="rect">
            <a:avLst/>
          </a:prstGeom>
          <a:noFill/>
        </p:spPr>
        <p:txBody>
          <a:bodyPr wrap="square" rtlCol="0">
            <a:spAutoFit/>
          </a:bodyPr>
          <a:lstStyle/>
          <a:p>
            <a:r>
              <a:rPr lang="zh-CN" altLang="en-US" sz="2000" b="1" dirty="0"/>
              <a:t>关心学校教育质量，提供自己的思路去改善大学</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p:cTn id="7" dur="500" fill="hold"/>
                                        <p:tgtEl>
                                          <p:spTgt spid="25"/>
                                        </p:tgtEl>
                                        <p:attrNameLst>
                                          <p:attrName>ppt_w</p:attrName>
                                        </p:attrNameLst>
                                      </p:cBhvr>
                                      <p:tavLst>
                                        <p:tav tm="0">
                                          <p:val>
                                            <p:fltVal val="0"/>
                                          </p:val>
                                        </p:tav>
                                        <p:tav tm="100000">
                                          <p:val>
                                            <p:strVal val="#ppt_w"/>
                                          </p:val>
                                        </p:tav>
                                      </p:tavLst>
                                    </p:anim>
                                    <p:anim calcmode="lin" valueType="num">
                                      <p:cBhvr>
                                        <p:cTn id="8" dur="500" fill="hold"/>
                                        <p:tgtEl>
                                          <p:spTgt spid="25"/>
                                        </p:tgtEl>
                                        <p:attrNameLst>
                                          <p:attrName>ppt_h</p:attrName>
                                        </p:attrNameLst>
                                      </p:cBhvr>
                                      <p:tavLst>
                                        <p:tav tm="0">
                                          <p:val>
                                            <p:fltVal val="0"/>
                                          </p:val>
                                        </p:tav>
                                        <p:tav tm="100000">
                                          <p:val>
                                            <p:strVal val="#ppt_h"/>
                                          </p:val>
                                        </p:tav>
                                      </p:tavLst>
                                    </p:anim>
                                    <p:animEffect transition="in" filter="fade">
                                      <p:cBhvr>
                                        <p:cTn id="9" dur="500"/>
                                        <p:tgtEl>
                                          <p:spTgt spid="25"/>
                                        </p:tgtEl>
                                      </p:cBhvr>
                                    </p:animEffect>
                                  </p:childTnLst>
                                </p:cTn>
                              </p:par>
                              <p:par>
                                <p:cTn id="10" presetID="35" presetClass="path" presetSubtype="0" accel="50000" decel="50000" fill="hold" nodeType="withEffect">
                                  <p:stCondLst>
                                    <p:cond delay="0"/>
                                  </p:stCondLst>
                                  <p:childTnLst>
                                    <p:animMotion origin="layout" path="M -6.25E-7 -3.7037E-6 L 0.18997 -3.7037E-6 " pathEditMode="relative" rAng="0" ptsTypes="AA">
                                      <p:cBhvr>
                                        <p:cTn id="11" dur="1000" spd="-100000" fill="hold"/>
                                        <p:tgtEl>
                                          <p:spTgt spid="25"/>
                                        </p:tgtEl>
                                        <p:attrNameLst>
                                          <p:attrName>ppt_x</p:attrName>
                                          <p:attrName>ppt_y</p:attrName>
                                        </p:attrNameLst>
                                      </p:cBhvr>
                                      <p:rCtr x="9492" y="0"/>
                                    </p:animMotion>
                                  </p:childTnLst>
                                </p:cTn>
                              </p:par>
                              <p:par>
                                <p:cTn id="12" presetID="53" presetClass="entr" presetSubtype="16" fill="hold" nodeType="withEffect">
                                  <p:stCondLst>
                                    <p:cond delay="0"/>
                                  </p:stCondLst>
                                  <p:childTnLst>
                                    <p:set>
                                      <p:cBhvr>
                                        <p:cTn id="13" dur="1" fill="hold">
                                          <p:stCondLst>
                                            <p:cond delay="0"/>
                                          </p:stCondLst>
                                        </p:cTn>
                                        <p:tgtEl>
                                          <p:spTgt spid="26"/>
                                        </p:tgtEl>
                                        <p:attrNameLst>
                                          <p:attrName>style.visibility</p:attrName>
                                        </p:attrNameLst>
                                      </p:cBhvr>
                                      <p:to>
                                        <p:strVal val="visible"/>
                                      </p:to>
                                    </p:set>
                                    <p:anim calcmode="lin" valueType="num">
                                      <p:cBhvr>
                                        <p:cTn id="14" dur="500" fill="hold"/>
                                        <p:tgtEl>
                                          <p:spTgt spid="26"/>
                                        </p:tgtEl>
                                        <p:attrNameLst>
                                          <p:attrName>ppt_w</p:attrName>
                                        </p:attrNameLst>
                                      </p:cBhvr>
                                      <p:tavLst>
                                        <p:tav tm="0">
                                          <p:val>
                                            <p:fltVal val="0"/>
                                          </p:val>
                                        </p:tav>
                                        <p:tav tm="100000">
                                          <p:val>
                                            <p:strVal val="#ppt_w"/>
                                          </p:val>
                                        </p:tav>
                                      </p:tavLst>
                                    </p:anim>
                                    <p:anim calcmode="lin" valueType="num">
                                      <p:cBhvr>
                                        <p:cTn id="15" dur="500" fill="hold"/>
                                        <p:tgtEl>
                                          <p:spTgt spid="26"/>
                                        </p:tgtEl>
                                        <p:attrNameLst>
                                          <p:attrName>ppt_h</p:attrName>
                                        </p:attrNameLst>
                                      </p:cBhvr>
                                      <p:tavLst>
                                        <p:tav tm="0">
                                          <p:val>
                                            <p:fltVal val="0"/>
                                          </p:val>
                                        </p:tav>
                                        <p:tav tm="100000">
                                          <p:val>
                                            <p:strVal val="#ppt_h"/>
                                          </p:val>
                                        </p:tav>
                                      </p:tavLst>
                                    </p:anim>
                                    <p:animEffect transition="in" filter="fade">
                                      <p:cBhvr>
                                        <p:cTn id="16" dur="500"/>
                                        <p:tgtEl>
                                          <p:spTgt spid="26"/>
                                        </p:tgtEl>
                                      </p:cBhvr>
                                    </p:animEffect>
                                  </p:childTnLst>
                                </p:cTn>
                              </p:par>
                              <p:par>
                                <p:cTn id="17" presetID="35" presetClass="path" presetSubtype="0" accel="50000" decel="50000" fill="hold" nodeType="withEffect">
                                  <p:stCondLst>
                                    <p:cond delay="0"/>
                                  </p:stCondLst>
                                  <p:childTnLst>
                                    <p:animMotion origin="layout" path="M 0 -3.7037E-6 L -0.41185 -3.7037E-6 " pathEditMode="relative" rAng="0" ptsTypes="AA">
                                      <p:cBhvr>
                                        <p:cTn id="18" dur="1000" spd="-100000" fill="hold"/>
                                        <p:tgtEl>
                                          <p:spTgt spid="26"/>
                                        </p:tgtEl>
                                        <p:attrNameLst>
                                          <p:attrName>ppt_x</p:attrName>
                                          <p:attrName>ppt_y</p:attrName>
                                        </p:attrNameLst>
                                      </p:cBhvr>
                                      <p:rCtr x="-20599" y="0"/>
                                    </p:animMotion>
                                  </p:childTnLst>
                                </p:cTn>
                              </p:par>
                            </p:childTnLst>
                          </p:cTn>
                        </p:par>
                        <p:par>
                          <p:cTn id="19" fill="hold">
                            <p:stCondLst>
                              <p:cond delay="500"/>
                            </p:stCondLst>
                            <p:childTnLst>
                              <p:par>
                                <p:cTn id="20" presetID="53" presetClass="entr" presetSubtype="16" fill="hold" grpId="0" nodeType="afterEffect">
                                  <p:stCondLst>
                                    <p:cond delay="0"/>
                                  </p:stCondLst>
                                  <p:childTnLst>
                                    <p:set>
                                      <p:cBhvr>
                                        <p:cTn id="21" dur="1" fill="hold">
                                          <p:stCondLst>
                                            <p:cond delay="0"/>
                                          </p:stCondLst>
                                        </p:cTn>
                                        <p:tgtEl>
                                          <p:spTgt spid="27"/>
                                        </p:tgtEl>
                                        <p:attrNameLst>
                                          <p:attrName>style.visibility</p:attrName>
                                        </p:attrNameLst>
                                      </p:cBhvr>
                                      <p:to>
                                        <p:strVal val="visible"/>
                                      </p:to>
                                    </p:set>
                                    <p:anim calcmode="lin" valueType="num">
                                      <p:cBhvr>
                                        <p:cTn id="22" dur="500" fill="hold"/>
                                        <p:tgtEl>
                                          <p:spTgt spid="27"/>
                                        </p:tgtEl>
                                        <p:attrNameLst>
                                          <p:attrName>ppt_w</p:attrName>
                                        </p:attrNameLst>
                                      </p:cBhvr>
                                      <p:tavLst>
                                        <p:tav tm="0">
                                          <p:val>
                                            <p:fltVal val="0"/>
                                          </p:val>
                                        </p:tav>
                                        <p:tav tm="100000">
                                          <p:val>
                                            <p:strVal val="#ppt_w"/>
                                          </p:val>
                                        </p:tav>
                                      </p:tavLst>
                                    </p:anim>
                                    <p:anim calcmode="lin" valueType="num">
                                      <p:cBhvr>
                                        <p:cTn id="23" dur="500" fill="hold"/>
                                        <p:tgtEl>
                                          <p:spTgt spid="27"/>
                                        </p:tgtEl>
                                        <p:attrNameLst>
                                          <p:attrName>ppt_h</p:attrName>
                                        </p:attrNameLst>
                                      </p:cBhvr>
                                      <p:tavLst>
                                        <p:tav tm="0">
                                          <p:val>
                                            <p:fltVal val="0"/>
                                          </p:val>
                                        </p:tav>
                                        <p:tav tm="100000">
                                          <p:val>
                                            <p:strVal val="#ppt_h"/>
                                          </p:val>
                                        </p:tav>
                                      </p:tavLst>
                                    </p:anim>
                                    <p:animEffect transition="in" filter="fade">
                                      <p:cBhvr>
                                        <p:cTn id="24" dur="500"/>
                                        <p:tgtEl>
                                          <p:spTgt spid="27"/>
                                        </p:tgtEl>
                                      </p:cBhvr>
                                    </p:animEffect>
                                  </p:childTnLst>
                                </p:cTn>
                              </p:par>
                              <p:par>
                                <p:cTn id="25" presetID="35" presetClass="path" presetSubtype="0" accel="50000" decel="50000" fill="hold" grpId="1" nodeType="withEffect">
                                  <p:stCondLst>
                                    <p:cond delay="0"/>
                                  </p:stCondLst>
                                  <p:childTnLst>
                                    <p:animMotion origin="layout" path="M -4.375E-6 -3.7037E-6 L -0.30273 -3.7037E-6 " pathEditMode="relative" rAng="0" ptsTypes="AA">
                                      <p:cBhvr>
                                        <p:cTn id="26" dur="1000" spd="-100000" fill="hold"/>
                                        <p:tgtEl>
                                          <p:spTgt spid="27"/>
                                        </p:tgtEl>
                                        <p:attrNameLst>
                                          <p:attrName>ppt_x</p:attrName>
                                          <p:attrName>ppt_y</p:attrName>
                                        </p:attrNameLst>
                                      </p:cBhvr>
                                      <p:rCtr x="-1514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7" grpId="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图片 24"/>
          <p:cNvPicPr>
            <a:picLocks noChangeAspect="1"/>
          </p:cNvPicPr>
          <p:nvPr/>
        </p:nvPicPr>
        <p:blipFill>
          <a:blip r:embed="rId3" cstate="screen"/>
          <a:stretch>
            <a:fillRect/>
          </a:stretch>
        </p:blipFill>
        <p:spPr>
          <a:xfrm>
            <a:off x="8088923" y="246423"/>
            <a:ext cx="4103077" cy="675011"/>
          </a:xfrm>
          <a:prstGeom prst="rect">
            <a:avLst/>
          </a:prstGeom>
        </p:spPr>
      </p:pic>
      <p:cxnSp>
        <p:nvCxnSpPr>
          <p:cNvPr id="26" name="直接连接符 25"/>
          <p:cNvCxnSpPr/>
          <p:nvPr/>
        </p:nvCxnSpPr>
        <p:spPr>
          <a:xfrm>
            <a:off x="0" y="921434"/>
            <a:ext cx="121920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7" name="矩形 26"/>
          <p:cNvSpPr/>
          <p:nvPr/>
        </p:nvSpPr>
        <p:spPr>
          <a:xfrm>
            <a:off x="1060287" y="353095"/>
            <a:ext cx="5262188" cy="461665"/>
          </a:xfrm>
          <a:prstGeom prst="rect">
            <a:avLst/>
          </a:prstGeom>
        </p:spPr>
        <p:txBody>
          <a:bodyPr wrap="square">
            <a:spAutoFit/>
          </a:bodyPr>
          <a:lstStyle/>
          <a:p>
            <a:r>
              <a:rPr lang="zh-CN" altLang="en-US" sz="2400" b="1" dirty="0">
                <a:solidFill>
                  <a:schemeClr val="accent1"/>
                </a:solidFill>
                <a:latin typeface="字体视界-NEW魏碑体" panose="02010601030101010101" pitchFamily="2" charset="-122"/>
                <a:ea typeface="字体视界-NEW魏碑体" panose="02010601030101010101" pitchFamily="2" charset="-122"/>
                <a:cs typeface="+mn-ea"/>
                <a:sym typeface="+mn-lt"/>
              </a:rPr>
              <a:t>第二部分：</a:t>
            </a:r>
            <a:r>
              <a:rPr lang="zh-CN" altLang="en-US" sz="2400" b="1" dirty="0">
                <a:solidFill>
                  <a:srgbClr val="C00000"/>
                </a:solidFill>
                <a:latin typeface="字体视界-NEW魏碑体" panose="02010601030101010101" pitchFamily="2" charset="-122"/>
                <a:ea typeface="字体视界-NEW魏碑体" panose="02010601030101010101" pitchFamily="2" charset="-122"/>
              </a:rPr>
              <a:t>周恩来总理与南开大学</a:t>
            </a:r>
          </a:p>
        </p:txBody>
      </p:sp>
      <p:sp>
        <p:nvSpPr>
          <p:cNvPr id="3" name="文本框 2">
            <a:extLst>
              <a:ext uri="{FF2B5EF4-FFF2-40B4-BE49-F238E27FC236}">
                <a16:creationId xmlns:a16="http://schemas.microsoft.com/office/drawing/2014/main" id="{C48DA910-1FF0-1559-DE5C-B0D7C5F4417F}"/>
              </a:ext>
            </a:extLst>
          </p:cNvPr>
          <p:cNvSpPr txBox="1"/>
          <p:nvPr/>
        </p:nvSpPr>
        <p:spPr>
          <a:xfrm>
            <a:off x="829649" y="1197383"/>
            <a:ext cx="6102772"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1" i="0" u="none" strike="noStrike" kern="1200" cap="none" spc="0" normalizeH="0" baseline="0" noProof="0" dirty="0">
                <a:ln>
                  <a:noFill/>
                </a:ln>
                <a:solidFill>
                  <a:prstClr val="black"/>
                </a:solidFill>
                <a:effectLst/>
                <a:uLnTx/>
                <a:uFillTx/>
                <a:latin typeface="Microsoft YaHei"/>
                <a:cs typeface="+mn-cs"/>
              </a:rPr>
              <a:t>周总理与南开</a:t>
            </a:r>
            <a:endParaRPr kumimoji="0" lang="en-US" altLang="zh-CN" sz="3200" b="1" i="0" u="none" strike="noStrike" kern="1200" cap="none" spc="0" normalizeH="0" baseline="0" noProof="0" dirty="0">
              <a:ln>
                <a:noFill/>
              </a:ln>
              <a:solidFill>
                <a:prstClr val="black"/>
              </a:solidFill>
              <a:effectLst/>
              <a:uLnTx/>
              <a:uFillTx/>
              <a:latin typeface="Microsoft YaHei"/>
              <a:cs typeface="+mn-cs"/>
            </a:endParaRPr>
          </a:p>
        </p:txBody>
      </p:sp>
      <p:sp>
        <p:nvSpPr>
          <p:cNvPr id="5" name="文本框 4">
            <a:extLst>
              <a:ext uri="{FF2B5EF4-FFF2-40B4-BE49-F238E27FC236}">
                <a16:creationId xmlns:a16="http://schemas.microsoft.com/office/drawing/2014/main" id="{1BD357BC-4099-7C21-E77C-D407AC669F7B}"/>
              </a:ext>
            </a:extLst>
          </p:cNvPr>
          <p:cNvSpPr txBox="1"/>
          <p:nvPr/>
        </p:nvSpPr>
        <p:spPr>
          <a:xfrm>
            <a:off x="917787" y="1993668"/>
            <a:ext cx="6102772" cy="4524315"/>
          </a:xfrm>
          <a:prstGeom prst="rect">
            <a:avLst/>
          </a:prstGeom>
          <a:noFill/>
        </p:spPr>
        <p:txBody>
          <a:bodyPr wrap="square">
            <a:spAutoFit/>
          </a:bodyPr>
          <a:lstStyle/>
          <a:p>
            <a:pPr algn="l"/>
            <a:r>
              <a:rPr lang="zh-CN" altLang="en-US" sz="1800" b="1" i="0" u="none" strike="noStrike" baseline="0" dirty="0">
                <a:latin typeface="FZXDXJW--GB1-0"/>
              </a:rPr>
              <a:t>         </a:t>
            </a:r>
            <a:r>
              <a:rPr lang="zh-CN" altLang="en-US" sz="1800" b="1" i="0" u="none" strike="noStrike" baseline="0" dirty="0">
                <a:solidFill>
                  <a:schemeClr val="tx1">
                    <a:lumMod val="75000"/>
                    <a:lumOff val="25000"/>
                  </a:schemeClr>
                </a:solidFill>
                <a:latin typeface="FZXDXJW--GB1-0"/>
              </a:rPr>
              <a:t>南开大学最杰出的校友周恩来是南开中学的优秀毕业生，南开大学招收的第一届学生之一。</a:t>
            </a:r>
            <a:endParaRPr lang="en-US" altLang="zh-CN" sz="1800" b="1" i="0" u="none" strike="noStrike" baseline="0" dirty="0">
              <a:solidFill>
                <a:schemeClr val="tx1">
                  <a:lumMod val="75000"/>
                  <a:lumOff val="25000"/>
                </a:schemeClr>
              </a:solidFill>
              <a:latin typeface="FZXDXJW--GB1-0"/>
            </a:endParaRPr>
          </a:p>
          <a:p>
            <a:pPr algn="l"/>
            <a:r>
              <a:rPr lang="zh-CN" altLang="en-US" b="0" i="0" dirty="0">
                <a:solidFill>
                  <a:schemeClr val="tx1">
                    <a:lumMod val="75000"/>
                    <a:lumOff val="25000"/>
                  </a:schemeClr>
                </a:solidFill>
                <a:effectLst/>
                <a:latin typeface="simsun" panose="02010600030101010101" pitchFamily="2" charset="-122"/>
                <a:ea typeface="simsun" panose="02010600030101010101" pitchFamily="2" charset="-122"/>
              </a:rPr>
              <a:t>    </a:t>
            </a:r>
            <a:r>
              <a:rPr lang="zh-CN" altLang="en-US" b="1" dirty="0">
                <a:solidFill>
                  <a:schemeClr val="tx1">
                    <a:lumMod val="75000"/>
                    <a:lumOff val="25000"/>
                  </a:schemeClr>
                </a:solidFill>
                <a:effectLst/>
                <a:latin typeface="+mj-ea"/>
                <a:ea typeface="+mj-ea"/>
              </a:rPr>
              <a:t>新中国成立后，周恩来作为党和国家重要领导人，肩负千钧，日理万机，仍始终关怀着南开大学的发展，曾于</a:t>
            </a:r>
            <a:r>
              <a:rPr lang="en-US" altLang="zh-CN" b="1" dirty="0">
                <a:solidFill>
                  <a:schemeClr val="tx1">
                    <a:lumMod val="75000"/>
                    <a:lumOff val="25000"/>
                  </a:schemeClr>
                </a:solidFill>
                <a:effectLst/>
                <a:latin typeface="+mj-ea"/>
                <a:ea typeface="+mj-ea"/>
              </a:rPr>
              <a:t>1951</a:t>
            </a:r>
            <a:r>
              <a:rPr lang="zh-CN" altLang="en-US" b="1" dirty="0">
                <a:solidFill>
                  <a:schemeClr val="tx1">
                    <a:lumMod val="75000"/>
                    <a:lumOff val="25000"/>
                  </a:schemeClr>
                </a:solidFill>
                <a:effectLst/>
                <a:latin typeface="+mj-ea"/>
                <a:ea typeface="+mj-ea"/>
              </a:rPr>
              <a:t>年、</a:t>
            </a:r>
            <a:r>
              <a:rPr lang="en-US" altLang="zh-CN" b="1" dirty="0">
                <a:solidFill>
                  <a:schemeClr val="tx1">
                    <a:lumMod val="75000"/>
                    <a:lumOff val="25000"/>
                  </a:schemeClr>
                </a:solidFill>
                <a:effectLst/>
                <a:latin typeface="+mj-ea"/>
                <a:ea typeface="+mj-ea"/>
              </a:rPr>
              <a:t>1957</a:t>
            </a:r>
            <a:r>
              <a:rPr lang="zh-CN" altLang="en-US" b="1" dirty="0">
                <a:solidFill>
                  <a:schemeClr val="tx1">
                    <a:lumMod val="75000"/>
                    <a:lumOff val="25000"/>
                  </a:schemeClr>
                </a:solidFill>
                <a:effectLst/>
                <a:latin typeface="+mj-ea"/>
                <a:ea typeface="+mj-ea"/>
              </a:rPr>
              <a:t>年和</a:t>
            </a:r>
            <a:r>
              <a:rPr lang="en-US" altLang="zh-CN" b="1" dirty="0">
                <a:solidFill>
                  <a:schemeClr val="tx1">
                    <a:lumMod val="75000"/>
                    <a:lumOff val="25000"/>
                  </a:schemeClr>
                </a:solidFill>
                <a:effectLst/>
                <a:latin typeface="+mj-ea"/>
                <a:ea typeface="+mj-ea"/>
              </a:rPr>
              <a:t>1959</a:t>
            </a:r>
            <a:r>
              <a:rPr lang="zh-CN" altLang="en-US" b="1" dirty="0">
                <a:solidFill>
                  <a:schemeClr val="tx1">
                    <a:lumMod val="75000"/>
                    <a:lumOff val="25000"/>
                  </a:schemeClr>
                </a:solidFill>
                <a:effectLst/>
                <a:latin typeface="+mj-ea"/>
                <a:ea typeface="+mj-ea"/>
              </a:rPr>
              <a:t>年</a:t>
            </a:r>
            <a:r>
              <a:rPr lang="en-US" altLang="zh-CN" b="1" dirty="0">
                <a:solidFill>
                  <a:schemeClr val="tx1">
                    <a:lumMod val="75000"/>
                    <a:lumOff val="25000"/>
                  </a:schemeClr>
                </a:solidFill>
                <a:effectLst/>
                <a:latin typeface="+mj-ea"/>
                <a:ea typeface="+mj-ea"/>
              </a:rPr>
              <a:t>3</a:t>
            </a:r>
            <a:r>
              <a:rPr lang="zh-CN" altLang="en-US" b="1" dirty="0">
                <a:solidFill>
                  <a:schemeClr val="tx1">
                    <a:lumMod val="75000"/>
                    <a:lumOff val="25000"/>
                  </a:schemeClr>
                </a:solidFill>
                <a:effectLst/>
                <a:latin typeface="+mj-ea"/>
                <a:ea typeface="+mj-ea"/>
              </a:rPr>
              <a:t>次重返母校视察。</a:t>
            </a:r>
          </a:p>
          <a:p>
            <a:pPr algn="l"/>
            <a:r>
              <a:rPr lang="zh-CN" altLang="en-US" b="1" dirty="0">
                <a:solidFill>
                  <a:schemeClr val="tx1">
                    <a:lumMod val="75000"/>
                    <a:lumOff val="25000"/>
                  </a:schemeClr>
                </a:solidFill>
                <a:effectLst/>
                <a:latin typeface="+mj-ea"/>
                <a:ea typeface="+mj-ea"/>
              </a:rPr>
              <a:t>    特别是</a:t>
            </a:r>
            <a:r>
              <a:rPr lang="en-US" altLang="zh-CN" b="1" dirty="0">
                <a:solidFill>
                  <a:schemeClr val="tx1">
                    <a:lumMod val="75000"/>
                    <a:lumOff val="25000"/>
                  </a:schemeClr>
                </a:solidFill>
                <a:effectLst/>
                <a:latin typeface="+mj-ea"/>
                <a:ea typeface="+mj-ea"/>
              </a:rPr>
              <a:t>1959</a:t>
            </a:r>
            <a:r>
              <a:rPr lang="zh-CN" altLang="en-US" b="1" dirty="0">
                <a:solidFill>
                  <a:schemeClr val="tx1">
                    <a:lumMod val="75000"/>
                    <a:lumOff val="25000"/>
                  </a:schemeClr>
                </a:solidFill>
                <a:effectLst/>
                <a:latin typeface="+mj-ea"/>
                <a:ea typeface="+mj-ea"/>
              </a:rPr>
              <a:t>年视察南开时，周总理不顾劳累，深入到教学楼、实验室、研究所、图书馆、学生宿舍，每到一处就和师生们亲切交谈，仔细询问教学、科研、生活等各方面情况，给南开师生留下了珍贵而难忘的记忆。</a:t>
            </a:r>
          </a:p>
          <a:p>
            <a:pPr algn="l"/>
            <a:r>
              <a:rPr lang="en-US" altLang="zh-CN" b="1" dirty="0">
                <a:solidFill>
                  <a:schemeClr val="tx1">
                    <a:lumMod val="75000"/>
                    <a:lumOff val="25000"/>
                  </a:schemeClr>
                </a:solidFill>
                <a:effectLst/>
                <a:latin typeface="+mj-ea"/>
                <a:ea typeface="+mj-ea"/>
              </a:rPr>
              <a:t>    1959</a:t>
            </a:r>
            <a:r>
              <a:rPr lang="zh-CN" altLang="en-US" b="1" dirty="0">
                <a:solidFill>
                  <a:schemeClr val="tx1">
                    <a:lumMod val="75000"/>
                    <a:lumOff val="25000"/>
                  </a:schemeClr>
                </a:solidFill>
                <a:effectLst/>
                <a:latin typeface="+mj-ea"/>
                <a:ea typeface="+mj-ea"/>
              </a:rPr>
              <a:t>年</a:t>
            </a:r>
            <a:r>
              <a:rPr lang="en-US" altLang="zh-CN" b="1" dirty="0">
                <a:solidFill>
                  <a:schemeClr val="tx1">
                    <a:lumMod val="75000"/>
                    <a:lumOff val="25000"/>
                  </a:schemeClr>
                </a:solidFill>
                <a:effectLst/>
                <a:latin typeface="+mj-ea"/>
                <a:ea typeface="+mj-ea"/>
              </a:rPr>
              <a:t>5</a:t>
            </a:r>
            <a:r>
              <a:rPr lang="zh-CN" altLang="en-US" b="1" dirty="0">
                <a:solidFill>
                  <a:schemeClr val="tx1">
                    <a:lumMod val="75000"/>
                    <a:lumOff val="25000"/>
                  </a:schemeClr>
                </a:solidFill>
                <a:effectLst/>
                <a:latin typeface="+mj-ea"/>
                <a:ea typeface="+mj-ea"/>
              </a:rPr>
              <a:t>月</a:t>
            </a:r>
            <a:r>
              <a:rPr lang="en-US" altLang="zh-CN" b="1" dirty="0">
                <a:solidFill>
                  <a:schemeClr val="tx1">
                    <a:lumMod val="75000"/>
                    <a:lumOff val="25000"/>
                  </a:schemeClr>
                </a:solidFill>
                <a:effectLst/>
                <a:latin typeface="+mj-ea"/>
                <a:ea typeface="+mj-ea"/>
              </a:rPr>
              <a:t>28</a:t>
            </a:r>
            <a:r>
              <a:rPr lang="zh-CN" altLang="en-US" b="1" dirty="0">
                <a:solidFill>
                  <a:schemeClr val="tx1">
                    <a:lumMod val="75000"/>
                    <a:lumOff val="25000"/>
                  </a:schemeClr>
                </a:solidFill>
                <a:effectLst/>
                <a:latin typeface="+mj-ea"/>
                <a:ea typeface="+mj-ea"/>
              </a:rPr>
              <a:t>日，周总理第三次重返母校视察，邓颖超同志也一同前来。上午</a:t>
            </a:r>
            <a:r>
              <a:rPr lang="en-US" altLang="zh-CN" b="1" dirty="0">
                <a:solidFill>
                  <a:schemeClr val="tx1">
                    <a:lumMod val="75000"/>
                    <a:lumOff val="25000"/>
                  </a:schemeClr>
                </a:solidFill>
                <a:effectLst/>
                <a:latin typeface="+mj-ea"/>
                <a:ea typeface="+mj-ea"/>
              </a:rPr>
              <a:t>9</a:t>
            </a:r>
            <a:r>
              <a:rPr lang="zh-CN" altLang="en-US" b="1" dirty="0">
                <a:solidFill>
                  <a:schemeClr val="tx1">
                    <a:lumMod val="75000"/>
                    <a:lumOff val="25000"/>
                  </a:schemeClr>
                </a:solidFill>
                <a:effectLst/>
                <a:latin typeface="+mj-ea"/>
                <a:ea typeface="+mj-ea"/>
              </a:rPr>
              <a:t>时许，周总理先在第一教学楼听取了学校党委书记高仰云、教务长吴大任、副教务长滕维藻等人关于学校情况的汇报。听完汇报后，周总理本打算就近到思源堂参观，可听说全校师生已在图书馆东侧集合，他当即决定先赴会场与广大师生见面。面对</a:t>
            </a:r>
            <a:r>
              <a:rPr lang="en-US" altLang="zh-CN" b="1" dirty="0">
                <a:solidFill>
                  <a:schemeClr val="tx1">
                    <a:lumMod val="75000"/>
                    <a:lumOff val="25000"/>
                  </a:schemeClr>
                </a:solidFill>
                <a:effectLst/>
                <a:latin typeface="+mj-ea"/>
                <a:ea typeface="+mj-ea"/>
              </a:rPr>
              <a:t>3000</a:t>
            </a:r>
            <a:r>
              <a:rPr lang="zh-CN" altLang="en-US" b="1" dirty="0">
                <a:solidFill>
                  <a:schemeClr val="tx1">
                    <a:lumMod val="75000"/>
                    <a:lumOff val="25000"/>
                  </a:schemeClr>
                </a:solidFill>
                <a:effectLst/>
                <a:latin typeface="+mj-ea"/>
                <a:ea typeface="+mj-ea"/>
              </a:rPr>
              <a:t>多张热情洋溢的青春脸庞，周总理发表了亲切讲话。</a:t>
            </a:r>
            <a:endParaRPr lang="zh-CN" altLang="en-US" b="1" dirty="0">
              <a:solidFill>
                <a:schemeClr val="tx1">
                  <a:lumMod val="75000"/>
                  <a:lumOff val="25000"/>
                </a:schemeClr>
              </a:solidFill>
              <a:latin typeface="+mj-ea"/>
              <a:ea typeface="+mj-ea"/>
            </a:endParaRPr>
          </a:p>
        </p:txBody>
      </p:sp>
      <p:pic>
        <p:nvPicPr>
          <p:cNvPr id="7" name="图片 6">
            <a:extLst>
              <a:ext uri="{FF2B5EF4-FFF2-40B4-BE49-F238E27FC236}">
                <a16:creationId xmlns:a16="http://schemas.microsoft.com/office/drawing/2014/main" id="{F5FA3996-F94F-0FFC-B503-D26B85103212}"/>
              </a:ext>
            </a:extLst>
          </p:cNvPr>
          <p:cNvPicPr>
            <a:picLocks noChangeAspect="1"/>
          </p:cNvPicPr>
          <p:nvPr/>
        </p:nvPicPr>
        <p:blipFill>
          <a:blip r:embed="rId4"/>
          <a:stretch>
            <a:fillRect/>
          </a:stretch>
        </p:blipFill>
        <p:spPr>
          <a:xfrm>
            <a:off x="7511627" y="1028109"/>
            <a:ext cx="4485570" cy="2860954"/>
          </a:xfrm>
          <a:prstGeom prst="rect">
            <a:avLst/>
          </a:prstGeom>
        </p:spPr>
      </p:pic>
      <p:pic>
        <p:nvPicPr>
          <p:cNvPr id="9" name="图片 8">
            <a:extLst>
              <a:ext uri="{FF2B5EF4-FFF2-40B4-BE49-F238E27FC236}">
                <a16:creationId xmlns:a16="http://schemas.microsoft.com/office/drawing/2014/main" id="{154CB59F-862D-238D-1E14-5C7AA442E4D5}"/>
              </a:ext>
            </a:extLst>
          </p:cNvPr>
          <p:cNvPicPr>
            <a:picLocks noChangeAspect="1"/>
          </p:cNvPicPr>
          <p:nvPr/>
        </p:nvPicPr>
        <p:blipFill>
          <a:blip r:embed="rId5"/>
          <a:stretch>
            <a:fillRect/>
          </a:stretch>
        </p:blipFill>
        <p:spPr>
          <a:xfrm>
            <a:off x="7511628" y="3995737"/>
            <a:ext cx="4485569" cy="2780950"/>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p:cTn id="7" dur="500" fill="hold"/>
                                        <p:tgtEl>
                                          <p:spTgt spid="25"/>
                                        </p:tgtEl>
                                        <p:attrNameLst>
                                          <p:attrName>ppt_w</p:attrName>
                                        </p:attrNameLst>
                                      </p:cBhvr>
                                      <p:tavLst>
                                        <p:tav tm="0">
                                          <p:val>
                                            <p:fltVal val="0"/>
                                          </p:val>
                                        </p:tav>
                                        <p:tav tm="100000">
                                          <p:val>
                                            <p:strVal val="#ppt_w"/>
                                          </p:val>
                                        </p:tav>
                                      </p:tavLst>
                                    </p:anim>
                                    <p:anim calcmode="lin" valueType="num">
                                      <p:cBhvr>
                                        <p:cTn id="8" dur="500" fill="hold"/>
                                        <p:tgtEl>
                                          <p:spTgt spid="25"/>
                                        </p:tgtEl>
                                        <p:attrNameLst>
                                          <p:attrName>ppt_h</p:attrName>
                                        </p:attrNameLst>
                                      </p:cBhvr>
                                      <p:tavLst>
                                        <p:tav tm="0">
                                          <p:val>
                                            <p:fltVal val="0"/>
                                          </p:val>
                                        </p:tav>
                                        <p:tav tm="100000">
                                          <p:val>
                                            <p:strVal val="#ppt_h"/>
                                          </p:val>
                                        </p:tav>
                                      </p:tavLst>
                                    </p:anim>
                                    <p:animEffect transition="in" filter="fade">
                                      <p:cBhvr>
                                        <p:cTn id="9" dur="500"/>
                                        <p:tgtEl>
                                          <p:spTgt spid="25"/>
                                        </p:tgtEl>
                                      </p:cBhvr>
                                    </p:animEffect>
                                  </p:childTnLst>
                                </p:cTn>
                              </p:par>
                              <p:par>
                                <p:cTn id="10" presetID="35" presetClass="path" presetSubtype="0" accel="50000" decel="50000" fill="hold" nodeType="withEffect">
                                  <p:stCondLst>
                                    <p:cond delay="0"/>
                                  </p:stCondLst>
                                  <p:childTnLst>
                                    <p:animMotion origin="layout" path="M -6.25E-7 -3.7037E-6 L 0.18997 -3.7037E-6 " pathEditMode="relative" rAng="0" ptsTypes="AA">
                                      <p:cBhvr>
                                        <p:cTn id="11" dur="1000" spd="-100000" fill="hold"/>
                                        <p:tgtEl>
                                          <p:spTgt spid="25"/>
                                        </p:tgtEl>
                                        <p:attrNameLst>
                                          <p:attrName>ppt_x</p:attrName>
                                          <p:attrName>ppt_y</p:attrName>
                                        </p:attrNameLst>
                                      </p:cBhvr>
                                      <p:rCtr x="9492" y="0"/>
                                    </p:animMotion>
                                  </p:childTnLst>
                                </p:cTn>
                              </p:par>
                              <p:par>
                                <p:cTn id="12" presetID="53" presetClass="entr" presetSubtype="16" fill="hold" nodeType="withEffect">
                                  <p:stCondLst>
                                    <p:cond delay="0"/>
                                  </p:stCondLst>
                                  <p:childTnLst>
                                    <p:set>
                                      <p:cBhvr>
                                        <p:cTn id="13" dur="1" fill="hold">
                                          <p:stCondLst>
                                            <p:cond delay="0"/>
                                          </p:stCondLst>
                                        </p:cTn>
                                        <p:tgtEl>
                                          <p:spTgt spid="26"/>
                                        </p:tgtEl>
                                        <p:attrNameLst>
                                          <p:attrName>style.visibility</p:attrName>
                                        </p:attrNameLst>
                                      </p:cBhvr>
                                      <p:to>
                                        <p:strVal val="visible"/>
                                      </p:to>
                                    </p:set>
                                    <p:anim calcmode="lin" valueType="num">
                                      <p:cBhvr>
                                        <p:cTn id="14" dur="500" fill="hold"/>
                                        <p:tgtEl>
                                          <p:spTgt spid="26"/>
                                        </p:tgtEl>
                                        <p:attrNameLst>
                                          <p:attrName>ppt_w</p:attrName>
                                        </p:attrNameLst>
                                      </p:cBhvr>
                                      <p:tavLst>
                                        <p:tav tm="0">
                                          <p:val>
                                            <p:fltVal val="0"/>
                                          </p:val>
                                        </p:tav>
                                        <p:tav tm="100000">
                                          <p:val>
                                            <p:strVal val="#ppt_w"/>
                                          </p:val>
                                        </p:tav>
                                      </p:tavLst>
                                    </p:anim>
                                    <p:anim calcmode="lin" valueType="num">
                                      <p:cBhvr>
                                        <p:cTn id="15" dur="500" fill="hold"/>
                                        <p:tgtEl>
                                          <p:spTgt spid="26"/>
                                        </p:tgtEl>
                                        <p:attrNameLst>
                                          <p:attrName>ppt_h</p:attrName>
                                        </p:attrNameLst>
                                      </p:cBhvr>
                                      <p:tavLst>
                                        <p:tav tm="0">
                                          <p:val>
                                            <p:fltVal val="0"/>
                                          </p:val>
                                        </p:tav>
                                        <p:tav tm="100000">
                                          <p:val>
                                            <p:strVal val="#ppt_h"/>
                                          </p:val>
                                        </p:tav>
                                      </p:tavLst>
                                    </p:anim>
                                    <p:animEffect transition="in" filter="fade">
                                      <p:cBhvr>
                                        <p:cTn id="16" dur="500"/>
                                        <p:tgtEl>
                                          <p:spTgt spid="26"/>
                                        </p:tgtEl>
                                      </p:cBhvr>
                                    </p:animEffect>
                                  </p:childTnLst>
                                </p:cTn>
                              </p:par>
                              <p:par>
                                <p:cTn id="17" presetID="35" presetClass="path" presetSubtype="0" accel="50000" decel="50000" fill="hold" nodeType="withEffect">
                                  <p:stCondLst>
                                    <p:cond delay="0"/>
                                  </p:stCondLst>
                                  <p:childTnLst>
                                    <p:animMotion origin="layout" path="M 0 -3.7037E-6 L -0.41185 -3.7037E-6 " pathEditMode="relative" rAng="0" ptsTypes="AA">
                                      <p:cBhvr>
                                        <p:cTn id="18" dur="1000" spd="-100000" fill="hold"/>
                                        <p:tgtEl>
                                          <p:spTgt spid="26"/>
                                        </p:tgtEl>
                                        <p:attrNameLst>
                                          <p:attrName>ppt_x</p:attrName>
                                          <p:attrName>ppt_y</p:attrName>
                                        </p:attrNameLst>
                                      </p:cBhvr>
                                      <p:rCtr x="-20599" y="0"/>
                                    </p:animMotion>
                                  </p:childTnLst>
                                </p:cTn>
                              </p:par>
                            </p:childTnLst>
                          </p:cTn>
                        </p:par>
                        <p:par>
                          <p:cTn id="19" fill="hold">
                            <p:stCondLst>
                              <p:cond delay="500"/>
                            </p:stCondLst>
                            <p:childTnLst>
                              <p:par>
                                <p:cTn id="20" presetID="53" presetClass="entr" presetSubtype="16" fill="hold" grpId="0" nodeType="afterEffect">
                                  <p:stCondLst>
                                    <p:cond delay="0"/>
                                  </p:stCondLst>
                                  <p:childTnLst>
                                    <p:set>
                                      <p:cBhvr>
                                        <p:cTn id="21" dur="1" fill="hold">
                                          <p:stCondLst>
                                            <p:cond delay="0"/>
                                          </p:stCondLst>
                                        </p:cTn>
                                        <p:tgtEl>
                                          <p:spTgt spid="27"/>
                                        </p:tgtEl>
                                        <p:attrNameLst>
                                          <p:attrName>style.visibility</p:attrName>
                                        </p:attrNameLst>
                                      </p:cBhvr>
                                      <p:to>
                                        <p:strVal val="visible"/>
                                      </p:to>
                                    </p:set>
                                    <p:anim calcmode="lin" valueType="num">
                                      <p:cBhvr>
                                        <p:cTn id="22" dur="500" fill="hold"/>
                                        <p:tgtEl>
                                          <p:spTgt spid="27"/>
                                        </p:tgtEl>
                                        <p:attrNameLst>
                                          <p:attrName>ppt_w</p:attrName>
                                        </p:attrNameLst>
                                      </p:cBhvr>
                                      <p:tavLst>
                                        <p:tav tm="0">
                                          <p:val>
                                            <p:fltVal val="0"/>
                                          </p:val>
                                        </p:tav>
                                        <p:tav tm="100000">
                                          <p:val>
                                            <p:strVal val="#ppt_w"/>
                                          </p:val>
                                        </p:tav>
                                      </p:tavLst>
                                    </p:anim>
                                    <p:anim calcmode="lin" valueType="num">
                                      <p:cBhvr>
                                        <p:cTn id="23" dur="500" fill="hold"/>
                                        <p:tgtEl>
                                          <p:spTgt spid="27"/>
                                        </p:tgtEl>
                                        <p:attrNameLst>
                                          <p:attrName>ppt_h</p:attrName>
                                        </p:attrNameLst>
                                      </p:cBhvr>
                                      <p:tavLst>
                                        <p:tav tm="0">
                                          <p:val>
                                            <p:fltVal val="0"/>
                                          </p:val>
                                        </p:tav>
                                        <p:tav tm="100000">
                                          <p:val>
                                            <p:strVal val="#ppt_h"/>
                                          </p:val>
                                        </p:tav>
                                      </p:tavLst>
                                    </p:anim>
                                    <p:animEffect transition="in" filter="fade">
                                      <p:cBhvr>
                                        <p:cTn id="24" dur="500"/>
                                        <p:tgtEl>
                                          <p:spTgt spid="27"/>
                                        </p:tgtEl>
                                      </p:cBhvr>
                                    </p:animEffect>
                                  </p:childTnLst>
                                </p:cTn>
                              </p:par>
                              <p:par>
                                <p:cTn id="25" presetID="35" presetClass="path" presetSubtype="0" accel="50000" decel="50000" fill="hold" grpId="1" nodeType="withEffect">
                                  <p:stCondLst>
                                    <p:cond delay="0"/>
                                  </p:stCondLst>
                                  <p:childTnLst>
                                    <p:animMotion origin="layout" path="M -4.375E-6 -3.7037E-6 L -0.30273 -3.7037E-6 " pathEditMode="relative" rAng="0" ptsTypes="AA">
                                      <p:cBhvr>
                                        <p:cTn id="26" dur="1000" spd="-100000" fill="hold"/>
                                        <p:tgtEl>
                                          <p:spTgt spid="27"/>
                                        </p:tgtEl>
                                        <p:attrNameLst>
                                          <p:attrName>ppt_x</p:attrName>
                                          <p:attrName>ppt_y</p:attrName>
                                        </p:attrNameLst>
                                      </p:cBhvr>
                                      <p:rCtr x="-1514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7" grpId="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3" cstate="screen"/>
          <a:stretch>
            <a:fillRect/>
          </a:stretch>
        </p:blipFill>
        <p:spPr>
          <a:xfrm>
            <a:off x="5382578" y="5737759"/>
            <a:ext cx="6809422" cy="1120241"/>
          </a:xfrm>
          <a:prstGeom prst="rect">
            <a:avLst/>
          </a:prstGeom>
        </p:spPr>
      </p:pic>
      <p:pic>
        <p:nvPicPr>
          <p:cNvPr id="19" name="图片 18"/>
          <p:cNvPicPr>
            <a:picLocks noChangeAspect="1"/>
          </p:cNvPicPr>
          <p:nvPr/>
        </p:nvPicPr>
        <p:blipFill>
          <a:blip r:embed="rId4" cstate="screen"/>
          <a:stretch>
            <a:fillRect/>
          </a:stretch>
        </p:blipFill>
        <p:spPr>
          <a:xfrm>
            <a:off x="0" y="4049960"/>
            <a:ext cx="4460240" cy="2788989"/>
          </a:xfrm>
          <a:prstGeom prst="rect">
            <a:avLst/>
          </a:prstGeom>
        </p:spPr>
      </p:pic>
      <p:pic>
        <p:nvPicPr>
          <p:cNvPr id="74" name="图片 73"/>
          <p:cNvPicPr>
            <a:picLocks noChangeAspect="1"/>
          </p:cNvPicPr>
          <p:nvPr/>
        </p:nvPicPr>
        <p:blipFill>
          <a:blip r:embed="rId5"/>
          <a:stretch>
            <a:fillRect/>
          </a:stretch>
        </p:blipFill>
        <p:spPr>
          <a:xfrm rot="20902340" flipH="1">
            <a:off x="686735" y="622930"/>
            <a:ext cx="3143832" cy="1309931"/>
          </a:xfrm>
          <a:prstGeom prst="rect">
            <a:avLst/>
          </a:prstGeom>
        </p:spPr>
      </p:pic>
      <p:sp>
        <p:nvSpPr>
          <p:cNvPr id="75" name="文本框 74"/>
          <p:cNvSpPr txBox="1"/>
          <p:nvPr/>
        </p:nvSpPr>
        <p:spPr>
          <a:xfrm>
            <a:off x="4297680" y="2024776"/>
            <a:ext cx="3877985" cy="1200329"/>
          </a:xfrm>
          <a:prstGeom prst="rect">
            <a:avLst/>
          </a:prstGeom>
          <a:noFill/>
        </p:spPr>
        <p:txBody>
          <a:bodyPr wrap="none" rtlCol="0">
            <a:spAutoFit/>
          </a:bodyPr>
          <a:lstStyle/>
          <a:p>
            <a:r>
              <a:rPr lang="zh-CN" altLang="en-US" sz="7200" b="1" dirty="0">
                <a:solidFill>
                  <a:srgbClr val="C00000"/>
                </a:solidFill>
                <a:latin typeface="字体视界-NEW魏碑体" panose="02010601030101010101" pitchFamily="2" charset="-122"/>
                <a:ea typeface="字体视界-NEW魏碑体" panose="02010601030101010101" pitchFamily="2" charset="-122"/>
                <a:cs typeface="+mn-ea"/>
                <a:sym typeface="+mn-lt"/>
              </a:rPr>
              <a:t>第三部分</a:t>
            </a:r>
          </a:p>
        </p:txBody>
      </p:sp>
      <p:sp>
        <p:nvSpPr>
          <p:cNvPr id="78" name="文本框 77"/>
          <p:cNvSpPr txBox="1"/>
          <p:nvPr/>
        </p:nvSpPr>
        <p:spPr>
          <a:xfrm>
            <a:off x="2156459" y="3373436"/>
            <a:ext cx="7879081" cy="1015663"/>
          </a:xfrm>
          <a:prstGeom prst="rect">
            <a:avLst/>
          </a:prstGeom>
          <a:noFill/>
        </p:spPr>
        <p:txBody>
          <a:bodyPr wrap="none" rtlCol="0">
            <a:spAutoFit/>
          </a:bodyPr>
          <a:lstStyle/>
          <a:p>
            <a:pPr algn="ctr"/>
            <a:r>
              <a:rPr lang="zh-CN" altLang="en-US" sz="6000" b="1" dirty="0">
                <a:solidFill>
                  <a:srgbClr val="C00000"/>
                </a:solidFill>
                <a:latin typeface="字体视界-NEW魏碑体" panose="02010601030101010101" pitchFamily="2" charset="-122"/>
                <a:ea typeface="字体视界-NEW魏碑体" panose="02010601030101010101" pitchFamily="2" charset="-122"/>
              </a:rPr>
              <a:t>周恩来总理与中国社会</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nodeType="after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wipe(left)">
                                      <p:cBhvr>
                                        <p:cTn id="13" dur="500"/>
                                        <p:tgtEl>
                                          <p:spTgt spid="19"/>
                                        </p:tgtEl>
                                      </p:cBhvr>
                                    </p:animEffect>
                                  </p:childTnLst>
                                </p:cTn>
                              </p:par>
                            </p:childTnLst>
                          </p:cTn>
                        </p:par>
                        <p:par>
                          <p:cTn id="14" fill="hold">
                            <p:stCondLst>
                              <p:cond delay="1500"/>
                            </p:stCondLst>
                            <p:childTnLst>
                              <p:par>
                                <p:cTn id="15" presetID="53" presetClass="entr" presetSubtype="16" fill="hold" nodeType="afterEffect">
                                  <p:stCondLst>
                                    <p:cond delay="0"/>
                                  </p:stCondLst>
                                  <p:childTnLst>
                                    <p:set>
                                      <p:cBhvr>
                                        <p:cTn id="16" dur="1" fill="hold">
                                          <p:stCondLst>
                                            <p:cond delay="0"/>
                                          </p:stCondLst>
                                        </p:cTn>
                                        <p:tgtEl>
                                          <p:spTgt spid="74"/>
                                        </p:tgtEl>
                                        <p:attrNameLst>
                                          <p:attrName>style.visibility</p:attrName>
                                        </p:attrNameLst>
                                      </p:cBhvr>
                                      <p:to>
                                        <p:strVal val="visible"/>
                                      </p:to>
                                    </p:set>
                                    <p:anim calcmode="lin" valueType="num">
                                      <p:cBhvr>
                                        <p:cTn id="17" dur="1000" fill="hold"/>
                                        <p:tgtEl>
                                          <p:spTgt spid="74"/>
                                        </p:tgtEl>
                                        <p:attrNameLst>
                                          <p:attrName>ppt_w</p:attrName>
                                        </p:attrNameLst>
                                      </p:cBhvr>
                                      <p:tavLst>
                                        <p:tav tm="0">
                                          <p:val>
                                            <p:fltVal val="0"/>
                                          </p:val>
                                        </p:tav>
                                        <p:tav tm="100000">
                                          <p:val>
                                            <p:strVal val="#ppt_w"/>
                                          </p:val>
                                        </p:tav>
                                      </p:tavLst>
                                    </p:anim>
                                    <p:anim calcmode="lin" valueType="num">
                                      <p:cBhvr>
                                        <p:cTn id="18" dur="1000" fill="hold"/>
                                        <p:tgtEl>
                                          <p:spTgt spid="74"/>
                                        </p:tgtEl>
                                        <p:attrNameLst>
                                          <p:attrName>ppt_h</p:attrName>
                                        </p:attrNameLst>
                                      </p:cBhvr>
                                      <p:tavLst>
                                        <p:tav tm="0">
                                          <p:val>
                                            <p:fltVal val="0"/>
                                          </p:val>
                                        </p:tav>
                                        <p:tav tm="100000">
                                          <p:val>
                                            <p:strVal val="#ppt_h"/>
                                          </p:val>
                                        </p:tav>
                                      </p:tavLst>
                                    </p:anim>
                                    <p:animEffect transition="in" filter="fade">
                                      <p:cBhvr>
                                        <p:cTn id="19" dur="1000"/>
                                        <p:tgtEl>
                                          <p:spTgt spid="74"/>
                                        </p:tgtEl>
                                      </p:cBhvr>
                                    </p:animEffect>
                                  </p:childTnLst>
                                </p:cTn>
                              </p:par>
                              <p:par>
                                <p:cTn id="20" presetID="35" presetClass="path" presetSubtype="0" accel="50000" decel="50000" fill="hold" nodeType="withEffect">
                                  <p:stCondLst>
                                    <p:cond delay="0"/>
                                  </p:stCondLst>
                                  <p:childTnLst>
                                    <p:animMotion origin="layout" path="M 3.54167E-6 -2.59259E-6 L 0.31575 -2.59259E-6 " pathEditMode="relative" rAng="0" ptsTypes="AA">
                                      <p:cBhvr>
                                        <p:cTn id="21" dur="2000" spd="-100000" fill="hold"/>
                                        <p:tgtEl>
                                          <p:spTgt spid="74"/>
                                        </p:tgtEl>
                                        <p:attrNameLst>
                                          <p:attrName>ppt_x</p:attrName>
                                          <p:attrName>ppt_y</p:attrName>
                                        </p:attrNameLst>
                                      </p:cBhvr>
                                      <p:rCtr x="15781" y="0"/>
                                    </p:animMotion>
                                  </p:childTnLst>
                                </p:cTn>
                              </p:par>
                              <p:par>
                                <p:cTn id="22" presetID="53" presetClass="entr" presetSubtype="16" fill="hold" grpId="0" nodeType="withEffect">
                                  <p:stCondLst>
                                    <p:cond delay="400"/>
                                  </p:stCondLst>
                                  <p:childTnLst>
                                    <p:set>
                                      <p:cBhvr>
                                        <p:cTn id="23" dur="1" fill="hold">
                                          <p:stCondLst>
                                            <p:cond delay="0"/>
                                          </p:stCondLst>
                                        </p:cTn>
                                        <p:tgtEl>
                                          <p:spTgt spid="75"/>
                                        </p:tgtEl>
                                        <p:attrNameLst>
                                          <p:attrName>style.visibility</p:attrName>
                                        </p:attrNameLst>
                                      </p:cBhvr>
                                      <p:to>
                                        <p:strVal val="visible"/>
                                      </p:to>
                                    </p:set>
                                    <p:anim calcmode="lin" valueType="num">
                                      <p:cBhvr>
                                        <p:cTn id="24" dur="250" fill="hold"/>
                                        <p:tgtEl>
                                          <p:spTgt spid="75"/>
                                        </p:tgtEl>
                                        <p:attrNameLst>
                                          <p:attrName>ppt_w</p:attrName>
                                        </p:attrNameLst>
                                      </p:cBhvr>
                                      <p:tavLst>
                                        <p:tav tm="0">
                                          <p:val>
                                            <p:fltVal val="0"/>
                                          </p:val>
                                        </p:tav>
                                        <p:tav tm="100000">
                                          <p:val>
                                            <p:strVal val="#ppt_w"/>
                                          </p:val>
                                        </p:tav>
                                      </p:tavLst>
                                    </p:anim>
                                    <p:anim calcmode="lin" valueType="num">
                                      <p:cBhvr>
                                        <p:cTn id="25" dur="250" fill="hold"/>
                                        <p:tgtEl>
                                          <p:spTgt spid="75"/>
                                        </p:tgtEl>
                                        <p:attrNameLst>
                                          <p:attrName>ppt_h</p:attrName>
                                        </p:attrNameLst>
                                      </p:cBhvr>
                                      <p:tavLst>
                                        <p:tav tm="0">
                                          <p:val>
                                            <p:fltVal val="0"/>
                                          </p:val>
                                        </p:tav>
                                        <p:tav tm="100000">
                                          <p:val>
                                            <p:strVal val="#ppt_h"/>
                                          </p:val>
                                        </p:tav>
                                      </p:tavLst>
                                    </p:anim>
                                    <p:animEffect transition="in" filter="fade">
                                      <p:cBhvr>
                                        <p:cTn id="26" dur="250"/>
                                        <p:tgtEl>
                                          <p:spTgt spid="75"/>
                                        </p:tgtEl>
                                      </p:cBhvr>
                                    </p:animEffect>
                                  </p:childTnLst>
                                </p:cTn>
                              </p:par>
                              <p:par>
                                <p:cTn id="27" presetID="6" presetClass="emph" presetSubtype="0" decel="100000" fill="hold" grpId="1" nodeType="withEffect">
                                  <p:stCondLst>
                                    <p:cond delay="600"/>
                                  </p:stCondLst>
                                  <p:childTnLst>
                                    <p:animScale>
                                      <p:cBhvr>
                                        <p:cTn id="28" dur="250" fill="hold"/>
                                        <p:tgtEl>
                                          <p:spTgt spid="75"/>
                                        </p:tgtEl>
                                      </p:cBhvr>
                                      <p:by x="120000" y="120000"/>
                                    </p:animScale>
                                  </p:childTnLst>
                                </p:cTn>
                              </p:par>
                              <p:par>
                                <p:cTn id="29" presetID="6" presetClass="emph" presetSubtype="0" decel="100000" fill="hold" grpId="2" nodeType="withEffect">
                                  <p:stCondLst>
                                    <p:cond delay="800"/>
                                  </p:stCondLst>
                                  <p:childTnLst>
                                    <p:animScale>
                                      <p:cBhvr>
                                        <p:cTn id="30" dur="250" fill="hold"/>
                                        <p:tgtEl>
                                          <p:spTgt spid="75"/>
                                        </p:tgtEl>
                                      </p:cBhvr>
                                      <p:by x="83000" y="83000"/>
                                    </p:animScale>
                                  </p:childTnLst>
                                </p:cTn>
                              </p:par>
                              <p:par>
                                <p:cTn id="31" presetID="53" presetClass="entr" presetSubtype="16" fill="hold" grpId="0" nodeType="withEffect">
                                  <p:stCondLst>
                                    <p:cond delay="400"/>
                                  </p:stCondLst>
                                  <p:childTnLst>
                                    <p:set>
                                      <p:cBhvr>
                                        <p:cTn id="32" dur="1" fill="hold">
                                          <p:stCondLst>
                                            <p:cond delay="0"/>
                                          </p:stCondLst>
                                        </p:cTn>
                                        <p:tgtEl>
                                          <p:spTgt spid="78"/>
                                        </p:tgtEl>
                                        <p:attrNameLst>
                                          <p:attrName>style.visibility</p:attrName>
                                        </p:attrNameLst>
                                      </p:cBhvr>
                                      <p:to>
                                        <p:strVal val="visible"/>
                                      </p:to>
                                    </p:set>
                                    <p:anim calcmode="lin" valueType="num">
                                      <p:cBhvr>
                                        <p:cTn id="33" dur="250" fill="hold"/>
                                        <p:tgtEl>
                                          <p:spTgt spid="78"/>
                                        </p:tgtEl>
                                        <p:attrNameLst>
                                          <p:attrName>ppt_w</p:attrName>
                                        </p:attrNameLst>
                                      </p:cBhvr>
                                      <p:tavLst>
                                        <p:tav tm="0">
                                          <p:val>
                                            <p:fltVal val="0"/>
                                          </p:val>
                                        </p:tav>
                                        <p:tav tm="100000">
                                          <p:val>
                                            <p:strVal val="#ppt_w"/>
                                          </p:val>
                                        </p:tav>
                                      </p:tavLst>
                                    </p:anim>
                                    <p:anim calcmode="lin" valueType="num">
                                      <p:cBhvr>
                                        <p:cTn id="34" dur="250" fill="hold"/>
                                        <p:tgtEl>
                                          <p:spTgt spid="78"/>
                                        </p:tgtEl>
                                        <p:attrNameLst>
                                          <p:attrName>ppt_h</p:attrName>
                                        </p:attrNameLst>
                                      </p:cBhvr>
                                      <p:tavLst>
                                        <p:tav tm="0">
                                          <p:val>
                                            <p:fltVal val="0"/>
                                          </p:val>
                                        </p:tav>
                                        <p:tav tm="100000">
                                          <p:val>
                                            <p:strVal val="#ppt_h"/>
                                          </p:val>
                                        </p:tav>
                                      </p:tavLst>
                                    </p:anim>
                                    <p:animEffect transition="in" filter="fade">
                                      <p:cBhvr>
                                        <p:cTn id="35" dur="250"/>
                                        <p:tgtEl>
                                          <p:spTgt spid="78"/>
                                        </p:tgtEl>
                                      </p:cBhvr>
                                    </p:animEffect>
                                  </p:childTnLst>
                                </p:cTn>
                              </p:par>
                              <p:par>
                                <p:cTn id="36" presetID="6" presetClass="emph" presetSubtype="0" decel="100000" fill="hold" grpId="1" nodeType="withEffect">
                                  <p:stCondLst>
                                    <p:cond delay="600"/>
                                  </p:stCondLst>
                                  <p:childTnLst>
                                    <p:animScale>
                                      <p:cBhvr>
                                        <p:cTn id="37" dur="250" fill="hold"/>
                                        <p:tgtEl>
                                          <p:spTgt spid="78"/>
                                        </p:tgtEl>
                                      </p:cBhvr>
                                      <p:by x="120000" y="120000"/>
                                    </p:animScale>
                                  </p:childTnLst>
                                </p:cTn>
                              </p:par>
                              <p:par>
                                <p:cTn id="38" presetID="6" presetClass="emph" presetSubtype="0" decel="100000" fill="hold" grpId="2" nodeType="withEffect">
                                  <p:stCondLst>
                                    <p:cond delay="800"/>
                                  </p:stCondLst>
                                  <p:childTnLst>
                                    <p:animScale>
                                      <p:cBhvr>
                                        <p:cTn id="39" dur="250" fill="hold"/>
                                        <p:tgtEl>
                                          <p:spTgt spid="78"/>
                                        </p:tgtEl>
                                      </p:cBhvr>
                                      <p:by x="83000" y="83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 grpId="0"/>
      <p:bldP spid="75" grpId="1"/>
      <p:bldP spid="75" grpId="2"/>
      <p:bldP spid="78" grpId="0"/>
      <p:bldP spid="78" grpId="1"/>
      <p:bldP spid="78" grpId="2"/>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图片 24"/>
          <p:cNvPicPr>
            <a:picLocks noChangeAspect="1"/>
          </p:cNvPicPr>
          <p:nvPr/>
        </p:nvPicPr>
        <p:blipFill>
          <a:blip r:embed="rId3" cstate="screen"/>
          <a:stretch>
            <a:fillRect/>
          </a:stretch>
        </p:blipFill>
        <p:spPr>
          <a:xfrm>
            <a:off x="8088923" y="246423"/>
            <a:ext cx="4103077" cy="675011"/>
          </a:xfrm>
          <a:prstGeom prst="rect">
            <a:avLst/>
          </a:prstGeom>
        </p:spPr>
      </p:pic>
      <p:cxnSp>
        <p:nvCxnSpPr>
          <p:cNvPr id="26" name="直接连接符 25"/>
          <p:cNvCxnSpPr/>
          <p:nvPr/>
        </p:nvCxnSpPr>
        <p:spPr>
          <a:xfrm>
            <a:off x="0" y="921434"/>
            <a:ext cx="121920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7" name="矩形 26"/>
          <p:cNvSpPr/>
          <p:nvPr/>
        </p:nvSpPr>
        <p:spPr>
          <a:xfrm>
            <a:off x="1060287" y="353095"/>
            <a:ext cx="5262188" cy="460375"/>
          </a:xfrm>
          <a:prstGeom prst="rect">
            <a:avLst/>
          </a:prstGeom>
        </p:spPr>
        <p:txBody>
          <a:bodyPr wrap="square">
            <a:spAutoFit/>
          </a:bodyPr>
          <a:lstStyle/>
          <a:p>
            <a:r>
              <a:rPr lang="zh-CN" altLang="en-US" sz="2400" b="1" dirty="0">
                <a:solidFill>
                  <a:schemeClr val="accent1"/>
                </a:solidFill>
                <a:latin typeface="字体视界-NEW魏碑体" panose="02010601030101010101" pitchFamily="2" charset="-122"/>
                <a:ea typeface="字体视界-NEW魏碑体" panose="02010601030101010101" pitchFamily="2" charset="-122"/>
                <a:cs typeface="+mn-ea"/>
                <a:sym typeface="+mn-lt"/>
              </a:rPr>
              <a:t>第三部分：</a:t>
            </a:r>
            <a:r>
              <a:rPr lang="zh-CN" altLang="en-US" sz="2400" b="1" dirty="0">
                <a:solidFill>
                  <a:srgbClr val="C00000"/>
                </a:solidFill>
                <a:latin typeface="字体视界-NEW魏碑体" panose="02010601030101010101" pitchFamily="2" charset="-122"/>
                <a:ea typeface="字体视界-NEW魏碑体" panose="02010601030101010101" pitchFamily="2" charset="-122"/>
                <a:sym typeface="+mn-ea"/>
              </a:rPr>
              <a:t>周恩来总理与中国社会</a:t>
            </a:r>
            <a:endParaRPr lang="zh-CN" altLang="en-US" sz="2400" b="1" dirty="0">
              <a:solidFill>
                <a:srgbClr val="C00000"/>
              </a:solidFill>
              <a:latin typeface="字体视界-NEW魏碑体" panose="02010601030101010101" pitchFamily="2" charset="-122"/>
              <a:ea typeface="字体视界-NEW魏碑体" panose="02010601030101010101" pitchFamily="2" charset="-122"/>
            </a:endParaRPr>
          </a:p>
        </p:txBody>
      </p:sp>
      <p:sp>
        <p:nvSpPr>
          <p:cNvPr id="19" name="文本框 18"/>
          <p:cNvSpPr txBox="1"/>
          <p:nvPr/>
        </p:nvSpPr>
        <p:spPr>
          <a:xfrm>
            <a:off x="-262255" y="1652905"/>
            <a:ext cx="5303520" cy="4410075"/>
          </a:xfrm>
          <a:prstGeom prst="rect">
            <a:avLst/>
          </a:prstGeom>
          <a:noFill/>
        </p:spPr>
        <p:txBody>
          <a:bodyPr wrap="square" rtlCol="0">
            <a:noAutofit/>
          </a:bodyPr>
          <a:lstStyle/>
          <a:p>
            <a:pPr algn="ctr"/>
            <a:r>
              <a:rPr lang="zh-CN" altLang="en-US" sz="4800" b="1" dirty="0">
                <a:ln w="15875">
                  <a:solidFill>
                    <a:schemeClr val="accent1"/>
                  </a:solidFill>
                </a:ln>
                <a:noFill/>
                <a:sym typeface="+mn-ea"/>
              </a:rPr>
              <a:t>革命期间</a:t>
            </a:r>
          </a:p>
          <a:p>
            <a:pPr algn="ctr"/>
            <a:endParaRPr lang="zh-CN" altLang="en-US" sz="4800" b="1" dirty="0">
              <a:ln w="15875">
                <a:solidFill>
                  <a:schemeClr val="accent1"/>
                </a:solidFill>
              </a:ln>
              <a:noFill/>
              <a:sym typeface="+mn-ea"/>
            </a:endParaRPr>
          </a:p>
          <a:p>
            <a:pPr algn="ctr"/>
            <a:r>
              <a:rPr lang="zh-CN" altLang="en-US" sz="4800" b="1" dirty="0">
                <a:ln w="15875">
                  <a:solidFill>
                    <a:schemeClr val="accent1"/>
                  </a:solidFill>
                </a:ln>
                <a:noFill/>
              </a:rPr>
              <a:t>建国时期</a:t>
            </a:r>
          </a:p>
          <a:p>
            <a:pPr algn="ctr"/>
            <a:endParaRPr lang="zh-CN" altLang="en-US" sz="4800" b="1" dirty="0">
              <a:ln w="15875">
                <a:solidFill>
                  <a:schemeClr val="accent1"/>
                </a:solidFill>
              </a:ln>
              <a:noFill/>
            </a:endParaRPr>
          </a:p>
          <a:p>
            <a:pPr algn="ctr"/>
            <a:r>
              <a:rPr lang="zh-CN" altLang="en-US" sz="4800" b="1" dirty="0">
                <a:ln w="15875">
                  <a:solidFill>
                    <a:schemeClr val="accent1"/>
                  </a:solidFill>
                </a:ln>
                <a:noFill/>
              </a:rPr>
              <a:t>当今影响</a:t>
            </a:r>
          </a:p>
        </p:txBody>
      </p:sp>
      <p:pic>
        <p:nvPicPr>
          <p:cNvPr id="100" name="图片 99"/>
          <p:cNvPicPr/>
          <p:nvPr/>
        </p:nvPicPr>
        <p:blipFill>
          <a:blip r:embed="rId4"/>
          <a:stretch>
            <a:fillRect/>
          </a:stretch>
        </p:blipFill>
        <p:spPr>
          <a:xfrm>
            <a:off x="4707890" y="1343025"/>
            <a:ext cx="6758305" cy="4404995"/>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p:cTn id="7" dur="500" fill="hold"/>
                                        <p:tgtEl>
                                          <p:spTgt spid="25"/>
                                        </p:tgtEl>
                                        <p:attrNameLst>
                                          <p:attrName>ppt_w</p:attrName>
                                        </p:attrNameLst>
                                      </p:cBhvr>
                                      <p:tavLst>
                                        <p:tav tm="0">
                                          <p:val>
                                            <p:fltVal val="0"/>
                                          </p:val>
                                        </p:tav>
                                        <p:tav tm="100000">
                                          <p:val>
                                            <p:strVal val="#ppt_w"/>
                                          </p:val>
                                        </p:tav>
                                      </p:tavLst>
                                    </p:anim>
                                    <p:anim calcmode="lin" valueType="num">
                                      <p:cBhvr>
                                        <p:cTn id="8" dur="500" fill="hold"/>
                                        <p:tgtEl>
                                          <p:spTgt spid="25"/>
                                        </p:tgtEl>
                                        <p:attrNameLst>
                                          <p:attrName>ppt_h</p:attrName>
                                        </p:attrNameLst>
                                      </p:cBhvr>
                                      <p:tavLst>
                                        <p:tav tm="0">
                                          <p:val>
                                            <p:fltVal val="0"/>
                                          </p:val>
                                        </p:tav>
                                        <p:tav tm="100000">
                                          <p:val>
                                            <p:strVal val="#ppt_h"/>
                                          </p:val>
                                        </p:tav>
                                      </p:tavLst>
                                    </p:anim>
                                    <p:animEffect transition="in" filter="fade">
                                      <p:cBhvr>
                                        <p:cTn id="9" dur="500"/>
                                        <p:tgtEl>
                                          <p:spTgt spid="25"/>
                                        </p:tgtEl>
                                      </p:cBhvr>
                                    </p:animEffect>
                                  </p:childTnLst>
                                </p:cTn>
                              </p:par>
                              <p:par>
                                <p:cTn id="10" presetID="35" presetClass="path" presetSubtype="0" accel="50000" decel="50000" fill="hold" nodeType="withEffect">
                                  <p:stCondLst>
                                    <p:cond delay="0"/>
                                  </p:stCondLst>
                                  <p:childTnLst>
                                    <p:animMotion origin="layout" path="M -6.25E-7 -3.7037E-6 L 0.18997 -3.7037E-6 " pathEditMode="relative" rAng="0" ptsTypes="AA">
                                      <p:cBhvr>
                                        <p:cTn id="11" dur="1000" spd="-100000" fill="hold"/>
                                        <p:tgtEl>
                                          <p:spTgt spid="25"/>
                                        </p:tgtEl>
                                        <p:attrNameLst>
                                          <p:attrName>ppt_x</p:attrName>
                                          <p:attrName>ppt_y</p:attrName>
                                        </p:attrNameLst>
                                      </p:cBhvr>
                                      <p:rCtr x="9492" y="0"/>
                                    </p:animMotion>
                                  </p:childTnLst>
                                </p:cTn>
                              </p:par>
                              <p:par>
                                <p:cTn id="12" presetID="53" presetClass="entr" presetSubtype="16" fill="hold" nodeType="withEffect">
                                  <p:stCondLst>
                                    <p:cond delay="0"/>
                                  </p:stCondLst>
                                  <p:childTnLst>
                                    <p:set>
                                      <p:cBhvr>
                                        <p:cTn id="13" dur="1" fill="hold">
                                          <p:stCondLst>
                                            <p:cond delay="0"/>
                                          </p:stCondLst>
                                        </p:cTn>
                                        <p:tgtEl>
                                          <p:spTgt spid="26"/>
                                        </p:tgtEl>
                                        <p:attrNameLst>
                                          <p:attrName>style.visibility</p:attrName>
                                        </p:attrNameLst>
                                      </p:cBhvr>
                                      <p:to>
                                        <p:strVal val="visible"/>
                                      </p:to>
                                    </p:set>
                                    <p:anim calcmode="lin" valueType="num">
                                      <p:cBhvr>
                                        <p:cTn id="14" dur="500" fill="hold"/>
                                        <p:tgtEl>
                                          <p:spTgt spid="26"/>
                                        </p:tgtEl>
                                        <p:attrNameLst>
                                          <p:attrName>ppt_w</p:attrName>
                                        </p:attrNameLst>
                                      </p:cBhvr>
                                      <p:tavLst>
                                        <p:tav tm="0">
                                          <p:val>
                                            <p:fltVal val="0"/>
                                          </p:val>
                                        </p:tav>
                                        <p:tav tm="100000">
                                          <p:val>
                                            <p:strVal val="#ppt_w"/>
                                          </p:val>
                                        </p:tav>
                                      </p:tavLst>
                                    </p:anim>
                                    <p:anim calcmode="lin" valueType="num">
                                      <p:cBhvr>
                                        <p:cTn id="15" dur="500" fill="hold"/>
                                        <p:tgtEl>
                                          <p:spTgt spid="26"/>
                                        </p:tgtEl>
                                        <p:attrNameLst>
                                          <p:attrName>ppt_h</p:attrName>
                                        </p:attrNameLst>
                                      </p:cBhvr>
                                      <p:tavLst>
                                        <p:tav tm="0">
                                          <p:val>
                                            <p:fltVal val="0"/>
                                          </p:val>
                                        </p:tav>
                                        <p:tav tm="100000">
                                          <p:val>
                                            <p:strVal val="#ppt_h"/>
                                          </p:val>
                                        </p:tav>
                                      </p:tavLst>
                                    </p:anim>
                                    <p:animEffect transition="in" filter="fade">
                                      <p:cBhvr>
                                        <p:cTn id="16" dur="500"/>
                                        <p:tgtEl>
                                          <p:spTgt spid="26"/>
                                        </p:tgtEl>
                                      </p:cBhvr>
                                    </p:animEffect>
                                  </p:childTnLst>
                                </p:cTn>
                              </p:par>
                              <p:par>
                                <p:cTn id="17" presetID="35" presetClass="path" presetSubtype="0" accel="50000" decel="50000" fill="hold" nodeType="withEffect">
                                  <p:stCondLst>
                                    <p:cond delay="0"/>
                                  </p:stCondLst>
                                  <p:childTnLst>
                                    <p:animMotion origin="layout" path="M 0 -3.7037E-6 L -0.41185 -3.7037E-6 " pathEditMode="relative" rAng="0" ptsTypes="AA">
                                      <p:cBhvr>
                                        <p:cTn id="18" dur="1000" spd="-100000" fill="hold"/>
                                        <p:tgtEl>
                                          <p:spTgt spid="26"/>
                                        </p:tgtEl>
                                        <p:attrNameLst>
                                          <p:attrName>ppt_x</p:attrName>
                                          <p:attrName>ppt_y</p:attrName>
                                        </p:attrNameLst>
                                      </p:cBhvr>
                                      <p:rCtr x="-20599" y="0"/>
                                    </p:animMotion>
                                  </p:childTnLst>
                                </p:cTn>
                              </p:par>
                            </p:childTnLst>
                          </p:cTn>
                        </p:par>
                        <p:par>
                          <p:cTn id="19" fill="hold">
                            <p:stCondLst>
                              <p:cond delay="500"/>
                            </p:stCondLst>
                            <p:childTnLst>
                              <p:par>
                                <p:cTn id="20" presetID="53" presetClass="entr" presetSubtype="16" fill="hold" grpId="0" nodeType="afterEffect">
                                  <p:stCondLst>
                                    <p:cond delay="0"/>
                                  </p:stCondLst>
                                  <p:childTnLst>
                                    <p:set>
                                      <p:cBhvr>
                                        <p:cTn id="21" dur="1" fill="hold">
                                          <p:stCondLst>
                                            <p:cond delay="0"/>
                                          </p:stCondLst>
                                        </p:cTn>
                                        <p:tgtEl>
                                          <p:spTgt spid="27"/>
                                        </p:tgtEl>
                                        <p:attrNameLst>
                                          <p:attrName>style.visibility</p:attrName>
                                        </p:attrNameLst>
                                      </p:cBhvr>
                                      <p:to>
                                        <p:strVal val="visible"/>
                                      </p:to>
                                    </p:set>
                                    <p:anim calcmode="lin" valueType="num">
                                      <p:cBhvr>
                                        <p:cTn id="22" dur="500" fill="hold"/>
                                        <p:tgtEl>
                                          <p:spTgt spid="27"/>
                                        </p:tgtEl>
                                        <p:attrNameLst>
                                          <p:attrName>ppt_w</p:attrName>
                                        </p:attrNameLst>
                                      </p:cBhvr>
                                      <p:tavLst>
                                        <p:tav tm="0">
                                          <p:val>
                                            <p:fltVal val="0"/>
                                          </p:val>
                                        </p:tav>
                                        <p:tav tm="100000">
                                          <p:val>
                                            <p:strVal val="#ppt_w"/>
                                          </p:val>
                                        </p:tav>
                                      </p:tavLst>
                                    </p:anim>
                                    <p:anim calcmode="lin" valueType="num">
                                      <p:cBhvr>
                                        <p:cTn id="23" dur="500" fill="hold"/>
                                        <p:tgtEl>
                                          <p:spTgt spid="27"/>
                                        </p:tgtEl>
                                        <p:attrNameLst>
                                          <p:attrName>ppt_h</p:attrName>
                                        </p:attrNameLst>
                                      </p:cBhvr>
                                      <p:tavLst>
                                        <p:tav tm="0">
                                          <p:val>
                                            <p:fltVal val="0"/>
                                          </p:val>
                                        </p:tav>
                                        <p:tav tm="100000">
                                          <p:val>
                                            <p:strVal val="#ppt_h"/>
                                          </p:val>
                                        </p:tav>
                                      </p:tavLst>
                                    </p:anim>
                                    <p:animEffect transition="in" filter="fade">
                                      <p:cBhvr>
                                        <p:cTn id="24" dur="500"/>
                                        <p:tgtEl>
                                          <p:spTgt spid="27"/>
                                        </p:tgtEl>
                                      </p:cBhvr>
                                    </p:animEffect>
                                  </p:childTnLst>
                                </p:cTn>
                              </p:par>
                              <p:par>
                                <p:cTn id="25" presetID="35" presetClass="path" presetSubtype="0" accel="50000" decel="50000" fill="hold" grpId="1" nodeType="withEffect">
                                  <p:stCondLst>
                                    <p:cond delay="0"/>
                                  </p:stCondLst>
                                  <p:childTnLst>
                                    <p:animMotion origin="layout" path="M -4.375E-6 -3.7037E-6 L -0.30273 -3.7037E-6 " pathEditMode="relative" rAng="0" ptsTypes="AA">
                                      <p:cBhvr>
                                        <p:cTn id="26" dur="1000" spd="-100000" fill="hold"/>
                                        <p:tgtEl>
                                          <p:spTgt spid="27"/>
                                        </p:tgtEl>
                                        <p:attrNameLst>
                                          <p:attrName>ppt_x</p:attrName>
                                          <p:attrName>ppt_y</p:attrName>
                                        </p:attrNameLst>
                                      </p:cBhvr>
                                      <p:rCtr x="-1514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7" grpId="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图片 24"/>
          <p:cNvPicPr>
            <a:picLocks noChangeAspect="1"/>
          </p:cNvPicPr>
          <p:nvPr/>
        </p:nvPicPr>
        <p:blipFill>
          <a:blip r:embed="rId3" cstate="screen"/>
          <a:stretch>
            <a:fillRect/>
          </a:stretch>
        </p:blipFill>
        <p:spPr>
          <a:xfrm>
            <a:off x="8088923" y="246423"/>
            <a:ext cx="4103077" cy="675011"/>
          </a:xfrm>
          <a:prstGeom prst="rect">
            <a:avLst/>
          </a:prstGeom>
        </p:spPr>
      </p:pic>
      <p:cxnSp>
        <p:nvCxnSpPr>
          <p:cNvPr id="26" name="直接连接符 25"/>
          <p:cNvCxnSpPr/>
          <p:nvPr/>
        </p:nvCxnSpPr>
        <p:spPr>
          <a:xfrm>
            <a:off x="0" y="921434"/>
            <a:ext cx="121920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7" name="矩形 26"/>
          <p:cNvSpPr/>
          <p:nvPr/>
        </p:nvSpPr>
        <p:spPr>
          <a:xfrm>
            <a:off x="1060287" y="353095"/>
            <a:ext cx="5262188" cy="461665"/>
          </a:xfrm>
          <a:prstGeom prst="rect">
            <a:avLst/>
          </a:prstGeom>
        </p:spPr>
        <p:txBody>
          <a:bodyPr wrap="square">
            <a:spAutoFit/>
          </a:bodyPr>
          <a:lstStyle/>
          <a:p>
            <a:r>
              <a:rPr lang="zh-CN" altLang="en-US" sz="2400" b="1" dirty="0">
                <a:solidFill>
                  <a:schemeClr val="accent1"/>
                </a:solidFill>
                <a:latin typeface="字体视界-NEW魏碑体" panose="02010601030101010101" pitchFamily="2" charset="-122"/>
                <a:ea typeface="字体视界-NEW魏碑体" panose="02010601030101010101" pitchFamily="2" charset="-122"/>
                <a:cs typeface="+mn-ea"/>
                <a:sym typeface="+mn-lt"/>
              </a:rPr>
              <a:t>第三部分：</a:t>
            </a:r>
            <a:r>
              <a:rPr lang="zh-CN" altLang="en-US" sz="2400" b="1" dirty="0">
                <a:solidFill>
                  <a:srgbClr val="C00000"/>
                </a:solidFill>
                <a:latin typeface="字体视界-NEW魏碑体" panose="02010601030101010101" pitchFamily="2" charset="-122"/>
                <a:ea typeface="字体视界-NEW魏碑体" panose="02010601030101010101" pitchFamily="2" charset="-122"/>
              </a:rPr>
              <a:t>周恩来总理与中国社会</a:t>
            </a:r>
          </a:p>
        </p:txBody>
      </p:sp>
      <p:sp>
        <p:nvSpPr>
          <p:cNvPr id="2" name="文本框 1"/>
          <p:cNvSpPr txBox="1"/>
          <p:nvPr/>
        </p:nvSpPr>
        <p:spPr>
          <a:xfrm>
            <a:off x="81280" y="1146175"/>
            <a:ext cx="2740660" cy="680720"/>
          </a:xfrm>
          <a:prstGeom prst="rect">
            <a:avLst/>
          </a:prstGeom>
          <a:noFill/>
        </p:spPr>
        <p:txBody>
          <a:bodyPr wrap="square" rtlCol="0">
            <a:noAutofit/>
          </a:bodyPr>
          <a:lstStyle/>
          <a:p>
            <a:pPr algn="ctr"/>
            <a:r>
              <a:rPr lang="zh-CN" altLang="en-US" sz="3200" b="1">
                <a:ln w="15875">
                  <a:solidFill>
                    <a:schemeClr val="accent1"/>
                  </a:solidFill>
                </a:ln>
                <a:noFill/>
                <a:sym typeface="+mn-ea"/>
              </a:rPr>
              <a:t>革命期间</a:t>
            </a:r>
          </a:p>
        </p:txBody>
      </p:sp>
      <p:sp>
        <p:nvSpPr>
          <p:cNvPr id="3" name="文本框 2"/>
          <p:cNvSpPr txBox="1"/>
          <p:nvPr/>
        </p:nvSpPr>
        <p:spPr>
          <a:xfrm>
            <a:off x="436880" y="1826895"/>
            <a:ext cx="10118090" cy="922020"/>
          </a:xfrm>
          <a:prstGeom prst="rect">
            <a:avLst/>
          </a:prstGeom>
          <a:noFill/>
        </p:spPr>
        <p:txBody>
          <a:bodyPr wrap="square" rtlCol="0">
            <a:spAutoFit/>
          </a:bodyPr>
          <a:lstStyle/>
          <a:p>
            <a:r>
              <a:rPr lang="zh-CN" altLang="en-US" dirty="0"/>
              <a:t>       </a:t>
            </a:r>
            <a:r>
              <a:rPr lang="zh-CN" altLang="en-US" b="1" dirty="0"/>
              <a:t>在新民主主义革命时期，周恩来同志为党探索中国革命正确道路、创建人民军队、创建革命统一战线、创建人民当家作主的新中国建立了不朽功勋。1924年，他回国后即投身大革命洪流，担任黄埔军校政治部主任，是党最早认识武装斗争重要性和最早从事军事工作的领导人之一。</a:t>
            </a:r>
          </a:p>
        </p:txBody>
      </p:sp>
      <p:sp>
        <p:nvSpPr>
          <p:cNvPr id="4" name="文本框 3"/>
          <p:cNvSpPr txBox="1"/>
          <p:nvPr/>
        </p:nvSpPr>
        <p:spPr>
          <a:xfrm>
            <a:off x="666115" y="2802255"/>
            <a:ext cx="5791200" cy="3868420"/>
          </a:xfrm>
          <a:prstGeom prst="rect">
            <a:avLst/>
          </a:prstGeom>
          <a:noFill/>
        </p:spPr>
        <p:txBody>
          <a:bodyPr wrap="square" rtlCol="0">
            <a:noAutofit/>
          </a:bodyPr>
          <a:lstStyle/>
          <a:p>
            <a:r>
              <a:rPr lang="en-US" altLang="zh-CN" b="1" dirty="0">
                <a:solidFill>
                  <a:schemeClr val="bg2">
                    <a:lumMod val="50000"/>
                  </a:schemeClr>
                </a:solidFill>
              </a:rPr>
              <a:t>1.大革命失败后，周恩来同志作为党中央主要领导人之一，领导发动南昌起义，打响了武装反抗国民党反动派的第一枪，党领导的人民军队从此诞生。</a:t>
            </a:r>
          </a:p>
          <a:p>
            <a:r>
              <a:rPr lang="en-US" altLang="zh-CN" b="1" dirty="0">
                <a:solidFill>
                  <a:schemeClr val="bg2">
                    <a:lumMod val="50000"/>
                  </a:schemeClr>
                </a:solidFill>
              </a:rPr>
              <a:t>2.周恩来同志到江西中央革命根据地后，同朱德同志等一起指挥了第四次反“围剿”斗争并取得胜利。</a:t>
            </a:r>
          </a:p>
          <a:p>
            <a:r>
              <a:rPr lang="en-US" altLang="zh-CN" b="1" dirty="0">
                <a:solidFill>
                  <a:schemeClr val="bg2">
                    <a:lumMod val="50000"/>
                  </a:schemeClr>
                </a:solidFill>
              </a:rPr>
              <a:t>3.在遵义会议上，他坚定支持毛泽东同志的正确主张，为确立毛泽东同志在红军和党中央的领导地位，为在危难中挽救红军、挽救党，为中国革命实现历史性转折，发挥了十分重要的作用。</a:t>
            </a:r>
          </a:p>
          <a:p>
            <a:r>
              <a:rPr lang="en-US" altLang="zh-CN" b="1" dirty="0">
                <a:solidFill>
                  <a:schemeClr val="bg2">
                    <a:lumMod val="50000"/>
                  </a:schemeClr>
                </a:solidFill>
                <a:sym typeface="+mn-ea"/>
              </a:rPr>
              <a:t>4.西安事变发生后，周恩来同志根据党中央的方针，亲赴西安，多方斡旋，推动了西安事变和平解决，促成第二次国共合作、团结御侮的新局面。</a:t>
            </a:r>
            <a:endParaRPr lang="en-US" altLang="zh-CN" b="1" dirty="0">
              <a:solidFill>
                <a:schemeClr val="bg2">
                  <a:lumMod val="50000"/>
                </a:schemeClr>
              </a:solidFill>
            </a:endParaRPr>
          </a:p>
          <a:p>
            <a:endParaRPr lang="en-US" altLang="zh-CN" b="1" dirty="0">
              <a:solidFill>
                <a:schemeClr val="bg2">
                  <a:lumMod val="50000"/>
                </a:schemeClr>
              </a:solidFill>
            </a:endParaRPr>
          </a:p>
          <a:p>
            <a:endParaRPr lang="en-US" altLang="zh-CN" b="1" dirty="0">
              <a:solidFill>
                <a:schemeClr val="bg2">
                  <a:lumMod val="50000"/>
                </a:schemeClr>
              </a:solidFill>
            </a:endParaRPr>
          </a:p>
        </p:txBody>
      </p:sp>
      <p:pic>
        <p:nvPicPr>
          <p:cNvPr id="101" name="图片 100"/>
          <p:cNvPicPr/>
          <p:nvPr/>
        </p:nvPicPr>
        <p:blipFill>
          <a:blip r:embed="rId4"/>
          <a:stretch>
            <a:fillRect/>
          </a:stretch>
        </p:blipFill>
        <p:spPr>
          <a:xfrm>
            <a:off x="6938010" y="2748915"/>
            <a:ext cx="3394075" cy="3608070"/>
          </a:xfrm>
          <a:prstGeom prst="rect">
            <a:avLst/>
          </a:prstGeom>
          <a:noFill/>
          <a:ln w="9525">
            <a:noFill/>
          </a:ln>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p:cTn id="7" dur="500" fill="hold"/>
                                        <p:tgtEl>
                                          <p:spTgt spid="25"/>
                                        </p:tgtEl>
                                        <p:attrNameLst>
                                          <p:attrName>ppt_w</p:attrName>
                                        </p:attrNameLst>
                                      </p:cBhvr>
                                      <p:tavLst>
                                        <p:tav tm="0">
                                          <p:val>
                                            <p:fltVal val="0"/>
                                          </p:val>
                                        </p:tav>
                                        <p:tav tm="100000">
                                          <p:val>
                                            <p:strVal val="#ppt_w"/>
                                          </p:val>
                                        </p:tav>
                                      </p:tavLst>
                                    </p:anim>
                                    <p:anim calcmode="lin" valueType="num">
                                      <p:cBhvr>
                                        <p:cTn id="8" dur="500" fill="hold"/>
                                        <p:tgtEl>
                                          <p:spTgt spid="25"/>
                                        </p:tgtEl>
                                        <p:attrNameLst>
                                          <p:attrName>ppt_h</p:attrName>
                                        </p:attrNameLst>
                                      </p:cBhvr>
                                      <p:tavLst>
                                        <p:tav tm="0">
                                          <p:val>
                                            <p:fltVal val="0"/>
                                          </p:val>
                                        </p:tav>
                                        <p:tav tm="100000">
                                          <p:val>
                                            <p:strVal val="#ppt_h"/>
                                          </p:val>
                                        </p:tav>
                                      </p:tavLst>
                                    </p:anim>
                                    <p:animEffect transition="in" filter="fade">
                                      <p:cBhvr>
                                        <p:cTn id="9" dur="500"/>
                                        <p:tgtEl>
                                          <p:spTgt spid="25"/>
                                        </p:tgtEl>
                                      </p:cBhvr>
                                    </p:animEffect>
                                  </p:childTnLst>
                                </p:cTn>
                              </p:par>
                              <p:par>
                                <p:cTn id="10" presetID="35" presetClass="path" presetSubtype="0" accel="50000" decel="50000" fill="hold" nodeType="withEffect">
                                  <p:stCondLst>
                                    <p:cond delay="0"/>
                                  </p:stCondLst>
                                  <p:childTnLst>
                                    <p:animMotion origin="layout" path="M -6.25E-7 -3.7037E-6 L 0.18997 -3.7037E-6 " pathEditMode="relative" rAng="0" ptsTypes="AA">
                                      <p:cBhvr>
                                        <p:cTn id="11" dur="1000" spd="-100000" fill="hold"/>
                                        <p:tgtEl>
                                          <p:spTgt spid="25"/>
                                        </p:tgtEl>
                                        <p:attrNameLst>
                                          <p:attrName>ppt_x</p:attrName>
                                          <p:attrName>ppt_y</p:attrName>
                                        </p:attrNameLst>
                                      </p:cBhvr>
                                      <p:rCtr x="9492" y="0"/>
                                    </p:animMotion>
                                  </p:childTnLst>
                                </p:cTn>
                              </p:par>
                              <p:par>
                                <p:cTn id="12" presetID="53" presetClass="entr" presetSubtype="16" fill="hold" nodeType="withEffect">
                                  <p:stCondLst>
                                    <p:cond delay="0"/>
                                  </p:stCondLst>
                                  <p:childTnLst>
                                    <p:set>
                                      <p:cBhvr>
                                        <p:cTn id="13" dur="1" fill="hold">
                                          <p:stCondLst>
                                            <p:cond delay="0"/>
                                          </p:stCondLst>
                                        </p:cTn>
                                        <p:tgtEl>
                                          <p:spTgt spid="26"/>
                                        </p:tgtEl>
                                        <p:attrNameLst>
                                          <p:attrName>style.visibility</p:attrName>
                                        </p:attrNameLst>
                                      </p:cBhvr>
                                      <p:to>
                                        <p:strVal val="visible"/>
                                      </p:to>
                                    </p:set>
                                    <p:anim calcmode="lin" valueType="num">
                                      <p:cBhvr>
                                        <p:cTn id="14" dur="500" fill="hold"/>
                                        <p:tgtEl>
                                          <p:spTgt spid="26"/>
                                        </p:tgtEl>
                                        <p:attrNameLst>
                                          <p:attrName>ppt_w</p:attrName>
                                        </p:attrNameLst>
                                      </p:cBhvr>
                                      <p:tavLst>
                                        <p:tav tm="0">
                                          <p:val>
                                            <p:fltVal val="0"/>
                                          </p:val>
                                        </p:tav>
                                        <p:tav tm="100000">
                                          <p:val>
                                            <p:strVal val="#ppt_w"/>
                                          </p:val>
                                        </p:tav>
                                      </p:tavLst>
                                    </p:anim>
                                    <p:anim calcmode="lin" valueType="num">
                                      <p:cBhvr>
                                        <p:cTn id="15" dur="500" fill="hold"/>
                                        <p:tgtEl>
                                          <p:spTgt spid="26"/>
                                        </p:tgtEl>
                                        <p:attrNameLst>
                                          <p:attrName>ppt_h</p:attrName>
                                        </p:attrNameLst>
                                      </p:cBhvr>
                                      <p:tavLst>
                                        <p:tav tm="0">
                                          <p:val>
                                            <p:fltVal val="0"/>
                                          </p:val>
                                        </p:tav>
                                        <p:tav tm="100000">
                                          <p:val>
                                            <p:strVal val="#ppt_h"/>
                                          </p:val>
                                        </p:tav>
                                      </p:tavLst>
                                    </p:anim>
                                    <p:animEffect transition="in" filter="fade">
                                      <p:cBhvr>
                                        <p:cTn id="16" dur="500"/>
                                        <p:tgtEl>
                                          <p:spTgt spid="26"/>
                                        </p:tgtEl>
                                      </p:cBhvr>
                                    </p:animEffect>
                                  </p:childTnLst>
                                </p:cTn>
                              </p:par>
                              <p:par>
                                <p:cTn id="17" presetID="35" presetClass="path" presetSubtype="0" accel="50000" decel="50000" fill="hold" nodeType="withEffect">
                                  <p:stCondLst>
                                    <p:cond delay="0"/>
                                  </p:stCondLst>
                                  <p:childTnLst>
                                    <p:animMotion origin="layout" path="M 0 -3.7037E-6 L -0.41185 -3.7037E-6 " pathEditMode="relative" rAng="0" ptsTypes="AA">
                                      <p:cBhvr>
                                        <p:cTn id="18" dur="1000" spd="-100000" fill="hold"/>
                                        <p:tgtEl>
                                          <p:spTgt spid="26"/>
                                        </p:tgtEl>
                                        <p:attrNameLst>
                                          <p:attrName>ppt_x</p:attrName>
                                          <p:attrName>ppt_y</p:attrName>
                                        </p:attrNameLst>
                                      </p:cBhvr>
                                      <p:rCtr x="-20599" y="0"/>
                                    </p:animMotion>
                                  </p:childTnLst>
                                </p:cTn>
                              </p:par>
                            </p:childTnLst>
                          </p:cTn>
                        </p:par>
                        <p:par>
                          <p:cTn id="19" fill="hold">
                            <p:stCondLst>
                              <p:cond delay="500"/>
                            </p:stCondLst>
                            <p:childTnLst>
                              <p:par>
                                <p:cTn id="20" presetID="53" presetClass="entr" presetSubtype="16" fill="hold" grpId="0" nodeType="afterEffect">
                                  <p:stCondLst>
                                    <p:cond delay="0"/>
                                  </p:stCondLst>
                                  <p:childTnLst>
                                    <p:set>
                                      <p:cBhvr>
                                        <p:cTn id="21" dur="1" fill="hold">
                                          <p:stCondLst>
                                            <p:cond delay="0"/>
                                          </p:stCondLst>
                                        </p:cTn>
                                        <p:tgtEl>
                                          <p:spTgt spid="27"/>
                                        </p:tgtEl>
                                        <p:attrNameLst>
                                          <p:attrName>style.visibility</p:attrName>
                                        </p:attrNameLst>
                                      </p:cBhvr>
                                      <p:to>
                                        <p:strVal val="visible"/>
                                      </p:to>
                                    </p:set>
                                    <p:anim calcmode="lin" valueType="num">
                                      <p:cBhvr>
                                        <p:cTn id="22" dur="500" fill="hold"/>
                                        <p:tgtEl>
                                          <p:spTgt spid="27"/>
                                        </p:tgtEl>
                                        <p:attrNameLst>
                                          <p:attrName>ppt_w</p:attrName>
                                        </p:attrNameLst>
                                      </p:cBhvr>
                                      <p:tavLst>
                                        <p:tav tm="0">
                                          <p:val>
                                            <p:fltVal val="0"/>
                                          </p:val>
                                        </p:tav>
                                        <p:tav tm="100000">
                                          <p:val>
                                            <p:strVal val="#ppt_w"/>
                                          </p:val>
                                        </p:tav>
                                      </p:tavLst>
                                    </p:anim>
                                    <p:anim calcmode="lin" valueType="num">
                                      <p:cBhvr>
                                        <p:cTn id="23" dur="500" fill="hold"/>
                                        <p:tgtEl>
                                          <p:spTgt spid="27"/>
                                        </p:tgtEl>
                                        <p:attrNameLst>
                                          <p:attrName>ppt_h</p:attrName>
                                        </p:attrNameLst>
                                      </p:cBhvr>
                                      <p:tavLst>
                                        <p:tav tm="0">
                                          <p:val>
                                            <p:fltVal val="0"/>
                                          </p:val>
                                        </p:tav>
                                        <p:tav tm="100000">
                                          <p:val>
                                            <p:strVal val="#ppt_h"/>
                                          </p:val>
                                        </p:tav>
                                      </p:tavLst>
                                    </p:anim>
                                    <p:animEffect transition="in" filter="fade">
                                      <p:cBhvr>
                                        <p:cTn id="24" dur="500"/>
                                        <p:tgtEl>
                                          <p:spTgt spid="27"/>
                                        </p:tgtEl>
                                      </p:cBhvr>
                                    </p:animEffect>
                                  </p:childTnLst>
                                </p:cTn>
                              </p:par>
                              <p:par>
                                <p:cTn id="25" presetID="35" presetClass="path" presetSubtype="0" accel="50000" decel="50000" fill="hold" grpId="1" nodeType="withEffect">
                                  <p:stCondLst>
                                    <p:cond delay="0"/>
                                  </p:stCondLst>
                                  <p:childTnLst>
                                    <p:animMotion origin="layout" path="M -4.375E-6 -3.7037E-6 L -0.30273 -3.7037E-6 " pathEditMode="relative" rAng="0" ptsTypes="AA">
                                      <p:cBhvr>
                                        <p:cTn id="26" dur="1000" spd="-100000" fill="hold"/>
                                        <p:tgtEl>
                                          <p:spTgt spid="27"/>
                                        </p:tgtEl>
                                        <p:attrNameLst>
                                          <p:attrName>ppt_x</p:attrName>
                                          <p:attrName>ppt_y</p:attrName>
                                        </p:attrNameLst>
                                      </p:cBhvr>
                                      <p:rCtr x="-1514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7" grpId="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图片 24"/>
          <p:cNvPicPr>
            <a:picLocks noChangeAspect="1"/>
          </p:cNvPicPr>
          <p:nvPr/>
        </p:nvPicPr>
        <p:blipFill>
          <a:blip r:embed="rId3" cstate="screen"/>
          <a:stretch>
            <a:fillRect/>
          </a:stretch>
        </p:blipFill>
        <p:spPr>
          <a:xfrm>
            <a:off x="8088923" y="246423"/>
            <a:ext cx="4103077" cy="675011"/>
          </a:xfrm>
          <a:prstGeom prst="rect">
            <a:avLst/>
          </a:prstGeom>
        </p:spPr>
      </p:pic>
      <p:cxnSp>
        <p:nvCxnSpPr>
          <p:cNvPr id="26" name="直接连接符 25"/>
          <p:cNvCxnSpPr/>
          <p:nvPr/>
        </p:nvCxnSpPr>
        <p:spPr>
          <a:xfrm>
            <a:off x="0" y="921434"/>
            <a:ext cx="121920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7" name="矩形 26"/>
          <p:cNvSpPr/>
          <p:nvPr/>
        </p:nvSpPr>
        <p:spPr>
          <a:xfrm>
            <a:off x="1060287" y="353095"/>
            <a:ext cx="5262188" cy="461665"/>
          </a:xfrm>
          <a:prstGeom prst="rect">
            <a:avLst/>
          </a:prstGeom>
        </p:spPr>
        <p:txBody>
          <a:bodyPr wrap="square">
            <a:spAutoFit/>
          </a:bodyPr>
          <a:lstStyle/>
          <a:p>
            <a:r>
              <a:rPr lang="zh-CN" altLang="en-US" sz="2400" b="1" dirty="0">
                <a:solidFill>
                  <a:schemeClr val="accent1"/>
                </a:solidFill>
                <a:latin typeface="字体视界-NEW魏碑体" panose="02010601030101010101" pitchFamily="2" charset="-122"/>
                <a:ea typeface="字体视界-NEW魏碑体" panose="02010601030101010101" pitchFamily="2" charset="-122"/>
                <a:cs typeface="+mn-ea"/>
                <a:sym typeface="+mn-lt"/>
              </a:rPr>
              <a:t>第三部分：</a:t>
            </a:r>
            <a:r>
              <a:rPr lang="zh-CN" altLang="en-US" sz="2400" b="1" dirty="0">
                <a:solidFill>
                  <a:srgbClr val="C00000"/>
                </a:solidFill>
                <a:latin typeface="字体视界-NEW魏碑体" panose="02010601030101010101" pitchFamily="2" charset="-122"/>
                <a:ea typeface="字体视界-NEW魏碑体" panose="02010601030101010101" pitchFamily="2" charset="-122"/>
              </a:rPr>
              <a:t>周恩来总理与中国社会</a:t>
            </a:r>
          </a:p>
        </p:txBody>
      </p:sp>
      <p:sp>
        <p:nvSpPr>
          <p:cNvPr id="2" name="文本框 1"/>
          <p:cNvSpPr txBox="1"/>
          <p:nvPr/>
        </p:nvSpPr>
        <p:spPr>
          <a:xfrm>
            <a:off x="5004435" y="1058545"/>
            <a:ext cx="7023735" cy="2402205"/>
          </a:xfrm>
          <a:prstGeom prst="rect">
            <a:avLst/>
          </a:prstGeom>
          <a:noFill/>
        </p:spPr>
        <p:txBody>
          <a:bodyPr wrap="square" rtlCol="0">
            <a:noAutofit/>
          </a:bodyPr>
          <a:lstStyle/>
          <a:p>
            <a:r>
              <a:rPr lang="en-US" altLang="zh-CN" b="1">
                <a:solidFill>
                  <a:schemeClr val="bg2">
                    <a:lumMod val="50000"/>
                  </a:schemeClr>
                </a:solidFill>
                <a:sym typeface="+mn-ea"/>
              </a:rPr>
              <a:t>5.全民族抗日战争时期，周恩来同志代表党长期在国民党统治区坚持工作，广泛团结和争取各界爱国人士，同国民党顽固派进行有勇有谋的斗争。</a:t>
            </a:r>
            <a:endParaRPr lang="en-US" altLang="zh-CN" b="1">
              <a:solidFill>
                <a:schemeClr val="bg2">
                  <a:lumMod val="50000"/>
                </a:schemeClr>
              </a:solidFill>
            </a:endParaRPr>
          </a:p>
          <a:p>
            <a:r>
              <a:rPr lang="en-US" altLang="zh-CN" b="1">
                <a:solidFill>
                  <a:schemeClr val="bg2">
                    <a:lumMod val="50000"/>
                  </a:schemeClr>
                </a:solidFill>
                <a:sym typeface="+mn-ea"/>
              </a:rPr>
              <a:t>6.抗日战争胜利后，周恩来同志陪同毛泽东同志赴重庆同国民党进行谈判，随后率领我们党代表团同国民党当局进行了长达一年多的谈判斗争。</a:t>
            </a:r>
            <a:endParaRPr lang="en-US" altLang="zh-CN" b="1">
              <a:solidFill>
                <a:schemeClr val="bg2">
                  <a:lumMod val="50000"/>
                </a:schemeClr>
              </a:solidFill>
            </a:endParaRPr>
          </a:p>
          <a:p>
            <a:r>
              <a:rPr lang="en-US" altLang="zh-CN" b="1">
                <a:solidFill>
                  <a:schemeClr val="bg2">
                    <a:lumMod val="50000"/>
                  </a:schemeClr>
                </a:solidFill>
                <a:sym typeface="+mn-ea"/>
              </a:rPr>
              <a:t>7.解放战争时期，周恩来同志协助毛泽东同志部署指挥一系列改变中国命运的战略大决战，并推动国统区形成第二条战线。</a:t>
            </a:r>
            <a:endParaRPr lang="zh-CN" altLang="en-US"/>
          </a:p>
        </p:txBody>
      </p:sp>
      <p:pic>
        <p:nvPicPr>
          <p:cNvPr id="102" name="图片 101"/>
          <p:cNvPicPr/>
          <p:nvPr/>
        </p:nvPicPr>
        <p:blipFill>
          <a:blip r:embed="rId4"/>
          <a:stretch>
            <a:fillRect/>
          </a:stretch>
        </p:blipFill>
        <p:spPr>
          <a:xfrm>
            <a:off x="455295" y="1333500"/>
            <a:ext cx="4167505" cy="4910455"/>
          </a:xfrm>
          <a:prstGeom prst="rect">
            <a:avLst/>
          </a:prstGeom>
          <a:noFill/>
          <a:ln w="9525">
            <a:noFill/>
          </a:ln>
        </p:spPr>
      </p:pic>
      <p:pic>
        <p:nvPicPr>
          <p:cNvPr id="103" name="图片 102"/>
          <p:cNvPicPr/>
          <p:nvPr/>
        </p:nvPicPr>
        <p:blipFill>
          <a:blip r:embed="rId5"/>
          <a:stretch>
            <a:fillRect/>
          </a:stretch>
        </p:blipFill>
        <p:spPr>
          <a:xfrm>
            <a:off x="5518150" y="3429000"/>
            <a:ext cx="5181600" cy="3145155"/>
          </a:xfrm>
          <a:prstGeom prst="rect">
            <a:avLst/>
          </a:prstGeom>
          <a:noFill/>
          <a:ln w="9525">
            <a:noFill/>
          </a:ln>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p:cTn id="7" dur="500" fill="hold"/>
                                        <p:tgtEl>
                                          <p:spTgt spid="25"/>
                                        </p:tgtEl>
                                        <p:attrNameLst>
                                          <p:attrName>ppt_w</p:attrName>
                                        </p:attrNameLst>
                                      </p:cBhvr>
                                      <p:tavLst>
                                        <p:tav tm="0">
                                          <p:val>
                                            <p:fltVal val="0"/>
                                          </p:val>
                                        </p:tav>
                                        <p:tav tm="100000">
                                          <p:val>
                                            <p:strVal val="#ppt_w"/>
                                          </p:val>
                                        </p:tav>
                                      </p:tavLst>
                                    </p:anim>
                                    <p:anim calcmode="lin" valueType="num">
                                      <p:cBhvr>
                                        <p:cTn id="8" dur="500" fill="hold"/>
                                        <p:tgtEl>
                                          <p:spTgt spid="25"/>
                                        </p:tgtEl>
                                        <p:attrNameLst>
                                          <p:attrName>ppt_h</p:attrName>
                                        </p:attrNameLst>
                                      </p:cBhvr>
                                      <p:tavLst>
                                        <p:tav tm="0">
                                          <p:val>
                                            <p:fltVal val="0"/>
                                          </p:val>
                                        </p:tav>
                                        <p:tav tm="100000">
                                          <p:val>
                                            <p:strVal val="#ppt_h"/>
                                          </p:val>
                                        </p:tav>
                                      </p:tavLst>
                                    </p:anim>
                                    <p:animEffect transition="in" filter="fade">
                                      <p:cBhvr>
                                        <p:cTn id="9" dur="500"/>
                                        <p:tgtEl>
                                          <p:spTgt spid="25"/>
                                        </p:tgtEl>
                                      </p:cBhvr>
                                    </p:animEffect>
                                  </p:childTnLst>
                                </p:cTn>
                              </p:par>
                              <p:par>
                                <p:cTn id="10" presetID="35" presetClass="path" presetSubtype="0" accel="50000" decel="50000" fill="hold" nodeType="withEffect">
                                  <p:stCondLst>
                                    <p:cond delay="0"/>
                                  </p:stCondLst>
                                  <p:childTnLst>
                                    <p:animMotion origin="layout" path="M -6.25E-7 -3.7037E-6 L 0.18997 -3.7037E-6 " pathEditMode="relative" rAng="0" ptsTypes="AA">
                                      <p:cBhvr>
                                        <p:cTn id="11" dur="1000" spd="-100000" fill="hold"/>
                                        <p:tgtEl>
                                          <p:spTgt spid="25"/>
                                        </p:tgtEl>
                                        <p:attrNameLst>
                                          <p:attrName>ppt_x</p:attrName>
                                          <p:attrName>ppt_y</p:attrName>
                                        </p:attrNameLst>
                                      </p:cBhvr>
                                      <p:rCtr x="9492" y="0"/>
                                    </p:animMotion>
                                  </p:childTnLst>
                                </p:cTn>
                              </p:par>
                              <p:par>
                                <p:cTn id="12" presetID="53" presetClass="entr" presetSubtype="16" fill="hold" nodeType="withEffect">
                                  <p:stCondLst>
                                    <p:cond delay="0"/>
                                  </p:stCondLst>
                                  <p:childTnLst>
                                    <p:set>
                                      <p:cBhvr>
                                        <p:cTn id="13" dur="1" fill="hold">
                                          <p:stCondLst>
                                            <p:cond delay="0"/>
                                          </p:stCondLst>
                                        </p:cTn>
                                        <p:tgtEl>
                                          <p:spTgt spid="26"/>
                                        </p:tgtEl>
                                        <p:attrNameLst>
                                          <p:attrName>style.visibility</p:attrName>
                                        </p:attrNameLst>
                                      </p:cBhvr>
                                      <p:to>
                                        <p:strVal val="visible"/>
                                      </p:to>
                                    </p:set>
                                    <p:anim calcmode="lin" valueType="num">
                                      <p:cBhvr>
                                        <p:cTn id="14" dur="500" fill="hold"/>
                                        <p:tgtEl>
                                          <p:spTgt spid="26"/>
                                        </p:tgtEl>
                                        <p:attrNameLst>
                                          <p:attrName>ppt_w</p:attrName>
                                        </p:attrNameLst>
                                      </p:cBhvr>
                                      <p:tavLst>
                                        <p:tav tm="0">
                                          <p:val>
                                            <p:fltVal val="0"/>
                                          </p:val>
                                        </p:tav>
                                        <p:tav tm="100000">
                                          <p:val>
                                            <p:strVal val="#ppt_w"/>
                                          </p:val>
                                        </p:tav>
                                      </p:tavLst>
                                    </p:anim>
                                    <p:anim calcmode="lin" valueType="num">
                                      <p:cBhvr>
                                        <p:cTn id="15" dur="500" fill="hold"/>
                                        <p:tgtEl>
                                          <p:spTgt spid="26"/>
                                        </p:tgtEl>
                                        <p:attrNameLst>
                                          <p:attrName>ppt_h</p:attrName>
                                        </p:attrNameLst>
                                      </p:cBhvr>
                                      <p:tavLst>
                                        <p:tav tm="0">
                                          <p:val>
                                            <p:fltVal val="0"/>
                                          </p:val>
                                        </p:tav>
                                        <p:tav tm="100000">
                                          <p:val>
                                            <p:strVal val="#ppt_h"/>
                                          </p:val>
                                        </p:tav>
                                      </p:tavLst>
                                    </p:anim>
                                    <p:animEffect transition="in" filter="fade">
                                      <p:cBhvr>
                                        <p:cTn id="16" dur="500"/>
                                        <p:tgtEl>
                                          <p:spTgt spid="26"/>
                                        </p:tgtEl>
                                      </p:cBhvr>
                                    </p:animEffect>
                                  </p:childTnLst>
                                </p:cTn>
                              </p:par>
                              <p:par>
                                <p:cTn id="17" presetID="35" presetClass="path" presetSubtype="0" accel="50000" decel="50000" fill="hold" nodeType="withEffect">
                                  <p:stCondLst>
                                    <p:cond delay="0"/>
                                  </p:stCondLst>
                                  <p:childTnLst>
                                    <p:animMotion origin="layout" path="M 0 -3.7037E-6 L -0.41185 -3.7037E-6 " pathEditMode="relative" rAng="0" ptsTypes="AA">
                                      <p:cBhvr>
                                        <p:cTn id="18" dur="1000" spd="-100000" fill="hold"/>
                                        <p:tgtEl>
                                          <p:spTgt spid="26"/>
                                        </p:tgtEl>
                                        <p:attrNameLst>
                                          <p:attrName>ppt_x</p:attrName>
                                          <p:attrName>ppt_y</p:attrName>
                                        </p:attrNameLst>
                                      </p:cBhvr>
                                      <p:rCtr x="-20599" y="0"/>
                                    </p:animMotion>
                                  </p:childTnLst>
                                </p:cTn>
                              </p:par>
                            </p:childTnLst>
                          </p:cTn>
                        </p:par>
                        <p:par>
                          <p:cTn id="19" fill="hold">
                            <p:stCondLst>
                              <p:cond delay="500"/>
                            </p:stCondLst>
                            <p:childTnLst>
                              <p:par>
                                <p:cTn id="20" presetID="53" presetClass="entr" presetSubtype="16" fill="hold" grpId="0" nodeType="afterEffect">
                                  <p:stCondLst>
                                    <p:cond delay="0"/>
                                  </p:stCondLst>
                                  <p:childTnLst>
                                    <p:set>
                                      <p:cBhvr>
                                        <p:cTn id="21" dur="1" fill="hold">
                                          <p:stCondLst>
                                            <p:cond delay="0"/>
                                          </p:stCondLst>
                                        </p:cTn>
                                        <p:tgtEl>
                                          <p:spTgt spid="27"/>
                                        </p:tgtEl>
                                        <p:attrNameLst>
                                          <p:attrName>style.visibility</p:attrName>
                                        </p:attrNameLst>
                                      </p:cBhvr>
                                      <p:to>
                                        <p:strVal val="visible"/>
                                      </p:to>
                                    </p:set>
                                    <p:anim calcmode="lin" valueType="num">
                                      <p:cBhvr>
                                        <p:cTn id="22" dur="500" fill="hold"/>
                                        <p:tgtEl>
                                          <p:spTgt spid="27"/>
                                        </p:tgtEl>
                                        <p:attrNameLst>
                                          <p:attrName>ppt_w</p:attrName>
                                        </p:attrNameLst>
                                      </p:cBhvr>
                                      <p:tavLst>
                                        <p:tav tm="0">
                                          <p:val>
                                            <p:fltVal val="0"/>
                                          </p:val>
                                        </p:tav>
                                        <p:tav tm="100000">
                                          <p:val>
                                            <p:strVal val="#ppt_w"/>
                                          </p:val>
                                        </p:tav>
                                      </p:tavLst>
                                    </p:anim>
                                    <p:anim calcmode="lin" valueType="num">
                                      <p:cBhvr>
                                        <p:cTn id="23" dur="500" fill="hold"/>
                                        <p:tgtEl>
                                          <p:spTgt spid="27"/>
                                        </p:tgtEl>
                                        <p:attrNameLst>
                                          <p:attrName>ppt_h</p:attrName>
                                        </p:attrNameLst>
                                      </p:cBhvr>
                                      <p:tavLst>
                                        <p:tav tm="0">
                                          <p:val>
                                            <p:fltVal val="0"/>
                                          </p:val>
                                        </p:tav>
                                        <p:tav tm="100000">
                                          <p:val>
                                            <p:strVal val="#ppt_h"/>
                                          </p:val>
                                        </p:tav>
                                      </p:tavLst>
                                    </p:anim>
                                    <p:animEffect transition="in" filter="fade">
                                      <p:cBhvr>
                                        <p:cTn id="24" dur="500"/>
                                        <p:tgtEl>
                                          <p:spTgt spid="27"/>
                                        </p:tgtEl>
                                      </p:cBhvr>
                                    </p:animEffect>
                                  </p:childTnLst>
                                </p:cTn>
                              </p:par>
                              <p:par>
                                <p:cTn id="25" presetID="35" presetClass="path" presetSubtype="0" accel="50000" decel="50000" fill="hold" grpId="1" nodeType="withEffect">
                                  <p:stCondLst>
                                    <p:cond delay="0"/>
                                  </p:stCondLst>
                                  <p:childTnLst>
                                    <p:animMotion origin="layout" path="M -4.375E-6 -3.7037E-6 L -0.30273 -3.7037E-6 " pathEditMode="relative" rAng="0" ptsTypes="AA">
                                      <p:cBhvr>
                                        <p:cTn id="26" dur="1000" spd="-100000" fill="hold"/>
                                        <p:tgtEl>
                                          <p:spTgt spid="27"/>
                                        </p:tgtEl>
                                        <p:attrNameLst>
                                          <p:attrName>ppt_x</p:attrName>
                                          <p:attrName>ppt_y</p:attrName>
                                        </p:attrNameLst>
                                      </p:cBhvr>
                                      <p:rCtr x="-1514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7" grpId="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图片 24"/>
          <p:cNvPicPr>
            <a:picLocks noChangeAspect="1"/>
          </p:cNvPicPr>
          <p:nvPr/>
        </p:nvPicPr>
        <p:blipFill>
          <a:blip r:embed="rId4" cstate="screen"/>
          <a:stretch>
            <a:fillRect/>
          </a:stretch>
        </p:blipFill>
        <p:spPr>
          <a:xfrm>
            <a:off x="8088923" y="246423"/>
            <a:ext cx="4103077" cy="675011"/>
          </a:xfrm>
          <a:prstGeom prst="rect">
            <a:avLst/>
          </a:prstGeom>
        </p:spPr>
      </p:pic>
      <p:cxnSp>
        <p:nvCxnSpPr>
          <p:cNvPr id="26" name="直接连接符 25"/>
          <p:cNvCxnSpPr/>
          <p:nvPr/>
        </p:nvCxnSpPr>
        <p:spPr>
          <a:xfrm>
            <a:off x="0" y="921434"/>
            <a:ext cx="121920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7" name="矩形 26"/>
          <p:cNvSpPr/>
          <p:nvPr/>
        </p:nvSpPr>
        <p:spPr>
          <a:xfrm>
            <a:off x="1060287" y="353095"/>
            <a:ext cx="5262188" cy="461665"/>
          </a:xfrm>
          <a:prstGeom prst="rect">
            <a:avLst/>
          </a:prstGeom>
        </p:spPr>
        <p:txBody>
          <a:bodyPr wrap="square">
            <a:spAutoFit/>
          </a:bodyPr>
          <a:lstStyle/>
          <a:p>
            <a:r>
              <a:rPr lang="zh-CN" altLang="en-US" sz="2400" b="1" dirty="0">
                <a:solidFill>
                  <a:schemeClr val="accent1"/>
                </a:solidFill>
                <a:latin typeface="字体视界-NEW魏碑体" panose="02010601030101010101" pitchFamily="2" charset="-122"/>
                <a:ea typeface="字体视界-NEW魏碑体" panose="02010601030101010101" pitchFamily="2" charset="-122"/>
                <a:cs typeface="+mn-ea"/>
                <a:sym typeface="+mn-lt"/>
              </a:rPr>
              <a:t>第三部分：</a:t>
            </a:r>
            <a:r>
              <a:rPr lang="zh-CN" altLang="en-US" sz="2400" b="1" dirty="0">
                <a:solidFill>
                  <a:srgbClr val="C00000"/>
                </a:solidFill>
                <a:latin typeface="字体视界-NEW魏碑体" panose="02010601030101010101" pitchFamily="2" charset="-122"/>
                <a:ea typeface="字体视界-NEW魏碑体" panose="02010601030101010101" pitchFamily="2" charset="-122"/>
              </a:rPr>
              <a:t>周恩来总理与中国社会</a:t>
            </a:r>
          </a:p>
        </p:txBody>
      </p:sp>
      <p:sp>
        <p:nvSpPr>
          <p:cNvPr id="2" name="文本框 1"/>
          <p:cNvSpPr txBox="1"/>
          <p:nvPr>
            <p:custDataLst>
              <p:tags r:id="rId1"/>
            </p:custDataLst>
          </p:nvPr>
        </p:nvSpPr>
        <p:spPr>
          <a:xfrm>
            <a:off x="81280" y="1146175"/>
            <a:ext cx="2740660" cy="680720"/>
          </a:xfrm>
          <a:prstGeom prst="rect">
            <a:avLst/>
          </a:prstGeom>
          <a:noFill/>
        </p:spPr>
        <p:txBody>
          <a:bodyPr wrap="square" rtlCol="0">
            <a:noAutofit/>
          </a:bodyPr>
          <a:lstStyle/>
          <a:p>
            <a:pPr algn="ctr"/>
            <a:r>
              <a:rPr lang="zh-CN" altLang="en-US" sz="3200" b="1">
                <a:ln w="15875">
                  <a:solidFill>
                    <a:schemeClr val="accent1"/>
                  </a:solidFill>
                </a:ln>
                <a:noFill/>
                <a:sym typeface="+mn-ea"/>
              </a:rPr>
              <a:t>建国时期</a:t>
            </a:r>
          </a:p>
        </p:txBody>
      </p:sp>
      <p:sp>
        <p:nvSpPr>
          <p:cNvPr id="3" name="文本框 2"/>
          <p:cNvSpPr txBox="1"/>
          <p:nvPr/>
        </p:nvSpPr>
        <p:spPr>
          <a:xfrm>
            <a:off x="417830" y="1884045"/>
            <a:ext cx="11355705" cy="1298575"/>
          </a:xfrm>
          <a:prstGeom prst="rect">
            <a:avLst/>
          </a:prstGeom>
          <a:noFill/>
        </p:spPr>
        <p:txBody>
          <a:bodyPr wrap="square" rtlCol="0">
            <a:noAutofit/>
          </a:bodyPr>
          <a:lstStyle/>
          <a:p>
            <a:r>
              <a:rPr lang="zh-CN" altLang="en-US" dirty="0"/>
              <a:t>       </a:t>
            </a:r>
            <a:r>
              <a:rPr lang="zh-CN" altLang="en-US" b="1" dirty="0"/>
              <a:t>中华人民共和国成立后，周恩来同志为积极探索符合我国国情的社会主义建设道路、推进社会主义革命和建设事业倾注了大量心血，作出奠基性贡献。周恩来同志担任政府总理长达26年，既是国家建设总体蓝图的重要设计者，又是将它付诸实施的卓越组织者和管理者。周恩来同志强调，要正确处理各种关系，分清轻重缓急，做到统筹全局、综合平衡、协调发展，社会主义不仅要有经济建设，还要有政治建设和精神建设，必须全面发展。</a:t>
            </a:r>
          </a:p>
        </p:txBody>
      </p:sp>
      <p:sp>
        <p:nvSpPr>
          <p:cNvPr id="4" name="文本框 3"/>
          <p:cNvSpPr txBox="1"/>
          <p:nvPr/>
        </p:nvSpPr>
        <p:spPr>
          <a:xfrm>
            <a:off x="729615" y="3291205"/>
            <a:ext cx="10732135" cy="3124835"/>
          </a:xfrm>
          <a:prstGeom prst="rect">
            <a:avLst/>
          </a:prstGeom>
          <a:noFill/>
        </p:spPr>
        <p:txBody>
          <a:bodyPr wrap="square" rtlCol="0">
            <a:noAutofit/>
          </a:bodyPr>
          <a:lstStyle/>
          <a:p>
            <a:r>
              <a:rPr lang="en-US" altLang="zh-CN" b="1" dirty="0">
                <a:solidFill>
                  <a:schemeClr val="tx1">
                    <a:lumMod val="85000"/>
                    <a:lumOff val="15000"/>
                  </a:schemeClr>
                </a:solidFill>
              </a:rPr>
              <a:t>1.</a:t>
            </a:r>
            <a:r>
              <a:rPr lang="zh-CN" altLang="en-US" b="1" dirty="0">
                <a:solidFill>
                  <a:schemeClr val="tx1">
                    <a:lumMod val="85000"/>
                    <a:lumOff val="15000"/>
                  </a:schemeClr>
                </a:solidFill>
              </a:rPr>
              <a:t>经济建设：周恩来同志提出：“国家面貌的改变要从经济面貌的改变做起。这样，我们的国家才能永远站立起来。”“经济建设工作在整个国家生活中已经居于首要的地位。”</a:t>
            </a:r>
          </a:p>
          <a:p>
            <a:endParaRPr lang="zh-CN" altLang="en-US" b="1" dirty="0">
              <a:solidFill>
                <a:schemeClr val="tx1">
                  <a:lumMod val="85000"/>
                  <a:lumOff val="15000"/>
                </a:schemeClr>
              </a:solidFill>
            </a:endParaRPr>
          </a:p>
          <a:p>
            <a:r>
              <a:rPr lang="en-US" altLang="zh-CN" b="1" dirty="0">
                <a:solidFill>
                  <a:schemeClr val="tx1">
                    <a:lumMod val="85000"/>
                    <a:lumOff val="15000"/>
                  </a:schemeClr>
                </a:solidFill>
              </a:rPr>
              <a:t>2.</a:t>
            </a:r>
            <a:r>
              <a:rPr lang="zh-CN" altLang="en-US" b="1" dirty="0">
                <a:solidFill>
                  <a:schemeClr val="tx1">
                    <a:lumMod val="85000"/>
                    <a:lumOff val="15000"/>
                  </a:schemeClr>
                </a:solidFill>
              </a:rPr>
              <a:t>科技建设：周恩来同志提出科学是关系经济、国防和文化发展的决定性因素，“我们必须急起直追，力求尽可能迅速地扩大和提高我国的科学文化力量，而在不太长的时间里赶上世界先进水平”。</a:t>
            </a:r>
          </a:p>
          <a:p>
            <a:endParaRPr lang="zh-CN" altLang="en-US" b="1" dirty="0">
              <a:solidFill>
                <a:schemeClr val="tx1">
                  <a:lumMod val="85000"/>
                  <a:lumOff val="15000"/>
                </a:schemeClr>
              </a:solidFill>
            </a:endParaRPr>
          </a:p>
          <a:p>
            <a:r>
              <a:rPr lang="en-US" altLang="zh-CN" b="1" dirty="0">
                <a:solidFill>
                  <a:schemeClr val="tx1">
                    <a:lumMod val="85000"/>
                    <a:lumOff val="15000"/>
                  </a:schemeClr>
                </a:solidFill>
              </a:rPr>
              <a:t>3.</a:t>
            </a:r>
            <a:r>
              <a:rPr lang="en-US" altLang="zh-CN" b="1" dirty="0">
                <a:solidFill>
                  <a:schemeClr val="tx1">
                    <a:lumMod val="85000"/>
                    <a:lumOff val="15000"/>
                  </a:schemeClr>
                </a:solidFill>
                <a:sym typeface="+mn-ea"/>
              </a:rPr>
              <a:t>国防现代化建设</a:t>
            </a:r>
            <a:r>
              <a:rPr lang="zh-CN" altLang="en-US" b="1" dirty="0">
                <a:solidFill>
                  <a:schemeClr val="tx1">
                    <a:lumMod val="85000"/>
                    <a:lumOff val="15000"/>
                  </a:schemeClr>
                </a:solidFill>
                <a:sym typeface="+mn-ea"/>
              </a:rPr>
              <a:t>：</a:t>
            </a:r>
            <a:r>
              <a:rPr lang="en-US" altLang="zh-CN" b="1" dirty="0">
                <a:solidFill>
                  <a:schemeClr val="tx1">
                    <a:lumMod val="85000"/>
                    <a:lumOff val="15000"/>
                  </a:schemeClr>
                </a:solidFill>
              </a:rPr>
              <a:t>他高度重视国防现代化建设，强调“我们要搞尖端国防。尖端和国防是密切联系在一起的”，亲自组织领导“两弹一星”大规模科技攻坚取得重大突破，极大提升了我国综合国力和国际地位。</a:t>
            </a:r>
          </a:p>
          <a:p>
            <a:endParaRPr lang="en-US" altLang="zh-CN" b="1" dirty="0">
              <a:solidFill>
                <a:schemeClr val="tx1">
                  <a:lumMod val="85000"/>
                  <a:lumOff val="15000"/>
                </a:schemeClr>
              </a:solidFill>
            </a:endParaRPr>
          </a:p>
          <a:p>
            <a:r>
              <a:rPr lang="en-US" altLang="zh-CN" b="1" dirty="0">
                <a:solidFill>
                  <a:schemeClr val="tx1">
                    <a:lumMod val="85000"/>
                    <a:lumOff val="15000"/>
                  </a:schemeClr>
                </a:solidFill>
              </a:rPr>
              <a:t>4.</a:t>
            </a:r>
            <a:r>
              <a:rPr lang="zh-CN" altLang="en-US" b="1" dirty="0">
                <a:solidFill>
                  <a:schemeClr val="tx1">
                    <a:lumMod val="85000"/>
                    <a:lumOff val="15000"/>
                  </a:schemeClr>
                </a:solidFill>
              </a:rPr>
              <a:t>外交建设：周恩来同志高度重视对外经济交往和学习外国先进技术，强调“敢于向一切国家的长处学习，就是最有自信心和自尊心的表现，这样的民族也一定是能够自强的民族”。</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p:cTn id="7" dur="500" fill="hold"/>
                                        <p:tgtEl>
                                          <p:spTgt spid="25"/>
                                        </p:tgtEl>
                                        <p:attrNameLst>
                                          <p:attrName>ppt_w</p:attrName>
                                        </p:attrNameLst>
                                      </p:cBhvr>
                                      <p:tavLst>
                                        <p:tav tm="0">
                                          <p:val>
                                            <p:fltVal val="0"/>
                                          </p:val>
                                        </p:tav>
                                        <p:tav tm="100000">
                                          <p:val>
                                            <p:strVal val="#ppt_w"/>
                                          </p:val>
                                        </p:tav>
                                      </p:tavLst>
                                    </p:anim>
                                    <p:anim calcmode="lin" valueType="num">
                                      <p:cBhvr>
                                        <p:cTn id="8" dur="500" fill="hold"/>
                                        <p:tgtEl>
                                          <p:spTgt spid="25"/>
                                        </p:tgtEl>
                                        <p:attrNameLst>
                                          <p:attrName>ppt_h</p:attrName>
                                        </p:attrNameLst>
                                      </p:cBhvr>
                                      <p:tavLst>
                                        <p:tav tm="0">
                                          <p:val>
                                            <p:fltVal val="0"/>
                                          </p:val>
                                        </p:tav>
                                        <p:tav tm="100000">
                                          <p:val>
                                            <p:strVal val="#ppt_h"/>
                                          </p:val>
                                        </p:tav>
                                      </p:tavLst>
                                    </p:anim>
                                    <p:animEffect transition="in" filter="fade">
                                      <p:cBhvr>
                                        <p:cTn id="9" dur="500"/>
                                        <p:tgtEl>
                                          <p:spTgt spid="25"/>
                                        </p:tgtEl>
                                      </p:cBhvr>
                                    </p:animEffect>
                                  </p:childTnLst>
                                </p:cTn>
                              </p:par>
                              <p:par>
                                <p:cTn id="10" presetID="35" presetClass="path" presetSubtype="0" accel="50000" decel="50000" fill="hold" nodeType="withEffect">
                                  <p:stCondLst>
                                    <p:cond delay="0"/>
                                  </p:stCondLst>
                                  <p:childTnLst>
                                    <p:animMotion origin="layout" path="M -6.25E-7 -3.7037E-6 L 0.18997 -3.7037E-6 " pathEditMode="relative" rAng="0" ptsTypes="AA">
                                      <p:cBhvr>
                                        <p:cTn id="11" dur="1000" spd="-100000" fill="hold"/>
                                        <p:tgtEl>
                                          <p:spTgt spid="25"/>
                                        </p:tgtEl>
                                        <p:attrNameLst>
                                          <p:attrName>ppt_x</p:attrName>
                                          <p:attrName>ppt_y</p:attrName>
                                        </p:attrNameLst>
                                      </p:cBhvr>
                                      <p:rCtr x="9492" y="0"/>
                                    </p:animMotion>
                                  </p:childTnLst>
                                </p:cTn>
                              </p:par>
                              <p:par>
                                <p:cTn id="12" presetID="53" presetClass="entr" presetSubtype="16" fill="hold" nodeType="withEffect">
                                  <p:stCondLst>
                                    <p:cond delay="0"/>
                                  </p:stCondLst>
                                  <p:childTnLst>
                                    <p:set>
                                      <p:cBhvr>
                                        <p:cTn id="13" dur="1" fill="hold">
                                          <p:stCondLst>
                                            <p:cond delay="0"/>
                                          </p:stCondLst>
                                        </p:cTn>
                                        <p:tgtEl>
                                          <p:spTgt spid="26"/>
                                        </p:tgtEl>
                                        <p:attrNameLst>
                                          <p:attrName>style.visibility</p:attrName>
                                        </p:attrNameLst>
                                      </p:cBhvr>
                                      <p:to>
                                        <p:strVal val="visible"/>
                                      </p:to>
                                    </p:set>
                                    <p:anim calcmode="lin" valueType="num">
                                      <p:cBhvr>
                                        <p:cTn id="14" dur="500" fill="hold"/>
                                        <p:tgtEl>
                                          <p:spTgt spid="26"/>
                                        </p:tgtEl>
                                        <p:attrNameLst>
                                          <p:attrName>ppt_w</p:attrName>
                                        </p:attrNameLst>
                                      </p:cBhvr>
                                      <p:tavLst>
                                        <p:tav tm="0">
                                          <p:val>
                                            <p:fltVal val="0"/>
                                          </p:val>
                                        </p:tav>
                                        <p:tav tm="100000">
                                          <p:val>
                                            <p:strVal val="#ppt_w"/>
                                          </p:val>
                                        </p:tav>
                                      </p:tavLst>
                                    </p:anim>
                                    <p:anim calcmode="lin" valueType="num">
                                      <p:cBhvr>
                                        <p:cTn id="15" dur="500" fill="hold"/>
                                        <p:tgtEl>
                                          <p:spTgt spid="26"/>
                                        </p:tgtEl>
                                        <p:attrNameLst>
                                          <p:attrName>ppt_h</p:attrName>
                                        </p:attrNameLst>
                                      </p:cBhvr>
                                      <p:tavLst>
                                        <p:tav tm="0">
                                          <p:val>
                                            <p:fltVal val="0"/>
                                          </p:val>
                                        </p:tav>
                                        <p:tav tm="100000">
                                          <p:val>
                                            <p:strVal val="#ppt_h"/>
                                          </p:val>
                                        </p:tav>
                                      </p:tavLst>
                                    </p:anim>
                                    <p:animEffect transition="in" filter="fade">
                                      <p:cBhvr>
                                        <p:cTn id="16" dur="500"/>
                                        <p:tgtEl>
                                          <p:spTgt spid="26"/>
                                        </p:tgtEl>
                                      </p:cBhvr>
                                    </p:animEffect>
                                  </p:childTnLst>
                                </p:cTn>
                              </p:par>
                              <p:par>
                                <p:cTn id="17" presetID="35" presetClass="path" presetSubtype="0" accel="50000" decel="50000" fill="hold" nodeType="withEffect">
                                  <p:stCondLst>
                                    <p:cond delay="0"/>
                                  </p:stCondLst>
                                  <p:childTnLst>
                                    <p:animMotion origin="layout" path="M 0 -3.7037E-6 L -0.41185 -3.7037E-6 " pathEditMode="relative" rAng="0" ptsTypes="AA">
                                      <p:cBhvr>
                                        <p:cTn id="18" dur="1000" spd="-100000" fill="hold"/>
                                        <p:tgtEl>
                                          <p:spTgt spid="26"/>
                                        </p:tgtEl>
                                        <p:attrNameLst>
                                          <p:attrName>ppt_x</p:attrName>
                                          <p:attrName>ppt_y</p:attrName>
                                        </p:attrNameLst>
                                      </p:cBhvr>
                                      <p:rCtr x="-20599" y="0"/>
                                    </p:animMotion>
                                  </p:childTnLst>
                                </p:cTn>
                              </p:par>
                            </p:childTnLst>
                          </p:cTn>
                        </p:par>
                        <p:par>
                          <p:cTn id="19" fill="hold">
                            <p:stCondLst>
                              <p:cond delay="500"/>
                            </p:stCondLst>
                            <p:childTnLst>
                              <p:par>
                                <p:cTn id="20" presetID="53" presetClass="entr" presetSubtype="16" fill="hold" grpId="0" nodeType="afterEffect">
                                  <p:stCondLst>
                                    <p:cond delay="0"/>
                                  </p:stCondLst>
                                  <p:childTnLst>
                                    <p:set>
                                      <p:cBhvr>
                                        <p:cTn id="21" dur="1" fill="hold">
                                          <p:stCondLst>
                                            <p:cond delay="0"/>
                                          </p:stCondLst>
                                        </p:cTn>
                                        <p:tgtEl>
                                          <p:spTgt spid="27"/>
                                        </p:tgtEl>
                                        <p:attrNameLst>
                                          <p:attrName>style.visibility</p:attrName>
                                        </p:attrNameLst>
                                      </p:cBhvr>
                                      <p:to>
                                        <p:strVal val="visible"/>
                                      </p:to>
                                    </p:set>
                                    <p:anim calcmode="lin" valueType="num">
                                      <p:cBhvr>
                                        <p:cTn id="22" dur="500" fill="hold"/>
                                        <p:tgtEl>
                                          <p:spTgt spid="27"/>
                                        </p:tgtEl>
                                        <p:attrNameLst>
                                          <p:attrName>ppt_w</p:attrName>
                                        </p:attrNameLst>
                                      </p:cBhvr>
                                      <p:tavLst>
                                        <p:tav tm="0">
                                          <p:val>
                                            <p:fltVal val="0"/>
                                          </p:val>
                                        </p:tav>
                                        <p:tav tm="100000">
                                          <p:val>
                                            <p:strVal val="#ppt_w"/>
                                          </p:val>
                                        </p:tav>
                                      </p:tavLst>
                                    </p:anim>
                                    <p:anim calcmode="lin" valueType="num">
                                      <p:cBhvr>
                                        <p:cTn id="23" dur="500" fill="hold"/>
                                        <p:tgtEl>
                                          <p:spTgt spid="27"/>
                                        </p:tgtEl>
                                        <p:attrNameLst>
                                          <p:attrName>ppt_h</p:attrName>
                                        </p:attrNameLst>
                                      </p:cBhvr>
                                      <p:tavLst>
                                        <p:tav tm="0">
                                          <p:val>
                                            <p:fltVal val="0"/>
                                          </p:val>
                                        </p:tav>
                                        <p:tav tm="100000">
                                          <p:val>
                                            <p:strVal val="#ppt_h"/>
                                          </p:val>
                                        </p:tav>
                                      </p:tavLst>
                                    </p:anim>
                                    <p:animEffect transition="in" filter="fade">
                                      <p:cBhvr>
                                        <p:cTn id="24" dur="500"/>
                                        <p:tgtEl>
                                          <p:spTgt spid="27"/>
                                        </p:tgtEl>
                                      </p:cBhvr>
                                    </p:animEffect>
                                  </p:childTnLst>
                                </p:cTn>
                              </p:par>
                              <p:par>
                                <p:cTn id="25" presetID="35" presetClass="path" presetSubtype="0" accel="50000" decel="50000" fill="hold" grpId="1" nodeType="withEffect">
                                  <p:stCondLst>
                                    <p:cond delay="0"/>
                                  </p:stCondLst>
                                  <p:childTnLst>
                                    <p:animMotion origin="layout" path="M -4.375E-6 -3.7037E-6 L -0.30273 -3.7037E-6 " pathEditMode="relative" rAng="0" ptsTypes="AA">
                                      <p:cBhvr>
                                        <p:cTn id="26" dur="1000" spd="-100000" fill="hold"/>
                                        <p:tgtEl>
                                          <p:spTgt spid="27"/>
                                        </p:tgtEl>
                                        <p:attrNameLst>
                                          <p:attrName>ppt_x</p:attrName>
                                          <p:attrName>ppt_y</p:attrName>
                                        </p:attrNameLst>
                                      </p:cBhvr>
                                      <p:rCtr x="-1514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7" grpId="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图片 24"/>
          <p:cNvPicPr>
            <a:picLocks noChangeAspect="1"/>
          </p:cNvPicPr>
          <p:nvPr/>
        </p:nvPicPr>
        <p:blipFill>
          <a:blip r:embed="rId4" cstate="screen"/>
          <a:stretch>
            <a:fillRect/>
          </a:stretch>
        </p:blipFill>
        <p:spPr>
          <a:xfrm>
            <a:off x="8088923" y="246423"/>
            <a:ext cx="4103077" cy="675011"/>
          </a:xfrm>
          <a:prstGeom prst="rect">
            <a:avLst/>
          </a:prstGeom>
        </p:spPr>
      </p:pic>
      <p:cxnSp>
        <p:nvCxnSpPr>
          <p:cNvPr id="26" name="直接连接符 25"/>
          <p:cNvCxnSpPr/>
          <p:nvPr/>
        </p:nvCxnSpPr>
        <p:spPr>
          <a:xfrm>
            <a:off x="0" y="921434"/>
            <a:ext cx="121920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7" name="矩形 26"/>
          <p:cNvSpPr/>
          <p:nvPr/>
        </p:nvSpPr>
        <p:spPr>
          <a:xfrm>
            <a:off x="1060287" y="353095"/>
            <a:ext cx="5262188" cy="461665"/>
          </a:xfrm>
          <a:prstGeom prst="rect">
            <a:avLst/>
          </a:prstGeom>
        </p:spPr>
        <p:txBody>
          <a:bodyPr wrap="square">
            <a:spAutoFit/>
          </a:bodyPr>
          <a:lstStyle/>
          <a:p>
            <a:r>
              <a:rPr lang="zh-CN" altLang="en-US" sz="2400" b="1" dirty="0">
                <a:solidFill>
                  <a:schemeClr val="accent1"/>
                </a:solidFill>
                <a:latin typeface="字体视界-NEW魏碑体" panose="02010601030101010101" pitchFamily="2" charset="-122"/>
                <a:ea typeface="字体视界-NEW魏碑体" panose="02010601030101010101" pitchFamily="2" charset="-122"/>
                <a:cs typeface="+mn-ea"/>
                <a:sym typeface="+mn-lt"/>
              </a:rPr>
              <a:t>第三部分：</a:t>
            </a:r>
            <a:r>
              <a:rPr lang="zh-CN" altLang="en-US" sz="2400" b="1" dirty="0">
                <a:solidFill>
                  <a:srgbClr val="C00000"/>
                </a:solidFill>
                <a:latin typeface="字体视界-NEW魏碑体" panose="02010601030101010101" pitchFamily="2" charset="-122"/>
                <a:ea typeface="字体视界-NEW魏碑体" panose="02010601030101010101" pitchFamily="2" charset="-122"/>
              </a:rPr>
              <a:t>周恩来总理与中国社会</a:t>
            </a:r>
          </a:p>
        </p:txBody>
      </p:sp>
      <p:sp>
        <p:nvSpPr>
          <p:cNvPr id="3" name="文本框 2"/>
          <p:cNvSpPr txBox="1"/>
          <p:nvPr/>
        </p:nvSpPr>
        <p:spPr>
          <a:xfrm>
            <a:off x="1016000" y="2312035"/>
            <a:ext cx="6393180" cy="3816985"/>
          </a:xfrm>
          <a:prstGeom prst="rect">
            <a:avLst/>
          </a:prstGeom>
          <a:noFill/>
        </p:spPr>
        <p:txBody>
          <a:bodyPr wrap="square" rtlCol="0">
            <a:noAutofit/>
          </a:bodyPr>
          <a:lstStyle/>
          <a:p>
            <a:r>
              <a:rPr lang="en-US" altLang="zh-CN" dirty="0"/>
              <a:t>       </a:t>
            </a:r>
            <a:r>
              <a:rPr lang="en-US" altLang="zh-CN" dirty="0">
                <a:solidFill>
                  <a:schemeClr val="bg2">
                    <a:lumMod val="50000"/>
                  </a:schemeClr>
                </a:solidFill>
              </a:rPr>
              <a:t> </a:t>
            </a:r>
            <a:r>
              <a:rPr lang="zh-CN" altLang="en-US" b="1" dirty="0">
                <a:solidFill>
                  <a:schemeClr val="tx1">
                    <a:lumMod val="75000"/>
                    <a:lumOff val="25000"/>
                  </a:schemeClr>
                </a:solidFill>
              </a:rPr>
              <a:t>周恩来总理明确提出了</a:t>
            </a:r>
            <a:r>
              <a:rPr lang="en-US" altLang="zh-CN" b="1" dirty="0">
                <a:solidFill>
                  <a:schemeClr val="tx1">
                    <a:lumMod val="75000"/>
                    <a:lumOff val="25000"/>
                  </a:schemeClr>
                </a:solidFill>
              </a:rPr>
              <a:t>“</a:t>
            </a:r>
            <a:r>
              <a:rPr lang="zh-CN" altLang="en-US" b="1" dirty="0">
                <a:solidFill>
                  <a:schemeClr val="tx1">
                    <a:lumMod val="75000"/>
                    <a:lumOff val="25000"/>
                  </a:schemeClr>
                </a:solidFill>
              </a:rPr>
              <a:t>中国现代化</a:t>
            </a:r>
            <a:r>
              <a:rPr lang="en-US" altLang="zh-CN" b="1" dirty="0">
                <a:solidFill>
                  <a:schemeClr val="tx1">
                    <a:lumMod val="75000"/>
                    <a:lumOff val="25000"/>
                  </a:schemeClr>
                </a:solidFill>
              </a:rPr>
              <a:t>”</a:t>
            </a:r>
            <a:r>
              <a:rPr lang="zh-CN" altLang="en-US" b="1" dirty="0">
                <a:solidFill>
                  <a:schemeClr val="tx1">
                    <a:lumMod val="75000"/>
                    <a:lumOff val="25000"/>
                  </a:schemeClr>
                </a:solidFill>
              </a:rPr>
              <a:t>的概念</a:t>
            </a:r>
            <a:r>
              <a:rPr lang="en-US" altLang="zh-CN" b="1" dirty="0">
                <a:solidFill>
                  <a:schemeClr val="tx1">
                    <a:lumMod val="75000"/>
                    <a:lumOff val="25000"/>
                  </a:schemeClr>
                </a:solidFill>
              </a:rPr>
              <a:t>,</a:t>
            </a:r>
            <a:r>
              <a:rPr lang="zh-CN" altLang="en-US" b="1" dirty="0">
                <a:solidFill>
                  <a:schemeClr val="tx1">
                    <a:lumMod val="75000"/>
                    <a:lumOff val="25000"/>
                  </a:schemeClr>
                </a:solidFill>
              </a:rPr>
              <a:t>指出“四个现代化</a:t>
            </a:r>
            <a:r>
              <a:rPr lang="en-US" altLang="zh-CN" b="1" dirty="0">
                <a:solidFill>
                  <a:schemeClr val="tx1">
                    <a:lumMod val="75000"/>
                    <a:lumOff val="25000"/>
                  </a:schemeClr>
                </a:solidFill>
              </a:rPr>
              <a:t> “</a:t>
            </a:r>
            <a:r>
              <a:rPr lang="zh-CN" altLang="en-US" b="1" dirty="0">
                <a:solidFill>
                  <a:schemeClr val="tx1">
                    <a:lumMod val="75000"/>
                    <a:lumOff val="25000"/>
                  </a:schemeClr>
                </a:solidFill>
              </a:rPr>
              <a:t>战略：“从第三个五年计划开始，我国国民经济的发展，可以按两步来设想：第一步用15年时间，即在1980年以前，建成一个独立的国民经济体系；第二步，在本世纪内，全面实现农业、工业、国防和科学技术的现代化，使我国国民经济走在世界的前列。”</a:t>
            </a:r>
          </a:p>
          <a:p>
            <a:r>
              <a:rPr lang="zh-CN" altLang="en-US" b="1" dirty="0">
                <a:solidFill>
                  <a:schemeClr val="tx1">
                    <a:lumMod val="75000"/>
                    <a:lumOff val="25000"/>
                  </a:schemeClr>
                </a:solidFill>
              </a:rPr>
              <a:t>　</a:t>
            </a:r>
          </a:p>
          <a:p>
            <a:r>
              <a:rPr lang="zh-CN" altLang="en-US" b="1" dirty="0">
                <a:solidFill>
                  <a:schemeClr val="tx1">
                    <a:lumMod val="75000"/>
                    <a:lumOff val="25000"/>
                  </a:schemeClr>
                </a:solidFill>
              </a:rPr>
              <a:t> </a:t>
            </a:r>
            <a:r>
              <a:rPr lang="en-US" altLang="zh-CN" b="1" dirty="0">
                <a:solidFill>
                  <a:schemeClr val="tx1">
                    <a:lumMod val="75000"/>
                    <a:lumOff val="25000"/>
                  </a:schemeClr>
                </a:solidFill>
              </a:rPr>
              <a:t>   </a:t>
            </a:r>
            <a:r>
              <a:rPr lang="zh-CN" altLang="en-US" b="1" dirty="0">
                <a:solidFill>
                  <a:schemeClr val="tx1">
                    <a:lumMod val="75000"/>
                    <a:lumOff val="25000"/>
                  </a:schemeClr>
                </a:solidFill>
              </a:rPr>
              <a:t>“四个现代化”作为中国改革开放以来长期坚持的战略目标和战略部署，对于中华民族复兴起到了不可磨灭的作用。它不是简单的技术层次的口号和目标，其实体现了20世纪50年代前后中国特色社会主义的若干价值取向。</a:t>
            </a:r>
          </a:p>
        </p:txBody>
      </p:sp>
      <p:pic>
        <p:nvPicPr>
          <p:cNvPr id="4" name="图片 3"/>
          <p:cNvPicPr/>
          <p:nvPr>
            <p:custDataLst>
              <p:tags r:id="rId1"/>
            </p:custDataLst>
          </p:nvPr>
        </p:nvPicPr>
        <p:blipFill>
          <a:blip r:embed="rId5"/>
          <a:stretch>
            <a:fillRect/>
          </a:stretch>
        </p:blipFill>
        <p:spPr>
          <a:xfrm>
            <a:off x="7677150" y="1146175"/>
            <a:ext cx="3744595" cy="5483225"/>
          </a:xfrm>
          <a:prstGeom prst="rect">
            <a:avLst/>
          </a:prstGeom>
          <a:noFill/>
          <a:ln w="9525">
            <a:noFill/>
          </a:ln>
        </p:spPr>
      </p:pic>
      <p:sp>
        <p:nvSpPr>
          <p:cNvPr id="5" name="文本框 4"/>
          <p:cNvSpPr txBox="1"/>
          <p:nvPr/>
        </p:nvSpPr>
        <p:spPr>
          <a:xfrm>
            <a:off x="229235" y="1355725"/>
            <a:ext cx="6459220" cy="521970"/>
          </a:xfrm>
          <a:prstGeom prst="rect">
            <a:avLst/>
          </a:prstGeom>
          <a:noFill/>
        </p:spPr>
        <p:txBody>
          <a:bodyPr wrap="square" rtlCol="0">
            <a:spAutoFit/>
          </a:bodyPr>
          <a:lstStyle/>
          <a:p>
            <a:r>
              <a:rPr lang="zh-CN" altLang="en-US" sz="2800">
                <a:sym typeface="+mn-ea"/>
              </a:rPr>
              <a:t>周恩来与“四个现代化”概念的确立：</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p:cTn id="7" dur="500" fill="hold"/>
                                        <p:tgtEl>
                                          <p:spTgt spid="25"/>
                                        </p:tgtEl>
                                        <p:attrNameLst>
                                          <p:attrName>ppt_w</p:attrName>
                                        </p:attrNameLst>
                                      </p:cBhvr>
                                      <p:tavLst>
                                        <p:tav tm="0">
                                          <p:val>
                                            <p:fltVal val="0"/>
                                          </p:val>
                                        </p:tav>
                                        <p:tav tm="100000">
                                          <p:val>
                                            <p:strVal val="#ppt_w"/>
                                          </p:val>
                                        </p:tav>
                                      </p:tavLst>
                                    </p:anim>
                                    <p:anim calcmode="lin" valueType="num">
                                      <p:cBhvr>
                                        <p:cTn id="8" dur="500" fill="hold"/>
                                        <p:tgtEl>
                                          <p:spTgt spid="25"/>
                                        </p:tgtEl>
                                        <p:attrNameLst>
                                          <p:attrName>ppt_h</p:attrName>
                                        </p:attrNameLst>
                                      </p:cBhvr>
                                      <p:tavLst>
                                        <p:tav tm="0">
                                          <p:val>
                                            <p:fltVal val="0"/>
                                          </p:val>
                                        </p:tav>
                                        <p:tav tm="100000">
                                          <p:val>
                                            <p:strVal val="#ppt_h"/>
                                          </p:val>
                                        </p:tav>
                                      </p:tavLst>
                                    </p:anim>
                                    <p:animEffect transition="in" filter="fade">
                                      <p:cBhvr>
                                        <p:cTn id="9" dur="500"/>
                                        <p:tgtEl>
                                          <p:spTgt spid="25"/>
                                        </p:tgtEl>
                                      </p:cBhvr>
                                    </p:animEffect>
                                  </p:childTnLst>
                                </p:cTn>
                              </p:par>
                              <p:par>
                                <p:cTn id="10" presetID="35" presetClass="path" presetSubtype="0" accel="50000" decel="50000" fill="hold" nodeType="withEffect">
                                  <p:stCondLst>
                                    <p:cond delay="0"/>
                                  </p:stCondLst>
                                  <p:childTnLst>
                                    <p:animMotion origin="layout" path="M -6.25E-7 -3.7037E-6 L 0.18997 -3.7037E-6 " pathEditMode="relative" rAng="0" ptsTypes="AA">
                                      <p:cBhvr>
                                        <p:cTn id="11" dur="1000" spd="-100000" fill="hold"/>
                                        <p:tgtEl>
                                          <p:spTgt spid="25"/>
                                        </p:tgtEl>
                                        <p:attrNameLst>
                                          <p:attrName>ppt_x</p:attrName>
                                          <p:attrName>ppt_y</p:attrName>
                                        </p:attrNameLst>
                                      </p:cBhvr>
                                      <p:rCtr x="9492" y="0"/>
                                    </p:animMotion>
                                  </p:childTnLst>
                                </p:cTn>
                              </p:par>
                              <p:par>
                                <p:cTn id="12" presetID="53" presetClass="entr" presetSubtype="16" fill="hold" nodeType="withEffect">
                                  <p:stCondLst>
                                    <p:cond delay="0"/>
                                  </p:stCondLst>
                                  <p:childTnLst>
                                    <p:set>
                                      <p:cBhvr>
                                        <p:cTn id="13" dur="1" fill="hold">
                                          <p:stCondLst>
                                            <p:cond delay="0"/>
                                          </p:stCondLst>
                                        </p:cTn>
                                        <p:tgtEl>
                                          <p:spTgt spid="26"/>
                                        </p:tgtEl>
                                        <p:attrNameLst>
                                          <p:attrName>style.visibility</p:attrName>
                                        </p:attrNameLst>
                                      </p:cBhvr>
                                      <p:to>
                                        <p:strVal val="visible"/>
                                      </p:to>
                                    </p:set>
                                    <p:anim calcmode="lin" valueType="num">
                                      <p:cBhvr>
                                        <p:cTn id="14" dur="500" fill="hold"/>
                                        <p:tgtEl>
                                          <p:spTgt spid="26"/>
                                        </p:tgtEl>
                                        <p:attrNameLst>
                                          <p:attrName>ppt_w</p:attrName>
                                        </p:attrNameLst>
                                      </p:cBhvr>
                                      <p:tavLst>
                                        <p:tav tm="0">
                                          <p:val>
                                            <p:fltVal val="0"/>
                                          </p:val>
                                        </p:tav>
                                        <p:tav tm="100000">
                                          <p:val>
                                            <p:strVal val="#ppt_w"/>
                                          </p:val>
                                        </p:tav>
                                      </p:tavLst>
                                    </p:anim>
                                    <p:anim calcmode="lin" valueType="num">
                                      <p:cBhvr>
                                        <p:cTn id="15" dur="500" fill="hold"/>
                                        <p:tgtEl>
                                          <p:spTgt spid="26"/>
                                        </p:tgtEl>
                                        <p:attrNameLst>
                                          <p:attrName>ppt_h</p:attrName>
                                        </p:attrNameLst>
                                      </p:cBhvr>
                                      <p:tavLst>
                                        <p:tav tm="0">
                                          <p:val>
                                            <p:fltVal val="0"/>
                                          </p:val>
                                        </p:tav>
                                        <p:tav tm="100000">
                                          <p:val>
                                            <p:strVal val="#ppt_h"/>
                                          </p:val>
                                        </p:tav>
                                      </p:tavLst>
                                    </p:anim>
                                    <p:animEffect transition="in" filter="fade">
                                      <p:cBhvr>
                                        <p:cTn id="16" dur="500"/>
                                        <p:tgtEl>
                                          <p:spTgt spid="26"/>
                                        </p:tgtEl>
                                      </p:cBhvr>
                                    </p:animEffect>
                                  </p:childTnLst>
                                </p:cTn>
                              </p:par>
                              <p:par>
                                <p:cTn id="17" presetID="35" presetClass="path" presetSubtype="0" accel="50000" decel="50000" fill="hold" nodeType="withEffect">
                                  <p:stCondLst>
                                    <p:cond delay="0"/>
                                  </p:stCondLst>
                                  <p:childTnLst>
                                    <p:animMotion origin="layout" path="M 0 -3.7037E-6 L -0.41185 -3.7037E-6 " pathEditMode="relative" rAng="0" ptsTypes="AA">
                                      <p:cBhvr>
                                        <p:cTn id="18" dur="1000" spd="-100000" fill="hold"/>
                                        <p:tgtEl>
                                          <p:spTgt spid="26"/>
                                        </p:tgtEl>
                                        <p:attrNameLst>
                                          <p:attrName>ppt_x</p:attrName>
                                          <p:attrName>ppt_y</p:attrName>
                                        </p:attrNameLst>
                                      </p:cBhvr>
                                      <p:rCtr x="-20599" y="0"/>
                                    </p:animMotion>
                                  </p:childTnLst>
                                </p:cTn>
                              </p:par>
                            </p:childTnLst>
                          </p:cTn>
                        </p:par>
                        <p:par>
                          <p:cTn id="19" fill="hold">
                            <p:stCondLst>
                              <p:cond delay="500"/>
                            </p:stCondLst>
                            <p:childTnLst>
                              <p:par>
                                <p:cTn id="20" presetID="53" presetClass="entr" presetSubtype="16" fill="hold" grpId="0" nodeType="afterEffect">
                                  <p:stCondLst>
                                    <p:cond delay="0"/>
                                  </p:stCondLst>
                                  <p:childTnLst>
                                    <p:set>
                                      <p:cBhvr>
                                        <p:cTn id="21" dur="1" fill="hold">
                                          <p:stCondLst>
                                            <p:cond delay="0"/>
                                          </p:stCondLst>
                                        </p:cTn>
                                        <p:tgtEl>
                                          <p:spTgt spid="27"/>
                                        </p:tgtEl>
                                        <p:attrNameLst>
                                          <p:attrName>style.visibility</p:attrName>
                                        </p:attrNameLst>
                                      </p:cBhvr>
                                      <p:to>
                                        <p:strVal val="visible"/>
                                      </p:to>
                                    </p:set>
                                    <p:anim calcmode="lin" valueType="num">
                                      <p:cBhvr>
                                        <p:cTn id="22" dur="500" fill="hold"/>
                                        <p:tgtEl>
                                          <p:spTgt spid="27"/>
                                        </p:tgtEl>
                                        <p:attrNameLst>
                                          <p:attrName>ppt_w</p:attrName>
                                        </p:attrNameLst>
                                      </p:cBhvr>
                                      <p:tavLst>
                                        <p:tav tm="0">
                                          <p:val>
                                            <p:fltVal val="0"/>
                                          </p:val>
                                        </p:tav>
                                        <p:tav tm="100000">
                                          <p:val>
                                            <p:strVal val="#ppt_w"/>
                                          </p:val>
                                        </p:tav>
                                      </p:tavLst>
                                    </p:anim>
                                    <p:anim calcmode="lin" valueType="num">
                                      <p:cBhvr>
                                        <p:cTn id="23" dur="500" fill="hold"/>
                                        <p:tgtEl>
                                          <p:spTgt spid="27"/>
                                        </p:tgtEl>
                                        <p:attrNameLst>
                                          <p:attrName>ppt_h</p:attrName>
                                        </p:attrNameLst>
                                      </p:cBhvr>
                                      <p:tavLst>
                                        <p:tav tm="0">
                                          <p:val>
                                            <p:fltVal val="0"/>
                                          </p:val>
                                        </p:tav>
                                        <p:tav tm="100000">
                                          <p:val>
                                            <p:strVal val="#ppt_h"/>
                                          </p:val>
                                        </p:tav>
                                      </p:tavLst>
                                    </p:anim>
                                    <p:animEffect transition="in" filter="fade">
                                      <p:cBhvr>
                                        <p:cTn id="24" dur="500"/>
                                        <p:tgtEl>
                                          <p:spTgt spid="27"/>
                                        </p:tgtEl>
                                      </p:cBhvr>
                                    </p:animEffect>
                                  </p:childTnLst>
                                </p:cTn>
                              </p:par>
                              <p:par>
                                <p:cTn id="25" presetID="35" presetClass="path" presetSubtype="0" accel="50000" decel="50000" fill="hold" grpId="1" nodeType="withEffect">
                                  <p:stCondLst>
                                    <p:cond delay="0"/>
                                  </p:stCondLst>
                                  <p:childTnLst>
                                    <p:animMotion origin="layout" path="M -4.375E-6 -3.7037E-6 L -0.30273 -3.7037E-6 " pathEditMode="relative" rAng="0" ptsTypes="AA">
                                      <p:cBhvr>
                                        <p:cTn id="26" dur="1000" spd="-100000" fill="hold"/>
                                        <p:tgtEl>
                                          <p:spTgt spid="27"/>
                                        </p:tgtEl>
                                        <p:attrNameLst>
                                          <p:attrName>ppt_x</p:attrName>
                                          <p:attrName>ppt_y</p:attrName>
                                        </p:attrNameLst>
                                      </p:cBhvr>
                                      <p:rCtr x="-1514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7" grpId="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图片 24"/>
          <p:cNvPicPr>
            <a:picLocks noChangeAspect="1"/>
          </p:cNvPicPr>
          <p:nvPr/>
        </p:nvPicPr>
        <p:blipFill>
          <a:blip r:embed="rId4" cstate="screen"/>
          <a:stretch>
            <a:fillRect/>
          </a:stretch>
        </p:blipFill>
        <p:spPr>
          <a:xfrm>
            <a:off x="8088923" y="246423"/>
            <a:ext cx="4103077" cy="675011"/>
          </a:xfrm>
          <a:prstGeom prst="rect">
            <a:avLst/>
          </a:prstGeom>
        </p:spPr>
      </p:pic>
      <p:cxnSp>
        <p:nvCxnSpPr>
          <p:cNvPr id="26" name="直接连接符 25"/>
          <p:cNvCxnSpPr/>
          <p:nvPr/>
        </p:nvCxnSpPr>
        <p:spPr>
          <a:xfrm>
            <a:off x="0" y="921434"/>
            <a:ext cx="121920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7" name="矩形 26"/>
          <p:cNvSpPr/>
          <p:nvPr/>
        </p:nvSpPr>
        <p:spPr>
          <a:xfrm>
            <a:off x="1060287" y="353095"/>
            <a:ext cx="5262188" cy="461665"/>
          </a:xfrm>
          <a:prstGeom prst="rect">
            <a:avLst/>
          </a:prstGeom>
        </p:spPr>
        <p:txBody>
          <a:bodyPr wrap="square">
            <a:spAutoFit/>
          </a:bodyPr>
          <a:lstStyle/>
          <a:p>
            <a:r>
              <a:rPr lang="zh-CN" altLang="en-US" sz="2400" b="1" dirty="0">
                <a:solidFill>
                  <a:schemeClr val="accent1"/>
                </a:solidFill>
                <a:latin typeface="字体视界-NEW魏碑体" panose="02010601030101010101" pitchFamily="2" charset="-122"/>
                <a:ea typeface="字体视界-NEW魏碑体" panose="02010601030101010101" pitchFamily="2" charset="-122"/>
                <a:cs typeface="+mn-ea"/>
                <a:sym typeface="+mn-lt"/>
              </a:rPr>
              <a:t>第三部分：</a:t>
            </a:r>
            <a:r>
              <a:rPr lang="zh-CN" altLang="en-US" sz="2400" b="1" dirty="0">
                <a:solidFill>
                  <a:srgbClr val="C00000"/>
                </a:solidFill>
                <a:latin typeface="字体视界-NEW魏碑体" panose="02010601030101010101" pitchFamily="2" charset="-122"/>
                <a:ea typeface="字体视界-NEW魏碑体" panose="02010601030101010101" pitchFamily="2" charset="-122"/>
              </a:rPr>
              <a:t>周恩来总理与中国社会</a:t>
            </a:r>
          </a:p>
        </p:txBody>
      </p:sp>
      <p:pic>
        <p:nvPicPr>
          <p:cNvPr id="108" name="图片 107"/>
          <p:cNvPicPr/>
          <p:nvPr/>
        </p:nvPicPr>
        <p:blipFill>
          <a:blip r:embed="rId5"/>
          <a:stretch>
            <a:fillRect/>
          </a:stretch>
        </p:blipFill>
        <p:spPr>
          <a:xfrm>
            <a:off x="687705" y="1153478"/>
            <a:ext cx="3429000" cy="5229225"/>
          </a:xfrm>
          <a:prstGeom prst="rect">
            <a:avLst/>
          </a:prstGeom>
          <a:noFill/>
          <a:ln w="9525">
            <a:noFill/>
          </a:ln>
        </p:spPr>
      </p:pic>
      <p:sp>
        <p:nvSpPr>
          <p:cNvPr id="2" name="文本框 1"/>
          <p:cNvSpPr txBox="1"/>
          <p:nvPr>
            <p:custDataLst>
              <p:tags r:id="rId1"/>
            </p:custDataLst>
          </p:nvPr>
        </p:nvSpPr>
        <p:spPr>
          <a:xfrm>
            <a:off x="8947785" y="1153795"/>
            <a:ext cx="2740660" cy="680720"/>
          </a:xfrm>
          <a:prstGeom prst="rect">
            <a:avLst/>
          </a:prstGeom>
          <a:noFill/>
        </p:spPr>
        <p:txBody>
          <a:bodyPr wrap="square" rtlCol="0">
            <a:noAutofit/>
          </a:bodyPr>
          <a:lstStyle/>
          <a:p>
            <a:pPr algn="ctr"/>
            <a:r>
              <a:rPr lang="zh-CN" altLang="en-US" sz="3600" b="1">
                <a:ln w="15875">
                  <a:solidFill>
                    <a:schemeClr val="accent1"/>
                  </a:solidFill>
                </a:ln>
                <a:noFill/>
                <a:sym typeface="+mn-ea"/>
              </a:rPr>
              <a:t>当今影响</a:t>
            </a:r>
          </a:p>
        </p:txBody>
      </p:sp>
      <p:sp>
        <p:nvSpPr>
          <p:cNvPr id="3" name="文本框 2"/>
          <p:cNvSpPr txBox="1"/>
          <p:nvPr/>
        </p:nvSpPr>
        <p:spPr>
          <a:xfrm>
            <a:off x="4473575" y="1790065"/>
            <a:ext cx="7590790" cy="2085340"/>
          </a:xfrm>
          <a:prstGeom prst="rect">
            <a:avLst/>
          </a:prstGeom>
          <a:noFill/>
        </p:spPr>
        <p:txBody>
          <a:bodyPr wrap="square" rtlCol="0">
            <a:noAutofit/>
          </a:bodyPr>
          <a:lstStyle/>
          <a:p>
            <a:r>
              <a:rPr lang="zh-CN" altLang="en-US" dirty="0"/>
              <a:t>　   </a:t>
            </a:r>
            <a:r>
              <a:rPr lang="zh-CN" altLang="en-US" b="1" dirty="0"/>
              <a:t>几十年岁月流逝，但是一提起他，无数中国人的心中依然会涌起难以抑制的崇敬和深情。 </a:t>
            </a:r>
          </a:p>
          <a:p>
            <a:r>
              <a:rPr lang="zh-CN" altLang="en-US" b="1" dirty="0"/>
              <a:t>　　习近平同志在党的十九大结束后不久，率领中央政治局常委瞻仰中共一大会址。他深情地说：“我们走得再远都不能忘记来时的路。”路是人一步一步走出来的。就像一场接力跑，前人到达的地方，就是后人继续前进的出发点。对周恩来同志的思念，已经成为激励我们不忘初心、牢记使命、永远奋斗的巨大精神力量。这种力量，来自他毕生为中国人民谋幸福、</a:t>
            </a:r>
          </a:p>
        </p:txBody>
      </p:sp>
      <p:pic>
        <p:nvPicPr>
          <p:cNvPr id="111" name="图片 110"/>
          <p:cNvPicPr/>
          <p:nvPr/>
        </p:nvPicPr>
        <p:blipFill>
          <a:blip r:embed="rId6"/>
          <a:srcRect r="-50" b="17173"/>
          <a:stretch>
            <a:fillRect/>
          </a:stretch>
        </p:blipFill>
        <p:spPr>
          <a:xfrm>
            <a:off x="7078980" y="3875405"/>
            <a:ext cx="4325620" cy="2700655"/>
          </a:xfrm>
          <a:prstGeom prst="rect">
            <a:avLst/>
          </a:prstGeom>
          <a:noFill/>
          <a:ln w="9525">
            <a:noFill/>
          </a:ln>
        </p:spPr>
      </p:pic>
      <p:sp>
        <p:nvSpPr>
          <p:cNvPr id="4" name="文本框 3"/>
          <p:cNvSpPr txBox="1"/>
          <p:nvPr/>
        </p:nvSpPr>
        <p:spPr>
          <a:xfrm>
            <a:off x="4473575" y="3783330"/>
            <a:ext cx="2605405" cy="2548255"/>
          </a:xfrm>
          <a:prstGeom prst="rect">
            <a:avLst/>
          </a:prstGeom>
          <a:noFill/>
        </p:spPr>
        <p:txBody>
          <a:bodyPr wrap="square" rtlCol="0">
            <a:noAutofit/>
          </a:bodyPr>
          <a:lstStyle/>
          <a:p>
            <a:r>
              <a:rPr lang="zh-CN" altLang="en-US" b="1" dirty="0">
                <a:sym typeface="+mn-ea"/>
              </a:rPr>
              <a:t>为中华民族谋复兴而呕心沥血建树的丰功伟绩，来自他那无私奉献、感人至深的崇高精神、高尚品德、伟大风范。 </a:t>
            </a:r>
            <a:endParaRPr lang="zh-CN" altLang="en-US" b="1"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p:cTn id="7" dur="500" fill="hold"/>
                                        <p:tgtEl>
                                          <p:spTgt spid="25"/>
                                        </p:tgtEl>
                                        <p:attrNameLst>
                                          <p:attrName>ppt_w</p:attrName>
                                        </p:attrNameLst>
                                      </p:cBhvr>
                                      <p:tavLst>
                                        <p:tav tm="0">
                                          <p:val>
                                            <p:fltVal val="0"/>
                                          </p:val>
                                        </p:tav>
                                        <p:tav tm="100000">
                                          <p:val>
                                            <p:strVal val="#ppt_w"/>
                                          </p:val>
                                        </p:tav>
                                      </p:tavLst>
                                    </p:anim>
                                    <p:anim calcmode="lin" valueType="num">
                                      <p:cBhvr>
                                        <p:cTn id="8" dur="500" fill="hold"/>
                                        <p:tgtEl>
                                          <p:spTgt spid="25"/>
                                        </p:tgtEl>
                                        <p:attrNameLst>
                                          <p:attrName>ppt_h</p:attrName>
                                        </p:attrNameLst>
                                      </p:cBhvr>
                                      <p:tavLst>
                                        <p:tav tm="0">
                                          <p:val>
                                            <p:fltVal val="0"/>
                                          </p:val>
                                        </p:tav>
                                        <p:tav tm="100000">
                                          <p:val>
                                            <p:strVal val="#ppt_h"/>
                                          </p:val>
                                        </p:tav>
                                      </p:tavLst>
                                    </p:anim>
                                    <p:animEffect transition="in" filter="fade">
                                      <p:cBhvr>
                                        <p:cTn id="9" dur="500"/>
                                        <p:tgtEl>
                                          <p:spTgt spid="25"/>
                                        </p:tgtEl>
                                      </p:cBhvr>
                                    </p:animEffect>
                                  </p:childTnLst>
                                </p:cTn>
                              </p:par>
                              <p:par>
                                <p:cTn id="10" presetID="35" presetClass="path" presetSubtype="0" accel="50000" decel="50000" fill="hold" nodeType="withEffect">
                                  <p:stCondLst>
                                    <p:cond delay="0"/>
                                  </p:stCondLst>
                                  <p:childTnLst>
                                    <p:animMotion origin="layout" path="M -6.25E-7 -3.7037E-6 L 0.18997 -3.7037E-6 " pathEditMode="relative" rAng="0" ptsTypes="AA">
                                      <p:cBhvr>
                                        <p:cTn id="11" dur="1000" spd="-100000" fill="hold"/>
                                        <p:tgtEl>
                                          <p:spTgt spid="25"/>
                                        </p:tgtEl>
                                        <p:attrNameLst>
                                          <p:attrName>ppt_x</p:attrName>
                                          <p:attrName>ppt_y</p:attrName>
                                        </p:attrNameLst>
                                      </p:cBhvr>
                                      <p:rCtr x="9492" y="0"/>
                                    </p:animMotion>
                                  </p:childTnLst>
                                </p:cTn>
                              </p:par>
                              <p:par>
                                <p:cTn id="12" presetID="53" presetClass="entr" presetSubtype="16" fill="hold" nodeType="withEffect">
                                  <p:stCondLst>
                                    <p:cond delay="0"/>
                                  </p:stCondLst>
                                  <p:childTnLst>
                                    <p:set>
                                      <p:cBhvr>
                                        <p:cTn id="13" dur="1" fill="hold">
                                          <p:stCondLst>
                                            <p:cond delay="0"/>
                                          </p:stCondLst>
                                        </p:cTn>
                                        <p:tgtEl>
                                          <p:spTgt spid="26"/>
                                        </p:tgtEl>
                                        <p:attrNameLst>
                                          <p:attrName>style.visibility</p:attrName>
                                        </p:attrNameLst>
                                      </p:cBhvr>
                                      <p:to>
                                        <p:strVal val="visible"/>
                                      </p:to>
                                    </p:set>
                                    <p:anim calcmode="lin" valueType="num">
                                      <p:cBhvr>
                                        <p:cTn id="14" dur="500" fill="hold"/>
                                        <p:tgtEl>
                                          <p:spTgt spid="26"/>
                                        </p:tgtEl>
                                        <p:attrNameLst>
                                          <p:attrName>ppt_w</p:attrName>
                                        </p:attrNameLst>
                                      </p:cBhvr>
                                      <p:tavLst>
                                        <p:tav tm="0">
                                          <p:val>
                                            <p:fltVal val="0"/>
                                          </p:val>
                                        </p:tav>
                                        <p:tav tm="100000">
                                          <p:val>
                                            <p:strVal val="#ppt_w"/>
                                          </p:val>
                                        </p:tav>
                                      </p:tavLst>
                                    </p:anim>
                                    <p:anim calcmode="lin" valueType="num">
                                      <p:cBhvr>
                                        <p:cTn id="15" dur="500" fill="hold"/>
                                        <p:tgtEl>
                                          <p:spTgt spid="26"/>
                                        </p:tgtEl>
                                        <p:attrNameLst>
                                          <p:attrName>ppt_h</p:attrName>
                                        </p:attrNameLst>
                                      </p:cBhvr>
                                      <p:tavLst>
                                        <p:tav tm="0">
                                          <p:val>
                                            <p:fltVal val="0"/>
                                          </p:val>
                                        </p:tav>
                                        <p:tav tm="100000">
                                          <p:val>
                                            <p:strVal val="#ppt_h"/>
                                          </p:val>
                                        </p:tav>
                                      </p:tavLst>
                                    </p:anim>
                                    <p:animEffect transition="in" filter="fade">
                                      <p:cBhvr>
                                        <p:cTn id="16" dur="500"/>
                                        <p:tgtEl>
                                          <p:spTgt spid="26"/>
                                        </p:tgtEl>
                                      </p:cBhvr>
                                    </p:animEffect>
                                  </p:childTnLst>
                                </p:cTn>
                              </p:par>
                              <p:par>
                                <p:cTn id="17" presetID="35" presetClass="path" presetSubtype="0" accel="50000" decel="50000" fill="hold" nodeType="withEffect">
                                  <p:stCondLst>
                                    <p:cond delay="0"/>
                                  </p:stCondLst>
                                  <p:childTnLst>
                                    <p:animMotion origin="layout" path="M 0 -3.7037E-6 L -0.41185 -3.7037E-6 " pathEditMode="relative" rAng="0" ptsTypes="AA">
                                      <p:cBhvr>
                                        <p:cTn id="18" dur="1000" spd="-100000" fill="hold"/>
                                        <p:tgtEl>
                                          <p:spTgt spid="26"/>
                                        </p:tgtEl>
                                        <p:attrNameLst>
                                          <p:attrName>ppt_x</p:attrName>
                                          <p:attrName>ppt_y</p:attrName>
                                        </p:attrNameLst>
                                      </p:cBhvr>
                                      <p:rCtr x="-20599" y="0"/>
                                    </p:animMotion>
                                  </p:childTnLst>
                                </p:cTn>
                              </p:par>
                            </p:childTnLst>
                          </p:cTn>
                        </p:par>
                        <p:par>
                          <p:cTn id="19" fill="hold">
                            <p:stCondLst>
                              <p:cond delay="500"/>
                            </p:stCondLst>
                            <p:childTnLst>
                              <p:par>
                                <p:cTn id="20" presetID="53" presetClass="entr" presetSubtype="16" fill="hold" grpId="0" nodeType="afterEffect">
                                  <p:stCondLst>
                                    <p:cond delay="0"/>
                                  </p:stCondLst>
                                  <p:childTnLst>
                                    <p:set>
                                      <p:cBhvr>
                                        <p:cTn id="21" dur="1" fill="hold">
                                          <p:stCondLst>
                                            <p:cond delay="0"/>
                                          </p:stCondLst>
                                        </p:cTn>
                                        <p:tgtEl>
                                          <p:spTgt spid="27"/>
                                        </p:tgtEl>
                                        <p:attrNameLst>
                                          <p:attrName>style.visibility</p:attrName>
                                        </p:attrNameLst>
                                      </p:cBhvr>
                                      <p:to>
                                        <p:strVal val="visible"/>
                                      </p:to>
                                    </p:set>
                                    <p:anim calcmode="lin" valueType="num">
                                      <p:cBhvr>
                                        <p:cTn id="22" dur="500" fill="hold"/>
                                        <p:tgtEl>
                                          <p:spTgt spid="27"/>
                                        </p:tgtEl>
                                        <p:attrNameLst>
                                          <p:attrName>ppt_w</p:attrName>
                                        </p:attrNameLst>
                                      </p:cBhvr>
                                      <p:tavLst>
                                        <p:tav tm="0">
                                          <p:val>
                                            <p:fltVal val="0"/>
                                          </p:val>
                                        </p:tav>
                                        <p:tav tm="100000">
                                          <p:val>
                                            <p:strVal val="#ppt_w"/>
                                          </p:val>
                                        </p:tav>
                                      </p:tavLst>
                                    </p:anim>
                                    <p:anim calcmode="lin" valueType="num">
                                      <p:cBhvr>
                                        <p:cTn id="23" dur="500" fill="hold"/>
                                        <p:tgtEl>
                                          <p:spTgt spid="27"/>
                                        </p:tgtEl>
                                        <p:attrNameLst>
                                          <p:attrName>ppt_h</p:attrName>
                                        </p:attrNameLst>
                                      </p:cBhvr>
                                      <p:tavLst>
                                        <p:tav tm="0">
                                          <p:val>
                                            <p:fltVal val="0"/>
                                          </p:val>
                                        </p:tav>
                                        <p:tav tm="100000">
                                          <p:val>
                                            <p:strVal val="#ppt_h"/>
                                          </p:val>
                                        </p:tav>
                                      </p:tavLst>
                                    </p:anim>
                                    <p:animEffect transition="in" filter="fade">
                                      <p:cBhvr>
                                        <p:cTn id="24" dur="500"/>
                                        <p:tgtEl>
                                          <p:spTgt spid="27"/>
                                        </p:tgtEl>
                                      </p:cBhvr>
                                    </p:animEffect>
                                  </p:childTnLst>
                                </p:cTn>
                              </p:par>
                              <p:par>
                                <p:cTn id="25" presetID="35" presetClass="path" presetSubtype="0" accel="50000" decel="50000" fill="hold" grpId="1" nodeType="withEffect">
                                  <p:stCondLst>
                                    <p:cond delay="0"/>
                                  </p:stCondLst>
                                  <p:childTnLst>
                                    <p:animMotion origin="layout" path="M -4.375E-6 -3.7037E-6 L -0.30273 -3.7037E-6 " pathEditMode="relative" rAng="0" ptsTypes="AA">
                                      <p:cBhvr>
                                        <p:cTn id="26" dur="1000" spd="-100000" fill="hold"/>
                                        <p:tgtEl>
                                          <p:spTgt spid="27"/>
                                        </p:tgtEl>
                                        <p:attrNameLst>
                                          <p:attrName>ppt_x</p:attrName>
                                          <p:attrName>ppt_y</p:attrName>
                                        </p:attrNameLst>
                                      </p:cBhvr>
                                      <p:rCtr x="-1514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7" grpId="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图片 24"/>
          <p:cNvPicPr>
            <a:picLocks noChangeAspect="1"/>
          </p:cNvPicPr>
          <p:nvPr/>
        </p:nvPicPr>
        <p:blipFill>
          <a:blip r:embed="rId3" cstate="screen"/>
          <a:stretch>
            <a:fillRect/>
          </a:stretch>
        </p:blipFill>
        <p:spPr>
          <a:xfrm>
            <a:off x="8088923" y="246423"/>
            <a:ext cx="4103077" cy="675011"/>
          </a:xfrm>
          <a:prstGeom prst="rect">
            <a:avLst/>
          </a:prstGeom>
        </p:spPr>
      </p:pic>
      <p:cxnSp>
        <p:nvCxnSpPr>
          <p:cNvPr id="26" name="直接连接符 25"/>
          <p:cNvCxnSpPr/>
          <p:nvPr/>
        </p:nvCxnSpPr>
        <p:spPr>
          <a:xfrm>
            <a:off x="0" y="921434"/>
            <a:ext cx="121920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7" name="矩形 26"/>
          <p:cNvSpPr/>
          <p:nvPr/>
        </p:nvSpPr>
        <p:spPr>
          <a:xfrm>
            <a:off x="1060287" y="353095"/>
            <a:ext cx="5262188" cy="461665"/>
          </a:xfrm>
          <a:prstGeom prst="rect">
            <a:avLst/>
          </a:prstGeom>
        </p:spPr>
        <p:txBody>
          <a:bodyPr wrap="square">
            <a:spAutoFit/>
          </a:bodyPr>
          <a:lstStyle/>
          <a:p>
            <a:r>
              <a:rPr lang="zh-CN" altLang="en-US" sz="2400" b="1" dirty="0">
                <a:solidFill>
                  <a:schemeClr val="accent1"/>
                </a:solidFill>
                <a:latin typeface="字体视界-NEW魏碑体" panose="02010601030101010101" pitchFamily="2" charset="-122"/>
                <a:ea typeface="字体视界-NEW魏碑体" panose="02010601030101010101" pitchFamily="2" charset="-122"/>
                <a:cs typeface="+mn-ea"/>
                <a:sym typeface="+mn-lt"/>
              </a:rPr>
              <a:t>第三部分：</a:t>
            </a:r>
            <a:r>
              <a:rPr lang="zh-CN" altLang="en-US" sz="2400" b="1" dirty="0">
                <a:solidFill>
                  <a:srgbClr val="C00000"/>
                </a:solidFill>
                <a:latin typeface="字体视界-NEW魏碑体" panose="02010601030101010101" pitchFamily="2" charset="-122"/>
                <a:ea typeface="字体视界-NEW魏碑体" panose="02010601030101010101" pitchFamily="2" charset="-122"/>
              </a:rPr>
              <a:t>周恩来总理与中国社会</a:t>
            </a:r>
          </a:p>
        </p:txBody>
      </p:sp>
      <p:sp>
        <p:nvSpPr>
          <p:cNvPr id="2" name="文本框 1"/>
          <p:cNvSpPr txBox="1"/>
          <p:nvPr/>
        </p:nvSpPr>
        <p:spPr>
          <a:xfrm>
            <a:off x="5463540" y="1157605"/>
            <a:ext cx="6302375" cy="3881120"/>
          </a:xfrm>
          <a:prstGeom prst="rect">
            <a:avLst/>
          </a:prstGeom>
          <a:noFill/>
        </p:spPr>
        <p:txBody>
          <a:bodyPr wrap="square" rtlCol="0">
            <a:noAutofit/>
          </a:bodyPr>
          <a:lstStyle/>
          <a:p>
            <a:r>
              <a:rPr lang="zh-CN" altLang="en-US" dirty="0"/>
              <a:t>       </a:t>
            </a:r>
            <a:r>
              <a:rPr lang="zh-CN" altLang="en-US" b="1" dirty="0"/>
              <a:t>周恩来同志等人半个多世纪奋斗的人生历程是中国共产党不忘初心、牢记使命历史的一个生动缩影，是新中国孕育、诞生、成长和取得崇高国际威望历史的一个生动缩影，是中国人民在自己选择的革命和建设道路上艰辛探索、不断开拓、凯歌行进历史的一个生动缩影。周恩来同志是近代以来中华民族的一颗璀璨巨星，是中国共产党人的一面不朽旗帜。周恩来同志的崇高精神、高尚品德、伟大风范，感召和哺育着一代又一代中国共产党人。周恩来同志身上展现出来的中国共产党人的崇高精神，是历史的，也是时代的，将激励我们在新时代坚持和发展中国特色社会主义征程上奋勇前进。</a:t>
            </a:r>
          </a:p>
        </p:txBody>
      </p:sp>
      <p:pic>
        <p:nvPicPr>
          <p:cNvPr id="107" name="图片 106"/>
          <p:cNvPicPr/>
          <p:nvPr/>
        </p:nvPicPr>
        <p:blipFill>
          <a:blip r:embed="rId4"/>
          <a:stretch>
            <a:fillRect/>
          </a:stretch>
        </p:blipFill>
        <p:spPr>
          <a:xfrm>
            <a:off x="1016635" y="1157605"/>
            <a:ext cx="4000500" cy="5080000"/>
          </a:xfrm>
          <a:prstGeom prst="rect">
            <a:avLst/>
          </a:prstGeom>
          <a:noFill/>
          <a:ln w="9525">
            <a:noFill/>
          </a:ln>
        </p:spPr>
      </p:pic>
      <p:pic>
        <p:nvPicPr>
          <p:cNvPr id="109" name="图片 108"/>
          <p:cNvPicPr/>
          <p:nvPr/>
        </p:nvPicPr>
        <p:blipFill>
          <a:blip r:embed="rId5"/>
          <a:stretch>
            <a:fillRect/>
          </a:stretch>
        </p:blipFill>
        <p:spPr>
          <a:xfrm>
            <a:off x="5963285" y="4067175"/>
            <a:ext cx="4603750" cy="2590800"/>
          </a:xfrm>
          <a:prstGeom prst="rect">
            <a:avLst/>
          </a:prstGeom>
          <a:noFill/>
          <a:ln w="9525">
            <a:noFill/>
          </a:ln>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p:cTn id="7" dur="500" fill="hold"/>
                                        <p:tgtEl>
                                          <p:spTgt spid="25"/>
                                        </p:tgtEl>
                                        <p:attrNameLst>
                                          <p:attrName>ppt_w</p:attrName>
                                        </p:attrNameLst>
                                      </p:cBhvr>
                                      <p:tavLst>
                                        <p:tav tm="0">
                                          <p:val>
                                            <p:fltVal val="0"/>
                                          </p:val>
                                        </p:tav>
                                        <p:tav tm="100000">
                                          <p:val>
                                            <p:strVal val="#ppt_w"/>
                                          </p:val>
                                        </p:tav>
                                      </p:tavLst>
                                    </p:anim>
                                    <p:anim calcmode="lin" valueType="num">
                                      <p:cBhvr>
                                        <p:cTn id="8" dur="500" fill="hold"/>
                                        <p:tgtEl>
                                          <p:spTgt spid="25"/>
                                        </p:tgtEl>
                                        <p:attrNameLst>
                                          <p:attrName>ppt_h</p:attrName>
                                        </p:attrNameLst>
                                      </p:cBhvr>
                                      <p:tavLst>
                                        <p:tav tm="0">
                                          <p:val>
                                            <p:fltVal val="0"/>
                                          </p:val>
                                        </p:tav>
                                        <p:tav tm="100000">
                                          <p:val>
                                            <p:strVal val="#ppt_h"/>
                                          </p:val>
                                        </p:tav>
                                      </p:tavLst>
                                    </p:anim>
                                    <p:animEffect transition="in" filter="fade">
                                      <p:cBhvr>
                                        <p:cTn id="9" dur="500"/>
                                        <p:tgtEl>
                                          <p:spTgt spid="25"/>
                                        </p:tgtEl>
                                      </p:cBhvr>
                                    </p:animEffect>
                                  </p:childTnLst>
                                </p:cTn>
                              </p:par>
                              <p:par>
                                <p:cTn id="10" presetID="35" presetClass="path" presetSubtype="0" accel="50000" decel="50000" fill="hold" nodeType="withEffect">
                                  <p:stCondLst>
                                    <p:cond delay="0"/>
                                  </p:stCondLst>
                                  <p:childTnLst>
                                    <p:animMotion origin="layout" path="M -6.25E-7 -3.7037E-6 L 0.18997 -3.7037E-6 " pathEditMode="relative" rAng="0" ptsTypes="AA">
                                      <p:cBhvr>
                                        <p:cTn id="11" dur="1000" spd="-100000" fill="hold"/>
                                        <p:tgtEl>
                                          <p:spTgt spid="25"/>
                                        </p:tgtEl>
                                        <p:attrNameLst>
                                          <p:attrName>ppt_x</p:attrName>
                                          <p:attrName>ppt_y</p:attrName>
                                        </p:attrNameLst>
                                      </p:cBhvr>
                                      <p:rCtr x="9492" y="0"/>
                                    </p:animMotion>
                                  </p:childTnLst>
                                </p:cTn>
                              </p:par>
                              <p:par>
                                <p:cTn id="12" presetID="53" presetClass="entr" presetSubtype="16" fill="hold" nodeType="withEffect">
                                  <p:stCondLst>
                                    <p:cond delay="0"/>
                                  </p:stCondLst>
                                  <p:childTnLst>
                                    <p:set>
                                      <p:cBhvr>
                                        <p:cTn id="13" dur="1" fill="hold">
                                          <p:stCondLst>
                                            <p:cond delay="0"/>
                                          </p:stCondLst>
                                        </p:cTn>
                                        <p:tgtEl>
                                          <p:spTgt spid="26"/>
                                        </p:tgtEl>
                                        <p:attrNameLst>
                                          <p:attrName>style.visibility</p:attrName>
                                        </p:attrNameLst>
                                      </p:cBhvr>
                                      <p:to>
                                        <p:strVal val="visible"/>
                                      </p:to>
                                    </p:set>
                                    <p:anim calcmode="lin" valueType="num">
                                      <p:cBhvr>
                                        <p:cTn id="14" dur="500" fill="hold"/>
                                        <p:tgtEl>
                                          <p:spTgt spid="26"/>
                                        </p:tgtEl>
                                        <p:attrNameLst>
                                          <p:attrName>ppt_w</p:attrName>
                                        </p:attrNameLst>
                                      </p:cBhvr>
                                      <p:tavLst>
                                        <p:tav tm="0">
                                          <p:val>
                                            <p:fltVal val="0"/>
                                          </p:val>
                                        </p:tav>
                                        <p:tav tm="100000">
                                          <p:val>
                                            <p:strVal val="#ppt_w"/>
                                          </p:val>
                                        </p:tav>
                                      </p:tavLst>
                                    </p:anim>
                                    <p:anim calcmode="lin" valueType="num">
                                      <p:cBhvr>
                                        <p:cTn id="15" dur="500" fill="hold"/>
                                        <p:tgtEl>
                                          <p:spTgt spid="26"/>
                                        </p:tgtEl>
                                        <p:attrNameLst>
                                          <p:attrName>ppt_h</p:attrName>
                                        </p:attrNameLst>
                                      </p:cBhvr>
                                      <p:tavLst>
                                        <p:tav tm="0">
                                          <p:val>
                                            <p:fltVal val="0"/>
                                          </p:val>
                                        </p:tav>
                                        <p:tav tm="100000">
                                          <p:val>
                                            <p:strVal val="#ppt_h"/>
                                          </p:val>
                                        </p:tav>
                                      </p:tavLst>
                                    </p:anim>
                                    <p:animEffect transition="in" filter="fade">
                                      <p:cBhvr>
                                        <p:cTn id="16" dur="500"/>
                                        <p:tgtEl>
                                          <p:spTgt spid="26"/>
                                        </p:tgtEl>
                                      </p:cBhvr>
                                    </p:animEffect>
                                  </p:childTnLst>
                                </p:cTn>
                              </p:par>
                              <p:par>
                                <p:cTn id="17" presetID="35" presetClass="path" presetSubtype="0" accel="50000" decel="50000" fill="hold" nodeType="withEffect">
                                  <p:stCondLst>
                                    <p:cond delay="0"/>
                                  </p:stCondLst>
                                  <p:childTnLst>
                                    <p:animMotion origin="layout" path="M 0 -3.7037E-6 L -0.41185 -3.7037E-6 " pathEditMode="relative" rAng="0" ptsTypes="AA">
                                      <p:cBhvr>
                                        <p:cTn id="18" dur="1000" spd="-100000" fill="hold"/>
                                        <p:tgtEl>
                                          <p:spTgt spid="26"/>
                                        </p:tgtEl>
                                        <p:attrNameLst>
                                          <p:attrName>ppt_x</p:attrName>
                                          <p:attrName>ppt_y</p:attrName>
                                        </p:attrNameLst>
                                      </p:cBhvr>
                                      <p:rCtr x="-20599" y="0"/>
                                    </p:animMotion>
                                  </p:childTnLst>
                                </p:cTn>
                              </p:par>
                            </p:childTnLst>
                          </p:cTn>
                        </p:par>
                        <p:par>
                          <p:cTn id="19" fill="hold">
                            <p:stCondLst>
                              <p:cond delay="500"/>
                            </p:stCondLst>
                            <p:childTnLst>
                              <p:par>
                                <p:cTn id="20" presetID="53" presetClass="entr" presetSubtype="16" fill="hold" grpId="0" nodeType="afterEffect">
                                  <p:stCondLst>
                                    <p:cond delay="0"/>
                                  </p:stCondLst>
                                  <p:childTnLst>
                                    <p:set>
                                      <p:cBhvr>
                                        <p:cTn id="21" dur="1" fill="hold">
                                          <p:stCondLst>
                                            <p:cond delay="0"/>
                                          </p:stCondLst>
                                        </p:cTn>
                                        <p:tgtEl>
                                          <p:spTgt spid="27"/>
                                        </p:tgtEl>
                                        <p:attrNameLst>
                                          <p:attrName>style.visibility</p:attrName>
                                        </p:attrNameLst>
                                      </p:cBhvr>
                                      <p:to>
                                        <p:strVal val="visible"/>
                                      </p:to>
                                    </p:set>
                                    <p:anim calcmode="lin" valueType="num">
                                      <p:cBhvr>
                                        <p:cTn id="22" dur="500" fill="hold"/>
                                        <p:tgtEl>
                                          <p:spTgt spid="27"/>
                                        </p:tgtEl>
                                        <p:attrNameLst>
                                          <p:attrName>ppt_w</p:attrName>
                                        </p:attrNameLst>
                                      </p:cBhvr>
                                      <p:tavLst>
                                        <p:tav tm="0">
                                          <p:val>
                                            <p:fltVal val="0"/>
                                          </p:val>
                                        </p:tav>
                                        <p:tav tm="100000">
                                          <p:val>
                                            <p:strVal val="#ppt_w"/>
                                          </p:val>
                                        </p:tav>
                                      </p:tavLst>
                                    </p:anim>
                                    <p:anim calcmode="lin" valueType="num">
                                      <p:cBhvr>
                                        <p:cTn id="23" dur="500" fill="hold"/>
                                        <p:tgtEl>
                                          <p:spTgt spid="27"/>
                                        </p:tgtEl>
                                        <p:attrNameLst>
                                          <p:attrName>ppt_h</p:attrName>
                                        </p:attrNameLst>
                                      </p:cBhvr>
                                      <p:tavLst>
                                        <p:tav tm="0">
                                          <p:val>
                                            <p:fltVal val="0"/>
                                          </p:val>
                                        </p:tav>
                                        <p:tav tm="100000">
                                          <p:val>
                                            <p:strVal val="#ppt_h"/>
                                          </p:val>
                                        </p:tav>
                                      </p:tavLst>
                                    </p:anim>
                                    <p:animEffect transition="in" filter="fade">
                                      <p:cBhvr>
                                        <p:cTn id="24" dur="500"/>
                                        <p:tgtEl>
                                          <p:spTgt spid="27"/>
                                        </p:tgtEl>
                                      </p:cBhvr>
                                    </p:animEffect>
                                  </p:childTnLst>
                                </p:cTn>
                              </p:par>
                              <p:par>
                                <p:cTn id="25" presetID="35" presetClass="path" presetSubtype="0" accel="50000" decel="50000" fill="hold" grpId="1" nodeType="withEffect">
                                  <p:stCondLst>
                                    <p:cond delay="0"/>
                                  </p:stCondLst>
                                  <p:childTnLst>
                                    <p:animMotion origin="layout" path="M -4.375E-6 -3.7037E-6 L -0.30273 -3.7037E-6 " pathEditMode="relative" rAng="0" ptsTypes="AA">
                                      <p:cBhvr>
                                        <p:cTn id="26" dur="1000" spd="-100000" fill="hold"/>
                                        <p:tgtEl>
                                          <p:spTgt spid="27"/>
                                        </p:tgtEl>
                                        <p:attrNameLst>
                                          <p:attrName>ppt_x</p:attrName>
                                          <p:attrName>ppt_y</p:attrName>
                                        </p:attrNameLst>
                                      </p:cBhvr>
                                      <p:rCtr x="-1514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7" grpId="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3" cstate="screen"/>
          <a:stretch>
            <a:fillRect/>
          </a:stretch>
        </p:blipFill>
        <p:spPr>
          <a:xfrm>
            <a:off x="5382578" y="5737759"/>
            <a:ext cx="6809422" cy="1120241"/>
          </a:xfrm>
          <a:prstGeom prst="rect">
            <a:avLst/>
          </a:prstGeom>
        </p:spPr>
      </p:pic>
      <p:pic>
        <p:nvPicPr>
          <p:cNvPr id="19" name="图片 18"/>
          <p:cNvPicPr>
            <a:picLocks noChangeAspect="1"/>
          </p:cNvPicPr>
          <p:nvPr/>
        </p:nvPicPr>
        <p:blipFill>
          <a:blip r:embed="rId4" cstate="screen"/>
          <a:stretch>
            <a:fillRect/>
          </a:stretch>
        </p:blipFill>
        <p:spPr>
          <a:xfrm>
            <a:off x="0" y="4049960"/>
            <a:ext cx="4460240" cy="2788989"/>
          </a:xfrm>
          <a:prstGeom prst="rect">
            <a:avLst/>
          </a:prstGeom>
        </p:spPr>
      </p:pic>
      <p:pic>
        <p:nvPicPr>
          <p:cNvPr id="74" name="图片 73"/>
          <p:cNvPicPr>
            <a:picLocks noChangeAspect="1"/>
          </p:cNvPicPr>
          <p:nvPr/>
        </p:nvPicPr>
        <p:blipFill>
          <a:blip r:embed="rId5"/>
          <a:stretch>
            <a:fillRect/>
          </a:stretch>
        </p:blipFill>
        <p:spPr>
          <a:xfrm rot="20902340" flipH="1">
            <a:off x="686735" y="622930"/>
            <a:ext cx="3143832" cy="1309931"/>
          </a:xfrm>
          <a:prstGeom prst="rect">
            <a:avLst/>
          </a:prstGeom>
        </p:spPr>
      </p:pic>
      <p:sp>
        <p:nvSpPr>
          <p:cNvPr id="75" name="文本框 74"/>
          <p:cNvSpPr txBox="1"/>
          <p:nvPr/>
        </p:nvSpPr>
        <p:spPr>
          <a:xfrm>
            <a:off x="4243494" y="1880750"/>
            <a:ext cx="3877985" cy="1200329"/>
          </a:xfrm>
          <a:prstGeom prst="rect">
            <a:avLst/>
          </a:prstGeom>
          <a:noFill/>
        </p:spPr>
        <p:txBody>
          <a:bodyPr wrap="none" rtlCol="0">
            <a:spAutoFit/>
          </a:bodyPr>
          <a:lstStyle/>
          <a:p>
            <a:r>
              <a:rPr lang="zh-CN" altLang="en-US" sz="7200" b="1" dirty="0">
                <a:solidFill>
                  <a:srgbClr val="C00000"/>
                </a:solidFill>
                <a:latin typeface="字体视界-NEW魏碑体" panose="02010601030101010101" pitchFamily="2" charset="-122"/>
                <a:ea typeface="字体视界-NEW魏碑体" panose="02010601030101010101" pitchFamily="2" charset="-122"/>
                <a:cs typeface="+mn-ea"/>
                <a:sym typeface="+mn-lt"/>
              </a:rPr>
              <a:t>第四部分</a:t>
            </a:r>
          </a:p>
        </p:txBody>
      </p:sp>
      <p:sp>
        <p:nvSpPr>
          <p:cNvPr id="78" name="文本框 77"/>
          <p:cNvSpPr txBox="1"/>
          <p:nvPr/>
        </p:nvSpPr>
        <p:spPr>
          <a:xfrm>
            <a:off x="4469330" y="3393756"/>
            <a:ext cx="3262432" cy="830997"/>
          </a:xfrm>
          <a:prstGeom prst="rect">
            <a:avLst/>
          </a:prstGeom>
          <a:noFill/>
        </p:spPr>
        <p:txBody>
          <a:bodyPr wrap="none" rtlCol="0">
            <a:spAutoFit/>
          </a:bodyPr>
          <a:lstStyle/>
          <a:p>
            <a:pPr algn="ctr"/>
            <a:r>
              <a:rPr lang="zh-CN" altLang="en-US" sz="4800" b="1" dirty="0">
                <a:solidFill>
                  <a:srgbClr val="C00000"/>
                </a:solidFill>
                <a:latin typeface="字体视界-NEW魏碑体" panose="02010601030101010101" pitchFamily="2" charset="-122"/>
                <a:ea typeface="字体视界-NEW魏碑体" panose="02010601030101010101" pitchFamily="2" charset="-122"/>
              </a:rPr>
              <a:t>思考与体会</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nodeType="after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wipe(left)">
                                      <p:cBhvr>
                                        <p:cTn id="13" dur="500"/>
                                        <p:tgtEl>
                                          <p:spTgt spid="19"/>
                                        </p:tgtEl>
                                      </p:cBhvr>
                                    </p:animEffect>
                                  </p:childTnLst>
                                </p:cTn>
                              </p:par>
                            </p:childTnLst>
                          </p:cTn>
                        </p:par>
                        <p:par>
                          <p:cTn id="14" fill="hold">
                            <p:stCondLst>
                              <p:cond delay="1500"/>
                            </p:stCondLst>
                            <p:childTnLst>
                              <p:par>
                                <p:cTn id="15" presetID="53" presetClass="entr" presetSubtype="16" fill="hold" nodeType="afterEffect">
                                  <p:stCondLst>
                                    <p:cond delay="0"/>
                                  </p:stCondLst>
                                  <p:childTnLst>
                                    <p:set>
                                      <p:cBhvr>
                                        <p:cTn id="16" dur="1" fill="hold">
                                          <p:stCondLst>
                                            <p:cond delay="0"/>
                                          </p:stCondLst>
                                        </p:cTn>
                                        <p:tgtEl>
                                          <p:spTgt spid="74"/>
                                        </p:tgtEl>
                                        <p:attrNameLst>
                                          <p:attrName>style.visibility</p:attrName>
                                        </p:attrNameLst>
                                      </p:cBhvr>
                                      <p:to>
                                        <p:strVal val="visible"/>
                                      </p:to>
                                    </p:set>
                                    <p:anim calcmode="lin" valueType="num">
                                      <p:cBhvr>
                                        <p:cTn id="17" dur="1000" fill="hold"/>
                                        <p:tgtEl>
                                          <p:spTgt spid="74"/>
                                        </p:tgtEl>
                                        <p:attrNameLst>
                                          <p:attrName>ppt_w</p:attrName>
                                        </p:attrNameLst>
                                      </p:cBhvr>
                                      <p:tavLst>
                                        <p:tav tm="0">
                                          <p:val>
                                            <p:fltVal val="0"/>
                                          </p:val>
                                        </p:tav>
                                        <p:tav tm="100000">
                                          <p:val>
                                            <p:strVal val="#ppt_w"/>
                                          </p:val>
                                        </p:tav>
                                      </p:tavLst>
                                    </p:anim>
                                    <p:anim calcmode="lin" valueType="num">
                                      <p:cBhvr>
                                        <p:cTn id="18" dur="1000" fill="hold"/>
                                        <p:tgtEl>
                                          <p:spTgt spid="74"/>
                                        </p:tgtEl>
                                        <p:attrNameLst>
                                          <p:attrName>ppt_h</p:attrName>
                                        </p:attrNameLst>
                                      </p:cBhvr>
                                      <p:tavLst>
                                        <p:tav tm="0">
                                          <p:val>
                                            <p:fltVal val="0"/>
                                          </p:val>
                                        </p:tav>
                                        <p:tav tm="100000">
                                          <p:val>
                                            <p:strVal val="#ppt_h"/>
                                          </p:val>
                                        </p:tav>
                                      </p:tavLst>
                                    </p:anim>
                                    <p:animEffect transition="in" filter="fade">
                                      <p:cBhvr>
                                        <p:cTn id="19" dur="1000"/>
                                        <p:tgtEl>
                                          <p:spTgt spid="74"/>
                                        </p:tgtEl>
                                      </p:cBhvr>
                                    </p:animEffect>
                                  </p:childTnLst>
                                </p:cTn>
                              </p:par>
                              <p:par>
                                <p:cTn id="20" presetID="35" presetClass="path" presetSubtype="0" accel="50000" decel="50000" fill="hold" nodeType="withEffect">
                                  <p:stCondLst>
                                    <p:cond delay="0"/>
                                  </p:stCondLst>
                                  <p:childTnLst>
                                    <p:animMotion origin="layout" path="M 3.54167E-6 -2.59259E-6 L 0.31575 -2.59259E-6 " pathEditMode="relative" rAng="0" ptsTypes="AA">
                                      <p:cBhvr>
                                        <p:cTn id="21" dur="2000" spd="-100000" fill="hold"/>
                                        <p:tgtEl>
                                          <p:spTgt spid="74"/>
                                        </p:tgtEl>
                                        <p:attrNameLst>
                                          <p:attrName>ppt_x</p:attrName>
                                          <p:attrName>ppt_y</p:attrName>
                                        </p:attrNameLst>
                                      </p:cBhvr>
                                      <p:rCtr x="15781" y="0"/>
                                    </p:animMotion>
                                  </p:childTnLst>
                                </p:cTn>
                              </p:par>
                              <p:par>
                                <p:cTn id="22" presetID="53" presetClass="entr" presetSubtype="16" fill="hold" grpId="0" nodeType="withEffect">
                                  <p:stCondLst>
                                    <p:cond delay="400"/>
                                  </p:stCondLst>
                                  <p:childTnLst>
                                    <p:set>
                                      <p:cBhvr>
                                        <p:cTn id="23" dur="1" fill="hold">
                                          <p:stCondLst>
                                            <p:cond delay="0"/>
                                          </p:stCondLst>
                                        </p:cTn>
                                        <p:tgtEl>
                                          <p:spTgt spid="75"/>
                                        </p:tgtEl>
                                        <p:attrNameLst>
                                          <p:attrName>style.visibility</p:attrName>
                                        </p:attrNameLst>
                                      </p:cBhvr>
                                      <p:to>
                                        <p:strVal val="visible"/>
                                      </p:to>
                                    </p:set>
                                    <p:anim calcmode="lin" valueType="num">
                                      <p:cBhvr>
                                        <p:cTn id="24" dur="250" fill="hold"/>
                                        <p:tgtEl>
                                          <p:spTgt spid="75"/>
                                        </p:tgtEl>
                                        <p:attrNameLst>
                                          <p:attrName>ppt_w</p:attrName>
                                        </p:attrNameLst>
                                      </p:cBhvr>
                                      <p:tavLst>
                                        <p:tav tm="0">
                                          <p:val>
                                            <p:fltVal val="0"/>
                                          </p:val>
                                        </p:tav>
                                        <p:tav tm="100000">
                                          <p:val>
                                            <p:strVal val="#ppt_w"/>
                                          </p:val>
                                        </p:tav>
                                      </p:tavLst>
                                    </p:anim>
                                    <p:anim calcmode="lin" valueType="num">
                                      <p:cBhvr>
                                        <p:cTn id="25" dur="250" fill="hold"/>
                                        <p:tgtEl>
                                          <p:spTgt spid="75"/>
                                        </p:tgtEl>
                                        <p:attrNameLst>
                                          <p:attrName>ppt_h</p:attrName>
                                        </p:attrNameLst>
                                      </p:cBhvr>
                                      <p:tavLst>
                                        <p:tav tm="0">
                                          <p:val>
                                            <p:fltVal val="0"/>
                                          </p:val>
                                        </p:tav>
                                        <p:tav tm="100000">
                                          <p:val>
                                            <p:strVal val="#ppt_h"/>
                                          </p:val>
                                        </p:tav>
                                      </p:tavLst>
                                    </p:anim>
                                    <p:animEffect transition="in" filter="fade">
                                      <p:cBhvr>
                                        <p:cTn id="26" dur="250"/>
                                        <p:tgtEl>
                                          <p:spTgt spid="75"/>
                                        </p:tgtEl>
                                      </p:cBhvr>
                                    </p:animEffect>
                                  </p:childTnLst>
                                </p:cTn>
                              </p:par>
                              <p:par>
                                <p:cTn id="27" presetID="6" presetClass="emph" presetSubtype="0" decel="100000" fill="hold" grpId="1" nodeType="withEffect">
                                  <p:stCondLst>
                                    <p:cond delay="600"/>
                                  </p:stCondLst>
                                  <p:childTnLst>
                                    <p:animScale>
                                      <p:cBhvr>
                                        <p:cTn id="28" dur="250" fill="hold"/>
                                        <p:tgtEl>
                                          <p:spTgt spid="75"/>
                                        </p:tgtEl>
                                      </p:cBhvr>
                                      <p:by x="120000" y="120000"/>
                                    </p:animScale>
                                  </p:childTnLst>
                                </p:cTn>
                              </p:par>
                              <p:par>
                                <p:cTn id="29" presetID="6" presetClass="emph" presetSubtype="0" decel="100000" fill="hold" grpId="2" nodeType="withEffect">
                                  <p:stCondLst>
                                    <p:cond delay="800"/>
                                  </p:stCondLst>
                                  <p:childTnLst>
                                    <p:animScale>
                                      <p:cBhvr>
                                        <p:cTn id="30" dur="250" fill="hold"/>
                                        <p:tgtEl>
                                          <p:spTgt spid="75"/>
                                        </p:tgtEl>
                                      </p:cBhvr>
                                      <p:by x="83000" y="83000"/>
                                    </p:animScale>
                                  </p:childTnLst>
                                </p:cTn>
                              </p:par>
                              <p:par>
                                <p:cTn id="31" presetID="53" presetClass="entr" presetSubtype="16" fill="hold" grpId="0" nodeType="withEffect">
                                  <p:stCondLst>
                                    <p:cond delay="400"/>
                                  </p:stCondLst>
                                  <p:childTnLst>
                                    <p:set>
                                      <p:cBhvr>
                                        <p:cTn id="32" dur="1" fill="hold">
                                          <p:stCondLst>
                                            <p:cond delay="0"/>
                                          </p:stCondLst>
                                        </p:cTn>
                                        <p:tgtEl>
                                          <p:spTgt spid="78"/>
                                        </p:tgtEl>
                                        <p:attrNameLst>
                                          <p:attrName>style.visibility</p:attrName>
                                        </p:attrNameLst>
                                      </p:cBhvr>
                                      <p:to>
                                        <p:strVal val="visible"/>
                                      </p:to>
                                    </p:set>
                                    <p:anim calcmode="lin" valueType="num">
                                      <p:cBhvr>
                                        <p:cTn id="33" dur="250" fill="hold"/>
                                        <p:tgtEl>
                                          <p:spTgt spid="78"/>
                                        </p:tgtEl>
                                        <p:attrNameLst>
                                          <p:attrName>ppt_w</p:attrName>
                                        </p:attrNameLst>
                                      </p:cBhvr>
                                      <p:tavLst>
                                        <p:tav tm="0">
                                          <p:val>
                                            <p:fltVal val="0"/>
                                          </p:val>
                                        </p:tav>
                                        <p:tav tm="100000">
                                          <p:val>
                                            <p:strVal val="#ppt_w"/>
                                          </p:val>
                                        </p:tav>
                                      </p:tavLst>
                                    </p:anim>
                                    <p:anim calcmode="lin" valueType="num">
                                      <p:cBhvr>
                                        <p:cTn id="34" dur="250" fill="hold"/>
                                        <p:tgtEl>
                                          <p:spTgt spid="78"/>
                                        </p:tgtEl>
                                        <p:attrNameLst>
                                          <p:attrName>ppt_h</p:attrName>
                                        </p:attrNameLst>
                                      </p:cBhvr>
                                      <p:tavLst>
                                        <p:tav tm="0">
                                          <p:val>
                                            <p:fltVal val="0"/>
                                          </p:val>
                                        </p:tav>
                                        <p:tav tm="100000">
                                          <p:val>
                                            <p:strVal val="#ppt_h"/>
                                          </p:val>
                                        </p:tav>
                                      </p:tavLst>
                                    </p:anim>
                                    <p:animEffect transition="in" filter="fade">
                                      <p:cBhvr>
                                        <p:cTn id="35" dur="250"/>
                                        <p:tgtEl>
                                          <p:spTgt spid="78"/>
                                        </p:tgtEl>
                                      </p:cBhvr>
                                    </p:animEffect>
                                  </p:childTnLst>
                                </p:cTn>
                              </p:par>
                              <p:par>
                                <p:cTn id="36" presetID="6" presetClass="emph" presetSubtype="0" decel="100000" fill="hold" grpId="1" nodeType="withEffect">
                                  <p:stCondLst>
                                    <p:cond delay="600"/>
                                  </p:stCondLst>
                                  <p:childTnLst>
                                    <p:animScale>
                                      <p:cBhvr>
                                        <p:cTn id="37" dur="250" fill="hold"/>
                                        <p:tgtEl>
                                          <p:spTgt spid="78"/>
                                        </p:tgtEl>
                                      </p:cBhvr>
                                      <p:by x="120000" y="120000"/>
                                    </p:animScale>
                                  </p:childTnLst>
                                </p:cTn>
                              </p:par>
                              <p:par>
                                <p:cTn id="38" presetID="6" presetClass="emph" presetSubtype="0" decel="100000" fill="hold" grpId="2" nodeType="withEffect">
                                  <p:stCondLst>
                                    <p:cond delay="800"/>
                                  </p:stCondLst>
                                  <p:childTnLst>
                                    <p:animScale>
                                      <p:cBhvr>
                                        <p:cTn id="39" dur="250" fill="hold"/>
                                        <p:tgtEl>
                                          <p:spTgt spid="78"/>
                                        </p:tgtEl>
                                      </p:cBhvr>
                                      <p:by x="83000" y="83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 grpId="0"/>
      <p:bldP spid="75" grpId="1"/>
      <p:bldP spid="75" grpId="2"/>
      <p:bldP spid="78" grpId="0"/>
      <p:bldP spid="78" grpId="1"/>
      <p:bldP spid="78" grpId="2"/>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图片 24"/>
          <p:cNvPicPr>
            <a:picLocks noChangeAspect="1"/>
          </p:cNvPicPr>
          <p:nvPr/>
        </p:nvPicPr>
        <p:blipFill>
          <a:blip r:embed="rId3" cstate="screen"/>
          <a:stretch>
            <a:fillRect/>
          </a:stretch>
        </p:blipFill>
        <p:spPr>
          <a:xfrm>
            <a:off x="8088923" y="246423"/>
            <a:ext cx="4103077" cy="675011"/>
          </a:xfrm>
          <a:prstGeom prst="rect">
            <a:avLst/>
          </a:prstGeom>
        </p:spPr>
      </p:pic>
      <p:cxnSp>
        <p:nvCxnSpPr>
          <p:cNvPr id="26" name="直接连接符 25"/>
          <p:cNvCxnSpPr/>
          <p:nvPr/>
        </p:nvCxnSpPr>
        <p:spPr>
          <a:xfrm>
            <a:off x="0" y="921434"/>
            <a:ext cx="121920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7" name="矩形 26"/>
          <p:cNvSpPr/>
          <p:nvPr/>
        </p:nvSpPr>
        <p:spPr>
          <a:xfrm>
            <a:off x="1060286" y="353095"/>
            <a:ext cx="7204657" cy="461665"/>
          </a:xfrm>
          <a:prstGeom prst="rect">
            <a:avLst/>
          </a:prstGeom>
        </p:spPr>
        <p:txBody>
          <a:bodyPr wrap="square">
            <a:spAutoFit/>
          </a:bodyPr>
          <a:lstStyle/>
          <a:p>
            <a:r>
              <a:rPr lang="zh-CN" altLang="en-US" sz="2400" b="1" dirty="0">
                <a:solidFill>
                  <a:schemeClr val="accent1"/>
                </a:solidFill>
                <a:latin typeface="字体视界-NEW魏碑体" panose="02010601030101010101" pitchFamily="2" charset="-122"/>
                <a:ea typeface="字体视界-NEW魏碑体" panose="02010601030101010101" pitchFamily="2" charset="-122"/>
                <a:cs typeface="+mn-ea"/>
                <a:sym typeface="+mn-lt"/>
              </a:rPr>
              <a:t>第四部分：思考与体会</a:t>
            </a:r>
            <a:endParaRPr lang="zh-CN" altLang="en-US" sz="2400" b="1" dirty="0">
              <a:solidFill>
                <a:srgbClr val="C00000"/>
              </a:solidFill>
              <a:latin typeface="字体视界-NEW魏碑体" panose="02010601030101010101" pitchFamily="2" charset="-122"/>
              <a:ea typeface="字体视界-NEW魏碑体" panose="02010601030101010101" pitchFamily="2" charset="-122"/>
            </a:endParaRPr>
          </a:p>
        </p:txBody>
      </p:sp>
      <p:sp>
        <p:nvSpPr>
          <p:cNvPr id="2" name="文本框 1"/>
          <p:cNvSpPr txBox="1"/>
          <p:nvPr/>
        </p:nvSpPr>
        <p:spPr>
          <a:xfrm>
            <a:off x="491490" y="1235075"/>
            <a:ext cx="5604510" cy="4994275"/>
          </a:xfrm>
          <a:prstGeom prst="rect">
            <a:avLst/>
          </a:prstGeom>
          <a:noFill/>
        </p:spPr>
        <p:txBody>
          <a:bodyPr wrap="square" rtlCol="0">
            <a:noAutofit/>
          </a:bodyPr>
          <a:lstStyle/>
          <a:p>
            <a:r>
              <a:rPr lang="zh-CN" altLang="en-US" b="1" dirty="0">
                <a:latin typeface="仿宋" panose="02010609060101010101" charset="-122"/>
                <a:ea typeface="仿宋" panose="02010609060101010101" charset="-122"/>
              </a:rPr>
              <a:t>    周恩来同志半个多世纪奋斗的人生历程是中国共产党不忘初心、牢记使命历史的一个生动缩影，是新中国孕育、诞生、成长和取得崇高国际威望历史的一个生动缩影，是中国人民在自己选择的革命和建设道路上艰辛探索、不断开拓、凯歌行进历史的一个生动缩影。周恩来同志是近代以来中华民族的一颗璀璨巨星，是中国共产党人的一面不朽旗帜。周恩来同志的崇高精神、高尚品德、伟大风范，感召和哺育着一代又一代中国共产党人。周恩来同志身上展现出来的中国共产党人的崇高精神，是历史的，也是时代的，将激励一代又一代的中国青年在新时代坚持和发展中国特色社会主义征程上奋勇前进。</a:t>
            </a:r>
          </a:p>
          <a:p>
            <a:endParaRPr lang="zh-CN" altLang="en-US" b="1" dirty="0">
              <a:latin typeface="仿宋" panose="02010609060101010101" charset="-122"/>
              <a:ea typeface="仿宋" panose="02010609060101010101" charset="-122"/>
            </a:endParaRPr>
          </a:p>
          <a:p>
            <a:r>
              <a:rPr lang="zh-CN" altLang="en-US" b="1" dirty="0">
                <a:latin typeface="仿宋" panose="02010609060101010101" charset="-122"/>
                <a:ea typeface="仿宋" panose="02010609060101010101" charset="-122"/>
                <a:cs typeface="仿宋" panose="02010609060101010101" charset="-122"/>
                <a:sym typeface="+mn-ea"/>
              </a:rPr>
              <a:t>    周恩来同志青年时代曾经写下这样的寄语：“愿相会于中华腾飞世界时。”周恩来同志还说过：“在现在这个世界上，我们若不强大起来，不建成社会主义的现代化国家，就要受帝国主义的欺侮。”</a:t>
            </a:r>
            <a:endParaRPr lang="zh-CN" altLang="en-US" b="1" dirty="0"/>
          </a:p>
          <a:p>
            <a:endParaRPr lang="zh-CN" altLang="en-US" dirty="0">
              <a:latin typeface="仿宋" panose="02010609060101010101" charset="-122"/>
              <a:ea typeface="仿宋" panose="02010609060101010101" charset="-122"/>
            </a:endParaRPr>
          </a:p>
          <a:p>
            <a:endParaRPr lang="zh-CN" altLang="en-US" dirty="0">
              <a:latin typeface="仿宋" panose="02010609060101010101" charset="-122"/>
              <a:ea typeface="仿宋" panose="02010609060101010101" charset="-122"/>
            </a:endParaRPr>
          </a:p>
        </p:txBody>
      </p:sp>
      <p:sp>
        <p:nvSpPr>
          <p:cNvPr id="4" name="文本框 3"/>
          <p:cNvSpPr txBox="1"/>
          <p:nvPr/>
        </p:nvSpPr>
        <p:spPr>
          <a:xfrm>
            <a:off x="6451600" y="1181100"/>
            <a:ext cx="4932045" cy="3218815"/>
          </a:xfrm>
          <a:prstGeom prst="rect">
            <a:avLst/>
          </a:prstGeom>
          <a:noFill/>
        </p:spPr>
        <p:txBody>
          <a:bodyPr wrap="square" rtlCol="0">
            <a:noAutofit/>
          </a:bodyPr>
          <a:lstStyle/>
          <a:p>
            <a:r>
              <a:rPr lang="zh-CN" altLang="en-US" dirty="0">
                <a:latin typeface="仿宋" panose="02010609060101010101" charset="-122"/>
                <a:ea typeface="仿宋" panose="02010609060101010101" charset="-122"/>
                <a:cs typeface="仿宋" panose="02010609060101010101" charset="-122"/>
                <a:sym typeface="+mn-ea"/>
              </a:rPr>
              <a:t>    </a:t>
            </a:r>
            <a:r>
              <a:rPr lang="zh-CN" altLang="en-US" b="1" dirty="0">
                <a:latin typeface="仿宋" panose="02010609060101010101" charset="-122"/>
                <a:ea typeface="仿宋" panose="02010609060101010101" charset="-122"/>
                <a:cs typeface="仿宋" panose="02010609060101010101" charset="-122"/>
                <a:sym typeface="+mn-ea"/>
              </a:rPr>
              <a:t>习近平总书记曾言：</a:t>
            </a:r>
            <a:r>
              <a:rPr lang="en-US" altLang="zh-CN" b="1" dirty="0">
                <a:latin typeface="仿宋" panose="02010609060101010101" charset="-122"/>
                <a:ea typeface="仿宋" panose="02010609060101010101" charset="-122"/>
                <a:cs typeface="仿宋" panose="02010609060101010101" charset="-122"/>
                <a:sym typeface="+mn-ea"/>
              </a:rPr>
              <a:t>“今天，我们可以告慰周恩来同志等老一辈革命家的是：近代以来久经磨难的中华民族迎来了从站起来、富起来到强起来的伟大飞跃。周恩来同志生前致力于解决的中华民族积贫积弱的现象已经一去不复返了！周恩来同志生前操碎了心的广大人民群众缺吃少穿的现象已经一去不复返了！现在，我们比历史上任何时期都更接近、更有信心和能力实现中华民族伟大复兴的目标。周恩来同志生前念兹在兹的中国现代化的宏伟目标，一定能够在不远的将来完全实现。”</a:t>
            </a:r>
            <a:endParaRPr lang="en-US" altLang="zh-CN" b="1" dirty="0">
              <a:latin typeface="仿宋" panose="02010609060101010101" charset="-122"/>
              <a:ea typeface="仿宋" panose="02010609060101010101" charset="-122"/>
              <a:cs typeface="仿宋" panose="02010609060101010101" charset="-122"/>
            </a:endParaRPr>
          </a:p>
          <a:p>
            <a:endParaRPr lang="zh-CN" altLang="en-US" dirty="0">
              <a:latin typeface="仿宋" panose="02010609060101010101" charset="-122"/>
              <a:ea typeface="仿宋" panose="02010609060101010101" charset="-122"/>
              <a:cs typeface="仿宋" panose="02010609060101010101" charset="-122"/>
            </a:endParaRPr>
          </a:p>
        </p:txBody>
      </p:sp>
      <p:pic>
        <p:nvPicPr>
          <p:cNvPr id="105" name="图片 104"/>
          <p:cNvPicPr/>
          <p:nvPr/>
        </p:nvPicPr>
        <p:blipFill>
          <a:blip r:embed="rId4"/>
          <a:stretch>
            <a:fillRect/>
          </a:stretch>
        </p:blipFill>
        <p:spPr>
          <a:xfrm>
            <a:off x="6451600" y="4399915"/>
            <a:ext cx="4505325" cy="2204720"/>
          </a:xfrm>
          <a:prstGeom prst="rect">
            <a:avLst/>
          </a:prstGeom>
          <a:noFill/>
          <a:ln w="9525">
            <a:noFill/>
          </a:ln>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p:cTn id="7" dur="500" fill="hold"/>
                                        <p:tgtEl>
                                          <p:spTgt spid="25"/>
                                        </p:tgtEl>
                                        <p:attrNameLst>
                                          <p:attrName>ppt_w</p:attrName>
                                        </p:attrNameLst>
                                      </p:cBhvr>
                                      <p:tavLst>
                                        <p:tav tm="0">
                                          <p:val>
                                            <p:fltVal val="0"/>
                                          </p:val>
                                        </p:tav>
                                        <p:tav tm="100000">
                                          <p:val>
                                            <p:strVal val="#ppt_w"/>
                                          </p:val>
                                        </p:tav>
                                      </p:tavLst>
                                    </p:anim>
                                    <p:anim calcmode="lin" valueType="num">
                                      <p:cBhvr>
                                        <p:cTn id="8" dur="500" fill="hold"/>
                                        <p:tgtEl>
                                          <p:spTgt spid="25"/>
                                        </p:tgtEl>
                                        <p:attrNameLst>
                                          <p:attrName>ppt_h</p:attrName>
                                        </p:attrNameLst>
                                      </p:cBhvr>
                                      <p:tavLst>
                                        <p:tav tm="0">
                                          <p:val>
                                            <p:fltVal val="0"/>
                                          </p:val>
                                        </p:tav>
                                        <p:tav tm="100000">
                                          <p:val>
                                            <p:strVal val="#ppt_h"/>
                                          </p:val>
                                        </p:tav>
                                      </p:tavLst>
                                    </p:anim>
                                    <p:animEffect transition="in" filter="fade">
                                      <p:cBhvr>
                                        <p:cTn id="9" dur="500"/>
                                        <p:tgtEl>
                                          <p:spTgt spid="25"/>
                                        </p:tgtEl>
                                      </p:cBhvr>
                                    </p:animEffect>
                                  </p:childTnLst>
                                </p:cTn>
                              </p:par>
                              <p:par>
                                <p:cTn id="10" presetID="35" presetClass="path" presetSubtype="0" accel="50000" decel="50000" fill="hold" nodeType="withEffect">
                                  <p:stCondLst>
                                    <p:cond delay="0"/>
                                  </p:stCondLst>
                                  <p:childTnLst>
                                    <p:animMotion origin="layout" path="M -6.25E-7 -3.7037E-6 L 0.18997 -3.7037E-6 " pathEditMode="relative" rAng="0" ptsTypes="AA">
                                      <p:cBhvr>
                                        <p:cTn id="11" dur="1000" spd="-100000" fill="hold"/>
                                        <p:tgtEl>
                                          <p:spTgt spid="25"/>
                                        </p:tgtEl>
                                        <p:attrNameLst>
                                          <p:attrName>ppt_x</p:attrName>
                                          <p:attrName>ppt_y</p:attrName>
                                        </p:attrNameLst>
                                      </p:cBhvr>
                                      <p:rCtr x="9492" y="0"/>
                                    </p:animMotion>
                                  </p:childTnLst>
                                </p:cTn>
                              </p:par>
                              <p:par>
                                <p:cTn id="12" presetID="53" presetClass="entr" presetSubtype="16" fill="hold" nodeType="withEffect">
                                  <p:stCondLst>
                                    <p:cond delay="0"/>
                                  </p:stCondLst>
                                  <p:childTnLst>
                                    <p:set>
                                      <p:cBhvr>
                                        <p:cTn id="13" dur="1" fill="hold">
                                          <p:stCondLst>
                                            <p:cond delay="0"/>
                                          </p:stCondLst>
                                        </p:cTn>
                                        <p:tgtEl>
                                          <p:spTgt spid="26"/>
                                        </p:tgtEl>
                                        <p:attrNameLst>
                                          <p:attrName>style.visibility</p:attrName>
                                        </p:attrNameLst>
                                      </p:cBhvr>
                                      <p:to>
                                        <p:strVal val="visible"/>
                                      </p:to>
                                    </p:set>
                                    <p:anim calcmode="lin" valueType="num">
                                      <p:cBhvr>
                                        <p:cTn id="14" dur="500" fill="hold"/>
                                        <p:tgtEl>
                                          <p:spTgt spid="26"/>
                                        </p:tgtEl>
                                        <p:attrNameLst>
                                          <p:attrName>ppt_w</p:attrName>
                                        </p:attrNameLst>
                                      </p:cBhvr>
                                      <p:tavLst>
                                        <p:tav tm="0">
                                          <p:val>
                                            <p:fltVal val="0"/>
                                          </p:val>
                                        </p:tav>
                                        <p:tav tm="100000">
                                          <p:val>
                                            <p:strVal val="#ppt_w"/>
                                          </p:val>
                                        </p:tav>
                                      </p:tavLst>
                                    </p:anim>
                                    <p:anim calcmode="lin" valueType="num">
                                      <p:cBhvr>
                                        <p:cTn id="15" dur="500" fill="hold"/>
                                        <p:tgtEl>
                                          <p:spTgt spid="26"/>
                                        </p:tgtEl>
                                        <p:attrNameLst>
                                          <p:attrName>ppt_h</p:attrName>
                                        </p:attrNameLst>
                                      </p:cBhvr>
                                      <p:tavLst>
                                        <p:tav tm="0">
                                          <p:val>
                                            <p:fltVal val="0"/>
                                          </p:val>
                                        </p:tav>
                                        <p:tav tm="100000">
                                          <p:val>
                                            <p:strVal val="#ppt_h"/>
                                          </p:val>
                                        </p:tav>
                                      </p:tavLst>
                                    </p:anim>
                                    <p:animEffect transition="in" filter="fade">
                                      <p:cBhvr>
                                        <p:cTn id="16" dur="500"/>
                                        <p:tgtEl>
                                          <p:spTgt spid="26"/>
                                        </p:tgtEl>
                                      </p:cBhvr>
                                    </p:animEffect>
                                  </p:childTnLst>
                                </p:cTn>
                              </p:par>
                              <p:par>
                                <p:cTn id="17" presetID="35" presetClass="path" presetSubtype="0" accel="50000" decel="50000" fill="hold" nodeType="withEffect">
                                  <p:stCondLst>
                                    <p:cond delay="0"/>
                                  </p:stCondLst>
                                  <p:childTnLst>
                                    <p:animMotion origin="layout" path="M 0 -3.7037E-6 L -0.41185 -3.7037E-6 " pathEditMode="relative" rAng="0" ptsTypes="AA">
                                      <p:cBhvr>
                                        <p:cTn id="18" dur="1000" spd="-100000" fill="hold"/>
                                        <p:tgtEl>
                                          <p:spTgt spid="26"/>
                                        </p:tgtEl>
                                        <p:attrNameLst>
                                          <p:attrName>ppt_x</p:attrName>
                                          <p:attrName>ppt_y</p:attrName>
                                        </p:attrNameLst>
                                      </p:cBhvr>
                                      <p:rCtr x="-20599" y="0"/>
                                    </p:animMotion>
                                  </p:childTnLst>
                                </p:cTn>
                              </p:par>
                            </p:childTnLst>
                          </p:cTn>
                        </p:par>
                        <p:par>
                          <p:cTn id="19" fill="hold">
                            <p:stCondLst>
                              <p:cond delay="500"/>
                            </p:stCondLst>
                            <p:childTnLst>
                              <p:par>
                                <p:cTn id="20" presetID="53" presetClass="entr" presetSubtype="16" fill="hold" grpId="0" nodeType="afterEffect">
                                  <p:stCondLst>
                                    <p:cond delay="0"/>
                                  </p:stCondLst>
                                  <p:childTnLst>
                                    <p:set>
                                      <p:cBhvr>
                                        <p:cTn id="21" dur="1" fill="hold">
                                          <p:stCondLst>
                                            <p:cond delay="0"/>
                                          </p:stCondLst>
                                        </p:cTn>
                                        <p:tgtEl>
                                          <p:spTgt spid="27"/>
                                        </p:tgtEl>
                                        <p:attrNameLst>
                                          <p:attrName>style.visibility</p:attrName>
                                        </p:attrNameLst>
                                      </p:cBhvr>
                                      <p:to>
                                        <p:strVal val="visible"/>
                                      </p:to>
                                    </p:set>
                                    <p:anim calcmode="lin" valueType="num">
                                      <p:cBhvr>
                                        <p:cTn id="22" dur="500" fill="hold"/>
                                        <p:tgtEl>
                                          <p:spTgt spid="27"/>
                                        </p:tgtEl>
                                        <p:attrNameLst>
                                          <p:attrName>ppt_w</p:attrName>
                                        </p:attrNameLst>
                                      </p:cBhvr>
                                      <p:tavLst>
                                        <p:tav tm="0">
                                          <p:val>
                                            <p:fltVal val="0"/>
                                          </p:val>
                                        </p:tav>
                                        <p:tav tm="100000">
                                          <p:val>
                                            <p:strVal val="#ppt_w"/>
                                          </p:val>
                                        </p:tav>
                                      </p:tavLst>
                                    </p:anim>
                                    <p:anim calcmode="lin" valueType="num">
                                      <p:cBhvr>
                                        <p:cTn id="23" dur="500" fill="hold"/>
                                        <p:tgtEl>
                                          <p:spTgt spid="27"/>
                                        </p:tgtEl>
                                        <p:attrNameLst>
                                          <p:attrName>ppt_h</p:attrName>
                                        </p:attrNameLst>
                                      </p:cBhvr>
                                      <p:tavLst>
                                        <p:tav tm="0">
                                          <p:val>
                                            <p:fltVal val="0"/>
                                          </p:val>
                                        </p:tav>
                                        <p:tav tm="100000">
                                          <p:val>
                                            <p:strVal val="#ppt_h"/>
                                          </p:val>
                                        </p:tav>
                                      </p:tavLst>
                                    </p:anim>
                                    <p:animEffect transition="in" filter="fade">
                                      <p:cBhvr>
                                        <p:cTn id="24" dur="500"/>
                                        <p:tgtEl>
                                          <p:spTgt spid="27"/>
                                        </p:tgtEl>
                                      </p:cBhvr>
                                    </p:animEffect>
                                  </p:childTnLst>
                                </p:cTn>
                              </p:par>
                              <p:par>
                                <p:cTn id="25" presetID="35" presetClass="path" presetSubtype="0" accel="50000" decel="50000" fill="hold" grpId="1" nodeType="withEffect">
                                  <p:stCondLst>
                                    <p:cond delay="0"/>
                                  </p:stCondLst>
                                  <p:childTnLst>
                                    <p:animMotion origin="layout" path="M -1.875E-6 -3.7037E-6 L -0.30273 -3.7037E-6 " pathEditMode="relative" rAng="0" ptsTypes="AA">
                                      <p:cBhvr>
                                        <p:cTn id="26" dur="1000" spd="-100000" fill="hold"/>
                                        <p:tgtEl>
                                          <p:spTgt spid="27"/>
                                        </p:tgtEl>
                                        <p:attrNameLst>
                                          <p:attrName>ppt_x</p:attrName>
                                          <p:attrName>ppt_y</p:attrName>
                                        </p:attrNameLst>
                                      </p:cBhvr>
                                      <p:rCtr x="-1514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7" grpId="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图片 24"/>
          <p:cNvPicPr>
            <a:picLocks noChangeAspect="1"/>
          </p:cNvPicPr>
          <p:nvPr/>
        </p:nvPicPr>
        <p:blipFill>
          <a:blip r:embed="rId3" cstate="screen"/>
          <a:stretch>
            <a:fillRect/>
          </a:stretch>
        </p:blipFill>
        <p:spPr>
          <a:xfrm>
            <a:off x="8088923" y="246423"/>
            <a:ext cx="4103077" cy="675011"/>
          </a:xfrm>
          <a:prstGeom prst="rect">
            <a:avLst/>
          </a:prstGeom>
        </p:spPr>
      </p:pic>
      <p:cxnSp>
        <p:nvCxnSpPr>
          <p:cNvPr id="26" name="直接连接符 25"/>
          <p:cNvCxnSpPr/>
          <p:nvPr/>
        </p:nvCxnSpPr>
        <p:spPr>
          <a:xfrm>
            <a:off x="0" y="921434"/>
            <a:ext cx="121920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7" name="矩形 26"/>
          <p:cNvSpPr/>
          <p:nvPr/>
        </p:nvSpPr>
        <p:spPr>
          <a:xfrm>
            <a:off x="1060286" y="353095"/>
            <a:ext cx="7204657" cy="461665"/>
          </a:xfrm>
          <a:prstGeom prst="rect">
            <a:avLst/>
          </a:prstGeom>
        </p:spPr>
        <p:txBody>
          <a:bodyPr wrap="square">
            <a:spAutoFit/>
          </a:bodyPr>
          <a:lstStyle/>
          <a:p>
            <a:r>
              <a:rPr lang="zh-CN" altLang="en-US" sz="2400" b="1" dirty="0">
                <a:solidFill>
                  <a:schemeClr val="accent1"/>
                </a:solidFill>
                <a:latin typeface="字体视界-NEW魏碑体" panose="02010601030101010101" pitchFamily="2" charset="-122"/>
                <a:ea typeface="字体视界-NEW魏碑体" panose="02010601030101010101" pitchFamily="2" charset="-122"/>
                <a:cs typeface="+mn-ea"/>
                <a:sym typeface="+mn-lt"/>
              </a:rPr>
              <a:t>第四部分：思考与体会</a:t>
            </a:r>
            <a:endParaRPr lang="zh-CN" altLang="en-US" sz="2400" b="1" dirty="0">
              <a:solidFill>
                <a:srgbClr val="C00000"/>
              </a:solidFill>
              <a:latin typeface="字体视界-NEW魏碑体" panose="02010601030101010101" pitchFamily="2" charset="-122"/>
              <a:ea typeface="字体视界-NEW魏碑体" panose="02010601030101010101" pitchFamily="2" charset="-122"/>
            </a:endParaRPr>
          </a:p>
        </p:txBody>
      </p:sp>
      <p:sp>
        <p:nvSpPr>
          <p:cNvPr id="2" name="文本框 1"/>
          <p:cNvSpPr txBox="1"/>
          <p:nvPr/>
        </p:nvSpPr>
        <p:spPr>
          <a:xfrm>
            <a:off x="644525" y="1391285"/>
            <a:ext cx="6459220" cy="4826000"/>
          </a:xfrm>
          <a:prstGeom prst="rect">
            <a:avLst/>
          </a:prstGeom>
          <a:noFill/>
        </p:spPr>
        <p:txBody>
          <a:bodyPr wrap="square" rtlCol="0">
            <a:noAutofit/>
          </a:bodyPr>
          <a:lstStyle/>
          <a:p>
            <a:r>
              <a:rPr lang="zh-CN" altLang="en-US" dirty="0"/>
              <a:t>       </a:t>
            </a:r>
            <a:r>
              <a:rPr lang="zh-CN" altLang="en-US" b="1" dirty="0"/>
              <a:t>电影《无问西东》里有这样一句台词：“他们的爱与风华，只问自由，只问盛放，只问深情，只问初心，只问勇敢，无问西东。”</a:t>
            </a:r>
          </a:p>
          <a:p>
            <a:endParaRPr lang="zh-CN" altLang="en-US" b="1" dirty="0"/>
          </a:p>
          <a:p>
            <a:r>
              <a:rPr lang="zh-CN" altLang="en-US" b="1" dirty="0"/>
              <a:t>       在弹指光阴间，一颗被反复磨染的初心该如何去呵护？周恩来总理的经历或许能够给我们启发：用热血的信念去选择革命的前程，用不停息的学习作为前行的誓言，用鞠躬尽瘁的行动去固位初心的泉源。“险夷不变应尝胆，道义争担敢息肩。”他用鞠躬尽瘁、卧薪尝胆的苦心，守得初心如海棠花开般灿烂，换得中华大地吹来复兴的东风。世界一如回音谷，念念不忘，必有回响，怀抱初心，坚持不懈地为之发声，彼岸的世界总有一天会听到。</a:t>
            </a:r>
          </a:p>
          <a:p>
            <a:endParaRPr lang="zh-CN" altLang="en-US" b="1" dirty="0"/>
          </a:p>
          <a:p>
            <a:r>
              <a:rPr lang="zh-CN" altLang="en-US" b="1" dirty="0"/>
              <a:t>       岁月荏苒，当时代的接力棒传到当代青年手中，民族复兴的羽翼正待翱翔，坐拥芳华的青年更应当胸怀天下，心系祖国，将个人理想、个人发展融入时代、融入国家。时代属于每一个人，每一个人都应是时代的弄潮儿。当青年被赋予铸就时代的期许，点滴韶华更应不负家国。</a:t>
            </a:r>
          </a:p>
        </p:txBody>
      </p:sp>
      <p:pic>
        <p:nvPicPr>
          <p:cNvPr id="106" name="图片 105"/>
          <p:cNvPicPr/>
          <p:nvPr/>
        </p:nvPicPr>
        <p:blipFill>
          <a:blip r:embed="rId4"/>
          <a:srcRect r="-189" b="3137"/>
          <a:stretch>
            <a:fillRect/>
          </a:stretch>
        </p:blipFill>
        <p:spPr>
          <a:xfrm>
            <a:off x="7278370" y="1895475"/>
            <a:ext cx="4269105" cy="4080510"/>
          </a:xfrm>
          <a:prstGeom prst="rect">
            <a:avLst/>
          </a:prstGeom>
          <a:noFill/>
          <a:ln w="9525">
            <a:noFill/>
          </a:ln>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p:cTn id="7" dur="500" fill="hold"/>
                                        <p:tgtEl>
                                          <p:spTgt spid="25"/>
                                        </p:tgtEl>
                                        <p:attrNameLst>
                                          <p:attrName>ppt_w</p:attrName>
                                        </p:attrNameLst>
                                      </p:cBhvr>
                                      <p:tavLst>
                                        <p:tav tm="0">
                                          <p:val>
                                            <p:fltVal val="0"/>
                                          </p:val>
                                        </p:tav>
                                        <p:tav tm="100000">
                                          <p:val>
                                            <p:strVal val="#ppt_w"/>
                                          </p:val>
                                        </p:tav>
                                      </p:tavLst>
                                    </p:anim>
                                    <p:anim calcmode="lin" valueType="num">
                                      <p:cBhvr>
                                        <p:cTn id="8" dur="500" fill="hold"/>
                                        <p:tgtEl>
                                          <p:spTgt spid="25"/>
                                        </p:tgtEl>
                                        <p:attrNameLst>
                                          <p:attrName>ppt_h</p:attrName>
                                        </p:attrNameLst>
                                      </p:cBhvr>
                                      <p:tavLst>
                                        <p:tav tm="0">
                                          <p:val>
                                            <p:fltVal val="0"/>
                                          </p:val>
                                        </p:tav>
                                        <p:tav tm="100000">
                                          <p:val>
                                            <p:strVal val="#ppt_h"/>
                                          </p:val>
                                        </p:tav>
                                      </p:tavLst>
                                    </p:anim>
                                    <p:animEffect transition="in" filter="fade">
                                      <p:cBhvr>
                                        <p:cTn id="9" dur="500"/>
                                        <p:tgtEl>
                                          <p:spTgt spid="25"/>
                                        </p:tgtEl>
                                      </p:cBhvr>
                                    </p:animEffect>
                                  </p:childTnLst>
                                </p:cTn>
                              </p:par>
                              <p:par>
                                <p:cTn id="10" presetID="35" presetClass="path" presetSubtype="0" accel="50000" decel="50000" fill="hold" nodeType="withEffect">
                                  <p:stCondLst>
                                    <p:cond delay="0"/>
                                  </p:stCondLst>
                                  <p:childTnLst>
                                    <p:animMotion origin="layout" path="M -6.25E-7 -3.7037E-6 L 0.18997 -3.7037E-6 " pathEditMode="relative" rAng="0" ptsTypes="AA">
                                      <p:cBhvr>
                                        <p:cTn id="11" dur="1000" spd="-100000" fill="hold"/>
                                        <p:tgtEl>
                                          <p:spTgt spid="25"/>
                                        </p:tgtEl>
                                        <p:attrNameLst>
                                          <p:attrName>ppt_x</p:attrName>
                                          <p:attrName>ppt_y</p:attrName>
                                        </p:attrNameLst>
                                      </p:cBhvr>
                                      <p:rCtr x="9492" y="0"/>
                                    </p:animMotion>
                                  </p:childTnLst>
                                </p:cTn>
                              </p:par>
                              <p:par>
                                <p:cTn id="12" presetID="53" presetClass="entr" presetSubtype="16" fill="hold" nodeType="withEffect">
                                  <p:stCondLst>
                                    <p:cond delay="0"/>
                                  </p:stCondLst>
                                  <p:childTnLst>
                                    <p:set>
                                      <p:cBhvr>
                                        <p:cTn id="13" dur="1" fill="hold">
                                          <p:stCondLst>
                                            <p:cond delay="0"/>
                                          </p:stCondLst>
                                        </p:cTn>
                                        <p:tgtEl>
                                          <p:spTgt spid="26"/>
                                        </p:tgtEl>
                                        <p:attrNameLst>
                                          <p:attrName>style.visibility</p:attrName>
                                        </p:attrNameLst>
                                      </p:cBhvr>
                                      <p:to>
                                        <p:strVal val="visible"/>
                                      </p:to>
                                    </p:set>
                                    <p:anim calcmode="lin" valueType="num">
                                      <p:cBhvr>
                                        <p:cTn id="14" dur="500" fill="hold"/>
                                        <p:tgtEl>
                                          <p:spTgt spid="26"/>
                                        </p:tgtEl>
                                        <p:attrNameLst>
                                          <p:attrName>ppt_w</p:attrName>
                                        </p:attrNameLst>
                                      </p:cBhvr>
                                      <p:tavLst>
                                        <p:tav tm="0">
                                          <p:val>
                                            <p:fltVal val="0"/>
                                          </p:val>
                                        </p:tav>
                                        <p:tav tm="100000">
                                          <p:val>
                                            <p:strVal val="#ppt_w"/>
                                          </p:val>
                                        </p:tav>
                                      </p:tavLst>
                                    </p:anim>
                                    <p:anim calcmode="lin" valueType="num">
                                      <p:cBhvr>
                                        <p:cTn id="15" dur="500" fill="hold"/>
                                        <p:tgtEl>
                                          <p:spTgt spid="26"/>
                                        </p:tgtEl>
                                        <p:attrNameLst>
                                          <p:attrName>ppt_h</p:attrName>
                                        </p:attrNameLst>
                                      </p:cBhvr>
                                      <p:tavLst>
                                        <p:tav tm="0">
                                          <p:val>
                                            <p:fltVal val="0"/>
                                          </p:val>
                                        </p:tav>
                                        <p:tav tm="100000">
                                          <p:val>
                                            <p:strVal val="#ppt_h"/>
                                          </p:val>
                                        </p:tav>
                                      </p:tavLst>
                                    </p:anim>
                                    <p:animEffect transition="in" filter="fade">
                                      <p:cBhvr>
                                        <p:cTn id="16" dur="500"/>
                                        <p:tgtEl>
                                          <p:spTgt spid="26"/>
                                        </p:tgtEl>
                                      </p:cBhvr>
                                    </p:animEffect>
                                  </p:childTnLst>
                                </p:cTn>
                              </p:par>
                              <p:par>
                                <p:cTn id="17" presetID="35" presetClass="path" presetSubtype="0" accel="50000" decel="50000" fill="hold" nodeType="withEffect">
                                  <p:stCondLst>
                                    <p:cond delay="0"/>
                                  </p:stCondLst>
                                  <p:childTnLst>
                                    <p:animMotion origin="layout" path="M 0 -3.7037E-6 L -0.41185 -3.7037E-6 " pathEditMode="relative" rAng="0" ptsTypes="AA">
                                      <p:cBhvr>
                                        <p:cTn id="18" dur="1000" spd="-100000" fill="hold"/>
                                        <p:tgtEl>
                                          <p:spTgt spid="26"/>
                                        </p:tgtEl>
                                        <p:attrNameLst>
                                          <p:attrName>ppt_x</p:attrName>
                                          <p:attrName>ppt_y</p:attrName>
                                        </p:attrNameLst>
                                      </p:cBhvr>
                                      <p:rCtr x="-20599" y="0"/>
                                    </p:animMotion>
                                  </p:childTnLst>
                                </p:cTn>
                              </p:par>
                            </p:childTnLst>
                          </p:cTn>
                        </p:par>
                        <p:par>
                          <p:cTn id="19" fill="hold">
                            <p:stCondLst>
                              <p:cond delay="500"/>
                            </p:stCondLst>
                            <p:childTnLst>
                              <p:par>
                                <p:cTn id="20" presetID="53" presetClass="entr" presetSubtype="16" fill="hold" grpId="0" nodeType="afterEffect">
                                  <p:stCondLst>
                                    <p:cond delay="0"/>
                                  </p:stCondLst>
                                  <p:childTnLst>
                                    <p:set>
                                      <p:cBhvr>
                                        <p:cTn id="21" dur="1" fill="hold">
                                          <p:stCondLst>
                                            <p:cond delay="0"/>
                                          </p:stCondLst>
                                        </p:cTn>
                                        <p:tgtEl>
                                          <p:spTgt spid="27"/>
                                        </p:tgtEl>
                                        <p:attrNameLst>
                                          <p:attrName>style.visibility</p:attrName>
                                        </p:attrNameLst>
                                      </p:cBhvr>
                                      <p:to>
                                        <p:strVal val="visible"/>
                                      </p:to>
                                    </p:set>
                                    <p:anim calcmode="lin" valueType="num">
                                      <p:cBhvr>
                                        <p:cTn id="22" dur="500" fill="hold"/>
                                        <p:tgtEl>
                                          <p:spTgt spid="27"/>
                                        </p:tgtEl>
                                        <p:attrNameLst>
                                          <p:attrName>ppt_w</p:attrName>
                                        </p:attrNameLst>
                                      </p:cBhvr>
                                      <p:tavLst>
                                        <p:tav tm="0">
                                          <p:val>
                                            <p:fltVal val="0"/>
                                          </p:val>
                                        </p:tav>
                                        <p:tav tm="100000">
                                          <p:val>
                                            <p:strVal val="#ppt_w"/>
                                          </p:val>
                                        </p:tav>
                                      </p:tavLst>
                                    </p:anim>
                                    <p:anim calcmode="lin" valueType="num">
                                      <p:cBhvr>
                                        <p:cTn id="23" dur="500" fill="hold"/>
                                        <p:tgtEl>
                                          <p:spTgt spid="27"/>
                                        </p:tgtEl>
                                        <p:attrNameLst>
                                          <p:attrName>ppt_h</p:attrName>
                                        </p:attrNameLst>
                                      </p:cBhvr>
                                      <p:tavLst>
                                        <p:tav tm="0">
                                          <p:val>
                                            <p:fltVal val="0"/>
                                          </p:val>
                                        </p:tav>
                                        <p:tav tm="100000">
                                          <p:val>
                                            <p:strVal val="#ppt_h"/>
                                          </p:val>
                                        </p:tav>
                                      </p:tavLst>
                                    </p:anim>
                                    <p:animEffect transition="in" filter="fade">
                                      <p:cBhvr>
                                        <p:cTn id="24" dur="500"/>
                                        <p:tgtEl>
                                          <p:spTgt spid="27"/>
                                        </p:tgtEl>
                                      </p:cBhvr>
                                    </p:animEffect>
                                  </p:childTnLst>
                                </p:cTn>
                              </p:par>
                              <p:par>
                                <p:cTn id="25" presetID="35" presetClass="path" presetSubtype="0" accel="50000" decel="50000" fill="hold" grpId="1" nodeType="withEffect">
                                  <p:stCondLst>
                                    <p:cond delay="0"/>
                                  </p:stCondLst>
                                  <p:childTnLst>
                                    <p:animMotion origin="layout" path="M -1.875E-6 -3.7037E-6 L -0.30273 -3.7037E-6 " pathEditMode="relative" rAng="0" ptsTypes="AA">
                                      <p:cBhvr>
                                        <p:cTn id="26" dur="1000" spd="-100000" fill="hold"/>
                                        <p:tgtEl>
                                          <p:spTgt spid="27"/>
                                        </p:tgtEl>
                                        <p:attrNameLst>
                                          <p:attrName>ppt_x</p:attrName>
                                          <p:attrName>ppt_y</p:attrName>
                                        </p:attrNameLst>
                                      </p:cBhvr>
                                      <p:rCtr x="-1514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7" grpId="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图片 24"/>
          <p:cNvPicPr>
            <a:picLocks noChangeAspect="1"/>
          </p:cNvPicPr>
          <p:nvPr/>
        </p:nvPicPr>
        <p:blipFill>
          <a:blip r:embed="rId3" cstate="screen"/>
          <a:stretch>
            <a:fillRect/>
          </a:stretch>
        </p:blipFill>
        <p:spPr>
          <a:xfrm>
            <a:off x="8088923" y="246423"/>
            <a:ext cx="4103077" cy="675011"/>
          </a:xfrm>
          <a:prstGeom prst="rect">
            <a:avLst/>
          </a:prstGeom>
        </p:spPr>
      </p:pic>
      <p:cxnSp>
        <p:nvCxnSpPr>
          <p:cNvPr id="26" name="直接连接符 25"/>
          <p:cNvCxnSpPr/>
          <p:nvPr/>
        </p:nvCxnSpPr>
        <p:spPr>
          <a:xfrm>
            <a:off x="0" y="921434"/>
            <a:ext cx="121920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7" name="矩形 26"/>
          <p:cNvSpPr/>
          <p:nvPr/>
        </p:nvSpPr>
        <p:spPr>
          <a:xfrm>
            <a:off x="1060286" y="353095"/>
            <a:ext cx="7204657" cy="461665"/>
          </a:xfrm>
          <a:prstGeom prst="rect">
            <a:avLst/>
          </a:prstGeom>
        </p:spPr>
        <p:txBody>
          <a:bodyPr wrap="square">
            <a:spAutoFit/>
          </a:bodyPr>
          <a:lstStyle/>
          <a:p>
            <a:r>
              <a:rPr lang="zh-CN" altLang="en-US" sz="2400" b="1" dirty="0">
                <a:solidFill>
                  <a:schemeClr val="accent1"/>
                </a:solidFill>
                <a:latin typeface="字体视界-NEW魏碑体" panose="02010601030101010101" pitchFamily="2" charset="-122"/>
                <a:ea typeface="字体视界-NEW魏碑体" panose="02010601030101010101" pitchFamily="2" charset="-122"/>
                <a:cs typeface="+mn-ea"/>
                <a:sym typeface="+mn-lt"/>
              </a:rPr>
              <a:t>第四部分：思考与体会</a:t>
            </a:r>
            <a:endParaRPr lang="zh-CN" altLang="en-US" sz="2400" b="1" dirty="0">
              <a:solidFill>
                <a:srgbClr val="C00000"/>
              </a:solidFill>
              <a:latin typeface="字体视界-NEW魏碑体" panose="02010601030101010101" pitchFamily="2" charset="-122"/>
              <a:ea typeface="字体视界-NEW魏碑体" panose="02010601030101010101" pitchFamily="2" charset="-122"/>
            </a:endParaRPr>
          </a:p>
        </p:txBody>
      </p:sp>
      <p:sp>
        <p:nvSpPr>
          <p:cNvPr id="3" name="文本框 2"/>
          <p:cNvSpPr txBox="1"/>
          <p:nvPr/>
        </p:nvSpPr>
        <p:spPr>
          <a:xfrm>
            <a:off x="956945" y="1732280"/>
            <a:ext cx="11071860" cy="4522470"/>
          </a:xfrm>
          <a:prstGeom prst="rect">
            <a:avLst/>
          </a:prstGeom>
          <a:noFill/>
        </p:spPr>
        <p:txBody>
          <a:bodyPr wrap="square" rtlCol="0">
            <a:noAutofit/>
          </a:bodyPr>
          <a:lstStyle/>
          <a:p>
            <a:r>
              <a:rPr lang="zh-CN" altLang="en-US" sz="7200" b="1" dirty="0">
                <a:solidFill>
                  <a:schemeClr val="accent1"/>
                </a:solidFill>
                <a:latin typeface="华文新魏" panose="02010800040101010101" charset="-122"/>
                <a:ea typeface="华文新魏" panose="02010800040101010101" charset="-122"/>
                <a:cs typeface="华文新魏" panose="02010800040101010101" charset="-122"/>
              </a:rPr>
              <a:t>愿这盛世如您所愿</a:t>
            </a:r>
          </a:p>
          <a:p>
            <a:r>
              <a:rPr lang="en-US" altLang="zh-CN" sz="7200" dirty="0">
                <a:solidFill>
                  <a:schemeClr val="accent1"/>
                </a:solidFill>
                <a:latin typeface="华文新魏" panose="02010800040101010101" charset="-122"/>
                <a:ea typeface="华文新魏" panose="02010800040101010101" charset="-122"/>
                <a:cs typeface="华文新魏" panose="02010800040101010101" charset="-122"/>
              </a:rPr>
              <a:t>   </a:t>
            </a:r>
          </a:p>
          <a:p>
            <a:r>
              <a:rPr lang="en-US" altLang="zh-CN" sz="7200" dirty="0">
                <a:solidFill>
                  <a:schemeClr val="accent1"/>
                </a:solidFill>
                <a:latin typeface="华文新魏" panose="02010800040101010101" charset="-122"/>
                <a:ea typeface="华文新魏" panose="02010800040101010101" charset="-122"/>
                <a:cs typeface="华文新魏" panose="02010800040101010101" charset="-122"/>
              </a:rPr>
              <a:t>          </a:t>
            </a:r>
            <a:r>
              <a:rPr lang="en-US" altLang="zh-CN" sz="7200" b="1" dirty="0">
                <a:solidFill>
                  <a:schemeClr val="accent1"/>
                </a:solidFill>
                <a:latin typeface="华文新魏" panose="02010800040101010101" charset="-122"/>
                <a:ea typeface="华文新魏" panose="02010800040101010101" charset="-122"/>
                <a:cs typeface="华文新魏" panose="02010800040101010101" charset="-122"/>
              </a:rPr>
              <a:t>——</a:t>
            </a:r>
            <a:r>
              <a:rPr lang="zh-CN" altLang="en-US" sz="7200" b="1" dirty="0">
                <a:solidFill>
                  <a:schemeClr val="accent1"/>
                </a:solidFill>
                <a:latin typeface="华文新魏" panose="02010800040101010101" charset="-122"/>
                <a:ea typeface="华文新魏" panose="02010800040101010101" charset="-122"/>
                <a:cs typeface="华文新魏" panose="02010800040101010101" charset="-122"/>
              </a:rPr>
              <a:t>致所有革命前辈</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p:cTn id="7" dur="500" fill="hold"/>
                                        <p:tgtEl>
                                          <p:spTgt spid="25"/>
                                        </p:tgtEl>
                                        <p:attrNameLst>
                                          <p:attrName>ppt_w</p:attrName>
                                        </p:attrNameLst>
                                      </p:cBhvr>
                                      <p:tavLst>
                                        <p:tav tm="0">
                                          <p:val>
                                            <p:fltVal val="0"/>
                                          </p:val>
                                        </p:tav>
                                        <p:tav tm="100000">
                                          <p:val>
                                            <p:strVal val="#ppt_w"/>
                                          </p:val>
                                        </p:tav>
                                      </p:tavLst>
                                    </p:anim>
                                    <p:anim calcmode="lin" valueType="num">
                                      <p:cBhvr>
                                        <p:cTn id="8" dur="500" fill="hold"/>
                                        <p:tgtEl>
                                          <p:spTgt spid="25"/>
                                        </p:tgtEl>
                                        <p:attrNameLst>
                                          <p:attrName>ppt_h</p:attrName>
                                        </p:attrNameLst>
                                      </p:cBhvr>
                                      <p:tavLst>
                                        <p:tav tm="0">
                                          <p:val>
                                            <p:fltVal val="0"/>
                                          </p:val>
                                        </p:tav>
                                        <p:tav tm="100000">
                                          <p:val>
                                            <p:strVal val="#ppt_h"/>
                                          </p:val>
                                        </p:tav>
                                      </p:tavLst>
                                    </p:anim>
                                    <p:animEffect transition="in" filter="fade">
                                      <p:cBhvr>
                                        <p:cTn id="9" dur="500"/>
                                        <p:tgtEl>
                                          <p:spTgt spid="25"/>
                                        </p:tgtEl>
                                      </p:cBhvr>
                                    </p:animEffect>
                                  </p:childTnLst>
                                </p:cTn>
                              </p:par>
                              <p:par>
                                <p:cTn id="10" presetID="35" presetClass="path" presetSubtype="0" accel="50000" decel="50000" fill="hold" nodeType="withEffect">
                                  <p:stCondLst>
                                    <p:cond delay="0"/>
                                  </p:stCondLst>
                                  <p:childTnLst>
                                    <p:animMotion origin="layout" path="M -6.25E-7 -3.7037E-6 L 0.18997 -3.7037E-6 " pathEditMode="relative" rAng="0" ptsTypes="AA">
                                      <p:cBhvr>
                                        <p:cTn id="11" dur="1000" spd="-100000" fill="hold"/>
                                        <p:tgtEl>
                                          <p:spTgt spid="25"/>
                                        </p:tgtEl>
                                        <p:attrNameLst>
                                          <p:attrName>ppt_x</p:attrName>
                                          <p:attrName>ppt_y</p:attrName>
                                        </p:attrNameLst>
                                      </p:cBhvr>
                                      <p:rCtr x="9492" y="0"/>
                                    </p:animMotion>
                                  </p:childTnLst>
                                </p:cTn>
                              </p:par>
                              <p:par>
                                <p:cTn id="12" presetID="53" presetClass="entr" presetSubtype="16" fill="hold" nodeType="withEffect">
                                  <p:stCondLst>
                                    <p:cond delay="0"/>
                                  </p:stCondLst>
                                  <p:childTnLst>
                                    <p:set>
                                      <p:cBhvr>
                                        <p:cTn id="13" dur="1" fill="hold">
                                          <p:stCondLst>
                                            <p:cond delay="0"/>
                                          </p:stCondLst>
                                        </p:cTn>
                                        <p:tgtEl>
                                          <p:spTgt spid="26"/>
                                        </p:tgtEl>
                                        <p:attrNameLst>
                                          <p:attrName>style.visibility</p:attrName>
                                        </p:attrNameLst>
                                      </p:cBhvr>
                                      <p:to>
                                        <p:strVal val="visible"/>
                                      </p:to>
                                    </p:set>
                                    <p:anim calcmode="lin" valueType="num">
                                      <p:cBhvr>
                                        <p:cTn id="14" dur="500" fill="hold"/>
                                        <p:tgtEl>
                                          <p:spTgt spid="26"/>
                                        </p:tgtEl>
                                        <p:attrNameLst>
                                          <p:attrName>ppt_w</p:attrName>
                                        </p:attrNameLst>
                                      </p:cBhvr>
                                      <p:tavLst>
                                        <p:tav tm="0">
                                          <p:val>
                                            <p:fltVal val="0"/>
                                          </p:val>
                                        </p:tav>
                                        <p:tav tm="100000">
                                          <p:val>
                                            <p:strVal val="#ppt_w"/>
                                          </p:val>
                                        </p:tav>
                                      </p:tavLst>
                                    </p:anim>
                                    <p:anim calcmode="lin" valueType="num">
                                      <p:cBhvr>
                                        <p:cTn id="15" dur="500" fill="hold"/>
                                        <p:tgtEl>
                                          <p:spTgt spid="26"/>
                                        </p:tgtEl>
                                        <p:attrNameLst>
                                          <p:attrName>ppt_h</p:attrName>
                                        </p:attrNameLst>
                                      </p:cBhvr>
                                      <p:tavLst>
                                        <p:tav tm="0">
                                          <p:val>
                                            <p:fltVal val="0"/>
                                          </p:val>
                                        </p:tav>
                                        <p:tav tm="100000">
                                          <p:val>
                                            <p:strVal val="#ppt_h"/>
                                          </p:val>
                                        </p:tav>
                                      </p:tavLst>
                                    </p:anim>
                                    <p:animEffect transition="in" filter="fade">
                                      <p:cBhvr>
                                        <p:cTn id="16" dur="500"/>
                                        <p:tgtEl>
                                          <p:spTgt spid="26"/>
                                        </p:tgtEl>
                                      </p:cBhvr>
                                    </p:animEffect>
                                  </p:childTnLst>
                                </p:cTn>
                              </p:par>
                              <p:par>
                                <p:cTn id="17" presetID="35" presetClass="path" presetSubtype="0" accel="50000" decel="50000" fill="hold" nodeType="withEffect">
                                  <p:stCondLst>
                                    <p:cond delay="0"/>
                                  </p:stCondLst>
                                  <p:childTnLst>
                                    <p:animMotion origin="layout" path="M 0 -3.7037E-6 L -0.41185 -3.7037E-6 " pathEditMode="relative" rAng="0" ptsTypes="AA">
                                      <p:cBhvr>
                                        <p:cTn id="18" dur="1000" spd="-100000" fill="hold"/>
                                        <p:tgtEl>
                                          <p:spTgt spid="26"/>
                                        </p:tgtEl>
                                        <p:attrNameLst>
                                          <p:attrName>ppt_x</p:attrName>
                                          <p:attrName>ppt_y</p:attrName>
                                        </p:attrNameLst>
                                      </p:cBhvr>
                                      <p:rCtr x="-20599" y="0"/>
                                    </p:animMotion>
                                  </p:childTnLst>
                                </p:cTn>
                              </p:par>
                            </p:childTnLst>
                          </p:cTn>
                        </p:par>
                        <p:par>
                          <p:cTn id="19" fill="hold">
                            <p:stCondLst>
                              <p:cond delay="500"/>
                            </p:stCondLst>
                            <p:childTnLst>
                              <p:par>
                                <p:cTn id="20" presetID="53" presetClass="entr" presetSubtype="16" fill="hold" grpId="0" nodeType="afterEffect">
                                  <p:stCondLst>
                                    <p:cond delay="0"/>
                                  </p:stCondLst>
                                  <p:childTnLst>
                                    <p:set>
                                      <p:cBhvr>
                                        <p:cTn id="21" dur="1" fill="hold">
                                          <p:stCondLst>
                                            <p:cond delay="0"/>
                                          </p:stCondLst>
                                        </p:cTn>
                                        <p:tgtEl>
                                          <p:spTgt spid="27"/>
                                        </p:tgtEl>
                                        <p:attrNameLst>
                                          <p:attrName>style.visibility</p:attrName>
                                        </p:attrNameLst>
                                      </p:cBhvr>
                                      <p:to>
                                        <p:strVal val="visible"/>
                                      </p:to>
                                    </p:set>
                                    <p:anim calcmode="lin" valueType="num">
                                      <p:cBhvr>
                                        <p:cTn id="22" dur="500" fill="hold"/>
                                        <p:tgtEl>
                                          <p:spTgt spid="27"/>
                                        </p:tgtEl>
                                        <p:attrNameLst>
                                          <p:attrName>ppt_w</p:attrName>
                                        </p:attrNameLst>
                                      </p:cBhvr>
                                      <p:tavLst>
                                        <p:tav tm="0">
                                          <p:val>
                                            <p:fltVal val="0"/>
                                          </p:val>
                                        </p:tav>
                                        <p:tav tm="100000">
                                          <p:val>
                                            <p:strVal val="#ppt_w"/>
                                          </p:val>
                                        </p:tav>
                                      </p:tavLst>
                                    </p:anim>
                                    <p:anim calcmode="lin" valueType="num">
                                      <p:cBhvr>
                                        <p:cTn id="23" dur="500" fill="hold"/>
                                        <p:tgtEl>
                                          <p:spTgt spid="27"/>
                                        </p:tgtEl>
                                        <p:attrNameLst>
                                          <p:attrName>ppt_h</p:attrName>
                                        </p:attrNameLst>
                                      </p:cBhvr>
                                      <p:tavLst>
                                        <p:tav tm="0">
                                          <p:val>
                                            <p:fltVal val="0"/>
                                          </p:val>
                                        </p:tav>
                                        <p:tav tm="100000">
                                          <p:val>
                                            <p:strVal val="#ppt_h"/>
                                          </p:val>
                                        </p:tav>
                                      </p:tavLst>
                                    </p:anim>
                                    <p:animEffect transition="in" filter="fade">
                                      <p:cBhvr>
                                        <p:cTn id="24" dur="500"/>
                                        <p:tgtEl>
                                          <p:spTgt spid="27"/>
                                        </p:tgtEl>
                                      </p:cBhvr>
                                    </p:animEffect>
                                  </p:childTnLst>
                                </p:cTn>
                              </p:par>
                              <p:par>
                                <p:cTn id="25" presetID="35" presetClass="path" presetSubtype="0" accel="50000" decel="50000" fill="hold" grpId="1" nodeType="withEffect">
                                  <p:stCondLst>
                                    <p:cond delay="0"/>
                                  </p:stCondLst>
                                  <p:childTnLst>
                                    <p:animMotion origin="layout" path="M -1.875E-6 -3.7037E-6 L -0.30273 -3.7037E-6 " pathEditMode="relative" rAng="0" ptsTypes="AA">
                                      <p:cBhvr>
                                        <p:cTn id="26" dur="1000" spd="-100000" fill="hold"/>
                                        <p:tgtEl>
                                          <p:spTgt spid="27"/>
                                        </p:tgtEl>
                                        <p:attrNameLst>
                                          <p:attrName>ppt_x</p:attrName>
                                          <p:attrName>ppt_y</p:attrName>
                                        </p:attrNameLst>
                                      </p:cBhvr>
                                      <p:rCtr x="-1514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7" grpId="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3" cstate="screen"/>
          <a:stretch>
            <a:fillRect/>
          </a:stretch>
        </p:blipFill>
        <p:spPr>
          <a:xfrm>
            <a:off x="5382578" y="5737759"/>
            <a:ext cx="6809422" cy="1120241"/>
          </a:xfrm>
          <a:prstGeom prst="rect">
            <a:avLst/>
          </a:prstGeom>
        </p:spPr>
      </p:pic>
      <p:pic>
        <p:nvPicPr>
          <p:cNvPr id="19" name="图片 18"/>
          <p:cNvPicPr>
            <a:picLocks noChangeAspect="1"/>
          </p:cNvPicPr>
          <p:nvPr/>
        </p:nvPicPr>
        <p:blipFill>
          <a:blip r:embed="rId4" cstate="screen"/>
          <a:stretch>
            <a:fillRect/>
          </a:stretch>
        </p:blipFill>
        <p:spPr>
          <a:xfrm>
            <a:off x="0" y="4049960"/>
            <a:ext cx="4460240" cy="2788989"/>
          </a:xfrm>
          <a:prstGeom prst="rect">
            <a:avLst/>
          </a:prstGeom>
        </p:spPr>
      </p:pic>
      <p:pic>
        <p:nvPicPr>
          <p:cNvPr id="74" name="图片 73"/>
          <p:cNvPicPr>
            <a:picLocks noChangeAspect="1"/>
          </p:cNvPicPr>
          <p:nvPr/>
        </p:nvPicPr>
        <p:blipFill>
          <a:blip r:embed="rId5"/>
          <a:stretch>
            <a:fillRect/>
          </a:stretch>
        </p:blipFill>
        <p:spPr>
          <a:xfrm rot="20902340" flipH="1">
            <a:off x="686735" y="622930"/>
            <a:ext cx="3143832" cy="1309931"/>
          </a:xfrm>
          <a:prstGeom prst="rect">
            <a:avLst/>
          </a:prstGeom>
        </p:spPr>
      </p:pic>
      <p:sp>
        <p:nvSpPr>
          <p:cNvPr id="75" name="文本框 74"/>
          <p:cNvSpPr txBox="1"/>
          <p:nvPr/>
        </p:nvSpPr>
        <p:spPr>
          <a:xfrm>
            <a:off x="4243494" y="1921365"/>
            <a:ext cx="3877985" cy="120032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7200" b="1" i="0" u="none" strike="noStrike" kern="1200" cap="none" spc="0" normalizeH="0" baseline="0" noProof="0" dirty="0">
                <a:ln>
                  <a:noFill/>
                </a:ln>
                <a:solidFill>
                  <a:srgbClr val="C00000"/>
                </a:solidFill>
                <a:effectLst/>
                <a:uLnTx/>
                <a:uFillTx/>
                <a:latin typeface="字体视界-NEW魏碑体" panose="02010601030101010101" pitchFamily="2" charset="-122"/>
                <a:ea typeface="字体视界-NEW魏碑体" panose="02010601030101010101" pitchFamily="2" charset="-122"/>
                <a:cs typeface="+mn-ea"/>
                <a:sym typeface="+mn-lt"/>
              </a:rPr>
              <a:t>第五部分</a:t>
            </a:r>
          </a:p>
        </p:txBody>
      </p:sp>
      <p:sp>
        <p:nvSpPr>
          <p:cNvPr id="78" name="文本框 77"/>
          <p:cNvSpPr txBox="1"/>
          <p:nvPr/>
        </p:nvSpPr>
        <p:spPr>
          <a:xfrm>
            <a:off x="4161554" y="3393756"/>
            <a:ext cx="3877985" cy="83099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solidFill>
                  <a:srgbClr val="C00000"/>
                </a:solidFill>
                <a:effectLst/>
                <a:uLnTx/>
                <a:uFillTx/>
                <a:latin typeface="字体视界-NEW魏碑体" panose="02010601030101010101" pitchFamily="2" charset="-122"/>
                <a:ea typeface="字体视界-NEW魏碑体" panose="02010601030101010101" pitchFamily="2" charset="-122"/>
                <a:cs typeface="+mn-cs"/>
              </a:rPr>
              <a:t>主要参考文献</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nodeType="after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wipe(left)">
                                      <p:cBhvr>
                                        <p:cTn id="13" dur="500"/>
                                        <p:tgtEl>
                                          <p:spTgt spid="19"/>
                                        </p:tgtEl>
                                      </p:cBhvr>
                                    </p:animEffect>
                                  </p:childTnLst>
                                </p:cTn>
                              </p:par>
                            </p:childTnLst>
                          </p:cTn>
                        </p:par>
                        <p:par>
                          <p:cTn id="14" fill="hold">
                            <p:stCondLst>
                              <p:cond delay="1500"/>
                            </p:stCondLst>
                            <p:childTnLst>
                              <p:par>
                                <p:cTn id="15" presetID="53" presetClass="entr" presetSubtype="16" fill="hold" nodeType="afterEffect">
                                  <p:stCondLst>
                                    <p:cond delay="0"/>
                                  </p:stCondLst>
                                  <p:childTnLst>
                                    <p:set>
                                      <p:cBhvr>
                                        <p:cTn id="16" dur="1" fill="hold">
                                          <p:stCondLst>
                                            <p:cond delay="0"/>
                                          </p:stCondLst>
                                        </p:cTn>
                                        <p:tgtEl>
                                          <p:spTgt spid="74"/>
                                        </p:tgtEl>
                                        <p:attrNameLst>
                                          <p:attrName>style.visibility</p:attrName>
                                        </p:attrNameLst>
                                      </p:cBhvr>
                                      <p:to>
                                        <p:strVal val="visible"/>
                                      </p:to>
                                    </p:set>
                                    <p:anim calcmode="lin" valueType="num">
                                      <p:cBhvr>
                                        <p:cTn id="17" dur="1000" fill="hold"/>
                                        <p:tgtEl>
                                          <p:spTgt spid="74"/>
                                        </p:tgtEl>
                                        <p:attrNameLst>
                                          <p:attrName>ppt_w</p:attrName>
                                        </p:attrNameLst>
                                      </p:cBhvr>
                                      <p:tavLst>
                                        <p:tav tm="0">
                                          <p:val>
                                            <p:fltVal val="0"/>
                                          </p:val>
                                        </p:tav>
                                        <p:tav tm="100000">
                                          <p:val>
                                            <p:strVal val="#ppt_w"/>
                                          </p:val>
                                        </p:tav>
                                      </p:tavLst>
                                    </p:anim>
                                    <p:anim calcmode="lin" valueType="num">
                                      <p:cBhvr>
                                        <p:cTn id="18" dur="1000" fill="hold"/>
                                        <p:tgtEl>
                                          <p:spTgt spid="74"/>
                                        </p:tgtEl>
                                        <p:attrNameLst>
                                          <p:attrName>ppt_h</p:attrName>
                                        </p:attrNameLst>
                                      </p:cBhvr>
                                      <p:tavLst>
                                        <p:tav tm="0">
                                          <p:val>
                                            <p:fltVal val="0"/>
                                          </p:val>
                                        </p:tav>
                                        <p:tav tm="100000">
                                          <p:val>
                                            <p:strVal val="#ppt_h"/>
                                          </p:val>
                                        </p:tav>
                                      </p:tavLst>
                                    </p:anim>
                                    <p:animEffect transition="in" filter="fade">
                                      <p:cBhvr>
                                        <p:cTn id="19" dur="1000"/>
                                        <p:tgtEl>
                                          <p:spTgt spid="74"/>
                                        </p:tgtEl>
                                      </p:cBhvr>
                                    </p:animEffect>
                                  </p:childTnLst>
                                </p:cTn>
                              </p:par>
                              <p:par>
                                <p:cTn id="20" presetID="35" presetClass="path" presetSubtype="0" accel="50000" decel="50000" fill="hold" nodeType="withEffect">
                                  <p:stCondLst>
                                    <p:cond delay="0"/>
                                  </p:stCondLst>
                                  <p:childTnLst>
                                    <p:animMotion origin="layout" path="M 3.54167E-6 -2.59259E-6 L 0.31575 -2.59259E-6 " pathEditMode="relative" rAng="0" ptsTypes="AA">
                                      <p:cBhvr>
                                        <p:cTn id="21" dur="2000" spd="-100000" fill="hold"/>
                                        <p:tgtEl>
                                          <p:spTgt spid="74"/>
                                        </p:tgtEl>
                                        <p:attrNameLst>
                                          <p:attrName>ppt_x</p:attrName>
                                          <p:attrName>ppt_y</p:attrName>
                                        </p:attrNameLst>
                                      </p:cBhvr>
                                      <p:rCtr x="15781" y="0"/>
                                    </p:animMotion>
                                  </p:childTnLst>
                                </p:cTn>
                              </p:par>
                              <p:par>
                                <p:cTn id="22" presetID="53" presetClass="entr" presetSubtype="16" fill="hold" grpId="0" nodeType="withEffect">
                                  <p:stCondLst>
                                    <p:cond delay="400"/>
                                  </p:stCondLst>
                                  <p:childTnLst>
                                    <p:set>
                                      <p:cBhvr>
                                        <p:cTn id="23" dur="1" fill="hold">
                                          <p:stCondLst>
                                            <p:cond delay="0"/>
                                          </p:stCondLst>
                                        </p:cTn>
                                        <p:tgtEl>
                                          <p:spTgt spid="75"/>
                                        </p:tgtEl>
                                        <p:attrNameLst>
                                          <p:attrName>style.visibility</p:attrName>
                                        </p:attrNameLst>
                                      </p:cBhvr>
                                      <p:to>
                                        <p:strVal val="visible"/>
                                      </p:to>
                                    </p:set>
                                    <p:anim calcmode="lin" valueType="num">
                                      <p:cBhvr>
                                        <p:cTn id="24" dur="250" fill="hold"/>
                                        <p:tgtEl>
                                          <p:spTgt spid="75"/>
                                        </p:tgtEl>
                                        <p:attrNameLst>
                                          <p:attrName>ppt_w</p:attrName>
                                        </p:attrNameLst>
                                      </p:cBhvr>
                                      <p:tavLst>
                                        <p:tav tm="0">
                                          <p:val>
                                            <p:fltVal val="0"/>
                                          </p:val>
                                        </p:tav>
                                        <p:tav tm="100000">
                                          <p:val>
                                            <p:strVal val="#ppt_w"/>
                                          </p:val>
                                        </p:tav>
                                      </p:tavLst>
                                    </p:anim>
                                    <p:anim calcmode="lin" valueType="num">
                                      <p:cBhvr>
                                        <p:cTn id="25" dur="250" fill="hold"/>
                                        <p:tgtEl>
                                          <p:spTgt spid="75"/>
                                        </p:tgtEl>
                                        <p:attrNameLst>
                                          <p:attrName>ppt_h</p:attrName>
                                        </p:attrNameLst>
                                      </p:cBhvr>
                                      <p:tavLst>
                                        <p:tav tm="0">
                                          <p:val>
                                            <p:fltVal val="0"/>
                                          </p:val>
                                        </p:tav>
                                        <p:tav tm="100000">
                                          <p:val>
                                            <p:strVal val="#ppt_h"/>
                                          </p:val>
                                        </p:tav>
                                      </p:tavLst>
                                    </p:anim>
                                    <p:animEffect transition="in" filter="fade">
                                      <p:cBhvr>
                                        <p:cTn id="26" dur="250"/>
                                        <p:tgtEl>
                                          <p:spTgt spid="75"/>
                                        </p:tgtEl>
                                      </p:cBhvr>
                                    </p:animEffect>
                                  </p:childTnLst>
                                </p:cTn>
                              </p:par>
                              <p:par>
                                <p:cTn id="27" presetID="6" presetClass="emph" presetSubtype="0" decel="100000" fill="hold" grpId="1" nodeType="withEffect">
                                  <p:stCondLst>
                                    <p:cond delay="600"/>
                                  </p:stCondLst>
                                  <p:childTnLst>
                                    <p:animScale>
                                      <p:cBhvr>
                                        <p:cTn id="28" dur="250" fill="hold"/>
                                        <p:tgtEl>
                                          <p:spTgt spid="75"/>
                                        </p:tgtEl>
                                      </p:cBhvr>
                                      <p:by x="120000" y="120000"/>
                                    </p:animScale>
                                  </p:childTnLst>
                                </p:cTn>
                              </p:par>
                              <p:par>
                                <p:cTn id="29" presetID="6" presetClass="emph" presetSubtype="0" decel="100000" fill="hold" grpId="2" nodeType="withEffect">
                                  <p:stCondLst>
                                    <p:cond delay="800"/>
                                  </p:stCondLst>
                                  <p:childTnLst>
                                    <p:animScale>
                                      <p:cBhvr>
                                        <p:cTn id="30" dur="250" fill="hold"/>
                                        <p:tgtEl>
                                          <p:spTgt spid="75"/>
                                        </p:tgtEl>
                                      </p:cBhvr>
                                      <p:by x="83000" y="83000"/>
                                    </p:animScale>
                                  </p:childTnLst>
                                </p:cTn>
                              </p:par>
                              <p:par>
                                <p:cTn id="31" presetID="53" presetClass="entr" presetSubtype="16" fill="hold" grpId="0" nodeType="withEffect">
                                  <p:stCondLst>
                                    <p:cond delay="400"/>
                                  </p:stCondLst>
                                  <p:childTnLst>
                                    <p:set>
                                      <p:cBhvr>
                                        <p:cTn id="32" dur="1" fill="hold">
                                          <p:stCondLst>
                                            <p:cond delay="0"/>
                                          </p:stCondLst>
                                        </p:cTn>
                                        <p:tgtEl>
                                          <p:spTgt spid="78"/>
                                        </p:tgtEl>
                                        <p:attrNameLst>
                                          <p:attrName>style.visibility</p:attrName>
                                        </p:attrNameLst>
                                      </p:cBhvr>
                                      <p:to>
                                        <p:strVal val="visible"/>
                                      </p:to>
                                    </p:set>
                                    <p:anim calcmode="lin" valueType="num">
                                      <p:cBhvr>
                                        <p:cTn id="33" dur="250" fill="hold"/>
                                        <p:tgtEl>
                                          <p:spTgt spid="78"/>
                                        </p:tgtEl>
                                        <p:attrNameLst>
                                          <p:attrName>ppt_w</p:attrName>
                                        </p:attrNameLst>
                                      </p:cBhvr>
                                      <p:tavLst>
                                        <p:tav tm="0">
                                          <p:val>
                                            <p:fltVal val="0"/>
                                          </p:val>
                                        </p:tav>
                                        <p:tav tm="100000">
                                          <p:val>
                                            <p:strVal val="#ppt_w"/>
                                          </p:val>
                                        </p:tav>
                                      </p:tavLst>
                                    </p:anim>
                                    <p:anim calcmode="lin" valueType="num">
                                      <p:cBhvr>
                                        <p:cTn id="34" dur="250" fill="hold"/>
                                        <p:tgtEl>
                                          <p:spTgt spid="78"/>
                                        </p:tgtEl>
                                        <p:attrNameLst>
                                          <p:attrName>ppt_h</p:attrName>
                                        </p:attrNameLst>
                                      </p:cBhvr>
                                      <p:tavLst>
                                        <p:tav tm="0">
                                          <p:val>
                                            <p:fltVal val="0"/>
                                          </p:val>
                                        </p:tav>
                                        <p:tav tm="100000">
                                          <p:val>
                                            <p:strVal val="#ppt_h"/>
                                          </p:val>
                                        </p:tav>
                                      </p:tavLst>
                                    </p:anim>
                                    <p:animEffect transition="in" filter="fade">
                                      <p:cBhvr>
                                        <p:cTn id="35" dur="250"/>
                                        <p:tgtEl>
                                          <p:spTgt spid="78"/>
                                        </p:tgtEl>
                                      </p:cBhvr>
                                    </p:animEffect>
                                  </p:childTnLst>
                                </p:cTn>
                              </p:par>
                              <p:par>
                                <p:cTn id="36" presetID="6" presetClass="emph" presetSubtype="0" decel="100000" fill="hold" grpId="1" nodeType="withEffect">
                                  <p:stCondLst>
                                    <p:cond delay="600"/>
                                  </p:stCondLst>
                                  <p:childTnLst>
                                    <p:animScale>
                                      <p:cBhvr>
                                        <p:cTn id="37" dur="250" fill="hold"/>
                                        <p:tgtEl>
                                          <p:spTgt spid="78"/>
                                        </p:tgtEl>
                                      </p:cBhvr>
                                      <p:by x="120000" y="120000"/>
                                    </p:animScale>
                                  </p:childTnLst>
                                </p:cTn>
                              </p:par>
                              <p:par>
                                <p:cTn id="38" presetID="6" presetClass="emph" presetSubtype="0" decel="100000" fill="hold" grpId="2" nodeType="withEffect">
                                  <p:stCondLst>
                                    <p:cond delay="800"/>
                                  </p:stCondLst>
                                  <p:childTnLst>
                                    <p:animScale>
                                      <p:cBhvr>
                                        <p:cTn id="39" dur="250" fill="hold"/>
                                        <p:tgtEl>
                                          <p:spTgt spid="78"/>
                                        </p:tgtEl>
                                      </p:cBhvr>
                                      <p:by x="83000" y="83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 grpId="0"/>
      <p:bldP spid="75" grpId="1"/>
      <p:bldP spid="75" grpId="2"/>
      <p:bldP spid="78" grpId="0"/>
      <p:bldP spid="78" grpId="1"/>
      <p:bldP spid="78" grpId="2"/>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图片 24"/>
          <p:cNvPicPr>
            <a:picLocks noChangeAspect="1"/>
          </p:cNvPicPr>
          <p:nvPr/>
        </p:nvPicPr>
        <p:blipFill>
          <a:blip r:embed="rId3" cstate="screen"/>
          <a:stretch>
            <a:fillRect/>
          </a:stretch>
        </p:blipFill>
        <p:spPr>
          <a:xfrm>
            <a:off x="8088923" y="246423"/>
            <a:ext cx="4103077" cy="675011"/>
          </a:xfrm>
          <a:prstGeom prst="rect">
            <a:avLst/>
          </a:prstGeom>
        </p:spPr>
      </p:pic>
      <p:cxnSp>
        <p:nvCxnSpPr>
          <p:cNvPr id="26" name="直接连接符 25"/>
          <p:cNvCxnSpPr/>
          <p:nvPr/>
        </p:nvCxnSpPr>
        <p:spPr>
          <a:xfrm>
            <a:off x="0" y="921434"/>
            <a:ext cx="121920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7" name="矩形 26"/>
          <p:cNvSpPr/>
          <p:nvPr/>
        </p:nvSpPr>
        <p:spPr>
          <a:xfrm>
            <a:off x="1060286" y="353095"/>
            <a:ext cx="7204657" cy="461665"/>
          </a:xfrm>
          <a:prstGeom prst="rect">
            <a:avLst/>
          </a:prstGeom>
        </p:spPr>
        <p:txBody>
          <a:bodyPr wrap="square">
            <a:spAutoFit/>
          </a:bodyPr>
          <a:lstStyle/>
          <a:p>
            <a:r>
              <a:rPr lang="zh-CN" altLang="en-US" sz="2400" b="1" dirty="0">
                <a:solidFill>
                  <a:schemeClr val="accent1"/>
                </a:solidFill>
                <a:latin typeface="字体视界-NEW魏碑体" panose="02010601030101010101" pitchFamily="2" charset="-122"/>
                <a:ea typeface="字体视界-NEW魏碑体" panose="02010601030101010101" pitchFamily="2" charset="-122"/>
                <a:cs typeface="+mn-ea"/>
                <a:sym typeface="+mn-lt"/>
              </a:rPr>
              <a:t>第五部分：主要参考文献</a:t>
            </a:r>
            <a:endParaRPr lang="zh-CN" altLang="en-US" sz="2400" b="1" dirty="0">
              <a:solidFill>
                <a:srgbClr val="C00000"/>
              </a:solidFill>
              <a:latin typeface="字体视界-NEW魏碑体" panose="02010601030101010101" pitchFamily="2" charset="-122"/>
              <a:ea typeface="字体视界-NEW魏碑体" panose="02010601030101010101" pitchFamily="2" charset="-122"/>
            </a:endParaRPr>
          </a:p>
        </p:txBody>
      </p:sp>
      <p:sp>
        <p:nvSpPr>
          <p:cNvPr id="5" name="文本框 4">
            <a:extLst>
              <a:ext uri="{FF2B5EF4-FFF2-40B4-BE49-F238E27FC236}">
                <a16:creationId xmlns:a16="http://schemas.microsoft.com/office/drawing/2014/main" id="{5E59EDBF-A0E6-D92B-1A39-BC68AF295FE4}"/>
              </a:ext>
            </a:extLst>
          </p:cNvPr>
          <p:cNvSpPr txBox="1"/>
          <p:nvPr/>
        </p:nvSpPr>
        <p:spPr>
          <a:xfrm>
            <a:off x="667173" y="1458012"/>
            <a:ext cx="10495280" cy="378565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FangSong" panose="02010609060101010101" pitchFamily="49" charset="-122"/>
                <a:ea typeface="FangSong" panose="02010609060101010101" pitchFamily="49" charset="-122"/>
              </a:rPr>
              <a:t>【1】</a:t>
            </a:r>
            <a:r>
              <a:rPr kumimoji="0" lang="zh-CN" altLang="en-US" sz="2400" b="1" i="0" u="none" strike="noStrike" kern="1200" cap="none" spc="0" normalizeH="0" baseline="0" noProof="0" dirty="0">
                <a:ln>
                  <a:noFill/>
                </a:ln>
                <a:solidFill>
                  <a:prstClr val="black"/>
                </a:solidFill>
                <a:effectLst/>
                <a:uLnTx/>
                <a:uFillTx/>
                <a:latin typeface="FangSong" panose="02010609060101010101" pitchFamily="49" charset="-122"/>
                <a:ea typeface="FangSong" panose="02010609060101010101" pitchFamily="49" charset="-122"/>
              </a:rPr>
              <a:t>周恩来</a:t>
            </a:r>
            <a:r>
              <a:rPr kumimoji="0" lang="en-US" altLang="zh-CN" sz="2400" b="1" i="0" u="none" strike="noStrike" kern="1200" cap="none" spc="0" normalizeH="0" baseline="0" noProof="0" dirty="0">
                <a:ln>
                  <a:noFill/>
                </a:ln>
                <a:solidFill>
                  <a:prstClr val="black"/>
                </a:solidFill>
                <a:effectLst/>
                <a:uLnTx/>
                <a:uFillTx/>
                <a:latin typeface="FangSong" panose="02010609060101010101" pitchFamily="49" charset="-122"/>
                <a:ea typeface="FangSong" panose="02010609060101010101" pitchFamily="49" charset="-122"/>
              </a:rPr>
              <a:t>-</a:t>
            </a:r>
            <a:r>
              <a:rPr kumimoji="0" lang="zh-CN" altLang="en-US" sz="2400" b="1" i="0" u="none" strike="noStrike" kern="1200" cap="none" spc="0" normalizeH="0" baseline="0" noProof="0" dirty="0">
                <a:ln>
                  <a:noFill/>
                </a:ln>
                <a:solidFill>
                  <a:prstClr val="black"/>
                </a:solidFill>
                <a:effectLst/>
                <a:uLnTx/>
                <a:uFillTx/>
                <a:latin typeface="FangSong" panose="02010609060101010101" pitchFamily="49" charset="-122"/>
                <a:ea typeface="FangSong" panose="02010609060101010101" pitchFamily="49" charset="-122"/>
              </a:rPr>
              <a:t>迪克</a:t>
            </a:r>
            <a:r>
              <a:rPr kumimoji="0" lang="en-US" altLang="zh-CN" sz="2400" b="1" i="0" u="none" strike="noStrike" kern="1200" cap="none" spc="0" normalizeH="0" baseline="0" noProof="0" dirty="0">
                <a:ln>
                  <a:noFill/>
                </a:ln>
                <a:solidFill>
                  <a:prstClr val="black"/>
                </a:solidFill>
                <a:effectLst/>
                <a:uLnTx/>
                <a:uFillTx/>
                <a:latin typeface="FangSong" panose="02010609060101010101" pitchFamily="49" charset="-122"/>
                <a:ea typeface="FangSong" panose="02010609060101010101" pitchFamily="49" charset="-122"/>
              </a:rPr>
              <a:t>-</a:t>
            </a:r>
            <a:r>
              <a:rPr kumimoji="0" lang="zh-CN" altLang="en-US" sz="2400" b="1" i="0" u="none" strike="noStrike" kern="1200" cap="none" spc="0" normalizeH="0" baseline="0" noProof="0" dirty="0">
                <a:ln>
                  <a:noFill/>
                </a:ln>
                <a:solidFill>
                  <a:prstClr val="black"/>
                </a:solidFill>
                <a:effectLst/>
                <a:uLnTx/>
                <a:uFillTx/>
                <a:latin typeface="FangSong" panose="02010609060101010101" pitchFamily="49" charset="-122"/>
                <a:ea typeface="FangSong" panose="02010609060101010101" pitchFamily="49" charset="-122"/>
              </a:rPr>
              <a:t>威尔逊</a:t>
            </a:r>
            <a:r>
              <a:rPr kumimoji="0" lang="en-US" altLang="zh-CN" sz="2400" b="1" i="0" u="none" strike="noStrike" kern="1200" cap="none" spc="0" normalizeH="0" baseline="0" noProof="0" dirty="0">
                <a:ln>
                  <a:noFill/>
                </a:ln>
                <a:solidFill>
                  <a:prstClr val="black"/>
                </a:solidFill>
                <a:effectLst/>
                <a:uLnTx/>
                <a:uFillTx/>
                <a:latin typeface="FangSong" panose="02010609060101010101" pitchFamily="49" charset="-122"/>
                <a:ea typeface="FangSong" panose="02010609060101010101" pitchFamily="49" charset="-122"/>
              </a:rPr>
              <a:t>-2008-</a:t>
            </a:r>
            <a:r>
              <a:rPr kumimoji="0" lang="zh-CN" altLang="en-US" sz="2400" b="1" i="0" u="none" strike="noStrike" kern="1200" cap="none" spc="0" normalizeH="0" baseline="0" noProof="0" dirty="0">
                <a:ln>
                  <a:noFill/>
                </a:ln>
                <a:solidFill>
                  <a:prstClr val="black"/>
                </a:solidFill>
                <a:effectLst/>
                <a:uLnTx/>
                <a:uFillTx/>
                <a:latin typeface="FangSong" panose="02010609060101010101" pitchFamily="49" charset="-122"/>
                <a:ea typeface="FangSong" panose="02010609060101010101" pitchFamily="49" charset="-122"/>
              </a:rPr>
              <a:t>周恩来，中央文献出版社</a:t>
            </a:r>
            <a:endParaRPr kumimoji="0" lang="en-US" altLang="zh-CN" sz="2400" b="1" i="0" u="none" strike="noStrike" kern="1200" cap="none" spc="0" normalizeH="0" baseline="0" noProof="0" dirty="0">
              <a:ln>
                <a:noFill/>
              </a:ln>
              <a:solidFill>
                <a:prstClr val="black"/>
              </a:solidFill>
              <a:effectLst/>
              <a:uLnTx/>
              <a:uFillTx/>
              <a:latin typeface="FangSong" panose="02010609060101010101" pitchFamily="49" charset="-122"/>
              <a:ea typeface="FangSong"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FangSong" panose="02010609060101010101" pitchFamily="49" charset="-122"/>
                <a:ea typeface="FangSong" panose="02010609060101010101" pitchFamily="49" charset="-122"/>
              </a:rPr>
              <a:t>【2】</a:t>
            </a:r>
            <a:r>
              <a:rPr kumimoji="0" lang="zh-CN" altLang="en-US" sz="2400" b="1" i="0" u="none" strike="noStrike" kern="1200" cap="none" spc="0" normalizeH="0" baseline="0" noProof="0" dirty="0">
                <a:ln>
                  <a:noFill/>
                </a:ln>
                <a:solidFill>
                  <a:prstClr val="black"/>
                </a:solidFill>
                <a:effectLst/>
                <a:uLnTx/>
                <a:uFillTx/>
                <a:latin typeface="FangSong" panose="02010609060101010101" pitchFamily="49" charset="-122"/>
                <a:ea typeface="FangSong" panose="02010609060101010101" pitchFamily="49" charset="-122"/>
              </a:rPr>
              <a:t>周恩来与南开大学</a:t>
            </a:r>
            <a:r>
              <a:rPr kumimoji="0" lang="en-US" altLang="zh-CN" sz="2400" b="1" i="0" u="none" strike="noStrike" kern="1200" cap="none" spc="0" normalizeH="0" baseline="0" noProof="0" dirty="0">
                <a:ln>
                  <a:noFill/>
                </a:ln>
                <a:solidFill>
                  <a:prstClr val="black"/>
                </a:solidFill>
                <a:effectLst/>
                <a:uLnTx/>
                <a:uFillTx/>
                <a:latin typeface="FangSong" panose="02010609060101010101" pitchFamily="49" charset="-122"/>
                <a:ea typeface="FangSong" panose="02010609060101010101" pitchFamily="49" charset="-122"/>
              </a:rPr>
              <a:t>_</a:t>
            </a:r>
            <a:r>
              <a:rPr kumimoji="0" lang="zh-CN" altLang="en-US" sz="2400" b="1" i="0" u="none" strike="noStrike" kern="1200" cap="none" spc="0" normalizeH="0" baseline="0" noProof="0" dirty="0">
                <a:ln>
                  <a:noFill/>
                </a:ln>
                <a:solidFill>
                  <a:prstClr val="black"/>
                </a:solidFill>
                <a:effectLst/>
                <a:uLnTx/>
                <a:uFillTx/>
                <a:latin typeface="FangSong" panose="02010609060101010101" pitchFamily="49" charset="-122"/>
                <a:ea typeface="FangSong" panose="02010609060101010101" pitchFamily="49" charset="-122"/>
              </a:rPr>
              <a:t>侯自新</a:t>
            </a:r>
            <a:endParaRPr kumimoji="0" lang="en-US" altLang="zh-CN" sz="2400" b="1" i="0" u="none" strike="noStrike" kern="1200" cap="none" spc="0" normalizeH="0" baseline="0" noProof="0" dirty="0">
              <a:ln>
                <a:noFill/>
              </a:ln>
              <a:solidFill>
                <a:prstClr val="black"/>
              </a:solidFill>
              <a:effectLst/>
              <a:uLnTx/>
              <a:uFillTx/>
              <a:latin typeface="FangSong" panose="02010609060101010101" pitchFamily="49" charset="-122"/>
              <a:ea typeface="FangSong"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FangSong" panose="02010609060101010101" pitchFamily="49" charset="-122"/>
                <a:ea typeface="FangSong" panose="02010609060101010101" pitchFamily="49" charset="-122"/>
              </a:rPr>
              <a:t>【3】</a:t>
            </a:r>
            <a:r>
              <a:rPr kumimoji="0" lang="zh-CN" altLang="en-US" sz="2400" b="1" i="0" u="none" strike="noStrike" kern="1200" cap="none" spc="0" normalizeH="0" baseline="0" noProof="0" dirty="0">
                <a:ln>
                  <a:noFill/>
                </a:ln>
                <a:solidFill>
                  <a:prstClr val="black"/>
                </a:solidFill>
                <a:effectLst/>
                <a:uLnTx/>
                <a:uFillTx/>
                <a:latin typeface="FangSong" panose="02010609060101010101" pitchFamily="49" charset="-122"/>
                <a:ea typeface="FangSong" panose="02010609060101010101" pitchFamily="49" charset="-122"/>
              </a:rPr>
              <a:t>著名教育家严修与周恩来</a:t>
            </a:r>
            <a:r>
              <a:rPr kumimoji="0" lang="en-US" altLang="zh-CN" sz="2400" b="1" i="0" u="none" strike="noStrike" kern="1200" cap="none" spc="0" normalizeH="0" baseline="0" noProof="0" dirty="0">
                <a:ln>
                  <a:noFill/>
                </a:ln>
                <a:solidFill>
                  <a:prstClr val="black"/>
                </a:solidFill>
                <a:effectLst/>
                <a:uLnTx/>
                <a:uFillTx/>
                <a:latin typeface="FangSong" panose="02010609060101010101" pitchFamily="49" charset="-122"/>
                <a:ea typeface="FangSong" panose="02010609060101010101" pitchFamily="49" charset="-122"/>
              </a:rPr>
              <a:t>_</a:t>
            </a:r>
            <a:r>
              <a:rPr kumimoji="0" lang="zh-CN" altLang="en-US" sz="2400" b="1" i="0" u="none" strike="noStrike" kern="1200" cap="none" spc="0" normalizeH="0" baseline="0" noProof="0" dirty="0">
                <a:ln>
                  <a:noFill/>
                </a:ln>
                <a:solidFill>
                  <a:prstClr val="black"/>
                </a:solidFill>
                <a:effectLst/>
                <a:uLnTx/>
                <a:uFillTx/>
                <a:latin typeface="FangSong" panose="02010609060101010101" pitchFamily="49" charset="-122"/>
                <a:ea typeface="FangSong" panose="02010609060101010101" pitchFamily="49" charset="-122"/>
              </a:rPr>
              <a:t>谢振声</a:t>
            </a:r>
            <a:endParaRPr kumimoji="0" lang="en-US" altLang="zh-CN" sz="2400" b="1" i="0" u="none" strike="noStrike" kern="1200" cap="none" spc="0" normalizeH="0" baseline="0" noProof="0" dirty="0">
              <a:ln>
                <a:noFill/>
              </a:ln>
              <a:solidFill>
                <a:prstClr val="black"/>
              </a:solidFill>
              <a:effectLst/>
              <a:uLnTx/>
              <a:uFillTx/>
              <a:latin typeface="FangSong" panose="02010609060101010101" pitchFamily="49" charset="-122"/>
              <a:ea typeface="FangSong"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FangSong" panose="02010609060101010101" pitchFamily="49" charset="-122"/>
                <a:ea typeface="FangSong" panose="02010609060101010101" pitchFamily="49" charset="-122"/>
              </a:rPr>
              <a:t>【4】</a:t>
            </a:r>
            <a:r>
              <a:rPr kumimoji="0" lang="zh-CN" altLang="en-US" sz="2400" b="1" i="0" u="none" strike="noStrike" kern="1200" cap="none" spc="0" normalizeH="0" baseline="0" noProof="0" dirty="0">
                <a:ln>
                  <a:noFill/>
                </a:ln>
                <a:solidFill>
                  <a:prstClr val="black"/>
                </a:solidFill>
                <a:effectLst/>
                <a:uLnTx/>
                <a:uFillTx/>
                <a:latin typeface="FangSong" panose="02010609060101010101" pitchFamily="49" charset="-122"/>
                <a:ea typeface="FangSong" panose="02010609060101010101" pitchFamily="49" charset="-122"/>
              </a:rPr>
              <a:t>周恩来与抗战时期的南开</a:t>
            </a:r>
            <a:r>
              <a:rPr kumimoji="0" lang="en-US" altLang="zh-CN" sz="2400" b="1" i="0" u="none" strike="noStrike" kern="1200" cap="none" spc="0" normalizeH="0" baseline="0" noProof="0" dirty="0">
                <a:ln>
                  <a:noFill/>
                </a:ln>
                <a:solidFill>
                  <a:prstClr val="black"/>
                </a:solidFill>
                <a:effectLst/>
                <a:uLnTx/>
                <a:uFillTx/>
                <a:latin typeface="FangSong" panose="02010609060101010101" pitchFamily="49" charset="-122"/>
                <a:ea typeface="FangSong" panose="02010609060101010101" pitchFamily="49" charset="-122"/>
              </a:rPr>
              <a:t>_</a:t>
            </a:r>
            <a:r>
              <a:rPr kumimoji="0" lang="zh-CN" altLang="en-US" sz="2400" b="1" i="0" u="none" strike="noStrike" kern="1200" cap="none" spc="0" normalizeH="0" baseline="0" noProof="0" dirty="0">
                <a:ln>
                  <a:noFill/>
                </a:ln>
                <a:solidFill>
                  <a:prstClr val="black"/>
                </a:solidFill>
                <a:effectLst/>
                <a:uLnTx/>
                <a:uFillTx/>
                <a:latin typeface="FangSong" panose="02010609060101010101" pitchFamily="49" charset="-122"/>
                <a:ea typeface="FangSong" panose="02010609060101010101" pitchFamily="49" charset="-122"/>
              </a:rPr>
              <a:t>徐行</a:t>
            </a:r>
            <a:endParaRPr kumimoji="0" lang="en-US" altLang="zh-CN" sz="2400" b="1" i="0" u="none" strike="noStrike" kern="1200" cap="none" spc="0" normalizeH="0" baseline="0" noProof="0" dirty="0">
              <a:ln>
                <a:noFill/>
              </a:ln>
              <a:solidFill>
                <a:prstClr val="black"/>
              </a:solidFill>
              <a:effectLst/>
              <a:uLnTx/>
              <a:uFillTx/>
              <a:latin typeface="FangSong" panose="02010609060101010101" pitchFamily="49" charset="-122"/>
              <a:ea typeface="FangSong"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FangSong" panose="02010609060101010101" pitchFamily="49" charset="-122"/>
                <a:ea typeface="FangSong" panose="02010609060101010101" pitchFamily="49" charset="-122"/>
              </a:rPr>
              <a:t>【5】</a:t>
            </a:r>
            <a:r>
              <a:rPr kumimoji="0" lang="zh-CN" altLang="en-US" sz="2400" b="1" i="0" u="none" strike="noStrike" kern="1200" cap="none" spc="0" normalizeH="0" baseline="0" noProof="0" dirty="0">
                <a:ln>
                  <a:noFill/>
                </a:ln>
                <a:solidFill>
                  <a:prstClr val="black"/>
                </a:solidFill>
                <a:effectLst/>
                <a:uLnTx/>
                <a:uFillTx/>
                <a:latin typeface="FangSong" panose="02010609060101010101" pitchFamily="49" charset="-122"/>
                <a:ea typeface="FangSong" panose="02010609060101010101" pitchFamily="49" charset="-122"/>
              </a:rPr>
              <a:t>周恩来文化思想及当代价值研究</a:t>
            </a:r>
            <a:r>
              <a:rPr kumimoji="0" lang="en-US" altLang="zh-CN" sz="2400" b="1" i="0" u="none" strike="noStrike" kern="1200" cap="none" spc="0" normalizeH="0" baseline="0" noProof="0" dirty="0">
                <a:ln>
                  <a:noFill/>
                </a:ln>
                <a:solidFill>
                  <a:prstClr val="black"/>
                </a:solidFill>
                <a:effectLst/>
                <a:uLnTx/>
                <a:uFillTx/>
                <a:latin typeface="FangSong" panose="02010609060101010101" pitchFamily="49" charset="-122"/>
                <a:ea typeface="FangSong" panose="02010609060101010101" pitchFamily="49" charset="-122"/>
              </a:rPr>
              <a:t>_</a:t>
            </a:r>
            <a:r>
              <a:rPr kumimoji="0" lang="zh-CN" altLang="en-US" sz="2400" b="1" i="0" u="none" strike="noStrike" kern="1200" cap="none" spc="0" normalizeH="0" baseline="0" noProof="0" dirty="0">
                <a:ln>
                  <a:noFill/>
                </a:ln>
                <a:solidFill>
                  <a:prstClr val="black"/>
                </a:solidFill>
                <a:effectLst/>
                <a:uLnTx/>
                <a:uFillTx/>
                <a:latin typeface="FangSong" panose="02010609060101010101" pitchFamily="49" charset="-122"/>
                <a:ea typeface="FangSong" panose="02010609060101010101" pitchFamily="49" charset="-122"/>
              </a:rPr>
              <a:t>贾晋锋</a:t>
            </a:r>
            <a:endParaRPr kumimoji="0" lang="en-US" altLang="zh-CN" sz="2400" b="1" i="0" u="none" strike="noStrike" kern="1200" cap="none" spc="0" normalizeH="0" baseline="0" noProof="0" dirty="0">
              <a:ln>
                <a:noFill/>
              </a:ln>
              <a:solidFill>
                <a:prstClr val="black"/>
              </a:solidFill>
              <a:effectLst/>
              <a:uLnTx/>
              <a:uFillTx/>
              <a:latin typeface="FangSong" panose="02010609060101010101" pitchFamily="49" charset="-122"/>
              <a:ea typeface="FangSong"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FangSong" panose="02010609060101010101" pitchFamily="49" charset="-122"/>
                <a:ea typeface="FangSong" panose="02010609060101010101" pitchFamily="49" charset="-122"/>
              </a:rPr>
              <a:t>【6】</a:t>
            </a:r>
            <a:r>
              <a:rPr kumimoji="0" lang="zh-CN" altLang="en-US" sz="2400" b="1" i="0" u="none" strike="noStrike" kern="1200" cap="none" spc="0" normalizeH="0" baseline="0" noProof="0" dirty="0">
                <a:ln>
                  <a:noFill/>
                </a:ln>
                <a:solidFill>
                  <a:prstClr val="black"/>
                </a:solidFill>
                <a:effectLst/>
                <a:uLnTx/>
                <a:uFillTx/>
                <a:latin typeface="FangSong" panose="02010609060101010101" pitchFamily="49" charset="-122"/>
                <a:ea typeface="FangSong" panose="02010609060101010101" pitchFamily="49" charset="-122"/>
              </a:rPr>
              <a:t>周恩来的学历</a:t>
            </a:r>
            <a:endParaRPr kumimoji="0" lang="en-US" altLang="zh-CN" sz="2400" b="1" i="0" u="none" strike="noStrike" kern="1200" cap="none" spc="0" normalizeH="0" baseline="0" noProof="0" dirty="0">
              <a:ln>
                <a:noFill/>
              </a:ln>
              <a:solidFill>
                <a:prstClr val="black"/>
              </a:solidFill>
              <a:effectLst/>
              <a:uLnTx/>
              <a:uFillTx/>
              <a:latin typeface="FangSong" panose="02010609060101010101" pitchFamily="49" charset="-122"/>
              <a:ea typeface="FangSong"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FangSong" panose="02010609060101010101" pitchFamily="49" charset="-122"/>
                <a:ea typeface="FangSong" panose="02010609060101010101" pitchFamily="49" charset="-122"/>
              </a:rPr>
              <a:t>【7】1959</a:t>
            </a:r>
            <a:r>
              <a:rPr kumimoji="0" lang="zh-CN" altLang="en-US" sz="2400" b="1" i="0" u="none" strike="noStrike" kern="1200" cap="none" spc="0" normalizeH="0" baseline="0" noProof="0" dirty="0">
                <a:ln>
                  <a:noFill/>
                </a:ln>
                <a:solidFill>
                  <a:prstClr val="black"/>
                </a:solidFill>
                <a:effectLst/>
                <a:uLnTx/>
                <a:uFillTx/>
                <a:latin typeface="FangSong" panose="02010609060101010101" pitchFamily="49" charset="-122"/>
                <a:ea typeface="FangSong" panose="02010609060101010101" pitchFamily="49" charset="-122"/>
              </a:rPr>
              <a:t>年</a:t>
            </a:r>
            <a:r>
              <a:rPr kumimoji="0" lang="en-US" altLang="zh-CN" sz="2400" b="1" i="0" u="none" strike="noStrike" kern="1200" cap="none" spc="0" normalizeH="0" baseline="0" noProof="0" dirty="0">
                <a:ln>
                  <a:noFill/>
                </a:ln>
                <a:solidFill>
                  <a:prstClr val="black"/>
                </a:solidFill>
                <a:effectLst/>
                <a:uLnTx/>
                <a:uFillTx/>
                <a:latin typeface="FangSong" panose="02010609060101010101" pitchFamily="49" charset="-122"/>
                <a:ea typeface="FangSong" panose="02010609060101010101" pitchFamily="49" charset="-122"/>
              </a:rPr>
              <a:t>,</a:t>
            </a:r>
            <a:r>
              <a:rPr kumimoji="0" lang="zh-CN" altLang="en-US" sz="2400" b="1" i="0" u="none" strike="noStrike" kern="1200" cap="none" spc="0" normalizeH="0" baseline="0" noProof="0" dirty="0">
                <a:ln>
                  <a:noFill/>
                </a:ln>
                <a:solidFill>
                  <a:prstClr val="black"/>
                </a:solidFill>
                <a:effectLst/>
                <a:uLnTx/>
                <a:uFillTx/>
                <a:latin typeface="FangSong" panose="02010609060101010101" pitchFamily="49" charset="-122"/>
                <a:ea typeface="FangSong" panose="02010609060101010101" pitchFamily="49" charset="-122"/>
              </a:rPr>
              <a:t>周总理回南开</a:t>
            </a:r>
            <a:r>
              <a:rPr kumimoji="0" lang="en-US" altLang="zh-CN" sz="2400" b="1" i="0" u="none" strike="noStrike" kern="1200" cap="none" spc="0" normalizeH="0" baseline="0" noProof="0" dirty="0">
                <a:ln>
                  <a:noFill/>
                </a:ln>
                <a:solidFill>
                  <a:prstClr val="black"/>
                </a:solidFill>
                <a:effectLst/>
                <a:uLnTx/>
                <a:uFillTx/>
                <a:latin typeface="FangSong" panose="02010609060101010101" pitchFamily="49" charset="-122"/>
                <a:ea typeface="FangSong" panose="02010609060101010101" pitchFamily="49" charset="-122"/>
              </a:rPr>
              <a:t>_</a:t>
            </a:r>
            <a:r>
              <a:rPr kumimoji="0" lang="zh-CN" altLang="en-US" sz="2400" b="1" i="0" u="none" strike="noStrike" kern="1200" cap="none" spc="0" normalizeH="0" baseline="0" noProof="0" dirty="0">
                <a:ln>
                  <a:noFill/>
                </a:ln>
                <a:solidFill>
                  <a:prstClr val="black"/>
                </a:solidFill>
                <a:effectLst/>
                <a:uLnTx/>
                <a:uFillTx/>
                <a:latin typeface="FangSong" panose="02010609060101010101" pitchFamily="49" charset="-122"/>
                <a:ea typeface="FangSong" panose="02010609060101010101" pitchFamily="49" charset="-122"/>
              </a:rPr>
              <a:t>赵英秀</a:t>
            </a:r>
            <a:endParaRPr kumimoji="0" lang="en-US" altLang="zh-CN" sz="2400" b="1" i="0" u="none" strike="noStrike" kern="1200" cap="none" spc="0" normalizeH="0" baseline="0" noProof="0" dirty="0">
              <a:ln>
                <a:noFill/>
              </a:ln>
              <a:solidFill>
                <a:prstClr val="black"/>
              </a:solidFill>
              <a:effectLst/>
              <a:uLnTx/>
              <a:uFillTx/>
              <a:latin typeface="FangSong" panose="02010609060101010101" pitchFamily="49" charset="-122"/>
              <a:ea typeface="FangSong"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400" b="1" dirty="0">
                <a:solidFill>
                  <a:prstClr val="black"/>
                </a:solidFill>
                <a:latin typeface="FangSong" panose="02010609060101010101" pitchFamily="49" charset="-122"/>
                <a:ea typeface="FangSong" panose="02010609060101010101" pitchFamily="49" charset="-122"/>
              </a:rPr>
              <a:t>【8】</a:t>
            </a:r>
            <a:r>
              <a:rPr lang="zh-CN" altLang="en-US" sz="2400" b="1" dirty="0">
                <a:solidFill>
                  <a:prstClr val="black"/>
                </a:solidFill>
                <a:latin typeface="FangSong" panose="02010609060101010101" pitchFamily="49" charset="-122"/>
                <a:ea typeface="FangSong" panose="02010609060101010101" pitchFamily="49" charset="-122"/>
              </a:rPr>
              <a:t>周恩来与调查研究</a:t>
            </a:r>
            <a:r>
              <a:rPr lang="en-US" altLang="zh-CN" sz="2400" b="1" dirty="0">
                <a:solidFill>
                  <a:prstClr val="black"/>
                </a:solidFill>
                <a:latin typeface="FangSong" panose="02010609060101010101" pitchFamily="49" charset="-122"/>
                <a:ea typeface="FangSong" panose="02010609060101010101" pitchFamily="49" charset="-122"/>
              </a:rPr>
              <a:t>_</a:t>
            </a:r>
            <a:r>
              <a:rPr lang="zh-CN" altLang="en-US" sz="2400" b="1" dirty="0">
                <a:solidFill>
                  <a:prstClr val="black"/>
                </a:solidFill>
                <a:latin typeface="FangSong" panose="02010609060101010101" pitchFamily="49" charset="-122"/>
                <a:ea typeface="FangSong" panose="02010609060101010101" pitchFamily="49" charset="-122"/>
              </a:rPr>
              <a:t>费虹寰</a:t>
            </a:r>
            <a:endParaRPr lang="en-US" altLang="zh-CN" sz="2400" b="1" dirty="0">
              <a:solidFill>
                <a:prstClr val="black"/>
              </a:solidFill>
              <a:latin typeface="FangSong" panose="02010609060101010101" pitchFamily="49" charset="-122"/>
              <a:ea typeface="FangSong"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FangSong" panose="02010609060101010101" pitchFamily="49" charset="-122"/>
                <a:ea typeface="FangSong" panose="02010609060101010101" pitchFamily="49" charset="-122"/>
              </a:rPr>
              <a:t>【9】</a:t>
            </a:r>
            <a:r>
              <a:rPr kumimoji="0" lang="zh-CN" altLang="en-US" sz="2400" b="1" i="0" u="none" strike="noStrike" kern="1200" cap="none" spc="0" normalizeH="0" baseline="0" noProof="0" dirty="0">
                <a:ln>
                  <a:noFill/>
                </a:ln>
                <a:solidFill>
                  <a:prstClr val="black"/>
                </a:solidFill>
                <a:effectLst/>
                <a:uLnTx/>
                <a:uFillTx/>
                <a:latin typeface="FangSong" panose="02010609060101010101" pitchFamily="49" charset="-122"/>
                <a:ea typeface="FangSong" panose="02010609060101010101" pitchFamily="49" charset="-122"/>
              </a:rPr>
              <a:t>周恩来早期文集</a:t>
            </a:r>
            <a:r>
              <a:rPr kumimoji="0" lang="en-US" altLang="zh-CN" sz="2400" b="1" i="0" u="none" strike="noStrike" kern="1200" cap="none" spc="0" normalizeH="0" baseline="0" noProof="0" dirty="0">
                <a:ln>
                  <a:noFill/>
                </a:ln>
                <a:solidFill>
                  <a:prstClr val="black"/>
                </a:solidFill>
                <a:effectLst/>
                <a:uLnTx/>
                <a:uFillTx/>
                <a:latin typeface="FangSong" panose="02010609060101010101" pitchFamily="49" charset="-122"/>
                <a:ea typeface="FangSong" panose="02010609060101010101" pitchFamily="49" charset="-122"/>
              </a:rPr>
              <a:t>_</a:t>
            </a:r>
            <a:r>
              <a:rPr kumimoji="0" lang="zh-CN" altLang="en-US" sz="2400" b="1" i="0" u="none" strike="noStrike" kern="1200" cap="none" spc="0" normalizeH="0" baseline="0" noProof="0" dirty="0">
                <a:ln>
                  <a:noFill/>
                </a:ln>
                <a:solidFill>
                  <a:prstClr val="black"/>
                </a:solidFill>
                <a:effectLst/>
                <a:uLnTx/>
                <a:uFillTx/>
                <a:latin typeface="FangSong" panose="02010609060101010101" pitchFamily="49" charset="-122"/>
                <a:ea typeface="FangSong" panose="02010609060101010101" pitchFamily="49" charset="-122"/>
              </a:rPr>
              <a:t>周恩来</a:t>
            </a:r>
            <a:endParaRPr lang="en-US" altLang="zh-CN" sz="2400" b="1" dirty="0">
              <a:solidFill>
                <a:prstClr val="black"/>
              </a:solidFill>
              <a:latin typeface="FangSong" panose="02010609060101010101" pitchFamily="49" charset="-122"/>
              <a:ea typeface="FangSong"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FangSong" panose="02010609060101010101" pitchFamily="49" charset="-122"/>
                <a:ea typeface="FangSong" panose="02010609060101010101" pitchFamily="49" charset="-122"/>
              </a:rPr>
              <a:t>【10】</a:t>
            </a:r>
            <a:r>
              <a:rPr kumimoji="0" lang="zh-CN" altLang="en-US" sz="2400" b="1" i="0" u="none" strike="noStrike" kern="1200" cap="none" spc="0" normalizeH="0" baseline="0" noProof="0" dirty="0">
                <a:ln>
                  <a:noFill/>
                </a:ln>
                <a:solidFill>
                  <a:prstClr val="black"/>
                </a:solidFill>
                <a:effectLst/>
                <a:uLnTx/>
                <a:uFillTx/>
                <a:latin typeface="FangSong" panose="02010609060101010101" pitchFamily="49" charset="-122"/>
                <a:ea typeface="FangSong" panose="02010609060101010101" pitchFamily="49" charset="-122"/>
              </a:rPr>
              <a:t>周恩来</a:t>
            </a:r>
            <a:r>
              <a:rPr kumimoji="0" lang="en-US" altLang="zh-CN" sz="2400" b="1" i="0" u="none" strike="noStrike" kern="1200" cap="none" spc="0" normalizeH="0" baseline="0" noProof="0" dirty="0">
                <a:ln>
                  <a:noFill/>
                </a:ln>
                <a:solidFill>
                  <a:prstClr val="black"/>
                </a:solidFill>
                <a:effectLst/>
                <a:uLnTx/>
                <a:uFillTx/>
                <a:latin typeface="FangSong" panose="02010609060101010101" pitchFamily="49" charset="-122"/>
                <a:ea typeface="FangSong" panose="02010609060101010101" pitchFamily="49" charset="-122"/>
              </a:rPr>
              <a:t>-</a:t>
            </a:r>
            <a:r>
              <a:rPr kumimoji="0" lang="zh-CN" altLang="en-US" sz="2400" b="1" i="0" u="none" strike="noStrike" kern="1200" cap="none" spc="0" normalizeH="0" baseline="0" noProof="0" dirty="0">
                <a:ln>
                  <a:noFill/>
                </a:ln>
                <a:solidFill>
                  <a:prstClr val="black"/>
                </a:solidFill>
                <a:effectLst/>
                <a:uLnTx/>
                <a:uFillTx/>
                <a:latin typeface="FangSong" panose="02010609060101010101" pitchFamily="49" charset="-122"/>
                <a:ea typeface="FangSong" panose="02010609060101010101" pitchFamily="49" charset="-122"/>
              </a:rPr>
              <a:t>中共中央文献研究室</a:t>
            </a:r>
            <a:r>
              <a:rPr kumimoji="0" lang="en-US" altLang="zh-CN" sz="2400" b="1" i="0" u="none" strike="noStrike" kern="1200" cap="none" spc="0" normalizeH="0" baseline="0" noProof="0" dirty="0">
                <a:ln>
                  <a:noFill/>
                </a:ln>
                <a:solidFill>
                  <a:prstClr val="black"/>
                </a:solidFill>
                <a:effectLst/>
                <a:uLnTx/>
                <a:uFillTx/>
                <a:latin typeface="FangSong" panose="02010609060101010101" pitchFamily="49" charset="-122"/>
                <a:ea typeface="FangSong" panose="02010609060101010101" pitchFamily="49" charset="-122"/>
              </a:rPr>
              <a:t>-</a:t>
            </a:r>
            <a:r>
              <a:rPr kumimoji="0" lang="zh-CN" altLang="en-US" sz="2400" b="1" i="0" u="none" strike="noStrike" kern="1200" cap="none" spc="0" normalizeH="0" baseline="0" noProof="0" dirty="0">
                <a:ln>
                  <a:noFill/>
                </a:ln>
                <a:solidFill>
                  <a:prstClr val="black"/>
                </a:solidFill>
                <a:effectLst/>
                <a:uLnTx/>
                <a:uFillTx/>
                <a:latin typeface="FangSong" panose="02010609060101010101" pitchFamily="49" charset="-122"/>
                <a:ea typeface="FangSong" panose="02010609060101010101" pitchFamily="49" charset="-122"/>
              </a:rPr>
              <a:t>周恩来研究组</a:t>
            </a:r>
            <a:r>
              <a:rPr kumimoji="0" lang="en-US" altLang="zh-CN" sz="2400" b="1" i="0" u="none" strike="noStrike" kern="1200" cap="none" spc="0" normalizeH="0" baseline="0" noProof="0" dirty="0">
                <a:ln>
                  <a:noFill/>
                </a:ln>
                <a:solidFill>
                  <a:prstClr val="black"/>
                </a:solidFill>
                <a:effectLst/>
                <a:uLnTx/>
                <a:uFillTx/>
                <a:latin typeface="FangSong" panose="02010609060101010101" pitchFamily="49" charset="-122"/>
                <a:ea typeface="FangSong" panose="02010609060101010101" pitchFamily="49" charset="-122"/>
              </a:rPr>
              <a:t>-2016-</a:t>
            </a:r>
            <a:r>
              <a:rPr kumimoji="0" lang="zh-CN" altLang="en-US" sz="2400" b="1" i="0" u="none" strike="noStrike" kern="1200" cap="none" spc="0" normalizeH="0" baseline="0" noProof="0" dirty="0">
                <a:ln>
                  <a:noFill/>
                </a:ln>
                <a:solidFill>
                  <a:prstClr val="black"/>
                </a:solidFill>
                <a:effectLst/>
                <a:uLnTx/>
                <a:uFillTx/>
                <a:latin typeface="FangSong" panose="02010609060101010101" pitchFamily="49" charset="-122"/>
                <a:ea typeface="FangSong" panose="02010609060101010101" pitchFamily="49" charset="-122"/>
              </a:rPr>
              <a:t>辽宁人民出版社</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p:cTn id="7" dur="500" fill="hold"/>
                                        <p:tgtEl>
                                          <p:spTgt spid="25"/>
                                        </p:tgtEl>
                                        <p:attrNameLst>
                                          <p:attrName>ppt_w</p:attrName>
                                        </p:attrNameLst>
                                      </p:cBhvr>
                                      <p:tavLst>
                                        <p:tav tm="0">
                                          <p:val>
                                            <p:fltVal val="0"/>
                                          </p:val>
                                        </p:tav>
                                        <p:tav tm="100000">
                                          <p:val>
                                            <p:strVal val="#ppt_w"/>
                                          </p:val>
                                        </p:tav>
                                      </p:tavLst>
                                    </p:anim>
                                    <p:anim calcmode="lin" valueType="num">
                                      <p:cBhvr>
                                        <p:cTn id="8" dur="500" fill="hold"/>
                                        <p:tgtEl>
                                          <p:spTgt spid="25"/>
                                        </p:tgtEl>
                                        <p:attrNameLst>
                                          <p:attrName>ppt_h</p:attrName>
                                        </p:attrNameLst>
                                      </p:cBhvr>
                                      <p:tavLst>
                                        <p:tav tm="0">
                                          <p:val>
                                            <p:fltVal val="0"/>
                                          </p:val>
                                        </p:tav>
                                        <p:tav tm="100000">
                                          <p:val>
                                            <p:strVal val="#ppt_h"/>
                                          </p:val>
                                        </p:tav>
                                      </p:tavLst>
                                    </p:anim>
                                    <p:animEffect transition="in" filter="fade">
                                      <p:cBhvr>
                                        <p:cTn id="9" dur="500"/>
                                        <p:tgtEl>
                                          <p:spTgt spid="25"/>
                                        </p:tgtEl>
                                      </p:cBhvr>
                                    </p:animEffect>
                                  </p:childTnLst>
                                </p:cTn>
                              </p:par>
                              <p:par>
                                <p:cTn id="10" presetID="35" presetClass="path" presetSubtype="0" accel="50000" decel="50000" fill="hold" nodeType="withEffect">
                                  <p:stCondLst>
                                    <p:cond delay="0"/>
                                  </p:stCondLst>
                                  <p:childTnLst>
                                    <p:animMotion origin="layout" path="M -6.25E-7 -3.7037E-6 L 0.18997 -3.7037E-6 " pathEditMode="relative" rAng="0" ptsTypes="AA">
                                      <p:cBhvr>
                                        <p:cTn id="11" dur="1000" spd="-100000" fill="hold"/>
                                        <p:tgtEl>
                                          <p:spTgt spid="25"/>
                                        </p:tgtEl>
                                        <p:attrNameLst>
                                          <p:attrName>ppt_x</p:attrName>
                                          <p:attrName>ppt_y</p:attrName>
                                        </p:attrNameLst>
                                      </p:cBhvr>
                                      <p:rCtr x="9492" y="0"/>
                                    </p:animMotion>
                                  </p:childTnLst>
                                </p:cTn>
                              </p:par>
                              <p:par>
                                <p:cTn id="12" presetID="53" presetClass="entr" presetSubtype="16" fill="hold" nodeType="withEffect">
                                  <p:stCondLst>
                                    <p:cond delay="0"/>
                                  </p:stCondLst>
                                  <p:childTnLst>
                                    <p:set>
                                      <p:cBhvr>
                                        <p:cTn id="13" dur="1" fill="hold">
                                          <p:stCondLst>
                                            <p:cond delay="0"/>
                                          </p:stCondLst>
                                        </p:cTn>
                                        <p:tgtEl>
                                          <p:spTgt spid="26"/>
                                        </p:tgtEl>
                                        <p:attrNameLst>
                                          <p:attrName>style.visibility</p:attrName>
                                        </p:attrNameLst>
                                      </p:cBhvr>
                                      <p:to>
                                        <p:strVal val="visible"/>
                                      </p:to>
                                    </p:set>
                                    <p:anim calcmode="lin" valueType="num">
                                      <p:cBhvr>
                                        <p:cTn id="14" dur="500" fill="hold"/>
                                        <p:tgtEl>
                                          <p:spTgt spid="26"/>
                                        </p:tgtEl>
                                        <p:attrNameLst>
                                          <p:attrName>ppt_w</p:attrName>
                                        </p:attrNameLst>
                                      </p:cBhvr>
                                      <p:tavLst>
                                        <p:tav tm="0">
                                          <p:val>
                                            <p:fltVal val="0"/>
                                          </p:val>
                                        </p:tav>
                                        <p:tav tm="100000">
                                          <p:val>
                                            <p:strVal val="#ppt_w"/>
                                          </p:val>
                                        </p:tav>
                                      </p:tavLst>
                                    </p:anim>
                                    <p:anim calcmode="lin" valueType="num">
                                      <p:cBhvr>
                                        <p:cTn id="15" dur="500" fill="hold"/>
                                        <p:tgtEl>
                                          <p:spTgt spid="26"/>
                                        </p:tgtEl>
                                        <p:attrNameLst>
                                          <p:attrName>ppt_h</p:attrName>
                                        </p:attrNameLst>
                                      </p:cBhvr>
                                      <p:tavLst>
                                        <p:tav tm="0">
                                          <p:val>
                                            <p:fltVal val="0"/>
                                          </p:val>
                                        </p:tav>
                                        <p:tav tm="100000">
                                          <p:val>
                                            <p:strVal val="#ppt_h"/>
                                          </p:val>
                                        </p:tav>
                                      </p:tavLst>
                                    </p:anim>
                                    <p:animEffect transition="in" filter="fade">
                                      <p:cBhvr>
                                        <p:cTn id="16" dur="500"/>
                                        <p:tgtEl>
                                          <p:spTgt spid="26"/>
                                        </p:tgtEl>
                                      </p:cBhvr>
                                    </p:animEffect>
                                  </p:childTnLst>
                                </p:cTn>
                              </p:par>
                              <p:par>
                                <p:cTn id="17" presetID="35" presetClass="path" presetSubtype="0" accel="50000" decel="50000" fill="hold" nodeType="withEffect">
                                  <p:stCondLst>
                                    <p:cond delay="0"/>
                                  </p:stCondLst>
                                  <p:childTnLst>
                                    <p:animMotion origin="layout" path="M 0 -3.7037E-6 L -0.41185 -3.7037E-6 " pathEditMode="relative" rAng="0" ptsTypes="AA">
                                      <p:cBhvr>
                                        <p:cTn id="18" dur="1000" spd="-100000" fill="hold"/>
                                        <p:tgtEl>
                                          <p:spTgt spid="26"/>
                                        </p:tgtEl>
                                        <p:attrNameLst>
                                          <p:attrName>ppt_x</p:attrName>
                                          <p:attrName>ppt_y</p:attrName>
                                        </p:attrNameLst>
                                      </p:cBhvr>
                                      <p:rCtr x="-20599" y="0"/>
                                    </p:animMotion>
                                  </p:childTnLst>
                                </p:cTn>
                              </p:par>
                            </p:childTnLst>
                          </p:cTn>
                        </p:par>
                        <p:par>
                          <p:cTn id="19" fill="hold">
                            <p:stCondLst>
                              <p:cond delay="500"/>
                            </p:stCondLst>
                            <p:childTnLst>
                              <p:par>
                                <p:cTn id="20" presetID="53" presetClass="entr" presetSubtype="16" fill="hold" grpId="0" nodeType="afterEffect">
                                  <p:stCondLst>
                                    <p:cond delay="0"/>
                                  </p:stCondLst>
                                  <p:childTnLst>
                                    <p:set>
                                      <p:cBhvr>
                                        <p:cTn id="21" dur="1" fill="hold">
                                          <p:stCondLst>
                                            <p:cond delay="0"/>
                                          </p:stCondLst>
                                        </p:cTn>
                                        <p:tgtEl>
                                          <p:spTgt spid="27"/>
                                        </p:tgtEl>
                                        <p:attrNameLst>
                                          <p:attrName>style.visibility</p:attrName>
                                        </p:attrNameLst>
                                      </p:cBhvr>
                                      <p:to>
                                        <p:strVal val="visible"/>
                                      </p:to>
                                    </p:set>
                                    <p:anim calcmode="lin" valueType="num">
                                      <p:cBhvr>
                                        <p:cTn id="22" dur="500" fill="hold"/>
                                        <p:tgtEl>
                                          <p:spTgt spid="27"/>
                                        </p:tgtEl>
                                        <p:attrNameLst>
                                          <p:attrName>ppt_w</p:attrName>
                                        </p:attrNameLst>
                                      </p:cBhvr>
                                      <p:tavLst>
                                        <p:tav tm="0">
                                          <p:val>
                                            <p:fltVal val="0"/>
                                          </p:val>
                                        </p:tav>
                                        <p:tav tm="100000">
                                          <p:val>
                                            <p:strVal val="#ppt_w"/>
                                          </p:val>
                                        </p:tav>
                                      </p:tavLst>
                                    </p:anim>
                                    <p:anim calcmode="lin" valueType="num">
                                      <p:cBhvr>
                                        <p:cTn id="23" dur="500" fill="hold"/>
                                        <p:tgtEl>
                                          <p:spTgt spid="27"/>
                                        </p:tgtEl>
                                        <p:attrNameLst>
                                          <p:attrName>ppt_h</p:attrName>
                                        </p:attrNameLst>
                                      </p:cBhvr>
                                      <p:tavLst>
                                        <p:tav tm="0">
                                          <p:val>
                                            <p:fltVal val="0"/>
                                          </p:val>
                                        </p:tav>
                                        <p:tav tm="100000">
                                          <p:val>
                                            <p:strVal val="#ppt_h"/>
                                          </p:val>
                                        </p:tav>
                                      </p:tavLst>
                                    </p:anim>
                                    <p:animEffect transition="in" filter="fade">
                                      <p:cBhvr>
                                        <p:cTn id="24" dur="500"/>
                                        <p:tgtEl>
                                          <p:spTgt spid="27"/>
                                        </p:tgtEl>
                                      </p:cBhvr>
                                    </p:animEffect>
                                  </p:childTnLst>
                                </p:cTn>
                              </p:par>
                              <p:par>
                                <p:cTn id="25" presetID="35" presetClass="path" presetSubtype="0" accel="50000" decel="50000" fill="hold" grpId="1" nodeType="withEffect">
                                  <p:stCondLst>
                                    <p:cond delay="0"/>
                                  </p:stCondLst>
                                  <p:childTnLst>
                                    <p:animMotion origin="layout" path="M -1.875E-6 -3.7037E-6 L -0.30273 -3.7037E-6 " pathEditMode="relative" rAng="0" ptsTypes="AA">
                                      <p:cBhvr>
                                        <p:cTn id="26" dur="1000" spd="-100000" fill="hold"/>
                                        <p:tgtEl>
                                          <p:spTgt spid="27"/>
                                        </p:tgtEl>
                                        <p:attrNameLst>
                                          <p:attrName>ppt_x</p:attrName>
                                          <p:attrName>ppt_y</p:attrName>
                                        </p:attrNameLst>
                                      </p:cBhvr>
                                      <p:rCtr x="-1514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7" grpId="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图片 36"/>
          <p:cNvPicPr>
            <a:picLocks noChangeAspect="1"/>
          </p:cNvPicPr>
          <p:nvPr/>
        </p:nvPicPr>
        <p:blipFill>
          <a:blip r:embed="rId3" cstate="screen"/>
          <a:stretch>
            <a:fillRect/>
          </a:stretch>
        </p:blipFill>
        <p:spPr>
          <a:xfrm>
            <a:off x="7007010" y="2710008"/>
            <a:ext cx="5184990" cy="4147992"/>
          </a:xfrm>
          <a:prstGeom prst="rect">
            <a:avLst/>
          </a:prstGeom>
        </p:spPr>
      </p:pic>
      <p:pic>
        <p:nvPicPr>
          <p:cNvPr id="35" name="图片 34"/>
          <p:cNvPicPr>
            <a:picLocks noChangeAspect="1"/>
          </p:cNvPicPr>
          <p:nvPr/>
        </p:nvPicPr>
        <p:blipFill>
          <a:blip r:embed="rId4" cstate="screen"/>
          <a:stretch>
            <a:fillRect/>
          </a:stretch>
        </p:blipFill>
        <p:spPr>
          <a:xfrm>
            <a:off x="0" y="4049960"/>
            <a:ext cx="4460240" cy="2788989"/>
          </a:xfrm>
          <a:prstGeom prst="rect">
            <a:avLst/>
          </a:prstGeom>
        </p:spPr>
      </p:pic>
      <p:sp>
        <p:nvSpPr>
          <p:cNvPr id="30" name="矩形 29"/>
          <p:cNvSpPr/>
          <p:nvPr/>
        </p:nvSpPr>
        <p:spPr>
          <a:xfrm>
            <a:off x="925354" y="2190080"/>
            <a:ext cx="10341293" cy="1446550"/>
          </a:xfrm>
          <a:prstGeom prst="rect">
            <a:avLst/>
          </a:prstGeom>
        </p:spPr>
        <p:txBody>
          <a:bodyPr wrap="none">
            <a:spAutoFit/>
          </a:bodyPr>
          <a:lstStyle/>
          <a:p>
            <a:pPr algn="ctr"/>
            <a:r>
              <a:rPr lang="zh-CN" altLang="en-US" sz="8800" b="1" dirty="0">
                <a:solidFill>
                  <a:srgbClr val="C00000"/>
                </a:solidFill>
                <a:latin typeface="字体视界-NEW魏碑体" panose="02010601030101010101" pitchFamily="2" charset="-122"/>
                <a:ea typeface="字体视界-NEW魏碑体" panose="02010601030101010101" pitchFamily="2" charset="-122"/>
                <a:cs typeface="+mn-ea"/>
                <a:sym typeface="+mn-lt"/>
              </a:rPr>
              <a:t>允公允能，日新月异</a:t>
            </a:r>
          </a:p>
        </p:txBody>
      </p:sp>
      <p:sp>
        <p:nvSpPr>
          <p:cNvPr id="31" name="矩形 30"/>
          <p:cNvSpPr/>
          <p:nvPr/>
        </p:nvSpPr>
        <p:spPr>
          <a:xfrm>
            <a:off x="3787076" y="3853208"/>
            <a:ext cx="4544834" cy="584775"/>
          </a:xfrm>
          <a:prstGeom prst="rect">
            <a:avLst/>
          </a:prstGeom>
        </p:spPr>
        <p:txBody>
          <a:bodyPr wrap="none">
            <a:spAutoFit/>
          </a:bodyPr>
          <a:lstStyle/>
          <a:p>
            <a:pPr algn="ctr"/>
            <a:r>
              <a:rPr lang="en-US" altLang="zh-CN" sz="3200" dirty="0">
                <a:solidFill>
                  <a:srgbClr val="C00000"/>
                </a:solidFill>
                <a:latin typeface="字体视界-NEW魏碑体" panose="02010601030101010101" pitchFamily="2" charset="-122"/>
                <a:ea typeface="字体视界-NEW魏碑体" panose="02010601030101010101" pitchFamily="2" charset="-122"/>
                <a:cs typeface="+mn-ea"/>
                <a:sym typeface="+mn-lt"/>
              </a:rPr>
              <a:t>—— </a:t>
            </a:r>
            <a:r>
              <a:rPr lang="zh-CN" altLang="en-US" sz="3200" dirty="0">
                <a:solidFill>
                  <a:srgbClr val="C00000"/>
                </a:solidFill>
                <a:latin typeface="字体视界-NEW魏碑体" panose="02010601030101010101" pitchFamily="2" charset="-122"/>
                <a:ea typeface="字体视界-NEW魏碑体" panose="02010601030101010101" pitchFamily="2" charset="-122"/>
                <a:cs typeface="+mn-ea"/>
                <a:sym typeface="+mn-lt"/>
              </a:rPr>
              <a:t>感谢您的观看</a:t>
            </a:r>
            <a:r>
              <a:rPr lang="en-US" altLang="zh-CN" sz="3200" dirty="0">
                <a:solidFill>
                  <a:srgbClr val="C00000"/>
                </a:solidFill>
                <a:latin typeface="字体视界-NEW魏碑体" panose="02010601030101010101" pitchFamily="2" charset="-122"/>
                <a:ea typeface="字体视界-NEW魏碑体" panose="02010601030101010101" pitchFamily="2" charset="-122"/>
                <a:cs typeface="+mn-ea"/>
                <a:sym typeface="+mn-lt"/>
              </a:rPr>
              <a:t>——</a:t>
            </a:r>
            <a:endParaRPr lang="zh-CN" altLang="en-US" sz="3200" dirty="0">
              <a:solidFill>
                <a:srgbClr val="C00000"/>
              </a:solidFill>
              <a:latin typeface="字体视界-NEW魏碑体" panose="02010601030101010101" pitchFamily="2" charset="-122"/>
              <a:ea typeface="字体视界-NEW魏碑体" panose="02010601030101010101" pitchFamily="2" charset="-122"/>
              <a:cs typeface="+mn-ea"/>
              <a:sym typeface="+mn-lt"/>
            </a:endParaRPr>
          </a:p>
        </p:txBody>
      </p:sp>
      <p:pic>
        <p:nvPicPr>
          <p:cNvPr id="33" name="图片 32"/>
          <p:cNvPicPr>
            <a:picLocks noChangeAspect="1"/>
          </p:cNvPicPr>
          <p:nvPr/>
        </p:nvPicPr>
        <p:blipFill>
          <a:blip r:embed="rId5"/>
          <a:stretch>
            <a:fillRect/>
          </a:stretch>
        </p:blipFill>
        <p:spPr>
          <a:xfrm>
            <a:off x="8167468" y="552220"/>
            <a:ext cx="2857500" cy="1190625"/>
          </a:xfrm>
          <a:prstGeom prst="rect">
            <a:avLst/>
          </a:prstGeom>
        </p:spPr>
      </p:pic>
      <p:sp>
        <p:nvSpPr>
          <p:cNvPr id="38" name="矩形 37"/>
          <p:cNvSpPr/>
          <p:nvPr/>
        </p:nvSpPr>
        <p:spPr>
          <a:xfrm>
            <a:off x="3347048" y="4993536"/>
            <a:ext cx="5424883" cy="369332"/>
          </a:xfrm>
          <a:prstGeom prst="rect">
            <a:avLst/>
          </a:prstGeom>
        </p:spPr>
        <p:txBody>
          <a:bodyPr wrap="none">
            <a:spAutoFit/>
          </a:bodyPr>
          <a:lstStyle/>
          <a:p>
            <a:pPr algn="ctr"/>
            <a:r>
              <a:rPr lang="zh-CN" altLang="en-US" dirty="0">
                <a:solidFill>
                  <a:srgbClr val="C00000"/>
                </a:solidFill>
                <a:latin typeface="字体视界-NEW魏碑体" panose="02010601030101010101" pitchFamily="2" charset="-122"/>
                <a:ea typeface="字体视界-NEW魏碑体" panose="02010601030101010101" pitchFamily="2" charset="-122"/>
                <a:cs typeface="+mn-ea"/>
                <a:sym typeface="+mn-lt"/>
              </a:rPr>
              <a:t>汇报人</a:t>
            </a:r>
            <a:r>
              <a:rPr lang="en-US" altLang="zh-CN" dirty="0">
                <a:solidFill>
                  <a:srgbClr val="C00000"/>
                </a:solidFill>
                <a:latin typeface="字体视界-NEW魏碑体" panose="02010601030101010101" pitchFamily="2" charset="-122"/>
                <a:ea typeface="字体视界-NEW魏碑体" panose="02010601030101010101" pitchFamily="2" charset="-122"/>
                <a:cs typeface="+mn-ea"/>
                <a:sym typeface="+mn-lt"/>
              </a:rPr>
              <a:t>:</a:t>
            </a:r>
            <a:r>
              <a:rPr lang="zh-CN" altLang="en-US" dirty="0">
                <a:solidFill>
                  <a:srgbClr val="C00000"/>
                </a:solidFill>
                <a:latin typeface="字体视界-NEW魏碑体" panose="02010601030101010101" pitchFamily="2" charset="-122"/>
                <a:ea typeface="字体视界-NEW魏碑体" panose="02010601030101010101" pitchFamily="2" charset="-122"/>
                <a:cs typeface="+mn-ea"/>
                <a:sym typeface="+mn-lt"/>
              </a:rPr>
              <a:t>陆皓喆 温馨     汇报时间：</a:t>
            </a:r>
            <a:r>
              <a:rPr lang="en-US" altLang="zh-CN" dirty="0">
                <a:solidFill>
                  <a:srgbClr val="C00000"/>
                </a:solidFill>
                <a:latin typeface="字体视界-NEW魏碑体" panose="02010601030101010101" pitchFamily="2" charset="-122"/>
                <a:ea typeface="字体视界-NEW魏碑体" panose="02010601030101010101" pitchFamily="2" charset="-122"/>
                <a:cs typeface="+mn-ea"/>
                <a:sym typeface="+mn-lt"/>
              </a:rPr>
              <a:t>2023</a:t>
            </a:r>
            <a:r>
              <a:rPr lang="zh-CN" altLang="en-US" dirty="0">
                <a:solidFill>
                  <a:srgbClr val="C00000"/>
                </a:solidFill>
                <a:latin typeface="字体视界-NEW魏碑体" panose="02010601030101010101" pitchFamily="2" charset="-122"/>
                <a:ea typeface="字体视界-NEW魏碑体" panose="02010601030101010101" pitchFamily="2" charset="-122"/>
                <a:cs typeface="+mn-ea"/>
                <a:sym typeface="+mn-lt"/>
              </a:rPr>
              <a:t>年</a:t>
            </a:r>
            <a:r>
              <a:rPr lang="en-US" altLang="zh-CN" dirty="0">
                <a:solidFill>
                  <a:srgbClr val="C00000"/>
                </a:solidFill>
                <a:latin typeface="字体视界-NEW魏碑体" panose="02010601030101010101" pitchFamily="2" charset="-122"/>
                <a:ea typeface="字体视界-NEW魏碑体" panose="02010601030101010101" pitchFamily="2" charset="-122"/>
                <a:cs typeface="+mn-ea"/>
                <a:sym typeface="+mn-lt"/>
              </a:rPr>
              <a:t>10</a:t>
            </a:r>
            <a:r>
              <a:rPr lang="zh-CN" altLang="en-US" dirty="0">
                <a:solidFill>
                  <a:srgbClr val="C00000"/>
                </a:solidFill>
                <a:latin typeface="字体视界-NEW魏碑体" panose="02010601030101010101" pitchFamily="2" charset="-122"/>
                <a:ea typeface="字体视界-NEW魏碑体" panose="02010601030101010101" pitchFamily="2" charset="-122"/>
                <a:cs typeface="+mn-ea"/>
                <a:sym typeface="+mn-lt"/>
              </a:rPr>
              <a:t>月</a:t>
            </a:r>
            <a:r>
              <a:rPr lang="en-US" altLang="zh-CN" dirty="0">
                <a:solidFill>
                  <a:srgbClr val="C00000"/>
                </a:solidFill>
                <a:latin typeface="字体视界-NEW魏碑体" panose="02010601030101010101" pitchFamily="2" charset="-122"/>
                <a:ea typeface="字体视界-NEW魏碑体" panose="02010601030101010101" pitchFamily="2" charset="-122"/>
                <a:cs typeface="+mn-ea"/>
                <a:sym typeface="+mn-lt"/>
              </a:rPr>
              <a:t>31</a:t>
            </a:r>
            <a:r>
              <a:rPr lang="zh-CN" altLang="en-US" dirty="0">
                <a:solidFill>
                  <a:srgbClr val="C00000"/>
                </a:solidFill>
                <a:latin typeface="字体视界-NEW魏碑体" panose="02010601030101010101" pitchFamily="2" charset="-122"/>
                <a:ea typeface="字体视界-NEW魏碑体" panose="02010601030101010101" pitchFamily="2" charset="-122"/>
                <a:cs typeface="+mn-ea"/>
                <a:sym typeface="+mn-lt"/>
              </a:rPr>
              <a:t>日</a:t>
            </a:r>
          </a:p>
        </p:txBody>
      </p:sp>
      <p:pic>
        <p:nvPicPr>
          <p:cNvPr id="40" name="图片 39"/>
          <p:cNvPicPr>
            <a:picLocks noChangeAspect="1"/>
          </p:cNvPicPr>
          <p:nvPr/>
        </p:nvPicPr>
        <p:blipFill>
          <a:blip r:embed="rId5"/>
          <a:stretch>
            <a:fillRect/>
          </a:stretch>
        </p:blipFill>
        <p:spPr>
          <a:xfrm rot="20902340" flipH="1">
            <a:off x="1320789" y="1151521"/>
            <a:ext cx="2100539" cy="87522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wipe(left)">
                                      <p:cBhvr>
                                        <p:cTn id="7" dur="500"/>
                                        <p:tgtEl>
                                          <p:spTgt spid="35"/>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37"/>
                                        </p:tgtEl>
                                        <p:attrNameLst>
                                          <p:attrName>style.visibility</p:attrName>
                                        </p:attrNameLst>
                                      </p:cBhvr>
                                      <p:to>
                                        <p:strVal val="visible"/>
                                      </p:to>
                                    </p:set>
                                    <p:animEffect transition="in" filter="wipe(down)">
                                      <p:cBhvr>
                                        <p:cTn id="11" dur="500"/>
                                        <p:tgtEl>
                                          <p:spTgt spid="37"/>
                                        </p:tgtEl>
                                      </p:cBhvr>
                                    </p:animEffect>
                                  </p:childTnLst>
                                </p:cTn>
                              </p:par>
                            </p:childTnLst>
                          </p:cTn>
                        </p:par>
                        <p:par>
                          <p:cTn id="12" fill="hold">
                            <p:stCondLst>
                              <p:cond delay="1000"/>
                            </p:stCondLst>
                            <p:childTnLst>
                              <p:par>
                                <p:cTn id="13" presetID="53" presetClass="entr" presetSubtype="16" fill="hold" grpId="0" nodeType="afterEffect">
                                  <p:stCondLst>
                                    <p:cond delay="0"/>
                                  </p:stCondLst>
                                  <p:childTnLst>
                                    <p:set>
                                      <p:cBhvr>
                                        <p:cTn id="14" dur="1" fill="hold">
                                          <p:stCondLst>
                                            <p:cond delay="0"/>
                                          </p:stCondLst>
                                        </p:cTn>
                                        <p:tgtEl>
                                          <p:spTgt spid="30"/>
                                        </p:tgtEl>
                                        <p:attrNameLst>
                                          <p:attrName>style.visibility</p:attrName>
                                        </p:attrNameLst>
                                      </p:cBhvr>
                                      <p:to>
                                        <p:strVal val="visible"/>
                                      </p:to>
                                    </p:set>
                                    <p:anim calcmode="lin" valueType="num">
                                      <p:cBhvr>
                                        <p:cTn id="15" dur="1000" fill="hold"/>
                                        <p:tgtEl>
                                          <p:spTgt spid="30"/>
                                        </p:tgtEl>
                                        <p:attrNameLst>
                                          <p:attrName>ppt_w</p:attrName>
                                        </p:attrNameLst>
                                      </p:cBhvr>
                                      <p:tavLst>
                                        <p:tav tm="0">
                                          <p:val>
                                            <p:fltVal val="0"/>
                                          </p:val>
                                        </p:tav>
                                        <p:tav tm="100000">
                                          <p:val>
                                            <p:strVal val="#ppt_w"/>
                                          </p:val>
                                        </p:tav>
                                      </p:tavLst>
                                    </p:anim>
                                    <p:anim calcmode="lin" valueType="num">
                                      <p:cBhvr>
                                        <p:cTn id="16" dur="1000" fill="hold"/>
                                        <p:tgtEl>
                                          <p:spTgt spid="30"/>
                                        </p:tgtEl>
                                        <p:attrNameLst>
                                          <p:attrName>ppt_h</p:attrName>
                                        </p:attrNameLst>
                                      </p:cBhvr>
                                      <p:tavLst>
                                        <p:tav tm="0">
                                          <p:val>
                                            <p:fltVal val="0"/>
                                          </p:val>
                                        </p:tav>
                                        <p:tav tm="100000">
                                          <p:val>
                                            <p:strVal val="#ppt_h"/>
                                          </p:val>
                                        </p:tav>
                                      </p:tavLst>
                                    </p:anim>
                                    <p:animEffect transition="in" filter="fade">
                                      <p:cBhvr>
                                        <p:cTn id="17" dur="1000"/>
                                        <p:tgtEl>
                                          <p:spTgt spid="30"/>
                                        </p:tgtEl>
                                      </p:cBhvr>
                                    </p:animEffect>
                                  </p:childTnLst>
                                </p:cTn>
                              </p:par>
                              <p:par>
                                <p:cTn id="18" presetID="35" presetClass="path" presetSubtype="0" accel="50000" decel="50000" fill="hold" grpId="1" nodeType="withEffect">
                                  <p:stCondLst>
                                    <p:cond delay="0"/>
                                  </p:stCondLst>
                                  <p:childTnLst>
                                    <p:animMotion origin="layout" path="M 0 1.48148E-6 L -0.41185 1.48148E-6 " pathEditMode="relative" rAng="0" ptsTypes="AA">
                                      <p:cBhvr>
                                        <p:cTn id="19" dur="2000" spd="-100000" fill="hold"/>
                                        <p:tgtEl>
                                          <p:spTgt spid="30"/>
                                        </p:tgtEl>
                                        <p:attrNameLst>
                                          <p:attrName>ppt_x</p:attrName>
                                          <p:attrName>ppt_y</p:attrName>
                                        </p:attrNameLst>
                                      </p:cBhvr>
                                      <p:rCtr x="-20599" y="0"/>
                                    </p:animMotion>
                                  </p:childTnLst>
                                </p:cTn>
                              </p:par>
                              <p:par>
                                <p:cTn id="20" presetID="53" presetClass="entr" presetSubtype="16" fill="hold" grpId="0" nodeType="withEffect">
                                  <p:stCondLst>
                                    <p:cond delay="0"/>
                                  </p:stCondLst>
                                  <p:childTnLst>
                                    <p:set>
                                      <p:cBhvr>
                                        <p:cTn id="21" dur="1" fill="hold">
                                          <p:stCondLst>
                                            <p:cond delay="0"/>
                                          </p:stCondLst>
                                        </p:cTn>
                                        <p:tgtEl>
                                          <p:spTgt spid="31"/>
                                        </p:tgtEl>
                                        <p:attrNameLst>
                                          <p:attrName>style.visibility</p:attrName>
                                        </p:attrNameLst>
                                      </p:cBhvr>
                                      <p:to>
                                        <p:strVal val="visible"/>
                                      </p:to>
                                    </p:set>
                                    <p:anim calcmode="lin" valueType="num">
                                      <p:cBhvr>
                                        <p:cTn id="22" dur="1000" fill="hold"/>
                                        <p:tgtEl>
                                          <p:spTgt spid="31"/>
                                        </p:tgtEl>
                                        <p:attrNameLst>
                                          <p:attrName>ppt_w</p:attrName>
                                        </p:attrNameLst>
                                      </p:cBhvr>
                                      <p:tavLst>
                                        <p:tav tm="0">
                                          <p:val>
                                            <p:fltVal val="0"/>
                                          </p:val>
                                        </p:tav>
                                        <p:tav tm="100000">
                                          <p:val>
                                            <p:strVal val="#ppt_w"/>
                                          </p:val>
                                        </p:tav>
                                      </p:tavLst>
                                    </p:anim>
                                    <p:anim calcmode="lin" valueType="num">
                                      <p:cBhvr>
                                        <p:cTn id="23" dur="1000" fill="hold"/>
                                        <p:tgtEl>
                                          <p:spTgt spid="31"/>
                                        </p:tgtEl>
                                        <p:attrNameLst>
                                          <p:attrName>ppt_h</p:attrName>
                                        </p:attrNameLst>
                                      </p:cBhvr>
                                      <p:tavLst>
                                        <p:tav tm="0">
                                          <p:val>
                                            <p:fltVal val="0"/>
                                          </p:val>
                                        </p:tav>
                                        <p:tav tm="100000">
                                          <p:val>
                                            <p:strVal val="#ppt_h"/>
                                          </p:val>
                                        </p:tav>
                                      </p:tavLst>
                                    </p:anim>
                                    <p:animEffect transition="in" filter="fade">
                                      <p:cBhvr>
                                        <p:cTn id="24" dur="1000"/>
                                        <p:tgtEl>
                                          <p:spTgt spid="31"/>
                                        </p:tgtEl>
                                      </p:cBhvr>
                                    </p:animEffect>
                                  </p:childTnLst>
                                </p:cTn>
                              </p:par>
                              <p:par>
                                <p:cTn id="25" presetID="35" presetClass="path" presetSubtype="0" accel="50000" decel="50000" fill="hold" grpId="1" nodeType="withEffect">
                                  <p:stCondLst>
                                    <p:cond delay="0"/>
                                  </p:stCondLst>
                                  <p:childTnLst>
                                    <p:animMotion origin="layout" path="M 4.79167E-6 1.85185E-6 L 0.31575 1.85185E-6 " pathEditMode="relative" rAng="0" ptsTypes="AA">
                                      <p:cBhvr>
                                        <p:cTn id="26" dur="2000" spd="-100000" fill="hold"/>
                                        <p:tgtEl>
                                          <p:spTgt spid="31"/>
                                        </p:tgtEl>
                                        <p:attrNameLst>
                                          <p:attrName>ppt_x</p:attrName>
                                          <p:attrName>ppt_y</p:attrName>
                                        </p:attrNameLst>
                                      </p:cBhvr>
                                      <p:rCtr x="15781" y="0"/>
                                    </p:animMotion>
                                  </p:childTnLst>
                                </p:cTn>
                              </p:par>
                            </p:childTnLst>
                          </p:cTn>
                        </p:par>
                        <p:par>
                          <p:cTn id="27" fill="hold">
                            <p:stCondLst>
                              <p:cond delay="2000"/>
                            </p:stCondLst>
                            <p:childTnLst>
                              <p:par>
                                <p:cTn id="28" presetID="53" presetClass="entr" presetSubtype="16" fill="hold" nodeType="afterEffect">
                                  <p:stCondLst>
                                    <p:cond delay="0"/>
                                  </p:stCondLst>
                                  <p:childTnLst>
                                    <p:set>
                                      <p:cBhvr>
                                        <p:cTn id="29" dur="1" fill="hold">
                                          <p:stCondLst>
                                            <p:cond delay="0"/>
                                          </p:stCondLst>
                                        </p:cTn>
                                        <p:tgtEl>
                                          <p:spTgt spid="33"/>
                                        </p:tgtEl>
                                        <p:attrNameLst>
                                          <p:attrName>style.visibility</p:attrName>
                                        </p:attrNameLst>
                                      </p:cBhvr>
                                      <p:to>
                                        <p:strVal val="visible"/>
                                      </p:to>
                                    </p:set>
                                    <p:anim calcmode="lin" valueType="num">
                                      <p:cBhvr>
                                        <p:cTn id="30" dur="1000" fill="hold"/>
                                        <p:tgtEl>
                                          <p:spTgt spid="33"/>
                                        </p:tgtEl>
                                        <p:attrNameLst>
                                          <p:attrName>ppt_w</p:attrName>
                                        </p:attrNameLst>
                                      </p:cBhvr>
                                      <p:tavLst>
                                        <p:tav tm="0">
                                          <p:val>
                                            <p:fltVal val="0"/>
                                          </p:val>
                                        </p:tav>
                                        <p:tav tm="100000">
                                          <p:val>
                                            <p:strVal val="#ppt_w"/>
                                          </p:val>
                                        </p:tav>
                                      </p:tavLst>
                                    </p:anim>
                                    <p:anim calcmode="lin" valueType="num">
                                      <p:cBhvr>
                                        <p:cTn id="31" dur="1000" fill="hold"/>
                                        <p:tgtEl>
                                          <p:spTgt spid="33"/>
                                        </p:tgtEl>
                                        <p:attrNameLst>
                                          <p:attrName>ppt_h</p:attrName>
                                        </p:attrNameLst>
                                      </p:cBhvr>
                                      <p:tavLst>
                                        <p:tav tm="0">
                                          <p:val>
                                            <p:fltVal val="0"/>
                                          </p:val>
                                        </p:tav>
                                        <p:tav tm="100000">
                                          <p:val>
                                            <p:strVal val="#ppt_h"/>
                                          </p:val>
                                        </p:tav>
                                      </p:tavLst>
                                    </p:anim>
                                    <p:animEffect transition="in" filter="fade">
                                      <p:cBhvr>
                                        <p:cTn id="32" dur="1000"/>
                                        <p:tgtEl>
                                          <p:spTgt spid="33"/>
                                        </p:tgtEl>
                                      </p:cBhvr>
                                    </p:animEffect>
                                  </p:childTnLst>
                                </p:cTn>
                              </p:par>
                              <p:par>
                                <p:cTn id="33" presetID="35" presetClass="path" presetSubtype="0" accel="50000" decel="50000" fill="hold" nodeType="withEffect">
                                  <p:stCondLst>
                                    <p:cond delay="0"/>
                                  </p:stCondLst>
                                  <p:childTnLst>
                                    <p:animMotion origin="layout" path="M 6.25E-7 -1.11111E-6 L 0.31575 -1.11111E-6 " pathEditMode="relative" rAng="0" ptsTypes="AA">
                                      <p:cBhvr>
                                        <p:cTn id="34" dur="2000" spd="-100000" fill="hold"/>
                                        <p:tgtEl>
                                          <p:spTgt spid="33"/>
                                        </p:tgtEl>
                                        <p:attrNameLst>
                                          <p:attrName>ppt_x</p:attrName>
                                          <p:attrName>ppt_y</p:attrName>
                                        </p:attrNameLst>
                                      </p:cBhvr>
                                      <p:rCtr x="15781" y="0"/>
                                    </p:animMotion>
                                  </p:childTnLst>
                                </p:cTn>
                              </p:par>
                              <p:par>
                                <p:cTn id="35" presetID="53" presetClass="entr" presetSubtype="16" fill="hold" grpId="0" nodeType="withEffect">
                                  <p:stCondLst>
                                    <p:cond delay="0"/>
                                  </p:stCondLst>
                                  <p:childTnLst>
                                    <p:set>
                                      <p:cBhvr>
                                        <p:cTn id="36" dur="1" fill="hold">
                                          <p:stCondLst>
                                            <p:cond delay="0"/>
                                          </p:stCondLst>
                                        </p:cTn>
                                        <p:tgtEl>
                                          <p:spTgt spid="38"/>
                                        </p:tgtEl>
                                        <p:attrNameLst>
                                          <p:attrName>style.visibility</p:attrName>
                                        </p:attrNameLst>
                                      </p:cBhvr>
                                      <p:to>
                                        <p:strVal val="visible"/>
                                      </p:to>
                                    </p:set>
                                    <p:anim calcmode="lin" valueType="num">
                                      <p:cBhvr>
                                        <p:cTn id="37" dur="1000" fill="hold"/>
                                        <p:tgtEl>
                                          <p:spTgt spid="38"/>
                                        </p:tgtEl>
                                        <p:attrNameLst>
                                          <p:attrName>ppt_w</p:attrName>
                                        </p:attrNameLst>
                                      </p:cBhvr>
                                      <p:tavLst>
                                        <p:tav tm="0">
                                          <p:val>
                                            <p:fltVal val="0"/>
                                          </p:val>
                                        </p:tav>
                                        <p:tav tm="100000">
                                          <p:val>
                                            <p:strVal val="#ppt_w"/>
                                          </p:val>
                                        </p:tav>
                                      </p:tavLst>
                                    </p:anim>
                                    <p:anim calcmode="lin" valueType="num">
                                      <p:cBhvr>
                                        <p:cTn id="38" dur="1000" fill="hold"/>
                                        <p:tgtEl>
                                          <p:spTgt spid="38"/>
                                        </p:tgtEl>
                                        <p:attrNameLst>
                                          <p:attrName>ppt_h</p:attrName>
                                        </p:attrNameLst>
                                      </p:cBhvr>
                                      <p:tavLst>
                                        <p:tav tm="0">
                                          <p:val>
                                            <p:fltVal val="0"/>
                                          </p:val>
                                        </p:tav>
                                        <p:tav tm="100000">
                                          <p:val>
                                            <p:strVal val="#ppt_h"/>
                                          </p:val>
                                        </p:tav>
                                      </p:tavLst>
                                    </p:anim>
                                    <p:animEffect transition="in" filter="fade">
                                      <p:cBhvr>
                                        <p:cTn id="39" dur="1000"/>
                                        <p:tgtEl>
                                          <p:spTgt spid="38"/>
                                        </p:tgtEl>
                                      </p:cBhvr>
                                    </p:animEffect>
                                  </p:childTnLst>
                                </p:cTn>
                              </p:par>
                              <p:par>
                                <p:cTn id="40" presetID="35" presetClass="path" presetSubtype="0" accel="50000" decel="50000" fill="hold" grpId="1" nodeType="withEffect">
                                  <p:stCondLst>
                                    <p:cond delay="0"/>
                                  </p:stCondLst>
                                  <p:childTnLst>
                                    <p:animMotion origin="layout" path="M 4.79167E-6 -2.59259E-6 L 0.31575 -2.59259E-6 " pathEditMode="relative" rAng="0" ptsTypes="AA">
                                      <p:cBhvr>
                                        <p:cTn id="41" dur="2000" spd="-100000" fill="hold"/>
                                        <p:tgtEl>
                                          <p:spTgt spid="38"/>
                                        </p:tgtEl>
                                        <p:attrNameLst>
                                          <p:attrName>ppt_x</p:attrName>
                                          <p:attrName>ppt_y</p:attrName>
                                        </p:attrNameLst>
                                      </p:cBhvr>
                                      <p:rCtr x="15781" y="0"/>
                                    </p:animMotion>
                                  </p:childTnLst>
                                </p:cTn>
                              </p:par>
                            </p:childTnLst>
                          </p:cTn>
                        </p:par>
                        <p:par>
                          <p:cTn id="42" fill="hold">
                            <p:stCondLst>
                              <p:cond delay="3000"/>
                            </p:stCondLst>
                            <p:childTnLst>
                              <p:par>
                                <p:cTn id="43" presetID="53" presetClass="entr" presetSubtype="16" fill="hold" nodeType="afterEffect">
                                  <p:stCondLst>
                                    <p:cond delay="0"/>
                                  </p:stCondLst>
                                  <p:childTnLst>
                                    <p:set>
                                      <p:cBhvr>
                                        <p:cTn id="44" dur="1" fill="hold">
                                          <p:stCondLst>
                                            <p:cond delay="0"/>
                                          </p:stCondLst>
                                        </p:cTn>
                                        <p:tgtEl>
                                          <p:spTgt spid="40"/>
                                        </p:tgtEl>
                                        <p:attrNameLst>
                                          <p:attrName>style.visibility</p:attrName>
                                        </p:attrNameLst>
                                      </p:cBhvr>
                                      <p:to>
                                        <p:strVal val="visible"/>
                                      </p:to>
                                    </p:set>
                                    <p:anim calcmode="lin" valueType="num">
                                      <p:cBhvr>
                                        <p:cTn id="45" dur="1000" fill="hold"/>
                                        <p:tgtEl>
                                          <p:spTgt spid="40"/>
                                        </p:tgtEl>
                                        <p:attrNameLst>
                                          <p:attrName>ppt_w</p:attrName>
                                        </p:attrNameLst>
                                      </p:cBhvr>
                                      <p:tavLst>
                                        <p:tav tm="0">
                                          <p:val>
                                            <p:fltVal val="0"/>
                                          </p:val>
                                        </p:tav>
                                        <p:tav tm="100000">
                                          <p:val>
                                            <p:strVal val="#ppt_w"/>
                                          </p:val>
                                        </p:tav>
                                      </p:tavLst>
                                    </p:anim>
                                    <p:anim calcmode="lin" valueType="num">
                                      <p:cBhvr>
                                        <p:cTn id="46" dur="1000" fill="hold"/>
                                        <p:tgtEl>
                                          <p:spTgt spid="40"/>
                                        </p:tgtEl>
                                        <p:attrNameLst>
                                          <p:attrName>ppt_h</p:attrName>
                                        </p:attrNameLst>
                                      </p:cBhvr>
                                      <p:tavLst>
                                        <p:tav tm="0">
                                          <p:val>
                                            <p:fltVal val="0"/>
                                          </p:val>
                                        </p:tav>
                                        <p:tav tm="100000">
                                          <p:val>
                                            <p:strVal val="#ppt_h"/>
                                          </p:val>
                                        </p:tav>
                                      </p:tavLst>
                                    </p:anim>
                                    <p:animEffect transition="in" filter="fade">
                                      <p:cBhvr>
                                        <p:cTn id="47" dur="1000"/>
                                        <p:tgtEl>
                                          <p:spTgt spid="40"/>
                                        </p:tgtEl>
                                      </p:cBhvr>
                                    </p:animEffect>
                                  </p:childTnLst>
                                </p:cTn>
                              </p:par>
                              <p:par>
                                <p:cTn id="48" presetID="35" presetClass="path" presetSubtype="0" accel="50000" decel="50000" fill="hold" nodeType="withEffect">
                                  <p:stCondLst>
                                    <p:cond delay="0"/>
                                  </p:stCondLst>
                                  <p:childTnLst>
                                    <p:animMotion origin="layout" path="M -1.04167E-6 -2.96296E-6 L 0.31576 -2.96296E-6 " pathEditMode="relative" rAng="0" ptsTypes="AA">
                                      <p:cBhvr>
                                        <p:cTn id="49" dur="2000" spd="-100000" fill="hold"/>
                                        <p:tgtEl>
                                          <p:spTgt spid="40"/>
                                        </p:tgtEl>
                                        <p:attrNameLst>
                                          <p:attrName>ppt_x</p:attrName>
                                          <p:attrName>ppt_y</p:attrName>
                                        </p:attrNameLst>
                                      </p:cBhvr>
                                      <p:rCtr x="15781"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0" grpId="1"/>
      <p:bldP spid="31" grpId="0"/>
      <p:bldP spid="31" grpId="1"/>
      <p:bldP spid="38" grpId="0"/>
      <p:bldP spid="38" grpId="1"/>
    </p:bldLst>
  </p:timing>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PowerPoint 演示文稿"/>
  <p:tag name="COMMONDATA" val="eyJoZGlkIjoiOGRiZjYzYzMxNjBjNjc5NTNlZTFkNTJhY2JkZGU2OWE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www.2ppt.com">
  <a:themeElements>
    <a:clrScheme name="自定义 3">
      <a:dk1>
        <a:sysClr val="windowText" lastClr="000000"/>
      </a:dk1>
      <a:lt1>
        <a:sysClr val="window" lastClr="FFFFFF"/>
      </a:lt1>
      <a:dk2>
        <a:srgbClr val="BE0000"/>
      </a:dk2>
      <a:lt2>
        <a:srgbClr val="E7E6E6"/>
      </a:lt2>
      <a:accent1>
        <a:srgbClr val="BE0000"/>
      </a:accent1>
      <a:accent2>
        <a:srgbClr val="ED7D31"/>
      </a:accent2>
      <a:accent3>
        <a:srgbClr val="D20000"/>
      </a:accent3>
      <a:accent4>
        <a:srgbClr val="FFC000"/>
      </a:accent4>
      <a:accent5>
        <a:srgbClr val="4472C4"/>
      </a:accent5>
      <a:accent6>
        <a:srgbClr val="70AD47"/>
      </a:accent6>
      <a:hlink>
        <a:srgbClr val="0563C1"/>
      </a:hlink>
      <a:folHlink>
        <a:srgbClr val="954F72"/>
      </a:folHlink>
    </a:clrScheme>
    <a:fontScheme name="31y2jr50">
      <a:majorFont>
        <a:latin typeface="Microsoft YaHei"/>
        <a:ea typeface="字魂35号-经典雅黑"/>
        <a:cs typeface=""/>
      </a:majorFont>
      <a:minorFont>
        <a:latin typeface="Microsoft YaHei"/>
        <a:ea typeface="字魂35号-经典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主题1</Template>
  <TotalTime>163</TotalTime>
  <Words>4714</Words>
  <Application>Microsoft Office PowerPoint</Application>
  <PresentationFormat>宽屏</PresentationFormat>
  <Paragraphs>289</Paragraphs>
  <Slides>38</Slides>
  <Notes>37</Notes>
  <HiddenSlides>0</HiddenSlides>
  <MMClips>1</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38</vt:i4>
      </vt:variant>
    </vt:vector>
  </HeadingPairs>
  <TitlesOfParts>
    <vt:vector size="56" baseType="lpstr">
      <vt:lpstr>-apple-system-font</vt:lpstr>
      <vt:lpstr>仿宋</vt:lpstr>
      <vt:lpstr>仿宋</vt:lpstr>
      <vt:lpstr>FZXDXJW--GB1-0</vt:lpstr>
      <vt:lpstr>Microsoft YaHei</vt:lpstr>
      <vt:lpstr>Microsoft YaHei</vt:lpstr>
      <vt:lpstr>PingFang-SC-Regular</vt:lpstr>
      <vt:lpstr>simsun</vt:lpstr>
      <vt:lpstr>simsun</vt:lpstr>
      <vt:lpstr>华文新魏</vt:lpstr>
      <vt:lpstr>华文中宋</vt:lpstr>
      <vt:lpstr>system-ui</vt:lpstr>
      <vt:lpstr>字魂35号-经典雅黑</vt:lpstr>
      <vt:lpstr>字体视界-NEW魏碑体</vt:lpstr>
      <vt:lpstr>Arial</vt:lpstr>
      <vt:lpstr>Calibri</vt:lpstr>
      <vt:lpstr>Helvetica</vt:lpstr>
      <vt:lpstr>www.2ppt.com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www.2ppt.com-爱PPT提供资源下载</dc:title>
  <dc:subject>www.2ppt.com-爱PPT提供资源下载</dc:subject>
  <dc:creator>www.2ppt.com-爱PPT提供资源下载</dc:creator>
  <dc:description>www.2ppt.com-爱PPT提供资源下载</dc:description>
  <cp:lastModifiedBy>皓喆 陆</cp:lastModifiedBy>
  <cp:revision>20</cp:revision>
  <dcterms:created xsi:type="dcterms:W3CDTF">2021-05-18T02:08:00Z</dcterms:created>
  <dcterms:modified xsi:type="dcterms:W3CDTF">2023-10-28T14:11:34Z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7BF914EC9B824A79BFDF7830684AC88C</vt:lpwstr>
  </property>
  <property fmtid="{D5CDD505-2E9C-101B-9397-08002B2CF9AE}" pid="3" name="KSOProductBuildVer">
    <vt:lpwstr>2052-12.1.0.15712</vt:lpwstr>
  </property>
</Properties>
</file>